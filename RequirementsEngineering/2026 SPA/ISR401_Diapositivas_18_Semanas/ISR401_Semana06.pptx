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grafo KAOS es una herramienta de negociación: cuando el cliente pide dos cosas que se contradicen, el grafo muestra visualmente el conflicto. La descomposición AND/OR permite identificar alternativas de solución: si la meta "M" se puede lograr por OR de dos sub-metas, el sistema puede implementar cualquiera de las dos — eso es una decisión de diseño que el analista no debe tomar solo. Para el PFC, el grafo KAOS debe tener al menos 2 niveles de descomposición con las metas hoja identificadas como 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11 reglas de calidad de los escenarios (Pohl) incluyen: un flujo básico por escenario, sin decisiones en el flujo básico, postcondiciones medibles, etc. El misuse case es la técnica que convierte la seguridad de un RNF vago ("el sistema debe ser seguro") en RF concretos y verificables ("el sistema SHALL bloquear la cuenta después de 3 intentos fallidos"). Para el PFC, cada dominio tiene misuse cases relevantes: en mascotas, "pago fraudulento"; en ganadería, "ingreso de datos de animal ajeno".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CU es solo el mapa de alto nivel — no reemplaza a los escenarios Cockburn detallados. La relación &lt;&lt;include&gt;&gt; documenta funcionalidad reutilizada: "Autenticarse" es &lt;&lt;include&gt;&gt; de todos los casos de uso que requieren login. &lt;&lt;extend&gt;&gt; documenta variaciones opcionales: "Pago con tarjeta" puede extender "Pago de servicio" cuando el cliente elige esa modalidad. Para el PFC, el diagrama CU debe tener todos los actores identificados en i* 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semana cerramos la elicitación y entramos a la especificación. Los tres modelos orientados a solución (datos, función, comportamiento) deben ser coherentes entre sí: cada entidad del modelo de clases debe aparecer en el DFD como depósito de datos y en el statechart como el objeto que cambia de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6</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Metas, escenarios y requisitos orientados a solución</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Tema 7 (parte 2) — Casos de uso, statecharts y coherencia de modelos</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2–3: Transición a la Especificación</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100" dirty="0">
                <a:solidFill>
                  <a:srgbClr val="C8960C"/>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Metas y KAOS (30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7 reglas Pohl · grafo AND/OR · iStar 2.0 SR</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Escenarios y CU (35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4 tipos · plantilla Cockburn · 11 reglas de calidad</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UML: CU y MSC (20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include/extend/herencia · Message Sequence Charts</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Modelos ROS (15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Clases, DFD, statechart — coherencia</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PE-6 (60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KAOS + CU + statechart para préstamos biblioteca UTEQ</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Las 7 reglas de Pohl para documentar metas</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1. Toda meta tiene un nombre único y un verbo de acción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2. Las metas son independientes de la solución (el "qué", no el "cómo")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3. Toda meta hoja del grafo se convierte en RF o RNF</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4. Cada meta tiene al menos un responsable (actor en i*)</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5. Las metas se descomponen en AND/OR — AND: todas deben cumplirse; OR: alguna basta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6. Los conflictos entre metas se registran explícitamente en el grafo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7. Las suposiciones que hacen posible una meta se documentan junto a ella</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Los 4 tipos de escenario y la plantilla Cockburn</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POSITIVO: flujo normal de éxito — el sistema y el usuario funcionan como se espera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NEGATIVO: el usuario hace algo incorrecto — el sistema debe manejarlo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MISUSE CASE: un actor malicioso intenta explotar el sistema — genera RF de seguridad</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EXCEPCIÓN: fallo técnico (red, base de datos) — genera RF de robustez</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Plantilla Cockburn "fully dressed": nombre · actores · pre/postcondiciones · flujo básico · alternativos · excepciones · RNF vinculados</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Diagrama de Casos de Uso UML</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&lt;&lt;include&gt;&gt;: flujo A siempre incluye flujo B (B es obligatorio para 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&lt;&lt;extend&gt;&gt;: flujo B puede extender A en ciertas condiciones (B es opcional para 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Herencia de actores: el "Veterinario" hereda las capacidades del "Usuario registrado"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Regla: el diagrama CU NO muestra secuencia — muestra qué puede hacer quién</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Error frecuente: modelar el flujo de datos en el CU — para eso está el DFD o el diagrama de secuencia</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6</a:t>
            </a:r>
            <a:endParaRPr lang="en-US" sz="2800" dirty="0"/>
          </a:p>
        </p:txBody>
      </p:sp>
      <p:sp>
        <p:nvSpPr>
          <p:cNvPr id="5" name="Shape 3"/>
          <p:cNvSpPr/>
          <p:nvPr/>
        </p:nvSpPr>
        <p:spPr>
          <a:xfrm>
            <a:off x="347472" y="1261872"/>
            <a:ext cx="3200400" cy="125272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7.1 Metas</a:t>
            </a:r>
            <a:endParaRPr lang="en-US" sz="1600" dirty="0"/>
          </a:p>
        </p:txBody>
      </p:sp>
      <p:sp>
        <p:nvSpPr>
          <p:cNvPr id="7" name="Shape 5"/>
          <p:cNvSpPr/>
          <p:nvPr/>
        </p:nvSpPr>
        <p:spPr>
          <a:xfrm>
            <a:off x="3584448" y="1261872"/>
            <a:ext cx="4297680" cy="125272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7 reglas Pohl; KAOS AND/OR; iStar 2.0 SR</a:t>
            </a:r>
            <a:endParaRPr lang="en-US" sz="1500" dirty="0"/>
          </a:p>
        </p:txBody>
      </p:sp>
      <p:sp>
        <p:nvSpPr>
          <p:cNvPr id="9" name="Shape 7"/>
          <p:cNvSpPr/>
          <p:nvPr/>
        </p:nvSpPr>
        <p:spPr>
          <a:xfrm>
            <a:off x="7918704" y="1261872"/>
            <a:ext cx="3913632" cy="125272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Grafo KAOS + modelo SR actor principal del PFC</a:t>
            </a:r>
            <a:endParaRPr lang="en-US" sz="1400" dirty="0"/>
          </a:p>
        </p:txBody>
      </p:sp>
      <p:sp>
        <p:nvSpPr>
          <p:cNvPr id="11" name="Shape 9"/>
          <p:cNvSpPr/>
          <p:nvPr/>
        </p:nvSpPr>
        <p:spPr>
          <a:xfrm>
            <a:off x="347472" y="2587752"/>
            <a:ext cx="3200400" cy="1252728"/>
          </a:xfrm>
          <a:prstGeom prst="rect">
            <a:avLst/>
          </a:prstGeom>
          <a:solidFill>
            <a:srgbClr val="1565C0"/>
          </a:solidFill>
          <a:ln w="12700">
            <a:solidFill>
              <a:srgbClr val="1565C0"/>
            </a:solidFill>
            <a:prstDash val="solid"/>
          </a:ln>
        </p:spPr>
      </p:sp>
      <p:sp>
        <p:nvSpPr>
          <p:cNvPr id="12" name="Text 10"/>
          <p:cNvSpPr txBox="1"/>
          <p:nvPr/>
        </p:nvSpPr>
        <p:spPr>
          <a:xfrm>
            <a:off x="438912" y="263347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7.2 Escenarios</a:t>
            </a:r>
            <a:endParaRPr lang="en-US" sz="1600" dirty="0"/>
          </a:p>
        </p:txBody>
      </p:sp>
      <p:sp>
        <p:nvSpPr>
          <p:cNvPr id="13" name="Shape 11"/>
          <p:cNvSpPr/>
          <p:nvPr/>
        </p:nvSpPr>
        <p:spPr>
          <a:xfrm>
            <a:off x="3584448" y="2587752"/>
            <a:ext cx="4297680" cy="1252728"/>
          </a:xfrm>
          <a:prstGeom prst="rect">
            <a:avLst/>
          </a:prstGeom>
          <a:solidFill>
            <a:srgbClr val="FFFFFF"/>
          </a:solidFill>
          <a:ln w="12700">
            <a:solidFill>
              <a:srgbClr val="D6E4F7"/>
            </a:solidFill>
            <a:prstDash val="solid"/>
          </a:ln>
        </p:spPr>
      </p:sp>
      <p:sp>
        <p:nvSpPr>
          <p:cNvPr id="14" name="Text 12"/>
          <p:cNvSpPr txBox="1"/>
          <p:nvPr/>
        </p:nvSpPr>
        <p:spPr>
          <a:xfrm>
            <a:off x="3675888" y="263347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4 tipos; Cockburn; 11 reglas; misuse case</a:t>
            </a:r>
            <a:endParaRPr lang="en-US" sz="1500" dirty="0"/>
          </a:p>
        </p:txBody>
      </p:sp>
      <p:sp>
        <p:nvSpPr>
          <p:cNvPr id="15" name="Shape 13"/>
          <p:cNvSpPr/>
          <p:nvPr/>
        </p:nvSpPr>
        <p:spPr>
          <a:xfrm>
            <a:off x="7918704" y="2587752"/>
            <a:ext cx="3913632" cy="1252728"/>
          </a:xfrm>
          <a:prstGeom prst="rect">
            <a:avLst/>
          </a:prstGeom>
          <a:solidFill>
            <a:srgbClr val="FFFFFF"/>
          </a:solidFill>
          <a:ln w="12700">
            <a:solidFill>
              <a:srgbClr val="D6E4F7"/>
            </a:solidFill>
            <a:prstDash val="solid"/>
          </a:ln>
        </p:spPr>
      </p:sp>
      <p:sp>
        <p:nvSpPr>
          <p:cNvPr id="16" name="Text 14"/>
          <p:cNvSpPr txBox="1"/>
          <p:nvPr/>
        </p:nvSpPr>
        <p:spPr>
          <a:xfrm>
            <a:off x="8010144" y="263347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3+ CU fully dressed; 1 misuse case con RF de seguridad</a:t>
            </a:r>
            <a:endParaRPr lang="en-US" sz="1400" dirty="0"/>
          </a:p>
        </p:txBody>
      </p:sp>
      <p:sp>
        <p:nvSpPr>
          <p:cNvPr id="17" name="Shape 15"/>
          <p:cNvSpPr/>
          <p:nvPr/>
        </p:nvSpPr>
        <p:spPr>
          <a:xfrm>
            <a:off x="347472" y="3913632"/>
            <a:ext cx="3200400" cy="1252728"/>
          </a:xfrm>
          <a:prstGeom prst="rect">
            <a:avLst/>
          </a:prstGeom>
          <a:solidFill>
            <a:srgbClr val="0D3B72"/>
          </a:solidFill>
          <a:ln w="12700">
            <a:solidFill>
              <a:srgbClr val="0D3B72"/>
            </a:solidFill>
            <a:prstDash val="solid"/>
          </a:ln>
        </p:spPr>
      </p:sp>
      <p:sp>
        <p:nvSpPr>
          <p:cNvPr id="18" name="Text 16"/>
          <p:cNvSpPr txBox="1"/>
          <p:nvPr/>
        </p:nvSpPr>
        <p:spPr>
          <a:xfrm>
            <a:off x="438912" y="395935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7.3 UML/MSC</a:t>
            </a:r>
            <a:endParaRPr lang="en-US" sz="1600" dirty="0"/>
          </a:p>
        </p:txBody>
      </p:sp>
      <p:sp>
        <p:nvSpPr>
          <p:cNvPr id="19" name="Shape 17"/>
          <p:cNvSpPr/>
          <p:nvPr/>
        </p:nvSpPr>
        <p:spPr>
          <a:xfrm>
            <a:off x="3584448" y="3913632"/>
            <a:ext cx="4297680" cy="1252728"/>
          </a:xfrm>
          <a:prstGeom prst="rect">
            <a:avLst/>
          </a:prstGeom>
          <a:solidFill>
            <a:srgbClr val="FFFFFF"/>
          </a:solidFill>
          <a:ln w="12700">
            <a:solidFill>
              <a:srgbClr val="D6E4F7"/>
            </a:solidFill>
            <a:prstDash val="solid"/>
          </a:ln>
        </p:spPr>
      </p:sp>
      <p:sp>
        <p:nvSpPr>
          <p:cNvPr id="20" name="Text 18"/>
          <p:cNvSpPr txBox="1"/>
          <p:nvPr/>
        </p:nvSpPr>
        <p:spPr>
          <a:xfrm>
            <a:off x="3675888" y="395935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include/extend; herencia actores; MSC</a:t>
            </a:r>
            <a:endParaRPr lang="en-US" sz="1500" dirty="0"/>
          </a:p>
        </p:txBody>
      </p:sp>
      <p:sp>
        <p:nvSpPr>
          <p:cNvPr id="21" name="Shape 19"/>
          <p:cNvSpPr/>
          <p:nvPr/>
        </p:nvSpPr>
        <p:spPr>
          <a:xfrm>
            <a:off x="7918704" y="3913632"/>
            <a:ext cx="3913632" cy="1252728"/>
          </a:xfrm>
          <a:prstGeom prst="rect">
            <a:avLst/>
          </a:prstGeom>
          <a:solidFill>
            <a:srgbClr val="FFFFFF"/>
          </a:solidFill>
          <a:ln w="12700">
            <a:solidFill>
              <a:srgbClr val="D6E4F7"/>
            </a:solidFill>
            <a:prstDash val="solid"/>
          </a:ln>
        </p:spPr>
      </p:sp>
      <p:sp>
        <p:nvSpPr>
          <p:cNvPr id="22" name="Text 20"/>
          <p:cNvSpPr txBox="1"/>
          <p:nvPr/>
        </p:nvSpPr>
        <p:spPr>
          <a:xfrm>
            <a:off x="8010144" y="395935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Diagrama CU + MSC del flujo principal</a:t>
            </a:r>
            <a:endParaRPr lang="en-US" sz="1400" dirty="0"/>
          </a:p>
        </p:txBody>
      </p:sp>
      <p:sp>
        <p:nvSpPr>
          <p:cNvPr id="23" name="Shape 21"/>
          <p:cNvSpPr/>
          <p:nvPr/>
        </p:nvSpPr>
        <p:spPr>
          <a:xfrm>
            <a:off x="347472" y="5239512"/>
            <a:ext cx="3200400" cy="1252728"/>
          </a:xfrm>
          <a:prstGeom prst="rect">
            <a:avLst/>
          </a:prstGeom>
          <a:solidFill>
            <a:srgbClr val="1565C0"/>
          </a:solidFill>
          <a:ln w="12700">
            <a:solidFill>
              <a:srgbClr val="1565C0"/>
            </a:solidFill>
            <a:prstDash val="solid"/>
          </a:ln>
        </p:spPr>
      </p:sp>
      <p:sp>
        <p:nvSpPr>
          <p:cNvPr id="24" name="Text 22"/>
          <p:cNvSpPr txBox="1"/>
          <p:nvPr/>
        </p:nvSpPr>
        <p:spPr>
          <a:xfrm>
            <a:off x="438912" y="528523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7.4 Modelos ROS</a:t>
            </a:r>
            <a:endParaRPr lang="en-US" sz="1600" dirty="0"/>
          </a:p>
        </p:txBody>
      </p:sp>
      <p:sp>
        <p:nvSpPr>
          <p:cNvPr id="25" name="Shape 23"/>
          <p:cNvSpPr/>
          <p:nvPr/>
        </p:nvSpPr>
        <p:spPr>
          <a:xfrm>
            <a:off x="3584448" y="5239512"/>
            <a:ext cx="4297680" cy="1252728"/>
          </a:xfrm>
          <a:prstGeom prst="rect">
            <a:avLst/>
          </a:prstGeom>
          <a:solidFill>
            <a:srgbClr val="FFFFFF"/>
          </a:solidFill>
          <a:ln w="12700">
            <a:solidFill>
              <a:srgbClr val="D6E4F7"/>
            </a:solidFill>
            <a:prstDash val="solid"/>
          </a:ln>
        </p:spPr>
      </p:sp>
      <p:sp>
        <p:nvSpPr>
          <p:cNvPr id="26" name="Text 24"/>
          <p:cNvSpPr txBox="1"/>
          <p:nvPr/>
        </p:nvSpPr>
        <p:spPr>
          <a:xfrm>
            <a:off x="3675888" y="528523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Clases/DFD/statechart; coherencia</a:t>
            </a:r>
            <a:endParaRPr lang="en-US" sz="1500" dirty="0"/>
          </a:p>
        </p:txBody>
      </p:sp>
      <p:sp>
        <p:nvSpPr>
          <p:cNvPr id="27" name="Shape 25"/>
          <p:cNvSpPr/>
          <p:nvPr/>
        </p:nvSpPr>
        <p:spPr>
          <a:xfrm>
            <a:off x="7918704" y="5239512"/>
            <a:ext cx="3913632" cy="1252728"/>
          </a:xfrm>
          <a:prstGeom prst="rect">
            <a:avLst/>
          </a:prstGeom>
          <a:solidFill>
            <a:srgbClr val="FFFFFF"/>
          </a:solidFill>
          <a:ln w="12700">
            <a:solidFill>
              <a:srgbClr val="D6E4F7"/>
            </a:solidFill>
            <a:prstDash val="solid"/>
          </a:ln>
        </p:spPr>
      </p:sp>
      <p:sp>
        <p:nvSpPr>
          <p:cNvPr id="28" name="Text 26"/>
          <p:cNvSpPr txBox="1"/>
          <p:nvPr/>
        </p:nvSpPr>
        <p:spPr>
          <a:xfrm>
            <a:off x="8010144" y="528523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Modelo de clases + statechart de entidad clave del PFC</a:t>
            </a:r>
            <a:endParaRPr lang="en-US" sz="1400" dirty="0"/>
          </a:p>
        </p:txBody>
      </p:sp>
      <p:sp>
        <p:nvSpPr>
          <p:cNvPr id="30" name="Text 2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6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 caso de uso bien escrito es un contrato: especifica exactamente qué puede y qué no puede pasar entre el usuario y el sistema.</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 7: documentación de requisitos — el ERS, artefactos formales, EARS y atributos de calidad</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2026-10-28T11:52:40Z</dcterms:created>
  <dcterms:modified xsi:type="dcterms:W3CDTF">2026-10-28T11:52:40Z</dcterms:modified>
</cp:coreProperties>
</file>