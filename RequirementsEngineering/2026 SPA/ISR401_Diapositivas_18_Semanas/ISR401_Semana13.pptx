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Criterios de selección para el PFC: costo (herramienta gratuita o académica), curva de aprendizaje (&lt; 1 semana), integración Git, exportación a formatos estándar (PDF, ReqIF), soporte de trazabilidad. Recomendación para PFC: Jira (gratuito estudiantes, 10 usuarios) + draw.io (gratuito) + Git con GitHub (gratuito). Enterprise Architect tiene licencia académica en UTEQ — disponible para equipos que deseen profundizar en modelado.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estructura de Jira para el PFC mapea directamente al ERS: cada épica = una sección del capítulo 4 del ERS, cada historia = un RF con sus atributos (prioridad MoSCoW, criterio de aceptación GWT, ID de trazabilidad). El campo "descripción" de la historia Jira es el enunciado EARS. El campo "criterio de aceptación" es el GWT. La integración Jira-Git vincula cada commit con la historia correspondiente mediante el ID en el mensaje de commit (ej. "feat: ISR-045 registrar peso bovino").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flujo de trabajo Git para el ERS sigue el mismo patrón que el código: feature branches para cada CR aprobado, pull request con descripción del cambio y RF afectados, revisión por al menos un miembro del equipo, merge a develop, y merge a main solo cuando el cliente aprueba. Los tags semánticos crean los baselines: v0.1.0 (kickoff), v0.5.0 (entrega hito 1), v1.0.0 (ERS aprobado para defensa). GitHub Actions puede verificar automáticamente que el LaTeX del ERS compila en cada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herramientas CASE no hacen la IR — facilitan que los humanos la hagan bien. Una herramienta sin proceso es ruido. Un proceso sin herramienta es trabajo manual duplicado. La combinación Jira + draw.io + Git cubre el 80 % de las necesidades de IR del PFC sin costo.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365760"/>
            <a:ext cx="11430000" cy="914400"/>
          </a:xfrm>
          <a:prstGeom prst="rect">
            <a:avLst/>
          </a:prstGeom>
          <a:noFill/>
          <a:ln/>
        </p:spPr>
        <p:txBody>
          <a:bodyPr wrap="square" lIns="0" tIns="0" rIns="0" bIns="0" rtlCol="0" anchor="ctr"/>
          <a:lstStyle/>
          <a:p>
            <a:pPr indent="0" marL="0">
              <a:buNone/>
            </a:pPr>
            <a:r>
              <a:rPr lang="en-US" sz="2200" dirty="0">
                <a:solidFill>
                  <a:srgbClr val="C8960C"/>
                </a:solidFill>
                <a:latin typeface="Cambria" pitchFamily="34" charset="0"/>
                <a:ea typeface="Cambria" pitchFamily="34" charset="-122"/>
                <a:cs typeface="Cambria" pitchFamily="34" charset="-120"/>
              </a:rPr>
              <a:t>Semana 13</a:t>
            </a:r>
            <a:endParaRPr lang="en-US" sz="2200" dirty="0"/>
          </a:p>
        </p:txBody>
      </p:sp>
      <p:sp>
        <p:nvSpPr>
          <p:cNvPr id="4" name="Text 2"/>
          <p:cNvSpPr txBox="1"/>
          <p:nvPr/>
        </p:nvSpPr>
        <p:spPr>
          <a:xfrm>
            <a:off x="347472" y="1097280"/>
            <a:ext cx="11430000" cy="25603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Herramientas CASE para la IR</a:t>
            </a:r>
            <a:endParaRPr lang="en-US" sz="4000" dirty="0"/>
          </a:p>
        </p:txBody>
      </p:sp>
      <p:sp>
        <p:nvSpPr>
          <p:cNvPr id="5" name="Text 3"/>
          <p:cNvSpPr txBox="1"/>
          <p:nvPr/>
        </p:nvSpPr>
        <p:spPr>
          <a:xfrm>
            <a:off x="347472" y="3749040"/>
            <a:ext cx="11430000" cy="822960"/>
          </a:xfrm>
          <a:prstGeom prst="rect">
            <a:avLst/>
          </a:prstGeom>
          <a:noFill/>
          <a:ln/>
        </p:spPr>
        <p:txBody>
          <a:bodyPr wrap="square" lIns="0" tIns="0" rIns="0" bIns="0" rtlCol="0" anchor="ctr"/>
          <a:lstStyle/>
          <a:p>
            <a:pPr indent="0" marL="0">
              <a:buNone/>
            </a:pPr>
            <a:r>
              <a:rPr lang="en-US" sz="2000" dirty="0">
                <a:solidFill>
                  <a:srgbClr val="D6E4F7"/>
                </a:solidFill>
                <a:latin typeface="Calibri" pitchFamily="34" charset="0"/>
                <a:ea typeface="Calibri" pitchFamily="34" charset="-122"/>
                <a:cs typeface="Calibri" pitchFamily="34" charset="-120"/>
              </a:rPr>
              <a:t>Tema 13 — Jira, Enterprise Architect, ReqIF, IEEE 29148 y Git en proyectos reales</a:t>
            </a:r>
            <a:endParaRPr lang="en-US" sz="2000" dirty="0"/>
          </a:p>
        </p:txBody>
      </p:sp>
      <p:sp>
        <p:nvSpPr>
          <p:cNvPr id="6" name="Text 4"/>
          <p:cNvSpPr txBox="1"/>
          <p:nvPr/>
        </p:nvSpPr>
        <p:spPr>
          <a:xfrm>
            <a:off x="347472" y="4663440"/>
            <a:ext cx="11430000" cy="548640"/>
          </a:xfrm>
          <a:prstGeom prst="rect">
            <a:avLst/>
          </a:prstGeom>
          <a:noFill/>
          <a:ln/>
        </p:spPr>
        <p:txBody>
          <a:bodyPr wrap="square" lIns="0" tIns="0" rIns="0" bIns="0" rtlCol="0" anchor="ctr"/>
          <a:lstStyle/>
          <a:p>
            <a:pPr indent="0" marL="0">
              <a:buNone/>
            </a:pPr>
            <a:r>
              <a:rPr lang="en-US" sz="1600" dirty="0">
                <a:solidFill>
                  <a:srgbClr val="C8960C"/>
                </a:solidFill>
                <a:latin typeface="Calibri" pitchFamily="34" charset="0"/>
                <a:ea typeface="Calibri" pitchFamily="34" charset="-122"/>
                <a:cs typeface="Calibri" pitchFamily="34" charset="-120"/>
              </a:rPr>
              <a:t>Unidad 5: IR Avanzada y PFC</a:t>
            </a:r>
            <a:endParaRPr lang="en-US" sz="1600" dirty="0"/>
          </a:p>
        </p:txBody>
      </p:sp>
      <p:sp>
        <p:nvSpPr>
          <p:cNvPr id="7" name="Text 5"/>
          <p:cNvSpPr txBox="1"/>
          <p:nvPr/>
        </p:nvSpPr>
        <p:spPr>
          <a:xfrm>
            <a:off x="347472" y="6126480"/>
            <a:ext cx="11430000" cy="457200"/>
          </a:xfrm>
          <a:prstGeom prst="rect">
            <a:avLst/>
          </a:prstGeom>
          <a:noFill/>
          <a:ln/>
        </p:spPr>
        <p:txBody>
          <a:bodyPr wrap="square" lIns="0" tIns="0" rIns="0" bIns="0" rtlCol="0" anchor="ctr"/>
          <a:lstStyle/>
          <a:p>
            <a:pPr indent="0" marL="0">
              <a:buNone/>
            </a:pPr>
            <a:r>
              <a:rPr lang="en-US" sz="1300" dirty="0">
                <a:solidFill>
                  <a:srgbClr val="D6E4F7"/>
                </a:solidFill>
                <a:latin typeface="Calibri" pitchFamily="34" charset="0"/>
                <a:ea typeface="Calibri" pitchFamily="34" charset="-122"/>
                <a:cs typeface="Calibri" pitchFamily="34" charset="-120"/>
              </a:rPr>
              <a:t>ISR-401 · Ingeniería de Requisitos · UTEQ</a:t>
            </a:r>
            <a:endParaRPr lang="en-US" sz="1300" dirty="0"/>
          </a:p>
        </p:txBody>
      </p:sp>
      <p:sp>
        <p:nvSpPr>
          <p:cNvPr id="8" name="Text 6"/>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256032"/>
            <a:ext cx="11430000" cy="502920"/>
          </a:xfrm>
          <a:prstGeom prst="rect">
            <a:avLst/>
          </a:prstGeom>
          <a:noFill/>
          <a:ln/>
        </p:spPr>
        <p:txBody>
          <a:bodyPr wrap="square" lIns="0" tIns="0" rIns="0" bIns="0" rtlCol="0" anchor="ctr"/>
          <a:lstStyle/>
          <a:p>
            <a:pPr indent="0" marL="0">
              <a:buNone/>
            </a:pPr>
            <a:r>
              <a:rPr lang="en-US" sz="1300" b="1" dirty="0">
                <a:solidFill>
                  <a:srgbClr val="C8960C"/>
                </a:solidFill>
                <a:latin typeface="Calibri" pitchFamily="34" charset="0"/>
                <a:ea typeface="Calibri" pitchFamily="34" charset="-122"/>
                <a:cs typeface="Calibri" pitchFamily="34" charset="-120"/>
              </a:rPr>
              <a:t>PLANIFICACIÓN DE LA CLASE</a:t>
            </a:r>
            <a:endParaRPr lang="en-US" sz="1300" dirty="0"/>
          </a:p>
        </p:txBody>
      </p:sp>
      <p:sp>
        <p:nvSpPr>
          <p:cNvPr id="4" name="Text 2"/>
          <p:cNvSpPr txBox="1"/>
          <p:nvPr/>
        </p:nvSpPr>
        <p:spPr>
          <a:xfrm>
            <a:off x="347472" y="749808"/>
            <a:ext cx="114300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¿Qué haremos hoy?</a:t>
            </a:r>
            <a:endParaRPr lang="en-US" sz="3200" dirty="0"/>
          </a:p>
        </p:txBody>
      </p:sp>
      <p:sp>
        <p:nvSpPr>
          <p:cNvPr id="5" name="Shape 3"/>
          <p:cNvSpPr/>
          <p:nvPr/>
        </p:nvSpPr>
        <p:spPr>
          <a:xfrm>
            <a:off x="347472" y="1554480"/>
            <a:ext cx="3703320" cy="2057400"/>
          </a:xfrm>
          <a:prstGeom prst="roundRect">
            <a:avLst>
              <a:gd name="adj" fmla="val 3556"/>
            </a:avLst>
          </a:prstGeom>
          <a:solidFill>
            <a:srgbClr val="1565C0"/>
          </a:solidFill>
          <a:ln w="12700">
            <a:solidFill>
              <a:srgbClr val="1565C0"/>
            </a:solidFill>
            <a:prstDash val="solid"/>
          </a:ln>
        </p:spPr>
      </p:sp>
      <p:sp>
        <p:nvSpPr>
          <p:cNvPr id="6" name="Text 4"/>
          <p:cNvSpPr txBox="1"/>
          <p:nvPr/>
        </p:nvSpPr>
        <p:spPr>
          <a:xfrm>
            <a:off x="45720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45720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Panorama CASE (20 min)</a:t>
            </a:r>
            <a:endParaRPr lang="en-US" sz="1500" dirty="0"/>
          </a:p>
        </p:txBody>
      </p:sp>
      <p:sp>
        <p:nvSpPr>
          <p:cNvPr id="8" name="Text 6"/>
          <p:cNvSpPr txBox="1"/>
          <p:nvPr/>
        </p:nvSpPr>
        <p:spPr>
          <a:xfrm>
            <a:off x="45720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Categorías · criterios de selección · comparativa</a:t>
            </a:r>
            <a:endParaRPr lang="en-US" sz="1200" dirty="0"/>
          </a:p>
        </p:txBody>
      </p:sp>
      <p:sp>
        <p:nvSpPr>
          <p:cNvPr id="9" name="Shape 7"/>
          <p:cNvSpPr/>
          <p:nvPr/>
        </p:nvSpPr>
        <p:spPr>
          <a:xfrm>
            <a:off x="4187952" y="1554480"/>
            <a:ext cx="3703320" cy="2057400"/>
          </a:xfrm>
          <a:prstGeom prst="roundRect">
            <a:avLst>
              <a:gd name="adj" fmla="val 3556"/>
            </a:avLst>
          </a:prstGeom>
          <a:solidFill>
            <a:srgbClr val="1565C0"/>
          </a:solidFill>
          <a:ln w="12700">
            <a:solidFill>
              <a:srgbClr val="1565C0"/>
            </a:solidFill>
            <a:prstDash val="solid"/>
          </a:ln>
        </p:spPr>
      </p:sp>
      <p:sp>
        <p:nvSpPr>
          <p:cNvPr id="10" name="Text 8"/>
          <p:cNvSpPr txBox="1"/>
          <p:nvPr/>
        </p:nvSpPr>
        <p:spPr>
          <a:xfrm>
            <a:off x="429768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429768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Jira para IR (35 min)</a:t>
            </a:r>
            <a:endParaRPr lang="en-US" sz="1500" dirty="0"/>
          </a:p>
        </p:txBody>
      </p:sp>
      <p:sp>
        <p:nvSpPr>
          <p:cNvPr id="12" name="Text 10"/>
          <p:cNvSpPr txBox="1"/>
          <p:nvPr/>
        </p:nvSpPr>
        <p:spPr>
          <a:xfrm>
            <a:off x="429768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Épicas/Historias/Subtareas · JQL · dashboards</a:t>
            </a:r>
            <a:endParaRPr lang="en-US" sz="1200" dirty="0"/>
          </a:p>
        </p:txBody>
      </p:sp>
      <p:sp>
        <p:nvSpPr>
          <p:cNvPr id="13" name="Shape 11"/>
          <p:cNvSpPr/>
          <p:nvPr/>
        </p:nvSpPr>
        <p:spPr>
          <a:xfrm>
            <a:off x="8028432" y="1554480"/>
            <a:ext cx="3703320" cy="2057400"/>
          </a:xfrm>
          <a:prstGeom prst="roundRect">
            <a:avLst>
              <a:gd name="adj" fmla="val 3556"/>
            </a:avLst>
          </a:prstGeom>
          <a:solidFill>
            <a:srgbClr val="1565C0"/>
          </a:solidFill>
          <a:ln w="12700">
            <a:solidFill>
              <a:srgbClr val="1565C0"/>
            </a:solidFill>
            <a:prstDash val="solid"/>
          </a:ln>
        </p:spPr>
      </p:sp>
      <p:sp>
        <p:nvSpPr>
          <p:cNvPr id="14" name="Text 12"/>
          <p:cNvSpPr txBox="1"/>
          <p:nvPr/>
        </p:nvSpPr>
        <p:spPr>
          <a:xfrm>
            <a:off x="8138160" y="164592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8138160" y="202996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Enterprise Architect (25 min)</a:t>
            </a:r>
            <a:endParaRPr lang="en-US" sz="1500" dirty="0"/>
          </a:p>
        </p:txBody>
      </p:sp>
      <p:sp>
        <p:nvSpPr>
          <p:cNvPr id="16" name="Text 14"/>
          <p:cNvSpPr txBox="1"/>
          <p:nvPr/>
        </p:nvSpPr>
        <p:spPr>
          <a:xfrm>
            <a:off x="8138160" y="248716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Repositorio modelos UML · RTM automática · export ReqIF</a:t>
            </a:r>
            <a:endParaRPr lang="en-US" sz="1200" dirty="0"/>
          </a:p>
        </p:txBody>
      </p:sp>
      <p:sp>
        <p:nvSpPr>
          <p:cNvPr id="17" name="Shape 15"/>
          <p:cNvSpPr/>
          <p:nvPr/>
        </p:nvSpPr>
        <p:spPr>
          <a:xfrm>
            <a:off x="347472" y="3749040"/>
            <a:ext cx="3703320" cy="2057400"/>
          </a:xfrm>
          <a:prstGeom prst="roundRect">
            <a:avLst>
              <a:gd name="adj" fmla="val 3556"/>
            </a:avLst>
          </a:prstGeom>
          <a:solidFill>
            <a:srgbClr val="1565C0"/>
          </a:solidFill>
          <a:ln w="12700">
            <a:solidFill>
              <a:srgbClr val="1565C0"/>
            </a:solidFill>
            <a:prstDash val="solid"/>
          </a:ln>
        </p:spPr>
      </p:sp>
      <p:sp>
        <p:nvSpPr>
          <p:cNvPr id="18" name="Text 16"/>
          <p:cNvSpPr txBox="1"/>
          <p:nvPr/>
        </p:nvSpPr>
        <p:spPr>
          <a:xfrm>
            <a:off x="45720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4</a:t>
            </a:r>
            <a:endParaRPr lang="en-US" sz="2200" dirty="0"/>
          </a:p>
        </p:txBody>
      </p:sp>
      <p:sp>
        <p:nvSpPr>
          <p:cNvPr id="19" name="Text 17"/>
          <p:cNvSpPr txBox="1"/>
          <p:nvPr/>
        </p:nvSpPr>
        <p:spPr>
          <a:xfrm>
            <a:off x="45720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Git para ERS (20 min)</a:t>
            </a:r>
            <a:endParaRPr lang="en-US" sz="1500" dirty="0"/>
          </a:p>
        </p:txBody>
      </p:sp>
      <p:sp>
        <p:nvSpPr>
          <p:cNvPr id="20" name="Text 18"/>
          <p:cNvSpPr txBox="1"/>
          <p:nvPr/>
        </p:nvSpPr>
        <p:spPr>
          <a:xfrm>
            <a:off x="45720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Flujo de trabajo ERS · tags semánticos · GitHub Actions</a:t>
            </a:r>
            <a:endParaRPr lang="en-US" sz="1200" dirty="0"/>
          </a:p>
        </p:txBody>
      </p:sp>
      <p:sp>
        <p:nvSpPr>
          <p:cNvPr id="21" name="Shape 19"/>
          <p:cNvSpPr/>
          <p:nvPr/>
        </p:nvSpPr>
        <p:spPr>
          <a:xfrm>
            <a:off x="4187952" y="3749040"/>
            <a:ext cx="3703320" cy="2057400"/>
          </a:xfrm>
          <a:prstGeom prst="roundRect">
            <a:avLst>
              <a:gd name="adj" fmla="val 3556"/>
            </a:avLst>
          </a:prstGeom>
          <a:solidFill>
            <a:srgbClr val="1565C0"/>
          </a:solidFill>
          <a:ln w="12700">
            <a:solidFill>
              <a:srgbClr val="1565C0"/>
            </a:solidFill>
            <a:prstDash val="solid"/>
          </a:ln>
        </p:spPr>
      </p:sp>
      <p:sp>
        <p:nvSpPr>
          <p:cNvPr id="22" name="Text 20"/>
          <p:cNvSpPr txBox="1"/>
          <p:nvPr/>
        </p:nvSpPr>
        <p:spPr>
          <a:xfrm>
            <a:off x="4297680" y="3840480"/>
            <a:ext cx="457200" cy="411480"/>
          </a:xfrm>
          <a:prstGeom prst="rect">
            <a:avLst/>
          </a:prstGeom>
          <a:noFill/>
          <a:ln/>
        </p:spPr>
        <p:txBody>
          <a:bodyPr wrap="square" lIns="0" tIns="0" rIns="0" bIns="0" rtlCol="0" anchor="ctr"/>
          <a:lstStyle/>
          <a:p>
            <a:pPr indent="0" marL="0">
              <a:buNone/>
            </a:pPr>
            <a:r>
              <a:rPr lang="en-US" sz="2200" b="1" dirty="0">
                <a:solidFill>
                  <a:srgbClr val="C8960C"/>
                </a:solidFill>
                <a:latin typeface="Cambria" pitchFamily="34" charset="0"/>
                <a:ea typeface="Cambria" pitchFamily="34" charset="-122"/>
                <a:cs typeface="Cambria" pitchFamily="34" charset="-120"/>
              </a:rPr>
              <a:t>5</a:t>
            </a:r>
            <a:endParaRPr lang="en-US" sz="2200" dirty="0"/>
          </a:p>
        </p:txBody>
      </p:sp>
      <p:sp>
        <p:nvSpPr>
          <p:cNvPr id="23" name="Text 21"/>
          <p:cNvSpPr txBox="1"/>
          <p:nvPr/>
        </p:nvSpPr>
        <p:spPr>
          <a:xfrm>
            <a:off x="4297680" y="4224528"/>
            <a:ext cx="352044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PE-13 (60 min)</a:t>
            </a:r>
            <a:endParaRPr lang="en-US" sz="1500" dirty="0"/>
          </a:p>
        </p:txBody>
      </p:sp>
      <p:sp>
        <p:nvSpPr>
          <p:cNvPr id="24" name="Text 22"/>
          <p:cNvSpPr txBox="1"/>
          <p:nvPr/>
        </p:nvSpPr>
        <p:spPr>
          <a:xfrm>
            <a:off x="4297680" y="4681728"/>
            <a:ext cx="3520440" cy="100584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Configurar Jira del PFC: épicas, historias, sprints + primer tag de Git</a:t>
            </a:r>
            <a:endParaRPr lang="en-US" sz="1200" dirty="0"/>
          </a:p>
        </p:txBody>
      </p:sp>
      <p:sp>
        <p:nvSpPr>
          <p:cNvPr id="25" name="Text 23"/>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Categorías de herramientas CASE para IR</a:t>
            </a:r>
            <a:endParaRPr lang="en-US" sz="2800" dirty="0"/>
          </a:p>
        </p:txBody>
      </p:sp>
      <p:sp>
        <p:nvSpPr>
          <p:cNvPr id="5" name="Shape 3"/>
          <p:cNvSpPr/>
          <p:nvPr/>
        </p:nvSpPr>
        <p:spPr>
          <a:xfrm>
            <a:off x="347472" y="1234440"/>
            <a:ext cx="5577840" cy="5257800"/>
          </a:xfrm>
          <a:prstGeom prst="rect">
            <a:avLst/>
          </a:prstGeom>
          <a:solidFill>
            <a:srgbClr val="FFFFFF"/>
          </a:solidFill>
          <a:ln w="12700">
            <a:solidFill>
              <a:srgbClr val="D6E4F7"/>
            </a:solidFill>
            <a:prstDash val="solid"/>
          </a:ln>
        </p:spPr>
      </p:sp>
      <p:sp>
        <p:nvSpPr>
          <p:cNvPr id="6" name="Text 4"/>
          <p:cNvSpPr txBox="1"/>
          <p:nvPr/>
        </p:nvSpPr>
        <p:spPr>
          <a:xfrm>
            <a:off x="457200" y="1325880"/>
            <a:ext cx="534924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Gestión de requisitos</a:t>
            </a:r>
            <a:endParaRPr lang="en-US" sz="1800" dirty="0"/>
          </a:p>
        </p:txBody>
      </p:sp>
      <p:sp>
        <p:nvSpPr>
          <p:cNvPr id="7" name="Text 5"/>
          <p:cNvSpPr txBox="1"/>
          <p:nvPr/>
        </p:nvSpPr>
        <p:spPr>
          <a:xfrm>
            <a:off x="457200" y="1783080"/>
            <a:ext cx="534924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IBM DOORS / DOORS Next: estándar industrial (aeroespacial, automoción)</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Jira + Confluence: ecosistema ágil, integración CI/CD nativa</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Azure DevOps: trazabilidad completa Microsoft (.NET, Azure)</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Polarion ALM: certificación ISO 26262 (automoción)</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Helix RM (Perforce): trazabilidad regulatoria (medicina)</a:t>
            </a:r>
            <a:endParaRPr lang="en-US" sz="1700" dirty="0"/>
          </a:p>
        </p:txBody>
      </p:sp>
      <p:sp>
        <p:nvSpPr>
          <p:cNvPr id="8" name="Shape 6"/>
          <p:cNvSpPr/>
          <p:nvPr/>
        </p:nvSpPr>
        <p:spPr>
          <a:xfrm>
            <a:off x="6126480" y="1234440"/>
            <a:ext cx="5742432" cy="5257800"/>
          </a:xfrm>
          <a:prstGeom prst="rect">
            <a:avLst/>
          </a:prstGeom>
          <a:solidFill>
            <a:srgbClr val="FFFFFF"/>
          </a:solidFill>
          <a:ln w="12700">
            <a:solidFill>
              <a:srgbClr val="D6E4F7"/>
            </a:solidFill>
            <a:prstDash val="solid"/>
          </a:ln>
        </p:spPr>
      </p:sp>
      <p:sp>
        <p:nvSpPr>
          <p:cNvPr id="9" name="Text 7"/>
          <p:cNvSpPr txBox="1"/>
          <p:nvPr/>
        </p:nvSpPr>
        <p:spPr>
          <a:xfrm>
            <a:off x="6236208" y="1325880"/>
            <a:ext cx="5486400" cy="457200"/>
          </a:xfrm>
          <a:prstGeom prst="rect">
            <a:avLst/>
          </a:prstGeom>
          <a:noFill/>
          <a:ln/>
        </p:spPr>
        <p:txBody>
          <a:bodyPr wrap="square" lIns="0" tIns="0" rIns="0" bIns="0" rtlCol="0" anchor="ctr"/>
          <a:lstStyle/>
          <a:p>
            <a:pPr indent="0" marL="0">
              <a:buNone/>
            </a:pPr>
            <a:r>
              <a:rPr lang="en-US" sz="1800" b="1" dirty="0">
                <a:solidFill>
                  <a:srgbClr val="0D3B72"/>
                </a:solidFill>
                <a:latin typeface="Cambria" pitchFamily="34" charset="0"/>
                <a:ea typeface="Cambria" pitchFamily="34" charset="-122"/>
                <a:cs typeface="Cambria" pitchFamily="34" charset="-120"/>
              </a:rPr>
              <a:t>Modelado y especificación</a:t>
            </a:r>
            <a:endParaRPr lang="en-US" sz="1800" dirty="0"/>
          </a:p>
        </p:txBody>
      </p:sp>
      <p:sp>
        <p:nvSpPr>
          <p:cNvPr id="10" name="Text 8"/>
          <p:cNvSpPr txBox="1"/>
          <p:nvPr/>
        </p:nvSpPr>
        <p:spPr>
          <a:xfrm>
            <a:off x="6236208" y="1783080"/>
            <a:ext cx="5486400" cy="4572000"/>
          </a:xfrm>
          <a:prstGeom prst="rect">
            <a:avLst/>
          </a:prstGeom>
          <a:noFill/>
          <a:ln/>
        </p:spPr>
        <p:txBody>
          <a:bodyPr wrap="square" lIns="0" tIns="0" rIns="0" bIns="0" rtlCol="0" anchor="t"/>
          <a:lstStyle/>
          <a:p>
            <a:pPr>
              <a:spcAft>
                <a:spcPts val="500"/>
              </a:spcAft>
            </a:pPr>
            <a:r>
              <a:rPr lang="en-US" sz="1700" dirty="0">
                <a:solidFill>
                  <a:srgbClr val="1A1A2E"/>
                </a:solidFill>
                <a:latin typeface="Calibri" pitchFamily="34" charset="0"/>
                <a:ea typeface="Calibri" pitchFamily="34" charset="-122"/>
                <a:cs typeface="Calibri" pitchFamily="34" charset="-120"/>
              </a:rPr>
              <a:t>Enterprise Architect (EA): UML + SysML + BPMN + ReqIF</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MagicDraw / Cameo: SysML puro para sistemas embebidos</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Visual Paradigm: UML + integración Jira + generación ERS</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draw.io / Lucidchart: modelado ligero, colaborativo, gratuito</a:t>
            </a:r>
            <a:endParaRPr lang="en-US" sz="1700" dirty="0"/>
          </a:p>
          <a:p>
            <a:pPr>
              <a:spcAft>
                <a:spcPts val="500"/>
              </a:spcAft>
            </a:pPr>
            <a:r>
              <a:rPr lang="en-US" sz="1700" dirty="0">
                <a:solidFill>
                  <a:srgbClr val="1A1A2E"/>
                </a:solidFill>
                <a:latin typeface="Calibri" pitchFamily="34" charset="0"/>
                <a:ea typeface="Calibri" pitchFamily="34" charset="-122"/>
                <a:cs typeface="Calibri" pitchFamily="34" charset="-120"/>
              </a:rPr>
              <a:t>StarUML: opción académica gratuita con exportación XMI</a:t>
            </a:r>
            <a:endParaRPr lang="en-US" sz="1700" dirty="0"/>
          </a:p>
        </p:txBody>
      </p:sp>
      <p:sp>
        <p:nvSpPr>
          <p:cNvPr id="12" name="Text 9"/>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Jira para gestión de requisitos — estructura clave</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ÉPICA: agrupa funcionalidades del mismo dominio (ej. "Gestión de animales", "Módulo de reportes")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HISTORIA DE USUARIO: un RF completo en formato EARS o GWT — la épica contiene las historias</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SUBTAREA: paso de implementación de una historia — no es un RF, es una tarea técnica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SPRINT: contenedor temporal — el backlog de sprint = RF comprometidos para esa iteración</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JQL (Jira Query Language): filtrar RF por prioridad, estado, épica o sprint para la RTM</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Dashboard mínimo PFC: RF aprobados / RF en desarrollo / RF completados / defectos abiertos</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Git como herramienta de gestión de la configuración del ERS</a:t>
            </a:r>
            <a:endParaRPr lang="en-US" sz="2800" dirty="0"/>
          </a:p>
        </p:txBody>
      </p:sp>
      <p:sp>
        <p:nvSpPr>
          <p:cNvPr id="5" name="Text 3"/>
          <p:cNvSpPr txBox="1"/>
          <p:nvPr/>
        </p:nvSpPr>
        <p:spPr>
          <a:xfrm>
            <a:off x="457200" y="1261872"/>
            <a:ext cx="11430000" cy="5212080"/>
          </a:xfrm>
          <a:prstGeom prst="rect">
            <a:avLst/>
          </a:prstGeom>
          <a:noFill/>
          <a:ln/>
        </p:spPr>
        <p:txBody>
          <a:bodyPr wrap="square" lIns="0" tIns="0" rIns="0" bIns="0" rtlCol="0" anchor="t"/>
          <a:lstStyle/>
          <a:p>
            <a:pPr>
              <a:spcAft>
                <a:spcPts val="600"/>
              </a:spcAft>
            </a:pPr>
            <a:r>
              <a:rPr lang="en-US" sz="2000" dirty="0">
                <a:solidFill>
                  <a:srgbClr val="1A1A2E"/>
                </a:solidFill>
                <a:latin typeface="Calibri" pitchFamily="34" charset="0"/>
                <a:ea typeface="Calibri" pitchFamily="34" charset="-122"/>
                <a:cs typeface="Calibri" pitchFamily="34" charset="-120"/>
              </a:rPr>
              <a:t>ESTRUCTURA DE RAMAS: main (ERS aprobado) | develop (trabajo en curso) | feature/RF-XXX (cambio específico)</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COMMITS ATÓMICOS: un commit = un cambio de RF + los modelos afectados + la RTM actualizada</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MENSAJE CONVENCIONAL: "feat(RF-045): registrar peso bovino — ERS v1.2.0" (tipo + scope + descripción)</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TAG SEMÁNTICO: git tag v1.0.0 marca el baseline del ERS aprobado por el cliente</a:t>
            </a:r>
            <a:endParaRPr lang="en-US" sz="2000" dirty="0"/>
          </a:p>
          <a:p>
            <a:pPr>
              <a:spcAft>
                <a:spcPts val="600"/>
              </a:spcAft>
            </a:pPr>
            <a:r>
              <a:rPr lang="en-US" sz="2000" dirty="0">
                <a:solidFill>
                  <a:srgbClr val="1A1A2E"/>
                </a:solidFill>
                <a:latin typeface="Calibri" pitchFamily="34" charset="0"/>
                <a:ea typeface="Calibri" pitchFamily="34" charset="-122"/>
                <a:cs typeface="Calibri" pitchFamily="34" charset="-120"/>
              </a:rPr>
              <a:t>PULL REQUEST como CCB: la revisión del PR documenta la decisión del CCB antes de mergear a main</a:t>
            </a:r>
            <a:endParaRPr lang="en-US" sz="2000" dirty="0"/>
          </a:p>
          <a:p>
            <a:pPr lvl="1">
              <a:spcAft>
                <a:spcPts val="600"/>
              </a:spcAft>
            </a:pPr>
            <a:r>
              <a:rPr lang="en-US" sz="1600" dirty="0">
                <a:solidFill>
                  <a:srgbClr val="546E7A"/>
                </a:solidFill>
                <a:latin typeface="Calibri" pitchFamily="34" charset="0"/>
                <a:ea typeface="Calibri" pitchFamily="34" charset="-122"/>
                <a:cs typeface="Calibri" pitchFamily="34" charset="-120"/>
              </a:rPr>
              <a:t>GitHub Actions: verificar que el PDF del ERS compila sin errores en cada push a develop</a:t>
            </a:r>
            <a:endParaRPr lang="en-US" sz="2000" dirty="0"/>
          </a:p>
        </p:txBody>
      </p:sp>
      <p:sp>
        <p:nvSpPr>
          <p:cNvPr id="7" name="Text 4"/>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ect">
            <a:avLst/>
          </a:prstGeom>
          <a:solidFill>
            <a:srgbClr val="0D3B72"/>
          </a:solidFill>
          <a:ln w="12700">
            <a:solidFill>
              <a:srgbClr val="0D3B72"/>
            </a:solidFill>
            <a:prstDash val="solid"/>
          </a:ln>
        </p:spPr>
      </p:sp>
      <p:sp>
        <p:nvSpPr>
          <p:cNvPr id="3" name="Shape 1"/>
          <p:cNvSpPr/>
          <p:nvPr/>
        </p:nvSpPr>
        <p:spPr>
          <a:xfrm>
            <a:off x="0" y="0"/>
            <a:ext cx="164592" cy="6858000"/>
          </a:xfrm>
          <a:prstGeom prst="rect">
            <a:avLst/>
          </a:prstGeom>
          <a:solidFill>
            <a:srgbClr val="C8960C"/>
          </a:solidFill>
          <a:ln w="12700">
            <a:solidFill>
              <a:srgbClr val="C8960C"/>
            </a:solidFill>
            <a:prstDash val="solid"/>
          </a:ln>
        </p:spPr>
      </p:sp>
      <p:sp>
        <p:nvSpPr>
          <p:cNvPr id="4" name="Text 2"/>
          <p:cNvSpPr txBox="1"/>
          <p:nvPr/>
        </p:nvSpPr>
        <p:spPr>
          <a:xfrm>
            <a:off x="347472" y="164592"/>
            <a:ext cx="11521440" cy="84124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Mapa síntesis — Semana 13</a:t>
            </a:r>
            <a:endParaRPr lang="en-US" sz="2800" dirty="0"/>
          </a:p>
        </p:txBody>
      </p:sp>
      <p:sp>
        <p:nvSpPr>
          <p:cNvPr id="5" name="Shape 3"/>
          <p:cNvSpPr/>
          <p:nvPr/>
        </p:nvSpPr>
        <p:spPr>
          <a:xfrm>
            <a:off x="347472" y="1261872"/>
            <a:ext cx="3200400" cy="1252728"/>
          </a:xfrm>
          <a:prstGeom prst="rect">
            <a:avLst/>
          </a:prstGeom>
          <a:solidFill>
            <a:srgbClr val="0D3B72"/>
          </a:solidFill>
          <a:ln w="12700">
            <a:solidFill>
              <a:srgbClr val="0D3B72"/>
            </a:solidFill>
            <a:prstDash val="solid"/>
          </a:ln>
        </p:spPr>
      </p:sp>
      <p:sp>
        <p:nvSpPr>
          <p:cNvPr id="6" name="Text 4"/>
          <p:cNvSpPr txBox="1"/>
          <p:nvPr/>
        </p:nvSpPr>
        <p:spPr>
          <a:xfrm>
            <a:off x="438912" y="130759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Panorama CASE</a:t>
            </a:r>
            <a:endParaRPr lang="en-US" sz="1600" dirty="0"/>
          </a:p>
        </p:txBody>
      </p:sp>
      <p:sp>
        <p:nvSpPr>
          <p:cNvPr id="7" name="Shape 5"/>
          <p:cNvSpPr/>
          <p:nvPr/>
        </p:nvSpPr>
        <p:spPr>
          <a:xfrm>
            <a:off x="3584448" y="1261872"/>
            <a:ext cx="4297680" cy="1252728"/>
          </a:xfrm>
          <a:prstGeom prst="rect">
            <a:avLst/>
          </a:prstGeom>
          <a:solidFill>
            <a:srgbClr val="FFFFFF"/>
          </a:solidFill>
          <a:ln w="12700">
            <a:solidFill>
              <a:srgbClr val="D6E4F7"/>
            </a:solidFill>
            <a:prstDash val="solid"/>
          </a:ln>
        </p:spPr>
      </p:sp>
      <p:sp>
        <p:nvSpPr>
          <p:cNvPr id="8" name="Text 6"/>
          <p:cNvSpPr txBox="1"/>
          <p:nvPr/>
        </p:nvSpPr>
        <p:spPr>
          <a:xfrm>
            <a:off x="3675888" y="130759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Categorías: gestión / modelado / documentación</a:t>
            </a:r>
            <a:endParaRPr lang="en-US" sz="1500" dirty="0"/>
          </a:p>
        </p:txBody>
      </p:sp>
      <p:sp>
        <p:nvSpPr>
          <p:cNvPr id="9" name="Shape 7"/>
          <p:cNvSpPr/>
          <p:nvPr/>
        </p:nvSpPr>
        <p:spPr>
          <a:xfrm>
            <a:off x="7918704" y="1261872"/>
            <a:ext cx="3913632" cy="1252728"/>
          </a:xfrm>
          <a:prstGeom prst="rect">
            <a:avLst/>
          </a:prstGeom>
          <a:solidFill>
            <a:srgbClr val="FFFFFF"/>
          </a:solidFill>
          <a:ln w="12700">
            <a:solidFill>
              <a:srgbClr val="D6E4F7"/>
            </a:solidFill>
            <a:prstDash val="solid"/>
          </a:ln>
        </p:spPr>
      </p:sp>
      <p:sp>
        <p:nvSpPr>
          <p:cNvPr id="10" name="Text 8"/>
          <p:cNvSpPr txBox="1"/>
          <p:nvPr/>
        </p:nvSpPr>
        <p:spPr>
          <a:xfrm>
            <a:off x="8010144" y="130759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Selección justificada de herramientas para el PFC</a:t>
            </a:r>
            <a:endParaRPr lang="en-US" sz="1400" dirty="0"/>
          </a:p>
        </p:txBody>
      </p:sp>
      <p:sp>
        <p:nvSpPr>
          <p:cNvPr id="11" name="Shape 9"/>
          <p:cNvSpPr/>
          <p:nvPr/>
        </p:nvSpPr>
        <p:spPr>
          <a:xfrm>
            <a:off x="347472" y="2587752"/>
            <a:ext cx="3200400" cy="1252728"/>
          </a:xfrm>
          <a:prstGeom prst="rect">
            <a:avLst/>
          </a:prstGeom>
          <a:solidFill>
            <a:srgbClr val="1565C0"/>
          </a:solidFill>
          <a:ln w="12700">
            <a:solidFill>
              <a:srgbClr val="1565C0"/>
            </a:solidFill>
            <a:prstDash val="solid"/>
          </a:ln>
        </p:spPr>
      </p:sp>
      <p:sp>
        <p:nvSpPr>
          <p:cNvPr id="12" name="Text 10"/>
          <p:cNvSpPr txBox="1"/>
          <p:nvPr/>
        </p:nvSpPr>
        <p:spPr>
          <a:xfrm>
            <a:off x="438912" y="263347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Jira</a:t>
            </a:r>
            <a:endParaRPr lang="en-US" sz="1600" dirty="0"/>
          </a:p>
        </p:txBody>
      </p:sp>
      <p:sp>
        <p:nvSpPr>
          <p:cNvPr id="13" name="Shape 11"/>
          <p:cNvSpPr/>
          <p:nvPr/>
        </p:nvSpPr>
        <p:spPr>
          <a:xfrm>
            <a:off x="3584448" y="2587752"/>
            <a:ext cx="4297680" cy="1252728"/>
          </a:xfrm>
          <a:prstGeom prst="rect">
            <a:avLst/>
          </a:prstGeom>
          <a:solidFill>
            <a:srgbClr val="FFFFFF"/>
          </a:solidFill>
          <a:ln w="12700">
            <a:solidFill>
              <a:srgbClr val="D6E4F7"/>
            </a:solidFill>
            <a:prstDash val="solid"/>
          </a:ln>
        </p:spPr>
      </p:sp>
      <p:sp>
        <p:nvSpPr>
          <p:cNvPr id="14" name="Text 12"/>
          <p:cNvSpPr txBox="1"/>
          <p:nvPr/>
        </p:nvSpPr>
        <p:spPr>
          <a:xfrm>
            <a:off x="3675888" y="263347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Épicas/Historias/Subtareas; JQL; dashboard IR</a:t>
            </a:r>
            <a:endParaRPr lang="en-US" sz="1500" dirty="0"/>
          </a:p>
        </p:txBody>
      </p:sp>
      <p:sp>
        <p:nvSpPr>
          <p:cNvPr id="15" name="Shape 13"/>
          <p:cNvSpPr/>
          <p:nvPr/>
        </p:nvSpPr>
        <p:spPr>
          <a:xfrm>
            <a:off x="7918704" y="2587752"/>
            <a:ext cx="3913632" cy="1252728"/>
          </a:xfrm>
          <a:prstGeom prst="rect">
            <a:avLst/>
          </a:prstGeom>
          <a:solidFill>
            <a:srgbClr val="FFFFFF"/>
          </a:solidFill>
          <a:ln w="12700">
            <a:solidFill>
              <a:srgbClr val="D6E4F7"/>
            </a:solidFill>
            <a:prstDash val="solid"/>
          </a:ln>
        </p:spPr>
      </p:sp>
      <p:sp>
        <p:nvSpPr>
          <p:cNvPr id="16" name="Text 14"/>
          <p:cNvSpPr txBox="1"/>
          <p:nvPr/>
        </p:nvSpPr>
        <p:spPr>
          <a:xfrm>
            <a:off x="8010144" y="263347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Jira del PFC configurado con épicas y sprints</a:t>
            </a:r>
            <a:endParaRPr lang="en-US" sz="1400" dirty="0"/>
          </a:p>
        </p:txBody>
      </p:sp>
      <p:sp>
        <p:nvSpPr>
          <p:cNvPr id="17" name="Shape 15"/>
          <p:cNvSpPr/>
          <p:nvPr/>
        </p:nvSpPr>
        <p:spPr>
          <a:xfrm>
            <a:off x="347472" y="3913632"/>
            <a:ext cx="3200400" cy="1252728"/>
          </a:xfrm>
          <a:prstGeom prst="rect">
            <a:avLst/>
          </a:prstGeom>
          <a:solidFill>
            <a:srgbClr val="0D3B72"/>
          </a:solidFill>
          <a:ln w="12700">
            <a:solidFill>
              <a:srgbClr val="0D3B72"/>
            </a:solidFill>
            <a:prstDash val="solid"/>
          </a:ln>
        </p:spPr>
      </p:sp>
      <p:sp>
        <p:nvSpPr>
          <p:cNvPr id="18" name="Text 16"/>
          <p:cNvSpPr txBox="1"/>
          <p:nvPr/>
        </p:nvSpPr>
        <p:spPr>
          <a:xfrm>
            <a:off x="438912" y="395935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Enterprise Architect</a:t>
            </a:r>
            <a:endParaRPr lang="en-US" sz="1600" dirty="0"/>
          </a:p>
        </p:txBody>
      </p:sp>
      <p:sp>
        <p:nvSpPr>
          <p:cNvPr id="19" name="Shape 17"/>
          <p:cNvSpPr/>
          <p:nvPr/>
        </p:nvSpPr>
        <p:spPr>
          <a:xfrm>
            <a:off x="3584448" y="3913632"/>
            <a:ext cx="4297680" cy="1252728"/>
          </a:xfrm>
          <a:prstGeom prst="rect">
            <a:avLst/>
          </a:prstGeom>
          <a:solidFill>
            <a:srgbClr val="FFFFFF"/>
          </a:solidFill>
          <a:ln w="12700">
            <a:solidFill>
              <a:srgbClr val="D6E4F7"/>
            </a:solidFill>
            <a:prstDash val="solid"/>
          </a:ln>
        </p:spPr>
      </p:sp>
      <p:sp>
        <p:nvSpPr>
          <p:cNvPr id="20" name="Text 18"/>
          <p:cNvSpPr txBox="1"/>
          <p:nvPr/>
        </p:nvSpPr>
        <p:spPr>
          <a:xfrm>
            <a:off x="3675888" y="395935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Repositorio UML + RTM automática + ReqIF</a:t>
            </a:r>
            <a:endParaRPr lang="en-US" sz="1500" dirty="0"/>
          </a:p>
        </p:txBody>
      </p:sp>
      <p:sp>
        <p:nvSpPr>
          <p:cNvPr id="21" name="Shape 19"/>
          <p:cNvSpPr/>
          <p:nvPr/>
        </p:nvSpPr>
        <p:spPr>
          <a:xfrm>
            <a:off x="7918704" y="3913632"/>
            <a:ext cx="3913632" cy="1252728"/>
          </a:xfrm>
          <a:prstGeom prst="rect">
            <a:avLst/>
          </a:prstGeom>
          <a:solidFill>
            <a:srgbClr val="FFFFFF"/>
          </a:solidFill>
          <a:ln w="12700">
            <a:solidFill>
              <a:srgbClr val="D6E4F7"/>
            </a:solidFill>
            <a:prstDash val="solid"/>
          </a:ln>
        </p:spPr>
      </p:sp>
      <p:sp>
        <p:nvSpPr>
          <p:cNvPr id="22" name="Text 20"/>
          <p:cNvSpPr txBox="1"/>
          <p:nvPr/>
        </p:nvSpPr>
        <p:spPr>
          <a:xfrm>
            <a:off x="8010144" y="395935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Modelos UML del PFC en EA o draw.io vinculados</a:t>
            </a:r>
            <a:endParaRPr lang="en-US" sz="1400" dirty="0"/>
          </a:p>
        </p:txBody>
      </p:sp>
      <p:sp>
        <p:nvSpPr>
          <p:cNvPr id="23" name="Shape 21"/>
          <p:cNvSpPr/>
          <p:nvPr/>
        </p:nvSpPr>
        <p:spPr>
          <a:xfrm>
            <a:off x="347472" y="5239512"/>
            <a:ext cx="3200400" cy="1252728"/>
          </a:xfrm>
          <a:prstGeom prst="rect">
            <a:avLst/>
          </a:prstGeom>
          <a:solidFill>
            <a:srgbClr val="1565C0"/>
          </a:solidFill>
          <a:ln w="12700">
            <a:solidFill>
              <a:srgbClr val="1565C0"/>
            </a:solidFill>
            <a:prstDash val="solid"/>
          </a:ln>
        </p:spPr>
      </p:sp>
      <p:sp>
        <p:nvSpPr>
          <p:cNvPr id="24" name="Text 22"/>
          <p:cNvSpPr txBox="1"/>
          <p:nvPr/>
        </p:nvSpPr>
        <p:spPr>
          <a:xfrm>
            <a:off x="438912" y="5285232"/>
            <a:ext cx="3017520" cy="116128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Git para ERS</a:t>
            </a:r>
            <a:endParaRPr lang="en-US" sz="1600" dirty="0"/>
          </a:p>
        </p:txBody>
      </p:sp>
      <p:sp>
        <p:nvSpPr>
          <p:cNvPr id="25" name="Shape 23"/>
          <p:cNvSpPr/>
          <p:nvPr/>
        </p:nvSpPr>
        <p:spPr>
          <a:xfrm>
            <a:off x="3584448" y="5239512"/>
            <a:ext cx="4297680" cy="1252728"/>
          </a:xfrm>
          <a:prstGeom prst="rect">
            <a:avLst/>
          </a:prstGeom>
          <a:solidFill>
            <a:srgbClr val="FFFFFF"/>
          </a:solidFill>
          <a:ln w="12700">
            <a:solidFill>
              <a:srgbClr val="D6E4F7"/>
            </a:solidFill>
            <a:prstDash val="solid"/>
          </a:ln>
        </p:spPr>
      </p:sp>
      <p:sp>
        <p:nvSpPr>
          <p:cNvPr id="26" name="Text 24"/>
          <p:cNvSpPr txBox="1"/>
          <p:nvPr/>
        </p:nvSpPr>
        <p:spPr>
          <a:xfrm>
            <a:off x="3675888" y="5285232"/>
            <a:ext cx="4114800" cy="1161288"/>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Ramas main/develop/feature; commits atómicos; tags</a:t>
            </a:r>
            <a:endParaRPr lang="en-US" sz="1500" dirty="0"/>
          </a:p>
        </p:txBody>
      </p:sp>
      <p:sp>
        <p:nvSpPr>
          <p:cNvPr id="27" name="Shape 25"/>
          <p:cNvSpPr/>
          <p:nvPr/>
        </p:nvSpPr>
        <p:spPr>
          <a:xfrm>
            <a:off x="7918704" y="5239512"/>
            <a:ext cx="3913632" cy="1252728"/>
          </a:xfrm>
          <a:prstGeom prst="rect">
            <a:avLst/>
          </a:prstGeom>
          <a:solidFill>
            <a:srgbClr val="FFFFFF"/>
          </a:solidFill>
          <a:ln w="12700">
            <a:solidFill>
              <a:srgbClr val="D6E4F7"/>
            </a:solidFill>
            <a:prstDash val="solid"/>
          </a:ln>
        </p:spPr>
      </p:sp>
      <p:sp>
        <p:nvSpPr>
          <p:cNvPr id="28" name="Text 26"/>
          <p:cNvSpPr txBox="1"/>
          <p:nvPr/>
        </p:nvSpPr>
        <p:spPr>
          <a:xfrm>
            <a:off x="8010144" y="5285232"/>
            <a:ext cx="3730752" cy="1161288"/>
          </a:xfrm>
          <a:prstGeom prst="rect">
            <a:avLst/>
          </a:prstGeom>
          <a:noFill/>
          <a:ln/>
        </p:spPr>
        <p:txBody>
          <a:bodyPr wrap="square" lIns="0" tIns="0" rIns="0" bIns="0" rtlCol="0" anchor="ctr"/>
          <a:lstStyle/>
          <a:p>
            <a:pPr indent="0" marL="0">
              <a:buNone/>
            </a:pPr>
            <a:r>
              <a:rPr lang="en-US" sz="1400" dirty="0">
                <a:solidFill>
                  <a:srgbClr val="546E7A"/>
                </a:solidFill>
                <a:latin typeface="Calibri" pitchFamily="34" charset="0"/>
                <a:ea typeface="Calibri" pitchFamily="34" charset="-122"/>
                <a:cs typeface="Calibri" pitchFamily="34" charset="-120"/>
              </a:rPr>
              <a:t>ERS v0.1.0 tagueado en el repositorio del PFC</a:t>
            </a:r>
            <a:endParaRPr lang="en-US" sz="1400" dirty="0"/>
          </a:p>
        </p:txBody>
      </p:sp>
      <p:sp>
        <p:nvSpPr>
          <p:cNvPr id="30" name="Text 2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3B7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8960C"/>
          </a:solidFill>
          <a:ln w="12700">
            <a:solidFill>
              <a:srgbClr val="C8960C"/>
            </a:solidFill>
            <a:prstDash val="solid"/>
          </a:ln>
        </p:spPr>
      </p:sp>
      <p:sp>
        <p:nvSpPr>
          <p:cNvPr id="3" name="Text 1"/>
          <p:cNvSpPr txBox="1"/>
          <p:nvPr/>
        </p:nvSpPr>
        <p:spPr>
          <a:xfrm>
            <a:off x="347472" y="457200"/>
            <a:ext cx="11430000" cy="548640"/>
          </a:xfrm>
          <a:prstGeom prst="rect">
            <a:avLst/>
          </a:prstGeom>
          <a:noFill/>
          <a:ln/>
        </p:spPr>
        <p:txBody>
          <a:bodyPr wrap="square" lIns="0" tIns="0" rIns="0" bIns="0" rtlCol="0" anchor="ctr"/>
          <a:lstStyle/>
          <a:p>
            <a:pPr indent="0" marL="0">
              <a:buNone/>
            </a:pPr>
            <a:r>
              <a:rPr lang="en-US" sz="1600" b="1" dirty="0">
                <a:solidFill>
                  <a:srgbClr val="C8960C"/>
                </a:solidFill>
                <a:latin typeface="Calibri" pitchFamily="34" charset="0"/>
                <a:ea typeface="Calibri" pitchFamily="34" charset="-122"/>
                <a:cs typeface="Calibri" pitchFamily="34" charset="-120"/>
              </a:rPr>
              <a:t>Semana 13 — Síntesis</a:t>
            </a:r>
            <a:endParaRPr lang="en-US" sz="1600" dirty="0"/>
          </a:p>
        </p:txBody>
      </p:sp>
      <p:sp>
        <p:nvSpPr>
          <p:cNvPr id="4" name="Text 2"/>
          <p:cNvSpPr txBox="1"/>
          <p:nvPr/>
        </p:nvSpPr>
        <p:spPr>
          <a:xfrm>
            <a:off x="347472" y="1188720"/>
            <a:ext cx="11430000" cy="2926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La mejor herramienta CASE es la que el equipo usa consistentemente — no la más cara ni la más compleja.</a:t>
            </a:r>
            <a:endParaRPr lang="en-US" sz="3200" dirty="0"/>
          </a:p>
        </p:txBody>
      </p:sp>
      <p:sp>
        <p:nvSpPr>
          <p:cNvPr id="5" name="Shape 3"/>
          <p:cNvSpPr/>
          <p:nvPr/>
        </p:nvSpPr>
        <p:spPr>
          <a:xfrm>
            <a:off x="347472" y="4389120"/>
            <a:ext cx="11430000" cy="1005840"/>
          </a:xfrm>
          <a:prstGeom prst="rect">
            <a:avLst/>
          </a:prstGeom>
          <a:solidFill>
            <a:srgbClr val="C8960C"/>
          </a:solidFill>
          <a:ln w="12700">
            <a:solidFill>
              <a:srgbClr val="C8960C"/>
            </a:solidFill>
            <a:prstDash val="solid"/>
          </a:ln>
        </p:spPr>
      </p:sp>
      <p:sp>
        <p:nvSpPr>
          <p:cNvPr id="6" name="Text 4"/>
          <p:cNvSpPr txBox="1"/>
          <p:nvPr/>
        </p:nvSpPr>
        <p:spPr>
          <a:xfrm>
            <a:off x="502920" y="4462272"/>
            <a:ext cx="3657600" cy="320040"/>
          </a:xfrm>
          <a:prstGeom prst="rect">
            <a:avLst/>
          </a:prstGeom>
          <a:noFill/>
          <a:ln/>
        </p:spPr>
        <p:txBody>
          <a:bodyPr wrap="square" lIns="0" tIns="0" rIns="0" bIns="0" rtlCol="0" anchor="ctr"/>
          <a:lstStyle/>
          <a:p>
            <a:pPr indent="0" marL="0">
              <a:buNone/>
            </a:pPr>
            <a:r>
              <a:rPr lang="en-US" sz="1200" b="1" dirty="0">
                <a:solidFill>
                  <a:srgbClr val="0D3B72"/>
                </a:solidFill>
                <a:latin typeface="Calibri" pitchFamily="34" charset="0"/>
                <a:ea typeface="Calibri" pitchFamily="34" charset="-122"/>
                <a:cs typeface="Calibri" pitchFamily="34" charset="-120"/>
              </a:rPr>
              <a:t>PRÓXIMO PASO</a:t>
            </a:r>
            <a:endParaRPr lang="en-US" sz="1200" dirty="0"/>
          </a:p>
        </p:txBody>
      </p:sp>
      <p:sp>
        <p:nvSpPr>
          <p:cNvPr id="7" name="Text 5"/>
          <p:cNvSpPr txBox="1"/>
          <p:nvPr/>
        </p:nvSpPr>
        <p:spPr>
          <a:xfrm>
            <a:off x="502920" y="4754880"/>
            <a:ext cx="11064240" cy="548640"/>
          </a:xfrm>
          <a:prstGeom prst="rect">
            <a:avLst/>
          </a:prstGeom>
          <a:noFill/>
          <a:ln/>
        </p:spPr>
        <p:txBody>
          <a:bodyPr wrap="square" lIns="0" tIns="0" rIns="0" bIns="0" rtlCol="0" anchor="ctr"/>
          <a:lstStyle/>
          <a:p>
            <a:pPr indent="0" marL="0">
              <a:buNone/>
            </a:pPr>
            <a:r>
              <a:rPr lang="en-US" sz="1800" b="1" dirty="0">
                <a:solidFill>
                  <a:srgbClr val="0D3B72"/>
                </a:solidFill>
                <a:latin typeface="Calibri" pitchFamily="34" charset="0"/>
                <a:ea typeface="Calibri" pitchFamily="34" charset="-122"/>
                <a:cs typeface="Calibri" pitchFamily="34" charset="-120"/>
              </a:rPr>
              <a:t>Semana 14: IR en procesos ágiles — Scrum, backlog como ERS ágil y BDD con Gherkin</a:t>
            </a:r>
            <a:endParaRPr lang="en-US" sz="1800" dirty="0"/>
          </a:p>
        </p:txBody>
      </p:sp>
      <p:sp>
        <p:nvSpPr>
          <p:cNvPr id="8" name="Text 6"/>
          <p:cNvSpPr txBox="1"/>
          <p:nvPr/>
        </p:nvSpPr>
        <p:spPr>
          <a:xfrm>
            <a:off x="347472" y="6217920"/>
            <a:ext cx="11430000" cy="365760"/>
          </a:xfrm>
          <a:prstGeom prst="rect">
            <a:avLst/>
          </a:prstGeom>
          <a:noFill/>
          <a:ln/>
        </p:spPr>
        <p:txBody>
          <a:bodyPr wrap="square" lIns="0" tIns="0" rIns="0" bIns="0" rtlCol="0" anchor="ctr"/>
          <a:lstStyle/>
          <a:p>
            <a:pPr indent="0" marL="0">
              <a:buNone/>
            </a:pPr>
            <a:r>
              <a:rPr lang="en-US" sz="1200" dirty="0">
                <a:solidFill>
                  <a:srgbClr val="D6E4F7"/>
                </a:solidFill>
                <a:latin typeface="Calibri" pitchFamily="34" charset="0"/>
                <a:ea typeface="Calibri" pitchFamily="34" charset="-122"/>
                <a:cs typeface="Calibri" pitchFamily="34" charset="-120"/>
              </a:rPr>
              <a:t>ISR-401 · Ingeniería de Requisitos · UTEQ</a:t>
            </a:r>
            <a:endParaRPr lang="en-US" sz="1200" dirty="0"/>
          </a:p>
        </p:txBody>
      </p:sp>
      <p:sp>
        <p:nvSpPr>
          <p:cNvPr id="9" name="Text 7"/>
          <p:cNvSpPr txBox="1"/>
          <p:nvPr/>
        </p:nvSpPr>
        <p:spPr>
          <a:xfrm>
            <a:off x="11704320" y="6492240"/>
            <a:ext cx="365760" cy="274320"/>
          </a:xfrm>
          <a:prstGeom prst="rect">
            <a:avLst/>
          </a:prstGeom>
          <a:noFill/>
          <a:ln/>
        </p:spPr>
        <p:txBody>
          <a:bodyPr wrap="square" lIns="0" tIns="0" rIns="0" bIns="0" rtlCol="0" anchor="ctr"/>
          <a:lstStyle/>
          <a:p>
            <a:pPr algn="r" indent="0" marL="0">
              <a:buNone/>
            </a:pPr>
            <a:r>
              <a:rPr lang="en-US" sz="1300" b="1" dirty="0">
                <a:solidFill>
                  <a:srgbClr val="C8960C"/>
                </a:solidFill>
                <a:latin typeface="Calibri" pitchFamily="34" charset="0"/>
                <a:ea typeface="Calibri" pitchFamily="34" charset="-122"/>
                <a:cs typeface="Calibri" pitchFamily="34" charset="-120"/>
              </a:rPr>
              <a:t>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2026-10-28T12:04:29Z</dcterms:created>
  <dcterms:modified xsi:type="dcterms:W3CDTF">2026-10-28T12:04:29Z</dcterms:modified>
</cp:coreProperties>
</file>