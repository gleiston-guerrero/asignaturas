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5 defectos son la base del checklist de revisión que se usa en la inspección Fagan (semana 11). La ambigüedad es el defecto más común: 73 % de los ERS reales contienen al menos un requisito ambiguo según estudios de Femmer et al. La clave para eliminarlos es el "criterio de aceptación": si no puedes escribir un test, el requisito está defectuoso.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MoSCoW es la técnica de priorización más usada en proyectos ágiles y en pliegos de contratación. "WON'T have this time" es tan importante como MUST: documenta explícitamente qué NO se construirá en esta versión, evitando el scope creep. Para el PFC, la sesión de MoSCoW con el cliente es un entregable formal del hito de elicitación.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Kano permite identificar los "wow factors": funcionalidades que el cliente no pidió pero que superan sus expectativas. Ejemplo: un sistema de gestión de ganado que envía alertas proactivas de vacunación (el cliente solo pidió registro). El modelo valor/costo/riesgo es más preciso que MoSCoW para carteras grandes de requisitos — se puede implementar en una hoja de cálculo del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RTM es el artefacto vivo más importante del ERS. En el PFC se construye desde la semana 5 y se completa en la semana 12. Columnas mínimas de la RTM del PFC: ID requisito | Enunciado | Stakeholder origen | Caso de uso vinculado | Caso de prueba | Componente de diseño | Estado. La cobertura de trazabilidad es una métrica de calidad del proceso: si &lt; 80 % de los RF tienen caso de prueba, el ERS está incompleto.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semana marca el paso de elicitación a análisis: ya no solo recopilamos — ahora filtramos, priorizamos y estructuramos. La RTM empieza aquí y crece hasta la semana 12. El primer examen parcial cierra la Unidad 2 — incluye estos contenidos.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5</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Análisis de requisitos: conflictos, priorización y calidad</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Tema 7 (parte 1) — MoSCoW, Kano, trazabilidad y RTM</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2: Elicitación y Análisis de Requisitos</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100" dirty="0">
                <a:solidFill>
                  <a:srgbClr val="C8960C"/>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Clasificación (20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3 dimensiones · 5 defectos frecuentes</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Conflictos (25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4 tipos · estrategias win-win · rol del CCB</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Priorización (35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MoSCoW · Kano · Valor/Costo/Riesgo</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RTM (20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Calidad individual y del conjunto · matriz de trazabilidad</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PE-5 (60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Corregir 20 requisitos defectuosos + RTM mínima · biblioteca UTEQ</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Los 5 defectos más frecuentes en requisitos</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1. AMBIGUO: "el sistema deberá ser rápido" — ¿cuánto es rápido? ¿para quién?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2. INCOMPLETO: falta el qué, cuándo, quién o bajo qué condiciones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3. INCONSISTENTE: dos requisitos se contradicen entre sí</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4. NO VERIFICABLE: no existe forma de probar si el requisito se cumple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5. INVIABLE: técnicamente imposible o económicamente irreal</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Un requisito defectuoso siempre se puede detectar — lo difícil es que nadie lo revise</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Técnica MoSCoW para priorización</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MUST have: esencial — sin esto el sistema no funciona o no se puede entregar</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SHOULD have: importante pero no crítico — se incluye si el tiempo lo permite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COULD have: deseable — nice-to-have, primera víctima de recortes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WON'T have (this time): explícitamente excluido del alcance actual</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Regla práctica: si todo es MUST, la priorización no sirvió — máximo 60 % del backlog en MUST</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MoSCoW debe renegociarse con el cliente — el analista no decide solo qué es MUST</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Modelo Kano y priorización valor/costo/riesgo</a:t>
            </a:r>
            <a:endParaRPr lang="en-US" sz="2800" dirty="0"/>
          </a:p>
        </p:txBody>
      </p:sp>
      <p:sp>
        <p:nvSpPr>
          <p:cNvPr id="5" name="Shape 3"/>
          <p:cNvSpPr/>
          <p:nvPr/>
        </p:nvSpPr>
        <p:spPr>
          <a:xfrm>
            <a:off x="347472" y="1234440"/>
            <a:ext cx="5577840" cy="5257800"/>
          </a:xfrm>
          <a:prstGeom prst="rect">
            <a:avLst/>
          </a:prstGeom>
          <a:solidFill>
            <a:srgbClr val="FFFFFF"/>
          </a:solidFill>
          <a:ln w="12700">
            <a:solidFill>
              <a:srgbClr val="D6E4F7"/>
            </a:solidFill>
            <a:prstDash val="solid"/>
          </a:ln>
        </p:spPr>
      </p:sp>
      <p:sp>
        <p:nvSpPr>
          <p:cNvPr id="6" name="Text 4"/>
          <p:cNvSpPr txBox="1"/>
          <p:nvPr/>
        </p:nvSpPr>
        <p:spPr>
          <a:xfrm>
            <a:off x="457200" y="1325880"/>
            <a:ext cx="534924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Modelo Kano</a:t>
            </a:r>
            <a:endParaRPr lang="en-US" sz="1800" dirty="0"/>
          </a:p>
        </p:txBody>
      </p:sp>
      <p:sp>
        <p:nvSpPr>
          <p:cNvPr id="7" name="Text 5"/>
          <p:cNvSpPr txBox="1"/>
          <p:nvPr/>
        </p:nvSpPr>
        <p:spPr>
          <a:xfrm>
            <a:off x="457200" y="1783080"/>
            <a:ext cx="534924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Atributos BÁSICOS: ausencia genera insatisfacción severa (no aumentan satisfacción si están)</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Atributos de DESEMPEÑO: más = mejor, menos = peor (proporcional)</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Atributos de DELEITE (wow): inesperados, generan satisfacción desproporcionada</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Atributos INDIFERENTES: ni su presencia ni ausencia importa</a:t>
            </a:r>
            <a:endParaRPr lang="en-US" sz="1700" dirty="0"/>
          </a:p>
        </p:txBody>
      </p:sp>
      <p:sp>
        <p:nvSpPr>
          <p:cNvPr id="8" name="Shape 6"/>
          <p:cNvSpPr/>
          <p:nvPr/>
        </p:nvSpPr>
        <p:spPr>
          <a:xfrm>
            <a:off x="6126480" y="1234440"/>
            <a:ext cx="5742432" cy="5257800"/>
          </a:xfrm>
          <a:prstGeom prst="rect">
            <a:avLst/>
          </a:prstGeom>
          <a:solidFill>
            <a:srgbClr val="FFFFFF"/>
          </a:solidFill>
          <a:ln w="12700">
            <a:solidFill>
              <a:srgbClr val="D6E4F7"/>
            </a:solidFill>
            <a:prstDash val="solid"/>
          </a:ln>
        </p:spPr>
      </p:sp>
      <p:sp>
        <p:nvSpPr>
          <p:cNvPr id="9" name="Text 7"/>
          <p:cNvSpPr txBox="1"/>
          <p:nvPr/>
        </p:nvSpPr>
        <p:spPr>
          <a:xfrm>
            <a:off x="6236208" y="1325880"/>
            <a:ext cx="548640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Valor / Costo / Riesgo</a:t>
            </a:r>
            <a:endParaRPr lang="en-US" sz="1800" dirty="0"/>
          </a:p>
        </p:txBody>
      </p:sp>
      <p:sp>
        <p:nvSpPr>
          <p:cNvPr id="10" name="Text 8"/>
          <p:cNvSpPr txBox="1"/>
          <p:nvPr/>
        </p:nvSpPr>
        <p:spPr>
          <a:xfrm>
            <a:off x="6236208" y="1783080"/>
            <a:ext cx="548640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Valor: impacto en el negocio del cliente si se implementa (1–10)</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Costo: esfuerzo de implementación estimado (1–10)</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Riesgo: probabilidad × impacto de que salga mal (1–10)</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Índice de prioridad = Valor / (Costo × Riesgo) — mayor índice = mayor prioridad</a:t>
            </a:r>
            <a:endParaRPr lang="en-US" sz="1700" dirty="0"/>
          </a:p>
        </p:txBody>
      </p:sp>
      <p:sp>
        <p:nvSpPr>
          <p:cNvPr id="12" name="Text 9"/>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Trazabilidad y Matriz de Trazabilidad (RTM)</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Trazabilidad PRE: RF ← stakeholder / meta / escenario que lo originó</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Trazabilidad INTERNA: RF ↔ RF (dependencias entre requisitos)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Trazabilidad POST: RF → caso de prueba / módulo de código / componente de diseño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RTM (Requirements Traceability Matrix): tabla que vincula todos estos elementos</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Sin trazabilidad: cuando el requisito cambia, no sabes qué pruebas, qué código y qué documentos actualizar</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Mapa síntesis — Semana 5</a:t>
            </a:r>
            <a:endParaRPr lang="en-US" sz="2800" dirty="0"/>
          </a:p>
        </p:txBody>
      </p:sp>
      <p:sp>
        <p:nvSpPr>
          <p:cNvPr id="5" name="Shape 3"/>
          <p:cNvSpPr/>
          <p:nvPr/>
        </p:nvSpPr>
        <p:spPr>
          <a:xfrm>
            <a:off x="347472" y="1261872"/>
            <a:ext cx="3200400" cy="1252728"/>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7.1 Clasificación</a:t>
            </a:r>
            <a:endParaRPr lang="en-US" sz="1600" dirty="0"/>
          </a:p>
        </p:txBody>
      </p:sp>
      <p:sp>
        <p:nvSpPr>
          <p:cNvPr id="7" name="Shape 5"/>
          <p:cNvSpPr/>
          <p:nvPr/>
        </p:nvSpPr>
        <p:spPr>
          <a:xfrm>
            <a:off x="3584448" y="1261872"/>
            <a:ext cx="4297680" cy="1252728"/>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3 dimensiones; 5 defectos frecuentes</a:t>
            </a:r>
            <a:endParaRPr lang="en-US" sz="1500" dirty="0"/>
          </a:p>
        </p:txBody>
      </p:sp>
      <p:sp>
        <p:nvSpPr>
          <p:cNvPr id="9" name="Shape 7"/>
          <p:cNvSpPr/>
          <p:nvPr/>
        </p:nvSpPr>
        <p:spPr>
          <a:xfrm>
            <a:off x="7918704" y="1261872"/>
            <a:ext cx="3913632" cy="1252728"/>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Revisión de candidatos a RF del hito 1</a:t>
            </a:r>
            <a:endParaRPr lang="en-US" sz="1400" dirty="0"/>
          </a:p>
        </p:txBody>
      </p:sp>
      <p:sp>
        <p:nvSpPr>
          <p:cNvPr id="11" name="Shape 9"/>
          <p:cNvSpPr/>
          <p:nvPr/>
        </p:nvSpPr>
        <p:spPr>
          <a:xfrm>
            <a:off x="347472" y="2587752"/>
            <a:ext cx="3200400" cy="1252728"/>
          </a:xfrm>
          <a:prstGeom prst="rect">
            <a:avLst/>
          </a:prstGeom>
          <a:solidFill>
            <a:srgbClr val="1565C0"/>
          </a:solidFill>
          <a:ln w="12700">
            <a:solidFill>
              <a:srgbClr val="1565C0"/>
            </a:solidFill>
            <a:prstDash val="solid"/>
          </a:ln>
        </p:spPr>
      </p:sp>
      <p:sp>
        <p:nvSpPr>
          <p:cNvPr id="12" name="Text 10"/>
          <p:cNvSpPr txBox="1"/>
          <p:nvPr/>
        </p:nvSpPr>
        <p:spPr>
          <a:xfrm>
            <a:off x="438912" y="263347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7.2 Conflictos</a:t>
            </a:r>
            <a:endParaRPr lang="en-US" sz="1600" dirty="0"/>
          </a:p>
        </p:txBody>
      </p:sp>
      <p:sp>
        <p:nvSpPr>
          <p:cNvPr id="13" name="Shape 11"/>
          <p:cNvSpPr/>
          <p:nvPr/>
        </p:nvSpPr>
        <p:spPr>
          <a:xfrm>
            <a:off x="3584448" y="2587752"/>
            <a:ext cx="4297680" cy="1252728"/>
          </a:xfrm>
          <a:prstGeom prst="rect">
            <a:avLst/>
          </a:prstGeom>
          <a:solidFill>
            <a:srgbClr val="FFFFFF"/>
          </a:solidFill>
          <a:ln w="12700">
            <a:solidFill>
              <a:srgbClr val="D6E4F7"/>
            </a:solidFill>
            <a:prstDash val="solid"/>
          </a:ln>
        </p:spPr>
      </p:sp>
      <p:sp>
        <p:nvSpPr>
          <p:cNvPr id="14" name="Text 12"/>
          <p:cNvSpPr txBox="1"/>
          <p:nvPr/>
        </p:nvSpPr>
        <p:spPr>
          <a:xfrm>
            <a:off x="3675888" y="263347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Win-win; 4 estrategias; CCB</a:t>
            </a:r>
            <a:endParaRPr lang="en-US" sz="1500" dirty="0"/>
          </a:p>
        </p:txBody>
      </p:sp>
      <p:sp>
        <p:nvSpPr>
          <p:cNvPr id="15" name="Shape 13"/>
          <p:cNvSpPr/>
          <p:nvPr/>
        </p:nvSpPr>
        <p:spPr>
          <a:xfrm>
            <a:off x="7918704" y="2587752"/>
            <a:ext cx="3913632" cy="1252728"/>
          </a:xfrm>
          <a:prstGeom prst="rect">
            <a:avLst/>
          </a:prstGeom>
          <a:solidFill>
            <a:srgbClr val="FFFFFF"/>
          </a:solidFill>
          <a:ln w="12700">
            <a:solidFill>
              <a:srgbClr val="D6E4F7"/>
            </a:solidFill>
            <a:prstDash val="solid"/>
          </a:ln>
        </p:spPr>
      </p:sp>
      <p:sp>
        <p:nvSpPr>
          <p:cNvPr id="16" name="Text 14"/>
          <p:cNvSpPr txBox="1"/>
          <p:nvPr/>
        </p:nvSpPr>
        <p:spPr>
          <a:xfrm>
            <a:off x="8010144" y="263347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Acta de resolución de conflictos del taller</a:t>
            </a:r>
            <a:endParaRPr lang="en-US" sz="1400" dirty="0"/>
          </a:p>
        </p:txBody>
      </p:sp>
      <p:sp>
        <p:nvSpPr>
          <p:cNvPr id="17" name="Shape 15"/>
          <p:cNvSpPr/>
          <p:nvPr/>
        </p:nvSpPr>
        <p:spPr>
          <a:xfrm>
            <a:off x="347472" y="3913632"/>
            <a:ext cx="3200400" cy="1252728"/>
          </a:xfrm>
          <a:prstGeom prst="rect">
            <a:avLst/>
          </a:prstGeom>
          <a:solidFill>
            <a:srgbClr val="0D3B72"/>
          </a:solidFill>
          <a:ln w="12700">
            <a:solidFill>
              <a:srgbClr val="0D3B72"/>
            </a:solidFill>
            <a:prstDash val="solid"/>
          </a:ln>
        </p:spPr>
      </p:sp>
      <p:sp>
        <p:nvSpPr>
          <p:cNvPr id="18" name="Text 16"/>
          <p:cNvSpPr txBox="1"/>
          <p:nvPr/>
        </p:nvSpPr>
        <p:spPr>
          <a:xfrm>
            <a:off x="438912" y="395935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7.3 Priorización</a:t>
            </a:r>
            <a:endParaRPr lang="en-US" sz="1600" dirty="0"/>
          </a:p>
        </p:txBody>
      </p:sp>
      <p:sp>
        <p:nvSpPr>
          <p:cNvPr id="19" name="Shape 17"/>
          <p:cNvSpPr/>
          <p:nvPr/>
        </p:nvSpPr>
        <p:spPr>
          <a:xfrm>
            <a:off x="3584448" y="3913632"/>
            <a:ext cx="4297680" cy="1252728"/>
          </a:xfrm>
          <a:prstGeom prst="rect">
            <a:avLst/>
          </a:prstGeom>
          <a:solidFill>
            <a:srgbClr val="FFFFFF"/>
          </a:solidFill>
          <a:ln w="12700">
            <a:solidFill>
              <a:srgbClr val="D6E4F7"/>
            </a:solidFill>
            <a:prstDash val="solid"/>
          </a:ln>
        </p:spPr>
      </p:sp>
      <p:sp>
        <p:nvSpPr>
          <p:cNvPr id="20" name="Text 18"/>
          <p:cNvSpPr txBox="1"/>
          <p:nvPr/>
        </p:nvSpPr>
        <p:spPr>
          <a:xfrm>
            <a:off x="3675888" y="395935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MoSCoW; Kano; Valor/Costo/Riesgo</a:t>
            </a:r>
            <a:endParaRPr lang="en-US" sz="1500" dirty="0"/>
          </a:p>
        </p:txBody>
      </p:sp>
      <p:sp>
        <p:nvSpPr>
          <p:cNvPr id="21" name="Shape 19"/>
          <p:cNvSpPr/>
          <p:nvPr/>
        </p:nvSpPr>
        <p:spPr>
          <a:xfrm>
            <a:off x="7918704" y="3913632"/>
            <a:ext cx="3913632" cy="1252728"/>
          </a:xfrm>
          <a:prstGeom prst="rect">
            <a:avLst/>
          </a:prstGeom>
          <a:solidFill>
            <a:srgbClr val="FFFFFF"/>
          </a:solidFill>
          <a:ln w="12700">
            <a:solidFill>
              <a:srgbClr val="D6E4F7"/>
            </a:solidFill>
            <a:prstDash val="solid"/>
          </a:ln>
        </p:spPr>
      </p:sp>
      <p:sp>
        <p:nvSpPr>
          <p:cNvPr id="22" name="Text 20"/>
          <p:cNvSpPr txBox="1"/>
          <p:nvPr/>
        </p:nvSpPr>
        <p:spPr>
          <a:xfrm>
            <a:off x="8010144" y="395935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Backlog priorizado del PFC</a:t>
            </a:r>
            <a:endParaRPr lang="en-US" sz="1400" dirty="0"/>
          </a:p>
        </p:txBody>
      </p:sp>
      <p:sp>
        <p:nvSpPr>
          <p:cNvPr id="23" name="Shape 21"/>
          <p:cNvSpPr/>
          <p:nvPr/>
        </p:nvSpPr>
        <p:spPr>
          <a:xfrm>
            <a:off x="347472" y="5239512"/>
            <a:ext cx="3200400" cy="1252728"/>
          </a:xfrm>
          <a:prstGeom prst="rect">
            <a:avLst/>
          </a:prstGeom>
          <a:solidFill>
            <a:srgbClr val="1565C0"/>
          </a:solidFill>
          <a:ln w="12700">
            <a:solidFill>
              <a:srgbClr val="1565C0"/>
            </a:solidFill>
            <a:prstDash val="solid"/>
          </a:ln>
        </p:spPr>
      </p:sp>
      <p:sp>
        <p:nvSpPr>
          <p:cNvPr id="24" name="Text 22"/>
          <p:cNvSpPr txBox="1"/>
          <p:nvPr/>
        </p:nvSpPr>
        <p:spPr>
          <a:xfrm>
            <a:off x="438912" y="528523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7.4 Calidad y RTM</a:t>
            </a:r>
            <a:endParaRPr lang="en-US" sz="1600" dirty="0"/>
          </a:p>
        </p:txBody>
      </p:sp>
      <p:sp>
        <p:nvSpPr>
          <p:cNvPr id="25" name="Shape 23"/>
          <p:cNvSpPr/>
          <p:nvPr/>
        </p:nvSpPr>
        <p:spPr>
          <a:xfrm>
            <a:off x="3584448" y="5239512"/>
            <a:ext cx="4297680" cy="1252728"/>
          </a:xfrm>
          <a:prstGeom prst="rect">
            <a:avLst/>
          </a:prstGeom>
          <a:solidFill>
            <a:srgbClr val="FFFFFF"/>
          </a:solidFill>
          <a:ln w="12700">
            <a:solidFill>
              <a:srgbClr val="D6E4F7"/>
            </a:solidFill>
            <a:prstDash val="solid"/>
          </a:ln>
        </p:spPr>
      </p:sp>
      <p:sp>
        <p:nvSpPr>
          <p:cNvPr id="26" name="Text 24"/>
          <p:cNvSpPr txBox="1"/>
          <p:nvPr/>
        </p:nvSpPr>
        <p:spPr>
          <a:xfrm>
            <a:off x="3675888" y="528523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9 características + RTM bidireccional</a:t>
            </a:r>
            <a:endParaRPr lang="en-US" sz="1500" dirty="0"/>
          </a:p>
        </p:txBody>
      </p:sp>
      <p:sp>
        <p:nvSpPr>
          <p:cNvPr id="27" name="Shape 25"/>
          <p:cNvSpPr/>
          <p:nvPr/>
        </p:nvSpPr>
        <p:spPr>
          <a:xfrm>
            <a:off x="7918704" y="5239512"/>
            <a:ext cx="3913632" cy="1252728"/>
          </a:xfrm>
          <a:prstGeom prst="rect">
            <a:avLst/>
          </a:prstGeom>
          <a:solidFill>
            <a:srgbClr val="FFFFFF"/>
          </a:solidFill>
          <a:ln w="12700">
            <a:solidFill>
              <a:srgbClr val="D6E4F7"/>
            </a:solidFill>
            <a:prstDash val="solid"/>
          </a:ln>
        </p:spPr>
      </p:sp>
      <p:sp>
        <p:nvSpPr>
          <p:cNvPr id="28" name="Text 26"/>
          <p:cNvSpPr txBox="1"/>
          <p:nvPr/>
        </p:nvSpPr>
        <p:spPr>
          <a:xfrm>
            <a:off x="8010144" y="528523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RTM inicial del ERS en construcción</a:t>
            </a:r>
            <a:endParaRPr lang="en-US" sz="1400" dirty="0"/>
          </a:p>
        </p:txBody>
      </p:sp>
      <p:sp>
        <p:nvSpPr>
          <p:cNvPr id="30" name="Text 2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Semana 5 — Síntesis</a:t>
            </a:r>
            <a:endParaRPr lang="en-US" sz="1600" dirty="0"/>
          </a:p>
        </p:txBody>
      </p:sp>
      <p:sp>
        <p:nvSpPr>
          <p:cNvPr id="4" name="Text 2"/>
          <p:cNvSpPr txBox="1"/>
          <p:nvPr/>
        </p:nvSpPr>
        <p:spPr>
          <a:xfrm>
            <a:off x="347472" y="1188720"/>
            <a:ext cx="11430000" cy="2926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Priorizar es decir "no" con evidencia. La RTM es la memoria viva del proyecto: sin ella, cada cambio es un salto al vacío.</a:t>
            </a:r>
            <a:endParaRPr lang="en-US" sz="3200" dirty="0"/>
          </a:p>
        </p:txBody>
      </p:sp>
      <p:sp>
        <p:nvSpPr>
          <p:cNvPr id="5" name="Shape 3"/>
          <p:cNvSpPr/>
          <p:nvPr/>
        </p:nvSpPr>
        <p:spPr>
          <a:xfrm>
            <a:off x="347472" y="4389120"/>
            <a:ext cx="11430000" cy="1005840"/>
          </a:xfrm>
          <a:prstGeom prst="rect">
            <a:avLst/>
          </a:prstGeom>
          <a:solidFill>
            <a:srgbClr val="C8960C"/>
          </a:solidFill>
          <a:ln w="12700">
            <a:solidFill>
              <a:srgbClr val="C8960C"/>
            </a:solidFill>
            <a:prstDash val="solid"/>
          </a:ln>
        </p:spPr>
      </p:sp>
      <p:sp>
        <p:nvSpPr>
          <p:cNvPr id="6" name="Text 4"/>
          <p:cNvSpPr txBox="1"/>
          <p:nvPr/>
        </p:nvSpPr>
        <p:spPr>
          <a:xfrm>
            <a:off x="502920" y="4462272"/>
            <a:ext cx="3657600" cy="320040"/>
          </a:xfrm>
          <a:prstGeom prst="rect">
            <a:avLst/>
          </a:prstGeom>
          <a:noFill/>
          <a:ln/>
        </p:spPr>
        <p:txBody>
          <a:bodyPr wrap="square" lIns="0" tIns="0" rIns="0" bIns="0" rtlCol="0" anchor="ctr"/>
          <a:lstStyle/>
          <a:p>
            <a:pPr indent="0" marL="0">
              <a:buNone/>
            </a:pPr>
            <a:r>
              <a:rPr lang="en-US" sz="1200" b="1" dirty="0">
                <a:solidFill>
                  <a:srgbClr val="0D3B72"/>
                </a:solidFill>
                <a:latin typeface="Calibri" pitchFamily="34" charset="0"/>
                <a:ea typeface="Calibri" pitchFamily="34" charset="-122"/>
                <a:cs typeface="Calibri" pitchFamily="34" charset="-120"/>
              </a:rPr>
              <a:t>PRÓXIMO PASO</a:t>
            </a:r>
            <a:endParaRPr lang="en-US" sz="1200" dirty="0"/>
          </a:p>
        </p:txBody>
      </p:sp>
      <p:sp>
        <p:nvSpPr>
          <p:cNvPr id="7" name="Text 5"/>
          <p:cNvSpPr txBox="1"/>
          <p:nvPr/>
        </p:nvSpPr>
        <p:spPr>
          <a:xfrm>
            <a:off x="502920" y="4754880"/>
            <a:ext cx="11064240" cy="548640"/>
          </a:xfrm>
          <a:prstGeom prst="rect">
            <a:avLst/>
          </a:prstGeom>
          <a:noFill/>
          <a:ln/>
        </p:spPr>
        <p:txBody>
          <a:bodyPr wrap="square" lIns="0" tIns="0" rIns="0" bIns="0" rtlCol="0" anchor="ctr"/>
          <a:lstStyle/>
          <a:p>
            <a:pPr indent="0" marL="0">
              <a:buNone/>
            </a:pPr>
            <a:r>
              <a:rPr lang="en-US" sz="1800" b="1" dirty="0">
                <a:solidFill>
                  <a:srgbClr val="0D3B72"/>
                </a:solidFill>
                <a:latin typeface="Calibri" pitchFamily="34" charset="0"/>
                <a:ea typeface="Calibri" pitchFamily="34" charset="-122"/>
                <a:cs typeface="Calibri" pitchFamily="34" charset="-120"/>
              </a:rPr>
              <a:t>Semana 6: metas, escenarios y casos de uso — la especificación orientada a solución</a:t>
            </a:r>
            <a:endParaRPr lang="en-US" sz="18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2026-10-28T11:52:40Z</dcterms:created>
  <dcterms:modified xsi:type="dcterms:W3CDTF">2026-10-28T11:52:40Z</dcterms:modified>
</cp:coreProperties>
</file>