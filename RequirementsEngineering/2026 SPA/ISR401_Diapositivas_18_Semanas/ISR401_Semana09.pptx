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 del sistema de gestión de ganado bovino (PFC) tiene entidades: FINCA, ANIMAL, PROPIETARIO, VACUNACIÓN, PESO, VENTA. La relación ANIMAL-VACUNACIÓN es (1,N): un animal tiene muchas vacunaciones. Esta cardinalidad genera el RF: "El sistema SHALL permitir registrar múltiples vacunaciones para un mismo animal, manteniendo el historial completo". El mapeo ER→clases UML sigue 5 reglas: entidad→clase, atributo→atributo, relación 1:1→asociación, relación 1:N→asociación dirigida, relación N:M→clase asociación.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DFD del sistema de gestión de camaroneras (PFC) tiene en nivel 0: entidades externas TÉCNICO, ADMINISTRADOR, SENSOR IoT, MINISTERIO ACUACULTURA. El nivel 1 tiene 5 procesos: 1.Monitoreo de parámetros, 2.Gestión de piscinas, 3.Control de alimentación, 4.Registro de cosecha, 5.Reportes de producción. Cada proceso genera un conjunto de RF. El flujo "lectura de sensor" entre SENSOR IoT y el proceso 1 genera el RF: "CUANDO el sensor IoT transmita datos de temperatura, el sistema SHALL registrarlos con timestamp en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actividad del proceso de cosecha de palma africana (PFC) tiene 3 carriles: OPERARIO, SUPERVISOR, SISTEMA. En el carril SISTEMA aparecen: "Registrar pesaje del racimo", "Calcular rendimiento por hectárea", "Generar orden de pago al contratista", "Emitir reporte de producción diaria". Cada una de estas acciones del sistema se convierte directamente en un RF del ERS. El fork/join del proceso "Análisis de calidad + Pesaje simultáneo" genera el RF de concurrencia: "El sistema SHALL permitir el registro simultáneo de análisis de calidad y pesaje para el mismo 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modelos de esta semana (ER, DFD, actividades) son independientes pero deben ser coherentes entre sí: las entidades del ER aparecen como depósitos en el DFD, y los procesos del DFD aparecen como acciones en el diagrama de actividad. Esta coherencia es la que verifica el checklist de la semana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365760"/>
            <a:ext cx="11430000" cy="914400"/>
          </a:xfrm>
          <a:prstGeom prst="rect">
            <a:avLst/>
          </a:prstGeom>
          <a:noFill/>
          <a:ln/>
        </p:spPr>
        <p:txBody>
          <a:bodyPr wrap="square" lIns="0" tIns="0" rIns="0" bIns="0" rtlCol="0" anchor="ctr"/>
          <a:lstStyle/>
          <a:p>
            <a:pPr indent="0" marL="0">
              <a:buNone/>
            </a:pPr>
            <a:r>
              <a:rPr lang="en-US" sz="2200" dirty="0">
                <a:solidFill>
                  <a:srgbClr val="C8960C"/>
                </a:solidFill>
                <a:latin typeface="Cambria" pitchFamily="34" charset="0"/>
                <a:ea typeface="Cambria" pitchFamily="34" charset="-122"/>
                <a:cs typeface="Cambria" pitchFamily="34" charset="-120"/>
              </a:rPr>
              <a:t>Semana 9</a:t>
            </a:r>
            <a:endParaRPr lang="en-US" sz="2200" dirty="0"/>
          </a:p>
        </p:txBody>
      </p:sp>
      <p:sp>
        <p:nvSpPr>
          <p:cNvPr id="4" name="Text 2"/>
          <p:cNvSpPr txBox="1"/>
          <p:nvPr/>
        </p:nvSpPr>
        <p:spPr>
          <a:xfrm>
            <a:off x="347472" y="1097280"/>
            <a:ext cx="11430000" cy="25603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Modelos de especificación UML: datos y función</a:t>
            </a:r>
            <a:endParaRPr lang="en-US" sz="4000" dirty="0"/>
          </a:p>
        </p:txBody>
      </p:sp>
      <p:sp>
        <p:nvSpPr>
          <p:cNvPr id="5" name="Text 3"/>
          <p:cNvSpPr txBox="1"/>
          <p:nvPr/>
        </p:nvSpPr>
        <p:spPr>
          <a:xfrm>
            <a:off x="347472" y="3749040"/>
            <a:ext cx="11430000" cy="822960"/>
          </a:xfrm>
          <a:prstGeom prst="rect">
            <a:avLst/>
          </a:prstGeom>
          <a:noFill/>
          <a:ln/>
        </p:spPr>
        <p:txBody>
          <a:bodyPr wrap="square" lIns="0" tIns="0" rIns="0" bIns="0" rtlCol="0" anchor="ctr"/>
          <a:lstStyle/>
          <a:p>
            <a:pPr indent="0" marL="0">
              <a:buNone/>
            </a:pPr>
            <a:r>
              <a:rPr lang="en-US" sz="2000" dirty="0">
                <a:solidFill>
                  <a:srgbClr val="D6E4F7"/>
                </a:solidFill>
                <a:latin typeface="Calibri" pitchFamily="34" charset="0"/>
                <a:ea typeface="Calibri" pitchFamily="34" charset="-122"/>
                <a:cs typeface="Calibri" pitchFamily="34" charset="-120"/>
              </a:rPr>
              <a:t>Subtemas 10.1 y 10.2 — ER, clases UML, DFD y diagramas de actividad con casos del PFC</a:t>
            </a:r>
            <a:endParaRPr lang="en-US" sz="2000" dirty="0"/>
          </a:p>
        </p:txBody>
      </p:sp>
      <p:sp>
        <p:nvSpPr>
          <p:cNvPr id="6" name="Text 4"/>
          <p:cNvSpPr txBox="1"/>
          <p:nvPr/>
        </p:nvSpPr>
        <p:spPr>
          <a:xfrm>
            <a:off x="347472" y="4663440"/>
            <a:ext cx="11430000" cy="548640"/>
          </a:xfrm>
          <a:prstGeom prst="rect">
            <a:avLst/>
          </a:prstGeom>
          <a:noFill/>
          <a:ln/>
        </p:spPr>
        <p:txBody>
          <a:bodyPr wrap="square" lIns="0" tIns="0" rIns="0" bIns="0" rtlCol="0" anchor="ctr"/>
          <a:lstStyle/>
          <a:p>
            <a:pPr indent="0" marL="0">
              <a:buNone/>
            </a:pPr>
            <a:r>
              <a:rPr lang="en-US" sz="1600" dirty="0">
                <a:solidFill>
                  <a:srgbClr val="C8960C"/>
                </a:solidFill>
                <a:latin typeface="Calibri" pitchFamily="34" charset="0"/>
                <a:ea typeface="Calibri" pitchFamily="34" charset="-122"/>
                <a:cs typeface="Calibri" pitchFamily="34" charset="-120"/>
              </a:rPr>
              <a:t>Unidad 3: Especificación de Requisitos (ERS)</a:t>
            </a:r>
            <a:endParaRPr lang="en-US" sz="1600" dirty="0"/>
          </a:p>
        </p:txBody>
      </p:sp>
      <p:sp>
        <p:nvSpPr>
          <p:cNvPr id="7" name="Text 5"/>
          <p:cNvSpPr txBox="1"/>
          <p:nvPr/>
        </p:nvSpPr>
        <p:spPr>
          <a:xfrm>
            <a:off x="347472" y="6126480"/>
            <a:ext cx="11430000" cy="457200"/>
          </a:xfrm>
          <a:prstGeom prst="rect">
            <a:avLst/>
          </a:prstGeom>
          <a:noFill/>
          <a:ln/>
        </p:spPr>
        <p:txBody>
          <a:bodyPr wrap="square" lIns="0" tIns="0" rIns="0" bIns="0" rtlCol="0" anchor="ctr"/>
          <a:lstStyle/>
          <a:p>
            <a:pPr indent="0" marL="0">
              <a:buNone/>
            </a:pPr>
            <a:r>
              <a:rPr lang="en-US" sz="1300" dirty="0">
                <a:solidFill>
                  <a:srgbClr val="D6E4F7"/>
                </a:solidFill>
                <a:latin typeface="Calibri" pitchFamily="34" charset="0"/>
                <a:ea typeface="Calibri" pitchFamily="34" charset="-122"/>
                <a:cs typeface="Calibri" pitchFamily="34" charset="-120"/>
              </a:rPr>
              <a:t>ISR-401 · Ingeniería de Requisitos · UTEQ</a:t>
            </a:r>
            <a:endParaRPr lang="en-US" sz="1300" dirty="0"/>
          </a:p>
        </p:txBody>
      </p:sp>
      <p:sp>
        <p:nvSpPr>
          <p:cNvPr id="8" name="Text 6"/>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256032"/>
            <a:ext cx="11430000" cy="502920"/>
          </a:xfrm>
          <a:prstGeom prst="rect">
            <a:avLst/>
          </a:prstGeom>
          <a:noFill/>
          <a:ln/>
        </p:spPr>
        <p:txBody>
          <a:bodyPr wrap="square" lIns="0" tIns="0" rIns="0" bIns="0" rtlCol="0" anchor="ctr"/>
          <a:lstStyle/>
          <a:p>
            <a:pPr indent="0" marL="0">
              <a:buNone/>
            </a:pPr>
            <a:r>
              <a:rPr lang="en-US" sz="1300" b="1" dirty="0">
                <a:solidFill>
                  <a:srgbClr val="C8960C"/>
                </a:solidFill>
                <a:latin typeface="Calibri" pitchFamily="34" charset="0"/>
                <a:ea typeface="Calibri" pitchFamily="34" charset="-122"/>
                <a:cs typeface="Calibri" pitchFamily="34" charset="-120"/>
              </a:rPr>
              <a:t>PLANIFICACIÓN DE LA CLASE</a:t>
            </a:r>
            <a:endParaRPr lang="en-US" sz="1300" dirty="0"/>
          </a:p>
        </p:txBody>
      </p:sp>
      <p:sp>
        <p:nvSpPr>
          <p:cNvPr id="4" name="Text 2"/>
          <p:cNvSpPr txBox="1"/>
          <p:nvPr/>
        </p:nvSpPr>
        <p:spPr>
          <a:xfrm>
            <a:off x="347472" y="749808"/>
            <a:ext cx="11430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¿Qué haremos hoy?</a:t>
            </a:r>
            <a:endParaRPr lang="en-US" sz="3200" dirty="0"/>
          </a:p>
        </p:txBody>
      </p:sp>
      <p:sp>
        <p:nvSpPr>
          <p:cNvPr id="5" name="Shape 3"/>
          <p:cNvSpPr/>
          <p:nvPr/>
        </p:nvSpPr>
        <p:spPr>
          <a:xfrm>
            <a:off x="347472" y="1554480"/>
            <a:ext cx="3703320" cy="2057400"/>
          </a:xfrm>
          <a:prstGeom prst="roundRect">
            <a:avLst>
              <a:gd name="adj" fmla="val 3556"/>
            </a:avLst>
          </a:prstGeom>
          <a:solidFill>
            <a:srgbClr val="1565C0"/>
          </a:solidFill>
          <a:ln w="12700">
            <a:solidFill>
              <a:srgbClr val="1565C0"/>
            </a:solidFill>
            <a:prstDash val="solid"/>
          </a:ln>
        </p:spPr>
      </p:sp>
      <p:sp>
        <p:nvSpPr>
          <p:cNvPr id="6" name="Text 4"/>
          <p:cNvSpPr txBox="1"/>
          <p:nvPr/>
        </p:nvSpPr>
        <p:spPr>
          <a:xfrm>
            <a:off x="45720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45720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Modelo ER (30 min)</a:t>
            </a:r>
            <a:endParaRPr lang="en-US" sz="1500" dirty="0"/>
          </a:p>
        </p:txBody>
      </p:sp>
      <p:sp>
        <p:nvSpPr>
          <p:cNvPr id="8" name="Text 6"/>
          <p:cNvSpPr txBox="1"/>
          <p:nvPr/>
        </p:nvSpPr>
        <p:spPr>
          <a:xfrm>
            <a:off x="45720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Chen/Crow Foot · mapeo a clases UML · RF desde entidades</a:t>
            </a:r>
            <a:endParaRPr lang="en-US" sz="1200" dirty="0"/>
          </a:p>
        </p:txBody>
      </p:sp>
      <p:sp>
        <p:nvSpPr>
          <p:cNvPr id="9" name="Shape 7"/>
          <p:cNvSpPr/>
          <p:nvPr/>
        </p:nvSpPr>
        <p:spPr>
          <a:xfrm>
            <a:off x="4187952" y="1554480"/>
            <a:ext cx="3703320" cy="2057400"/>
          </a:xfrm>
          <a:prstGeom prst="roundRect">
            <a:avLst>
              <a:gd name="adj" fmla="val 3556"/>
            </a:avLst>
          </a:prstGeom>
          <a:solidFill>
            <a:srgbClr val="1565C0"/>
          </a:solidFill>
          <a:ln w="12700">
            <a:solidFill>
              <a:srgbClr val="1565C0"/>
            </a:solidFill>
            <a:prstDash val="solid"/>
          </a:ln>
        </p:spPr>
      </p:sp>
      <p:sp>
        <p:nvSpPr>
          <p:cNvPr id="10" name="Text 8"/>
          <p:cNvSpPr txBox="1"/>
          <p:nvPr/>
        </p:nvSpPr>
        <p:spPr>
          <a:xfrm>
            <a:off x="429768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29768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Clases UML (20 min)</a:t>
            </a:r>
            <a:endParaRPr lang="en-US" sz="1500" dirty="0"/>
          </a:p>
        </p:txBody>
      </p:sp>
      <p:sp>
        <p:nvSpPr>
          <p:cNvPr id="12" name="Text 10"/>
          <p:cNvSpPr txBox="1"/>
          <p:nvPr/>
        </p:nvSpPr>
        <p:spPr>
          <a:xfrm>
            <a:off x="429768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Diagrama de clases dominio · operaciones derivadas</a:t>
            </a:r>
            <a:endParaRPr lang="en-US" sz="1200" dirty="0"/>
          </a:p>
        </p:txBody>
      </p:sp>
      <p:sp>
        <p:nvSpPr>
          <p:cNvPr id="13" name="Shape 11"/>
          <p:cNvSpPr/>
          <p:nvPr/>
        </p:nvSpPr>
        <p:spPr>
          <a:xfrm>
            <a:off x="8028432" y="1554480"/>
            <a:ext cx="3703320" cy="2057400"/>
          </a:xfrm>
          <a:prstGeom prst="roundRect">
            <a:avLst>
              <a:gd name="adj" fmla="val 3556"/>
            </a:avLst>
          </a:prstGeom>
          <a:solidFill>
            <a:srgbClr val="1565C0"/>
          </a:solidFill>
          <a:ln w="12700">
            <a:solidFill>
              <a:srgbClr val="1565C0"/>
            </a:solidFill>
            <a:prstDash val="solid"/>
          </a:ln>
        </p:spPr>
      </p:sp>
      <p:sp>
        <p:nvSpPr>
          <p:cNvPr id="14" name="Text 12"/>
          <p:cNvSpPr txBox="1"/>
          <p:nvPr/>
        </p:nvSpPr>
        <p:spPr>
          <a:xfrm>
            <a:off x="813816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13816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DFD (30 min)</a:t>
            </a:r>
            <a:endParaRPr lang="en-US" sz="1500" dirty="0"/>
          </a:p>
        </p:txBody>
      </p:sp>
      <p:sp>
        <p:nvSpPr>
          <p:cNvPr id="16" name="Text 14"/>
          <p:cNvSpPr txBox="1"/>
          <p:nvPr/>
        </p:nvSpPr>
        <p:spPr>
          <a:xfrm>
            <a:off x="813816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Niveles 0 y 1 · depósitos = entidades ER · RF desde procesos</a:t>
            </a:r>
            <a:endParaRPr lang="en-US" sz="1200" dirty="0"/>
          </a:p>
        </p:txBody>
      </p:sp>
      <p:sp>
        <p:nvSpPr>
          <p:cNvPr id="17" name="Shape 15"/>
          <p:cNvSpPr/>
          <p:nvPr/>
        </p:nvSpPr>
        <p:spPr>
          <a:xfrm>
            <a:off x="347472" y="3749040"/>
            <a:ext cx="3703320" cy="2057400"/>
          </a:xfrm>
          <a:prstGeom prst="roundRect">
            <a:avLst>
              <a:gd name="adj" fmla="val 3556"/>
            </a:avLst>
          </a:prstGeom>
          <a:solidFill>
            <a:srgbClr val="1565C0"/>
          </a:solidFill>
          <a:ln w="12700">
            <a:solidFill>
              <a:srgbClr val="1565C0"/>
            </a:solidFill>
            <a:prstDash val="solid"/>
          </a:ln>
        </p:spPr>
      </p:sp>
      <p:sp>
        <p:nvSpPr>
          <p:cNvPr id="18" name="Text 16"/>
          <p:cNvSpPr txBox="1"/>
          <p:nvPr/>
        </p:nvSpPr>
        <p:spPr>
          <a:xfrm>
            <a:off x="45720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45720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Actividades UML (20 min)</a:t>
            </a:r>
            <a:endParaRPr lang="en-US" sz="1500" dirty="0"/>
          </a:p>
        </p:txBody>
      </p:sp>
      <p:sp>
        <p:nvSpPr>
          <p:cNvPr id="20" name="Text 18"/>
          <p:cNvSpPr txBox="1"/>
          <p:nvPr/>
        </p:nvSpPr>
        <p:spPr>
          <a:xfrm>
            <a:off x="45720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Carriles fork/join/decisión · RF desde acciones</a:t>
            </a:r>
            <a:endParaRPr lang="en-US" sz="1200" dirty="0"/>
          </a:p>
        </p:txBody>
      </p:sp>
      <p:sp>
        <p:nvSpPr>
          <p:cNvPr id="21" name="Shape 19"/>
          <p:cNvSpPr/>
          <p:nvPr/>
        </p:nvSpPr>
        <p:spPr>
          <a:xfrm>
            <a:off x="4187952" y="3749040"/>
            <a:ext cx="3703320" cy="2057400"/>
          </a:xfrm>
          <a:prstGeom prst="roundRect">
            <a:avLst>
              <a:gd name="adj" fmla="val 3556"/>
            </a:avLst>
          </a:prstGeom>
          <a:solidFill>
            <a:srgbClr val="1565C0"/>
          </a:solidFill>
          <a:ln w="12700">
            <a:solidFill>
              <a:srgbClr val="1565C0"/>
            </a:solidFill>
            <a:prstDash val="solid"/>
          </a:ln>
        </p:spPr>
      </p:sp>
      <p:sp>
        <p:nvSpPr>
          <p:cNvPr id="22" name="Text 20"/>
          <p:cNvSpPr txBox="1"/>
          <p:nvPr/>
        </p:nvSpPr>
        <p:spPr>
          <a:xfrm>
            <a:off x="429768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429768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PE-9 (60 min)</a:t>
            </a:r>
            <a:endParaRPr lang="en-US" sz="1500" dirty="0"/>
          </a:p>
        </p:txBody>
      </p:sp>
      <p:sp>
        <p:nvSpPr>
          <p:cNvPr id="24" name="Text 22"/>
          <p:cNvSpPr txBox="1"/>
          <p:nvPr/>
        </p:nvSpPr>
        <p:spPr>
          <a:xfrm>
            <a:off x="429768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ER + DFD N0/N1 + actividades para sistema de mascotas a domicilio</a:t>
            </a:r>
            <a:endParaRPr lang="en-US" sz="1200" dirty="0"/>
          </a:p>
        </p:txBody>
      </p:sp>
      <p:sp>
        <p:nvSpPr>
          <p:cNvPr id="25" name="Text 23"/>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Modelo ER — fuente de requisitos de datos</a:t>
            </a:r>
            <a:endParaRPr lang="en-US" sz="2800" dirty="0"/>
          </a:p>
        </p:txBody>
      </p:sp>
      <p:sp>
        <p:nvSpPr>
          <p:cNvPr id="5" name="Shape 3"/>
          <p:cNvSpPr/>
          <p:nvPr/>
        </p:nvSpPr>
        <p:spPr>
          <a:xfrm>
            <a:off x="347472" y="1234440"/>
            <a:ext cx="5577840" cy="5257800"/>
          </a:xfrm>
          <a:prstGeom prst="rect">
            <a:avLst/>
          </a:prstGeom>
          <a:solidFill>
            <a:srgbClr val="FFFFFF"/>
          </a:solidFill>
          <a:ln w="12700">
            <a:solidFill>
              <a:srgbClr val="D6E4F7"/>
            </a:solidFill>
            <a:prstDash val="solid"/>
          </a:ln>
        </p:spPr>
      </p:sp>
      <p:sp>
        <p:nvSpPr>
          <p:cNvPr id="6" name="Text 4"/>
          <p:cNvSpPr txBox="1"/>
          <p:nvPr/>
        </p:nvSpPr>
        <p:spPr>
          <a:xfrm>
            <a:off x="457200" y="1325880"/>
            <a:ext cx="534924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Notaciones ER</a:t>
            </a:r>
            <a:endParaRPr lang="en-US" sz="1800" dirty="0"/>
          </a:p>
        </p:txBody>
      </p:sp>
      <p:sp>
        <p:nvSpPr>
          <p:cNvPr id="7" name="Text 5"/>
          <p:cNvSpPr txBox="1"/>
          <p:nvPr/>
        </p:nvSpPr>
        <p:spPr>
          <a:xfrm>
            <a:off x="457200" y="1783080"/>
            <a:ext cx="534924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Chen: entidades en rectángulo, atributos en elipse, relaciones en rombo</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Crow's Foot: notación UML-compatible, más compacta para ERS</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Cardinalidad: (1,1) (1,N) (N,M) — cada una genera RF de validación</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Entidad débil: existe solo si existe su entidad propietaria (genera RF de integridad)</a:t>
            </a:r>
            <a:endParaRPr lang="en-US" sz="1700" dirty="0"/>
          </a:p>
        </p:txBody>
      </p:sp>
      <p:sp>
        <p:nvSpPr>
          <p:cNvPr id="8" name="Shape 6"/>
          <p:cNvSpPr/>
          <p:nvPr/>
        </p:nvSpPr>
        <p:spPr>
          <a:xfrm>
            <a:off x="6126480" y="1234440"/>
            <a:ext cx="5742432" cy="5257800"/>
          </a:xfrm>
          <a:prstGeom prst="rect">
            <a:avLst/>
          </a:prstGeom>
          <a:solidFill>
            <a:srgbClr val="FFFFFF"/>
          </a:solidFill>
          <a:ln w="12700">
            <a:solidFill>
              <a:srgbClr val="D6E4F7"/>
            </a:solidFill>
            <a:prstDash val="solid"/>
          </a:ln>
        </p:spPr>
      </p:sp>
      <p:sp>
        <p:nvSpPr>
          <p:cNvPr id="9" name="Text 7"/>
          <p:cNvSpPr txBox="1"/>
          <p:nvPr/>
        </p:nvSpPr>
        <p:spPr>
          <a:xfrm>
            <a:off x="6236208" y="1325880"/>
            <a:ext cx="548640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De ER a RF</a:t>
            </a:r>
            <a:endParaRPr lang="en-US" sz="1800" dirty="0"/>
          </a:p>
        </p:txBody>
      </p:sp>
      <p:sp>
        <p:nvSpPr>
          <p:cNvPr id="10" name="Text 8"/>
          <p:cNvSpPr txBox="1"/>
          <p:nvPr/>
        </p:nvSpPr>
        <p:spPr>
          <a:xfrm>
            <a:off x="6236208" y="1783080"/>
            <a:ext cx="548640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Cada entidad → RF de registro/modificación/consulta/eliminación</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Cada relación N:M → tabla intermedia → RF de gestión de la relación</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Cada atributo obligatorio → RF de validación "SHALL not be null"</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Cada cardinalidad máxima → RF de restricción "SHALL not exceed N"</a:t>
            </a:r>
            <a:endParaRPr lang="en-US" sz="1700" dirty="0"/>
          </a:p>
        </p:txBody>
      </p:sp>
      <p:sp>
        <p:nvSpPr>
          <p:cNvPr id="12" name="Text 9"/>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DFD — Diagrama de Flujo de Datos en IR</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DFD NIVEL 0 (contexto): el sistema como caja negra con todas sus entidades externas y flujos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DFD NIVEL 1: explosión del sistema en sus procesos principales (3–9 procesos)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DFD NIVEL 2+: cada proceso del nivel 1 se detalla (para sistemas grandes)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Depósito de datos en DFD = entidad del ER (consistencia obligatoria)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Proceso en DFD = función del sistema → genera RF ("El sistema SHALL [proceso]")</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El DFD no muestra secuencia ni control de flujo — para eso está el diagrama de actividad</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Diagramas de actividad UML — RF de comportamiento</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CARRILES (swimlanes): cada carril representa un actor — las acciones del sistema van en el carril "Sistema"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FORK/JOIN: ejecución paralela — genera RF de concurrencia o de coordinación</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NODO DE DECISIÓN (diamond): condición → genera RF de validación con ramas alternatives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SEÑALES: comunicación entre carriles — genera RF de notificación</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Cada acción en el carril "Sistema" del diagrama de actividad = al menos un RF del ERS</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Mapa síntesis — Semana 9</a:t>
            </a:r>
            <a:endParaRPr lang="en-US" sz="2800" dirty="0"/>
          </a:p>
        </p:txBody>
      </p:sp>
      <p:sp>
        <p:nvSpPr>
          <p:cNvPr id="5" name="Shape 3"/>
          <p:cNvSpPr/>
          <p:nvPr/>
        </p:nvSpPr>
        <p:spPr>
          <a:xfrm>
            <a:off x="347472" y="1261872"/>
            <a:ext cx="3200400" cy="1694688"/>
          </a:xfrm>
          <a:prstGeom prst="rect">
            <a:avLst/>
          </a:prstGeom>
          <a:solidFill>
            <a:srgbClr val="0D3B72"/>
          </a:solidFill>
          <a:ln w="12700">
            <a:solidFill>
              <a:srgbClr val="0D3B72"/>
            </a:solidFill>
            <a:prstDash val="solid"/>
          </a:ln>
        </p:spPr>
      </p:sp>
      <p:sp>
        <p:nvSpPr>
          <p:cNvPr id="6" name="Text 4"/>
          <p:cNvSpPr txBox="1"/>
          <p:nvPr/>
        </p:nvSpPr>
        <p:spPr>
          <a:xfrm>
            <a:off x="438912" y="1307592"/>
            <a:ext cx="3017520" cy="16032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10.1 ER</a:t>
            </a:r>
            <a:endParaRPr lang="en-US" sz="1600" dirty="0"/>
          </a:p>
        </p:txBody>
      </p:sp>
      <p:sp>
        <p:nvSpPr>
          <p:cNvPr id="7" name="Shape 5"/>
          <p:cNvSpPr/>
          <p:nvPr/>
        </p:nvSpPr>
        <p:spPr>
          <a:xfrm>
            <a:off x="3584448" y="1261872"/>
            <a:ext cx="4297680" cy="1694688"/>
          </a:xfrm>
          <a:prstGeom prst="rect">
            <a:avLst/>
          </a:prstGeom>
          <a:solidFill>
            <a:srgbClr val="FFFFFF"/>
          </a:solidFill>
          <a:ln w="12700">
            <a:solidFill>
              <a:srgbClr val="D6E4F7"/>
            </a:solidFill>
            <a:prstDash val="solid"/>
          </a:ln>
        </p:spPr>
      </p:sp>
      <p:sp>
        <p:nvSpPr>
          <p:cNvPr id="8" name="Text 6"/>
          <p:cNvSpPr txBox="1"/>
          <p:nvPr/>
        </p:nvSpPr>
        <p:spPr>
          <a:xfrm>
            <a:off x="3675888" y="1307592"/>
            <a:ext cx="4114800" cy="160324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Chen/Crow Foot; mapeo a clases UML; RF desde entidades</a:t>
            </a:r>
            <a:endParaRPr lang="en-US" sz="1500" dirty="0"/>
          </a:p>
        </p:txBody>
      </p:sp>
      <p:sp>
        <p:nvSpPr>
          <p:cNvPr id="9" name="Shape 7"/>
          <p:cNvSpPr/>
          <p:nvPr/>
        </p:nvSpPr>
        <p:spPr>
          <a:xfrm>
            <a:off x="7918704" y="1261872"/>
            <a:ext cx="3913632" cy="1694688"/>
          </a:xfrm>
          <a:prstGeom prst="rect">
            <a:avLst/>
          </a:prstGeom>
          <a:solidFill>
            <a:srgbClr val="FFFFFF"/>
          </a:solidFill>
          <a:ln w="12700">
            <a:solidFill>
              <a:srgbClr val="D6E4F7"/>
            </a:solidFill>
            <a:prstDash val="solid"/>
          </a:ln>
        </p:spPr>
      </p:sp>
      <p:sp>
        <p:nvSpPr>
          <p:cNvPr id="10" name="Text 8"/>
          <p:cNvSpPr txBox="1"/>
          <p:nvPr/>
        </p:nvSpPr>
        <p:spPr>
          <a:xfrm>
            <a:off x="8010144" y="1307592"/>
            <a:ext cx="3730752" cy="160324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ER completo del PFC + diagrama de clases UML</a:t>
            </a:r>
            <a:endParaRPr lang="en-US" sz="1400" dirty="0"/>
          </a:p>
        </p:txBody>
      </p:sp>
      <p:sp>
        <p:nvSpPr>
          <p:cNvPr id="11" name="Shape 9"/>
          <p:cNvSpPr/>
          <p:nvPr/>
        </p:nvSpPr>
        <p:spPr>
          <a:xfrm>
            <a:off x="347472" y="3029712"/>
            <a:ext cx="3200400" cy="1694688"/>
          </a:xfrm>
          <a:prstGeom prst="rect">
            <a:avLst/>
          </a:prstGeom>
          <a:solidFill>
            <a:srgbClr val="1565C0"/>
          </a:solidFill>
          <a:ln w="12700">
            <a:solidFill>
              <a:srgbClr val="1565C0"/>
            </a:solidFill>
            <a:prstDash val="solid"/>
          </a:ln>
        </p:spPr>
      </p:sp>
      <p:sp>
        <p:nvSpPr>
          <p:cNvPr id="12" name="Text 10"/>
          <p:cNvSpPr txBox="1"/>
          <p:nvPr/>
        </p:nvSpPr>
        <p:spPr>
          <a:xfrm>
            <a:off x="438912" y="3075432"/>
            <a:ext cx="3017520" cy="16032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10.2 DFD</a:t>
            </a:r>
            <a:endParaRPr lang="en-US" sz="1600" dirty="0"/>
          </a:p>
        </p:txBody>
      </p:sp>
      <p:sp>
        <p:nvSpPr>
          <p:cNvPr id="13" name="Shape 11"/>
          <p:cNvSpPr/>
          <p:nvPr/>
        </p:nvSpPr>
        <p:spPr>
          <a:xfrm>
            <a:off x="3584448" y="3029712"/>
            <a:ext cx="4297680" cy="1694688"/>
          </a:xfrm>
          <a:prstGeom prst="rect">
            <a:avLst/>
          </a:prstGeom>
          <a:solidFill>
            <a:srgbClr val="FFFFFF"/>
          </a:solidFill>
          <a:ln w="12700">
            <a:solidFill>
              <a:srgbClr val="D6E4F7"/>
            </a:solidFill>
            <a:prstDash val="solid"/>
          </a:ln>
        </p:spPr>
      </p:sp>
      <p:sp>
        <p:nvSpPr>
          <p:cNvPr id="14" name="Text 12"/>
          <p:cNvSpPr txBox="1"/>
          <p:nvPr/>
        </p:nvSpPr>
        <p:spPr>
          <a:xfrm>
            <a:off x="3675888" y="3075432"/>
            <a:ext cx="4114800" cy="160324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Nivel 0 y 1; DFD esencial; depósitos = entidades ER</a:t>
            </a:r>
            <a:endParaRPr lang="en-US" sz="1500" dirty="0"/>
          </a:p>
        </p:txBody>
      </p:sp>
      <p:sp>
        <p:nvSpPr>
          <p:cNvPr id="15" name="Shape 13"/>
          <p:cNvSpPr/>
          <p:nvPr/>
        </p:nvSpPr>
        <p:spPr>
          <a:xfrm>
            <a:off x="7918704" y="3029712"/>
            <a:ext cx="3913632" cy="1694688"/>
          </a:xfrm>
          <a:prstGeom prst="rect">
            <a:avLst/>
          </a:prstGeom>
          <a:solidFill>
            <a:srgbClr val="FFFFFF"/>
          </a:solidFill>
          <a:ln w="12700">
            <a:solidFill>
              <a:srgbClr val="D6E4F7"/>
            </a:solidFill>
            <a:prstDash val="solid"/>
          </a:ln>
        </p:spPr>
      </p:sp>
      <p:sp>
        <p:nvSpPr>
          <p:cNvPr id="16" name="Text 14"/>
          <p:cNvSpPr txBox="1"/>
          <p:nvPr/>
        </p:nvSpPr>
        <p:spPr>
          <a:xfrm>
            <a:off x="8010144" y="3075432"/>
            <a:ext cx="3730752" cy="160324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DFD N0 + N1 del proceso principal del PFC</a:t>
            </a:r>
            <a:endParaRPr lang="en-US" sz="1400" dirty="0"/>
          </a:p>
        </p:txBody>
      </p:sp>
      <p:sp>
        <p:nvSpPr>
          <p:cNvPr id="17" name="Shape 15"/>
          <p:cNvSpPr/>
          <p:nvPr/>
        </p:nvSpPr>
        <p:spPr>
          <a:xfrm>
            <a:off x="347472" y="4797552"/>
            <a:ext cx="3200400" cy="1694688"/>
          </a:xfrm>
          <a:prstGeom prst="rect">
            <a:avLst/>
          </a:prstGeom>
          <a:solidFill>
            <a:srgbClr val="0D3B72"/>
          </a:solidFill>
          <a:ln w="12700">
            <a:solidFill>
              <a:srgbClr val="0D3B72"/>
            </a:solidFill>
            <a:prstDash val="solid"/>
          </a:ln>
        </p:spPr>
      </p:sp>
      <p:sp>
        <p:nvSpPr>
          <p:cNvPr id="18" name="Text 16"/>
          <p:cNvSpPr txBox="1"/>
          <p:nvPr/>
        </p:nvSpPr>
        <p:spPr>
          <a:xfrm>
            <a:off x="438912" y="4843272"/>
            <a:ext cx="3017520" cy="16032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10.2 Actividades</a:t>
            </a:r>
            <a:endParaRPr lang="en-US" sz="1600" dirty="0"/>
          </a:p>
        </p:txBody>
      </p:sp>
      <p:sp>
        <p:nvSpPr>
          <p:cNvPr id="19" name="Shape 17"/>
          <p:cNvSpPr/>
          <p:nvPr/>
        </p:nvSpPr>
        <p:spPr>
          <a:xfrm>
            <a:off x="3584448" y="4797552"/>
            <a:ext cx="4297680" cy="1694688"/>
          </a:xfrm>
          <a:prstGeom prst="rect">
            <a:avLst/>
          </a:prstGeom>
          <a:solidFill>
            <a:srgbClr val="FFFFFF"/>
          </a:solidFill>
          <a:ln w="12700">
            <a:solidFill>
              <a:srgbClr val="D6E4F7"/>
            </a:solidFill>
            <a:prstDash val="solid"/>
          </a:ln>
        </p:spPr>
      </p:sp>
      <p:sp>
        <p:nvSpPr>
          <p:cNvPr id="20" name="Text 18"/>
          <p:cNvSpPr txBox="1"/>
          <p:nvPr/>
        </p:nvSpPr>
        <p:spPr>
          <a:xfrm>
            <a:off x="3675888" y="4843272"/>
            <a:ext cx="4114800" cy="160324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Carriles, fork/join, decisiones, señales; RF desde acciones</a:t>
            </a:r>
            <a:endParaRPr lang="en-US" sz="1500" dirty="0"/>
          </a:p>
        </p:txBody>
      </p:sp>
      <p:sp>
        <p:nvSpPr>
          <p:cNvPr id="21" name="Shape 19"/>
          <p:cNvSpPr/>
          <p:nvPr/>
        </p:nvSpPr>
        <p:spPr>
          <a:xfrm>
            <a:off x="7918704" y="4797552"/>
            <a:ext cx="3913632" cy="1694688"/>
          </a:xfrm>
          <a:prstGeom prst="rect">
            <a:avLst/>
          </a:prstGeom>
          <a:solidFill>
            <a:srgbClr val="FFFFFF"/>
          </a:solidFill>
          <a:ln w="12700">
            <a:solidFill>
              <a:srgbClr val="D6E4F7"/>
            </a:solidFill>
            <a:prstDash val="solid"/>
          </a:ln>
        </p:spPr>
      </p:sp>
      <p:sp>
        <p:nvSpPr>
          <p:cNvPr id="22" name="Text 20"/>
          <p:cNvSpPr txBox="1"/>
          <p:nvPr/>
        </p:nvSpPr>
        <p:spPr>
          <a:xfrm>
            <a:off x="8010144" y="4843272"/>
            <a:ext cx="3730752" cy="160324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Diagrama actividades del proceso clave del PFC</a:t>
            </a:r>
            <a:endParaRPr lang="en-US" sz="1400" dirty="0"/>
          </a:p>
        </p:txBody>
      </p:sp>
      <p:sp>
        <p:nvSpPr>
          <p:cNvPr id="24" name="Text 21"/>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457200"/>
            <a:ext cx="11430000" cy="548640"/>
          </a:xfrm>
          <a:prstGeom prst="rect">
            <a:avLst/>
          </a:prstGeom>
          <a:noFill/>
          <a:ln/>
        </p:spPr>
        <p:txBody>
          <a:bodyPr wrap="square" lIns="0" tIns="0" rIns="0" bIns="0" rtlCol="0" anchor="ctr"/>
          <a:lstStyle/>
          <a:p>
            <a:pPr indent="0" marL="0">
              <a:buNone/>
            </a:pPr>
            <a:r>
              <a:rPr lang="en-US" sz="1600" b="1" dirty="0">
                <a:solidFill>
                  <a:srgbClr val="C8960C"/>
                </a:solidFill>
                <a:latin typeface="Calibri" pitchFamily="34" charset="0"/>
                <a:ea typeface="Calibri" pitchFamily="34" charset="-122"/>
                <a:cs typeface="Calibri" pitchFamily="34" charset="-120"/>
              </a:rPr>
              <a:t>Semana 9 — Síntesis</a:t>
            </a:r>
            <a:endParaRPr lang="en-US" sz="1600" dirty="0"/>
          </a:p>
        </p:txBody>
      </p:sp>
      <p:sp>
        <p:nvSpPr>
          <p:cNvPr id="4" name="Text 2"/>
          <p:cNvSpPr txBox="1"/>
          <p:nvPr/>
        </p:nvSpPr>
        <p:spPr>
          <a:xfrm>
            <a:off x="347472" y="1188720"/>
            <a:ext cx="11430000" cy="2926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Los modelos de datos y función son mapas: no dicen cómo construir el sistema, sino qué debe saber y qué debe hacer.</a:t>
            </a:r>
            <a:endParaRPr lang="en-US" sz="3200" dirty="0"/>
          </a:p>
        </p:txBody>
      </p:sp>
      <p:sp>
        <p:nvSpPr>
          <p:cNvPr id="5" name="Shape 3"/>
          <p:cNvSpPr/>
          <p:nvPr/>
        </p:nvSpPr>
        <p:spPr>
          <a:xfrm>
            <a:off x="347472" y="4389120"/>
            <a:ext cx="11430000" cy="1005840"/>
          </a:xfrm>
          <a:prstGeom prst="rect">
            <a:avLst/>
          </a:prstGeom>
          <a:solidFill>
            <a:srgbClr val="C8960C"/>
          </a:solidFill>
          <a:ln w="12700">
            <a:solidFill>
              <a:srgbClr val="C8960C"/>
            </a:solidFill>
            <a:prstDash val="solid"/>
          </a:ln>
        </p:spPr>
      </p:sp>
      <p:sp>
        <p:nvSpPr>
          <p:cNvPr id="6" name="Text 4"/>
          <p:cNvSpPr txBox="1"/>
          <p:nvPr/>
        </p:nvSpPr>
        <p:spPr>
          <a:xfrm>
            <a:off x="502920" y="4462272"/>
            <a:ext cx="3657600" cy="320040"/>
          </a:xfrm>
          <a:prstGeom prst="rect">
            <a:avLst/>
          </a:prstGeom>
          <a:noFill/>
          <a:ln/>
        </p:spPr>
        <p:txBody>
          <a:bodyPr wrap="square" lIns="0" tIns="0" rIns="0" bIns="0" rtlCol="0" anchor="ctr"/>
          <a:lstStyle/>
          <a:p>
            <a:pPr indent="0" marL="0">
              <a:buNone/>
            </a:pPr>
            <a:r>
              <a:rPr lang="en-US" sz="1200" b="1" dirty="0">
                <a:solidFill>
                  <a:srgbClr val="0D3B72"/>
                </a:solidFill>
                <a:latin typeface="Calibri" pitchFamily="34" charset="0"/>
                <a:ea typeface="Calibri" pitchFamily="34" charset="-122"/>
                <a:cs typeface="Calibri" pitchFamily="34" charset="-120"/>
              </a:rPr>
              <a:t>PRÓXIMO PASO</a:t>
            </a:r>
            <a:endParaRPr lang="en-US" sz="1200" dirty="0"/>
          </a:p>
        </p:txBody>
      </p:sp>
      <p:sp>
        <p:nvSpPr>
          <p:cNvPr id="7" name="Text 5"/>
          <p:cNvSpPr txBox="1"/>
          <p:nvPr/>
        </p:nvSpPr>
        <p:spPr>
          <a:xfrm>
            <a:off x="502920" y="4754880"/>
            <a:ext cx="11064240" cy="548640"/>
          </a:xfrm>
          <a:prstGeom prst="rect">
            <a:avLst/>
          </a:prstGeom>
          <a:noFill/>
          <a:ln/>
        </p:spPr>
        <p:txBody>
          <a:bodyPr wrap="square" lIns="0" tIns="0" rIns="0" bIns="0" rtlCol="0" anchor="ctr"/>
          <a:lstStyle/>
          <a:p>
            <a:pPr indent="0" marL="0">
              <a:buNone/>
            </a:pPr>
            <a:r>
              <a:rPr lang="en-US" sz="1800" b="1" dirty="0">
                <a:solidFill>
                  <a:srgbClr val="0D3B72"/>
                </a:solidFill>
                <a:latin typeface="Calibri" pitchFamily="34" charset="0"/>
                <a:ea typeface="Calibri" pitchFamily="34" charset="-122"/>
                <a:cs typeface="Calibri" pitchFamily="34" charset="-120"/>
              </a:rPr>
              <a:t>Semana 10: modelos de comportamiento — statecharts, autómatas finitos e interrelaciones entre modelos</a:t>
            </a:r>
            <a:endParaRPr lang="en-US" sz="1800" dirty="0"/>
          </a:p>
        </p:txBody>
      </p:sp>
      <p:sp>
        <p:nvSpPr>
          <p:cNvPr id="8" name="Text 6"/>
          <p:cNvSpPr txBox="1"/>
          <p:nvPr/>
        </p:nvSpPr>
        <p:spPr>
          <a:xfrm>
            <a:off x="347472" y="6217920"/>
            <a:ext cx="11430000" cy="36576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ISR-401 · Ingeniería de Requisitos · UTEQ</a:t>
            </a:r>
            <a:endParaRPr lang="en-US" sz="1200" dirty="0"/>
          </a:p>
        </p:txBody>
      </p:sp>
      <p:sp>
        <p:nvSpPr>
          <p:cNvPr id="9" name="Text 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2026-10-28T11:59:21Z</dcterms:created>
  <dcterms:modified xsi:type="dcterms:W3CDTF">2026-10-28T11:59:21Z</dcterms:modified>
</cp:coreProperties>
</file>