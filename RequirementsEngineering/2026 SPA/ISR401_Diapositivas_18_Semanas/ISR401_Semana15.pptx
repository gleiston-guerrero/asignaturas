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6 dominios del PFC fueron seleccionados por criterios de pertinencia local y complejidad de IR. Ganadería bovino (Los Ríos): sector económico clave, stakeholders accesibles, múltiples entidades (ANIMAL, FINCA, VACUNACIÓN). Camaroneras (El Oro): sensores IoT + lógica de producción + regulaciones AGROCALIDAD. Palma africana (Esmeraldas): gestión de contratistas + ciclos de cosecha + trazabilidad fitosanitaria. Aulas IoT (UTEQ): control de acceso + sensores + reportes + roles múltiples. Mascotas (Quevedo): citas + historial médico + notificaciones. Clínica veterinaria (Quevedo): versión ampliada con inventario + facturación.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sistema de gestión de ganado bovino, el mapa de stakeholders incluye: ALTO PODER/ALTO INTERÉS: administrador del fundo (cliente), presidente de la asociación ganadera; ALTO PODER/BAJO INTERÉS: AGROCALIDAD (regula vacunaciones y guías de movilización), municipio (ordenanzas sanitarias); BAJO PODER/ALTO INTERÉS: vaqueros/operarios que registran datos diariamente; BAJO PODER/BAJO INTERÉS: compradores de ganado (solo consultan precios). Los operarios son el stakeholder más crítico para la usabilidad pero el menos escuchado.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negociación de requisitos no es una guerra — es un proceso de alineamiento de expectativas. La técnica de los 100 dólares funciona porque obliga al stakeholder a hacer trade-offs reales: si le da $40 al RF-01 y $30 al RF-02, solo le quedan $30 para los demás 20 requisitos. El resultado es un ranking de prioridad que refleja el valor real para el negocio, no lo que el stakeholder dice en abstracto ("todo es igualmente importante").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semana 15 activa el PFC de forma intensiva. El equipo tiene ahora el sistema definido, el plan de IR aprobado, y los RF priorizados. Las semanas 16–17 construyen el ERS completo y preparan la defensa.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365760"/>
            <a:ext cx="11430000" cy="914400"/>
          </a:xfrm>
          <a:prstGeom prst="rect">
            <a:avLst/>
          </a:prstGeom>
          <a:noFill/>
          <a:ln/>
        </p:spPr>
        <p:txBody>
          <a:bodyPr wrap="square" lIns="0" tIns="0" rIns="0" bIns="0" rtlCol="0" anchor="ctr"/>
          <a:lstStyle/>
          <a:p>
            <a:pPr indent="0" marL="0">
              <a:buNone/>
            </a:pPr>
            <a:r>
              <a:rPr lang="en-US" sz="2200" dirty="0">
                <a:solidFill>
                  <a:srgbClr val="C8960C"/>
                </a:solidFill>
                <a:latin typeface="Cambria" pitchFamily="34" charset="0"/>
                <a:ea typeface="Cambria" pitchFamily="34" charset="-122"/>
                <a:cs typeface="Cambria" pitchFamily="34" charset="-120"/>
              </a:rPr>
              <a:t>Semana 15</a:t>
            </a:r>
            <a:endParaRPr lang="en-US" sz="2200" dirty="0"/>
          </a:p>
        </p:txBody>
      </p:sp>
      <p:sp>
        <p:nvSpPr>
          <p:cNvPr id="4" name="Text 2"/>
          <p:cNvSpPr txBox="1"/>
          <p:nvPr/>
        </p:nvSpPr>
        <p:spPr>
          <a:xfrm>
            <a:off x="347472" y="1097280"/>
            <a:ext cx="11430000" cy="25603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PFC — Planificación y elicitación avanzada</a:t>
            </a:r>
            <a:endParaRPr lang="en-US" sz="4000" dirty="0"/>
          </a:p>
        </p:txBody>
      </p:sp>
      <p:sp>
        <p:nvSpPr>
          <p:cNvPr id="5" name="Text 3"/>
          <p:cNvSpPr txBox="1"/>
          <p:nvPr/>
        </p:nvSpPr>
        <p:spPr>
          <a:xfrm>
            <a:off x="347472" y="3749040"/>
            <a:ext cx="11430000" cy="822960"/>
          </a:xfrm>
          <a:prstGeom prst="rect">
            <a:avLst/>
          </a:prstGeom>
          <a:noFill/>
          <a:ln/>
        </p:spPr>
        <p:txBody>
          <a:bodyPr wrap="square" lIns="0" tIns="0" rIns="0" bIns="0" rtlCol="0" anchor="ctr"/>
          <a:lstStyle/>
          <a:p>
            <a:pPr indent="0" marL="0">
              <a:buNone/>
            </a:pPr>
            <a:r>
              <a:rPr lang="en-US" sz="2000" dirty="0">
                <a:solidFill>
                  <a:srgbClr val="D6E4F7"/>
                </a:solidFill>
                <a:latin typeface="Calibri" pitchFamily="34" charset="0"/>
                <a:ea typeface="Calibri" pitchFamily="34" charset="-122"/>
                <a:cs typeface="Calibri" pitchFamily="34" charset="-120"/>
              </a:rPr>
              <a:t>Tema 15 — Criterios de sistema, mapa de stakeholders, plan IR, entrevista real y taller de negociación</a:t>
            </a:r>
            <a:endParaRPr lang="en-US" sz="2000" dirty="0"/>
          </a:p>
        </p:txBody>
      </p:sp>
      <p:sp>
        <p:nvSpPr>
          <p:cNvPr id="6" name="Text 4"/>
          <p:cNvSpPr txBox="1"/>
          <p:nvPr/>
        </p:nvSpPr>
        <p:spPr>
          <a:xfrm>
            <a:off x="347472" y="4663440"/>
            <a:ext cx="11430000" cy="548640"/>
          </a:xfrm>
          <a:prstGeom prst="rect">
            <a:avLst/>
          </a:prstGeom>
          <a:noFill/>
          <a:ln/>
        </p:spPr>
        <p:txBody>
          <a:bodyPr wrap="square" lIns="0" tIns="0" rIns="0" bIns="0" rtlCol="0" anchor="ctr"/>
          <a:lstStyle/>
          <a:p>
            <a:pPr indent="0" marL="0">
              <a:buNone/>
            </a:pPr>
            <a:r>
              <a:rPr lang="en-US" sz="1600" dirty="0">
                <a:solidFill>
                  <a:srgbClr val="C8960C"/>
                </a:solidFill>
                <a:latin typeface="Calibri" pitchFamily="34" charset="0"/>
                <a:ea typeface="Calibri" pitchFamily="34" charset="-122"/>
                <a:cs typeface="Calibri" pitchFamily="34" charset="-120"/>
              </a:rPr>
              <a:t>Unidad 5: IR Avanzada y PFC</a:t>
            </a:r>
            <a:endParaRPr lang="en-US" sz="1600" dirty="0"/>
          </a:p>
        </p:txBody>
      </p:sp>
      <p:sp>
        <p:nvSpPr>
          <p:cNvPr id="7" name="Text 5"/>
          <p:cNvSpPr txBox="1"/>
          <p:nvPr/>
        </p:nvSpPr>
        <p:spPr>
          <a:xfrm>
            <a:off x="347472" y="6126480"/>
            <a:ext cx="11430000" cy="457200"/>
          </a:xfrm>
          <a:prstGeom prst="rect">
            <a:avLst/>
          </a:prstGeom>
          <a:noFill/>
          <a:ln/>
        </p:spPr>
        <p:txBody>
          <a:bodyPr wrap="square" lIns="0" tIns="0" rIns="0" bIns="0" rtlCol="0" anchor="ctr"/>
          <a:lstStyle/>
          <a:p>
            <a:pPr indent="0" marL="0">
              <a:buNone/>
            </a:pPr>
            <a:r>
              <a:rPr lang="en-US" sz="1300" dirty="0">
                <a:solidFill>
                  <a:srgbClr val="D6E4F7"/>
                </a:solidFill>
                <a:latin typeface="Calibri" pitchFamily="34" charset="0"/>
                <a:ea typeface="Calibri" pitchFamily="34" charset="-122"/>
                <a:cs typeface="Calibri" pitchFamily="34" charset="-120"/>
              </a:rPr>
              <a:t>ISR-401 · Ingeniería de Requisitos · UTEQ</a:t>
            </a:r>
            <a:endParaRPr lang="en-US" sz="1300" dirty="0"/>
          </a:p>
        </p:txBody>
      </p:sp>
      <p:sp>
        <p:nvSpPr>
          <p:cNvPr id="8" name="Text 6"/>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256032"/>
            <a:ext cx="11430000" cy="502920"/>
          </a:xfrm>
          <a:prstGeom prst="rect">
            <a:avLst/>
          </a:prstGeom>
          <a:noFill/>
          <a:ln/>
        </p:spPr>
        <p:txBody>
          <a:bodyPr wrap="square" lIns="0" tIns="0" rIns="0" bIns="0" rtlCol="0" anchor="ctr"/>
          <a:lstStyle/>
          <a:p>
            <a:pPr indent="0" marL="0">
              <a:buNone/>
            </a:pPr>
            <a:r>
              <a:rPr lang="en-US" sz="1300" b="1" dirty="0">
                <a:solidFill>
                  <a:srgbClr val="C8960C"/>
                </a:solidFill>
                <a:latin typeface="Calibri" pitchFamily="34" charset="0"/>
                <a:ea typeface="Calibri" pitchFamily="34" charset="-122"/>
                <a:cs typeface="Calibri" pitchFamily="34" charset="-120"/>
              </a:rPr>
              <a:t>PLANIFICACIÓN DE LA CLASE</a:t>
            </a:r>
            <a:endParaRPr lang="en-US" sz="1300" dirty="0"/>
          </a:p>
        </p:txBody>
      </p:sp>
      <p:sp>
        <p:nvSpPr>
          <p:cNvPr id="4" name="Text 2"/>
          <p:cNvSpPr txBox="1"/>
          <p:nvPr/>
        </p:nvSpPr>
        <p:spPr>
          <a:xfrm>
            <a:off x="347472" y="749808"/>
            <a:ext cx="11430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¿Qué haremos hoy?</a:t>
            </a:r>
            <a:endParaRPr lang="en-US" sz="3200" dirty="0"/>
          </a:p>
        </p:txBody>
      </p:sp>
      <p:sp>
        <p:nvSpPr>
          <p:cNvPr id="5" name="Shape 3"/>
          <p:cNvSpPr/>
          <p:nvPr/>
        </p:nvSpPr>
        <p:spPr>
          <a:xfrm>
            <a:off x="347472" y="1554480"/>
            <a:ext cx="3703320" cy="2057400"/>
          </a:xfrm>
          <a:prstGeom prst="roundRect">
            <a:avLst>
              <a:gd name="adj" fmla="val 3556"/>
            </a:avLst>
          </a:prstGeom>
          <a:solidFill>
            <a:srgbClr val="1565C0"/>
          </a:solidFill>
          <a:ln w="12700">
            <a:solidFill>
              <a:srgbClr val="1565C0"/>
            </a:solidFill>
            <a:prstDash val="solid"/>
          </a:ln>
        </p:spPr>
      </p:sp>
      <p:sp>
        <p:nvSpPr>
          <p:cNvPr id="6" name="Text 4"/>
          <p:cNvSpPr txBox="1"/>
          <p:nvPr/>
        </p:nvSpPr>
        <p:spPr>
          <a:xfrm>
            <a:off x="45720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45720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Criterios de selección PFC (20 min)</a:t>
            </a:r>
            <a:endParaRPr lang="en-US" sz="1500" dirty="0"/>
          </a:p>
        </p:txBody>
      </p:sp>
      <p:sp>
        <p:nvSpPr>
          <p:cNvPr id="8" name="Text 6"/>
          <p:cNvSpPr txBox="1"/>
          <p:nvPr/>
        </p:nvSpPr>
        <p:spPr>
          <a:xfrm>
            <a:off x="45720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Viabilidad técnica, acceso, dominio, complejidad</a:t>
            </a:r>
            <a:endParaRPr lang="en-US" sz="1200" dirty="0"/>
          </a:p>
        </p:txBody>
      </p:sp>
      <p:sp>
        <p:nvSpPr>
          <p:cNvPr id="9" name="Shape 7"/>
          <p:cNvSpPr/>
          <p:nvPr/>
        </p:nvSpPr>
        <p:spPr>
          <a:xfrm>
            <a:off x="4187952" y="1554480"/>
            <a:ext cx="3703320" cy="2057400"/>
          </a:xfrm>
          <a:prstGeom prst="roundRect">
            <a:avLst>
              <a:gd name="adj" fmla="val 3556"/>
            </a:avLst>
          </a:prstGeom>
          <a:solidFill>
            <a:srgbClr val="1565C0"/>
          </a:solidFill>
          <a:ln w="12700">
            <a:solidFill>
              <a:srgbClr val="1565C0"/>
            </a:solidFill>
            <a:prstDash val="solid"/>
          </a:ln>
        </p:spPr>
      </p:sp>
      <p:sp>
        <p:nvSpPr>
          <p:cNvPr id="10" name="Text 8"/>
          <p:cNvSpPr txBox="1"/>
          <p:nvPr/>
        </p:nvSpPr>
        <p:spPr>
          <a:xfrm>
            <a:off x="429768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429768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Mapa stakeholders (25 min)</a:t>
            </a:r>
            <a:endParaRPr lang="en-US" sz="1500" dirty="0"/>
          </a:p>
        </p:txBody>
      </p:sp>
      <p:sp>
        <p:nvSpPr>
          <p:cNvPr id="12" name="Text 10"/>
          <p:cNvSpPr txBox="1"/>
          <p:nvPr/>
        </p:nvSpPr>
        <p:spPr>
          <a:xfrm>
            <a:off x="429768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Poder/interés; stakeholders directos e indirectos</a:t>
            </a:r>
            <a:endParaRPr lang="en-US" sz="1200" dirty="0"/>
          </a:p>
        </p:txBody>
      </p:sp>
      <p:sp>
        <p:nvSpPr>
          <p:cNvPr id="13" name="Shape 11"/>
          <p:cNvSpPr/>
          <p:nvPr/>
        </p:nvSpPr>
        <p:spPr>
          <a:xfrm>
            <a:off x="8028432" y="1554480"/>
            <a:ext cx="3703320" cy="2057400"/>
          </a:xfrm>
          <a:prstGeom prst="roundRect">
            <a:avLst>
              <a:gd name="adj" fmla="val 3556"/>
            </a:avLst>
          </a:prstGeom>
          <a:solidFill>
            <a:srgbClr val="1565C0"/>
          </a:solidFill>
          <a:ln w="12700">
            <a:solidFill>
              <a:srgbClr val="1565C0"/>
            </a:solidFill>
            <a:prstDash val="solid"/>
          </a:ln>
        </p:spPr>
      </p:sp>
      <p:sp>
        <p:nvSpPr>
          <p:cNvPr id="14" name="Text 12"/>
          <p:cNvSpPr txBox="1"/>
          <p:nvPr/>
        </p:nvSpPr>
        <p:spPr>
          <a:xfrm>
            <a:off x="813816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813816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Plan de IR (20 min)</a:t>
            </a:r>
            <a:endParaRPr lang="en-US" sz="1500" dirty="0"/>
          </a:p>
        </p:txBody>
      </p:sp>
      <p:sp>
        <p:nvSpPr>
          <p:cNvPr id="16" name="Text 14"/>
          <p:cNvSpPr txBox="1"/>
          <p:nvPr/>
        </p:nvSpPr>
        <p:spPr>
          <a:xfrm>
            <a:off x="813816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Cronograma, entregables, responsables, riesgos</a:t>
            </a:r>
            <a:endParaRPr lang="en-US" sz="1200" dirty="0"/>
          </a:p>
        </p:txBody>
      </p:sp>
      <p:sp>
        <p:nvSpPr>
          <p:cNvPr id="17" name="Shape 15"/>
          <p:cNvSpPr/>
          <p:nvPr/>
        </p:nvSpPr>
        <p:spPr>
          <a:xfrm>
            <a:off x="347472" y="3749040"/>
            <a:ext cx="3703320" cy="2057400"/>
          </a:xfrm>
          <a:prstGeom prst="roundRect">
            <a:avLst>
              <a:gd name="adj" fmla="val 3556"/>
            </a:avLst>
          </a:prstGeom>
          <a:solidFill>
            <a:srgbClr val="1565C0"/>
          </a:solidFill>
          <a:ln w="12700">
            <a:solidFill>
              <a:srgbClr val="1565C0"/>
            </a:solidFill>
            <a:prstDash val="solid"/>
          </a:ln>
        </p:spPr>
      </p:sp>
      <p:sp>
        <p:nvSpPr>
          <p:cNvPr id="18" name="Text 16"/>
          <p:cNvSpPr txBox="1"/>
          <p:nvPr/>
        </p:nvSpPr>
        <p:spPr>
          <a:xfrm>
            <a:off x="45720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4</a:t>
            </a:r>
            <a:endParaRPr lang="en-US" sz="2200" dirty="0"/>
          </a:p>
        </p:txBody>
      </p:sp>
      <p:sp>
        <p:nvSpPr>
          <p:cNvPr id="19" name="Text 17"/>
          <p:cNvSpPr txBox="1"/>
          <p:nvPr/>
        </p:nvSpPr>
        <p:spPr>
          <a:xfrm>
            <a:off x="45720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Entrevista real (30 min)</a:t>
            </a:r>
            <a:endParaRPr lang="en-US" sz="1500" dirty="0"/>
          </a:p>
        </p:txBody>
      </p:sp>
      <p:sp>
        <p:nvSpPr>
          <p:cNvPr id="20" name="Text 18"/>
          <p:cNvSpPr txBox="1"/>
          <p:nvPr/>
        </p:nvSpPr>
        <p:spPr>
          <a:xfrm>
            <a:off x="45720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Protocolo; preguntas exploración/convergencia; acta</a:t>
            </a:r>
            <a:endParaRPr lang="en-US" sz="1200" dirty="0"/>
          </a:p>
        </p:txBody>
      </p:sp>
      <p:sp>
        <p:nvSpPr>
          <p:cNvPr id="21" name="Shape 19"/>
          <p:cNvSpPr/>
          <p:nvPr/>
        </p:nvSpPr>
        <p:spPr>
          <a:xfrm>
            <a:off x="4187952" y="3749040"/>
            <a:ext cx="3703320" cy="2057400"/>
          </a:xfrm>
          <a:prstGeom prst="roundRect">
            <a:avLst>
              <a:gd name="adj" fmla="val 3556"/>
            </a:avLst>
          </a:prstGeom>
          <a:solidFill>
            <a:srgbClr val="1565C0"/>
          </a:solidFill>
          <a:ln w="12700">
            <a:solidFill>
              <a:srgbClr val="1565C0"/>
            </a:solidFill>
            <a:prstDash val="solid"/>
          </a:ln>
        </p:spPr>
      </p:sp>
      <p:sp>
        <p:nvSpPr>
          <p:cNvPr id="22" name="Text 20"/>
          <p:cNvSpPr txBox="1"/>
          <p:nvPr/>
        </p:nvSpPr>
        <p:spPr>
          <a:xfrm>
            <a:off x="429768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5</a:t>
            </a:r>
            <a:endParaRPr lang="en-US" sz="2200" dirty="0"/>
          </a:p>
        </p:txBody>
      </p:sp>
      <p:sp>
        <p:nvSpPr>
          <p:cNvPr id="23" name="Text 21"/>
          <p:cNvSpPr txBox="1"/>
          <p:nvPr/>
        </p:nvSpPr>
        <p:spPr>
          <a:xfrm>
            <a:off x="429768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Clasificación y negociación (25 min)</a:t>
            </a:r>
            <a:endParaRPr lang="en-US" sz="1500" dirty="0"/>
          </a:p>
        </p:txBody>
      </p:sp>
      <p:sp>
        <p:nvSpPr>
          <p:cNvPr id="24" name="Text 22"/>
          <p:cNvSpPr txBox="1"/>
          <p:nvPr/>
        </p:nvSpPr>
        <p:spPr>
          <a:xfrm>
            <a:off x="429768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MoSCoW; card sorting; técnica Wiegers de negociación</a:t>
            </a:r>
            <a:endParaRPr lang="en-US" sz="1200" dirty="0"/>
          </a:p>
        </p:txBody>
      </p:sp>
      <p:sp>
        <p:nvSpPr>
          <p:cNvPr id="25" name="Text 23"/>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Criterios de selección del sistema PFC</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VIABILIDAD TÉCNICA: ¿puede el equipo construirlo con las tecnologías del semestre?</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ACCESO AL STAKEHOLDER PRIMARIO: ¿pueden entrevistar al usuario real (no al que "sabe" del sistema)?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COMPLEJIDAD ADECUADA: 5–10 RF clave, 2–3 RNF, 1–2 entidades con ciclo de vida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DOMINIO DISPONIBLE: ganadería (Los Ríos), camaroneras, palma africana, aulas IoT, mascotas, clínica veterinaria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NOVEDAD: el sistema no debe existir ya — o debe tener mejoras significativas identificadas</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Red flag: elegir el sistema "fácil" en vez del que tiene el mejor acceso al usuario real</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El mapa de stakeholders — herramienta de poder/interés</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CUADRANTE ALTO PODER / ALTO INTERÉS: gestionar activamente (cliente principal, sponsor)</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CUADRANTE ALTO PODER / BAJO INTERÉS: mantener satisfechos (gerencias, reguladores)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CUADRANTE BAJO PODER / ALTO INTERÉS: mantener informados (usuarios finales, soporte)</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CUADRANTE BAJO PODER / BAJO INTERÉS: monitorear (usuarios ocasionales)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STAKEHOLDERS EXTERNOS: reguladores (AGROCALIDAD, Senescyt, municipios), competidores, proveedores</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Error clásico: entrevistar solo a quien tiene poder, no a quien usa el sistema diariamente</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Técnicas de negociación de requisitos</a:t>
            </a:r>
            <a:endParaRPr lang="en-US" sz="2800" dirty="0"/>
          </a:p>
        </p:txBody>
      </p:sp>
      <p:sp>
        <p:nvSpPr>
          <p:cNvPr id="5" name="Shape 3"/>
          <p:cNvSpPr/>
          <p:nvPr/>
        </p:nvSpPr>
        <p:spPr>
          <a:xfrm>
            <a:off x="347472" y="1234440"/>
            <a:ext cx="5577840" cy="5257800"/>
          </a:xfrm>
          <a:prstGeom prst="rect">
            <a:avLst/>
          </a:prstGeom>
          <a:solidFill>
            <a:srgbClr val="FFFFFF"/>
          </a:solidFill>
          <a:ln w="12700">
            <a:solidFill>
              <a:srgbClr val="D6E4F7"/>
            </a:solidFill>
            <a:prstDash val="solid"/>
          </a:ln>
        </p:spPr>
      </p:sp>
      <p:sp>
        <p:nvSpPr>
          <p:cNvPr id="6" name="Text 4"/>
          <p:cNvSpPr txBox="1"/>
          <p:nvPr/>
        </p:nvSpPr>
        <p:spPr>
          <a:xfrm>
            <a:off x="457200" y="1325880"/>
            <a:ext cx="5349240" cy="457200"/>
          </a:xfrm>
          <a:prstGeom prst="rect">
            <a:avLst/>
          </a:prstGeom>
          <a:noFill/>
          <a:ln/>
        </p:spPr>
        <p:txBody>
          <a:bodyPr wrap="square" lIns="0" tIns="0" rIns="0" bIns="0" rtlCol="0" anchor="ctr"/>
          <a:lstStyle/>
          <a:p>
            <a:pPr indent="0" marL="0">
              <a:buNone/>
            </a:pPr>
            <a:r>
              <a:rPr lang="en-US" sz="1800" b="1" dirty="0">
                <a:solidFill>
                  <a:srgbClr val="0D3B72"/>
                </a:solidFill>
                <a:latin typeface="Cambria" pitchFamily="34" charset="0"/>
                <a:ea typeface="Cambria" pitchFamily="34" charset="-122"/>
                <a:cs typeface="Cambria" pitchFamily="34" charset="-120"/>
              </a:rPr>
              <a:t>MoSCoW + Wiegers</a:t>
            </a:r>
            <a:endParaRPr lang="en-US" sz="1800" dirty="0"/>
          </a:p>
        </p:txBody>
      </p:sp>
      <p:sp>
        <p:nvSpPr>
          <p:cNvPr id="7" name="Text 5"/>
          <p:cNvSpPr txBox="1"/>
          <p:nvPr/>
        </p:nvSpPr>
        <p:spPr>
          <a:xfrm>
            <a:off x="457200" y="1783080"/>
            <a:ext cx="5349240" cy="4572000"/>
          </a:xfrm>
          <a:prstGeom prst="rect">
            <a:avLst/>
          </a:prstGeom>
          <a:noFill/>
          <a:ln/>
        </p:spPr>
        <p:txBody>
          <a:bodyPr wrap="square" lIns="0" tIns="0" rIns="0" bIns="0" rtlCol="0" anchor="t"/>
          <a:lstStyle/>
          <a:p>
            <a:pPr>
              <a:spcAft>
                <a:spcPts val="500"/>
              </a:spcAft>
            </a:pPr>
            <a:r>
              <a:rPr lang="en-US" sz="1700" dirty="0">
                <a:solidFill>
                  <a:srgbClr val="1A1A2E"/>
                </a:solidFill>
                <a:latin typeface="Calibri" pitchFamily="34" charset="0"/>
                <a:ea typeface="Calibri" pitchFamily="34" charset="-122"/>
                <a:cs typeface="Calibri" pitchFamily="34" charset="-120"/>
              </a:rPr>
              <a:t>MUST: sin esto el sistema no tiene valor — va al sprint 1</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SHOULD: importante pero no crítico para el MVP</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COULD: deseable si hay tiempo y presupuesto</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WON'T (this time): explícitamente fuera del alcance del proyecto</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Wiegers: votos ponderados — asignar 100 puntos entre todos los RF y negociar prioridades</a:t>
            </a:r>
            <a:endParaRPr lang="en-US" sz="1700" dirty="0"/>
          </a:p>
        </p:txBody>
      </p:sp>
      <p:sp>
        <p:nvSpPr>
          <p:cNvPr id="8" name="Shape 6"/>
          <p:cNvSpPr/>
          <p:nvPr/>
        </p:nvSpPr>
        <p:spPr>
          <a:xfrm>
            <a:off x="6126480" y="1234440"/>
            <a:ext cx="5742432" cy="5257800"/>
          </a:xfrm>
          <a:prstGeom prst="rect">
            <a:avLst/>
          </a:prstGeom>
          <a:solidFill>
            <a:srgbClr val="FFFFFF"/>
          </a:solidFill>
          <a:ln w="12700">
            <a:solidFill>
              <a:srgbClr val="D6E4F7"/>
            </a:solidFill>
            <a:prstDash val="solid"/>
          </a:ln>
        </p:spPr>
      </p:sp>
      <p:sp>
        <p:nvSpPr>
          <p:cNvPr id="9" name="Text 7"/>
          <p:cNvSpPr txBox="1"/>
          <p:nvPr/>
        </p:nvSpPr>
        <p:spPr>
          <a:xfrm>
            <a:off x="6236208" y="1325880"/>
            <a:ext cx="5486400" cy="457200"/>
          </a:xfrm>
          <a:prstGeom prst="rect">
            <a:avLst/>
          </a:prstGeom>
          <a:noFill/>
          <a:ln/>
        </p:spPr>
        <p:txBody>
          <a:bodyPr wrap="square" lIns="0" tIns="0" rIns="0" bIns="0" rtlCol="0" anchor="ctr"/>
          <a:lstStyle/>
          <a:p>
            <a:pPr indent="0" marL="0">
              <a:buNone/>
            </a:pPr>
            <a:r>
              <a:rPr lang="en-US" sz="1800" b="1" dirty="0">
                <a:solidFill>
                  <a:srgbClr val="0D3B72"/>
                </a:solidFill>
                <a:latin typeface="Cambria" pitchFamily="34" charset="0"/>
                <a:ea typeface="Cambria" pitchFamily="34" charset="-122"/>
                <a:cs typeface="Cambria" pitchFamily="34" charset="-120"/>
              </a:rPr>
              <a:t>Card Sorting y técnicas visuales</a:t>
            </a:r>
            <a:endParaRPr lang="en-US" sz="1800" dirty="0"/>
          </a:p>
        </p:txBody>
      </p:sp>
      <p:sp>
        <p:nvSpPr>
          <p:cNvPr id="10" name="Text 8"/>
          <p:cNvSpPr txBox="1"/>
          <p:nvPr/>
        </p:nvSpPr>
        <p:spPr>
          <a:xfrm>
            <a:off x="6236208" y="1783080"/>
            <a:ext cx="5486400" cy="4572000"/>
          </a:xfrm>
          <a:prstGeom prst="rect">
            <a:avLst/>
          </a:prstGeom>
          <a:noFill/>
          <a:ln/>
        </p:spPr>
        <p:txBody>
          <a:bodyPr wrap="square" lIns="0" tIns="0" rIns="0" bIns="0" rtlCol="0" anchor="t"/>
          <a:lstStyle/>
          <a:p>
            <a:pPr>
              <a:spcAft>
                <a:spcPts val="500"/>
              </a:spcAft>
            </a:pPr>
            <a:r>
              <a:rPr lang="en-US" sz="1700" dirty="0">
                <a:solidFill>
                  <a:srgbClr val="1A1A2E"/>
                </a:solidFill>
                <a:latin typeface="Calibri" pitchFamily="34" charset="0"/>
                <a:ea typeface="Calibri" pitchFamily="34" charset="-122"/>
                <a:cs typeface="Calibri" pitchFamily="34" charset="-120"/>
              </a:rPr>
              <a:t>Card Sorting: cada RF en una tarjeta — el stakeholder las ordena por valor</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Value vs. Effort matrix: cuadrante alto valor/bajo esfuerzo = sprints iniciales</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Kano Model: básicos (obligatorios), lineales (más = mejor), deleitadores (sorpresas)</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Técnica de los 100 dólares: cada stakeholder distribuye $100 entre los RF — revela prioridades reales</a:t>
            </a:r>
            <a:endParaRPr lang="en-US" sz="1700" dirty="0"/>
          </a:p>
        </p:txBody>
      </p:sp>
      <p:sp>
        <p:nvSpPr>
          <p:cNvPr id="12" name="Text 9"/>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Mapa síntesis — Semana 15</a:t>
            </a:r>
            <a:endParaRPr lang="en-US" sz="2800" dirty="0"/>
          </a:p>
        </p:txBody>
      </p:sp>
      <p:sp>
        <p:nvSpPr>
          <p:cNvPr id="5" name="Shape 3"/>
          <p:cNvSpPr/>
          <p:nvPr/>
        </p:nvSpPr>
        <p:spPr>
          <a:xfrm>
            <a:off x="347472" y="1261872"/>
            <a:ext cx="3200400" cy="1252728"/>
          </a:xfrm>
          <a:prstGeom prst="rect">
            <a:avLst/>
          </a:prstGeom>
          <a:solidFill>
            <a:srgbClr val="0D3B72"/>
          </a:solidFill>
          <a:ln w="12700">
            <a:solidFill>
              <a:srgbClr val="0D3B72"/>
            </a:solidFill>
            <a:prstDash val="solid"/>
          </a:ln>
        </p:spPr>
      </p:sp>
      <p:sp>
        <p:nvSpPr>
          <p:cNvPr id="6" name="Text 4"/>
          <p:cNvSpPr txBox="1"/>
          <p:nvPr/>
        </p:nvSpPr>
        <p:spPr>
          <a:xfrm>
            <a:off x="438912" y="130759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Criterios PFC</a:t>
            </a:r>
            <a:endParaRPr lang="en-US" sz="1600" dirty="0"/>
          </a:p>
        </p:txBody>
      </p:sp>
      <p:sp>
        <p:nvSpPr>
          <p:cNvPr id="7" name="Shape 5"/>
          <p:cNvSpPr/>
          <p:nvPr/>
        </p:nvSpPr>
        <p:spPr>
          <a:xfrm>
            <a:off x="3584448" y="1261872"/>
            <a:ext cx="4297680" cy="1252728"/>
          </a:xfrm>
          <a:prstGeom prst="rect">
            <a:avLst/>
          </a:prstGeom>
          <a:solidFill>
            <a:srgbClr val="FFFFFF"/>
          </a:solidFill>
          <a:ln w="12700">
            <a:solidFill>
              <a:srgbClr val="D6E4F7"/>
            </a:solidFill>
            <a:prstDash val="solid"/>
          </a:ln>
        </p:spPr>
      </p:sp>
      <p:sp>
        <p:nvSpPr>
          <p:cNvPr id="8" name="Text 6"/>
          <p:cNvSpPr txBox="1"/>
          <p:nvPr/>
        </p:nvSpPr>
        <p:spPr>
          <a:xfrm>
            <a:off x="3675888" y="130759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5 criterios; 6 dominios; red flags</a:t>
            </a:r>
            <a:endParaRPr lang="en-US" sz="1500" dirty="0"/>
          </a:p>
        </p:txBody>
      </p:sp>
      <p:sp>
        <p:nvSpPr>
          <p:cNvPr id="9" name="Shape 7"/>
          <p:cNvSpPr/>
          <p:nvPr/>
        </p:nvSpPr>
        <p:spPr>
          <a:xfrm>
            <a:off x="7918704" y="1261872"/>
            <a:ext cx="3913632" cy="1252728"/>
          </a:xfrm>
          <a:prstGeom prst="rect">
            <a:avLst/>
          </a:prstGeom>
          <a:solidFill>
            <a:srgbClr val="FFFFFF"/>
          </a:solidFill>
          <a:ln w="12700">
            <a:solidFill>
              <a:srgbClr val="D6E4F7"/>
            </a:solidFill>
            <a:prstDash val="solid"/>
          </a:ln>
        </p:spPr>
      </p:sp>
      <p:sp>
        <p:nvSpPr>
          <p:cNvPr id="10" name="Text 8"/>
          <p:cNvSpPr txBox="1"/>
          <p:nvPr/>
        </p:nvSpPr>
        <p:spPr>
          <a:xfrm>
            <a:off x="8010144" y="130759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Justificación documentada del sistema elegido</a:t>
            </a:r>
            <a:endParaRPr lang="en-US" sz="1400" dirty="0"/>
          </a:p>
        </p:txBody>
      </p:sp>
      <p:sp>
        <p:nvSpPr>
          <p:cNvPr id="11" name="Shape 9"/>
          <p:cNvSpPr/>
          <p:nvPr/>
        </p:nvSpPr>
        <p:spPr>
          <a:xfrm>
            <a:off x="347472" y="2587752"/>
            <a:ext cx="3200400" cy="1252728"/>
          </a:xfrm>
          <a:prstGeom prst="rect">
            <a:avLst/>
          </a:prstGeom>
          <a:solidFill>
            <a:srgbClr val="1565C0"/>
          </a:solidFill>
          <a:ln w="12700">
            <a:solidFill>
              <a:srgbClr val="1565C0"/>
            </a:solidFill>
            <a:prstDash val="solid"/>
          </a:ln>
        </p:spPr>
      </p:sp>
      <p:sp>
        <p:nvSpPr>
          <p:cNvPr id="12" name="Text 10"/>
          <p:cNvSpPr txBox="1"/>
          <p:nvPr/>
        </p:nvSpPr>
        <p:spPr>
          <a:xfrm>
            <a:off x="438912" y="263347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Stakeholders</a:t>
            </a:r>
            <a:endParaRPr lang="en-US" sz="1600" dirty="0"/>
          </a:p>
        </p:txBody>
      </p:sp>
      <p:sp>
        <p:nvSpPr>
          <p:cNvPr id="13" name="Shape 11"/>
          <p:cNvSpPr/>
          <p:nvPr/>
        </p:nvSpPr>
        <p:spPr>
          <a:xfrm>
            <a:off x="3584448" y="2587752"/>
            <a:ext cx="4297680" cy="1252728"/>
          </a:xfrm>
          <a:prstGeom prst="rect">
            <a:avLst/>
          </a:prstGeom>
          <a:solidFill>
            <a:srgbClr val="FFFFFF"/>
          </a:solidFill>
          <a:ln w="12700">
            <a:solidFill>
              <a:srgbClr val="D6E4F7"/>
            </a:solidFill>
            <a:prstDash val="solid"/>
          </a:ln>
        </p:spPr>
      </p:sp>
      <p:sp>
        <p:nvSpPr>
          <p:cNvPr id="14" name="Text 12"/>
          <p:cNvSpPr txBox="1"/>
          <p:nvPr/>
        </p:nvSpPr>
        <p:spPr>
          <a:xfrm>
            <a:off x="3675888" y="263347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Mapa poder/interés; directos/indirectos</a:t>
            </a:r>
            <a:endParaRPr lang="en-US" sz="1500" dirty="0"/>
          </a:p>
        </p:txBody>
      </p:sp>
      <p:sp>
        <p:nvSpPr>
          <p:cNvPr id="15" name="Shape 13"/>
          <p:cNvSpPr/>
          <p:nvPr/>
        </p:nvSpPr>
        <p:spPr>
          <a:xfrm>
            <a:off x="7918704" y="2587752"/>
            <a:ext cx="3913632" cy="1252728"/>
          </a:xfrm>
          <a:prstGeom prst="rect">
            <a:avLst/>
          </a:prstGeom>
          <a:solidFill>
            <a:srgbClr val="FFFFFF"/>
          </a:solidFill>
          <a:ln w="12700">
            <a:solidFill>
              <a:srgbClr val="D6E4F7"/>
            </a:solidFill>
            <a:prstDash val="solid"/>
          </a:ln>
        </p:spPr>
      </p:sp>
      <p:sp>
        <p:nvSpPr>
          <p:cNvPr id="16" name="Text 14"/>
          <p:cNvSpPr txBox="1"/>
          <p:nvPr/>
        </p:nvSpPr>
        <p:spPr>
          <a:xfrm>
            <a:off x="8010144" y="263347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Mapa stakeholders del PFC con rol en la IR</a:t>
            </a:r>
            <a:endParaRPr lang="en-US" sz="1400" dirty="0"/>
          </a:p>
        </p:txBody>
      </p:sp>
      <p:sp>
        <p:nvSpPr>
          <p:cNvPr id="17" name="Shape 15"/>
          <p:cNvSpPr/>
          <p:nvPr/>
        </p:nvSpPr>
        <p:spPr>
          <a:xfrm>
            <a:off x="347472" y="3913632"/>
            <a:ext cx="3200400" cy="1252728"/>
          </a:xfrm>
          <a:prstGeom prst="rect">
            <a:avLst/>
          </a:prstGeom>
          <a:solidFill>
            <a:srgbClr val="0D3B72"/>
          </a:solidFill>
          <a:ln w="12700">
            <a:solidFill>
              <a:srgbClr val="0D3B72"/>
            </a:solidFill>
            <a:prstDash val="solid"/>
          </a:ln>
        </p:spPr>
      </p:sp>
      <p:sp>
        <p:nvSpPr>
          <p:cNvPr id="18" name="Text 16"/>
          <p:cNvSpPr txBox="1"/>
          <p:nvPr/>
        </p:nvSpPr>
        <p:spPr>
          <a:xfrm>
            <a:off x="438912" y="395935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Plan IR</a:t>
            </a:r>
            <a:endParaRPr lang="en-US" sz="1600" dirty="0"/>
          </a:p>
        </p:txBody>
      </p:sp>
      <p:sp>
        <p:nvSpPr>
          <p:cNvPr id="19" name="Shape 17"/>
          <p:cNvSpPr/>
          <p:nvPr/>
        </p:nvSpPr>
        <p:spPr>
          <a:xfrm>
            <a:off x="3584448" y="3913632"/>
            <a:ext cx="4297680" cy="1252728"/>
          </a:xfrm>
          <a:prstGeom prst="rect">
            <a:avLst/>
          </a:prstGeom>
          <a:solidFill>
            <a:srgbClr val="FFFFFF"/>
          </a:solidFill>
          <a:ln w="12700">
            <a:solidFill>
              <a:srgbClr val="D6E4F7"/>
            </a:solidFill>
            <a:prstDash val="solid"/>
          </a:ln>
        </p:spPr>
      </p:sp>
      <p:sp>
        <p:nvSpPr>
          <p:cNvPr id="20" name="Text 18"/>
          <p:cNvSpPr txBox="1"/>
          <p:nvPr/>
        </p:nvSpPr>
        <p:spPr>
          <a:xfrm>
            <a:off x="3675888" y="395935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Cronograma; entregables; responsables; riesgos</a:t>
            </a:r>
            <a:endParaRPr lang="en-US" sz="1500" dirty="0"/>
          </a:p>
        </p:txBody>
      </p:sp>
      <p:sp>
        <p:nvSpPr>
          <p:cNvPr id="21" name="Shape 19"/>
          <p:cNvSpPr/>
          <p:nvPr/>
        </p:nvSpPr>
        <p:spPr>
          <a:xfrm>
            <a:off x="7918704" y="3913632"/>
            <a:ext cx="3913632" cy="1252728"/>
          </a:xfrm>
          <a:prstGeom prst="rect">
            <a:avLst/>
          </a:prstGeom>
          <a:solidFill>
            <a:srgbClr val="FFFFFF"/>
          </a:solidFill>
          <a:ln w="12700">
            <a:solidFill>
              <a:srgbClr val="D6E4F7"/>
            </a:solidFill>
            <a:prstDash val="solid"/>
          </a:ln>
        </p:spPr>
      </p:sp>
      <p:sp>
        <p:nvSpPr>
          <p:cNvPr id="22" name="Text 20"/>
          <p:cNvSpPr txBox="1"/>
          <p:nvPr/>
        </p:nvSpPr>
        <p:spPr>
          <a:xfrm>
            <a:off x="8010144" y="395935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Plan IR del PFC para las 4 semanas restantes</a:t>
            </a:r>
            <a:endParaRPr lang="en-US" sz="1400" dirty="0"/>
          </a:p>
        </p:txBody>
      </p:sp>
      <p:sp>
        <p:nvSpPr>
          <p:cNvPr id="23" name="Shape 21"/>
          <p:cNvSpPr/>
          <p:nvPr/>
        </p:nvSpPr>
        <p:spPr>
          <a:xfrm>
            <a:off x="347472" y="5239512"/>
            <a:ext cx="3200400" cy="1252728"/>
          </a:xfrm>
          <a:prstGeom prst="rect">
            <a:avLst/>
          </a:prstGeom>
          <a:solidFill>
            <a:srgbClr val="1565C0"/>
          </a:solidFill>
          <a:ln w="12700">
            <a:solidFill>
              <a:srgbClr val="1565C0"/>
            </a:solidFill>
            <a:prstDash val="solid"/>
          </a:ln>
        </p:spPr>
      </p:sp>
      <p:sp>
        <p:nvSpPr>
          <p:cNvPr id="24" name="Text 22"/>
          <p:cNvSpPr txBox="1"/>
          <p:nvPr/>
        </p:nvSpPr>
        <p:spPr>
          <a:xfrm>
            <a:off x="438912" y="528523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Negociación</a:t>
            </a:r>
            <a:endParaRPr lang="en-US" sz="1600" dirty="0"/>
          </a:p>
        </p:txBody>
      </p:sp>
      <p:sp>
        <p:nvSpPr>
          <p:cNvPr id="25" name="Shape 23"/>
          <p:cNvSpPr/>
          <p:nvPr/>
        </p:nvSpPr>
        <p:spPr>
          <a:xfrm>
            <a:off x="3584448" y="5239512"/>
            <a:ext cx="4297680" cy="1252728"/>
          </a:xfrm>
          <a:prstGeom prst="rect">
            <a:avLst/>
          </a:prstGeom>
          <a:solidFill>
            <a:srgbClr val="FFFFFF"/>
          </a:solidFill>
          <a:ln w="12700">
            <a:solidFill>
              <a:srgbClr val="D6E4F7"/>
            </a:solidFill>
            <a:prstDash val="solid"/>
          </a:ln>
        </p:spPr>
      </p:sp>
      <p:sp>
        <p:nvSpPr>
          <p:cNvPr id="26" name="Text 24"/>
          <p:cNvSpPr txBox="1"/>
          <p:nvPr/>
        </p:nvSpPr>
        <p:spPr>
          <a:xfrm>
            <a:off x="3675888" y="528523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MoSCoW; Wiegers; card sorting; Kano</a:t>
            </a:r>
            <a:endParaRPr lang="en-US" sz="1500" dirty="0"/>
          </a:p>
        </p:txBody>
      </p:sp>
      <p:sp>
        <p:nvSpPr>
          <p:cNvPr id="27" name="Shape 25"/>
          <p:cNvSpPr/>
          <p:nvPr/>
        </p:nvSpPr>
        <p:spPr>
          <a:xfrm>
            <a:off x="7918704" y="5239512"/>
            <a:ext cx="3913632" cy="1252728"/>
          </a:xfrm>
          <a:prstGeom prst="rect">
            <a:avLst/>
          </a:prstGeom>
          <a:solidFill>
            <a:srgbClr val="FFFFFF"/>
          </a:solidFill>
          <a:ln w="12700">
            <a:solidFill>
              <a:srgbClr val="D6E4F7"/>
            </a:solidFill>
            <a:prstDash val="solid"/>
          </a:ln>
        </p:spPr>
      </p:sp>
      <p:sp>
        <p:nvSpPr>
          <p:cNvPr id="28" name="Text 26"/>
          <p:cNvSpPr txBox="1"/>
          <p:nvPr/>
        </p:nvSpPr>
        <p:spPr>
          <a:xfrm>
            <a:off x="8010144" y="528523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Top 10 RF priorizados con justificación</a:t>
            </a:r>
            <a:endParaRPr lang="en-US" sz="1400" dirty="0"/>
          </a:p>
        </p:txBody>
      </p:sp>
      <p:sp>
        <p:nvSpPr>
          <p:cNvPr id="30" name="Text 2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457200"/>
            <a:ext cx="11430000" cy="548640"/>
          </a:xfrm>
          <a:prstGeom prst="rect">
            <a:avLst/>
          </a:prstGeom>
          <a:noFill/>
          <a:ln/>
        </p:spPr>
        <p:txBody>
          <a:bodyPr wrap="square" lIns="0" tIns="0" rIns="0" bIns="0" rtlCol="0" anchor="ctr"/>
          <a:lstStyle/>
          <a:p>
            <a:pPr indent="0" marL="0">
              <a:buNone/>
            </a:pPr>
            <a:r>
              <a:rPr lang="en-US" sz="1600" b="1" dirty="0">
                <a:solidFill>
                  <a:srgbClr val="C8960C"/>
                </a:solidFill>
                <a:latin typeface="Calibri" pitchFamily="34" charset="0"/>
                <a:ea typeface="Calibri" pitchFamily="34" charset="-122"/>
                <a:cs typeface="Calibri" pitchFamily="34" charset="-120"/>
              </a:rPr>
              <a:t>Semana 15 — Síntesis</a:t>
            </a:r>
            <a:endParaRPr lang="en-US" sz="1600" dirty="0"/>
          </a:p>
        </p:txBody>
      </p:sp>
      <p:sp>
        <p:nvSpPr>
          <p:cNvPr id="4" name="Text 2"/>
          <p:cNvSpPr txBox="1"/>
          <p:nvPr/>
        </p:nvSpPr>
        <p:spPr>
          <a:xfrm>
            <a:off x="347472" y="1188720"/>
            <a:ext cx="11430000" cy="2926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Elicitar bien es llegar al usuario real, no al intermediario. La priorización honesta evita el scope creep.</a:t>
            </a:r>
            <a:endParaRPr lang="en-US" sz="3200" dirty="0"/>
          </a:p>
        </p:txBody>
      </p:sp>
      <p:sp>
        <p:nvSpPr>
          <p:cNvPr id="5" name="Shape 3"/>
          <p:cNvSpPr/>
          <p:nvPr/>
        </p:nvSpPr>
        <p:spPr>
          <a:xfrm>
            <a:off x="347472" y="4389120"/>
            <a:ext cx="11430000" cy="1005840"/>
          </a:xfrm>
          <a:prstGeom prst="rect">
            <a:avLst/>
          </a:prstGeom>
          <a:solidFill>
            <a:srgbClr val="C8960C"/>
          </a:solidFill>
          <a:ln w="12700">
            <a:solidFill>
              <a:srgbClr val="C8960C"/>
            </a:solidFill>
            <a:prstDash val="solid"/>
          </a:ln>
        </p:spPr>
      </p:sp>
      <p:sp>
        <p:nvSpPr>
          <p:cNvPr id="6" name="Text 4"/>
          <p:cNvSpPr txBox="1"/>
          <p:nvPr/>
        </p:nvSpPr>
        <p:spPr>
          <a:xfrm>
            <a:off x="502920" y="4462272"/>
            <a:ext cx="3657600" cy="320040"/>
          </a:xfrm>
          <a:prstGeom prst="rect">
            <a:avLst/>
          </a:prstGeom>
          <a:noFill/>
          <a:ln/>
        </p:spPr>
        <p:txBody>
          <a:bodyPr wrap="square" lIns="0" tIns="0" rIns="0" bIns="0" rtlCol="0" anchor="ctr"/>
          <a:lstStyle/>
          <a:p>
            <a:pPr indent="0" marL="0">
              <a:buNone/>
            </a:pPr>
            <a:r>
              <a:rPr lang="en-US" sz="1200" b="1" dirty="0">
                <a:solidFill>
                  <a:srgbClr val="0D3B72"/>
                </a:solidFill>
                <a:latin typeface="Calibri" pitchFamily="34" charset="0"/>
                <a:ea typeface="Calibri" pitchFamily="34" charset="-122"/>
                <a:cs typeface="Calibri" pitchFamily="34" charset="-120"/>
              </a:rPr>
              <a:t>PRÓXIMO PASO</a:t>
            </a:r>
            <a:endParaRPr lang="en-US" sz="1200" dirty="0"/>
          </a:p>
        </p:txBody>
      </p:sp>
      <p:sp>
        <p:nvSpPr>
          <p:cNvPr id="7" name="Text 5"/>
          <p:cNvSpPr txBox="1"/>
          <p:nvPr/>
        </p:nvSpPr>
        <p:spPr>
          <a:xfrm>
            <a:off x="502920" y="4754880"/>
            <a:ext cx="11064240" cy="548640"/>
          </a:xfrm>
          <a:prstGeom prst="rect">
            <a:avLst/>
          </a:prstGeom>
          <a:noFill/>
          <a:ln/>
        </p:spPr>
        <p:txBody>
          <a:bodyPr wrap="square" lIns="0" tIns="0" rIns="0" bIns="0" rtlCol="0" anchor="ctr"/>
          <a:lstStyle/>
          <a:p>
            <a:pPr indent="0" marL="0">
              <a:buNone/>
            </a:pPr>
            <a:r>
              <a:rPr lang="en-US" sz="1800" b="1" dirty="0">
                <a:solidFill>
                  <a:srgbClr val="0D3B72"/>
                </a:solidFill>
                <a:latin typeface="Calibri" pitchFamily="34" charset="0"/>
                <a:ea typeface="Calibri" pitchFamily="34" charset="-122"/>
                <a:cs typeface="Calibri" pitchFamily="34" charset="-120"/>
              </a:rPr>
              <a:t>Semana 16: PFC — especificación ERS completo, coherencia de modelos UML y preparación de la defensa</a:t>
            </a:r>
            <a:endParaRPr lang="en-US" sz="1800" dirty="0"/>
          </a:p>
        </p:txBody>
      </p:sp>
      <p:sp>
        <p:nvSpPr>
          <p:cNvPr id="8" name="Text 6"/>
          <p:cNvSpPr txBox="1"/>
          <p:nvPr/>
        </p:nvSpPr>
        <p:spPr>
          <a:xfrm>
            <a:off x="347472" y="6217920"/>
            <a:ext cx="11430000" cy="36576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ISR-401 · Ingeniería de Requisitos · UTEQ</a:t>
            </a:r>
            <a:endParaRPr lang="en-US" sz="1200" dirty="0"/>
          </a:p>
        </p:txBody>
      </p:sp>
      <p:sp>
        <p:nvSpPr>
          <p:cNvPr id="9" name="Text 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2026-10-28T12:04:29Z</dcterms:created>
  <dcterms:modified xsi:type="dcterms:W3CDTF">2026-10-28T12:04:29Z</dcterms:modified>
</cp:coreProperties>
</file>