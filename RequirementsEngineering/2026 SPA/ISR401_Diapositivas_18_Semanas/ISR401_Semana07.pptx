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Los 3 tipos de artefactos son: documentos de definición (para comunicar con el cliente), documentos de especificación (para el equipo técnico) y documentos del sistema (para mantenimiento). El continuum de formalidad va de nota informal → historia de usuario → caso de uso → ERS/IEEE 29148. La elección del nivel de formalidad depende del tipo de contrato y del riesgo del proyecto.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Femmer et al. (2015) identificaron estos 8 smells en un estudio de ERS industriales. El smell más frecuente es el múltiple (un requisito = una sola cosa). Para el PFC, el equipo debe aplicar este checklist a cada RF antes de la entrega del ERS. Un RF que supera los 8 criterios y tiene criterio de aceptación GWT es un RF bien escrito.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EARS (Mavin et al. 2009) es el estándar recomendado por el IREB para redactar requisitos. El patrón orientado a evento es el más usado para RF: "CUANDO el ganadero registra el peso del bovino, el sistema SHALL validar que el peso sea mayor a 0 kg y menor a 1.500 kg". El patrón unwanted behavior es fundamental para los casos de error: "SI la conexión con el servidor se pierde durante el registro, ENTONCES el sistema SHALL almacenar los datos en modo offline y sincronizar al recuperar la conexión".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IEEE 29148:2018 es el estándar más completo para atributos de requisito. El "fit criterion" de Volere es especialmente valioso para RNF: convierte "el sistema debe ser rápido" en "el 95 % de las consultas deben responder en menos de 2 segundos bajo carga de 500 usuarios concurrentes". Para el PFC, los 10 RF más prioritarios deben tener todos los atributos completos.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semana 7 es el núcleo de la calidad documental del ERS. Sin EARS y sin criterios GWT, el ERS es un conjunto de deseos — no de requisitos verificables.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3B7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C8960C"/>
          </a:solidFill>
          <a:ln w="12700">
            <a:solidFill>
              <a:srgbClr val="C8960C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347472" y="365760"/>
            <a:ext cx="11430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C8960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Semana 7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347472" y="1097280"/>
            <a:ext cx="1143000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Documentación de requisitos</a:t>
            </a:r>
            <a:endParaRPr lang="en-US" sz="4000" dirty="0"/>
          </a:p>
        </p:txBody>
      </p:sp>
      <p:sp>
        <p:nvSpPr>
          <p:cNvPr id="5" name="Text 3"/>
          <p:cNvSpPr txBox="1"/>
          <p:nvPr/>
        </p:nvSpPr>
        <p:spPr>
          <a:xfrm>
            <a:off x="347472" y="3749040"/>
            <a:ext cx="11430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D6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Tema 8 — Artefactos, EARS, atributos IEEE 29148 y criterios de aceptación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347472" y="4663440"/>
            <a:ext cx="11430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896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Unidad 3: Especificación de Requisitos (ERS)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347472" y="6126480"/>
            <a:ext cx="11430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6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ISR-401 · Ingeniería de Requisitos · UTEQ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1704320" y="649224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C896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3B7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C8960C"/>
          </a:solidFill>
          <a:ln w="12700">
            <a:solidFill>
              <a:srgbClr val="C8960C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347472" y="256032"/>
            <a:ext cx="11430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896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PLANIFICACIÓN DE LA CLASE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347472" y="749808"/>
            <a:ext cx="11430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¿Qué haremos hoy?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347472" y="1554480"/>
            <a:ext cx="3703320" cy="2057400"/>
          </a:xfrm>
          <a:prstGeom prst="roundRect">
            <a:avLst>
              <a:gd name="adj" fmla="val 3556"/>
            </a:avLst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57200" y="1645920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8960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2029968"/>
            <a:ext cx="3520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Propósito y artefactos (20 min)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2487168"/>
            <a:ext cx="3520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6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propósitos · 3 tipos de artefactos · continuum de formalidad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187952" y="1554480"/>
            <a:ext cx="3703320" cy="2057400"/>
          </a:xfrm>
          <a:prstGeom prst="roundRect">
            <a:avLst>
              <a:gd name="adj" fmla="val 3556"/>
            </a:avLst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297680" y="1645920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8960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 dirty="0"/>
          </a:p>
        </p:txBody>
      </p:sp>
      <p:sp>
        <p:nvSpPr>
          <p:cNvPr id="11" name="Text 9"/>
          <p:cNvSpPr txBox="1"/>
          <p:nvPr/>
        </p:nvSpPr>
        <p:spPr>
          <a:xfrm>
            <a:off x="4297680" y="2029968"/>
            <a:ext cx="3520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Ambigüedad y EARS (35 min)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4297680" y="2487168"/>
            <a:ext cx="3520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6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tipos de ambigüedad · 8 smells · 5 patrones EARS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028432" y="1554480"/>
            <a:ext cx="3703320" cy="2057400"/>
          </a:xfrm>
          <a:prstGeom prst="roundRect">
            <a:avLst>
              <a:gd name="adj" fmla="val 3556"/>
            </a:avLst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138160" y="1645920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8960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200" dirty="0"/>
          </a:p>
        </p:txBody>
      </p:sp>
      <p:sp>
        <p:nvSpPr>
          <p:cNvPr id="15" name="Text 13"/>
          <p:cNvSpPr txBox="1"/>
          <p:nvPr/>
        </p:nvSpPr>
        <p:spPr>
          <a:xfrm>
            <a:off x="8138160" y="2029968"/>
            <a:ext cx="3520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Atributos y Volere (30 min)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8138160" y="2487168"/>
            <a:ext cx="3520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6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atributos IEEE 29148 · ficha Volere · fit criterion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47472" y="3749040"/>
            <a:ext cx="3703320" cy="2057400"/>
          </a:xfrm>
          <a:prstGeom prst="roundRect">
            <a:avLst>
              <a:gd name="adj" fmla="val 3556"/>
            </a:avLst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457200" y="3840480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8960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200" dirty="0"/>
          </a:p>
        </p:txBody>
      </p:sp>
      <p:sp>
        <p:nvSpPr>
          <p:cNvPr id="19" name="Text 17"/>
          <p:cNvSpPr txBox="1"/>
          <p:nvPr/>
        </p:nvSpPr>
        <p:spPr>
          <a:xfrm>
            <a:off x="457200" y="4224528"/>
            <a:ext cx="3520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Criterios aceptación (15 min)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457200" y="4681728"/>
            <a:ext cx="3520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6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GWT · métricas de calidad del proceso IR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187952" y="3749040"/>
            <a:ext cx="3703320" cy="2057400"/>
          </a:xfrm>
          <a:prstGeom prst="roundRect">
            <a:avLst>
              <a:gd name="adj" fmla="val 3556"/>
            </a:avLst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4297680" y="3840480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8960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200" dirty="0"/>
          </a:p>
        </p:txBody>
      </p:sp>
      <p:sp>
        <p:nvSpPr>
          <p:cNvPr id="23" name="Text 21"/>
          <p:cNvSpPr txBox="1"/>
          <p:nvPr/>
        </p:nvSpPr>
        <p:spPr>
          <a:xfrm>
            <a:off x="4297680" y="4224528"/>
            <a:ext cx="3520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PE-7 (60 min)</a:t>
            </a:r>
            <a:endParaRPr lang="en-US" sz="1500" dirty="0"/>
          </a:p>
        </p:txBody>
      </p:sp>
      <p:sp>
        <p:nvSpPr>
          <p:cNvPr id="24" name="Text 22"/>
          <p:cNvSpPr txBox="1"/>
          <p:nvPr/>
        </p:nvSpPr>
        <p:spPr>
          <a:xfrm>
            <a:off x="4297680" y="4681728"/>
            <a:ext cx="3520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6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Identificar smells + reescribir en EARS + criterios GWT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11704320" y="649224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C896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2F5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0D3B72"/>
          </a:solidFill>
          <a:ln w="12700">
            <a:solidFill>
              <a:srgbClr val="0D3B7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C8960C"/>
          </a:solidFill>
          <a:ln w="12700">
            <a:solidFill>
              <a:srgbClr val="C8960C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347472" y="164592"/>
            <a:ext cx="115214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Los 4 propósitos de la documentación de requisitos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261872"/>
            <a:ext cx="11430000" cy="5212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spcAft>
                <a:spcPts val="600"/>
              </a:spcAft>
            </a:pPr>
            <a:r>
              <a:rPr lang="en-US" sz="2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COMUNICAR: alinear la comprensión entre cliente, analista y equipo de desarrollo</a:t>
            </a:r>
            <a:endParaRPr lang="en-US" sz="2000" dirty="0"/>
          </a:p>
          <a:p>
            <a:pPr>
              <a:spcAft>
                <a:spcPts val="600"/>
              </a:spcAft>
            </a:pPr>
            <a:r>
              <a:rPr lang="en-US" sz="2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COMPROMETER: el ERS aprobado es un contrato — base legal para aceptar o rechazar el sistema</a:t>
            </a:r>
            <a:endParaRPr lang="en-US" sz="2000" dirty="0"/>
          </a:p>
          <a:p>
            <a:pPr>
              <a:spcAft>
                <a:spcPts val="600"/>
              </a:spcAft>
            </a:pPr>
            <a:r>
              <a:rPr lang="en-US" sz="2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CONTROLAR: verificar que el sistema construido implementa exactamente los requisitos acordados</a:t>
            </a:r>
            <a:endParaRPr lang="en-US" sz="2000" dirty="0"/>
          </a:p>
          <a:p>
            <a:pPr>
              <a:spcAft>
                <a:spcPts val="600"/>
              </a:spcAft>
            </a:pPr>
            <a:r>
              <a:rPr lang="en-US" sz="2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CONSERVAR: memoria institucional — un nuevo miembro del equipo puede entender el sistema sin hablar con nadie</a:t>
            </a:r>
            <a:endParaRPr lang="en-US" sz="2000" dirty="0"/>
          </a:p>
          <a:p>
            <a:pPr lvl="1">
              <a:spcAft>
                <a:spcPts val="600"/>
              </a:spcAft>
            </a:pPr>
            <a:r>
              <a:rPr lang="en-US" sz="16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documentación, el conocimiento del sistema vive solo en las cabezas — y las personas renuncian</a:t>
            </a:r>
            <a:endParaRPr lang="en-US" sz="2000" dirty="0"/>
          </a:p>
        </p:txBody>
      </p:sp>
      <p:sp>
        <p:nvSpPr>
          <p:cNvPr id="7" name="Text 4"/>
          <p:cNvSpPr txBox="1"/>
          <p:nvPr/>
        </p:nvSpPr>
        <p:spPr>
          <a:xfrm>
            <a:off x="11704320" y="649224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C896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2F5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0D3B72"/>
          </a:solidFill>
          <a:ln w="12700">
            <a:solidFill>
              <a:srgbClr val="0D3B7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C8960C"/>
          </a:solidFill>
          <a:ln w="12700">
            <a:solidFill>
              <a:srgbClr val="C8960C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347472" y="164592"/>
            <a:ext cx="115214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Requirement smells — los 8 indicadores de Femmer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261872"/>
            <a:ext cx="11430000" cy="5212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spcAft>
                <a:spcPts val="600"/>
              </a:spcAft>
            </a:pPr>
            <a:r>
              <a:rPr lang="en-US" sz="2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SUBJETIVIDAD: "fácil de usar", "rápido", "moderno" — sin métrica</a:t>
            </a:r>
            <a:endParaRPr lang="en-US" sz="2000" dirty="0"/>
          </a:p>
          <a:p>
            <a:pPr>
              <a:spcAft>
                <a:spcPts val="600"/>
              </a:spcAft>
            </a:pPr>
            <a:r>
              <a:rPr lang="en-US" sz="2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COMPARACIÓN SIN REFERENTE: "más rápido que el sistema actual" — ¿cuánto más?</a:t>
            </a:r>
            <a:endParaRPr lang="en-US" sz="2000" dirty="0"/>
          </a:p>
          <a:p>
            <a:pPr>
              <a:spcAft>
                <a:spcPts val="600"/>
              </a:spcAft>
            </a:pPr>
            <a:r>
              <a:rPr lang="en-US" sz="2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SUPERLATIVOS ABSOLUTOS: "el más rápido", "siempre", "nunca" — imposibles de probar</a:t>
            </a:r>
            <a:endParaRPr lang="en-US" sz="2000" dirty="0"/>
          </a:p>
          <a:p>
            <a:pPr>
              <a:spcAft>
                <a:spcPts val="600"/>
              </a:spcAft>
            </a:pPr>
            <a:r>
              <a:rPr lang="en-US" sz="2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VAGUEDAD: "el sistema debe manejar correctamente los errores"</a:t>
            </a:r>
            <a:endParaRPr lang="en-US" sz="2000" dirty="0"/>
          </a:p>
          <a:p>
            <a:pPr>
              <a:spcAft>
                <a:spcPts val="600"/>
              </a:spcAft>
            </a:pPr>
            <a:r>
              <a:rPr lang="en-US" sz="2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ESCAPATORIA: "cuando sea posible", "si el tiempo lo permite"</a:t>
            </a:r>
            <a:endParaRPr lang="en-US" sz="2000" dirty="0"/>
          </a:p>
          <a:p>
            <a:pPr>
              <a:spcAft>
                <a:spcPts val="600"/>
              </a:spcAft>
            </a:pPr>
            <a:r>
              <a:rPr lang="en-US" sz="2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INFINITIVO PASIVO: "la información deberá ser procesada" — ¿por quién?</a:t>
            </a:r>
            <a:endParaRPr lang="en-US" sz="2000" dirty="0"/>
          </a:p>
          <a:p>
            <a:pPr>
              <a:spcAft>
                <a:spcPts val="600"/>
              </a:spcAft>
            </a:pPr>
            <a:r>
              <a:rPr lang="en-US" sz="2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MÚLTIPLE: un requisito que incluye "y" o "o" tiene dos requisitos mezclados</a:t>
            </a:r>
            <a:endParaRPr lang="en-US" sz="2000" dirty="0"/>
          </a:p>
          <a:p>
            <a:pPr>
              <a:spcAft>
                <a:spcPts val="600"/>
              </a:spcAft>
            </a:pPr>
            <a:r>
              <a:rPr lang="en-US" sz="2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 NO VERIFICABLE: no existe una prueba posible que confirme su cumplimiento</a:t>
            </a:r>
            <a:endParaRPr lang="en-US" sz="2000" dirty="0"/>
          </a:p>
        </p:txBody>
      </p:sp>
      <p:sp>
        <p:nvSpPr>
          <p:cNvPr id="7" name="Text 4"/>
          <p:cNvSpPr txBox="1"/>
          <p:nvPr/>
        </p:nvSpPr>
        <p:spPr>
          <a:xfrm>
            <a:off x="11704320" y="649224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C896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2F5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0D3B72"/>
          </a:solidFill>
          <a:ln w="12700">
            <a:solidFill>
              <a:srgbClr val="0D3B7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C8960C"/>
          </a:solidFill>
          <a:ln w="12700">
            <a:solidFill>
              <a:srgbClr val="C8960C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347472" y="164592"/>
            <a:ext cx="115214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Plantilla EARS — Easy Approach to Requirements Syntax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261872"/>
            <a:ext cx="11430000" cy="5212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spcAft>
                <a:spcPts val="600"/>
              </a:spcAft>
            </a:pPr>
            <a:r>
              <a:rPr lang="en-US" sz="2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UBIQUO: "El sistema SHALL [acción]" — requisito sin condición</a:t>
            </a:r>
            <a:endParaRPr lang="en-US" sz="2000" dirty="0"/>
          </a:p>
          <a:p>
            <a:pPr>
              <a:spcAft>
                <a:spcPts val="600"/>
              </a:spcAft>
            </a:pPr>
            <a:r>
              <a:rPr lang="en-US" sz="2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ORIENTADO A EVENTO: "CUANDO [trigger] el sistema SHALL [respuesta]"</a:t>
            </a:r>
            <a:endParaRPr lang="en-US" sz="2000" dirty="0"/>
          </a:p>
          <a:p>
            <a:pPr>
              <a:spcAft>
                <a:spcPts val="600"/>
              </a:spcAft>
            </a:pPr>
            <a:r>
              <a:rPr lang="en-US" sz="2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ORIENTADO A ESTADO: "MIENTRAS [estado] el sistema SHALL [comportamiento]"</a:t>
            </a:r>
            <a:endParaRPr lang="en-US" sz="2000" dirty="0"/>
          </a:p>
          <a:p>
            <a:pPr>
              <a:spcAft>
                <a:spcPts val="600"/>
              </a:spcAft>
            </a:pPr>
            <a:r>
              <a:rPr lang="en-US" sz="2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OPCIONAL: "DONDE [característica opcional] el sistema SHALL [función]"</a:t>
            </a:r>
            <a:endParaRPr lang="en-US" sz="2000" dirty="0"/>
          </a:p>
          <a:p>
            <a:pPr>
              <a:spcAft>
                <a:spcPts val="600"/>
              </a:spcAft>
            </a:pPr>
            <a:r>
              <a:rPr lang="en-US" sz="2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UNWANTED BEHAVIOR: "SI [condición no deseada] ENTONCES el sistema SHALL [manejo]"</a:t>
            </a:r>
            <a:endParaRPr lang="en-US" sz="2000" dirty="0"/>
          </a:p>
          <a:p>
            <a:pPr lvl="1">
              <a:spcAft>
                <a:spcPts val="600"/>
              </a:spcAft>
            </a:pPr>
            <a:r>
              <a:rPr lang="en-US" sz="16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EARS elimina la ambigüedad estructural: el patrón fuerza a especificar condición y respuesta de forma explícita</a:t>
            </a:r>
            <a:endParaRPr lang="en-US" sz="2000" dirty="0"/>
          </a:p>
        </p:txBody>
      </p:sp>
      <p:sp>
        <p:nvSpPr>
          <p:cNvPr id="7" name="Text 4"/>
          <p:cNvSpPr txBox="1"/>
          <p:nvPr/>
        </p:nvSpPr>
        <p:spPr>
          <a:xfrm>
            <a:off x="11704320" y="649224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C896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2F5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0D3B72"/>
          </a:solidFill>
          <a:ln w="12700">
            <a:solidFill>
              <a:srgbClr val="0D3B7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C8960C"/>
          </a:solidFill>
          <a:ln w="12700">
            <a:solidFill>
              <a:srgbClr val="C8960C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347472" y="164592"/>
            <a:ext cx="115214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Los 10 atributos de requisito — IEEE 29148:2018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261872"/>
            <a:ext cx="11430000" cy="5212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spcAft>
                <a:spcPts val="600"/>
              </a:spcAft>
            </a:pPr>
            <a:r>
              <a:rPr lang="en-US" sz="2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ID único  2. Título  3. Enunciado (EARS)  4. Razón (por qué)  5. Criterio de aceptación (GWT)</a:t>
            </a:r>
            <a:endParaRPr lang="en-US" sz="2000" dirty="0"/>
          </a:p>
          <a:p>
            <a:pPr>
              <a:spcAft>
                <a:spcPts val="600"/>
              </a:spcAft>
            </a:pPr>
            <a:r>
              <a:rPr lang="en-US" sz="2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Prioridad (MoSCoW)  7. Estabilidad (probabilidad de cambio)  8. Origen (stakeholder)</a:t>
            </a:r>
            <a:endParaRPr lang="en-US" sz="2000" dirty="0"/>
          </a:p>
          <a:p>
            <a:pPr>
              <a:spcAft>
                <a:spcPts val="600"/>
              </a:spcAft>
            </a:pPr>
            <a:r>
              <a:rPr lang="en-US" sz="2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 Trazabilidad (IDs de meta/CU/prueba vinculados)  10. Estado (borrador/aprobado/rechazado)</a:t>
            </a:r>
            <a:endParaRPr lang="en-US" sz="2000" dirty="0"/>
          </a:p>
          <a:p>
            <a:pPr>
              <a:spcAft>
                <a:spcPts val="600"/>
              </a:spcAft>
            </a:pPr>
            <a:r>
              <a:rPr lang="en-US" sz="2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ficha Volere añade: fit criterion (medida de aceptación cuantitativa) + restricciones de diseño</a:t>
            </a:r>
            <a:endParaRPr lang="en-US" sz="2000" dirty="0"/>
          </a:p>
          <a:p>
            <a:pPr lvl="1">
              <a:spcAft>
                <a:spcPts val="600"/>
              </a:spcAft>
            </a:pPr>
            <a:r>
              <a:rPr lang="en-US" sz="16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la práctica: al menos ID, enunciado, criterio de aceptación y trazabilidad son no negociables en el PFC</a:t>
            </a:r>
            <a:endParaRPr lang="en-US" sz="2000" dirty="0"/>
          </a:p>
        </p:txBody>
      </p:sp>
      <p:sp>
        <p:nvSpPr>
          <p:cNvPr id="7" name="Text 4"/>
          <p:cNvSpPr txBox="1"/>
          <p:nvPr/>
        </p:nvSpPr>
        <p:spPr>
          <a:xfrm>
            <a:off x="11704320" y="649224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C896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2F5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0D3B72"/>
          </a:solidFill>
          <a:ln w="12700">
            <a:solidFill>
              <a:srgbClr val="0D3B7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C8960C"/>
          </a:solidFill>
          <a:ln w="12700">
            <a:solidFill>
              <a:srgbClr val="C8960C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347472" y="164592"/>
            <a:ext cx="115214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Mapa síntesis — Semana 7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47472" y="1261872"/>
            <a:ext cx="3200400" cy="1252728"/>
          </a:xfrm>
          <a:prstGeom prst="rect">
            <a:avLst/>
          </a:prstGeom>
          <a:solidFill>
            <a:srgbClr val="0D3B72"/>
          </a:solidFill>
          <a:ln w="12700">
            <a:solidFill>
              <a:srgbClr val="0D3B7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38912" y="1307592"/>
            <a:ext cx="3017520" cy="11612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8.1 Propósito y artefactos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3584448" y="1261872"/>
            <a:ext cx="4297680" cy="1252728"/>
          </a:xfrm>
          <a:prstGeom prst="rect">
            <a:avLst/>
          </a:prstGeom>
          <a:solidFill>
            <a:srgbClr val="FFFFFF"/>
          </a:solidFill>
          <a:ln w="12700">
            <a:solidFill>
              <a:srgbClr val="D6E4F7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675888" y="1307592"/>
            <a:ext cx="4114800" cy="11612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propósitos; 3 tipos; continuum formalidad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7918704" y="1261872"/>
            <a:ext cx="3913632" cy="1252728"/>
          </a:xfrm>
          <a:prstGeom prst="rect">
            <a:avLst/>
          </a:prstGeom>
          <a:solidFill>
            <a:srgbClr val="FFFFFF"/>
          </a:solidFill>
          <a:ln w="12700">
            <a:solidFill>
              <a:srgbClr val="D6E4F7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010144" y="1307592"/>
            <a:ext cx="3730752" cy="11612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Clasificar artefactos del hito 1 en la taxonomía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347472" y="2587752"/>
            <a:ext cx="3200400" cy="1252728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38912" y="2633472"/>
            <a:ext cx="3017520" cy="11612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8.2 Formatos y precisión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3584448" y="2587752"/>
            <a:ext cx="4297680" cy="1252728"/>
          </a:xfrm>
          <a:prstGeom prst="rect">
            <a:avLst/>
          </a:prstGeom>
          <a:solidFill>
            <a:srgbClr val="FFFFFF"/>
          </a:solidFill>
          <a:ln w="12700">
            <a:solidFill>
              <a:srgbClr val="D6E4F7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3675888" y="2633472"/>
            <a:ext cx="4114800" cy="11612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tipos ambigüedad; 8 smells; 5 patrones EARS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7918704" y="2587752"/>
            <a:ext cx="3913632" cy="1252728"/>
          </a:xfrm>
          <a:prstGeom prst="rect">
            <a:avLst/>
          </a:prstGeom>
          <a:solidFill>
            <a:srgbClr val="FFFFFF"/>
          </a:solidFill>
          <a:ln w="12700">
            <a:solidFill>
              <a:srgbClr val="D6E4F7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010144" y="2633472"/>
            <a:ext cx="3730752" cy="11612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Reescribir los 5 RF prioritarios del PFC en EARS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347472" y="3913632"/>
            <a:ext cx="3200400" cy="1252728"/>
          </a:xfrm>
          <a:prstGeom prst="rect">
            <a:avLst/>
          </a:prstGeom>
          <a:solidFill>
            <a:srgbClr val="0D3B72"/>
          </a:solidFill>
          <a:ln w="12700">
            <a:solidFill>
              <a:srgbClr val="0D3B72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438912" y="3959352"/>
            <a:ext cx="3017520" cy="11612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8.3 Atributos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3584448" y="3913632"/>
            <a:ext cx="4297680" cy="1252728"/>
          </a:xfrm>
          <a:prstGeom prst="rect">
            <a:avLst/>
          </a:prstGeom>
          <a:solidFill>
            <a:srgbClr val="FFFFFF"/>
          </a:solidFill>
          <a:ln w="12700">
            <a:solidFill>
              <a:srgbClr val="D6E4F7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3675888" y="3959352"/>
            <a:ext cx="4114800" cy="11612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atributos IEEE 29148; ficha Volere; fit criterion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7918704" y="3913632"/>
            <a:ext cx="3913632" cy="1252728"/>
          </a:xfrm>
          <a:prstGeom prst="rect">
            <a:avLst/>
          </a:prstGeom>
          <a:solidFill>
            <a:srgbClr val="FFFFFF"/>
          </a:solidFill>
          <a:ln w="12700">
            <a:solidFill>
              <a:srgbClr val="D6E4F7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8010144" y="3959352"/>
            <a:ext cx="3730752" cy="11612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Fichas completas de los 10 RF/RNF prioritarios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347472" y="5239512"/>
            <a:ext cx="3200400" cy="1252728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438912" y="5285232"/>
            <a:ext cx="3017520" cy="11612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8.4 Calidad y aceptación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3584448" y="5239512"/>
            <a:ext cx="4297680" cy="1252728"/>
          </a:xfrm>
          <a:prstGeom prst="rect">
            <a:avLst/>
          </a:prstGeom>
          <a:solidFill>
            <a:srgbClr val="FFFFFF"/>
          </a:solidFill>
          <a:ln w="12700">
            <a:solidFill>
              <a:srgbClr val="D6E4F7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3675888" y="5285232"/>
            <a:ext cx="4114800" cy="11612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GWT; métricas de calidad del proceso</a:t>
            </a:r>
            <a:endParaRPr lang="en-US" sz="1500" dirty="0"/>
          </a:p>
        </p:txBody>
      </p:sp>
      <p:sp>
        <p:nvSpPr>
          <p:cNvPr id="27" name="Shape 25"/>
          <p:cNvSpPr/>
          <p:nvPr/>
        </p:nvSpPr>
        <p:spPr>
          <a:xfrm>
            <a:off x="7918704" y="5239512"/>
            <a:ext cx="3913632" cy="1252728"/>
          </a:xfrm>
          <a:prstGeom prst="rect">
            <a:avLst/>
          </a:prstGeom>
          <a:solidFill>
            <a:srgbClr val="FFFFFF"/>
          </a:solidFill>
          <a:ln w="12700">
            <a:solidFill>
              <a:srgbClr val="D6E4F7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8010144" y="5285232"/>
            <a:ext cx="3730752" cy="11612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3+ criterios de aceptación GWT; tabla métricas</a:t>
            </a:r>
            <a:endParaRPr lang="en-US" sz="1400" dirty="0"/>
          </a:p>
        </p:txBody>
      </p:sp>
      <p:sp>
        <p:nvSpPr>
          <p:cNvPr id="30" name="Text 27"/>
          <p:cNvSpPr txBox="1"/>
          <p:nvPr/>
        </p:nvSpPr>
        <p:spPr>
          <a:xfrm>
            <a:off x="11704320" y="649224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C896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3B7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C8960C"/>
          </a:solidFill>
          <a:ln w="12700">
            <a:solidFill>
              <a:srgbClr val="C8960C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347472" y="457200"/>
            <a:ext cx="11430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896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Semana 7 — Síntesis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347472" y="1188720"/>
            <a:ext cx="1143000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 requisito sin criterio de aceptación no es un requisito — es una promesa incumplible.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347472" y="4389120"/>
            <a:ext cx="11430000" cy="1005840"/>
          </a:xfrm>
          <a:prstGeom prst="rect">
            <a:avLst/>
          </a:prstGeom>
          <a:solidFill>
            <a:srgbClr val="C8960C"/>
          </a:solidFill>
          <a:ln w="12700">
            <a:solidFill>
              <a:srgbClr val="C8960C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02920" y="4462272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3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PRÓXIMO PASO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502920" y="475488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D3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Semana 8: el documento ERS/SRS completo — estructura IEEE 29148, verbos modales e integración UML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347472" y="6217920"/>
            <a:ext cx="11430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6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ISR-401 · Ingeniería de Requisitos · UTEQ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11704320" y="649224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C896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2026-10-28T11:59:21Z</dcterms:created>
  <dcterms:modified xsi:type="dcterms:W3CDTF">2026-10-28T11:59:21Z</dcterms:modified>
</cp:coreProperties>
</file>