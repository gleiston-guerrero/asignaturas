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protocolo de defensa simula una presentación profesional real: contrato de alcance con el cliente, revisión de entregables, sesión de preguntas. Las preguntas del tribunal están diseñadas para verificar que el equipo entiende lo que presentó — no para sorprenderlos. Las 10 preguntas más frecuentes del tribunal son: ¿por qué eligieron este dominio?, ¿cómo validaron los requisitos con el usuario real?, ¿qué cambió entre la primera entrevista y el ERS final?, ¿cuál fue el RF más difícil de especificar y por qué?, ¿cómo resolverían conflictos entre stakeholders con prioridades diferentes?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pregunta tiene una respuesta esperada específica. La pregunta 3 busca evidencia de elicitación creativa (no solo preguntar lo que el cliente pide). La pregunta 5 busca evidencia de uso de técnicas de negociación (no "todos acordamos"). La pregunta 7 busca el fit criterion del RNF (si el estudiante dice "probando el sistema", no tiene RNF verificable). La pregunta 10 busca el proceso CCB (si el estudiante dice "lo agregamos", no entiende la gestión de requisitos).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10 lecciones son las que los ingenieros de software con 10+ años de experiencia reportan como las más valiosas de su carrera. La lección 1 resume el valor del dominio: técnicas como prototipado, observación etnográfica e historias de escenario sirven para descubrir lo que el cliente necesita pero no puede articular. La lección 10 es el cierre del semestre: el PFC fue un contexto controlado para aprender — el mundo real tiene más stakeholders, más incertidumbre y más presión, pero los mismos principios aplican.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IREB CPRE Foundation Level cubre exactamente los contenidos de ISR-401: elicitación, documentación, validación y gestión de requisitos. Los estudiantes que superen el semestre con nota ≥ 7/10 tienen las bases para presentar el examen CPRE Foundation sin estudio adicional significativo. El examen tiene 45 preguntas de opción múltiple en 75 minutos, con un umbral de aprobación del 70 %. El costo del voucher es aproximadamente $150 USD. La certificación tiene validez internacional y es reconocida en industrias de tecnología, banca y telecomunicaciones.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semestre cubrió los 5 procesos de la IR según SWEBOK v4: elicitación, análisis, especificación, validación y gestión. Cada unidad construyó sobre la anterior. El PFC integró todos los procesos en un proyecto real con stakeholders reales. Esta integración es exactamente lo que distingue un ingeniero de software que entiende la IR de uno que solo conoce los conceptos.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última diapositiva del semestre. Dar un minuto de pausa antes de pronunciarla. La frase central es intencionalmente desafiante: el examen real no es el parcial ni la defensa — es el primer proyecto profesional donde las decisiones tienen consecuencias reales. Mencionar que los estándares en el footer (IREB, SWEBOK, IEEE 29148, ISO 25010) son las referencias que usarán toda su carrera. Despedirse con energía, no con tristeza: terminar un semestre difícil es una victoria.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365760"/>
            <a:ext cx="11430000" cy="914400"/>
          </a:xfrm>
          <a:prstGeom prst="rect">
            <a:avLst/>
          </a:prstGeom>
          <a:noFill/>
          <a:ln/>
        </p:spPr>
        <p:txBody>
          <a:bodyPr wrap="square" lIns="0" tIns="0" rIns="0" bIns="0" rtlCol="0" anchor="ctr"/>
          <a:lstStyle/>
          <a:p>
            <a:pPr indent="0" marL="0">
              <a:buNone/>
            </a:pPr>
            <a:r>
              <a:rPr lang="en-US" sz="2200" dirty="0">
                <a:solidFill>
                  <a:srgbClr val="C8960C"/>
                </a:solidFill>
                <a:latin typeface="Cambria" pitchFamily="34" charset="0"/>
                <a:ea typeface="Cambria" pitchFamily="34" charset="-122"/>
                <a:cs typeface="Cambria" pitchFamily="34" charset="-120"/>
              </a:rPr>
              <a:t>Semana 18</a:t>
            </a:r>
            <a:endParaRPr lang="en-US" sz="2200" dirty="0"/>
          </a:p>
        </p:txBody>
      </p:sp>
      <p:sp>
        <p:nvSpPr>
          <p:cNvPr id="4" name="Text 2"/>
          <p:cNvSpPr txBox="1"/>
          <p:nvPr/>
        </p:nvSpPr>
        <p:spPr>
          <a:xfrm>
            <a:off x="347472" y="1097280"/>
            <a:ext cx="11430000" cy="25603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Defensa formal y cierre del semestre</a:t>
            </a:r>
            <a:endParaRPr lang="en-US" sz="4000" dirty="0"/>
          </a:p>
        </p:txBody>
      </p:sp>
      <p:sp>
        <p:nvSpPr>
          <p:cNvPr id="5" name="Text 3"/>
          <p:cNvSpPr txBox="1"/>
          <p:nvPr/>
        </p:nvSpPr>
        <p:spPr>
          <a:xfrm>
            <a:off x="347472" y="3749040"/>
            <a:ext cx="11430000" cy="822960"/>
          </a:xfrm>
          <a:prstGeom prst="rect">
            <a:avLst/>
          </a:prstGeom>
          <a:noFill/>
          <a:ln/>
        </p:spPr>
        <p:txBody>
          <a:bodyPr wrap="square" lIns="0" tIns="0" rIns="0" bIns="0" rtlCol="0" anchor="ctr"/>
          <a:lstStyle/>
          <a:p>
            <a:pPr indent="0" marL="0">
              <a:buNone/>
            </a:pPr>
            <a:r>
              <a:rPr lang="en-US" sz="2000" dirty="0">
                <a:solidFill>
                  <a:srgbClr val="D6E4F7"/>
                </a:solidFill>
                <a:latin typeface="Calibri" pitchFamily="34" charset="0"/>
                <a:ea typeface="Calibri" pitchFamily="34" charset="-122"/>
                <a:cs typeface="Calibri" pitchFamily="34" charset="-120"/>
              </a:rPr>
              <a:t>Semana 18 — Protocolo de sesión, tribunal, coevaluación, reflexión final y 10 lecciones de IR</a:t>
            </a:r>
            <a:endParaRPr lang="en-US" sz="2000" dirty="0"/>
          </a:p>
        </p:txBody>
      </p:sp>
      <p:sp>
        <p:nvSpPr>
          <p:cNvPr id="6" name="Text 4"/>
          <p:cNvSpPr txBox="1"/>
          <p:nvPr/>
        </p:nvSpPr>
        <p:spPr>
          <a:xfrm>
            <a:off x="347472" y="4663440"/>
            <a:ext cx="11430000" cy="548640"/>
          </a:xfrm>
          <a:prstGeom prst="rect">
            <a:avLst/>
          </a:prstGeom>
          <a:noFill/>
          <a:ln/>
        </p:spPr>
        <p:txBody>
          <a:bodyPr wrap="square" lIns="0" tIns="0" rIns="0" bIns="0" rtlCol="0" anchor="ctr"/>
          <a:lstStyle/>
          <a:p>
            <a:pPr indent="0" marL="0">
              <a:buNone/>
            </a:pPr>
            <a:r>
              <a:rPr lang="en-US" sz="1600" dirty="0">
                <a:solidFill>
                  <a:srgbClr val="C8960C"/>
                </a:solidFill>
                <a:latin typeface="Calibri" pitchFamily="34" charset="0"/>
                <a:ea typeface="Calibri" pitchFamily="34" charset="-122"/>
                <a:cs typeface="Calibri" pitchFamily="34" charset="-120"/>
              </a:rPr>
              <a:t>Unidad 5: IR Avanzada y PFC — Cierre ISR-401</a:t>
            </a:r>
            <a:endParaRPr lang="en-US" sz="1600" dirty="0"/>
          </a:p>
        </p:txBody>
      </p:sp>
      <p:sp>
        <p:nvSpPr>
          <p:cNvPr id="7" name="Text 5"/>
          <p:cNvSpPr txBox="1"/>
          <p:nvPr/>
        </p:nvSpPr>
        <p:spPr>
          <a:xfrm>
            <a:off x="347472" y="6126480"/>
            <a:ext cx="11430000" cy="457200"/>
          </a:xfrm>
          <a:prstGeom prst="rect">
            <a:avLst/>
          </a:prstGeom>
          <a:noFill/>
          <a:ln/>
        </p:spPr>
        <p:txBody>
          <a:bodyPr wrap="square" lIns="0" tIns="0" rIns="0" bIns="0" rtlCol="0" anchor="ctr"/>
          <a:lstStyle/>
          <a:p>
            <a:pPr indent="0" marL="0">
              <a:buNone/>
            </a:pPr>
            <a:r>
              <a:rPr lang="en-US" sz="1300" dirty="0">
                <a:solidFill>
                  <a:srgbClr val="D6E4F7"/>
                </a:solidFill>
                <a:latin typeface="Calibri" pitchFamily="34" charset="0"/>
                <a:ea typeface="Calibri" pitchFamily="34" charset="-122"/>
                <a:cs typeface="Calibri" pitchFamily="34" charset="-120"/>
              </a:rPr>
              <a:t>ISR-401 · Ingeniería de Requisitos · UTEQ</a:t>
            </a:r>
            <a:endParaRPr lang="en-US" sz="1300" dirty="0"/>
          </a:p>
        </p:txBody>
      </p:sp>
      <p:sp>
        <p:nvSpPr>
          <p:cNvPr id="8" name="Text 6"/>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256032"/>
            <a:ext cx="11430000" cy="502920"/>
          </a:xfrm>
          <a:prstGeom prst="rect">
            <a:avLst/>
          </a:prstGeom>
          <a:noFill/>
          <a:ln/>
        </p:spPr>
        <p:txBody>
          <a:bodyPr wrap="square" lIns="0" tIns="0" rIns="0" bIns="0" rtlCol="0" anchor="ctr"/>
          <a:lstStyle/>
          <a:p>
            <a:pPr indent="0" marL="0">
              <a:buNone/>
            </a:pPr>
            <a:r>
              <a:rPr lang="en-US" sz="1300" b="1" dirty="0">
                <a:solidFill>
                  <a:srgbClr val="C8960C"/>
                </a:solidFill>
                <a:latin typeface="Calibri" pitchFamily="34" charset="0"/>
                <a:ea typeface="Calibri" pitchFamily="34" charset="-122"/>
                <a:cs typeface="Calibri" pitchFamily="34" charset="-120"/>
              </a:rPr>
              <a:t>PLANIFICACIÓN DE LA CLASE</a:t>
            </a:r>
            <a:endParaRPr lang="en-US" sz="1300" dirty="0"/>
          </a:p>
        </p:txBody>
      </p:sp>
      <p:sp>
        <p:nvSpPr>
          <p:cNvPr id="4" name="Text 2"/>
          <p:cNvSpPr txBox="1"/>
          <p:nvPr/>
        </p:nvSpPr>
        <p:spPr>
          <a:xfrm>
            <a:off x="347472" y="749808"/>
            <a:ext cx="11430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¿Qué haremos hoy?</a:t>
            </a:r>
            <a:endParaRPr lang="en-US" sz="3200" dirty="0"/>
          </a:p>
        </p:txBody>
      </p:sp>
      <p:sp>
        <p:nvSpPr>
          <p:cNvPr id="5" name="Shape 3"/>
          <p:cNvSpPr/>
          <p:nvPr/>
        </p:nvSpPr>
        <p:spPr>
          <a:xfrm>
            <a:off x="347472" y="1554480"/>
            <a:ext cx="3703320" cy="2057400"/>
          </a:xfrm>
          <a:prstGeom prst="roundRect">
            <a:avLst>
              <a:gd name="adj" fmla="val 3556"/>
            </a:avLst>
          </a:prstGeom>
          <a:solidFill>
            <a:srgbClr val="1565C0"/>
          </a:solidFill>
          <a:ln w="12700">
            <a:solidFill>
              <a:srgbClr val="1565C0"/>
            </a:solidFill>
            <a:prstDash val="solid"/>
          </a:ln>
        </p:spPr>
      </p:sp>
      <p:sp>
        <p:nvSpPr>
          <p:cNvPr id="6" name="Text 4"/>
          <p:cNvSpPr txBox="1"/>
          <p:nvPr/>
        </p:nvSpPr>
        <p:spPr>
          <a:xfrm>
            <a:off x="45720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45720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Protocolo de defensa (15 min)</a:t>
            </a:r>
            <a:endParaRPr lang="en-US" sz="1500" dirty="0"/>
          </a:p>
        </p:txBody>
      </p:sp>
      <p:sp>
        <p:nvSpPr>
          <p:cNvPr id="8" name="Text 6"/>
          <p:cNvSpPr txBox="1"/>
          <p:nvPr/>
        </p:nvSpPr>
        <p:spPr>
          <a:xfrm>
            <a:off x="45720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Roles del tribunal, orden de presentación, cronómetro</a:t>
            </a:r>
            <a:endParaRPr lang="en-US" sz="1200" dirty="0"/>
          </a:p>
        </p:txBody>
      </p:sp>
      <p:sp>
        <p:nvSpPr>
          <p:cNvPr id="9" name="Shape 7"/>
          <p:cNvSpPr/>
          <p:nvPr/>
        </p:nvSpPr>
        <p:spPr>
          <a:xfrm>
            <a:off x="4187952" y="1554480"/>
            <a:ext cx="3703320" cy="2057400"/>
          </a:xfrm>
          <a:prstGeom prst="roundRect">
            <a:avLst>
              <a:gd name="adj" fmla="val 3556"/>
            </a:avLst>
          </a:prstGeom>
          <a:solidFill>
            <a:srgbClr val="1565C0"/>
          </a:solidFill>
          <a:ln w="12700">
            <a:solidFill>
              <a:srgbClr val="1565C0"/>
            </a:solidFill>
            <a:prstDash val="solid"/>
          </a:ln>
        </p:spPr>
      </p:sp>
      <p:sp>
        <p:nvSpPr>
          <p:cNvPr id="10" name="Text 8"/>
          <p:cNvSpPr txBox="1"/>
          <p:nvPr/>
        </p:nvSpPr>
        <p:spPr>
          <a:xfrm>
            <a:off x="429768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429768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Sesiones de defensa (120 min)</a:t>
            </a:r>
            <a:endParaRPr lang="en-US" sz="1500" dirty="0"/>
          </a:p>
        </p:txBody>
      </p:sp>
      <p:sp>
        <p:nvSpPr>
          <p:cNvPr id="12" name="Text 10"/>
          <p:cNvSpPr txBox="1"/>
          <p:nvPr/>
        </p:nvSpPr>
        <p:spPr>
          <a:xfrm>
            <a:off x="429768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Cada equipo: 20 min presentación + 10 min preguntas</a:t>
            </a:r>
            <a:endParaRPr lang="en-US" sz="1200" dirty="0"/>
          </a:p>
        </p:txBody>
      </p:sp>
      <p:sp>
        <p:nvSpPr>
          <p:cNvPr id="13" name="Shape 11"/>
          <p:cNvSpPr/>
          <p:nvPr/>
        </p:nvSpPr>
        <p:spPr>
          <a:xfrm>
            <a:off x="8028432" y="1554480"/>
            <a:ext cx="3703320" cy="2057400"/>
          </a:xfrm>
          <a:prstGeom prst="roundRect">
            <a:avLst>
              <a:gd name="adj" fmla="val 3556"/>
            </a:avLst>
          </a:prstGeom>
          <a:solidFill>
            <a:srgbClr val="1565C0"/>
          </a:solidFill>
          <a:ln w="12700">
            <a:solidFill>
              <a:srgbClr val="1565C0"/>
            </a:solidFill>
            <a:prstDash val="solid"/>
          </a:ln>
        </p:spPr>
      </p:sp>
      <p:sp>
        <p:nvSpPr>
          <p:cNvPr id="14" name="Text 12"/>
          <p:cNvSpPr txBox="1"/>
          <p:nvPr/>
        </p:nvSpPr>
        <p:spPr>
          <a:xfrm>
            <a:off x="813816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813816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Deliberación del tribunal (20 min)</a:t>
            </a:r>
            <a:endParaRPr lang="en-US" sz="1500" dirty="0"/>
          </a:p>
        </p:txBody>
      </p:sp>
      <p:sp>
        <p:nvSpPr>
          <p:cNvPr id="16" name="Text 14"/>
          <p:cNvSpPr txBox="1"/>
          <p:nvPr/>
        </p:nvSpPr>
        <p:spPr>
          <a:xfrm>
            <a:off x="813816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Calificación rúbrica + promedio + acta de notas</a:t>
            </a:r>
            <a:endParaRPr lang="en-US" sz="1200" dirty="0"/>
          </a:p>
        </p:txBody>
      </p:sp>
      <p:sp>
        <p:nvSpPr>
          <p:cNvPr id="17" name="Shape 15"/>
          <p:cNvSpPr/>
          <p:nvPr/>
        </p:nvSpPr>
        <p:spPr>
          <a:xfrm>
            <a:off x="347472" y="3749040"/>
            <a:ext cx="3703320" cy="2057400"/>
          </a:xfrm>
          <a:prstGeom prst="roundRect">
            <a:avLst>
              <a:gd name="adj" fmla="val 3556"/>
            </a:avLst>
          </a:prstGeom>
          <a:solidFill>
            <a:srgbClr val="1565C0"/>
          </a:solidFill>
          <a:ln w="12700">
            <a:solidFill>
              <a:srgbClr val="1565C0"/>
            </a:solidFill>
            <a:prstDash val="solid"/>
          </a:ln>
        </p:spPr>
      </p:sp>
      <p:sp>
        <p:nvSpPr>
          <p:cNvPr id="18" name="Text 16"/>
          <p:cNvSpPr txBox="1"/>
          <p:nvPr/>
        </p:nvSpPr>
        <p:spPr>
          <a:xfrm>
            <a:off x="45720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4</a:t>
            </a:r>
            <a:endParaRPr lang="en-US" sz="2200" dirty="0"/>
          </a:p>
        </p:txBody>
      </p:sp>
      <p:sp>
        <p:nvSpPr>
          <p:cNvPr id="19" name="Text 17"/>
          <p:cNvSpPr txBox="1"/>
          <p:nvPr/>
        </p:nvSpPr>
        <p:spPr>
          <a:xfrm>
            <a:off x="45720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Coevaluación (15 min)</a:t>
            </a:r>
            <a:endParaRPr lang="en-US" sz="1500" dirty="0"/>
          </a:p>
        </p:txBody>
      </p:sp>
      <p:sp>
        <p:nvSpPr>
          <p:cNvPr id="20" name="Text 18"/>
          <p:cNvSpPr txBox="1"/>
          <p:nvPr/>
        </p:nvSpPr>
        <p:spPr>
          <a:xfrm>
            <a:off x="45720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Cada integrante evalúa a sus compañeros de equipo</a:t>
            </a:r>
            <a:endParaRPr lang="en-US" sz="1200" dirty="0"/>
          </a:p>
        </p:txBody>
      </p:sp>
      <p:sp>
        <p:nvSpPr>
          <p:cNvPr id="21" name="Shape 19"/>
          <p:cNvSpPr/>
          <p:nvPr/>
        </p:nvSpPr>
        <p:spPr>
          <a:xfrm>
            <a:off x="4187952" y="3749040"/>
            <a:ext cx="3703320" cy="2057400"/>
          </a:xfrm>
          <a:prstGeom prst="roundRect">
            <a:avLst>
              <a:gd name="adj" fmla="val 3556"/>
            </a:avLst>
          </a:prstGeom>
          <a:solidFill>
            <a:srgbClr val="1565C0"/>
          </a:solidFill>
          <a:ln w="12700">
            <a:solidFill>
              <a:srgbClr val="1565C0"/>
            </a:solidFill>
            <a:prstDash val="solid"/>
          </a:ln>
        </p:spPr>
      </p:sp>
      <p:sp>
        <p:nvSpPr>
          <p:cNvPr id="22" name="Text 20"/>
          <p:cNvSpPr txBox="1"/>
          <p:nvPr/>
        </p:nvSpPr>
        <p:spPr>
          <a:xfrm>
            <a:off x="429768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5</a:t>
            </a:r>
            <a:endParaRPr lang="en-US" sz="2200" dirty="0"/>
          </a:p>
        </p:txBody>
      </p:sp>
      <p:sp>
        <p:nvSpPr>
          <p:cNvPr id="23" name="Text 21"/>
          <p:cNvSpPr txBox="1"/>
          <p:nvPr/>
        </p:nvSpPr>
        <p:spPr>
          <a:xfrm>
            <a:off x="429768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Reflexión y cierre (20 min)</a:t>
            </a:r>
            <a:endParaRPr lang="en-US" sz="1500" dirty="0"/>
          </a:p>
        </p:txBody>
      </p:sp>
      <p:sp>
        <p:nvSpPr>
          <p:cNvPr id="24" name="Text 22"/>
          <p:cNvSpPr txBox="1"/>
          <p:nvPr/>
        </p:nvSpPr>
        <p:spPr>
          <a:xfrm>
            <a:off x="429768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10 lecciones · retroalimentación global · IREB · certificaciones</a:t>
            </a:r>
            <a:endParaRPr lang="en-US" sz="1200" dirty="0"/>
          </a:p>
        </p:txBody>
      </p:sp>
      <p:sp>
        <p:nvSpPr>
          <p:cNvPr id="25" name="Text 23"/>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Protocolo del tribunal de defensa</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ORDEN: las defensas se realizan en el orden del acta — sin cambios de turno el día de la defensa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ROLES DEL TRIBUNAL: presidente (dirige, cronometra), secretario (registra), vocal (preguntas técnicas)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CRONÓMETRO: 20 minutos estrictos — a los 18 minutos el vocal avisa, a los 20 el presidente interrumpe</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PREGUNTAS: 10 minutos después de la presentación — el tribunal pregunta individualmente</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DELIBERACIÓN: privada — el equipo sale de la sala mientras el tribunal evalúa con la rúbrica</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Criterio de piso de la defensa: si el repositorio no es accesible el día de la defensa, calificación CERO</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Las 10 preguntas del tribunal — preparación</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1. ¿Por qué eligieron este dominio y este sistema específico?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2. ¿Quién fue su stakeholder real y cómo lo contactaron?</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3. ¿Cómo descubrieron un requisito que el stakeholder no sabía que necesitaba?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4. ¿Cuál fue el RF más difícil de especificar y por qué?</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5. ¿Cómo resolvieron un conflicto de prioridades entre dos stakeholders?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6. ¿Qué cambió entre el ERS v0.1 y el ERS v1.0? ¿Por qué?</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7. ¿Cómo verificarían que el sistema cumple el RNF de rendimiento sin construirlo?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8. ¿Qué haría diferente en el proceso de IR si lo volviera a hacer?</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9. ¿Cuál estándar (IEEE 29148, ISO 25010, SWEBOK) fue más útil y por qué?</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10. Si el cliente pide un nuevo RF después del baseline, ¿qué hace el equipo?</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Las 10 lecciones del semestre ISR-401</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1. El requisito más importante es el que el cliente no sabe que necesita — elicitar activamente</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2. Un requisito sin criterio de aceptación no es un requisito — es una promesa incumplible</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3. La ambigüedad no es culpa del cliente — es responsabilidad del ingeniero eliminarla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4. Los modelos no reemplazan el texto — el texto y los modelos se complementan</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5. Validar temprano vale 100 veces lo que corregir tarde — la inspección Fagan es inversión</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6. Los requisitos cambian — la gestión de cambios no es burocracia, es supervivencia del proyecto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7. Trazabilidad no es una tabla de Excel — es la cadena de responsabilidad desde la meta hasta la prueba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8. Las herramientas CASE facilitan el proceso — no definen el proceso, eso lo hace el equipo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9. Ágil y formal no son opuestos — son complementarios, como el mapa y la brújula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10. El ERS más importante que escribirás está en el próximo trabajo — este semestre fue el ensayo</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Caminos de certificación y formación continua</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IREB CPRE (Certified Professional for Requirements Engineering): certificación internacional más reconocida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Niveles IREB: Foundation → Advanced (Elicitation &amp; Consolidation / Modeling / Management) → Expert</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IQBBA CFLAP: certificación de análisis de negocio — complementa IREB para roles híbridos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PMI-PBA (Business Analysis): perspectiva de gestión de proyectos + requisitos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Recursos de estudio: IREB Glossary, Handbook CPRE Foundation, SWEBOK v4 Cap. 1-2-3</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El CPRE Foundation está alineado con los contenidos de ISR-401 — el syllabus fue diseñado con esa base</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Retrospectiva del semestre ISR-401</a:t>
            </a:r>
            <a:endParaRPr lang="en-US" sz="2800" dirty="0"/>
          </a:p>
        </p:txBody>
      </p:sp>
      <p:sp>
        <p:nvSpPr>
          <p:cNvPr id="5" name="Shape 3"/>
          <p:cNvSpPr/>
          <p:nvPr/>
        </p:nvSpPr>
        <p:spPr>
          <a:xfrm>
            <a:off x="347472" y="1261872"/>
            <a:ext cx="3200400" cy="1252728"/>
          </a:xfrm>
          <a:prstGeom prst="rect">
            <a:avLst/>
          </a:prstGeom>
          <a:solidFill>
            <a:srgbClr val="0D3B72"/>
          </a:solidFill>
          <a:ln w="12700">
            <a:solidFill>
              <a:srgbClr val="0D3B72"/>
            </a:solidFill>
            <a:prstDash val="solid"/>
          </a:ln>
        </p:spPr>
      </p:sp>
      <p:sp>
        <p:nvSpPr>
          <p:cNvPr id="6" name="Text 4"/>
          <p:cNvSpPr txBox="1"/>
          <p:nvPr/>
        </p:nvSpPr>
        <p:spPr>
          <a:xfrm>
            <a:off x="438912" y="130759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Unidad 1-2</a:t>
            </a:r>
            <a:endParaRPr lang="en-US" sz="1600" dirty="0"/>
          </a:p>
        </p:txBody>
      </p:sp>
      <p:sp>
        <p:nvSpPr>
          <p:cNvPr id="7" name="Shape 5"/>
          <p:cNvSpPr/>
          <p:nvPr/>
        </p:nvSpPr>
        <p:spPr>
          <a:xfrm>
            <a:off x="3584448" y="1261872"/>
            <a:ext cx="4297680" cy="1252728"/>
          </a:xfrm>
          <a:prstGeom prst="rect">
            <a:avLst/>
          </a:prstGeom>
          <a:solidFill>
            <a:srgbClr val="FFFFFF"/>
          </a:solidFill>
          <a:ln w="12700">
            <a:solidFill>
              <a:srgbClr val="D6E4F7"/>
            </a:solidFill>
            <a:prstDash val="solid"/>
          </a:ln>
        </p:spPr>
      </p:sp>
      <p:sp>
        <p:nvSpPr>
          <p:cNvPr id="8" name="Text 6"/>
          <p:cNvSpPr txBox="1"/>
          <p:nvPr/>
        </p:nvSpPr>
        <p:spPr>
          <a:xfrm>
            <a:off x="3675888" y="130759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Fundamentos, elicitación, modelado de metas</a:t>
            </a:r>
            <a:endParaRPr lang="en-US" sz="1500" dirty="0"/>
          </a:p>
        </p:txBody>
      </p:sp>
      <p:sp>
        <p:nvSpPr>
          <p:cNvPr id="9" name="Shape 7"/>
          <p:cNvSpPr/>
          <p:nvPr/>
        </p:nvSpPr>
        <p:spPr>
          <a:xfrm>
            <a:off x="7918704" y="1261872"/>
            <a:ext cx="3913632" cy="1252728"/>
          </a:xfrm>
          <a:prstGeom prst="rect">
            <a:avLst/>
          </a:prstGeom>
          <a:solidFill>
            <a:srgbClr val="FFFFFF"/>
          </a:solidFill>
          <a:ln w="12700">
            <a:solidFill>
              <a:srgbClr val="D6E4F7"/>
            </a:solidFill>
            <a:prstDash val="solid"/>
          </a:ln>
        </p:spPr>
      </p:sp>
      <p:sp>
        <p:nvSpPr>
          <p:cNvPr id="10" name="Text 8"/>
          <p:cNvSpPr txBox="1"/>
          <p:nvPr/>
        </p:nvSpPr>
        <p:spPr>
          <a:xfrm>
            <a:off x="8010144" y="130759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Técnicas de entrevista, KAOS, ISTAR, Design Thinking</a:t>
            </a:r>
            <a:endParaRPr lang="en-US" sz="1400" dirty="0"/>
          </a:p>
        </p:txBody>
      </p:sp>
      <p:sp>
        <p:nvSpPr>
          <p:cNvPr id="11" name="Shape 9"/>
          <p:cNvSpPr/>
          <p:nvPr/>
        </p:nvSpPr>
        <p:spPr>
          <a:xfrm>
            <a:off x="347472" y="2587752"/>
            <a:ext cx="3200400" cy="1252728"/>
          </a:xfrm>
          <a:prstGeom prst="rect">
            <a:avLst/>
          </a:prstGeom>
          <a:solidFill>
            <a:srgbClr val="1565C0"/>
          </a:solidFill>
          <a:ln w="12700">
            <a:solidFill>
              <a:srgbClr val="1565C0"/>
            </a:solidFill>
            <a:prstDash val="solid"/>
          </a:ln>
        </p:spPr>
      </p:sp>
      <p:sp>
        <p:nvSpPr>
          <p:cNvPr id="12" name="Text 10"/>
          <p:cNvSpPr txBox="1"/>
          <p:nvPr/>
        </p:nvSpPr>
        <p:spPr>
          <a:xfrm>
            <a:off x="438912" y="263347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Unidad 3</a:t>
            </a:r>
            <a:endParaRPr lang="en-US" sz="1600" dirty="0"/>
          </a:p>
        </p:txBody>
      </p:sp>
      <p:sp>
        <p:nvSpPr>
          <p:cNvPr id="13" name="Shape 11"/>
          <p:cNvSpPr/>
          <p:nvPr/>
        </p:nvSpPr>
        <p:spPr>
          <a:xfrm>
            <a:off x="3584448" y="2587752"/>
            <a:ext cx="4297680" cy="1252728"/>
          </a:xfrm>
          <a:prstGeom prst="rect">
            <a:avLst/>
          </a:prstGeom>
          <a:solidFill>
            <a:srgbClr val="FFFFFF"/>
          </a:solidFill>
          <a:ln w="12700">
            <a:solidFill>
              <a:srgbClr val="D6E4F7"/>
            </a:solidFill>
            <a:prstDash val="solid"/>
          </a:ln>
        </p:spPr>
      </p:sp>
      <p:sp>
        <p:nvSpPr>
          <p:cNvPr id="14" name="Text 12"/>
          <p:cNvSpPr txBox="1"/>
          <p:nvPr/>
        </p:nvSpPr>
        <p:spPr>
          <a:xfrm>
            <a:off x="3675888" y="263347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ERS/SRS, EARS, UML datos/función/comportamiento</a:t>
            </a:r>
            <a:endParaRPr lang="en-US" sz="1500" dirty="0"/>
          </a:p>
        </p:txBody>
      </p:sp>
      <p:sp>
        <p:nvSpPr>
          <p:cNvPr id="15" name="Shape 13"/>
          <p:cNvSpPr/>
          <p:nvPr/>
        </p:nvSpPr>
        <p:spPr>
          <a:xfrm>
            <a:off x="7918704" y="2587752"/>
            <a:ext cx="3913632" cy="1252728"/>
          </a:xfrm>
          <a:prstGeom prst="rect">
            <a:avLst/>
          </a:prstGeom>
          <a:solidFill>
            <a:srgbClr val="FFFFFF"/>
          </a:solidFill>
          <a:ln w="12700">
            <a:solidFill>
              <a:srgbClr val="D6E4F7"/>
            </a:solidFill>
            <a:prstDash val="solid"/>
          </a:ln>
        </p:spPr>
      </p:sp>
      <p:sp>
        <p:nvSpPr>
          <p:cNvPr id="16" name="Text 14"/>
          <p:cNvSpPr txBox="1"/>
          <p:nvPr/>
        </p:nvSpPr>
        <p:spPr>
          <a:xfrm>
            <a:off x="8010144" y="263347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ERS completo con IEEE 29148 y modelos coherentes</a:t>
            </a:r>
            <a:endParaRPr lang="en-US" sz="1400" dirty="0"/>
          </a:p>
        </p:txBody>
      </p:sp>
      <p:sp>
        <p:nvSpPr>
          <p:cNvPr id="17" name="Shape 15"/>
          <p:cNvSpPr/>
          <p:nvPr/>
        </p:nvSpPr>
        <p:spPr>
          <a:xfrm>
            <a:off x="347472" y="3913632"/>
            <a:ext cx="3200400" cy="1252728"/>
          </a:xfrm>
          <a:prstGeom prst="rect">
            <a:avLst/>
          </a:prstGeom>
          <a:solidFill>
            <a:srgbClr val="0D3B72"/>
          </a:solidFill>
          <a:ln w="12700">
            <a:solidFill>
              <a:srgbClr val="0D3B72"/>
            </a:solidFill>
            <a:prstDash val="solid"/>
          </a:ln>
        </p:spPr>
      </p:sp>
      <p:sp>
        <p:nvSpPr>
          <p:cNvPr id="18" name="Text 16"/>
          <p:cNvSpPr txBox="1"/>
          <p:nvPr/>
        </p:nvSpPr>
        <p:spPr>
          <a:xfrm>
            <a:off x="438912" y="395935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Unidad 4</a:t>
            </a:r>
            <a:endParaRPr lang="en-US" sz="1600" dirty="0"/>
          </a:p>
        </p:txBody>
      </p:sp>
      <p:sp>
        <p:nvSpPr>
          <p:cNvPr id="19" name="Shape 17"/>
          <p:cNvSpPr/>
          <p:nvPr/>
        </p:nvSpPr>
        <p:spPr>
          <a:xfrm>
            <a:off x="3584448" y="3913632"/>
            <a:ext cx="4297680" cy="1252728"/>
          </a:xfrm>
          <a:prstGeom prst="rect">
            <a:avLst/>
          </a:prstGeom>
          <a:solidFill>
            <a:srgbClr val="FFFFFF"/>
          </a:solidFill>
          <a:ln w="12700">
            <a:solidFill>
              <a:srgbClr val="D6E4F7"/>
            </a:solidFill>
            <a:prstDash val="solid"/>
          </a:ln>
        </p:spPr>
      </p:sp>
      <p:sp>
        <p:nvSpPr>
          <p:cNvPr id="20" name="Text 18"/>
          <p:cNvSpPr txBox="1"/>
          <p:nvPr/>
        </p:nvSpPr>
        <p:spPr>
          <a:xfrm>
            <a:off x="3675888" y="395935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Validación, gestión, CCB, trazabilidad, métricas</a:t>
            </a:r>
            <a:endParaRPr lang="en-US" sz="1500" dirty="0"/>
          </a:p>
        </p:txBody>
      </p:sp>
      <p:sp>
        <p:nvSpPr>
          <p:cNvPr id="21" name="Shape 19"/>
          <p:cNvSpPr/>
          <p:nvPr/>
        </p:nvSpPr>
        <p:spPr>
          <a:xfrm>
            <a:off x="7918704" y="3913632"/>
            <a:ext cx="3913632" cy="1252728"/>
          </a:xfrm>
          <a:prstGeom prst="rect">
            <a:avLst/>
          </a:prstGeom>
          <a:solidFill>
            <a:srgbClr val="FFFFFF"/>
          </a:solidFill>
          <a:ln w="12700">
            <a:solidFill>
              <a:srgbClr val="D6E4F7"/>
            </a:solidFill>
            <a:prstDash val="solid"/>
          </a:ln>
        </p:spPr>
      </p:sp>
      <p:sp>
        <p:nvSpPr>
          <p:cNvPr id="22" name="Text 20"/>
          <p:cNvSpPr txBox="1"/>
          <p:nvPr/>
        </p:nvSpPr>
        <p:spPr>
          <a:xfrm>
            <a:off x="8010144" y="395935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Plan de validación, RTM, baselines Git</a:t>
            </a:r>
            <a:endParaRPr lang="en-US" sz="1400" dirty="0"/>
          </a:p>
        </p:txBody>
      </p:sp>
      <p:sp>
        <p:nvSpPr>
          <p:cNvPr id="23" name="Shape 21"/>
          <p:cNvSpPr/>
          <p:nvPr/>
        </p:nvSpPr>
        <p:spPr>
          <a:xfrm>
            <a:off x="347472" y="5239512"/>
            <a:ext cx="3200400" cy="1252728"/>
          </a:xfrm>
          <a:prstGeom prst="rect">
            <a:avLst/>
          </a:prstGeom>
          <a:solidFill>
            <a:srgbClr val="1565C0"/>
          </a:solidFill>
          <a:ln w="12700">
            <a:solidFill>
              <a:srgbClr val="1565C0"/>
            </a:solidFill>
            <a:prstDash val="solid"/>
          </a:ln>
        </p:spPr>
      </p:sp>
      <p:sp>
        <p:nvSpPr>
          <p:cNvPr id="24" name="Text 22"/>
          <p:cNvSpPr txBox="1"/>
          <p:nvPr/>
        </p:nvSpPr>
        <p:spPr>
          <a:xfrm>
            <a:off x="438912" y="528523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Unidad 5</a:t>
            </a:r>
            <a:endParaRPr lang="en-US" sz="1600" dirty="0"/>
          </a:p>
        </p:txBody>
      </p:sp>
      <p:sp>
        <p:nvSpPr>
          <p:cNvPr id="25" name="Shape 23"/>
          <p:cNvSpPr/>
          <p:nvPr/>
        </p:nvSpPr>
        <p:spPr>
          <a:xfrm>
            <a:off x="3584448" y="5239512"/>
            <a:ext cx="4297680" cy="1252728"/>
          </a:xfrm>
          <a:prstGeom prst="rect">
            <a:avLst/>
          </a:prstGeom>
          <a:solidFill>
            <a:srgbClr val="FFFFFF"/>
          </a:solidFill>
          <a:ln w="12700">
            <a:solidFill>
              <a:srgbClr val="D6E4F7"/>
            </a:solidFill>
            <a:prstDash val="solid"/>
          </a:ln>
        </p:spPr>
      </p:sp>
      <p:sp>
        <p:nvSpPr>
          <p:cNvPr id="26" name="Text 24"/>
          <p:cNvSpPr txBox="1"/>
          <p:nvPr/>
        </p:nvSpPr>
        <p:spPr>
          <a:xfrm>
            <a:off x="3675888" y="528523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CASE, ágil, BDD, PFC completo, defensa</a:t>
            </a:r>
            <a:endParaRPr lang="en-US" sz="1500" dirty="0"/>
          </a:p>
        </p:txBody>
      </p:sp>
      <p:sp>
        <p:nvSpPr>
          <p:cNvPr id="27" name="Shape 25"/>
          <p:cNvSpPr/>
          <p:nvPr/>
        </p:nvSpPr>
        <p:spPr>
          <a:xfrm>
            <a:off x="7918704" y="5239512"/>
            <a:ext cx="3913632" cy="1252728"/>
          </a:xfrm>
          <a:prstGeom prst="rect">
            <a:avLst/>
          </a:prstGeom>
          <a:solidFill>
            <a:srgbClr val="FFFFFF"/>
          </a:solidFill>
          <a:ln w="12700">
            <a:solidFill>
              <a:srgbClr val="D6E4F7"/>
            </a:solidFill>
            <a:prstDash val="solid"/>
          </a:ln>
        </p:spPr>
      </p:sp>
      <p:sp>
        <p:nvSpPr>
          <p:cNvPr id="28" name="Text 26"/>
          <p:cNvSpPr txBox="1"/>
          <p:nvPr/>
        </p:nvSpPr>
        <p:spPr>
          <a:xfrm>
            <a:off x="8010144" y="528523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Jira, Gherkin, defensa formal, lecciones aprendidas</a:t>
            </a:r>
            <a:endParaRPr lang="en-US" sz="1400" dirty="0"/>
          </a:p>
        </p:txBody>
      </p:sp>
      <p:sp>
        <p:nvSpPr>
          <p:cNvPr id="30" name="Text 27"/>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457200"/>
            <a:ext cx="11430000" cy="548640"/>
          </a:xfrm>
          <a:prstGeom prst="rect">
            <a:avLst/>
          </a:prstGeom>
          <a:noFill/>
          <a:ln/>
        </p:spPr>
        <p:txBody>
          <a:bodyPr wrap="square" lIns="0" tIns="0" rIns="0" bIns="0" rtlCol="0" anchor="ctr"/>
          <a:lstStyle/>
          <a:p>
            <a:pPr indent="0" marL="0">
              <a:buNone/>
            </a:pPr>
            <a:r>
              <a:rPr lang="en-US" sz="1600" b="1" dirty="0">
                <a:solidFill>
                  <a:srgbClr val="C8960C"/>
                </a:solidFill>
                <a:latin typeface="Calibri" pitchFamily="34" charset="0"/>
                <a:ea typeface="Calibri" pitchFamily="34" charset="-122"/>
                <a:cs typeface="Calibri" pitchFamily="34" charset="-120"/>
              </a:rPr>
              <a:t>ISR-401 · UTEQ · Fin del semestre</a:t>
            </a:r>
            <a:endParaRPr lang="en-US" sz="1600" dirty="0"/>
          </a:p>
        </p:txBody>
      </p:sp>
      <p:sp>
        <p:nvSpPr>
          <p:cNvPr id="4" name="Text 2"/>
          <p:cNvSpPr txBox="1"/>
          <p:nvPr/>
        </p:nvSpPr>
        <p:spPr>
          <a:xfrm>
            <a:off x="347472" y="1371600"/>
            <a:ext cx="11430000" cy="25603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La IR no termina aquí.</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El primer sistema que especifiques en tu vida profesional será el examen real.</a:t>
            </a:r>
            <a:endParaRPr lang="en-US" sz="3000" dirty="0"/>
          </a:p>
        </p:txBody>
      </p:sp>
      <p:sp>
        <p:nvSpPr>
          <p:cNvPr id="5" name="Text 3"/>
          <p:cNvSpPr txBox="1"/>
          <p:nvPr/>
        </p:nvSpPr>
        <p:spPr>
          <a:xfrm>
            <a:off x="347472" y="4114800"/>
            <a:ext cx="11430000" cy="822960"/>
          </a:xfrm>
          <a:prstGeom prst="rect">
            <a:avLst/>
          </a:prstGeom>
          <a:noFill/>
          <a:ln/>
        </p:spPr>
        <p:txBody>
          <a:bodyPr wrap="square" lIns="0" tIns="0" rIns="0" bIns="0" rtlCol="0" anchor="ctr"/>
          <a:lstStyle/>
          <a:p>
            <a:pPr indent="0" marL="0">
              <a:buNone/>
            </a:pPr>
            <a:r>
              <a:rPr lang="en-US" sz="2400" dirty="0">
                <a:solidFill>
                  <a:srgbClr val="D6E4F7"/>
                </a:solidFill>
                <a:latin typeface="Calibri" pitchFamily="34" charset="0"/>
                <a:ea typeface="Calibri" pitchFamily="34" charset="-122"/>
                <a:cs typeface="Calibri" pitchFamily="34" charset="-120"/>
              </a:rPr>
              <a:t>Gracias por el semestre.</a:t>
            </a:r>
            <a:endParaRPr lang="en-US" sz="2400" dirty="0"/>
          </a:p>
        </p:txBody>
      </p:sp>
      <p:sp>
        <p:nvSpPr>
          <p:cNvPr id="6" name="Shape 4"/>
          <p:cNvSpPr/>
          <p:nvPr/>
        </p:nvSpPr>
        <p:spPr>
          <a:xfrm>
            <a:off x="347472" y="5029200"/>
            <a:ext cx="11430000" cy="822960"/>
          </a:xfrm>
          <a:prstGeom prst="rect">
            <a:avLst/>
          </a:prstGeom>
          <a:solidFill>
            <a:srgbClr val="C8960C"/>
          </a:solidFill>
          <a:ln w="12700">
            <a:solidFill>
              <a:srgbClr val="C8960C"/>
            </a:solidFill>
            <a:prstDash val="solid"/>
          </a:ln>
        </p:spPr>
      </p:sp>
      <p:sp>
        <p:nvSpPr>
          <p:cNvPr id="7" name="Text 5"/>
          <p:cNvSpPr txBox="1"/>
          <p:nvPr/>
        </p:nvSpPr>
        <p:spPr>
          <a:xfrm>
            <a:off x="502920" y="5138928"/>
            <a:ext cx="11064240" cy="548640"/>
          </a:xfrm>
          <a:prstGeom prst="rect">
            <a:avLst/>
          </a:prstGeom>
          <a:noFill/>
          <a:ln/>
        </p:spPr>
        <p:txBody>
          <a:bodyPr wrap="square" lIns="0" tIns="0" rIns="0" bIns="0" rtlCol="0" anchor="ctr"/>
          <a:lstStyle/>
          <a:p>
            <a:pPr indent="0" marL="0">
              <a:buNone/>
            </a:pPr>
            <a:r>
              <a:rPr lang="en-US" sz="1600" b="1" dirty="0">
                <a:solidFill>
                  <a:srgbClr val="0D3B72"/>
                </a:solidFill>
                <a:latin typeface="Calibri" pitchFamily="34" charset="0"/>
                <a:ea typeface="Calibri" pitchFamily="34" charset="-122"/>
                <a:cs typeface="Calibri" pitchFamily="34" charset="-120"/>
              </a:rPr>
              <a:t>IREB CPRE · SWEBOK v4 · IEEE 29148:2018 · ISO/IEC 25010:2023</a:t>
            </a:r>
            <a:endParaRPr lang="en-US" sz="1600" dirty="0"/>
          </a:p>
        </p:txBody>
      </p:sp>
      <p:sp>
        <p:nvSpPr>
          <p:cNvPr id="8" name="Text 6"/>
          <p:cNvSpPr txBox="1"/>
          <p:nvPr/>
        </p:nvSpPr>
        <p:spPr>
          <a:xfrm>
            <a:off x="347472" y="6217920"/>
            <a:ext cx="11430000" cy="36576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ISR-401 · Ingeniería de Requisitos · UTEQ</a:t>
            </a:r>
            <a:endParaRPr lang="en-US" sz="1200" dirty="0"/>
          </a:p>
        </p:txBody>
      </p:sp>
      <p:sp>
        <p:nvSpPr>
          <p:cNvPr id="9" name="Text 7"/>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8</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2026-10-28T12:04:29Z</dcterms:created>
  <dcterms:modified xsi:type="dcterms:W3CDTF">2026-10-28T12:04:29Z</dcterms:modified>
</cp:coreProperties>
</file>