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AFD del sensor IoT de piscina camaronera tiene 4 estados: REPOSO, MIDIENDO, ALERTA, MANTENIMIENTO. La transición MIDIENDO→ALERTA ocurre cuando temperatura &gt; 32°C. Esta transición genera el RF: "CUANDO el sensor registre temperatura mayor a 32°C, el sistema SHALL enviar alerta SMS al administrador en menos de 30 segundos". El statechart del ciclo de vida del bovino (PFC ganadería) tiene estados compuestos: ACTIVO tiene subestados SANO, EN TRATAMIENTO, EN CUARENTENA — esto no se puede representar en un AFD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máquina de estados UML del sistema de citas veterinarias (PFC mascotas) tiene los estados: SOLICITADA, CONFIRMADA, EN_CURSO, COMPLETADA, CANCELADA, AUSENTE. La transición CONFIRMADA→EN_CURSO se dispara con el evento "veterinario inicia consulta [cita.hora &lt;= hora_actual + 15min]". La guardia "[cita.hora &lt;= hora_actual + 15min]" genera el RF: "El sistema SHALL solo permitir iniciar la consulta cuando la hora actual sea igual o posterior a 15 minutos antes de la hora programada de la cita".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coherencia entre modelos es el criterio de calidad más potente del ERS. Si el ER tiene la entidad SERVICIO pero el statechart no modela el ciclo de vida del SERVICIO, ¿cómo sabe el desarrollador qué estados puede tener? Si el DFD tiene el proceso "Calcular pago" pero el diagrama de actividad no tiene esa acción en ningún carril, ¿quién ejecuta ese proceso? El checklist de coherencia de Pohl tiene 8 criterios — aprobar todos equivale a tener un ERS internamente consistente.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semanas 9 y 10 cierran la Unidad 3. El ERS del PFC debe tener ahora: ER + clases UML + DFD N0/N1 + diagrama de actividad + statechart de la entidad principal + tabla de coherencia. El segundo examen parcial cubre Unidades 3 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10</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Modelos de comportamiento e interrelaciones</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Subtemas 10.3 y 10.4 — Autómatas, statecharts UML y principio de coherencia de Pohl</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3: Especificación de Requisitos (ERS)</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Autómatas finitos (25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Estados, delta, guardas · tabla de transiciones = RF</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Statecharts de Harel (30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Estados compuestos, concurrencia, historia</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STM UML (20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Notación UML; pseudoestados; estados finales múltiples</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Coherencia (25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8 criterios de coherencia ER–DFD–Statechart</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PE-10 (60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Statechart + AFD + tabla coherencia para sistema mascotas (continuación PE-9)</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Autómatas finitos vs. Statecharts</a:t>
            </a:r>
            <a:endParaRPr lang="en-US" sz="2800" dirty="0"/>
          </a:p>
        </p:txBody>
      </p:sp>
      <p:sp>
        <p:nvSpPr>
          <p:cNvPr id="5" name="Shape 3"/>
          <p:cNvSpPr/>
          <p:nvPr/>
        </p:nvSpPr>
        <p:spPr>
          <a:xfrm>
            <a:off x="347472" y="1234440"/>
            <a:ext cx="5577840" cy="5257800"/>
          </a:xfrm>
          <a:prstGeom prst="rect">
            <a:avLst/>
          </a:prstGeom>
          <a:solidFill>
            <a:srgbClr val="FFFFFF"/>
          </a:solidFill>
          <a:ln w="12700">
            <a:solidFill>
              <a:srgbClr val="D6E4F7"/>
            </a:solidFill>
            <a:prstDash val="solid"/>
          </a:ln>
        </p:spPr>
      </p:sp>
      <p:sp>
        <p:nvSpPr>
          <p:cNvPr id="6" name="Text 4"/>
          <p:cNvSpPr txBox="1"/>
          <p:nvPr/>
        </p:nvSpPr>
        <p:spPr>
          <a:xfrm>
            <a:off x="457200" y="1325880"/>
            <a:ext cx="534924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Autómata Finito (AFD)</a:t>
            </a:r>
            <a:endParaRPr lang="en-US" sz="1800" dirty="0"/>
          </a:p>
        </p:txBody>
      </p:sp>
      <p:sp>
        <p:nvSpPr>
          <p:cNvPr id="7" name="Text 5"/>
          <p:cNvSpPr txBox="1"/>
          <p:nvPr/>
        </p:nvSpPr>
        <p:spPr>
          <a:xfrm>
            <a:off x="457200" y="1783080"/>
            <a:ext cx="534924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Estados finitos, deterministas — para sistemas simples o componentes IoT</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Tabla de transiciones: estado × evento → estado siguiente + acción</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Cada fila de la tabla = RF de comportamiento ("CUANDO [estado] y [evento] el sistema SHALL [acción] y transitar a [estado]")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Útil para: sensores, semáforos, protocolos de comunicación</a:t>
            </a:r>
            <a:endParaRPr lang="en-US" sz="1700" dirty="0"/>
          </a:p>
        </p:txBody>
      </p:sp>
      <p:sp>
        <p:nvSpPr>
          <p:cNvPr id="8" name="Shape 6"/>
          <p:cNvSpPr/>
          <p:nvPr/>
        </p:nvSpPr>
        <p:spPr>
          <a:xfrm>
            <a:off x="6126480" y="1234440"/>
            <a:ext cx="5742432" cy="5257800"/>
          </a:xfrm>
          <a:prstGeom prst="rect">
            <a:avLst/>
          </a:prstGeom>
          <a:solidFill>
            <a:srgbClr val="FFFFFF"/>
          </a:solidFill>
          <a:ln w="12700">
            <a:solidFill>
              <a:srgbClr val="D6E4F7"/>
            </a:solidFill>
            <a:prstDash val="solid"/>
          </a:ln>
        </p:spPr>
      </p:sp>
      <p:sp>
        <p:nvSpPr>
          <p:cNvPr id="9" name="Text 7"/>
          <p:cNvSpPr txBox="1"/>
          <p:nvPr/>
        </p:nvSpPr>
        <p:spPr>
          <a:xfrm>
            <a:off x="6236208" y="1325880"/>
            <a:ext cx="548640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Statechart de Harel (UML)</a:t>
            </a:r>
            <a:endParaRPr lang="en-US" sz="1800" dirty="0"/>
          </a:p>
        </p:txBody>
      </p:sp>
      <p:sp>
        <p:nvSpPr>
          <p:cNvPr id="10" name="Text 8"/>
          <p:cNvSpPr txBox="1"/>
          <p:nvPr/>
        </p:nvSpPr>
        <p:spPr>
          <a:xfrm>
            <a:off x="6236208" y="1783080"/>
            <a:ext cx="548640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Estados COMPUESTOS: un estado contiene subestados (jerarquía)</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CONCURRENCIA: dos regiones ortogonales activas simultáneamente</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HISTORIA: al salir y volver a un estado, recordar el subestado previo (H)</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GUARDIA: condición booleana sobre una transición — genera RF de validación</a:t>
            </a:r>
            <a:endParaRPr lang="en-US" sz="1700" dirty="0"/>
          </a:p>
        </p:txBody>
      </p:sp>
      <p:sp>
        <p:nvSpPr>
          <p:cNvPr id="12" name="Text 9"/>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Statechart UML — notación completa</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Estado inicial: círculo negro relleno (pseudoestado inicial)</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Estado normal: rectángulo redondeado con nombre del estado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Transición: flecha etiquetada "evento [guardia] / acción"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Estado final: círculo negro relleno dentro de círculo (pseudoestado final)</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Región ortogonal: línea punteada que divide un estado compuesto en partes concurrentes</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Las guardias booleanas son fuente directa de RF de validación — documentarlas todas en el ERS</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El principio de coherencia de Pohl</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Los tres modelos (datos/función/comportamiento) deben describir el MISMO sistema sin contradicción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Coherencia ER–DFD: cada depósito del DFD = entidad del ER</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Coherencia ER–Statechart: cada entidad con ciclo de vida = statechart propio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Coherencia DFD–Actividad: cada proceso del DFD = flujo de actividad con carriles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Coherencia Statechart–RF: cada transición = al menos un RF en el ERS</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Checklist de 8 criterios: si alguno falla, los modelos son inconsistentes y el ERS está incompleto</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Mapa síntesis — Semana 10</a:t>
            </a:r>
            <a:endParaRPr lang="en-US" sz="2800" dirty="0"/>
          </a:p>
        </p:txBody>
      </p:sp>
      <p:sp>
        <p:nvSpPr>
          <p:cNvPr id="5" name="Shape 3"/>
          <p:cNvSpPr/>
          <p:nvPr/>
        </p:nvSpPr>
        <p:spPr>
          <a:xfrm>
            <a:off x="347472" y="1261872"/>
            <a:ext cx="3200400" cy="1252728"/>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10.3 AFD</a:t>
            </a:r>
            <a:endParaRPr lang="en-US" sz="1600" dirty="0"/>
          </a:p>
        </p:txBody>
      </p:sp>
      <p:sp>
        <p:nvSpPr>
          <p:cNvPr id="7" name="Shape 5"/>
          <p:cNvSpPr/>
          <p:nvPr/>
        </p:nvSpPr>
        <p:spPr>
          <a:xfrm>
            <a:off x="3584448" y="1261872"/>
            <a:ext cx="4297680" cy="1252728"/>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Estados, delta, guardas; tabla de transiciones = RF</a:t>
            </a:r>
            <a:endParaRPr lang="en-US" sz="1500" dirty="0"/>
          </a:p>
        </p:txBody>
      </p:sp>
      <p:sp>
        <p:nvSpPr>
          <p:cNvPr id="9" name="Shape 7"/>
          <p:cNvSpPr/>
          <p:nvPr/>
        </p:nvSpPr>
        <p:spPr>
          <a:xfrm>
            <a:off x="7918704" y="1261872"/>
            <a:ext cx="3913632" cy="1252728"/>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AFD del componente IoT más complejo del PFC</a:t>
            </a:r>
            <a:endParaRPr lang="en-US" sz="1400" dirty="0"/>
          </a:p>
        </p:txBody>
      </p:sp>
      <p:sp>
        <p:nvSpPr>
          <p:cNvPr id="11" name="Shape 9"/>
          <p:cNvSpPr/>
          <p:nvPr/>
        </p:nvSpPr>
        <p:spPr>
          <a:xfrm>
            <a:off x="347472" y="2587752"/>
            <a:ext cx="3200400" cy="1252728"/>
          </a:xfrm>
          <a:prstGeom prst="rect">
            <a:avLst/>
          </a:prstGeom>
          <a:solidFill>
            <a:srgbClr val="1565C0"/>
          </a:solidFill>
          <a:ln w="12700">
            <a:solidFill>
              <a:srgbClr val="1565C0"/>
            </a:solidFill>
            <a:prstDash val="solid"/>
          </a:ln>
        </p:spPr>
      </p:sp>
      <p:sp>
        <p:nvSpPr>
          <p:cNvPr id="12" name="Text 10"/>
          <p:cNvSpPr txBox="1"/>
          <p:nvPr/>
        </p:nvSpPr>
        <p:spPr>
          <a:xfrm>
            <a:off x="438912" y="263347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10.3 Statechart</a:t>
            </a:r>
            <a:endParaRPr lang="en-US" sz="1600" dirty="0"/>
          </a:p>
        </p:txBody>
      </p:sp>
      <p:sp>
        <p:nvSpPr>
          <p:cNvPr id="13" name="Shape 11"/>
          <p:cNvSpPr/>
          <p:nvPr/>
        </p:nvSpPr>
        <p:spPr>
          <a:xfrm>
            <a:off x="3584448" y="2587752"/>
            <a:ext cx="4297680" cy="1252728"/>
          </a:xfrm>
          <a:prstGeom prst="rect">
            <a:avLst/>
          </a:prstGeom>
          <a:solidFill>
            <a:srgbClr val="FFFFFF"/>
          </a:solidFill>
          <a:ln w="12700">
            <a:solidFill>
              <a:srgbClr val="D6E4F7"/>
            </a:solidFill>
            <a:prstDash val="solid"/>
          </a:ln>
        </p:spPr>
      </p:sp>
      <p:sp>
        <p:nvSpPr>
          <p:cNvPr id="14" name="Text 12"/>
          <p:cNvSpPr txBox="1"/>
          <p:nvPr/>
        </p:nvSpPr>
        <p:spPr>
          <a:xfrm>
            <a:off x="3675888" y="263347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Jerarquía, concurrencia, historia; guardas booleanas</a:t>
            </a:r>
            <a:endParaRPr lang="en-US" sz="1500" dirty="0"/>
          </a:p>
        </p:txBody>
      </p:sp>
      <p:sp>
        <p:nvSpPr>
          <p:cNvPr id="15" name="Shape 13"/>
          <p:cNvSpPr/>
          <p:nvPr/>
        </p:nvSpPr>
        <p:spPr>
          <a:xfrm>
            <a:off x="7918704" y="2587752"/>
            <a:ext cx="3913632" cy="1252728"/>
          </a:xfrm>
          <a:prstGeom prst="rect">
            <a:avLst/>
          </a:prstGeom>
          <a:solidFill>
            <a:srgbClr val="FFFFFF"/>
          </a:solidFill>
          <a:ln w="12700">
            <a:solidFill>
              <a:srgbClr val="D6E4F7"/>
            </a:solidFill>
            <a:prstDash val="solid"/>
          </a:ln>
        </p:spPr>
      </p:sp>
      <p:sp>
        <p:nvSpPr>
          <p:cNvPr id="16" name="Text 14"/>
          <p:cNvSpPr txBox="1"/>
          <p:nvPr/>
        </p:nvSpPr>
        <p:spPr>
          <a:xfrm>
            <a:off x="8010144" y="263347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Statechart de la entidad central del PFC</a:t>
            </a:r>
            <a:endParaRPr lang="en-US" sz="1400" dirty="0"/>
          </a:p>
        </p:txBody>
      </p:sp>
      <p:sp>
        <p:nvSpPr>
          <p:cNvPr id="17" name="Shape 15"/>
          <p:cNvSpPr/>
          <p:nvPr/>
        </p:nvSpPr>
        <p:spPr>
          <a:xfrm>
            <a:off x="347472" y="3913632"/>
            <a:ext cx="3200400" cy="1252728"/>
          </a:xfrm>
          <a:prstGeom prst="rect">
            <a:avLst/>
          </a:prstGeom>
          <a:solidFill>
            <a:srgbClr val="0D3B72"/>
          </a:solidFill>
          <a:ln w="12700">
            <a:solidFill>
              <a:srgbClr val="0D3B72"/>
            </a:solidFill>
            <a:prstDash val="solid"/>
          </a:ln>
        </p:spPr>
      </p:sp>
      <p:sp>
        <p:nvSpPr>
          <p:cNvPr id="18" name="Text 16"/>
          <p:cNvSpPr txBox="1"/>
          <p:nvPr/>
        </p:nvSpPr>
        <p:spPr>
          <a:xfrm>
            <a:off x="438912" y="395935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10.3 STM UML</a:t>
            </a:r>
            <a:endParaRPr lang="en-US" sz="1600" dirty="0"/>
          </a:p>
        </p:txBody>
      </p:sp>
      <p:sp>
        <p:nvSpPr>
          <p:cNvPr id="19" name="Shape 17"/>
          <p:cNvSpPr/>
          <p:nvPr/>
        </p:nvSpPr>
        <p:spPr>
          <a:xfrm>
            <a:off x="3584448" y="3913632"/>
            <a:ext cx="4297680" cy="1252728"/>
          </a:xfrm>
          <a:prstGeom prst="rect">
            <a:avLst/>
          </a:prstGeom>
          <a:solidFill>
            <a:srgbClr val="FFFFFF"/>
          </a:solidFill>
          <a:ln w="12700">
            <a:solidFill>
              <a:srgbClr val="D6E4F7"/>
            </a:solidFill>
            <a:prstDash val="solid"/>
          </a:ln>
        </p:spPr>
      </p:sp>
      <p:sp>
        <p:nvSpPr>
          <p:cNvPr id="20" name="Text 18"/>
          <p:cNvSpPr txBox="1"/>
          <p:nvPr/>
        </p:nvSpPr>
        <p:spPr>
          <a:xfrm>
            <a:off x="3675888" y="395935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Notación UML; pseudoestados; estados finales múltiples</a:t>
            </a:r>
            <a:endParaRPr lang="en-US" sz="1500" dirty="0"/>
          </a:p>
        </p:txBody>
      </p:sp>
      <p:sp>
        <p:nvSpPr>
          <p:cNvPr id="21" name="Shape 19"/>
          <p:cNvSpPr/>
          <p:nvPr/>
        </p:nvSpPr>
        <p:spPr>
          <a:xfrm>
            <a:off x="7918704" y="3913632"/>
            <a:ext cx="3913632" cy="1252728"/>
          </a:xfrm>
          <a:prstGeom prst="rect">
            <a:avLst/>
          </a:prstGeom>
          <a:solidFill>
            <a:srgbClr val="FFFFFF"/>
          </a:solidFill>
          <a:ln w="12700">
            <a:solidFill>
              <a:srgbClr val="D6E4F7"/>
            </a:solidFill>
            <a:prstDash val="solid"/>
          </a:ln>
        </p:spPr>
      </p:sp>
      <p:sp>
        <p:nvSpPr>
          <p:cNvPr id="22" name="Text 20"/>
          <p:cNvSpPr txBox="1"/>
          <p:nvPr/>
        </p:nvSpPr>
        <p:spPr>
          <a:xfrm>
            <a:off x="8010144" y="395935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STM UML de la entidad con ciclo de vida</a:t>
            </a:r>
            <a:endParaRPr lang="en-US" sz="1400" dirty="0"/>
          </a:p>
        </p:txBody>
      </p:sp>
      <p:sp>
        <p:nvSpPr>
          <p:cNvPr id="23" name="Shape 21"/>
          <p:cNvSpPr/>
          <p:nvPr/>
        </p:nvSpPr>
        <p:spPr>
          <a:xfrm>
            <a:off x="347472" y="5239512"/>
            <a:ext cx="3200400" cy="1252728"/>
          </a:xfrm>
          <a:prstGeom prst="rect">
            <a:avLst/>
          </a:prstGeom>
          <a:solidFill>
            <a:srgbClr val="1565C0"/>
          </a:solidFill>
          <a:ln w="12700">
            <a:solidFill>
              <a:srgbClr val="1565C0"/>
            </a:solidFill>
            <a:prstDash val="solid"/>
          </a:ln>
        </p:spPr>
      </p:sp>
      <p:sp>
        <p:nvSpPr>
          <p:cNvPr id="24" name="Text 22"/>
          <p:cNvSpPr txBox="1"/>
          <p:nvPr/>
        </p:nvSpPr>
        <p:spPr>
          <a:xfrm>
            <a:off x="438912" y="528523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10.4 Interrelaciones</a:t>
            </a:r>
            <a:endParaRPr lang="en-US" sz="1600" dirty="0"/>
          </a:p>
        </p:txBody>
      </p:sp>
      <p:sp>
        <p:nvSpPr>
          <p:cNvPr id="25" name="Shape 23"/>
          <p:cNvSpPr/>
          <p:nvPr/>
        </p:nvSpPr>
        <p:spPr>
          <a:xfrm>
            <a:off x="3584448" y="5239512"/>
            <a:ext cx="4297680" cy="1252728"/>
          </a:xfrm>
          <a:prstGeom prst="rect">
            <a:avLst/>
          </a:prstGeom>
          <a:solidFill>
            <a:srgbClr val="FFFFFF"/>
          </a:solidFill>
          <a:ln w="12700">
            <a:solidFill>
              <a:srgbClr val="D6E4F7"/>
            </a:solidFill>
            <a:prstDash val="solid"/>
          </a:ln>
        </p:spPr>
      </p:sp>
      <p:sp>
        <p:nvSpPr>
          <p:cNvPr id="26" name="Text 24"/>
          <p:cNvSpPr txBox="1"/>
          <p:nvPr/>
        </p:nvSpPr>
        <p:spPr>
          <a:xfrm>
            <a:off x="3675888" y="528523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Checklist 8 criterios; tabla de cruce; coherencia</a:t>
            </a:r>
            <a:endParaRPr lang="en-US" sz="1500" dirty="0"/>
          </a:p>
        </p:txBody>
      </p:sp>
      <p:sp>
        <p:nvSpPr>
          <p:cNvPr id="27" name="Shape 25"/>
          <p:cNvSpPr/>
          <p:nvPr/>
        </p:nvSpPr>
        <p:spPr>
          <a:xfrm>
            <a:off x="7918704" y="5239512"/>
            <a:ext cx="3913632" cy="1252728"/>
          </a:xfrm>
          <a:prstGeom prst="rect">
            <a:avLst/>
          </a:prstGeom>
          <a:solidFill>
            <a:srgbClr val="FFFFFF"/>
          </a:solidFill>
          <a:ln w="12700">
            <a:solidFill>
              <a:srgbClr val="D6E4F7"/>
            </a:solidFill>
            <a:prstDash val="solid"/>
          </a:ln>
        </p:spPr>
      </p:sp>
      <p:sp>
        <p:nvSpPr>
          <p:cNvPr id="28" name="Text 26"/>
          <p:cNvSpPr txBox="1"/>
          <p:nvPr/>
        </p:nvSpPr>
        <p:spPr>
          <a:xfrm>
            <a:off x="8010144" y="528523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Tabla de interrelaciones completa del PFC</a:t>
            </a:r>
            <a:endParaRPr lang="en-US" sz="1400" dirty="0"/>
          </a:p>
        </p:txBody>
      </p:sp>
      <p:sp>
        <p:nvSpPr>
          <p:cNvPr id="30" name="Text 2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Semana 10 — Síntesis</a:t>
            </a:r>
            <a:endParaRPr lang="en-US" sz="1600" dirty="0"/>
          </a:p>
        </p:txBody>
      </p:sp>
      <p:sp>
        <p:nvSpPr>
          <p:cNvPr id="4" name="Text 2"/>
          <p:cNvSpPr txBox="1"/>
          <p:nvPr/>
        </p:nvSpPr>
        <p:spPr>
          <a:xfrm>
            <a:off x="347472" y="1188720"/>
            <a:ext cx="11430000" cy="2926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 ERS con tres perspectivas coherentes (datos, función, comportamiento) es un ERS que no puede construirse de forma incorrecta.</a:t>
            </a:r>
            <a:endParaRPr lang="en-US" sz="3200" dirty="0"/>
          </a:p>
        </p:txBody>
      </p:sp>
      <p:sp>
        <p:nvSpPr>
          <p:cNvPr id="5" name="Shape 3"/>
          <p:cNvSpPr/>
          <p:nvPr/>
        </p:nvSpPr>
        <p:spPr>
          <a:xfrm>
            <a:off x="347472" y="4389120"/>
            <a:ext cx="11430000" cy="1005840"/>
          </a:xfrm>
          <a:prstGeom prst="rect">
            <a:avLst/>
          </a:prstGeom>
          <a:solidFill>
            <a:srgbClr val="C8960C"/>
          </a:solidFill>
          <a:ln w="12700">
            <a:solidFill>
              <a:srgbClr val="C8960C"/>
            </a:solidFill>
            <a:prstDash val="solid"/>
          </a:ln>
        </p:spPr>
      </p:sp>
      <p:sp>
        <p:nvSpPr>
          <p:cNvPr id="6" name="Text 4"/>
          <p:cNvSpPr txBox="1"/>
          <p:nvPr/>
        </p:nvSpPr>
        <p:spPr>
          <a:xfrm>
            <a:off x="502920" y="4462272"/>
            <a:ext cx="3657600" cy="320040"/>
          </a:xfrm>
          <a:prstGeom prst="rect">
            <a:avLst/>
          </a:prstGeom>
          <a:noFill/>
          <a:ln/>
        </p:spPr>
        <p:txBody>
          <a:bodyPr wrap="square" lIns="0" tIns="0" rIns="0" bIns="0" rtlCol="0" anchor="ctr"/>
          <a:lstStyle/>
          <a:p>
            <a:pPr indent="0" marL="0">
              <a:buNone/>
            </a:pPr>
            <a:r>
              <a:rPr lang="en-US" sz="1200" b="1" dirty="0">
                <a:solidFill>
                  <a:srgbClr val="0D3B72"/>
                </a:solidFill>
                <a:latin typeface="Calibri" pitchFamily="34" charset="0"/>
                <a:ea typeface="Calibri" pitchFamily="34" charset="-122"/>
                <a:cs typeface="Calibri" pitchFamily="34" charset="-120"/>
              </a:rPr>
              <a:t>PRÓXIMO PASO</a:t>
            </a:r>
            <a:endParaRPr lang="en-US" sz="1200" dirty="0"/>
          </a:p>
        </p:txBody>
      </p:sp>
      <p:sp>
        <p:nvSpPr>
          <p:cNvPr id="7" name="Text 5"/>
          <p:cNvSpPr txBox="1"/>
          <p:nvPr/>
        </p:nvSpPr>
        <p:spPr>
          <a:xfrm>
            <a:off x="502920" y="4754880"/>
            <a:ext cx="11064240" cy="548640"/>
          </a:xfrm>
          <a:prstGeom prst="rect">
            <a:avLst/>
          </a:prstGeom>
          <a:noFill/>
          <a:ln/>
        </p:spPr>
        <p:txBody>
          <a:bodyPr wrap="square" lIns="0" tIns="0" rIns="0" bIns="0" rtlCol="0" anchor="ctr"/>
          <a:lstStyle/>
          <a:p>
            <a:pPr indent="0" marL="0">
              <a:buNone/>
            </a:pPr>
            <a:r>
              <a:rPr lang="en-US" sz="1800" b="1" dirty="0">
                <a:solidFill>
                  <a:srgbClr val="0D3B72"/>
                </a:solidFill>
                <a:latin typeface="Calibri" pitchFamily="34" charset="0"/>
                <a:ea typeface="Calibri" pitchFamily="34" charset="-122"/>
                <a:cs typeface="Calibri" pitchFamily="34" charset="-120"/>
              </a:rPr>
              <a:t>Semana 11: validación de requisitos — walkthroughs, inspecciones Fagan y pruebas de aceptación</a:t>
            </a:r>
            <a:endParaRPr lang="en-US" sz="18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2026-10-28T11:59:21Z</dcterms:created>
  <dcterms:modified xsi:type="dcterms:W3CDTF">2026-10-28T11:59:21Z</dcterms:modified>
</cp:coreProperties>
</file>