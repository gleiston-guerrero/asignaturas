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cuatro fuentes de requisitos son: stakeholders (elicitación directa), documentos existentes (elicitación documental), sistemas existentes (ingeniería inversa) y el propio dominio del negocio. El ciclo de elicitación tiene 4 pasos que se repiten: preparar → elicitar → consolidar → validar. La mayor dificultad es que los usuarios conocen sus tareas pero no sus necesidades — el analista debe convertir tareas en necesidades y necesidades en requisitos.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entrevista semiestructurada es el estándar en IR. La guía de preguntas garantiza cobertura; la conversación libre permite descubrir lo inesperado. Los "5 Whys" revelan requisitos latentes: el cliente dice "quiero un reporte mensual" (deseo), pero detrás hay "quiero saber si la producción de leche bajó" (necesidad) que puede satisfacerse con un dashboard en tiempo real más efectivo que un PDF mensual. La técnica walk-me-through es especialmente potente para procesos físicos: en una camaronera, el técnico que "te explica mientras lo hace" revela tareas invisibles que nunca habría mencionado en una entrevista abstracta.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taller de requisitos (también llamado JAD: Joint Application Development) es 3× más eficiente que entrevistas individuales para resolver conflictos porque todos los actores están presentes y pueden negociar en tiempo real. El facilitador es la clave: si toma partido o propone soluciones, pierde credibilidad. En el PFC, el "taller" con el cliente puede ser una reunión de 2 horas con el stakeholder principal + un usuario representativo + el equipo de desarrollo.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etnografía es la técnica más poderosa para sistemas que reemplazan procesos manuales. En una camaronera, observar al técnico midiendo la temperatura del agua manualmente con un termómetro de vidrio revela requisitos de usabilidad (interfaz para ingresar datos con guantes) y de confiabilidad (sistema funciona sin Internet en zona rural). Estos requisitos NUNCA aparecen en una entrevista porque el usuario los considera "obvios".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proyectos de gobierno (GAD, IESS, SRI) los pliegos de contratación pública tienen requisitos técnicos formales — son la primera fuente documental. Para sistemas de salud, las fichas médicas en papel contienen el modelo de datos real. El análisis del sistema existente ("as-is") es obligatorio antes de especificar el sistema nuevo — sin entender qué funciona bien en el sistema actual, el nuevo sistema puede romper flujos de trabajo que los usuarios valoran.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5 técnicas no son alternativas — se complementan. Para el PFC, el plan de elicitación debe combinar al menos 3 de ellas. La observación es la más subestimada y la que más RF latentes descubre.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365760"/>
            <a:ext cx="11430000" cy="914400"/>
          </a:xfrm>
          <a:prstGeom prst="rect">
            <a:avLst/>
          </a:prstGeom>
          <a:noFill/>
          <a:ln/>
        </p:spPr>
        <p:txBody>
          <a:bodyPr wrap="square" lIns="0" tIns="0" rIns="0" bIns="0" rtlCol="0" anchor="ctr"/>
          <a:lstStyle/>
          <a:p>
            <a:pPr indent="0" marL="0">
              <a:buNone/>
            </a:pPr>
            <a:r>
              <a:rPr lang="en-US" sz="2200" dirty="0">
                <a:solidFill>
                  <a:srgbClr val="C8960C"/>
                </a:solidFill>
                <a:latin typeface="Cambria" pitchFamily="34" charset="0"/>
                <a:ea typeface="Cambria" pitchFamily="34" charset="-122"/>
                <a:cs typeface="Cambria" pitchFamily="34" charset="-120"/>
              </a:rPr>
              <a:t>Semana 3</a:t>
            </a:r>
            <a:endParaRPr lang="en-US" sz="2200" dirty="0"/>
          </a:p>
        </p:txBody>
      </p:sp>
      <p:sp>
        <p:nvSpPr>
          <p:cNvPr id="4" name="Text 2"/>
          <p:cNvSpPr txBox="1"/>
          <p:nvPr/>
        </p:nvSpPr>
        <p:spPr>
          <a:xfrm>
            <a:off x="347472" y="1097280"/>
            <a:ext cx="11430000" cy="25603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Elicitación de requisitos: técnicas clásicas</a:t>
            </a:r>
            <a:endParaRPr lang="en-US" sz="4000" dirty="0"/>
          </a:p>
        </p:txBody>
      </p:sp>
      <p:sp>
        <p:nvSpPr>
          <p:cNvPr id="5" name="Text 3"/>
          <p:cNvSpPr txBox="1"/>
          <p:nvPr/>
        </p:nvSpPr>
        <p:spPr>
          <a:xfrm>
            <a:off x="347472" y="3749040"/>
            <a:ext cx="11430000" cy="822960"/>
          </a:xfrm>
          <a:prstGeom prst="rect">
            <a:avLst/>
          </a:prstGeom>
          <a:noFill/>
          <a:ln/>
        </p:spPr>
        <p:txBody>
          <a:bodyPr wrap="square" lIns="0" tIns="0" rIns="0" bIns="0" rtlCol="0" anchor="ctr"/>
          <a:lstStyle/>
          <a:p>
            <a:pPr indent="0" marL="0">
              <a:buNone/>
            </a:pPr>
            <a:r>
              <a:rPr lang="en-US" sz="2000" dirty="0">
                <a:solidFill>
                  <a:srgbClr val="D6E4F7"/>
                </a:solidFill>
                <a:latin typeface="Calibri" pitchFamily="34" charset="0"/>
                <a:ea typeface="Calibri" pitchFamily="34" charset="-122"/>
                <a:cs typeface="Calibri" pitchFamily="34" charset="-120"/>
              </a:rPr>
              <a:t>Tema 5 — Entrevistas, talleres, observación y análisis documental</a:t>
            </a:r>
            <a:endParaRPr lang="en-US" sz="2000" dirty="0"/>
          </a:p>
        </p:txBody>
      </p:sp>
      <p:sp>
        <p:nvSpPr>
          <p:cNvPr id="6" name="Text 4"/>
          <p:cNvSpPr txBox="1"/>
          <p:nvPr/>
        </p:nvSpPr>
        <p:spPr>
          <a:xfrm>
            <a:off x="347472" y="4663440"/>
            <a:ext cx="11430000" cy="548640"/>
          </a:xfrm>
          <a:prstGeom prst="rect">
            <a:avLst/>
          </a:prstGeom>
          <a:noFill/>
          <a:ln/>
        </p:spPr>
        <p:txBody>
          <a:bodyPr wrap="square" lIns="0" tIns="0" rIns="0" bIns="0" rtlCol="0" anchor="ctr"/>
          <a:lstStyle/>
          <a:p>
            <a:pPr indent="0" marL="0">
              <a:buNone/>
            </a:pPr>
            <a:r>
              <a:rPr lang="en-US" sz="1600" dirty="0">
                <a:solidFill>
                  <a:srgbClr val="C8960C"/>
                </a:solidFill>
                <a:latin typeface="Calibri" pitchFamily="34" charset="0"/>
                <a:ea typeface="Calibri" pitchFamily="34" charset="-122"/>
                <a:cs typeface="Calibri" pitchFamily="34" charset="-120"/>
              </a:rPr>
              <a:t>Unidad 2: Elicitación y Análisis de Requisitos</a:t>
            </a:r>
            <a:endParaRPr lang="en-US" sz="1600" dirty="0"/>
          </a:p>
        </p:txBody>
      </p:sp>
      <p:sp>
        <p:nvSpPr>
          <p:cNvPr id="7" name="Text 5"/>
          <p:cNvSpPr txBox="1"/>
          <p:nvPr/>
        </p:nvSpPr>
        <p:spPr>
          <a:xfrm>
            <a:off x="347472" y="6126480"/>
            <a:ext cx="11430000" cy="457200"/>
          </a:xfrm>
          <a:prstGeom prst="rect">
            <a:avLst/>
          </a:prstGeom>
          <a:noFill/>
          <a:ln/>
        </p:spPr>
        <p:txBody>
          <a:bodyPr wrap="square" lIns="0" tIns="0" rIns="0" bIns="0" rtlCol="0" anchor="ctr"/>
          <a:lstStyle/>
          <a:p>
            <a:pPr indent="0" marL="0">
              <a:buNone/>
            </a:pPr>
            <a:r>
              <a:rPr lang="en-US" sz="1300" dirty="0">
                <a:solidFill>
                  <a:srgbClr val="D6E4F7"/>
                </a:solidFill>
                <a:latin typeface="Calibri" pitchFamily="34" charset="0"/>
                <a:ea typeface="Calibri" pitchFamily="34" charset="-122"/>
                <a:cs typeface="Calibri" pitchFamily="34" charset="-120"/>
              </a:rPr>
              <a:t>ISR-401 · Ingeniería de Requisitos · UTEQ</a:t>
            </a:r>
            <a:endParaRPr lang="en-US" sz="1300" dirty="0"/>
          </a:p>
        </p:txBody>
      </p:sp>
      <p:sp>
        <p:nvSpPr>
          <p:cNvPr id="8" name="Text 6"/>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100" dirty="0">
                <a:solidFill>
                  <a:srgbClr val="C8960C"/>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256032"/>
            <a:ext cx="11430000" cy="502920"/>
          </a:xfrm>
          <a:prstGeom prst="rect">
            <a:avLst/>
          </a:prstGeom>
          <a:noFill/>
          <a:ln/>
        </p:spPr>
        <p:txBody>
          <a:bodyPr wrap="square" lIns="0" tIns="0" rIns="0" bIns="0" rtlCol="0" anchor="ctr"/>
          <a:lstStyle/>
          <a:p>
            <a:pPr indent="0" marL="0">
              <a:buNone/>
            </a:pPr>
            <a:r>
              <a:rPr lang="en-US" sz="1300" b="1" dirty="0">
                <a:solidFill>
                  <a:srgbClr val="C8960C"/>
                </a:solidFill>
                <a:latin typeface="Calibri" pitchFamily="34" charset="0"/>
                <a:ea typeface="Calibri" pitchFamily="34" charset="-122"/>
                <a:cs typeface="Calibri" pitchFamily="34" charset="-120"/>
              </a:rPr>
              <a:t>PLANIFICACIÓN DE LA CLASE</a:t>
            </a:r>
            <a:endParaRPr lang="en-US" sz="1300" dirty="0"/>
          </a:p>
        </p:txBody>
      </p:sp>
      <p:sp>
        <p:nvSpPr>
          <p:cNvPr id="4" name="Text 2"/>
          <p:cNvSpPr txBox="1"/>
          <p:nvPr/>
        </p:nvSpPr>
        <p:spPr>
          <a:xfrm>
            <a:off x="347472" y="749808"/>
            <a:ext cx="11430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¿Qué haremos hoy?</a:t>
            </a:r>
            <a:endParaRPr lang="en-US" sz="3200" dirty="0"/>
          </a:p>
        </p:txBody>
      </p:sp>
      <p:sp>
        <p:nvSpPr>
          <p:cNvPr id="5" name="Shape 3"/>
          <p:cNvSpPr/>
          <p:nvPr/>
        </p:nvSpPr>
        <p:spPr>
          <a:xfrm>
            <a:off x="347472" y="1554480"/>
            <a:ext cx="3703320" cy="2057400"/>
          </a:xfrm>
          <a:prstGeom prst="roundRect">
            <a:avLst>
              <a:gd name="adj" fmla="val 3556"/>
            </a:avLst>
          </a:prstGeom>
          <a:solidFill>
            <a:srgbClr val="1565C0"/>
          </a:solidFill>
          <a:ln w="12700">
            <a:solidFill>
              <a:srgbClr val="1565C0"/>
            </a:solidFill>
            <a:prstDash val="solid"/>
          </a:ln>
        </p:spPr>
      </p:sp>
      <p:sp>
        <p:nvSpPr>
          <p:cNvPr id="6" name="Text 4"/>
          <p:cNvSpPr txBox="1"/>
          <p:nvPr/>
        </p:nvSpPr>
        <p:spPr>
          <a:xfrm>
            <a:off x="45720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45720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Fundamentos (20 min)</a:t>
            </a:r>
            <a:endParaRPr lang="en-US" sz="1500" dirty="0"/>
          </a:p>
        </p:txBody>
      </p:sp>
      <p:sp>
        <p:nvSpPr>
          <p:cNvPr id="8" name="Text 6"/>
          <p:cNvSpPr txBox="1"/>
          <p:nvPr/>
        </p:nvSpPr>
        <p:spPr>
          <a:xfrm>
            <a:off x="45720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Por qué es difícil · 4 pasos del ciclo</a:t>
            </a:r>
            <a:endParaRPr lang="en-US" sz="1200" dirty="0"/>
          </a:p>
        </p:txBody>
      </p:sp>
      <p:sp>
        <p:nvSpPr>
          <p:cNvPr id="9" name="Shape 7"/>
          <p:cNvSpPr/>
          <p:nvPr/>
        </p:nvSpPr>
        <p:spPr>
          <a:xfrm>
            <a:off x="4187952" y="1554480"/>
            <a:ext cx="3703320" cy="2057400"/>
          </a:xfrm>
          <a:prstGeom prst="roundRect">
            <a:avLst>
              <a:gd name="adj" fmla="val 3556"/>
            </a:avLst>
          </a:prstGeom>
          <a:solidFill>
            <a:srgbClr val="1565C0"/>
          </a:solidFill>
          <a:ln w="12700">
            <a:solidFill>
              <a:srgbClr val="1565C0"/>
            </a:solidFill>
            <a:prstDash val="solid"/>
          </a:ln>
        </p:spPr>
      </p:sp>
      <p:sp>
        <p:nvSpPr>
          <p:cNvPr id="10" name="Text 8"/>
          <p:cNvSpPr txBox="1"/>
          <p:nvPr/>
        </p:nvSpPr>
        <p:spPr>
          <a:xfrm>
            <a:off x="429768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429768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Entrevistas (35 min)</a:t>
            </a:r>
            <a:endParaRPr lang="en-US" sz="1500" dirty="0"/>
          </a:p>
        </p:txBody>
      </p:sp>
      <p:sp>
        <p:nvSpPr>
          <p:cNvPr id="12" name="Text 10"/>
          <p:cNvSpPr txBox="1"/>
          <p:nvPr/>
        </p:nvSpPr>
        <p:spPr>
          <a:xfrm>
            <a:off x="429768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Tipos · técnicas de pregunta · guía de preparación</a:t>
            </a:r>
            <a:endParaRPr lang="en-US" sz="1200" dirty="0"/>
          </a:p>
        </p:txBody>
      </p:sp>
      <p:sp>
        <p:nvSpPr>
          <p:cNvPr id="13" name="Shape 11"/>
          <p:cNvSpPr/>
          <p:nvPr/>
        </p:nvSpPr>
        <p:spPr>
          <a:xfrm>
            <a:off x="8028432" y="1554480"/>
            <a:ext cx="3703320" cy="2057400"/>
          </a:xfrm>
          <a:prstGeom prst="roundRect">
            <a:avLst>
              <a:gd name="adj" fmla="val 3556"/>
            </a:avLst>
          </a:prstGeom>
          <a:solidFill>
            <a:srgbClr val="1565C0"/>
          </a:solidFill>
          <a:ln w="12700">
            <a:solidFill>
              <a:srgbClr val="1565C0"/>
            </a:solidFill>
            <a:prstDash val="solid"/>
          </a:ln>
        </p:spPr>
      </p:sp>
      <p:sp>
        <p:nvSpPr>
          <p:cNvPr id="14" name="Text 12"/>
          <p:cNvSpPr txBox="1"/>
          <p:nvPr/>
        </p:nvSpPr>
        <p:spPr>
          <a:xfrm>
            <a:off x="813816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813816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Talleres y grupos (25 min)</a:t>
            </a:r>
            <a:endParaRPr lang="en-US" sz="1500" dirty="0"/>
          </a:p>
        </p:txBody>
      </p:sp>
      <p:sp>
        <p:nvSpPr>
          <p:cNvPr id="16" name="Text 14"/>
          <p:cNvSpPr txBox="1"/>
          <p:nvPr/>
        </p:nvSpPr>
        <p:spPr>
          <a:xfrm>
            <a:off x="813816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Estructura de un taller · rol del facilitador</a:t>
            </a:r>
            <a:endParaRPr lang="en-US" sz="1200" dirty="0"/>
          </a:p>
        </p:txBody>
      </p:sp>
      <p:sp>
        <p:nvSpPr>
          <p:cNvPr id="17" name="Shape 15"/>
          <p:cNvSpPr/>
          <p:nvPr/>
        </p:nvSpPr>
        <p:spPr>
          <a:xfrm>
            <a:off x="347472" y="3749040"/>
            <a:ext cx="3703320" cy="2057400"/>
          </a:xfrm>
          <a:prstGeom prst="roundRect">
            <a:avLst>
              <a:gd name="adj" fmla="val 3556"/>
            </a:avLst>
          </a:prstGeom>
          <a:solidFill>
            <a:srgbClr val="1565C0"/>
          </a:solidFill>
          <a:ln w="12700">
            <a:solidFill>
              <a:srgbClr val="1565C0"/>
            </a:solidFill>
            <a:prstDash val="solid"/>
          </a:ln>
        </p:spPr>
      </p:sp>
      <p:sp>
        <p:nvSpPr>
          <p:cNvPr id="18" name="Text 16"/>
          <p:cNvSpPr txBox="1"/>
          <p:nvPr/>
        </p:nvSpPr>
        <p:spPr>
          <a:xfrm>
            <a:off x="45720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4</a:t>
            </a:r>
            <a:endParaRPr lang="en-US" sz="2200" dirty="0"/>
          </a:p>
        </p:txBody>
      </p:sp>
      <p:sp>
        <p:nvSpPr>
          <p:cNvPr id="19" name="Text 17"/>
          <p:cNvSpPr txBox="1"/>
          <p:nvPr/>
        </p:nvSpPr>
        <p:spPr>
          <a:xfrm>
            <a:off x="45720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Observación y docs (20 min)</a:t>
            </a:r>
            <a:endParaRPr lang="en-US" sz="1500" dirty="0"/>
          </a:p>
        </p:txBody>
      </p:sp>
      <p:sp>
        <p:nvSpPr>
          <p:cNvPr id="20" name="Text 18"/>
          <p:cNvSpPr txBox="1"/>
          <p:nvPr/>
        </p:nvSpPr>
        <p:spPr>
          <a:xfrm>
            <a:off x="45720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Etnografía rápida · análisis documental</a:t>
            </a:r>
            <a:endParaRPr lang="en-US" sz="1200" dirty="0"/>
          </a:p>
        </p:txBody>
      </p:sp>
      <p:sp>
        <p:nvSpPr>
          <p:cNvPr id="21" name="Shape 19"/>
          <p:cNvSpPr/>
          <p:nvPr/>
        </p:nvSpPr>
        <p:spPr>
          <a:xfrm>
            <a:off x="4187952" y="3749040"/>
            <a:ext cx="3703320" cy="2057400"/>
          </a:xfrm>
          <a:prstGeom prst="roundRect">
            <a:avLst>
              <a:gd name="adj" fmla="val 3556"/>
            </a:avLst>
          </a:prstGeom>
          <a:solidFill>
            <a:srgbClr val="1565C0"/>
          </a:solidFill>
          <a:ln w="12700">
            <a:solidFill>
              <a:srgbClr val="1565C0"/>
            </a:solidFill>
            <a:prstDash val="solid"/>
          </a:ln>
        </p:spPr>
      </p:sp>
      <p:sp>
        <p:nvSpPr>
          <p:cNvPr id="22" name="Text 20"/>
          <p:cNvSpPr txBox="1"/>
          <p:nvPr/>
        </p:nvSpPr>
        <p:spPr>
          <a:xfrm>
            <a:off x="429768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5</a:t>
            </a:r>
            <a:endParaRPr lang="en-US" sz="2200" dirty="0"/>
          </a:p>
        </p:txBody>
      </p:sp>
      <p:sp>
        <p:nvSpPr>
          <p:cNvPr id="23" name="Text 21"/>
          <p:cNvSpPr txBox="1"/>
          <p:nvPr/>
        </p:nvSpPr>
        <p:spPr>
          <a:xfrm>
            <a:off x="429768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PE-3 (60 min)</a:t>
            </a:r>
            <a:endParaRPr lang="en-US" sz="1500" dirty="0"/>
          </a:p>
        </p:txBody>
      </p:sp>
      <p:sp>
        <p:nvSpPr>
          <p:cNvPr id="24" name="Text 22"/>
          <p:cNvSpPr txBox="1"/>
          <p:nvPr/>
        </p:nvSpPr>
        <p:spPr>
          <a:xfrm>
            <a:off x="429768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Roleplay: entrevista analista/stakeholder para minimarket</a:t>
            </a:r>
            <a:endParaRPr lang="en-US" sz="1200" dirty="0"/>
          </a:p>
        </p:txBody>
      </p:sp>
      <p:sp>
        <p:nvSpPr>
          <p:cNvPr id="25" name="Text 23"/>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¿Por qué la elicitación es difícil?</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Conocimiento TÁCITO: los usuarios conocen su trabajo pero no saben cómo expresarlo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Problema de frontera: nadie sabe exactamente dónde termina el problema y empieza la solución</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Conflictos de interés: distintos stakeholders quieren cosas incompatibles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Vocabulario diferente: el cliente habla de "registros" — el ingeniero piensa en "entidades de BD"</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El analista de requisitos es, antes que nada, un comunicador experto</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La entrevista de elicitación</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Entrevista ESTRUCTURADA: preguntas fijas en orden — útil para comparar múltiples stakeholders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Entrevista SEMIESTRUCTURADA: guía de temas pero conversación libre — la más usada en IR</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Entrevista NO ESTRUCTURADA: exploratoria — para descubrir el dominio al principio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Técnica "walk-me-through": pedir al usuario que demuestre su trabajo paso a paso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Técnica "5 Whys": preguntar ¿por qué? cinco veces seguidas para llegar a la causa raíz</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Regla: escuchar 80 % del tiempo, hablar 20 %. Las preguntas abiertas primero</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Talleres de requisitos y grupos focales</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Taller de requisitos: sesión estructurada con todos los stakeholders clave en un mismo espacio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Objetivo: alcanzar consenso en poco tiempo (1–2 días) sobre requisitos prioritarios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Rol del facilitador: neutral, mantiene el foco, no propone soluciones, gestiona conflictos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Estructura mínima: (1) objetivo claro · (2) agenda publicada · (3) reglas de participación · (4) acta de acuerdos</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Grupo focal: más pequeño (6–8 personas), para explorar percepciones y actitudes, no llegar a acuerdos</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Observación y etnografía aplicada a IR</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Observación PASIVA: el analista observa sin participar — para entender el proceso real (no el ideal)</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Observación ACTIVA: el analista participa en las tareas — para experimentar las dificultades de primera mano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Etnografía rápida: inmersión breve (2–8 h) en el contexto del usuario para capturar el trabajo cotidiano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Brecha AS-IS / TO-BE: la diferencia entre el proceso actual y el proceso deseado = fuente de RF</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Lo que el usuario hace ≠ lo que el usuario dice que hace. La observación cierra esa brecha</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Análisis de documentos y sistemas existentes</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Documentos clave en el sector público local: pliegos SERCOP, formularios IESS, declaraciones SRI, resoluciones GAD</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Proceso: inventariar → evaluar relevancia → extraer candidatos a requisitos → validar con stakeholders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Ingeniería inversa: analizar el sistema actual para derivar qué hace (RF implícitos) y qué falla (oportunidades de mejora)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Pantallas capturadas del sistema actual = artefacto de elicitación poderoso</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Regla: los documentos dicen qué se supone que debe pasar; la observación muestra qué pasa realmente</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Mapa síntesis — Semana 3: 5 técnicas clásicas</a:t>
            </a:r>
            <a:endParaRPr lang="en-US" sz="2800" dirty="0"/>
          </a:p>
        </p:txBody>
      </p:sp>
      <p:sp>
        <p:nvSpPr>
          <p:cNvPr id="5" name="Shape 3"/>
          <p:cNvSpPr/>
          <p:nvPr/>
        </p:nvSpPr>
        <p:spPr>
          <a:xfrm>
            <a:off x="347472" y="1261872"/>
            <a:ext cx="3200400" cy="987552"/>
          </a:xfrm>
          <a:prstGeom prst="rect">
            <a:avLst/>
          </a:prstGeom>
          <a:solidFill>
            <a:srgbClr val="0D3B72"/>
          </a:solidFill>
          <a:ln w="12700">
            <a:solidFill>
              <a:srgbClr val="0D3B72"/>
            </a:solidFill>
            <a:prstDash val="solid"/>
          </a:ln>
        </p:spPr>
      </p:sp>
      <p:sp>
        <p:nvSpPr>
          <p:cNvPr id="6" name="Text 4"/>
          <p:cNvSpPr txBox="1"/>
          <p:nvPr/>
        </p:nvSpPr>
        <p:spPr>
          <a:xfrm>
            <a:off x="438912" y="1307592"/>
            <a:ext cx="3017520" cy="89611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5.1 Fundamentos</a:t>
            </a:r>
            <a:endParaRPr lang="en-US" sz="1600" dirty="0"/>
          </a:p>
        </p:txBody>
      </p:sp>
      <p:sp>
        <p:nvSpPr>
          <p:cNvPr id="7" name="Shape 5"/>
          <p:cNvSpPr/>
          <p:nvPr/>
        </p:nvSpPr>
        <p:spPr>
          <a:xfrm>
            <a:off x="3584448" y="1261872"/>
            <a:ext cx="4297680" cy="987552"/>
          </a:xfrm>
          <a:prstGeom prst="rect">
            <a:avLst/>
          </a:prstGeom>
          <a:solidFill>
            <a:srgbClr val="FFFFFF"/>
          </a:solidFill>
          <a:ln w="12700">
            <a:solidFill>
              <a:srgbClr val="D6E4F7"/>
            </a:solidFill>
            <a:prstDash val="solid"/>
          </a:ln>
        </p:spPr>
      </p:sp>
      <p:sp>
        <p:nvSpPr>
          <p:cNvPr id="8" name="Text 6"/>
          <p:cNvSpPr txBox="1"/>
          <p:nvPr/>
        </p:nvSpPr>
        <p:spPr>
          <a:xfrm>
            <a:off x="3675888" y="1307592"/>
            <a:ext cx="4114800" cy="896112"/>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Conocimiento tácito; 4 pasos del ciclo</a:t>
            </a:r>
            <a:endParaRPr lang="en-US" sz="1500" dirty="0"/>
          </a:p>
        </p:txBody>
      </p:sp>
      <p:sp>
        <p:nvSpPr>
          <p:cNvPr id="9" name="Shape 7"/>
          <p:cNvSpPr/>
          <p:nvPr/>
        </p:nvSpPr>
        <p:spPr>
          <a:xfrm>
            <a:off x="7918704" y="1261872"/>
            <a:ext cx="3913632" cy="987552"/>
          </a:xfrm>
          <a:prstGeom prst="rect">
            <a:avLst/>
          </a:prstGeom>
          <a:solidFill>
            <a:srgbClr val="FFFFFF"/>
          </a:solidFill>
          <a:ln w="12700">
            <a:solidFill>
              <a:srgbClr val="D6E4F7"/>
            </a:solidFill>
            <a:prstDash val="solid"/>
          </a:ln>
        </p:spPr>
      </p:sp>
      <p:sp>
        <p:nvSpPr>
          <p:cNvPr id="10" name="Text 8"/>
          <p:cNvSpPr txBox="1"/>
          <p:nvPr/>
        </p:nvSpPr>
        <p:spPr>
          <a:xfrm>
            <a:off x="8010144" y="1307592"/>
            <a:ext cx="3730752" cy="896112"/>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Selección de técnicas para el kickoff del PFC</a:t>
            </a:r>
            <a:endParaRPr lang="en-US" sz="1400" dirty="0"/>
          </a:p>
        </p:txBody>
      </p:sp>
      <p:sp>
        <p:nvSpPr>
          <p:cNvPr id="11" name="Shape 9"/>
          <p:cNvSpPr/>
          <p:nvPr/>
        </p:nvSpPr>
        <p:spPr>
          <a:xfrm>
            <a:off x="347472" y="2322576"/>
            <a:ext cx="3200400" cy="987552"/>
          </a:xfrm>
          <a:prstGeom prst="rect">
            <a:avLst/>
          </a:prstGeom>
          <a:solidFill>
            <a:srgbClr val="1565C0"/>
          </a:solidFill>
          <a:ln w="12700">
            <a:solidFill>
              <a:srgbClr val="1565C0"/>
            </a:solidFill>
            <a:prstDash val="solid"/>
          </a:ln>
        </p:spPr>
      </p:sp>
      <p:sp>
        <p:nvSpPr>
          <p:cNvPr id="12" name="Text 10"/>
          <p:cNvSpPr txBox="1"/>
          <p:nvPr/>
        </p:nvSpPr>
        <p:spPr>
          <a:xfrm>
            <a:off x="438912" y="2368296"/>
            <a:ext cx="3017520" cy="89611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5.2 Entrevistas</a:t>
            </a:r>
            <a:endParaRPr lang="en-US" sz="1600" dirty="0"/>
          </a:p>
        </p:txBody>
      </p:sp>
      <p:sp>
        <p:nvSpPr>
          <p:cNvPr id="13" name="Shape 11"/>
          <p:cNvSpPr/>
          <p:nvPr/>
        </p:nvSpPr>
        <p:spPr>
          <a:xfrm>
            <a:off x="3584448" y="2322576"/>
            <a:ext cx="4297680" cy="987552"/>
          </a:xfrm>
          <a:prstGeom prst="rect">
            <a:avLst/>
          </a:prstGeom>
          <a:solidFill>
            <a:srgbClr val="FFFFFF"/>
          </a:solidFill>
          <a:ln w="12700">
            <a:solidFill>
              <a:srgbClr val="D6E4F7"/>
            </a:solidFill>
            <a:prstDash val="solid"/>
          </a:ln>
        </p:spPr>
      </p:sp>
      <p:sp>
        <p:nvSpPr>
          <p:cNvPr id="14" name="Text 12"/>
          <p:cNvSpPr txBox="1"/>
          <p:nvPr/>
        </p:nvSpPr>
        <p:spPr>
          <a:xfrm>
            <a:off x="3675888" y="2368296"/>
            <a:ext cx="4114800" cy="896112"/>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Walk-me-through; 5 Whys; guía semiestructurada</a:t>
            </a:r>
            <a:endParaRPr lang="en-US" sz="1500" dirty="0"/>
          </a:p>
        </p:txBody>
      </p:sp>
      <p:sp>
        <p:nvSpPr>
          <p:cNvPr id="15" name="Shape 13"/>
          <p:cNvSpPr/>
          <p:nvPr/>
        </p:nvSpPr>
        <p:spPr>
          <a:xfrm>
            <a:off x="7918704" y="2322576"/>
            <a:ext cx="3913632" cy="987552"/>
          </a:xfrm>
          <a:prstGeom prst="rect">
            <a:avLst/>
          </a:prstGeom>
          <a:solidFill>
            <a:srgbClr val="FFFFFF"/>
          </a:solidFill>
          <a:ln w="12700">
            <a:solidFill>
              <a:srgbClr val="D6E4F7"/>
            </a:solidFill>
            <a:prstDash val="solid"/>
          </a:ln>
        </p:spPr>
      </p:sp>
      <p:sp>
        <p:nvSpPr>
          <p:cNvPr id="16" name="Text 14"/>
          <p:cNvSpPr txBox="1"/>
          <p:nvPr/>
        </p:nvSpPr>
        <p:spPr>
          <a:xfrm>
            <a:off x="8010144" y="2368296"/>
            <a:ext cx="3730752" cy="896112"/>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Primera ronda con el cliente del PFC</a:t>
            </a:r>
            <a:endParaRPr lang="en-US" sz="1400" dirty="0"/>
          </a:p>
        </p:txBody>
      </p:sp>
      <p:sp>
        <p:nvSpPr>
          <p:cNvPr id="17" name="Shape 15"/>
          <p:cNvSpPr/>
          <p:nvPr/>
        </p:nvSpPr>
        <p:spPr>
          <a:xfrm>
            <a:off x="347472" y="3383280"/>
            <a:ext cx="3200400" cy="987552"/>
          </a:xfrm>
          <a:prstGeom prst="rect">
            <a:avLst/>
          </a:prstGeom>
          <a:solidFill>
            <a:srgbClr val="0D3B72"/>
          </a:solidFill>
          <a:ln w="12700">
            <a:solidFill>
              <a:srgbClr val="0D3B72"/>
            </a:solidFill>
            <a:prstDash val="solid"/>
          </a:ln>
        </p:spPr>
      </p:sp>
      <p:sp>
        <p:nvSpPr>
          <p:cNvPr id="18" name="Text 16"/>
          <p:cNvSpPr txBox="1"/>
          <p:nvPr/>
        </p:nvSpPr>
        <p:spPr>
          <a:xfrm>
            <a:off x="438912" y="3429000"/>
            <a:ext cx="3017520" cy="89611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5.3 Talleres</a:t>
            </a:r>
            <a:endParaRPr lang="en-US" sz="1600" dirty="0"/>
          </a:p>
        </p:txBody>
      </p:sp>
      <p:sp>
        <p:nvSpPr>
          <p:cNvPr id="19" name="Shape 17"/>
          <p:cNvSpPr/>
          <p:nvPr/>
        </p:nvSpPr>
        <p:spPr>
          <a:xfrm>
            <a:off x="3584448" y="3383280"/>
            <a:ext cx="4297680" cy="987552"/>
          </a:xfrm>
          <a:prstGeom prst="rect">
            <a:avLst/>
          </a:prstGeom>
          <a:solidFill>
            <a:srgbClr val="FFFFFF"/>
          </a:solidFill>
          <a:ln w="12700">
            <a:solidFill>
              <a:srgbClr val="D6E4F7"/>
            </a:solidFill>
            <a:prstDash val="solid"/>
          </a:ln>
        </p:spPr>
      </p:sp>
      <p:sp>
        <p:nvSpPr>
          <p:cNvPr id="20" name="Text 18"/>
          <p:cNvSpPr txBox="1"/>
          <p:nvPr/>
        </p:nvSpPr>
        <p:spPr>
          <a:xfrm>
            <a:off x="3675888" y="3429000"/>
            <a:ext cx="4114800" cy="896112"/>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Facilitador neutral; agenda; acuerdos documentados</a:t>
            </a:r>
            <a:endParaRPr lang="en-US" sz="1500" dirty="0"/>
          </a:p>
        </p:txBody>
      </p:sp>
      <p:sp>
        <p:nvSpPr>
          <p:cNvPr id="21" name="Shape 19"/>
          <p:cNvSpPr/>
          <p:nvPr/>
        </p:nvSpPr>
        <p:spPr>
          <a:xfrm>
            <a:off x="7918704" y="3383280"/>
            <a:ext cx="3913632" cy="987552"/>
          </a:xfrm>
          <a:prstGeom prst="rect">
            <a:avLst/>
          </a:prstGeom>
          <a:solidFill>
            <a:srgbClr val="FFFFFF"/>
          </a:solidFill>
          <a:ln w="12700">
            <a:solidFill>
              <a:srgbClr val="D6E4F7"/>
            </a:solidFill>
            <a:prstDash val="solid"/>
          </a:ln>
        </p:spPr>
      </p:sp>
      <p:sp>
        <p:nvSpPr>
          <p:cNvPr id="22" name="Text 20"/>
          <p:cNvSpPr txBox="1"/>
          <p:nvPr/>
        </p:nvSpPr>
        <p:spPr>
          <a:xfrm>
            <a:off x="8010144" y="3429000"/>
            <a:ext cx="3730752" cy="896112"/>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Taller de consenso en Semana 5</a:t>
            </a:r>
            <a:endParaRPr lang="en-US" sz="1400" dirty="0"/>
          </a:p>
        </p:txBody>
      </p:sp>
      <p:sp>
        <p:nvSpPr>
          <p:cNvPr id="23" name="Shape 21"/>
          <p:cNvSpPr/>
          <p:nvPr/>
        </p:nvSpPr>
        <p:spPr>
          <a:xfrm>
            <a:off x="347472" y="4443984"/>
            <a:ext cx="3200400" cy="987552"/>
          </a:xfrm>
          <a:prstGeom prst="rect">
            <a:avLst/>
          </a:prstGeom>
          <a:solidFill>
            <a:srgbClr val="1565C0"/>
          </a:solidFill>
          <a:ln w="12700">
            <a:solidFill>
              <a:srgbClr val="1565C0"/>
            </a:solidFill>
            <a:prstDash val="solid"/>
          </a:ln>
        </p:spPr>
      </p:sp>
      <p:sp>
        <p:nvSpPr>
          <p:cNvPr id="24" name="Text 22"/>
          <p:cNvSpPr txBox="1"/>
          <p:nvPr/>
        </p:nvSpPr>
        <p:spPr>
          <a:xfrm>
            <a:off x="438912" y="4489704"/>
            <a:ext cx="3017520" cy="89611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5.4 Observación</a:t>
            </a:r>
            <a:endParaRPr lang="en-US" sz="1600" dirty="0"/>
          </a:p>
        </p:txBody>
      </p:sp>
      <p:sp>
        <p:nvSpPr>
          <p:cNvPr id="25" name="Shape 23"/>
          <p:cNvSpPr/>
          <p:nvPr/>
        </p:nvSpPr>
        <p:spPr>
          <a:xfrm>
            <a:off x="3584448" y="4443984"/>
            <a:ext cx="4297680" cy="987552"/>
          </a:xfrm>
          <a:prstGeom prst="rect">
            <a:avLst/>
          </a:prstGeom>
          <a:solidFill>
            <a:srgbClr val="FFFFFF"/>
          </a:solidFill>
          <a:ln w="12700">
            <a:solidFill>
              <a:srgbClr val="D6E4F7"/>
            </a:solidFill>
            <a:prstDash val="solid"/>
          </a:ln>
        </p:spPr>
      </p:sp>
      <p:sp>
        <p:nvSpPr>
          <p:cNvPr id="26" name="Text 24"/>
          <p:cNvSpPr txBox="1"/>
          <p:nvPr/>
        </p:nvSpPr>
        <p:spPr>
          <a:xfrm>
            <a:off x="3675888" y="4489704"/>
            <a:ext cx="4114800" cy="896112"/>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Brecha AS-IS/TO-BE; etnografía rápida</a:t>
            </a:r>
            <a:endParaRPr lang="en-US" sz="1500" dirty="0"/>
          </a:p>
        </p:txBody>
      </p:sp>
      <p:sp>
        <p:nvSpPr>
          <p:cNvPr id="27" name="Shape 25"/>
          <p:cNvSpPr/>
          <p:nvPr/>
        </p:nvSpPr>
        <p:spPr>
          <a:xfrm>
            <a:off x="7918704" y="4443984"/>
            <a:ext cx="3913632" cy="987552"/>
          </a:xfrm>
          <a:prstGeom prst="rect">
            <a:avLst/>
          </a:prstGeom>
          <a:solidFill>
            <a:srgbClr val="FFFFFF"/>
          </a:solidFill>
          <a:ln w="12700">
            <a:solidFill>
              <a:srgbClr val="D6E4F7"/>
            </a:solidFill>
            <a:prstDash val="solid"/>
          </a:ln>
        </p:spPr>
      </p:sp>
      <p:sp>
        <p:nvSpPr>
          <p:cNvPr id="28" name="Text 26"/>
          <p:cNvSpPr txBox="1"/>
          <p:nvPr/>
        </p:nvSpPr>
        <p:spPr>
          <a:xfrm>
            <a:off x="8010144" y="4489704"/>
            <a:ext cx="3730752" cy="896112"/>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Visita de campo al cliente</a:t>
            </a:r>
            <a:endParaRPr lang="en-US" sz="1400" dirty="0"/>
          </a:p>
        </p:txBody>
      </p:sp>
      <p:sp>
        <p:nvSpPr>
          <p:cNvPr id="29" name="Shape 27"/>
          <p:cNvSpPr/>
          <p:nvPr/>
        </p:nvSpPr>
        <p:spPr>
          <a:xfrm>
            <a:off x="347472" y="5504688"/>
            <a:ext cx="3200400" cy="987552"/>
          </a:xfrm>
          <a:prstGeom prst="rect">
            <a:avLst/>
          </a:prstGeom>
          <a:solidFill>
            <a:srgbClr val="0D3B72"/>
          </a:solidFill>
          <a:ln w="12700">
            <a:solidFill>
              <a:srgbClr val="0D3B72"/>
            </a:solidFill>
            <a:prstDash val="solid"/>
          </a:ln>
        </p:spPr>
      </p:sp>
      <p:sp>
        <p:nvSpPr>
          <p:cNvPr id="30" name="Text 28"/>
          <p:cNvSpPr txBox="1"/>
          <p:nvPr/>
        </p:nvSpPr>
        <p:spPr>
          <a:xfrm>
            <a:off x="438912" y="5550408"/>
            <a:ext cx="3017520" cy="89611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5.5 Documentos</a:t>
            </a:r>
            <a:endParaRPr lang="en-US" sz="1600" dirty="0"/>
          </a:p>
        </p:txBody>
      </p:sp>
      <p:sp>
        <p:nvSpPr>
          <p:cNvPr id="31" name="Shape 29"/>
          <p:cNvSpPr/>
          <p:nvPr/>
        </p:nvSpPr>
        <p:spPr>
          <a:xfrm>
            <a:off x="3584448" y="5504688"/>
            <a:ext cx="4297680" cy="987552"/>
          </a:xfrm>
          <a:prstGeom prst="rect">
            <a:avLst/>
          </a:prstGeom>
          <a:solidFill>
            <a:srgbClr val="FFFFFF"/>
          </a:solidFill>
          <a:ln w="12700">
            <a:solidFill>
              <a:srgbClr val="D6E4F7"/>
            </a:solidFill>
            <a:prstDash val="solid"/>
          </a:ln>
        </p:spPr>
      </p:sp>
      <p:sp>
        <p:nvSpPr>
          <p:cNvPr id="32" name="Text 30"/>
          <p:cNvSpPr txBox="1"/>
          <p:nvPr/>
        </p:nvSpPr>
        <p:spPr>
          <a:xfrm>
            <a:off x="3675888" y="5550408"/>
            <a:ext cx="4114800" cy="896112"/>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Ingeniería inversa; documentos regulatorios</a:t>
            </a:r>
            <a:endParaRPr lang="en-US" sz="1500" dirty="0"/>
          </a:p>
        </p:txBody>
      </p:sp>
      <p:sp>
        <p:nvSpPr>
          <p:cNvPr id="33" name="Shape 31"/>
          <p:cNvSpPr/>
          <p:nvPr/>
        </p:nvSpPr>
        <p:spPr>
          <a:xfrm>
            <a:off x="7918704" y="5504688"/>
            <a:ext cx="3913632" cy="987552"/>
          </a:xfrm>
          <a:prstGeom prst="rect">
            <a:avLst/>
          </a:prstGeom>
          <a:solidFill>
            <a:srgbClr val="FFFFFF"/>
          </a:solidFill>
          <a:ln w="12700">
            <a:solidFill>
              <a:srgbClr val="D6E4F7"/>
            </a:solidFill>
            <a:prstDash val="solid"/>
          </a:ln>
        </p:spPr>
      </p:sp>
      <p:sp>
        <p:nvSpPr>
          <p:cNvPr id="34" name="Text 32"/>
          <p:cNvSpPr txBox="1"/>
          <p:nvPr/>
        </p:nvSpPr>
        <p:spPr>
          <a:xfrm>
            <a:off x="8010144" y="5550408"/>
            <a:ext cx="3730752" cy="896112"/>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Recopilación documental antes del taller</a:t>
            </a:r>
            <a:endParaRPr lang="en-US" sz="1400" dirty="0"/>
          </a:p>
        </p:txBody>
      </p:sp>
      <p:sp>
        <p:nvSpPr>
          <p:cNvPr id="36" name="Text 33"/>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8</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457200"/>
            <a:ext cx="11430000" cy="548640"/>
          </a:xfrm>
          <a:prstGeom prst="rect">
            <a:avLst/>
          </a:prstGeom>
          <a:noFill/>
          <a:ln/>
        </p:spPr>
        <p:txBody>
          <a:bodyPr wrap="square" lIns="0" tIns="0" rIns="0" bIns="0" rtlCol="0" anchor="ctr"/>
          <a:lstStyle/>
          <a:p>
            <a:pPr indent="0" marL="0">
              <a:buNone/>
            </a:pPr>
            <a:r>
              <a:rPr lang="en-US" sz="1600" b="1" dirty="0">
                <a:solidFill>
                  <a:srgbClr val="C8960C"/>
                </a:solidFill>
                <a:latin typeface="Calibri" pitchFamily="34" charset="0"/>
                <a:ea typeface="Calibri" pitchFamily="34" charset="-122"/>
                <a:cs typeface="Calibri" pitchFamily="34" charset="-120"/>
              </a:rPr>
              <a:t>Semana 3 — Síntesis</a:t>
            </a:r>
            <a:endParaRPr lang="en-US" sz="1600" dirty="0"/>
          </a:p>
        </p:txBody>
      </p:sp>
      <p:sp>
        <p:nvSpPr>
          <p:cNvPr id="4" name="Text 2"/>
          <p:cNvSpPr txBox="1"/>
          <p:nvPr/>
        </p:nvSpPr>
        <p:spPr>
          <a:xfrm>
            <a:off x="347472" y="1188720"/>
            <a:ext cx="11430000" cy="2926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La elicitación no es recopilar datos. Es construir una comprensión compartida del problema entre el cliente y el ingeniero.</a:t>
            </a:r>
            <a:endParaRPr lang="en-US" sz="3200" dirty="0"/>
          </a:p>
        </p:txBody>
      </p:sp>
      <p:sp>
        <p:nvSpPr>
          <p:cNvPr id="5" name="Shape 3"/>
          <p:cNvSpPr/>
          <p:nvPr/>
        </p:nvSpPr>
        <p:spPr>
          <a:xfrm>
            <a:off x="347472" y="4389120"/>
            <a:ext cx="11430000" cy="1005840"/>
          </a:xfrm>
          <a:prstGeom prst="rect">
            <a:avLst/>
          </a:prstGeom>
          <a:solidFill>
            <a:srgbClr val="C8960C"/>
          </a:solidFill>
          <a:ln w="12700">
            <a:solidFill>
              <a:srgbClr val="C8960C"/>
            </a:solidFill>
            <a:prstDash val="solid"/>
          </a:ln>
        </p:spPr>
      </p:sp>
      <p:sp>
        <p:nvSpPr>
          <p:cNvPr id="6" name="Text 4"/>
          <p:cNvSpPr txBox="1"/>
          <p:nvPr/>
        </p:nvSpPr>
        <p:spPr>
          <a:xfrm>
            <a:off x="502920" y="4462272"/>
            <a:ext cx="3657600" cy="320040"/>
          </a:xfrm>
          <a:prstGeom prst="rect">
            <a:avLst/>
          </a:prstGeom>
          <a:noFill/>
          <a:ln/>
        </p:spPr>
        <p:txBody>
          <a:bodyPr wrap="square" lIns="0" tIns="0" rIns="0" bIns="0" rtlCol="0" anchor="ctr"/>
          <a:lstStyle/>
          <a:p>
            <a:pPr indent="0" marL="0">
              <a:buNone/>
            </a:pPr>
            <a:r>
              <a:rPr lang="en-US" sz="1200" b="1" dirty="0">
                <a:solidFill>
                  <a:srgbClr val="0D3B72"/>
                </a:solidFill>
                <a:latin typeface="Calibri" pitchFamily="34" charset="0"/>
                <a:ea typeface="Calibri" pitchFamily="34" charset="-122"/>
                <a:cs typeface="Calibri" pitchFamily="34" charset="-120"/>
              </a:rPr>
              <a:t>PRÓXIMO PASO</a:t>
            </a:r>
            <a:endParaRPr lang="en-US" sz="1200" dirty="0"/>
          </a:p>
        </p:txBody>
      </p:sp>
      <p:sp>
        <p:nvSpPr>
          <p:cNvPr id="7" name="Text 5"/>
          <p:cNvSpPr txBox="1"/>
          <p:nvPr/>
        </p:nvSpPr>
        <p:spPr>
          <a:xfrm>
            <a:off x="502920" y="4754880"/>
            <a:ext cx="11064240" cy="548640"/>
          </a:xfrm>
          <a:prstGeom prst="rect">
            <a:avLst/>
          </a:prstGeom>
          <a:noFill/>
          <a:ln/>
        </p:spPr>
        <p:txBody>
          <a:bodyPr wrap="square" lIns="0" tIns="0" rIns="0" bIns="0" rtlCol="0" anchor="ctr"/>
          <a:lstStyle/>
          <a:p>
            <a:pPr indent="0" marL="0">
              <a:buNone/>
            </a:pPr>
            <a:r>
              <a:rPr lang="en-US" sz="1800" b="1" dirty="0">
                <a:solidFill>
                  <a:srgbClr val="0D3B72"/>
                </a:solidFill>
                <a:latin typeface="Calibri" pitchFamily="34" charset="0"/>
                <a:ea typeface="Calibri" pitchFamily="34" charset="-122"/>
                <a:cs typeface="Calibri" pitchFamily="34" charset="-120"/>
              </a:rPr>
              <a:t>Semana 4: técnicas avanzadas — prototipado, modelado de metas (i*, KAOS), BPMN e historias de usuario</a:t>
            </a:r>
            <a:endParaRPr lang="en-US" sz="1800" dirty="0"/>
          </a:p>
        </p:txBody>
      </p:sp>
      <p:sp>
        <p:nvSpPr>
          <p:cNvPr id="8" name="Text 6"/>
          <p:cNvSpPr txBox="1"/>
          <p:nvPr/>
        </p:nvSpPr>
        <p:spPr>
          <a:xfrm>
            <a:off x="347472" y="6217920"/>
            <a:ext cx="11430000" cy="36576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ISR-401 · Ingeniería de Requisitos · UTEQ</a:t>
            </a:r>
            <a:endParaRPr lang="en-US" sz="1200" dirty="0"/>
          </a:p>
        </p:txBody>
      </p:sp>
      <p:sp>
        <p:nvSpPr>
          <p:cNvPr id="9" name="Text 7"/>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9</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2026-10-28T11:52:40Z</dcterms:created>
  <dcterms:modified xsi:type="dcterms:W3CDTF">2026-10-28T11:52:40Z</dcterms:modified>
</cp:coreProperties>
</file>