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Buenos días / tardes, estudiantes. Bienvenidos a la sesión de la Semana 4 de Ingeniería de Requerimientos.</a:t>
            </a:r>
          </a:p>
          <a:p>
            <a:r>
              <a:t>Esta semana iniciamos la Unidad 2, que es el corazón del curso: aprender a descubrir qué necesita realmente un sistema de software.</a:t>
            </a:r>
          </a:p>
          <a:p>
            <a:r>
              <a:t>El tema central de hoy es la ELICITACIÓN de requisitos — una palabra que viene del latín "elicere", que significa "sacar a la luz, extraer".</a:t>
            </a:r>
          </a:p>
          <a:p>
            <a:r>
              <a:t>No se trata de preguntar y anotar: se trata de un proceso sistemático para descubrir necesidades que muchas veces el propio usuario no sabe expresar.</a:t>
            </a:r>
          </a:p>
          <a:p>
            <a:r>
              <a:t>Veremos técnicas concretas, comparaciones entre ellas, y al final tendrán claro cuándo usar cada una en su proyecto fin de curso.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es nuestra hoja de ruta para la sesión de hoy.</a:t>
            </a:r>
          </a:p>
          <a:p>
            <a:r>
              <a:t>Comenzaremos revisando el resultado de aprendizaje — es decir, qué esperamos que ustedes sean capaces de HACER al terminar esta clase, no solo saber de memoria.</a:t>
            </a:r>
          </a:p>
          <a:p>
            <a:r>
              <a:t>Luego exploraremos de dónde vienen los requisitos: las fuentes. Después iremos técnica por técnica, desde las más directas como la entrevista, hasta técnicas de apoyo como los mapas mentales.</a:t>
            </a:r>
          </a:p>
          <a:p>
            <a:r>
              <a:t>Al final veremos cómo se evaluará esta semana y qué deben entregar.</a:t>
            </a:r>
          </a:p>
          <a:p>
            <a:r>
              <a:t>¿Tienen alguna pregunta antes de comenzar? [Pausa breve]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resultado de aprendizaje dice textualmente: "Aplica técnicas de elicitación y análisis de requisitos para identificar, clasificar y modelar requisitos."</a:t>
            </a:r>
          </a:p>
          <a:p>
            <a:r>
              <a:t>Fíjense en el verbo: APLICA. No memoriza, no define — APLICA. Eso significa que al terminar esta unidad deben ser capaces de salir a un proyecto real y usar estas técnicas.</a:t>
            </a:r>
          </a:p>
          <a:p>
            <a:r>
              <a:t>Las tres habilidades blandas que practicaremos son:</a:t>
            </a:r>
          </a:p>
          <a:p>
            <a:r>
              <a:t>— Comunicación efectiva: porque la elicitación es, ante todo, comunicación con personas.</a:t>
            </a:r>
          </a:p>
          <a:p>
            <a:r>
              <a:t>— Creatividad: para encontrar requisitos que nadie pensó en mencionar.</a:t>
            </a:r>
          </a:p>
          <a:p>
            <a:r>
              <a:t>— Empatía: para ponerse en el lugar del usuario y entender su mundo, no solo sus palabras.</a:t>
            </a:r>
          </a:p>
          <a:p>
            <a:r>
              <a:t>Estas habilidades son igual de importantes que las técnicas mismas. Un analista con excelentes técnicas pero sin empatía fallará en cada entrevista.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Antes de aprender las técnicas, debemos entender qué estamos haciendo y por qué importa.</a:t>
            </a:r>
          </a:p>
          <a:p>
            <a:r>
              <a:t>La elicitación tiene tres dimensiones: DESCUBRIR, CAPTURAR y COMPRENDER.</a:t>
            </a:r>
          </a:p>
          <a:p>
            <a:r>
              <a:t>DESCUBRIR: Muchos usuarios no pueden articular sus necesidades. Saben qué no funciona, pero no saben qué quieren. La elicitación ayuda a SACAR esa información implícita.</a:t>
            </a:r>
          </a:p>
          <a:p>
            <a:r>
              <a:t>CAPTURAR: Todo lo que descubrimos debe registrarse de forma estructurada — no alcanza con "nos acordamos de la reunión".</a:t>
            </a:r>
          </a:p>
          <a:p>
            <a:r>
              <a:t>COMPRENDER: No basta con transcribir lo que dijo el cliente. Debemos entender el CONTEXTO: por qué lo necesita, qué problema resuelve, quién más se ve afectado.</a:t>
            </a:r>
          </a:p>
          <a:p>
            <a:r>
              <a:t>Un error clásico: el analista cree que elicitar es hacer una entrevista y tomar apuntes. La realidad es que es uno de los procesos más complejos y críticos de toda la IR — Ingeniería de Requerimientos.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requisitos no aparecen solos: vienen de fuentes específicas. Si omitimos una fuente, perderemos requisitos.</a:t>
            </a:r>
          </a:p>
          <a:p>
            <a:r>
              <a:t>STAKEHOLDERS — Partes interesadas: Son la fuente más rica, pero también la más subjetiva y contradictoria. Distintos stakeholders pueden tener necesidades opuestas. Por ejemplo: el usuario quiere que el sistema sea fácil de usar; el gerente quiere que sea barato; el auditor quiere que todo quede registrado. El analista debe balancear todo eso.</a:t>
            </a:r>
          </a:p>
          <a:p>
            <a:r>
              <a:t>DOCUMENTOS: Los formularios que usa hoy la empresa, los manuales de procedimientos, los contratos — todos revelan cómo funciona el negocio hoy y qué restricciones legales existen.</a:t>
            </a:r>
          </a:p>
          <a:p>
            <a:r>
              <a:t>SISTEMAS EXISTENTES: El software actual, aunque sea malo, tiene años de "requisitos implícitos" incorporados. El análisis de brechas — o gap analysis — compara lo que hay con lo que se necesita.</a:t>
            </a:r>
          </a:p>
          <a:p>
            <a:r>
              <a:t>ESTÁNDARES: La norma ISO/IEC 25010:2023 define los atributos de calidad del software. La IEEE 29148:2018 define el proceso de IR. El SWEBOK v4 es la guía de conocimiento de ingeniería de software. Estos estándares generan requisitos que el cliente muchas veces ni menciona.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Ahora entramos en las técnicas. Las cuatro de esta diapositiva son las más usadas en la práctica.</a:t>
            </a:r>
          </a:p>
          <a:p>
            <a:r>
              <a:t>ENTREVISTA: Es la técnica más antigua y más usada. Una entrevista estructurada tiene preguntas fijas, prediseñadas. La no estructurada es más una conversación. La semiestructurada combina ambas — es la más recomendada para IR.</a:t>
            </a:r>
          </a:p>
          <a:p>
            <a:r>
              <a:t>Reglas de oro de la entrevista: preparar siempre el guión; hacer preguntas abiertas ("¿Qué pasa cuando...?") antes que cerradas ("¿Usa este botón?"); registrar textualmente las respuestas — lo que el usuario dice con sus propias palabras tiene valor.</a:t>
            </a:r>
          </a:p>
          <a:p>
            <a:r>
              <a:t>WORKSHOP o Taller: Reúne a múltiples stakeholders al mismo tiempo. La gran ventaja es que los conflictos entre requisitos aparecen inmediatamente — si el usuario dice una cosa y el gerente otra, se discute ahí mismo. El analista actúa como facilitador, no como participante.</a:t>
            </a:r>
          </a:p>
          <a:p>
            <a:r>
              <a:t>FOCUS GROUP — Grupo Focal: Similar al workshop, pero enfocado en percepciones y opiniones, no en decisiones técnicas. Útil para sistemas orientados al consumidor donde la experiencia del usuario es clave.</a:t>
            </a:r>
          </a:p>
          <a:p>
            <a:r>
              <a:t>OBSERVACIÓN y ETNOGRAFÍA: Ver al usuario trabajar, sin interrumpirlo. La etnografía va más lejos: el analista se integra al equipo por días o semanas. Descubre requisitos que el usuario NUNCA verbaliza porque los considera "obvios". Son los más difíciles de encontrar con cualquier otra técnica.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Estas técnicas se usan junto con las primarias, no en lugar de ellas.</a:t>
            </a:r>
          </a:p>
          <a:p>
            <a:r>
              <a:t>CUESTIONARIO: Ideal cuando tenemos muchos usuarios dispersos geográficamente — por ejemplo, una empresa con oficinas en todo el Ecuador. Permite estadísticas. Su limitación es que no podemos aclarar una respuesta ambigua en tiempo real. Por eso se combina siempre con entrevistas de seguimiento.</a:t>
            </a:r>
          </a:p>
          <a:p>
            <a:r>
              <a:t>LECTURA BASADA EN PERSPECTIVAS: Imaginen que tienen el documento de requisitos de un sistema bancario. Un revisor lo lee como si fuera el cajero que usa el sistema. Otro lo lee como si fuera el auditor. Otro como si fuera el desarrollador. Cada perspectiva encuentra problemas diferentes que los demás no ven. Esta técnica ha demostrado ser muy eficaz para detectar inconsistencias.</a:t>
            </a:r>
          </a:p>
          <a:p>
            <a:r>
              <a:t>DESIGN THINKING — Pensamiento de Diseño: Es un proceso de 5 fases muy conocido en la actualidad. "Empatizar" significa entender profundamente al usuario — no solo sus palabras, sino sus emociones y frustraciones. "Definir" es formular el problema real. "Idear" genera soluciones creativas. "Prototipar" construye versiones rápidas. "Evaluar" prueba con usuarios reales.</a:t>
            </a:r>
          </a:p>
          <a:p>
            <a:r>
              <a:t>Usamos Design Thinking cuando el problema no está bien definido o cuando buscamos innovar, no solo replicar procesos existentes.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Estas técnicas apoyan a las anteriores en momentos específicos.</a:t>
            </a:r>
          </a:p>
          <a:p>
            <a:r>
              <a:t>BRAINSTORMING: La regla fundamental es que NO hay crítica durante la sesión. Todas las ideas son válidas. La evaluación viene después. Es útil al inicio de un proyecto para explorar el espacio del problema sin limitaciones.</a:t>
            </a:r>
          </a:p>
          <a:p>
            <a:r>
              <a:t>PROTOTIPADO: Cuando el usuario no puede describir con palabras lo que quiere, mostrarle un prototipo — incluso un dibujo en papel — desbloquea la conversación inmediatamente. El usuario reacciona: "Esto está bien, pero este botón debería estar aquí". Eso es información de requisitos que nunca habría surgido en una entrevista.</a:t>
            </a:r>
          </a:p>
          <a:p>
            <a:r>
              <a:t>MÉTODO KJ o Diagrama de Afinidad: Desarrollado por el antropólogo japonés Jiro Kawakita. Cada idea se escribe en una tarjeta separada. Luego el equipo agrupa las tarjetas por similitud, sin discusión verbal. Es sorprendentemente efectivo para organizar cientos de ideas sin que un participante dominante imponga su criterio.</a:t>
            </a:r>
          </a:p>
          <a:p>
            <a:r>
              <a:t>MAPAS MENTALES: Permiten explorar un dominio de forma visual y jerárquica. Son especialmente útiles para identificar subtemas que se estaban olvidando.</a:t>
            </a:r>
          </a:p>
          <a:p>
            <a:r>
              <a:t>CHECKLISTS: Listas de verificación específicas del dominio. Existen checklists para sistemas bancarios, hospitalarios, de transporte. Aseguran que no olvidemos requisitos que son estándar en ese tipo de sistema.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tabla es muy útil para elegir la técnica correcta en cada situación.</a:t>
            </a:r>
          </a:p>
          <a:p>
            <a:r>
              <a:t>Veamos las columnas: la cantidad de stakeholders disponibles, el tiempo que tenemos, la riqueza de información que obtendremos, y si la técnica escala a muchos usuarios.</a:t>
            </a:r>
          </a:p>
          <a:p>
            <a:r>
              <a:t>La entrevista da información muy rica pero no escala: si tenemos 200 usuarios, no podemos entrevistar a todos.</a:t>
            </a:r>
          </a:p>
          <a:p>
            <a:r>
              <a:t>El cuestionario escala perfectamente pero la información es menos rica.</a:t>
            </a:r>
          </a:p>
          <a:p>
            <a:r>
              <a:t>La observación y etnografía dan la información más rica de todas, pero consumen muchísimo tiempo.</a:t>
            </a:r>
          </a:p>
          <a:p>
            <a:r>
              <a:t>La recomendación práctica: nunca usar una sola técnica. La combinación entrevista + cuestionario + prototipado es muy común en proyectos reales.</a:t>
            </a:r>
          </a:p>
          <a:p>
            <a:r>
              <a:t>Para su proyecto fin de curso, la Entrega 1A exige al menos dos técnicas aplicadas y documentadas.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stakeholders son el centro de la elicitación. Sin ellos no hay requisitos.</a:t>
            </a:r>
          </a:p>
          <a:p>
            <a:r>
              <a:t>Identificar stakeholders parece fácil pero no lo es. Es común olvidar a los usuarios indirectos — por ejemplo, en un sistema de hospital, los stakeholders incluyen no solo a médicos y enfermeras, sino también a la empresa aseguradora que procesa las facturas, al ministerio de salud que audita, y al paciente mismo.</a:t>
            </a:r>
          </a:p>
          <a:p>
            <a:r>
              <a:t>Cada categoría tiene una perspectiva diferente y a veces contradictoria:</a:t>
            </a:r>
          </a:p>
          <a:p>
            <a:r>
              <a:t>Los USUARIOS DIRECTOS conocen los detalles operativos mejor que nadie, pero suelen tener dificultad para ver el panorama general.</a:t>
            </a:r>
          </a:p>
          <a:p>
            <a:r>
              <a:t>Los CLIENTES o patrocinadores definen los objetivos de negocio pero a veces no conocen los detalles técnicos.</a:t>
            </a:r>
          </a:p>
          <a:p>
            <a:r>
              <a:t>Los DESARROLLADORES necesitan requisitos precisos y sin ambigüedad — son los más exigentes en eso.</a:t>
            </a:r>
          </a:p>
          <a:p>
            <a:r>
              <a:t>Los REGULADORES imponen restricciones que no son negociables: normativas de protección de datos, regulaciones financieras, estándares de accesibilidad.</a:t>
            </a:r>
          </a:p>
          <a:p>
            <a:r>
              <a:t>Los EXPERTOS DEL DOMINIO conocen el área de negocio profundamente, aunque no sean usuarios del sistema. Un contador experto puede revelar requisitos tributarios que nadie más mencionó.</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semana usaremos tres estrategias pedagógicas específicamente elegidas para alinearse con el contenido.</a:t>
            </a:r>
          </a:p>
          <a:p>
            <a:r>
              <a:t>ABP — Aprendizaje Basado en Problemas: partimos de un caso real — su proyecto fin de curso — para aprender las técnicas. No es un ejercicio artificial: es su propio proyecto.</a:t>
            </a:r>
          </a:p>
          <a:p>
            <a:r>
              <a:t>AULA INVERTIDA — Flipped Classroom: el contenido teórico lo revisan en casa mediante los materiales de la plataforma LMS — Sistema de Gestión de Aprendizaje. En clase hacemos práctica. Por eso es fundamental que vengan a clase habiendo leído.</a:t>
            </a:r>
          </a:p>
          <a:p>
            <a:r>
              <a:t>DESIGN THINKING como estrategia pedagógica: lo mismo que aprenden como técnica de elicitación, lo usaremos para diseñar su aprendizaje — empatizando con el cliente, prototipando soluciones, evaluando con usuarios reales.</a:t>
            </a:r>
          </a:p>
          <a:p>
            <a:r>
              <a:t>Sobre las herramientas TAC: MIRO y Figma son las más usadas hoy en la industria para elicitación remota. Permiten trabajar con stakeholders que están en cualquier parte del mundo. Las plataformas de comunicación grupal como Slack o Teams también se usan para coordinar los equipos de proyecto durante la elicitación.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Tres actividades de evaluación esta semana. Presten atención a los detalles.</a:t>
            </a:r>
          </a:p>
          <a:p>
            <a:r>
              <a:t>TALLER en clase: Van a aplicar dos técnicas — entrevista estructurada y Design Thinking — al sistema de su proyecto fin de curso. Deberán entregar el guión de entrevista preparado antes de hacer la entrevista, y el mapa de empatía completado después. Esto cuenta como GA — Gestión del Aprendizaje.</a:t>
            </a:r>
          </a:p>
          <a:p>
            <a:r>
              <a:t>EXPOSICIÓN: Cada grupo expondrá sobre una herramienta automatizada para IR. Ejemplos: Jira para gestión de requisitos, Confluence para documentación, IBM DOORS Next para trazabilidad, RequisitePro. La exposición debe ser práctica — mostrar la herramienta en funcionamiento, no solo hablar de ella. Duración máxima: 10 minutos. También GA.</a:t>
            </a:r>
          </a:p>
          <a:p>
            <a:r>
              <a:t>PROYECTO — Entrega 1A: Esta es la entrega más importante de la unidad. Debe incluir: el plan de elicitación (qué técnicas usarán, con quiénes, cuándo), las actas de al menos dos sesiones de elicitación realizadas, y la lista inicial de requisitos identificados. Esta entrega es TA — Trabajo Autónomo. Fecha límite: revisar el LMS. No se aceptan entregas tardías.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es la bibliografía que sustenta los contenidos de esta semana.</a:t>
            </a:r>
          </a:p>
          <a:p>
            <a:r>
              <a:t>Los libros de Pressman y Sommerville son los textos clásicos de ingeniería de software — deben tenerlos como referencia permanente durante toda la carrera.</a:t>
            </a:r>
          </a:p>
          <a:p>
            <a:r>
              <a:t>El estándar IEEE 29148:2018 es el documento normativo central de nuestra asignatura. Especifica cómo se hace IR de forma correcta según la comunidad internacional de ingeniería de software.</a:t>
            </a:r>
          </a:p>
          <a:p>
            <a:r>
              <a:t>El SWEBOK v4 — Software Engineering Body of Knowledge, versión 4 — es la guía de conocimiento oficial de IEEE Computer Society. El capítulo de Ingeniería de Requisitos es lectura obligatoria para esta semana.</a:t>
            </a:r>
          </a:p>
          <a:p>
            <a:r>
              <a:t>Pohl y Laplante son los autores académicos más rigurosos en IR. Si quieren profundizar más allá de lo que se ve en clase, empiecen por Pohl.</a:t>
            </a:r>
          </a:p>
          <a:p>
            <a:r>
              <a:t>Robertson es el más práctico y orientado a proyectos reales — muy recomendado para la fase de proyecto.</a:t>
            </a:r>
          </a:p>
          <a:p>
            <a:r>
              <a:t>Todos estos recursos están disponibles en los repositorios académicos referenciados en el LMS.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cerrar: "La elicitación no es recolectar información — es construir entendimiento compartido entre el equipo de desarrollo y los stakeholders."</a:t>
            </a:r>
          </a:p>
          <a:p>
            <a:r>
              <a:t>Esta frase resume todo lo que vimos hoy. Los problemas más costosos en software no vienen de errores de programación — vienen de requisitos mal entendidos o nunca descubiertos. Un sistema perfectamente programado que no hace lo que el usuario necesita es un fracaso.</a:t>
            </a:r>
          </a:p>
          <a:p>
            <a:r>
              <a:t>La próxima semana entraremos al Análisis de Requisitos: una vez que tenemos los requisitos elicitados, ¿cómo los clasificamos? ¿Cómo decidimos cuáles son más importantes? Para eso usaremos técnicas como MoSCoW — Must have, Should have, Could have, Won't have — y el modelo Kano. También veremos cómo negociar requisitos conflictivos usando estrategias win-win.</a:t>
            </a:r>
          </a:p>
          <a:p>
            <a:r>
              <a:t>Para la próxima sesión: revisen el material de análisis en el LMS y traigan identificados al menos cinco requisitos de su proyecto fin de curso para practicar la priorización en clase.</a:t>
            </a:r>
          </a:p>
          <a:p>
            <a:r>
              <a:t>¿Tienen preguntas sobre los contenidos de hoy o sobre las actividades de evaluación? [Pausa para preguntas]</a:t>
            </a:r>
          </a:p>
          <a:p>
            <a:r>
              <a:t>¡Hasta la próxima semana!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557"/>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0A500"/>
          </a:solidFill>
          <a:ln w="12700">
            <a:solidFill>
              <a:srgbClr val="F0A500"/>
            </a:solidFill>
            <a:prstDash val="solid"/>
          </a:ln>
        </p:spPr>
      </p:sp>
      <p:sp>
        <p:nvSpPr>
          <p:cNvPr id="3" name="Shape 1"/>
          <p:cNvSpPr/>
          <p:nvPr/>
        </p:nvSpPr>
        <p:spPr>
          <a:xfrm>
            <a:off x="201168" y="0"/>
            <a:ext cx="8942832" cy="5143500"/>
          </a:xfrm>
          <a:prstGeom prst="rect">
            <a:avLst/>
          </a:prstGeom>
          <a:solidFill>
            <a:srgbClr val="1A3557"/>
          </a:solidFill>
          <a:ln w="12700">
            <a:solidFill>
              <a:srgbClr val="1A3557"/>
            </a:solidFill>
            <a:prstDash val="solid"/>
          </a:ln>
        </p:spPr>
      </p:sp>
      <p:sp>
        <p:nvSpPr>
          <p:cNvPr id="4" name="Text 2"/>
          <p:cNvSpPr/>
          <p:nvPr/>
        </p:nvSpPr>
        <p:spPr>
          <a:xfrm>
            <a:off x="548640" y="502920"/>
            <a:ext cx="8229600" cy="502920"/>
          </a:xfrm>
          <a:prstGeom prst="rect">
            <a:avLst/>
          </a:prstGeom>
          <a:noFill/>
          <a:ln/>
        </p:spPr>
        <p:txBody>
          <a:bodyPr wrap="square" lIns="0" tIns="0" rIns="0" bIns="0" rtlCol="0" anchor="ctr"/>
          <a:lstStyle/>
          <a:p>
            <a:pPr indent="0" marL="0">
              <a:buNone/>
            </a:pPr>
            <a:r>
              <a:rPr lang="en-US" sz="1500" b="1" spc="400" kern="0" dirty="0">
                <a:solidFill>
                  <a:srgbClr val="F0A500"/>
                </a:solidFill>
                <a:latin typeface="Calibri" pitchFamily="34" charset="0"/>
                <a:ea typeface="Calibri" pitchFamily="34" charset="-122"/>
                <a:cs typeface="Calibri" pitchFamily="34" charset="-120"/>
              </a:rPr>
              <a:t>INGENIERÍA DE REQUERIMIENTOS</a:t>
            </a:r>
            <a:endParaRPr lang="en-US" sz="1500" dirty="0"/>
          </a:p>
        </p:txBody>
      </p:sp>
      <p:sp>
        <p:nvSpPr>
          <p:cNvPr id="5" name="Text 3"/>
          <p:cNvSpPr/>
          <p:nvPr/>
        </p:nvSpPr>
        <p:spPr>
          <a:xfrm>
            <a:off x="548640" y="100584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Semana 4</a:t>
            </a:r>
            <a:endParaRPr lang="en-US" sz="5400" dirty="0"/>
          </a:p>
        </p:txBody>
      </p:sp>
      <p:sp>
        <p:nvSpPr>
          <p:cNvPr id="6" name="Text 4"/>
          <p:cNvSpPr/>
          <p:nvPr/>
        </p:nvSpPr>
        <p:spPr>
          <a:xfrm>
            <a:off x="548640" y="2011680"/>
            <a:ext cx="8229600" cy="685800"/>
          </a:xfrm>
          <a:prstGeom prst="rect">
            <a:avLst/>
          </a:prstGeom>
          <a:noFill/>
          <a:ln/>
        </p:spPr>
        <p:txBody>
          <a:bodyPr wrap="square" lIns="0" tIns="0" rIns="0" bIns="0" rtlCol="0" anchor="ctr"/>
          <a:lstStyle/>
          <a:p>
            <a:pPr indent="0" marL="0">
              <a:buNone/>
            </a:pPr>
            <a:r>
              <a:rPr lang="en-US" sz="2800" i="1" dirty="0">
                <a:solidFill>
                  <a:srgbClr val="02A896"/>
                </a:solidFill>
                <a:latin typeface="Calibri" pitchFamily="34" charset="0"/>
                <a:ea typeface="Calibri" pitchFamily="34" charset="-122"/>
                <a:cs typeface="Calibri" pitchFamily="34" charset="-120"/>
              </a:rPr>
              <a:t>Elicitación de Requisitos</a:t>
            </a:r>
            <a:endParaRPr lang="en-US" sz="2800" dirty="0"/>
          </a:p>
        </p:txBody>
      </p:sp>
      <p:sp>
        <p:nvSpPr>
          <p:cNvPr id="7" name="Shape 5"/>
          <p:cNvSpPr/>
          <p:nvPr/>
        </p:nvSpPr>
        <p:spPr>
          <a:xfrm>
            <a:off x="548640" y="2834640"/>
            <a:ext cx="6400800" cy="36576"/>
          </a:xfrm>
          <a:prstGeom prst="rect">
            <a:avLst/>
          </a:prstGeom>
          <a:solidFill>
            <a:srgbClr val="F0A500"/>
          </a:solidFill>
          <a:ln w="12700">
            <a:solidFill>
              <a:srgbClr val="F0A500"/>
            </a:solidFill>
            <a:prstDash val="solid"/>
          </a:ln>
        </p:spPr>
      </p:sp>
      <p:sp>
        <p:nvSpPr>
          <p:cNvPr id="8" name="Text 6"/>
          <p:cNvSpPr/>
          <p:nvPr/>
        </p:nvSpPr>
        <p:spPr>
          <a:xfrm>
            <a:off x="548640" y="2971800"/>
            <a:ext cx="8229600" cy="365760"/>
          </a:xfrm>
          <a:prstGeom prst="rect">
            <a:avLst/>
          </a:prstGeom>
          <a:noFill/>
          <a:ln/>
        </p:spPr>
        <p:txBody>
          <a:bodyPr wrap="square" lIns="0" tIns="0" rIns="0" bIns="0" rtlCol="0" anchor="ctr"/>
          <a:lstStyle/>
          <a:p>
            <a:pPr indent="0" marL="0">
              <a:buNone/>
            </a:pPr>
            <a:r>
              <a:rPr lang="en-US" sz="1400" dirty="0">
                <a:solidFill>
                  <a:srgbClr val="E8F4F8"/>
                </a:solidFill>
                <a:latin typeface="Calibri" pitchFamily="34" charset="0"/>
                <a:ea typeface="Calibri" pitchFamily="34" charset="-122"/>
                <a:cs typeface="Calibri" pitchFamily="34" charset="-120"/>
              </a:rPr>
              <a:t>25 – 31 de mayo de 2026</a:t>
            </a:r>
            <a:endParaRPr lang="en-US" sz="1400" dirty="0"/>
          </a:p>
        </p:txBody>
      </p:sp>
      <p:sp>
        <p:nvSpPr>
          <p:cNvPr id="9" name="Text 7"/>
          <p:cNvSpPr/>
          <p:nvPr/>
        </p:nvSpPr>
        <p:spPr>
          <a:xfrm>
            <a:off x="548640" y="3429000"/>
            <a:ext cx="8229600" cy="3200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Mg. Gleiston Guerrero Ulloa · gguerrero@uteq.edu.ec</a:t>
            </a:r>
            <a:endParaRPr lang="en-US" sz="1400" dirty="0"/>
          </a:p>
        </p:txBody>
      </p:sp>
      <p:sp>
        <p:nvSpPr>
          <p:cNvPr id="10" name="Text 8"/>
          <p:cNvSpPr/>
          <p:nvPr/>
        </p:nvSpPr>
        <p:spPr>
          <a:xfrm>
            <a:off x="548640" y="3977640"/>
            <a:ext cx="8229600" cy="320040"/>
          </a:xfrm>
          <a:prstGeom prst="rect">
            <a:avLst/>
          </a:prstGeom>
          <a:noFill/>
          <a:ln/>
        </p:spPr>
        <p:txBody>
          <a:bodyPr wrap="square" lIns="0" tIns="0" rIns="0" bIns="0" rtlCol="0" anchor="ctr"/>
          <a:lstStyle/>
          <a:p>
            <a:pPr indent="0" marL="0">
              <a:buNone/>
            </a:pPr>
            <a:r>
              <a:rPr lang="en-US" sz="1200" i="1" dirty="0">
                <a:solidFill>
                  <a:srgbClr val="F0A500"/>
                </a:solidFill>
                <a:latin typeface="Calibri" pitchFamily="34" charset="0"/>
                <a:ea typeface="Calibri" pitchFamily="34" charset="-122"/>
                <a:cs typeface="Calibri" pitchFamily="34" charset="-120"/>
              </a:rPr>
              <a:t>Unidad 2: Elicitación y Análisis de Requisitos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Agenda de la Sesión</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¿Qué aprenderemos hoy?</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2 / 14</a:t>
            </a:r>
            <a:endParaRPr lang="en-US" sz="900" dirty="0"/>
          </a:p>
        </p:txBody>
      </p:sp>
      <p:sp>
        <p:nvSpPr>
          <p:cNvPr id="9" name="Shape 7"/>
          <p:cNvSpPr/>
          <p:nvPr/>
        </p:nvSpPr>
        <p:spPr>
          <a:xfrm>
            <a:off x="365760" y="1188720"/>
            <a:ext cx="502920" cy="438912"/>
          </a:xfrm>
          <a:prstGeom prst="rect">
            <a:avLst/>
          </a:prstGeom>
          <a:solidFill>
            <a:srgbClr val="1B7FA1"/>
          </a:solidFill>
          <a:ln w="12700">
            <a:solidFill>
              <a:srgbClr val="1B7FA1"/>
            </a:solidFill>
            <a:prstDash val="solid"/>
          </a:ln>
        </p:spPr>
      </p:sp>
      <p:sp>
        <p:nvSpPr>
          <p:cNvPr id="10" name="Text 8"/>
          <p:cNvSpPr/>
          <p:nvPr/>
        </p:nvSpPr>
        <p:spPr>
          <a:xfrm>
            <a:off x="365760" y="1188720"/>
            <a:ext cx="50292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1" name="Text 9"/>
          <p:cNvSpPr/>
          <p:nvPr/>
        </p:nvSpPr>
        <p:spPr>
          <a:xfrm>
            <a:off x="987552" y="1188720"/>
            <a:ext cx="4389120" cy="256032"/>
          </a:xfrm>
          <a:prstGeom prst="rect">
            <a:avLst/>
          </a:prstGeom>
          <a:noFill/>
          <a:ln/>
        </p:spPr>
        <p:txBody>
          <a:bodyPr wrap="square" lIns="0" tIns="0" rIns="0" bIns="0" rtlCol="0" anchor="b"/>
          <a:lstStyle/>
          <a:p>
            <a:pPr indent="0" marL="0">
              <a:buNone/>
            </a:pPr>
            <a:r>
              <a:rPr lang="en-US" sz="1500" b="1" dirty="0">
                <a:solidFill>
                  <a:srgbClr val="1E293B"/>
                </a:solidFill>
                <a:latin typeface="Calibri" pitchFamily="34" charset="0"/>
                <a:ea typeface="Calibri" pitchFamily="34" charset="-122"/>
                <a:cs typeface="Calibri" pitchFamily="34" charset="-120"/>
              </a:rPr>
              <a:t>Resultado de aprendizaje</a:t>
            </a:r>
            <a:endParaRPr lang="en-US" sz="1500" dirty="0"/>
          </a:p>
        </p:txBody>
      </p:sp>
      <p:sp>
        <p:nvSpPr>
          <p:cNvPr id="12" name="Text 10"/>
          <p:cNvSpPr/>
          <p:nvPr/>
        </p:nvSpPr>
        <p:spPr>
          <a:xfrm>
            <a:off x="987552" y="1426464"/>
            <a:ext cx="4389120" cy="201168"/>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¿Qué seremos capaces de hacer?</a:t>
            </a:r>
            <a:endParaRPr lang="en-US" sz="1200" dirty="0"/>
          </a:p>
        </p:txBody>
      </p:sp>
      <p:sp>
        <p:nvSpPr>
          <p:cNvPr id="13" name="Shape 11"/>
          <p:cNvSpPr/>
          <p:nvPr/>
        </p:nvSpPr>
        <p:spPr>
          <a:xfrm>
            <a:off x="365760" y="1664208"/>
            <a:ext cx="8412480" cy="0"/>
          </a:xfrm>
          <a:prstGeom prst="line">
            <a:avLst/>
          </a:prstGeom>
          <a:noFill/>
          <a:ln w="10160">
            <a:solidFill>
              <a:srgbClr val="E2E8F0"/>
            </a:solidFill>
            <a:prstDash val="solid"/>
          </a:ln>
        </p:spPr>
      </p:sp>
      <p:sp>
        <p:nvSpPr>
          <p:cNvPr id="14" name="Shape 12"/>
          <p:cNvSpPr/>
          <p:nvPr/>
        </p:nvSpPr>
        <p:spPr>
          <a:xfrm>
            <a:off x="365760" y="1792224"/>
            <a:ext cx="502920" cy="438912"/>
          </a:xfrm>
          <a:prstGeom prst="rect">
            <a:avLst/>
          </a:prstGeom>
          <a:solidFill>
            <a:srgbClr val="1B7FA1"/>
          </a:solidFill>
          <a:ln w="12700">
            <a:solidFill>
              <a:srgbClr val="1B7FA1"/>
            </a:solidFill>
            <a:prstDash val="solid"/>
          </a:ln>
        </p:spPr>
      </p:sp>
      <p:sp>
        <p:nvSpPr>
          <p:cNvPr id="15" name="Text 13"/>
          <p:cNvSpPr/>
          <p:nvPr/>
        </p:nvSpPr>
        <p:spPr>
          <a:xfrm>
            <a:off x="365760" y="1792224"/>
            <a:ext cx="50292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6" name="Text 14"/>
          <p:cNvSpPr/>
          <p:nvPr/>
        </p:nvSpPr>
        <p:spPr>
          <a:xfrm>
            <a:off x="987552" y="1792224"/>
            <a:ext cx="4389120" cy="256032"/>
          </a:xfrm>
          <a:prstGeom prst="rect">
            <a:avLst/>
          </a:prstGeom>
          <a:noFill/>
          <a:ln/>
        </p:spPr>
        <p:txBody>
          <a:bodyPr wrap="square" lIns="0" tIns="0" rIns="0" bIns="0" rtlCol="0" anchor="b"/>
          <a:lstStyle/>
          <a:p>
            <a:pPr indent="0" marL="0">
              <a:buNone/>
            </a:pPr>
            <a:r>
              <a:rPr lang="en-US" sz="1500" b="1" dirty="0">
                <a:solidFill>
                  <a:srgbClr val="1E293B"/>
                </a:solidFill>
                <a:latin typeface="Calibri" pitchFamily="34" charset="0"/>
                <a:ea typeface="Calibri" pitchFamily="34" charset="-122"/>
                <a:cs typeface="Calibri" pitchFamily="34" charset="-120"/>
              </a:rPr>
              <a:t>Fuentes de Requisitos</a:t>
            </a:r>
            <a:endParaRPr lang="en-US" sz="1500" dirty="0"/>
          </a:p>
        </p:txBody>
      </p:sp>
      <p:sp>
        <p:nvSpPr>
          <p:cNvPr id="17" name="Text 15"/>
          <p:cNvSpPr/>
          <p:nvPr/>
        </p:nvSpPr>
        <p:spPr>
          <a:xfrm>
            <a:off x="987552" y="2029968"/>
            <a:ext cx="4389120" cy="201168"/>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Stakeholders, docs, sistemas y estándares</a:t>
            </a:r>
            <a:endParaRPr lang="en-US" sz="1200" dirty="0"/>
          </a:p>
        </p:txBody>
      </p:sp>
      <p:sp>
        <p:nvSpPr>
          <p:cNvPr id="18" name="Shape 16"/>
          <p:cNvSpPr/>
          <p:nvPr/>
        </p:nvSpPr>
        <p:spPr>
          <a:xfrm>
            <a:off x="365760" y="2267712"/>
            <a:ext cx="8412480" cy="0"/>
          </a:xfrm>
          <a:prstGeom prst="line">
            <a:avLst/>
          </a:prstGeom>
          <a:noFill/>
          <a:ln w="10160">
            <a:solidFill>
              <a:srgbClr val="E2E8F0"/>
            </a:solidFill>
            <a:prstDash val="solid"/>
          </a:ln>
        </p:spPr>
      </p:sp>
      <p:sp>
        <p:nvSpPr>
          <p:cNvPr id="19" name="Shape 17"/>
          <p:cNvSpPr/>
          <p:nvPr/>
        </p:nvSpPr>
        <p:spPr>
          <a:xfrm>
            <a:off x="365760" y="2395728"/>
            <a:ext cx="502920" cy="438912"/>
          </a:xfrm>
          <a:prstGeom prst="rect">
            <a:avLst/>
          </a:prstGeom>
          <a:solidFill>
            <a:srgbClr val="1B7FA1"/>
          </a:solidFill>
          <a:ln w="12700">
            <a:solidFill>
              <a:srgbClr val="1B7FA1"/>
            </a:solidFill>
            <a:prstDash val="solid"/>
          </a:ln>
        </p:spPr>
      </p:sp>
      <p:sp>
        <p:nvSpPr>
          <p:cNvPr id="20" name="Text 18"/>
          <p:cNvSpPr/>
          <p:nvPr/>
        </p:nvSpPr>
        <p:spPr>
          <a:xfrm>
            <a:off x="365760" y="2395728"/>
            <a:ext cx="50292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1" name="Text 19"/>
          <p:cNvSpPr/>
          <p:nvPr/>
        </p:nvSpPr>
        <p:spPr>
          <a:xfrm>
            <a:off x="987552" y="2395728"/>
            <a:ext cx="4389120" cy="256032"/>
          </a:xfrm>
          <a:prstGeom prst="rect">
            <a:avLst/>
          </a:prstGeom>
          <a:noFill/>
          <a:ln/>
        </p:spPr>
        <p:txBody>
          <a:bodyPr wrap="square" lIns="0" tIns="0" rIns="0" bIns="0" rtlCol="0" anchor="b"/>
          <a:lstStyle/>
          <a:p>
            <a:pPr indent="0" marL="0">
              <a:buNone/>
            </a:pPr>
            <a:r>
              <a:rPr lang="en-US" sz="1500" b="1" dirty="0">
                <a:solidFill>
                  <a:srgbClr val="1E293B"/>
                </a:solidFill>
                <a:latin typeface="Calibri" pitchFamily="34" charset="0"/>
                <a:ea typeface="Calibri" pitchFamily="34" charset="-122"/>
                <a:cs typeface="Calibri" pitchFamily="34" charset="-120"/>
              </a:rPr>
              <a:t>Técnicas Primarias</a:t>
            </a:r>
            <a:endParaRPr lang="en-US" sz="1500" dirty="0"/>
          </a:p>
        </p:txBody>
      </p:sp>
      <p:sp>
        <p:nvSpPr>
          <p:cNvPr id="22" name="Text 20"/>
          <p:cNvSpPr/>
          <p:nvPr/>
        </p:nvSpPr>
        <p:spPr>
          <a:xfrm>
            <a:off x="987552" y="2633472"/>
            <a:ext cx="4389120" cy="201168"/>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Entrevista, Workshop, Focus Group, Observación</a:t>
            </a:r>
            <a:endParaRPr lang="en-US" sz="1200" dirty="0"/>
          </a:p>
        </p:txBody>
      </p:sp>
      <p:sp>
        <p:nvSpPr>
          <p:cNvPr id="23" name="Shape 21"/>
          <p:cNvSpPr/>
          <p:nvPr/>
        </p:nvSpPr>
        <p:spPr>
          <a:xfrm>
            <a:off x="365760" y="2871216"/>
            <a:ext cx="8412480" cy="0"/>
          </a:xfrm>
          <a:prstGeom prst="line">
            <a:avLst/>
          </a:prstGeom>
          <a:noFill/>
          <a:ln w="10160">
            <a:solidFill>
              <a:srgbClr val="E2E8F0"/>
            </a:solidFill>
            <a:prstDash val="solid"/>
          </a:ln>
        </p:spPr>
      </p:sp>
      <p:sp>
        <p:nvSpPr>
          <p:cNvPr id="24" name="Shape 22"/>
          <p:cNvSpPr/>
          <p:nvPr/>
        </p:nvSpPr>
        <p:spPr>
          <a:xfrm>
            <a:off x="365760" y="2999232"/>
            <a:ext cx="502920" cy="438912"/>
          </a:xfrm>
          <a:prstGeom prst="rect">
            <a:avLst/>
          </a:prstGeom>
          <a:solidFill>
            <a:srgbClr val="1B7FA1"/>
          </a:solidFill>
          <a:ln w="12700">
            <a:solidFill>
              <a:srgbClr val="1B7FA1"/>
            </a:solidFill>
            <a:prstDash val="solid"/>
          </a:ln>
        </p:spPr>
      </p:sp>
      <p:sp>
        <p:nvSpPr>
          <p:cNvPr id="25" name="Text 23"/>
          <p:cNvSpPr/>
          <p:nvPr/>
        </p:nvSpPr>
        <p:spPr>
          <a:xfrm>
            <a:off x="365760" y="2999232"/>
            <a:ext cx="50292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6" name="Text 24"/>
          <p:cNvSpPr/>
          <p:nvPr/>
        </p:nvSpPr>
        <p:spPr>
          <a:xfrm>
            <a:off x="987552" y="2999232"/>
            <a:ext cx="4389120" cy="256032"/>
          </a:xfrm>
          <a:prstGeom prst="rect">
            <a:avLst/>
          </a:prstGeom>
          <a:noFill/>
          <a:ln/>
        </p:spPr>
        <p:txBody>
          <a:bodyPr wrap="square" lIns="0" tIns="0" rIns="0" bIns="0" rtlCol="0" anchor="b"/>
          <a:lstStyle/>
          <a:p>
            <a:pPr indent="0" marL="0">
              <a:buNone/>
            </a:pPr>
            <a:r>
              <a:rPr lang="en-US" sz="1500" b="1" dirty="0">
                <a:solidFill>
                  <a:srgbClr val="1E293B"/>
                </a:solidFill>
                <a:latin typeface="Calibri" pitchFamily="34" charset="0"/>
                <a:ea typeface="Calibri" pitchFamily="34" charset="-122"/>
                <a:cs typeface="Calibri" pitchFamily="34" charset="-120"/>
              </a:rPr>
              <a:t>Técnicas Complementarias</a:t>
            </a:r>
            <a:endParaRPr lang="en-US" sz="1500" dirty="0"/>
          </a:p>
        </p:txBody>
      </p:sp>
      <p:sp>
        <p:nvSpPr>
          <p:cNvPr id="27" name="Text 25"/>
          <p:cNvSpPr/>
          <p:nvPr/>
        </p:nvSpPr>
        <p:spPr>
          <a:xfrm>
            <a:off x="987552" y="3236976"/>
            <a:ext cx="4389120" cy="201168"/>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Cuestionario, Perspectivas, Design Thinking</a:t>
            </a:r>
            <a:endParaRPr lang="en-US" sz="1200" dirty="0"/>
          </a:p>
        </p:txBody>
      </p:sp>
      <p:sp>
        <p:nvSpPr>
          <p:cNvPr id="28" name="Shape 26"/>
          <p:cNvSpPr/>
          <p:nvPr/>
        </p:nvSpPr>
        <p:spPr>
          <a:xfrm>
            <a:off x="365760" y="3474720"/>
            <a:ext cx="8412480" cy="0"/>
          </a:xfrm>
          <a:prstGeom prst="line">
            <a:avLst/>
          </a:prstGeom>
          <a:noFill/>
          <a:ln w="10160">
            <a:solidFill>
              <a:srgbClr val="E2E8F0"/>
            </a:solidFill>
            <a:prstDash val="solid"/>
          </a:ln>
        </p:spPr>
      </p:sp>
      <p:sp>
        <p:nvSpPr>
          <p:cNvPr id="29" name="Shape 27"/>
          <p:cNvSpPr/>
          <p:nvPr/>
        </p:nvSpPr>
        <p:spPr>
          <a:xfrm>
            <a:off x="365760" y="3602736"/>
            <a:ext cx="502920" cy="438912"/>
          </a:xfrm>
          <a:prstGeom prst="rect">
            <a:avLst/>
          </a:prstGeom>
          <a:solidFill>
            <a:srgbClr val="1B7FA1"/>
          </a:solidFill>
          <a:ln w="12700">
            <a:solidFill>
              <a:srgbClr val="1B7FA1"/>
            </a:solidFill>
            <a:prstDash val="solid"/>
          </a:ln>
        </p:spPr>
      </p:sp>
      <p:sp>
        <p:nvSpPr>
          <p:cNvPr id="30" name="Text 28"/>
          <p:cNvSpPr/>
          <p:nvPr/>
        </p:nvSpPr>
        <p:spPr>
          <a:xfrm>
            <a:off x="365760" y="3602736"/>
            <a:ext cx="50292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31" name="Text 29"/>
          <p:cNvSpPr/>
          <p:nvPr/>
        </p:nvSpPr>
        <p:spPr>
          <a:xfrm>
            <a:off x="987552" y="3602736"/>
            <a:ext cx="4389120" cy="256032"/>
          </a:xfrm>
          <a:prstGeom prst="rect">
            <a:avLst/>
          </a:prstGeom>
          <a:noFill/>
          <a:ln/>
        </p:spPr>
        <p:txBody>
          <a:bodyPr wrap="square" lIns="0" tIns="0" rIns="0" bIns="0" rtlCol="0" anchor="b"/>
          <a:lstStyle/>
          <a:p>
            <a:pPr indent="0" marL="0">
              <a:buNone/>
            </a:pPr>
            <a:r>
              <a:rPr lang="en-US" sz="1500" b="1" dirty="0">
                <a:solidFill>
                  <a:srgbClr val="1E293B"/>
                </a:solidFill>
                <a:latin typeface="Calibri" pitchFamily="34" charset="0"/>
                <a:ea typeface="Calibri" pitchFamily="34" charset="-122"/>
                <a:cs typeface="Calibri" pitchFamily="34" charset="-120"/>
              </a:rPr>
              <a:t>Técnicas de Apoyo</a:t>
            </a:r>
            <a:endParaRPr lang="en-US" sz="1500" dirty="0"/>
          </a:p>
        </p:txBody>
      </p:sp>
      <p:sp>
        <p:nvSpPr>
          <p:cNvPr id="32" name="Text 30"/>
          <p:cNvSpPr/>
          <p:nvPr/>
        </p:nvSpPr>
        <p:spPr>
          <a:xfrm>
            <a:off x="987552" y="3840480"/>
            <a:ext cx="4389120" cy="201168"/>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Brainstorming, Prototipado, KJ, Mapas mentales</a:t>
            </a:r>
            <a:endParaRPr lang="en-US" sz="1200" dirty="0"/>
          </a:p>
        </p:txBody>
      </p:sp>
      <p:sp>
        <p:nvSpPr>
          <p:cNvPr id="33" name="Shape 31"/>
          <p:cNvSpPr/>
          <p:nvPr/>
        </p:nvSpPr>
        <p:spPr>
          <a:xfrm>
            <a:off x="365760" y="4078224"/>
            <a:ext cx="8412480" cy="0"/>
          </a:xfrm>
          <a:prstGeom prst="line">
            <a:avLst/>
          </a:prstGeom>
          <a:noFill/>
          <a:ln w="10160">
            <a:solidFill>
              <a:srgbClr val="E2E8F0"/>
            </a:solidFill>
            <a:prstDash val="solid"/>
          </a:ln>
        </p:spPr>
      </p:sp>
      <p:sp>
        <p:nvSpPr>
          <p:cNvPr id="34" name="Shape 32"/>
          <p:cNvSpPr/>
          <p:nvPr/>
        </p:nvSpPr>
        <p:spPr>
          <a:xfrm>
            <a:off x="365760" y="4206240"/>
            <a:ext cx="502920" cy="438912"/>
          </a:xfrm>
          <a:prstGeom prst="rect">
            <a:avLst/>
          </a:prstGeom>
          <a:solidFill>
            <a:srgbClr val="1B7FA1"/>
          </a:solidFill>
          <a:ln w="12700">
            <a:solidFill>
              <a:srgbClr val="1B7FA1"/>
            </a:solidFill>
            <a:prstDash val="solid"/>
          </a:ln>
        </p:spPr>
      </p:sp>
      <p:sp>
        <p:nvSpPr>
          <p:cNvPr id="35" name="Text 33"/>
          <p:cNvSpPr/>
          <p:nvPr/>
        </p:nvSpPr>
        <p:spPr>
          <a:xfrm>
            <a:off x="365760" y="4206240"/>
            <a:ext cx="502920"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6" name="Text 34"/>
          <p:cNvSpPr/>
          <p:nvPr/>
        </p:nvSpPr>
        <p:spPr>
          <a:xfrm>
            <a:off x="987552" y="4206240"/>
            <a:ext cx="4389120" cy="256032"/>
          </a:xfrm>
          <a:prstGeom prst="rect">
            <a:avLst/>
          </a:prstGeom>
          <a:noFill/>
          <a:ln/>
        </p:spPr>
        <p:txBody>
          <a:bodyPr wrap="square" lIns="0" tIns="0" rIns="0" bIns="0" rtlCol="0" anchor="b"/>
          <a:lstStyle/>
          <a:p>
            <a:pPr indent="0" marL="0">
              <a:buNone/>
            </a:pPr>
            <a:r>
              <a:rPr lang="en-US" sz="1500" b="1" dirty="0">
                <a:solidFill>
                  <a:srgbClr val="1E293B"/>
                </a:solidFill>
                <a:latin typeface="Calibri" pitchFamily="34" charset="0"/>
                <a:ea typeface="Calibri" pitchFamily="34" charset="-122"/>
                <a:cs typeface="Calibri" pitchFamily="34" charset="-120"/>
              </a:rPr>
              <a:t>Habilidades blandas y evaluación</a:t>
            </a:r>
            <a:endParaRPr lang="en-US" sz="1500" dirty="0"/>
          </a:p>
        </p:txBody>
      </p:sp>
      <p:sp>
        <p:nvSpPr>
          <p:cNvPr id="37" name="Text 35"/>
          <p:cNvSpPr/>
          <p:nvPr/>
        </p:nvSpPr>
        <p:spPr>
          <a:xfrm>
            <a:off x="987552" y="4443984"/>
            <a:ext cx="4389120" cy="201168"/>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Comunicación, creatividad y empatía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Resultado de Aprendizaje</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Unidad 2 · Elicitación y Análisis</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3 / 14</a:t>
            </a:r>
            <a:endParaRPr lang="en-US" sz="900" dirty="0"/>
          </a:p>
        </p:txBody>
      </p:sp>
      <p:sp>
        <p:nvSpPr>
          <p:cNvPr id="9" name="Shape 7"/>
          <p:cNvSpPr/>
          <p:nvPr/>
        </p:nvSpPr>
        <p:spPr>
          <a:xfrm>
            <a:off x="457200" y="1234440"/>
            <a:ext cx="8229600" cy="1828800"/>
          </a:xfrm>
          <a:prstGeom prst="rect">
            <a:avLst/>
          </a:prstGeom>
          <a:solidFill>
            <a:srgbClr val="E8F4F8"/>
          </a:solidFill>
          <a:ln w="25400">
            <a:solidFill>
              <a:srgbClr val="1B7FA1"/>
            </a:solidFill>
            <a:prstDash val="solid"/>
          </a:ln>
        </p:spPr>
      </p:sp>
      <p:sp>
        <p:nvSpPr>
          <p:cNvPr id="10" name="Shape 8"/>
          <p:cNvSpPr/>
          <p:nvPr/>
        </p:nvSpPr>
        <p:spPr>
          <a:xfrm>
            <a:off x="457200" y="1234440"/>
            <a:ext cx="109728" cy="1828800"/>
          </a:xfrm>
          <a:prstGeom prst="rect">
            <a:avLst/>
          </a:prstGeom>
          <a:solidFill>
            <a:srgbClr val="1B7FA1"/>
          </a:solidFill>
          <a:ln w="12700">
            <a:solidFill>
              <a:srgbClr val="1B7FA1"/>
            </a:solidFill>
            <a:prstDash val="solid"/>
          </a:ln>
        </p:spPr>
      </p:sp>
      <p:sp>
        <p:nvSpPr>
          <p:cNvPr id="11" name="Text 9"/>
          <p:cNvSpPr/>
          <p:nvPr/>
        </p:nvSpPr>
        <p:spPr>
          <a:xfrm>
            <a:off x="685800" y="1325880"/>
            <a:ext cx="7772400" cy="164592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Aplica técnicas de elicitación y análisis de requisitos para identificar, clasificar y modelar requisitos.</a:t>
            </a:r>
            <a:endParaRPr lang="en-US" sz="2200" dirty="0"/>
          </a:p>
        </p:txBody>
      </p:sp>
      <p:sp>
        <p:nvSpPr>
          <p:cNvPr id="12" name="Text 10"/>
          <p:cNvSpPr/>
          <p:nvPr/>
        </p:nvSpPr>
        <p:spPr>
          <a:xfrm>
            <a:off x="457200" y="3246120"/>
            <a:ext cx="8229600" cy="274320"/>
          </a:xfrm>
          <a:prstGeom prst="rect">
            <a:avLst/>
          </a:prstGeom>
          <a:noFill/>
          <a:ln/>
        </p:spPr>
        <p:txBody>
          <a:bodyPr wrap="square" lIns="0" tIns="0" rIns="0" bIns="0" rtlCol="0" anchor="ctr"/>
          <a:lstStyle/>
          <a:p>
            <a:pPr indent="0" marL="0">
              <a:buNone/>
            </a:pPr>
            <a:r>
              <a:rPr lang="en-US" sz="1400" b="1" dirty="0">
                <a:solidFill>
                  <a:srgbClr val="1A3557"/>
                </a:solidFill>
                <a:latin typeface="Calibri" pitchFamily="34" charset="0"/>
                <a:ea typeface="Calibri" pitchFamily="34" charset="-122"/>
                <a:cs typeface="Calibri" pitchFamily="34" charset="-120"/>
              </a:rPr>
              <a:t>Habilidades blandas que desarrollaremos:</a:t>
            </a:r>
            <a:endParaRPr lang="en-US" sz="1400" dirty="0"/>
          </a:p>
        </p:txBody>
      </p:sp>
      <p:sp>
        <p:nvSpPr>
          <p:cNvPr id="13" name="Shape 11"/>
          <p:cNvSpPr/>
          <p:nvPr/>
        </p:nvSpPr>
        <p:spPr>
          <a:xfrm>
            <a:off x="457200" y="3611880"/>
            <a:ext cx="2651760" cy="777240"/>
          </a:xfrm>
          <a:prstGeom prst="roundRect">
            <a:avLst>
              <a:gd name="adj" fmla="val 14118"/>
            </a:avLst>
          </a:prstGeom>
          <a:solidFill>
            <a:srgbClr val="1A3557"/>
          </a:solidFill>
          <a:ln w="12700">
            <a:solidFill>
              <a:srgbClr val="1A3557"/>
            </a:solidFill>
            <a:prstDash val="solid"/>
          </a:ln>
        </p:spPr>
      </p:sp>
      <p:sp>
        <p:nvSpPr>
          <p:cNvPr id="14" name="Text 12"/>
          <p:cNvSpPr/>
          <p:nvPr/>
        </p:nvSpPr>
        <p:spPr>
          <a:xfrm>
            <a:off x="548640" y="3611880"/>
            <a:ext cx="2468880" cy="77724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  Comunicación efectiva</a:t>
            </a:r>
            <a:endParaRPr lang="en-US" sz="1400" dirty="0"/>
          </a:p>
        </p:txBody>
      </p:sp>
      <p:sp>
        <p:nvSpPr>
          <p:cNvPr id="15" name="Shape 13"/>
          <p:cNvSpPr/>
          <p:nvPr/>
        </p:nvSpPr>
        <p:spPr>
          <a:xfrm>
            <a:off x="3291840" y="3611880"/>
            <a:ext cx="2651760" cy="777240"/>
          </a:xfrm>
          <a:prstGeom prst="roundRect">
            <a:avLst>
              <a:gd name="adj" fmla="val 14118"/>
            </a:avLst>
          </a:prstGeom>
          <a:solidFill>
            <a:srgbClr val="1A3557"/>
          </a:solidFill>
          <a:ln w="12700">
            <a:solidFill>
              <a:srgbClr val="1A3557"/>
            </a:solidFill>
            <a:prstDash val="solid"/>
          </a:ln>
        </p:spPr>
      </p:sp>
      <p:sp>
        <p:nvSpPr>
          <p:cNvPr id="16" name="Text 14"/>
          <p:cNvSpPr/>
          <p:nvPr/>
        </p:nvSpPr>
        <p:spPr>
          <a:xfrm>
            <a:off x="3383280" y="3611880"/>
            <a:ext cx="2468880" cy="77724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  Creatividad</a:t>
            </a:r>
            <a:endParaRPr lang="en-US" sz="1400" dirty="0"/>
          </a:p>
        </p:txBody>
      </p:sp>
      <p:sp>
        <p:nvSpPr>
          <p:cNvPr id="17" name="Shape 15"/>
          <p:cNvSpPr/>
          <p:nvPr/>
        </p:nvSpPr>
        <p:spPr>
          <a:xfrm>
            <a:off x="6126480" y="3611880"/>
            <a:ext cx="2651760" cy="777240"/>
          </a:xfrm>
          <a:prstGeom prst="roundRect">
            <a:avLst>
              <a:gd name="adj" fmla="val 14118"/>
            </a:avLst>
          </a:prstGeom>
          <a:solidFill>
            <a:srgbClr val="1A3557"/>
          </a:solidFill>
          <a:ln w="12700">
            <a:solidFill>
              <a:srgbClr val="1A3557"/>
            </a:solidFill>
            <a:prstDash val="solid"/>
          </a:ln>
        </p:spPr>
      </p:sp>
      <p:sp>
        <p:nvSpPr>
          <p:cNvPr id="18" name="Text 16"/>
          <p:cNvSpPr/>
          <p:nvPr/>
        </p:nvSpPr>
        <p:spPr>
          <a:xfrm>
            <a:off x="6217920" y="3611880"/>
            <a:ext cx="2468880" cy="77724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  Empatía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¿Qué es la Elicitación de Requisitos?</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IR: Ingeniería de Requerimientos · Definición clave</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4 / 14</a:t>
            </a:r>
            <a:endParaRPr lang="en-US" sz="900" dirty="0"/>
          </a:p>
        </p:txBody>
      </p:sp>
      <p:sp>
        <p:nvSpPr>
          <p:cNvPr id="9" name="Text 7"/>
          <p:cNvSpPr/>
          <p:nvPr/>
        </p:nvSpPr>
        <p:spPr>
          <a:xfrm>
            <a:off x="457200" y="1188720"/>
            <a:ext cx="8229600" cy="137160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La elicitación (o elicitation) es el proceso de descubrir, capturar y comprender los requisitos de un sistema a partir de múltiples fuentes, antes de que puedan ser documentados y verificados.</a:t>
            </a:r>
            <a:endParaRPr lang="en-US" sz="1500" dirty="0"/>
          </a:p>
        </p:txBody>
      </p:sp>
      <p:sp>
        <p:nvSpPr>
          <p:cNvPr id="10" name="Shape 8"/>
          <p:cNvSpPr/>
          <p:nvPr/>
        </p:nvSpPr>
        <p:spPr>
          <a:xfrm>
            <a:off x="365760" y="2697480"/>
            <a:ext cx="2697480" cy="411480"/>
          </a:xfrm>
          <a:prstGeom prst="rect">
            <a:avLst/>
          </a:prstGeom>
          <a:solidFill>
            <a:srgbClr val="1A3557"/>
          </a:solidFill>
          <a:ln w="12700">
            <a:solidFill>
              <a:srgbClr val="1A3557"/>
            </a:solidFill>
            <a:prstDash val="solid"/>
          </a:ln>
        </p:spPr>
      </p:sp>
      <p:sp>
        <p:nvSpPr>
          <p:cNvPr id="11" name="Text 9"/>
          <p:cNvSpPr/>
          <p:nvPr/>
        </p:nvSpPr>
        <p:spPr>
          <a:xfrm>
            <a:off x="365760" y="2697480"/>
            <a:ext cx="2697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DESCUBRIR</a:t>
            </a:r>
            <a:endParaRPr lang="en-US" sz="1400" dirty="0"/>
          </a:p>
        </p:txBody>
      </p:sp>
      <p:sp>
        <p:nvSpPr>
          <p:cNvPr id="12" name="Shape 10"/>
          <p:cNvSpPr/>
          <p:nvPr/>
        </p:nvSpPr>
        <p:spPr>
          <a:xfrm>
            <a:off x="365760" y="3108960"/>
            <a:ext cx="2697480" cy="1371600"/>
          </a:xfrm>
          <a:prstGeom prst="rect">
            <a:avLst/>
          </a:prstGeom>
          <a:solidFill>
            <a:srgbClr val="E8F4F8"/>
          </a:solidFill>
          <a:ln w="12700">
            <a:solidFill>
              <a:srgbClr val="1A3557"/>
            </a:solidFill>
            <a:prstDash val="solid"/>
          </a:ln>
        </p:spPr>
      </p:sp>
      <p:sp>
        <p:nvSpPr>
          <p:cNvPr id="13" name="Text 11"/>
          <p:cNvSpPr/>
          <p:nvPr/>
        </p:nvSpPr>
        <p:spPr>
          <a:xfrm>
            <a:off x="457200" y="3154680"/>
            <a:ext cx="2514600" cy="12801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Encontrar requisitos que los stakeholders no pueden articular explícitamente</a:t>
            </a:r>
            <a:endParaRPr lang="en-US" sz="1400" dirty="0"/>
          </a:p>
        </p:txBody>
      </p:sp>
      <p:sp>
        <p:nvSpPr>
          <p:cNvPr id="14" name="Shape 12"/>
          <p:cNvSpPr/>
          <p:nvPr/>
        </p:nvSpPr>
        <p:spPr>
          <a:xfrm>
            <a:off x="3200400" y="2697480"/>
            <a:ext cx="2697480" cy="411480"/>
          </a:xfrm>
          <a:prstGeom prst="rect">
            <a:avLst/>
          </a:prstGeom>
          <a:solidFill>
            <a:srgbClr val="1B7FA1"/>
          </a:solidFill>
          <a:ln w="12700">
            <a:solidFill>
              <a:srgbClr val="1B7FA1"/>
            </a:solidFill>
            <a:prstDash val="solid"/>
          </a:ln>
        </p:spPr>
      </p:sp>
      <p:sp>
        <p:nvSpPr>
          <p:cNvPr id="15" name="Text 13"/>
          <p:cNvSpPr/>
          <p:nvPr/>
        </p:nvSpPr>
        <p:spPr>
          <a:xfrm>
            <a:off x="3200400" y="2697480"/>
            <a:ext cx="2697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CAPTURAR</a:t>
            </a:r>
            <a:endParaRPr lang="en-US" sz="1400" dirty="0"/>
          </a:p>
        </p:txBody>
      </p:sp>
      <p:sp>
        <p:nvSpPr>
          <p:cNvPr id="16" name="Shape 14"/>
          <p:cNvSpPr/>
          <p:nvPr/>
        </p:nvSpPr>
        <p:spPr>
          <a:xfrm>
            <a:off x="3200400" y="3108960"/>
            <a:ext cx="2697480" cy="1371600"/>
          </a:xfrm>
          <a:prstGeom prst="rect">
            <a:avLst/>
          </a:prstGeom>
          <a:solidFill>
            <a:srgbClr val="E8F4F8"/>
          </a:solidFill>
          <a:ln w="12700">
            <a:solidFill>
              <a:srgbClr val="1B7FA1"/>
            </a:solidFill>
            <a:prstDash val="solid"/>
          </a:ln>
        </p:spPr>
      </p:sp>
      <p:sp>
        <p:nvSpPr>
          <p:cNvPr id="17" name="Text 15"/>
          <p:cNvSpPr/>
          <p:nvPr/>
        </p:nvSpPr>
        <p:spPr>
          <a:xfrm>
            <a:off x="3291840" y="3154680"/>
            <a:ext cx="2514600" cy="12801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Registrar y organizar lo que se descubre en formatos utilizables</a:t>
            </a:r>
            <a:endParaRPr lang="en-US" sz="1400" dirty="0"/>
          </a:p>
        </p:txBody>
      </p:sp>
      <p:sp>
        <p:nvSpPr>
          <p:cNvPr id="18" name="Shape 16"/>
          <p:cNvSpPr/>
          <p:nvPr/>
        </p:nvSpPr>
        <p:spPr>
          <a:xfrm>
            <a:off x="6035040" y="2697480"/>
            <a:ext cx="2697480" cy="411480"/>
          </a:xfrm>
          <a:prstGeom prst="rect">
            <a:avLst/>
          </a:prstGeom>
          <a:solidFill>
            <a:srgbClr val="02A896"/>
          </a:solidFill>
          <a:ln w="12700">
            <a:solidFill>
              <a:srgbClr val="02A896"/>
            </a:solidFill>
            <a:prstDash val="solid"/>
          </a:ln>
        </p:spPr>
      </p:sp>
      <p:sp>
        <p:nvSpPr>
          <p:cNvPr id="19" name="Text 17"/>
          <p:cNvSpPr/>
          <p:nvPr/>
        </p:nvSpPr>
        <p:spPr>
          <a:xfrm>
            <a:off x="6035040" y="2697480"/>
            <a:ext cx="2697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COMPRENDER</a:t>
            </a:r>
            <a:endParaRPr lang="en-US" sz="1400" dirty="0"/>
          </a:p>
        </p:txBody>
      </p:sp>
      <p:sp>
        <p:nvSpPr>
          <p:cNvPr id="20" name="Shape 18"/>
          <p:cNvSpPr/>
          <p:nvPr/>
        </p:nvSpPr>
        <p:spPr>
          <a:xfrm>
            <a:off x="6035040" y="3108960"/>
            <a:ext cx="2697480" cy="1371600"/>
          </a:xfrm>
          <a:prstGeom prst="rect">
            <a:avLst/>
          </a:prstGeom>
          <a:solidFill>
            <a:srgbClr val="E8F4F8"/>
          </a:solidFill>
          <a:ln w="12700">
            <a:solidFill>
              <a:srgbClr val="02A896"/>
            </a:solidFill>
            <a:prstDash val="solid"/>
          </a:ln>
        </p:spPr>
      </p:sp>
      <p:sp>
        <p:nvSpPr>
          <p:cNvPr id="21" name="Text 19"/>
          <p:cNvSpPr/>
          <p:nvPr/>
        </p:nvSpPr>
        <p:spPr>
          <a:xfrm>
            <a:off x="6126480" y="3154680"/>
            <a:ext cx="2514600" cy="12801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Interpretar el contexto del negocio y las necesidades reales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Fuentes de Requisitos</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Subtema 1 · ¿De dónde vienen los requisitos?</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5 / 14</a:t>
            </a:r>
            <a:endParaRPr lang="en-US" sz="900" dirty="0"/>
          </a:p>
        </p:txBody>
      </p:sp>
      <p:sp>
        <p:nvSpPr>
          <p:cNvPr id="9" name="Shape 7"/>
          <p:cNvSpPr/>
          <p:nvPr/>
        </p:nvSpPr>
        <p:spPr>
          <a:xfrm>
            <a:off x="365760" y="1188720"/>
            <a:ext cx="4160520" cy="1691640"/>
          </a:xfrm>
          <a:prstGeom prst="rect">
            <a:avLst/>
          </a:prstGeom>
          <a:solidFill>
            <a:srgbClr val="E8F4F8"/>
          </a:solidFill>
          <a:ln w="19050">
            <a:solidFill>
              <a:srgbClr val="1A3557"/>
            </a:solidFill>
            <a:prstDash val="solid"/>
          </a:ln>
        </p:spPr>
      </p:sp>
      <p:sp>
        <p:nvSpPr>
          <p:cNvPr id="10" name="Shape 8"/>
          <p:cNvSpPr/>
          <p:nvPr/>
        </p:nvSpPr>
        <p:spPr>
          <a:xfrm>
            <a:off x="365760" y="1188720"/>
            <a:ext cx="4160520" cy="384048"/>
          </a:xfrm>
          <a:prstGeom prst="rect">
            <a:avLst/>
          </a:prstGeom>
          <a:solidFill>
            <a:srgbClr val="1A3557"/>
          </a:solidFill>
          <a:ln w="12700">
            <a:solidFill>
              <a:srgbClr val="1A3557"/>
            </a:solidFill>
            <a:prstDash val="solid"/>
          </a:ln>
        </p:spPr>
      </p:sp>
      <p:sp>
        <p:nvSpPr>
          <p:cNvPr id="11" name="Text 9"/>
          <p:cNvSpPr/>
          <p:nvPr/>
        </p:nvSpPr>
        <p:spPr>
          <a:xfrm>
            <a:off x="457200" y="1188720"/>
            <a:ext cx="397764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Stakeholders (Partes interesadas)</a:t>
            </a:r>
            <a:endParaRPr lang="en-US" sz="1400" dirty="0"/>
          </a:p>
        </p:txBody>
      </p:sp>
      <p:sp>
        <p:nvSpPr>
          <p:cNvPr id="12" name="Text 10"/>
          <p:cNvSpPr/>
          <p:nvPr/>
        </p:nvSpPr>
        <p:spPr>
          <a:xfrm>
            <a:off x="457200" y="1618488"/>
            <a:ext cx="3977640" cy="118872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Usuarios finales, clientes, patrocinadores, operadores y cualquier persona impactada por el sistema. Son la fuente más rica y también la más subjetiva.</a:t>
            </a:r>
            <a:endParaRPr lang="en-US" sz="1250" dirty="0"/>
          </a:p>
        </p:txBody>
      </p:sp>
      <p:sp>
        <p:nvSpPr>
          <p:cNvPr id="13" name="Shape 11"/>
          <p:cNvSpPr/>
          <p:nvPr/>
        </p:nvSpPr>
        <p:spPr>
          <a:xfrm>
            <a:off x="4800600" y="1188720"/>
            <a:ext cx="4160520" cy="1691640"/>
          </a:xfrm>
          <a:prstGeom prst="rect">
            <a:avLst/>
          </a:prstGeom>
          <a:solidFill>
            <a:srgbClr val="E8F4F8"/>
          </a:solidFill>
          <a:ln w="19050">
            <a:solidFill>
              <a:srgbClr val="1B7FA1"/>
            </a:solidFill>
            <a:prstDash val="solid"/>
          </a:ln>
        </p:spPr>
      </p:sp>
      <p:sp>
        <p:nvSpPr>
          <p:cNvPr id="14" name="Shape 12"/>
          <p:cNvSpPr/>
          <p:nvPr/>
        </p:nvSpPr>
        <p:spPr>
          <a:xfrm>
            <a:off x="4800600" y="1188720"/>
            <a:ext cx="4160520" cy="384048"/>
          </a:xfrm>
          <a:prstGeom prst="rect">
            <a:avLst/>
          </a:prstGeom>
          <a:solidFill>
            <a:srgbClr val="1B7FA1"/>
          </a:solidFill>
          <a:ln w="12700">
            <a:solidFill>
              <a:srgbClr val="1B7FA1"/>
            </a:solidFill>
            <a:prstDash val="solid"/>
          </a:ln>
        </p:spPr>
      </p:sp>
      <p:sp>
        <p:nvSpPr>
          <p:cNvPr id="15" name="Text 13"/>
          <p:cNvSpPr/>
          <p:nvPr/>
        </p:nvSpPr>
        <p:spPr>
          <a:xfrm>
            <a:off x="4892040" y="1188720"/>
            <a:ext cx="397764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Documentos existentes</a:t>
            </a:r>
            <a:endParaRPr lang="en-US" sz="1400" dirty="0"/>
          </a:p>
        </p:txBody>
      </p:sp>
      <p:sp>
        <p:nvSpPr>
          <p:cNvPr id="16" name="Text 14"/>
          <p:cNvSpPr/>
          <p:nvPr/>
        </p:nvSpPr>
        <p:spPr>
          <a:xfrm>
            <a:off x="4892040" y="1618488"/>
            <a:ext cx="3977640" cy="118872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Manuales, regulaciones, formularios, flujos de trabajo actuales, reportes y contratos. Revelan procesos implícitos y restricciones legales.</a:t>
            </a:r>
            <a:endParaRPr lang="en-US" sz="1250" dirty="0"/>
          </a:p>
        </p:txBody>
      </p:sp>
      <p:sp>
        <p:nvSpPr>
          <p:cNvPr id="17" name="Shape 15"/>
          <p:cNvSpPr/>
          <p:nvPr/>
        </p:nvSpPr>
        <p:spPr>
          <a:xfrm>
            <a:off x="365760" y="3017520"/>
            <a:ext cx="4160520" cy="1691640"/>
          </a:xfrm>
          <a:prstGeom prst="rect">
            <a:avLst/>
          </a:prstGeom>
          <a:solidFill>
            <a:srgbClr val="E8F4F8"/>
          </a:solidFill>
          <a:ln w="19050">
            <a:solidFill>
              <a:srgbClr val="02A896"/>
            </a:solidFill>
            <a:prstDash val="solid"/>
          </a:ln>
        </p:spPr>
      </p:sp>
      <p:sp>
        <p:nvSpPr>
          <p:cNvPr id="18" name="Shape 16"/>
          <p:cNvSpPr/>
          <p:nvPr/>
        </p:nvSpPr>
        <p:spPr>
          <a:xfrm>
            <a:off x="365760" y="3017520"/>
            <a:ext cx="4160520" cy="384048"/>
          </a:xfrm>
          <a:prstGeom prst="rect">
            <a:avLst/>
          </a:prstGeom>
          <a:solidFill>
            <a:srgbClr val="02A896"/>
          </a:solidFill>
          <a:ln w="12700">
            <a:solidFill>
              <a:srgbClr val="02A896"/>
            </a:solidFill>
            <a:prstDash val="solid"/>
          </a:ln>
        </p:spPr>
      </p:sp>
      <p:sp>
        <p:nvSpPr>
          <p:cNvPr id="19" name="Text 17"/>
          <p:cNvSpPr/>
          <p:nvPr/>
        </p:nvSpPr>
        <p:spPr>
          <a:xfrm>
            <a:off x="457200" y="3017520"/>
            <a:ext cx="397764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Sistemas existentes</a:t>
            </a:r>
            <a:endParaRPr lang="en-US" sz="1400" dirty="0"/>
          </a:p>
        </p:txBody>
      </p:sp>
      <p:sp>
        <p:nvSpPr>
          <p:cNvPr id="20" name="Text 18"/>
          <p:cNvSpPr/>
          <p:nvPr/>
        </p:nvSpPr>
        <p:spPr>
          <a:xfrm>
            <a:off x="457200" y="3447288"/>
            <a:ext cx="3977640" cy="118872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Software legado, prototipos, sistemas similares. Permiten identificar brechas (gap analysis) entre lo actual y lo deseado.</a:t>
            </a:r>
            <a:endParaRPr lang="en-US" sz="1250" dirty="0"/>
          </a:p>
        </p:txBody>
      </p:sp>
      <p:sp>
        <p:nvSpPr>
          <p:cNvPr id="21" name="Shape 19"/>
          <p:cNvSpPr/>
          <p:nvPr/>
        </p:nvSpPr>
        <p:spPr>
          <a:xfrm>
            <a:off x="4800600" y="3017520"/>
            <a:ext cx="4160520" cy="1691640"/>
          </a:xfrm>
          <a:prstGeom prst="rect">
            <a:avLst/>
          </a:prstGeom>
          <a:solidFill>
            <a:srgbClr val="E8F4F8"/>
          </a:solidFill>
          <a:ln w="19050">
            <a:solidFill>
              <a:srgbClr val="F0A500"/>
            </a:solidFill>
            <a:prstDash val="solid"/>
          </a:ln>
        </p:spPr>
      </p:sp>
      <p:sp>
        <p:nvSpPr>
          <p:cNvPr id="22" name="Shape 20"/>
          <p:cNvSpPr/>
          <p:nvPr/>
        </p:nvSpPr>
        <p:spPr>
          <a:xfrm>
            <a:off x="4800600" y="3017520"/>
            <a:ext cx="4160520" cy="384048"/>
          </a:xfrm>
          <a:prstGeom prst="rect">
            <a:avLst/>
          </a:prstGeom>
          <a:solidFill>
            <a:srgbClr val="F0A500"/>
          </a:solidFill>
          <a:ln w="12700">
            <a:solidFill>
              <a:srgbClr val="F0A500"/>
            </a:solidFill>
            <a:prstDash val="solid"/>
          </a:ln>
        </p:spPr>
      </p:sp>
      <p:sp>
        <p:nvSpPr>
          <p:cNvPr id="23" name="Text 21"/>
          <p:cNvSpPr/>
          <p:nvPr/>
        </p:nvSpPr>
        <p:spPr>
          <a:xfrm>
            <a:off x="4892040" y="3017520"/>
            <a:ext cx="397764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Estándares y normativas</a:t>
            </a:r>
            <a:endParaRPr lang="en-US" sz="1400" dirty="0"/>
          </a:p>
        </p:txBody>
      </p:sp>
      <p:sp>
        <p:nvSpPr>
          <p:cNvPr id="24" name="Text 22"/>
          <p:cNvSpPr/>
          <p:nvPr/>
        </p:nvSpPr>
        <p:spPr>
          <a:xfrm>
            <a:off x="4892040" y="3447288"/>
            <a:ext cx="3977640" cy="118872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ISO/IEC 25010:2023, IEEE 29148:2018, SWEBOK v4. Imponen requisitos de calidad, seguridad e interoperabilidad obligatorios.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Técnicas Primarias de Elicitación</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Subtema 2 · Entrevista, Taller y Focus Group</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6 / 14</a:t>
            </a:r>
            <a:endParaRPr lang="en-US" sz="900" dirty="0"/>
          </a:p>
        </p:txBody>
      </p:sp>
      <p:sp>
        <p:nvSpPr>
          <p:cNvPr id="9" name="Shape 7"/>
          <p:cNvSpPr/>
          <p:nvPr/>
        </p:nvSpPr>
        <p:spPr>
          <a:xfrm>
            <a:off x="320040" y="1188720"/>
            <a:ext cx="4023360" cy="365760"/>
          </a:xfrm>
          <a:prstGeom prst="rect">
            <a:avLst/>
          </a:prstGeom>
          <a:solidFill>
            <a:srgbClr val="1A3557"/>
          </a:solidFill>
          <a:ln w="12700">
            <a:solidFill>
              <a:srgbClr val="1A3557"/>
            </a:solidFill>
            <a:prstDash val="solid"/>
          </a:ln>
        </p:spPr>
      </p:sp>
      <p:sp>
        <p:nvSpPr>
          <p:cNvPr id="10" name="Text 8"/>
          <p:cNvSpPr/>
          <p:nvPr/>
        </p:nvSpPr>
        <p:spPr>
          <a:xfrm>
            <a:off x="320040" y="1188720"/>
            <a:ext cx="4023360" cy="365760"/>
          </a:xfrm>
          <a:prstGeom prst="rect">
            <a:avLst/>
          </a:prstGeom>
          <a:noFill/>
          <a:ln/>
        </p:spPr>
        <p:txBody>
          <a:bodyPr wrap="square" lIns="76200" tIns="76200" rIns="76200" bIns="7620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Entrevista</a:t>
            </a:r>
            <a:endParaRPr lang="en-US" sz="1500" dirty="0"/>
          </a:p>
        </p:txBody>
      </p:sp>
      <p:sp>
        <p:nvSpPr>
          <p:cNvPr id="11" name="Text 9"/>
          <p:cNvSpPr/>
          <p:nvPr/>
        </p:nvSpPr>
        <p:spPr>
          <a:xfrm>
            <a:off x="320040" y="1600200"/>
            <a:ext cx="4023360" cy="1508760"/>
          </a:xfrm>
          <a:prstGeom prst="rect">
            <a:avLst/>
          </a:prstGeom>
          <a:noFill/>
          <a:ln/>
        </p:spPr>
        <p:txBody>
          <a:bodyPr wrap="square" lIns="101600" tIns="101600" rIns="101600" bIns="101600" rtlCol="0" anchor="t"/>
          <a:lstStyle/>
          <a:p>
            <a:pPr indent="0" marL="0">
              <a:buNone/>
            </a:pPr>
            <a:r>
              <a:rPr lang="en-US" sz="1400" b="1" dirty="0">
                <a:solidFill>
                  <a:srgbClr val="1E293B"/>
                </a:solidFill>
                <a:latin typeface="Calibri" pitchFamily="34" charset="0"/>
                <a:ea typeface="Calibri" pitchFamily="34" charset="-122"/>
                <a:cs typeface="Calibri" pitchFamily="34" charset="-120"/>
              </a:rPr>
              <a:t>Tipos: </a:t>
            </a:r>
            <a:pPr indent="0" marL="0">
              <a:buNone/>
            </a:pPr>
            <a:r>
              <a:rPr lang="en-US" sz="1400" dirty="0">
                <a:solidFill>
                  <a:srgbClr val="1E293B"/>
                </a:solidFill>
                <a:latin typeface="Calibri" pitchFamily="34" charset="0"/>
                <a:ea typeface="Calibri" pitchFamily="34" charset="-122"/>
                <a:cs typeface="Calibri" pitchFamily="34" charset="-120"/>
              </a:rPr>
              <a:t>estructurada, semiestructurada, no estructurada.
</a:t>
            </a:r>
            <a:pPr indent="0" marL="0">
              <a:buNone/>
            </a:pPr>
            <a:r>
              <a:rPr lang="en-US" sz="1400" b="1" dirty="0">
                <a:solidFill>
                  <a:srgbClr val="1E293B"/>
                </a:solidFill>
                <a:latin typeface="Calibri" pitchFamily="34" charset="0"/>
                <a:ea typeface="Calibri" pitchFamily="34" charset="-122"/>
                <a:cs typeface="Calibri" pitchFamily="34" charset="-120"/>
              </a:rPr>
              <a:t>Cuándo usar: </a:t>
            </a:r>
            <a:pPr indent="0" marL="0">
              <a:buNone/>
            </a:pPr>
            <a:r>
              <a:rPr lang="en-US" sz="1400" dirty="0">
                <a:solidFill>
                  <a:srgbClr val="1E293B"/>
                </a:solidFill>
                <a:latin typeface="Calibri" pitchFamily="34" charset="0"/>
                <a:ea typeface="Calibri" pitchFamily="34" charset="-122"/>
                <a:cs typeface="Calibri" pitchFamily="34" charset="-120"/>
              </a:rPr>
              <a:t>para explorar perspectivas individuales de cada stakeholder.
</a:t>
            </a:r>
            <a:pPr indent="0" marL="0">
              <a:buNone/>
            </a:pPr>
            <a:r>
              <a:rPr lang="en-US" sz="1400" b="1" dirty="0">
                <a:solidFill>
                  <a:srgbClr val="1E293B"/>
                </a:solidFill>
                <a:latin typeface="Calibri" pitchFamily="34" charset="0"/>
                <a:ea typeface="Calibri" pitchFamily="34" charset="-122"/>
                <a:cs typeface="Calibri" pitchFamily="34" charset="-120"/>
              </a:rPr>
              <a:t>Clave: </a:t>
            </a:r>
            <a:pPr indent="0" marL="0">
              <a:buNone/>
            </a:pPr>
            <a:r>
              <a:rPr lang="en-US" sz="1400" dirty="0">
                <a:solidFill>
                  <a:srgbClr val="1E293B"/>
                </a:solidFill>
                <a:latin typeface="Calibri" pitchFamily="34" charset="0"/>
                <a:ea typeface="Calibri" pitchFamily="34" charset="-122"/>
                <a:cs typeface="Calibri" pitchFamily="34" charset="-120"/>
              </a:rPr>
              <a:t>preparar preguntas abiertas; registrar literalmente y parafrasear.</a:t>
            </a:r>
            <a:endParaRPr lang="en-US" sz="1400" dirty="0"/>
          </a:p>
        </p:txBody>
      </p:sp>
      <p:sp>
        <p:nvSpPr>
          <p:cNvPr id="12" name="Shape 10"/>
          <p:cNvSpPr/>
          <p:nvPr/>
        </p:nvSpPr>
        <p:spPr>
          <a:xfrm>
            <a:off x="4754880" y="1188720"/>
            <a:ext cx="4069080" cy="365760"/>
          </a:xfrm>
          <a:prstGeom prst="rect">
            <a:avLst/>
          </a:prstGeom>
          <a:solidFill>
            <a:srgbClr val="1B7FA1"/>
          </a:solidFill>
          <a:ln w="12700">
            <a:solidFill>
              <a:srgbClr val="1B7FA1"/>
            </a:solidFill>
            <a:prstDash val="solid"/>
          </a:ln>
        </p:spPr>
      </p:sp>
      <p:sp>
        <p:nvSpPr>
          <p:cNvPr id="13" name="Text 11"/>
          <p:cNvSpPr/>
          <p:nvPr/>
        </p:nvSpPr>
        <p:spPr>
          <a:xfrm>
            <a:off x="4754880" y="1188720"/>
            <a:ext cx="4069080" cy="365760"/>
          </a:xfrm>
          <a:prstGeom prst="rect">
            <a:avLst/>
          </a:prstGeom>
          <a:noFill/>
          <a:ln/>
        </p:spPr>
        <p:txBody>
          <a:bodyPr wrap="square" lIns="76200" tIns="76200" rIns="76200" bIns="7620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Taller — Workshop</a:t>
            </a:r>
            <a:endParaRPr lang="en-US" sz="1500" dirty="0"/>
          </a:p>
        </p:txBody>
      </p:sp>
      <p:sp>
        <p:nvSpPr>
          <p:cNvPr id="14" name="Text 12"/>
          <p:cNvSpPr/>
          <p:nvPr/>
        </p:nvSpPr>
        <p:spPr>
          <a:xfrm>
            <a:off x="4754880" y="1600200"/>
            <a:ext cx="4069080" cy="1508760"/>
          </a:xfrm>
          <a:prstGeom prst="rect">
            <a:avLst/>
          </a:prstGeom>
          <a:noFill/>
          <a:ln/>
        </p:spPr>
        <p:txBody>
          <a:bodyPr wrap="square" lIns="101600" tIns="101600" rIns="101600" bIns="101600" rtlCol="0" anchor="t"/>
          <a:lstStyle/>
          <a:p>
            <a:pPr indent="0" marL="0">
              <a:buNone/>
            </a:pPr>
            <a:r>
              <a:rPr lang="en-US" sz="1400" b="1" dirty="0">
                <a:solidFill>
                  <a:srgbClr val="1E293B"/>
                </a:solidFill>
                <a:latin typeface="Calibri" pitchFamily="34" charset="0"/>
                <a:ea typeface="Calibri" pitchFamily="34" charset="-122"/>
                <a:cs typeface="Calibri" pitchFamily="34" charset="-120"/>
              </a:rPr>
              <a:t>Formato: </a:t>
            </a:r>
            <a:pPr indent="0" marL="0">
              <a:buNone/>
            </a:pPr>
            <a:r>
              <a:rPr lang="en-US" sz="1400" dirty="0">
                <a:solidFill>
                  <a:srgbClr val="1E293B"/>
                </a:solidFill>
                <a:latin typeface="Calibri" pitchFamily="34" charset="0"/>
                <a:ea typeface="Calibri" pitchFamily="34" charset="-122"/>
                <a:cs typeface="Calibri" pitchFamily="34" charset="-120"/>
              </a:rPr>
              <a:t>reunión estructurada con múltiples stakeholders.
</a:t>
            </a:r>
            <a:pPr indent="0" marL="0">
              <a:buNone/>
            </a:pPr>
            <a:r>
              <a:rPr lang="en-US" sz="1400" b="1" dirty="0">
                <a:solidFill>
                  <a:srgbClr val="1E293B"/>
                </a:solidFill>
                <a:latin typeface="Calibri" pitchFamily="34" charset="0"/>
                <a:ea typeface="Calibri" pitchFamily="34" charset="-122"/>
                <a:cs typeface="Calibri" pitchFamily="34" charset="-120"/>
              </a:rPr>
              <a:t>Ventaja: </a:t>
            </a:r>
            <a:pPr indent="0" marL="0">
              <a:buNone/>
            </a:pPr>
            <a:r>
              <a:rPr lang="en-US" sz="1400" dirty="0">
                <a:solidFill>
                  <a:srgbClr val="1E293B"/>
                </a:solidFill>
                <a:latin typeface="Calibri" pitchFamily="34" charset="0"/>
                <a:ea typeface="Calibri" pitchFamily="34" charset="-122"/>
                <a:cs typeface="Calibri" pitchFamily="34" charset="-120"/>
              </a:rPr>
              <a:t>detecta conflictos y logra consensos en tiempo real.
</a:t>
            </a:r>
            <a:pPr indent="0" marL="0">
              <a:buNone/>
            </a:pPr>
            <a:r>
              <a:rPr lang="en-US" sz="1400" b="1" dirty="0">
                <a:solidFill>
                  <a:srgbClr val="1E293B"/>
                </a:solidFill>
                <a:latin typeface="Calibri" pitchFamily="34" charset="0"/>
                <a:ea typeface="Calibri" pitchFamily="34" charset="-122"/>
                <a:cs typeface="Calibri" pitchFamily="34" charset="-120"/>
              </a:rPr>
              <a:t>Roles: </a:t>
            </a:r>
            <a:pPr indent="0" marL="0">
              <a:buNone/>
            </a:pPr>
            <a:r>
              <a:rPr lang="en-US" sz="1400" dirty="0">
                <a:solidFill>
                  <a:srgbClr val="1E293B"/>
                </a:solidFill>
                <a:latin typeface="Calibri" pitchFamily="34" charset="0"/>
                <a:ea typeface="Calibri" pitchFamily="34" charset="-122"/>
                <a:cs typeface="Calibri" pitchFamily="34" charset="-120"/>
              </a:rPr>
              <a:t>facilitador, analista, cliente, desarrollador.</a:t>
            </a:r>
            <a:endParaRPr lang="en-US" sz="1400" dirty="0"/>
          </a:p>
        </p:txBody>
      </p:sp>
      <p:sp>
        <p:nvSpPr>
          <p:cNvPr id="15" name="Shape 13"/>
          <p:cNvSpPr/>
          <p:nvPr/>
        </p:nvSpPr>
        <p:spPr>
          <a:xfrm>
            <a:off x="320040" y="3246120"/>
            <a:ext cx="4023360" cy="365760"/>
          </a:xfrm>
          <a:prstGeom prst="rect">
            <a:avLst/>
          </a:prstGeom>
          <a:solidFill>
            <a:srgbClr val="02A896"/>
          </a:solidFill>
          <a:ln w="12700">
            <a:solidFill>
              <a:srgbClr val="02A896"/>
            </a:solidFill>
            <a:prstDash val="solid"/>
          </a:ln>
        </p:spPr>
      </p:sp>
      <p:sp>
        <p:nvSpPr>
          <p:cNvPr id="16" name="Text 14"/>
          <p:cNvSpPr/>
          <p:nvPr/>
        </p:nvSpPr>
        <p:spPr>
          <a:xfrm>
            <a:off x="320040" y="3246120"/>
            <a:ext cx="4023360" cy="365760"/>
          </a:xfrm>
          <a:prstGeom prst="rect">
            <a:avLst/>
          </a:prstGeom>
          <a:noFill/>
          <a:ln/>
        </p:spPr>
        <p:txBody>
          <a:bodyPr wrap="square" lIns="76200" tIns="76200" rIns="76200" bIns="7620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Focus Group</a:t>
            </a:r>
            <a:endParaRPr lang="en-US" sz="1500" dirty="0"/>
          </a:p>
        </p:txBody>
      </p:sp>
      <p:sp>
        <p:nvSpPr>
          <p:cNvPr id="17" name="Text 15"/>
          <p:cNvSpPr/>
          <p:nvPr/>
        </p:nvSpPr>
        <p:spPr>
          <a:xfrm>
            <a:off x="320040" y="3639312"/>
            <a:ext cx="4023360" cy="1097280"/>
          </a:xfrm>
          <a:prstGeom prst="rect">
            <a:avLst/>
          </a:prstGeom>
          <a:noFill/>
          <a:ln/>
        </p:spPr>
        <p:txBody>
          <a:bodyPr wrap="square" lIns="101600" tIns="101600" rIns="101600" bIns="101600" rtlCol="0" anchor="t"/>
          <a:lstStyle/>
          <a:p>
            <a:pPr indent="0" marL="0">
              <a:buNone/>
            </a:pPr>
            <a:r>
              <a:rPr lang="en-US" sz="1400" b="1" dirty="0">
                <a:solidFill>
                  <a:srgbClr val="1E293B"/>
                </a:solidFill>
                <a:latin typeface="Calibri" pitchFamily="34" charset="0"/>
                <a:ea typeface="Calibri" pitchFamily="34" charset="-122"/>
                <a:cs typeface="Calibri" pitchFamily="34" charset="-120"/>
              </a:rPr>
              <a:t>Ideal para: </a:t>
            </a:r>
            <a:pPr indent="0" marL="0">
              <a:buNone/>
            </a:pPr>
            <a:r>
              <a:rPr lang="en-US" sz="1400" dirty="0">
                <a:solidFill>
                  <a:srgbClr val="1E293B"/>
                </a:solidFill>
                <a:latin typeface="Calibri" pitchFamily="34" charset="0"/>
                <a:ea typeface="Calibri" pitchFamily="34" charset="-122"/>
                <a:cs typeface="Calibri" pitchFamily="34" charset="-120"/>
              </a:rPr>
              <a:t>explorar opiniones, preferencias y actitudes de usuarios.
</a:t>
            </a:r>
            <a:pPr indent="0" marL="0">
              <a:buNone/>
            </a:pPr>
            <a:r>
              <a:rPr lang="en-US" sz="1400" b="1" dirty="0">
                <a:solidFill>
                  <a:srgbClr val="1E293B"/>
                </a:solidFill>
                <a:latin typeface="Calibri" pitchFamily="34" charset="0"/>
                <a:ea typeface="Calibri" pitchFamily="34" charset="-122"/>
                <a:cs typeface="Calibri" pitchFamily="34" charset="-120"/>
              </a:rPr>
              <a:t>Diferencia con workshop: </a:t>
            </a:r>
            <a:pPr indent="0" marL="0">
              <a:buNone/>
            </a:pPr>
            <a:r>
              <a:rPr lang="en-US" sz="1400" dirty="0">
                <a:solidFill>
                  <a:srgbClr val="1E293B"/>
                </a:solidFill>
                <a:latin typeface="Calibri" pitchFamily="34" charset="0"/>
                <a:ea typeface="Calibri" pitchFamily="34" charset="-122"/>
                <a:cs typeface="Calibri" pitchFamily="34" charset="-120"/>
              </a:rPr>
              <a:t>enfocado en percepciones, no en decisiones técnicas.</a:t>
            </a:r>
            <a:endParaRPr lang="en-US" sz="1400" dirty="0"/>
          </a:p>
        </p:txBody>
      </p:sp>
      <p:sp>
        <p:nvSpPr>
          <p:cNvPr id="18" name="Shape 16"/>
          <p:cNvSpPr/>
          <p:nvPr/>
        </p:nvSpPr>
        <p:spPr>
          <a:xfrm>
            <a:off x="4754880" y="3246120"/>
            <a:ext cx="4069080" cy="365760"/>
          </a:xfrm>
          <a:prstGeom prst="rect">
            <a:avLst/>
          </a:prstGeom>
          <a:solidFill>
            <a:srgbClr val="7C3AED"/>
          </a:solidFill>
          <a:ln w="12700">
            <a:solidFill>
              <a:srgbClr val="7C3AED"/>
            </a:solidFill>
            <a:prstDash val="solid"/>
          </a:ln>
        </p:spPr>
      </p:sp>
      <p:sp>
        <p:nvSpPr>
          <p:cNvPr id="19" name="Text 17"/>
          <p:cNvSpPr/>
          <p:nvPr/>
        </p:nvSpPr>
        <p:spPr>
          <a:xfrm>
            <a:off x="4754880" y="3246120"/>
            <a:ext cx="4069080" cy="365760"/>
          </a:xfrm>
          <a:prstGeom prst="rect">
            <a:avLst/>
          </a:prstGeom>
          <a:noFill/>
          <a:ln/>
        </p:spPr>
        <p:txBody>
          <a:bodyPr wrap="square" lIns="76200" tIns="76200" rIns="76200" bIns="7620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Observación y Etnografía</a:t>
            </a:r>
            <a:endParaRPr lang="en-US" sz="1500" dirty="0"/>
          </a:p>
        </p:txBody>
      </p:sp>
      <p:sp>
        <p:nvSpPr>
          <p:cNvPr id="20" name="Text 18"/>
          <p:cNvSpPr/>
          <p:nvPr/>
        </p:nvSpPr>
        <p:spPr>
          <a:xfrm>
            <a:off x="4754880" y="3639312"/>
            <a:ext cx="4069080" cy="1097280"/>
          </a:xfrm>
          <a:prstGeom prst="rect">
            <a:avLst/>
          </a:prstGeom>
          <a:noFill/>
          <a:ln/>
        </p:spPr>
        <p:txBody>
          <a:bodyPr wrap="square" lIns="101600" tIns="101600" rIns="101600" bIns="101600" rtlCol="0" anchor="t"/>
          <a:lstStyle/>
          <a:p>
            <a:pPr indent="0" marL="0">
              <a:buNone/>
            </a:pPr>
            <a:r>
              <a:rPr lang="en-US" sz="1400" b="1" dirty="0">
                <a:solidFill>
                  <a:srgbClr val="1E293B"/>
                </a:solidFill>
                <a:latin typeface="Calibri" pitchFamily="34" charset="0"/>
                <a:ea typeface="Calibri" pitchFamily="34" charset="-122"/>
                <a:cs typeface="Calibri" pitchFamily="34" charset="-120"/>
              </a:rPr>
              <a:t>Observar: </a:t>
            </a:r>
            <a:pPr indent="0" marL="0">
              <a:buNone/>
            </a:pPr>
            <a:r>
              <a:rPr lang="en-US" sz="1400" dirty="0">
                <a:solidFill>
                  <a:srgbClr val="1E293B"/>
                </a:solidFill>
                <a:latin typeface="Calibri" pitchFamily="34" charset="0"/>
                <a:ea typeface="Calibri" pitchFamily="34" charset="-122"/>
                <a:cs typeface="Calibri" pitchFamily="34" charset="-120"/>
              </a:rPr>
              <a:t>al usuario en su entorno real de trabajo.
</a:t>
            </a:r>
            <a:pPr indent="0" marL="0">
              <a:buNone/>
            </a:pPr>
            <a:r>
              <a:rPr lang="en-US" sz="1400" b="1" dirty="0">
                <a:solidFill>
                  <a:srgbClr val="1E293B"/>
                </a:solidFill>
                <a:latin typeface="Calibri" pitchFamily="34" charset="0"/>
                <a:ea typeface="Calibri" pitchFamily="34" charset="-122"/>
                <a:cs typeface="Calibri" pitchFamily="34" charset="-120"/>
              </a:rPr>
              <a:t>Etnografía: </a:t>
            </a:r>
            <a:pPr indent="0" marL="0">
              <a:buNone/>
            </a:pPr>
            <a:r>
              <a:rPr lang="en-US" sz="1400" dirty="0">
                <a:solidFill>
                  <a:srgbClr val="1E293B"/>
                </a:solidFill>
                <a:latin typeface="Calibri" pitchFamily="34" charset="0"/>
                <a:ea typeface="Calibri" pitchFamily="34" charset="-122"/>
                <a:cs typeface="Calibri" pitchFamily="34" charset="-120"/>
              </a:rPr>
              <a:t>inmersión profunda; descubre requisitos tácitos que el usuario no verbaliza.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Técnicas Complementarias</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Subtema 3 · Cuestionario, Perspectivas, Design Thinking</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7 / 14</a:t>
            </a:r>
            <a:endParaRPr lang="en-US" sz="900" dirty="0"/>
          </a:p>
        </p:txBody>
      </p:sp>
      <p:sp>
        <p:nvSpPr>
          <p:cNvPr id="9" name="Shape 7"/>
          <p:cNvSpPr/>
          <p:nvPr/>
        </p:nvSpPr>
        <p:spPr>
          <a:xfrm>
            <a:off x="320040" y="1170432"/>
            <a:ext cx="8503920" cy="347472"/>
          </a:xfrm>
          <a:prstGeom prst="rect">
            <a:avLst/>
          </a:prstGeom>
          <a:solidFill>
            <a:srgbClr val="1A3557"/>
          </a:solidFill>
          <a:ln w="12700">
            <a:solidFill>
              <a:srgbClr val="1A3557"/>
            </a:solidFill>
            <a:prstDash val="solid"/>
          </a:ln>
        </p:spPr>
      </p:sp>
      <p:sp>
        <p:nvSpPr>
          <p:cNvPr id="10" name="Text 8"/>
          <p:cNvSpPr/>
          <p:nvPr/>
        </p:nvSpPr>
        <p:spPr>
          <a:xfrm>
            <a:off x="320040" y="1170432"/>
            <a:ext cx="8503920" cy="347472"/>
          </a:xfrm>
          <a:prstGeom prst="rect">
            <a:avLst/>
          </a:prstGeom>
          <a:noFill/>
          <a:ln/>
        </p:spPr>
        <p:txBody>
          <a:bodyPr wrap="square" lIns="76200" tIns="76200" rIns="76200" bIns="7620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Cuestionario</a:t>
            </a:r>
            <a:endParaRPr lang="en-US" sz="1500" dirty="0"/>
          </a:p>
        </p:txBody>
      </p:sp>
      <p:sp>
        <p:nvSpPr>
          <p:cNvPr id="11" name="Text 9"/>
          <p:cNvSpPr/>
          <p:nvPr/>
        </p:nvSpPr>
        <p:spPr>
          <a:xfrm>
            <a:off x="320040" y="1554480"/>
            <a:ext cx="8503920" cy="731520"/>
          </a:xfrm>
          <a:prstGeom prst="rect">
            <a:avLst/>
          </a:prstGeom>
          <a:noFill/>
          <a:ln/>
        </p:spPr>
        <p:txBody>
          <a:bodyPr wrap="square" lIns="76200" tIns="76200" rIns="76200" bIns="7620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Útil cuando los stakeholders son numerosos o dispersos geográficamente. Permite recopilar datos cuantitativos y cualitativos de forma sistemática. Tipos de preguntas: cerradas (Likert, opción múltiple) y abiertas. Limitación: no permite aclarar respuestas ambiguas en tiempo real.</a:t>
            </a:r>
            <a:endParaRPr lang="en-US" sz="1400" dirty="0"/>
          </a:p>
        </p:txBody>
      </p:sp>
      <p:sp>
        <p:nvSpPr>
          <p:cNvPr id="12" name="Shape 10"/>
          <p:cNvSpPr/>
          <p:nvPr/>
        </p:nvSpPr>
        <p:spPr>
          <a:xfrm>
            <a:off x="320040" y="2377440"/>
            <a:ext cx="4023360" cy="347472"/>
          </a:xfrm>
          <a:prstGeom prst="rect">
            <a:avLst/>
          </a:prstGeom>
          <a:solidFill>
            <a:srgbClr val="1B7FA1"/>
          </a:solidFill>
          <a:ln w="12700">
            <a:solidFill>
              <a:srgbClr val="1B7FA1"/>
            </a:solidFill>
            <a:prstDash val="solid"/>
          </a:ln>
        </p:spPr>
      </p:sp>
      <p:sp>
        <p:nvSpPr>
          <p:cNvPr id="13" name="Text 11"/>
          <p:cNvSpPr/>
          <p:nvPr/>
        </p:nvSpPr>
        <p:spPr>
          <a:xfrm>
            <a:off x="320040" y="2377440"/>
            <a:ext cx="4023360" cy="347472"/>
          </a:xfrm>
          <a:prstGeom prst="rect">
            <a:avLst/>
          </a:prstGeom>
          <a:noFill/>
          <a:ln/>
        </p:spPr>
        <p:txBody>
          <a:bodyPr wrap="square" lIns="50800" tIns="50800" rIns="50800" bIns="5080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Lectura Basada en Perspectivas</a:t>
            </a:r>
            <a:endParaRPr lang="en-US" sz="1400" dirty="0"/>
          </a:p>
        </p:txBody>
      </p:sp>
      <p:sp>
        <p:nvSpPr>
          <p:cNvPr id="14" name="Text 12"/>
          <p:cNvSpPr/>
          <p:nvPr/>
        </p:nvSpPr>
        <p:spPr>
          <a:xfrm>
            <a:off x="320040" y="2761488"/>
            <a:ext cx="4023360" cy="1463040"/>
          </a:xfrm>
          <a:prstGeom prst="rect">
            <a:avLst/>
          </a:prstGeom>
          <a:noFill/>
          <a:ln/>
        </p:spPr>
        <p:txBody>
          <a:bodyPr wrap="square" lIns="76200" tIns="76200" rIns="76200" bIns="7620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Técnica de revisión donde distintos lectores analizan el mismo documento desde diferentes roles (usuario, diseñador, tester). Detecta ambigüedades e inconsistencias desde múltiples ángulos.</a:t>
            </a:r>
            <a:endParaRPr lang="en-US" sz="1400" dirty="0"/>
          </a:p>
        </p:txBody>
      </p:sp>
      <p:sp>
        <p:nvSpPr>
          <p:cNvPr id="15" name="Shape 13"/>
          <p:cNvSpPr/>
          <p:nvPr/>
        </p:nvSpPr>
        <p:spPr>
          <a:xfrm>
            <a:off x="4754880" y="2377440"/>
            <a:ext cx="4069080" cy="347472"/>
          </a:xfrm>
          <a:prstGeom prst="rect">
            <a:avLst/>
          </a:prstGeom>
          <a:solidFill>
            <a:srgbClr val="F0A500"/>
          </a:solidFill>
          <a:ln w="12700">
            <a:solidFill>
              <a:srgbClr val="F0A500"/>
            </a:solidFill>
            <a:prstDash val="solid"/>
          </a:ln>
        </p:spPr>
      </p:sp>
      <p:sp>
        <p:nvSpPr>
          <p:cNvPr id="16" name="Text 14"/>
          <p:cNvSpPr/>
          <p:nvPr/>
        </p:nvSpPr>
        <p:spPr>
          <a:xfrm>
            <a:off x="4754880" y="2377440"/>
            <a:ext cx="4069080" cy="347472"/>
          </a:xfrm>
          <a:prstGeom prst="rect">
            <a:avLst/>
          </a:prstGeom>
          <a:noFill/>
          <a:ln/>
        </p:spPr>
        <p:txBody>
          <a:bodyPr wrap="square" lIns="76200" tIns="76200" rIns="76200" bIns="7620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  Design Thinking</a:t>
            </a:r>
            <a:endParaRPr lang="en-US" sz="1500" dirty="0"/>
          </a:p>
        </p:txBody>
      </p:sp>
      <p:sp>
        <p:nvSpPr>
          <p:cNvPr id="17" name="Text 15"/>
          <p:cNvSpPr/>
          <p:nvPr/>
        </p:nvSpPr>
        <p:spPr>
          <a:xfrm>
            <a:off x="4754880" y="2761488"/>
            <a:ext cx="4069080" cy="1463040"/>
          </a:xfrm>
          <a:prstGeom prst="rect">
            <a:avLst/>
          </a:prstGeom>
          <a:noFill/>
          <a:ln/>
        </p:spPr>
        <p:txBody>
          <a:bodyPr wrap="square" lIns="76200" tIns="76200" rIns="76200" bIns="7620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5 fases: </a:t>
            </a:r>
            <a:pPr indent="0" marL="0">
              <a:buNone/>
            </a:pPr>
            <a:r>
              <a:rPr lang="en-US" sz="1400" dirty="0">
                <a:solidFill>
                  <a:srgbClr val="1E293B"/>
                </a:solidFill>
                <a:latin typeface="Calibri" pitchFamily="34" charset="0"/>
                <a:ea typeface="Calibri" pitchFamily="34" charset="-122"/>
                <a:cs typeface="Calibri" pitchFamily="34" charset="-120"/>
              </a:rPr>
              <a:t>Empatizar → Definir → Idear → Prototipar → Evaluar
</a:t>
            </a:r>
            <a:pPr indent="0" marL="0">
              <a:buNone/>
            </a:pPr>
            <a:r>
              <a:rPr lang="en-US" sz="1400" b="1" dirty="0">
                <a:solidFill>
                  <a:srgbClr val="1E293B"/>
                </a:solidFill>
                <a:latin typeface="Calibri" pitchFamily="34" charset="0"/>
                <a:ea typeface="Calibri" pitchFamily="34" charset="-122"/>
                <a:cs typeface="Calibri" pitchFamily="34" charset="-120"/>
              </a:rPr>
              <a:t>Enfoque: </a:t>
            </a:r>
            <a:pPr indent="0" marL="0">
              <a:buNone/>
            </a:pPr>
            <a:r>
              <a:rPr lang="en-US" sz="1400" dirty="0">
                <a:solidFill>
                  <a:srgbClr val="1E293B"/>
                </a:solidFill>
                <a:latin typeface="Calibri" pitchFamily="34" charset="0"/>
                <a:ea typeface="Calibri" pitchFamily="34" charset="-122"/>
                <a:cs typeface="Calibri" pitchFamily="34" charset="-120"/>
              </a:rPr>
              <a:t>centrado en el usuario; ideal para sistemas innovadores donde los requisitos son difusos o el dominio es nuevo.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Técnicas de Apoyo a la Elicitación</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Subtema 4 · Brainstorming, Prototipado, KJ, Mapas mentales y Checklists</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8 / 14</a:t>
            </a:r>
            <a:endParaRPr lang="en-US" sz="900" dirty="0"/>
          </a:p>
        </p:txBody>
      </p:sp>
      <p:sp>
        <p:nvSpPr>
          <p:cNvPr id="9" name="Shape 7"/>
          <p:cNvSpPr/>
          <p:nvPr/>
        </p:nvSpPr>
        <p:spPr>
          <a:xfrm>
            <a:off x="320040" y="1170432"/>
            <a:ext cx="347472" cy="640080"/>
          </a:xfrm>
          <a:prstGeom prst="rect">
            <a:avLst/>
          </a:prstGeom>
          <a:solidFill>
            <a:srgbClr val="1A3557"/>
          </a:solidFill>
          <a:ln w="12700">
            <a:solidFill>
              <a:srgbClr val="1A3557"/>
            </a:solidFill>
            <a:prstDash val="solid"/>
          </a:ln>
        </p:spPr>
      </p:sp>
      <p:sp>
        <p:nvSpPr>
          <p:cNvPr id="10" name="Shape 8"/>
          <p:cNvSpPr/>
          <p:nvPr/>
        </p:nvSpPr>
        <p:spPr>
          <a:xfrm>
            <a:off x="667512" y="1170432"/>
            <a:ext cx="8156448" cy="640080"/>
          </a:xfrm>
          <a:prstGeom prst="rect">
            <a:avLst/>
          </a:prstGeom>
          <a:solidFill>
            <a:srgbClr val="E8F4F8"/>
          </a:solidFill>
          <a:ln w="12700">
            <a:solidFill>
              <a:srgbClr val="D1D5DB"/>
            </a:solidFill>
            <a:prstDash val="solid"/>
          </a:ln>
        </p:spPr>
      </p:sp>
      <p:sp>
        <p:nvSpPr>
          <p:cNvPr id="11" name="Text 9"/>
          <p:cNvSpPr/>
          <p:nvPr/>
        </p:nvSpPr>
        <p:spPr>
          <a:xfrm>
            <a:off x="749808" y="1197864"/>
            <a:ext cx="800100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Brainstorming</a:t>
            </a:r>
            <a:endParaRPr lang="en-US" sz="1400" dirty="0"/>
          </a:p>
        </p:txBody>
      </p:sp>
      <p:sp>
        <p:nvSpPr>
          <p:cNvPr id="12" name="Text 10"/>
          <p:cNvSpPr/>
          <p:nvPr/>
        </p:nvSpPr>
        <p:spPr>
          <a:xfrm>
            <a:off x="749808" y="1444752"/>
            <a:ext cx="8001000" cy="329184"/>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Generación libre de ideas sin crítica. El objetivo es cantidad, no calidad inicial. Útil para descubrir requisitos creativos en fases tempranas.</a:t>
            </a:r>
            <a:endParaRPr lang="en-US" sz="1250" dirty="0"/>
          </a:p>
        </p:txBody>
      </p:sp>
      <p:sp>
        <p:nvSpPr>
          <p:cNvPr id="13" name="Shape 11"/>
          <p:cNvSpPr/>
          <p:nvPr/>
        </p:nvSpPr>
        <p:spPr>
          <a:xfrm>
            <a:off x="320040" y="1920240"/>
            <a:ext cx="347472" cy="640080"/>
          </a:xfrm>
          <a:prstGeom prst="rect">
            <a:avLst/>
          </a:prstGeom>
          <a:solidFill>
            <a:srgbClr val="1B7FA1"/>
          </a:solidFill>
          <a:ln w="12700">
            <a:solidFill>
              <a:srgbClr val="1B7FA1"/>
            </a:solidFill>
            <a:prstDash val="solid"/>
          </a:ln>
        </p:spPr>
      </p:sp>
      <p:sp>
        <p:nvSpPr>
          <p:cNvPr id="14" name="Shape 12"/>
          <p:cNvSpPr/>
          <p:nvPr/>
        </p:nvSpPr>
        <p:spPr>
          <a:xfrm>
            <a:off x="667512" y="1920240"/>
            <a:ext cx="8156448" cy="640080"/>
          </a:xfrm>
          <a:prstGeom prst="rect">
            <a:avLst/>
          </a:prstGeom>
          <a:solidFill>
            <a:srgbClr val="E8F4F8"/>
          </a:solidFill>
          <a:ln w="12700">
            <a:solidFill>
              <a:srgbClr val="D1D5DB"/>
            </a:solidFill>
            <a:prstDash val="solid"/>
          </a:ln>
        </p:spPr>
      </p:sp>
      <p:sp>
        <p:nvSpPr>
          <p:cNvPr id="15" name="Text 13"/>
          <p:cNvSpPr/>
          <p:nvPr/>
        </p:nvSpPr>
        <p:spPr>
          <a:xfrm>
            <a:off x="749808" y="1947672"/>
            <a:ext cx="800100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Prototipado</a:t>
            </a:r>
            <a:endParaRPr lang="en-US" sz="1400" dirty="0"/>
          </a:p>
        </p:txBody>
      </p:sp>
      <p:sp>
        <p:nvSpPr>
          <p:cNvPr id="16" name="Text 14"/>
          <p:cNvSpPr/>
          <p:nvPr/>
        </p:nvSpPr>
        <p:spPr>
          <a:xfrm>
            <a:off x="749808" y="2194560"/>
            <a:ext cx="8001000" cy="329184"/>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Crear versiones preliminares del sistema (mockup, wireframe) para que el stakeholder reaccione a algo tangible. Reduce la brecha entre imaginación y especificación.</a:t>
            </a:r>
            <a:endParaRPr lang="en-US" sz="1250" dirty="0"/>
          </a:p>
        </p:txBody>
      </p:sp>
      <p:sp>
        <p:nvSpPr>
          <p:cNvPr id="17" name="Shape 15"/>
          <p:cNvSpPr/>
          <p:nvPr/>
        </p:nvSpPr>
        <p:spPr>
          <a:xfrm>
            <a:off x="320040" y="2670048"/>
            <a:ext cx="347472" cy="640080"/>
          </a:xfrm>
          <a:prstGeom prst="rect">
            <a:avLst/>
          </a:prstGeom>
          <a:solidFill>
            <a:srgbClr val="02A896"/>
          </a:solidFill>
          <a:ln w="12700">
            <a:solidFill>
              <a:srgbClr val="02A896"/>
            </a:solidFill>
            <a:prstDash val="solid"/>
          </a:ln>
        </p:spPr>
      </p:sp>
      <p:sp>
        <p:nvSpPr>
          <p:cNvPr id="18" name="Shape 16"/>
          <p:cNvSpPr/>
          <p:nvPr/>
        </p:nvSpPr>
        <p:spPr>
          <a:xfrm>
            <a:off x="667512" y="2670048"/>
            <a:ext cx="8156448" cy="640080"/>
          </a:xfrm>
          <a:prstGeom prst="rect">
            <a:avLst/>
          </a:prstGeom>
          <a:solidFill>
            <a:srgbClr val="E8F4F8"/>
          </a:solidFill>
          <a:ln w="12700">
            <a:solidFill>
              <a:srgbClr val="D1D5DB"/>
            </a:solidFill>
            <a:prstDash val="solid"/>
          </a:ln>
        </p:spPr>
      </p:sp>
      <p:sp>
        <p:nvSpPr>
          <p:cNvPr id="19" name="Text 17"/>
          <p:cNvSpPr/>
          <p:nvPr/>
        </p:nvSpPr>
        <p:spPr>
          <a:xfrm>
            <a:off x="749808" y="2697480"/>
            <a:ext cx="800100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Método KJ (Diagrama de Afinidad)</a:t>
            </a:r>
            <a:endParaRPr lang="en-US" sz="1400" dirty="0"/>
          </a:p>
        </p:txBody>
      </p:sp>
      <p:sp>
        <p:nvSpPr>
          <p:cNvPr id="20" name="Text 18"/>
          <p:cNvSpPr/>
          <p:nvPr/>
        </p:nvSpPr>
        <p:spPr>
          <a:xfrm>
            <a:off x="749808" y="2944368"/>
            <a:ext cx="8001000" cy="329184"/>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Agrupa ideas escritas en tarjetas por afinidad temática. Permite organizar visualmente grandes volúmenes de información en categorías manejables.</a:t>
            </a:r>
            <a:endParaRPr lang="en-US" sz="1250" dirty="0"/>
          </a:p>
        </p:txBody>
      </p:sp>
      <p:sp>
        <p:nvSpPr>
          <p:cNvPr id="21" name="Shape 19"/>
          <p:cNvSpPr/>
          <p:nvPr/>
        </p:nvSpPr>
        <p:spPr>
          <a:xfrm>
            <a:off x="320040" y="3419856"/>
            <a:ext cx="347472" cy="640080"/>
          </a:xfrm>
          <a:prstGeom prst="rect">
            <a:avLst/>
          </a:prstGeom>
          <a:solidFill>
            <a:srgbClr val="F0A500"/>
          </a:solidFill>
          <a:ln w="12700">
            <a:solidFill>
              <a:srgbClr val="F0A500"/>
            </a:solidFill>
            <a:prstDash val="solid"/>
          </a:ln>
        </p:spPr>
      </p:sp>
      <p:sp>
        <p:nvSpPr>
          <p:cNvPr id="22" name="Shape 20"/>
          <p:cNvSpPr/>
          <p:nvPr/>
        </p:nvSpPr>
        <p:spPr>
          <a:xfrm>
            <a:off x="667512" y="3419856"/>
            <a:ext cx="8156448" cy="640080"/>
          </a:xfrm>
          <a:prstGeom prst="rect">
            <a:avLst/>
          </a:prstGeom>
          <a:solidFill>
            <a:srgbClr val="E8F4F8"/>
          </a:solidFill>
          <a:ln w="12700">
            <a:solidFill>
              <a:srgbClr val="D1D5DB"/>
            </a:solidFill>
            <a:prstDash val="solid"/>
          </a:ln>
        </p:spPr>
      </p:sp>
      <p:sp>
        <p:nvSpPr>
          <p:cNvPr id="23" name="Text 21"/>
          <p:cNvSpPr/>
          <p:nvPr/>
        </p:nvSpPr>
        <p:spPr>
          <a:xfrm>
            <a:off x="749808" y="3447288"/>
            <a:ext cx="800100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Mapas Mentales</a:t>
            </a:r>
            <a:endParaRPr lang="en-US" sz="1400" dirty="0"/>
          </a:p>
        </p:txBody>
      </p:sp>
      <p:sp>
        <p:nvSpPr>
          <p:cNvPr id="24" name="Text 22"/>
          <p:cNvSpPr/>
          <p:nvPr/>
        </p:nvSpPr>
        <p:spPr>
          <a:xfrm>
            <a:off x="749808" y="3694176"/>
            <a:ext cx="8001000" cy="329184"/>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Representación visual jerárquica de conceptos. Facilita la exploración de dominios complejos y la detección de áreas no consideradas.</a:t>
            </a:r>
            <a:endParaRPr lang="en-US" sz="1250" dirty="0"/>
          </a:p>
        </p:txBody>
      </p:sp>
      <p:sp>
        <p:nvSpPr>
          <p:cNvPr id="25" name="Shape 23"/>
          <p:cNvSpPr/>
          <p:nvPr/>
        </p:nvSpPr>
        <p:spPr>
          <a:xfrm>
            <a:off x="320040" y="4169664"/>
            <a:ext cx="347472" cy="640080"/>
          </a:xfrm>
          <a:prstGeom prst="rect">
            <a:avLst/>
          </a:prstGeom>
          <a:solidFill>
            <a:srgbClr val="7C3AED"/>
          </a:solidFill>
          <a:ln w="12700">
            <a:solidFill>
              <a:srgbClr val="7C3AED"/>
            </a:solidFill>
            <a:prstDash val="solid"/>
          </a:ln>
        </p:spPr>
      </p:sp>
      <p:sp>
        <p:nvSpPr>
          <p:cNvPr id="26" name="Shape 24"/>
          <p:cNvSpPr/>
          <p:nvPr/>
        </p:nvSpPr>
        <p:spPr>
          <a:xfrm>
            <a:off x="667512" y="4169664"/>
            <a:ext cx="8156448" cy="640080"/>
          </a:xfrm>
          <a:prstGeom prst="rect">
            <a:avLst/>
          </a:prstGeom>
          <a:solidFill>
            <a:srgbClr val="E8F4F8"/>
          </a:solidFill>
          <a:ln w="12700">
            <a:solidFill>
              <a:srgbClr val="D1D5DB"/>
            </a:solidFill>
            <a:prstDash val="solid"/>
          </a:ln>
        </p:spPr>
      </p:sp>
      <p:sp>
        <p:nvSpPr>
          <p:cNvPr id="27" name="Text 25"/>
          <p:cNvSpPr/>
          <p:nvPr/>
        </p:nvSpPr>
        <p:spPr>
          <a:xfrm>
            <a:off x="749808" y="4197096"/>
            <a:ext cx="8001000" cy="25603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 Checklists</a:t>
            </a:r>
            <a:endParaRPr lang="en-US" sz="1400" dirty="0"/>
          </a:p>
        </p:txBody>
      </p:sp>
      <p:sp>
        <p:nvSpPr>
          <p:cNvPr id="28" name="Text 26"/>
          <p:cNvSpPr/>
          <p:nvPr/>
        </p:nvSpPr>
        <p:spPr>
          <a:xfrm>
            <a:off x="749808" y="4443984"/>
            <a:ext cx="8001000" cy="329184"/>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Listas de verificación predefinidas que aseguran cubrir todos los aspectos relevantes del dominio. Evitan omisiones sistemáticas.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Comparación de Técnicas de Elicitación</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¿Cuándo usar cada una?</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9 / 14</a:t>
            </a:r>
            <a:endParaRPr lang="en-US" sz="900" dirty="0"/>
          </a:p>
        </p:txBody>
      </p:sp>
      <p:sp>
        <p:nvSpPr>
          <p:cNvPr id="9" name="Shape 7"/>
          <p:cNvSpPr/>
          <p:nvPr/>
        </p:nvSpPr>
        <p:spPr>
          <a:xfrm>
            <a:off x="320040" y="1170432"/>
            <a:ext cx="2560320" cy="438912"/>
          </a:xfrm>
          <a:prstGeom prst="rect">
            <a:avLst/>
          </a:prstGeom>
          <a:solidFill>
            <a:srgbClr val="1A3557"/>
          </a:solidFill>
          <a:ln w="6350">
            <a:solidFill>
              <a:srgbClr val="CBD5E1"/>
            </a:solidFill>
            <a:prstDash val="solid"/>
          </a:ln>
        </p:spPr>
      </p:sp>
      <p:sp>
        <p:nvSpPr>
          <p:cNvPr id="10" name="Text 8"/>
          <p:cNvSpPr/>
          <p:nvPr/>
        </p:nvSpPr>
        <p:spPr>
          <a:xfrm>
            <a:off x="365760" y="1170432"/>
            <a:ext cx="246888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Técnica</a:t>
            </a:r>
            <a:endParaRPr lang="en-US" sz="1400" dirty="0"/>
          </a:p>
        </p:txBody>
      </p:sp>
      <p:sp>
        <p:nvSpPr>
          <p:cNvPr id="11" name="Shape 9"/>
          <p:cNvSpPr/>
          <p:nvPr/>
        </p:nvSpPr>
        <p:spPr>
          <a:xfrm>
            <a:off x="2880360" y="1170432"/>
            <a:ext cx="1371600" cy="438912"/>
          </a:xfrm>
          <a:prstGeom prst="rect">
            <a:avLst/>
          </a:prstGeom>
          <a:solidFill>
            <a:srgbClr val="1A3557"/>
          </a:solidFill>
          <a:ln w="6350">
            <a:solidFill>
              <a:srgbClr val="CBD5E1"/>
            </a:solidFill>
            <a:prstDash val="solid"/>
          </a:ln>
        </p:spPr>
      </p:sp>
      <p:sp>
        <p:nvSpPr>
          <p:cNvPr id="12" name="Text 10"/>
          <p:cNvSpPr/>
          <p:nvPr/>
        </p:nvSpPr>
        <p:spPr>
          <a:xfrm>
            <a:off x="2926080" y="1170432"/>
            <a:ext cx="128016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Stakeholders</a:t>
            </a:r>
            <a:endParaRPr lang="en-US" sz="1400" dirty="0"/>
          </a:p>
        </p:txBody>
      </p:sp>
      <p:sp>
        <p:nvSpPr>
          <p:cNvPr id="13" name="Shape 11"/>
          <p:cNvSpPr/>
          <p:nvPr/>
        </p:nvSpPr>
        <p:spPr>
          <a:xfrm>
            <a:off x="4251960" y="1170432"/>
            <a:ext cx="1097280" cy="438912"/>
          </a:xfrm>
          <a:prstGeom prst="rect">
            <a:avLst/>
          </a:prstGeom>
          <a:solidFill>
            <a:srgbClr val="1A3557"/>
          </a:solidFill>
          <a:ln w="6350">
            <a:solidFill>
              <a:srgbClr val="CBD5E1"/>
            </a:solidFill>
            <a:prstDash val="solid"/>
          </a:ln>
        </p:spPr>
      </p:sp>
      <p:sp>
        <p:nvSpPr>
          <p:cNvPr id="14" name="Text 12"/>
          <p:cNvSpPr/>
          <p:nvPr/>
        </p:nvSpPr>
        <p:spPr>
          <a:xfrm>
            <a:off x="4297680" y="1170432"/>
            <a:ext cx="10058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Tiempo</a:t>
            </a:r>
            <a:endParaRPr lang="en-US" sz="1400" dirty="0"/>
          </a:p>
        </p:txBody>
      </p:sp>
      <p:sp>
        <p:nvSpPr>
          <p:cNvPr id="15" name="Shape 13"/>
          <p:cNvSpPr/>
          <p:nvPr/>
        </p:nvSpPr>
        <p:spPr>
          <a:xfrm>
            <a:off x="5349240" y="1170432"/>
            <a:ext cx="1097280" cy="438912"/>
          </a:xfrm>
          <a:prstGeom prst="rect">
            <a:avLst/>
          </a:prstGeom>
          <a:solidFill>
            <a:srgbClr val="1A3557"/>
          </a:solidFill>
          <a:ln w="6350">
            <a:solidFill>
              <a:srgbClr val="CBD5E1"/>
            </a:solidFill>
            <a:prstDash val="solid"/>
          </a:ln>
        </p:spPr>
      </p:sp>
      <p:sp>
        <p:nvSpPr>
          <p:cNvPr id="16" name="Text 14"/>
          <p:cNvSpPr/>
          <p:nvPr/>
        </p:nvSpPr>
        <p:spPr>
          <a:xfrm>
            <a:off x="5394960" y="1170432"/>
            <a:ext cx="10058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Riqueza</a:t>
            </a:r>
            <a:endParaRPr lang="en-US" sz="1400" dirty="0"/>
          </a:p>
        </p:txBody>
      </p:sp>
      <p:sp>
        <p:nvSpPr>
          <p:cNvPr id="17" name="Shape 15"/>
          <p:cNvSpPr/>
          <p:nvPr/>
        </p:nvSpPr>
        <p:spPr>
          <a:xfrm>
            <a:off x="6446520" y="1170432"/>
            <a:ext cx="1463040" cy="438912"/>
          </a:xfrm>
          <a:prstGeom prst="rect">
            <a:avLst/>
          </a:prstGeom>
          <a:solidFill>
            <a:srgbClr val="1A3557"/>
          </a:solidFill>
          <a:ln w="6350">
            <a:solidFill>
              <a:srgbClr val="CBD5E1"/>
            </a:solidFill>
            <a:prstDash val="solid"/>
          </a:ln>
        </p:spPr>
      </p:sp>
      <p:sp>
        <p:nvSpPr>
          <p:cNvPr id="18" name="Text 16"/>
          <p:cNvSpPr/>
          <p:nvPr/>
        </p:nvSpPr>
        <p:spPr>
          <a:xfrm>
            <a:off x="6492240" y="1170432"/>
            <a:ext cx="13716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Escalabilidad</a:t>
            </a:r>
            <a:endParaRPr lang="en-US" sz="1400" dirty="0"/>
          </a:p>
        </p:txBody>
      </p:sp>
      <p:sp>
        <p:nvSpPr>
          <p:cNvPr id="19" name="Shape 17"/>
          <p:cNvSpPr/>
          <p:nvPr/>
        </p:nvSpPr>
        <p:spPr>
          <a:xfrm>
            <a:off x="320040" y="1645920"/>
            <a:ext cx="2560320" cy="438912"/>
          </a:xfrm>
          <a:prstGeom prst="rect">
            <a:avLst/>
          </a:prstGeom>
          <a:solidFill>
            <a:srgbClr val="FFFFFF"/>
          </a:solidFill>
          <a:ln w="6350">
            <a:solidFill>
              <a:srgbClr val="CBD5E1"/>
            </a:solidFill>
            <a:prstDash val="solid"/>
          </a:ln>
        </p:spPr>
      </p:sp>
      <p:sp>
        <p:nvSpPr>
          <p:cNvPr id="20" name="Text 18"/>
          <p:cNvSpPr/>
          <p:nvPr/>
        </p:nvSpPr>
        <p:spPr>
          <a:xfrm>
            <a:off x="365760" y="1645920"/>
            <a:ext cx="246888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Entrevista</a:t>
            </a:r>
            <a:endParaRPr lang="en-US" sz="1300" dirty="0"/>
          </a:p>
        </p:txBody>
      </p:sp>
      <p:sp>
        <p:nvSpPr>
          <p:cNvPr id="21" name="Shape 19"/>
          <p:cNvSpPr/>
          <p:nvPr/>
        </p:nvSpPr>
        <p:spPr>
          <a:xfrm>
            <a:off x="2880360" y="1645920"/>
            <a:ext cx="1371600" cy="438912"/>
          </a:xfrm>
          <a:prstGeom prst="rect">
            <a:avLst/>
          </a:prstGeom>
          <a:solidFill>
            <a:srgbClr val="FFFFFF"/>
          </a:solidFill>
          <a:ln w="6350">
            <a:solidFill>
              <a:srgbClr val="CBD5E1"/>
            </a:solidFill>
            <a:prstDash val="solid"/>
          </a:ln>
        </p:spPr>
      </p:sp>
      <p:sp>
        <p:nvSpPr>
          <p:cNvPr id="22" name="Text 20"/>
          <p:cNvSpPr/>
          <p:nvPr/>
        </p:nvSpPr>
        <p:spPr>
          <a:xfrm>
            <a:off x="2926080" y="1645920"/>
            <a:ext cx="128016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Pocos</a:t>
            </a:r>
            <a:endParaRPr lang="en-US" sz="1300" dirty="0"/>
          </a:p>
        </p:txBody>
      </p:sp>
      <p:sp>
        <p:nvSpPr>
          <p:cNvPr id="23" name="Shape 21"/>
          <p:cNvSpPr/>
          <p:nvPr/>
        </p:nvSpPr>
        <p:spPr>
          <a:xfrm>
            <a:off x="4251960" y="1645920"/>
            <a:ext cx="1097280" cy="438912"/>
          </a:xfrm>
          <a:prstGeom prst="rect">
            <a:avLst/>
          </a:prstGeom>
          <a:solidFill>
            <a:srgbClr val="FFFFFF"/>
          </a:solidFill>
          <a:ln w="6350">
            <a:solidFill>
              <a:srgbClr val="CBD5E1"/>
            </a:solidFill>
            <a:prstDash val="solid"/>
          </a:ln>
        </p:spPr>
      </p:sp>
      <p:sp>
        <p:nvSpPr>
          <p:cNvPr id="24" name="Text 22"/>
          <p:cNvSpPr/>
          <p:nvPr/>
        </p:nvSpPr>
        <p:spPr>
          <a:xfrm>
            <a:off x="4297680" y="1645920"/>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Alto</a:t>
            </a:r>
            <a:endParaRPr lang="en-US" sz="1300" dirty="0"/>
          </a:p>
        </p:txBody>
      </p:sp>
      <p:sp>
        <p:nvSpPr>
          <p:cNvPr id="25" name="Shape 23"/>
          <p:cNvSpPr/>
          <p:nvPr/>
        </p:nvSpPr>
        <p:spPr>
          <a:xfrm>
            <a:off x="5349240" y="1645920"/>
            <a:ext cx="1097280" cy="438912"/>
          </a:xfrm>
          <a:prstGeom prst="rect">
            <a:avLst/>
          </a:prstGeom>
          <a:solidFill>
            <a:srgbClr val="FFFFFF"/>
          </a:solidFill>
          <a:ln w="6350">
            <a:solidFill>
              <a:srgbClr val="CBD5E1"/>
            </a:solidFill>
            <a:prstDash val="solid"/>
          </a:ln>
        </p:spPr>
      </p:sp>
      <p:sp>
        <p:nvSpPr>
          <p:cNvPr id="26" name="Text 24"/>
          <p:cNvSpPr/>
          <p:nvPr/>
        </p:nvSpPr>
        <p:spPr>
          <a:xfrm>
            <a:off x="5394960" y="1645920"/>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Alta</a:t>
            </a:r>
            <a:endParaRPr lang="en-US" sz="1300" dirty="0"/>
          </a:p>
        </p:txBody>
      </p:sp>
      <p:sp>
        <p:nvSpPr>
          <p:cNvPr id="27" name="Shape 25"/>
          <p:cNvSpPr/>
          <p:nvPr/>
        </p:nvSpPr>
        <p:spPr>
          <a:xfrm>
            <a:off x="6446520" y="1645920"/>
            <a:ext cx="1463040" cy="438912"/>
          </a:xfrm>
          <a:prstGeom prst="rect">
            <a:avLst/>
          </a:prstGeom>
          <a:solidFill>
            <a:srgbClr val="FFFFFF"/>
          </a:solidFill>
          <a:ln w="6350">
            <a:solidFill>
              <a:srgbClr val="CBD5E1"/>
            </a:solidFill>
            <a:prstDash val="solid"/>
          </a:ln>
        </p:spPr>
      </p:sp>
      <p:sp>
        <p:nvSpPr>
          <p:cNvPr id="28" name="Text 26"/>
          <p:cNvSpPr/>
          <p:nvPr/>
        </p:nvSpPr>
        <p:spPr>
          <a:xfrm>
            <a:off x="6492240" y="1645920"/>
            <a:ext cx="137160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Baja</a:t>
            </a:r>
            <a:endParaRPr lang="en-US" sz="1300" dirty="0"/>
          </a:p>
        </p:txBody>
      </p:sp>
      <p:sp>
        <p:nvSpPr>
          <p:cNvPr id="29" name="Shape 27"/>
          <p:cNvSpPr/>
          <p:nvPr/>
        </p:nvSpPr>
        <p:spPr>
          <a:xfrm>
            <a:off x="320040" y="2121408"/>
            <a:ext cx="2560320" cy="438912"/>
          </a:xfrm>
          <a:prstGeom prst="rect">
            <a:avLst/>
          </a:prstGeom>
          <a:solidFill>
            <a:srgbClr val="E8F4F8"/>
          </a:solidFill>
          <a:ln w="6350">
            <a:solidFill>
              <a:srgbClr val="CBD5E1"/>
            </a:solidFill>
            <a:prstDash val="solid"/>
          </a:ln>
        </p:spPr>
      </p:sp>
      <p:sp>
        <p:nvSpPr>
          <p:cNvPr id="30" name="Text 28"/>
          <p:cNvSpPr/>
          <p:nvPr/>
        </p:nvSpPr>
        <p:spPr>
          <a:xfrm>
            <a:off x="365760" y="2121408"/>
            <a:ext cx="246888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Workshop</a:t>
            </a:r>
            <a:endParaRPr lang="en-US" sz="1300" dirty="0"/>
          </a:p>
        </p:txBody>
      </p:sp>
      <p:sp>
        <p:nvSpPr>
          <p:cNvPr id="31" name="Shape 29"/>
          <p:cNvSpPr/>
          <p:nvPr/>
        </p:nvSpPr>
        <p:spPr>
          <a:xfrm>
            <a:off x="2880360" y="2121408"/>
            <a:ext cx="1371600" cy="438912"/>
          </a:xfrm>
          <a:prstGeom prst="rect">
            <a:avLst/>
          </a:prstGeom>
          <a:solidFill>
            <a:srgbClr val="E8F4F8"/>
          </a:solidFill>
          <a:ln w="6350">
            <a:solidFill>
              <a:srgbClr val="CBD5E1"/>
            </a:solidFill>
            <a:prstDash val="solid"/>
          </a:ln>
        </p:spPr>
      </p:sp>
      <p:sp>
        <p:nvSpPr>
          <p:cNvPr id="32" name="Text 30"/>
          <p:cNvSpPr/>
          <p:nvPr/>
        </p:nvSpPr>
        <p:spPr>
          <a:xfrm>
            <a:off x="2926080" y="2121408"/>
            <a:ext cx="128016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Múltiples</a:t>
            </a:r>
            <a:endParaRPr lang="en-US" sz="1300" dirty="0"/>
          </a:p>
        </p:txBody>
      </p:sp>
      <p:sp>
        <p:nvSpPr>
          <p:cNvPr id="33" name="Shape 31"/>
          <p:cNvSpPr/>
          <p:nvPr/>
        </p:nvSpPr>
        <p:spPr>
          <a:xfrm>
            <a:off x="4251960" y="2121408"/>
            <a:ext cx="1097280" cy="438912"/>
          </a:xfrm>
          <a:prstGeom prst="rect">
            <a:avLst/>
          </a:prstGeom>
          <a:solidFill>
            <a:srgbClr val="E8F4F8"/>
          </a:solidFill>
          <a:ln w="6350">
            <a:solidFill>
              <a:srgbClr val="CBD5E1"/>
            </a:solidFill>
            <a:prstDash val="solid"/>
          </a:ln>
        </p:spPr>
      </p:sp>
      <p:sp>
        <p:nvSpPr>
          <p:cNvPr id="34" name="Text 32"/>
          <p:cNvSpPr/>
          <p:nvPr/>
        </p:nvSpPr>
        <p:spPr>
          <a:xfrm>
            <a:off x="4297680" y="2121408"/>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Medio</a:t>
            </a:r>
            <a:endParaRPr lang="en-US" sz="1300" dirty="0"/>
          </a:p>
        </p:txBody>
      </p:sp>
      <p:sp>
        <p:nvSpPr>
          <p:cNvPr id="35" name="Shape 33"/>
          <p:cNvSpPr/>
          <p:nvPr/>
        </p:nvSpPr>
        <p:spPr>
          <a:xfrm>
            <a:off x="5349240" y="2121408"/>
            <a:ext cx="1097280" cy="438912"/>
          </a:xfrm>
          <a:prstGeom prst="rect">
            <a:avLst/>
          </a:prstGeom>
          <a:solidFill>
            <a:srgbClr val="E8F4F8"/>
          </a:solidFill>
          <a:ln w="6350">
            <a:solidFill>
              <a:srgbClr val="CBD5E1"/>
            </a:solidFill>
            <a:prstDash val="solid"/>
          </a:ln>
        </p:spPr>
      </p:sp>
      <p:sp>
        <p:nvSpPr>
          <p:cNvPr id="36" name="Text 34"/>
          <p:cNvSpPr/>
          <p:nvPr/>
        </p:nvSpPr>
        <p:spPr>
          <a:xfrm>
            <a:off x="5394960" y="2121408"/>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Alta</a:t>
            </a:r>
            <a:endParaRPr lang="en-US" sz="1300" dirty="0"/>
          </a:p>
        </p:txBody>
      </p:sp>
      <p:sp>
        <p:nvSpPr>
          <p:cNvPr id="37" name="Shape 35"/>
          <p:cNvSpPr/>
          <p:nvPr/>
        </p:nvSpPr>
        <p:spPr>
          <a:xfrm>
            <a:off x="6446520" y="2121408"/>
            <a:ext cx="1463040" cy="438912"/>
          </a:xfrm>
          <a:prstGeom prst="rect">
            <a:avLst/>
          </a:prstGeom>
          <a:solidFill>
            <a:srgbClr val="E8F4F8"/>
          </a:solidFill>
          <a:ln w="6350">
            <a:solidFill>
              <a:srgbClr val="CBD5E1"/>
            </a:solidFill>
            <a:prstDash val="solid"/>
          </a:ln>
        </p:spPr>
      </p:sp>
      <p:sp>
        <p:nvSpPr>
          <p:cNvPr id="38" name="Text 36"/>
          <p:cNvSpPr/>
          <p:nvPr/>
        </p:nvSpPr>
        <p:spPr>
          <a:xfrm>
            <a:off x="6492240" y="2121408"/>
            <a:ext cx="137160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Media</a:t>
            </a:r>
            <a:endParaRPr lang="en-US" sz="1300" dirty="0"/>
          </a:p>
        </p:txBody>
      </p:sp>
      <p:sp>
        <p:nvSpPr>
          <p:cNvPr id="39" name="Shape 37"/>
          <p:cNvSpPr/>
          <p:nvPr/>
        </p:nvSpPr>
        <p:spPr>
          <a:xfrm>
            <a:off x="320040" y="2596896"/>
            <a:ext cx="2560320" cy="438912"/>
          </a:xfrm>
          <a:prstGeom prst="rect">
            <a:avLst/>
          </a:prstGeom>
          <a:solidFill>
            <a:srgbClr val="FFFFFF"/>
          </a:solidFill>
          <a:ln w="6350">
            <a:solidFill>
              <a:srgbClr val="CBD5E1"/>
            </a:solidFill>
            <a:prstDash val="solid"/>
          </a:ln>
        </p:spPr>
      </p:sp>
      <p:sp>
        <p:nvSpPr>
          <p:cNvPr id="40" name="Text 38"/>
          <p:cNvSpPr/>
          <p:nvPr/>
        </p:nvSpPr>
        <p:spPr>
          <a:xfrm>
            <a:off x="365760" y="2596896"/>
            <a:ext cx="246888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Focus Group</a:t>
            </a:r>
            <a:endParaRPr lang="en-US" sz="1300" dirty="0"/>
          </a:p>
        </p:txBody>
      </p:sp>
      <p:sp>
        <p:nvSpPr>
          <p:cNvPr id="41" name="Shape 39"/>
          <p:cNvSpPr/>
          <p:nvPr/>
        </p:nvSpPr>
        <p:spPr>
          <a:xfrm>
            <a:off x="2880360" y="2596896"/>
            <a:ext cx="1371600" cy="438912"/>
          </a:xfrm>
          <a:prstGeom prst="rect">
            <a:avLst/>
          </a:prstGeom>
          <a:solidFill>
            <a:srgbClr val="FFFFFF"/>
          </a:solidFill>
          <a:ln w="6350">
            <a:solidFill>
              <a:srgbClr val="CBD5E1"/>
            </a:solidFill>
            <a:prstDash val="solid"/>
          </a:ln>
        </p:spPr>
      </p:sp>
      <p:sp>
        <p:nvSpPr>
          <p:cNvPr id="42" name="Text 40"/>
          <p:cNvSpPr/>
          <p:nvPr/>
        </p:nvSpPr>
        <p:spPr>
          <a:xfrm>
            <a:off x="2926080" y="2596896"/>
            <a:ext cx="128016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Grupo</a:t>
            </a:r>
            <a:endParaRPr lang="en-US" sz="1300" dirty="0"/>
          </a:p>
        </p:txBody>
      </p:sp>
      <p:sp>
        <p:nvSpPr>
          <p:cNvPr id="43" name="Shape 41"/>
          <p:cNvSpPr/>
          <p:nvPr/>
        </p:nvSpPr>
        <p:spPr>
          <a:xfrm>
            <a:off x="4251960" y="2596896"/>
            <a:ext cx="1097280" cy="438912"/>
          </a:xfrm>
          <a:prstGeom prst="rect">
            <a:avLst/>
          </a:prstGeom>
          <a:solidFill>
            <a:srgbClr val="FFFFFF"/>
          </a:solidFill>
          <a:ln w="6350">
            <a:solidFill>
              <a:srgbClr val="CBD5E1"/>
            </a:solidFill>
            <a:prstDash val="solid"/>
          </a:ln>
        </p:spPr>
      </p:sp>
      <p:sp>
        <p:nvSpPr>
          <p:cNvPr id="44" name="Text 42"/>
          <p:cNvSpPr/>
          <p:nvPr/>
        </p:nvSpPr>
        <p:spPr>
          <a:xfrm>
            <a:off x="4297680" y="2596896"/>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Medio</a:t>
            </a:r>
            <a:endParaRPr lang="en-US" sz="1300" dirty="0"/>
          </a:p>
        </p:txBody>
      </p:sp>
      <p:sp>
        <p:nvSpPr>
          <p:cNvPr id="45" name="Shape 43"/>
          <p:cNvSpPr/>
          <p:nvPr/>
        </p:nvSpPr>
        <p:spPr>
          <a:xfrm>
            <a:off x="5349240" y="2596896"/>
            <a:ext cx="1097280" cy="438912"/>
          </a:xfrm>
          <a:prstGeom prst="rect">
            <a:avLst/>
          </a:prstGeom>
          <a:solidFill>
            <a:srgbClr val="FFFFFF"/>
          </a:solidFill>
          <a:ln w="6350">
            <a:solidFill>
              <a:srgbClr val="CBD5E1"/>
            </a:solidFill>
            <a:prstDash val="solid"/>
          </a:ln>
        </p:spPr>
      </p:sp>
      <p:sp>
        <p:nvSpPr>
          <p:cNvPr id="46" name="Text 44"/>
          <p:cNvSpPr/>
          <p:nvPr/>
        </p:nvSpPr>
        <p:spPr>
          <a:xfrm>
            <a:off x="5394960" y="2596896"/>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Media</a:t>
            </a:r>
            <a:endParaRPr lang="en-US" sz="1300" dirty="0"/>
          </a:p>
        </p:txBody>
      </p:sp>
      <p:sp>
        <p:nvSpPr>
          <p:cNvPr id="47" name="Shape 45"/>
          <p:cNvSpPr/>
          <p:nvPr/>
        </p:nvSpPr>
        <p:spPr>
          <a:xfrm>
            <a:off x="6446520" y="2596896"/>
            <a:ext cx="1463040" cy="438912"/>
          </a:xfrm>
          <a:prstGeom prst="rect">
            <a:avLst/>
          </a:prstGeom>
          <a:solidFill>
            <a:srgbClr val="FFFFFF"/>
          </a:solidFill>
          <a:ln w="6350">
            <a:solidFill>
              <a:srgbClr val="CBD5E1"/>
            </a:solidFill>
            <a:prstDash val="solid"/>
          </a:ln>
        </p:spPr>
      </p:sp>
      <p:sp>
        <p:nvSpPr>
          <p:cNvPr id="48" name="Text 46"/>
          <p:cNvSpPr/>
          <p:nvPr/>
        </p:nvSpPr>
        <p:spPr>
          <a:xfrm>
            <a:off x="6492240" y="2596896"/>
            <a:ext cx="137160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Media</a:t>
            </a:r>
            <a:endParaRPr lang="en-US" sz="1300" dirty="0"/>
          </a:p>
        </p:txBody>
      </p:sp>
      <p:sp>
        <p:nvSpPr>
          <p:cNvPr id="49" name="Shape 47"/>
          <p:cNvSpPr/>
          <p:nvPr/>
        </p:nvSpPr>
        <p:spPr>
          <a:xfrm>
            <a:off x="320040" y="3072384"/>
            <a:ext cx="2560320" cy="438912"/>
          </a:xfrm>
          <a:prstGeom prst="rect">
            <a:avLst/>
          </a:prstGeom>
          <a:solidFill>
            <a:srgbClr val="E8F4F8"/>
          </a:solidFill>
          <a:ln w="6350">
            <a:solidFill>
              <a:srgbClr val="CBD5E1"/>
            </a:solidFill>
            <a:prstDash val="solid"/>
          </a:ln>
        </p:spPr>
      </p:sp>
      <p:sp>
        <p:nvSpPr>
          <p:cNvPr id="50" name="Text 48"/>
          <p:cNvSpPr/>
          <p:nvPr/>
        </p:nvSpPr>
        <p:spPr>
          <a:xfrm>
            <a:off x="365760" y="3072384"/>
            <a:ext cx="246888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Cuestionario</a:t>
            </a:r>
            <a:endParaRPr lang="en-US" sz="1300" dirty="0"/>
          </a:p>
        </p:txBody>
      </p:sp>
      <p:sp>
        <p:nvSpPr>
          <p:cNvPr id="51" name="Shape 49"/>
          <p:cNvSpPr/>
          <p:nvPr/>
        </p:nvSpPr>
        <p:spPr>
          <a:xfrm>
            <a:off x="2880360" y="3072384"/>
            <a:ext cx="1371600" cy="438912"/>
          </a:xfrm>
          <a:prstGeom prst="rect">
            <a:avLst/>
          </a:prstGeom>
          <a:solidFill>
            <a:srgbClr val="E8F4F8"/>
          </a:solidFill>
          <a:ln w="6350">
            <a:solidFill>
              <a:srgbClr val="CBD5E1"/>
            </a:solidFill>
            <a:prstDash val="solid"/>
          </a:ln>
        </p:spPr>
      </p:sp>
      <p:sp>
        <p:nvSpPr>
          <p:cNvPr id="52" name="Text 50"/>
          <p:cNvSpPr/>
          <p:nvPr/>
        </p:nvSpPr>
        <p:spPr>
          <a:xfrm>
            <a:off x="2926080" y="3072384"/>
            <a:ext cx="128016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Muchos</a:t>
            </a:r>
            <a:endParaRPr lang="en-US" sz="1300" dirty="0"/>
          </a:p>
        </p:txBody>
      </p:sp>
      <p:sp>
        <p:nvSpPr>
          <p:cNvPr id="53" name="Shape 51"/>
          <p:cNvSpPr/>
          <p:nvPr/>
        </p:nvSpPr>
        <p:spPr>
          <a:xfrm>
            <a:off x="4251960" y="3072384"/>
            <a:ext cx="1097280" cy="438912"/>
          </a:xfrm>
          <a:prstGeom prst="rect">
            <a:avLst/>
          </a:prstGeom>
          <a:solidFill>
            <a:srgbClr val="E8F4F8"/>
          </a:solidFill>
          <a:ln w="6350">
            <a:solidFill>
              <a:srgbClr val="CBD5E1"/>
            </a:solidFill>
            <a:prstDash val="solid"/>
          </a:ln>
        </p:spPr>
      </p:sp>
      <p:sp>
        <p:nvSpPr>
          <p:cNvPr id="54" name="Text 52"/>
          <p:cNvSpPr/>
          <p:nvPr/>
        </p:nvSpPr>
        <p:spPr>
          <a:xfrm>
            <a:off x="4297680" y="3072384"/>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Bajo</a:t>
            </a:r>
            <a:endParaRPr lang="en-US" sz="1300" dirty="0"/>
          </a:p>
        </p:txBody>
      </p:sp>
      <p:sp>
        <p:nvSpPr>
          <p:cNvPr id="55" name="Shape 53"/>
          <p:cNvSpPr/>
          <p:nvPr/>
        </p:nvSpPr>
        <p:spPr>
          <a:xfrm>
            <a:off x="5349240" y="3072384"/>
            <a:ext cx="1097280" cy="438912"/>
          </a:xfrm>
          <a:prstGeom prst="rect">
            <a:avLst/>
          </a:prstGeom>
          <a:solidFill>
            <a:srgbClr val="E8F4F8"/>
          </a:solidFill>
          <a:ln w="6350">
            <a:solidFill>
              <a:srgbClr val="CBD5E1"/>
            </a:solidFill>
            <a:prstDash val="solid"/>
          </a:ln>
        </p:spPr>
      </p:sp>
      <p:sp>
        <p:nvSpPr>
          <p:cNvPr id="56" name="Text 54"/>
          <p:cNvSpPr/>
          <p:nvPr/>
        </p:nvSpPr>
        <p:spPr>
          <a:xfrm>
            <a:off x="5394960" y="3072384"/>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Baja</a:t>
            </a:r>
            <a:endParaRPr lang="en-US" sz="1300" dirty="0"/>
          </a:p>
        </p:txBody>
      </p:sp>
      <p:sp>
        <p:nvSpPr>
          <p:cNvPr id="57" name="Shape 55"/>
          <p:cNvSpPr/>
          <p:nvPr/>
        </p:nvSpPr>
        <p:spPr>
          <a:xfrm>
            <a:off x="6446520" y="3072384"/>
            <a:ext cx="1463040" cy="438912"/>
          </a:xfrm>
          <a:prstGeom prst="rect">
            <a:avLst/>
          </a:prstGeom>
          <a:solidFill>
            <a:srgbClr val="E8F4F8"/>
          </a:solidFill>
          <a:ln w="6350">
            <a:solidFill>
              <a:srgbClr val="CBD5E1"/>
            </a:solidFill>
            <a:prstDash val="solid"/>
          </a:ln>
        </p:spPr>
      </p:sp>
      <p:sp>
        <p:nvSpPr>
          <p:cNvPr id="58" name="Text 56"/>
          <p:cNvSpPr/>
          <p:nvPr/>
        </p:nvSpPr>
        <p:spPr>
          <a:xfrm>
            <a:off x="6492240" y="3072384"/>
            <a:ext cx="137160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Alta</a:t>
            </a:r>
            <a:endParaRPr lang="en-US" sz="1300" dirty="0"/>
          </a:p>
        </p:txBody>
      </p:sp>
      <p:sp>
        <p:nvSpPr>
          <p:cNvPr id="59" name="Shape 57"/>
          <p:cNvSpPr/>
          <p:nvPr/>
        </p:nvSpPr>
        <p:spPr>
          <a:xfrm>
            <a:off x="320040" y="3547872"/>
            <a:ext cx="2560320" cy="438912"/>
          </a:xfrm>
          <a:prstGeom prst="rect">
            <a:avLst/>
          </a:prstGeom>
          <a:solidFill>
            <a:srgbClr val="FFFFFF"/>
          </a:solidFill>
          <a:ln w="6350">
            <a:solidFill>
              <a:srgbClr val="CBD5E1"/>
            </a:solidFill>
            <a:prstDash val="solid"/>
          </a:ln>
        </p:spPr>
      </p:sp>
      <p:sp>
        <p:nvSpPr>
          <p:cNvPr id="60" name="Text 58"/>
          <p:cNvSpPr/>
          <p:nvPr/>
        </p:nvSpPr>
        <p:spPr>
          <a:xfrm>
            <a:off x="365760" y="3547872"/>
            <a:ext cx="246888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Observación</a:t>
            </a:r>
            <a:endParaRPr lang="en-US" sz="1300" dirty="0"/>
          </a:p>
        </p:txBody>
      </p:sp>
      <p:sp>
        <p:nvSpPr>
          <p:cNvPr id="61" name="Shape 59"/>
          <p:cNvSpPr/>
          <p:nvPr/>
        </p:nvSpPr>
        <p:spPr>
          <a:xfrm>
            <a:off x="2880360" y="3547872"/>
            <a:ext cx="1371600" cy="438912"/>
          </a:xfrm>
          <a:prstGeom prst="rect">
            <a:avLst/>
          </a:prstGeom>
          <a:solidFill>
            <a:srgbClr val="FFFFFF"/>
          </a:solidFill>
          <a:ln w="6350">
            <a:solidFill>
              <a:srgbClr val="CBD5E1"/>
            </a:solidFill>
            <a:prstDash val="solid"/>
          </a:ln>
        </p:spPr>
      </p:sp>
      <p:sp>
        <p:nvSpPr>
          <p:cNvPr id="62" name="Text 60"/>
          <p:cNvSpPr/>
          <p:nvPr/>
        </p:nvSpPr>
        <p:spPr>
          <a:xfrm>
            <a:off x="2926080" y="3547872"/>
            <a:ext cx="128016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Pocos</a:t>
            </a:r>
            <a:endParaRPr lang="en-US" sz="1300" dirty="0"/>
          </a:p>
        </p:txBody>
      </p:sp>
      <p:sp>
        <p:nvSpPr>
          <p:cNvPr id="63" name="Shape 61"/>
          <p:cNvSpPr/>
          <p:nvPr/>
        </p:nvSpPr>
        <p:spPr>
          <a:xfrm>
            <a:off x="4251960" y="3547872"/>
            <a:ext cx="1097280" cy="438912"/>
          </a:xfrm>
          <a:prstGeom prst="rect">
            <a:avLst/>
          </a:prstGeom>
          <a:solidFill>
            <a:srgbClr val="FFFFFF"/>
          </a:solidFill>
          <a:ln w="6350">
            <a:solidFill>
              <a:srgbClr val="CBD5E1"/>
            </a:solidFill>
            <a:prstDash val="solid"/>
          </a:ln>
        </p:spPr>
      </p:sp>
      <p:sp>
        <p:nvSpPr>
          <p:cNvPr id="64" name="Text 62"/>
          <p:cNvSpPr/>
          <p:nvPr/>
        </p:nvSpPr>
        <p:spPr>
          <a:xfrm>
            <a:off x="4297680" y="3547872"/>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Muy alto</a:t>
            </a:r>
            <a:endParaRPr lang="en-US" sz="1300" dirty="0"/>
          </a:p>
        </p:txBody>
      </p:sp>
      <p:sp>
        <p:nvSpPr>
          <p:cNvPr id="65" name="Shape 63"/>
          <p:cNvSpPr/>
          <p:nvPr/>
        </p:nvSpPr>
        <p:spPr>
          <a:xfrm>
            <a:off x="5349240" y="3547872"/>
            <a:ext cx="1097280" cy="438912"/>
          </a:xfrm>
          <a:prstGeom prst="rect">
            <a:avLst/>
          </a:prstGeom>
          <a:solidFill>
            <a:srgbClr val="FFFFFF"/>
          </a:solidFill>
          <a:ln w="6350">
            <a:solidFill>
              <a:srgbClr val="CBD5E1"/>
            </a:solidFill>
            <a:prstDash val="solid"/>
          </a:ln>
        </p:spPr>
      </p:sp>
      <p:sp>
        <p:nvSpPr>
          <p:cNvPr id="66" name="Text 64"/>
          <p:cNvSpPr/>
          <p:nvPr/>
        </p:nvSpPr>
        <p:spPr>
          <a:xfrm>
            <a:off x="5394960" y="3547872"/>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Muy alta</a:t>
            </a:r>
            <a:endParaRPr lang="en-US" sz="1300" dirty="0"/>
          </a:p>
        </p:txBody>
      </p:sp>
      <p:sp>
        <p:nvSpPr>
          <p:cNvPr id="67" name="Shape 65"/>
          <p:cNvSpPr/>
          <p:nvPr/>
        </p:nvSpPr>
        <p:spPr>
          <a:xfrm>
            <a:off x="6446520" y="3547872"/>
            <a:ext cx="1463040" cy="438912"/>
          </a:xfrm>
          <a:prstGeom prst="rect">
            <a:avLst/>
          </a:prstGeom>
          <a:solidFill>
            <a:srgbClr val="FFFFFF"/>
          </a:solidFill>
          <a:ln w="6350">
            <a:solidFill>
              <a:srgbClr val="CBD5E1"/>
            </a:solidFill>
            <a:prstDash val="solid"/>
          </a:ln>
        </p:spPr>
      </p:sp>
      <p:sp>
        <p:nvSpPr>
          <p:cNvPr id="68" name="Text 66"/>
          <p:cNvSpPr/>
          <p:nvPr/>
        </p:nvSpPr>
        <p:spPr>
          <a:xfrm>
            <a:off x="6492240" y="3547872"/>
            <a:ext cx="137160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Baja</a:t>
            </a:r>
            <a:endParaRPr lang="en-US" sz="1300" dirty="0"/>
          </a:p>
        </p:txBody>
      </p:sp>
      <p:sp>
        <p:nvSpPr>
          <p:cNvPr id="69" name="Shape 67"/>
          <p:cNvSpPr/>
          <p:nvPr/>
        </p:nvSpPr>
        <p:spPr>
          <a:xfrm>
            <a:off x="320040" y="4023360"/>
            <a:ext cx="2560320" cy="438912"/>
          </a:xfrm>
          <a:prstGeom prst="rect">
            <a:avLst/>
          </a:prstGeom>
          <a:solidFill>
            <a:srgbClr val="E8F4F8"/>
          </a:solidFill>
          <a:ln w="6350">
            <a:solidFill>
              <a:srgbClr val="CBD5E1"/>
            </a:solidFill>
            <a:prstDash val="solid"/>
          </a:ln>
        </p:spPr>
      </p:sp>
      <p:sp>
        <p:nvSpPr>
          <p:cNvPr id="70" name="Text 68"/>
          <p:cNvSpPr/>
          <p:nvPr/>
        </p:nvSpPr>
        <p:spPr>
          <a:xfrm>
            <a:off x="365760" y="4023360"/>
            <a:ext cx="246888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Design Thinking</a:t>
            </a:r>
            <a:endParaRPr lang="en-US" sz="1300" dirty="0"/>
          </a:p>
        </p:txBody>
      </p:sp>
      <p:sp>
        <p:nvSpPr>
          <p:cNvPr id="71" name="Shape 69"/>
          <p:cNvSpPr/>
          <p:nvPr/>
        </p:nvSpPr>
        <p:spPr>
          <a:xfrm>
            <a:off x="2880360" y="4023360"/>
            <a:ext cx="1371600" cy="438912"/>
          </a:xfrm>
          <a:prstGeom prst="rect">
            <a:avLst/>
          </a:prstGeom>
          <a:solidFill>
            <a:srgbClr val="E8F4F8"/>
          </a:solidFill>
          <a:ln w="6350">
            <a:solidFill>
              <a:srgbClr val="CBD5E1"/>
            </a:solidFill>
            <a:prstDash val="solid"/>
          </a:ln>
        </p:spPr>
      </p:sp>
      <p:sp>
        <p:nvSpPr>
          <p:cNvPr id="72" name="Text 70"/>
          <p:cNvSpPr/>
          <p:nvPr/>
        </p:nvSpPr>
        <p:spPr>
          <a:xfrm>
            <a:off x="2926080" y="4023360"/>
            <a:ext cx="128016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Mixto</a:t>
            </a:r>
            <a:endParaRPr lang="en-US" sz="1300" dirty="0"/>
          </a:p>
        </p:txBody>
      </p:sp>
      <p:sp>
        <p:nvSpPr>
          <p:cNvPr id="73" name="Shape 71"/>
          <p:cNvSpPr/>
          <p:nvPr/>
        </p:nvSpPr>
        <p:spPr>
          <a:xfrm>
            <a:off x="4251960" y="4023360"/>
            <a:ext cx="1097280" cy="438912"/>
          </a:xfrm>
          <a:prstGeom prst="rect">
            <a:avLst/>
          </a:prstGeom>
          <a:solidFill>
            <a:srgbClr val="E8F4F8"/>
          </a:solidFill>
          <a:ln w="6350">
            <a:solidFill>
              <a:srgbClr val="CBD5E1"/>
            </a:solidFill>
            <a:prstDash val="solid"/>
          </a:ln>
        </p:spPr>
      </p:sp>
      <p:sp>
        <p:nvSpPr>
          <p:cNvPr id="74" name="Text 72"/>
          <p:cNvSpPr/>
          <p:nvPr/>
        </p:nvSpPr>
        <p:spPr>
          <a:xfrm>
            <a:off x="4297680" y="4023360"/>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Alto</a:t>
            </a:r>
            <a:endParaRPr lang="en-US" sz="1300" dirty="0"/>
          </a:p>
        </p:txBody>
      </p:sp>
      <p:sp>
        <p:nvSpPr>
          <p:cNvPr id="75" name="Shape 73"/>
          <p:cNvSpPr/>
          <p:nvPr/>
        </p:nvSpPr>
        <p:spPr>
          <a:xfrm>
            <a:off x="5349240" y="4023360"/>
            <a:ext cx="1097280" cy="438912"/>
          </a:xfrm>
          <a:prstGeom prst="rect">
            <a:avLst/>
          </a:prstGeom>
          <a:solidFill>
            <a:srgbClr val="E8F4F8"/>
          </a:solidFill>
          <a:ln w="6350">
            <a:solidFill>
              <a:srgbClr val="CBD5E1"/>
            </a:solidFill>
            <a:prstDash val="solid"/>
          </a:ln>
        </p:spPr>
      </p:sp>
      <p:sp>
        <p:nvSpPr>
          <p:cNvPr id="76" name="Text 74"/>
          <p:cNvSpPr/>
          <p:nvPr/>
        </p:nvSpPr>
        <p:spPr>
          <a:xfrm>
            <a:off x="5394960" y="4023360"/>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Alta</a:t>
            </a:r>
            <a:endParaRPr lang="en-US" sz="1300" dirty="0"/>
          </a:p>
        </p:txBody>
      </p:sp>
      <p:sp>
        <p:nvSpPr>
          <p:cNvPr id="77" name="Shape 75"/>
          <p:cNvSpPr/>
          <p:nvPr/>
        </p:nvSpPr>
        <p:spPr>
          <a:xfrm>
            <a:off x="6446520" y="4023360"/>
            <a:ext cx="1463040" cy="438912"/>
          </a:xfrm>
          <a:prstGeom prst="rect">
            <a:avLst/>
          </a:prstGeom>
          <a:solidFill>
            <a:srgbClr val="E8F4F8"/>
          </a:solidFill>
          <a:ln w="6350">
            <a:solidFill>
              <a:srgbClr val="CBD5E1"/>
            </a:solidFill>
            <a:prstDash val="solid"/>
          </a:ln>
        </p:spPr>
      </p:sp>
      <p:sp>
        <p:nvSpPr>
          <p:cNvPr id="78" name="Text 76"/>
          <p:cNvSpPr/>
          <p:nvPr/>
        </p:nvSpPr>
        <p:spPr>
          <a:xfrm>
            <a:off x="6492240" y="4023360"/>
            <a:ext cx="137160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Media</a:t>
            </a:r>
            <a:endParaRPr lang="en-US" sz="1300" dirty="0"/>
          </a:p>
        </p:txBody>
      </p:sp>
      <p:sp>
        <p:nvSpPr>
          <p:cNvPr id="79" name="Shape 77"/>
          <p:cNvSpPr/>
          <p:nvPr/>
        </p:nvSpPr>
        <p:spPr>
          <a:xfrm>
            <a:off x="320040" y="4498848"/>
            <a:ext cx="2560320" cy="438912"/>
          </a:xfrm>
          <a:prstGeom prst="rect">
            <a:avLst/>
          </a:prstGeom>
          <a:solidFill>
            <a:srgbClr val="FFFFFF"/>
          </a:solidFill>
          <a:ln w="6350">
            <a:solidFill>
              <a:srgbClr val="CBD5E1"/>
            </a:solidFill>
            <a:prstDash val="solid"/>
          </a:ln>
        </p:spPr>
      </p:sp>
      <p:sp>
        <p:nvSpPr>
          <p:cNvPr id="80" name="Text 78"/>
          <p:cNvSpPr/>
          <p:nvPr/>
        </p:nvSpPr>
        <p:spPr>
          <a:xfrm>
            <a:off x="365760" y="4498848"/>
            <a:ext cx="246888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Prototipado</a:t>
            </a:r>
            <a:endParaRPr lang="en-US" sz="1300" dirty="0"/>
          </a:p>
        </p:txBody>
      </p:sp>
      <p:sp>
        <p:nvSpPr>
          <p:cNvPr id="81" name="Shape 79"/>
          <p:cNvSpPr/>
          <p:nvPr/>
        </p:nvSpPr>
        <p:spPr>
          <a:xfrm>
            <a:off x="2880360" y="4498848"/>
            <a:ext cx="1371600" cy="438912"/>
          </a:xfrm>
          <a:prstGeom prst="rect">
            <a:avLst/>
          </a:prstGeom>
          <a:solidFill>
            <a:srgbClr val="FFFFFF"/>
          </a:solidFill>
          <a:ln w="6350">
            <a:solidFill>
              <a:srgbClr val="CBD5E1"/>
            </a:solidFill>
            <a:prstDash val="solid"/>
          </a:ln>
        </p:spPr>
      </p:sp>
      <p:sp>
        <p:nvSpPr>
          <p:cNvPr id="82" name="Text 80"/>
          <p:cNvSpPr/>
          <p:nvPr/>
        </p:nvSpPr>
        <p:spPr>
          <a:xfrm>
            <a:off x="2926080" y="4498848"/>
            <a:ext cx="128016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Cualquiera</a:t>
            </a:r>
            <a:endParaRPr lang="en-US" sz="1300" dirty="0"/>
          </a:p>
        </p:txBody>
      </p:sp>
      <p:sp>
        <p:nvSpPr>
          <p:cNvPr id="83" name="Shape 81"/>
          <p:cNvSpPr/>
          <p:nvPr/>
        </p:nvSpPr>
        <p:spPr>
          <a:xfrm>
            <a:off x="4251960" y="4498848"/>
            <a:ext cx="1097280" cy="438912"/>
          </a:xfrm>
          <a:prstGeom prst="rect">
            <a:avLst/>
          </a:prstGeom>
          <a:solidFill>
            <a:srgbClr val="FFFFFF"/>
          </a:solidFill>
          <a:ln w="6350">
            <a:solidFill>
              <a:srgbClr val="CBD5E1"/>
            </a:solidFill>
            <a:prstDash val="solid"/>
          </a:ln>
        </p:spPr>
      </p:sp>
      <p:sp>
        <p:nvSpPr>
          <p:cNvPr id="84" name="Text 82"/>
          <p:cNvSpPr/>
          <p:nvPr/>
        </p:nvSpPr>
        <p:spPr>
          <a:xfrm>
            <a:off x="4297680" y="4498848"/>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Medio</a:t>
            </a:r>
            <a:endParaRPr lang="en-US" sz="1300" dirty="0"/>
          </a:p>
        </p:txBody>
      </p:sp>
      <p:sp>
        <p:nvSpPr>
          <p:cNvPr id="85" name="Shape 83"/>
          <p:cNvSpPr/>
          <p:nvPr/>
        </p:nvSpPr>
        <p:spPr>
          <a:xfrm>
            <a:off x="5349240" y="4498848"/>
            <a:ext cx="1097280" cy="438912"/>
          </a:xfrm>
          <a:prstGeom prst="rect">
            <a:avLst/>
          </a:prstGeom>
          <a:solidFill>
            <a:srgbClr val="FFFFFF"/>
          </a:solidFill>
          <a:ln w="6350">
            <a:solidFill>
              <a:srgbClr val="CBD5E1"/>
            </a:solidFill>
            <a:prstDash val="solid"/>
          </a:ln>
        </p:spPr>
      </p:sp>
      <p:sp>
        <p:nvSpPr>
          <p:cNvPr id="86" name="Text 84"/>
          <p:cNvSpPr/>
          <p:nvPr/>
        </p:nvSpPr>
        <p:spPr>
          <a:xfrm>
            <a:off x="5394960" y="4498848"/>
            <a:ext cx="100584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Alta</a:t>
            </a:r>
            <a:endParaRPr lang="en-US" sz="1300" dirty="0"/>
          </a:p>
        </p:txBody>
      </p:sp>
      <p:sp>
        <p:nvSpPr>
          <p:cNvPr id="87" name="Shape 85"/>
          <p:cNvSpPr/>
          <p:nvPr/>
        </p:nvSpPr>
        <p:spPr>
          <a:xfrm>
            <a:off x="6446520" y="4498848"/>
            <a:ext cx="1463040" cy="438912"/>
          </a:xfrm>
          <a:prstGeom prst="rect">
            <a:avLst/>
          </a:prstGeom>
          <a:solidFill>
            <a:srgbClr val="FFFFFF"/>
          </a:solidFill>
          <a:ln w="6350">
            <a:solidFill>
              <a:srgbClr val="CBD5E1"/>
            </a:solidFill>
            <a:prstDash val="solid"/>
          </a:ln>
        </p:spPr>
      </p:sp>
      <p:sp>
        <p:nvSpPr>
          <p:cNvPr id="88" name="Text 86"/>
          <p:cNvSpPr/>
          <p:nvPr/>
        </p:nvSpPr>
        <p:spPr>
          <a:xfrm>
            <a:off x="6492240" y="4498848"/>
            <a:ext cx="1371600" cy="438912"/>
          </a:xfrm>
          <a:prstGeom prst="rect">
            <a:avLst/>
          </a:prstGeom>
          <a:noFill/>
          <a:ln/>
        </p:spPr>
        <p:txBody>
          <a:bodyPr wrap="square" lIns="0" tIns="0" rIns="0" bIns="0" rtlCol="0" anchor="ctr"/>
          <a:lstStyle/>
          <a:p>
            <a:pPr algn="ctr" indent="0" marL="0">
              <a:buNone/>
            </a:pPr>
            <a:r>
              <a:rPr lang="en-US" sz="1300" dirty="0">
                <a:solidFill>
                  <a:srgbClr val="1E293B"/>
                </a:solidFill>
                <a:latin typeface="Calibri" pitchFamily="34" charset="0"/>
                <a:ea typeface="Calibri" pitchFamily="34" charset="-122"/>
                <a:cs typeface="Calibri" pitchFamily="34" charset="-120"/>
              </a:rPr>
              <a:t>Media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Gestión de Stakeholders en Elicitación</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Clave: Identificar quién sabe qué</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10 / 14</a:t>
            </a:r>
            <a:endParaRPr lang="en-US" sz="900" dirty="0"/>
          </a:p>
        </p:txBody>
      </p:sp>
      <p:sp>
        <p:nvSpPr>
          <p:cNvPr id="9" name="Text 7"/>
          <p:cNvSpPr/>
          <p:nvPr/>
        </p:nvSpPr>
        <p:spPr>
          <a:xfrm>
            <a:off x="365760" y="1170432"/>
            <a:ext cx="8412480" cy="68580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Un stakeholder es toda persona, grupo u organización que tiene interés en el sistema o se ve afectado por él. Identificarlos correctamente determina el éxito o fracaso de la elicitación.</a:t>
            </a:r>
            <a:endParaRPr lang="en-US" sz="1400" dirty="0"/>
          </a:p>
        </p:txBody>
      </p:sp>
      <p:sp>
        <p:nvSpPr>
          <p:cNvPr id="10" name="Shape 8"/>
          <p:cNvSpPr/>
          <p:nvPr/>
        </p:nvSpPr>
        <p:spPr>
          <a:xfrm>
            <a:off x="365760" y="1965960"/>
            <a:ext cx="320040" cy="822960"/>
          </a:xfrm>
          <a:prstGeom prst="rect">
            <a:avLst/>
          </a:prstGeom>
          <a:solidFill>
            <a:srgbClr val="1A3557"/>
          </a:solidFill>
          <a:ln w="12700">
            <a:solidFill>
              <a:srgbClr val="1A3557"/>
            </a:solidFill>
            <a:prstDash val="solid"/>
          </a:ln>
        </p:spPr>
      </p:sp>
      <p:sp>
        <p:nvSpPr>
          <p:cNvPr id="11" name="Text 9"/>
          <p:cNvSpPr/>
          <p:nvPr/>
        </p:nvSpPr>
        <p:spPr>
          <a:xfrm>
            <a:off x="749808" y="1984248"/>
            <a:ext cx="374904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Usuarios Directos</a:t>
            </a:r>
            <a:endParaRPr lang="en-US" sz="1400" dirty="0"/>
          </a:p>
        </p:txBody>
      </p:sp>
      <p:sp>
        <p:nvSpPr>
          <p:cNvPr id="12" name="Text 10"/>
          <p:cNvSpPr/>
          <p:nvPr/>
        </p:nvSpPr>
        <p:spPr>
          <a:xfrm>
            <a:off x="749808" y="2258568"/>
            <a:ext cx="3749040" cy="5029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Operan el sistema día a día; conocen procesos detallados.</a:t>
            </a:r>
            <a:endParaRPr lang="en-US" sz="1250" dirty="0"/>
          </a:p>
        </p:txBody>
      </p:sp>
      <p:sp>
        <p:nvSpPr>
          <p:cNvPr id="13" name="Shape 11"/>
          <p:cNvSpPr/>
          <p:nvPr/>
        </p:nvSpPr>
        <p:spPr>
          <a:xfrm>
            <a:off x="365760" y="2926080"/>
            <a:ext cx="320040" cy="822960"/>
          </a:xfrm>
          <a:prstGeom prst="rect">
            <a:avLst/>
          </a:prstGeom>
          <a:solidFill>
            <a:srgbClr val="1B7FA1"/>
          </a:solidFill>
          <a:ln w="12700">
            <a:solidFill>
              <a:srgbClr val="1B7FA1"/>
            </a:solidFill>
            <a:prstDash val="solid"/>
          </a:ln>
        </p:spPr>
      </p:sp>
      <p:sp>
        <p:nvSpPr>
          <p:cNvPr id="14" name="Text 12"/>
          <p:cNvSpPr/>
          <p:nvPr/>
        </p:nvSpPr>
        <p:spPr>
          <a:xfrm>
            <a:off x="749808" y="2944368"/>
            <a:ext cx="374904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Clientes / Patrocinadores</a:t>
            </a:r>
            <a:endParaRPr lang="en-US" sz="1400" dirty="0"/>
          </a:p>
        </p:txBody>
      </p:sp>
      <p:sp>
        <p:nvSpPr>
          <p:cNvPr id="15" name="Text 13"/>
          <p:cNvSpPr/>
          <p:nvPr/>
        </p:nvSpPr>
        <p:spPr>
          <a:xfrm>
            <a:off x="749808" y="3218688"/>
            <a:ext cx="3749040" cy="5029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Definen el alcance y objetivos del negocio.</a:t>
            </a:r>
            <a:endParaRPr lang="en-US" sz="1250" dirty="0"/>
          </a:p>
        </p:txBody>
      </p:sp>
      <p:sp>
        <p:nvSpPr>
          <p:cNvPr id="16" name="Shape 14"/>
          <p:cNvSpPr/>
          <p:nvPr/>
        </p:nvSpPr>
        <p:spPr>
          <a:xfrm>
            <a:off x="365760" y="3886200"/>
            <a:ext cx="320040" cy="822960"/>
          </a:xfrm>
          <a:prstGeom prst="rect">
            <a:avLst/>
          </a:prstGeom>
          <a:solidFill>
            <a:srgbClr val="02A896"/>
          </a:solidFill>
          <a:ln w="12700">
            <a:solidFill>
              <a:srgbClr val="02A896"/>
            </a:solidFill>
            <a:prstDash val="solid"/>
          </a:ln>
        </p:spPr>
      </p:sp>
      <p:sp>
        <p:nvSpPr>
          <p:cNvPr id="17" name="Text 15"/>
          <p:cNvSpPr/>
          <p:nvPr/>
        </p:nvSpPr>
        <p:spPr>
          <a:xfrm>
            <a:off x="749808" y="3904488"/>
            <a:ext cx="374904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Desarrolladores</a:t>
            </a:r>
            <a:endParaRPr lang="en-US" sz="1400" dirty="0"/>
          </a:p>
        </p:txBody>
      </p:sp>
      <p:sp>
        <p:nvSpPr>
          <p:cNvPr id="18" name="Text 16"/>
          <p:cNvSpPr/>
          <p:nvPr/>
        </p:nvSpPr>
        <p:spPr>
          <a:xfrm>
            <a:off x="749808" y="4178808"/>
            <a:ext cx="3749040" cy="5029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Deben comprender requisitos para implementarlos.</a:t>
            </a:r>
            <a:endParaRPr lang="en-US" sz="1250" dirty="0"/>
          </a:p>
        </p:txBody>
      </p:sp>
      <p:sp>
        <p:nvSpPr>
          <p:cNvPr id="19" name="Shape 17"/>
          <p:cNvSpPr/>
          <p:nvPr/>
        </p:nvSpPr>
        <p:spPr>
          <a:xfrm>
            <a:off x="4800600" y="1965960"/>
            <a:ext cx="320040" cy="822960"/>
          </a:xfrm>
          <a:prstGeom prst="rect">
            <a:avLst/>
          </a:prstGeom>
          <a:solidFill>
            <a:srgbClr val="F0A500"/>
          </a:solidFill>
          <a:ln w="12700">
            <a:solidFill>
              <a:srgbClr val="F0A500"/>
            </a:solidFill>
            <a:prstDash val="solid"/>
          </a:ln>
        </p:spPr>
      </p:sp>
      <p:sp>
        <p:nvSpPr>
          <p:cNvPr id="20" name="Text 18"/>
          <p:cNvSpPr/>
          <p:nvPr/>
        </p:nvSpPr>
        <p:spPr>
          <a:xfrm>
            <a:off x="5184648" y="1984248"/>
            <a:ext cx="374904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Reguladores</a:t>
            </a:r>
            <a:endParaRPr lang="en-US" sz="1400" dirty="0"/>
          </a:p>
        </p:txBody>
      </p:sp>
      <p:sp>
        <p:nvSpPr>
          <p:cNvPr id="21" name="Text 19"/>
          <p:cNvSpPr/>
          <p:nvPr/>
        </p:nvSpPr>
        <p:spPr>
          <a:xfrm>
            <a:off x="5184648" y="2258568"/>
            <a:ext cx="3749040" cy="5029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Imponen normativas legales que se convierten en restricciones.</a:t>
            </a:r>
            <a:endParaRPr lang="en-US" sz="1250" dirty="0"/>
          </a:p>
        </p:txBody>
      </p:sp>
      <p:sp>
        <p:nvSpPr>
          <p:cNvPr id="22" name="Shape 20"/>
          <p:cNvSpPr/>
          <p:nvPr/>
        </p:nvSpPr>
        <p:spPr>
          <a:xfrm>
            <a:off x="4800600" y="2926080"/>
            <a:ext cx="320040" cy="822960"/>
          </a:xfrm>
          <a:prstGeom prst="rect">
            <a:avLst/>
          </a:prstGeom>
          <a:solidFill>
            <a:srgbClr val="7C3AED"/>
          </a:solidFill>
          <a:ln w="12700">
            <a:solidFill>
              <a:srgbClr val="7C3AED"/>
            </a:solidFill>
            <a:prstDash val="solid"/>
          </a:ln>
        </p:spPr>
      </p:sp>
      <p:sp>
        <p:nvSpPr>
          <p:cNvPr id="23" name="Text 21"/>
          <p:cNvSpPr/>
          <p:nvPr/>
        </p:nvSpPr>
        <p:spPr>
          <a:xfrm>
            <a:off x="5184648" y="2944368"/>
            <a:ext cx="374904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Expertos del dominio</a:t>
            </a:r>
            <a:endParaRPr lang="en-US" sz="1400" dirty="0"/>
          </a:p>
        </p:txBody>
      </p:sp>
      <p:sp>
        <p:nvSpPr>
          <p:cNvPr id="24" name="Text 22"/>
          <p:cNvSpPr/>
          <p:nvPr/>
        </p:nvSpPr>
        <p:spPr>
          <a:xfrm>
            <a:off x="5184648" y="3218688"/>
            <a:ext cx="3749040" cy="5029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Conocen el área de negocio sin usar el sistema directamente.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Estrategias y Tecnologías para el Aprendizaje</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TAC: Tecnologías para el Aprendizaje y el Conocimiento</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11 / 14</a:t>
            </a:r>
            <a:endParaRPr lang="en-US" sz="900" dirty="0"/>
          </a:p>
        </p:txBody>
      </p:sp>
      <p:sp>
        <p:nvSpPr>
          <p:cNvPr id="9" name="Shape 7"/>
          <p:cNvSpPr/>
          <p:nvPr/>
        </p:nvSpPr>
        <p:spPr>
          <a:xfrm>
            <a:off x="320040" y="1170432"/>
            <a:ext cx="4023360" cy="347472"/>
          </a:xfrm>
          <a:prstGeom prst="rect">
            <a:avLst/>
          </a:prstGeom>
          <a:solidFill>
            <a:srgbClr val="1A3557"/>
          </a:solidFill>
          <a:ln w="12700">
            <a:solidFill>
              <a:srgbClr val="1A3557"/>
            </a:solidFill>
            <a:prstDash val="solid"/>
          </a:ln>
        </p:spPr>
      </p:sp>
      <p:sp>
        <p:nvSpPr>
          <p:cNvPr id="10" name="Text 8"/>
          <p:cNvSpPr/>
          <p:nvPr/>
        </p:nvSpPr>
        <p:spPr>
          <a:xfrm>
            <a:off x="320040" y="1170432"/>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Estrategias Metodológicas</a:t>
            </a:r>
            <a:endParaRPr lang="en-US" sz="1400" dirty="0"/>
          </a:p>
        </p:txBody>
      </p:sp>
      <p:sp>
        <p:nvSpPr>
          <p:cNvPr id="11" name="Text 9"/>
          <p:cNvSpPr/>
          <p:nvPr/>
        </p:nvSpPr>
        <p:spPr>
          <a:xfrm>
            <a:off x="411480" y="1572768"/>
            <a:ext cx="3840480" cy="274320"/>
          </a:xfrm>
          <a:prstGeom prst="rect">
            <a:avLst/>
          </a:prstGeom>
          <a:noFill/>
          <a:ln/>
        </p:spPr>
        <p:txBody>
          <a:bodyPr wrap="square" lIns="0" tIns="0" rIns="0" bIns="0" rtlCol="0" anchor="ctr"/>
          <a:lstStyle/>
          <a:p>
            <a:pPr indent="0" marL="0">
              <a:buNone/>
            </a:pPr>
            <a:r>
              <a:rPr lang="en-US" sz="1400" b="1" dirty="0">
                <a:solidFill>
                  <a:srgbClr val="1A3557"/>
                </a:solidFill>
                <a:latin typeface="Calibri" pitchFamily="34" charset="0"/>
                <a:ea typeface="Calibri" pitchFamily="34" charset="-122"/>
                <a:cs typeface="Calibri" pitchFamily="34" charset="-120"/>
              </a:rPr>
              <a:t>🔧  Aprendizaje Basado en Problemas (ABP)</a:t>
            </a:r>
            <a:endParaRPr lang="en-US" sz="1400" dirty="0"/>
          </a:p>
        </p:txBody>
      </p:sp>
      <p:sp>
        <p:nvSpPr>
          <p:cNvPr id="12" name="Text 10"/>
          <p:cNvSpPr/>
          <p:nvPr/>
        </p:nvSpPr>
        <p:spPr>
          <a:xfrm>
            <a:off x="411480" y="1847088"/>
            <a:ext cx="384048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Se parte de un caso o problema real para motivar el aprendizaje.</a:t>
            </a:r>
            <a:endParaRPr lang="en-US" sz="1250" dirty="0"/>
          </a:p>
        </p:txBody>
      </p:sp>
      <p:sp>
        <p:nvSpPr>
          <p:cNvPr id="13" name="Shape 11"/>
          <p:cNvSpPr/>
          <p:nvPr/>
        </p:nvSpPr>
        <p:spPr>
          <a:xfrm>
            <a:off x="411480" y="2322576"/>
            <a:ext cx="3749040" cy="0"/>
          </a:xfrm>
          <a:prstGeom prst="line">
            <a:avLst/>
          </a:prstGeom>
          <a:noFill/>
          <a:ln w="10160">
            <a:solidFill>
              <a:srgbClr val="E2E8F0"/>
            </a:solidFill>
            <a:prstDash val="solid"/>
          </a:ln>
        </p:spPr>
      </p:sp>
      <p:sp>
        <p:nvSpPr>
          <p:cNvPr id="14" name="Text 12"/>
          <p:cNvSpPr/>
          <p:nvPr/>
        </p:nvSpPr>
        <p:spPr>
          <a:xfrm>
            <a:off x="411480" y="2395728"/>
            <a:ext cx="3840480" cy="274320"/>
          </a:xfrm>
          <a:prstGeom prst="rect">
            <a:avLst/>
          </a:prstGeom>
          <a:noFill/>
          <a:ln/>
        </p:spPr>
        <p:txBody>
          <a:bodyPr wrap="square" lIns="0" tIns="0" rIns="0" bIns="0" rtlCol="0" anchor="ctr"/>
          <a:lstStyle/>
          <a:p>
            <a:pPr indent="0" marL="0">
              <a:buNone/>
            </a:pPr>
            <a:r>
              <a:rPr lang="en-US" sz="1400" b="1" dirty="0">
                <a:solidFill>
                  <a:srgbClr val="1A3557"/>
                </a:solidFill>
                <a:latin typeface="Calibri" pitchFamily="34" charset="0"/>
                <a:ea typeface="Calibri" pitchFamily="34" charset="-122"/>
                <a:cs typeface="Calibri" pitchFamily="34" charset="-120"/>
              </a:rPr>
              <a:t>🔄  Aula Invertida (Flipped Classroom)</a:t>
            </a:r>
            <a:endParaRPr lang="en-US" sz="1400" dirty="0"/>
          </a:p>
        </p:txBody>
      </p:sp>
      <p:sp>
        <p:nvSpPr>
          <p:cNvPr id="15" name="Text 13"/>
          <p:cNvSpPr/>
          <p:nvPr/>
        </p:nvSpPr>
        <p:spPr>
          <a:xfrm>
            <a:off x="411480" y="2670048"/>
            <a:ext cx="384048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Los estudiantes revisan el contenido teórico en casa y practican en clase.</a:t>
            </a:r>
            <a:endParaRPr lang="en-US" sz="1250" dirty="0"/>
          </a:p>
        </p:txBody>
      </p:sp>
      <p:sp>
        <p:nvSpPr>
          <p:cNvPr id="16" name="Shape 14"/>
          <p:cNvSpPr/>
          <p:nvPr/>
        </p:nvSpPr>
        <p:spPr>
          <a:xfrm>
            <a:off x="411480" y="3145536"/>
            <a:ext cx="3749040" cy="0"/>
          </a:xfrm>
          <a:prstGeom prst="line">
            <a:avLst/>
          </a:prstGeom>
          <a:noFill/>
          <a:ln w="10160">
            <a:solidFill>
              <a:srgbClr val="E2E8F0"/>
            </a:solidFill>
            <a:prstDash val="solid"/>
          </a:ln>
        </p:spPr>
      </p:sp>
      <p:sp>
        <p:nvSpPr>
          <p:cNvPr id="17" name="Text 15"/>
          <p:cNvSpPr/>
          <p:nvPr/>
        </p:nvSpPr>
        <p:spPr>
          <a:xfrm>
            <a:off x="411480" y="3218688"/>
            <a:ext cx="3840480" cy="274320"/>
          </a:xfrm>
          <a:prstGeom prst="rect">
            <a:avLst/>
          </a:prstGeom>
          <a:noFill/>
          <a:ln/>
        </p:spPr>
        <p:txBody>
          <a:bodyPr wrap="square" lIns="0" tIns="0" rIns="0" bIns="0" rtlCol="0" anchor="ctr"/>
          <a:lstStyle/>
          <a:p>
            <a:pPr indent="0" marL="0">
              <a:buNone/>
            </a:pPr>
            <a:r>
              <a:rPr lang="en-US" sz="1400" b="1" dirty="0">
                <a:solidFill>
                  <a:srgbClr val="1A3557"/>
                </a:solidFill>
                <a:latin typeface="Calibri" pitchFamily="34" charset="0"/>
                <a:ea typeface="Calibri" pitchFamily="34" charset="-122"/>
                <a:cs typeface="Calibri" pitchFamily="34" charset="-120"/>
              </a:rPr>
              <a:t>💡  Design Thinking</a:t>
            </a:r>
            <a:endParaRPr lang="en-US" sz="1400" dirty="0"/>
          </a:p>
        </p:txBody>
      </p:sp>
      <p:sp>
        <p:nvSpPr>
          <p:cNvPr id="18" name="Text 16"/>
          <p:cNvSpPr/>
          <p:nvPr/>
        </p:nvSpPr>
        <p:spPr>
          <a:xfrm>
            <a:off x="411480" y="3493008"/>
            <a:ext cx="384048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Se aplica el mismo proceso creativo que se enseña como técnica de elicitación.</a:t>
            </a:r>
            <a:endParaRPr lang="en-US" sz="1250" dirty="0"/>
          </a:p>
        </p:txBody>
      </p:sp>
      <p:sp>
        <p:nvSpPr>
          <p:cNvPr id="19" name="Shape 17"/>
          <p:cNvSpPr/>
          <p:nvPr/>
        </p:nvSpPr>
        <p:spPr>
          <a:xfrm>
            <a:off x="4754880" y="1170432"/>
            <a:ext cx="4069080" cy="347472"/>
          </a:xfrm>
          <a:prstGeom prst="rect">
            <a:avLst/>
          </a:prstGeom>
          <a:solidFill>
            <a:srgbClr val="1B7FA1"/>
          </a:solidFill>
          <a:ln w="12700">
            <a:solidFill>
              <a:srgbClr val="1B7FA1"/>
            </a:solidFill>
            <a:prstDash val="solid"/>
          </a:ln>
        </p:spPr>
      </p:sp>
      <p:sp>
        <p:nvSpPr>
          <p:cNvPr id="20" name="Text 18"/>
          <p:cNvSpPr/>
          <p:nvPr/>
        </p:nvSpPr>
        <p:spPr>
          <a:xfrm>
            <a:off x="4754880" y="1170432"/>
            <a:ext cx="4069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TAC — Herramientas Digitales</a:t>
            </a:r>
            <a:endParaRPr lang="en-US" sz="1400" dirty="0"/>
          </a:p>
        </p:txBody>
      </p:sp>
      <p:sp>
        <p:nvSpPr>
          <p:cNvPr id="21" name="Text 19"/>
          <p:cNvSpPr/>
          <p:nvPr/>
        </p:nvSpPr>
        <p:spPr>
          <a:xfrm>
            <a:off x="4846320" y="1572768"/>
            <a:ext cx="3886200" cy="274320"/>
          </a:xfrm>
          <a:prstGeom prst="rect">
            <a:avLst/>
          </a:prstGeom>
          <a:noFill/>
          <a:ln/>
        </p:spPr>
        <p:txBody>
          <a:bodyPr wrap="square" lIns="0" tIns="0" rIns="0" bIns="0" rtlCol="0" anchor="ctr"/>
          <a:lstStyle/>
          <a:p>
            <a:pPr indent="0" marL="0">
              <a:buNone/>
            </a:pPr>
            <a:r>
              <a:rPr lang="en-US" sz="1400" b="1" dirty="0">
                <a:solidFill>
                  <a:srgbClr val="1B7FA1"/>
                </a:solidFill>
                <a:latin typeface="Calibri" pitchFamily="34" charset="0"/>
                <a:ea typeface="Calibri" pitchFamily="34" charset="-122"/>
                <a:cs typeface="Calibri" pitchFamily="34" charset="-120"/>
              </a:rPr>
              <a:t>🖥️  LMS: Sistema de Gestión de Aprendizaje</a:t>
            </a:r>
            <a:endParaRPr lang="en-US" sz="1400" dirty="0"/>
          </a:p>
        </p:txBody>
      </p:sp>
      <p:sp>
        <p:nvSpPr>
          <p:cNvPr id="22" name="Text 20"/>
          <p:cNvSpPr/>
          <p:nvPr/>
        </p:nvSpPr>
        <p:spPr>
          <a:xfrm>
            <a:off x="4846320" y="1847088"/>
            <a:ext cx="388620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Moodle, Canvas — repositorio de materiales y entrega de actividades.</a:t>
            </a:r>
            <a:endParaRPr lang="en-US" sz="1250" dirty="0"/>
          </a:p>
        </p:txBody>
      </p:sp>
      <p:sp>
        <p:nvSpPr>
          <p:cNvPr id="23" name="Shape 21"/>
          <p:cNvSpPr/>
          <p:nvPr/>
        </p:nvSpPr>
        <p:spPr>
          <a:xfrm>
            <a:off x="4846320" y="2322576"/>
            <a:ext cx="3749040" cy="0"/>
          </a:xfrm>
          <a:prstGeom prst="line">
            <a:avLst/>
          </a:prstGeom>
          <a:noFill/>
          <a:ln w="10160">
            <a:solidFill>
              <a:srgbClr val="E2E8F0"/>
            </a:solidFill>
            <a:prstDash val="solid"/>
          </a:ln>
        </p:spPr>
      </p:sp>
      <p:sp>
        <p:nvSpPr>
          <p:cNvPr id="24" name="Text 22"/>
          <p:cNvSpPr/>
          <p:nvPr/>
        </p:nvSpPr>
        <p:spPr>
          <a:xfrm>
            <a:off x="4846320" y="2395728"/>
            <a:ext cx="3886200" cy="274320"/>
          </a:xfrm>
          <a:prstGeom prst="rect">
            <a:avLst/>
          </a:prstGeom>
          <a:noFill/>
          <a:ln/>
        </p:spPr>
        <p:txBody>
          <a:bodyPr wrap="square" lIns="0" tIns="0" rIns="0" bIns="0" rtlCol="0" anchor="ctr"/>
          <a:lstStyle/>
          <a:p>
            <a:pPr indent="0" marL="0">
              <a:buNone/>
            </a:pPr>
            <a:r>
              <a:rPr lang="en-US" sz="1400" b="1" dirty="0">
                <a:solidFill>
                  <a:srgbClr val="1B7FA1"/>
                </a:solidFill>
                <a:latin typeface="Calibri" pitchFamily="34" charset="0"/>
                <a:ea typeface="Calibri" pitchFamily="34" charset="-122"/>
                <a:cs typeface="Calibri" pitchFamily="34" charset="-120"/>
              </a:rPr>
              <a:t>🎨  Herramientas de ideación y prototipado</a:t>
            </a:r>
            <a:endParaRPr lang="en-US" sz="1400" dirty="0"/>
          </a:p>
        </p:txBody>
      </p:sp>
      <p:sp>
        <p:nvSpPr>
          <p:cNvPr id="25" name="Text 23"/>
          <p:cNvSpPr/>
          <p:nvPr/>
        </p:nvSpPr>
        <p:spPr>
          <a:xfrm>
            <a:off x="4846320" y="2670048"/>
            <a:ext cx="388620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Figma, Miro, Balsamiq — crean wireframes y mapas mentales colaborativos.</a:t>
            </a:r>
            <a:endParaRPr lang="en-US" sz="1250" dirty="0"/>
          </a:p>
        </p:txBody>
      </p:sp>
      <p:sp>
        <p:nvSpPr>
          <p:cNvPr id="26" name="Shape 24"/>
          <p:cNvSpPr/>
          <p:nvPr/>
        </p:nvSpPr>
        <p:spPr>
          <a:xfrm>
            <a:off x="4846320" y="3145536"/>
            <a:ext cx="3749040" cy="0"/>
          </a:xfrm>
          <a:prstGeom prst="line">
            <a:avLst/>
          </a:prstGeom>
          <a:noFill/>
          <a:ln w="10160">
            <a:solidFill>
              <a:srgbClr val="E2E8F0"/>
            </a:solidFill>
            <a:prstDash val="solid"/>
          </a:ln>
        </p:spPr>
      </p:sp>
      <p:sp>
        <p:nvSpPr>
          <p:cNvPr id="27" name="Text 25"/>
          <p:cNvSpPr/>
          <p:nvPr/>
        </p:nvSpPr>
        <p:spPr>
          <a:xfrm>
            <a:off x="4846320" y="3218688"/>
            <a:ext cx="3886200" cy="274320"/>
          </a:xfrm>
          <a:prstGeom prst="rect">
            <a:avLst/>
          </a:prstGeom>
          <a:noFill/>
          <a:ln/>
        </p:spPr>
        <p:txBody>
          <a:bodyPr wrap="square" lIns="0" tIns="0" rIns="0" bIns="0" rtlCol="0" anchor="ctr"/>
          <a:lstStyle/>
          <a:p>
            <a:pPr indent="0" marL="0">
              <a:buNone/>
            </a:pPr>
            <a:r>
              <a:rPr lang="en-US" sz="1400" b="1" dirty="0">
                <a:solidFill>
                  <a:srgbClr val="1B7FA1"/>
                </a:solidFill>
                <a:latin typeface="Calibri" pitchFamily="34" charset="0"/>
                <a:ea typeface="Calibri" pitchFamily="34" charset="-122"/>
                <a:cs typeface="Calibri" pitchFamily="34" charset="-120"/>
              </a:rPr>
              <a:t>📡  Plataformas de comunicación grupal</a:t>
            </a:r>
            <a:endParaRPr lang="en-US" sz="1400" dirty="0"/>
          </a:p>
        </p:txBody>
      </p:sp>
      <p:sp>
        <p:nvSpPr>
          <p:cNvPr id="28" name="Text 26"/>
          <p:cNvSpPr/>
          <p:nvPr/>
        </p:nvSpPr>
        <p:spPr>
          <a:xfrm>
            <a:off x="4846320" y="3493008"/>
            <a:ext cx="3886200" cy="45720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Slack, Teams, Discord — gestión de equipos y flujos de trabajo ágiles.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Mecanismos de Evaluación y Actividades</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¿Cómo se evaluará esta semana?</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12 / 14</a:t>
            </a:r>
            <a:endParaRPr lang="en-US" sz="900" dirty="0"/>
          </a:p>
        </p:txBody>
      </p:sp>
      <p:sp>
        <p:nvSpPr>
          <p:cNvPr id="9" name="Shape 7"/>
          <p:cNvSpPr/>
          <p:nvPr/>
        </p:nvSpPr>
        <p:spPr>
          <a:xfrm>
            <a:off x="320040" y="1188720"/>
            <a:ext cx="8503920" cy="1097280"/>
          </a:xfrm>
          <a:prstGeom prst="rect">
            <a:avLst/>
          </a:prstGeom>
          <a:solidFill>
            <a:srgbClr val="E8F4F8"/>
          </a:solidFill>
          <a:ln w="19050">
            <a:solidFill>
              <a:srgbClr val="1A3557"/>
            </a:solidFill>
            <a:prstDash val="solid"/>
          </a:ln>
        </p:spPr>
      </p:sp>
      <p:sp>
        <p:nvSpPr>
          <p:cNvPr id="10" name="Shape 8"/>
          <p:cNvSpPr/>
          <p:nvPr/>
        </p:nvSpPr>
        <p:spPr>
          <a:xfrm>
            <a:off x="320040" y="1188720"/>
            <a:ext cx="137160" cy="1097280"/>
          </a:xfrm>
          <a:prstGeom prst="rect">
            <a:avLst/>
          </a:prstGeom>
          <a:solidFill>
            <a:srgbClr val="1A3557"/>
          </a:solidFill>
          <a:ln w="12700">
            <a:solidFill>
              <a:srgbClr val="1A3557"/>
            </a:solidFill>
            <a:prstDash val="solid"/>
          </a:ln>
        </p:spPr>
      </p:sp>
      <p:sp>
        <p:nvSpPr>
          <p:cNvPr id="11" name="Text 9"/>
          <p:cNvSpPr/>
          <p:nvPr/>
        </p:nvSpPr>
        <p:spPr>
          <a:xfrm>
            <a:off x="594360" y="1243584"/>
            <a:ext cx="8138160" cy="27432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GA — Taller</a:t>
            </a:r>
            <a:endParaRPr lang="en-US" sz="1500" dirty="0"/>
          </a:p>
        </p:txBody>
      </p:sp>
      <p:sp>
        <p:nvSpPr>
          <p:cNvPr id="12" name="Text 10"/>
          <p:cNvSpPr/>
          <p:nvPr/>
        </p:nvSpPr>
        <p:spPr>
          <a:xfrm>
            <a:off x="594360" y="1536192"/>
            <a:ext cx="8138160" cy="71323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Aplicar entrevista estructurada y Design Thinking al sistema del proyecto final. Entregar guión de entrevista + mapa de empatía completado.</a:t>
            </a:r>
            <a:endParaRPr lang="en-US" sz="1400" dirty="0"/>
          </a:p>
        </p:txBody>
      </p:sp>
      <p:sp>
        <p:nvSpPr>
          <p:cNvPr id="13" name="Shape 11"/>
          <p:cNvSpPr/>
          <p:nvPr/>
        </p:nvSpPr>
        <p:spPr>
          <a:xfrm>
            <a:off x="320040" y="2423160"/>
            <a:ext cx="8503920" cy="1097280"/>
          </a:xfrm>
          <a:prstGeom prst="rect">
            <a:avLst/>
          </a:prstGeom>
          <a:solidFill>
            <a:srgbClr val="E8F4F8"/>
          </a:solidFill>
          <a:ln w="19050">
            <a:solidFill>
              <a:srgbClr val="1B7FA1"/>
            </a:solidFill>
            <a:prstDash val="solid"/>
          </a:ln>
        </p:spPr>
      </p:sp>
      <p:sp>
        <p:nvSpPr>
          <p:cNvPr id="14" name="Shape 12"/>
          <p:cNvSpPr/>
          <p:nvPr/>
        </p:nvSpPr>
        <p:spPr>
          <a:xfrm>
            <a:off x="320040" y="2423160"/>
            <a:ext cx="137160" cy="1097280"/>
          </a:xfrm>
          <a:prstGeom prst="rect">
            <a:avLst/>
          </a:prstGeom>
          <a:solidFill>
            <a:srgbClr val="1B7FA1"/>
          </a:solidFill>
          <a:ln w="12700">
            <a:solidFill>
              <a:srgbClr val="1B7FA1"/>
            </a:solidFill>
            <a:prstDash val="solid"/>
          </a:ln>
        </p:spPr>
      </p:sp>
      <p:sp>
        <p:nvSpPr>
          <p:cNvPr id="15" name="Text 13"/>
          <p:cNvSpPr/>
          <p:nvPr/>
        </p:nvSpPr>
        <p:spPr>
          <a:xfrm>
            <a:off x="594360" y="2478024"/>
            <a:ext cx="8138160" cy="27432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GA — Exposición</a:t>
            </a:r>
            <a:endParaRPr lang="en-US" sz="1500" dirty="0"/>
          </a:p>
        </p:txBody>
      </p:sp>
      <p:sp>
        <p:nvSpPr>
          <p:cNvPr id="16" name="Text 14"/>
          <p:cNvSpPr/>
          <p:nvPr/>
        </p:nvSpPr>
        <p:spPr>
          <a:xfrm>
            <a:off x="594360" y="2770632"/>
            <a:ext cx="8138160" cy="71323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Exposición sobre herramientas automatizadas para la IR (por ejemplo: Jira, Confluence, RequisitePro, Doors Next). Duración: 10 minutos por grupo.</a:t>
            </a:r>
            <a:endParaRPr lang="en-US" sz="1400" dirty="0"/>
          </a:p>
        </p:txBody>
      </p:sp>
      <p:sp>
        <p:nvSpPr>
          <p:cNvPr id="17" name="Shape 15"/>
          <p:cNvSpPr/>
          <p:nvPr/>
        </p:nvSpPr>
        <p:spPr>
          <a:xfrm>
            <a:off x="320040" y="3657600"/>
            <a:ext cx="8503920" cy="1097280"/>
          </a:xfrm>
          <a:prstGeom prst="rect">
            <a:avLst/>
          </a:prstGeom>
          <a:solidFill>
            <a:srgbClr val="E8F4F8"/>
          </a:solidFill>
          <a:ln w="19050">
            <a:solidFill>
              <a:srgbClr val="F0A500"/>
            </a:solidFill>
            <a:prstDash val="solid"/>
          </a:ln>
        </p:spPr>
      </p:sp>
      <p:sp>
        <p:nvSpPr>
          <p:cNvPr id="18" name="Shape 16"/>
          <p:cNvSpPr/>
          <p:nvPr/>
        </p:nvSpPr>
        <p:spPr>
          <a:xfrm>
            <a:off x="320040" y="3657600"/>
            <a:ext cx="137160" cy="1097280"/>
          </a:xfrm>
          <a:prstGeom prst="rect">
            <a:avLst/>
          </a:prstGeom>
          <a:solidFill>
            <a:srgbClr val="F0A500"/>
          </a:solidFill>
          <a:ln w="12700">
            <a:solidFill>
              <a:srgbClr val="F0A500"/>
            </a:solidFill>
            <a:prstDash val="solid"/>
          </a:ln>
        </p:spPr>
      </p:sp>
      <p:sp>
        <p:nvSpPr>
          <p:cNvPr id="19" name="Text 17"/>
          <p:cNvSpPr/>
          <p:nvPr/>
        </p:nvSpPr>
        <p:spPr>
          <a:xfrm>
            <a:off x="594360" y="3712464"/>
            <a:ext cx="8138160" cy="27432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TA — Proyecto: Entrega 1A</a:t>
            </a:r>
            <a:endParaRPr lang="en-US" sz="1500" dirty="0"/>
          </a:p>
        </p:txBody>
      </p:sp>
      <p:sp>
        <p:nvSpPr>
          <p:cNvPr id="20" name="Text 18"/>
          <p:cNvSpPr/>
          <p:nvPr/>
        </p:nvSpPr>
        <p:spPr>
          <a:xfrm>
            <a:off x="594360" y="4005072"/>
            <a:ext cx="8138160" cy="713232"/>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Proyecto Fin de Curso — Entrega 1A: Planificación y Elicitación de Requisitos. Incluye plan de elicitación, actas de entrevistas y lista inicial de requisitos.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A3557"/>
          </a:solidFill>
          <a:ln w="12700">
            <a:solidFill>
              <a:srgbClr val="1A3557"/>
            </a:solidFill>
            <a:prstDash val="solid"/>
          </a:ln>
        </p:spPr>
      </p:sp>
      <p:sp>
        <p:nvSpPr>
          <p:cNvPr id="3" name="Shape 1"/>
          <p:cNvSpPr/>
          <p:nvPr/>
        </p:nvSpPr>
        <p:spPr>
          <a:xfrm>
            <a:off x="0" y="960120"/>
            <a:ext cx="9144000" cy="91440"/>
          </a:xfrm>
          <a:prstGeom prst="rect">
            <a:avLst/>
          </a:prstGeom>
          <a:solidFill>
            <a:srgbClr val="F0A500"/>
          </a:solidFill>
          <a:ln w="12700">
            <a:solidFill>
              <a:srgbClr val="F0A500"/>
            </a:solidFill>
            <a:prstDash val="solid"/>
          </a:ln>
        </p:spPr>
      </p:sp>
      <p:sp>
        <p:nvSpPr>
          <p:cNvPr id="4" name="Text 2"/>
          <p:cNvSpPr/>
          <p:nvPr/>
        </p:nvSpPr>
        <p:spPr>
          <a:xfrm>
            <a:off x="320040" y="73152"/>
            <a:ext cx="85039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Referencias Bibliográficas</a:t>
            </a:r>
            <a:endParaRPr lang="en-US" sz="2600" dirty="0"/>
          </a:p>
        </p:txBody>
      </p:sp>
      <p:sp>
        <p:nvSpPr>
          <p:cNvPr id="5" name="Text 3"/>
          <p:cNvSpPr/>
          <p:nvPr/>
        </p:nvSpPr>
        <p:spPr>
          <a:xfrm>
            <a:off x="320040" y="658368"/>
            <a:ext cx="8503920" cy="292608"/>
          </a:xfrm>
          <a:prstGeom prst="rect">
            <a:avLst/>
          </a:prstGeom>
          <a:noFill/>
          <a:ln/>
        </p:spPr>
        <p:txBody>
          <a:bodyPr wrap="square" lIns="0" tIns="0" rIns="0" bIns="0" rtlCol="0" anchor="ctr"/>
          <a:lstStyle/>
          <a:p>
            <a:pPr indent="0" marL="0">
              <a:buNone/>
            </a:pPr>
            <a:r>
              <a:rPr lang="en-US" sz="1300" i="1" dirty="0">
                <a:solidFill>
                  <a:srgbClr val="F0A500"/>
                </a:solidFill>
                <a:latin typeface="Calibri" pitchFamily="34" charset="0"/>
                <a:ea typeface="Calibri" pitchFamily="34" charset="-122"/>
                <a:cs typeface="Calibri" pitchFamily="34" charset="-120"/>
              </a:rPr>
              <a:t>Fuentes para profundizar</a:t>
            </a:r>
            <a:endParaRPr lang="en-US" sz="1300" dirty="0"/>
          </a:p>
        </p:txBody>
      </p:sp>
      <p:sp>
        <p:nvSpPr>
          <p:cNvPr id="6" name="Shape 4"/>
          <p:cNvSpPr/>
          <p:nvPr/>
        </p:nvSpPr>
        <p:spPr>
          <a:xfrm>
            <a:off x="0" y="4892040"/>
            <a:ext cx="9144000" cy="251460"/>
          </a:xfrm>
          <a:prstGeom prst="rect">
            <a:avLst/>
          </a:prstGeom>
          <a:solidFill>
            <a:srgbClr val="1A3557"/>
          </a:solidFill>
          <a:ln w="12700">
            <a:solidFill>
              <a:srgbClr val="1A3557"/>
            </a:solidFill>
            <a:prstDash val="solid"/>
          </a:ln>
        </p:spPr>
      </p:sp>
      <p:sp>
        <p:nvSpPr>
          <p:cNvPr id="7" name="Text 5"/>
          <p:cNvSpPr/>
          <p:nvPr/>
        </p:nvSpPr>
        <p:spPr>
          <a:xfrm>
            <a:off x="228600" y="4892040"/>
            <a:ext cx="7315200" cy="251460"/>
          </a:xfrm>
          <a:prstGeom prst="rect">
            <a:avLst/>
          </a:prstGeom>
          <a:noFill/>
          <a:ln/>
        </p:spPr>
        <p:txBody>
          <a:bodyPr wrap="square" lIns="0" tIns="0" rIns="0" bIns="0" rtlCol="0" anchor="ctr"/>
          <a:lstStyle/>
          <a:p>
            <a:pPr indent="0" marL="0">
              <a:buNone/>
            </a:pPr>
            <a:r>
              <a:rPr lang="en-US" sz="900" dirty="0">
                <a:solidFill>
                  <a:srgbClr val="E8F4F8"/>
                </a:solidFill>
                <a:latin typeface="Calibri" pitchFamily="34" charset="0"/>
                <a:ea typeface="Calibri" pitchFamily="34" charset="-122"/>
                <a:cs typeface="Calibri" pitchFamily="34" charset="-120"/>
              </a:rPr>
              <a:t>UTEQ · Ingeniería de Requerimientos · Semana 4 · 2026</a:t>
            </a:r>
            <a:endParaRPr lang="en-US" sz="900" dirty="0"/>
          </a:p>
        </p:txBody>
      </p:sp>
      <p:sp>
        <p:nvSpPr>
          <p:cNvPr id="8" name="Text 6"/>
          <p:cNvSpPr/>
          <p:nvPr/>
        </p:nvSpPr>
        <p:spPr>
          <a:xfrm>
            <a:off x="7772400" y="4892040"/>
            <a:ext cx="1143000" cy="251460"/>
          </a:xfrm>
          <a:prstGeom prst="rect">
            <a:avLst/>
          </a:prstGeom>
          <a:noFill/>
          <a:ln/>
        </p:spPr>
        <p:txBody>
          <a:bodyPr wrap="square" lIns="0" tIns="0" rIns="0" bIns="0" rtlCol="0" anchor="ctr"/>
          <a:lstStyle/>
          <a:p>
            <a:pPr algn="r" indent="0" marL="0">
              <a:buNone/>
            </a:pPr>
            <a:r>
              <a:rPr lang="en-US" sz="900" dirty="0">
                <a:solidFill>
                  <a:srgbClr val="F0A500"/>
                </a:solidFill>
                <a:latin typeface="Calibri" pitchFamily="34" charset="0"/>
                <a:ea typeface="Calibri" pitchFamily="34" charset="-122"/>
                <a:cs typeface="Calibri" pitchFamily="34" charset="-120"/>
              </a:rPr>
              <a:t>13 / 14</a:t>
            </a:r>
            <a:endParaRPr lang="en-US" sz="900" dirty="0"/>
          </a:p>
        </p:txBody>
      </p:sp>
      <p:sp>
        <p:nvSpPr>
          <p:cNvPr id="9" name="Text 7"/>
          <p:cNvSpPr/>
          <p:nvPr/>
        </p:nvSpPr>
        <p:spPr>
          <a:xfrm>
            <a:off x="320040" y="1170432"/>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731520" y="1170432"/>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Pressman, R. S. (2010). Ingeniería del Software. McGraw-Hill.</a:t>
            </a:r>
            <a:endParaRPr lang="en-US" sz="1250" dirty="0"/>
          </a:p>
        </p:txBody>
      </p:sp>
      <p:sp>
        <p:nvSpPr>
          <p:cNvPr id="11" name="Shape 9"/>
          <p:cNvSpPr/>
          <p:nvPr/>
        </p:nvSpPr>
        <p:spPr>
          <a:xfrm>
            <a:off x="320040" y="1591056"/>
            <a:ext cx="8503920" cy="0"/>
          </a:xfrm>
          <a:prstGeom prst="line">
            <a:avLst/>
          </a:prstGeom>
          <a:noFill/>
          <a:ln w="6350">
            <a:solidFill>
              <a:srgbClr val="E2E8F0"/>
            </a:solidFill>
            <a:prstDash val="solid"/>
          </a:ln>
        </p:spPr>
      </p:sp>
      <p:sp>
        <p:nvSpPr>
          <p:cNvPr id="12" name="Text 10"/>
          <p:cNvSpPr/>
          <p:nvPr/>
        </p:nvSpPr>
        <p:spPr>
          <a:xfrm>
            <a:off x="320040" y="1591056"/>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731520" y="1591056"/>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Sommerville, I. (2011). Ingeniería de Software. Pearson.</a:t>
            </a:r>
            <a:endParaRPr lang="en-US" sz="1250" dirty="0"/>
          </a:p>
        </p:txBody>
      </p:sp>
      <p:sp>
        <p:nvSpPr>
          <p:cNvPr id="14" name="Shape 12"/>
          <p:cNvSpPr/>
          <p:nvPr/>
        </p:nvSpPr>
        <p:spPr>
          <a:xfrm>
            <a:off x="320040" y="2011680"/>
            <a:ext cx="8503920" cy="0"/>
          </a:xfrm>
          <a:prstGeom prst="line">
            <a:avLst/>
          </a:prstGeom>
          <a:noFill/>
          <a:ln w="6350">
            <a:solidFill>
              <a:srgbClr val="E2E8F0"/>
            </a:solidFill>
            <a:prstDash val="solid"/>
          </a:ln>
        </p:spPr>
      </p:sp>
      <p:sp>
        <p:nvSpPr>
          <p:cNvPr id="15" name="Text 13"/>
          <p:cNvSpPr/>
          <p:nvPr/>
        </p:nvSpPr>
        <p:spPr>
          <a:xfrm>
            <a:off x="320040" y="2011680"/>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731520" y="2011680"/>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IEEE/ISO/IEC 29148:2018 — Requirements Engineering. IEEE. doi:10.1109/IEEESTD.2018</a:t>
            </a:r>
            <a:endParaRPr lang="en-US" sz="1250" dirty="0"/>
          </a:p>
        </p:txBody>
      </p:sp>
      <p:sp>
        <p:nvSpPr>
          <p:cNvPr id="17" name="Shape 15"/>
          <p:cNvSpPr/>
          <p:nvPr/>
        </p:nvSpPr>
        <p:spPr>
          <a:xfrm>
            <a:off x="320040" y="2432304"/>
            <a:ext cx="8503920" cy="0"/>
          </a:xfrm>
          <a:prstGeom prst="line">
            <a:avLst/>
          </a:prstGeom>
          <a:noFill/>
          <a:ln w="6350">
            <a:solidFill>
              <a:srgbClr val="E2E8F0"/>
            </a:solidFill>
            <a:prstDash val="solid"/>
          </a:ln>
        </p:spPr>
      </p:sp>
      <p:sp>
        <p:nvSpPr>
          <p:cNvPr id="18" name="Text 16"/>
          <p:cNvSpPr/>
          <p:nvPr/>
        </p:nvSpPr>
        <p:spPr>
          <a:xfrm>
            <a:off x="320040" y="2432304"/>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731520" y="2432304"/>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IEEE/ISO/IEC 15288:2023 — System Life Cycle Processes. IEEE.</a:t>
            </a:r>
            <a:endParaRPr lang="en-US" sz="1250" dirty="0"/>
          </a:p>
        </p:txBody>
      </p:sp>
      <p:sp>
        <p:nvSpPr>
          <p:cNvPr id="20" name="Shape 18"/>
          <p:cNvSpPr/>
          <p:nvPr/>
        </p:nvSpPr>
        <p:spPr>
          <a:xfrm>
            <a:off x="320040" y="2852928"/>
            <a:ext cx="8503920" cy="0"/>
          </a:xfrm>
          <a:prstGeom prst="line">
            <a:avLst/>
          </a:prstGeom>
          <a:noFill/>
          <a:ln w="6350">
            <a:solidFill>
              <a:srgbClr val="E2E8F0"/>
            </a:solidFill>
            <a:prstDash val="solid"/>
          </a:ln>
        </p:spPr>
      </p:sp>
      <p:sp>
        <p:nvSpPr>
          <p:cNvPr id="21" name="Text 19"/>
          <p:cNvSpPr/>
          <p:nvPr/>
        </p:nvSpPr>
        <p:spPr>
          <a:xfrm>
            <a:off x="320040" y="2852928"/>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731520" y="2852928"/>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ISO/IEC 25010:2023 — Systems and Software Quality (SQuaRE). ISO.</a:t>
            </a:r>
            <a:endParaRPr lang="en-US" sz="1250" dirty="0"/>
          </a:p>
        </p:txBody>
      </p:sp>
      <p:sp>
        <p:nvSpPr>
          <p:cNvPr id="23" name="Shape 21"/>
          <p:cNvSpPr/>
          <p:nvPr/>
        </p:nvSpPr>
        <p:spPr>
          <a:xfrm>
            <a:off x="320040" y="3273552"/>
            <a:ext cx="8503920" cy="0"/>
          </a:xfrm>
          <a:prstGeom prst="line">
            <a:avLst/>
          </a:prstGeom>
          <a:noFill/>
          <a:ln w="6350">
            <a:solidFill>
              <a:srgbClr val="E2E8F0"/>
            </a:solidFill>
            <a:prstDash val="solid"/>
          </a:ln>
        </p:spPr>
      </p:sp>
      <p:sp>
        <p:nvSpPr>
          <p:cNvPr id="24" name="Text 22"/>
          <p:cNvSpPr/>
          <p:nvPr/>
        </p:nvSpPr>
        <p:spPr>
          <a:xfrm>
            <a:off x="320040" y="3273552"/>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731520" y="3273552"/>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Laplante, P. (2009). Requirements Engineering for Software and Systems. CRC Press.</a:t>
            </a:r>
            <a:endParaRPr lang="en-US" sz="1250" dirty="0"/>
          </a:p>
        </p:txBody>
      </p:sp>
      <p:sp>
        <p:nvSpPr>
          <p:cNvPr id="26" name="Shape 24"/>
          <p:cNvSpPr/>
          <p:nvPr/>
        </p:nvSpPr>
        <p:spPr>
          <a:xfrm>
            <a:off x="320040" y="3694176"/>
            <a:ext cx="8503920" cy="0"/>
          </a:xfrm>
          <a:prstGeom prst="line">
            <a:avLst/>
          </a:prstGeom>
          <a:noFill/>
          <a:ln w="6350">
            <a:solidFill>
              <a:srgbClr val="E2E8F0"/>
            </a:solidFill>
            <a:prstDash val="solid"/>
          </a:ln>
        </p:spPr>
      </p:sp>
      <p:sp>
        <p:nvSpPr>
          <p:cNvPr id="27" name="Text 25"/>
          <p:cNvSpPr/>
          <p:nvPr/>
        </p:nvSpPr>
        <p:spPr>
          <a:xfrm>
            <a:off x="320040" y="3694176"/>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[7]</a:t>
            </a:r>
            <a:endParaRPr lang="en-US" sz="1200" dirty="0"/>
          </a:p>
        </p:txBody>
      </p:sp>
      <p:sp>
        <p:nvSpPr>
          <p:cNvPr id="28" name="Text 26"/>
          <p:cNvSpPr/>
          <p:nvPr/>
        </p:nvSpPr>
        <p:spPr>
          <a:xfrm>
            <a:off x="731520" y="3694176"/>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Pohl, K. (2010). Requirements Engineering. Springer.</a:t>
            </a:r>
            <a:endParaRPr lang="en-US" sz="1250" dirty="0"/>
          </a:p>
        </p:txBody>
      </p:sp>
      <p:sp>
        <p:nvSpPr>
          <p:cNvPr id="29" name="Shape 27"/>
          <p:cNvSpPr/>
          <p:nvPr/>
        </p:nvSpPr>
        <p:spPr>
          <a:xfrm>
            <a:off x="320040" y="4114800"/>
            <a:ext cx="8503920" cy="0"/>
          </a:xfrm>
          <a:prstGeom prst="line">
            <a:avLst/>
          </a:prstGeom>
          <a:noFill/>
          <a:ln w="6350">
            <a:solidFill>
              <a:srgbClr val="E2E8F0"/>
            </a:solidFill>
            <a:prstDash val="solid"/>
          </a:ln>
        </p:spPr>
      </p:sp>
      <p:sp>
        <p:nvSpPr>
          <p:cNvPr id="30" name="Text 28"/>
          <p:cNvSpPr/>
          <p:nvPr/>
        </p:nvSpPr>
        <p:spPr>
          <a:xfrm>
            <a:off x="320040" y="4114800"/>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[8]</a:t>
            </a:r>
            <a:endParaRPr lang="en-US" sz="1200" dirty="0"/>
          </a:p>
        </p:txBody>
      </p:sp>
      <p:sp>
        <p:nvSpPr>
          <p:cNvPr id="31" name="Text 29"/>
          <p:cNvSpPr/>
          <p:nvPr/>
        </p:nvSpPr>
        <p:spPr>
          <a:xfrm>
            <a:off x="731520" y="4114800"/>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Robertson, J. (2025). Mastering the Requirements Process. Pearson Education.</a:t>
            </a:r>
            <a:endParaRPr lang="en-US" sz="1250" dirty="0"/>
          </a:p>
        </p:txBody>
      </p:sp>
      <p:sp>
        <p:nvSpPr>
          <p:cNvPr id="32" name="Shape 30"/>
          <p:cNvSpPr/>
          <p:nvPr/>
        </p:nvSpPr>
        <p:spPr>
          <a:xfrm>
            <a:off x="320040" y="4535424"/>
            <a:ext cx="8503920" cy="0"/>
          </a:xfrm>
          <a:prstGeom prst="line">
            <a:avLst/>
          </a:prstGeom>
          <a:noFill/>
          <a:ln w="6350">
            <a:solidFill>
              <a:srgbClr val="E2E8F0"/>
            </a:solidFill>
            <a:prstDash val="solid"/>
          </a:ln>
        </p:spPr>
      </p:sp>
      <p:sp>
        <p:nvSpPr>
          <p:cNvPr id="33" name="Text 31"/>
          <p:cNvSpPr/>
          <p:nvPr/>
        </p:nvSpPr>
        <p:spPr>
          <a:xfrm>
            <a:off x="320040" y="4535424"/>
            <a:ext cx="365760" cy="384048"/>
          </a:xfrm>
          <a:prstGeom prst="rect">
            <a:avLst/>
          </a:prstGeom>
          <a:noFill/>
          <a:ln/>
        </p:spPr>
        <p:txBody>
          <a:bodyPr wrap="square" lIns="0" tIns="0" rIns="0" bIns="0" rtlCol="0" anchor="ctr"/>
          <a:lstStyle/>
          <a:p>
            <a:pPr algn="ctr" indent="0" marL="0">
              <a:buNone/>
            </a:pPr>
            <a:r>
              <a:rPr lang="en-US" sz="1200" b="1" dirty="0">
                <a:solidFill>
                  <a:srgbClr val="1B7FA1"/>
                </a:solidFill>
                <a:latin typeface="Calibri" pitchFamily="34" charset="0"/>
                <a:ea typeface="Calibri" pitchFamily="34" charset="-122"/>
                <a:cs typeface="Calibri" pitchFamily="34" charset="-120"/>
              </a:rPr>
              <a:t>[9]</a:t>
            </a:r>
            <a:endParaRPr lang="en-US" sz="1200" dirty="0"/>
          </a:p>
        </p:txBody>
      </p:sp>
      <p:sp>
        <p:nvSpPr>
          <p:cNvPr id="34" name="Text 32"/>
          <p:cNvSpPr/>
          <p:nvPr/>
        </p:nvSpPr>
        <p:spPr>
          <a:xfrm>
            <a:off x="731520" y="4535424"/>
            <a:ext cx="8092440" cy="38404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Washizaki, H. (Ed.). (2024). SWEBOK Guide v4.0. IEEE Computer Society.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557"/>
        </a:solidFill>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F0A500"/>
          </a:solidFill>
          <a:ln w="12700">
            <a:solidFill>
              <a:srgbClr val="F0A500"/>
            </a:solidFill>
            <a:prstDash val="solid"/>
          </a:ln>
        </p:spPr>
      </p:sp>
      <p:sp>
        <p:nvSpPr>
          <p:cNvPr id="3" name="Shape 1"/>
          <p:cNvSpPr/>
          <p:nvPr/>
        </p:nvSpPr>
        <p:spPr>
          <a:xfrm>
            <a:off x="0" y="4960620"/>
            <a:ext cx="9144000" cy="182880"/>
          </a:xfrm>
          <a:prstGeom prst="rect">
            <a:avLst/>
          </a:prstGeom>
          <a:solidFill>
            <a:srgbClr val="F0A500"/>
          </a:solidFill>
          <a:ln w="12700">
            <a:solidFill>
              <a:srgbClr val="F0A500"/>
            </a:solidFill>
            <a:prstDash val="solid"/>
          </a:ln>
        </p:spPr>
      </p:sp>
      <p:sp>
        <p:nvSpPr>
          <p:cNvPr id="4" name="Text 2"/>
          <p:cNvSpPr/>
          <p:nvPr/>
        </p:nvSpPr>
        <p:spPr>
          <a:xfrm>
            <a:off x="457200" y="457200"/>
            <a:ext cx="8229600" cy="548640"/>
          </a:xfrm>
          <a:prstGeom prst="rect">
            <a:avLst/>
          </a:prstGeom>
          <a:noFill/>
          <a:ln/>
        </p:spPr>
        <p:txBody>
          <a:bodyPr wrap="square" lIns="0" tIns="0" rIns="0" bIns="0" rtlCol="0" anchor="ctr"/>
          <a:lstStyle/>
          <a:p>
            <a:pPr algn="ctr" indent="0" marL="0">
              <a:buNone/>
            </a:pPr>
            <a:r>
              <a:rPr lang="en-US" sz="3200" b="1" dirty="0">
                <a:solidFill>
                  <a:srgbClr val="F0A500"/>
                </a:solidFill>
                <a:latin typeface="Calibri" pitchFamily="34" charset="0"/>
                <a:ea typeface="Calibri" pitchFamily="34" charset="-122"/>
                <a:cs typeface="Calibri" pitchFamily="34" charset="-120"/>
              </a:rPr>
              <a:t>¡Recuerde!</a:t>
            </a:r>
            <a:endParaRPr lang="en-US" sz="3200" dirty="0"/>
          </a:p>
        </p:txBody>
      </p:sp>
      <p:sp>
        <p:nvSpPr>
          <p:cNvPr id="5" name="Text 3"/>
          <p:cNvSpPr/>
          <p:nvPr/>
        </p:nvSpPr>
        <p:spPr>
          <a:xfrm>
            <a:off x="457200" y="1097280"/>
            <a:ext cx="8229600" cy="1645920"/>
          </a:xfrm>
          <a:prstGeom prst="rect">
            <a:avLst/>
          </a:prstGeom>
          <a:noFill/>
          <a:ln/>
        </p:spPr>
        <p:txBody>
          <a:bodyPr wrap="square" lIns="0" tIns="0" rIns="0" bIns="0"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La elicitación no es recolectar información —</a:t>
            </a:r>
            <a:endParaRPr lang="en-US" sz="2200" dirty="0"/>
          </a:p>
          <a:p>
            <a:pPr algn="ctr" indent="0" marL="0">
              <a:buNone/>
            </a:pPr>
            <a:r>
              <a:rPr lang="en-US" sz="2200" i="1" dirty="0">
                <a:solidFill>
                  <a:srgbClr val="FFFFFF"/>
                </a:solidFill>
                <a:latin typeface="Calibri" pitchFamily="34" charset="0"/>
                <a:ea typeface="Calibri" pitchFamily="34" charset="-122"/>
                <a:cs typeface="Calibri" pitchFamily="34" charset="-120"/>
              </a:rPr>
              <a:t>es construir entendimiento compartido entre</a:t>
            </a:r>
            <a:endParaRPr lang="en-US" sz="2200" dirty="0"/>
          </a:p>
          <a:p>
            <a:pPr algn="ctr" indent="0" marL="0">
              <a:buNone/>
            </a:pPr>
            <a:r>
              <a:rPr lang="en-US" sz="2200" i="1" dirty="0">
                <a:solidFill>
                  <a:srgbClr val="FFFFFF"/>
                </a:solidFill>
                <a:latin typeface="Calibri" pitchFamily="34" charset="0"/>
                <a:ea typeface="Calibri" pitchFamily="34" charset="-122"/>
                <a:cs typeface="Calibri" pitchFamily="34" charset="-120"/>
              </a:rPr>
              <a:t>el equipo de desarrollo y los stakeholders.</a:t>
            </a:r>
            <a:endParaRPr lang="en-US" sz="2200" dirty="0"/>
          </a:p>
        </p:txBody>
      </p:sp>
      <p:sp>
        <p:nvSpPr>
          <p:cNvPr id="6" name="Shape 4"/>
          <p:cNvSpPr/>
          <p:nvPr/>
        </p:nvSpPr>
        <p:spPr>
          <a:xfrm>
            <a:off x="2286000" y="2834640"/>
            <a:ext cx="4572000" cy="0"/>
          </a:xfrm>
          <a:prstGeom prst="line">
            <a:avLst/>
          </a:prstGeom>
          <a:noFill/>
          <a:ln w="19050">
            <a:solidFill>
              <a:srgbClr val="F0A500"/>
            </a:solidFill>
            <a:prstDash val="solid"/>
          </a:ln>
        </p:spPr>
      </p:sp>
      <p:sp>
        <p:nvSpPr>
          <p:cNvPr id="7" name="Text 5"/>
          <p:cNvSpPr/>
          <p:nvPr/>
        </p:nvSpPr>
        <p:spPr>
          <a:xfrm>
            <a:off x="457200" y="2971800"/>
            <a:ext cx="8229600" cy="365760"/>
          </a:xfrm>
          <a:prstGeom prst="rect">
            <a:avLst/>
          </a:prstGeom>
          <a:noFill/>
          <a:ln/>
        </p:spPr>
        <p:txBody>
          <a:bodyPr wrap="square" lIns="0" tIns="0" rIns="0" bIns="0" rtlCol="0" anchor="ctr"/>
          <a:lstStyle/>
          <a:p>
            <a:pPr algn="ctr" indent="0" marL="0">
              <a:buNone/>
            </a:pPr>
            <a:r>
              <a:rPr lang="en-US" sz="1600" b="1" dirty="0">
                <a:solidFill>
                  <a:srgbClr val="F0A500"/>
                </a:solidFill>
                <a:latin typeface="Calibri" pitchFamily="34" charset="0"/>
                <a:ea typeface="Calibri" pitchFamily="34" charset="-122"/>
                <a:cs typeface="Calibri" pitchFamily="34" charset="-120"/>
              </a:rPr>
              <a:t>Próxima Semana — Semana 5</a:t>
            </a:r>
            <a:endParaRPr lang="en-US" sz="1600" dirty="0"/>
          </a:p>
        </p:txBody>
      </p:sp>
      <p:sp>
        <p:nvSpPr>
          <p:cNvPr id="8" name="Text 6"/>
          <p:cNvSpPr/>
          <p:nvPr/>
        </p:nvSpPr>
        <p:spPr>
          <a:xfrm>
            <a:off x="457200" y="3383280"/>
            <a:ext cx="8229600" cy="731520"/>
          </a:xfrm>
          <a:prstGeom prst="rect">
            <a:avLst/>
          </a:prstGeom>
          <a:noFill/>
          <a:ln/>
        </p:spPr>
        <p:txBody>
          <a:bodyPr wrap="square" lIns="0" tIns="0" rIns="0" bIns="0" rtlCol="0" anchor="ctr"/>
          <a:lstStyle/>
          <a:p>
            <a:pPr algn="ctr" indent="0" marL="0">
              <a:buNone/>
            </a:pPr>
            <a:r>
              <a:rPr lang="en-US" sz="1400" dirty="0">
                <a:solidFill>
                  <a:srgbClr val="E8F4F8"/>
                </a:solidFill>
                <a:latin typeface="Calibri" pitchFamily="34" charset="0"/>
                <a:ea typeface="Calibri" pitchFamily="34" charset="-122"/>
                <a:cs typeface="Calibri" pitchFamily="34" charset="-120"/>
              </a:rPr>
              <a:t>Análisis de Requisitos: Clasificación, priorización (MoSCoW, Kano),</a:t>
            </a:r>
            <a:endParaRPr lang="en-US" sz="1400" dirty="0"/>
          </a:p>
          <a:p>
            <a:pPr algn="ctr" indent="0" marL="0">
              <a:buNone/>
            </a:pPr>
            <a:r>
              <a:rPr lang="en-US" sz="1400" dirty="0">
                <a:solidFill>
                  <a:srgbClr val="E8F4F8"/>
                </a:solidFill>
                <a:latin typeface="Calibri" pitchFamily="34" charset="0"/>
                <a:ea typeface="Calibri" pitchFamily="34" charset="-122"/>
                <a:cs typeface="Calibri" pitchFamily="34" charset="-120"/>
              </a:rPr>
              <a:t>modelamiento conceptual y negociación win-win.</a:t>
            </a:r>
            <a:endParaRPr lang="en-US" sz="1400" dirty="0"/>
          </a:p>
        </p:txBody>
      </p:sp>
      <p:sp>
        <p:nvSpPr>
          <p:cNvPr id="9" name="Text 7"/>
          <p:cNvSpPr/>
          <p:nvPr/>
        </p:nvSpPr>
        <p:spPr>
          <a:xfrm>
            <a:off x="457200" y="4297680"/>
            <a:ext cx="8229600" cy="27432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Mg. Gleiston Guerrero · UTEQ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4 - Elicitación de Requisitos</dc:title>
  <dc:subject>PptxGenJS Presentation</dc:subject>
  <dc:creator>UTEQ - Ingeniería de Requerimientos</dc:creator>
  <cp:lastModifiedBy>UTEQ - Ingeniería de Requerimientos</cp:lastModifiedBy>
  <cp:revision>1</cp:revision>
  <dcterms:created xsi:type="dcterms:W3CDTF">2026-05-18T20:27:24Z</dcterms:created>
  <dcterms:modified xsi:type="dcterms:W3CDTF">2026-05-18T20:27:24Z</dcterms:modified>
</cp:coreProperties>
</file>