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9262" autoAdjust="0"/>
  </p:normalViewPr>
  <p:slideViewPr>
    <p:cSldViewPr snapToGrid="0" snapToObjects="1">
      <p:cViewPr varScale="1">
        <p:scale>
          <a:sx n="64" d="100"/>
          <a:sy n="64" d="100"/>
        </p:scale>
        <p:origin x="132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0938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de la Unidad 3. La sigla ISR-401 corresponde al código institucional de la asignatura Ingeniería de Requisitos, dictada en el cuarto nivel de la carrera de Ingeniería de Software de la Universidad Técnica Estatal de Quevedo (UTEQ). Ubicar la unidad en el arco del curso: tras haber elicitado y analizado requisitos en las Unidades 1 y 2, ahora corresponde documentarlos formalmente en un artefacto que sirve como contrato técnico entre el equipo de desarrollo y los interesados. Anunciar los tres pilares de la unidad: el estándar ISO/IEC/IEEE 29148:2018 (Systems and software engineering. Life cycle processes. Requirements engineering), el uso disciplinado del lenguaje natural con plantillas, y el modelado UML como notación complementaria. Recordar que la Especificación de Requisitos de Software (ERS o SRS por sus siglas en ingles, Software Requirements Specification) es la evidencia central de las entregas 1B (semana 10) y 2A (semana 13) del Proyecto Fin de Carrera (PFC).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finalizar la Unidad 3 el estudiante debera ser capaz de redactar una ERS que cumpla simultaneamente tres condiciones: ser completa (contiene todo lo necesario para diseñar y verificar), ser verificable (cada requisito puede probarse de forma objetiva) y ser conforme al estándar internacional ISO/IEC/IEEE 29148:2018. Este resultado se articula con tres verbos clave: DOCUMENTAR (Tema 8, sobre artefactos, atributos y criterios de calidad), ESPECIFICAR (Tema 9, sobre el documento ERS/SRS propiamente) y MODELAR (Tema 10, sobre las tres perspectivas UML). Enfatizar la relación con Pohl (2010, Requirements Engineering): la ERS es el punto de convergencia de los artefactos de contexto, requisitos y proceso. Sin una ERS bien elaborada, ninguna actividad posterior del ciclo de vida (diseño, codificacion, prueba, mantenimiento) puede realizarse con calidad. Recordar también que el Instituto de Ingeniería de Requisitos (IREB, International Requirements Engineering Board) certifica esta competencia a nivel profesional a traves del CPRE FL (Certified Professional for Requirements Engineering, Foundation Level) v3.1.</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mapa mental de la Unidad 3. La progresion es acumulativa: primero comprender los principios generales de la documentación (Tema 8), luego aterrizarlos en el documento ERS estandarizado (Tema 9), y finalmente enriquecer ese documento con modelos gráficos UML (Tema 10). El Tema 8 aporta el vocabulario y los criterios: distingue tipos de artefactos según Klaus Pohl (contexto, requisitos y proceso), define formatos de representación, introduce los atributos que acompañan a cada requisito y los criterios de calidad tanto individuales como de conjunto. El Tema 9 se centra en el documento ERS/SRS como pieza normativa: revisa la estructura de la cláusula 9.6 del estándar 29148:2018, analiza la ambigüedad del lenguaje natural y presenta las plantillas de redacción tipo Rupp o Volere que reducen esa ambigüedad. El Tema 10 aborda la triple perspectiva del modelado (datos, función, comportamiento) usando UML (Unified Modeling Language), y explica como las tres vistas se interconectan mediante el diccionario de datos y las tablas de trazabilidad. Insistir en que UML complementa pero no sustituye al texto: la ERS profesional siempre es hibrida.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entrar en los detalles técnicos, justificar por que se produce el documento. Un requisito no documentado es un requisito que no existe: no se puede comunicar sin ambigüedad, no se puede verificar y no se puede exigir juridicamente. Los seis roles que se muestran son complementarios. Comunicación: el ERS es el punto de encuentro entre la vista de negocio (clientes, usuarios finales, entes reguladores) y la vista técnica (arquitectos, desarrolladores, evaluadores). Contrato: en licitaciones publicas o convenios privados, el ERS forma parte de los anexos técnicos del contrato. Esto es directamente relevante en Ecuador para los proyectos financiados por la SENESCYT o adquiridos por entidades del sector público bajo LOSNCP. Verificación: cada requisito debe tener un criterio de aceptación medible; ese criterio es el origen del caso de prueba (según ISO/IEC/IEEE 29148:2018, sección 5.2.5, propiedad Verificable). Trazabilidad: permite responder tres preguntas tipicas de auditoria: de qué interesado se originó este requisito, en que componente se implemento, y con qué caso de prueba se verifico. Cambio: sin línea base no hay control de configuración; con línea base se aplican los procesos de Change Control descritos en la Unidad 4. Auditoria: relevante para sectores regulados como salud, banca o educación, donde ISO/IEC 25010:2023 exige demostrar carácterísticas de calidad medibles.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separadora que introduce el Tema 8. El objetivo del Tema 8 es dotar al estudiante del vocabulario y los criterios necesarios antes de redactar un ERS. Recorreremos: (8.1) el propósito de documentar y la clasificacion de artefactos de Pohl; (8.2) los cuatro formatos de representación (natural, semiestructurado, estructurado y formal); (8.3) los atributos con los que se acompana cada requisito según 29148:2018 cláusula 5.2.8; y (8.4) los criterios de calidad para requisitos individuales y para conjuntos de requisitos. Insistir en que sin este vocabulario, los estudiantes tienden a confundir tipos de requisitos, formatos y atributos, y su ERS termina siendo incompleta. Este tema es la base conceptual del PFC Entrega 1B.</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subtema 8.1 responde dos preguntas: para que se documenta y que se documenta. La respuesta al para que la dio Klaus Pohl en su obra Requirements Engineering: Fundamentals, Principles and Techniques (Springer, 2010): la documentación es una de las cuatro actividades transversales del proceso de requisitos, junto con la negociacion, la validación y la gestión. Documentar no es una fase, sino una actividad continua que acompana a la elicitación y al análisis. La respuesta al que se documenta la aporta el mismo Pohl mediante su clasificacion tripartita de artefactos: 1) Artefactos de contexto, que capturan el entorno donde vivira el sistema (fuentes de requisitos, glosarios, actores externos, restricciones legales, normativas del dominio). Ejemplo AquaGest (proyecto de gestión de la Camaronera Biofina): el glosario de términos como -piscina-, -corrales-, -balanceados-, -salinidad-, junto con las regulaciones del Ministerio de Agricultura y Ganaderia sobre acuicultura, son artefactos de contexto. 2) Artefactos de requisitos, que son los objetivos, escenarios y requisitos solución. Ejemplo MundiPets (plataforma para mascotas): RF-08 -El sistema debe permitir al veterinario registrar la historia clínica de la mascota-, y RNF-03 -El sistema debe responder en menos de 2 segundos ante consultas de historial-. 3) Artefactos de proceso, que registran como se llego a esos requisitos: actas de reuniones, decisiones de priorización, matrices de trazabilidad y planes de gestión de cambios. Ejemplo SIMPA (Sistema de Mantenimiento de Palma Africana): el acta que documenta la sesion de priorización MoSCoW donde se decidio que el modulo -alerta de plaga por Ganoderma- es Must-have y el modulo -reportes gerenciales tridimensionales- es Could-have. Insistir: los estudiantes tienden a poner todo en la sección de requisitos. Un ERS profesional distingue claramente los tres tipos.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subtema 8.2 clasifica los formatos según su grado de formalidad, en un espectro que va desde el lenguaje humano hasta la lógica matematica. 1) Natural: es la prosa comun. Lo entiende cualquier interesado pero introduce ambigüedad. Por ejemplo, en el PFC AquaGest la frase inicial del cliente era -queremos controlar el ciclo de crianza-: no dice si controlar significa registrar, alertar, planificar o auditar. 2) Semiestructurado: agrega plantillas fijas con campos como Identificador, Actor, Descripción, Prioridad, Fuente, Estabilidad. Es el formato recomendado para la mayoria de proyectos academicos y comerciales. En el PFC MundiPets cada requisito funciónal se registra con esa plantilla, lo que permite generar tablas de trazabilidad automaticamente. 3) Estructurado: usa notaciones gráficas estandarizadas como UML (Unified Modeling Language) o BPMN (Business Process Model and Notation) para complementar el texto. En el PFC SIMPA, el proceso de aplicación de fitosanitario a la palma africana se modela con un diagrama de actividad UML que muestra decisiones, ramas paralelas y sincronizaciones. 4) Formal: usa lenguajes con semántica matematica como Z, VDM (Vienna Development Method), Alloy o TLA+ (Temporal Logic of Actions). Permite verificar propiedades como -nunca dos usuarios acceden simultaneamente al mismo registro-. Es propio de sistemas de mision critica (control aereo, dispositivos medicos, criptografia). Rara vez se usa en proyectos comerciales tipicos. La regla práctica: cuanto más formal, menos ambiguo pero menos accesible. La ERS profesional combina los niveles 2 y 3 (semiestructurado + estructurado).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subtema 8.3 introduce los atributos: no basta con enunciar el requisito, hay que acompanarlo de metadatos que permiten gestionarlo a lo largo del ciclo de vida. La ISO/IEC/IEEE 29148:2018 en su cláusula 5.2.8 define los atributos mínimos: Identificacion, Número de versión, Propietario, Prioridad, Riesgo, Justificación (Rationale), Dificultad y Tipo. Explicar cada uno con el ejemplo del PFC AquaGest (Camaronera Biofina): Identificador: usa el formato RF-XXX-NNN donde RF significa requisito funciónal, XXX es un mnemónico del modulo (BIO = biomasa) y NNN es correlativo. Nunca se reutiliza aunque el requisito se elimine. Titulo y Descripción: el titulo es la etiqueta corta -Registrar biomasa por corral-; la descripción es el enunciado formal, redactado siguiendo una plantilla de tipo Rupp. Tipo: distingue funciónales (RF) de no funciónales (RNF). En este curso seguiremos además la taxonomia de ISO/IEC 25010:2023 para clasificar las RNF por carácterística de calidad. Prioridad: se usa la técnica MoSCoW (Must have, Should have, Could have, Won't have this time). Este requisito es Must porque sin registrar biomasa no se puede calcular la Tasa de Conversion Alimenticia (TCA), que es el indicador clave del negocio. Fuente: apunta al artefacto de contexto que dio origen al requisito (entrevista, taller, documento normativo). Esto es trazabilidad hacia atras. Estabilidad: refleja cuanto se espera que cambie. Los requisitos regulatorios suelen ser estables; los de UI suelen ser volatiles. Justificación (Rationale): explica por que se necesita el requisito. Sirve para defenderlo en negociaciones y para decidir cuando eliminarlo. Versión: cada cambio genera una nueva versión; se conserva el historial completo para auditoria. Enfatizar que sin estos atributos, el ERS es una lista de deseos, no un artefacto de ingeniería.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uno de los subtemas más evaluados en las rubricas de PFC. La cláusula 5.2.5 del estándar ISO/IEC/IEEE 29148:2018 lista nueve propiedades que todo requisito individual debe poseer. Repasar cada una con ejemplo o contraejemplo: 1) Necesario: -El sistema mostrara un logo animado en la pantalla de bienvenida- generalmente NO es necesario, es un capricho estetico. 2) Apropiado: -El sistema usara MongoDB 6.0 como base de datos- NO es apropiado en un ERS: es una decisión de diseño, no un requisito. 3) Sin ambigüedad: -El sistema debe responder rápido- ES ambiguo (que es rápido?). Corrección: -El sistema debe responder consultas de historial en menos de 2 segundos-. 4) Completo: -El sistema debe registrar mascotas- NO es completo; falta indicar que datos, con que restricciones, quien las registra. 5) Singular: -El sistema debe permitir registrar mascotas y agendar citas y facturar- combina tres capacidades: hay que dividir en tres requisitos. 6) Factible: pedir reconocimiento facial con 99.99 por ciento de exactitud en tiempo real sobre hardware de gama baja NO es factible. 7) Verificable: -El sistema debe ser fácil de usar- NO es verificable. Corrección: -El 80 por ciento de los usuarios nuevos deben completar la tárea T1 sin ayuda en menos de 3 minutos, medido por SUS (System Usability Scale)-. 8) Correcto: si el cliente pidio agrupar citas por especie y el requisito dice agrupar por raza, es incorrecto. 9) Conforme: sigue la plantilla institucional (ID, actor, verbo modal, objeto, condición). Regla mnemotecnica: cuando lea un requisito, hacerse la pregunta -es NASCSFVCC?- (Necesario, Apropiado, Sin ambigüedad, Completo, Singular, Factible, Verificable, Correcto, Conforme). En las evaluaciónes de PE2 (Práctica Experimental Unidad 2) el criterio C3 sobre análisis y consolidacion penaliza especialmente la falta de verificabilidad en los requisitos no funciónales.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Complementa el subtema 8.4. La cláusula 5.2.6 del estándar 29148:2018 lista cinco propiedades para el conjunto: Completo, Consistente, Factible, Comprensible y Validable (Able to be validated). Completo del conjunto significa que no quedan marcadores TBD (To Be Determined), TBS (To Be Specified) ni TBR (To Be Resolved) sin resolver antes de aprobar la línea base. Es aceptable usarlos durante el desarrollo, pero no en la versión final. Consistente: si dos requisitos exigen cosas contradictorias (por ejemplo -almacenar todo el historial- y -eliminar registros mayores a un ano-), hay que negociar y resolver el conflicto. Factible del conjunto va más alla de cada requisito individual: la suma de todos debe caber en el presupuesto, cronograma y capacidad del equipo. Un conjunto de requisitos donde cada uno es factible por separado puede ser inviable en conjunto. Comprensible: un ingeniero de mantenimiento que llega al proyecto tres anos después debe poder entender el ERS sin necesidad de entrevistar de nuevo al cliente. Validable: la satisfacción de todo el conjunto conduce al logro de las necesidades reales del interesado. La validación es distinta a la verificación: verificación pregunta -esta bien construido?- y validación pregunta -construimos lo correcto?-. Los criterios de aceptación son la puerta de entrada a la Unidad 4. Se recomienda el formato BDD Given-When-Then propuesto por Dan North (Introducing BDD, 2006): Dado un contexto inicial, cuando ocurre un evento, entonces se produce un resultado observable. En el ejemplo del PFC SIMPA (Sistema Integrado de Mantenimiento de Palma Africana), la alerta de riego prioritario tiene contexto (humedad menor al 40 por ciento durante 48 horas), evento (tárea diaria a las 06:00) y resultado (alerta al capataz en menos de 60 segundos). Este criterio es directamente convertible en un caso de prueba automatizado.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del Tema 9. Este es el corazon de la unidad. El Tema 8 nos dio las piezas conceptuales; el Tema 9 arma con esas piezas el documento formal que constituye el entregable central del curso. Recorreremos cuatro subtemas: (9.1) los tres tipos de especificaciones que reconoce el estándar (SysRS, SRS, StRS); (9.2) el esqueleto exacto que propone IEEE 29148:2018 cláusula 9.6; (9.3) las técnicas para reducir la ambigüedad del lenguaje natural mediante plantillas; y (9.4) como integrar coherentemente los modelos UML con el texto. Este es el tema que soporta la Entrega 1B del PFC (semana 10): los estudiantes deben producir su primer ERS parcial siguiendo esta estructura.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subtema 9.1 aclara una confusion frecuente: no todos los documentos de requisitos son SRS. El estándar ISO/IEC/IEEE 29148:2018 reconoce tres tipos jerárquicos y complementarios. 1) StRS (Stakeholder Requirements Specification) - Especificación de Requisitos de los Interesados. Se produce durante el proceso Stakeholder Needs and Requirements Definition. Recoge las necesidades expresadas en el lenguaje del interesado, sin traducir aún a lenguaje técnico. Su audiencia son clientes, usuarios finales y gerencia. Corresponde a la cláusula 9.4. 2) SyRS (System Requirements Specification) - Especificación de Requisitos del Sistema. Se produce durante el proceso System/Software Requirements Definition. Describe el sistema global, que puede incluir software, hardware, procesos manuales y personas. Su audiencia principal es el arquitecto de sistemas. Corresponde a la cláusula 9.5. 3) SRS (Software Requirements Specification) - Especificación de Requisitos de Software. Es la porción más detallada, centrada en el software concreto que hay que construir. Su audiencia es el equipo de desarrollo y el equipo de pruebas. Corresponde a la cláusula 9.6. En nuestra asignatura ISR-401, cuando decimos ERS nos referimos casi siempre al SRS. La jerarquía es de refinamiento: los requisitos del cliente (StRS) se transforman en requisitos del sistema (SyRS), que a su vez se descomponen en requisitos de software (SRS). Cada nivel debe ser trazable hacia arriba (a que necesidad del cliente responde) y hacia abajo (con qué caso de prueba se verificará). Aclaracion importante: en proyectos pequenos o academicos como los PFC de la carrera, los tres documentos pueden fusionarse en uno solo (ERS integrado), siempre que se respete la trazabilidad entre secciónes.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subtema 9.2 es el corazon del Tema 9. La cláusula 9.6 del estándar ISO/IEC/IEEE 29148:2018 define el contenido normativo del SRS en veinte subcláusulas (9.6.1 a 9.6.20). Se dividen en dos diapositivas: aqui la primera mitad (encabezado, propósito, alcance, perspectiva, funciónes, usuarios, limitaciones, supuestos, asignación). 9.6.1 SRS overview: parrafo introductorio que orienta al lector sobre la estructura y propósito del documento. 9.6.2 Purpose: para que existe el software. Ejemplo AquaGest: -Optimizar la crianza de camaron en la Camaronera Biofina mediante el control de biomasa, alimentacion y calidad de agua-. 9.6.3 Scope: que hara y que NO hara. Es tan importante decir que no hara como que hara. Ejemplo MundiPets: -Este software gestiona historia clínica y agendamiento; NO incluye facturacion electronica ni comercio de productos-. 9.6.4 Product perspective: relación con otros sistemas. Incluye subsección de interfaces del sistema, interfaces de usuario, interfaces de hardware, interfaces de software, interfaces de comunicaciones, restricciones de memoria, operaciones, adaptaciones y servicios (SaaS, Software as a Service). 9.6.5 Product functions: resumen ejecutivo. Es un mapa de alto nivel que no reemplaza a las funciónes detalladas (que van en 9.6.12). El estándar sugiere usar aqui casos de uso, historias de usuario o escenarios. 9.6.6 User characteristics: perfil de usuarios. En MundiPets se distinguen tres perfiles con carácterísticas diferentes: veterinario (alta expertise técnica), dueño de mascota (baja) y administrador (media). 9.6.7 Limitations: restricciones. Incluye regulatorias (para SIMPA: normativa MAG sobre fitosanitarios), de hardware, de calidad, de seguridad. 9.6.8 Assumptions and dependencies: supuestos externos que si cambian obligan a revisar la ERS. Ejemplo: -Se supone que la Camaronera Biofina proveera conectividad 4G en las 12 piscinas-. 9.6.9 Apportioning: si el sistema se desarrolla por incrementos, indica que requisitos van en cada release.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Segunda mitad de la estructura del SRS según ISO/IEC/IEEE 29148:2018 cláusula 9.6. Esta es la parte donde se concentran los requisitos específicos y los atributos de calidad. 9.6.10 Specified requirements: es el nucleo. Cada requisito debe cumplir las nueve carácterísticas de la cláusula 5.2.5 (necesario, apropiado, sin ambigüedad, completo, singular, factible, verificable, correcto, conforme). 9.6.11 External interfaces: para cada entrada y salida del software se definen nombre, propósito, origen o destino, rango valido, exactitud, unidades de medida, temporizacion, relación con otras E/S, formato de datos, formato de comandos e items de información contenidos. Muy relevante para el PFC AquaGest, que interactua con sensores IoT (Internet of Things) de temperatura, oxígeno disuelto y pH. 9.6.12 Functions: verificaciones de validez de entradas, secuencia exacta de operaciones, respuestas a situaciones anomalas, efectos de parametros, relación entrada/salida. 9.6.13 Usability requirements: efectividad, eficiencia y satisfacción medibles. El estándar remite a ISO/IEC TR 25060 sobre CIF (Common Industry Format) para reportes de usabilidad. 9.6.14 Performance requirements: distingue requisitos estáticos (número de usuarios simultaneos, cantidad de datos) y dinámicos (transacciones por segundo, tiempos de respuesta). El ejemplo del estándar es -95 por ciento de las transacciones se procesarán en menos de 1 segundo- (medible, verificable). 9.6.15 Logical database: no es el diseño fisico de la base, sino los requisitos lógicos: tipos de información, frecuencia de uso, capacidades de acceso, entidades y relaciones, restricciones de integridad, seguridad, requisitos de retención. 9.6.16 Design constraints: restricciones que vienen de fuera del proyecto. Por ejemplo, para SIMPA la exigencia de compatibilidad con la plataforma AGROCALIDAD. 9.6.17 Standards compliance: cumplimiento de estándares aplicables. Para un sistema medico como el PFC de gestión de fisioterapia, aplican HL7 y HIPAA (en su equivalente ecuatoriano, la Ley Organica de Protección de Datos Personales, LOPDP 2021). 9.6.18 Software system attributes: aqui van la mayoria de RNF. El estándar lista fiabilidad, disponibilidad, seguridad, mantenibilidad y portabilidad como ejemplos. Se recomienda usar la taxonomia completa de ISO/IEC 25010:2023. 9.6.19 Verification: para cada requisito, indicar como se verificará. Los cuatro métodos clasicos son: inspección (revision documental), análisis (calculo), demostración (ejecucion controlada) y prueba (test formal). 9.6.20 Supporting information: anexos de apoyo. Aqui van los formularios, estudios de costo, encuestas de usuario, etc.</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subtema 9.3 aborda el mayor enemigo de un ERS: la ambigüedad del lenguaje natural. La cláusula 5.2.7 del estándar ISO/IEC/IEEE 29148:2018 lista diez categorías de términos que se deben evitar porque generan interpretaciones múltiples. Cada categoría con ejemplos: Superlativos (el mejor, el máximo) porque el mejor según quien? Lenguaje subjetivo (amigable, fácil de usar) porque fácil para el usuario experto o para el novato? Pronombres vagos (esto, eso, aquello) porque a que sustantivo se refieren? Adverbios ambiguos (casi siempre, significativamente) porque cuanto es casi siempre? Conectores abiertos (-o-, -y/o-) porque obligan a escoger entre alternativas sin decir cual. Términos abiertos (soportar, pero no limitado a) porque permiten anadir cualquier cosa después. Comparativos (mejor que, mayor calidad que) porque hay que fijar la línea base. Fugas o loopholes (si es posible, cuando sea apropiado) porque dan escape para no cumplir. Términos de totalidad (todo, siempre, nunca) porque exigen verificación exhaustiva imposible. Referencias incompletas (-el documento- sin fecha ni versión) porque el documento evolucióna. Mostrar la transformacion con el ejemplo del PFC MundiPets: el requisito inicial -El sistema debe ser rápido y fácil de usar para todos los dueños de mascotas- viola tres reglas (rápido, fácil de usar, todos). Reformulacion verificable: -El 90 por ciento de los dueños con al menos educación primaria completa deben lograr registrar una mascota en menos de 3 minutos sin ayuda, medido con SUS (System Usability Scale) mayor o igual a 70-. SUS es una escala estandarizada de usabilidad propuesta por John Brooke en 1986; una puntuacion mayor a 68 se considera buena usabilidad. Esta reformulacion permite generar un caso de prueba usable-testing objetivo. Insistir: cuando los estudiantes redacten su ERS del PFC, deben aplicar mentalmente el filtro de estas diez categorías antes de escribir cada requisito.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Complemento del subtema 9.3. Para evitar la ambigüedad no basta con conocer los términos prohibidos: hay que aplicar plantillas sintacticas que forcen la disciplina de redacción. Presentamos dos plantillas ampliamente usadas. 1) Plantilla Rupp: propuesta por Chris Rupp y el grupo SOPHIST (Alemania) en su libro Requirements-Engineering und -Management (2014, 6ta edicion). Estructura fija con cinco componentes: condición opcional (Cuando, Mientras, Después de), sujeto obligatorio (el sistema o subsistema con nombre propio), verbo modal (debe = must obligatorio, debería = should recomendado, podrá = may opcional, según RFC 2119 de la IETF, Internet Engineering Task Force), tipo de accion (proporciónar a un actor, ejecutar un proceso, ser capaz de) y objeto con complementos. El ejemplo del PFC AquaGest ilustra los cinco componentes: Cuando el sensor reporte valor menor a 4 mg/L durante 5 minutos (condición), el sistema AquaGest (sujeto), debe (verbo modal obligatorio), enviar (accion), notificación push al técnico con piscina, valor y hora (objeto y complementos). 2) Historia de usuario formato Connextra: es la plantilla que popularizo Rachel Davies del equipo Connextra alrededor del ano 2001 para enfoques agiles. Estructura: Como &lt;rol&gt;, quiero &lt;funciónalidad&gt;, para &lt;beneficio de negocio&gt;. La ultima cláusula -para- es crucial porque justifica el requisito y previene solicitudes sin valor de negocio. Toda historia de usuario debe cumplir el criterio INVEST propuesto por Bill Wake en su articulo -INVEST in Good Stories, and SMART Tasks- (2003): Independent (independiente), Negotiable (negociable), Valuable (valiosa), Estimable (estimable), Small (pequena), Testable (verificable). Toda historia se acompana de sus criterios de aceptación en formato BDD (Behavior-Driven Development, Dan North 2006) Given-When-Then. El ejemplo del PFC MundiPets muestra la combinación completa: historia + criterio BDD, que juntos permiten al equipo de pruebas escribir un caso de prueba automatizado. Insistir: nunca dejar un requisito sin criterio de aceptación; sin criterio no hay verificabilidad, y sin verificabilidad no hay ingeniería.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subtema 9.4 aborda un punto de confusion frecuente: la relación entre el modelo gráfico y el texto. Los estudiantes tienden a asumir que UML reemplaza al texto o al reves. La regla profesional es distinta: UML y texto son complementarios y se anotan mutuamente. En el ejemplo del PFC MundiPets, tenemos un caso de uso UC-08 -Registrar historia clínica-, representado graficamente con la notación estándar UML (actor - elipse - línea de asociación). El diagrama por si solo dice muy poco: solo -el veterinario interactua con esta funciónalidad-. Necesita anotación textual para ser util. Al mismo tiempo, el requisito RF-08 -El sistema MundiPets debe permitir registrar historia clínica- no basta por si solo: necesita mostrar en un diagrama como se conecta con otros casos de uso (UC-07 Registrar mascota, UC-10 Emitir receta electronica) para que el arquitecto visualice el mapa completo. La práctica correcta es la anotación bidireccional: (a) en el diagrama, cada caso de uso lleva un identificador visible (UC-08) que apunta al requisito textual RF-08; y (b) en la ficha textual del RF-08, se referencia explicitamente el caso de uso, los actores y las relaciones de inclusión (&lt;&lt;include&gt;&gt;) o extensión (&lt;&lt;extend&gt;&gt;). Elementos mínimos que debe contener una ficha textual asociada a un caso de uso: ID, referencia al caso de uso, actor principal (y secundarios si los hay), precondiciones, descripción narrativa del flujo, postcondiciones, prioridad, fuente y caso de prueba asociado. Este enfoque hibrido es exactamente lo que evaluamos en la Entrega 1B del PFC: el estudiante debe entregar el diagrama de casos de uso y las fichas RF correspondientes, con trazabilidad explicita entre ambos artefactos.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del Tema 10. Un sistema puede especificarse desde tres perspectivas complementarias que Pohl (2010) sintetiza tomando la tradicion del ciclo de vida de software: la perspectiva estática de datos (que información existe), la perspectiva dinámica de función (que se hace con esa información) y la perspectiva reactiva de comportamiento (como el sistema responde a eventos externos). El estándar UML 2.5.1 de la OMG (Object Management Group), publicado en diciembre de 2017, provee notaciones específicas para cada perspectiva: diagramas de clases y objetos para datos; diagramas de casos de uso, actividad y secuencia para función; diagramas de maquina de estados para comportamiento. Recorreremos: (10.1) modelos de datos con Entidad-Relación y clases UML; (10.2) modelos funciónales con DFD (Data Flow Diagrams) y actividad UML; (10.3) modelos de comportamiento con statecharts UML; y (10.4) las interrelaciónes entre las tres vistas. Este tema es la base de la Entrega 2A del PFC (semana 13), donde el estudiante debe entregar diagramas de clases refinados con métodos, mínimo 5 diagramas de secuencia, mínimo 2 diagramas de estados y mínimo 3 diagramas de actividad.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subtema 10.1 presenta la perspectiva estática: que información existe en el sistema. Existen dos notaciones principales que a veces se combinan. El modelo Entidad-Relación fue propuesto por Peter Pin-Shan Chen en el articulo -The Entity-Relationship Model: Toward a Unified View of Data- publicado en ACM Transactions on Database Systems, volumen 1, número 1, marzo de 1976. Es la notación clasica para diseñar bases de datos relacionales. Sus elementos: entidades (representadas como rectangulos), atributos (como elipses o dentro del rectangulo), relaciones (como rombos) y cardinalidad (números que indican cuantas instancias de una entidad se relacionan con la otra). En el PFC AquaGest, el modelo ER captura las entidades del dominio acuícola: PISCINA es un espacio grande que contiene múltiples CORRALES; cada CORRAL tiene múltiples MEDICIONES de BIOMASA; los TÉCNICOS supervisan piscinas en una relación muchos-a-muchos porque un técnico puede supervisar varias piscinas y cada piscina puede ser supervisada por varios técnicos en turnos distintos. El diagrama de clases UML es la evolución orientada a objetos del ER. Definido en la especificación OMG UML 2.5.1 (diciembre 2017), agrega tres cosas que el ER no tiene: métodos (operaciones que la clase puede ejecutar), visibilidad (control de acceso: publica +, privada -, protegida #) y herencia (una clase Canino puede extender la clase Mascota heredando sus atributos y métodos). En el PFC MundiPets, la clase Mascota tiene atributos (id, nombre, especie, fecha_nacimiento) y métodos (registrar, consultarHistoria, calcularEdad). Canino y Felino son clases derivadas que anaden atributos específicos (raza, tamano, tipo_pelaje). La relación Dueño-Mascota es una asociación uno-a-muchos porque un dueño puede tener varias mascotas pero cada mascota tiene un solo dueño. En la Entrega 1B del PFC se pide el diagrama de clases conceptual (solo atributos). En la Entrega 2A se pide el diagrama refinado con métodos. Este es el orden natural: primero se identifica QUE datos hay, luego QUE se puede hacer con ellos.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subtema 10.2 presenta la perspectiva dinámica: que hace el sistema con los datos, en que secuencia, con que decisiones y paralelismos. El DFD (Data Flow Diagram) fue propuesto casi simultaneamente por Tom DeMarco en su libro -Structured Analysis and System Specification- (Yourdon Press, 1979) y por Chris Gane y Trish Sarson en -Structured Systems Analysis: Tools and Techniques- (Prentice-Hall, 1979). Fue la notación dominante en la decada de 1980 y 1990 para el análisis estructurado. El DFD tiene solo cuatro símbolos: procesos que transforman datos, flujos que llevan datos entre procesos, almacenes que persisten datos y entidades externas que son fuente o destino de datos. Se dibuja por niveles: el nivel 0 llamado diagrama de contexto muestra el sistema como una única caja; el nivel 1 lo abre en subprocesos; el nivel 2 abre cada subproceso, y así sucesivamente. El DFD esencial es una versión depurada propuesta por Steve McMenamin y John Palmer en -Essential Systems Analysis- (1984): elimina detalles de como se implementa el proceso y muestra solo lo esencial al propósito del sistema. Es especialmente util cuando el sistema todavía no se ha implementado. En el PFC AquaGest, un DFD esencial muestra como los sensores IoT alimentan un proceso de registro de lecturas, que a su vez alimenta un almacen; ese almacen es leido por un proceso de generacion de alertas que dispara notificaciones al técnico cuando ciertas condiciones se cumplen. El diagrama de actividad UML es el sucesor moderno. Definido en OMG UML 2.5.1, es más expresivo que el DFD porque agrega: decisiones (rombos), paralelismo (fork y join con barras), swimlanes (calles horizontales o verticales que asignan actividades a actores o subsistemas), y objetos que fluyen entre actividades. En el PFC SIMPA, el proceso de aplicación de fitosanitario a la palma africana se modela con actividad UML: inicio, detectar plaga, decidir si el riesgo es alto (rombo), si es alto ejecutar en paralelo tres actividades (aplicar tratamiento, registrar en bitacora, notificar a AGROCALIDAD), sincronizar (join) y terminar; si no es alto, programar seguimiento y terminar. Cada calle representa un actor: capataz, ingeniero agronomo, sistema. En el PFC se pide mínimo 3 diagramas de actividad UML en la Entrega 2A.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subtema 10.3 presenta la perspectiva reactiva: como el sistema responde a eventos externos a lo largo del tiempo. Mostrar la evolución historica en tres etapas. 1) Autómata finito (Finite State Machine, FSM): la base teorica fue formalizada por Michael O. Rabin y Dana Scott en su articulo -Finite Autómata and Their Decisión Problems- publicado en IBM Journal of Research and Development, volumen 3, número 2, 1959, trabajo por el que recibieron el premio Turing en 1976. Un autómata es una tupla con conjunto finito de estados, alfabeto de entrada, función de transición, estado inicial y conjunto de estados finales. Es potente teoricamente pero sufre de explosion combinatoria cuando el sistema es complejo. 2) Statechart: propuesto por David Harel en su articulo -Statecharts: A visual formalism for complex systems- publicado en Science of Computer Programming, volumen 8, número 3, junio de 1987. Harel resuelve el problema de la explosion combinatoria agregando tres cosas: superestados jerárquicos (un estado puede contener sub-estados), regiones concurrentes (dos regiones evoluciónan en paralelo) y comunicación por broadcast de eventos. Con statecharts se puede especificar el interior de un reloj de pulsera con pocos estados donde un autómata plano habria necesitado docenas. 3) Maquina de estados UML: en la especificación OMG UML 2.5.1 (2017), la nocion de statechart de Harel se estandariza como State Machine. Los estados pueden tener acciones de entrada (entry), acciones de salida (exit) y acciones internas (do). Las transiciónes tienen la sintaxis: evento[guarda]/accion. En el ejemplo del PFC MundiPets, el ciclo de vida de una cita veterinaria se modela con seis estados y varias transiciónes. La transición de Solicitada a Confirmada solo puede ocurrir si el evento -confirmar- se dispara Y además la guarda -cupo disponible- se cumple. Al entrar en el estado Confirmada, la accion de entrada notifica al dueño; al salir, la accion registra el evento en la bitacora. Este tipo de modelo es la mejor forma de descubrir requisitos ocultos: si un estado no tiene salida, el objeto se queda atrapado; si un evento no se maneja en un estado, el modelo esta incompleto. Por eso los statecharts son excelentes herramientas de validación. En el PFC se pide mínimo 2 diagramas de estados en la Entrega 2A.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subtema 10.4 cierra el Tema 10 y responde una pregunta clave: como se conectan las tres perspectivas? Ninguna de las tres vistas es autosuficiente. El modelo de datos describe QUE información existe (por ejemplo, en el PFC MundiPets: existe la clase Cita con atributo estado). El modelo de función describe QUE se hace (por ejemplo: la actividad -Iniciar consulta- transforma el estado de la cita). El modelo de comportamiento describe COMO reacciona (por ejemplo: al evento -iniciar()-, si la guarda -cupo disponible- se cumple, se transita de Confirmada a En atención). Las tres vistas se anclan entre si mediante dos artefactos: 1) El diccionario de datos: es un catalogo alfabetico de cada elemento del modelo. Para cada clase se listan sus atributos, tipos y significado; para cada actividad se listan las entradas y salidas; para cada estado se listan los datos que se modifican al entrar o salir. En un ERS profesional el diccionario de datos ocupa un anexo completo. 2) La matriz de trazabilidad: es una tabla que cruza requisitos con artefactos de modelo. Cada fila es un requisito funciónal; cada columna es un artefacto (clase, caso de uso, actividad, estado). Una marca X indica que el artefacto realiza el requisito. La matriz permite responder preguntas de auditoria: -este requisito RF-14, en qué clases y actividades se implementa?- Regla de oro: si un elemento aparece en una vista pero no en las otras dos, hay una inconsistencia. Si la clase Cita tiene atributo estado pero el diagrama de estados no existe, algo falta. Si el diagrama de estados existe pero ninguna actividad dispara los eventos, el sistema esta muerto. En el PFC, la evaluación de la Entrega 2A verifica precisamente esta triple coherencia: los diagramas de clases, de secuencia, de estado y de actividad deben ser mutuamente trazables, con nombres identicos de clases, actores y operaciones.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síntesis: las doce piezas que integran una ERS completa alíneada con IEEE 29148:2018. 1) Introducción: propósito del documento, alcance del sistema, glosario de términos del dominio, referencias normativas, siglas y acronimos. Esta sección aparece siempre al inicio. 2) Descripción general: perspectiva del producto, resumen de funciónes, carácterizacion de usuarios, restricciones y supuestos. Es el equivalente a la cláusula 9.6.4 a 9.6.8 del estándar. 3) Requisitos funciónales: cada RF con la plantilla completa de atributos (ID, titulo, descripción, tipo, prioridad, fuente, estabilidad, riesgo, justificación, versión). 4) Requisitos no funciónales: organizados según las ocho carácterísticas de la ISO/IEC 25010:2023: idoneidad funciónal, eficiencia de desempeno, compatibilidad, interaccion con el usuario, fiabilidad, seguridad, mantenibilidad y portabilidad. 5) Casos de uso: primero diagrama de alto nivel con actores, luego cada UC expandido con precondiciones, flujo principal, flujos alternativos y postcondiciones. 6) Historias de usuario: para complementar los UC en enfoques agiles, formato Connextra + criterios INVEST. 7) Modelo de clases: primero conceptual (atributos), luego refinado (métodos, visibilidad, herencia). 8) Modelos de proceso: diagramas de actividad UML para procesos clave; BPMN si el proyecto involucra flujos de negocio complejos. 9) Modelos de estado: maquinas de estado UML para entidades con ciclo de vida no trivial (por ejemplo, en MundiPets: cita, mascota, receta). 10) Interfaces: sección 9.6.11 y 9.6.4 del estándar. Cada interfaz con nombre, propósito, formato, rango, unidades. 11) Criterios de aceptación: BDD Given-When-Then para cada RF y RNF. Es el puente entre requisitos y pruebas. 12) Matriz de trazabilidad: fuente &lt;-&gt; requisito &lt;-&gt; componente &lt;-&gt; caso de prueba. Es el instrumento de auditoria. Esta lista es exactamente lo que se evalua en las rubricas de PFC Entrega 1B (piezas 1-6) y Entrega 2A (piezas 7-12). Ninguna es prescindible.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los seis errores más frecuentes detectados en las evaluaciónes de la Práctica Experimental Unidad 2 (PE2) y en las entregas del Proyecto Fin de Carrera de cohortes anteriores. Estos son patrones recurrentes, no fallos aislados. 1) RNF sin métricas: es el error más comun. Los estudiantes escriben -rápido-, -seguro-, -confiable- sin cuantificar. Reformular siempre con un umbral numérico, una condición de carga y un método de medicion. Aplicar el mnemónico SMART (Specific, Measurable, Achievable, Relevant, Time-bound) o la propiedad Verificable de la cláusula 5.2.5 de la 29148:2018. 2) Requisitos compuestos: violan la propiedad Singular. Toda vez que se encuentre -y-, -o-, -y/o- en un requisito, dividir. La regla práctica: un solo verbo principal por requisito. 3) Diseño en la ERS: violan la propiedad Apropiado. Mencionar tecnologias específicas (React, MongoDB, Java 17) es una decisión de arquitectura, no un requisito. La excepción es cuando el cliente exige explicitamente una tecnologia por razones de compatibilidad organizacional. 4) Trazabilidad rota: es el pecado más grave desde el punto de vista de calidad. Ejemplo real: un equipo entrega un diagrama de clases con la clase Consulta, un diagrama de casos de uso con UC-08 Registrar consulta, pero el requisito funciónal se llama RF-08 Registrar historia clínica. Los tres artefactos parecen coherentes pero los nombres no coinciden y la matriz de trazabilidad queda incompleta. 5) Actores mal identificados: los estudiantes tienden a incluir al sistema mismo como actor, o incluyen actores que en realidad son componentes internos. Regla: un actor es una entidad externa al sistema (persona, dispositivo, sistema tercero) que interactua con el. 6) Requisitos de proceso ausentes: los estudiantes olvidan que la cláusula 5.2.8.3 del estándar reconoce requisitos de proceso (Process Requirements) impuestos por normativa. En Ecuador, todo software que maneja datos personales debe cumplir la Ley Organica de Protección de Datos Personales (LOPDP 2021); todo software agricola debe cumplir normativa MAG y AGROCALIDAD. Estos requisitos NO son funciónales ni no funciónales: son de proceso. Al evaluar la Entrega 1B, revisar sistematicamente estos seis errores. Corrigiendolos, la calidad del ERS mejora significativamente.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contexto practico: que herramientas usar durante el desarrollo del PFC. Se agrupan en tres familias. 1) Redacción: para el PFC recomendamos LaTeX porque produce documentos reproducibles, versionables (Git), con bibliografia consistente (BibTeX) y numeracion automática. Overleaf permite trabajo colaborativo en la nube. Word es aceptable pero dificil de versionar. 2) Modelado UML: StarUML es la herramienta libre más completa que cumple integralmente la especificación OMG UML 2.5.1. Enterprise Architect de Sparx Systems es el estándar de la industria pero es comercial y costoso; se recomienda solo para equipos con licencia institucional. PlantUML es especial: permite escribir UML como código de texto, ideal para versionar en Git. Draw.io (ahora diagrams.net) es la opcion más accesible para principiantes. 3) Gestión de requisitos: IBM DOORS Next es el estándar de facto en la industria aeroespacial y defensa. Jira con el plugin Xray es la elección más comun en equipos agiles. Azure DevOps Requirements Management es una alternativa integrada con Microsoft. El estándar ReqIF (Requirements Interchange Format) definido por OMG en 2011 permite intercambiar requisitos entre herramientas distintas y es la mejor apuesta a largo plazo. Recomendacion práctica para el PFC: Overleaf para el ERS, StarUML o PlantUML para los diagramas, y una hoja de calculo en Google Drive para la matriz de trazabilidad.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clave para orientar al estudiante: explicar como los subtemas de la Unidad 3 se traducen en artefactos entregables del Proyecto Fin de Carrera. Entrega 1B (semana 10): el estudiante debe presentar un ERS parcial que incluye introducción, descripción general, primeros requisitos funciónales y no funciónales, casos de uso de alto nivel y diagrama de clases conceptual. Esta entrega cubre los subtemas 8.1 a 8.4 y 9.1 a 9.3. La rubrica Guia_Rubrica_PFC_Entrega2_1B.pdf tiene diez criterios agrupados en los tres bloques Pohl: Contexto (2.0 pts), Requisitos (6.0 pts), Proceso (2.0 pts). El criterio C10 pesa 1.5 puntos y evalua el trabajo de campo con evidencia fotografica, videos y consentimientos firmados. Entrega 2A (semana 13): el estudiante debe entregar el ERS completo con modelos UML refinados. Se pide: diagrama de clases con métodos (no solo atributos), mínimo 5 diagramas de secuencia, mínimo 2 diagramas de estados y mínimo 3 diagramas de actividad. Esta entrega cubre integramente el Tema 10 y refuerza 9.4. Entrega 2B (semana 17): defensa oral ante tribunal. Aqui se integra todo el conocimiento de la Unidad 3 con las Unidades 4 (validación, gestión, trazabilidad) y 5 (proyecto integrador). La rubrica Rubrica_Exposición_HAIR_ISR401.pdf evalua cuatro dimensiones: Honestidad (autoria clara), Autoria (aportes individuales verificables), Integridad (evidencia documental completa) y Replicabilidad (que otro equipo pueda reproducir el proceso a partir de los artefactos). Enfatizar que esta Unidad 3 no es un tema academico aislado: es el instrumento evaluativo directo de la mitad del PFC.</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un ejemplo por cada PFC representativo de la cohorte 2026-2027, mostrando concretamente como se aplican las tres perspectivas UML del Tema 10 en el dominio específico de cada proyecto. AquaGest (Camaronera Biofina, dominio acuícola): la clase clave es Corral con atributos id, área, densidad de siembra y biomasa; la actividad clave es -Registrar lectura de oxígeno disuelto- porque activa la lógica de alerta; el estado clave es el ciclo del corral que va desde Vacio, pasa a Sembrado tras la siembra, a Crianza durante la fase de engorde, y termina en Cosechado. MundiPets (plataforma veterinaria): clases interconectadas Mascota, Dueño, Cita, Consulta, Receta; la actividad de -agendar cita- incluye la decisión de disponibilidad de cupo; el ciclo de estados de la Cita va Solicitada, Confirmada, En atención, Finalizada, con transiciónes alternativas a Cancelada o No asistida. SIMPA (Sistema Integrado de Mantenimiento de Palma Africana): clases Parcela, Palmar, Aplicación de tratamiento, Producto Fitosanitario; actividad -Aplicar fitosanitario- con paso obligatorio de registro en AGROCALIDAD; estados de la Parcela: Sana, En observación (cuando se detectan signos tempranos), Infestada, Tratada. RutaExpress (empresa de mensajeria y courier): clases Envío, Ruta, Repartidor, Punto de Entrega; actividad de -trazar ruta óptima- que involucra algoritmos de optimizacion; estados del Envío Recibido, En bodega, En transito, Entregado, Devuelto. MediCita (clínica privada, en Paralelo B): clases Paciente, Turno, Consulta, Historia Clínica; actividad de -confirmar turno- con verificación de disponibilidad del profesional; estados del Turno Reservado, Confirmado, Atendido, Facturado. Marketplace UTEQ (comercio interno estudiantil): clases Producto, Vendedor, Comprador, Publicación; actividad de -publicar producto- con paso de moderación; estados de la Publicación Borrador, En revision, Publicada, Archivada. Cada estudiante debe identificar sus propias tres perspectivas UML aplicando este esquema al dominio de su PFC. Recordar: si una clase no tiene actividades asociadas ni estados con ciclo de vida, probablemente es solo una tabla de referencia y no una entidad de negocio.</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cierre practico. La actividad de la Unidad 3 es la produccion efectiva del ERS parcial del PFC, que será calificado formalmente en la Entrega 1B en la semana 10 (aproximadamente 12 de julio de 2026). Los seis pasos deben ejecutarse en el orden indicado porque hay dependencias: no se puede escribir RF sin haber definido el alcance en la sección 2; no se pueden dibujar casos de uso sin haber identificado los actores; no se puede armar la matriz de trazabilidad si no existen previamente los RF, los UC y las clases. El paso 3 (criterios de aceptación BDD) es el que más tienden a omitir los equipos: recordar que sin criterio no hay verificabilidad, y sin verificabilidad el requisito falla la cláusula 5.2.5 del estándar. El paso 6 (matriz de trazabilidad) parece administrativo pero es un ejercicio de calidad muy potente: si al armar la matriz un requisito no tiene ningun caso de uso asociado, o una clase no realiza ningun requisito, hay una inconsistencia que revela un error de análisis. Requisitos de entrega: PDF compilado con dos pasadas de pdflatex para que las referencias cruzadas resuelvan correctamente; fuentes LaTeX en repositorio GitHub del equipo con historial de commits; modelos UML en formato editable (StarUML, PlantUML o Draw.io); y matriz de trazabilidad en xlsx o csv para poder cruzarla automaticamente en la evaluación. Recordar la fecha limite y el peso en la nota parcial de Unidad 3. Anunciar también que la retroalimentacion será individual por equipo, en texto plano copiable, con observaciónes técnicas del docente.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referencias verificadas. Se organizan en dos grupos: estándares normativos (columna izquierda) y textos academicos con articulos fundacionales (columna derecha). Estándares. ISO/IEC/IEEE 29148:2018: es el eje normativo de esta unidad y fue revisado en detalle. Publicado conjuntamente por ISO (Ginebra), IEC y IEEE. Reemplaza al viejo IEEE 830:1998. Código ISO 72089. ISO/IEC 25010:2023: modelo de calidad de producto software. Es la versión actualizada del ISO 25010:2011 que introduce las ocho carácterísticas de calidad usadas para clasificar los RNF. OMG UML 2.5.1: especificación formal del Unified Modeling Language publicada por Object Management Group con código formal/2017-12-05. Es el estándar UML vigente. IREB CPRE FL v3.1: syllabus oficial de la certificacion profesional en Ingeniería de Requisitos, actualizado en 2023. SWEBOK v4.0: guia al cuerpo de conocimiento de la ingeniería de software publicada por IEEE Computer Society en 2024. Textos y articulos. Pohl (2010): el libro de referencia mundial sobre RE. La clasificacion tripartita de artefactos (contexto, requisitos, proceso) del Tema 8 proviene de este libro. DOI verificable. Chen (1976): articulo fundacional del modelo Entidad-Relación en el primer número de ACM TODS. Harel (1987): articulo fundacional de los statecharts. Base del diagrama de estados UML. DeMarco (1979): libro fundacional del análisis estructurado y del DFD. Rupp y SOPHISTs (2014): fuente de la plantilla Rupp de redacción de requisitos. North (2006): articulo original que introduce el BDD. Cada estudiante debe citar estas fuentes en su ERS del PFC usando estilo IEEE, APA 7 o ISO 690, según le sea indicado.</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cierre. Anclar tres ideas fuerza que deben quedarle al estudiante después de esta unidad: 1) La ERS no es un trámite: es el contrato técnico que sostiene toda la construccion posterior del software. Sin ERS no hay diseño, no hay código, no hay prueba, no hay mantenimiento. 2) Un buen requisito tiene cinco atributos operacionales que se pueden verificar en menos de un minuto: necesario, sin ambigüedad, singular, verificable, trazable. Este es el filtro mental que deben aplicar al leer o escribir cualquier requisito. 3) La ERS profesional combina texto y modelos UML de forma inseparable: los diagramas de clases, actividad y estado se refuerzan entre si y con la especificación textual. Anunciar la Unidad 4: Validación, Gestión y Consideraciones Prácticas. Alli veremos las técnicas para verificar la calidad del ERS antes de aprobarlo (revisiones, inspecciónes, walkthroughs), como gestionar los cambios que inevitablemente aparecen durante el desarrollo (change control board, análisis de impacto) y como usar la trazabilidad como herramienta de auditoria. La Unidad 4 también introduce las consideraciones eticas y de contexto de negocio que la Unidad 3 dejo mencionadas pero no profundizo. Cerrar agradeciendo y anunciando la sesion práctica siguiente donde se iniciara la redacción efectiva del ERS del PFC.</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5F2D"/>
        </a:solidFill>
        <a:effectLst/>
      </p:bgPr>
    </p:bg>
    <p:spTree>
      <p:nvGrpSpPr>
        <p:cNvPr id="1" name=""/>
        <p:cNvGrpSpPr/>
        <p:nvPr/>
      </p:nvGrpSpPr>
      <p:grpSpPr>
        <a:xfrm>
          <a:off x="0" y="0"/>
          <a:ext cx="0" cy="0"/>
          <a:chOff x="0" y="0"/>
          <a:chExt cx="0" cy="0"/>
        </a:xfrm>
      </p:grpSpPr>
      <p:sp>
        <p:nvSpPr>
          <p:cNvPr id="2" name="Shape 0"/>
          <p:cNvSpPr/>
          <p:nvPr/>
        </p:nvSpPr>
        <p:spPr>
          <a:xfrm>
            <a:off x="-2743200" y="-3657600"/>
            <a:ext cx="7315200" cy="7315200"/>
          </a:xfrm>
          <a:prstGeom prst="ellipse">
            <a:avLst/>
          </a:prstGeom>
          <a:solidFill>
            <a:srgbClr val="1E4D8B">
              <a:alpha val="60000"/>
            </a:srgbClr>
          </a:solidFill>
          <a:ln w="12700">
            <a:solidFill>
              <a:srgbClr val="1E4D8B"/>
            </a:solidFill>
            <a:prstDash val="solid"/>
          </a:ln>
        </p:spPr>
      </p:sp>
      <p:sp>
        <p:nvSpPr>
          <p:cNvPr id="3" name="Shape 1"/>
          <p:cNvSpPr/>
          <p:nvPr/>
        </p:nvSpPr>
        <p:spPr>
          <a:xfrm>
            <a:off x="9418320" y="4114800"/>
            <a:ext cx="5486400" cy="5486400"/>
          </a:xfrm>
          <a:prstGeom prst="ellipse">
            <a:avLst/>
          </a:prstGeom>
          <a:solidFill>
            <a:srgbClr val="D4A017">
              <a:alpha val="45000"/>
            </a:srgbClr>
          </a:solidFill>
          <a:ln w="12700">
            <a:solidFill>
              <a:srgbClr val="D4A017"/>
            </a:solidFill>
            <a:prstDash val="solid"/>
          </a:ln>
        </p:spPr>
      </p:sp>
      <p:sp>
        <p:nvSpPr>
          <p:cNvPr id="4" name="Text 2"/>
          <p:cNvSpPr/>
          <p:nvPr/>
        </p:nvSpPr>
        <p:spPr>
          <a:xfrm>
            <a:off x="457200" y="731520"/>
            <a:ext cx="11247120" cy="365760"/>
          </a:xfrm>
          <a:prstGeom prst="rect">
            <a:avLst/>
          </a:prstGeom>
          <a:noFill/>
          <a:ln/>
        </p:spPr>
        <p:txBody>
          <a:bodyPr wrap="square" lIns="0" tIns="0" rIns="0" bIns="0" rtlCol="0" anchor="ctr"/>
          <a:lstStyle/>
          <a:p>
            <a:pPr marL="0" indent="0" algn="ctr">
              <a:buNone/>
            </a:pPr>
            <a:r>
              <a:rPr lang="en-US" sz="1600" b="1" kern="0" spc="300" dirty="0">
                <a:solidFill>
                  <a:srgbClr val="FFFFFF"/>
                </a:solidFill>
                <a:latin typeface="Calibri" pitchFamily="34" charset="0"/>
                <a:ea typeface="Calibri" pitchFamily="34" charset="-122"/>
                <a:cs typeface="Calibri" pitchFamily="34" charset="-120"/>
              </a:rPr>
              <a:t>UNIVERSIDAD TÉCNICA ESTATAL DE QUEVEDO</a:t>
            </a:r>
            <a:endParaRPr lang="en-US" sz="1600" dirty="0"/>
          </a:p>
        </p:txBody>
      </p:sp>
      <p:sp>
        <p:nvSpPr>
          <p:cNvPr id="5" name="Text 3"/>
          <p:cNvSpPr/>
          <p:nvPr/>
        </p:nvSpPr>
        <p:spPr>
          <a:xfrm>
            <a:off x="457200" y="1097280"/>
            <a:ext cx="11247120" cy="320040"/>
          </a:xfrm>
          <a:prstGeom prst="rect">
            <a:avLst/>
          </a:prstGeom>
          <a:noFill/>
          <a:ln/>
        </p:spPr>
        <p:txBody>
          <a:bodyPr wrap="square" lIns="0" tIns="0" rIns="0" bIns="0" rtlCol="0" anchor="ctr"/>
          <a:lstStyle/>
          <a:p>
            <a:pPr marL="0" indent="0" algn="ctr">
              <a:buNone/>
            </a:pPr>
            <a:r>
              <a:rPr lang="en-US" sz="1200" i="1" dirty="0">
                <a:solidFill>
                  <a:srgbClr val="D4A017"/>
                </a:solidFill>
                <a:latin typeface="Calibri" pitchFamily="34" charset="0"/>
                <a:ea typeface="Calibri" pitchFamily="34" charset="-122"/>
                <a:cs typeface="Calibri" pitchFamily="34" charset="-120"/>
              </a:rPr>
              <a:t>Facultad de Ciencias de la Computación  |  Carrera de Ingeniería de Software</a:t>
            </a:r>
            <a:endParaRPr lang="en-US" sz="1200" dirty="0"/>
          </a:p>
        </p:txBody>
      </p:sp>
      <p:sp>
        <p:nvSpPr>
          <p:cNvPr id="6" name="Text 4"/>
          <p:cNvSpPr/>
          <p:nvPr/>
        </p:nvSpPr>
        <p:spPr>
          <a:xfrm>
            <a:off x="457200" y="2194560"/>
            <a:ext cx="11247120" cy="640080"/>
          </a:xfrm>
          <a:prstGeom prst="rect">
            <a:avLst/>
          </a:prstGeom>
          <a:noFill/>
          <a:ln/>
        </p:spPr>
        <p:txBody>
          <a:bodyPr wrap="square" lIns="0" tIns="0" rIns="0" bIns="0" rtlCol="0" anchor="ctr"/>
          <a:lstStyle/>
          <a:p>
            <a:pPr marL="0" indent="0" algn="ctr">
              <a:buNone/>
            </a:pPr>
            <a:r>
              <a:rPr lang="en-US" sz="3600" b="1" kern="0" spc="1200" dirty="0">
                <a:solidFill>
                  <a:srgbClr val="D4A017"/>
                </a:solidFill>
                <a:latin typeface="Cambria" pitchFamily="34" charset="0"/>
                <a:ea typeface="Cambria" pitchFamily="34" charset="-122"/>
                <a:cs typeface="Cambria" pitchFamily="34" charset="-120"/>
              </a:rPr>
              <a:t>UNIDAD 3</a:t>
            </a:r>
            <a:endParaRPr lang="en-US" sz="3600" dirty="0"/>
          </a:p>
        </p:txBody>
      </p:sp>
      <p:sp>
        <p:nvSpPr>
          <p:cNvPr id="7" name="Text 5"/>
          <p:cNvSpPr/>
          <p:nvPr/>
        </p:nvSpPr>
        <p:spPr>
          <a:xfrm>
            <a:off x="457200" y="2926080"/>
            <a:ext cx="11247120" cy="822960"/>
          </a:xfrm>
          <a:prstGeom prst="rect">
            <a:avLst/>
          </a:prstGeom>
          <a:noFill/>
          <a:ln/>
        </p:spPr>
        <p:txBody>
          <a:bodyPr wrap="square" lIns="0" tIns="0" rIns="0" bIns="0" rtlCol="0" anchor="ctr"/>
          <a:lstStyle/>
          <a:p>
            <a:pPr marL="0" indent="0" algn="ctr">
              <a:buNone/>
            </a:pPr>
            <a:r>
              <a:rPr lang="en-US" sz="4200" b="1" dirty="0">
                <a:solidFill>
                  <a:srgbClr val="FFFFFF"/>
                </a:solidFill>
                <a:latin typeface="Cambria" pitchFamily="34" charset="0"/>
                <a:ea typeface="Cambria" pitchFamily="34" charset="-122"/>
                <a:cs typeface="Cambria" pitchFamily="34" charset="-120"/>
              </a:rPr>
              <a:t>Especificación de Requisitos de Software</a:t>
            </a:r>
            <a:endParaRPr lang="en-US" sz="4200" dirty="0"/>
          </a:p>
        </p:txBody>
      </p:sp>
      <p:sp>
        <p:nvSpPr>
          <p:cNvPr id="8" name="Text 6"/>
          <p:cNvSpPr/>
          <p:nvPr/>
        </p:nvSpPr>
        <p:spPr>
          <a:xfrm>
            <a:off x="457200" y="3840480"/>
            <a:ext cx="11247120" cy="457200"/>
          </a:xfrm>
          <a:prstGeom prst="rect">
            <a:avLst/>
          </a:prstGeom>
          <a:noFill/>
          <a:ln/>
        </p:spPr>
        <p:txBody>
          <a:bodyPr wrap="square" lIns="0" tIns="0" rIns="0" bIns="0"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IEEE 29148 - lenguaje natural estructurado - modelos UML</a:t>
            </a:r>
            <a:endParaRPr lang="en-US" sz="1800" dirty="0"/>
          </a:p>
        </p:txBody>
      </p:sp>
      <p:sp>
        <p:nvSpPr>
          <p:cNvPr id="9" name="Text 7"/>
          <p:cNvSpPr/>
          <p:nvPr/>
        </p:nvSpPr>
        <p:spPr>
          <a:xfrm>
            <a:off x="457200" y="5029200"/>
            <a:ext cx="11247120" cy="320040"/>
          </a:xfrm>
          <a:prstGeom prst="rect">
            <a:avLst/>
          </a:prstGeom>
          <a:noFill/>
          <a:ln/>
        </p:spPr>
        <p:txBody>
          <a:bodyPr wrap="square" lIns="0" tIns="0" rIns="0" bIns="0" rtlCol="0" anchor="ctr"/>
          <a:lstStyle/>
          <a:p>
            <a:pPr marL="0" indent="0" algn="ctr">
              <a:buNone/>
            </a:pPr>
            <a:r>
              <a:rPr lang="en-US" sz="1400" b="1" dirty="0">
                <a:solidFill>
                  <a:srgbClr val="D4A017"/>
                </a:solidFill>
                <a:latin typeface="Calibri" pitchFamily="34" charset="0"/>
                <a:ea typeface="Calibri" pitchFamily="34" charset="-122"/>
                <a:cs typeface="Calibri" pitchFamily="34" charset="-120"/>
              </a:rPr>
              <a:t>Asignatura: </a:t>
            </a:r>
            <a:r>
              <a:rPr lang="en-US" sz="1400" dirty="0">
                <a:solidFill>
                  <a:srgbClr val="FFFFFF"/>
                </a:solidFill>
                <a:latin typeface="Calibri" pitchFamily="34" charset="0"/>
                <a:ea typeface="Calibri" pitchFamily="34" charset="-122"/>
                <a:cs typeface="Calibri" pitchFamily="34" charset="-120"/>
              </a:rPr>
              <a:t>ISR-401 Ingeniería de Requisitos</a:t>
            </a:r>
            <a:endParaRPr lang="en-US" sz="1400" dirty="0"/>
          </a:p>
        </p:txBody>
      </p:sp>
      <p:sp>
        <p:nvSpPr>
          <p:cNvPr id="10" name="Text 8"/>
          <p:cNvSpPr/>
          <p:nvPr/>
        </p:nvSpPr>
        <p:spPr>
          <a:xfrm>
            <a:off x="457200" y="5349240"/>
            <a:ext cx="11247120" cy="320040"/>
          </a:xfrm>
          <a:prstGeom prst="rect">
            <a:avLst/>
          </a:prstGeom>
          <a:noFill/>
          <a:ln/>
        </p:spPr>
        <p:txBody>
          <a:bodyPr wrap="square" lIns="0" tIns="0" rIns="0" bIns="0" rtlCol="0" anchor="ctr"/>
          <a:lstStyle/>
          <a:p>
            <a:pPr marL="0" indent="0" algn="ctr">
              <a:buNone/>
            </a:pPr>
            <a:r>
              <a:rPr lang="en-US" sz="1400" b="1" dirty="0">
                <a:solidFill>
                  <a:srgbClr val="D4A017"/>
                </a:solidFill>
                <a:latin typeface="Calibri" pitchFamily="34" charset="0"/>
                <a:ea typeface="Calibri" pitchFamily="34" charset="-122"/>
                <a:cs typeface="Calibri" pitchFamily="34" charset="-120"/>
              </a:rPr>
              <a:t>Docente: </a:t>
            </a:r>
            <a:r>
              <a:rPr lang="en-US" sz="1400" dirty="0">
                <a:solidFill>
                  <a:srgbClr val="FFFFFF"/>
                </a:solidFill>
                <a:latin typeface="Calibri" pitchFamily="34" charset="0"/>
                <a:ea typeface="Calibri" pitchFamily="34" charset="-122"/>
                <a:cs typeface="Calibri" pitchFamily="34" charset="-120"/>
              </a:rPr>
              <a:t>Ing. Gleiston Guerrero Ulloa, PhD</a:t>
            </a:r>
            <a:endParaRPr lang="en-US" sz="1400" dirty="0"/>
          </a:p>
        </p:txBody>
      </p:sp>
      <p:sp>
        <p:nvSpPr>
          <p:cNvPr id="11" name="Text 9"/>
          <p:cNvSpPr/>
          <p:nvPr/>
        </p:nvSpPr>
        <p:spPr>
          <a:xfrm>
            <a:off x="457200" y="5669280"/>
            <a:ext cx="11247120" cy="320040"/>
          </a:xfrm>
          <a:prstGeom prst="rect">
            <a:avLst/>
          </a:prstGeom>
          <a:noFill/>
          <a:ln/>
        </p:spPr>
        <p:txBody>
          <a:bodyPr wrap="square" lIns="0" tIns="0" rIns="0" bIns="0"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Cuarto Nivel  -  Paralelos A y B  -  PPA 2026-2027</a:t>
            </a:r>
            <a:endParaRPr lang="en-US" sz="1200" dirty="0"/>
          </a:p>
        </p:txBody>
      </p:sp>
      <p:sp>
        <p:nvSpPr>
          <p:cNvPr id="13" name="Shape 10"/>
          <p:cNvSpPr/>
          <p:nvPr/>
        </p:nvSpPr>
        <p:spPr>
          <a:xfrm>
            <a:off x="0" y="0"/>
            <a:ext cx="12161520" cy="384048"/>
          </a:xfrm>
          <a:prstGeom prst="rect">
            <a:avLst/>
          </a:prstGeom>
          <a:solidFill>
            <a:srgbClr val="2C5F2D"/>
          </a:solidFill>
          <a:ln w="12700">
            <a:solidFill>
              <a:srgbClr val="2C5F2D"/>
            </a:solidFill>
            <a:prstDash val="solid"/>
          </a:ln>
        </p:spPr>
      </p:sp>
      <p:sp>
        <p:nvSpPr>
          <p:cNvPr id="14" name="Text 11"/>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15" name="Text 12"/>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Portada</a:t>
            </a:r>
            <a:endParaRPr lang="en-US" sz="1000" dirty="0"/>
          </a:p>
        </p:txBody>
      </p:sp>
      <p:sp>
        <p:nvSpPr>
          <p:cNvPr id="16" name="Text 13"/>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17" name="Text 14"/>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1 / 30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548640"/>
            <a:ext cx="11247120" cy="640080"/>
          </a:xfrm>
          <a:prstGeom prst="rect">
            <a:avLst/>
          </a:prstGeom>
          <a:noFill/>
          <a:ln/>
        </p:spPr>
        <p:txBody>
          <a:bodyPr wrap="square" lIns="0" tIns="0" rIns="0" bIns="0" rtlCol="0" anchor="t"/>
          <a:lstStyle/>
          <a:p>
            <a:pPr marL="0" indent="0" algn="l">
              <a:buNone/>
            </a:pPr>
            <a:r>
              <a:rPr lang="en-US" sz="3000" b="1" dirty="0">
                <a:solidFill>
                  <a:srgbClr val="1E4D8B"/>
                </a:solidFill>
                <a:latin typeface="Cambria" pitchFamily="34" charset="0"/>
                <a:ea typeface="Cambria" pitchFamily="34" charset="-122"/>
                <a:cs typeface="Cambria" pitchFamily="34" charset="-120"/>
              </a:rPr>
              <a:t>Resultado de Aprendizaje</a:t>
            </a:r>
            <a:endParaRPr lang="en-US" sz="3000" dirty="0"/>
          </a:p>
        </p:txBody>
      </p:sp>
      <p:sp>
        <p:nvSpPr>
          <p:cNvPr id="3" name="Text 1"/>
          <p:cNvSpPr/>
          <p:nvPr/>
        </p:nvSpPr>
        <p:spPr>
          <a:xfrm>
            <a:off x="457200" y="1188720"/>
            <a:ext cx="11247120" cy="365760"/>
          </a:xfrm>
          <a:prstGeom prst="rect">
            <a:avLst/>
          </a:prstGeom>
          <a:noFill/>
          <a:ln/>
        </p:spPr>
        <p:txBody>
          <a:bodyPr wrap="square" lIns="0" tIns="0" rIns="0" bIns="0" rtlCol="0" anchor="t"/>
          <a:lstStyle/>
          <a:p>
            <a:pPr marL="0" indent="0" algn="l">
              <a:buNone/>
            </a:pPr>
            <a:r>
              <a:rPr lang="en-US" sz="1300" i="1" dirty="0">
                <a:solidFill>
                  <a:srgbClr val="475569"/>
                </a:solidFill>
                <a:latin typeface="Calibri" pitchFamily="34" charset="0"/>
                <a:ea typeface="Calibri" pitchFamily="34" charset="-122"/>
                <a:cs typeface="Calibri" pitchFamily="34" charset="-120"/>
              </a:rPr>
              <a:t>Que será capaz de hacer el estudiante al terminar la Unidad 3</a:t>
            </a:r>
            <a:endParaRPr lang="en-US" sz="1300" dirty="0"/>
          </a:p>
        </p:txBody>
      </p:sp>
      <p:sp>
        <p:nvSpPr>
          <p:cNvPr id="4" name="Shape 2"/>
          <p:cNvSpPr/>
          <p:nvPr/>
        </p:nvSpPr>
        <p:spPr>
          <a:xfrm>
            <a:off x="457200" y="1737360"/>
            <a:ext cx="11247120" cy="1645920"/>
          </a:xfrm>
          <a:prstGeom prst="roundRect">
            <a:avLst>
              <a:gd name="adj" fmla="val 8333"/>
            </a:avLst>
          </a:prstGeom>
          <a:solidFill>
            <a:srgbClr val="F8FAFC"/>
          </a:solidFill>
          <a:ln w="25400">
            <a:solidFill>
              <a:srgbClr val="2C5F2D"/>
            </a:solidFill>
            <a:prstDash val="solid"/>
          </a:ln>
          <a:effectLst>
            <a:outerShdw blurRad="101600" dist="25400" dir="5400000" algn="bl" rotWithShape="0">
              <a:srgbClr val="000000">
                <a:alpha val="10000"/>
              </a:srgbClr>
            </a:outerShdw>
          </a:effectLst>
        </p:spPr>
      </p:sp>
      <p:pic>
        <p:nvPicPr>
          <p:cNvPr id="5" name="Image 0" descr="preencoded.png"/>
          <p:cNvPicPr>
            <a:picLocks noChangeAspect="1"/>
          </p:cNvPicPr>
          <p:nvPr/>
        </p:nvPicPr>
        <p:blipFill>
          <a:blip r:embed="rId3"/>
          <a:stretch>
            <a:fillRect/>
          </a:stretch>
        </p:blipFill>
        <p:spPr>
          <a:xfrm>
            <a:off x="777240" y="1965960"/>
            <a:ext cx="822960" cy="822960"/>
          </a:xfrm>
          <a:prstGeom prst="rect">
            <a:avLst/>
          </a:prstGeom>
        </p:spPr>
      </p:pic>
      <p:sp>
        <p:nvSpPr>
          <p:cNvPr id="6" name="Text 3"/>
          <p:cNvSpPr/>
          <p:nvPr/>
        </p:nvSpPr>
        <p:spPr>
          <a:xfrm>
            <a:off x="1828800" y="1920240"/>
            <a:ext cx="9601200" cy="365760"/>
          </a:xfrm>
          <a:prstGeom prst="rect">
            <a:avLst/>
          </a:prstGeom>
          <a:noFill/>
          <a:ln/>
        </p:spPr>
        <p:txBody>
          <a:bodyPr wrap="square" lIns="0" tIns="0" rIns="0" bIns="0" rtlCol="0" anchor="ctr"/>
          <a:lstStyle/>
          <a:p>
            <a:pPr marL="0" indent="0" algn="l">
              <a:buNone/>
            </a:pPr>
            <a:r>
              <a:rPr lang="en-US" sz="1400" b="1" dirty="0">
                <a:solidFill>
                  <a:srgbClr val="2C5F2D"/>
                </a:solidFill>
                <a:latin typeface="Calibri" pitchFamily="34" charset="0"/>
                <a:ea typeface="Calibri" pitchFamily="34" charset="-122"/>
                <a:cs typeface="Calibri" pitchFamily="34" charset="-120"/>
              </a:rPr>
              <a:t>RESULTADO DE APRENDIZAJE 3</a:t>
            </a:r>
            <a:endParaRPr lang="en-US" sz="1400" dirty="0"/>
          </a:p>
        </p:txBody>
      </p:sp>
      <p:sp>
        <p:nvSpPr>
          <p:cNvPr id="7" name="Text 4"/>
          <p:cNvSpPr/>
          <p:nvPr/>
        </p:nvSpPr>
        <p:spPr>
          <a:xfrm>
            <a:off x="1828800" y="2286000"/>
            <a:ext cx="9601200" cy="1005840"/>
          </a:xfrm>
          <a:prstGeom prst="rect">
            <a:avLst/>
          </a:prstGeom>
          <a:noFill/>
          <a:ln/>
        </p:spPr>
        <p:txBody>
          <a:bodyPr wrap="square" lIns="0" tIns="0" rIns="0" bIns="0" rtlCol="0" anchor="t"/>
          <a:lstStyle/>
          <a:p>
            <a:pPr marL="0" indent="0" algn="l">
              <a:buNone/>
            </a:pPr>
            <a:r>
              <a:rPr lang="en-US" sz="1800" dirty="0">
                <a:solidFill>
                  <a:srgbClr val="1E293B"/>
                </a:solidFill>
                <a:latin typeface="Cambria" pitchFamily="34" charset="0"/>
                <a:ea typeface="Cambria" pitchFamily="34" charset="-122"/>
                <a:cs typeface="Cambria" pitchFamily="34" charset="-120"/>
              </a:rPr>
              <a:t>Elabora especificaciones de requisitos de software (ERS/SRS) completas y verificables, aplicando IEEE 29148, lenguaje natural estructurado y modelos UML.</a:t>
            </a:r>
            <a:endParaRPr lang="en-US" sz="1800" dirty="0"/>
          </a:p>
        </p:txBody>
      </p:sp>
      <p:sp>
        <p:nvSpPr>
          <p:cNvPr id="8" name="Shape 5"/>
          <p:cNvSpPr/>
          <p:nvPr/>
        </p:nvSpPr>
        <p:spPr>
          <a:xfrm>
            <a:off x="320040" y="3749040"/>
            <a:ext cx="3657600" cy="2468880"/>
          </a:xfrm>
          <a:prstGeom prst="roundRect">
            <a:avLst>
              <a:gd name="adj" fmla="val 3704"/>
            </a:avLst>
          </a:prstGeom>
          <a:solidFill>
            <a:srgbClr val="FFFFFF"/>
          </a:solidFill>
          <a:ln w="12700">
            <a:solidFill>
              <a:srgbClr val="E2E8F0"/>
            </a:solidFill>
            <a:prstDash val="solid"/>
          </a:ln>
          <a:effectLst>
            <a:outerShdw blurRad="76200" dist="25400" dir="5400000" algn="bl" rotWithShape="0">
              <a:srgbClr val="000000">
                <a:alpha val="8000"/>
              </a:srgbClr>
            </a:outerShdw>
          </a:effectLst>
        </p:spPr>
      </p:sp>
      <p:sp>
        <p:nvSpPr>
          <p:cNvPr id="9" name="Shape 6"/>
          <p:cNvSpPr/>
          <p:nvPr/>
        </p:nvSpPr>
        <p:spPr>
          <a:xfrm>
            <a:off x="1691640" y="3977640"/>
            <a:ext cx="914400" cy="914400"/>
          </a:xfrm>
          <a:prstGeom prst="ellipse">
            <a:avLst/>
          </a:prstGeom>
          <a:solidFill>
            <a:srgbClr val="2C5F2D"/>
          </a:solidFill>
          <a:ln w="12700">
            <a:solidFill>
              <a:srgbClr val="2C5F2D"/>
            </a:solidFill>
            <a:prstDash val="solid"/>
          </a:ln>
        </p:spPr>
      </p:sp>
      <p:pic>
        <p:nvPicPr>
          <p:cNvPr id="10" name="Image 1" descr="preencoded.png"/>
          <p:cNvPicPr>
            <a:picLocks noChangeAspect="1"/>
          </p:cNvPicPr>
          <p:nvPr/>
        </p:nvPicPr>
        <p:blipFill>
          <a:blip r:embed="rId4"/>
          <a:stretch>
            <a:fillRect/>
          </a:stretch>
        </p:blipFill>
        <p:spPr>
          <a:xfrm>
            <a:off x="1874520" y="4160520"/>
            <a:ext cx="548640" cy="548640"/>
          </a:xfrm>
          <a:prstGeom prst="rect">
            <a:avLst/>
          </a:prstGeom>
        </p:spPr>
      </p:pic>
      <p:sp>
        <p:nvSpPr>
          <p:cNvPr id="11" name="Text 7"/>
          <p:cNvSpPr/>
          <p:nvPr/>
        </p:nvSpPr>
        <p:spPr>
          <a:xfrm>
            <a:off x="457200" y="5029200"/>
            <a:ext cx="3383280" cy="457200"/>
          </a:xfrm>
          <a:prstGeom prst="rect">
            <a:avLst/>
          </a:prstGeom>
          <a:noFill/>
          <a:ln/>
        </p:spPr>
        <p:txBody>
          <a:bodyPr wrap="square" lIns="0" tIns="0" rIns="0" bIns="0" rtlCol="0" anchor="ctr"/>
          <a:lstStyle/>
          <a:p>
            <a:pPr marL="0" indent="0" algn="ctr">
              <a:buNone/>
            </a:pPr>
            <a:r>
              <a:rPr lang="en-US" sz="2000" b="1" dirty="0">
                <a:solidFill>
                  <a:srgbClr val="1E4D8B"/>
                </a:solidFill>
                <a:latin typeface="Cambria" pitchFamily="34" charset="0"/>
                <a:ea typeface="Cambria" pitchFamily="34" charset="-122"/>
                <a:cs typeface="Cambria" pitchFamily="34" charset="-120"/>
              </a:rPr>
              <a:t>Documentar</a:t>
            </a:r>
            <a:endParaRPr lang="en-US" sz="2000" dirty="0"/>
          </a:p>
        </p:txBody>
      </p:sp>
      <p:sp>
        <p:nvSpPr>
          <p:cNvPr id="12" name="Text 8"/>
          <p:cNvSpPr/>
          <p:nvPr/>
        </p:nvSpPr>
        <p:spPr>
          <a:xfrm>
            <a:off x="548640" y="5532120"/>
            <a:ext cx="3200400" cy="594360"/>
          </a:xfrm>
          <a:prstGeom prst="rect">
            <a:avLst/>
          </a:prstGeom>
          <a:noFill/>
          <a:ln/>
        </p:spPr>
        <p:txBody>
          <a:bodyPr wrap="square" lIns="0" tIns="0" rIns="0" bIns="0" rtlCol="0" anchor="t"/>
          <a:lstStyle/>
          <a:p>
            <a:pPr marL="0" indent="0" algn="ctr">
              <a:buNone/>
            </a:pPr>
            <a:r>
              <a:rPr lang="en-US" sz="1200" dirty="0">
                <a:solidFill>
                  <a:srgbClr val="475569"/>
                </a:solidFill>
                <a:latin typeface="Calibri" pitchFamily="34" charset="0"/>
                <a:ea typeface="Calibri" pitchFamily="34" charset="-122"/>
                <a:cs typeface="Calibri" pitchFamily="34" charset="-120"/>
              </a:rPr>
              <a:t>Producir artefactos con atributos, trazabilidad y criterios de aceptación.</a:t>
            </a:r>
            <a:endParaRPr lang="en-US" sz="1200" dirty="0"/>
          </a:p>
        </p:txBody>
      </p:sp>
      <p:sp>
        <p:nvSpPr>
          <p:cNvPr id="13" name="Shape 9"/>
          <p:cNvSpPr/>
          <p:nvPr/>
        </p:nvSpPr>
        <p:spPr>
          <a:xfrm>
            <a:off x="4251960" y="3749040"/>
            <a:ext cx="3657600" cy="2468880"/>
          </a:xfrm>
          <a:prstGeom prst="roundRect">
            <a:avLst>
              <a:gd name="adj" fmla="val 3704"/>
            </a:avLst>
          </a:prstGeom>
          <a:solidFill>
            <a:srgbClr val="FFFFFF"/>
          </a:solidFill>
          <a:ln w="12700">
            <a:solidFill>
              <a:srgbClr val="E2E8F0"/>
            </a:solidFill>
            <a:prstDash val="solid"/>
          </a:ln>
          <a:effectLst>
            <a:outerShdw blurRad="76200" dist="25400" dir="5400000" algn="bl" rotWithShape="0">
              <a:srgbClr val="000000">
                <a:alpha val="8000"/>
              </a:srgbClr>
            </a:outerShdw>
          </a:effectLst>
        </p:spPr>
      </p:sp>
      <p:sp>
        <p:nvSpPr>
          <p:cNvPr id="14" name="Shape 10"/>
          <p:cNvSpPr/>
          <p:nvPr/>
        </p:nvSpPr>
        <p:spPr>
          <a:xfrm>
            <a:off x="5623560" y="3977640"/>
            <a:ext cx="914400" cy="914400"/>
          </a:xfrm>
          <a:prstGeom prst="ellipse">
            <a:avLst/>
          </a:prstGeom>
          <a:solidFill>
            <a:srgbClr val="2C5F2D"/>
          </a:solidFill>
          <a:ln w="12700">
            <a:solidFill>
              <a:srgbClr val="2C5F2D"/>
            </a:solidFill>
            <a:prstDash val="solid"/>
          </a:ln>
        </p:spPr>
      </p:sp>
      <p:pic>
        <p:nvPicPr>
          <p:cNvPr id="15" name="Image 2" descr="preencoded.png"/>
          <p:cNvPicPr>
            <a:picLocks noChangeAspect="1"/>
          </p:cNvPicPr>
          <p:nvPr/>
        </p:nvPicPr>
        <p:blipFill>
          <a:blip r:embed="rId5"/>
          <a:stretch>
            <a:fillRect/>
          </a:stretch>
        </p:blipFill>
        <p:spPr>
          <a:xfrm>
            <a:off x="5806440" y="4160520"/>
            <a:ext cx="548640" cy="548640"/>
          </a:xfrm>
          <a:prstGeom prst="rect">
            <a:avLst/>
          </a:prstGeom>
        </p:spPr>
      </p:pic>
      <p:sp>
        <p:nvSpPr>
          <p:cNvPr id="16" name="Text 11"/>
          <p:cNvSpPr/>
          <p:nvPr/>
        </p:nvSpPr>
        <p:spPr>
          <a:xfrm>
            <a:off x="4389120" y="5029200"/>
            <a:ext cx="3383280" cy="457200"/>
          </a:xfrm>
          <a:prstGeom prst="rect">
            <a:avLst/>
          </a:prstGeom>
          <a:noFill/>
          <a:ln/>
        </p:spPr>
        <p:txBody>
          <a:bodyPr wrap="square" lIns="0" tIns="0" rIns="0" bIns="0" rtlCol="0" anchor="ctr"/>
          <a:lstStyle/>
          <a:p>
            <a:pPr marL="0" indent="0" algn="ctr">
              <a:buNone/>
            </a:pPr>
            <a:r>
              <a:rPr lang="en-US" sz="2000" b="1" dirty="0">
                <a:solidFill>
                  <a:srgbClr val="1E4D8B"/>
                </a:solidFill>
                <a:latin typeface="Cambria" pitchFamily="34" charset="0"/>
                <a:ea typeface="Cambria" pitchFamily="34" charset="-122"/>
                <a:cs typeface="Cambria" pitchFamily="34" charset="-120"/>
              </a:rPr>
              <a:t>Especificar</a:t>
            </a:r>
            <a:endParaRPr lang="en-US" sz="2000" dirty="0"/>
          </a:p>
        </p:txBody>
      </p:sp>
      <p:sp>
        <p:nvSpPr>
          <p:cNvPr id="17" name="Text 12"/>
          <p:cNvSpPr/>
          <p:nvPr/>
        </p:nvSpPr>
        <p:spPr>
          <a:xfrm>
            <a:off x="4480560" y="5532120"/>
            <a:ext cx="3200400" cy="594360"/>
          </a:xfrm>
          <a:prstGeom prst="rect">
            <a:avLst/>
          </a:prstGeom>
          <a:noFill/>
          <a:ln/>
        </p:spPr>
        <p:txBody>
          <a:bodyPr wrap="square" lIns="0" tIns="0" rIns="0" bIns="0" rtlCol="0" anchor="t"/>
          <a:lstStyle/>
          <a:p>
            <a:pPr marL="0" indent="0" algn="ctr">
              <a:buNone/>
            </a:pPr>
            <a:r>
              <a:rPr lang="en-US" sz="1200" dirty="0">
                <a:solidFill>
                  <a:srgbClr val="475569"/>
                </a:solidFill>
                <a:latin typeface="Calibri" pitchFamily="34" charset="0"/>
                <a:ea typeface="Calibri" pitchFamily="34" charset="-122"/>
                <a:cs typeface="Calibri" pitchFamily="34" charset="-120"/>
              </a:rPr>
              <a:t>Redactar ERS conforme a IEEE 29148:2018 con requisitos bien formados.</a:t>
            </a:r>
            <a:endParaRPr lang="en-US" sz="1200" dirty="0"/>
          </a:p>
        </p:txBody>
      </p:sp>
      <p:sp>
        <p:nvSpPr>
          <p:cNvPr id="18" name="Shape 13"/>
          <p:cNvSpPr/>
          <p:nvPr/>
        </p:nvSpPr>
        <p:spPr>
          <a:xfrm>
            <a:off x="8183880" y="3749040"/>
            <a:ext cx="3657600" cy="2468880"/>
          </a:xfrm>
          <a:prstGeom prst="roundRect">
            <a:avLst>
              <a:gd name="adj" fmla="val 3704"/>
            </a:avLst>
          </a:prstGeom>
          <a:solidFill>
            <a:srgbClr val="FFFFFF"/>
          </a:solidFill>
          <a:ln w="12700">
            <a:solidFill>
              <a:srgbClr val="E2E8F0"/>
            </a:solidFill>
            <a:prstDash val="solid"/>
          </a:ln>
          <a:effectLst>
            <a:outerShdw blurRad="76200" dist="25400" dir="5400000" algn="bl" rotWithShape="0">
              <a:srgbClr val="000000">
                <a:alpha val="8000"/>
              </a:srgbClr>
            </a:outerShdw>
          </a:effectLst>
        </p:spPr>
      </p:sp>
      <p:sp>
        <p:nvSpPr>
          <p:cNvPr id="19" name="Shape 14"/>
          <p:cNvSpPr/>
          <p:nvPr/>
        </p:nvSpPr>
        <p:spPr>
          <a:xfrm>
            <a:off x="9555480" y="3977640"/>
            <a:ext cx="914400" cy="914400"/>
          </a:xfrm>
          <a:prstGeom prst="ellipse">
            <a:avLst/>
          </a:prstGeom>
          <a:solidFill>
            <a:srgbClr val="2C5F2D"/>
          </a:solidFill>
          <a:ln w="12700">
            <a:solidFill>
              <a:srgbClr val="2C5F2D"/>
            </a:solidFill>
            <a:prstDash val="solid"/>
          </a:ln>
        </p:spPr>
      </p:sp>
      <p:pic>
        <p:nvPicPr>
          <p:cNvPr id="20" name="Image 3" descr="preencoded.png"/>
          <p:cNvPicPr>
            <a:picLocks noChangeAspect="1"/>
          </p:cNvPicPr>
          <p:nvPr/>
        </p:nvPicPr>
        <p:blipFill>
          <a:blip r:embed="rId6"/>
          <a:stretch>
            <a:fillRect/>
          </a:stretch>
        </p:blipFill>
        <p:spPr>
          <a:xfrm>
            <a:off x="9738360" y="4160520"/>
            <a:ext cx="548640" cy="548640"/>
          </a:xfrm>
          <a:prstGeom prst="rect">
            <a:avLst/>
          </a:prstGeom>
        </p:spPr>
      </p:pic>
      <p:sp>
        <p:nvSpPr>
          <p:cNvPr id="21" name="Text 15"/>
          <p:cNvSpPr/>
          <p:nvPr/>
        </p:nvSpPr>
        <p:spPr>
          <a:xfrm>
            <a:off x="8321040" y="5029200"/>
            <a:ext cx="3383280" cy="457200"/>
          </a:xfrm>
          <a:prstGeom prst="rect">
            <a:avLst/>
          </a:prstGeom>
          <a:noFill/>
          <a:ln/>
        </p:spPr>
        <p:txBody>
          <a:bodyPr wrap="square" lIns="0" tIns="0" rIns="0" bIns="0" rtlCol="0" anchor="ctr"/>
          <a:lstStyle/>
          <a:p>
            <a:pPr marL="0" indent="0" algn="ctr">
              <a:buNone/>
            </a:pPr>
            <a:r>
              <a:rPr lang="en-US" sz="2000" b="1" dirty="0">
                <a:solidFill>
                  <a:srgbClr val="1E4D8B"/>
                </a:solidFill>
                <a:latin typeface="Cambria" pitchFamily="34" charset="0"/>
                <a:ea typeface="Cambria" pitchFamily="34" charset="-122"/>
                <a:cs typeface="Cambria" pitchFamily="34" charset="-120"/>
              </a:rPr>
              <a:t>Modelar</a:t>
            </a:r>
            <a:endParaRPr lang="en-US" sz="2000" dirty="0"/>
          </a:p>
        </p:txBody>
      </p:sp>
      <p:sp>
        <p:nvSpPr>
          <p:cNvPr id="22" name="Text 16"/>
          <p:cNvSpPr/>
          <p:nvPr/>
        </p:nvSpPr>
        <p:spPr>
          <a:xfrm>
            <a:off x="8412480" y="5532120"/>
            <a:ext cx="3200400" cy="594360"/>
          </a:xfrm>
          <a:prstGeom prst="rect">
            <a:avLst/>
          </a:prstGeom>
          <a:noFill/>
          <a:ln/>
        </p:spPr>
        <p:txBody>
          <a:bodyPr wrap="square" lIns="0" tIns="0" rIns="0" bIns="0" rtlCol="0" anchor="t"/>
          <a:lstStyle/>
          <a:p>
            <a:pPr marL="0" indent="0" algn="ctr">
              <a:buNone/>
            </a:pPr>
            <a:r>
              <a:rPr lang="en-US" sz="1200" dirty="0">
                <a:solidFill>
                  <a:srgbClr val="475569"/>
                </a:solidFill>
                <a:latin typeface="Calibri" pitchFamily="34" charset="0"/>
                <a:ea typeface="Calibri" pitchFamily="34" charset="-122"/>
                <a:cs typeface="Calibri" pitchFamily="34" charset="-120"/>
              </a:rPr>
              <a:t>Combinar texto con UML: datos, función y comportamiento del sistema.</a:t>
            </a:r>
            <a:endParaRPr lang="en-US" sz="1200" dirty="0"/>
          </a:p>
        </p:txBody>
      </p:sp>
      <p:sp>
        <p:nvSpPr>
          <p:cNvPr id="24" name="Shape 17"/>
          <p:cNvSpPr/>
          <p:nvPr/>
        </p:nvSpPr>
        <p:spPr>
          <a:xfrm>
            <a:off x="0" y="0"/>
            <a:ext cx="12161520" cy="384048"/>
          </a:xfrm>
          <a:prstGeom prst="rect">
            <a:avLst/>
          </a:prstGeom>
          <a:solidFill>
            <a:srgbClr val="2C5F2D"/>
          </a:solidFill>
          <a:ln w="12700">
            <a:solidFill>
              <a:srgbClr val="2C5F2D"/>
            </a:solidFill>
            <a:prstDash val="solid"/>
          </a:ln>
        </p:spPr>
      </p:sp>
      <p:sp>
        <p:nvSpPr>
          <p:cNvPr id="25" name="Text 18"/>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26" name="Text 19"/>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Objetivo</a:t>
            </a:r>
            <a:endParaRPr lang="en-US" sz="1000" dirty="0"/>
          </a:p>
        </p:txBody>
      </p:sp>
      <p:sp>
        <p:nvSpPr>
          <p:cNvPr id="27" name="Text 20"/>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28" name="Text 21"/>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2 / 30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548640"/>
            <a:ext cx="11247120" cy="640080"/>
          </a:xfrm>
          <a:prstGeom prst="rect">
            <a:avLst/>
          </a:prstGeom>
          <a:noFill/>
          <a:ln/>
        </p:spPr>
        <p:txBody>
          <a:bodyPr wrap="square" lIns="0" tIns="0" rIns="0" bIns="0" rtlCol="0" anchor="t"/>
          <a:lstStyle/>
          <a:p>
            <a:pPr marL="0" indent="0" algn="l">
              <a:buNone/>
            </a:pPr>
            <a:r>
              <a:rPr lang="en-US" sz="3000" b="1" dirty="0">
                <a:solidFill>
                  <a:srgbClr val="1E4D8B"/>
                </a:solidFill>
                <a:latin typeface="Cambria" pitchFamily="34" charset="0"/>
                <a:ea typeface="Cambria" pitchFamily="34" charset="-122"/>
                <a:cs typeface="Cambria" pitchFamily="34" charset="-120"/>
              </a:rPr>
              <a:t>Mapa de la Unidad</a:t>
            </a:r>
            <a:endParaRPr lang="en-US" sz="3000" dirty="0"/>
          </a:p>
        </p:txBody>
      </p:sp>
      <p:sp>
        <p:nvSpPr>
          <p:cNvPr id="3" name="Text 1"/>
          <p:cNvSpPr/>
          <p:nvPr/>
        </p:nvSpPr>
        <p:spPr>
          <a:xfrm>
            <a:off x="457200" y="1188720"/>
            <a:ext cx="11247120" cy="365760"/>
          </a:xfrm>
          <a:prstGeom prst="rect">
            <a:avLst/>
          </a:prstGeom>
          <a:noFill/>
          <a:ln/>
        </p:spPr>
        <p:txBody>
          <a:bodyPr wrap="square" lIns="0" tIns="0" rIns="0" bIns="0" rtlCol="0" anchor="t"/>
          <a:lstStyle/>
          <a:p>
            <a:pPr marL="0" indent="0" algn="l">
              <a:buNone/>
            </a:pPr>
            <a:r>
              <a:rPr lang="en-US" sz="1300" i="1" dirty="0">
                <a:solidFill>
                  <a:srgbClr val="475569"/>
                </a:solidFill>
                <a:latin typeface="Calibri" pitchFamily="34" charset="0"/>
                <a:ea typeface="Calibri" pitchFamily="34" charset="-122"/>
                <a:cs typeface="Calibri" pitchFamily="34" charset="-120"/>
              </a:rPr>
              <a:t>Tres temas, doce subtemas, un único artefacto final: la ERS</a:t>
            </a:r>
            <a:endParaRPr lang="en-US" sz="1300" dirty="0"/>
          </a:p>
        </p:txBody>
      </p:sp>
      <p:sp>
        <p:nvSpPr>
          <p:cNvPr id="4" name="Shape 2"/>
          <p:cNvSpPr/>
          <p:nvPr/>
        </p:nvSpPr>
        <p:spPr>
          <a:xfrm>
            <a:off x="274320" y="1828800"/>
            <a:ext cx="3657600" cy="4297680"/>
          </a:xfrm>
          <a:prstGeom prst="roundRect">
            <a:avLst>
              <a:gd name="adj" fmla="val 3000"/>
            </a:avLst>
          </a:prstGeom>
          <a:solidFill>
            <a:srgbClr val="FFFFFF"/>
          </a:solidFill>
          <a:ln w="12700">
            <a:solidFill>
              <a:srgbClr val="E2E8F0"/>
            </a:solidFill>
            <a:prstDash val="solid"/>
          </a:ln>
          <a:effectLst>
            <a:outerShdw blurRad="101600" dist="38100" dir="5400000" algn="bl" rotWithShape="0">
              <a:srgbClr val="000000">
                <a:alpha val="10000"/>
              </a:srgbClr>
            </a:outerShdw>
          </a:effectLst>
        </p:spPr>
      </p:sp>
      <p:sp>
        <p:nvSpPr>
          <p:cNvPr id="5" name="Shape 3"/>
          <p:cNvSpPr/>
          <p:nvPr/>
        </p:nvSpPr>
        <p:spPr>
          <a:xfrm>
            <a:off x="274320" y="1828800"/>
            <a:ext cx="3657600" cy="1188720"/>
          </a:xfrm>
          <a:prstGeom prst="roundRect">
            <a:avLst>
              <a:gd name="adj" fmla="val 9231"/>
            </a:avLst>
          </a:prstGeom>
          <a:solidFill>
            <a:srgbClr val="2C5F2D"/>
          </a:solidFill>
          <a:ln w="12700">
            <a:solidFill>
              <a:srgbClr val="2C5F2D"/>
            </a:solidFill>
            <a:prstDash val="solid"/>
          </a:ln>
        </p:spPr>
      </p:sp>
      <p:sp>
        <p:nvSpPr>
          <p:cNvPr id="6" name="Shape 4"/>
          <p:cNvSpPr/>
          <p:nvPr/>
        </p:nvSpPr>
        <p:spPr>
          <a:xfrm>
            <a:off x="274320" y="2468880"/>
            <a:ext cx="3657600" cy="548640"/>
          </a:xfrm>
          <a:prstGeom prst="rect">
            <a:avLst/>
          </a:prstGeom>
          <a:solidFill>
            <a:srgbClr val="2C5F2D"/>
          </a:solidFill>
          <a:ln w="12700">
            <a:solidFill>
              <a:srgbClr val="2C5F2D"/>
            </a:solidFill>
            <a:prstDash val="solid"/>
          </a:ln>
        </p:spPr>
      </p:sp>
      <p:sp>
        <p:nvSpPr>
          <p:cNvPr id="7" name="Text 5"/>
          <p:cNvSpPr/>
          <p:nvPr/>
        </p:nvSpPr>
        <p:spPr>
          <a:xfrm>
            <a:off x="457200" y="1965960"/>
            <a:ext cx="3291840" cy="365760"/>
          </a:xfrm>
          <a:prstGeom prst="rect">
            <a:avLst/>
          </a:prstGeom>
          <a:noFill/>
          <a:ln/>
        </p:spPr>
        <p:txBody>
          <a:bodyPr wrap="square" lIns="0" tIns="0" rIns="0" bIns="0" rtlCol="0" anchor="ctr"/>
          <a:lstStyle/>
          <a:p>
            <a:pPr marL="0" indent="0" algn="l">
              <a:buNone/>
            </a:pPr>
            <a:r>
              <a:rPr lang="en-US" sz="1200" b="1" kern="0" spc="400" dirty="0">
                <a:solidFill>
                  <a:srgbClr val="FFFFFF"/>
                </a:solidFill>
                <a:latin typeface="Calibri" pitchFamily="34" charset="0"/>
                <a:ea typeface="Calibri" pitchFamily="34" charset="-122"/>
                <a:cs typeface="Calibri" pitchFamily="34" charset="-120"/>
              </a:rPr>
              <a:t>TEMA 8</a:t>
            </a:r>
            <a:endParaRPr lang="en-US" sz="1200" dirty="0"/>
          </a:p>
        </p:txBody>
      </p:sp>
      <p:sp>
        <p:nvSpPr>
          <p:cNvPr id="8" name="Text 6"/>
          <p:cNvSpPr/>
          <p:nvPr/>
        </p:nvSpPr>
        <p:spPr>
          <a:xfrm>
            <a:off x="457200" y="2331720"/>
            <a:ext cx="3291840" cy="640080"/>
          </a:xfrm>
          <a:prstGeom prst="rect">
            <a:avLst/>
          </a:prstGeom>
          <a:noFill/>
          <a:ln/>
        </p:spPr>
        <p:txBody>
          <a:bodyPr wrap="square" lIns="0" tIns="0" rIns="0" bIns="0"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Documentación de Requisitos</a:t>
            </a:r>
            <a:endParaRPr lang="en-US" sz="1800" dirty="0"/>
          </a:p>
        </p:txBody>
      </p:sp>
      <p:pic>
        <p:nvPicPr>
          <p:cNvPr id="9" name="Image 0" descr="preencoded.png"/>
          <p:cNvPicPr>
            <a:picLocks noChangeAspect="1"/>
          </p:cNvPicPr>
          <p:nvPr/>
        </p:nvPicPr>
        <p:blipFill>
          <a:blip r:embed="rId3">
            <a:alphaModFix amt="70000"/>
          </a:blip>
          <a:stretch>
            <a:fillRect/>
          </a:stretch>
        </p:blipFill>
        <p:spPr>
          <a:xfrm>
            <a:off x="2926080" y="2057400"/>
            <a:ext cx="822960" cy="822960"/>
          </a:xfrm>
          <a:prstGeom prst="rect">
            <a:avLst/>
          </a:prstGeom>
        </p:spPr>
      </p:pic>
      <p:sp>
        <p:nvSpPr>
          <p:cNvPr id="10" name="Text 7"/>
          <p:cNvSpPr/>
          <p:nvPr/>
        </p:nvSpPr>
        <p:spPr>
          <a:xfrm>
            <a:off x="594360" y="3246120"/>
            <a:ext cx="3108960" cy="2743200"/>
          </a:xfrm>
          <a:prstGeom prst="rect">
            <a:avLst/>
          </a:prstGeom>
          <a:noFill/>
          <a:ln/>
        </p:spPr>
        <p:txBody>
          <a:bodyPr wrap="square" rtlCol="0" anchor="t"/>
          <a:lstStyle/>
          <a:p>
            <a:pPr marL="342900" indent="-342900" algn="l">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8.1 Objetivo. Artefactos (Pohl)</a:t>
            </a:r>
            <a:endParaRPr lang="en-US" sz="1300" dirty="0"/>
          </a:p>
          <a:p>
            <a:pPr marL="342900" indent="-342900" algn="l">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8.2 Formatos de representación</a:t>
            </a:r>
            <a:endParaRPr lang="en-US" sz="1300" dirty="0"/>
          </a:p>
          <a:p>
            <a:pPr marL="342900" indent="-342900" algn="l">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8.3 Atributos de requisitos</a:t>
            </a:r>
            <a:endParaRPr lang="en-US" sz="1300" dirty="0"/>
          </a:p>
          <a:p>
            <a:pPr marL="342900" indent="-342900" algn="l">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8.4 Criterios de calidad y aceptación</a:t>
            </a:r>
            <a:endParaRPr lang="en-US" sz="1300" dirty="0"/>
          </a:p>
        </p:txBody>
      </p:sp>
      <p:sp>
        <p:nvSpPr>
          <p:cNvPr id="11" name="Shape 8"/>
          <p:cNvSpPr/>
          <p:nvPr/>
        </p:nvSpPr>
        <p:spPr>
          <a:xfrm>
            <a:off x="4251960" y="1828800"/>
            <a:ext cx="3657600" cy="4297680"/>
          </a:xfrm>
          <a:prstGeom prst="roundRect">
            <a:avLst>
              <a:gd name="adj" fmla="val 3000"/>
            </a:avLst>
          </a:prstGeom>
          <a:solidFill>
            <a:srgbClr val="FFFFFF"/>
          </a:solidFill>
          <a:ln w="12700">
            <a:solidFill>
              <a:srgbClr val="E2E8F0"/>
            </a:solidFill>
            <a:prstDash val="solid"/>
          </a:ln>
          <a:effectLst>
            <a:outerShdw blurRad="101600" dist="38100" dir="5400000" algn="bl" rotWithShape="0">
              <a:srgbClr val="000000">
                <a:alpha val="10000"/>
              </a:srgbClr>
            </a:outerShdw>
          </a:effectLst>
        </p:spPr>
      </p:sp>
      <p:sp>
        <p:nvSpPr>
          <p:cNvPr id="12" name="Shape 9"/>
          <p:cNvSpPr/>
          <p:nvPr/>
        </p:nvSpPr>
        <p:spPr>
          <a:xfrm>
            <a:off x="4251960" y="1828800"/>
            <a:ext cx="3657600" cy="1188720"/>
          </a:xfrm>
          <a:prstGeom prst="roundRect">
            <a:avLst>
              <a:gd name="adj" fmla="val 9231"/>
            </a:avLst>
          </a:prstGeom>
          <a:solidFill>
            <a:srgbClr val="1E4D8B"/>
          </a:solidFill>
          <a:ln w="12700">
            <a:solidFill>
              <a:srgbClr val="1E4D8B"/>
            </a:solidFill>
            <a:prstDash val="solid"/>
          </a:ln>
        </p:spPr>
      </p:sp>
      <p:sp>
        <p:nvSpPr>
          <p:cNvPr id="13" name="Shape 10"/>
          <p:cNvSpPr/>
          <p:nvPr/>
        </p:nvSpPr>
        <p:spPr>
          <a:xfrm>
            <a:off x="4251960" y="2468880"/>
            <a:ext cx="3657600" cy="548640"/>
          </a:xfrm>
          <a:prstGeom prst="rect">
            <a:avLst/>
          </a:prstGeom>
          <a:solidFill>
            <a:srgbClr val="1E4D8B"/>
          </a:solidFill>
          <a:ln w="12700">
            <a:solidFill>
              <a:srgbClr val="1E4D8B"/>
            </a:solidFill>
            <a:prstDash val="solid"/>
          </a:ln>
        </p:spPr>
      </p:sp>
      <p:sp>
        <p:nvSpPr>
          <p:cNvPr id="14" name="Text 11"/>
          <p:cNvSpPr/>
          <p:nvPr/>
        </p:nvSpPr>
        <p:spPr>
          <a:xfrm>
            <a:off x="4434840" y="1965960"/>
            <a:ext cx="3291840" cy="365760"/>
          </a:xfrm>
          <a:prstGeom prst="rect">
            <a:avLst/>
          </a:prstGeom>
          <a:noFill/>
          <a:ln/>
        </p:spPr>
        <p:txBody>
          <a:bodyPr wrap="square" lIns="0" tIns="0" rIns="0" bIns="0" rtlCol="0" anchor="ctr"/>
          <a:lstStyle/>
          <a:p>
            <a:pPr marL="0" indent="0" algn="l">
              <a:buNone/>
            </a:pPr>
            <a:r>
              <a:rPr lang="en-US" sz="1200" b="1" kern="0" spc="400" dirty="0">
                <a:solidFill>
                  <a:srgbClr val="FFFFFF"/>
                </a:solidFill>
                <a:latin typeface="Calibri" pitchFamily="34" charset="0"/>
                <a:ea typeface="Calibri" pitchFamily="34" charset="-122"/>
                <a:cs typeface="Calibri" pitchFamily="34" charset="-120"/>
              </a:rPr>
              <a:t>TEMA 9</a:t>
            </a:r>
            <a:endParaRPr lang="en-US" sz="1200" dirty="0"/>
          </a:p>
        </p:txBody>
      </p:sp>
      <p:sp>
        <p:nvSpPr>
          <p:cNvPr id="15" name="Text 12"/>
          <p:cNvSpPr/>
          <p:nvPr/>
        </p:nvSpPr>
        <p:spPr>
          <a:xfrm>
            <a:off x="4434840" y="2331720"/>
            <a:ext cx="3291840" cy="640080"/>
          </a:xfrm>
          <a:prstGeom prst="rect">
            <a:avLst/>
          </a:prstGeom>
          <a:noFill/>
          <a:ln/>
        </p:spPr>
        <p:txBody>
          <a:bodyPr wrap="square" lIns="0" tIns="0" rIns="0" bIns="0"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Documento ERS / SRS</a:t>
            </a:r>
            <a:endParaRPr lang="en-US" sz="1800" dirty="0"/>
          </a:p>
        </p:txBody>
      </p:sp>
      <p:pic>
        <p:nvPicPr>
          <p:cNvPr id="16" name="Image 1" descr="preencoded.png"/>
          <p:cNvPicPr>
            <a:picLocks noChangeAspect="1"/>
          </p:cNvPicPr>
          <p:nvPr/>
        </p:nvPicPr>
        <p:blipFill>
          <a:blip r:embed="rId4">
            <a:alphaModFix amt="70000"/>
          </a:blip>
          <a:stretch>
            <a:fillRect/>
          </a:stretch>
        </p:blipFill>
        <p:spPr>
          <a:xfrm>
            <a:off x="6903720" y="2057400"/>
            <a:ext cx="822960" cy="822960"/>
          </a:xfrm>
          <a:prstGeom prst="rect">
            <a:avLst/>
          </a:prstGeom>
        </p:spPr>
      </p:pic>
      <p:sp>
        <p:nvSpPr>
          <p:cNvPr id="17" name="Text 13"/>
          <p:cNvSpPr/>
          <p:nvPr/>
        </p:nvSpPr>
        <p:spPr>
          <a:xfrm>
            <a:off x="4572000" y="3246120"/>
            <a:ext cx="3108960" cy="2743200"/>
          </a:xfrm>
          <a:prstGeom prst="rect">
            <a:avLst/>
          </a:prstGeom>
          <a:noFill/>
          <a:ln/>
        </p:spPr>
        <p:txBody>
          <a:bodyPr wrap="square" rtlCol="0" anchor="t"/>
          <a:lstStyle/>
          <a:p>
            <a:pPr marL="342900" indent="-342900" algn="l">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9.1 Tipos de especificaciones</a:t>
            </a:r>
            <a:endParaRPr lang="en-US" sz="1300" dirty="0"/>
          </a:p>
          <a:p>
            <a:pPr marL="342900" indent="-342900" algn="l">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9.2 Estructura IEEE 29148:2018</a:t>
            </a:r>
            <a:endParaRPr lang="en-US" sz="1300" dirty="0"/>
          </a:p>
          <a:p>
            <a:pPr marL="342900" indent="-342900" algn="l">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9.3 Lenguaje natural y ambigüedad</a:t>
            </a:r>
            <a:endParaRPr lang="en-US" sz="1300" dirty="0"/>
          </a:p>
          <a:p>
            <a:pPr marL="342900" indent="-342900" algn="l">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9.4 Combinación UML + texto</a:t>
            </a:r>
            <a:endParaRPr lang="en-US" sz="1300" dirty="0"/>
          </a:p>
        </p:txBody>
      </p:sp>
      <p:sp>
        <p:nvSpPr>
          <p:cNvPr id="18" name="Shape 14"/>
          <p:cNvSpPr/>
          <p:nvPr/>
        </p:nvSpPr>
        <p:spPr>
          <a:xfrm>
            <a:off x="8229600" y="1828800"/>
            <a:ext cx="3657600" cy="4297680"/>
          </a:xfrm>
          <a:prstGeom prst="roundRect">
            <a:avLst>
              <a:gd name="adj" fmla="val 3000"/>
            </a:avLst>
          </a:prstGeom>
          <a:solidFill>
            <a:srgbClr val="FFFFFF"/>
          </a:solidFill>
          <a:ln w="12700">
            <a:solidFill>
              <a:srgbClr val="E2E8F0"/>
            </a:solidFill>
            <a:prstDash val="solid"/>
          </a:ln>
          <a:effectLst>
            <a:outerShdw blurRad="101600" dist="38100" dir="5400000" algn="bl" rotWithShape="0">
              <a:srgbClr val="000000">
                <a:alpha val="10000"/>
              </a:srgbClr>
            </a:outerShdw>
          </a:effectLst>
        </p:spPr>
      </p:sp>
      <p:sp>
        <p:nvSpPr>
          <p:cNvPr id="19" name="Shape 15"/>
          <p:cNvSpPr/>
          <p:nvPr/>
        </p:nvSpPr>
        <p:spPr>
          <a:xfrm>
            <a:off x="8229600" y="1828800"/>
            <a:ext cx="3657600" cy="1188720"/>
          </a:xfrm>
          <a:prstGeom prst="roundRect">
            <a:avLst>
              <a:gd name="adj" fmla="val 9231"/>
            </a:avLst>
          </a:prstGeom>
          <a:solidFill>
            <a:srgbClr val="D4A017"/>
          </a:solidFill>
          <a:ln w="12700">
            <a:solidFill>
              <a:srgbClr val="D4A017"/>
            </a:solidFill>
            <a:prstDash val="solid"/>
          </a:ln>
        </p:spPr>
      </p:sp>
      <p:sp>
        <p:nvSpPr>
          <p:cNvPr id="20" name="Shape 16"/>
          <p:cNvSpPr/>
          <p:nvPr/>
        </p:nvSpPr>
        <p:spPr>
          <a:xfrm>
            <a:off x="8229600" y="2468880"/>
            <a:ext cx="3657600" cy="548640"/>
          </a:xfrm>
          <a:prstGeom prst="rect">
            <a:avLst/>
          </a:prstGeom>
          <a:solidFill>
            <a:srgbClr val="D4A017"/>
          </a:solidFill>
          <a:ln w="12700">
            <a:solidFill>
              <a:srgbClr val="D4A017"/>
            </a:solidFill>
            <a:prstDash val="solid"/>
          </a:ln>
        </p:spPr>
      </p:sp>
      <p:sp>
        <p:nvSpPr>
          <p:cNvPr id="21" name="Text 17"/>
          <p:cNvSpPr/>
          <p:nvPr/>
        </p:nvSpPr>
        <p:spPr>
          <a:xfrm>
            <a:off x="8412480" y="1965960"/>
            <a:ext cx="3291840" cy="365760"/>
          </a:xfrm>
          <a:prstGeom prst="rect">
            <a:avLst/>
          </a:prstGeom>
          <a:noFill/>
          <a:ln/>
        </p:spPr>
        <p:txBody>
          <a:bodyPr wrap="square" lIns="0" tIns="0" rIns="0" bIns="0" rtlCol="0" anchor="ctr"/>
          <a:lstStyle/>
          <a:p>
            <a:pPr marL="0" indent="0" algn="l">
              <a:buNone/>
            </a:pPr>
            <a:r>
              <a:rPr lang="en-US" sz="1200" b="1" kern="0" spc="400" dirty="0">
                <a:solidFill>
                  <a:srgbClr val="FFFFFF"/>
                </a:solidFill>
                <a:latin typeface="Calibri" pitchFamily="34" charset="0"/>
                <a:ea typeface="Calibri" pitchFamily="34" charset="-122"/>
                <a:cs typeface="Calibri" pitchFamily="34" charset="-120"/>
              </a:rPr>
              <a:t>TEMA 10</a:t>
            </a:r>
            <a:endParaRPr lang="en-US" sz="1200" dirty="0"/>
          </a:p>
        </p:txBody>
      </p:sp>
      <p:sp>
        <p:nvSpPr>
          <p:cNvPr id="22" name="Text 18"/>
          <p:cNvSpPr/>
          <p:nvPr/>
        </p:nvSpPr>
        <p:spPr>
          <a:xfrm>
            <a:off x="8412480" y="2331720"/>
            <a:ext cx="3291840" cy="640080"/>
          </a:xfrm>
          <a:prstGeom prst="rect">
            <a:avLst/>
          </a:prstGeom>
          <a:noFill/>
          <a:ln/>
        </p:spPr>
        <p:txBody>
          <a:bodyPr wrap="square" lIns="0" tIns="0" rIns="0" bIns="0"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Modelos UML de Especificación</a:t>
            </a:r>
            <a:endParaRPr lang="en-US" sz="1800" dirty="0"/>
          </a:p>
        </p:txBody>
      </p:sp>
      <p:pic>
        <p:nvPicPr>
          <p:cNvPr id="23" name="Image 2" descr="preencoded.png"/>
          <p:cNvPicPr>
            <a:picLocks noChangeAspect="1"/>
          </p:cNvPicPr>
          <p:nvPr/>
        </p:nvPicPr>
        <p:blipFill>
          <a:blip r:embed="rId5">
            <a:alphaModFix amt="70000"/>
          </a:blip>
          <a:stretch>
            <a:fillRect/>
          </a:stretch>
        </p:blipFill>
        <p:spPr>
          <a:xfrm>
            <a:off x="10881360" y="2057400"/>
            <a:ext cx="822960" cy="822960"/>
          </a:xfrm>
          <a:prstGeom prst="rect">
            <a:avLst/>
          </a:prstGeom>
        </p:spPr>
      </p:pic>
      <p:sp>
        <p:nvSpPr>
          <p:cNvPr id="24" name="Text 19"/>
          <p:cNvSpPr/>
          <p:nvPr/>
        </p:nvSpPr>
        <p:spPr>
          <a:xfrm>
            <a:off x="8549640" y="3246120"/>
            <a:ext cx="3108960" cy="2743200"/>
          </a:xfrm>
          <a:prstGeom prst="rect">
            <a:avLst/>
          </a:prstGeom>
          <a:noFill/>
          <a:ln/>
        </p:spPr>
        <p:txBody>
          <a:bodyPr wrap="square" rtlCol="0" anchor="t"/>
          <a:lstStyle/>
          <a:p>
            <a:pPr marL="342900" indent="-342900" algn="l">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10.1 Datos: ER y clases UML</a:t>
            </a:r>
            <a:endParaRPr lang="en-US" sz="1300" dirty="0"/>
          </a:p>
          <a:p>
            <a:pPr marL="342900" indent="-342900" algn="l">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10.2 Función: DFD y actividad</a:t>
            </a:r>
            <a:endParaRPr lang="en-US" sz="1300" dirty="0"/>
          </a:p>
          <a:p>
            <a:pPr marL="342900" indent="-342900" algn="l">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10.3 Comportamiento: statecharts</a:t>
            </a:r>
            <a:endParaRPr lang="en-US" sz="1300" dirty="0"/>
          </a:p>
          <a:p>
            <a:pPr marL="342900" indent="-342900" algn="l">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10.4 Interrelación entre perspectivas</a:t>
            </a:r>
            <a:endParaRPr lang="en-US" sz="1300" dirty="0"/>
          </a:p>
        </p:txBody>
      </p:sp>
      <p:sp>
        <p:nvSpPr>
          <p:cNvPr id="26" name="Shape 20"/>
          <p:cNvSpPr/>
          <p:nvPr/>
        </p:nvSpPr>
        <p:spPr>
          <a:xfrm>
            <a:off x="0" y="0"/>
            <a:ext cx="12161520" cy="384048"/>
          </a:xfrm>
          <a:prstGeom prst="rect">
            <a:avLst/>
          </a:prstGeom>
          <a:solidFill>
            <a:srgbClr val="2C5F2D"/>
          </a:solidFill>
          <a:ln w="12700">
            <a:solidFill>
              <a:srgbClr val="2C5F2D"/>
            </a:solidFill>
            <a:prstDash val="solid"/>
          </a:ln>
        </p:spPr>
      </p:sp>
      <p:sp>
        <p:nvSpPr>
          <p:cNvPr id="27" name="Text 21"/>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28" name="Text 22"/>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Mapa de la unidad</a:t>
            </a:r>
            <a:endParaRPr lang="en-US" sz="1000" dirty="0"/>
          </a:p>
        </p:txBody>
      </p:sp>
      <p:sp>
        <p:nvSpPr>
          <p:cNvPr id="29" name="Text 23"/>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30" name="Text 24"/>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3 / 30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548640"/>
            <a:ext cx="11247120" cy="640080"/>
          </a:xfrm>
          <a:prstGeom prst="rect">
            <a:avLst/>
          </a:prstGeom>
          <a:noFill/>
          <a:ln/>
        </p:spPr>
        <p:txBody>
          <a:bodyPr wrap="square" lIns="0" tIns="0" rIns="0" bIns="0" rtlCol="0" anchor="t"/>
          <a:lstStyle/>
          <a:p>
            <a:pPr marL="0" indent="0" algn="l">
              <a:buNone/>
            </a:pPr>
            <a:r>
              <a:rPr lang="en-US" sz="3000" b="1" dirty="0">
                <a:solidFill>
                  <a:srgbClr val="1E4D8B"/>
                </a:solidFill>
                <a:latin typeface="Cambria" pitchFamily="34" charset="0"/>
                <a:ea typeface="Cambria" pitchFamily="34" charset="-122"/>
                <a:cs typeface="Cambria" pitchFamily="34" charset="-120"/>
              </a:rPr>
              <a:t>¿Por qué documentar los requisitos?</a:t>
            </a:r>
            <a:endParaRPr lang="en-US" sz="3000" dirty="0"/>
          </a:p>
        </p:txBody>
      </p:sp>
      <p:sp>
        <p:nvSpPr>
          <p:cNvPr id="3" name="Text 1"/>
          <p:cNvSpPr/>
          <p:nvPr/>
        </p:nvSpPr>
        <p:spPr>
          <a:xfrm>
            <a:off x="457200" y="1188720"/>
            <a:ext cx="11247120" cy="365760"/>
          </a:xfrm>
          <a:prstGeom prst="rect">
            <a:avLst/>
          </a:prstGeom>
          <a:noFill/>
          <a:ln/>
        </p:spPr>
        <p:txBody>
          <a:bodyPr wrap="square" lIns="0" tIns="0" rIns="0" bIns="0" rtlCol="0" anchor="t"/>
          <a:lstStyle/>
          <a:p>
            <a:pPr marL="0" indent="0" algn="l">
              <a:buNone/>
            </a:pPr>
            <a:r>
              <a:rPr lang="en-US" sz="1300" i="1" dirty="0">
                <a:solidFill>
                  <a:srgbClr val="475569"/>
                </a:solidFill>
                <a:latin typeface="Calibri" pitchFamily="34" charset="0"/>
                <a:ea typeface="Calibri" pitchFamily="34" charset="-122"/>
                <a:cs typeface="Calibri" pitchFamily="34" charset="-120"/>
              </a:rPr>
              <a:t>La ERS no es un trámite: es un instrumento técnico, contractual y de comunicación</a:t>
            </a:r>
            <a:endParaRPr lang="en-US" sz="1300" dirty="0"/>
          </a:p>
        </p:txBody>
      </p:sp>
      <p:sp>
        <p:nvSpPr>
          <p:cNvPr id="4" name="Shape 2"/>
          <p:cNvSpPr/>
          <p:nvPr/>
        </p:nvSpPr>
        <p:spPr>
          <a:xfrm>
            <a:off x="320040" y="1828800"/>
            <a:ext cx="3657600" cy="2148840"/>
          </a:xfrm>
          <a:prstGeom prst="roundRect">
            <a:avLst>
              <a:gd name="adj" fmla="val 4255"/>
            </a:avLst>
          </a:prstGeom>
          <a:solidFill>
            <a:srgbClr val="F8FAFC"/>
          </a:solidFill>
          <a:ln w="12700">
            <a:solidFill>
              <a:srgbClr val="E2E8F0"/>
            </a:solidFill>
            <a:prstDash val="solid"/>
          </a:ln>
        </p:spPr>
      </p:sp>
      <p:sp>
        <p:nvSpPr>
          <p:cNvPr id="5" name="Shape 3"/>
          <p:cNvSpPr/>
          <p:nvPr/>
        </p:nvSpPr>
        <p:spPr>
          <a:xfrm>
            <a:off x="548640" y="2103120"/>
            <a:ext cx="685800" cy="685800"/>
          </a:xfrm>
          <a:prstGeom prst="ellipse">
            <a:avLst/>
          </a:prstGeom>
          <a:solidFill>
            <a:srgbClr val="1E4D8B"/>
          </a:solidFill>
          <a:ln w="12700">
            <a:solidFill>
              <a:srgbClr val="1E4D8B"/>
            </a:solidFill>
            <a:prstDash val="solid"/>
          </a:ln>
        </p:spPr>
      </p:sp>
      <p:pic>
        <p:nvPicPr>
          <p:cNvPr id="6" name="Image 0" descr="preencoded.png"/>
          <p:cNvPicPr>
            <a:picLocks noChangeAspect="1"/>
          </p:cNvPicPr>
          <p:nvPr/>
        </p:nvPicPr>
        <p:blipFill>
          <a:blip r:embed="rId3"/>
          <a:stretch>
            <a:fillRect/>
          </a:stretch>
        </p:blipFill>
        <p:spPr>
          <a:xfrm>
            <a:off x="685800" y="2240280"/>
            <a:ext cx="411480" cy="411480"/>
          </a:xfrm>
          <a:prstGeom prst="rect">
            <a:avLst/>
          </a:prstGeom>
        </p:spPr>
      </p:pic>
      <p:sp>
        <p:nvSpPr>
          <p:cNvPr id="7" name="Text 4"/>
          <p:cNvSpPr/>
          <p:nvPr/>
        </p:nvSpPr>
        <p:spPr>
          <a:xfrm>
            <a:off x="1371600" y="2148840"/>
            <a:ext cx="2468880" cy="457200"/>
          </a:xfrm>
          <a:prstGeom prst="rect">
            <a:avLst/>
          </a:prstGeom>
          <a:noFill/>
          <a:ln/>
        </p:spPr>
        <p:txBody>
          <a:bodyPr wrap="square" lIns="0" tIns="0" rIns="0" bIns="0" rtlCol="0" anchor="ctr"/>
          <a:lstStyle/>
          <a:p>
            <a:pPr marL="0" indent="0" algn="l">
              <a:buNone/>
            </a:pPr>
            <a:r>
              <a:rPr lang="en-US" sz="1800" b="1" dirty="0">
                <a:solidFill>
                  <a:srgbClr val="1E4D8B"/>
                </a:solidFill>
                <a:latin typeface="Cambria" pitchFamily="34" charset="0"/>
                <a:ea typeface="Cambria" pitchFamily="34" charset="-122"/>
                <a:cs typeface="Cambria" pitchFamily="34" charset="-120"/>
              </a:rPr>
              <a:t>Comunicación</a:t>
            </a:r>
            <a:endParaRPr lang="en-US" sz="1800" dirty="0"/>
          </a:p>
        </p:txBody>
      </p:sp>
      <p:sp>
        <p:nvSpPr>
          <p:cNvPr id="8" name="Text 5"/>
          <p:cNvSpPr/>
          <p:nvPr/>
        </p:nvSpPr>
        <p:spPr>
          <a:xfrm>
            <a:off x="640080" y="2880360"/>
            <a:ext cx="3017520" cy="1005840"/>
          </a:xfrm>
          <a:prstGeom prst="rect">
            <a:avLst/>
          </a:prstGeom>
          <a:noFill/>
          <a:ln/>
        </p:spPr>
        <p:txBody>
          <a:bodyPr wrap="square" lIns="0" tIns="0" rIns="0" bIns="0" rtlCol="0" anchor="t"/>
          <a:lstStyle/>
          <a:p>
            <a:pPr marL="0" indent="0" algn="l">
              <a:buNone/>
            </a:pPr>
            <a:r>
              <a:rPr lang="en-US" sz="1200" dirty="0">
                <a:solidFill>
                  <a:srgbClr val="1E293B"/>
                </a:solidFill>
                <a:latin typeface="Calibri" pitchFamily="34" charset="0"/>
                <a:ea typeface="Calibri" pitchFamily="34" charset="-122"/>
                <a:cs typeface="Calibri" pitchFamily="34" charset="-120"/>
              </a:rPr>
              <a:t>Alínea a interesados, equipo técnico y organos de control con un lenguaje comun.</a:t>
            </a:r>
            <a:endParaRPr lang="en-US" sz="1200" dirty="0"/>
          </a:p>
        </p:txBody>
      </p:sp>
      <p:sp>
        <p:nvSpPr>
          <p:cNvPr id="9" name="Shape 6"/>
          <p:cNvSpPr/>
          <p:nvPr/>
        </p:nvSpPr>
        <p:spPr>
          <a:xfrm>
            <a:off x="4251960" y="1828800"/>
            <a:ext cx="3657600" cy="2148840"/>
          </a:xfrm>
          <a:prstGeom prst="roundRect">
            <a:avLst>
              <a:gd name="adj" fmla="val 4255"/>
            </a:avLst>
          </a:prstGeom>
          <a:solidFill>
            <a:srgbClr val="F8FAFC"/>
          </a:solidFill>
          <a:ln w="12700">
            <a:solidFill>
              <a:srgbClr val="E2E8F0"/>
            </a:solidFill>
            <a:prstDash val="solid"/>
          </a:ln>
        </p:spPr>
      </p:sp>
      <p:sp>
        <p:nvSpPr>
          <p:cNvPr id="10" name="Shape 7"/>
          <p:cNvSpPr/>
          <p:nvPr/>
        </p:nvSpPr>
        <p:spPr>
          <a:xfrm>
            <a:off x="4480560" y="2103120"/>
            <a:ext cx="685800" cy="685800"/>
          </a:xfrm>
          <a:prstGeom prst="ellipse">
            <a:avLst/>
          </a:prstGeom>
          <a:solidFill>
            <a:srgbClr val="1E4D8B"/>
          </a:solidFill>
          <a:ln w="12700">
            <a:solidFill>
              <a:srgbClr val="1E4D8B"/>
            </a:solidFill>
            <a:prstDash val="solid"/>
          </a:ln>
        </p:spPr>
      </p:sp>
      <p:pic>
        <p:nvPicPr>
          <p:cNvPr id="11" name="Image 1" descr="preencoded.png"/>
          <p:cNvPicPr>
            <a:picLocks noChangeAspect="1"/>
          </p:cNvPicPr>
          <p:nvPr/>
        </p:nvPicPr>
        <p:blipFill>
          <a:blip r:embed="rId4"/>
          <a:stretch>
            <a:fillRect/>
          </a:stretch>
        </p:blipFill>
        <p:spPr>
          <a:xfrm>
            <a:off x="4617720" y="2240280"/>
            <a:ext cx="411480" cy="411480"/>
          </a:xfrm>
          <a:prstGeom prst="rect">
            <a:avLst/>
          </a:prstGeom>
        </p:spPr>
      </p:pic>
      <p:sp>
        <p:nvSpPr>
          <p:cNvPr id="12" name="Text 8"/>
          <p:cNvSpPr/>
          <p:nvPr/>
        </p:nvSpPr>
        <p:spPr>
          <a:xfrm>
            <a:off x="5303520" y="2148840"/>
            <a:ext cx="2468880" cy="457200"/>
          </a:xfrm>
          <a:prstGeom prst="rect">
            <a:avLst/>
          </a:prstGeom>
          <a:noFill/>
          <a:ln/>
        </p:spPr>
        <p:txBody>
          <a:bodyPr wrap="square" lIns="0" tIns="0" rIns="0" bIns="0" rtlCol="0" anchor="ctr"/>
          <a:lstStyle/>
          <a:p>
            <a:pPr marL="0" indent="0" algn="l">
              <a:buNone/>
            </a:pPr>
            <a:r>
              <a:rPr lang="en-US" sz="1800" b="1" dirty="0">
                <a:solidFill>
                  <a:srgbClr val="1E4D8B"/>
                </a:solidFill>
                <a:latin typeface="Cambria" pitchFamily="34" charset="0"/>
                <a:ea typeface="Cambria" pitchFamily="34" charset="-122"/>
                <a:cs typeface="Cambria" pitchFamily="34" charset="-120"/>
              </a:rPr>
              <a:t>Contrato</a:t>
            </a:r>
            <a:endParaRPr lang="en-US" sz="1800" dirty="0"/>
          </a:p>
        </p:txBody>
      </p:sp>
      <p:sp>
        <p:nvSpPr>
          <p:cNvPr id="13" name="Text 9"/>
          <p:cNvSpPr/>
          <p:nvPr/>
        </p:nvSpPr>
        <p:spPr>
          <a:xfrm>
            <a:off x="4572000" y="2880360"/>
            <a:ext cx="3017520" cy="1005840"/>
          </a:xfrm>
          <a:prstGeom prst="rect">
            <a:avLst/>
          </a:prstGeom>
          <a:noFill/>
          <a:ln/>
        </p:spPr>
        <p:txBody>
          <a:bodyPr wrap="square" lIns="0" tIns="0" rIns="0" bIns="0" rtlCol="0" anchor="t"/>
          <a:lstStyle/>
          <a:p>
            <a:pPr marL="0" indent="0" algn="l">
              <a:buNone/>
            </a:pPr>
            <a:r>
              <a:rPr lang="en-US" sz="1200" dirty="0">
                <a:solidFill>
                  <a:srgbClr val="1E293B"/>
                </a:solidFill>
                <a:latin typeface="Calibri" pitchFamily="34" charset="0"/>
                <a:ea typeface="Calibri" pitchFamily="34" charset="-122"/>
                <a:cs typeface="Calibri" pitchFamily="34" charset="-120"/>
              </a:rPr>
              <a:t>Fija el alcance verificable acordado entre cliente y proveedor de software.</a:t>
            </a:r>
            <a:endParaRPr lang="en-US" sz="1200" dirty="0"/>
          </a:p>
        </p:txBody>
      </p:sp>
      <p:sp>
        <p:nvSpPr>
          <p:cNvPr id="14" name="Shape 10"/>
          <p:cNvSpPr/>
          <p:nvPr/>
        </p:nvSpPr>
        <p:spPr>
          <a:xfrm>
            <a:off x="8183880" y="1828800"/>
            <a:ext cx="3657600" cy="2148840"/>
          </a:xfrm>
          <a:prstGeom prst="roundRect">
            <a:avLst>
              <a:gd name="adj" fmla="val 4255"/>
            </a:avLst>
          </a:prstGeom>
          <a:solidFill>
            <a:srgbClr val="F8FAFC"/>
          </a:solidFill>
          <a:ln w="12700">
            <a:solidFill>
              <a:srgbClr val="E2E8F0"/>
            </a:solidFill>
            <a:prstDash val="solid"/>
          </a:ln>
        </p:spPr>
      </p:sp>
      <p:sp>
        <p:nvSpPr>
          <p:cNvPr id="15" name="Shape 11"/>
          <p:cNvSpPr/>
          <p:nvPr/>
        </p:nvSpPr>
        <p:spPr>
          <a:xfrm>
            <a:off x="8412480" y="2103120"/>
            <a:ext cx="685800" cy="685800"/>
          </a:xfrm>
          <a:prstGeom prst="ellipse">
            <a:avLst/>
          </a:prstGeom>
          <a:solidFill>
            <a:srgbClr val="1E4D8B"/>
          </a:solidFill>
          <a:ln w="12700">
            <a:solidFill>
              <a:srgbClr val="1E4D8B"/>
            </a:solidFill>
            <a:prstDash val="solid"/>
          </a:ln>
        </p:spPr>
      </p:sp>
      <p:pic>
        <p:nvPicPr>
          <p:cNvPr id="16" name="Image 2" descr="preencoded.png"/>
          <p:cNvPicPr>
            <a:picLocks noChangeAspect="1"/>
          </p:cNvPicPr>
          <p:nvPr/>
        </p:nvPicPr>
        <p:blipFill>
          <a:blip r:embed="rId5"/>
          <a:stretch>
            <a:fillRect/>
          </a:stretch>
        </p:blipFill>
        <p:spPr>
          <a:xfrm>
            <a:off x="8549640" y="2240280"/>
            <a:ext cx="411480" cy="411480"/>
          </a:xfrm>
          <a:prstGeom prst="rect">
            <a:avLst/>
          </a:prstGeom>
        </p:spPr>
      </p:pic>
      <p:sp>
        <p:nvSpPr>
          <p:cNvPr id="17" name="Text 12"/>
          <p:cNvSpPr/>
          <p:nvPr/>
        </p:nvSpPr>
        <p:spPr>
          <a:xfrm>
            <a:off x="9235440" y="2148840"/>
            <a:ext cx="2468880" cy="457200"/>
          </a:xfrm>
          <a:prstGeom prst="rect">
            <a:avLst/>
          </a:prstGeom>
          <a:noFill/>
          <a:ln/>
        </p:spPr>
        <p:txBody>
          <a:bodyPr wrap="square" lIns="0" tIns="0" rIns="0" bIns="0" rtlCol="0" anchor="ctr"/>
          <a:lstStyle/>
          <a:p>
            <a:pPr marL="0" indent="0" algn="l">
              <a:buNone/>
            </a:pPr>
            <a:r>
              <a:rPr lang="en-US" sz="1800" b="1" dirty="0">
                <a:solidFill>
                  <a:srgbClr val="1E4D8B"/>
                </a:solidFill>
                <a:latin typeface="Cambria" pitchFamily="34" charset="0"/>
                <a:ea typeface="Cambria" pitchFamily="34" charset="-122"/>
                <a:cs typeface="Cambria" pitchFamily="34" charset="-120"/>
              </a:rPr>
              <a:t>Verificación</a:t>
            </a:r>
            <a:endParaRPr lang="en-US" sz="1800" dirty="0"/>
          </a:p>
        </p:txBody>
      </p:sp>
      <p:sp>
        <p:nvSpPr>
          <p:cNvPr id="18" name="Text 13"/>
          <p:cNvSpPr/>
          <p:nvPr/>
        </p:nvSpPr>
        <p:spPr>
          <a:xfrm>
            <a:off x="8503920" y="2880360"/>
            <a:ext cx="3017520" cy="1005840"/>
          </a:xfrm>
          <a:prstGeom prst="rect">
            <a:avLst/>
          </a:prstGeom>
          <a:noFill/>
          <a:ln/>
        </p:spPr>
        <p:txBody>
          <a:bodyPr wrap="square" lIns="0" tIns="0" rIns="0" bIns="0" rtlCol="0" anchor="t"/>
          <a:lstStyle/>
          <a:p>
            <a:pPr marL="0" indent="0" algn="l">
              <a:buNone/>
            </a:pPr>
            <a:r>
              <a:rPr lang="en-US" sz="1200" dirty="0">
                <a:solidFill>
                  <a:srgbClr val="1E293B"/>
                </a:solidFill>
                <a:latin typeface="Calibri" pitchFamily="34" charset="0"/>
                <a:ea typeface="Calibri" pitchFamily="34" charset="-122"/>
                <a:cs typeface="Calibri" pitchFamily="34" charset="-120"/>
              </a:rPr>
              <a:t>Sirve de base para diseñar los casos de prueba y validar la aceptación.</a:t>
            </a:r>
            <a:endParaRPr lang="en-US" sz="1200" dirty="0"/>
          </a:p>
        </p:txBody>
      </p:sp>
      <p:sp>
        <p:nvSpPr>
          <p:cNvPr id="19" name="Shape 14"/>
          <p:cNvSpPr/>
          <p:nvPr/>
        </p:nvSpPr>
        <p:spPr>
          <a:xfrm>
            <a:off x="320040" y="4206240"/>
            <a:ext cx="3657600" cy="2148840"/>
          </a:xfrm>
          <a:prstGeom prst="roundRect">
            <a:avLst>
              <a:gd name="adj" fmla="val 4255"/>
            </a:avLst>
          </a:prstGeom>
          <a:solidFill>
            <a:srgbClr val="F8FAFC"/>
          </a:solidFill>
          <a:ln w="12700">
            <a:solidFill>
              <a:srgbClr val="E2E8F0"/>
            </a:solidFill>
            <a:prstDash val="solid"/>
          </a:ln>
        </p:spPr>
      </p:sp>
      <p:sp>
        <p:nvSpPr>
          <p:cNvPr id="20" name="Shape 15"/>
          <p:cNvSpPr/>
          <p:nvPr/>
        </p:nvSpPr>
        <p:spPr>
          <a:xfrm>
            <a:off x="548640" y="4480560"/>
            <a:ext cx="685800" cy="685800"/>
          </a:xfrm>
          <a:prstGeom prst="ellipse">
            <a:avLst/>
          </a:prstGeom>
          <a:solidFill>
            <a:srgbClr val="1E4D8B"/>
          </a:solidFill>
          <a:ln w="12700">
            <a:solidFill>
              <a:srgbClr val="1E4D8B"/>
            </a:solidFill>
            <a:prstDash val="solid"/>
          </a:ln>
        </p:spPr>
      </p:sp>
      <p:pic>
        <p:nvPicPr>
          <p:cNvPr id="21" name="Image 3" descr="preencoded.png"/>
          <p:cNvPicPr>
            <a:picLocks noChangeAspect="1"/>
          </p:cNvPicPr>
          <p:nvPr/>
        </p:nvPicPr>
        <p:blipFill>
          <a:blip r:embed="rId6"/>
          <a:stretch>
            <a:fillRect/>
          </a:stretch>
        </p:blipFill>
        <p:spPr>
          <a:xfrm>
            <a:off x="685800" y="4617720"/>
            <a:ext cx="411480" cy="411480"/>
          </a:xfrm>
          <a:prstGeom prst="rect">
            <a:avLst/>
          </a:prstGeom>
        </p:spPr>
      </p:pic>
      <p:sp>
        <p:nvSpPr>
          <p:cNvPr id="22" name="Text 16"/>
          <p:cNvSpPr/>
          <p:nvPr/>
        </p:nvSpPr>
        <p:spPr>
          <a:xfrm>
            <a:off x="1371600" y="4526280"/>
            <a:ext cx="2468880" cy="457200"/>
          </a:xfrm>
          <a:prstGeom prst="rect">
            <a:avLst/>
          </a:prstGeom>
          <a:noFill/>
          <a:ln/>
        </p:spPr>
        <p:txBody>
          <a:bodyPr wrap="square" lIns="0" tIns="0" rIns="0" bIns="0" rtlCol="0" anchor="ctr"/>
          <a:lstStyle/>
          <a:p>
            <a:pPr marL="0" indent="0" algn="l">
              <a:buNone/>
            </a:pPr>
            <a:r>
              <a:rPr lang="en-US" sz="1800" b="1" dirty="0">
                <a:solidFill>
                  <a:srgbClr val="1E4D8B"/>
                </a:solidFill>
                <a:latin typeface="Cambria" pitchFamily="34" charset="0"/>
                <a:ea typeface="Cambria" pitchFamily="34" charset="-122"/>
                <a:cs typeface="Cambria" pitchFamily="34" charset="-120"/>
              </a:rPr>
              <a:t>Trazabilidad</a:t>
            </a:r>
            <a:endParaRPr lang="en-US" sz="1800" dirty="0"/>
          </a:p>
        </p:txBody>
      </p:sp>
      <p:sp>
        <p:nvSpPr>
          <p:cNvPr id="23" name="Text 17"/>
          <p:cNvSpPr/>
          <p:nvPr/>
        </p:nvSpPr>
        <p:spPr>
          <a:xfrm>
            <a:off x="640080" y="5257800"/>
            <a:ext cx="3017520" cy="1005840"/>
          </a:xfrm>
          <a:prstGeom prst="rect">
            <a:avLst/>
          </a:prstGeom>
          <a:noFill/>
          <a:ln/>
        </p:spPr>
        <p:txBody>
          <a:bodyPr wrap="square" lIns="0" tIns="0" rIns="0" bIns="0" rtlCol="0" anchor="t"/>
          <a:lstStyle/>
          <a:p>
            <a:pPr marL="0" indent="0" algn="l">
              <a:buNone/>
            </a:pPr>
            <a:r>
              <a:rPr lang="en-US" sz="1200" dirty="0">
                <a:solidFill>
                  <a:srgbClr val="1E293B"/>
                </a:solidFill>
                <a:latin typeface="Calibri" pitchFamily="34" charset="0"/>
                <a:ea typeface="Calibri" pitchFamily="34" charset="-122"/>
                <a:cs typeface="Calibri" pitchFamily="34" charset="-120"/>
              </a:rPr>
              <a:t>Permite rastrear origen y destino de cada requisito durante toda la vida del sistema.</a:t>
            </a:r>
            <a:endParaRPr lang="en-US" sz="1200" dirty="0"/>
          </a:p>
        </p:txBody>
      </p:sp>
      <p:sp>
        <p:nvSpPr>
          <p:cNvPr id="24" name="Shape 18"/>
          <p:cNvSpPr/>
          <p:nvPr/>
        </p:nvSpPr>
        <p:spPr>
          <a:xfrm>
            <a:off x="4251960" y="4206240"/>
            <a:ext cx="3657600" cy="2148840"/>
          </a:xfrm>
          <a:prstGeom prst="roundRect">
            <a:avLst>
              <a:gd name="adj" fmla="val 4255"/>
            </a:avLst>
          </a:prstGeom>
          <a:solidFill>
            <a:srgbClr val="F8FAFC"/>
          </a:solidFill>
          <a:ln w="12700">
            <a:solidFill>
              <a:srgbClr val="E2E8F0"/>
            </a:solidFill>
            <a:prstDash val="solid"/>
          </a:ln>
        </p:spPr>
      </p:sp>
      <p:sp>
        <p:nvSpPr>
          <p:cNvPr id="25" name="Shape 19"/>
          <p:cNvSpPr/>
          <p:nvPr/>
        </p:nvSpPr>
        <p:spPr>
          <a:xfrm>
            <a:off x="4480560" y="4480560"/>
            <a:ext cx="685800" cy="685800"/>
          </a:xfrm>
          <a:prstGeom prst="ellipse">
            <a:avLst/>
          </a:prstGeom>
          <a:solidFill>
            <a:srgbClr val="1E4D8B"/>
          </a:solidFill>
          <a:ln w="12700">
            <a:solidFill>
              <a:srgbClr val="1E4D8B"/>
            </a:solidFill>
            <a:prstDash val="solid"/>
          </a:ln>
        </p:spPr>
      </p:sp>
      <p:pic>
        <p:nvPicPr>
          <p:cNvPr id="26" name="Image 4" descr="preencoded.png"/>
          <p:cNvPicPr>
            <a:picLocks noChangeAspect="1"/>
          </p:cNvPicPr>
          <p:nvPr/>
        </p:nvPicPr>
        <p:blipFill>
          <a:blip r:embed="rId7"/>
          <a:stretch>
            <a:fillRect/>
          </a:stretch>
        </p:blipFill>
        <p:spPr>
          <a:xfrm>
            <a:off x="4617720" y="4617720"/>
            <a:ext cx="411480" cy="411480"/>
          </a:xfrm>
          <a:prstGeom prst="rect">
            <a:avLst/>
          </a:prstGeom>
        </p:spPr>
      </p:pic>
      <p:sp>
        <p:nvSpPr>
          <p:cNvPr id="27" name="Text 20"/>
          <p:cNvSpPr/>
          <p:nvPr/>
        </p:nvSpPr>
        <p:spPr>
          <a:xfrm>
            <a:off x="5303520" y="4526280"/>
            <a:ext cx="2468880" cy="457200"/>
          </a:xfrm>
          <a:prstGeom prst="rect">
            <a:avLst/>
          </a:prstGeom>
          <a:noFill/>
          <a:ln/>
        </p:spPr>
        <p:txBody>
          <a:bodyPr wrap="square" lIns="0" tIns="0" rIns="0" bIns="0" rtlCol="0" anchor="ctr"/>
          <a:lstStyle/>
          <a:p>
            <a:pPr marL="0" indent="0" algn="l">
              <a:buNone/>
            </a:pPr>
            <a:r>
              <a:rPr lang="en-US" sz="1800" b="1" dirty="0">
                <a:solidFill>
                  <a:srgbClr val="1E4D8B"/>
                </a:solidFill>
                <a:latin typeface="Cambria" pitchFamily="34" charset="0"/>
                <a:ea typeface="Cambria" pitchFamily="34" charset="-122"/>
                <a:cs typeface="Cambria" pitchFamily="34" charset="-120"/>
              </a:rPr>
              <a:t>Cambio</a:t>
            </a:r>
            <a:endParaRPr lang="en-US" sz="1800" dirty="0"/>
          </a:p>
        </p:txBody>
      </p:sp>
      <p:sp>
        <p:nvSpPr>
          <p:cNvPr id="28" name="Text 21"/>
          <p:cNvSpPr/>
          <p:nvPr/>
        </p:nvSpPr>
        <p:spPr>
          <a:xfrm>
            <a:off x="4572000" y="5257800"/>
            <a:ext cx="3017520" cy="1005840"/>
          </a:xfrm>
          <a:prstGeom prst="rect">
            <a:avLst/>
          </a:prstGeom>
          <a:noFill/>
          <a:ln/>
        </p:spPr>
        <p:txBody>
          <a:bodyPr wrap="square" lIns="0" tIns="0" rIns="0" bIns="0" rtlCol="0" anchor="t"/>
          <a:lstStyle/>
          <a:p>
            <a:pPr marL="0" indent="0" algn="l">
              <a:buNone/>
            </a:pPr>
            <a:r>
              <a:rPr lang="en-US" sz="1200" dirty="0">
                <a:solidFill>
                  <a:srgbClr val="1E293B"/>
                </a:solidFill>
                <a:latin typeface="Calibri" pitchFamily="34" charset="0"/>
                <a:ea typeface="Calibri" pitchFamily="34" charset="-122"/>
                <a:cs typeface="Calibri" pitchFamily="34" charset="-120"/>
              </a:rPr>
              <a:t>Ancla la línea base contra la cual se gestionan solicitudes de cambio y evolución.</a:t>
            </a:r>
            <a:endParaRPr lang="en-US" sz="1200" dirty="0"/>
          </a:p>
        </p:txBody>
      </p:sp>
      <p:sp>
        <p:nvSpPr>
          <p:cNvPr id="29" name="Shape 22"/>
          <p:cNvSpPr/>
          <p:nvPr/>
        </p:nvSpPr>
        <p:spPr>
          <a:xfrm>
            <a:off x="8183880" y="4206240"/>
            <a:ext cx="3657600" cy="2148840"/>
          </a:xfrm>
          <a:prstGeom prst="roundRect">
            <a:avLst>
              <a:gd name="adj" fmla="val 4255"/>
            </a:avLst>
          </a:prstGeom>
          <a:solidFill>
            <a:srgbClr val="F8FAFC"/>
          </a:solidFill>
          <a:ln w="12700">
            <a:solidFill>
              <a:srgbClr val="E2E8F0"/>
            </a:solidFill>
            <a:prstDash val="solid"/>
          </a:ln>
        </p:spPr>
      </p:sp>
      <p:sp>
        <p:nvSpPr>
          <p:cNvPr id="30" name="Shape 23"/>
          <p:cNvSpPr/>
          <p:nvPr/>
        </p:nvSpPr>
        <p:spPr>
          <a:xfrm>
            <a:off x="8412480" y="4480560"/>
            <a:ext cx="685800" cy="685800"/>
          </a:xfrm>
          <a:prstGeom prst="ellipse">
            <a:avLst/>
          </a:prstGeom>
          <a:solidFill>
            <a:srgbClr val="1E4D8B"/>
          </a:solidFill>
          <a:ln w="12700">
            <a:solidFill>
              <a:srgbClr val="1E4D8B"/>
            </a:solidFill>
            <a:prstDash val="solid"/>
          </a:ln>
        </p:spPr>
      </p:sp>
      <p:pic>
        <p:nvPicPr>
          <p:cNvPr id="31" name="Image 5" descr="preencoded.png"/>
          <p:cNvPicPr>
            <a:picLocks noChangeAspect="1"/>
          </p:cNvPicPr>
          <p:nvPr/>
        </p:nvPicPr>
        <p:blipFill>
          <a:blip r:embed="rId8"/>
          <a:stretch>
            <a:fillRect/>
          </a:stretch>
        </p:blipFill>
        <p:spPr>
          <a:xfrm>
            <a:off x="8549640" y="4617720"/>
            <a:ext cx="411480" cy="411480"/>
          </a:xfrm>
          <a:prstGeom prst="rect">
            <a:avLst/>
          </a:prstGeom>
        </p:spPr>
      </p:pic>
      <p:sp>
        <p:nvSpPr>
          <p:cNvPr id="32" name="Text 24"/>
          <p:cNvSpPr/>
          <p:nvPr/>
        </p:nvSpPr>
        <p:spPr>
          <a:xfrm>
            <a:off x="9235440" y="4526280"/>
            <a:ext cx="2468880" cy="457200"/>
          </a:xfrm>
          <a:prstGeom prst="rect">
            <a:avLst/>
          </a:prstGeom>
          <a:noFill/>
          <a:ln/>
        </p:spPr>
        <p:txBody>
          <a:bodyPr wrap="square" lIns="0" tIns="0" rIns="0" bIns="0" rtlCol="0" anchor="ctr"/>
          <a:lstStyle/>
          <a:p>
            <a:pPr marL="0" indent="0" algn="l">
              <a:buNone/>
            </a:pPr>
            <a:r>
              <a:rPr lang="en-US" sz="1800" b="1" dirty="0">
                <a:solidFill>
                  <a:srgbClr val="1E4D8B"/>
                </a:solidFill>
                <a:latin typeface="Cambria" pitchFamily="34" charset="0"/>
                <a:ea typeface="Cambria" pitchFamily="34" charset="-122"/>
                <a:cs typeface="Cambria" pitchFamily="34" charset="-120"/>
              </a:rPr>
              <a:t>Auditoria</a:t>
            </a:r>
            <a:endParaRPr lang="en-US" sz="1800" dirty="0"/>
          </a:p>
        </p:txBody>
      </p:sp>
      <p:sp>
        <p:nvSpPr>
          <p:cNvPr id="33" name="Text 25"/>
          <p:cNvSpPr/>
          <p:nvPr/>
        </p:nvSpPr>
        <p:spPr>
          <a:xfrm>
            <a:off x="8503920" y="5257800"/>
            <a:ext cx="3017520" cy="1005840"/>
          </a:xfrm>
          <a:prstGeom prst="rect">
            <a:avLst/>
          </a:prstGeom>
          <a:noFill/>
          <a:ln/>
        </p:spPr>
        <p:txBody>
          <a:bodyPr wrap="square" lIns="0" tIns="0" rIns="0" bIns="0" rtlCol="0" anchor="t"/>
          <a:lstStyle/>
          <a:p>
            <a:pPr marL="0" indent="0" algn="l">
              <a:buNone/>
            </a:pPr>
            <a:r>
              <a:rPr lang="en-US" sz="1200" dirty="0">
                <a:solidFill>
                  <a:srgbClr val="1E293B"/>
                </a:solidFill>
                <a:latin typeface="Calibri" pitchFamily="34" charset="0"/>
                <a:ea typeface="Calibri" pitchFamily="34" charset="-122"/>
                <a:cs typeface="Calibri" pitchFamily="34" charset="-120"/>
              </a:rPr>
              <a:t>Evidencia el cumplimiento de estándares, regulaciones y politicas de calidad.</a:t>
            </a:r>
            <a:endParaRPr lang="en-US" sz="1200" dirty="0"/>
          </a:p>
        </p:txBody>
      </p:sp>
      <p:sp>
        <p:nvSpPr>
          <p:cNvPr id="35" name="Shape 26"/>
          <p:cNvSpPr/>
          <p:nvPr/>
        </p:nvSpPr>
        <p:spPr>
          <a:xfrm>
            <a:off x="0" y="0"/>
            <a:ext cx="12161520" cy="384048"/>
          </a:xfrm>
          <a:prstGeom prst="rect">
            <a:avLst/>
          </a:prstGeom>
          <a:solidFill>
            <a:srgbClr val="2C5F2D"/>
          </a:solidFill>
          <a:ln w="12700">
            <a:solidFill>
              <a:srgbClr val="2C5F2D"/>
            </a:solidFill>
            <a:prstDash val="solid"/>
          </a:ln>
        </p:spPr>
      </p:sp>
      <p:sp>
        <p:nvSpPr>
          <p:cNvPr id="36" name="Text 27"/>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37" name="Text 28"/>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Motivación</a:t>
            </a:r>
            <a:endParaRPr lang="en-US" sz="1000" dirty="0"/>
          </a:p>
        </p:txBody>
      </p:sp>
      <p:sp>
        <p:nvSpPr>
          <p:cNvPr id="38" name="Text 29"/>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39" name="Text 30"/>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4 / 30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C5F2D"/>
        </a:solidFill>
        <a:effectLst/>
      </p:bgPr>
    </p:bg>
    <p:spTree>
      <p:nvGrpSpPr>
        <p:cNvPr id="1" name=""/>
        <p:cNvGrpSpPr/>
        <p:nvPr/>
      </p:nvGrpSpPr>
      <p:grpSpPr>
        <a:xfrm>
          <a:off x="0" y="0"/>
          <a:ext cx="0" cy="0"/>
          <a:chOff x="0" y="0"/>
          <a:chExt cx="0" cy="0"/>
        </a:xfrm>
      </p:grpSpPr>
      <p:sp>
        <p:nvSpPr>
          <p:cNvPr id="2" name="Shape 0"/>
          <p:cNvSpPr/>
          <p:nvPr/>
        </p:nvSpPr>
        <p:spPr>
          <a:xfrm>
            <a:off x="7589520" y="-2743200"/>
            <a:ext cx="9144000" cy="9144000"/>
          </a:xfrm>
          <a:prstGeom prst="ellipse">
            <a:avLst/>
          </a:prstGeom>
          <a:solidFill>
            <a:srgbClr val="1E4D8B">
              <a:alpha val="45000"/>
            </a:srgbClr>
          </a:solidFill>
          <a:ln w="12700">
            <a:solidFill>
              <a:srgbClr val="1E4D8B"/>
            </a:solidFill>
            <a:prstDash val="solid"/>
          </a:ln>
        </p:spPr>
      </p:sp>
      <p:pic>
        <p:nvPicPr>
          <p:cNvPr id="3" name="Image 0" descr="preencoded.png"/>
          <p:cNvPicPr>
            <a:picLocks noChangeAspect="1"/>
          </p:cNvPicPr>
          <p:nvPr/>
        </p:nvPicPr>
        <p:blipFill>
          <a:blip r:embed="rId3"/>
          <a:stretch>
            <a:fillRect/>
          </a:stretch>
        </p:blipFill>
        <p:spPr>
          <a:xfrm>
            <a:off x="914400" y="2286000"/>
            <a:ext cx="2286000" cy="2286000"/>
          </a:xfrm>
          <a:prstGeom prst="rect">
            <a:avLst/>
          </a:prstGeom>
        </p:spPr>
      </p:pic>
      <p:sp>
        <p:nvSpPr>
          <p:cNvPr id="4" name="Text 1"/>
          <p:cNvSpPr/>
          <p:nvPr/>
        </p:nvSpPr>
        <p:spPr>
          <a:xfrm>
            <a:off x="4114800" y="1920240"/>
            <a:ext cx="7315200" cy="640080"/>
          </a:xfrm>
          <a:prstGeom prst="rect">
            <a:avLst/>
          </a:prstGeom>
          <a:noFill/>
          <a:ln/>
        </p:spPr>
        <p:txBody>
          <a:bodyPr wrap="square" lIns="0" tIns="0" rIns="0" bIns="0" rtlCol="0" anchor="ctr"/>
          <a:lstStyle/>
          <a:p>
            <a:pPr marL="0" indent="0" algn="l">
              <a:buNone/>
            </a:pPr>
            <a:r>
              <a:rPr lang="en-US" sz="2200" b="1" kern="0" spc="1000" dirty="0">
                <a:solidFill>
                  <a:srgbClr val="D4A017"/>
                </a:solidFill>
                <a:latin typeface="Calibri" pitchFamily="34" charset="0"/>
                <a:ea typeface="Calibri" pitchFamily="34" charset="-122"/>
                <a:cs typeface="Calibri" pitchFamily="34" charset="-120"/>
              </a:rPr>
              <a:t>TEMA 8</a:t>
            </a:r>
            <a:endParaRPr lang="en-US" sz="2200" dirty="0"/>
          </a:p>
        </p:txBody>
      </p:sp>
      <p:sp>
        <p:nvSpPr>
          <p:cNvPr id="5" name="Text 2"/>
          <p:cNvSpPr/>
          <p:nvPr/>
        </p:nvSpPr>
        <p:spPr>
          <a:xfrm>
            <a:off x="4114800" y="2560320"/>
            <a:ext cx="7315200" cy="1097280"/>
          </a:xfrm>
          <a:prstGeom prst="rect">
            <a:avLst/>
          </a:prstGeom>
          <a:noFill/>
          <a:ln/>
        </p:spPr>
        <p:txBody>
          <a:bodyPr wrap="square" lIns="0" tIns="0" rIns="0" bIns="0" rtlCol="0" anchor="ctr"/>
          <a:lstStyle/>
          <a:p>
            <a:pPr marL="0" indent="0" algn="l">
              <a:buNone/>
            </a:pPr>
            <a:r>
              <a:rPr lang="en-US" sz="4400" b="1" dirty="0">
                <a:solidFill>
                  <a:srgbClr val="FFFFFF"/>
                </a:solidFill>
                <a:latin typeface="Cambria" pitchFamily="34" charset="0"/>
                <a:ea typeface="Cambria" pitchFamily="34" charset="-122"/>
                <a:cs typeface="Cambria" pitchFamily="34" charset="-120"/>
              </a:rPr>
              <a:t>Documentación de Requisitos</a:t>
            </a:r>
            <a:endParaRPr lang="en-US" sz="4400" dirty="0"/>
          </a:p>
        </p:txBody>
      </p:sp>
      <p:sp>
        <p:nvSpPr>
          <p:cNvPr id="6" name="Text 3"/>
          <p:cNvSpPr/>
          <p:nvPr/>
        </p:nvSpPr>
        <p:spPr>
          <a:xfrm>
            <a:off x="4114800" y="3657600"/>
            <a:ext cx="7315200" cy="548640"/>
          </a:xfrm>
          <a:prstGeom prst="rect">
            <a:avLst/>
          </a:prstGeom>
          <a:noFill/>
          <a:ln/>
        </p:spPr>
        <p:txBody>
          <a:bodyPr wrap="square" lIns="0" tIns="0" rIns="0" bIns="0" rtlCol="0" anchor="ctr"/>
          <a:lstStyle/>
          <a:p>
            <a:pPr marL="0" indent="0" algn="l">
              <a:buNone/>
            </a:pPr>
            <a:r>
              <a:rPr lang="en-US" sz="1800" i="1" dirty="0">
                <a:solidFill>
                  <a:srgbClr val="FFFFFF"/>
                </a:solidFill>
                <a:latin typeface="Calibri" pitchFamily="34" charset="0"/>
                <a:ea typeface="Calibri" pitchFamily="34" charset="-122"/>
                <a:cs typeface="Calibri" pitchFamily="34" charset="-120"/>
              </a:rPr>
              <a:t>Objetivo, artefactos, formatos, atributos y criterios de calidad</a:t>
            </a:r>
            <a:endParaRPr lang="en-US" sz="1800" dirty="0"/>
          </a:p>
        </p:txBody>
      </p:sp>
      <p:sp>
        <p:nvSpPr>
          <p:cNvPr id="7" name="Text 4"/>
          <p:cNvSpPr/>
          <p:nvPr/>
        </p:nvSpPr>
        <p:spPr>
          <a:xfrm>
            <a:off x="4114800" y="4297680"/>
            <a:ext cx="7315200" cy="457200"/>
          </a:xfrm>
          <a:prstGeom prst="rect">
            <a:avLst/>
          </a:prstGeom>
          <a:noFill/>
          <a:ln/>
        </p:spPr>
        <p:txBody>
          <a:bodyPr wrap="square" lIns="0" tIns="0" rIns="0" bIns="0" rtlCol="0" anchor="ctr"/>
          <a:lstStyle/>
          <a:p>
            <a:pPr marL="0" indent="0" algn="l">
              <a:buNone/>
            </a:pPr>
            <a:r>
              <a:rPr lang="en-US" sz="1400" dirty="0">
                <a:solidFill>
                  <a:srgbClr val="D4A017"/>
                </a:solidFill>
                <a:latin typeface="Calibri" pitchFamily="34" charset="0"/>
                <a:ea typeface="Calibri" pitchFamily="34" charset="-122"/>
                <a:cs typeface="Calibri" pitchFamily="34" charset="-120"/>
              </a:rPr>
              <a:t>Subtemas 8.1 - 8.2 - 8.3 - 8.4</a:t>
            </a:r>
            <a:endParaRPr lang="en-US" sz="1400" dirty="0"/>
          </a:p>
        </p:txBody>
      </p:sp>
      <p:sp>
        <p:nvSpPr>
          <p:cNvPr id="9" name="Shape 5"/>
          <p:cNvSpPr/>
          <p:nvPr/>
        </p:nvSpPr>
        <p:spPr>
          <a:xfrm>
            <a:off x="0" y="0"/>
            <a:ext cx="12161520" cy="384048"/>
          </a:xfrm>
          <a:prstGeom prst="rect">
            <a:avLst/>
          </a:prstGeom>
          <a:solidFill>
            <a:srgbClr val="2C5F2D"/>
          </a:solidFill>
          <a:ln w="12700">
            <a:solidFill>
              <a:srgbClr val="2C5F2D"/>
            </a:solidFill>
            <a:prstDash val="solid"/>
          </a:ln>
        </p:spPr>
      </p:sp>
      <p:sp>
        <p:nvSpPr>
          <p:cNvPr id="10" name="Text 6"/>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11" name="Text 7"/>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Tema 8: Documentación</a:t>
            </a:r>
            <a:endParaRPr lang="en-US" sz="1000" dirty="0"/>
          </a:p>
        </p:txBody>
      </p:sp>
      <p:sp>
        <p:nvSpPr>
          <p:cNvPr id="12" name="Text 8"/>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13" name="Text 9"/>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5 / 30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548640"/>
            <a:ext cx="11247120" cy="640080"/>
          </a:xfrm>
          <a:prstGeom prst="rect">
            <a:avLst/>
          </a:prstGeom>
          <a:noFill/>
          <a:ln/>
        </p:spPr>
        <p:txBody>
          <a:bodyPr wrap="square" lIns="0" tIns="0" rIns="0" bIns="0" rtlCol="0" anchor="t"/>
          <a:lstStyle/>
          <a:p>
            <a:pPr marL="0" indent="0" algn="l">
              <a:buNone/>
            </a:pPr>
            <a:r>
              <a:rPr lang="en-US" sz="3000" b="1" dirty="0">
                <a:solidFill>
                  <a:srgbClr val="1E4D8B"/>
                </a:solidFill>
                <a:latin typeface="Cambria" pitchFamily="34" charset="0"/>
                <a:ea typeface="Cambria" pitchFamily="34" charset="-122"/>
                <a:cs typeface="Cambria" pitchFamily="34" charset="-120"/>
              </a:rPr>
              <a:t>8.1 - Objetivo de la documentación</a:t>
            </a:r>
            <a:endParaRPr lang="en-US" sz="3000" dirty="0"/>
          </a:p>
        </p:txBody>
      </p:sp>
      <p:sp>
        <p:nvSpPr>
          <p:cNvPr id="3" name="Text 1"/>
          <p:cNvSpPr/>
          <p:nvPr/>
        </p:nvSpPr>
        <p:spPr>
          <a:xfrm>
            <a:off x="457200" y="1188720"/>
            <a:ext cx="11247120" cy="365760"/>
          </a:xfrm>
          <a:prstGeom prst="rect">
            <a:avLst/>
          </a:prstGeom>
          <a:noFill/>
          <a:ln/>
        </p:spPr>
        <p:txBody>
          <a:bodyPr wrap="square" lIns="0" tIns="0" rIns="0" bIns="0" rtlCol="0" anchor="t"/>
          <a:lstStyle/>
          <a:p>
            <a:pPr marL="0" indent="0" algn="l">
              <a:buNone/>
            </a:pPr>
            <a:r>
              <a:rPr lang="en-US" sz="1300" i="1" dirty="0">
                <a:solidFill>
                  <a:srgbClr val="475569"/>
                </a:solidFill>
                <a:latin typeface="Calibri" pitchFamily="34" charset="0"/>
                <a:ea typeface="Calibri" pitchFamily="34" charset="-122"/>
                <a:cs typeface="Calibri" pitchFamily="34" charset="-120"/>
              </a:rPr>
              <a:t>Tres tipos de artefactos según Pohl (2010): contexto, requisitos y proceso</a:t>
            </a:r>
            <a:endParaRPr lang="en-US" sz="1300" dirty="0"/>
          </a:p>
        </p:txBody>
      </p:sp>
      <p:sp>
        <p:nvSpPr>
          <p:cNvPr id="4" name="Shape 2"/>
          <p:cNvSpPr/>
          <p:nvPr/>
        </p:nvSpPr>
        <p:spPr>
          <a:xfrm>
            <a:off x="457200" y="1783080"/>
            <a:ext cx="4754880" cy="4297680"/>
          </a:xfrm>
          <a:prstGeom prst="roundRect">
            <a:avLst>
              <a:gd name="adj" fmla="val 2128"/>
            </a:avLst>
          </a:prstGeom>
          <a:solidFill>
            <a:srgbClr val="F8FAFC"/>
          </a:solidFill>
          <a:ln w="12700">
            <a:solidFill>
              <a:srgbClr val="E2E8F0"/>
            </a:solidFill>
            <a:prstDash val="solid"/>
          </a:ln>
        </p:spPr>
      </p:sp>
      <p:sp>
        <p:nvSpPr>
          <p:cNvPr id="5" name="Text 3"/>
          <p:cNvSpPr/>
          <p:nvPr/>
        </p:nvSpPr>
        <p:spPr>
          <a:xfrm>
            <a:off x="640080" y="1920240"/>
            <a:ext cx="4389120" cy="365760"/>
          </a:xfrm>
          <a:prstGeom prst="rect">
            <a:avLst/>
          </a:prstGeom>
          <a:noFill/>
          <a:ln/>
        </p:spPr>
        <p:txBody>
          <a:bodyPr wrap="square" lIns="0" tIns="0" rIns="0" bIns="0" rtlCol="0" anchor="ctr"/>
          <a:lstStyle/>
          <a:p>
            <a:pPr marL="0" indent="0" algn="l">
              <a:buNone/>
            </a:pPr>
            <a:r>
              <a:rPr lang="en-US" sz="2000" b="1" dirty="0">
                <a:solidFill>
                  <a:srgbClr val="2C5F2D"/>
                </a:solidFill>
                <a:latin typeface="Cambria" pitchFamily="34" charset="0"/>
                <a:ea typeface="Cambria" pitchFamily="34" charset="-122"/>
                <a:cs typeface="Cambria" pitchFamily="34" charset="-120"/>
              </a:rPr>
              <a:t>Objetivo</a:t>
            </a:r>
            <a:endParaRPr lang="en-US" sz="2000" dirty="0"/>
          </a:p>
        </p:txBody>
      </p:sp>
      <p:sp>
        <p:nvSpPr>
          <p:cNvPr id="6" name="Text 4"/>
          <p:cNvSpPr/>
          <p:nvPr/>
        </p:nvSpPr>
        <p:spPr>
          <a:xfrm>
            <a:off x="685800" y="2331720"/>
            <a:ext cx="4343400" cy="3566160"/>
          </a:xfrm>
          <a:prstGeom prst="rect">
            <a:avLst/>
          </a:prstGeom>
          <a:noFill/>
          <a:ln/>
        </p:spPr>
        <p:txBody>
          <a:bodyPr wrap="square" lIns="0" tIns="0" rIns="0" bIns="0" rtlCol="0" anchor="t"/>
          <a:lstStyle/>
          <a:p>
            <a:pPr marL="0" indent="0" algn="l">
              <a:spcAft>
                <a:spcPts val="1200"/>
              </a:spcAft>
              <a:buNone/>
            </a:pPr>
            <a:r>
              <a:rPr lang="en-US" sz="1300" dirty="0">
                <a:solidFill>
                  <a:srgbClr val="1E293B"/>
                </a:solidFill>
                <a:latin typeface="Calibri" pitchFamily="34" charset="0"/>
                <a:ea typeface="Calibri" pitchFamily="34" charset="-122"/>
                <a:cs typeface="Calibri" pitchFamily="34" charset="-120"/>
              </a:rPr>
              <a:t>Registrar, comunicar y preservar el conocimiento sobre los requisitos del sistema en un artefacto persistente, versionado y accesible a todos los interesados.</a:t>
            </a:r>
            <a:endParaRPr lang="en-US" sz="1300" dirty="0"/>
          </a:p>
          <a:p>
            <a:pPr marL="0" indent="0" algn="l">
              <a:spcAft>
                <a:spcPts val="600"/>
              </a:spcAft>
              <a:buNone/>
            </a:pPr>
            <a:r>
              <a:rPr lang="en-US" sz="1300" dirty="0">
                <a:solidFill>
                  <a:srgbClr val="1E293B"/>
                </a:solidFill>
                <a:latin typeface="Calibri" pitchFamily="34" charset="0"/>
                <a:ea typeface="Calibri" pitchFamily="34" charset="-122"/>
                <a:cs typeface="Calibri" pitchFamily="34" charset="-120"/>
              </a:rPr>
              <a:t>La documentación soporta cuatro macro-actividades transversales del proceso de RE (Requirements Engineering):</a:t>
            </a:r>
            <a:endParaRPr lang="en-US" sz="1300" dirty="0"/>
          </a:p>
          <a:p>
            <a:pPr marL="0" indent="0" algn="l">
              <a:buNone/>
            </a:pPr>
            <a:r>
              <a:rPr lang="en-US" sz="1300" b="1" dirty="0">
                <a:solidFill>
                  <a:srgbClr val="1E4D8B"/>
                </a:solidFill>
                <a:latin typeface="Calibri" pitchFamily="34" charset="0"/>
                <a:ea typeface="Calibri" pitchFamily="34" charset="-122"/>
                <a:cs typeface="Calibri" pitchFamily="34" charset="-120"/>
              </a:rPr>
              <a:t>documentar, negociar, validar y gestionar (Pohl, 2010).</a:t>
            </a:r>
            <a:endParaRPr lang="en-US" sz="1300" dirty="0"/>
          </a:p>
        </p:txBody>
      </p:sp>
      <p:sp>
        <p:nvSpPr>
          <p:cNvPr id="7" name="Shape 5"/>
          <p:cNvSpPr/>
          <p:nvPr/>
        </p:nvSpPr>
        <p:spPr>
          <a:xfrm>
            <a:off x="5486400" y="1783080"/>
            <a:ext cx="6217920" cy="1371600"/>
          </a:xfrm>
          <a:prstGeom prst="roundRect">
            <a:avLst>
              <a:gd name="adj" fmla="val 5333"/>
            </a:avLst>
          </a:prstGeom>
          <a:solidFill>
            <a:srgbClr val="FFFFFF"/>
          </a:solidFill>
          <a:ln w="25400">
            <a:solidFill>
              <a:srgbClr val="2C5F2D"/>
            </a:solidFill>
            <a:prstDash val="solid"/>
          </a:ln>
        </p:spPr>
      </p:sp>
      <p:sp>
        <p:nvSpPr>
          <p:cNvPr id="8" name="Shape 6"/>
          <p:cNvSpPr/>
          <p:nvPr/>
        </p:nvSpPr>
        <p:spPr>
          <a:xfrm>
            <a:off x="5623560" y="2103120"/>
            <a:ext cx="731520" cy="731520"/>
          </a:xfrm>
          <a:prstGeom prst="ellipse">
            <a:avLst/>
          </a:prstGeom>
          <a:solidFill>
            <a:srgbClr val="2C5F2D"/>
          </a:solidFill>
          <a:ln w="12700">
            <a:solidFill>
              <a:srgbClr val="2C5F2D"/>
            </a:solidFill>
            <a:prstDash val="solid"/>
          </a:ln>
        </p:spPr>
      </p:sp>
      <p:pic>
        <p:nvPicPr>
          <p:cNvPr id="9" name="Image 0" descr="preencoded.png"/>
          <p:cNvPicPr>
            <a:picLocks noChangeAspect="1"/>
          </p:cNvPicPr>
          <p:nvPr/>
        </p:nvPicPr>
        <p:blipFill>
          <a:blip r:embed="rId3"/>
          <a:stretch>
            <a:fillRect/>
          </a:stretch>
        </p:blipFill>
        <p:spPr>
          <a:xfrm>
            <a:off x="5760720" y="2240280"/>
            <a:ext cx="457200" cy="457200"/>
          </a:xfrm>
          <a:prstGeom prst="rect">
            <a:avLst/>
          </a:prstGeom>
        </p:spPr>
      </p:pic>
      <p:sp>
        <p:nvSpPr>
          <p:cNvPr id="10" name="Text 7"/>
          <p:cNvSpPr/>
          <p:nvPr/>
        </p:nvSpPr>
        <p:spPr>
          <a:xfrm>
            <a:off x="6492240" y="1874520"/>
            <a:ext cx="5029200" cy="320040"/>
          </a:xfrm>
          <a:prstGeom prst="rect">
            <a:avLst/>
          </a:prstGeom>
          <a:noFill/>
          <a:ln/>
        </p:spPr>
        <p:txBody>
          <a:bodyPr wrap="square" lIns="0" tIns="0" rIns="0" bIns="0" rtlCol="0" anchor="ctr"/>
          <a:lstStyle/>
          <a:p>
            <a:pPr marL="0" indent="0" algn="l">
              <a:buNone/>
            </a:pPr>
            <a:r>
              <a:rPr lang="en-US" sz="1600" b="1" dirty="0">
                <a:solidFill>
                  <a:srgbClr val="2C5F2D"/>
                </a:solidFill>
                <a:latin typeface="Cambria" pitchFamily="34" charset="0"/>
                <a:ea typeface="Cambria" pitchFamily="34" charset="-122"/>
                <a:cs typeface="Cambria" pitchFamily="34" charset="-120"/>
              </a:rPr>
              <a:t>Contexto</a:t>
            </a:r>
            <a:endParaRPr lang="en-US" sz="1600" dirty="0"/>
          </a:p>
        </p:txBody>
      </p:sp>
      <p:sp>
        <p:nvSpPr>
          <p:cNvPr id="11" name="Text 8"/>
          <p:cNvSpPr/>
          <p:nvPr/>
        </p:nvSpPr>
        <p:spPr>
          <a:xfrm>
            <a:off x="6492240" y="2194560"/>
            <a:ext cx="5029200" cy="365760"/>
          </a:xfrm>
          <a:prstGeom prst="rect">
            <a:avLst/>
          </a:prstGeom>
          <a:noFill/>
          <a:ln/>
        </p:spPr>
        <p:txBody>
          <a:bodyPr wrap="square" lIns="0" tIns="0" rIns="0" bIns="0" rtlCol="0" anchor="t"/>
          <a:lstStyle/>
          <a:p>
            <a:pPr marL="0" indent="0" algn="l">
              <a:buNone/>
            </a:pPr>
            <a:r>
              <a:rPr lang="en-US" sz="1100" dirty="0">
                <a:solidFill>
                  <a:srgbClr val="1E293B"/>
                </a:solidFill>
                <a:latin typeface="Calibri" pitchFamily="34" charset="0"/>
                <a:ea typeface="Calibri" pitchFamily="34" charset="-122"/>
                <a:cs typeface="Calibri" pitchFamily="34" charset="-120"/>
              </a:rPr>
              <a:t>Fuentes, glosarios, actores, restricciones del entorno.</a:t>
            </a:r>
            <a:endParaRPr lang="en-US" sz="1100" dirty="0"/>
          </a:p>
        </p:txBody>
      </p:sp>
      <p:sp>
        <p:nvSpPr>
          <p:cNvPr id="12" name="Text 9"/>
          <p:cNvSpPr/>
          <p:nvPr/>
        </p:nvSpPr>
        <p:spPr>
          <a:xfrm>
            <a:off x="6492240" y="2606040"/>
            <a:ext cx="5029200" cy="502920"/>
          </a:xfrm>
          <a:prstGeom prst="rect">
            <a:avLst/>
          </a:prstGeom>
          <a:noFill/>
          <a:ln/>
        </p:spPr>
        <p:txBody>
          <a:bodyPr wrap="square" lIns="0" tIns="0" rIns="0" bIns="0" rtlCol="0" anchor="t"/>
          <a:lstStyle/>
          <a:p>
            <a:pPr marL="0" indent="0" algn="l">
              <a:buNone/>
            </a:pPr>
            <a:r>
              <a:rPr lang="en-US" sz="1000" i="1" dirty="0">
                <a:solidFill>
                  <a:srgbClr val="475569"/>
                </a:solidFill>
                <a:latin typeface="Calibri" pitchFamily="34" charset="0"/>
                <a:ea typeface="Calibri" pitchFamily="34" charset="-122"/>
                <a:cs typeface="Calibri" pitchFamily="34" charset="-120"/>
              </a:rPr>
              <a:t>Ejemplo AquaGest: leyes MAG sobre acuicultura, glosario técnico de piscinas camaroneras.</a:t>
            </a:r>
            <a:endParaRPr lang="en-US" sz="1000" dirty="0"/>
          </a:p>
        </p:txBody>
      </p:sp>
      <p:sp>
        <p:nvSpPr>
          <p:cNvPr id="13" name="Shape 10"/>
          <p:cNvSpPr/>
          <p:nvPr/>
        </p:nvSpPr>
        <p:spPr>
          <a:xfrm>
            <a:off x="5486400" y="3246120"/>
            <a:ext cx="6217920" cy="1371600"/>
          </a:xfrm>
          <a:prstGeom prst="roundRect">
            <a:avLst>
              <a:gd name="adj" fmla="val 5333"/>
            </a:avLst>
          </a:prstGeom>
          <a:solidFill>
            <a:srgbClr val="FFFFFF"/>
          </a:solidFill>
          <a:ln w="25400">
            <a:solidFill>
              <a:srgbClr val="1E4D8B"/>
            </a:solidFill>
            <a:prstDash val="solid"/>
          </a:ln>
        </p:spPr>
      </p:sp>
      <p:sp>
        <p:nvSpPr>
          <p:cNvPr id="14" name="Shape 11"/>
          <p:cNvSpPr/>
          <p:nvPr/>
        </p:nvSpPr>
        <p:spPr>
          <a:xfrm>
            <a:off x="5623560" y="3566160"/>
            <a:ext cx="731520" cy="731520"/>
          </a:xfrm>
          <a:prstGeom prst="ellipse">
            <a:avLst/>
          </a:prstGeom>
          <a:solidFill>
            <a:srgbClr val="1E4D8B"/>
          </a:solidFill>
          <a:ln w="12700">
            <a:solidFill>
              <a:srgbClr val="1E4D8B"/>
            </a:solidFill>
            <a:prstDash val="solid"/>
          </a:ln>
        </p:spPr>
      </p:sp>
      <p:pic>
        <p:nvPicPr>
          <p:cNvPr id="15" name="Image 1" descr="preencoded.png"/>
          <p:cNvPicPr>
            <a:picLocks noChangeAspect="1"/>
          </p:cNvPicPr>
          <p:nvPr/>
        </p:nvPicPr>
        <p:blipFill>
          <a:blip r:embed="rId4"/>
          <a:stretch>
            <a:fillRect/>
          </a:stretch>
        </p:blipFill>
        <p:spPr>
          <a:xfrm>
            <a:off x="5760720" y="3703320"/>
            <a:ext cx="457200" cy="457200"/>
          </a:xfrm>
          <a:prstGeom prst="rect">
            <a:avLst/>
          </a:prstGeom>
        </p:spPr>
      </p:pic>
      <p:sp>
        <p:nvSpPr>
          <p:cNvPr id="16" name="Text 12"/>
          <p:cNvSpPr/>
          <p:nvPr/>
        </p:nvSpPr>
        <p:spPr>
          <a:xfrm>
            <a:off x="6492240" y="3337560"/>
            <a:ext cx="5029200" cy="320040"/>
          </a:xfrm>
          <a:prstGeom prst="rect">
            <a:avLst/>
          </a:prstGeom>
          <a:noFill/>
          <a:ln/>
        </p:spPr>
        <p:txBody>
          <a:bodyPr wrap="square" lIns="0" tIns="0" rIns="0" bIns="0" rtlCol="0" anchor="ctr"/>
          <a:lstStyle/>
          <a:p>
            <a:pPr marL="0" indent="0" algn="l">
              <a:buNone/>
            </a:pPr>
            <a:r>
              <a:rPr lang="en-US" sz="1600" b="1" dirty="0">
                <a:solidFill>
                  <a:srgbClr val="1E4D8B"/>
                </a:solidFill>
                <a:latin typeface="Cambria" pitchFamily="34" charset="0"/>
                <a:ea typeface="Cambria" pitchFamily="34" charset="-122"/>
                <a:cs typeface="Cambria" pitchFamily="34" charset="-120"/>
              </a:rPr>
              <a:t>Requisitos</a:t>
            </a:r>
            <a:endParaRPr lang="en-US" sz="1600" dirty="0"/>
          </a:p>
        </p:txBody>
      </p:sp>
      <p:sp>
        <p:nvSpPr>
          <p:cNvPr id="17" name="Text 13"/>
          <p:cNvSpPr/>
          <p:nvPr/>
        </p:nvSpPr>
        <p:spPr>
          <a:xfrm>
            <a:off x="6492240" y="3657600"/>
            <a:ext cx="5029200" cy="365760"/>
          </a:xfrm>
          <a:prstGeom prst="rect">
            <a:avLst/>
          </a:prstGeom>
          <a:noFill/>
          <a:ln/>
        </p:spPr>
        <p:txBody>
          <a:bodyPr wrap="square" lIns="0" tIns="0" rIns="0" bIns="0" rtlCol="0" anchor="t"/>
          <a:lstStyle/>
          <a:p>
            <a:pPr marL="0" indent="0" algn="l">
              <a:buNone/>
            </a:pPr>
            <a:r>
              <a:rPr lang="en-US" sz="1100" dirty="0">
                <a:solidFill>
                  <a:srgbClr val="1E293B"/>
                </a:solidFill>
                <a:latin typeface="Calibri" pitchFamily="34" charset="0"/>
                <a:ea typeface="Calibri" pitchFamily="34" charset="-122"/>
                <a:cs typeface="Calibri" pitchFamily="34" charset="-120"/>
              </a:rPr>
              <a:t>Objetivos, escenarios y requisitos solución (RF y RNF).</a:t>
            </a:r>
            <a:endParaRPr lang="en-US" sz="1100" dirty="0"/>
          </a:p>
        </p:txBody>
      </p:sp>
      <p:sp>
        <p:nvSpPr>
          <p:cNvPr id="18" name="Text 14"/>
          <p:cNvSpPr/>
          <p:nvPr/>
        </p:nvSpPr>
        <p:spPr>
          <a:xfrm>
            <a:off x="6492240" y="4069080"/>
            <a:ext cx="5029200" cy="502920"/>
          </a:xfrm>
          <a:prstGeom prst="rect">
            <a:avLst/>
          </a:prstGeom>
          <a:noFill/>
          <a:ln/>
        </p:spPr>
        <p:txBody>
          <a:bodyPr wrap="square" lIns="0" tIns="0" rIns="0" bIns="0" rtlCol="0" anchor="t"/>
          <a:lstStyle/>
          <a:p>
            <a:pPr marL="0" indent="0" algn="l">
              <a:buNone/>
            </a:pPr>
            <a:r>
              <a:rPr lang="en-US" sz="1000" i="1" dirty="0">
                <a:solidFill>
                  <a:srgbClr val="475569"/>
                </a:solidFill>
                <a:latin typeface="Calibri" pitchFamily="34" charset="0"/>
                <a:ea typeface="Calibri" pitchFamily="34" charset="-122"/>
                <a:cs typeface="Calibri" pitchFamily="34" charset="-120"/>
              </a:rPr>
              <a:t>Ejemplo MundiPets: RF-08 registrar historia clínica veterinaria; RNF-03 respuesta menor a 2 s.</a:t>
            </a:r>
            <a:endParaRPr lang="en-US" sz="1000" dirty="0"/>
          </a:p>
        </p:txBody>
      </p:sp>
      <p:sp>
        <p:nvSpPr>
          <p:cNvPr id="19" name="Shape 15"/>
          <p:cNvSpPr/>
          <p:nvPr/>
        </p:nvSpPr>
        <p:spPr>
          <a:xfrm>
            <a:off x="5486400" y="4709160"/>
            <a:ext cx="6217920" cy="1371600"/>
          </a:xfrm>
          <a:prstGeom prst="roundRect">
            <a:avLst>
              <a:gd name="adj" fmla="val 5333"/>
            </a:avLst>
          </a:prstGeom>
          <a:solidFill>
            <a:srgbClr val="FFFFFF"/>
          </a:solidFill>
          <a:ln w="25400">
            <a:solidFill>
              <a:srgbClr val="D4A017"/>
            </a:solidFill>
            <a:prstDash val="solid"/>
          </a:ln>
        </p:spPr>
      </p:sp>
      <p:sp>
        <p:nvSpPr>
          <p:cNvPr id="20" name="Shape 16"/>
          <p:cNvSpPr/>
          <p:nvPr/>
        </p:nvSpPr>
        <p:spPr>
          <a:xfrm>
            <a:off x="5623560" y="5029200"/>
            <a:ext cx="731520" cy="731520"/>
          </a:xfrm>
          <a:prstGeom prst="ellipse">
            <a:avLst/>
          </a:prstGeom>
          <a:solidFill>
            <a:srgbClr val="D4A017"/>
          </a:solidFill>
          <a:ln w="12700">
            <a:solidFill>
              <a:srgbClr val="D4A017"/>
            </a:solidFill>
            <a:prstDash val="solid"/>
          </a:ln>
        </p:spPr>
      </p:sp>
      <p:pic>
        <p:nvPicPr>
          <p:cNvPr id="21" name="Image 2" descr="preencoded.png"/>
          <p:cNvPicPr>
            <a:picLocks noChangeAspect="1"/>
          </p:cNvPicPr>
          <p:nvPr/>
        </p:nvPicPr>
        <p:blipFill>
          <a:blip r:embed="rId5"/>
          <a:stretch>
            <a:fillRect/>
          </a:stretch>
        </p:blipFill>
        <p:spPr>
          <a:xfrm>
            <a:off x="5760720" y="5166360"/>
            <a:ext cx="457200" cy="457200"/>
          </a:xfrm>
          <a:prstGeom prst="rect">
            <a:avLst/>
          </a:prstGeom>
        </p:spPr>
      </p:pic>
      <p:sp>
        <p:nvSpPr>
          <p:cNvPr id="22" name="Text 17"/>
          <p:cNvSpPr/>
          <p:nvPr/>
        </p:nvSpPr>
        <p:spPr>
          <a:xfrm>
            <a:off x="6492240" y="4800600"/>
            <a:ext cx="5029200" cy="320040"/>
          </a:xfrm>
          <a:prstGeom prst="rect">
            <a:avLst/>
          </a:prstGeom>
          <a:noFill/>
          <a:ln/>
        </p:spPr>
        <p:txBody>
          <a:bodyPr wrap="square" lIns="0" tIns="0" rIns="0" bIns="0" rtlCol="0" anchor="ctr"/>
          <a:lstStyle/>
          <a:p>
            <a:pPr marL="0" indent="0" algn="l">
              <a:buNone/>
            </a:pPr>
            <a:r>
              <a:rPr lang="en-US" sz="1600" b="1" dirty="0">
                <a:solidFill>
                  <a:srgbClr val="D4A017"/>
                </a:solidFill>
                <a:latin typeface="Cambria" pitchFamily="34" charset="0"/>
                <a:ea typeface="Cambria" pitchFamily="34" charset="-122"/>
                <a:cs typeface="Cambria" pitchFamily="34" charset="-120"/>
              </a:rPr>
              <a:t>Proceso</a:t>
            </a:r>
            <a:endParaRPr lang="en-US" sz="1600" dirty="0"/>
          </a:p>
        </p:txBody>
      </p:sp>
      <p:sp>
        <p:nvSpPr>
          <p:cNvPr id="23" name="Text 18"/>
          <p:cNvSpPr/>
          <p:nvPr/>
        </p:nvSpPr>
        <p:spPr>
          <a:xfrm>
            <a:off x="6492240" y="5120640"/>
            <a:ext cx="5029200" cy="365760"/>
          </a:xfrm>
          <a:prstGeom prst="rect">
            <a:avLst/>
          </a:prstGeom>
          <a:noFill/>
          <a:ln/>
        </p:spPr>
        <p:txBody>
          <a:bodyPr wrap="square" lIns="0" tIns="0" rIns="0" bIns="0" rtlCol="0" anchor="t"/>
          <a:lstStyle/>
          <a:p>
            <a:pPr marL="0" indent="0" algn="l">
              <a:buNone/>
            </a:pPr>
            <a:r>
              <a:rPr lang="en-US" sz="1100" dirty="0">
                <a:solidFill>
                  <a:srgbClr val="1E293B"/>
                </a:solidFill>
                <a:latin typeface="Calibri" pitchFamily="34" charset="0"/>
                <a:ea typeface="Calibri" pitchFamily="34" charset="-122"/>
                <a:cs typeface="Calibri" pitchFamily="34" charset="-120"/>
              </a:rPr>
              <a:t>Planificación, decisiones, informes de trazabilidad.</a:t>
            </a:r>
            <a:endParaRPr lang="en-US" sz="1100" dirty="0"/>
          </a:p>
        </p:txBody>
      </p:sp>
      <p:sp>
        <p:nvSpPr>
          <p:cNvPr id="24" name="Text 19"/>
          <p:cNvSpPr/>
          <p:nvPr/>
        </p:nvSpPr>
        <p:spPr>
          <a:xfrm>
            <a:off x="6492240" y="5532120"/>
            <a:ext cx="5029200" cy="502920"/>
          </a:xfrm>
          <a:prstGeom prst="rect">
            <a:avLst/>
          </a:prstGeom>
          <a:noFill/>
          <a:ln/>
        </p:spPr>
        <p:txBody>
          <a:bodyPr wrap="square" lIns="0" tIns="0" rIns="0" bIns="0" rtlCol="0" anchor="t"/>
          <a:lstStyle/>
          <a:p>
            <a:pPr marL="0" indent="0" algn="l">
              <a:buNone/>
            </a:pPr>
            <a:r>
              <a:rPr lang="en-US" sz="1000" i="1" dirty="0">
                <a:solidFill>
                  <a:srgbClr val="475569"/>
                </a:solidFill>
                <a:latin typeface="Calibri" pitchFamily="34" charset="0"/>
                <a:ea typeface="Calibri" pitchFamily="34" charset="-122"/>
                <a:cs typeface="Calibri" pitchFamily="34" charset="-120"/>
              </a:rPr>
              <a:t>Ejemplo SIMPA: acta de decisión sobre priorización MoSCoW de mantenimientos de palma.</a:t>
            </a:r>
            <a:endParaRPr lang="en-US" sz="1000" dirty="0"/>
          </a:p>
        </p:txBody>
      </p:sp>
      <p:sp>
        <p:nvSpPr>
          <p:cNvPr id="26" name="Shape 20"/>
          <p:cNvSpPr/>
          <p:nvPr/>
        </p:nvSpPr>
        <p:spPr>
          <a:xfrm>
            <a:off x="0" y="0"/>
            <a:ext cx="12161520" cy="384048"/>
          </a:xfrm>
          <a:prstGeom prst="rect">
            <a:avLst/>
          </a:prstGeom>
          <a:solidFill>
            <a:srgbClr val="2C5F2D"/>
          </a:solidFill>
          <a:ln w="12700">
            <a:solidFill>
              <a:srgbClr val="2C5F2D"/>
            </a:solidFill>
            <a:prstDash val="solid"/>
          </a:ln>
        </p:spPr>
      </p:sp>
      <p:sp>
        <p:nvSpPr>
          <p:cNvPr id="27" name="Text 21"/>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28" name="Text 22"/>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8.1 Artefactos</a:t>
            </a:r>
            <a:endParaRPr lang="en-US" sz="1000" dirty="0"/>
          </a:p>
        </p:txBody>
      </p:sp>
      <p:sp>
        <p:nvSpPr>
          <p:cNvPr id="29" name="Text 23"/>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30" name="Text 24"/>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6 / 30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548640"/>
            <a:ext cx="11247120" cy="640080"/>
          </a:xfrm>
          <a:prstGeom prst="rect">
            <a:avLst/>
          </a:prstGeom>
          <a:noFill/>
          <a:ln/>
        </p:spPr>
        <p:txBody>
          <a:bodyPr wrap="square" lIns="0" tIns="0" rIns="0" bIns="0" rtlCol="0" anchor="t"/>
          <a:lstStyle/>
          <a:p>
            <a:pPr marL="0" indent="0" algn="l">
              <a:buNone/>
            </a:pPr>
            <a:r>
              <a:rPr lang="en-US" sz="3000" b="1" dirty="0">
                <a:solidFill>
                  <a:srgbClr val="1E4D8B"/>
                </a:solidFill>
                <a:latin typeface="Cambria" pitchFamily="34" charset="0"/>
                <a:ea typeface="Cambria" pitchFamily="34" charset="-122"/>
                <a:cs typeface="Cambria" pitchFamily="34" charset="-120"/>
              </a:rPr>
              <a:t>8.2 - Formatos de representación</a:t>
            </a:r>
            <a:endParaRPr lang="en-US" sz="3000" dirty="0"/>
          </a:p>
        </p:txBody>
      </p:sp>
      <p:sp>
        <p:nvSpPr>
          <p:cNvPr id="3" name="Text 1"/>
          <p:cNvSpPr/>
          <p:nvPr/>
        </p:nvSpPr>
        <p:spPr>
          <a:xfrm>
            <a:off x="457200" y="1188720"/>
            <a:ext cx="11247120" cy="365760"/>
          </a:xfrm>
          <a:prstGeom prst="rect">
            <a:avLst/>
          </a:prstGeom>
          <a:noFill/>
          <a:ln/>
        </p:spPr>
        <p:txBody>
          <a:bodyPr wrap="square" lIns="0" tIns="0" rIns="0" bIns="0" rtlCol="0" anchor="t"/>
          <a:lstStyle/>
          <a:p>
            <a:pPr marL="0" indent="0" algn="l">
              <a:buNone/>
            </a:pPr>
            <a:r>
              <a:rPr lang="en-US" sz="1300" i="1" dirty="0">
                <a:solidFill>
                  <a:srgbClr val="475569"/>
                </a:solidFill>
                <a:latin typeface="Calibri" pitchFamily="34" charset="0"/>
                <a:ea typeface="Calibri" pitchFamily="34" charset="-122"/>
                <a:cs typeface="Calibri" pitchFamily="34" charset="-120"/>
              </a:rPr>
              <a:t>Cuatro niveles crecientes de formalidad y de rigor semántico</a:t>
            </a:r>
            <a:endParaRPr lang="en-US" sz="1300" dirty="0"/>
          </a:p>
        </p:txBody>
      </p:sp>
      <p:sp>
        <p:nvSpPr>
          <p:cNvPr id="4" name="Shape 2"/>
          <p:cNvSpPr/>
          <p:nvPr/>
        </p:nvSpPr>
        <p:spPr>
          <a:xfrm>
            <a:off x="297180" y="1783080"/>
            <a:ext cx="2788920" cy="4617720"/>
          </a:xfrm>
          <a:prstGeom prst="roundRect">
            <a:avLst>
              <a:gd name="adj" fmla="val 3279"/>
            </a:avLst>
          </a:prstGeom>
          <a:solidFill>
            <a:srgbClr val="FFFFFF"/>
          </a:solidFill>
          <a:ln w="12700">
            <a:solidFill>
              <a:srgbClr val="E2E8F0"/>
            </a:solidFill>
            <a:prstDash val="solid"/>
          </a:ln>
          <a:effectLst>
            <a:outerShdw blurRad="76200" dist="25400" dir="5400000" algn="bl" rotWithShape="0">
              <a:srgbClr val="000000">
                <a:alpha val="8000"/>
              </a:srgbClr>
            </a:outerShdw>
          </a:effectLst>
        </p:spPr>
      </p:sp>
      <p:sp>
        <p:nvSpPr>
          <p:cNvPr id="5" name="Shape 3"/>
          <p:cNvSpPr/>
          <p:nvPr/>
        </p:nvSpPr>
        <p:spPr>
          <a:xfrm>
            <a:off x="297180" y="1783080"/>
            <a:ext cx="2788920" cy="640080"/>
          </a:xfrm>
          <a:prstGeom prst="rect">
            <a:avLst/>
          </a:prstGeom>
          <a:solidFill>
            <a:srgbClr val="97BC62"/>
          </a:solidFill>
          <a:ln w="12700">
            <a:solidFill>
              <a:srgbClr val="97BC62"/>
            </a:solidFill>
            <a:prstDash val="solid"/>
          </a:ln>
        </p:spPr>
      </p:sp>
      <p:sp>
        <p:nvSpPr>
          <p:cNvPr id="6" name="Text 4"/>
          <p:cNvSpPr/>
          <p:nvPr/>
        </p:nvSpPr>
        <p:spPr>
          <a:xfrm>
            <a:off x="434340" y="1783080"/>
            <a:ext cx="251460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 Natural</a:t>
            </a:r>
            <a:endParaRPr lang="en-US" sz="1600" dirty="0"/>
          </a:p>
        </p:txBody>
      </p:sp>
      <p:sp>
        <p:nvSpPr>
          <p:cNvPr id="7" name="Text 5"/>
          <p:cNvSpPr/>
          <p:nvPr/>
        </p:nvSpPr>
        <p:spPr>
          <a:xfrm>
            <a:off x="480060" y="2560320"/>
            <a:ext cx="2423160" cy="3703320"/>
          </a:xfrm>
          <a:prstGeom prst="rect">
            <a:avLst/>
          </a:prstGeom>
          <a:noFill/>
          <a:ln/>
        </p:spPr>
        <p:txBody>
          <a:bodyPr wrap="square" lIns="0" tIns="0" rIns="0" bIns="0" rtlCol="0" anchor="t"/>
          <a:lstStyle/>
          <a:p>
            <a:pPr marL="0" indent="0" algn="l">
              <a:spcAft>
                <a:spcPts val="1000"/>
              </a:spcAft>
              <a:buNone/>
            </a:pPr>
            <a:r>
              <a:rPr lang="en-US" sz="1050" i="1" dirty="0">
                <a:solidFill>
                  <a:srgbClr val="1E293B"/>
                </a:solidFill>
                <a:latin typeface="Calibri" pitchFamily="34" charset="0"/>
                <a:ea typeface="Calibri" pitchFamily="34" charset="-122"/>
                <a:cs typeface="Calibri" pitchFamily="34" charset="-120"/>
              </a:rPr>
              <a:t>Prosa libre en lenguaje humano.</a:t>
            </a:r>
            <a:endParaRPr lang="en-US" sz="1050" dirty="0"/>
          </a:p>
          <a:p>
            <a:pPr marL="0" indent="0" algn="l">
              <a:spcAft>
                <a:spcPts val="200"/>
              </a:spcAft>
              <a:buNone/>
            </a:pPr>
            <a:r>
              <a:rPr lang="en-US" sz="1050" b="1" dirty="0">
                <a:solidFill>
                  <a:srgbClr val="2C5F2D"/>
                </a:solidFill>
                <a:latin typeface="Calibri" pitchFamily="34" charset="0"/>
                <a:ea typeface="Calibri" pitchFamily="34" charset="-122"/>
                <a:cs typeface="Calibri" pitchFamily="34" charset="-120"/>
              </a:rPr>
              <a:t>Ventaja</a:t>
            </a:r>
            <a:endParaRPr lang="en-US" sz="1050" dirty="0"/>
          </a:p>
          <a:p>
            <a:pPr marL="0" indent="0" algn="l">
              <a:spcAft>
                <a:spcPts val="1000"/>
              </a:spcAft>
              <a:buNone/>
            </a:pPr>
            <a:r>
              <a:rPr lang="en-US" sz="1050" dirty="0">
                <a:solidFill>
                  <a:srgbClr val="1E293B"/>
                </a:solidFill>
                <a:latin typeface="Calibri" pitchFamily="34" charset="0"/>
                <a:ea typeface="Calibri" pitchFamily="34" charset="-122"/>
                <a:cs typeface="Calibri" pitchFamily="34" charset="-120"/>
              </a:rPr>
              <a:t>Muy accesible al usuario.</a:t>
            </a:r>
            <a:endParaRPr lang="en-US" sz="1050" dirty="0"/>
          </a:p>
          <a:p>
            <a:pPr marL="0" indent="0" algn="l">
              <a:spcAft>
                <a:spcPts val="200"/>
              </a:spcAft>
              <a:buNone/>
            </a:pPr>
            <a:r>
              <a:rPr lang="en-US" sz="1050" b="1" dirty="0">
                <a:solidFill>
                  <a:srgbClr val="B91C1C"/>
                </a:solidFill>
                <a:latin typeface="Calibri" pitchFamily="34" charset="0"/>
                <a:ea typeface="Calibri" pitchFamily="34" charset="-122"/>
                <a:cs typeface="Calibri" pitchFamily="34" charset="-120"/>
              </a:rPr>
              <a:t>Riesgo</a:t>
            </a:r>
            <a:endParaRPr lang="en-US" sz="1050" dirty="0"/>
          </a:p>
          <a:p>
            <a:pPr marL="0" indent="0" algn="l">
              <a:spcAft>
                <a:spcPts val="1000"/>
              </a:spcAft>
              <a:buNone/>
            </a:pPr>
            <a:r>
              <a:rPr lang="en-US" sz="1050" dirty="0">
                <a:solidFill>
                  <a:srgbClr val="1E293B"/>
                </a:solidFill>
                <a:latin typeface="Calibri" pitchFamily="34" charset="0"/>
                <a:ea typeface="Calibri" pitchFamily="34" charset="-122"/>
                <a:cs typeface="Calibri" pitchFamily="34" charset="-120"/>
              </a:rPr>
              <a:t>Alta ambigüedad; dificil de verificar.</a:t>
            </a:r>
            <a:endParaRPr lang="en-US" sz="1050" dirty="0"/>
          </a:p>
          <a:p>
            <a:pPr marL="0" indent="0" algn="l">
              <a:spcAft>
                <a:spcPts val="200"/>
              </a:spcAft>
              <a:buNone/>
            </a:pPr>
            <a:r>
              <a:rPr lang="en-US" sz="1050" b="1" dirty="0">
                <a:solidFill>
                  <a:srgbClr val="1E4D8B"/>
                </a:solidFill>
                <a:latin typeface="Calibri" pitchFamily="34" charset="0"/>
                <a:ea typeface="Calibri" pitchFamily="34" charset="-122"/>
                <a:cs typeface="Calibri" pitchFamily="34" charset="-120"/>
              </a:rPr>
              <a:t>Ejemplo</a:t>
            </a:r>
            <a:endParaRPr lang="en-US" sz="1050" dirty="0"/>
          </a:p>
          <a:p>
            <a:pPr marL="0" indent="0" algn="l">
              <a:buNone/>
            </a:pPr>
            <a:r>
              <a:rPr lang="en-US" sz="1050" i="1" dirty="0">
                <a:solidFill>
                  <a:srgbClr val="475569"/>
                </a:solidFill>
                <a:latin typeface="Calibri" pitchFamily="34" charset="0"/>
                <a:ea typeface="Calibri" pitchFamily="34" charset="-122"/>
                <a:cs typeface="Calibri" pitchFamily="34" charset="-120"/>
              </a:rPr>
              <a:t>AquaGest: -El sistema debe controlar el ciclo de crianza-.</a:t>
            </a:r>
            <a:endParaRPr lang="en-US" sz="1050" dirty="0"/>
          </a:p>
        </p:txBody>
      </p:sp>
      <p:sp>
        <p:nvSpPr>
          <p:cNvPr id="8" name="Shape 6"/>
          <p:cNvSpPr/>
          <p:nvPr/>
        </p:nvSpPr>
        <p:spPr>
          <a:xfrm>
            <a:off x="3223260" y="1783080"/>
            <a:ext cx="2788920" cy="4617720"/>
          </a:xfrm>
          <a:prstGeom prst="roundRect">
            <a:avLst>
              <a:gd name="adj" fmla="val 3279"/>
            </a:avLst>
          </a:prstGeom>
          <a:solidFill>
            <a:srgbClr val="FFFFFF"/>
          </a:solidFill>
          <a:ln w="12700">
            <a:solidFill>
              <a:srgbClr val="E2E8F0"/>
            </a:solidFill>
            <a:prstDash val="solid"/>
          </a:ln>
          <a:effectLst>
            <a:outerShdw blurRad="76200" dist="25400" dir="5400000" algn="bl" rotWithShape="0">
              <a:srgbClr val="000000">
                <a:alpha val="8000"/>
              </a:srgbClr>
            </a:outerShdw>
          </a:effectLst>
        </p:spPr>
      </p:sp>
      <p:sp>
        <p:nvSpPr>
          <p:cNvPr id="9" name="Shape 7"/>
          <p:cNvSpPr/>
          <p:nvPr/>
        </p:nvSpPr>
        <p:spPr>
          <a:xfrm>
            <a:off x="3223260" y="1783080"/>
            <a:ext cx="2788920" cy="640080"/>
          </a:xfrm>
          <a:prstGeom prst="rect">
            <a:avLst/>
          </a:prstGeom>
          <a:solidFill>
            <a:srgbClr val="2C5F2D"/>
          </a:solidFill>
          <a:ln w="12700">
            <a:solidFill>
              <a:srgbClr val="2C5F2D"/>
            </a:solidFill>
            <a:prstDash val="solid"/>
          </a:ln>
        </p:spPr>
      </p:sp>
      <p:sp>
        <p:nvSpPr>
          <p:cNvPr id="10" name="Text 8"/>
          <p:cNvSpPr/>
          <p:nvPr/>
        </p:nvSpPr>
        <p:spPr>
          <a:xfrm>
            <a:off x="3360420" y="1783080"/>
            <a:ext cx="251460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 Semiestructurado</a:t>
            </a:r>
            <a:endParaRPr lang="en-US" sz="1600" dirty="0"/>
          </a:p>
        </p:txBody>
      </p:sp>
      <p:sp>
        <p:nvSpPr>
          <p:cNvPr id="11" name="Text 9"/>
          <p:cNvSpPr/>
          <p:nvPr/>
        </p:nvSpPr>
        <p:spPr>
          <a:xfrm>
            <a:off x="3406140" y="2560320"/>
            <a:ext cx="2423160" cy="3703320"/>
          </a:xfrm>
          <a:prstGeom prst="rect">
            <a:avLst/>
          </a:prstGeom>
          <a:noFill/>
          <a:ln/>
        </p:spPr>
        <p:txBody>
          <a:bodyPr wrap="square" lIns="0" tIns="0" rIns="0" bIns="0" rtlCol="0" anchor="t"/>
          <a:lstStyle/>
          <a:p>
            <a:pPr marL="0" indent="0" algn="l">
              <a:spcAft>
                <a:spcPts val="1000"/>
              </a:spcAft>
              <a:buNone/>
            </a:pPr>
            <a:r>
              <a:rPr lang="en-US" sz="1050" i="1" dirty="0">
                <a:solidFill>
                  <a:srgbClr val="1E293B"/>
                </a:solidFill>
                <a:latin typeface="Calibri" pitchFamily="34" charset="0"/>
                <a:ea typeface="Calibri" pitchFamily="34" charset="-122"/>
                <a:cs typeface="Calibri" pitchFamily="34" charset="-120"/>
              </a:rPr>
              <a:t>Prosa + plantillas, listas o formularios.</a:t>
            </a:r>
            <a:endParaRPr lang="en-US" sz="1050" dirty="0"/>
          </a:p>
          <a:p>
            <a:pPr marL="0" indent="0" algn="l">
              <a:spcAft>
                <a:spcPts val="200"/>
              </a:spcAft>
              <a:buNone/>
            </a:pPr>
            <a:r>
              <a:rPr lang="en-US" sz="1050" b="1" dirty="0">
                <a:solidFill>
                  <a:srgbClr val="2C5F2D"/>
                </a:solidFill>
                <a:latin typeface="Calibri" pitchFamily="34" charset="0"/>
                <a:ea typeface="Calibri" pitchFamily="34" charset="-122"/>
                <a:cs typeface="Calibri" pitchFamily="34" charset="-120"/>
              </a:rPr>
              <a:t>Ventaja</a:t>
            </a:r>
            <a:endParaRPr lang="en-US" sz="1050" dirty="0"/>
          </a:p>
          <a:p>
            <a:pPr marL="0" indent="0" algn="l">
              <a:spcAft>
                <a:spcPts val="1000"/>
              </a:spcAft>
              <a:buNone/>
            </a:pPr>
            <a:r>
              <a:rPr lang="en-US" sz="1050" dirty="0">
                <a:solidFill>
                  <a:srgbClr val="1E293B"/>
                </a:solidFill>
                <a:latin typeface="Calibri" pitchFamily="34" charset="0"/>
                <a:ea typeface="Calibri" pitchFamily="34" charset="-122"/>
                <a:cs typeface="Calibri" pitchFamily="34" charset="-120"/>
              </a:rPr>
              <a:t>Accesible y ordenado.</a:t>
            </a:r>
            <a:endParaRPr lang="en-US" sz="1050" dirty="0"/>
          </a:p>
          <a:p>
            <a:pPr marL="0" indent="0" algn="l">
              <a:spcAft>
                <a:spcPts val="200"/>
              </a:spcAft>
              <a:buNone/>
            </a:pPr>
            <a:r>
              <a:rPr lang="en-US" sz="1050" b="1" dirty="0">
                <a:solidFill>
                  <a:srgbClr val="B91C1C"/>
                </a:solidFill>
                <a:latin typeface="Calibri" pitchFamily="34" charset="0"/>
                <a:ea typeface="Calibri" pitchFamily="34" charset="-122"/>
                <a:cs typeface="Calibri" pitchFamily="34" charset="-120"/>
              </a:rPr>
              <a:t>Riesgo</a:t>
            </a:r>
            <a:endParaRPr lang="en-US" sz="1050" dirty="0"/>
          </a:p>
          <a:p>
            <a:pPr marL="0" indent="0" algn="l">
              <a:spcAft>
                <a:spcPts val="1000"/>
              </a:spcAft>
              <a:buNone/>
            </a:pPr>
            <a:r>
              <a:rPr lang="en-US" sz="1050" dirty="0">
                <a:solidFill>
                  <a:srgbClr val="1E293B"/>
                </a:solidFill>
                <a:latin typeface="Calibri" pitchFamily="34" charset="0"/>
                <a:ea typeface="Calibri" pitchFamily="34" charset="-122"/>
                <a:cs typeface="Calibri" pitchFamily="34" charset="-120"/>
              </a:rPr>
              <a:t>Todavía permite términos vagos.</a:t>
            </a:r>
            <a:endParaRPr lang="en-US" sz="1050" dirty="0"/>
          </a:p>
          <a:p>
            <a:pPr marL="0" indent="0" algn="l">
              <a:spcAft>
                <a:spcPts val="200"/>
              </a:spcAft>
              <a:buNone/>
            </a:pPr>
            <a:r>
              <a:rPr lang="en-US" sz="1050" b="1" dirty="0">
                <a:solidFill>
                  <a:srgbClr val="1E4D8B"/>
                </a:solidFill>
                <a:latin typeface="Calibri" pitchFamily="34" charset="0"/>
                <a:ea typeface="Calibri" pitchFamily="34" charset="-122"/>
                <a:cs typeface="Calibri" pitchFamily="34" charset="-120"/>
              </a:rPr>
              <a:t>Ejemplo</a:t>
            </a:r>
            <a:endParaRPr lang="en-US" sz="1050" dirty="0"/>
          </a:p>
          <a:p>
            <a:pPr marL="0" indent="0" algn="l">
              <a:buNone/>
            </a:pPr>
            <a:r>
              <a:rPr lang="en-US" sz="1050" i="1" dirty="0">
                <a:solidFill>
                  <a:srgbClr val="475569"/>
                </a:solidFill>
                <a:latin typeface="Calibri" pitchFamily="34" charset="0"/>
                <a:ea typeface="Calibri" pitchFamily="34" charset="-122"/>
                <a:cs typeface="Calibri" pitchFamily="34" charset="-120"/>
              </a:rPr>
              <a:t>MundiPets: ID, Actor, Descripción, Prioridad, Fuente.</a:t>
            </a:r>
            <a:endParaRPr lang="en-US" sz="1050" dirty="0"/>
          </a:p>
        </p:txBody>
      </p:sp>
      <p:sp>
        <p:nvSpPr>
          <p:cNvPr id="12" name="Shape 10"/>
          <p:cNvSpPr/>
          <p:nvPr/>
        </p:nvSpPr>
        <p:spPr>
          <a:xfrm>
            <a:off x="6149340" y="1783080"/>
            <a:ext cx="2788920" cy="4617720"/>
          </a:xfrm>
          <a:prstGeom prst="roundRect">
            <a:avLst>
              <a:gd name="adj" fmla="val 3279"/>
            </a:avLst>
          </a:prstGeom>
          <a:solidFill>
            <a:srgbClr val="FFFFFF"/>
          </a:solidFill>
          <a:ln w="12700">
            <a:solidFill>
              <a:srgbClr val="E2E8F0"/>
            </a:solidFill>
            <a:prstDash val="solid"/>
          </a:ln>
          <a:effectLst>
            <a:outerShdw blurRad="76200" dist="25400" dir="5400000" algn="bl" rotWithShape="0">
              <a:srgbClr val="000000">
                <a:alpha val="8000"/>
              </a:srgbClr>
            </a:outerShdw>
          </a:effectLst>
        </p:spPr>
      </p:sp>
      <p:sp>
        <p:nvSpPr>
          <p:cNvPr id="13" name="Shape 11"/>
          <p:cNvSpPr/>
          <p:nvPr/>
        </p:nvSpPr>
        <p:spPr>
          <a:xfrm>
            <a:off x="6149340" y="1783080"/>
            <a:ext cx="2788920" cy="640080"/>
          </a:xfrm>
          <a:prstGeom prst="rect">
            <a:avLst/>
          </a:prstGeom>
          <a:solidFill>
            <a:srgbClr val="1E4D8B"/>
          </a:solidFill>
          <a:ln w="12700">
            <a:solidFill>
              <a:srgbClr val="1E4D8B"/>
            </a:solidFill>
            <a:prstDash val="solid"/>
          </a:ln>
        </p:spPr>
      </p:sp>
      <p:sp>
        <p:nvSpPr>
          <p:cNvPr id="14" name="Text 12"/>
          <p:cNvSpPr/>
          <p:nvPr/>
        </p:nvSpPr>
        <p:spPr>
          <a:xfrm>
            <a:off x="6286500" y="1783080"/>
            <a:ext cx="251460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 Estructurado</a:t>
            </a:r>
            <a:endParaRPr lang="en-US" sz="1600" dirty="0"/>
          </a:p>
        </p:txBody>
      </p:sp>
      <p:sp>
        <p:nvSpPr>
          <p:cNvPr id="15" name="Text 13"/>
          <p:cNvSpPr/>
          <p:nvPr/>
        </p:nvSpPr>
        <p:spPr>
          <a:xfrm>
            <a:off x="6332220" y="2560320"/>
            <a:ext cx="2423160" cy="3703320"/>
          </a:xfrm>
          <a:prstGeom prst="rect">
            <a:avLst/>
          </a:prstGeom>
          <a:noFill/>
          <a:ln/>
        </p:spPr>
        <p:txBody>
          <a:bodyPr wrap="square" lIns="0" tIns="0" rIns="0" bIns="0" rtlCol="0" anchor="t"/>
          <a:lstStyle/>
          <a:p>
            <a:pPr marL="0" indent="0" algn="l">
              <a:spcAft>
                <a:spcPts val="1000"/>
              </a:spcAft>
              <a:buNone/>
            </a:pPr>
            <a:r>
              <a:rPr lang="en-US" sz="1050" i="1" dirty="0">
                <a:solidFill>
                  <a:srgbClr val="1E293B"/>
                </a:solidFill>
                <a:latin typeface="Calibri" pitchFamily="34" charset="0"/>
                <a:ea typeface="Calibri" pitchFamily="34" charset="-122"/>
                <a:cs typeface="Calibri" pitchFamily="34" charset="-120"/>
              </a:rPr>
              <a:t>Notaciones gráficas (UML, BPMN) y texto estructurado.</a:t>
            </a:r>
            <a:endParaRPr lang="en-US" sz="1050" dirty="0"/>
          </a:p>
          <a:p>
            <a:pPr marL="0" indent="0" algn="l">
              <a:spcAft>
                <a:spcPts val="200"/>
              </a:spcAft>
              <a:buNone/>
            </a:pPr>
            <a:r>
              <a:rPr lang="en-US" sz="1050" b="1" dirty="0">
                <a:solidFill>
                  <a:srgbClr val="2C5F2D"/>
                </a:solidFill>
                <a:latin typeface="Calibri" pitchFamily="34" charset="0"/>
                <a:ea typeface="Calibri" pitchFamily="34" charset="-122"/>
                <a:cs typeface="Calibri" pitchFamily="34" charset="-120"/>
              </a:rPr>
              <a:t>Ventaja</a:t>
            </a:r>
            <a:endParaRPr lang="en-US" sz="1050" dirty="0"/>
          </a:p>
          <a:p>
            <a:pPr marL="0" indent="0" algn="l">
              <a:spcAft>
                <a:spcPts val="1000"/>
              </a:spcAft>
              <a:buNone/>
            </a:pPr>
            <a:r>
              <a:rPr lang="en-US" sz="1050" dirty="0">
                <a:solidFill>
                  <a:srgbClr val="1E293B"/>
                </a:solidFill>
                <a:latin typeface="Calibri" pitchFamily="34" charset="0"/>
                <a:ea typeface="Calibri" pitchFamily="34" charset="-122"/>
                <a:cs typeface="Calibri" pitchFamily="34" charset="-120"/>
              </a:rPr>
              <a:t>Reduce ambigüedad; visualiza flujos.</a:t>
            </a:r>
            <a:endParaRPr lang="en-US" sz="1050" dirty="0"/>
          </a:p>
          <a:p>
            <a:pPr marL="0" indent="0" algn="l">
              <a:spcAft>
                <a:spcPts val="200"/>
              </a:spcAft>
              <a:buNone/>
            </a:pPr>
            <a:r>
              <a:rPr lang="en-US" sz="1050" b="1" dirty="0">
                <a:solidFill>
                  <a:srgbClr val="B91C1C"/>
                </a:solidFill>
                <a:latin typeface="Calibri" pitchFamily="34" charset="0"/>
                <a:ea typeface="Calibri" pitchFamily="34" charset="-122"/>
                <a:cs typeface="Calibri" pitchFamily="34" charset="-120"/>
              </a:rPr>
              <a:t>Riesgo</a:t>
            </a:r>
            <a:endParaRPr lang="en-US" sz="1050" dirty="0"/>
          </a:p>
          <a:p>
            <a:pPr marL="0" indent="0" algn="l">
              <a:spcAft>
                <a:spcPts val="1000"/>
              </a:spcAft>
              <a:buNone/>
            </a:pPr>
            <a:r>
              <a:rPr lang="en-US" sz="1050" dirty="0">
                <a:solidFill>
                  <a:srgbClr val="1E293B"/>
                </a:solidFill>
                <a:latin typeface="Calibri" pitchFamily="34" charset="0"/>
                <a:ea typeface="Calibri" pitchFamily="34" charset="-122"/>
                <a:cs typeface="Calibri" pitchFamily="34" charset="-120"/>
              </a:rPr>
              <a:t>Requiere formación en la notación.</a:t>
            </a:r>
            <a:endParaRPr lang="en-US" sz="1050" dirty="0"/>
          </a:p>
          <a:p>
            <a:pPr marL="0" indent="0" algn="l">
              <a:spcAft>
                <a:spcPts val="200"/>
              </a:spcAft>
              <a:buNone/>
            </a:pPr>
            <a:r>
              <a:rPr lang="en-US" sz="1050" b="1" dirty="0">
                <a:solidFill>
                  <a:srgbClr val="1E4D8B"/>
                </a:solidFill>
                <a:latin typeface="Calibri" pitchFamily="34" charset="0"/>
                <a:ea typeface="Calibri" pitchFamily="34" charset="-122"/>
                <a:cs typeface="Calibri" pitchFamily="34" charset="-120"/>
              </a:rPr>
              <a:t>Ejemplo</a:t>
            </a:r>
            <a:endParaRPr lang="en-US" sz="1050" dirty="0"/>
          </a:p>
          <a:p>
            <a:pPr marL="0" indent="0" algn="l">
              <a:buNone/>
            </a:pPr>
            <a:r>
              <a:rPr lang="en-US" sz="1050" i="1" dirty="0">
                <a:solidFill>
                  <a:srgbClr val="475569"/>
                </a:solidFill>
                <a:latin typeface="Calibri" pitchFamily="34" charset="0"/>
                <a:ea typeface="Calibri" pitchFamily="34" charset="-122"/>
                <a:cs typeface="Calibri" pitchFamily="34" charset="-120"/>
              </a:rPr>
              <a:t>SIMPA: diagrama de actividad UML del proceso de aplicación de fitosanitario.</a:t>
            </a:r>
            <a:endParaRPr lang="en-US" sz="1050" dirty="0"/>
          </a:p>
        </p:txBody>
      </p:sp>
      <p:sp>
        <p:nvSpPr>
          <p:cNvPr id="16" name="Shape 14"/>
          <p:cNvSpPr/>
          <p:nvPr/>
        </p:nvSpPr>
        <p:spPr>
          <a:xfrm>
            <a:off x="9075420" y="1783080"/>
            <a:ext cx="2788920" cy="4617720"/>
          </a:xfrm>
          <a:prstGeom prst="roundRect">
            <a:avLst>
              <a:gd name="adj" fmla="val 3279"/>
            </a:avLst>
          </a:prstGeom>
          <a:solidFill>
            <a:srgbClr val="FFFFFF"/>
          </a:solidFill>
          <a:ln w="12700">
            <a:solidFill>
              <a:srgbClr val="E2E8F0"/>
            </a:solidFill>
            <a:prstDash val="solid"/>
          </a:ln>
          <a:effectLst>
            <a:outerShdw blurRad="76200" dist="25400" dir="5400000" algn="bl" rotWithShape="0">
              <a:srgbClr val="000000">
                <a:alpha val="8000"/>
              </a:srgbClr>
            </a:outerShdw>
          </a:effectLst>
        </p:spPr>
      </p:sp>
      <p:sp>
        <p:nvSpPr>
          <p:cNvPr id="17" name="Shape 15"/>
          <p:cNvSpPr/>
          <p:nvPr/>
        </p:nvSpPr>
        <p:spPr>
          <a:xfrm>
            <a:off x="9075420" y="1783080"/>
            <a:ext cx="2788920" cy="640080"/>
          </a:xfrm>
          <a:prstGeom prst="rect">
            <a:avLst/>
          </a:prstGeom>
          <a:solidFill>
            <a:srgbClr val="D4A017"/>
          </a:solidFill>
          <a:ln w="12700">
            <a:solidFill>
              <a:srgbClr val="D4A017"/>
            </a:solidFill>
            <a:prstDash val="solid"/>
          </a:ln>
        </p:spPr>
      </p:sp>
      <p:sp>
        <p:nvSpPr>
          <p:cNvPr id="18" name="Text 16"/>
          <p:cNvSpPr/>
          <p:nvPr/>
        </p:nvSpPr>
        <p:spPr>
          <a:xfrm>
            <a:off x="9212580" y="1783080"/>
            <a:ext cx="251460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 Formal</a:t>
            </a:r>
            <a:endParaRPr lang="en-US" sz="1600" dirty="0"/>
          </a:p>
        </p:txBody>
      </p:sp>
      <p:sp>
        <p:nvSpPr>
          <p:cNvPr id="19" name="Text 17"/>
          <p:cNvSpPr/>
          <p:nvPr/>
        </p:nvSpPr>
        <p:spPr>
          <a:xfrm>
            <a:off x="9258300" y="2560320"/>
            <a:ext cx="2423160" cy="3703320"/>
          </a:xfrm>
          <a:prstGeom prst="rect">
            <a:avLst/>
          </a:prstGeom>
          <a:noFill/>
          <a:ln/>
        </p:spPr>
        <p:txBody>
          <a:bodyPr wrap="square" lIns="0" tIns="0" rIns="0" bIns="0" rtlCol="0" anchor="t"/>
          <a:lstStyle/>
          <a:p>
            <a:pPr marL="0" indent="0" algn="l">
              <a:spcAft>
                <a:spcPts val="1000"/>
              </a:spcAft>
              <a:buNone/>
            </a:pPr>
            <a:r>
              <a:rPr lang="en-US" sz="1050" i="1" dirty="0">
                <a:solidFill>
                  <a:srgbClr val="1E293B"/>
                </a:solidFill>
                <a:latin typeface="Calibri" pitchFamily="34" charset="0"/>
                <a:ea typeface="Calibri" pitchFamily="34" charset="-122"/>
                <a:cs typeface="Calibri" pitchFamily="34" charset="-120"/>
              </a:rPr>
              <a:t>Lógica matematica (Z, VDM, Alloy, TLA+).</a:t>
            </a:r>
            <a:endParaRPr lang="en-US" sz="1050" dirty="0"/>
          </a:p>
          <a:p>
            <a:pPr marL="0" indent="0" algn="l">
              <a:spcAft>
                <a:spcPts val="200"/>
              </a:spcAft>
              <a:buNone/>
            </a:pPr>
            <a:r>
              <a:rPr lang="en-US" sz="1050" b="1" dirty="0">
                <a:solidFill>
                  <a:srgbClr val="2C5F2D"/>
                </a:solidFill>
                <a:latin typeface="Calibri" pitchFamily="34" charset="0"/>
                <a:ea typeface="Calibri" pitchFamily="34" charset="-122"/>
                <a:cs typeface="Calibri" pitchFamily="34" charset="-120"/>
              </a:rPr>
              <a:t>Ventaja</a:t>
            </a:r>
            <a:endParaRPr lang="en-US" sz="1050" dirty="0"/>
          </a:p>
          <a:p>
            <a:pPr marL="0" indent="0" algn="l">
              <a:spcAft>
                <a:spcPts val="1000"/>
              </a:spcAft>
              <a:buNone/>
            </a:pPr>
            <a:r>
              <a:rPr lang="en-US" sz="1050" dirty="0">
                <a:solidFill>
                  <a:srgbClr val="1E293B"/>
                </a:solidFill>
                <a:latin typeface="Calibri" pitchFamily="34" charset="0"/>
                <a:ea typeface="Calibri" pitchFamily="34" charset="-122"/>
                <a:cs typeface="Calibri" pitchFamily="34" charset="-120"/>
              </a:rPr>
              <a:t>Permite verificación mecánica.</a:t>
            </a:r>
            <a:endParaRPr lang="en-US" sz="1050" dirty="0"/>
          </a:p>
          <a:p>
            <a:pPr marL="0" indent="0" algn="l">
              <a:spcAft>
                <a:spcPts val="200"/>
              </a:spcAft>
              <a:buNone/>
            </a:pPr>
            <a:r>
              <a:rPr lang="en-US" sz="1050" b="1" dirty="0">
                <a:solidFill>
                  <a:srgbClr val="B91C1C"/>
                </a:solidFill>
                <a:latin typeface="Calibri" pitchFamily="34" charset="0"/>
                <a:ea typeface="Calibri" pitchFamily="34" charset="-122"/>
                <a:cs typeface="Calibri" pitchFamily="34" charset="-120"/>
              </a:rPr>
              <a:t>Riesgo</a:t>
            </a:r>
            <a:endParaRPr lang="en-US" sz="1050" dirty="0"/>
          </a:p>
          <a:p>
            <a:pPr marL="0" indent="0" algn="l">
              <a:spcAft>
                <a:spcPts val="1000"/>
              </a:spcAft>
              <a:buNone/>
            </a:pPr>
            <a:r>
              <a:rPr lang="en-US" sz="1050" dirty="0">
                <a:solidFill>
                  <a:srgbClr val="1E293B"/>
                </a:solidFill>
                <a:latin typeface="Calibri" pitchFamily="34" charset="0"/>
                <a:ea typeface="Calibri" pitchFamily="34" charset="-122"/>
                <a:cs typeface="Calibri" pitchFamily="34" charset="-120"/>
              </a:rPr>
              <a:t>Barrera técnica alta para los usuarios.</a:t>
            </a:r>
            <a:endParaRPr lang="en-US" sz="1050" dirty="0"/>
          </a:p>
          <a:p>
            <a:pPr marL="0" indent="0" algn="l">
              <a:spcAft>
                <a:spcPts val="200"/>
              </a:spcAft>
              <a:buNone/>
            </a:pPr>
            <a:r>
              <a:rPr lang="en-US" sz="1050" b="1" dirty="0">
                <a:solidFill>
                  <a:srgbClr val="1E4D8B"/>
                </a:solidFill>
                <a:latin typeface="Calibri" pitchFamily="34" charset="0"/>
                <a:ea typeface="Calibri" pitchFamily="34" charset="-122"/>
                <a:cs typeface="Calibri" pitchFamily="34" charset="-120"/>
              </a:rPr>
              <a:t>Ejemplo</a:t>
            </a:r>
            <a:endParaRPr lang="en-US" sz="1050" dirty="0"/>
          </a:p>
          <a:p>
            <a:pPr marL="0" indent="0" algn="l">
              <a:buNone/>
            </a:pPr>
            <a:r>
              <a:rPr lang="en-US" sz="1050" i="1" dirty="0">
                <a:solidFill>
                  <a:srgbClr val="475569"/>
                </a:solidFill>
                <a:latin typeface="Calibri" pitchFamily="34" charset="0"/>
                <a:ea typeface="Calibri" pitchFamily="34" charset="-122"/>
                <a:cs typeface="Calibri" pitchFamily="34" charset="-120"/>
              </a:rPr>
              <a:t>Uso reservado a sistemas criticos (aeronautica, medicina).</a:t>
            </a:r>
            <a:endParaRPr lang="en-US" sz="1050" dirty="0"/>
          </a:p>
        </p:txBody>
      </p:sp>
      <p:sp>
        <p:nvSpPr>
          <p:cNvPr id="21" name="Shape 18"/>
          <p:cNvSpPr/>
          <p:nvPr/>
        </p:nvSpPr>
        <p:spPr>
          <a:xfrm>
            <a:off x="0" y="0"/>
            <a:ext cx="12161520" cy="384048"/>
          </a:xfrm>
          <a:prstGeom prst="rect">
            <a:avLst/>
          </a:prstGeom>
          <a:solidFill>
            <a:srgbClr val="2C5F2D"/>
          </a:solidFill>
          <a:ln w="12700">
            <a:solidFill>
              <a:srgbClr val="2C5F2D"/>
            </a:solidFill>
            <a:prstDash val="solid"/>
          </a:ln>
        </p:spPr>
      </p:sp>
      <p:sp>
        <p:nvSpPr>
          <p:cNvPr id="22" name="Text 19"/>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23" name="Text 20"/>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8.2 Formatos</a:t>
            </a:r>
            <a:endParaRPr lang="en-US" sz="1000" dirty="0"/>
          </a:p>
        </p:txBody>
      </p:sp>
      <p:sp>
        <p:nvSpPr>
          <p:cNvPr id="24" name="Text 21"/>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25" name="Text 22"/>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7 / 30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548640"/>
            <a:ext cx="11247120" cy="640080"/>
          </a:xfrm>
          <a:prstGeom prst="rect">
            <a:avLst/>
          </a:prstGeom>
          <a:noFill/>
          <a:ln/>
        </p:spPr>
        <p:txBody>
          <a:bodyPr wrap="square" lIns="0" tIns="0" rIns="0" bIns="0" rtlCol="0" anchor="t"/>
          <a:lstStyle/>
          <a:p>
            <a:pPr marL="0" indent="0" algn="l">
              <a:buNone/>
            </a:pPr>
            <a:r>
              <a:rPr lang="en-US" sz="3000" b="1" dirty="0">
                <a:solidFill>
                  <a:srgbClr val="1E4D8B"/>
                </a:solidFill>
                <a:latin typeface="Cambria" pitchFamily="34" charset="0"/>
                <a:ea typeface="Cambria" pitchFamily="34" charset="-122"/>
                <a:cs typeface="Cambria" pitchFamily="34" charset="-120"/>
              </a:rPr>
              <a:t>8.3 - Atributos de un requisito</a:t>
            </a:r>
            <a:endParaRPr lang="en-US" sz="3000" dirty="0"/>
          </a:p>
        </p:txBody>
      </p:sp>
      <p:sp>
        <p:nvSpPr>
          <p:cNvPr id="3" name="Text 1"/>
          <p:cNvSpPr/>
          <p:nvPr/>
        </p:nvSpPr>
        <p:spPr>
          <a:xfrm>
            <a:off x="457200" y="1188720"/>
            <a:ext cx="11247120" cy="365760"/>
          </a:xfrm>
          <a:prstGeom prst="rect">
            <a:avLst/>
          </a:prstGeom>
          <a:noFill/>
          <a:ln/>
        </p:spPr>
        <p:txBody>
          <a:bodyPr wrap="square" lIns="0" tIns="0" rIns="0" bIns="0" rtlCol="0" anchor="t"/>
          <a:lstStyle/>
          <a:p>
            <a:pPr marL="0" indent="0" algn="l">
              <a:buNone/>
            </a:pPr>
            <a:r>
              <a:rPr lang="en-US" sz="1300" i="1" dirty="0">
                <a:solidFill>
                  <a:srgbClr val="475569"/>
                </a:solidFill>
                <a:latin typeface="Calibri" pitchFamily="34" charset="0"/>
                <a:ea typeface="Calibri" pitchFamily="34" charset="-122"/>
                <a:cs typeface="Calibri" pitchFamily="34" charset="-120"/>
              </a:rPr>
              <a:t>Metadatos que acompañan al enunciado (IEEE 29148:2018, cláusula 5.2.8)</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47120" cy="4084320"/>
        </p:xfrm>
        <a:graphic>
          <a:graphicData uri="http://schemas.openxmlformats.org/drawingml/2006/table">
            <a:tbl>
              <a:tblPr/>
              <a:tblGrid>
                <a:gridCol w="210312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36576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Atributo</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C5F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Valor (ejemplo AquaGest)</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C5F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Nota técnica</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365760">
                <a:tc>
                  <a:txBody>
                    <a:bodyPr/>
                    <a:lstStyle/>
                    <a:p>
                      <a:pPr marL="0" indent="0" algn="l">
                        <a:buNone/>
                      </a:pPr>
                      <a:r>
                        <a:rPr lang="en-US" sz="1100" b="1" dirty="0">
                          <a:solidFill>
                            <a:srgbClr val="1E4D8B"/>
                          </a:solidFill>
                          <a:latin typeface="Calibri" pitchFamily="34" charset="0"/>
                          <a:ea typeface="Calibri" pitchFamily="34" charset="-122"/>
                          <a:cs typeface="Calibri" pitchFamily="34" charset="-120"/>
                        </a:rPr>
                        <a:t>Identificador</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100" dirty="0">
                          <a:solidFill>
                            <a:srgbClr val="1E293B"/>
                          </a:solidFill>
                          <a:latin typeface="Calibri" pitchFamily="34" charset="0"/>
                          <a:ea typeface="Calibri" pitchFamily="34" charset="-122"/>
                          <a:cs typeface="Calibri" pitchFamily="34" charset="-120"/>
                        </a:rPr>
                        <a:t>RF-BIO-014</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000" i="1" dirty="0">
                          <a:solidFill>
                            <a:srgbClr val="475569"/>
                          </a:solidFill>
                          <a:latin typeface="Calibri" pitchFamily="34" charset="0"/>
                          <a:ea typeface="Calibri" pitchFamily="34" charset="-122"/>
                          <a:cs typeface="Calibri" pitchFamily="34" charset="-120"/>
                        </a:rPr>
                        <a:t>Único, inmutable, jamás se reasigna.</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65760">
                <a:tc>
                  <a:txBody>
                    <a:bodyPr/>
                    <a:lstStyle/>
                    <a:p>
                      <a:pPr marL="0" indent="0" algn="l">
                        <a:buNone/>
                      </a:pPr>
                      <a:r>
                        <a:rPr lang="en-US" sz="1100" b="1" dirty="0">
                          <a:solidFill>
                            <a:srgbClr val="1E4D8B"/>
                          </a:solidFill>
                          <a:latin typeface="Calibri" pitchFamily="34" charset="0"/>
                          <a:ea typeface="Calibri" pitchFamily="34" charset="-122"/>
                          <a:cs typeface="Calibri" pitchFamily="34" charset="-120"/>
                        </a:rPr>
                        <a:t>Titulo</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E293B"/>
                          </a:solidFill>
                          <a:latin typeface="Calibri" pitchFamily="34" charset="0"/>
                          <a:ea typeface="Calibri" pitchFamily="34" charset="-122"/>
                          <a:cs typeface="Calibri" pitchFamily="34" charset="-120"/>
                        </a:rPr>
                        <a:t>Registrar biomasa por corral</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i="1" dirty="0">
                          <a:solidFill>
                            <a:srgbClr val="475569"/>
                          </a:solidFill>
                          <a:latin typeface="Calibri" pitchFamily="34" charset="0"/>
                          <a:ea typeface="Calibri" pitchFamily="34" charset="-122"/>
                          <a:cs typeface="Calibri" pitchFamily="34" charset="-120"/>
                        </a:rPr>
                        <a:t>Frase corta que resume la función.</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l">
                        <a:buNone/>
                      </a:pPr>
                      <a:r>
                        <a:rPr lang="en-US" sz="1100" b="1" dirty="0">
                          <a:solidFill>
                            <a:srgbClr val="1E4D8B"/>
                          </a:solidFill>
                          <a:latin typeface="Calibri" pitchFamily="34" charset="0"/>
                          <a:ea typeface="Calibri" pitchFamily="34" charset="-122"/>
                          <a:cs typeface="Calibri" pitchFamily="34" charset="-120"/>
                        </a:rPr>
                        <a:t>Descripción</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100" dirty="0">
                          <a:solidFill>
                            <a:srgbClr val="1E293B"/>
                          </a:solidFill>
                          <a:latin typeface="Calibri" pitchFamily="34" charset="0"/>
                          <a:ea typeface="Calibri" pitchFamily="34" charset="-122"/>
                          <a:cs typeface="Calibri" pitchFamily="34" charset="-120"/>
                        </a:rPr>
                        <a:t>El sistema debe permitir al técnico registrar la biomasa medida en cada corral con fecha, gramaje promedio y número de muestras.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000" i="1" dirty="0">
                          <a:solidFill>
                            <a:srgbClr val="475569"/>
                          </a:solidFill>
                          <a:latin typeface="Calibri" pitchFamily="34" charset="0"/>
                          <a:ea typeface="Calibri" pitchFamily="34" charset="-122"/>
                          <a:cs typeface="Calibri" pitchFamily="34" charset="-120"/>
                        </a:rPr>
                        <a:t>Enunciado en lenguaje natural estructurado.</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365760">
                <a:tc>
                  <a:txBody>
                    <a:bodyPr/>
                    <a:lstStyle/>
                    <a:p>
                      <a:pPr marL="0" indent="0" algn="l">
                        <a:buNone/>
                      </a:pPr>
                      <a:r>
                        <a:rPr lang="en-US" sz="1100" b="1" dirty="0">
                          <a:solidFill>
                            <a:srgbClr val="1E4D8B"/>
                          </a:solidFill>
                          <a:latin typeface="Calibri" pitchFamily="34" charset="0"/>
                          <a:ea typeface="Calibri" pitchFamily="34" charset="-122"/>
                          <a:cs typeface="Calibri" pitchFamily="34" charset="-120"/>
                        </a:rPr>
                        <a:t>Tipo</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E293B"/>
                          </a:solidFill>
                          <a:latin typeface="Calibri" pitchFamily="34" charset="0"/>
                          <a:ea typeface="Calibri" pitchFamily="34" charset="-122"/>
                          <a:cs typeface="Calibri" pitchFamily="34" charset="-120"/>
                        </a:rPr>
                        <a:t>Funciónal</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i="1" dirty="0">
                          <a:solidFill>
                            <a:srgbClr val="475569"/>
                          </a:solidFill>
                          <a:latin typeface="Calibri" pitchFamily="34" charset="0"/>
                          <a:ea typeface="Calibri" pitchFamily="34" charset="-122"/>
                          <a:cs typeface="Calibri" pitchFamily="34" charset="-120"/>
                        </a:rPr>
                        <a:t>Funciónal / No funciónal / Interfaz / Restricción.</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lgn="l">
                        <a:buNone/>
                      </a:pPr>
                      <a:r>
                        <a:rPr lang="en-US" sz="1100" b="1" dirty="0">
                          <a:solidFill>
                            <a:srgbClr val="1E4D8B"/>
                          </a:solidFill>
                          <a:latin typeface="Calibri" pitchFamily="34" charset="0"/>
                          <a:ea typeface="Calibri" pitchFamily="34" charset="-122"/>
                          <a:cs typeface="Calibri" pitchFamily="34" charset="-120"/>
                        </a:rPr>
                        <a:t>Prioridad</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100" dirty="0">
                          <a:solidFill>
                            <a:srgbClr val="1E293B"/>
                          </a:solidFill>
                          <a:latin typeface="Calibri" pitchFamily="34" charset="0"/>
                          <a:ea typeface="Calibri" pitchFamily="34" charset="-122"/>
                          <a:cs typeface="Calibri" pitchFamily="34" charset="-120"/>
                        </a:rPr>
                        <a:t>Must (MoSCoW)</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000" i="1" dirty="0">
                          <a:solidFill>
                            <a:srgbClr val="475569"/>
                          </a:solidFill>
                          <a:latin typeface="Calibri" pitchFamily="34" charset="0"/>
                          <a:ea typeface="Calibri" pitchFamily="34" charset="-122"/>
                          <a:cs typeface="Calibri" pitchFamily="34" charset="-120"/>
                        </a:rPr>
                        <a:t>MoSCoW: Must, Should, Could, Won't.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r h="365760">
                <a:tc>
                  <a:txBody>
                    <a:bodyPr/>
                    <a:lstStyle/>
                    <a:p>
                      <a:pPr marL="0" indent="0" algn="l">
                        <a:buNone/>
                      </a:pPr>
                      <a:r>
                        <a:rPr lang="en-US" sz="1100" b="1" dirty="0">
                          <a:solidFill>
                            <a:srgbClr val="1E4D8B"/>
                          </a:solidFill>
                          <a:latin typeface="Calibri" pitchFamily="34" charset="0"/>
                          <a:ea typeface="Calibri" pitchFamily="34" charset="-122"/>
                          <a:cs typeface="Calibri" pitchFamily="34" charset="-120"/>
                        </a:rPr>
                        <a:t>Fuente</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E293B"/>
                          </a:solidFill>
                          <a:latin typeface="Calibri" pitchFamily="34" charset="0"/>
                          <a:ea typeface="Calibri" pitchFamily="34" charset="-122"/>
                          <a:cs typeface="Calibri" pitchFamily="34" charset="-120"/>
                        </a:rPr>
                        <a:t>Entrevista Técnico de piscina, 05-jun-2026</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i="1" dirty="0">
                          <a:solidFill>
                            <a:srgbClr val="475569"/>
                          </a:solidFill>
                          <a:latin typeface="Calibri" pitchFamily="34" charset="0"/>
                          <a:ea typeface="Calibri" pitchFamily="34" charset="-122"/>
                          <a:cs typeface="Calibri" pitchFamily="34" charset="-120"/>
                        </a:rPr>
                        <a:t>Trazabilidad hacia atras.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lgn="l">
                        <a:buNone/>
                      </a:pPr>
                      <a:r>
                        <a:rPr lang="en-US" sz="1100" b="1" dirty="0">
                          <a:solidFill>
                            <a:srgbClr val="1E4D8B"/>
                          </a:solidFill>
                          <a:latin typeface="Calibri" pitchFamily="34" charset="0"/>
                          <a:ea typeface="Calibri" pitchFamily="34" charset="-122"/>
                          <a:cs typeface="Calibri" pitchFamily="34" charset="-120"/>
                        </a:rPr>
                        <a:t>Estabilidad</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100" dirty="0">
                          <a:solidFill>
                            <a:srgbClr val="1E293B"/>
                          </a:solidFill>
                          <a:latin typeface="Calibri" pitchFamily="34" charset="0"/>
                          <a:ea typeface="Calibri" pitchFamily="34" charset="-122"/>
                          <a:cs typeface="Calibri" pitchFamily="34" charset="-120"/>
                        </a:rPr>
                        <a:t>Alta (baja probabilidad de cambio)</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000" i="1" dirty="0">
                          <a:solidFill>
                            <a:srgbClr val="475569"/>
                          </a:solidFill>
                          <a:latin typeface="Calibri" pitchFamily="34" charset="0"/>
                          <a:ea typeface="Calibri" pitchFamily="34" charset="-122"/>
                          <a:cs typeface="Calibri" pitchFamily="34" charset="-120"/>
                        </a:rPr>
                        <a:t>Nivel de volatilidad esperada.</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7"/>
                  </a:ext>
                </a:extLst>
              </a:tr>
              <a:tr h="365760">
                <a:tc>
                  <a:txBody>
                    <a:bodyPr/>
                    <a:lstStyle/>
                    <a:p>
                      <a:pPr marL="0" indent="0" algn="l">
                        <a:buNone/>
                      </a:pPr>
                      <a:r>
                        <a:rPr lang="en-US" sz="1100" b="1" dirty="0">
                          <a:solidFill>
                            <a:srgbClr val="1E4D8B"/>
                          </a:solidFill>
                          <a:latin typeface="Calibri" pitchFamily="34" charset="0"/>
                          <a:ea typeface="Calibri" pitchFamily="34" charset="-122"/>
                          <a:cs typeface="Calibri" pitchFamily="34" charset="-120"/>
                        </a:rPr>
                        <a:t>Riesgo</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E293B"/>
                          </a:solidFill>
                          <a:latin typeface="Calibri" pitchFamily="34" charset="0"/>
                          <a:ea typeface="Calibri" pitchFamily="34" charset="-122"/>
                          <a:cs typeface="Calibri" pitchFamily="34" charset="-120"/>
                        </a:rPr>
                        <a:t>Bajo</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i="1" dirty="0">
                          <a:solidFill>
                            <a:srgbClr val="475569"/>
                          </a:solidFill>
                          <a:latin typeface="Calibri" pitchFamily="34" charset="0"/>
                          <a:ea typeface="Calibri" pitchFamily="34" charset="-122"/>
                          <a:cs typeface="Calibri" pitchFamily="34" charset="-120"/>
                        </a:rPr>
                        <a:t>Según ISO/IEC 16085.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65760">
                <a:tc>
                  <a:txBody>
                    <a:bodyPr/>
                    <a:lstStyle/>
                    <a:p>
                      <a:pPr marL="0" indent="0" algn="l">
                        <a:buNone/>
                      </a:pPr>
                      <a:r>
                        <a:rPr lang="en-US" sz="1100" b="1" dirty="0">
                          <a:solidFill>
                            <a:srgbClr val="1E4D8B"/>
                          </a:solidFill>
                          <a:latin typeface="Calibri" pitchFamily="34" charset="0"/>
                          <a:ea typeface="Calibri" pitchFamily="34" charset="-122"/>
                          <a:cs typeface="Calibri" pitchFamily="34" charset="-120"/>
                        </a:rPr>
                        <a:t>Justificación</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100" dirty="0">
                          <a:solidFill>
                            <a:srgbClr val="1E293B"/>
                          </a:solidFill>
                          <a:latin typeface="Calibri" pitchFamily="34" charset="0"/>
                          <a:ea typeface="Calibri" pitchFamily="34" charset="-122"/>
                          <a:cs typeface="Calibri" pitchFamily="34" charset="-120"/>
                        </a:rPr>
                        <a:t>Necesaria para calcular tasa de conversion alimenticia (TCA).</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000" i="1" dirty="0">
                          <a:solidFill>
                            <a:srgbClr val="475569"/>
                          </a:solidFill>
                          <a:latin typeface="Calibri" pitchFamily="34" charset="0"/>
                          <a:ea typeface="Calibri" pitchFamily="34" charset="-122"/>
                          <a:cs typeface="Calibri" pitchFamily="34" charset="-120"/>
                        </a:rPr>
                        <a:t>Racional del requisito.</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9"/>
                  </a:ext>
                </a:extLst>
              </a:tr>
              <a:tr h="365760">
                <a:tc>
                  <a:txBody>
                    <a:bodyPr/>
                    <a:lstStyle/>
                    <a:p>
                      <a:pPr marL="0" indent="0" algn="l">
                        <a:buNone/>
                      </a:pPr>
                      <a:r>
                        <a:rPr lang="en-US" sz="1100" b="1" dirty="0">
                          <a:solidFill>
                            <a:srgbClr val="1E4D8B"/>
                          </a:solidFill>
                          <a:latin typeface="Calibri" pitchFamily="34" charset="0"/>
                          <a:ea typeface="Calibri" pitchFamily="34" charset="-122"/>
                          <a:cs typeface="Calibri" pitchFamily="34" charset="-120"/>
                        </a:rPr>
                        <a:t>Versión</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E293B"/>
                          </a:solidFill>
                          <a:latin typeface="Calibri" pitchFamily="34" charset="0"/>
                          <a:ea typeface="Calibri" pitchFamily="34" charset="-122"/>
                          <a:cs typeface="Calibri" pitchFamily="34" charset="-120"/>
                        </a:rPr>
                        <a:t>1.2 (revisado el 20-jun-2026)</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i="1" dirty="0">
                          <a:solidFill>
                            <a:srgbClr val="475569"/>
                          </a:solidFill>
                          <a:latin typeface="Calibri" pitchFamily="34" charset="0"/>
                          <a:ea typeface="Calibri" pitchFamily="34" charset="-122"/>
                          <a:cs typeface="Calibri" pitchFamily="34" charset="-120"/>
                        </a:rPr>
                        <a:t>Historial de cambios.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6" name="Shape 2"/>
          <p:cNvSpPr/>
          <p:nvPr/>
        </p:nvSpPr>
        <p:spPr>
          <a:xfrm>
            <a:off x="0" y="0"/>
            <a:ext cx="12161520" cy="384048"/>
          </a:xfrm>
          <a:prstGeom prst="rect">
            <a:avLst/>
          </a:prstGeom>
          <a:solidFill>
            <a:srgbClr val="2C5F2D"/>
          </a:solidFill>
          <a:ln w="12700">
            <a:solidFill>
              <a:srgbClr val="2C5F2D"/>
            </a:solidFill>
            <a:prstDash val="solid"/>
          </a:ln>
        </p:spPr>
      </p:sp>
      <p:sp>
        <p:nvSpPr>
          <p:cNvPr id="7" name="Text 3"/>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8" name="Text 4"/>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8.3 Atributos</a:t>
            </a:r>
            <a:endParaRPr lang="en-US" sz="1000" dirty="0"/>
          </a:p>
        </p:txBody>
      </p:sp>
      <p:sp>
        <p:nvSpPr>
          <p:cNvPr id="4" name="Text 5"/>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10" name="Text 6"/>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8 / 30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548640"/>
            <a:ext cx="11247120" cy="640080"/>
          </a:xfrm>
          <a:prstGeom prst="rect">
            <a:avLst/>
          </a:prstGeom>
          <a:noFill/>
          <a:ln/>
        </p:spPr>
        <p:txBody>
          <a:bodyPr wrap="square" lIns="0" tIns="0" rIns="0" bIns="0" rtlCol="0" anchor="t"/>
          <a:lstStyle/>
          <a:p>
            <a:pPr marL="0" indent="0" algn="l">
              <a:buNone/>
            </a:pPr>
            <a:r>
              <a:rPr lang="en-US" sz="3000" b="1" dirty="0">
                <a:solidFill>
                  <a:srgbClr val="1E4D8B"/>
                </a:solidFill>
                <a:latin typeface="Cambria" pitchFamily="34" charset="0"/>
                <a:ea typeface="Cambria" pitchFamily="34" charset="-122"/>
                <a:cs typeface="Cambria" pitchFamily="34" charset="-120"/>
              </a:rPr>
              <a:t>8.4 - Criterios de calidad: requisito individual</a:t>
            </a:r>
            <a:endParaRPr lang="en-US" sz="3000" dirty="0"/>
          </a:p>
        </p:txBody>
      </p:sp>
      <p:sp>
        <p:nvSpPr>
          <p:cNvPr id="3" name="Text 1"/>
          <p:cNvSpPr/>
          <p:nvPr/>
        </p:nvSpPr>
        <p:spPr>
          <a:xfrm>
            <a:off x="457200" y="1188720"/>
            <a:ext cx="11247120" cy="365760"/>
          </a:xfrm>
          <a:prstGeom prst="rect">
            <a:avLst/>
          </a:prstGeom>
          <a:noFill/>
          <a:ln/>
        </p:spPr>
        <p:txBody>
          <a:bodyPr wrap="square" lIns="0" tIns="0" rIns="0" bIns="0" rtlCol="0" anchor="t"/>
          <a:lstStyle/>
          <a:p>
            <a:pPr marL="0" indent="0" algn="l">
              <a:buNone/>
            </a:pPr>
            <a:r>
              <a:rPr lang="en-US" sz="1300" i="1" dirty="0">
                <a:solidFill>
                  <a:srgbClr val="475569"/>
                </a:solidFill>
                <a:latin typeface="Calibri" pitchFamily="34" charset="0"/>
                <a:ea typeface="Calibri" pitchFamily="34" charset="-122"/>
                <a:cs typeface="Calibri" pitchFamily="34" charset="-120"/>
              </a:rPr>
              <a:t>IEEE 29148:2018 cláusula 5.2.5 - propiedades de todo requisito bien formado</a:t>
            </a:r>
            <a:endParaRPr lang="en-US" sz="1300" dirty="0"/>
          </a:p>
        </p:txBody>
      </p:sp>
      <p:sp>
        <p:nvSpPr>
          <p:cNvPr id="4" name="Shape 2"/>
          <p:cNvSpPr/>
          <p:nvPr/>
        </p:nvSpPr>
        <p:spPr>
          <a:xfrm>
            <a:off x="388620" y="1783080"/>
            <a:ext cx="3703320" cy="1463040"/>
          </a:xfrm>
          <a:prstGeom prst="roundRect">
            <a:avLst>
              <a:gd name="adj" fmla="val 5000"/>
            </a:avLst>
          </a:prstGeom>
          <a:solidFill>
            <a:srgbClr val="F8FAFC"/>
          </a:solidFill>
          <a:ln w="12700">
            <a:solidFill>
              <a:srgbClr val="2C5F2D"/>
            </a:solidFill>
            <a:prstDash val="solid"/>
          </a:ln>
        </p:spPr>
      </p:sp>
      <p:sp>
        <p:nvSpPr>
          <p:cNvPr id="5" name="Shape 3"/>
          <p:cNvSpPr/>
          <p:nvPr/>
        </p:nvSpPr>
        <p:spPr>
          <a:xfrm>
            <a:off x="571500" y="1965960"/>
            <a:ext cx="594360" cy="594360"/>
          </a:xfrm>
          <a:prstGeom prst="ellipse">
            <a:avLst/>
          </a:prstGeom>
          <a:solidFill>
            <a:srgbClr val="2C5F2D"/>
          </a:solidFill>
          <a:ln w="12700">
            <a:solidFill>
              <a:srgbClr val="2C5F2D"/>
            </a:solidFill>
            <a:prstDash val="solid"/>
          </a:ln>
        </p:spPr>
      </p:sp>
      <p:sp>
        <p:nvSpPr>
          <p:cNvPr id="6" name="Text 4"/>
          <p:cNvSpPr/>
          <p:nvPr/>
        </p:nvSpPr>
        <p:spPr>
          <a:xfrm>
            <a:off x="571500" y="196596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257300" y="1965960"/>
            <a:ext cx="2697480" cy="411480"/>
          </a:xfrm>
          <a:prstGeom prst="rect">
            <a:avLst/>
          </a:prstGeom>
          <a:noFill/>
          <a:ln/>
        </p:spPr>
        <p:txBody>
          <a:bodyPr wrap="square" lIns="0" tIns="0" rIns="0" bIns="0" rtlCol="0" anchor="ctr"/>
          <a:lstStyle/>
          <a:p>
            <a:pPr marL="0" indent="0" algn="l">
              <a:buNone/>
            </a:pPr>
            <a:r>
              <a:rPr lang="en-US" sz="1600" b="1" dirty="0">
                <a:solidFill>
                  <a:srgbClr val="1E4D8B"/>
                </a:solidFill>
                <a:latin typeface="Cambria" pitchFamily="34" charset="0"/>
                <a:ea typeface="Cambria" pitchFamily="34" charset="-122"/>
                <a:cs typeface="Cambria" pitchFamily="34" charset="-120"/>
              </a:rPr>
              <a:t>Necesario</a:t>
            </a:r>
            <a:endParaRPr lang="en-US" sz="1600" dirty="0"/>
          </a:p>
        </p:txBody>
      </p:sp>
      <p:sp>
        <p:nvSpPr>
          <p:cNvPr id="8" name="Text 6"/>
          <p:cNvSpPr/>
          <p:nvPr/>
        </p:nvSpPr>
        <p:spPr>
          <a:xfrm>
            <a:off x="662940" y="2560320"/>
            <a:ext cx="3246120" cy="548640"/>
          </a:xfrm>
          <a:prstGeom prst="rect">
            <a:avLst/>
          </a:prstGeom>
          <a:noFill/>
          <a:ln/>
        </p:spPr>
        <p:txBody>
          <a:bodyPr wrap="square" lIns="0" tIns="0" rIns="0" bIns="0" rtlCol="0" anchor="t"/>
          <a:lstStyle/>
          <a:p>
            <a:pPr marL="0" indent="0" algn="l">
              <a:buNone/>
            </a:pPr>
            <a:r>
              <a:rPr lang="en-US" sz="1050" dirty="0">
                <a:solidFill>
                  <a:srgbClr val="1E293B"/>
                </a:solidFill>
                <a:latin typeface="Calibri" pitchFamily="34" charset="0"/>
                <a:ea typeface="Calibri" pitchFamily="34" charset="-122"/>
                <a:cs typeface="Calibri" pitchFamily="34" charset="-120"/>
              </a:rPr>
              <a:t>Define una capacidad esencial; sin el, hay carencia funciónal.</a:t>
            </a:r>
            <a:endParaRPr lang="en-US" sz="1050" dirty="0"/>
          </a:p>
        </p:txBody>
      </p:sp>
      <p:sp>
        <p:nvSpPr>
          <p:cNvPr id="9" name="Shape 7"/>
          <p:cNvSpPr/>
          <p:nvPr/>
        </p:nvSpPr>
        <p:spPr>
          <a:xfrm>
            <a:off x="4229100" y="1783080"/>
            <a:ext cx="3703320" cy="1463040"/>
          </a:xfrm>
          <a:prstGeom prst="roundRect">
            <a:avLst>
              <a:gd name="adj" fmla="val 5000"/>
            </a:avLst>
          </a:prstGeom>
          <a:solidFill>
            <a:srgbClr val="F8FAFC"/>
          </a:solidFill>
          <a:ln w="12700">
            <a:solidFill>
              <a:srgbClr val="2C5F2D"/>
            </a:solidFill>
            <a:prstDash val="solid"/>
          </a:ln>
        </p:spPr>
      </p:sp>
      <p:sp>
        <p:nvSpPr>
          <p:cNvPr id="10" name="Shape 8"/>
          <p:cNvSpPr/>
          <p:nvPr/>
        </p:nvSpPr>
        <p:spPr>
          <a:xfrm>
            <a:off x="4411980" y="1965960"/>
            <a:ext cx="594360" cy="594360"/>
          </a:xfrm>
          <a:prstGeom prst="ellipse">
            <a:avLst/>
          </a:prstGeom>
          <a:solidFill>
            <a:srgbClr val="2C5F2D"/>
          </a:solidFill>
          <a:ln w="12700">
            <a:solidFill>
              <a:srgbClr val="2C5F2D"/>
            </a:solidFill>
            <a:prstDash val="solid"/>
          </a:ln>
        </p:spPr>
      </p:sp>
      <p:sp>
        <p:nvSpPr>
          <p:cNvPr id="11" name="Text 9"/>
          <p:cNvSpPr/>
          <p:nvPr/>
        </p:nvSpPr>
        <p:spPr>
          <a:xfrm>
            <a:off x="4411980" y="196596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5097780" y="1965960"/>
            <a:ext cx="2697480" cy="411480"/>
          </a:xfrm>
          <a:prstGeom prst="rect">
            <a:avLst/>
          </a:prstGeom>
          <a:noFill/>
          <a:ln/>
        </p:spPr>
        <p:txBody>
          <a:bodyPr wrap="square" lIns="0" tIns="0" rIns="0" bIns="0" rtlCol="0" anchor="ctr"/>
          <a:lstStyle/>
          <a:p>
            <a:pPr marL="0" indent="0" algn="l">
              <a:buNone/>
            </a:pPr>
            <a:r>
              <a:rPr lang="en-US" sz="1600" b="1" dirty="0">
                <a:solidFill>
                  <a:srgbClr val="1E4D8B"/>
                </a:solidFill>
                <a:latin typeface="Cambria" pitchFamily="34" charset="0"/>
                <a:ea typeface="Cambria" pitchFamily="34" charset="-122"/>
                <a:cs typeface="Cambria" pitchFamily="34" charset="-120"/>
              </a:rPr>
              <a:t>Apropiado</a:t>
            </a:r>
            <a:endParaRPr lang="en-US" sz="1600" dirty="0"/>
          </a:p>
        </p:txBody>
      </p:sp>
      <p:sp>
        <p:nvSpPr>
          <p:cNvPr id="13" name="Text 11"/>
          <p:cNvSpPr/>
          <p:nvPr/>
        </p:nvSpPr>
        <p:spPr>
          <a:xfrm>
            <a:off x="4503420" y="2560320"/>
            <a:ext cx="3246120" cy="548640"/>
          </a:xfrm>
          <a:prstGeom prst="rect">
            <a:avLst/>
          </a:prstGeom>
          <a:noFill/>
          <a:ln/>
        </p:spPr>
        <p:txBody>
          <a:bodyPr wrap="square" lIns="0" tIns="0" rIns="0" bIns="0" rtlCol="0" anchor="t"/>
          <a:lstStyle/>
          <a:p>
            <a:pPr marL="0" indent="0" algn="l">
              <a:buNone/>
            </a:pPr>
            <a:r>
              <a:rPr lang="en-US" sz="1050" dirty="0">
                <a:solidFill>
                  <a:srgbClr val="1E293B"/>
                </a:solidFill>
                <a:latin typeface="Calibri" pitchFamily="34" charset="0"/>
                <a:ea typeface="Calibri" pitchFamily="34" charset="-122"/>
                <a:cs typeface="Calibri" pitchFamily="34" charset="-120"/>
              </a:rPr>
              <a:t>Nivel de detalle adecuado al nivel del sistema (evita sobre-especificar diseño).</a:t>
            </a:r>
            <a:endParaRPr lang="en-US" sz="1050" dirty="0"/>
          </a:p>
        </p:txBody>
      </p:sp>
      <p:sp>
        <p:nvSpPr>
          <p:cNvPr id="14" name="Shape 12"/>
          <p:cNvSpPr/>
          <p:nvPr/>
        </p:nvSpPr>
        <p:spPr>
          <a:xfrm>
            <a:off x="8069580" y="1783080"/>
            <a:ext cx="3703320" cy="1463040"/>
          </a:xfrm>
          <a:prstGeom prst="roundRect">
            <a:avLst>
              <a:gd name="adj" fmla="val 5000"/>
            </a:avLst>
          </a:prstGeom>
          <a:solidFill>
            <a:srgbClr val="F8FAFC"/>
          </a:solidFill>
          <a:ln w="12700">
            <a:solidFill>
              <a:srgbClr val="2C5F2D"/>
            </a:solidFill>
            <a:prstDash val="solid"/>
          </a:ln>
        </p:spPr>
      </p:sp>
      <p:sp>
        <p:nvSpPr>
          <p:cNvPr id="15" name="Shape 13"/>
          <p:cNvSpPr/>
          <p:nvPr/>
        </p:nvSpPr>
        <p:spPr>
          <a:xfrm>
            <a:off x="8252460" y="1965960"/>
            <a:ext cx="594360" cy="594360"/>
          </a:xfrm>
          <a:prstGeom prst="ellipse">
            <a:avLst/>
          </a:prstGeom>
          <a:solidFill>
            <a:srgbClr val="2C5F2D"/>
          </a:solidFill>
          <a:ln w="12700">
            <a:solidFill>
              <a:srgbClr val="2C5F2D"/>
            </a:solidFill>
            <a:prstDash val="solid"/>
          </a:ln>
        </p:spPr>
      </p:sp>
      <p:sp>
        <p:nvSpPr>
          <p:cNvPr id="16" name="Text 14"/>
          <p:cNvSpPr/>
          <p:nvPr/>
        </p:nvSpPr>
        <p:spPr>
          <a:xfrm>
            <a:off x="8252460" y="196596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8938260" y="1965960"/>
            <a:ext cx="2697480" cy="411480"/>
          </a:xfrm>
          <a:prstGeom prst="rect">
            <a:avLst/>
          </a:prstGeom>
          <a:noFill/>
          <a:ln/>
        </p:spPr>
        <p:txBody>
          <a:bodyPr wrap="square" lIns="0" tIns="0" rIns="0" bIns="0" rtlCol="0" anchor="ctr"/>
          <a:lstStyle/>
          <a:p>
            <a:pPr marL="0" indent="0" algn="l">
              <a:buNone/>
            </a:pPr>
            <a:r>
              <a:rPr lang="en-US" sz="1600" b="1" dirty="0">
                <a:solidFill>
                  <a:srgbClr val="1E4D8B"/>
                </a:solidFill>
                <a:latin typeface="Cambria" pitchFamily="34" charset="0"/>
                <a:ea typeface="Cambria" pitchFamily="34" charset="-122"/>
                <a:cs typeface="Cambria" pitchFamily="34" charset="-120"/>
              </a:rPr>
              <a:t>Sin ambigüedad</a:t>
            </a:r>
            <a:endParaRPr lang="en-US" sz="1600" dirty="0"/>
          </a:p>
        </p:txBody>
      </p:sp>
      <p:sp>
        <p:nvSpPr>
          <p:cNvPr id="18" name="Text 16"/>
          <p:cNvSpPr/>
          <p:nvPr/>
        </p:nvSpPr>
        <p:spPr>
          <a:xfrm>
            <a:off x="8343900" y="2560320"/>
            <a:ext cx="3246120" cy="548640"/>
          </a:xfrm>
          <a:prstGeom prst="rect">
            <a:avLst/>
          </a:prstGeom>
          <a:noFill/>
          <a:ln/>
        </p:spPr>
        <p:txBody>
          <a:bodyPr wrap="square" lIns="0" tIns="0" rIns="0" bIns="0" rtlCol="0" anchor="t"/>
          <a:lstStyle/>
          <a:p>
            <a:pPr marL="0" indent="0" algn="l">
              <a:buNone/>
            </a:pPr>
            <a:r>
              <a:rPr lang="en-US" sz="1050" dirty="0">
                <a:solidFill>
                  <a:srgbClr val="1E293B"/>
                </a:solidFill>
                <a:latin typeface="Calibri" pitchFamily="34" charset="0"/>
                <a:ea typeface="Calibri" pitchFamily="34" charset="-122"/>
                <a:cs typeface="Calibri" pitchFamily="34" charset="-120"/>
              </a:rPr>
              <a:t>Admite una sola interpretación; no usa términos vagos ni pronombres genericos.</a:t>
            </a:r>
            <a:endParaRPr lang="en-US" sz="1050" dirty="0"/>
          </a:p>
        </p:txBody>
      </p:sp>
      <p:sp>
        <p:nvSpPr>
          <p:cNvPr id="19" name="Shape 17"/>
          <p:cNvSpPr/>
          <p:nvPr/>
        </p:nvSpPr>
        <p:spPr>
          <a:xfrm>
            <a:off x="388620" y="3383280"/>
            <a:ext cx="3703320" cy="1463040"/>
          </a:xfrm>
          <a:prstGeom prst="roundRect">
            <a:avLst>
              <a:gd name="adj" fmla="val 5000"/>
            </a:avLst>
          </a:prstGeom>
          <a:solidFill>
            <a:srgbClr val="F8FAFC"/>
          </a:solidFill>
          <a:ln w="12700">
            <a:solidFill>
              <a:srgbClr val="2C5F2D"/>
            </a:solidFill>
            <a:prstDash val="solid"/>
          </a:ln>
        </p:spPr>
      </p:sp>
      <p:sp>
        <p:nvSpPr>
          <p:cNvPr id="20" name="Shape 18"/>
          <p:cNvSpPr/>
          <p:nvPr/>
        </p:nvSpPr>
        <p:spPr>
          <a:xfrm>
            <a:off x="571500" y="3566160"/>
            <a:ext cx="594360" cy="594360"/>
          </a:xfrm>
          <a:prstGeom prst="ellipse">
            <a:avLst/>
          </a:prstGeom>
          <a:solidFill>
            <a:srgbClr val="2C5F2D"/>
          </a:solidFill>
          <a:ln w="12700">
            <a:solidFill>
              <a:srgbClr val="2C5F2D"/>
            </a:solidFill>
            <a:prstDash val="solid"/>
          </a:ln>
        </p:spPr>
      </p:sp>
      <p:sp>
        <p:nvSpPr>
          <p:cNvPr id="21" name="Text 19"/>
          <p:cNvSpPr/>
          <p:nvPr/>
        </p:nvSpPr>
        <p:spPr>
          <a:xfrm>
            <a:off x="571500" y="356616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2" name="Text 20"/>
          <p:cNvSpPr/>
          <p:nvPr/>
        </p:nvSpPr>
        <p:spPr>
          <a:xfrm>
            <a:off x="1257300" y="3566160"/>
            <a:ext cx="2697480" cy="411480"/>
          </a:xfrm>
          <a:prstGeom prst="rect">
            <a:avLst/>
          </a:prstGeom>
          <a:noFill/>
          <a:ln/>
        </p:spPr>
        <p:txBody>
          <a:bodyPr wrap="square" lIns="0" tIns="0" rIns="0" bIns="0" rtlCol="0" anchor="ctr"/>
          <a:lstStyle/>
          <a:p>
            <a:pPr marL="0" indent="0" algn="l">
              <a:buNone/>
            </a:pPr>
            <a:r>
              <a:rPr lang="en-US" sz="1600" b="1" dirty="0">
                <a:solidFill>
                  <a:srgbClr val="1E4D8B"/>
                </a:solidFill>
                <a:latin typeface="Cambria" pitchFamily="34" charset="0"/>
                <a:ea typeface="Cambria" pitchFamily="34" charset="-122"/>
                <a:cs typeface="Cambria" pitchFamily="34" charset="-120"/>
              </a:rPr>
              <a:t>Completo</a:t>
            </a:r>
            <a:endParaRPr lang="en-US" sz="1600" dirty="0"/>
          </a:p>
        </p:txBody>
      </p:sp>
      <p:sp>
        <p:nvSpPr>
          <p:cNvPr id="23" name="Text 21"/>
          <p:cNvSpPr/>
          <p:nvPr/>
        </p:nvSpPr>
        <p:spPr>
          <a:xfrm>
            <a:off x="662940" y="4160520"/>
            <a:ext cx="3246120" cy="548640"/>
          </a:xfrm>
          <a:prstGeom prst="rect">
            <a:avLst/>
          </a:prstGeom>
          <a:noFill/>
          <a:ln/>
        </p:spPr>
        <p:txBody>
          <a:bodyPr wrap="square" lIns="0" tIns="0" rIns="0" bIns="0" rtlCol="0" anchor="t"/>
          <a:lstStyle/>
          <a:p>
            <a:pPr marL="0" indent="0" algn="l">
              <a:buNone/>
            </a:pPr>
            <a:r>
              <a:rPr lang="en-US" sz="1050" dirty="0">
                <a:solidFill>
                  <a:srgbClr val="1E293B"/>
                </a:solidFill>
                <a:latin typeface="Calibri" pitchFamily="34" charset="0"/>
                <a:ea typeface="Calibri" pitchFamily="34" charset="-122"/>
                <a:cs typeface="Calibri" pitchFamily="34" charset="-120"/>
              </a:rPr>
              <a:t>Contiene toda la información necesaria para entenderlo sin fuentes externas.</a:t>
            </a:r>
            <a:endParaRPr lang="en-US" sz="1050" dirty="0"/>
          </a:p>
        </p:txBody>
      </p:sp>
      <p:sp>
        <p:nvSpPr>
          <p:cNvPr id="24" name="Shape 22"/>
          <p:cNvSpPr/>
          <p:nvPr/>
        </p:nvSpPr>
        <p:spPr>
          <a:xfrm>
            <a:off x="4229100" y="3383280"/>
            <a:ext cx="3703320" cy="1463040"/>
          </a:xfrm>
          <a:prstGeom prst="roundRect">
            <a:avLst>
              <a:gd name="adj" fmla="val 5000"/>
            </a:avLst>
          </a:prstGeom>
          <a:solidFill>
            <a:srgbClr val="F8FAFC"/>
          </a:solidFill>
          <a:ln w="12700">
            <a:solidFill>
              <a:srgbClr val="2C5F2D"/>
            </a:solidFill>
            <a:prstDash val="solid"/>
          </a:ln>
        </p:spPr>
      </p:sp>
      <p:sp>
        <p:nvSpPr>
          <p:cNvPr id="25" name="Shape 23"/>
          <p:cNvSpPr/>
          <p:nvPr/>
        </p:nvSpPr>
        <p:spPr>
          <a:xfrm>
            <a:off x="4411980" y="3566160"/>
            <a:ext cx="594360" cy="594360"/>
          </a:xfrm>
          <a:prstGeom prst="ellipse">
            <a:avLst/>
          </a:prstGeom>
          <a:solidFill>
            <a:srgbClr val="2C5F2D"/>
          </a:solidFill>
          <a:ln w="12700">
            <a:solidFill>
              <a:srgbClr val="2C5F2D"/>
            </a:solidFill>
            <a:prstDash val="solid"/>
          </a:ln>
        </p:spPr>
      </p:sp>
      <p:sp>
        <p:nvSpPr>
          <p:cNvPr id="26" name="Text 24"/>
          <p:cNvSpPr/>
          <p:nvPr/>
        </p:nvSpPr>
        <p:spPr>
          <a:xfrm>
            <a:off x="4411980" y="356616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7" name="Text 25"/>
          <p:cNvSpPr/>
          <p:nvPr/>
        </p:nvSpPr>
        <p:spPr>
          <a:xfrm>
            <a:off x="5097780" y="3566160"/>
            <a:ext cx="2697480" cy="411480"/>
          </a:xfrm>
          <a:prstGeom prst="rect">
            <a:avLst/>
          </a:prstGeom>
          <a:noFill/>
          <a:ln/>
        </p:spPr>
        <p:txBody>
          <a:bodyPr wrap="square" lIns="0" tIns="0" rIns="0" bIns="0" rtlCol="0" anchor="ctr"/>
          <a:lstStyle/>
          <a:p>
            <a:pPr marL="0" indent="0" algn="l">
              <a:buNone/>
            </a:pPr>
            <a:r>
              <a:rPr lang="en-US" sz="1600" b="1" dirty="0">
                <a:solidFill>
                  <a:srgbClr val="1E4D8B"/>
                </a:solidFill>
                <a:latin typeface="Cambria" pitchFamily="34" charset="0"/>
                <a:ea typeface="Cambria" pitchFamily="34" charset="-122"/>
                <a:cs typeface="Cambria" pitchFamily="34" charset="-120"/>
              </a:rPr>
              <a:t>Singular</a:t>
            </a:r>
            <a:endParaRPr lang="en-US" sz="1600" dirty="0"/>
          </a:p>
        </p:txBody>
      </p:sp>
      <p:sp>
        <p:nvSpPr>
          <p:cNvPr id="28" name="Text 26"/>
          <p:cNvSpPr/>
          <p:nvPr/>
        </p:nvSpPr>
        <p:spPr>
          <a:xfrm>
            <a:off x="4503420" y="4160520"/>
            <a:ext cx="3246120" cy="548640"/>
          </a:xfrm>
          <a:prstGeom prst="rect">
            <a:avLst/>
          </a:prstGeom>
          <a:noFill/>
          <a:ln/>
        </p:spPr>
        <p:txBody>
          <a:bodyPr wrap="square" lIns="0" tIns="0" rIns="0" bIns="0" rtlCol="0" anchor="t"/>
          <a:lstStyle/>
          <a:p>
            <a:pPr marL="0" indent="0" algn="l">
              <a:buNone/>
            </a:pPr>
            <a:r>
              <a:rPr lang="en-US" sz="1050" dirty="0">
                <a:solidFill>
                  <a:srgbClr val="1E293B"/>
                </a:solidFill>
                <a:latin typeface="Calibri" pitchFamily="34" charset="0"/>
                <a:ea typeface="Calibri" pitchFamily="34" charset="-122"/>
                <a:cs typeface="Calibri" pitchFamily="34" charset="-120"/>
              </a:rPr>
              <a:t>Expresa una sola capacidad; no combina varias con -y-, -o-, -y/o-.</a:t>
            </a:r>
            <a:endParaRPr lang="en-US" sz="1050" dirty="0"/>
          </a:p>
        </p:txBody>
      </p:sp>
      <p:sp>
        <p:nvSpPr>
          <p:cNvPr id="29" name="Shape 27"/>
          <p:cNvSpPr/>
          <p:nvPr/>
        </p:nvSpPr>
        <p:spPr>
          <a:xfrm>
            <a:off x="8069580" y="3383280"/>
            <a:ext cx="3703320" cy="1463040"/>
          </a:xfrm>
          <a:prstGeom prst="roundRect">
            <a:avLst>
              <a:gd name="adj" fmla="val 5000"/>
            </a:avLst>
          </a:prstGeom>
          <a:solidFill>
            <a:srgbClr val="F8FAFC"/>
          </a:solidFill>
          <a:ln w="12700">
            <a:solidFill>
              <a:srgbClr val="2C5F2D"/>
            </a:solidFill>
            <a:prstDash val="solid"/>
          </a:ln>
        </p:spPr>
      </p:sp>
      <p:sp>
        <p:nvSpPr>
          <p:cNvPr id="30" name="Shape 28"/>
          <p:cNvSpPr/>
          <p:nvPr/>
        </p:nvSpPr>
        <p:spPr>
          <a:xfrm>
            <a:off x="8252460" y="3566160"/>
            <a:ext cx="594360" cy="594360"/>
          </a:xfrm>
          <a:prstGeom prst="ellipse">
            <a:avLst/>
          </a:prstGeom>
          <a:solidFill>
            <a:srgbClr val="2C5F2D"/>
          </a:solidFill>
          <a:ln w="12700">
            <a:solidFill>
              <a:srgbClr val="2C5F2D"/>
            </a:solidFill>
            <a:prstDash val="solid"/>
          </a:ln>
        </p:spPr>
      </p:sp>
      <p:sp>
        <p:nvSpPr>
          <p:cNvPr id="31" name="Text 29"/>
          <p:cNvSpPr/>
          <p:nvPr/>
        </p:nvSpPr>
        <p:spPr>
          <a:xfrm>
            <a:off x="8252460" y="356616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32" name="Text 30"/>
          <p:cNvSpPr/>
          <p:nvPr/>
        </p:nvSpPr>
        <p:spPr>
          <a:xfrm>
            <a:off x="8938260" y="3566160"/>
            <a:ext cx="2697480" cy="411480"/>
          </a:xfrm>
          <a:prstGeom prst="rect">
            <a:avLst/>
          </a:prstGeom>
          <a:noFill/>
          <a:ln/>
        </p:spPr>
        <p:txBody>
          <a:bodyPr wrap="square" lIns="0" tIns="0" rIns="0" bIns="0" rtlCol="0" anchor="ctr"/>
          <a:lstStyle/>
          <a:p>
            <a:pPr marL="0" indent="0" algn="l">
              <a:buNone/>
            </a:pPr>
            <a:r>
              <a:rPr lang="en-US" sz="1600" b="1" dirty="0">
                <a:solidFill>
                  <a:srgbClr val="1E4D8B"/>
                </a:solidFill>
                <a:latin typeface="Cambria" pitchFamily="34" charset="0"/>
                <a:ea typeface="Cambria" pitchFamily="34" charset="-122"/>
                <a:cs typeface="Cambria" pitchFamily="34" charset="-120"/>
              </a:rPr>
              <a:t>Factible</a:t>
            </a:r>
            <a:endParaRPr lang="en-US" sz="1600" dirty="0"/>
          </a:p>
        </p:txBody>
      </p:sp>
      <p:sp>
        <p:nvSpPr>
          <p:cNvPr id="33" name="Text 31"/>
          <p:cNvSpPr/>
          <p:nvPr/>
        </p:nvSpPr>
        <p:spPr>
          <a:xfrm>
            <a:off x="8343900" y="4160520"/>
            <a:ext cx="3246120" cy="548640"/>
          </a:xfrm>
          <a:prstGeom prst="rect">
            <a:avLst/>
          </a:prstGeom>
          <a:noFill/>
          <a:ln/>
        </p:spPr>
        <p:txBody>
          <a:bodyPr wrap="square" lIns="0" tIns="0" rIns="0" bIns="0" rtlCol="0" anchor="t"/>
          <a:lstStyle/>
          <a:p>
            <a:pPr marL="0" indent="0" algn="l">
              <a:buNone/>
            </a:pPr>
            <a:r>
              <a:rPr lang="en-US" sz="1050" dirty="0">
                <a:solidFill>
                  <a:srgbClr val="1E293B"/>
                </a:solidFill>
                <a:latin typeface="Calibri" pitchFamily="34" charset="0"/>
                <a:ea typeface="Calibri" pitchFamily="34" charset="-122"/>
                <a:cs typeface="Calibri" pitchFamily="34" charset="-120"/>
              </a:rPr>
              <a:t>Realizable dentro de las restricciones (costo, tiempo, tecnologia) con riesgo aceptable.</a:t>
            </a:r>
            <a:endParaRPr lang="en-US" sz="1050" dirty="0"/>
          </a:p>
        </p:txBody>
      </p:sp>
      <p:sp>
        <p:nvSpPr>
          <p:cNvPr id="34" name="Shape 32"/>
          <p:cNvSpPr/>
          <p:nvPr/>
        </p:nvSpPr>
        <p:spPr>
          <a:xfrm>
            <a:off x="388620" y="4983480"/>
            <a:ext cx="3703320" cy="1463040"/>
          </a:xfrm>
          <a:prstGeom prst="roundRect">
            <a:avLst>
              <a:gd name="adj" fmla="val 5000"/>
            </a:avLst>
          </a:prstGeom>
          <a:solidFill>
            <a:srgbClr val="F8FAFC"/>
          </a:solidFill>
          <a:ln w="12700">
            <a:solidFill>
              <a:srgbClr val="2C5F2D"/>
            </a:solidFill>
            <a:prstDash val="solid"/>
          </a:ln>
        </p:spPr>
      </p:sp>
      <p:sp>
        <p:nvSpPr>
          <p:cNvPr id="35" name="Shape 33"/>
          <p:cNvSpPr/>
          <p:nvPr/>
        </p:nvSpPr>
        <p:spPr>
          <a:xfrm>
            <a:off x="571500" y="5166360"/>
            <a:ext cx="594360" cy="594360"/>
          </a:xfrm>
          <a:prstGeom prst="ellipse">
            <a:avLst/>
          </a:prstGeom>
          <a:solidFill>
            <a:srgbClr val="2C5F2D"/>
          </a:solidFill>
          <a:ln w="12700">
            <a:solidFill>
              <a:srgbClr val="2C5F2D"/>
            </a:solidFill>
            <a:prstDash val="solid"/>
          </a:ln>
        </p:spPr>
      </p:sp>
      <p:sp>
        <p:nvSpPr>
          <p:cNvPr id="36" name="Text 34"/>
          <p:cNvSpPr/>
          <p:nvPr/>
        </p:nvSpPr>
        <p:spPr>
          <a:xfrm>
            <a:off x="571500" y="516636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7</a:t>
            </a:r>
            <a:endParaRPr lang="en-US" sz="2000" dirty="0"/>
          </a:p>
        </p:txBody>
      </p:sp>
      <p:sp>
        <p:nvSpPr>
          <p:cNvPr id="37" name="Text 35"/>
          <p:cNvSpPr/>
          <p:nvPr/>
        </p:nvSpPr>
        <p:spPr>
          <a:xfrm>
            <a:off x="1257300" y="5166360"/>
            <a:ext cx="2697480" cy="411480"/>
          </a:xfrm>
          <a:prstGeom prst="rect">
            <a:avLst/>
          </a:prstGeom>
          <a:noFill/>
          <a:ln/>
        </p:spPr>
        <p:txBody>
          <a:bodyPr wrap="square" lIns="0" tIns="0" rIns="0" bIns="0" rtlCol="0" anchor="ctr"/>
          <a:lstStyle/>
          <a:p>
            <a:pPr marL="0" indent="0" algn="l">
              <a:buNone/>
            </a:pPr>
            <a:r>
              <a:rPr lang="en-US" sz="1600" b="1" dirty="0">
                <a:solidFill>
                  <a:srgbClr val="1E4D8B"/>
                </a:solidFill>
                <a:latin typeface="Cambria" pitchFamily="34" charset="0"/>
                <a:ea typeface="Cambria" pitchFamily="34" charset="-122"/>
                <a:cs typeface="Cambria" pitchFamily="34" charset="-120"/>
              </a:rPr>
              <a:t>Verificable</a:t>
            </a:r>
            <a:endParaRPr lang="en-US" sz="1600" dirty="0"/>
          </a:p>
        </p:txBody>
      </p:sp>
      <p:sp>
        <p:nvSpPr>
          <p:cNvPr id="38" name="Text 36"/>
          <p:cNvSpPr/>
          <p:nvPr/>
        </p:nvSpPr>
        <p:spPr>
          <a:xfrm>
            <a:off x="662940" y="5760720"/>
            <a:ext cx="3246120" cy="548640"/>
          </a:xfrm>
          <a:prstGeom prst="rect">
            <a:avLst/>
          </a:prstGeom>
          <a:noFill/>
          <a:ln/>
        </p:spPr>
        <p:txBody>
          <a:bodyPr wrap="square" lIns="0" tIns="0" rIns="0" bIns="0" rtlCol="0" anchor="t"/>
          <a:lstStyle/>
          <a:p>
            <a:pPr marL="0" indent="0" algn="l">
              <a:buNone/>
            </a:pPr>
            <a:r>
              <a:rPr lang="en-US" sz="1050" dirty="0">
                <a:solidFill>
                  <a:srgbClr val="1E293B"/>
                </a:solidFill>
                <a:latin typeface="Calibri" pitchFamily="34" charset="0"/>
                <a:ea typeface="Calibri" pitchFamily="34" charset="-122"/>
                <a:cs typeface="Calibri" pitchFamily="34" charset="-120"/>
              </a:rPr>
              <a:t>Se puede demostrar su cumplimiento mediante prueba, inspección, análisis o demostración.</a:t>
            </a:r>
            <a:endParaRPr lang="en-US" sz="1050" dirty="0"/>
          </a:p>
        </p:txBody>
      </p:sp>
      <p:sp>
        <p:nvSpPr>
          <p:cNvPr id="39" name="Shape 37"/>
          <p:cNvSpPr/>
          <p:nvPr/>
        </p:nvSpPr>
        <p:spPr>
          <a:xfrm>
            <a:off x="4229100" y="4983480"/>
            <a:ext cx="3703320" cy="1463040"/>
          </a:xfrm>
          <a:prstGeom prst="roundRect">
            <a:avLst>
              <a:gd name="adj" fmla="val 5000"/>
            </a:avLst>
          </a:prstGeom>
          <a:solidFill>
            <a:srgbClr val="F8FAFC"/>
          </a:solidFill>
          <a:ln w="12700">
            <a:solidFill>
              <a:srgbClr val="2C5F2D"/>
            </a:solidFill>
            <a:prstDash val="solid"/>
          </a:ln>
        </p:spPr>
      </p:sp>
      <p:sp>
        <p:nvSpPr>
          <p:cNvPr id="40" name="Shape 38"/>
          <p:cNvSpPr/>
          <p:nvPr/>
        </p:nvSpPr>
        <p:spPr>
          <a:xfrm>
            <a:off x="4411980" y="5166360"/>
            <a:ext cx="594360" cy="594360"/>
          </a:xfrm>
          <a:prstGeom prst="ellipse">
            <a:avLst/>
          </a:prstGeom>
          <a:solidFill>
            <a:srgbClr val="2C5F2D"/>
          </a:solidFill>
          <a:ln w="12700">
            <a:solidFill>
              <a:srgbClr val="2C5F2D"/>
            </a:solidFill>
            <a:prstDash val="solid"/>
          </a:ln>
        </p:spPr>
      </p:sp>
      <p:sp>
        <p:nvSpPr>
          <p:cNvPr id="41" name="Text 39"/>
          <p:cNvSpPr/>
          <p:nvPr/>
        </p:nvSpPr>
        <p:spPr>
          <a:xfrm>
            <a:off x="4411980" y="516636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8</a:t>
            </a:r>
            <a:endParaRPr lang="en-US" sz="2000" dirty="0"/>
          </a:p>
        </p:txBody>
      </p:sp>
      <p:sp>
        <p:nvSpPr>
          <p:cNvPr id="42" name="Text 40"/>
          <p:cNvSpPr/>
          <p:nvPr/>
        </p:nvSpPr>
        <p:spPr>
          <a:xfrm>
            <a:off x="5097780" y="5166360"/>
            <a:ext cx="2697480" cy="411480"/>
          </a:xfrm>
          <a:prstGeom prst="rect">
            <a:avLst/>
          </a:prstGeom>
          <a:noFill/>
          <a:ln/>
        </p:spPr>
        <p:txBody>
          <a:bodyPr wrap="square" lIns="0" tIns="0" rIns="0" bIns="0" rtlCol="0" anchor="ctr"/>
          <a:lstStyle/>
          <a:p>
            <a:pPr marL="0" indent="0" algn="l">
              <a:buNone/>
            </a:pPr>
            <a:r>
              <a:rPr lang="en-US" sz="1600" b="1" dirty="0">
                <a:solidFill>
                  <a:srgbClr val="1E4D8B"/>
                </a:solidFill>
                <a:latin typeface="Cambria" pitchFamily="34" charset="0"/>
                <a:ea typeface="Cambria" pitchFamily="34" charset="-122"/>
                <a:cs typeface="Cambria" pitchFamily="34" charset="-120"/>
              </a:rPr>
              <a:t>Correcto</a:t>
            </a:r>
            <a:endParaRPr lang="en-US" sz="1600" dirty="0"/>
          </a:p>
        </p:txBody>
      </p:sp>
      <p:sp>
        <p:nvSpPr>
          <p:cNvPr id="43" name="Text 41"/>
          <p:cNvSpPr/>
          <p:nvPr/>
        </p:nvSpPr>
        <p:spPr>
          <a:xfrm>
            <a:off x="4503420" y="5760720"/>
            <a:ext cx="3246120" cy="548640"/>
          </a:xfrm>
          <a:prstGeom prst="rect">
            <a:avLst/>
          </a:prstGeom>
          <a:noFill/>
          <a:ln/>
        </p:spPr>
        <p:txBody>
          <a:bodyPr wrap="square" lIns="0" tIns="0" rIns="0" bIns="0" rtlCol="0" anchor="t"/>
          <a:lstStyle/>
          <a:p>
            <a:pPr marL="0" indent="0" algn="l">
              <a:buNone/>
            </a:pPr>
            <a:r>
              <a:rPr lang="en-US" sz="1050" dirty="0">
                <a:solidFill>
                  <a:srgbClr val="1E293B"/>
                </a:solidFill>
                <a:latin typeface="Calibri" pitchFamily="34" charset="0"/>
                <a:ea typeface="Calibri" pitchFamily="34" charset="-122"/>
                <a:cs typeface="Calibri" pitchFamily="34" charset="-120"/>
              </a:rPr>
              <a:t>Representa fielmente la necesidad del interesado que le dio origen.</a:t>
            </a:r>
            <a:endParaRPr lang="en-US" sz="1050" dirty="0"/>
          </a:p>
        </p:txBody>
      </p:sp>
      <p:sp>
        <p:nvSpPr>
          <p:cNvPr id="44" name="Shape 42"/>
          <p:cNvSpPr/>
          <p:nvPr/>
        </p:nvSpPr>
        <p:spPr>
          <a:xfrm>
            <a:off x="8069580" y="4983480"/>
            <a:ext cx="3703320" cy="1463040"/>
          </a:xfrm>
          <a:prstGeom prst="roundRect">
            <a:avLst>
              <a:gd name="adj" fmla="val 5000"/>
            </a:avLst>
          </a:prstGeom>
          <a:solidFill>
            <a:srgbClr val="F8FAFC"/>
          </a:solidFill>
          <a:ln w="12700">
            <a:solidFill>
              <a:srgbClr val="2C5F2D"/>
            </a:solidFill>
            <a:prstDash val="solid"/>
          </a:ln>
        </p:spPr>
      </p:sp>
      <p:sp>
        <p:nvSpPr>
          <p:cNvPr id="45" name="Shape 43"/>
          <p:cNvSpPr/>
          <p:nvPr/>
        </p:nvSpPr>
        <p:spPr>
          <a:xfrm>
            <a:off x="8252460" y="5166360"/>
            <a:ext cx="594360" cy="594360"/>
          </a:xfrm>
          <a:prstGeom prst="ellipse">
            <a:avLst/>
          </a:prstGeom>
          <a:solidFill>
            <a:srgbClr val="2C5F2D"/>
          </a:solidFill>
          <a:ln w="12700">
            <a:solidFill>
              <a:srgbClr val="2C5F2D"/>
            </a:solidFill>
            <a:prstDash val="solid"/>
          </a:ln>
        </p:spPr>
      </p:sp>
      <p:sp>
        <p:nvSpPr>
          <p:cNvPr id="46" name="Text 44"/>
          <p:cNvSpPr/>
          <p:nvPr/>
        </p:nvSpPr>
        <p:spPr>
          <a:xfrm>
            <a:off x="8252460" y="516636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9</a:t>
            </a:r>
            <a:endParaRPr lang="en-US" sz="2000" dirty="0"/>
          </a:p>
        </p:txBody>
      </p:sp>
      <p:sp>
        <p:nvSpPr>
          <p:cNvPr id="47" name="Text 45"/>
          <p:cNvSpPr/>
          <p:nvPr/>
        </p:nvSpPr>
        <p:spPr>
          <a:xfrm>
            <a:off x="8938260" y="5166360"/>
            <a:ext cx="2697480" cy="411480"/>
          </a:xfrm>
          <a:prstGeom prst="rect">
            <a:avLst/>
          </a:prstGeom>
          <a:noFill/>
          <a:ln/>
        </p:spPr>
        <p:txBody>
          <a:bodyPr wrap="square" lIns="0" tIns="0" rIns="0" bIns="0" rtlCol="0" anchor="ctr"/>
          <a:lstStyle/>
          <a:p>
            <a:pPr marL="0" indent="0" algn="l">
              <a:buNone/>
            </a:pPr>
            <a:r>
              <a:rPr lang="en-US" sz="1600" b="1" dirty="0">
                <a:solidFill>
                  <a:srgbClr val="1E4D8B"/>
                </a:solidFill>
                <a:latin typeface="Cambria" pitchFamily="34" charset="0"/>
                <a:ea typeface="Cambria" pitchFamily="34" charset="-122"/>
                <a:cs typeface="Cambria" pitchFamily="34" charset="-120"/>
              </a:rPr>
              <a:t>Conforme</a:t>
            </a:r>
            <a:endParaRPr lang="en-US" sz="1600" dirty="0"/>
          </a:p>
        </p:txBody>
      </p:sp>
      <p:sp>
        <p:nvSpPr>
          <p:cNvPr id="48" name="Text 46"/>
          <p:cNvSpPr/>
          <p:nvPr/>
        </p:nvSpPr>
        <p:spPr>
          <a:xfrm>
            <a:off x="8343900" y="5760720"/>
            <a:ext cx="3246120" cy="548640"/>
          </a:xfrm>
          <a:prstGeom prst="rect">
            <a:avLst/>
          </a:prstGeom>
          <a:noFill/>
          <a:ln/>
        </p:spPr>
        <p:txBody>
          <a:bodyPr wrap="square" lIns="0" tIns="0" rIns="0" bIns="0" rtlCol="0" anchor="t"/>
          <a:lstStyle/>
          <a:p>
            <a:pPr marL="0" indent="0" algn="l">
              <a:buNone/>
            </a:pPr>
            <a:r>
              <a:rPr lang="en-US" sz="1050" dirty="0">
                <a:solidFill>
                  <a:srgbClr val="1E293B"/>
                </a:solidFill>
                <a:latin typeface="Calibri" pitchFamily="34" charset="0"/>
                <a:ea typeface="Calibri" pitchFamily="34" charset="-122"/>
                <a:cs typeface="Calibri" pitchFamily="34" charset="-120"/>
              </a:rPr>
              <a:t>Se ajusta a la plantilla y estilo institucionales aprobados.</a:t>
            </a:r>
            <a:endParaRPr lang="en-US" sz="1050" dirty="0"/>
          </a:p>
        </p:txBody>
      </p:sp>
      <p:sp>
        <p:nvSpPr>
          <p:cNvPr id="50" name="Shape 47"/>
          <p:cNvSpPr/>
          <p:nvPr/>
        </p:nvSpPr>
        <p:spPr>
          <a:xfrm>
            <a:off x="0" y="0"/>
            <a:ext cx="12161520" cy="384048"/>
          </a:xfrm>
          <a:prstGeom prst="rect">
            <a:avLst/>
          </a:prstGeom>
          <a:solidFill>
            <a:srgbClr val="2C5F2D"/>
          </a:solidFill>
          <a:ln w="12700">
            <a:solidFill>
              <a:srgbClr val="2C5F2D"/>
            </a:solidFill>
            <a:prstDash val="solid"/>
          </a:ln>
        </p:spPr>
      </p:sp>
      <p:sp>
        <p:nvSpPr>
          <p:cNvPr id="51" name="Text 48"/>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52" name="Text 49"/>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8.4 Calidad individual</a:t>
            </a:r>
            <a:endParaRPr lang="en-US" sz="1000" dirty="0"/>
          </a:p>
        </p:txBody>
      </p:sp>
      <p:sp>
        <p:nvSpPr>
          <p:cNvPr id="53" name="Text 50"/>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54" name="Text 51"/>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9 / 30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548640"/>
            <a:ext cx="11247120" cy="640080"/>
          </a:xfrm>
          <a:prstGeom prst="rect">
            <a:avLst/>
          </a:prstGeom>
          <a:noFill/>
          <a:ln/>
        </p:spPr>
        <p:txBody>
          <a:bodyPr wrap="square" lIns="0" tIns="0" rIns="0" bIns="0" rtlCol="0" anchor="t"/>
          <a:lstStyle/>
          <a:p>
            <a:pPr marL="0" indent="0" algn="l">
              <a:buNone/>
            </a:pPr>
            <a:r>
              <a:rPr lang="en-US" sz="3000" b="1" dirty="0">
                <a:solidFill>
                  <a:srgbClr val="1E4D8B"/>
                </a:solidFill>
                <a:latin typeface="Cambria" pitchFamily="34" charset="0"/>
                <a:ea typeface="Cambria" pitchFamily="34" charset="-122"/>
                <a:cs typeface="Cambria" pitchFamily="34" charset="-120"/>
              </a:rPr>
              <a:t>8.4 - Calidad del conjunto + criterios de aceptación</a:t>
            </a:r>
            <a:endParaRPr lang="en-US" sz="3000" dirty="0"/>
          </a:p>
        </p:txBody>
      </p:sp>
      <p:sp>
        <p:nvSpPr>
          <p:cNvPr id="3" name="Text 1"/>
          <p:cNvSpPr/>
          <p:nvPr/>
        </p:nvSpPr>
        <p:spPr>
          <a:xfrm>
            <a:off x="457200" y="1188720"/>
            <a:ext cx="11247120" cy="365760"/>
          </a:xfrm>
          <a:prstGeom prst="rect">
            <a:avLst/>
          </a:prstGeom>
          <a:noFill/>
          <a:ln/>
        </p:spPr>
        <p:txBody>
          <a:bodyPr wrap="square" lIns="0" tIns="0" rIns="0" bIns="0" rtlCol="0" anchor="t"/>
          <a:lstStyle/>
          <a:p>
            <a:pPr marL="0" indent="0" algn="l">
              <a:buNone/>
            </a:pPr>
            <a:r>
              <a:rPr lang="en-US" sz="1300" i="1" dirty="0">
                <a:solidFill>
                  <a:srgbClr val="475569"/>
                </a:solidFill>
                <a:latin typeface="Calibri" pitchFamily="34" charset="0"/>
                <a:ea typeface="Calibri" pitchFamily="34" charset="-122"/>
                <a:cs typeface="Calibri" pitchFamily="34" charset="-120"/>
              </a:rPr>
              <a:t>Un buen requisito individual no basta: el conjunto también debe ser coherente</a:t>
            </a:r>
            <a:endParaRPr lang="en-US" sz="1300" dirty="0"/>
          </a:p>
        </p:txBody>
      </p:sp>
      <p:sp>
        <p:nvSpPr>
          <p:cNvPr id="4" name="Shape 2"/>
          <p:cNvSpPr/>
          <p:nvPr/>
        </p:nvSpPr>
        <p:spPr>
          <a:xfrm>
            <a:off x="457200" y="1783080"/>
            <a:ext cx="5760720" cy="4297680"/>
          </a:xfrm>
          <a:prstGeom prst="roundRect">
            <a:avLst>
              <a:gd name="adj" fmla="val 2128"/>
            </a:avLst>
          </a:prstGeom>
          <a:solidFill>
            <a:srgbClr val="F8FAFC"/>
          </a:solidFill>
          <a:ln w="19050">
            <a:solidFill>
              <a:srgbClr val="2C5F2D"/>
            </a:solidFill>
            <a:prstDash val="solid"/>
          </a:ln>
        </p:spPr>
      </p:sp>
      <p:sp>
        <p:nvSpPr>
          <p:cNvPr id="5" name="Text 3"/>
          <p:cNvSpPr/>
          <p:nvPr/>
        </p:nvSpPr>
        <p:spPr>
          <a:xfrm>
            <a:off x="640080" y="1920240"/>
            <a:ext cx="5394960" cy="457200"/>
          </a:xfrm>
          <a:prstGeom prst="rect">
            <a:avLst/>
          </a:prstGeom>
          <a:noFill/>
          <a:ln/>
        </p:spPr>
        <p:txBody>
          <a:bodyPr wrap="square" lIns="0" tIns="0" rIns="0" bIns="0" rtlCol="0" anchor="ctr"/>
          <a:lstStyle/>
          <a:p>
            <a:pPr marL="0" indent="0" algn="l">
              <a:buNone/>
            </a:pPr>
            <a:r>
              <a:rPr lang="en-US" sz="1800" b="1" dirty="0">
                <a:solidFill>
                  <a:srgbClr val="2C5F2D"/>
                </a:solidFill>
                <a:latin typeface="Cambria" pitchFamily="34" charset="0"/>
                <a:ea typeface="Cambria" pitchFamily="34" charset="-122"/>
                <a:cs typeface="Cambria" pitchFamily="34" charset="-120"/>
              </a:rPr>
              <a:t>Propiedades del conjunto de requisitos</a:t>
            </a:r>
            <a:endParaRPr lang="en-US" sz="1800" dirty="0"/>
          </a:p>
        </p:txBody>
      </p:sp>
      <p:sp>
        <p:nvSpPr>
          <p:cNvPr id="6" name="Text 4"/>
          <p:cNvSpPr/>
          <p:nvPr/>
        </p:nvSpPr>
        <p:spPr>
          <a:xfrm>
            <a:off x="777240" y="2468880"/>
            <a:ext cx="5303520" cy="3474720"/>
          </a:xfrm>
          <a:prstGeom prst="rect">
            <a:avLst/>
          </a:prstGeom>
          <a:noFill/>
          <a:ln/>
        </p:spPr>
        <p:txBody>
          <a:bodyPr wrap="square" lIns="0" tIns="0" rIns="0" bIns="0" rtlCol="0" anchor="t"/>
          <a:lstStyle/>
          <a:p>
            <a:pPr marL="0" indent="0" algn="l">
              <a:buNone/>
            </a:pPr>
            <a:r>
              <a:rPr lang="en-US" sz="1250" b="1" dirty="0">
                <a:solidFill>
                  <a:srgbClr val="1E4D8B"/>
                </a:solidFill>
                <a:latin typeface="Calibri" pitchFamily="34" charset="0"/>
                <a:ea typeface="Calibri" pitchFamily="34" charset="-122"/>
                <a:cs typeface="Calibri" pitchFamily="34" charset="-120"/>
              </a:rPr>
              <a:t>Completo. </a:t>
            </a:r>
            <a:r>
              <a:rPr lang="en-US" sz="1250" dirty="0">
                <a:solidFill>
                  <a:srgbClr val="1E293B"/>
                </a:solidFill>
                <a:latin typeface="Calibri" pitchFamily="34" charset="0"/>
                <a:ea typeface="Calibri" pitchFamily="34" charset="-122"/>
                <a:cs typeface="Calibri" pitchFamily="34" charset="-120"/>
              </a:rPr>
              <a:t>El conjunto describe todas las capacidades sin marcadores TBD, TBS ni TBR.</a:t>
            </a:r>
            <a:endParaRPr lang="en-US" sz="1250" dirty="0"/>
          </a:p>
          <a:p>
            <a:pPr marL="0" indent="0" algn="l">
              <a:buNone/>
            </a:pPr>
            <a:r>
              <a:rPr lang="en-US" sz="1250" b="1" dirty="0">
                <a:solidFill>
                  <a:srgbClr val="1E4D8B"/>
                </a:solidFill>
                <a:latin typeface="Calibri" pitchFamily="34" charset="0"/>
                <a:ea typeface="Calibri" pitchFamily="34" charset="-122"/>
                <a:cs typeface="Calibri" pitchFamily="34" charset="-120"/>
              </a:rPr>
              <a:t>Consistente. </a:t>
            </a:r>
            <a:r>
              <a:rPr lang="en-US" sz="1250" dirty="0">
                <a:solidFill>
                  <a:srgbClr val="1E293B"/>
                </a:solidFill>
                <a:latin typeface="Calibri" pitchFamily="34" charset="0"/>
                <a:ea typeface="Calibri" pitchFamily="34" charset="-122"/>
                <a:cs typeface="Calibri" pitchFamily="34" charset="-120"/>
              </a:rPr>
              <a:t>No hay contradicciones ni términos usados con dos significados.</a:t>
            </a:r>
            <a:endParaRPr lang="en-US" sz="1250" dirty="0"/>
          </a:p>
          <a:p>
            <a:pPr marL="0" indent="0" algn="l">
              <a:buNone/>
            </a:pPr>
            <a:r>
              <a:rPr lang="en-US" sz="1250" b="1" dirty="0">
                <a:solidFill>
                  <a:srgbClr val="1E4D8B"/>
                </a:solidFill>
                <a:latin typeface="Calibri" pitchFamily="34" charset="0"/>
                <a:ea typeface="Calibri" pitchFamily="34" charset="-122"/>
                <a:cs typeface="Calibri" pitchFamily="34" charset="-120"/>
              </a:rPr>
              <a:t>Factible. </a:t>
            </a:r>
            <a:r>
              <a:rPr lang="en-US" sz="1250" dirty="0">
                <a:solidFill>
                  <a:srgbClr val="1E293B"/>
                </a:solidFill>
                <a:latin typeface="Calibri" pitchFamily="34" charset="0"/>
                <a:ea typeface="Calibri" pitchFamily="34" charset="-122"/>
                <a:cs typeface="Calibri" pitchFamily="34" charset="-120"/>
              </a:rPr>
              <a:t>Todo el conjunto es realizable dentro de las restricciones globales.</a:t>
            </a:r>
            <a:endParaRPr lang="en-US" sz="1250" dirty="0"/>
          </a:p>
          <a:p>
            <a:pPr marL="0" indent="0" algn="l">
              <a:buNone/>
            </a:pPr>
            <a:r>
              <a:rPr lang="en-US" sz="1250" b="1" dirty="0">
                <a:solidFill>
                  <a:srgbClr val="1E4D8B"/>
                </a:solidFill>
                <a:latin typeface="Calibri" pitchFamily="34" charset="0"/>
                <a:ea typeface="Calibri" pitchFamily="34" charset="-122"/>
                <a:cs typeface="Calibri" pitchFamily="34" charset="-120"/>
              </a:rPr>
              <a:t>Comprensible. </a:t>
            </a:r>
            <a:r>
              <a:rPr lang="en-US" sz="1250" dirty="0">
                <a:solidFill>
                  <a:srgbClr val="1E293B"/>
                </a:solidFill>
                <a:latin typeface="Calibri" pitchFamily="34" charset="0"/>
                <a:ea typeface="Calibri" pitchFamily="34" charset="-122"/>
                <a:cs typeface="Calibri" pitchFamily="34" charset="-120"/>
              </a:rPr>
              <a:t>Un lector nuevo entiende que se espera y como se relaciona con el sistema.</a:t>
            </a:r>
            <a:endParaRPr lang="en-US" sz="1250" dirty="0"/>
          </a:p>
          <a:p>
            <a:pPr marL="0" indent="0" algn="l">
              <a:buNone/>
            </a:pPr>
            <a:r>
              <a:rPr lang="en-US" sz="1250" b="1" dirty="0">
                <a:solidFill>
                  <a:srgbClr val="1E4D8B"/>
                </a:solidFill>
                <a:latin typeface="Calibri" pitchFamily="34" charset="0"/>
                <a:ea typeface="Calibri" pitchFamily="34" charset="-122"/>
                <a:cs typeface="Calibri" pitchFamily="34" charset="-120"/>
              </a:rPr>
              <a:t>Validable. </a:t>
            </a:r>
            <a:r>
              <a:rPr lang="en-US" sz="1250" dirty="0">
                <a:solidFill>
                  <a:srgbClr val="1E293B"/>
                </a:solidFill>
                <a:latin typeface="Calibri" pitchFamily="34" charset="0"/>
                <a:ea typeface="Calibri" pitchFamily="34" charset="-122"/>
                <a:cs typeface="Calibri" pitchFamily="34" charset="-120"/>
              </a:rPr>
              <a:t>Si se implementan todos, se satisfacen las necesidades reales del cliente.</a:t>
            </a:r>
            <a:endParaRPr lang="en-US" sz="1250" dirty="0"/>
          </a:p>
        </p:txBody>
      </p:sp>
      <p:sp>
        <p:nvSpPr>
          <p:cNvPr id="7" name="Shape 5"/>
          <p:cNvSpPr/>
          <p:nvPr/>
        </p:nvSpPr>
        <p:spPr>
          <a:xfrm>
            <a:off x="6400800" y="1783080"/>
            <a:ext cx="5303520" cy="4297680"/>
          </a:xfrm>
          <a:prstGeom prst="roundRect">
            <a:avLst>
              <a:gd name="adj" fmla="val 2128"/>
            </a:avLst>
          </a:prstGeom>
          <a:solidFill>
            <a:srgbClr val="F8FAFC"/>
          </a:solidFill>
          <a:ln w="19050">
            <a:solidFill>
              <a:srgbClr val="D4A017"/>
            </a:solidFill>
            <a:prstDash val="solid"/>
          </a:ln>
        </p:spPr>
      </p:sp>
      <p:sp>
        <p:nvSpPr>
          <p:cNvPr id="8" name="Text 6"/>
          <p:cNvSpPr/>
          <p:nvPr/>
        </p:nvSpPr>
        <p:spPr>
          <a:xfrm>
            <a:off x="6583680" y="1920240"/>
            <a:ext cx="4937760" cy="457200"/>
          </a:xfrm>
          <a:prstGeom prst="rect">
            <a:avLst/>
          </a:prstGeom>
          <a:noFill/>
          <a:ln/>
        </p:spPr>
        <p:txBody>
          <a:bodyPr wrap="square" lIns="0" tIns="0" rIns="0" bIns="0" rtlCol="0" anchor="ctr"/>
          <a:lstStyle/>
          <a:p>
            <a:pPr marL="0" indent="0" algn="l">
              <a:buNone/>
            </a:pPr>
            <a:r>
              <a:rPr lang="en-US" sz="1800" b="1" dirty="0">
                <a:solidFill>
                  <a:srgbClr val="D4A017"/>
                </a:solidFill>
                <a:latin typeface="Cambria" pitchFamily="34" charset="0"/>
                <a:ea typeface="Cambria" pitchFamily="34" charset="-122"/>
                <a:cs typeface="Cambria" pitchFamily="34" charset="-120"/>
              </a:rPr>
              <a:t>Criterios de aceptación</a:t>
            </a:r>
            <a:endParaRPr lang="en-US" sz="1800" dirty="0"/>
          </a:p>
        </p:txBody>
      </p:sp>
      <p:sp>
        <p:nvSpPr>
          <p:cNvPr id="9" name="Text 7"/>
          <p:cNvSpPr/>
          <p:nvPr/>
        </p:nvSpPr>
        <p:spPr>
          <a:xfrm>
            <a:off x="6629400" y="2468880"/>
            <a:ext cx="4937760" cy="3474720"/>
          </a:xfrm>
          <a:prstGeom prst="rect">
            <a:avLst/>
          </a:prstGeom>
          <a:noFill/>
          <a:ln/>
        </p:spPr>
        <p:txBody>
          <a:bodyPr wrap="square" lIns="0" tIns="0" rIns="0" bIns="0" rtlCol="0" anchor="t"/>
          <a:lstStyle/>
          <a:p>
            <a:pPr marL="0" indent="0" algn="l">
              <a:spcAft>
                <a:spcPts val="1000"/>
              </a:spcAft>
              <a:buNone/>
            </a:pPr>
            <a:r>
              <a:rPr lang="en-US" sz="1200" dirty="0">
                <a:solidFill>
                  <a:srgbClr val="1E293B"/>
                </a:solidFill>
                <a:latin typeface="Calibri" pitchFamily="34" charset="0"/>
                <a:ea typeface="Calibri" pitchFamily="34" charset="-122"/>
                <a:cs typeface="Calibri" pitchFamily="34" charset="-120"/>
              </a:rPr>
              <a:t>Condiciones objetivas que el cliente usara para aceptar (o rechazar) la implementación del requisito.</a:t>
            </a:r>
            <a:endParaRPr lang="en-US" sz="1200" dirty="0"/>
          </a:p>
          <a:p>
            <a:pPr marL="0" indent="0" algn="l">
              <a:spcAft>
                <a:spcPts val="400"/>
              </a:spcAft>
              <a:buNone/>
            </a:pPr>
            <a:r>
              <a:rPr lang="en-US" sz="1200" b="1" dirty="0">
                <a:solidFill>
                  <a:srgbClr val="1E4D8B"/>
                </a:solidFill>
                <a:latin typeface="Calibri" pitchFamily="34" charset="0"/>
                <a:ea typeface="Calibri" pitchFamily="34" charset="-122"/>
                <a:cs typeface="Calibri" pitchFamily="34" charset="-120"/>
              </a:rPr>
              <a:t>Formato recomendado: BDD Given-When-Then</a:t>
            </a:r>
            <a:endParaRPr lang="en-US" sz="1200" dirty="0"/>
          </a:p>
          <a:p>
            <a:pPr marL="0" indent="0" algn="l">
              <a:spcAft>
                <a:spcPts val="1200"/>
              </a:spcAft>
              <a:buNone/>
            </a:pPr>
            <a:r>
              <a:rPr lang="en-US" sz="1100" i="1" dirty="0">
                <a:solidFill>
                  <a:srgbClr val="475569"/>
                </a:solidFill>
                <a:latin typeface="Calibri" pitchFamily="34" charset="0"/>
                <a:ea typeface="Calibri" pitchFamily="34" charset="-122"/>
                <a:cs typeface="Calibri" pitchFamily="34" charset="-120"/>
              </a:rPr>
              <a:t>(Behavior-Driven Development, propuesto por Dan North en 2006)</a:t>
            </a:r>
            <a:endParaRPr lang="en-US" sz="1200" dirty="0"/>
          </a:p>
          <a:p>
            <a:pPr marL="0" indent="0" algn="l">
              <a:spcAft>
                <a:spcPts val="400"/>
              </a:spcAft>
              <a:buNone/>
            </a:pPr>
            <a:r>
              <a:rPr lang="en-US" sz="1200" b="1" dirty="0">
                <a:solidFill>
                  <a:srgbClr val="2C5F2D"/>
                </a:solidFill>
                <a:latin typeface="Calibri" pitchFamily="34" charset="0"/>
                <a:ea typeface="Calibri" pitchFamily="34" charset="-122"/>
                <a:cs typeface="Calibri" pitchFamily="34" charset="-120"/>
              </a:rPr>
              <a:t>Ejemplo (SIMPA - Palma Africana):</a:t>
            </a:r>
            <a:endParaRPr lang="en-US" sz="1200" dirty="0"/>
          </a:p>
          <a:p>
            <a:pPr marL="0" indent="0" algn="l">
              <a:buNone/>
            </a:pPr>
            <a:r>
              <a:rPr lang="en-US" sz="1200" dirty="0">
                <a:solidFill>
                  <a:srgbClr val="1E293B"/>
                </a:solidFill>
                <a:latin typeface="Calibri" pitchFamily="34" charset="0"/>
                <a:ea typeface="Calibri" pitchFamily="34" charset="-122"/>
                <a:cs typeface="Calibri" pitchFamily="34" charset="-120"/>
              </a:rPr>
              <a:t>Dado que la parcela P-14 registra humedad menor al 40 por ciento durante 48 horas consecutivas,</a:t>
            </a:r>
            <a:endParaRPr lang="en-US" sz="1200" dirty="0"/>
          </a:p>
          <a:p>
            <a:pPr marL="0" indent="0" algn="l">
              <a:buNone/>
            </a:pPr>
            <a:r>
              <a:rPr lang="en-US" sz="1200" dirty="0">
                <a:solidFill>
                  <a:srgbClr val="1E293B"/>
                </a:solidFill>
                <a:latin typeface="Calibri" pitchFamily="34" charset="0"/>
                <a:ea typeface="Calibri" pitchFamily="34" charset="-122"/>
                <a:cs typeface="Calibri" pitchFamily="34" charset="-120"/>
              </a:rPr>
              <a:t>cuando el sistema ejecute la tárea diaria de las 06:00,</a:t>
            </a:r>
            <a:endParaRPr lang="en-US" sz="1200" dirty="0"/>
          </a:p>
          <a:p>
            <a:pPr marL="0" indent="0" algn="l">
              <a:buNone/>
            </a:pPr>
            <a:r>
              <a:rPr lang="en-US" sz="1200" dirty="0">
                <a:solidFill>
                  <a:srgbClr val="1E293B"/>
                </a:solidFill>
                <a:latin typeface="Calibri" pitchFamily="34" charset="0"/>
                <a:ea typeface="Calibri" pitchFamily="34" charset="-122"/>
                <a:cs typeface="Calibri" pitchFamily="34" charset="-120"/>
              </a:rPr>
              <a:t>entonces se generará una alerta de riego prioritario visible al capataz de campo en menos de 60 segundos.</a:t>
            </a:r>
            <a:endParaRPr lang="en-US" sz="1200" dirty="0"/>
          </a:p>
        </p:txBody>
      </p:sp>
      <p:sp>
        <p:nvSpPr>
          <p:cNvPr id="11" name="Shape 8"/>
          <p:cNvSpPr/>
          <p:nvPr/>
        </p:nvSpPr>
        <p:spPr>
          <a:xfrm>
            <a:off x="0" y="0"/>
            <a:ext cx="12161520" cy="384048"/>
          </a:xfrm>
          <a:prstGeom prst="rect">
            <a:avLst/>
          </a:prstGeom>
          <a:solidFill>
            <a:srgbClr val="2C5F2D"/>
          </a:solidFill>
          <a:ln w="12700">
            <a:solidFill>
              <a:srgbClr val="2C5F2D"/>
            </a:solidFill>
            <a:prstDash val="solid"/>
          </a:ln>
        </p:spPr>
      </p:sp>
      <p:sp>
        <p:nvSpPr>
          <p:cNvPr id="12" name="Text 9"/>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13" name="Text 10"/>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8.4 Calidad de conjunto</a:t>
            </a:r>
            <a:endParaRPr lang="en-US" sz="1000" dirty="0"/>
          </a:p>
        </p:txBody>
      </p:sp>
      <p:sp>
        <p:nvSpPr>
          <p:cNvPr id="14" name="Text 11"/>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15" name="Text 12"/>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10 / 30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4D8B"/>
        </a:solidFill>
        <a:effectLst/>
      </p:bgPr>
    </p:bg>
    <p:spTree>
      <p:nvGrpSpPr>
        <p:cNvPr id="1" name=""/>
        <p:cNvGrpSpPr/>
        <p:nvPr/>
      </p:nvGrpSpPr>
      <p:grpSpPr>
        <a:xfrm>
          <a:off x="0" y="0"/>
          <a:ext cx="0" cy="0"/>
          <a:chOff x="0" y="0"/>
          <a:chExt cx="0" cy="0"/>
        </a:xfrm>
      </p:grpSpPr>
      <p:sp>
        <p:nvSpPr>
          <p:cNvPr id="2" name="Shape 0"/>
          <p:cNvSpPr/>
          <p:nvPr/>
        </p:nvSpPr>
        <p:spPr>
          <a:xfrm>
            <a:off x="7589520" y="-2743200"/>
            <a:ext cx="9144000" cy="9144000"/>
          </a:xfrm>
          <a:prstGeom prst="ellipse">
            <a:avLst/>
          </a:prstGeom>
          <a:solidFill>
            <a:srgbClr val="2C5F2D">
              <a:alpha val="45000"/>
            </a:srgbClr>
          </a:solidFill>
          <a:ln w="12700">
            <a:solidFill>
              <a:srgbClr val="2C5F2D"/>
            </a:solidFill>
            <a:prstDash val="solid"/>
          </a:ln>
        </p:spPr>
      </p:sp>
      <p:pic>
        <p:nvPicPr>
          <p:cNvPr id="3" name="Image 0" descr="preencoded.png"/>
          <p:cNvPicPr>
            <a:picLocks noChangeAspect="1"/>
          </p:cNvPicPr>
          <p:nvPr/>
        </p:nvPicPr>
        <p:blipFill>
          <a:blip r:embed="rId3"/>
          <a:stretch>
            <a:fillRect/>
          </a:stretch>
        </p:blipFill>
        <p:spPr>
          <a:xfrm>
            <a:off x="914400" y="2286000"/>
            <a:ext cx="2286000" cy="2286000"/>
          </a:xfrm>
          <a:prstGeom prst="rect">
            <a:avLst/>
          </a:prstGeom>
        </p:spPr>
      </p:pic>
      <p:sp>
        <p:nvSpPr>
          <p:cNvPr id="4" name="Text 1"/>
          <p:cNvSpPr/>
          <p:nvPr/>
        </p:nvSpPr>
        <p:spPr>
          <a:xfrm>
            <a:off x="4114800" y="1920240"/>
            <a:ext cx="7315200" cy="640080"/>
          </a:xfrm>
          <a:prstGeom prst="rect">
            <a:avLst/>
          </a:prstGeom>
          <a:noFill/>
          <a:ln/>
        </p:spPr>
        <p:txBody>
          <a:bodyPr wrap="square" lIns="0" tIns="0" rIns="0" bIns="0" rtlCol="0" anchor="ctr"/>
          <a:lstStyle/>
          <a:p>
            <a:pPr marL="0" indent="0" algn="l">
              <a:buNone/>
            </a:pPr>
            <a:r>
              <a:rPr lang="en-US" sz="2200" b="1" kern="0" spc="1000" dirty="0">
                <a:solidFill>
                  <a:srgbClr val="D4A017"/>
                </a:solidFill>
                <a:latin typeface="Calibri" pitchFamily="34" charset="0"/>
                <a:ea typeface="Calibri" pitchFamily="34" charset="-122"/>
                <a:cs typeface="Calibri" pitchFamily="34" charset="-120"/>
              </a:rPr>
              <a:t>TEMA 9</a:t>
            </a:r>
            <a:endParaRPr lang="en-US" sz="2200" dirty="0"/>
          </a:p>
        </p:txBody>
      </p:sp>
      <p:sp>
        <p:nvSpPr>
          <p:cNvPr id="5" name="Text 2"/>
          <p:cNvSpPr/>
          <p:nvPr/>
        </p:nvSpPr>
        <p:spPr>
          <a:xfrm>
            <a:off x="4114800" y="2560320"/>
            <a:ext cx="7315200" cy="1097280"/>
          </a:xfrm>
          <a:prstGeom prst="rect">
            <a:avLst/>
          </a:prstGeom>
          <a:noFill/>
          <a:ln/>
        </p:spPr>
        <p:txBody>
          <a:bodyPr wrap="square" lIns="0" tIns="0" rIns="0" bIns="0" rtlCol="0" anchor="ctr"/>
          <a:lstStyle/>
          <a:p>
            <a:pPr marL="0" indent="0" algn="l">
              <a:buNone/>
            </a:pPr>
            <a:r>
              <a:rPr lang="en-US" sz="4400" b="1" dirty="0">
                <a:solidFill>
                  <a:srgbClr val="FFFFFF"/>
                </a:solidFill>
                <a:latin typeface="Cambria" pitchFamily="34" charset="0"/>
                <a:ea typeface="Cambria" pitchFamily="34" charset="-122"/>
                <a:cs typeface="Cambria" pitchFamily="34" charset="-120"/>
              </a:rPr>
              <a:t>Documento ERS / SRS</a:t>
            </a:r>
            <a:endParaRPr lang="en-US" sz="4400" dirty="0"/>
          </a:p>
        </p:txBody>
      </p:sp>
      <p:sp>
        <p:nvSpPr>
          <p:cNvPr id="6" name="Text 3"/>
          <p:cNvSpPr/>
          <p:nvPr/>
        </p:nvSpPr>
        <p:spPr>
          <a:xfrm>
            <a:off x="4114800" y="3657600"/>
            <a:ext cx="7315200" cy="548640"/>
          </a:xfrm>
          <a:prstGeom prst="rect">
            <a:avLst/>
          </a:prstGeom>
          <a:noFill/>
          <a:ln/>
        </p:spPr>
        <p:txBody>
          <a:bodyPr wrap="square" lIns="0" tIns="0" rIns="0" bIns="0" rtlCol="0" anchor="ctr"/>
          <a:lstStyle/>
          <a:p>
            <a:pPr marL="0" indent="0" algn="l">
              <a:buNone/>
            </a:pPr>
            <a:r>
              <a:rPr lang="en-US" sz="1700" i="1" dirty="0">
                <a:solidFill>
                  <a:srgbClr val="FFFFFF"/>
                </a:solidFill>
                <a:latin typeface="Calibri" pitchFamily="34" charset="0"/>
                <a:ea typeface="Calibri" pitchFamily="34" charset="-122"/>
                <a:cs typeface="Calibri" pitchFamily="34" charset="-120"/>
              </a:rPr>
              <a:t>Tipos, estructura IEEE 29148, lenguaje natural y combinación con UML</a:t>
            </a:r>
            <a:endParaRPr lang="en-US" sz="1700" dirty="0"/>
          </a:p>
        </p:txBody>
      </p:sp>
      <p:sp>
        <p:nvSpPr>
          <p:cNvPr id="7" name="Text 4"/>
          <p:cNvSpPr/>
          <p:nvPr/>
        </p:nvSpPr>
        <p:spPr>
          <a:xfrm>
            <a:off x="4114800" y="4297680"/>
            <a:ext cx="7315200" cy="457200"/>
          </a:xfrm>
          <a:prstGeom prst="rect">
            <a:avLst/>
          </a:prstGeom>
          <a:noFill/>
          <a:ln/>
        </p:spPr>
        <p:txBody>
          <a:bodyPr wrap="square" lIns="0" tIns="0" rIns="0" bIns="0" rtlCol="0" anchor="ctr"/>
          <a:lstStyle/>
          <a:p>
            <a:pPr marL="0" indent="0" algn="l">
              <a:buNone/>
            </a:pPr>
            <a:r>
              <a:rPr lang="en-US" sz="1400" dirty="0">
                <a:solidFill>
                  <a:srgbClr val="D4A017"/>
                </a:solidFill>
                <a:latin typeface="Calibri" pitchFamily="34" charset="0"/>
                <a:ea typeface="Calibri" pitchFamily="34" charset="-122"/>
                <a:cs typeface="Calibri" pitchFamily="34" charset="-120"/>
              </a:rPr>
              <a:t>Subtemas 9.1 - 9.2 - 9.3 - 9.4</a:t>
            </a:r>
            <a:endParaRPr lang="en-US" sz="1400" dirty="0"/>
          </a:p>
        </p:txBody>
      </p:sp>
      <p:sp>
        <p:nvSpPr>
          <p:cNvPr id="9" name="Shape 5"/>
          <p:cNvSpPr/>
          <p:nvPr/>
        </p:nvSpPr>
        <p:spPr>
          <a:xfrm>
            <a:off x="0" y="0"/>
            <a:ext cx="12161520" cy="384048"/>
          </a:xfrm>
          <a:prstGeom prst="rect">
            <a:avLst/>
          </a:prstGeom>
          <a:solidFill>
            <a:srgbClr val="2C5F2D"/>
          </a:solidFill>
          <a:ln w="12700">
            <a:solidFill>
              <a:srgbClr val="2C5F2D"/>
            </a:solidFill>
            <a:prstDash val="solid"/>
          </a:ln>
        </p:spPr>
      </p:sp>
      <p:sp>
        <p:nvSpPr>
          <p:cNvPr id="10" name="Text 6"/>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11" name="Text 7"/>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Tema 9: Documento ERS/SRS</a:t>
            </a:r>
            <a:endParaRPr lang="en-US" sz="1000" dirty="0"/>
          </a:p>
        </p:txBody>
      </p:sp>
      <p:sp>
        <p:nvSpPr>
          <p:cNvPr id="12" name="Text 8"/>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13" name="Text 9"/>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11 / 30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548640"/>
            <a:ext cx="11247120" cy="640080"/>
          </a:xfrm>
          <a:prstGeom prst="rect">
            <a:avLst/>
          </a:prstGeom>
          <a:noFill/>
          <a:ln/>
        </p:spPr>
        <p:txBody>
          <a:bodyPr wrap="square" lIns="0" tIns="0" rIns="0" bIns="0" rtlCol="0" anchor="t"/>
          <a:lstStyle/>
          <a:p>
            <a:pPr marL="0" indent="0" algn="l">
              <a:buNone/>
            </a:pPr>
            <a:r>
              <a:rPr lang="en-US" sz="3000" b="1" dirty="0">
                <a:solidFill>
                  <a:srgbClr val="1E4D8B"/>
                </a:solidFill>
                <a:latin typeface="Cambria" pitchFamily="34" charset="0"/>
                <a:ea typeface="Cambria" pitchFamily="34" charset="-122"/>
                <a:cs typeface="Cambria" pitchFamily="34" charset="-120"/>
              </a:rPr>
              <a:t>9.1 - Tipos de especificaciones</a:t>
            </a:r>
            <a:endParaRPr lang="en-US" sz="3000" dirty="0"/>
          </a:p>
        </p:txBody>
      </p:sp>
      <p:sp>
        <p:nvSpPr>
          <p:cNvPr id="3" name="Text 1"/>
          <p:cNvSpPr/>
          <p:nvPr/>
        </p:nvSpPr>
        <p:spPr>
          <a:xfrm>
            <a:off x="457200" y="1188720"/>
            <a:ext cx="11247120" cy="365760"/>
          </a:xfrm>
          <a:prstGeom prst="rect">
            <a:avLst/>
          </a:prstGeom>
          <a:noFill/>
          <a:ln/>
        </p:spPr>
        <p:txBody>
          <a:bodyPr wrap="square" lIns="0" tIns="0" rIns="0" bIns="0" rtlCol="0" anchor="t"/>
          <a:lstStyle/>
          <a:p>
            <a:pPr marL="0" indent="0" algn="l">
              <a:buNone/>
            </a:pPr>
            <a:r>
              <a:rPr lang="en-US" sz="1300" i="1" dirty="0">
                <a:solidFill>
                  <a:srgbClr val="475569"/>
                </a:solidFill>
                <a:latin typeface="Calibri" pitchFamily="34" charset="0"/>
                <a:ea typeface="Calibri" pitchFamily="34" charset="-122"/>
                <a:cs typeface="Calibri" pitchFamily="34" charset="-120"/>
              </a:rPr>
              <a:t>Tres niveles jerárquicos según ISO/IEC/IEEE 29148:2018</a:t>
            </a:r>
            <a:endParaRPr lang="en-US" sz="1300" dirty="0"/>
          </a:p>
        </p:txBody>
      </p:sp>
      <p:sp>
        <p:nvSpPr>
          <p:cNvPr id="4" name="Shape 2"/>
          <p:cNvSpPr/>
          <p:nvPr/>
        </p:nvSpPr>
        <p:spPr>
          <a:xfrm>
            <a:off x="388620" y="1828800"/>
            <a:ext cx="3703320" cy="4206240"/>
          </a:xfrm>
          <a:prstGeom prst="roundRect">
            <a:avLst>
              <a:gd name="adj" fmla="val 2469"/>
            </a:avLst>
          </a:prstGeom>
          <a:solidFill>
            <a:srgbClr val="FFFFFF"/>
          </a:solidFill>
          <a:ln w="25400">
            <a:solidFill>
              <a:srgbClr val="2C5F2D"/>
            </a:solidFill>
            <a:prstDash val="solid"/>
          </a:ln>
          <a:effectLst>
            <a:outerShdw blurRad="76200" dist="25400" dir="5400000" algn="bl" rotWithShape="0">
              <a:srgbClr val="000000">
                <a:alpha val="10000"/>
              </a:srgbClr>
            </a:outerShdw>
          </a:effectLst>
        </p:spPr>
      </p:sp>
      <p:sp>
        <p:nvSpPr>
          <p:cNvPr id="5" name="Shape 3"/>
          <p:cNvSpPr/>
          <p:nvPr/>
        </p:nvSpPr>
        <p:spPr>
          <a:xfrm>
            <a:off x="388620" y="1828800"/>
            <a:ext cx="3703320" cy="1371600"/>
          </a:xfrm>
          <a:prstGeom prst="rect">
            <a:avLst/>
          </a:prstGeom>
          <a:solidFill>
            <a:srgbClr val="2C5F2D"/>
          </a:solidFill>
          <a:ln w="12700">
            <a:solidFill>
              <a:srgbClr val="2C5F2D"/>
            </a:solidFill>
            <a:prstDash val="solid"/>
          </a:ln>
        </p:spPr>
      </p:sp>
      <p:sp>
        <p:nvSpPr>
          <p:cNvPr id="6" name="Text 4"/>
          <p:cNvSpPr/>
          <p:nvPr/>
        </p:nvSpPr>
        <p:spPr>
          <a:xfrm>
            <a:off x="388620" y="1920240"/>
            <a:ext cx="3703320" cy="82296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StRS</a:t>
            </a:r>
            <a:endParaRPr lang="en-US" sz="4400" dirty="0"/>
          </a:p>
        </p:txBody>
      </p:sp>
      <p:sp>
        <p:nvSpPr>
          <p:cNvPr id="7" name="Text 5"/>
          <p:cNvSpPr/>
          <p:nvPr/>
        </p:nvSpPr>
        <p:spPr>
          <a:xfrm>
            <a:off x="388620" y="2788920"/>
            <a:ext cx="3703320" cy="320040"/>
          </a:xfrm>
          <a:prstGeom prst="rect">
            <a:avLst/>
          </a:prstGeom>
          <a:noFill/>
          <a:ln/>
        </p:spPr>
        <p:txBody>
          <a:bodyPr wrap="square" lIns="0" tIns="0" rIns="0" bIns="0"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Cláusula 9.4</a:t>
            </a:r>
            <a:endParaRPr lang="en-US" sz="1200" dirty="0"/>
          </a:p>
        </p:txBody>
      </p:sp>
      <p:sp>
        <p:nvSpPr>
          <p:cNvPr id="8" name="Text 6"/>
          <p:cNvSpPr/>
          <p:nvPr/>
        </p:nvSpPr>
        <p:spPr>
          <a:xfrm>
            <a:off x="571500" y="3337560"/>
            <a:ext cx="3337560" cy="594360"/>
          </a:xfrm>
          <a:prstGeom prst="rect">
            <a:avLst/>
          </a:prstGeom>
          <a:noFill/>
          <a:ln/>
        </p:spPr>
        <p:txBody>
          <a:bodyPr wrap="square" lIns="0" tIns="0" rIns="0" bIns="0" rtlCol="0" anchor="t"/>
          <a:lstStyle/>
          <a:p>
            <a:pPr marL="0" indent="0" algn="ctr">
              <a:buNone/>
            </a:pPr>
            <a:r>
              <a:rPr lang="en-US" sz="1300" b="1" dirty="0">
                <a:solidFill>
                  <a:srgbClr val="1E293B"/>
                </a:solidFill>
                <a:latin typeface="Calibri" pitchFamily="34" charset="0"/>
                <a:ea typeface="Calibri" pitchFamily="34" charset="-122"/>
                <a:cs typeface="Calibri" pitchFamily="34" charset="-120"/>
              </a:rPr>
              <a:t>Stakeholder Requirements Specification</a:t>
            </a:r>
            <a:endParaRPr lang="en-US" sz="1300" dirty="0"/>
          </a:p>
        </p:txBody>
      </p:sp>
      <p:sp>
        <p:nvSpPr>
          <p:cNvPr id="9" name="Text 7"/>
          <p:cNvSpPr/>
          <p:nvPr/>
        </p:nvSpPr>
        <p:spPr>
          <a:xfrm>
            <a:off x="571500" y="3931920"/>
            <a:ext cx="3337560" cy="457200"/>
          </a:xfrm>
          <a:prstGeom prst="rect">
            <a:avLst/>
          </a:prstGeom>
          <a:noFill/>
          <a:ln/>
        </p:spPr>
        <p:txBody>
          <a:bodyPr wrap="square" lIns="0" tIns="0" rIns="0" bIns="0" rtlCol="0" anchor="t"/>
          <a:lstStyle/>
          <a:p>
            <a:pPr marL="0" indent="0" algn="ctr">
              <a:buNone/>
            </a:pPr>
            <a:r>
              <a:rPr lang="en-US" sz="1100" i="1" dirty="0">
                <a:solidFill>
                  <a:srgbClr val="475569"/>
                </a:solidFill>
                <a:latin typeface="Calibri" pitchFamily="34" charset="0"/>
                <a:ea typeface="Calibri" pitchFamily="34" charset="-122"/>
                <a:cs typeface="Calibri" pitchFamily="34" charset="-120"/>
              </a:rPr>
              <a:t>Especificación de Requisitos de los Interesados</a:t>
            </a:r>
            <a:endParaRPr lang="en-US" sz="1100" dirty="0"/>
          </a:p>
        </p:txBody>
      </p:sp>
      <p:sp>
        <p:nvSpPr>
          <p:cNvPr id="10" name="Text 8"/>
          <p:cNvSpPr/>
          <p:nvPr/>
        </p:nvSpPr>
        <p:spPr>
          <a:xfrm>
            <a:off x="617220" y="4480560"/>
            <a:ext cx="3246120" cy="822960"/>
          </a:xfrm>
          <a:prstGeom prst="rect">
            <a:avLst/>
          </a:prstGeom>
          <a:noFill/>
          <a:ln/>
        </p:spPr>
        <p:txBody>
          <a:bodyPr wrap="square" lIns="0" tIns="0" rIns="0" bIns="0" rtlCol="0" anchor="t"/>
          <a:lstStyle/>
          <a:p>
            <a:pPr marL="0" indent="0" algn="l">
              <a:buNone/>
            </a:pPr>
            <a:r>
              <a:rPr lang="en-US" sz="1200" dirty="0">
                <a:solidFill>
                  <a:srgbClr val="1E293B"/>
                </a:solidFill>
                <a:latin typeface="Calibri" pitchFamily="34" charset="0"/>
                <a:ea typeface="Calibri" pitchFamily="34" charset="-122"/>
                <a:cs typeface="Calibri" pitchFamily="34" charset="-120"/>
              </a:rPr>
              <a:t>Vista de negocio: necesidades del interesado en su lenguaje.</a:t>
            </a:r>
            <a:endParaRPr lang="en-US" sz="1200" dirty="0"/>
          </a:p>
        </p:txBody>
      </p:sp>
      <p:sp>
        <p:nvSpPr>
          <p:cNvPr id="11" name="Text 9"/>
          <p:cNvSpPr/>
          <p:nvPr/>
        </p:nvSpPr>
        <p:spPr>
          <a:xfrm>
            <a:off x="617220" y="5394960"/>
            <a:ext cx="3246120" cy="548640"/>
          </a:xfrm>
          <a:prstGeom prst="rect">
            <a:avLst/>
          </a:prstGeom>
          <a:noFill/>
          <a:ln/>
        </p:spPr>
        <p:txBody>
          <a:bodyPr wrap="square" lIns="0" tIns="0" rIns="0" bIns="0" rtlCol="0" anchor="t"/>
          <a:lstStyle/>
          <a:p>
            <a:pPr marL="0" indent="0" algn="l">
              <a:buNone/>
            </a:pPr>
            <a:r>
              <a:rPr lang="en-US" sz="1100" b="1" dirty="0">
                <a:solidFill>
                  <a:srgbClr val="1E4D8B"/>
                </a:solidFill>
                <a:latin typeface="Calibri" pitchFamily="34" charset="0"/>
                <a:ea typeface="Calibri" pitchFamily="34" charset="-122"/>
                <a:cs typeface="Calibri" pitchFamily="34" charset="-120"/>
              </a:rPr>
              <a:t>Audiencia: </a:t>
            </a:r>
            <a:r>
              <a:rPr lang="en-US" sz="1100" dirty="0">
                <a:solidFill>
                  <a:srgbClr val="1E293B"/>
                </a:solidFill>
                <a:latin typeface="Calibri" pitchFamily="34" charset="0"/>
                <a:ea typeface="Calibri" pitchFamily="34" charset="-122"/>
                <a:cs typeface="Calibri" pitchFamily="34" charset="-120"/>
              </a:rPr>
              <a:t>Cliente, usuarios, gerencia.</a:t>
            </a:r>
            <a:endParaRPr lang="en-US" sz="1100" dirty="0"/>
          </a:p>
        </p:txBody>
      </p:sp>
      <p:sp>
        <p:nvSpPr>
          <p:cNvPr id="12" name="Shape 10"/>
          <p:cNvSpPr/>
          <p:nvPr/>
        </p:nvSpPr>
        <p:spPr>
          <a:xfrm>
            <a:off x="4229100" y="1828800"/>
            <a:ext cx="3703320" cy="4206240"/>
          </a:xfrm>
          <a:prstGeom prst="roundRect">
            <a:avLst>
              <a:gd name="adj" fmla="val 2469"/>
            </a:avLst>
          </a:prstGeom>
          <a:solidFill>
            <a:srgbClr val="FFFFFF"/>
          </a:solidFill>
          <a:ln w="25400">
            <a:solidFill>
              <a:srgbClr val="1E4D8B"/>
            </a:solidFill>
            <a:prstDash val="solid"/>
          </a:ln>
          <a:effectLst>
            <a:outerShdw blurRad="76200" dist="25400" dir="5400000" algn="bl" rotWithShape="0">
              <a:srgbClr val="000000">
                <a:alpha val="10000"/>
              </a:srgbClr>
            </a:outerShdw>
          </a:effectLst>
        </p:spPr>
      </p:sp>
      <p:sp>
        <p:nvSpPr>
          <p:cNvPr id="13" name="Shape 11"/>
          <p:cNvSpPr/>
          <p:nvPr/>
        </p:nvSpPr>
        <p:spPr>
          <a:xfrm>
            <a:off x="4229100" y="1828800"/>
            <a:ext cx="3703320" cy="1371600"/>
          </a:xfrm>
          <a:prstGeom prst="rect">
            <a:avLst/>
          </a:prstGeom>
          <a:solidFill>
            <a:srgbClr val="1E4D8B"/>
          </a:solidFill>
          <a:ln w="12700">
            <a:solidFill>
              <a:srgbClr val="1E4D8B"/>
            </a:solidFill>
            <a:prstDash val="solid"/>
          </a:ln>
        </p:spPr>
      </p:sp>
      <p:sp>
        <p:nvSpPr>
          <p:cNvPr id="14" name="Text 12"/>
          <p:cNvSpPr/>
          <p:nvPr/>
        </p:nvSpPr>
        <p:spPr>
          <a:xfrm>
            <a:off x="4229100" y="1920240"/>
            <a:ext cx="3703320" cy="82296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SyRS</a:t>
            </a:r>
            <a:endParaRPr lang="en-US" sz="4400" dirty="0"/>
          </a:p>
        </p:txBody>
      </p:sp>
      <p:sp>
        <p:nvSpPr>
          <p:cNvPr id="15" name="Text 13"/>
          <p:cNvSpPr/>
          <p:nvPr/>
        </p:nvSpPr>
        <p:spPr>
          <a:xfrm>
            <a:off x="4229100" y="2788920"/>
            <a:ext cx="3703320" cy="320040"/>
          </a:xfrm>
          <a:prstGeom prst="rect">
            <a:avLst/>
          </a:prstGeom>
          <a:noFill/>
          <a:ln/>
        </p:spPr>
        <p:txBody>
          <a:bodyPr wrap="square" lIns="0" tIns="0" rIns="0" bIns="0"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Cláusula 9.5</a:t>
            </a:r>
            <a:endParaRPr lang="en-US" sz="1200" dirty="0"/>
          </a:p>
        </p:txBody>
      </p:sp>
      <p:sp>
        <p:nvSpPr>
          <p:cNvPr id="16" name="Text 14"/>
          <p:cNvSpPr/>
          <p:nvPr/>
        </p:nvSpPr>
        <p:spPr>
          <a:xfrm>
            <a:off x="4411980" y="3337560"/>
            <a:ext cx="3337560" cy="594360"/>
          </a:xfrm>
          <a:prstGeom prst="rect">
            <a:avLst/>
          </a:prstGeom>
          <a:noFill/>
          <a:ln/>
        </p:spPr>
        <p:txBody>
          <a:bodyPr wrap="square" lIns="0" tIns="0" rIns="0" bIns="0" rtlCol="0" anchor="t"/>
          <a:lstStyle/>
          <a:p>
            <a:pPr marL="0" indent="0" algn="ctr">
              <a:buNone/>
            </a:pPr>
            <a:r>
              <a:rPr lang="en-US" sz="1300" b="1" dirty="0">
                <a:solidFill>
                  <a:srgbClr val="1E293B"/>
                </a:solidFill>
                <a:latin typeface="Calibri" pitchFamily="34" charset="0"/>
                <a:ea typeface="Calibri" pitchFamily="34" charset="-122"/>
                <a:cs typeface="Calibri" pitchFamily="34" charset="-120"/>
              </a:rPr>
              <a:t>System Requirements Specification</a:t>
            </a:r>
            <a:endParaRPr lang="en-US" sz="1300" dirty="0"/>
          </a:p>
        </p:txBody>
      </p:sp>
      <p:sp>
        <p:nvSpPr>
          <p:cNvPr id="17" name="Text 15"/>
          <p:cNvSpPr/>
          <p:nvPr/>
        </p:nvSpPr>
        <p:spPr>
          <a:xfrm>
            <a:off x="4411980" y="3931920"/>
            <a:ext cx="3337560" cy="457200"/>
          </a:xfrm>
          <a:prstGeom prst="rect">
            <a:avLst/>
          </a:prstGeom>
          <a:noFill/>
          <a:ln/>
        </p:spPr>
        <p:txBody>
          <a:bodyPr wrap="square" lIns="0" tIns="0" rIns="0" bIns="0" rtlCol="0" anchor="t"/>
          <a:lstStyle/>
          <a:p>
            <a:pPr marL="0" indent="0" algn="ctr">
              <a:buNone/>
            </a:pPr>
            <a:r>
              <a:rPr lang="en-US" sz="1100" i="1" dirty="0">
                <a:solidFill>
                  <a:srgbClr val="475569"/>
                </a:solidFill>
                <a:latin typeface="Calibri" pitchFamily="34" charset="0"/>
                <a:ea typeface="Calibri" pitchFamily="34" charset="-122"/>
                <a:cs typeface="Calibri" pitchFamily="34" charset="-120"/>
              </a:rPr>
              <a:t>Especificación de Requisitos del Sistema</a:t>
            </a:r>
            <a:endParaRPr lang="en-US" sz="1100" dirty="0"/>
          </a:p>
        </p:txBody>
      </p:sp>
      <p:sp>
        <p:nvSpPr>
          <p:cNvPr id="18" name="Text 16"/>
          <p:cNvSpPr/>
          <p:nvPr/>
        </p:nvSpPr>
        <p:spPr>
          <a:xfrm>
            <a:off x="4457700" y="4480560"/>
            <a:ext cx="3246120" cy="822960"/>
          </a:xfrm>
          <a:prstGeom prst="rect">
            <a:avLst/>
          </a:prstGeom>
          <a:noFill/>
          <a:ln/>
        </p:spPr>
        <p:txBody>
          <a:bodyPr wrap="square" lIns="0" tIns="0" rIns="0" bIns="0" rtlCol="0" anchor="t"/>
          <a:lstStyle/>
          <a:p>
            <a:pPr marL="0" indent="0" algn="l">
              <a:buNone/>
            </a:pPr>
            <a:r>
              <a:rPr lang="en-US" sz="1200" dirty="0">
                <a:solidFill>
                  <a:srgbClr val="1E293B"/>
                </a:solidFill>
                <a:latin typeface="Calibri" pitchFamily="34" charset="0"/>
                <a:ea typeface="Calibri" pitchFamily="34" charset="-122"/>
                <a:cs typeface="Calibri" pitchFamily="34" charset="-120"/>
              </a:rPr>
              <a:t>Vista del sistema global (software + hardware + humano).</a:t>
            </a:r>
            <a:endParaRPr lang="en-US" sz="1200" dirty="0"/>
          </a:p>
        </p:txBody>
      </p:sp>
      <p:sp>
        <p:nvSpPr>
          <p:cNvPr id="19" name="Text 17"/>
          <p:cNvSpPr/>
          <p:nvPr/>
        </p:nvSpPr>
        <p:spPr>
          <a:xfrm>
            <a:off x="4457700" y="5394960"/>
            <a:ext cx="3246120" cy="548640"/>
          </a:xfrm>
          <a:prstGeom prst="rect">
            <a:avLst/>
          </a:prstGeom>
          <a:noFill/>
          <a:ln/>
        </p:spPr>
        <p:txBody>
          <a:bodyPr wrap="square" lIns="0" tIns="0" rIns="0" bIns="0" rtlCol="0" anchor="t"/>
          <a:lstStyle/>
          <a:p>
            <a:pPr marL="0" indent="0" algn="l">
              <a:buNone/>
            </a:pPr>
            <a:r>
              <a:rPr lang="en-US" sz="1100" b="1" dirty="0">
                <a:solidFill>
                  <a:srgbClr val="1E4D8B"/>
                </a:solidFill>
                <a:latin typeface="Calibri" pitchFamily="34" charset="0"/>
                <a:ea typeface="Calibri" pitchFamily="34" charset="-122"/>
                <a:cs typeface="Calibri" pitchFamily="34" charset="-120"/>
              </a:rPr>
              <a:t>Audiencia: </a:t>
            </a:r>
            <a:r>
              <a:rPr lang="en-US" sz="1100" dirty="0">
                <a:solidFill>
                  <a:srgbClr val="1E293B"/>
                </a:solidFill>
                <a:latin typeface="Calibri" pitchFamily="34" charset="0"/>
                <a:ea typeface="Calibri" pitchFamily="34" charset="-122"/>
                <a:cs typeface="Calibri" pitchFamily="34" charset="-120"/>
              </a:rPr>
              <a:t>Arquitecto de sistemas.</a:t>
            </a:r>
            <a:endParaRPr lang="en-US" sz="1100" dirty="0"/>
          </a:p>
        </p:txBody>
      </p:sp>
      <p:sp>
        <p:nvSpPr>
          <p:cNvPr id="20" name="Shape 18"/>
          <p:cNvSpPr/>
          <p:nvPr/>
        </p:nvSpPr>
        <p:spPr>
          <a:xfrm>
            <a:off x="8069580" y="1828800"/>
            <a:ext cx="3703320" cy="4206240"/>
          </a:xfrm>
          <a:prstGeom prst="roundRect">
            <a:avLst>
              <a:gd name="adj" fmla="val 2469"/>
            </a:avLst>
          </a:prstGeom>
          <a:solidFill>
            <a:srgbClr val="FFFFFF"/>
          </a:solidFill>
          <a:ln w="25400">
            <a:solidFill>
              <a:srgbClr val="D4A017"/>
            </a:solidFill>
            <a:prstDash val="solid"/>
          </a:ln>
          <a:effectLst>
            <a:outerShdw blurRad="76200" dist="25400" dir="5400000" algn="bl" rotWithShape="0">
              <a:srgbClr val="000000">
                <a:alpha val="10000"/>
              </a:srgbClr>
            </a:outerShdw>
          </a:effectLst>
        </p:spPr>
      </p:sp>
      <p:sp>
        <p:nvSpPr>
          <p:cNvPr id="21" name="Shape 19"/>
          <p:cNvSpPr/>
          <p:nvPr/>
        </p:nvSpPr>
        <p:spPr>
          <a:xfrm>
            <a:off x="8069580" y="1828800"/>
            <a:ext cx="3703320" cy="1371600"/>
          </a:xfrm>
          <a:prstGeom prst="rect">
            <a:avLst/>
          </a:prstGeom>
          <a:solidFill>
            <a:srgbClr val="D4A017"/>
          </a:solidFill>
          <a:ln w="12700">
            <a:solidFill>
              <a:srgbClr val="D4A017"/>
            </a:solidFill>
            <a:prstDash val="solid"/>
          </a:ln>
        </p:spPr>
      </p:sp>
      <p:sp>
        <p:nvSpPr>
          <p:cNvPr id="22" name="Text 20"/>
          <p:cNvSpPr/>
          <p:nvPr/>
        </p:nvSpPr>
        <p:spPr>
          <a:xfrm>
            <a:off x="8069580" y="1920240"/>
            <a:ext cx="3703320" cy="82296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SRS</a:t>
            </a:r>
            <a:endParaRPr lang="en-US" sz="4400" dirty="0"/>
          </a:p>
        </p:txBody>
      </p:sp>
      <p:sp>
        <p:nvSpPr>
          <p:cNvPr id="23" name="Text 21"/>
          <p:cNvSpPr/>
          <p:nvPr/>
        </p:nvSpPr>
        <p:spPr>
          <a:xfrm>
            <a:off x="8069580" y="2788920"/>
            <a:ext cx="3703320" cy="320040"/>
          </a:xfrm>
          <a:prstGeom prst="rect">
            <a:avLst/>
          </a:prstGeom>
          <a:noFill/>
          <a:ln/>
        </p:spPr>
        <p:txBody>
          <a:bodyPr wrap="square" lIns="0" tIns="0" rIns="0" bIns="0"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Cláusula 9.6</a:t>
            </a:r>
            <a:endParaRPr lang="en-US" sz="1200" dirty="0"/>
          </a:p>
        </p:txBody>
      </p:sp>
      <p:sp>
        <p:nvSpPr>
          <p:cNvPr id="24" name="Text 22"/>
          <p:cNvSpPr/>
          <p:nvPr/>
        </p:nvSpPr>
        <p:spPr>
          <a:xfrm>
            <a:off x="8252460" y="3337560"/>
            <a:ext cx="3337560" cy="594360"/>
          </a:xfrm>
          <a:prstGeom prst="rect">
            <a:avLst/>
          </a:prstGeom>
          <a:noFill/>
          <a:ln/>
        </p:spPr>
        <p:txBody>
          <a:bodyPr wrap="square" lIns="0" tIns="0" rIns="0" bIns="0" rtlCol="0" anchor="t"/>
          <a:lstStyle/>
          <a:p>
            <a:pPr marL="0" indent="0" algn="ctr">
              <a:buNone/>
            </a:pPr>
            <a:r>
              <a:rPr lang="en-US" sz="1300" b="1" dirty="0">
                <a:solidFill>
                  <a:srgbClr val="1E293B"/>
                </a:solidFill>
                <a:latin typeface="Calibri" pitchFamily="34" charset="0"/>
                <a:ea typeface="Calibri" pitchFamily="34" charset="-122"/>
                <a:cs typeface="Calibri" pitchFamily="34" charset="-120"/>
              </a:rPr>
              <a:t>Software Requirements Specification</a:t>
            </a:r>
            <a:endParaRPr lang="en-US" sz="1300" dirty="0"/>
          </a:p>
        </p:txBody>
      </p:sp>
      <p:sp>
        <p:nvSpPr>
          <p:cNvPr id="25" name="Text 23"/>
          <p:cNvSpPr/>
          <p:nvPr/>
        </p:nvSpPr>
        <p:spPr>
          <a:xfrm>
            <a:off x="8252460" y="3931920"/>
            <a:ext cx="3337560" cy="457200"/>
          </a:xfrm>
          <a:prstGeom prst="rect">
            <a:avLst/>
          </a:prstGeom>
          <a:noFill/>
          <a:ln/>
        </p:spPr>
        <p:txBody>
          <a:bodyPr wrap="square" lIns="0" tIns="0" rIns="0" bIns="0" rtlCol="0" anchor="t"/>
          <a:lstStyle/>
          <a:p>
            <a:pPr marL="0" indent="0" algn="ctr">
              <a:buNone/>
            </a:pPr>
            <a:r>
              <a:rPr lang="en-US" sz="1100" i="1" dirty="0">
                <a:solidFill>
                  <a:srgbClr val="475569"/>
                </a:solidFill>
                <a:latin typeface="Calibri" pitchFamily="34" charset="0"/>
                <a:ea typeface="Calibri" pitchFamily="34" charset="-122"/>
                <a:cs typeface="Calibri" pitchFamily="34" charset="-120"/>
              </a:rPr>
              <a:t>Especificación de Requisitos de Software</a:t>
            </a:r>
            <a:endParaRPr lang="en-US" sz="1100" dirty="0"/>
          </a:p>
        </p:txBody>
      </p:sp>
      <p:sp>
        <p:nvSpPr>
          <p:cNvPr id="26" name="Text 24"/>
          <p:cNvSpPr/>
          <p:nvPr/>
        </p:nvSpPr>
        <p:spPr>
          <a:xfrm>
            <a:off x="8298180" y="4480560"/>
            <a:ext cx="3246120" cy="822960"/>
          </a:xfrm>
          <a:prstGeom prst="rect">
            <a:avLst/>
          </a:prstGeom>
          <a:noFill/>
          <a:ln/>
        </p:spPr>
        <p:txBody>
          <a:bodyPr wrap="square" lIns="0" tIns="0" rIns="0" bIns="0" rtlCol="0" anchor="t"/>
          <a:lstStyle/>
          <a:p>
            <a:pPr marL="0" indent="0" algn="l">
              <a:buNone/>
            </a:pPr>
            <a:r>
              <a:rPr lang="en-US" sz="1200" dirty="0">
                <a:solidFill>
                  <a:srgbClr val="1E293B"/>
                </a:solidFill>
                <a:latin typeface="Calibri" pitchFamily="34" charset="0"/>
                <a:ea typeface="Calibri" pitchFamily="34" charset="-122"/>
                <a:cs typeface="Calibri" pitchFamily="34" charset="-120"/>
              </a:rPr>
              <a:t>Vista de la porción software del sistema.</a:t>
            </a:r>
            <a:endParaRPr lang="en-US" sz="1200" dirty="0"/>
          </a:p>
        </p:txBody>
      </p:sp>
      <p:sp>
        <p:nvSpPr>
          <p:cNvPr id="27" name="Text 25"/>
          <p:cNvSpPr/>
          <p:nvPr/>
        </p:nvSpPr>
        <p:spPr>
          <a:xfrm>
            <a:off x="8298180" y="5394960"/>
            <a:ext cx="3246120" cy="548640"/>
          </a:xfrm>
          <a:prstGeom prst="rect">
            <a:avLst/>
          </a:prstGeom>
          <a:noFill/>
          <a:ln/>
        </p:spPr>
        <p:txBody>
          <a:bodyPr wrap="square" lIns="0" tIns="0" rIns="0" bIns="0" rtlCol="0" anchor="t"/>
          <a:lstStyle/>
          <a:p>
            <a:pPr marL="0" indent="0" algn="l">
              <a:buNone/>
            </a:pPr>
            <a:r>
              <a:rPr lang="en-US" sz="1100" b="1" dirty="0">
                <a:solidFill>
                  <a:srgbClr val="1E4D8B"/>
                </a:solidFill>
                <a:latin typeface="Calibri" pitchFamily="34" charset="0"/>
                <a:ea typeface="Calibri" pitchFamily="34" charset="-122"/>
                <a:cs typeface="Calibri" pitchFamily="34" charset="-120"/>
              </a:rPr>
              <a:t>Audiencia: </a:t>
            </a:r>
            <a:r>
              <a:rPr lang="en-US" sz="1100" dirty="0">
                <a:solidFill>
                  <a:srgbClr val="1E293B"/>
                </a:solidFill>
                <a:latin typeface="Calibri" pitchFamily="34" charset="0"/>
                <a:ea typeface="Calibri" pitchFamily="34" charset="-122"/>
                <a:cs typeface="Calibri" pitchFamily="34" charset="-120"/>
              </a:rPr>
              <a:t>Equipo de desarrollo y de pruebas.</a:t>
            </a:r>
            <a:endParaRPr lang="en-US" sz="1100" dirty="0"/>
          </a:p>
        </p:txBody>
      </p:sp>
      <p:sp>
        <p:nvSpPr>
          <p:cNvPr id="28" name="Text 26"/>
          <p:cNvSpPr/>
          <p:nvPr/>
        </p:nvSpPr>
        <p:spPr>
          <a:xfrm>
            <a:off x="457200" y="6172200"/>
            <a:ext cx="11247120" cy="365760"/>
          </a:xfrm>
          <a:prstGeom prst="rect">
            <a:avLst/>
          </a:prstGeom>
          <a:noFill/>
          <a:ln/>
        </p:spPr>
        <p:txBody>
          <a:bodyPr wrap="square" lIns="0" tIns="0" rIns="0" bIns="0" rtlCol="0" anchor="ctr"/>
          <a:lstStyle/>
          <a:p>
            <a:pPr marL="0" indent="0" algn="ctr">
              <a:buNone/>
            </a:pPr>
            <a:r>
              <a:rPr lang="en-US" sz="1400" b="1" i="1" dirty="0">
                <a:solidFill>
                  <a:srgbClr val="1E4D8B"/>
                </a:solidFill>
                <a:latin typeface="Calibri" pitchFamily="34" charset="0"/>
                <a:ea typeface="Calibri" pitchFamily="34" charset="-122"/>
                <a:cs typeface="Calibri" pitchFamily="34" charset="-120"/>
              </a:rPr>
              <a:t>St RS  -&gt;  SyRS  -&gt;  SRS      (jerarquía de refinamiento)</a:t>
            </a:r>
            <a:endParaRPr lang="en-US" sz="1400" dirty="0"/>
          </a:p>
        </p:txBody>
      </p:sp>
      <p:sp>
        <p:nvSpPr>
          <p:cNvPr id="30" name="Shape 27"/>
          <p:cNvSpPr/>
          <p:nvPr/>
        </p:nvSpPr>
        <p:spPr>
          <a:xfrm>
            <a:off x="0" y="0"/>
            <a:ext cx="12161520" cy="384048"/>
          </a:xfrm>
          <a:prstGeom prst="rect">
            <a:avLst/>
          </a:prstGeom>
          <a:solidFill>
            <a:srgbClr val="2C5F2D"/>
          </a:solidFill>
          <a:ln w="12700">
            <a:solidFill>
              <a:srgbClr val="2C5F2D"/>
            </a:solidFill>
            <a:prstDash val="solid"/>
          </a:ln>
        </p:spPr>
      </p:sp>
      <p:sp>
        <p:nvSpPr>
          <p:cNvPr id="31" name="Text 28"/>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32" name="Text 29"/>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9.1 Tipos de especificaciones</a:t>
            </a:r>
            <a:endParaRPr lang="en-US" sz="1000" dirty="0"/>
          </a:p>
        </p:txBody>
      </p:sp>
      <p:sp>
        <p:nvSpPr>
          <p:cNvPr id="33" name="Text 30"/>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34" name="Text 31"/>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12 / 30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548640"/>
            <a:ext cx="11247120" cy="640080"/>
          </a:xfrm>
          <a:prstGeom prst="rect">
            <a:avLst/>
          </a:prstGeom>
          <a:noFill/>
          <a:ln/>
        </p:spPr>
        <p:txBody>
          <a:bodyPr wrap="square" lIns="0" tIns="0" rIns="0" bIns="0" rtlCol="0" anchor="t"/>
          <a:lstStyle/>
          <a:p>
            <a:pPr marL="0" indent="0" algn="l">
              <a:buNone/>
            </a:pPr>
            <a:r>
              <a:rPr lang="en-US" sz="3000" b="1" dirty="0">
                <a:solidFill>
                  <a:srgbClr val="1E4D8B"/>
                </a:solidFill>
                <a:latin typeface="Cambria" pitchFamily="34" charset="0"/>
                <a:ea typeface="Cambria" pitchFamily="34" charset="-122"/>
                <a:cs typeface="Cambria" pitchFamily="34" charset="-120"/>
              </a:rPr>
              <a:t>9.2 - Estructura del SRS según IEEE 29148:2018 (I)</a:t>
            </a:r>
            <a:endParaRPr lang="en-US" sz="3000" dirty="0"/>
          </a:p>
        </p:txBody>
      </p:sp>
      <p:sp>
        <p:nvSpPr>
          <p:cNvPr id="3" name="Text 1"/>
          <p:cNvSpPr/>
          <p:nvPr/>
        </p:nvSpPr>
        <p:spPr>
          <a:xfrm>
            <a:off x="457200" y="1188720"/>
            <a:ext cx="11247120" cy="365760"/>
          </a:xfrm>
          <a:prstGeom prst="rect">
            <a:avLst/>
          </a:prstGeom>
          <a:noFill/>
          <a:ln/>
        </p:spPr>
        <p:txBody>
          <a:bodyPr wrap="square" lIns="0" tIns="0" rIns="0" bIns="0" rtlCol="0" anchor="t"/>
          <a:lstStyle/>
          <a:p>
            <a:pPr marL="0" indent="0" algn="l">
              <a:buNone/>
            </a:pPr>
            <a:r>
              <a:rPr lang="en-US" sz="1300" i="1" dirty="0">
                <a:solidFill>
                  <a:srgbClr val="475569"/>
                </a:solidFill>
                <a:latin typeface="Calibri" pitchFamily="34" charset="0"/>
                <a:ea typeface="Calibri" pitchFamily="34" charset="-122"/>
                <a:cs typeface="Calibri" pitchFamily="34" charset="-120"/>
              </a:rPr>
              <a:t>Cláusula 9.6 - cláusulas iniciales del documento</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47120" cy="3840480"/>
        </p:xfrm>
        <a:graphic>
          <a:graphicData uri="http://schemas.openxmlformats.org/drawingml/2006/table">
            <a:tbl>
              <a:tblPr/>
              <a:tblGrid>
                <a:gridCol w="15544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6400800">
                  <a:extLst>
                    <a:ext uri="{9D8B030D-6E8A-4147-A177-3AD203B41FA5}">
                      <a16:colId xmlns:a16="http://schemas.microsoft.com/office/drawing/2014/main" val="20002"/>
                    </a:ext>
                  </a:extLst>
                </a:gridCol>
              </a:tblGrid>
              <a:tr h="384048">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N. cláusula</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4D8B"/>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Titulo original</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4D8B"/>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Contenido esperado</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4D8B"/>
                    </a:solidFill>
                  </a:tcPr>
                </a:tc>
                <a:extLst>
                  <a:ext uri="{0D108BD9-81ED-4DB2-BD59-A6C34878D82A}">
                    <a16:rowId xmlns:a16="http://schemas.microsoft.com/office/drawing/2014/main" val="10000"/>
                  </a:ext>
                </a:extLst>
              </a:tr>
              <a:tr h="384048">
                <a:tc>
                  <a:txBody>
                    <a:bodyPr/>
                    <a:lstStyle/>
                    <a:p>
                      <a:pPr marL="0" indent="0" algn="ctr">
                        <a:buNone/>
                      </a:pPr>
                      <a:r>
                        <a:rPr lang="en-US" sz="1100" b="1" dirty="0">
                          <a:solidFill>
                            <a:srgbClr val="2C5F2D"/>
                          </a:solidFill>
                          <a:latin typeface="Calibri" pitchFamily="34" charset="0"/>
                          <a:ea typeface="Calibri" pitchFamily="34" charset="-122"/>
                          <a:cs typeface="Calibri" pitchFamily="34" charset="-120"/>
                        </a:rPr>
                        <a:t>9.6.1</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SRS overview</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100" dirty="0">
                          <a:solidFill>
                            <a:srgbClr val="475569"/>
                          </a:solidFill>
                          <a:latin typeface="Calibri" pitchFamily="34" charset="0"/>
                          <a:ea typeface="Calibri" pitchFamily="34" charset="-122"/>
                          <a:cs typeface="Calibri" pitchFamily="34" charset="-120"/>
                        </a:rPr>
                        <a:t>Descripción general del propósito del documento.</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84048">
                <a:tc>
                  <a:txBody>
                    <a:bodyPr/>
                    <a:lstStyle/>
                    <a:p>
                      <a:pPr marL="0" indent="0" algn="ctr">
                        <a:buNone/>
                      </a:pPr>
                      <a:r>
                        <a:rPr lang="en-US" sz="1100" b="1" dirty="0">
                          <a:solidFill>
                            <a:srgbClr val="2C5F2D"/>
                          </a:solidFill>
                          <a:latin typeface="Calibri" pitchFamily="34" charset="0"/>
                          <a:ea typeface="Calibri" pitchFamily="34" charset="-122"/>
                          <a:cs typeface="Calibri" pitchFamily="34" charset="-120"/>
                        </a:rPr>
                        <a:t>9.6.2</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Purpose</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75569"/>
                          </a:solidFill>
                          <a:latin typeface="Calibri" pitchFamily="34" charset="0"/>
                          <a:ea typeface="Calibri" pitchFamily="34" charset="-122"/>
                          <a:cs typeface="Calibri" pitchFamily="34" charset="-120"/>
                        </a:rPr>
                        <a:t>Propósito del software: por qué existe.</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lang="en-US" sz="1100" b="1" dirty="0">
                          <a:solidFill>
                            <a:srgbClr val="2C5F2D"/>
                          </a:solidFill>
                          <a:latin typeface="Calibri" pitchFamily="34" charset="0"/>
                          <a:ea typeface="Calibri" pitchFamily="34" charset="-122"/>
                          <a:cs typeface="Calibri" pitchFamily="34" charset="-120"/>
                        </a:rPr>
                        <a:t>9.6.3</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Scope</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100" dirty="0">
                          <a:solidFill>
                            <a:srgbClr val="475569"/>
                          </a:solidFill>
                          <a:latin typeface="Calibri" pitchFamily="34" charset="0"/>
                          <a:ea typeface="Calibri" pitchFamily="34" charset="-122"/>
                          <a:cs typeface="Calibri" pitchFamily="34" charset="-120"/>
                        </a:rPr>
                        <a:t>Alcance: qué hará y qué no hará el software.</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384048">
                <a:tc>
                  <a:txBody>
                    <a:bodyPr/>
                    <a:lstStyle/>
                    <a:p>
                      <a:pPr marL="0" indent="0" algn="ctr">
                        <a:buNone/>
                      </a:pPr>
                      <a:r>
                        <a:rPr lang="en-US" sz="1100" b="1" dirty="0">
                          <a:solidFill>
                            <a:srgbClr val="2C5F2D"/>
                          </a:solidFill>
                          <a:latin typeface="Calibri" pitchFamily="34" charset="0"/>
                          <a:ea typeface="Calibri" pitchFamily="34" charset="-122"/>
                          <a:cs typeface="Calibri" pitchFamily="34" charset="-120"/>
                        </a:rPr>
                        <a:t>9.6.4</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Product perspective</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75569"/>
                          </a:solidFill>
                          <a:latin typeface="Calibri" pitchFamily="34" charset="0"/>
                          <a:ea typeface="Calibri" pitchFamily="34" charset="-122"/>
                          <a:cs typeface="Calibri" pitchFamily="34" charset="-120"/>
                        </a:rPr>
                        <a:t>Relación con sistemas y productos vecinos; interfaces externas.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lgn="ctr">
                        <a:buNone/>
                      </a:pPr>
                      <a:r>
                        <a:rPr lang="en-US" sz="1100" b="1" dirty="0">
                          <a:solidFill>
                            <a:srgbClr val="2C5F2D"/>
                          </a:solidFill>
                          <a:latin typeface="Calibri" pitchFamily="34" charset="0"/>
                          <a:ea typeface="Calibri" pitchFamily="34" charset="-122"/>
                          <a:cs typeface="Calibri" pitchFamily="34" charset="-120"/>
                        </a:rPr>
                        <a:t>9.6.5</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Product functions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100" dirty="0">
                          <a:solidFill>
                            <a:srgbClr val="475569"/>
                          </a:solidFill>
                          <a:latin typeface="Calibri" pitchFamily="34" charset="0"/>
                          <a:ea typeface="Calibri" pitchFamily="34" charset="-122"/>
                          <a:cs typeface="Calibri" pitchFamily="34" charset="-120"/>
                        </a:rPr>
                        <a:t>Resumen ejecutivo de las funciónes principales.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r h="384048">
                <a:tc>
                  <a:txBody>
                    <a:bodyPr/>
                    <a:lstStyle/>
                    <a:p>
                      <a:pPr marL="0" indent="0" algn="ctr">
                        <a:buNone/>
                      </a:pPr>
                      <a:r>
                        <a:rPr lang="en-US" sz="1100" b="1" dirty="0">
                          <a:solidFill>
                            <a:srgbClr val="2C5F2D"/>
                          </a:solidFill>
                          <a:latin typeface="Calibri" pitchFamily="34" charset="0"/>
                          <a:ea typeface="Calibri" pitchFamily="34" charset="-122"/>
                          <a:cs typeface="Calibri" pitchFamily="34" charset="-120"/>
                        </a:rPr>
                        <a:t>9.6.6</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User characteristics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75569"/>
                          </a:solidFill>
                          <a:latin typeface="Calibri" pitchFamily="34" charset="0"/>
                          <a:ea typeface="Calibri" pitchFamily="34" charset="-122"/>
                          <a:cs typeface="Calibri" pitchFamily="34" charset="-120"/>
                        </a:rPr>
                        <a:t>Perfil de los usuarios: educación, experiencia, discapacidades.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lgn="ctr">
                        <a:buNone/>
                      </a:pPr>
                      <a:r>
                        <a:rPr lang="en-US" sz="1100" b="1" dirty="0">
                          <a:solidFill>
                            <a:srgbClr val="2C5F2D"/>
                          </a:solidFill>
                          <a:latin typeface="Calibri" pitchFamily="34" charset="0"/>
                          <a:ea typeface="Calibri" pitchFamily="34" charset="-122"/>
                          <a:cs typeface="Calibri" pitchFamily="34" charset="-120"/>
                        </a:rPr>
                        <a:t>9.6.7</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Limitations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100" dirty="0">
                          <a:solidFill>
                            <a:srgbClr val="475569"/>
                          </a:solidFill>
                          <a:latin typeface="Calibri" pitchFamily="34" charset="0"/>
                          <a:ea typeface="Calibri" pitchFamily="34" charset="-122"/>
                          <a:cs typeface="Calibri" pitchFamily="34" charset="-120"/>
                        </a:rPr>
                        <a:t>Restricciones regulatorias, de hardware, de calidad, de criticidad.</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7"/>
                  </a:ext>
                </a:extLst>
              </a:tr>
              <a:tr h="384048">
                <a:tc>
                  <a:txBody>
                    <a:bodyPr/>
                    <a:lstStyle/>
                    <a:p>
                      <a:pPr marL="0" indent="0" algn="ctr">
                        <a:buNone/>
                      </a:pPr>
                      <a:r>
                        <a:rPr lang="en-US" sz="1100" b="1" dirty="0">
                          <a:solidFill>
                            <a:srgbClr val="2C5F2D"/>
                          </a:solidFill>
                          <a:latin typeface="Calibri" pitchFamily="34" charset="0"/>
                          <a:ea typeface="Calibri" pitchFamily="34" charset="-122"/>
                          <a:cs typeface="Calibri" pitchFamily="34" charset="-120"/>
                        </a:rPr>
                        <a:t>9.6.8</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Assumptions and dependencies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75569"/>
                          </a:solidFill>
                          <a:latin typeface="Calibri" pitchFamily="34" charset="0"/>
                          <a:ea typeface="Calibri" pitchFamily="34" charset="-122"/>
                          <a:cs typeface="Calibri" pitchFamily="34" charset="-120"/>
                        </a:rPr>
                        <a:t>Supuestos y dependencias externas del proyecto.</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84048">
                <a:tc>
                  <a:txBody>
                    <a:bodyPr/>
                    <a:lstStyle/>
                    <a:p>
                      <a:pPr marL="0" indent="0" algn="ctr">
                        <a:buNone/>
                      </a:pPr>
                      <a:r>
                        <a:rPr lang="en-US" sz="1100" b="1" dirty="0">
                          <a:solidFill>
                            <a:srgbClr val="2C5F2D"/>
                          </a:solidFill>
                          <a:latin typeface="Calibri" pitchFamily="34" charset="0"/>
                          <a:ea typeface="Calibri" pitchFamily="34" charset="-122"/>
                          <a:cs typeface="Calibri" pitchFamily="34" charset="-120"/>
                        </a:rPr>
                        <a:t>9.6.9</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100" b="1" dirty="0">
                          <a:solidFill>
                            <a:srgbClr val="1E293B"/>
                          </a:solidFill>
                          <a:latin typeface="Calibri" pitchFamily="34" charset="0"/>
                          <a:ea typeface="Calibri" pitchFamily="34" charset="-122"/>
                          <a:cs typeface="Calibri" pitchFamily="34" charset="-120"/>
                        </a:rPr>
                        <a:t>Apportioning of requirements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100" dirty="0">
                          <a:solidFill>
                            <a:srgbClr val="475569"/>
                          </a:solidFill>
                          <a:latin typeface="Calibri" pitchFamily="34" charset="0"/>
                          <a:ea typeface="Calibri" pitchFamily="34" charset="-122"/>
                          <a:cs typeface="Calibri" pitchFamily="34" charset="-120"/>
                        </a:rPr>
                        <a:t>Asignación de requisitos a componentes o incrementos futuros.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9"/>
                  </a:ext>
                </a:extLst>
              </a:tr>
            </a:tbl>
          </a:graphicData>
        </a:graphic>
      </p:graphicFrame>
      <p:sp>
        <p:nvSpPr>
          <p:cNvPr id="6" name="Shape 2"/>
          <p:cNvSpPr/>
          <p:nvPr/>
        </p:nvSpPr>
        <p:spPr>
          <a:xfrm>
            <a:off x="0" y="0"/>
            <a:ext cx="12161520" cy="384048"/>
          </a:xfrm>
          <a:prstGeom prst="rect">
            <a:avLst/>
          </a:prstGeom>
          <a:solidFill>
            <a:srgbClr val="2C5F2D"/>
          </a:solidFill>
          <a:ln w="12700">
            <a:solidFill>
              <a:srgbClr val="2C5F2D"/>
            </a:solidFill>
            <a:prstDash val="solid"/>
          </a:ln>
        </p:spPr>
      </p:sp>
      <p:sp>
        <p:nvSpPr>
          <p:cNvPr id="7" name="Text 3"/>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8" name="Text 4"/>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9.2 Estructura I</a:t>
            </a:r>
            <a:endParaRPr lang="en-US" sz="1000" dirty="0"/>
          </a:p>
        </p:txBody>
      </p:sp>
      <p:sp>
        <p:nvSpPr>
          <p:cNvPr id="9" name="Text 5"/>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10" name="Text 6"/>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13 / 30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548640"/>
            <a:ext cx="11247120" cy="640080"/>
          </a:xfrm>
          <a:prstGeom prst="rect">
            <a:avLst/>
          </a:prstGeom>
          <a:noFill/>
          <a:ln/>
        </p:spPr>
        <p:txBody>
          <a:bodyPr wrap="square" lIns="0" tIns="0" rIns="0" bIns="0" rtlCol="0" anchor="t"/>
          <a:lstStyle/>
          <a:p>
            <a:pPr marL="0" indent="0" algn="l">
              <a:buNone/>
            </a:pPr>
            <a:r>
              <a:rPr lang="en-US" sz="3000" b="1" dirty="0">
                <a:solidFill>
                  <a:srgbClr val="1E4D8B"/>
                </a:solidFill>
                <a:latin typeface="Cambria" pitchFamily="34" charset="0"/>
                <a:ea typeface="Cambria" pitchFamily="34" charset="-122"/>
                <a:cs typeface="Cambria" pitchFamily="34" charset="-120"/>
              </a:rPr>
              <a:t>9.2 - Estructura del SRS según IEEE 29148:2018 (II)</a:t>
            </a:r>
            <a:endParaRPr lang="en-US" sz="3000" dirty="0"/>
          </a:p>
        </p:txBody>
      </p:sp>
      <p:sp>
        <p:nvSpPr>
          <p:cNvPr id="3" name="Text 1"/>
          <p:cNvSpPr/>
          <p:nvPr/>
        </p:nvSpPr>
        <p:spPr>
          <a:xfrm>
            <a:off x="457200" y="1188720"/>
            <a:ext cx="11247120" cy="365760"/>
          </a:xfrm>
          <a:prstGeom prst="rect">
            <a:avLst/>
          </a:prstGeom>
          <a:noFill/>
          <a:ln/>
        </p:spPr>
        <p:txBody>
          <a:bodyPr wrap="square" lIns="0" tIns="0" rIns="0" bIns="0" rtlCol="0" anchor="t"/>
          <a:lstStyle/>
          <a:p>
            <a:pPr marL="0" indent="0" algn="l">
              <a:buNone/>
            </a:pPr>
            <a:r>
              <a:rPr lang="en-US" sz="1300" i="1" dirty="0">
                <a:solidFill>
                  <a:srgbClr val="475569"/>
                </a:solidFill>
                <a:latin typeface="Calibri" pitchFamily="34" charset="0"/>
                <a:ea typeface="Calibri" pitchFamily="34" charset="-122"/>
                <a:cs typeface="Calibri" pitchFamily="34" charset="-120"/>
              </a:rPr>
              <a:t>Cláusula 9.6 - cláusulas de requisitos específicos</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47120" cy="914400"/>
        </p:xfrm>
        <a:graphic>
          <a:graphicData uri="http://schemas.openxmlformats.org/drawingml/2006/table">
            <a:tbl>
              <a:tblPr/>
              <a:tblGrid>
                <a:gridCol w="15544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6400800">
                  <a:extLst>
                    <a:ext uri="{9D8B030D-6E8A-4147-A177-3AD203B41FA5}">
                      <a16:colId xmlns:a16="http://schemas.microsoft.com/office/drawing/2014/main" val="20002"/>
                    </a:ext>
                  </a:extLst>
                </a:gridCol>
              </a:tblGrid>
              <a:tr h="34747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N. cláusula</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4A017"/>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Titulo original</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4A017"/>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Contenido esperado</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4A017"/>
                    </a:solidFill>
                  </a:tcPr>
                </a:tc>
                <a:extLst>
                  <a:ext uri="{0D108BD9-81ED-4DB2-BD59-A6C34878D82A}">
                    <a16:rowId xmlns:a16="http://schemas.microsoft.com/office/drawing/2014/main" val="10000"/>
                  </a:ext>
                </a:extLst>
              </a:tr>
              <a:tr h="347472">
                <a:tc>
                  <a:txBody>
                    <a:bodyPr/>
                    <a:lstStyle/>
                    <a:p>
                      <a:pPr marL="0" indent="0" algn="ctr">
                        <a:buNone/>
                      </a:pPr>
                      <a:r>
                        <a:rPr lang="en-US" sz="1050" b="1" dirty="0">
                          <a:solidFill>
                            <a:srgbClr val="D4A017"/>
                          </a:solidFill>
                          <a:latin typeface="Calibri" pitchFamily="34" charset="0"/>
                          <a:ea typeface="Calibri" pitchFamily="34" charset="-122"/>
                          <a:cs typeface="Calibri" pitchFamily="34" charset="-120"/>
                        </a:rPr>
                        <a:t>9.6.10</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050" b="1" dirty="0">
                          <a:solidFill>
                            <a:srgbClr val="1E293B"/>
                          </a:solidFill>
                          <a:latin typeface="Calibri" pitchFamily="34" charset="0"/>
                          <a:ea typeface="Calibri" pitchFamily="34" charset="-122"/>
                          <a:cs typeface="Calibri" pitchFamily="34" charset="-120"/>
                        </a:rPr>
                        <a:t>Specified requirements</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050" dirty="0">
                          <a:solidFill>
                            <a:srgbClr val="475569"/>
                          </a:solidFill>
                          <a:latin typeface="Calibri" pitchFamily="34" charset="0"/>
                          <a:ea typeface="Calibri" pitchFamily="34" charset="-122"/>
                          <a:cs typeface="Calibri" pitchFamily="34" charset="-120"/>
                        </a:rPr>
                        <a:t>Nucleo del ERS: cada requisito con carácterísticas de 5.2.5.</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47472">
                <a:tc>
                  <a:txBody>
                    <a:bodyPr/>
                    <a:lstStyle/>
                    <a:p>
                      <a:pPr marL="0" indent="0" algn="ctr">
                        <a:buNone/>
                      </a:pPr>
                      <a:r>
                        <a:rPr lang="en-US" sz="1050" b="1" dirty="0">
                          <a:solidFill>
                            <a:srgbClr val="D4A017"/>
                          </a:solidFill>
                          <a:latin typeface="Calibri" pitchFamily="34" charset="0"/>
                          <a:ea typeface="Calibri" pitchFamily="34" charset="-122"/>
                          <a:cs typeface="Calibri" pitchFamily="34" charset="-120"/>
                        </a:rPr>
                        <a:t>9.6.11</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1E293B"/>
                          </a:solidFill>
                          <a:latin typeface="Calibri" pitchFamily="34" charset="0"/>
                          <a:ea typeface="Calibri" pitchFamily="34" charset="-122"/>
                          <a:cs typeface="Calibri" pitchFamily="34" charset="-120"/>
                        </a:rPr>
                        <a:t>External interfaces</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75569"/>
                          </a:solidFill>
                          <a:latin typeface="Calibri" pitchFamily="34" charset="0"/>
                          <a:ea typeface="Calibri" pitchFamily="34" charset="-122"/>
                          <a:cs typeface="Calibri" pitchFamily="34" charset="-120"/>
                        </a:rPr>
                        <a:t>Definición de cada entrada y salida del software (formato, rango, unidades).</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lgn="ctr">
                        <a:buNone/>
                      </a:pPr>
                      <a:r>
                        <a:rPr lang="en-US" sz="1050" b="1" dirty="0">
                          <a:solidFill>
                            <a:srgbClr val="D4A017"/>
                          </a:solidFill>
                          <a:latin typeface="Calibri" pitchFamily="34" charset="0"/>
                          <a:ea typeface="Calibri" pitchFamily="34" charset="-122"/>
                          <a:cs typeface="Calibri" pitchFamily="34" charset="-120"/>
                        </a:rPr>
                        <a:t>9.6.12</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050" b="1" dirty="0">
                          <a:solidFill>
                            <a:srgbClr val="1E293B"/>
                          </a:solidFill>
                          <a:latin typeface="Calibri" pitchFamily="34" charset="0"/>
                          <a:ea typeface="Calibri" pitchFamily="34" charset="-122"/>
                          <a:cs typeface="Calibri" pitchFamily="34" charset="-120"/>
                        </a:rPr>
                        <a:t>Functions</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050" dirty="0">
                          <a:solidFill>
                            <a:srgbClr val="475569"/>
                          </a:solidFill>
                          <a:latin typeface="Calibri" pitchFamily="34" charset="0"/>
                          <a:ea typeface="Calibri" pitchFamily="34" charset="-122"/>
                          <a:cs typeface="Calibri" pitchFamily="34" charset="-120"/>
                        </a:rPr>
                        <a:t>Requisitos funciónales detallados: acciones que el software debe realizar.</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347472">
                <a:tc>
                  <a:txBody>
                    <a:bodyPr/>
                    <a:lstStyle/>
                    <a:p>
                      <a:pPr marL="0" indent="0" algn="ctr">
                        <a:buNone/>
                      </a:pPr>
                      <a:r>
                        <a:rPr lang="en-US" sz="1050" b="1" dirty="0">
                          <a:solidFill>
                            <a:srgbClr val="D4A017"/>
                          </a:solidFill>
                          <a:latin typeface="Calibri" pitchFamily="34" charset="0"/>
                          <a:ea typeface="Calibri" pitchFamily="34" charset="-122"/>
                          <a:cs typeface="Calibri" pitchFamily="34" charset="-120"/>
                        </a:rPr>
                        <a:t>9.6.13</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1E293B"/>
                          </a:solidFill>
                          <a:latin typeface="Calibri" pitchFamily="34" charset="0"/>
                          <a:ea typeface="Calibri" pitchFamily="34" charset="-122"/>
                          <a:cs typeface="Calibri" pitchFamily="34" charset="-120"/>
                        </a:rPr>
                        <a:t>Usability requirements</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75569"/>
                          </a:solidFill>
                          <a:latin typeface="Calibri" pitchFamily="34" charset="0"/>
                          <a:ea typeface="Calibri" pitchFamily="34" charset="-122"/>
                          <a:cs typeface="Calibri" pitchFamily="34" charset="-120"/>
                        </a:rPr>
                        <a:t>Efectividad, eficiencia y satisfacción medibles (ISO/IEC TR 25060).</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lgn="ctr">
                        <a:buNone/>
                      </a:pPr>
                      <a:r>
                        <a:rPr lang="en-US" sz="1050" b="1" dirty="0">
                          <a:solidFill>
                            <a:srgbClr val="D4A017"/>
                          </a:solidFill>
                          <a:latin typeface="Calibri" pitchFamily="34" charset="0"/>
                          <a:ea typeface="Calibri" pitchFamily="34" charset="-122"/>
                          <a:cs typeface="Calibri" pitchFamily="34" charset="-120"/>
                        </a:rPr>
                        <a:t>9.6.14</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050" b="1" dirty="0">
                          <a:solidFill>
                            <a:srgbClr val="1E293B"/>
                          </a:solidFill>
                          <a:latin typeface="Calibri" pitchFamily="34" charset="0"/>
                          <a:ea typeface="Calibri" pitchFamily="34" charset="-122"/>
                          <a:cs typeface="Calibri" pitchFamily="34" charset="-120"/>
                        </a:rPr>
                        <a:t>Performance requirements</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050" dirty="0">
                          <a:solidFill>
                            <a:srgbClr val="475569"/>
                          </a:solidFill>
                          <a:latin typeface="Calibri" pitchFamily="34" charset="0"/>
                          <a:ea typeface="Calibri" pitchFamily="34" charset="-122"/>
                          <a:cs typeface="Calibri" pitchFamily="34" charset="-120"/>
                        </a:rPr>
                        <a:t>Números estáticos y dinámicos; expresados en términos medibles.</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r h="347472">
                <a:tc>
                  <a:txBody>
                    <a:bodyPr/>
                    <a:lstStyle/>
                    <a:p>
                      <a:pPr marL="0" indent="0" algn="ctr">
                        <a:buNone/>
                      </a:pPr>
                      <a:r>
                        <a:rPr lang="en-US" sz="1050" b="1" dirty="0">
                          <a:solidFill>
                            <a:srgbClr val="D4A017"/>
                          </a:solidFill>
                          <a:latin typeface="Calibri" pitchFamily="34" charset="0"/>
                          <a:ea typeface="Calibri" pitchFamily="34" charset="-122"/>
                          <a:cs typeface="Calibri" pitchFamily="34" charset="-120"/>
                        </a:rPr>
                        <a:t>9.6.15</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1E293B"/>
                          </a:solidFill>
                          <a:latin typeface="Calibri" pitchFamily="34" charset="0"/>
                          <a:ea typeface="Calibri" pitchFamily="34" charset="-122"/>
                          <a:cs typeface="Calibri" pitchFamily="34" charset="-120"/>
                        </a:rPr>
                        <a:t>Logical database</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75569"/>
                          </a:solidFill>
                          <a:latin typeface="Calibri" pitchFamily="34" charset="0"/>
                          <a:ea typeface="Calibri" pitchFamily="34" charset="-122"/>
                          <a:cs typeface="Calibri" pitchFamily="34" charset="-120"/>
                        </a:rPr>
                        <a:t>Requisitos lógicos de datos: entidades, relaciones, integridad, retención.</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lgn="ctr">
                        <a:buNone/>
                      </a:pPr>
                      <a:r>
                        <a:rPr lang="en-US" sz="1050" b="1" dirty="0">
                          <a:solidFill>
                            <a:srgbClr val="D4A017"/>
                          </a:solidFill>
                          <a:latin typeface="Calibri" pitchFamily="34" charset="0"/>
                          <a:ea typeface="Calibri" pitchFamily="34" charset="-122"/>
                          <a:cs typeface="Calibri" pitchFamily="34" charset="-120"/>
                        </a:rPr>
                        <a:t>9.6.16</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050" b="1" dirty="0">
                          <a:solidFill>
                            <a:srgbClr val="1E293B"/>
                          </a:solidFill>
                          <a:latin typeface="Calibri" pitchFamily="34" charset="0"/>
                          <a:ea typeface="Calibri" pitchFamily="34" charset="-122"/>
                          <a:cs typeface="Calibri" pitchFamily="34" charset="-120"/>
                        </a:rPr>
                        <a:t>Design constraints</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050" dirty="0">
                          <a:solidFill>
                            <a:srgbClr val="475569"/>
                          </a:solidFill>
                          <a:latin typeface="Calibri" pitchFamily="34" charset="0"/>
                          <a:ea typeface="Calibri" pitchFamily="34" charset="-122"/>
                          <a:cs typeface="Calibri" pitchFamily="34" charset="-120"/>
                        </a:rPr>
                        <a:t>Restricciones de diseño impuestas por estándares o regulaciones.</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7"/>
                  </a:ext>
                </a:extLst>
              </a:tr>
              <a:tr h="347472">
                <a:tc>
                  <a:txBody>
                    <a:bodyPr/>
                    <a:lstStyle/>
                    <a:p>
                      <a:pPr marL="0" indent="0" algn="ctr">
                        <a:buNone/>
                      </a:pPr>
                      <a:r>
                        <a:rPr lang="en-US" sz="1050" b="1" dirty="0">
                          <a:solidFill>
                            <a:srgbClr val="D4A017"/>
                          </a:solidFill>
                          <a:latin typeface="Calibri" pitchFamily="34" charset="0"/>
                          <a:ea typeface="Calibri" pitchFamily="34" charset="-122"/>
                          <a:cs typeface="Calibri" pitchFamily="34" charset="-120"/>
                        </a:rPr>
                        <a:t>9.6.17</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1E293B"/>
                          </a:solidFill>
                          <a:latin typeface="Calibri" pitchFamily="34" charset="0"/>
                          <a:ea typeface="Calibri" pitchFamily="34" charset="-122"/>
                          <a:cs typeface="Calibri" pitchFamily="34" charset="-120"/>
                        </a:rPr>
                        <a:t>Standards compliance</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75569"/>
                          </a:solidFill>
                          <a:latin typeface="Calibri" pitchFamily="34" charset="0"/>
                          <a:ea typeface="Calibri" pitchFamily="34" charset="-122"/>
                          <a:cs typeface="Calibri" pitchFamily="34" charset="-120"/>
                        </a:rPr>
                        <a:t>Cumplimiento de estándares aplicables (ISO 9001, PCI-DSS, HIPAA).</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47472">
                <a:tc>
                  <a:txBody>
                    <a:bodyPr/>
                    <a:lstStyle/>
                    <a:p>
                      <a:pPr marL="0" indent="0" algn="ctr">
                        <a:buNone/>
                      </a:pPr>
                      <a:r>
                        <a:rPr lang="en-US" sz="1050" b="1" dirty="0">
                          <a:solidFill>
                            <a:srgbClr val="D4A017"/>
                          </a:solidFill>
                          <a:latin typeface="Calibri" pitchFamily="34" charset="0"/>
                          <a:ea typeface="Calibri" pitchFamily="34" charset="-122"/>
                          <a:cs typeface="Calibri" pitchFamily="34" charset="-120"/>
                        </a:rPr>
                        <a:t>9.6.18</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050" b="1" dirty="0">
                          <a:solidFill>
                            <a:srgbClr val="1E293B"/>
                          </a:solidFill>
                          <a:latin typeface="Calibri" pitchFamily="34" charset="0"/>
                          <a:ea typeface="Calibri" pitchFamily="34" charset="-122"/>
                          <a:cs typeface="Calibri" pitchFamily="34" charset="-120"/>
                        </a:rPr>
                        <a:t>Software system attributes</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050" dirty="0">
                          <a:solidFill>
                            <a:srgbClr val="475569"/>
                          </a:solidFill>
                          <a:latin typeface="Calibri" pitchFamily="34" charset="0"/>
                          <a:ea typeface="Calibri" pitchFamily="34" charset="-122"/>
                          <a:cs typeface="Calibri" pitchFamily="34" charset="-120"/>
                        </a:rPr>
                        <a:t>Atributos de calidad: fiabilidad, disponibilidad, seguridad, mantenibilidad, portabilidad.</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9"/>
                  </a:ext>
                </a:extLst>
              </a:tr>
              <a:tr h="347472">
                <a:tc>
                  <a:txBody>
                    <a:bodyPr/>
                    <a:lstStyle/>
                    <a:p>
                      <a:pPr marL="0" indent="0" algn="ctr">
                        <a:buNone/>
                      </a:pPr>
                      <a:r>
                        <a:rPr lang="en-US" sz="1050" b="1" dirty="0">
                          <a:solidFill>
                            <a:srgbClr val="D4A017"/>
                          </a:solidFill>
                          <a:latin typeface="Calibri" pitchFamily="34" charset="0"/>
                          <a:ea typeface="Calibri" pitchFamily="34" charset="-122"/>
                          <a:cs typeface="Calibri" pitchFamily="34" charset="-120"/>
                        </a:rPr>
                        <a:t>9.6.19</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b="1" dirty="0">
                          <a:solidFill>
                            <a:srgbClr val="1E293B"/>
                          </a:solidFill>
                          <a:latin typeface="Calibri" pitchFamily="34" charset="0"/>
                          <a:ea typeface="Calibri" pitchFamily="34" charset="-122"/>
                          <a:cs typeface="Calibri" pitchFamily="34" charset="-120"/>
                        </a:rPr>
                        <a:t>Verification</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75569"/>
                          </a:solidFill>
                          <a:latin typeface="Calibri" pitchFamily="34" charset="0"/>
                          <a:ea typeface="Calibri" pitchFamily="34" charset="-122"/>
                          <a:cs typeface="Calibri" pitchFamily="34" charset="-120"/>
                        </a:rPr>
                        <a:t>Enfoques y métodos previstos para verificar cada requisito.</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47472">
                <a:tc>
                  <a:txBody>
                    <a:bodyPr/>
                    <a:lstStyle/>
                    <a:p>
                      <a:pPr marL="0" indent="0" algn="ctr">
                        <a:buNone/>
                      </a:pPr>
                      <a:r>
                        <a:rPr lang="en-US" sz="1050" b="1" dirty="0">
                          <a:solidFill>
                            <a:srgbClr val="D4A017"/>
                          </a:solidFill>
                          <a:latin typeface="Calibri" pitchFamily="34" charset="0"/>
                          <a:ea typeface="Calibri" pitchFamily="34" charset="-122"/>
                          <a:cs typeface="Calibri" pitchFamily="34" charset="-120"/>
                        </a:rPr>
                        <a:t>9.6.20</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050" b="1" dirty="0">
                          <a:solidFill>
                            <a:srgbClr val="1E293B"/>
                          </a:solidFill>
                          <a:latin typeface="Calibri" pitchFamily="34" charset="0"/>
                          <a:ea typeface="Calibri" pitchFamily="34" charset="-122"/>
                          <a:cs typeface="Calibri" pitchFamily="34" charset="-120"/>
                        </a:rPr>
                        <a:t>Supporting information</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050" dirty="0">
                          <a:solidFill>
                            <a:srgbClr val="475569"/>
                          </a:solidFill>
                          <a:latin typeface="Calibri" pitchFamily="34" charset="0"/>
                          <a:ea typeface="Calibri" pitchFamily="34" charset="-122"/>
                          <a:cs typeface="Calibri" pitchFamily="34" charset="-120"/>
                        </a:rPr>
                        <a:t>Anexos: formatos de entrada/salida, resultados de estudios, información complementaria.</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11"/>
                  </a:ext>
                </a:extLst>
              </a:tr>
            </a:tbl>
          </a:graphicData>
        </a:graphic>
      </p:graphicFrame>
      <p:sp>
        <p:nvSpPr>
          <p:cNvPr id="6" name="Shape 2"/>
          <p:cNvSpPr/>
          <p:nvPr/>
        </p:nvSpPr>
        <p:spPr>
          <a:xfrm>
            <a:off x="0" y="0"/>
            <a:ext cx="12161520" cy="384048"/>
          </a:xfrm>
          <a:prstGeom prst="rect">
            <a:avLst/>
          </a:prstGeom>
          <a:solidFill>
            <a:srgbClr val="2C5F2D"/>
          </a:solidFill>
          <a:ln w="12700">
            <a:solidFill>
              <a:srgbClr val="2C5F2D"/>
            </a:solidFill>
            <a:prstDash val="solid"/>
          </a:ln>
        </p:spPr>
      </p:sp>
      <p:sp>
        <p:nvSpPr>
          <p:cNvPr id="7" name="Text 3"/>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8" name="Text 4"/>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9.2 Estructura II</a:t>
            </a:r>
            <a:endParaRPr lang="en-US" sz="1000" dirty="0"/>
          </a:p>
        </p:txBody>
      </p:sp>
      <p:sp>
        <p:nvSpPr>
          <p:cNvPr id="9" name="Text 5"/>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10" name="Text 6"/>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14 / 30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548640"/>
            <a:ext cx="11247120" cy="640080"/>
          </a:xfrm>
          <a:prstGeom prst="rect">
            <a:avLst/>
          </a:prstGeom>
          <a:noFill/>
          <a:ln/>
        </p:spPr>
        <p:txBody>
          <a:bodyPr wrap="square" lIns="0" tIns="0" rIns="0" bIns="0" rtlCol="0" anchor="t"/>
          <a:lstStyle/>
          <a:p>
            <a:pPr marL="0" indent="0" algn="l">
              <a:buNone/>
            </a:pPr>
            <a:r>
              <a:rPr lang="en-US" sz="3000" b="1" dirty="0">
                <a:solidFill>
                  <a:srgbClr val="1E4D8B"/>
                </a:solidFill>
                <a:latin typeface="Cambria" pitchFamily="34" charset="0"/>
                <a:ea typeface="Cambria" pitchFamily="34" charset="-122"/>
                <a:cs typeface="Cambria" pitchFamily="34" charset="-120"/>
              </a:rPr>
              <a:t>9.3 - Ambigüedad del lenguaje natural</a:t>
            </a:r>
            <a:endParaRPr lang="en-US" sz="3000" dirty="0"/>
          </a:p>
        </p:txBody>
      </p:sp>
      <p:sp>
        <p:nvSpPr>
          <p:cNvPr id="3" name="Text 1"/>
          <p:cNvSpPr/>
          <p:nvPr/>
        </p:nvSpPr>
        <p:spPr>
          <a:xfrm>
            <a:off x="457200" y="1188720"/>
            <a:ext cx="11247120" cy="365760"/>
          </a:xfrm>
          <a:prstGeom prst="rect">
            <a:avLst/>
          </a:prstGeom>
          <a:noFill/>
          <a:ln/>
        </p:spPr>
        <p:txBody>
          <a:bodyPr wrap="square" lIns="0" tIns="0" rIns="0" bIns="0" rtlCol="0" anchor="t"/>
          <a:lstStyle/>
          <a:p>
            <a:pPr marL="0" indent="0" algn="l">
              <a:buNone/>
            </a:pPr>
            <a:r>
              <a:rPr lang="en-US" sz="1300" i="1" dirty="0">
                <a:solidFill>
                  <a:srgbClr val="475569"/>
                </a:solidFill>
                <a:latin typeface="Calibri" pitchFamily="34" charset="0"/>
                <a:ea typeface="Calibri" pitchFamily="34" charset="-122"/>
                <a:cs typeface="Calibri" pitchFamily="34" charset="-120"/>
              </a:rPr>
              <a:t>Términos prohibidos por IEEE 29148:2018 cláusula 5.2.7</a:t>
            </a:r>
            <a:endParaRPr lang="en-US" sz="1300" dirty="0"/>
          </a:p>
        </p:txBody>
      </p:sp>
      <p:sp>
        <p:nvSpPr>
          <p:cNvPr id="4" name="Shape 2"/>
          <p:cNvSpPr/>
          <p:nvPr/>
        </p:nvSpPr>
        <p:spPr>
          <a:xfrm>
            <a:off x="457200" y="1783080"/>
            <a:ext cx="6217920" cy="4480560"/>
          </a:xfrm>
          <a:prstGeom prst="roundRect">
            <a:avLst>
              <a:gd name="adj" fmla="val 2041"/>
            </a:avLst>
          </a:prstGeom>
          <a:solidFill>
            <a:srgbClr val="F8FAFC"/>
          </a:solidFill>
          <a:ln w="19050">
            <a:solidFill>
              <a:srgbClr val="B91C1C"/>
            </a:solidFill>
            <a:prstDash val="solid"/>
          </a:ln>
        </p:spPr>
      </p:sp>
      <p:sp>
        <p:nvSpPr>
          <p:cNvPr id="5" name="Text 3"/>
          <p:cNvSpPr/>
          <p:nvPr/>
        </p:nvSpPr>
        <p:spPr>
          <a:xfrm>
            <a:off x="640080" y="1920240"/>
            <a:ext cx="5852160" cy="365760"/>
          </a:xfrm>
          <a:prstGeom prst="rect">
            <a:avLst/>
          </a:prstGeom>
          <a:noFill/>
          <a:ln/>
        </p:spPr>
        <p:txBody>
          <a:bodyPr wrap="square" lIns="0" tIns="0" rIns="0" bIns="0" rtlCol="0" anchor="ctr"/>
          <a:lstStyle/>
          <a:p>
            <a:pPr marL="0" indent="0" algn="l">
              <a:buNone/>
            </a:pPr>
            <a:r>
              <a:rPr lang="en-US" sz="1800" b="1" dirty="0">
                <a:solidFill>
                  <a:srgbClr val="B91C1C"/>
                </a:solidFill>
                <a:latin typeface="Cambria" pitchFamily="34" charset="0"/>
                <a:ea typeface="Cambria" pitchFamily="34" charset="-122"/>
                <a:cs typeface="Cambria" pitchFamily="34" charset="-120"/>
              </a:rPr>
              <a:t>Términos a evitar</a:t>
            </a:r>
            <a:endParaRPr lang="en-US" sz="1800" dirty="0"/>
          </a:p>
        </p:txBody>
      </p:sp>
      <p:sp>
        <p:nvSpPr>
          <p:cNvPr id="6" name="Text 4"/>
          <p:cNvSpPr/>
          <p:nvPr/>
        </p:nvSpPr>
        <p:spPr>
          <a:xfrm>
            <a:off x="777240" y="2331720"/>
            <a:ext cx="5760720" cy="3840480"/>
          </a:xfrm>
          <a:prstGeom prst="rect">
            <a:avLst/>
          </a:prstGeom>
          <a:noFill/>
          <a:ln/>
        </p:spPr>
        <p:txBody>
          <a:bodyPr wrap="square" lIns="0" tIns="0" rIns="0" bIns="0" rtlCol="0" anchor="t"/>
          <a:lstStyle/>
          <a:p>
            <a:pPr marL="0" indent="0" algn="l">
              <a:buNone/>
            </a:pPr>
            <a:r>
              <a:rPr lang="en-US" sz="1150" b="1" dirty="0">
                <a:solidFill>
                  <a:srgbClr val="1E293B"/>
                </a:solidFill>
                <a:latin typeface="Calibri" pitchFamily="34" charset="0"/>
                <a:ea typeface="Calibri" pitchFamily="34" charset="-122"/>
                <a:cs typeface="Calibri" pitchFamily="34" charset="-120"/>
              </a:rPr>
              <a:t>Superlativos: </a:t>
            </a:r>
            <a:r>
              <a:rPr lang="en-US" sz="1150" i="1" dirty="0">
                <a:solidFill>
                  <a:srgbClr val="475569"/>
                </a:solidFill>
                <a:latin typeface="Calibri" pitchFamily="34" charset="0"/>
                <a:ea typeface="Calibri" pitchFamily="34" charset="-122"/>
                <a:cs typeface="Calibri" pitchFamily="34" charset="-120"/>
              </a:rPr>
              <a:t>-el mejor-, -el máximo-, -el más rápido-</a:t>
            </a:r>
            <a:endParaRPr lang="en-US" sz="1150" dirty="0"/>
          </a:p>
          <a:p>
            <a:pPr marL="0" indent="0" algn="l">
              <a:buNone/>
            </a:pPr>
            <a:r>
              <a:rPr lang="en-US" sz="1150" b="1" dirty="0">
                <a:solidFill>
                  <a:srgbClr val="1E293B"/>
                </a:solidFill>
                <a:latin typeface="Calibri" pitchFamily="34" charset="0"/>
                <a:ea typeface="Calibri" pitchFamily="34" charset="-122"/>
                <a:cs typeface="Calibri" pitchFamily="34" charset="-120"/>
              </a:rPr>
              <a:t>Lenguaje subjetivo: </a:t>
            </a:r>
            <a:r>
              <a:rPr lang="en-US" sz="1150" i="1" dirty="0">
                <a:solidFill>
                  <a:srgbClr val="475569"/>
                </a:solidFill>
                <a:latin typeface="Calibri" pitchFamily="34" charset="0"/>
                <a:ea typeface="Calibri" pitchFamily="34" charset="-122"/>
                <a:cs typeface="Calibri" pitchFamily="34" charset="-120"/>
              </a:rPr>
              <a:t>-amigable-, -fácil de usar-, -intuitivo-, -rentable-</a:t>
            </a:r>
            <a:endParaRPr lang="en-US" sz="1150" dirty="0"/>
          </a:p>
          <a:p>
            <a:pPr marL="0" indent="0" algn="l">
              <a:buNone/>
            </a:pPr>
            <a:r>
              <a:rPr lang="en-US" sz="1150" b="1" dirty="0">
                <a:solidFill>
                  <a:srgbClr val="1E293B"/>
                </a:solidFill>
                <a:latin typeface="Calibri" pitchFamily="34" charset="0"/>
                <a:ea typeface="Calibri" pitchFamily="34" charset="-122"/>
                <a:cs typeface="Calibri" pitchFamily="34" charset="-120"/>
              </a:rPr>
              <a:t>Pronombres vagos: </a:t>
            </a:r>
            <a:r>
              <a:rPr lang="en-US" sz="1150" i="1" dirty="0">
                <a:solidFill>
                  <a:srgbClr val="475569"/>
                </a:solidFill>
                <a:latin typeface="Calibri" pitchFamily="34" charset="0"/>
                <a:ea typeface="Calibri" pitchFamily="34" charset="-122"/>
                <a:cs typeface="Calibri" pitchFamily="34" charset="-120"/>
              </a:rPr>
              <a:t>-esto-, -eso-, -aquello-, -ello-</a:t>
            </a:r>
            <a:endParaRPr lang="en-US" sz="1150" dirty="0"/>
          </a:p>
          <a:p>
            <a:pPr marL="0" indent="0" algn="l">
              <a:buNone/>
            </a:pPr>
            <a:r>
              <a:rPr lang="en-US" sz="1150" b="1" dirty="0">
                <a:solidFill>
                  <a:srgbClr val="1E293B"/>
                </a:solidFill>
                <a:latin typeface="Calibri" pitchFamily="34" charset="0"/>
                <a:ea typeface="Calibri" pitchFamily="34" charset="-122"/>
                <a:cs typeface="Calibri" pitchFamily="34" charset="-120"/>
              </a:rPr>
              <a:t>Adverbios ambiguos: </a:t>
            </a:r>
            <a:r>
              <a:rPr lang="en-US" sz="1150" i="1" dirty="0">
                <a:solidFill>
                  <a:srgbClr val="475569"/>
                </a:solidFill>
                <a:latin typeface="Calibri" pitchFamily="34" charset="0"/>
                <a:ea typeface="Calibri" pitchFamily="34" charset="-122"/>
                <a:cs typeface="Calibri" pitchFamily="34" charset="-120"/>
              </a:rPr>
              <a:t>-casi siempre-, -significativamente-, -mínimamente-</a:t>
            </a:r>
            <a:endParaRPr lang="en-US" sz="1150" dirty="0"/>
          </a:p>
          <a:p>
            <a:pPr marL="0" indent="0" algn="l">
              <a:buNone/>
            </a:pPr>
            <a:r>
              <a:rPr lang="en-US" sz="1150" b="1" dirty="0">
                <a:solidFill>
                  <a:srgbClr val="1E293B"/>
                </a:solidFill>
                <a:latin typeface="Calibri" pitchFamily="34" charset="0"/>
                <a:ea typeface="Calibri" pitchFamily="34" charset="-122"/>
                <a:cs typeface="Calibri" pitchFamily="34" charset="-120"/>
              </a:rPr>
              <a:t>Conectores abiertos: </a:t>
            </a:r>
            <a:r>
              <a:rPr lang="en-US" sz="1150" i="1" dirty="0">
                <a:solidFill>
                  <a:srgbClr val="475569"/>
                </a:solidFill>
                <a:latin typeface="Calibri" pitchFamily="34" charset="0"/>
                <a:ea typeface="Calibri" pitchFamily="34" charset="-122"/>
                <a:cs typeface="Calibri" pitchFamily="34" charset="-120"/>
              </a:rPr>
              <a:t>-o-, -y/o- (fuerzan múltiples interpretaciones)</a:t>
            </a:r>
            <a:endParaRPr lang="en-US" sz="1150" dirty="0"/>
          </a:p>
          <a:p>
            <a:pPr marL="0" indent="0" algn="l">
              <a:buNone/>
            </a:pPr>
            <a:r>
              <a:rPr lang="en-US" sz="1150" b="1" dirty="0">
                <a:solidFill>
                  <a:srgbClr val="1E293B"/>
                </a:solidFill>
                <a:latin typeface="Calibri" pitchFamily="34" charset="0"/>
                <a:ea typeface="Calibri" pitchFamily="34" charset="-122"/>
                <a:cs typeface="Calibri" pitchFamily="34" charset="-120"/>
              </a:rPr>
              <a:t>Términos abiertos: </a:t>
            </a:r>
            <a:r>
              <a:rPr lang="en-US" sz="1150" i="1" dirty="0">
                <a:solidFill>
                  <a:srgbClr val="475569"/>
                </a:solidFill>
                <a:latin typeface="Calibri" pitchFamily="34" charset="0"/>
                <a:ea typeface="Calibri" pitchFamily="34" charset="-122"/>
                <a:cs typeface="Calibri" pitchFamily="34" charset="-120"/>
              </a:rPr>
              <a:t>-soportar-, -pero no limitado a-, -como mínimo-</a:t>
            </a:r>
            <a:endParaRPr lang="en-US" sz="1150" dirty="0"/>
          </a:p>
          <a:p>
            <a:pPr marL="0" indent="0" algn="l">
              <a:buNone/>
            </a:pPr>
            <a:r>
              <a:rPr lang="en-US" sz="1150" b="1" dirty="0">
                <a:solidFill>
                  <a:srgbClr val="1E293B"/>
                </a:solidFill>
                <a:latin typeface="Calibri" pitchFamily="34" charset="0"/>
                <a:ea typeface="Calibri" pitchFamily="34" charset="-122"/>
                <a:cs typeface="Calibri" pitchFamily="34" charset="-120"/>
              </a:rPr>
              <a:t>Comparativos: </a:t>
            </a:r>
            <a:r>
              <a:rPr lang="en-US" sz="1150" i="1" dirty="0">
                <a:solidFill>
                  <a:srgbClr val="475569"/>
                </a:solidFill>
                <a:latin typeface="Calibri" pitchFamily="34" charset="0"/>
                <a:ea typeface="Calibri" pitchFamily="34" charset="-122"/>
                <a:cs typeface="Calibri" pitchFamily="34" charset="-120"/>
              </a:rPr>
              <a:t>-mejor que-, -mayor calidad que-</a:t>
            </a:r>
            <a:endParaRPr lang="en-US" sz="1150" dirty="0"/>
          </a:p>
          <a:p>
            <a:pPr marL="0" indent="0" algn="l">
              <a:buNone/>
            </a:pPr>
            <a:r>
              <a:rPr lang="en-US" sz="1150" b="1" dirty="0">
                <a:solidFill>
                  <a:srgbClr val="1E293B"/>
                </a:solidFill>
                <a:latin typeface="Calibri" pitchFamily="34" charset="0"/>
                <a:ea typeface="Calibri" pitchFamily="34" charset="-122"/>
                <a:cs typeface="Calibri" pitchFamily="34" charset="-120"/>
              </a:rPr>
              <a:t>Fugas: </a:t>
            </a:r>
            <a:r>
              <a:rPr lang="en-US" sz="1150" i="1" dirty="0">
                <a:solidFill>
                  <a:srgbClr val="475569"/>
                </a:solidFill>
                <a:latin typeface="Calibri" pitchFamily="34" charset="0"/>
                <a:ea typeface="Calibri" pitchFamily="34" charset="-122"/>
                <a:cs typeface="Calibri" pitchFamily="34" charset="-120"/>
              </a:rPr>
              <a:t>-si es posible-, -según sea apropiado-, -en la medida-</a:t>
            </a:r>
            <a:endParaRPr lang="en-US" sz="1150" dirty="0"/>
          </a:p>
          <a:p>
            <a:pPr marL="0" indent="0" algn="l">
              <a:buNone/>
            </a:pPr>
            <a:r>
              <a:rPr lang="en-US" sz="1150" b="1" dirty="0">
                <a:solidFill>
                  <a:srgbClr val="1E293B"/>
                </a:solidFill>
                <a:latin typeface="Calibri" pitchFamily="34" charset="0"/>
                <a:ea typeface="Calibri" pitchFamily="34" charset="-122"/>
                <a:cs typeface="Calibri" pitchFamily="34" charset="-120"/>
              </a:rPr>
              <a:t>Totalidad: </a:t>
            </a:r>
            <a:r>
              <a:rPr lang="en-US" sz="1150" i="1" dirty="0">
                <a:solidFill>
                  <a:srgbClr val="475569"/>
                </a:solidFill>
                <a:latin typeface="Calibri" pitchFamily="34" charset="0"/>
                <a:ea typeface="Calibri" pitchFamily="34" charset="-122"/>
                <a:cs typeface="Calibri" pitchFamily="34" charset="-120"/>
              </a:rPr>
              <a:t>-todo-, -siempre-, -nunca-, -cada-</a:t>
            </a:r>
            <a:endParaRPr lang="en-US" sz="1150" dirty="0"/>
          </a:p>
          <a:p>
            <a:pPr marL="0" indent="0" algn="l">
              <a:buNone/>
            </a:pPr>
            <a:r>
              <a:rPr lang="en-US" sz="1150" b="1" dirty="0">
                <a:solidFill>
                  <a:srgbClr val="1E293B"/>
                </a:solidFill>
                <a:latin typeface="Calibri" pitchFamily="34" charset="0"/>
                <a:ea typeface="Calibri" pitchFamily="34" charset="-122"/>
                <a:cs typeface="Calibri" pitchFamily="34" charset="-120"/>
              </a:rPr>
              <a:t>Referencias incompletas: </a:t>
            </a:r>
            <a:r>
              <a:rPr lang="en-US" sz="1150" i="1" dirty="0">
                <a:solidFill>
                  <a:srgbClr val="475569"/>
                </a:solidFill>
                <a:latin typeface="Calibri" pitchFamily="34" charset="0"/>
                <a:ea typeface="Calibri" pitchFamily="34" charset="-122"/>
                <a:cs typeface="Calibri" pitchFamily="34" charset="-120"/>
              </a:rPr>
              <a:t>-el documento- sin fecha ni versión</a:t>
            </a:r>
            <a:endParaRPr lang="en-US" sz="1150" dirty="0"/>
          </a:p>
        </p:txBody>
      </p:sp>
      <p:sp>
        <p:nvSpPr>
          <p:cNvPr id="7" name="Shape 5"/>
          <p:cNvSpPr/>
          <p:nvPr/>
        </p:nvSpPr>
        <p:spPr>
          <a:xfrm>
            <a:off x="6858000" y="1783080"/>
            <a:ext cx="4846320" cy="4480560"/>
          </a:xfrm>
          <a:prstGeom prst="roundRect">
            <a:avLst>
              <a:gd name="adj" fmla="val 2041"/>
            </a:avLst>
          </a:prstGeom>
          <a:solidFill>
            <a:srgbClr val="F8FAFC"/>
          </a:solidFill>
          <a:ln w="19050">
            <a:solidFill>
              <a:srgbClr val="2C5F2D"/>
            </a:solidFill>
            <a:prstDash val="solid"/>
          </a:ln>
        </p:spPr>
      </p:sp>
      <p:sp>
        <p:nvSpPr>
          <p:cNvPr id="8" name="Text 6"/>
          <p:cNvSpPr/>
          <p:nvPr/>
        </p:nvSpPr>
        <p:spPr>
          <a:xfrm>
            <a:off x="7040880" y="1920240"/>
            <a:ext cx="4572000" cy="365760"/>
          </a:xfrm>
          <a:prstGeom prst="rect">
            <a:avLst/>
          </a:prstGeom>
          <a:noFill/>
          <a:ln/>
        </p:spPr>
        <p:txBody>
          <a:bodyPr wrap="square" lIns="0" tIns="0" rIns="0" bIns="0" rtlCol="0" anchor="ctr"/>
          <a:lstStyle/>
          <a:p>
            <a:pPr marL="0" indent="0" algn="l">
              <a:buNone/>
            </a:pPr>
            <a:r>
              <a:rPr lang="en-US" sz="1600" b="1" dirty="0">
                <a:solidFill>
                  <a:srgbClr val="2C5F2D"/>
                </a:solidFill>
                <a:latin typeface="Cambria" pitchFamily="34" charset="0"/>
                <a:ea typeface="Cambria" pitchFamily="34" charset="-122"/>
                <a:cs typeface="Cambria" pitchFamily="34" charset="-120"/>
              </a:rPr>
              <a:t>Antes / Después - PFC MundiPets</a:t>
            </a:r>
            <a:endParaRPr lang="en-US" sz="1600" dirty="0"/>
          </a:p>
        </p:txBody>
      </p:sp>
      <p:sp>
        <p:nvSpPr>
          <p:cNvPr id="9" name="Text 7"/>
          <p:cNvSpPr/>
          <p:nvPr/>
        </p:nvSpPr>
        <p:spPr>
          <a:xfrm>
            <a:off x="7040880" y="2331720"/>
            <a:ext cx="4480560" cy="3794760"/>
          </a:xfrm>
          <a:prstGeom prst="rect">
            <a:avLst/>
          </a:prstGeom>
          <a:noFill/>
          <a:ln/>
        </p:spPr>
        <p:txBody>
          <a:bodyPr wrap="square" lIns="0" tIns="0" rIns="0" bIns="0" rtlCol="0" anchor="t"/>
          <a:lstStyle/>
          <a:p>
            <a:pPr marL="0" indent="0" algn="l">
              <a:spcAft>
                <a:spcPts val="400"/>
              </a:spcAft>
              <a:buNone/>
            </a:pPr>
            <a:r>
              <a:rPr lang="en-US" sz="1150" b="1" dirty="0">
                <a:solidFill>
                  <a:srgbClr val="B91C1C"/>
                </a:solidFill>
                <a:latin typeface="Calibri" pitchFamily="34" charset="0"/>
                <a:ea typeface="Calibri" pitchFamily="34" charset="-122"/>
                <a:cs typeface="Calibri" pitchFamily="34" charset="-120"/>
              </a:rPr>
              <a:t>Antes (ambiguo):</a:t>
            </a:r>
            <a:endParaRPr lang="en-US" sz="1150" dirty="0"/>
          </a:p>
          <a:p>
            <a:pPr marL="0" indent="0" algn="l">
              <a:spcAft>
                <a:spcPts val="1200"/>
              </a:spcAft>
              <a:buNone/>
            </a:pPr>
            <a:r>
              <a:rPr lang="en-US" sz="1150" i="1" dirty="0">
                <a:solidFill>
                  <a:srgbClr val="1E293B"/>
                </a:solidFill>
                <a:latin typeface="Calibri" pitchFamily="34" charset="0"/>
                <a:ea typeface="Calibri" pitchFamily="34" charset="-122"/>
                <a:cs typeface="Calibri" pitchFamily="34" charset="-120"/>
              </a:rPr>
              <a:t>"El sistema debe ser rápido y fácil de usar para todos los dueños de mascotas."</a:t>
            </a:r>
            <a:endParaRPr lang="en-US" sz="1150" dirty="0"/>
          </a:p>
          <a:p>
            <a:pPr marL="0" indent="0" algn="l">
              <a:spcAft>
                <a:spcPts val="200"/>
              </a:spcAft>
              <a:buNone/>
            </a:pPr>
            <a:r>
              <a:rPr lang="en-US" sz="1150" b="1" dirty="0">
                <a:solidFill>
                  <a:srgbClr val="1E293B"/>
                </a:solidFill>
                <a:latin typeface="Calibri" pitchFamily="34" charset="0"/>
                <a:ea typeface="Calibri" pitchFamily="34" charset="-122"/>
                <a:cs typeface="Calibri" pitchFamily="34" charset="-120"/>
              </a:rPr>
              <a:t>Problemas:</a:t>
            </a:r>
            <a:endParaRPr lang="en-US" sz="1150" dirty="0"/>
          </a:p>
          <a:p>
            <a:pPr marL="0" indent="0" algn="l">
              <a:buNone/>
            </a:pPr>
            <a:r>
              <a:rPr lang="en-US" sz="1150" dirty="0">
                <a:solidFill>
                  <a:srgbClr val="475569"/>
                </a:solidFill>
                <a:latin typeface="Calibri" pitchFamily="34" charset="0"/>
                <a:ea typeface="Calibri" pitchFamily="34" charset="-122"/>
                <a:cs typeface="Calibri" pitchFamily="34" charset="-120"/>
              </a:rPr>
              <a:t>- rápido: no medible</a:t>
            </a:r>
            <a:endParaRPr lang="en-US" sz="1150" dirty="0"/>
          </a:p>
          <a:p>
            <a:pPr marL="0" indent="0" algn="l">
              <a:buNone/>
            </a:pPr>
            <a:r>
              <a:rPr lang="en-US" sz="1150" dirty="0">
                <a:solidFill>
                  <a:srgbClr val="475569"/>
                </a:solidFill>
                <a:latin typeface="Calibri" pitchFamily="34" charset="0"/>
                <a:ea typeface="Calibri" pitchFamily="34" charset="-122"/>
                <a:cs typeface="Calibri" pitchFamily="34" charset="-120"/>
              </a:rPr>
              <a:t>- fácil de usar: subjetivo</a:t>
            </a:r>
            <a:endParaRPr lang="en-US" sz="1150" dirty="0"/>
          </a:p>
          <a:p>
            <a:pPr marL="0" indent="0" algn="l">
              <a:spcAft>
                <a:spcPts val="1200"/>
              </a:spcAft>
              <a:buNone/>
            </a:pPr>
            <a:r>
              <a:rPr lang="en-US" sz="1150" dirty="0">
                <a:solidFill>
                  <a:srgbClr val="475569"/>
                </a:solidFill>
                <a:latin typeface="Calibri" pitchFamily="34" charset="0"/>
                <a:ea typeface="Calibri" pitchFamily="34" charset="-122"/>
                <a:cs typeface="Calibri" pitchFamily="34" charset="-120"/>
              </a:rPr>
              <a:t>- todos: totalidad no verificable</a:t>
            </a:r>
            <a:endParaRPr lang="en-US" sz="1150" dirty="0"/>
          </a:p>
          <a:p>
            <a:pPr marL="0" indent="0" algn="l">
              <a:spcAft>
                <a:spcPts val="400"/>
              </a:spcAft>
              <a:buNone/>
            </a:pPr>
            <a:r>
              <a:rPr lang="en-US" sz="1150" b="1" dirty="0">
                <a:solidFill>
                  <a:srgbClr val="2C5F2D"/>
                </a:solidFill>
                <a:latin typeface="Calibri" pitchFamily="34" charset="0"/>
                <a:ea typeface="Calibri" pitchFamily="34" charset="-122"/>
                <a:cs typeface="Calibri" pitchFamily="34" charset="-120"/>
              </a:rPr>
              <a:t>Después (verificable):</a:t>
            </a:r>
            <a:endParaRPr lang="en-US" sz="1150" dirty="0"/>
          </a:p>
          <a:p>
            <a:pPr marL="0" indent="0" algn="l">
              <a:buNone/>
            </a:pPr>
            <a:r>
              <a:rPr lang="en-US" sz="1150" i="1" dirty="0">
                <a:solidFill>
                  <a:srgbClr val="1E293B"/>
                </a:solidFill>
                <a:latin typeface="Calibri" pitchFamily="34" charset="0"/>
                <a:ea typeface="Calibri" pitchFamily="34" charset="-122"/>
                <a:cs typeface="Calibri" pitchFamily="34" charset="-120"/>
              </a:rPr>
              <a:t>"El 90 por ciento de los dueños con al menos educación primaria completa deben lograr registrar una mascota en menos de 3 minutos sin ayuda, medido con SUS mayor o igual a 70."</a:t>
            </a:r>
            <a:endParaRPr lang="en-US" sz="1150" dirty="0"/>
          </a:p>
        </p:txBody>
      </p:sp>
      <p:sp>
        <p:nvSpPr>
          <p:cNvPr id="11" name="Shape 8"/>
          <p:cNvSpPr/>
          <p:nvPr/>
        </p:nvSpPr>
        <p:spPr>
          <a:xfrm>
            <a:off x="0" y="0"/>
            <a:ext cx="12161520" cy="384048"/>
          </a:xfrm>
          <a:prstGeom prst="rect">
            <a:avLst/>
          </a:prstGeom>
          <a:solidFill>
            <a:srgbClr val="2C5F2D"/>
          </a:solidFill>
          <a:ln w="12700">
            <a:solidFill>
              <a:srgbClr val="2C5F2D"/>
            </a:solidFill>
            <a:prstDash val="solid"/>
          </a:ln>
        </p:spPr>
      </p:sp>
      <p:sp>
        <p:nvSpPr>
          <p:cNvPr id="12" name="Text 9"/>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13" name="Text 10"/>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9.3 Ambigüedad</a:t>
            </a:r>
            <a:endParaRPr lang="en-US" sz="1000" dirty="0"/>
          </a:p>
        </p:txBody>
      </p:sp>
      <p:sp>
        <p:nvSpPr>
          <p:cNvPr id="14" name="Text 11"/>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15" name="Text 12"/>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15 / 30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548640"/>
            <a:ext cx="11247120" cy="640080"/>
          </a:xfrm>
          <a:prstGeom prst="rect">
            <a:avLst/>
          </a:prstGeom>
          <a:noFill/>
          <a:ln/>
        </p:spPr>
        <p:txBody>
          <a:bodyPr wrap="square" lIns="0" tIns="0" rIns="0" bIns="0" rtlCol="0" anchor="t"/>
          <a:lstStyle/>
          <a:p>
            <a:pPr marL="0" indent="0" algn="l">
              <a:buNone/>
            </a:pPr>
            <a:r>
              <a:rPr lang="en-US" sz="3000" b="1" dirty="0">
                <a:solidFill>
                  <a:srgbClr val="1E4D8B"/>
                </a:solidFill>
                <a:latin typeface="Cambria" pitchFamily="34" charset="0"/>
                <a:ea typeface="Cambria" pitchFamily="34" charset="-122"/>
                <a:cs typeface="Cambria" pitchFamily="34" charset="-120"/>
              </a:rPr>
              <a:t>9.3 - Plantillas de redacción</a:t>
            </a:r>
            <a:endParaRPr lang="en-US" sz="3000" dirty="0"/>
          </a:p>
        </p:txBody>
      </p:sp>
      <p:sp>
        <p:nvSpPr>
          <p:cNvPr id="3" name="Text 1"/>
          <p:cNvSpPr/>
          <p:nvPr/>
        </p:nvSpPr>
        <p:spPr>
          <a:xfrm>
            <a:off x="457200" y="1188720"/>
            <a:ext cx="11247120" cy="365760"/>
          </a:xfrm>
          <a:prstGeom prst="rect">
            <a:avLst/>
          </a:prstGeom>
          <a:noFill/>
          <a:ln/>
        </p:spPr>
        <p:txBody>
          <a:bodyPr wrap="square" lIns="0" tIns="0" rIns="0" bIns="0" rtlCol="0" anchor="t"/>
          <a:lstStyle/>
          <a:p>
            <a:pPr marL="0" indent="0" algn="l">
              <a:buNone/>
            </a:pPr>
            <a:r>
              <a:rPr lang="en-US" sz="1300" i="1" dirty="0">
                <a:solidFill>
                  <a:srgbClr val="475569"/>
                </a:solidFill>
                <a:latin typeface="Calibri" pitchFamily="34" charset="0"/>
                <a:ea typeface="Calibri" pitchFamily="34" charset="-122"/>
                <a:cs typeface="Calibri" pitchFamily="34" charset="-120"/>
              </a:rPr>
              <a:t>Estructura sintáctica fija para reducir ambigüedad</a:t>
            </a:r>
            <a:endParaRPr lang="en-US" sz="1300" dirty="0"/>
          </a:p>
        </p:txBody>
      </p:sp>
      <p:sp>
        <p:nvSpPr>
          <p:cNvPr id="4" name="Shape 2"/>
          <p:cNvSpPr/>
          <p:nvPr/>
        </p:nvSpPr>
        <p:spPr>
          <a:xfrm>
            <a:off x="457200" y="1783080"/>
            <a:ext cx="5760720" cy="4480560"/>
          </a:xfrm>
          <a:prstGeom prst="roundRect">
            <a:avLst>
              <a:gd name="adj" fmla="val 2041"/>
            </a:avLst>
          </a:prstGeom>
          <a:solidFill>
            <a:srgbClr val="F8FAFC"/>
          </a:solidFill>
          <a:ln w="19050">
            <a:solidFill>
              <a:srgbClr val="2C5F2D"/>
            </a:solidFill>
            <a:prstDash val="solid"/>
          </a:ln>
        </p:spPr>
      </p:sp>
      <p:sp>
        <p:nvSpPr>
          <p:cNvPr id="5" name="Text 3"/>
          <p:cNvSpPr/>
          <p:nvPr/>
        </p:nvSpPr>
        <p:spPr>
          <a:xfrm>
            <a:off x="640080" y="1920240"/>
            <a:ext cx="5394960" cy="365760"/>
          </a:xfrm>
          <a:prstGeom prst="rect">
            <a:avLst/>
          </a:prstGeom>
          <a:noFill/>
          <a:ln/>
        </p:spPr>
        <p:txBody>
          <a:bodyPr wrap="square" lIns="0" tIns="0" rIns="0" bIns="0" rtlCol="0" anchor="ctr"/>
          <a:lstStyle/>
          <a:p>
            <a:pPr marL="0" indent="0" algn="l">
              <a:buNone/>
            </a:pPr>
            <a:r>
              <a:rPr lang="en-US" sz="1600" b="1" dirty="0">
                <a:solidFill>
                  <a:srgbClr val="2C5F2D"/>
                </a:solidFill>
                <a:latin typeface="Cambria" pitchFamily="34" charset="0"/>
                <a:ea typeface="Cambria" pitchFamily="34" charset="-122"/>
                <a:cs typeface="Cambria" pitchFamily="34" charset="-120"/>
              </a:rPr>
              <a:t>Plantilla Rupp (Chris Rupp, SOPHIST)</a:t>
            </a:r>
            <a:endParaRPr lang="en-US" sz="1600" dirty="0"/>
          </a:p>
        </p:txBody>
      </p:sp>
      <p:sp>
        <p:nvSpPr>
          <p:cNvPr id="6" name="Text 4"/>
          <p:cNvSpPr/>
          <p:nvPr/>
        </p:nvSpPr>
        <p:spPr>
          <a:xfrm>
            <a:off x="640080" y="2286000"/>
            <a:ext cx="5394960" cy="274320"/>
          </a:xfrm>
          <a:prstGeom prst="rect">
            <a:avLst/>
          </a:prstGeom>
          <a:noFill/>
          <a:ln/>
        </p:spPr>
        <p:txBody>
          <a:bodyPr wrap="square" lIns="0" tIns="0" rIns="0" bIns="0" rtlCol="0" anchor="ctr"/>
          <a:lstStyle/>
          <a:p>
            <a:pPr marL="0" indent="0" algn="l">
              <a:buNone/>
            </a:pPr>
            <a:r>
              <a:rPr lang="en-US" sz="1100" i="1" dirty="0">
                <a:solidFill>
                  <a:srgbClr val="475569"/>
                </a:solidFill>
                <a:latin typeface="Calibri" pitchFamily="34" charset="0"/>
                <a:ea typeface="Calibri" pitchFamily="34" charset="-122"/>
                <a:cs typeface="Calibri" pitchFamily="34" charset="-120"/>
              </a:rPr>
              <a:t>Recomendada para requisitos funciónales</a:t>
            </a:r>
            <a:endParaRPr lang="en-US" sz="1100" dirty="0"/>
          </a:p>
        </p:txBody>
      </p:sp>
      <p:sp>
        <p:nvSpPr>
          <p:cNvPr id="7" name="Text 5"/>
          <p:cNvSpPr/>
          <p:nvPr/>
        </p:nvSpPr>
        <p:spPr>
          <a:xfrm>
            <a:off x="777240" y="2651760"/>
            <a:ext cx="5349240" cy="3429000"/>
          </a:xfrm>
          <a:prstGeom prst="rect">
            <a:avLst/>
          </a:prstGeom>
          <a:noFill/>
          <a:ln/>
        </p:spPr>
        <p:txBody>
          <a:bodyPr wrap="square" lIns="0" tIns="0" rIns="0" bIns="0" rtlCol="0" anchor="t"/>
          <a:lstStyle/>
          <a:p>
            <a:pPr marL="0" indent="0" algn="l">
              <a:spcAft>
                <a:spcPts val="400"/>
              </a:spcAft>
              <a:buNone/>
            </a:pPr>
            <a:r>
              <a:rPr lang="en-US" sz="1150" b="1" dirty="0">
                <a:solidFill>
                  <a:srgbClr val="1E293B"/>
                </a:solidFill>
                <a:latin typeface="Calibri" pitchFamily="34" charset="0"/>
                <a:ea typeface="Calibri" pitchFamily="34" charset="-122"/>
                <a:cs typeface="Calibri" pitchFamily="34" charset="-120"/>
              </a:rPr>
              <a:t>Sintaxis:</a:t>
            </a:r>
            <a:endParaRPr lang="en-US" sz="1150" dirty="0"/>
          </a:p>
          <a:p>
            <a:pPr marL="0" indent="0" algn="l">
              <a:buNone/>
            </a:pPr>
            <a:r>
              <a:rPr lang="en-US" sz="1150" dirty="0">
                <a:solidFill>
                  <a:srgbClr val="1E293B"/>
                </a:solidFill>
                <a:latin typeface="Calibri" pitchFamily="34" charset="0"/>
                <a:ea typeface="Calibri" pitchFamily="34" charset="-122"/>
                <a:cs typeface="Calibri" pitchFamily="34" charset="-120"/>
              </a:rPr>
              <a:t>[Condición] el </a:t>
            </a:r>
            <a:r>
              <a:rPr lang="en-US" sz="1150" b="1" dirty="0">
                <a:solidFill>
                  <a:srgbClr val="1E4D8B"/>
                </a:solidFill>
                <a:latin typeface="Calibri" pitchFamily="34" charset="0"/>
                <a:ea typeface="Calibri" pitchFamily="34" charset="-122"/>
                <a:cs typeface="Calibri" pitchFamily="34" charset="-120"/>
              </a:rPr>
              <a:t>[SISTEMA] </a:t>
            </a:r>
            <a:r>
              <a:rPr lang="en-US" sz="1150" b="1" dirty="0">
                <a:solidFill>
                  <a:srgbClr val="D4A017"/>
                </a:solidFill>
                <a:latin typeface="Calibri" pitchFamily="34" charset="0"/>
                <a:ea typeface="Calibri" pitchFamily="34" charset="-122"/>
                <a:cs typeface="Calibri" pitchFamily="34" charset="-120"/>
              </a:rPr>
              <a:t>debe / debería / podrá </a:t>
            </a:r>
            <a:r>
              <a:rPr lang="en-US" sz="1150" i="1" dirty="0">
                <a:solidFill>
                  <a:srgbClr val="475569"/>
                </a:solidFill>
                <a:latin typeface="Calibri" pitchFamily="34" charset="0"/>
                <a:ea typeface="Calibri" pitchFamily="34" charset="-122"/>
                <a:cs typeface="Calibri" pitchFamily="34" charset="-120"/>
              </a:rPr>
              <a:t>[obligación modal] </a:t>
            </a:r>
            <a:endParaRPr lang="en-US" sz="1150" dirty="0"/>
          </a:p>
          <a:p>
            <a:pPr marL="0" indent="0" algn="l">
              <a:spcAft>
                <a:spcPts val="1200"/>
              </a:spcAft>
              <a:buNone/>
            </a:pPr>
            <a:r>
              <a:rPr lang="en-US" sz="1150" dirty="0">
                <a:solidFill>
                  <a:srgbClr val="1E293B"/>
                </a:solidFill>
                <a:latin typeface="Calibri" pitchFamily="34" charset="0"/>
                <a:ea typeface="Calibri" pitchFamily="34" charset="-122"/>
                <a:cs typeface="Calibri" pitchFamily="34" charset="-120"/>
              </a:rPr>
              <a:t>[proporciónar a &lt;actor&gt;] [proceso &lt;verbo&gt;] [objeto] [complementos].</a:t>
            </a:r>
            <a:endParaRPr lang="en-US" sz="1150" dirty="0"/>
          </a:p>
          <a:p>
            <a:pPr marL="0" indent="0" algn="l">
              <a:spcAft>
                <a:spcPts val="400"/>
              </a:spcAft>
              <a:buNone/>
            </a:pPr>
            <a:r>
              <a:rPr lang="en-US" sz="1150" b="1" dirty="0">
                <a:solidFill>
                  <a:srgbClr val="2C5F2D"/>
                </a:solidFill>
                <a:latin typeface="Calibri" pitchFamily="34" charset="0"/>
                <a:ea typeface="Calibri" pitchFamily="34" charset="-122"/>
                <a:cs typeface="Calibri" pitchFamily="34" charset="-120"/>
              </a:rPr>
              <a:t>Ejemplo AquaGest:</a:t>
            </a:r>
            <a:endParaRPr lang="en-US" sz="1150" dirty="0"/>
          </a:p>
          <a:p>
            <a:pPr marL="0" indent="0" algn="l">
              <a:spcAft>
                <a:spcPts val="1200"/>
              </a:spcAft>
              <a:buNone/>
            </a:pPr>
            <a:r>
              <a:rPr lang="en-US" sz="1150" i="1" dirty="0">
                <a:solidFill>
                  <a:srgbClr val="1E293B"/>
                </a:solidFill>
                <a:latin typeface="Calibri" pitchFamily="34" charset="0"/>
                <a:ea typeface="Calibri" pitchFamily="34" charset="-122"/>
                <a:cs typeface="Calibri" pitchFamily="34" charset="-120"/>
              </a:rPr>
              <a:t>"Cuando el sensor de oxígeno disuelto reporte un valor menor a 4 mg/L durante 5 minutos consecutivos, el sistema AquaGest debe enviar una notificación push al técnico de turno indicando piscina, valor y hora."</a:t>
            </a:r>
            <a:endParaRPr lang="en-US" sz="1150" dirty="0"/>
          </a:p>
          <a:p>
            <a:pPr marL="0" indent="0" algn="l">
              <a:spcAft>
                <a:spcPts val="400"/>
              </a:spcAft>
              <a:buNone/>
            </a:pPr>
            <a:r>
              <a:rPr lang="en-US" sz="1150" b="1" dirty="0">
                <a:solidFill>
                  <a:srgbClr val="1E293B"/>
                </a:solidFill>
                <a:latin typeface="Calibri" pitchFamily="34" charset="0"/>
                <a:ea typeface="Calibri" pitchFamily="34" charset="-122"/>
                <a:cs typeface="Calibri" pitchFamily="34" charset="-120"/>
              </a:rPr>
              <a:t>Verbos modales (RFC 2119):</a:t>
            </a:r>
            <a:endParaRPr lang="en-US" sz="1150" dirty="0"/>
          </a:p>
          <a:p>
            <a:pPr marL="0" indent="0" algn="l">
              <a:buNone/>
            </a:pPr>
            <a:r>
              <a:rPr lang="en-US" sz="1150" i="1" dirty="0">
                <a:solidFill>
                  <a:srgbClr val="475569"/>
                </a:solidFill>
                <a:latin typeface="Calibri" pitchFamily="34" charset="0"/>
                <a:ea typeface="Calibri" pitchFamily="34" charset="-122"/>
                <a:cs typeface="Calibri" pitchFamily="34" charset="-120"/>
              </a:rPr>
              <a:t>debe (must) = obligatorio  |  debería (should) = recomendado  |  podrá (may) = opcional</a:t>
            </a:r>
            <a:endParaRPr lang="en-US" sz="1150" dirty="0"/>
          </a:p>
        </p:txBody>
      </p:sp>
      <p:sp>
        <p:nvSpPr>
          <p:cNvPr id="8" name="Shape 6"/>
          <p:cNvSpPr/>
          <p:nvPr/>
        </p:nvSpPr>
        <p:spPr>
          <a:xfrm>
            <a:off x="6400800" y="1783080"/>
            <a:ext cx="5303520" cy="4480560"/>
          </a:xfrm>
          <a:prstGeom prst="roundRect">
            <a:avLst>
              <a:gd name="adj" fmla="val 2041"/>
            </a:avLst>
          </a:prstGeom>
          <a:solidFill>
            <a:srgbClr val="F8FAFC"/>
          </a:solidFill>
          <a:ln w="19050">
            <a:solidFill>
              <a:srgbClr val="1E4D8B"/>
            </a:solidFill>
            <a:prstDash val="solid"/>
          </a:ln>
        </p:spPr>
      </p:sp>
      <p:sp>
        <p:nvSpPr>
          <p:cNvPr id="9" name="Text 7"/>
          <p:cNvSpPr/>
          <p:nvPr/>
        </p:nvSpPr>
        <p:spPr>
          <a:xfrm>
            <a:off x="6583680" y="1920240"/>
            <a:ext cx="4937760" cy="365760"/>
          </a:xfrm>
          <a:prstGeom prst="rect">
            <a:avLst/>
          </a:prstGeom>
          <a:noFill/>
          <a:ln/>
        </p:spPr>
        <p:txBody>
          <a:bodyPr wrap="square" lIns="0" tIns="0" rIns="0" bIns="0" rtlCol="0" anchor="ctr"/>
          <a:lstStyle/>
          <a:p>
            <a:pPr marL="0" indent="0" algn="l">
              <a:buNone/>
            </a:pPr>
            <a:r>
              <a:rPr lang="en-US" sz="1600" b="1" dirty="0">
                <a:solidFill>
                  <a:srgbClr val="1E4D8B"/>
                </a:solidFill>
                <a:latin typeface="Cambria" pitchFamily="34" charset="0"/>
                <a:ea typeface="Cambria" pitchFamily="34" charset="-122"/>
                <a:cs typeface="Cambria" pitchFamily="34" charset="-120"/>
              </a:rPr>
              <a:t>Historia de usuario (Connextra)</a:t>
            </a:r>
            <a:endParaRPr lang="en-US" sz="1600" dirty="0"/>
          </a:p>
        </p:txBody>
      </p:sp>
      <p:sp>
        <p:nvSpPr>
          <p:cNvPr id="10" name="Text 8"/>
          <p:cNvSpPr/>
          <p:nvPr/>
        </p:nvSpPr>
        <p:spPr>
          <a:xfrm>
            <a:off x="6583680" y="2286000"/>
            <a:ext cx="4937760" cy="274320"/>
          </a:xfrm>
          <a:prstGeom prst="rect">
            <a:avLst/>
          </a:prstGeom>
          <a:noFill/>
          <a:ln/>
        </p:spPr>
        <p:txBody>
          <a:bodyPr wrap="square" lIns="0" tIns="0" rIns="0" bIns="0" rtlCol="0" anchor="ctr"/>
          <a:lstStyle/>
          <a:p>
            <a:pPr marL="0" indent="0" algn="l">
              <a:buNone/>
            </a:pPr>
            <a:r>
              <a:rPr lang="en-US" sz="1100" i="1" dirty="0">
                <a:solidFill>
                  <a:srgbClr val="475569"/>
                </a:solidFill>
                <a:latin typeface="Calibri" pitchFamily="34" charset="0"/>
                <a:ea typeface="Calibri" pitchFamily="34" charset="-122"/>
                <a:cs typeface="Calibri" pitchFamily="34" charset="-120"/>
              </a:rPr>
              <a:t>Recomendada en enfoques agiles</a:t>
            </a:r>
            <a:endParaRPr lang="en-US" sz="1100" dirty="0"/>
          </a:p>
        </p:txBody>
      </p:sp>
      <p:sp>
        <p:nvSpPr>
          <p:cNvPr id="11" name="Text 9"/>
          <p:cNvSpPr/>
          <p:nvPr/>
        </p:nvSpPr>
        <p:spPr>
          <a:xfrm>
            <a:off x="6720840" y="2651760"/>
            <a:ext cx="4892040" cy="3429000"/>
          </a:xfrm>
          <a:prstGeom prst="rect">
            <a:avLst/>
          </a:prstGeom>
          <a:noFill/>
          <a:ln/>
        </p:spPr>
        <p:txBody>
          <a:bodyPr wrap="square" lIns="0" tIns="0" rIns="0" bIns="0" rtlCol="0" anchor="t"/>
          <a:lstStyle/>
          <a:p>
            <a:pPr marL="0" indent="0" algn="l">
              <a:spcAft>
                <a:spcPts val="400"/>
              </a:spcAft>
              <a:buNone/>
            </a:pPr>
            <a:r>
              <a:rPr lang="en-US" sz="1150" b="1" dirty="0">
                <a:solidFill>
                  <a:srgbClr val="1E293B"/>
                </a:solidFill>
                <a:latin typeface="Calibri" pitchFamily="34" charset="0"/>
                <a:ea typeface="Calibri" pitchFamily="34" charset="-122"/>
                <a:cs typeface="Calibri" pitchFamily="34" charset="-120"/>
              </a:rPr>
              <a:t>Sintaxis:</a:t>
            </a:r>
            <a:endParaRPr lang="en-US" sz="1150" dirty="0"/>
          </a:p>
          <a:p>
            <a:pPr marL="0" indent="0" algn="l">
              <a:buNone/>
            </a:pPr>
            <a:r>
              <a:rPr lang="en-US" sz="1150" dirty="0">
                <a:solidFill>
                  <a:srgbClr val="1E293B"/>
                </a:solidFill>
                <a:latin typeface="Calibri" pitchFamily="34" charset="0"/>
                <a:ea typeface="Calibri" pitchFamily="34" charset="-122"/>
                <a:cs typeface="Calibri" pitchFamily="34" charset="-120"/>
              </a:rPr>
              <a:t>Como </a:t>
            </a:r>
            <a:r>
              <a:rPr lang="en-US" sz="1150" b="1" dirty="0">
                <a:solidFill>
                  <a:srgbClr val="2C5F2D"/>
                </a:solidFill>
                <a:latin typeface="Calibri" pitchFamily="34" charset="0"/>
                <a:ea typeface="Calibri" pitchFamily="34" charset="-122"/>
                <a:cs typeface="Calibri" pitchFamily="34" charset="-120"/>
              </a:rPr>
              <a:t>[rol], </a:t>
            </a:r>
            <a:endParaRPr lang="en-US" sz="1150" dirty="0"/>
          </a:p>
          <a:p>
            <a:pPr marL="0" indent="0" algn="l">
              <a:buNone/>
            </a:pPr>
            <a:r>
              <a:rPr lang="en-US" sz="1150" dirty="0">
                <a:solidFill>
                  <a:srgbClr val="1E293B"/>
                </a:solidFill>
                <a:latin typeface="Calibri" pitchFamily="34" charset="0"/>
                <a:ea typeface="Calibri" pitchFamily="34" charset="-122"/>
                <a:cs typeface="Calibri" pitchFamily="34" charset="-120"/>
              </a:rPr>
              <a:t>quiero </a:t>
            </a:r>
            <a:r>
              <a:rPr lang="en-US" sz="1150" b="1" dirty="0">
                <a:solidFill>
                  <a:srgbClr val="1E4D8B"/>
                </a:solidFill>
                <a:latin typeface="Calibri" pitchFamily="34" charset="0"/>
                <a:ea typeface="Calibri" pitchFamily="34" charset="-122"/>
                <a:cs typeface="Calibri" pitchFamily="34" charset="-120"/>
              </a:rPr>
              <a:t>[funciónalidad], </a:t>
            </a:r>
            <a:endParaRPr lang="en-US" sz="1150" dirty="0"/>
          </a:p>
          <a:p>
            <a:pPr marL="0" indent="0" algn="l">
              <a:buNone/>
            </a:pPr>
            <a:r>
              <a:rPr lang="en-US" sz="1150" dirty="0">
                <a:solidFill>
                  <a:srgbClr val="1E293B"/>
                </a:solidFill>
                <a:latin typeface="Calibri" pitchFamily="34" charset="0"/>
                <a:ea typeface="Calibri" pitchFamily="34" charset="-122"/>
                <a:cs typeface="Calibri" pitchFamily="34" charset="-120"/>
              </a:rPr>
              <a:t>para </a:t>
            </a:r>
            <a:r>
              <a:rPr lang="en-US" sz="1150" b="1" dirty="0">
                <a:solidFill>
                  <a:srgbClr val="D4A017"/>
                </a:solidFill>
                <a:latin typeface="Calibri" pitchFamily="34" charset="0"/>
                <a:ea typeface="Calibri" pitchFamily="34" charset="-122"/>
                <a:cs typeface="Calibri" pitchFamily="34" charset="-120"/>
              </a:rPr>
              <a:t>[beneficio de negocio].</a:t>
            </a:r>
            <a:endParaRPr lang="en-US" sz="1150" dirty="0"/>
          </a:p>
          <a:p>
            <a:pPr marL="0" indent="0" algn="l">
              <a:spcAft>
                <a:spcPts val="200"/>
              </a:spcAft>
              <a:buNone/>
            </a:pPr>
            <a:r>
              <a:rPr lang="en-US" sz="1150" b="1" dirty="0">
                <a:solidFill>
                  <a:srgbClr val="1E293B"/>
                </a:solidFill>
                <a:latin typeface="Calibri" pitchFamily="34" charset="0"/>
                <a:ea typeface="Calibri" pitchFamily="34" charset="-122"/>
                <a:cs typeface="Calibri" pitchFamily="34" charset="-120"/>
              </a:rPr>
              <a:t>Debe cumplir INVEST (Bill Wake, 2003):</a:t>
            </a:r>
            <a:endParaRPr lang="en-US" sz="1150" dirty="0"/>
          </a:p>
          <a:p>
            <a:pPr marL="0" indent="0" algn="l">
              <a:spcAft>
                <a:spcPts val="1000"/>
              </a:spcAft>
              <a:buNone/>
            </a:pPr>
            <a:r>
              <a:rPr lang="en-US" sz="1150" i="1" dirty="0">
                <a:solidFill>
                  <a:srgbClr val="475569"/>
                </a:solidFill>
                <a:latin typeface="Calibri" pitchFamily="34" charset="0"/>
                <a:ea typeface="Calibri" pitchFamily="34" charset="-122"/>
                <a:cs typeface="Calibri" pitchFamily="34" charset="-120"/>
              </a:rPr>
              <a:t>Independent, Negotiable, Valuable, Estimable, Small, Testable.</a:t>
            </a:r>
            <a:endParaRPr lang="en-US" sz="1150" dirty="0"/>
          </a:p>
          <a:p>
            <a:pPr marL="0" indent="0" algn="l">
              <a:spcAft>
                <a:spcPts val="400"/>
              </a:spcAft>
              <a:buNone/>
            </a:pPr>
            <a:r>
              <a:rPr lang="en-US" sz="1150" b="1" dirty="0">
                <a:solidFill>
                  <a:srgbClr val="1E4D8B"/>
                </a:solidFill>
                <a:latin typeface="Calibri" pitchFamily="34" charset="0"/>
                <a:ea typeface="Calibri" pitchFamily="34" charset="-122"/>
                <a:cs typeface="Calibri" pitchFamily="34" charset="-120"/>
              </a:rPr>
              <a:t>Ejemplo MundiPets:</a:t>
            </a:r>
            <a:endParaRPr lang="en-US" sz="1150" dirty="0"/>
          </a:p>
          <a:p>
            <a:pPr marL="0" indent="0" algn="l">
              <a:spcAft>
                <a:spcPts val="800"/>
              </a:spcAft>
              <a:buNone/>
            </a:pPr>
            <a:r>
              <a:rPr lang="en-US" sz="1150" i="1" dirty="0">
                <a:solidFill>
                  <a:srgbClr val="1E293B"/>
                </a:solidFill>
                <a:latin typeface="Calibri" pitchFamily="34" charset="0"/>
                <a:ea typeface="Calibri" pitchFamily="34" charset="-122"/>
                <a:cs typeface="Calibri" pitchFamily="34" charset="-120"/>
              </a:rPr>
              <a:t>"Como dueño de mascota, quiero recibir un recordatorio 24 horas antes de la vacuna programada, para no incurrir en incumplimiento del plan sanitario."</a:t>
            </a:r>
            <a:endParaRPr lang="en-US" sz="1150" dirty="0"/>
          </a:p>
          <a:p>
            <a:pPr marL="0" indent="0" algn="l">
              <a:spcAft>
                <a:spcPts val="200"/>
              </a:spcAft>
              <a:buNone/>
            </a:pPr>
            <a:r>
              <a:rPr lang="en-US" sz="1150" b="1" dirty="0">
                <a:solidFill>
                  <a:srgbClr val="2C5F2D"/>
                </a:solidFill>
                <a:latin typeface="Calibri" pitchFamily="34" charset="0"/>
                <a:ea typeface="Calibri" pitchFamily="34" charset="-122"/>
                <a:cs typeface="Calibri" pitchFamily="34" charset="-120"/>
              </a:rPr>
              <a:t>Criterio de aceptación BDD:</a:t>
            </a:r>
            <a:endParaRPr lang="en-US" sz="1150" dirty="0"/>
          </a:p>
          <a:p>
            <a:pPr marL="0" indent="0" algn="l">
              <a:buNone/>
            </a:pPr>
            <a:r>
              <a:rPr lang="en-US" sz="1100" i="1" dirty="0">
                <a:solidFill>
                  <a:srgbClr val="1E293B"/>
                </a:solidFill>
                <a:latin typeface="Calibri" pitchFamily="34" charset="0"/>
                <a:ea typeface="Calibri" pitchFamily="34" charset="-122"/>
                <a:cs typeface="Calibri" pitchFamily="34" charset="-120"/>
              </a:rPr>
              <a:t>Dado un canino con vacuna programada para el 15-jul-2026, cuando sea el 14-jul-2026 a las 09:00, entonces el sistema enviará notificación push y correo al dueño.</a:t>
            </a:r>
            <a:endParaRPr lang="en-US" sz="1150" dirty="0"/>
          </a:p>
        </p:txBody>
      </p:sp>
      <p:sp>
        <p:nvSpPr>
          <p:cNvPr id="13" name="Shape 10"/>
          <p:cNvSpPr/>
          <p:nvPr/>
        </p:nvSpPr>
        <p:spPr>
          <a:xfrm>
            <a:off x="0" y="0"/>
            <a:ext cx="12161520" cy="384048"/>
          </a:xfrm>
          <a:prstGeom prst="rect">
            <a:avLst/>
          </a:prstGeom>
          <a:solidFill>
            <a:srgbClr val="2C5F2D"/>
          </a:solidFill>
          <a:ln w="12700">
            <a:solidFill>
              <a:srgbClr val="2C5F2D"/>
            </a:solidFill>
            <a:prstDash val="solid"/>
          </a:ln>
        </p:spPr>
      </p:sp>
      <p:sp>
        <p:nvSpPr>
          <p:cNvPr id="14" name="Text 11"/>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15" name="Text 12"/>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9.3 Plantillas</a:t>
            </a:r>
            <a:endParaRPr lang="en-US" sz="1000" dirty="0"/>
          </a:p>
        </p:txBody>
      </p:sp>
      <p:sp>
        <p:nvSpPr>
          <p:cNvPr id="16" name="Text 13"/>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17" name="Text 14"/>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16 / 30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548640"/>
            <a:ext cx="11247120" cy="640080"/>
          </a:xfrm>
          <a:prstGeom prst="rect">
            <a:avLst/>
          </a:prstGeom>
          <a:noFill/>
          <a:ln/>
        </p:spPr>
        <p:txBody>
          <a:bodyPr wrap="square" lIns="0" tIns="0" rIns="0" bIns="0" rtlCol="0" anchor="t"/>
          <a:lstStyle/>
          <a:p>
            <a:pPr marL="0" indent="0" algn="l">
              <a:buNone/>
            </a:pPr>
            <a:r>
              <a:rPr lang="en-US" sz="3000" b="1" dirty="0">
                <a:solidFill>
                  <a:srgbClr val="1E4D8B"/>
                </a:solidFill>
                <a:latin typeface="Cambria" pitchFamily="34" charset="0"/>
                <a:ea typeface="Cambria" pitchFamily="34" charset="-122"/>
                <a:cs typeface="Cambria" pitchFamily="34" charset="-120"/>
              </a:rPr>
              <a:t>9.4 - Combinación de UML y texto</a:t>
            </a:r>
            <a:endParaRPr lang="en-US" sz="3000" dirty="0"/>
          </a:p>
        </p:txBody>
      </p:sp>
      <p:sp>
        <p:nvSpPr>
          <p:cNvPr id="3" name="Text 1"/>
          <p:cNvSpPr/>
          <p:nvPr/>
        </p:nvSpPr>
        <p:spPr>
          <a:xfrm>
            <a:off x="457200" y="1188720"/>
            <a:ext cx="11247120" cy="365760"/>
          </a:xfrm>
          <a:prstGeom prst="rect">
            <a:avLst/>
          </a:prstGeom>
          <a:noFill/>
          <a:ln/>
        </p:spPr>
        <p:txBody>
          <a:bodyPr wrap="square" lIns="0" tIns="0" rIns="0" bIns="0" rtlCol="0" anchor="t"/>
          <a:lstStyle/>
          <a:p>
            <a:pPr marL="0" indent="0" algn="l">
              <a:buNone/>
            </a:pPr>
            <a:r>
              <a:rPr lang="en-US" sz="1300" i="1" dirty="0">
                <a:solidFill>
                  <a:srgbClr val="475569"/>
                </a:solidFill>
                <a:latin typeface="Calibri" pitchFamily="34" charset="0"/>
                <a:ea typeface="Calibri" pitchFamily="34" charset="-122"/>
                <a:cs typeface="Calibri" pitchFamily="34" charset="-120"/>
              </a:rPr>
              <a:t>El modelo gráfico y el texto se anotan mutuamente</a:t>
            </a:r>
            <a:endParaRPr lang="en-US" sz="1300" dirty="0"/>
          </a:p>
        </p:txBody>
      </p:sp>
      <p:sp>
        <p:nvSpPr>
          <p:cNvPr id="4" name="Shape 2"/>
          <p:cNvSpPr/>
          <p:nvPr/>
        </p:nvSpPr>
        <p:spPr>
          <a:xfrm>
            <a:off x="457200" y="1783080"/>
            <a:ext cx="3657600" cy="4480560"/>
          </a:xfrm>
          <a:prstGeom prst="roundRect">
            <a:avLst>
              <a:gd name="adj" fmla="val 2500"/>
            </a:avLst>
          </a:prstGeom>
          <a:solidFill>
            <a:srgbClr val="F8FAFC"/>
          </a:solidFill>
          <a:ln w="19050">
            <a:solidFill>
              <a:srgbClr val="2C5F2D"/>
            </a:solidFill>
            <a:prstDash val="solid"/>
          </a:ln>
        </p:spPr>
      </p:sp>
      <p:sp>
        <p:nvSpPr>
          <p:cNvPr id="5" name="Text 3"/>
          <p:cNvSpPr/>
          <p:nvPr/>
        </p:nvSpPr>
        <p:spPr>
          <a:xfrm>
            <a:off x="640080" y="1920240"/>
            <a:ext cx="3291840" cy="365760"/>
          </a:xfrm>
          <a:prstGeom prst="rect">
            <a:avLst/>
          </a:prstGeom>
          <a:noFill/>
          <a:ln/>
        </p:spPr>
        <p:txBody>
          <a:bodyPr wrap="square" lIns="0" tIns="0" rIns="0" bIns="0" rtlCol="0" anchor="ctr"/>
          <a:lstStyle/>
          <a:p>
            <a:pPr marL="0" indent="0" algn="l">
              <a:buNone/>
            </a:pPr>
            <a:r>
              <a:rPr lang="en-US" sz="1500" b="1" dirty="0">
                <a:solidFill>
                  <a:srgbClr val="2C5F2D"/>
                </a:solidFill>
                <a:latin typeface="Cambria" pitchFamily="34" charset="0"/>
                <a:ea typeface="Cambria" pitchFamily="34" charset="-122"/>
                <a:cs typeface="Cambria" pitchFamily="34" charset="-120"/>
              </a:rPr>
              <a:t>Modelo UML (Caso de uso)</a:t>
            </a:r>
            <a:endParaRPr lang="en-US" sz="1500" dirty="0"/>
          </a:p>
        </p:txBody>
      </p:sp>
      <p:pic>
        <p:nvPicPr>
          <p:cNvPr id="6" name="Image 0" descr="preencoded.png"/>
          <p:cNvPicPr>
            <a:picLocks noChangeAspect="1"/>
          </p:cNvPicPr>
          <p:nvPr/>
        </p:nvPicPr>
        <p:blipFill>
          <a:blip r:embed="rId3"/>
          <a:stretch>
            <a:fillRect/>
          </a:stretch>
        </p:blipFill>
        <p:spPr>
          <a:xfrm>
            <a:off x="822960" y="3017520"/>
            <a:ext cx="731520" cy="731520"/>
          </a:xfrm>
          <a:prstGeom prst="rect">
            <a:avLst/>
          </a:prstGeom>
        </p:spPr>
      </p:pic>
      <p:sp>
        <p:nvSpPr>
          <p:cNvPr id="7" name="Text 4"/>
          <p:cNvSpPr/>
          <p:nvPr/>
        </p:nvSpPr>
        <p:spPr>
          <a:xfrm>
            <a:off x="594360" y="3794760"/>
            <a:ext cx="1188720" cy="274320"/>
          </a:xfrm>
          <a:prstGeom prst="rect">
            <a:avLst/>
          </a:prstGeom>
          <a:noFill/>
          <a:ln/>
        </p:spPr>
        <p:txBody>
          <a:bodyPr wrap="square" lIns="0" tIns="0" rIns="0" bIns="0" rtlCol="0" anchor="t"/>
          <a:lstStyle/>
          <a:p>
            <a:pPr marL="0" indent="0" algn="ctr">
              <a:buNone/>
            </a:pPr>
            <a:r>
              <a:rPr lang="en-US" sz="1000" b="1" dirty="0">
                <a:solidFill>
                  <a:srgbClr val="1E293B"/>
                </a:solidFill>
                <a:latin typeface="Calibri" pitchFamily="34" charset="0"/>
                <a:ea typeface="Calibri" pitchFamily="34" charset="-122"/>
                <a:cs typeface="Calibri" pitchFamily="34" charset="-120"/>
              </a:rPr>
              <a:t>Veterinario</a:t>
            </a:r>
            <a:endParaRPr lang="en-US" sz="1000" dirty="0"/>
          </a:p>
        </p:txBody>
      </p:sp>
      <p:sp>
        <p:nvSpPr>
          <p:cNvPr id="8" name="Shape 5"/>
          <p:cNvSpPr/>
          <p:nvPr/>
        </p:nvSpPr>
        <p:spPr>
          <a:xfrm>
            <a:off x="2011680" y="2880360"/>
            <a:ext cx="1920240" cy="1005840"/>
          </a:xfrm>
          <a:prstGeom prst="ellipse">
            <a:avLst/>
          </a:prstGeom>
          <a:solidFill>
            <a:srgbClr val="FFFFFF"/>
          </a:solidFill>
          <a:ln w="25400">
            <a:solidFill>
              <a:srgbClr val="1E4D8B"/>
            </a:solidFill>
            <a:prstDash val="solid"/>
          </a:ln>
        </p:spPr>
      </p:sp>
      <p:sp>
        <p:nvSpPr>
          <p:cNvPr id="9" name="Text 6"/>
          <p:cNvSpPr/>
          <p:nvPr/>
        </p:nvSpPr>
        <p:spPr>
          <a:xfrm>
            <a:off x="2011680" y="2880360"/>
            <a:ext cx="1920240" cy="1005840"/>
          </a:xfrm>
          <a:prstGeom prst="rect">
            <a:avLst/>
          </a:prstGeom>
          <a:noFill/>
          <a:ln/>
        </p:spPr>
        <p:txBody>
          <a:bodyPr wrap="square" lIns="0" tIns="0" rIns="0" bIns="0"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Registrar</a:t>
            </a:r>
            <a:endParaRPr lang="en-US" sz="1000" dirty="0"/>
          </a:p>
          <a:p>
            <a:pPr marL="0" indent="0" algn="ctr">
              <a:buNone/>
            </a:pPr>
            <a:r>
              <a:rPr lang="en-US" sz="1000" dirty="0">
                <a:solidFill>
                  <a:srgbClr val="1E293B"/>
                </a:solidFill>
                <a:latin typeface="Calibri" pitchFamily="34" charset="0"/>
                <a:ea typeface="Calibri" pitchFamily="34" charset="-122"/>
                <a:cs typeface="Calibri" pitchFamily="34" charset="-120"/>
              </a:rPr>
              <a:t>historia clínica</a:t>
            </a:r>
            <a:endParaRPr lang="en-US" sz="1000" dirty="0"/>
          </a:p>
        </p:txBody>
      </p:sp>
      <p:sp>
        <p:nvSpPr>
          <p:cNvPr id="10" name="Shape 7"/>
          <p:cNvSpPr/>
          <p:nvPr/>
        </p:nvSpPr>
        <p:spPr>
          <a:xfrm>
            <a:off x="1600200" y="3383280"/>
            <a:ext cx="411480" cy="0"/>
          </a:xfrm>
          <a:prstGeom prst="line">
            <a:avLst/>
          </a:prstGeom>
          <a:noFill/>
          <a:ln w="12700">
            <a:solidFill>
              <a:srgbClr val="1E293B"/>
            </a:solidFill>
            <a:prstDash val="solid"/>
          </a:ln>
        </p:spPr>
      </p:sp>
      <p:sp>
        <p:nvSpPr>
          <p:cNvPr id="11" name="Text 8"/>
          <p:cNvSpPr/>
          <p:nvPr/>
        </p:nvSpPr>
        <p:spPr>
          <a:xfrm>
            <a:off x="2011680" y="3977640"/>
            <a:ext cx="1920240" cy="274320"/>
          </a:xfrm>
          <a:prstGeom prst="rect">
            <a:avLst/>
          </a:prstGeom>
          <a:noFill/>
          <a:ln/>
        </p:spPr>
        <p:txBody>
          <a:bodyPr wrap="square" lIns="0" tIns="0" rIns="0" bIns="0" rtlCol="0" anchor="t"/>
          <a:lstStyle/>
          <a:p>
            <a:pPr marL="0" indent="0" algn="ctr">
              <a:buNone/>
            </a:pPr>
            <a:r>
              <a:rPr lang="en-US" sz="1000" b="1" dirty="0">
                <a:solidFill>
                  <a:srgbClr val="D4A017"/>
                </a:solidFill>
                <a:latin typeface="Calibri" pitchFamily="34" charset="0"/>
                <a:ea typeface="Calibri" pitchFamily="34" charset="-122"/>
                <a:cs typeface="Calibri" pitchFamily="34" charset="-120"/>
              </a:rPr>
              <a:t>UC-08</a:t>
            </a:r>
            <a:endParaRPr lang="en-US" sz="1000" dirty="0"/>
          </a:p>
        </p:txBody>
      </p:sp>
      <p:sp>
        <p:nvSpPr>
          <p:cNvPr id="12" name="Text 9"/>
          <p:cNvSpPr/>
          <p:nvPr/>
        </p:nvSpPr>
        <p:spPr>
          <a:xfrm>
            <a:off x="640080" y="4572000"/>
            <a:ext cx="3291840" cy="320040"/>
          </a:xfrm>
          <a:prstGeom prst="rect">
            <a:avLst/>
          </a:prstGeom>
          <a:noFill/>
          <a:ln/>
        </p:spPr>
        <p:txBody>
          <a:bodyPr wrap="square" lIns="0" tIns="0" rIns="0" bIns="0" rtlCol="0" anchor="ctr"/>
          <a:lstStyle/>
          <a:p>
            <a:pPr marL="0" indent="0" algn="ctr">
              <a:buNone/>
            </a:pPr>
            <a:r>
              <a:rPr lang="en-US" sz="1000" i="1" dirty="0">
                <a:solidFill>
                  <a:srgbClr val="475569"/>
                </a:solidFill>
                <a:latin typeface="Calibri" pitchFamily="34" charset="0"/>
                <a:ea typeface="Calibri" pitchFamily="34" charset="-122"/>
                <a:cs typeface="Calibri" pitchFamily="34" charset="-120"/>
              </a:rPr>
              <a:t>&lt;&lt; incluye RF-08 &gt;&gt;</a:t>
            </a:r>
            <a:endParaRPr lang="en-US" sz="1000" dirty="0"/>
          </a:p>
        </p:txBody>
      </p:sp>
      <p:sp>
        <p:nvSpPr>
          <p:cNvPr id="13" name="Text 10"/>
          <p:cNvSpPr/>
          <p:nvPr/>
        </p:nvSpPr>
        <p:spPr>
          <a:xfrm>
            <a:off x="640080" y="5349240"/>
            <a:ext cx="3291840" cy="365760"/>
          </a:xfrm>
          <a:prstGeom prst="rect">
            <a:avLst/>
          </a:prstGeom>
          <a:noFill/>
          <a:ln/>
        </p:spPr>
        <p:txBody>
          <a:bodyPr wrap="square" lIns="0" tIns="0" rIns="0" bIns="0" rtlCol="0" anchor="ctr"/>
          <a:lstStyle/>
          <a:p>
            <a:pPr marL="0" indent="0" algn="ctr">
              <a:buNone/>
            </a:pPr>
            <a:r>
              <a:rPr lang="en-US" sz="1100" b="1" i="1" dirty="0">
                <a:solidFill>
                  <a:srgbClr val="1E4D8B"/>
                </a:solidFill>
                <a:latin typeface="Calibri" pitchFamily="34" charset="0"/>
                <a:ea typeface="Calibri" pitchFamily="34" charset="-122"/>
                <a:cs typeface="Calibri" pitchFamily="34" charset="-120"/>
              </a:rPr>
              <a:t>Ejemplo: PFC MundiPets</a:t>
            </a:r>
            <a:endParaRPr lang="en-US" sz="1100" dirty="0"/>
          </a:p>
        </p:txBody>
      </p:sp>
      <p:pic>
        <p:nvPicPr>
          <p:cNvPr id="14" name="Image 1" descr="preencoded.png"/>
          <p:cNvPicPr>
            <a:picLocks noChangeAspect="1"/>
          </p:cNvPicPr>
          <p:nvPr/>
        </p:nvPicPr>
        <p:blipFill>
          <a:blip r:embed="rId4"/>
          <a:stretch>
            <a:fillRect/>
          </a:stretch>
        </p:blipFill>
        <p:spPr>
          <a:xfrm>
            <a:off x="4343400" y="3703320"/>
            <a:ext cx="822960" cy="822960"/>
          </a:xfrm>
          <a:prstGeom prst="rect">
            <a:avLst/>
          </a:prstGeom>
        </p:spPr>
      </p:pic>
      <p:sp>
        <p:nvSpPr>
          <p:cNvPr id="15" name="Shape 11"/>
          <p:cNvSpPr/>
          <p:nvPr/>
        </p:nvSpPr>
        <p:spPr>
          <a:xfrm>
            <a:off x="5349240" y="1783080"/>
            <a:ext cx="6355080" cy="4480560"/>
          </a:xfrm>
          <a:prstGeom prst="roundRect">
            <a:avLst>
              <a:gd name="adj" fmla="val 2041"/>
            </a:avLst>
          </a:prstGeom>
          <a:solidFill>
            <a:srgbClr val="F8FAFC"/>
          </a:solidFill>
          <a:ln w="19050">
            <a:solidFill>
              <a:srgbClr val="1E4D8B"/>
            </a:solidFill>
            <a:prstDash val="solid"/>
          </a:ln>
        </p:spPr>
      </p:sp>
      <p:sp>
        <p:nvSpPr>
          <p:cNvPr id="16" name="Text 12"/>
          <p:cNvSpPr/>
          <p:nvPr/>
        </p:nvSpPr>
        <p:spPr>
          <a:xfrm>
            <a:off x="5532120" y="1920240"/>
            <a:ext cx="5989320" cy="365760"/>
          </a:xfrm>
          <a:prstGeom prst="rect">
            <a:avLst/>
          </a:prstGeom>
          <a:noFill/>
          <a:ln/>
        </p:spPr>
        <p:txBody>
          <a:bodyPr wrap="square" lIns="0" tIns="0" rIns="0" bIns="0" rtlCol="0" anchor="ctr"/>
          <a:lstStyle/>
          <a:p>
            <a:pPr marL="0" indent="0" algn="l">
              <a:buNone/>
            </a:pPr>
            <a:r>
              <a:rPr lang="en-US" sz="1500" b="1" dirty="0">
                <a:solidFill>
                  <a:srgbClr val="1E4D8B"/>
                </a:solidFill>
                <a:latin typeface="Cambria" pitchFamily="34" charset="0"/>
                <a:ea typeface="Cambria" pitchFamily="34" charset="-122"/>
                <a:cs typeface="Cambria" pitchFamily="34" charset="-120"/>
              </a:rPr>
              <a:t>Especificación textual asociada (RF-08)</a:t>
            </a:r>
            <a:endParaRPr lang="en-US" sz="1500" dirty="0"/>
          </a:p>
        </p:txBody>
      </p:sp>
      <p:sp>
        <p:nvSpPr>
          <p:cNvPr id="17" name="Text 13"/>
          <p:cNvSpPr/>
          <p:nvPr/>
        </p:nvSpPr>
        <p:spPr>
          <a:xfrm>
            <a:off x="5623560" y="2331720"/>
            <a:ext cx="5943600" cy="3794760"/>
          </a:xfrm>
          <a:prstGeom prst="rect">
            <a:avLst/>
          </a:prstGeom>
          <a:noFill/>
          <a:ln/>
        </p:spPr>
        <p:txBody>
          <a:bodyPr wrap="square" lIns="0" tIns="0" rIns="0" bIns="0" rtlCol="0" anchor="t"/>
          <a:lstStyle/>
          <a:p>
            <a:pPr marL="0" indent="0" algn="l">
              <a:buNone/>
            </a:pPr>
            <a:r>
              <a:rPr lang="en-US" sz="1150" b="1" dirty="0">
                <a:solidFill>
                  <a:srgbClr val="2C5F2D"/>
                </a:solidFill>
                <a:latin typeface="Calibri" pitchFamily="34" charset="0"/>
                <a:ea typeface="Calibri" pitchFamily="34" charset="-122"/>
                <a:cs typeface="Calibri" pitchFamily="34" charset="-120"/>
              </a:rPr>
              <a:t>ID: </a:t>
            </a:r>
            <a:r>
              <a:rPr lang="en-US" sz="1150" dirty="0">
                <a:solidFill>
                  <a:srgbClr val="1E293B"/>
                </a:solidFill>
                <a:latin typeface="Calibri" pitchFamily="34" charset="0"/>
                <a:ea typeface="Calibri" pitchFamily="34" charset="-122"/>
                <a:cs typeface="Calibri" pitchFamily="34" charset="-120"/>
              </a:rPr>
              <a:t>RF-08     </a:t>
            </a:r>
            <a:r>
              <a:rPr lang="en-US" sz="1150" b="1" dirty="0">
                <a:solidFill>
                  <a:srgbClr val="2C5F2D"/>
                </a:solidFill>
                <a:latin typeface="Calibri" pitchFamily="34" charset="0"/>
                <a:ea typeface="Calibri" pitchFamily="34" charset="-122"/>
                <a:cs typeface="Calibri" pitchFamily="34" charset="-120"/>
              </a:rPr>
              <a:t>Caso de uso: </a:t>
            </a:r>
            <a:r>
              <a:rPr lang="en-US" sz="1150" dirty="0">
                <a:solidFill>
                  <a:srgbClr val="1E293B"/>
                </a:solidFill>
                <a:latin typeface="Calibri" pitchFamily="34" charset="0"/>
                <a:ea typeface="Calibri" pitchFamily="34" charset="-122"/>
                <a:cs typeface="Calibri" pitchFamily="34" charset="-120"/>
              </a:rPr>
              <a:t>UC-08 (Registrar historia clínica)</a:t>
            </a:r>
            <a:endParaRPr lang="en-US" sz="1150" dirty="0"/>
          </a:p>
          <a:p>
            <a:pPr marL="0" indent="0" algn="l">
              <a:buNone/>
            </a:pPr>
            <a:r>
              <a:rPr lang="en-US" sz="1150" b="1" dirty="0">
                <a:solidFill>
                  <a:srgbClr val="2C5F2D"/>
                </a:solidFill>
                <a:latin typeface="Calibri" pitchFamily="34" charset="0"/>
                <a:ea typeface="Calibri" pitchFamily="34" charset="-122"/>
                <a:cs typeface="Calibri" pitchFamily="34" charset="-120"/>
              </a:rPr>
              <a:t>Actor principal: </a:t>
            </a:r>
            <a:r>
              <a:rPr lang="en-US" sz="1150" dirty="0">
                <a:solidFill>
                  <a:srgbClr val="1E293B"/>
                </a:solidFill>
                <a:latin typeface="Calibri" pitchFamily="34" charset="0"/>
                <a:ea typeface="Calibri" pitchFamily="34" charset="-122"/>
                <a:cs typeface="Calibri" pitchFamily="34" charset="-120"/>
              </a:rPr>
              <a:t>Veterinario</a:t>
            </a:r>
            <a:endParaRPr lang="en-US" sz="1150" dirty="0"/>
          </a:p>
          <a:p>
            <a:pPr marL="0" indent="0" algn="l">
              <a:buNone/>
            </a:pPr>
            <a:r>
              <a:rPr lang="en-US" sz="1150" b="1" dirty="0">
                <a:solidFill>
                  <a:srgbClr val="2C5F2D"/>
                </a:solidFill>
                <a:latin typeface="Calibri" pitchFamily="34" charset="0"/>
                <a:ea typeface="Calibri" pitchFamily="34" charset="-122"/>
                <a:cs typeface="Calibri" pitchFamily="34" charset="-120"/>
              </a:rPr>
              <a:t>Precondición: </a:t>
            </a:r>
            <a:r>
              <a:rPr lang="en-US" sz="1150" dirty="0">
                <a:solidFill>
                  <a:srgbClr val="1E293B"/>
                </a:solidFill>
                <a:latin typeface="Calibri" pitchFamily="34" charset="0"/>
                <a:ea typeface="Calibri" pitchFamily="34" charset="-122"/>
                <a:cs typeface="Calibri" pitchFamily="34" charset="-120"/>
              </a:rPr>
              <a:t>El veterinario está autenticado y la mascota está registrada.</a:t>
            </a:r>
            <a:endParaRPr lang="en-US" sz="1150" dirty="0"/>
          </a:p>
          <a:p>
            <a:pPr marL="0" indent="0" algn="l">
              <a:buNone/>
            </a:pPr>
            <a:r>
              <a:rPr lang="en-US" sz="1150" b="1" dirty="0">
                <a:solidFill>
                  <a:srgbClr val="2C5F2D"/>
                </a:solidFill>
                <a:latin typeface="Calibri" pitchFamily="34" charset="0"/>
                <a:ea typeface="Calibri" pitchFamily="34" charset="-122"/>
                <a:cs typeface="Calibri" pitchFamily="34" charset="-120"/>
              </a:rPr>
              <a:t>Descripción: </a:t>
            </a:r>
            <a:r>
              <a:rPr lang="en-US" sz="1150" dirty="0">
                <a:solidFill>
                  <a:srgbClr val="1E293B"/>
                </a:solidFill>
                <a:latin typeface="Calibri" pitchFamily="34" charset="0"/>
                <a:ea typeface="Calibri" pitchFamily="34" charset="-122"/>
                <a:cs typeface="Calibri" pitchFamily="34" charset="-120"/>
              </a:rPr>
              <a:t>Cuando el veterinario acceda a la ficha de la mascota, el sistema MundiPets debe permitirle registrar consultas con fecha, motivo, diagnostico, tratamiento e imagenes.</a:t>
            </a:r>
            <a:endParaRPr lang="en-US" sz="1150" dirty="0"/>
          </a:p>
          <a:p>
            <a:pPr marL="0" indent="0" algn="l">
              <a:buNone/>
            </a:pPr>
            <a:r>
              <a:rPr lang="en-US" sz="1150" b="1" dirty="0">
                <a:solidFill>
                  <a:srgbClr val="2C5F2D"/>
                </a:solidFill>
                <a:latin typeface="Calibri" pitchFamily="34" charset="0"/>
                <a:ea typeface="Calibri" pitchFamily="34" charset="-122"/>
                <a:cs typeface="Calibri" pitchFamily="34" charset="-120"/>
              </a:rPr>
              <a:t>Postcondición: </a:t>
            </a:r>
            <a:r>
              <a:rPr lang="en-US" sz="1150" dirty="0">
                <a:solidFill>
                  <a:srgbClr val="1E293B"/>
                </a:solidFill>
                <a:latin typeface="Calibri" pitchFamily="34" charset="0"/>
                <a:ea typeface="Calibri" pitchFamily="34" charset="-122"/>
                <a:cs typeface="Calibri" pitchFamily="34" charset="-120"/>
              </a:rPr>
              <a:t>La historia clínica queda persistida y disponible para futuras consultas.</a:t>
            </a:r>
            <a:endParaRPr lang="en-US" sz="1150" dirty="0"/>
          </a:p>
          <a:p>
            <a:pPr marL="0" indent="0" algn="l">
              <a:buNone/>
            </a:pPr>
            <a:r>
              <a:rPr lang="en-US" sz="1150" b="1" dirty="0">
                <a:solidFill>
                  <a:srgbClr val="2C5F2D"/>
                </a:solidFill>
                <a:latin typeface="Calibri" pitchFamily="34" charset="0"/>
                <a:ea typeface="Calibri" pitchFamily="34" charset="-122"/>
                <a:cs typeface="Calibri" pitchFamily="34" charset="-120"/>
              </a:rPr>
              <a:t>Prioridad: </a:t>
            </a:r>
            <a:r>
              <a:rPr lang="en-US" sz="1150" dirty="0">
                <a:solidFill>
                  <a:srgbClr val="1E293B"/>
                </a:solidFill>
                <a:latin typeface="Calibri" pitchFamily="34" charset="0"/>
                <a:ea typeface="Calibri" pitchFamily="34" charset="-122"/>
                <a:cs typeface="Calibri" pitchFamily="34" charset="-120"/>
              </a:rPr>
              <a:t>Must (MoSCoW)     </a:t>
            </a:r>
            <a:r>
              <a:rPr lang="en-US" sz="1150" b="1" dirty="0">
                <a:solidFill>
                  <a:srgbClr val="2C5F2D"/>
                </a:solidFill>
                <a:latin typeface="Calibri" pitchFamily="34" charset="0"/>
                <a:ea typeface="Calibri" pitchFamily="34" charset="-122"/>
                <a:cs typeface="Calibri" pitchFamily="34" charset="-120"/>
              </a:rPr>
              <a:t>Fuente: </a:t>
            </a:r>
            <a:r>
              <a:rPr lang="en-US" sz="1150" dirty="0">
                <a:solidFill>
                  <a:srgbClr val="1E293B"/>
                </a:solidFill>
                <a:latin typeface="Calibri" pitchFamily="34" charset="0"/>
                <a:ea typeface="Calibri" pitchFamily="34" charset="-122"/>
                <a:cs typeface="Calibri" pitchFamily="34" charset="-120"/>
              </a:rPr>
              <a:t>Entrevista vet. jefe, 03-jun-2026</a:t>
            </a:r>
            <a:endParaRPr lang="en-US" sz="1150" dirty="0"/>
          </a:p>
          <a:p>
            <a:pPr marL="0" indent="0" algn="l">
              <a:buNone/>
            </a:pPr>
            <a:r>
              <a:rPr lang="en-US" sz="1150" b="1" dirty="0">
                <a:solidFill>
                  <a:srgbClr val="D4A017"/>
                </a:solidFill>
                <a:latin typeface="Calibri" pitchFamily="34" charset="0"/>
                <a:ea typeface="Calibri" pitchFamily="34" charset="-122"/>
                <a:cs typeface="Calibri" pitchFamily="34" charset="-120"/>
              </a:rPr>
              <a:t>Verificable con: </a:t>
            </a:r>
            <a:r>
              <a:rPr lang="en-US" sz="1150" dirty="0">
                <a:solidFill>
                  <a:srgbClr val="1E293B"/>
                </a:solidFill>
                <a:latin typeface="Calibri" pitchFamily="34" charset="0"/>
                <a:ea typeface="Calibri" pitchFamily="34" charset="-122"/>
                <a:cs typeface="Calibri" pitchFamily="34" charset="-120"/>
              </a:rPr>
              <a:t>Caso de prueba CP-08 (BDD).</a:t>
            </a:r>
            <a:endParaRPr lang="en-US" sz="1150" dirty="0"/>
          </a:p>
        </p:txBody>
      </p:sp>
      <p:sp>
        <p:nvSpPr>
          <p:cNvPr id="19" name="Shape 14"/>
          <p:cNvSpPr/>
          <p:nvPr/>
        </p:nvSpPr>
        <p:spPr>
          <a:xfrm>
            <a:off x="0" y="0"/>
            <a:ext cx="12161520" cy="384048"/>
          </a:xfrm>
          <a:prstGeom prst="rect">
            <a:avLst/>
          </a:prstGeom>
          <a:solidFill>
            <a:srgbClr val="2C5F2D"/>
          </a:solidFill>
          <a:ln w="12700">
            <a:solidFill>
              <a:srgbClr val="2C5F2D"/>
            </a:solidFill>
            <a:prstDash val="solid"/>
          </a:ln>
        </p:spPr>
      </p:sp>
      <p:sp>
        <p:nvSpPr>
          <p:cNvPr id="20" name="Text 15"/>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21" name="Text 16"/>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9.4 UML + texto</a:t>
            </a:r>
            <a:endParaRPr lang="en-US" sz="1000" dirty="0"/>
          </a:p>
        </p:txBody>
      </p:sp>
      <p:sp>
        <p:nvSpPr>
          <p:cNvPr id="22" name="Text 17"/>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23" name="Text 18"/>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17 / 30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D4A017"/>
        </a:solidFill>
        <a:effectLst/>
      </p:bgPr>
    </p:bg>
    <p:spTree>
      <p:nvGrpSpPr>
        <p:cNvPr id="1" name=""/>
        <p:cNvGrpSpPr/>
        <p:nvPr/>
      </p:nvGrpSpPr>
      <p:grpSpPr>
        <a:xfrm>
          <a:off x="0" y="0"/>
          <a:ext cx="0" cy="0"/>
          <a:chOff x="0" y="0"/>
          <a:chExt cx="0" cy="0"/>
        </a:xfrm>
      </p:grpSpPr>
      <p:sp>
        <p:nvSpPr>
          <p:cNvPr id="2" name="Shape 0"/>
          <p:cNvSpPr/>
          <p:nvPr/>
        </p:nvSpPr>
        <p:spPr>
          <a:xfrm>
            <a:off x="7589520" y="-2743200"/>
            <a:ext cx="9144000" cy="9144000"/>
          </a:xfrm>
          <a:prstGeom prst="ellipse">
            <a:avLst/>
          </a:prstGeom>
          <a:solidFill>
            <a:srgbClr val="2C5F2D">
              <a:alpha val="45000"/>
            </a:srgbClr>
          </a:solidFill>
          <a:ln w="12700">
            <a:solidFill>
              <a:srgbClr val="2C5F2D"/>
            </a:solidFill>
            <a:prstDash val="solid"/>
          </a:ln>
        </p:spPr>
      </p:sp>
      <p:pic>
        <p:nvPicPr>
          <p:cNvPr id="3" name="Image 0" descr="preencoded.png"/>
          <p:cNvPicPr>
            <a:picLocks noChangeAspect="1"/>
          </p:cNvPicPr>
          <p:nvPr/>
        </p:nvPicPr>
        <p:blipFill>
          <a:blip r:embed="rId3"/>
          <a:stretch>
            <a:fillRect/>
          </a:stretch>
        </p:blipFill>
        <p:spPr>
          <a:xfrm>
            <a:off x="914400" y="2286000"/>
            <a:ext cx="2286000" cy="2286000"/>
          </a:xfrm>
          <a:prstGeom prst="rect">
            <a:avLst/>
          </a:prstGeom>
        </p:spPr>
      </p:pic>
      <p:sp>
        <p:nvSpPr>
          <p:cNvPr id="4" name="Text 1"/>
          <p:cNvSpPr/>
          <p:nvPr/>
        </p:nvSpPr>
        <p:spPr>
          <a:xfrm>
            <a:off x="4114800" y="1920240"/>
            <a:ext cx="7315200" cy="640080"/>
          </a:xfrm>
          <a:prstGeom prst="rect">
            <a:avLst/>
          </a:prstGeom>
          <a:noFill/>
          <a:ln/>
        </p:spPr>
        <p:txBody>
          <a:bodyPr wrap="square" lIns="0" tIns="0" rIns="0" bIns="0" rtlCol="0" anchor="ctr"/>
          <a:lstStyle/>
          <a:p>
            <a:pPr marL="0" indent="0" algn="l">
              <a:buNone/>
            </a:pPr>
            <a:r>
              <a:rPr lang="en-US" sz="2200" b="1" kern="0" spc="1000" dirty="0">
                <a:solidFill>
                  <a:srgbClr val="1E4D8B"/>
                </a:solidFill>
                <a:latin typeface="Calibri" pitchFamily="34" charset="0"/>
                <a:ea typeface="Calibri" pitchFamily="34" charset="-122"/>
                <a:cs typeface="Calibri" pitchFamily="34" charset="-120"/>
              </a:rPr>
              <a:t>TEMA 10</a:t>
            </a:r>
            <a:endParaRPr lang="en-US" sz="2200" dirty="0"/>
          </a:p>
        </p:txBody>
      </p:sp>
      <p:sp>
        <p:nvSpPr>
          <p:cNvPr id="5" name="Text 2"/>
          <p:cNvSpPr/>
          <p:nvPr/>
        </p:nvSpPr>
        <p:spPr>
          <a:xfrm>
            <a:off x="4114800" y="2560320"/>
            <a:ext cx="7315200" cy="1097280"/>
          </a:xfrm>
          <a:prstGeom prst="rect">
            <a:avLst/>
          </a:prstGeom>
          <a:noFill/>
          <a:ln/>
        </p:spPr>
        <p:txBody>
          <a:bodyPr wrap="square" lIns="0" tIns="0" rIns="0" bIns="0" rtlCol="0" anchor="ctr"/>
          <a:lstStyle/>
          <a:p>
            <a:pPr marL="0" indent="0" algn="l">
              <a:buNone/>
            </a:pPr>
            <a:r>
              <a:rPr lang="en-US" sz="4200" b="1" dirty="0">
                <a:solidFill>
                  <a:srgbClr val="FFFFFF"/>
                </a:solidFill>
                <a:latin typeface="Cambria" pitchFamily="34" charset="0"/>
                <a:ea typeface="Cambria" pitchFamily="34" charset="-122"/>
                <a:cs typeface="Cambria" pitchFamily="34" charset="-120"/>
              </a:rPr>
              <a:t>Modelos de Especificación UML</a:t>
            </a:r>
            <a:endParaRPr lang="en-US" sz="4200" dirty="0"/>
          </a:p>
        </p:txBody>
      </p:sp>
      <p:sp>
        <p:nvSpPr>
          <p:cNvPr id="6" name="Text 3"/>
          <p:cNvSpPr/>
          <p:nvPr/>
        </p:nvSpPr>
        <p:spPr>
          <a:xfrm>
            <a:off x="4114800" y="3657600"/>
            <a:ext cx="7315200" cy="548640"/>
          </a:xfrm>
          <a:prstGeom prst="rect">
            <a:avLst/>
          </a:prstGeom>
          <a:noFill/>
          <a:ln/>
        </p:spPr>
        <p:txBody>
          <a:bodyPr wrap="square" lIns="0" tIns="0" rIns="0" bIns="0" rtlCol="0" anchor="ctr"/>
          <a:lstStyle/>
          <a:p>
            <a:pPr marL="0" indent="0" algn="l">
              <a:buNone/>
            </a:pPr>
            <a:r>
              <a:rPr lang="en-US" sz="1800" i="1" dirty="0">
                <a:solidFill>
                  <a:srgbClr val="FFFFFF"/>
                </a:solidFill>
                <a:latin typeface="Calibri" pitchFamily="34" charset="0"/>
                <a:ea typeface="Calibri" pitchFamily="34" charset="-122"/>
                <a:cs typeface="Calibri" pitchFamily="34" charset="-120"/>
              </a:rPr>
              <a:t>Tres perspectivas: datos, función y comportamiento</a:t>
            </a:r>
            <a:endParaRPr lang="en-US" sz="1800" dirty="0"/>
          </a:p>
        </p:txBody>
      </p:sp>
      <p:sp>
        <p:nvSpPr>
          <p:cNvPr id="7" name="Text 4"/>
          <p:cNvSpPr/>
          <p:nvPr/>
        </p:nvSpPr>
        <p:spPr>
          <a:xfrm>
            <a:off x="4114800" y="4297680"/>
            <a:ext cx="7315200" cy="457200"/>
          </a:xfrm>
          <a:prstGeom prst="rect">
            <a:avLst/>
          </a:prstGeom>
          <a:noFill/>
          <a:ln/>
        </p:spPr>
        <p:txBody>
          <a:bodyPr wrap="square" lIns="0" tIns="0" rIns="0" bIns="0" rtlCol="0" anchor="ctr"/>
          <a:lstStyle/>
          <a:p>
            <a:pPr marL="0" indent="0" algn="l">
              <a:buNone/>
            </a:pPr>
            <a:r>
              <a:rPr lang="en-US" sz="1400" dirty="0">
                <a:solidFill>
                  <a:srgbClr val="1E4D8B"/>
                </a:solidFill>
                <a:latin typeface="Calibri" pitchFamily="34" charset="0"/>
                <a:ea typeface="Calibri" pitchFamily="34" charset="-122"/>
                <a:cs typeface="Calibri" pitchFamily="34" charset="-120"/>
              </a:rPr>
              <a:t>Subtemas 10.1 - 10.2 - 10.3 - 10.4</a:t>
            </a:r>
            <a:endParaRPr lang="en-US" sz="1400" dirty="0"/>
          </a:p>
        </p:txBody>
      </p:sp>
      <p:sp>
        <p:nvSpPr>
          <p:cNvPr id="9" name="Shape 5"/>
          <p:cNvSpPr/>
          <p:nvPr/>
        </p:nvSpPr>
        <p:spPr>
          <a:xfrm>
            <a:off x="0" y="0"/>
            <a:ext cx="12161520" cy="384048"/>
          </a:xfrm>
          <a:prstGeom prst="rect">
            <a:avLst/>
          </a:prstGeom>
          <a:solidFill>
            <a:srgbClr val="2C5F2D"/>
          </a:solidFill>
          <a:ln w="12700">
            <a:solidFill>
              <a:srgbClr val="2C5F2D"/>
            </a:solidFill>
            <a:prstDash val="solid"/>
          </a:ln>
        </p:spPr>
      </p:sp>
      <p:sp>
        <p:nvSpPr>
          <p:cNvPr id="10" name="Text 6"/>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11" name="Text 7"/>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Tema 10: Modelos UML</a:t>
            </a:r>
            <a:endParaRPr lang="en-US" sz="1000" dirty="0"/>
          </a:p>
        </p:txBody>
      </p:sp>
      <p:sp>
        <p:nvSpPr>
          <p:cNvPr id="12" name="Text 8"/>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13" name="Text 9"/>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18 / 30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548640"/>
            <a:ext cx="11247120" cy="640080"/>
          </a:xfrm>
          <a:prstGeom prst="rect">
            <a:avLst/>
          </a:prstGeom>
          <a:noFill/>
          <a:ln/>
        </p:spPr>
        <p:txBody>
          <a:bodyPr wrap="square" lIns="0" tIns="0" rIns="0" bIns="0" rtlCol="0" anchor="t"/>
          <a:lstStyle/>
          <a:p>
            <a:pPr marL="0" indent="0" algn="l">
              <a:buNone/>
            </a:pPr>
            <a:r>
              <a:rPr lang="en-US" sz="3000" b="1" dirty="0">
                <a:solidFill>
                  <a:srgbClr val="1E4D8B"/>
                </a:solidFill>
                <a:latin typeface="Cambria" pitchFamily="34" charset="0"/>
                <a:ea typeface="Cambria" pitchFamily="34" charset="-122"/>
                <a:cs typeface="Cambria" pitchFamily="34" charset="-120"/>
              </a:rPr>
              <a:t>10.1 - Modelos de datos</a:t>
            </a:r>
            <a:endParaRPr lang="en-US" sz="3000" dirty="0"/>
          </a:p>
        </p:txBody>
      </p:sp>
      <p:sp>
        <p:nvSpPr>
          <p:cNvPr id="3" name="Text 1"/>
          <p:cNvSpPr/>
          <p:nvPr/>
        </p:nvSpPr>
        <p:spPr>
          <a:xfrm>
            <a:off x="457200" y="1188720"/>
            <a:ext cx="11247120" cy="365760"/>
          </a:xfrm>
          <a:prstGeom prst="rect">
            <a:avLst/>
          </a:prstGeom>
          <a:noFill/>
          <a:ln/>
        </p:spPr>
        <p:txBody>
          <a:bodyPr wrap="square" lIns="0" tIns="0" rIns="0" bIns="0" rtlCol="0" anchor="t"/>
          <a:lstStyle/>
          <a:p>
            <a:pPr marL="0" indent="0" algn="l">
              <a:buNone/>
            </a:pPr>
            <a:r>
              <a:rPr lang="en-US" sz="1300" i="1" dirty="0">
                <a:solidFill>
                  <a:srgbClr val="475569"/>
                </a:solidFill>
                <a:latin typeface="Calibri" pitchFamily="34" charset="0"/>
                <a:ea typeface="Calibri" pitchFamily="34" charset="-122"/>
                <a:cs typeface="Calibri" pitchFamily="34" charset="-120"/>
              </a:rPr>
              <a:t>Entidad-Relación (Chen, 1976) y diagramas de clases UML</a:t>
            </a:r>
            <a:endParaRPr lang="en-US" sz="1300" dirty="0"/>
          </a:p>
        </p:txBody>
      </p:sp>
      <p:sp>
        <p:nvSpPr>
          <p:cNvPr id="4" name="Shape 2"/>
          <p:cNvSpPr/>
          <p:nvPr/>
        </p:nvSpPr>
        <p:spPr>
          <a:xfrm>
            <a:off x="457200" y="1783080"/>
            <a:ext cx="5760720" cy="4480560"/>
          </a:xfrm>
          <a:prstGeom prst="roundRect">
            <a:avLst>
              <a:gd name="adj" fmla="val 2041"/>
            </a:avLst>
          </a:prstGeom>
          <a:solidFill>
            <a:srgbClr val="F8FAFC"/>
          </a:solidFill>
          <a:ln w="19050">
            <a:solidFill>
              <a:srgbClr val="2C5F2D"/>
            </a:solidFill>
            <a:prstDash val="solid"/>
          </a:ln>
        </p:spPr>
      </p:sp>
      <p:sp>
        <p:nvSpPr>
          <p:cNvPr id="5" name="Text 3"/>
          <p:cNvSpPr/>
          <p:nvPr/>
        </p:nvSpPr>
        <p:spPr>
          <a:xfrm>
            <a:off x="640080" y="1920240"/>
            <a:ext cx="5394960" cy="365760"/>
          </a:xfrm>
          <a:prstGeom prst="rect">
            <a:avLst/>
          </a:prstGeom>
          <a:noFill/>
          <a:ln/>
        </p:spPr>
        <p:txBody>
          <a:bodyPr wrap="square" lIns="0" tIns="0" rIns="0" bIns="0" rtlCol="0" anchor="ctr"/>
          <a:lstStyle/>
          <a:p>
            <a:pPr marL="0" indent="0" algn="l">
              <a:buNone/>
            </a:pPr>
            <a:r>
              <a:rPr lang="en-US" sz="1600" b="1" dirty="0">
                <a:solidFill>
                  <a:srgbClr val="2C5F2D"/>
                </a:solidFill>
                <a:latin typeface="Cambria" pitchFamily="34" charset="0"/>
                <a:ea typeface="Cambria" pitchFamily="34" charset="-122"/>
                <a:cs typeface="Cambria" pitchFamily="34" charset="-120"/>
              </a:rPr>
              <a:t>Modelo Entidad-Relación (ER)</a:t>
            </a:r>
            <a:endParaRPr lang="en-US" sz="1600" dirty="0"/>
          </a:p>
        </p:txBody>
      </p:sp>
      <p:sp>
        <p:nvSpPr>
          <p:cNvPr id="6" name="Text 4"/>
          <p:cNvSpPr/>
          <p:nvPr/>
        </p:nvSpPr>
        <p:spPr>
          <a:xfrm>
            <a:off x="777240" y="2331720"/>
            <a:ext cx="5349240" cy="3840480"/>
          </a:xfrm>
          <a:prstGeom prst="rect">
            <a:avLst/>
          </a:prstGeom>
          <a:noFill/>
          <a:ln/>
        </p:spPr>
        <p:txBody>
          <a:bodyPr wrap="square" lIns="0" tIns="0" rIns="0" bIns="0" rtlCol="0" anchor="t"/>
          <a:lstStyle/>
          <a:p>
            <a:pPr marL="0" indent="0" algn="l">
              <a:spcAft>
                <a:spcPts val="1000"/>
              </a:spcAft>
              <a:buNone/>
            </a:pPr>
            <a:r>
              <a:rPr lang="en-US" sz="1150" i="1" dirty="0">
                <a:solidFill>
                  <a:srgbClr val="475569"/>
                </a:solidFill>
                <a:latin typeface="Calibri" pitchFamily="34" charset="0"/>
                <a:ea typeface="Calibri" pitchFamily="34" charset="-122"/>
                <a:cs typeface="Calibri" pitchFamily="34" charset="-120"/>
              </a:rPr>
              <a:t>Propuesto por Peter Chen en 1976 (ACM TODS 1:1).</a:t>
            </a:r>
            <a:endParaRPr lang="en-US" sz="1150" dirty="0"/>
          </a:p>
          <a:p>
            <a:pPr marL="0" indent="0" algn="l">
              <a:spcAft>
                <a:spcPts val="400"/>
              </a:spcAft>
              <a:buNone/>
            </a:pPr>
            <a:r>
              <a:rPr lang="en-US" sz="1150" b="1" dirty="0">
                <a:solidFill>
                  <a:srgbClr val="1E293B"/>
                </a:solidFill>
                <a:latin typeface="Calibri" pitchFamily="34" charset="0"/>
                <a:ea typeface="Calibri" pitchFamily="34" charset="-122"/>
                <a:cs typeface="Calibri" pitchFamily="34" charset="-120"/>
              </a:rPr>
              <a:t>Elementos:</a:t>
            </a:r>
            <a:endParaRPr lang="en-US" sz="1150" dirty="0"/>
          </a:p>
          <a:p>
            <a:pPr marL="0" indent="0" algn="l">
              <a:buNone/>
            </a:pPr>
            <a:r>
              <a:rPr lang="en-US" sz="1150" dirty="0">
                <a:solidFill>
                  <a:srgbClr val="1E293B"/>
                </a:solidFill>
                <a:latin typeface="Calibri" pitchFamily="34" charset="0"/>
                <a:ea typeface="Calibri" pitchFamily="34" charset="-122"/>
                <a:cs typeface="Calibri" pitchFamily="34" charset="-120"/>
              </a:rPr>
              <a:t>- Entidades: objetos del dominio con identidad propia.</a:t>
            </a:r>
            <a:endParaRPr lang="en-US" sz="1150" dirty="0"/>
          </a:p>
          <a:p>
            <a:pPr marL="0" indent="0" algn="l">
              <a:buNone/>
            </a:pPr>
            <a:r>
              <a:rPr lang="en-US" sz="1150" dirty="0">
                <a:solidFill>
                  <a:srgbClr val="1E293B"/>
                </a:solidFill>
                <a:latin typeface="Calibri" pitchFamily="34" charset="0"/>
                <a:ea typeface="Calibri" pitchFamily="34" charset="-122"/>
                <a:cs typeface="Calibri" pitchFamily="34" charset="-120"/>
              </a:rPr>
              <a:t>- Atributos: propiedades de las entidades.</a:t>
            </a:r>
            <a:endParaRPr lang="en-US" sz="1150" dirty="0"/>
          </a:p>
          <a:p>
            <a:pPr marL="0" indent="0" algn="l">
              <a:buNone/>
            </a:pPr>
            <a:r>
              <a:rPr lang="en-US" sz="1150" dirty="0">
                <a:solidFill>
                  <a:srgbClr val="1E293B"/>
                </a:solidFill>
                <a:latin typeface="Calibri" pitchFamily="34" charset="0"/>
                <a:ea typeface="Calibri" pitchFamily="34" charset="-122"/>
                <a:cs typeface="Calibri" pitchFamily="34" charset="-120"/>
              </a:rPr>
              <a:t>- Relaciones: asociaciónes entre entidades.</a:t>
            </a:r>
            <a:endParaRPr lang="en-US" sz="1150" dirty="0"/>
          </a:p>
          <a:p>
            <a:pPr marL="0" indent="0" algn="l">
              <a:spcAft>
                <a:spcPts val="1000"/>
              </a:spcAft>
              <a:buNone/>
            </a:pPr>
            <a:r>
              <a:rPr lang="en-US" sz="1150" dirty="0">
                <a:solidFill>
                  <a:srgbClr val="1E293B"/>
                </a:solidFill>
                <a:latin typeface="Calibri" pitchFamily="34" charset="0"/>
                <a:ea typeface="Calibri" pitchFamily="34" charset="-122"/>
                <a:cs typeface="Calibri" pitchFamily="34" charset="-120"/>
              </a:rPr>
              <a:t>- Cardinalidad: 1:1, 1:N, N:M.</a:t>
            </a:r>
            <a:endParaRPr lang="en-US" sz="1150" dirty="0"/>
          </a:p>
          <a:p>
            <a:pPr marL="0" indent="0" algn="l">
              <a:spcAft>
                <a:spcPts val="400"/>
              </a:spcAft>
              <a:buNone/>
            </a:pPr>
            <a:r>
              <a:rPr lang="en-US" sz="1150" b="1" dirty="0">
                <a:solidFill>
                  <a:srgbClr val="2C5F2D"/>
                </a:solidFill>
                <a:latin typeface="Calibri" pitchFamily="34" charset="0"/>
                <a:ea typeface="Calibri" pitchFamily="34" charset="-122"/>
                <a:cs typeface="Calibri" pitchFamily="34" charset="-120"/>
              </a:rPr>
              <a:t>Ejemplo AquaGest:</a:t>
            </a:r>
            <a:endParaRPr lang="en-US" sz="1150" dirty="0"/>
          </a:p>
          <a:p>
            <a:pPr marL="0" indent="0" algn="l">
              <a:buNone/>
            </a:pPr>
            <a:r>
              <a:rPr lang="en-US" sz="1150" dirty="0">
                <a:solidFill>
                  <a:srgbClr val="1E293B"/>
                </a:solidFill>
                <a:latin typeface="Calibri" pitchFamily="34" charset="0"/>
                <a:ea typeface="Calibri" pitchFamily="34" charset="-122"/>
                <a:cs typeface="Calibri" pitchFamily="34" charset="-120"/>
              </a:rPr>
              <a:t>PISCINA (1) --contiene--&gt; (N) CORRAL</a:t>
            </a:r>
            <a:endParaRPr lang="en-US" sz="1150" dirty="0"/>
          </a:p>
          <a:p>
            <a:pPr marL="0" indent="0" algn="l">
              <a:buNone/>
            </a:pPr>
            <a:r>
              <a:rPr lang="en-US" sz="1150" dirty="0">
                <a:solidFill>
                  <a:srgbClr val="1E293B"/>
                </a:solidFill>
                <a:latin typeface="Calibri" pitchFamily="34" charset="0"/>
                <a:ea typeface="Calibri" pitchFamily="34" charset="-122"/>
                <a:cs typeface="Calibri" pitchFamily="34" charset="-120"/>
              </a:rPr>
              <a:t>CORRAL (1) --tiene--&gt; (N) MEDICION_BIOMASA</a:t>
            </a:r>
            <a:endParaRPr lang="en-US" sz="1150" dirty="0"/>
          </a:p>
          <a:p>
            <a:pPr marL="0" indent="0" algn="l">
              <a:spcAft>
                <a:spcPts val="800"/>
              </a:spcAft>
              <a:buNone/>
            </a:pPr>
            <a:r>
              <a:rPr lang="en-US" sz="1150" dirty="0">
                <a:solidFill>
                  <a:srgbClr val="1E293B"/>
                </a:solidFill>
                <a:latin typeface="Calibri" pitchFamily="34" charset="0"/>
                <a:ea typeface="Calibri" pitchFamily="34" charset="-122"/>
                <a:cs typeface="Calibri" pitchFamily="34" charset="-120"/>
              </a:rPr>
              <a:t>TÉCNICO (N) --supervisa--&gt; (M) PISCINA</a:t>
            </a:r>
            <a:endParaRPr lang="en-US" sz="1150" dirty="0"/>
          </a:p>
          <a:p>
            <a:pPr marL="0" indent="0" algn="l">
              <a:buNone/>
            </a:pPr>
            <a:r>
              <a:rPr lang="en-US" sz="1150" i="1" dirty="0">
                <a:solidFill>
                  <a:srgbClr val="475569"/>
                </a:solidFill>
                <a:latin typeface="Calibri" pitchFamily="34" charset="0"/>
                <a:ea typeface="Calibri" pitchFamily="34" charset="-122"/>
                <a:cs typeface="Calibri" pitchFamily="34" charset="-120"/>
              </a:rPr>
              <a:t>Es la base del diseño de la BD relacional.</a:t>
            </a:r>
            <a:endParaRPr lang="en-US" sz="1150" dirty="0"/>
          </a:p>
        </p:txBody>
      </p:sp>
      <p:sp>
        <p:nvSpPr>
          <p:cNvPr id="7" name="Shape 5"/>
          <p:cNvSpPr/>
          <p:nvPr/>
        </p:nvSpPr>
        <p:spPr>
          <a:xfrm>
            <a:off x="6400800" y="1783080"/>
            <a:ext cx="5303520" cy="4480560"/>
          </a:xfrm>
          <a:prstGeom prst="roundRect">
            <a:avLst>
              <a:gd name="adj" fmla="val 2041"/>
            </a:avLst>
          </a:prstGeom>
          <a:solidFill>
            <a:srgbClr val="F8FAFC"/>
          </a:solidFill>
          <a:ln w="19050">
            <a:solidFill>
              <a:srgbClr val="1E4D8B"/>
            </a:solidFill>
            <a:prstDash val="solid"/>
          </a:ln>
        </p:spPr>
      </p:sp>
      <p:sp>
        <p:nvSpPr>
          <p:cNvPr id="8" name="Text 6"/>
          <p:cNvSpPr/>
          <p:nvPr/>
        </p:nvSpPr>
        <p:spPr>
          <a:xfrm>
            <a:off x="6583680" y="1920240"/>
            <a:ext cx="4937760" cy="365760"/>
          </a:xfrm>
          <a:prstGeom prst="rect">
            <a:avLst/>
          </a:prstGeom>
          <a:noFill/>
          <a:ln/>
        </p:spPr>
        <p:txBody>
          <a:bodyPr wrap="square" lIns="0" tIns="0" rIns="0" bIns="0" rtlCol="0" anchor="ctr"/>
          <a:lstStyle/>
          <a:p>
            <a:pPr marL="0" indent="0" algn="l">
              <a:buNone/>
            </a:pPr>
            <a:r>
              <a:rPr lang="en-US" sz="1600" b="1" dirty="0">
                <a:solidFill>
                  <a:srgbClr val="1E4D8B"/>
                </a:solidFill>
                <a:latin typeface="Cambria" pitchFamily="34" charset="0"/>
                <a:ea typeface="Cambria" pitchFamily="34" charset="-122"/>
                <a:cs typeface="Cambria" pitchFamily="34" charset="-120"/>
              </a:rPr>
              <a:t>Diagrama de clases UML</a:t>
            </a:r>
            <a:endParaRPr lang="en-US" sz="1600" dirty="0"/>
          </a:p>
        </p:txBody>
      </p:sp>
      <p:sp>
        <p:nvSpPr>
          <p:cNvPr id="9" name="Text 7"/>
          <p:cNvSpPr/>
          <p:nvPr/>
        </p:nvSpPr>
        <p:spPr>
          <a:xfrm>
            <a:off x="6720840" y="2331720"/>
            <a:ext cx="4892040" cy="3840480"/>
          </a:xfrm>
          <a:prstGeom prst="rect">
            <a:avLst/>
          </a:prstGeom>
          <a:noFill/>
          <a:ln/>
        </p:spPr>
        <p:txBody>
          <a:bodyPr wrap="square" lIns="0" tIns="0" rIns="0" bIns="0" rtlCol="0" anchor="t"/>
          <a:lstStyle/>
          <a:p>
            <a:pPr marL="0" indent="0" algn="l">
              <a:spcAft>
                <a:spcPts val="1000"/>
              </a:spcAft>
              <a:buNone/>
            </a:pPr>
            <a:r>
              <a:rPr lang="en-US" sz="1150" i="1" dirty="0">
                <a:solidFill>
                  <a:srgbClr val="475569"/>
                </a:solidFill>
                <a:latin typeface="Calibri" pitchFamily="34" charset="0"/>
                <a:ea typeface="Calibri" pitchFamily="34" charset="-122"/>
                <a:cs typeface="Calibri" pitchFamily="34" charset="-120"/>
              </a:rPr>
              <a:t>OMG UML 2.5.1 (2017). Extiende ER con orientación a objetos.</a:t>
            </a:r>
            <a:endParaRPr lang="en-US" sz="1150" dirty="0"/>
          </a:p>
          <a:p>
            <a:pPr marL="0" indent="0" algn="l">
              <a:spcAft>
                <a:spcPts val="400"/>
              </a:spcAft>
              <a:buNone/>
            </a:pPr>
            <a:r>
              <a:rPr lang="en-US" sz="1150" b="1" dirty="0">
                <a:solidFill>
                  <a:srgbClr val="1E293B"/>
                </a:solidFill>
                <a:latin typeface="Calibri" pitchFamily="34" charset="0"/>
                <a:ea typeface="Calibri" pitchFamily="34" charset="-122"/>
                <a:cs typeface="Calibri" pitchFamily="34" charset="-120"/>
              </a:rPr>
              <a:t>Elementos adicionales sobre ER:</a:t>
            </a:r>
            <a:endParaRPr lang="en-US" sz="1150" dirty="0"/>
          </a:p>
          <a:p>
            <a:pPr marL="0" indent="0" algn="l">
              <a:buNone/>
            </a:pPr>
            <a:r>
              <a:rPr lang="en-US" sz="1150" dirty="0">
                <a:solidFill>
                  <a:srgbClr val="1E293B"/>
                </a:solidFill>
                <a:latin typeface="Calibri" pitchFamily="34" charset="0"/>
                <a:ea typeface="Calibri" pitchFamily="34" charset="-122"/>
                <a:cs typeface="Calibri" pitchFamily="34" charset="-120"/>
              </a:rPr>
              <a:t>- Métodos (operaciones): comportamiento asociado.</a:t>
            </a:r>
            <a:endParaRPr lang="en-US" sz="1150" dirty="0"/>
          </a:p>
          <a:p>
            <a:pPr marL="0" indent="0" algn="l">
              <a:buNone/>
            </a:pPr>
            <a:r>
              <a:rPr lang="en-US" sz="1150" dirty="0">
                <a:solidFill>
                  <a:srgbClr val="1E293B"/>
                </a:solidFill>
                <a:latin typeface="Calibri" pitchFamily="34" charset="0"/>
                <a:ea typeface="Calibri" pitchFamily="34" charset="-122"/>
                <a:cs typeface="Calibri" pitchFamily="34" charset="-120"/>
              </a:rPr>
              <a:t>- Visibilidad: + (publica), - (privada), # (protegida).</a:t>
            </a:r>
            <a:endParaRPr lang="en-US" sz="1150" dirty="0"/>
          </a:p>
          <a:p>
            <a:pPr marL="0" indent="0" algn="l">
              <a:buNone/>
            </a:pPr>
            <a:r>
              <a:rPr lang="en-US" sz="1150" dirty="0">
                <a:solidFill>
                  <a:srgbClr val="1E293B"/>
                </a:solidFill>
                <a:latin typeface="Calibri" pitchFamily="34" charset="0"/>
                <a:ea typeface="Calibri" pitchFamily="34" charset="-122"/>
                <a:cs typeface="Calibri" pitchFamily="34" charset="-120"/>
              </a:rPr>
              <a:t>- Herencia (generalización).</a:t>
            </a:r>
            <a:endParaRPr lang="en-US" sz="1150" dirty="0"/>
          </a:p>
          <a:p>
            <a:pPr marL="0" indent="0" algn="l">
              <a:spcAft>
                <a:spcPts val="1000"/>
              </a:spcAft>
              <a:buNone/>
            </a:pPr>
            <a:r>
              <a:rPr lang="en-US" sz="1150" dirty="0">
                <a:solidFill>
                  <a:srgbClr val="1E293B"/>
                </a:solidFill>
                <a:latin typeface="Calibri" pitchFamily="34" charset="0"/>
                <a:ea typeface="Calibri" pitchFamily="34" charset="-122"/>
                <a:cs typeface="Calibri" pitchFamily="34" charset="-120"/>
              </a:rPr>
              <a:t>- Composición y agregación.</a:t>
            </a:r>
            <a:endParaRPr lang="en-US" sz="1150" dirty="0"/>
          </a:p>
          <a:p>
            <a:pPr marL="0" indent="0" algn="l">
              <a:spcAft>
                <a:spcPts val="400"/>
              </a:spcAft>
              <a:buNone/>
            </a:pPr>
            <a:r>
              <a:rPr lang="en-US" sz="1150" b="1" dirty="0">
                <a:solidFill>
                  <a:srgbClr val="1E4D8B"/>
                </a:solidFill>
                <a:latin typeface="Calibri" pitchFamily="34" charset="0"/>
                <a:ea typeface="Calibri" pitchFamily="34" charset="-122"/>
                <a:cs typeface="Calibri" pitchFamily="34" charset="-120"/>
              </a:rPr>
              <a:t>Ejemplo MundiPets:</a:t>
            </a:r>
            <a:endParaRPr lang="en-US" sz="1150" dirty="0"/>
          </a:p>
          <a:p>
            <a:pPr marL="0" indent="0" algn="l">
              <a:buNone/>
            </a:pPr>
            <a:r>
              <a:rPr lang="en-US" sz="1150" dirty="0">
                <a:solidFill>
                  <a:srgbClr val="1E293B"/>
                </a:solidFill>
                <a:latin typeface="Calibri" pitchFamily="34" charset="0"/>
                <a:ea typeface="Calibri" pitchFamily="34" charset="-122"/>
                <a:cs typeface="Calibri" pitchFamily="34" charset="-120"/>
              </a:rPr>
              <a:t>Mascota { -id, -nombre, -especie, +registrar(), +consultarHistoria() }</a:t>
            </a:r>
            <a:endParaRPr lang="en-US" sz="1150" dirty="0"/>
          </a:p>
          <a:p>
            <a:pPr marL="0" indent="0" algn="l">
              <a:buNone/>
            </a:pPr>
            <a:r>
              <a:rPr lang="en-US" sz="1150" dirty="0">
                <a:solidFill>
                  <a:srgbClr val="1E293B"/>
                </a:solidFill>
                <a:latin typeface="Calibri" pitchFamily="34" charset="0"/>
                <a:ea typeface="Calibri" pitchFamily="34" charset="-122"/>
                <a:cs typeface="Calibri" pitchFamily="34" charset="-120"/>
              </a:rPr>
              <a:t>Canino extiende Mascota (herencia)</a:t>
            </a:r>
            <a:endParaRPr lang="en-US" sz="1150" dirty="0"/>
          </a:p>
          <a:p>
            <a:pPr marL="0" indent="0" algn="l">
              <a:spcAft>
                <a:spcPts val="800"/>
              </a:spcAft>
              <a:buNone/>
            </a:pPr>
            <a:r>
              <a:rPr lang="en-US" sz="1150" dirty="0">
                <a:solidFill>
                  <a:srgbClr val="1E293B"/>
                </a:solidFill>
                <a:latin typeface="Calibri" pitchFamily="34" charset="0"/>
                <a:ea typeface="Calibri" pitchFamily="34" charset="-122"/>
                <a:cs typeface="Calibri" pitchFamily="34" charset="-120"/>
              </a:rPr>
              <a:t>Dueño 1 ---posee---&gt; * Mascota (asociación 1:N)</a:t>
            </a:r>
            <a:endParaRPr lang="en-US" sz="1150" dirty="0"/>
          </a:p>
          <a:p>
            <a:pPr marL="0" indent="0" algn="l">
              <a:buNone/>
            </a:pPr>
            <a:r>
              <a:rPr lang="en-US" sz="1150" i="1" dirty="0">
                <a:solidFill>
                  <a:srgbClr val="475569"/>
                </a:solidFill>
                <a:latin typeface="Calibri" pitchFamily="34" charset="0"/>
                <a:ea typeface="Calibri" pitchFamily="34" charset="-122"/>
                <a:cs typeface="Calibri" pitchFamily="34" charset="-120"/>
              </a:rPr>
              <a:t>Base del diseño OO (Orientado a Objetos).</a:t>
            </a:r>
            <a:endParaRPr lang="en-US" sz="1150" dirty="0"/>
          </a:p>
        </p:txBody>
      </p:sp>
      <p:sp>
        <p:nvSpPr>
          <p:cNvPr id="11" name="Shape 8"/>
          <p:cNvSpPr/>
          <p:nvPr/>
        </p:nvSpPr>
        <p:spPr>
          <a:xfrm>
            <a:off x="0" y="0"/>
            <a:ext cx="12161520" cy="384048"/>
          </a:xfrm>
          <a:prstGeom prst="rect">
            <a:avLst/>
          </a:prstGeom>
          <a:solidFill>
            <a:srgbClr val="2C5F2D"/>
          </a:solidFill>
          <a:ln w="12700">
            <a:solidFill>
              <a:srgbClr val="2C5F2D"/>
            </a:solidFill>
            <a:prstDash val="solid"/>
          </a:ln>
        </p:spPr>
      </p:sp>
      <p:sp>
        <p:nvSpPr>
          <p:cNvPr id="12" name="Text 9"/>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13" name="Text 10"/>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10.1 Datos</a:t>
            </a:r>
            <a:endParaRPr lang="en-US" sz="1000" dirty="0"/>
          </a:p>
        </p:txBody>
      </p:sp>
      <p:sp>
        <p:nvSpPr>
          <p:cNvPr id="14" name="Text 11"/>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15" name="Text 12"/>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19 / 30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548640"/>
            <a:ext cx="11247120" cy="640080"/>
          </a:xfrm>
          <a:prstGeom prst="rect">
            <a:avLst/>
          </a:prstGeom>
          <a:noFill/>
          <a:ln/>
        </p:spPr>
        <p:txBody>
          <a:bodyPr wrap="square" lIns="0" tIns="0" rIns="0" bIns="0" rtlCol="0" anchor="t"/>
          <a:lstStyle/>
          <a:p>
            <a:pPr marL="0" indent="0" algn="l">
              <a:buNone/>
            </a:pPr>
            <a:r>
              <a:rPr lang="en-US" sz="3000" b="1" dirty="0">
                <a:solidFill>
                  <a:srgbClr val="1E4D8B"/>
                </a:solidFill>
                <a:latin typeface="Cambria" pitchFamily="34" charset="0"/>
                <a:ea typeface="Cambria" pitchFamily="34" charset="-122"/>
                <a:cs typeface="Cambria" pitchFamily="34" charset="-120"/>
              </a:rPr>
              <a:t>10.2 - Modelos funciónales</a:t>
            </a:r>
            <a:endParaRPr lang="en-US" sz="3000" dirty="0"/>
          </a:p>
        </p:txBody>
      </p:sp>
      <p:sp>
        <p:nvSpPr>
          <p:cNvPr id="3" name="Text 1"/>
          <p:cNvSpPr/>
          <p:nvPr/>
        </p:nvSpPr>
        <p:spPr>
          <a:xfrm>
            <a:off x="457200" y="1188720"/>
            <a:ext cx="11247120" cy="365760"/>
          </a:xfrm>
          <a:prstGeom prst="rect">
            <a:avLst/>
          </a:prstGeom>
          <a:noFill/>
          <a:ln/>
        </p:spPr>
        <p:txBody>
          <a:bodyPr wrap="square" lIns="0" tIns="0" rIns="0" bIns="0" rtlCol="0" anchor="t"/>
          <a:lstStyle/>
          <a:p>
            <a:pPr marL="0" indent="0" algn="l">
              <a:buNone/>
            </a:pPr>
            <a:r>
              <a:rPr lang="en-US" sz="1300" i="1" dirty="0">
                <a:solidFill>
                  <a:srgbClr val="475569"/>
                </a:solidFill>
                <a:latin typeface="Calibri" pitchFamily="34" charset="0"/>
                <a:ea typeface="Calibri" pitchFamily="34" charset="-122"/>
                <a:cs typeface="Calibri" pitchFamily="34" charset="-120"/>
              </a:rPr>
              <a:t>DFD (DeMarco, 1979) y diagramas de actividad UML</a:t>
            </a:r>
            <a:endParaRPr lang="en-US" sz="1300" dirty="0"/>
          </a:p>
        </p:txBody>
      </p:sp>
      <p:sp>
        <p:nvSpPr>
          <p:cNvPr id="4" name="Shape 2"/>
          <p:cNvSpPr/>
          <p:nvPr/>
        </p:nvSpPr>
        <p:spPr>
          <a:xfrm>
            <a:off x="457200" y="1783080"/>
            <a:ext cx="5760720" cy="4480560"/>
          </a:xfrm>
          <a:prstGeom prst="roundRect">
            <a:avLst>
              <a:gd name="adj" fmla="val 2041"/>
            </a:avLst>
          </a:prstGeom>
          <a:solidFill>
            <a:srgbClr val="F8FAFC"/>
          </a:solidFill>
          <a:ln w="19050">
            <a:solidFill>
              <a:srgbClr val="2C5F2D"/>
            </a:solidFill>
            <a:prstDash val="solid"/>
          </a:ln>
        </p:spPr>
      </p:sp>
      <p:sp>
        <p:nvSpPr>
          <p:cNvPr id="5" name="Text 3"/>
          <p:cNvSpPr/>
          <p:nvPr/>
        </p:nvSpPr>
        <p:spPr>
          <a:xfrm>
            <a:off x="640080" y="1920240"/>
            <a:ext cx="5394960" cy="365760"/>
          </a:xfrm>
          <a:prstGeom prst="rect">
            <a:avLst/>
          </a:prstGeom>
          <a:noFill/>
          <a:ln/>
        </p:spPr>
        <p:txBody>
          <a:bodyPr wrap="square" lIns="0" tIns="0" rIns="0" bIns="0" rtlCol="0" anchor="ctr"/>
          <a:lstStyle/>
          <a:p>
            <a:pPr marL="0" indent="0" algn="l">
              <a:buNone/>
            </a:pPr>
            <a:r>
              <a:rPr lang="en-US" sz="1600" b="1" dirty="0">
                <a:solidFill>
                  <a:srgbClr val="2C5F2D"/>
                </a:solidFill>
                <a:latin typeface="Cambria" pitchFamily="34" charset="0"/>
                <a:ea typeface="Cambria" pitchFamily="34" charset="-122"/>
                <a:cs typeface="Cambria" pitchFamily="34" charset="-120"/>
              </a:rPr>
              <a:t>Diagrama de Flujo de Datos (DFD)</a:t>
            </a:r>
            <a:endParaRPr lang="en-US" sz="1600" dirty="0"/>
          </a:p>
        </p:txBody>
      </p:sp>
      <p:sp>
        <p:nvSpPr>
          <p:cNvPr id="6" name="Text 4"/>
          <p:cNvSpPr/>
          <p:nvPr/>
        </p:nvSpPr>
        <p:spPr>
          <a:xfrm>
            <a:off x="777240" y="2331720"/>
            <a:ext cx="5349240" cy="3840480"/>
          </a:xfrm>
          <a:prstGeom prst="rect">
            <a:avLst/>
          </a:prstGeom>
          <a:noFill/>
          <a:ln/>
        </p:spPr>
        <p:txBody>
          <a:bodyPr wrap="square" lIns="0" tIns="0" rIns="0" bIns="0" rtlCol="0" anchor="t"/>
          <a:lstStyle/>
          <a:p>
            <a:pPr marL="0" indent="0" algn="l">
              <a:spcAft>
                <a:spcPts val="800"/>
              </a:spcAft>
              <a:buNone/>
            </a:pPr>
            <a:r>
              <a:rPr lang="en-US" sz="1150" i="1" dirty="0">
                <a:solidFill>
                  <a:srgbClr val="475569"/>
                </a:solidFill>
                <a:latin typeface="Calibri" pitchFamily="34" charset="0"/>
                <a:ea typeface="Calibri" pitchFamily="34" charset="-122"/>
                <a:cs typeface="Calibri" pitchFamily="34" charset="-120"/>
              </a:rPr>
              <a:t>Notación clasica (T. DeMarco, 1979; C. Gane y T. Sarson, 1979). Muestra cómo fluyen los datos entre procesos.</a:t>
            </a:r>
            <a:endParaRPr lang="en-US" sz="1150" dirty="0"/>
          </a:p>
          <a:p>
            <a:pPr marL="0" indent="0" algn="l">
              <a:spcAft>
                <a:spcPts val="400"/>
              </a:spcAft>
              <a:buNone/>
            </a:pPr>
            <a:r>
              <a:rPr lang="en-US" sz="1150" b="1" dirty="0">
                <a:solidFill>
                  <a:srgbClr val="1E293B"/>
                </a:solidFill>
                <a:latin typeface="Calibri" pitchFamily="34" charset="0"/>
                <a:ea typeface="Calibri" pitchFamily="34" charset="-122"/>
                <a:cs typeface="Calibri" pitchFamily="34" charset="-120"/>
              </a:rPr>
              <a:t>Elementos:</a:t>
            </a:r>
            <a:endParaRPr lang="en-US" sz="1150" dirty="0"/>
          </a:p>
          <a:p>
            <a:pPr marL="0" indent="0" algn="l">
              <a:buNone/>
            </a:pPr>
            <a:r>
              <a:rPr lang="en-US" sz="1150" dirty="0">
                <a:solidFill>
                  <a:srgbClr val="1E293B"/>
                </a:solidFill>
                <a:latin typeface="Calibri" pitchFamily="34" charset="0"/>
                <a:ea typeface="Calibri" pitchFamily="34" charset="-122"/>
                <a:cs typeface="Calibri" pitchFamily="34" charset="-120"/>
              </a:rPr>
              <a:t>- Proceso: transforma datos (circulo).</a:t>
            </a:r>
            <a:endParaRPr lang="en-US" sz="1150" dirty="0"/>
          </a:p>
          <a:p>
            <a:pPr marL="0" indent="0" algn="l">
              <a:buNone/>
            </a:pPr>
            <a:r>
              <a:rPr lang="en-US" sz="1150" dirty="0">
                <a:solidFill>
                  <a:srgbClr val="1E293B"/>
                </a:solidFill>
                <a:latin typeface="Calibri" pitchFamily="34" charset="0"/>
                <a:ea typeface="Calibri" pitchFamily="34" charset="-122"/>
                <a:cs typeface="Calibri" pitchFamily="34" charset="-120"/>
              </a:rPr>
              <a:t>- Flujo de datos: transferencia (flecha).</a:t>
            </a:r>
            <a:endParaRPr lang="en-US" sz="1150" dirty="0"/>
          </a:p>
          <a:p>
            <a:pPr marL="0" indent="0" algn="l">
              <a:buNone/>
            </a:pPr>
            <a:r>
              <a:rPr lang="en-US" sz="1150" dirty="0">
                <a:solidFill>
                  <a:srgbClr val="1E293B"/>
                </a:solidFill>
                <a:latin typeface="Calibri" pitchFamily="34" charset="0"/>
                <a:ea typeface="Calibri" pitchFamily="34" charset="-122"/>
                <a:cs typeface="Calibri" pitchFamily="34" charset="-120"/>
              </a:rPr>
              <a:t>- Almacen: repositorio (dos líneas paralelas).</a:t>
            </a:r>
            <a:endParaRPr lang="en-US" sz="1150" dirty="0"/>
          </a:p>
          <a:p>
            <a:pPr marL="0" indent="0" algn="l">
              <a:spcAft>
                <a:spcPts val="800"/>
              </a:spcAft>
              <a:buNone/>
            </a:pPr>
            <a:r>
              <a:rPr lang="en-US" sz="1150" dirty="0">
                <a:solidFill>
                  <a:srgbClr val="1E293B"/>
                </a:solidFill>
                <a:latin typeface="Calibri" pitchFamily="34" charset="0"/>
                <a:ea typeface="Calibri" pitchFamily="34" charset="-122"/>
                <a:cs typeface="Calibri" pitchFamily="34" charset="-120"/>
              </a:rPr>
              <a:t>- Entidad externa: fuente o destino (rectangulo).</a:t>
            </a:r>
            <a:endParaRPr lang="en-US" sz="1150" dirty="0"/>
          </a:p>
          <a:p>
            <a:pPr marL="0" indent="0" algn="l">
              <a:spcAft>
                <a:spcPts val="1000"/>
              </a:spcAft>
              <a:buNone/>
            </a:pPr>
            <a:r>
              <a:rPr lang="en-US" sz="1150" dirty="0">
                <a:solidFill>
                  <a:srgbClr val="1E293B"/>
                </a:solidFill>
                <a:latin typeface="Calibri" pitchFamily="34" charset="0"/>
                <a:ea typeface="Calibri" pitchFamily="34" charset="-122"/>
                <a:cs typeface="Calibri" pitchFamily="34" charset="-120"/>
              </a:rPr>
              <a:t>Se dibuja por niveles: diagrama de contexto (nivel 0), diagrama de nivel 1, 2, etc.</a:t>
            </a:r>
            <a:endParaRPr lang="en-US" sz="1150" dirty="0"/>
          </a:p>
          <a:p>
            <a:pPr marL="0" indent="0" algn="l">
              <a:spcAft>
                <a:spcPts val="200"/>
              </a:spcAft>
              <a:buNone/>
            </a:pPr>
            <a:r>
              <a:rPr lang="en-US" sz="1150" b="1" dirty="0">
                <a:solidFill>
                  <a:srgbClr val="D4A017"/>
                </a:solidFill>
                <a:latin typeface="Calibri" pitchFamily="34" charset="0"/>
                <a:ea typeface="Calibri" pitchFamily="34" charset="-122"/>
                <a:cs typeface="Calibri" pitchFamily="34" charset="-120"/>
              </a:rPr>
              <a:t>DFD esencial:</a:t>
            </a:r>
            <a:endParaRPr lang="en-US" sz="1150" dirty="0"/>
          </a:p>
          <a:p>
            <a:pPr marL="0" indent="0" algn="l">
              <a:spcAft>
                <a:spcPts val="800"/>
              </a:spcAft>
              <a:buNone/>
            </a:pPr>
            <a:r>
              <a:rPr lang="en-US" sz="1150" dirty="0">
                <a:solidFill>
                  <a:srgbClr val="1E293B"/>
                </a:solidFill>
                <a:latin typeface="Calibri" pitchFamily="34" charset="0"/>
                <a:ea typeface="Calibri" pitchFamily="34" charset="-122"/>
                <a:cs typeface="Calibri" pitchFamily="34" charset="-120"/>
              </a:rPr>
              <a:t>Versión depurada donde solo aparecen procesos esenciales al propósito (sin detalles de implementación).</a:t>
            </a:r>
            <a:endParaRPr lang="en-US" sz="1150" dirty="0"/>
          </a:p>
          <a:p>
            <a:pPr marL="0" indent="0" algn="l">
              <a:spcAft>
                <a:spcPts val="200"/>
              </a:spcAft>
              <a:buNone/>
            </a:pPr>
            <a:r>
              <a:rPr lang="en-US" sz="1150" b="1" dirty="0">
                <a:solidFill>
                  <a:srgbClr val="2C5F2D"/>
                </a:solidFill>
                <a:latin typeface="Calibri" pitchFamily="34" charset="0"/>
                <a:ea typeface="Calibri" pitchFamily="34" charset="-122"/>
                <a:cs typeface="Calibri" pitchFamily="34" charset="-120"/>
              </a:rPr>
              <a:t>Ejemplo AquaGest:</a:t>
            </a:r>
            <a:endParaRPr lang="en-US" sz="1150" dirty="0"/>
          </a:p>
          <a:p>
            <a:pPr marL="0" indent="0" algn="l">
              <a:buNone/>
            </a:pPr>
            <a:r>
              <a:rPr lang="en-US" sz="1150" i="1" dirty="0">
                <a:solidFill>
                  <a:srgbClr val="1E293B"/>
                </a:solidFill>
                <a:latin typeface="Calibri" pitchFamily="34" charset="0"/>
                <a:ea typeface="Calibri" pitchFamily="34" charset="-122"/>
                <a:cs typeface="Calibri" pitchFamily="34" charset="-120"/>
              </a:rPr>
              <a:t>Sensor -&gt; [Proceso: Registrar lectura] -&gt; Almacen lecturas -&gt; [Proceso: Generar alerta] -&gt; Técnico</a:t>
            </a:r>
            <a:endParaRPr lang="en-US" sz="1150" dirty="0"/>
          </a:p>
        </p:txBody>
      </p:sp>
      <p:sp>
        <p:nvSpPr>
          <p:cNvPr id="7" name="Shape 5"/>
          <p:cNvSpPr/>
          <p:nvPr/>
        </p:nvSpPr>
        <p:spPr>
          <a:xfrm>
            <a:off x="6400800" y="1783080"/>
            <a:ext cx="5303520" cy="4480560"/>
          </a:xfrm>
          <a:prstGeom prst="roundRect">
            <a:avLst>
              <a:gd name="adj" fmla="val 2041"/>
            </a:avLst>
          </a:prstGeom>
          <a:solidFill>
            <a:srgbClr val="F8FAFC"/>
          </a:solidFill>
          <a:ln w="19050">
            <a:solidFill>
              <a:srgbClr val="1E4D8B"/>
            </a:solidFill>
            <a:prstDash val="solid"/>
          </a:ln>
        </p:spPr>
      </p:sp>
      <p:sp>
        <p:nvSpPr>
          <p:cNvPr id="8" name="Text 6"/>
          <p:cNvSpPr/>
          <p:nvPr/>
        </p:nvSpPr>
        <p:spPr>
          <a:xfrm>
            <a:off x="6583680" y="1920240"/>
            <a:ext cx="4937760" cy="365760"/>
          </a:xfrm>
          <a:prstGeom prst="rect">
            <a:avLst/>
          </a:prstGeom>
          <a:noFill/>
          <a:ln/>
        </p:spPr>
        <p:txBody>
          <a:bodyPr wrap="square" lIns="0" tIns="0" rIns="0" bIns="0" rtlCol="0" anchor="ctr"/>
          <a:lstStyle/>
          <a:p>
            <a:pPr marL="0" indent="0" algn="l">
              <a:buNone/>
            </a:pPr>
            <a:r>
              <a:rPr lang="en-US" sz="1600" b="1" dirty="0">
                <a:solidFill>
                  <a:srgbClr val="1E4D8B"/>
                </a:solidFill>
                <a:latin typeface="Cambria" pitchFamily="34" charset="0"/>
                <a:ea typeface="Cambria" pitchFamily="34" charset="-122"/>
                <a:cs typeface="Cambria" pitchFamily="34" charset="-120"/>
              </a:rPr>
              <a:t>Diagrama de actividad UML</a:t>
            </a:r>
            <a:endParaRPr lang="en-US" sz="1600" dirty="0"/>
          </a:p>
        </p:txBody>
      </p:sp>
      <p:sp>
        <p:nvSpPr>
          <p:cNvPr id="9" name="Text 7"/>
          <p:cNvSpPr/>
          <p:nvPr/>
        </p:nvSpPr>
        <p:spPr>
          <a:xfrm>
            <a:off x="6720840" y="2331720"/>
            <a:ext cx="4892040" cy="3840480"/>
          </a:xfrm>
          <a:prstGeom prst="rect">
            <a:avLst/>
          </a:prstGeom>
          <a:noFill/>
          <a:ln/>
        </p:spPr>
        <p:txBody>
          <a:bodyPr wrap="square" lIns="0" tIns="0" rIns="0" bIns="0" rtlCol="0" anchor="t"/>
          <a:lstStyle/>
          <a:p>
            <a:pPr marL="0" indent="0" algn="l">
              <a:spcAft>
                <a:spcPts val="800"/>
              </a:spcAft>
              <a:buNone/>
            </a:pPr>
            <a:r>
              <a:rPr lang="en-US" sz="1150" i="1" dirty="0">
                <a:solidFill>
                  <a:srgbClr val="475569"/>
                </a:solidFill>
                <a:latin typeface="Calibri" pitchFamily="34" charset="0"/>
                <a:ea typeface="Calibri" pitchFamily="34" charset="-122"/>
                <a:cs typeface="Calibri" pitchFamily="34" charset="-120"/>
              </a:rPr>
              <a:t>OMG UML 2.5.1. Sucesor moderno del DFD y del diagrama de flujo (flowchart).</a:t>
            </a:r>
            <a:endParaRPr lang="en-US" sz="1150" dirty="0"/>
          </a:p>
          <a:p>
            <a:pPr marL="0" indent="0" algn="l">
              <a:spcAft>
                <a:spcPts val="400"/>
              </a:spcAft>
              <a:buNone/>
            </a:pPr>
            <a:r>
              <a:rPr lang="en-US" sz="1150" b="1" dirty="0">
                <a:solidFill>
                  <a:srgbClr val="1E293B"/>
                </a:solidFill>
                <a:latin typeface="Calibri" pitchFamily="34" charset="0"/>
                <a:ea typeface="Calibri" pitchFamily="34" charset="-122"/>
                <a:cs typeface="Calibri" pitchFamily="34" charset="-120"/>
              </a:rPr>
              <a:t>Elementos:</a:t>
            </a:r>
            <a:endParaRPr lang="en-US" sz="1150" dirty="0"/>
          </a:p>
          <a:p>
            <a:pPr marL="0" indent="0" algn="l">
              <a:buNone/>
            </a:pPr>
            <a:r>
              <a:rPr lang="en-US" sz="1150" dirty="0">
                <a:solidFill>
                  <a:srgbClr val="1E293B"/>
                </a:solidFill>
                <a:latin typeface="Calibri" pitchFamily="34" charset="0"/>
                <a:ea typeface="Calibri" pitchFamily="34" charset="-122"/>
                <a:cs typeface="Calibri" pitchFamily="34" charset="-120"/>
              </a:rPr>
              <a:t>- Actividad: unidad de trabajo (rectangulo redondeado).</a:t>
            </a:r>
            <a:endParaRPr lang="en-US" sz="1150" dirty="0"/>
          </a:p>
          <a:p>
            <a:pPr marL="0" indent="0" algn="l">
              <a:buNone/>
            </a:pPr>
            <a:r>
              <a:rPr lang="en-US" sz="1150" dirty="0">
                <a:solidFill>
                  <a:srgbClr val="1E293B"/>
                </a:solidFill>
                <a:latin typeface="Calibri" pitchFamily="34" charset="0"/>
                <a:ea typeface="Calibri" pitchFamily="34" charset="-122"/>
                <a:cs typeface="Calibri" pitchFamily="34" charset="-120"/>
              </a:rPr>
              <a:t>- Decisión: bifurcación (rombo).</a:t>
            </a:r>
            <a:endParaRPr lang="en-US" sz="1150" dirty="0"/>
          </a:p>
          <a:p>
            <a:pPr marL="0" indent="0" algn="l">
              <a:buNone/>
            </a:pPr>
            <a:r>
              <a:rPr lang="en-US" sz="1150" dirty="0">
                <a:solidFill>
                  <a:srgbClr val="1E293B"/>
                </a:solidFill>
                <a:latin typeface="Calibri" pitchFamily="34" charset="0"/>
                <a:ea typeface="Calibri" pitchFamily="34" charset="-122"/>
                <a:cs typeface="Calibri" pitchFamily="34" charset="-120"/>
              </a:rPr>
              <a:t>- Fork / Join: paralelismo (barra).</a:t>
            </a:r>
            <a:endParaRPr lang="en-US" sz="1150" dirty="0"/>
          </a:p>
          <a:p>
            <a:pPr marL="0" indent="0" algn="l">
              <a:buNone/>
            </a:pPr>
            <a:r>
              <a:rPr lang="en-US" sz="1150" dirty="0">
                <a:solidFill>
                  <a:srgbClr val="1E293B"/>
                </a:solidFill>
                <a:latin typeface="Calibri" pitchFamily="34" charset="0"/>
                <a:ea typeface="Calibri" pitchFamily="34" charset="-122"/>
                <a:cs typeface="Calibri" pitchFamily="34" charset="-120"/>
              </a:rPr>
              <a:t>- Nodo inicial (circulo lleno) y final (circulo con anillo).</a:t>
            </a:r>
            <a:endParaRPr lang="en-US" sz="1150" dirty="0"/>
          </a:p>
          <a:p>
            <a:pPr marL="0" indent="0" algn="l">
              <a:spcAft>
                <a:spcPts val="1000"/>
              </a:spcAft>
              <a:buNone/>
            </a:pPr>
            <a:r>
              <a:rPr lang="en-US" sz="1150" dirty="0">
                <a:solidFill>
                  <a:srgbClr val="1E293B"/>
                </a:solidFill>
                <a:latin typeface="Calibri" pitchFamily="34" charset="0"/>
                <a:ea typeface="Calibri" pitchFamily="34" charset="-122"/>
                <a:cs typeface="Calibri" pitchFamily="34" charset="-120"/>
              </a:rPr>
              <a:t>- Calle / carril (swimlane): asigna actividades a actores.</a:t>
            </a:r>
            <a:endParaRPr lang="en-US" sz="1150" dirty="0"/>
          </a:p>
          <a:p>
            <a:pPr marL="0" indent="0" algn="l">
              <a:spcAft>
                <a:spcPts val="200"/>
              </a:spcAft>
              <a:buNone/>
            </a:pPr>
            <a:r>
              <a:rPr lang="en-US" sz="1150" b="1" dirty="0">
                <a:solidFill>
                  <a:srgbClr val="1E4D8B"/>
                </a:solidFill>
                <a:latin typeface="Calibri" pitchFamily="34" charset="0"/>
                <a:ea typeface="Calibri" pitchFamily="34" charset="-122"/>
                <a:cs typeface="Calibri" pitchFamily="34" charset="-120"/>
              </a:rPr>
              <a:t>Ejemplo SIMPA - Aplicación de fitosanitario:</a:t>
            </a:r>
            <a:endParaRPr lang="en-US" sz="1150" dirty="0"/>
          </a:p>
          <a:p>
            <a:pPr marL="0" indent="0" algn="l">
              <a:buNone/>
            </a:pPr>
            <a:r>
              <a:rPr lang="en-US" sz="1150" dirty="0">
                <a:solidFill>
                  <a:srgbClr val="1E293B"/>
                </a:solidFill>
                <a:latin typeface="Calibri" pitchFamily="34" charset="0"/>
                <a:ea typeface="Calibri" pitchFamily="34" charset="-122"/>
                <a:cs typeface="Calibri" pitchFamily="34" charset="-120"/>
              </a:rPr>
              <a:t>Inicio -&gt; Detectar plaga -&gt; </a:t>
            </a:r>
            <a:r>
              <a:rPr lang="en-US" sz="1150" b="1" dirty="0">
                <a:solidFill>
                  <a:srgbClr val="D4A017"/>
                </a:solidFill>
                <a:latin typeface="Calibri" pitchFamily="34" charset="0"/>
                <a:ea typeface="Calibri" pitchFamily="34" charset="-122"/>
                <a:cs typeface="Calibri" pitchFamily="34" charset="-120"/>
              </a:rPr>
              <a:t>&lt;Riesgo alto?&gt;</a:t>
            </a:r>
            <a:r>
              <a:rPr lang="en-US" sz="1150" dirty="0">
                <a:solidFill>
                  <a:srgbClr val="1E293B"/>
                </a:solidFill>
                <a:latin typeface="Calibri" pitchFamily="34" charset="0"/>
                <a:ea typeface="Calibri" pitchFamily="34" charset="-122"/>
                <a:cs typeface="Calibri" pitchFamily="34" charset="-120"/>
              </a:rPr>
              <a:t> -&gt; [Si] Aplicar tratamiento -&gt; Registrar en bitacora -&gt; Notificar AGROCALIDAD -&gt; Fin</a:t>
            </a:r>
            <a:endParaRPr lang="en-US" sz="1150" dirty="0"/>
          </a:p>
          <a:p>
            <a:pPr marL="0" indent="0" algn="l">
              <a:buNone/>
            </a:pPr>
            <a:r>
              <a:rPr lang="en-US" sz="1150" dirty="0">
                <a:solidFill>
                  <a:srgbClr val="1E293B"/>
                </a:solidFill>
                <a:latin typeface="Calibri" pitchFamily="34" charset="0"/>
                <a:ea typeface="Calibri" pitchFamily="34" charset="-122"/>
                <a:cs typeface="Calibri" pitchFamily="34" charset="-120"/>
              </a:rPr>
              <a:t>[No] Programar seguimiento -&gt; Fin</a:t>
            </a:r>
            <a:endParaRPr lang="en-US" sz="1150" dirty="0"/>
          </a:p>
        </p:txBody>
      </p:sp>
      <p:sp>
        <p:nvSpPr>
          <p:cNvPr id="11" name="Shape 8"/>
          <p:cNvSpPr/>
          <p:nvPr/>
        </p:nvSpPr>
        <p:spPr>
          <a:xfrm>
            <a:off x="0" y="0"/>
            <a:ext cx="12161520" cy="384048"/>
          </a:xfrm>
          <a:prstGeom prst="rect">
            <a:avLst/>
          </a:prstGeom>
          <a:solidFill>
            <a:srgbClr val="2C5F2D"/>
          </a:solidFill>
          <a:ln w="12700">
            <a:solidFill>
              <a:srgbClr val="2C5F2D"/>
            </a:solidFill>
            <a:prstDash val="solid"/>
          </a:ln>
        </p:spPr>
      </p:sp>
      <p:sp>
        <p:nvSpPr>
          <p:cNvPr id="12" name="Text 9"/>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13" name="Text 10"/>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10.2 Función</a:t>
            </a:r>
            <a:endParaRPr lang="en-US" sz="1000" dirty="0"/>
          </a:p>
        </p:txBody>
      </p:sp>
      <p:sp>
        <p:nvSpPr>
          <p:cNvPr id="14" name="Text 11"/>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15" name="Text 12"/>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20 / 30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548640"/>
            <a:ext cx="11247120" cy="640080"/>
          </a:xfrm>
          <a:prstGeom prst="rect">
            <a:avLst/>
          </a:prstGeom>
          <a:noFill/>
          <a:ln/>
        </p:spPr>
        <p:txBody>
          <a:bodyPr wrap="square" lIns="0" tIns="0" rIns="0" bIns="0" rtlCol="0" anchor="t"/>
          <a:lstStyle/>
          <a:p>
            <a:pPr marL="0" indent="0" algn="l">
              <a:buNone/>
            </a:pPr>
            <a:r>
              <a:rPr lang="en-US" sz="3000" b="1" dirty="0">
                <a:solidFill>
                  <a:srgbClr val="1E4D8B"/>
                </a:solidFill>
                <a:latin typeface="Cambria" pitchFamily="34" charset="0"/>
                <a:ea typeface="Cambria" pitchFamily="34" charset="-122"/>
                <a:cs typeface="Cambria" pitchFamily="34" charset="-120"/>
              </a:rPr>
              <a:t>10.3 - Modelos de comportamiento</a:t>
            </a:r>
            <a:endParaRPr lang="en-US" sz="3000" dirty="0"/>
          </a:p>
        </p:txBody>
      </p:sp>
      <p:sp>
        <p:nvSpPr>
          <p:cNvPr id="3" name="Text 1"/>
          <p:cNvSpPr/>
          <p:nvPr/>
        </p:nvSpPr>
        <p:spPr>
          <a:xfrm>
            <a:off x="457200" y="1188720"/>
            <a:ext cx="11247120" cy="365760"/>
          </a:xfrm>
          <a:prstGeom prst="rect">
            <a:avLst/>
          </a:prstGeom>
          <a:noFill/>
          <a:ln/>
        </p:spPr>
        <p:txBody>
          <a:bodyPr wrap="square" lIns="0" tIns="0" rIns="0" bIns="0" rtlCol="0" anchor="t"/>
          <a:lstStyle/>
          <a:p>
            <a:pPr marL="0" indent="0" algn="l">
              <a:buNone/>
            </a:pPr>
            <a:r>
              <a:rPr lang="en-US" sz="1300" i="1" dirty="0">
                <a:solidFill>
                  <a:srgbClr val="475569"/>
                </a:solidFill>
                <a:latin typeface="Calibri" pitchFamily="34" charset="0"/>
                <a:ea typeface="Calibri" pitchFamily="34" charset="-122"/>
                <a:cs typeface="Calibri" pitchFamily="34" charset="-120"/>
              </a:rPr>
              <a:t>De los autómatas finitos a los statecharts UML</a:t>
            </a:r>
            <a:endParaRPr lang="en-US" sz="1300" dirty="0"/>
          </a:p>
        </p:txBody>
      </p:sp>
      <p:sp>
        <p:nvSpPr>
          <p:cNvPr id="4" name="Shape 2"/>
          <p:cNvSpPr/>
          <p:nvPr/>
        </p:nvSpPr>
        <p:spPr>
          <a:xfrm>
            <a:off x="388620" y="1783080"/>
            <a:ext cx="3703320" cy="2743200"/>
          </a:xfrm>
          <a:prstGeom prst="roundRect">
            <a:avLst>
              <a:gd name="adj" fmla="val 3333"/>
            </a:avLst>
          </a:prstGeom>
          <a:solidFill>
            <a:srgbClr val="F8FAFC"/>
          </a:solidFill>
          <a:ln w="25400">
            <a:solidFill>
              <a:srgbClr val="97BC62"/>
            </a:solidFill>
            <a:prstDash val="solid"/>
          </a:ln>
        </p:spPr>
      </p:sp>
      <p:sp>
        <p:nvSpPr>
          <p:cNvPr id="5" name="Shape 3"/>
          <p:cNvSpPr/>
          <p:nvPr/>
        </p:nvSpPr>
        <p:spPr>
          <a:xfrm>
            <a:off x="1828800" y="1965960"/>
            <a:ext cx="822960" cy="822960"/>
          </a:xfrm>
          <a:prstGeom prst="ellipse">
            <a:avLst/>
          </a:prstGeom>
          <a:solidFill>
            <a:srgbClr val="97BC62"/>
          </a:solidFill>
          <a:ln w="12700">
            <a:solidFill>
              <a:srgbClr val="97BC62"/>
            </a:solidFill>
            <a:prstDash val="solid"/>
          </a:ln>
        </p:spPr>
      </p:sp>
      <p:pic>
        <p:nvPicPr>
          <p:cNvPr id="6" name="Image 0" descr="preencoded.png"/>
          <p:cNvPicPr>
            <a:picLocks noChangeAspect="1"/>
          </p:cNvPicPr>
          <p:nvPr/>
        </p:nvPicPr>
        <p:blipFill>
          <a:blip r:embed="rId3"/>
          <a:stretch>
            <a:fillRect/>
          </a:stretch>
        </p:blipFill>
        <p:spPr>
          <a:xfrm>
            <a:off x="1984248" y="2121408"/>
            <a:ext cx="512064" cy="512064"/>
          </a:xfrm>
          <a:prstGeom prst="rect">
            <a:avLst/>
          </a:prstGeom>
        </p:spPr>
      </p:pic>
      <p:sp>
        <p:nvSpPr>
          <p:cNvPr id="7" name="Text 4"/>
          <p:cNvSpPr/>
          <p:nvPr/>
        </p:nvSpPr>
        <p:spPr>
          <a:xfrm>
            <a:off x="571500" y="2880360"/>
            <a:ext cx="3337560" cy="411480"/>
          </a:xfrm>
          <a:prstGeom prst="rect">
            <a:avLst/>
          </a:prstGeom>
          <a:noFill/>
          <a:ln/>
        </p:spPr>
        <p:txBody>
          <a:bodyPr wrap="square" lIns="0" tIns="0" rIns="0" bIns="0" rtlCol="0" anchor="ctr"/>
          <a:lstStyle/>
          <a:p>
            <a:pPr marL="0" indent="0" algn="ctr">
              <a:buNone/>
            </a:pPr>
            <a:r>
              <a:rPr lang="en-US" sz="1600" b="1" dirty="0">
                <a:solidFill>
                  <a:srgbClr val="97BC62"/>
                </a:solidFill>
                <a:latin typeface="Cambria" pitchFamily="34" charset="0"/>
                <a:ea typeface="Cambria" pitchFamily="34" charset="-122"/>
                <a:cs typeface="Cambria" pitchFamily="34" charset="-120"/>
              </a:rPr>
              <a:t>Autómata finito</a:t>
            </a:r>
            <a:endParaRPr lang="en-US" sz="1600" dirty="0"/>
          </a:p>
        </p:txBody>
      </p:sp>
      <p:sp>
        <p:nvSpPr>
          <p:cNvPr id="8" name="Text 5"/>
          <p:cNvSpPr/>
          <p:nvPr/>
        </p:nvSpPr>
        <p:spPr>
          <a:xfrm>
            <a:off x="617220" y="3291840"/>
            <a:ext cx="3246120" cy="365760"/>
          </a:xfrm>
          <a:prstGeom prst="rect">
            <a:avLst/>
          </a:prstGeom>
          <a:noFill/>
          <a:ln/>
        </p:spPr>
        <p:txBody>
          <a:bodyPr wrap="square" lIns="0" tIns="0" rIns="0" bIns="0" rtlCol="0" anchor="t"/>
          <a:lstStyle/>
          <a:p>
            <a:pPr marL="0" indent="0" algn="ctr">
              <a:buNone/>
            </a:pPr>
            <a:r>
              <a:rPr lang="en-US" sz="1000" i="1" dirty="0">
                <a:solidFill>
                  <a:srgbClr val="475569"/>
                </a:solidFill>
                <a:latin typeface="Calibri" pitchFamily="34" charset="0"/>
                <a:ea typeface="Calibri" pitchFamily="34" charset="-122"/>
                <a:cs typeface="Calibri" pitchFamily="34" charset="-120"/>
              </a:rPr>
              <a:t>Formalizado por Rabin y Scott (IBM J. Res., 1959).</a:t>
            </a:r>
            <a:endParaRPr lang="en-US" sz="1000" dirty="0"/>
          </a:p>
        </p:txBody>
      </p:sp>
      <p:sp>
        <p:nvSpPr>
          <p:cNvPr id="9" name="Text 6"/>
          <p:cNvSpPr/>
          <p:nvPr/>
        </p:nvSpPr>
        <p:spPr>
          <a:xfrm>
            <a:off x="662940" y="3657600"/>
            <a:ext cx="3154680" cy="822960"/>
          </a:xfrm>
          <a:prstGeom prst="rect">
            <a:avLst/>
          </a:prstGeom>
          <a:noFill/>
          <a:ln/>
        </p:spPr>
        <p:txBody>
          <a:bodyPr wrap="square" lIns="0" tIns="0" rIns="0" bIns="0" rtlCol="0" anchor="t"/>
          <a:lstStyle/>
          <a:p>
            <a:pPr marL="0" indent="0" algn="l">
              <a:buNone/>
            </a:pPr>
            <a:r>
              <a:rPr lang="en-US" sz="1100" dirty="0">
                <a:solidFill>
                  <a:srgbClr val="1E293B"/>
                </a:solidFill>
                <a:latin typeface="Calibri" pitchFamily="34" charset="0"/>
                <a:ea typeface="Calibri" pitchFamily="34" charset="-122"/>
                <a:cs typeface="Calibri" pitchFamily="34" charset="-120"/>
              </a:rPr>
              <a:t>Conjunto finito de estados, alfabeto de entradas, función de transición. Modelo teorico base.</a:t>
            </a:r>
            <a:endParaRPr lang="en-US" sz="1100" dirty="0"/>
          </a:p>
        </p:txBody>
      </p:sp>
      <p:sp>
        <p:nvSpPr>
          <p:cNvPr id="10" name="Shape 7"/>
          <p:cNvSpPr/>
          <p:nvPr/>
        </p:nvSpPr>
        <p:spPr>
          <a:xfrm>
            <a:off x="4229100" y="1783080"/>
            <a:ext cx="3703320" cy="2743200"/>
          </a:xfrm>
          <a:prstGeom prst="roundRect">
            <a:avLst>
              <a:gd name="adj" fmla="val 3333"/>
            </a:avLst>
          </a:prstGeom>
          <a:solidFill>
            <a:srgbClr val="F8FAFC"/>
          </a:solidFill>
          <a:ln w="25400">
            <a:solidFill>
              <a:srgbClr val="2C5F2D"/>
            </a:solidFill>
            <a:prstDash val="solid"/>
          </a:ln>
        </p:spPr>
      </p:sp>
      <p:sp>
        <p:nvSpPr>
          <p:cNvPr id="11" name="Shape 8"/>
          <p:cNvSpPr/>
          <p:nvPr/>
        </p:nvSpPr>
        <p:spPr>
          <a:xfrm>
            <a:off x="5669280" y="1965960"/>
            <a:ext cx="822960" cy="822960"/>
          </a:xfrm>
          <a:prstGeom prst="ellipse">
            <a:avLst/>
          </a:prstGeom>
          <a:solidFill>
            <a:srgbClr val="2C5F2D"/>
          </a:solidFill>
          <a:ln w="12700">
            <a:solidFill>
              <a:srgbClr val="2C5F2D"/>
            </a:solidFill>
            <a:prstDash val="solid"/>
          </a:ln>
        </p:spPr>
      </p:sp>
      <p:pic>
        <p:nvPicPr>
          <p:cNvPr id="12" name="Image 1" descr="preencoded.png"/>
          <p:cNvPicPr>
            <a:picLocks noChangeAspect="1"/>
          </p:cNvPicPr>
          <p:nvPr/>
        </p:nvPicPr>
        <p:blipFill>
          <a:blip r:embed="rId4"/>
          <a:stretch>
            <a:fillRect/>
          </a:stretch>
        </p:blipFill>
        <p:spPr>
          <a:xfrm>
            <a:off x="5824728" y="2121408"/>
            <a:ext cx="512064" cy="512064"/>
          </a:xfrm>
          <a:prstGeom prst="rect">
            <a:avLst/>
          </a:prstGeom>
        </p:spPr>
      </p:pic>
      <p:sp>
        <p:nvSpPr>
          <p:cNvPr id="13" name="Text 9"/>
          <p:cNvSpPr/>
          <p:nvPr/>
        </p:nvSpPr>
        <p:spPr>
          <a:xfrm>
            <a:off x="4411980" y="2880360"/>
            <a:ext cx="3337560" cy="411480"/>
          </a:xfrm>
          <a:prstGeom prst="rect">
            <a:avLst/>
          </a:prstGeom>
          <a:noFill/>
          <a:ln/>
        </p:spPr>
        <p:txBody>
          <a:bodyPr wrap="square" lIns="0" tIns="0" rIns="0" bIns="0" rtlCol="0" anchor="ctr"/>
          <a:lstStyle/>
          <a:p>
            <a:pPr marL="0" indent="0" algn="ctr">
              <a:buNone/>
            </a:pPr>
            <a:r>
              <a:rPr lang="en-US" sz="1600" b="1" dirty="0">
                <a:solidFill>
                  <a:srgbClr val="2C5F2D"/>
                </a:solidFill>
                <a:latin typeface="Cambria" pitchFamily="34" charset="0"/>
                <a:ea typeface="Cambria" pitchFamily="34" charset="-122"/>
                <a:cs typeface="Cambria" pitchFamily="34" charset="-120"/>
              </a:rPr>
              <a:t>Statechart</a:t>
            </a:r>
            <a:endParaRPr lang="en-US" sz="1600" dirty="0"/>
          </a:p>
        </p:txBody>
      </p:sp>
      <p:sp>
        <p:nvSpPr>
          <p:cNvPr id="14" name="Text 10"/>
          <p:cNvSpPr/>
          <p:nvPr/>
        </p:nvSpPr>
        <p:spPr>
          <a:xfrm>
            <a:off x="4457700" y="3291840"/>
            <a:ext cx="3246120" cy="365760"/>
          </a:xfrm>
          <a:prstGeom prst="rect">
            <a:avLst/>
          </a:prstGeom>
          <a:noFill/>
          <a:ln/>
        </p:spPr>
        <p:txBody>
          <a:bodyPr wrap="square" lIns="0" tIns="0" rIns="0" bIns="0" rtlCol="0" anchor="t"/>
          <a:lstStyle/>
          <a:p>
            <a:pPr marL="0" indent="0" algn="ctr">
              <a:buNone/>
            </a:pPr>
            <a:r>
              <a:rPr lang="en-US" sz="1000" i="1" dirty="0">
                <a:solidFill>
                  <a:srgbClr val="475569"/>
                </a:solidFill>
                <a:latin typeface="Calibri" pitchFamily="34" charset="0"/>
                <a:ea typeface="Calibri" pitchFamily="34" charset="-122"/>
                <a:cs typeface="Calibri" pitchFamily="34" charset="-120"/>
              </a:rPr>
              <a:t>Propuesto por David Harel (Sci. Comp. Prog., 1987).</a:t>
            </a:r>
            <a:endParaRPr lang="en-US" sz="1000" dirty="0"/>
          </a:p>
        </p:txBody>
      </p:sp>
      <p:sp>
        <p:nvSpPr>
          <p:cNvPr id="15" name="Text 11"/>
          <p:cNvSpPr/>
          <p:nvPr/>
        </p:nvSpPr>
        <p:spPr>
          <a:xfrm>
            <a:off x="4503420" y="3657600"/>
            <a:ext cx="3154680" cy="822960"/>
          </a:xfrm>
          <a:prstGeom prst="rect">
            <a:avLst/>
          </a:prstGeom>
          <a:noFill/>
          <a:ln/>
        </p:spPr>
        <p:txBody>
          <a:bodyPr wrap="square" lIns="0" tIns="0" rIns="0" bIns="0" rtlCol="0" anchor="t"/>
          <a:lstStyle/>
          <a:p>
            <a:pPr marL="0" indent="0" algn="l">
              <a:buNone/>
            </a:pPr>
            <a:r>
              <a:rPr lang="en-US" sz="1100" dirty="0">
                <a:solidFill>
                  <a:srgbClr val="1E293B"/>
                </a:solidFill>
                <a:latin typeface="Calibri" pitchFamily="34" charset="0"/>
                <a:ea typeface="Calibri" pitchFamily="34" charset="-122"/>
                <a:cs typeface="Calibri" pitchFamily="34" charset="-120"/>
              </a:rPr>
              <a:t>Extiende autómatas con: jerarquía (superestados), concurrencia (regiones paralelas) y comunicación por eventos.</a:t>
            </a:r>
            <a:endParaRPr lang="en-US" sz="1100" dirty="0"/>
          </a:p>
        </p:txBody>
      </p:sp>
      <p:sp>
        <p:nvSpPr>
          <p:cNvPr id="16" name="Shape 12"/>
          <p:cNvSpPr/>
          <p:nvPr/>
        </p:nvSpPr>
        <p:spPr>
          <a:xfrm>
            <a:off x="8069580" y="1783080"/>
            <a:ext cx="3703320" cy="2743200"/>
          </a:xfrm>
          <a:prstGeom prst="roundRect">
            <a:avLst>
              <a:gd name="adj" fmla="val 3333"/>
            </a:avLst>
          </a:prstGeom>
          <a:solidFill>
            <a:srgbClr val="F8FAFC"/>
          </a:solidFill>
          <a:ln w="25400">
            <a:solidFill>
              <a:srgbClr val="1E4D8B"/>
            </a:solidFill>
            <a:prstDash val="solid"/>
          </a:ln>
        </p:spPr>
      </p:sp>
      <p:sp>
        <p:nvSpPr>
          <p:cNvPr id="17" name="Shape 13"/>
          <p:cNvSpPr/>
          <p:nvPr/>
        </p:nvSpPr>
        <p:spPr>
          <a:xfrm>
            <a:off x="9509760" y="1965960"/>
            <a:ext cx="822960" cy="822960"/>
          </a:xfrm>
          <a:prstGeom prst="ellipse">
            <a:avLst/>
          </a:prstGeom>
          <a:solidFill>
            <a:srgbClr val="1E4D8B"/>
          </a:solidFill>
          <a:ln w="12700">
            <a:solidFill>
              <a:srgbClr val="1E4D8B"/>
            </a:solidFill>
            <a:prstDash val="solid"/>
          </a:ln>
        </p:spPr>
      </p:sp>
      <p:pic>
        <p:nvPicPr>
          <p:cNvPr id="18" name="Image 2" descr="preencoded.png"/>
          <p:cNvPicPr>
            <a:picLocks noChangeAspect="1"/>
          </p:cNvPicPr>
          <p:nvPr/>
        </p:nvPicPr>
        <p:blipFill>
          <a:blip r:embed="rId5"/>
          <a:stretch>
            <a:fillRect/>
          </a:stretch>
        </p:blipFill>
        <p:spPr>
          <a:xfrm>
            <a:off x="9665208" y="2121408"/>
            <a:ext cx="512064" cy="512064"/>
          </a:xfrm>
          <a:prstGeom prst="rect">
            <a:avLst/>
          </a:prstGeom>
        </p:spPr>
      </p:pic>
      <p:sp>
        <p:nvSpPr>
          <p:cNvPr id="19" name="Text 14"/>
          <p:cNvSpPr/>
          <p:nvPr/>
        </p:nvSpPr>
        <p:spPr>
          <a:xfrm>
            <a:off x="8252460" y="2880360"/>
            <a:ext cx="3337560" cy="411480"/>
          </a:xfrm>
          <a:prstGeom prst="rect">
            <a:avLst/>
          </a:prstGeom>
          <a:noFill/>
          <a:ln/>
        </p:spPr>
        <p:txBody>
          <a:bodyPr wrap="square" lIns="0" tIns="0" rIns="0" bIns="0" rtlCol="0" anchor="ctr"/>
          <a:lstStyle/>
          <a:p>
            <a:pPr marL="0" indent="0" algn="ctr">
              <a:buNone/>
            </a:pPr>
            <a:r>
              <a:rPr lang="en-US" sz="1600" b="1" dirty="0">
                <a:solidFill>
                  <a:srgbClr val="1E4D8B"/>
                </a:solidFill>
                <a:latin typeface="Cambria" pitchFamily="34" charset="0"/>
                <a:ea typeface="Cambria" pitchFamily="34" charset="-122"/>
                <a:cs typeface="Cambria" pitchFamily="34" charset="-120"/>
              </a:rPr>
              <a:t>Maquina de estados UML</a:t>
            </a:r>
            <a:endParaRPr lang="en-US" sz="1600" dirty="0"/>
          </a:p>
        </p:txBody>
      </p:sp>
      <p:sp>
        <p:nvSpPr>
          <p:cNvPr id="20" name="Text 15"/>
          <p:cNvSpPr/>
          <p:nvPr/>
        </p:nvSpPr>
        <p:spPr>
          <a:xfrm>
            <a:off x="8298180" y="3291840"/>
            <a:ext cx="3246120" cy="365760"/>
          </a:xfrm>
          <a:prstGeom prst="rect">
            <a:avLst/>
          </a:prstGeom>
          <a:noFill/>
          <a:ln/>
        </p:spPr>
        <p:txBody>
          <a:bodyPr wrap="square" lIns="0" tIns="0" rIns="0" bIns="0" rtlCol="0" anchor="t"/>
          <a:lstStyle/>
          <a:p>
            <a:pPr marL="0" indent="0" algn="ctr">
              <a:buNone/>
            </a:pPr>
            <a:r>
              <a:rPr lang="en-US" sz="1000" i="1" dirty="0">
                <a:solidFill>
                  <a:srgbClr val="475569"/>
                </a:solidFill>
                <a:latin typeface="Calibri" pitchFamily="34" charset="0"/>
                <a:ea typeface="Calibri" pitchFamily="34" charset="-122"/>
                <a:cs typeface="Calibri" pitchFamily="34" charset="-120"/>
              </a:rPr>
              <a:t>OMG UML 2.5.1 (2017), basada en Harel.</a:t>
            </a:r>
            <a:endParaRPr lang="en-US" sz="1000" dirty="0"/>
          </a:p>
        </p:txBody>
      </p:sp>
      <p:sp>
        <p:nvSpPr>
          <p:cNvPr id="21" name="Text 16"/>
          <p:cNvSpPr/>
          <p:nvPr/>
        </p:nvSpPr>
        <p:spPr>
          <a:xfrm>
            <a:off x="8343900" y="3657600"/>
            <a:ext cx="3154680" cy="822960"/>
          </a:xfrm>
          <a:prstGeom prst="rect">
            <a:avLst/>
          </a:prstGeom>
          <a:noFill/>
          <a:ln/>
        </p:spPr>
        <p:txBody>
          <a:bodyPr wrap="square" lIns="0" tIns="0" rIns="0" bIns="0" rtlCol="0" anchor="t"/>
          <a:lstStyle/>
          <a:p>
            <a:pPr marL="0" indent="0" algn="l">
              <a:buNone/>
            </a:pPr>
            <a:r>
              <a:rPr lang="en-US" sz="1100" dirty="0">
                <a:solidFill>
                  <a:srgbClr val="1E293B"/>
                </a:solidFill>
                <a:latin typeface="Calibri" pitchFamily="34" charset="0"/>
                <a:ea typeface="Calibri" pitchFamily="34" charset="-122"/>
                <a:cs typeface="Calibri" pitchFamily="34" charset="-120"/>
              </a:rPr>
              <a:t>Notación estándar OO. Estados con acciones de entrada/salida, transiciónes con guardas y acciones.</a:t>
            </a:r>
            <a:endParaRPr lang="en-US" sz="1100" dirty="0"/>
          </a:p>
        </p:txBody>
      </p:sp>
      <p:sp>
        <p:nvSpPr>
          <p:cNvPr id="22" name="Shape 17"/>
          <p:cNvSpPr/>
          <p:nvPr/>
        </p:nvSpPr>
        <p:spPr>
          <a:xfrm>
            <a:off x="457200" y="4709160"/>
            <a:ext cx="11247120" cy="1600200"/>
          </a:xfrm>
          <a:prstGeom prst="roundRect">
            <a:avLst>
              <a:gd name="adj" fmla="val 5714"/>
            </a:avLst>
          </a:prstGeom>
          <a:solidFill>
            <a:srgbClr val="F8FAFC"/>
          </a:solidFill>
          <a:ln w="19050">
            <a:solidFill>
              <a:srgbClr val="D4A017"/>
            </a:solidFill>
            <a:prstDash val="solid"/>
          </a:ln>
        </p:spPr>
      </p:sp>
      <p:sp>
        <p:nvSpPr>
          <p:cNvPr id="23" name="Text 18"/>
          <p:cNvSpPr/>
          <p:nvPr/>
        </p:nvSpPr>
        <p:spPr>
          <a:xfrm>
            <a:off x="640080" y="4800600"/>
            <a:ext cx="10881360" cy="365760"/>
          </a:xfrm>
          <a:prstGeom prst="rect">
            <a:avLst/>
          </a:prstGeom>
          <a:noFill/>
          <a:ln/>
        </p:spPr>
        <p:txBody>
          <a:bodyPr wrap="square" lIns="0" tIns="0" rIns="0" bIns="0" rtlCol="0" anchor="ctr"/>
          <a:lstStyle/>
          <a:p>
            <a:pPr marL="0" indent="0" algn="l">
              <a:buNone/>
            </a:pPr>
            <a:r>
              <a:rPr lang="en-US" sz="1500" b="1" dirty="0">
                <a:solidFill>
                  <a:srgbClr val="D4A017"/>
                </a:solidFill>
                <a:latin typeface="Cambria" pitchFamily="34" charset="0"/>
                <a:ea typeface="Cambria" pitchFamily="34" charset="-122"/>
                <a:cs typeface="Cambria" pitchFamily="34" charset="-120"/>
              </a:rPr>
              <a:t>Ejemplo PFC MundiPets - Ciclo de vida de una cita veterinaria</a:t>
            </a:r>
            <a:endParaRPr lang="en-US" sz="1500" dirty="0"/>
          </a:p>
        </p:txBody>
      </p:sp>
      <p:sp>
        <p:nvSpPr>
          <p:cNvPr id="24" name="Text 19"/>
          <p:cNvSpPr/>
          <p:nvPr/>
        </p:nvSpPr>
        <p:spPr>
          <a:xfrm>
            <a:off x="777240" y="5166360"/>
            <a:ext cx="10607040" cy="1051560"/>
          </a:xfrm>
          <a:prstGeom prst="rect">
            <a:avLst/>
          </a:prstGeom>
          <a:noFill/>
          <a:ln/>
        </p:spPr>
        <p:txBody>
          <a:bodyPr wrap="square" lIns="0" tIns="0" rIns="0" bIns="0" rtlCol="0" anchor="t"/>
          <a:lstStyle/>
          <a:p>
            <a:pPr marL="0" indent="0" algn="l">
              <a:buNone/>
            </a:pPr>
            <a:r>
              <a:rPr lang="en-US" sz="1150" b="1" dirty="0">
                <a:solidFill>
                  <a:srgbClr val="1E4D8B"/>
                </a:solidFill>
                <a:latin typeface="Calibri" pitchFamily="34" charset="0"/>
                <a:ea typeface="Calibri" pitchFamily="34" charset="-122"/>
                <a:cs typeface="Calibri" pitchFamily="34" charset="-120"/>
              </a:rPr>
              <a:t>Estados: </a:t>
            </a:r>
            <a:r>
              <a:rPr lang="en-US" sz="1150" dirty="0">
                <a:solidFill>
                  <a:srgbClr val="1E293B"/>
                </a:solidFill>
                <a:latin typeface="Calibri" pitchFamily="34" charset="0"/>
                <a:ea typeface="Calibri" pitchFamily="34" charset="-122"/>
                <a:cs typeface="Calibri" pitchFamily="34" charset="-120"/>
              </a:rPr>
              <a:t>Solicitada -&gt; Confirmada -&gt; En atención -&gt; Finalizada  |  Cancelada  |  No asistida</a:t>
            </a:r>
            <a:endParaRPr lang="en-US" sz="1150" dirty="0"/>
          </a:p>
          <a:p>
            <a:pPr marL="0" indent="0" algn="l">
              <a:buNone/>
            </a:pPr>
            <a:r>
              <a:rPr lang="en-US" sz="1150" b="1" dirty="0">
                <a:solidFill>
                  <a:srgbClr val="1E4D8B"/>
                </a:solidFill>
                <a:latin typeface="Calibri" pitchFamily="34" charset="0"/>
                <a:ea typeface="Calibri" pitchFamily="34" charset="-122"/>
                <a:cs typeface="Calibri" pitchFamily="34" charset="-120"/>
              </a:rPr>
              <a:t>Transiciónes:  </a:t>
            </a:r>
            <a:r>
              <a:rPr lang="en-US" sz="1150" dirty="0">
                <a:solidFill>
                  <a:srgbClr val="1E293B"/>
                </a:solidFill>
                <a:latin typeface="Calibri" pitchFamily="34" charset="0"/>
                <a:ea typeface="Calibri" pitchFamily="34" charset="-122"/>
                <a:cs typeface="Calibri" pitchFamily="34" charset="-120"/>
              </a:rPr>
              <a:t>Solicitada --confirmar[cupo disponible]--&gt; Confirmada  |  Confirmada --iniciar()--&gt; En atención</a:t>
            </a:r>
            <a:endParaRPr lang="en-US" sz="1150" dirty="0"/>
          </a:p>
          <a:p>
            <a:pPr marL="0" indent="0" algn="l">
              <a:buNone/>
            </a:pPr>
            <a:r>
              <a:rPr lang="en-US" sz="1150" b="1" dirty="0">
                <a:solidFill>
                  <a:srgbClr val="1E4D8B"/>
                </a:solidFill>
                <a:latin typeface="Calibri" pitchFamily="34" charset="0"/>
                <a:ea typeface="Calibri" pitchFamily="34" charset="-122"/>
                <a:cs typeface="Calibri" pitchFamily="34" charset="-120"/>
              </a:rPr>
              <a:t>Acciones de estado: </a:t>
            </a:r>
            <a:r>
              <a:rPr lang="en-US" sz="1150" dirty="0">
                <a:solidFill>
                  <a:srgbClr val="1E293B"/>
                </a:solidFill>
                <a:latin typeface="Calibri" pitchFamily="34" charset="0"/>
                <a:ea typeface="Calibri" pitchFamily="34" charset="-122"/>
                <a:cs typeface="Calibri" pitchFamily="34" charset="-120"/>
              </a:rPr>
              <a:t>entry / notificar dueño  |  exit / registrar bitacora</a:t>
            </a:r>
            <a:endParaRPr lang="en-US" sz="1150" dirty="0"/>
          </a:p>
        </p:txBody>
      </p:sp>
      <p:sp>
        <p:nvSpPr>
          <p:cNvPr id="26" name="Shape 20"/>
          <p:cNvSpPr/>
          <p:nvPr/>
        </p:nvSpPr>
        <p:spPr>
          <a:xfrm>
            <a:off x="0" y="0"/>
            <a:ext cx="12161520" cy="384048"/>
          </a:xfrm>
          <a:prstGeom prst="rect">
            <a:avLst/>
          </a:prstGeom>
          <a:solidFill>
            <a:srgbClr val="2C5F2D"/>
          </a:solidFill>
          <a:ln w="12700">
            <a:solidFill>
              <a:srgbClr val="2C5F2D"/>
            </a:solidFill>
            <a:prstDash val="solid"/>
          </a:ln>
        </p:spPr>
      </p:sp>
      <p:sp>
        <p:nvSpPr>
          <p:cNvPr id="27" name="Text 21"/>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28" name="Text 22"/>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10.3 Comportamiento</a:t>
            </a:r>
            <a:endParaRPr lang="en-US" sz="1000" dirty="0"/>
          </a:p>
        </p:txBody>
      </p:sp>
      <p:sp>
        <p:nvSpPr>
          <p:cNvPr id="29" name="Text 23"/>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30" name="Text 24"/>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21 / 30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548640"/>
            <a:ext cx="11247120" cy="640080"/>
          </a:xfrm>
          <a:prstGeom prst="rect">
            <a:avLst/>
          </a:prstGeom>
          <a:noFill/>
          <a:ln/>
        </p:spPr>
        <p:txBody>
          <a:bodyPr wrap="square" lIns="0" tIns="0" rIns="0" bIns="0" rtlCol="0" anchor="t"/>
          <a:lstStyle/>
          <a:p>
            <a:pPr marL="0" indent="0" algn="l">
              <a:buNone/>
            </a:pPr>
            <a:r>
              <a:rPr lang="en-US" sz="3000" b="1" dirty="0">
                <a:solidFill>
                  <a:srgbClr val="1E4D8B"/>
                </a:solidFill>
                <a:latin typeface="Cambria" pitchFamily="34" charset="0"/>
                <a:ea typeface="Cambria" pitchFamily="34" charset="-122"/>
                <a:cs typeface="Cambria" pitchFamily="34" charset="-120"/>
              </a:rPr>
              <a:t>10.4 - Interrelación entre las tres perspectivas</a:t>
            </a:r>
            <a:endParaRPr lang="en-US" sz="3000" dirty="0"/>
          </a:p>
        </p:txBody>
      </p:sp>
      <p:sp>
        <p:nvSpPr>
          <p:cNvPr id="3" name="Text 1"/>
          <p:cNvSpPr/>
          <p:nvPr/>
        </p:nvSpPr>
        <p:spPr>
          <a:xfrm>
            <a:off x="457200" y="1188720"/>
            <a:ext cx="11247120" cy="365760"/>
          </a:xfrm>
          <a:prstGeom prst="rect">
            <a:avLst/>
          </a:prstGeom>
          <a:noFill/>
          <a:ln/>
        </p:spPr>
        <p:txBody>
          <a:bodyPr wrap="square" lIns="0" tIns="0" rIns="0" bIns="0" rtlCol="0" anchor="t"/>
          <a:lstStyle/>
          <a:p>
            <a:pPr marL="0" indent="0" algn="l">
              <a:buNone/>
            </a:pPr>
            <a:r>
              <a:rPr lang="en-US" sz="1300" i="1" dirty="0">
                <a:solidFill>
                  <a:srgbClr val="475569"/>
                </a:solidFill>
                <a:latin typeface="Calibri" pitchFamily="34" charset="0"/>
                <a:ea typeface="Calibri" pitchFamily="34" charset="-122"/>
                <a:cs typeface="Calibri" pitchFamily="34" charset="-120"/>
              </a:rPr>
              <a:t>Datos, función y comportamiento no son islas: se anclan mutuamente</a:t>
            </a:r>
            <a:endParaRPr lang="en-US" sz="1300" dirty="0"/>
          </a:p>
        </p:txBody>
      </p:sp>
      <p:sp>
        <p:nvSpPr>
          <p:cNvPr id="4" name="Shape 2"/>
          <p:cNvSpPr/>
          <p:nvPr/>
        </p:nvSpPr>
        <p:spPr>
          <a:xfrm>
            <a:off x="4709160" y="1828800"/>
            <a:ext cx="2743200" cy="1097280"/>
          </a:xfrm>
          <a:prstGeom prst="roundRect">
            <a:avLst>
              <a:gd name="adj" fmla="val 8333"/>
            </a:avLst>
          </a:prstGeom>
          <a:solidFill>
            <a:srgbClr val="2C5F2D"/>
          </a:solidFill>
          <a:ln w="12700">
            <a:solidFill>
              <a:srgbClr val="2C5F2D"/>
            </a:solidFill>
            <a:prstDash val="solid"/>
          </a:ln>
        </p:spPr>
      </p:sp>
      <p:sp>
        <p:nvSpPr>
          <p:cNvPr id="5" name="Text 3"/>
          <p:cNvSpPr/>
          <p:nvPr/>
        </p:nvSpPr>
        <p:spPr>
          <a:xfrm>
            <a:off x="4709160" y="1874520"/>
            <a:ext cx="2743200" cy="411480"/>
          </a:xfrm>
          <a:prstGeom prst="rect">
            <a:avLst/>
          </a:prstGeom>
          <a:noFill/>
          <a:ln/>
        </p:spPr>
        <p:txBody>
          <a:bodyPr wrap="square" lIns="0" tIns="0" rIns="0" bIns="0" rtlCol="0" anchor="ctr"/>
          <a:lstStyle/>
          <a:p>
            <a:pPr marL="0" indent="0" algn="ctr">
              <a:buNone/>
            </a:pPr>
            <a:r>
              <a:rPr lang="en-US" sz="1600" b="1" kern="0" spc="600" dirty="0">
                <a:solidFill>
                  <a:srgbClr val="FFFFFF"/>
                </a:solidFill>
                <a:latin typeface="Cambria" pitchFamily="34" charset="0"/>
                <a:ea typeface="Cambria" pitchFamily="34" charset="-122"/>
                <a:cs typeface="Cambria" pitchFamily="34" charset="-120"/>
              </a:rPr>
              <a:t>DATOS</a:t>
            </a:r>
            <a:endParaRPr lang="en-US" sz="1600" dirty="0"/>
          </a:p>
        </p:txBody>
      </p:sp>
      <p:sp>
        <p:nvSpPr>
          <p:cNvPr id="6" name="Text 4"/>
          <p:cNvSpPr/>
          <p:nvPr/>
        </p:nvSpPr>
        <p:spPr>
          <a:xfrm>
            <a:off x="4709160" y="2286000"/>
            <a:ext cx="2743200" cy="320040"/>
          </a:xfrm>
          <a:prstGeom prst="rect">
            <a:avLst/>
          </a:prstGeom>
          <a:noFill/>
          <a:ln/>
        </p:spPr>
        <p:txBody>
          <a:bodyPr wrap="square" lIns="0" tIns="0" rIns="0" bIns="0"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clases UML / ER</a:t>
            </a:r>
            <a:endParaRPr lang="en-US" sz="1100" dirty="0"/>
          </a:p>
        </p:txBody>
      </p:sp>
      <p:sp>
        <p:nvSpPr>
          <p:cNvPr id="7" name="Text 5"/>
          <p:cNvSpPr/>
          <p:nvPr/>
        </p:nvSpPr>
        <p:spPr>
          <a:xfrm>
            <a:off x="4709160" y="2587752"/>
            <a:ext cx="274320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Qué información existe</a:t>
            </a:r>
            <a:endParaRPr lang="en-US" sz="1000" dirty="0"/>
          </a:p>
        </p:txBody>
      </p:sp>
      <p:sp>
        <p:nvSpPr>
          <p:cNvPr id="8" name="Shape 6"/>
          <p:cNvSpPr/>
          <p:nvPr/>
        </p:nvSpPr>
        <p:spPr>
          <a:xfrm>
            <a:off x="1965960" y="4572000"/>
            <a:ext cx="2743200" cy="1097280"/>
          </a:xfrm>
          <a:prstGeom prst="roundRect">
            <a:avLst>
              <a:gd name="adj" fmla="val 8333"/>
            </a:avLst>
          </a:prstGeom>
          <a:solidFill>
            <a:srgbClr val="1E4D8B"/>
          </a:solidFill>
          <a:ln w="12700">
            <a:solidFill>
              <a:srgbClr val="1E4D8B"/>
            </a:solidFill>
            <a:prstDash val="solid"/>
          </a:ln>
        </p:spPr>
      </p:sp>
      <p:sp>
        <p:nvSpPr>
          <p:cNvPr id="9" name="Text 7"/>
          <p:cNvSpPr/>
          <p:nvPr/>
        </p:nvSpPr>
        <p:spPr>
          <a:xfrm>
            <a:off x="1965960" y="4617720"/>
            <a:ext cx="2743200" cy="411480"/>
          </a:xfrm>
          <a:prstGeom prst="rect">
            <a:avLst/>
          </a:prstGeom>
          <a:noFill/>
          <a:ln/>
        </p:spPr>
        <p:txBody>
          <a:bodyPr wrap="square" lIns="0" tIns="0" rIns="0" bIns="0" rtlCol="0" anchor="ctr"/>
          <a:lstStyle/>
          <a:p>
            <a:pPr marL="0" indent="0" algn="ctr">
              <a:buNone/>
            </a:pPr>
            <a:r>
              <a:rPr lang="en-US" sz="1600" b="1" kern="0" spc="600" dirty="0">
                <a:solidFill>
                  <a:srgbClr val="FFFFFF"/>
                </a:solidFill>
                <a:latin typeface="Cambria" pitchFamily="34" charset="0"/>
                <a:ea typeface="Cambria" pitchFamily="34" charset="-122"/>
                <a:cs typeface="Cambria" pitchFamily="34" charset="-120"/>
              </a:rPr>
              <a:t>FUNCIÓN</a:t>
            </a:r>
            <a:endParaRPr lang="en-US" sz="1600" dirty="0"/>
          </a:p>
        </p:txBody>
      </p:sp>
      <p:sp>
        <p:nvSpPr>
          <p:cNvPr id="10" name="Text 8"/>
          <p:cNvSpPr/>
          <p:nvPr/>
        </p:nvSpPr>
        <p:spPr>
          <a:xfrm>
            <a:off x="1965960" y="5029200"/>
            <a:ext cx="2743200" cy="320040"/>
          </a:xfrm>
          <a:prstGeom prst="rect">
            <a:avLst/>
          </a:prstGeom>
          <a:noFill/>
          <a:ln/>
        </p:spPr>
        <p:txBody>
          <a:bodyPr wrap="square" lIns="0" tIns="0" rIns="0" bIns="0"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actividad / DFD</a:t>
            </a:r>
            <a:endParaRPr lang="en-US" sz="1100" dirty="0"/>
          </a:p>
        </p:txBody>
      </p:sp>
      <p:sp>
        <p:nvSpPr>
          <p:cNvPr id="11" name="Text 9"/>
          <p:cNvSpPr/>
          <p:nvPr/>
        </p:nvSpPr>
        <p:spPr>
          <a:xfrm>
            <a:off x="1965960" y="5330952"/>
            <a:ext cx="274320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Qué hace el sistema</a:t>
            </a:r>
            <a:endParaRPr lang="en-US" sz="1000" dirty="0"/>
          </a:p>
        </p:txBody>
      </p:sp>
      <p:sp>
        <p:nvSpPr>
          <p:cNvPr id="12" name="Shape 10"/>
          <p:cNvSpPr/>
          <p:nvPr/>
        </p:nvSpPr>
        <p:spPr>
          <a:xfrm>
            <a:off x="7452360" y="4572000"/>
            <a:ext cx="2743200" cy="1097280"/>
          </a:xfrm>
          <a:prstGeom prst="roundRect">
            <a:avLst>
              <a:gd name="adj" fmla="val 8333"/>
            </a:avLst>
          </a:prstGeom>
          <a:solidFill>
            <a:srgbClr val="D4A017"/>
          </a:solidFill>
          <a:ln w="12700">
            <a:solidFill>
              <a:srgbClr val="D4A017"/>
            </a:solidFill>
            <a:prstDash val="solid"/>
          </a:ln>
        </p:spPr>
      </p:sp>
      <p:sp>
        <p:nvSpPr>
          <p:cNvPr id="13" name="Text 11"/>
          <p:cNvSpPr/>
          <p:nvPr/>
        </p:nvSpPr>
        <p:spPr>
          <a:xfrm>
            <a:off x="7452360" y="4617720"/>
            <a:ext cx="2743200" cy="411480"/>
          </a:xfrm>
          <a:prstGeom prst="rect">
            <a:avLst/>
          </a:prstGeom>
          <a:noFill/>
          <a:ln/>
        </p:spPr>
        <p:txBody>
          <a:bodyPr wrap="square" lIns="0" tIns="0" rIns="0" bIns="0" rtlCol="0" anchor="ctr"/>
          <a:lstStyle/>
          <a:p>
            <a:pPr marL="0" indent="0" algn="ctr">
              <a:buNone/>
            </a:pPr>
            <a:r>
              <a:rPr lang="en-US" sz="1400" b="1" kern="0" spc="300" dirty="0">
                <a:solidFill>
                  <a:srgbClr val="FFFFFF"/>
                </a:solidFill>
                <a:latin typeface="Cambria" pitchFamily="34" charset="0"/>
                <a:ea typeface="Cambria" pitchFamily="34" charset="-122"/>
                <a:cs typeface="Cambria" pitchFamily="34" charset="-120"/>
              </a:rPr>
              <a:t>COMPORTAMIENTO</a:t>
            </a:r>
            <a:endParaRPr lang="en-US" sz="1400" dirty="0"/>
          </a:p>
        </p:txBody>
      </p:sp>
      <p:sp>
        <p:nvSpPr>
          <p:cNvPr id="14" name="Text 12"/>
          <p:cNvSpPr/>
          <p:nvPr/>
        </p:nvSpPr>
        <p:spPr>
          <a:xfrm>
            <a:off x="7452360" y="5029200"/>
            <a:ext cx="2743200" cy="320040"/>
          </a:xfrm>
          <a:prstGeom prst="rect">
            <a:avLst/>
          </a:prstGeom>
          <a:noFill/>
          <a:ln/>
        </p:spPr>
        <p:txBody>
          <a:bodyPr wrap="square" lIns="0" tIns="0" rIns="0" bIns="0"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estados UML</a:t>
            </a:r>
            <a:endParaRPr lang="en-US" sz="1100" dirty="0"/>
          </a:p>
        </p:txBody>
      </p:sp>
      <p:sp>
        <p:nvSpPr>
          <p:cNvPr id="15" name="Text 13"/>
          <p:cNvSpPr/>
          <p:nvPr/>
        </p:nvSpPr>
        <p:spPr>
          <a:xfrm>
            <a:off x="7452360" y="5330952"/>
            <a:ext cx="274320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Cómo reacciona a eventos</a:t>
            </a:r>
            <a:endParaRPr lang="en-US" sz="1000" dirty="0"/>
          </a:p>
        </p:txBody>
      </p:sp>
      <p:sp>
        <p:nvSpPr>
          <p:cNvPr id="16" name="Shape 14"/>
          <p:cNvSpPr/>
          <p:nvPr/>
        </p:nvSpPr>
        <p:spPr>
          <a:xfrm flipH="1">
            <a:off x="3337560" y="2926080"/>
            <a:ext cx="2743200" cy="1645920"/>
          </a:xfrm>
          <a:prstGeom prst="line">
            <a:avLst/>
          </a:prstGeom>
          <a:noFill/>
          <a:ln w="25400">
            <a:solidFill>
              <a:srgbClr val="475569"/>
            </a:solidFill>
            <a:prstDash val="dash"/>
            <a:headEnd type="triangle"/>
            <a:tailEnd type="triangle"/>
          </a:ln>
        </p:spPr>
      </p:sp>
      <p:sp>
        <p:nvSpPr>
          <p:cNvPr id="17" name="Shape 15"/>
          <p:cNvSpPr/>
          <p:nvPr/>
        </p:nvSpPr>
        <p:spPr>
          <a:xfrm>
            <a:off x="6080760" y="2926080"/>
            <a:ext cx="2743200" cy="1645920"/>
          </a:xfrm>
          <a:prstGeom prst="line">
            <a:avLst/>
          </a:prstGeom>
          <a:noFill/>
          <a:ln w="25400">
            <a:solidFill>
              <a:srgbClr val="475569"/>
            </a:solidFill>
            <a:prstDash val="dash"/>
            <a:headEnd type="triangle"/>
            <a:tailEnd type="triangle"/>
          </a:ln>
        </p:spPr>
      </p:sp>
      <p:sp>
        <p:nvSpPr>
          <p:cNvPr id="18" name="Shape 16"/>
          <p:cNvSpPr/>
          <p:nvPr/>
        </p:nvSpPr>
        <p:spPr>
          <a:xfrm>
            <a:off x="4709160" y="5120640"/>
            <a:ext cx="2743200" cy="0"/>
          </a:xfrm>
          <a:prstGeom prst="line">
            <a:avLst/>
          </a:prstGeom>
          <a:noFill/>
          <a:ln w="25400">
            <a:solidFill>
              <a:srgbClr val="475569"/>
            </a:solidFill>
            <a:prstDash val="dash"/>
            <a:headEnd type="triangle"/>
            <a:tailEnd type="triangle"/>
          </a:ln>
        </p:spPr>
      </p:sp>
      <p:sp>
        <p:nvSpPr>
          <p:cNvPr id="19" name="Shape 17"/>
          <p:cNvSpPr/>
          <p:nvPr/>
        </p:nvSpPr>
        <p:spPr>
          <a:xfrm>
            <a:off x="3931920" y="3611880"/>
            <a:ext cx="1554480" cy="320040"/>
          </a:xfrm>
          <a:prstGeom prst="rect">
            <a:avLst/>
          </a:prstGeom>
          <a:solidFill>
            <a:srgbClr val="FFFFFF"/>
          </a:solidFill>
          <a:ln w="12700">
            <a:solidFill>
              <a:srgbClr val="FFFFFF"/>
            </a:solidFill>
            <a:prstDash val="solid"/>
          </a:ln>
        </p:spPr>
      </p:sp>
      <p:sp>
        <p:nvSpPr>
          <p:cNvPr id="20" name="Text 18"/>
          <p:cNvSpPr/>
          <p:nvPr/>
        </p:nvSpPr>
        <p:spPr>
          <a:xfrm>
            <a:off x="3931920" y="3611880"/>
            <a:ext cx="1554480" cy="320040"/>
          </a:xfrm>
          <a:prstGeom prst="rect">
            <a:avLst/>
          </a:prstGeom>
          <a:noFill/>
          <a:ln/>
        </p:spPr>
        <p:txBody>
          <a:bodyPr wrap="square" lIns="0" tIns="0" rIns="0" bIns="0" rtlCol="0" anchor="ctr"/>
          <a:lstStyle/>
          <a:p>
            <a:pPr marL="0" indent="0" algn="ctr">
              <a:buNone/>
            </a:pPr>
            <a:r>
              <a:rPr lang="en-US" sz="1100" b="1" i="1" dirty="0">
                <a:solidFill>
                  <a:srgbClr val="1E4D8B"/>
                </a:solidFill>
                <a:latin typeface="Calibri" pitchFamily="34" charset="0"/>
                <a:ea typeface="Calibri" pitchFamily="34" charset="-122"/>
                <a:cs typeface="Calibri" pitchFamily="34" charset="-120"/>
              </a:rPr>
              <a:t>opera sobre</a:t>
            </a:r>
            <a:endParaRPr lang="en-US" sz="1100" dirty="0"/>
          </a:p>
        </p:txBody>
      </p:sp>
      <p:sp>
        <p:nvSpPr>
          <p:cNvPr id="21" name="Shape 19"/>
          <p:cNvSpPr/>
          <p:nvPr/>
        </p:nvSpPr>
        <p:spPr>
          <a:xfrm>
            <a:off x="6675120" y="3611880"/>
            <a:ext cx="1554480" cy="320040"/>
          </a:xfrm>
          <a:prstGeom prst="rect">
            <a:avLst/>
          </a:prstGeom>
          <a:solidFill>
            <a:srgbClr val="FFFFFF"/>
          </a:solidFill>
          <a:ln w="12700">
            <a:solidFill>
              <a:srgbClr val="FFFFFF"/>
            </a:solidFill>
            <a:prstDash val="solid"/>
          </a:ln>
        </p:spPr>
      </p:sp>
      <p:sp>
        <p:nvSpPr>
          <p:cNvPr id="22" name="Text 20"/>
          <p:cNvSpPr/>
          <p:nvPr/>
        </p:nvSpPr>
        <p:spPr>
          <a:xfrm>
            <a:off x="6675120" y="3611880"/>
            <a:ext cx="1554480" cy="320040"/>
          </a:xfrm>
          <a:prstGeom prst="rect">
            <a:avLst/>
          </a:prstGeom>
          <a:noFill/>
          <a:ln/>
        </p:spPr>
        <p:txBody>
          <a:bodyPr wrap="square" lIns="0" tIns="0" rIns="0" bIns="0" rtlCol="0" anchor="ctr"/>
          <a:lstStyle/>
          <a:p>
            <a:pPr marL="0" indent="0" algn="ctr">
              <a:buNone/>
            </a:pPr>
            <a:r>
              <a:rPr lang="en-US" sz="1100" b="1" i="1" dirty="0">
                <a:solidFill>
                  <a:srgbClr val="D4A017"/>
                </a:solidFill>
                <a:latin typeface="Calibri" pitchFamily="34" charset="0"/>
                <a:ea typeface="Calibri" pitchFamily="34" charset="-122"/>
                <a:cs typeface="Calibri" pitchFamily="34" charset="-120"/>
              </a:rPr>
              <a:t>modifica</a:t>
            </a:r>
            <a:endParaRPr lang="en-US" sz="1100" dirty="0"/>
          </a:p>
        </p:txBody>
      </p:sp>
      <p:sp>
        <p:nvSpPr>
          <p:cNvPr id="23" name="Shape 21"/>
          <p:cNvSpPr/>
          <p:nvPr/>
        </p:nvSpPr>
        <p:spPr>
          <a:xfrm>
            <a:off x="5257800" y="4956048"/>
            <a:ext cx="1645920" cy="320040"/>
          </a:xfrm>
          <a:prstGeom prst="rect">
            <a:avLst/>
          </a:prstGeom>
          <a:solidFill>
            <a:srgbClr val="FFFFFF"/>
          </a:solidFill>
          <a:ln w="12700">
            <a:solidFill>
              <a:srgbClr val="FFFFFF"/>
            </a:solidFill>
            <a:prstDash val="solid"/>
          </a:ln>
        </p:spPr>
      </p:sp>
      <p:sp>
        <p:nvSpPr>
          <p:cNvPr id="24" name="Text 22"/>
          <p:cNvSpPr/>
          <p:nvPr/>
        </p:nvSpPr>
        <p:spPr>
          <a:xfrm>
            <a:off x="5257800" y="4956048"/>
            <a:ext cx="1645920" cy="320040"/>
          </a:xfrm>
          <a:prstGeom prst="rect">
            <a:avLst/>
          </a:prstGeom>
          <a:noFill/>
          <a:ln/>
        </p:spPr>
        <p:txBody>
          <a:bodyPr wrap="square" lIns="0" tIns="0" rIns="0" bIns="0" rtlCol="0" anchor="ctr"/>
          <a:lstStyle/>
          <a:p>
            <a:pPr marL="0" indent="0" algn="ctr">
              <a:buNone/>
            </a:pPr>
            <a:r>
              <a:rPr lang="en-US" sz="1100" b="1" i="1" dirty="0">
                <a:solidFill>
                  <a:srgbClr val="2C5F2D"/>
                </a:solidFill>
                <a:latin typeface="Calibri" pitchFamily="34" charset="0"/>
                <a:ea typeface="Calibri" pitchFamily="34" charset="-122"/>
                <a:cs typeface="Calibri" pitchFamily="34" charset="-120"/>
              </a:rPr>
              <a:t>dispara eventos</a:t>
            </a:r>
            <a:endParaRPr lang="en-US" sz="1100" dirty="0"/>
          </a:p>
        </p:txBody>
      </p:sp>
      <p:sp>
        <p:nvSpPr>
          <p:cNvPr id="25" name="Shape 23"/>
          <p:cNvSpPr/>
          <p:nvPr/>
        </p:nvSpPr>
        <p:spPr>
          <a:xfrm>
            <a:off x="457200" y="5852160"/>
            <a:ext cx="11247120" cy="594360"/>
          </a:xfrm>
          <a:prstGeom prst="roundRect">
            <a:avLst>
              <a:gd name="adj" fmla="val 12308"/>
            </a:avLst>
          </a:prstGeom>
          <a:solidFill>
            <a:srgbClr val="F8FAFC"/>
          </a:solidFill>
          <a:ln w="12700">
            <a:solidFill>
              <a:srgbClr val="E2E8F0"/>
            </a:solidFill>
            <a:prstDash val="solid"/>
          </a:ln>
        </p:spPr>
      </p:sp>
      <p:sp>
        <p:nvSpPr>
          <p:cNvPr id="26" name="Text 24"/>
          <p:cNvSpPr/>
          <p:nvPr/>
        </p:nvSpPr>
        <p:spPr>
          <a:xfrm>
            <a:off x="640080" y="5870448"/>
            <a:ext cx="10881360" cy="548640"/>
          </a:xfrm>
          <a:prstGeom prst="rect">
            <a:avLst/>
          </a:prstGeom>
          <a:noFill/>
          <a:ln/>
        </p:spPr>
        <p:txBody>
          <a:bodyPr wrap="square" lIns="0" tIns="0" rIns="0" bIns="0" rtlCol="0" anchor="ctr"/>
          <a:lstStyle/>
          <a:p>
            <a:pPr marL="0" indent="0" algn="l">
              <a:buNone/>
            </a:pPr>
            <a:r>
              <a:rPr lang="en-US" sz="1200" b="1" dirty="0">
                <a:solidFill>
                  <a:srgbClr val="2C5F2D"/>
                </a:solidFill>
                <a:latin typeface="Calibri" pitchFamily="34" charset="0"/>
                <a:ea typeface="Calibri" pitchFamily="34" charset="-122"/>
                <a:cs typeface="Calibri" pitchFamily="34" charset="-120"/>
              </a:rPr>
              <a:t>Regla de anclaje: </a:t>
            </a:r>
            <a:r>
              <a:rPr lang="en-US" sz="1200" dirty="0">
                <a:solidFill>
                  <a:srgbClr val="1E293B"/>
                </a:solidFill>
                <a:latin typeface="Calibri" pitchFamily="34" charset="0"/>
                <a:ea typeface="Calibri" pitchFamily="34" charset="-122"/>
                <a:cs typeface="Calibri" pitchFamily="34" charset="-120"/>
              </a:rPr>
              <a:t>cada actividad opera sobre clases; cada transición de estado modifica atributos; cada evento es disparado por una operación. El </a:t>
            </a:r>
            <a:r>
              <a:rPr lang="en-US" sz="1200" b="1" dirty="0">
                <a:solidFill>
                  <a:srgbClr val="1E4D8B"/>
                </a:solidFill>
                <a:latin typeface="Calibri" pitchFamily="34" charset="0"/>
                <a:ea typeface="Calibri" pitchFamily="34" charset="-122"/>
                <a:cs typeface="Calibri" pitchFamily="34" charset="-120"/>
              </a:rPr>
              <a:t>diccionario de datos</a:t>
            </a:r>
            <a:r>
              <a:rPr lang="en-US" sz="1200" dirty="0">
                <a:solidFill>
                  <a:srgbClr val="1E293B"/>
                </a:solidFill>
                <a:latin typeface="Calibri" pitchFamily="34" charset="0"/>
                <a:ea typeface="Calibri" pitchFamily="34" charset="-122"/>
                <a:cs typeface="Calibri" pitchFamily="34" charset="-120"/>
              </a:rPr>
              <a:t> y la </a:t>
            </a:r>
            <a:r>
              <a:rPr lang="en-US" sz="1200" b="1" dirty="0">
                <a:solidFill>
                  <a:srgbClr val="D4A017"/>
                </a:solidFill>
                <a:latin typeface="Calibri" pitchFamily="34" charset="0"/>
                <a:ea typeface="Calibri" pitchFamily="34" charset="-122"/>
                <a:cs typeface="Calibri" pitchFamily="34" charset="-120"/>
              </a:rPr>
              <a:t>matriz de trazabilidad</a:t>
            </a:r>
            <a:r>
              <a:rPr lang="en-US" sz="1200" dirty="0">
                <a:solidFill>
                  <a:srgbClr val="1E293B"/>
                </a:solidFill>
                <a:latin typeface="Calibri" pitchFamily="34" charset="0"/>
                <a:ea typeface="Calibri" pitchFamily="34" charset="-122"/>
                <a:cs typeface="Calibri" pitchFamily="34" charset="-120"/>
              </a:rPr>
              <a:t> enlazan las tres vistas.</a:t>
            </a:r>
            <a:endParaRPr lang="en-US" sz="1200" dirty="0"/>
          </a:p>
        </p:txBody>
      </p:sp>
      <p:sp>
        <p:nvSpPr>
          <p:cNvPr id="28" name="Shape 25"/>
          <p:cNvSpPr/>
          <p:nvPr/>
        </p:nvSpPr>
        <p:spPr>
          <a:xfrm>
            <a:off x="0" y="0"/>
            <a:ext cx="12161520" cy="384048"/>
          </a:xfrm>
          <a:prstGeom prst="rect">
            <a:avLst/>
          </a:prstGeom>
          <a:solidFill>
            <a:srgbClr val="2C5F2D"/>
          </a:solidFill>
          <a:ln w="12700">
            <a:solidFill>
              <a:srgbClr val="2C5F2D"/>
            </a:solidFill>
            <a:prstDash val="solid"/>
          </a:ln>
        </p:spPr>
      </p:sp>
      <p:sp>
        <p:nvSpPr>
          <p:cNvPr id="29" name="Text 26"/>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30" name="Text 27"/>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10.4 Interrelación</a:t>
            </a:r>
            <a:endParaRPr lang="en-US" sz="1000" dirty="0"/>
          </a:p>
        </p:txBody>
      </p:sp>
      <p:sp>
        <p:nvSpPr>
          <p:cNvPr id="31" name="Text 28"/>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32" name="Text 29"/>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22 / 30</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548640"/>
            <a:ext cx="11247120" cy="640080"/>
          </a:xfrm>
          <a:prstGeom prst="rect">
            <a:avLst/>
          </a:prstGeom>
          <a:noFill/>
          <a:ln/>
        </p:spPr>
        <p:txBody>
          <a:bodyPr wrap="square" lIns="0" tIns="0" rIns="0" bIns="0" rtlCol="0" anchor="t"/>
          <a:lstStyle/>
          <a:p>
            <a:pPr marL="0" indent="0" algn="l">
              <a:buNone/>
            </a:pPr>
            <a:r>
              <a:rPr lang="en-US" sz="3000" b="1" dirty="0">
                <a:solidFill>
                  <a:srgbClr val="1E4D8B"/>
                </a:solidFill>
                <a:latin typeface="Cambria" pitchFamily="34" charset="0"/>
                <a:ea typeface="Cambria" pitchFamily="34" charset="-122"/>
                <a:cs typeface="Cambria" pitchFamily="34" charset="-120"/>
              </a:rPr>
              <a:t>Síntesis - Cómo se ve una ERS completa</a:t>
            </a:r>
            <a:endParaRPr lang="en-US" sz="3000" dirty="0"/>
          </a:p>
        </p:txBody>
      </p:sp>
      <p:sp>
        <p:nvSpPr>
          <p:cNvPr id="3" name="Text 1"/>
          <p:cNvSpPr/>
          <p:nvPr/>
        </p:nvSpPr>
        <p:spPr>
          <a:xfrm>
            <a:off x="457200" y="1188720"/>
            <a:ext cx="11247120" cy="365760"/>
          </a:xfrm>
          <a:prstGeom prst="rect">
            <a:avLst/>
          </a:prstGeom>
          <a:noFill/>
          <a:ln/>
        </p:spPr>
        <p:txBody>
          <a:bodyPr wrap="square" lIns="0" tIns="0" rIns="0" bIns="0" rtlCol="0" anchor="t"/>
          <a:lstStyle/>
          <a:p>
            <a:pPr marL="0" indent="0" algn="l">
              <a:buNone/>
            </a:pPr>
            <a:r>
              <a:rPr lang="en-US" sz="1300" i="1" dirty="0">
                <a:solidFill>
                  <a:srgbClr val="475569"/>
                </a:solidFill>
                <a:latin typeface="Calibri" pitchFamily="34" charset="0"/>
                <a:ea typeface="Calibri" pitchFamily="34" charset="-122"/>
                <a:cs typeface="Calibri" pitchFamily="34" charset="-120"/>
              </a:rPr>
              <a:t>Doce piezas del rompecabezas</a:t>
            </a:r>
            <a:endParaRPr lang="en-US" sz="1300" dirty="0"/>
          </a:p>
        </p:txBody>
      </p:sp>
      <p:sp>
        <p:nvSpPr>
          <p:cNvPr id="4" name="Shape 2"/>
          <p:cNvSpPr/>
          <p:nvPr/>
        </p:nvSpPr>
        <p:spPr>
          <a:xfrm>
            <a:off x="205740" y="1783080"/>
            <a:ext cx="2834640" cy="1188720"/>
          </a:xfrm>
          <a:prstGeom prst="roundRect">
            <a:avLst>
              <a:gd name="adj" fmla="val 6154"/>
            </a:avLst>
          </a:prstGeom>
          <a:solidFill>
            <a:srgbClr val="F8FAFC"/>
          </a:solidFill>
          <a:ln w="12700">
            <a:solidFill>
              <a:srgbClr val="2C5F2D"/>
            </a:solidFill>
            <a:prstDash val="solid"/>
          </a:ln>
        </p:spPr>
      </p:sp>
      <p:sp>
        <p:nvSpPr>
          <p:cNvPr id="5" name="Shape 3"/>
          <p:cNvSpPr/>
          <p:nvPr/>
        </p:nvSpPr>
        <p:spPr>
          <a:xfrm>
            <a:off x="342900" y="1965960"/>
            <a:ext cx="502920" cy="502920"/>
          </a:xfrm>
          <a:prstGeom prst="ellipse">
            <a:avLst/>
          </a:prstGeom>
          <a:solidFill>
            <a:srgbClr val="2C5F2D"/>
          </a:solidFill>
          <a:ln w="12700">
            <a:solidFill>
              <a:srgbClr val="2C5F2D"/>
            </a:solidFill>
            <a:prstDash val="solid"/>
          </a:ln>
        </p:spPr>
      </p:sp>
      <p:sp>
        <p:nvSpPr>
          <p:cNvPr id="6" name="Text 4"/>
          <p:cNvSpPr/>
          <p:nvPr/>
        </p:nvSpPr>
        <p:spPr>
          <a:xfrm>
            <a:off x="342900" y="19659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937260" y="1947672"/>
            <a:ext cx="1965960" cy="365760"/>
          </a:xfrm>
          <a:prstGeom prst="rect">
            <a:avLst/>
          </a:prstGeom>
          <a:noFill/>
          <a:ln/>
        </p:spPr>
        <p:txBody>
          <a:bodyPr wrap="square" lIns="0" tIns="0" rIns="0" bIns="0" rtlCol="0" anchor="ctr"/>
          <a:lstStyle/>
          <a:p>
            <a:pPr marL="0" indent="0" algn="l">
              <a:buNone/>
            </a:pPr>
            <a:r>
              <a:rPr lang="en-US" sz="1300" b="1" dirty="0">
                <a:solidFill>
                  <a:srgbClr val="1E4D8B"/>
                </a:solidFill>
                <a:latin typeface="Cambria" pitchFamily="34" charset="0"/>
                <a:ea typeface="Cambria" pitchFamily="34" charset="-122"/>
                <a:cs typeface="Cambria" pitchFamily="34" charset="-120"/>
              </a:rPr>
              <a:t>Introducción</a:t>
            </a:r>
            <a:endParaRPr lang="en-US" sz="1300" dirty="0"/>
          </a:p>
        </p:txBody>
      </p:sp>
      <p:sp>
        <p:nvSpPr>
          <p:cNvPr id="8" name="Text 6"/>
          <p:cNvSpPr/>
          <p:nvPr/>
        </p:nvSpPr>
        <p:spPr>
          <a:xfrm>
            <a:off x="388620" y="2423160"/>
            <a:ext cx="2514600" cy="502920"/>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Propósito, alcance, glosario, referencias, siglas.</a:t>
            </a:r>
            <a:endParaRPr lang="en-US" sz="1000" dirty="0"/>
          </a:p>
        </p:txBody>
      </p:sp>
      <p:sp>
        <p:nvSpPr>
          <p:cNvPr id="9" name="Shape 7"/>
          <p:cNvSpPr/>
          <p:nvPr/>
        </p:nvSpPr>
        <p:spPr>
          <a:xfrm>
            <a:off x="3177540" y="1783080"/>
            <a:ext cx="2834640" cy="1188720"/>
          </a:xfrm>
          <a:prstGeom prst="roundRect">
            <a:avLst>
              <a:gd name="adj" fmla="val 6154"/>
            </a:avLst>
          </a:prstGeom>
          <a:solidFill>
            <a:srgbClr val="F8FAFC"/>
          </a:solidFill>
          <a:ln w="12700">
            <a:solidFill>
              <a:srgbClr val="2C5F2D"/>
            </a:solidFill>
            <a:prstDash val="solid"/>
          </a:ln>
        </p:spPr>
      </p:sp>
      <p:sp>
        <p:nvSpPr>
          <p:cNvPr id="10" name="Shape 8"/>
          <p:cNvSpPr/>
          <p:nvPr/>
        </p:nvSpPr>
        <p:spPr>
          <a:xfrm>
            <a:off x="3314700" y="1965960"/>
            <a:ext cx="502920" cy="502920"/>
          </a:xfrm>
          <a:prstGeom prst="ellipse">
            <a:avLst/>
          </a:prstGeom>
          <a:solidFill>
            <a:srgbClr val="2C5F2D"/>
          </a:solidFill>
          <a:ln w="12700">
            <a:solidFill>
              <a:srgbClr val="2C5F2D"/>
            </a:solidFill>
            <a:prstDash val="solid"/>
          </a:ln>
        </p:spPr>
      </p:sp>
      <p:sp>
        <p:nvSpPr>
          <p:cNvPr id="11" name="Text 9"/>
          <p:cNvSpPr/>
          <p:nvPr/>
        </p:nvSpPr>
        <p:spPr>
          <a:xfrm>
            <a:off x="3314700" y="19659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3909060" y="1947672"/>
            <a:ext cx="1965960" cy="365760"/>
          </a:xfrm>
          <a:prstGeom prst="rect">
            <a:avLst/>
          </a:prstGeom>
          <a:noFill/>
          <a:ln/>
        </p:spPr>
        <p:txBody>
          <a:bodyPr wrap="square" lIns="0" tIns="0" rIns="0" bIns="0" rtlCol="0" anchor="ctr"/>
          <a:lstStyle/>
          <a:p>
            <a:pPr marL="0" indent="0" algn="l">
              <a:buNone/>
            </a:pPr>
            <a:r>
              <a:rPr lang="en-US" sz="1300" b="1" dirty="0">
                <a:solidFill>
                  <a:srgbClr val="1E4D8B"/>
                </a:solidFill>
                <a:latin typeface="Cambria" pitchFamily="34" charset="0"/>
                <a:ea typeface="Cambria" pitchFamily="34" charset="-122"/>
                <a:cs typeface="Cambria" pitchFamily="34" charset="-120"/>
              </a:rPr>
              <a:t>Descripción general</a:t>
            </a:r>
            <a:endParaRPr lang="en-US" sz="1300" dirty="0"/>
          </a:p>
        </p:txBody>
      </p:sp>
      <p:sp>
        <p:nvSpPr>
          <p:cNvPr id="13" name="Text 11"/>
          <p:cNvSpPr/>
          <p:nvPr/>
        </p:nvSpPr>
        <p:spPr>
          <a:xfrm>
            <a:off x="3360420" y="2423160"/>
            <a:ext cx="2514600" cy="502920"/>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Perspectiva, funciónes, usuarios, restricciones.</a:t>
            </a:r>
            <a:endParaRPr lang="en-US" sz="1000" dirty="0"/>
          </a:p>
        </p:txBody>
      </p:sp>
      <p:sp>
        <p:nvSpPr>
          <p:cNvPr id="14" name="Shape 12"/>
          <p:cNvSpPr/>
          <p:nvPr/>
        </p:nvSpPr>
        <p:spPr>
          <a:xfrm>
            <a:off x="6149340" y="1783080"/>
            <a:ext cx="2834640" cy="1188720"/>
          </a:xfrm>
          <a:prstGeom prst="roundRect">
            <a:avLst>
              <a:gd name="adj" fmla="val 6154"/>
            </a:avLst>
          </a:prstGeom>
          <a:solidFill>
            <a:srgbClr val="F8FAFC"/>
          </a:solidFill>
          <a:ln w="12700">
            <a:solidFill>
              <a:srgbClr val="2C5F2D"/>
            </a:solidFill>
            <a:prstDash val="solid"/>
          </a:ln>
        </p:spPr>
      </p:sp>
      <p:sp>
        <p:nvSpPr>
          <p:cNvPr id="15" name="Shape 13"/>
          <p:cNvSpPr/>
          <p:nvPr/>
        </p:nvSpPr>
        <p:spPr>
          <a:xfrm>
            <a:off x="6286500" y="1965960"/>
            <a:ext cx="502920" cy="502920"/>
          </a:xfrm>
          <a:prstGeom prst="ellipse">
            <a:avLst/>
          </a:prstGeom>
          <a:solidFill>
            <a:srgbClr val="2C5F2D"/>
          </a:solidFill>
          <a:ln w="12700">
            <a:solidFill>
              <a:srgbClr val="2C5F2D"/>
            </a:solidFill>
            <a:prstDash val="solid"/>
          </a:ln>
        </p:spPr>
      </p:sp>
      <p:sp>
        <p:nvSpPr>
          <p:cNvPr id="16" name="Text 14"/>
          <p:cNvSpPr/>
          <p:nvPr/>
        </p:nvSpPr>
        <p:spPr>
          <a:xfrm>
            <a:off x="6286500" y="19659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6880860" y="1947672"/>
            <a:ext cx="1965960" cy="365760"/>
          </a:xfrm>
          <a:prstGeom prst="rect">
            <a:avLst/>
          </a:prstGeom>
          <a:noFill/>
          <a:ln/>
        </p:spPr>
        <p:txBody>
          <a:bodyPr wrap="square" lIns="0" tIns="0" rIns="0" bIns="0" rtlCol="0" anchor="ctr"/>
          <a:lstStyle/>
          <a:p>
            <a:pPr marL="0" indent="0" algn="l">
              <a:buNone/>
            </a:pPr>
            <a:r>
              <a:rPr lang="en-US" sz="1300" b="1" dirty="0">
                <a:solidFill>
                  <a:srgbClr val="1E4D8B"/>
                </a:solidFill>
                <a:latin typeface="Cambria" pitchFamily="34" charset="0"/>
                <a:ea typeface="Cambria" pitchFamily="34" charset="-122"/>
                <a:cs typeface="Cambria" pitchFamily="34" charset="-120"/>
              </a:rPr>
              <a:t>Requisitos funciónales</a:t>
            </a:r>
            <a:endParaRPr lang="en-US" sz="1300" dirty="0"/>
          </a:p>
        </p:txBody>
      </p:sp>
      <p:sp>
        <p:nvSpPr>
          <p:cNvPr id="18" name="Text 16"/>
          <p:cNvSpPr/>
          <p:nvPr/>
        </p:nvSpPr>
        <p:spPr>
          <a:xfrm>
            <a:off x="6332220" y="2423160"/>
            <a:ext cx="2514600" cy="502920"/>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RF con atributos completos y trazabilidad.</a:t>
            </a:r>
            <a:endParaRPr lang="en-US" sz="1000" dirty="0"/>
          </a:p>
        </p:txBody>
      </p:sp>
      <p:sp>
        <p:nvSpPr>
          <p:cNvPr id="19" name="Shape 17"/>
          <p:cNvSpPr/>
          <p:nvPr/>
        </p:nvSpPr>
        <p:spPr>
          <a:xfrm>
            <a:off x="9121140" y="1783080"/>
            <a:ext cx="2834640" cy="1188720"/>
          </a:xfrm>
          <a:prstGeom prst="roundRect">
            <a:avLst>
              <a:gd name="adj" fmla="val 6154"/>
            </a:avLst>
          </a:prstGeom>
          <a:solidFill>
            <a:srgbClr val="F8FAFC"/>
          </a:solidFill>
          <a:ln w="12700">
            <a:solidFill>
              <a:srgbClr val="2C5F2D"/>
            </a:solidFill>
            <a:prstDash val="solid"/>
          </a:ln>
        </p:spPr>
      </p:sp>
      <p:sp>
        <p:nvSpPr>
          <p:cNvPr id="20" name="Shape 18"/>
          <p:cNvSpPr/>
          <p:nvPr/>
        </p:nvSpPr>
        <p:spPr>
          <a:xfrm>
            <a:off x="9258300" y="1965960"/>
            <a:ext cx="502920" cy="502920"/>
          </a:xfrm>
          <a:prstGeom prst="ellipse">
            <a:avLst/>
          </a:prstGeom>
          <a:solidFill>
            <a:srgbClr val="2C5F2D"/>
          </a:solidFill>
          <a:ln w="12700">
            <a:solidFill>
              <a:srgbClr val="2C5F2D"/>
            </a:solidFill>
            <a:prstDash val="solid"/>
          </a:ln>
        </p:spPr>
      </p:sp>
      <p:sp>
        <p:nvSpPr>
          <p:cNvPr id="21" name="Text 19"/>
          <p:cNvSpPr/>
          <p:nvPr/>
        </p:nvSpPr>
        <p:spPr>
          <a:xfrm>
            <a:off x="9258300" y="19659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9852660" y="1947672"/>
            <a:ext cx="1965960" cy="365760"/>
          </a:xfrm>
          <a:prstGeom prst="rect">
            <a:avLst/>
          </a:prstGeom>
          <a:noFill/>
          <a:ln/>
        </p:spPr>
        <p:txBody>
          <a:bodyPr wrap="square" lIns="0" tIns="0" rIns="0" bIns="0" rtlCol="0" anchor="ctr"/>
          <a:lstStyle/>
          <a:p>
            <a:pPr marL="0" indent="0" algn="l">
              <a:buNone/>
            </a:pPr>
            <a:r>
              <a:rPr lang="en-US" sz="1300" b="1" dirty="0">
                <a:solidFill>
                  <a:srgbClr val="1E4D8B"/>
                </a:solidFill>
                <a:latin typeface="Cambria" pitchFamily="34" charset="0"/>
                <a:ea typeface="Cambria" pitchFamily="34" charset="-122"/>
                <a:cs typeface="Cambria" pitchFamily="34" charset="-120"/>
              </a:rPr>
              <a:t>Requisitos no funciónales</a:t>
            </a:r>
            <a:endParaRPr lang="en-US" sz="1300" dirty="0"/>
          </a:p>
        </p:txBody>
      </p:sp>
      <p:sp>
        <p:nvSpPr>
          <p:cNvPr id="23" name="Text 21"/>
          <p:cNvSpPr/>
          <p:nvPr/>
        </p:nvSpPr>
        <p:spPr>
          <a:xfrm>
            <a:off x="9304020" y="2423160"/>
            <a:ext cx="2514600" cy="502920"/>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Según ISO/IEC 25010:2023 (8 carácterísticas).</a:t>
            </a:r>
            <a:endParaRPr lang="en-US" sz="1000" dirty="0"/>
          </a:p>
        </p:txBody>
      </p:sp>
      <p:sp>
        <p:nvSpPr>
          <p:cNvPr id="24" name="Shape 22"/>
          <p:cNvSpPr/>
          <p:nvPr/>
        </p:nvSpPr>
        <p:spPr>
          <a:xfrm>
            <a:off x="205740" y="3108960"/>
            <a:ext cx="2834640" cy="1188720"/>
          </a:xfrm>
          <a:prstGeom prst="roundRect">
            <a:avLst>
              <a:gd name="adj" fmla="val 6154"/>
            </a:avLst>
          </a:prstGeom>
          <a:solidFill>
            <a:srgbClr val="F8FAFC"/>
          </a:solidFill>
          <a:ln w="12700">
            <a:solidFill>
              <a:srgbClr val="2C5F2D"/>
            </a:solidFill>
            <a:prstDash val="solid"/>
          </a:ln>
        </p:spPr>
      </p:sp>
      <p:sp>
        <p:nvSpPr>
          <p:cNvPr id="25" name="Shape 23"/>
          <p:cNvSpPr/>
          <p:nvPr/>
        </p:nvSpPr>
        <p:spPr>
          <a:xfrm>
            <a:off x="342900" y="3291840"/>
            <a:ext cx="502920" cy="502920"/>
          </a:xfrm>
          <a:prstGeom prst="ellipse">
            <a:avLst/>
          </a:prstGeom>
          <a:solidFill>
            <a:srgbClr val="2C5F2D"/>
          </a:solidFill>
          <a:ln w="12700">
            <a:solidFill>
              <a:srgbClr val="2C5F2D"/>
            </a:solidFill>
            <a:prstDash val="solid"/>
          </a:ln>
        </p:spPr>
      </p:sp>
      <p:sp>
        <p:nvSpPr>
          <p:cNvPr id="26" name="Text 24"/>
          <p:cNvSpPr/>
          <p:nvPr/>
        </p:nvSpPr>
        <p:spPr>
          <a:xfrm>
            <a:off x="342900" y="32918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7" name="Text 25"/>
          <p:cNvSpPr/>
          <p:nvPr/>
        </p:nvSpPr>
        <p:spPr>
          <a:xfrm>
            <a:off x="937260" y="3273552"/>
            <a:ext cx="1965960" cy="365760"/>
          </a:xfrm>
          <a:prstGeom prst="rect">
            <a:avLst/>
          </a:prstGeom>
          <a:noFill/>
          <a:ln/>
        </p:spPr>
        <p:txBody>
          <a:bodyPr wrap="square" lIns="0" tIns="0" rIns="0" bIns="0" rtlCol="0" anchor="ctr"/>
          <a:lstStyle/>
          <a:p>
            <a:pPr marL="0" indent="0" algn="l">
              <a:buNone/>
            </a:pPr>
            <a:r>
              <a:rPr lang="en-US" sz="1300" b="1" dirty="0">
                <a:solidFill>
                  <a:srgbClr val="1E4D8B"/>
                </a:solidFill>
                <a:latin typeface="Cambria" pitchFamily="34" charset="0"/>
                <a:ea typeface="Cambria" pitchFamily="34" charset="-122"/>
                <a:cs typeface="Cambria" pitchFamily="34" charset="-120"/>
              </a:rPr>
              <a:t>Casos de uso</a:t>
            </a:r>
            <a:endParaRPr lang="en-US" sz="1300" dirty="0"/>
          </a:p>
        </p:txBody>
      </p:sp>
      <p:sp>
        <p:nvSpPr>
          <p:cNvPr id="28" name="Text 26"/>
          <p:cNvSpPr/>
          <p:nvPr/>
        </p:nvSpPr>
        <p:spPr>
          <a:xfrm>
            <a:off x="388620" y="3749040"/>
            <a:ext cx="2514600" cy="502920"/>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UC de alto nivel y expandidos.</a:t>
            </a:r>
            <a:endParaRPr lang="en-US" sz="1000" dirty="0"/>
          </a:p>
        </p:txBody>
      </p:sp>
      <p:sp>
        <p:nvSpPr>
          <p:cNvPr id="29" name="Shape 27"/>
          <p:cNvSpPr/>
          <p:nvPr/>
        </p:nvSpPr>
        <p:spPr>
          <a:xfrm>
            <a:off x="3177540" y="3108960"/>
            <a:ext cx="2834640" cy="1188720"/>
          </a:xfrm>
          <a:prstGeom prst="roundRect">
            <a:avLst>
              <a:gd name="adj" fmla="val 6154"/>
            </a:avLst>
          </a:prstGeom>
          <a:solidFill>
            <a:srgbClr val="F8FAFC"/>
          </a:solidFill>
          <a:ln w="12700">
            <a:solidFill>
              <a:srgbClr val="2C5F2D"/>
            </a:solidFill>
            <a:prstDash val="solid"/>
          </a:ln>
        </p:spPr>
      </p:sp>
      <p:sp>
        <p:nvSpPr>
          <p:cNvPr id="30" name="Shape 28"/>
          <p:cNvSpPr/>
          <p:nvPr/>
        </p:nvSpPr>
        <p:spPr>
          <a:xfrm>
            <a:off x="3314700" y="3291840"/>
            <a:ext cx="502920" cy="502920"/>
          </a:xfrm>
          <a:prstGeom prst="ellipse">
            <a:avLst/>
          </a:prstGeom>
          <a:solidFill>
            <a:srgbClr val="2C5F2D"/>
          </a:solidFill>
          <a:ln w="12700">
            <a:solidFill>
              <a:srgbClr val="2C5F2D"/>
            </a:solidFill>
            <a:prstDash val="solid"/>
          </a:ln>
        </p:spPr>
      </p:sp>
      <p:sp>
        <p:nvSpPr>
          <p:cNvPr id="31" name="Text 29"/>
          <p:cNvSpPr/>
          <p:nvPr/>
        </p:nvSpPr>
        <p:spPr>
          <a:xfrm>
            <a:off x="3314700" y="32918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2" name="Text 30"/>
          <p:cNvSpPr/>
          <p:nvPr/>
        </p:nvSpPr>
        <p:spPr>
          <a:xfrm>
            <a:off x="3909060" y="3273552"/>
            <a:ext cx="1965960" cy="365760"/>
          </a:xfrm>
          <a:prstGeom prst="rect">
            <a:avLst/>
          </a:prstGeom>
          <a:noFill/>
          <a:ln/>
        </p:spPr>
        <p:txBody>
          <a:bodyPr wrap="square" lIns="0" tIns="0" rIns="0" bIns="0" rtlCol="0" anchor="ctr"/>
          <a:lstStyle/>
          <a:p>
            <a:pPr marL="0" indent="0" algn="l">
              <a:buNone/>
            </a:pPr>
            <a:r>
              <a:rPr lang="en-US" sz="1300" b="1" dirty="0">
                <a:solidFill>
                  <a:srgbClr val="1E4D8B"/>
                </a:solidFill>
                <a:latin typeface="Cambria" pitchFamily="34" charset="0"/>
                <a:ea typeface="Cambria" pitchFamily="34" charset="-122"/>
                <a:cs typeface="Cambria" pitchFamily="34" charset="-120"/>
              </a:rPr>
              <a:t>Historias de usuario</a:t>
            </a:r>
            <a:endParaRPr lang="en-US" sz="1300" dirty="0"/>
          </a:p>
        </p:txBody>
      </p:sp>
      <p:sp>
        <p:nvSpPr>
          <p:cNvPr id="33" name="Text 31"/>
          <p:cNvSpPr/>
          <p:nvPr/>
        </p:nvSpPr>
        <p:spPr>
          <a:xfrm>
            <a:off x="3360420" y="3749040"/>
            <a:ext cx="2514600" cy="502920"/>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Formato Connextra + INVEST.</a:t>
            </a:r>
            <a:endParaRPr lang="en-US" sz="1000" dirty="0"/>
          </a:p>
        </p:txBody>
      </p:sp>
      <p:sp>
        <p:nvSpPr>
          <p:cNvPr id="34" name="Shape 32"/>
          <p:cNvSpPr/>
          <p:nvPr/>
        </p:nvSpPr>
        <p:spPr>
          <a:xfrm>
            <a:off x="6149340" y="3108960"/>
            <a:ext cx="2834640" cy="1188720"/>
          </a:xfrm>
          <a:prstGeom prst="roundRect">
            <a:avLst>
              <a:gd name="adj" fmla="val 6154"/>
            </a:avLst>
          </a:prstGeom>
          <a:solidFill>
            <a:srgbClr val="F8FAFC"/>
          </a:solidFill>
          <a:ln w="12700">
            <a:solidFill>
              <a:srgbClr val="2C5F2D"/>
            </a:solidFill>
            <a:prstDash val="solid"/>
          </a:ln>
        </p:spPr>
      </p:sp>
      <p:sp>
        <p:nvSpPr>
          <p:cNvPr id="35" name="Shape 33"/>
          <p:cNvSpPr/>
          <p:nvPr/>
        </p:nvSpPr>
        <p:spPr>
          <a:xfrm>
            <a:off x="6286500" y="3291840"/>
            <a:ext cx="502920" cy="502920"/>
          </a:xfrm>
          <a:prstGeom prst="ellipse">
            <a:avLst/>
          </a:prstGeom>
          <a:solidFill>
            <a:srgbClr val="2C5F2D"/>
          </a:solidFill>
          <a:ln w="12700">
            <a:solidFill>
              <a:srgbClr val="2C5F2D"/>
            </a:solidFill>
            <a:prstDash val="solid"/>
          </a:ln>
        </p:spPr>
      </p:sp>
      <p:sp>
        <p:nvSpPr>
          <p:cNvPr id="36" name="Text 34"/>
          <p:cNvSpPr/>
          <p:nvPr/>
        </p:nvSpPr>
        <p:spPr>
          <a:xfrm>
            <a:off x="6286500" y="32918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37" name="Text 35"/>
          <p:cNvSpPr/>
          <p:nvPr/>
        </p:nvSpPr>
        <p:spPr>
          <a:xfrm>
            <a:off x="6880860" y="3273552"/>
            <a:ext cx="1965960" cy="365760"/>
          </a:xfrm>
          <a:prstGeom prst="rect">
            <a:avLst/>
          </a:prstGeom>
          <a:noFill/>
          <a:ln/>
        </p:spPr>
        <p:txBody>
          <a:bodyPr wrap="square" lIns="0" tIns="0" rIns="0" bIns="0" rtlCol="0" anchor="ctr"/>
          <a:lstStyle/>
          <a:p>
            <a:pPr marL="0" indent="0" algn="l">
              <a:buNone/>
            </a:pPr>
            <a:r>
              <a:rPr lang="en-US" sz="1300" b="1" dirty="0">
                <a:solidFill>
                  <a:srgbClr val="1E4D8B"/>
                </a:solidFill>
                <a:latin typeface="Cambria" pitchFamily="34" charset="0"/>
                <a:ea typeface="Cambria" pitchFamily="34" charset="-122"/>
                <a:cs typeface="Cambria" pitchFamily="34" charset="-120"/>
              </a:rPr>
              <a:t>Modelo de clases</a:t>
            </a:r>
            <a:endParaRPr lang="en-US" sz="1300" dirty="0"/>
          </a:p>
        </p:txBody>
      </p:sp>
      <p:sp>
        <p:nvSpPr>
          <p:cNvPr id="38" name="Text 36"/>
          <p:cNvSpPr/>
          <p:nvPr/>
        </p:nvSpPr>
        <p:spPr>
          <a:xfrm>
            <a:off x="6332220" y="3749040"/>
            <a:ext cx="2514600" cy="502920"/>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Diagrama UML conceptual y refinado.</a:t>
            </a:r>
            <a:endParaRPr lang="en-US" sz="1000" dirty="0"/>
          </a:p>
        </p:txBody>
      </p:sp>
      <p:sp>
        <p:nvSpPr>
          <p:cNvPr id="39" name="Shape 37"/>
          <p:cNvSpPr/>
          <p:nvPr/>
        </p:nvSpPr>
        <p:spPr>
          <a:xfrm>
            <a:off x="9121140" y="3108960"/>
            <a:ext cx="2834640" cy="1188720"/>
          </a:xfrm>
          <a:prstGeom prst="roundRect">
            <a:avLst>
              <a:gd name="adj" fmla="val 6154"/>
            </a:avLst>
          </a:prstGeom>
          <a:solidFill>
            <a:srgbClr val="F8FAFC"/>
          </a:solidFill>
          <a:ln w="12700">
            <a:solidFill>
              <a:srgbClr val="2C5F2D"/>
            </a:solidFill>
            <a:prstDash val="solid"/>
          </a:ln>
        </p:spPr>
      </p:sp>
      <p:sp>
        <p:nvSpPr>
          <p:cNvPr id="40" name="Shape 38"/>
          <p:cNvSpPr/>
          <p:nvPr/>
        </p:nvSpPr>
        <p:spPr>
          <a:xfrm>
            <a:off x="9258300" y="3291840"/>
            <a:ext cx="502920" cy="502920"/>
          </a:xfrm>
          <a:prstGeom prst="ellipse">
            <a:avLst/>
          </a:prstGeom>
          <a:solidFill>
            <a:srgbClr val="2C5F2D"/>
          </a:solidFill>
          <a:ln w="12700">
            <a:solidFill>
              <a:srgbClr val="2C5F2D"/>
            </a:solidFill>
            <a:prstDash val="solid"/>
          </a:ln>
        </p:spPr>
      </p:sp>
      <p:sp>
        <p:nvSpPr>
          <p:cNvPr id="41" name="Text 39"/>
          <p:cNvSpPr/>
          <p:nvPr/>
        </p:nvSpPr>
        <p:spPr>
          <a:xfrm>
            <a:off x="9258300" y="32918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8</a:t>
            </a:r>
            <a:endParaRPr lang="en-US" sz="1600" dirty="0"/>
          </a:p>
        </p:txBody>
      </p:sp>
      <p:sp>
        <p:nvSpPr>
          <p:cNvPr id="42" name="Text 40"/>
          <p:cNvSpPr/>
          <p:nvPr/>
        </p:nvSpPr>
        <p:spPr>
          <a:xfrm>
            <a:off x="9852660" y="3273552"/>
            <a:ext cx="1965960" cy="365760"/>
          </a:xfrm>
          <a:prstGeom prst="rect">
            <a:avLst/>
          </a:prstGeom>
          <a:noFill/>
          <a:ln/>
        </p:spPr>
        <p:txBody>
          <a:bodyPr wrap="square" lIns="0" tIns="0" rIns="0" bIns="0" rtlCol="0" anchor="ctr"/>
          <a:lstStyle/>
          <a:p>
            <a:pPr marL="0" indent="0" algn="l">
              <a:buNone/>
            </a:pPr>
            <a:r>
              <a:rPr lang="en-US" sz="1300" b="1" dirty="0">
                <a:solidFill>
                  <a:srgbClr val="1E4D8B"/>
                </a:solidFill>
                <a:latin typeface="Cambria" pitchFamily="34" charset="0"/>
                <a:ea typeface="Cambria" pitchFamily="34" charset="-122"/>
                <a:cs typeface="Cambria" pitchFamily="34" charset="-120"/>
              </a:rPr>
              <a:t>Modelos de proceso</a:t>
            </a:r>
            <a:endParaRPr lang="en-US" sz="1300" dirty="0"/>
          </a:p>
        </p:txBody>
      </p:sp>
      <p:sp>
        <p:nvSpPr>
          <p:cNvPr id="43" name="Text 41"/>
          <p:cNvSpPr/>
          <p:nvPr/>
        </p:nvSpPr>
        <p:spPr>
          <a:xfrm>
            <a:off x="9304020" y="3749040"/>
            <a:ext cx="2514600" cy="502920"/>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Actividad UML y BPMN si aplica.</a:t>
            </a:r>
            <a:endParaRPr lang="en-US" sz="1000" dirty="0"/>
          </a:p>
        </p:txBody>
      </p:sp>
      <p:sp>
        <p:nvSpPr>
          <p:cNvPr id="44" name="Shape 42"/>
          <p:cNvSpPr/>
          <p:nvPr/>
        </p:nvSpPr>
        <p:spPr>
          <a:xfrm>
            <a:off x="205740" y="4434840"/>
            <a:ext cx="2834640" cy="1188720"/>
          </a:xfrm>
          <a:prstGeom prst="roundRect">
            <a:avLst>
              <a:gd name="adj" fmla="val 6154"/>
            </a:avLst>
          </a:prstGeom>
          <a:solidFill>
            <a:srgbClr val="F8FAFC"/>
          </a:solidFill>
          <a:ln w="12700">
            <a:solidFill>
              <a:srgbClr val="2C5F2D"/>
            </a:solidFill>
            <a:prstDash val="solid"/>
          </a:ln>
        </p:spPr>
      </p:sp>
      <p:sp>
        <p:nvSpPr>
          <p:cNvPr id="45" name="Shape 43"/>
          <p:cNvSpPr/>
          <p:nvPr/>
        </p:nvSpPr>
        <p:spPr>
          <a:xfrm>
            <a:off x="342900" y="4617720"/>
            <a:ext cx="502920" cy="502920"/>
          </a:xfrm>
          <a:prstGeom prst="ellipse">
            <a:avLst/>
          </a:prstGeom>
          <a:solidFill>
            <a:srgbClr val="2C5F2D"/>
          </a:solidFill>
          <a:ln w="12700">
            <a:solidFill>
              <a:srgbClr val="2C5F2D"/>
            </a:solidFill>
            <a:prstDash val="solid"/>
          </a:ln>
        </p:spPr>
      </p:sp>
      <p:sp>
        <p:nvSpPr>
          <p:cNvPr id="46" name="Text 44"/>
          <p:cNvSpPr/>
          <p:nvPr/>
        </p:nvSpPr>
        <p:spPr>
          <a:xfrm>
            <a:off x="342900" y="461772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9</a:t>
            </a:r>
            <a:endParaRPr lang="en-US" sz="1600" dirty="0"/>
          </a:p>
        </p:txBody>
      </p:sp>
      <p:sp>
        <p:nvSpPr>
          <p:cNvPr id="47" name="Text 45"/>
          <p:cNvSpPr/>
          <p:nvPr/>
        </p:nvSpPr>
        <p:spPr>
          <a:xfrm>
            <a:off x="937260" y="4599432"/>
            <a:ext cx="1965960" cy="365760"/>
          </a:xfrm>
          <a:prstGeom prst="rect">
            <a:avLst/>
          </a:prstGeom>
          <a:noFill/>
          <a:ln/>
        </p:spPr>
        <p:txBody>
          <a:bodyPr wrap="square" lIns="0" tIns="0" rIns="0" bIns="0" rtlCol="0" anchor="ctr"/>
          <a:lstStyle/>
          <a:p>
            <a:pPr marL="0" indent="0" algn="l">
              <a:buNone/>
            </a:pPr>
            <a:r>
              <a:rPr lang="en-US" sz="1300" b="1" dirty="0">
                <a:solidFill>
                  <a:srgbClr val="1E4D8B"/>
                </a:solidFill>
                <a:latin typeface="Cambria" pitchFamily="34" charset="0"/>
                <a:ea typeface="Cambria" pitchFamily="34" charset="-122"/>
                <a:cs typeface="Cambria" pitchFamily="34" charset="-120"/>
              </a:rPr>
              <a:t>Modelos de estado</a:t>
            </a:r>
            <a:endParaRPr lang="en-US" sz="1300" dirty="0"/>
          </a:p>
        </p:txBody>
      </p:sp>
      <p:sp>
        <p:nvSpPr>
          <p:cNvPr id="48" name="Text 46"/>
          <p:cNvSpPr/>
          <p:nvPr/>
        </p:nvSpPr>
        <p:spPr>
          <a:xfrm>
            <a:off x="388620" y="5074920"/>
            <a:ext cx="2514600" cy="502920"/>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Maquinas de estado UML de las entidades clave.</a:t>
            </a:r>
            <a:endParaRPr lang="en-US" sz="1000" dirty="0"/>
          </a:p>
        </p:txBody>
      </p:sp>
      <p:sp>
        <p:nvSpPr>
          <p:cNvPr id="49" name="Shape 47"/>
          <p:cNvSpPr/>
          <p:nvPr/>
        </p:nvSpPr>
        <p:spPr>
          <a:xfrm>
            <a:off x="3177540" y="4434840"/>
            <a:ext cx="2834640" cy="1188720"/>
          </a:xfrm>
          <a:prstGeom prst="roundRect">
            <a:avLst>
              <a:gd name="adj" fmla="val 6154"/>
            </a:avLst>
          </a:prstGeom>
          <a:solidFill>
            <a:srgbClr val="F8FAFC"/>
          </a:solidFill>
          <a:ln w="12700">
            <a:solidFill>
              <a:srgbClr val="2C5F2D"/>
            </a:solidFill>
            <a:prstDash val="solid"/>
          </a:ln>
        </p:spPr>
      </p:sp>
      <p:sp>
        <p:nvSpPr>
          <p:cNvPr id="50" name="Shape 48"/>
          <p:cNvSpPr/>
          <p:nvPr/>
        </p:nvSpPr>
        <p:spPr>
          <a:xfrm>
            <a:off x="3314700" y="4617720"/>
            <a:ext cx="502920" cy="502920"/>
          </a:xfrm>
          <a:prstGeom prst="ellipse">
            <a:avLst/>
          </a:prstGeom>
          <a:solidFill>
            <a:srgbClr val="2C5F2D"/>
          </a:solidFill>
          <a:ln w="12700">
            <a:solidFill>
              <a:srgbClr val="2C5F2D"/>
            </a:solidFill>
            <a:prstDash val="solid"/>
          </a:ln>
        </p:spPr>
      </p:sp>
      <p:sp>
        <p:nvSpPr>
          <p:cNvPr id="51" name="Text 49"/>
          <p:cNvSpPr/>
          <p:nvPr/>
        </p:nvSpPr>
        <p:spPr>
          <a:xfrm>
            <a:off x="3314700" y="461772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10</a:t>
            </a:r>
            <a:endParaRPr lang="en-US" sz="1600" dirty="0"/>
          </a:p>
        </p:txBody>
      </p:sp>
      <p:sp>
        <p:nvSpPr>
          <p:cNvPr id="52" name="Text 50"/>
          <p:cNvSpPr/>
          <p:nvPr/>
        </p:nvSpPr>
        <p:spPr>
          <a:xfrm>
            <a:off x="3909060" y="4599432"/>
            <a:ext cx="1965960" cy="365760"/>
          </a:xfrm>
          <a:prstGeom prst="rect">
            <a:avLst/>
          </a:prstGeom>
          <a:noFill/>
          <a:ln/>
        </p:spPr>
        <p:txBody>
          <a:bodyPr wrap="square" lIns="0" tIns="0" rIns="0" bIns="0" rtlCol="0" anchor="ctr"/>
          <a:lstStyle/>
          <a:p>
            <a:pPr marL="0" indent="0" algn="l">
              <a:buNone/>
            </a:pPr>
            <a:r>
              <a:rPr lang="en-US" sz="1300" b="1" dirty="0">
                <a:solidFill>
                  <a:srgbClr val="1E4D8B"/>
                </a:solidFill>
                <a:latin typeface="Cambria" pitchFamily="34" charset="0"/>
                <a:ea typeface="Cambria" pitchFamily="34" charset="-122"/>
                <a:cs typeface="Cambria" pitchFamily="34" charset="-120"/>
              </a:rPr>
              <a:t>Interfaces</a:t>
            </a:r>
            <a:endParaRPr lang="en-US" sz="1300" dirty="0"/>
          </a:p>
        </p:txBody>
      </p:sp>
      <p:sp>
        <p:nvSpPr>
          <p:cNvPr id="53" name="Text 51"/>
          <p:cNvSpPr/>
          <p:nvPr/>
        </p:nvSpPr>
        <p:spPr>
          <a:xfrm>
            <a:off x="3360420" y="5074920"/>
            <a:ext cx="2514600" cy="502920"/>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Externas, de usuario, de HW, de SW, de comunicaciones.</a:t>
            </a:r>
            <a:endParaRPr lang="en-US" sz="1000" dirty="0"/>
          </a:p>
        </p:txBody>
      </p:sp>
      <p:sp>
        <p:nvSpPr>
          <p:cNvPr id="54" name="Shape 52"/>
          <p:cNvSpPr/>
          <p:nvPr/>
        </p:nvSpPr>
        <p:spPr>
          <a:xfrm>
            <a:off x="6149340" y="4434840"/>
            <a:ext cx="2834640" cy="1188720"/>
          </a:xfrm>
          <a:prstGeom prst="roundRect">
            <a:avLst>
              <a:gd name="adj" fmla="val 6154"/>
            </a:avLst>
          </a:prstGeom>
          <a:solidFill>
            <a:srgbClr val="F8FAFC"/>
          </a:solidFill>
          <a:ln w="12700">
            <a:solidFill>
              <a:srgbClr val="2C5F2D"/>
            </a:solidFill>
            <a:prstDash val="solid"/>
          </a:ln>
        </p:spPr>
      </p:sp>
      <p:sp>
        <p:nvSpPr>
          <p:cNvPr id="55" name="Shape 53"/>
          <p:cNvSpPr/>
          <p:nvPr/>
        </p:nvSpPr>
        <p:spPr>
          <a:xfrm>
            <a:off x="6286500" y="4617720"/>
            <a:ext cx="502920" cy="502920"/>
          </a:xfrm>
          <a:prstGeom prst="ellipse">
            <a:avLst/>
          </a:prstGeom>
          <a:solidFill>
            <a:srgbClr val="2C5F2D"/>
          </a:solidFill>
          <a:ln w="12700">
            <a:solidFill>
              <a:srgbClr val="2C5F2D"/>
            </a:solidFill>
            <a:prstDash val="solid"/>
          </a:ln>
        </p:spPr>
      </p:sp>
      <p:sp>
        <p:nvSpPr>
          <p:cNvPr id="56" name="Text 54"/>
          <p:cNvSpPr/>
          <p:nvPr/>
        </p:nvSpPr>
        <p:spPr>
          <a:xfrm>
            <a:off x="6286500" y="461772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11</a:t>
            </a:r>
            <a:endParaRPr lang="en-US" sz="1600" dirty="0"/>
          </a:p>
        </p:txBody>
      </p:sp>
      <p:sp>
        <p:nvSpPr>
          <p:cNvPr id="57" name="Text 55"/>
          <p:cNvSpPr/>
          <p:nvPr/>
        </p:nvSpPr>
        <p:spPr>
          <a:xfrm>
            <a:off x="6880860" y="4599432"/>
            <a:ext cx="1965960" cy="365760"/>
          </a:xfrm>
          <a:prstGeom prst="rect">
            <a:avLst/>
          </a:prstGeom>
          <a:noFill/>
          <a:ln/>
        </p:spPr>
        <p:txBody>
          <a:bodyPr wrap="square" lIns="0" tIns="0" rIns="0" bIns="0" rtlCol="0" anchor="ctr"/>
          <a:lstStyle/>
          <a:p>
            <a:pPr marL="0" indent="0" algn="l">
              <a:buNone/>
            </a:pPr>
            <a:r>
              <a:rPr lang="en-US" sz="1300" b="1" dirty="0">
                <a:solidFill>
                  <a:srgbClr val="1E4D8B"/>
                </a:solidFill>
                <a:latin typeface="Cambria" pitchFamily="34" charset="0"/>
                <a:ea typeface="Cambria" pitchFamily="34" charset="-122"/>
                <a:cs typeface="Cambria" pitchFamily="34" charset="-120"/>
              </a:rPr>
              <a:t>Criterios de aceptación</a:t>
            </a:r>
            <a:endParaRPr lang="en-US" sz="1300" dirty="0"/>
          </a:p>
        </p:txBody>
      </p:sp>
      <p:sp>
        <p:nvSpPr>
          <p:cNvPr id="58" name="Text 56"/>
          <p:cNvSpPr/>
          <p:nvPr/>
        </p:nvSpPr>
        <p:spPr>
          <a:xfrm>
            <a:off x="6332220" y="5074920"/>
            <a:ext cx="2514600" cy="502920"/>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BDD Given-When-Then por requisito.</a:t>
            </a:r>
            <a:endParaRPr lang="en-US" sz="1000" dirty="0"/>
          </a:p>
        </p:txBody>
      </p:sp>
      <p:sp>
        <p:nvSpPr>
          <p:cNvPr id="59" name="Shape 57"/>
          <p:cNvSpPr/>
          <p:nvPr/>
        </p:nvSpPr>
        <p:spPr>
          <a:xfrm>
            <a:off x="9121140" y="4434840"/>
            <a:ext cx="2834640" cy="1188720"/>
          </a:xfrm>
          <a:prstGeom prst="roundRect">
            <a:avLst>
              <a:gd name="adj" fmla="val 6154"/>
            </a:avLst>
          </a:prstGeom>
          <a:solidFill>
            <a:srgbClr val="F8FAFC"/>
          </a:solidFill>
          <a:ln w="12700">
            <a:solidFill>
              <a:srgbClr val="2C5F2D"/>
            </a:solidFill>
            <a:prstDash val="solid"/>
          </a:ln>
        </p:spPr>
      </p:sp>
      <p:sp>
        <p:nvSpPr>
          <p:cNvPr id="60" name="Shape 58"/>
          <p:cNvSpPr/>
          <p:nvPr/>
        </p:nvSpPr>
        <p:spPr>
          <a:xfrm>
            <a:off x="9258300" y="4617720"/>
            <a:ext cx="502920" cy="502920"/>
          </a:xfrm>
          <a:prstGeom prst="ellipse">
            <a:avLst/>
          </a:prstGeom>
          <a:solidFill>
            <a:srgbClr val="2C5F2D"/>
          </a:solidFill>
          <a:ln w="12700">
            <a:solidFill>
              <a:srgbClr val="2C5F2D"/>
            </a:solidFill>
            <a:prstDash val="solid"/>
          </a:ln>
        </p:spPr>
      </p:sp>
      <p:sp>
        <p:nvSpPr>
          <p:cNvPr id="61" name="Text 59"/>
          <p:cNvSpPr/>
          <p:nvPr/>
        </p:nvSpPr>
        <p:spPr>
          <a:xfrm>
            <a:off x="9258300" y="461772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12</a:t>
            </a:r>
            <a:endParaRPr lang="en-US" sz="1600" dirty="0"/>
          </a:p>
        </p:txBody>
      </p:sp>
      <p:sp>
        <p:nvSpPr>
          <p:cNvPr id="62" name="Text 60"/>
          <p:cNvSpPr/>
          <p:nvPr/>
        </p:nvSpPr>
        <p:spPr>
          <a:xfrm>
            <a:off x="9852660" y="4599432"/>
            <a:ext cx="1965960" cy="365760"/>
          </a:xfrm>
          <a:prstGeom prst="rect">
            <a:avLst/>
          </a:prstGeom>
          <a:noFill/>
          <a:ln/>
        </p:spPr>
        <p:txBody>
          <a:bodyPr wrap="square" lIns="0" tIns="0" rIns="0" bIns="0" rtlCol="0" anchor="ctr"/>
          <a:lstStyle/>
          <a:p>
            <a:pPr marL="0" indent="0" algn="l">
              <a:buNone/>
            </a:pPr>
            <a:r>
              <a:rPr lang="en-US" sz="1300" b="1" dirty="0">
                <a:solidFill>
                  <a:srgbClr val="1E4D8B"/>
                </a:solidFill>
                <a:latin typeface="Cambria" pitchFamily="34" charset="0"/>
                <a:ea typeface="Cambria" pitchFamily="34" charset="-122"/>
                <a:cs typeface="Cambria" pitchFamily="34" charset="-120"/>
              </a:rPr>
              <a:t>Matriz de trazabilidad</a:t>
            </a:r>
            <a:endParaRPr lang="en-US" sz="1300" dirty="0"/>
          </a:p>
        </p:txBody>
      </p:sp>
      <p:sp>
        <p:nvSpPr>
          <p:cNvPr id="63" name="Text 61"/>
          <p:cNvSpPr/>
          <p:nvPr/>
        </p:nvSpPr>
        <p:spPr>
          <a:xfrm>
            <a:off x="9304020" y="5074920"/>
            <a:ext cx="2514600" cy="502920"/>
          </a:xfrm>
          <a:prstGeom prst="rect">
            <a:avLst/>
          </a:prstGeom>
          <a:noFill/>
          <a:ln/>
        </p:spPr>
        <p:txBody>
          <a:bodyPr wrap="square" lIns="0" tIns="0" rIns="0" bIns="0" rtlCol="0" anchor="t"/>
          <a:lstStyle/>
          <a:p>
            <a:pPr marL="0" indent="0" algn="l">
              <a:buNone/>
            </a:pPr>
            <a:r>
              <a:rPr lang="en-US" sz="1000" dirty="0">
                <a:solidFill>
                  <a:srgbClr val="1E293B"/>
                </a:solidFill>
                <a:latin typeface="Calibri" pitchFamily="34" charset="0"/>
                <a:ea typeface="Calibri" pitchFamily="34" charset="-122"/>
                <a:cs typeface="Calibri" pitchFamily="34" charset="-120"/>
              </a:rPr>
              <a:t>Fuente &lt;-&gt; requisito &lt;-&gt; componente &lt;-&gt; prueba.</a:t>
            </a:r>
            <a:endParaRPr lang="en-US" sz="1000" dirty="0"/>
          </a:p>
        </p:txBody>
      </p:sp>
      <p:sp>
        <p:nvSpPr>
          <p:cNvPr id="65" name="Shape 62"/>
          <p:cNvSpPr/>
          <p:nvPr/>
        </p:nvSpPr>
        <p:spPr>
          <a:xfrm>
            <a:off x="0" y="0"/>
            <a:ext cx="12161520" cy="384048"/>
          </a:xfrm>
          <a:prstGeom prst="rect">
            <a:avLst/>
          </a:prstGeom>
          <a:solidFill>
            <a:srgbClr val="2C5F2D"/>
          </a:solidFill>
          <a:ln w="12700">
            <a:solidFill>
              <a:srgbClr val="2C5F2D"/>
            </a:solidFill>
            <a:prstDash val="solid"/>
          </a:ln>
        </p:spPr>
      </p:sp>
      <p:sp>
        <p:nvSpPr>
          <p:cNvPr id="66" name="Text 63"/>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67" name="Text 64"/>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Síntesis</a:t>
            </a:r>
            <a:endParaRPr lang="en-US" sz="1000" dirty="0"/>
          </a:p>
        </p:txBody>
      </p:sp>
      <p:sp>
        <p:nvSpPr>
          <p:cNvPr id="68" name="Text 65"/>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69" name="Text 66"/>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23 / 30</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548640"/>
            <a:ext cx="11247120" cy="640080"/>
          </a:xfrm>
          <a:prstGeom prst="rect">
            <a:avLst/>
          </a:prstGeom>
          <a:noFill/>
          <a:ln/>
        </p:spPr>
        <p:txBody>
          <a:bodyPr wrap="square" lIns="0" tIns="0" rIns="0" bIns="0" rtlCol="0" anchor="t"/>
          <a:lstStyle/>
          <a:p>
            <a:pPr marL="0" indent="0" algn="l">
              <a:buNone/>
            </a:pPr>
            <a:r>
              <a:rPr lang="en-US" sz="3000" b="1" dirty="0">
                <a:solidFill>
                  <a:srgbClr val="1E4D8B"/>
                </a:solidFill>
                <a:latin typeface="Cambria" pitchFamily="34" charset="0"/>
                <a:ea typeface="Cambria" pitchFamily="34" charset="-122"/>
                <a:cs typeface="Cambria" pitchFamily="34" charset="-120"/>
              </a:rPr>
              <a:t>Errores comunes en ERS de estudiantes</a:t>
            </a:r>
            <a:endParaRPr lang="en-US" sz="3000" dirty="0"/>
          </a:p>
        </p:txBody>
      </p:sp>
      <p:sp>
        <p:nvSpPr>
          <p:cNvPr id="3" name="Text 1"/>
          <p:cNvSpPr/>
          <p:nvPr/>
        </p:nvSpPr>
        <p:spPr>
          <a:xfrm>
            <a:off x="457200" y="1188720"/>
            <a:ext cx="11247120" cy="365760"/>
          </a:xfrm>
          <a:prstGeom prst="rect">
            <a:avLst/>
          </a:prstGeom>
          <a:noFill/>
          <a:ln/>
        </p:spPr>
        <p:txBody>
          <a:bodyPr wrap="square" lIns="0" tIns="0" rIns="0" bIns="0" rtlCol="0" anchor="t"/>
          <a:lstStyle/>
          <a:p>
            <a:pPr marL="0" indent="0" algn="l">
              <a:buNone/>
            </a:pPr>
            <a:r>
              <a:rPr lang="en-US" sz="1300" i="1" dirty="0">
                <a:solidFill>
                  <a:srgbClr val="475569"/>
                </a:solidFill>
                <a:latin typeface="Calibri" pitchFamily="34" charset="0"/>
                <a:ea typeface="Calibri" pitchFamily="34" charset="-122"/>
                <a:cs typeface="Calibri" pitchFamily="34" charset="-120"/>
              </a:rPr>
              <a:t>Patrones detectados en evaluaciónes de PE2 y PFC</a:t>
            </a:r>
            <a:endParaRPr lang="en-US" sz="1300" dirty="0"/>
          </a:p>
        </p:txBody>
      </p:sp>
      <p:sp>
        <p:nvSpPr>
          <p:cNvPr id="4" name="Shape 2"/>
          <p:cNvSpPr/>
          <p:nvPr/>
        </p:nvSpPr>
        <p:spPr>
          <a:xfrm>
            <a:off x="228600" y="1828800"/>
            <a:ext cx="5760720" cy="1417320"/>
          </a:xfrm>
          <a:prstGeom prst="roundRect">
            <a:avLst>
              <a:gd name="adj" fmla="val 5161"/>
            </a:avLst>
          </a:prstGeom>
          <a:solidFill>
            <a:srgbClr val="F8FAFC"/>
          </a:solidFill>
          <a:ln w="12700">
            <a:solidFill>
              <a:srgbClr val="E2E8F0"/>
            </a:solidFill>
            <a:prstDash val="solid"/>
          </a:ln>
        </p:spPr>
      </p:sp>
      <p:pic>
        <p:nvPicPr>
          <p:cNvPr id="5" name="Image 0" descr="preencoded.png"/>
          <p:cNvPicPr>
            <a:picLocks noChangeAspect="1"/>
          </p:cNvPicPr>
          <p:nvPr/>
        </p:nvPicPr>
        <p:blipFill>
          <a:blip r:embed="rId3"/>
          <a:stretch>
            <a:fillRect/>
          </a:stretch>
        </p:blipFill>
        <p:spPr>
          <a:xfrm>
            <a:off x="411480" y="2011680"/>
            <a:ext cx="365760" cy="365760"/>
          </a:xfrm>
          <a:prstGeom prst="rect">
            <a:avLst/>
          </a:prstGeom>
        </p:spPr>
      </p:pic>
      <p:sp>
        <p:nvSpPr>
          <p:cNvPr id="6" name="Text 3"/>
          <p:cNvSpPr/>
          <p:nvPr/>
        </p:nvSpPr>
        <p:spPr>
          <a:xfrm>
            <a:off x="868680" y="1965960"/>
            <a:ext cx="5029200" cy="365760"/>
          </a:xfrm>
          <a:prstGeom prst="rect">
            <a:avLst/>
          </a:prstGeom>
          <a:noFill/>
          <a:ln/>
        </p:spPr>
        <p:txBody>
          <a:bodyPr wrap="square" lIns="0" tIns="0" rIns="0" bIns="0" rtlCol="0" anchor="ctr"/>
          <a:lstStyle/>
          <a:p>
            <a:pPr marL="0" indent="0" algn="l">
              <a:buNone/>
            </a:pPr>
            <a:r>
              <a:rPr lang="en-US" sz="1400" b="1" dirty="0">
                <a:solidFill>
                  <a:srgbClr val="B91C1C"/>
                </a:solidFill>
                <a:latin typeface="Cambria" pitchFamily="34" charset="0"/>
                <a:ea typeface="Cambria" pitchFamily="34" charset="-122"/>
                <a:cs typeface="Cambria" pitchFamily="34" charset="-120"/>
              </a:rPr>
              <a:t>RNF sin métricas</a:t>
            </a:r>
            <a:endParaRPr lang="en-US" sz="1400" dirty="0"/>
          </a:p>
        </p:txBody>
      </p:sp>
      <p:sp>
        <p:nvSpPr>
          <p:cNvPr id="7" name="Text 4"/>
          <p:cNvSpPr/>
          <p:nvPr/>
        </p:nvSpPr>
        <p:spPr>
          <a:xfrm>
            <a:off x="457200" y="2377440"/>
            <a:ext cx="5349240" cy="777240"/>
          </a:xfrm>
          <a:prstGeom prst="rect">
            <a:avLst/>
          </a:prstGeom>
          <a:noFill/>
          <a:ln/>
        </p:spPr>
        <p:txBody>
          <a:bodyPr wrap="square" lIns="0" tIns="0" rIns="0" bIns="0" rtlCol="0" anchor="t"/>
          <a:lstStyle/>
          <a:p>
            <a:pPr marL="0" indent="0" algn="l">
              <a:buNone/>
            </a:pPr>
            <a:r>
              <a:rPr lang="en-US" sz="1050" b="1" dirty="0">
                <a:solidFill>
                  <a:srgbClr val="B91C1C"/>
                </a:solidFill>
                <a:latin typeface="Calibri" pitchFamily="34" charset="0"/>
                <a:ea typeface="Calibri" pitchFamily="34" charset="-122"/>
                <a:cs typeface="Calibri" pitchFamily="34" charset="-120"/>
              </a:rPr>
              <a:t>Mal: </a:t>
            </a:r>
            <a:r>
              <a:rPr lang="en-US" sz="1050" i="1" dirty="0">
                <a:solidFill>
                  <a:srgbClr val="1E293B"/>
                </a:solidFill>
                <a:latin typeface="Calibri" pitchFamily="34" charset="0"/>
                <a:ea typeface="Calibri" pitchFamily="34" charset="-122"/>
                <a:cs typeface="Calibri" pitchFamily="34" charset="-120"/>
              </a:rPr>
              <a:t>"El sistema debe ser rápido y seguro."</a:t>
            </a:r>
            <a:endParaRPr lang="en-US" sz="1050" dirty="0"/>
          </a:p>
          <a:p>
            <a:pPr marL="0" indent="0" algn="l">
              <a:buNone/>
            </a:pPr>
            <a:r>
              <a:rPr lang="en-US" sz="1050" b="1" dirty="0">
                <a:solidFill>
                  <a:srgbClr val="2C5F2D"/>
                </a:solidFill>
                <a:latin typeface="Calibri" pitchFamily="34" charset="0"/>
                <a:ea typeface="Calibri" pitchFamily="34" charset="-122"/>
                <a:cs typeface="Calibri" pitchFamily="34" charset="-120"/>
              </a:rPr>
              <a:t>Bien: </a:t>
            </a:r>
            <a:r>
              <a:rPr lang="en-US" sz="1050" i="1" dirty="0">
                <a:solidFill>
                  <a:srgbClr val="1E293B"/>
                </a:solidFill>
                <a:latin typeface="Calibri" pitchFamily="34" charset="0"/>
                <a:ea typeface="Calibri" pitchFamily="34" charset="-122"/>
                <a:cs typeface="Calibri" pitchFamily="34" charset="-120"/>
              </a:rPr>
              <a:t>"El sistema debe procesar el 95% de las consultas en menos de 2 s con 100 usuarios concurrentes."</a:t>
            </a:r>
            <a:endParaRPr lang="en-US" sz="1050" dirty="0"/>
          </a:p>
        </p:txBody>
      </p:sp>
      <p:sp>
        <p:nvSpPr>
          <p:cNvPr id="8" name="Shape 5"/>
          <p:cNvSpPr/>
          <p:nvPr/>
        </p:nvSpPr>
        <p:spPr>
          <a:xfrm>
            <a:off x="6172200" y="1828800"/>
            <a:ext cx="5760720" cy="1417320"/>
          </a:xfrm>
          <a:prstGeom prst="roundRect">
            <a:avLst>
              <a:gd name="adj" fmla="val 5161"/>
            </a:avLst>
          </a:prstGeom>
          <a:solidFill>
            <a:srgbClr val="F8FAFC"/>
          </a:solidFill>
          <a:ln w="12700">
            <a:solidFill>
              <a:srgbClr val="E2E8F0"/>
            </a:solidFill>
            <a:prstDash val="solid"/>
          </a:ln>
        </p:spPr>
      </p:sp>
      <p:pic>
        <p:nvPicPr>
          <p:cNvPr id="9" name="Image 1" descr="preencoded.png"/>
          <p:cNvPicPr>
            <a:picLocks noChangeAspect="1"/>
          </p:cNvPicPr>
          <p:nvPr/>
        </p:nvPicPr>
        <p:blipFill>
          <a:blip r:embed="rId3"/>
          <a:stretch>
            <a:fillRect/>
          </a:stretch>
        </p:blipFill>
        <p:spPr>
          <a:xfrm>
            <a:off x="6355080" y="2011680"/>
            <a:ext cx="365760" cy="365760"/>
          </a:xfrm>
          <a:prstGeom prst="rect">
            <a:avLst/>
          </a:prstGeom>
        </p:spPr>
      </p:pic>
      <p:sp>
        <p:nvSpPr>
          <p:cNvPr id="10" name="Text 6"/>
          <p:cNvSpPr/>
          <p:nvPr/>
        </p:nvSpPr>
        <p:spPr>
          <a:xfrm>
            <a:off x="6812280" y="1965960"/>
            <a:ext cx="5029200" cy="365760"/>
          </a:xfrm>
          <a:prstGeom prst="rect">
            <a:avLst/>
          </a:prstGeom>
          <a:noFill/>
          <a:ln/>
        </p:spPr>
        <p:txBody>
          <a:bodyPr wrap="square" lIns="0" tIns="0" rIns="0" bIns="0" rtlCol="0" anchor="ctr"/>
          <a:lstStyle/>
          <a:p>
            <a:pPr marL="0" indent="0" algn="l">
              <a:buNone/>
            </a:pPr>
            <a:r>
              <a:rPr lang="en-US" sz="1400" b="1" dirty="0">
                <a:solidFill>
                  <a:srgbClr val="B91C1C"/>
                </a:solidFill>
                <a:latin typeface="Cambria" pitchFamily="34" charset="0"/>
                <a:ea typeface="Cambria" pitchFamily="34" charset="-122"/>
                <a:cs typeface="Cambria" pitchFamily="34" charset="-120"/>
              </a:rPr>
              <a:t>Requisitos compuestos</a:t>
            </a:r>
            <a:endParaRPr lang="en-US" sz="1400" dirty="0"/>
          </a:p>
        </p:txBody>
      </p:sp>
      <p:sp>
        <p:nvSpPr>
          <p:cNvPr id="11" name="Text 7"/>
          <p:cNvSpPr/>
          <p:nvPr/>
        </p:nvSpPr>
        <p:spPr>
          <a:xfrm>
            <a:off x="6400800" y="2377440"/>
            <a:ext cx="5349240" cy="777240"/>
          </a:xfrm>
          <a:prstGeom prst="rect">
            <a:avLst/>
          </a:prstGeom>
          <a:noFill/>
          <a:ln/>
        </p:spPr>
        <p:txBody>
          <a:bodyPr wrap="square" lIns="0" tIns="0" rIns="0" bIns="0" rtlCol="0" anchor="t"/>
          <a:lstStyle/>
          <a:p>
            <a:pPr marL="0" indent="0" algn="l">
              <a:buNone/>
            </a:pPr>
            <a:r>
              <a:rPr lang="en-US" sz="1050" b="1" dirty="0">
                <a:solidFill>
                  <a:srgbClr val="B91C1C"/>
                </a:solidFill>
                <a:latin typeface="Calibri" pitchFamily="34" charset="0"/>
                <a:ea typeface="Calibri" pitchFamily="34" charset="-122"/>
                <a:cs typeface="Calibri" pitchFamily="34" charset="-120"/>
              </a:rPr>
              <a:t>Mal: </a:t>
            </a:r>
            <a:r>
              <a:rPr lang="en-US" sz="1050" i="1" dirty="0">
                <a:solidFill>
                  <a:srgbClr val="1E293B"/>
                </a:solidFill>
                <a:latin typeface="Calibri" pitchFamily="34" charset="0"/>
                <a:ea typeface="Calibri" pitchFamily="34" charset="-122"/>
                <a:cs typeface="Calibri" pitchFamily="34" charset="-120"/>
              </a:rPr>
              <a:t>"El sistema debe registrar, validar, notificar y facturar la cita."</a:t>
            </a:r>
            <a:endParaRPr lang="en-US" sz="1050" dirty="0"/>
          </a:p>
          <a:p>
            <a:pPr marL="0" indent="0" algn="l">
              <a:buNone/>
            </a:pPr>
            <a:r>
              <a:rPr lang="en-US" sz="1050" b="1" dirty="0">
                <a:solidFill>
                  <a:srgbClr val="2C5F2D"/>
                </a:solidFill>
                <a:latin typeface="Calibri" pitchFamily="34" charset="0"/>
                <a:ea typeface="Calibri" pitchFamily="34" charset="-122"/>
                <a:cs typeface="Calibri" pitchFamily="34" charset="-120"/>
              </a:rPr>
              <a:t>Bien: </a:t>
            </a:r>
            <a:r>
              <a:rPr lang="en-US" sz="1050" i="1" dirty="0">
                <a:solidFill>
                  <a:srgbClr val="1E293B"/>
                </a:solidFill>
                <a:latin typeface="Calibri" pitchFamily="34" charset="0"/>
                <a:ea typeface="Calibri" pitchFamily="34" charset="-122"/>
                <a:cs typeface="Calibri" pitchFamily="34" charset="-120"/>
              </a:rPr>
              <a:t>Dividir en RF-11 registrar, RF-12 validar, RF-13 notificar, RF-14 facturar.</a:t>
            </a:r>
            <a:endParaRPr lang="en-US" sz="1050" dirty="0"/>
          </a:p>
        </p:txBody>
      </p:sp>
      <p:sp>
        <p:nvSpPr>
          <p:cNvPr id="12" name="Shape 8"/>
          <p:cNvSpPr/>
          <p:nvPr/>
        </p:nvSpPr>
        <p:spPr>
          <a:xfrm>
            <a:off x="228600" y="3383280"/>
            <a:ext cx="5760720" cy="1417320"/>
          </a:xfrm>
          <a:prstGeom prst="roundRect">
            <a:avLst>
              <a:gd name="adj" fmla="val 5161"/>
            </a:avLst>
          </a:prstGeom>
          <a:solidFill>
            <a:srgbClr val="F8FAFC"/>
          </a:solidFill>
          <a:ln w="12700">
            <a:solidFill>
              <a:srgbClr val="E2E8F0"/>
            </a:solidFill>
            <a:prstDash val="solid"/>
          </a:ln>
        </p:spPr>
      </p:sp>
      <p:pic>
        <p:nvPicPr>
          <p:cNvPr id="13" name="Image 2" descr="preencoded.png"/>
          <p:cNvPicPr>
            <a:picLocks noChangeAspect="1"/>
          </p:cNvPicPr>
          <p:nvPr/>
        </p:nvPicPr>
        <p:blipFill>
          <a:blip r:embed="rId3"/>
          <a:stretch>
            <a:fillRect/>
          </a:stretch>
        </p:blipFill>
        <p:spPr>
          <a:xfrm>
            <a:off x="411480" y="3566160"/>
            <a:ext cx="365760" cy="365760"/>
          </a:xfrm>
          <a:prstGeom prst="rect">
            <a:avLst/>
          </a:prstGeom>
        </p:spPr>
      </p:pic>
      <p:sp>
        <p:nvSpPr>
          <p:cNvPr id="14" name="Text 9"/>
          <p:cNvSpPr/>
          <p:nvPr/>
        </p:nvSpPr>
        <p:spPr>
          <a:xfrm>
            <a:off x="868680" y="3520440"/>
            <a:ext cx="5029200" cy="365760"/>
          </a:xfrm>
          <a:prstGeom prst="rect">
            <a:avLst/>
          </a:prstGeom>
          <a:noFill/>
          <a:ln/>
        </p:spPr>
        <p:txBody>
          <a:bodyPr wrap="square" lIns="0" tIns="0" rIns="0" bIns="0" rtlCol="0" anchor="ctr"/>
          <a:lstStyle/>
          <a:p>
            <a:pPr marL="0" indent="0" algn="l">
              <a:buNone/>
            </a:pPr>
            <a:r>
              <a:rPr lang="en-US" sz="1400" b="1" dirty="0">
                <a:solidFill>
                  <a:srgbClr val="B91C1C"/>
                </a:solidFill>
                <a:latin typeface="Cambria" pitchFamily="34" charset="0"/>
                <a:ea typeface="Cambria" pitchFamily="34" charset="-122"/>
                <a:cs typeface="Cambria" pitchFamily="34" charset="-120"/>
              </a:rPr>
              <a:t>Diseño en la ERS</a:t>
            </a:r>
            <a:endParaRPr lang="en-US" sz="1400" dirty="0"/>
          </a:p>
        </p:txBody>
      </p:sp>
      <p:sp>
        <p:nvSpPr>
          <p:cNvPr id="15" name="Text 10"/>
          <p:cNvSpPr/>
          <p:nvPr/>
        </p:nvSpPr>
        <p:spPr>
          <a:xfrm>
            <a:off x="457200" y="3931920"/>
            <a:ext cx="5349240" cy="777240"/>
          </a:xfrm>
          <a:prstGeom prst="rect">
            <a:avLst/>
          </a:prstGeom>
          <a:noFill/>
          <a:ln/>
        </p:spPr>
        <p:txBody>
          <a:bodyPr wrap="square" lIns="0" tIns="0" rIns="0" bIns="0" rtlCol="0" anchor="t"/>
          <a:lstStyle/>
          <a:p>
            <a:pPr marL="0" indent="0" algn="l">
              <a:buNone/>
            </a:pPr>
            <a:r>
              <a:rPr lang="en-US" sz="1050" b="1" dirty="0">
                <a:solidFill>
                  <a:srgbClr val="B91C1C"/>
                </a:solidFill>
                <a:latin typeface="Calibri" pitchFamily="34" charset="0"/>
                <a:ea typeface="Calibri" pitchFamily="34" charset="-122"/>
                <a:cs typeface="Calibri" pitchFamily="34" charset="-120"/>
              </a:rPr>
              <a:t>Mal: </a:t>
            </a:r>
            <a:r>
              <a:rPr lang="en-US" sz="1050" i="1" dirty="0">
                <a:solidFill>
                  <a:srgbClr val="1E293B"/>
                </a:solidFill>
                <a:latin typeface="Calibri" pitchFamily="34" charset="0"/>
                <a:ea typeface="Calibri" pitchFamily="34" charset="-122"/>
                <a:cs typeface="Calibri" pitchFamily="34" charset="-120"/>
              </a:rPr>
              <a:t>"El sistema usara React 19 con base de datos MongoDB."</a:t>
            </a:r>
            <a:endParaRPr lang="en-US" sz="1050" dirty="0"/>
          </a:p>
          <a:p>
            <a:pPr marL="0" indent="0" algn="l">
              <a:buNone/>
            </a:pPr>
            <a:r>
              <a:rPr lang="en-US" sz="1050" b="1" dirty="0">
                <a:solidFill>
                  <a:srgbClr val="2C5F2D"/>
                </a:solidFill>
                <a:latin typeface="Calibri" pitchFamily="34" charset="0"/>
                <a:ea typeface="Calibri" pitchFamily="34" charset="-122"/>
                <a:cs typeface="Calibri" pitchFamily="34" charset="-120"/>
              </a:rPr>
              <a:t>Bien: </a:t>
            </a:r>
            <a:r>
              <a:rPr lang="en-US" sz="1050" i="1" dirty="0">
                <a:solidFill>
                  <a:srgbClr val="1E293B"/>
                </a:solidFill>
                <a:latin typeface="Calibri" pitchFamily="34" charset="0"/>
                <a:ea typeface="Calibri" pitchFamily="34" charset="-122"/>
                <a:cs typeface="Calibri" pitchFamily="34" charset="-120"/>
              </a:rPr>
              <a:t>"El sistema debe mantener la integridad transaccional de los datos ACID."</a:t>
            </a:r>
            <a:endParaRPr lang="en-US" sz="1050" dirty="0"/>
          </a:p>
        </p:txBody>
      </p:sp>
      <p:sp>
        <p:nvSpPr>
          <p:cNvPr id="16" name="Shape 11"/>
          <p:cNvSpPr/>
          <p:nvPr/>
        </p:nvSpPr>
        <p:spPr>
          <a:xfrm>
            <a:off x="6172200" y="3383280"/>
            <a:ext cx="5760720" cy="1417320"/>
          </a:xfrm>
          <a:prstGeom prst="roundRect">
            <a:avLst>
              <a:gd name="adj" fmla="val 5161"/>
            </a:avLst>
          </a:prstGeom>
          <a:solidFill>
            <a:srgbClr val="F8FAFC"/>
          </a:solidFill>
          <a:ln w="12700">
            <a:solidFill>
              <a:srgbClr val="E2E8F0"/>
            </a:solidFill>
            <a:prstDash val="solid"/>
          </a:ln>
        </p:spPr>
      </p:sp>
      <p:pic>
        <p:nvPicPr>
          <p:cNvPr id="17" name="Image 3" descr="preencoded.png"/>
          <p:cNvPicPr>
            <a:picLocks noChangeAspect="1"/>
          </p:cNvPicPr>
          <p:nvPr/>
        </p:nvPicPr>
        <p:blipFill>
          <a:blip r:embed="rId3"/>
          <a:stretch>
            <a:fillRect/>
          </a:stretch>
        </p:blipFill>
        <p:spPr>
          <a:xfrm>
            <a:off x="6355080" y="3566160"/>
            <a:ext cx="365760" cy="365760"/>
          </a:xfrm>
          <a:prstGeom prst="rect">
            <a:avLst/>
          </a:prstGeom>
        </p:spPr>
      </p:pic>
      <p:sp>
        <p:nvSpPr>
          <p:cNvPr id="18" name="Text 12"/>
          <p:cNvSpPr/>
          <p:nvPr/>
        </p:nvSpPr>
        <p:spPr>
          <a:xfrm>
            <a:off x="6812280" y="3520440"/>
            <a:ext cx="5029200" cy="365760"/>
          </a:xfrm>
          <a:prstGeom prst="rect">
            <a:avLst/>
          </a:prstGeom>
          <a:noFill/>
          <a:ln/>
        </p:spPr>
        <p:txBody>
          <a:bodyPr wrap="square" lIns="0" tIns="0" rIns="0" bIns="0" rtlCol="0" anchor="ctr"/>
          <a:lstStyle/>
          <a:p>
            <a:pPr marL="0" indent="0" algn="l">
              <a:buNone/>
            </a:pPr>
            <a:r>
              <a:rPr lang="en-US" sz="1400" b="1" dirty="0">
                <a:solidFill>
                  <a:srgbClr val="B91C1C"/>
                </a:solidFill>
                <a:latin typeface="Cambria" pitchFamily="34" charset="0"/>
                <a:ea typeface="Cambria" pitchFamily="34" charset="-122"/>
                <a:cs typeface="Cambria" pitchFamily="34" charset="-120"/>
              </a:rPr>
              <a:t>Trazabilidad rota</a:t>
            </a:r>
            <a:endParaRPr lang="en-US" sz="1400" dirty="0"/>
          </a:p>
        </p:txBody>
      </p:sp>
      <p:sp>
        <p:nvSpPr>
          <p:cNvPr id="19" name="Text 13"/>
          <p:cNvSpPr/>
          <p:nvPr/>
        </p:nvSpPr>
        <p:spPr>
          <a:xfrm>
            <a:off x="6400800" y="3931920"/>
            <a:ext cx="5349240" cy="777240"/>
          </a:xfrm>
          <a:prstGeom prst="rect">
            <a:avLst/>
          </a:prstGeom>
          <a:noFill/>
          <a:ln/>
        </p:spPr>
        <p:txBody>
          <a:bodyPr wrap="square" lIns="0" tIns="0" rIns="0" bIns="0" rtlCol="0" anchor="t"/>
          <a:lstStyle/>
          <a:p>
            <a:pPr marL="0" indent="0" algn="l">
              <a:buNone/>
            </a:pPr>
            <a:r>
              <a:rPr lang="en-US" sz="1050" b="1" dirty="0">
                <a:solidFill>
                  <a:srgbClr val="B91C1C"/>
                </a:solidFill>
                <a:latin typeface="Calibri" pitchFamily="34" charset="0"/>
                <a:ea typeface="Calibri" pitchFamily="34" charset="-122"/>
                <a:cs typeface="Calibri" pitchFamily="34" charset="-120"/>
              </a:rPr>
              <a:t>Mal: </a:t>
            </a:r>
            <a:r>
              <a:rPr lang="en-US" sz="1050" i="1" dirty="0">
                <a:solidFill>
                  <a:srgbClr val="1E293B"/>
                </a:solidFill>
                <a:latin typeface="Calibri" pitchFamily="34" charset="0"/>
                <a:ea typeface="Calibri" pitchFamily="34" charset="-122"/>
                <a:cs typeface="Calibri" pitchFamily="34" charset="-120"/>
              </a:rPr>
              <a:t>El caso de uso UC-08 no aparece en ningun RF ni en el diagrama de clases.</a:t>
            </a:r>
            <a:endParaRPr lang="en-US" sz="1050" dirty="0"/>
          </a:p>
          <a:p>
            <a:pPr marL="0" indent="0" algn="l">
              <a:buNone/>
            </a:pPr>
            <a:r>
              <a:rPr lang="en-US" sz="1050" b="1" dirty="0">
                <a:solidFill>
                  <a:srgbClr val="2C5F2D"/>
                </a:solidFill>
                <a:latin typeface="Calibri" pitchFamily="34" charset="0"/>
                <a:ea typeface="Calibri" pitchFamily="34" charset="-122"/>
                <a:cs typeface="Calibri" pitchFamily="34" charset="-120"/>
              </a:rPr>
              <a:t>Bien: </a:t>
            </a:r>
            <a:r>
              <a:rPr lang="en-US" sz="1050" i="1" dirty="0">
                <a:solidFill>
                  <a:srgbClr val="1E293B"/>
                </a:solidFill>
                <a:latin typeface="Calibri" pitchFamily="34" charset="0"/>
                <a:ea typeface="Calibri" pitchFamily="34" charset="-122"/>
                <a:cs typeface="Calibri" pitchFamily="34" charset="-120"/>
              </a:rPr>
              <a:t>UC-08 &lt;-&gt; RF-08 &lt;-&gt; Clase Consulta &lt;-&gt; CP-08. Todos coherentes.</a:t>
            </a:r>
            <a:endParaRPr lang="en-US" sz="1050" dirty="0"/>
          </a:p>
        </p:txBody>
      </p:sp>
      <p:sp>
        <p:nvSpPr>
          <p:cNvPr id="20" name="Shape 14"/>
          <p:cNvSpPr/>
          <p:nvPr/>
        </p:nvSpPr>
        <p:spPr>
          <a:xfrm>
            <a:off x="228600" y="4937760"/>
            <a:ext cx="5760720" cy="1417320"/>
          </a:xfrm>
          <a:prstGeom prst="roundRect">
            <a:avLst>
              <a:gd name="adj" fmla="val 5161"/>
            </a:avLst>
          </a:prstGeom>
          <a:solidFill>
            <a:srgbClr val="F8FAFC"/>
          </a:solidFill>
          <a:ln w="12700">
            <a:solidFill>
              <a:srgbClr val="E2E8F0"/>
            </a:solidFill>
            <a:prstDash val="solid"/>
          </a:ln>
        </p:spPr>
      </p:sp>
      <p:pic>
        <p:nvPicPr>
          <p:cNvPr id="21" name="Image 4" descr="preencoded.png"/>
          <p:cNvPicPr>
            <a:picLocks noChangeAspect="1"/>
          </p:cNvPicPr>
          <p:nvPr/>
        </p:nvPicPr>
        <p:blipFill>
          <a:blip r:embed="rId3"/>
          <a:stretch>
            <a:fillRect/>
          </a:stretch>
        </p:blipFill>
        <p:spPr>
          <a:xfrm>
            <a:off x="411480" y="5120640"/>
            <a:ext cx="365760" cy="365760"/>
          </a:xfrm>
          <a:prstGeom prst="rect">
            <a:avLst/>
          </a:prstGeom>
        </p:spPr>
      </p:pic>
      <p:sp>
        <p:nvSpPr>
          <p:cNvPr id="22" name="Text 15"/>
          <p:cNvSpPr/>
          <p:nvPr/>
        </p:nvSpPr>
        <p:spPr>
          <a:xfrm>
            <a:off x="868680" y="5074920"/>
            <a:ext cx="5029200" cy="365760"/>
          </a:xfrm>
          <a:prstGeom prst="rect">
            <a:avLst/>
          </a:prstGeom>
          <a:noFill/>
          <a:ln/>
        </p:spPr>
        <p:txBody>
          <a:bodyPr wrap="square" lIns="0" tIns="0" rIns="0" bIns="0" rtlCol="0" anchor="ctr"/>
          <a:lstStyle/>
          <a:p>
            <a:pPr marL="0" indent="0" algn="l">
              <a:buNone/>
            </a:pPr>
            <a:r>
              <a:rPr lang="en-US" sz="1400" b="1" dirty="0">
                <a:solidFill>
                  <a:srgbClr val="B91C1C"/>
                </a:solidFill>
                <a:latin typeface="Cambria" pitchFamily="34" charset="0"/>
                <a:ea typeface="Cambria" pitchFamily="34" charset="-122"/>
                <a:cs typeface="Cambria" pitchFamily="34" charset="-120"/>
              </a:rPr>
              <a:t>Actores mal identificados</a:t>
            </a:r>
            <a:endParaRPr lang="en-US" sz="1400" dirty="0"/>
          </a:p>
        </p:txBody>
      </p:sp>
      <p:sp>
        <p:nvSpPr>
          <p:cNvPr id="23" name="Text 16"/>
          <p:cNvSpPr/>
          <p:nvPr/>
        </p:nvSpPr>
        <p:spPr>
          <a:xfrm>
            <a:off x="457200" y="5486400"/>
            <a:ext cx="5349240" cy="777240"/>
          </a:xfrm>
          <a:prstGeom prst="rect">
            <a:avLst/>
          </a:prstGeom>
          <a:noFill/>
          <a:ln/>
        </p:spPr>
        <p:txBody>
          <a:bodyPr wrap="square" lIns="0" tIns="0" rIns="0" bIns="0" rtlCol="0" anchor="t"/>
          <a:lstStyle/>
          <a:p>
            <a:pPr marL="0" indent="0" algn="l">
              <a:buNone/>
            </a:pPr>
            <a:r>
              <a:rPr lang="en-US" sz="1050" b="1" dirty="0">
                <a:solidFill>
                  <a:srgbClr val="B91C1C"/>
                </a:solidFill>
                <a:latin typeface="Calibri" pitchFamily="34" charset="0"/>
                <a:ea typeface="Calibri" pitchFamily="34" charset="-122"/>
                <a:cs typeface="Calibri" pitchFamily="34" charset="-120"/>
              </a:rPr>
              <a:t>Mal: </a:t>
            </a:r>
            <a:r>
              <a:rPr lang="en-US" sz="1050" i="1" dirty="0">
                <a:solidFill>
                  <a:srgbClr val="1E293B"/>
                </a:solidFill>
                <a:latin typeface="Calibri" pitchFamily="34" charset="0"/>
                <a:ea typeface="Calibri" pitchFamily="34" charset="-122"/>
                <a:cs typeface="Calibri" pitchFamily="34" charset="-120"/>
              </a:rPr>
              <a:t>"El sistema es el actor que envia notificaciones."</a:t>
            </a:r>
            <a:endParaRPr lang="en-US" sz="1050" dirty="0"/>
          </a:p>
          <a:p>
            <a:pPr marL="0" indent="0" algn="l">
              <a:buNone/>
            </a:pPr>
            <a:r>
              <a:rPr lang="en-US" sz="1050" b="1" dirty="0">
                <a:solidFill>
                  <a:srgbClr val="2C5F2D"/>
                </a:solidFill>
                <a:latin typeface="Calibri" pitchFamily="34" charset="0"/>
                <a:ea typeface="Calibri" pitchFamily="34" charset="-122"/>
                <a:cs typeface="Calibri" pitchFamily="34" charset="-120"/>
              </a:rPr>
              <a:t>Bien: </a:t>
            </a:r>
            <a:r>
              <a:rPr lang="en-US" sz="1050" i="1" dirty="0">
                <a:solidFill>
                  <a:srgbClr val="1E293B"/>
                </a:solidFill>
                <a:latin typeface="Calibri" pitchFamily="34" charset="0"/>
                <a:ea typeface="Calibri" pitchFamily="34" charset="-122"/>
                <a:cs typeface="Calibri" pitchFamily="34" charset="-120"/>
              </a:rPr>
              <a:t>El sistema NO es actor; los actores son entidades externas al sistema.</a:t>
            </a:r>
            <a:endParaRPr lang="en-US" sz="1050" dirty="0"/>
          </a:p>
        </p:txBody>
      </p:sp>
      <p:sp>
        <p:nvSpPr>
          <p:cNvPr id="24" name="Shape 17"/>
          <p:cNvSpPr/>
          <p:nvPr/>
        </p:nvSpPr>
        <p:spPr>
          <a:xfrm>
            <a:off x="6172200" y="4937760"/>
            <a:ext cx="5760720" cy="1417320"/>
          </a:xfrm>
          <a:prstGeom prst="roundRect">
            <a:avLst>
              <a:gd name="adj" fmla="val 5161"/>
            </a:avLst>
          </a:prstGeom>
          <a:solidFill>
            <a:srgbClr val="F8FAFC"/>
          </a:solidFill>
          <a:ln w="12700">
            <a:solidFill>
              <a:srgbClr val="E2E8F0"/>
            </a:solidFill>
            <a:prstDash val="solid"/>
          </a:ln>
        </p:spPr>
      </p:sp>
      <p:pic>
        <p:nvPicPr>
          <p:cNvPr id="25" name="Image 5" descr="preencoded.png"/>
          <p:cNvPicPr>
            <a:picLocks noChangeAspect="1"/>
          </p:cNvPicPr>
          <p:nvPr/>
        </p:nvPicPr>
        <p:blipFill>
          <a:blip r:embed="rId3"/>
          <a:stretch>
            <a:fillRect/>
          </a:stretch>
        </p:blipFill>
        <p:spPr>
          <a:xfrm>
            <a:off x="6355080" y="5120640"/>
            <a:ext cx="365760" cy="365760"/>
          </a:xfrm>
          <a:prstGeom prst="rect">
            <a:avLst/>
          </a:prstGeom>
        </p:spPr>
      </p:pic>
      <p:sp>
        <p:nvSpPr>
          <p:cNvPr id="26" name="Text 18"/>
          <p:cNvSpPr/>
          <p:nvPr/>
        </p:nvSpPr>
        <p:spPr>
          <a:xfrm>
            <a:off x="6812280" y="5074920"/>
            <a:ext cx="5029200" cy="365760"/>
          </a:xfrm>
          <a:prstGeom prst="rect">
            <a:avLst/>
          </a:prstGeom>
          <a:noFill/>
          <a:ln/>
        </p:spPr>
        <p:txBody>
          <a:bodyPr wrap="square" lIns="0" tIns="0" rIns="0" bIns="0" rtlCol="0" anchor="ctr"/>
          <a:lstStyle/>
          <a:p>
            <a:pPr marL="0" indent="0" algn="l">
              <a:buNone/>
            </a:pPr>
            <a:r>
              <a:rPr lang="en-US" sz="1400" b="1" dirty="0">
                <a:solidFill>
                  <a:srgbClr val="B91C1C"/>
                </a:solidFill>
                <a:latin typeface="Cambria" pitchFamily="34" charset="0"/>
                <a:ea typeface="Cambria" pitchFamily="34" charset="-122"/>
                <a:cs typeface="Cambria" pitchFamily="34" charset="-120"/>
              </a:rPr>
              <a:t>Requisitos de proceso ausentes</a:t>
            </a:r>
            <a:endParaRPr lang="en-US" sz="1400" dirty="0"/>
          </a:p>
        </p:txBody>
      </p:sp>
      <p:sp>
        <p:nvSpPr>
          <p:cNvPr id="27" name="Text 19"/>
          <p:cNvSpPr/>
          <p:nvPr/>
        </p:nvSpPr>
        <p:spPr>
          <a:xfrm>
            <a:off x="6400800" y="5486400"/>
            <a:ext cx="5349240" cy="777240"/>
          </a:xfrm>
          <a:prstGeom prst="rect">
            <a:avLst/>
          </a:prstGeom>
          <a:noFill/>
          <a:ln/>
        </p:spPr>
        <p:txBody>
          <a:bodyPr wrap="square" lIns="0" tIns="0" rIns="0" bIns="0" rtlCol="0" anchor="t"/>
          <a:lstStyle/>
          <a:p>
            <a:pPr marL="0" indent="0" algn="l">
              <a:buNone/>
            </a:pPr>
            <a:r>
              <a:rPr lang="en-US" sz="1050" b="1" dirty="0">
                <a:solidFill>
                  <a:srgbClr val="B91C1C"/>
                </a:solidFill>
                <a:latin typeface="Calibri" pitchFamily="34" charset="0"/>
                <a:ea typeface="Calibri" pitchFamily="34" charset="-122"/>
                <a:cs typeface="Calibri" pitchFamily="34" charset="-120"/>
              </a:rPr>
              <a:t>Mal: </a:t>
            </a:r>
            <a:r>
              <a:rPr lang="en-US" sz="1050" i="1" dirty="0">
                <a:solidFill>
                  <a:srgbClr val="1E293B"/>
                </a:solidFill>
                <a:latin typeface="Calibri" pitchFamily="34" charset="0"/>
                <a:ea typeface="Calibri" pitchFamily="34" charset="-122"/>
                <a:cs typeface="Calibri" pitchFamily="34" charset="-120"/>
              </a:rPr>
              <a:t>El ERS solo contiene requisitos funciónales y no funciónales.</a:t>
            </a:r>
            <a:endParaRPr lang="en-US" sz="1050" dirty="0"/>
          </a:p>
          <a:p>
            <a:pPr marL="0" indent="0" algn="l">
              <a:buNone/>
            </a:pPr>
            <a:r>
              <a:rPr lang="en-US" sz="1050" b="1" dirty="0">
                <a:solidFill>
                  <a:srgbClr val="2C5F2D"/>
                </a:solidFill>
                <a:latin typeface="Calibri" pitchFamily="34" charset="0"/>
                <a:ea typeface="Calibri" pitchFamily="34" charset="-122"/>
                <a:cs typeface="Calibri" pitchFamily="34" charset="-120"/>
              </a:rPr>
              <a:t>Bien: </a:t>
            </a:r>
            <a:r>
              <a:rPr lang="en-US" sz="1050" i="1" dirty="0">
                <a:solidFill>
                  <a:srgbClr val="1E293B"/>
                </a:solidFill>
                <a:latin typeface="Calibri" pitchFamily="34" charset="0"/>
                <a:ea typeface="Calibri" pitchFamily="34" charset="-122"/>
                <a:cs typeface="Calibri" pitchFamily="34" charset="-120"/>
              </a:rPr>
              <a:t>Incluir requisitos de proceso: normativa MAG, LOPDP, ISO 9001.</a:t>
            </a:r>
            <a:endParaRPr lang="en-US" sz="1050" dirty="0"/>
          </a:p>
        </p:txBody>
      </p:sp>
      <p:sp>
        <p:nvSpPr>
          <p:cNvPr id="29" name="Shape 20"/>
          <p:cNvSpPr/>
          <p:nvPr/>
        </p:nvSpPr>
        <p:spPr>
          <a:xfrm>
            <a:off x="0" y="0"/>
            <a:ext cx="12161520" cy="384048"/>
          </a:xfrm>
          <a:prstGeom prst="rect">
            <a:avLst/>
          </a:prstGeom>
          <a:solidFill>
            <a:srgbClr val="2C5F2D"/>
          </a:solidFill>
          <a:ln w="12700">
            <a:solidFill>
              <a:srgbClr val="2C5F2D"/>
            </a:solidFill>
            <a:prstDash val="solid"/>
          </a:ln>
        </p:spPr>
      </p:sp>
      <p:sp>
        <p:nvSpPr>
          <p:cNvPr id="30" name="Text 21"/>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31" name="Text 22"/>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Errores comunes</a:t>
            </a:r>
            <a:endParaRPr lang="en-US" sz="1000" dirty="0"/>
          </a:p>
        </p:txBody>
      </p:sp>
      <p:sp>
        <p:nvSpPr>
          <p:cNvPr id="32" name="Text 23"/>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33" name="Text 24"/>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24 / 30</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548640"/>
            <a:ext cx="11247120" cy="640080"/>
          </a:xfrm>
          <a:prstGeom prst="rect">
            <a:avLst/>
          </a:prstGeom>
          <a:noFill/>
          <a:ln/>
        </p:spPr>
        <p:txBody>
          <a:bodyPr wrap="square" lIns="0" tIns="0" rIns="0" bIns="0" rtlCol="0" anchor="t"/>
          <a:lstStyle/>
          <a:p>
            <a:pPr marL="0" indent="0" algn="l">
              <a:buNone/>
            </a:pPr>
            <a:r>
              <a:rPr lang="en-US" sz="3000" b="1" dirty="0">
                <a:solidFill>
                  <a:srgbClr val="1E4D8B"/>
                </a:solidFill>
                <a:latin typeface="Cambria" pitchFamily="34" charset="0"/>
                <a:ea typeface="Cambria" pitchFamily="34" charset="-122"/>
                <a:cs typeface="Cambria" pitchFamily="34" charset="-120"/>
              </a:rPr>
              <a:t>Herramientas de apoyo</a:t>
            </a:r>
            <a:endParaRPr lang="en-US" sz="3000" dirty="0"/>
          </a:p>
        </p:txBody>
      </p:sp>
      <p:sp>
        <p:nvSpPr>
          <p:cNvPr id="3" name="Text 1"/>
          <p:cNvSpPr/>
          <p:nvPr/>
        </p:nvSpPr>
        <p:spPr>
          <a:xfrm>
            <a:off x="457200" y="1188720"/>
            <a:ext cx="11247120" cy="365760"/>
          </a:xfrm>
          <a:prstGeom prst="rect">
            <a:avLst/>
          </a:prstGeom>
          <a:noFill/>
          <a:ln/>
        </p:spPr>
        <p:txBody>
          <a:bodyPr wrap="square" lIns="0" tIns="0" rIns="0" bIns="0" rtlCol="0" anchor="t"/>
          <a:lstStyle/>
          <a:p>
            <a:pPr marL="0" indent="0" algn="l">
              <a:buNone/>
            </a:pPr>
            <a:r>
              <a:rPr lang="en-US" sz="1300" i="1" dirty="0">
                <a:solidFill>
                  <a:srgbClr val="475569"/>
                </a:solidFill>
                <a:latin typeface="Calibri" pitchFamily="34" charset="0"/>
                <a:ea typeface="Calibri" pitchFamily="34" charset="-122"/>
                <a:cs typeface="Calibri" pitchFamily="34" charset="-120"/>
              </a:rPr>
              <a:t>Sugerencias para redactar, modelar y gestionar la ERS</a:t>
            </a:r>
            <a:endParaRPr lang="en-US" sz="1300" dirty="0"/>
          </a:p>
        </p:txBody>
      </p:sp>
      <p:sp>
        <p:nvSpPr>
          <p:cNvPr id="4" name="Shape 2"/>
          <p:cNvSpPr/>
          <p:nvPr/>
        </p:nvSpPr>
        <p:spPr>
          <a:xfrm>
            <a:off x="388620" y="1828800"/>
            <a:ext cx="3703320" cy="4572000"/>
          </a:xfrm>
          <a:prstGeom prst="roundRect">
            <a:avLst>
              <a:gd name="adj" fmla="val 2469"/>
            </a:avLst>
          </a:prstGeom>
          <a:solidFill>
            <a:srgbClr val="FFFFFF"/>
          </a:solidFill>
          <a:ln w="12700">
            <a:solidFill>
              <a:srgbClr val="E2E8F0"/>
            </a:solidFill>
            <a:prstDash val="solid"/>
          </a:ln>
          <a:effectLst>
            <a:outerShdw blurRad="76200" dist="25400" dir="5400000" algn="bl" rotWithShape="0">
              <a:srgbClr val="000000">
                <a:alpha val="10000"/>
              </a:srgbClr>
            </a:outerShdw>
          </a:effectLst>
        </p:spPr>
      </p:sp>
      <p:sp>
        <p:nvSpPr>
          <p:cNvPr id="5" name="Shape 3"/>
          <p:cNvSpPr/>
          <p:nvPr/>
        </p:nvSpPr>
        <p:spPr>
          <a:xfrm>
            <a:off x="388620" y="1828800"/>
            <a:ext cx="3703320" cy="1280160"/>
          </a:xfrm>
          <a:prstGeom prst="roundRect">
            <a:avLst>
              <a:gd name="adj" fmla="val 7143"/>
            </a:avLst>
          </a:prstGeom>
          <a:solidFill>
            <a:srgbClr val="2C5F2D"/>
          </a:solidFill>
          <a:ln w="12700">
            <a:solidFill>
              <a:srgbClr val="2C5F2D"/>
            </a:solidFill>
            <a:prstDash val="solid"/>
          </a:ln>
        </p:spPr>
      </p:sp>
      <p:sp>
        <p:nvSpPr>
          <p:cNvPr id="6" name="Shape 4"/>
          <p:cNvSpPr/>
          <p:nvPr/>
        </p:nvSpPr>
        <p:spPr>
          <a:xfrm>
            <a:off x="388620" y="2560320"/>
            <a:ext cx="3703320" cy="548640"/>
          </a:xfrm>
          <a:prstGeom prst="rect">
            <a:avLst/>
          </a:prstGeom>
          <a:solidFill>
            <a:srgbClr val="2C5F2D"/>
          </a:solidFill>
          <a:ln w="12700">
            <a:solidFill>
              <a:srgbClr val="2C5F2D"/>
            </a:solidFill>
            <a:prstDash val="solid"/>
          </a:ln>
        </p:spPr>
      </p:sp>
      <p:sp>
        <p:nvSpPr>
          <p:cNvPr id="7" name="Shape 5"/>
          <p:cNvSpPr/>
          <p:nvPr/>
        </p:nvSpPr>
        <p:spPr>
          <a:xfrm>
            <a:off x="1920240" y="2011680"/>
            <a:ext cx="640080" cy="640080"/>
          </a:xfrm>
          <a:prstGeom prst="ellipse">
            <a:avLst/>
          </a:prstGeom>
          <a:solidFill>
            <a:srgbClr val="FFFFFF">
              <a:alpha val="80000"/>
            </a:srgbClr>
          </a:solidFill>
          <a:ln w="12700">
            <a:solidFill>
              <a:srgbClr val="FFFFFF"/>
            </a:solidFill>
            <a:prstDash val="solid"/>
          </a:ln>
        </p:spPr>
      </p:sp>
      <p:pic>
        <p:nvPicPr>
          <p:cNvPr id="8" name="Image 0" descr="preencoded.png"/>
          <p:cNvPicPr>
            <a:picLocks noChangeAspect="1"/>
          </p:cNvPicPr>
          <p:nvPr/>
        </p:nvPicPr>
        <p:blipFill>
          <a:blip r:embed="rId3"/>
          <a:stretch>
            <a:fillRect/>
          </a:stretch>
        </p:blipFill>
        <p:spPr>
          <a:xfrm>
            <a:off x="2039112" y="2121408"/>
            <a:ext cx="402336" cy="402336"/>
          </a:xfrm>
          <a:prstGeom prst="rect">
            <a:avLst/>
          </a:prstGeom>
        </p:spPr>
      </p:pic>
      <p:sp>
        <p:nvSpPr>
          <p:cNvPr id="9" name="Text 6"/>
          <p:cNvSpPr/>
          <p:nvPr/>
        </p:nvSpPr>
        <p:spPr>
          <a:xfrm>
            <a:off x="388620" y="2697480"/>
            <a:ext cx="370332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Redacción de ERS</a:t>
            </a:r>
            <a:endParaRPr lang="en-US" sz="1600" dirty="0"/>
          </a:p>
        </p:txBody>
      </p:sp>
      <p:sp>
        <p:nvSpPr>
          <p:cNvPr id="10" name="Text 7"/>
          <p:cNvSpPr/>
          <p:nvPr/>
        </p:nvSpPr>
        <p:spPr>
          <a:xfrm>
            <a:off x="708660" y="3383280"/>
            <a:ext cx="3200400" cy="2834640"/>
          </a:xfrm>
          <a:prstGeom prst="rect">
            <a:avLst/>
          </a:prstGeom>
          <a:noFill/>
          <a:ln/>
        </p:spPr>
        <p:txBody>
          <a:bodyPr wrap="square" rtlCol="0" anchor="t"/>
          <a:lstStyle/>
          <a:p>
            <a:pPr marL="342900" indent="-342900" algn="l">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LaTeX (plantilla institucional UTEQ)</a:t>
            </a:r>
            <a:endParaRPr lang="en-US" sz="1200" dirty="0"/>
          </a:p>
          <a:p>
            <a:pPr marL="342900" indent="-342900" algn="l">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Word 365 con estilos IEEE</a:t>
            </a:r>
            <a:endParaRPr lang="en-US" sz="1200" dirty="0"/>
          </a:p>
          <a:p>
            <a:pPr marL="342900" indent="-342900" algn="l">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Overleaf para trabajo colaborativo</a:t>
            </a:r>
            <a:endParaRPr lang="en-US" sz="1200" dirty="0"/>
          </a:p>
          <a:p>
            <a:pPr marL="342900" indent="-342900" algn="l">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Markdown + Pandoc para versionado</a:t>
            </a:r>
            <a:endParaRPr lang="en-US" sz="1200" dirty="0"/>
          </a:p>
        </p:txBody>
      </p:sp>
      <p:sp>
        <p:nvSpPr>
          <p:cNvPr id="11" name="Shape 8"/>
          <p:cNvSpPr/>
          <p:nvPr/>
        </p:nvSpPr>
        <p:spPr>
          <a:xfrm>
            <a:off x="4229100" y="1828800"/>
            <a:ext cx="3703320" cy="4572000"/>
          </a:xfrm>
          <a:prstGeom prst="roundRect">
            <a:avLst>
              <a:gd name="adj" fmla="val 2469"/>
            </a:avLst>
          </a:prstGeom>
          <a:solidFill>
            <a:srgbClr val="FFFFFF"/>
          </a:solidFill>
          <a:ln w="12700">
            <a:solidFill>
              <a:srgbClr val="E2E8F0"/>
            </a:solidFill>
            <a:prstDash val="solid"/>
          </a:ln>
          <a:effectLst>
            <a:outerShdw blurRad="76200" dist="25400" dir="5400000" algn="bl" rotWithShape="0">
              <a:srgbClr val="000000">
                <a:alpha val="10000"/>
              </a:srgbClr>
            </a:outerShdw>
          </a:effectLst>
        </p:spPr>
      </p:sp>
      <p:sp>
        <p:nvSpPr>
          <p:cNvPr id="12" name="Shape 9"/>
          <p:cNvSpPr/>
          <p:nvPr/>
        </p:nvSpPr>
        <p:spPr>
          <a:xfrm>
            <a:off x="4229100" y="1828800"/>
            <a:ext cx="3703320" cy="1280160"/>
          </a:xfrm>
          <a:prstGeom prst="roundRect">
            <a:avLst>
              <a:gd name="adj" fmla="val 7143"/>
            </a:avLst>
          </a:prstGeom>
          <a:solidFill>
            <a:srgbClr val="1E4D8B"/>
          </a:solidFill>
          <a:ln w="12700">
            <a:solidFill>
              <a:srgbClr val="1E4D8B"/>
            </a:solidFill>
            <a:prstDash val="solid"/>
          </a:ln>
        </p:spPr>
      </p:sp>
      <p:sp>
        <p:nvSpPr>
          <p:cNvPr id="13" name="Shape 10"/>
          <p:cNvSpPr/>
          <p:nvPr/>
        </p:nvSpPr>
        <p:spPr>
          <a:xfrm>
            <a:off x="4229100" y="2560320"/>
            <a:ext cx="3703320" cy="548640"/>
          </a:xfrm>
          <a:prstGeom prst="rect">
            <a:avLst/>
          </a:prstGeom>
          <a:solidFill>
            <a:srgbClr val="1E4D8B"/>
          </a:solidFill>
          <a:ln w="12700">
            <a:solidFill>
              <a:srgbClr val="1E4D8B"/>
            </a:solidFill>
            <a:prstDash val="solid"/>
          </a:ln>
        </p:spPr>
      </p:sp>
      <p:sp>
        <p:nvSpPr>
          <p:cNvPr id="14" name="Shape 11"/>
          <p:cNvSpPr/>
          <p:nvPr/>
        </p:nvSpPr>
        <p:spPr>
          <a:xfrm>
            <a:off x="5760720" y="2011680"/>
            <a:ext cx="640080" cy="640080"/>
          </a:xfrm>
          <a:prstGeom prst="ellipse">
            <a:avLst/>
          </a:prstGeom>
          <a:solidFill>
            <a:srgbClr val="FFFFFF">
              <a:alpha val="80000"/>
            </a:srgbClr>
          </a:solidFill>
          <a:ln w="12700">
            <a:solidFill>
              <a:srgbClr val="FFFFFF"/>
            </a:solidFill>
            <a:prstDash val="solid"/>
          </a:ln>
        </p:spPr>
      </p:sp>
      <p:pic>
        <p:nvPicPr>
          <p:cNvPr id="15" name="Image 1" descr="preencoded.png"/>
          <p:cNvPicPr>
            <a:picLocks noChangeAspect="1"/>
          </p:cNvPicPr>
          <p:nvPr/>
        </p:nvPicPr>
        <p:blipFill>
          <a:blip r:embed="rId4"/>
          <a:stretch>
            <a:fillRect/>
          </a:stretch>
        </p:blipFill>
        <p:spPr>
          <a:xfrm>
            <a:off x="5879592" y="2121408"/>
            <a:ext cx="402336" cy="402336"/>
          </a:xfrm>
          <a:prstGeom prst="rect">
            <a:avLst/>
          </a:prstGeom>
        </p:spPr>
      </p:pic>
      <p:sp>
        <p:nvSpPr>
          <p:cNvPr id="16" name="Text 12"/>
          <p:cNvSpPr/>
          <p:nvPr/>
        </p:nvSpPr>
        <p:spPr>
          <a:xfrm>
            <a:off x="4229100" y="2697480"/>
            <a:ext cx="370332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Modelado UML</a:t>
            </a:r>
            <a:endParaRPr lang="en-US" sz="1600" dirty="0"/>
          </a:p>
        </p:txBody>
      </p:sp>
      <p:sp>
        <p:nvSpPr>
          <p:cNvPr id="17" name="Text 13"/>
          <p:cNvSpPr/>
          <p:nvPr/>
        </p:nvSpPr>
        <p:spPr>
          <a:xfrm>
            <a:off x="4549140" y="3383280"/>
            <a:ext cx="3200400" cy="2834640"/>
          </a:xfrm>
          <a:prstGeom prst="rect">
            <a:avLst/>
          </a:prstGeom>
          <a:noFill/>
          <a:ln/>
        </p:spPr>
        <p:txBody>
          <a:bodyPr wrap="square" rtlCol="0" anchor="t"/>
          <a:lstStyle/>
          <a:p>
            <a:pPr marL="342900" indent="-342900" algn="l">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StarUML - notación completa OMG 2.5.1</a:t>
            </a:r>
            <a:endParaRPr lang="en-US" sz="1200" dirty="0"/>
          </a:p>
          <a:p>
            <a:pPr marL="342900" indent="-342900" algn="l">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Enterprise Architect (comercial)</a:t>
            </a:r>
            <a:endParaRPr lang="en-US" sz="1200" dirty="0"/>
          </a:p>
          <a:p>
            <a:pPr marL="342900" indent="-342900" algn="l">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PlantUML - texto a diagrama</a:t>
            </a:r>
            <a:endParaRPr lang="en-US" sz="1200" dirty="0"/>
          </a:p>
          <a:p>
            <a:pPr marL="342900" indent="-342900" algn="l">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Draw.io - libre, exportable</a:t>
            </a:r>
            <a:endParaRPr lang="en-US" sz="1200" dirty="0"/>
          </a:p>
        </p:txBody>
      </p:sp>
      <p:sp>
        <p:nvSpPr>
          <p:cNvPr id="18" name="Shape 14"/>
          <p:cNvSpPr/>
          <p:nvPr/>
        </p:nvSpPr>
        <p:spPr>
          <a:xfrm>
            <a:off x="8069580" y="1828800"/>
            <a:ext cx="3703320" cy="4572000"/>
          </a:xfrm>
          <a:prstGeom prst="roundRect">
            <a:avLst>
              <a:gd name="adj" fmla="val 2469"/>
            </a:avLst>
          </a:prstGeom>
          <a:solidFill>
            <a:srgbClr val="FFFFFF"/>
          </a:solidFill>
          <a:ln w="12700">
            <a:solidFill>
              <a:srgbClr val="E2E8F0"/>
            </a:solidFill>
            <a:prstDash val="solid"/>
          </a:ln>
          <a:effectLst>
            <a:outerShdw blurRad="76200" dist="25400" dir="5400000" algn="bl" rotWithShape="0">
              <a:srgbClr val="000000">
                <a:alpha val="10000"/>
              </a:srgbClr>
            </a:outerShdw>
          </a:effectLst>
        </p:spPr>
      </p:sp>
      <p:sp>
        <p:nvSpPr>
          <p:cNvPr id="19" name="Shape 15"/>
          <p:cNvSpPr/>
          <p:nvPr/>
        </p:nvSpPr>
        <p:spPr>
          <a:xfrm>
            <a:off x="8069580" y="1828800"/>
            <a:ext cx="3703320" cy="1280160"/>
          </a:xfrm>
          <a:prstGeom prst="roundRect">
            <a:avLst>
              <a:gd name="adj" fmla="val 7143"/>
            </a:avLst>
          </a:prstGeom>
          <a:solidFill>
            <a:srgbClr val="D4A017"/>
          </a:solidFill>
          <a:ln w="12700">
            <a:solidFill>
              <a:srgbClr val="D4A017"/>
            </a:solidFill>
            <a:prstDash val="solid"/>
          </a:ln>
        </p:spPr>
      </p:sp>
      <p:sp>
        <p:nvSpPr>
          <p:cNvPr id="20" name="Shape 16"/>
          <p:cNvSpPr/>
          <p:nvPr/>
        </p:nvSpPr>
        <p:spPr>
          <a:xfrm>
            <a:off x="8069580" y="2560320"/>
            <a:ext cx="3703320" cy="548640"/>
          </a:xfrm>
          <a:prstGeom prst="rect">
            <a:avLst/>
          </a:prstGeom>
          <a:solidFill>
            <a:srgbClr val="D4A017"/>
          </a:solidFill>
          <a:ln w="12700">
            <a:solidFill>
              <a:srgbClr val="D4A017"/>
            </a:solidFill>
            <a:prstDash val="solid"/>
          </a:ln>
        </p:spPr>
      </p:sp>
      <p:sp>
        <p:nvSpPr>
          <p:cNvPr id="21" name="Shape 17"/>
          <p:cNvSpPr/>
          <p:nvPr/>
        </p:nvSpPr>
        <p:spPr>
          <a:xfrm>
            <a:off x="9601200" y="2011680"/>
            <a:ext cx="640080" cy="640080"/>
          </a:xfrm>
          <a:prstGeom prst="ellipse">
            <a:avLst/>
          </a:prstGeom>
          <a:solidFill>
            <a:srgbClr val="FFFFFF">
              <a:alpha val="80000"/>
            </a:srgbClr>
          </a:solidFill>
          <a:ln w="12700">
            <a:solidFill>
              <a:srgbClr val="FFFFFF"/>
            </a:solidFill>
            <a:prstDash val="solid"/>
          </a:ln>
        </p:spPr>
      </p:sp>
      <p:pic>
        <p:nvPicPr>
          <p:cNvPr id="22" name="Image 2" descr="preencoded.png"/>
          <p:cNvPicPr>
            <a:picLocks noChangeAspect="1"/>
          </p:cNvPicPr>
          <p:nvPr/>
        </p:nvPicPr>
        <p:blipFill>
          <a:blip r:embed="rId5"/>
          <a:stretch>
            <a:fillRect/>
          </a:stretch>
        </p:blipFill>
        <p:spPr>
          <a:xfrm>
            <a:off x="9720072" y="2121408"/>
            <a:ext cx="402336" cy="402336"/>
          </a:xfrm>
          <a:prstGeom prst="rect">
            <a:avLst/>
          </a:prstGeom>
        </p:spPr>
      </p:pic>
      <p:sp>
        <p:nvSpPr>
          <p:cNvPr id="23" name="Text 18"/>
          <p:cNvSpPr/>
          <p:nvPr/>
        </p:nvSpPr>
        <p:spPr>
          <a:xfrm>
            <a:off x="8069580" y="2697480"/>
            <a:ext cx="370332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Gestión de requisitos</a:t>
            </a:r>
            <a:endParaRPr lang="en-US" sz="1600" dirty="0"/>
          </a:p>
        </p:txBody>
      </p:sp>
      <p:sp>
        <p:nvSpPr>
          <p:cNvPr id="24" name="Text 19"/>
          <p:cNvSpPr/>
          <p:nvPr/>
        </p:nvSpPr>
        <p:spPr>
          <a:xfrm>
            <a:off x="8389620" y="3383280"/>
            <a:ext cx="3200400" cy="2834640"/>
          </a:xfrm>
          <a:prstGeom prst="rect">
            <a:avLst/>
          </a:prstGeom>
          <a:noFill/>
          <a:ln/>
        </p:spPr>
        <p:txBody>
          <a:bodyPr wrap="square" rtlCol="0" anchor="t"/>
          <a:lstStyle/>
          <a:p>
            <a:pPr marL="342900" indent="-342900" algn="l">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IBM DOORS Next (industria)</a:t>
            </a:r>
            <a:endParaRPr lang="en-US" sz="1200" dirty="0"/>
          </a:p>
          <a:p>
            <a:pPr marL="342900" indent="-342900" algn="l">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Jira + Xray (equipos agiles)</a:t>
            </a:r>
            <a:endParaRPr lang="en-US" sz="1200" dirty="0"/>
          </a:p>
          <a:p>
            <a:pPr marL="342900" indent="-342900" algn="l">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Azure DevOps Requirements Management</a:t>
            </a:r>
            <a:endParaRPr lang="en-US" sz="1200" dirty="0"/>
          </a:p>
          <a:p>
            <a:pPr marL="342900" indent="-342900" algn="l">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ReqIF - estándar OMG de intercambio</a:t>
            </a:r>
            <a:endParaRPr lang="en-US" sz="1200" dirty="0"/>
          </a:p>
        </p:txBody>
      </p:sp>
      <p:sp>
        <p:nvSpPr>
          <p:cNvPr id="26" name="Shape 20"/>
          <p:cNvSpPr/>
          <p:nvPr/>
        </p:nvSpPr>
        <p:spPr>
          <a:xfrm>
            <a:off x="0" y="0"/>
            <a:ext cx="12161520" cy="384048"/>
          </a:xfrm>
          <a:prstGeom prst="rect">
            <a:avLst/>
          </a:prstGeom>
          <a:solidFill>
            <a:srgbClr val="2C5F2D"/>
          </a:solidFill>
          <a:ln w="12700">
            <a:solidFill>
              <a:srgbClr val="2C5F2D"/>
            </a:solidFill>
            <a:prstDash val="solid"/>
          </a:ln>
        </p:spPr>
      </p:sp>
      <p:sp>
        <p:nvSpPr>
          <p:cNvPr id="27" name="Text 21"/>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28" name="Text 22"/>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Herramientas</a:t>
            </a:r>
            <a:endParaRPr lang="en-US" sz="1000" dirty="0"/>
          </a:p>
        </p:txBody>
      </p:sp>
      <p:sp>
        <p:nvSpPr>
          <p:cNvPr id="29" name="Text 23"/>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30" name="Text 24"/>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25 / 30</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548640"/>
            <a:ext cx="11247120" cy="640080"/>
          </a:xfrm>
          <a:prstGeom prst="rect">
            <a:avLst/>
          </a:prstGeom>
          <a:noFill/>
          <a:ln/>
        </p:spPr>
        <p:txBody>
          <a:bodyPr wrap="square" lIns="0" tIns="0" rIns="0" bIns="0" rtlCol="0" anchor="t"/>
          <a:lstStyle/>
          <a:p>
            <a:pPr marL="0" indent="0" algn="l">
              <a:buNone/>
            </a:pPr>
            <a:r>
              <a:rPr lang="en-US" sz="3000" b="1" dirty="0">
                <a:solidFill>
                  <a:srgbClr val="1E4D8B"/>
                </a:solidFill>
                <a:latin typeface="Cambria" pitchFamily="34" charset="0"/>
                <a:ea typeface="Cambria" pitchFamily="34" charset="-122"/>
                <a:cs typeface="Cambria" pitchFamily="34" charset="-120"/>
              </a:rPr>
              <a:t>Mapeo con la evaluación del PFC</a:t>
            </a:r>
            <a:endParaRPr lang="en-US" sz="3000" dirty="0"/>
          </a:p>
        </p:txBody>
      </p:sp>
      <p:sp>
        <p:nvSpPr>
          <p:cNvPr id="3" name="Text 1"/>
          <p:cNvSpPr/>
          <p:nvPr/>
        </p:nvSpPr>
        <p:spPr>
          <a:xfrm>
            <a:off x="457200" y="1188720"/>
            <a:ext cx="11247120" cy="365760"/>
          </a:xfrm>
          <a:prstGeom prst="rect">
            <a:avLst/>
          </a:prstGeom>
          <a:noFill/>
          <a:ln/>
        </p:spPr>
        <p:txBody>
          <a:bodyPr wrap="square" lIns="0" tIns="0" rIns="0" bIns="0" rtlCol="0" anchor="t"/>
          <a:lstStyle/>
          <a:p>
            <a:pPr marL="0" indent="0" algn="l">
              <a:buNone/>
            </a:pPr>
            <a:r>
              <a:rPr lang="en-US" sz="1300" i="1" dirty="0">
                <a:solidFill>
                  <a:srgbClr val="475569"/>
                </a:solidFill>
                <a:latin typeface="Calibri" pitchFamily="34" charset="0"/>
                <a:ea typeface="Calibri" pitchFamily="34" charset="-122"/>
                <a:cs typeface="Calibri" pitchFamily="34" charset="-120"/>
              </a:rPr>
              <a:t>Qué se pide en cada entrega y cómo esta unidad lo prepara</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4712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gridCol w="3474720">
                  <a:extLst>
                    <a:ext uri="{9D8B030D-6E8A-4147-A177-3AD203B41FA5}">
                      <a16:colId xmlns:a16="http://schemas.microsoft.com/office/drawing/2014/main" val="20004"/>
                    </a:ext>
                  </a:extLst>
                </a:gridCol>
              </a:tblGrid>
              <a:tr h="77724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Entrega</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C5F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Semana</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C5F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Artefacto principal</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C5F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Subtemas U3 involucrados</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C5F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Modelos UML esperados</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777240">
                <a:tc>
                  <a:txBody>
                    <a:bodyPr/>
                    <a:lstStyle/>
                    <a:p>
                      <a:pPr marL="0" indent="0" algn="ctr">
                        <a:buNone/>
                      </a:pPr>
                      <a:r>
                        <a:rPr lang="en-US" sz="1200" b="1" dirty="0">
                          <a:solidFill>
                            <a:srgbClr val="1E4D8B"/>
                          </a:solidFill>
                          <a:latin typeface="Calibri" pitchFamily="34" charset="0"/>
                          <a:ea typeface="Calibri" pitchFamily="34" charset="-122"/>
                          <a:cs typeface="Calibri" pitchFamily="34" charset="-120"/>
                        </a:rPr>
                        <a:t>1B</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100" dirty="0">
                          <a:solidFill>
                            <a:srgbClr val="1E293B"/>
                          </a:solidFill>
                          <a:latin typeface="Calibri" pitchFamily="34" charset="0"/>
                          <a:ea typeface="Calibri" pitchFamily="34" charset="-122"/>
                          <a:cs typeface="Calibri" pitchFamily="34" charset="-120"/>
                        </a:rPr>
                        <a:t>ERS parcial (introducción, RF, RNF iniciales)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C5F2D"/>
                          </a:solidFill>
                          <a:latin typeface="Calibri" pitchFamily="34" charset="0"/>
                          <a:ea typeface="Calibri" pitchFamily="34" charset="-122"/>
                          <a:cs typeface="Calibri" pitchFamily="34" charset="-120"/>
                        </a:rPr>
                        <a:t>8.1 - 8.2 - 8.3 - 8.4 - 9.1 - 9.2 - 9.3</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100" dirty="0">
                          <a:solidFill>
                            <a:srgbClr val="1E293B"/>
                          </a:solidFill>
                          <a:latin typeface="Calibri" pitchFamily="34" charset="0"/>
                          <a:ea typeface="Calibri" pitchFamily="34" charset="-122"/>
                          <a:cs typeface="Calibri" pitchFamily="34" charset="-120"/>
                        </a:rPr>
                        <a:t>Casos de uso + Clases conceptual</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777240">
                <a:tc>
                  <a:txBody>
                    <a:bodyPr/>
                    <a:lstStyle/>
                    <a:p>
                      <a:pPr marL="0" indent="0" algn="ctr">
                        <a:buNone/>
                      </a:pPr>
                      <a:r>
                        <a:rPr lang="en-US" sz="1200" b="1" dirty="0">
                          <a:solidFill>
                            <a:srgbClr val="1E4D8B"/>
                          </a:solidFill>
                          <a:latin typeface="Calibri" pitchFamily="34" charset="0"/>
                          <a:ea typeface="Calibri" pitchFamily="34" charset="-122"/>
                          <a:cs typeface="Calibri" pitchFamily="34" charset="-120"/>
                        </a:rPr>
                        <a:t>2A</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E293B"/>
                          </a:solidFill>
                          <a:latin typeface="Calibri" pitchFamily="34" charset="0"/>
                          <a:ea typeface="Calibri" pitchFamily="34" charset="-122"/>
                          <a:cs typeface="Calibri" pitchFamily="34" charset="-120"/>
                        </a:rPr>
                        <a:t>ERS completa + modelos UML refinados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5F2D"/>
                          </a:solidFill>
                          <a:latin typeface="Calibri" pitchFamily="34" charset="0"/>
                          <a:ea typeface="Calibri" pitchFamily="34" charset="-122"/>
                          <a:cs typeface="Calibri" pitchFamily="34" charset="-120"/>
                        </a:rPr>
                        <a:t>Todo el Tema 10 - refuerzo 9.4</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E293B"/>
                          </a:solidFill>
                          <a:latin typeface="Calibri" pitchFamily="34" charset="0"/>
                          <a:ea typeface="Calibri" pitchFamily="34" charset="-122"/>
                          <a:cs typeface="Calibri" pitchFamily="34" charset="-120"/>
                        </a:rPr>
                        <a:t>Clases con métodos + 5 secuencia + 2 estados + 3 actividad</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lgn="ctr">
                        <a:buNone/>
                      </a:pPr>
                      <a:r>
                        <a:rPr lang="en-US" sz="1200" b="1" dirty="0">
                          <a:solidFill>
                            <a:srgbClr val="1E4D8B"/>
                          </a:solidFill>
                          <a:latin typeface="Calibri" pitchFamily="34" charset="0"/>
                          <a:ea typeface="Calibri" pitchFamily="34" charset="-122"/>
                          <a:cs typeface="Calibri" pitchFamily="34" charset="-120"/>
                        </a:rPr>
                        <a:t>2B</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100" dirty="0">
                          <a:solidFill>
                            <a:srgbClr val="1E293B"/>
                          </a:solidFill>
                          <a:latin typeface="Calibri" pitchFamily="34" charset="0"/>
                          <a:ea typeface="Calibri" pitchFamily="34" charset="-122"/>
                          <a:cs typeface="Calibri" pitchFamily="34" charset="-120"/>
                        </a:rPr>
                        <a:t>Defensa del ERS ante tribunal</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100" dirty="0">
                          <a:solidFill>
                            <a:srgbClr val="2C5F2D"/>
                          </a:solidFill>
                          <a:latin typeface="Calibri" pitchFamily="34" charset="0"/>
                          <a:ea typeface="Calibri" pitchFamily="34" charset="-122"/>
                          <a:cs typeface="Calibri" pitchFamily="34" charset="-120"/>
                        </a:rPr>
                        <a:t>Síntesis Unidad 3 + Unidades 4 y 5</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l">
                        <a:buNone/>
                      </a:pPr>
                      <a:r>
                        <a:rPr lang="en-US" sz="1100" dirty="0">
                          <a:solidFill>
                            <a:srgbClr val="1E293B"/>
                          </a:solidFill>
                          <a:latin typeface="Calibri" pitchFamily="34" charset="0"/>
                          <a:ea typeface="Calibri" pitchFamily="34" charset="-122"/>
                          <a:cs typeface="Calibri" pitchFamily="34" charset="-120"/>
                        </a:rPr>
                        <a:t>Todos los anteriores + trazabilidad</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bl>
          </a:graphicData>
        </a:graphic>
      </p:graphicFrame>
      <p:sp>
        <p:nvSpPr>
          <p:cNvPr id="5" name="Shape 2"/>
          <p:cNvSpPr/>
          <p:nvPr/>
        </p:nvSpPr>
        <p:spPr>
          <a:xfrm>
            <a:off x="457200" y="5120640"/>
            <a:ext cx="11247120" cy="1280160"/>
          </a:xfrm>
          <a:prstGeom prst="roundRect">
            <a:avLst>
              <a:gd name="adj" fmla="val 7143"/>
            </a:avLst>
          </a:prstGeom>
          <a:solidFill>
            <a:srgbClr val="F8FAFC"/>
          </a:solidFill>
          <a:ln w="19050">
            <a:solidFill>
              <a:srgbClr val="D4A017"/>
            </a:solidFill>
            <a:prstDash val="solid"/>
          </a:ln>
        </p:spPr>
      </p:sp>
      <p:sp>
        <p:nvSpPr>
          <p:cNvPr id="6" name="Text 3"/>
          <p:cNvSpPr/>
          <p:nvPr/>
        </p:nvSpPr>
        <p:spPr>
          <a:xfrm>
            <a:off x="640080" y="5212080"/>
            <a:ext cx="10881360" cy="365760"/>
          </a:xfrm>
          <a:prstGeom prst="rect">
            <a:avLst/>
          </a:prstGeom>
          <a:noFill/>
          <a:ln/>
        </p:spPr>
        <p:txBody>
          <a:bodyPr wrap="square" lIns="0" tIns="0" rIns="0" bIns="0" rtlCol="0" anchor="ctr"/>
          <a:lstStyle/>
          <a:p>
            <a:pPr marL="0" indent="0" algn="l">
              <a:buNone/>
            </a:pPr>
            <a:r>
              <a:rPr lang="en-US" sz="1400" b="1" dirty="0">
                <a:solidFill>
                  <a:srgbClr val="D4A017"/>
                </a:solidFill>
                <a:latin typeface="Cambria" pitchFamily="34" charset="0"/>
                <a:ea typeface="Cambria" pitchFamily="34" charset="-122"/>
                <a:cs typeface="Cambria" pitchFamily="34" charset="-120"/>
              </a:rPr>
              <a:t>Rubricas asociadas</a:t>
            </a:r>
            <a:endParaRPr lang="en-US" sz="1400" dirty="0"/>
          </a:p>
        </p:txBody>
      </p:sp>
      <p:sp>
        <p:nvSpPr>
          <p:cNvPr id="7" name="Text 4"/>
          <p:cNvSpPr/>
          <p:nvPr/>
        </p:nvSpPr>
        <p:spPr>
          <a:xfrm>
            <a:off x="777240" y="5532120"/>
            <a:ext cx="10607040" cy="822960"/>
          </a:xfrm>
          <a:prstGeom prst="rect">
            <a:avLst/>
          </a:prstGeom>
          <a:noFill/>
          <a:ln/>
        </p:spPr>
        <p:txBody>
          <a:bodyPr wrap="square" lIns="0" tIns="0" rIns="0" bIns="0" rtlCol="0" anchor="t"/>
          <a:lstStyle/>
          <a:p>
            <a:pPr marL="0" indent="0" algn="l">
              <a:buNone/>
            </a:pPr>
            <a:r>
              <a:rPr lang="en-US" sz="1100" b="1" dirty="0">
                <a:solidFill>
                  <a:srgbClr val="1E4D8B"/>
                </a:solidFill>
                <a:latin typeface="Calibri" pitchFamily="34" charset="0"/>
                <a:ea typeface="Calibri" pitchFamily="34" charset="-122"/>
                <a:cs typeface="Calibri" pitchFamily="34" charset="-120"/>
              </a:rPr>
              <a:t>Guia_Rubrica_PFC_Entrega2_1B.pdf</a:t>
            </a:r>
            <a:r>
              <a:rPr lang="en-US" sz="1100" dirty="0">
                <a:solidFill>
                  <a:srgbClr val="1E293B"/>
                </a:solidFill>
                <a:latin typeface="Calibri" pitchFamily="34" charset="0"/>
                <a:ea typeface="Calibri" pitchFamily="34" charset="-122"/>
                <a:cs typeface="Calibri" pitchFamily="34" charset="-120"/>
              </a:rPr>
              <a:t> (10 criterios C1-C10 en tres bloques Pohl: Contexto 2.0 pts, Requisitos 6.0 pts, Proceso 2.0 pts).</a:t>
            </a:r>
            <a:endParaRPr lang="en-US" sz="1100" dirty="0"/>
          </a:p>
          <a:p>
            <a:pPr marL="0" indent="0" algn="l">
              <a:buNone/>
            </a:pPr>
            <a:r>
              <a:rPr lang="en-US" sz="1100" b="1" dirty="0">
                <a:solidFill>
                  <a:srgbClr val="1E4D8B"/>
                </a:solidFill>
                <a:latin typeface="Calibri" pitchFamily="34" charset="0"/>
                <a:ea typeface="Calibri" pitchFamily="34" charset="-122"/>
                <a:cs typeface="Calibri" pitchFamily="34" charset="-120"/>
              </a:rPr>
              <a:t>Guia_Rubrica_PFCl_CasosUso_UserStories.pdf</a:t>
            </a:r>
            <a:r>
              <a:rPr lang="en-US" sz="1100" dirty="0">
                <a:solidFill>
                  <a:srgbClr val="1E293B"/>
                </a:solidFill>
                <a:latin typeface="Calibri" pitchFamily="34" charset="0"/>
                <a:ea typeface="Calibri" pitchFamily="34" charset="-122"/>
                <a:cs typeface="Calibri" pitchFamily="34" charset="-120"/>
              </a:rPr>
              <a:t> (fichas UC expandidas + historias INVEST con criterios BDD).</a:t>
            </a:r>
            <a:endParaRPr lang="en-US" sz="1100" dirty="0"/>
          </a:p>
          <a:p>
            <a:pPr marL="0" indent="0" algn="l">
              <a:buNone/>
            </a:pPr>
            <a:r>
              <a:rPr lang="en-US" sz="1100" b="1" dirty="0">
                <a:solidFill>
                  <a:srgbClr val="1E4D8B"/>
                </a:solidFill>
                <a:latin typeface="Calibri" pitchFamily="34" charset="0"/>
                <a:ea typeface="Calibri" pitchFamily="34" charset="-122"/>
                <a:cs typeface="Calibri" pitchFamily="34" charset="-120"/>
              </a:rPr>
              <a:t>Rubrica_Exposición_HAIR_ISR401.pdf</a:t>
            </a:r>
            <a:r>
              <a:rPr lang="en-US" sz="1100" dirty="0">
                <a:solidFill>
                  <a:srgbClr val="1E293B"/>
                </a:solidFill>
                <a:latin typeface="Calibri" pitchFamily="34" charset="0"/>
                <a:ea typeface="Calibri" pitchFamily="34" charset="-122"/>
                <a:cs typeface="Calibri" pitchFamily="34" charset="-120"/>
              </a:rPr>
              <a:t> (exposición técnica: honestidad, autoria, integridad, replicabilidad).</a:t>
            </a:r>
            <a:endParaRPr lang="en-US" sz="1100" dirty="0"/>
          </a:p>
        </p:txBody>
      </p:sp>
      <p:sp>
        <p:nvSpPr>
          <p:cNvPr id="9" name="Shape 5"/>
          <p:cNvSpPr/>
          <p:nvPr/>
        </p:nvSpPr>
        <p:spPr>
          <a:xfrm>
            <a:off x="0" y="0"/>
            <a:ext cx="12161520" cy="384048"/>
          </a:xfrm>
          <a:prstGeom prst="rect">
            <a:avLst/>
          </a:prstGeom>
          <a:solidFill>
            <a:srgbClr val="2C5F2D"/>
          </a:solidFill>
          <a:ln w="12700">
            <a:solidFill>
              <a:srgbClr val="2C5F2D"/>
            </a:solidFill>
            <a:prstDash val="solid"/>
          </a:ln>
        </p:spPr>
      </p:sp>
      <p:sp>
        <p:nvSpPr>
          <p:cNvPr id="10" name="Text 6"/>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11" name="Text 7"/>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Mapeo PFC</a:t>
            </a:r>
            <a:endParaRPr lang="en-US" sz="1000" dirty="0"/>
          </a:p>
        </p:txBody>
      </p:sp>
      <p:sp>
        <p:nvSpPr>
          <p:cNvPr id="12" name="Text 8"/>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13" name="Text 9"/>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26 / 30</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548640"/>
            <a:ext cx="11247120" cy="640080"/>
          </a:xfrm>
          <a:prstGeom prst="rect">
            <a:avLst/>
          </a:prstGeom>
          <a:noFill/>
          <a:ln/>
        </p:spPr>
        <p:txBody>
          <a:bodyPr wrap="square" lIns="0" tIns="0" rIns="0" bIns="0" rtlCol="0" anchor="t"/>
          <a:lstStyle/>
          <a:p>
            <a:pPr marL="0" indent="0" algn="l">
              <a:buNone/>
            </a:pPr>
            <a:r>
              <a:rPr lang="en-US" sz="3000" b="1" dirty="0">
                <a:solidFill>
                  <a:srgbClr val="1E4D8B"/>
                </a:solidFill>
                <a:latin typeface="Cambria" pitchFamily="34" charset="0"/>
                <a:ea typeface="Cambria" pitchFamily="34" charset="-122"/>
                <a:cs typeface="Cambria" pitchFamily="34" charset="-120"/>
              </a:rPr>
              <a:t>Ejemplos por PFC de la cohorte</a:t>
            </a:r>
            <a:endParaRPr lang="en-US" sz="3000" dirty="0"/>
          </a:p>
        </p:txBody>
      </p:sp>
      <p:sp>
        <p:nvSpPr>
          <p:cNvPr id="3" name="Text 1"/>
          <p:cNvSpPr/>
          <p:nvPr/>
        </p:nvSpPr>
        <p:spPr>
          <a:xfrm>
            <a:off x="457200" y="1188720"/>
            <a:ext cx="11247120" cy="365760"/>
          </a:xfrm>
          <a:prstGeom prst="rect">
            <a:avLst/>
          </a:prstGeom>
          <a:noFill/>
          <a:ln/>
        </p:spPr>
        <p:txBody>
          <a:bodyPr wrap="square" lIns="0" tIns="0" rIns="0" bIns="0" rtlCol="0" anchor="t"/>
          <a:lstStyle/>
          <a:p>
            <a:pPr marL="0" indent="0" algn="l">
              <a:buNone/>
            </a:pPr>
            <a:r>
              <a:rPr lang="en-US" sz="1300" i="1" dirty="0">
                <a:solidFill>
                  <a:srgbClr val="475569"/>
                </a:solidFill>
                <a:latin typeface="Calibri" pitchFamily="34" charset="0"/>
                <a:ea typeface="Calibri" pitchFamily="34" charset="-122"/>
                <a:cs typeface="Calibri" pitchFamily="34" charset="-120"/>
              </a:rPr>
              <a:t>Cómo se materializan los conceptos en cada proyecto</a:t>
            </a:r>
            <a:endParaRPr lang="en-US" sz="1300" dirty="0"/>
          </a:p>
        </p:txBody>
      </p:sp>
      <p:sp>
        <p:nvSpPr>
          <p:cNvPr id="4" name="Shape 2"/>
          <p:cNvSpPr/>
          <p:nvPr/>
        </p:nvSpPr>
        <p:spPr>
          <a:xfrm>
            <a:off x="388620" y="1783080"/>
            <a:ext cx="3703320" cy="2194560"/>
          </a:xfrm>
          <a:prstGeom prst="roundRect">
            <a:avLst>
              <a:gd name="adj" fmla="val 3333"/>
            </a:avLst>
          </a:prstGeom>
          <a:solidFill>
            <a:srgbClr val="F8FAFC"/>
          </a:solidFill>
          <a:ln w="19050">
            <a:solidFill>
              <a:srgbClr val="2C5F2D"/>
            </a:solidFill>
            <a:prstDash val="solid"/>
          </a:ln>
        </p:spPr>
      </p:sp>
      <p:sp>
        <p:nvSpPr>
          <p:cNvPr id="5" name="Shape 3"/>
          <p:cNvSpPr/>
          <p:nvPr/>
        </p:nvSpPr>
        <p:spPr>
          <a:xfrm>
            <a:off x="571500" y="1965960"/>
            <a:ext cx="594360" cy="594360"/>
          </a:xfrm>
          <a:prstGeom prst="ellipse">
            <a:avLst/>
          </a:prstGeom>
          <a:solidFill>
            <a:srgbClr val="2C5F2D"/>
          </a:solidFill>
          <a:ln w="12700">
            <a:solidFill>
              <a:srgbClr val="2C5F2D"/>
            </a:solidFill>
            <a:prstDash val="solid"/>
          </a:ln>
        </p:spPr>
      </p:sp>
      <p:pic>
        <p:nvPicPr>
          <p:cNvPr id="6" name="Image 0" descr="preencoded.png"/>
          <p:cNvPicPr>
            <a:picLocks noChangeAspect="1"/>
          </p:cNvPicPr>
          <p:nvPr/>
        </p:nvPicPr>
        <p:blipFill>
          <a:blip r:embed="rId3"/>
          <a:stretch>
            <a:fillRect/>
          </a:stretch>
        </p:blipFill>
        <p:spPr>
          <a:xfrm>
            <a:off x="681228" y="2075688"/>
            <a:ext cx="374904" cy="374904"/>
          </a:xfrm>
          <a:prstGeom prst="rect">
            <a:avLst/>
          </a:prstGeom>
        </p:spPr>
      </p:pic>
      <p:sp>
        <p:nvSpPr>
          <p:cNvPr id="7" name="Text 4"/>
          <p:cNvSpPr/>
          <p:nvPr/>
        </p:nvSpPr>
        <p:spPr>
          <a:xfrm>
            <a:off x="1303020" y="1920240"/>
            <a:ext cx="2651760" cy="320040"/>
          </a:xfrm>
          <a:prstGeom prst="rect">
            <a:avLst/>
          </a:prstGeom>
          <a:noFill/>
          <a:ln/>
        </p:spPr>
        <p:txBody>
          <a:bodyPr wrap="square" lIns="0" tIns="0" rIns="0" bIns="0" rtlCol="0" anchor="ctr"/>
          <a:lstStyle/>
          <a:p>
            <a:pPr marL="0" indent="0" algn="l">
              <a:buNone/>
            </a:pPr>
            <a:r>
              <a:rPr lang="en-US" sz="1500" b="1" dirty="0">
                <a:solidFill>
                  <a:srgbClr val="2C5F2D"/>
                </a:solidFill>
                <a:latin typeface="Cambria" pitchFamily="34" charset="0"/>
                <a:ea typeface="Cambria" pitchFamily="34" charset="-122"/>
                <a:cs typeface="Cambria" pitchFamily="34" charset="-120"/>
              </a:rPr>
              <a:t>AquaGest</a:t>
            </a:r>
            <a:endParaRPr lang="en-US" sz="1500" dirty="0"/>
          </a:p>
        </p:txBody>
      </p:sp>
      <p:sp>
        <p:nvSpPr>
          <p:cNvPr id="8" name="Text 5"/>
          <p:cNvSpPr/>
          <p:nvPr/>
        </p:nvSpPr>
        <p:spPr>
          <a:xfrm>
            <a:off x="1303020" y="2240280"/>
            <a:ext cx="2651760" cy="274320"/>
          </a:xfrm>
          <a:prstGeom prst="rect">
            <a:avLst/>
          </a:prstGeom>
          <a:noFill/>
          <a:ln/>
        </p:spPr>
        <p:txBody>
          <a:bodyPr wrap="square" lIns="0" tIns="0" rIns="0" bIns="0" rtlCol="0" anchor="ctr"/>
          <a:lstStyle/>
          <a:p>
            <a:pPr marL="0" indent="0" algn="l">
              <a:buNone/>
            </a:pPr>
            <a:r>
              <a:rPr lang="en-US" sz="1000" i="1" dirty="0">
                <a:solidFill>
                  <a:srgbClr val="475569"/>
                </a:solidFill>
                <a:latin typeface="Calibri" pitchFamily="34" charset="0"/>
                <a:ea typeface="Calibri" pitchFamily="34" charset="-122"/>
                <a:cs typeface="Calibri" pitchFamily="34" charset="-120"/>
              </a:rPr>
              <a:t>Camaronera Biofina</a:t>
            </a:r>
            <a:endParaRPr lang="en-US" sz="1000" dirty="0"/>
          </a:p>
        </p:txBody>
      </p:sp>
      <p:sp>
        <p:nvSpPr>
          <p:cNvPr id="9" name="Text 6"/>
          <p:cNvSpPr/>
          <p:nvPr/>
        </p:nvSpPr>
        <p:spPr>
          <a:xfrm>
            <a:off x="617220" y="2606040"/>
            <a:ext cx="3291840" cy="1234440"/>
          </a:xfrm>
          <a:prstGeom prst="rect">
            <a:avLst/>
          </a:prstGeom>
          <a:noFill/>
          <a:ln/>
        </p:spPr>
        <p:txBody>
          <a:bodyPr wrap="square" lIns="0" tIns="0" rIns="0" bIns="0" rtlCol="0" anchor="t"/>
          <a:lstStyle/>
          <a:p>
            <a:pPr marL="0" indent="0" algn="l">
              <a:buNone/>
            </a:pPr>
            <a:r>
              <a:rPr lang="en-US" sz="1000" b="1" dirty="0">
                <a:solidFill>
                  <a:srgbClr val="1E4D8B"/>
                </a:solidFill>
                <a:latin typeface="Calibri" pitchFamily="34" charset="0"/>
                <a:ea typeface="Calibri" pitchFamily="34" charset="-122"/>
                <a:cs typeface="Calibri" pitchFamily="34" charset="-120"/>
              </a:rPr>
              <a:t>Clases: </a:t>
            </a:r>
            <a:r>
              <a:rPr lang="en-US" sz="1000" dirty="0">
                <a:solidFill>
                  <a:srgbClr val="1E293B"/>
                </a:solidFill>
                <a:latin typeface="Calibri" pitchFamily="34" charset="0"/>
                <a:ea typeface="Calibri" pitchFamily="34" charset="-122"/>
                <a:cs typeface="Calibri" pitchFamily="34" charset="-120"/>
              </a:rPr>
              <a:t>Corral (id, área, densidad, biomasa)</a:t>
            </a:r>
            <a:endParaRPr lang="en-US" sz="1000" dirty="0"/>
          </a:p>
          <a:p>
            <a:pPr marL="0" indent="0" algn="l">
              <a:buNone/>
            </a:pPr>
            <a:r>
              <a:rPr lang="en-US" sz="1000" b="1" dirty="0">
                <a:solidFill>
                  <a:srgbClr val="1E4D8B"/>
                </a:solidFill>
                <a:latin typeface="Calibri" pitchFamily="34" charset="0"/>
                <a:ea typeface="Calibri" pitchFamily="34" charset="-122"/>
                <a:cs typeface="Calibri" pitchFamily="34" charset="-120"/>
              </a:rPr>
              <a:t>Actividad: </a:t>
            </a:r>
            <a:r>
              <a:rPr lang="en-US" sz="1000" dirty="0">
                <a:solidFill>
                  <a:srgbClr val="1E293B"/>
                </a:solidFill>
                <a:latin typeface="Calibri" pitchFamily="34" charset="0"/>
                <a:ea typeface="Calibri" pitchFamily="34" charset="-122"/>
                <a:cs typeface="Calibri" pitchFamily="34" charset="-120"/>
              </a:rPr>
              <a:t>Registrar lectura de oxígeno</a:t>
            </a:r>
            <a:endParaRPr lang="en-US" sz="1000" dirty="0"/>
          </a:p>
          <a:p>
            <a:pPr marL="0" indent="0" algn="l">
              <a:buNone/>
            </a:pPr>
            <a:r>
              <a:rPr lang="en-US" sz="1000" b="1" dirty="0">
                <a:solidFill>
                  <a:srgbClr val="1E4D8B"/>
                </a:solidFill>
                <a:latin typeface="Calibri" pitchFamily="34" charset="0"/>
                <a:ea typeface="Calibri" pitchFamily="34" charset="-122"/>
                <a:cs typeface="Calibri" pitchFamily="34" charset="-120"/>
              </a:rPr>
              <a:t>Estados: </a:t>
            </a:r>
            <a:r>
              <a:rPr lang="en-US" sz="1000" dirty="0">
                <a:solidFill>
                  <a:srgbClr val="1E293B"/>
                </a:solidFill>
                <a:latin typeface="Calibri" pitchFamily="34" charset="0"/>
                <a:ea typeface="Calibri" pitchFamily="34" charset="-122"/>
                <a:cs typeface="Calibri" pitchFamily="34" charset="-120"/>
              </a:rPr>
              <a:t>Ciclo del corral: Vacio -&gt; Sembrado -&gt; Crianza -&gt; Cosechado</a:t>
            </a:r>
            <a:endParaRPr lang="en-US" sz="1000" dirty="0"/>
          </a:p>
        </p:txBody>
      </p:sp>
      <p:sp>
        <p:nvSpPr>
          <p:cNvPr id="10" name="Shape 7"/>
          <p:cNvSpPr/>
          <p:nvPr/>
        </p:nvSpPr>
        <p:spPr>
          <a:xfrm>
            <a:off x="4229100" y="1783080"/>
            <a:ext cx="3703320" cy="2194560"/>
          </a:xfrm>
          <a:prstGeom prst="roundRect">
            <a:avLst>
              <a:gd name="adj" fmla="val 3333"/>
            </a:avLst>
          </a:prstGeom>
          <a:solidFill>
            <a:srgbClr val="F8FAFC"/>
          </a:solidFill>
          <a:ln w="19050">
            <a:solidFill>
              <a:srgbClr val="1E4D8B"/>
            </a:solidFill>
            <a:prstDash val="solid"/>
          </a:ln>
        </p:spPr>
      </p:sp>
      <p:sp>
        <p:nvSpPr>
          <p:cNvPr id="11" name="Shape 8"/>
          <p:cNvSpPr/>
          <p:nvPr/>
        </p:nvSpPr>
        <p:spPr>
          <a:xfrm>
            <a:off x="4411980" y="1965960"/>
            <a:ext cx="594360" cy="594360"/>
          </a:xfrm>
          <a:prstGeom prst="ellipse">
            <a:avLst/>
          </a:prstGeom>
          <a:solidFill>
            <a:srgbClr val="1E4D8B"/>
          </a:solidFill>
          <a:ln w="12700">
            <a:solidFill>
              <a:srgbClr val="1E4D8B"/>
            </a:solidFill>
            <a:prstDash val="solid"/>
          </a:ln>
        </p:spPr>
      </p:sp>
      <p:pic>
        <p:nvPicPr>
          <p:cNvPr id="12" name="Image 1" descr="preencoded.png"/>
          <p:cNvPicPr>
            <a:picLocks noChangeAspect="1"/>
          </p:cNvPicPr>
          <p:nvPr/>
        </p:nvPicPr>
        <p:blipFill>
          <a:blip r:embed="rId4"/>
          <a:stretch>
            <a:fillRect/>
          </a:stretch>
        </p:blipFill>
        <p:spPr>
          <a:xfrm>
            <a:off x="4521708" y="2075688"/>
            <a:ext cx="374904" cy="374904"/>
          </a:xfrm>
          <a:prstGeom prst="rect">
            <a:avLst/>
          </a:prstGeom>
        </p:spPr>
      </p:pic>
      <p:sp>
        <p:nvSpPr>
          <p:cNvPr id="13" name="Text 9"/>
          <p:cNvSpPr/>
          <p:nvPr/>
        </p:nvSpPr>
        <p:spPr>
          <a:xfrm>
            <a:off x="5143500" y="1920240"/>
            <a:ext cx="2651760" cy="320040"/>
          </a:xfrm>
          <a:prstGeom prst="rect">
            <a:avLst/>
          </a:prstGeom>
          <a:noFill/>
          <a:ln/>
        </p:spPr>
        <p:txBody>
          <a:bodyPr wrap="square" lIns="0" tIns="0" rIns="0" bIns="0" rtlCol="0" anchor="ctr"/>
          <a:lstStyle/>
          <a:p>
            <a:pPr marL="0" indent="0" algn="l">
              <a:buNone/>
            </a:pPr>
            <a:r>
              <a:rPr lang="en-US" sz="1500" b="1" dirty="0">
                <a:solidFill>
                  <a:srgbClr val="1E4D8B"/>
                </a:solidFill>
                <a:latin typeface="Cambria" pitchFamily="34" charset="0"/>
                <a:ea typeface="Cambria" pitchFamily="34" charset="-122"/>
                <a:cs typeface="Cambria" pitchFamily="34" charset="-120"/>
              </a:rPr>
              <a:t>MundiPets</a:t>
            </a:r>
            <a:endParaRPr lang="en-US" sz="1500" dirty="0"/>
          </a:p>
        </p:txBody>
      </p:sp>
      <p:sp>
        <p:nvSpPr>
          <p:cNvPr id="14" name="Text 10"/>
          <p:cNvSpPr/>
          <p:nvPr/>
        </p:nvSpPr>
        <p:spPr>
          <a:xfrm>
            <a:off x="5143500" y="2240280"/>
            <a:ext cx="2651760" cy="274320"/>
          </a:xfrm>
          <a:prstGeom prst="rect">
            <a:avLst/>
          </a:prstGeom>
          <a:noFill/>
          <a:ln/>
        </p:spPr>
        <p:txBody>
          <a:bodyPr wrap="square" lIns="0" tIns="0" rIns="0" bIns="0" rtlCol="0" anchor="ctr"/>
          <a:lstStyle/>
          <a:p>
            <a:pPr marL="0" indent="0" algn="l">
              <a:buNone/>
            </a:pPr>
            <a:r>
              <a:rPr lang="en-US" sz="1000" i="1" dirty="0">
                <a:solidFill>
                  <a:srgbClr val="475569"/>
                </a:solidFill>
                <a:latin typeface="Calibri" pitchFamily="34" charset="0"/>
                <a:ea typeface="Calibri" pitchFamily="34" charset="-122"/>
                <a:cs typeface="Calibri" pitchFamily="34" charset="-120"/>
              </a:rPr>
              <a:t>Plataforma veterinaria</a:t>
            </a:r>
            <a:endParaRPr lang="en-US" sz="1000" dirty="0"/>
          </a:p>
        </p:txBody>
      </p:sp>
      <p:sp>
        <p:nvSpPr>
          <p:cNvPr id="15" name="Text 11"/>
          <p:cNvSpPr/>
          <p:nvPr/>
        </p:nvSpPr>
        <p:spPr>
          <a:xfrm>
            <a:off x="4457700" y="2606040"/>
            <a:ext cx="3291840" cy="1234440"/>
          </a:xfrm>
          <a:prstGeom prst="rect">
            <a:avLst/>
          </a:prstGeom>
          <a:noFill/>
          <a:ln/>
        </p:spPr>
        <p:txBody>
          <a:bodyPr wrap="square" lIns="0" tIns="0" rIns="0" bIns="0" rtlCol="0" anchor="t"/>
          <a:lstStyle/>
          <a:p>
            <a:pPr marL="0" indent="0" algn="l">
              <a:buNone/>
            </a:pPr>
            <a:r>
              <a:rPr lang="en-US" sz="1000" b="1" dirty="0">
                <a:solidFill>
                  <a:srgbClr val="1E4D8B"/>
                </a:solidFill>
                <a:latin typeface="Calibri" pitchFamily="34" charset="0"/>
                <a:ea typeface="Calibri" pitchFamily="34" charset="-122"/>
                <a:cs typeface="Calibri" pitchFamily="34" charset="-120"/>
              </a:rPr>
              <a:t>Clases: </a:t>
            </a:r>
            <a:r>
              <a:rPr lang="en-US" sz="1000" dirty="0">
                <a:solidFill>
                  <a:srgbClr val="1E293B"/>
                </a:solidFill>
                <a:latin typeface="Calibri" pitchFamily="34" charset="0"/>
                <a:ea typeface="Calibri" pitchFamily="34" charset="-122"/>
                <a:cs typeface="Calibri" pitchFamily="34" charset="-120"/>
              </a:rPr>
              <a:t>Mascota, Dueño, Cita, Consulta, Receta</a:t>
            </a:r>
            <a:endParaRPr lang="en-US" sz="1000" dirty="0"/>
          </a:p>
          <a:p>
            <a:pPr marL="0" indent="0" algn="l">
              <a:buNone/>
            </a:pPr>
            <a:r>
              <a:rPr lang="en-US" sz="1000" b="1" dirty="0">
                <a:solidFill>
                  <a:srgbClr val="1E4D8B"/>
                </a:solidFill>
                <a:latin typeface="Calibri" pitchFamily="34" charset="0"/>
                <a:ea typeface="Calibri" pitchFamily="34" charset="-122"/>
                <a:cs typeface="Calibri" pitchFamily="34" charset="-120"/>
              </a:rPr>
              <a:t>Actividad: </a:t>
            </a:r>
            <a:r>
              <a:rPr lang="en-US" sz="1000" dirty="0">
                <a:solidFill>
                  <a:srgbClr val="1E293B"/>
                </a:solidFill>
                <a:latin typeface="Calibri" pitchFamily="34" charset="0"/>
                <a:ea typeface="Calibri" pitchFamily="34" charset="-122"/>
                <a:cs typeface="Calibri" pitchFamily="34" charset="-120"/>
              </a:rPr>
              <a:t>Agendar cita con validación de cupo</a:t>
            </a:r>
            <a:endParaRPr lang="en-US" sz="1000" dirty="0"/>
          </a:p>
          <a:p>
            <a:pPr marL="0" indent="0" algn="l">
              <a:buNone/>
            </a:pPr>
            <a:r>
              <a:rPr lang="en-US" sz="1000" b="1" dirty="0">
                <a:solidFill>
                  <a:srgbClr val="1E4D8B"/>
                </a:solidFill>
                <a:latin typeface="Calibri" pitchFamily="34" charset="0"/>
                <a:ea typeface="Calibri" pitchFamily="34" charset="-122"/>
                <a:cs typeface="Calibri" pitchFamily="34" charset="-120"/>
              </a:rPr>
              <a:t>Estados: </a:t>
            </a:r>
            <a:r>
              <a:rPr lang="en-US" sz="1000" dirty="0">
                <a:solidFill>
                  <a:srgbClr val="1E293B"/>
                </a:solidFill>
                <a:latin typeface="Calibri" pitchFamily="34" charset="0"/>
                <a:ea typeface="Calibri" pitchFamily="34" charset="-122"/>
                <a:cs typeface="Calibri" pitchFamily="34" charset="-120"/>
              </a:rPr>
              <a:t>Cita: Solicitada -&gt; Confirmada -&gt; En atención -&gt; Finalizada</a:t>
            </a:r>
            <a:endParaRPr lang="en-US" sz="1000" dirty="0"/>
          </a:p>
        </p:txBody>
      </p:sp>
      <p:sp>
        <p:nvSpPr>
          <p:cNvPr id="16" name="Shape 12"/>
          <p:cNvSpPr/>
          <p:nvPr/>
        </p:nvSpPr>
        <p:spPr>
          <a:xfrm>
            <a:off x="8069580" y="1783080"/>
            <a:ext cx="3703320" cy="2194560"/>
          </a:xfrm>
          <a:prstGeom prst="roundRect">
            <a:avLst>
              <a:gd name="adj" fmla="val 3333"/>
            </a:avLst>
          </a:prstGeom>
          <a:solidFill>
            <a:srgbClr val="F8FAFC"/>
          </a:solidFill>
          <a:ln w="19050">
            <a:solidFill>
              <a:srgbClr val="D4A017"/>
            </a:solidFill>
            <a:prstDash val="solid"/>
          </a:ln>
        </p:spPr>
      </p:sp>
      <p:sp>
        <p:nvSpPr>
          <p:cNvPr id="17" name="Shape 13"/>
          <p:cNvSpPr/>
          <p:nvPr/>
        </p:nvSpPr>
        <p:spPr>
          <a:xfrm>
            <a:off x="8252460" y="1965960"/>
            <a:ext cx="594360" cy="594360"/>
          </a:xfrm>
          <a:prstGeom prst="ellipse">
            <a:avLst/>
          </a:prstGeom>
          <a:solidFill>
            <a:srgbClr val="D4A017"/>
          </a:solidFill>
          <a:ln w="12700">
            <a:solidFill>
              <a:srgbClr val="D4A017"/>
            </a:solidFill>
            <a:prstDash val="solid"/>
          </a:ln>
        </p:spPr>
      </p:sp>
      <p:pic>
        <p:nvPicPr>
          <p:cNvPr id="18" name="Image 2" descr="preencoded.png"/>
          <p:cNvPicPr>
            <a:picLocks noChangeAspect="1"/>
          </p:cNvPicPr>
          <p:nvPr/>
        </p:nvPicPr>
        <p:blipFill>
          <a:blip r:embed="rId5"/>
          <a:stretch>
            <a:fillRect/>
          </a:stretch>
        </p:blipFill>
        <p:spPr>
          <a:xfrm>
            <a:off x="8362188" y="2075688"/>
            <a:ext cx="374904" cy="374904"/>
          </a:xfrm>
          <a:prstGeom prst="rect">
            <a:avLst/>
          </a:prstGeom>
        </p:spPr>
      </p:pic>
      <p:sp>
        <p:nvSpPr>
          <p:cNvPr id="19" name="Text 14"/>
          <p:cNvSpPr/>
          <p:nvPr/>
        </p:nvSpPr>
        <p:spPr>
          <a:xfrm>
            <a:off x="8983980" y="1920240"/>
            <a:ext cx="2651760" cy="320040"/>
          </a:xfrm>
          <a:prstGeom prst="rect">
            <a:avLst/>
          </a:prstGeom>
          <a:noFill/>
          <a:ln/>
        </p:spPr>
        <p:txBody>
          <a:bodyPr wrap="square" lIns="0" tIns="0" rIns="0" bIns="0" rtlCol="0" anchor="ctr"/>
          <a:lstStyle/>
          <a:p>
            <a:pPr marL="0" indent="0" algn="l">
              <a:buNone/>
            </a:pPr>
            <a:r>
              <a:rPr lang="en-US" sz="1500" b="1" dirty="0">
                <a:solidFill>
                  <a:srgbClr val="D4A017"/>
                </a:solidFill>
                <a:latin typeface="Cambria" pitchFamily="34" charset="0"/>
                <a:ea typeface="Cambria" pitchFamily="34" charset="-122"/>
                <a:cs typeface="Cambria" pitchFamily="34" charset="-120"/>
              </a:rPr>
              <a:t>SIMPA</a:t>
            </a:r>
            <a:endParaRPr lang="en-US" sz="1500" dirty="0"/>
          </a:p>
        </p:txBody>
      </p:sp>
      <p:sp>
        <p:nvSpPr>
          <p:cNvPr id="20" name="Text 15"/>
          <p:cNvSpPr/>
          <p:nvPr/>
        </p:nvSpPr>
        <p:spPr>
          <a:xfrm>
            <a:off x="8983980" y="2240280"/>
            <a:ext cx="2651760" cy="274320"/>
          </a:xfrm>
          <a:prstGeom prst="rect">
            <a:avLst/>
          </a:prstGeom>
          <a:noFill/>
          <a:ln/>
        </p:spPr>
        <p:txBody>
          <a:bodyPr wrap="square" lIns="0" tIns="0" rIns="0" bIns="0" rtlCol="0" anchor="ctr"/>
          <a:lstStyle/>
          <a:p>
            <a:pPr marL="0" indent="0" algn="l">
              <a:buNone/>
            </a:pPr>
            <a:r>
              <a:rPr lang="en-US" sz="1000" i="1" dirty="0">
                <a:solidFill>
                  <a:srgbClr val="475569"/>
                </a:solidFill>
                <a:latin typeface="Calibri" pitchFamily="34" charset="0"/>
                <a:ea typeface="Calibri" pitchFamily="34" charset="-122"/>
                <a:cs typeface="Calibri" pitchFamily="34" charset="-120"/>
              </a:rPr>
              <a:t>Palma africana - mantenimiento</a:t>
            </a:r>
            <a:endParaRPr lang="en-US" sz="1000" dirty="0"/>
          </a:p>
        </p:txBody>
      </p:sp>
      <p:sp>
        <p:nvSpPr>
          <p:cNvPr id="21" name="Text 16"/>
          <p:cNvSpPr/>
          <p:nvPr/>
        </p:nvSpPr>
        <p:spPr>
          <a:xfrm>
            <a:off x="8298180" y="2606040"/>
            <a:ext cx="3291840" cy="1234440"/>
          </a:xfrm>
          <a:prstGeom prst="rect">
            <a:avLst/>
          </a:prstGeom>
          <a:noFill/>
          <a:ln/>
        </p:spPr>
        <p:txBody>
          <a:bodyPr wrap="square" lIns="0" tIns="0" rIns="0" bIns="0" rtlCol="0" anchor="t"/>
          <a:lstStyle/>
          <a:p>
            <a:pPr marL="0" indent="0" algn="l">
              <a:buNone/>
            </a:pPr>
            <a:r>
              <a:rPr lang="en-US" sz="1000" b="1" dirty="0">
                <a:solidFill>
                  <a:srgbClr val="1E4D8B"/>
                </a:solidFill>
                <a:latin typeface="Calibri" pitchFamily="34" charset="0"/>
                <a:ea typeface="Calibri" pitchFamily="34" charset="-122"/>
                <a:cs typeface="Calibri" pitchFamily="34" charset="-120"/>
              </a:rPr>
              <a:t>Clases: </a:t>
            </a:r>
            <a:r>
              <a:rPr lang="en-US" sz="1000" dirty="0">
                <a:solidFill>
                  <a:srgbClr val="1E293B"/>
                </a:solidFill>
                <a:latin typeface="Calibri" pitchFamily="34" charset="0"/>
                <a:ea typeface="Calibri" pitchFamily="34" charset="-122"/>
                <a:cs typeface="Calibri" pitchFamily="34" charset="-120"/>
              </a:rPr>
              <a:t>Parcela, Palmar, Aplicación, Producto_Fitosanitario</a:t>
            </a:r>
            <a:endParaRPr lang="en-US" sz="1000" dirty="0"/>
          </a:p>
          <a:p>
            <a:pPr marL="0" indent="0" algn="l">
              <a:buNone/>
            </a:pPr>
            <a:r>
              <a:rPr lang="en-US" sz="1000" b="1" dirty="0">
                <a:solidFill>
                  <a:srgbClr val="1E4D8B"/>
                </a:solidFill>
                <a:latin typeface="Calibri" pitchFamily="34" charset="0"/>
                <a:ea typeface="Calibri" pitchFamily="34" charset="-122"/>
                <a:cs typeface="Calibri" pitchFamily="34" charset="-120"/>
              </a:rPr>
              <a:t>Actividad: </a:t>
            </a:r>
            <a:r>
              <a:rPr lang="en-US" sz="1000" dirty="0">
                <a:solidFill>
                  <a:srgbClr val="1E293B"/>
                </a:solidFill>
                <a:latin typeface="Calibri" pitchFamily="34" charset="0"/>
                <a:ea typeface="Calibri" pitchFamily="34" charset="-122"/>
                <a:cs typeface="Calibri" pitchFamily="34" charset="-120"/>
              </a:rPr>
              <a:t>Aplicar fitosanitario con registro AGROCALIDAD</a:t>
            </a:r>
            <a:endParaRPr lang="en-US" sz="1000" dirty="0"/>
          </a:p>
          <a:p>
            <a:pPr marL="0" indent="0" algn="l">
              <a:buNone/>
            </a:pPr>
            <a:r>
              <a:rPr lang="en-US" sz="1000" b="1" dirty="0">
                <a:solidFill>
                  <a:srgbClr val="1E4D8B"/>
                </a:solidFill>
                <a:latin typeface="Calibri" pitchFamily="34" charset="0"/>
                <a:ea typeface="Calibri" pitchFamily="34" charset="-122"/>
                <a:cs typeface="Calibri" pitchFamily="34" charset="-120"/>
              </a:rPr>
              <a:t>Estados: </a:t>
            </a:r>
            <a:r>
              <a:rPr lang="en-US" sz="1000" dirty="0">
                <a:solidFill>
                  <a:srgbClr val="1E293B"/>
                </a:solidFill>
                <a:latin typeface="Calibri" pitchFamily="34" charset="0"/>
                <a:ea typeface="Calibri" pitchFamily="34" charset="-122"/>
                <a:cs typeface="Calibri" pitchFamily="34" charset="-120"/>
              </a:rPr>
              <a:t>Parcela: Sana -&gt; En observación -&gt; Infestada -&gt; Tratada</a:t>
            </a:r>
            <a:endParaRPr lang="en-US" sz="1000" dirty="0"/>
          </a:p>
        </p:txBody>
      </p:sp>
      <p:sp>
        <p:nvSpPr>
          <p:cNvPr id="22" name="Shape 17"/>
          <p:cNvSpPr/>
          <p:nvPr/>
        </p:nvSpPr>
        <p:spPr>
          <a:xfrm>
            <a:off x="388620" y="4114800"/>
            <a:ext cx="3703320" cy="2194560"/>
          </a:xfrm>
          <a:prstGeom prst="roundRect">
            <a:avLst>
              <a:gd name="adj" fmla="val 3333"/>
            </a:avLst>
          </a:prstGeom>
          <a:solidFill>
            <a:srgbClr val="F8FAFC"/>
          </a:solidFill>
          <a:ln w="19050">
            <a:solidFill>
              <a:srgbClr val="2C5F2D"/>
            </a:solidFill>
            <a:prstDash val="solid"/>
          </a:ln>
        </p:spPr>
      </p:sp>
      <p:sp>
        <p:nvSpPr>
          <p:cNvPr id="23" name="Shape 18"/>
          <p:cNvSpPr/>
          <p:nvPr/>
        </p:nvSpPr>
        <p:spPr>
          <a:xfrm>
            <a:off x="571500" y="4297680"/>
            <a:ext cx="594360" cy="594360"/>
          </a:xfrm>
          <a:prstGeom prst="ellipse">
            <a:avLst/>
          </a:prstGeom>
          <a:solidFill>
            <a:srgbClr val="2C5F2D"/>
          </a:solidFill>
          <a:ln w="12700">
            <a:solidFill>
              <a:srgbClr val="2C5F2D"/>
            </a:solidFill>
            <a:prstDash val="solid"/>
          </a:ln>
        </p:spPr>
      </p:sp>
      <p:pic>
        <p:nvPicPr>
          <p:cNvPr id="24" name="Image 3" descr="preencoded.png"/>
          <p:cNvPicPr>
            <a:picLocks noChangeAspect="1"/>
          </p:cNvPicPr>
          <p:nvPr/>
        </p:nvPicPr>
        <p:blipFill>
          <a:blip r:embed="rId6"/>
          <a:stretch>
            <a:fillRect/>
          </a:stretch>
        </p:blipFill>
        <p:spPr>
          <a:xfrm>
            <a:off x="681228" y="4407408"/>
            <a:ext cx="374904" cy="374904"/>
          </a:xfrm>
          <a:prstGeom prst="rect">
            <a:avLst/>
          </a:prstGeom>
        </p:spPr>
      </p:pic>
      <p:sp>
        <p:nvSpPr>
          <p:cNvPr id="25" name="Text 19"/>
          <p:cNvSpPr/>
          <p:nvPr/>
        </p:nvSpPr>
        <p:spPr>
          <a:xfrm>
            <a:off x="1303020" y="4251960"/>
            <a:ext cx="2651760" cy="320040"/>
          </a:xfrm>
          <a:prstGeom prst="rect">
            <a:avLst/>
          </a:prstGeom>
          <a:noFill/>
          <a:ln/>
        </p:spPr>
        <p:txBody>
          <a:bodyPr wrap="square" lIns="0" tIns="0" rIns="0" bIns="0" rtlCol="0" anchor="ctr"/>
          <a:lstStyle/>
          <a:p>
            <a:pPr marL="0" indent="0" algn="l">
              <a:buNone/>
            </a:pPr>
            <a:r>
              <a:rPr lang="en-US" sz="1500" b="1" dirty="0">
                <a:solidFill>
                  <a:srgbClr val="2C5F2D"/>
                </a:solidFill>
                <a:latin typeface="Cambria" pitchFamily="34" charset="0"/>
                <a:ea typeface="Cambria" pitchFamily="34" charset="-122"/>
                <a:cs typeface="Cambria" pitchFamily="34" charset="-120"/>
              </a:rPr>
              <a:t>RutaExpress</a:t>
            </a:r>
            <a:endParaRPr lang="en-US" sz="1500" dirty="0"/>
          </a:p>
        </p:txBody>
      </p:sp>
      <p:sp>
        <p:nvSpPr>
          <p:cNvPr id="26" name="Text 20"/>
          <p:cNvSpPr/>
          <p:nvPr/>
        </p:nvSpPr>
        <p:spPr>
          <a:xfrm>
            <a:off x="1303020" y="4572000"/>
            <a:ext cx="2651760" cy="274320"/>
          </a:xfrm>
          <a:prstGeom prst="rect">
            <a:avLst/>
          </a:prstGeom>
          <a:noFill/>
          <a:ln/>
        </p:spPr>
        <p:txBody>
          <a:bodyPr wrap="square" lIns="0" tIns="0" rIns="0" bIns="0" rtlCol="0" anchor="ctr"/>
          <a:lstStyle/>
          <a:p>
            <a:pPr marL="0" indent="0" algn="l">
              <a:buNone/>
            </a:pPr>
            <a:r>
              <a:rPr lang="en-US" sz="1000" i="1" dirty="0">
                <a:solidFill>
                  <a:srgbClr val="475569"/>
                </a:solidFill>
                <a:latin typeface="Calibri" pitchFamily="34" charset="0"/>
                <a:ea typeface="Calibri" pitchFamily="34" charset="-122"/>
                <a:cs typeface="Calibri" pitchFamily="34" charset="-120"/>
              </a:rPr>
              <a:t>Empresa de mensajeria</a:t>
            </a:r>
            <a:endParaRPr lang="en-US" sz="1000" dirty="0"/>
          </a:p>
        </p:txBody>
      </p:sp>
      <p:sp>
        <p:nvSpPr>
          <p:cNvPr id="27" name="Text 21"/>
          <p:cNvSpPr/>
          <p:nvPr/>
        </p:nvSpPr>
        <p:spPr>
          <a:xfrm>
            <a:off x="617220" y="4937760"/>
            <a:ext cx="3291840" cy="1234440"/>
          </a:xfrm>
          <a:prstGeom prst="rect">
            <a:avLst/>
          </a:prstGeom>
          <a:noFill/>
          <a:ln/>
        </p:spPr>
        <p:txBody>
          <a:bodyPr wrap="square" lIns="0" tIns="0" rIns="0" bIns="0" rtlCol="0" anchor="t"/>
          <a:lstStyle/>
          <a:p>
            <a:pPr marL="0" indent="0" algn="l">
              <a:buNone/>
            </a:pPr>
            <a:r>
              <a:rPr lang="en-US" sz="1000" b="1" dirty="0">
                <a:solidFill>
                  <a:srgbClr val="1E4D8B"/>
                </a:solidFill>
                <a:latin typeface="Calibri" pitchFamily="34" charset="0"/>
                <a:ea typeface="Calibri" pitchFamily="34" charset="-122"/>
                <a:cs typeface="Calibri" pitchFamily="34" charset="-120"/>
              </a:rPr>
              <a:t>Clases: </a:t>
            </a:r>
            <a:r>
              <a:rPr lang="en-US" sz="1000" dirty="0">
                <a:solidFill>
                  <a:srgbClr val="1E293B"/>
                </a:solidFill>
                <a:latin typeface="Calibri" pitchFamily="34" charset="0"/>
                <a:ea typeface="Calibri" pitchFamily="34" charset="-122"/>
                <a:cs typeface="Calibri" pitchFamily="34" charset="-120"/>
              </a:rPr>
              <a:t>Envío, Ruta, Repartidor, Punto_Entrega</a:t>
            </a:r>
            <a:endParaRPr lang="en-US" sz="1000" dirty="0"/>
          </a:p>
          <a:p>
            <a:pPr marL="0" indent="0" algn="l">
              <a:buNone/>
            </a:pPr>
            <a:r>
              <a:rPr lang="en-US" sz="1000" b="1" dirty="0">
                <a:solidFill>
                  <a:srgbClr val="1E4D8B"/>
                </a:solidFill>
                <a:latin typeface="Calibri" pitchFamily="34" charset="0"/>
                <a:ea typeface="Calibri" pitchFamily="34" charset="-122"/>
                <a:cs typeface="Calibri" pitchFamily="34" charset="-120"/>
              </a:rPr>
              <a:t>Actividad: </a:t>
            </a:r>
            <a:r>
              <a:rPr lang="en-US" sz="1000" dirty="0">
                <a:solidFill>
                  <a:srgbClr val="1E293B"/>
                </a:solidFill>
                <a:latin typeface="Calibri" pitchFamily="34" charset="0"/>
                <a:ea typeface="Calibri" pitchFamily="34" charset="-122"/>
                <a:cs typeface="Calibri" pitchFamily="34" charset="-120"/>
              </a:rPr>
              <a:t>Trazar ruta óptima por zonas de la ciudad</a:t>
            </a:r>
            <a:endParaRPr lang="en-US" sz="1000" dirty="0"/>
          </a:p>
          <a:p>
            <a:pPr marL="0" indent="0" algn="l">
              <a:buNone/>
            </a:pPr>
            <a:r>
              <a:rPr lang="en-US" sz="1000" b="1" dirty="0">
                <a:solidFill>
                  <a:srgbClr val="1E4D8B"/>
                </a:solidFill>
                <a:latin typeface="Calibri" pitchFamily="34" charset="0"/>
                <a:ea typeface="Calibri" pitchFamily="34" charset="-122"/>
                <a:cs typeface="Calibri" pitchFamily="34" charset="-120"/>
              </a:rPr>
              <a:t>Estados: </a:t>
            </a:r>
            <a:r>
              <a:rPr lang="en-US" sz="1000" dirty="0">
                <a:solidFill>
                  <a:srgbClr val="1E293B"/>
                </a:solidFill>
                <a:latin typeface="Calibri" pitchFamily="34" charset="0"/>
                <a:ea typeface="Calibri" pitchFamily="34" charset="-122"/>
                <a:cs typeface="Calibri" pitchFamily="34" charset="-120"/>
              </a:rPr>
              <a:t>Envío: Recibido -&gt; En bodega -&gt; En transito -&gt; Entregado / Devuelto</a:t>
            </a:r>
            <a:endParaRPr lang="en-US" sz="1000" dirty="0"/>
          </a:p>
        </p:txBody>
      </p:sp>
      <p:sp>
        <p:nvSpPr>
          <p:cNvPr id="28" name="Shape 22"/>
          <p:cNvSpPr/>
          <p:nvPr/>
        </p:nvSpPr>
        <p:spPr>
          <a:xfrm>
            <a:off x="4229100" y="4114800"/>
            <a:ext cx="3703320" cy="2194560"/>
          </a:xfrm>
          <a:prstGeom prst="roundRect">
            <a:avLst>
              <a:gd name="adj" fmla="val 3333"/>
            </a:avLst>
          </a:prstGeom>
          <a:solidFill>
            <a:srgbClr val="F8FAFC"/>
          </a:solidFill>
          <a:ln w="19050">
            <a:solidFill>
              <a:srgbClr val="1E4D8B"/>
            </a:solidFill>
            <a:prstDash val="solid"/>
          </a:ln>
        </p:spPr>
      </p:sp>
      <p:sp>
        <p:nvSpPr>
          <p:cNvPr id="29" name="Shape 23"/>
          <p:cNvSpPr/>
          <p:nvPr/>
        </p:nvSpPr>
        <p:spPr>
          <a:xfrm>
            <a:off x="4411980" y="4297680"/>
            <a:ext cx="594360" cy="594360"/>
          </a:xfrm>
          <a:prstGeom prst="ellipse">
            <a:avLst/>
          </a:prstGeom>
          <a:solidFill>
            <a:srgbClr val="1E4D8B"/>
          </a:solidFill>
          <a:ln w="12700">
            <a:solidFill>
              <a:srgbClr val="1E4D8B"/>
            </a:solidFill>
            <a:prstDash val="solid"/>
          </a:ln>
        </p:spPr>
      </p:sp>
      <p:pic>
        <p:nvPicPr>
          <p:cNvPr id="30" name="Image 4" descr="preencoded.png"/>
          <p:cNvPicPr>
            <a:picLocks noChangeAspect="1"/>
          </p:cNvPicPr>
          <p:nvPr/>
        </p:nvPicPr>
        <p:blipFill>
          <a:blip r:embed="rId7"/>
          <a:stretch>
            <a:fillRect/>
          </a:stretch>
        </p:blipFill>
        <p:spPr>
          <a:xfrm>
            <a:off x="4521708" y="4407408"/>
            <a:ext cx="374904" cy="374904"/>
          </a:xfrm>
          <a:prstGeom prst="rect">
            <a:avLst/>
          </a:prstGeom>
        </p:spPr>
      </p:pic>
      <p:sp>
        <p:nvSpPr>
          <p:cNvPr id="31" name="Text 24"/>
          <p:cNvSpPr/>
          <p:nvPr/>
        </p:nvSpPr>
        <p:spPr>
          <a:xfrm>
            <a:off x="5143500" y="4251960"/>
            <a:ext cx="2651760" cy="320040"/>
          </a:xfrm>
          <a:prstGeom prst="rect">
            <a:avLst/>
          </a:prstGeom>
          <a:noFill/>
          <a:ln/>
        </p:spPr>
        <p:txBody>
          <a:bodyPr wrap="square" lIns="0" tIns="0" rIns="0" bIns="0" rtlCol="0" anchor="ctr"/>
          <a:lstStyle/>
          <a:p>
            <a:pPr marL="0" indent="0" algn="l">
              <a:buNone/>
            </a:pPr>
            <a:r>
              <a:rPr lang="en-US" sz="1500" b="1" dirty="0">
                <a:solidFill>
                  <a:srgbClr val="1E4D8B"/>
                </a:solidFill>
                <a:latin typeface="Cambria" pitchFamily="34" charset="0"/>
                <a:ea typeface="Cambria" pitchFamily="34" charset="-122"/>
                <a:cs typeface="Cambria" pitchFamily="34" charset="-120"/>
              </a:rPr>
              <a:t>MediCita</a:t>
            </a:r>
            <a:endParaRPr lang="en-US" sz="1500" dirty="0"/>
          </a:p>
        </p:txBody>
      </p:sp>
      <p:sp>
        <p:nvSpPr>
          <p:cNvPr id="32" name="Text 25"/>
          <p:cNvSpPr/>
          <p:nvPr/>
        </p:nvSpPr>
        <p:spPr>
          <a:xfrm>
            <a:off x="5143500" y="4572000"/>
            <a:ext cx="2651760" cy="274320"/>
          </a:xfrm>
          <a:prstGeom prst="rect">
            <a:avLst/>
          </a:prstGeom>
          <a:noFill/>
          <a:ln/>
        </p:spPr>
        <p:txBody>
          <a:bodyPr wrap="square" lIns="0" tIns="0" rIns="0" bIns="0" rtlCol="0" anchor="ctr"/>
          <a:lstStyle/>
          <a:p>
            <a:pPr marL="0" indent="0" algn="l">
              <a:buNone/>
            </a:pPr>
            <a:r>
              <a:rPr lang="en-US" sz="1000" i="1" dirty="0">
                <a:solidFill>
                  <a:srgbClr val="475569"/>
                </a:solidFill>
                <a:latin typeface="Calibri" pitchFamily="34" charset="0"/>
                <a:ea typeface="Calibri" pitchFamily="34" charset="-122"/>
                <a:cs typeface="Calibri" pitchFamily="34" charset="-120"/>
              </a:rPr>
              <a:t>Clínica privada</a:t>
            </a:r>
            <a:endParaRPr lang="en-US" sz="1000" dirty="0"/>
          </a:p>
        </p:txBody>
      </p:sp>
      <p:sp>
        <p:nvSpPr>
          <p:cNvPr id="33" name="Text 26"/>
          <p:cNvSpPr/>
          <p:nvPr/>
        </p:nvSpPr>
        <p:spPr>
          <a:xfrm>
            <a:off x="4457700" y="4937760"/>
            <a:ext cx="3291840" cy="1234440"/>
          </a:xfrm>
          <a:prstGeom prst="rect">
            <a:avLst/>
          </a:prstGeom>
          <a:noFill/>
          <a:ln/>
        </p:spPr>
        <p:txBody>
          <a:bodyPr wrap="square" lIns="0" tIns="0" rIns="0" bIns="0" rtlCol="0" anchor="t"/>
          <a:lstStyle/>
          <a:p>
            <a:pPr marL="0" indent="0" algn="l">
              <a:buNone/>
            </a:pPr>
            <a:r>
              <a:rPr lang="en-US" sz="1000" b="1" dirty="0">
                <a:solidFill>
                  <a:srgbClr val="1E4D8B"/>
                </a:solidFill>
                <a:latin typeface="Calibri" pitchFamily="34" charset="0"/>
                <a:ea typeface="Calibri" pitchFamily="34" charset="-122"/>
                <a:cs typeface="Calibri" pitchFamily="34" charset="-120"/>
              </a:rPr>
              <a:t>Clases: </a:t>
            </a:r>
            <a:r>
              <a:rPr lang="en-US" sz="1000" dirty="0">
                <a:solidFill>
                  <a:srgbClr val="1E293B"/>
                </a:solidFill>
                <a:latin typeface="Calibri" pitchFamily="34" charset="0"/>
                <a:ea typeface="Calibri" pitchFamily="34" charset="-122"/>
                <a:cs typeface="Calibri" pitchFamily="34" charset="-120"/>
              </a:rPr>
              <a:t>Paciente, Turno, Consulta, Historia_Clínica</a:t>
            </a:r>
            <a:endParaRPr lang="en-US" sz="1000" dirty="0"/>
          </a:p>
          <a:p>
            <a:pPr marL="0" indent="0" algn="l">
              <a:buNone/>
            </a:pPr>
            <a:r>
              <a:rPr lang="en-US" sz="1000" b="1" dirty="0">
                <a:solidFill>
                  <a:srgbClr val="1E4D8B"/>
                </a:solidFill>
                <a:latin typeface="Calibri" pitchFamily="34" charset="0"/>
                <a:ea typeface="Calibri" pitchFamily="34" charset="-122"/>
                <a:cs typeface="Calibri" pitchFamily="34" charset="-120"/>
              </a:rPr>
              <a:t>Actividad: </a:t>
            </a:r>
            <a:r>
              <a:rPr lang="en-US" sz="1000" dirty="0">
                <a:solidFill>
                  <a:srgbClr val="1E293B"/>
                </a:solidFill>
                <a:latin typeface="Calibri" pitchFamily="34" charset="0"/>
                <a:ea typeface="Calibri" pitchFamily="34" charset="-122"/>
                <a:cs typeface="Calibri" pitchFamily="34" charset="-120"/>
              </a:rPr>
              <a:t>Confirmar turno con verificación de disponibilidad</a:t>
            </a:r>
            <a:endParaRPr lang="en-US" sz="1000" dirty="0"/>
          </a:p>
          <a:p>
            <a:pPr marL="0" indent="0" algn="l">
              <a:buNone/>
            </a:pPr>
            <a:r>
              <a:rPr lang="en-US" sz="1000" b="1" dirty="0">
                <a:solidFill>
                  <a:srgbClr val="1E4D8B"/>
                </a:solidFill>
                <a:latin typeface="Calibri" pitchFamily="34" charset="0"/>
                <a:ea typeface="Calibri" pitchFamily="34" charset="-122"/>
                <a:cs typeface="Calibri" pitchFamily="34" charset="-120"/>
              </a:rPr>
              <a:t>Estados: </a:t>
            </a:r>
            <a:r>
              <a:rPr lang="en-US" sz="1000" dirty="0">
                <a:solidFill>
                  <a:srgbClr val="1E293B"/>
                </a:solidFill>
                <a:latin typeface="Calibri" pitchFamily="34" charset="0"/>
                <a:ea typeface="Calibri" pitchFamily="34" charset="-122"/>
                <a:cs typeface="Calibri" pitchFamily="34" charset="-120"/>
              </a:rPr>
              <a:t>Turno: Reservado -&gt; Confirmado -&gt; Atendido -&gt; Facturado</a:t>
            </a:r>
            <a:endParaRPr lang="en-US" sz="1000" dirty="0"/>
          </a:p>
        </p:txBody>
      </p:sp>
      <p:sp>
        <p:nvSpPr>
          <p:cNvPr id="34" name="Shape 27"/>
          <p:cNvSpPr/>
          <p:nvPr/>
        </p:nvSpPr>
        <p:spPr>
          <a:xfrm>
            <a:off x="8069580" y="4114800"/>
            <a:ext cx="3703320" cy="2194560"/>
          </a:xfrm>
          <a:prstGeom prst="roundRect">
            <a:avLst>
              <a:gd name="adj" fmla="val 3333"/>
            </a:avLst>
          </a:prstGeom>
          <a:solidFill>
            <a:srgbClr val="F8FAFC"/>
          </a:solidFill>
          <a:ln w="19050">
            <a:solidFill>
              <a:srgbClr val="D4A017"/>
            </a:solidFill>
            <a:prstDash val="solid"/>
          </a:ln>
        </p:spPr>
      </p:sp>
      <p:sp>
        <p:nvSpPr>
          <p:cNvPr id="35" name="Shape 28"/>
          <p:cNvSpPr/>
          <p:nvPr/>
        </p:nvSpPr>
        <p:spPr>
          <a:xfrm>
            <a:off x="8252460" y="4297680"/>
            <a:ext cx="594360" cy="594360"/>
          </a:xfrm>
          <a:prstGeom prst="ellipse">
            <a:avLst/>
          </a:prstGeom>
          <a:solidFill>
            <a:srgbClr val="D4A017"/>
          </a:solidFill>
          <a:ln w="12700">
            <a:solidFill>
              <a:srgbClr val="D4A017"/>
            </a:solidFill>
            <a:prstDash val="solid"/>
          </a:ln>
        </p:spPr>
      </p:sp>
      <p:pic>
        <p:nvPicPr>
          <p:cNvPr id="36" name="Image 5" descr="preencoded.png"/>
          <p:cNvPicPr>
            <a:picLocks noChangeAspect="1"/>
          </p:cNvPicPr>
          <p:nvPr/>
        </p:nvPicPr>
        <p:blipFill>
          <a:blip r:embed="rId8"/>
          <a:stretch>
            <a:fillRect/>
          </a:stretch>
        </p:blipFill>
        <p:spPr>
          <a:xfrm>
            <a:off x="8362188" y="4407408"/>
            <a:ext cx="374904" cy="374904"/>
          </a:xfrm>
          <a:prstGeom prst="rect">
            <a:avLst/>
          </a:prstGeom>
        </p:spPr>
      </p:pic>
      <p:sp>
        <p:nvSpPr>
          <p:cNvPr id="37" name="Text 29"/>
          <p:cNvSpPr/>
          <p:nvPr/>
        </p:nvSpPr>
        <p:spPr>
          <a:xfrm>
            <a:off x="8983980" y="4251960"/>
            <a:ext cx="2651760" cy="320040"/>
          </a:xfrm>
          <a:prstGeom prst="rect">
            <a:avLst/>
          </a:prstGeom>
          <a:noFill/>
          <a:ln/>
        </p:spPr>
        <p:txBody>
          <a:bodyPr wrap="square" lIns="0" tIns="0" rIns="0" bIns="0" rtlCol="0" anchor="ctr"/>
          <a:lstStyle/>
          <a:p>
            <a:pPr marL="0" indent="0" algn="l">
              <a:buNone/>
            </a:pPr>
            <a:r>
              <a:rPr lang="en-US" sz="1500" b="1" dirty="0">
                <a:solidFill>
                  <a:srgbClr val="D4A017"/>
                </a:solidFill>
                <a:latin typeface="Cambria" pitchFamily="34" charset="0"/>
                <a:ea typeface="Cambria" pitchFamily="34" charset="-122"/>
                <a:cs typeface="Cambria" pitchFamily="34" charset="-120"/>
              </a:rPr>
              <a:t>Marketplace UTEQ</a:t>
            </a:r>
            <a:endParaRPr lang="en-US" sz="1500" dirty="0"/>
          </a:p>
        </p:txBody>
      </p:sp>
      <p:sp>
        <p:nvSpPr>
          <p:cNvPr id="38" name="Text 30"/>
          <p:cNvSpPr/>
          <p:nvPr/>
        </p:nvSpPr>
        <p:spPr>
          <a:xfrm>
            <a:off x="8983980" y="4572000"/>
            <a:ext cx="2651760" cy="274320"/>
          </a:xfrm>
          <a:prstGeom prst="rect">
            <a:avLst/>
          </a:prstGeom>
          <a:noFill/>
          <a:ln/>
        </p:spPr>
        <p:txBody>
          <a:bodyPr wrap="square" lIns="0" tIns="0" rIns="0" bIns="0" rtlCol="0" anchor="ctr"/>
          <a:lstStyle/>
          <a:p>
            <a:pPr marL="0" indent="0" algn="l">
              <a:buNone/>
            </a:pPr>
            <a:r>
              <a:rPr lang="en-US" sz="1000" i="1" dirty="0">
                <a:solidFill>
                  <a:srgbClr val="475569"/>
                </a:solidFill>
                <a:latin typeface="Calibri" pitchFamily="34" charset="0"/>
                <a:ea typeface="Calibri" pitchFamily="34" charset="-122"/>
                <a:cs typeface="Calibri" pitchFamily="34" charset="-120"/>
              </a:rPr>
              <a:t>Comercio interno estudiantil</a:t>
            </a:r>
            <a:endParaRPr lang="en-US" sz="1000" dirty="0"/>
          </a:p>
        </p:txBody>
      </p:sp>
      <p:sp>
        <p:nvSpPr>
          <p:cNvPr id="39" name="Text 31"/>
          <p:cNvSpPr/>
          <p:nvPr/>
        </p:nvSpPr>
        <p:spPr>
          <a:xfrm>
            <a:off x="8298180" y="4937760"/>
            <a:ext cx="3291840" cy="1234440"/>
          </a:xfrm>
          <a:prstGeom prst="rect">
            <a:avLst/>
          </a:prstGeom>
          <a:noFill/>
          <a:ln/>
        </p:spPr>
        <p:txBody>
          <a:bodyPr wrap="square" lIns="0" tIns="0" rIns="0" bIns="0" rtlCol="0" anchor="t"/>
          <a:lstStyle/>
          <a:p>
            <a:pPr marL="0" indent="0" algn="l">
              <a:buNone/>
            </a:pPr>
            <a:r>
              <a:rPr lang="en-US" sz="1000" b="1" dirty="0">
                <a:solidFill>
                  <a:srgbClr val="1E4D8B"/>
                </a:solidFill>
                <a:latin typeface="Calibri" pitchFamily="34" charset="0"/>
                <a:ea typeface="Calibri" pitchFamily="34" charset="-122"/>
                <a:cs typeface="Calibri" pitchFamily="34" charset="-120"/>
              </a:rPr>
              <a:t>Clases: </a:t>
            </a:r>
            <a:r>
              <a:rPr lang="en-US" sz="1000" dirty="0">
                <a:solidFill>
                  <a:srgbClr val="1E293B"/>
                </a:solidFill>
                <a:latin typeface="Calibri" pitchFamily="34" charset="0"/>
                <a:ea typeface="Calibri" pitchFamily="34" charset="-122"/>
                <a:cs typeface="Calibri" pitchFamily="34" charset="-120"/>
              </a:rPr>
              <a:t>Producto, Vendedor, Comprador, Publicación</a:t>
            </a:r>
            <a:endParaRPr lang="en-US" sz="1000" dirty="0"/>
          </a:p>
          <a:p>
            <a:pPr marL="0" indent="0" algn="l">
              <a:buNone/>
            </a:pPr>
            <a:r>
              <a:rPr lang="en-US" sz="1000" b="1" dirty="0">
                <a:solidFill>
                  <a:srgbClr val="1E4D8B"/>
                </a:solidFill>
                <a:latin typeface="Calibri" pitchFamily="34" charset="0"/>
                <a:ea typeface="Calibri" pitchFamily="34" charset="-122"/>
                <a:cs typeface="Calibri" pitchFamily="34" charset="-120"/>
              </a:rPr>
              <a:t>Actividad: </a:t>
            </a:r>
            <a:r>
              <a:rPr lang="en-US" sz="1000" dirty="0">
                <a:solidFill>
                  <a:srgbClr val="1E293B"/>
                </a:solidFill>
                <a:latin typeface="Calibri" pitchFamily="34" charset="0"/>
                <a:ea typeface="Calibri" pitchFamily="34" charset="-122"/>
                <a:cs typeface="Calibri" pitchFamily="34" charset="-120"/>
              </a:rPr>
              <a:t>Publicar producto con moderación</a:t>
            </a:r>
            <a:endParaRPr lang="en-US" sz="1000" dirty="0"/>
          </a:p>
          <a:p>
            <a:pPr marL="0" indent="0" algn="l">
              <a:buNone/>
            </a:pPr>
            <a:r>
              <a:rPr lang="en-US" sz="1000" b="1" dirty="0">
                <a:solidFill>
                  <a:srgbClr val="1E4D8B"/>
                </a:solidFill>
                <a:latin typeface="Calibri" pitchFamily="34" charset="0"/>
                <a:ea typeface="Calibri" pitchFamily="34" charset="-122"/>
                <a:cs typeface="Calibri" pitchFamily="34" charset="-120"/>
              </a:rPr>
              <a:t>Estados: </a:t>
            </a:r>
            <a:r>
              <a:rPr lang="en-US" sz="1000" dirty="0">
                <a:solidFill>
                  <a:srgbClr val="1E293B"/>
                </a:solidFill>
                <a:latin typeface="Calibri" pitchFamily="34" charset="0"/>
                <a:ea typeface="Calibri" pitchFamily="34" charset="-122"/>
                <a:cs typeface="Calibri" pitchFamily="34" charset="-120"/>
              </a:rPr>
              <a:t>Publicación: Borrador -&gt; En revision -&gt; Publicada -&gt; Archivada</a:t>
            </a:r>
            <a:endParaRPr lang="en-US" sz="1000" dirty="0"/>
          </a:p>
        </p:txBody>
      </p:sp>
      <p:sp>
        <p:nvSpPr>
          <p:cNvPr id="41" name="Shape 32"/>
          <p:cNvSpPr/>
          <p:nvPr/>
        </p:nvSpPr>
        <p:spPr>
          <a:xfrm>
            <a:off x="0" y="0"/>
            <a:ext cx="12161520" cy="384048"/>
          </a:xfrm>
          <a:prstGeom prst="rect">
            <a:avLst/>
          </a:prstGeom>
          <a:solidFill>
            <a:srgbClr val="2C5F2D"/>
          </a:solidFill>
          <a:ln w="12700">
            <a:solidFill>
              <a:srgbClr val="2C5F2D"/>
            </a:solidFill>
            <a:prstDash val="solid"/>
          </a:ln>
        </p:spPr>
      </p:sp>
      <p:sp>
        <p:nvSpPr>
          <p:cNvPr id="42" name="Text 33"/>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43" name="Text 34"/>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Ejemplos por PFC</a:t>
            </a:r>
            <a:endParaRPr lang="en-US" sz="1000" dirty="0"/>
          </a:p>
        </p:txBody>
      </p:sp>
      <p:sp>
        <p:nvSpPr>
          <p:cNvPr id="44" name="Text 35"/>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45" name="Text 36"/>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27 / 30</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548640"/>
            <a:ext cx="11247120" cy="640080"/>
          </a:xfrm>
          <a:prstGeom prst="rect">
            <a:avLst/>
          </a:prstGeom>
          <a:noFill/>
          <a:ln/>
        </p:spPr>
        <p:txBody>
          <a:bodyPr wrap="square" lIns="0" tIns="0" rIns="0" bIns="0" rtlCol="0" anchor="t"/>
          <a:lstStyle/>
          <a:p>
            <a:pPr marL="0" indent="0" algn="l">
              <a:buNone/>
            </a:pPr>
            <a:r>
              <a:rPr lang="en-US" sz="3000" b="1" dirty="0">
                <a:solidFill>
                  <a:srgbClr val="1E4D8B"/>
                </a:solidFill>
                <a:latin typeface="Cambria" pitchFamily="34" charset="0"/>
                <a:ea typeface="Cambria" pitchFamily="34" charset="-122"/>
                <a:cs typeface="Cambria" pitchFamily="34" charset="-120"/>
              </a:rPr>
              <a:t>Actividad práctica de la Unidad</a:t>
            </a:r>
            <a:endParaRPr lang="en-US" sz="3000" dirty="0"/>
          </a:p>
        </p:txBody>
      </p:sp>
      <p:sp>
        <p:nvSpPr>
          <p:cNvPr id="3" name="Text 1"/>
          <p:cNvSpPr/>
          <p:nvPr/>
        </p:nvSpPr>
        <p:spPr>
          <a:xfrm>
            <a:off x="457200" y="1188720"/>
            <a:ext cx="11247120" cy="365760"/>
          </a:xfrm>
          <a:prstGeom prst="rect">
            <a:avLst/>
          </a:prstGeom>
          <a:noFill/>
          <a:ln/>
        </p:spPr>
        <p:txBody>
          <a:bodyPr wrap="square" lIns="0" tIns="0" rIns="0" bIns="0" rtlCol="0" anchor="t"/>
          <a:lstStyle/>
          <a:p>
            <a:pPr marL="0" indent="0" algn="l">
              <a:buNone/>
            </a:pPr>
            <a:r>
              <a:rPr lang="en-US" sz="1300" i="1" dirty="0">
                <a:solidFill>
                  <a:srgbClr val="475569"/>
                </a:solidFill>
                <a:latin typeface="Calibri" pitchFamily="34" charset="0"/>
                <a:ea typeface="Calibri" pitchFamily="34" charset="-122"/>
                <a:cs typeface="Calibri" pitchFamily="34" charset="-120"/>
              </a:rPr>
              <a:t>Producir el ERS parcial del PFC (Entrega 1B)</a:t>
            </a:r>
            <a:endParaRPr lang="en-US" sz="1300" dirty="0"/>
          </a:p>
        </p:txBody>
      </p:sp>
      <p:sp>
        <p:nvSpPr>
          <p:cNvPr id="4" name="Shape 2"/>
          <p:cNvSpPr/>
          <p:nvPr/>
        </p:nvSpPr>
        <p:spPr>
          <a:xfrm>
            <a:off x="457200" y="1783080"/>
            <a:ext cx="6217920" cy="4480560"/>
          </a:xfrm>
          <a:prstGeom prst="roundRect">
            <a:avLst>
              <a:gd name="adj" fmla="val 2041"/>
            </a:avLst>
          </a:prstGeom>
          <a:solidFill>
            <a:srgbClr val="F8FAFC"/>
          </a:solidFill>
          <a:ln w="19050">
            <a:solidFill>
              <a:srgbClr val="2C5F2D"/>
            </a:solidFill>
            <a:prstDash val="solid"/>
          </a:ln>
        </p:spPr>
      </p:sp>
      <p:pic>
        <p:nvPicPr>
          <p:cNvPr id="5" name="Image 0" descr="preencoded.png"/>
          <p:cNvPicPr>
            <a:picLocks noChangeAspect="1"/>
          </p:cNvPicPr>
          <p:nvPr/>
        </p:nvPicPr>
        <p:blipFill>
          <a:blip r:embed="rId3"/>
          <a:stretch>
            <a:fillRect/>
          </a:stretch>
        </p:blipFill>
        <p:spPr>
          <a:xfrm>
            <a:off x="685800" y="1965960"/>
            <a:ext cx="548640" cy="548640"/>
          </a:xfrm>
          <a:prstGeom prst="rect">
            <a:avLst/>
          </a:prstGeom>
        </p:spPr>
      </p:pic>
      <p:sp>
        <p:nvSpPr>
          <p:cNvPr id="6" name="Text 3"/>
          <p:cNvSpPr/>
          <p:nvPr/>
        </p:nvSpPr>
        <p:spPr>
          <a:xfrm>
            <a:off x="1371600" y="1965960"/>
            <a:ext cx="5212080" cy="548640"/>
          </a:xfrm>
          <a:prstGeom prst="rect">
            <a:avLst/>
          </a:prstGeom>
          <a:noFill/>
          <a:ln/>
        </p:spPr>
        <p:txBody>
          <a:bodyPr wrap="square" lIns="0" tIns="0" rIns="0" bIns="0" rtlCol="0" anchor="ctr"/>
          <a:lstStyle/>
          <a:p>
            <a:pPr marL="0" indent="0" algn="l">
              <a:buNone/>
            </a:pPr>
            <a:r>
              <a:rPr lang="en-US" sz="2000" b="1" dirty="0">
                <a:solidFill>
                  <a:srgbClr val="2C5F2D"/>
                </a:solidFill>
                <a:latin typeface="Cambria" pitchFamily="34" charset="0"/>
                <a:ea typeface="Cambria" pitchFamily="34" charset="-122"/>
                <a:cs typeface="Cambria" pitchFamily="34" charset="-120"/>
              </a:rPr>
              <a:t>Consigna</a:t>
            </a:r>
            <a:endParaRPr lang="en-US" sz="2000" dirty="0"/>
          </a:p>
        </p:txBody>
      </p:sp>
      <p:sp>
        <p:nvSpPr>
          <p:cNvPr id="7" name="Text 4"/>
          <p:cNvSpPr/>
          <p:nvPr/>
        </p:nvSpPr>
        <p:spPr>
          <a:xfrm>
            <a:off x="777240" y="2606040"/>
            <a:ext cx="5760720" cy="3566160"/>
          </a:xfrm>
          <a:prstGeom prst="rect">
            <a:avLst/>
          </a:prstGeom>
          <a:noFill/>
          <a:ln/>
        </p:spPr>
        <p:txBody>
          <a:bodyPr wrap="square" lIns="0" tIns="0" rIns="0" bIns="0" rtlCol="0" anchor="t"/>
          <a:lstStyle/>
          <a:p>
            <a:pPr marL="0" indent="0" algn="l">
              <a:spcAft>
                <a:spcPts val="800"/>
              </a:spcAft>
              <a:buNone/>
            </a:pPr>
            <a:r>
              <a:rPr lang="en-US" sz="1200" b="1" dirty="0">
                <a:solidFill>
                  <a:srgbClr val="1E293B"/>
                </a:solidFill>
                <a:latin typeface="Calibri" pitchFamily="34" charset="0"/>
                <a:ea typeface="Calibri" pitchFamily="34" charset="-122"/>
                <a:cs typeface="Calibri" pitchFamily="34" charset="-120"/>
              </a:rPr>
              <a:t>En equipos, sobre el sistema del PFC:</a:t>
            </a:r>
            <a:endParaRPr lang="en-US" sz="1200" dirty="0"/>
          </a:p>
          <a:p>
            <a:pPr marL="0" indent="0" algn="l">
              <a:spcAft>
                <a:spcPts val="600"/>
              </a:spcAft>
              <a:buNone/>
            </a:pPr>
            <a:r>
              <a:rPr lang="en-US" sz="1200" dirty="0">
                <a:solidFill>
                  <a:srgbClr val="1E293B"/>
                </a:solidFill>
                <a:latin typeface="Calibri" pitchFamily="34" charset="0"/>
                <a:ea typeface="Calibri" pitchFamily="34" charset="-122"/>
                <a:cs typeface="Calibri" pitchFamily="34" charset="-120"/>
              </a:rPr>
              <a:t>1. Redactar la sección 1 (introducción) y sección 2 (descripción general) del ERS.</a:t>
            </a:r>
            <a:endParaRPr lang="en-US" sz="1200" dirty="0"/>
          </a:p>
          <a:p>
            <a:pPr marL="0" indent="0" algn="l">
              <a:spcAft>
                <a:spcPts val="600"/>
              </a:spcAft>
              <a:buNone/>
            </a:pPr>
            <a:r>
              <a:rPr lang="en-US" sz="1200" dirty="0">
                <a:solidFill>
                  <a:srgbClr val="1E293B"/>
                </a:solidFill>
                <a:latin typeface="Calibri" pitchFamily="34" charset="0"/>
                <a:ea typeface="Calibri" pitchFamily="34" charset="-122"/>
                <a:cs typeface="Calibri" pitchFamily="34" charset="-120"/>
              </a:rPr>
              <a:t>2. Documentar mínimo 10 RF y 5 RNF (según ISO/IEC 25010:2023) con ficha completa de atributos.</a:t>
            </a:r>
            <a:endParaRPr lang="en-US" sz="1200" dirty="0"/>
          </a:p>
          <a:p>
            <a:pPr marL="0" indent="0" algn="l">
              <a:spcAft>
                <a:spcPts val="600"/>
              </a:spcAft>
              <a:buNone/>
            </a:pPr>
            <a:r>
              <a:rPr lang="en-US" sz="1200" dirty="0">
                <a:solidFill>
                  <a:srgbClr val="1E293B"/>
                </a:solidFill>
                <a:latin typeface="Calibri" pitchFamily="34" charset="0"/>
                <a:ea typeface="Calibri" pitchFamily="34" charset="-122"/>
                <a:cs typeface="Calibri" pitchFamily="34" charset="-120"/>
              </a:rPr>
              <a:t>3. Redactar criterios de aceptación BDD para cada RF.</a:t>
            </a:r>
            <a:endParaRPr lang="en-US" sz="1200" dirty="0"/>
          </a:p>
          <a:p>
            <a:pPr marL="0" indent="0" algn="l">
              <a:spcAft>
                <a:spcPts val="600"/>
              </a:spcAft>
              <a:buNone/>
            </a:pPr>
            <a:r>
              <a:rPr lang="en-US" sz="1200" dirty="0">
                <a:solidFill>
                  <a:srgbClr val="1E293B"/>
                </a:solidFill>
                <a:latin typeface="Calibri" pitchFamily="34" charset="0"/>
                <a:ea typeface="Calibri" pitchFamily="34" charset="-122"/>
                <a:cs typeface="Calibri" pitchFamily="34" charset="-120"/>
              </a:rPr>
              <a:t>4. Elaborar diagrama de casos de uso completo.</a:t>
            </a:r>
            <a:endParaRPr lang="en-US" sz="1200" dirty="0"/>
          </a:p>
          <a:p>
            <a:pPr marL="0" indent="0" algn="l">
              <a:spcAft>
                <a:spcPts val="600"/>
              </a:spcAft>
              <a:buNone/>
            </a:pPr>
            <a:r>
              <a:rPr lang="en-US" sz="1200" dirty="0">
                <a:solidFill>
                  <a:srgbClr val="1E293B"/>
                </a:solidFill>
                <a:latin typeface="Calibri" pitchFamily="34" charset="0"/>
                <a:ea typeface="Calibri" pitchFamily="34" charset="-122"/>
                <a:cs typeface="Calibri" pitchFamily="34" charset="-120"/>
              </a:rPr>
              <a:t>5. Elaborar diagrama de clases conceptual con cardinalidades.</a:t>
            </a:r>
            <a:endParaRPr lang="en-US" sz="1200" dirty="0"/>
          </a:p>
          <a:p>
            <a:pPr marL="0" indent="0" algn="l">
              <a:spcAft>
                <a:spcPts val="1000"/>
              </a:spcAft>
              <a:buNone/>
            </a:pPr>
            <a:r>
              <a:rPr lang="en-US" sz="1200" dirty="0">
                <a:solidFill>
                  <a:srgbClr val="1E293B"/>
                </a:solidFill>
                <a:latin typeface="Calibri" pitchFamily="34" charset="0"/>
                <a:ea typeface="Calibri" pitchFamily="34" charset="-122"/>
                <a:cs typeface="Calibri" pitchFamily="34" charset="-120"/>
              </a:rPr>
              <a:t>6. Construir matriz de trazabilidad inicial: RF &lt;-&gt; UC &lt;-&gt; Clase.</a:t>
            </a:r>
            <a:endParaRPr lang="en-US" sz="1200" dirty="0"/>
          </a:p>
          <a:p>
            <a:pPr marL="0" indent="0" algn="l">
              <a:buNone/>
            </a:pPr>
            <a:r>
              <a:rPr lang="en-US" sz="1200" b="1" i="1" dirty="0">
                <a:solidFill>
                  <a:srgbClr val="1E4D8B"/>
                </a:solidFill>
                <a:latin typeface="Calibri" pitchFamily="34" charset="0"/>
                <a:ea typeface="Calibri" pitchFamily="34" charset="-122"/>
                <a:cs typeface="Calibri" pitchFamily="34" charset="-120"/>
              </a:rPr>
              <a:t>Todo en LaTeX (Overleaf), con carpeta GitHub del equipo.</a:t>
            </a:r>
            <a:endParaRPr lang="en-US" sz="1200" dirty="0"/>
          </a:p>
        </p:txBody>
      </p:sp>
      <p:sp>
        <p:nvSpPr>
          <p:cNvPr id="8" name="Shape 5"/>
          <p:cNvSpPr/>
          <p:nvPr/>
        </p:nvSpPr>
        <p:spPr>
          <a:xfrm>
            <a:off x="6858000" y="1783080"/>
            <a:ext cx="4846320" cy="4480560"/>
          </a:xfrm>
          <a:prstGeom prst="roundRect">
            <a:avLst>
              <a:gd name="adj" fmla="val 2041"/>
            </a:avLst>
          </a:prstGeom>
          <a:solidFill>
            <a:srgbClr val="F8FAFC"/>
          </a:solidFill>
          <a:ln w="19050">
            <a:solidFill>
              <a:srgbClr val="D4A017"/>
            </a:solidFill>
            <a:prstDash val="solid"/>
          </a:ln>
        </p:spPr>
      </p:sp>
      <p:pic>
        <p:nvPicPr>
          <p:cNvPr id="9" name="Image 1" descr="preencoded.png"/>
          <p:cNvPicPr>
            <a:picLocks noChangeAspect="1"/>
          </p:cNvPicPr>
          <p:nvPr/>
        </p:nvPicPr>
        <p:blipFill>
          <a:blip r:embed="rId4"/>
          <a:stretch>
            <a:fillRect/>
          </a:stretch>
        </p:blipFill>
        <p:spPr>
          <a:xfrm>
            <a:off x="7086600" y="1965960"/>
            <a:ext cx="548640" cy="548640"/>
          </a:xfrm>
          <a:prstGeom prst="rect">
            <a:avLst/>
          </a:prstGeom>
        </p:spPr>
      </p:pic>
      <p:sp>
        <p:nvSpPr>
          <p:cNvPr id="10" name="Text 6"/>
          <p:cNvSpPr/>
          <p:nvPr/>
        </p:nvSpPr>
        <p:spPr>
          <a:xfrm>
            <a:off x="7772400" y="1965960"/>
            <a:ext cx="3840480" cy="548640"/>
          </a:xfrm>
          <a:prstGeom prst="rect">
            <a:avLst/>
          </a:prstGeom>
          <a:noFill/>
          <a:ln/>
        </p:spPr>
        <p:txBody>
          <a:bodyPr wrap="square" lIns="0" tIns="0" rIns="0" bIns="0" rtlCol="0" anchor="ctr"/>
          <a:lstStyle/>
          <a:p>
            <a:pPr marL="0" indent="0" algn="l">
              <a:buNone/>
            </a:pPr>
            <a:r>
              <a:rPr lang="en-US" sz="2000" b="1" dirty="0">
                <a:solidFill>
                  <a:srgbClr val="D4A017"/>
                </a:solidFill>
                <a:latin typeface="Cambria" pitchFamily="34" charset="0"/>
                <a:ea typeface="Cambria" pitchFamily="34" charset="-122"/>
                <a:cs typeface="Cambria" pitchFamily="34" charset="-120"/>
              </a:rPr>
              <a:t>Entregables</a:t>
            </a:r>
            <a:endParaRPr lang="en-US" sz="2000" dirty="0"/>
          </a:p>
        </p:txBody>
      </p:sp>
      <p:sp>
        <p:nvSpPr>
          <p:cNvPr id="11" name="Text 7"/>
          <p:cNvSpPr/>
          <p:nvPr/>
        </p:nvSpPr>
        <p:spPr>
          <a:xfrm>
            <a:off x="7086600" y="2606040"/>
            <a:ext cx="4480560" cy="3566160"/>
          </a:xfrm>
          <a:prstGeom prst="rect">
            <a:avLst/>
          </a:prstGeom>
          <a:noFill/>
          <a:ln/>
        </p:spPr>
        <p:txBody>
          <a:bodyPr wrap="square" lIns="0" tIns="0" rIns="0" bIns="0" rtlCol="0" anchor="t"/>
          <a:lstStyle/>
          <a:p>
            <a:pPr marL="0" indent="0" algn="l">
              <a:spcAft>
                <a:spcPts val="400"/>
              </a:spcAft>
              <a:buNone/>
            </a:pPr>
            <a:r>
              <a:rPr lang="en-US" sz="1200" b="1" dirty="0">
                <a:solidFill>
                  <a:srgbClr val="1E4D8B"/>
                </a:solidFill>
                <a:latin typeface="Calibri" pitchFamily="34" charset="0"/>
                <a:ea typeface="Calibri" pitchFamily="34" charset="-122"/>
                <a:cs typeface="Calibri" pitchFamily="34" charset="-120"/>
              </a:rPr>
              <a:t>PDF del ERS parcial</a:t>
            </a:r>
            <a:endParaRPr lang="en-US" sz="1200" dirty="0"/>
          </a:p>
          <a:p>
            <a:pPr marL="0" indent="0" algn="l">
              <a:spcAft>
                <a:spcPts val="1000"/>
              </a:spcAft>
              <a:buNone/>
            </a:pPr>
            <a:r>
              <a:rPr lang="en-US" sz="1200" i="1" dirty="0">
                <a:solidFill>
                  <a:srgbClr val="475569"/>
                </a:solidFill>
                <a:latin typeface="Calibri" pitchFamily="34" charset="0"/>
                <a:ea typeface="Calibri" pitchFamily="34" charset="-122"/>
                <a:cs typeface="Calibri" pitchFamily="34" charset="-120"/>
              </a:rPr>
              <a:t>(compilado con dos pasadas de pdflatex).</a:t>
            </a:r>
            <a:endParaRPr lang="en-US" sz="1200" dirty="0"/>
          </a:p>
          <a:p>
            <a:pPr marL="0" indent="0" algn="l">
              <a:spcAft>
                <a:spcPts val="400"/>
              </a:spcAft>
              <a:buNone/>
            </a:pPr>
            <a:r>
              <a:rPr lang="en-US" sz="1200" b="1" dirty="0">
                <a:solidFill>
                  <a:srgbClr val="1E4D8B"/>
                </a:solidFill>
                <a:latin typeface="Calibri" pitchFamily="34" charset="0"/>
                <a:ea typeface="Calibri" pitchFamily="34" charset="-122"/>
                <a:cs typeface="Calibri" pitchFamily="34" charset="-120"/>
              </a:rPr>
              <a:t>Fuentes LaTeX</a:t>
            </a:r>
            <a:endParaRPr lang="en-US" sz="1200" dirty="0"/>
          </a:p>
          <a:p>
            <a:pPr marL="0" indent="0" algn="l">
              <a:spcAft>
                <a:spcPts val="1000"/>
              </a:spcAft>
              <a:buNone/>
            </a:pPr>
            <a:r>
              <a:rPr lang="en-US" sz="1200" i="1" dirty="0">
                <a:solidFill>
                  <a:srgbClr val="475569"/>
                </a:solidFill>
                <a:latin typeface="Calibri" pitchFamily="34" charset="0"/>
                <a:ea typeface="Calibri" pitchFamily="34" charset="-122"/>
                <a:cs typeface="Calibri" pitchFamily="34" charset="-120"/>
              </a:rPr>
              <a:t>en el repositorio GitHub del equipo.</a:t>
            </a:r>
            <a:endParaRPr lang="en-US" sz="1200" dirty="0"/>
          </a:p>
          <a:p>
            <a:pPr marL="0" indent="0" algn="l">
              <a:spcAft>
                <a:spcPts val="400"/>
              </a:spcAft>
              <a:buNone/>
            </a:pPr>
            <a:r>
              <a:rPr lang="en-US" sz="1200" b="1" dirty="0">
                <a:solidFill>
                  <a:srgbClr val="1E4D8B"/>
                </a:solidFill>
                <a:latin typeface="Calibri" pitchFamily="34" charset="0"/>
                <a:ea typeface="Calibri" pitchFamily="34" charset="-122"/>
                <a:cs typeface="Calibri" pitchFamily="34" charset="-120"/>
              </a:rPr>
              <a:t>Modelos UML</a:t>
            </a:r>
            <a:endParaRPr lang="en-US" sz="1200" dirty="0"/>
          </a:p>
          <a:p>
            <a:pPr marL="0" indent="0" algn="l">
              <a:spcAft>
                <a:spcPts val="1000"/>
              </a:spcAft>
              <a:buNone/>
            </a:pPr>
            <a:r>
              <a:rPr lang="en-US" sz="1200" i="1" dirty="0">
                <a:solidFill>
                  <a:srgbClr val="475569"/>
                </a:solidFill>
                <a:latin typeface="Calibri" pitchFamily="34" charset="0"/>
                <a:ea typeface="Calibri" pitchFamily="34" charset="-122"/>
                <a:cs typeface="Calibri" pitchFamily="34" charset="-120"/>
              </a:rPr>
              <a:t>en formato .uml, .puml o .drawio.</a:t>
            </a:r>
            <a:endParaRPr lang="en-US" sz="1200" dirty="0"/>
          </a:p>
          <a:p>
            <a:pPr marL="0" indent="0" algn="l">
              <a:spcAft>
                <a:spcPts val="400"/>
              </a:spcAft>
              <a:buNone/>
            </a:pPr>
            <a:r>
              <a:rPr lang="en-US" sz="1200" b="1" dirty="0">
                <a:solidFill>
                  <a:srgbClr val="1E4D8B"/>
                </a:solidFill>
                <a:latin typeface="Calibri" pitchFamily="34" charset="0"/>
                <a:ea typeface="Calibri" pitchFamily="34" charset="-122"/>
                <a:cs typeface="Calibri" pitchFamily="34" charset="-120"/>
              </a:rPr>
              <a:t>Matriz de trazabilidad</a:t>
            </a:r>
            <a:endParaRPr lang="en-US" sz="1200" dirty="0"/>
          </a:p>
          <a:p>
            <a:pPr marL="0" indent="0" algn="l">
              <a:spcAft>
                <a:spcPts val="1000"/>
              </a:spcAft>
              <a:buNone/>
            </a:pPr>
            <a:r>
              <a:rPr lang="en-US" sz="1200" i="1" dirty="0">
                <a:solidFill>
                  <a:srgbClr val="475569"/>
                </a:solidFill>
                <a:latin typeface="Calibri" pitchFamily="34" charset="0"/>
                <a:ea typeface="Calibri" pitchFamily="34" charset="-122"/>
                <a:cs typeface="Calibri" pitchFamily="34" charset="-120"/>
              </a:rPr>
              <a:t>en formato xlsx o csv.</a:t>
            </a:r>
            <a:endParaRPr lang="en-US" sz="1200" dirty="0"/>
          </a:p>
          <a:p>
            <a:pPr marL="0" indent="0" algn="l">
              <a:buNone/>
            </a:pPr>
            <a:r>
              <a:rPr lang="en-US" sz="1200" b="1" dirty="0">
                <a:solidFill>
                  <a:srgbClr val="B91C1C"/>
                </a:solidFill>
                <a:latin typeface="Calibri" pitchFamily="34" charset="0"/>
                <a:ea typeface="Calibri" pitchFamily="34" charset="-122"/>
                <a:cs typeface="Calibri" pitchFamily="34" charset="-120"/>
              </a:rPr>
              <a:t>Fecha: </a:t>
            </a:r>
            <a:r>
              <a:rPr lang="en-US" sz="1200" i="1" dirty="0">
                <a:solidFill>
                  <a:srgbClr val="1E293B"/>
                </a:solidFill>
                <a:latin typeface="Calibri" pitchFamily="34" charset="0"/>
                <a:ea typeface="Calibri" pitchFamily="34" charset="-122"/>
                <a:cs typeface="Calibri" pitchFamily="34" charset="-120"/>
              </a:rPr>
              <a:t>Semana 10 (12-jul-2026).</a:t>
            </a:r>
            <a:endParaRPr lang="en-US" sz="1200" dirty="0"/>
          </a:p>
        </p:txBody>
      </p:sp>
      <p:sp>
        <p:nvSpPr>
          <p:cNvPr id="13" name="Shape 8"/>
          <p:cNvSpPr/>
          <p:nvPr/>
        </p:nvSpPr>
        <p:spPr>
          <a:xfrm>
            <a:off x="0" y="0"/>
            <a:ext cx="12161520" cy="384048"/>
          </a:xfrm>
          <a:prstGeom prst="rect">
            <a:avLst/>
          </a:prstGeom>
          <a:solidFill>
            <a:srgbClr val="2C5F2D"/>
          </a:solidFill>
          <a:ln w="12700">
            <a:solidFill>
              <a:srgbClr val="2C5F2D"/>
            </a:solidFill>
            <a:prstDash val="solid"/>
          </a:ln>
        </p:spPr>
      </p:sp>
      <p:sp>
        <p:nvSpPr>
          <p:cNvPr id="14" name="Text 9"/>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15" name="Text 10"/>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Actividad práctica</a:t>
            </a:r>
            <a:endParaRPr lang="en-US" sz="1000" dirty="0"/>
          </a:p>
        </p:txBody>
      </p:sp>
      <p:sp>
        <p:nvSpPr>
          <p:cNvPr id="16" name="Text 11"/>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17" name="Text 12"/>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28 / 30</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548640"/>
            <a:ext cx="11247120" cy="640080"/>
          </a:xfrm>
          <a:prstGeom prst="rect">
            <a:avLst/>
          </a:prstGeom>
          <a:noFill/>
          <a:ln/>
        </p:spPr>
        <p:txBody>
          <a:bodyPr wrap="square" lIns="0" tIns="0" rIns="0" bIns="0" rtlCol="0" anchor="t"/>
          <a:lstStyle/>
          <a:p>
            <a:pPr marL="0" indent="0" algn="l">
              <a:buNone/>
            </a:pPr>
            <a:r>
              <a:rPr lang="en-US" sz="3000" b="1" dirty="0">
                <a:solidFill>
                  <a:srgbClr val="1E4D8B"/>
                </a:solidFill>
                <a:latin typeface="Cambria" pitchFamily="34" charset="0"/>
                <a:ea typeface="Cambria" pitchFamily="34" charset="-122"/>
                <a:cs typeface="Cambria" pitchFamily="34" charset="-120"/>
              </a:rPr>
              <a:t>Referencias</a:t>
            </a:r>
            <a:endParaRPr lang="en-US" sz="3000" dirty="0"/>
          </a:p>
        </p:txBody>
      </p:sp>
      <p:sp>
        <p:nvSpPr>
          <p:cNvPr id="3" name="Text 1"/>
          <p:cNvSpPr/>
          <p:nvPr/>
        </p:nvSpPr>
        <p:spPr>
          <a:xfrm>
            <a:off x="457200" y="1188720"/>
            <a:ext cx="11247120" cy="365760"/>
          </a:xfrm>
          <a:prstGeom prst="rect">
            <a:avLst/>
          </a:prstGeom>
          <a:noFill/>
          <a:ln/>
        </p:spPr>
        <p:txBody>
          <a:bodyPr wrap="square" lIns="0" tIns="0" rIns="0" bIns="0" rtlCol="0" anchor="t"/>
          <a:lstStyle/>
          <a:p>
            <a:pPr marL="0" indent="0" algn="l">
              <a:buNone/>
            </a:pPr>
            <a:r>
              <a:rPr lang="en-US" sz="1300" i="1" dirty="0">
                <a:solidFill>
                  <a:srgbClr val="475569"/>
                </a:solidFill>
                <a:latin typeface="Calibri" pitchFamily="34" charset="0"/>
                <a:ea typeface="Calibri" pitchFamily="34" charset="-122"/>
                <a:cs typeface="Calibri" pitchFamily="34" charset="-120"/>
              </a:rPr>
              <a:t>Fuentes normativas y academicas verificadas</a:t>
            </a:r>
            <a:endParaRPr lang="en-US" sz="1300" dirty="0"/>
          </a:p>
        </p:txBody>
      </p:sp>
      <p:sp>
        <p:nvSpPr>
          <p:cNvPr id="4" name="Text 2"/>
          <p:cNvSpPr/>
          <p:nvPr/>
        </p:nvSpPr>
        <p:spPr>
          <a:xfrm>
            <a:off x="457200" y="1783080"/>
            <a:ext cx="5623560" cy="365760"/>
          </a:xfrm>
          <a:prstGeom prst="rect">
            <a:avLst/>
          </a:prstGeom>
          <a:noFill/>
          <a:ln/>
        </p:spPr>
        <p:txBody>
          <a:bodyPr wrap="square" lIns="0" tIns="0" rIns="0" bIns="0" rtlCol="0" anchor="ctr"/>
          <a:lstStyle/>
          <a:p>
            <a:pPr marL="0" indent="0" algn="l">
              <a:buNone/>
            </a:pPr>
            <a:r>
              <a:rPr lang="en-US" sz="1600" b="1" dirty="0">
                <a:solidFill>
                  <a:srgbClr val="2C5F2D"/>
                </a:solidFill>
                <a:latin typeface="Cambria" pitchFamily="34" charset="0"/>
                <a:ea typeface="Cambria" pitchFamily="34" charset="-122"/>
                <a:cs typeface="Cambria" pitchFamily="34" charset="-120"/>
              </a:rPr>
              <a:t>Estándares</a:t>
            </a:r>
            <a:endParaRPr lang="en-US" sz="1600" dirty="0"/>
          </a:p>
        </p:txBody>
      </p:sp>
      <p:sp>
        <p:nvSpPr>
          <p:cNvPr id="5" name="Text 3"/>
          <p:cNvSpPr/>
          <p:nvPr/>
        </p:nvSpPr>
        <p:spPr>
          <a:xfrm>
            <a:off x="502920" y="2194560"/>
            <a:ext cx="5577840" cy="4114800"/>
          </a:xfrm>
          <a:prstGeom prst="rect">
            <a:avLst/>
          </a:prstGeom>
          <a:noFill/>
          <a:ln/>
        </p:spPr>
        <p:txBody>
          <a:bodyPr wrap="square" lIns="0" tIns="0" rIns="0" bIns="0" rtlCol="0" anchor="t"/>
          <a:lstStyle/>
          <a:p>
            <a:pPr marL="0" indent="0" algn="l">
              <a:buNone/>
            </a:pPr>
            <a:r>
              <a:rPr lang="en-US" sz="1050" b="1" dirty="0">
                <a:solidFill>
                  <a:srgbClr val="1E293B"/>
                </a:solidFill>
                <a:latin typeface="Calibri" pitchFamily="34" charset="0"/>
                <a:ea typeface="Calibri" pitchFamily="34" charset="-122"/>
                <a:cs typeface="Calibri" pitchFamily="34" charset="-120"/>
              </a:rPr>
              <a:t>ISO/IEC/IEEE 29148:2018. </a:t>
            </a:r>
            <a:r>
              <a:rPr lang="en-US" sz="1050" dirty="0">
                <a:solidFill>
                  <a:srgbClr val="1E293B"/>
                </a:solidFill>
                <a:latin typeface="Calibri" pitchFamily="34" charset="0"/>
                <a:ea typeface="Calibri" pitchFamily="34" charset="-122"/>
                <a:cs typeface="Calibri" pitchFamily="34" charset="-120"/>
              </a:rPr>
              <a:t>Systems and software engineering. Life cycle processes. Requirements engineering. Geneva: ISO. https://www.iso.org/standard/72089.html</a:t>
            </a:r>
            <a:endParaRPr lang="en-US" sz="1050" dirty="0"/>
          </a:p>
          <a:p>
            <a:pPr marL="0" indent="0" algn="l">
              <a:buNone/>
            </a:pPr>
            <a:r>
              <a:rPr lang="en-US" sz="1050" b="1" dirty="0">
                <a:solidFill>
                  <a:srgbClr val="1E293B"/>
                </a:solidFill>
                <a:latin typeface="Calibri" pitchFamily="34" charset="0"/>
                <a:ea typeface="Calibri" pitchFamily="34" charset="-122"/>
                <a:cs typeface="Calibri" pitchFamily="34" charset="-120"/>
              </a:rPr>
              <a:t>ISO/IEC 25010:2023. </a:t>
            </a:r>
            <a:r>
              <a:rPr lang="en-US" sz="1050" dirty="0">
                <a:solidFill>
                  <a:srgbClr val="1E293B"/>
                </a:solidFill>
                <a:latin typeface="Calibri" pitchFamily="34" charset="0"/>
                <a:ea typeface="Calibri" pitchFamily="34" charset="-122"/>
                <a:cs typeface="Calibri" pitchFamily="34" charset="-120"/>
              </a:rPr>
              <a:t>Systems and software engineering. SQuaRE. Product quality model.</a:t>
            </a:r>
            <a:endParaRPr lang="en-US" sz="1050" dirty="0"/>
          </a:p>
          <a:p>
            <a:pPr marL="0" indent="0" algn="l">
              <a:buNone/>
            </a:pPr>
            <a:r>
              <a:rPr lang="en-US" sz="1050" b="1" dirty="0">
                <a:solidFill>
                  <a:srgbClr val="1E293B"/>
                </a:solidFill>
                <a:latin typeface="Calibri" pitchFamily="34" charset="0"/>
                <a:ea typeface="Calibri" pitchFamily="34" charset="-122"/>
                <a:cs typeface="Calibri" pitchFamily="34" charset="-120"/>
              </a:rPr>
              <a:t>OMG UML 2.5.1 (2017). </a:t>
            </a:r>
            <a:r>
              <a:rPr lang="en-US" sz="1050" dirty="0">
                <a:solidFill>
                  <a:srgbClr val="1E293B"/>
                </a:solidFill>
                <a:latin typeface="Calibri" pitchFamily="34" charset="0"/>
                <a:ea typeface="Calibri" pitchFamily="34" charset="-122"/>
                <a:cs typeface="Calibri" pitchFamily="34" charset="-120"/>
              </a:rPr>
              <a:t>Unified Modeling Language Specification. Object Management Group. formal/2017-12-05.</a:t>
            </a:r>
            <a:endParaRPr lang="en-US" sz="1050" dirty="0"/>
          </a:p>
          <a:p>
            <a:pPr marL="0" indent="0" algn="l">
              <a:buNone/>
            </a:pPr>
            <a:r>
              <a:rPr lang="en-US" sz="1050" b="1" dirty="0">
                <a:solidFill>
                  <a:srgbClr val="1E293B"/>
                </a:solidFill>
                <a:latin typeface="Calibri" pitchFamily="34" charset="0"/>
                <a:ea typeface="Calibri" pitchFamily="34" charset="-122"/>
                <a:cs typeface="Calibri" pitchFamily="34" charset="-120"/>
              </a:rPr>
              <a:t>IREB CPRE FL v3.1 (2023). </a:t>
            </a:r>
            <a:r>
              <a:rPr lang="en-US" sz="1050" dirty="0">
                <a:solidFill>
                  <a:srgbClr val="1E293B"/>
                </a:solidFill>
                <a:latin typeface="Calibri" pitchFamily="34" charset="0"/>
                <a:ea typeface="Calibri" pitchFamily="34" charset="-122"/>
                <a:cs typeface="Calibri" pitchFamily="34" charset="-120"/>
              </a:rPr>
              <a:t>Syllabus - Certified Professional for Requirements Engineering, Foundation Level.</a:t>
            </a:r>
            <a:endParaRPr lang="en-US" sz="1050" dirty="0"/>
          </a:p>
          <a:p>
            <a:pPr marL="0" indent="0" algn="l">
              <a:buNone/>
            </a:pPr>
            <a:r>
              <a:rPr lang="en-US" sz="1050" b="1" dirty="0">
                <a:solidFill>
                  <a:srgbClr val="1E293B"/>
                </a:solidFill>
                <a:latin typeface="Calibri" pitchFamily="34" charset="0"/>
                <a:ea typeface="Calibri" pitchFamily="34" charset="-122"/>
                <a:cs typeface="Calibri" pitchFamily="34" charset="-120"/>
              </a:rPr>
              <a:t>SWEBOK v4.0 (2024). </a:t>
            </a:r>
            <a:r>
              <a:rPr lang="en-US" sz="1050" dirty="0">
                <a:solidFill>
                  <a:srgbClr val="1E293B"/>
                </a:solidFill>
                <a:latin typeface="Calibri" pitchFamily="34" charset="0"/>
                <a:ea typeface="Calibri" pitchFamily="34" charset="-122"/>
                <a:cs typeface="Calibri" pitchFamily="34" charset="-120"/>
              </a:rPr>
              <a:t>Software Engineering Body of Knowledge. IEEE Computer Society.</a:t>
            </a:r>
            <a:endParaRPr lang="en-US" sz="1050" dirty="0"/>
          </a:p>
        </p:txBody>
      </p:sp>
      <p:sp>
        <p:nvSpPr>
          <p:cNvPr id="6" name="Text 4"/>
          <p:cNvSpPr/>
          <p:nvPr/>
        </p:nvSpPr>
        <p:spPr>
          <a:xfrm>
            <a:off x="6263640" y="1783080"/>
            <a:ext cx="5623560" cy="365760"/>
          </a:xfrm>
          <a:prstGeom prst="rect">
            <a:avLst/>
          </a:prstGeom>
          <a:noFill/>
          <a:ln/>
        </p:spPr>
        <p:txBody>
          <a:bodyPr wrap="square" lIns="0" tIns="0" rIns="0" bIns="0" rtlCol="0" anchor="ctr"/>
          <a:lstStyle/>
          <a:p>
            <a:pPr marL="0" indent="0" algn="l">
              <a:buNone/>
            </a:pPr>
            <a:r>
              <a:rPr lang="en-US" sz="1600" b="1" dirty="0">
                <a:solidFill>
                  <a:srgbClr val="1E4D8B"/>
                </a:solidFill>
                <a:latin typeface="Cambria" pitchFamily="34" charset="0"/>
                <a:ea typeface="Cambria" pitchFamily="34" charset="-122"/>
                <a:cs typeface="Cambria" pitchFamily="34" charset="-120"/>
              </a:rPr>
              <a:t>Textos y articulos</a:t>
            </a:r>
            <a:endParaRPr lang="en-US" sz="1600" dirty="0"/>
          </a:p>
        </p:txBody>
      </p:sp>
      <p:sp>
        <p:nvSpPr>
          <p:cNvPr id="7" name="Text 5"/>
          <p:cNvSpPr/>
          <p:nvPr/>
        </p:nvSpPr>
        <p:spPr>
          <a:xfrm>
            <a:off x="6309360" y="2194560"/>
            <a:ext cx="5577840" cy="4114800"/>
          </a:xfrm>
          <a:prstGeom prst="rect">
            <a:avLst/>
          </a:prstGeom>
          <a:noFill/>
          <a:ln/>
        </p:spPr>
        <p:txBody>
          <a:bodyPr wrap="square" lIns="0" tIns="0" rIns="0" bIns="0" rtlCol="0" anchor="t"/>
          <a:lstStyle/>
          <a:p>
            <a:pPr marL="0" indent="0" algn="l">
              <a:buNone/>
            </a:pPr>
            <a:r>
              <a:rPr lang="en-US" sz="1050" b="1" dirty="0">
                <a:solidFill>
                  <a:srgbClr val="1E293B"/>
                </a:solidFill>
                <a:latin typeface="Calibri" pitchFamily="34" charset="0"/>
                <a:ea typeface="Calibri" pitchFamily="34" charset="-122"/>
                <a:cs typeface="Calibri" pitchFamily="34" charset="-120"/>
              </a:rPr>
              <a:t>Pohl, K. (2010). </a:t>
            </a:r>
            <a:r>
              <a:rPr lang="en-US" sz="1050" dirty="0">
                <a:solidFill>
                  <a:srgbClr val="1E293B"/>
                </a:solidFill>
                <a:latin typeface="Calibri" pitchFamily="34" charset="0"/>
                <a:ea typeface="Calibri" pitchFamily="34" charset="-122"/>
                <a:cs typeface="Calibri" pitchFamily="34" charset="-120"/>
              </a:rPr>
              <a:t>Requirements Engineering: Fundamentals, Principles, and Techniques. Springer. https://doi.org/10.1007/978-3-642-12578-2</a:t>
            </a:r>
            <a:endParaRPr lang="en-US" sz="1050" dirty="0"/>
          </a:p>
          <a:p>
            <a:pPr marL="0" indent="0" algn="l">
              <a:buNone/>
            </a:pPr>
            <a:r>
              <a:rPr lang="en-US" sz="1050" b="1" dirty="0">
                <a:solidFill>
                  <a:srgbClr val="1E293B"/>
                </a:solidFill>
                <a:latin typeface="Calibri" pitchFamily="34" charset="0"/>
                <a:ea typeface="Calibri" pitchFamily="34" charset="-122"/>
                <a:cs typeface="Calibri" pitchFamily="34" charset="-120"/>
              </a:rPr>
              <a:t>Chen, P. P.-S. (1976). </a:t>
            </a:r>
            <a:r>
              <a:rPr lang="en-US" sz="1050" dirty="0">
                <a:solidFill>
                  <a:srgbClr val="1E293B"/>
                </a:solidFill>
                <a:latin typeface="Calibri" pitchFamily="34" charset="0"/>
                <a:ea typeface="Calibri" pitchFamily="34" charset="-122"/>
                <a:cs typeface="Calibri" pitchFamily="34" charset="-120"/>
              </a:rPr>
              <a:t>The Entity-Relationship Model - Toward a Unified View of Data. ACM Transactions on Database Systems, 1(1), 9-36.</a:t>
            </a:r>
            <a:endParaRPr lang="en-US" sz="1050" dirty="0"/>
          </a:p>
          <a:p>
            <a:pPr marL="0" indent="0" algn="l">
              <a:buNone/>
            </a:pPr>
            <a:r>
              <a:rPr lang="en-US" sz="1050" b="1" dirty="0">
                <a:solidFill>
                  <a:srgbClr val="1E293B"/>
                </a:solidFill>
                <a:latin typeface="Calibri" pitchFamily="34" charset="0"/>
                <a:ea typeface="Calibri" pitchFamily="34" charset="-122"/>
                <a:cs typeface="Calibri" pitchFamily="34" charset="-120"/>
              </a:rPr>
              <a:t>Harel, D. (1987). </a:t>
            </a:r>
            <a:r>
              <a:rPr lang="en-US" sz="1050" dirty="0">
                <a:solidFill>
                  <a:srgbClr val="1E293B"/>
                </a:solidFill>
                <a:latin typeface="Calibri" pitchFamily="34" charset="0"/>
                <a:ea typeface="Calibri" pitchFamily="34" charset="-122"/>
                <a:cs typeface="Calibri" pitchFamily="34" charset="-120"/>
              </a:rPr>
              <a:t>Statecharts: A visual formalism for complex systems. Science of Computer Programming, 8(3), 231-274.</a:t>
            </a:r>
            <a:endParaRPr lang="en-US" sz="1050" dirty="0"/>
          </a:p>
          <a:p>
            <a:pPr marL="0" indent="0" algn="l">
              <a:buNone/>
            </a:pPr>
            <a:r>
              <a:rPr lang="en-US" sz="1050" b="1" dirty="0">
                <a:solidFill>
                  <a:srgbClr val="1E293B"/>
                </a:solidFill>
                <a:latin typeface="Calibri" pitchFamily="34" charset="0"/>
                <a:ea typeface="Calibri" pitchFamily="34" charset="-122"/>
                <a:cs typeface="Calibri" pitchFamily="34" charset="-120"/>
              </a:rPr>
              <a:t>DeMarco, T. (1979). </a:t>
            </a:r>
            <a:r>
              <a:rPr lang="en-US" sz="1050" dirty="0">
                <a:solidFill>
                  <a:srgbClr val="1E293B"/>
                </a:solidFill>
                <a:latin typeface="Calibri" pitchFamily="34" charset="0"/>
                <a:ea typeface="Calibri" pitchFamily="34" charset="-122"/>
                <a:cs typeface="Calibri" pitchFamily="34" charset="-120"/>
              </a:rPr>
              <a:t>Structured Analysis and System Specification. Prentice-Hall.</a:t>
            </a:r>
            <a:endParaRPr lang="en-US" sz="1050" dirty="0"/>
          </a:p>
          <a:p>
            <a:pPr marL="0" indent="0" algn="l">
              <a:buNone/>
            </a:pPr>
            <a:r>
              <a:rPr lang="en-US" sz="1050" b="1" dirty="0">
                <a:solidFill>
                  <a:srgbClr val="1E293B"/>
                </a:solidFill>
                <a:latin typeface="Calibri" pitchFamily="34" charset="0"/>
                <a:ea typeface="Calibri" pitchFamily="34" charset="-122"/>
                <a:cs typeface="Calibri" pitchFamily="34" charset="-120"/>
              </a:rPr>
              <a:t>Rupp, C. &amp; SOPHISTs (2014). </a:t>
            </a:r>
            <a:r>
              <a:rPr lang="en-US" sz="1050" dirty="0">
                <a:solidFill>
                  <a:srgbClr val="1E293B"/>
                </a:solidFill>
                <a:latin typeface="Calibri" pitchFamily="34" charset="0"/>
                <a:ea typeface="Calibri" pitchFamily="34" charset="-122"/>
                <a:cs typeface="Calibri" pitchFamily="34" charset="-120"/>
              </a:rPr>
              <a:t>Requirements-Engineering und -Management (6a ed.). Hanser.</a:t>
            </a:r>
            <a:endParaRPr lang="en-US" sz="1050" dirty="0"/>
          </a:p>
          <a:p>
            <a:pPr marL="0" indent="0" algn="l">
              <a:buNone/>
            </a:pPr>
            <a:r>
              <a:rPr lang="en-US" sz="1050" b="1" dirty="0">
                <a:solidFill>
                  <a:srgbClr val="1E293B"/>
                </a:solidFill>
                <a:latin typeface="Calibri" pitchFamily="34" charset="0"/>
                <a:ea typeface="Calibri" pitchFamily="34" charset="-122"/>
                <a:cs typeface="Calibri" pitchFamily="34" charset="-120"/>
              </a:rPr>
              <a:t>North, D. (2006). </a:t>
            </a:r>
            <a:r>
              <a:rPr lang="en-US" sz="1050" dirty="0">
                <a:solidFill>
                  <a:srgbClr val="1E293B"/>
                </a:solidFill>
                <a:latin typeface="Calibri" pitchFamily="34" charset="0"/>
                <a:ea typeface="Calibri" pitchFamily="34" charset="-122"/>
                <a:cs typeface="Calibri" pitchFamily="34" charset="-120"/>
              </a:rPr>
              <a:t>Introducing BDD. Better Software Magazine, March 2006.</a:t>
            </a:r>
            <a:endParaRPr lang="en-US" sz="1050" dirty="0"/>
          </a:p>
        </p:txBody>
      </p:sp>
      <p:sp>
        <p:nvSpPr>
          <p:cNvPr id="9" name="Shape 6"/>
          <p:cNvSpPr/>
          <p:nvPr/>
        </p:nvSpPr>
        <p:spPr>
          <a:xfrm>
            <a:off x="0" y="0"/>
            <a:ext cx="12161520" cy="384048"/>
          </a:xfrm>
          <a:prstGeom prst="rect">
            <a:avLst/>
          </a:prstGeom>
          <a:solidFill>
            <a:srgbClr val="2C5F2D"/>
          </a:solidFill>
          <a:ln w="12700">
            <a:solidFill>
              <a:srgbClr val="2C5F2D"/>
            </a:solidFill>
            <a:prstDash val="solid"/>
          </a:ln>
        </p:spPr>
      </p:sp>
      <p:sp>
        <p:nvSpPr>
          <p:cNvPr id="10" name="Text 7"/>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11" name="Text 8"/>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Referencias</a:t>
            </a:r>
            <a:endParaRPr lang="en-US" sz="1000" dirty="0"/>
          </a:p>
        </p:txBody>
      </p:sp>
      <p:sp>
        <p:nvSpPr>
          <p:cNvPr id="12" name="Text 9"/>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13" name="Text 10"/>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29 / 30</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E4D8B"/>
        </a:solidFill>
        <a:effectLst/>
      </p:bgPr>
    </p:bg>
    <p:spTree>
      <p:nvGrpSpPr>
        <p:cNvPr id="1" name=""/>
        <p:cNvGrpSpPr/>
        <p:nvPr/>
      </p:nvGrpSpPr>
      <p:grpSpPr>
        <a:xfrm>
          <a:off x="0" y="0"/>
          <a:ext cx="0" cy="0"/>
          <a:chOff x="0" y="0"/>
          <a:chExt cx="0" cy="0"/>
        </a:xfrm>
      </p:grpSpPr>
      <p:sp>
        <p:nvSpPr>
          <p:cNvPr id="2" name="Shape 0"/>
          <p:cNvSpPr/>
          <p:nvPr/>
        </p:nvSpPr>
        <p:spPr>
          <a:xfrm>
            <a:off x="-2743200" y="-2743200"/>
            <a:ext cx="7315200" cy="7315200"/>
          </a:xfrm>
          <a:prstGeom prst="ellipse">
            <a:avLst/>
          </a:prstGeom>
          <a:solidFill>
            <a:srgbClr val="2C5F2D">
              <a:alpha val="40000"/>
            </a:srgbClr>
          </a:solidFill>
          <a:ln w="12700">
            <a:solidFill>
              <a:srgbClr val="2C5F2D"/>
            </a:solidFill>
            <a:prstDash val="solid"/>
          </a:ln>
        </p:spPr>
      </p:sp>
      <p:sp>
        <p:nvSpPr>
          <p:cNvPr id="3" name="Shape 1"/>
          <p:cNvSpPr/>
          <p:nvPr/>
        </p:nvSpPr>
        <p:spPr>
          <a:xfrm>
            <a:off x="8503920" y="3200400"/>
            <a:ext cx="6400800" cy="6400800"/>
          </a:xfrm>
          <a:prstGeom prst="ellipse">
            <a:avLst/>
          </a:prstGeom>
          <a:solidFill>
            <a:srgbClr val="D4A017">
              <a:alpha val="35000"/>
            </a:srgbClr>
          </a:solidFill>
          <a:ln w="12700">
            <a:solidFill>
              <a:srgbClr val="D4A017"/>
            </a:solidFill>
            <a:prstDash val="solid"/>
          </a:ln>
        </p:spPr>
      </p:sp>
      <p:sp>
        <p:nvSpPr>
          <p:cNvPr id="4" name="Text 2"/>
          <p:cNvSpPr/>
          <p:nvPr/>
        </p:nvSpPr>
        <p:spPr>
          <a:xfrm>
            <a:off x="457200" y="1828800"/>
            <a:ext cx="11247120" cy="822960"/>
          </a:xfrm>
          <a:prstGeom prst="rect">
            <a:avLst/>
          </a:prstGeom>
          <a:noFill/>
          <a:ln/>
        </p:spPr>
        <p:txBody>
          <a:bodyPr wrap="square" lIns="0" tIns="0" rIns="0" bIns="0" rtlCol="0" anchor="ctr"/>
          <a:lstStyle/>
          <a:p>
            <a:pPr marL="0" indent="0" algn="ctr">
              <a:buNone/>
            </a:pPr>
            <a:r>
              <a:rPr lang="en-US" sz="4200" b="1" dirty="0">
                <a:solidFill>
                  <a:srgbClr val="FFFFFF"/>
                </a:solidFill>
                <a:latin typeface="Cambria" pitchFamily="34" charset="0"/>
                <a:ea typeface="Cambria" pitchFamily="34" charset="-122"/>
                <a:cs typeface="Cambria" pitchFamily="34" charset="-120"/>
              </a:rPr>
              <a:t>Fin de la Unidad 3</a:t>
            </a:r>
            <a:endParaRPr lang="en-US" sz="4200" dirty="0"/>
          </a:p>
        </p:txBody>
      </p:sp>
      <p:sp>
        <p:nvSpPr>
          <p:cNvPr id="5" name="Text 3"/>
          <p:cNvSpPr/>
          <p:nvPr/>
        </p:nvSpPr>
        <p:spPr>
          <a:xfrm>
            <a:off x="457200" y="2743200"/>
            <a:ext cx="11247120" cy="548640"/>
          </a:xfrm>
          <a:prstGeom prst="rect">
            <a:avLst/>
          </a:prstGeom>
          <a:noFill/>
          <a:ln/>
        </p:spPr>
        <p:txBody>
          <a:bodyPr wrap="square" lIns="0" tIns="0" rIns="0" bIns="0" rtlCol="0" anchor="ctr"/>
          <a:lstStyle/>
          <a:p>
            <a:pPr marL="0" indent="0" algn="ctr">
              <a:buNone/>
            </a:pPr>
            <a:r>
              <a:rPr lang="en-US" sz="2000" i="1" dirty="0">
                <a:solidFill>
                  <a:srgbClr val="D4A017"/>
                </a:solidFill>
                <a:latin typeface="Calibri" pitchFamily="34" charset="0"/>
                <a:ea typeface="Calibri" pitchFamily="34" charset="-122"/>
                <a:cs typeface="Calibri" pitchFamily="34" charset="-120"/>
              </a:rPr>
              <a:t>La ERS es el contrato técnico que sostiene todo lo demas</a:t>
            </a:r>
            <a:endParaRPr lang="en-US" sz="2000" dirty="0"/>
          </a:p>
        </p:txBody>
      </p:sp>
      <p:sp>
        <p:nvSpPr>
          <p:cNvPr id="6" name="Text 4"/>
          <p:cNvSpPr/>
          <p:nvPr/>
        </p:nvSpPr>
        <p:spPr>
          <a:xfrm>
            <a:off x="457200" y="3383280"/>
            <a:ext cx="11247120" cy="457200"/>
          </a:xfrm>
          <a:prstGeom prst="rect">
            <a:avLst/>
          </a:prstGeom>
          <a:noFill/>
          <a:ln/>
        </p:spPr>
        <p:txBody>
          <a:bodyPr wrap="square" lIns="0" tIns="0" rIns="0" bIns="0"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Buen requisito = necesario, sin ambigüedad, singular, verificable, trazable.</a:t>
            </a:r>
            <a:endParaRPr lang="en-US" sz="1600" dirty="0"/>
          </a:p>
        </p:txBody>
      </p:sp>
      <p:sp>
        <p:nvSpPr>
          <p:cNvPr id="7" name="Shape 5"/>
          <p:cNvSpPr/>
          <p:nvPr/>
        </p:nvSpPr>
        <p:spPr>
          <a:xfrm>
            <a:off x="2743200" y="4297680"/>
            <a:ext cx="6675120" cy="1554480"/>
          </a:xfrm>
          <a:prstGeom prst="roundRect">
            <a:avLst>
              <a:gd name="adj" fmla="val 8824"/>
            </a:avLst>
          </a:prstGeom>
          <a:solidFill>
            <a:srgbClr val="FFFFFF">
              <a:alpha val="85000"/>
            </a:srgbClr>
          </a:solidFill>
          <a:ln w="25400">
            <a:solidFill>
              <a:srgbClr val="D4A017"/>
            </a:solidFill>
            <a:prstDash val="solid"/>
          </a:ln>
        </p:spPr>
      </p:sp>
      <p:sp>
        <p:nvSpPr>
          <p:cNvPr id="8" name="Text 6"/>
          <p:cNvSpPr/>
          <p:nvPr/>
        </p:nvSpPr>
        <p:spPr>
          <a:xfrm>
            <a:off x="2926080" y="4434840"/>
            <a:ext cx="6309360" cy="411480"/>
          </a:xfrm>
          <a:prstGeom prst="rect">
            <a:avLst/>
          </a:prstGeom>
          <a:noFill/>
          <a:ln/>
        </p:spPr>
        <p:txBody>
          <a:bodyPr wrap="square" lIns="0" tIns="0" rIns="0" bIns="0" rtlCol="0" anchor="ctr"/>
          <a:lstStyle/>
          <a:p>
            <a:pPr marL="0" indent="0" algn="ctr">
              <a:buNone/>
            </a:pPr>
            <a:r>
              <a:rPr lang="en-US" sz="1800" b="1" dirty="0">
                <a:solidFill>
                  <a:srgbClr val="D4A017"/>
                </a:solidFill>
                <a:latin typeface="Cambria" pitchFamily="34" charset="0"/>
                <a:ea typeface="Cambria" pitchFamily="34" charset="-122"/>
                <a:cs typeface="Cambria" pitchFamily="34" charset="-120"/>
              </a:rPr>
              <a:t>¿Qué viene ahora?</a:t>
            </a:r>
            <a:endParaRPr lang="en-US" sz="1800" dirty="0"/>
          </a:p>
        </p:txBody>
      </p:sp>
      <p:sp>
        <p:nvSpPr>
          <p:cNvPr id="9" name="Text 7"/>
          <p:cNvSpPr/>
          <p:nvPr/>
        </p:nvSpPr>
        <p:spPr>
          <a:xfrm>
            <a:off x="2926080" y="4937760"/>
            <a:ext cx="6309360" cy="822960"/>
          </a:xfrm>
          <a:prstGeom prst="rect">
            <a:avLst/>
          </a:prstGeom>
          <a:noFill/>
          <a:ln/>
        </p:spPr>
        <p:txBody>
          <a:bodyPr wrap="square" lIns="0" tIns="0" rIns="0" bIns="0" rtlCol="0" anchor="ctr"/>
          <a:lstStyle/>
          <a:p>
            <a:pPr marL="0" indent="0" algn="ctr">
              <a:buNone/>
            </a:pPr>
            <a:r>
              <a:rPr lang="en-US" sz="1300" b="1" dirty="0">
                <a:solidFill>
                  <a:srgbClr val="D4A017"/>
                </a:solidFill>
                <a:latin typeface="Calibri" pitchFamily="34" charset="0"/>
                <a:ea typeface="Calibri" pitchFamily="34" charset="-122"/>
                <a:cs typeface="Calibri" pitchFamily="34" charset="-120"/>
              </a:rPr>
              <a:t>Unidad 4: </a:t>
            </a:r>
            <a:r>
              <a:rPr lang="en-US" sz="1300" dirty="0">
                <a:solidFill>
                  <a:srgbClr val="FFFFFF"/>
                </a:solidFill>
                <a:latin typeface="Calibri" pitchFamily="34" charset="0"/>
                <a:ea typeface="Calibri" pitchFamily="34" charset="-122"/>
                <a:cs typeface="Calibri" pitchFamily="34" charset="-120"/>
              </a:rPr>
              <a:t>Validación, Gestión y Consideraciones Prácticas.</a:t>
            </a:r>
            <a:endParaRPr lang="en-US" sz="1300" dirty="0"/>
          </a:p>
          <a:p>
            <a:pPr marL="0" indent="0" algn="ctr">
              <a:buNone/>
            </a:pPr>
            <a:r>
              <a:rPr lang="en-US" sz="1300" i="1" dirty="0">
                <a:solidFill>
                  <a:srgbClr val="FFFFFF"/>
                </a:solidFill>
                <a:latin typeface="Calibri" pitchFamily="34" charset="0"/>
                <a:ea typeface="Calibri" pitchFamily="34" charset="-122"/>
                <a:cs typeface="Calibri" pitchFamily="34" charset="-120"/>
              </a:rPr>
              <a:t>Revisiones, inspecciónes, control de cambios, trazabilidad avanzada.</a:t>
            </a:r>
            <a:endParaRPr lang="en-US" sz="1300" dirty="0"/>
          </a:p>
        </p:txBody>
      </p:sp>
      <p:sp>
        <p:nvSpPr>
          <p:cNvPr id="10" name="Text 8"/>
          <p:cNvSpPr/>
          <p:nvPr/>
        </p:nvSpPr>
        <p:spPr>
          <a:xfrm>
            <a:off x="457200" y="6126480"/>
            <a:ext cx="11247120" cy="365760"/>
          </a:xfrm>
          <a:prstGeom prst="rect">
            <a:avLst/>
          </a:prstGeom>
          <a:noFill/>
          <a:ln/>
        </p:spPr>
        <p:txBody>
          <a:bodyPr wrap="square" lIns="0" tIns="0" rIns="0" bIns="0" rtlCol="0" anchor="ctr"/>
          <a:lstStyle/>
          <a:p>
            <a:pPr marL="0" indent="0" algn="ctr">
              <a:buNone/>
            </a:pPr>
            <a:r>
              <a:rPr lang="en-US" sz="1400" i="1" dirty="0">
                <a:solidFill>
                  <a:srgbClr val="D4A017"/>
                </a:solidFill>
                <a:latin typeface="Calibri" pitchFamily="34" charset="0"/>
                <a:ea typeface="Calibri" pitchFamily="34" charset="-122"/>
                <a:cs typeface="Calibri" pitchFamily="34" charset="-120"/>
              </a:rPr>
              <a:t>Gracias por su atención</a:t>
            </a:r>
            <a:endParaRPr lang="en-US" sz="1400" dirty="0"/>
          </a:p>
        </p:txBody>
      </p:sp>
      <p:sp>
        <p:nvSpPr>
          <p:cNvPr id="12" name="Shape 9"/>
          <p:cNvSpPr/>
          <p:nvPr/>
        </p:nvSpPr>
        <p:spPr>
          <a:xfrm>
            <a:off x="0" y="0"/>
            <a:ext cx="12161520" cy="384048"/>
          </a:xfrm>
          <a:prstGeom prst="rect">
            <a:avLst/>
          </a:prstGeom>
          <a:solidFill>
            <a:srgbClr val="2C5F2D"/>
          </a:solidFill>
          <a:ln w="12700">
            <a:solidFill>
              <a:srgbClr val="2C5F2D"/>
            </a:solidFill>
            <a:prstDash val="solid"/>
          </a:ln>
        </p:spPr>
      </p:sp>
      <p:sp>
        <p:nvSpPr>
          <p:cNvPr id="13" name="Text 10"/>
          <p:cNvSpPr/>
          <p:nvPr/>
        </p:nvSpPr>
        <p:spPr>
          <a:xfrm>
            <a:off x="320040" y="45720"/>
            <a:ext cx="685800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UTEQ  |  Ingeniería de Software  |  ISR-401</a:t>
            </a:r>
            <a:endParaRPr lang="en-US" sz="1000" dirty="0"/>
          </a:p>
        </p:txBody>
      </p:sp>
      <p:sp>
        <p:nvSpPr>
          <p:cNvPr id="14" name="Text 11"/>
          <p:cNvSpPr/>
          <p:nvPr/>
        </p:nvSpPr>
        <p:spPr>
          <a:xfrm>
            <a:off x="7315200" y="45720"/>
            <a:ext cx="4572000" cy="292608"/>
          </a:xfrm>
          <a:prstGeom prst="rect">
            <a:avLst/>
          </a:prstGeom>
          <a:noFill/>
          <a:ln/>
        </p:spPr>
        <p:txBody>
          <a:bodyPr wrap="square" lIns="0" tIns="0" rIns="0" bIns="0" rtlCol="0" anchor="ctr"/>
          <a:lstStyle/>
          <a:p>
            <a:pPr marL="0" indent="0" algn="r">
              <a:buNone/>
            </a:pPr>
            <a:r>
              <a:rPr lang="en-US" sz="1000" i="1" dirty="0">
                <a:solidFill>
                  <a:srgbClr val="D4A017"/>
                </a:solidFill>
                <a:latin typeface="Calibri" pitchFamily="34" charset="0"/>
                <a:ea typeface="Calibri" pitchFamily="34" charset="-122"/>
                <a:cs typeface="Calibri" pitchFamily="34" charset="-120"/>
              </a:rPr>
              <a:t>Unidad 3  |  Cierre</a:t>
            </a:r>
            <a:endParaRPr lang="en-US" sz="1000" dirty="0"/>
          </a:p>
        </p:txBody>
      </p:sp>
      <p:sp>
        <p:nvSpPr>
          <p:cNvPr id="15" name="Text 12"/>
          <p:cNvSpPr/>
          <p:nvPr/>
        </p:nvSpPr>
        <p:spPr>
          <a:xfrm>
            <a:off x="320040" y="6565392"/>
            <a:ext cx="7772400" cy="228600"/>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Ing. Gleiston Guerrero Ulloa, PhD    -    PPA 2026-2027</a:t>
            </a:r>
            <a:endParaRPr lang="en-US" sz="900" dirty="0"/>
          </a:p>
        </p:txBody>
      </p:sp>
      <p:sp>
        <p:nvSpPr>
          <p:cNvPr id="16" name="Text 13"/>
          <p:cNvSpPr/>
          <p:nvPr/>
        </p:nvSpPr>
        <p:spPr>
          <a:xfrm>
            <a:off x="10881360" y="6565392"/>
            <a:ext cx="914400" cy="228600"/>
          </a:xfrm>
          <a:prstGeom prst="rect">
            <a:avLst/>
          </a:prstGeom>
          <a:noFill/>
          <a:ln/>
        </p:spPr>
        <p:txBody>
          <a:bodyPr wrap="square" lIns="0" tIns="0" rIns="0" bIns="0" rtlCol="0" anchor="ctr"/>
          <a:lstStyle/>
          <a:p>
            <a:pPr marL="0" indent="0" algn="r">
              <a:buNone/>
            </a:pPr>
            <a:r>
              <a:rPr lang="en-US" sz="900" b="1" dirty="0">
                <a:solidFill>
                  <a:srgbClr val="2C5F2D"/>
                </a:solidFill>
                <a:latin typeface="Calibri" pitchFamily="34" charset="0"/>
                <a:ea typeface="Calibri" pitchFamily="34" charset="-122"/>
                <a:cs typeface="Calibri" pitchFamily="34" charset="-120"/>
              </a:rPr>
              <a:t>30 / 30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TotalTime>
  <Words>14545</Words>
  <Application>Microsoft Office PowerPoint</Application>
  <PresentationFormat>Panorámica</PresentationFormat>
  <Paragraphs>783</Paragraphs>
  <Slides>30</Slides>
  <Notes>30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30</vt:i4>
      </vt:variant>
    </vt:vector>
  </HeadingPairs>
  <TitlesOfParts>
    <vt:vector size="34"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UTEQ - FCC - Ing. de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3: Especificación de Requisitos de Software</dc:title>
  <dc:subject>ISR-401 Ingeniería de Requisitos</dc:subject>
  <dc:creator>Ing. Gleiston Guerrero Ulloa, PhD</dc:creator>
  <cp:lastModifiedBy>GLEISTON CICERON GUERRERO ULLOA</cp:lastModifiedBy>
  <cp:revision>1</cp:revision>
  <dcterms:created xsi:type="dcterms:W3CDTF">2026-07-06T19:57:54Z</dcterms:created>
  <dcterms:modified xsi:type="dcterms:W3CDTF">2026-07-06T22:08:59Z</dcterms:modified>
</cp:coreProperties>
</file>