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portada de la Unidad II.
Guion del docente: La Unidad II marca el salto conceptual mas importante del curso. En la Unidad I el estudiante vivio enteramente en el navegador (HTML5, CSS3 y JavaScript del lado del cliente). A partir de aqui cruzamos la frontera hacia el SERVIDOR: el lugar donde se ejecuta la logica de negocio, se consulta la base de datos y se genera dinamicamente la respuesta.
Recorreremos cuatro tecnologias de backend (PERL, PHP, Java con Spring Boot y ASP.NET Core con C#), una semana de tutoria de refuerzo (semana 8) y cerraremos con seguridad web (OWASP Top 10) y la Evaluacion Parcial Primer Corte (EP1) en la semana 9.
Mensaje clave para abrir: 'Todo lo que el usuario NO debe ver ni manipular vive en el servidor'. Esa frase es el hilo conductor de la unidad.
Siglas de esta diapositiva:
- OWASP = Open Web Application Security Project (fundacion sin fines de lucro de seguridad web).
- EP1 = Evaluacion Parcial Primer Corte.
- UTEQ = Universidad Tecnica Estatal de Quevedo.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mapa de la unidad.
Guion del docente: presente esta diapositiva como el 'indice visual' de las proximas cinco semanas. Cada tarjeta es una semana.
- Semana 5 (PERL/PHP): empezamos por lo historico y lo masivo. PHP sigue moviendo gran parte de la web (WordPress, Laravel).
- Semana 6 (Java/Spring Boot): es la tecnologia central del Proyecto Fin de Curso (PFC). Spring Boot 3 sera el backend del proyecto.
- Semana 7 (ASP.NET Core): mostramos que los mismos conceptos REST/CRUD se repiten en otra plataforma; ayuda a abstraer.
- Semana 8 (tutoria): no hay tema nuevo; se consolida y se prepara el examen.
- Semana 9 (seguridad + EP1): cierra el corte con OWASP y el examen.
Enfatice el mensaje del pie: la seguridad es transversal, no un apendice.
Siglas: PFC = Proyecto Fin de Curso. CRUD = Create, Read, Update, Delete (las cuatro operaciones basicas sobre datos). REST = Representational State Transfer (estilo de arquitectura para APIs web). EP1 = Evaluacion Parcial Primer Corte.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resultados de aprendizaje (los objetivos formales que el SGA exige declarar).
Guion del docente: lea los cinco resultados de la columna izquierda; son medibles y cada uno se evalua en una semana concreta. La columna derecha responde la pregunta que TODO estudiante se hace al iniciar la unidad: '¿para que necesito el servidor si ya hago paginas con JavaScript?'
Profundice en el primer recuadro derecho: abra las DevTools del navegador (tecla F12) en clase y muestre como un campo 'disabled' o una validacion de JavaScript se pueden eliminar en segundos. Ese es el momento 'aha': la validacion del cliente es para comodidad del usuario (UX), NUNCA para seguridad.
Siglas: HTTP = HyperText Transfer Protocol. CRUD = Create/Read/Update/Delete. EF Core = Entity Framework Core (el ORM de .NET). ORM = Object-Relational Mapping (mapeo objeto-relacional). JPA = Jakarta Persistence API. UX = User Experience (experiencia de usuario). SGA = Sistema de Gestion Academica. DevTools = Developer Tools (herramientas de desarrollador del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 la Semana 5.
Guion: aqui arranca formalmente el backend. El epigrafe contrasta a los dos pioneros: Lerdorf (PHP) y Wall (PERL). Ambos lenguajes nacieron resolviendo necesidades concretas, no como diseno academico, y por eso sobrevivieron decadas.
Resultado de aprendizaje de la semana: el estudiante desarrolla aplicaciones dinamicas del lado del servidor con PERL/CGI y PHP 8.3, procesa formularios y comprende el modelo request-response.
Siglas: CGI = Common Gateway Interface (interfaz estandar que permitia a un servidor web ejecutar programas externos para generar paginas). PHP = hoy 'PHP: Hypertext Preprocessor' (acronimo recursivo); originalmente 'Personal Home Page'. PERL = Practical Extraction and Report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concepto: el modelo request-response.
Guion del docente: este es EL concepto fundacional de todo el backend. Use la analogia del restaurante: el cliente (navegador) hace un pedido (request), la cocina (servidor de aplicaciones) lo prepara consultando la despensa (base de datos) y devuelve el plato (response).
Recorra el diagrama de derecha de arriba hacia abajo: (1) el navegador envia HTTP al servidor web Apache o Nginx; (2) este NO sabe ejecutar PHP, asi que delega ('exec') al interprete del lenguaje; (3) el interprete consulta la base de datos MySQL via SQL; (4) el resultado sube de regreso, se arma el HTML y viaja al navegador.
Punto critico a subrayar: HTTP es STATELESS (sin estado). El servidor no recuerda quien eres entre una peticion y la siguiente. Esto explica por que mas adelante (semana 10) necesitaremos cookies, sesiones y JWT para 'recordar' al usuario.
Siglas: HTTP = HyperText Transfer Protocol. Apache/Nginx = los dos servidores web mas usados. SQL = Structured Query Language (lenguaje de consulta a bases de datos). Stateless = sin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PERL: historia (caja izquierda) y Hola mundo (codigo derecha).
Guion del docente: PERL se ensena por PERSPECTIVA HISTORICA, no para usarlo en el PFC. El estudiante debe entender que la web dinamica no nacio con frameworks modernos: nacio con scripts CGI escritos en PERL a principios de los 90.
Sobre el codigo: la linea '#!/usr/bin/perl' es el 'shebang', que le dice al sistema que interprete usar. 'use strict' y 'use warnings' son buenas practicas que fuerzan disciplina. El modulo CGI lee parametros con -&gt;param(). Note que el script DEBE imprimir primero la cabecera HTTP (Content-Type) y luego el cuerpo HTML; si se invierte el orden, el navegador muestra error.
Contexto cultural: TIMTOWTDI es la filosofia opuesta a Python ('deberia haber una sola forma obvia de hacerlo'). Esa flexibilidad hizo a PERL potente pero a menudo ilegible: codigo 'de solo escritura'.
Siglas: CGI = Common Gateway Interface (interfaz que permite al servidor web ejecutar un programa externo por cada peticion; era ineficiente porque arrancaba un proceso nuevo cada vez). TIMTOWTDI = There Is More Than One Way To Do It. GET = metodo HTTP que envia parametros en la URL. sysadmin = administracion de sistemas. Legacy/legado = sistemas antiguos aun en produccion.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PHP: tabla evolutiva (izquierda) y procesamiento de formularios (derecha).
Guion del docente: PHP es el lenguaje que el estudiante MAS encontrara en el mundo real porque WordPress, Wikipedia, gran parte de Facebook en sus origenes y Laravel corren sobre el. La tabla muestra que PHP 8.x es un lenguaje moderno y rapido, muy lejos del PHP desordenado de los 2000.
El codigo de la derecha condensa las DOS reglas de oro del backend, que repetiremos toda la unidad:
1) NUNCA confiar en la entrada del usuario: hay que validarla en el servidor (aqui con trim y la verificacion de vacio).
2) SIEMPRE escapar la salida con htmlspecialchars, para neutralizar etiquetas &lt;script&gt; que provocarian un ataque XSS.
Explique $_GET vs $_POST con el ejemplo del buscador (GET, porque la busqueda es repetible y compartible por URL) frente al login o el registro (POST, porque modifica estado y no debe quedar en el historial ni en la URL). El operador '??' es el 'null coalescing': devuelve el valor de la derecha si el de la izquierda no existe.
Siglas: XSS = Cross-Site Scripting (inyeccion de scripts maliciosos en una pagina). JIT = Just-In-Time compilation (compilacion al vuelo que acelera la ejecucion). $_GET/$_POST = arreglos superglobales de PHP que contienen los datos de la peticion. Idempotente = que repetir la operacion no cambia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buenas practicas PHP (cierre de la semana 5).
Guion del docente: estas seis reglas son el 'minimo profesional'. Recorralas vinculando cada una con un riesgo concreto:
1) strict_types evita conversiones silenciosas peligrosas (que '0' string se vuelva 0 numero).
2) PDO con prepared statements es LA defensa contra SQL Injection; lo veremos a fondo en la semana 9.
3) htmlspecialchars contra XSS.
4) password_hash usa BCrypt, que es lento a proposito para frenar ataques de fuerza bruta; MD5/SHA1 puros son inseguros para contrasenas.
5) Composer es el gestor de dependencias de PHP (equivalente a npm en Node o Maven en Java); PSR-4 estandariza el autoload de clases.
6) El problema de UTF-8 aparece como los famosos caracteres raros en lugar de tildes; debe configurarse en cuatro lugares (lo repasamos en la semana 8).
Siglas: PDO = PHP Data Objects (capa de acceso a datos unificada). SQL Injection = inyeccion de codigo SQL malicioso. BCrypt = algoritmo de hash de contrasenas con factor de coste. MD5/SHA1 = algoritmos de hash antiguos, inseguros para contrasenas. PSR = PHP Standards Recommendation. UTF-8 = codificacion de caracteres Unicode estandar de la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 la Semana 6.
Guion: esta es la semana mas importante de la unidad para el Proyecto Fin de Curso (PFC), porque el backend del PFC se construye en Spring Boot 3. El recorrido es deliberado: primero el Servlet 'crudo' (para entender el motor por debajo), luego Spring Boot (para ver cuanto trabajo automatiza).
Resultado de aprendizaje: el estudiante construye su primera aplicacion Spring Boot con un controlador REST y conecta una base de datos con JPA.
Siglas: JSP = JavaServer Pages (plantillas HTML con codigo Java embebido, hoy historicas). Servlet = clase Java que atiende peticiones HTTP. Spring Boot = framework que simplifica la configuracion de Spring. JPA = Jakarta Persistence API. REST = Representational State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historia de Java web.
Guion del docente: el estudiante no necesita memorizar la tabla; necesita captar la TENDENCIA: Java pasa de verboso y lento a productivo y rapido, y Spring Boot es el catalizador de ese cambio.
Punto practico que debe quedar grabado (caja derecha): use SIEMPRE una version LTS. Las versiones intermedias pierden soporte en seis meses. Advierta sobre la migracion jakarta.*: es el error #1 al copiar tutoriales viejos. Si un import dice 'javax.persistence', el codigo es pre-2022 y no compilara con Spring Boot 3.
Mencione los virtual threads de Java 21 como la innovacion que hace a Java competitivo de nuevo frente a Node.js y Go en concurrencia.
Siglas: LTS = Long-Term Support (soporte a largo plazo). EE = Enterprise Edition. Jakarta EE = sucesor de Java EE tras el traspaso a la fundacion Eclipse (por eso cambiaron los paquetes de javax a jakarta). Records = clases inmutables de datos con sintaxis minima. Virtual threads = hilos ligeros gestionados por la JVM.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comparativa Servlet vs Spring Boot.
Guion del docente: esta es la diapositiva 'antes y despues'. Ambos bloques de codigo hacen LO MISMO: responder 'Hola Mundo' en la ruta /hola. Pregunte a la clase cual prefieren escribir y mantener. El Servlet exige heredar de HttpServlet, sobrescribir doGet, manejar request/response a mano. Spring Boot reduce todo a una anotacion (@GetMapping) sobre un metodo que devuelve un String.
El objetivo pedagogico de mostrar el Servlet NO es que lo usen, sino que entiendan que Spring Boot no es magia: por debajo SIGUE habiendo un Servlet (el DispatcherServlet) que Spring genera y gestiona por ellos.
Recorra la caja derecha como el 'porque' de elegir Spring Boot para el PFC. Enfatice 'opinionado': el framework toma decisiones por ti, lo que acelera el arranque pero exige aprender sus convenciones. El Tomcat embebido es un punto que sorprende: no hay que instalar un servidor aparte.
Siglas: REST = Representational State Transfer. JSON = JavaScript Object Notation (formato de intercambio de datos). Tomcat = servidor web/contenedor de Servlets de Apache. Boilerplate = codigo repetitivo y mecanico. Endpoint = punto de acceso (una URL + metodo HTTP) que la API expone. DispatcherServlet = el Servlet central que Spring usa internamente para enrutar peticiones.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Spring Data JPA y la arquitectura por capas.
Guion del docente: el concepto que debe brillar aqui es que con JPA el estudiante define una CLASE Java (la entidad) y una INTERFAZ vacia (el repositorio), y a cambio recibe gratis las operaciones CRUD completas (findAll, findById, save, delete) sin escribir una sola linea de SQL. Spring las implementa en tiempo de ejecucion.
Explique las anotaciones: @Entity marca la clase como persistente; @Table fija el nombre de la tabla; @Id marca la clave primaria; @GeneratedValue indica que la base de datos genera el id automaticamente (autoincremental).
La caja derecha introduce la ARQUITECTURA POR CAPAS, que sera obligatoria en el PFC: el controlador recibe la peticion y delega; el servicio contiene las reglas de negocio; el repositorio habla con la base de datos. 'Regla de oro: controladores delgados (thin controllers)'. Toda la logica importante va en los servicios, nunca en el controlador.
Siglas: JPA = Jakarta Persistence API (especificacion estandar de ORM en Java). ORM = Object-Relational Mapping (traduce entre objetos Java y filas de tablas). CRUD = Create, Read, Update, Delete. H2 = base de datos en memoria util para pruebas. SQL = Structured Query Language. DI = Dependency Injection (inyeccion de dependencias, como Spring conecta las capas entre 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buenas practicas Spring Boot (cierre semana 6).
Guion del docente: estas doce reglas son la rubrica implicita con la que se evaluara el backend del PFC. Destaque las cuatro mas importantes:
- Controllers thin + capas: separa responsabilidades; un controlador de 200 lineas es senal de mal diseno.
- DTOs separados de entidades: nunca exponga directamente la entidad JPA en la API; use un objeto de transferencia para no filtrar campos sensibles.
- @Valid en toda entrada: la validacion declarativa evita datos corruptos.
- @ControllerAdvice: centraliza el manejo de errores para devolver respuestas HTTP coherentes.
Las demas (Lombok, logging, tests, profiles, Actuator) se iran viendo en unidades posteriores; aqui se siembran.
Siglas: DTO = Data Transfer Object (objeto de transferencia de datos). PRG = Post-Redirect-Get (patron que evita reenvios de formulario al recargar). Lombok = libreria que genera getters/setters/constructores automaticamente. Slf4j = Simple Logging Facade for Java (fachada de logging). Logback = implementacion de logging. YAML/.yml = formato de archivos de configuracion. Actuator = modulo de Spring para monitoreo y health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 la Semana 7.
Guion: tras Java, mostramos la alternativa de Microsoft. El objetivo NO es que el estudiante domine C#, sino que vea que los conceptos REST/CRUD son universales: cambian la sintaxis y las herramientas, pero el patron es el mismo. Esto desarrolla pensamiento abstracto.
Resultado de aprendizaje: el estudiante construye un CRUD funcional con ASP.NET Core 8, C# 12 y Entity Framework Core, documentado con Swagger.
Siglas: ASP = Active Server Pages (la tecnologia original de 1996). .NET = plataforma de desarrollo de Microsoft. C# = lenguaje principal de .NET. Core = la version multiplataforma y open source. EF Core = Entity Framework Core (el ORM de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historia de ASP.NET.
Guion del docente: la moraleja es el giro estrategico de Microsoft en 2016 (fila resaltada en verde). Durante decadas .NET fue propietario y solo corria en Windows. Con ASP.NET Core, Microsoft lo hizo open source y multiplataforma; hoy corre en Linux, que es donde vive la mayoria de los servidores de produccion. Esto lo volvio competitivo frente a Java y Node.js.
No detenga la clase en WebForms ni en ASP clasico: son contexto historico. El estudiante solo usara ASP.NET Core (de 2016 en adelante).
Conecte con la cita de Hanselman del divisor: para una empresa como Microsoft, abrir su plataforma estrella fue un cambio cultural enorme.
Siglas: ASP = Active Server Pages. MVC = Model-View-Controller (patron Modelo-Vista-Controlador). VBScript = lenguaje de scripting antiguo de Microsoft. Open source = codigo abierto. Multiplataforma = funciona en varios sistemas operativos. Go = lenguaje de Google, conocido por su rendimiento en servidores.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herramientas de .NET: la CLI y la estructura de carpetas.
Guion del docente: la CLI dotnet es la navaja suiza del ecosistema .NET. Recorra los comandos en el orden del ciclo de trabajo: crear el proyecto (new), bajar dependencias (restore), compilar (build), ejecutar (run), probar (test) y publicar (publish). Destaque 'dotnet watch run', que recarga la app automaticamente al guardar cambios (hot reload), y los dos comandos 'dotnet ef', que crean y aplican migraciones para construir la base de datos.
La caja derecha muestra la convencion de carpetas. Igual que Spring Boot, ASP.NET Core es 'opinionado': si respetas la estructura, todo funciona. Program.cs es el punto de entrada (el equivalente al metodo main); appsettings.json guarda la configuracion (cadenas de conexion, etc.).
Aclare que NuGet es a .NET lo que npm es a Node.js o Maven a Java: el repositorio de librerias.
Siglas: CLI = Command-Line Interface (interfaz de linea de comandos). NuGet = gestor de paquetes de .NET. MVC = Model-View-Controller. DTO = Data Transfer Object. Migracion = script versionado que crea o modifica el esquema de la base de datos. Hot reload = recarga en caliente.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practica: la Web API CRUD en ASP.NET Core.
Guion del docente: muestre que este controlador C# es CONCEPTUALMENTE IDENTICO al de Spring Boot que vieron la semana pasada. Cambian las anotaciones ([ApiController], [HttpGet], [HttpPost] en lugar de @RestController, @GetMapping, @PostMapping) pero la estructura es la misma: una clase controladora con metodos que atienden cada verbo HTTP. Esa transferencia de conocimiento es el objetivo de la semana.
Note dos detalles: 'async/await' y 'Task' indican que las operaciones de base de datos son asincronas (no bloquean el hilo mientras esperan); y los metodos devuelven codigos HTTP semanticos: 201 Created al crear, 404 NotFound si no existe, 204 NoContent al eliminar.
La caja derecha aclara que ASP.NET Core ofrece tres estilos. Para el PFC recomendamos el primero: Web API que solo devuelve JSON, consumida por un frontend Angular separado. Esa separacion frontend/backend es el patron profesional dominante en 2026.
Mencione Swagger: documenta y permite probar la API desde el navegador sin escribir codigo cliente.
Siglas: CRUD = Create/Read/Update/Delete. EF Core = Entity Framework Core (ORM de .NET). Swagger/OpenAPI = estandar para documentar y probar APIs REST de forma interactiva. SPA = Single Page Application (aplicacion de una sola pagina, como las de Angular o React). DbContext = la clase de EF Core que representa la sesion con la base de datos. async/await = mecanismo de programacion asincrona.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de la semana 7: buenas practicas (izquierda) y tabla comparativa (derecha).
Guion del docente: la tabla de la derecha es la sintesis de TODA la idea de la semana. Lea fila por fila para que el estudiante interiorice que esta aprendiendo PATRONES, no sintaxis aislada: cada concepto del backend tiene su equivalente en ambas plataformas. El controlador, el mapeo de GET, el ORM, el servidor embebido y el gestor de paquetes existen en las dos; solo cambia el nombre.
Esto es liberador para el estudiante: una vez que domina el patron en Spring Boot (su herramienta del PFC), puede 'traducirlo' a cualquier otra plataforma leyendo su documentacion.
En buenas practicas, subraye que [ApiController] activa validacion automatica (si el modelo no cumple las Data Annotations, devuelve 400 sin codigo extra) y que los secretos NUNCA van en el codigo fuente ni en el repositorio Git.
Siglas: ORM = Object-Relational Mapping. EF Core = Entity Framework Core. Kestrel = servidor web embebido de ASP.NET Core (equivalente a Tomcat). Maven/Gradle = gestores de dependencias de Java. NuGet = gestor de paquetes de .NET. DI = Dependency Injection. Data Annotations = atributos de C# para validar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 la Semana 8.
Guion: esta semana NO introduce contenido nuevo. Su funcion es pedagogica: cerrar brechas, resolver los 'blockers' (obstaculos tecnicos que frenan a los equipos) y preparar la EP1. Sus contenidos se ajustan a las dificultades reales observadas en clase.
Estructura: mapa conceptual del primer corte, repaso de errores frecuentes, ejercicios integradores y repaso intensivo de los tres temas que mas cuestan: GET vs POST, validacion cliente vs servidor y codificacion UTF-8.
Siglas: blocker = obstaculo que impide avanzar. EP1 = Evaluacion Parcial Primer Corte. UTF-8 = codificacion de caracteres Unicode.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repaso intensivo (semana 8). Tres tarjetas con los temas que historicamente mas confunden.
Guion del docente:
1) GET vs POST: la confusion tipica es usar GET para enviar contrasenas. Resalte que GET deja los datos en la URL (visibles, en el historial, en los logs del servidor) y es repetible; POST va en el cuerpo y no debe reenviarse al recargar (de ahi el patron PRG).
2) Validacion cliente vs servidor: es el concepto de seguridad mas importante del corte. Repita el experimento de las DevTools: lo que valida el navegador se puede desactivar. La unica frontera de confianza es el servidor. 'El cliente valida por comodidad; el servidor valida por seguridad'.
3) UTF-8: el problema visible son los caracteres rotos en lugar de tildes y enes. La causa casi siempre es que uno de los cuatro lugares no esta en UTF-8. Si falla uno solo, se rompe toda la cadena.
Como esta es la semana previa al examen, invite a los estudiantes a resolver los ejercicios RESUELTOS del libro SIN mirar la solucion y comparar al final.
Siglas: GET/POST = metodos HTTP. UX = User Experience. DevTools = herramientas de desarrollador del navegador (tecla F12). BOM = Byte Order Mark (marca invisible al inicio del archivo que puede romper la codificacion). utf8mb4 = variante de UTF-8 en MySQL que soporta emojis y todo Unicode. PRG = Post-Redirect-Get.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 la Semana 9.
Guion: cierra la Unidad II y el primer corte. Dos bloques: (1) seguridad web con el marco de referencia mundial, el OWASP Top 10; (2) la Evaluacion Parcial Primer Corte (EP1), que cubre las semanas 1-8.
Resultado de aprendizaje: el estudiante identifica las diez vulnerabilidades mas criticas (OWASP Top 10:2021) y aplica controles defensivos basicos: validacion, escape, parametrizacion y cabeceras de seguridad.
Siglas: OWASP = Open Web Application Security Project. EP1 = Evaluacion Parcial Primer Corte. commit = confirmacion de cambios en el control de versiones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del OWASP Top 10:2021.
Guion del docente: OWASP (Open Web Application Security Project) es una fundacion sin fines de lucro fundada en 2001 por Mark Curphey. Su Top 10 es la lista consensuada de las diez vulnerabilidades mas criticas de aplicaciones web, revisada cada 3-4 anos. La version 2021 es la vigente; la 2025 esta en consulta publica. Cumplir el Top 10 se ha vuelto contractual: muchas licitaciones lo exigen.
No hace falta memorizar las diez; el estudiante debe conocer especialmente las que entran SEGURO en el examen: A03 (Injection / SQL Injection) y A07 (Authentication Failures). Para A03, la defensa es siempre la misma: consultas parametrizadas (prepared statements), nunca concatenar SQL con datos del usuario. Para A07: contrasenas con hash fuerte, limites de intentos (rate limiting) y sesiones seguras.
Mensaje transversal: la mayoria de las defensas son las dos reglas de oro que repetimos toda la unidad: validar la entrada y escapar/parametrizar.
Siglas: OWASP = Open Web Application Security Project. SQL = Structured Query Language. MFA = Multi-Factor Authentication (autenticacion de varios factores). SSRF = Server-Side Request Forgery (falsificacion de peticiones del lado del servidor). HTTPS = HTTP Seguro (cifrado con TLS). Rate limiting = limitar la frecuencia de peticiones. CWE = Common Weakness Enumeration (catalogo de tipos de debilidades).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defensas tecnicas (semana 9). Cinco controles que el estudiante debe aplicar en el login seguro y en el PFC.
Guion del docente: cada fila ataca una vulnerabilidad del Top 10.
1) Prepared statements (anti A03): el motor separa la consulta de los datos, asi una comilla maliciosa del usuario no puede 'cerrar' la consulta. Es la unica defensa fiable contra SQL Injection.
2) Escape de salida (anti A03 XSS): convierte los caracteres &lt; &gt; en entidades para que el navegador no ejecute un &lt;script&gt; inyectado.
3) Flags de cookie: HttpOnly impide que JavaScript lea la cookie (frena el robo de sesion por XSS); Secure exige HTTPS; SameSite frena el CSRF. Muestrelo en clase en DevTools, pestana Application &gt; Cookies.
4) Hash de contrasenas: BCrypt y Argon2 son lentos a proposito y anaden 'sal'. Nunca guardar contrasenas en texto plano ni con MD5/SHA1.
5) Cabeceras de seguridad: lineas extra en la respuesta HTTP que endurecen el navegador. HSTS fuerza HTTPS, CSP limita de donde se cargan scripts, X-Frame-Options evita que tu sitio sea incrustado en un iframe ajeno (clickjacking).
Siglas: SQL = Structured Query Language. XSS = Cross-Site Scripting. CSRF = Cross-Site Request Forgery (falsificacion de peticion entre sitios). PDO = PHP Data Objects. JDBC = Java Database Connectivity. EF Core = Entity Framework Core. BCrypt/Argon2 = algoritmos de hash de contrasenas. HSTS = HTTP Strict Transport Security. CSP = Content Security Policy. Clickjacking = enganar al usuario para que pulse algo oculto en un iframe.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del primer corte: reglas de seguridad (izquierda) y estructura de la EP1 (derecha).
Guion del docente: las reglas de la izquierda son el resumen accionable de toda la semana 9; pidale al estudiante que las trate como checklist para el PFC. Recalque que la seguridad es transversal, no se 'agrega al final'.
La tabla de la EP1 es informacion administrativa critica: el examen cubre las semanas 1-8 y tiene cuatro partes (A: opcion multiple y verdadero/falso; B: respuesta corta; C: analisis de codigo para detectar errores; D: ejercicio integrador donde escriben codigo). El reparto es 20-20-30-30.
Lea los temas garantizados: aparecen en TODA edicion del examen, asi que dominarlos asegura un piso solido. De OWASP entran sobre todo A03 (SQL Injection) y A07 (Authentication). Recomiende la estrategia de estudio: resolver los ejercicios resueltos del libro tapando la solucion.
Siglas: EP1 = Evaluacion Parcial Primer Corte. V/F = Verdadero/Falso. WCAG = Web Content Accessibility Guidelines (pautas de accesibilidad). DOM = Document Object Model. PDO = PHP Data Objects. JPA = Jakarta Persistence API. TLS = Transport Layer Security (cifrado de HTTPS). OWASP = Open Web Application Security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1 de 2.
Guion del docente: deje esta diapositiva como material de consulta. Repase rapidamente las siglas que mas se repiten en la unidad (HTTP, REST, CRUD, JPA, ORM). El acronimo recursivo de PHP suele sorprender: PHP significa 'PHP: Hypertext Preprocessor', conteniendose a si mismo. Sugiera a los estudiantes que la fotografien o la usen como tarjeta de repaso antes de la EP1.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Glosario 2 de 2.
Guion del docente: este bloque concentra las siglas de seguridad (OWASP, XSS, CSRF, SSRF, HSTS, CSP, MFA) y las de la plataforma .NET (EF Core, NuGet, CLI). Aclare que JWT aun no se ha usado: aparecera en la semana 10 (gestion de estado), pero conviene que el termino ya suene. Recalque la diferencia entre las tres falsificaciones de peticion: XSS inyecta scripts, CSRF abusa de la sesion del usuario, SSRF engaña al servidor para que pida una URL interna.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y sintesis de la Unidad II.
Guion del docente: recapitule los cuatro mensajes en negrita dorada como las cuatro ideas que el estudiante debe llevarse aunque olvide los detalles de sintaxis:
1) El servidor es la frontera de confianza y el lugar del valor.
2) El patron request-proceso-response es universal; el lenguaje es secundario.
3) Las dos reglas de oro: validar entrada y escapar/parametrizar salida.
4) La seguridad es transversal.
Cierre proyectando hacia la Unidad III: ahora que sabemos generar respuestas en el servidor, el siguiente problema es como RECORDAR al usuario (estado: cookies, sesiones, JWT) y como acceder a los datos de forma robusta (SQL parametrizado y ORM) dentro de una arquitectura limpia.
Anime a usar los dos glosarios y el libro de catedra como apoyo para preparar la EP1.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4"/>
        </a:solidFill>
      </p:bgPr>
    </p:bg>
    <p:spTree>
      <p:nvGrpSpPr>
        <p:cNvPr id="1" name=""/>
        <p:cNvGrpSpPr/>
        <p:nvPr/>
      </p:nvGrpSpPr>
      <p:grpSpPr>
        <a:xfrm>
          <a:off x="0" y="0"/>
          <a:ext cx="0" cy="0"/>
          <a:chOff x="0" y="0"/>
          <a:chExt cx="0" cy="0"/>
        </a:xfrm>
      </p:grpSpPr>
      <p:sp>
        <p:nvSpPr>
          <p:cNvPr id="2" name="Shape 0"/>
          <p:cNvSpPr/>
          <p:nvPr/>
        </p:nvSpPr>
        <p:spPr>
          <a:xfrm>
            <a:off x="0" y="0"/>
            <a:ext cx="12161520" cy="201168"/>
          </a:xfrm>
          <a:prstGeom prst="rect">
            <a:avLst/>
          </a:prstGeom>
          <a:solidFill>
            <a:srgbClr val="C9A227"/>
          </a:solidFill>
          <a:ln/>
        </p:spPr>
      </p:sp>
      <p:sp>
        <p:nvSpPr>
          <p:cNvPr id="3" name="Text 1"/>
          <p:cNvSpPr/>
          <p:nvPr/>
        </p:nvSpPr>
        <p:spPr>
          <a:xfrm>
            <a:off x="822960" y="1188720"/>
            <a:ext cx="10058400" cy="365760"/>
          </a:xfrm>
          <a:prstGeom prst="rect">
            <a:avLst/>
          </a:prstGeom>
          <a:noFill/>
          <a:ln/>
        </p:spPr>
        <p:txBody>
          <a:bodyPr wrap="square" lIns="0" tIns="0" rIns="0" bIns="0" rtlCol="0" anchor="ctr"/>
          <a:lstStyle/>
          <a:p>
            <a:pPr indent="0" marL="0">
              <a:buNone/>
            </a:pPr>
            <a:r>
              <a:rPr lang="en-US" sz="1500" b="1" spc="300" kern="0" dirty="0">
                <a:solidFill>
                  <a:srgbClr val="C9A227"/>
                </a:solidFill>
                <a:latin typeface="Calibri" pitchFamily="34" charset="0"/>
                <a:ea typeface="Calibri" pitchFamily="34" charset="-122"/>
                <a:cs typeface="Calibri" pitchFamily="34" charset="-120"/>
              </a:rPr>
              <a:t>APLICACIONES WEB · 5.º SEMESTRE</a:t>
            </a:r>
            <a:endParaRPr lang="en-US" sz="1500" dirty="0"/>
          </a:p>
        </p:txBody>
      </p:sp>
      <p:sp>
        <p:nvSpPr>
          <p:cNvPr id="4" name="Text 2"/>
          <p:cNvSpPr/>
          <p:nvPr/>
        </p:nvSpPr>
        <p:spPr>
          <a:xfrm>
            <a:off x="822960" y="17373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Unidad II</a:t>
            </a:r>
            <a:endParaRPr lang="en-US" sz="5400" dirty="0"/>
          </a:p>
        </p:txBody>
      </p:sp>
      <p:sp>
        <p:nvSpPr>
          <p:cNvPr id="5" name="Text 3"/>
          <p:cNvSpPr/>
          <p:nvPr/>
        </p:nvSpPr>
        <p:spPr>
          <a:xfrm>
            <a:off x="822960" y="2788920"/>
            <a:ext cx="10789920" cy="822960"/>
          </a:xfrm>
          <a:prstGeom prst="rect">
            <a:avLst/>
          </a:prstGeom>
          <a:noFill/>
          <a:ln/>
        </p:spPr>
        <p:txBody>
          <a:bodyPr wrap="square" lIns="0" tIns="0" rIns="0" bIns="0" rtlCol="0" anchor="ctr"/>
          <a:lstStyle/>
          <a:p>
            <a:pPr indent="0" marL="0">
              <a:buNone/>
            </a:pPr>
            <a:r>
              <a:rPr lang="en-US" sz="3200" dirty="0">
                <a:solidFill>
                  <a:srgbClr val="9FD3B5"/>
                </a:solidFill>
                <a:latin typeface="Georgia" pitchFamily="34" charset="0"/>
                <a:ea typeface="Georgia" pitchFamily="34" charset="-122"/>
                <a:cs typeface="Georgia" pitchFamily="34" charset="-120"/>
              </a:rPr>
              <a:t>Programación del lado del servidor</a:t>
            </a:r>
            <a:endParaRPr lang="en-US" sz="3200" dirty="0"/>
          </a:p>
        </p:txBody>
      </p:sp>
      <p:sp>
        <p:nvSpPr>
          <p:cNvPr id="6" name="Text 4"/>
          <p:cNvSpPr/>
          <p:nvPr/>
        </p:nvSpPr>
        <p:spPr>
          <a:xfrm>
            <a:off x="822960" y="3657600"/>
            <a:ext cx="10789920" cy="457200"/>
          </a:xfrm>
          <a:prstGeom prst="rect">
            <a:avLst/>
          </a:prstGeom>
          <a:noFill/>
          <a:ln/>
        </p:spPr>
        <p:txBody>
          <a:bodyPr wrap="square" lIns="0" tIns="0" rIns="0" bIns="0" rtlCol="0" anchor="ctr"/>
          <a:lstStyle/>
          <a:p>
            <a:pPr indent="0" marL="0">
              <a:buNone/>
            </a:pPr>
            <a:r>
              <a:rPr lang="en-US" sz="1600" dirty="0">
                <a:solidFill>
                  <a:srgbClr val="C8D6CE"/>
                </a:solidFill>
                <a:latin typeface="Calibri" pitchFamily="34" charset="0"/>
                <a:ea typeface="Calibri" pitchFamily="34" charset="-122"/>
                <a:cs typeface="Calibri" pitchFamily="34" charset="-120"/>
              </a:rPr>
              <a:t>PERL · PHP · Java/Spring Boot · ASP.NET Core · Seguridad (OWASP)</a:t>
            </a:r>
            <a:endParaRPr lang="en-US" sz="1600" dirty="0"/>
          </a:p>
        </p:txBody>
      </p:sp>
      <p:sp>
        <p:nvSpPr>
          <p:cNvPr id="7" name="Text 5"/>
          <p:cNvSpPr/>
          <p:nvPr/>
        </p:nvSpPr>
        <p:spPr>
          <a:xfrm>
            <a:off x="822960" y="5029200"/>
            <a:ext cx="10058400" cy="11887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Semanas 5 a 9</a:t>
            </a:r>
            <a:endParaRPr lang="en-US" sz="1400" dirty="0"/>
          </a:p>
          <a:p>
            <a:pPr indent="0" marL="0">
              <a:buNone/>
            </a:pPr>
            <a:r>
              <a:rPr lang="en-US" sz="1400" dirty="0">
                <a:solidFill>
                  <a:srgbClr val="C8D6CE"/>
                </a:solidFill>
                <a:latin typeface="Calibri" pitchFamily="34" charset="0"/>
                <a:ea typeface="Calibri" pitchFamily="34" charset="-122"/>
                <a:cs typeface="Calibri" pitchFamily="34" charset="-120"/>
              </a:rPr>
              <a:t>Dr. Gleiston Cicerón Guerrero Ulloa, Ph.D.</a:t>
            </a:r>
            <a:endParaRPr lang="en-US" sz="1400" dirty="0"/>
          </a:p>
          <a:p>
            <a:pPr indent="0" marL="0">
              <a:buNone/>
            </a:pPr>
            <a:r>
              <a:rPr lang="en-US" sz="1200" dirty="0">
                <a:solidFill>
                  <a:srgbClr val="C8D6CE"/>
                </a:solidFill>
                <a:latin typeface="Calibri" pitchFamily="34" charset="0"/>
                <a:ea typeface="Calibri" pitchFamily="34" charset="-122"/>
                <a:cs typeface="Calibri" pitchFamily="34" charset="-120"/>
              </a:rPr>
              <a:t>Universidad Técnica Estatal de Quevedo · gguerrero@uteq.edu.ec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UNIDAD II · MAPA</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Hoja de ruta: cinco semanas, un mismo eje</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2157984" cy="4206240"/>
          </a:xfrm>
          <a:prstGeom prst="roundRect">
            <a:avLst>
              <a:gd name="adj" fmla="val 3390"/>
            </a:avLst>
          </a:prstGeom>
          <a:solidFill>
            <a:srgbClr val="FFFFFF"/>
          </a:solidFill>
          <a:ln/>
          <a:effectLst>
            <a:outerShdw sx="100000" sy="100000" kx="0" ky="0" algn="bl" rotWithShape="0" blurRad="88900" dist="38100" dir="8100000">
              <a:srgbClr val="000000">
                <a:alpha val="16000"/>
              </a:srgbClr>
            </a:outerShdw>
          </a:effectLst>
        </p:spPr>
      </p:sp>
      <p:sp>
        <p:nvSpPr>
          <p:cNvPr id="6" name="Shape 4"/>
          <p:cNvSpPr/>
          <p:nvPr/>
        </p:nvSpPr>
        <p:spPr>
          <a:xfrm>
            <a:off x="548640" y="1554480"/>
            <a:ext cx="2157984" cy="777240"/>
          </a:xfrm>
          <a:prstGeom prst="rect">
            <a:avLst/>
          </a:prstGeom>
          <a:solidFill>
            <a:srgbClr val="006633"/>
          </a:solidFill>
          <a:ln/>
        </p:spPr>
      </p:sp>
      <p:sp>
        <p:nvSpPr>
          <p:cNvPr id="7" name="Text 5"/>
          <p:cNvSpPr/>
          <p:nvPr/>
        </p:nvSpPr>
        <p:spPr>
          <a:xfrm>
            <a:off x="548640" y="1627632"/>
            <a:ext cx="2157984" cy="228600"/>
          </a:xfrm>
          <a:prstGeom prst="rect">
            <a:avLst/>
          </a:prstGeom>
          <a:noFill/>
          <a:ln/>
        </p:spPr>
        <p:txBody>
          <a:bodyPr wrap="square" lIns="0" tIns="0" rIns="0" bIns="0" rtlCol="0" anchor="ctr"/>
          <a:lstStyle/>
          <a:p>
            <a:pPr algn="ctr" indent="0" marL="0">
              <a:buNone/>
            </a:pPr>
            <a:r>
              <a:rPr lang="en-US" sz="900" spc="200" kern="0" dirty="0">
                <a:solidFill>
                  <a:srgbClr val="FFFFFF"/>
                </a:solidFill>
                <a:latin typeface="Calibri" pitchFamily="34" charset="0"/>
                <a:ea typeface="Calibri" pitchFamily="34" charset="-122"/>
                <a:cs typeface="Calibri" pitchFamily="34" charset="-120"/>
              </a:rPr>
              <a:t>SEMANA</a:t>
            </a:r>
            <a:endParaRPr lang="en-US" sz="900" dirty="0"/>
          </a:p>
        </p:txBody>
      </p:sp>
      <p:sp>
        <p:nvSpPr>
          <p:cNvPr id="8" name="Text 6"/>
          <p:cNvSpPr/>
          <p:nvPr/>
        </p:nvSpPr>
        <p:spPr>
          <a:xfrm>
            <a:off x="548640" y="1783080"/>
            <a:ext cx="2157984"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5</a:t>
            </a:r>
            <a:endParaRPr lang="en-US" sz="3000" dirty="0"/>
          </a:p>
        </p:txBody>
      </p:sp>
      <p:sp>
        <p:nvSpPr>
          <p:cNvPr id="9" name="Text 7"/>
          <p:cNvSpPr/>
          <p:nvPr/>
        </p:nvSpPr>
        <p:spPr>
          <a:xfrm>
            <a:off x="658368" y="2514600"/>
            <a:ext cx="1938528" cy="822960"/>
          </a:xfrm>
          <a:prstGeom prst="rect">
            <a:avLst/>
          </a:prstGeom>
          <a:noFill/>
          <a:ln/>
        </p:spPr>
        <p:txBody>
          <a:bodyPr wrap="square" lIns="0" tIns="0" rIns="0" bIns="0" rtlCol="0" anchor="t"/>
          <a:lstStyle/>
          <a:p>
            <a:pPr algn="ctr" indent="0" marL="0">
              <a:buNone/>
            </a:pPr>
            <a:r>
              <a:rPr lang="en-US" sz="1500" b="1" dirty="0">
                <a:solidFill>
                  <a:srgbClr val="1F2933"/>
                </a:solidFill>
                <a:latin typeface="Georgia" pitchFamily="34" charset="0"/>
                <a:ea typeface="Georgia" pitchFamily="34" charset="-122"/>
                <a:cs typeface="Georgia" pitchFamily="34" charset="-120"/>
              </a:rPr>
              <a:t>PERL y PHP</a:t>
            </a:r>
            <a:endParaRPr lang="en-US" sz="1500" dirty="0"/>
          </a:p>
        </p:txBody>
      </p:sp>
      <p:sp>
        <p:nvSpPr>
          <p:cNvPr id="10" name="Text 8"/>
          <p:cNvSpPr/>
          <p:nvPr/>
        </p:nvSpPr>
        <p:spPr>
          <a:xfrm>
            <a:off x="694944" y="3337560"/>
            <a:ext cx="1865376" cy="22860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Modelo request-response. CGI historico y PHP 8.3: el caballo de batalla de la web tradicional.</a:t>
            </a:r>
            <a:endParaRPr lang="en-US" sz="1150" dirty="0"/>
          </a:p>
        </p:txBody>
      </p:sp>
      <p:sp>
        <p:nvSpPr>
          <p:cNvPr id="11" name="Shape 9"/>
          <p:cNvSpPr/>
          <p:nvPr/>
        </p:nvSpPr>
        <p:spPr>
          <a:xfrm>
            <a:off x="2825496" y="1554480"/>
            <a:ext cx="2157984" cy="4206240"/>
          </a:xfrm>
          <a:prstGeom prst="roundRect">
            <a:avLst>
              <a:gd name="adj" fmla="val 3390"/>
            </a:avLst>
          </a:prstGeom>
          <a:solidFill>
            <a:srgbClr val="FFFFFF"/>
          </a:solidFill>
          <a:ln/>
          <a:effectLst>
            <a:outerShdw sx="100000" sy="100000" kx="0" ky="0" algn="bl" rotWithShape="0" blurRad="88900" dist="38100" dir="8100000">
              <a:srgbClr val="000000">
                <a:alpha val="16000"/>
              </a:srgbClr>
            </a:outerShdw>
          </a:effectLst>
        </p:spPr>
      </p:sp>
      <p:sp>
        <p:nvSpPr>
          <p:cNvPr id="12" name="Shape 10"/>
          <p:cNvSpPr/>
          <p:nvPr/>
        </p:nvSpPr>
        <p:spPr>
          <a:xfrm>
            <a:off x="2825496" y="1554480"/>
            <a:ext cx="2157984" cy="777240"/>
          </a:xfrm>
          <a:prstGeom prst="rect">
            <a:avLst/>
          </a:prstGeom>
          <a:solidFill>
            <a:srgbClr val="0E7A52"/>
          </a:solidFill>
          <a:ln/>
        </p:spPr>
      </p:sp>
      <p:sp>
        <p:nvSpPr>
          <p:cNvPr id="13" name="Text 11"/>
          <p:cNvSpPr/>
          <p:nvPr/>
        </p:nvSpPr>
        <p:spPr>
          <a:xfrm>
            <a:off x="2825496" y="1627632"/>
            <a:ext cx="2157984" cy="228600"/>
          </a:xfrm>
          <a:prstGeom prst="rect">
            <a:avLst/>
          </a:prstGeom>
          <a:noFill/>
          <a:ln/>
        </p:spPr>
        <p:txBody>
          <a:bodyPr wrap="square" lIns="0" tIns="0" rIns="0" bIns="0" rtlCol="0" anchor="ctr"/>
          <a:lstStyle/>
          <a:p>
            <a:pPr algn="ctr" indent="0" marL="0">
              <a:buNone/>
            </a:pPr>
            <a:r>
              <a:rPr lang="en-US" sz="900" spc="200" kern="0" dirty="0">
                <a:solidFill>
                  <a:srgbClr val="FFFFFF"/>
                </a:solidFill>
                <a:latin typeface="Calibri" pitchFamily="34" charset="0"/>
                <a:ea typeface="Calibri" pitchFamily="34" charset="-122"/>
                <a:cs typeface="Calibri" pitchFamily="34" charset="-120"/>
              </a:rPr>
              <a:t>SEMANA</a:t>
            </a:r>
            <a:endParaRPr lang="en-US" sz="900" dirty="0"/>
          </a:p>
        </p:txBody>
      </p:sp>
      <p:sp>
        <p:nvSpPr>
          <p:cNvPr id="14" name="Text 12"/>
          <p:cNvSpPr/>
          <p:nvPr/>
        </p:nvSpPr>
        <p:spPr>
          <a:xfrm>
            <a:off x="2825496" y="1783080"/>
            <a:ext cx="2157984"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6</a:t>
            </a:r>
            <a:endParaRPr lang="en-US" sz="3000" dirty="0"/>
          </a:p>
        </p:txBody>
      </p:sp>
      <p:sp>
        <p:nvSpPr>
          <p:cNvPr id="15" name="Text 13"/>
          <p:cNvSpPr/>
          <p:nvPr/>
        </p:nvSpPr>
        <p:spPr>
          <a:xfrm>
            <a:off x="2935224" y="2514600"/>
            <a:ext cx="1938528" cy="822960"/>
          </a:xfrm>
          <a:prstGeom prst="rect">
            <a:avLst/>
          </a:prstGeom>
          <a:noFill/>
          <a:ln/>
        </p:spPr>
        <p:txBody>
          <a:bodyPr wrap="square" lIns="0" tIns="0" rIns="0" bIns="0" rtlCol="0" anchor="t"/>
          <a:lstStyle/>
          <a:p>
            <a:pPr algn="ctr" indent="0" marL="0">
              <a:buNone/>
            </a:pPr>
            <a:r>
              <a:rPr lang="en-US" sz="1500" b="1" dirty="0">
                <a:solidFill>
                  <a:srgbClr val="1F2933"/>
                </a:solidFill>
                <a:latin typeface="Georgia" pitchFamily="34" charset="0"/>
                <a:ea typeface="Georgia" pitchFamily="34" charset="-122"/>
                <a:cs typeface="Georgia" pitchFamily="34" charset="-120"/>
              </a:rPr>
              <a:t>Java / Spring Boot</a:t>
            </a:r>
            <a:endParaRPr lang="en-US" sz="1500" dirty="0"/>
          </a:p>
        </p:txBody>
      </p:sp>
      <p:sp>
        <p:nvSpPr>
          <p:cNvPr id="16" name="Text 14"/>
          <p:cNvSpPr/>
          <p:nvPr/>
        </p:nvSpPr>
        <p:spPr>
          <a:xfrm>
            <a:off x="2971800" y="3337560"/>
            <a:ext cx="1865376" cy="22860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Servlets y JSP como cimiento; Spring Boot 3 + JPA como estandar moderno de la industria.</a:t>
            </a:r>
            <a:endParaRPr lang="en-US" sz="1150" dirty="0"/>
          </a:p>
        </p:txBody>
      </p:sp>
      <p:sp>
        <p:nvSpPr>
          <p:cNvPr id="17" name="Shape 15"/>
          <p:cNvSpPr/>
          <p:nvPr/>
        </p:nvSpPr>
        <p:spPr>
          <a:xfrm>
            <a:off x="5102352" y="1554480"/>
            <a:ext cx="2157984" cy="4206240"/>
          </a:xfrm>
          <a:prstGeom prst="roundRect">
            <a:avLst>
              <a:gd name="adj" fmla="val 3390"/>
            </a:avLst>
          </a:prstGeom>
          <a:solidFill>
            <a:srgbClr val="FFFFFF"/>
          </a:solidFill>
          <a:ln/>
          <a:effectLst>
            <a:outerShdw sx="100000" sy="100000" kx="0" ky="0" algn="bl" rotWithShape="0" blurRad="88900" dist="38100" dir="8100000">
              <a:srgbClr val="000000">
                <a:alpha val="16000"/>
              </a:srgbClr>
            </a:outerShdw>
          </a:effectLst>
        </p:spPr>
      </p:sp>
      <p:sp>
        <p:nvSpPr>
          <p:cNvPr id="18" name="Shape 16"/>
          <p:cNvSpPr/>
          <p:nvPr/>
        </p:nvSpPr>
        <p:spPr>
          <a:xfrm>
            <a:off x="5102352" y="1554480"/>
            <a:ext cx="2157984" cy="777240"/>
          </a:xfrm>
          <a:prstGeom prst="rect">
            <a:avLst/>
          </a:prstGeom>
          <a:solidFill>
            <a:srgbClr val="1C7293"/>
          </a:solidFill>
          <a:ln/>
        </p:spPr>
      </p:sp>
      <p:sp>
        <p:nvSpPr>
          <p:cNvPr id="19" name="Text 17"/>
          <p:cNvSpPr/>
          <p:nvPr/>
        </p:nvSpPr>
        <p:spPr>
          <a:xfrm>
            <a:off x="5102352" y="1627632"/>
            <a:ext cx="2157984" cy="228600"/>
          </a:xfrm>
          <a:prstGeom prst="rect">
            <a:avLst/>
          </a:prstGeom>
          <a:noFill/>
          <a:ln/>
        </p:spPr>
        <p:txBody>
          <a:bodyPr wrap="square" lIns="0" tIns="0" rIns="0" bIns="0" rtlCol="0" anchor="ctr"/>
          <a:lstStyle/>
          <a:p>
            <a:pPr algn="ctr" indent="0" marL="0">
              <a:buNone/>
            </a:pPr>
            <a:r>
              <a:rPr lang="en-US" sz="900" spc="200" kern="0" dirty="0">
                <a:solidFill>
                  <a:srgbClr val="FFFFFF"/>
                </a:solidFill>
                <a:latin typeface="Calibri" pitchFamily="34" charset="0"/>
                <a:ea typeface="Calibri" pitchFamily="34" charset="-122"/>
                <a:cs typeface="Calibri" pitchFamily="34" charset="-120"/>
              </a:rPr>
              <a:t>SEMANA</a:t>
            </a:r>
            <a:endParaRPr lang="en-US" sz="900" dirty="0"/>
          </a:p>
        </p:txBody>
      </p:sp>
      <p:sp>
        <p:nvSpPr>
          <p:cNvPr id="20" name="Text 18"/>
          <p:cNvSpPr/>
          <p:nvPr/>
        </p:nvSpPr>
        <p:spPr>
          <a:xfrm>
            <a:off x="5102352" y="1783080"/>
            <a:ext cx="2157984"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7</a:t>
            </a:r>
            <a:endParaRPr lang="en-US" sz="3000" dirty="0"/>
          </a:p>
        </p:txBody>
      </p:sp>
      <p:sp>
        <p:nvSpPr>
          <p:cNvPr id="21" name="Text 19"/>
          <p:cNvSpPr/>
          <p:nvPr/>
        </p:nvSpPr>
        <p:spPr>
          <a:xfrm>
            <a:off x="5212080" y="2514600"/>
            <a:ext cx="1938528" cy="822960"/>
          </a:xfrm>
          <a:prstGeom prst="rect">
            <a:avLst/>
          </a:prstGeom>
          <a:noFill/>
          <a:ln/>
        </p:spPr>
        <p:txBody>
          <a:bodyPr wrap="square" lIns="0" tIns="0" rIns="0" bIns="0" rtlCol="0" anchor="t"/>
          <a:lstStyle/>
          <a:p>
            <a:pPr algn="ctr" indent="0" marL="0">
              <a:buNone/>
            </a:pPr>
            <a:r>
              <a:rPr lang="en-US" sz="1500" b="1" dirty="0">
                <a:solidFill>
                  <a:srgbClr val="1F2933"/>
                </a:solidFill>
                <a:latin typeface="Georgia" pitchFamily="34" charset="0"/>
                <a:ea typeface="Georgia" pitchFamily="34" charset="-122"/>
                <a:cs typeface="Georgia" pitchFamily="34" charset="-120"/>
              </a:rPr>
              <a:t>ASP.NET Core</a:t>
            </a:r>
            <a:endParaRPr lang="en-US" sz="1500" dirty="0"/>
          </a:p>
        </p:txBody>
      </p:sp>
      <p:sp>
        <p:nvSpPr>
          <p:cNvPr id="22" name="Text 20"/>
          <p:cNvSpPr/>
          <p:nvPr/>
        </p:nvSpPr>
        <p:spPr>
          <a:xfrm>
            <a:off x="5248656" y="3337560"/>
            <a:ext cx="1865376" cy="22860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La plataforma .NET multiplataforma. Web API CRUD con C# 12 y Entity Framework Core.</a:t>
            </a:r>
            <a:endParaRPr lang="en-US" sz="1150" dirty="0"/>
          </a:p>
        </p:txBody>
      </p:sp>
      <p:sp>
        <p:nvSpPr>
          <p:cNvPr id="23" name="Shape 21"/>
          <p:cNvSpPr/>
          <p:nvPr/>
        </p:nvSpPr>
        <p:spPr>
          <a:xfrm>
            <a:off x="7379208" y="1554480"/>
            <a:ext cx="2157984" cy="4206240"/>
          </a:xfrm>
          <a:prstGeom prst="roundRect">
            <a:avLst>
              <a:gd name="adj" fmla="val 3390"/>
            </a:avLst>
          </a:prstGeom>
          <a:solidFill>
            <a:srgbClr val="FFFFFF"/>
          </a:solidFill>
          <a:ln/>
          <a:effectLst>
            <a:outerShdw sx="100000" sy="100000" kx="0" ky="0" algn="bl" rotWithShape="0" blurRad="88900" dist="38100" dir="8100000">
              <a:srgbClr val="000000">
                <a:alpha val="16000"/>
              </a:srgbClr>
            </a:outerShdw>
          </a:effectLst>
        </p:spPr>
      </p:sp>
      <p:sp>
        <p:nvSpPr>
          <p:cNvPr id="24" name="Shape 22"/>
          <p:cNvSpPr/>
          <p:nvPr/>
        </p:nvSpPr>
        <p:spPr>
          <a:xfrm>
            <a:off x="7379208" y="1554480"/>
            <a:ext cx="2157984" cy="777240"/>
          </a:xfrm>
          <a:prstGeom prst="rect">
            <a:avLst/>
          </a:prstGeom>
          <a:solidFill>
            <a:srgbClr val="8A6D1F"/>
          </a:solidFill>
          <a:ln/>
        </p:spPr>
      </p:sp>
      <p:sp>
        <p:nvSpPr>
          <p:cNvPr id="25" name="Text 23"/>
          <p:cNvSpPr/>
          <p:nvPr/>
        </p:nvSpPr>
        <p:spPr>
          <a:xfrm>
            <a:off x="7379208" y="1627632"/>
            <a:ext cx="2157984" cy="228600"/>
          </a:xfrm>
          <a:prstGeom prst="rect">
            <a:avLst/>
          </a:prstGeom>
          <a:noFill/>
          <a:ln/>
        </p:spPr>
        <p:txBody>
          <a:bodyPr wrap="square" lIns="0" tIns="0" rIns="0" bIns="0" rtlCol="0" anchor="ctr"/>
          <a:lstStyle/>
          <a:p>
            <a:pPr algn="ctr" indent="0" marL="0">
              <a:buNone/>
            </a:pPr>
            <a:r>
              <a:rPr lang="en-US" sz="900" spc="200" kern="0" dirty="0">
                <a:solidFill>
                  <a:srgbClr val="FFFFFF"/>
                </a:solidFill>
                <a:latin typeface="Calibri" pitchFamily="34" charset="0"/>
                <a:ea typeface="Calibri" pitchFamily="34" charset="-122"/>
                <a:cs typeface="Calibri" pitchFamily="34" charset="-120"/>
              </a:rPr>
              <a:t>SEMANA</a:t>
            </a:r>
            <a:endParaRPr lang="en-US" sz="900" dirty="0"/>
          </a:p>
        </p:txBody>
      </p:sp>
      <p:sp>
        <p:nvSpPr>
          <p:cNvPr id="26" name="Text 24"/>
          <p:cNvSpPr/>
          <p:nvPr/>
        </p:nvSpPr>
        <p:spPr>
          <a:xfrm>
            <a:off x="7379208" y="1783080"/>
            <a:ext cx="2157984"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8</a:t>
            </a:r>
            <a:endParaRPr lang="en-US" sz="3000" dirty="0"/>
          </a:p>
        </p:txBody>
      </p:sp>
      <p:sp>
        <p:nvSpPr>
          <p:cNvPr id="27" name="Text 25"/>
          <p:cNvSpPr/>
          <p:nvPr/>
        </p:nvSpPr>
        <p:spPr>
          <a:xfrm>
            <a:off x="7488936" y="2514600"/>
            <a:ext cx="1938528" cy="822960"/>
          </a:xfrm>
          <a:prstGeom prst="rect">
            <a:avLst/>
          </a:prstGeom>
          <a:noFill/>
          <a:ln/>
        </p:spPr>
        <p:txBody>
          <a:bodyPr wrap="square" lIns="0" tIns="0" rIns="0" bIns="0" rtlCol="0" anchor="t"/>
          <a:lstStyle/>
          <a:p>
            <a:pPr algn="ctr" indent="0" marL="0">
              <a:buNone/>
            </a:pPr>
            <a:r>
              <a:rPr lang="en-US" sz="1500" b="1" dirty="0">
                <a:solidFill>
                  <a:srgbClr val="1F2933"/>
                </a:solidFill>
                <a:latin typeface="Georgia" pitchFamily="34" charset="0"/>
                <a:ea typeface="Georgia" pitchFamily="34" charset="-122"/>
                <a:cs typeface="Georgia" pitchFamily="34" charset="-120"/>
              </a:rPr>
              <a:t>Tutoría de refuerzo</a:t>
            </a:r>
            <a:endParaRPr lang="en-US" sz="1500" dirty="0"/>
          </a:p>
        </p:txBody>
      </p:sp>
      <p:sp>
        <p:nvSpPr>
          <p:cNvPr id="28" name="Text 26"/>
          <p:cNvSpPr/>
          <p:nvPr/>
        </p:nvSpPr>
        <p:spPr>
          <a:xfrm>
            <a:off x="7525512" y="3337560"/>
            <a:ext cx="1865376" cy="22860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Consolidacion del primer corte: repaso de errores frecuentes y preparacion de la EP1.</a:t>
            </a:r>
            <a:endParaRPr lang="en-US" sz="1150" dirty="0"/>
          </a:p>
        </p:txBody>
      </p:sp>
      <p:sp>
        <p:nvSpPr>
          <p:cNvPr id="29" name="Shape 27"/>
          <p:cNvSpPr/>
          <p:nvPr/>
        </p:nvSpPr>
        <p:spPr>
          <a:xfrm>
            <a:off x="9656064" y="1554480"/>
            <a:ext cx="2157984" cy="4206240"/>
          </a:xfrm>
          <a:prstGeom prst="roundRect">
            <a:avLst>
              <a:gd name="adj" fmla="val 3390"/>
            </a:avLst>
          </a:prstGeom>
          <a:solidFill>
            <a:srgbClr val="FFFFFF"/>
          </a:solidFill>
          <a:ln/>
          <a:effectLst>
            <a:outerShdw sx="100000" sy="100000" kx="0" ky="0" algn="bl" rotWithShape="0" blurRad="88900" dist="38100" dir="8100000">
              <a:srgbClr val="000000">
                <a:alpha val="16000"/>
              </a:srgbClr>
            </a:outerShdw>
          </a:effectLst>
        </p:spPr>
      </p:sp>
      <p:sp>
        <p:nvSpPr>
          <p:cNvPr id="30" name="Shape 28"/>
          <p:cNvSpPr/>
          <p:nvPr/>
        </p:nvSpPr>
        <p:spPr>
          <a:xfrm>
            <a:off x="9656064" y="1554480"/>
            <a:ext cx="2157984" cy="777240"/>
          </a:xfrm>
          <a:prstGeom prst="rect">
            <a:avLst/>
          </a:prstGeom>
          <a:solidFill>
            <a:srgbClr val="9A2A2A"/>
          </a:solidFill>
          <a:ln/>
        </p:spPr>
      </p:sp>
      <p:sp>
        <p:nvSpPr>
          <p:cNvPr id="31" name="Text 29"/>
          <p:cNvSpPr/>
          <p:nvPr/>
        </p:nvSpPr>
        <p:spPr>
          <a:xfrm>
            <a:off x="9656064" y="1627632"/>
            <a:ext cx="2157984" cy="228600"/>
          </a:xfrm>
          <a:prstGeom prst="rect">
            <a:avLst/>
          </a:prstGeom>
          <a:noFill/>
          <a:ln/>
        </p:spPr>
        <p:txBody>
          <a:bodyPr wrap="square" lIns="0" tIns="0" rIns="0" bIns="0" rtlCol="0" anchor="ctr"/>
          <a:lstStyle/>
          <a:p>
            <a:pPr algn="ctr" indent="0" marL="0">
              <a:buNone/>
            </a:pPr>
            <a:r>
              <a:rPr lang="en-US" sz="900" spc="200" kern="0" dirty="0">
                <a:solidFill>
                  <a:srgbClr val="FFFFFF"/>
                </a:solidFill>
                <a:latin typeface="Calibri" pitchFamily="34" charset="0"/>
                <a:ea typeface="Calibri" pitchFamily="34" charset="-122"/>
                <a:cs typeface="Calibri" pitchFamily="34" charset="-120"/>
              </a:rPr>
              <a:t>SEMANA</a:t>
            </a:r>
            <a:endParaRPr lang="en-US" sz="900" dirty="0"/>
          </a:p>
        </p:txBody>
      </p:sp>
      <p:sp>
        <p:nvSpPr>
          <p:cNvPr id="32" name="Text 30"/>
          <p:cNvSpPr/>
          <p:nvPr/>
        </p:nvSpPr>
        <p:spPr>
          <a:xfrm>
            <a:off x="9656064" y="1783080"/>
            <a:ext cx="2157984"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9</a:t>
            </a:r>
            <a:endParaRPr lang="en-US" sz="3000" dirty="0"/>
          </a:p>
        </p:txBody>
      </p:sp>
      <p:sp>
        <p:nvSpPr>
          <p:cNvPr id="33" name="Text 31"/>
          <p:cNvSpPr/>
          <p:nvPr/>
        </p:nvSpPr>
        <p:spPr>
          <a:xfrm>
            <a:off x="9765792" y="2514600"/>
            <a:ext cx="1938528" cy="822960"/>
          </a:xfrm>
          <a:prstGeom prst="rect">
            <a:avLst/>
          </a:prstGeom>
          <a:noFill/>
          <a:ln/>
        </p:spPr>
        <p:txBody>
          <a:bodyPr wrap="square" lIns="0" tIns="0" rIns="0" bIns="0" rtlCol="0" anchor="t"/>
          <a:lstStyle/>
          <a:p>
            <a:pPr algn="ctr" indent="0" marL="0">
              <a:buNone/>
            </a:pPr>
            <a:r>
              <a:rPr lang="en-US" sz="1500" b="1" dirty="0">
                <a:solidFill>
                  <a:srgbClr val="1F2933"/>
                </a:solidFill>
                <a:latin typeface="Georgia" pitchFamily="34" charset="0"/>
                <a:ea typeface="Georgia" pitchFamily="34" charset="-122"/>
                <a:cs typeface="Georgia" pitchFamily="34" charset="-120"/>
              </a:rPr>
              <a:t>Seguridad + EP1</a:t>
            </a:r>
            <a:endParaRPr lang="en-US" sz="1500" dirty="0"/>
          </a:p>
        </p:txBody>
      </p:sp>
      <p:sp>
        <p:nvSpPr>
          <p:cNvPr id="34" name="Text 32"/>
          <p:cNvSpPr/>
          <p:nvPr/>
        </p:nvSpPr>
        <p:spPr>
          <a:xfrm>
            <a:off x="9802368" y="3337560"/>
            <a:ext cx="1865376" cy="22860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OWASP Top 10:2021, defensas tecnicas basicas y Evaluacion Parcial Primer Corte.</a:t>
            </a:r>
            <a:endParaRPr lang="en-US" sz="1150" dirty="0"/>
          </a:p>
        </p:txBody>
      </p:sp>
      <p:sp>
        <p:nvSpPr>
          <p:cNvPr id="35" name="Text 33"/>
          <p:cNvSpPr/>
          <p:nvPr/>
        </p:nvSpPr>
        <p:spPr>
          <a:xfrm>
            <a:off x="548640" y="5943600"/>
            <a:ext cx="11064240" cy="457200"/>
          </a:xfrm>
          <a:prstGeom prst="rect">
            <a:avLst/>
          </a:prstGeom>
          <a:noFill/>
          <a:ln/>
        </p:spPr>
        <p:txBody>
          <a:bodyPr wrap="square" lIns="0" tIns="0" rIns="0" bIns="0" rtlCol="0" anchor="ctr"/>
          <a:lstStyle/>
          <a:p>
            <a:pPr indent="0" marL="0">
              <a:buNone/>
            </a:pPr>
            <a:r>
              <a:rPr lang="en-US" sz="1300" i="1" dirty="0">
                <a:solidFill>
                  <a:srgbClr val="006633"/>
                </a:solidFill>
                <a:latin typeface="Calibri" pitchFamily="34" charset="0"/>
                <a:ea typeface="Calibri" pitchFamily="34" charset="-122"/>
                <a:cs typeface="Calibri" pitchFamily="34" charset="-120"/>
              </a:rPr>
              <a:t>Eje transversal: el ciclo petición → procesamiento → respuesta. La seguridad (semana 9) NO se añade al final: se construye desde la semana 5.</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UNIDAD II · PROPÓSITO</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Resultados de aprendizaje de la unidad</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48640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6" name="Text 4"/>
          <p:cNvSpPr/>
          <p:nvPr/>
        </p:nvSpPr>
        <p:spPr>
          <a:xfrm>
            <a:off x="777240" y="1783080"/>
            <a:ext cx="5029200" cy="457200"/>
          </a:xfrm>
          <a:prstGeom prst="rect">
            <a:avLst/>
          </a:prstGeom>
          <a:noFill/>
          <a:ln/>
        </p:spPr>
        <p:txBody>
          <a:bodyPr wrap="square" lIns="0" tIns="0" rIns="0" bIns="0" rtlCol="0" anchor="ctr"/>
          <a:lstStyle/>
          <a:p>
            <a:pPr indent="0" marL="0">
              <a:buNone/>
            </a:pPr>
            <a:r>
              <a:rPr lang="en-US" sz="1400" b="1" dirty="0">
                <a:solidFill>
                  <a:srgbClr val="006633"/>
                </a:solidFill>
                <a:latin typeface="Calibri" pitchFamily="34" charset="0"/>
                <a:ea typeface="Calibri" pitchFamily="34" charset="-122"/>
                <a:cs typeface="Calibri" pitchFamily="34" charset="-120"/>
              </a:rPr>
              <a:t>Al finalizar la Unidad II, el estudiante será capaz de:</a:t>
            </a:r>
            <a:endParaRPr lang="en-US" sz="1400" dirty="0"/>
          </a:p>
        </p:txBody>
      </p:sp>
      <p:sp>
        <p:nvSpPr>
          <p:cNvPr id="7" name="Text 5"/>
          <p:cNvSpPr/>
          <p:nvPr/>
        </p:nvSpPr>
        <p:spPr>
          <a:xfrm>
            <a:off x="868680" y="2331720"/>
            <a:ext cx="4937760" cy="35661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Explicar el modelo request-response de HTTP y la arquitectura navegador → servidor web → intérprete.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Desarrollar aplicaciones dinámicas del lado del servidor en PHP 8.3 con procesamiento seguro de formularios.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Construir APIs REST y un CRUD funcional con Spring Boot 3 + JPA y con ASP.NET Core 8 + EF Core.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Identificar las diez vulnerabilidades del OWASP Top 10:2021 y aplicar defensas básicas.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Rendir con éxito la Evaluación Parcial Primer Corte (semanas 1–8).</a:t>
            </a:r>
            <a:endParaRPr lang="en-US" sz="1300" dirty="0"/>
          </a:p>
        </p:txBody>
      </p:sp>
      <p:sp>
        <p:nvSpPr>
          <p:cNvPr id="8" name="Shape 6"/>
          <p:cNvSpPr/>
          <p:nvPr/>
        </p:nvSpPr>
        <p:spPr>
          <a:xfrm>
            <a:off x="6263640" y="1554480"/>
            <a:ext cx="534924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9" name="Text 7"/>
          <p:cNvSpPr/>
          <p:nvPr/>
        </p:nvSpPr>
        <p:spPr>
          <a:xfrm>
            <a:off x="6492240" y="1783080"/>
            <a:ext cx="4937760" cy="457200"/>
          </a:xfrm>
          <a:prstGeom prst="rect">
            <a:avLst/>
          </a:prstGeom>
          <a:noFill/>
          <a:ln/>
        </p:spPr>
        <p:txBody>
          <a:bodyPr wrap="square" lIns="0" tIns="0" rIns="0" bIns="0" rtlCol="0" anchor="ctr"/>
          <a:lstStyle/>
          <a:p>
            <a:pPr indent="0" marL="0">
              <a:buNone/>
            </a:pPr>
            <a:r>
              <a:rPr lang="en-US" sz="1600" b="1" dirty="0">
                <a:solidFill>
                  <a:srgbClr val="1F2933"/>
                </a:solidFill>
                <a:latin typeface="Georgia" pitchFamily="34" charset="0"/>
                <a:ea typeface="Georgia" pitchFamily="34" charset="-122"/>
                <a:cs typeface="Georgia" pitchFamily="34" charset="-120"/>
              </a:rPr>
              <a:t>¿Por qué el servidor importa?</a:t>
            </a:r>
            <a:endParaRPr lang="en-US" sz="1600" dirty="0"/>
          </a:p>
        </p:txBody>
      </p:sp>
      <p:sp>
        <p:nvSpPr>
          <p:cNvPr id="10" name="Text 8"/>
          <p:cNvSpPr/>
          <p:nvPr/>
        </p:nvSpPr>
        <p:spPr>
          <a:xfrm>
            <a:off x="6492240" y="2331720"/>
            <a:ext cx="4937760" cy="3566160"/>
          </a:xfrm>
          <a:prstGeom prst="rect">
            <a:avLst/>
          </a:prstGeom>
          <a:noFill/>
          <a:ln/>
        </p:spPr>
        <p:txBody>
          <a:bodyPr wrap="square" lIns="0" tIns="0" rIns="0" bIns="0" rtlCol="0" anchor="t"/>
          <a:lstStyle/>
          <a:p>
            <a:pPr indent="0" marL="0">
              <a:spcAft>
                <a:spcPts val="300"/>
              </a:spcAft>
              <a:buNone/>
            </a:pPr>
            <a:r>
              <a:rPr lang="en-US" b="1" dirty="0">
                <a:solidFill>
                  <a:srgbClr val="006633"/>
                </a:solidFill>
                <a:latin typeface="Calibri" pitchFamily="34" charset="0"/>
                <a:ea typeface="Calibri" pitchFamily="34" charset="-122"/>
                <a:cs typeface="Calibri" pitchFamily="34" charset="-120"/>
              </a:rPr>
              <a:t>El cliente es manipulable</a:t>
            </a:r>
            <a:endParaRPr lang="en-US" dirty="0"/>
          </a:p>
          <a:p>
            <a:pPr indent="0" marL="0">
              <a:spcAft>
                <a:spcPts val="1000"/>
              </a:spcAft>
              <a:buNone/>
            </a:pPr>
            <a:r>
              <a:rPr lang="en-US" sz="1250" dirty="0">
                <a:solidFill>
                  <a:srgbClr val="1F2933"/>
                </a:solidFill>
                <a:latin typeface="Calibri" pitchFamily="34" charset="0"/>
                <a:ea typeface="Calibri" pitchFamily="34" charset="-122"/>
                <a:cs typeface="Calibri" pitchFamily="34" charset="-120"/>
              </a:rPr>
              <a:t>Cualquier validación o regla de negocio que viva solo en el navegador puede ser saltada con las DevTools (F12). El servidor es la única frontera de confianza.</a:t>
            </a:r>
            <a:endParaRPr lang="en-US" sz="1250" dirty="0"/>
          </a:p>
          <a:p>
            <a:pPr indent="0" marL="0">
              <a:spcAft>
                <a:spcPts val="300"/>
              </a:spcAft>
              <a:buNone/>
            </a:pPr>
            <a:r>
              <a:rPr lang="en-US" sz="1250" b="1" dirty="0">
                <a:solidFill>
                  <a:srgbClr val="006633"/>
                </a:solidFill>
                <a:latin typeface="Calibri" pitchFamily="34" charset="0"/>
                <a:ea typeface="Calibri" pitchFamily="34" charset="-122"/>
                <a:cs typeface="Calibri" pitchFamily="34" charset="-120"/>
              </a:rPr>
              <a:t>El servidor es donde vive el valor</a:t>
            </a:r>
            <a:endParaRPr lang="en-US" sz="1250" dirty="0"/>
          </a:p>
          <a:p>
            <a:pPr indent="0" marL="0">
              <a:spcAft>
                <a:spcPts val="1000"/>
              </a:spcAft>
              <a:buNone/>
            </a:pPr>
            <a:r>
              <a:rPr lang="en-US" sz="1250" dirty="0">
                <a:solidFill>
                  <a:srgbClr val="1F2933"/>
                </a:solidFill>
                <a:latin typeface="Calibri" pitchFamily="34" charset="0"/>
                <a:ea typeface="Calibri" pitchFamily="34" charset="-122"/>
                <a:cs typeface="Calibri" pitchFamily="34" charset="-120"/>
              </a:rPr>
              <a:t>Base de datos, autenticación, pagos, lógica de negocio: todo lo crítico se ejecuta aquí, fuera del alcance del usuario.</a:t>
            </a:r>
            <a:endParaRPr lang="en-US" sz="1250" dirty="0"/>
          </a:p>
          <a:p>
            <a:pPr indent="0" marL="0">
              <a:spcAft>
                <a:spcPts val="300"/>
              </a:spcAft>
              <a:buNone/>
            </a:pPr>
            <a:r>
              <a:rPr lang="en-US" sz="1250" b="1" dirty="0">
                <a:solidFill>
                  <a:srgbClr val="006633"/>
                </a:solidFill>
                <a:latin typeface="Calibri" pitchFamily="34" charset="0"/>
                <a:ea typeface="Calibri" pitchFamily="34" charset="-122"/>
                <a:cs typeface="Calibri" pitchFamily="34" charset="-120"/>
              </a:rPr>
              <a:t>Un mismo patrón, varios lenguajes</a:t>
            </a:r>
            <a:endParaRPr lang="en-US" sz="1250" dirty="0"/>
          </a:p>
          <a:p>
            <a:pPr indent="0" marL="0">
              <a:buNone/>
            </a:pPr>
            <a:r>
              <a:rPr lang="en-US" sz="1250" dirty="0">
                <a:solidFill>
                  <a:srgbClr val="1F2933"/>
                </a:solidFill>
                <a:latin typeface="Calibri" pitchFamily="34" charset="0"/>
                <a:ea typeface="Calibri" pitchFamily="34" charset="-122"/>
                <a:cs typeface="Calibri" pitchFamily="34" charset="-120"/>
              </a:rPr>
              <a:t>PHP, Java y C# resuelven el mismo problema con sintaxis distinta. Aprender el patrón importa más que el lenguaje.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D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A227"/>
          </a:solidFill>
          <a:ln/>
        </p:spPr>
      </p:sp>
      <p:sp>
        <p:nvSpPr>
          <p:cNvPr id="3" name="Text 1"/>
          <p:cNvSpPr/>
          <p:nvPr/>
        </p:nvSpPr>
        <p:spPr>
          <a:xfrm>
            <a:off x="822960" y="1371600"/>
            <a:ext cx="10058400" cy="457200"/>
          </a:xfrm>
          <a:prstGeom prst="rect">
            <a:avLst/>
          </a:prstGeom>
          <a:noFill/>
          <a:ln/>
        </p:spPr>
        <p:txBody>
          <a:bodyPr wrap="square" lIns="0" tIns="0" rIns="0" bIns="0" rtlCol="0" anchor="ctr"/>
          <a:lstStyle/>
          <a:p>
            <a:pPr indent="0" marL="0">
              <a:buNone/>
            </a:pPr>
            <a:r>
              <a:rPr lang="en-US" sz="1800" b="1" spc="300" kern="0" dirty="0">
                <a:solidFill>
                  <a:srgbClr val="C9A227"/>
                </a:solidFill>
                <a:latin typeface="Calibri" pitchFamily="34" charset="0"/>
                <a:ea typeface="Calibri" pitchFamily="34" charset="-122"/>
                <a:cs typeface="Calibri" pitchFamily="34" charset="-120"/>
              </a:rPr>
              <a:t>SEMANA 5</a:t>
            </a:r>
            <a:endParaRPr lang="en-US" sz="1800" dirty="0"/>
          </a:p>
        </p:txBody>
      </p:sp>
      <p:sp>
        <p:nvSpPr>
          <p:cNvPr id="4" name="Text 2"/>
          <p:cNvSpPr/>
          <p:nvPr/>
        </p:nvSpPr>
        <p:spPr>
          <a:xfrm>
            <a:off x="822960" y="1920240"/>
            <a:ext cx="10607040" cy="20116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Introducción a la programación</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del lado del servidor: PERL y PHP</a:t>
            </a:r>
            <a:endParaRPr lang="en-US" sz="4000" dirty="0"/>
          </a:p>
        </p:txBody>
      </p:sp>
      <p:sp>
        <p:nvSpPr>
          <p:cNvPr id="5" name="Text 3"/>
          <p:cNvSpPr/>
          <p:nvPr/>
        </p:nvSpPr>
        <p:spPr>
          <a:xfrm>
            <a:off x="822960" y="4114800"/>
            <a:ext cx="10424160" cy="1463040"/>
          </a:xfrm>
          <a:prstGeom prst="rect">
            <a:avLst/>
          </a:prstGeom>
          <a:noFill/>
          <a:ln/>
        </p:spPr>
        <p:txBody>
          <a:bodyPr wrap="square" lIns="0" tIns="0" rIns="0" bIns="0" rtlCol="0" anchor="t"/>
          <a:lstStyle/>
          <a:p>
            <a:pPr indent="0" marL="0">
              <a:buNone/>
            </a:pPr>
            <a:r>
              <a:rPr lang="en-US" sz="1600" dirty="0">
                <a:solidFill>
                  <a:srgbClr val="C8D6CE"/>
                </a:solidFill>
                <a:latin typeface="Calibri" pitchFamily="34" charset="0"/>
                <a:ea typeface="Calibri" pitchFamily="34" charset="-122"/>
                <a:cs typeface="Calibri" pitchFamily="34" charset="-120"/>
              </a:rPr>
              <a:t>«PHP creció orgánicamente para resolver problemas reales. PERL fue diseñado para ser práctico. Esa pragmática es lo que hizo a ambos sobrevivientes.»  — Adaptado de Rasmus Lerdorf y Larry Wall</a:t>
            </a:r>
            <a:endParaRPr lang="en-US" sz="1600" dirty="0"/>
          </a:p>
        </p:txBody>
      </p:sp>
      <p:sp>
        <p:nvSpPr>
          <p:cNvPr id="6" name="Text 4"/>
          <p:cNvSpPr/>
          <p:nvPr/>
        </p:nvSpPr>
        <p:spPr>
          <a:xfrm>
            <a:off x="9326880" y="502920"/>
            <a:ext cx="2194560" cy="1463040"/>
          </a:xfrm>
          <a:prstGeom prst="rect">
            <a:avLst/>
          </a:prstGeom>
          <a:noFill/>
          <a:ln/>
        </p:spPr>
        <p:txBody>
          <a:bodyPr wrap="square" lIns="0" tIns="0" rIns="0" bIns="0" rtlCol="0" anchor="ctr"/>
          <a:lstStyle/>
          <a:p>
            <a:pPr algn="r" indent="0" marL="0">
              <a:buNone/>
            </a:pPr>
            <a:r>
              <a:rPr lang="en-US" sz="9600" b="1" dirty="0">
                <a:solidFill>
                  <a:srgbClr val="006633"/>
                </a:solidFill>
                <a:latin typeface="Georgia" pitchFamily="34" charset="0"/>
                <a:ea typeface="Georgia" pitchFamily="34" charset="-122"/>
                <a:cs typeface="Georgia" pitchFamily="34" charset="-120"/>
              </a:rPr>
              <a:t>05</a:t>
            </a:r>
            <a:endParaRPr lang="en-US" sz="9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5 · CONCEPTOS</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El modelo request-response de HTTP</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21208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6" name="Text 4"/>
          <p:cNvSpPr/>
          <p:nvPr/>
        </p:nvSpPr>
        <p:spPr>
          <a:xfrm>
            <a:off x="777240" y="1783080"/>
            <a:ext cx="4754880" cy="457200"/>
          </a:xfrm>
          <a:prstGeom prst="rect">
            <a:avLst/>
          </a:prstGeom>
          <a:noFill/>
          <a:ln/>
        </p:spPr>
        <p:txBody>
          <a:bodyPr wrap="square" lIns="0" tIns="0" rIns="0" bIns="0" rtlCol="0" anchor="ctr"/>
          <a:lstStyle/>
          <a:p>
            <a:pPr indent="0" marL="0">
              <a:buNone/>
            </a:pPr>
            <a:r>
              <a:rPr lang="en-US" sz="1600" b="1" dirty="0">
                <a:solidFill>
                  <a:srgbClr val="006633"/>
                </a:solidFill>
                <a:latin typeface="Georgia" pitchFamily="34" charset="0"/>
                <a:ea typeface="Georgia" pitchFamily="34" charset="-122"/>
                <a:cs typeface="Georgia" pitchFamily="34" charset="-120"/>
              </a:rPr>
              <a:t>La conversación cliente ↔ servidor</a:t>
            </a:r>
            <a:endParaRPr lang="en-US" sz="1600" dirty="0"/>
          </a:p>
        </p:txBody>
      </p:sp>
      <p:sp>
        <p:nvSpPr>
          <p:cNvPr id="7" name="Text 5"/>
          <p:cNvSpPr/>
          <p:nvPr/>
        </p:nvSpPr>
        <p:spPr>
          <a:xfrm>
            <a:off x="868680" y="2331720"/>
            <a:ext cx="4663440" cy="35661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El navegador (cliente) envía una petición HTTP (request) al servidor.</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El servidor de aplicaciones ejecuta código (PHP, Java, .NET, Python) y genera dinámicamente una respuesta.</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La respuesta (response) depende de la petición, los datos de sesión, la base de datos, etc.</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HTTP es sin estado (stateless): cada petición nace y muere sin memoria de las anteriores.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Por eso necesitaremos cookies y sesiones más adelante (semana 10).</a:t>
            </a:r>
            <a:endParaRPr lang="en-US" sz="1300" dirty="0"/>
          </a:p>
        </p:txBody>
      </p:sp>
      <p:sp>
        <p:nvSpPr>
          <p:cNvPr id="8" name="Shape 6"/>
          <p:cNvSpPr/>
          <p:nvPr/>
        </p:nvSpPr>
        <p:spPr>
          <a:xfrm>
            <a:off x="5989320" y="1554480"/>
            <a:ext cx="562356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9" name="Text 7"/>
          <p:cNvSpPr/>
          <p:nvPr/>
        </p:nvSpPr>
        <p:spPr>
          <a:xfrm>
            <a:off x="6217920" y="1783080"/>
            <a:ext cx="5120640" cy="365760"/>
          </a:xfrm>
          <a:prstGeom prst="rect">
            <a:avLst/>
          </a:prstGeom>
          <a:noFill/>
          <a:ln/>
        </p:spPr>
        <p:txBody>
          <a:bodyPr wrap="square" lIns="0" tIns="0" rIns="0" bIns="0" rtlCol="0" anchor="ctr"/>
          <a:lstStyle/>
          <a:p>
            <a:pPr indent="0" marL="0">
              <a:buNone/>
            </a:pPr>
            <a:r>
              <a:rPr lang="en-US" sz="1400" b="1" dirty="0">
                <a:solidFill>
                  <a:srgbClr val="1F2933"/>
                </a:solidFill>
                <a:latin typeface="Georgia" pitchFamily="34" charset="0"/>
                <a:ea typeface="Georgia" pitchFamily="34" charset="-122"/>
                <a:cs typeface="Georgia" pitchFamily="34" charset="-120"/>
              </a:rPr>
              <a:t>Flujo de una petición PHP/PERL</a:t>
            </a:r>
            <a:endParaRPr lang="en-US" sz="1400" dirty="0"/>
          </a:p>
        </p:txBody>
      </p:sp>
      <p:sp>
        <p:nvSpPr>
          <p:cNvPr id="10" name="Shape 8"/>
          <p:cNvSpPr/>
          <p:nvPr/>
        </p:nvSpPr>
        <p:spPr>
          <a:xfrm>
            <a:off x="6400800" y="2377440"/>
            <a:ext cx="4389120" cy="566928"/>
          </a:xfrm>
          <a:prstGeom prst="roundRect">
            <a:avLst>
              <a:gd name="adj" fmla="val 9677"/>
            </a:avLst>
          </a:prstGeom>
          <a:solidFill>
            <a:srgbClr val="006633"/>
          </a:solidFill>
          <a:ln/>
        </p:spPr>
      </p:sp>
      <p:sp>
        <p:nvSpPr>
          <p:cNvPr id="11" name="Text 9"/>
          <p:cNvSpPr/>
          <p:nvPr/>
        </p:nvSpPr>
        <p:spPr>
          <a:xfrm>
            <a:off x="6400800" y="2377440"/>
            <a:ext cx="43891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Navegador</a:t>
            </a:r>
            <a:endParaRPr lang="en-US" sz="1300" dirty="0"/>
          </a:p>
        </p:txBody>
      </p:sp>
      <p:sp>
        <p:nvSpPr>
          <p:cNvPr id="12" name="Text 10"/>
          <p:cNvSpPr/>
          <p:nvPr/>
        </p:nvSpPr>
        <p:spPr>
          <a:xfrm>
            <a:off x="6400800" y="2926080"/>
            <a:ext cx="4389120" cy="310896"/>
          </a:xfrm>
          <a:prstGeom prst="rect">
            <a:avLst/>
          </a:prstGeom>
          <a:noFill/>
          <a:ln/>
        </p:spPr>
        <p:txBody>
          <a:bodyPr wrap="square" lIns="0" tIns="0" rIns="0" bIns="0" rtlCol="0" anchor="ctr"/>
          <a:lstStyle/>
          <a:p>
            <a:pPr algn="ctr" indent="0" marL="0">
              <a:buNone/>
            </a:pPr>
            <a:r>
              <a:rPr lang="en-US" sz="1100" dirty="0">
                <a:solidFill>
                  <a:srgbClr val="6B7280"/>
                </a:solidFill>
                <a:latin typeface="Consolas" pitchFamily="34" charset="0"/>
                <a:ea typeface="Consolas" pitchFamily="34" charset="-122"/>
                <a:cs typeface="Consolas" pitchFamily="34" charset="-120"/>
              </a:rPr>
              <a:t>↓ HTTP</a:t>
            </a:r>
            <a:endParaRPr lang="en-US" sz="1100" dirty="0"/>
          </a:p>
        </p:txBody>
      </p:sp>
      <p:sp>
        <p:nvSpPr>
          <p:cNvPr id="13" name="Shape 11"/>
          <p:cNvSpPr/>
          <p:nvPr/>
        </p:nvSpPr>
        <p:spPr>
          <a:xfrm>
            <a:off x="6400800" y="3255264"/>
            <a:ext cx="4389120" cy="566928"/>
          </a:xfrm>
          <a:prstGeom prst="roundRect">
            <a:avLst>
              <a:gd name="adj" fmla="val 9677"/>
            </a:avLst>
          </a:prstGeom>
          <a:solidFill>
            <a:srgbClr val="0E7A52"/>
          </a:solidFill>
          <a:ln/>
        </p:spPr>
      </p:sp>
      <p:sp>
        <p:nvSpPr>
          <p:cNvPr id="14" name="Text 12"/>
          <p:cNvSpPr/>
          <p:nvPr/>
        </p:nvSpPr>
        <p:spPr>
          <a:xfrm>
            <a:off x="6400800" y="3255264"/>
            <a:ext cx="43891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Apache /</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Nginx</a:t>
            </a:r>
            <a:endParaRPr lang="en-US" sz="1300" dirty="0"/>
          </a:p>
        </p:txBody>
      </p:sp>
      <p:sp>
        <p:nvSpPr>
          <p:cNvPr id="15" name="Text 13"/>
          <p:cNvSpPr/>
          <p:nvPr/>
        </p:nvSpPr>
        <p:spPr>
          <a:xfrm>
            <a:off x="6400800" y="3803904"/>
            <a:ext cx="4389120" cy="310896"/>
          </a:xfrm>
          <a:prstGeom prst="rect">
            <a:avLst/>
          </a:prstGeom>
          <a:noFill/>
          <a:ln/>
        </p:spPr>
        <p:txBody>
          <a:bodyPr wrap="square" lIns="0" tIns="0" rIns="0" bIns="0" rtlCol="0" anchor="ctr"/>
          <a:lstStyle/>
          <a:p>
            <a:pPr algn="ctr" indent="0" marL="0">
              <a:buNone/>
            </a:pPr>
            <a:r>
              <a:rPr lang="en-US" sz="1100" dirty="0">
                <a:solidFill>
                  <a:srgbClr val="6B7280"/>
                </a:solidFill>
                <a:latin typeface="Consolas" pitchFamily="34" charset="0"/>
                <a:ea typeface="Consolas" pitchFamily="34" charset="-122"/>
                <a:cs typeface="Consolas" pitchFamily="34" charset="-120"/>
              </a:rPr>
              <a:t>↓ exec</a:t>
            </a:r>
            <a:endParaRPr lang="en-US" sz="1100" dirty="0"/>
          </a:p>
        </p:txBody>
      </p:sp>
      <p:sp>
        <p:nvSpPr>
          <p:cNvPr id="16" name="Shape 14"/>
          <p:cNvSpPr/>
          <p:nvPr/>
        </p:nvSpPr>
        <p:spPr>
          <a:xfrm>
            <a:off x="6400800" y="4133088"/>
            <a:ext cx="4389120" cy="566928"/>
          </a:xfrm>
          <a:prstGeom prst="roundRect">
            <a:avLst>
              <a:gd name="adj" fmla="val 9677"/>
            </a:avLst>
          </a:prstGeom>
          <a:solidFill>
            <a:srgbClr val="1C7293"/>
          </a:solidFill>
          <a:ln/>
        </p:spPr>
      </p:sp>
      <p:sp>
        <p:nvSpPr>
          <p:cNvPr id="17" name="Text 15"/>
          <p:cNvSpPr/>
          <p:nvPr/>
        </p:nvSpPr>
        <p:spPr>
          <a:xfrm>
            <a:off x="6400800" y="4133088"/>
            <a:ext cx="43891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Intérprete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PHP / PERL</a:t>
            </a:r>
            <a:endParaRPr lang="en-US" sz="1300" dirty="0"/>
          </a:p>
        </p:txBody>
      </p:sp>
      <p:sp>
        <p:nvSpPr>
          <p:cNvPr id="18" name="Text 16"/>
          <p:cNvSpPr/>
          <p:nvPr/>
        </p:nvSpPr>
        <p:spPr>
          <a:xfrm>
            <a:off x="6400800" y="4681728"/>
            <a:ext cx="4389120" cy="310896"/>
          </a:xfrm>
          <a:prstGeom prst="rect">
            <a:avLst/>
          </a:prstGeom>
          <a:noFill/>
          <a:ln/>
        </p:spPr>
        <p:txBody>
          <a:bodyPr wrap="square" lIns="0" tIns="0" rIns="0" bIns="0" rtlCol="0" anchor="ctr"/>
          <a:lstStyle/>
          <a:p>
            <a:pPr algn="ctr" indent="0" marL="0">
              <a:buNone/>
            </a:pPr>
            <a:r>
              <a:rPr lang="en-US" sz="1100" dirty="0">
                <a:solidFill>
                  <a:srgbClr val="6B7280"/>
                </a:solidFill>
                <a:latin typeface="Consolas" pitchFamily="34" charset="0"/>
                <a:ea typeface="Consolas" pitchFamily="34" charset="-122"/>
                <a:cs typeface="Consolas" pitchFamily="34" charset="-120"/>
              </a:rPr>
              <a:t>↓ SQL</a:t>
            </a:r>
            <a:endParaRPr lang="en-US" sz="1100" dirty="0"/>
          </a:p>
        </p:txBody>
      </p:sp>
      <p:sp>
        <p:nvSpPr>
          <p:cNvPr id="19" name="Shape 17"/>
          <p:cNvSpPr/>
          <p:nvPr/>
        </p:nvSpPr>
        <p:spPr>
          <a:xfrm>
            <a:off x="6400800" y="5010912"/>
            <a:ext cx="4389120" cy="566928"/>
          </a:xfrm>
          <a:prstGeom prst="roundRect">
            <a:avLst>
              <a:gd name="adj" fmla="val 9677"/>
            </a:avLst>
          </a:prstGeom>
          <a:solidFill>
            <a:srgbClr val="C9A227"/>
          </a:solidFill>
          <a:ln/>
        </p:spPr>
      </p:sp>
      <p:sp>
        <p:nvSpPr>
          <p:cNvPr id="20" name="Text 18"/>
          <p:cNvSpPr/>
          <p:nvPr/>
        </p:nvSpPr>
        <p:spPr>
          <a:xfrm>
            <a:off x="6400800" y="5010912"/>
            <a:ext cx="43891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MySQL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5 · PERL</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PERL para CGI: el pionero de la web dinámica</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12064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6" name="Shape 4"/>
          <p:cNvSpPr/>
          <p:nvPr/>
        </p:nvSpPr>
        <p:spPr>
          <a:xfrm>
            <a:off x="777240" y="1783080"/>
            <a:ext cx="457200" cy="457200"/>
          </a:xfrm>
          <a:prstGeom prst="ellipse">
            <a:avLst/>
          </a:prstGeom>
          <a:solidFill>
            <a:srgbClr val="006633"/>
          </a:solidFill>
          <a:ln/>
        </p:spPr>
      </p:sp>
      <p:sp>
        <p:nvSpPr>
          <p:cNvPr id="7" name="Text 5"/>
          <p:cNvSpPr/>
          <p:nvPr/>
        </p:nvSpPr>
        <p:spPr>
          <a:xfrm>
            <a:off x="777240" y="17830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L</a:t>
            </a:r>
            <a:endParaRPr lang="en-US" sz="2000" dirty="0"/>
          </a:p>
        </p:txBody>
      </p:sp>
      <p:sp>
        <p:nvSpPr>
          <p:cNvPr id="8" name="Text 6"/>
          <p:cNvSpPr/>
          <p:nvPr/>
        </p:nvSpPr>
        <p:spPr>
          <a:xfrm>
            <a:off x="1371600" y="1801368"/>
            <a:ext cx="4114800" cy="457200"/>
          </a:xfrm>
          <a:prstGeom prst="rect">
            <a:avLst/>
          </a:prstGeom>
          <a:noFill/>
          <a:ln/>
        </p:spPr>
        <p:txBody>
          <a:bodyPr wrap="square" lIns="0" tIns="0" rIns="0" bIns="0" rtlCol="0" anchor="ctr"/>
          <a:lstStyle/>
          <a:p>
            <a:pPr indent="0" marL="0">
              <a:buNone/>
            </a:pPr>
            <a:r>
              <a:rPr lang="en-US" sz="1600" b="1" dirty="0">
                <a:solidFill>
                  <a:srgbClr val="1F2933"/>
                </a:solidFill>
                <a:latin typeface="Georgia" pitchFamily="34" charset="0"/>
                <a:ea typeface="Georgia" pitchFamily="34" charset="-122"/>
                <a:cs typeface="Georgia" pitchFamily="34" charset="-120"/>
              </a:rPr>
              <a:t>Larry Wall y la web de los 90</a:t>
            </a:r>
            <a:endParaRPr lang="en-US" sz="1600" dirty="0"/>
          </a:p>
        </p:txBody>
      </p:sp>
      <p:sp>
        <p:nvSpPr>
          <p:cNvPr id="9" name="Text 7"/>
          <p:cNvSpPr/>
          <p:nvPr/>
        </p:nvSpPr>
        <p:spPr>
          <a:xfrm>
            <a:off x="868680" y="2423160"/>
            <a:ext cx="4572000" cy="34747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Larry Wall, lingüista y programador, creó PERL en 1987.</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En 1993 PERL+CGI fue LA combinación que hizo dinámica a la web: formularios, correos, páginas generadas.</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Amazon, Slashdot y muchos e-commerce pioneros nacieron en PERL.</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Su lema TIMTOWTDI («hay más de una forma de hacerlo») lo hizo expresivo pero difícil de mantener.</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En 2026 sobrevive en sysadmin, integración y análisis de texto; en la web quedó relegado a sistemas legados.</a:t>
            </a:r>
            <a:endParaRPr lang="en-US" sz="1250" dirty="0"/>
          </a:p>
        </p:txBody>
      </p:sp>
      <p:sp>
        <p:nvSpPr>
          <p:cNvPr id="10" name="Shape 8"/>
          <p:cNvSpPr/>
          <p:nvPr/>
        </p:nvSpPr>
        <p:spPr>
          <a:xfrm>
            <a:off x="5852160" y="1691640"/>
            <a:ext cx="5760720" cy="429768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11" name="Text 9"/>
          <p:cNvSpPr/>
          <p:nvPr/>
        </p:nvSpPr>
        <p:spPr>
          <a:xfrm>
            <a:off x="6016752" y="1801368"/>
            <a:ext cx="5431536" cy="3840480"/>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#!/usr/bin/perl</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use strict;        # disciplina obligatoria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use warnings;      # avisa de errores comunes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use CGI;           # modulo para web (Common</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 Gateway Interface)</a:t>
            </a:r>
            <a:endParaRPr lang="en-US" sz="1150" dirty="0"/>
          </a:p>
          <a:p>
            <a:pPr indent="0" marL="0">
              <a:lnSpc>
                <a:spcPct val="108000"/>
              </a:lnSpc>
              <a:buNone/>
            </a:pP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my $q = CGI-&gt;new;</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my $nombre = $q-&gt;param('nombre') || 'Mundo';</a:t>
            </a:r>
            <a:endParaRPr lang="en-US" sz="1150" dirty="0"/>
          </a:p>
          <a:p>
            <a:pPr indent="0" marL="0">
              <a:lnSpc>
                <a:spcPct val="108000"/>
              </a:lnSpc>
              <a:buNone/>
            </a:pP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print $q-&gt;header('text/html');   # cabecera HTTP</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print "&lt;h1&gt;Hola, $nombre desde PERL/CGI&lt;/h1&gt;";</a:t>
            </a:r>
            <a:endParaRPr lang="en-US" sz="1150" dirty="0"/>
          </a:p>
        </p:txBody>
      </p:sp>
      <p:sp>
        <p:nvSpPr>
          <p:cNvPr id="12" name="Text 10"/>
          <p:cNvSpPr/>
          <p:nvPr/>
        </p:nvSpPr>
        <p:spPr>
          <a:xfrm>
            <a:off x="6016752" y="5678424"/>
            <a:ext cx="5431536" cy="237744"/>
          </a:xfrm>
          <a:prstGeom prst="rect">
            <a:avLst/>
          </a:prstGeom>
          <a:noFill/>
          <a:ln/>
        </p:spPr>
        <p:txBody>
          <a:bodyPr wrap="square" lIns="0" tIns="0" rIns="0" bIns="0" rtlCol="0" anchor="ctr"/>
          <a:lstStyle/>
          <a:p>
            <a:pPr indent="0" marL="0">
              <a:buNone/>
            </a:pPr>
            <a:r>
              <a:rPr lang="en-US" sz="950" i="1" dirty="0">
                <a:solidFill>
                  <a:srgbClr val="6B7280"/>
                </a:solidFill>
                <a:latin typeface="Consolas" pitchFamily="34" charset="0"/>
                <a:ea typeface="Consolas" pitchFamily="34" charset="-122"/>
                <a:cs typeface="Consolas" pitchFamily="34" charset="-120"/>
              </a:rPr>
              <a:t>Hola mundo en PERL/CGI — recibe ?nombre por GET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5 · PHP</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PHP: el lenguaje dominante de la web tradicional</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Text 3"/>
          <p:cNvSpPr/>
          <p:nvPr/>
        </p:nvSpPr>
        <p:spPr>
          <a:xfrm>
            <a:off x="548640" y="1417320"/>
            <a:ext cx="5486400" cy="320040"/>
          </a:xfrm>
          <a:prstGeom prst="rect">
            <a:avLst/>
          </a:prstGeom>
          <a:noFill/>
          <a:ln/>
        </p:spPr>
        <p:txBody>
          <a:bodyPr wrap="square" lIns="0" tIns="0" rIns="0" bIns="0" rtlCol="0" anchor="ctr"/>
          <a:lstStyle/>
          <a:p>
            <a:pPr indent="0" marL="0">
              <a:buNone/>
            </a:pPr>
            <a:r>
              <a:rPr lang="en-US" sz="1200" b="1" spc="100" kern="0" dirty="0">
                <a:solidFill>
                  <a:srgbClr val="C9A227"/>
                </a:solidFill>
                <a:latin typeface="Calibri" pitchFamily="34" charset="0"/>
                <a:ea typeface="Calibri" pitchFamily="34" charset="-122"/>
                <a:cs typeface="Calibri" pitchFamily="34" charset="-120"/>
              </a:rPr>
              <a:t>Tabla evolutiva de PHP</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486400" cy="914400"/>
        </p:xfrm>
        <a:graphic>
          <a:graphicData uri="http://schemas.openxmlformats.org/drawingml/2006/table">
            <a:tbl>
              <a:tblPr/>
              <a:tblGrid>
                <a:gridCol w="868680"/>
                <a:gridCol w="1234440"/>
                <a:gridCol w="338328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Año</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066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Versión</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066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Aporte clave</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06633"/>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1995</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PHP 1.0</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Rasmus Lerdorf publica «Personal Home Page Tools».</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2004</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PHP 5</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Modelo de objetos serio; nace la web PHP moderna.</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2015</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PHP 7</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Salto de rendimiento (≈2×) y tipos escalares.</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PHP 8</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JIT, named arguments, match, atributos.</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PHP 8.3</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Tipado más estricto, mejoras de rendimiento.</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bl>
          </a:graphicData>
        </a:graphic>
      </p:graphicFrame>
      <p:sp>
        <p:nvSpPr>
          <p:cNvPr id="7" name="Shape 4"/>
          <p:cNvSpPr/>
          <p:nvPr/>
        </p:nvSpPr>
        <p:spPr>
          <a:xfrm>
            <a:off x="6263640" y="1554480"/>
            <a:ext cx="534924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8" name="Text 5"/>
          <p:cNvSpPr/>
          <p:nvPr/>
        </p:nvSpPr>
        <p:spPr>
          <a:xfrm>
            <a:off x="6492240" y="1737360"/>
            <a:ext cx="4937760" cy="365760"/>
          </a:xfrm>
          <a:prstGeom prst="rect">
            <a:avLst/>
          </a:prstGeom>
          <a:noFill/>
          <a:ln/>
        </p:spPr>
        <p:txBody>
          <a:bodyPr wrap="square" lIns="0" tIns="0" rIns="0" bIns="0" rtlCol="0" anchor="ctr"/>
          <a:lstStyle/>
          <a:p>
            <a:pPr indent="0" marL="0">
              <a:buNone/>
            </a:pPr>
            <a:r>
              <a:rPr lang="en-US" sz="1400" b="1" dirty="0">
                <a:solidFill>
                  <a:srgbClr val="1F2933"/>
                </a:solidFill>
                <a:latin typeface="Georgia" pitchFamily="34" charset="0"/>
                <a:ea typeface="Georgia" pitchFamily="34" charset="-122"/>
                <a:cs typeface="Georgia" pitchFamily="34" charset="-120"/>
              </a:rPr>
              <a:t>Procesamiento de formularios</a:t>
            </a:r>
            <a:endParaRPr lang="en-US" sz="1400" dirty="0"/>
          </a:p>
        </p:txBody>
      </p:sp>
      <p:sp>
        <p:nvSpPr>
          <p:cNvPr id="9" name="Shape 6"/>
          <p:cNvSpPr/>
          <p:nvPr/>
        </p:nvSpPr>
        <p:spPr>
          <a:xfrm>
            <a:off x="6446520" y="2194560"/>
            <a:ext cx="4983480" cy="365760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10" name="Text 7"/>
          <p:cNvSpPr/>
          <p:nvPr/>
        </p:nvSpPr>
        <p:spPr>
          <a:xfrm>
            <a:off x="6611112" y="2304288"/>
            <a:ext cx="4654296" cy="3438144"/>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&lt;?php</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$_GET  -&gt; datos en la URL (?q=...)</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$_POST -&gt; datos del cuerpo (formulario)</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$nombre = $_POST['nombre'] ?? '';</a:t>
            </a:r>
            <a:endParaRPr lang="en-US" sz="1150" dirty="0"/>
          </a:p>
          <a:p>
            <a:pPr indent="0" marL="0">
              <a:lnSpc>
                <a:spcPct val="108000"/>
              </a:lnSpc>
              <a:buNone/>
            </a:pP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NUNCA confiar en la entrada: validar</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$nombre = trim($nombre);</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if ($nombre ===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die('El nombre es obligatorio');</a:t>
            </a:r>
            <a:endParaRPr lang="en-US" sz="1150" dirty="0"/>
          </a:p>
          <a:p>
            <a:pPr indent="0" marL="0">
              <a:lnSpc>
                <a:spcPct val="108000"/>
              </a:lnSpc>
              <a:buNone/>
            </a:pP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Escapar SIEMPRE la salida (anti-XSS)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echo 'Hola, '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htmlspecialchars($nombre);</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?&gt;</a:t>
            </a:r>
            <a:endParaRPr lang="en-US" sz="1150" dirty="0"/>
          </a:p>
        </p:txBody>
      </p:sp>
      <p:sp>
        <p:nvSpPr>
          <p:cNvPr id="11" name="Text 8"/>
          <p:cNvSpPr/>
          <p:nvPr/>
        </p:nvSpPr>
        <p:spPr>
          <a:xfrm>
            <a:off x="548640" y="5897880"/>
            <a:ext cx="5486400" cy="548640"/>
          </a:xfrm>
          <a:prstGeom prst="rect">
            <a:avLst/>
          </a:prstGeom>
          <a:noFill/>
          <a:ln/>
        </p:spPr>
        <p:txBody>
          <a:bodyPr wrap="square" lIns="0" tIns="0" rIns="0" bIns="0" rtlCol="0" anchor="t"/>
          <a:lstStyle/>
          <a:p>
            <a:pPr indent="0" marL="0">
              <a:buNone/>
            </a:pPr>
            <a:r>
              <a:rPr lang="en-US" sz="1150" i="1" dirty="0">
                <a:solidFill>
                  <a:srgbClr val="006633"/>
                </a:solidFill>
                <a:latin typeface="Calibri" pitchFamily="34" charset="0"/>
                <a:ea typeface="Calibri" pitchFamily="34" charset="-122"/>
                <a:cs typeface="Calibri" pitchFamily="34" charset="-120"/>
              </a:rPr>
              <a:t>$_GET vs $_POST: GET para leer/consultar (idempotente, visible en URL); POST para enviar/modificar datos.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5 · CIERRE</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Buenas prácticas profesionales en PHP</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691640"/>
            <a:ext cx="5394960" cy="1234440"/>
          </a:xfrm>
          <a:prstGeom prst="roundRect">
            <a:avLst>
              <a:gd name="adj" fmla="val 5926"/>
            </a:avLst>
          </a:prstGeom>
          <a:solidFill>
            <a:srgbClr val="FFFFFF"/>
          </a:solidFill>
          <a:ln/>
          <a:effectLst>
            <a:outerShdw sx="100000" sy="100000" kx="0" ky="0" algn="bl" rotWithShape="0" blurRad="88900" dist="38100" dir="8100000">
              <a:srgbClr val="000000">
                <a:alpha val="16000"/>
              </a:srgbClr>
            </a:outerShdw>
          </a:effectLst>
        </p:spPr>
      </p:sp>
      <p:sp>
        <p:nvSpPr>
          <p:cNvPr id="6" name="Shape 4"/>
          <p:cNvSpPr/>
          <p:nvPr/>
        </p:nvSpPr>
        <p:spPr>
          <a:xfrm>
            <a:off x="731520" y="2075688"/>
            <a:ext cx="457200" cy="457200"/>
          </a:xfrm>
          <a:prstGeom prst="ellipse">
            <a:avLst/>
          </a:prstGeom>
          <a:solidFill>
            <a:srgbClr val="006633"/>
          </a:solidFill>
          <a:ln/>
        </p:spPr>
      </p:sp>
      <p:sp>
        <p:nvSpPr>
          <p:cNvPr id="7" name="Text 5"/>
          <p:cNvSpPr/>
          <p:nvPr/>
        </p:nvSpPr>
        <p:spPr>
          <a:xfrm>
            <a:off x="731520" y="2075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371600" y="1856232"/>
            <a:ext cx="4389120" cy="411480"/>
          </a:xfrm>
          <a:prstGeom prst="rect">
            <a:avLst/>
          </a:prstGeom>
          <a:noFill/>
          <a:ln/>
        </p:spPr>
        <p:txBody>
          <a:bodyPr wrap="square" lIns="0" tIns="0" rIns="0" bIns="0" rtlCol="0" anchor="ctr"/>
          <a:lstStyle/>
          <a:p>
            <a:pPr indent="0" marL="0">
              <a:buNone/>
            </a:pPr>
            <a:r>
              <a:rPr lang="en-US" sz="1300" b="1" dirty="0">
                <a:solidFill>
                  <a:srgbClr val="006633"/>
                </a:solidFill>
                <a:latin typeface="Consolas" pitchFamily="34" charset="0"/>
                <a:ea typeface="Consolas" pitchFamily="34" charset="-122"/>
                <a:cs typeface="Consolas" pitchFamily="34" charset="-120"/>
              </a:rPr>
              <a:t>declare(strict_types=1)</a:t>
            </a:r>
            <a:endParaRPr lang="en-US" sz="1300" dirty="0"/>
          </a:p>
        </p:txBody>
      </p:sp>
      <p:sp>
        <p:nvSpPr>
          <p:cNvPr id="9" name="Text 7"/>
          <p:cNvSpPr/>
          <p:nvPr/>
        </p:nvSpPr>
        <p:spPr>
          <a:xfrm>
            <a:off x="1371600" y="2258568"/>
            <a:ext cx="4389120" cy="50292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Tipado estricto en todo archivo.</a:t>
            </a:r>
            <a:endParaRPr lang="en-US" sz="1250" dirty="0"/>
          </a:p>
        </p:txBody>
      </p:sp>
      <p:sp>
        <p:nvSpPr>
          <p:cNvPr id="10" name="Shape 8"/>
          <p:cNvSpPr/>
          <p:nvPr/>
        </p:nvSpPr>
        <p:spPr>
          <a:xfrm>
            <a:off x="6217920" y="1691640"/>
            <a:ext cx="5394960" cy="1234440"/>
          </a:xfrm>
          <a:prstGeom prst="roundRect">
            <a:avLst>
              <a:gd name="adj" fmla="val 5926"/>
            </a:avLst>
          </a:prstGeom>
          <a:solidFill>
            <a:srgbClr val="FFFFFF"/>
          </a:solidFill>
          <a:ln/>
          <a:effectLst>
            <a:outerShdw sx="100000" sy="100000" kx="0" ky="0" algn="bl" rotWithShape="0" blurRad="88900" dist="38100" dir="8100000">
              <a:srgbClr val="000000">
                <a:alpha val="16000"/>
              </a:srgbClr>
            </a:outerShdw>
          </a:effectLst>
        </p:spPr>
      </p:sp>
      <p:sp>
        <p:nvSpPr>
          <p:cNvPr id="11" name="Shape 9"/>
          <p:cNvSpPr/>
          <p:nvPr/>
        </p:nvSpPr>
        <p:spPr>
          <a:xfrm>
            <a:off x="6400800" y="2075688"/>
            <a:ext cx="457200" cy="457200"/>
          </a:xfrm>
          <a:prstGeom prst="ellipse">
            <a:avLst/>
          </a:prstGeom>
          <a:solidFill>
            <a:srgbClr val="006633"/>
          </a:solidFill>
          <a:ln/>
        </p:spPr>
      </p:sp>
      <p:sp>
        <p:nvSpPr>
          <p:cNvPr id="12" name="Text 10"/>
          <p:cNvSpPr/>
          <p:nvPr/>
        </p:nvSpPr>
        <p:spPr>
          <a:xfrm>
            <a:off x="6400800" y="207568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7040880" y="1856232"/>
            <a:ext cx="4389120" cy="411480"/>
          </a:xfrm>
          <a:prstGeom prst="rect">
            <a:avLst/>
          </a:prstGeom>
          <a:noFill/>
          <a:ln/>
        </p:spPr>
        <p:txBody>
          <a:bodyPr wrap="square" lIns="0" tIns="0" rIns="0" bIns="0" rtlCol="0" anchor="ctr"/>
          <a:lstStyle/>
          <a:p>
            <a:pPr indent="0" marL="0">
              <a:buNone/>
            </a:pPr>
            <a:r>
              <a:rPr lang="en-US" sz="1300" b="1" dirty="0">
                <a:solidFill>
                  <a:srgbClr val="006633"/>
                </a:solidFill>
                <a:latin typeface="Consolas" pitchFamily="34" charset="0"/>
                <a:ea typeface="Consolas" pitchFamily="34" charset="-122"/>
                <a:cs typeface="Consolas" pitchFamily="34" charset="-120"/>
              </a:rPr>
              <a:t>PDO + prepared statements</a:t>
            </a:r>
            <a:endParaRPr lang="en-US" sz="1300" dirty="0"/>
          </a:p>
        </p:txBody>
      </p:sp>
      <p:sp>
        <p:nvSpPr>
          <p:cNvPr id="14" name="Text 12"/>
          <p:cNvSpPr/>
          <p:nvPr/>
        </p:nvSpPr>
        <p:spPr>
          <a:xfrm>
            <a:off x="7040880" y="2258568"/>
            <a:ext cx="4389120" cy="50292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Nunca concatenar SQL con datos del usuario.</a:t>
            </a:r>
            <a:endParaRPr lang="en-US" sz="1250" dirty="0"/>
          </a:p>
        </p:txBody>
      </p:sp>
      <p:sp>
        <p:nvSpPr>
          <p:cNvPr id="15" name="Shape 13"/>
          <p:cNvSpPr/>
          <p:nvPr/>
        </p:nvSpPr>
        <p:spPr>
          <a:xfrm>
            <a:off x="548640" y="3108960"/>
            <a:ext cx="5394960" cy="1234440"/>
          </a:xfrm>
          <a:prstGeom prst="roundRect">
            <a:avLst>
              <a:gd name="adj" fmla="val 5926"/>
            </a:avLst>
          </a:prstGeom>
          <a:solidFill>
            <a:srgbClr val="FFFFFF"/>
          </a:solidFill>
          <a:ln/>
          <a:effectLst>
            <a:outerShdw sx="100000" sy="100000" kx="0" ky="0" algn="bl" rotWithShape="0" blurRad="88900" dist="38100" dir="8100000">
              <a:srgbClr val="000000">
                <a:alpha val="16000"/>
              </a:srgbClr>
            </a:outerShdw>
          </a:effectLst>
        </p:spPr>
      </p:sp>
      <p:sp>
        <p:nvSpPr>
          <p:cNvPr id="16" name="Shape 14"/>
          <p:cNvSpPr/>
          <p:nvPr/>
        </p:nvSpPr>
        <p:spPr>
          <a:xfrm>
            <a:off x="731520" y="3493008"/>
            <a:ext cx="457200" cy="457200"/>
          </a:xfrm>
          <a:prstGeom prst="ellipse">
            <a:avLst/>
          </a:prstGeom>
          <a:solidFill>
            <a:srgbClr val="006633"/>
          </a:solidFill>
          <a:ln/>
        </p:spPr>
      </p:sp>
      <p:sp>
        <p:nvSpPr>
          <p:cNvPr id="17" name="Text 15"/>
          <p:cNvSpPr/>
          <p:nvPr/>
        </p:nvSpPr>
        <p:spPr>
          <a:xfrm>
            <a:off x="731520" y="3493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8" name="Text 16"/>
          <p:cNvSpPr/>
          <p:nvPr/>
        </p:nvSpPr>
        <p:spPr>
          <a:xfrm>
            <a:off x="1371600" y="3273552"/>
            <a:ext cx="4389120" cy="411480"/>
          </a:xfrm>
          <a:prstGeom prst="rect">
            <a:avLst/>
          </a:prstGeom>
          <a:noFill/>
          <a:ln/>
        </p:spPr>
        <p:txBody>
          <a:bodyPr wrap="square" lIns="0" tIns="0" rIns="0" bIns="0" rtlCol="0" anchor="ctr"/>
          <a:lstStyle/>
          <a:p>
            <a:pPr indent="0" marL="0">
              <a:buNone/>
            </a:pPr>
            <a:r>
              <a:rPr lang="en-US" sz="1300" b="1" dirty="0">
                <a:solidFill>
                  <a:srgbClr val="006633"/>
                </a:solidFill>
                <a:latin typeface="Consolas" pitchFamily="34" charset="0"/>
                <a:ea typeface="Consolas" pitchFamily="34" charset="-122"/>
                <a:cs typeface="Consolas" pitchFamily="34" charset="-120"/>
              </a:rPr>
              <a:t>htmlspecialchars en la salida</a:t>
            </a:r>
            <a:endParaRPr lang="en-US" sz="1300" dirty="0"/>
          </a:p>
        </p:txBody>
      </p:sp>
      <p:sp>
        <p:nvSpPr>
          <p:cNvPr id="19" name="Text 17"/>
          <p:cNvSpPr/>
          <p:nvPr/>
        </p:nvSpPr>
        <p:spPr>
          <a:xfrm>
            <a:off x="1371600" y="3675888"/>
            <a:ext cx="4389120" cy="50292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Defensa anti-XSS por defecto.</a:t>
            </a:r>
            <a:endParaRPr lang="en-US" sz="1250" dirty="0"/>
          </a:p>
        </p:txBody>
      </p:sp>
      <p:sp>
        <p:nvSpPr>
          <p:cNvPr id="20" name="Shape 18"/>
          <p:cNvSpPr/>
          <p:nvPr/>
        </p:nvSpPr>
        <p:spPr>
          <a:xfrm>
            <a:off x="6217920" y="3108960"/>
            <a:ext cx="5394960" cy="1234440"/>
          </a:xfrm>
          <a:prstGeom prst="roundRect">
            <a:avLst>
              <a:gd name="adj" fmla="val 5926"/>
            </a:avLst>
          </a:prstGeom>
          <a:solidFill>
            <a:srgbClr val="FFFFFF"/>
          </a:solidFill>
          <a:ln/>
          <a:effectLst>
            <a:outerShdw sx="100000" sy="100000" kx="0" ky="0" algn="bl" rotWithShape="0" blurRad="88900" dist="38100" dir="8100000">
              <a:srgbClr val="000000">
                <a:alpha val="16000"/>
              </a:srgbClr>
            </a:outerShdw>
          </a:effectLst>
        </p:spPr>
      </p:sp>
      <p:sp>
        <p:nvSpPr>
          <p:cNvPr id="21" name="Shape 19"/>
          <p:cNvSpPr/>
          <p:nvPr/>
        </p:nvSpPr>
        <p:spPr>
          <a:xfrm>
            <a:off x="6400800" y="3493008"/>
            <a:ext cx="457200" cy="457200"/>
          </a:xfrm>
          <a:prstGeom prst="ellipse">
            <a:avLst/>
          </a:prstGeom>
          <a:solidFill>
            <a:srgbClr val="006633"/>
          </a:solidFill>
          <a:ln/>
        </p:spPr>
      </p:sp>
      <p:sp>
        <p:nvSpPr>
          <p:cNvPr id="22" name="Text 20"/>
          <p:cNvSpPr/>
          <p:nvPr/>
        </p:nvSpPr>
        <p:spPr>
          <a:xfrm>
            <a:off x="6400800" y="3493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3" name="Text 21"/>
          <p:cNvSpPr/>
          <p:nvPr/>
        </p:nvSpPr>
        <p:spPr>
          <a:xfrm>
            <a:off x="7040880" y="3273552"/>
            <a:ext cx="4389120" cy="411480"/>
          </a:xfrm>
          <a:prstGeom prst="rect">
            <a:avLst/>
          </a:prstGeom>
          <a:noFill/>
          <a:ln/>
        </p:spPr>
        <p:txBody>
          <a:bodyPr wrap="square" lIns="0" tIns="0" rIns="0" bIns="0" rtlCol="0" anchor="ctr"/>
          <a:lstStyle/>
          <a:p>
            <a:pPr indent="0" marL="0">
              <a:buNone/>
            </a:pPr>
            <a:r>
              <a:rPr lang="en-US" sz="1300" b="1" dirty="0">
                <a:solidFill>
                  <a:srgbClr val="006633"/>
                </a:solidFill>
                <a:latin typeface="Consolas" pitchFamily="34" charset="0"/>
                <a:ea typeface="Consolas" pitchFamily="34" charset="-122"/>
                <a:cs typeface="Consolas" pitchFamily="34" charset="-120"/>
              </a:rPr>
              <a:t>password_hash() (BCrypt)</a:t>
            </a:r>
            <a:endParaRPr lang="en-US" sz="1300" dirty="0"/>
          </a:p>
        </p:txBody>
      </p:sp>
      <p:sp>
        <p:nvSpPr>
          <p:cNvPr id="24" name="Text 22"/>
          <p:cNvSpPr/>
          <p:nvPr/>
        </p:nvSpPr>
        <p:spPr>
          <a:xfrm>
            <a:off x="7040880" y="3675888"/>
            <a:ext cx="4389120" cy="50292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Jamás MD5/SHA1 para contraseñas.</a:t>
            </a:r>
            <a:endParaRPr lang="en-US" sz="1250" dirty="0"/>
          </a:p>
        </p:txBody>
      </p:sp>
      <p:sp>
        <p:nvSpPr>
          <p:cNvPr id="25" name="Shape 23"/>
          <p:cNvSpPr/>
          <p:nvPr/>
        </p:nvSpPr>
        <p:spPr>
          <a:xfrm>
            <a:off x="548640" y="4526280"/>
            <a:ext cx="5394960" cy="1234440"/>
          </a:xfrm>
          <a:prstGeom prst="roundRect">
            <a:avLst>
              <a:gd name="adj" fmla="val 5926"/>
            </a:avLst>
          </a:prstGeom>
          <a:solidFill>
            <a:srgbClr val="FFFFFF"/>
          </a:solidFill>
          <a:ln/>
          <a:effectLst>
            <a:outerShdw sx="100000" sy="100000" kx="0" ky="0" algn="bl" rotWithShape="0" blurRad="88900" dist="38100" dir="8100000">
              <a:srgbClr val="000000">
                <a:alpha val="16000"/>
              </a:srgbClr>
            </a:outerShdw>
          </a:effectLst>
        </p:spPr>
      </p:sp>
      <p:sp>
        <p:nvSpPr>
          <p:cNvPr id="26" name="Shape 24"/>
          <p:cNvSpPr/>
          <p:nvPr/>
        </p:nvSpPr>
        <p:spPr>
          <a:xfrm>
            <a:off x="731520" y="4910328"/>
            <a:ext cx="457200" cy="457200"/>
          </a:xfrm>
          <a:prstGeom prst="ellipse">
            <a:avLst/>
          </a:prstGeom>
          <a:solidFill>
            <a:srgbClr val="006633"/>
          </a:solidFill>
          <a:ln/>
        </p:spPr>
      </p:sp>
      <p:sp>
        <p:nvSpPr>
          <p:cNvPr id="27" name="Text 25"/>
          <p:cNvSpPr/>
          <p:nvPr/>
        </p:nvSpPr>
        <p:spPr>
          <a:xfrm>
            <a:off x="731520" y="49103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8" name="Text 26"/>
          <p:cNvSpPr/>
          <p:nvPr/>
        </p:nvSpPr>
        <p:spPr>
          <a:xfrm>
            <a:off x="1371600" y="4690872"/>
            <a:ext cx="4389120" cy="411480"/>
          </a:xfrm>
          <a:prstGeom prst="rect">
            <a:avLst/>
          </a:prstGeom>
          <a:noFill/>
          <a:ln/>
        </p:spPr>
        <p:txBody>
          <a:bodyPr wrap="square" lIns="0" tIns="0" rIns="0" bIns="0" rtlCol="0" anchor="ctr"/>
          <a:lstStyle/>
          <a:p>
            <a:pPr indent="0" marL="0">
              <a:buNone/>
            </a:pPr>
            <a:r>
              <a:rPr lang="en-US" sz="1300" b="1" dirty="0">
                <a:solidFill>
                  <a:srgbClr val="006633"/>
                </a:solidFill>
                <a:latin typeface="Consolas" pitchFamily="34" charset="0"/>
                <a:ea typeface="Consolas" pitchFamily="34" charset="-122"/>
                <a:cs typeface="Consolas" pitchFamily="34" charset="-120"/>
              </a:rPr>
              <a:t>Composer + PSR-4</a:t>
            </a:r>
            <a:endParaRPr lang="en-US" sz="1300" dirty="0"/>
          </a:p>
        </p:txBody>
      </p:sp>
      <p:sp>
        <p:nvSpPr>
          <p:cNvPr id="29" name="Text 27"/>
          <p:cNvSpPr/>
          <p:nvPr/>
        </p:nvSpPr>
        <p:spPr>
          <a:xfrm>
            <a:off x="1371600" y="5093208"/>
            <a:ext cx="4389120" cy="50292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Autoload y estándar de organización.</a:t>
            </a:r>
            <a:endParaRPr lang="en-US" sz="1250" dirty="0"/>
          </a:p>
        </p:txBody>
      </p:sp>
      <p:sp>
        <p:nvSpPr>
          <p:cNvPr id="30" name="Shape 28"/>
          <p:cNvSpPr/>
          <p:nvPr/>
        </p:nvSpPr>
        <p:spPr>
          <a:xfrm>
            <a:off x="6217920" y="4526280"/>
            <a:ext cx="5394960" cy="1234440"/>
          </a:xfrm>
          <a:prstGeom prst="roundRect">
            <a:avLst>
              <a:gd name="adj" fmla="val 5926"/>
            </a:avLst>
          </a:prstGeom>
          <a:solidFill>
            <a:srgbClr val="FFFFFF"/>
          </a:solidFill>
          <a:ln/>
          <a:effectLst>
            <a:outerShdw sx="100000" sy="100000" kx="0" ky="0" algn="bl" rotWithShape="0" blurRad="88900" dist="38100" dir="8100000">
              <a:srgbClr val="000000">
                <a:alpha val="16000"/>
              </a:srgbClr>
            </a:outerShdw>
          </a:effectLst>
        </p:spPr>
      </p:sp>
      <p:sp>
        <p:nvSpPr>
          <p:cNvPr id="31" name="Shape 29"/>
          <p:cNvSpPr/>
          <p:nvPr/>
        </p:nvSpPr>
        <p:spPr>
          <a:xfrm>
            <a:off x="6400800" y="4910328"/>
            <a:ext cx="457200" cy="457200"/>
          </a:xfrm>
          <a:prstGeom prst="ellipse">
            <a:avLst/>
          </a:prstGeom>
          <a:solidFill>
            <a:srgbClr val="006633"/>
          </a:solidFill>
          <a:ln/>
        </p:spPr>
      </p:sp>
      <p:sp>
        <p:nvSpPr>
          <p:cNvPr id="32" name="Text 30"/>
          <p:cNvSpPr/>
          <p:nvPr/>
        </p:nvSpPr>
        <p:spPr>
          <a:xfrm>
            <a:off x="6400800" y="49103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33" name="Text 31"/>
          <p:cNvSpPr/>
          <p:nvPr/>
        </p:nvSpPr>
        <p:spPr>
          <a:xfrm>
            <a:off x="7040880" y="4690872"/>
            <a:ext cx="4389120" cy="411480"/>
          </a:xfrm>
          <a:prstGeom prst="rect">
            <a:avLst/>
          </a:prstGeom>
          <a:noFill/>
          <a:ln/>
        </p:spPr>
        <p:txBody>
          <a:bodyPr wrap="square" lIns="0" tIns="0" rIns="0" bIns="0" rtlCol="0" anchor="ctr"/>
          <a:lstStyle/>
          <a:p>
            <a:pPr indent="0" marL="0">
              <a:buNone/>
            </a:pPr>
            <a:r>
              <a:rPr lang="en-US" sz="1300" b="1" dirty="0">
                <a:solidFill>
                  <a:srgbClr val="006633"/>
                </a:solidFill>
                <a:latin typeface="Consolas" pitchFamily="34" charset="0"/>
                <a:ea typeface="Consolas" pitchFamily="34" charset="-122"/>
                <a:cs typeface="Consolas" pitchFamily="34" charset="-120"/>
              </a:rPr>
              <a:t>UTF-8 de extremo a extremo</a:t>
            </a:r>
            <a:endParaRPr lang="en-US" sz="1300" dirty="0"/>
          </a:p>
        </p:txBody>
      </p:sp>
      <p:sp>
        <p:nvSpPr>
          <p:cNvPr id="34" name="Text 32"/>
          <p:cNvSpPr/>
          <p:nvPr/>
        </p:nvSpPr>
        <p:spPr>
          <a:xfrm>
            <a:off x="7040880" y="5093208"/>
            <a:ext cx="4389120" cy="50292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HTML, BD, conexión y cabecera HTTP.</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D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A227"/>
          </a:solidFill>
          <a:ln/>
        </p:spPr>
      </p:sp>
      <p:sp>
        <p:nvSpPr>
          <p:cNvPr id="3" name="Text 1"/>
          <p:cNvSpPr/>
          <p:nvPr/>
        </p:nvSpPr>
        <p:spPr>
          <a:xfrm>
            <a:off x="822960" y="1371600"/>
            <a:ext cx="10058400" cy="457200"/>
          </a:xfrm>
          <a:prstGeom prst="rect">
            <a:avLst/>
          </a:prstGeom>
          <a:noFill/>
          <a:ln/>
        </p:spPr>
        <p:txBody>
          <a:bodyPr wrap="square" lIns="0" tIns="0" rIns="0" bIns="0" rtlCol="0" anchor="ctr"/>
          <a:lstStyle/>
          <a:p>
            <a:pPr indent="0" marL="0">
              <a:buNone/>
            </a:pPr>
            <a:r>
              <a:rPr lang="en-US" sz="1800" b="1" spc="300" kern="0" dirty="0">
                <a:solidFill>
                  <a:srgbClr val="C9A227"/>
                </a:solidFill>
                <a:latin typeface="Calibri" pitchFamily="34" charset="0"/>
                <a:ea typeface="Calibri" pitchFamily="34" charset="-122"/>
                <a:cs typeface="Calibri" pitchFamily="34" charset="-120"/>
              </a:rPr>
              <a:t>SEMANA 6</a:t>
            </a:r>
            <a:endParaRPr lang="en-US" sz="1800" dirty="0"/>
          </a:p>
        </p:txBody>
      </p:sp>
      <p:sp>
        <p:nvSpPr>
          <p:cNvPr id="4" name="Text 2"/>
          <p:cNvSpPr/>
          <p:nvPr/>
        </p:nvSpPr>
        <p:spPr>
          <a:xfrm>
            <a:off x="822960" y="1920240"/>
            <a:ext cx="10607040" cy="20116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Java para aplicaciones web:</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JSP, Servlets y Spring Boot</a:t>
            </a:r>
            <a:endParaRPr lang="en-US" sz="4000" dirty="0"/>
          </a:p>
        </p:txBody>
      </p:sp>
      <p:sp>
        <p:nvSpPr>
          <p:cNvPr id="5" name="Text 3"/>
          <p:cNvSpPr/>
          <p:nvPr/>
        </p:nvSpPr>
        <p:spPr>
          <a:xfrm>
            <a:off x="822960" y="4114800"/>
            <a:ext cx="10424160" cy="1463040"/>
          </a:xfrm>
          <a:prstGeom prst="rect">
            <a:avLst/>
          </a:prstGeom>
          <a:noFill/>
          <a:ln/>
        </p:spPr>
        <p:txBody>
          <a:bodyPr wrap="square" lIns="0" tIns="0" rIns="0" bIns="0" rtlCol="0" anchor="t"/>
          <a:lstStyle/>
          <a:p>
            <a:pPr indent="0" marL="0">
              <a:buNone/>
            </a:pPr>
            <a:r>
              <a:rPr lang="en-US" sz="1600" dirty="0">
                <a:solidFill>
                  <a:srgbClr val="C8D6CE"/>
                </a:solidFill>
                <a:latin typeface="Calibri" pitchFamily="34" charset="0"/>
                <a:ea typeface="Calibri" pitchFamily="34" charset="-122"/>
                <a:cs typeface="Calibri" pitchFamily="34" charset="-120"/>
              </a:rPr>
              <a:t>Del Servlet puro al framework opinionado: cómo Java pasó de ser verboso a ser el estándar empresarial productivo de 2026.</a:t>
            </a:r>
            <a:endParaRPr lang="en-US" sz="1600" dirty="0"/>
          </a:p>
        </p:txBody>
      </p:sp>
      <p:sp>
        <p:nvSpPr>
          <p:cNvPr id="6" name="Text 4"/>
          <p:cNvSpPr/>
          <p:nvPr/>
        </p:nvSpPr>
        <p:spPr>
          <a:xfrm>
            <a:off x="9326880" y="502920"/>
            <a:ext cx="2194560" cy="1463040"/>
          </a:xfrm>
          <a:prstGeom prst="rect">
            <a:avLst/>
          </a:prstGeom>
          <a:noFill/>
          <a:ln/>
        </p:spPr>
        <p:txBody>
          <a:bodyPr wrap="square" lIns="0" tIns="0" rIns="0" bIns="0" rtlCol="0" anchor="ctr"/>
          <a:lstStyle/>
          <a:p>
            <a:pPr algn="r" indent="0" marL="0">
              <a:buNone/>
            </a:pPr>
            <a:r>
              <a:rPr lang="en-US" sz="9600" b="1" dirty="0">
                <a:solidFill>
                  <a:srgbClr val="006633"/>
                </a:solidFill>
                <a:latin typeface="Georgia" pitchFamily="34" charset="0"/>
                <a:ea typeface="Georgia" pitchFamily="34" charset="-122"/>
                <a:cs typeface="Georgia" pitchFamily="34" charset="-120"/>
              </a:rPr>
              <a:t>06</a:t>
            </a:r>
            <a:endParaRPr lang="en-US" sz="9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6 · HISTORIA</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Cinco generaciones de Java en la web</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400800" cy="914400"/>
        </p:xfrm>
        <a:graphic>
          <a:graphicData uri="http://schemas.openxmlformats.org/drawingml/2006/table">
            <a:tbl>
              <a:tblPr/>
              <a:tblGrid>
                <a:gridCol w="1005840"/>
                <a:gridCol w="1920240"/>
                <a:gridCol w="3474720"/>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Año</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E7A52"/>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Versión</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E7A52"/>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Aporte</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E7A52"/>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2014</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Java 8</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Lambdas, streams, Optional.</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2014</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Spring Boot 1.0</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Convención sobre configuración.</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2018</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Java 11 LTS</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Versión LTS estable.</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2021</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Java 17 LTS</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Sealed classes, records, pattern matching.</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2022</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Spring Boot 3.0</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Jakarta EE 9 (paquetes jakarta.*).</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2023</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Java 21 LTS</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Virtual threads, sequenced collections.</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2024</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Spring Boot 3.4</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Compatible con Java 21+, observabilidad.</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2025</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Java 25 LTS</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Patrones de cadena en switch.</a:t>
                      </a:r>
                      <a:endParaRPr lang="en-US" sz="12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bl>
          </a:graphicData>
        </a:graphic>
      </p:graphicFrame>
      <p:sp>
        <p:nvSpPr>
          <p:cNvPr id="6" name="Shape 3"/>
          <p:cNvSpPr/>
          <p:nvPr/>
        </p:nvSpPr>
        <p:spPr>
          <a:xfrm>
            <a:off x="7223760" y="1600200"/>
            <a:ext cx="4389120" cy="4434840"/>
          </a:xfrm>
          <a:prstGeom prst="roundRect">
            <a:avLst>
              <a:gd name="adj" fmla="val 1667"/>
            </a:avLst>
          </a:prstGeom>
          <a:solidFill>
            <a:srgbClr val="E5F0EA"/>
          </a:solidFill>
          <a:ln/>
          <a:effectLst>
            <a:outerShdw sx="100000" sy="100000" kx="0" ky="0" algn="bl" rotWithShape="0" blurRad="88900" dist="38100" dir="8100000">
              <a:srgbClr val="000000">
                <a:alpha val="16000"/>
              </a:srgbClr>
            </a:outerShdw>
          </a:effectLst>
        </p:spPr>
      </p:sp>
      <p:sp>
        <p:nvSpPr>
          <p:cNvPr id="7" name="Text 4"/>
          <p:cNvSpPr/>
          <p:nvPr/>
        </p:nvSpPr>
        <p:spPr>
          <a:xfrm>
            <a:off x="7452360" y="1828800"/>
            <a:ext cx="3931920" cy="365760"/>
          </a:xfrm>
          <a:prstGeom prst="rect">
            <a:avLst/>
          </a:prstGeom>
          <a:noFill/>
          <a:ln/>
        </p:spPr>
        <p:txBody>
          <a:bodyPr wrap="square" lIns="0" tIns="0" rIns="0" bIns="0" rtlCol="0" anchor="ctr"/>
          <a:lstStyle/>
          <a:p>
            <a:pPr indent="0" marL="0">
              <a:buNone/>
            </a:pPr>
            <a:r>
              <a:rPr lang="en-US" sz="1500" b="1" dirty="0">
                <a:solidFill>
                  <a:srgbClr val="006633"/>
                </a:solidFill>
                <a:latin typeface="Georgia" pitchFamily="34" charset="0"/>
                <a:ea typeface="Georgia" pitchFamily="34" charset="-122"/>
                <a:cs typeface="Georgia" pitchFamily="34" charset="-120"/>
              </a:rPr>
              <a:t>Lo que hay que recordar</a:t>
            </a:r>
            <a:endParaRPr lang="en-US" sz="1500" dirty="0"/>
          </a:p>
        </p:txBody>
      </p:sp>
      <p:sp>
        <p:nvSpPr>
          <p:cNvPr id="8" name="Text 5"/>
          <p:cNvSpPr/>
          <p:nvPr/>
        </p:nvSpPr>
        <p:spPr>
          <a:xfrm>
            <a:off x="7543800" y="2331720"/>
            <a:ext cx="3840480" cy="35661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Usar siempre una versión LTS (soporte a largo plazo): Java 17 o 21.</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Spring Boot 3 requiere Java 17+ y migró de javax.* a jakarta.* (cambio que rompe código antiguo).</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El PFC del curso usa Spring Boot 3.4 + Java 21.</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Virtual threads (Java 21) permiten manejar miles de peticiones concurrentes baratas.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6 · DEL SERVLET A SPRING</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El motor histórico y el estándar moderno</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486400" cy="2148840"/>
          </a:xfrm>
          <a:prstGeom prst="roundRect">
            <a:avLst>
              <a:gd name="adj" fmla="val 3404"/>
            </a:avLst>
          </a:prstGeom>
          <a:solidFill>
            <a:srgbClr val="FFFFFF"/>
          </a:solidFill>
          <a:ln/>
          <a:effectLst>
            <a:outerShdw sx="100000" sy="100000" kx="0" ky="0" algn="bl" rotWithShape="0" blurRad="88900" dist="38100" dir="8100000">
              <a:srgbClr val="000000">
                <a:alpha val="16000"/>
              </a:srgbClr>
            </a:outerShdw>
          </a:effectLst>
        </p:spPr>
      </p:sp>
      <p:sp>
        <p:nvSpPr>
          <p:cNvPr id="6" name="Text 4"/>
          <p:cNvSpPr/>
          <p:nvPr/>
        </p:nvSpPr>
        <p:spPr>
          <a:xfrm>
            <a:off x="731520" y="1691640"/>
            <a:ext cx="5120640" cy="365760"/>
          </a:xfrm>
          <a:prstGeom prst="rect">
            <a:avLst/>
          </a:prstGeom>
          <a:noFill/>
          <a:ln/>
        </p:spPr>
        <p:txBody>
          <a:bodyPr wrap="square" lIns="0" tIns="0" rIns="0" bIns="0" rtlCol="0" anchor="ctr"/>
          <a:lstStyle/>
          <a:p>
            <a:pPr indent="0" marL="0">
              <a:buNone/>
            </a:pPr>
            <a:r>
              <a:rPr lang="en-US" sz="1400" b="1" dirty="0">
                <a:solidFill>
                  <a:srgbClr val="6B7280"/>
                </a:solidFill>
                <a:latin typeface="Georgia" pitchFamily="34" charset="0"/>
                <a:ea typeface="Georgia" pitchFamily="34" charset="-122"/>
                <a:cs typeface="Georgia" pitchFamily="34" charset="-120"/>
              </a:rPr>
              <a:t>Servlet puro (el cimiento)</a:t>
            </a:r>
            <a:endParaRPr lang="en-US" sz="1400" dirty="0"/>
          </a:p>
        </p:txBody>
      </p:sp>
      <p:sp>
        <p:nvSpPr>
          <p:cNvPr id="7" name="Shape 5"/>
          <p:cNvSpPr/>
          <p:nvPr/>
        </p:nvSpPr>
        <p:spPr>
          <a:xfrm>
            <a:off x="713232" y="2084832"/>
            <a:ext cx="5166360" cy="150876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8" name="Text 6"/>
          <p:cNvSpPr/>
          <p:nvPr/>
        </p:nvSpPr>
        <p:spPr>
          <a:xfrm>
            <a:off x="877824" y="2194560"/>
            <a:ext cx="4837176" cy="1289304"/>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@WebServlet("/hola")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public class HolaServlet extends HttpServlet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protected void doGet(HttpServletRequest req,</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HttpServletResponse resp){</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resp.getWriter().write("Hola Mundo"); } }</a:t>
            </a:r>
            <a:endParaRPr lang="en-US" sz="1150" dirty="0"/>
          </a:p>
        </p:txBody>
      </p:sp>
      <p:sp>
        <p:nvSpPr>
          <p:cNvPr id="9" name="Shape 7"/>
          <p:cNvSpPr/>
          <p:nvPr/>
        </p:nvSpPr>
        <p:spPr>
          <a:xfrm>
            <a:off x="548640" y="3840480"/>
            <a:ext cx="5486400" cy="2194560"/>
          </a:xfrm>
          <a:prstGeom prst="roundRect">
            <a:avLst>
              <a:gd name="adj" fmla="val 3333"/>
            </a:avLst>
          </a:prstGeom>
          <a:solidFill>
            <a:srgbClr val="E5F0EA"/>
          </a:solidFill>
          <a:ln/>
          <a:effectLst>
            <a:outerShdw sx="100000" sy="100000" kx="0" ky="0" algn="bl" rotWithShape="0" blurRad="88900" dist="38100" dir="8100000">
              <a:srgbClr val="000000">
                <a:alpha val="16000"/>
              </a:srgbClr>
            </a:outerShdw>
          </a:effectLst>
        </p:spPr>
      </p:sp>
      <p:sp>
        <p:nvSpPr>
          <p:cNvPr id="10" name="Text 8"/>
          <p:cNvSpPr/>
          <p:nvPr/>
        </p:nvSpPr>
        <p:spPr>
          <a:xfrm>
            <a:off x="731520" y="3977640"/>
            <a:ext cx="5120640" cy="365760"/>
          </a:xfrm>
          <a:prstGeom prst="rect">
            <a:avLst/>
          </a:prstGeom>
          <a:noFill/>
          <a:ln/>
        </p:spPr>
        <p:txBody>
          <a:bodyPr wrap="square" lIns="0" tIns="0" rIns="0" bIns="0" rtlCol="0" anchor="ctr"/>
          <a:lstStyle/>
          <a:p>
            <a:pPr indent="0" marL="0">
              <a:buNone/>
            </a:pPr>
            <a:r>
              <a:rPr lang="en-US" sz="1400" b="1" dirty="0">
                <a:solidFill>
                  <a:srgbClr val="006633"/>
                </a:solidFill>
                <a:latin typeface="Georgia" pitchFamily="34" charset="0"/>
                <a:ea typeface="Georgia" pitchFamily="34" charset="-122"/>
                <a:cs typeface="Georgia" pitchFamily="34" charset="-120"/>
              </a:rPr>
              <a:t>Spring Boot (lo mismo, productivo)</a:t>
            </a:r>
            <a:endParaRPr lang="en-US" sz="1400" dirty="0"/>
          </a:p>
        </p:txBody>
      </p:sp>
      <p:sp>
        <p:nvSpPr>
          <p:cNvPr id="11" name="Shape 9"/>
          <p:cNvSpPr/>
          <p:nvPr/>
        </p:nvSpPr>
        <p:spPr>
          <a:xfrm>
            <a:off x="713232" y="4370832"/>
            <a:ext cx="5166360" cy="146304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877824" y="4480560"/>
            <a:ext cx="4837176" cy="1243584"/>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@RestController</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public class HolaController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@GetMapping("/hola")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public String hola() { return "Hola Mundo";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a:t>
            </a:r>
            <a:endParaRPr lang="en-US" sz="1150" dirty="0"/>
          </a:p>
        </p:txBody>
      </p:sp>
      <p:sp>
        <p:nvSpPr>
          <p:cNvPr id="13" name="Shape 11"/>
          <p:cNvSpPr/>
          <p:nvPr/>
        </p:nvSpPr>
        <p:spPr>
          <a:xfrm>
            <a:off x="6263640" y="1554480"/>
            <a:ext cx="534924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14" name="Text 12"/>
          <p:cNvSpPr/>
          <p:nvPr/>
        </p:nvSpPr>
        <p:spPr>
          <a:xfrm>
            <a:off x="6492240" y="1737360"/>
            <a:ext cx="493776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¿Qué aporta Spring Boot?</a:t>
            </a:r>
            <a:endParaRPr lang="en-US" sz="1500" dirty="0"/>
          </a:p>
        </p:txBody>
      </p:sp>
      <p:sp>
        <p:nvSpPr>
          <p:cNvPr id="15" name="Text 13"/>
          <p:cNvSpPr/>
          <p:nvPr/>
        </p:nvSpPr>
        <p:spPr>
          <a:xfrm>
            <a:off x="6583680" y="2240280"/>
            <a:ext cx="4846320" cy="3657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Opinionado: trae decisiones por defecto sensatas (convención sobre configuración).</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Auto-configuration: detecta las dependencias y se configura solo.</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Servidor Tomcat embebido: no se instala aparte; la app se ejecuta con un clic.</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Starters: una dependencia («spring-boot-starter-web») trae todo lo necesario.</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@RestController + @GetMapping: un método Java se convierte en endpoint REST que devuelve JSON.</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Resultado: menos código repetitivo (boilerplate), foco en la lógica de negocio.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6 · DATOS</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Spring Data JPA: del objeto a la tabla sin escribir SQL</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85216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6" name="Text 4"/>
          <p:cNvSpPr/>
          <p:nvPr/>
        </p:nvSpPr>
        <p:spPr>
          <a:xfrm>
            <a:off x="731520" y="1737360"/>
            <a:ext cx="5486400" cy="365760"/>
          </a:xfrm>
          <a:prstGeom prst="rect">
            <a:avLst/>
          </a:prstGeom>
          <a:noFill/>
          <a:ln/>
        </p:spPr>
        <p:txBody>
          <a:bodyPr wrap="square" lIns="0" tIns="0" rIns="0" bIns="0" rtlCol="0" anchor="ctr"/>
          <a:lstStyle/>
          <a:p>
            <a:pPr indent="0" marL="0">
              <a:buNone/>
            </a:pPr>
            <a:r>
              <a:rPr lang="en-US" sz="1400" b="1" dirty="0">
                <a:solidFill>
                  <a:srgbClr val="1F2933"/>
                </a:solidFill>
                <a:latin typeface="Georgia" pitchFamily="34" charset="0"/>
                <a:ea typeface="Georgia" pitchFamily="34" charset="-122"/>
                <a:cs typeface="Georgia" pitchFamily="34" charset="-120"/>
              </a:rPr>
              <a:t>Entidad + Repositorio</a:t>
            </a:r>
            <a:endParaRPr lang="en-US" sz="1400" dirty="0"/>
          </a:p>
        </p:txBody>
      </p:sp>
      <p:sp>
        <p:nvSpPr>
          <p:cNvPr id="7" name="Shape 5"/>
          <p:cNvSpPr/>
          <p:nvPr/>
        </p:nvSpPr>
        <p:spPr>
          <a:xfrm>
            <a:off x="713232" y="2194560"/>
            <a:ext cx="5532120" cy="370332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8" name="Text 6"/>
          <p:cNvSpPr/>
          <p:nvPr/>
        </p:nvSpPr>
        <p:spPr>
          <a:xfrm>
            <a:off x="877824" y="2304288"/>
            <a:ext cx="5202936" cy="3483864"/>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@Entity                       // mapea a tabla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@Table(name = "productos")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public class Producto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@Id @GeneratedValue(strategy = IDENTITY)</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private Long id;            // clave primaria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private String nombre;</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private BigDecimal precio;</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a:t>
            </a:r>
            <a:endParaRPr lang="en-US" sz="1150" dirty="0"/>
          </a:p>
          <a:p>
            <a:pPr indent="0" marL="0">
              <a:lnSpc>
                <a:spcPct val="108000"/>
              </a:lnSpc>
              <a:buNone/>
            </a:pP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JPA genera el SQL automaticamente:</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public interface ProductoRepository</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extends JpaRepository&lt;Producto, Long&gt; {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findAll(), findById(), save(), delete()...</a:t>
            </a:r>
            <a:endParaRPr lang="en-US" sz="1150" dirty="0"/>
          </a:p>
        </p:txBody>
      </p:sp>
      <p:sp>
        <p:nvSpPr>
          <p:cNvPr id="9" name="Shape 7"/>
          <p:cNvSpPr/>
          <p:nvPr/>
        </p:nvSpPr>
        <p:spPr>
          <a:xfrm>
            <a:off x="6629400" y="1554480"/>
            <a:ext cx="498348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10" name="Text 8"/>
          <p:cNvSpPr/>
          <p:nvPr/>
        </p:nvSpPr>
        <p:spPr>
          <a:xfrm>
            <a:off x="6858000" y="1737360"/>
            <a:ext cx="4572000" cy="365760"/>
          </a:xfrm>
          <a:prstGeom prst="rect">
            <a:avLst/>
          </a:prstGeom>
          <a:noFill/>
          <a:ln/>
        </p:spPr>
        <p:txBody>
          <a:bodyPr wrap="square" lIns="0" tIns="0" rIns="0" bIns="0" rtlCol="0" anchor="ctr"/>
          <a:lstStyle/>
          <a:p>
            <a:pPr indent="0" marL="0">
              <a:buNone/>
            </a:pPr>
            <a:r>
              <a:rPr lang="en-US" sz="1500" b="1" dirty="0">
                <a:solidFill>
                  <a:srgbClr val="006633"/>
                </a:solidFill>
                <a:latin typeface="Georgia" pitchFamily="34" charset="0"/>
                <a:ea typeface="Georgia" pitchFamily="34" charset="-122"/>
                <a:cs typeface="Georgia" pitchFamily="34" charset="-120"/>
              </a:rPr>
              <a:t>Las capas del backend</a:t>
            </a:r>
            <a:endParaRPr lang="en-US" sz="1500" dirty="0"/>
          </a:p>
        </p:txBody>
      </p:sp>
      <p:sp>
        <p:nvSpPr>
          <p:cNvPr id="11" name="Shape 9"/>
          <p:cNvSpPr/>
          <p:nvPr/>
        </p:nvSpPr>
        <p:spPr>
          <a:xfrm>
            <a:off x="6858000" y="2286000"/>
            <a:ext cx="4526280" cy="786384"/>
          </a:xfrm>
          <a:prstGeom prst="roundRect">
            <a:avLst>
              <a:gd name="adj" fmla="val 5814"/>
            </a:avLst>
          </a:prstGeom>
          <a:solidFill>
            <a:srgbClr val="FFFFFF"/>
          </a:solidFill>
          <a:ln w="25400">
            <a:solidFill>
              <a:srgbClr val="006633"/>
            </a:solidFill>
            <a:prstDash val="solid"/>
          </a:ln>
        </p:spPr>
      </p:sp>
      <p:sp>
        <p:nvSpPr>
          <p:cNvPr id="12" name="Text 10"/>
          <p:cNvSpPr/>
          <p:nvPr/>
        </p:nvSpPr>
        <p:spPr>
          <a:xfrm>
            <a:off x="7040880" y="2377440"/>
            <a:ext cx="4206240" cy="365760"/>
          </a:xfrm>
          <a:prstGeom prst="rect">
            <a:avLst/>
          </a:prstGeom>
          <a:noFill/>
          <a:ln/>
        </p:spPr>
        <p:txBody>
          <a:bodyPr wrap="square" lIns="0" tIns="0" rIns="0" bIns="0" rtlCol="0" anchor="ctr"/>
          <a:lstStyle/>
          <a:p>
            <a:pPr indent="0" marL="0">
              <a:buNone/>
            </a:pPr>
            <a:r>
              <a:rPr lang="en-US" sz="1300" b="1" dirty="0">
                <a:solidFill>
                  <a:srgbClr val="006633"/>
                </a:solidFill>
                <a:latin typeface="Consolas" pitchFamily="34" charset="0"/>
                <a:ea typeface="Consolas" pitchFamily="34" charset="-122"/>
                <a:cs typeface="Consolas" pitchFamily="34" charset="-120"/>
              </a:rPr>
              <a:t>@RestController</a:t>
            </a:r>
            <a:endParaRPr lang="en-US" sz="1300" dirty="0"/>
          </a:p>
        </p:txBody>
      </p:sp>
      <p:sp>
        <p:nvSpPr>
          <p:cNvPr id="13" name="Text 11"/>
          <p:cNvSpPr/>
          <p:nvPr/>
        </p:nvSpPr>
        <p:spPr>
          <a:xfrm>
            <a:off x="7040880" y="2697480"/>
            <a:ext cx="4206240" cy="3200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Recibe la petición HTTP</a:t>
            </a:r>
            <a:endParaRPr lang="en-US" sz="1150" dirty="0"/>
          </a:p>
        </p:txBody>
      </p:sp>
      <p:sp>
        <p:nvSpPr>
          <p:cNvPr id="14" name="Shape 12"/>
          <p:cNvSpPr/>
          <p:nvPr/>
        </p:nvSpPr>
        <p:spPr>
          <a:xfrm>
            <a:off x="6858000" y="3200400"/>
            <a:ext cx="4526280" cy="786384"/>
          </a:xfrm>
          <a:prstGeom prst="roundRect">
            <a:avLst>
              <a:gd name="adj" fmla="val 5814"/>
            </a:avLst>
          </a:prstGeom>
          <a:solidFill>
            <a:srgbClr val="FFFFFF"/>
          </a:solidFill>
          <a:ln w="25400">
            <a:solidFill>
              <a:srgbClr val="0E7A52"/>
            </a:solidFill>
            <a:prstDash val="solid"/>
          </a:ln>
        </p:spPr>
      </p:sp>
      <p:sp>
        <p:nvSpPr>
          <p:cNvPr id="15" name="Text 13"/>
          <p:cNvSpPr/>
          <p:nvPr/>
        </p:nvSpPr>
        <p:spPr>
          <a:xfrm>
            <a:off x="7040880" y="3291840"/>
            <a:ext cx="4206240" cy="365760"/>
          </a:xfrm>
          <a:prstGeom prst="rect">
            <a:avLst/>
          </a:prstGeom>
          <a:noFill/>
          <a:ln/>
        </p:spPr>
        <p:txBody>
          <a:bodyPr wrap="square" lIns="0" tIns="0" rIns="0" bIns="0" rtlCol="0" anchor="ctr"/>
          <a:lstStyle/>
          <a:p>
            <a:pPr indent="0" marL="0">
              <a:buNone/>
            </a:pPr>
            <a:r>
              <a:rPr lang="en-US" sz="1300" b="1" dirty="0">
                <a:solidFill>
                  <a:srgbClr val="0E7A52"/>
                </a:solidFill>
                <a:latin typeface="Consolas" pitchFamily="34" charset="0"/>
                <a:ea typeface="Consolas" pitchFamily="34" charset="-122"/>
                <a:cs typeface="Consolas" pitchFamily="34" charset="-120"/>
              </a:rPr>
              <a:t>@Service</a:t>
            </a:r>
            <a:endParaRPr lang="en-US" sz="1300" dirty="0"/>
          </a:p>
        </p:txBody>
      </p:sp>
      <p:sp>
        <p:nvSpPr>
          <p:cNvPr id="16" name="Text 14"/>
          <p:cNvSpPr/>
          <p:nvPr/>
        </p:nvSpPr>
        <p:spPr>
          <a:xfrm>
            <a:off x="7040880" y="3611880"/>
            <a:ext cx="4206240" cy="3200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Reglas de negocio</a:t>
            </a:r>
            <a:endParaRPr lang="en-US" sz="1150" dirty="0"/>
          </a:p>
        </p:txBody>
      </p:sp>
      <p:sp>
        <p:nvSpPr>
          <p:cNvPr id="17" name="Shape 15"/>
          <p:cNvSpPr/>
          <p:nvPr/>
        </p:nvSpPr>
        <p:spPr>
          <a:xfrm>
            <a:off x="6858000" y="4114800"/>
            <a:ext cx="4526280" cy="786384"/>
          </a:xfrm>
          <a:prstGeom prst="roundRect">
            <a:avLst>
              <a:gd name="adj" fmla="val 5814"/>
            </a:avLst>
          </a:prstGeom>
          <a:solidFill>
            <a:srgbClr val="FFFFFF"/>
          </a:solidFill>
          <a:ln w="25400">
            <a:solidFill>
              <a:srgbClr val="1C7293"/>
            </a:solidFill>
            <a:prstDash val="solid"/>
          </a:ln>
        </p:spPr>
      </p:sp>
      <p:sp>
        <p:nvSpPr>
          <p:cNvPr id="18" name="Text 16"/>
          <p:cNvSpPr/>
          <p:nvPr/>
        </p:nvSpPr>
        <p:spPr>
          <a:xfrm>
            <a:off x="7040880" y="4206240"/>
            <a:ext cx="4206240" cy="365760"/>
          </a:xfrm>
          <a:prstGeom prst="rect">
            <a:avLst/>
          </a:prstGeom>
          <a:noFill/>
          <a:ln/>
        </p:spPr>
        <p:txBody>
          <a:bodyPr wrap="square" lIns="0" tIns="0" rIns="0" bIns="0" rtlCol="0" anchor="ctr"/>
          <a:lstStyle/>
          <a:p>
            <a:pPr indent="0" marL="0">
              <a:buNone/>
            </a:pPr>
            <a:r>
              <a:rPr lang="en-US" sz="1300" b="1" dirty="0">
                <a:solidFill>
                  <a:srgbClr val="1C7293"/>
                </a:solidFill>
                <a:latin typeface="Consolas" pitchFamily="34" charset="0"/>
                <a:ea typeface="Consolas" pitchFamily="34" charset="-122"/>
                <a:cs typeface="Consolas" pitchFamily="34" charset="-120"/>
              </a:rPr>
              <a:t>@Repository (JPA)</a:t>
            </a:r>
            <a:endParaRPr lang="en-US" sz="1300" dirty="0"/>
          </a:p>
        </p:txBody>
      </p:sp>
      <p:sp>
        <p:nvSpPr>
          <p:cNvPr id="19" name="Text 17"/>
          <p:cNvSpPr/>
          <p:nvPr/>
        </p:nvSpPr>
        <p:spPr>
          <a:xfrm>
            <a:off x="7040880" y="4526280"/>
            <a:ext cx="4206240" cy="3200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Acceso a la base de datos</a:t>
            </a:r>
            <a:endParaRPr lang="en-US" sz="1150" dirty="0"/>
          </a:p>
        </p:txBody>
      </p:sp>
      <p:sp>
        <p:nvSpPr>
          <p:cNvPr id="20" name="Shape 18"/>
          <p:cNvSpPr/>
          <p:nvPr/>
        </p:nvSpPr>
        <p:spPr>
          <a:xfrm>
            <a:off x="6858000" y="5029200"/>
            <a:ext cx="4526280" cy="786384"/>
          </a:xfrm>
          <a:prstGeom prst="roundRect">
            <a:avLst>
              <a:gd name="adj" fmla="val 5814"/>
            </a:avLst>
          </a:prstGeom>
          <a:solidFill>
            <a:srgbClr val="FFFFFF"/>
          </a:solidFill>
          <a:ln w="25400">
            <a:solidFill>
              <a:srgbClr val="C9A227"/>
            </a:solidFill>
            <a:prstDash val="solid"/>
          </a:ln>
        </p:spPr>
      </p:sp>
      <p:sp>
        <p:nvSpPr>
          <p:cNvPr id="21" name="Text 19"/>
          <p:cNvSpPr/>
          <p:nvPr/>
        </p:nvSpPr>
        <p:spPr>
          <a:xfrm>
            <a:off x="7040880" y="5120640"/>
            <a:ext cx="4206240" cy="365760"/>
          </a:xfrm>
          <a:prstGeom prst="rect">
            <a:avLst/>
          </a:prstGeom>
          <a:noFill/>
          <a:ln/>
        </p:spPr>
        <p:txBody>
          <a:bodyPr wrap="square" lIns="0" tIns="0" rIns="0" bIns="0" rtlCol="0" anchor="ctr"/>
          <a:lstStyle/>
          <a:p>
            <a:pPr indent="0" marL="0">
              <a:buNone/>
            </a:pPr>
            <a:r>
              <a:rPr lang="en-US" sz="1300" b="1" dirty="0">
                <a:solidFill>
                  <a:srgbClr val="C9A227"/>
                </a:solidFill>
                <a:latin typeface="Consolas" pitchFamily="34" charset="0"/>
                <a:ea typeface="Consolas" pitchFamily="34" charset="-122"/>
                <a:cs typeface="Consolas" pitchFamily="34" charset="-120"/>
              </a:rPr>
              <a:t>Base de datos</a:t>
            </a:r>
            <a:endParaRPr lang="en-US" sz="1300" dirty="0"/>
          </a:p>
        </p:txBody>
      </p:sp>
      <p:sp>
        <p:nvSpPr>
          <p:cNvPr id="22" name="Text 20"/>
          <p:cNvSpPr/>
          <p:nvPr/>
        </p:nvSpPr>
        <p:spPr>
          <a:xfrm>
            <a:off x="7040880" y="5440680"/>
            <a:ext cx="4206240" cy="3200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PostgreSQL / H2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6 · CIERRE</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Doce reglas profesionales en Spring Boot</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645920"/>
            <a:ext cx="5394960" cy="4297680"/>
          </a:xfrm>
          <a:prstGeom prst="roundRect">
            <a:avLst>
              <a:gd name="adj" fmla="val 1702"/>
            </a:avLst>
          </a:prstGeom>
          <a:solidFill>
            <a:srgbClr val="E5F0EA"/>
          </a:solidFill>
          <a:ln/>
          <a:effectLst>
            <a:outerShdw sx="100000" sy="100000" kx="0" ky="0" algn="bl" rotWithShape="0" blurRad="88900" dist="38100" dir="8100000">
              <a:srgbClr val="000000">
                <a:alpha val="16000"/>
              </a:srgbClr>
            </a:outerShdw>
          </a:effectLst>
        </p:spPr>
      </p:sp>
      <p:sp>
        <p:nvSpPr>
          <p:cNvPr id="6" name="Text 4"/>
          <p:cNvSpPr/>
          <p:nvPr/>
        </p:nvSpPr>
        <p:spPr>
          <a:xfrm>
            <a:off x="777240" y="1874520"/>
            <a:ext cx="4937760" cy="3931920"/>
          </a:xfrm>
          <a:prstGeom prst="rect">
            <a:avLst/>
          </a:prstGeom>
          <a:noFill/>
          <a:ln/>
        </p:spPr>
        <p:txBody>
          <a:bodyPr wrap="square" lIns="0" tIns="0" rIns="0" bIns="0" rtlCol="0" anchor="t"/>
          <a:lstStyle/>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1.  Controllers thin: la lógica va en servicios.</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2.  Capas: controller → service → repository.</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3.  DTOs separados de las entidades JPA.</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4.  @Valid en TODA entrada de los controllers.</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5.  Manejo global de excepciones (@ControllerAdvice).</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6.  Patrón PRG (Post-Redirect-Get).</a:t>
            </a:r>
            <a:endParaRPr lang="en-US" sz="1400" dirty="0"/>
          </a:p>
        </p:txBody>
      </p:sp>
      <p:sp>
        <p:nvSpPr>
          <p:cNvPr id="7" name="Shape 5"/>
          <p:cNvSpPr/>
          <p:nvPr/>
        </p:nvSpPr>
        <p:spPr>
          <a:xfrm>
            <a:off x="6217920" y="1645920"/>
            <a:ext cx="5394960" cy="4297680"/>
          </a:xfrm>
          <a:prstGeom prst="roundRect">
            <a:avLst>
              <a:gd name="adj" fmla="val 1702"/>
            </a:avLst>
          </a:prstGeom>
          <a:solidFill>
            <a:srgbClr val="FFFFFF"/>
          </a:solidFill>
          <a:ln/>
          <a:effectLst>
            <a:outerShdw sx="100000" sy="100000" kx="0" ky="0" algn="bl" rotWithShape="0" blurRad="88900" dist="38100" dir="8100000">
              <a:srgbClr val="000000">
                <a:alpha val="16000"/>
              </a:srgbClr>
            </a:outerShdw>
          </a:effectLst>
        </p:spPr>
      </p:sp>
      <p:sp>
        <p:nvSpPr>
          <p:cNvPr id="8" name="Text 6"/>
          <p:cNvSpPr/>
          <p:nvPr/>
        </p:nvSpPr>
        <p:spPr>
          <a:xfrm>
            <a:off x="6446520" y="1874520"/>
            <a:ext cx="4937760" cy="3931920"/>
          </a:xfrm>
          <a:prstGeom prst="rect">
            <a:avLst/>
          </a:prstGeom>
          <a:noFill/>
          <a:ln/>
        </p:spPr>
        <p:txBody>
          <a:bodyPr wrap="square" lIns="0" tIns="0" rIns="0" bIns="0" rtlCol="0" anchor="t"/>
          <a:lstStyle/>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7.  Lombok para reducir boilerplate.</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8.  Slf4j + Logback con niveles correctos.</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9.  Tests con @WebMvcTest y @DataJpaTest.</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10.  Profiles separados: dev, test, prod.</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11.  Configuración externa: application-{profile}.yml.</a:t>
            </a:r>
            <a:endParaRPr lang="en-US" sz="1400" dirty="0"/>
          </a:p>
          <a:p>
            <a:pPr indent="0" marL="0">
              <a:spcAft>
                <a:spcPts val="1200"/>
              </a:spcAft>
              <a:buNone/>
            </a:pPr>
            <a:r>
              <a:rPr lang="en-US" sz="1400" dirty="0">
                <a:solidFill>
                  <a:srgbClr val="1F2933"/>
                </a:solidFill>
                <a:latin typeface="Calibri" pitchFamily="34" charset="0"/>
                <a:ea typeface="Calibri" pitchFamily="34" charset="-122"/>
                <a:cs typeface="Calibri" pitchFamily="34" charset="-120"/>
              </a:rPr>
              <a:t>12.  Health checks con Spring Boot Actuator.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D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A227"/>
          </a:solidFill>
          <a:ln/>
        </p:spPr>
      </p:sp>
      <p:sp>
        <p:nvSpPr>
          <p:cNvPr id="3" name="Text 1"/>
          <p:cNvSpPr/>
          <p:nvPr/>
        </p:nvSpPr>
        <p:spPr>
          <a:xfrm>
            <a:off x="822960" y="1371600"/>
            <a:ext cx="10058400" cy="457200"/>
          </a:xfrm>
          <a:prstGeom prst="rect">
            <a:avLst/>
          </a:prstGeom>
          <a:noFill/>
          <a:ln/>
        </p:spPr>
        <p:txBody>
          <a:bodyPr wrap="square" lIns="0" tIns="0" rIns="0" bIns="0" rtlCol="0" anchor="ctr"/>
          <a:lstStyle/>
          <a:p>
            <a:pPr indent="0" marL="0">
              <a:buNone/>
            </a:pPr>
            <a:r>
              <a:rPr lang="en-US" sz="1800" b="1" spc="300" kern="0" dirty="0">
                <a:solidFill>
                  <a:srgbClr val="C9A227"/>
                </a:solidFill>
                <a:latin typeface="Calibri" pitchFamily="34" charset="0"/>
                <a:ea typeface="Calibri" pitchFamily="34" charset="-122"/>
                <a:cs typeface="Calibri" pitchFamily="34" charset="-120"/>
              </a:rPr>
              <a:t>SEMANA 7</a:t>
            </a:r>
            <a:endParaRPr lang="en-US" sz="1800" dirty="0"/>
          </a:p>
        </p:txBody>
      </p:sp>
      <p:sp>
        <p:nvSpPr>
          <p:cNvPr id="4" name="Text 2"/>
          <p:cNvSpPr/>
          <p:nvPr/>
        </p:nvSpPr>
        <p:spPr>
          <a:xfrm>
            <a:off x="822960" y="1920240"/>
            <a:ext cx="10607040" cy="20116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ASP.NET Core:</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la plataforma .NET para la web moderna</a:t>
            </a:r>
            <a:endParaRPr lang="en-US" sz="4000" dirty="0"/>
          </a:p>
        </p:txBody>
      </p:sp>
      <p:sp>
        <p:nvSpPr>
          <p:cNvPr id="5" name="Text 3"/>
          <p:cNvSpPr/>
          <p:nvPr/>
        </p:nvSpPr>
        <p:spPr>
          <a:xfrm>
            <a:off x="822960" y="4114800"/>
            <a:ext cx="10424160" cy="1463040"/>
          </a:xfrm>
          <a:prstGeom prst="rect">
            <a:avLst/>
          </a:prstGeom>
          <a:noFill/>
          <a:ln/>
        </p:spPr>
        <p:txBody>
          <a:bodyPr wrap="square" lIns="0" tIns="0" rIns="0" bIns="0" rtlCol="0" anchor="t"/>
          <a:lstStyle/>
          <a:p>
            <a:pPr indent="0" marL="0">
              <a:buNone/>
            </a:pPr>
            <a:r>
              <a:rPr lang="en-US" sz="1600" dirty="0">
                <a:solidFill>
                  <a:srgbClr val="C8D6CE"/>
                </a:solidFill>
                <a:latin typeface="Calibri" pitchFamily="34" charset="0"/>
                <a:ea typeface="Calibri" pitchFamily="34" charset="-122"/>
                <a:cs typeface="Calibri" pitchFamily="34" charset="-120"/>
              </a:rPr>
              <a:t>«La plataforma .NET pasó de propietaria y Windows-only a open-source y multiplataforma. Es el mayor giro estratégico de Microsoft en 20 años.»  — Adaptado de Scott Hanselman</a:t>
            </a:r>
            <a:endParaRPr lang="en-US" sz="1600" dirty="0"/>
          </a:p>
        </p:txBody>
      </p:sp>
      <p:sp>
        <p:nvSpPr>
          <p:cNvPr id="6" name="Text 4"/>
          <p:cNvSpPr/>
          <p:nvPr/>
        </p:nvSpPr>
        <p:spPr>
          <a:xfrm>
            <a:off x="9326880" y="502920"/>
            <a:ext cx="2194560" cy="1463040"/>
          </a:xfrm>
          <a:prstGeom prst="rect">
            <a:avLst/>
          </a:prstGeom>
          <a:noFill/>
          <a:ln/>
        </p:spPr>
        <p:txBody>
          <a:bodyPr wrap="square" lIns="0" tIns="0" rIns="0" bIns="0" rtlCol="0" anchor="ctr"/>
          <a:lstStyle/>
          <a:p>
            <a:pPr algn="r" indent="0" marL="0">
              <a:buNone/>
            </a:pPr>
            <a:r>
              <a:rPr lang="en-US" sz="9600" b="1" dirty="0">
                <a:solidFill>
                  <a:srgbClr val="006633"/>
                </a:solidFill>
                <a:latin typeface="Georgia" pitchFamily="34" charset="0"/>
                <a:ea typeface="Georgia" pitchFamily="34" charset="-122"/>
                <a:cs typeface="Georgia" pitchFamily="34" charset="-120"/>
              </a:rPr>
              <a:t>07</a:t>
            </a:r>
            <a:endParaRPr lang="en-US" sz="9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7 · HISTORIA</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De ASP clásico a ASP.NET Core multiplataforma</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645920"/>
            <a:ext cx="1371600" cy="658368"/>
          </a:xfrm>
          <a:prstGeom prst="roundRect">
            <a:avLst>
              <a:gd name="adj" fmla="val 6944"/>
            </a:avLst>
          </a:prstGeom>
          <a:solidFill>
            <a:srgbClr val="1C7293"/>
          </a:solidFill>
          <a:ln/>
        </p:spPr>
      </p:sp>
      <p:sp>
        <p:nvSpPr>
          <p:cNvPr id="6" name="Text 4"/>
          <p:cNvSpPr/>
          <p:nvPr/>
        </p:nvSpPr>
        <p:spPr>
          <a:xfrm>
            <a:off x="548640" y="1645920"/>
            <a:ext cx="13716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1996</a:t>
            </a:r>
            <a:endParaRPr lang="en-US" sz="1500" dirty="0"/>
          </a:p>
        </p:txBody>
      </p:sp>
      <p:sp>
        <p:nvSpPr>
          <p:cNvPr id="7" name="Text 5"/>
          <p:cNvSpPr/>
          <p:nvPr/>
        </p:nvSpPr>
        <p:spPr>
          <a:xfrm>
            <a:off x="2103120" y="1682496"/>
            <a:ext cx="365760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ASP clásico</a:t>
            </a:r>
            <a:endParaRPr lang="en-US" sz="1500" dirty="0"/>
          </a:p>
        </p:txBody>
      </p:sp>
      <p:sp>
        <p:nvSpPr>
          <p:cNvPr id="8" name="Text 6"/>
          <p:cNvSpPr/>
          <p:nvPr/>
        </p:nvSpPr>
        <p:spPr>
          <a:xfrm>
            <a:off x="5852160" y="1645920"/>
            <a:ext cx="5760720" cy="65836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Active Server Pages. Propietario, Windows-only, VBScript.</a:t>
            </a:r>
            <a:endParaRPr lang="en-US" sz="1250" dirty="0"/>
          </a:p>
        </p:txBody>
      </p:sp>
      <p:sp>
        <p:nvSpPr>
          <p:cNvPr id="9" name="Shape 7"/>
          <p:cNvSpPr/>
          <p:nvPr/>
        </p:nvSpPr>
        <p:spPr>
          <a:xfrm>
            <a:off x="548640" y="2395728"/>
            <a:ext cx="1371600" cy="658368"/>
          </a:xfrm>
          <a:prstGeom prst="roundRect">
            <a:avLst>
              <a:gd name="adj" fmla="val 6944"/>
            </a:avLst>
          </a:prstGeom>
          <a:solidFill>
            <a:srgbClr val="1C7293"/>
          </a:solidFill>
          <a:ln/>
        </p:spPr>
      </p:sp>
      <p:sp>
        <p:nvSpPr>
          <p:cNvPr id="10" name="Text 8"/>
          <p:cNvSpPr/>
          <p:nvPr/>
        </p:nvSpPr>
        <p:spPr>
          <a:xfrm>
            <a:off x="548640" y="2395728"/>
            <a:ext cx="13716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2002</a:t>
            </a:r>
            <a:endParaRPr lang="en-US" sz="1500" dirty="0"/>
          </a:p>
        </p:txBody>
      </p:sp>
      <p:sp>
        <p:nvSpPr>
          <p:cNvPr id="11" name="Text 9"/>
          <p:cNvSpPr/>
          <p:nvPr/>
        </p:nvSpPr>
        <p:spPr>
          <a:xfrm>
            <a:off x="2103120" y="2432304"/>
            <a:ext cx="365760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ASP.NET WebForms</a:t>
            </a:r>
            <a:endParaRPr lang="en-US" sz="1500" dirty="0"/>
          </a:p>
        </p:txBody>
      </p:sp>
      <p:sp>
        <p:nvSpPr>
          <p:cNvPr id="12" name="Text 10"/>
          <p:cNvSpPr/>
          <p:nvPr/>
        </p:nvSpPr>
        <p:spPr>
          <a:xfrm>
            <a:off x="5852160" y="2395728"/>
            <a:ext cx="5760720" cy="65836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.NET Framework, modelo de eventos tipo Windows Forms.</a:t>
            </a:r>
            <a:endParaRPr lang="en-US" sz="1250" dirty="0"/>
          </a:p>
        </p:txBody>
      </p:sp>
      <p:sp>
        <p:nvSpPr>
          <p:cNvPr id="13" name="Shape 11"/>
          <p:cNvSpPr/>
          <p:nvPr/>
        </p:nvSpPr>
        <p:spPr>
          <a:xfrm>
            <a:off x="548640" y="3145536"/>
            <a:ext cx="1371600" cy="658368"/>
          </a:xfrm>
          <a:prstGeom prst="roundRect">
            <a:avLst>
              <a:gd name="adj" fmla="val 6944"/>
            </a:avLst>
          </a:prstGeom>
          <a:solidFill>
            <a:srgbClr val="1C7293"/>
          </a:solidFill>
          <a:ln/>
        </p:spPr>
      </p:sp>
      <p:sp>
        <p:nvSpPr>
          <p:cNvPr id="14" name="Text 12"/>
          <p:cNvSpPr/>
          <p:nvPr/>
        </p:nvSpPr>
        <p:spPr>
          <a:xfrm>
            <a:off x="548640" y="3145536"/>
            <a:ext cx="13716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2009</a:t>
            </a:r>
            <a:endParaRPr lang="en-US" sz="1500" dirty="0"/>
          </a:p>
        </p:txBody>
      </p:sp>
      <p:sp>
        <p:nvSpPr>
          <p:cNvPr id="15" name="Text 13"/>
          <p:cNvSpPr/>
          <p:nvPr/>
        </p:nvSpPr>
        <p:spPr>
          <a:xfrm>
            <a:off x="2103120" y="3182112"/>
            <a:ext cx="365760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ASP.NET MVC</a:t>
            </a:r>
            <a:endParaRPr lang="en-US" sz="1500" dirty="0"/>
          </a:p>
        </p:txBody>
      </p:sp>
      <p:sp>
        <p:nvSpPr>
          <p:cNvPr id="16" name="Text 14"/>
          <p:cNvSpPr/>
          <p:nvPr/>
        </p:nvSpPr>
        <p:spPr>
          <a:xfrm>
            <a:off x="5852160" y="3145536"/>
            <a:ext cx="5760720" cy="65836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Inspirado en Ruby on Rails: separación de capas.</a:t>
            </a:r>
            <a:endParaRPr lang="en-US" sz="1250" dirty="0"/>
          </a:p>
        </p:txBody>
      </p:sp>
      <p:sp>
        <p:nvSpPr>
          <p:cNvPr id="17" name="Shape 15"/>
          <p:cNvSpPr/>
          <p:nvPr/>
        </p:nvSpPr>
        <p:spPr>
          <a:xfrm>
            <a:off x="548640" y="3895344"/>
            <a:ext cx="1371600" cy="658368"/>
          </a:xfrm>
          <a:prstGeom prst="roundRect">
            <a:avLst>
              <a:gd name="adj" fmla="val 6944"/>
            </a:avLst>
          </a:prstGeom>
          <a:solidFill>
            <a:srgbClr val="006633"/>
          </a:solidFill>
          <a:ln/>
        </p:spPr>
      </p:sp>
      <p:sp>
        <p:nvSpPr>
          <p:cNvPr id="18" name="Text 16"/>
          <p:cNvSpPr/>
          <p:nvPr/>
        </p:nvSpPr>
        <p:spPr>
          <a:xfrm>
            <a:off x="548640" y="3895344"/>
            <a:ext cx="13716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2016</a:t>
            </a:r>
            <a:endParaRPr lang="en-US" sz="1500" dirty="0"/>
          </a:p>
        </p:txBody>
      </p:sp>
      <p:sp>
        <p:nvSpPr>
          <p:cNvPr id="19" name="Text 17"/>
          <p:cNvSpPr/>
          <p:nvPr/>
        </p:nvSpPr>
        <p:spPr>
          <a:xfrm>
            <a:off x="2103120" y="3931920"/>
            <a:ext cx="365760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ASP.NET Core 1.0</a:t>
            </a:r>
            <a:endParaRPr lang="en-US" sz="1500" dirty="0"/>
          </a:p>
        </p:txBody>
      </p:sp>
      <p:sp>
        <p:nvSpPr>
          <p:cNvPr id="20" name="Text 18"/>
          <p:cNvSpPr/>
          <p:nvPr/>
        </p:nvSpPr>
        <p:spPr>
          <a:xfrm>
            <a:off x="5852160" y="3895344"/>
            <a:ext cx="5760720" cy="65836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Open source, multiplataforma (Linux/Mac/Win), modular.</a:t>
            </a:r>
            <a:endParaRPr lang="en-US" sz="1250" dirty="0"/>
          </a:p>
        </p:txBody>
      </p:sp>
      <p:sp>
        <p:nvSpPr>
          <p:cNvPr id="21" name="Shape 19"/>
          <p:cNvSpPr/>
          <p:nvPr/>
        </p:nvSpPr>
        <p:spPr>
          <a:xfrm>
            <a:off x="548640" y="4645152"/>
            <a:ext cx="1371600" cy="658368"/>
          </a:xfrm>
          <a:prstGeom prst="roundRect">
            <a:avLst>
              <a:gd name="adj" fmla="val 6944"/>
            </a:avLst>
          </a:prstGeom>
          <a:solidFill>
            <a:srgbClr val="1C7293"/>
          </a:solidFill>
          <a:ln/>
        </p:spPr>
      </p:sp>
      <p:sp>
        <p:nvSpPr>
          <p:cNvPr id="22" name="Text 20"/>
          <p:cNvSpPr/>
          <p:nvPr/>
        </p:nvSpPr>
        <p:spPr>
          <a:xfrm>
            <a:off x="548640" y="4645152"/>
            <a:ext cx="13716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2023</a:t>
            </a:r>
            <a:endParaRPr lang="en-US" sz="1500" dirty="0"/>
          </a:p>
        </p:txBody>
      </p:sp>
      <p:sp>
        <p:nvSpPr>
          <p:cNvPr id="23" name="Text 21"/>
          <p:cNvSpPr/>
          <p:nvPr/>
        </p:nvSpPr>
        <p:spPr>
          <a:xfrm>
            <a:off x="2103120" y="4681728"/>
            <a:ext cx="365760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ASP.NET Core 8</a:t>
            </a:r>
            <a:endParaRPr lang="en-US" sz="1500" dirty="0"/>
          </a:p>
        </p:txBody>
      </p:sp>
      <p:sp>
        <p:nvSpPr>
          <p:cNvPr id="24" name="Text 22"/>
          <p:cNvSpPr/>
          <p:nvPr/>
        </p:nvSpPr>
        <p:spPr>
          <a:xfrm>
            <a:off x="5852160" y="4645152"/>
            <a:ext cx="5760720" cy="65836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Versión estable actual; rendimiento comparable a Java/Go.</a:t>
            </a:r>
            <a:endParaRPr lang="en-US" sz="1250" dirty="0"/>
          </a:p>
        </p:txBody>
      </p:sp>
      <p:sp>
        <p:nvSpPr>
          <p:cNvPr id="25" name="Shape 23"/>
          <p:cNvSpPr/>
          <p:nvPr/>
        </p:nvSpPr>
        <p:spPr>
          <a:xfrm>
            <a:off x="548640" y="5394960"/>
            <a:ext cx="1371600" cy="658368"/>
          </a:xfrm>
          <a:prstGeom prst="roundRect">
            <a:avLst>
              <a:gd name="adj" fmla="val 6944"/>
            </a:avLst>
          </a:prstGeom>
          <a:solidFill>
            <a:srgbClr val="1C7293"/>
          </a:solidFill>
          <a:ln/>
        </p:spPr>
      </p:sp>
      <p:sp>
        <p:nvSpPr>
          <p:cNvPr id="26" name="Text 24"/>
          <p:cNvSpPr/>
          <p:nvPr/>
        </p:nvSpPr>
        <p:spPr>
          <a:xfrm>
            <a:off x="548640" y="5394960"/>
            <a:ext cx="137160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2024-26</a:t>
            </a:r>
            <a:endParaRPr lang="en-US" sz="1500" dirty="0"/>
          </a:p>
        </p:txBody>
      </p:sp>
      <p:sp>
        <p:nvSpPr>
          <p:cNvPr id="27" name="Text 25"/>
          <p:cNvSpPr/>
          <p:nvPr/>
        </p:nvSpPr>
        <p:spPr>
          <a:xfrm>
            <a:off x="2103120" y="5431536"/>
            <a:ext cx="365760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Core 9 y 10</a:t>
            </a:r>
            <a:endParaRPr lang="en-US" sz="1500" dirty="0"/>
          </a:p>
        </p:txBody>
      </p:sp>
      <p:sp>
        <p:nvSpPr>
          <p:cNvPr id="28" name="Text 26"/>
          <p:cNvSpPr/>
          <p:nvPr/>
        </p:nvSpPr>
        <p:spPr>
          <a:xfrm>
            <a:off x="5852160" y="5394960"/>
            <a:ext cx="5760720" cy="658368"/>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9 ya disponible; 10 en preview. Hoja de ruta abierta.</a:t>
            </a:r>
            <a:endParaRPr lang="en-US" sz="1250" dirty="0"/>
          </a:p>
        </p:txBody>
      </p:sp>
      <p:sp>
        <p:nvSpPr>
          <p:cNvPr id="29" name="Text 27"/>
          <p:cNvSpPr/>
          <p:nvPr/>
        </p:nvSpPr>
        <p:spPr>
          <a:xfrm>
            <a:off x="548640" y="6263640"/>
            <a:ext cx="10972800" cy="365760"/>
          </a:xfrm>
          <a:prstGeom prst="rect">
            <a:avLst/>
          </a:prstGeom>
          <a:noFill/>
          <a:ln/>
        </p:spPr>
        <p:txBody>
          <a:bodyPr wrap="square" lIns="0" tIns="0" rIns="0" bIns="0" rtlCol="0" anchor="ctr"/>
          <a:lstStyle/>
          <a:p>
            <a:pPr indent="0" marL="0">
              <a:buNone/>
            </a:pPr>
            <a:r>
              <a:rPr lang="en-US" sz="1250" i="1" dirty="0">
                <a:solidFill>
                  <a:srgbClr val="006633"/>
                </a:solidFill>
                <a:latin typeface="Calibri" pitchFamily="34" charset="0"/>
                <a:ea typeface="Calibri" pitchFamily="34" charset="-122"/>
                <a:cs typeface="Calibri" pitchFamily="34" charset="-120"/>
              </a:rPr>
              <a:t>2016 es el punto de inflexión: el giro a open source y multiplataforma.</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7 · HERRAMIENTAS</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La CLI dotnet y la estructura del proyecto</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66928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6" name="Text 4"/>
          <p:cNvSpPr/>
          <p:nvPr/>
        </p:nvSpPr>
        <p:spPr>
          <a:xfrm>
            <a:off x="731520" y="1737360"/>
            <a:ext cx="5303520" cy="365760"/>
          </a:xfrm>
          <a:prstGeom prst="rect">
            <a:avLst/>
          </a:prstGeom>
          <a:noFill/>
          <a:ln/>
        </p:spPr>
        <p:txBody>
          <a:bodyPr wrap="square" lIns="0" tIns="0" rIns="0" bIns="0" rtlCol="0" anchor="ctr"/>
          <a:lstStyle/>
          <a:p>
            <a:pPr indent="0" marL="0">
              <a:buNone/>
            </a:pPr>
            <a:r>
              <a:rPr lang="en-US" sz="1400" b="1" dirty="0">
                <a:solidFill>
                  <a:srgbClr val="1F2933"/>
                </a:solidFill>
                <a:latin typeface="Georgia" pitchFamily="34" charset="0"/>
                <a:ea typeface="Georgia" pitchFamily="34" charset="-122"/>
                <a:cs typeface="Georgia" pitchFamily="34" charset="-120"/>
              </a:rPr>
              <a:t>Comandos esenciales de la CLI dotnet</a:t>
            </a:r>
            <a:endParaRPr lang="en-US" sz="1400" dirty="0"/>
          </a:p>
        </p:txBody>
      </p:sp>
      <p:sp>
        <p:nvSpPr>
          <p:cNvPr id="7" name="Shape 5"/>
          <p:cNvSpPr/>
          <p:nvPr/>
        </p:nvSpPr>
        <p:spPr>
          <a:xfrm>
            <a:off x="713232" y="2194560"/>
            <a:ext cx="5349240" cy="370332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8" name="Text 6"/>
          <p:cNvSpPr/>
          <p:nvPr/>
        </p:nvSpPr>
        <p:spPr>
          <a:xfrm>
            <a:off x="877824" y="2304288"/>
            <a:ext cx="5020056" cy="3483864"/>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--version        # version instalada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new webapi -n MiApi   # crear Web API</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new mvc    -n MiMvc   # crear app MVC</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restore          # baja dependencias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build            # compila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run              # ejecuta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watch run        # con hot reload</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test             # corre los tests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publish -c Release  # para produccion</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ef migrations add Inicial  # BD</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dotnet ef database update         # aplica</a:t>
            </a:r>
            <a:endParaRPr lang="en-US" sz="1150" dirty="0"/>
          </a:p>
        </p:txBody>
      </p:sp>
      <p:sp>
        <p:nvSpPr>
          <p:cNvPr id="9" name="Shape 7"/>
          <p:cNvSpPr/>
          <p:nvPr/>
        </p:nvSpPr>
        <p:spPr>
          <a:xfrm>
            <a:off x="6446520" y="1554480"/>
            <a:ext cx="516636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10" name="Text 8"/>
          <p:cNvSpPr/>
          <p:nvPr/>
        </p:nvSpPr>
        <p:spPr>
          <a:xfrm>
            <a:off x="6675120" y="1737360"/>
            <a:ext cx="4754880" cy="365760"/>
          </a:xfrm>
          <a:prstGeom prst="rect">
            <a:avLst/>
          </a:prstGeom>
          <a:noFill/>
          <a:ln/>
        </p:spPr>
        <p:txBody>
          <a:bodyPr wrap="square" lIns="0" tIns="0" rIns="0" bIns="0" rtlCol="0" anchor="ctr"/>
          <a:lstStyle/>
          <a:p>
            <a:pPr indent="0" marL="0">
              <a:buNone/>
            </a:pPr>
            <a:r>
              <a:rPr lang="en-US" sz="1400" b="1" dirty="0">
                <a:solidFill>
                  <a:srgbClr val="006633"/>
                </a:solidFill>
                <a:latin typeface="Georgia" pitchFamily="34" charset="0"/>
                <a:ea typeface="Georgia" pitchFamily="34" charset="-122"/>
                <a:cs typeface="Georgia" pitchFamily="34" charset="-120"/>
              </a:rPr>
              <a:t>Estructura típica del proyecto</a:t>
            </a:r>
            <a:endParaRPr lang="en-US" sz="1400" dirty="0"/>
          </a:p>
        </p:txBody>
      </p:sp>
      <p:sp>
        <p:nvSpPr>
          <p:cNvPr id="11" name="Shape 9"/>
          <p:cNvSpPr/>
          <p:nvPr/>
        </p:nvSpPr>
        <p:spPr>
          <a:xfrm>
            <a:off x="6629400" y="2194560"/>
            <a:ext cx="4754880" cy="278892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6793992" y="2304288"/>
            <a:ext cx="4425696" cy="2569464"/>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MiApp/</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Controllers/   # API o MVC</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Models/        # entidades y DTOs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Views/         # Razor (solo MVC)</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wwwroot/       # recursos estaticos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Program.cs     # punto de entrada</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appsettings.json  # configuracion</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MiApp.csproj   # def. del proyecto</a:t>
            </a:r>
            <a:endParaRPr lang="en-US" sz="1150" dirty="0"/>
          </a:p>
        </p:txBody>
      </p:sp>
      <p:sp>
        <p:nvSpPr>
          <p:cNvPr id="13" name="Text 11"/>
          <p:cNvSpPr/>
          <p:nvPr/>
        </p:nvSpPr>
        <p:spPr>
          <a:xfrm>
            <a:off x="6629400" y="5120640"/>
            <a:ext cx="4754880" cy="73152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NuGet es el gestor de paquetes de .NET (equivale a npm o Maven).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7 · PRÁCTICA</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Web API CRUD con EF Core y Swagger</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94360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6" name="Text 4"/>
          <p:cNvSpPr/>
          <p:nvPr/>
        </p:nvSpPr>
        <p:spPr>
          <a:xfrm>
            <a:off x="731520" y="1737360"/>
            <a:ext cx="5486400" cy="365760"/>
          </a:xfrm>
          <a:prstGeom prst="rect">
            <a:avLst/>
          </a:prstGeom>
          <a:noFill/>
          <a:ln/>
        </p:spPr>
        <p:txBody>
          <a:bodyPr wrap="square" lIns="0" tIns="0" rIns="0" bIns="0" rtlCol="0" anchor="ctr"/>
          <a:lstStyle/>
          <a:p>
            <a:pPr indent="0" marL="0">
              <a:buNone/>
            </a:pPr>
            <a:r>
              <a:rPr lang="en-US" sz="1400" b="1" dirty="0">
                <a:solidFill>
                  <a:srgbClr val="1F2933"/>
                </a:solidFill>
                <a:latin typeface="Georgia" pitchFamily="34" charset="0"/>
                <a:ea typeface="Georgia" pitchFamily="34" charset="-122"/>
                <a:cs typeface="Georgia" pitchFamily="34" charset="-120"/>
              </a:rPr>
              <a:t>Controlador REST en C#</a:t>
            </a:r>
            <a:endParaRPr lang="en-US" sz="1400" dirty="0"/>
          </a:p>
        </p:txBody>
      </p:sp>
      <p:sp>
        <p:nvSpPr>
          <p:cNvPr id="7" name="Shape 5"/>
          <p:cNvSpPr/>
          <p:nvPr/>
        </p:nvSpPr>
        <p:spPr>
          <a:xfrm>
            <a:off x="713232" y="2194560"/>
            <a:ext cx="5623560" cy="3703320"/>
          </a:xfrm>
          <a:prstGeom prst="rect">
            <a:avLst/>
          </a:prstGeom>
          <a:solidFill>
            <a:srgbClr val="F8F8F2"/>
          </a:solidFill>
          <a:ln w="12700">
            <a:solidFill>
              <a:srgbClr val="E2E2DC"/>
            </a:solidFill>
            <a:prstDash val="solid"/>
          </a:ln>
          <a:effectLst>
            <a:outerShdw sx="100000" sy="100000" kx="0" ky="0" algn="bl" rotWithShape="0" blurRad="88900" dist="38100" dir="8100000">
              <a:srgbClr val="000000">
                <a:alpha val="16000"/>
              </a:srgbClr>
            </a:outerShdw>
          </a:effectLst>
        </p:spPr>
      </p:sp>
      <p:sp>
        <p:nvSpPr>
          <p:cNvPr id="8" name="Text 6"/>
          <p:cNvSpPr/>
          <p:nvPr/>
        </p:nvSpPr>
        <p:spPr>
          <a:xfrm>
            <a:off x="877824" y="2304288"/>
            <a:ext cx="5294376" cy="3483864"/>
          </a:xfrm>
          <a:prstGeom prst="rect">
            <a:avLst/>
          </a:prstGeom>
          <a:noFill/>
          <a:ln/>
        </p:spPr>
        <p:txBody>
          <a:bodyPr wrap="square" lIns="0" tIns="0" rIns="0" bIns="0" rtlCol="0" anchor="t"/>
          <a:lstStyle/>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[ApiController]</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[Route("api/[controller]")]</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public class ProductosController</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 ControllerBase {</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private readonly AppDbContext _ctx;</a:t>
            </a:r>
            <a:endParaRPr lang="en-US" sz="1150" dirty="0"/>
          </a:p>
          <a:p>
            <a:pPr indent="0" marL="0">
              <a:lnSpc>
                <a:spcPct val="108000"/>
              </a:lnSpc>
              <a:buNone/>
            </a:pP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[HttpGet]   // GET /api/productos</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public async Task&lt;...&gt; Listar()</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=&gt; await _ctx.Productos.ToListAsync();</a:t>
            </a:r>
            <a:endParaRPr lang="en-US" sz="1150" dirty="0"/>
          </a:p>
          <a:p>
            <a:pPr indent="0" marL="0">
              <a:lnSpc>
                <a:spcPct val="108000"/>
              </a:lnSpc>
              <a:buNone/>
            </a:pP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[HttpPost]  // POST -&gt; crea, 201 Created</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public async Task&lt;...&gt; Crear(Producto p){</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_ctx.Productos.Add(p);</a:t>
            </a:r>
            <a:endParaRPr lang="en-US" sz="1150" dirty="0"/>
          </a:p>
          <a:p>
            <a:pPr indent="0" marL="0">
              <a:lnSpc>
                <a:spcPct val="108000"/>
              </a:lnSpc>
              <a:buNone/>
            </a:pPr>
            <a:r>
              <a:rPr lang="en-US" sz="1150" dirty="0">
                <a:solidFill>
                  <a:srgbClr val="383A42"/>
                </a:solidFill>
                <a:latin typeface="Consolas" pitchFamily="34" charset="0"/>
                <a:ea typeface="Consolas" pitchFamily="34" charset="-122"/>
                <a:cs typeface="Consolas" pitchFamily="34" charset="-120"/>
              </a:rPr>
              <a:t>    await _ctx.SaveChangesAsync(); ... } }</a:t>
            </a:r>
            <a:endParaRPr lang="en-US" sz="1150" dirty="0"/>
          </a:p>
        </p:txBody>
      </p:sp>
      <p:sp>
        <p:nvSpPr>
          <p:cNvPr id="9" name="Shape 7"/>
          <p:cNvSpPr/>
          <p:nvPr/>
        </p:nvSpPr>
        <p:spPr>
          <a:xfrm>
            <a:off x="6720840" y="1554480"/>
            <a:ext cx="489204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10" name="Text 8"/>
          <p:cNvSpPr/>
          <p:nvPr/>
        </p:nvSpPr>
        <p:spPr>
          <a:xfrm>
            <a:off x="6949440" y="1737360"/>
            <a:ext cx="4480560" cy="365760"/>
          </a:xfrm>
          <a:prstGeom prst="rect">
            <a:avLst/>
          </a:prstGeom>
          <a:noFill/>
          <a:ln/>
        </p:spPr>
        <p:txBody>
          <a:bodyPr wrap="square" lIns="0" tIns="0" rIns="0" bIns="0" rtlCol="0" anchor="ctr"/>
          <a:lstStyle/>
          <a:p>
            <a:pPr indent="0" marL="0">
              <a:buNone/>
            </a:pPr>
            <a:r>
              <a:rPr lang="en-US" sz="1500" b="1" dirty="0">
                <a:solidFill>
                  <a:srgbClr val="006633"/>
                </a:solidFill>
                <a:latin typeface="Georgia" pitchFamily="34" charset="0"/>
                <a:ea typeface="Georgia" pitchFamily="34" charset="-122"/>
                <a:cs typeface="Georgia" pitchFamily="34" charset="-120"/>
              </a:rPr>
              <a:t>Tres estilos en ASP.NET Core</a:t>
            </a:r>
            <a:endParaRPr lang="en-US" sz="1500" dirty="0"/>
          </a:p>
        </p:txBody>
      </p:sp>
      <p:sp>
        <p:nvSpPr>
          <p:cNvPr id="11" name="Shape 9"/>
          <p:cNvSpPr/>
          <p:nvPr/>
        </p:nvSpPr>
        <p:spPr>
          <a:xfrm>
            <a:off x="6949440" y="2286000"/>
            <a:ext cx="4434840" cy="868680"/>
          </a:xfrm>
          <a:prstGeom prst="roundRect">
            <a:avLst>
              <a:gd name="adj" fmla="val 5263"/>
            </a:avLst>
          </a:prstGeom>
          <a:solidFill>
            <a:srgbClr val="FFFFFF"/>
          </a:solidFill>
          <a:ln w="25400">
            <a:solidFill>
              <a:srgbClr val="006633"/>
            </a:solidFill>
            <a:prstDash val="solid"/>
          </a:ln>
        </p:spPr>
      </p:sp>
      <p:sp>
        <p:nvSpPr>
          <p:cNvPr id="12" name="Text 10"/>
          <p:cNvSpPr/>
          <p:nvPr/>
        </p:nvSpPr>
        <p:spPr>
          <a:xfrm>
            <a:off x="7132320" y="2377440"/>
            <a:ext cx="4114800" cy="365760"/>
          </a:xfrm>
          <a:prstGeom prst="rect">
            <a:avLst/>
          </a:prstGeom>
          <a:noFill/>
          <a:ln/>
        </p:spPr>
        <p:txBody>
          <a:bodyPr wrap="square" lIns="0" tIns="0" rIns="0" bIns="0" rtlCol="0" anchor="ctr"/>
          <a:lstStyle/>
          <a:p>
            <a:pPr indent="0" marL="0">
              <a:buNone/>
            </a:pPr>
            <a:r>
              <a:rPr lang="en-US" sz="1400" b="1" dirty="0">
                <a:solidFill>
                  <a:srgbClr val="006633"/>
                </a:solidFill>
                <a:latin typeface="Georgia" pitchFamily="34" charset="0"/>
                <a:ea typeface="Georgia" pitchFamily="34" charset="-122"/>
                <a:cs typeface="Georgia" pitchFamily="34" charset="-120"/>
              </a:rPr>
              <a:t>Web API</a:t>
            </a:r>
            <a:endParaRPr lang="en-US" sz="1400" dirty="0"/>
          </a:p>
        </p:txBody>
      </p:sp>
      <p:sp>
        <p:nvSpPr>
          <p:cNvPr id="13" name="Text 11"/>
          <p:cNvSpPr/>
          <p:nvPr/>
        </p:nvSpPr>
        <p:spPr>
          <a:xfrm>
            <a:off x="7132320" y="2724912"/>
            <a:ext cx="4114800" cy="384048"/>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Solo JSON, sin vistas. Ideal para SPA + REST.</a:t>
            </a:r>
            <a:endParaRPr lang="en-US" sz="1150" dirty="0"/>
          </a:p>
        </p:txBody>
      </p:sp>
      <p:sp>
        <p:nvSpPr>
          <p:cNvPr id="14" name="Shape 12"/>
          <p:cNvSpPr/>
          <p:nvPr/>
        </p:nvSpPr>
        <p:spPr>
          <a:xfrm>
            <a:off x="6949440" y="3246120"/>
            <a:ext cx="4434840" cy="868680"/>
          </a:xfrm>
          <a:prstGeom prst="roundRect">
            <a:avLst>
              <a:gd name="adj" fmla="val 5263"/>
            </a:avLst>
          </a:prstGeom>
          <a:solidFill>
            <a:srgbClr val="FFFFFF"/>
          </a:solidFill>
          <a:ln w="25400">
            <a:solidFill>
              <a:srgbClr val="1C7293"/>
            </a:solidFill>
            <a:prstDash val="solid"/>
          </a:ln>
        </p:spPr>
      </p:sp>
      <p:sp>
        <p:nvSpPr>
          <p:cNvPr id="15" name="Text 13"/>
          <p:cNvSpPr/>
          <p:nvPr/>
        </p:nvSpPr>
        <p:spPr>
          <a:xfrm>
            <a:off x="7132320" y="3337560"/>
            <a:ext cx="4114800" cy="365760"/>
          </a:xfrm>
          <a:prstGeom prst="rect">
            <a:avLst/>
          </a:prstGeom>
          <a:noFill/>
          <a:ln/>
        </p:spPr>
        <p:txBody>
          <a:bodyPr wrap="square" lIns="0" tIns="0" rIns="0" bIns="0" rtlCol="0" anchor="ctr"/>
          <a:lstStyle/>
          <a:p>
            <a:pPr indent="0" marL="0">
              <a:buNone/>
            </a:pPr>
            <a:r>
              <a:rPr lang="en-US" sz="1400" b="1" dirty="0">
                <a:solidFill>
                  <a:srgbClr val="1C7293"/>
                </a:solidFill>
                <a:latin typeface="Georgia" pitchFamily="34" charset="0"/>
                <a:ea typeface="Georgia" pitchFamily="34" charset="-122"/>
                <a:cs typeface="Georgia" pitchFamily="34" charset="-120"/>
              </a:rPr>
              <a:t>MVC</a:t>
            </a:r>
            <a:endParaRPr lang="en-US" sz="1400" dirty="0"/>
          </a:p>
        </p:txBody>
      </p:sp>
      <p:sp>
        <p:nvSpPr>
          <p:cNvPr id="16" name="Text 14"/>
          <p:cNvSpPr/>
          <p:nvPr/>
        </p:nvSpPr>
        <p:spPr>
          <a:xfrm>
            <a:off x="7132320" y="3685032"/>
            <a:ext cx="4114800" cy="384048"/>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Controllers + vistas Razor + models.</a:t>
            </a:r>
            <a:endParaRPr lang="en-US" sz="1150" dirty="0"/>
          </a:p>
        </p:txBody>
      </p:sp>
      <p:sp>
        <p:nvSpPr>
          <p:cNvPr id="17" name="Shape 15"/>
          <p:cNvSpPr/>
          <p:nvPr/>
        </p:nvSpPr>
        <p:spPr>
          <a:xfrm>
            <a:off x="6949440" y="4206240"/>
            <a:ext cx="4434840" cy="868680"/>
          </a:xfrm>
          <a:prstGeom prst="roundRect">
            <a:avLst>
              <a:gd name="adj" fmla="val 5263"/>
            </a:avLst>
          </a:prstGeom>
          <a:solidFill>
            <a:srgbClr val="FFFFFF"/>
          </a:solidFill>
          <a:ln w="25400">
            <a:solidFill>
              <a:srgbClr val="8A6D1F"/>
            </a:solidFill>
            <a:prstDash val="solid"/>
          </a:ln>
        </p:spPr>
      </p:sp>
      <p:sp>
        <p:nvSpPr>
          <p:cNvPr id="18" name="Text 16"/>
          <p:cNvSpPr/>
          <p:nvPr/>
        </p:nvSpPr>
        <p:spPr>
          <a:xfrm>
            <a:off x="7132320" y="4297680"/>
            <a:ext cx="4114800" cy="365760"/>
          </a:xfrm>
          <a:prstGeom prst="rect">
            <a:avLst/>
          </a:prstGeom>
          <a:noFill/>
          <a:ln/>
        </p:spPr>
        <p:txBody>
          <a:bodyPr wrap="square" lIns="0" tIns="0" rIns="0" bIns="0" rtlCol="0" anchor="ctr"/>
          <a:lstStyle/>
          <a:p>
            <a:pPr indent="0" marL="0">
              <a:buNone/>
            </a:pPr>
            <a:r>
              <a:rPr lang="en-US" sz="1400" b="1" dirty="0">
                <a:solidFill>
                  <a:srgbClr val="8A6D1F"/>
                </a:solidFill>
                <a:latin typeface="Georgia" pitchFamily="34" charset="0"/>
                <a:ea typeface="Georgia" pitchFamily="34" charset="-122"/>
                <a:cs typeface="Georgia" pitchFamily="34" charset="-120"/>
              </a:rPr>
              <a:t>Razor Pages</a:t>
            </a:r>
            <a:endParaRPr lang="en-US" sz="1400" dirty="0"/>
          </a:p>
        </p:txBody>
      </p:sp>
      <p:sp>
        <p:nvSpPr>
          <p:cNvPr id="19" name="Text 17"/>
          <p:cNvSpPr/>
          <p:nvPr/>
        </p:nvSpPr>
        <p:spPr>
          <a:xfrm>
            <a:off x="7132320" y="4645152"/>
            <a:ext cx="4114800" cy="384048"/>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Cada página tiene su PageModel.</a:t>
            </a:r>
            <a:endParaRPr lang="en-US" sz="1150" dirty="0"/>
          </a:p>
        </p:txBody>
      </p:sp>
      <p:sp>
        <p:nvSpPr>
          <p:cNvPr id="20" name="Text 18"/>
          <p:cNvSpPr/>
          <p:nvPr/>
        </p:nvSpPr>
        <p:spPr>
          <a:xfrm>
            <a:off x="6949440" y="5257800"/>
            <a:ext cx="4480560" cy="640080"/>
          </a:xfrm>
          <a:prstGeom prst="rect">
            <a:avLst/>
          </a:prstGeom>
          <a:noFill/>
          <a:ln/>
        </p:spPr>
        <p:txBody>
          <a:bodyPr wrap="square" lIns="0" tIns="0" rIns="0" bIns="0" rtlCol="0" anchor="t"/>
          <a:lstStyle/>
          <a:p>
            <a:pPr indent="0" marL="0">
              <a:buNone/>
            </a:pPr>
            <a:r>
              <a:rPr lang="en-US" sz="1200" b="1" i="1" dirty="0">
                <a:solidFill>
                  <a:srgbClr val="006633"/>
                </a:solidFill>
                <a:latin typeface="Calibri" pitchFamily="34" charset="0"/>
                <a:ea typeface="Calibri" pitchFamily="34" charset="-122"/>
                <a:cs typeface="Calibri" pitchFamily="34" charset="-120"/>
              </a:rPr>
              <a:t>Para el PFC: Web API + frontend Angular separado (patrón profesional moderno).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7 · CIERRE</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Buenas prácticas y comparativa Spring Boot ↔ ASP.NET</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48640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6" name="Text 4"/>
          <p:cNvSpPr/>
          <p:nvPr/>
        </p:nvSpPr>
        <p:spPr>
          <a:xfrm>
            <a:off x="777240" y="1783080"/>
            <a:ext cx="5029200" cy="365760"/>
          </a:xfrm>
          <a:prstGeom prst="rect">
            <a:avLst/>
          </a:prstGeom>
          <a:noFill/>
          <a:ln/>
        </p:spPr>
        <p:txBody>
          <a:bodyPr wrap="square" lIns="0" tIns="0" rIns="0" bIns="0" rtlCol="0" anchor="ctr"/>
          <a:lstStyle/>
          <a:p>
            <a:pPr indent="0" marL="0">
              <a:buNone/>
            </a:pPr>
            <a:r>
              <a:rPr lang="en-US" sz="1500" b="1" dirty="0">
                <a:solidFill>
                  <a:srgbClr val="006633"/>
                </a:solidFill>
                <a:latin typeface="Georgia" pitchFamily="34" charset="0"/>
                <a:ea typeface="Georgia" pitchFamily="34" charset="-122"/>
                <a:cs typeface="Georgia" pitchFamily="34" charset="-120"/>
              </a:rPr>
              <a:t>Buenas prácticas ASP.NET Core</a:t>
            </a:r>
            <a:endParaRPr lang="en-US" sz="1500" dirty="0"/>
          </a:p>
        </p:txBody>
      </p:sp>
      <p:sp>
        <p:nvSpPr>
          <p:cNvPr id="7" name="Text 5"/>
          <p:cNvSpPr/>
          <p:nvPr/>
        </p:nvSpPr>
        <p:spPr>
          <a:xfrm>
            <a:off x="868680" y="2286000"/>
            <a:ext cx="4937760" cy="3657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[ApiController] para validación automática del modelo.</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DTOs y validación con Data Annotations ([Required], [Range]).</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Inyección de dependencias nativa (constructor injection).</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async/await en TODO acceso a base de datos.</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Códigos HTTP semánticos (200, 201, 204, 404).</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Swagger/OpenAPI habilitado en desarrollo.</a:t>
            </a:r>
            <a:endParaRPr lang="en-US" sz="1300" dirty="0"/>
          </a:p>
          <a:p>
            <a:pPr marL="177800" indent="-1778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Cadenas de conexión y secretos fuera del código (appsettings, user-secrets).</a:t>
            </a:r>
            <a:endParaRPr lang="en-US" sz="1300" dirty="0"/>
          </a:p>
        </p:txBody>
      </p:sp>
      <p:sp>
        <p:nvSpPr>
          <p:cNvPr id="8" name="Shape 6"/>
          <p:cNvSpPr/>
          <p:nvPr/>
        </p:nvSpPr>
        <p:spPr>
          <a:xfrm>
            <a:off x="6263640" y="1554480"/>
            <a:ext cx="534924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9" name="Text 7"/>
          <p:cNvSpPr/>
          <p:nvPr/>
        </p:nvSpPr>
        <p:spPr>
          <a:xfrm>
            <a:off x="6492240" y="1783080"/>
            <a:ext cx="4937760" cy="365760"/>
          </a:xfrm>
          <a:prstGeom prst="rect">
            <a:avLst/>
          </a:prstGeom>
          <a:noFill/>
          <a:ln/>
        </p:spPr>
        <p:txBody>
          <a:bodyPr wrap="square" lIns="0" tIns="0" rIns="0" bIns="0" rtlCol="0" anchor="ctr"/>
          <a:lstStyle/>
          <a:p>
            <a:pPr indent="0" marL="0">
              <a:buNone/>
            </a:pPr>
            <a:r>
              <a:rPr lang="en-US" sz="1500" b="1" dirty="0">
                <a:solidFill>
                  <a:srgbClr val="1F2933"/>
                </a:solidFill>
                <a:latin typeface="Georgia" pitchFamily="34" charset="0"/>
                <a:ea typeface="Georgia" pitchFamily="34" charset="-122"/>
                <a:cs typeface="Georgia" pitchFamily="34" charset="-120"/>
              </a:rPr>
              <a:t>Mismo problema, dos plataformas</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92240" y="2286000"/>
          <a:ext cx="4937760" cy="914400"/>
        </p:xfrm>
        <a:graphic>
          <a:graphicData uri="http://schemas.openxmlformats.org/drawingml/2006/table">
            <a:tbl>
              <a:tblPr/>
              <a:tblGrid>
                <a:gridCol w="1508760"/>
                <a:gridCol w="1783080"/>
                <a:gridCol w="164592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Concepto</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066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Spring Boot</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066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ASP.NET Core</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006633"/>
                    </a:solidFill>
                  </a:tcPr>
                </a:tc>
              </a:tr>
              <a:tr h="457200">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Lenguaje</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Java</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Controlador</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@RestController</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[ApiController]</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GET</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@GetMapping</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[HttpGet]</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ORM</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JPA / Hibernate</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EF Core</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Servidor</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Tomcat embebido</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Kestrel</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Paquetes</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Maven / Gradle</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NuGet</a:t>
                      </a:r>
                      <a:endParaRPr lang="en-US" sz="1150" dirty="0">
                        <a:latin typeface="Calibri" charset="0"/>
                        <a:ea typeface="Calibri" charset="0"/>
                        <a:cs typeface="Calibri"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D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A227"/>
          </a:solidFill>
          <a:ln/>
        </p:spPr>
      </p:sp>
      <p:sp>
        <p:nvSpPr>
          <p:cNvPr id="3" name="Text 1"/>
          <p:cNvSpPr/>
          <p:nvPr/>
        </p:nvSpPr>
        <p:spPr>
          <a:xfrm>
            <a:off x="822960" y="1371600"/>
            <a:ext cx="10058400" cy="457200"/>
          </a:xfrm>
          <a:prstGeom prst="rect">
            <a:avLst/>
          </a:prstGeom>
          <a:noFill/>
          <a:ln/>
        </p:spPr>
        <p:txBody>
          <a:bodyPr wrap="square" lIns="0" tIns="0" rIns="0" bIns="0" rtlCol="0" anchor="ctr"/>
          <a:lstStyle/>
          <a:p>
            <a:pPr indent="0" marL="0">
              <a:buNone/>
            </a:pPr>
            <a:r>
              <a:rPr lang="en-US" sz="1800" b="1" spc="300" kern="0" dirty="0">
                <a:solidFill>
                  <a:srgbClr val="C9A227"/>
                </a:solidFill>
                <a:latin typeface="Calibri" pitchFamily="34" charset="0"/>
                <a:ea typeface="Calibri" pitchFamily="34" charset="-122"/>
                <a:cs typeface="Calibri" pitchFamily="34" charset="-120"/>
              </a:rPr>
              <a:t>SEMANA 8</a:t>
            </a:r>
            <a:endParaRPr lang="en-US" sz="1800" dirty="0"/>
          </a:p>
        </p:txBody>
      </p:sp>
      <p:sp>
        <p:nvSpPr>
          <p:cNvPr id="4" name="Text 2"/>
          <p:cNvSpPr/>
          <p:nvPr/>
        </p:nvSpPr>
        <p:spPr>
          <a:xfrm>
            <a:off x="822960" y="1920240"/>
            <a:ext cx="10607040" cy="20116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Tutoría de refuerzo:</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consolidación y resolución de blockers</a:t>
            </a:r>
            <a:endParaRPr lang="en-US" sz="4000" dirty="0"/>
          </a:p>
        </p:txBody>
      </p:sp>
      <p:sp>
        <p:nvSpPr>
          <p:cNvPr id="5" name="Text 3"/>
          <p:cNvSpPr/>
          <p:nvPr/>
        </p:nvSpPr>
        <p:spPr>
          <a:xfrm>
            <a:off x="822960" y="4114800"/>
            <a:ext cx="10424160" cy="1463040"/>
          </a:xfrm>
          <a:prstGeom prst="rect">
            <a:avLst/>
          </a:prstGeom>
          <a:noFill/>
          <a:ln/>
        </p:spPr>
        <p:txBody>
          <a:bodyPr wrap="square" lIns="0" tIns="0" rIns="0" bIns="0" rtlCol="0" anchor="t"/>
          <a:lstStyle/>
          <a:p>
            <a:pPr indent="0" marL="0">
              <a:buNone/>
            </a:pPr>
            <a:r>
              <a:rPr lang="en-US" sz="1600" dirty="0">
                <a:solidFill>
                  <a:srgbClr val="C8D6CE"/>
                </a:solidFill>
                <a:latin typeface="Calibri" pitchFamily="34" charset="0"/>
                <a:ea typeface="Calibri" pitchFamily="34" charset="-122"/>
                <a:cs typeface="Calibri" pitchFamily="34" charset="-120"/>
              </a:rPr>
              <a:t>Sin tema nuevo. Esta semana se consolida lo aprendido en las semanas 1–7 y se prepara la Evaluación Parcial Primer Corte.</a:t>
            </a:r>
            <a:endParaRPr lang="en-US" sz="1600" dirty="0"/>
          </a:p>
        </p:txBody>
      </p:sp>
      <p:sp>
        <p:nvSpPr>
          <p:cNvPr id="6" name="Text 4"/>
          <p:cNvSpPr/>
          <p:nvPr/>
        </p:nvSpPr>
        <p:spPr>
          <a:xfrm>
            <a:off x="9326880" y="502920"/>
            <a:ext cx="2194560" cy="1463040"/>
          </a:xfrm>
          <a:prstGeom prst="rect">
            <a:avLst/>
          </a:prstGeom>
          <a:noFill/>
          <a:ln/>
        </p:spPr>
        <p:txBody>
          <a:bodyPr wrap="square" lIns="0" tIns="0" rIns="0" bIns="0" rtlCol="0" anchor="ctr"/>
          <a:lstStyle/>
          <a:p>
            <a:pPr algn="r" indent="0" marL="0">
              <a:buNone/>
            </a:pPr>
            <a:r>
              <a:rPr lang="en-US" sz="9600" b="1" dirty="0">
                <a:solidFill>
                  <a:srgbClr val="006633"/>
                </a:solidFill>
                <a:latin typeface="Georgia" pitchFamily="34" charset="0"/>
                <a:ea typeface="Georgia" pitchFamily="34" charset="-122"/>
                <a:cs typeface="Georgia" pitchFamily="34" charset="-120"/>
              </a:rPr>
              <a:t>08</a:t>
            </a:r>
            <a:endParaRPr lang="en-US" sz="9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8 · REPASO</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Los tres temas que más cuestan</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645920"/>
            <a:ext cx="3621024" cy="4297680"/>
          </a:xfrm>
          <a:prstGeom prst="roundRect">
            <a:avLst>
              <a:gd name="adj" fmla="val 2020"/>
            </a:avLst>
          </a:prstGeom>
          <a:solidFill>
            <a:srgbClr val="FFFFFF"/>
          </a:solidFill>
          <a:ln/>
          <a:effectLst>
            <a:outerShdw sx="100000" sy="100000" kx="0" ky="0" algn="bl" rotWithShape="0" blurRad="88900" dist="38100" dir="8100000">
              <a:srgbClr val="000000">
                <a:alpha val="16000"/>
              </a:srgbClr>
            </a:outerShdw>
          </a:effectLst>
        </p:spPr>
      </p:sp>
      <p:sp>
        <p:nvSpPr>
          <p:cNvPr id="6" name="Shape 4"/>
          <p:cNvSpPr/>
          <p:nvPr/>
        </p:nvSpPr>
        <p:spPr>
          <a:xfrm>
            <a:off x="548640" y="1645920"/>
            <a:ext cx="3621024" cy="640080"/>
          </a:xfrm>
          <a:prstGeom prst="rect">
            <a:avLst/>
          </a:prstGeom>
          <a:solidFill>
            <a:srgbClr val="006633"/>
          </a:solidFill>
          <a:ln/>
        </p:spPr>
      </p:sp>
      <p:sp>
        <p:nvSpPr>
          <p:cNvPr id="7" name="Text 5"/>
          <p:cNvSpPr/>
          <p:nvPr/>
        </p:nvSpPr>
        <p:spPr>
          <a:xfrm>
            <a:off x="685800" y="1645920"/>
            <a:ext cx="3346704" cy="6400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GET vs POST</a:t>
            </a:r>
            <a:endParaRPr lang="en-US" sz="1500" dirty="0"/>
          </a:p>
        </p:txBody>
      </p:sp>
      <p:sp>
        <p:nvSpPr>
          <p:cNvPr id="8" name="Text 6"/>
          <p:cNvSpPr/>
          <p:nvPr/>
        </p:nvSpPr>
        <p:spPr>
          <a:xfrm>
            <a:off x="749808" y="2423160"/>
            <a:ext cx="3246120" cy="3383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GET: leer/consultar, idempotente, parámetros visibles en la URL, cacheable. POST: enviar/modificar, datos en el cuerpo, no debe repetirse al recargar. Usar GET en un login es un error de seguridad.</a:t>
            </a:r>
            <a:endParaRPr lang="en-US" sz="1300" dirty="0"/>
          </a:p>
        </p:txBody>
      </p:sp>
      <p:sp>
        <p:nvSpPr>
          <p:cNvPr id="9" name="Shape 7"/>
          <p:cNvSpPr/>
          <p:nvPr/>
        </p:nvSpPr>
        <p:spPr>
          <a:xfrm>
            <a:off x="4325112" y="1645920"/>
            <a:ext cx="3621024" cy="4297680"/>
          </a:xfrm>
          <a:prstGeom prst="roundRect">
            <a:avLst>
              <a:gd name="adj" fmla="val 2020"/>
            </a:avLst>
          </a:prstGeom>
          <a:solidFill>
            <a:srgbClr val="FFFFFF"/>
          </a:solidFill>
          <a:ln/>
          <a:effectLst>
            <a:outerShdw sx="100000" sy="100000" kx="0" ky="0" algn="bl" rotWithShape="0" blurRad="88900" dist="38100" dir="8100000">
              <a:srgbClr val="000000">
                <a:alpha val="16000"/>
              </a:srgbClr>
            </a:outerShdw>
          </a:effectLst>
        </p:spPr>
      </p:sp>
      <p:sp>
        <p:nvSpPr>
          <p:cNvPr id="10" name="Shape 8"/>
          <p:cNvSpPr/>
          <p:nvPr/>
        </p:nvSpPr>
        <p:spPr>
          <a:xfrm>
            <a:off x="4325112" y="1645920"/>
            <a:ext cx="3621024" cy="640080"/>
          </a:xfrm>
          <a:prstGeom prst="rect">
            <a:avLst/>
          </a:prstGeom>
          <a:solidFill>
            <a:srgbClr val="1C7293"/>
          </a:solidFill>
          <a:ln/>
        </p:spPr>
      </p:sp>
      <p:sp>
        <p:nvSpPr>
          <p:cNvPr id="11" name="Text 9"/>
          <p:cNvSpPr/>
          <p:nvPr/>
        </p:nvSpPr>
        <p:spPr>
          <a:xfrm>
            <a:off x="4462272" y="1645920"/>
            <a:ext cx="3346704" cy="6400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Validación cliente vs servidor</a:t>
            </a:r>
            <a:endParaRPr lang="en-US" sz="1500" dirty="0"/>
          </a:p>
        </p:txBody>
      </p:sp>
      <p:sp>
        <p:nvSpPr>
          <p:cNvPr id="12" name="Text 10"/>
          <p:cNvSpPr/>
          <p:nvPr/>
        </p:nvSpPr>
        <p:spPr>
          <a:xfrm>
            <a:off x="4526280" y="2423160"/>
            <a:ext cx="3246120" cy="3383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El cliente (HTML5/JS) valida para mejorar la experiencia (UX), pero NUNCA es la única defensa: con las DevTools se salta. El servidor (PHP/Java/.NET) DEBE revalidar TODA entrada porque el cliente es manipulable.</a:t>
            </a:r>
            <a:endParaRPr lang="en-US" sz="1300" dirty="0"/>
          </a:p>
        </p:txBody>
      </p:sp>
      <p:sp>
        <p:nvSpPr>
          <p:cNvPr id="13" name="Shape 11"/>
          <p:cNvSpPr/>
          <p:nvPr/>
        </p:nvSpPr>
        <p:spPr>
          <a:xfrm>
            <a:off x="8101584" y="1645920"/>
            <a:ext cx="3621024" cy="4297680"/>
          </a:xfrm>
          <a:prstGeom prst="roundRect">
            <a:avLst>
              <a:gd name="adj" fmla="val 2020"/>
            </a:avLst>
          </a:prstGeom>
          <a:solidFill>
            <a:srgbClr val="FFFFFF"/>
          </a:solidFill>
          <a:ln/>
          <a:effectLst>
            <a:outerShdw sx="100000" sy="100000" kx="0" ky="0" algn="bl" rotWithShape="0" blurRad="88900" dist="38100" dir="8100000">
              <a:srgbClr val="000000">
                <a:alpha val="16000"/>
              </a:srgbClr>
            </a:outerShdw>
          </a:effectLst>
        </p:spPr>
      </p:sp>
      <p:sp>
        <p:nvSpPr>
          <p:cNvPr id="14" name="Shape 12"/>
          <p:cNvSpPr/>
          <p:nvPr/>
        </p:nvSpPr>
        <p:spPr>
          <a:xfrm>
            <a:off x="8101584" y="1645920"/>
            <a:ext cx="3621024" cy="640080"/>
          </a:xfrm>
          <a:prstGeom prst="rect">
            <a:avLst/>
          </a:prstGeom>
          <a:solidFill>
            <a:srgbClr val="8A6D1F"/>
          </a:solidFill>
          <a:ln/>
        </p:spPr>
      </p:sp>
      <p:sp>
        <p:nvSpPr>
          <p:cNvPr id="15" name="Text 13"/>
          <p:cNvSpPr/>
          <p:nvPr/>
        </p:nvSpPr>
        <p:spPr>
          <a:xfrm>
            <a:off x="8238744" y="1645920"/>
            <a:ext cx="3346704" cy="6400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Codificación UTF-8</a:t>
            </a:r>
            <a:endParaRPr lang="en-US" sz="1500" dirty="0"/>
          </a:p>
        </p:txBody>
      </p:sp>
      <p:sp>
        <p:nvSpPr>
          <p:cNvPr id="16" name="Text 14"/>
          <p:cNvSpPr/>
          <p:nvPr/>
        </p:nvSpPr>
        <p:spPr>
          <a:xfrm>
            <a:off x="8302752" y="2423160"/>
            <a:ext cx="3246120" cy="3383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Los caracteres raros en vez de tildes vienen de un fallo de codificación. UTF-8 debe coincidir en CUATRO lugares: la etiqueta &lt;meta charset&gt; del HTML, los archivos guardados sin BOM, la base de datos (utf8mb4) y la cabecera HTTP Content-Type.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3D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A227"/>
          </a:solidFill>
          <a:ln/>
        </p:spPr>
      </p:sp>
      <p:sp>
        <p:nvSpPr>
          <p:cNvPr id="3" name="Text 1"/>
          <p:cNvSpPr/>
          <p:nvPr/>
        </p:nvSpPr>
        <p:spPr>
          <a:xfrm>
            <a:off x="822960" y="1371600"/>
            <a:ext cx="10058400" cy="457200"/>
          </a:xfrm>
          <a:prstGeom prst="rect">
            <a:avLst/>
          </a:prstGeom>
          <a:noFill/>
          <a:ln/>
        </p:spPr>
        <p:txBody>
          <a:bodyPr wrap="square" lIns="0" tIns="0" rIns="0" bIns="0" rtlCol="0" anchor="ctr"/>
          <a:lstStyle/>
          <a:p>
            <a:pPr indent="0" marL="0">
              <a:buNone/>
            </a:pPr>
            <a:r>
              <a:rPr lang="en-US" sz="1800" b="1" spc="300" kern="0" dirty="0">
                <a:solidFill>
                  <a:srgbClr val="C9A227"/>
                </a:solidFill>
                <a:latin typeface="Calibri" pitchFamily="34" charset="0"/>
                <a:ea typeface="Calibri" pitchFamily="34" charset="-122"/>
                <a:cs typeface="Calibri" pitchFamily="34" charset="-120"/>
              </a:rPr>
              <a:t>SEMANA 9</a:t>
            </a:r>
            <a:endParaRPr lang="en-US" sz="1800" dirty="0"/>
          </a:p>
        </p:txBody>
      </p:sp>
      <p:sp>
        <p:nvSpPr>
          <p:cNvPr id="4" name="Text 2"/>
          <p:cNvSpPr/>
          <p:nvPr/>
        </p:nvSpPr>
        <p:spPr>
          <a:xfrm>
            <a:off x="822960" y="1920240"/>
            <a:ext cx="10607040" cy="201168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Seguridad en aplicaciones web</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y Evaluación Parcial Primer Corte</a:t>
            </a:r>
            <a:endParaRPr lang="en-US" sz="4000" dirty="0"/>
          </a:p>
        </p:txBody>
      </p:sp>
      <p:sp>
        <p:nvSpPr>
          <p:cNvPr id="5" name="Text 3"/>
          <p:cNvSpPr/>
          <p:nvPr/>
        </p:nvSpPr>
        <p:spPr>
          <a:xfrm>
            <a:off x="822960" y="4114800"/>
            <a:ext cx="10424160" cy="1463040"/>
          </a:xfrm>
          <a:prstGeom prst="rect">
            <a:avLst/>
          </a:prstGeom>
          <a:noFill/>
          <a:ln/>
        </p:spPr>
        <p:txBody>
          <a:bodyPr wrap="square" lIns="0" tIns="0" rIns="0" bIns="0" rtlCol="0" anchor="t"/>
          <a:lstStyle/>
          <a:p>
            <a:pPr indent="0" marL="0">
              <a:buNone/>
            </a:pPr>
            <a:r>
              <a:rPr lang="en-US" sz="1600" dirty="0">
                <a:solidFill>
                  <a:srgbClr val="C8D6CE"/>
                </a:solidFill>
                <a:latin typeface="Calibri" pitchFamily="34" charset="0"/>
                <a:ea typeface="Calibri" pitchFamily="34" charset="-122"/>
                <a:cs typeface="Calibri" pitchFamily="34" charset="-120"/>
              </a:rPr>
              <a:t>«El software seguro no es un producto: es un proceso continuo. Cada commit es una oportunidad de introducir o eliminar una vulnerabilidad.»  — Adaptado de Bruce Schneier</a:t>
            </a:r>
            <a:endParaRPr lang="en-US" sz="1600" dirty="0"/>
          </a:p>
        </p:txBody>
      </p:sp>
      <p:sp>
        <p:nvSpPr>
          <p:cNvPr id="6" name="Text 4"/>
          <p:cNvSpPr/>
          <p:nvPr/>
        </p:nvSpPr>
        <p:spPr>
          <a:xfrm>
            <a:off x="9326880" y="502920"/>
            <a:ext cx="2194560" cy="1463040"/>
          </a:xfrm>
          <a:prstGeom prst="rect">
            <a:avLst/>
          </a:prstGeom>
          <a:noFill/>
          <a:ln/>
        </p:spPr>
        <p:txBody>
          <a:bodyPr wrap="square" lIns="0" tIns="0" rIns="0" bIns="0" rtlCol="0" anchor="ctr"/>
          <a:lstStyle/>
          <a:p>
            <a:pPr algn="r" indent="0" marL="0">
              <a:buNone/>
            </a:pPr>
            <a:r>
              <a:rPr lang="en-US" sz="9600" b="1" dirty="0">
                <a:solidFill>
                  <a:srgbClr val="006633"/>
                </a:solidFill>
                <a:latin typeface="Georgia" pitchFamily="34" charset="0"/>
                <a:ea typeface="Georgia" pitchFamily="34" charset="-122"/>
                <a:cs typeface="Georgia" pitchFamily="34" charset="-120"/>
              </a:rPr>
              <a:t>09</a:t>
            </a:r>
            <a:endParaRPr lang="en-US" sz="9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9 · OWASP</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OWASP Top 10:2021 — las diez vulnerabilidades críticas</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640080"/>
                <a:gridCol w="3108960"/>
                <a:gridCol w="7315200"/>
              </a:tblGrid>
              <a:tr h="37490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9A2A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9A2A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Defensa esencial</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9A2A2A"/>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A01</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Broken Access Control</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Autorización en cada endpoint del servidor, no en el cliente.</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A02</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Cryptographic Failures</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Cifrar datos sensibles; algoritmos fuertes; HTTPS.</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A03</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Injection (SQL, etc.)</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Prepared statements / consultas parametrizadas.</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A04</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Insecure Design</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Threat modeling desde el diseño.</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A05</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Security Misconfiguration</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Endurecer config.; quitar valores por defecto.</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A06</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Vulnerable Components</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Dependencias actualizadas (Dependabot, Snyk).</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A07</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Auth. Failures</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MFA, rate limiting, gestión de sesiones segura.</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A08</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Integrity Failures</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Verificar firmas; cuidar la cadena de suministro.</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A09</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Logging Failures</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Registrar y monitorizar eventos de seguridad.</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A10</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SSRF</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F2933"/>
                          </a:solidFill>
                          <a:latin typeface="Calibri" pitchFamily="34" charset="0"/>
                          <a:ea typeface="Calibri" pitchFamily="34" charset="-122"/>
                          <a:cs typeface="Calibri" pitchFamily="34" charset="-120"/>
                        </a:rPr>
                        <a:t>Validar y restringir las URLs que el servidor solicita.</a:t>
                      </a:r>
                      <a:endParaRPr lang="en-US" sz="115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9 · DEFENSAS</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Cinco defensas técnicas que debes aplicar siempre</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691640"/>
            <a:ext cx="11064240" cy="804672"/>
          </a:xfrm>
          <a:prstGeom prst="roundRect">
            <a:avLst>
              <a:gd name="adj" fmla="val 9091"/>
            </a:avLst>
          </a:prstGeom>
          <a:solidFill>
            <a:srgbClr val="FFFFFF"/>
          </a:solidFill>
          <a:ln/>
          <a:effectLst>
            <a:outerShdw sx="100000" sy="100000" kx="0" ky="0" algn="bl" rotWithShape="0" blurRad="88900" dist="38100" dir="8100000">
              <a:srgbClr val="000000">
                <a:alpha val="16000"/>
              </a:srgbClr>
            </a:outerShdw>
          </a:effectLst>
        </p:spPr>
      </p:sp>
      <p:sp>
        <p:nvSpPr>
          <p:cNvPr id="6" name="Shape 4"/>
          <p:cNvSpPr/>
          <p:nvPr/>
        </p:nvSpPr>
        <p:spPr>
          <a:xfrm>
            <a:off x="713232" y="1865376"/>
            <a:ext cx="457200" cy="457200"/>
          </a:xfrm>
          <a:prstGeom prst="ellipse">
            <a:avLst/>
          </a:prstGeom>
          <a:solidFill>
            <a:srgbClr val="006633"/>
          </a:solidFill>
          <a:ln/>
        </p:spPr>
      </p:sp>
      <p:sp>
        <p:nvSpPr>
          <p:cNvPr id="7" name="Text 5"/>
          <p:cNvSpPr/>
          <p:nvPr/>
        </p:nvSpPr>
        <p:spPr>
          <a:xfrm>
            <a:off x="713232" y="18653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1371600" y="1810512"/>
            <a:ext cx="3291840" cy="566928"/>
          </a:xfrm>
          <a:prstGeom prst="rect">
            <a:avLst/>
          </a:prstGeom>
          <a:noFill/>
          <a:ln/>
        </p:spPr>
        <p:txBody>
          <a:bodyPr wrap="square" lIns="0" tIns="0" rIns="0" bIns="0" rtlCol="0" anchor="ctr"/>
          <a:lstStyle/>
          <a:p>
            <a:pPr indent="0" marL="0">
              <a:buNone/>
            </a:pPr>
            <a:r>
              <a:rPr lang="en-US" sz="1500" b="1" dirty="0">
                <a:solidFill>
                  <a:srgbClr val="006633"/>
                </a:solidFill>
                <a:latin typeface="Georgia" pitchFamily="34" charset="0"/>
                <a:ea typeface="Georgia" pitchFamily="34" charset="-122"/>
                <a:cs typeface="Georgia" pitchFamily="34" charset="-120"/>
              </a:rPr>
              <a:t>Anti-SQL Injection</a:t>
            </a:r>
            <a:endParaRPr lang="en-US" sz="1500" dirty="0"/>
          </a:p>
        </p:txBody>
      </p:sp>
      <p:sp>
        <p:nvSpPr>
          <p:cNvPr id="9" name="Text 7"/>
          <p:cNvSpPr/>
          <p:nvPr/>
        </p:nvSpPr>
        <p:spPr>
          <a:xfrm>
            <a:off x="4754880" y="1764792"/>
            <a:ext cx="6675120" cy="65836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Prepared statements (PDO, JDBC, EF Core). El dato del usuario nunca se concatena en la consulta.</a:t>
            </a:r>
            <a:endParaRPr lang="en-US" sz="1250" dirty="0"/>
          </a:p>
        </p:txBody>
      </p:sp>
      <p:sp>
        <p:nvSpPr>
          <p:cNvPr id="10" name="Shape 8"/>
          <p:cNvSpPr/>
          <p:nvPr/>
        </p:nvSpPr>
        <p:spPr>
          <a:xfrm>
            <a:off x="548640" y="2569464"/>
            <a:ext cx="11064240" cy="804672"/>
          </a:xfrm>
          <a:prstGeom prst="roundRect">
            <a:avLst>
              <a:gd name="adj" fmla="val 9091"/>
            </a:avLst>
          </a:prstGeom>
          <a:solidFill>
            <a:srgbClr val="FFFFFF"/>
          </a:solidFill>
          <a:ln/>
          <a:effectLst>
            <a:outerShdw sx="100000" sy="100000" kx="0" ky="0" algn="bl" rotWithShape="0" blurRad="88900" dist="38100" dir="8100000">
              <a:srgbClr val="000000">
                <a:alpha val="16000"/>
              </a:srgbClr>
            </a:outerShdw>
          </a:effectLst>
        </p:spPr>
      </p:sp>
      <p:sp>
        <p:nvSpPr>
          <p:cNvPr id="11" name="Shape 9"/>
          <p:cNvSpPr/>
          <p:nvPr/>
        </p:nvSpPr>
        <p:spPr>
          <a:xfrm>
            <a:off x="713232" y="2743200"/>
            <a:ext cx="457200" cy="457200"/>
          </a:xfrm>
          <a:prstGeom prst="ellipse">
            <a:avLst/>
          </a:prstGeom>
          <a:solidFill>
            <a:srgbClr val="0E7A52"/>
          </a:solidFill>
          <a:ln/>
        </p:spPr>
      </p:sp>
      <p:sp>
        <p:nvSpPr>
          <p:cNvPr id="12" name="Text 10"/>
          <p:cNvSpPr/>
          <p:nvPr/>
        </p:nvSpPr>
        <p:spPr>
          <a:xfrm>
            <a:off x="713232" y="27432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371600" y="2688336"/>
            <a:ext cx="3291840" cy="566928"/>
          </a:xfrm>
          <a:prstGeom prst="rect">
            <a:avLst/>
          </a:prstGeom>
          <a:noFill/>
          <a:ln/>
        </p:spPr>
        <p:txBody>
          <a:bodyPr wrap="square" lIns="0" tIns="0" rIns="0" bIns="0" rtlCol="0" anchor="ctr"/>
          <a:lstStyle/>
          <a:p>
            <a:pPr indent="0" marL="0">
              <a:buNone/>
            </a:pPr>
            <a:r>
              <a:rPr lang="en-US" sz="1500" b="1" dirty="0">
                <a:solidFill>
                  <a:srgbClr val="0E7A52"/>
                </a:solidFill>
                <a:latin typeface="Georgia" pitchFamily="34" charset="0"/>
                <a:ea typeface="Georgia" pitchFamily="34" charset="-122"/>
                <a:cs typeface="Georgia" pitchFamily="34" charset="-120"/>
              </a:rPr>
              <a:t>Anti-XSS</a:t>
            </a:r>
            <a:endParaRPr lang="en-US" sz="1500" dirty="0"/>
          </a:p>
        </p:txBody>
      </p:sp>
      <p:sp>
        <p:nvSpPr>
          <p:cNvPr id="14" name="Text 12"/>
          <p:cNvSpPr/>
          <p:nvPr/>
        </p:nvSpPr>
        <p:spPr>
          <a:xfrm>
            <a:off x="4754880" y="2642616"/>
            <a:ext cx="6675120" cy="65836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Escapar la salida: htmlspecialchars en PHP, escape automático en Thymeleaf/Razor.</a:t>
            </a:r>
            <a:endParaRPr lang="en-US" sz="1250" dirty="0"/>
          </a:p>
        </p:txBody>
      </p:sp>
      <p:sp>
        <p:nvSpPr>
          <p:cNvPr id="15" name="Shape 13"/>
          <p:cNvSpPr/>
          <p:nvPr/>
        </p:nvSpPr>
        <p:spPr>
          <a:xfrm>
            <a:off x="548640" y="3447288"/>
            <a:ext cx="11064240" cy="804672"/>
          </a:xfrm>
          <a:prstGeom prst="roundRect">
            <a:avLst>
              <a:gd name="adj" fmla="val 9091"/>
            </a:avLst>
          </a:prstGeom>
          <a:solidFill>
            <a:srgbClr val="FFFFFF"/>
          </a:solidFill>
          <a:ln/>
          <a:effectLst>
            <a:outerShdw sx="100000" sy="100000" kx="0" ky="0" algn="bl" rotWithShape="0" blurRad="88900" dist="38100" dir="8100000">
              <a:srgbClr val="000000">
                <a:alpha val="16000"/>
              </a:srgbClr>
            </a:outerShdw>
          </a:effectLst>
        </p:spPr>
      </p:sp>
      <p:sp>
        <p:nvSpPr>
          <p:cNvPr id="16" name="Shape 14"/>
          <p:cNvSpPr/>
          <p:nvPr/>
        </p:nvSpPr>
        <p:spPr>
          <a:xfrm>
            <a:off x="713232" y="3621024"/>
            <a:ext cx="457200" cy="457200"/>
          </a:xfrm>
          <a:prstGeom prst="ellipse">
            <a:avLst/>
          </a:prstGeom>
          <a:solidFill>
            <a:srgbClr val="1C7293"/>
          </a:solidFill>
          <a:ln/>
        </p:spPr>
      </p:sp>
      <p:sp>
        <p:nvSpPr>
          <p:cNvPr id="17" name="Text 15"/>
          <p:cNvSpPr/>
          <p:nvPr/>
        </p:nvSpPr>
        <p:spPr>
          <a:xfrm>
            <a:off x="713232" y="3621024"/>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8" name="Text 16"/>
          <p:cNvSpPr/>
          <p:nvPr/>
        </p:nvSpPr>
        <p:spPr>
          <a:xfrm>
            <a:off x="1371600" y="3566160"/>
            <a:ext cx="3291840" cy="566928"/>
          </a:xfrm>
          <a:prstGeom prst="rect">
            <a:avLst/>
          </a:prstGeom>
          <a:noFill/>
          <a:ln/>
        </p:spPr>
        <p:txBody>
          <a:bodyPr wrap="square" lIns="0" tIns="0" rIns="0" bIns="0" rtlCol="0" anchor="ctr"/>
          <a:lstStyle/>
          <a:p>
            <a:pPr indent="0" marL="0">
              <a:buNone/>
            </a:pPr>
            <a:r>
              <a:rPr lang="en-US" sz="1500" b="1" dirty="0">
                <a:solidFill>
                  <a:srgbClr val="1C7293"/>
                </a:solidFill>
                <a:latin typeface="Georgia" pitchFamily="34" charset="0"/>
                <a:ea typeface="Georgia" pitchFamily="34" charset="-122"/>
                <a:cs typeface="Georgia" pitchFamily="34" charset="-120"/>
              </a:rPr>
              <a:t>Cookies de sesión seguras</a:t>
            </a:r>
            <a:endParaRPr lang="en-US" sz="1500" dirty="0"/>
          </a:p>
        </p:txBody>
      </p:sp>
      <p:sp>
        <p:nvSpPr>
          <p:cNvPr id="19" name="Text 17"/>
          <p:cNvSpPr/>
          <p:nvPr/>
        </p:nvSpPr>
        <p:spPr>
          <a:xfrm>
            <a:off x="4754880" y="3520440"/>
            <a:ext cx="6675120" cy="65836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Flags HttpOnly (no accesible por JS), Secure (solo HTTPS) y SameSite (anti-CSRF).</a:t>
            </a:r>
            <a:endParaRPr lang="en-US" sz="1250" dirty="0"/>
          </a:p>
        </p:txBody>
      </p:sp>
      <p:sp>
        <p:nvSpPr>
          <p:cNvPr id="20" name="Shape 18"/>
          <p:cNvSpPr/>
          <p:nvPr/>
        </p:nvSpPr>
        <p:spPr>
          <a:xfrm>
            <a:off x="548640" y="4325112"/>
            <a:ext cx="11064240" cy="804672"/>
          </a:xfrm>
          <a:prstGeom prst="roundRect">
            <a:avLst>
              <a:gd name="adj" fmla="val 9091"/>
            </a:avLst>
          </a:prstGeom>
          <a:solidFill>
            <a:srgbClr val="FFFFFF"/>
          </a:solidFill>
          <a:ln/>
          <a:effectLst>
            <a:outerShdw sx="100000" sy="100000" kx="0" ky="0" algn="bl" rotWithShape="0" blurRad="88900" dist="38100" dir="8100000">
              <a:srgbClr val="000000">
                <a:alpha val="16000"/>
              </a:srgbClr>
            </a:outerShdw>
          </a:effectLst>
        </p:spPr>
      </p:sp>
      <p:sp>
        <p:nvSpPr>
          <p:cNvPr id="21" name="Shape 19"/>
          <p:cNvSpPr/>
          <p:nvPr/>
        </p:nvSpPr>
        <p:spPr>
          <a:xfrm>
            <a:off x="713232" y="4498848"/>
            <a:ext cx="457200" cy="457200"/>
          </a:xfrm>
          <a:prstGeom prst="ellipse">
            <a:avLst/>
          </a:prstGeom>
          <a:solidFill>
            <a:srgbClr val="8A6D1F"/>
          </a:solidFill>
          <a:ln/>
        </p:spPr>
      </p:sp>
      <p:sp>
        <p:nvSpPr>
          <p:cNvPr id="22" name="Text 20"/>
          <p:cNvSpPr/>
          <p:nvPr/>
        </p:nvSpPr>
        <p:spPr>
          <a:xfrm>
            <a:off x="713232" y="44988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3" name="Text 21"/>
          <p:cNvSpPr/>
          <p:nvPr/>
        </p:nvSpPr>
        <p:spPr>
          <a:xfrm>
            <a:off x="1371600" y="4443984"/>
            <a:ext cx="3291840" cy="566928"/>
          </a:xfrm>
          <a:prstGeom prst="rect">
            <a:avLst/>
          </a:prstGeom>
          <a:noFill/>
          <a:ln/>
        </p:spPr>
        <p:txBody>
          <a:bodyPr wrap="square" lIns="0" tIns="0" rIns="0" bIns="0" rtlCol="0" anchor="ctr"/>
          <a:lstStyle/>
          <a:p>
            <a:pPr indent="0" marL="0">
              <a:buNone/>
            </a:pPr>
            <a:r>
              <a:rPr lang="en-US" sz="1500" b="1" dirty="0">
                <a:solidFill>
                  <a:srgbClr val="8A6D1F"/>
                </a:solidFill>
                <a:latin typeface="Georgia" pitchFamily="34" charset="0"/>
                <a:ea typeface="Georgia" pitchFamily="34" charset="-122"/>
                <a:cs typeface="Georgia" pitchFamily="34" charset="-120"/>
              </a:rPr>
              <a:t>Hash de contraseñas</a:t>
            </a:r>
            <a:endParaRPr lang="en-US" sz="1500" dirty="0"/>
          </a:p>
        </p:txBody>
      </p:sp>
      <p:sp>
        <p:nvSpPr>
          <p:cNvPr id="24" name="Text 22"/>
          <p:cNvSpPr/>
          <p:nvPr/>
        </p:nvSpPr>
        <p:spPr>
          <a:xfrm>
            <a:off x="4754880" y="4398264"/>
            <a:ext cx="6675120" cy="65836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BCrypt o Argon2 con factor de coste. JAMÁS guardar contraseñas en texto ni con MD5/SHA1.</a:t>
            </a:r>
            <a:endParaRPr lang="en-US" sz="1250" dirty="0"/>
          </a:p>
        </p:txBody>
      </p:sp>
      <p:sp>
        <p:nvSpPr>
          <p:cNvPr id="25" name="Shape 23"/>
          <p:cNvSpPr/>
          <p:nvPr/>
        </p:nvSpPr>
        <p:spPr>
          <a:xfrm>
            <a:off x="548640" y="5202936"/>
            <a:ext cx="11064240" cy="804672"/>
          </a:xfrm>
          <a:prstGeom prst="roundRect">
            <a:avLst>
              <a:gd name="adj" fmla="val 9091"/>
            </a:avLst>
          </a:prstGeom>
          <a:solidFill>
            <a:srgbClr val="FFFFFF"/>
          </a:solidFill>
          <a:ln/>
          <a:effectLst>
            <a:outerShdw sx="100000" sy="100000" kx="0" ky="0" algn="bl" rotWithShape="0" blurRad="88900" dist="38100" dir="8100000">
              <a:srgbClr val="000000">
                <a:alpha val="16000"/>
              </a:srgbClr>
            </a:outerShdw>
          </a:effectLst>
        </p:spPr>
      </p:sp>
      <p:sp>
        <p:nvSpPr>
          <p:cNvPr id="26" name="Shape 24"/>
          <p:cNvSpPr/>
          <p:nvPr/>
        </p:nvSpPr>
        <p:spPr>
          <a:xfrm>
            <a:off x="713232" y="5376672"/>
            <a:ext cx="457200" cy="457200"/>
          </a:xfrm>
          <a:prstGeom prst="ellipse">
            <a:avLst/>
          </a:prstGeom>
          <a:solidFill>
            <a:srgbClr val="9A2A2A"/>
          </a:solidFill>
          <a:ln/>
        </p:spPr>
      </p:sp>
      <p:sp>
        <p:nvSpPr>
          <p:cNvPr id="27" name="Text 25"/>
          <p:cNvSpPr/>
          <p:nvPr/>
        </p:nvSpPr>
        <p:spPr>
          <a:xfrm>
            <a:off x="713232" y="537667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28" name="Text 26"/>
          <p:cNvSpPr/>
          <p:nvPr/>
        </p:nvSpPr>
        <p:spPr>
          <a:xfrm>
            <a:off x="1371600" y="5321808"/>
            <a:ext cx="3291840" cy="566928"/>
          </a:xfrm>
          <a:prstGeom prst="rect">
            <a:avLst/>
          </a:prstGeom>
          <a:noFill/>
          <a:ln/>
        </p:spPr>
        <p:txBody>
          <a:bodyPr wrap="square" lIns="0" tIns="0" rIns="0" bIns="0" rtlCol="0" anchor="ctr"/>
          <a:lstStyle/>
          <a:p>
            <a:pPr indent="0" marL="0">
              <a:buNone/>
            </a:pPr>
            <a:r>
              <a:rPr lang="en-US" sz="1500" b="1" dirty="0">
                <a:solidFill>
                  <a:srgbClr val="9A2A2A"/>
                </a:solidFill>
                <a:latin typeface="Georgia" pitchFamily="34" charset="0"/>
                <a:ea typeface="Georgia" pitchFamily="34" charset="-122"/>
                <a:cs typeface="Georgia" pitchFamily="34" charset="-120"/>
              </a:rPr>
              <a:t>Cabeceras de seguridad HTTP</a:t>
            </a:r>
            <a:endParaRPr lang="en-US" sz="1500" dirty="0"/>
          </a:p>
        </p:txBody>
      </p:sp>
      <p:sp>
        <p:nvSpPr>
          <p:cNvPr id="29" name="Text 27"/>
          <p:cNvSpPr/>
          <p:nvPr/>
        </p:nvSpPr>
        <p:spPr>
          <a:xfrm>
            <a:off x="4754880" y="5276088"/>
            <a:ext cx="6675120" cy="65836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HSTS (fuerza HTTPS), CSP (restringe orígenes), X-Frame-Options (anti-clickjacking).</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SEMANA 9 · CIERRE DEL CORTE</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Reglas de seguridad y estructura de la EP1</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Shape 3"/>
          <p:cNvSpPr/>
          <p:nvPr/>
        </p:nvSpPr>
        <p:spPr>
          <a:xfrm>
            <a:off x="548640" y="1554480"/>
            <a:ext cx="5852160" cy="4480560"/>
          </a:xfrm>
          <a:prstGeom prst="roundRect">
            <a:avLst>
              <a:gd name="adj" fmla="val 1633"/>
            </a:avLst>
          </a:prstGeom>
          <a:solidFill>
            <a:srgbClr val="E5F0EA"/>
          </a:solidFill>
          <a:ln/>
          <a:effectLst>
            <a:outerShdw sx="100000" sy="100000" kx="0" ky="0" algn="bl" rotWithShape="0" blurRad="88900" dist="38100" dir="8100000">
              <a:srgbClr val="000000">
                <a:alpha val="16000"/>
              </a:srgbClr>
            </a:outerShdw>
          </a:effectLst>
        </p:spPr>
      </p:sp>
      <p:sp>
        <p:nvSpPr>
          <p:cNvPr id="6" name="Text 4"/>
          <p:cNvSpPr/>
          <p:nvPr/>
        </p:nvSpPr>
        <p:spPr>
          <a:xfrm>
            <a:off x="777240" y="1783080"/>
            <a:ext cx="5486400" cy="365760"/>
          </a:xfrm>
          <a:prstGeom prst="rect">
            <a:avLst/>
          </a:prstGeom>
          <a:noFill/>
          <a:ln/>
        </p:spPr>
        <p:txBody>
          <a:bodyPr wrap="square" lIns="0" tIns="0" rIns="0" bIns="0" rtlCol="0" anchor="ctr"/>
          <a:lstStyle/>
          <a:p>
            <a:pPr indent="0" marL="0">
              <a:buNone/>
            </a:pPr>
            <a:r>
              <a:rPr lang="en-US" sz="1500" b="1" dirty="0">
                <a:solidFill>
                  <a:srgbClr val="006633"/>
                </a:solidFill>
                <a:latin typeface="Georgia" pitchFamily="34" charset="0"/>
                <a:ea typeface="Georgia" pitchFamily="34" charset="-122"/>
                <a:cs typeface="Georgia" pitchFamily="34" charset="-120"/>
              </a:rPr>
              <a:t>Reglas de seguridad imprescindibles</a:t>
            </a:r>
            <a:endParaRPr lang="en-US" sz="1500" dirty="0"/>
          </a:p>
        </p:txBody>
      </p:sp>
      <p:sp>
        <p:nvSpPr>
          <p:cNvPr id="7" name="Text 5"/>
          <p:cNvSpPr/>
          <p:nvPr/>
        </p:nvSpPr>
        <p:spPr>
          <a:xfrm>
            <a:off x="868680" y="2286000"/>
            <a:ext cx="5394960" cy="36576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HTTPS obligatorio (TLS 1.2 mínimo, 1.3 ideal).</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Nunca confiar en datos del cliente: revalidar siempre.</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Prepared statements en TODA consulta SQL.</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Escapar TODA salida (htmlspecialchars o equivalente).</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BCrypt/Argon2 para contraseñas; jamás MD5/SHA1.</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Cookies con HttpOnly, Secure y SameSite.</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Sin secretos en el repositorio (.env, vault).</a:t>
            </a:r>
            <a:endParaRPr lang="en-US" sz="1250" dirty="0"/>
          </a:p>
          <a:p>
            <a:pPr marL="177800" indent="-1778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Mantener dependencias actualizadas (Dependabot, Snyk).</a:t>
            </a:r>
            <a:endParaRPr lang="en-US" sz="1250" dirty="0"/>
          </a:p>
        </p:txBody>
      </p:sp>
      <p:sp>
        <p:nvSpPr>
          <p:cNvPr id="8" name="Shape 6"/>
          <p:cNvSpPr/>
          <p:nvPr/>
        </p:nvSpPr>
        <p:spPr>
          <a:xfrm>
            <a:off x="6629400" y="1554480"/>
            <a:ext cx="4983480" cy="4480560"/>
          </a:xfrm>
          <a:prstGeom prst="roundRect">
            <a:avLst>
              <a:gd name="adj" fmla="val 1633"/>
            </a:avLst>
          </a:prstGeom>
          <a:solidFill>
            <a:srgbClr val="FFFFFF"/>
          </a:solidFill>
          <a:ln/>
          <a:effectLst>
            <a:outerShdw sx="100000" sy="100000" kx="0" ky="0" algn="bl" rotWithShape="0" blurRad="88900" dist="38100" dir="8100000">
              <a:srgbClr val="000000">
                <a:alpha val="16000"/>
              </a:srgbClr>
            </a:outerShdw>
          </a:effectLst>
        </p:spPr>
      </p:sp>
      <p:sp>
        <p:nvSpPr>
          <p:cNvPr id="9" name="Text 7"/>
          <p:cNvSpPr/>
          <p:nvPr/>
        </p:nvSpPr>
        <p:spPr>
          <a:xfrm>
            <a:off x="6858000" y="1783080"/>
            <a:ext cx="4572000" cy="365760"/>
          </a:xfrm>
          <a:prstGeom prst="rect">
            <a:avLst/>
          </a:prstGeom>
          <a:noFill/>
          <a:ln/>
        </p:spPr>
        <p:txBody>
          <a:bodyPr wrap="square" lIns="0" tIns="0" rIns="0" bIns="0" rtlCol="0" anchor="ctr"/>
          <a:lstStyle/>
          <a:p>
            <a:pPr indent="0" marL="0">
              <a:buNone/>
            </a:pPr>
            <a:r>
              <a:rPr lang="en-US" sz="1500" b="1" dirty="0">
                <a:solidFill>
                  <a:srgbClr val="9A2A2A"/>
                </a:solidFill>
                <a:latin typeface="Georgia" pitchFamily="34" charset="0"/>
                <a:ea typeface="Georgia" pitchFamily="34" charset="-122"/>
                <a:cs typeface="Georgia" pitchFamily="34" charset="-120"/>
              </a:rPr>
              <a:t>Evaluación Parcial Primer Corte (EP1)</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0" y="2286000"/>
          <a:ext cx="4526280" cy="914400"/>
        </p:xfrm>
        <a:graphic>
          <a:graphicData uri="http://schemas.openxmlformats.org/drawingml/2006/table">
            <a:tbl>
              <a:tblPr/>
              <a:tblGrid>
                <a:gridCol w="640080"/>
                <a:gridCol w="3017520"/>
                <a:gridCol w="8686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Parte</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9A2A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Tipo</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9A2A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Pts</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9A2A2A"/>
                    </a:solidFill>
                  </a:tcPr>
                </a:tc>
              </a:tr>
              <a:tr h="420624">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Selección múltiple + V/F</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Respuesta corta (3 líneas)</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Análisis de código (errores)</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Ejercicio integrador</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933"/>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E2C9C9"/>
                      </a:solidFill>
                      <a:prstDash val="solid"/>
                      <a:round/>
                      <a:headEnd type="none" w="med" len="med"/>
                      <a:tailEnd type="none" w="med" len="med"/>
                    </a:lnL>
                    <a:lnR w="6350" cap="flat" cmpd="sng" algn="ctr">
                      <a:solidFill>
                        <a:srgbClr val="E2C9C9"/>
                      </a:solidFill>
                      <a:prstDash val="solid"/>
                      <a:round/>
                      <a:headEnd type="none" w="med" len="med"/>
                      <a:tailEnd type="none" w="med" len="med"/>
                    </a:lnR>
                    <a:lnT w="6350" cap="flat" cmpd="sng" algn="ctr">
                      <a:solidFill>
                        <a:srgbClr val="E2C9C9"/>
                      </a:solidFill>
                      <a:prstDash val="solid"/>
                      <a:round/>
                      <a:headEnd type="none" w="med" len="med"/>
                      <a:tailEnd type="none" w="med" len="med"/>
                    </a:lnT>
                    <a:lnB w="6350" cap="flat" cmpd="sng" algn="ctr">
                      <a:solidFill>
                        <a:srgbClr val="E2C9C9"/>
                      </a:solidFill>
                      <a:prstDash val="solid"/>
                      <a:round/>
                      <a:headEnd type="none" w="med" len="med"/>
                      <a:tailEnd type="none" w="med" len="med"/>
                    </a:lnB>
                    <a:solidFill>
                      <a:srgbClr val="FFFFFF"/>
                    </a:solidFill>
                  </a:tcPr>
                </a:tc>
              </a:tr>
            </a:tbl>
          </a:graphicData>
        </a:graphic>
      </p:graphicFrame>
      <p:sp>
        <p:nvSpPr>
          <p:cNvPr id="11" name="Text 8"/>
          <p:cNvSpPr/>
          <p:nvPr/>
        </p:nvSpPr>
        <p:spPr>
          <a:xfrm>
            <a:off x="6858000" y="4663440"/>
            <a:ext cx="457200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Temas garantizados:</a:t>
            </a:r>
            <a:endParaRPr lang="en-US" sz="1200" dirty="0"/>
          </a:p>
        </p:txBody>
      </p:sp>
      <p:sp>
        <p:nvSpPr>
          <p:cNvPr id="12" name="Text 9"/>
          <p:cNvSpPr/>
          <p:nvPr/>
        </p:nvSpPr>
        <p:spPr>
          <a:xfrm>
            <a:off x="6858000" y="4937760"/>
            <a:ext cx="4526280" cy="10058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HTML5/WCAG · CSS3/Flexbox/Grid · JS/DOM/fetch · PHP 8 con PDO · Spring Boot 3 + JPA · ASP.NET Core 8 · OWASP (A03 y A07).</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UNIDAD II · GLOSARIO</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Glosario de siglas y acrónimos (1/2)</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Text 3"/>
          <p:cNvSpPr/>
          <p:nvPr/>
        </p:nvSpPr>
        <p:spPr>
          <a:xfrm>
            <a:off x="548640" y="1600200"/>
            <a:ext cx="5394960" cy="4663440"/>
          </a:xfrm>
          <a:prstGeom prst="rect">
            <a:avLst/>
          </a:prstGeom>
          <a:noFill/>
          <a:ln/>
        </p:spPr>
        <p:txBody>
          <a:bodyPr wrap="square" lIns="0" tIns="0" rIns="0" bIns="0" rtlCol="0" anchor="t"/>
          <a:lstStyle/>
          <a:p>
            <a:pPr indent="0" marL="0">
              <a:buNone/>
            </a:pPr>
            <a:r>
              <a:rPr lang="en-US" sz="1250" b="1" dirty="0">
                <a:solidFill>
                  <a:srgbClr val="006633"/>
                </a:solidFill>
                <a:latin typeface="Consolas" pitchFamily="34" charset="0"/>
                <a:ea typeface="Consolas" pitchFamily="34" charset="-122"/>
                <a:cs typeface="Consolas" pitchFamily="34" charset="-120"/>
              </a:rPr>
              <a:t>HTTP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HyperText Transfer Protocol: protocolo de la web.</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HTTPS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HTTP Secure: HTTP cifrado con TLS.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TLS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Transport Layer Security: cifra el canal.</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CGI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Common Gateway Interface: ejecutar programas en el servidor.</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PHP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PHP: Hypertext Preprocessor (acrónimo recursivo).</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PERL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Practical Extraction and Report Language.</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PDO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PHP Data Objects: capa de acceso a datos.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SQL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Structured Query Language: consulta a bases de datos.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CRUD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Create, Read, Update, Delete.</a:t>
            </a:r>
            <a:endParaRPr lang="en-US" sz="1250" dirty="0"/>
          </a:p>
        </p:txBody>
      </p:sp>
      <p:sp>
        <p:nvSpPr>
          <p:cNvPr id="6" name="Text 4"/>
          <p:cNvSpPr/>
          <p:nvPr/>
        </p:nvSpPr>
        <p:spPr>
          <a:xfrm>
            <a:off x="6217920" y="1600200"/>
            <a:ext cx="5394960" cy="4663440"/>
          </a:xfrm>
          <a:prstGeom prst="rect">
            <a:avLst/>
          </a:prstGeom>
          <a:noFill/>
          <a:ln/>
        </p:spPr>
        <p:txBody>
          <a:bodyPr wrap="square" lIns="0" tIns="0" rIns="0" bIns="0" rtlCol="0" anchor="t"/>
          <a:lstStyle/>
          <a:p>
            <a:pPr indent="0" marL="0">
              <a:buNone/>
            </a:pPr>
            <a:r>
              <a:rPr lang="en-US" sz="1250" b="1" dirty="0">
                <a:solidFill>
                  <a:srgbClr val="006633"/>
                </a:solidFill>
                <a:latin typeface="Consolas" pitchFamily="34" charset="0"/>
                <a:ea typeface="Consolas" pitchFamily="34" charset="-122"/>
                <a:cs typeface="Consolas" pitchFamily="34" charset="-120"/>
              </a:rPr>
              <a:t>REST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Representational State Transfer: estilo de API.</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JSON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JavaScript Object Notation: formato de datos.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API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Application Programming Interface.</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JSP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JavaServer Pages: plantillas con Java embebido.</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JPA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Jakarta Persistence API: ORM estándar de Java.</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ORM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Object-Relational Mapping: objetos ↔ tablas.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DTO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Data Transfer Object: objeto de transferencia.</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DI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Dependency Injection: inyección de dependencias.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LTS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Long-Term Support: soporte a largo plazo.</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54864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UNIDAD II · GLOSARIO</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700" b="1" dirty="0">
                <a:solidFill>
                  <a:srgbClr val="006633"/>
                </a:solidFill>
                <a:latin typeface="Georgia" pitchFamily="34" charset="0"/>
                <a:ea typeface="Georgia" pitchFamily="34" charset="-122"/>
                <a:cs typeface="Georgia" pitchFamily="34" charset="-120"/>
              </a:rPr>
              <a:t>Glosario de siglas y acrónimos (2/2)</a:t>
            </a:r>
            <a:endParaRPr lang="en-US" sz="2700" dirty="0"/>
          </a:p>
        </p:txBody>
      </p:sp>
      <p:sp>
        <p:nvSpPr>
          <p:cNvPr id="4" name="Text 2"/>
          <p:cNvSpPr/>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UTEQ · Aplicaciones Web · Unidad II — Servidor</a:t>
            </a:r>
            <a:endParaRPr lang="en-US" sz="900" dirty="0"/>
          </a:p>
        </p:txBody>
      </p:sp>
      <p:sp>
        <p:nvSpPr>
          <p:cNvPr id="5" name="Text 3"/>
          <p:cNvSpPr/>
          <p:nvPr/>
        </p:nvSpPr>
        <p:spPr>
          <a:xfrm>
            <a:off x="548640" y="1600200"/>
            <a:ext cx="5394960" cy="4663440"/>
          </a:xfrm>
          <a:prstGeom prst="rect">
            <a:avLst/>
          </a:prstGeom>
          <a:noFill/>
          <a:ln/>
        </p:spPr>
        <p:txBody>
          <a:bodyPr wrap="square" lIns="0" tIns="0" rIns="0" bIns="0" rtlCol="0" anchor="t"/>
          <a:lstStyle/>
          <a:p>
            <a:pPr indent="0" marL="0">
              <a:buNone/>
            </a:pPr>
            <a:r>
              <a:rPr lang="en-US" sz="1250" b="1" dirty="0">
                <a:solidFill>
                  <a:srgbClr val="006633"/>
                </a:solidFill>
                <a:latin typeface="Consolas" pitchFamily="34" charset="0"/>
                <a:ea typeface="Consolas" pitchFamily="34" charset="-122"/>
                <a:cs typeface="Consolas" pitchFamily="34" charset="-120"/>
              </a:rPr>
              <a:t>EF Core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Entity Framework Core: ORM de .NET.</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CLI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Command-Line Interface: línea de comandos.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NuGet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Gestor de paquetes de .NET.</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MVC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Model-View-Controller: Modelo-Vista-Controlador.</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SPA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Single Page Application.</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DOM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Document Object Model: árbol del documento.</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UX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User Experience: experiencia de usuario.</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UTF-8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Codificación de caracteres Unicode de la web.</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BOM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Byte Order Mark: marca invisible que rompe la codificación.</a:t>
            </a:r>
            <a:endParaRPr lang="en-US" sz="1250" dirty="0"/>
          </a:p>
        </p:txBody>
      </p:sp>
      <p:sp>
        <p:nvSpPr>
          <p:cNvPr id="6" name="Text 4"/>
          <p:cNvSpPr/>
          <p:nvPr/>
        </p:nvSpPr>
        <p:spPr>
          <a:xfrm>
            <a:off x="6217920" y="1600200"/>
            <a:ext cx="5394960" cy="4663440"/>
          </a:xfrm>
          <a:prstGeom prst="rect">
            <a:avLst/>
          </a:prstGeom>
          <a:noFill/>
          <a:ln/>
        </p:spPr>
        <p:txBody>
          <a:bodyPr wrap="square" lIns="0" tIns="0" rIns="0" bIns="0" rtlCol="0" anchor="t"/>
          <a:lstStyle/>
          <a:p>
            <a:pPr indent="0" marL="0">
              <a:buNone/>
            </a:pPr>
            <a:r>
              <a:rPr lang="en-US" sz="1250" b="1" dirty="0">
                <a:solidFill>
                  <a:srgbClr val="006633"/>
                </a:solidFill>
                <a:latin typeface="Consolas" pitchFamily="34" charset="0"/>
                <a:ea typeface="Consolas" pitchFamily="34" charset="-122"/>
                <a:cs typeface="Consolas" pitchFamily="34" charset="-120"/>
              </a:rPr>
              <a:t>OWASP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Open Web Application Security Project.</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XSS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Cross-Site Scripting: inyección de scripts.</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CSRF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Cross-Site Request Forgery.</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SSRF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Server-Side Request Forgery.</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MFA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Multi-Factor Authentication.</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HSTS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HTTP Strict Transport Security.</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CSP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Content Security Policy.</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JWT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JSON Web Token (gestión de sesión, semana 10).</a:t>
            </a:r>
            <a:endParaRPr lang="en-US" sz="1250" dirty="0"/>
          </a:p>
          <a:p>
            <a:pPr indent="0" marL="0">
              <a:buNone/>
            </a:pPr>
            <a:r>
              <a:rPr lang="en-US" sz="1250" b="1" dirty="0">
                <a:solidFill>
                  <a:srgbClr val="006633"/>
                </a:solidFill>
                <a:latin typeface="Consolas" pitchFamily="34" charset="0"/>
                <a:ea typeface="Consolas" pitchFamily="34" charset="-122"/>
                <a:cs typeface="Consolas" pitchFamily="34" charset="-120"/>
              </a:rPr>
              <a:t>PFC / EP1  </a:t>
            </a:r>
            <a:pPr indent="0" marL="0">
              <a:spcAft>
                <a:spcPts val="900"/>
              </a:spcAft>
              <a:buNone/>
            </a:pPr>
            <a:r>
              <a:rPr lang="en-US" sz="1250" dirty="0">
                <a:solidFill>
                  <a:srgbClr val="1F2933"/>
                </a:solidFill>
                <a:latin typeface="Calibri" pitchFamily="34" charset="0"/>
                <a:ea typeface="Calibri" pitchFamily="34" charset="-122"/>
                <a:cs typeface="Calibri" pitchFamily="34" charset="-120"/>
              </a:rPr>
              <a:t>— Proyecto Fin de Curso / Evaluación Parcial Primer Corte.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3D24"/>
        </a:solidFill>
      </p:bgPr>
    </p:bg>
    <p:spTree>
      <p:nvGrpSpPr>
        <p:cNvPr id="1" name=""/>
        <p:cNvGrpSpPr/>
        <p:nvPr/>
      </p:nvGrpSpPr>
      <p:grpSpPr>
        <a:xfrm>
          <a:off x="0" y="0"/>
          <a:ext cx="0" cy="0"/>
          <a:chOff x="0" y="0"/>
          <a:chExt cx="0" cy="0"/>
        </a:xfrm>
      </p:grpSpPr>
      <p:sp>
        <p:nvSpPr>
          <p:cNvPr id="2" name="Shape 0"/>
          <p:cNvSpPr/>
          <p:nvPr/>
        </p:nvSpPr>
        <p:spPr>
          <a:xfrm>
            <a:off x="0" y="6656832"/>
            <a:ext cx="12161520" cy="201168"/>
          </a:xfrm>
          <a:prstGeom prst="rect">
            <a:avLst/>
          </a:prstGeom>
          <a:solidFill>
            <a:srgbClr val="C9A227"/>
          </a:solidFill>
          <a:ln/>
        </p:spPr>
      </p:sp>
      <p:sp>
        <p:nvSpPr>
          <p:cNvPr id="3" name="Text 1"/>
          <p:cNvSpPr/>
          <p:nvPr/>
        </p:nvSpPr>
        <p:spPr>
          <a:xfrm>
            <a:off x="822960" y="82296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Síntesis de la Unidad II</a:t>
            </a:r>
            <a:endParaRPr lang="en-US" sz="3400" dirty="0"/>
          </a:p>
        </p:txBody>
      </p:sp>
      <p:sp>
        <p:nvSpPr>
          <p:cNvPr id="4" name="Shape 2"/>
          <p:cNvSpPr/>
          <p:nvPr/>
        </p:nvSpPr>
        <p:spPr>
          <a:xfrm>
            <a:off x="822960" y="1828800"/>
            <a:ext cx="10515600" cy="3383280"/>
          </a:xfrm>
          <a:prstGeom prst="roundRect">
            <a:avLst>
              <a:gd name="adj" fmla="val 2162"/>
            </a:avLst>
          </a:prstGeom>
          <a:solidFill>
            <a:srgbClr val="0E4A2E"/>
          </a:solidFill>
          <a:ln/>
          <a:effectLst>
            <a:outerShdw sx="100000" sy="100000" kx="0" ky="0" algn="bl" rotWithShape="0" blurRad="88900" dist="38100" dir="8100000">
              <a:srgbClr val="000000">
                <a:alpha val="16000"/>
              </a:srgbClr>
            </a:outerShdw>
          </a:effectLst>
        </p:spPr>
      </p:sp>
      <p:sp>
        <p:nvSpPr>
          <p:cNvPr id="5" name="Text 3"/>
          <p:cNvSpPr/>
          <p:nvPr/>
        </p:nvSpPr>
        <p:spPr>
          <a:xfrm>
            <a:off x="1097280" y="2103120"/>
            <a:ext cx="9966960" cy="2834640"/>
          </a:xfrm>
          <a:prstGeom prst="rect">
            <a:avLst/>
          </a:prstGeom>
          <a:noFill/>
          <a:ln/>
        </p:spPr>
        <p:txBody>
          <a:bodyPr wrap="square" lIns="0" tIns="0" rIns="0" bIns="0" rtlCol="0" anchor="t"/>
          <a:lstStyle/>
          <a:p>
            <a:pPr indent="0" marL="0">
              <a:lnSpc>
                <a:spcPct val="110000"/>
              </a:lnSpc>
              <a:buNone/>
            </a:pPr>
            <a:r>
              <a:rPr lang="en-US" sz="1600" b="1" dirty="0">
                <a:solidFill>
                  <a:srgbClr val="C9A227"/>
                </a:solidFill>
                <a:latin typeface="Calibri" pitchFamily="34" charset="0"/>
                <a:ea typeface="Calibri" pitchFamily="34" charset="-122"/>
                <a:cs typeface="Calibri" pitchFamily="34" charset="-120"/>
              </a:rPr>
              <a:t>Cruzamos del cliente al servidor: </a:t>
            </a:r>
            <a:pPr indent="0" marL="0">
              <a:lnSpc>
                <a:spcPct val="110000"/>
              </a:lnSpc>
              <a:spcAft>
                <a:spcPts val="1000"/>
              </a:spcAft>
              <a:buNone/>
            </a:pPr>
            <a:r>
              <a:rPr lang="en-US" sz="1600" dirty="0">
                <a:solidFill>
                  <a:srgbClr val="FFFFFF"/>
                </a:solidFill>
                <a:latin typeface="Calibri" pitchFamily="34" charset="0"/>
                <a:ea typeface="Calibri" pitchFamily="34" charset="-122"/>
                <a:cs typeface="Calibri" pitchFamily="34" charset="-120"/>
              </a:rPr>
              <a:t>ahí viven la lógica de negocio, los datos y la seguridad.</a:t>
            </a:r>
            <a:endParaRPr lang="en-US" sz="1600" dirty="0"/>
          </a:p>
          <a:p>
            <a:pPr indent="0" marL="0">
              <a:lnSpc>
                <a:spcPct val="110000"/>
              </a:lnSpc>
              <a:buNone/>
            </a:pPr>
            <a:r>
              <a:rPr lang="en-US" sz="1600" b="1" dirty="0">
                <a:solidFill>
                  <a:srgbClr val="C9A227"/>
                </a:solidFill>
                <a:latin typeface="Calibri" pitchFamily="34" charset="0"/>
                <a:ea typeface="Calibri" pitchFamily="34" charset="-122"/>
                <a:cs typeface="Calibri" pitchFamily="34" charset="-120"/>
              </a:rPr>
              <a:t>Un mismo patrón, cuatro tecnologías: </a:t>
            </a:r>
            <a:pPr indent="0" marL="0">
              <a:lnSpc>
                <a:spcPct val="110000"/>
              </a:lnSpc>
              <a:spcAft>
                <a:spcPts val="1000"/>
              </a:spcAft>
              <a:buNone/>
            </a:pPr>
            <a:r>
              <a:rPr lang="en-US" sz="1600" dirty="0">
                <a:solidFill>
                  <a:srgbClr val="FFFFFF"/>
                </a:solidFill>
                <a:latin typeface="Calibri" pitchFamily="34" charset="0"/>
                <a:ea typeface="Calibri" pitchFamily="34" charset="-122"/>
                <a:cs typeface="Calibri" pitchFamily="34" charset="-120"/>
              </a:rPr>
              <a:t>PERL/PHP, Spring Boot y ASP.NET Core resuelven request → proceso → response con distinta sintaxis.</a:t>
            </a:r>
            <a:endParaRPr lang="en-US" sz="1600" dirty="0"/>
          </a:p>
          <a:p>
            <a:pPr indent="0" marL="0">
              <a:lnSpc>
                <a:spcPct val="110000"/>
              </a:lnSpc>
              <a:buNone/>
            </a:pPr>
            <a:r>
              <a:rPr lang="en-US" sz="1600" b="1" dirty="0">
                <a:solidFill>
                  <a:srgbClr val="C9A227"/>
                </a:solidFill>
                <a:latin typeface="Calibri" pitchFamily="34" charset="0"/>
                <a:ea typeface="Calibri" pitchFamily="34" charset="-122"/>
                <a:cs typeface="Calibri" pitchFamily="34" charset="-120"/>
              </a:rPr>
              <a:t>Dos reglas de oro: </a:t>
            </a:r>
            <a:pPr indent="0" marL="0">
              <a:lnSpc>
                <a:spcPct val="110000"/>
              </a:lnSpc>
              <a:spcAft>
                <a:spcPts val="1000"/>
              </a:spcAft>
              <a:buNone/>
            </a:pPr>
            <a:r>
              <a:rPr lang="en-US" sz="1600" dirty="0">
                <a:solidFill>
                  <a:srgbClr val="FFFFFF"/>
                </a:solidFill>
                <a:latin typeface="Calibri" pitchFamily="34" charset="0"/>
                <a:ea typeface="Calibri" pitchFamily="34" charset="-122"/>
                <a:cs typeface="Calibri" pitchFamily="34" charset="-120"/>
              </a:rPr>
              <a:t>validar TODA entrada en el servidor y escapar/parametrizar TODA salida y consulta.</a:t>
            </a:r>
            <a:endParaRPr lang="en-US" sz="1600" dirty="0"/>
          </a:p>
          <a:p>
            <a:pPr indent="0" marL="0">
              <a:lnSpc>
                <a:spcPct val="110000"/>
              </a:lnSpc>
              <a:buNone/>
            </a:pPr>
            <a:r>
              <a:rPr lang="en-US" sz="1600" b="1" dirty="0">
                <a:solidFill>
                  <a:srgbClr val="C9A227"/>
                </a:solidFill>
                <a:latin typeface="Calibri" pitchFamily="34" charset="0"/>
                <a:ea typeface="Calibri" pitchFamily="34" charset="-122"/>
                <a:cs typeface="Calibri" pitchFamily="34" charset="-120"/>
              </a:rPr>
              <a:t>La seguridad es transversal: </a:t>
            </a:r>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OWASP Top 10 no se añade al final, se diseña desde la primera línea.</a:t>
            </a:r>
            <a:endParaRPr lang="en-US" sz="1600" dirty="0"/>
          </a:p>
        </p:txBody>
      </p:sp>
      <p:sp>
        <p:nvSpPr>
          <p:cNvPr id="6" name="Text 4"/>
          <p:cNvSpPr/>
          <p:nvPr/>
        </p:nvSpPr>
        <p:spPr>
          <a:xfrm>
            <a:off x="822960" y="5577840"/>
            <a:ext cx="10515600" cy="548640"/>
          </a:xfrm>
          <a:prstGeom prst="rect">
            <a:avLst/>
          </a:prstGeom>
          <a:noFill/>
          <a:ln/>
        </p:spPr>
        <p:txBody>
          <a:bodyPr wrap="square" lIns="0" tIns="0" rIns="0" bIns="0" rtlCol="0" anchor="ctr"/>
          <a:lstStyle/>
          <a:p>
            <a:pPr indent="0" marL="0">
              <a:buNone/>
            </a:pPr>
            <a:r>
              <a:rPr lang="en-US" sz="1500" i="1" dirty="0">
                <a:solidFill>
                  <a:srgbClr val="9FD3B5"/>
                </a:solidFill>
                <a:latin typeface="Calibri" pitchFamily="34" charset="0"/>
                <a:ea typeface="Calibri" pitchFamily="34" charset="-122"/>
                <a:cs typeface="Calibri" pitchFamily="34" charset="-120"/>
              </a:rPr>
              <a:t>Siguiente: Unidad III — Gestión de estado, acceso a datos y arquitectura (semanas 10–13).</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UTEQ — Carrera de Ingeniería de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II — Programación del lado del servidor</dc:title>
  <dc:subject>PptxGenJS Presentation</dc:subject>
  <dc:creator>Dr. Gleiston Guerrero Ulloa</dc:creator>
  <cp:lastModifiedBy>Dr. Gleiston Guerrero Ulloa</cp:lastModifiedBy>
  <cp:revision>1</cp:revision>
  <dcterms:created xsi:type="dcterms:W3CDTF">2026-06-03T20:21:14Z</dcterms:created>
  <dcterms:modified xsi:type="dcterms:W3CDTF">2026-06-03T20:21:14Z</dcterms:modified>
</cp:coreProperties>
</file>