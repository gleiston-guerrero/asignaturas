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del tutorial.
Guion: este deck reune en una sola guia TODO el camino para tener funcionando una aplicacion web en PERL, desde cero, y a partir de la seccion de codigo explica linea por linea cada instruccion, operador y funcion. Esta pensado para proyectarse mientras los estudiantes replican cada paso.
Siglas: UTEQ = Universidad Tecnica Estatal de Quevedo. IDE = Integrated Development Environment.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objetivo.
Guion: muestre primero el RESULTADO. La idea central de la Unidad II: el HTML no esta guardado, lo GENERA un programa del lado del servidor en cada peticion. Elegimos un mini servidor en PERL puro para que funcione sin instalar Apache.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Requisitos.
Guion: cuatro piezas. Strawberry Perl trae compilador y muchos modulos (incluido CGI). El plugin Perl (Camelcade) da soporte de Perl a IntelliJ. Siglas: IDE = entorno de desarrollo integrado.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de ruta.
Guion: pasos 1-4 = preparacion (una sola vez). Pasos 5-7 = ciclo de trabajo (escribir, ejecutar, probar). El paso 5 lo abriremos en detalle, explicando cada instruccion del programa.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1.
Guion: acepte la ruta por defecto C:\Strawberry. Verifique con 'perl -v' en la terminal antes de tocar el IDE. Strawberry trae gcc y muchos modulos preinstalados.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2.
Guion: sin el plugin, IntelliJ no entiende Perl. En la red UTEQ con inspeccion SSL el Marketplace puede fallar; alternativa: instalar el .zip 'desde disco'. Siglas: Marketplace = tienda de plugins del 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3.
Guion: el campo del interprete vacio es donde mas se atascan. La ruta es C:\Strawberry\perl\bin\perl.exe. Evitar wperl.exe (sin consola) y la carpeta c\bin (gcc). Al quedar la ruta, se habilita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4.
Guion: el aviso de certificado es el firewall institucional (Hillstone) inspeccionando HTTPS; en la red UTEQ se pulsa 'Save as Trusted'. La estructura: 'lib' para modulos .pm, 't' para pruebas; el script va en la raiz.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5 (mapa).
Guion: antes del detalle, muestre el programa dividido en 8 bloques (A-H). Los bloques A-F forman el cuerpo principal del servidor; G y H son funciones auxiliares. En las siguientes diapositivas explicaremos cada instruccion, operador y funcion de cada bloque. La eleccion de IO::Socket::INET (modulo del nucleo) permite levantar el servidor sin Apache.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A.
Guion: la cabecera de TODO programa Perl serio. 'use strict' y 'use warnings' son disciplina obligatoria. 'use IO::Socket::INET' carga el modulo de red. 'my $puerto = 8080' declara la variable escalar (sigilo $) que guarda el puerto. Recuerde: cada instruccion termina en ';'.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B.
Guion: aqui se abre el servidor. El '-&gt;' llama al constructor 'new'. Las opciones van con '=&gt;' (coma gorda). Si el puerto no se puede abrir, 'or die' aborta mostrando '$!' (el error del sistema). Note que '\n' es un salto de linea y solo se interpreta dentro de comillas dobles.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C.
Guion: el corazon del servidor. 'while' con 'accept' atiende una visita tras otra; 'accept' BLOQUEA hasta que alguien se conecta. '&lt;$cliente&gt;' lee la primera linea HTTP. 'unless defined' da un valor seguro si no llego nada. Distinga comillas simples (literal) de dobles (interpolan).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D.
Guion: aqui viven las DOS REGLAS DE ORO. Primero se lee 'nombre' de la URL con una expresion regular: '=~' enlaza el texto con el patron 'm{...}'; los parentesis capturan el valor en '$1'. Luego se ESCAPA con escape_html antes de mostrarlo (defensa anti-XSS). El cliente nunca es de fiar.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E.
Guion: el heredoc es la forma comoda de escribir un bloque largo de texto. Como usa comillas dobles, '$nombre' y '$puerto' se sustituyen por su valor. Punto clave (gotcha): las '@' literales como '\@media' o el correo deben escaparse con barra invertida, o Perl intentaria interpretarlas como arreglos. Aqui es buena ocasion para distinguir lo que se ejecuta en el servidor de lo que viaja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F.
Guion: la respuesta HTTP tiene un orden estricto: linea de estado, cabeceras, una LINEA EN BLANCO y el cuerpo. 'print $cliente' (con el filehandle) escribe en el socket hacia el navegador, no en la consola. 'length' calcula el tamano para Content-Length. '\r\n' es el fin de linea del protocolo. Al final, 'close' libera la conexion.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G.
Guion: las URLs codifican caracteres especiales (el espacio como '+', y otros como %XX). Esta funcion los revierte: 'tr' cambia '+' por espacio; la sustitucion con modificadores 'g' y 'e' detecta cada %XX, y 'chr(hex(...))' lo convierte al caracter real. '@_' son los argumentos; 'return' entrega el texto limpio.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Bloque H.
Guion: esta es la defensa contra XSS. Si el usuario escribe '&lt;script&gt;', estas sustituciones lo convierten en '&amp;lt;script&amp;gt;', texto inofensivo que el navegador muestra pero no ejecuta. El orden importa: el '&amp;' se escapa primero. El modificador 'g' asegura que se reemplacen TODAS las apariciones. Siglas: XSS = Cross-Site Scripting.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Referencia rapida.
Guion: esta tarjeta resume, para repaso, todos los simbolos, operadores y funciones que aparecieron en el programa. Sugiera a los estudiantes fotografiarla o usarla como chuleta al programar. Ya se explico cada elemento en su contexto (bloques A-H); aqui se consolida.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6.
Guion: al ser un servidor, el programa NO termina: se queda escuchando. Eso es lo correcto, no esta colgado. Se detiene con Stop. Tip: Ctrl+clic sobre la URL en la consola la abre en el navegador.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7.
Guion: el momento de exito. Muestre el saludo por defecto, luego escriba un nombre y vea la pagina personalizarse. Pruebe escribir &lt;script&gt; como nombre para demostrar el escape (anti-XSS) en accion.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Sintesis conceptual.
Guion: aunque sea un 'Hola Mundo', deja dos aprendizajes para toda la carrera: (1) validar la entrada y escapar la salida (base de la seguridad web, se repite en PHP, Java y .NET); (2) usar HTML5 semantico y moderno. Siglas: XSS = Cross-Site Scripting; SEO = Search Engine Optimization; ARIA = Accessible Rich Internet Applications.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Solucion de problemas.
Guion: anticipa los tropiezos reales. CGI.pm solo afecta si usan 'use CGI'. El 'no hace nada' es el servidor escuchando. Puerto ocupado: Stop o cambiar el puerto. Interprete no reconocido: Paso 3. Certificado: Paso 4 (red UTEQ). Siglas: CGI = Common Gateway Interface; SSL = Secure Sockets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
Guion: recapitule los cuatro logros. Lo importante: el estudiante no solo copio el codigo, ENTENDIO cada instruccion, operador y funcion. El patron (peticion -&gt; proceso -&gt; respuesta, con validacion y escape) es universal y reaparece en PHP, Java y .NET.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WEB · UNIDAD II · SEMANA 5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construir tu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aplicación web en PERL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FD3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Guía paso a paso: de la instalación al navegador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 Perl · IntelliJ IDEA · HTML5 semántico · código explicado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Gleiston Cicerón Guerrero Ulloa, Ph.D. · UTEQ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vamos a lograr?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Una aplicación web servida por PERL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37744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que saluda con «¡Hola Mundo!» y el nombre de la persona.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HTML lo genera un programa PERL en el servidor; no es un archivo estático.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usuario escribe su nombre en un formulario y la página responde.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sin instalar Apache: usa un mini servidor en PERL puro.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ejecuta y se prueba desde IntelliJ IDEA con un clic.</a:t>
            </a:r>
            <a:endParaRPr lang="en-US" sz="1350" dirty="0"/>
          </a:p>
        </p:txBody>
      </p:sp>
      <p:pic>
        <p:nvPicPr>
          <p:cNvPr id="8" name="Image 0" descr="/home/claude/unidad2/hola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4191" y="1920240"/>
            <a:ext cx="5190978" cy="329184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126480" y="5440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final en el navegador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Herramientas que necesitas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45920"/>
            <a:ext cx="2697480" cy="164592"/>
          </a:xfrm>
          <a:prstGeom prst="rect">
            <a:avLst/>
          </a:prstGeom>
          <a:solidFill>
            <a:srgbClr val="006633"/>
          </a:solidFill>
          <a:ln/>
        </p:spPr>
      </p:sp>
      <p:sp>
        <p:nvSpPr>
          <p:cNvPr id="7" name="Shape 5"/>
          <p:cNvSpPr/>
          <p:nvPr/>
        </p:nvSpPr>
        <p:spPr>
          <a:xfrm>
            <a:off x="1531620" y="2103120"/>
            <a:ext cx="731520" cy="73152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8" name="Text 6"/>
          <p:cNvSpPr/>
          <p:nvPr/>
        </p:nvSpPr>
        <p:spPr>
          <a:xfrm>
            <a:off x="153162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Strawberry Perl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intérprete de Perl para Windows (versión 5.42). Incluye compilador y módulos.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364992" y="164592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64992" y="1645920"/>
            <a:ext cx="2697480" cy="16459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7972" y="210312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7972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02152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IntelliJ IDEA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47872" y="3657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entorno de desarrollo (IDE) donde escribiremos y ejecutaremos el programa.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81344" y="164592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645920"/>
            <a:ext cx="2697480" cy="164592"/>
          </a:xfrm>
          <a:prstGeom prst="rect">
            <a:avLst/>
          </a:prstGeom>
          <a:solidFill>
            <a:srgbClr val="0E7A52"/>
          </a:solidFill>
          <a:ln/>
        </p:spPr>
      </p:sp>
      <p:sp>
        <p:nvSpPr>
          <p:cNvPr id="19" name="Shape 17"/>
          <p:cNvSpPr/>
          <p:nvPr/>
        </p:nvSpPr>
        <p:spPr>
          <a:xfrm>
            <a:off x="7164324" y="2103120"/>
            <a:ext cx="731520" cy="731520"/>
          </a:xfrm>
          <a:prstGeom prst="ellipse">
            <a:avLst/>
          </a:prstGeom>
          <a:solidFill>
            <a:srgbClr val="0E7A52"/>
          </a:solidFill>
          <a:ln/>
        </p:spPr>
      </p:sp>
      <p:sp>
        <p:nvSpPr>
          <p:cNvPr id="20" name="Text 18"/>
          <p:cNvSpPr/>
          <p:nvPr/>
        </p:nvSpPr>
        <p:spPr>
          <a:xfrm>
            <a:off x="7164324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18504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Plugin Perl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64224" y="3657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extensión «Perl» (Camelcade) que da soporte de Perl a IntelliJ.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997696" y="1645920"/>
            <a:ext cx="2697480" cy="411480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97696" y="1645920"/>
            <a:ext cx="2697480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Shape 23"/>
          <p:cNvSpPr/>
          <p:nvPr/>
        </p:nvSpPr>
        <p:spPr>
          <a:xfrm>
            <a:off x="9980676" y="210312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6" name="Text 24"/>
          <p:cNvSpPr/>
          <p:nvPr/>
        </p:nvSpPr>
        <p:spPr>
          <a:xfrm>
            <a:off x="9980676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9134856" y="301752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Navegador web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180576" y="3657600"/>
            <a:ext cx="2331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 o Firefox para abrir y probar la aplicación.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7 pasos del proceso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65960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Strawberry Perl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1635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999232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281635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el plugin Perl en IntelliJ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032504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84962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el intérprete (perl.exe)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882896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5065776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5065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63040" y="4882896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proyecto Perl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63640" y="1783080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46520" y="1965960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78040" y="178308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Escribir y entender el programa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63640" y="2816352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46520" y="2999232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2999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178040" y="2816352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con el botón Run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263640" y="3849624"/>
            <a:ext cx="5349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46520" y="4032504"/>
            <a:ext cx="548640" cy="548640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31" name="Text 29"/>
          <p:cNvSpPr/>
          <p:nvPr/>
        </p:nvSpPr>
        <p:spPr>
          <a:xfrm>
            <a:off x="6446520" y="40325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178040" y="3849624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probar en el navegador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Instalar Strawberry Perl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4572000" cy="4480560"/>
          </a:xfrm>
          <a:prstGeom prst="roundRect">
            <a:avLst>
              <a:gd name="adj" fmla="val 1633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4114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Strawberry Perl 5.42 desde strawberryperl.com.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el instalador y acepta la ruta por defecto: C:\Strawberry.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abre una terminal (cmd) y escribe: perl -v.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Debe mostrar v5.42.2: ¡Perl ya está instalado!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294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Verificación en la terminal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583680" y="2286000"/>
            <a:ext cx="4846320" cy="137160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729984" y="2395728"/>
            <a:ext cx="4553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C:\&gt; perl -v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 is perl 5, version 42, ...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MSWin32-x64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9984" y="3346704"/>
            <a:ext cx="4553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 ves la versión, la instalación fue correcta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9400" y="40233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Strawberry Perl incluye el compilador y muchos módulos (entre ellos CGI), así que no tendrás que instalarlos por separado.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Instalar el plugin Perl en IntelliJ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IntelliJ IDEA y ve a Settings (Ctrl+Alt+S).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en la sección Plugins.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pestaña Marketplace, busca «Perl».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 el plugin Perl (Camelcade) y reinicia el IDE.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315200" y="1554480"/>
            <a:ext cx="4297680" cy="448056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543800" y="17830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la red bloquea el Marketplace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35240" y="2468880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 el plugin (.zip) desde plugins.jetbrains.com.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Plugins → ⚙ → Install Plugin from Disk.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.zip descargado y reinicia.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Configurar el intérprete: apunta a perl.exe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463040"/>
            <a:ext cx="4297680" cy="4572000"/>
          </a:xfrm>
          <a:prstGeom prst="roundRect">
            <a:avLst>
              <a:gd name="adj" fmla="val 1702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6916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archivo a buscar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perl.exe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por defecto: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C:\Strawberry\perl\bin\perl.exe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920240" y="338328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el engranaje ⚙ junto al campo y elige examinar.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 a esa carpeta y selecciona perl.exe.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uses wperl.exe ni la carpeta c\bin (ahí está gcc).</a:t>
            </a:r>
            <a:endParaRPr lang="en-US" sz="1250" dirty="0"/>
          </a:p>
        </p:txBody>
      </p:sp>
      <p:pic>
        <p:nvPicPr>
          <p:cNvPr id="11" name="Image 0" descr="/mnt/user-data/uploads/1780920660257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868" y="1691640"/>
            <a:ext cx="4733624" cy="338328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12" name="Text 9"/>
          <p:cNvSpPr/>
          <p:nvPr/>
        </p:nvSpPr>
        <p:spPr>
          <a:xfrm>
            <a:off x="6126480" y="5166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Diálogo «Perl5 Interpreter» en IntelliJ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el proyecto (y el aviso de certificado en la UTEQ)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463040"/>
            <a:ext cx="4754880" cy="4572000"/>
          </a:xfrm>
          <a:prstGeom prst="roundRect">
            <a:avLst>
              <a:gd name="adj" fmla="val 1600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el proyecto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Perl → selecciona el intérprete → Next → Finish.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crean las carpetas lib (módulos) y t (pruebas).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79476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2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 aparece «Untrusted Server's Certificate»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4389120"/>
            <a:ext cx="4297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firewall de la UTEQ inspeccionando el tráfico (normal en la red institucional).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red de la universidad: pulsa Save as Trusted para continuar.</a:t>
            </a:r>
            <a:endParaRPr lang="en-US" sz="1200" dirty="0"/>
          </a:p>
        </p:txBody>
      </p:sp>
      <p:pic>
        <p:nvPicPr>
          <p:cNvPr id="12" name="Image 0" descr="/mnt/user-data/uploads/1780923737724_im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1197" y="1463040"/>
            <a:ext cx="3954166" cy="452628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13" name="Text 10"/>
          <p:cNvSpPr/>
          <p:nvPr/>
        </p:nvSpPr>
        <p:spPr>
          <a:xfrm>
            <a:off x="6583680" y="6035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del firewall (Hillstone) de la UTEQ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Escribir el programa: anatomía de hola_web.pl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630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508760"/>
            <a:ext cx="4114800" cy="4572000"/>
          </a:xfrm>
          <a:prstGeom prst="roundRect">
            <a:avLst>
              <a:gd name="adj" fmla="val 1778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737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el archivo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1945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derecho en el proyecto → New → File.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Nómbralo hola_web.pl (en la raíz del proyecto).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828800" y="37033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veremos línea por línea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4160520"/>
            <a:ext cx="3657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siguientes diapositivas se explica CADA instrucción, operador y función del programa.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691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programa en 8 bloques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2194560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217627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Pragmas, módulo y variable del puerto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2670048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75120" y="265176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el servidor (socket)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145536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1" name="Text 19"/>
          <p:cNvSpPr/>
          <p:nvPr/>
        </p:nvSpPr>
        <p:spPr>
          <a:xfrm>
            <a:off x="61722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675120" y="31272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Bucle de atención y lectura de la petición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172200" y="3621024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4" name="Text 22"/>
          <p:cNvSpPr/>
          <p:nvPr/>
        </p:nvSpPr>
        <p:spPr>
          <a:xfrm>
            <a:off x="617220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36027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segura del nombre (expresión regular)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096512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75120" y="407822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el HTML5 (heredoc)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172200" y="4572000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30" name="Text 28"/>
          <p:cNvSpPr/>
          <p:nvPr/>
        </p:nvSpPr>
        <p:spPr>
          <a:xfrm>
            <a:off x="6172200" y="4572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75120" y="455371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la respuesta HTTP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72200" y="5047488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675120" y="502920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url_decode (decodificar la URL)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172200" y="5522976"/>
            <a:ext cx="384048" cy="384048"/>
          </a:xfrm>
          <a:prstGeom prst="ellipse">
            <a:avLst/>
          </a:prstGeom>
          <a:solidFill>
            <a:srgbClr val="006633"/>
          </a:solidFill>
          <a:ln/>
        </p:spPr>
      </p:sp>
      <p:sp>
        <p:nvSpPr>
          <p:cNvPr id="36" name="Text 34"/>
          <p:cNvSpPr/>
          <p:nvPr/>
        </p:nvSpPr>
        <p:spPr>
          <a:xfrm>
            <a:off x="6172200" y="55229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675120" y="550468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escape_html (defensa anti-XSS)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Pragmas, módulo y variable del puerto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strict;             # exige declarar variables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warnings;           # activa avisos utiles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IO::Socket::INET;   # modulo de sockets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$puerto = 8080;      # puerto a escuchar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Inicia un comentario: Perl ignora todo lo que sigue hasta el fin de línea.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Carga en el programa una directiva (pragma) o un módulo.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strict / warnings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Pragmas: obligan a declarar variables y avisan de prácticas peligrosas.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IO::Socket::INET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Módulo del núcleo para conexiones de red; «::» separa los niveles del nombre.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Declara una variable local (lexical), visible solo en su bloque.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Sigilo de variable ESCALAR (un solo valor: número o texto).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y ;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«=» asigna un valor; «;» termina toda instrucción.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Crear el servidor (socket)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$servidor = IO::Socket::INET-&gt;new(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LocalAddr =&gt; '127.0.0.1', # solo este PC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LocalPort =&gt; $puerto,     # puerto 8080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Proto     =&gt; 'tcp',       # protocolo TCP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Listen    =&gt; 5,           # cola de espera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ReuseAddr =&gt; 1,           # reusar puerto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or die "No abrio $puerto: $!\n";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Operador flecha: llama a un método de un objeto. Aquí «new» crea el socket.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Constructor: fabrica el objeto socket servidor.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«Coma gorda»: une cada opción con su valor y entrecomilla el nombre de la izquierda.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LocalAddr / LocalPort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Dirección y puerto donde escucha (127.0.0.1 = este equipo).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 / Listen / ReuseAddr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Protocolo TCP, tamaño de la cola de conexiones y reutilización del puerto.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lógico de baja prioridad: si «new» falla (valor falso), ejecuta lo siguiente.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Detiene el programa mostrando un mensaje de error.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$!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Variable especial con el último error del sistema operativo.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Secuencia de escape: salto de línea (válida en comillas dobles).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C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Bucle de atención y lectura de la petición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"Escuchando en :$puerto\n";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(my $cliente = $servidor-&gt;accept)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 $peticion = &lt;$cliente&gt;;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$peticion = '' unless defined $peticion;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... continua en el bloque D ...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Escribe texto (aquí en la consola). En comillas dobles, «$puerto» se interpola.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(COND) { }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Repite el bloque mientras la condición sea verdadera.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$servidor-&gt;accept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Espera (bloquea) hasta que llega una visita y devuelve un socket para ese navegador.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$cliente = ...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Guarda ese socket; la asignación dentro del while mantiene vivo el bucle.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&lt;$cliente&gt;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Operador de lectura de línea: lee UNA línea enviada por el navegador.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unless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 contrario de «if»: ejecuta solo si la condición es FALSA (modificador al final).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Indica si la variable tiene algún valor (no está indefinida).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Cadena vacía (comillas simples: texto literal, sin interpolación).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Lectura segura del nombre (expresión regular)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$nombre = 'Mundo';   # valor por defecto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($peticion =~ m{[?&amp;]nombre=([^\s&amp;]*)})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$nombre = url_decode($1);  # lo capturado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escapar la salida (anti-XSS):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$nombre = escape_html($nombre);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(COND) { }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Ejecuta el bloque solo si la condición es verdadera.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=~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Enlaza una variable con una expresión regular (la evalúa sobre ese texto).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m{ ... }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Operador de coincidencia (match); aquí usa llaves como delimitadores.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[?&amp;]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Clase de caracteres: un «?» o un «&amp;» (inicio del parámetro en la URL).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... )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Grupo de captura: guarda lo que coincida dentro.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[^\s&amp;]*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Clase NEGADA: cualquier carácter que NO sea espacio (\s) ni «&amp;»; «*» = cero o más.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 capturado por el primer par de paréntesis.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url_decode / escape_html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Llamadas a nuestras funciones (definidas en los bloques G y H).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Construir el HTML5 (heredoc)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$html = &lt;&lt;"HTML";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lang="es-EC"&gt;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&lt;h1&gt;Hola Mundo, $nombre!&lt;/h1&gt;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\@media (max-width:640px){ ... }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info\@uteq.edu.ec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HTML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$html = &lt;&lt;"HTML";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Inicia un HEREDOC: guarda en $html todo el texto hasta una línea que diga solo «HTML».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Comillas dobles en &lt;&lt;"HTML"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Hacen que Perl INTERPOLE las variables ($nombre, $puerto) dentro del texto.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Terminador HTML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Debe ir solo, al inicio de la línea, para cerrar el heredoc.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\@  y  \$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Una «@» o «$» literal (p. ej. \@media o el correo) se ESCAPAN para que Perl no las tome como variables.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&amp;iexcl; &amp;aacute; ...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Entidades HTML: forma segura de escribir símbolos y tildes.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Enviar la respuesta HTTP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$bytes = length $html;  # tamano cuerpo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 "HTTP/1.1 200 OK\r\n";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"Content-Type: text/html; charset=utf-8\r\n";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 "Content-Length: $bytes\r\n";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 "Connection: close\r\n";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 "\r\n";   # linea en blanco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 $html;      # el cuerpo HTML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$cliente;            # cierra conexion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Devuelve cuántos caracteres tiene la cadena (aquí, el tamaño del cuerpo).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$cliente "..."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 el filehandle $cliente tras print, el texto va al NAVEGADOR (al socket), no a la consola.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\r\n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Retorno de carro + salto de línea: el fin de línea que exige el protocolo HTTP.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Línea de estado: versión del protocolo y código 200 (todo correcto).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 / -Length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Cabeceras: tipo de contenido (HTML, UTF-8) y tamaño del cuerpo.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Connection: close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Cabecera: la conexión se cierra al terminar la respuesta.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línea en blanco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Un \r\n vacío que separa obligatoriamente las cabeceras del cuerpo.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Cierra el socket del cliente y libera la conexión.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Función url_decode (decodificar la URL)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url_decode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 ($s) = @_;           # 1er argumento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 =~ tr/+/ /;          # '+' -&gt; espacio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 =~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s/%([0-9A-Fa-f]{2})/chr(hex($1))/ge;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$s;              # ya decodificado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NOMBRE { }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Define una FUNCIÓN (subrutina) reutilizable.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@_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Arreglo con los argumentos recibidos; «@» es el sigilo de los arreglos (listas).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($s) = @_;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Copia el primer argumento en el escalar $s (asignación de lista).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tr/+/ /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Transliteración: cambia caracteres uno a uno (cada «+» por un espacio).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s/PATRÓN/REEMPLAZO/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Sustitución: reemplaza lo que coincide con el patrón.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 y  e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«g» = todas las coincidencias; «e» = evalúa el reemplazo como código Perl.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[0-9A-Fa-f]{2}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Dos dígitos hexadecimales; «{2}» = exactamente dos.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/ chr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«hex» pasa texto hexadecimal a número; «chr» da el carácter de ese código.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 </a:t>
            </a:r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Devuelve el resultado a quien llamó la función.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CÓDIGO — BLOQUE 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Función escape_html (defensa anti-XSS)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669280" cy="443484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1664208"/>
            <a:ext cx="5376672" cy="4215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escape_html {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my ($s) = @_;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 =~ s/&amp;/&amp;amp;/g;   # PRIMERO el &amp;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 =~ s/&lt;/&amp;lt;/g;    # &lt; no abre etiqueta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 =~ s/&gt;/&amp;gt;/g;    # &gt; no cierra etiqueta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$s =~ s/"/&amp;quot;/g;  # comilla segura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$s;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01968" y="1737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significa cada elemento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01968" y="2240280"/>
            <a:ext cx="4828032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s/&amp;/&amp;amp;/g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Reemplaza TODOS los «&amp;» por «&amp;amp;». Va PRIMERO para no re-escapar los demás.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s/&lt;/&amp;lt;/g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Convierte «&lt;» en «&amp;lt;» para que el navegador no lo lea como inicio de etiqueta.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s/&gt;/&amp;gt;/g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Convierte «&gt;» en «&amp;gt;» (fin de etiqueta).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s/"/&amp;quot;/g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Hace segura la comilla doble dentro de atributos HTML.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(global)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Aplica el reemplazo a todas las apariciones, no solo la primera.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Conjunto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Defensa anti-XSS: convierte la entrada del usuario en texto inofensivo.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 </a:t>
            </a:r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Devuelve el texto ya seguro para mostrarse en la página.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5 · REFERENCIA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Tarjeta rápida: símbolos, operadores y funciones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532120" cy="4480560"/>
          </a:xfrm>
          <a:prstGeom prst="roundRect">
            <a:avLst>
              <a:gd name="adj" fmla="val 1633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Símbolos y operadores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 @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Sigilo de escalar (un valor) / de arreglo (lista).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=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Fin de instrucción / asignación.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-&gt; =&gt;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Llamada a método / «coma gorda» (opción =&gt; valor).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=~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Enlaza un texto con una expresión regular.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m{} s/// tr///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Coincidir / sustituir / transliterar.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  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Modificadores: global / evaluar como código.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[] [^] \s * {2}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Captura / clase / clase negada / espacio / repetición.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&lt;$fh&gt;  $1  $!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Leer línea / 1.ª captura / último error del sistema.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\n  \r\n  &lt;&lt;""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Salto de línea / fin de línea HTTP / heredoc.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Funciones y palabras clave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194560"/>
            <a:ext cx="49377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Carga un módulo o pragma.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Declara una variable local.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/ unless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Ejecuta si es verdadero / si es falso.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Repite mientras sea verdadero.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defined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¿La variable tiene valor?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Escribe (consola o socket según el filehandle).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Aborta el programa con un mensaje.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length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Número de caracteres de una cadena.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 / hex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Carácter de un código / hex a número.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 / return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Define una función / devuelve su resultado.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66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  </a:t>
            </a:r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Cierra una conexión o archivo.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Ejecutar la aplicación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783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hola_web.pl abierto, pulsa el botón verde Run (o Shift+F10).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consola de IntelliJ aparece el mensaje del servidor.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queda «escuchando»: es normal, no se detiene solo.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detenerlo, pulsa el botón rojo Stop.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37960" y="155448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verás en la consola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720840" y="2286000"/>
            <a:ext cx="4709160" cy="1554480"/>
          </a:xfrm>
          <a:prstGeom prst="rect">
            <a:avLst/>
          </a:prstGeom>
          <a:solidFill>
            <a:srgbClr val="F8F8F2"/>
          </a:solidFill>
          <a:ln w="12700">
            <a:solidFill>
              <a:srgbClr val="E2E2D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67144" y="2395728"/>
            <a:ext cx="44165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Servidor escuchando en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http://localhost:8080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(pulsa Stop en IntelliJ</a:t>
            </a:r>
            <a:endParaRPr lang="en-US" sz="11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383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para detenerlo)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66560" y="41148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6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 + clic sobre la dirección http://localhost:8080 para abrirla directo en el navegador.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Abrir y probar en el navegador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68680" cy="868680"/>
          </a:xfrm>
          <a:prstGeom prst="ellipse">
            <a:avLst/>
          </a:prstGeom>
          <a:solidFill>
            <a:srgbClr val="006633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544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1600200" y="1554480"/>
            <a:ext cx="4114800" cy="4480560"/>
          </a:xfrm>
          <a:prstGeom prst="roundRect">
            <a:avLst>
              <a:gd name="adj" fmla="val 1778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1783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Acciones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2286000"/>
            <a:ext cx="37490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Abre http://localhost:8080 en el navegador.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Verás «¡Hola Mundo, Mundo!».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 tu nombre y pulsa Saludar.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URL cambia a ?nombre=... y el saludo se personaliza.</a:t>
            </a:r>
            <a:endParaRPr lang="en-US" sz="1300" dirty="0"/>
          </a:p>
        </p:txBody>
      </p:sp>
      <p:pic>
        <p:nvPicPr>
          <p:cNvPr id="10" name="Image 0" descr="/home/claude/unidad2/html5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2178" y="1783080"/>
            <a:ext cx="5572125" cy="3566160"/>
          </a:xfrm>
          <a:prstGeom prst="rect">
            <a:avLst/>
          </a:prstGeom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5897880" y="54864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aplicación funcionando con HTML5 semántico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IMPORTANTE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Dos ideas que debes recordar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E5F0EA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dos reglas de oro del backend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TODA entrada en el servidor: el cliente es manipulable, nunca de fiar.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Escapar TODA salida con escape_html: neutraliza etiquetas como &lt;script&gt; (anti-XSS).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servidor es la única frontera de confianza: ahí vive la lógica y la seguridad.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HTML5 semántico y moderno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header, nav, main, article, section, aside, footer.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nuevos: time, mark, details/summary, meter, output.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Formularios con validación nativa: required, minlength, type=search.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Accesibilidad: aria-label y :focus-visible.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ALGO FALLA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66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Solución de problemas comunes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UTEQ · Aplicaciones Web · App web en PERL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109728" cy="7863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«Can't locate CGI.pm»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937760" y="1764792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usas use CGI. Strawberry ya lo incluye; si faltara: cpan CGI. Nuestro mini servidor NO lo necesita.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569464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569464"/>
            <a:ext cx="109728" cy="7863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660904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programa «no hace nada»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937760" y="2642616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normal: un servidor se queda escuchando. Abre el navegador en http://localhost:8080.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47288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447288"/>
            <a:ext cx="109728" cy="7863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538728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«Address already in use» / puerto ocupado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937760" y="352044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Otro proceso usa el 8080. Pulsa Stop, o cambia $puerto a 8090 en el código.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325112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4325112"/>
            <a:ext cx="109728" cy="7863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16552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IntelliJ no reconoce perl.exe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937760" y="4398264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el Paso 3: el intérprete debe apuntar a C:\Strawberry\perl\bin\perl.exe.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02936"/>
            <a:ext cx="110642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5202936"/>
            <a:ext cx="109728" cy="78638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94376"/>
            <a:ext cx="3931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2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Aviso de certificado al instalar plugins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937760" y="5276088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 la UTEQ con inspección SSL: Save as Trusted, o instala el plugin desde disco.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3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56832"/>
            <a:ext cx="12161520" cy="20116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¡Lo lograste!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3291840"/>
          </a:xfrm>
          <a:prstGeom prst="roundRect">
            <a:avLst>
              <a:gd name="adj" fmla="val 2222"/>
            </a:avLst>
          </a:prstGeom>
          <a:solidFill>
            <a:srgbClr val="0E4A2E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2057400"/>
            <a:ext cx="9966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Instalaste y configuraste el entorno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(Strawberry Perl + IntelliJ + plugin Perl).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Creaste un programa PERL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actúa como servidor web sin necesidad de Apache.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Entendiste cada instrucción </a:t>
            </a:r>
            <a:pPr indent="0" marL="0">
              <a:lnSpc>
                <a:spcPct val="110000"/>
              </a:lnSpc>
              <a:spcAft>
                <a:spcPts val="9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operador y función del código, no solo lo copiaste.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Aplicaste las dos reglas de oro: </a:t>
            </a:r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la entrada y escapar la salida.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FD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reto: añadir más campos al formulario y procesarlos, o pasar el saludo a PHP y comparar (Semana 5).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UTEQ — Carrera de Ingeniería de Software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Cómo construir tu aplicación web en PERL — Paso a paso</dc:title>
  <dc:subject>PptxGenJS Presentation</dc:subject>
  <dc:creator>Dr. Gleiston Guerrero Ulloa</dc:creator>
  <cp:lastModifiedBy>Dr. Gleiston Guerrero Ulloa</cp:lastModifiedBy>
  <cp:revision>1</cp:revision>
  <dcterms:created xsi:type="dcterms:W3CDTF">2026-06-08T13:59:25Z</dcterms:created>
  <dcterms:modified xsi:type="dcterms:W3CDTF">2026-06-08T13:59:25Z</dcterms:modified>
</cp:coreProperties>
</file>