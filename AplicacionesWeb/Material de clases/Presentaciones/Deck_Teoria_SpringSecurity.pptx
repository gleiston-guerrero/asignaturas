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7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858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del bloque teorico. Antes de escribir una sola linea de configuracion de seguridad, conviene entender el mapa mental: que es Spring Security, que problema resuelve y, sobre todo, como esta construido por dentro. La mayoria de los errores de los estudiantes no son de sintaxis, sino de modelo mental: no saben donde encaja cada pieza. Esta presentacion da ese vocabulario comun (autenticacion, autorizacion, cadena de filtros, contexto de seguridad, sesion frente a token) para que cuando lleguemos a la practica con JWT, cada anotacion y cada bean tengan sentido. Es una sesion conceptual, con pocos fragmentos de codigo y muchos diagramas.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 Security es el marco estandar para asegurar aplicaciones Spring. Conviene definirlo por lo que hace, no por como se configura. Hace fundamentalmente dos cosas: autenticacion, es decir comprobar quien esta haciendo la peticion, y autorizacion, decidir si esa persona tiene permiso para la accion. Alrededor de esos dos pilares ofrece una cantidad enorme de proteccion lista para usar: una cadena de filtros que intercepta cada peticion HTTP, defensa contra CSRF, cabeceras de seguridad, gestion de sesiones y cifrado de contrasenas. La idea importante para el estudiante: no estamos programando la seguridad desde cero; estamos configurando y extendiendo un marco maduro que ya resolvio los problemas dificiles. Nuestra tarea sera conectar sus piezas a nuestro dominio.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hoja de ruta del bloque teorico, ocho temas. Empezamos por la distincion conceptual entre autenticacion y autorizacion. Luego entramos en la arquitectura: la cadena de filtros, que es el corazon de Spring Security y lo que mas cuesta visualizar. Despues, el contexto de seguridad, que responde a quien soy durante una peticion. Continuamos con quien hace el trabajo de autenticar y como Spring conoce a los usuarios y maneja sus contrasenas. Pasamos a como se evalua la autorizacion por roles y permisos, y donde se aplica. Tratamos la decision clave entre seguridad con estado y sin estado, que es la que justifica usar JWT. Y cerramos con lo que cambio en Spring Security 6 y 7, para que el codigo moderno tenga sentido. Cada tema es una pieza que reaparecera en la practica.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pilares. Autenticacion responde a quien eres: se comprueba la identidad con algun tipo de credencial, y el resultado es un objeto Authentication que representa al usuario ya identificado. Autorizacion responde a que puedes hacer: ya identificado, se decide si tiene permiso, comparando sus authorities, que son sus roles o permisos, con las reglas configuradas. El orden importa y es logico: primero autenticacion, despues autorizacion; sin saber quien eres, no tiene sentido preguntar que puedes hacer. Introducir aqui dos terminos que reapareceran: Authentication, el objeto que encapsula al usuario autenticado, y authorities, la representacion de sus permisos. Toda la maquinaria de Spring Security gira en torno a producir ese objeto Authentication y luego consultarlo.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principios que explican por que Spring Security se siente como se siente. Primero, seguro por defecto: en cuanto anades la dependencia, TODOS los endpoints quedan bloqueados y aparece un login; tu trabajo es abrir selectivamente lo que debe ser publico, no cerrar lo que falta. Esto sorprende a los estudiantes la primera vez, pero es intencional: es mas seguro fallar cerrado que fallar abierto. Segundo, defensa en profundidad: ofrece varias capas de autorizacion (por URL, por metodo, por objeto de dominio) que se complementan. Tercero, extensibilidad: casi cada pieza (los filtros, los proveedores de autenticacion, el almacen de usuarios) es una interfaz que puedes sustituir por tu propia implementacion, que es justo lo que haremos con JWT. Cuarto, integracion sin acoplamiento: Spring Security vive como filtros del contenedor de servlets, antes de tus controladores, de modo que tu logica de negocio no se llena de codigo de seguridad.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concepto arquitectonico mas importante y el que mas conviene dibujar despacio. Spring Security no se cuelga de tus controladores: se inserta en el contenedor de servlets como un filtro, de modo que toda peticion pasa por una cadena de filtros ANTES de llegar a tu codigo. La cadena se monta en tres niveles: el DelegatingFilterProxy es el puente que conecta el mundo del servlet con el mundo de Spring; el FilterChainProxy decide que cadena aplica a la peticion y en que orden corren los filtros; y la SecurityFilterChain es la lista concreta de filtros de seguridad. Dentro de esa lista, cada filtro tiene una responsabilidad: uno valida CSRF, otro se encarga de la autenticacion (aqui es donde insertaremos nuestro filtro JWT), otro de la autorizacion. Cada filtro hace su parte y pasa la peticion al siguiente, o la corta devolviendo 401 o 403. Si los estudiantes interiorizan esta imagen de tuberia, entienden el 90 por ciento de Spring Security.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seguimos una peticion paso a paso por la cadena, que es la mejor forma de fijar el concepto anterior. Uno: llega la peticion HTTP y entra en la cadena de filtros de seguridad. Dos: el filtro de autenticacion intenta identificar al usuario; segun el mecanismo, leera una cookie de sesion, una cabecera Authorization con un token, unas credenciales de formulario, etc. Tres: si la identificacion tiene exito, se puebla el contexto de seguridad, es decir, se guarda el objeto Authentication en el SecurityContext, que queda disponible durante toda la peticion. Cuatro: el filtro de autorizacion compara las authorities del usuario con las reglas configuradas para la ruta. Cinco: la decision; si todo encaja, la peticion sigue hasta el controlador; si no hay identidad, 401; si la hay pero falta permiso, 403. Este recorrido es identico sea cual sea el mecanismo de autenticacion; solo cambia el paso dos. Por eso Spring Security es tan flexible.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nucleo conceptual de la autenticacion en Spring Security, y son tres objetos anidados que conviene memorizar. El SecurityContextHolder es el punto de acceso global: desde cualquier parte del codigo se le pide el contexto actual. Dentro guarda un SecurityContext, que es un simple contenedor. Y dentro de ese contexto vive el objeto Authentication, que representa al usuario autenticado y tiene tres partes: el principal, que es el usuario en si (normalmente un UserDetails); las credentials, la contrasena, que Spring limpia despues de autenticar por seguridad; y las authorities, los roles y permisos. La idea clave: tras la autenticacion, el usuario vive en este contexto durante toda la peticion, y cualquier capa de la aplicacion puede preguntar quien es el usuario actual sin volver a autenticarlo. Un detalle tecnico util: por defecto el contexto se almacena por hilo, con un ThreadLocal, asi que cada peticion tiene su propio contexto aislado. Cuando en la practica escribamos setAuthentication en el filtro JWT, estaremos poblando exactamente esta estructura.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esta la maquinaria que produce el objeto Authentication. El AuthenticationManager es solo el contrato, una interfaz con un metodo authenticate. Su implementacion estandar es el ProviderManager, que no autentica el mismo: delega en una lista de AuthenticationProvider. Cada proveedor sabe validar un tipo concreto de credencial, y el primero de la lista que sepa manejarla, autentica. Gracias a este diseno conviven varios mecanismos: uno para usuario y clave, otro para tokens, otro para LDAP. El proveedor mas comun, y el que usaremos, es el DaoAuthenticationProvider, que se apoya en dos colaboradores que veremos a continuacion: un UserDetailsService para cargar al usuario desde donde este (base de datos, normalmente) y un PasswordEncoder para comparar la contrasena de forma segura. Cuando en la practica configuremos el AuthenticationManager con un DaoAuthenticationProvider, estaremos armando exactamente esta cadena. El mensaje para el estudiante: el manager orquesta, los proveedores hacen el trabajo, y son intercambiables.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autenticar, Spring necesita conocer a los usuarios, pero no impone donde viven. Lo resuelve con dos abstracciones. UserDetails es la vista que Spring tiene de un usuario: una interfaz que expone lo imprescindible para la seguridad, el nombre de usuario, la contrasena cifrada, las authorities y un par de banderas de estado de la cuenta (activa, no bloqueada, no expirada). No es tu entidad de dominio; es una vista de seguridad de ella. UserDetailsService es el puente hacia tu almacen de usuarios: una interfaz con un unico metodo, loadUserByUsername, que tu implementas para leer de tu base de datos y devolver un UserDetails. Este es el punto exacto donde tu dominio se conecta con Spring Security: el framework llama a tu servicio cuando necesita un usuario, y tu decides de donde sacarlo. En la practica implementaremos esta interfaz leyendo nuestra entidad Usuario de PostgreSQL. Insistir en la separacion: Spring define el contrato, tu pones los datos.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contrasenas merecen una diapositiva propia porque es donde mas se peca. La regla es absoluta: una contrasena jamas se guarda ni se compara en texto plano. Se almacena su hash, una huella digital irreversible; al iniciar sesion se vuelve a calcular el hash de lo que escribio el usuario y se comparan los hashes, nunca las claves. Tres propiedades hacen seguro a un buen algoritmo de hash de contrasenas. Primero, es irreversible: del hash no se puede recuperar la clave. Segundo, usa sal, un valor aleatorio por contrasena, de modo que dos usuarios con la misma clave tienen hashes distintos y no se pueden usar tablas precalculadas. Tercero, tiene coste configurable: BCrypt es deliberadamente lento, lo que hace inviables los ataques de fuerza bruta masivos. Spring Security ofrece todo esto a traves de la interfaz PasswordEncoder, y su implementacion por defecto y recomendada es BCrypt. Por eso jamas se usan MD5 o SHA simples, que son rapidos y sin sal. En la practica declararemos un bean BCryptPasswordEncoder y lo usaremos al registrar y al autenticar.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autorizacion se basa en un concepto sencillo: tras autenticar, el usuario lleva una lista de authorities, que son simplemente cadenas que representan permisos, y la autorizacion compara esas authorities con lo que exige cada regla. La distincion entre rol y authority confunde a muchos, asi que conviene aclararla. Un rol es una categoria amplia de usuario, como ADMIN o DOCENTE, y por convencion de Spring lleva el prefijo ROLE_; cuando escribes hasRole('ADMIN'), Spring busca internamente la authority ROLE_ADMIN. Una authority a secas es un permiso mas fino y concreto, sin prefijo, util para acciones especificas, como READ_NOTAS o DELETE_USUARIO. La clave que desmonta la confusion: internamente todo son authorities; el rol no es un mecanismo distinto, es solo una convencion de nombres con el prefijo ROLE_. Por eso en nuestra practica, cuando convertimos los roles del enumerado a SimpleGrantedAuthority, les anadimos ROLE_ delante. Elegir entre roles y permisos finos es una decision de diseno: roles para lo general, authorities para control granular.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autorizacion se puede aplicar en dos lugares, y entender la diferencia ayuda a decidir donde poner cada regla. El primero es por URL, configurado en la SecurityFilterChain: filtra pronto, por patron de ruta y metodo HTTP, antes incluso de entrar al controlador. Es ideal para reglas amplias, como todo lo que cuelga de /admin requiere rol ADMIN. El segundo es por metodo, con anotaciones como @PreAuthorize directamente sobre los metodos del controlador o del servicio; habilitado por @EnableMethodSecurity, permite reglas finas pegadas a la logica, e incluso expresiones que dependen de los argumentos, como permitir que un usuario solo edite sus propios datos. La idea pedagogica importante: no son alternativas excluyentes. La autorizacion por URL filtra temprano y barato; la de metodo protege puntos concretos con precision. Usar ambas es defensa en profundidad, uno de los principios que vimos al inicio. En la practica protegeremos rutas en la configuracion y, ademas, anotaremos el borrado con @PreAuthorize.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justifica la decision central de la practica. Hay dos modelos de mantener al usuario identificado entre peticiones. El modelo con estado usa sesion: el servidor guarda la sesion en memoria y entrega al navegador una cookie; en cada peticion, esa cookie identifica la sesion del lado del servidor. Es simple y permite revocar el acceso al instante, basta con invalidar la sesion, pero guarda estado en el servidor, lo que complica escalar en horizontal porque las peticiones de un usuario deben volver al mismo servidor o compartir las sesiones. El modelo sin estado usa token, tipicamente JWT: el cliente guarda un token autocontenido y lo envia en cada peticion; el servidor no guarda nada, solo verifica la firma. Esto escala de forma natural y es ideal para APIs REST y SPAs, pero tiene una contrapartida: revocar un token antes de que expire es dificil, porque el servidor no lleva registro; se mitiga con expiraciones cortas y listas de revocacion. La conclusion que enlaza con la practica: una API REST se disena sin estado por definicion, asi que el token es la eleccion natural, y por eso usaremos JWT.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CSRF y CORS suenan parecido y se confunden constantemente, asi que vale la pena separarlos en teoria. CSRF, falsificacion de peticion entre sitios, es un ataque: un sitio malicioso logra que tu navegador envie una peticion a otra aplicacion usando tu cookie de sesion sin que tu lo sepas, aprovechando que el navegador adjunta las cookies automaticamente. Por eso CSRF solo es relevante cuando te autenticas con sesion y cookies; si te autenticas con un token que viaja en una cabecera que el codigo pone explicitamente, el ataque no aplica, y por eso en APIs con JWT se suele desactivar la proteccion CSRF, no por descuido sino porque no tiene sentido alli. CORS, comparticion de recursos entre origenes, no es un ataque sino una politica del navegador: decide si una pagina de un origen puede leer la respuesta de una API en otro origen. Importa cuando el cliente, por ejemplo una SPA en Angular, esta en un servidor distinto al de la API, y se resuelve permitiendo explicitamente esos origenes en el servidor. La frase para fijar la diferencia: CSRF es un ataque del que defenderse; CORS es un permiso que conceder. Ambos los configuraremos con criterio en la practica.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el panorama conceptual, conviene que el estudiante vea que JWT es solo uno de muchos mecanismos, y que la arquitectura que estudiamos es la misma para todos. Form login es el clasico de aplicaciones con vistas: un formulario web y sesion. HTTP Basic envia usuario y clave en una cabecera en cada peticion; es simple, util para pruebas o servicios internos, pero poco recomendable en produccion sin mas. JWT o token es el estandar para APIs REST sin estado, y es el que veremos en profundidad. OAuth2 y OpenID Connect permiten delegar el login en un tercero como Google o GitHub, de modo que no gestionas contrasenas. LDAP autentica contra un directorio corporativo. Y X.509 usa certificados de cliente. El mensaje clave, que conecta con la diapositiva de arquitectura: todos estos mecanismos terminan produciendo el mismo objeto Authentication y poblando el mismo contexto de seguridad; solo cambia el paso de obtener la credencial. Por eso, una vez entiendes la cadena de filtros y el contexto, cambiar de mecanismo es cambiar una pieza, no reaprender el framework.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diapositiva evita que el estudiante se pierda al buscar ejemplos en internet, donde abunda codigo antiguo que ya no compila. En Spring Security 6 y 7 cambio la forma de configurar, no los conceptos. Primero, configuracion por beans: ya no se hereda de WebSecurityConfigurerAdapter, que fue eliminado en la version 6; ahora defines un SecurityFilterChain como un bean. Segundo, el DSL de lambdas es obligatorio: cada apartado (autorizacion, csrf, sesion) se configura pasando una lambda, y desaparece el viejo encadenado con and(). Tercero, la coincidencia de rutas se moderniza: requestMatchers usa PathPattern por defecto y se eliminan antMatchers y mvcMatchers. El recuadro rojo resume lo que ya no existe, para que lo reconozcan y lo descarten cuando lo vean en tutoriales viejos. Todo lo que estudiamos en teoria (cadena de filtros, contexto, proveedores, UserDetails) sigue igual; lo que cambia es la sintaxis de configuracion. Con esto, el codigo moderno que veremos en la practica tendra sentido y no chocara con ejemplos desactualizados.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bloque teorico. Recapitular el mapa mental que ahora poseen: la cadena de filtros como corazon arquitectonico, el contexto de seguridad que responde quien soy durante la peticion, los proveedores que autentican, UserDetails y UserDetailsService como puente a nuestros usuarios, la codificacion de contrasenas con BCrypt, la autorizacion por roles y permisos en dos lugares, y la eleccion entre sesion y token que justifica usar JWT en una API. La promesa: cada uno de estos conceptos reaparecera en la practica como codigo concreto, y ahora sabran por que existe cada bean y cada anotacion. El siguiente paso es la guia y las diapositivas practicas de Spring Security con JWT sobre el proyecto appweb-api. Invitar a preguntas antes de pasar al teclado.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0.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53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532A"/>
          </a:solidFill>
          <a:ln/>
        </p:spPr>
        <p:txBody>
          <a:bodyPr/>
          <a:lstStyle/>
          <a:p>
            <a:endParaRPr lang="es-ES"/>
          </a:p>
        </p:txBody>
      </p:sp>
      <p:sp>
        <p:nvSpPr>
          <p:cNvPr id="3" name="Shape 1"/>
          <p:cNvSpPr/>
          <p:nvPr/>
        </p:nvSpPr>
        <p:spPr>
          <a:xfrm>
            <a:off x="6949440" y="-1371600"/>
            <a:ext cx="3840480" cy="3840480"/>
          </a:xfrm>
          <a:prstGeom prst="ellipse">
            <a:avLst/>
          </a:prstGeom>
          <a:solidFill>
            <a:srgbClr val="003D1F"/>
          </a:solidFill>
          <a:ln/>
        </p:spPr>
        <p:txBody>
          <a:bodyPr/>
          <a:lstStyle/>
          <a:p>
            <a:endParaRPr lang="es-ES"/>
          </a:p>
        </p:txBody>
      </p:sp>
      <p:sp>
        <p:nvSpPr>
          <p:cNvPr id="4" name="Shape 2"/>
          <p:cNvSpPr/>
          <p:nvPr/>
        </p:nvSpPr>
        <p:spPr>
          <a:xfrm>
            <a:off x="7955280" y="3108960"/>
            <a:ext cx="2377440" cy="2377440"/>
          </a:xfrm>
          <a:prstGeom prst="ellipse">
            <a:avLst/>
          </a:prstGeom>
          <a:solidFill>
            <a:srgbClr val="00622F"/>
          </a:solidFill>
          <a:ln/>
        </p:spPr>
        <p:txBody>
          <a:bodyPr/>
          <a:lstStyle/>
          <a:p>
            <a:endParaRPr lang="es-ES"/>
          </a:p>
        </p:txBody>
      </p:sp>
      <p:sp>
        <p:nvSpPr>
          <p:cNvPr id="5" name="Shape 3"/>
          <p:cNvSpPr/>
          <p:nvPr/>
        </p:nvSpPr>
        <p:spPr>
          <a:xfrm>
            <a:off x="548640" y="640080"/>
            <a:ext cx="731520" cy="731520"/>
          </a:xfrm>
          <a:prstGeom prst="ellipse">
            <a:avLst/>
          </a:prstGeom>
          <a:solidFill>
            <a:srgbClr val="CC9900"/>
          </a:solidFill>
          <a:ln/>
          <a:effectLst>
            <a:outerShdw blurRad="88900" dist="38100" dir="5400000" algn="bl" rotWithShape="0">
              <a:srgbClr val="000000">
                <a:alpha val="16000"/>
              </a:srgbClr>
            </a:outerShdw>
          </a:effectLst>
        </p:spPr>
        <p:txBody>
          <a:bodyPr/>
          <a:lstStyle/>
          <a:p>
            <a:endParaRPr lang="es-ES"/>
          </a:p>
        </p:txBody>
      </p:sp>
      <p:pic>
        <p:nvPicPr>
          <p:cNvPr id="6" name="Image 0" descr="preencoded.png"/>
          <p:cNvPicPr>
            <a:picLocks noChangeAspect="1"/>
          </p:cNvPicPr>
          <p:nvPr/>
        </p:nvPicPr>
        <p:blipFill>
          <a:blip r:embed="rId3"/>
          <a:stretch>
            <a:fillRect/>
          </a:stretch>
        </p:blipFill>
        <p:spPr>
          <a:xfrm>
            <a:off x="738835" y="830275"/>
            <a:ext cx="351130" cy="351130"/>
          </a:xfrm>
          <a:prstGeom prst="rect">
            <a:avLst/>
          </a:prstGeom>
        </p:spPr>
      </p:pic>
      <p:sp>
        <p:nvSpPr>
          <p:cNvPr id="7" name="Text 4"/>
          <p:cNvSpPr/>
          <p:nvPr/>
        </p:nvSpPr>
        <p:spPr>
          <a:xfrm>
            <a:off x="1463040" y="713232"/>
            <a:ext cx="6400800" cy="365760"/>
          </a:xfrm>
          <a:prstGeom prst="rect">
            <a:avLst/>
          </a:prstGeom>
          <a:noFill/>
          <a:ln/>
        </p:spPr>
        <p:txBody>
          <a:bodyPr wrap="square" lIns="0" tIns="0" rIns="0" bIns="0" rtlCol="0" anchor="ctr"/>
          <a:lstStyle/>
          <a:p>
            <a:pPr marL="0" indent="0">
              <a:buNone/>
            </a:pPr>
            <a:r>
              <a:rPr lang="en-US" sz="1300" b="1" kern="0" spc="400" dirty="0">
                <a:solidFill>
                  <a:srgbClr val="E8B923"/>
                </a:solidFill>
                <a:latin typeface="Calibri" pitchFamily="34" charset="0"/>
                <a:ea typeface="Calibri" pitchFamily="34" charset="-122"/>
                <a:cs typeface="Calibri" pitchFamily="34" charset="-120"/>
              </a:rPr>
              <a:t>UNIDAD II  ·  TEORIA</a:t>
            </a:r>
            <a:endParaRPr lang="en-US" sz="1300" dirty="0"/>
          </a:p>
        </p:txBody>
      </p:sp>
      <p:sp>
        <p:nvSpPr>
          <p:cNvPr id="8" name="Text 5"/>
          <p:cNvSpPr/>
          <p:nvPr/>
        </p:nvSpPr>
        <p:spPr>
          <a:xfrm>
            <a:off x="548640" y="1554480"/>
            <a:ext cx="8046720" cy="1554480"/>
          </a:xfrm>
          <a:prstGeom prst="rect">
            <a:avLst/>
          </a:prstGeom>
          <a:noFill/>
          <a:ln/>
        </p:spPr>
        <p:txBody>
          <a:bodyPr wrap="square" lIns="0" tIns="0" rIns="0" bIns="0" rtlCol="0" anchor="ctr"/>
          <a:lstStyle/>
          <a:p>
            <a:pPr marL="0" indent="0">
              <a:lnSpc>
                <a:spcPct val="98000"/>
              </a:lnSpc>
              <a:buNone/>
            </a:pPr>
            <a:r>
              <a:rPr lang="en-US" sz="4000" b="1" dirty="0">
                <a:solidFill>
                  <a:srgbClr val="FFFFFF"/>
                </a:solidFill>
                <a:latin typeface="Cambria" pitchFamily="34" charset="0"/>
                <a:ea typeface="Cambria" pitchFamily="34" charset="-122"/>
                <a:cs typeface="Cambria" pitchFamily="34" charset="-120"/>
              </a:rPr>
              <a:t>Spring Security:</a:t>
            </a:r>
            <a:endParaRPr lang="en-US" sz="4000" dirty="0"/>
          </a:p>
          <a:p>
            <a:pPr marL="0" indent="0">
              <a:lnSpc>
                <a:spcPct val="98000"/>
              </a:lnSpc>
              <a:buNone/>
            </a:pPr>
            <a:r>
              <a:rPr lang="en-US" sz="4000" b="1" dirty="0">
                <a:solidFill>
                  <a:srgbClr val="FFFFFF"/>
                </a:solidFill>
                <a:latin typeface="Cambria" pitchFamily="34" charset="0"/>
                <a:ea typeface="Cambria" pitchFamily="34" charset="-122"/>
                <a:cs typeface="Cambria" pitchFamily="34" charset="-120"/>
              </a:rPr>
              <a:t>fundamentos</a:t>
            </a:r>
            <a:endParaRPr lang="en-US" sz="4000" dirty="0"/>
          </a:p>
        </p:txBody>
      </p:sp>
      <p:sp>
        <p:nvSpPr>
          <p:cNvPr id="9" name="Text 6"/>
          <p:cNvSpPr/>
          <p:nvPr/>
        </p:nvSpPr>
        <p:spPr>
          <a:xfrm>
            <a:off x="566928" y="3200400"/>
            <a:ext cx="7772400" cy="731520"/>
          </a:xfrm>
          <a:prstGeom prst="rect">
            <a:avLst/>
          </a:prstGeom>
          <a:noFill/>
          <a:ln/>
        </p:spPr>
        <p:txBody>
          <a:bodyPr wrap="square" lIns="0" tIns="0" rIns="0" bIns="0" rtlCol="0" anchor="ctr"/>
          <a:lstStyle/>
          <a:p>
            <a:pPr marL="0" indent="0">
              <a:buNone/>
            </a:pPr>
            <a:r>
              <a:rPr lang="en-US" sz="1500" dirty="0">
                <a:solidFill>
                  <a:srgbClr val="CFE3D6"/>
                </a:solidFill>
                <a:latin typeface="Calibri" pitchFamily="34" charset="0"/>
                <a:ea typeface="Calibri" pitchFamily="34" charset="-122"/>
                <a:cs typeface="Calibri" pitchFamily="34" charset="-120"/>
              </a:rPr>
              <a:t>La teoria antes de la practica: que problema resuelve, como esta construido por dentro y con que vocabulario hablaremos del resto de la unidad.</a:t>
            </a:r>
            <a:endParaRPr lang="en-US" sz="1500" dirty="0"/>
          </a:p>
        </p:txBody>
      </p:sp>
      <p:sp>
        <p:nvSpPr>
          <p:cNvPr id="10" name="Text 7"/>
          <p:cNvSpPr/>
          <p:nvPr/>
        </p:nvSpPr>
        <p:spPr>
          <a:xfrm>
            <a:off x="566928" y="4023360"/>
            <a:ext cx="8046720" cy="274320"/>
          </a:xfrm>
          <a:prstGeom prst="rect">
            <a:avLst/>
          </a:prstGeom>
          <a:noFill/>
          <a:ln/>
        </p:spPr>
        <p:txBody>
          <a:bodyPr wrap="square" lIns="0" tIns="0" rIns="0" bIns="0" rtlCol="0" anchor="ctr"/>
          <a:lstStyle/>
          <a:p>
            <a:pPr marL="0" indent="0">
              <a:buNone/>
            </a:pPr>
            <a:r>
              <a:rPr lang="en-US" sz="1150" dirty="0">
                <a:solidFill>
                  <a:srgbClr val="E8B923"/>
                </a:solidFill>
                <a:latin typeface="Courier New" pitchFamily="34" charset="0"/>
                <a:ea typeface="Courier New" pitchFamily="34" charset="-122"/>
                <a:cs typeface="Courier New" pitchFamily="34" charset="-120"/>
              </a:rPr>
              <a:t>Autenticacion  ·  Autorizacion  ·  Cadena de filtros  ·  Sesion vs token</a:t>
            </a:r>
            <a:endParaRPr lang="en-US" sz="1150" dirty="0"/>
          </a:p>
        </p:txBody>
      </p:sp>
      <p:sp>
        <p:nvSpPr>
          <p:cNvPr id="11" name="Text 8"/>
          <p:cNvSpPr/>
          <p:nvPr/>
        </p:nvSpPr>
        <p:spPr>
          <a:xfrm>
            <a:off x="566928" y="4526280"/>
            <a:ext cx="7863840" cy="274320"/>
          </a:xfrm>
          <a:prstGeom prst="rect">
            <a:avLst/>
          </a:prstGeom>
          <a:noFill/>
          <a:ln/>
        </p:spPr>
        <p:txBody>
          <a:bodyPr wrap="square" lIns="0" tIns="0" rIns="0" bIns="0" rtlCol="0" anchor="ctr"/>
          <a:lstStyle/>
          <a:p>
            <a:pPr marL="0" indent="0">
              <a:buNone/>
            </a:pPr>
            <a:r>
              <a:rPr lang="en-US" sz="1100" dirty="0">
                <a:solidFill>
                  <a:srgbClr val="9DBBA8"/>
                </a:solidFill>
                <a:latin typeface="Calibri" pitchFamily="34" charset="0"/>
                <a:ea typeface="Calibri" pitchFamily="34" charset="-122"/>
                <a:cs typeface="Calibri" pitchFamily="34" charset="-120"/>
              </a:rPr>
              <a:t>UTEQ · Ingenieria de Software · Dr. Gleiston Guerrero Ulloa, Ph.D.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PUNTO DE PARTIDA</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Que es Spring Security</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(Teoria)</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1</a:t>
            </a:r>
            <a:endParaRPr lang="en-US" sz="900" dirty="0"/>
          </a:p>
        </p:txBody>
      </p:sp>
      <p:sp>
        <p:nvSpPr>
          <p:cNvPr id="6" name="Text 4"/>
          <p:cNvSpPr/>
          <p:nvPr/>
        </p:nvSpPr>
        <p:spPr>
          <a:xfrm>
            <a:off x="457200" y="1280160"/>
            <a:ext cx="8229600" cy="822960"/>
          </a:xfrm>
          <a:prstGeom prst="rect">
            <a:avLst/>
          </a:prstGeom>
          <a:noFill/>
          <a:ln/>
        </p:spPr>
        <p:txBody>
          <a:bodyPr wrap="square" lIns="0" tIns="0" rIns="0" bIns="0" rtlCol="0" anchor="ctr"/>
          <a:lstStyle/>
          <a:p>
            <a:pPr marL="0" indent="0">
              <a:lnSpc>
                <a:spcPct val="108000"/>
              </a:lnSpc>
              <a:buNone/>
            </a:pPr>
            <a:r>
              <a:rPr lang="en-US" sz="1350" dirty="0">
                <a:solidFill>
                  <a:srgbClr val="1E2A22"/>
                </a:solidFill>
                <a:latin typeface="Calibri" pitchFamily="34" charset="0"/>
                <a:ea typeface="Calibri" pitchFamily="34" charset="-122"/>
                <a:cs typeface="Calibri" pitchFamily="34" charset="-120"/>
              </a:rPr>
              <a:t>Es el marco de trabajo estandar para anadir seguridad a aplicaciones Spring. Se encarga de dos cosas: comprobar quien hace una peticion y decidir si tiene permiso. No reinventa la seguridad de Java; se integra con el servlet container y con Spring.</a:t>
            </a:r>
            <a:endParaRPr lang="en-US" sz="1350" dirty="0"/>
          </a:p>
        </p:txBody>
      </p:sp>
      <p:sp>
        <p:nvSpPr>
          <p:cNvPr id="7" name="Shape 5"/>
          <p:cNvSpPr/>
          <p:nvPr/>
        </p:nvSpPr>
        <p:spPr>
          <a:xfrm>
            <a:off x="457200" y="2286000"/>
            <a:ext cx="4069080" cy="868680"/>
          </a:xfrm>
          <a:prstGeom prst="roundRect">
            <a:avLst>
              <a:gd name="adj" fmla="val 8421"/>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8" name="Shape 6"/>
          <p:cNvSpPr/>
          <p:nvPr/>
        </p:nvSpPr>
        <p:spPr>
          <a:xfrm>
            <a:off x="621792" y="2464308"/>
            <a:ext cx="512064" cy="512064"/>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9" name="Image 0" descr="preencoded.png"/>
          <p:cNvPicPr>
            <a:picLocks noChangeAspect="1"/>
          </p:cNvPicPr>
          <p:nvPr/>
        </p:nvPicPr>
        <p:blipFill>
          <a:blip r:embed="rId3"/>
          <a:stretch>
            <a:fillRect/>
          </a:stretch>
        </p:blipFill>
        <p:spPr>
          <a:xfrm>
            <a:off x="754929" y="2597445"/>
            <a:ext cx="245791" cy="245791"/>
          </a:xfrm>
          <a:prstGeom prst="rect">
            <a:avLst/>
          </a:prstGeom>
        </p:spPr>
      </p:pic>
      <p:sp>
        <p:nvSpPr>
          <p:cNvPr id="10" name="Text 7"/>
          <p:cNvSpPr/>
          <p:nvPr/>
        </p:nvSpPr>
        <p:spPr>
          <a:xfrm>
            <a:off x="1298448" y="2377440"/>
            <a:ext cx="3108960" cy="685800"/>
          </a:xfrm>
          <a:prstGeom prst="rect">
            <a:avLst/>
          </a:prstGeom>
          <a:noFill/>
          <a:ln/>
        </p:spPr>
        <p:txBody>
          <a:bodyPr wrap="square" lIns="0" tIns="0" rIns="0" bIns="0" rtlCol="0" anchor="ctr"/>
          <a:lstStyle/>
          <a:p>
            <a:pPr marL="0" indent="0">
              <a:lnSpc>
                <a:spcPct val="100000"/>
              </a:lnSpc>
              <a:buNone/>
            </a:pPr>
            <a:r>
              <a:rPr lang="en-US" sz="1300" b="1" dirty="0">
                <a:solidFill>
                  <a:srgbClr val="006633"/>
                </a:solidFill>
                <a:latin typeface="Calibri" pitchFamily="34" charset="0"/>
                <a:ea typeface="Calibri" pitchFamily="34" charset="-122"/>
                <a:cs typeface="Calibri" pitchFamily="34" charset="-120"/>
              </a:rPr>
              <a:t>Autenticacion
</a:t>
            </a:r>
            <a:r>
              <a:rPr lang="en-US" sz="1100" dirty="0">
                <a:solidFill>
                  <a:srgbClr val="5C6B62"/>
                </a:solidFill>
                <a:latin typeface="Calibri" pitchFamily="34" charset="0"/>
                <a:ea typeface="Calibri" pitchFamily="34" charset="-122"/>
                <a:cs typeface="Calibri" pitchFamily="34" charset="-120"/>
              </a:rPr>
              <a:t>Verifica la identidad de quien pide.</a:t>
            </a:r>
            <a:endParaRPr lang="en-US" sz="1300" dirty="0"/>
          </a:p>
        </p:txBody>
      </p:sp>
      <p:sp>
        <p:nvSpPr>
          <p:cNvPr id="11" name="Shape 8"/>
          <p:cNvSpPr/>
          <p:nvPr/>
        </p:nvSpPr>
        <p:spPr>
          <a:xfrm>
            <a:off x="5029200" y="2286000"/>
            <a:ext cx="4069080" cy="868680"/>
          </a:xfrm>
          <a:prstGeom prst="roundRect">
            <a:avLst>
              <a:gd name="adj" fmla="val 8421"/>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2" name="Shape 9"/>
          <p:cNvSpPr/>
          <p:nvPr/>
        </p:nvSpPr>
        <p:spPr>
          <a:xfrm>
            <a:off x="5193792" y="2464308"/>
            <a:ext cx="512064" cy="512064"/>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13" name="Image 1" descr="preencoded.png"/>
          <p:cNvPicPr>
            <a:picLocks noChangeAspect="1"/>
          </p:cNvPicPr>
          <p:nvPr/>
        </p:nvPicPr>
        <p:blipFill>
          <a:blip r:embed="rId4"/>
          <a:stretch>
            <a:fillRect/>
          </a:stretch>
        </p:blipFill>
        <p:spPr>
          <a:xfrm>
            <a:off x="5326929" y="2597445"/>
            <a:ext cx="245791" cy="245791"/>
          </a:xfrm>
          <a:prstGeom prst="rect">
            <a:avLst/>
          </a:prstGeom>
        </p:spPr>
      </p:pic>
      <p:sp>
        <p:nvSpPr>
          <p:cNvPr id="14" name="Text 10"/>
          <p:cNvSpPr/>
          <p:nvPr/>
        </p:nvSpPr>
        <p:spPr>
          <a:xfrm>
            <a:off x="5870448" y="2377440"/>
            <a:ext cx="3108960" cy="685800"/>
          </a:xfrm>
          <a:prstGeom prst="rect">
            <a:avLst/>
          </a:prstGeom>
          <a:noFill/>
          <a:ln/>
        </p:spPr>
        <p:txBody>
          <a:bodyPr wrap="square" lIns="0" tIns="0" rIns="0" bIns="0" rtlCol="0" anchor="ctr"/>
          <a:lstStyle/>
          <a:p>
            <a:pPr marL="0" indent="0">
              <a:lnSpc>
                <a:spcPct val="100000"/>
              </a:lnSpc>
              <a:buNone/>
            </a:pPr>
            <a:r>
              <a:rPr lang="en-US" sz="1300" b="1" dirty="0">
                <a:solidFill>
                  <a:srgbClr val="006633"/>
                </a:solidFill>
                <a:latin typeface="Calibri" pitchFamily="34" charset="0"/>
                <a:ea typeface="Calibri" pitchFamily="34" charset="-122"/>
                <a:cs typeface="Calibri" pitchFamily="34" charset="-120"/>
              </a:rPr>
              <a:t>Autorizacion
</a:t>
            </a:r>
            <a:r>
              <a:rPr lang="en-US" sz="1100" dirty="0">
                <a:solidFill>
                  <a:srgbClr val="5C6B62"/>
                </a:solidFill>
                <a:latin typeface="Calibri" pitchFamily="34" charset="0"/>
                <a:ea typeface="Calibri" pitchFamily="34" charset="-122"/>
                <a:cs typeface="Calibri" pitchFamily="34" charset="-120"/>
              </a:rPr>
              <a:t>Decide que puede hacer cada usuario.</a:t>
            </a:r>
            <a:endParaRPr lang="en-US" sz="1300" dirty="0"/>
          </a:p>
        </p:txBody>
      </p:sp>
      <p:sp>
        <p:nvSpPr>
          <p:cNvPr id="15" name="Shape 11"/>
          <p:cNvSpPr/>
          <p:nvPr/>
        </p:nvSpPr>
        <p:spPr>
          <a:xfrm>
            <a:off x="457200" y="3319272"/>
            <a:ext cx="4069080" cy="868680"/>
          </a:xfrm>
          <a:prstGeom prst="roundRect">
            <a:avLst>
              <a:gd name="adj" fmla="val 8421"/>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6" name="Shape 12"/>
          <p:cNvSpPr/>
          <p:nvPr/>
        </p:nvSpPr>
        <p:spPr>
          <a:xfrm>
            <a:off x="621792" y="3497580"/>
            <a:ext cx="512064" cy="512064"/>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17" name="Image 2" descr="preencoded.png"/>
          <p:cNvPicPr>
            <a:picLocks noChangeAspect="1"/>
          </p:cNvPicPr>
          <p:nvPr/>
        </p:nvPicPr>
        <p:blipFill>
          <a:blip r:embed="rId5"/>
          <a:stretch>
            <a:fillRect/>
          </a:stretch>
        </p:blipFill>
        <p:spPr>
          <a:xfrm>
            <a:off x="754929" y="3630717"/>
            <a:ext cx="245791" cy="245791"/>
          </a:xfrm>
          <a:prstGeom prst="rect">
            <a:avLst/>
          </a:prstGeom>
        </p:spPr>
      </p:pic>
      <p:sp>
        <p:nvSpPr>
          <p:cNvPr id="18" name="Text 13"/>
          <p:cNvSpPr/>
          <p:nvPr/>
        </p:nvSpPr>
        <p:spPr>
          <a:xfrm>
            <a:off x="1298448" y="3410712"/>
            <a:ext cx="3108960" cy="685800"/>
          </a:xfrm>
          <a:prstGeom prst="rect">
            <a:avLst/>
          </a:prstGeom>
          <a:noFill/>
          <a:ln/>
        </p:spPr>
        <p:txBody>
          <a:bodyPr wrap="square" lIns="0" tIns="0" rIns="0" bIns="0" rtlCol="0" anchor="ctr"/>
          <a:lstStyle/>
          <a:p>
            <a:pPr marL="0" indent="0">
              <a:lnSpc>
                <a:spcPct val="100000"/>
              </a:lnSpc>
              <a:buNone/>
            </a:pPr>
            <a:r>
              <a:rPr lang="en-US" sz="1300" b="1" dirty="0">
                <a:solidFill>
                  <a:srgbClr val="006633"/>
                </a:solidFill>
                <a:latin typeface="Calibri" pitchFamily="34" charset="0"/>
                <a:ea typeface="Calibri" pitchFamily="34" charset="-122"/>
                <a:cs typeface="Calibri" pitchFamily="34" charset="-120"/>
              </a:rPr>
              <a:t>Cadena de filtros
</a:t>
            </a:r>
            <a:r>
              <a:rPr lang="en-US" sz="1100" dirty="0">
                <a:solidFill>
                  <a:srgbClr val="5C6B62"/>
                </a:solidFill>
                <a:latin typeface="Calibri" pitchFamily="34" charset="0"/>
                <a:ea typeface="Calibri" pitchFamily="34" charset="-122"/>
                <a:cs typeface="Calibri" pitchFamily="34" charset="-120"/>
              </a:rPr>
              <a:t>Intercepta cada peticion HTTP.</a:t>
            </a:r>
            <a:endParaRPr lang="en-US" sz="1300" dirty="0"/>
          </a:p>
        </p:txBody>
      </p:sp>
      <p:sp>
        <p:nvSpPr>
          <p:cNvPr id="19" name="Shape 14"/>
          <p:cNvSpPr/>
          <p:nvPr/>
        </p:nvSpPr>
        <p:spPr>
          <a:xfrm>
            <a:off x="5029200" y="3319272"/>
            <a:ext cx="4069080" cy="868680"/>
          </a:xfrm>
          <a:prstGeom prst="roundRect">
            <a:avLst>
              <a:gd name="adj" fmla="val 8421"/>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20" name="Shape 15"/>
          <p:cNvSpPr/>
          <p:nvPr/>
        </p:nvSpPr>
        <p:spPr>
          <a:xfrm>
            <a:off x="5193792" y="3497580"/>
            <a:ext cx="512064" cy="512064"/>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21" name="Image 3" descr="preencoded.png"/>
          <p:cNvPicPr>
            <a:picLocks noChangeAspect="1"/>
          </p:cNvPicPr>
          <p:nvPr/>
        </p:nvPicPr>
        <p:blipFill>
          <a:blip r:embed="rId6"/>
          <a:stretch>
            <a:fillRect/>
          </a:stretch>
        </p:blipFill>
        <p:spPr>
          <a:xfrm>
            <a:off x="5326929" y="3630717"/>
            <a:ext cx="245791" cy="245791"/>
          </a:xfrm>
          <a:prstGeom prst="rect">
            <a:avLst/>
          </a:prstGeom>
        </p:spPr>
      </p:pic>
      <p:sp>
        <p:nvSpPr>
          <p:cNvPr id="22" name="Text 16"/>
          <p:cNvSpPr/>
          <p:nvPr/>
        </p:nvSpPr>
        <p:spPr>
          <a:xfrm>
            <a:off x="5870448" y="3410712"/>
            <a:ext cx="3108960" cy="685800"/>
          </a:xfrm>
          <a:prstGeom prst="rect">
            <a:avLst/>
          </a:prstGeom>
          <a:noFill/>
          <a:ln/>
        </p:spPr>
        <p:txBody>
          <a:bodyPr wrap="square" lIns="0" tIns="0" rIns="0" bIns="0" rtlCol="0" anchor="ctr"/>
          <a:lstStyle/>
          <a:p>
            <a:pPr marL="0" indent="0">
              <a:lnSpc>
                <a:spcPct val="100000"/>
              </a:lnSpc>
              <a:buNone/>
            </a:pPr>
            <a:r>
              <a:rPr lang="en-US" sz="1300" b="1" dirty="0">
                <a:solidFill>
                  <a:srgbClr val="006633"/>
                </a:solidFill>
                <a:latin typeface="Calibri" pitchFamily="34" charset="0"/>
                <a:ea typeface="Calibri" pitchFamily="34" charset="-122"/>
                <a:cs typeface="Calibri" pitchFamily="34" charset="-120"/>
              </a:rPr>
              <a:t>Proteccion integrada
</a:t>
            </a:r>
            <a:r>
              <a:rPr lang="en-US" sz="1100" dirty="0">
                <a:solidFill>
                  <a:srgbClr val="5C6B62"/>
                </a:solidFill>
                <a:latin typeface="Calibri" pitchFamily="34" charset="0"/>
                <a:ea typeface="Calibri" pitchFamily="34" charset="-122"/>
                <a:cs typeface="Calibri" pitchFamily="34" charset="-120"/>
              </a:rPr>
              <a:t>CSRF, cabeceras, sesiones, cifrado.</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MAPA DE LA SESION</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Lo que veremos en esta teoria</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(Teoria)</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457200" y="1280160"/>
            <a:ext cx="4069080" cy="640080"/>
          </a:xfrm>
          <a:prstGeom prst="roundRect">
            <a:avLst>
              <a:gd name="adj" fmla="val 11429"/>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7" name="Shape 5"/>
          <p:cNvSpPr/>
          <p:nvPr/>
        </p:nvSpPr>
        <p:spPr>
          <a:xfrm>
            <a:off x="594360" y="1389888"/>
            <a:ext cx="420624" cy="420624"/>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8" name="Image 0" descr="preencoded.png"/>
          <p:cNvPicPr>
            <a:picLocks noChangeAspect="1"/>
          </p:cNvPicPr>
          <p:nvPr/>
        </p:nvPicPr>
        <p:blipFill>
          <a:blip r:embed="rId3"/>
          <a:stretch>
            <a:fillRect/>
          </a:stretch>
        </p:blipFill>
        <p:spPr>
          <a:xfrm>
            <a:off x="703722" y="1499250"/>
            <a:ext cx="201900" cy="201900"/>
          </a:xfrm>
          <a:prstGeom prst="rect">
            <a:avLst/>
          </a:prstGeom>
        </p:spPr>
      </p:pic>
      <p:sp>
        <p:nvSpPr>
          <p:cNvPr id="9" name="Text 6"/>
          <p:cNvSpPr/>
          <p:nvPr/>
        </p:nvSpPr>
        <p:spPr>
          <a:xfrm>
            <a:off x="1133856" y="1335024"/>
            <a:ext cx="3264408" cy="530352"/>
          </a:xfrm>
          <a:prstGeom prst="rect">
            <a:avLst/>
          </a:prstGeom>
          <a:noFill/>
          <a:ln/>
        </p:spPr>
        <p:txBody>
          <a:bodyPr wrap="square" lIns="0" tIns="0" rIns="0" bIns="0" rtlCol="0" anchor="ctr"/>
          <a:lstStyle/>
          <a:p>
            <a:pPr marL="0" indent="0">
              <a:lnSpc>
                <a:spcPct val="95000"/>
              </a:lnSpc>
              <a:buNone/>
            </a:pPr>
            <a:r>
              <a:rPr lang="en-US" sz="1150" b="1" dirty="0">
                <a:solidFill>
                  <a:srgbClr val="006633"/>
                </a:solidFill>
                <a:latin typeface="Calibri" pitchFamily="34" charset="0"/>
                <a:ea typeface="Calibri" pitchFamily="34" charset="-122"/>
                <a:cs typeface="Calibri" pitchFamily="34" charset="-120"/>
              </a:rPr>
              <a:t>Autenticacion vs autorizacion
</a:t>
            </a:r>
            <a:r>
              <a:rPr lang="en-US" sz="950" dirty="0">
                <a:solidFill>
                  <a:srgbClr val="5C6B62"/>
                </a:solidFill>
                <a:latin typeface="Calibri" pitchFamily="34" charset="0"/>
                <a:ea typeface="Calibri" pitchFamily="34" charset="-122"/>
                <a:cs typeface="Calibri" pitchFamily="34" charset="-120"/>
              </a:rPr>
              <a:t>Las dos preguntas de la seguridad.</a:t>
            </a:r>
            <a:endParaRPr lang="en-US" sz="1150" dirty="0"/>
          </a:p>
        </p:txBody>
      </p:sp>
      <p:sp>
        <p:nvSpPr>
          <p:cNvPr id="10" name="Shape 7"/>
          <p:cNvSpPr/>
          <p:nvPr/>
        </p:nvSpPr>
        <p:spPr>
          <a:xfrm>
            <a:off x="5029200" y="1280160"/>
            <a:ext cx="4069080" cy="640080"/>
          </a:xfrm>
          <a:prstGeom prst="roundRect">
            <a:avLst>
              <a:gd name="adj" fmla="val 11429"/>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1" name="Shape 8"/>
          <p:cNvSpPr/>
          <p:nvPr/>
        </p:nvSpPr>
        <p:spPr>
          <a:xfrm>
            <a:off x="5166360" y="1389888"/>
            <a:ext cx="420624" cy="420624"/>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12" name="Image 1" descr="preencoded.png"/>
          <p:cNvPicPr>
            <a:picLocks noChangeAspect="1"/>
          </p:cNvPicPr>
          <p:nvPr/>
        </p:nvPicPr>
        <p:blipFill>
          <a:blip r:embed="rId4"/>
          <a:stretch>
            <a:fillRect/>
          </a:stretch>
        </p:blipFill>
        <p:spPr>
          <a:xfrm>
            <a:off x="5275722" y="1499250"/>
            <a:ext cx="201900" cy="201900"/>
          </a:xfrm>
          <a:prstGeom prst="rect">
            <a:avLst/>
          </a:prstGeom>
        </p:spPr>
      </p:pic>
      <p:sp>
        <p:nvSpPr>
          <p:cNvPr id="13" name="Text 9"/>
          <p:cNvSpPr/>
          <p:nvPr/>
        </p:nvSpPr>
        <p:spPr>
          <a:xfrm>
            <a:off x="5705856" y="1335024"/>
            <a:ext cx="3264408" cy="530352"/>
          </a:xfrm>
          <a:prstGeom prst="rect">
            <a:avLst/>
          </a:prstGeom>
          <a:noFill/>
          <a:ln/>
        </p:spPr>
        <p:txBody>
          <a:bodyPr wrap="square" lIns="0" tIns="0" rIns="0" bIns="0" rtlCol="0" anchor="ctr"/>
          <a:lstStyle/>
          <a:p>
            <a:pPr marL="0" indent="0">
              <a:lnSpc>
                <a:spcPct val="95000"/>
              </a:lnSpc>
              <a:buNone/>
            </a:pPr>
            <a:r>
              <a:rPr lang="en-US" sz="1150" b="1" dirty="0">
                <a:solidFill>
                  <a:srgbClr val="006633"/>
                </a:solidFill>
                <a:latin typeface="Calibri" pitchFamily="34" charset="0"/>
                <a:ea typeface="Calibri" pitchFamily="34" charset="-122"/>
                <a:cs typeface="Calibri" pitchFamily="34" charset="-120"/>
              </a:rPr>
              <a:t>La cadena de filtros
</a:t>
            </a:r>
            <a:r>
              <a:rPr lang="en-US" sz="950" dirty="0">
                <a:solidFill>
                  <a:srgbClr val="5C6B62"/>
                </a:solidFill>
                <a:latin typeface="Calibri" pitchFamily="34" charset="0"/>
                <a:ea typeface="Calibri" pitchFamily="34" charset="-122"/>
                <a:cs typeface="Calibri" pitchFamily="34" charset="-120"/>
              </a:rPr>
              <a:t>El corazon arquitectonico.</a:t>
            </a:r>
            <a:endParaRPr lang="en-US" sz="1150" dirty="0"/>
          </a:p>
        </p:txBody>
      </p:sp>
      <p:sp>
        <p:nvSpPr>
          <p:cNvPr id="14" name="Shape 10"/>
          <p:cNvSpPr/>
          <p:nvPr/>
        </p:nvSpPr>
        <p:spPr>
          <a:xfrm>
            <a:off x="457200" y="2039112"/>
            <a:ext cx="4069080" cy="640080"/>
          </a:xfrm>
          <a:prstGeom prst="roundRect">
            <a:avLst>
              <a:gd name="adj" fmla="val 11429"/>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5" name="Shape 11"/>
          <p:cNvSpPr/>
          <p:nvPr/>
        </p:nvSpPr>
        <p:spPr>
          <a:xfrm>
            <a:off x="594360" y="2148840"/>
            <a:ext cx="420624" cy="420624"/>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16" name="Image 2" descr="preencoded.png"/>
          <p:cNvPicPr>
            <a:picLocks noChangeAspect="1"/>
          </p:cNvPicPr>
          <p:nvPr/>
        </p:nvPicPr>
        <p:blipFill>
          <a:blip r:embed="rId5"/>
          <a:stretch>
            <a:fillRect/>
          </a:stretch>
        </p:blipFill>
        <p:spPr>
          <a:xfrm>
            <a:off x="703722" y="2258202"/>
            <a:ext cx="201900" cy="201900"/>
          </a:xfrm>
          <a:prstGeom prst="rect">
            <a:avLst/>
          </a:prstGeom>
        </p:spPr>
      </p:pic>
      <p:sp>
        <p:nvSpPr>
          <p:cNvPr id="17" name="Text 12"/>
          <p:cNvSpPr/>
          <p:nvPr/>
        </p:nvSpPr>
        <p:spPr>
          <a:xfrm>
            <a:off x="1133856" y="2093976"/>
            <a:ext cx="3264408" cy="530352"/>
          </a:xfrm>
          <a:prstGeom prst="rect">
            <a:avLst/>
          </a:prstGeom>
          <a:noFill/>
          <a:ln/>
        </p:spPr>
        <p:txBody>
          <a:bodyPr wrap="square" lIns="0" tIns="0" rIns="0" bIns="0" rtlCol="0" anchor="ctr"/>
          <a:lstStyle/>
          <a:p>
            <a:pPr marL="0" indent="0">
              <a:lnSpc>
                <a:spcPct val="95000"/>
              </a:lnSpc>
              <a:buNone/>
            </a:pPr>
            <a:r>
              <a:rPr lang="en-US" sz="1150" b="1" dirty="0">
                <a:solidFill>
                  <a:srgbClr val="006633"/>
                </a:solidFill>
                <a:latin typeface="Calibri" pitchFamily="34" charset="0"/>
                <a:ea typeface="Calibri" pitchFamily="34" charset="-122"/>
                <a:cs typeface="Calibri" pitchFamily="34" charset="-120"/>
              </a:rPr>
              <a:t>El contexto de seguridad
</a:t>
            </a:r>
            <a:r>
              <a:rPr lang="en-US" sz="950" dirty="0">
                <a:solidFill>
                  <a:srgbClr val="5C6B62"/>
                </a:solidFill>
                <a:latin typeface="Calibri" pitchFamily="34" charset="0"/>
                <a:ea typeface="Calibri" pitchFamily="34" charset="-122"/>
                <a:cs typeface="Calibri" pitchFamily="34" charset="-120"/>
              </a:rPr>
              <a:t>Quien soy, durante la peticion.</a:t>
            </a:r>
            <a:endParaRPr lang="en-US" sz="1150" dirty="0"/>
          </a:p>
        </p:txBody>
      </p:sp>
      <p:sp>
        <p:nvSpPr>
          <p:cNvPr id="18" name="Shape 13"/>
          <p:cNvSpPr/>
          <p:nvPr/>
        </p:nvSpPr>
        <p:spPr>
          <a:xfrm>
            <a:off x="5029200" y="2039112"/>
            <a:ext cx="4069080" cy="640080"/>
          </a:xfrm>
          <a:prstGeom prst="roundRect">
            <a:avLst>
              <a:gd name="adj" fmla="val 11429"/>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9" name="Shape 14"/>
          <p:cNvSpPr/>
          <p:nvPr/>
        </p:nvSpPr>
        <p:spPr>
          <a:xfrm>
            <a:off x="5166360" y="2148840"/>
            <a:ext cx="420624" cy="420624"/>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20" name="Image 3" descr="preencoded.png"/>
          <p:cNvPicPr>
            <a:picLocks noChangeAspect="1"/>
          </p:cNvPicPr>
          <p:nvPr/>
        </p:nvPicPr>
        <p:blipFill>
          <a:blip r:embed="rId6"/>
          <a:stretch>
            <a:fillRect/>
          </a:stretch>
        </p:blipFill>
        <p:spPr>
          <a:xfrm>
            <a:off x="5275722" y="2258202"/>
            <a:ext cx="201900" cy="201900"/>
          </a:xfrm>
          <a:prstGeom prst="rect">
            <a:avLst/>
          </a:prstGeom>
        </p:spPr>
      </p:pic>
      <p:sp>
        <p:nvSpPr>
          <p:cNvPr id="21" name="Text 15"/>
          <p:cNvSpPr/>
          <p:nvPr/>
        </p:nvSpPr>
        <p:spPr>
          <a:xfrm>
            <a:off x="5705856" y="2093976"/>
            <a:ext cx="3264408" cy="530352"/>
          </a:xfrm>
          <a:prstGeom prst="rect">
            <a:avLst/>
          </a:prstGeom>
          <a:noFill/>
          <a:ln/>
        </p:spPr>
        <p:txBody>
          <a:bodyPr wrap="square" lIns="0" tIns="0" rIns="0" bIns="0" rtlCol="0" anchor="ctr"/>
          <a:lstStyle/>
          <a:p>
            <a:pPr marL="0" indent="0">
              <a:lnSpc>
                <a:spcPct val="95000"/>
              </a:lnSpc>
              <a:buNone/>
            </a:pPr>
            <a:r>
              <a:rPr lang="en-US" sz="1150" b="1" dirty="0">
                <a:solidFill>
                  <a:srgbClr val="006633"/>
                </a:solidFill>
                <a:latin typeface="Calibri" pitchFamily="34" charset="0"/>
                <a:ea typeface="Calibri" pitchFamily="34" charset="-122"/>
                <a:cs typeface="Calibri" pitchFamily="34" charset="-120"/>
              </a:rPr>
              <a:t>Quien autentica
</a:t>
            </a:r>
            <a:r>
              <a:rPr lang="en-US" sz="950" dirty="0">
                <a:solidFill>
                  <a:srgbClr val="5C6B62"/>
                </a:solidFill>
                <a:latin typeface="Calibri" pitchFamily="34" charset="0"/>
                <a:ea typeface="Calibri" pitchFamily="34" charset="-122"/>
                <a:cs typeface="Calibri" pitchFamily="34" charset="-120"/>
              </a:rPr>
              <a:t>AuthenticationManager y proveedores.</a:t>
            </a:r>
            <a:endParaRPr lang="en-US" sz="1150" dirty="0"/>
          </a:p>
        </p:txBody>
      </p:sp>
      <p:sp>
        <p:nvSpPr>
          <p:cNvPr id="22" name="Shape 16"/>
          <p:cNvSpPr/>
          <p:nvPr/>
        </p:nvSpPr>
        <p:spPr>
          <a:xfrm>
            <a:off x="457200" y="2798064"/>
            <a:ext cx="4069080" cy="640080"/>
          </a:xfrm>
          <a:prstGeom prst="roundRect">
            <a:avLst>
              <a:gd name="adj" fmla="val 11429"/>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23" name="Shape 17"/>
          <p:cNvSpPr/>
          <p:nvPr/>
        </p:nvSpPr>
        <p:spPr>
          <a:xfrm>
            <a:off x="594360" y="2907792"/>
            <a:ext cx="420624" cy="420624"/>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24" name="Image 4" descr="preencoded.png"/>
          <p:cNvPicPr>
            <a:picLocks noChangeAspect="1"/>
          </p:cNvPicPr>
          <p:nvPr/>
        </p:nvPicPr>
        <p:blipFill>
          <a:blip r:embed="rId7"/>
          <a:stretch>
            <a:fillRect/>
          </a:stretch>
        </p:blipFill>
        <p:spPr>
          <a:xfrm>
            <a:off x="703722" y="3017154"/>
            <a:ext cx="201900" cy="201900"/>
          </a:xfrm>
          <a:prstGeom prst="rect">
            <a:avLst/>
          </a:prstGeom>
        </p:spPr>
      </p:pic>
      <p:sp>
        <p:nvSpPr>
          <p:cNvPr id="25" name="Text 18"/>
          <p:cNvSpPr/>
          <p:nvPr/>
        </p:nvSpPr>
        <p:spPr>
          <a:xfrm>
            <a:off x="1133856" y="2852928"/>
            <a:ext cx="3264408" cy="530352"/>
          </a:xfrm>
          <a:prstGeom prst="rect">
            <a:avLst/>
          </a:prstGeom>
          <a:noFill/>
          <a:ln/>
        </p:spPr>
        <p:txBody>
          <a:bodyPr wrap="square" lIns="0" tIns="0" rIns="0" bIns="0" rtlCol="0" anchor="ctr"/>
          <a:lstStyle/>
          <a:p>
            <a:pPr marL="0" indent="0">
              <a:lnSpc>
                <a:spcPct val="95000"/>
              </a:lnSpc>
              <a:buNone/>
            </a:pPr>
            <a:r>
              <a:rPr lang="en-US" sz="1150" b="1" dirty="0">
                <a:solidFill>
                  <a:srgbClr val="006633"/>
                </a:solidFill>
                <a:latin typeface="Calibri" pitchFamily="34" charset="0"/>
                <a:ea typeface="Calibri" pitchFamily="34" charset="-122"/>
                <a:cs typeface="Calibri" pitchFamily="34" charset="-120"/>
              </a:rPr>
              <a:t>Usuarios y contrasenas
</a:t>
            </a:r>
            <a:r>
              <a:rPr lang="en-US" sz="950" dirty="0">
                <a:solidFill>
                  <a:srgbClr val="5C6B62"/>
                </a:solidFill>
                <a:latin typeface="Calibri" pitchFamily="34" charset="0"/>
                <a:ea typeface="Calibri" pitchFamily="34" charset="-122"/>
                <a:cs typeface="Calibri" pitchFamily="34" charset="-120"/>
              </a:rPr>
              <a:t>UserDetailsService y PasswordEncoder.</a:t>
            </a:r>
            <a:endParaRPr lang="en-US" sz="1150" dirty="0"/>
          </a:p>
        </p:txBody>
      </p:sp>
      <p:sp>
        <p:nvSpPr>
          <p:cNvPr id="26" name="Shape 19"/>
          <p:cNvSpPr/>
          <p:nvPr/>
        </p:nvSpPr>
        <p:spPr>
          <a:xfrm>
            <a:off x="5029200" y="2798064"/>
            <a:ext cx="4069080" cy="640080"/>
          </a:xfrm>
          <a:prstGeom prst="roundRect">
            <a:avLst>
              <a:gd name="adj" fmla="val 11429"/>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27" name="Shape 20"/>
          <p:cNvSpPr/>
          <p:nvPr/>
        </p:nvSpPr>
        <p:spPr>
          <a:xfrm>
            <a:off x="5166360" y="2907792"/>
            <a:ext cx="420624" cy="420624"/>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28" name="Image 5" descr="preencoded.png"/>
          <p:cNvPicPr>
            <a:picLocks noChangeAspect="1"/>
          </p:cNvPicPr>
          <p:nvPr/>
        </p:nvPicPr>
        <p:blipFill>
          <a:blip r:embed="rId8"/>
          <a:stretch>
            <a:fillRect/>
          </a:stretch>
        </p:blipFill>
        <p:spPr>
          <a:xfrm>
            <a:off x="5275722" y="3017154"/>
            <a:ext cx="201900" cy="201900"/>
          </a:xfrm>
          <a:prstGeom prst="rect">
            <a:avLst/>
          </a:prstGeom>
        </p:spPr>
      </p:pic>
      <p:sp>
        <p:nvSpPr>
          <p:cNvPr id="29" name="Text 21"/>
          <p:cNvSpPr/>
          <p:nvPr/>
        </p:nvSpPr>
        <p:spPr>
          <a:xfrm>
            <a:off x="5705856" y="2852928"/>
            <a:ext cx="3264408" cy="530352"/>
          </a:xfrm>
          <a:prstGeom prst="rect">
            <a:avLst/>
          </a:prstGeom>
          <a:noFill/>
          <a:ln/>
        </p:spPr>
        <p:txBody>
          <a:bodyPr wrap="square" lIns="0" tIns="0" rIns="0" bIns="0" rtlCol="0" anchor="ctr"/>
          <a:lstStyle/>
          <a:p>
            <a:pPr marL="0" indent="0">
              <a:lnSpc>
                <a:spcPct val="95000"/>
              </a:lnSpc>
              <a:buNone/>
            </a:pPr>
            <a:r>
              <a:rPr lang="en-US" sz="1150" b="1" dirty="0">
                <a:solidFill>
                  <a:srgbClr val="006633"/>
                </a:solidFill>
                <a:latin typeface="Calibri" pitchFamily="34" charset="0"/>
                <a:ea typeface="Calibri" pitchFamily="34" charset="-122"/>
                <a:cs typeface="Calibri" pitchFamily="34" charset="-120"/>
              </a:rPr>
              <a:t>Como se autoriza
</a:t>
            </a:r>
            <a:r>
              <a:rPr lang="en-US" sz="950" dirty="0">
                <a:solidFill>
                  <a:srgbClr val="5C6B62"/>
                </a:solidFill>
                <a:latin typeface="Calibri" pitchFamily="34" charset="0"/>
                <a:ea typeface="Calibri" pitchFamily="34" charset="-122"/>
                <a:cs typeface="Calibri" pitchFamily="34" charset="-120"/>
              </a:rPr>
              <a:t>Roles, authorities, URL y metodo.</a:t>
            </a:r>
            <a:endParaRPr lang="en-US" sz="1150" dirty="0"/>
          </a:p>
        </p:txBody>
      </p:sp>
      <p:sp>
        <p:nvSpPr>
          <p:cNvPr id="30" name="Shape 22"/>
          <p:cNvSpPr/>
          <p:nvPr/>
        </p:nvSpPr>
        <p:spPr>
          <a:xfrm>
            <a:off x="457200" y="3557016"/>
            <a:ext cx="4069080" cy="640080"/>
          </a:xfrm>
          <a:prstGeom prst="roundRect">
            <a:avLst>
              <a:gd name="adj" fmla="val 11429"/>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31" name="Shape 23"/>
          <p:cNvSpPr/>
          <p:nvPr/>
        </p:nvSpPr>
        <p:spPr>
          <a:xfrm>
            <a:off x="594360" y="3666744"/>
            <a:ext cx="420624" cy="420624"/>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32" name="Image 6" descr="preencoded.png"/>
          <p:cNvPicPr>
            <a:picLocks noChangeAspect="1"/>
          </p:cNvPicPr>
          <p:nvPr/>
        </p:nvPicPr>
        <p:blipFill>
          <a:blip r:embed="rId9"/>
          <a:stretch>
            <a:fillRect/>
          </a:stretch>
        </p:blipFill>
        <p:spPr>
          <a:xfrm>
            <a:off x="703722" y="3776106"/>
            <a:ext cx="201900" cy="201900"/>
          </a:xfrm>
          <a:prstGeom prst="rect">
            <a:avLst/>
          </a:prstGeom>
        </p:spPr>
      </p:pic>
      <p:sp>
        <p:nvSpPr>
          <p:cNvPr id="33" name="Text 24"/>
          <p:cNvSpPr/>
          <p:nvPr/>
        </p:nvSpPr>
        <p:spPr>
          <a:xfrm>
            <a:off x="1133856" y="3611880"/>
            <a:ext cx="3264408" cy="530352"/>
          </a:xfrm>
          <a:prstGeom prst="rect">
            <a:avLst/>
          </a:prstGeom>
          <a:noFill/>
          <a:ln/>
        </p:spPr>
        <p:txBody>
          <a:bodyPr wrap="square" lIns="0" tIns="0" rIns="0" bIns="0" rtlCol="0" anchor="ctr"/>
          <a:lstStyle/>
          <a:p>
            <a:pPr marL="0" indent="0">
              <a:lnSpc>
                <a:spcPct val="95000"/>
              </a:lnSpc>
              <a:buNone/>
            </a:pPr>
            <a:r>
              <a:rPr lang="en-US" sz="1150" b="1" dirty="0">
                <a:solidFill>
                  <a:srgbClr val="006633"/>
                </a:solidFill>
                <a:latin typeface="Calibri" pitchFamily="34" charset="0"/>
                <a:ea typeface="Calibri" pitchFamily="34" charset="-122"/>
                <a:cs typeface="Calibri" pitchFamily="34" charset="-120"/>
              </a:rPr>
              <a:t>Sesion vs token
</a:t>
            </a:r>
            <a:r>
              <a:rPr lang="en-US" sz="950" dirty="0">
                <a:solidFill>
                  <a:srgbClr val="5C6B62"/>
                </a:solidFill>
                <a:latin typeface="Calibri" pitchFamily="34" charset="0"/>
                <a:ea typeface="Calibri" pitchFamily="34" charset="-122"/>
                <a:cs typeface="Calibri" pitchFamily="34" charset="-120"/>
              </a:rPr>
              <a:t>Con estado frente a sin estado.</a:t>
            </a:r>
            <a:endParaRPr lang="en-US" sz="1150" dirty="0"/>
          </a:p>
        </p:txBody>
      </p:sp>
      <p:sp>
        <p:nvSpPr>
          <p:cNvPr id="34" name="Shape 25"/>
          <p:cNvSpPr/>
          <p:nvPr/>
        </p:nvSpPr>
        <p:spPr>
          <a:xfrm>
            <a:off x="5029200" y="3557016"/>
            <a:ext cx="4069080" cy="640080"/>
          </a:xfrm>
          <a:prstGeom prst="roundRect">
            <a:avLst>
              <a:gd name="adj" fmla="val 11429"/>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35" name="Shape 26"/>
          <p:cNvSpPr/>
          <p:nvPr/>
        </p:nvSpPr>
        <p:spPr>
          <a:xfrm>
            <a:off x="5166360" y="3666744"/>
            <a:ext cx="420624" cy="420624"/>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36" name="Image 7" descr="preencoded.png"/>
          <p:cNvPicPr>
            <a:picLocks noChangeAspect="1"/>
          </p:cNvPicPr>
          <p:nvPr/>
        </p:nvPicPr>
        <p:blipFill>
          <a:blip r:embed="rId6"/>
          <a:stretch>
            <a:fillRect/>
          </a:stretch>
        </p:blipFill>
        <p:spPr>
          <a:xfrm>
            <a:off x="5275722" y="3776106"/>
            <a:ext cx="201900" cy="201900"/>
          </a:xfrm>
          <a:prstGeom prst="rect">
            <a:avLst/>
          </a:prstGeom>
        </p:spPr>
      </p:pic>
      <p:sp>
        <p:nvSpPr>
          <p:cNvPr id="37" name="Text 27"/>
          <p:cNvSpPr/>
          <p:nvPr/>
        </p:nvSpPr>
        <p:spPr>
          <a:xfrm>
            <a:off x="5705856" y="3611880"/>
            <a:ext cx="3264408" cy="530352"/>
          </a:xfrm>
          <a:prstGeom prst="rect">
            <a:avLst/>
          </a:prstGeom>
          <a:noFill/>
          <a:ln/>
        </p:spPr>
        <p:txBody>
          <a:bodyPr wrap="square" lIns="0" tIns="0" rIns="0" bIns="0" rtlCol="0" anchor="ctr"/>
          <a:lstStyle/>
          <a:p>
            <a:pPr marL="0" indent="0">
              <a:lnSpc>
                <a:spcPct val="95000"/>
              </a:lnSpc>
              <a:buNone/>
            </a:pPr>
            <a:r>
              <a:rPr lang="en-US" sz="1150" b="1" dirty="0">
                <a:solidFill>
                  <a:srgbClr val="006633"/>
                </a:solidFill>
                <a:latin typeface="Calibri" pitchFamily="34" charset="0"/>
                <a:ea typeface="Calibri" pitchFamily="34" charset="-122"/>
                <a:cs typeface="Calibri" pitchFamily="34" charset="-120"/>
              </a:rPr>
              <a:t>Spring Security 6 y 7
</a:t>
            </a:r>
            <a:r>
              <a:rPr lang="en-US" sz="950" dirty="0">
                <a:solidFill>
                  <a:srgbClr val="5C6B62"/>
                </a:solidFill>
                <a:latin typeface="Calibri" pitchFamily="34" charset="0"/>
                <a:ea typeface="Calibri" pitchFamily="34" charset="-122"/>
                <a:cs typeface="Calibri" pitchFamily="34" charset="-120"/>
              </a:rPr>
              <a:t>Que cambio respecto al pasado.</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CONCEPTOS BASE</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Los dos pilares de la seguridad</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(Teoria)</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457200" y="1371600"/>
            <a:ext cx="4023360" cy="3063240"/>
          </a:xfrm>
          <a:prstGeom prst="roundRect">
            <a:avLst>
              <a:gd name="adj" fmla="val 2388"/>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7" name="Shape 5"/>
          <p:cNvSpPr/>
          <p:nvPr/>
        </p:nvSpPr>
        <p:spPr>
          <a:xfrm>
            <a:off x="658368" y="1572768"/>
            <a:ext cx="566928" cy="566928"/>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8" name="Image 0" descr="preencoded.png"/>
          <p:cNvPicPr>
            <a:picLocks noChangeAspect="1"/>
          </p:cNvPicPr>
          <p:nvPr/>
        </p:nvPicPr>
        <p:blipFill>
          <a:blip r:embed="rId3"/>
          <a:stretch>
            <a:fillRect/>
          </a:stretch>
        </p:blipFill>
        <p:spPr>
          <a:xfrm>
            <a:off x="805769" y="1720169"/>
            <a:ext cx="272125" cy="272125"/>
          </a:xfrm>
          <a:prstGeom prst="rect">
            <a:avLst/>
          </a:prstGeom>
        </p:spPr>
      </p:pic>
      <p:sp>
        <p:nvSpPr>
          <p:cNvPr id="9" name="Text 6"/>
          <p:cNvSpPr/>
          <p:nvPr/>
        </p:nvSpPr>
        <p:spPr>
          <a:xfrm>
            <a:off x="1389888" y="1609344"/>
            <a:ext cx="2926080" cy="365760"/>
          </a:xfrm>
          <a:prstGeom prst="rect">
            <a:avLst/>
          </a:prstGeom>
          <a:noFill/>
          <a:ln/>
        </p:spPr>
        <p:txBody>
          <a:bodyPr wrap="square" lIns="0" tIns="0" rIns="0" bIns="0" rtlCol="0" anchor="ctr"/>
          <a:lstStyle/>
          <a:p>
            <a:pPr marL="0" indent="0">
              <a:buNone/>
            </a:pPr>
            <a:r>
              <a:rPr lang="en-US" sz="1600" b="1" dirty="0">
                <a:solidFill>
                  <a:srgbClr val="006633"/>
                </a:solidFill>
                <a:latin typeface="Calibri" pitchFamily="34" charset="0"/>
                <a:ea typeface="Calibri" pitchFamily="34" charset="-122"/>
                <a:cs typeface="Calibri" pitchFamily="34" charset="-120"/>
              </a:rPr>
              <a:t>Autenticacion</a:t>
            </a:r>
            <a:endParaRPr lang="en-US" sz="1600" dirty="0"/>
          </a:p>
        </p:txBody>
      </p:sp>
      <p:sp>
        <p:nvSpPr>
          <p:cNvPr id="10" name="Text 7"/>
          <p:cNvSpPr/>
          <p:nvPr/>
        </p:nvSpPr>
        <p:spPr>
          <a:xfrm>
            <a:off x="658368" y="2331720"/>
            <a:ext cx="3657600" cy="1920240"/>
          </a:xfrm>
          <a:prstGeom prst="rect">
            <a:avLst/>
          </a:prstGeom>
          <a:noFill/>
          <a:ln/>
        </p:spPr>
        <p:txBody>
          <a:bodyPr wrap="square" lIns="0" tIns="0" rIns="0" bIns="0" rtlCol="0" anchor="t"/>
          <a:lstStyle/>
          <a:p>
            <a:pPr marL="0" indent="0">
              <a:lnSpc>
                <a:spcPct val="106000"/>
              </a:lnSpc>
              <a:buNone/>
            </a:pPr>
            <a:r>
              <a:rPr lang="en-US" sz="1200" b="1" dirty="0">
                <a:solidFill>
                  <a:srgbClr val="1E2A22"/>
                </a:solidFill>
                <a:latin typeface="Calibri" pitchFamily="34" charset="0"/>
                <a:ea typeface="Calibri" pitchFamily="34" charset="-122"/>
                <a:cs typeface="Calibri" pitchFamily="34" charset="-120"/>
              </a:rPr>
              <a:t>Quien eres.
</a:t>
            </a:r>
            <a:endParaRPr lang="en-US" sz="1200" dirty="0"/>
          </a:p>
          <a:p>
            <a:pPr marL="0" indent="0">
              <a:lnSpc>
                <a:spcPct val="106000"/>
              </a:lnSpc>
              <a:buNone/>
            </a:pPr>
            <a:r>
              <a:rPr lang="en-US" sz="1200" dirty="0">
                <a:solidFill>
                  <a:srgbClr val="5C6B62"/>
                </a:solidFill>
                <a:latin typeface="Calibri" pitchFamily="34" charset="0"/>
                <a:ea typeface="Calibri" pitchFamily="34" charset="-122"/>
                <a:cs typeface="Calibri" pitchFamily="34" charset="-120"/>
              </a:rPr>
              <a:t>Se comprueba la identidad con credenciales (usuario y contrasena, token, certificado...). El resultado es un objeto </a:t>
            </a:r>
            <a:r>
              <a:rPr lang="en-US" sz="1100" dirty="0">
                <a:solidFill>
                  <a:srgbClr val="0057AE"/>
                </a:solidFill>
                <a:latin typeface="Courier New" pitchFamily="34" charset="0"/>
                <a:ea typeface="Courier New" pitchFamily="34" charset="-122"/>
                <a:cs typeface="Courier New" pitchFamily="34" charset="-120"/>
              </a:rPr>
              <a:t>Authentication</a:t>
            </a:r>
            <a:r>
              <a:rPr lang="en-US" sz="1200" dirty="0">
                <a:solidFill>
                  <a:srgbClr val="5C6B62"/>
                </a:solidFill>
                <a:latin typeface="Calibri" pitchFamily="34" charset="0"/>
                <a:ea typeface="Calibri" pitchFamily="34" charset="-122"/>
                <a:cs typeface="Calibri" pitchFamily="34" charset="-120"/>
              </a:rPr>
              <a:t> que representa al usuario ya identificado.</a:t>
            </a:r>
            <a:endParaRPr lang="en-US" sz="1200" dirty="0"/>
          </a:p>
        </p:txBody>
      </p:sp>
      <p:sp>
        <p:nvSpPr>
          <p:cNvPr id="11" name="Shape 8"/>
          <p:cNvSpPr/>
          <p:nvPr/>
        </p:nvSpPr>
        <p:spPr>
          <a:xfrm>
            <a:off x="4663440" y="1371600"/>
            <a:ext cx="4023360" cy="3063240"/>
          </a:xfrm>
          <a:prstGeom prst="roundRect">
            <a:avLst>
              <a:gd name="adj" fmla="val 2388"/>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2" name="Shape 9"/>
          <p:cNvSpPr/>
          <p:nvPr/>
        </p:nvSpPr>
        <p:spPr>
          <a:xfrm>
            <a:off x="4864608" y="1572768"/>
            <a:ext cx="566928" cy="566928"/>
          </a:xfrm>
          <a:prstGeom prst="ellipse">
            <a:avLst/>
          </a:prstGeom>
          <a:solidFill>
            <a:srgbClr val="CC9900"/>
          </a:solidFill>
          <a:ln/>
          <a:effectLst>
            <a:outerShdw blurRad="88900" dist="38100" dir="5400000" algn="bl" rotWithShape="0">
              <a:srgbClr val="000000">
                <a:alpha val="16000"/>
              </a:srgbClr>
            </a:outerShdw>
          </a:effectLst>
        </p:spPr>
        <p:txBody>
          <a:bodyPr/>
          <a:lstStyle/>
          <a:p>
            <a:endParaRPr lang="es-ES"/>
          </a:p>
        </p:txBody>
      </p:sp>
      <p:pic>
        <p:nvPicPr>
          <p:cNvPr id="13" name="Image 1" descr="preencoded.png"/>
          <p:cNvPicPr>
            <a:picLocks noChangeAspect="1"/>
          </p:cNvPicPr>
          <p:nvPr/>
        </p:nvPicPr>
        <p:blipFill>
          <a:blip r:embed="rId4"/>
          <a:stretch>
            <a:fillRect/>
          </a:stretch>
        </p:blipFill>
        <p:spPr>
          <a:xfrm>
            <a:off x="5012009" y="1720169"/>
            <a:ext cx="272125" cy="272125"/>
          </a:xfrm>
          <a:prstGeom prst="rect">
            <a:avLst/>
          </a:prstGeom>
        </p:spPr>
      </p:pic>
      <p:sp>
        <p:nvSpPr>
          <p:cNvPr id="14" name="Text 10"/>
          <p:cNvSpPr/>
          <p:nvPr/>
        </p:nvSpPr>
        <p:spPr>
          <a:xfrm>
            <a:off x="5596128" y="1609344"/>
            <a:ext cx="2926080" cy="365760"/>
          </a:xfrm>
          <a:prstGeom prst="rect">
            <a:avLst/>
          </a:prstGeom>
          <a:noFill/>
          <a:ln/>
        </p:spPr>
        <p:txBody>
          <a:bodyPr wrap="square" lIns="0" tIns="0" rIns="0" bIns="0" rtlCol="0" anchor="ctr"/>
          <a:lstStyle/>
          <a:p>
            <a:pPr marL="0" indent="0">
              <a:buNone/>
            </a:pPr>
            <a:r>
              <a:rPr lang="en-US" sz="1600" b="1" dirty="0">
                <a:solidFill>
                  <a:srgbClr val="9A7400"/>
                </a:solidFill>
                <a:latin typeface="Calibri" pitchFamily="34" charset="0"/>
                <a:ea typeface="Calibri" pitchFamily="34" charset="-122"/>
                <a:cs typeface="Calibri" pitchFamily="34" charset="-120"/>
              </a:rPr>
              <a:t>Autorizacion</a:t>
            </a:r>
            <a:endParaRPr lang="en-US" sz="1600" dirty="0"/>
          </a:p>
        </p:txBody>
      </p:sp>
      <p:sp>
        <p:nvSpPr>
          <p:cNvPr id="15" name="Text 11"/>
          <p:cNvSpPr/>
          <p:nvPr/>
        </p:nvSpPr>
        <p:spPr>
          <a:xfrm>
            <a:off x="4864608" y="2331720"/>
            <a:ext cx="3657600" cy="1920240"/>
          </a:xfrm>
          <a:prstGeom prst="rect">
            <a:avLst/>
          </a:prstGeom>
          <a:noFill/>
          <a:ln/>
        </p:spPr>
        <p:txBody>
          <a:bodyPr wrap="square" lIns="0" tIns="0" rIns="0" bIns="0" rtlCol="0" anchor="t"/>
          <a:lstStyle/>
          <a:p>
            <a:pPr marL="0" indent="0">
              <a:lnSpc>
                <a:spcPct val="106000"/>
              </a:lnSpc>
              <a:buNone/>
            </a:pPr>
            <a:r>
              <a:rPr lang="en-US" sz="1200" b="1" dirty="0">
                <a:solidFill>
                  <a:srgbClr val="1E2A22"/>
                </a:solidFill>
                <a:latin typeface="Calibri" pitchFamily="34" charset="0"/>
                <a:ea typeface="Calibri" pitchFamily="34" charset="-122"/>
                <a:cs typeface="Calibri" pitchFamily="34" charset="-120"/>
              </a:rPr>
              <a:t>Que puedes hacer.
</a:t>
            </a:r>
            <a:endParaRPr lang="en-US" sz="1200" dirty="0"/>
          </a:p>
          <a:p>
            <a:pPr marL="0" indent="0">
              <a:lnSpc>
                <a:spcPct val="106000"/>
              </a:lnSpc>
              <a:buNone/>
            </a:pPr>
            <a:r>
              <a:rPr lang="en-US" sz="1200" dirty="0">
                <a:solidFill>
                  <a:srgbClr val="5C6B62"/>
                </a:solidFill>
                <a:latin typeface="Calibri" pitchFamily="34" charset="0"/>
                <a:ea typeface="Calibri" pitchFamily="34" charset="-122"/>
                <a:cs typeface="Calibri" pitchFamily="34" charset="-120"/>
              </a:rPr>
              <a:t>Ya identificado, se decide si tiene permiso para un recurso o accion, comparando sus </a:t>
            </a:r>
            <a:r>
              <a:rPr lang="en-US" sz="1100" dirty="0">
                <a:solidFill>
                  <a:srgbClr val="0057AE"/>
                </a:solidFill>
                <a:latin typeface="Courier New" pitchFamily="34" charset="0"/>
                <a:ea typeface="Courier New" pitchFamily="34" charset="-122"/>
                <a:cs typeface="Courier New" pitchFamily="34" charset="-120"/>
              </a:rPr>
              <a:t>authorities</a:t>
            </a:r>
            <a:r>
              <a:rPr lang="en-US" sz="1200" dirty="0">
                <a:solidFill>
                  <a:srgbClr val="5C6B62"/>
                </a:solidFill>
                <a:latin typeface="Calibri" pitchFamily="34" charset="0"/>
                <a:ea typeface="Calibri" pitchFamily="34" charset="-122"/>
                <a:cs typeface="Calibri" pitchFamily="34" charset="-120"/>
              </a:rPr>
              <a:t> (roles o permisos) con las reglas configuradas.</a:t>
            </a:r>
            <a:endParaRPr lang="en-US" sz="1200" dirty="0"/>
          </a:p>
        </p:txBody>
      </p:sp>
      <p:sp>
        <p:nvSpPr>
          <p:cNvPr id="16" name="Text 12"/>
          <p:cNvSpPr/>
          <p:nvPr/>
        </p:nvSpPr>
        <p:spPr>
          <a:xfrm>
            <a:off x="457200" y="4553712"/>
            <a:ext cx="8229600" cy="274320"/>
          </a:xfrm>
          <a:prstGeom prst="rect">
            <a:avLst/>
          </a:prstGeom>
          <a:noFill/>
          <a:ln/>
        </p:spPr>
        <p:txBody>
          <a:bodyPr wrap="square" lIns="0" tIns="0" rIns="0" bIns="0" rtlCol="0" anchor="ctr"/>
          <a:lstStyle/>
          <a:p>
            <a:pPr marL="0" indent="0" algn="ctr">
              <a:buNone/>
            </a:pPr>
            <a:r>
              <a:rPr lang="en-US" sz="1150" i="1" dirty="0">
                <a:solidFill>
                  <a:srgbClr val="5C6B62"/>
                </a:solidFill>
                <a:latin typeface="Calibri" pitchFamily="34" charset="0"/>
                <a:ea typeface="Calibri" pitchFamily="34" charset="-122"/>
                <a:cs typeface="Calibri" pitchFamily="34" charset="-120"/>
              </a:rPr>
              <a:t>Primero autenticacion, despues autorizacion. Sin saber quien eres, no se puede decidir que puedes hacer.</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FILOSOFIA</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Principios de diseno de Spring Security</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(Teoria)</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457200" y="1371600"/>
            <a:ext cx="4069080" cy="1371600"/>
          </a:xfrm>
          <a:prstGeom prst="roundRect">
            <a:avLst>
              <a:gd name="adj" fmla="val 5333"/>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7" name="Shape 5"/>
          <p:cNvSpPr/>
          <p:nvPr/>
        </p:nvSpPr>
        <p:spPr>
          <a:xfrm>
            <a:off x="640080" y="1572768"/>
            <a:ext cx="548640" cy="54864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8" name="Image 0" descr="preencoded.png"/>
          <p:cNvPicPr>
            <a:picLocks noChangeAspect="1"/>
          </p:cNvPicPr>
          <p:nvPr/>
        </p:nvPicPr>
        <p:blipFill>
          <a:blip r:embed="rId3"/>
          <a:stretch>
            <a:fillRect/>
          </a:stretch>
        </p:blipFill>
        <p:spPr>
          <a:xfrm>
            <a:off x="782726" y="1715414"/>
            <a:ext cx="263347" cy="263347"/>
          </a:xfrm>
          <a:prstGeom prst="rect">
            <a:avLst/>
          </a:prstGeom>
        </p:spPr>
      </p:pic>
      <p:sp>
        <p:nvSpPr>
          <p:cNvPr id="9" name="Text 6"/>
          <p:cNvSpPr/>
          <p:nvPr/>
        </p:nvSpPr>
        <p:spPr>
          <a:xfrm>
            <a:off x="1325880" y="1536192"/>
            <a:ext cx="3063240" cy="411480"/>
          </a:xfrm>
          <a:prstGeom prst="rect">
            <a:avLst/>
          </a:prstGeom>
          <a:noFill/>
          <a:ln/>
        </p:spPr>
        <p:txBody>
          <a:bodyPr wrap="square" lIns="0" tIns="0" rIns="0" bIns="0" rtlCol="0" anchor="ctr"/>
          <a:lstStyle/>
          <a:p>
            <a:pPr marL="0" indent="0">
              <a:buNone/>
            </a:pPr>
            <a:r>
              <a:rPr lang="en-US" sz="1350" b="1" dirty="0">
                <a:solidFill>
                  <a:srgbClr val="006633"/>
                </a:solidFill>
                <a:latin typeface="Calibri" pitchFamily="34" charset="0"/>
                <a:ea typeface="Calibri" pitchFamily="34" charset="-122"/>
                <a:cs typeface="Calibri" pitchFamily="34" charset="-120"/>
              </a:rPr>
              <a:t>Seguro por defecto</a:t>
            </a:r>
            <a:endParaRPr lang="en-US" sz="1350" dirty="0"/>
          </a:p>
        </p:txBody>
      </p:sp>
      <p:sp>
        <p:nvSpPr>
          <p:cNvPr id="10" name="Text 7"/>
          <p:cNvSpPr/>
          <p:nvPr/>
        </p:nvSpPr>
        <p:spPr>
          <a:xfrm>
            <a:off x="658368" y="2084832"/>
            <a:ext cx="3666744" cy="548640"/>
          </a:xfrm>
          <a:prstGeom prst="rect">
            <a:avLst/>
          </a:prstGeom>
          <a:noFill/>
          <a:ln/>
        </p:spPr>
        <p:txBody>
          <a:bodyPr wrap="square" lIns="0" tIns="0" rIns="0" bIns="0" rtlCol="0" anchor="t"/>
          <a:lstStyle/>
          <a:p>
            <a:pPr marL="0" indent="0">
              <a:lnSpc>
                <a:spcPct val="102000"/>
              </a:lnSpc>
              <a:buNone/>
            </a:pPr>
            <a:r>
              <a:rPr lang="en-US" sz="1100" dirty="0">
                <a:solidFill>
                  <a:srgbClr val="5C6B62"/>
                </a:solidFill>
                <a:latin typeface="Calibri" pitchFamily="34" charset="0"/>
                <a:ea typeface="Calibri" pitchFamily="34" charset="-122"/>
                <a:cs typeface="Calibri" pitchFamily="34" charset="-120"/>
              </a:rPr>
              <a:t>Al anadirlo, todo queda protegido; tu abres lo necesario.</a:t>
            </a:r>
            <a:endParaRPr lang="en-US" sz="1100" dirty="0"/>
          </a:p>
        </p:txBody>
      </p:sp>
      <p:sp>
        <p:nvSpPr>
          <p:cNvPr id="11" name="Shape 8"/>
          <p:cNvSpPr/>
          <p:nvPr/>
        </p:nvSpPr>
        <p:spPr>
          <a:xfrm>
            <a:off x="5029200" y="1371600"/>
            <a:ext cx="4069080" cy="1371600"/>
          </a:xfrm>
          <a:prstGeom prst="roundRect">
            <a:avLst>
              <a:gd name="adj" fmla="val 5333"/>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2" name="Shape 9"/>
          <p:cNvSpPr/>
          <p:nvPr/>
        </p:nvSpPr>
        <p:spPr>
          <a:xfrm>
            <a:off x="5212080" y="1572768"/>
            <a:ext cx="548640" cy="54864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13" name="Image 1" descr="preencoded.png"/>
          <p:cNvPicPr>
            <a:picLocks noChangeAspect="1"/>
          </p:cNvPicPr>
          <p:nvPr/>
        </p:nvPicPr>
        <p:blipFill>
          <a:blip r:embed="rId4"/>
          <a:stretch>
            <a:fillRect/>
          </a:stretch>
        </p:blipFill>
        <p:spPr>
          <a:xfrm>
            <a:off x="5354726" y="1715414"/>
            <a:ext cx="263347" cy="263347"/>
          </a:xfrm>
          <a:prstGeom prst="rect">
            <a:avLst/>
          </a:prstGeom>
        </p:spPr>
      </p:pic>
      <p:sp>
        <p:nvSpPr>
          <p:cNvPr id="14" name="Text 10"/>
          <p:cNvSpPr/>
          <p:nvPr/>
        </p:nvSpPr>
        <p:spPr>
          <a:xfrm>
            <a:off x="5897880" y="1536192"/>
            <a:ext cx="3063240" cy="411480"/>
          </a:xfrm>
          <a:prstGeom prst="rect">
            <a:avLst/>
          </a:prstGeom>
          <a:noFill/>
          <a:ln/>
        </p:spPr>
        <p:txBody>
          <a:bodyPr wrap="square" lIns="0" tIns="0" rIns="0" bIns="0" rtlCol="0" anchor="ctr"/>
          <a:lstStyle/>
          <a:p>
            <a:pPr marL="0" indent="0">
              <a:buNone/>
            </a:pPr>
            <a:r>
              <a:rPr lang="en-US" sz="1350" b="1" dirty="0">
                <a:solidFill>
                  <a:srgbClr val="006633"/>
                </a:solidFill>
                <a:latin typeface="Calibri" pitchFamily="34" charset="0"/>
                <a:ea typeface="Calibri" pitchFamily="34" charset="-122"/>
                <a:cs typeface="Calibri" pitchFamily="34" charset="-120"/>
              </a:rPr>
              <a:t>Defensa en profundidad</a:t>
            </a:r>
            <a:endParaRPr lang="en-US" sz="1350" dirty="0"/>
          </a:p>
        </p:txBody>
      </p:sp>
      <p:sp>
        <p:nvSpPr>
          <p:cNvPr id="15" name="Text 11"/>
          <p:cNvSpPr/>
          <p:nvPr/>
        </p:nvSpPr>
        <p:spPr>
          <a:xfrm>
            <a:off x="5230368" y="2084832"/>
            <a:ext cx="3666744" cy="548640"/>
          </a:xfrm>
          <a:prstGeom prst="rect">
            <a:avLst/>
          </a:prstGeom>
          <a:noFill/>
          <a:ln/>
        </p:spPr>
        <p:txBody>
          <a:bodyPr wrap="square" lIns="0" tIns="0" rIns="0" bIns="0" rtlCol="0" anchor="t"/>
          <a:lstStyle/>
          <a:p>
            <a:pPr marL="0" indent="0">
              <a:lnSpc>
                <a:spcPct val="102000"/>
              </a:lnSpc>
              <a:buNone/>
            </a:pPr>
            <a:r>
              <a:rPr lang="en-US" sz="1100" dirty="0">
                <a:solidFill>
                  <a:srgbClr val="5C6B62"/>
                </a:solidFill>
                <a:latin typeface="Calibri" pitchFamily="34" charset="0"/>
                <a:ea typeface="Calibri" pitchFamily="34" charset="-122"/>
                <a:cs typeface="Calibri" pitchFamily="34" charset="-120"/>
              </a:rPr>
              <a:t>Varias capas: por URL, por metodo, por dominio.</a:t>
            </a:r>
            <a:endParaRPr lang="en-US" sz="1100" dirty="0"/>
          </a:p>
        </p:txBody>
      </p:sp>
      <p:sp>
        <p:nvSpPr>
          <p:cNvPr id="16" name="Shape 12"/>
          <p:cNvSpPr/>
          <p:nvPr/>
        </p:nvSpPr>
        <p:spPr>
          <a:xfrm>
            <a:off x="457200" y="2926080"/>
            <a:ext cx="4069080" cy="1371600"/>
          </a:xfrm>
          <a:prstGeom prst="roundRect">
            <a:avLst>
              <a:gd name="adj" fmla="val 5333"/>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7" name="Shape 13"/>
          <p:cNvSpPr/>
          <p:nvPr/>
        </p:nvSpPr>
        <p:spPr>
          <a:xfrm>
            <a:off x="640080" y="3127248"/>
            <a:ext cx="548640" cy="54864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18" name="Image 2" descr="preencoded.png"/>
          <p:cNvPicPr>
            <a:picLocks noChangeAspect="1"/>
          </p:cNvPicPr>
          <p:nvPr/>
        </p:nvPicPr>
        <p:blipFill>
          <a:blip r:embed="rId5"/>
          <a:stretch>
            <a:fillRect/>
          </a:stretch>
        </p:blipFill>
        <p:spPr>
          <a:xfrm>
            <a:off x="782726" y="3269894"/>
            <a:ext cx="263347" cy="263347"/>
          </a:xfrm>
          <a:prstGeom prst="rect">
            <a:avLst/>
          </a:prstGeom>
        </p:spPr>
      </p:pic>
      <p:sp>
        <p:nvSpPr>
          <p:cNvPr id="19" name="Text 14"/>
          <p:cNvSpPr/>
          <p:nvPr/>
        </p:nvSpPr>
        <p:spPr>
          <a:xfrm>
            <a:off x="1325880" y="3090672"/>
            <a:ext cx="3063240" cy="411480"/>
          </a:xfrm>
          <a:prstGeom prst="rect">
            <a:avLst/>
          </a:prstGeom>
          <a:noFill/>
          <a:ln/>
        </p:spPr>
        <p:txBody>
          <a:bodyPr wrap="square" lIns="0" tIns="0" rIns="0" bIns="0" rtlCol="0" anchor="ctr"/>
          <a:lstStyle/>
          <a:p>
            <a:pPr marL="0" indent="0">
              <a:buNone/>
            </a:pPr>
            <a:r>
              <a:rPr lang="en-US" sz="1350" b="1" dirty="0">
                <a:solidFill>
                  <a:srgbClr val="006633"/>
                </a:solidFill>
                <a:latin typeface="Calibri" pitchFamily="34" charset="0"/>
                <a:ea typeface="Calibri" pitchFamily="34" charset="-122"/>
                <a:cs typeface="Calibri" pitchFamily="34" charset="-120"/>
              </a:rPr>
              <a:t>Extensible</a:t>
            </a:r>
            <a:endParaRPr lang="en-US" sz="1350" dirty="0"/>
          </a:p>
        </p:txBody>
      </p:sp>
      <p:sp>
        <p:nvSpPr>
          <p:cNvPr id="20" name="Text 15"/>
          <p:cNvSpPr/>
          <p:nvPr/>
        </p:nvSpPr>
        <p:spPr>
          <a:xfrm>
            <a:off x="658368" y="3639312"/>
            <a:ext cx="3666744" cy="548640"/>
          </a:xfrm>
          <a:prstGeom prst="rect">
            <a:avLst/>
          </a:prstGeom>
          <a:noFill/>
          <a:ln/>
        </p:spPr>
        <p:txBody>
          <a:bodyPr wrap="square" lIns="0" tIns="0" rIns="0" bIns="0" rtlCol="0" anchor="t"/>
          <a:lstStyle/>
          <a:p>
            <a:pPr marL="0" indent="0">
              <a:lnSpc>
                <a:spcPct val="102000"/>
              </a:lnSpc>
              <a:buNone/>
            </a:pPr>
            <a:r>
              <a:rPr lang="en-US" sz="1100" dirty="0">
                <a:solidFill>
                  <a:srgbClr val="5C6B62"/>
                </a:solidFill>
                <a:latin typeface="Calibri" pitchFamily="34" charset="0"/>
                <a:ea typeface="Calibri" pitchFamily="34" charset="-122"/>
                <a:cs typeface="Calibri" pitchFamily="34" charset="-120"/>
              </a:rPr>
              <a:t>Cada pieza (filtros, proveedores) se puede sustituir.</a:t>
            </a:r>
            <a:endParaRPr lang="en-US" sz="1100" dirty="0"/>
          </a:p>
        </p:txBody>
      </p:sp>
      <p:sp>
        <p:nvSpPr>
          <p:cNvPr id="21" name="Shape 16"/>
          <p:cNvSpPr/>
          <p:nvPr/>
        </p:nvSpPr>
        <p:spPr>
          <a:xfrm>
            <a:off x="5029200" y="2926080"/>
            <a:ext cx="4069080" cy="1371600"/>
          </a:xfrm>
          <a:prstGeom prst="roundRect">
            <a:avLst>
              <a:gd name="adj" fmla="val 5333"/>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22" name="Shape 17"/>
          <p:cNvSpPr/>
          <p:nvPr/>
        </p:nvSpPr>
        <p:spPr>
          <a:xfrm>
            <a:off x="5212080" y="3127248"/>
            <a:ext cx="548640" cy="54864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23" name="Image 3" descr="preencoded.png"/>
          <p:cNvPicPr>
            <a:picLocks noChangeAspect="1"/>
          </p:cNvPicPr>
          <p:nvPr/>
        </p:nvPicPr>
        <p:blipFill>
          <a:blip r:embed="rId6"/>
          <a:stretch>
            <a:fillRect/>
          </a:stretch>
        </p:blipFill>
        <p:spPr>
          <a:xfrm>
            <a:off x="5354726" y="3269894"/>
            <a:ext cx="263347" cy="263347"/>
          </a:xfrm>
          <a:prstGeom prst="rect">
            <a:avLst/>
          </a:prstGeom>
        </p:spPr>
      </p:pic>
      <p:sp>
        <p:nvSpPr>
          <p:cNvPr id="24" name="Text 18"/>
          <p:cNvSpPr/>
          <p:nvPr/>
        </p:nvSpPr>
        <p:spPr>
          <a:xfrm>
            <a:off x="5897880" y="3090672"/>
            <a:ext cx="3063240" cy="411480"/>
          </a:xfrm>
          <a:prstGeom prst="rect">
            <a:avLst/>
          </a:prstGeom>
          <a:noFill/>
          <a:ln/>
        </p:spPr>
        <p:txBody>
          <a:bodyPr wrap="square" lIns="0" tIns="0" rIns="0" bIns="0" rtlCol="0" anchor="ctr"/>
          <a:lstStyle/>
          <a:p>
            <a:pPr marL="0" indent="0">
              <a:buNone/>
            </a:pPr>
            <a:r>
              <a:rPr lang="en-US" sz="1350" b="1" dirty="0">
                <a:solidFill>
                  <a:srgbClr val="006633"/>
                </a:solidFill>
                <a:latin typeface="Calibri" pitchFamily="34" charset="0"/>
                <a:ea typeface="Calibri" pitchFamily="34" charset="-122"/>
                <a:cs typeface="Calibri" pitchFamily="34" charset="-120"/>
              </a:rPr>
              <a:t>Integrado, no acoplado</a:t>
            </a:r>
            <a:endParaRPr lang="en-US" sz="1350" dirty="0"/>
          </a:p>
        </p:txBody>
      </p:sp>
      <p:sp>
        <p:nvSpPr>
          <p:cNvPr id="25" name="Text 19"/>
          <p:cNvSpPr/>
          <p:nvPr/>
        </p:nvSpPr>
        <p:spPr>
          <a:xfrm>
            <a:off x="5230368" y="3639312"/>
            <a:ext cx="3666744" cy="548640"/>
          </a:xfrm>
          <a:prstGeom prst="rect">
            <a:avLst/>
          </a:prstGeom>
          <a:noFill/>
          <a:ln/>
        </p:spPr>
        <p:txBody>
          <a:bodyPr wrap="square" lIns="0" tIns="0" rIns="0" bIns="0" rtlCol="0" anchor="t"/>
          <a:lstStyle/>
          <a:p>
            <a:pPr marL="0" indent="0">
              <a:lnSpc>
                <a:spcPct val="102000"/>
              </a:lnSpc>
              <a:buNone/>
            </a:pPr>
            <a:r>
              <a:rPr lang="en-US" sz="1100" dirty="0">
                <a:solidFill>
                  <a:srgbClr val="5C6B62"/>
                </a:solidFill>
                <a:latin typeface="Calibri" pitchFamily="34" charset="0"/>
                <a:ea typeface="Calibri" pitchFamily="34" charset="-122"/>
                <a:cs typeface="Calibri" pitchFamily="34" charset="-120"/>
              </a:rPr>
              <a:t>Vive como filtros del servlet; no invade tu logica.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ARQUITECTURA</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El corazon: la cadena de filtros</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(Teoria)</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5</a:t>
            </a:r>
            <a:endParaRPr lang="en-US" sz="900" dirty="0"/>
          </a:p>
        </p:txBody>
      </p:sp>
      <p:sp>
        <p:nvSpPr>
          <p:cNvPr id="6" name="Text 4"/>
          <p:cNvSpPr/>
          <p:nvPr/>
        </p:nvSpPr>
        <p:spPr>
          <a:xfrm>
            <a:off x="457200" y="1234440"/>
            <a:ext cx="8229600" cy="548640"/>
          </a:xfrm>
          <a:prstGeom prst="rect">
            <a:avLst/>
          </a:prstGeom>
          <a:noFill/>
          <a:ln/>
        </p:spPr>
        <p:txBody>
          <a:bodyPr wrap="square" lIns="0" tIns="0" rIns="0" bIns="0" rtlCol="0" anchor="ctr"/>
          <a:lstStyle/>
          <a:p>
            <a:pPr marL="0" indent="0">
              <a:lnSpc>
                <a:spcPct val="106000"/>
              </a:lnSpc>
              <a:buNone/>
            </a:pPr>
            <a:r>
              <a:rPr lang="en-US" sz="1250" dirty="0">
                <a:solidFill>
                  <a:srgbClr val="1E2A22"/>
                </a:solidFill>
                <a:latin typeface="Calibri" pitchFamily="34" charset="0"/>
                <a:ea typeface="Calibri" pitchFamily="34" charset="-122"/>
                <a:cs typeface="Calibri" pitchFamily="34" charset="-120"/>
              </a:rPr>
              <a:t>Spring Security se inserta en el contenedor de servlets como un filtro. Toda peticion pasa por una cadena de filtros antes de llegar a tu controlador.</a:t>
            </a:r>
            <a:endParaRPr lang="en-US" sz="1250" dirty="0"/>
          </a:p>
        </p:txBody>
      </p:sp>
      <p:sp>
        <p:nvSpPr>
          <p:cNvPr id="7" name="Shape 5"/>
          <p:cNvSpPr/>
          <p:nvPr/>
        </p:nvSpPr>
        <p:spPr>
          <a:xfrm>
            <a:off x="457200" y="2011680"/>
            <a:ext cx="2606040" cy="1097280"/>
          </a:xfrm>
          <a:prstGeom prst="roundRect">
            <a:avLst>
              <a:gd name="adj" fmla="val 6667"/>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8" name="Text 6"/>
          <p:cNvSpPr/>
          <p:nvPr/>
        </p:nvSpPr>
        <p:spPr>
          <a:xfrm>
            <a:off x="530352" y="2212848"/>
            <a:ext cx="2459736" cy="457200"/>
          </a:xfrm>
          <a:prstGeom prst="rect">
            <a:avLst/>
          </a:prstGeom>
          <a:noFill/>
          <a:ln/>
        </p:spPr>
        <p:txBody>
          <a:bodyPr wrap="square" lIns="0" tIns="0" rIns="0" bIns="0" rtlCol="0" anchor="ctr"/>
          <a:lstStyle/>
          <a:p>
            <a:pPr marL="0" indent="0" algn="ctr">
              <a:buNone/>
            </a:pPr>
            <a:r>
              <a:rPr lang="en-US" sz="1200" b="1" dirty="0">
                <a:solidFill>
                  <a:srgbClr val="006633"/>
                </a:solidFill>
                <a:latin typeface="Courier New" pitchFamily="34" charset="0"/>
                <a:ea typeface="Courier New" pitchFamily="34" charset="-122"/>
                <a:cs typeface="Courier New" pitchFamily="34" charset="-120"/>
              </a:rPr>
              <a:t>DelegatingFilterProxy</a:t>
            </a:r>
            <a:endParaRPr lang="en-US" sz="1200" dirty="0"/>
          </a:p>
        </p:txBody>
      </p:sp>
      <p:sp>
        <p:nvSpPr>
          <p:cNvPr id="9" name="Text 7"/>
          <p:cNvSpPr/>
          <p:nvPr/>
        </p:nvSpPr>
        <p:spPr>
          <a:xfrm>
            <a:off x="530352" y="2670048"/>
            <a:ext cx="2459736" cy="365760"/>
          </a:xfrm>
          <a:prstGeom prst="rect">
            <a:avLst/>
          </a:prstGeom>
          <a:noFill/>
          <a:ln/>
        </p:spPr>
        <p:txBody>
          <a:bodyPr wrap="square" lIns="0" tIns="0" rIns="0" bIns="0" rtlCol="0" anchor="ctr"/>
          <a:lstStyle/>
          <a:p>
            <a:pPr marL="0" indent="0" algn="ctr">
              <a:buNone/>
            </a:pPr>
            <a:r>
              <a:rPr lang="en-US" sz="1000" dirty="0">
                <a:solidFill>
                  <a:srgbClr val="5C6B62"/>
                </a:solidFill>
                <a:latin typeface="Calibri" pitchFamily="34" charset="0"/>
                <a:ea typeface="Calibri" pitchFamily="34" charset="-122"/>
                <a:cs typeface="Calibri" pitchFamily="34" charset="-120"/>
              </a:rPr>
              <a:t>puente servlet -&gt; Spring</a:t>
            </a:r>
            <a:endParaRPr lang="en-US" sz="1000" dirty="0"/>
          </a:p>
        </p:txBody>
      </p:sp>
      <p:sp>
        <p:nvSpPr>
          <p:cNvPr id="10" name="Shape 8"/>
          <p:cNvSpPr/>
          <p:nvPr/>
        </p:nvSpPr>
        <p:spPr>
          <a:xfrm>
            <a:off x="3081528" y="2560320"/>
            <a:ext cx="146304" cy="0"/>
          </a:xfrm>
          <a:prstGeom prst="line">
            <a:avLst/>
          </a:prstGeom>
          <a:noFill/>
          <a:ln w="25400">
            <a:solidFill>
              <a:srgbClr val="006633"/>
            </a:solidFill>
            <a:prstDash val="solid"/>
            <a:tailEnd type="triangle"/>
          </a:ln>
        </p:spPr>
        <p:txBody>
          <a:bodyPr/>
          <a:lstStyle/>
          <a:p>
            <a:endParaRPr lang="es-ES"/>
          </a:p>
        </p:txBody>
      </p:sp>
      <p:sp>
        <p:nvSpPr>
          <p:cNvPr id="11" name="Shape 9"/>
          <p:cNvSpPr/>
          <p:nvPr/>
        </p:nvSpPr>
        <p:spPr>
          <a:xfrm>
            <a:off x="3246120" y="2011680"/>
            <a:ext cx="2606040" cy="1097280"/>
          </a:xfrm>
          <a:prstGeom prst="roundRect">
            <a:avLst>
              <a:gd name="adj" fmla="val 6667"/>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12" name="Text 10"/>
          <p:cNvSpPr/>
          <p:nvPr/>
        </p:nvSpPr>
        <p:spPr>
          <a:xfrm>
            <a:off x="3319272" y="2212848"/>
            <a:ext cx="2459736"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FilterChainProxy</a:t>
            </a:r>
            <a:endParaRPr lang="en-US" sz="1200" dirty="0"/>
          </a:p>
        </p:txBody>
      </p:sp>
      <p:sp>
        <p:nvSpPr>
          <p:cNvPr id="13" name="Text 11"/>
          <p:cNvSpPr/>
          <p:nvPr/>
        </p:nvSpPr>
        <p:spPr>
          <a:xfrm>
            <a:off x="3319272" y="2670048"/>
            <a:ext cx="2459736" cy="365760"/>
          </a:xfrm>
          <a:prstGeom prst="rect">
            <a:avLst/>
          </a:prstGeom>
          <a:noFill/>
          <a:ln/>
        </p:spPr>
        <p:txBody>
          <a:bodyPr wrap="square" lIns="0" tIns="0" rIns="0" bIns="0" rtlCol="0" anchor="ctr"/>
          <a:lstStyle/>
          <a:p>
            <a:pPr marL="0" indent="0" algn="ctr">
              <a:buNone/>
            </a:pPr>
            <a:r>
              <a:rPr lang="en-US" sz="1000" dirty="0">
                <a:solidFill>
                  <a:srgbClr val="EAF4EC"/>
                </a:solidFill>
                <a:latin typeface="Calibri" pitchFamily="34" charset="0"/>
                <a:ea typeface="Calibri" pitchFamily="34" charset="-122"/>
                <a:cs typeface="Calibri" pitchFamily="34" charset="-120"/>
              </a:rPr>
              <a:t>elige la cadena y ordena</a:t>
            </a:r>
            <a:endParaRPr lang="en-US" sz="1000" dirty="0"/>
          </a:p>
        </p:txBody>
      </p:sp>
      <p:sp>
        <p:nvSpPr>
          <p:cNvPr id="14" name="Shape 12"/>
          <p:cNvSpPr/>
          <p:nvPr/>
        </p:nvSpPr>
        <p:spPr>
          <a:xfrm>
            <a:off x="5870448" y="2560320"/>
            <a:ext cx="146304" cy="0"/>
          </a:xfrm>
          <a:prstGeom prst="line">
            <a:avLst/>
          </a:prstGeom>
          <a:noFill/>
          <a:ln w="25400">
            <a:solidFill>
              <a:srgbClr val="006633"/>
            </a:solidFill>
            <a:prstDash val="solid"/>
            <a:tailEnd type="triangle"/>
          </a:ln>
        </p:spPr>
        <p:txBody>
          <a:bodyPr/>
          <a:lstStyle/>
          <a:p>
            <a:endParaRPr lang="es-ES"/>
          </a:p>
        </p:txBody>
      </p:sp>
      <p:sp>
        <p:nvSpPr>
          <p:cNvPr id="15" name="Shape 13"/>
          <p:cNvSpPr/>
          <p:nvPr/>
        </p:nvSpPr>
        <p:spPr>
          <a:xfrm>
            <a:off x="6080760" y="2011680"/>
            <a:ext cx="2606040" cy="1097280"/>
          </a:xfrm>
          <a:prstGeom prst="roundRect">
            <a:avLst>
              <a:gd name="adj" fmla="val 6667"/>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6" name="Text 14"/>
          <p:cNvSpPr/>
          <p:nvPr/>
        </p:nvSpPr>
        <p:spPr>
          <a:xfrm>
            <a:off x="6153912" y="2212848"/>
            <a:ext cx="2459736" cy="457200"/>
          </a:xfrm>
          <a:prstGeom prst="rect">
            <a:avLst/>
          </a:prstGeom>
          <a:noFill/>
          <a:ln/>
        </p:spPr>
        <p:txBody>
          <a:bodyPr wrap="square" lIns="0" tIns="0" rIns="0" bIns="0" rtlCol="0" anchor="ctr"/>
          <a:lstStyle/>
          <a:p>
            <a:pPr marL="0" indent="0" algn="ctr">
              <a:buNone/>
            </a:pPr>
            <a:r>
              <a:rPr lang="en-US" sz="1200" b="1" dirty="0">
                <a:solidFill>
                  <a:srgbClr val="006633"/>
                </a:solidFill>
                <a:latin typeface="Courier New" pitchFamily="34" charset="0"/>
                <a:ea typeface="Courier New" pitchFamily="34" charset="-122"/>
                <a:cs typeface="Courier New" pitchFamily="34" charset="-120"/>
              </a:rPr>
              <a:t>SecurityFilterChain</a:t>
            </a:r>
            <a:endParaRPr lang="en-US" sz="1200" dirty="0"/>
          </a:p>
        </p:txBody>
      </p:sp>
      <p:sp>
        <p:nvSpPr>
          <p:cNvPr id="17" name="Text 15"/>
          <p:cNvSpPr/>
          <p:nvPr/>
        </p:nvSpPr>
        <p:spPr>
          <a:xfrm>
            <a:off x="6153912" y="2670048"/>
            <a:ext cx="2459736" cy="365760"/>
          </a:xfrm>
          <a:prstGeom prst="rect">
            <a:avLst/>
          </a:prstGeom>
          <a:noFill/>
          <a:ln/>
        </p:spPr>
        <p:txBody>
          <a:bodyPr wrap="square" lIns="0" tIns="0" rIns="0" bIns="0" rtlCol="0" anchor="ctr"/>
          <a:lstStyle/>
          <a:p>
            <a:pPr marL="0" indent="0" algn="ctr">
              <a:buNone/>
            </a:pPr>
            <a:r>
              <a:rPr lang="en-US" sz="1000" dirty="0">
                <a:solidFill>
                  <a:srgbClr val="5C6B62"/>
                </a:solidFill>
                <a:latin typeface="Calibri" pitchFamily="34" charset="0"/>
                <a:ea typeface="Calibri" pitchFamily="34" charset="-122"/>
                <a:cs typeface="Calibri" pitchFamily="34" charset="-120"/>
              </a:rPr>
              <a:t>lista de filtros de seguridad</a:t>
            </a:r>
            <a:endParaRPr lang="en-US" sz="1000" dirty="0"/>
          </a:p>
        </p:txBody>
      </p:sp>
      <p:sp>
        <p:nvSpPr>
          <p:cNvPr id="18" name="Shape 16"/>
          <p:cNvSpPr/>
          <p:nvPr/>
        </p:nvSpPr>
        <p:spPr>
          <a:xfrm>
            <a:off x="457200" y="3429000"/>
            <a:ext cx="8229600" cy="1051560"/>
          </a:xfrm>
          <a:prstGeom prst="roundRect">
            <a:avLst>
              <a:gd name="adj" fmla="val 6957"/>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9" name="Text 17"/>
          <p:cNvSpPr/>
          <p:nvPr/>
        </p:nvSpPr>
        <p:spPr>
          <a:xfrm>
            <a:off x="658368" y="3566160"/>
            <a:ext cx="7863840" cy="777240"/>
          </a:xfrm>
          <a:prstGeom prst="rect">
            <a:avLst/>
          </a:prstGeom>
          <a:noFill/>
          <a:ln/>
        </p:spPr>
        <p:txBody>
          <a:bodyPr wrap="square" lIns="0" tIns="0" rIns="0" bIns="0" rtlCol="0" anchor="ctr"/>
          <a:lstStyle/>
          <a:p>
            <a:pPr marL="0" indent="0">
              <a:lnSpc>
                <a:spcPct val="104000"/>
              </a:lnSpc>
              <a:buNone/>
            </a:pPr>
            <a:r>
              <a:rPr lang="en-US" sz="1150" b="1" dirty="0">
                <a:solidFill>
                  <a:srgbClr val="006633"/>
                </a:solidFill>
                <a:latin typeface="Calibri" pitchFamily="34" charset="0"/>
                <a:ea typeface="Calibri" pitchFamily="34" charset="-122"/>
                <a:cs typeface="Calibri" pitchFamily="34" charset="-120"/>
              </a:rPr>
              <a:t>Dentro de la SecurityFilterChain  </a:t>
            </a:r>
            <a:r>
              <a:rPr lang="en-US" sz="1150" dirty="0">
                <a:solidFill>
                  <a:srgbClr val="5C6B62"/>
                </a:solidFill>
                <a:latin typeface="Calibri" pitchFamily="34" charset="0"/>
                <a:ea typeface="Calibri" pitchFamily="34" charset="-122"/>
                <a:cs typeface="Calibri" pitchFamily="34" charset="-120"/>
              </a:rPr>
              <a:t>hay filtros en orden fijo: uno valida CSRF, otro la autenticacion (por ejemplo nuestro filtro JWT), otro la autorizacion. Cada filtro hace su parte y pasa la peticion al siguiente, o la corta con un 401 / 403.</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ARQUITECTURA</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Como viaja una peticion</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(Teoria)</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48640" y="1417320"/>
            <a:ext cx="457200" cy="45720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548640" y="141732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188720" y="1417320"/>
            <a:ext cx="7315200" cy="457200"/>
          </a:xfrm>
          <a:prstGeom prst="rect">
            <a:avLst/>
          </a:prstGeom>
          <a:noFill/>
          <a:ln/>
        </p:spPr>
        <p:txBody>
          <a:bodyPr wrap="square" lIns="0" tIns="0" rIns="0" bIns="0" rtlCol="0" anchor="ctr"/>
          <a:lstStyle/>
          <a:p>
            <a:pPr marL="0" indent="0">
              <a:buNone/>
            </a:pPr>
            <a:r>
              <a:rPr lang="en-US" sz="1350" b="1" dirty="0">
                <a:solidFill>
                  <a:srgbClr val="1E2A22"/>
                </a:solidFill>
                <a:latin typeface="Calibri" pitchFamily="34" charset="0"/>
                <a:ea typeface="Calibri" pitchFamily="34" charset="-122"/>
                <a:cs typeface="Calibri" pitchFamily="34" charset="-120"/>
              </a:rPr>
              <a:t>Llega la peticion HTTP   </a:t>
            </a:r>
            <a:r>
              <a:rPr lang="en-US" sz="1200" dirty="0">
                <a:solidFill>
                  <a:srgbClr val="5C6B62"/>
                </a:solidFill>
                <a:latin typeface="Calibri" pitchFamily="34" charset="0"/>
                <a:ea typeface="Calibri" pitchFamily="34" charset="-122"/>
                <a:cs typeface="Calibri" pitchFamily="34" charset="-120"/>
              </a:rPr>
              <a:t>entra en la cadena de filtros</a:t>
            </a:r>
            <a:endParaRPr lang="en-US" sz="1350" dirty="0"/>
          </a:p>
        </p:txBody>
      </p:sp>
      <p:sp>
        <p:nvSpPr>
          <p:cNvPr id="9" name="Shape 7"/>
          <p:cNvSpPr/>
          <p:nvPr/>
        </p:nvSpPr>
        <p:spPr>
          <a:xfrm>
            <a:off x="777240" y="1874520"/>
            <a:ext cx="0" cy="164592"/>
          </a:xfrm>
          <a:prstGeom prst="line">
            <a:avLst/>
          </a:prstGeom>
          <a:noFill/>
          <a:ln w="19050">
            <a:solidFill>
              <a:srgbClr val="8A968E"/>
            </a:solidFill>
            <a:prstDash val="solid"/>
          </a:ln>
        </p:spPr>
        <p:txBody>
          <a:bodyPr/>
          <a:lstStyle/>
          <a:p>
            <a:endParaRPr lang="es-ES"/>
          </a:p>
        </p:txBody>
      </p:sp>
      <p:sp>
        <p:nvSpPr>
          <p:cNvPr id="10" name="Shape 8"/>
          <p:cNvSpPr/>
          <p:nvPr/>
        </p:nvSpPr>
        <p:spPr>
          <a:xfrm>
            <a:off x="548640" y="2039112"/>
            <a:ext cx="457200" cy="45720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11" name="Text 9"/>
          <p:cNvSpPr/>
          <p:nvPr/>
        </p:nvSpPr>
        <p:spPr>
          <a:xfrm>
            <a:off x="548640" y="203911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188720" y="2039112"/>
            <a:ext cx="7315200" cy="457200"/>
          </a:xfrm>
          <a:prstGeom prst="rect">
            <a:avLst/>
          </a:prstGeom>
          <a:noFill/>
          <a:ln/>
        </p:spPr>
        <p:txBody>
          <a:bodyPr wrap="square" lIns="0" tIns="0" rIns="0" bIns="0" rtlCol="0" anchor="ctr"/>
          <a:lstStyle/>
          <a:p>
            <a:pPr marL="0" indent="0">
              <a:buNone/>
            </a:pPr>
            <a:r>
              <a:rPr lang="en-US" sz="1350" b="1" dirty="0">
                <a:solidFill>
                  <a:srgbClr val="1E2A22"/>
                </a:solidFill>
                <a:latin typeface="Calibri" pitchFamily="34" charset="0"/>
                <a:ea typeface="Calibri" pitchFamily="34" charset="-122"/>
                <a:cs typeface="Calibri" pitchFamily="34" charset="-120"/>
              </a:rPr>
              <a:t>Filtro de autenticacion   </a:t>
            </a:r>
            <a:r>
              <a:rPr lang="en-US" sz="1200" dirty="0">
                <a:solidFill>
                  <a:srgbClr val="5C6B62"/>
                </a:solidFill>
                <a:latin typeface="Calibri" pitchFamily="34" charset="0"/>
                <a:ea typeface="Calibri" pitchFamily="34" charset="-122"/>
                <a:cs typeface="Calibri" pitchFamily="34" charset="-120"/>
              </a:rPr>
              <a:t>intenta identificar al usuario</a:t>
            </a:r>
            <a:endParaRPr lang="en-US" sz="1350" dirty="0"/>
          </a:p>
        </p:txBody>
      </p:sp>
      <p:sp>
        <p:nvSpPr>
          <p:cNvPr id="13" name="Shape 11"/>
          <p:cNvSpPr/>
          <p:nvPr/>
        </p:nvSpPr>
        <p:spPr>
          <a:xfrm>
            <a:off x="777240" y="2496312"/>
            <a:ext cx="0" cy="164592"/>
          </a:xfrm>
          <a:prstGeom prst="line">
            <a:avLst/>
          </a:prstGeom>
          <a:noFill/>
          <a:ln w="19050">
            <a:solidFill>
              <a:srgbClr val="8A968E"/>
            </a:solidFill>
            <a:prstDash val="solid"/>
          </a:ln>
        </p:spPr>
        <p:txBody>
          <a:bodyPr/>
          <a:lstStyle/>
          <a:p>
            <a:endParaRPr lang="es-ES"/>
          </a:p>
        </p:txBody>
      </p:sp>
      <p:sp>
        <p:nvSpPr>
          <p:cNvPr id="14" name="Shape 12"/>
          <p:cNvSpPr/>
          <p:nvPr/>
        </p:nvSpPr>
        <p:spPr>
          <a:xfrm>
            <a:off x="548640" y="2660904"/>
            <a:ext cx="457200" cy="45720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15" name="Text 13"/>
          <p:cNvSpPr/>
          <p:nvPr/>
        </p:nvSpPr>
        <p:spPr>
          <a:xfrm>
            <a:off x="548640" y="266090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 14"/>
          <p:cNvSpPr/>
          <p:nvPr/>
        </p:nvSpPr>
        <p:spPr>
          <a:xfrm>
            <a:off x="1188720" y="2660904"/>
            <a:ext cx="7315200" cy="457200"/>
          </a:xfrm>
          <a:prstGeom prst="rect">
            <a:avLst/>
          </a:prstGeom>
          <a:noFill/>
          <a:ln/>
        </p:spPr>
        <p:txBody>
          <a:bodyPr wrap="square" lIns="0" tIns="0" rIns="0" bIns="0" rtlCol="0" anchor="ctr"/>
          <a:lstStyle/>
          <a:p>
            <a:pPr marL="0" indent="0">
              <a:buNone/>
            </a:pPr>
            <a:r>
              <a:rPr lang="en-US" sz="1350" b="1" dirty="0">
                <a:solidFill>
                  <a:srgbClr val="1E2A22"/>
                </a:solidFill>
                <a:latin typeface="Calibri" pitchFamily="34" charset="0"/>
                <a:ea typeface="Calibri" pitchFamily="34" charset="-122"/>
                <a:cs typeface="Calibri" pitchFamily="34" charset="-120"/>
              </a:rPr>
              <a:t>Se puebla el contexto   </a:t>
            </a:r>
            <a:r>
              <a:rPr lang="en-US" sz="1200" dirty="0">
                <a:solidFill>
                  <a:srgbClr val="5C6B62"/>
                </a:solidFill>
                <a:latin typeface="Calibri" pitchFamily="34" charset="0"/>
                <a:ea typeface="Calibri" pitchFamily="34" charset="-122"/>
                <a:cs typeface="Calibri" pitchFamily="34" charset="-120"/>
              </a:rPr>
              <a:t>SecurityContext con el Authentication</a:t>
            </a:r>
            <a:endParaRPr lang="en-US" sz="1350" dirty="0"/>
          </a:p>
        </p:txBody>
      </p:sp>
      <p:sp>
        <p:nvSpPr>
          <p:cNvPr id="17" name="Shape 15"/>
          <p:cNvSpPr/>
          <p:nvPr/>
        </p:nvSpPr>
        <p:spPr>
          <a:xfrm>
            <a:off x="777240" y="3118104"/>
            <a:ext cx="0" cy="164592"/>
          </a:xfrm>
          <a:prstGeom prst="line">
            <a:avLst/>
          </a:prstGeom>
          <a:noFill/>
          <a:ln w="19050">
            <a:solidFill>
              <a:srgbClr val="8A968E"/>
            </a:solidFill>
            <a:prstDash val="solid"/>
          </a:ln>
        </p:spPr>
        <p:txBody>
          <a:bodyPr/>
          <a:lstStyle/>
          <a:p>
            <a:endParaRPr lang="es-ES"/>
          </a:p>
        </p:txBody>
      </p:sp>
      <p:sp>
        <p:nvSpPr>
          <p:cNvPr id="18" name="Shape 16"/>
          <p:cNvSpPr/>
          <p:nvPr/>
        </p:nvSpPr>
        <p:spPr>
          <a:xfrm>
            <a:off x="548640" y="3282696"/>
            <a:ext cx="457200" cy="45720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19" name="Text 17"/>
          <p:cNvSpPr/>
          <p:nvPr/>
        </p:nvSpPr>
        <p:spPr>
          <a:xfrm>
            <a:off x="548640" y="328269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0" name="Text 18"/>
          <p:cNvSpPr/>
          <p:nvPr/>
        </p:nvSpPr>
        <p:spPr>
          <a:xfrm>
            <a:off x="1188720" y="3282696"/>
            <a:ext cx="7315200" cy="457200"/>
          </a:xfrm>
          <a:prstGeom prst="rect">
            <a:avLst/>
          </a:prstGeom>
          <a:noFill/>
          <a:ln/>
        </p:spPr>
        <p:txBody>
          <a:bodyPr wrap="square" lIns="0" tIns="0" rIns="0" bIns="0" rtlCol="0" anchor="ctr"/>
          <a:lstStyle/>
          <a:p>
            <a:pPr marL="0" indent="0">
              <a:buNone/>
            </a:pPr>
            <a:r>
              <a:rPr lang="en-US" sz="1350" b="1" dirty="0">
                <a:solidFill>
                  <a:srgbClr val="1E2A22"/>
                </a:solidFill>
                <a:latin typeface="Calibri" pitchFamily="34" charset="0"/>
                <a:ea typeface="Calibri" pitchFamily="34" charset="-122"/>
                <a:cs typeface="Calibri" pitchFamily="34" charset="-120"/>
              </a:rPr>
              <a:t>Filtro de autorizacion   </a:t>
            </a:r>
            <a:r>
              <a:rPr lang="en-US" sz="1200" dirty="0">
                <a:solidFill>
                  <a:srgbClr val="5C6B62"/>
                </a:solidFill>
                <a:latin typeface="Calibri" pitchFamily="34" charset="0"/>
                <a:ea typeface="Calibri" pitchFamily="34" charset="-122"/>
                <a:cs typeface="Calibri" pitchFamily="34" charset="-120"/>
              </a:rPr>
              <a:t>compara authorities con las reglas</a:t>
            </a:r>
            <a:endParaRPr lang="en-US" sz="1350" dirty="0"/>
          </a:p>
        </p:txBody>
      </p:sp>
      <p:sp>
        <p:nvSpPr>
          <p:cNvPr id="21" name="Shape 19"/>
          <p:cNvSpPr/>
          <p:nvPr/>
        </p:nvSpPr>
        <p:spPr>
          <a:xfrm>
            <a:off x="777240" y="3739896"/>
            <a:ext cx="0" cy="164592"/>
          </a:xfrm>
          <a:prstGeom prst="line">
            <a:avLst/>
          </a:prstGeom>
          <a:noFill/>
          <a:ln w="19050">
            <a:solidFill>
              <a:srgbClr val="8A968E"/>
            </a:solidFill>
            <a:prstDash val="solid"/>
          </a:ln>
        </p:spPr>
        <p:txBody>
          <a:bodyPr/>
          <a:lstStyle/>
          <a:p>
            <a:endParaRPr lang="es-ES"/>
          </a:p>
        </p:txBody>
      </p:sp>
      <p:sp>
        <p:nvSpPr>
          <p:cNvPr id="22" name="Shape 20"/>
          <p:cNvSpPr/>
          <p:nvPr/>
        </p:nvSpPr>
        <p:spPr>
          <a:xfrm>
            <a:off x="548640" y="3904488"/>
            <a:ext cx="457200" cy="457200"/>
          </a:xfrm>
          <a:prstGeom prst="ellipse">
            <a:avLst/>
          </a:prstGeom>
          <a:solidFill>
            <a:srgbClr val="CC9900"/>
          </a:solidFill>
          <a:ln/>
          <a:effectLst>
            <a:outerShdw blurRad="88900" dist="38100" dir="5400000" algn="bl" rotWithShape="0">
              <a:srgbClr val="000000">
                <a:alpha val="16000"/>
              </a:srgbClr>
            </a:outerShdw>
          </a:effectLst>
        </p:spPr>
        <p:txBody>
          <a:bodyPr/>
          <a:lstStyle/>
          <a:p>
            <a:endParaRPr lang="es-ES"/>
          </a:p>
        </p:txBody>
      </p:sp>
      <p:sp>
        <p:nvSpPr>
          <p:cNvPr id="23" name="Text 21"/>
          <p:cNvSpPr/>
          <p:nvPr/>
        </p:nvSpPr>
        <p:spPr>
          <a:xfrm>
            <a:off x="548640" y="39044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4" name="Text 22"/>
          <p:cNvSpPr/>
          <p:nvPr/>
        </p:nvSpPr>
        <p:spPr>
          <a:xfrm>
            <a:off x="1188720" y="3904488"/>
            <a:ext cx="7315200" cy="457200"/>
          </a:xfrm>
          <a:prstGeom prst="rect">
            <a:avLst/>
          </a:prstGeom>
          <a:noFill/>
          <a:ln/>
        </p:spPr>
        <p:txBody>
          <a:bodyPr wrap="square" lIns="0" tIns="0" rIns="0" bIns="0" rtlCol="0" anchor="ctr"/>
          <a:lstStyle/>
          <a:p>
            <a:pPr marL="0" indent="0">
              <a:buNone/>
            </a:pPr>
            <a:r>
              <a:rPr lang="en-US" sz="1350" b="1" dirty="0">
                <a:solidFill>
                  <a:srgbClr val="1E2A22"/>
                </a:solidFill>
                <a:latin typeface="Calibri" pitchFamily="34" charset="0"/>
                <a:ea typeface="Calibri" pitchFamily="34" charset="-122"/>
                <a:cs typeface="Calibri" pitchFamily="34" charset="-120"/>
              </a:rPr>
              <a:t>Decision   </a:t>
            </a:r>
            <a:r>
              <a:rPr lang="en-US" sz="1200" dirty="0">
                <a:solidFill>
                  <a:srgbClr val="5C6B62"/>
                </a:solidFill>
                <a:latin typeface="Calibri" pitchFamily="34" charset="0"/>
                <a:ea typeface="Calibri" pitchFamily="34" charset="-122"/>
                <a:cs typeface="Calibri" pitchFamily="34" charset="-120"/>
              </a:rPr>
              <a:t>pasa al controlador, o 401 / 403</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NUCLEO DE AUTENTICACION</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El contexto: quien soy en esta peticion</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(Teoria)</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457200" y="1417320"/>
            <a:ext cx="5212080" cy="3017520"/>
          </a:xfrm>
          <a:prstGeom prst="roundRect">
            <a:avLst>
              <a:gd name="adj" fmla="val 2424"/>
            </a:avLst>
          </a:prstGeom>
          <a:solidFill>
            <a:srgbClr val="EAF1EC"/>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640080" y="1508760"/>
            <a:ext cx="4846320" cy="320040"/>
          </a:xfrm>
          <a:prstGeom prst="rect">
            <a:avLst/>
          </a:prstGeom>
          <a:noFill/>
          <a:ln/>
        </p:spPr>
        <p:txBody>
          <a:bodyPr wrap="square" lIns="0" tIns="0" rIns="0" bIns="0" rtlCol="0" anchor="ctr"/>
          <a:lstStyle/>
          <a:p>
            <a:pPr marL="0" indent="0">
              <a:buNone/>
            </a:pPr>
            <a:r>
              <a:rPr lang="en-US" sz="1200" b="1" dirty="0">
                <a:solidFill>
                  <a:srgbClr val="006633"/>
                </a:solidFill>
                <a:latin typeface="Courier New" pitchFamily="34" charset="0"/>
                <a:ea typeface="Courier New" pitchFamily="34" charset="-122"/>
                <a:cs typeface="Courier New" pitchFamily="34" charset="-120"/>
              </a:rPr>
              <a:t>SecurityContextHolder</a:t>
            </a:r>
            <a:endParaRPr lang="en-US" sz="1200" dirty="0"/>
          </a:p>
        </p:txBody>
      </p:sp>
      <p:sp>
        <p:nvSpPr>
          <p:cNvPr id="8" name="Shape 6"/>
          <p:cNvSpPr/>
          <p:nvPr/>
        </p:nvSpPr>
        <p:spPr>
          <a:xfrm>
            <a:off x="731520" y="1874520"/>
            <a:ext cx="4663440" cy="2423160"/>
          </a:xfrm>
          <a:prstGeom prst="roundRect">
            <a:avLst>
              <a:gd name="adj" fmla="val 3019"/>
            </a:avLst>
          </a:prstGeom>
          <a:solidFill>
            <a:srgbClr val="FFFFFF"/>
          </a:solidFill>
          <a:ln/>
          <a:effectLst>
            <a:outerShdw blurRad="88900" dist="38100" dir="5400000" algn="bl" rotWithShape="0">
              <a:srgbClr val="000000">
                <a:alpha val="16000"/>
              </a:srgbClr>
            </a:outerShdw>
          </a:effectLst>
        </p:spPr>
        <p:txBody>
          <a:bodyPr/>
          <a:lstStyle/>
          <a:p>
            <a:endParaRPr lang="es-ES"/>
          </a:p>
        </p:txBody>
      </p:sp>
      <p:sp>
        <p:nvSpPr>
          <p:cNvPr id="9" name="Text 7"/>
          <p:cNvSpPr/>
          <p:nvPr/>
        </p:nvSpPr>
        <p:spPr>
          <a:xfrm>
            <a:off x="914400" y="1947672"/>
            <a:ext cx="4297680" cy="292608"/>
          </a:xfrm>
          <a:prstGeom prst="rect">
            <a:avLst/>
          </a:prstGeom>
          <a:noFill/>
          <a:ln/>
        </p:spPr>
        <p:txBody>
          <a:bodyPr wrap="square" lIns="0" tIns="0" rIns="0" bIns="0" rtlCol="0" anchor="ctr"/>
          <a:lstStyle/>
          <a:p>
            <a:pPr marL="0" indent="0">
              <a:buNone/>
            </a:pPr>
            <a:r>
              <a:rPr lang="en-US" sz="1100" b="1" dirty="0">
                <a:solidFill>
                  <a:srgbClr val="0E4A55"/>
                </a:solidFill>
                <a:latin typeface="Courier New" pitchFamily="34" charset="0"/>
                <a:ea typeface="Courier New" pitchFamily="34" charset="-122"/>
                <a:cs typeface="Courier New" pitchFamily="34" charset="-120"/>
              </a:rPr>
              <a:t>SecurityContext</a:t>
            </a:r>
            <a:endParaRPr lang="en-US" sz="1100" dirty="0"/>
          </a:p>
        </p:txBody>
      </p:sp>
      <p:sp>
        <p:nvSpPr>
          <p:cNvPr id="10" name="Shape 8"/>
          <p:cNvSpPr/>
          <p:nvPr/>
        </p:nvSpPr>
        <p:spPr>
          <a:xfrm>
            <a:off x="1005840" y="2286000"/>
            <a:ext cx="4114800" cy="1874520"/>
          </a:xfrm>
          <a:prstGeom prst="roundRect">
            <a:avLst>
              <a:gd name="adj" fmla="val 3902"/>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1" name="Text 9"/>
          <p:cNvSpPr/>
          <p:nvPr/>
        </p:nvSpPr>
        <p:spPr>
          <a:xfrm>
            <a:off x="1188720" y="2359152"/>
            <a:ext cx="3749040" cy="292608"/>
          </a:xfrm>
          <a:prstGeom prst="rect">
            <a:avLst/>
          </a:prstGeom>
          <a:noFill/>
          <a:ln/>
        </p:spPr>
        <p:txBody>
          <a:bodyPr wrap="square" lIns="0" tIns="0" rIns="0" bIns="0" rtlCol="0" anchor="ctr"/>
          <a:lstStyle/>
          <a:p>
            <a:pPr marL="0" indent="0">
              <a:buNone/>
            </a:pPr>
            <a:r>
              <a:rPr lang="en-US" sz="1100" b="1" dirty="0">
                <a:solidFill>
                  <a:srgbClr val="9A5B00"/>
                </a:solidFill>
                <a:latin typeface="Courier New" pitchFamily="34" charset="0"/>
                <a:ea typeface="Courier New" pitchFamily="34" charset="-122"/>
                <a:cs typeface="Courier New" pitchFamily="34" charset="-120"/>
              </a:rPr>
              <a:t>Authentication</a:t>
            </a:r>
            <a:endParaRPr lang="en-US" sz="1100" dirty="0"/>
          </a:p>
        </p:txBody>
      </p:sp>
      <p:sp>
        <p:nvSpPr>
          <p:cNvPr id="12" name="Text 10"/>
          <p:cNvSpPr/>
          <p:nvPr/>
        </p:nvSpPr>
        <p:spPr>
          <a:xfrm>
            <a:off x="1207008" y="2724912"/>
            <a:ext cx="3749040" cy="1371600"/>
          </a:xfrm>
          <a:prstGeom prst="rect">
            <a:avLst/>
          </a:prstGeom>
          <a:noFill/>
          <a:ln/>
        </p:spPr>
        <p:txBody>
          <a:bodyPr wrap="square" lIns="0" tIns="0" rIns="0" bIns="0" rtlCol="0" anchor="t"/>
          <a:lstStyle/>
          <a:p>
            <a:pPr marL="0" indent="0">
              <a:lnSpc>
                <a:spcPct val="130000"/>
              </a:lnSpc>
              <a:buNone/>
            </a:pPr>
            <a:r>
              <a:rPr lang="en-US" sz="1100" b="1" dirty="0">
                <a:solidFill>
                  <a:srgbClr val="0057AE"/>
                </a:solidFill>
                <a:latin typeface="Courier New" pitchFamily="34" charset="0"/>
                <a:ea typeface="Courier New" pitchFamily="34" charset="-122"/>
                <a:cs typeface="Courier New" pitchFamily="34" charset="-120"/>
              </a:rPr>
              <a:t>principal</a:t>
            </a:r>
            <a:r>
              <a:rPr lang="en-US" sz="1100" dirty="0">
                <a:solidFill>
                  <a:srgbClr val="5C6B62"/>
                </a:solidFill>
                <a:latin typeface="Calibri" pitchFamily="34" charset="0"/>
                <a:ea typeface="Calibri" pitchFamily="34" charset="-122"/>
                <a:cs typeface="Calibri" pitchFamily="34" charset="-120"/>
              </a:rPr>
              <a:t>   el usuario (UserDetails)
</a:t>
            </a:r>
            <a:endParaRPr lang="en-US" sz="1100" dirty="0"/>
          </a:p>
          <a:p>
            <a:pPr marL="0" indent="0">
              <a:lnSpc>
                <a:spcPct val="130000"/>
              </a:lnSpc>
              <a:buNone/>
            </a:pPr>
            <a:r>
              <a:rPr lang="en-US" sz="1100" b="1" dirty="0">
                <a:solidFill>
                  <a:srgbClr val="0057AE"/>
                </a:solidFill>
                <a:latin typeface="Courier New" pitchFamily="34" charset="0"/>
                <a:ea typeface="Courier New" pitchFamily="34" charset="-122"/>
                <a:cs typeface="Courier New" pitchFamily="34" charset="-120"/>
              </a:rPr>
              <a:t>credentials</a:t>
            </a:r>
            <a:r>
              <a:rPr lang="en-US" sz="1100" dirty="0">
                <a:solidFill>
                  <a:srgbClr val="5C6B62"/>
                </a:solidFill>
                <a:latin typeface="Calibri" pitchFamily="34" charset="0"/>
                <a:ea typeface="Calibri" pitchFamily="34" charset="-122"/>
                <a:cs typeface="Calibri" pitchFamily="34" charset="-120"/>
              </a:rPr>
              <a:t>  la contrasena (se limpia)
</a:t>
            </a:r>
            <a:endParaRPr lang="en-US" sz="1100" dirty="0"/>
          </a:p>
          <a:p>
            <a:pPr marL="0" indent="0">
              <a:lnSpc>
                <a:spcPct val="130000"/>
              </a:lnSpc>
              <a:buNone/>
            </a:pPr>
            <a:r>
              <a:rPr lang="en-US" sz="1100" b="1" dirty="0">
                <a:solidFill>
                  <a:srgbClr val="0057AE"/>
                </a:solidFill>
                <a:latin typeface="Courier New" pitchFamily="34" charset="0"/>
                <a:ea typeface="Courier New" pitchFamily="34" charset="-122"/>
                <a:cs typeface="Courier New" pitchFamily="34" charset="-120"/>
              </a:rPr>
              <a:t>authorities</a:t>
            </a:r>
            <a:r>
              <a:rPr lang="en-US" sz="1100" dirty="0">
                <a:solidFill>
                  <a:srgbClr val="5C6B62"/>
                </a:solidFill>
                <a:latin typeface="Calibri" pitchFamily="34" charset="0"/>
                <a:ea typeface="Calibri" pitchFamily="34" charset="-122"/>
                <a:cs typeface="Calibri" pitchFamily="34" charset="-120"/>
              </a:rPr>
              <a:t>  roles y permisos</a:t>
            </a:r>
            <a:endParaRPr lang="en-US" sz="1100" dirty="0"/>
          </a:p>
        </p:txBody>
      </p:sp>
      <p:sp>
        <p:nvSpPr>
          <p:cNvPr id="13" name="Shape 11"/>
          <p:cNvSpPr/>
          <p:nvPr/>
        </p:nvSpPr>
        <p:spPr>
          <a:xfrm>
            <a:off x="5897880" y="1417320"/>
            <a:ext cx="2788920" cy="3017520"/>
          </a:xfrm>
          <a:prstGeom prst="roundRect">
            <a:avLst>
              <a:gd name="adj" fmla="val 2623"/>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4" name="Text 12"/>
          <p:cNvSpPr/>
          <p:nvPr/>
        </p:nvSpPr>
        <p:spPr>
          <a:xfrm>
            <a:off x="6062472" y="1536192"/>
            <a:ext cx="2468880" cy="2788920"/>
          </a:xfrm>
          <a:prstGeom prst="rect">
            <a:avLst/>
          </a:prstGeom>
          <a:noFill/>
          <a:ln/>
        </p:spPr>
        <p:txBody>
          <a:bodyPr wrap="square" lIns="0" tIns="0" rIns="0" bIns="0" rtlCol="0" anchor="t"/>
          <a:lstStyle/>
          <a:p>
            <a:pPr marL="0" indent="0">
              <a:lnSpc>
                <a:spcPct val="105000"/>
              </a:lnSpc>
              <a:buNone/>
            </a:pPr>
            <a:r>
              <a:rPr lang="en-US" sz="1300" b="1" dirty="0">
                <a:solidFill>
                  <a:srgbClr val="006633"/>
                </a:solidFill>
                <a:latin typeface="Calibri" pitchFamily="34" charset="0"/>
                <a:ea typeface="Calibri" pitchFamily="34" charset="-122"/>
                <a:cs typeface="Calibri" pitchFamily="34" charset="-120"/>
              </a:rPr>
              <a:t>Por que importa
</a:t>
            </a:r>
            <a:endParaRPr lang="en-US" sz="1300" dirty="0"/>
          </a:p>
          <a:p>
            <a:pPr marL="0" indent="0">
              <a:lnSpc>
                <a:spcPct val="105000"/>
              </a:lnSpc>
              <a:buNone/>
            </a:pPr>
            <a:r>
              <a:rPr lang="en-US" sz="1100" dirty="0">
                <a:solidFill>
                  <a:srgbClr val="5C6B62"/>
                </a:solidFill>
                <a:latin typeface="Calibri" pitchFamily="34" charset="0"/>
                <a:ea typeface="Calibri" pitchFamily="34" charset="-122"/>
                <a:cs typeface="Calibri" pitchFamily="34" charset="-120"/>
              </a:rPr>
              <a:t>Tras autenticar, el usuario vive aqui durante la peticion. </a:t>
            </a:r>
            <a:r>
              <a:rPr lang="en-US" sz="1100" dirty="0">
                <a:solidFill>
                  <a:srgbClr val="1E2A22"/>
                </a:solidFill>
                <a:latin typeface="Calibri" pitchFamily="34" charset="0"/>
                <a:ea typeface="Calibri" pitchFamily="34" charset="-122"/>
                <a:cs typeface="Calibri" pitchFamily="34" charset="-120"/>
              </a:rPr>
              <a:t>Cualquier capa puede preguntar quien es el usuario actual.
</a:t>
            </a:r>
            <a:endParaRPr lang="en-US" sz="1300" dirty="0"/>
          </a:p>
          <a:p>
            <a:pPr marL="0" indent="0">
              <a:lnSpc>
                <a:spcPct val="105000"/>
              </a:lnSpc>
              <a:buNone/>
            </a:pPr>
            <a:r>
              <a:rPr lang="en-US" sz="1100" dirty="0">
                <a:solidFill>
                  <a:srgbClr val="5C6B62"/>
                </a:solidFill>
                <a:latin typeface="Calibri" pitchFamily="34" charset="0"/>
                <a:ea typeface="Calibri" pitchFamily="34" charset="-122"/>
                <a:cs typeface="Calibri" pitchFamily="34" charset="-120"/>
              </a:rPr>
              <a:t>Por defecto se guarda por hilo (ThreadLocal): cada peticion tiene su propio contexto.</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NUCLEO DE AUTENTICACION</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Quien hace el trabajo de autenticar</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(Teoria)</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457200" y="1463040"/>
            <a:ext cx="2377440" cy="1005840"/>
          </a:xfrm>
          <a:prstGeom prst="roundRect">
            <a:avLst>
              <a:gd name="adj" fmla="val 7273"/>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512064" y="1645920"/>
            <a:ext cx="2267712" cy="457200"/>
          </a:xfrm>
          <a:prstGeom prst="rect">
            <a:avLst/>
          </a:prstGeom>
          <a:noFill/>
          <a:ln/>
        </p:spPr>
        <p:txBody>
          <a:bodyPr wrap="square" lIns="0" tIns="0" rIns="0" bIns="0" rtlCol="0" anchor="ctr"/>
          <a:lstStyle/>
          <a:p>
            <a:pPr marL="0" indent="0" algn="ctr">
              <a:buNone/>
            </a:pPr>
            <a:r>
              <a:rPr lang="en-US" sz="1050" b="1" dirty="0">
                <a:solidFill>
                  <a:srgbClr val="006633"/>
                </a:solidFill>
                <a:latin typeface="Courier New" pitchFamily="34" charset="0"/>
                <a:ea typeface="Courier New" pitchFamily="34" charset="-122"/>
                <a:cs typeface="Courier New" pitchFamily="34" charset="-120"/>
              </a:rPr>
              <a:t>AuthenticationManager</a:t>
            </a:r>
            <a:endParaRPr lang="en-US" sz="1050" dirty="0"/>
          </a:p>
        </p:txBody>
      </p:sp>
      <p:sp>
        <p:nvSpPr>
          <p:cNvPr id="8" name="Text 6"/>
          <p:cNvSpPr/>
          <p:nvPr/>
        </p:nvSpPr>
        <p:spPr>
          <a:xfrm>
            <a:off x="512064" y="2084832"/>
            <a:ext cx="2267712" cy="320040"/>
          </a:xfrm>
          <a:prstGeom prst="rect">
            <a:avLst/>
          </a:prstGeom>
          <a:noFill/>
          <a:ln/>
        </p:spPr>
        <p:txBody>
          <a:bodyPr wrap="square" lIns="0" tIns="0" rIns="0" bIns="0" rtlCol="0" anchor="ctr"/>
          <a:lstStyle/>
          <a:p>
            <a:pPr marL="0" indent="0" algn="ctr">
              <a:buNone/>
            </a:pPr>
            <a:r>
              <a:rPr lang="en-US" sz="950" dirty="0">
                <a:solidFill>
                  <a:srgbClr val="5C6B62"/>
                </a:solidFill>
                <a:latin typeface="Calibri" pitchFamily="34" charset="0"/>
                <a:ea typeface="Calibri" pitchFamily="34" charset="-122"/>
                <a:cs typeface="Calibri" pitchFamily="34" charset="-120"/>
              </a:rPr>
              <a:t>el contrato (interfaz)</a:t>
            </a:r>
            <a:endParaRPr lang="en-US" sz="950" dirty="0"/>
          </a:p>
        </p:txBody>
      </p:sp>
      <p:sp>
        <p:nvSpPr>
          <p:cNvPr id="9" name="Shape 7"/>
          <p:cNvSpPr/>
          <p:nvPr/>
        </p:nvSpPr>
        <p:spPr>
          <a:xfrm>
            <a:off x="2852928" y="1965960"/>
            <a:ext cx="237744" cy="0"/>
          </a:xfrm>
          <a:prstGeom prst="line">
            <a:avLst/>
          </a:prstGeom>
          <a:noFill/>
          <a:ln w="25400">
            <a:solidFill>
              <a:srgbClr val="006633"/>
            </a:solidFill>
            <a:prstDash val="solid"/>
            <a:tailEnd type="triangle"/>
          </a:ln>
        </p:spPr>
        <p:txBody>
          <a:bodyPr/>
          <a:lstStyle/>
          <a:p>
            <a:endParaRPr lang="es-ES"/>
          </a:p>
        </p:txBody>
      </p:sp>
      <p:sp>
        <p:nvSpPr>
          <p:cNvPr id="10" name="Shape 8"/>
          <p:cNvSpPr/>
          <p:nvPr/>
        </p:nvSpPr>
        <p:spPr>
          <a:xfrm>
            <a:off x="3383280" y="1463040"/>
            <a:ext cx="2377440" cy="1005840"/>
          </a:xfrm>
          <a:prstGeom prst="roundRect">
            <a:avLst>
              <a:gd name="adj" fmla="val 7273"/>
            </a:avLst>
          </a:prstGeom>
          <a:solidFill>
            <a:srgbClr val="006633"/>
          </a:solidFill>
          <a:ln/>
          <a:effectLst>
            <a:outerShdw blurRad="88900" dist="38100" dir="5400000" algn="bl" rotWithShape="0">
              <a:srgbClr val="000000">
                <a:alpha val="16000"/>
              </a:srgbClr>
            </a:outerShdw>
          </a:effectLst>
        </p:spPr>
        <p:txBody>
          <a:bodyPr/>
          <a:lstStyle/>
          <a:p>
            <a:endParaRPr lang="es-ES"/>
          </a:p>
        </p:txBody>
      </p:sp>
      <p:sp>
        <p:nvSpPr>
          <p:cNvPr id="11" name="Text 9"/>
          <p:cNvSpPr/>
          <p:nvPr/>
        </p:nvSpPr>
        <p:spPr>
          <a:xfrm>
            <a:off x="3438144" y="1645920"/>
            <a:ext cx="2267712"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ProviderManager</a:t>
            </a:r>
            <a:endParaRPr lang="en-US" sz="1050" dirty="0"/>
          </a:p>
        </p:txBody>
      </p:sp>
      <p:sp>
        <p:nvSpPr>
          <p:cNvPr id="12" name="Text 10"/>
          <p:cNvSpPr/>
          <p:nvPr/>
        </p:nvSpPr>
        <p:spPr>
          <a:xfrm>
            <a:off x="3438144" y="2084832"/>
            <a:ext cx="2267712" cy="320040"/>
          </a:xfrm>
          <a:prstGeom prst="rect">
            <a:avLst/>
          </a:prstGeom>
          <a:noFill/>
          <a:ln/>
        </p:spPr>
        <p:txBody>
          <a:bodyPr wrap="square" lIns="0" tIns="0" rIns="0" bIns="0" rtlCol="0" anchor="ctr"/>
          <a:lstStyle/>
          <a:p>
            <a:pPr marL="0" indent="0" algn="ctr">
              <a:buNone/>
            </a:pPr>
            <a:r>
              <a:rPr lang="en-US" sz="950" dirty="0">
                <a:solidFill>
                  <a:srgbClr val="EAF4EC"/>
                </a:solidFill>
                <a:latin typeface="Calibri" pitchFamily="34" charset="0"/>
                <a:ea typeface="Calibri" pitchFamily="34" charset="-122"/>
                <a:cs typeface="Calibri" pitchFamily="34" charset="-120"/>
              </a:rPr>
              <a:t>implementacion estandar</a:t>
            </a:r>
            <a:endParaRPr lang="en-US" sz="950" dirty="0"/>
          </a:p>
        </p:txBody>
      </p:sp>
      <p:sp>
        <p:nvSpPr>
          <p:cNvPr id="13" name="Shape 11"/>
          <p:cNvSpPr/>
          <p:nvPr/>
        </p:nvSpPr>
        <p:spPr>
          <a:xfrm>
            <a:off x="5779008" y="1965960"/>
            <a:ext cx="237744" cy="0"/>
          </a:xfrm>
          <a:prstGeom prst="line">
            <a:avLst/>
          </a:prstGeom>
          <a:noFill/>
          <a:ln w="25400">
            <a:solidFill>
              <a:srgbClr val="006633"/>
            </a:solidFill>
            <a:prstDash val="solid"/>
            <a:tailEnd type="triangle"/>
          </a:ln>
        </p:spPr>
        <p:txBody>
          <a:bodyPr/>
          <a:lstStyle/>
          <a:p>
            <a:endParaRPr lang="es-ES"/>
          </a:p>
        </p:txBody>
      </p:sp>
      <p:sp>
        <p:nvSpPr>
          <p:cNvPr id="14" name="Shape 12"/>
          <p:cNvSpPr/>
          <p:nvPr/>
        </p:nvSpPr>
        <p:spPr>
          <a:xfrm>
            <a:off x="6309360" y="1463040"/>
            <a:ext cx="2377440" cy="1005840"/>
          </a:xfrm>
          <a:prstGeom prst="roundRect">
            <a:avLst>
              <a:gd name="adj" fmla="val 7273"/>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5" name="Text 13"/>
          <p:cNvSpPr/>
          <p:nvPr/>
        </p:nvSpPr>
        <p:spPr>
          <a:xfrm>
            <a:off x="6364224" y="1645920"/>
            <a:ext cx="2267712" cy="457200"/>
          </a:xfrm>
          <a:prstGeom prst="rect">
            <a:avLst/>
          </a:prstGeom>
          <a:noFill/>
          <a:ln/>
        </p:spPr>
        <p:txBody>
          <a:bodyPr wrap="square" lIns="0" tIns="0" rIns="0" bIns="0" rtlCol="0" anchor="ctr"/>
          <a:lstStyle/>
          <a:p>
            <a:pPr marL="0" indent="0" algn="ctr">
              <a:buNone/>
            </a:pPr>
            <a:r>
              <a:rPr lang="en-US" sz="1050" b="1" dirty="0">
                <a:solidFill>
                  <a:srgbClr val="006633"/>
                </a:solidFill>
                <a:latin typeface="Courier New" pitchFamily="34" charset="0"/>
                <a:ea typeface="Courier New" pitchFamily="34" charset="-122"/>
                <a:cs typeface="Courier New" pitchFamily="34" charset="-120"/>
              </a:rPr>
              <a:t>AuthenticationProvider</a:t>
            </a:r>
            <a:endParaRPr lang="en-US" sz="1050" dirty="0"/>
          </a:p>
        </p:txBody>
      </p:sp>
      <p:sp>
        <p:nvSpPr>
          <p:cNvPr id="16" name="Text 14"/>
          <p:cNvSpPr/>
          <p:nvPr/>
        </p:nvSpPr>
        <p:spPr>
          <a:xfrm>
            <a:off x="6364224" y="2084832"/>
            <a:ext cx="2267712" cy="320040"/>
          </a:xfrm>
          <a:prstGeom prst="rect">
            <a:avLst/>
          </a:prstGeom>
          <a:noFill/>
          <a:ln/>
        </p:spPr>
        <p:txBody>
          <a:bodyPr wrap="square" lIns="0" tIns="0" rIns="0" bIns="0" rtlCol="0" anchor="ctr"/>
          <a:lstStyle/>
          <a:p>
            <a:pPr marL="0" indent="0" algn="ctr">
              <a:buNone/>
            </a:pPr>
            <a:r>
              <a:rPr lang="en-US" sz="950" dirty="0">
                <a:solidFill>
                  <a:srgbClr val="5C6B62"/>
                </a:solidFill>
                <a:latin typeface="Calibri" pitchFamily="34" charset="0"/>
                <a:ea typeface="Calibri" pitchFamily="34" charset="-122"/>
                <a:cs typeface="Calibri" pitchFamily="34" charset="-120"/>
              </a:rPr>
              <a:t>valida un tipo concreto</a:t>
            </a:r>
            <a:endParaRPr lang="en-US" sz="950" dirty="0"/>
          </a:p>
        </p:txBody>
      </p:sp>
      <p:sp>
        <p:nvSpPr>
          <p:cNvPr id="17" name="Shape 15"/>
          <p:cNvSpPr/>
          <p:nvPr/>
        </p:nvSpPr>
        <p:spPr>
          <a:xfrm>
            <a:off x="7498080" y="2468880"/>
            <a:ext cx="0" cy="502920"/>
          </a:xfrm>
          <a:prstGeom prst="line">
            <a:avLst/>
          </a:prstGeom>
          <a:noFill/>
          <a:ln w="25400">
            <a:solidFill>
              <a:srgbClr val="006633"/>
            </a:solidFill>
            <a:prstDash val="solid"/>
            <a:tailEnd type="triangle"/>
          </a:ln>
        </p:spPr>
        <p:txBody>
          <a:bodyPr/>
          <a:lstStyle/>
          <a:p>
            <a:endParaRPr lang="es-ES"/>
          </a:p>
        </p:txBody>
      </p:sp>
      <p:sp>
        <p:nvSpPr>
          <p:cNvPr id="18" name="Shape 16"/>
          <p:cNvSpPr/>
          <p:nvPr/>
        </p:nvSpPr>
        <p:spPr>
          <a:xfrm>
            <a:off x="5120640" y="3017520"/>
            <a:ext cx="3566160" cy="1417320"/>
          </a:xfrm>
          <a:prstGeom prst="roundRect">
            <a:avLst>
              <a:gd name="adj" fmla="val 5161"/>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9" name="Text 17"/>
          <p:cNvSpPr/>
          <p:nvPr/>
        </p:nvSpPr>
        <p:spPr>
          <a:xfrm>
            <a:off x="5285232" y="3127248"/>
            <a:ext cx="3246120" cy="1234440"/>
          </a:xfrm>
          <a:prstGeom prst="rect">
            <a:avLst/>
          </a:prstGeom>
          <a:noFill/>
          <a:ln/>
        </p:spPr>
        <p:txBody>
          <a:bodyPr wrap="square" lIns="0" tIns="0" rIns="0" bIns="0" rtlCol="0" anchor="t"/>
          <a:lstStyle/>
          <a:p>
            <a:pPr marL="0" indent="0">
              <a:lnSpc>
                <a:spcPct val="105000"/>
              </a:lnSpc>
              <a:buNone/>
            </a:pPr>
            <a:r>
              <a:rPr lang="en-US" sz="1050" b="1" dirty="0">
                <a:solidFill>
                  <a:srgbClr val="9A5B00"/>
                </a:solidFill>
                <a:latin typeface="Courier New" pitchFamily="34" charset="0"/>
                <a:ea typeface="Courier New" pitchFamily="34" charset="-122"/>
                <a:cs typeface="Courier New" pitchFamily="34" charset="-120"/>
              </a:rPr>
              <a:t>DaoAuthenticationProvider
</a:t>
            </a:r>
            <a:endParaRPr lang="en-US" sz="1050" dirty="0"/>
          </a:p>
          <a:p>
            <a:pPr marL="0" indent="0">
              <a:lnSpc>
                <a:spcPct val="105000"/>
              </a:lnSpc>
              <a:buNone/>
            </a:pPr>
            <a:r>
              <a:rPr lang="en-US" sz="1100" dirty="0">
                <a:solidFill>
                  <a:srgbClr val="1E2A22"/>
                </a:solidFill>
                <a:latin typeface="Calibri" pitchFamily="34" charset="0"/>
                <a:ea typeface="Calibri" pitchFamily="34" charset="-122"/>
                <a:cs typeface="Calibri" pitchFamily="34" charset="-120"/>
              </a:rPr>
              <a:t>El proveedor mas comun. Usa:
</a:t>
            </a:r>
            <a:endParaRPr lang="en-US" sz="1050" dirty="0"/>
          </a:p>
          <a:p>
            <a:pPr marL="0" indent="0">
              <a:lnSpc>
                <a:spcPct val="105000"/>
              </a:lnSpc>
              <a:buNone/>
            </a:pPr>
            <a:r>
              <a:rPr lang="en-US" sz="1000" dirty="0">
                <a:solidFill>
                  <a:srgbClr val="0057AE"/>
                </a:solidFill>
                <a:latin typeface="Courier New" pitchFamily="34" charset="0"/>
                <a:ea typeface="Courier New" pitchFamily="34" charset="-122"/>
                <a:cs typeface="Courier New" pitchFamily="34" charset="-120"/>
              </a:rPr>
              <a:t>· UserDetailsService  </a:t>
            </a:r>
            <a:r>
              <a:rPr lang="en-US" sz="1050" dirty="0">
                <a:solidFill>
                  <a:srgbClr val="5C6B62"/>
                </a:solidFill>
                <a:latin typeface="Calibri" pitchFamily="34" charset="0"/>
                <a:ea typeface="Calibri" pitchFamily="34" charset="-122"/>
                <a:cs typeface="Calibri" pitchFamily="34" charset="-120"/>
              </a:rPr>
              <a:t>carga al usuario
</a:t>
            </a:r>
            <a:endParaRPr lang="en-US" sz="1050" dirty="0"/>
          </a:p>
          <a:p>
            <a:pPr marL="0" indent="0">
              <a:lnSpc>
                <a:spcPct val="105000"/>
              </a:lnSpc>
              <a:buNone/>
            </a:pPr>
            <a:r>
              <a:rPr lang="en-US" sz="1000" dirty="0">
                <a:solidFill>
                  <a:srgbClr val="0057AE"/>
                </a:solidFill>
                <a:latin typeface="Courier New" pitchFamily="34" charset="0"/>
                <a:ea typeface="Courier New" pitchFamily="34" charset="-122"/>
                <a:cs typeface="Courier New" pitchFamily="34" charset="-120"/>
              </a:rPr>
              <a:t>· PasswordEncoder  </a:t>
            </a:r>
            <a:r>
              <a:rPr lang="en-US" sz="1050" dirty="0">
                <a:solidFill>
                  <a:srgbClr val="5C6B62"/>
                </a:solidFill>
                <a:latin typeface="Calibri" pitchFamily="34" charset="0"/>
                <a:ea typeface="Calibri" pitchFamily="34" charset="-122"/>
                <a:cs typeface="Calibri" pitchFamily="34" charset="-120"/>
              </a:rPr>
              <a:t>compara la clave</a:t>
            </a:r>
            <a:endParaRPr lang="en-US" sz="1050" dirty="0"/>
          </a:p>
        </p:txBody>
      </p:sp>
      <p:sp>
        <p:nvSpPr>
          <p:cNvPr id="20" name="Shape 18"/>
          <p:cNvSpPr/>
          <p:nvPr/>
        </p:nvSpPr>
        <p:spPr>
          <a:xfrm>
            <a:off x="457200" y="3017520"/>
            <a:ext cx="4389120" cy="1417320"/>
          </a:xfrm>
          <a:prstGeom prst="roundRect">
            <a:avLst>
              <a:gd name="adj" fmla="val 5161"/>
            </a:avLst>
          </a:prstGeom>
          <a:solidFill>
            <a:srgbClr val="EAF1EC"/>
          </a:solidFill>
          <a:ln/>
          <a:effectLst>
            <a:outerShdw blurRad="88900" dist="38100" dir="5400000" algn="bl" rotWithShape="0">
              <a:srgbClr val="000000">
                <a:alpha val="16000"/>
              </a:srgbClr>
            </a:outerShdw>
          </a:effectLst>
        </p:spPr>
        <p:txBody>
          <a:bodyPr/>
          <a:lstStyle/>
          <a:p>
            <a:endParaRPr lang="es-ES"/>
          </a:p>
        </p:txBody>
      </p:sp>
      <p:sp>
        <p:nvSpPr>
          <p:cNvPr id="21" name="Text 19"/>
          <p:cNvSpPr/>
          <p:nvPr/>
        </p:nvSpPr>
        <p:spPr>
          <a:xfrm>
            <a:off x="621792" y="3127248"/>
            <a:ext cx="4069080" cy="1234440"/>
          </a:xfrm>
          <a:prstGeom prst="rect">
            <a:avLst/>
          </a:prstGeom>
          <a:noFill/>
          <a:ln/>
        </p:spPr>
        <p:txBody>
          <a:bodyPr wrap="square" lIns="0" tIns="0" rIns="0" bIns="0" rtlCol="0" anchor="t"/>
          <a:lstStyle/>
          <a:p>
            <a:pPr marL="0" indent="0">
              <a:lnSpc>
                <a:spcPct val="104000"/>
              </a:lnSpc>
              <a:buNone/>
            </a:pPr>
            <a:r>
              <a:rPr lang="en-US" sz="1200" b="1" dirty="0">
                <a:solidFill>
                  <a:srgbClr val="006633"/>
                </a:solidFill>
                <a:latin typeface="Calibri" pitchFamily="34" charset="0"/>
                <a:ea typeface="Calibri" pitchFamily="34" charset="-122"/>
                <a:cs typeface="Calibri" pitchFamily="34" charset="-120"/>
              </a:rPr>
              <a:t>Como encaja
</a:t>
            </a:r>
            <a:endParaRPr lang="en-US" sz="1200" dirty="0"/>
          </a:p>
          <a:p>
            <a:pPr marL="0" indent="0">
              <a:lnSpc>
                <a:spcPct val="104000"/>
              </a:lnSpc>
              <a:buNone/>
            </a:pPr>
            <a:r>
              <a:rPr lang="en-US" sz="1100" dirty="0">
                <a:solidFill>
                  <a:srgbClr val="5C6B62"/>
                </a:solidFill>
                <a:latin typeface="Calibri" pitchFamily="34" charset="0"/>
                <a:ea typeface="Calibri" pitchFamily="34" charset="-122"/>
                <a:cs typeface="Calibri" pitchFamily="34" charset="-120"/>
              </a:rPr>
              <a:t>El ProviderManager delega en una lista de proveedores; el primero que sabe manejar ese tipo de credencial, autentica. Asi conviven varios mecanismos (clave, token, LDAP...).</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USUARIOS</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Como conoce Spring a los usuarios</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(Teoria)</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457200" y="1371600"/>
            <a:ext cx="4069080" cy="3063240"/>
          </a:xfrm>
          <a:prstGeom prst="roundRect">
            <a:avLst>
              <a:gd name="adj" fmla="val 2388"/>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7" name="Shape 5"/>
          <p:cNvSpPr/>
          <p:nvPr/>
        </p:nvSpPr>
        <p:spPr>
          <a:xfrm>
            <a:off x="658368" y="1572768"/>
            <a:ext cx="548640" cy="54864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8" name="Image 0" descr="preencoded.png"/>
          <p:cNvPicPr>
            <a:picLocks noChangeAspect="1"/>
          </p:cNvPicPr>
          <p:nvPr/>
        </p:nvPicPr>
        <p:blipFill>
          <a:blip r:embed="rId3"/>
          <a:stretch>
            <a:fillRect/>
          </a:stretch>
        </p:blipFill>
        <p:spPr>
          <a:xfrm>
            <a:off x="801014" y="1715414"/>
            <a:ext cx="263347" cy="263347"/>
          </a:xfrm>
          <a:prstGeom prst="rect">
            <a:avLst/>
          </a:prstGeom>
        </p:spPr>
      </p:pic>
      <p:sp>
        <p:nvSpPr>
          <p:cNvPr id="9" name="Text 6"/>
          <p:cNvSpPr/>
          <p:nvPr/>
        </p:nvSpPr>
        <p:spPr>
          <a:xfrm>
            <a:off x="1371600" y="1609344"/>
            <a:ext cx="2926080" cy="365760"/>
          </a:xfrm>
          <a:prstGeom prst="rect">
            <a:avLst/>
          </a:prstGeom>
          <a:noFill/>
          <a:ln/>
        </p:spPr>
        <p:txBody>
          <a:bodyPr wrap="square" lIns="0" tIns="0" rIns="0" bIns="0" rtlCol="0" anchor="ctr"/>
          <a:lstStyle/>
          <a:p>
            <a:pPr marL="0" indent="0">
              <a:buNone/>
            </a:pPr>
            <a:r>
              <a:rPr lang="en-US" sz="1500" b="1" dirty="0">
                <a:solidFill>
                  <a:srgbClr val="006633"/>
                </a:solidFill>
                <a:latin typeface="Courier New" pitchFamily="34" charset="0"/>
                <a:ea typeface="Courier New" pitchFamily="34" charset="-122"/>
                <a:cs typeface="Courier New" pitchFamily="34" charset="-120"/>
              </a:rPr>
              <a:t>UserDetails</a:t>
            </a:r>
            <a:endParaRPr lang="en-US" sz="1500" dirty="0"/>
          </a:p>
        </p:txBody>
      </p:sp>
      <p:sp>
        <p:nvSpPr>
          <p:cNvPr id="10" name="Text 7"/>
          <p:cNvSpPr/>
          <p:nvPr/>
        </p:nvSpPr>
        <p:spPr>
          <a:xfrm>
            <a:off x="658368" y="2286000"/>
            <a:ext cx="3657600" cy="2011680"/>
          </a:xfrm>
          <a:prstGeom prst="rect">
            <a:avLst/>
          </a:prstGeom>
          <a:noFill/>
          <a:ln/>
        </p:spPr>
        <p:txBody>
          <a:bodyPr wrap="square" lIns="0" tIns="0" rIns="0" bIns="0" rtlCol="0" anchor="t"/>
          <a:lstStyle/>
          <a:p>
            <a:pPr marL="0" indent="0">
              <a:lnSpc>
                <a:spcPct val="120000"/>
              </a:lnSpc>
              <a:buNone/>
            </a:pPr>
            <a:r>
              <a:rPr lang="en-US" sz="1200" dirty="0">
                <a:solidFill>
                  <a:srgbClr val="5C6B62"/>
                </a:solidFill>
                <a:latin typeface="Calibri" pitchFamily="34" charset="0"/>
                <a:ea typeface="Calibri" pitchFamily="34" charset="-122"/>
                <a:cs typeface="Calibri" pitchFamily="34" charset="-120"/>
              </a:rPr>
              <a:t>La vista que Spring tiene de un usuario. </a:t>
            </a:r>
            <a:r>
              <a:rPr lang="en-US" sz="1200" b="1" dirty="0">
                <a:solidFill>
                  <a:srgbClr val="1E2A22"/>
                </a:solidFill>
                <a:latin typeface="Calibri" pitchFamily="34" charset="0"/>
                <a:ea typeface="Calibri" pitchFamily="34" charset="-122"/>
                <a:cs typeface="Calibri" pitchFamily="34" charset="-120"/>
              </a:rPr>
              <a:t>Expone lo imprescindible:
</a:t>
            </a:r>
            <a:endParaRPr lang="en-US" sz="1200" dirty="0"/>
          </a:p>
          <a:p>
            <a:pPr marL="0" indent="0">
              <a:lnSpc>
                <a:spcPct val="120000"/>
              </a:lnSpc>
              <a:buNone/>
            </a:pPr>
            <a:r>
              <a:rPr lang="en-US" sz="1100" dirty="0">
                <a:solidFill>
                  <a:srgbClr val="383A42"/>
                </a:solidFill>
                <a:latin typeface="Courier New" pitchFamily="34" charset="0"/>
                <a:ea typeface="Courier New" pitchFamily="34" charset="-122"/>
                <a:cs typeface="Courier New" pitchFamily="34" charset="-120"/>
              </a:rPr>
              <a:t>· getUsername()</a:t>
            </a:r>
            <a:endParaRPr lang="en-US" sz="1200" dirty="0"/>
          </a:p>
          <a:p>
            <a:pPr marL="0" indent="0">
              <a:lnSpc>
                <a:spcPct val="120000"/>
              </a:lnSpc>
              <a:buNone/>
            </a:pPr>
            <a:r>
              <a:rPr lang="en-US" sz="1100" dirty="0">
                <a:solidFill>
                  <a:srgbClr val="383A42"/>
                </a:solidFill>
                <a:latin typeface="Courier New" pitchFamily="34" charset="0"/>
                <a:ea typeface="Courier New" pitchFamily="34" charset="-122"/>
                <a:cs typeface="Courier New" pitchFamily="34" charset="-120"/>
              </a:rPr>
              <a:t>· getPassword()  (hash)</a:t>
            </a:r>
            <a:endParaRPr lang="en-US" sz="1200" dirty="0"/>
          </a:p>
          <a:p>
            <a:pPr marL="0" indent="0">
              <a:lnSpc>
                <a:spcPct val="120000"/>
              </a:lnSpc>
              <a:buNone/>
            </a:pPr>
            <a:r>
              <a:rPr lang="en-US" sz="1100" dirty="0">
                <a:solidFill>
                  <a:srgbClr val="383A42"/>
                </a:solidFill>
                <a:latin typeface="Courier New" pitchFamily="34" charset="0"/>
                <a:ea typeface="Courier New" pitchFamily="34" charset="-122"/>
                <a:cs typeface="Courier New" pitchFamily="34" charset="-120"/>
              </a:rPr>
              <a:t>· getAuthorities()</a:t>
            </a:r>
            <a:endParaRPr lang="en-US" sz="1200" dirty="0"/>
          </a:p>
          <a:p>
            <a:pPr marL="0" indent="0">
              <a:lnSpc>
                <a:spcPct val="120000"/>
              </a:lnSpc>
              <a:buNone/>
            </a:pPr>
            <a:r>
              <a:rPr lang="en-US" sz="1100" dirty="0">
                <a:solidFill>
                  <a:srgbClr val="383A42"/>
                </a:solidFill>
                <a:latin typeface="Courier New" pitchFamily="34" charset="0"/>
                <a:ea typeface="Courier New" pitchFamily="34" charset="-122"/>
                <a:cs typeface="Courier New" pitchFamily="34" charset="-120"/>
              </a:rPr>
              <a:t>· cuenta activa / no bloqueada</a:t>
            </a:r>
            <a:endParaRPr lang="en-US" sz="1200" dirty="0"/>
          </a:p>
        </p:txBody>
      </p:sp>
      <p:sp>
        <p:nvSpPr>
          <p:cNvPr id="11" name="Shape 8"/>
          <p:cNvSpPr/>
          <p:nvPr/>
        </p:nvSpPr>
        <p:spPr>
          <a:xfrm>
            <a:off x="4663440" y="1371600"/>
            <a:ext cx="4023360" cy="3063240"/>
          </a:xfrm>
          <a:prstGeom prst="roundRect">
            <a:avLst>
              <a:gd name="adj" fmla="val 2388"/>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2" name="Shape 9"/>
          <p:cNvSpPr/>
          <p:nvPr/>
        </p:nvSpPr>
        <p:spPr>
          <a:xfrm>
            <a:off x="4864608" y="1572768"/>
            <a:ext cx="548640" cy="54864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13" name="Image 1" descr="preencoded.png"/>
          <p:cNvPicPr>
            <a:picLocks noChangeAspect="1"/>
          </p:cNvPicPr>
          <p:nvPr/>
        </p:nvPicPr>
        <p:blipFill>
          <a:blip r:embed="rId4"/>
          <a:stretch>
            <a:fillRect/>
          </a:stretch>
        </p:blipFill>
        <p:spPr>
          <a:xfrm>
            <a:off x="5007254" y="1715414"/>
            <a:ext cx="263347" cy="263347"/>
          </a:xfrm>
          <a:prstGeom prst="rect">
            <a:avLst/>
          </a:prstGeom>
        </p:spPr>
      </p:pic>
      <p:sp>
        <p:nvSpPr>
          <p:cNvPr id="14" name="Text 10"/>
          <p:cNvSpPr/>
          <p:nvPr/>
        </p:nvSpPr>
        <p:spPr>
          <a:xfrm>
            <a:off x="5577840" y="1609344"/>
            <a:ext cx="3017520" cy="365760"/>
          </a:xfrm>
          <a:prstGeom prst="rect">
            <a:avLst/>
          </a:prstGeom>
          <a:noFill/>
          <a:ln/>
        </p:spPr>
        <p:txBody>
          <a:bodyPr wrap="square" lIns="0" tIns="0" rIns="0" bIns="0" rtlCol="0" anchor="ctr"/>
          <a:lstStyle/>
          <a:p>
            <a:pPr marL="0" indent="0">
              <a:buNone/>
            </a:pPr>
            <a:r>
              <a:rPr lang="en-US" sz="1400" b="1" dirty="0">
                <a:solidFill>
                  <a:srgbClr val="006633"/>
                </a:solidFill>
                <a:latin typeface="Courier New" pitchFamily="34" charset="0"/>
                <a:ea typeface="Courier New" pitchFamily="34" charset="-122"/>
                <a:cs typeface="Courier New" pitchFamily="34" charset="-120"/>
              </a:rPr>
              <a:t>UserDetailsService</a:t>
            </a:r>
            <a:endParaRPr lang="en-US" sz="1400" dirty="0"/>
          </a:p>
        </p:txBody>
      </p:sp>
      <p:sp>
        <p:nvSpPr>
          <p:cNvPr id="15" name="Text 11"/>
          <p:cNvSpPr/>
          <p:nvPr/>
        </p:nvSpPr>
        <p:spPr>
          <a:xfrm>
            <a:off x="4864608" y="2286000"/>
            <a:ext cx="3657600" cy="2011680"/>
          </a:xfrm>
          <a:prstGeom prst="rect">
            <a:avLst/>
          </a:prstGeom>
          <a:noFill/>
          <a:ln/>
        </p:spPr>
        <p:txBody>
          <a:bodyPr wrap="square" lIns="0" tIns="0" rIns="0" bIns="0" rtlCol="0" anchor="t"/>
          <a:lstStyle/>
          <a:p>
            <a:pPr marL="0" indent="0">
              <a:lnSpc>
                <a:spcPct val="106000"/>
              </a:lnSpc>
              <a:buNone/>
            </a:pPr>
            <a:r>
              <a:rPr lang="en-US" sz="1200" dirty="0">
                <a:solidFill>
                  <a:srgbClr val="5C6B62"/>
                </a:solidFill>
                <a:latin typeface="Calibri" pitchFamily="34" charset="0"/>
                <a:ea typeface="Calibri" pitchFamily="34" charset="-122"/>
                <a:cs typeface="Calibri" pitchFamily="34" charset="-120"/>
              </a:rPr>
              <a:t>El puente a tu almacen de usuarios. </a:t>
            </a:r>
            <a:r>
              <a:rPr lang="en-US" sz="1200" b="1" dirty="0">
                <a:solidFill>
                  <a:srgbClr val="1E2A22"/>
                </a:solidFill>
                <a:latin typeface="Calibri" pitchFamily="34" charset="0"/>
                <a:ea typeface="Calibri" pitchFamily="34" charset="-122"/>
                <a:cs typeface="Calibri" pitchFamily="34" charset="-120"/>
              </a:rPr>
              <a:t>Un solo metodo:
</a:t>
            </a:r>
            <a:endParaRPr lang="en-US" sz="1200" dirty="0"/>
          </a:p>
          <a:p>
            <a:pPr marL="0" indent="0">
              <a:lnSpc>
                <a:spcPct val="106000"/>
              </a:lnSpc>
              <a:buNone/>
            </a:pPr>
            <a:r>
              <a:rPr lang="en-US" sz="1150" b="1" dirty="0">
                <a:solidFill>
                  <a:srgbClr val="0057AE"/>
                </a:solidFill>
                <a:latin typeface="Courier New" pitchFamily="34" charset="0"/>
                <a:ea typeface="Courier New" pitchFamily="34" charset="-122"/>
                <a:cs typeface="Courier New" pitchFamily="34" charset="-120"/>
              </a:rPr>
              <a:t>loadUserByUsername(String)
</a:t>
            </a:r>
            <a:endParaRPr lang="en-US" sz="1200" dirty="0"/>
          </a:p>
          <a:p>
            <a:pPr marL="0" indent="0">
              <a:lnSpc>
                <a:spcPct val="106000"/>
              </a:lnSpc>
              <a:buNone/>
            </a:pPr>
            <a:r>
              <a:rPr lang="en-US" sz="1150" dirty="0">
                <a:solidFill>
                  <a:srgbClr val="5C6B62"/>
                </a:solidFill>
                <a:latin typeface="Calibri" pitchFamily="34" charset="0"/>
                <a:ea typeface="Calibri" pitchFamily="34" charset="-122"/>
                <a:cs typeface="Calibri" pitchFamily="34" charset="-120"/>
              </a:rPr>
              <a:t>Lo implementas tu para leer de tu base de datos y devolver un UserDetails. Es el punto donde tu dominio se conecta con Spring Security.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CONTRASENAS</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Nunca en texto plano: PasswordEncoder</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(Teoria)</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457200" y="1371600"/>
            <a:ext cx="8229600" cy="1051560"/>
          </a:xfrm>
          <a:prstGeom prst="roundRect">
            <a:avLst>
              <a:gd name="adj" fmla="val 6957"/>
            </a:avLst>
          </a:prstGeom>
          <a:solidFill>
            <a:srgbClr val="FBE9E7"/>
          </a:solidFill>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658368" y="1481328"/>
            <a:ext cx="7863840" cy="822960"/>
          </a:xfrm>
          <a:prstGeom prst="rect">
            <a:avLst/>
          </a:prstGeom>
          <a:noFill/>
          <a:ln/>
        </p:spPr>
        <p:txBody>
          <a:bodyPr wrap="square" lIns="0" tIns="0" rIns="0" bIns="0" rtlCol="0" anchor="ctr"/>
          <a:lstStyle/>
          <a:p>
            <a:pPr marL="0" indent="0">
              <a:lnSpc>
                <a:spcPct val="105000"/>
              </a:lnSpc>
              <a:buNone/>
            </a:pPr>
            <a:r>
              <a:rPr lang="en-US" sz="1300" b="1" dirty="0">
                <a:solidFill>
                  <a:srgbClr val="B23A18"/>
                </a:solidFill>
                <a:latin typeface="Calibri" pitchFamily="34" charset="0"/>
                <a:ea typeface="Calibri" pitchFamily="34" charset="-122"/>
                <a:cs typeface="Calibri" pitchFamily="34" charset="-120"/>
              </a:rPr>
              <a:t>Regla absoluta:  </a:t>
            </a:r>
            <a:r>
              <a:rPr lang="en-US" sz="1300" dirty="0">
                <a:solidFill>
                  <a:srgbClr val="1E2A22"/>
                </a:solidFill>
                <a:latin typeface="Calibri" pitchFamily="34" charset="0"/>
                <a:ea typeface="Calibri" pitchFamily="34" charset="-122"/>
                <a:cs typeface="Calibri" pitchFamily="34" charset="-120"/>
              </a:rPr>
              <a:t>una contrasena jamas se guarda ni se compara en texto plano. Se almacena su </a:t>
            </a:r>
            <a:r>
              <a:rPr lang="en-US" sz="1300" b="1" dirty="0">
                <a:solidFill>
                  <a:srgbClr val="B23A18"/>
                </a:solidFill>
                <a:latin typeface="Calibri" pitchFamily="34" charset="0"/>
                <a:ea typeface="Calibri" pitchFamily="34" charset="-122"/>
                <a:cs typeface="Calibri" pitchFamily="34" charset="-120"/>
              </a:rPr>
              <a:t>hash</a:t>
            </a:r>
            <a:r>
              <a:rPr lang="en-US" sz="1300" dirty="0">
                <a:solidFill>
                  <a:srgbClr val="1E2A22"/>
                </a:solidFill>
                <a:latin typeface="Calibri" pitchFamily="34" charset="0"/>
                <a:ea typeface="Calibri" pitchFamily="34" charset="-122"/>
                <a:cs typeface="Calibri" pitchFamily="34" charset="-120"/>
              </a:rPr>
              <a:t>: una huella irreversible. Al iniciar sesion, se vuelve a calcular el hash y se comparan los hashes.</a:t>
            </a:r>
            <a:endParaRPr lang="en-US" sz="1300" dirty="0"/>
          </a:p>
        </p:txBody>
      </p:sp>
      <p:sp>
        <p:nvSpPr>
          <p:cNvPr id="8" name="Shape 6"/>
          <p:cNvSpPr/>
          <p:nvPr/>
        </p:nvSpPr>
        <p:spPr>
          <a:xfrm>
            <a:off x="457200" y="2606040"/>
            <a:ext cx="2670048" cy="1508760"/>
          </a:xfrm>
          <a:prstGeom prst="roundRect">
            <a:avLst>
              <a:gd name="adj" fmla="val 4848"/>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9" name="Shape 7"/>
          <p:cNvSpPr/>
          <p:nvPr/>
        </p:nvSpPr>
        <p:spPr>
          <a:xfrm>
            <a:off x="1536192" y="2752344"/>
            <a:ext cx="512064" cy="512064"/>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10" name="Image 0" descr="preencoded.png"/>
          <p:cNvPicPr>
            <a:picLocks noChangeAspect="1"/>
          </p:cNvPicPr>
          <p:nvPr/>
        </p:nvPicPr>
        <p:blipFill>
          <a:blip r:embed="rId3"/>
          <a:stretch>
            <a:fillRect/>
          </a:stretch>
        </p:blipFill>
        <p:spPr>
          <a:xfrm>
            <a:off x="1669329" y="2885481"/>
            <a:ext cx="245791" cy="245791"/>
          </a:xfrm>
          <a:prstGeom prst="rect">
            <a:avLst/>
          </a:prstGeom>
        </p:spPr>
      </p:pic>
      <p:sp>
        <p:nvSpPr>
          <p:cNvPr id="11" name="Text 8"/>
          <p:cNvSpPr/>
          <p:nvPr/>
        </p:nvSpPr>
        <p:spPr>
          <a:xfrm>
            <a:off x="548640" y="3319272"/>
            <a:ext cx="2487168" cy="320040"/>
          </a:xfrm>
          <a:prstGeom prst="rect">
            <a:avLst/>
          </a:prstGeom>
          <a:noFill/>
          <a:ln/>
        </p:spPr>
        <p:txBody>
          <a:bodyPr wrap="square" lIns="0" tIns="0" rIns="0" bIns="0" rtlCol="0" anchor="ctr"/>
          <a:lstStyle/>
          <a:p>
            <a:pPr marL="0" indent="0" algn="ctr">
              <a:buNone/>
            </a:pPr>
            <a:r>
              <a:rPr lang="en-US" sz="1250" b="1" dirty="0">
                <a:solidFill>
                  <a:srgbClr val="006633"/>
                </a:solidFill>
                <a:latin typeface="Calibri" pitchFamily="34" charset="0"/>
                <a:ea typeface="Calibri" pitchFamily="34" charset="-122"/>
                <a:cs typeface="Calibri" pitchFamily="34" charset="-120"/>
              </a:rPr>
              <a:t>Hash irreversible</a:t>
            </a:r>
            <a:endParaRPr lang="en-US" sz="1250" dirty="0"/>
          </a:p>
        </p:txBody>
      </p:sp>
      <p:sp>
        <p:nvSpPr>
          <p:cNvPr id="12" name="Text 9"/>
          <p:cNvSpPr/>
          <p:nvPr/>
        </p:nvSpPr>
        <p:spPr>
          <a:xfrm>
            <a:off x="585216" y="3630168"/>
            <a:ext cx="2414016" cy="457200"/>
          </a:xfrm>
          <a:prstGeom prst="rect">
            <a:avLst/>
          </a:prstGeom>
          <a:noFill/>
          <a:ln/>
        </p:spPr>
        <p:txBody>
          <a:bodyPr wrap="square" lIns="0" tIns="0" rIns="0" bIns="0" rtlCol="0" anchor="t"/>
          <a:lstStyle/>
          <a:p>
            <a:pPr marL="0" indent="0" algn="ctr">
              <a:lnSpc>
                <a:spcPct val="100000"/>
              </a:lnSpc>
              <a:buNone/>
            </a:pPr>
            <a:r>
              <a:rPr lang="en-US" sz="1000" dirty="0">
                <a:solidFill>
                  <a:srgbClr val="5C6B62"/>
                </a:solidFill>
                <a:latin typeface="Calibri" pitchFamily="34" charset="0"/>
                <a:ea typeface="Calibri" pitchFamily="34" charset="-122"/>
                <a:cs typeface="Calibri" pitchFamily="34" charset="-120"/>
              </a:rPr>
              <a:t>Del hash no se recupera la clave original.</a:t>
            </a:r>
            <a:endParaRPr lang="en-US" sz="1000" dirty="0"/>
          </a:p>
        </p:txBody>
      </p:sp>
      <p:sp>
        <p:nvSpPr>
          <p:cNvPr id="13" name="Shape 10"/>
          <p:cNvSpPr/>
          <p:nvPr/>
        </p:nvSpPr>
        <p:spPr>
          <a:xfrm>
            <a:off x="3236976" y="2606040"/>
            <a:ext cx="2670048" cy="1508760"/>
          </a:xfrm>
          <a:prstGeom prst="roundRect">
            <a:avLst>
              <a:gd name="adj" fmla="val 4848"/>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4" name="Shape 11"/>
          <p:cNvSpPr/>
          <p:nvPr/>
        </p:nvSpPr>
        <p:spPr>
          <a:xfrm>
            <a:off x="4315968" y="2752344"/>
            <a:ext cx="512064" cy="512064"/>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15" name="Image 1" descr="preencoded.png"/>
          <p:cNvPicPr>
            <a:picLocks noChangeAspect="1"/>
          </p:cNvPicPr>
          <p:nvPr/>
        </p:nvPicPr>
        <p:blipFill>
          <a:blip r:embed="rId4"/>
          <a:stretch>
            <a:fillRect/>
          </a:stretch>
        </p:blipFill>
        <p:spPr>
          <a:xfrm>
            <a:off x="4449105" y="2885481"/>
            <a:ext cx="245791" cy="245791"/>
          </a:xfrm>
          <a:prstGeom prst="rect">
            <a:avLst/>
          </a:prstGeom>
        </p:spPr>
      </p:pic>
      <p:sp>
        <p:nvSpPr>
          <p:cNvPr id="16" name="Text 12"/>
          <p:cNvSpPr/>
          <p:nvPr/>
        </p:nvSpPr>
        <p:spPr>
          <a:xfrm>
            <a:off x="3328416" y="3319272"/>
            <a:ext cx="2487168" cy="320040"/>
          </a:xfrm>
          <a:prstGeom prst="rect">
            <a:avLst/>
          </a:prstGeom>
          <a:noFill/>
          <a:ln/>
        </p:spPr>
        <p:txBody>
          <a:bodyPr wrap="square" lIns="0" tIns="0" rIns="0" bIns="0" rtlCol="0" anchor="ctr"/>
          <a:lstStyle/>
          <a:p>
            <a:pPr marL="0" indent="0" algn="ctr">
              <a:buNone/>
            </a:pPr>
            <a:r>
              <a:rPr lang="en-US" sz="1250" b="1" dirty="0">
                <a:solidFill>
                  <a:srgbClr val="006633"/>
                </a:solidFill>
                <a:latin typeface="Calibri" pitchFamily="34" charset="0"/>
                <a:ea typeface="Calibri" pitchFamily="34" charset="-122"/>
                <a:cs typeface="Calibri" pitchFamily="34" charset="-120"/>
              </a:rPr>
              <a:t>Con sal (salt)</a:t>
            </a:r>
            <a:endParaRPr lang="en-US" sz="1250" dirty="0"/>
          </a:p>
        </p:txBody>
      </p:sp>
      <p:sp>
        <p:nvSpPr>
          <p:cNvPr id="17" name="Text 13"/>
          <p:cNvSpPr/>
          <p:nvPr/>
        </p:nvSpPr>
        <p:spPr>
          <a:xfrm>
            <a:off x="3364992" y="3630168"/>
            <a:ext cx="2414016" cy="457200"/>
          </a:xfrm>
          <a:prstGeom prst="rect">
            <a:avLst/>
          </a:prstGeom>
          <a:noFill/>
          <a:ln/>
        </p:spPr>
        <p:txBody>
          <a:bodyPr wrap="square" lIns="0" tIns="0" rIns="0" bIns="0" rtlCol="0" anchor="t"/>
          <a:lstStyle/>
          <a:p>
            <a:pPr marL="0" indent="0" algn="ctr">
              <a:lnSpc>
                <a:spcPct val="100000"/>
              </a:lnSpc>
              <a:buNone/>
            </a:pPr>
            <a:r>
              <a:rPr lang="en-US" sz="1000" dirty="0">
                <a:solidFill>
                  <a:srgbClr val="5C6B62"/>
                </a:solidFill>
                <a:latin typeface="Calibri" pitchFamily="34" charset="0"/>
                <a:ea typeface="Calibri" pitchFamily="34" charset="-122"/>
                <a:cs typeface="Calibri" pitchFamily="34" charset="-120"/>
              </a:rPr>
              <a:t>Cada clave lleva un valor aleatorio: dos claves iguales dan hashes distintos.</a:t>
            </a:r>
            <a:endParaRPr lang="en-US" sz="1000" dirty="0"/>
          </a:p>
        </p:txBody>
      </p:sp>
      <p:sp>
        <p:nvSpPr>
          <p:cNvPr id="18" name="Shape 14"/>
          <p:cNvSpPr/>
          <p:nvPr/>
        </p:nvSpPr>
        <p:spPr>
          <a:xfrm>
            <a:off x="6016752" y="2606040"/>
            <a:ext cx="2670048" cy="1508760"/>
          </a:xfrm>
          <a:prstGeom prst="roundRect">
            <a:avLst>
              <a:gd name="adj" fmla="val 4848"/>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9" name="Shape 15"/>
          <p:cNvSpPr/>
          <p:nvPr/>
        </p:nvSpPr>
        <p:spPr>
          <a:xfrm>
            <a:off x="7095744" y="2752344"/>
            <a:ext cx="512064" cy="512064"/>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20" name="Image 2" descr="preencoded.png"/>
          <p:cNvPicPr>
            <a:picLocks noChangeAspect="1"/>
          </p:cNvPicPr>
          <p:nvPr/>
        </p:nvPicPr>
        <p:blipFill>
          <a:blip r:embed="rId5"/>
          <a:stretch>
            <a:fillRect/>
          </a:stretch>
        </p:blipFill>
        <p:spPr>
          <a:xfrm>
            <a:off x="7228881" y="2885481"/>
            <a:ext cx="245791" cy="245791"/>
          </a:xfrm>
          <a:prstGeom prst="rect">
            <a:avLst/>
          </a:prstGeom>
        </p:spPr>
      </p:pic>
      <p:sp>
        <p:nvSpPr>
          <p:cNvPr id="21" name="Text 16"/>
          <p:cNvSpPr/>
          <p:nvPr/>
        </p:nvSpPr>
        <p:spPr>
          <a:xfrm>
            <a:off x="6108192" y="3319272"/>
            <a:ext cx="2487168" cy="320040"/>
          </a:xfrm>
          <a:prstGeom prst="rect">
            <a:avLst/>
          </a:prstGeom>
          <a:noFill/>
          <a:ln/>
        </p:spPr>
        <p:txBody>
          <a:bodyPr wrap="square" lIns="0" tIns="0" rIns="0" bIns="0" rtlCol="0" anchor="ctr"/>
          <a:lstStyle/>
          <a:p>
            <a:pPr marL="0" indent="0" algn="ctr">
              <a:buNone/>
            </a:pPr>
            <a:r>
              <a:rPr lang="en-US" sz="1250" b="1" dirty="0">
                <a:solidFill>
                  <a:srgbClr val="006633"/>
                </a:solidFill>
                <a:latin typeface="Calibri" pitchFamily="34" charset="0"/>
                <a:ea typeface="Calibri" pitchFamily="34" charset="-122"/>
                <a:cs typeface="Calibri" pitchFamily="34" charset="-120"/>
              </a:rPr>
              <a:t>Coste configurable</a:t>
            </a:r>
            <a:endParaRPr lang="en-US" sz="1250" dirty="0"/>
          </a:p>
        </p:txBody>
      </p:sp>
      <p:sp>
        <p:nvSpPr>
          <p:cNvPr id="22" name="Text 17"/>
          <p:cNvSpPr/>
          <p:nvPr/>
        </p:nvSpPr>
        <p:spPr>
          <a:xfrm>
            <a:off x="6144768" y="3630168"/>
            <a:ext cx="2414016" cy="457200"/>
          </a:xfrm>
          <a:prstGeom prst="rect">
            <a:avLst/>
          </a:prstGeom>
          <a:noFill/>
          <a:ln/>
        </p:spPr>
        <p:txBody>
          <a:bodyPr wrap="square" lIns="0" tIns="0" rIns="0" bIns="0" rtlCol="0" anchor="t"/>
          <a:lstStyle/>
          <a:p>
            <a:pPr marL="0" indent="0" algn="ctr">
              <a:lnSpc>
                <a:spcPct val="100000"/>
              </a:lnSpc>
              <a:buNone/>
            </a:pPr>
            <a:r>
              <a:rPr lang="en-US" sz="1000" dirty="0">
                <a:solidFill>
                  <a:srgbClr val="5C6B62"/>
                </a:solidFill>
                <a:latin typeface="Calibri" pitchFamily="34" charset="0"/>
                <a:ea typeface="Calibri" pitchFamily="34" charset="-122"/>
                <a:cs typeface="Calibri" pitchFamily="34" charset="-120"/>
              </a:rPr>
              <a:t>BCrypt es lento a proposito: frena los ataques de fuerza bruta.</a:t>
            </a:r>
            <a:endParaRPr lang="en-US" sz="1000" dirty="0"/>
          </a:p>
        </p:txBody>
      </p:sp>
      <p:sp>
        <p:nvSpPr>
          <p:cNvPr id="23" name="Text 18"/>
          <p:cNvSpPr/>
          <p:nvPr/>
        </p:nvSpPr>
        <p:spPr>
          <a:xfrm>
            <a:off x="457200" y="4206240"/>
            <a:ext cx="8229600" cy="274320"/>
          </a:xfrm>
          <a:prstGeom prst="rect">
            <a:avLst/>
          </a:prstGeom>
          <a:noFill/>
          <a:ln/>
        </p:spPr>
        <p:txBody>
          <a:bodyPr wrap="square" lIns="0" tIns="0" rIns="0" bIns="0" rtlCol="0" anchor="ctr"/>
          <a:lstStyle/>
          <a:p>
            <a:pPr marL="0" indent="0" algn="ctr">
              <a:buNone/>
            </a:pPr>
            <a:r>
              <a:rPr lang="en-US" sz="1150" i="1" dirty="0">
                <a:solidFill>
                  <a:srgbClr val="5C6B62"/>
                </a:solidFill>
                <a:latin typeface="Calibri" pitchFamily="34" charset="0"/>
                <a:ea typeface="Calibri" pitchFamily="34" charset="-122"/>
                <a:cs typeface="Calibri" pitchFamily="34" charset="-120"/>
              </a:rPr>
              <a:t>Spring Security usa BCrypt por defecto a traves de la interfaz PasswordEncoder.</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AUTORIZACION</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Roles y authorities: como se decide</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(Teoria)</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11</a:t>
            </a:r>
            <a:endParaRPr lang="en-US" sz="900" dirty="0"/>
          </a:p>
        </p:txBody>
      </p:sp>
      <p:sp>
        <p:nvSpPr>
          <p:cNvPr id="6" name="Text 4"/>
          <p:cNvSpPr/>
          <p:nvPr/>
        </p:nvSpPr>
        <p:spPr>
          <a:xfrm>
            <a:off x="457200" y="1234440"/>
            <a:ext cx="8229600" cy="548640"/>
          </a:xfrm>
          <a:prstGeom prst="rect">
            <a:avLst/>
          </a:prstGeom>
          <a:noFill/>
          <a:ln/>
        </p:spPr>
        <p:txBody>
          <a:bodyPr wrap="square" lIns="0" tIns="0" rIns="0" bIns="0" rtlCol="0" anchor="ctr"/>
          <a:lstStyle/>
          <a:p>
            <a:pPr marL="0" indent="0">
              <a:lnSpc>
                <a:spcPct val="106000"/>
              </a:lnSpc>
              <a:buNone/>
            </a:pPr>
            <a:r>
              <a:rPr lang="en-US" sz="1250" dirty="0">
                <a:solidFill>
                  <a:srgbClr val="1E2A22"/>
                </a:solidFill>
                <a:latin typeface="Calibri" pitchFamily="34" charset="0"/>
                <a:ea typeface="Calibri" pitchFamily="34" charset="-122"/>
                <a:cs typeface="Calibri" pitchFamily="34" charset="-120"/>
              </a:rPr>
              <a:t>Tras autenticar, el usuario tiene una lista de authorities (cadenas que representan permisos). La autorizacion compara esas authorities con lo que exige cada regla.</a:t>
            </a:r>
            <a:endParaRPr lang="en-US" sz="1250" dirty="0"/>
          </a:p>
        </p:txBody>
      </p:sp>
      <p:sp>
        <p:nvSpPr>
          <p:cNvPr id="7" name="Shape 5"/>
          <p:cNvSpPr/>
          <p:nvPr/>
        </p:nvSpPr>
        <p:spPr>
          <a:xfrm>
            <a:off x="457200" y="1920240"/>
            <a:ext cx="4023360" cy="2377440"/>
          </a:xfrm>
          <a:prstGeom prst="roundRect">
            <a:avLst>
              <a:gd name="adj" fmla="val 3077"/>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8" name="Text 6"/>
          <p:cNvSpPr/>
          <p:nvPr/>
        </p:nvSpPr>
        <p:spPr>
          <a:xfrm>
            <a:off x="658368" y="2029968"/>
            <a:ext cx="3657600" cy="320040"/>
          </a:xfrm>
          <a:prstGeom prst="rect">
            <a:avLst/>
          </a:prstGeom>
          <a:noFill/>
          <a:ln/>
        </p:spPr>
        <p:txBody>
          <a:bodyPr wrap="square" lIns="0" tIns="0" rIns="0" bIns="0" rtlCol="0" anchor="ctr"/>
          <a:lstStyle/>
          <a:p>
            <a:pPr marL="0" indent="0">
              <a:buNone/>
            </a:pPr>
            <a:r>
              <a:rPr lang="en-US" sz="1400" b="1" dirty="0">
                <a:solidFill>
                  <a:srgbClr val="006633"/>
                </a:solidFill>
                <a:latin typeface="Calibri" pitchFamily="34" charset="0"/>
                <a:ea typeface="Calibri" pitchFamily="34" charset="-122"/>
                <a:cs typeface="Calibri" pitchFamily="34" charset="-120"/>
              </a:rPr>
              <a:t>Rol</a:t>
            </a:r>
            <a:endParaRPr lang="en-US" sz="1400" dirty="0"/>
          </a:p>
        </p:txBody>
      </p:sp>
      <p:sp>
        <p:nvSpPr>
          <p:cNvPr id="9" name="Text 7"/>
          <p:cNvSpPr/>
          <p:nvPr/>
        </p:nvSpPr>
        <p:spPr>
          <a:xfrm>
            <a:off x="658368" y="2395728"/>
            <a:ext cx="3657600" cy="1783080"/>
          </a:xfrm>
          <a:prstGeom prst="rect">
            <a:avLst/>
          </a:prstGeom>
          <a:noFill/>
          <a:ln/>
        </p:spPr>
        <p:txBody>
          <a:bodyPr wrap="square" lIns="0" tIns="0" rIns="0" bIns="0" rtlCol="0" anchor="t"/>
          <a:lstStyle/>
          <a:p>
            <a:pPr marL="0" indent="0">
              <a:lnSpc>
                <a:spcPct val="105000"/>
              </a:lnSpc>
              <a:buNone/>
            </a:pPr>
            <a:r>
              <a:rPr lang="en-US" sz="1150" dirty="0">
                <a:solidFill>
                  <a:srgbClr val="5C6B62"/>
                </a:solidFill>
                <a:latin typeface="Calibri" pitchFamily="34" charset="0"/>
                <a:ea typeface="Calibri" pitchFamily="34" charset="-122"/>
                <a:cs typeface="Calibri" pitchFamily="34" charset="-120"/>
              </a:rPr>
              <a:t>Una categoria amplia de usuario. Por convencion lleva el prefijo </a:t>
            </a:r>
            <a:r>
              <a:rPr lang="en-US" sz="1100" b="1" dirty="0">
                <a:solidFill>
                  <a:srgbClr val="0057AE"/>
                </a:solidFill>
                <a:latin typeface="Courier New" pitchFamily="34" charset="0"/>
                <a:ea typeface="Courier New" pitchFamily="34" charset="-122"/>
                <a:cs typeface="Courier New" pitchFamily="34" charset="-120"/>
              </a:rPr>
              <a:t>ROLE_
</a:t>
            </a:r>
            <a:endParaRPr lang="en-US" sz="1150" dirty="0"/>
          </a:p>
          <a:p>
            <a:pPr marL="0" indent="0">
              <a:lnSpc>
                <a:spcPct val="105000"/>
              </a:lnSpc>
              <a:buNone/>
            </a:pPr>
            <a:r>
              <a:rPr lang="en-US" sz="1050" dirty="0">
                <a:solidFill>
                  <a:srgbClr val="383A42"/>
                </a:solidFill>
                <a:latin typeface="Courier New" pitchFamily="34" charset="0"/>
                <a:ea typeface="Courier New" pitchFamily="34" charset="-122"/>
                <a:cs typeface="Courier New" pitchFamily="34" charset="-120"/>
              </a:rPr>
              <a:t>hasRole("ADMIN")  </a:t>
            </a:r>
            <a:r>
              <a:rPr lang="en-US" sz="1100" dirty="0">
                <a:solidFill>
                  <a:srgbClr val="5C6B62"/>
                </a:solidFill>
                <a:latin typeface="Calibri" pitchFamily="34" charset="0"/>
                <a:ea typeface="Calibri" pitchFamily="34" charset="-122"/>
                <a:cs typeface="Calibri" pitchFamily="34" charset="-120"/>
              </a:rPr>
              <a:t>busca ROLE_ADMIN.</a:t>
            </a:r>
            <a:endParaRPr lang="en-US" sz="1150" dirty="0"/>
          </a:p>
        </p:txBody>
      </p:sp>
      <p:sp>
        <p:nvSpPr>
          <p:cNvPr id="10" name="Shape 8"/>
          <p:cNvSpPr/>
          <p:nvPr/>
        </p:nvSpPr>
        <p:spPr>
          <a:xfrm>
            <a:off x="4663440" y="1920240"/>
            <a:ext cx="4023360" cy="2377440"/>
          </a:xfrm>
          <a:prstGeom prst="roundRect">
            <a:avLst>
              <a:gd name="adj" fmla="val 3077"/>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1" name="Text 9"/>
          <p:cNvSpPr/>
          <p:nvPr/>
        </p:nvSpPr>
        <p:spPr>
          <a:xfrm>
            <a:off x="4864608" y="2029968"/>
            <a:ext cx="3657600" cy="320040"/>
          </a:xfrm>
          <a:prstGeom prst="rect">
            <a:avLst/>
          </a:prstGeom>
          <a:noFill/>
          <a:ln/>
        </p:spPr>
        <p:txBody>
          <a:bodyPr wrap="square" lIns="0" tIns="0" rIns="0" bIns="0" rtlCol="0" anchor="ctr"/>
          <a:lstStyle/>
          <a:p>
            <a:pPr marL="0" indent="0">
              <a:buNone/>
            </a:pPr>
            <a:r>
              <a:rPr lang="en-US" sz="1400" b="1" dirty="0">
                <a:solidFill>
                  <a:srgbClr val="9A7400"/>
                </a:solidFill>
                <a:latin typeface="Calibri" pitchFamily="34" charset="0"/>
                <a:ea typeface="Calibri" pitchFamily="34" charset="-122"/>
                <a:cs typeface="Calibri" pitchFamily="34" charset="-120"/>
              </a:rPr>
              <a:t>Authority (permiso)</a:t>
            </a:r>
            <a:endParaRPr lang="en-US" sz="1400" dirty="0"/>
          </a:p>
        </p:txBody>
      </p:sp>
      <p:sp>
        <p:nvSpPr>
          <p:cNvPr id="12" name="Text 10"/>
          <p:cNvSpPr/>
          <p:nvPr/>
        </p:nvSpPr>
        <p:spPr>
          <a:xfrm>
            <a:off x="4864608" y="2395728"/>
            <a:ext cx="3657600" cy="1783080"/>
          </a:xfrm>
          <a:prstGeom prst="rect">
            <a:avLst/>
          </a:prstGeom>
          <a:noFill/>
          <a:ln/>
        </p:spPr>
        <p:txBody>
          <a:bodyPr wrap="square" lIns="0" tIns="0" rIns="0" bIns="0" rtlCol="0" anchor="t"/>
          <a:lstStyle/>
          <a:p>
            <a:pPr marL="0" indent="0">
              <a:lnSpc>
                <a:spcPct val="105000"/>
              </a:lnSpc>
              <a:buNone/>
            </a:pPr>
            <a:r>
              <a:rPr lang="en-US" sz="1150" dirty="0">
                <a:solidFill>
                  <a:srgbClr val="5C6B62"/>
                </a:solidFill>
                <a:latin typeface="Calibri" pitchFamily="34" charset="0"/>
                <a:ea typeface="Calibri" pitchFamily="34" charset="-122"/>
                <a:cs typeface="Calibri" pitchFamily="34" charset="-120"/>
              </a:rPr>
              <a:t>Un permiso fino y concreto, sin prefijo. </a:t>
            </a:r>
            <a:r>
              <a:rPr lang="en-US" sz="1150" dirty="0">
                <a:solidFill>
                  <a:srgbClr val="1E2A22"/>
                </a:solidFill>
                <a:latin typeface="Calibri" pitchFamily="34" charset="0"/>
                <a:ea typeface="Calibri" pitchFamily="34" charset="-122"/>
                <a:cs typeface="Calibri" pitchFamily="34" charset="-120"/>
              </a:rPr>
              <a:t>Util para acciones especificas
</a:t>
            </a:r>
            <a:endParaRPr lang="en-US" sz="1150" dirty="0"/>
          </a:p>
          <a:p>
            <a:pPr marL="0" indent="0">
              <a:lnSpc>
                <a:spcPct val="105000"/>
              </a:lnSpc>
              <a:buNone/>
            </a:pPr>
            <a:r>
              <a:rPr lang="en-US" sz="1050" dirty="0">
                <a:solidFill>
                  <a:srgbClr val="383A42"/>
                </a:solidFill>
                <a:latin typeface="Courier New" pitchFamily="34" charset="0"/>
                <a:ea typeface="Courier New" pitchFamily="34" charset="-122"/>
                <a:cs typeface="Courier New" pitchFamily="34" charset="-120"/>
              </a:rPr>
              <a:t>hasAuthority("READ_NOTAS")
</a:t>
            </a:r>
            <a:endParaRPr lang="en-US" sz="1150" dirty="0"/>
          </a:p>
          <a:p>
            <a:pPr marL="0" indent="0">
              <a:lnSpc>
                <a:spcPct val="105000"/>
              </a:lnSpc>
              <a:buNone/>
            </a:pPr>
            <a:r>
              <a:rPr lang="en-US" sz="1100" dirty="0">
                <a:solidFill>
                  <a:srgbClr val="5C6B62"/>
                </a:solidFill>
                <a:latin typeface="Calibri" pitchFamily="34" charset="0"/>
                <a:ea typeface="Calibri" pitchFamily="34" charset="-122"/>
                <a:cs typeface="Calibri" pitchFamily="34" charset="-120"/>
              </a:rPr>
              <a:t>Un rol es, en el fondo, una authority con prefijo.</a:t>
            </a:r>
            <a:endParaRPr lang="en-US" sz="1150" dirty="0"/>
          </a:p>
        </p:txBody>
      </p:sp>
      <p:sp>
        <p:nvSpPr>
          <p:cNvPr id="13" name="Text 11"/>
          <p:cNvSpPr/>
          <p:nvPr/>
        </p:nvSpPr>
        <p:spPr>
          <a:xfrm>
            <a:off x="457200" y="4434840"/>
            <a:ext cx="8229600" cy="274320"/>
          </a:xfrm>
          <a:prstGeom prst="rect">
            <a:avLst/>
          </a:prstGeom>
          <a:noFill/>
          <a:ln/>
        </p:spPr>
        <p:txBody>
          <a:bodyPr wrap="square" lIns="0" tIns="0" rIns="0" bIns="0" rtlCol="0" anchor="ctr"/>
          <a:lstStyle/>
          <a:p>
            <a:pPr marL="0" indent="0" algn="ctr">
              <a:buNone/>
            </a:pPr>
            <a:r>
              <a:rPr lang="en-US" sz="1150" i="1" dirty="0">
                <a:solidFill>
                  <a:srgbClr val="5C6B62"/>
                </a:solidFill>
                <a:latin typeface="Calibri" pitchFamily="34" charset="0"/>
                <a:ea typeface="Calibri" pitchFamily="34" charset="-122"/>
                <a:cs typeface="Calibri" pitchFamily="34" charset="-120"/>
              </a:rPr>
              <a:t>Internamente todo son authorities; el rol es solo una convencion de nombres con ROLE_.</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AUTORIZACION</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Dos lugares donde aplicar reglas</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(Teoria)</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457200" y="1371600"/>
            <a:ext cx="4023360" cy="2743200"/>
          </a:xfrm>
          <a:prstGeom prst="roundRect">
            <a:avLst>
              <a:gd name="adj" fmla="val 2667"/>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7" name="Shape 5"/>
          <p:cNvSpPr/>
          <p:nvPr/>
        </p:nvSpPr>
        <p:spPr>
          <a:xfrm>
            <a:off x="658368" y="1572768"/>
            <a:ext cx="548640" cy="54864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8" name="Image 0" descr="preencoded.png"/>
          <p:cNvPicPr>
            <a:picLocks noChangeAspect="1"/>
          </p:cNvPicPr>
          <p:nvPr/>
        </p:nvPicPr>
        <p:blipFill>
          <a:blip r:embed="rId3"/>
          <a:stretch>
            <a:fillRect/>
          </a:stretch>
        </p:blipFill>
        <p:spPr>
          <a:xfrm>
            <a:off x="801014" y="1715414"/>
            <a:ext cx="263347" cy="263347"/>
          </a:xfrm>
          <a:prstGeom prst="rect">
            <a:avLst/>
          </a:prstGeom>
        </p:spPr>
      </p:pic>
      <p:sp>
        <p:nvSpPr>
          <p:cNvPr id="9" name="Text 6"/>
          <p:cNvSpPr/>
          <p:nvPr/>
        </p:nvSpPr>
        <p:spPr>
          <a:xfrm>
            <a:off x="1371600" y="1609344"/>
            <a:ext cx="2926080" cy="365760"/>
          </a:xfrm>
          <a:prstGeom prst="rect">
            <a:avLst/>
          </a:prstGeom>
          <a:noFill/>
          <a:ln/>
        </p:spPr>
        <p:txBody>
          <a:bodyPr wrap="square" lIns="0" tIns="0" rIns="0" bIns="0" rtlCol="0" anchor="ctr"/>
          <a:lstStyle/>
          <a:p>
            <a:pPr marL="0" indent="0">
              <a:buNone/>
            </a:pPr>
            <a:r>
              <a:rPr lang="en-US" sz="1500" b="1" dirty="0">
                <a:solidFill>
                  <a:srgbClr val="006633"/>
                </a:solidFill>
                <a:latin typeface="Calibri" pitchFamily="34" charset="0"/>
                <a:ea typeface="Calibri" pitchFamily="34" charset="-122"/>
                <a:cs typeface="Calibri" pitchFamily="34" charset="-120"/>
              </a:rPr>
              <a:t>Por URL</a:t>
            </a:r>
            <a:endParaRPr lang="en-US" sz="1500" dirty="0"/>
          </a:p>
        </p:txBody>
      </p:sp>
      <p:sp>
        <p:nvSpPr>
          <p:cNvPr id="10" name="Text 7"/>
          <p:cNvSpPr/>
          <p:nvPr/>
        </p:nvSpPr>
        <p:spPr>
          <a:xfrm>
            <a:off x="658368" y="2286000"/>
            <a:ext cx="3657600" cy="1737360"/>
          </a:xfrm>
          <a:prstGeom prst="rect">
            <a:avLst/>
          </a:prstGeom>
          <a:noFill/>
          <a:ln/>
        </p:spPr>
        <p:txBody>
          <a:bodyPr wrap="square" lIns="0" tIns="0" rIns="0" bIns="0" rtlCol="0" anchor="t"/>
          <a:lstStyle/>
          <a:p>
            <a:pPr marL="0" indent="0">
              <a:lnSpc>
                <a:spcPct val="105000"/>
              </a:lnSpc>
              <a:buNone/>
            </a:pPr>
            <a:r>
              <a:rPr lang="en-US" sz="1150" dirty="0">
                <a:solidFill>
                  <a:srgbClr val="5C6B62"/>
                </a:solidFill>
                <a:latin typeface="Calibri" pitchFamily="34" charset="0"/>
                <a:ea typeface="Calibri" pitchFamily="34" charset="-122"/>
                <a:cs typeface="Calibri" pitchFamily="34" charset="-120"/>
              </a:rPr>
              <a:t>En la SecurityFilterChain. </a:t>
            </a:r>
            <a:r>
              <a:rPr lang="en-US" sz="1150" dirty="0">
                <a:solidFill>
                  <a:srgbClr val="1E2A22"/>
                </a:solidFill>
                <a:latin typeface="Calibri" pitchFamily="34" charset="0"/>
                <a:ea typeface="Calibri" pitchFamily="34" charset="-122"/>
                <a:cs typeface="Calibri" pitchFamily="34" charset="-120"/>
              </a:rPr>
              <a:t>Filtra pronto, por ruta y metodo HTTP, antes de entrar al controlador.
</a:t>
            </a:r>
            <a:endParaRPr lang="en-US" sz="1150" dirty="0"/>
          </a:p>
          <a:p>
            <a:pPr marL="0" indent="0">
              <a:lnSpc>
                <a:spcPct val="105000"/>
              </a:lnSpc>
              <a:buNone/>
            </a:pPr>
            <a:r>
              <a:rPr lang="en-US" sz="1000" dirty="0">
                <a:solidFill>
                  <a:srgbClr val="383A42"/>
                </a:solidFill>
                <a:latin typeface="Courier New" pitchFamily="34" charset="0"/>
                <a:ea typeface="Courier New" pitchFamily="34" charset="-122"/>
                <a:cs typeface="Courier New" pitchFamily="34" charset="-120"/>
              </a:rPr>
              <a:t>requestMatchers("/admin/**")</a:t>
            </a:r>
            <a:endParaRPr lang="en-US" sz="1150" dirty="0"/>
          </a:p>
          <a:p>
            <a:pPr marL="0" indent="0">
              <a:lnSpc>
                <a:spcPct val="105000"/>
              </a:lnSpc>
              <a:buNone/>
            </a:pPr>
            <a:r>
              <a:rPr lang="en-US" sz="1000" dirty="0">
                <a:solidFill>
                  <a:srgbClr val="383A42"/>
                </a:solidFill>
                <a:latin typeface="Courier New" pitchFamily="34" charset="0"/>
                <a:ea typeface="Courier New" pitchFamily="34" charset="-122"/>
                <a:cs typeface="Courier New" pitchFamily="34" charset="-120"/>
              </a:rPr>
              <a:t>  .hasRole("ADMIN")</a:t>
            </a:r>
            <a:endParaRPr lang="en-US" sz="1150" dirty="0"/>
          </a:p>
        </p:txBody>
      </p:sp>
      <p:sp>
        <p:nvSpPr>
          <p:cNvPr id="11" name="Shape 8"/>
          <p:cNvSpPr/>
          <p:nvPr/>
        </p:nvSpPr>
        <p:spPr>
          <a:xfrm>
            <a:off x="4663440" y="1371600"/>
            <a:ext cx="4023360" cy="2743200"/>
          </a:xfrm>
          <a:prstGeom prst="roundRect">
            <a:avLst>
              <a:gd name="adj" fmla="val 2667"/>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2" name="Shape 9"/>
          <p:cNvSpPr/>
          <p:nvPr/>
        </p:nvSpPr>
        <p:spPr>
          <a:xfrm>
            <a:off x="4864608" y="1572768"/>
            <a:ext cx="548640" cy="548640"/>
          </a:xfrm>
          <a:prstGeom prst="ellipse">
            <a:avLst/>
          </a:prstGeom>
          <a:solidFill>
            <a:srgbClr val="CC9900"/>
          </a:solidFill>
          <a:ln/>
          <a:effectLst>
            <a:outerShdw blurRad="88900" dist="38100" dir="5400000" algn="bl" rotWithShape="0">
              <a:srgbClr val="000000">
                <a:alpha val="16000"/>
              </a:srgbClr>
            </a:outerShdw>
          </a:effectLst>
        </p:spPr>
        <p:txBody>
          <a:bodyPr/>
          <a:lstStyle/>
          <a:p>
            <a:endParaRPr lang="es-ES"/>
          </a:p>
        </p:txBody>
      </p:sp>
      <p:pic>
        <p:nvPicPr>
          <p:cNvPr id="13" name="Image 1" descr="preencoded.png"/>
          <p:cNvPicPr>
            <a:picLocks noChangeAspect="1"/>
          </p:cNvPicPr>
          <p:nvPr/>
        </p:nvPicPr>
        <p:blipFill>
          <a:blip r:embed="rId4"/>
          <a:stretch>
            <a:fillRect/>
          </a:stretch>
        </p:blipFill>
        <p:spPr>
          <a:xfrm>
            <a:off x="5007254" y="1715414"/>
            <a:ext cx="263347" cy="263347"/>
          </a:xfrm>
          <a:prstGeom prst="rect">
            <a:avLst/>
          </a:prstGeom>
        </p:spPr>
      </p:pic>
      <p:sp>
        <p:nvSpPr>
          <p:cNvPr id="14" name="Text 10"/>
          <p:cNvSpPr/>
          <p:nvPr/>
        </p:nvSpPr>
        <p:spPr>
          <a:xfrm>
            <a:off x="5577840" y="1609344"/>
            <a:ext cx="2926080" cy="365760"/>
          </a:xfrm>
          <a:prstGeom prst="rect">
            <a:avLst/>
          </a:prstGeom>
          <a:noFill/>
          <a:ln/>
        </p:spPr>
        <p:txBody>
          <a:bodyPr wrap="square" lIns="0" tIns="0" rIns="0" bIns="0" rtlCol="0" anchor="ctr"/>
          <a:lstStyle/>
          <a:p>
            <a:pPr marL="0" indent="0">
              <a:buNone/>
            </a:pPr>
            <a:r>
              <a:rPr lang="en-US" sz="1500" b="1" dirty="0">
                <a:solidFill>
                  <a:srgbClr val="9A7400"/>
                </a:solidFill>
                <a:latin typeface="Calibri" pitchFamily="34" charset="0"/>
                <a:ea typeface="Calibri" pitchFamily="34" charset="-122"/>
                <a:cs typeface="Calibri" pitchFamily="34" charset="-120"/>
              </a:rPr>
              <a:t>Por metodo</a:t>
            </a:r>
            <a:endParaRPr lang="en-US" sz="1500" dirty="0"/>
          </a:p>
        </p:txBody>
      </p:sp>
      <p:sp>
        <p:nvSpPr>
          <p:cNvPr id="15" name="Text 11"/>
          <p:cNvSpPr/>
          <p:nvPr/>
        </p:nvSpPr>
        <p:spPr>
          <a:xfrm>
            <a:off x="4864608" y="2286000"/>
            <a:ext cx="3657600" cy="1737360"/>
          </a:xfrm>
          <a:prstGeom prst="rect">
            <a:avLst/>
          </a:prstGeom>
          <a:noFill/>
          <a:ln/>
        </p:spPr>
        <p:txBody>
          <a:bodyPr wrap="square" lIns="0" tIns="0" rIns="0" bIns="0" rtlCol="0" anchor="t"/>
          <a:lstStyle/>
          <a:p>
            <a:pPr marL="0" indent="0">
              <a:lnSpc>
                <a:spcPct val="105000"/>
              </a:lnSpc>
              <a:buNone/>
            </a:pPr>
            <a:r>
              <a:rPr lang="en-US" sz="1150" dirty="0">
                <a:solidFill>
                  <a:srgbClr val="5C6B62"/>
                </a:solidFill>
                <a:latin typeface="Calibri" pitchFamily="34" charset="0"/>
                <a:ea typeface="Calibri" pitchFamily="34" charset="-122"/>
                <a:cs typeface="Calibri" pitchFamily="34" charset="-120"/>
              </a:rPr>
              <a:t>Sobre metodos concretos, con anotaciones. </a:t>
            </a:r>
            <a:r>
              <a:rPr lang="en-US" sz="1150" dirty="0">
                <a:solidFill>
                  <a:srgbClr val="1E2A22"/>
                </a:solidFill>
                <a:latin typeface="Calibri" pitchFamily="34" charset="0"/>
                <a:ea typeface="Calibri" pitchFamily="34" charset="-122"/>
                <a:cs typeface="Calibri" pitchFamily="34" charset="-120"/>
              </a:rPr>
              <a:t>Regla fina, junto a la logica.
</a:t>
            </a:r>
            <a:endParaRPr lang="en-US" sz="1150" dirty="0"/>
          </a:p>
          <a:p>
            <a:pPr marL="0" indent="0">
              <a:lnSpc>
                <a:spcPct val="105000"/>
              </a:lnSpc>
              <a:buNone/>
            </a:pPr>
            <a:r>
              <a:rPr lang="en-US" sz="1000" dirty="0">
                <a:solidFill>
                  <a:srgbClr val="383A42"/>
                </a:solidFill>
                <a:latin typeface="Courier New" pitchFamily="34" charset="0"/>
                <a:ea typeface="Courier New" pitchFamily="34" charset="-122"/>
                <a:cs typeface="Courier New" pitchFamily="34" charset="-120"/>
              </a:rPr>
              <a:t>@PreAuthorize("hasRole('ADMIN')")</a:t>
            </a:r>
            <a:endParaRPr lang="en-US" sz="1150" dirty="0"/>
          </a:p>
          <a:p>
            <a:pPr marL="0" indent="0">
              <a:lnSpc>
                <a:spcPct val="105000"/>
              </a:lnSpc>
              <a:buNone/>
            </a:pPr>
            <a:r>
              <a:rPr lang="en-US" sz="1000" dirty="0">
                <a:solidFill>
                  <a:srgbClr val="383A42"/>
                </a:solidFill>
                <a:latin typeface="Courier New" pitchFamily="34" charset="0"/>
                <a:ea typeface="Courier New" pitchFamily="34" charset="-122"/>
                <a:cs typeface="Courier New" pitchFamily="34" charset="-120"/>
              </a:rPr>
              <a:t>public void eliminar(...) { }</a:t>
            </a:r>
            <a:endParaRPr lang="en-US" sz="1150" dirty="0"/>
          </a:p>
        </p:txBody>
      </p:sp>
      <p:sp>
        <p:nvSpPr>
          <p:cNvPr id="16" name="Text 12"/>
          <p:cNvSpPr/>
          <p:nvPr/>
        </p:nvSpPr>
        <p:spPr>
          <a:xfrm>
            <a:off x="457200" y="4251960"/>
            <a:ext cx="8229600" cy="274320"/>
          </a:xfrm>
          <a:prstGeom prst="rect">
            <a:avLst/>
          </a:prstGeom>
          <a:noFill/>
          <a:ln/>
        </p:spPr>
        <p:txBody>
          <a:bodyPr wrap="square" lIns="0" tIns="0" rIns="0" bIns="0" rtlCol="0" anchor="ctr"/>
          <a:lstStyle/>
          <a:p>
            <a:pPr marL="0" indent="0" algn="ctr">
              <a:buNone/>
            </a:pPr>
            <a:r>
              <a:rPr lang="en-US" sz="1150" i="1" dirty="0">
                <a:solidFill>
                  <a:srgbClr val="5C6B62"/>
                </a:solidFill>
                <a:latin typeface="Calibri" pitchFamily="34" charset="0"/>
                <a:ea typeface="Calibri" pitchFamily="34" charset="-122"/>
                <a:cs typeface="Calibri" pitchFamily="34" charset="-120"/>
              </a:rPr>
              <a:t>No se excluyen: usar ambas es defensa en profundidad.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MODELO DE SESION</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Con estado (sesion) vs sin estado (token)</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(Teoria)</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457200" y="1371600"/>
            <a:ext cx="4023360" cy="3063240"/>
          </a:xfrm>
          <a:prstGeom prst="roundRect">
            <a:avLst>
              <a:gd name="adj" fmla="val 2388"/>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7" name="Shape 5"/>
          <p:cNvSpPr/>
          <p:nvPr/>
        </p:nvSpPr>
        <p:spPr>
          <a:xfrm>
            <a:off x="658368" y="1572768"/>
            <a:ext cx="548640" cy="54864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8" name="Image 0" descr="preencoded.png"/>
          <p:cNvPicPr>
            <a:picLocks noChangeAspect="1"/>
          </p:cNvPicPr>
          <p:nvPr/>
        </p:nvPicPr>
        <p:blipFill>
          <a:blip r:embed="rId3"/>
          <a:stretch>
            <a:fillRect/>
          </a:stretch>
        </p:blipFill>
        <p:spPr>
          <a:xfrm>
            <a:off x="801014" y="1715414"/>
            <a:ext cx="263347" cy="263347"/>
          </a:xfrm>
          <a:prstGeom prst="rect">
            <a:avLst/>
          </a:prstGeom>
        </p:spPr>
      </p:pic>
      <p:sp>
        <p:nvSpPr>
          <p:cNvPr id="9" name="Text 6"/>
          <p:cNvSpPr/>
          <p:nvPr/>
        </p:nvSpPr>
        <p:spPr>
          <a:xfrm>
            <a:off x="1371600" y="1609344"/>
            <a:ext cx="3017520" cy="365760"/>
          </a:xfrm>
          <a:prstGeom prst="rect">
            <a:avLst/>
          </a:prstGeom>
          <a:noFill/>
          <a:ln/>
        </p:spPr>
        <p:txBody>
          <a:bodyPr wrap="square" lIns="0" tIns="0" rIns="0" bIns="0" rtlCol="0" anchor="ctr"/>
          <a:lstStyle/>
          <a:p>
            <a:pPr marL="0" indent="0">
              <a:buNone/>
            </a:pPr>
            <a:r>
              <a:rPr lang="en-US" sz="1450" b="1" dirty="0">
                <a:solidFill>
                  <a:srgbClr val="006633"/>
                </a:solidFill>
                <a:latin typeface="Calibri" pitchFamily="34" charset="0"/>
                <a:ea typeface="Calibri" pitchFamily="34" charset="-122"/>
                <a:cs typeface="Calibri" pitchFamily="34" charset="-120"/>
              </a:rPr>
              <a:t>Con estado: sesion</a:t>
            </a:r>
            <a:endParaRPr lang="en-US" sz="1450" dirty="0"/>
          </a:p>
        </p:txBody>
      </p:sp>
      <p:sp>
        <p:nvSpPr>
          <p:cNvPr id="10" name="Text 7"/>
          <p:cNvSpPr/>
          <p:nvPr/>
        </p:nvSpPr>
        <p:spPr>
          <a:xfrm>
            <a:off x="658368" y="2286000"/>
            <a:ext cx="3657600" cy="2057400"/>
          </a:xfrm>
          <a:prstGeom prst="rect">
            <a:avLst/>
          </a:prstGeom>
          <a:noFill/>
          <a:ln/>
        </p:spPr>
        <p:txBody>
          <a:bodyPr wrap="square" lIns="0" tIns="0" rIns="0" bIns="0" rtlCol="0" anchor="t"/>
          <a:lstStyle/>
          <a:p>
            <a:pPr marL="0" indent="0">
              <a:lnSpc>
                <a:spcPct val="105000"/>
              </a:lnSpc>
              <a:buNone/>
            </a:pPr>
            <a:r>
              <a:rPr lang="en-US" sz="1150" dirty="0">
                <a:solidFill>
                  <a:srgbClr val="5C6B62"/>
                </a:solidFill>
                <a:latin typeface="Calibri" pitchFamily="34" charset="0"/>
                <a:ea typeface="Calibri" pitchFamily="34" charset="-122"/>
                <a:cs typeface="Calibri" pitchFamily="34" charset="-120"/>
              </a:rPr>
              <a:t>El servidor guarda la sesion en memoria y entrega una cookie. </a:t>
            </a:r>
            <a:r>
              <a:rPr lang="en-US" sz="1150" dirty="0">
                <a:solidFill>
                  <a:srgbClr val="1E2A22"/>
                </a:solidFill>
                <a:latin typeface="Calibri" pitchFamily="34" charset="0"/>
                <a:ea typeface="Calibri" pitchFamily="34" charset="-122"/>
                <a:cs typeface="Calibri" pitchFamily="34" charset="-120"/>
              </a:rPr>
              <a:t>En cada peticion, la cookie identifica la sesion.
</a:t>
            </a:r>
            <a:endParaRPr lang="en-US" sz="1150" dirty="0"/>
          </a:p>
          <a:p>
            <a:pPr marL="0" indent="0">
              <a:lnSpc>
                <a:spcPct val="105000"/>
              </a:lnSpc>
              <a:buNone/>
            </a:pPr>
            <a:r>
              <a:rPr lang="en-US" sz="1100" dirty="0">
                <a:solidFill>
                  <a:srgbClr val="2D7D46"/>
                </a:solidFill>
                <a:latin typeface="Calibri" pitchFamily="34" charset="0"/>
                <a:ea typeface="Calibri" pitchFamily="34" charset="-122"/>
                <a:cs typeface="Calibri" pitchFamily="34" charset="-120"/>
              </a:rPr>
              <a:t>+ Simple, revocacion inmediata
</a:t>
            </a:r>
            <a:endParaRPr lang="en-US" sz="1150" dirty="0"/>
          </a:p>
          <a:p>
            <a:pPr marL="0" indent="0">
              <a:lnSpc>
                <a:spcPct val="105000"/>
              </a:lnSpc>
              <a:buNone/>
            </a:pPr>
            <a:r>
              <a:rPr lang="en-US" sz="1100" dirty="0">
                <a:solidFill>
                  <a:srgbClr val="B23A18"/>
                </a:solidFill>
                <a:latin typeface="Calibri" pitchFamily="34" charset="0"/>
                <a:ea typeface="Calibri" pitchFamily="34" charset="-122"/>
                <a:cs typeface="Calibri" pitchFamily="34" charset="-120"/>
              </a:rPr>
              <a:t>- Guarda estado; cuesta escalar</a:t>
            </a:r>
            <a:endParaRPr lang="en-US" sz="1150" dirty="0"/>
          </a:p>
        </p:txBody>
      </p:sp>
      <p:sp>
        <p:nvSpPr>
          <p:cNvPr id="11" name="Shape 8"/>
          <p:cNvSpPr/>
          <p:nvPr/>
        </p:nvSpPr>
        <p:spPr>
          <a:xfrm>
            <a:off x="4663440" y="1371600"/>
            <a:ext cx="4023360" cy="3063240"/>
          </a:xfrm>
          <a:prstGeom prst="roundRect">
            <a:avLst>
              <a:gd name="adj" fmla="val 2388"/>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2" name="Shape 9"/>
          <p:cNvSpPr/>
          <p:nvPr/>
        </p:nvSpPr>
        <p:spPr>
          <a:xfrm>
            <a:off x="4864608" y="1572768"/>
            <a:ext cx="548640" cy="548640"/>
          </a:xfrm>
          <a:prstGeom prst="ellipse">
            <a:avLst/>
          </a:prstGeom>
          <a:solidFill>
            <a:srgbClr val="CC9900"/>
          </a:solidFill>
          <a:ln/>
          <a:effectLst>
            <a:outerShdw blurRad="88900" dist="38100" dir="5400000" algn="bl" rotWithShape="0">
              <a:srgbClr val="000000">
                <a:alpha val="16000"/>
              </a:srgbClr>
            </a:outerShdw>
          </a:effectLst>
        </p:spPr>
        <p:txBody>
          <a:bodyPr/>
          <a:lstStyle/>
          <a:p>
            <a:endParaRPr lang="es-ES"/>
          </a:p>
        </p:txBody>
      </p:sp>
      <p:pic>
        <p:nvPicPr>
          <p:cNvPr id="13" name="Image 1" descr="preencoded.png"/>
          <p:cNvPicPr>
            <a:picLocks noChangeAspect="1"/>
          </p:cNvPicPr>
          <p:nvPr/>
        </p:nvPicPr>
        <p:blipFill>
          <a:blip r:embed="rId4"/>
          <a:stretch>
            <a:fillRect/>
          </a:stretch>
        </p:blipFill>
        <p:spPr>
          <a:xfrm>
            <a:off x="5007254" y="1715414"/>
            <a:ext cx="263347" cy="263347"/>
          </a:xfrm>
          <a:prstGeom prst="rect">
            <a:avLst/>
          </a:prstGeom>
        </p:spPr>
      </p:pic>
      <p:sp>
        <p:nvSpPr>
          <p:cNvPr id="14" name="Text 10"/>
          <p:cNvSpPr/>
          <p:nvPr/>
        </p:nvSpPr>
        <p:spPr>
          <a:xfrm>
            <a:off x="5577840" y="1609344"/>
            <a:ext cx="3017520" cy="365760"/>
          </a:xfrm>
          <a:prstGeom prst="rect">
            <a:avLst/>
          </a:prstGeom>
          <a:noFill/>
          <a:ln/>
        </p:spPr>
        <p:txBody>
          <a:bodyPr wrap="square" lIns="0" tIns="0" rIns="0" bIns="0" rtlCol="0" anchor="ctr"/>
          <a:lstStyle/>
          <a:p>
            <a:pPr marL="0" indent="0">
              <a:buNone/>
            </a:pPr>
            <a:r>
              <a:rPr lang="en-US" sz="1400" b="1" dirty="0">
                <a:solidFill>
                  <a:srgbClr val="9A7400"/>
                </a:solidFill>
                <a:latin typeface="Calibri" pitchFamily="34" charset="0"/>
                <a:ea typeface="Calibri" pitchFamily="34" charset="-122"/>
                <a:cs typeface="Calibri" pitchFamily="34" charset="-120"/>
              </a:rPr>
              <a:t>Sin estado: token (JWT)</a:t>
            </a:r>
            <a:endParaRPr lang="en-US" sz="1400" dirty="0"/>
          </a:p>
        </p:txBody>
      </p:sp>
      <p:sp>
        <p:nvSpPr>
          <p:cNvPr id="15" name="Text 11"/>
          <p:cNvSpPr/>
          <p:nvPr/>
        </p:nvSpPr>
        <p:spPr>
          <a:xfrm>
            <a:off x="4864608" y="2286000"/>
            <a:ext cx="3657600" cy="2057400"/>
          </a:xfrm>
          <a:prstGeom prst="rect">
            <a:avLst/>
          </a:prstGeom>
          <a:noFill/>
          <a:ln/>
        </p:spPr>
        <p:txBody>
          <a:bodyPr wrap="square" lIns="0" tIns="0" rIns="0" bIns="0" rtlCol="0" anchor="t"/>
          <a:lstStyle/>
          <a:p>
            <a:pPr marL="0" indent="0">
              <a:lnSpc>
                <a:spcPct val="105000"/>
              </a:lnSpc>
              <a:buNone/>
            </a:pPr>
            <a:r>
              <a:rPr lang="en-US" sz="1150" dirty="0">
                <a:solidFill>
                  <a:srgbClr val="5C6B62"/>
                </a:solidFill>
                <a:latin typeface="Calibri" pitchFamily="34" charset="0"/>
                <a:ea typeface="Calibri" pitchFamily="34" charset="-122"/>
                <a:cs typeface="Calibri" pitchFamily="34" charset="-120"/>
              </a:rPr>
              <a:t>El cliente guarda un token autocontenido y lo envia en cada peticion. </a:t>
            </a:r>
            <a:r>
              <a:rPr lang="en-US" sz="1150" dirty="0">
                <a:solidFill>
                  <a:srgbClr val="1E2A22"/>
                </a:solidFill>
                <a:latin typeface="Calibri" pitchFamily="34" charset="0"/>
                <a:ea typeface="Calibri" pitchFamily="34" charset="-122"/>
                <a:cs typeface="Calibri" pitchFamily="34" charset="-120"/>
              </a:rPr>
              <a:t>El servidor no guarda nada.
</a:t>
            </a:r>
            <a:endParaRPr lang="en-US" sz="1150" dirty="0"/>
          </a:p>
          <a:p>
            <a:pPr marL="0" indent="0">
              <a:lnSpc>
                <a:spcPct val="105000"/>
              </a:lnSpc>
              <a:buNone/>
            </a:pPr>
            <a:r>
              <a:rPr lang="en-US" sz="1100" dirty="0">
                <a:solidFill>
                  <a:srgbClr val="2D7D46"/>
                </a:solidFill>
                <a:latin typeface="Calibri" pitchFamily="34" charset="0"/>
                <a:ea typeface="Calibri" pitchFamily="34" charset="-122"/>
                <a:cs typeface="Calibri" pitchFamily="34" charset="-120"/>
              </a:rPr>
              <a:t>+ Escala; ideal para APIs y SPAs
</a:t>
            </a:r>
            <a:endParaRPr lang="en-US" sz="1150" dirty="0"/>
          </a:p>
          <a:p>
            <a:pPr marL="0" indent="0">
              <a:lnSpc>
                <a:spcPct val="105000"/>
              </a:lnSpc>
              <a:buNone/>
            </a:pPr>
            <a:r>
              <a:rPr lang="en-US" sz="1100" dirty="0">
                <a:solidFill>
                  <a:srgbClr val="B23A18"/>
                </a:solidFill>
                <a:latin typeface="Calibri" pitchFamily="34" charset="0"/>
                <a:ea typeface="Calibri" pitchFamily="34" charset="-122"/>
                <a:cs typeface="Calibri" pitchFamily="34" charset="-120"/>
              </a:rPr>
              <a:t>- Revocar antes de expirar es dificil</a:t>
            </a:r>
            <a:endParaRPr lang="en-US" sz="1150" dirty="0"/>
          </a:p>
        </p:txBody>
      </p:sp>
      <p:sp>
        <p:nvSpPr>
          <p:cNvPr id="16" name="Text 12"/>
          <p:cNvSpPr/>
          <p:nvPr/>
        </p:nvSpPr>
        <p:spPr>
          <a:xfrm>
            <a:off x="457200" y="4553712"/>
            <a:ext cx="8229600" cy="274320"/>
          </a:xfrm>
          <a:prstGeom prst="rect">
            <a:avLst/>
          </a:prstGeom>
          <a:noFill/>
          <a:ln/>
        </p:spPr>
        <p:txBody>
          <a:bodyPr wrap="square" lIns="0" tIns="0" rIns="0" bIns="0" rtlCol="0" anchor="ctr"/>
          <a:lstStyle/>
          <a:p>
            <a:pPr marL="0" indent="0" algn="ctr">
              <a:buNone/>
            </a:pPr>
            <a:r>
              <a:rPr lang="en-US" sz="1150" i="1" dirty="0">
                <a:solidFill>
                  <a:srgbClr val="5C6B62"/>
                </a:solidFill>
                <a:latin typeface="Calibri" pitchFamily="34" charset="0"/>
                <a:ea typeface="Calibri" pitchFamily="34" charset="-122"/>
                <a:cs typeface="Calibri" pitchFamily="34" charset="-120"/>
              </a:rPr>
              <a:t>Una API REST se disena sin estado; por eso elegimos token (JWT) en la practica.</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DOS TEMAS QUE CONFUNDEN</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CSRF y CORS: que son</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(Teoria)</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457200" y="1371600"/>
            <a:ext cx="4023360" cy="3063240"/>
          </a:xfrm>
          <a:prstGeom prst="roundRect">
            <a:avLst>
              <a:gd name="adj" fmla="val 2388"/>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7" name="Shape 5"/>
          <p:cNvSpPr/>
          <p:nvPr/>
        </p:nvSpPr>
        <p:spPr>
          <a:xfrm>
            <a:off x="658368" y="1572768"/>
            <a:ext cx="548640" cy="54864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8" name="Image 0" descr="preencoded.png"/>
          <p:cNvPicPr>
            <a:picLocks noChangeAspect="1"/>
          </p:cNvPicPr>
          <p:nvPr/>
        </p:nvPicPr>
        <p:blipFill>
          <a:blip r:embed="rId3"/>
          <a:stretch>
            <a:fillRect/>
          </a:stretch>
        </p:blipFill>
        <p:spPr>
          <a:xfrm>
            <a:off x="801014" y="1715414"/>
            <a:ext cx="263347" cy="263347"/>
          </a:xfrm>
          <a:prstGeom prst="rect">
            <a:avLst/>
          </a:prstGeom>
        </p:spPr>
      </p:pic>
      <p:sp>
        <p:nvSpPr>
          <p:cNvPr id="9" name="Text 6"/>
          <p:cNvSpPr/>
          <p:nvPr/>
        </p:nvSpPr>
        <p:spPr>
          <a:xfrm>
            <a:off x="1371600" y="1609344"/>
            <a:ext cx="2926080" cy="365760"/>
          </a:xfrm>
          <a:prstGeom prst="rect">
            <a:avLst/>
          </a:prstGeom>
          <a:noFill/>
          <a:ln/>
        </p:spPr>
        <p:txBody>
          <a:bodyPr wrap="square" lIns="0" tIns="0" rIns="0" bIns="0" rtlCol="0" anchor="ctr"/>
          <a:lstStyle/>
          <a:p>
            <a:pPr marL="0" indent="0">
              <a:buNone/>
            </a:pPr>
            <a:r>
              <a:rPr lang="en-US" sz="1500" b="1" dirty="0">
                <a:solidFill>
                  <a:srgbClr val="006633"/>
                </a:solidFill>
                <a:latin typeface="Calibri" pitchFamily="34" charset="0"/>
                <a:ea typeface="Calibri" pitchFamily="34" charset="-122"/>
                <a:cs typeface="Calibri" pitchFamily="34" charset="-120"/>
              </a:rPr>
              <a:t>CSRF</a:t>
            </a:r>
            <a:endParaRPr lang="en-US" sz="1500" dirty="0"/>
          </a:p>
        </p:txBody>
      </p:sp>
      <p:sp>
        <p:nvSpPr>
          <p:cNvPr id="10" name="Text 7"/>
          <p:cNvSpPr/>
          <p:nvPr/>
        </p:nvSpPr>
        <p:spPr>
          <a:xfrm>
            <a:off x="658368" y="2286000"/>
            <a:ext cx="3657600" cy="2057400"/>
          </a:xfrm>
          <a:prstGeom prst="rect">
            <a:avLst/>
          </a:prstGeom>
          <a:noFill/>
          <a:ln/>
        </p:spPr>
        <p:txBody>
          <a:bodyPr wrap="square" lIns="0" tIns="0" rIns="0" bIns="0" rtlCol="0" anchor="t"/>
          <a:lstStyle/>
          <a:p>
            <a:pPr marL="0" indent="0">
              <a:lnSpc>
                <a:spcPct val="105000"/>
              </a:lnSpc>
              <a:buNone/>
            </a:pPr>
            <a:r>
              <a:rPr lang="en-US" sz="1150" b="1" dirty="0">
                <a:solidFill>
                  <a:srgbClr val="1E2A22"/>
                </a:solidFill>
                <a:latin typeface="Calibri" pitchFamily="34" charset="0"/>
                <a:ea typeface="Calibri" pitchFamily="34" charset="-122"/>
                <a:cs typeface="Calibri" pitchFamily="34" charset="-120"/>
              </a:rPr>
              <a:t>Falsificacion de peticion entre sitios. </a:t>
            </a:r>
            <a:r>
              <a:rPr lang="en-US" sz="1150" dirty="0">
                <a:solidFill>
                  <a:srgbClr val="5C6B62"/>
                </a:solidFill>
                <a:latin typeface="Calibri" pitchFamily="34" charset="0"/>
                <a:ea typeface="Calibri" pitchFamily="34" charset="-122"/>
                <a:cs typeface="Calibri" pitchFamily="34" charset="-120"/>
              </a:rPr>
              <a:t>Un sitio malicioso provoca que tu navegador envie una peticion con tu cookie de sesion sin que lo sepas.
</a:t>
            </a:r>
            <a:endParaRPr lang="en-US" sz="1150" dirty="0"/>
          </a:p>
          <a:p>
            <a:pPr marL="0" indent="0">
              <a:lnSpc>
                <a:spcPct val="105000"/>
              </a:lnSpc>
              <a:buNone/>
            </a:pPr>
            <a:r>
              <a:rPr lang="en-US" sz="1150" dirty="0">
                <a:solidFill>
                  <a:srgbClr val="1E2A22"/>
                </a:solidFill>
                <a:latin typeface="Calibri" pitchFamily="34" charset="0"/>
                <a:ea typeface="Calibri" pitchFamily="34" charset="-122"/>
                <a:cs typeface="Calibri" pitchFamily="34" charset="-120"/>
              </a:rPr>
              <a:t>Importa con sesiones + cookies. </a:t>
            </a:r>
            <a:r>
              <a:rPr lang="en-US" sz="1150" dirty="0">
                <a:solidFill>
                  <a:srgbClr val="5C6B62"/>
                </a:solidFill>
                <a:latin typeface="Calibri" pitchFamily="34" charset="0"/>
                <a:ea typeface="Calibri" pitchFamily="34" charset="-122"/>
                <a:cs typeface="Calibri" pitchFamily="34" charset="-120"/>
              </a:rPr>
              <a:t>Con token en cabecera no aplica: por eso en APIs JWT se suele desactivar.</a:t>
            </a:r>
            <a:endParaRPr lang="en-US" sz="1150" dirty="0"/>
          </a:p>
        </p:txBody>
      </p:sp>
      <p:sp>
        <p:nvSpPr>
          <p:cNvPr id="11" name="Shape 8"/>
          <p:cNvSpPr/>
          <p:nvPr/>
        </p:nvSpPr>
        <p:spPr>
          <a:xfrm>
            <a:off x="4663440" y="1371600"/>
            <a:ext cx="4023360" cy="3063240"/>
          </a:xfrm>
          <a:prstGeom prst="roundRect">
            <a:avLst>
              <a:gd name="adj" fmla="val 2388"/>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2" name="Shape 9"/>
          <p:cNvSpPr/>
          <p:nvPr/>
        </p:nvSpPr>
        <p:spPr>
          <a:xfrm>
            <a:off x="4864608" y="1572768"/>
            <a:ext cx="548640" cy="548640"/>
          </a:xfrm>
          <a:prstGeom prst="ellipse">
            <a:avLst/>
          </a:prstGeom>
          <a:solidFill>
            <a:srgbClr val="CC9900"/>
          </a:solidFill>
          <a:ln/>
          <a:effectLst>
            <a:outerShdw blurRad="88900" dist="38100" dir="5400000" algn="bl" rotWithShape="0">
              <a:srgbClr val="000000">
                <a:alpha val="16000"/>
              </a:srgbClr>
            </a:outerShdw>
          </a:effectLst>
        </p:spPr>
        <p:txBody>
          <a:bodyPr/>
          <a:lstStyle/>
          <a:p>
            <a:endParaRPr lang="es-ES"/>
          </a:p>
        </p:txBody>
      </p:sp>
      <p:pic>
        <p:nvPicPr>
          <p:cNvPr id="13" name="Image 1" descr="preencoded.png"/>
          <p:cNvPicPr>
            <a:picLocks noChangeAspect="1"/>
          </p:cNvPicPr>
          <p:nvPr/>
        </p:nvPicPr>
        <p:blipFill>
          <a:blip r:embed="rId4"/>
          <a:stretch>
            <a:fillRect/>
          </a:stretch>
        </p:blipFill>
        <p:spPr>
          <a:xfrm>
            <a:off x="5007254" y="1715414"/>
            <a:ext cx="263347" cy="263347"/>
          </a:xfrm>
          <a:prstGeom prst="rect">
            <a:avLst/>
          </a:prstGeom>
        </p:spPr>
      </p:pic>
      <p:sp>
        <p:nvSpPr>
          <p:cNvPr id="14" name="Text 10"/>
          <p:cNvSpPr/>
          <p:nvPr/>
        </p:nvSpPr>
        <p:spPr>
          <a:xfrm>
            <a:off x="5577840" y="1609344"/>
            <a:ext cx="2926080" cy="365760"/>
          </a:xfrm>
          <a:prstGeom prst="rect">
            <a:avLst/>
          </a:prstGeom>
          <a:noFill/>
          <a:ln/>
        </p:spPr>
        <p:txBody>
          <a:bodyPr wrap="square" lIns="0" tIns="0" rIns="0" bIns="0" rtlCol="0" anchor="ctr"/>
          <a:lstStyle/>
          <a:p>
            <a:pPr marL="0" indent="0">
              <a:buNone/>
            </a:pPr>
            <a:r>
              <a:rPr lang="en-US" sz="1500" b="1" dirty="0">
                <a:solidFill>
                  <a:srgbClr val="9A7400"/>
                </a:solidFill>
                <a:latin typeface="Calibri" pitchFamily="34" charset="0"/>
                <a:ea typeface="Calibri" pitchFamily="34" charset="-122"/>
                <a:cs typeface="Calibri" pitchFamily="34" charset="-120"/>
              </a:rPr>
              <a:t>CORS</a:t>
            </a:r>
            <a:endParaRPr lang="en-US" sz="1500" dirty="0"/>
          </a:p>
        </p:txBody>
      </p:sp>
      <p:sp>
        <p:nvSpPr>
          <p:cNvPr id="15" name="Text 11"/>
          <p:cNvSpPr/>
          <p:nvPr/>
        </p:nvSpPr>
        <p:spPr>
          <a:xfrm>
            <a:off x="4864608" y="2286000"/>
            <a:ext cx="3657600" cy="2057400"/>
          </a:xfrm>
          <a:prstGeom prst="rect">
            <a:avLst/>
          </a:prstGeom>
          <a:noFill/>
          <a:ln/>
        </p:spPr>
        <p:txBody>
          <a:bodyPr wrap="square" lIns="0" tIns="0" rIns="0" bIns="0" rtlCol="0" anchor="t"/>
          <a:lstStyle/>
          <a:p>
            <a:pPr marL="0" indent="0">
              <a:lnSpc>
                <a:spcPct val="105000"/>
              </a:lnSpc>
              <a:buNone/>
            </a:pPr>
            <a:r>
              <a:rPr lang="en-US" sz="1150" b="1" dirty="0">
                <a:solidFill>
                  <a:srgbClr val="1E2A22"/>
                </a:solidFill>
                <a:latin typeface="Calibri" pitchFamily="34" charset="0"/>
                <a:ea typeface="Calibri" pitchFamily="34" charset="-122"/>
                <a:cs typeface="Calibri" pitchFamily="34" charset="-120"/>
              </a:rPr>
              <a:t>Comparticion de recursos entre origenes. </a:t>
            </a:r>
            <a:r>
              <a:rPr lang="en-US" sz="1150" dirty="0">
                <a:solidFill>
                  <a:srgbClr val="5C6B62"/>
                </a:solidFill>
                <a:latin typeface="Calibri" pitchFamily="34" charset="0"/>
                <a:ea typeface="Calibri" pitchFamily="34" charset="-122"/>
                <a:cs typeface="Calibri" pitchFamily="34" charset="-120"/>
              </a:rPr>
              <a:t>Politica del navegador que decide si un sitio puede llamar a una API en otro origen.
</a:t>
            </a:r>
            <a:endParaRPr lang="en-US" sz="1150" dirty="0"/>
          </a:p>
          <a:p>
            <a:pPr marL="0" indent="0">
              <a:lnSpc>
                <a:spcPct val="105000"/>
              </a:lnSpc>
              <a:buNone/>
            </a:pPr>
            <a:r>
              <a:rPr lang="en-US" sz="1150" dirty="0">
                <a:solidFill>
                  <a:srgbClr val="1E2A22"/>
                </a:solidFill>
                <a:latin typeface="Calibri" pitchFamily="34" charset="0"/>
                <a:ea typeface="Calibri" pitchFamily="34" charset="-122"/>
                <a:cs typeface="Calibri" pitchFamily="34" charset="-120"/>
              </a:rPr>
              <a:t>Importa cuando el cliente (Angular) esta en otro servidor. </a:t>
            </a:r>
            <a:r>
              <a:rPr lang="en-US" sz="1150" dirty="0">
                <a:solidFill>
                  <a:srgbClr val="5C6B62"/>
                </a:solidFill>
                <a:latin typeface="Calibri" pitchFamily="34" charset="0"/>
                <a:ea typeface="Calibri" pitchFamily="34" charset="-122"/>
                <a:cs typeface="Calibri" pitchFamily="34" charset="-120"/>
              </a:rPr>
              <a:t>Se configura permitiendo origenes concretos.</a:t>
            </a:r>
            <a:endParaRPr lang="en-US" sz="1150" dirty="0"/>
          </a:p>
        </p:txBody>
      </p:sp>
      <p:sp>
        <p:nvSpPr>
          <p:cNvPr id="16" name="Text 12"/>
          <p:cNvSpPr/>
          <p:nvPr/>
        </p:nvSpPr>
        <p:spPr>
          <a:xfrm>
            <a:off x="457200" y="4553712"/>
            <a:ext cx="8229600" cy="274320"/>
          </a:xfrm>
          <a:prstGeom prst="rect">
            <a:avLst/>
          </a:prstGeom>
          <a:noFill/>
          <a:ln/>
        </p:spPr>
        <p:txBody>
          <a:bodyPr wrap="square" lIns="0" tIns="0" rIns="0" bIns="0" rtlCol="0" anchor="ctr"/>
          <a:lstStyle/>
          <a:p>
            <a:pPr marL="0" indent="0" algn="ctr">
              <a:buNone/>
            </a:pPr>
            <a:r>
              <a:rPr lang="en-US" sz="1150" i="1" dirty="0">
                <a:solidFill>
                  <a:srgbClr val="5C6B62"/>
                </a:solidFill>
                <a:latin typeface="Calibri" pitchFamily="34" charset="0"/>
                <a:ea typeface="Calibri" pitchFamily="34" charset="-122"/>
                <a:cs typeface="Calibri" pitchFamily="34" charset="-120"/>
              </a:rPr>
              <a:t>No son lo mismo: CSRF es un ataque del que defenderse; CORS es un permiso que conceder.</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PANORAMA</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Mecanismos de autenticacion soportados</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(Teoria)</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15</a:t>
            </a:r>
            <a:endParaRPr lang="en-US" sz="900" dirty="0"/>
          </a:p>
        </p:txBody>
      </p:sp>
      <p:sp>
        <p:nvSpPr>
          <p:cNvPr id="6" name="Text 4"/>
          <p:cNvSpPr/>
          <p:nvPr/>
        </p:nvSpPr>
        <p:spPr>
          <a:xfrm>
            <a:off x="457200" y="1234440"/>
            <a:ext cx="8229600" cy="502920"/>
          </a:xfrm>
          <a:prstGeom prst="rect">
            <a:avLst/>
          </a:prstGeom>
          <a:noFill/>
          <a:ln/>
        </p:spPr>
        <p:txBody>
          <a:bodyPr wrap="square" lIns="0" tIns="0" rIns="0" bIns="0" rtlCol="0" anchor="ctr"/>
          <a:lstStyle/>
          <a:p>
            <a:pPr marL="0" indent="0">
              <a:lnSpc>
                <a:spcPct val="105000"/>
              </a:lnSpc>
              <a:buNone/>
            </a:pPr>
            <a:r>
              <a:rPr lang="en-US" sz="1250" dirty="0">
                <a:solidFill>
                  <a:srgbClr val="1E2A22"/>
                </a:solidFill>
                <a:latin typeface="Calibri" pitchFamily="34" charset="0"/>
                <a:ea typeface="Calibri" pitchFamily="34" charset="-122"/>
                <a:cs typeface="Calibri" pitchFamily="34" charset="-120"/>
              </a:rPr>
              <a:t>Spring Security soporta muchas formas de autenticar; todas producen el mismo objeto Authentication. Solo cambia como se obtiene la credencial.</a:t>
            </a:r>
            <a:endParaRPr lang="en-US" sz="1250" dirty="0"/>
          </a:p>
        </p:txBody>
      </p:sp>
      <p:sp>
        <p:nvSpPr>
          <p:cNvPr id="7" name="Shape 5"/>
          <p:cNvSpPr/>
          <p:nvPr/>
        </p:nvSpPr>
        <p:spPr>
          <a:xfrm>
            <a:off x="457200" y="1874520"/>
            <a:ext cx="4069080" cy="749808"/>
          </a:xfrm>
          <a:prstGeom prst="roundRect">
            <a:avLst>
              <a:gd name="adj" fmla="val 9756"/>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8" name="Shape 6"/>
          <p:cNvSpPr/>
          <p:nvPr/>
        </p:nvSpPr>
        <p:spPr>
          <a:xfrm>
            <a:off x="603504" y="2020824"/>
            <a:ext cx="457200" cy="45720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9" name="Image 0" descr="preencoded.png"/>
          <p:cNvPicPr>
            <a:picLocks noChangeAspect="1"/>
          </p:cNvPicPr>
          <p:nvPr/>
        </p:nvPicPr>
        <p:blipFill>
          <a:blip r:embed="rId3"/>
          <a:stretch>
            <a:fillRect/>
          </a:stretch>
        </p:blipFill>
        <p:spPr>
          <a:xfrm>
            <a:off x="722376" y="2139696"/>
            <a:ext cx="219456" cy="219456"/>
          </a:xfrm>
          <a:prstGeom prst="rect">
            <a:avLst/>
          </a:prstGeom>
        </p:spPr>
      </p:pic>
      <p:sp>
        <p:nvSpPr>
          <p:cNvPr id="10" name="Text 7"/>
          <p:cNvSpPr/>
          <p:nvPr/>
        </p:nvSpPr>
        <p:spPr>
          <a:xfrm>
            <a:off x="1188720" y="1929384"/>
            <a:ext cx="3200400" cy="640080"/>
          </a:xfrm>
          <a:prstGeom prst="rect">
            <a:avLst/>
          </a:prstGeom>
          <a:noFill/>
          <a:ln/>
        </p:spPr>
        <p:txBody>
          <a:bodyPr wrap="square" lIns="0" tIns="0" rIns="0" bIns="0" rtlCol="0" anchor="ctr"/>
          <a:lstStyle/>
          <a:p>
            <a:pPr marL="0" indent="0">
              <a:lnSpc>
                <a:spcPct val="98000"/>
              </a:lnSpc>
              <a:buNone/>
            </a:pPr>
            <a:r>
              <a:rPr lang="en-US" sz="1200" b="1" dirty="0">
                <a:solidFill>
                  <a:srgbClr val="006633"/>
                </a:solidFill>
                <a:latin typeface="Calibri" pitchFamily="34" charset="0"/>
                <a:ea typeface="Calibri" pitchFamily="34" charset="-122"/>
                <a:cs typeface="Calibri" pitchFamily="34" charset="-120"/>
              </a:rPr>
              <a:t>Form login
</a:t>
            </a:r>
            <a:r>
              <a:rPr lang="en-US" sz="1000" dirty="0">
                <a:solidFill>
                  <a:srgbClr val="5C6B62"/>
                </a:solidFill>
                <a:latin typeface="Calibri" pitchFamily="34" charset="0"/>
                <a:ea typeface="Calibri" pitchFamily="34" charset="-122"/>
                <a:cs typeface="Calibri" pitchFamily="34" charset="-120"/>
              </a:rPr>
              <a:t>Formulario web con sesion; el clasico de apps con vistas.</a:t>
            </a:r>
            <a:endParaRPr lang="en-US" sz="1200" dirty="0"/>
          </a:p>
        </p:txBody>
      </p:sp>
      <p:sp>
        <p:nvSpPr>
          <p:cNvPr id="11" name="Shape 8"/>
          <p:cNvSpPr/>
          <p:nvPr/>
        </p:nvSpPr>
        <p:spPr>
          <a:xfrm>
            <a:off x="5029200" y="1874520"/>
            <a:ext cx="4069080" cy="749808"/>
          </a:xfrm>
          <a:prstGeom prst="roundRect">
            <a:avLst>
              <a:gd name="adj" fmla="val 9756"/>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2" name="Shape 9"/>
          <p:cNvSpPr/>
          <p:nvPr/>
        </p:nvSpPr>
        <p:spPr>
          <a:xfrm>
            <a:off x="5175504" y="2020824"/>
            <a:ext cx="457200" cy="45720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13" name="Image 1" descr="preencoded.png"/>
          <p:cNvPicPr>
            <a:picLocks noChangeAspect="1"/>
          </p:cNvPicPr>
          <p:nvPr/>
        </p:nvPicPr>
        <p:blipFill>
          <a:blip r:embed="rId4"/>
          <a:stretch>
            <a:fillRect/>
          </a:stretch>
        </p:blipFill>
        <p:spPr>
          <a:xfrm>
            <a:off x="5294376" y="2139696"/>
            <a:ext cx="219456" cy="219456"/>
          </a:xfrm>
          <a:prstGeom prst="rect">
            <a:avLst/>
          </a:prstGeom>
        </p:spPr>
      </p:pic>
      <p:sp>
        <p:nvSpPr>
          <p:cNvPr id="14" name="Text 10"/>
          <p:cNvSpPr/>
          <p:nvPr/>
        </p:nvSpPr>
        <p:spPr>
          <a:xfrm>
            <a:off x="5760720" y="1929384"/>
            <a:ext cx="3200400" cy="640080"/>
          </a:xfrm>
          <a:prstGeom prst="rect">
            <a:avLst/>
          </a:prstGeom>
          <a:noFill/>
          <a:ln/>
        </p:spPr>
        <p:txBody>
          <a:bodyPr wrap="square" lIns="0" tIns="0" rIns="0" bIns="0" rtlCol="0" anchor="ctr"/>
          <a:lstStyle/>
          <a:p>
            <a:pPr marL="0" indent="0">
              <a:lnSpc>
                <a:spcPct val="98000"/>
              </a:lnSpc>
              <a:buNone/>
            </a:pPr>
            <a:r>
              <a:rPr lang="en-US" sz="1200" b="1" dirty="0">
                <a:solidFill>
                  <a:srgbClr val="006633"/>
                </a:solidFill>
                <a:latin typeface="Calibri" pitchFamily="34" charset="0"/>
                <a:ea typeface="Calibri" pitchFamily="34" charset="-122"/>
                <a:cs typeface="Calibri" pitchFamily="34" charset="-120"/>
              </a:rPr>
              <a:t>HTTP Basic
</a:t>
            </a:r>
            <a:r>
              <a:rPr lang="en-US" sz="1000" dirty="0">
                <a:solidFill>
                  <a:srgbClr val="5C6B62"/>
                </a:solidFill>
                <a:latin typeface="Calibri" pitchFamily="34" charset="0"/>
                <a:ea typeface="Calibri" pitchFamily="34" charset="-122"/>
                <a:cs typeface="Calibri" pitchFamily="34" charset="-120"/>
              </a:rPr>
              <a:t>Usuario y clave en la cabecera; simple, para pruebas o servicios.</a:t>
            </a:r>
            <a:endParaRPr lang="en-US" sz="1200" dirty="0"/>
          </a:p>
        </p:txBody>
      </p:sp>
      <p:sp>
        <p:nvSpPr>
          <p:cNvPr id="15" name="Shape 11"/>
          <p:cNvSpPr/>
          <p:nvPr/>
        </p:nvSpPr>
        <p:spPr>
          <a:xfrm>
            <a:off x="457200" y="2752344"/>
            <a:ext cx="4069080" cy="749808"/>
          </a:xfrm>
          <a:prstGeom prst="roundRect">
            <a:avLst>
              <a:gd name="adj" fmla="val 9756"/>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16" name="Shape 12"/>
          <p:cNvSpPr/>
          <p:nvPr/>
        </p:nvSpPr>
        <p:spPr>
          <a:xfrm>
            <a:off x="603504" y="2898648"/>
            <a:ext cx="457200" cy="45720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17" name="Image 2" descr="preencoded.png"/>
          <p:cNvPicPr>
            <a:picLocks noChangeAspect="1"/>
          </p:cNvPicPr>
          <p:nvPr/>
        </p:nvPicPr>
        <p:blipFill>
          <a:blip r:embed="rId5"/>
          <a:stretch>
            <a:fillRect/>
          </a:stretch>
        </p:blipFill>
        <p:spPr>
          <a:xfrm>
            <a:off x="722376" y="3017520"/>
            <a:ext cx="219456" cy="219456"/>
          </a:xfrm>
          <a:prstGeom prst="rect">
            <a:avLst/>
          </a:prstGeom>
        </p:spPr>
      </p:pic>
      <p:sp>
        <p:nvSpPr>
          <p:cNvPr id="18" name="Text 13"/>
          <p:cNvSpPr/>
          <p:nvPr/>
        </p:nvSpPr>
        <p:spPr>
          <a:xfrm>
            <a:off x="1188720" y="2807208"/>
            <a:ext cx="3200400" cy="640080"/>
          </a:xfrm>
          <a:prstGeom prst="rect">
            <a:avLst/>
          </a:prstGeom>
          <a:noFill/>
          <a:ln/>
        </p:spPr>
        <p:txBody>
          <a:bodyPr wrap="square" lIns="0" tIns="0" rIns="0" bIns="0" rtlCol="0" anchor="ctr"/>
          <a:lstStyle/>
          <a:p>
            <a:pPr marL="0" indent="0">
              <a:lnSpc>
                <a:spcPct val="98000"/>
              </a:lnSpc>
              <a:buNone/>
            </a:pPr>
            <a:r>
              <a:rPr lang="en-US" sz="1200" b="1" dirty="0">
                <a:solidFill>
                  <a:srgbClr val="006633"/>
                </a:solidFill>
                <a:latin typeface="Calibri" pitchFamily="34" charset="0"/>
                <a:ea typeface="Calibri" pitchFamily="34" charset="-122"/>
                <a:cs typeface="Calibri" pitchFamily="34" charset="-120"/>
              </a:rPr>
              <a:t>JWT / token
</a:t>
            </a:r>
            <a:r>
              <a:rPr lang="en-US" sz="1000" dirty="0">
                <a:solidFill>
                  <a:srgbClr val="5C6B62"/>
                </a:solidFill>
                <a:latin typeface="Calibri" pitchFamily="34" charset="0"/>
                <a:ea typeface="Calibri" pitchFamily="34" charset="-122"/>
                <a:cs typeface="Calibri" pitchFamily="34" charset="-120"/>
              </a:rPr>
              <a:t>Token autocontenido; el estandar para APIs REST sin estado.</a:t>
            </a:r>
            <a:endParaRPr lang="en-US" sz="1200" dirty="0"/>
          </a:p>
        </p:txBody>
      </p:sp>
      <p:sp>
        <p:nvSpPr>
          <p:cNvPr id="19" name="Shape 14"/>
          <p:cNvSpPr/>
          <p:nvPr/>
        </p:nvSpPr>
        <p:spPr>
          <a:xfrm>
            <a:off x="5029200" y="2752344"/>
            <a:ext cx="4069080" cy="749808"/>
          </a:xfrm>
          <a:prstGeom prst="roundRect">
            <a:avLst>
              <a:gd name="adj" fmla="val 9756"/>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20" name="Shape 15"/>
          <p:cNvSpPr/>
          <p:nvPr/>
        </p:nvSpPr>
        <p:spPr>
          <a:xfrm>
            <a:off x="5175504" y="2898648"/>
            <a:ext cx="457200" cy="45720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21" name="Image 3" descr="preencoded.png"/>
          <p:cNvPicPr>
            <a:picLocks noChangeAspect="1"/>
          </p:cNvPicPr>
          <p:nvPr/>
        </p:nvPicPr>
        <p:blipFill>
          <a:blip r:embed="rId6"/>
          <a:stretch>
            <a:fillRect/>
          </a:stretch>
        </p:blipFill>
        <p:spPr>
          <a:xfrm>
            <a:off x="5294376" y="3017520"/>
            <a:ext cx="219456" cy="219456"/>
          </a:xfrm>
          <a:prstGeom prst="rect">
            <a:avLst/>
          </a:prstGeom>
        </p:spPr>
      </p:pic>
      <p:sp>
        <p:nvSpPr>
          <p:cNvPr id="22" name="Text 16"/>
          <p:cNvSpPr/>
          <p:nvPr/>
        </p:nvSpPr>
        <p:spPr>
          <a:xfrm>
            <a:off x="5760720" y="2807208"/>
            <a:ext cx="3200400" cy="640080"/>
          </a:xfrm>
          <a:prstGeom prst="rect">
            <a:avLst/>
          </a:prstGeom>
          <a:noFill/>
          <a:ln/>
        </p:spPr>
        <p:txBody>
          <a:bodyPr wrap="square" lIns="0" tIns="0" rIns="0" bIns="0" rtlCol="0" anchor="ctr"/>
          <a:lstStyle/>
          <a:p>
            <a:pPr marL="0" indent="0">
              <a:lnSpc>
                <a:spcPct val="98000"/>
              </a:lnSpc>
              <a:buNone/>
            </a:pPr>
            <a:r>
              <a:rPr lang="en-US" sz="1200" b="1" dirty="0">
                <a:solidFill>
                  <a:srgbClr val="006633"/>
                </a:solidFill>
                <a:latin typeface="Calibri" pitchFamily="34" charset="0"/>
                <a:ea typeface="Calibri" pitchFamily="34" charset="-122"/>
                <a:cs typeface="Calibri" pitchFamily="34" charset="-120"/>
              </a:rPr>
              <a:t>OAuth2 / OIDC
</a:t>
            </a:r>
            <a:r>
              <a:rPr lang="en-US" sz="1000" dirty="0">
                <a:solidFill>
                  <a:srgbClr val="5C6B62"/>
                </a:solidFill>
                <a:latin typeface="Calibri" pitchFamily="34" charset="0"/>
                <a:ea typeface="Calibri" pitchFamily="34" charset="-122"/>
                <a:cs typeface="Calibri" pitchFamily="34" charset="-120"/>
              </a:rPr>
              <a:t>Delegar el login en Google, GitHub, etc.</a:t>
            </a:r>
            <a:endParaRPr lang="en-US" sz="1200" dirty="0"/>
          </a:p>
        </p:txBody>
      </p:sp>
      <p:sp>
        <p:nvSpPr>
          <p:cNvPr id="23" name="Shape 17"/>
          <p:cNvSpPr/>
          <p:nvPr/>
        </p:nvSpPr>
        <p:spPr>
          <a:xfrm>
            <a:off x="457200" y="3630168"/>
            <a:ext cx="4069080" cy="749808"/>
          </a:xfrm>
          <a:prstGeom prst="roundRect">
            <a:avLst>
              <a:gd name="adj" fmla="val 9756"/>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24" name="Shape 18"/>
          <p:cNvSpPr/>
          <p:nvPr/>
        </p:nvSpPr>
        <p:spPr>
          <a:xfrm>
            <a:off x="603504" y="3776472"/>
            <a:ext cx="457200" cy="45720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25" name="Image 4" descr="preencoded.png"/>
          <p:cNvPicPr>
            <a:picLocks noChangeAspect="1"/>
          </p:cNvPicPr>
          <p:nvPr/>
        </p:nvPicPr>
        <p:blipFill>
          <a:blip r:embed="rId7"/>
          <a:stretch>
            <a:fillRect/>
          </a:stretch>
        </p:blipFill>
        <p:spPr>
          <a:xfrm>
            <a:off x="722376" y="3895344"/>
            <a:ext cx="219456" cy="219456"/>
          </a:xfrm>
          <a:prstGeom prst="rect">
            <a:avLst/>
          </a:prstGeom>
        </p:spPr>
      </p:pic>
      <p:sp>
        <p:nvSpPr>
          <p:cNvPr id="26" name="Text 19"/>
          <p:cNvSpPr/>
          <p:nvPr/>
        </p:nvSpPr>
        <p:spPr>
          <a:xfrm>
            <a:off x="1188720" y="3685032"/>
            <a:ext cx="3200400" cy="640080"/>
          </a:xfrm>
          <a:prstGeom prst="rect">
            <a:avLst/>
          </a:prstGeom>
          <a:noFill/>
          <a:ln/>
        </p:spPr>
        <p:txBody>
          <a:bodyPr wrap="square" lIns="0" tIns="0" rIns="0" bIns="0" rtlCol="0" anchor="ctr"/>
          <a:lstStyle/>
          <a:p>
            <a:pPr marL="0" indent="0">
              <a:lnSpc>
                <a:spcPct val="98000"/>
              </a:lnSpc>
              <a:buNone/>
            </a:pPr>
            <a:r>
              <a:rPr lang="en-US" sz="1200" b="1" dirty="0">
                <a:solidFill>
                  <a:srgbClr val="006633"/>
                </a:solidFill>
                <a:latin typeface="Calibri" pitchFamily="34" charset="0"/>
                <a:ea typeface="Calibri" pitchFamily="34" charset="-122"/>
                <a:cs typeface="Calibri" pitchFamily="34" charset="-120"/>
              </a:rPr>
              <a:t>LDAP
</a:t>
            </a:r>
            <a:r>
              <a:rPr lang="en-US" sz="1000" dirty="0">
                <a:solidFill>
                  <a:srgbClr val="5C6B62"/>
                </a:solidFill>
                <a:latin typeface="Calibri" pitchFamily="34" charset="0"/>
                <a:ea typeface="Calibri" pitchFamily="34" charset="-122"/>
                <a:cs typeface="Calibri" pitchFamily="34" charset="-120"/>
              </a:rPr>
              <a:t>Contra un directorio corporativo.</a:t>
            </a:r>
            <a:endParaRPr lang="en-US" sz="1200" dirty="0"/>
          </a:p>
        </p:txBody>
      </p:sp>
      <p:sp>
        <p:nvSpPr>
          <p:cNvPr id="27" name="Shape 20"/>
          <p:cNvSpPr/>
          <p:nvPr/>
        </p:nvSpPr>
        <p:spPr>
          <a:xfrm>
            <a:off x="5029200" y="3630168"/>
            <a:ext cx="4069080" cy="749808"/>
          </a:xfrm>
          <a:prstGeom prst="roundRect">
            <a:avLst>
              <a:gd name="adj" fmla="val 9756"/>
            </a:avLst>
          </a:prstGeom>
          <a:solidFill>
            <a:srgbClr val="F1F4F0"/>
          </a:solidFill>
          <a:ln/>
          <a:effectLst>
            <a:outerShdw blurRad="88900" dist="38100" dir="5400000" algn="bl" rotWithShape="0">
              <a:srgbClr val="000000">
                <a:alpha val="16000"/>
              </a:srgbClr>
            </a:outerShdw>
          </a:effectLst>
        </p:spPr>
        <p:txBody>
          <a:bodyPr/>
          <a:lstStyle/>
          <a:p>
            <a:endParaRPr lang="es-ES"/>
          </a:p>
        </p:txBody>
      </p:sp>
      <p:sp>
        <p:nvSpPr>
          <p:cNvPr id="28" name="Shape 21"/>
          <p:cNvSpPr/>
          <p:nvPr/>
        </p:nvSpPr>
        <p:spPr>
          <a:xfrm>
            <a:off x="5175504" y="3776472"/>
            <a:ext cx="457200" cy="45720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29" name="Image 5" descr="preencoded.png"/>
          <p:cNvPicPr>
            <a:picLocks noChangeAspect="1"/>
          </p:cNvPicPr>
          <p:nvPr/>
        </p:nvPicPr>
        <p:blipFill>
          <a:blip r:embed="rId8"/>
          <a:stretch>
            <a:fillRect/>
          </a:stretch>
        </p:blipFill>
        <p:spPr>
          <a:xfrm>
            <a:off x="5294376" y="3895344"/>
            <a:ext cx="219456" cy="219456"/>
          </a:xfrm>
          <a:prstGeom prst="rect">
            <a:avLst/>
          </a:prstGeom>
        </p:spPr>
      </p:pic>
      <p:sp>
        <p:nvSpPr>
          <p:cNvPr id="30" name="Text 22"/>
          <p:cNvSpPr/>
          <p:nvPr/>
        </p:nvSpPr>
        <p:spPr>
          <a:xfrm>
            <a:off x="5760720" y="3685032"/>
            <a:ext cx="3200400" cy="640080"/>
          </a:xfrm>
          <a:prstGeom prst="rect">
            <a:avLst/>
          </a:prstGeom>
          <a:noFill/>
          <a:ln/>
        </p:spPr>
        <p:txBody>
          <a:bodyPr wrap="square" lIns="0" tIns="0" rIns="0" bIns="0" rtlCol="0" anchor="ctr"/>
          <a:lstStyle/>
          <a:p>
            <a:pPr marL="0" indent="0">
              <a:lnSpc>
                <a:spcPct val="98000"/>
              </a:lnSpc>
              <a:buNone/>
            </a:pPr>
            <a:r>
              <a:rPr lang="en-US" sz="1200" b="1" dirty="0">
                <a:solidFill>
                  <a:srgbClr val="006633"/>
                </a:solidFill>
                <a:latin typeface="Calibri" pitchFamily="34" charset="0"/>
                <a:ea typeface="Calibri" pitchFamily="34" charset="-122"/>
                <a:cs typeface="Calibri" pitchFamily="34" charset="-120"/>
              </a:rPr>
              <a:t>Certificado X.509
</a:t>
            </a:r>
            <a:r>
              <a:rPr lang="en-US" sz="1000" dirty="0">
                <a:solidFill>
                  <a:srgbClr val="5C6B62"/>
                </a:solidFill>
                <a:latin typeface="Calibri" pitchFamily="34" charset="0"/>
                <a:ea typeface="Calibri" pitchFamily="34" charset="-122"/>
                <a:cs typeface="Calibri" pitchFamily="34" charset="-120"/>
              </a:rPr>
              <a:t>Autenticacion por certificado de cliente.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marL="0" indent="0">
              <a:buNone/>
            </a:pPr>
            <a:r>
              <a:rPr lang="en-US" sz="1100" b="1" kern="0" spc="300" dirty="0">
                <a:solidFill>
                  <a:srgbClr val="CC9900"/>
                </a:solidFill>
                <a:latin typeface="Calibri" pitchFamily="34" charset="0"/>
                <a:ea typeface="Calibri" pitchFamily="34" charset="-122"/>
                <a:cs typeface="Calibri" pitchFamily="34" charset="-120"/>
              </a:rPr>
              <a:t>LO MODERNO</a:t>
            </a:r>
            <a:endParaRPr lang="en-US" sz="11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marL="0" indent="0">
              <a:buNone/>
            </a:pPr>
            <a:r>
              <a:rPr lang="en-US" sz="2700" b="1" dirty="0">
                <a:solidFill>
                  <a:srgbClr val="006633"/>
                </a:solidFill>
                <a:latin typeface="Cambria" pitchFamily="34" charset="0"/>
                <a:ea typeface="Cambria" pitchFamily="34" charset="-122"/>
                <a:cs typeface="Cambria" pitchFamily="34" charset="-120"/>
              </a:rPr>
              <a:t>Spring Security 6 y 7: que cambio</a:t>
            </a:r>
            <a:endParaRPr lang="en-US" sz="2700" dirty="0"/>
          </a:p>
        </p:txBody>
      </p:sp>
      <p:sp>
        <p:nvSpPr>
          <p:cNvPr id="4" name="Text 2"/>
          <p:cNvSpPr/>
          <p:nvPr/>
        </p:nvSpPr>
        <p:spPr>
          <a:xfrm>
            <a:off x="457200" y="4828032"/>
            <a:ext cx="6400800" cy="256032"/>
          </a:xfrm>
          <a:prstGeom prst="rect">
            <a:avLst/>
          </a:prstGeom>
          <a:noFill/>
          <a:ln/>
        </p:spPr>
        <p:txBody>
          <a:bodyPr wrap="square" lIns="0" tIns="0" rIns="0" bIns="0" rtlCol="0" anchor="ctr"/>
          <a:lstStyle/>
          <a:p>
            <a:pPr marL="0" indent="0">
              <a:buNone/>
            </a:pPr>
            <a:r>
              <a:rPr lang="en-US" sz="850" b="1" dirty="0">
                <a:solidFill>
                  <a:srgbClr val="CC9900"/>
                </a:solidFill>
                <a:latin typeface="Calibri" pitchFamily="34" charset="0"/>
                <a:ea typeface="Calibri" pitchFamily="34" charset="-122"/>
                <a:cs typeface="Calibri" pitchFamily="34" charset="-120"/>
              </a:rPr>
              <a:t>UTEQ</a:t>
            </a:r>
            <a:r>
              <a:rPr lang="en-US" sz="850" dirty="0">
                <a:solidFill>
                  <a:srgbClr val="5C6B62"/>
                </a:solidFill>
                <a:latin typeface="Calibri" pitchFamily="34" charset="0"/>
                <a:ea typeface="Calibri" pitchFamily="34" charset="-122"/>
                <a:cs typeface="Calibri" pitchFamily="34" charset="-120"/>
              </a:rPr>
              <a:t>  ·  Aplicaciones Web · Unidad II · Spring Security (Teoria)</a:t>
            </a:r>
            <a:endParaRPr lang="en-US" sz="850" dirty="0"/>
          </a:p>
        </p:txBody>
      </p:sp>
      <p:sp>
        <p:nvSpPr>
          <p:cNvPr id="5" name="Text 3"/>
          <p:cNvSpPr/>
          <p:nvPr/>
        </p:nvSpPr>
        <p:spPr>
          <a:xfrm>
            <a:off x="8321040" y="4828032"/>
            <a:ext cx="365760" cy="256032"/>
          </a:xfrm>
          <a:prstGeom prst="rect">
            <a:avLst/>
          </a:prstGeom>
          <a:noFill/>
          <a:ln/>
        </p:spPr>
        <p:txBody>
          <a:bodyPr wrap="square" lIns="0" tIns="0" rIns="0" bIns="0" rtlCol="0" anchor="ctr"/>
          <a:lstStyle/>
          <a:p>
            <a:pPr marL="0" indent="0" algn="r">
              <a:buNone/>
            </a:pPr>
            <a:r>
              <a:rPr lang="en-US" sz="900" dirty="0">
                <a:solidFill>
                  <a:srgbClr val="5C6B62"/>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457200" y="1371600"/>
            <a:ext cx="5120640" cy="1737360"/>
          </a:xfrm>
          <a:prstGeom prst="roundRect">
            <a:avLst>
              <a:gd name="adj" fmla="val 3158"/>
            </a:avLst>
          </a:prstGeom>
          <a:solidFill>
            <a:srgbClr val="F6F7F4"/>
          </a:solidFill>
          <a:ln w="12700">
            <a:solidFill>
              <a:srgbClr val="DDE3DC"/>
            </a:solidFill>
            <a:prstDash val="solid"/>
          </a:ln>
          <a:effectLst>
            <a:outerShdw blurRad="88900" dist="38100" dir="5400000" algn="bl" rotWithShape="0">
              <a:srgbClr val="000000">
                <a:alpha val="16000"/>
              </a:srgbClr>
            </a:outerShdw>
          </a:effectLst>
        </p:spPr>
        <p:txBody>
          <a:bodyPr/>
          <a:lstStyle/>
          <a:p>
            <a:endParaRPr lang="es-ES"/>
          </a:p>
        </p:txBody>
      </p:sp>
      <p:sp>
        <p:nvSpPr>
          <p:cNvPr id="7" name="Text 5"/>
          <p:cNvSpPr/>
          <p:nvPr/>
        </p:nvSpPr>
        <p:spPr>
          <a:xfrm>
            <a:off x="621792" y="1444752"/>
            <a:ext cx="4846320" cy="237744"/>
          </a:xfrm>
          <a:prstGeom prst="rect">
            <a:avLst/>
          </a:prstGeom>
          <a:noFill/>
          <a:ln/>
        </p:spPr>
        <p:txBody>
          <a:bodyPr wrap="square" lIns="0" tIns="0" rIns="0" bIns="0" rtlCol="0" anchor="ctr"/>
          <a:lstStyle/>
          <a:p>
            <a:pPr marL="0" indent="0">
              <a:buNone/>
            </a:pPr>
            <a:r>
              <a:rPr lang="en-US" sz="950" i="1" dirty="0">
                <a:solidFill>
                  <a:srgbClr val="717171"/>
                </a:solidFill>
                <a:latin typeface="Courier New" pitchFamily="34" charset="0"/>
                <a:ea typeface="Courier New" pitchFamily="34" charset="-122"/>
                <a:cs typeface="Courier New" pitchFamily="34" charset="-120"/>
              </a:rPr>
              <a:t>Configuracion actual</a:t>
            </a:r>
            <a:endParaRPr lang="en-US" sz="950" dirty="0"/>
          </a:p>
        </p:txBody>
      </p:sp>
      <p:sp>
        <p:nvSpPr>
          <p:cNvPr id="8" name="Text 6"/>
          <p:cNvSpPr/>
          <p:nvPr/>
        </p:nvSpPr>
        <p:spPr>
          <a:xfrm>
            <a:off x="621792" y="1700784"/>
            <a:ext cx="4809744" cy="1316736"/>
          </a:xfrm>
          <a:prstGeom prst="rect">
            <a:avLst/>
          </a:prstGeom>
          <a:noFill/>
          <a:ln/>
        </p:spPr>
        <p:txBody>
          <a:bodyPr wrap="square" lIns="0" tIns="0" rIns="0" bIns="0" rtlCol="0" anchor="t"/>
          <a:lstStyle/>
          <a:p>
            <a:pPr marL="0" indent="0">
              <a:lnSpc>
                <a:spcPct val="102000"/>
              </a:lnSpc>
              <a:buNone/>
            </a:pPr>
            <a:r>
              <a:rPr lang="en-US" sz="930" i="1" dirty="0">
                <a:solidFill>
                  <a:srgbClr val="717171"/>
                </a:solidFill>
                <a:latin typeface="Courier New" pitchFamily="34" charset="0"/>
                <a:ea typeface="Courier New" pitchFamily="34" charset="-122"/>
                <a:cs typeface="Courier New" pitchFamily="34" charset="-120"/>
              </a:rPr>
              <a:t>// Estilo moderno (Spring Security 6/7): DSL de lambdas</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http</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.authorizeHttpRequests(auth -&gt; auth</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.requestMatchers(</a:t>
            </a:r>
            <a:r>
              <a:rPr lang="en-US" sz="930" dirty="0">
                <a:solidFill>
                  <a:srgbClr val="C41A16"/>
                </a:solidFill>
                <a:latin typeface="Courier New" pitchFamily="34" charset="0"/>
                <a:ea typeface="Courier New" pitchFamily="34" charset="-122"/>
                <a:cs typeface="Courier New" pitchFamily="34" charset="-120"/>
              </a:rPr>
              <a:t>"/auth/**"</a:t>
            </a:r>
            <a:r>
              <a:rPr lang="en-US" sz="930" dirty="0">
                <a:solidFill>
                  <a:srgbClr val="383A42"/>
                </a:solidFill>
                <a:latin typeface="Courier New" pitchFamily="34" charset="0"/>
                <a:ea typeface="Courier New" pitchFamily="34" charset="-122"/>
                <a:cs typeface="Courier New" pitchFamily="34" charset="-120"/>
              </a:rPr>
              <a:t>).permitAll()</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.anyRequest().authenticated())</a:t>
            </a:r>
            <a:endParaRPr lang="en-US" sz="930" dirty="0"/>
          </a:p>
          <a:p>
            <a:pPr marL="0" indent="0">
              <a:lnSpc>
                <a:spcPct val="102000"/>
              </a:lnSpc>
              <a:buNone/>
            </a:pPr>
            <a:r>
              <a:rPr lang="en-US" sz="930" dirty="0">
                <a:solidFill>
                  <a:srgbClr val="383A42"/>
                </a:solidFill>
                <a:latin typeface="Courier New" pitchFamily="34" charset="0"/>
                <a:ea typeface="Courier New" pitchFamily="34" charset="-122"/>
                <a:cs typeface="Courier New" pitchFamily="34" charset="-120"/>
              </a:rPr>
              <a:t>  .httpBasic(</a:t>
            </a:r>
            <a:r>
              <a:rPr lang="en-US" sz="930" dirty="0">
                <a:solidFill>
                  <a:srgbClr val="2D8000"/>
                </a:solidFill>
                <a:latin typeface="Courier New" pitchFamily="34" charset="0"/>
                <a:ea typeface="Courier New" pitchFamily="34" charset="-122"/>
                <a:cs typeface="Courier New" pitchFamily="34" charset="-120"/>
              </a:rPr>
              <a:t>Customizer</a:t>
            </a:r>
            <a:r>
              <a:rPr lang="en-US" sz="930" dirty="0">
                <a:solidFill>
                  <a:srgbClr val="383A42"/>
                </a:solidFill>
                <a:latin typeface="Courier New" pitchFamily="34" charset="0"/>
                <a:ea typeface="Courier New" pitchFamily="34" charset="-122"/>
                <a:cs typeface="Courier New" pitchFamily="34" charset="-120"/>
              </a:rPr>
              <a:t>.withDefaults());</a:t>
            </a:r>
            <a:endParaRPr lang="en-US" sz="930" dirty="0"/>
          </a:p>
        </p:txBody>
      </p:sp>
      <p:sp>
        <p:nvSpPr>
          <p:cNvPr id="9" name="Shape 7"/>
          <p:cNvSpPr/>
          <p:nvPr/>
        </p:nvSpPr>
        <p:spPr>
          <a:xfrm>
            <a:off x="5715000" y="1371600"/>
            <a:ext cx="2971800" cy="1737360"/>
          </a:xfrm>
          <a:prstGeom prst="roundRect">
            <a:avLst>
              <a:gd name="adj" fmla="val 4211"/>
            </a:avLst>
          </a:prstGeom>
          <a:solidFill>
            <a:srgbClr val="FBE9E7"/>
          </a:solidFill>
          <a:ln/>
          <a:effectLst>
            <a:outerShdw blurRad="88900" dist="38100" dir="5400000" algn="bl" rotWithShape="0">
              <a:srgbClr val="000000">
                <a:alpha val="16000"/>
              </a:srgbClr>
            </a:outerShdw>
          </a:effectLst>
        </p:spPr>
        <p:txBody>
          <a:bodyPr/>
          <a:lstStyle/>
          <a:p>
            <a:endParaRPr lang="es-ES"/>
          </a:p>
        </p:txBody>
      </p:sp>
      <p:sp>
        <p:nvSpPr>
          <p:cNvPr id="10" name="Text 8"/>
          <p:cNvSpPr/>
          <p:nvPr/>
        </p:nvSpPr>
        <p:spPr>
          <a:xfrm>
            <a:off x="5879592" y="1481328"/>
            <a:ext cx="2651760" cy="1508760"/>
          </a:xfrm>
          <a:prstGeom prst="rect">
            <a:avLst/>
          </a:prstGeom>
          <a:noFill/>
          <a:ln/>
        </p:spPr>
        <p:txBody>
          <a:bodyPr wrap="square" lIns="0" tIns="0" rIns="0" bIns="0" rtlCol="0" anchor="t"/>
          <a:lstStyle/>
          <a:p>
            <a:pPr marL="0" indent="0">
              <a:lnSpc>
                <a:spcPct val="105000"/>
              </a:lnSpc>
              <a:buNone/>
            </a:pPr>
            <a:r>
              <a:rPr lang="en-US" sz="1200" b="1" dirty="0">
                <a:solidFill>
                  <a:srgbClr val="B23A18"/>
                </a:solidFill>
                <a:latin typeface="Calibri" pitchFamily="34" charset="0"/>
                <a:ea typeface="Calibri" pitchFamily="34" charset="-122"/>
                <a:cs typeface="Calibri" pitchFamily="34" charset="-120"/>
              </a:rPr>
              <a:t>Ya no existe
</a:t>
            </a:r>
            <a:endParaRPr lang="en-US" sz="1200" dirty="0"/>
          </a:p>
          <a:p>
            <a:pPr marL="0" indent="0">
              <a:lnSpc>
                <a:spcPct val="105000"/>
              </a:lnSpc>
              <a:buNone/>
            </a:pPr>
            <a:r>
              <a:rPr lang="en-US" sz="1050" dirty="0">
                <a:solidFill>
                  <a:srgbClr val="5C6B62"/>
                </a:solidFill>
                <a:latin typeface="Calibri" pitchFamily="34" charset="0"/>
                <a:ea typeface="Calibri" pitchFamily="34" charset="-122"/>
                <a:cs typeface="Calibri" pitchFamily="34" charset="-120"/>
              </a:rPr>
              <a:t>WebSecurityConfigurerAdapter (fuera desde la v6).</a:t>
            </a:r>
            <a:endParaRPr lang="en-US" sz="1200" dirty="0"/>
          </a:p>
          <a:p>
            <a:pPr marL="0" indent="0">
              <a:lnSpc>
                <a:spcPct val="105000"/>
              </a:lnSpc>
              <a:buNone/>
            </a:pPr>
            <a:r>
              <a:rPr lang="en-US" sz="1050" dirty="0">
                <a:solidFill>
                  <a:srgbClr val="5C6B62"/>
                </a:solidFill>
                <a:latin typeface="Calibri" pitchFamily="34" charset="0"/>
                <a:ea typeface="Calibri" pitchFamily="34" charset="-122"/>
                <a:cs typeface="Calibri" pitchFamily="34" charset="-120"/>
              </a:rPr>
              <a:t>authorizeRequests(), and(), antMatchers().</a:t>
            </a:r>
            <a:endParaRPr lang="en-US" sz="1200" dirty="0"/>
          </a:p>
        </p:txBody>
      </p:sp>
      <p:sp>
        <p:nvSpPr>
          <p:cNvPr id="11" name="Shape 9"/>
          <p:cNvSpPr/>
          <p:nvPr/>
        </p:nvSpPr>
        <p:spPr>
          <a:xfrm>
            <a:off x="502920" y="3291840"/>
            <a:ext cx="365760" cy="36576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12" name="Image 0" descr="preencoded.png"/>
          <p:cNvPicPr>
            <a:picLocks noChangeAspect="1"/>
          </p:cNvPicPr>
          <p:nvPr/>
        </p:nvPicPr>
        <p:blipFill>
          <a:blip r:embed="rId3"/>
          <a:stretch>
            <a:fillRect/>
          </a:stretch>
        </p:blipFill>
        <p:spPr>
          <a:xfrm>
            <a:off x="598018" y="3386938"/>
            <a:ext cx="175565" cy="175565"/>
          </a:xfrm>
          <a:prstGeom prst="rect">
            <a:avLst/>
          </a:prstGeom>
        </p:spPr>
      </p:pic>
      <p:sp>
        <p:nvSpPr>
          <p:cNvPr id="13" name="Text 10"/>
          <p:cNvSpPr/>
          <p:nvPr/>
        </p:nvSpPr>
        <p:spPr>
          <a:xfrm>
            <a:off x="1005840" y="3246120"/>
            <a:ext cx="7680960" cy="457200"/>
          </a:xfrm>
          <a:prstGeom prst="rect">
            <a:avLst/>
          </a:prstGeom>
          <a:noFill/>
          <a:ln/>
        </p:spPr>
        <p:txBody>
          <a:bodyPr wrap="square" lIns="0" tIns="0" rIns="0" bIns="0" rtlCol="0" anchor="ctr"/>
          <a:lstStyle/>
          <a:p>
            <a:pPr marL="0" indent="0">
              <a:lnSpc>
                <a:spcPct val="100000"/>
              </a:lnSpc>
              <a:buNone/>
            </a:pPr>
            <a:r>
              <a:rPr lang="en-US" sz="1200" b="1" dirty="0">
                <a:solidFill>
                  <a:srgbClr val="006633"/>
                </a:solidFill>
                <a:latin typeface="Calibri" pitchFamily="34" charset="0"/>
                <a:ea typeface="Calibri" pitchFamily="34" charset="-122"/>
                <a:cs typeface="Calibri" pitchFamily="34" charset="-120"/>
              </a:rPr>
              <a:t>Configuracion por beans   </a:t>
            </a:r>
            <a:r>
              <a:rPr lang="en-US" sz="1100" dirty="0">
                <a:solidFill>
                  <a:srgbClr val="5C6B62"/>
                </a:solidFill>
                <a:latin typeface="Calibri" pitchFamily="34" charset="0"/>
                <a:ea typeface="Calibri" pitchFamily="34" charset="-122"/>
                <a:cs typeface="Calibri" pitchFamily="34" charset="-120"/>
              </a:rPr>
              <a:t>Defines un SecurityFilterChain como bean, no heredas de una clase base.</a:t>
            </a:r>
            <a:endParaRPr lang="en-US" sz="1200" dirty="0"/>
          </a:p>
        </p:txBody>
      </p:sp>
      <p:sp>
        <p:nvSpPr>
          <p:cNvPr id="14" name="Shape 11"/>
          <p:cNvSpPr/>
          <p:nvPr/>
        </p:nvSpPr>
        <p:spPr>
          <a:xfrm>
            <a:off x="502920" y="3749040"/>
            <a:ext cx="365760" cy="36576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15" name="Image 1" descr="preencoded.png"/>
          <p:cNvPicPr>
            <a:picLocks noChangeAspect="1"/>
          </p:cNvPicPr>
          <p:nvPr/>
        </p:nvPicPr>
        <p:blipFill>
          <a:blip r:embed="rId3"/>
          <a:stretch>
            <a:fillRect/>
          </a:stretch>
        </p:blipFill>
        <p:spPr>
          <a:xfrm>
            <a:off x="598018" y="3844138"/>
            <a:ext cx="175565" cy="175565"/>
          </a:xfrm>
          <a:prstGeom prst="rect">
            <a:avLst/>
          </a:prstGeom>
        </p:spPr>
      </p:pic>
      <p:sp>
        <p:nvSpPr>
          <p:cNvPr id="16" name="Text 12"/>
          <p:cNvSpPr/>
          <p:nvPr/>
        </p:nvSpPr>
        <p:spPr>
          <a:xfrm>
            <a:off x="1005840" y="3703320"/>
            <a:ext cx="7680960" cy="457200"/>
          </a:xfrm>
          <a:prstGeom prst="rect">
            <a:avLst/>
          </a:prstGeom>
          <a:noFill/>
          <a:ln/>
        </p:spPr>
        <p:txBody>
          <a:bodyPr wrap="square" lIns="0" tIns="0" rIns="0" bIns="0" rtlCol="0" anchor="ctr"/>
          <a:lstStyle/>
          <a:p>
            <a:pPr marL="0" indent="0">
              <a:lnSpc>
                <a:spcPct val="100000"/>
              </a:lnSpc>
              <a:buNone/>
            </a:pPr>
            <a:r>
              <a:rPr lang="en-US" sz="1200" b="1" dirty="0">
                <a:solidFill>
                  <a:srgbClr val="006633"/>
                </a:solidFill>
                <a:latin typeface="Calibri" pitchFamily="34" charset="0"/>
                <a:ea typeface="Calibri" pitchFamily="34" charset="-122"/>
                <a:cs typeface="Calibri" pitchFamily="34" charset="-120"/>
              </a:rPr>
              <a:t>DSL de lambdas obligatorio   </a:t>
            </a:r>
            <a:r>
              <a:rPr lang="en-US" sz="1100" dirty="0">
                <a:solidFill>
                  <a:srgbClr val="5C6B62"/>
                </a:solidFill>
                <a:latin typeface="Calibri" pitchFamily="34" charset="0"/>
                <a:ea typeface="Calibri" pitchFamily="34" charset="-122"/>
                <a:cs typeface="Calibri" pitchFamily="34" charset="-120"/>
              </a:rPr>
              <a:t>Cada apartado se configura con una lambda; desaparece el encadenado con and().</a:t>
            </a:r>
            <a:endParaRPr lang="en-US" sz="1200" dirty="0"/>
          </a:p>
        </p:txBody>
      </p:sp>
      <p:sp>
        <p:nvSpPr>
          <p:cNvPr id="17" name="Shape 13"/>
          <p:cNvSpPr/>
          <p:nvPr/>
        </p:nvSpPr>
        <p:spPr>
          <a:xfrm>
            <a:off x="502920" y="4206240"/>
            <a:ext cx="365760" cy="365760"/>
          </a:xfrm>
          <a:prstGeom prst="ellipse">
            <a:avLst/>
          </a:prstGeom>
          <a:solidFill>
            <a:srgbClr val="006633"/>
          </a:solidFill>
          <a:ln/>
          <a:effectLst>
            <a:outerShdw blurRad="88900" dist="38100" dir="5400000" algn="bl" rotWithShape="0">
              <a:srgbClr val="000000">
                <a:alpha val="16000"/>
              </a:srgbClr>
            </a:outerShdw>
          </a:effectLst>
        </p:spPr>
        <p:txBody>
          <a:bodyPr/>
          <a:lstStyle/>
          <a:p>
            <a:endParaRPr lang="es-ES"/>
          </a:p>
        </p:txBody>
      </p:sp>
      <p:pic>
        <p:nvPicPr>
          <p:cNvPr id="18" name="Image 2" descr="preencoded.png"/>
          <p:cNvPicPr>
            <a:picLocks noChangeAspect="1"/>
          </p:cNvPicPr>
          <p:nvPr/>
        </p:nvPicPr>
        <p:blipFill>
          <a:blip r:embed="rId3"/>
          <a:stretch>
            <a:fillRect/>
          </a:stretch>
        </p:blipFill>
        <p:spPr>
          <a:xfrm>
            <a:off x="598018" y="4301338"/>
            <a:ext cx="175565" cy="175565"/>
          </a:xfrm>
          <a:prstGeom prst="rect">
            <a:avLst/>
          </a:prstGeom>
        </p:spPr>
      </p:pic>
      <p:sp>
        <p:nvSpPr>
          <p:cNvPr id="19" name="Text 14"/>
          <p:cNvSpPr/>
          <p:nvPr/>
        </p:nvSpPr>
        <p:spPr>
          <a:xfrm>
            <a:off x="1005840" y="4160520"/>
            <a:ext cx="7680960" cy="457200"/>
          </a:xfrm>
          <a:prstGeom prst="rect">
            <a:avLst/>
          </a:prstGeom>
          <a:noFill/>
          <a:ln/>
        </p:spPr>
        <p:txBody>
          <a:bodyPr wrap="square" lIns="0" tIns="0" rIns="0" bIns="0" rtlCol="0" anchor="ctr"/>
          <a:lstStyle/>
          <a:p>
            <a:pPr marL="0" indent="0">
              <a:lnSpc>
                <a:spcPct val="100000"/>
              </a:lnSpc>
              <a:buNone/>
            </a:pPr>
            <a:r>
              <a:rPr lang="en-US" sz="1200" b="1" dirty="0">
                <a:solidFill>
                  <a:srgbClr val="006633"/>
                </a:solidFill>
                <a:latin typeface="Calibri" pitchFamily="34" charset="0"/>
                <a:ea typeface="Calibri" pitchFamily="34" charset="-122"/>
                <a:cs typeface="Calibri" pitchFamily="34" charset="-120"/>
              </a:rPr>
              <a:t>PathPattern por defecto   </a:t>
            </a:r>
            <a:r>
              <a:rPr lang="en-US" sz="1100" dirty="0">
                <a:solidFill>
                  <a:srgbClr val="5C6B62"/>
                </a:solidFill>
                <a:latin typeface="Calibri" pitchFamily="34" charset="0"/>
                <a:ea typeface="Calibri" pitchFamily="34" charset="-122"/>
                <a:cs typeface="Calibri" pitchFamily="34" charset="-120"/>
              </a:rPr>
              <a:t>requestMatchers usa coincidencia de rutas moderna; fuera antMatchers/mvcMatchers.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53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532A"/>
          </a:solidFill>
          <a:ln/>
        </p:spPr>
        <p:txBody>
          <a:bodyPr/>
          <a:lstStyle/>
          <a:p>
            <a:endParaRPr lang="es-ES"/>
          </a:p>
        </p:txBody>
      </p:sp>
      <p:sp>
        <p:nvSpPr>
          <p:cNvPr id="3" name="Shape 1"/>
          <p:cNvSpPr/>
          <p:nvPr/>
        </p:nvSpPr>
        <p:spPr>
          <a:xfrm>
            <a:off x="-1280160" y="2743200"/>
            <a:ext cx="3291840" cy="3291840"/>
          </a:xfrm>
          <a:prstGeom prst="ellipse">
            <a:avLst/>
          </a:prstGeom>
          <a:solidFill>
            <a:srgbClr val="003D1F"/>
          </a:solidFill>
          <a:ln/>
        </p:spPr>
        <p:txBody>
          <a:bodyPr/>
          <a:lstStyle/>
          <a:p>
            <a:endParaRPr lang="es-ES"/>
          </a:p>
        </p:txBody>
      </p:sp>
      <p:sp>
        <p:nvSpPr>
          <p:cNvPr id="4" name="Shape 2"/>
          <p:cNvSpPr/>
          <p:nvPr/>
        </p:nvSpPr>
        <p:spPr>
          <a:xfrm>
            <a:off x="7680960" y="-1097280"/>
            <a:ext cx="2926080" cy="2926080"/>
          </a:xfrm>
          <a:prstGeom prst="ellipse">
            <a:avLst/>
          </a:prstGeom>
          <a:solidFill>
            <a:srgbClr val="00622F"/>
          </a:solidFill>
          <a:ln/>
        </p:spPr>
        <p:txBody>
          <a:bodyPr/>
          <a:lstStyle/>
          <a:p>
            <a:endParaRPr lang="es-ES"/>
          </a:p>
        </p:txBody>
      </p:sp>
      <p:sp>
        <p:nvSpPr>
          <p:cNvPr id="5" name="Shape 3"/>
          <p:cNvSpPr/>
          <p:nvPr/>
        </p:nvSpPr>
        <p:spPr>
          <a:xfrm>
            <a:off x="566928" y="640080"/>
            <a:ext cx="777240" cy="777240"/>
          </a:xfrm>
          <a:prstGeom prst="ellipse">
            <a:avLst/>
          </a:prstGeom>
          <a:solidFill>
            <a:srgbClr val="CC9900"/>
          </a:solidFill>
          <a:ln/>
          <a:effectLst>
            <a:outerShdw blurRad="88900" dist="38100" dir="5400000" algn="bl" rotWithShape="0">
              <a:srgbClr val="000000">
                <a:alpha val="16000"/>
              </a:srgbClr>
            </a:outerShdw>
          </a:effectLst>
        </p:spPr>
        <p:txBody>
          <a:bodyPr/>
          <a:lstStyle/>
          <a:p>
            <a:endParaRPr lang="es-ES"/>
          </a:p>
        </p:txBody>
      </p:sp>
      <p:pic>
        <p:nvPicPr>
          <p:cNvPr id="6" name="Image 0" descr="preencoded.png"/>
          <p:cNvPicPr>
            <a:picLocks noChangeAspect="1"/>
          </p:cNvPicPr>
          <p:nvPr/>
        </p:nvPicPr>
        <p:blipFill>
          <a:blip r:embed="rId3"/>
          <a:stretch>
            <a:fillRect/>
          </a:stretch>
        </p:blipFill>
        <p:spPr>
          <a:xfrm>
            <a:off x="769010" y="842162"/>
            <a:ext cx="373075" cy="373075"/>
          </a:xfrm>
          <a:prstGeom prst="rect">
            <a:avLst/>
          </a:prstGeom>
        </p:spPr>
      </p:pic>
      <p:sp>
        <p:nvSpPr>
          <p:cNvPr id="7" name="Text 4"/>
          <p:cNvSpPr/>
          <p:nvPr/>
        </p:nvSpPr>
        <p:spPr>
          <a:xfrm>
            <a:off x="1554480" y="777240"/>
            <a:ext cx="6400800" cy="365760"/>
          </a:xfrm>
          <a:prstGeom prst="rect">
            <a:avLst/>
          </a:prstGeom>
          <a:noFill/>
          <a:ln/>
        </p:spPr>
        <p:txBody>
          <a:bodyPr wrap="square" lIns="0" tIns="0" rIns="0" bIns="0" rtlCol="0" anchor="ctr"/>
          <a:lstStyle/>
          <a:p>
            <a:pPr marL="0" indent="0">
              <a:buNone/>
            </a:pPr>
            <a:r>
              <a:rPr lang="en-US" sz="1400" b="1" kern="0" spc="400" dirty="0">
                <a:solidFill>
                  <a:srgbClr val="E8B923"/>
                </a:solidFill>
                <a:latin typeface="Calibri" pitchFamily="34" charset="0"/>
                <a:ea typeface="Calibri" pitchFamily="34" charset="-122"/>
                <a:cs typeface="Calibri" pitchFamily="34" charset="-120"/>
              </a:rPr>
              <a:t>DE LA TEORIA A LA PRACTICA</a:t>
            </a:r>
            <a:endParaRPr lang="en-US" sz="1400" dirty="0"/>
          </a:p>
        </p:txBody>
      </p:sp>
      <p:sp>
        <p:nvSpPr>
          <p:cNvPr id="8" name="Text 5"/>
          <p:cNvSpPr/>
          <p:nvPr/>
        </p:nvSpPr>
        <p:spPr>
          <a:xfrm>
            <a:off x="566928" y="1554480"/>
            <a:ext cx="804672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Ya tienes el mapa mental</a:t>
            </a:r>
            <a:endParaRPr lang="en-US" sz="3000" dirty="0"/>
          </a:p>
        </p:txBody>
      </p:sp>
      <p:sp>
        <p:nvSpPr>
          <p:cNvPr id="9" name="Text 6"/>
          <p:cNvSpPr/>
          <p:nvPr/>
        </p:nvSpPr>
        <p:spPr>
          <a:xfrm>
            <a:off x="566928" y="2377440"/>
            <a:ext cx="7863840" cy="822960"/>
          </a:xfrm>
          <a:prstGeom prst="rect">
            <a:avLst/>
          </a:prstGeom>
          <a:noFill/>
          <a:ln/>
        </p:spPr>
        <p:txBody>
          <a:bodyPr wrap="square" lIns="0" tIns="0" rIns="0" bIns="0" rtlCol="0" anchor="ctr"/>
          <a:lstStyle/>
          <a:p>
            <a:pPr marL="0" indent="0">
              <a:lnSpc>
                <a:spcPct val="105000"/>
              </a:lnSpc>
              <a:buNone/>
            </a:pPr>
            <a:r>
              <a:rPr lang="en-US" sz="1500" dirty="0">
                <a:solidFill>
                  <a:srgbClr val="CFE3D6"/>
                </a:solidFill>
                <a:latin typeface="Calibri" pitchFamily="34" charset="0"/>
                <a:ea typeface="Calibri" pitchFamily="34" charset="-122"/>
                <a:cs typeface="Calibri" pitchFamily="34" charset="-120"/>
              </a:rPr>
              <a:t>Cadena de filtros, contexto de seguridad, proveedores, UserDetails, codificacion de contrasenas, autorizacion por roles y la eleccion sin estado. </a:t>
            </a:r>
            <a:r>
              <a:rPr lang="en-US" sz="1500" b="1" dirty="0">
                <a:solidFill>
                  <a:srgbClr val="E8B923"/>
                </a:solidFill>
                <a:latin typeface="Calibri" pitchFamily="34" charset="0"/>
                <a:ea typeface="Calibri" pitchFamily="34" charset="-122"/>
                <a:cs typeface="Calibri" pitchFamily="34" charset="-120"/>
              </a:rPr>
              <a:t>Cada pieza reaparecera como codigo.</a:t>
            </a:r>
            <a:endParaRPr lang="en-US" sz="1500" dirty="0"/>
          </a:p>
        </p:txBody>
      </p:sp>
      <p:sp>
        <p:nvSpPr>
          <p:cNvPr id="10" name="Text 7"/>
          <p:cNvSpPr/>
          <p:nvPr/>
        </p:nvSpPr>
        <p:spPr>
          <a:xfrm>
            <a:off x="566928" y="3337560"/>
            <a:ext cx="786384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 que sigue:  </a:t>
            </a:r>
            <a:r>
              <a:rPr lang="en-US" sz="1400" dirty="0">
                <a:solidFill>
                  <a:srgbClr val="CFE3D6"/>
                </a:solidFill>
                <a:latin typeface="Calibri" pitchFamily="34" charset="0"/>
                <a:ea typeface="Calibri" pitchFamily="34" charset="-122"/>
                <a:cs typeface="Calibri" pitchFamily="34" charset="-120"/>
              </a:rPr>
              <a:t>la practica con Spring Security y JWT sobre el proyecto appweb-api.</a:t>
            </a:r>
            <a:endParaRPr lang="en-US" sz="1400" dirty="0"/>
          </a:p>
        </p:txBody>
      </p:sp>
      <p:sp>
        <p:nvSpPr>
          <p:cNvPr id="11" name="Text 8"/>
          <p:cNvSpPr/>
          <p:nvPr/>
        </p:nvSpPr>
        <p:spPr>
          <a:xfrm>
            <a:off x="566928" y="4069080"/>
            <a:ext cx="5486400" cy="548640"/>
          </a:xfrm>
          <a:prstGeom prst="rect">
            <a:avLst/>
          </a:prstGeom>
          <a:noFill/>
          <a:ln/>
        </p:spPr>
        <p:txBody>
          <a:bodyPr wrap="square" lIns="0" tIns="0" rIns="0" bIns="0" rtlCol="0" anchor="ctr"/>
          <a:lstStyle/>
          <a:p>
            <a:pPr marL="0" indent="0">
              <a:buNone/>
            </a:pPr>
            <a:r>
              <a:rPr lang="en-US" sz="2400" b="1" dirty="0">
                <a:solidFill>
                  <a:srgbClr val="E8B923"/>
                </a:solidFill>
                <a:latin typeface="Cambria" pitchFamily="34" charset="0"/>
                <a:ea typeface="Cambria" pitchFamily="34" charset="-122"/>
                <a:cs typeface="Cambria" pitchFamily="34" charset="-120"/>
              </a:rPr>
              <a:t>Gracias</a:t>
            </a:r>
            <a:endParaRPr lang="en-US" sz="2400" dirty="0"/>
          </a:p>
        </p:txBody>
      </p:sp>
      <p:sp>
        <p:nvSpPr>
          <p:cNvPr id="12" name="Text 9"/>
          <p:cNvSpPr/>
          <p:nvPr/>
        </p:nvSpPr>
        <p:spPr>
          <a:xfrm>
            <a:off x="566928" y="4645152"/>
            <a:ext cx="7863840" cy="274320"/>
          </a:xfrm>
          <a:prstGeom prst="rect">
            <a:avLst/>
          </a:prstGeom>
          <a:noFill/>
          <a:ln/>
        </p:spPr>
        <p:txBody>
          <a:bodyPr wrap="square" lIns="0" tIns="0" rIns="0" bIns="0" rtlCol="0" anchor="ctr"/>
          <a:lstStyle/>
          <a:p>
            <a:pPr marL="0" indent="0">
              <a:buNone/>
            </a:pPr>
            <a:r>
              <a:rPr lang="en-US" sz="1050" dirty="0">
                <a:solidFill>
                  <a:srgbClr val="9DBBA8"/>
                </a:solidFill>
                <a:latin typeface="Calibri" pitchFamily="34" charset="0"/>
                <a:ea typeface="Calibri" pitchFamily="34" charset="-122"/>
                <a:cs typeface="Calibri" pitchFamily="34" charset="-120"/>
              </a:rPr>
              <a:t>UTEQ · Aplicaciones Web · Dr. Gleiston Guerrero Ulloa, Ph.D.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5086</Words>
  <Application>Microsoft Office PowerPoint</Application>
  <PresentationFormat>Presentación en pantalla (16:9)</PresentationFormat>
  <Paragraphs>251</Paragraphs>
  <Slides>18</Slides>
  <Notes>18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II — Spring Security: Fundamentos (Teoria)</dc:title>
  <dc:subject>PptxGenJS Presentation</dc:subject>
  <dc:creator>Dr. Gleiston Guerrero Ulloa, Ph.D. — UTEQ</dc:creator>
  <cp:lastModifiedBy>GLEISTON CICERÓN GUERRERO ULLOA</cp:lastModifiedBy>
  <cp:revision>1</cp:revision>
  <dcterms:created xsi:type="dcterms:W3CDTF">2026-06-21T22:59:10Z</dcterms:created>
  <dcterms:modified xsi:type="dcterms:W3CDTF">2026-06-22T13:51:44Z</dcterms:modified>
</cp:coreProperties>
</file>