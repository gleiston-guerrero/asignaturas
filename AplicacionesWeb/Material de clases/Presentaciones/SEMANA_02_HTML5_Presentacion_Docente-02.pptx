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1" r:id="rId6"/>
    <p:sldId id="275" r:id="rId7"/>
    <p:sldId id="262" r:id="rId8"/>
    <p:sldId id="276" r:id="rId9"/>
    <p:sldId id="277" r:id="rId10"/>
    <p:sldId id="269" r:id="rId11"/>
    <p:sldId id="260" r:id="rId12"/>
    <p:sldId id="278" r:id="rId13"/>
    <p:sldId id="279" r:id="rId14"/>
    <p:sldId id="270" r:id="rId15"/>
    <p:sldId id="280" r:id="rId16"/>
    <p:sldId id="271" r:id="rId17"/>
    <p:sldId id="272" r:id="rId18"/>
    <p:sldId id="274" r:id="rId19"/>
    <p:sldId id="273" r:id="rId20"/>
    <p:sldId id="263" r:id="rId21"/>
    <p:sldId id="264" r:id="rId22"/>
    <p:sldId id="281" r:id="rId23"/>
    <p:sldId id="265" r:id="rId24"/>
    <p:sldId id="266" r:id="rId25"/>
    <p:sldId id="282" r:id="rId26"/>
    <p:sldId id="267" r:id="rId27"/>
    <p:sldId id="283" r:id="rId28"/>
    <p:sldId id="268"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34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Leer al inicio de clase:
"Bienvenidos a la clase de la Práctica Experimental de la Unidad I de la asignatura Aplicaciones Web. En esta sesión vamos a cubrir todo lo que necesitan conocer para construir el frontend de su Proyecto Fin de Curso, al que de ahora en adelante llamaremos PFC.
El PFC es el Proyecto Fin de Curso: el sistema completo que el equipo desarrollará durante todo el semestre, integrando frontend, backend y base de datos.
Hoy cubriremos cinco grandes temas: primero, qué es una aplicación web y cómo funciona el protocolo HTTP; segundo, cómo estructurar el HTML5 de manera semántica y accesible; tercero, cómo diseñar con CSS3 usando Grid y Flexbox con enfoque responsivo mobile-first; cuarto, cómo agregar interactividad con JavaScript ES6 modular y consumo de APIs; y quinto, cómo auditar la calidad del frontend con las herramientas Lighthouse y WAVE.
Al final de la clase, cada equipo tendrá el código base del frontend del PFC funcionando en el navegador.
Acrónimos de esta presentación:
- PFC: Proyecto Fin de Curso
- HTML: HyperText Markup Language — Lenguaje de Marcado de HiperTexto
- CSS: Cascading Style Sheets — Hojas de Estilo en Cascada
- JS: JavaScript
- ES6: ECMAScript 2015, la versión 6 del estándar de JavaScript
- API: Application Programming Interface — Interfaz de Programación de Aplicaciones
- HTTP: HyperText Transfer Protocol — Protocolo de Transferencia de HiperTexto
- URL: Uniform Resource Locator — Localizador Uniforme de Recursos
- DOM: Document Object Model — Modelo de Objeto del Documento
- W3C: World Wide Web Consortium — organismo que define los estándares web
- WCAG: Web Content Accessibility Guidelines — Directrices de Accesibilidad del Contenido Web
- UTEQ: Universidad Técnica Estatal de Quevedo"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TIPOS DE APLICACIÓN — Leer:
"Antes de escribir una sola línea de código, debemos entender qué tipo de aplicación vamos a construir, porque esa decisión determina toda la arquitectura del proyecto.
Las aplicaciones web estáticas son las más simples: el servidor solo entrega archivos HTML, CSS y JavaScript tal como están almacenados. No hay procesamiento en el servidor. Son ideales para sitios de presentación, portfolios y documentación.
Las aplicaciones dinámicas con SSR, que significa Server-Side Rendering o Renderizado en el Servidor, generan el HTML en cada petición. El servidor recibe la solicitud, consulta la base de datos, construye el HTML y lo envía al navegador. Laravel con Blade o PHP con plantillas son ejemplos clásicos.
Las SPA, que significa Single Page Application o Aplicación de Página Única, representan el paradigma moderno. Se carga un único archivo HTML base, y JavaScript se encarga de actualizar el contenido sin recargar la página. Esto da una experiencia fluida similar a una aplicación de escritorio. Angular, React y Vue son los frameworks más usados para esto.
Las PWA, o Progressive Web Apps, son SPAs con capacidades adicionales: se pueden instalar en el dispositivo, funcionan offline usando un Service Worker, y tienen un archivo manifest.json que define el ícono y el nombre de la app.
Los microservicios son una arquitectura donde el frontend consume múltiples backends independientes, cada uno con su propia lógica y base de datos.
El JAMstack combina JavaScript, APIs y Markup pregenerado: el HTML se genera una sola vez en el proceso de build, y en runtime solo hay llamadas a APIs. Muy rápido, muy seguro.
Ahora, para el ejercicio: ¿qué tipo es Instagram? Es una SPA. ¿La página de la UTEQ? Probablemente SSR o estática. ¿Su PFC? Dado que usamos Angular como frontend que consume una API REST de Spring Boot, nuestro PFC es una SPA."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CICLO DE VIDA HTTP — Leer:
"Para entender cómo funciona cualquier aplicación web, necesitamos entender el protocolo HTTP, que significa HyperText Transfer Protocol o Protocolo de Transferencia de HiperTexto.
Cuando un usuario escribe una URL en el navegador, ocurren 6 pasos. Primero, el navegador necesita saber la dirección IP del servidor, entonces consulta el DNS, que es el Domain Name System o Sistema de Nombres de Dominio, una especie de agenda telefónica de internet que convierte nombres como ejemplo.com en direcciones IP como 203.0.113.5.
Segundo, si la URL usa HTTPS, se negocia el cifrado TLS. TLS significa Transport Layer Security o Seguridad de la Capa de Transporte. Esto garantiza que la comunicación está cifrada y no puede ser interceptada.
Tercero, el navegador envía la solicitud HTTP al servidor. Esta solicitud tiene un método, una URL, cabeceras y opcionalmente un cuerpo.
Los métodos HTTP más importantes son: GET para leer datos sin modificarlos; POST para crear un nuevo recurso; PUT para reemplazar un recurso completo; PATCH para actualizar solo algunos campos; y DELETE para eliminar. Cuando decimos que un método es idempotente, significa que llamarlo múltiples veces produce el mismo resultado que llamarlo una sola vez.
Cuarto, el servidor procesa la solicitud. En nuestro caso, Spring Boot recibe la solicitud, ejecuta la lógica de negocio y consulta PostgreSQL.
Quinto, el servidor envía la respuesta HTTP. La respuesta siempre incluye un código de estado. Los más importantes: 200 significa éxito; 201 significa que se creó un recurso nuevo; 401 significa que el usuario no está autenticado; 403 significa que está autenticado pero no tiene permiso; 404 significa que el recurso no existe; y 500 indica un error en el servidor."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HTML5 SEMÁNTICO — Leer:
"En el lado izquierdo vemos cómo se escribía HTML antes de HTML5: todo con etiquetas div y atributos id o class descriptivos. El navegador entiende esto, pero los lectores de pantalla, los buscadores como Google y las herramientas de accesibilidad no pueden distinguir qué parte es el encabezado, qué parte es la navegación y qué parte es el contenido principal.
En el lado derecho vemos el mismo diseño con HTML5 semántico. Cada etiqueta tiene un significado específico.
La etiqueta header con el atributo role='banner' marca el encabezado principal de la página. Solo debe haber uno por página.
La etiqueta nav marca la navegación. El atributo aria-label es un atributo ARIA, que significa Accessible Rich Internet Applications. Estos atributos agregan información de accesibilidad que los lectores de pantalla anuncian en voz alta.
La etiqueta main marca el contenido principal. Debe ser única en la página y es donde los lectores de pantalla llevan a los usuarios cuando presionan la tecla de acceso directo.
La etiqueta article se usa para contenido autónomo que tiene sentido por sí solo, como un artículo de blog o una tarjeta de producto.
La etiqueta section agrupa contenido temáticamente relacionado y debe tener un heading, es decir, un h2, h3, etc.
La etiqueta aside es para contenido relacionado pero secundario, como una barra lateral.
La etiqueta footer marca el pie de página. El atributo role='contentinfo' le dice a los lectores de pantalla que este es el pie de página de la página principal.
¿Por qué importa todo esto? Tres razones: primero, los buscadores como Google usan la semántica para indexar mejor el contenido; segundo, los lectores de pantalla usan la estructura para que personas con discapacidad visual puedan navegar; y tercero, el código es más fácil de mantener porque la estructura es más clara."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WCAG 2.1 Y ARIA — Leer:
"La accesibilidad web no es opcional: es un requisito legal en Ecuador a través de la Ley Orgánica de Discapacidades, y es un criterio de calidad medido directamente por Lighthouse.
La WCAG, que significa Web Content Accessibility Guidelines o Directrices de Accesibilidad para el Contenido Web, organiza todos sus criterios en cuatro principios que forman el acrónimo POUR.
P de Perceptible: toda la información debe estar disponible de múltiples formas. El ejemplo más claro es el atributo alt en las imágenes: si una persona usa un lector de pantalla, el alt es lo único que escucha. Si la imagen no tiene alt, el lector de pantalla anuncia la ruta del archivo, lo que no aporta nada.
O de Operable: todos los controles deben funcionar con el teclado, no solo con el ratón. Muchas personas con discapacidades motoras navegan exclusivamente con el teclado usando la tecla Tab. Los skip links, que son los enlaces de salto como 'Ir al contenido principal', permiten a estos usuarios saltarse la navegación repetitiva.
U de Comprensible: el idioma de la página debe declararse con el atributo lang en la etiqueta html. Si no se declara, el lector de pantalla usa el idioma por defecto del sistema, y podría pronunciar el español con fonología inglesa.
R de Robusto: el HTML debe ser válido y semántico para que las tecnologías de asistencia puedan interpretarlo. HTML inválido puede comportarse de forma impredecible en lectores de pantalla.
Los atributos ARIA, que significa Accessible Rich Internet Applications, añaden información semántica adicional. Los más importantes: aria-label describe el propósito de un elemento; aria-live='polite' le dice al lector de pantalla que anuncie cuando cambia el contenido de ese elemento, ideal para indicadores de carga o mensajes de error; aria-pressed indica el estado de un botón toggle; aria-describedby asocia un mensaje de error a un campo de formulario.
Para el ejercicio: para un menú de navegación accesible usaríamos aria-label='Navegación principal' en la etiqueta nav. Y sobre la segunda pregunta: el ARIA mal aplicado puede ser peor que no tener ARIA, porque puede confundir a los lectores de pantalla con información incorrecta."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81383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WCAG 2.1 Y ARIA — Leer:
"La accesibilidad web no es opcional: es un requisito legal en Ecuador a través de la Ley Orgánica de Discapacidades, y es un criterio de calidad medido directamente por Lighthouse.
La WCAG, que significa Web Content Accessibility Guidelines o Directrices de Accesibilidad para el Contenido Web, organiza todos sus criterios en cuatro principios que forman el acrónimo POUR.
P de Perceptible: toda la información debe estar disponible de múltiples formas. El ejemplo más claro es el atributo alt en las imágenes: si una persona usa un lector de pantalla, el alt es lo único que escucha. Si la imagen no tiene alt, el lector de pantalla anuncia la ruta del archivo, lo que no aporta nada.
O de Operable: todos los controles deben funcionar con el teclado, no solo con el ratón. Muchas personas con discapacidades motoras navegan exclusivamente con el teclado usando la tecla Tab. Los skip links, que son los enlaces de salto como 'Ir al contenido principal', permiten a estos usuarios saltarse la navegación repetitiva.
U de Comprensible: el idioma de la página debe declararse con el atributo lang en la etiqueta html. Si no se declara, el lector de pantalla usa el idioma por defecto del sistema, y podría pronunciar el español con fonología inglesa.
R de Robusto: el HTML debe ser válido y semántico para que las tecnologías de asistencia puedan interpretarlo. HTML inválido puede comportarse de forma impredecible en lectores de pantalla.
Los atributos ARIA, que significa Accessible Rich Internet Applications, añaden información semántica adicional. Los más importantes: aria-label describe el propósito de un elemento; aria-live='polite' le dice al lector de pantalla que anuncie cuando cambia el contenido de ese elemento, ideal para indicadores de carga o mensajes de error; aria-pressed indica el estado de un botón toggle; aria-describedby asocia un mensaje de error a un campo de formulario.
Para el ejercicio: para un menú de navegación accesible usaríamos aria-label='Navegación principal' en la etiqueta nav. Y sobre la segunda pregunta: el ARIA mal aplicado puede ser peor que no tener ARIA, porque puede confundir a los lectores de pantalla con información incorrecta."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52727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FORMULARIOS HTML5 — Leer:
"Los formularios son el elemento de interacción más importante de cualquier aplicación web. HTML5 introdujo más de 20 tipos de input que antes requerían JavaScript personalizado.
El tipo text es el genérico para texto libre. Se puede validar con minlength para el mínimo de caracteres, maxlength para el máximo, y pattern para una expresión regular.
El tipo email valida automáticamente que el texto tenga el formato nombre arroba dominio punto extensión. El tipo password oculta los caracteres que escribe el usuario.
El tipo number solo acepta números y muestra flechas de incremento en el navegador de escritorio. En móvil, activa el teclado numérico. El tipo date muestra un selector de fecha nativo del sistema operativo.
El tipo tel no valida automáticamente el formato del teléfono, porque los formatos varían por país. Su ventaja principal es que en dispositivos móviles activa el teclado numérico en lugar del teclado de texto completo, lo que mejora la experiencia del usuario.
El tipo range muestra un deslizador. Es útil para valoraciones o configuraciones de intensidad.
El tipo file permite subir archivos. El atributo accept limita qué tipos de archivo se pueden seleccionar.
Checkbox y radio son para selecciones. Siempre deben estar dentro de un fieldset con legend para ser accesibles.
La parte crítica del código que ven en el lado derecho es la estructura de un campo accesible completo. Hay cuatro elementos: el label con el atributo for igual al id del input, el input con el atributo aria-describedby apuntando al id del span de error, y el span de error con role='alert' y aria-live='assertive'. 
El role='alert' hace que el lector de pantalla anuncie el contenido del span cuando cambia. El aria-live='assertive' hace que lo anuncie inmediatamente, interrumpiendo lo que estaba diciendo.
Las cuatro reglas de oro son: primero, todo input debe tener un label asociado; segundo, los errores deben estar vinculados con aria-describedby; tercero, el elemento que muestra el error debe tener role='alert'; y cuarto, nunca indicar un error solo con color rojo, porque los usuarios con daltonismo no lo percibirán."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93676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FORMULARIOS HTML5 — Leer:
"Los formularios son el elemento de interacción más importante de cualquier aplicación web. HTML5 introdujo más de 20 tipos de input que antes requerían JavaScript personalizado.
El tipo text es el genérico para texto libre. Se puede validar con minlength para el mínimo de caracteres, maxlength para el máximo, y pattern para una expresión regular.
El tipo email valida automáticamente que el texto tenga el formato nombre arroba dominio punto extensión. El tipo password oculta los caracteres que escribe el usuario.
El tipo number solo acepta números y muestra flechas de incremento en el navegador de escritorio. En móvil, activa el teclado numérico. El tipo date muestra un selector de fecha nativo del sistema operativo.
El tipo tel no valida automáticamente el formato del teléfono, porque los formatos varían por país. Su ventaja principal es que en dispositivos móviles activa el teclado numérico en lugar del teclado de texto completo, lo que mejora la experiencia del usuario.
El tipo range muestra un deslizador. Es útil para valoraciones o configuraciones de intensidad.
El tipo file permite subir archivos. El atributo accept limita qué tipos de archivo se pueden seleccionar.
Checkbox y radio son para selecciones. Siempre deben estar dentro de un fieldset con legend para ser accesibles.
La parte crítica del código que ven en el lado derecho es la estructura de un campo accesible completo. Hay cuatro elementos: el label con el atributo for igual al id del input, el input con el atributo aria-describedby apuntando al id del span de error, y el span de error con role='alert' y aria-live='assertive'. 
El role='alert' hace que el lector de pantalla anuncie el contenido del span cuando cambia. El aria-live='assertive' hace que lo anuncie inmediatamente, interrumpiendo lo que estaba diciendo.
Las cuatro reglas de oro son: primero, todo input debe tener un label asociado; segundo, los errores deben estar vinculados con aria-describedby; tercero, el elemento que muestra el error debe tener role='alert'; y cuarto, nunca indicar un error solo con color rojo, porque los usuarios con daltonismo no lo percibirán."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28737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FORMULARIOS HTML5 — Leer:
"Los formularios son el elemento de interacción más importante de cualquier aplicación web. HTML5 introdujo más de 20 tipos de input que antes requerían JavaScript personalizado.
El tipo text es el genérico para texto libre. Se puede validar con minlength para el mínimo de caracteres, maxlength para el máximo, y pattern para una expresión regular.
El tipo email valida automáticamente que el texto tenga el formato nombre arroba dominio punto extensión. El tipo password oculta los caracteres que escribe el usuario.
El tipo number solo acepta números y muestra flechas de incremento en el navegador de escritorio. En móvil, activa el teclado numérico. El tipo date muestra un selector de fecha nativo del sistema operativo.
El tipo tel no valida automáticamente el formato del teléfono, porque los formatos varían por país. Su ventaja principal es que en dispositivos móviles activa el teclado numérico en lugar del teclado de texto completo, lo que mejora la experiencia del usuario.
El tipo range muestra un deslizador. Es útil para valoraciones o configuraciones de intensidad.
El tipo file permite subir archivos. El atributo accept limita qué tipos de archivo se pueden seleccionar.
Checkbox y radio son para selecciones. Siempre deben estar dentro de un fieldset con legend para ser accesibles.
La parte crítica del código que ven en el lado derecho es la estructura de un campo accesible completo. Hay cuatro elementos: el label con el atributo for igual al id del input, el input con el atributo aria-describedby apuntando al id del span de error, y el span de error con role='alert' y aria-live='assertive'. 
El role='alert' hace que el lector de pantalla anuncie el contenido del span cuando cambia. El aria-live='assertive' hace que lo anuncie inmediatamente, interrumpiendo lo que estaba diciendo.
Las cuatro reglas de oro son: primero, todo input debe tener un label asociado; segundo, los errores deben estar vinculados con aria-describedby; tercero, el elemento que muestra el error debe tener role='alert'; y cuarto, nunca indicar un error solo con color rojo, porque los usuarios con daltonismo no lo percibirán."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1520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A — COMO FUNCIONA CSS — Leer:
"Antes de escribir propiedades CSS, necesitamos entender tres conceptos fundamentales que determinan QUE estilo se aplica cuando hay conflictos.
El primero es la CASCADA. CSS significa Cascading Style Sheets, Hojas de Estilo en Cascada. La cascada es el algoritmo que el navegador usa para resolver conflictos cuando dos o mas reglas apuntan al mismo elemento. El navegador evalua tres factores en este orden: primero el origen de la regla (los estilos del desarrollador tienen prioridad sobre los del navegador); segundo la especificidad (que veremos en un momento); y tercero el orden en el codigo (si dos reglas tienen la misma especificidad, la ultima declarada gana).
El segundo concepto es la ESPECIFICIDAD. Cada selector CSS tiene un peso numerico que se calcula con tres contadores: A cuenta los selectores de ID (el simbolo numeral); B cuenta los selectores de clase (el punto), los selectores de atributo (los corchetes) y las pseudo-clases (como hover o focus); y C cuenta los selectores de etiqueta (como p, div, h1) y los pseudo-elementos (como before, after).
Por ejemplo, el selector #nav .link a tiene especificidad (1, 1, 1) porque tiene un ID, una clase y una etiqueta. El selector .menu a tiene especificidad (0, 1, 1). Como (1,1,1) es mayor que (0,1,1), el primer selector gana.
El tercer concepto es la HERENCIA. Algunas propiedades CSS se heredan automaticamente de padres a hijos: las propiedades de texto como color, font-size, font-family y line-height SI se heredan. Esto significa que si se define color en el body, todos los parrafos, encabezados y enlaces dentro del body heredan ese color automaticamente.
Las propiedades de caja como margin, padding, border, background y display NO se heredan. Si un padre tiene padding de 2rem, sus hijos no reciben ese padding automaticamente.
La palabra clave !important hace que una regla gane sobre todas las demas, sin importar la especificidad. Pero es considerada mala practica porque rompe la cascada natural. Si se necesita !important para que un estilo funcione, eso indica un problema en la arquitectura del CSS.
Acronimos:
- CSS: Cascading Style Sheets — Hojas de Estilo en Cascada"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6447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4b — PROPIEDADES CSS ESENCIALES — Leer:
"Antes de pasar a Grid y Flexbox en detalle, vamos a repasar las propiedades CSS que utilizarán con mayor frecuencia durante el desarrollo del PFC. Esta diapositiva es una referencia que pueden consultar durante la práctica.
Las propiedades están agrupadas por categoría. Empezamos con las propiedades de layout.
La propiedad display define cómo se comporta un elemento en el flujo del documento. El valor block hace que el elemento ocupe toda la línea; inline lo coloca junto al contenido anterior; flex activa el modelo Flexbox en el contenedor; grid activa CSS Grid; y none oculta completamente el elemento eliminándolo del flujo, es decir, otros elementos ocupan su espacio.
La propiedad position define el flujo de posicionamiento. El valor static es el predeterminado: el elemento sigue el flujo normal. Con relative el elemento puede desplazarse desde su posición original usando top, right, bottom y left, pero sigue ocupando su espacio en el flujo. Con absolute el elemento sale del flujo y se posiciona relativo a su ancestro posicionado más cercano. Con fixed el elemento se fija relativo al viewport, es decir, no se mueve al hacer scroll. Con sticky el elemento se comporta como relative hasta que llega a un umbral de scroll, momento en que se fija como fixed.
El z-index controla el orden de apilamiento cuando los elementos se superponen. Un valor mayor significa que está encima. Solo funciona en elementos con position distinto de static.
Para Flexbox, las propiedades más importantes son: justify-content que alinea los elementos a lo largo del eje principal, que por defecto es el horizontal; align-items que alinea los elementos en el eje perpendicular; flex que es una propiedad abreviada que combina flex-grow, flex-shrink y flex-basis; y gap que define el espacio entre los elementos hijos.
Para CSS Grid, grid-template-columns define el número y tamaño de las columnas. La unidad fr significa fracción del espacio disponible. grid-template-areas permite nombrar las zonas del grid visualmente en el código. grid-column permite que un elemento ocupe múltiples columnas.
Para el box model: margin es el espacio exterior del elemento; el truco margin: 0 auto centra un bloque horizontalmente. padding es el espacio interior. border-radius redondea las esquinas.
Para tipografía: font-size con clamp crea tamaños fluidos. font-weight 400 es normal, 600 es semibold y 700 es bold. line-height sin unidad es relativo al font-size: un valor de 1.6 significa que el interlineado es 1.6 veces el tamaño de la fuente.
La propiedad transition anima cambios de valores CSS de forma suave. Por ejemplo, transition: transform 0.3s ease hace que cualquier cambio en la propiedad transform se anime durante 300 milisegundos.
La propiedad transform aplica transformaciones geométricas: translateY mueve en el eje vertical, rotate gira el elemento, scale lo escala.
Para los ejemplos del lado inferior: el primer ejemplo muestra una tarjeta que usa varias propiedades combinadas: display flex para organizar su contenido en columna, gap para espacio entre los hijos, border-radius para esquinas redondeadas, box-shadow para la sombra, y transition para animar la elevación al pasar el ratón.
El segundo ejemplo muestra un layout de página completo con Grid de dos columnas, margin cero auto para centrar, y tipografía fluida con clamp.
Acrónimos de esta diapositiva:
- CSS: Cascading Style Sheets — Hojas de Estilo en Cascada
- PFC: Proyecto Fin de Curso
- fr: fraction unit — unidad de fracción del espacio disponible en CSS Grid
- vw: viewport width — porcentaje del ancho del área visible del navegador
- rem: root em — unidad relativa al tamaño de fuente del elemento raíz (html)
- px: pixels — píxeles
- rgba: red, green, blue, alpha — función de color con transparencia
- var(): función CSS para usar variables (custom properties)"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4b — PROPIEDADES CSS ESENCIALES — Leer:
"Antes de pasar a Grid y Flexbox en detalle, vamos a repasar las propiedades CSS que utilizarán con mayor frecuencia durante el desarrollo del PFC. Esta diapositiva es una referencia que pueden consultar durante la práctica.
Las propiedades están agrupadas por categoría. Empezamos con las propiedades de layout.
La propiedad display define cómo se comporta un elemento en el flujo del documento. El valor block hace que el elemento ocupe toda la línea; inline lo coloca junto al contenido anterior; flex activa el modelo Flexbox en el contenedor; grid activa CSS Grid; y none oculta completamente el elemento eliminándolo del flujo, es decir, otros elementos ocupan su espacio.
La propiedad position define el flujo de posicionamiento. El valor static es el predeterminado: el elemento sigue el flujo normal. Con relative el elemento puede desplazarse desde su posición original usando top, right, bottom y left, pero sigue ocupando su espacio en el flujo. Con absolute el elemento sale del flujo y se posiciona relativo a su ancestro posicionado más cercano. Con fixed el elemento se fija relativo al viewport, es decir, no se mueve al hacer scroll. Con sticky el elemento se comporta como relative hasta que llega a un umbral de scroll, momento en que se fija como fixed.
El z-index controla el orden de apilamiento cuando los elementos se superponen. Un valor mayor significa que está encima. Solo funciona en elementos con position distinto de static.
Para Flexbox, las propiedades más importantes son: justify-content que alinea los elementos a lo largo del eje principal, que por defecto es el horizontal; align-items que alinea los elementos en el eje perpendicular; flex que es una propiedad abreviada que combina flex-grow, flex-shrink y flex-basis; y gap que define el espacio entre los elementos hijos.
Para CSS Grid, grid-template-columns define el número y tamaño de las columnas. La unidad fr significa fracción del espacio disponible. grid-template-areas permite nombrar las zonas del grid visualmente en el código. grid-column permite que un elemento ocupe múltiples columnas.
Para el box model: margin es el espacio exterior del elemento; el truco margin: 0 auto centra un bloque horizontalmente. padding es el espacio interior. border-radius redondea las esquinas.
Para tipografía: font-size con clamp crea tamaños fluidos. font-weight 400 es normal, 600 es semibold y 700 es bold. line-height sin unidad es relativo al font-size: un valor de 1.6 significa que el interlineado es 1.6 veces el tamaño de la fuente.
La propiedad transition anima cambios de valores CSS de forma suave. Por ejemplo, transition: transform 0.3s ease hace que cualquier cambio en la propiedad transform se anime durante 300 milisegundos.
La propiedad transform aplica transformaciones geométricas: translateY mueve en el eje vertical, rotate gira el elemento, scale lo escala.
Para los ejemplos del lado inferior: el primer ejemplo muestra una tarjeta que usa varias propiedades combinadas: display flex para organizar su contenido en columna, gap para espacio entre los hijos, border-radius para esquinas redondeadas, box-shadow para la sombra, y transition para animar la elevación al pasar el ratón.
El segundo ejemplo muestra un layout de página completo con Grid de dos columnas, margin cero auto para centrar, y tipografía fluida con clamp.
Acrónimos de esta diapositiva:
- CSS: Cascading Style Sheets — Hojas de Estilo en Cascada
- PFC: Proyecto Fin de Curso
- fr: fraction unit — unidad de fracción del espacio disponible en CSS Grid
- vw: viewport width — porcentaje del ancho del área visible del navegador
- rem: root em — unidad relativa al tamaño de fuente del elemento raíz (html)
- px: pixels — píxeles
- rgba: red, green, blue, alpha — función de color con transparencia
- var(): función CSS para usar variables (custom properties)"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03018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4b — PROPIEDADES CSS ESENCIALES — Leer:
"Antes de pasar a Grid y Flexbox en detalle, vamos a repasar las propiedades CSS que utilizarán con mayor frecuencia durante el desarrollo del PFC. Esta diapositiva es una referencia que pueden consultar durante la práctica.
Las propiedades están agrupadas por categoría. Empezamos con las propiedades de layout.
La propiedad display define cómo se comporta un elemento en el flujo del documento. El valor block hace que el elemento ocupe toda la línea; inline lo coloca junto al contenido anterior; flex activa el modelo Flexbox en el contenedor; grid activa CSS Grid; y none oculta completamente el elemento eliminándolo del flujo, es decir, otros elementos ocupan su espacio.
La propiedad position define el flujo de posicionamiento. El valor static es el predeterminado: el elemento sigue el flujo normal. Con relative el elemento puede desplazarse desde su posición original usando top, right, bottom y left, pero sigue ocupando su espacio en el flujo. Con absolute el elemento sale del flujo y se posiciona relativo a su ancestro posicionado más cercano. Con fixed el elemento se fija relativo al viewport, es decir, no se mueve al hacer scroll. Con sticky el elemento se comporta como relative hasta que llega a un umbral de scroll, momento en que se fija como fixed.
El z-index controla el orden de apilamiento cuando los elementos se superponen. Un valor mayor significa que está encima. Solo funciona en elementos con position distinto de static.
Para Flexbox, las propiedades más importantes son: justify-content que alinea los elementos a lo largo del eje principal, que por defecto es el horizontal; align-items que alinea los elementos en el eje perpendicular; flex que es una propiedad abreviada que combina flex-grow, flex-shrink y flex-basis; y gap que define el espacio entre los elementos hijos.
Para CSS Grid, grid-template-columns define el número y tamaño de las columnas. La unidad fr significa fracción del espacio disponible. grid-template-areas permite nombrar las zonas del grid visualmente en el código. grid-column permite que un elemento ocupe múltiples columnas.
Para el box model: margin es el espacio exterior del elemento; el truco margin: 0 auto centra un bloque horizontalmente. padding es el espacio interior. border-radius redondea las esquinas.
Para tipografía: font-size con clamp crea tamaños fluidos. font-weight 400 es normal, 600 es semibold y 700 es bold. line-height sin unidad es relativo al font-size: un valor de 1.6 significa que el interlineado es 1.6 veces el tamaño de la fuente.
La propiedad transition anima cambios de valores CSS de forma suave. Por ejemplo, transition: transform 0.3s ease hace que cualquier cambio en la propiedad transform se anime durante 300 milisegundos.
La propiedad transform aplica transformaciones geométricas: translateY mueve en el eje vertical, rotate gira el elemento, scale lo escala.
Para los ejemplos del lado inferior: el primer ejemplo muestra una tarjeta que usa varias propiedades combinadas: display flex para organizar su contenido en columna, gap para espacio entre los hijos, border-radius para esquinas redondeadas, box-shadow para la sombra, y transition para animar la elevación al pasar el ratón.
El segundo ejemplo muestra un layout de página completo con Grid de dos columnas, margin cero auto para centrar, y tipografía fluida con clamp.
Acrónimos de esta diapositiva:
- CSS: Cascading Style Sheets — Hojas de Estilo en Cascada
- PFC: Proyecto Fin de Curso
- fr: fraction unit — unidad de fracción del espacio disponible en CSS Grid
- vw: viewport width — porcentaje del ancho del área visible del navegador
- rem: root em — unidad relativa al tamaño de fuente del elemento raíz (html)
- px: pixels — píxeles
- rgba: red, green, blue, alpha — función de color con transparencia
- var(): función CSS para usar variables (custom properties)"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89478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B — SHORTHAND Y VALORES MULTIPLES — Leer:
"Las propiedades shorthand, o abreviadas, permiten escribir varias propiedades CSS en una sola linea. Esto reduce el codigo y mejora la legibilidad, pero hay que conocer el orden de los valores.
La regla mas importante es el ORDEN DEL RELOJ para margin y padding. Cuando se dan 4 valores, el orden es: arriba, derecha, abajo, izquierda. Es decir, empieza arriba y gira en el sentido del reloj. Asi, margin: 1rem 2rem 0.5rem 0 significa: 1rem arriba, 2rem a la derecha, 0.5rem abajo, y 0 a la izquierda.
Si se dan solo 2 valores, el primero es vertical (arriba y abajo) y el segundo es horizontal (derecha e izquierda). Asi, margin: 1rem 2rem significa 1rem arriba y abajo, 2rem a los lados.
Si se da un solo valor, se aplica a los 4 lados. Y el truco mas util: margin: 0 auto centra un bloque horizontalmente, porque auto en los lados distribuye el espacio sobrante por igual.
La propiedad border se escribe con tres valores en orden: ancho, estilo y color. Asi, border: 2px solid #dee2e6 significa 2 pixeles de grosor, linea solida, y color gris claro.
La propiedad background es la mas flexible. En su forma simple, background: #f8f9fa aplica solo el color. En su forma completa, puede incluir imagen, posicion, tamano y repeticion. Por ejemplo, background: url(bg.jpg) center/cover no-repeat pone una imagen de fondo centrada que cubre todo el contenedor sin repetirse.
La propiedad flex es critica para el PFC. flex: 1 significa que el elemento crece para llenar el espacio disponible. flex: 1 1 260px significa que crece, se puede encoger, pero su tamano base minimo es 260 pixeles. flex: 0 0 auto, o su equivalente flex: none, significa que el elemento no crece ni se encoge y mantiene su tamano natural.
La propiedad transition toma cuatro valores: la propiedad a animar, la duracion, la funcion de temporizado (ease, linear, ease-in-out), y opcionalmente un retardo. transition: all 300ms ease anima todas las propiedades que cambien durante 300 milisegundos con una curva suave.
Para la propiedad animation, se indica el nombre del @keyframes, la duracion, la curva de temporizado, y el modo de relleno. both significa que mantiene tanto el estado inicial como el final de la animacion. infinite significa que se repite indefinidamente.
Para el ejercicio: margin-top:1rem; margin-right:2rem; margin-bottom:1rem; margin-left:2rem se convierte en margin: 1rem 2rem porque el valor vertical (arriba y abajo) es 1rem, y el horizontal (derecha e izquierda) es 2rem."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B — SHORTHAND Y VALORES MULTIPLES — Leer:
"Las propiedades shorthand, o abreviadas, permiten escribir varias propiedades CSS en una sola linea. Esto reduce el codigo y mejora la legibilidad, pero hay que conocer el orden de los valores.
La regla mas importante es el ORDEN DEL RELOJ para margin y padding. Cuando se dan 4 valores, el orden es: arriba, derecha, abajo, izquierda. Es decir, empieza arriba y gira en el sentido del reloj. Asi, margin: 1rem 2rem 0.5rem 0 significa: 1rem arriba, 2rem a la derecha, 0.5rem abajo, y 0 a la izquierda.
Si se dan solo 2 valores, el primero es vertical (arriba y abajo) y el segundo es horizontal (derecha e izquierda). Asi, margin: 1rem 2rem significa 1rem arriba y abajo, 2rem a los lados.
Si se da un solo valor, se aplica a los 4 lados. Y el truco mas util: margin: 0 auto centra un bloque horizontalmente, porque auto en los lados distribuye el espacio sobrante por igual.
La propiedad border se escribe con tres valores en orden: ancho, estilo y color. Asi, border: 2px solid #dee2e6 significa 2 pixeles de grosor, linea solida, y color gris claro.
La propiedad background es la mas flexible. En su forma simple, background: #f8f9fa aplica solo el color. En su forma completa, puede incluir imagen, posicion, tamano y repeticion. Por ejemplo, background: url(bg.jpg) center/cover no-repeat pone una imagen de fondo centrada que cubre todo el contenedor sin repetirse.
La propiedad flex es critica para el PFC. flex: 1 significa que el elemento crece para llenar el espacio disponible. flex: 1 1 260px significa que crece, se puede encoger, pero su tamano base minimo es 260 pixeles. flex: 0 0 auto, o su equivalente flex: none, significa que el elemento no crece ni se encoge y mantiene su tamano natural.
La propiedad transition toma cuatro valores: la propiedad a animar, la duracion, la funcion de temporizado (ease, linear, ease-in-out), y opcionalmente un retardo. transition: all 300ms ease anima todas las propiedades que cambien durante 300 milisegundos con una curva suave.
Para la propiedad animation, se indica el nombre del @keyframes, la duracion, la curva de temporizado, y el modo de relleno. both significa que mantiene tanto el estado inicial como el final de la animacion. infinite significa que se repite indefinidamente.
Para el ejercicio: margin-top:1rem; margin-right:2rem; margin-bottom:1rem; margin-left:2rem se convierte en margin: 1rem 2rem porque el valor vertical (arriba y abajo) es 1rem, y el horizontal (derecha e izquierda) es 2rem."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8479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C — PROPIEDADES DE LAYOUT Y CAJA — Leer:
"Esta tabla es una referencia rapida de las propiedades CSS de layout y modelo de caja que usaran en el PFC. Repasen cada fila con atencion.
display define como se comporta un elemento. block ocupa toda la linea (como un div o un parrafo). inline se coloca junto al texto (como un span o un enlace). flex activa el modelo Flexbox para distribuir hijos en un eje. grid activa CSS Grid para organizar hijos en filas y columnas. none oculta el elemento completamente, como si no existiera en la pagina.
position controla como se posiciona un elemento. static es el valor por defecto: el elemento sigue el flujo normal del documento. relative permite desplazar el elemento desde su posicion original sin sacarlo del flujo. absolute saca el elemento del flujo y lo posiciona relativo a su ancestro posicionado mas cercano. fixed lo fija relativo a la ventana del navegador: no se mueve al hacer scroll. sticky es una combinacion: se comporta como relative hasta que el usuario hace scroll a cierto punto, momento en que se convierte en fixed.
Para Flexbox: justify-content controla la distribucion en el eje principal. space-between pone el primer hijo al inicio y el ultimo al final, con espacio igual entre ellos. space-evenly distribuye el espacio de forma identica entre y alrededor de todos los hijos. align-items controla el eje perpendicular: stretch estira los hijos para que llenen todo el alto; center los centra verticalmente.
flex como propiedad shorthand tiene tres valores: flex-grow (cuanto crece), flex-shrink (cuanto se encoge) y flex-basis (tamano base). flex: 1 1 260px significa: crece si hay espacio, se encoge si falta, pero nunca mide menos de 260px.
gap es el espacio entre los hijos de un contenedor flex o grid. Es mas limpio que usar margin en cada hijo porque no crea espacio extra en los bordes.
margin: 0 auto es el truco mas util para centrar un bloque horizontalmente: cero arriba y abajo, auto a los lados distribuye el espacio sobrante por igual.
border-radius: 50% convierte un cuadrado en circulo, util para avatares.
overflow: hidden oculta lo que desborda del contenedor; auto muestra barras de scroll solo si hace falta."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 — TEXTO, VISUAL, ANIMACION + EJEMPLOS — Leer:
"Esta tabla cubre las propiedades de texto, apariencia visual y animacion.
font-size define el tamano del texto. La mejor practica moderna es usar la funcion clamp() para tipografia fluida. clamp toma tres argumentos: el minimo, el valor preferido y el maximo. clamp(1rem, 2vw, 1.5rem) significa: nunca menos de 1rem, idealmente el 2 por ciento del ancho del viewport, y nunca mas de 1.5rem. Esto elimina la necesidad de cambiar el font-size en media queries.
font-weight: 400 es el grosor normal, 600 es semibold y 700 es bold. En Google Fonts, asegurense de cargar los pesos que van a usar.
line-height sin unidad es relativo al font-size. Un valor de 1.6 significa que cada linea mide 1.6 veces el tamano de la fuente. Para texto de parrafo, 1.5 a 1.6 es lo recomendado. Para encabezados, 1.1 a 1.3.
transition anima los cambios de CSS de forma suave. Si un boton cambia de color al hacer hover, transition: background 200ms ease hace que el cambio tome 200 milisegundos con una curva suave, en lugar de ser un cambio brusco. Se puede animar cualquier propiedad que tenga valores intermedios: colores, tamanos, posiciones, opacidad.
transform aplica transformaciones geometricas SIN afectar el flujo del documento. translateY(-4px) mueve el elemento 4 pixeles hacia arriba; scale(1.05) lo hace un 5 por ciento mas grande; rotate(45deg) lo gira 45 grados. La combinacion de transform con transition es lo que crea el efecto de elevacion al pasar el raton sobre una tarjeta.
animation conecta un elemento con una secuencia @keyframes. La animacion aparecer que usamos en el PFC tiene 4 parametros: el nombre del keyframe, la duracion (0.4 segundos), la curva de temporizado (ease), y el modo de relleno (both, que mantiene el estado final). Si se agrega infinite, la animacion se repite indefinidamente.
En los ejemplos de codigo pueden ver como todas estas propiedades se combinan en la practica. La tarjeta de la izquierda usa display flex para organizar su contenido, padding y border-radius para la forma, box-shadow para la sombra, y transition + transform para el efecto de elevacion. El layout de la derecha usa Grid para las dos columnas, margin 0 auto para centrar, y clamp para la tipografia fluida del h1.
Acronimos:
- vw: viewport width — porcentaje del ancho del area visible del navegador
- rem: root em — unidad relativa al font-size del elemento html
- rgba: red, green, blue, alpha — funcion de color con canal de transparencia"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 — TEXTO, VISUAL, ANIMACION + EJEMPLOS — Leer:
"Esta tabla cubre las propiedades de texto, apariencia visual y animacion.
font-size define el tamano del texto. La mejor practica moderna es usar la funcion clamp() para tipografia fluida. clamp toma tres argumentos: el minimo, el valor preferido y el maximo. clamp(1rem, 2vw, 1.5rem) significa: nunca menos de 1rem, idealmente el 2 por ciento del ancho del viewport, y nunca mas de 1.5rem. Esto elimina la necesidad de cambiar el font-size en media queries.
font-weight: 400 es el grosor normal, 600 es semibold y 700 es bold. En Google Fonts, asegurense de cargar los pesos que van a usar.
line-height sin unidad es relativo al font-size. Un valor de 1.6 significa que cada linea mide 1.6 veces el tamano de la fuente. Para texto de parrafo, 1.5 a 1.6 es lo recomendado. Para encabezados, 1.1 a 1.3.
transition anima los cambios de CSS de forma suave. Si un boton cambia de color al hacer hover, transition: background 200ms ease hace que el cambio tome 200 milisegundos con una curva suave, en lugar de ser un cambio brusco. Se puede animar cualquier propiedad que tenga valores intermedios: colores, tamanos, posiciones, opacidad.
transform aplica transformaciones geometricas SIN afectar el flujo del documento. translateY(-4px) mueve el elemento 4 pixeles hacia arriba; scale(1.05) lo hace un 5 por ciento mas grande; rotate(45deg) lo gira 45 grados. La combinacion de transform con transition es lo que crea el efecto de elevacion al pasar el raton sobre una tarjeta.
animation conecta un elemento con una secuencia @keyframes. La animacion aparecer que usamos en el PFC tiene 4 parametros: el nombre del keyframe, la duracion (0.4 segundos), la curva de temporizado (ease), y el modo de relleno (both, que mantiene el estado final). Si se agrega infinite, la animacion se repite indefinidamente.
En los ejemplos de codigo pueden ver como todas estas propiedades se combinan en la practica. La tarjeta de la izquierda usa display flex para organizar su contenido, padding y border-radius para la forma, box-shadow para la sombra, y transition + transform para el efecto de elevacion. El layout de la derecha usa Grid para las dos columnas, margin 0 auto para centrar, y clamp para la tipografia fluida del h1.
Acronimos:
- vw: viewport width — porcentaje del ancho del area visible del navegador
- rem: root em — unidad relativa al font-size del elemento html
- rgba: red, green, blue, alpha — funcion de color con canal de transparencia"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87158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 — TEXTO, VISUAL, ANIMACION + EJEMPLOS — Leer:
"Esta tabla cubre las propiedades de texto, apariencia visual y animacion.
font-size define el tamano del texto. La mejor practica moderna es usar la funcion clamp() para tipografia fluida. clamp toma tres argumentos: el minimo, el valor preferido y el maximo. clamp(1rem, 2vw, 1.5rem) significa: nunca menos de 1rem, idealmente el 2 por ciento del ancho del viewport, y nunca mas de 1.5rem. Esto elimina la necesidad de cambiar el font-size en media queries.
font-weight: 400 es el grosor normal, 600 es semibold y 700 es bold. En Google Fonts, asegurense de cargar los pesos que van a usar.
line-height sin unidad es relativo al font-size. Un valor de 1.6 significa que cada linea mide 1.6 veces el tamano de la fuente. Para texto de parrafo, 1.5 a 1.6 es lo recomendado. Para encabezados, 1.1 a 1.3.
transition anima los cambios de CSS de forma suave. Si un boton cambia de color al hacer hover, transition: background 200ms ease hace que el cambio tome 200 milisegundos con una curva suave, en lugar de ser un cambio brusco. Se puede animar cualquier propiedad que tenga valores intermedios: colores, tamanos, posiciones, opacidad.
transform aplica transformaciones geometricas SIN afectar el flujo del documento. translateY(-4px) mueve el elemento 4 pixeles hacia arriba; scale(1.05) lo hace un 5 por ciento mas grande; rotate(45deg) lo gira 45 grados. La combinacion de transform con transition es lo que crea el efecto de elevacion al pasar el raton sobre una tarjeta.
animation conecta un elemento con una secuencia @keyframes. La animacion aparecer que usamos en el PFC tiene 4 parametros: el nombre del keyframe, la duracion (0.4 segundos), la curva de temporizado (ease), y el modo de relleno (both, que mantiene el estado final). Si se agrega infinite, la animacion se repite indefinidamente.
En los ejemplos de codigo pueden ver como todas estas propiedades se combinan en la practica. La tarjeta de la izquierda usa display flex para organizar su contenido, padding y border-radius para la forma, box-shadow para la sombra, y transition + transform para el efecto de elevacion. El layout de la derecha usa Grid para las dos columnas, margin 0 auto para centrar, y clamp para la tipografia fluida del h1.
Acronimos:
- vw: viewport width — porcentaje del ancho del area visible del navegador
- rem: root em — unidad relativa al font-size del elemento html
- rgba: red, green, blue, alpha — funcion de color con canal de transparencia"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1700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CSS GRID Y FLEXBOX — Leer:
"CSS3 introdujo dos sistemas de layout que resolvieron problemas que antes requerían hacks con float o tablas. Es fundamental entender cuándo usar cada uno.
CSS Grid es un sistema de dos dimensiones: define simultáneamente filas y columnas. Es la herramienta correcta para el layout general de la página. En el ejemplo de la izquierda vemos cómo definir un layout de dos columnas con Grid: la propiedad display grid activa el modo Grid; grid-template-columns define las columnas, donde 1fr significa una fracción del espacio disponible y 280px es el ancho fijo del aside; y grid-template-areas permite nombrar las áreas del grid de forma visual en el código.
Flexbox es un sistema de una dimensión: distribuye elementos en un eje, ya sea horizontal o vertical. Es la herramienta correcta para organizar componentes dentro de una sección. En el ejemplo de la derecha, el contenedor con display flex y flex-wrap wrap organiza las tarjetas en filas. La propiedad flex del hijo significa: factor de crecimiento 1, factor de contracción 1, y tamaño base de 260 píxeles. Esto hace que cada tarjeta crezca para llenar el espacio disponible, pero nunca sea menor de 260 píxeles.
La regla de decisión es: usar Grid cuando el layout importa más que el contenido, es decir, cuando quieres controlar exactamente dónde va cada elemento en una cuadrícula de filas y columnas; usar Flexbox cuando el contenido importa más que el layout, es decir, cuando quieres que los elementos se distribuyan naturalmente.
El enfoque mobile-first significa que el CSS base, sin media queries, es el diseño para pantallas pequeñas. Luego se agregan media queries con min-width para ampliar el diseño en pantallas más grandes. Esto es más limpio que el enfoque desktop-first, porque el CSS base es el más restrictivo y las media queries solo agregan propiedades."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VARIABLES CSS Y MODO OSCURO — Leer:
"Las Custom Properties de CSS, también llamadas variables CSS, son una de las mejoras más importantes de CSS moderno. Se declaran en el selector :root, que equivale al elemento html y garantiza que las variables estén disponibles en todo el documento.
La sintaxis es doble guión seguido del nombre, por ejemplo --color-primario. Para usar la variable en cualquier parte del CSS, se escribe var(--color-primario). Esto permite cambiar toda la paleta de colores de la aplicación modificando únicamente las declaraciones en :root.
La función clamp es extraordinariamente útil para tipografía fluida. Toma tres argumentos: el valor mínimo, el valor preferido, y el valor máximo. clamp de 1rem, 2vw, 1.125rem significa que el tamaño del texto nunca será menor de 1rem en pantallas muy pequeñas, tratará de ser el 2% del ancho del viewport en pantallas medianas, y nunca superará 1.125rem en pantallas muy grandes. Esto elimina la necesidad de definir el tamaño de la fuente en media queries.
La media query prefers-color-scheme detecta si el sistema operativo del usuario tiene configurado el tema oscuro. Es la forma correcta de implementar el modo oscuro automático sin JavaScript. Si el usuario tiene el modo oscuro activo en su sistema, la aplicación se mostrará en modo oscuro automáticamente.
La combinación que vemos en el código permite dos comportamientos: si el sistema tiene modo oscuro y el usuario no ha cambiado nada, el sitio se muestra oscuro; si el usuario presiona el botón de modo claro, se agrega el atributo data-tema='claro' al html, y el selector :not([data-tema='claro']) excluye ese caso, manteniendo el modo claro aunque el sistema sea oscuro.
El aviso de prefers-reduced-motion es muy importante. Hay usuarios que experimentan mareo, náuseas o convulsiones con animaciones. Esta media query detecta si el usuario solicitó reducir el movimiento en su sistema operativo, y debemos desactivar todas las animaciones CSS cuando está activa."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VARIABLES CSS Y MODO OSCURO — Leer:
"Las Custom Properties de CSS, también llamadas variables CSS, son una de las mejoras más importantes de CSS moderno. Se declaran en el selector :root, que equivale al elemento html y garantiza que las variables estén disponibles en todo el documento.
La sintaxis es doble guión seguido del nombre, por ejemplo --color-primario. Para usar la variable en cualquier parte del CSS, se escribe var(--color-primario). Esto permite cambiar toda la paleta de colores de la aplicación modificando únicamente las declaraciones en :root.
La función clamp es extraordinariamente útil para tipografía fluida. Toma tres argumentos: el valor mínimo, el valor preferido, y el valor máximo. clamp de 1rem, 2vw, 1.125rem significa que el tamaño del texto nunca será menor de 1rem en pantallas muy pequeñas, tratará de ser el 2% del ancho del viewport en pantallas medianas, y nunca superará 1.125rem en pantallas muy grandes. Esto elimina la necesidad de definir el tamaño de la fuente en media queries.
La media query prefers-color-scheme detecta si el sistema operativo del usuario tiene configurado el tema oscuro. Es la forma correcta de implementar el modo oscuro automático sin JavaScript. Si el usuario tiene el modo oscuro activo en su sistema, la aplicación se mostrará en modo oscuro automáticamente.
La combinación que vemos en el código permite dos comportamientos: si el sistema tiene modo oscuro y el usuario no ha cambiado nada, el sitio se muestra oscuro; si el usuario presiona el botón de modo claro, se agrega el atributo data-tema='claro' al html, y el selector :not([data-tema='claro']) excluye ese caso, manteniendo el modo claro aunque el sistema sea oscuro.
El aviso de prefers-reduced-motion es muy importante. Hay usuarios que experimentan mareo, náuseas o convulsiones con animaciones. Esta media query detecta si el usuario solicitó reducir el movimiento en su sistema operativo, y debemos desactivar todas las animaciones CSS cuando está activa."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625670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MÓDULOS ES6 — Leer:
"JavaScript ES6, que corresponde a ECMAScript 2015, introdujo el sistema de módulos nativo del lenguaje. Antes, todo el código JavaScript de un proyecto estaba en un solo archivo o se usaban patrones complicados como IIFE, que significa Immediately Invoked Function Expression, para evitar que las variables contaminaran el espacio global.
Con ES6, cada archivo es un módulo con su propio ámbito. Las funciones, variables y clases de un módulo son privadas por defecto. Para hacerlas accesibles desde otro archivo, se usa la palabra clave export. Para usarlas en otro archivo, se usa import.
La arquitectura de módulos que usamos en el PFC divide el código en cuatro archivos. El archivo app.js es el orquestador: es el único que tiene la etiqueta script type='module' en el HTML, y desde él se importan y coordinan los otros módulos. Los archivos api.js, ui.js y helpers.js son módulos especializados con una única responsabilidad.
api.js maneja toda la comunicación con el servidor: fetch, manejo de errores HTTP, y devolución de los datos. Nunca toca el DOM.
ui.js maneja toda la manipulación del DOM: renderizar tarjetas, mostrar mensajes de carga, actualizar elementos de la interfaz. Nunca habla con el servidor.
helpers.js contiene funciones utilitarias que no pertenecen ni a la capa de datos ni a la capa de presentación, como escapeHTML para prevenir ataques XSS.
Esta separación tiene tres ventajas: primero, es más fácil encontrar un bug porque se sabe en qué módulo buscar; segundo, es más fácil de testear porque cada función tiene una responsabilidad clara; y tercero, múltiples integrantes del equipo pueden trabajar en módulos diferentes sin conflictos.
Para el ejercicio: si pusiéramos todo en app.js, el archivo crecería hasta miles de líneas, sería imposible de mantener, y dos integrantes del equipo no podrían trabajar simultáneamente en el mismo archivo sin conflictos de Git."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ASYNC/AWAIT Y FETCH — Leer:
"JavaScript es single-threaded, lo que significa que ejecuta una sola tarea a la vez en un único hilo de ejecución. Esto implica que si hacemos una petición al servidor de forma síncrona, es decir, esperando la respuesta antes de continuar, toda la interfaz se congelaría hasta recibir la respuesta. El usuario no podría hacer clic en nada, el scroll no funcionaría, nada.
Para resolver esto, JavaScript usa el Event Loop, que es el bucle de eventos. Las operaciones lentas como fetch se delegan a las Web APIs del navegador. Cuando terminan, su resultado se coloca en la cola de callbacks y el Event Loop lo procesa cuando el hilo principal está libre. Esto permite que la interfaz siga respondiendo mientras se espera la respuesta del servidor.
async/await es azúcar sintáctica sobre las Promesas. La palabra async antes de una función indica que devuelve una Promesa. La palabra await antes de una expresión pausa la ejecución de la función async hasta que la Promesa se resuelva, sin bloquear el hilo principal.
Comparando los dos enfoques: con .then(), el código se vuelve difícil de leer cuando hay múltiples operaciones asíncronas encadenadas, lo que se conoce como callback hell. Con async/await, el mismo código parece síncrono y es mucho más fácil de leer y depurar.
El patrón completo de consumo de API tiene tres bloques. El bloque try ejecuta el código que puede fallar. Primero llamamos a mostrarCarga() para actualizar la interfaz con un indicador de carga accesible. Luego hacemos la petición con await. Si tiene éxito, renderizamos los datos. El bloque catch captura cualquier error, ya sea de red o de HTTP, y lo muestra en la interfaz con un mensaje accesible. El bloque finally se ejecuta siempre, tanto si hubo éxito como si hubo error, y es donde llamamos a ocultarCarga().
Los cuatro estados que toda interfaz debe manejar son: cargando, cuando se espera la respuesta; éxito, cuando los datos llegan correctamente; error, cuando algo falla; y vacío, cuando la petición tiene éxito pero el servidor devuelve una lista vacía."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ASYNC/AWAIT Y FETCH — Leer:
"JavaScript es single-threaded, lo que significa que ejecuta una sola tarea a la vez en un único hilo de ejecución. Esto implica que si hacemos una petición al servidor de forma síncrona, es decir, esperando la respuesta antes de continuar, toda la interfaz se congelaría hasta recibir la respuesta. El usuario no podría hacer clic en nada, el scroll no funcionaría, nada.
Para resolver esto, JavaScript usa el Event Loop, que es el bucle de eventos. Las operaciones lentas como fetch se delegan a las Web APIs del navegador. Cuando terminan, su resultado se coloca en la cola de callbacks y el Event Loop lo procesa cuando el hilo principal está libre. Esto permite que la interfaz siga respondiendo mientras se espera la respuesta del servidor.
async/await es azúcar sintáctica sobre las Promesas. La palabra async antes de una función indica que devuelve una Promesa. La palabra await antes de una expresión pausa la ejecución de la función async hasta que la Promesa se resuelva, sin bloquear el hilo principal.
Comparando los dos enfoques: con .then(), el código se vuelve difícil de leer cuando hay múltiples operaciones asíncronas encadenadas, lo que se conoce como callback hell. Con async/await, el mismo código parece síncrono y es mucho más fácil de leer y depurar.
El patrón completo de consumo de API tiene tres bloques. El bloque try ejecuta el código que puede fallar. Primero llamamos a mostrarCarga() para actualizar la interfaz con un indicador de carga accesible. Luego hacemos la petición con await. Si tiene éxito, renderizamos los datos. El bloque catch captura cualquier error, ya sea de red o de HTTP, y lo muestra en la interfaz con un mensaje accesible. El bloque finally se ejecuta siempre, tanto si hubo éxito como si hubo error, y es donde llamamos a ocultarCarga().
Los cuatro estados que toda interfaz debe manejar son: cargando, cuando se espera la respuesta; éxito, cuando los datos llegan correctamente; error, cuando algo falla; y vacío, cuando la petición tiene éxito pero el servidor devuelve una lista vacía."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317939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LIGHTHOUSE Y WAVE — Leer:
"La etapa final de la práctica experimental es la auditoría de calidad. Vamos a usar tres herramientas: Lighthouse, WAVE y el validador W3C.
Lighthouse es una herramienta integrada en Chrome DevTools. Para acceder, se presiona F12 para abrir las herramientas de desarrollador, se va a la pestaña Lighthouse, se seleccionan las categorías a auditar y se hace clic en Analyze page load.
Las cuatro categorías son: Performance, que mide la velocidad de carga usando métricas como LCP que significa Largest Contentful Paint o Renderizado del Contenido Más Grande, FID que es First Input Delay o Retraso en la Primera Interacción, y CLS que es Cumulative Layout Shift o Desplazamiento Acumulado del Layout. La meta es un score mayor o igual a 70.
Accessibility mide el cumplimiento de WCAG 2.1. Es la categoría más importante para esta práctica. La meta es un score mayor o igual a 90.
Best Practices verifica que el sitio use HTTPS, que no haya errores en la consola, y que no se usen bibliotecas con vulnerabilidades conocidas.
SEO verifica que haya metadatos correctos, que el viewport esté declarado, y que el contenido sea indexable por los buscadores.
La tabla muestra los errores de accesibilidad más frecuentes que Lighthouse detecta en proyectos de estudiantes. El error más común es las imágenes sin atributo alt. El segundo más común es los inputs sin label asociado. El tercero es el contraste insuficiente entre el color del texto y el fondo.
Para verificar el contraste, se puede usar la herramienta en línea de WebAIM en webaim.org/resources/contrastchecker. El ratio mínimo para texto normal es 4.5:1 en el nivel AA de WCAG. Para texto grande, mayor de 18 puntos, el mínimo es 3:1.
WAVE es una extensión del navegador que superpone iconos visuales sobre la página mostrando los errores de accesibilidad directamente en el contexto de los elementos afectados. Los iconos rojos son errores que deben corregirse. Los iconos amarillos son alertas que deben revisarse.
Para el ejercicio: deben abrir Lighthouse, capturar el score inicial, corregir todos los errores de accesibilidad usando la tabla de esta diapositiva, y volver a analizar hasta obtener un score mayor o igual a 90."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LIGHTHOUSE Y WAVE — Leer:
"La etapa final de la práctica experimental es la auditoría de calidad. Vamos a usar tres herramientas: Lighthouse, WAVE y el validador W3C.
Lighthouse es una herramienta integrada en Chrome DevTools. Para acceder, se presiona F12 para abrir las herramientas de desarrollador, se va a la pestaña Lighthouse, se seleccionan las categorías a auditar y se hace clic en Analyze page load.
Las cuatro categorías son: Performance, que mide la velocidad de carga usando métricas como LCP que significa Largest Contentful Paint o Renderizado del Contenido Más Grande, FID que es First Input Delay o Retraso en la Primera Interacción, y CLS que es Cumulative Layout Shift o Desplazamiento Acumulado del Layout. La meta es un score mayor o igual a 70.
Accessibility mide el cumplimiento de WCAG 2.1. Es la categoría más importante para esta práctica. La meta es un score mayor o igual a 90.
Best Practices verifica que el sitio use HTTPS, que no haya errores en la consola, y que no se usen bibliotecas con vulnerabilidades conocidas.
SEO verifica que haya metadatos correctos, que el viewport esté declarado, y que el contenido sea indexable por los buscadores.
La tabla muestra los errores de accesibilidad más frecuentes que Lighthouse detecta en proyectos de estudiantes. El error más común es las imágenes sin atributo alt. El segundo más común es los inputs sin label asociado. El tercero es el contraste insuficiente entre el color del texto y el fondo.
Para verificar el contraste, se puede usar la herramienta en línea de WebAIM en webaim.org/resources/contrastchecker. El ratio mínimo para texto normal es 4.5:1 en el nivel AA de WCAG. Para texto grande, mayor de 18 puntos, el mínimo es 3:1.
WAVE es una extensión del navegador que superpone iconos visuales sobre la página mostrando los errores de accesibilidad directamente en el contexto de los elementos afectados. Los iconos rojos son errores que deben corregirse. Los iconos amarillos son alertas que deben revisarse.
Para el ejercicio: deben abrir Lighthouse, capturar el score inicial, corregir todos los errores de accesibilidad usando la tabla de esta diapositiva, y volver a analizar hasta obtener un score mayor o igual a 90."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366008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RESUMEN Y CHECKLIST — Leer al final de la clase:
"Antes de cerrar la sesión de laboratorio, vamos a revisar juntos la lista de verificación de lo que debe estar completado hoy.
En HTML5: el index.html debe tener la estructura semántica completa con las seis etiquetas principales. El formulario debe tener al menos ocho tipos de input diferentes. Todos los inputs deben tener un label asociado. El enlace de salto accesible debe estar al inicio del body. Y el validador del W3C debe reportar cero errores.
En CSS3: el archivo de variables debe tener al menos ocho custom properties y el modo oscuro implementado con prefers-color-scheme. El main.css debe usar Grid para el layout general y Flexbox para las tarjetas. Debe haber dos media queries para tablet y desktop. Las animaciones deben desactivarse con prefers-reduced-motion. Y el validador CSS del W3C debe reportar cero errores.
En JavaScript: deben existir al menos tres módulos separados. El módulo api.js debe tener la función obtenerDatos con manejo correcto de errores. El módulo ui.js debe tener las funciones de renderizado y de carga. El orquestador app.js debe conectar todo con el patrón de tres estados. Y la consola del navegador no debe mostrar errores en rojo.
En auditoría: el score de Accessibility en Lighthouse debe ser mayor o igual a 90, con captura guardada. WAVE debe mostrar cero errores rojos, con captura guardada. El repositorio Git debe tener commits de todos los integrantes y el tag de versión.
Si algún ítem no está completo, el equipo debe completarlo en las horas siguientes y subirlo al repositorio antes de la fecha límite indicada en el LMS.
Recuerden: esta práctica es la base del frontend del PFC. Todo lo que construyan hoy se integrará con el backend de Spring Boot en la Práctica Experimental de la Unidad II."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112240"/>
          </a:solidFill>
          <a:ln w="12700">
            <a:solidFill>
              <a:srgbClr val="112240"/>
            </a:solidFill>
            <a:prstDash val="solid"/>
          </a:ln>
        </p:spPr>
      </p:sp>
      <p:sp>
        <p:nvSpPr>
          <p:cNvPr id="3" name="Shape 1"/>
          <p:cNvSpPr/>
          <p:nvPr/>
        </p:nvSpPr>
        <p:spPr>
          <a:xfrm>
            <a:off x="6675120" y="0"/>
            <a:ext cx="54864" cy="5143500"/>
          </a:xfrm>
          <a:prstGeom prst="rect">
            <a:avLst/>
          </a:prstGeom>
          <a:solidFill>
            <a:srgbClr val="00897B"/>
          </a:solidFill>
          <a:ln w="12700">
            <a:solidFill>
              <a:srgbClr val="00897B"/>
            </a:solidFill>
            <a:prstDash val="solid"/>
          </a:ln>
        </p:spPr>
      </p:sp>
      <p:sp>
        <p:nvSpPr>
          <p:cNvPr id="4" name="Text 2"/>
          <p:cNvSpPr/>
          <p:nvPr/>
        </p:nvSpPr>
        <p:spPr>
          <a:xfrm>
            <a:off x="457200" y="548640"/>
            <a:ext cx="6035040" cy="457200"/>
          </a:xfrm>
          <a:prstGeom prst="rect">
            <a:avLst/>
          </a:prstGeom>
          <a:noFill/>
          <a:ln/>
        </p:spPr>
        <p:txBody>
          <a:bodyPr wrap="square" lIns="0" tIns="0" rIns="0" bIns="0" rtlCol="0" anchor="ctr"/>
          <a:lstStyle/>
          <a:p>
            <a:pPr marL="0" indent="0">
              <a:buNone/>
            </a:pPr>
            <a:r>
              <a:rPr lang="en-US" sz="1300" kern="0" spc="400" dirty="0">
                <a:solidFill>
                  <a:srgbClr val="82B1FF"/>
                </a:solidFill>
                <a:latin typeface="Calibri" pitchFamily="34" charset="0"/>
                <a:ea typeface="Calibri" pitchFamily="34" charset="-122"/>
                <a:cs typeface="Calibri" pitchFamily="34" charset="-120"/>
              </a:rPr>
              <a:t>PRÁCTICA EXPERIMENTAL</a:t>
            </a:r>
            <a:endParaRPr lang="en-US" sz="1300" dirty="0"/>
          </a:p>
        </p:txBody>
      </p:sp>
      <p:sp>
        <p:nvSpPr>
          <p:cNvPr id="5" name="Text 3"/>
          <p:cNvSpPr/>
          <p:nvPr/>
        </p:nvSpPr>
        <p:spPr>
          <a:xfrm>
            <a:off x="457200" y="1005840"/>
            <a:ext cx="603504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Unidad I</a:t>
            </a:r>
            <a:endParaRPr lang="en-US" sz="3600" dirty="0"/>
          </a:p>
        </p:txBody>
      </p:sp>
      <p:sp>
        <p:nvSpPr>
          <p:cNvPr id="6" name="Text 4"/>
          <p:cNvSpPr/>
          <p:nvPr/>
        </p:nvSpPr>
        <p:spPr>
          <a:xfrm>
            <a:off x="457200" y="1664208"/>
            <a:ext cx="6035040" cy="502920"/>
          </a:xfrm>
          <a:prstGeom prst="rect">
            <a:avLst/>
          </a:prstGeom>
          <a:noFill/>
          <a:ln/>
        </p:spPr>
        <p:txBody>
          <a:bodyPr wrap="square" lIns="0" tIns="0" rIns="0" bIns="0" rtlCol="0" anchor="ctr"/>
          <a:lstStyle/>
          <a:p>
            <a:pPr marL="0" indent="0">
              <a:buNone/>
            </a:pPr>
            <a:r>
              <a:rPr lang="en-US" sz="2000" dirty="0">
                <a:solidFill>
                  <a:srgbClr val="00897B"/>
                </a:solidFill>
                <a:latin typeface="Calibri" pitchFamily="34" charset="0"/>
                <a:ea typeface="Calibri" pitchFamily="34" charset="-122"/>
                <a:cs typeface="Calibri" pitchFamily="34" charset="-120"/>
              </a:rPr>
              <a:t>HTML5 · CSS3 · JavaScript ES6+</a:t>
            </a:r>
            <a:endParaRPr lang="en-US" sz="2000" dirty="0"/>
          </a:p>
        </p:txBody>
      </p:sp>
      <p:sp>
        <p:nvSpPr>
          <p:cNvPr id="7" name="Text 5"/>
          <p:cNvSpPr/>
          <p:nvPr/>
        </p:nvSpPr>
        <p:spPr>
          <a:xfrm>
            <a:off x="457200" y="2212848"/>
            <a:ext cx="6035040" cy="365760"/>
          </a:xfrm>
          <a:prstGeom prst="rect">
            <a:avLst/>
          </a:prstGeom>
          <a:noFill/>
          <a:ln/>
        </p:spPr>
        <p:txBody>
          <a:bodyPr wrap="square" lIns="0" tIns="0" rIns="0" bIns="0" rtlCol="0" anchor="ctr"/>
          <a:lstStyle/>
          <a:p>
            <a:pPr marL="0" indent="0">
              <a:buNone/>
            </a:pPr>
            <a:r>
              <a:rPr lang="en-US" sz="1500" dirty="0">
                <a:solidFill>
                  <a:srgbClr val="90A4AE"/>
                </a:solidFill>
                <a:latin typeface="Calibri" pitchFamily="34" charset="0"/>
                <a:ea typeface="Calibri" pitchFamily="34" charset="-122"/>
                <a:cs typeface="Calibri" pitchFamily="34" charset="-120"/>
              </a:rPr>
              <a:t>Fundamentos y Diseño Web</a:t>
            </a:r>
            <a:endParaRPr lang="en-US" sz="1500" dirty="0"/>
          </a:p>
        </p:txBody>
      </p:sp>
      <p:sp>
        <p:nvSpPr>
          <p:cNvPr id="8" name="Text 6"/>
          <p:cNvSpPr/>
          <p:nvPr/>
        </p:nvSpPr>
        <p:spPr>
          <a:xfrm>
            <a:off x="457200" y="2743200"/>
            <a:ext cx="6035040" cy="1828800"/>
          </a:xfrm>
          <a:prstGeom prst="rect">
            <a:avLst/>
          </a:prstGeom>
          <a:noFill/>
          <a:ln/>
        </p:spPr>
        <p:txBody>
          <a:bodyPr wrap="square" lIns="0" tIns="0" rIns="0" bIns="0" rtlCol="0" anchor="t"/>
          <a:lstStyle/>
          <a:p>
            <a:pPr marL="342900" indent="-342900">
              <a:buSzPct val="100000"/>
              <a:buChar char="•"/>
            </a:pPr>
            <a:r>
              <a:rPr lang="en-US" sz="1200" dirty="0">
                <a:solidFill>
                  <a:srgbClr val="E3EAF4"/>
                </a:solidFill>
                <a:latin typeface="Calibri" pitchFamily="34" charset="0"/>
                <a:ea typeface="Calibri" pitchFamily="34" charset="-122"/>
                <a:cs typeface="Calibri" pitchFamily="34" charset="-120"/>
              </a:rPr>
              <a:t>Arquitectura web y tipos de aplicación</a:t>
            </a:r>
            <a:endParaRPr lang="en-US" sz="1200" dirty="0"/>
          </a:p>
          <a:p>
            <a:pPr marL="342900" indent="-342900">
              <a:buSzPct val="100000"/>
              <a:buChar char="•"/>
            </a:pPr>
            <a:r>
              <a:rPr lang="en-US" sz="1200" dirty="0">
                <a:solidFill>
                  <a:srgbClr val="E3EAF4"/>
                </a:solidFill>
                <a:latin typeface="Calibri" pitchFamily="34" charset="0"/>
                <a:ea typeface="Calibri" pitchFamily="34" charset="-122"/>
                <a:cs typeface="Calibri" pitchFamily="34" charset="-120"/>
              </a:rPr>
              <a:t>HTML5 semántico y accesibilidad WCAG 2.1</a:t>
            </a:r>
            <a:endParaRPr lang="en-US" sz="1200" dirty="0"/>
          </a:p>
          <a:p>
            <a:pPr marL="342900" indent="-342900">
              <a:buSzPct val="100000"/>
              <a:buChar char="•"/>
            </a:pPr>
            <a:r>
              <a:rPr lang="en-US" sz="1200" dirty="0">
                <a:solidFill>
                  <a:srgbClr val="E3EAF4"/>
                </a:solidFill>
                <a:latin typeface="Calibri" pitchFamily="34" charset="0"/>
                <a:ea typeface="Calibri" pitchFamily="34" charset="-122"/>
                <a:cs typeface="Calibri" pitchFamily="34" charset="-120"/>
              </a:rPr>
              <a:t>CSS3: Grid, Flexbox y diseño responsivo</a:t>
            </a:r>
            <a:endParaRPr lang="en-US" sz="1200" dirty="0"/>
          </a:p>
          <a:p>
            <a:pPr marL="342900" indent="-342900">
              <a:buSzPct val="100000"/>
              <a:buChar char="•"/>
            </a:pPr>
            <a:r>
              <a:rPr lang="en-US" sz="1200" dirty="0">
                <a:solidFill>
                  <a:srgbClr val="E3EAF4"/>
                </a:solidFill>
                <a:latin typeface="Calibri" pitchFamily="34" charset="0"/>
                <a:ea typeface="Calibri" pitchFamily="34" charset="-122"/>
                <a:cs typeface="Calibri" pitchFamily="34" charset="-120"/>
              </a:rPr>
              <a:t>JavaScript ES6+: módulos y async/await</a:t>
            </a:r>
            <a:endParaRPr lang="en-US" sz="1200" dirty="0"/>
          </a:p>
          <a:p>
            <a:pPr marL="342900" indent="-342900">
              <a:buSzPct val="100000"/>
              <a:buChar char="•"/>
            </a:pPr>
            <a:r>
              <a:rPr lang="en-US" sz="1200" dirty="0">
                <a:solidFill>
                  <a:srgbClr val="E3EAF4"/>
                </a:solidFill>
                <a:latin typeface="Calibri" pitchFamily="34" charset="0"/>
                <a:ea typeface="Calibri" pitchFamily="34" charset="-122"/>
                <a:cs typeface="Calibri" pitchFamily="34" charset="-120"/>
              </a:rPr>
              <a:t>Auditoría Lighthouse, WAVE y validadores W3C</a:t>
            </a:r>
            <a:endParaRPr lang="en-US" sz="1200" dirty="0"/>
          </a:p>
        </p:txBody>
      </p:sp>
      <p:sp>
        <p:nvSpPr>
          <p:cNvPr id="9" name="Shape 7"/>
          <p:cNvSpPr/>
          <p:nvPr/>
        </p:nvSpPr>
        <p:spPr>
          <a:xfrm>
            <a:off x="457200" y="4709160"/>
            <a:ext cx="2926080" cy="274320"/>
          </a:xfrm>
          <a:prstGeom prst="rect">
            <a:avLst/>
          </a:prstGeom>
          <a:solidFill>
            <a:srgbClr val="00897B"/>
          </a:solidFill>
          <a:ln w="12700">
            <a:solidFill>
              <a:srgbClr val="00897B"/>
            </a:solidFill>
            <a:prstDash val="solid"/>
          </a:ln>
        </p:spPr>
      </p:sp>
      <p:sp>
        <p:nvSpPr>
          <p:cNvPr id="10" name="Text 8"/>
          <p:cNvSpPr/>
          <p:nvPr/>
        </p:nvSpPr>
        <p:spPr>
          <a:xfrm>
            <a:off x="457200" y="4709160"/>
            <a:ext cx="2926080" cy="2743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UTEQ · Ingeniería de Software · 2025-2026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Arquitectura web — Tipos de aplicación</a:t>
            </a:r>
            <a:endParaRPr lang="en-US" sz="2200" dirty="0"/>
          </a:p>
        </p:txBody>
      </p:sp>
      <p:sp>
        <p:nvSpPr>
          <p:cNvPr id="4" name="Text 2"/>
          <p:cNvSpPr/>
          <p:nvPr/>
        </p:nvSpPr>
        <p:spPr>
          <a:xfrm>
            <a:off x="365760" y="676656"/>
            <a:ext cx="8412480" cy="329184"/>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1: Fundamentos de aplicaciones web</a:t>
            </a:r>
            <a:endParaRPr lang="en-US" dirty="0"/>
          </a:p>
        </p:txBody>
      </p:sp>
      <p:sp>
        <p:nvSpPr>
          <p:cNvPr id="5" name="Shape 3"/>
          <p:cNvSpPr/>
          <p:nvPr/>
        </p:nvSpPr>
        <p:spPr>
          <a:xfrm>
            <a:off x="0" y="1051560"/>
            <a:ext cx="201168" cy="4096512"/>
          </a:xfrm>
          <a:prstGeom prst="rect">
            <a:avLst/>
          </a:prstGeom>
          <a:solidFill>
            <a:srgbClr val="1565C0"/>
          </a:solidFill>
          <a:ln w="12700">
            <a:solidFill>
              <a:srgbClr val="1565C0"/>
            </a:solidFill>
            <a:prstDash val="solid"/>
          </a:ln>
        </p:spPr>
      </p:sp>
      <p:sp>
        <p:nvSpPr>
          <p:cNvPr id="6" name="Shape 4"/>
          <p:cNvSpPr/>
          <p:nvPr/>
        </p:nvSpPr>
        <p:spPr>
          <a:xfrm>
            <a:off x="292608" y="1143000"/>
            <a:ext cx="2724912" cy="141732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54864" cy="1417320"/>
          </a:xfrm>
          <a:prstGeom prst="rect">
            <a:avLst/>
          </a:prstGeom>
          <a:solidFill>
            <a:srgbClr val="00897B"/>
          </a:solidFill>
          <a:ln w="12700">
            <a:solidFill>
              <a:srgbClr val="00897B"/>
            </a:solidFill>
            <a:prstDash val="solid"/>
          </a:ln>
        </p:spPr>
      </p:sp>
      <p:sp>
        <p:nvSpPr>
          <p:cNvPr id="8" name="Text 6"/>
          <p:cNvSpPr/>
          <p:nvPr/>
        </p:nvSpPr>
        <p:spPr>
          <a:xfrm>
            <a:off x="420624" y="123444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Estática</a:t>
            </a:r>
            <a:endParaRPr lang="en-US" dirty="0"/>
          </a:p>
        </p:txBody>
      </p:sp>
      <p:sp>
        <p:nvSpPr>
          <p:cNvPr id="9" name="Text 7"/>
          <p:cNvSpPr/>
          <p:nvPr/>
        </p:nvSpPr>
        <p:spPr>
          <a:xfrm>
            <a:off x="420624" y="1527048"/>
            <a:ext cx="2523744" cy="94183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Solo HTML/CSS/JS. Sin servidor de lógica. Rápida y barata. Ejemplo: página de CV personal.</a:t>
            </a:r>
            <a:endParaRPr lang="en-US" sz="1200" dirty="0"/>
          </a:p>
        </p:txBody>
      </p:sp>
      <p:sp>
        <p:nvSpPr>
          <p:cNvPr id="10" name="Shape 8"/>
          <p:cNvSpPr/>
          <p:nvPr/>
        </p:nvSpPr>
        <p:spPr>
          <a:xfrm>
            <a:off x="3163824" y="1143000"/>
            <a:ext cx="2724912" cy="141732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1" name="Shape 9"/>
          <p:cNvSpPr/>
          <p:nvPr/>
        </p:nvSpPr>
        <p:spPr>
          <a:xfrm>
            <a:off x="3163824" y="1143000"/>
            <a:ext cx="54864" cy="1417320"/>
          </a:xfrm>
          <a:prstGeom prst="rect">
            <a:avLst/>
          </a:prstGeom>
          <a:solidFill>
            <a:srgbClr val="1565C0"/>
          </a:solidFill>
          <a:ln w="12700">
            <a:solidFill>
              <a:srgbClr val="1565C0"/>
            </a:solidFill>
            <a:prstDash val="solid"/>
          </a:ln>
        </p:spPr>
      </p:sp>
      <p:sp>
        <p:nvSpPr>
          <p:cNvPr id="12" name="Text 10"/>
          <p:cNvSpPr/>
          <p:nvPr/>
        </p:nvSpPr>
        <p:spPr>
          <a:xfrm>
            <a:off x="3291840" y="123444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Dinámica (SSR)</a:t>
            </a:r>
            <a:endParaRPr lang="en-US" dirty="0"/>
          </a:p>
        </p:txBody>
      </p:sp>
      <p:sp>
        <p:nvSpPr>
          <p:cNvPr id="13" name="Text 11"/>
          <p:cNvSpPr/>
          <p:nvPr/>
        </p:nvSpPr>
        <p:spPr>
          <a:xfrm>
            <a:off x="3291840" y="1527048"/>
            <a:ext cx="2523744" cy="94183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El servidor genera el HTML en cada petición. Ejemplo: WordPress, Laravel con Blade.</a:t>
            </a:r>
            <a:endParaRPr lang="en-US" sz="1200" dirty="0"/>
          </a:p>
        </p:txBody>
      </p:sp>
      <p:sp>
        <p:nvSpPr>
          <p:cNvPr id="14" name="Shape 12"/>
          <p:cNvSpPr/>
          <p:nvPr/>
        </p:nvSpPr>
        <p:spPr>
          <a:xfrm>
            <a:off x="6035040" y="1143000"/>
            <a:ext cx="2724912" cy="141732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5" name="Shape 13"/>
          <p:cNvSpPr/>
          <p:nvPr/>
        </p:nvSpPr>
        <p:spPr>
          <a:xfrm>
            <a:off x="6035040" y="1143000"/>
            <a:ext cx="54864" cy="1417320"/>
          </a:xfrm>
          <a:prstGeom prst="rect">
            <a:avLst/>
          </a:prstGeom>
          <a:solidFill>
            <a:srgbClr val="F57C00"/>
          </a:solidFill>
          <a:ln w="12700">
            <a:solidFill>
              <a:srgbClr val="F57C00"/>
            </a:solidFill>
            <a:prstDash val="solid"/>
          </a:ln>
        </p:spPr>
      </p:sp>
      <p:sp>
        <p:nvSpPr>
          <p:cNvPr id="16" name="Text 14"/>
          <p:cNvSpPr/>
          <p:nvPr/>
        </p:nvSpPr>
        <p:spPr>
          <a:xfrm>
            <a:off x="6163056" y="123444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SPA</a:t>
            </a:r>
            <a:endParaRPr lang="en-US" dirty="0"/>
          </a:p>
        </p:txBody>
      </p:sp>
      <p:sp>
        <p:nvSpPr>
          <p:cNvPr id="17" name="Text 15"/>
          <p:cNvSpPr/>
          <p:nvPr/>
        </p:nvSpPr>
        <p:spPr>
          <a:xfrm>
            <a:off x="6163056" y="1527048"/>
            <a:ext cx="2523744" cy="94183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Single Page App. Un solo HTML; el JS actualiza el DOM. Ejemplo: Gmail, Google Maps, Angular.</a:t>
            </a:r>
            <a:endParaRPr lang="en-US" sz="1200" dirty="0"/>
          </a:p>
        </p:txBody>
      </p:sp>
      <p:sp>
        <p:nvSpPr>
          <p:cNvPr id="18" name="Shape 16"/>
          <p:cNvSpPr/>
          <p:nvPr/>
        </p:nvSpPr>
        <p:spPr>
          <a:xfrm>
            <a:off x="292608" y="2651760"/>
            <a:ext cx="2724912"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9" name="Shape 17"/>
          <p:cNvSpPr/>
          <p:nvPr/>
        </p:nvSpPr>
        <p:spPr>
          <a:xfrm>
            <a:off x="292608" y="2651760"/>
            <a:ext cx="54864" cy="1325880"/>
          </a:xfrm>
          <a:prstGeom prst="rect">
            <a:avLst/>
          </a:prstGeom>
          <a:solidFill>
            <a:srgbClr val="2E7D32"/>
          </a:solidFill>
          <a:ln w="12700">
            <a:solidFill>
              <a:srgbClr val="2E7D32"/>
            </a:solidFill>
            <a:prstDash val="solid"/>
          </a:ln>
        </p:spPr>
      </p:sp>
      <p:sp>
        <p:nvSpPr>
          <p:cNvPr id="20" name="Text 18"/>
          <p:cNvSpPr/>
          <p:nvPr/>
        </p:nvSpPr>
        <p:spPr>
          <a:xfrm>
            <a:off x="420624" y="274320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PWA</a:t>
            </a:r>
            <a:endParaRPr lang="en-US" dirty="0"/>
          </a:p>
        </p:txBody>
      </p:sp>
      <p:sp>
        <p:nvSpPr>
          <p:cNvPr id="21" name="Text 19"/>
          <p:cNvSpPr/>
          <p:nvPr/>
        </p:nvSpPr>
        <p:spPr>
          <a:xfrm>
            <a:off x="420624" y="3035808"/>
            <a:ext cx="2523744" cy="85039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Progressive Web App. SPA instalable offline. Usa Service Worker y manifest.json.</a:t>
            </a:r>
            <a:endParaRPr lang="en-US" sz="1200" dirty="0"/>
          </a:p>
        </p:txBody>
      </p:sp>
      <p:sp>
        <p:nvSpPr>
          <p:cNvPr id="22" name="Shape 20"/>
          <p:cNvSpPr/>
          <p:nvPr/>
        </p:nvSpPr>
        <p:spPr>
          <a:xfrm>
            <a:off x="3163824" y="2651760"/>
            <a:ext cx="2724912"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3" name="Shape 21"/>
          <p:cNvSpPr/>
          <p:nvPr/>
        </p:nvSpPr>
        <p:spPr>
          <a:xfrm>
            <a:off x="3163824" y="2651760"/>
            <a:ext cx="54864" cy="1325880"/>
          </a:xfrm>
          <a:prstGeom prst="rect">
            <a:avLst/>
          </a:prstGeom>
          <a:solidFill>
            <a:srgbClr val="C62828"/>
          </a:solidFill>
          <a:ln w="12700">
            <a:solidFill>
              <a:srgbClr val="C62828"/>
            </a:solidFill>
            <a:prstDash val="solid"/>
          </a:ln>
        </p:spPr>
      </p:sp>
      <p:sp>
        <p:nvSpPr>
          <p:cNvPr id="24" name="Text 22"/>
          <p:cNvSpPr/>
          <p:nvPr/>
        </p:nvSpPr>
        <p:spPr>
          <a:xfrm>
            <a:off x="3291840" y="274320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Microservicios</a:t>
            </a:r>
            <a:endParaRPr lang="en-US" dirty="0"/>
          </a:p>
        </p:txBody>
      </p:sp>
      <p:sp>
        <p:nvSpPr>
          <p:cNvPr id="25" name="Text 23"/>
          <p:cNvSpPr/>
          <p:nvPr/>
        </p:nvSpPr>
        <p:spPr>
          <a:xfrm>
            <a:off x="3291840" y="3035808"/>
            <a:ext cx="2523744" cy="85039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Frontend desacoplado de múltiples backends. Cada servicio independiente.</a:t>
            </a:r>
            <a:endParaRPr lang="en-US" sz="1200" dirty="0"/>
          </a:p>
        </p:txBody>
      </p:sp>
      <p:sp>
        <p:nvSpPr>
          <p:cNvPr id="26" name="Shape 24"/>
          <p:cNvSpPr/>
          <p:nvPr/>
        </p:nvSpPr>
        <p:spPr>
          <a:xfrm>
            <a:off x="6035040" y="2651760"/>
            <a:ext cx="2724912"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7" name="Shape 25"/>
          <p:cNvSpPr/>
          <p:nvPr/>
        </p:nvSpPr>
        <p:spPr>
          <a:xfrm>
            <a:off x="6035040" y="2651760"/>
            <a:ext cx="54864" cy="1325880"/>
          </a:xfrm>
          <a:prstGeom prst="rect">
            <a:avLst/>
          </a:prstGeom>
          <a:solidFill>
            <a:srgbClr val="7B1FA2"/>
          </a:solidFill>
          <a:ln w="12700">
            <a:solidFill>
              <a:srgbClr val="7B1FA2"/>
            </a:solidFill>
            <a:prstDash val="solid"/>
          </a:ln>
        </p:spPr>
      </p:sp>
      <p:sp>
        <p:nvSpPr>
          <p:cNvPr id="28" name="Text 26"/>
          <p:cNvSpPr/>
          <p:nvPr/>
        </p:nvSpPr>
        <p:spPr>
          <a:xfrm>
            <a:off x="6163056" y="2743200"/>
            <a:ext cx="2523744" cy="292608"/>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JAMstack</a:t>
            </a:r>
            <a:endParaRPr lang="en-US" dirty="0"/>
          </a:p>
        </p:txBody>
      </p:sp>
      <p:sp>
        <p:nvSpPr>
          <p:cNvPr id="29" name="Text 27"/>
          <p:cNvSpPr/>
          <p:nvPr/>
        </p:nvSpPr>
        <p:spPr>
          <a:xfrm>
            <a:off x="6163056" y="3035808"/>
            <a:ext cx="2523744" cy="850392"/>
          </a:xfrm>
          <a:prstGeom prst="rect">
            <a:avLst/>
          </a:prstGeom>
          <a:noFill/>
          <a:ln/>
        </p:spPr>
        <p:txBody>
          <a:bodyPr wrap="square" lIns="0" tIns="0" rIns="0" bIns="0" rtlCol="0" anchor="t"/>
          <a:lstStyle/>
          <a:p>
            <a:pPr marL="0" indent="0">
              <a:buNone/>
            </a:pPr>
            <a:r>
              <a:rPr lang="en-US" sz="1200" dirty="0">
                <a:solidFill>
                  <a:srgbClr val="455A64"/>
                </a:solidFill>
                <a:latin typeface="Calibri" pitchFamily="34" charset="0"/>
                <a:ea typeface="Calibri" pitchFamily="34" charset="-122"/>
                <a:cs typeface="Calibri" pitchFamily="34" charset="-120"/>
              </a:rPr>
              <a:t>JavaScript + APIs + Markup pregenerado. Sin servidor en runtime.</a:t>
            </a:r>
            <a:endParaRPr lang="en-US" sz="1200" dirty="0"/>
          </a:p>
        </p:txBody>
      </p:sp>
      <p:sp>
        <p:nvSpPr>
          <p:cNvPr id="30" name="Shape 28"/>
          <p:cNvSpPr/>
          <p:nvPr/>
        </p:nvSpPr>
        <p:spPr>
          <a:xfrm>
            <a:off x="292608" y="4069080"/>
            <a:ext cx="8558784" cy="969264"/>
          </a:xfrm>
          <a:prstGeom prst="rect">
            <a:avLst/>
          </a:prstGeom>
          <a:solidFill>
            <a:srgbClr val="FFF8E1"/>
          </a:solidFill>
          <a:ln w="12700">
            <a:solidFill>
              <a:srgbClr val="F57C00"/>
            </a:solidFill>
            <a:prstDash val="solid"/>
          </a:ln>
        </p:spPr>
      </p:sp>
      <p:sp>
        <p:nvSpPr>
          <p:cNvPr id="31" name="Text 29"/>
          <p:cNvSpPr/>
          <p:nvPr/>
        </p:nvSpPr>
        <p:spPr>
          <a:xfrm>
            <a:off x="384048" y="4123944"/>
            <a:ext cx="8375904" cy="256032"/>
          </a:xfrm>
          <a:prstGeom prst="rect">
            <a:avLst/>
          </a:prstGeom>
          <a:noFill/>
          <a:ln/>
        </p:spPr>
        <p:txBody>
          <a:bodyPr wrap="square" lIns="0" tIns="0" rIns="0" bIns="0" rtlCol="0" anchor="ctr"/>
          <a:lstStyle/>
          <a:p>
            <a:pPr marL="0" indent="0">
              <a:buNone/>
            </a:pPr>
            <a:r>
              <a:rPr lang="en-US" b="1" dirty="0">
                <a:solidFill>
                  <a:srgbClr val="F57C00"/>
                </a:solidFill>
                <a:latin typeface="Calibri" pitchFamily="34" charset="0"/>
                <a:ea typeface="Calibri" pitchFamily="34" charset="-122"/>
                <a:cs typeface="Calibri" pitchFamily="34" charset="-120"/>
              </a:rPr>
              <a:t>✏  Ejercicio rápido (2 min)</a:t>
            </a:r>
            <a:endParaRPr lang="en-US" dirty="0"/>
          </a:p>
        </p:txBody>
      </p:sp>
      <p:sp>
        <p:nvSpPr>
          <p:cNvPr id="32" name="Text 30"/>
          <p:cNvSpPr/>
          <p:nvPr/>
        </p:nvSpPr>
        <p:spPr>
          <a:xfrm>
            <a:off x="384048" y="4434840"/>
            <a:ext cx="8375904" cy="566928"/>
          </a:xfrm>
          <a:prstGeom prst="rect">
            <a:avLst/>
          </a:prstGeom>
          <a:noFill/>
          <a:ln/>
        </p:spPr>
        <p:txBody>
          <a:bodyPr wrap="square" lIns="0" tIns="0" rIns="0" bIns="0" rtlCol="0" anchor="t"/>
          <a:lstStyle/>
          <a:p>
            <a:pPr marL="342900" indent="-342900">
              <a:buSzPct val="100000"/>
              <a:buChar char="•"/>
            </a:pPr>
            <a:r>
              <a:rPr lang="en-US" sz="1400" dirty="0">
                <a:solidFill>
                  <a:srgbClr val="263238"/>
                </a:solidFill>
                <a:latin typeface="Calibri" pitchFamily="34" charset="0"/>
                <a:ea typeface="Calibri" pitchFamily="34" charset="-122"/>
                <a:cs typeface="Calibri" pitchFamily="34" charset="-120"/>
              </a:rPr>
              <a:t>¿Qué tipo de aplicación es Instagram? ¿Y la página de la UTEQ?</a:t>
            </a:r>
            <a:endParaRPr lang="en-US" sz="1400" dirty="0"/>
          </a:p>
          <a:p>
            <a:pPr marL="342900" indent="-342900">
              <a:buSzPct val="100000"/>
              <a:buChar char="•"/>
            </a:pPr>
            <a:r>
              <a:rPr lang="en-US" sz="1400" dirty="0">
                <a:solidFill>
                  <a:srgbClr val="263238"/>
                </a:solidFill>
                <a:latin typeface="Calibri" pitchFamily="34" charset="0"/>
                <a:ea typeface="Calibri" pitchFamily="34" charset="-122"/>
                <a:cs typeface="Calibri" pitchFamily="34" charset="-120"/>
              </a:rPr>
              <a:t>¿El PFC del equipo será SPA, SSR o estática? ¿Por qué?</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Ciclo de vida de una petición HTTP/HTTPS</a:t>
            </a:r>
            <a:endParaRPr lang="en-US" sz="2200" dirty="0"/>
          </a:p>
        </p:txBody>
      </p:sp>
      <p:sp>
        <p:nvSpPr>
          <p:cNvPr id="4" name="Text 2"/>
          <p:cNvSpPr/>
          <p:nvPr/>
        </p:nvSpPr>
        <p:spPr>
          <a:xfrm>
            <a:off x="365760" y="594360"/>
            <a:ext cx="8412480" cy="411480"/>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1: Fundamentos — Protocolo HTTP</a:t>
            </a:r>
            <a:endParaRPr lang="en-US" dirty="0"/>
          </a:p>
        </p:txBody>
      </p:sp>
      <p:sp>
        <p:nvSpPr>
          <p:cNvPr id="5" name="Shape 3"/>
          <p:cNvSpPr/>
          <p:nvPr/>
        </p:nvSpPr>
        <p:spPr>
          <a:xfrm>
            <a:off x="0" y="1051560"/>
            <a:ext cx="201168" cy="4096512"/>
          </a:xfrm>
          <a:prstGeom prst="rect">
            <a:avLst/>
          </a:prstGeom>
          <a:solidFill>
            <a:srgbClr val="1565C0"/>
          </a:solidFill>
          <a:ln w="12700">
            <a:solidFill>
              <a:srgbClr val="1565C0"/>
            </a:solidFill>
            <a:prstDash val="solid"/>
          </a:ln>
        </p:spPr>
      </p:sp>
      <p:sp>
        <p:nvSpPr>
          <p:cNvPr id="6" name="Shape 4"/>
          <p:cNvSpPr/>
          <p:nvPr/>
        </p:nvSpPr>
        <p:spPr>
          <a:xfrm>
            <a:off x="274320" y="1188720"/>
            <a:ext cx="1325880" cy="13716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7" name="Text 5"/>
          <p:cNvSpPr/>
          <p:nvPr/>
        </p:nvSpPr>
        <p:spPr>
          <a:xfrm>
            <a:off x="274320"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274320"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URL en el navegador</a:t>
            </a:r>
            <a:endParaRPr lang="en-US" sz="1100" dirty="0"/>
          </a:p>
        </p:txBody>
      </p:sp>
      <p:sp>
        <p:nvSpPr>
          <p:cNvPr id="9" name="Text 7"/>
          <p:cNvSpPr/>
          <p:nvPr/>
        </p:nvSpPr>
        <p:spPr>
          <a:xfrm>
            <a:off x="274320"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El usuario escribe</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https://ejemplo.com/api</a:t>
            </a:r>
            <a:endParaRPr lang="en-US" sz="850" dirty="0"/>
          </a:p>
        </p:txBody>
      </p:sp>
      <p:sp>
        <p:nvSpPr>
          <p:cNvPr id="10" name="Shape 8"/>
          <p:cNvSpPr/>
          <p:nvPr/>
        </p:nvSpPr>
        <p:spPr>
          <a:xfrm>
            <a:off x="1600200" y="1801368"/>
            <a:ext cx="109728" cy="73152"/>
          </a:xfrm>
          <a:prstGeom prst="rect">
            <a:avLst/>
          </a:prstGeom>
          <a:solidFill>
            <a:srgbClr val="90A4AE"/>
          </a:solidFill>
          <a:ln w="12700">
            <a:solidFill>
              <a:srgbClr val="90A4AE"/>
            </a:solidFill>
            <a:prstDash val="solid"/>
          </a:ln>
        </p:spPr>
      </p:sp>
      <p:sp>
        <p:nvSpPr>
          <p:cNvPr id="11" name="Shape 9"/>
          <p:cNvSpPr/>
          <p:nvPr/>
        </p:nvSpPr>
        <p:spPr>
          <a:xfrm>
            <a:off x="1709928" y="1188720"/>
            <a:ext cx="1325880" cy="13716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12" name="Text 10"/>
          <p:cNvSpPr/>
          <p:nvPr/>
        </p:nvSpPr>
        <p:spPr>
          <a:xfrm>
            <a:off x="1709928"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709928"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DNS</a:t>
            </a:r>
            <a:endParaRPr lang="en-US" sz="1100" dirty="0"/>
          </a:p>
        </p:txBody>
      </p:sp>
      <p:sp>
        <p:nvSpPr>
          <p:cNvPr id="14" name="Text 12"/>
          <p:cNvSpPr/>
          <p:nvPr/>
        </p:nvSpPr>
        <p:spPr>
          <a:xfrm>
            <a:off x="1709928"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Resuelve el nombre</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a una IP: 203.0.113.5</a:t>
            </a:r>
            <a:endParaRPr lang="en-US" sz="850" dirty="0"/>
          </a:p>
        </p:txBody>
      </p:sp>
      <p:sp>
        <p:nvSpPr>
          <p:cNvPr id="15" name="Shape 13"/>
          <p:cNvSpPr/>
          <p:nvPr/>
        </p:nvSpPr>
        <p:spPr>
          <a:xfrm>
            <a:off x="3035808" y="1801368"/>
            <a:ext cx="109728" cy="73152"/>
          </a:xfrm>
          <a:prstGeom prst="rect">
            <a:avLst/>
          </a:prstGeom>
          <a:solidFill>
            <a:srgbClr val="90A4AE"/>
          </a:solidFill>
          <a:ln w="12700">
            <a:solidFill>
              <a:srgbClr val="90A4AE"/>
            </a:solidFill>
            <a:prstDash val="solid"/>
          </a:ln>
        </p:spPr>
      </p:sp>
      <p:sp>
        <p:nvSpPr>
          <p:cNvPr id="16" name="Shape 14"/>
          <p:cNvSpPr/>
          <p:nvPr/>
        </p:nvSpPr>
        <p:spPr>
          <a:xfrm>
            <a:off x="3145536" y="1188720"/>
            <a:ext cx="1325880" cy="13716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17" name="Text 15"/>
          <p:cNvSpPr/>
          <p:nvPr/>
        </p:nvSpPr>
        <p:spPr>
          <a:xfrm>
            <a:off x="3145536"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3145536"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TLS Handshake</a:t>
            </a:r>
            <a:endParaRPr lang="en-US" sz="1100" dirty="0"/>
          </a:p>
        </p:txBody>
      </p:sp>
      <p:sp>
        <p:nvSpPr>
          <p:cNvPr id="19" name="Text 17"/>
          <p:cNvSpPr/>
          <p:nvPr/>
        </p:nvSpPr>
        <p:spPr>
          <a:xfrm>
            <a:off x="3145536"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Negocia el cifrado</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HTTPS (SSL/TLS)</a:t>
            </a:r>
            <a:endParaRPr lang="en-US" sz="850" dirty="0"/>
          </a:p>
        </p:txBody>
      </p:sp>
      <p:sp>
        <p:nvSpPr>
          <p:cNvPr id="20" name="Shape 18"/>
          <p:cNvSpPr/>
          <p:nvPr/>
        </p:nvSpPr>
        <p:spPr>
          <a:xfrm>
            <a:off x="4471416" y="1801368"/>
            <a:ext cx="109728" cy="73152"/>
          </a:xfrm>
          <a:prstGeom prst="rect">
            <a:avLst/>
          </a:prstGeom>
          <a:solidFill>
            <a:srgbClr val="90A4AE"/>
          </a:solidFill>
          <a:ln w="12700">
            <a:solidFill>
              <a:srgbClr val="90A4AE"/>
            </a:solidFill>
            <a:prstDash val="solid"/>
          </a:ln>
        </p:spPr>
      </p:sp>
      <p:sp>
        <p:nvSpPr>
          <p:cNvPr id="21" name="Shape 19"/>
          <p:cNvSpPr/>
          <p:nvPr/>
        </p:nvSpPr>
        <p:spPr>
          <a:xfrm>
            <a:off x="4581144" y="1188720"/>
            <a:ext cx="1325880" cy="13716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22" name="Text 20"/>
          <p:cNvSpPr/>
          <p:nvPr/>
        </p:nvSpPr>
        <p:spPr>
          <a:xfrm>
            <a:off x="4581144"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4581144"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Solicitud HTTP</a:t>
            </a:r>
            <a:endParaRPr lang="en-US" sz="1100" dirty="0"/>
          </a:p>
        </p:txBody>
      </p:sp>
      <p:sp>
        <p:nvSpPr>
          <p:cNvPr id="24" name="Text 22"/>
          <p:cNvSpPr/>
          <p:nvPr/>
        </p:nvSpPr>
        <p:spPr>
          <a:xfrm>
            <a:off x="4581144"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GET /api/productos</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Headers + Body</a:t>
            </a:r>
            <a:endParaRPr lang="en-US" sz="850" dirty="0"/>
          </a:p>
        </p:txBody>
      </p:sp>
      <p:sp>
        <p:nvSpPr>
          <p:cNvPr id="25" name="Shape 23"/>
          <p:cNvSpPr/>
          <p:nvPr/>
        </p:nvSpPr>
        <p:spPr>
          <a:xfrm>
            <a:off x="5907024" y="1801368"/>
            <a:ext cx="109728" cy="73152"/>
          </a:xfrm>
          <a:prstGeom prst="rect">
            <a:avLst/>
          </a:prstGeom>
          <a:solidFill>
            <a:srgbClr val="90A4AE"/>
          </a:solidFill>
          <a:ln w="12700">
            <a:solidFill>
              <a:srgbClr val="90A4AE"/>
            </a:solidFill>
            <a:prstDash val="solid"/>
          </a:ln>
        </p:spPr>
      </p:sp>
      <p:sp>
        <p:nvSpPr>
          <p:cNvPr id="26" name="Shape 24"/>
          <p:cNvSpPr/>
          <p:nvPr/>
        </p:nvSpPr>
        <p:spPr>
          <a:xfrm>
            <a:off x="6016752" y="1188720"/>
            <a:ext cx="1325880" cy="13716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27" name="Text 25"/>
          <p:cNvSpPr/>
          <p:nvPr/>
        </p:nvSpPr>
        <p:spPr>
          <a:xfrm>
            <a:off x="6016752"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6016752"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Servidor procesa</a:t>
            </a:r>
            <a:endParaRPr lang="en-US" sz="1100" dirty="0"/>
          </a:p>
        </p:txBody>
      </p:sp>
      <p:sp>
        <p:nvSpPr>
          <p:cNvPr id="29" name="Text 27"/>
          <p:cNvSpPr/>
          <p:nvPr/>
        </p:nvSpPr>
        <p:spPr>
          <a:xfrm>
            <a:off x="6016752"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Spring Boot recibe</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y consulta la BD</a:t>
            </a:r>
            <a:endParaRPr lang="en-US" sz="850" dirty="0"/>
          </a:p>
        </p:txBody>
      </p:sp>
      <p:sp>
        <p:nvSpPr>
          <p:cNvPr id="30" name="Shape 28"/>
          <p:cNvSpPr/>
          <p:nvPr/>
        </p:nvSpPr>
        <p:spPr>
          <a:xfrm>
            <a:off x="7342632" y="1801368"/>
            <a:ext cx="109728" cy="73152"/>
          </a:xfrm>
          <a:prstGeom prst="rect">
            <a:avLst/>
          </a:prstGeom>
          <a:solidFill>
            <a:srgbClr val="90A4AE"/>
          </a:solidFill>
          <a:ln w="12700">
            <a:solidFill>
              <a:srgbClr val="90A4AE"/>
            </a:solidFill>
            <a:prstDash val="solid"/>
          </a:ln>
        </p:spPr>
      </p:sp>
      <p:sp>
        <p:nvSpPr>
          <p:cNvPr id="31" name="Shape 29"/>
          <p:cNvSpPr/>
          <p:nvPr/>
        </p:nvSpPr>
        <p:spPr>
          <a:xfrm>
            <a:off x="7452360" y="1188720"/>
            <a:ext cx="1325880" cy="1371600"/>
          </a:xfrm>
          <a:prstGeom prst="rect">
            <a:avLst/>
          </a:prstGeom>
          <a:solidFill>
            <a:srgbClr val="2E7D32"/>
          </a:solidFill>
          <a:ln w="12700">
            <a:solidFill>
              <a:srgbClr val="2E7D32"/>
            </a:solidFill>
            <a:prstDash val="solid"/>
          </a:ln>
          <a:effectLst>
            <a:outerShdw blurRad="101600" dist="38100" dir="8100000" algn="bl" rotWithShape="0">
              <a:srgbClr val="000000">
                <a:alpha val="18000"/>
              </a:srgbClr>
            </a:outerShdw>
          </a:effectLst>
        </p:spPr>
      </p:sp>
      <p:sp>
        <p:nvSpPr>
          <p:cNvPr id="32" name="Text 30"/>
          <p:cNvSpPr/>
          <p:nvPr/>
        </p:nvSpPr>
        <p:spPr>
          <a:xfrm>
            <a:off x="7452360" y="1188720"/>
            <a:ext cx="13258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3" name="Text 31"/>
          <p:cNvSpPr/>
          <p:nvPr/>
        </p:nvSpPr>
        <p:spPr>
          <a:xfrm>
            <a:off x="7452360" y="1554480"/>
            <a:ext cx="13258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Respuesta HTTP</a:t>
            </a:r>
            <a:endParaRPr lang="en-US" sz="1100" dirty="0"/>
          </a:p>
        </p:txBody>
      </p:sp>
      <p:sp>
        <p:nvSpPr>
          <p:cNvPr id="34" name="Text 32"/>
          <p:cNvSpPr/>
          <p:nvPr/>
        </p:nvSpPr>
        <p:spPr>
          <a:xfrm>
            <a:off x="7452360" y="1920240"/>
            <a:ext cx="1325880" cy="594360"/>
          </a:xfrm>
          <a:prstGeom prst="rect">
            <a:avLst/>
          </a:prstGeom>
          <a:noFill/>
          <a:ln/>
        </p:spPr>
        <p:txBody>
          <a:bodyPr wrap="square" lIns="50800" tIns="50800" rIns="50800" bIns="50800" rtlCol="0" anchor="t"/>
          <a:lstStyle/>
          <a:p>
            <a:pPr marL="0" indent="0" algn="ctr">
              <a:buNone/>
            </a:pPr>
            <a:r>
              <a:rPr lang="en-US" sz="850" dirty="0">
                <a:solidFill>
                  <a:srgbClr val="E3EAF4"/>
                </a:solidFill>
                <a:latin typeface="Calibri" pitchFamily="34" charset="0"/>
                <a:ea typeface="Calibri" pitchFamily="34" charset="-122"/>
                <a:cs typeface="Calibri" pitchFamily="34" charset="-120"/>
              </a:rPr>
              <a:t>200 OK</a:t>
            </a:r>
            <a:endParaRPr lang="en-US" sz="850" dirty="0"/>
          </a:p>
          <a:p>
            <a:pPr marL="0" indent="0" algn="ctr">
              <a:buNone/>
            </a:pPr>
            <a:r>
              <a:rPr lang="en-US" sz="850" dirty="0">
                <a:solidFill>
                  <a:srgbClr val="E3EAF4"/>
                </a:solidFill>
                <a:latin typeface="Calibri" pitchFamily="34" charset="0"/>
                <a:ea typeface="Calibri" pitchFamily="34" charset="-122"/>
                <a:cs typeface="Calibri" pitchFamily="34" charset="-120"/>
              </a:rPr>
              <a:t>{"data": [...]}</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2465829173"/>
              </p:ext>
            </p:extLst>
          </p:nvPr>
        </p:nvGraphicFramePr>
        <p:xfrm>
          <a:off x="274320" y="2697480"/>
          <a:ext cx="4114800" cy="2194560"/>
        </p:xfrm>
        <a:graphic>
          <a:graphicData uri="http://schemas.openxmlformats.org/drawingml/2006/table">
            <a:tbl>
              <a:tblPr/>
              <a:tblGrid>
                <a:gridCol w="1005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Método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0D1B2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Uso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0D1B2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Idempotente</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760">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Leer datos</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63238"/>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Crear recurso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tc>
                  <a:txBody>
                    <a:bodyPr/>
                    <a:lstStyle/>
                    <a:p>
                      <a:pPr marL="0" indent="0" algn="ctr">
                        <a:buNone/>
                      </a:pPr>
                      <a:r>
                        <a:rPr lang="en-US" sz="1400" dirty="0">
                          <a:solidFill>
                            <a:srgbClr val="263238"/>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extLst>
                  <a:ext uri="{0D108BD9-81ED-4DB2-BD59-A6C34878D82A}">
                    <a16:rowId xmlns:a16="http://schemas.microsoft.com/office/drawing/2014/main" val="10002"/>
                  </a:ext>
                </a:extLst>
              </a:tr>
              <a:tr h="365760">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PUT</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Actualizar completo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63238"/>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PATCH</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Actualizar parcial</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tc>
                  <a:txBody>
                    <a:bodyPr/>
                    <a:lstStyle/>
                    <a:p>
                      <a:pPr marL="0" indent="0" algn="ctr">
                        <a:buNone/>
                      </a:pPr>
                      <a:r>
                        <a:rPr lang="en-US" sz="1400" dirty="0">
                          <a:solidFill>
                            <a:srgbClr val="263238"/>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EFF3F9"/>
                    </a:solidFill>
                  </a:tcPr>
                </a:tc>
                <a:extLst>
                  <a:ext uri="{0D108BD9-81ED-4DB2-BD59-A6C34878D82A}">
                    <a16:rowId xmlns:a16="http://schemas.microsoft.com/office/drawing/2014/main" val="10004"/>
                  </a:ext>
                </a:extLst>
              </a:tr>
              <a:tr h="365760">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DELETE</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63238"/>
                          </a:solidFill>
                          <a:latin typeface="Calibri" pitchFamily="34" charset="0"/>
                          <a:ea typeface="Calibri" pitchFamily="34" charset="-122"/>
                          <a:cs typeface="Calibri" pitchFamily="34" charset="-120"/>
                        </a:rPr>
                        <a:t>Eliminar</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63238"/>
                          </a:solidFill>
                          <a:latin typeface="Calibri" pitchFamily="34" charset="0"/>
                          <a:ea typeface="Calibri" pitchFamily="34" charset="-122"/>
                          <a:cs typeface="Calibri" pitchFamily="34" charset="-120"/>
                        </a:rPr>
                        <a:t>Sí</a:t>
                      </a:r>
                      <a:endParaRPr lang="en-US" sz="1400" dirty="0">
                        <a:latin typeface="Calibri" charset="0"/>
                        <a:ea typeface="Calibri" charset="0"/>
                        <a:cs typeface="Calibri" charset="0"/>
                      </a:endParaRPr>
                    </a:p>
                  </a:txBody>
                  <a:tcPr marL="0" marR="76200" marT="50800" marB="0" anchor="ctr">
                    <a:lnL w="6350" cap="flat" cmpd="sng" algn="ctr">
                      <a:solidFill>
                        <a:srgbClr val="D0D7E3"/>
                      </a:solidFill>
                      <a:prstDash val="solid"/>
                      <a:round/>
                      <a:headEnd type="none" w="med" len="med"/>
                      <a:tailEnd type="none" w="med" len="med"/>
                    </a:lnL>
                    <a:lnR w="6350" cap="flat" cmpd="sng" algn="ctr">
                      <a:solidFill>
                        <a:srgbClr val="D0D7E3"/>
                      </a:solidFill>
                      <a:prstDash val="solid"/>
                      <a:round/>
                      <a:headEnd type="none" w="med" len="med"/>
                      <a:tailEnd type="none" w="med" len="med"/>
                    </a:lnR>
                    <a:lnT w="6350" cap="flat" cmpd="sng" algn="ctr">
                      <a:solidFill>
                        <a:srgbClr val="D0D7E3"/>
                      </a:solidFill>
                      <a:prstDash val="solid"/>
                      <a:round/>
                      <a:headEnd type="none" w="med" len="med"/>
                      <a:tailEnd type="none" w="med" len="med"/>
                    </a:lnT>
                    <a:lnB w="6350" cap="flat" cmpd="sng" algn="ctr">
                      <a:solidFill>
                        <a:srgbClr val="D0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4662129" y="2723884"/>
            <a:ext cx="4206240" cy="274320"/>
          </a:xfrm>
          <a:prstGeom prst="rect">
            <a:avLst/>
          </a:prstGeom>
          <a:noFill/>
          <a:ln/>
        </p:spPr>
        <p:txBody>
          <a:bodyPr wrap="square" lIns="0" tIns="0" rIns="0" bIns="0" rtlCol="0" anchor="ctr"/>
          <a:lstStyle/>
          <a:p>
            <a:pPr marL="0" indent="0">
              <a:buNone/>
            </a:pPr>
            <a:r>
              <a:rPr lang="en-US" b="1" dirty="0">
                <a:solidFill>
                  <a:srgbClr val="263238"/>
                </a:solidFill>
                <a:latin typeface="Calibri" pitchFamily="34" charset="0"/>
                <a:ea typeface="Calibri" pitchFamily="34" charset="-122"/>
                <a:cs typeface="Calibri" pitchFamily="34" charset="-120"/>
              </a:rPr>
              <a:t>Códigos HTTP más usados:</a:t>
            </a:r>
            <a:endParaRPr lang="en-US" dirty="0"/>
          </a:p>
        </p:txBody>
      </p:sp>
      <p:sp>
        <p:nvSpPr>
          <p:cNvPr id="37" name="Text 34"/>
          <p:cNvSpPr/>
          <p:nvPr/>
        </p:nvSpPr>
        <p:spPr>
          <a:xfrm>
            <a:off x="4663440" y="3200400"/>
            <a:ext cx="4206240" cy="1691640"/>
          </a:xfrm>
          <a:prstGeom prst="rect">
            <a:avLst/>
          </a:prstGeom>
          <a:noFill/>
          <a:ln/>
        </p:spPr>
        <p:txBody>
          <a:bodyPr wrap="square" lIns="0" tIns="0" rIns="0" bIns="0" rtlCol="0" anchor="t"/>
          <a:lstStyle/>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200 OK — Éxito en GET/PUT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201 Created — Recurso creado (POST)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204 No Content — Éxito sin cuerpo (DELETE)</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400 Bad Request — Datos inválidos del cliente</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401 Unauthorized — No autenticado</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403 Forbidden — Sin permiso</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404 Not Found — Recurso no existe</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500 Internal Server Error — Error del servidor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HTML5 Semántico — Estructura y etiquetas</a:t>
            </a:r>
            <a:endParaRPr lang="en-US" sz="2200" dirty="0"/>
          </a:p>
        </p:txBody>
      </p:sp>
      <p:sp>
        <p:nvSpPr>
          <p:cNvPr id="4" name="Text 2"/>
          <p:cNvSpPr/>
          <p:nvPr/>
        </p:nvSpPr>
        <p:spPr>
          <a:xfrm>
            <a:off x="365760" y="637953"/>
            <a:ext cx="8412480" cy="367887"/>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2: HTML5 semántico y formularios</a:t>
            </a:r>
            <a:endParaRPr lang="en-US"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sp>
        <p:nvSpPr>
          <p:cNvPr id="6" name="Shape 4"/>
          <p:cNvSpPr/>
          <p:nvPr/>
        </p:nvSpPr>
        <p:spPr>
          <a:xfrm>
            <a:off x="292608" y="1143000"/>
            <a:ext cx="4023360" cy="2394099"/>
          </a:xfrm>
          <a:prstGeom prst="rect">
            <a:avLst/>
          </a:prstGeom>
          <a:solidFill>
            <a:srgbClr val="FFFFFF"/>
          </a:solidFill>
          <a:ln w="12700">
            <a:solidFill>
              <a:srgbClr val="FFCDD2"/>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4023360" cy="365760"/>
          </a:xfrm>
          <a:prstGeom prst="rect">
            <a:avLst/>
          </a:prstGeom>
          <a:solidFill>
            <a:srgbClr val="C62828"/>
          </a:solidFill>
          <a:ln w="12700">
            <a:solidFill>
              <a:srgbClr val="C62828"/>
            </a:solidFill>
            <a:prstDash val="solid"/>
          </a:ln>
        </p:spPr>
      </p:sp>
      <p:sp>
        <p:nvSpPr>
          <p:cNvPr id="8" name="Text 6"/>
          <p:cNvSpPr/>
          <p:nvPr/>
        </p:nvSpPr>
        <p:spPr>
          <a:xfrm>
            <a:off x="292608" y="1143000"/>
            <a:ext cx="40233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Sin semántica (antes)</a:t>
            </a:r>
            <a:endParaRPr lang="en-US" sz="1100" dirty="0"/>
          </a:p>
        </p:txBody>
      </p:sp>
      <p:sp>
        <p:nvSpPr>
          <p:cNvPr id="9" name="Shape 7"/>
          <p:cNvSpPr/>
          <p:nvPr/>
        </p:nvSpPr>
        <p:spPr>
          <a:xfrm>
            <a:off x="384048" y="1572768"/>
            <a:ext cx="3840480" cy="1867609"/>
          </a:xfrm>
          <a:prstGeom prst="rect">
            <a:avLst/>
          </a:prstGeom>
          <a:solidFill>
            <a:srgbClr val="1A1A2E"/>
          </a:solidFill>
          <a:ln w="12700">
            <a:solidFill>
              <a:srgbClr val="334155"/>
            </a:solidFill>
            <a:prstDash val="solid"/>
          </a:ln>
        </p:spPr>
      </p:sp>
      <p:sp>
        <p:nvSpPr>
          <p:cNvPr id="10" name="Text 8"/>
          <p:cNvSpPr/>
          <p:nvPr/>
        </p:nvSpPr>
        <p:spPr>
          <a:xfrm>
            <a:off x="493776" y="1664208"/>
            <a:ext cx="3621024" cy="1776169"/>
          </a:xfrm>
          <a:prstGeom prst="rect">
            <a:avLst/>
          </a:prstGeom>
          <a:noFill/>
          <a:ln/>
        </p:spPr>
        <p:txBody>
          <a:bodyPr wrap="square" lIns="0" tIns="0" rIns="0" bIns="0" rtlCol="0" anchor="t"/>
          <a:lstStyle/>
          <a:p>
            <a:pPr marL="0" indent="0">
              <a:buNone/>
            </a:pPr>
            <a:r>
              <a:rPr lang="en-US" sz="1200" dirty="0">
                <a:solidFill>
                  <a:srgbClr val="82B1FF"/>
                </a:solidFill>
                <a:latin typeface="Consolas" pitchFamily="34" charset="0"/>
                <a:ea typeface="Consolas" pitchFamily="34" charset="-122"/>
                <a:cs typeface="Consolas" pitchFamily="34" charset="-120"/>
              </a:rPr>
              <a:t>&lt;div id='header'&gt;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&lt;div id='nav'&gt;...&lt;/div&gt;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&lt;/div&gt;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&lt;div id='content'&gt;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&lt;div class='post'&gt;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&lt;div class='title’&gt;</a:t>
            </a:r>
            <a:r>
              <a:rPr lang="en-US" sz="1200" dirty="0"/>
              <a:t> </a:t>
            </a:r>
            <a:r>
              <a:rPr lang="en-US" sz="1200" dirty="0" err="1">
                <a:solidFill>
                  <a:srgbClr val="E8EAF6"/>
                </a:solidFill>
                <a:latin typeface="Consolas" pitchFamily="34" charset="0"/>
                <a:ea typeface="Consolas" pitchFamily="34" charset="-122"/>
                <a:cs typeface="Consolas" pitchFamily="34" charset="-120"/>
              </a:rPr>
              <a:t>Articulo</a:t>
            </a:r>
            <a:r>
              <a:rPr lang="en-US" sz="1200" dirty="0">
                <a:solidFill>
                  <a:srgbClr val="E8EAF6"/>
                </a:solidFill>
                <a:latin typeface="Consolas" pitchFamily="34" charset="0"/>
                <a:ea typeface="Consolas" pitchFamily="34" charset="-122"/>
                <a:cs typeface="Consolas" pitchFamily="34" charset="-120"/>
              </a:rPr>
              <a:t>&lt;/div&gt;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&lt;/div&gt;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&lt;/div&gt;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&lt;div id='footer'&gt;...&lt;/div&gt;</a:t>
            </a:r>
            <a:endParaRPr lang="en-US" sz="1200" dirty="0"/>
          </a:p>
        </p:txBody>
      </p:sp>
      <p:sp>
        <p:nvSpPr>
          <p:cNvPr id="11" name="Shape 9"/>
          <p:cNvSpPr/>
          <p:nvPr/>
        </p:nvSpPr>
        <p:spPr>
          <a:xfrm>
            <a:off x="4828032" y="1170327"/>
            <a:ext cx="4023360" cy="2366772"/>
          </a:xfrm>
          <a:prstGeom prst="rect">
            <a:avLst/>
          </a:prstGeom>
          <a:solidFill>
            <a:srgbClr val="FFFFFF"/>
          </a:solidFill>
          <a:ln w="12700">
            <a:solidFill>
              <a:srgbClr val="C8E6C9"/>
            </a:solidFill>
            <a:prstDash val="solid"/>
          </a:ln>
          <a:effectLst>
            <a:outerShdw blurRad="101600" dist="38100" dir="8100000" algn="bl" rotWithShape="0">
              <a:srgbClr val="000000">
                <a:alpha val="18000"/>
              </a:srgbClr>
            </a:outerShdw>
          </a:effectLst>
        </p:spPr>
      </p:sp>
      <p:sp>
        <p:nvSpPr>
          <p:cNvPr id="12" name="Shape 10"/>
          <p:cNvSpPr/>
          <p:nvPr/>
        </p:nvSpPr>
        <p:spPr>
          <a:xfrm>
            <a:off x="4828032" y="1143000"/>
            <a:ext cx="4023360" cy="365760"/>
          </a:xfrm>
          <a:prstGeom prst="rect">
            <a:avLst/>
          </a:prstGeom>
          <a:solidFill>
            <a:srgbClr val="2E7D32"/>
          </a:solidFill>
          <a:ln w="12700">
            <a:solidFill>
              <a:srgbClr val="2E7D32"/>
            </a:solidFill>
            <a:prstDash val="solid"/>
          </a:ln>
        </p:spPr>
      </p:sp>
      <p:sp>
        <p:nvSpPr>
          <p:cNvPr id="13" name="Text 11"/>
          <p:cNvSpPr/>
          <p:nvPr/>
        </p:nvSpPr>
        <p:spPr>
          <a:xfrm>
            <a:off x="4828032" y="1143000"/>
            <a:ext cx="40233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Con semántica (HTML5)</a:t>
            </a:r>
            <a:endParaRPr lang="en-US" sz="1100" dirty="0"/>
          </a:p>
        </p:txBody>
      </p:sp>
      <p:sp>
        <p:nvSpPr>
          <p:cNvPr id="14" name="Shape 12"/>
          <p:cNvSpPr/>
          <p:nvPr/>
        </p:nvSpPr>
        <p:spPr>
          <a:xfrm>
            <a:off x="4919472" y="1572768"/>
            <a:ext cx="3840480" cy="1867609"/>
          </a:xfrm>
          <a:prstGeom prst="rect">
            <a:avLst/>
          </a:prstGeom>
          <a:solidFill>
            <a:srgbClr val="1A1A2E"/>
          </a:solidFill>
          <a:ln w="12700">
            <a:solidFill>
              <a:srgbClr val="334155"/>
            </a:solidFill>
            <a:prstDash val="solid"/>
          </a:ln>
        </p:spPr>
      </p:sp>
      <p:sp>
        <p:nvSpPr>
          <p:cNvPr id="15" name="Text 13"/>
          <p:cNvSpPr/>
          <p:nvPr/>
        </p:nvSpPr>
        <p:spPr>
          <a:xfrm>
            <a:off x="5029200" y="1664208"/>
            <a:ext cx="3621024" cy="1776169"/>
          </a:xfrm>
          <a:prstGeom prst="rect">
            <a:avLst/>
          </a:prstGeom>
          <a:noFill/>
          <a:ln/>
        </p:spPr>
        <p:txBody>
          <a:bodyPr wrap="square" lIns="0" tIns="0" rIns="0" bIns="0" rtlCol="0" anchor="t"/>
          <a:lstStyle/>
          <a:p>
            <a:pPr marL="0" indent="0">
              <a:buNone/>
            </a:pPr>
            <a:r>
              <a:rPr lang="en-US" sz="1200" dirty="0">
                <a:solidFill>
                  <a:srgbClr val="82B1FF"/>
                </a:solidFill>
                <a:latin typeface="Consolas" pitchFamily="34" charset="0"/>
                <a:ea typeface="Consolas" pitchFamily="34" charset="-122"/>
                <a:cs typeface="Consolas" pitchFamily="34" charset="-120"/>
              </a:rPr>
              <a:t>&lt;header role='banner'&gt;</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&lt;nav aria-label='Principal'&gt;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&lt;ul&gt;...&lt;/ul&gt;</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&lt;/nav&gt;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&lt;/header&gt;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&lt;main id='main'&gt;</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&lt;article&gt;</a:t>
            </a:r>
            <a:r>
              <a:rPr lang="en-US" sz="1200" dirty="0"/>
              <a:t> </a:t>
            </a:r>
            <a:r>
              <a:rPr lang="en-US" sz="1200" dirty="0">
                <a:solidFill>
                  <a:srgbClr val="E8EAF6"/>
                </a:solidFill>
                <a:latin typeface="Consolas" pitchFamily="34" charset="0"/>
                <a:ea typeface="Consolas" pitchFamily="34" charset="-122"/>
                <a:cs typeface="Consolas" pitchFamily="34" charset="-120"/>
              </a:rPr>
              <a:t>&lt;h1&gt;Articulo&lt;/h1&gt;</a:t>
            </a:r>
            <a:r>
              <a:rPr lang="en-US" sz="1200" dirty="0"/>
              <a:t> </a:t>
            </a:r>
            <a:r>
              <a:rPr lang="en-US" sz="1200" dirty="0">
                <a:solidFill>
                  <a:srgbClr val="C3E88D"/>
                </a:solidFill>
                <a:latin typeface="Consolas" pitchFamily="34" charset="0"/>
                <a:ea typeface="Consolas" pitchFamily="34" charset="-122"/>
                <a:cs typeface="Consolas" pitchFamily="34" charset="-120"/>
              </a:rPr>
              <a:t>&lt;/article&gt;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&lt;/main&gt;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&lt;footer role='</a:t>
            </a:r>
            <a:r>
              <a:rPr lang="en-US" sz="1200" dirty="0" err="1">
                <a:solidFill>
                  <a:srgbClr val="82B1FF"/>
                </a:solidFill>
                <a:latin typeface="Consolas" pitchFamily="34" charset="0"/>
                <a:ea typeface="Consolas" pitchFamily="34" charset="-122"/>
                <a:cs typeface="Consolas" pitchFamily="34" charset="-120"/>
              </a:rPr>
              <a:t>contentinfo</a:t>
            </a:r>
            <a:r>
              <a:rPr lang="en-US" sz="1200" dirty="0">
                <a:solidFill>
                  <a:srgbClr val="82B1FF"/>
                </a:solidFill>
                <a:latin typeface="Consolas" pitchFamily="34" charset="0"/>
                <a:ea typeface="Consolas" pitchFamily="34" charset="-122"/>
                <a:cs typeface="Consolas" pitchFamily="34" charset="-120"/>
              </a:rPr>
              <a:t>'&gt;&lt;/footer&gt;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2119889137"/>
              </p:ext>
            </p:extLst>
          </p:nvPr>
        </p:nvGraphicFramePr>
        <p:xfrm>
          <a:off x="292608" y="3592989"/>
          <a:ext cx="8558784" cy="1546860"/>
        </p:xfrm>
        <a:graphic>
          <a:graphicData uri="http://schemas.openxmlformats.org/drawingml/2006/table">
            <a:tbl>
              <a:tblPr/>
              <a:tblGrid>
                <a:gridCol w="2315913">
                  <a:extLst>
                    <a:ext uri="{9D8B030D-6E8A-4147-A177-3AD203B41FA5}">
                      <a16:colId xmlns:a16="http://schemas.microsoft.com/office/drawing/2014/main" val="20000"/>
                    </a:ext>
                  </a:extLst>
                </a:gridCol>
                <a:gridCol w="6242871">
                  <a:extLst>
                    <a:ext uri="{9D8B030D-6E8A-4147-A177-3AD203B41FA5}">
                      <a16:colId xmlns:a16="http://schemas.microsoft.com/office/drawing/2014/main" val="20001"/>
                    </a:ext>
                  </a:extLst>
                </a:gridCol>
              </a:tblGrid>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&lt;header&gt;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Encabezado de la página o sección</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extLst>
                  <a:ext uri="{0D108BD9-81ED-4DB2-BD59-A6C34878D82A}">
                    <a16:rowId xmlns:a16="http://schemas.microsoft.com/office/drawing/2014/main" val="10000"/>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&lt;nav&gt;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Navegación principal</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&lt;main&gt;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Contenido principal (único por página)</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&lt;article&gt;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Contenido autónomo y reutilizable</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&lt;section&gt;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Agrupación temática con heading</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extLst>
                  <a:ext uri="{0D108BD9-81ED-4DB2-BD59-A6C34878D82A}">
                    <a16:rowId xmlns:a16="http://schemas.microsoft.com/office/drawing/2014/main" val="10004"/>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&lt;aside&gt;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Contenido relacionado pero separable</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4398">
                <a:tc>
                  <a:txBody>
                    <a:bodyPr/>
                    <a:lstStyle/>
                    <a:p>
                      <a:pPr marL="0" indent="0" algn="l">
                        <a:buNone/>
                      </a:pPr>
                      <a:r>
                        <a:rPr lang="en-US" sz="1200" b="1" dirty="0">
                          <a:solidFill>
                            <a:srgbClr val="1565C0"/>
                          </a:solidFill>
                          <a:latin typeface="Consolas" pitchFamily="34" charset="0"/>
                          <a:ea typeface="Consolas" pitchFamily="34" charset="-122"/>
                          <a:cs typeface="Consolas" pitchFamily="34" charset="-120"/>
                        </a:rPr>
                        <a:t>&lt;footer&gt;</a:t>
                      </a:r>
                      <a:endParaRPr lang="en-US" sz="1200" dirty="0">
                        <a:latin typeface="Consolas" charset="0"/>
                        <a:ea typeface="Consolas" charset="0"/>
                        <a:cs typeface="Consolas"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Pie de página o sección</a:t>
                      </a:r>
                      <a:endParaRPr lang="en-US" sz="1200" dirty="0">
                        <a:latin typeface="Calibri" charset="0"/>
                        <a:ea typeface="Calibri" charset="0"/>
                        <a:cs typeface="Calibri" charset="0"/>
                      </a:endParaRPr>
                    </a:p>
                  </a:txBody>
                  <a:tcPr marL="0" marR="76200" marT="38100" marB="0" anchor="ct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E3F2F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Accesibilidad — WCAG 2.1 y ARIA</a:t>
            </a:r>
            <a:endParaRPr lang="en-US" sz="2200" dirty="0"/>
          </a:p>
        </p:txBody>
      </p:sp>
      <p:sp>
        <p:nvSpPr>
          <p:cNvPr id="4" name="Text 2"/>
          <p:cNvSpPr/>
          <p:nvPr/>
        </p:nvSpPr>
        <p:spPr>
          <a:xfrm>
            <a:off x="365760" y="645042"/>
            <a:ext cx="8412480" cy="360798"/>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2: Principios POUR y atributos ARIA</a:t>
            </a:r>
            <a:endParaRPr lang="en-US" sz="2000"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sp>
        <p:nvSpPr>
          <p:cNvPr id="6" name="Shape 4"/>
          <p:cNvSpPr/>
          <p:nvPr/>
        </p:nvSpPr>
        <p:spPr>
          <a:xfrm>
            <a:off x="292608"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2011680" cy="640080"/>
          </a:xfrm>
          <a:prstGeom prst="rect">
            <a:avLst/>
          </a:prstGeom>
          <a:solidFill>
            <a:srgbClr val="1565C0"/>
          </a:solidFill>
          <a:ln w="12700">
            <a:solidFill>
              <a:srgbClr val="1565C0"/>
            </a:solidFill>
            <a:prstDash val="solid"/>
          </a:ln>
        </p:spPr>
      </p:sp>
      <p:sp>
        <p:nvSpPr>
          <p:cNvPr id="8" name="Text 6"/>
          <p:cNvSpPr/>
          <p:nvPr/>
        </p:nvSpPr>
        <p:spPr>
          <a:xfrm>
            <a:off x="292608"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P</a:t>
            </a:r>
            <a:endParaRPr lang="en-US" sz="3200" dirty="0"/>
          </a:p>
        </p:txBody>
      </p:sp>
      <p:sp>
        <p:nvSpPr>
          <p:cNvPr id="9" name="Text 7"/>
          <p:cNvSpPr/>
          <p:nvPr/>
        </p:nvSpPr>
        <p:spPr>
          <a:xfrm>
            <a:off x="932688"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Perceptible</a:t>
            </a:r>
            <a:endParaRPr lang="en-US" sz="1200" dirty="0"/>
          </a:p>
        </p:txBody>
      </p:sp>
      <p:sp>
        <p:nvSpPr>
          <p:cNvPr id="10" name="Text 8"/>
          <p:cNvSpPr/>
          <p:nvPr/>
        </p:nvSpPr>
        <p:spPr>
          <a:xfrm>
            <a:off x="365760" y="1810512"/>
            <a:ext cx="1865376" cy="1188720"/>
          </a:xfrm>
          <a:prstGeom prst="rect">
            <a:avLst/>
          </a:prstGeom>
          <a:noFill/>
          <a:ln/>
        </p:spPr>
        <p:txBody>
          <a:bodyPr wrap="square" lIns="76200" tIns="76200" rIns="76200" bIns="76200" rtlCol="0" anchor="t"/>
          <a:lstStyle/>
          <a:p>
            <a:pPr marL="0" indent="0">
              <a:buNone/>
            </a:pPr>
            <a:r>
              <a:rPr lang="en-US" sz="1200" dirty="0">
                <a:solidFill>
                  <a:srgbClr val="455A64"/>
                </a:solidFill>
                <a:latin typeface="Calibri" pitchFamily="34" charset="0"/>
                <a:ea typeface="Calibri" pitchFamily="34" charset="-122"/>
                <a:cs typeface="Calibri" pitchFamily="34" charset="-120"/>
              </a:rPr>
              <a:t>La información debe ser presentable de múltiples formas. Ej: alt en </a:t>
            </a:r>
            <a:r>
              <a:rPr lang="en-US" sz="1400" dirty="0">
                <a:solidFill>
                  <a:srgbClr val="455A64"/>
                </a:solidFill>
                <a:latin typeface="Calibri" pitchFamily="34" charset="0"/>
                <a:ea typeface="Calibri" pitchFamily="34" charset="-122"/>
                <a:cs typeface="Calibri" pitchFamily="34" charset="-120"/>
              </a:rPr>
              <a:t>imágenes</a:t>
            </a:r>
            <a:r>
              <a:rPr lang="en-US" sz="1200" dirty="0">
                <a:solidFill>
                  <a:srgbClr val="455A64"/>
                </a:solidFill>
                <a:latin typeface="Calibri" pitchFamily="34" charset="0"/>
                <a:ea typeface="Calibri" pitchFamily="34" charset="-122"/>
                <a:cs typeface="Calibri" pitchFamily="34" charset="-120"/>
              </a:rPr>
              <a:t>, subtítulos en videos.</a:t>
            </a:r>
            <a:endParaRPr lang="en-US" sz="1200" dirty="0"/>
          </a:p>
        </p:txBody>
      </p:sp>
      <p:sp>
        <p:nvSpPr>
          <p:cNvPr id="11" name="Shape 9"/>
          <p:cNvSpPr/>
          <p:nvPr/>
        </p:nvSpPr>
        <p:spPr>
          <a:xfrm>
            <a:off x="2450592"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2" name="Shape 10"/>
          <p:cNvSpPr/>
          <p:nvPr/>
        </p:nvSpPr>
        <p:spPr>
          <a:xfrm>
            <a:off x="2450592" y="1143000"/>
            <a:ext cx="2011680" cy="640080"/>
          </a:xfrm>
          <a:prstGeom prst="rect">
            <a:avLst/>
          </a:prstGeom>
          <a:solidFill>
            <a:srgbClr val="00897B"/>
          </a:solidFill>
          <a:ln w="12700">
            <a:solidFill>
              <a:srgbClr val="00897B"/>
            </a:solidFill>
            <a:prstDash val="solid"/>
          </a:ln>
        </p:spPr>
      </p:sp>
      <p:sp>
        <p:nvSpPr>
          <p:cNvPr id="13" name="Text 11"/>
          <p:cNvSpPr/>
          <p:nvPr/>
        </p:nvSpPr>
        <p:spPr>
          <a:xfrm>
            <a:off x="2450592"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O</a:t>
            </a:r>
            <a:endParaRPr lang="en-US" sz="3200" dirty="0"/>
          </a:p>
        </p:txBody>
      </p:sp>
      <p:sp>
        <p:nvSpPr>
          <p:cNvPr id="14" name="Text 12"/>
          <p:cNvSpPr/>
          <p:nvPr/>
        </p:nvSpPr>
        <p:spPr>
          <a:xfrm>
            <a:off x="3090672"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Operable</a:t>
            </a:r>
            <a:endParaRPr lang="en-US" sz="1200" dirty="0"/>
          </a:p>
        </p:txBody>
      </p:sp>
      <p:sp>
        <p:nvSpPr>
          <p:cNvPr id="15" name="Text 13"/>
          <p:cNvSpPr/>
          <p:nvPr/>
        </p:nvSpPr>
        <p:spPr>
          <a:xfrm>
            <a:off x="2523744" y="1810512"/>
            <a:ext cx="1865376" cy="1188720"/>
          </a:xfrm>
          <a:prstGeom prst="rect">
            <a:avLst/>
          </a:prstGeom>
          <a:noFill/>
          <a:ln/>
        </p:spPr>
        <p:txBody>
          <a:bodyPr wrap="square" lIns="76200" tIns="76200" rIns="76200" bIns="76200" rtlCol="0" anchor="t"/>
          <a:lstStyle/>
          <a:p>
            <a:pPr marL="0" indent="0">
              <a:buNone/>
            </a:pPr>
            <a:r>
              <a:rPr lang="en-US" sz="1200" dirty="0">
                <a:solidFill>
                  <a:srgbClr val="455A64"/>
                </a:solidFill>
                <a:latin typeface="Calibri" pitchFamily="34" charset="0"/>
                <a:ea typeface="Calibri" pitchFamily="34" charset="-122"/>
                <a:cs typeface="Calibri" pitchFamily="34" charset="-120"/>
              </a:rPr>
              <a:t>Los controles deben funcionar con teclado, no solo con ratón. Ej: focus visible, skip links.</a:t>
            </a:r>
            <a:endParaRPr lang="en-US" sz="1200" dirty="0"/>
          </a:p>
        </p:txBody>
      </p:sp>
      <p:sp>
        <p:nvSpPr>
          <p:cNvPr id="16" name="Shape 14"/>
          <p:cNvSpPr/>
          <p:nvPr/>
        </p:nvSpPr>
        <p:spPr>
          <a:xfrm>
            <a:off x="4608576"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7" name="Shape 15"/>
          <p:cNvSpPr/>
          <p:nvPr/>
        </p:nvSpPr>
        <p:spPr>
          <a:xfrm>
            <a:off x="4608576" y="1143000"/>
            <a:ext cx="2011680" cy="640080"/>
          </a:xfrm>
          <a:prstGeom prst="rect">
            <a:avLst/>
          </a:prstGeom>
          <a:solidFill>
            <a:srgbClr val="F57C00"/>
          </a:solidFill>
          <a:ln w="12700">
            <a:solidFill>
              <a:srgbClr val="F57C00"/>
            </a:solidFill>
            <a:prstDash val="solid"/>
          </a:ln>
        </p:spPr>
      </p:sp>
      <p:sp>
        <p:nvSpPr>
          <p:cNvPr id="18" name="Text 16"/>
          <p:cNvSpPr/>
          <p:nvPr/>
        </p:nvSpPr>
        <p:spPr>
          <a:xfrm>
            <a:off x="4608576"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U</a:t>
            </a:r>
            <a:endParaRPr lang="en-US" sz="3200" dirty="0"/>
          </a:p>
        </p:txBody>
      </p:sp>
      <p:sp>
        <p:nvSpPr>
          <p:cNvPr id="19" name="Text 17"/>
          <p:cNvSpPr/>
          <p:nvPr/>
        </p:nvSpPr>
        <p:spPr>
          <a:xfrm>
            <a:off x="5248656"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Comprensible</a:t>
            </a:r>
            <a:endParaRPr lang="en-US" sz="1200" dirty="0"/>
          </a:p>
        </p:txBody>
      </p:sp>
      <p:sp>
        <p:nvSpPr>
          <p:cNvPr id="20" name="Text 18"/>
          <p:cNvSpPr/>
          <p:nvPr/>
        </p:nvSpPr>
        <p:spPr>
          <a:xfrm>
            <a:off x="4681728" y="1810512"/>
            <a:ext cx="1865376" cy="1188720"/>
          </a:xfrm>
          <a:prstGeom prst="rect">
            <a:avLst/>
          </a:prstGeom>
          <a:noFill/>
          <a:ln/>
        </p:spPr>
        <p:txBody>
          <a:bodyPr wrap="square" lIns="76200" tIns="76200" rIns="76200" bIns="76200" rtlCol="0" anchor="t"/>
          <a:lstStyle/>
          <a:p>
            <a:pPr marL="0" indent="0">
              <a:buNone/>
            </a:pPr>
            <a:r>
              <a:rPr lang="en-US" sz="1200" dirty="0">
                <a:solidFill>
                  <a:srgbClr val="455A64"/>
                </a:solidFill>
                <a:latin typeface="Calibri" pitchFamily="34" charset="0"/>
                <a:ea typeface="Calibri" pitchFamily="34" charset="-122"/>
                <a:cs typeface="Calibri" pitchFamily="34" charset="-120"/>
              </a:rPr>
              <a:t>El idioma debe estar declarado. Los errores de formulario deben explicarse con texto.</a:t>
            </a:r>
            <a:endParaRPr lang="en-US" sz="1200" dirty="0"/>
          </a:p>
        </p:txBody>
      </p:sp>
      <p:sp>
        <p:nvSpPr>
          <p:cNvPr id="21" name="Shape 19"/>
          <p:cNvSpPr/>
          <p:nvPr/>
        </p:nvSpPr>
        <p:spPr>
          <a:xfrm>
            <a:off x="6766560"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2" name="Shape 20"/>
          <p:cNvSpPr/>
          <p:nvPr/>
        </p:nvSpPr>
        <p:spPr>
          <a:xfrm>
            <a:off x="6766560" y="1143000"/>
            <a:ext cx="2011680" cy="640080"/>
          </a:xfrm>
          <a:prstGeom prst="rect">
            <a:avLst/>
          </a:prstGeom>
          <a:solidFill>
            <a:srgbClr val="2E7D32"/>
          </a:solidFill>
          <a:ln w="12700">
            <a:solidFill>
              <a:srgbClr val="2E7D32"/>
            </a:solidFill>
            <a:prstDash val="solid"/>
          </a:ln>
        </p:spPr>
      </p:sp>
      <p:sp>
        <p:nvSpPr>
          <p:cNvPr id="23" name="Text 21"/>
          <p:cNvSpPr/>
          <p:nvPr/>
        </p:nvSpPr>
        <p:spPr>
          <a:xfrm>
            <a:off x="6766560"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R</a:t>
            </a:r>
            <a:endParaRPr lang="en-US" sz="3200" dirty="0"/>
          </a:p>
        </p:txBody>
      </p:sp>
      <p:sp>
        <p:nvSpPr>
          <p:cNvPr id="24" name="Text 22"/>
          <p:cNvSpPr/>
          <p:nvPr/>
        </p:nvSpPr>
        <p:spPr>
          <a:xfrm>
            <a:off x="7406640"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Robusto</a:t>
            </a:r>
            <a:endParaRPr lang="en-US" sz="1200" dirty="0"/>
          </a:p>
        </p:txBody>
      </p:sp>
      <p:sp>
        <p:nvSpPr>
          <p:cNvPr id="25" name="Text 23"/>
          <p:cNvSpPr/>
          <p:nvPr/>
        </p:nvSpPr>
        <p:spPr>
          <a:xfrm>
            <a:off x="6839712" y="1810512"/>
            <a:ext cx="1865376" cy="1188720"/>
          </a:xfrm>
          <a:prstGeom prst="rect">
            <a:avLst/>
          </a:prstGeom>
          <a:noFill/>
          <a:ln/>
        </p:spPr>
        <p:txBody>
          <a:bodyPr wrap="square" lIns="76200" tIns="76200" rIns="76200" bIns="76200" rtlCol="0" anchor="t"/>
          <a:lstStyle/>
          <a:p>
            <a:pPr marL="0" indent="0">
              <a:buNone/>
            </a:pPr>
            <a:r>
              <a:rPr lang="en-US" sz="1200" dirty="0">
                <a:solidFill>
                  <a:srgbClr val="455A64"/>
                </a:solidFill>
                <a:latin typeface="Calibri" pitchFamily="34" charset="0"/>
                <a:ea typeface="Calibri" pitchFamily="34" charset="-122"/>
                <a:cs typeface="Calibri" pitchFamily="34" charset="-120"/>
              </a:rPr>
              <a:t>El HTML debe ser válido para que las herramientas de asistencia puedan interpretarlo correctamente.</a:t>
            </a:r>
            <a:endParaRPr lang="en-US" sz="1200" dirty="0"/>
          </a:p>
        </p:txBody>
      </p:sp>
      <p:sp>
        <p:nvSpPr>
          <p:cNvPr id="26" name="Text 24"/>
          <p:cNvSpPr/>
          <p:nvPr/>
        </p:nvSpPr>
        <p:spPr>
          <a:xfrm>
            <a:off x="292608" y="3154680"/>
            <a:ext cx="5486400" cy="274320"/>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Atributos ARIA más usados:</a:t>
            </a:r>
            <a:endParaRPr lang="en-US" sz="1200" dirty="0"/>
          </a:p>
        </p:txBody>
      </p:sp>
      <p:sp>
        <p:nvSpPr>
          <p:cNvPr id="27" name="Shape 25"/>
          <p:cNvSpPr/>
          <p:nvPr/>
        </p:nvSpPr>
        <p:spPr>
          <a:xfrm>
            <a:off x="292608" y="3474720"/>
            <a:ext cx="5486400" cy="1508760"/>
          </a:xfrm>
          <a:prstGeom prst="rect">
            <a:avLst/>
          </a:prstGeom>
          <a:solidFill>
            <a:srgbClr val="1A1A2E"/>
          </a:solidFill>
          <a:ln w="12700">
            <a:solidFill>
              <a:srgbClr val="334155"/>
            </a:solidFill>
            <a:prstDash val="solid"/>
          </a:ln>
        </p:spPr>
      </p:sp>
      <p:sp>
        <p:nvSpPr>
          <p:cNvPr id="28" name="Text 26"/>
          <p:cNvSpPr/>
          <p:nvPr/>
        </p:nvSpPr>
        <p:spPr>
          <a:xfrm>
            <a:off x="402336" y="3566160"/>
            <a:ext cx="5266944" cy="1325880"/>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&lt;!-- Describe el propósito de un elemento --&gt;</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&lt;button aria-label="Cerrar modal"&gt;</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&lt;!-- Anuncia cambios dinámicos a lectores de pantalla --&gt;</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&lt;div aria-live="polite" role="status"&gt;&lt;/div&gt;</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&lt;!-- Estado de un toggle --&gt;</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&lt;button aria-pressed="false"&gt;Modo oscuro&lt;/button&gt;</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&lt;!-- Asocia descripción de error a un campo --&gt;</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&lt;input aria-describedby="error-email"&gt;</a:t>
            </a:r>
            <a:endParaRPr lang="en-US" sz="1000" dirty="0"/>
          </a:p>
        </p:txBody>
      </p:sp>
      <p:sp>
        <p:nvSpPr>
          <p:cNvPr id="29" name="Text 27"/>
          <p:cNvSpPr/>
          <p:nvPr/>
        </p:nvSpPr>
        <p:spPr>
          <a:xfrm>
            <a:off x="5943600" y="3154680"/>
            <a:ext cx="2926080" cy="274320"/>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Herramientas de auditoría:</a:t>
            </a:r>
            <a:endParaRPr lang="en-US" sz="1200" dirty="0"/>
          </a:p>
        </p:txBody>
      </p:sp>
      <p:sp>
        <p:nvSpPr>
          <p:cNvPr id="30" name="Text 28"/>
          <p:cNvSpPr/>
          <p:nvPr/>
        </p:nvSpPr>
        <p:spPr>
          <a:xfrm>
            <a:off x="5943600" y="3474720"/>
            <a:ext cx="2926080" cy="347472"/>
          </a:xfrm>
          <a:prstGeom prst="rect">
            <a:avLst/>
          </a:prstGeom>
          <a:noFill/>
          <a:ln/>
        </p:spPr>
        <p:txBody>
          <a:bodyPr wrap="square" lIns="50800" tIns="50800" rIns="50800" bIns="50800" rtlCol="0" anchor="ctr"/>
          <a:lstStyle/>
          <a:p>
            <a:pPr marL="342900" indent="-342900">
              <a:buSzPct val="100000"/>
              <a:buChar char="•"/>
            </a:pPr>
            <a:r>
              <a:rPr lang="en-US" sz="950" dirty="0">
                <a:solidFill>
                  <a:srgbClr val="263238"/>
                </a:solidFill>
                <a:latin typeface="Calibri" pitchFamily="34" charset="0"/>
                <a:ea typeface="Calibri" pitchFamily="34" charset="-122"/>
                <a:cs typeface="Calibri" pitchFamily="34" charset="-120"/>
              </a:rPr>
              <a:t>Lighthouse: Chrome DevTools → F12 → Lighthouse. Score 0-100.</a:t>
            </a:r>
            <a:endParaRPr lang="en-US" sz="950" dirty="0"/>
          </a:p>
        </p:txBody>
      </p:sp>
      <p:sp>
        <p:nvSpPr>
          <p:cNvPr id="31" name="Text 29"/>
          <p:cNvSpPr/>
          <p:nvPr/>
        </p:nvSpPr>
        <p:spPr>
          <a:xfrm>
            <a:off x="5943600" y="3858768"/>
            <a:ext cx="2926080" cy="347472"/>
          </a:xfrm>
          <a:prstGeom prst="rect">
            <a:avLst/>
          </a:prstGeom>
          <a:noFill/>
          <a:ln/>
        </p:spPr>
        <p:txBody>
          <a:bodyPr wrap="square" lIns="50800" tIns="50800" rIns="50800" bIns="50800" rtlCol="0" anchor="ctr"/>
          <a:lstStyle/>
          <a:p>
            <a:pPr marL="342900" indent="-342900">
              <a:buSzPct val="100000"/>
              <a:buChar char="•"/>
            </a:pPr>
            <a:r>
              <a:rPr lang="en-US" sz="950" dirty="0">
                <a:solidFill>
                  <a:srgbClr val="263238"/>
                </a:solidFill>
                <a:latin typeface="Calibri" pitchFamily="34" charset="0"/>
                <a:ea typeface="Calibri" pitchFamily="34" charset="-122"/>
                <a:cs typeface="Calibri" pitchFamily="34" charset="-120"/>
              </a:rPr>
              <a:t>WAVE: Extensión Chrome. Detecta errores WCAG visualmente.</a:t>
            </a:r>
            <a:endParaRPr lang="en-US" sz="950" dirty="0"/>
          </a:p>
        </p:txBody>
      </p:sp>
      <p:sp>
        <p:nvSpPr>
          <p:cNvPr id="32" name="Text 30"/>
          <p:cNvSpPr/>
          <p:nvPr/>
        </p:nvSpPr>
        <p:spPr>
          <a:xfrm>
            <a:off x="5943600" y="4242816"/>
            <a:ext cx="2926080" cy="347472"/>
          </a:xfrm>
          <a:prstGeom prst="rect">
            <a:avLst/>
          </a:prstGeom>
          <a:noFill/>
          <a:ln/>
        </p:spPr>
        <p:txBody>
          <a:bodyPr wrap="square" lIns="50800" tIns="50800" rIns="50800" bIns="50800" rtlCol="0" anchor="ctr"/>
          <a:lstStyle/>
          <a:p>
            <a:pPr marL="342900" indent="-342900">
              <a:buSzPct val="100000"/>
              <a:buChar char="•"/>
            </a:pPr>
            <a:r>
              <a:rPr lang="en-US" sz="950" dirty="0">
                <a:solidFill>
                  <a:srgbClr val="263238"/>
                </a:solidFill>
                <a:latin typeface="Calibri" pitchFamily="34" charset="0"/>
                <a:ea typeface="Calibri" pitchFamily="34" charset="-122"/>
                <a:cs typeface="Calibri" pitchFamily="34" charset="-120"/>
              </a:rPr>
              <a:t>axe DevTools: Extensión o plugin VS Code. Detecta ARIA inválido.</a:t>
            </a:r>
            <a:endParaRPr lang="en-US" sz="950" dirty="0"/>
          </a:p>
        </p:txBody>
      </p:sp>
      <p:sp>
        <p:nvSpPr>
          <p:cNvPr id="33" name="Text 31"/>
          <p:cNvSpPr/>
          <p:nvPr/>
        </p:nvSpPr>
        <p:spPr>
          <a:xfrm>
            <a:off x="5943600" y="4626864"/>
            <a:ext cx="2926080" cy="347472"/>
          </a:xfrm>
          <a:prstGeom prst="rect">
            <a:avLst/>
          </a:prstGeom>
          <a:noFill/>
          <a:ln/>
        </p:spPr>
        <p:txBody>
          <a:bodyPr wrap="square" lIns="50800" tIns="50800" rIns="50800" bIns="50800" rtlCol="0" anchor="ctr"/>
          <a:lstStyle/>
          <a:p>
            <a:pPr marL="342900" indent="-342900">
              <a:buSzPct val="100000"/>
              <a:buChar char="•"/>
            </a:pPr>
            <a:r>
              <a:rPr lang="en-US" sz="950" dirty="0">
                <a:solidFill>
                  <a:srgbClr val="263238"/>
                </a:solidFill>
                <a:latin typeface="Calibri" pitchFamily="34" charset="0"/>
                <a:ea typeface="Calibri" pitchFamily="34" charset="-122"/>
                <a:cs typeface="Calibri" pitchFamily="34" charset="-120"/>
              </a:rPr>
              <a:t>W3C Validator: validator.w3.org — HTML válido = base de accesibilidad.</a:t>
            </a:r>
            <a:endParaRPr lang="en-US" sz="950" dirty="0"/>
          </a:p>
        </p:txBody>
      </p:sp>
    </p:spTree>
    <p:extLst>
      <p:ext uri="{BB962C8B-B14F-4D97-AF65-F5344CB8AC3E}">
        <p14:creationId xmlns:p14="http://schemas.microsoft.com/office/powerpoint/2010/main" val="94425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Accesibilidad — WCAG 2.1 y ARIA</a:t>
            </a:r>
            <a:endParaRPr lang="en-US" sz="2200" dirty="0"/>
          </a:p>
        </p:txBody>
      </p:sp>
      <p:sp>
        <p:nvSpPr>
          <p:cNvPr id="4" name="Text 2"/>
          <p:cNvSpPr/>
          <p:nvPr/>
        </p:nvSpPr>
        <p:spPr>
          <a:xfrm>
            <a:off x="365760" y="623777"/>
            <a:ext cx="8412480" cy="382063"/>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2: Principios POUR y atributos ARIA</a:t>
            </a:r>
            <a:endParaRPr lang="en-US" sz="2000"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sp>
        <p:nvSpPr>
          <p:cNvPr id="6" name="Shape 4"/>
          <p:cNvSpPr/>
          <p:nvPr/>
        </p:nvSpPr>
        <p:spPr>
          <a:xfrm>
            <a:off x="292608"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2011680" cy="640080"/>
          </a:xfrm>
          <a:prstGeom prst="rect">
            <a:avLst/>
          </a:prstGeom>
          <a:solidFill>
            <a:srgbClr val="1565C0"/>
          </a:solidFill>
          <a:ln w="12700">
            <a:solidFill>
              <a:srgbClr val="1565C0"/>
            </a:solidFill>
            <a:prstDash val="solid"/>
          </a:ln>
        </p:spPr>
      </p:sp>
      <p:sp>
        <p:nvSpPr>
          <p:cNvPr id="8" name="Text 6"/>
          <p:cNvSpPr/>
          <p:nvPr/>
        </p:nvSpPr>
        <p:spPr>
          <a:xfrm>
            <a:off x="292608"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P</a:t>
            </a:r>
            <a:endParaRPr lang="en-US" sz="3200" dirty="0"/>
          </a:p>
        </p:txBody>
      </p:sp>
      <p:sp>
        <p:nvSpPr>
          <p:cNvPr id="9" name="Text 7"/>
          <p:cNvSpPr/>
          <p:nvPr/>
        </p:nvSpPr>
        <p:spPr>
          <a:xfrm>
            <a:off x="932688"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Perceptible</a:t>
            </a:r>
            <a:endParaRPr lang="en-US" sz="1200" dirty="0"/>
          </a:p>
        </p:txBody>
      </p:sp>
      <p:sp>
        <p:nvSpPr>
          <p:cNvPr id="10" name="Text 8"/>
          <p:cNvSpPr/>
          <p:nvPr/>
        </p:nvSpPr>
        <p:spPr>
          <a:xfrm>
            <a:off x="365760" y="1810512"/>
            <a:ext cx="1865376" cy="1188720"/>
          </a:xfrm>
          <a:prstGeom prst="rect">
            <a:avLst/>
          </a:prstGeom>
          <a:noFill/>
          <a:ln/>
        </p:spPr>
        <p:txBody>
          <a:bodyPr wrap="square" lIns="76200" tIns="76200" rIns="76200" bIns="76200" rtlCol="0" anchor="t"/>
          <a:lstStyle/>
          <a:p>
            <a:pPr marL="0" indent="0">
              <a:buNone/>
            </a:pPr>
            <a:r>
              <a:rPr lang="en-US" sz="950" dirty="0">
                <a:solidFill>
                  <a:srgbClr val="455A64"/>
                </a:solidFill>
                <a:latin typeface="Calibri" pitchFamily="34" charset="0"/>
                <a:ea typeface="Calibri" pitchFamily="34" charset="-122"/>
                <a:cs typeface="Calibri" pitchFamily="34" charset="-120"/>
              </a:rPr>
              <a:t>La información debe ser presentable de múltiples formas. Ej: alt en imágenes, subtítulos en videos.</a:t>
            </a:r>
            <a:endParaRPr lang="en-US" sz="950" dirty="0"/>
          </a:p>
        </p:txBody>
      </p:sp>
      <p:sp>
        <p:nvSpPr>
          <p:cNvPr id="11" name="Shape 9"/>
          <p:cNvSpPr/>
          <p:nvPr/>
        </p:nvSpPr>
        <p:spPr>
          <a:xfrm>
            <a:off x="2450592"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2" name="Shape 10"/>
          <p:cNvSpPr/>
          <p:nvPr/>
        </p:nvSpPr>
        <p:spPr>
          <a:xfrm>
            <a:off x="2450592" y="1143000"/>
            <a:ext cx="2011680" cy="640080"/>
          </a:xfrm>
          <a:prstGeom prst="rect">
            <a:avLst/>
          </a:prstGeom>
          <a:solidFill>
            <a:srgbClr val="00897B"/>
          </a:solidFill>
          <a:ln w="12700">
            <a:solidFill>
              <a:srgbClr val="00897B"/>
            </a:solidFill>
            <a:prstDash val="solid"/>
          </a:ln>
        </p:spPr>
      </p:sp>
      <p:sp>
        <p:nvSpPr>
          <p:cNvPr id="13" name="Text 11"/>
          <p:cNvSpPr/>
          <p:nvPr/>
        </p:nvSpPr>
        <p:spPr>
          <a:xfrm>
            <a:off x="2450592"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O</a:t>
            </a:r>
            <a:endParaRPr lang="en-US" sz="3200" dirty="0"/>
          </a:p>
        </p:txBody>
      </p:sp>
      <p:sp>
        <p:nvSpPr>
          <p:cNvPr id="14" name="Text 12"/>
          <p:cNvSpPr/>
          <p:nvPr/>
        </p:nvSpPr>
        <p:spPr>
          <a:xfrm>
            <a:off x="3090672"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Operable</a:t>
            </a:r>
            <a:endParaRPr lang="en-US" sz="1200" dirty="0"/>
          </a:p>
        </p:txBody>
      </p:sp>
      <p:sp>
        <p:nvSpPr>
          <p:cNvPr id="15" name="Text 13"/>
          <p:cNvSpPr/>
          <p:nvPr/>
        </p:nvSpPr>
        <p:spPr>
          <a:xfrm>
            <a:off x="2523744" y="1810512"/>
            <a:ext cx="1865376" cy="1188720"/>
          </a:xfrm>
          <a:prstGeom prst="rect">
            <a:avLst/>
          </a:prstGeom>
          <a:noFill/>
          <a:ln/>
        </p:spPr>
        <p:txBody>
          <a:bodyPr wrap="square" lIns="76200" tIns="76200" rIns="76200" bIns="76200" rtlCol="0" anchor="t"/>
          <a:lstStyle/>
          <a:p>
            <a:pPr marL="0" indent="0">
              <a:buNone/>
            </a:pPr>
            <a:r>
              <a:rPr lang="en-US" sz="950" dirty="0">
                <a:solidFill>
                  <a:srgbClr val="455A64"/>
                </a:solidFill>
                <a:latin typeface="Calibri" pitchFamily="34" charset="0"/>
                <a:ea typeface="Calibri" pitchFamily="34" charset="-122"/>
                <a:cs typeface="Calibri" pitchFamily="34" charset="-120"/>
              </a:rPr>
              <a:t>Los controles deben funcionar con teclado, no solo con ratón. Ej: focus visible, skip links.</a:t>
            </a:r>
            <a:endParaRPr lang="en-US" sz="950" dirty="0"/>
          </a:p>
        </p:txBody>
      </p:sp>
      <p:sp>
        <p:nvSpPr>
          <p:cNvPr id="16" name="Shape 14"/>
          <p:cNvSpPr/>
          <p:nvPr/>
        </p:nvSpPr>
        <p:spPr>
          <a:xfrm>
            <a:off x="4608576"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7" name="Shape 15"/>
          <p:cNvSpPr/>
          <p:nvPr/>
        </p:nvSpPr>
        <p:spPr>
          <a:xfrm>
            <a:off x="4608576" y="1143000"/>
            <a:ext cx="2011680" cy="640080"/>
          </a:xfrm>
          <a:prstGeom prst="rect">
            <a:avLst/>
          </a:prstGeom>
          <a:solidFill>
            <a:srgbClr val="F57C00"/>
          </a:solidFill>
          <a:ln w="12700">
            <a:solidFill>
              <a:srgbClr val="F57C00"/>
            </a:solidFill>
            <a:prstDash val="solid"/>
          </a:ln>
        </p:spPr>
      </p:sp>
      <p:sp>
        <p:nvSpPr>
          <p:cNvPr id="18" name="Text 16"/>
          <p:cNvSpPr/>
          <p:nvPr/>
        </p:nvSpPr>
        <p:spPr>
          <a:xfrm>
            <a:off x="4608576"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U</a:t>
            </a:r>
            <a:endParaRPr lang="en-US" sz="3200" dirty="0"/>
          </a:p>
        </p:txBody>
      </p:sp>
      <p:sp>
        <p:nvSpPr>
          <p:cNvPr id="19" name="Text 17"/>
          <p:cNvSpPr/>
          <p:nvPr/>
        </p:nvSpPr>
        <p:spPr>
          <a:xfrm>
            <a:off x="5248656"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Comprensible</a:t>
            </a:r>
            <a:endParaRPr lang="en-US" sz="1200" dirty="0"/>
          </a:p>
        </p:txBody>
      </p:sp>
      <p:sp>
        <p:nvSpPr>
          <p:cNvPr id="20" name="Text 18"/>
          <p:cNvSpPr/>
          <p:nvPr/>
        </p:nvSpPr>
        <p:spPr>
          <a:xfrm>
            <a:off x="4681728" y="1810512"/>
            <a:ext cx="1865376" cy="1188720"/>
          </a:xfrm>
          <a:prstGeom prst="rect">
            <a:avLst/>
          </a:prstGeom>
          <a:noFill/>
          <a:ln/>
        </p:spPr>
        <p:txBody>
          <a:bodyPr wrap="square" lIns="76200" tIns="76200" rIns="76200" bIns="76200" rtlCol="0" anchor="t"/>
          <a:lstStyle/>
          <a:p>
            <a:pPr marL="0" indent="0">
              <a:buNone/>
            </a:pPr>
            <a:r>
              <a:rPr lang="en-US" sz="950" dirty="0">
                <a:solidFill>
                  <a:srgbClr val="455A64"/>
                </a:solidFill>
                <a:latin typeface="Calibri" pitchFamily="34" charset="0"/>
                <a:ea typeface="Calibri" pitchFamily="34" charset="-122"/>
                <a:cs typeface="Calibri" pitchFamily="34" charset="-120"/>
              </a:rPr>
              <a:t>El idioma debe estar declarado. Los errores de formulario deben explicarse con texto.</a:t>
            </a:r>
            <a:endParaRPr lang="en-US" sz="950" dirty="0"/>
          </a:p>
        </p:txBody>
      </p:sp>
      <p:sp>
        <p:nvSpPr>
          <p:cNvPr id="21" name="Shape 19"/>
          <p:cNvSpPr/>
          <p:nvPr/>
        </p:nvSpPr>
        <p:spPr>
          <a:xfrm>
            <a:off x="6766560" y="1143000"/>
            <a:ext cx="2011680" cy="19202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2" name="Shape 20"/>
          <p:cNvSpPr/>
          <p:nvPr/>
        </p:nvSpPr>
        <p:spPr>
          <a:xfrm>
            <a:off x="6766560" y="1143000"/>
            <a:ext cx="2011680" cy="640080"/>
          </a:xfrm>
          <a:prstGeom prst="rect">
            <a:avLst/>
          </a:prstGeom>
          <a:solidFill>
            <a:srgbClr val="2E7D32"/>
          </a:solidFill>
          <a:ln w="12700">
            <a:solidFill>
              <a:srgbClr val="2E7D32"/>
            </a:solidFill>
            <a:prstDash val="solid"/>
          </a:ln>
        </p:spPr>
      </p:sp>
      <p:sp>
        <p:nvSpPr>
          <p:cNvPr id="23" name="Text 21"/>
          <p:cNvSpPr/>
          <p:nvPr/>
        </p:nvSpPr>
        <p:spPr>
          <a:xfrm>
            <a:off x="6766560" y="1143000"/>
            <a:ext cx="64008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R</a:t>
            </a:r>
            <a:endParaRPr lang="en-US" sz="3200" dirty="0"/>
          </a:p>
        </p:txBody>
      </p:sp>
      <p:sp>
        <p:nvSpPr>
          <p:cNvPr id="24" name="Text 22"/>
          <p:cNvSpPr/>
          <p:nvPr/>
        </p:nvSpPr>
        <p:spPr>
          <a:xfrm>
            <a:off x="7406640" y="1143000"/>
            <a:ext cx="1371600" cy="640080"/>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Robusto</a:t>
            </a:r>
            <a:endParaRPr lang="en-US" sz="1200" dirty="0"/>
          </a:p>
        </p:txBody>
      </p:sp>
      <p:sp>
        <p:nvSpPr>
          <p:cNvPr id="25" name="Text 23"/>
          <p:cNvSpPr/>
          <p:nvPr/>
        </p:nvSpPr>
        <p:spPr>
          <a:xfrm>
            <a:off x="6839712" y="1810512"/>
            <a:ext cx="1865376" cy="1188720"/>
          </a:xfrm>
          <a:prstGeom prst="rect">
            <a:avLst/>
          </a:prstGeom>
          <a:noFill/>
          <a:ln/>
        </p:spPr>
        <p:txBody>
          <a:bodyPr wrap="square" lIns="76200" tIns="76200" rIns="76200" bIns="76200" rtlCol="0" anchor="t"/>
          <a:lstStyle/>
          <a:p>
            <a:pPr marL="0" indent="0">
              <a:buNone/>
            </a:pPr>
            <a:r>
              <a:rPr lang="en-US" sz="950" dirty="0">
                <a:solidFill>
                  <a:srgbClr val="455A64"/>
                </a:solidFill>
                <a:latin typeface="Calibri" pitchFamily="34" charset="0"/>
                <a:ea typeface="Calibri" pitchFamily="34" charset="-122"/>
                <a:cs typeface="Calibri" pitchFamily="34" charset="-120"/>
              </a:rPr>
              <a:t>El HTML debe ser válido para que las herramientas de asistencia puedan interpretarlo correctamente.</a:t>
            </a:r>
            <a:endParaRPr lang="en-US" sz="950" dirty="0"/>
          </a:p>
        </p:txBody>
      </p:sp>
      <p:sp>
        <p:nvSpPr>
          <p:cNvPr id="34" name="Shape 32">
            <a:extLst>
              <a:ext uri="{FF2B5EF4-FFF2-40B4-BE49-F238E27FC236}">
                <a16:creationId xmlns:a16="http://schemas.microsoft.com/office/drawing/2014/main" id="{D261468C-EEA9-40FC-BEA2-4C122738D3E8}"/>
              </a:ext>
            </a:extLst>
          </p:cNvPr>
          <p:cNvSpPr/>
          <p:nvPr/>
        </p:nvSpPr>
        <p:spPr>
          <a:xfrm>
            <a:off x="292608" y="3360420"/>
            <a:ext cx="8558784" cy="1709927"/>
          </a:xfrm>
          <a:prstGeom prst="rect">
            <a:avLst/>
          </a:prstGeom>
          <a:solidFill>
            <a:srgbClr val="FFF8E1"/>
          </a:solidFill>
          <a:ln w="12700">
            <a:solidFill>
              <a:srgbClr val="F57C00"/>
            </a:solidFill>
            <a:prstDash val="solid"/>
          </a:ln>
        </p:spPr>
      </p:sp>
      <p:sp>
        <p:nvSpPr>
          <p:cNvPr id="35" name="Text 33">
            <a:extLst>
              <a:ext uri="{FF2B5EF4-FFF2-40B4-BE49-F238E27FC236}">
                <a16:creationId xmlns:a16="http://schemas.microsoft.com/office/drawing/2014/main" id="{13BEDAE8-D23F-4EEB-8FFB-7DEDDF9274B9}"/>
              </a:ext>
            </a:extLst>
          </p:cNvPr>
          <p:cNvSpPr/>
          <p:nvPr/>
        </p:nvSpPr>
        <p:spPr>
          <a:xfrm>
            <a:off x="384048" y="3415284"/>
            <a:ext cx="8375904" cy="451679"/>
          </a:xfrm>
          <a:prstGeom prst="rect">
            <a:avLst/>
          </a:prstGeom>
          <a:noFill/>
          <a:ln/>
        </p:spPr>
        <p:txBody>
          <a:bodyPr wrap="square" lIns="0" tIns="0" rIns="0" bIns="0" rtlCol="0" anchor="ctr"/>
          <a:lstStyle/>
          <a:p>
            <a:pPr marL="0" indent="0">
              <a:buNone/>
            </a:pPr>
            <a:r>
              <a:rPr lang="en-US" sz="2400" b="1" dirty="0">
                <a:solidFill>
                  <a:srgbClr val="F57C00"/>
                </a:solidFill>
                <a:latin typeface="Calibri" pitchFamily="34" charset="0"/>
                <a:ea typeface="Calibri" pitchFamily="34" charset="-122"/>
                <a:cs typeface="Calibri" pitchFamily="34" charset="-120"/>
              </a:rPr>
              <a:t>✏  Ejercicio (2 min)</a:t>
            </a:r>
            <a:endParaRPr lang="en-US" sz="2400" dirty="0"/>
          </a:p>
        </p:txBody>
      </p:sp>
      <p:sp>
        <p:nvSpPr>
          <p:cNvPr id="36" name="Text 34">
            <a:extLst>
              <a:ext uri="{FF2B5EF4-FFF2-40B4-BE49-F238E27FC236}">
                <a16:creationId xmlns:a16="http://schemas.microsoft.com/office/drawing/2014/main" id="{F58BA214-C573-40FA-9CEE-49EA4B30AD97}"/>
              </a:ext>
            </a:extLst>
          </p:cNvPr>
          <p:cNvSpPr/>
          <p:nvPr/>
        </p:nvSpPr>
        <p:spPr>
          <a:xfrm>
            <a:off x="384048" y="4000499"/>
            <a:ext cx="8375904" cy="866989"/>
          </a:xfrm>
          <a:prstGeom prst="rect">
            <a:avLst/>
          </a:prstGeom>
          <a:noFill/>
          <a:ln/>
        </p:spPr>
        <p:txBody>
          <a:bodyPr wrap="square" lIns="0" tIns="0" rIns="0" bIns="0" rtlCol="0" anchor="t"/>
          <a:lstStyle/>
          <a:p>
            <a:pPr marL="342900" indent="-342900">
              <a:buSzPct val="100000"/>
              <a:buChar char="•"/>
            </a:pPr>
            <a:r>
              <a:rPr lang="en-US" dirty="0">
                <a:solidFill>
                  <a:srgbClr val="263238"/>
                </a:solidFill>
                <a:latin typeface="Calibri" pitchFamily="34" charset="0"/>
                <a:ea typeface="Calibri" pitchFamily="34" charset="-122"/>
                <a:cs typeface="Calibri" pitchFamily="34" charset="-120"/>
              </a:rPr>
              <a:t>¿Qué atributo ARIA usarías para describir un menú de navegación accesible?</a:t>
            </a:r>
            <a:endParaRPr lang="en-US" dirty="0"/>
          </a:p>
          <a:p>
            <a:pPr marL="342900" indent="-342900">
              <a:buSzPct val="100000"/>
              <a:buChar char="•"/>
            </a:pPr>
            <a:r>
              <a:rPr lang="en-US" dirty="0">
                <a:solidFill>
                  <a:srgbClr val="263238"/>
                </a:solidFill>
                <a:latin typeface="Calibri" pitchFamily="34" charset="0"/>
                <a:ea typeface="Calibri" pitchFamily="34" charset="-122"/>
                <a:cs typeface="Calibri" pitchFamily="34" charset="-120"/>
              </a:rPr>
              <a:t>¿Por qué no se debe usar aria-label en todos los elementos? (Pista: 'No ARIA is better than bad ARIA')</a:t>
            </a:r>
            <a:endParaRPr lang="en-US" dirty="0"/>
          </a:p>
        </p:txBody>
      </p:sp>
    </p:spTree>
    <p:extLst>
      <p:ext uri="{BB962C8B-B14F-4D97-AF65-F5344CB8AC3E}">
        <p14:creationId xmlns:p14="http://schemas.microsoft.com/office/powerpoint/2010/main" val="87658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Formularios HTML5 — Validación nativa y accesible</a:t>
            </a:r>
            <a:endParaRPr lang="en-US" sz="2200" dirty="0"/>
          </a:p>
        </p:txBody>
      </p:sp>
      <p:sp>
        <p:nvSpPr>
          <p:cNvPr id="4" name="Text 2"/>
          <p:cNvSpPr/>
          <p:nvPr/>
        </p:nvSpPr>
        <p:spPr>
          <a:xfrm>
            <a:off x="365760" y="630865"/>
            <a:ext cx="8412480" cy="374975"/>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2: 8+ tipos de input, validación y mensajes de error accesibles</a:t>
            </a:r>
            <a:endParaRPr lang="en-US" sz="2000"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graphicFrame>
        <p:nvGraphicFramePr>
          <p:cNvPr id="8" name="Table 0"/>
          <p:cNvGraphicFramePr>
            <a:graphicFrameLocks noGrp="1"/>
          </p:cNvGraphicFramePr>
          <p:nvPr/>
        </p:nvGraphicFramePr>
        <p:xfrm>
          <a:off x="292608" y="1143000"/>
          <a:ext cx="5303520" cy="3886200"/>
        </p:xfrm>
        <a:graphic>
          <a:graphicData uri="http://schemas.openxmlformats.org/drawingml/2006/table">
            <a:tbl>
              <a:tblPr/>
              <a:tblGrid>
                <a:gridCol w="1005840">
                  <a:extLst>
                    <a:ext uri="{9D8B030D-6E8A-4147-A177-3AD203B41FA5}">
                      <a16:colId xmlns:a16="http://schemas.microsoft.com/office/drawing/2014/main" val="20000"/>
                    </a:ext>
                  </a:extLst>
                </a:gridCol>
                <a:gridCol w="1997645">
                  <a:extLst>
                    <a:ext uri="{9D8B030D-6E8A-4147-A177-3AD203B41FA5}">
                      <a16:colId xmlns:a16="http://schemas.microsoft.com/office/drawing/2014/main" val="20001"/>
                    </a:ext>
                  </a:extLst>
                </a:gridCol>
                <a:gridCol w="2300035">
                  <a:extLst>
                    <a:ext uri="{9D8B030D-6E8A-4147-A177-3AD203B41FA5}">
                      <a16:colId xmlns:a16="http://schemas.microsoft.com/office/drawing/2014/main" val="20002"/>
                    </a:ext>
                  </a:extLst>
                </a:gridCol>
              </a:tblGrid>
              <a:tr h="323850">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type</a:t>
                      </a:r>
                      <a:endParaRPr lang="en-US" sz="14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Propósito</a:t>
                      </a:r>
                      <a:endParaRPr lang="en-US" sz="14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Validación nativa</a:t>
                      </a:r>
                      <a:endParaRPr lang="en-US" sz="14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extLst>
                  <a:ext uri="{0D108BD9-81ED-4DB2-BD59-A6C34878D82A}">
                    <a16:rowId xmlns:a16="http://schemas.microsoft.com/office/drawing/2014/main" val="10000"/>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text</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Texto libre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minlength, maxlength, pattern</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email</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Correo electrónico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Formato name@domain.ext</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2"/>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password</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Contraseña (oculto)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minlength</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number</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Número entero/decimal</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 step</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4"/>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date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Fecha con selector</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tel</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Teléfono (teclado numérico)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6"/>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range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Deslizador numérico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 step</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file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Subir archivo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accept (tipo), múltiple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8"/>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checkbox</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Opción múltiple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 (al menos uno)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radio</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Opción única</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 (en el grupo)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10"/>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select</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Lista desplegable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5760720" y="1143000"/>
            <a:ext cx="3108960" cy="2743200"/>
          </a:xfrm>
          <a:prstGeom prst="rect">
            <a:avLst/>
          </a:prstGeom>
          <a:solidFill>
            <a:srgbClr val="1A1A2E"/>
          </a:solidFill>
          <a:ln w="12700">
            <a:solidFill>
              <a:srgbClr val="334155"/>
            </a:solidFill>
            <a:prstDash val="solid"/>
          </a:ln>
        </p:spPr>
      </p:sp>
      <p:sp>
        <p:nvSpPr>
          <p:cNvPr id="6" name="Text 5"/>
          <p:cNvSpPr/>
          <p:nvPr/>
        </p:nvSpPr>
        <p:spPr>
          <a:xfrm>
            <a:off x="5870448" y="1234440"/>
            <a:ext cx="2889504" cy="2560320"/>
          </a:xfrm>
          <a:prstGeom prst="rect">
            <a:avLst/>
          </a:prstGeom>
          <a:noFill/>
          <a:ln/>
        </p:spPr>
        <p:txBody>
          <a:bodyPr wrap="square" lIns="0" tIns="0" rIns="0" bIns="0" rtlCol="0" anchor="t"/>
          <a:lstStyle/>
          <a:p>
            <a:pPr marL="0" indent="0">
              <a:buNone/>
            </a:pPr>
            <a:r>
              <a:rPr lang="en-US" sz="1100" dirty="0">
                <a:solidFill>
                  <a:srgbClr val="546E7A"/>
                </a:solidFill>
                <a:latin typeface="Consolas" pitchFamily="34" charset="0"/>
                <a:ea typeface="Consolas" pitchFamily="34" charset="-122"/>
                <a:cs typeface="Consolas" pitchFamily="34" charset="-120"/>
              </a:rPr>
              <a:t>&lt;!-- Campo accesible completo --&gt;</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&lt;div class="campo"&gt;</a:t>
            </a:r>
            <a:endParaRPr lang="en-US" sz="1100" dirty="0"/>
          </a:p>
          <a:p>
            <a:pPr marL="0" indent="0">
              <a:buNone/>
            </a:pPr>
            <a:r>
              <a:rPr lang="en-US" sz="1100" dirty="0">
                <a:solidFill>
                  <a:srgbClr val="C3E88D"/>
                </a:solidFill>
                <a:latin typeface="Consolas" pitchFamily="34" charset="0"/>
                <a:ea typeface="Consolas" pitchFamily="34" charset="-122"/>
                <a:cs typeface="Consolas" pitchFamily="34" charset="-120"/>
              </a:rPr>
              <a:t>  &lt;label for="email"&gt;</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    Email *&lt;/label&gt;</a:t>
            </a:r>
            <a:endParaRPr lang="en-US" sz="1100" dirty="0"/>
          </a:p>
          <a:p>
            <a:pPr marL="0" indent="0">
              <a:buNone/>
            </a:pPr>
            <a:r>
              <a:rPr lang="en-US" sz="1100" dirty="0">
                <a:solidFill>
                  <a:srgbClr val="82B1FF"/>
                </a:solidFill>
                <a:latin typeface="Consolas" pitchFamily="34" charset="0"/>
                <a:ea typeface="Consolas" pitchFamily="34" charset="-122"/>
                <a:cs typeface="Consolas" pitchFamily="34" charset="-120"/>
              </a:rPr>
              <a:t>  &lt;input type="email"</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    id="email"</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    name="email"</a:t>
            </a:r>
            <a:endParaRPr lang="en-US" sz="1100" dirty="0"/>
          </a:p>
          <a:p>
            <a:pPr marL="0" indent="0">
              <a:buNone/>
            </a:pPr>
            <a:r>
              <a:rPr lang="en-US" sz="1100" dirty="0">
                <a:solidFill>
                  <a:srgbClr val="C3E88D"/>
                </a:solidFill>
                <a:latin typeface="Consolas" pitchFamily="34" charset="0"/>
                <a:ea typeface="Consolas" pitchFamily="34" charset="-122"/>
                <a:cs typeface="Consolas" pitchFamily="34" charset="-120"/>
              </a:rPr>
              <a:t>    required</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    aria-describedby=</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      "email-error"&gt;</a:t>
            </a:r>
            <a:endParaRPr lang="en-US" sz="1100" dirty="0"/>
          </a:p>
          <a:p>
            <a:pPr marL="0" indent="0">
              <a:buNone/>
            </a:pPr>
            <a:r>
              <a:rPr lang="en-US" sz="1100" dirty="0">
                <a:solidFill>
                  <a:srgbClr val="82B1FF"/>
                </a:solidFill>
                <a:latin typeface="Consolas" pitchFamily="34" charset="0"/>
                <a:ea typeface="Consolas" pitchFamily="34" charset="-122"/>
                <a:cs typeface="Consolas" pitchFamily="34" charset="-120"/>
              </a:rPr>
              <a:t>  &lt;span id="email-error"</a:t>
            </a:r>
            <a:endParaRPr lang="en-US" sz="1100" dirty="0"/>
          </a:p>
          <a:p>
            <a:pPr marL="0" indent="0">
              <a:buNone/>
            </a:pPr>
            <a:r>
              <a:rPr lang="en-US" sz="1100" dirty="0">
                <a:solidFill>
                  <a:srgbClr val="C3E88D"/>
                </a:solidFill>
                <a:latin typeface="Consolas" pitchFamily="34" charset="0"/>
                <a:ea typeface="Consolas" pitchFamily="34" charset="-122"/>
                <a:cs typeface="Consolas" pitchFamily="34" charset="-120"/>
              </a:rPr>
              <a:t>    role="alert"</a:t>
            </a:r>
            <a:endParaRPr lang="en-US" sz="1100" dirty="0"/>
          </a:p>
          <a:p>
            <a:pPr marL="0" indent="0">
              <a:buNone/>
            </a:pPr>
            <a:r>
              <a:rPr lang="en-US" sz="1100" dirty="0">
                <a:solidFill>
                  <a:srgbClr val="C3E88D"/>
                </a:solidFill>
                <a:latin typeface="Consolas" pitchFamily="34" charset="0"/>
                <a:ea typeface="Consolas" pitchFamily="34" charset="-122"/>
                <a:cs typeface="Consolas" pitchFamily="34" charset="-120"/>
              </a:rPr>
              <a:t>    aria-live="assertive"&gt;</a:t>
            </a:r>
            <a:endParaRPr lang="en-US" sz="1100" dirty="0"/>
          </a:p>
          <a:p>
            <a:pPr marL="0" indent="0">
              <a:buNone/>
            </a:pPr>
            <a:r>
              <a:rPr lang="en-US" sz="1100" dirty="0">
                <a:solidFill>
                  <a:srgbClr val="82B1FF"/>
                </a:solidFill>
                <a:latin typeface="Consolas" pitchFamily="34" charset="0"/>
                <a:ea typeface="Consolas" pitchFamily="34" charset="-122"/>
                <a:cs typeface="Consolas" pitchFamily="34" charset="-120"/>
              </a:rPr>
              <a:t>  &lt;/span&gt;</a:t>
            </a:r>
            <a:endParaRPr lang="en-US" sz="1100" dirty="0"/>
          </a:p>
          <a:p>
            <a:pPr marL="0" indent="0">
              <a:buNone/>
            </a:pPr>
            <a:r>
              <a:rPr lang="en-US" sz="1100" dirty="0">
                <a:solidFill>
                  <a:srgbClr val="E8EAF6"/>
                </a:solidFill>
                <a:latin typeface="Consolas" pitchFamily="34" charset="0"/>
                <a:ea typeface="Consolas" pitchFamily="34" charset="-122"/>
                <a:cs typeface="Consolas" pitchFamily="34" charset="-120"/>
              </a:rPr>
              <a:t>&lt;/div&gt;</a:t>
            </a:r>
            <a:endParaRPr lang="en-US" sz="1100" dirty="0"/>
          </a:p>
        </p:txBody>
      </p:sp>
      <p:sp>
        <p:nvSpPr>
          <p:cNvPr id="9" name="Text 6"/>
          <p:cNvSpPr/>
          <p:nvPr/>
        </p:nvSpPr>
        <p:spPr>
          <a:xfrm>
            <a:off x="5760720" y="3931920"/>
            <a:ext cx="3108960" cy="256032"/>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Reglas de accesibilidad en formularios:</a:t>
            </a:r>
            <a:endParaRPr lang="en-US" sz="1400" dirty="0"/>
          </a:p>
        </p:txBody>
      </p:sp>
      <p:sp>
        <p:nvSpPr>
          <p:cNvPr id="10" name="Text 7"/>
          <p:cNvSpPr/>
          <p:nvPr/>
        </p:nvSpPr>
        <p:spPr>
          <a:xfrm>
            <a:off x="5760720" y="4224528"/>
            <a:ext cx="3108960" cy="822960"/>
          </a:xfrm>
          <a:prstGeom prst="rect">
            <a:avLst/>
          </a:prstGeom>
          <a:noFill/>
          <a:ln/>
        </p:spPr>
        <p:txBody>
          <a:bodyPr wrap="square" lIns="0" tIns="0" rIns="0" bIns="0" rtlCol="0" anchor="t"/>
          <a:lstStyle/>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Todo input debe tener &lt;label for='id'&gt;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Usar aria-describedby para errores</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El span de error debe tener role='alert'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Nunca usar solo color para indicar error</a:t>
            </a:r>
            <a:endParaRPr lang="en-US" sz="1200" dirty="0"/>
          </a:p>
        </p:txBody>
      </p:sp>
    </p:spTree>
    <p:extLst>
      <p:ext uri="{BB962C8B-B14F-4D97-AF65-F5344CB8AC3E}">
        <p14:creationId xmlns:p14="http://schemas.microsoft.com/office/powerpoint/2010/main" val="237850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Formularios HTML5 — Validación nativa y accesible</a:t>
            </a:r>
            <a:endParaRPr lang="en-US" sz="2200" dirty="0"/>
          </a:p>
        </p:txBody>
      </p:sp>
      <p:sp>
        <p:nvSpPr>
          <p:cNvPr id="4" name="Text 2"/>
          <p:cNvSpPr/>
          <p:nvPr/>
        </p:nvSpPr>
        <p:spPr>
          <a:xfrm>
            <a:off x="365760" y="630865"/>
            <a:ext cx="8412480" cy="374975"/>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2: 8+ tipos de input, validación y mensajes de error accesibles</a:t>
            </a:r>
            <a:endParaRPr lang="en-US" sz="2000"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graphicFrame>
        <p:nvGraphicFramePr>
          <p:cNvPr id="8" name="Table 0"/>
          <p:cNvGraphicFramePr>
            <a:graphicFrameLocks noGrp="1"/>
          </p:cNvGraphicFramePr>
          <p:nvPr/>
        </p:nvGraphicFramePr>
        <p:xfrm>
          <a:off x="292608" y="1143000"/>
          <a:ext cx="5303520" cy="3886200"/>
        </p:xfrm>
        <a:graphic>
          <a:graphicData uri="http://schemas.openxmlformats.org/drawingml/2006/table">
            <a:tbl>
              <a:tblPr/>
              <a:tblGrid>
                <a:gridCol w="1005840">
                  <a:extLst>
                    <a:ext uri="{9D8B030D-6E8A-4147-A177-3AD203B41FA5}">
                      <a16:colId xmlns:a16="http://schemas.microsoft.com/office/drawing/2014/main" val="20000"/>
                    </a:ext>
                  </a:extLst>
                </a:gridCol>
                <a:gridCol w="2238650">
                  <a:extLst>
                    <a:ext uri="{9D8B030D-6E8A-4147-A177-3AD203B41FA5}">
                      <a16:colId xmlns:a16="http://schemas.microsoft.com/office/drawing/2014/main" val="20001"/>
                    </a:ext>
                  </a:extLst>
                </a:gridCol>
                <a:gridCol w="2059030">
                  <a:extLst>
                    <a:ext uri="{9D8B030D-6E8A-4147-A177-3AD203B41FA5}">
                      <a16:colId xmlns:a16="http://schemas.microsoft.com/office/drawing/2014/main" val="20002"/>
                    </a:ext>
                  </a:extLst>
                </a:gridCol>
              </a:tblGrid>
              <a:tr h="323850">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type</a:t>
                      </a:r>
                      <a:endParaRPr lang="en-US" sz="14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Propósito</a:t>
                      </a:r>
                      <a:endParaRPr lang="en-US" sz="14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Validación nativa</a:t>
                      </a:r>
                      <a:endParaRPr lang="en-US" sz="14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00897B"/>
                    </a:solidFill>
                  </a:tcPr>
                </a:tc>
                <a:extLst>
                  <a:ext uri="{0D108BD9-81ED-4DB2-BD59-A6C34878D82A}">
                    <a16:rowId xmlns:a16="http://schemas.microsoft.com/office/drawing/2014/main" val="10000"/>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text</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Texto libre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minlength, maxlength, pattern</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email</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Correo electrónico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Formato name@domain.ext</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2"/>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password</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Contraseña (oculto)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minlength</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number</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Número entero/decimal</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 step</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4"/>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date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Fecha con selector</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tel</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Teléfono (teclado numérico)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6"/>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range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Deslizador numérico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min, max, step</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file</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Subir archivo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accept (tipo), múltiple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08"/>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checkbox</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Opción múltiple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 (al menos uno)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radio</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Opción única</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 (en el grupo)</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E0F2F1"/>
                    </a:solidFill>
                  </a:tcPr>
                </a:tc>
                <a:extLst>
                  <a:ext uri="{0D108BD9-81ED-4DB2-BD59-A6C34878D82A}">
                    <a16:rowId xmlns:a16="http://schemas.microsoft.com/office/drawing/2014/main" val="10010"/>
                  </a:ext>
                </a:extLst>
              </a:tr>
              <a:tr h="323850">
                <a:tc>
                  <a:txBody>
                    <a:bodyPr/>
                    <a:lstStyle/>
                    <a:p>
                      <a:pPr marL="0" indent="0" algn="l">
                        <a:buNone/>
                      </a:pPr>
                      <a:r>
                        <a:rPr lang="en-US" sz="1200" b="1" dirty="0">
                          <a:solidFill>
                            <a:srgbClr val="263238"/>
                          </a:solidFill>
                          <a:latin typeface="Consolas" pitchFamily="34" charset="0"/>
                          <a:ea typeface="Consolas" pitchFamily="34" charset="-122"/>
                          <a:cs typeface="Consolas" pitchFamily="34" charset="-120"/>
                        </a:rPr>
                        <a:t>select</a:t>
                      </a:r>
                      <a:endParaRPr lang="en-US" sz="1200" dirty="0">
                        <a:latin typeface="Consolas" charset="0"/>
                        <a:ea typeface="Consolas" charset="0"/>
                        <a:cs typeface="Consolas"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Lista desplegable</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0" marR="63500" marT="38100" marB="0" anchor="ctr">
                    <a:lnL w="6350" cap="flat" cmpd="sng" algn="ctr">
                      <a:solidFill>
                        <a:srgbClr val="B2DFDB"/>
                      </a:solidFill>
                      <a:prstDash val="solid"/>
                      <a:round/>
                      <a:headEnd type="none" w="med" len="med"/>
                      <a:tailEnd type="none" w="med" len="med"/>
                    </a:lnL>
                    <a:lnR w="6350" cap="flat" cmpd="sng" algn="ctr">
                      <a:solidFill>
                        <a:srgbClr val="B2DFDB"/>
                      </a:solidFill>
                      <a:prstDash val="solid"/>
                      <a:round/>
                      <a:headEnd type="none" w="med" len="med"/>
                      <a:tailEnd type="none" w="med" len="med"/>
                    </a:lnR>
                    <a:lnT w="6350" cap="flat" cmpd="sng" algn="ctr">
                      <a:solidFill>
                        <a:srgbClr val="B2DFDB"/>
                      </a:solidFill>
                      <a:prstDash val="solid"/>
                      <a:round/>
                      <a:headEnd type="none" w="med" len="med"/>
                      <a:tailEnd type="none" w="med" len="med"/>
                    </a:lnT>
                    <a:lnB w="6350" cap="flat" cmpd="sng" algn="ctr">
                      <a:solidFill>
                        <a:srgbClr val="B2DFD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5760720" y="1143000"/>
            <a:ext cx="3108960" cy="2743200"/>
          </a:xfrm>
          <a:prstGeom prst="rect">
            <a:avLst/>
          </a:prstGeom>
          <a:solidFill>
            <a:srgbClr val="1A1A2E"/>
          </a:solidFill>
          <a:ln w="12700">
            <a:solidFill>
              <a:srgbClr val="334155"/>
            </a:solidFill>
            <a:prstDash val="solid"/>
          </a:ln>
        </p:spPr>
      </p:sp>
      <p:sp>
        <p:nvSpPr>
          <p:cNvPr id="6" name="Text 5"/>
          <p:cNvSpPr/>
          <p:nvPr/>
        </p:nvSpPr>
        <p:spPr>
          <a:xfrm>
            <a:off x="5870448" y="1234440"/>
            <a:ext cx="2889504" cy="2560320"/>
          </a:xfrm>
          <a:prstGeom prst="rect">
            <a:avLst/>
          </a:prstGeom>
          <a:noFill/>
          <a:ln/>
        </p:spPr>
        <p:txBody>
          <a:bodyPr wrap="square" lIns="0" tIns="0" rIns="0" bIns="0" rtlCol="0" anchor="t"/>
          <a:lstStyle/>
          <a:p>
            <a:pPr marL="0" indent="0">
              <a:buNone/>
            </a:pPr>
            <a:r>
              <a:rPr lang="en-US" sz="1200" dirty="0">
                <a:solidFill>
                  <a:srgbClr val="546E7A"/>
                </a:solidFill>
                <a:latin typeface="Consolas" pitchFamily="34" charset="0"/>
                <a:ea typeface="Consolas" pitchFamily="34" charset="-122"/>
                <a:cs typeface="Consolas" pitchFamily="34" charset="-120"/>
              </a:rPr>
              <a:t>&lt;!-- Campo accesible completo --&gt;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&lt;div class="campo"&gt;</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&lt;label for="email"&gt;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Email *&lt;/label&gt;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  &lt;input type="email“ </a:t>
            </a:r>
            <a:r>
              <a:rPr lang="en-US" sz="1200" dirty="0">
                <a:solidFill>
                  <a:srgbClr val="E8EAF6"/>
                </a:solidFill>
                <a:latin typeface="Consolas" pitchFamily="34" charset="0"/>
                <a:ea typeface="Consolas" pitchFamily="34" charset="-122"/>
                <a:cs typeface="Consolas" pitchFamily="34" charset="-120"/>
              </a:rPr>
              <a:t>id="email"</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name="email“ </a:t>
            </a:r>
            <a:r>
              <a:rPr lang="en-US" sz="1200" dirty="0">
                <a:solidFill>
                  <a:srgbClr val="C3E88D"/>
                </a:solidFill>
                <a:latin typeface="Consolas" pitchFamily="34" charset="0"/>
                <a:ea typeface="Consolas" pitchFamily="34" charset="-122"/>
                <a:cs typeface="Consolas" pitchFamily="34" charset="-120"/>
              </a:rPr>
              <a:t>required</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aria-</a:t>
            </a:r>
            <a:r>
              <a:rPr lang="en-US" sz="1200" dirty="0" err="1">
                <a:solidFill>
                  <a:srgbClr val="E8EAF6"/>
                </a:solidFill>
                <a:latin typeface="Consolas" pitchFamily="34" charset="0"/>
                <a:ea typeface="Consolas" pitchFamily="34" charset="-122"/>
                <a:cs typeface="Consolas" pitchFamily="34" charset="-120"/>
              </a:rPr>
              <a:t>describedby</a:t>
            </a:r>
            <a:r>
              <a:rPr lang="en-US" sz="1200" dirty="0">
                <a:solidFill>
                  <a:srgbClr val="E8EAF6"/>
                </a:solidFill>
                <a:latin typeface="Consolas" pitchFamily="34" charset="0"/>
                <a:ea typeface="Consolas" pitchFamily="34" charset="-122"/>
                <a:cs typeface="Consolas" pitchFamily="34" charset="-120"/>
              </a:rPr>
              <a:t>="email-error"&gt;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  &lt;span id="email-error"</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role="alert"</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aria-live="assertive"&gt;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  &lt;/span&gt;</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&lt;/div&gt;</a:t>
            </a:r>
            <a:endParaRPr lang="en-US" sz="1200" dirty="0"/>
          </a:p>
        </p:txBody>
      </p:sp>
      <p:sp>
        <p:nvSpPr>
          <p:cNvPr id="9" name="Text 6"/>
          <p:cNvSpPr/>
          <p:nvPr/>
        </p:nvSpPr>
        <p:spPr>
          <a:xfrm>
            <a:off x="5760720" y="3931920"/>
            <a:ext cx="3108960" cy="256032"/>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Reglas de accesibilidad en formularios:</a:t>
            </a:r>
            <a:endParaRPr lang="en-US" sz="1400" dirty="0"/>
          </a:p>
        </p:txBody>
      </p:sp>
      <p:sp>
        <p:nvSpPr>
          <p:cNvPr id="10" name="Text 7"/>
          <p:cNvSpPr/>
          <p:nvPr/>
        </p:nvSpPr>
        <p:spPr>
          <a:xfrm>
            <a:off x="5760720" y="4224528"/>
            <a:ext cx="3108960" cy="822960"/>
          </a:xfrm>
          <a:prstGeom prst="rect">
            <a:avLst/>
          </a:prstGeom>
          <a:noFill/>
          <a:ln/>
        </p:spPr>
        <p:txBody>
          <a:bodyPr wrap="square" lIns="0" tIns="0" rIns="0" bIns="0" rtlCol="0" anchor="t"/>
          <a:lstStyle/>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Todo input debe tener &lt;label for='id'&gt;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Usar aria-describedby para errores</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El span de error debe tener role='alert'</a:t>
            </a:r>
            <a:endParaRPr lang="en-US" sz="1200" dirty="0"/>
          </a:p>
          <a:p>
            <a:pPr marL="342900" indent="-342900">
              <a:buSzPct val="100000"/>
              <a:buChar char="•"/>
            </a:pPr>
            <a:r>
              <a:rPr lang="en-US" sz="1200" dirty="0">
                <a:solidFill>
                  <a:srgbClr val="263238"/>
                </a:solidFill>
                <a:latin typeface="Calibri" pitchFamily="34" charset="0"/>
                <a:ea typeface="Calibri" pitchFamily="34" charset="-122"/>
                <a:cs typeface="Calibri" pitchFamily="34" charset="-120"/>
              </a:rPr>
              <a:t>Nunca usar solo color para indicar error</a:t>
            </a:r>
            <a:endParaRPr lang="en-US" sz="1200" dirty="0"/>
          </a:p>
        </p:txBody>
      </p:sp>
    </p:spTree>
    <p:extLst>
      <p:ext uri="{BB962C8B-B14F-4D97-AF65-F5344CB8AC3E}">
        <p14:creationId xmlns:p14="http://schemas.microsoft.com/office/powerpoint/2010/main" val="323042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Formularios HTML5 — Validación nativa y accesible</a:t>
            </a:r>
            <a:endParaRPr lang="en-US" sz="2200" dirty="0"/>
          </a:p>
        </p:txBody>
      </p:sp>
      <p:sp>
        <p:nvSpPr>
          <p:cNvPr id="4" name="Text 2"/>
          <p:cNvSpPr/>
          <p:nvPr/>
        </p:nvSpPr>
        <p:spPr>
          <a:xfrm>
            <a:off x="365760" y="630865"/>
            <a:ext cx="8412480" cy="374975"/>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2: 8+ tipos de input, validación y mensajes de error accesibles</a:t>
            </a:r>
            <a:endParaRPr lang="en-US" dirty="0"/>
          </a:p>
        </p:txBody>
      </p:sp>
      <p:sp>
        <p:nvSpPr>
          <p:cNvPr id="5" name="Shape 3"/>
          <p:cNvSpPr/>
          <p:nvPr/>
        </p:nvSpPr>
        <p:spPr>
          <a:xfrm>
            <a:off x="0" y="1051560"/>
            <a:ext cx="201168" cy="4096512"/>
          </a:xfrm>
          <a:prstGeom prst="rect">
            <a:avLst/>
          </a:prstGeom>
          <a:solidFill>
            <a:srgbClr val="00897B"/>
          </a:solidFill>
          <a:ln w="12700">
            <a:solidFill>
              <a:srgbClr val="00897B"/>
            </a:solidFill>
            <a:prstDash val="solid"/>
          </a:ln>
        </p:spPr>
      </p:sp>
      <p:sp>
        <p:nvSpPr>
          <p:cNvPr id="11" name="Shape 8"/>
          <p:cNvSpPr/>
          <p:nvPr/>
        </p:nvSpPr>
        <p:spPr>
          <a:xfrm>
            <a:off x="780713" y="1563866"/>
            <a:ext cx="7582574" cy="2775531"/>
          </a:xfrm>
          <a:prstGeom prst="rect">
            <a:avLst/>
          </a:prstGeom>
          <a:solidFill>
            <a:srgbClr val="FFF8E1"/>
          </a:solidFill>
          <a:ln w="12700">
            <a:solidFill>
              <a:srgbClr val="F57C00"/>
            </a:solidFill>
            <a:prstDash val="solid"/>
          </a:ln>
        </p:spPr>
      </p:sp>
      <p:sp>
        <p:nvSpPr>
          <p:cNvPr id="12" name="Text 9"/>
          <p:cNvSpPr/>
          <p:nvPr/>
        </p:nvSpPr>
        <p:spPr>
          <a:xfrm>
            <a:off x="901499" y="1805336"/>
            <a:ext cx="7420553" cy="733159"/>
          </a:xfrm>
          <a:prstGeom prst="rect">
            <a:avLst/>
          </a:prstGeom>
          <a:noFill/>
          <a:ln/>
        </p:spPr>
        <p:txBody>
          <a:bodyPr wrap="square" lIns="0" tIns="0" rIns="0" bIns="0" rtlCol="0" anchor="ctr"/>
          <a:lstStyle/>
          <a:p>
            <a:pPr marL="0" indent="0">
              <a:buNone/>
            </a:pPr>
            <a:r>
              <a:rPr lang="en-US" sz="2800" b="1" dirty="0">
                <a:solidFill>
                  <a:srgbClr val="F57C00"/>
                </a:solidFill>
                <a:latin typeface="Calibri" pitchFamily="34" charset="0"/>
                <a:ea typeface="Calibri" pitchFamily="34" charset="-122"/>
                <a:cs typeface="Calibri" pitchFamily="34" charset="-120"/>
              </a:rPr>
              <a:t>✏  Ejercicio (3 min) — Abrir index.html del PFC</a:t>
            </a:r>
            <a:endParaRPr lang="en-US" sz="2800" dirty="0"/>
          </a:p>
        </p:txBody>
      </p:sp>
      <p:sp>
        <p:nvSpPr>
          <p:cNvPr id="13" name="Text 10"/>
          <p:cNvSpPr/>
          <p:nvPr/>
        </p:nvSpPr>
        <p:spPr>
          <a:xfrm>
            <a:off x="821948" y="2797877"/>
            <a:ext cx="7420553" cy="1282138"/>
          </a:xfrm>
          <a:prstGeom prst="rect">
            <a:avLst/>
          </a:prstGeom>
          <a:noFill/>
          <a:ln/>
        </p:spPr>
        <p:txBody>
          <a:bodyPr wrap="square" lIns="0" tIns="0" rIns="0" bIns="0" rtlCol="0" anchor="t"/>
          <a:lstStyle/>
          <a:p>
            <a:pPr marL="342900" indent="-342900">
              <a:buSzPct val="100000"/>
              <a:buChar char="•"/>
            </a:pPr>
            <a:r>
              <a:rPr lang="en-US" sz="2000" dirty="0">
                <a:solidFill>
                  <a:srgbClr val="263238"/>
                </a:solidFill>
                <a:latin typeface="Calibri" pitchFamily="34" charset="0"/>
                <a:ea typeface="Calibri" pitchFamily="34" charset="-122"/>
                <a:cs typeface="Calibri" pitchFamily="34" charset="-120"/>
              </a:rPr>
              <a:t>Agregar los 8 tipos de input al formulario del PFC. Al menos: text, email, password, number, date, tel, range, select.</a:t>
            </a:r>
            <a:endParaRPr lang="en-US" sz="2000" dirty="0"/>
          </a:p>
          <a:p>
            <a:pPr marL="342900" indent="-342900">
              <a:buSzPct val="100000"/>
              <a:buChar char="•"/>
            </a:pPr>
            <a:r>
              <a:rPr lang="en-US" sz="2000" dirty="0">
                <a:solidFill>
                  <a:srgbClr val="263238"/>
                </a:solidFill>
                <a:latin typeface="Calibri" pitchFamily="34" charset="0"/>
                <a:ea typeface="Calibri" pitchFamily="34" charset="-122"/>
                <a:cs typeface="Calibri" pitchFamily="34" charset="-120"/>
              </a:rPr>
              <a:t>Verificar en el navegador que el tipo 'tel' activa el teclado numérico en móvil.</a:t>
            </a:r>
            <a:endParaRPr lang="en-US" sz="2000" dirty="0"/>
          </a:p>
        </p:txBody>
      </p:sp>
    </p:spTree>
    <p:extLst>
      <p:ext uri="{BB962C8B-B14F-4D97-AF65-F5344CB8AC3E}">
        <p14:creationId xmlns:p14="http://schemas.microsoft.com/office/powerpoint/2010/main" val="1925460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Como funciona: cascada, especificidad y herencia</a:t>
            </a:r>
            <a:endParaRPr lang="en-US" sz="2200" dirty="0"/>
          </a:p>
        </p:txBody>
      </p:sp>
      <p:sp>
        <p:nvSpPr>
          <p:cNvPr id="4" name="Text 2"/>
          <p:cNvSpPr/>
          <p:nvPr/>
        </p:nvSpPr>
        <p:spPr>
          <a:xfrm>
            <a:off x="365760" y="609600"/>
            <a:ext cx="8412480" cy="396240"/>
          </a:xfrm>
          <a:prstGeom prst="rect">
            <a:avLst/>
          </a:prstGeom>
          <a:noFill/>
          <a:ln/>
        </p:spPr>
        <p:txBody>
          <a:bodyPr wrap="square" lIns="0" tIns="0" rIns="0" bIns="0" rtlCol="0" anchor="t"/>
          <a:lstStyle/>
          <a:p>
            <a:pPr marL="0" indent="0">
              <a:buNone/>
            </a:pPr>
            <a:r>
              <a:rPr lang="en-US" sz="1600" dirty="0">
                <a:solidFill>
                  <a:srgbClr val="82B1FF"/>
                </a:solidFill>
                <a:latin typeface="Calibri" pitchFamily="34" charset="0"/>
                <a:ea typeface="Calibri" pitchFamily="34" charset="-122"/>
                <a:cs typeface="Calibri" pitchFamily="34" charset="-120"/>
              </a:rPr>
              <a:t>Tema 3: Entender CSS antes de escribir CSS</a:t>
            </a:r>
            <a:endParaRPr lang="en-US" sz="1600"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6" name="Shape 4"/>
          <p:cNvSpPr/>
          <p:nvPr/>
        </p:nvSpPr>
        <p:spPr>
          <a:xfrm>
            <a:off x="292608" y="1143000"/>
            <a:ext cx="4114800" cy="1316665"/>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45719" cy="1316665"/>
          </a:xfrm>
          <a:prstGeom prst="rect">
            <a:avLst/>
          </a:prstGeom>
          <a:solidFill>
            <a:srgbClr val="1565C0"/>
          </a:solidFill>
          <a:ln w="12700">
            <a:solidFill>
              <a:srgbClr val="1565C0"/>
            </a:solidFill>
            <a:prstDash val="solid"/>
          </a:ln>
        </p:spPr>
      </p:sp>
      <p:sp>
        <p:nvSpPr>
          <p:cNvPr id="8" name="Text 6"/>
          <p:cNvSpPr/>
          <p:nvPr/>
        </p:nvSpPr>
        <p:spPr>
          <a:xfrm>
            <a:off x="420624" y="1216152"/>
            <a:ext cx="3913632"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La Cascada (la C de CSS)</a:t>
            </a:r>
            <a:endParaRPr lang="en-US" sz="1100" dirty="0"/>
          </a:p>
        </p:txBody>
      </p:sp>
      <p:sp>
        <p:nvSpPr>
          <p:cNvPr id="9" name="Text 7"/>
          <p:cNvSpPr/>
          <p:nvPr/>
        </p:nvSpPr>
        <p:spPr>
          <a:xfrm>
            <a:off x="420624" y="1490472"/>
            <a:ext cx="3913632" cy="969193"/>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CSS = Cascading Style Sheets. Cuando dos reglas apuntan al mismo elemento, la cascada decide cual gana:</a:t>
            </a:r>
            <a:endParaRPr lang="en-US" sz="1000" dirty="0"/>
          </a:p>
          <a:p>
            <a:pPr marL="0" indent="0">
              <a:buNone/>
            </a:pP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1. Origen: estilos del autor &gt; del usuario &gt; del navegador</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2. Especificidad: inline &gt; #id &gt; .clase &gt; etiqueta</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3. Orden: la ultima regla declarada gana si empatan</a:t>
            </a:r>
            <a:endParaRPr lang="en-US" sz="1000" dirty="0"/>
          </a:p>
        </p:txBody>
      </p:sp>
      <p:sp>
        <p:nvSpPr>
          <p:cNvPr id="10" name="Shape 8"/>
          <p:cNvSpPr/>
          <p:nvPr/>
        </p:nvSpPr>
        <p:spPr>
          <a:xfrm>
            <a:off x="4645152" y="1143000"/>
            <a:ext cx="4206240"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1" name="Shape 9"/>
          <p:cNvSpPr/>
          <p:nvPr/>
        </p:nvSpPr>
        <p:spPr>
          <a:xfrm>
            <a:off x="4645152" y="1143000"/>
            <a:ext cx="54864" cy="1316665"/>
          </a:xfrm>
          <a:prstGeom prst="rect">
            <a:avLst/>
          </a:prstGeom>
          <a:solidFill>
            <a:srgbClr val="F57C00"/>
          </a:solidFill>
          <a:ln w="12700">
            <a:solidFill>
              <a:srgbClr val="F57C00"/>
            </a:solidFill>
            <a:prstDash val="solid"/>
          </a:ln>
        </p:spPr>
      </p:sp>
      <p:sp>
        <p:nvSpPr>
          <p:cNvPr id="12" name="Text 10"/>
          <p:cNvSpPr/>
          <p:nvPr/>
        </p:nvSpPr>
        <p:spPr>
          <a:xfrm>
            <a:off x="4773168" y="1216152"/>
            <a:ext cx="4005072"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Especificidad: como se calcula</a:t>
            </a:r>
            <a:endParaRPr lang="en-US" sz="1100" dirty="0"/>
          </a:p>
        </p:txBody>
      </p:sp>
      <p:sp>
        <p:nvSpPr>
          <p:cNvPr id="13" name="Text 11"/>
          <p:cNvSpPr/>
          <p:nvPr/>
        </p:nvSpPr>
        <p:spPr>
          <a:xfrm>
            <a:off x="4773168" y="1490472"/>
            <a:ext cx="4005072" cy="1152144"/>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Cada selector tiene un peso numerico (A, B, C):</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  A = numero de #id</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  B = numero de .clase, [atributo], :pseudo-clase</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  C = numero de etiqueta, ::pseudo-elemento</a:t>
            </a:r>
            <a:endParaRPr lang="en-US" sz="1000" dirty="0"/>
          </a:p>
          <a:p>
            <a:pPr marL="0" indent="0">
              <a:buNone/>
            </a:pP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Ejemplo: #nav .link a  =  (1, 1, 1)  =  gana sobre  .menu a  =  (0, 1, 1)</a:t>
            </a:r>
            <a:endParaRPr lang="en-US" sz="1000" dirty="0"/>
          </a:p>
        </p:txBody>
      </p:sp>
      <p:sp>
        <p:nvSpPr>
          <p:cNvPr id="14" name="Shape 12"/>
          <p:cNvSpPr/>
          <p:nvPr/>
        </p:nvSpPr>
        <p:spPr>
          <a:xfrm>
            <a:off x="292608" y="2583368"/>
            <a:ext cx="4114800" cy="10058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5" name="Shape 13"/>
          <p:cNvSpPr/>
          <p:nvPr/>
        </p:nvSpPr>
        <p:spPr>
          <a:xfrm>
            <a:off x="292608" y="2583368"/>
            <a:ext cx="54864" cy="1005840"/>
          </a:xfrm>
          <a:prstGeom prst="rect">
            <a:avLst/>
          </a:prstGeom>
          <a:solidFill>
            <a:srgbClr val="00897B"/>
          </a:solidFill>
          <a:ln w="12700">
            <a:solidFill>
              <a:srgbClr val="00897B"/>
            </a:solidFill>
            <a:prstDash val="solid"/>
          </a:ln>
        </p:spPr>
      </p:sp>
      <p:sp>
        <p:nvSpPr>
          <p:cNvPr id="16" name="Text 14"/>
          <p:cNvSpPr/>
          <p:nvPr/>
        </p:nvSpPr>
        <p:spPr>
          <a:xfrm>
            <a:off x="420624" y="2656520"/>
            <a:ext cx="3913632"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Herencia: que propiedades se heredan</a:t>
            </a:r>
            <a:endParaRPr lang="en-US" sz="1100" dirty="0"/>
          </a:p>
        </p:txBody>
      </p:sp>
      <p:sp>
        <p:nvSpPr>
          <p:cNvPr id="17" name="Text 15"/>
          <p:cNvSpPr/>
          <p:nvPr/>
        </p:nvSpPr>
        <p:spPr>
          <a:xfrm>
            <a:off x="420624" y="2930840"/>
            <a:ext cx="3913632" cy="585216"/>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Las propiedades de texto SI se heredan: color, font-size, font-family, line-height, text-align.</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Las de caja NO se heredan: margin, padding, border, background, display.</a:t>
            </a:r>
            <a:endParaRPr lang="en-US" sz="1000" dirty="0"/>
          </a:p>
          <a:p>
            <a:pPr marL="0" indent="0">
              <a:buNone/>
            </a:pPr>
            <a:r>
              <a:rPr lang="en-US" sz="1000" dirty="0">
                <a:solidFill>
                  <a:srgbClr val="455A64"/>
                </a:solidFill>
                <a:latin typeface="Calibri" pitchFamily="34" charset="0"/>
                <a:ea typeface="Calibri" pitchFamily="34" charset="-122"/>
                <a:cs typeface="Calibri" pitchFamily="34" charset="-120"/>
              </a:rPr>
              <a:t>Usar inherit para forzar herencia; initial para el valor original.</a:t>
            </a:r>
            <a:endParaRPr lang="en-US" sz="1000" dirty="0"/>
          </a:p>
        </p:txBody>
      </p:sp>
      <p:sp>
        <p:nvSpPr>
          <p:cNvPr id="18" name="Shape 16"/>
          <p:cNvSpPr/>
          <p:nvPr/>
        </p:nvSpPr>
        <p:spPr>
          <a:xfrm>
            <a:off x="4645152" y="2583368"/>
            <a:ext cx="4206240" cy="100584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9" name="Shape 17"/>
          <p:cNvSpPr/>
          <p:nvPr/>
        </p:nvSpPr>
        <p:spPr>
          <a:xfrm>
            <a:off x="4645152" y="2583368"/>
            <a:ext cx="54864" cy="1005840"/>
          </a:xfrm>
          <a:prstGeom prst="rect">
            <a:avLst/>
          </a:prstGeom>
          <a:solidFill>
            <a:srgbClr val="C62828"/>
          </a:solidFill>
          <a:ln w="12700">
            <a:solidFill>
              <a:srgbClr val="C62828"/>
            </a:solidFill>
            <a:prstDash val="solid"/>
          </a:ln>
        </p:spPr>
      </p:sp>
      <p:sp>
        <p:nvSpPr>
          <p:cNvPr id="20" name="Text 18"/>
          <p:cNvSpPr/>
          <p:nvPr/>
        </p:nvSpPr>
        <p:spPr>
          <a:xfrm>
            <a:off x="4773168" y="2656520"/>
            <a:ext cx="4005072"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!important: el ultimo recurso</a:t>
            </a:r>
            <a:endParaRPr lang="en-US" sz="1100" dirty="0"/>
          </a:p>
        </p:txBody>
      </p:sp>
      <p:sp>
        <p:nvSpPr>
          <p:cNvPr id="21" name="Text 19"/>
          <p:cNvSpPr/>
          <p:nvPr/>
        </p:nvSpPr>
        <p:spPr>
          <a:xfrm>
            <a:off x="4773168" y="2930840"/>
            <a:ext cx="4005072" cy="585216"/>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Agregar !important a una regla la hace ganar sobre TODAS las demas, sin importar especificidad. Pero es mala practica porque rompe la cascada y dificulta el mantenimiento.</a:t>
            </a:r>
            <a:endParaRPr lang="en-US" sz="1000" dirty="0"/>
          </a:p>
          <a:p>
            <a:pPr marL="0" indent="0">
              <a:buNone/>
            </a:pPr>
            <a:r>
              <a:rPr lang="en-US" sz="1000" dirty="0" err="1">
                <a:solidFill>
                  <a:srgbClr val="455A64"/>
                </a:solidFill>
                <a:latin typeface="Calibri" pitchFamily="34" charset="0"/>
                <a:ea typeface="Calibri" pitchFamily="34" charset="-122"/>
                <a:cs typeface="Calibri" pitchFamily="34" charset="-120"/>
              </a:rPr>
              <a:t>Regla</a:t>
            </a:r>
            <a:r>
              <a:rPr lang="en-US" sz="1000" dirty="0">
                <a:solidFill>
                  <a:srgbClr val="455A64"/>
                </a:solidFill>
                <a:latin typeface="Calibri" pitchFamily="34" charset="0"/>
                <a:ea typeface="Calibri" pitchFamily="34" charset="-122"/>
                <a:cs typeface="Calibri" pitchFamily="34" charset="-120"/>
              </a:rPr>
              <a:t>: si necesitas !important, tu CSS tiene un problema de arquitectura.</a:t>
            </a:r>
            <a:endParaRPr lang="en-US" sz="1000" dirty="0"/>
          </a:p>
        </p:txBody>
      </p:sp>
      <p:sp>
        <p:nvSpPr>
          <p:cNvPr id="22" name="Shape 20"/>
          <p:cNvSpPr/>
          <p:nvPr/>
        </p:nvSpPr>
        <p:spPr>
          <a:xfrm>
            <a:off x="292608" y="3858768"/>
            <a:ext cx="4114800" cy="1188720"/>
          </a:xfrm>
          <a:prstGeom prst="rect">
            <a:avLst/>
          </a:prstGeom>
          <a:solidFill>
            <a:srgbClr val="1A1A2E"/>
          </a:solidFill>
          <a:ln w="12700">
            <a:solidFill>
              <a:srgbClr val="334155"/>
            </a:solidFill>
            <a:prstDash val="solid"/>
          </a:ln>
        </p:spPr>
      </p:sp>
      <p:sp>
        <p:nvSpPr>
          <p:cNvPr id="23" name="Text 21"/>
          <p:cNvSpPr/>
          <p:nvPr/>
        </p:nvSpPr>
        <p:spPr>
          <a:xfrm>
            <a:off x="384048" y="3913632"/>
            <a:ext cx="3931920" cy="1078992"/>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Cascada en accion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p { color: blue; }    /* (0,0,1)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.intro { color: green; } /* (0,1,0) gana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#hero p { color: red; }  /* (1,0,1) GANA */</a:t>
            </a:r>
            <a:endParaRPr lang="en-US" sz="1000" dirty="0"/>
          </a:p>
          <a:p>
            <a:pPr marL="0" indent="0">
              <a:buNone/>
            </a:pP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El &lt;p class='intro'&gt; dentro de #hero</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sera ROJO: especificidad (1,0,1) &gt; (0,1,0) */</a:t>
            </a:r>
            <a:endParaRPr lang="en-US" sz="1000" dirty="0"/>
          </a:p>
        </p:txBody>
      </p:sp>
      <p:sp>
        <p:nvSpPr>
          <p:cNvPr id="24" name="Shape 22"/>
          <p:cNvSpPr/>
          <p:nvPr/>
        </p:nvSpPr>
        <p:spPr>
          <a:xfrm>
            <a:off x="4645152" y="3858768"/>
            <a:ext cx="4206240" cy="1188720"/>
          </a:xfrm>
          <a:prstGeom prst="rect">
            <a:avLst/>
          </a:prstGeom>
          <a:solidFill>
            <a:srgbClr val="1A1A2E"/>
          </a:solidFill>
          <a:ln w="12700">
            <a:solidFill>
              <a:srgbClr val="334155"/>
            </a:solidFill>
            <a:prstDash val="solid"/>
          </a:ln>
        </p:spPr>
      </p:sp>
      <p:sp>
        <p:nvSpPr>
          <p:cNvPr id="25" name="Text 23"/>
          <p:cNvSpPr/>
          <p:nvPr/>
        </p:nvSpPr>
        <p:spPr>
          <a:xfrm>
            <a:off x="4736592" y="3913632"/>
            <a:ext cx="4023360" cy="1078992"/>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Herencia vs no-herencia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body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color: #1a1a1a;      /* se hereda a TODO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font-family: Arial;  /* se hereda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padding: 2rem;       /* NO se hereda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background: #fff;    /* NO se hereda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Tree>
    <p:extLst>
      <p:ext uri="{BB962C8B-B14F-4D97-AF65-F5344CB8AC3E}">
        <p14:creationId xmlns:p14="http://schemas.microsoft.com/office/powerpoint/2010/main" val="2127793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esenciales: efecto y valores</a:t>
            </a:r>
            <a:endParaRPr lang="en-US" sz="2200" dirty="0"/>
          </a:p>
        </p:txBody>
      </p:sp>
      <p:sp>
        <p:nvSpPr>
          <p:cNvPr id="4" name="Text 2"/>
          <p:cNvSpPr/>
          <p:nvPr/>
        </p:nvSpPr>
        <p:spPr>
          <a:xfrm>
            <a:off x="365760" y="666307"/>
            <a:ext cx="8412480" cy="339533"/>
          </a:xfrm>
          <a:prstGeom prst="rect">
            <a:avLst/>
          </a:prstGeom>
          <a:noFill/>
          <a:ln/>
        </p:spPr>
        <p:txBody>
          <a:bodyPr wrap="square" lIns="0" tIns="0" rIns="0" bIns="0" rtlCol="0" anchor="t"/>
          <a:lstStyle/>
          <a:p>
            <a:pPr marL="0" indent="0">
              <a:buNone/>
            </a:pPr>
            <a:r>
              <a:rPr lang="en-US" sz="1600" dirty="0">
                <a:solidFill>
                  <a:srgbClr val="82B1FF"/>
                </a:solidFill>
                <a:latin typeface="Calibri" pitchFamily="34" charset="0"/>
                <a:ea typeface="Calibri" pitchFamily="34" charset="-122"/>
                <a:cs typeface="Calibri" pitchFamily="34" charset="-120"/>
              </a:rPr>
              <a:t>Tema 3: Referencia rápida de las propiedades CSS que usarás en el PFC</a:t>
            </a:r>
            <a:endParaRPr lang="en-US" sz="1600"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3409071689"/>
              </p:ext>
            </p:extLst>
          </p:nvPr>
        </p:nvGraphicFramePr>
        <p:xfrm>
          <a:off x="411480" y="1115568"/>
          <a:ext cx="8522208" cy="3984244"/>
        </p:xfrm>
        <a:graphic>
          <a:graphicData uri="http://schemas.openxmlformats.org/drawingml/2006/table">
            <a:tbl>
              <a:tblPr/>
              <a:tblGrid>
                <a:gridCol w="2256941">
                  <a:extLst>
                    <a:ext uri="{9D8B030D-6E8A-4147-A177-3AD203B41FA5}">
                      <a16:colId xmlns:a16="http://schemas.microsoft.com/office/drawing/2014/main" val="20000"/>
                    </a:ext>
                  </a:extLst>
                </a:gridCol>
                <a:gridCol w="3105550">
                  <a:extLst>
                    <a:ext uri="{9D8B030D-6E8A-4147-A177-3AD203B41FA5}">
                      <a16:colId xmlns:a16="http://schemas.microsoft.com/office/drawing/2014/main" val="20001"/>
                    </a:ext>
                  </a:extLst>
                </a:gridCol>
                <a:gridCol w="3159717">
                  <a:extLst>
                    <a:ext uri="{9D8B030D-6E8A-4147-A177-3AD203B41FA5}">
                      <a16:colId xmlns:a16="http://schemas.microsoft.com/office/drawing/2014/main" val="20002"/>
                    </a:ext>
                  </a:extLst>
                </a:gridCol>
              </a:tblGrid>
              <a:tr h="216027">
                <a:tc>
                  <a:txBody>
                    <a:bodyPr/>
                    <a:lstStyle/>
                    <a:p>
                      <a:pPr marL="0" indent="0" algn="l">
                        <a:buNone/>
                      </a:pPr>
                      <a:r>
                        <a:rPr lang="en-US" sz="1200" b="1" dirty="0">
                          <a:solidFill>
                            <a:srgbClr val="FFFFFF"/>
                          </a:solidFill>
                          <a:latin typeface="Consolas" pitchFamily="34" charset="0"/>
                          <a:ea typeface="Consolas" pitchFamily="34" charset="-122"/>
                          <a:cs typeface="Consolas" pitchFamily="34" charset="-120"/>
                        </a:rPr>
                        <a:t>Propiedad</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Efecto visual / funcional</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Valores más usados</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display</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Define el modelo de caja del elemento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block · inline · flex · grid · none · inline-flex</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position</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Controla el flujo de posicionamiento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static · relative · absolute · fixed · sticky</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top / right /</a:t>
                      </a:r>
                      <a:endParaRPr lang="en-US" sz="1100" dirty="0">
                        <a:latin typeface="Consolas" charset="0"/>
                        <a:ea typeface="Consolas" charset="0"/>
                        <a:cs typeface="Consolas" charset="0"/>
                      </a:endParaRPr>
                    </a:p>
                    <a:p>
                      <a:pPr marL="0" indent="0" algn="l">
                        <a:buNone/>
                      </a:pPr>
                      <a:r>
                        <a:rPr lang="en-US" sz="1100" b="1" dirty="0">
                          <a:solidFill>
                            <a:srgbClr val="B45309"/>
                          </a:solidFill>
                          <a:latin typeface="Consolas" pitchFamily="34" charset="0"/>
                          <a:ea typeface="Consolas" pitchFamily="34" charset="-122"/>
                          <a:cs typeface="Consolas" pitchFamily="34" charset="-120"/>
                        </a:rPr>
                        <a:t>bottom / left</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Desplaza un elemento posicionado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0 · 1rem · 50% · auto  (requiere position ≠ static)</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z-index</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Orden de apilamiento (eje Z)</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auto · 0 · 10 · 100 · -1  (mayor = encima)</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flex-direction</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Eje principal del contenedor flex</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row · row-reverse · column · column-reverse</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justify-content</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Alineación en el eje principal (X o Y)</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flex-start · center · flex-end · space-between · space-around · space-evenly</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6"/>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align-items</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Alineación en el eje secundario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stretch · flex-start · center · flex-end · baseline</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flex</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Crecimiento, contracción y tamaño base</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1  (= 1 1 0%)  ·  1 1 260px  ·  0 0 auto  ·  none</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8"/>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gap</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Espacio entre hijos (flex y grid)</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0.5rem · 1rem · 16px · 1rem 2rem  (fila col)</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grid-template-</a:t>
                      </a:r>
                      <a:endParaRPr lang="en-US" sz="1100" dirty="0">
                        <a:latin typeface="Consolas" charset="0"/>
                        <a:ea typeface="Consolas" charset="0"/>
                        <a:cs typeface="Consolas" charset="0"/>
                      </a:endParaRPr>
                    </a:p>
                    <a:p>
                      <a:pPr marL="0" indent="0" algn="l">
                        <a:buNone/>
                      </a:pPr>
                      <a:r>
                        <a:rPr lang="en-US" sz="1100" b="1" dirty="0">
                          <a:solidFill>
                            <a:srgbClr val="B45309"/>
                          </a:solidFill>
                          <a:latin typeface="Consolas" pitchFamily="34" charset="0"/>
                          <a:ea typeface="Consolas" pitchFamily="34" charset="-122"/>
                          <a:cs typeface="Consolas" pitchFamily="34" charset="-120"/>
                        </a:rPr>
                        <a:t>columns</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Define las columnas del grid</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repeat(3,1fr) · 1fr 280px · 200px auto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0"/>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grid-template-</a:t>
                      </a:r>
                      <a:endParaRPr lang="en-US" sz="1100" dirty="0">
                        <a:latin typeface="Consolas" charset="0"/>
                        <a:ea typeface="Consolas" charset="0"/>
                        <a:cs typeface="Consolas" charset="0"/>
                      </a:endParaRPr>
                    </a:p>
                    <a:p>
                      <a:pPr marL="0" indent="0" algn="l">
                        <a:buNone/>
                      </a:pPr>
                      <a:r>
                        <a:rPr lang="en-US" sz="1100" b="1" dirty="0">
                          <a:solidFill>
                            <a:srgbClr val="B45309"/>
                          </a:solidFill>
                          <a:latin typeface="Consolas" pitchFamily="34" charset="0"/>
                          <a:ea typeface="Consolas" pitchFamily="34" charset="-122"/>
                          <a:cs typeface="Consolas" pitchFamily="34" charset="-120"/>
                        </a:rPr>
                        <a:t>areas</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Nombra las zonas del grid en texto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"header header" / "main aside" / "footer footer"</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grid-column</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Posición y extensión en columnas</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1 / 3  · span 2  · 1 / -1  (toda la fila)</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2"/>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margin</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Espacio exterior del elemento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0 · auto · 1rem · 0 auto  (centrar) · 1rem 2rem</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padding</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Espacio interior del elemento</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0.5rem · 1rem 1.5rem · 8px 16px</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4"/>
                  </a:ext>
                </a:extLst>
              </a:tr>
              <a:tr h="216027">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border-radius</a:t>
                      </a:r>
                      <a:endParaRPr lang="en-US" sz="11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Esquinas redondeadas</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4px · 8px · 50%  (círculo) · 0.5rem 1rem</a:t>
                      </a:r>
                      <a:endParaRPr lang="en-US" sz="11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esenciales: efecto y valores</a:t>
            </a:r>
            <a:endParaRPr lang="en-US" sz="2200" dirty="0"/>
          </a:p>
        </p:txBody>
      </p:sp>
      <p:sp>
        <p:nvSpPr>
          <p:cNvPr id="4" name="Text 2"/>
          <p:cNvSpPr/>
          <p:nvPr/>
        </p:nvSpPr>
        <p:spPr>
          <a:xfrm>
            <a:off x="365760" y="588335"/>
            <a:ext cx="8412480" cy="417505"/>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Referencia rápida de las propiedades CSS que usarás en el PFC</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graphicFrame>
        <p:nvGraphicFramePr>
          <p:cNvPr id="11" name="Table 1"/>
          <p:cNvGraphicFramePr>
            <a:graphicFrameLocks noGrp="1"/>
          </p:cNvGraphicFramePr>
          <p:nvPr>
            <p:extLst>
              <p:ext uri="{D42A27DB-BD31-4B8C-83A1-F6EECF244321}">
                <p14:modId xmlns:p14="http://schemas.microsoft.com/office/powerpoint/2010/main" val="1407707334"/>
              </p:ext>
            </p:extLst>
          </p:nvPr>
        </p:nvGraphicFramePr>
        <p:xfrm>
          <a:off x="404039" y="1080128"/>
          <a:ext cx="8455577" cy="4086070"/>
        </p:xfrm>
        <a:graphic>
          <a:graphicData uri="http://schemas.openxmlformats.org/drawingml/2006/table">
            <a:tbl>
              <a:tblPr/>
              <a:tblGrid>
                <a:gridCol w="2297711">
                  <a:extLst>
                    <a:ext uri="{9D8B030D-6E8A-4147-A177-3AD203B41FA5}">
                      <a16:colId xmlns:a16="http://schemas.microsoft.com/office/drawing/2014/main" val="20000"/>
                    </a:ext>
                  </a:extLst>
                </a:gridCol>
                <a:gridCol w="2941070">
                  <a:extLst>
                    <a:ext uri="{9D8B030D-6E8A-4147-A177-3AD203B41FA5}">
                      <a16:colId xmlns:a16="http://schemas.microsoft.com/office/drawing/2014/main" val="20001"/>
                    </a:ext>
                  </a:extLst>
                </a:gridCol>
                <a:gridCol w="3216796">
                  <a:extLst>
                    <a:ext uri="{9D8B030D-6E8A-4147-A177-3AD203B41FA5}">
                      <a16:colId xmlns:a16="http://schemas.microsoft.com/office/drawing/2014/main" val="20002"/>
                    </a:ext>
                  </a:extLst>
                </a:gridCol>
              </a:tblGrid>
              <a:tr h="247174">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Propiedad</a:t>
                      </a:r>
                      <a:endParaRPr lang="en-US" sz="14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Efecto visual / funcional</a:t>
                      </a:r>
                      <a:endParaRPr lang="en-US" sz="14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Valores más usados</a:t>
                      </a:r>
                      <a:endParaRPr lang="en-US" sz="14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box-shadow</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Sombra exterior / interior</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0 2px 8px rgba(0,0,0,0.12) · inset 0 1px 3px …</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font-size</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Tamaño del texto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1rem · 1.125rem · clamp(1rem,2vw,1.5rem)</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font-weight</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Grosor del texto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400  (normal) · 600  (semibold) · 700  (bold)</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line-height</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Altura de línea (interlineado)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1 · 1.5 · 1.6 · 2  (sin unidad = relativo al font-size)</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color</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Color del texto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red · #1a1a1a · rgb(0,102,204) · var(--color-texto)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text-align</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Alineación horizontal del texto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left · center · right · justify</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6"/>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background-color</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Color de fondo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#fff · transparent · var(--color-fondo) · rgb(…)</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opacity</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Transparencia del elemento completo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0  (invisible) → 0.5  (50%) → 1  (opaco)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8"/>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overflow</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Qué hacer si el contenido desborda</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visible · hidden · auto · scroll</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cursor</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Ícono del ratón al pasar sobre el elem.</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pointer  (mano) · default · not-allowed · text</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0"/>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transition</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Anima cambios de propiedades CSS</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all 300ms ease · color 150ms ease-in · transform 0.4s</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transform</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Traslación, rotación, escala</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translateY(-3px) · rotate(45deg) · scale(1.05)</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2"/>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animation</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Aplica una animación @keyframes</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aparecer 0.4s ease both · spin 1s linear infinite</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min-width / max-width</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Límite mínimo / máximo de ancho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280px · 100% · 1200px · min-width:0 (fix flexbox)</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4"/>
                  </a:ext>
                </a:extLst>
              </a:tr>
              <a:tr h="247174">
                <a:tc>
                  <a:txBody>
                    <a:bodyPr/>
                    <a:lstStyle/>
                    <a:p>
                      <a:pPr marL="0" indent="0" algn="l">
                        <a:buNone/>
                      </a:pPr>
                      <a:r>
                        <a:rPr lang="en-US" sz="1200" b="1" dirty="0">
                          <a:solidFill>
                            <a:srgbClr val="B45309"/>
                          </a:solidFill>
                          <a:latin typeface="Consolas" pitchFamily="34" charset="0"/>
                          <a:ea typeface="Consolas" pitchFamily="34" charset="-122"/>
                          <a:cs typeface="Consolas" pitchFamily="34" charset="-120"/>
                        </a:rPr>
                        <a:t>width / height</a:t>
                      </a:r>
                      <a:endParaRPr lang="en-US" sz="1200" dirty="0">
                        <a:latin typeface="Consolas" charset="0"/>
                        <a:ea typeface="Consolas" charset="0"/>
                        <a:cs typeface="Consolas"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Dimensiones del elemento</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238"/>
                          </a:solidFill>
                          <a:latin typeface="Calibri" pitchFamily="34" charset="0"/>
                          <a:ea typeface="Calibri" pitchFamily="34" charset="-122"/>
                          <a:cs typeface="Calibri" pitchFamily="34" charset="-120"/>
                        </a:rPr>
                        <a:t>100% · auto · 50vw · 300px · fit-content</a:t>
                      </a:r>
                      <a:endParaRPr lang="en-US" sz="1200" dirty="0">
                        <a:latin typeface="Calibri" charset="0"/>
                        <a:ea typeface="Calibri" charset="0"/>
                        <a:cs typeface="Calibri" charset="0"/>
                      </a:endParaRPr>
                    </a:p>
                  </a:txBody>
                  <a:tcPr marL="0" marR="38100" marT="12700" marB="0" anchor="ctr">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932468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esenciales: efecto y valores</a:t>
            </a:r>
            <a:endParaRPr lang="en-US" sz="2200" dirty="0"/>
          </a:p>
        </p:txBody>
      </p:sp>
      <p:sp>
        <p:nvSpPr>
          <p:cNvPr id="4" name="Text 2"/>
          <p:cNvSpPr/>
          <p:nvPr/>
        </p:nvSpPr>
        <p:spPr>
          <a:xfrm>
            <a:off x="365760" y="659219"/>
            <a:ext cx="8412480" cy="346621"/>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Referencia rápida de las propiedades CSS que usarás en el PFC</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8" name="Text 4"/>
          <p:cNvSpPr/>
          <p:nvPr/>
        </p:nvSpPr>
        <p:spPr>
          <a:xfrm>
            <a:off x="575009" y="1238790"/>
            <a:ext cx="8631936" cy="201168"/>
          </a:xfrm>
          <a:prstGeom prst="rect">
            <a:avLst/>
          </a:prstGeom>
          <a:noFill/>
          <a:ln/>
        </p:spPr>
        <p:txBody>
          <a:bodyPr wrap="square" lIns="0" tIns="0" rIns="0" bIns="0" rtlCol="0" anchor="ctr"/>
          <a:lstStyle/>
          <a:p>
            <a:pPr marL="0" indent="0">
              <a:buNone/>
            </a:pPr>
            <a:r>
              <a:rPr lang="en-US" sz="1600" b="1" dirty="0">
                <a:solidFill>
                  <a:srgbClr val="263238"/>
                </a:solidFill>
                <a:latin typeface="Calibri" pitchFamily="34" charset="0"/>
                <a:ea typeface="Calibri" pitchFamily="34" charset="-122"/>
                <a:cs typeface="Calibri" pitchFamily="34" charset="-120"/>
              </a:rPr>
              <a:t>Ejemplos combinados:</a:t>
            </a:r>
            <a:endParaRPr lang="en-US" sz="1600" dirty="0"/>
          </a:p>
        </p:txBody>
      </p:sp>
      <p:sp>
        <p:nvSpPr>
          <p:cNvPr id="9" name="Shape 5"/>
          <p:cNvSpPr/>
          <p:nvPr/>
        </p:nvSpPr>
        <p:spPr>
          <a:xfrm>
            <a:off x="575008" y="1557314"/>
            <a:ext cx="7243465" cy="1690544"/>
          </a:xfrm>
          <a:prstGeom prst="rect">
            <a:avLst/>
          </a:prstGeom>
          <a:solidFill>
            <a:srgbClr val="1A1A2E"/>
          </a:solidFill>
          <a:ln w="12700">
            <a:solidFill>
              <a:srgbClr val="334155"/>
            </a:solidFill>
            <a:prstDash val="solid"/>
          </a:ln>
        </p:spPr>
      </p:sp>
      <p:sp>
        <p:nvSpPr>
          <p:cNvPr id="10" name="Text 6"/>
          <p:cNvSpPr/>
          <p:nvPr/>
        </p:nvSpPr>
        <p:spPr>
          <a:xfrm>
            <a:off x="684736" y="1648754"/>
            <a:ext cx="6867181" cy="1576006"/>
          </a:xfrm>
          <a:prstGeom prst="rect">
            <a:avLst/>
          </a:prstGeom>
          <a:noFill/>
          <a:ln/>
        </p:spPr>
        <p:txBody>
          <a:bodyPr wrap="square" lIns="0" tIns="0" rIns="0" bIns="0" rtlCol="0" anchor="t"/>
          <a:lstStyle/>
          <a:p>
            <a:pPr marL="0" indent="0">
              <a:buNone/>
            </a:pPr>
            <a:r>
              <a:rPr lang="en-US" sz="1600" dirty="0">
                <a:solidFill>
                  <a:srgbClr val="E8EAF6"/>
                </a:solidFill>
                <a:latin typeface="Consolas" pitchFamily="34" charset="0"/>
                <a:ea typeface="Consolas" pitchFamily="34" charset="-122"/>
                <a:cs typeface="Consolas" pitchFamily="34" charset="-120"/>
              </a:rPr>
              <a:t>.tarjeta { display:flex; gap:0.75rem; padding:1.25rem; border-radius:10px;</a:t>
            </a:r>
            <a:endParaRPr lang="en-US" sz="1600" dirty="0"/>
          </a:p>
          <a:p>
            <a:pPr marL="0" indent="0">
              <a:buNone/>
            </a:pPr>
            <a:r>
              <a:rPr lang="en-US" sz="1600" dirty="0">
                <a:solidFill>
                  <a:srgbClr val="C3E88D"/>
                </a:solidFill>
                <a:latin typeface="Consolas" pitchFamily="34" charset="0"/>
                <a:ea typeface="Consolas" pitchFamily="34" charset="-122"/>
                <a:cs typeface="Consolas" pitchFamily="34" charset="-120"/>
              </a:rPr>
              <a:t>  transition: transform 0.3s ease; </a:t>
            </a:r>
          </a:p>
          <a:p>
            <a:pPr marL="0" indent="0">
              <a:buNone/>
            </a:pPr>
            <a:r>
              <a:rPr lang="en-US" sz="1600" dirty="0">
                <a:solidFill>
                  <a:srgbClr val="C3E88D"/>
                </a:solidFill>
                <a:latin typeface="Consolas" pitchFamily="34" charset="0"/>
                <a:ea typeface="Consolas" pitchFamily="34" charset="-122"/>
                <a:cs typeface="Consolas" pitchFamily="34" charset="-120"/>
              </a:rPr>
              <a:t>} </a:t>
            </a:r>
          </a:p>
          <a:p>
            <a:pPr marL="0" indent="0">
              <a:buNone/>
            </a:pPr>
            <a:endParaRPr lang="en-US" sz="1600" dirty="0">
              <a:solidFill>
                <a:srgbClr val="C3E88D"/>
              </a:solidFill>
              <a:latin typeface="Consolas" pitchFamily="34" charset="0"/>
              <a:ea typeface="Consolas" pitchFamily="34" charset="-122"/>
              <a:cs typeface="Consolas" pitchFamily="34" charset="-120"/>
            </a:endParaRPr>
          </a:p>
          <a:p>
            <a:pPr marL="0" indent="0">
              <a:buNone/>
            </a:pPr>
            <a:r>
              <a:rPr lang="en-US" sz="1600" dirty="0">
                <a:solidFill>
                  <a:srgbClr val="C3E88D"/>
                </a:solidFill>
                <a:latin typeface="Consolas" pitchFamily="34" charset="0"/>
                <a:ea typeface="Consolas" pitchFamily="34" charset="-122"/>
                <a:cs typeface="Consolas" pitchFamily="34" charset="-120"/>
              </a:rPr>
              <a:t>.tarjeta:hover { transform:translateY(-4px); }</a:t>
            </a:r>
            <a:endParaRPr lang="en-US" sz="1600" dirty="0"/>
          </a:p>
        </p:txBody>
      </p:sp>
      <p:sp>
        <p:nvSpPr>
          <p:cNvPr id="7" name="Shape 7"/>
          <p:cNvSpPr/>
          <p:nvPr/>
        </p:nvSpPr>
        <p:spPr>
          <a:xfrm>
            <a:off x="575008" y="3347424"/>
            <a:ext cx="7225895" cy="1722924"/>
          </a:xfrm>
          <a:prstGeom prst="rect">
            <a:avLst/>
          </a:prstGeom>
          <a:solidFill>
            <a:srgbClr val="1A1A2E"/>
          </a:solidFill>
          <a:ln w="12700">
            <a:solidFill>
              <a:srgbClr val="334155"/>
            </a:solidFill>
            <a:prstDash val="solid"/>
          </a:ln>
        </p:spPr>
      </p:sp>
      <p:sp>
        <p:nvSpPr>
          <p:cNvPr id="12" name="Text 8"/>
          <p:cNvSpPr/>
          <p:nvPr/>
        </p:nvSpPr>
        <p:spPr>
          <a:xfrm>
            <a:off x="703025" y="3430738"/>
            <a:ext cx="6848892" cy="1516946"/>
          </a:xfrm>
          <a:prstGeom prst="rect">
            <a:avLst/>
          </a:prstGeom>
          <a:noFill/>
          <a:ln/>
        </p:spPr>
        <p:txBody>
          <a:bodyPr wrap="square" lIns="0" tIns="0" rIns="0" bIns="0" rtlCol="0" anchor="t"/>
          <a:lstStyle/>
          <a:p>
            <a:pPr marL="0" indent="0">
              <a:buNone/>
            </a:pPr>
            <a:r>
              <a:rPr lang="en-US" sz="1600" dirty="0">
                <a:solidFill>
                  <a:srgbClr val="E8EAF6"/>
                </a:solidFill>
                <a:latin typeface="Consolas" pitchFamily="34" charset="0"/>
                <a:ea typeface="Consolas" pitchFamily="34" charset="-122"/>
                <a:cs typeface="Consolas" pitchFamily="34" charset="-120"/>
              </a:rPr>
              <a:t>.pagina { display:grid; grid-template-columns:1fr 300px; </a:t>
            </a:r>
          </a:p>
          <a:p>
            <a:pPr marL="0" indent="0">
              <a:buNone/>
            </a:pPr>
            <a:r>
              <a:rPr lang="en-US" sz="1600" dirty="0">
                <a:solidFill>
                  <a:srgbClr val="E8EAF6"/>
                </a:solidFill>
                <a:latin typeface="Consolas" pitchFamily="34" charset="0"/>
                <a:ea typeface="Consolas" pitchFamily="34" charset="-122"/>
                <a:cs typeface="Consolas" pitchFamily="34" charset="-120"/>
              </a:rPr>
              <a:t>	  gap:1.5rem;</a:t>
            </a:r>
            <a:endParaRPr lang="en-US" sz="1600" dirty="0"/>
          </a:p>
          <a:p>
            <a:pPr marL="0" indent="0">
              <a:buNone/>
            </a:pPr>
            <a:r>
              <a:rPr lang="en-US" sz="1600" dirty="0">
                <a:solidFill>
                  <a:srgbClr val="C3E88D"/>
                </a:solidFill>
                <a:latin typeface="Consolas" pitchFamily="34" charset="0"/>
                <a:ea typeface="Consolas" pitchFamily="34" charset="-122"/>
                <a:cs typeface="Consolas" pitchFamily="34" charset="-120"/>
              </a:rPr>
              <a:t>	  max-width:1200px; margin:0 auto; }  </a:t>
            </a:r>
          </a:p>
          <a:p>
            <a:pPr marL="0" indent="0">
              <a:buNone/>
            </a:pPr>
            <a:endParaRPr lang="en-US" sz="1600" dirty="0">
              <a:solidFill>
                <a:srgbClr val="C3E88D"/>
              </a:solidFill>
              <a:latin typeface="Consolas" pitchFamily="34" charset="0"/>
              <a:ea typeface="Consolas" pitchFamily="34" charset="-122"/>
              <a:cs typeface="Consolas" pitchFamily="34" charset="-120"/>
            </a:endParaRPr>
          </a:p>
          <a:p>
            <a:pPr marL="0" indent="0">
              <a:buNone/>
            </a:pPr>
            <a:r>
              <a:rPr lang="en-US" sz="1600" dirty="0">
                <a:solidFill>
                  <a:srgbClr val="C3E88D"/>
                </a:solidFill>
                <a:latin typeface="Consolas" pitchFamily="34" charset="0"/>
                <a:ea typeface="Consolas" pitchFamily="34" charset="-122"/>
                <a:cs typeface="Consolas" pitchFamily="34" charset="-120"/>
              </a:rPr>
              <a:t>h1 { font-size:clamp(1.75rem,4vw,2.5rem); }</a:t>
            </a:r>
            <a:endParaRPr lang="en-US" sz="1600" dirty="0"/>
          </a:p>
        </p:txBody>
      </p:sp>
    </p:spTree>
    <p:extLst>
      <p:ext uri="{BB962C8B-B14F-4D97-AF65-F5344CB8AC3E}">
        <p14:creationId xmlns:p14="http://schemas.microsoft.com/office/powerpoint/2010/main" val="464912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abreviadas (shorthand) y valores multiples</a:t>
            </a:r>
            <a:endParaRPr lang="en-US" sz="2200" dirty="0"/>
          </a:p>
        </p:txBody>
      </p:sp>
      <p:sp>
        <p:nvSpPr>
          <p:cNvPr id="4" name="Text 2"/>
          <p:cNvSpPr/>
          <p:nvPr/>
        </p:nvSpPr>
        <p:spPr>
          <a:xfrm>
            <a:off x="365760" y="659219"/>
            <a:ext cx="8412480" cy="346621"/>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margin, padding, border, background, font, flex, transition, animation</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6" name="Text 4"/>
          <p:cNvSpPr/>
          <p:nvPr/>
        </p:nvSpPr>
        <p:spPr>
          <a:xfrm>
            <a:off x="292608" y="1093384"/>
            <a:ext cx="8558784" cy="292608"/>
          </a:xfrm>
          <a:prstGeom prst="rect">
            <a:avLst/>
          </a:prstGeom>
          <a:noFill/>
          <a:ln/>
        </p:spPr>
        <p:txBody>
          <a:bodyPr wrap="square" lIns="0" tIns="0" rIns="0" bIns="0" rtlCol="0" anchor="ctr"/>
          <a:lstStyle/>
          <a:p>
            <a:pPr marL="0" indent="0">
              <a:buNone/>
            </a:pPr>
            <a:r>
              <a:rPr lang="en-US" sz="1400" dirty="0">
                <a:solidFill>
                  <a:srgbClr val="263238"/>
                </a:solidFill>
                <a:latin typeface="Calibri" pitchFamily="34" charset="0"/>
                <a:ea typeface="Calibri" pitchFamily="34" charset="-122"/>
                <a:cs typeface="Calibri" pitchFamily="34" charset="-120"/>
              </a:rPr>
              <a:t>Las propiedades shorthand combinan varias propiedades en una sola linea. El orden de los valores importa.</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859029449"/>
              </p:ext>
            </p:extLst>
          </p:nvPr>
        </p:nvGraphicFramePr>
        <p:xfrm>
          <a:off x="292608" y="1417541"/>
          <a:ext cx="8631936" cy="3652806"/>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511296">
                  <a:extLst>
                    <a:ext uri="{9D8B030D-6E8A-4147-A177-3AD203B41FA5}">
                      <a16:colId xmlns:a16="http://schemas.microsoft.com/office/drawing/2014/main" val="20003"/>
                    </a:ext>
                  </a:extLst>
                </a:gridCol>
              </a:tblGrid>
              <a:tr h="224208">
                <a:tc>
                  <a:txBody>
                    <a:bodyPr/>
                    <a:lstStyle/>
                    <a:p>
                      <a:pPr marL="0" indent="0" algn="l">
                        <a:buNone/>
                      </a:pPr>
                      <a:r>
                        <a:rPr lang="en-US" sz="1000" b="1" dirty="0">
                          <a:solidFill>
                            <a:srgbClr val="FFFFFF"/>
                          </a:solidFill>
                          <a:latin typeface="Consolas" pitchFamily="34" charset="0"/>
                          <a:ea typeface="Consolas" pitchFamily="34" charset="-122"/>
                          <a:cs typeface="Consolas" pitchFamily="34" charset="-120"/>
                        </a:rPr>
                        <a:t>Shorthand</a:t>
                      </a:r>
                      <a:endParaRPr lang="en-US" sz="10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000" b="1" dirty="0">
                          <a:solidFill>
                            <a:srgbClr val="FFFFFF"/>
                          </a:solidFill>
                          <a:latin typeface="Consolas" pitchFamily="34" charset="0"/>
                          <a:ea typeface="Consolas" pitchFamily="34" charset="-122"/>
                          <a:cs typeface="Consolas" pitchFamily="34" charset="-120"/>
                        </a:rPr>
                        <a:t>Equivale a</a:t>
                      </a:r>
                      <a:endParaRPr lang="en-US" sz="10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000" b="1" dirty="0">
                          <a:solidFill>
                            <a:srgbClr val="FFFFFF"/>
                          </a:solidFill>
                          <a:latin typeface="Consolas" pitchFamily="34" charset="0"/>
                          <a:ea typeface="Consolas" pitchFamily="34" charset="-122"/>
                          <a:cs typeface="Consolas" pitchFamily="34" charset="-120"/>
                        </a:rPr>
                        <a:t>Ejemplo</a:t>
                      </a:r>
                      <a:endParaRPr lang="en-US" sz="10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Significado de cada valor</a:t>
                      </a:r>
                      <a:endParaRPr lang="en-US" sz="10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648005">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margin</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margin-top</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margin-right</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margin-bottom</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margin-left</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margin: 1rem 2rem 0.5rem 0;</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 1rem 2rem;</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 1rem;</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margin: 0 auto;</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top right bottom left (reloj)</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vertical horizontal</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los 4 iguales</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0 arriba/abajo, centrado horiz.</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3406">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padding</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(misma logica</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que margin)</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padding: 8px 16px;</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padding: 1rem;</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vertical horizontal</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los 4 iguales</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493172">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border</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border-width</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border-style</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border-color</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border: 2px solid #dee2e6;</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border: none;</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ancho estilo color (en ese orden)</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elimina todo el borde</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2838">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background</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background-color</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background-image</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background-position</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background-size</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background-repeat</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background: #f8f9fa;</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background: url(bg.jpg)</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center/cover no-repeat;</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solo color</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imagen centrada, cubre todo,</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sin repetir</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648005">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font</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font-style</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font-weight</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font-size/line-height</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font-family</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font: italic 700</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  1.125rem/1.6 Arial;</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cursiva, bold, tamano/interlineado,</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fuente</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172">
                <a:tc>
                  <a:txBody>
                    <a:bodyPr/>
                    <a:lstStyle/>
                    <a:p>
                      <a:pPr marL="0" indent="0" algn="l">
                        <a:buNone/>
                      </a:pPr>
                      <a:r>
                        <a:rPr lang="en-US" sz="900" b="1" dirty="0">
                          <a:solidFill>
                            <a:srgbClr val="B45309"/>
                          </a:solidFill>
                          <a:latin typeface="Consolas" pitchFamily="34" charset="0"/>
                          <a:ea typeface="Consolas" pitchFamily="34" charset="-122"/>
                          <a:cs typeface="Consolas" pitchFamily="34" charset="-120"/>
                        </a:rPr>
                        <a:t>flex</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flex-grow</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flex-shrink</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flex-basis</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onsolas" pitchFamily="34" charset="0"/>
                          <a:ea typeface="Consolas" pitchFamily="34" charset="-122"/>
                          <a:cs typeface="Consolas" pitchFamily="34" charset="-120"/>
                        </a:rPr>
                        <a:t>flex: 1;       = 1 1 0%</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flex: 1 1 260px;</a:t>
                      </a:r>
                      <a:endParaRPr lang="en-US" sz="900" dirty="0">
                        <a:latin typeface="Consolas" charset="0"/>
                        <a:ea typeface="Consolas" charset="0"/>
                        <a:cs typeface="Consolas" charset="0"/>
                      </a:endParaRPr>
                    </a:p>
                    <a:p>
                      <a:pPr marL="0" indent="0" algn="l">
                        <a:buNone/>
                      </a:pPr>
                      <a:r>
                        <a:rPr lang="en-US" sz="900" dirty="0">
                          <a:solidFill>
                            <a:srgbClr val="263238"/>
                          </a:solidFill>
                          <a:latin typeface="Consolas" pitchFamily="34" charset="0"/>
                          <a:ea typeface="Consolas" pitchFamily="34" charset="-122"/>
                          <a:cs typeface="Consolas" pitchFamily="34" charset="-120"/>
                        </a:rPr>
                        <a:t>flex: 0 0 auto; = none</a:t>
                      </a:r>
                      <a:endParaRPr lang="en-US" sz="9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900" dirty="0">
                          <a:solidFill>
                            <a:srgbClr val="263238"/>
                          </a:solidFill>
                          <a:latin typeface="Calibri" pitchFamily="34" charset="0"/>
                          <a:ea typeface="Calibri" pitchFamily="34" charset="-122"/>
                          <a:cs typeface="Calibri" pitchFamily="34" charset="-120"/>
                        </a:rPr>
                        <a:t>crece, se encoge, tamano base</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crece+encoge con min 260px</a:t>
                      </a:r>
                      <a:endParaRPr lang="en-US" sz="900" dirty="0">
                        <a:latin typeface="Calibri" charset="0"/>
                        <a:ea typeface="Calibri" charset="0"/>
                        <a:cs typeface="Calibri" charset="0"/>
                      </a:endParaRPr>
                    </a:p>
                    <a:p>
                      <a:pPr marL="0" indent="0" algn="l">
                        <a:buNone/>
                      </a:pPr>
                      <a:r>
                        <a:rPr lang="en-US" sz="900" dirty="0">
                          <a:solidFill>
                            <a:srgbClr val="263238"/>
                          </a:solidFill>
                          <a:latin typeface="Calibri" pitchFamily="34" charset="0"/>
                          <a:ea typeface="Calibri" pitchFamily="34" charset="-122"/>
                          <a:cs typeface="Calibri" pitchFamily="34" charset="-120"/>
                        </a:rPr>
                        <a:t>no crece, tamano natural</a:t>
                      </a:r>
                      <a:endParaRPr lang="en-US" sz="9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abreviadas (shorthand) y valores multiples</a:t>
            </a:r>
            <a:endParaRPr lang="en-US" sz="2200" dirty="0"/>
          </a:p>
        </p:txBody>
      </p:sp>
      <p:sp>
        <p:nvSpPr>
          <p:cNvPr id="4" name="Text 2"/>
          <p:cNvSpPr/>
          <p:nvPr/>
        </p:nvSpPr>
        <p:spPr>
          <a:xfrm>
            <a:off x="365760" y="637953"/>
            <a:ext cx="8412480" cy="367887"/>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margin, padding, border, background, font, flex, transition, animation</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6" name="Text 4"/>
          <p:cNvSpPr/>
          <p:nvPr/>
        </p:nvSpPr>
        <p:spPr>
          <a:xfrm>
            <a:off x="292608" y="1143000"/>
            <a:ext cx="8558784" cy="292608"/>
          </a:xfrm>
          <a:prstGeom prst="rect">
            <a:avLst/>
          </a:prstGeom>
          <a:noFill/>
          <a:ln/>
        </p:spPr>
        <p:txBody>
          <a:bodyPr wrap="square" lIns="0" tIns="0" rIns="0" bIns="0" rtlCol="0" anchor="ctr"/>
          <a:lstStyle/>
          <a:p>
            <a:pPr marL="0" indent="0">
              <a:buNone/>
            </a:pPr>
            <a:r>
              <a:rPr lang="en-US" sz="1400" dirty="0">
                <a:solidFill>
                  <a:srgbClr val="263238"/>
                </a:solidFill>
                <a:latin typeface="Calibri" pitchFamily="34" charset="0"/>
                <a:ea typeface="Calibri" pitchFamily="34" charset="-122"/>
                <a:cs typeface="Calibri" pitchFamily="34" charset="-120"/>
              </a:rPr>
              <a:t>Las propiedades shorthand combinan varias propiedades en una sola linea. El orden de los valores importa.</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365018899"/>
              </p:ext>
            </p:extLst>
          </p:nvPr>
        </p:nvGraphicFramePr>
        <p:xfrm>
          <a:off x="256032" y="1481328"/>
          <a:ext cx="8631936" cy="1783376"/>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511296">
                  <a:extLst>
                    <a:ext uri="{9D8B030D-6E8A-4147-A177-3AD203B41FA5}">
                      <a16:colId xmlns:a16="http://schemas.microsoft.com/office/drawing/2014/main" val="20003"/>
                    </a:ext>
                  </a:extLst>
                </a:gridCol>
              </a:tblGrid>
              <a:tr h="174809">
                <a:tc>
                  <a:txBody>
                    <a:bodyPr/>
                    <a:lstStyle/>
                    <a:p>
                      <a:pPr marL="0" indent="0" algn="l">
                        <a:buNone/>
                      </a:pPr>
                      <a:r>
                        <a:rPr lang="en-US" sz="1100" b="1" dirty="0">
                          <a:solidFill>
                            <a:srgbClr val="FFFFFF"/>
                          </a:solidFill>
                          <a:latin typeface="Consolas" pitchFamily="34" charset="0"/>
                          <a:ea typeface="Consolas" pitchFamily="34" charset="-122"/>
                          <a:cs typeface="Consolas" pitchFamily="34" charset="-120"/>
                        </a:rPr>
                        <a:t>Shorthand</a:t>
                      </a:r>
                      <a:endParaRPr lang="en-US" sz="11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100" b="1" dirty="0">
                          <a:solidFill>
                            <a:srgbClr val="FFFFFF"/>
                          </a:solidFill>
                          <a:latin typeface="Consolas" pitchFamily="34" charset="0"/>
                          <a:ea typeface="Consolas" pitchFamily="34" charset="-122"/>
                          <a:cs typeface="Consolas" pitchFamily="34" charset="-120"/>
                        </a:rPr>
                        <a:t>Equivale a</a:t>
                      </a:r>
                      <a:endParaRPr lang="en-US" sz="11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100" b="1" dirty="0">
                          <a:solidFill>
                            <a:srgbClr val="FFFFFF"/>
                          </a:solidFill>
                          <a:latin typeface="Consolas" pitchFamily="34" charset="0"/>
                          <a:ea typeface="Consolas" pitchFamily="34" charset="-122"/>
                          <a:cs typeface="Consolas" pitchFamily="34" charset="-120"/>
                        </a:rPr>
                        <a:t>Ejemplo</a:t>
                      </a:r>
                      <a:endParaRPr lang="en-US" sz="110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Significado de cada valor</a:t>
                      </a:r>
                      <a:endParaRPr lang="en-US" sz="110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865518">
                <a:tc>
                  <a:txBody>
                    <a:bodyPr/>
                    <a:lstStyle/>
                    <a:p>
                      <a:pPr marL="0" indent="0" algn="l">
                        <a:buNone/>
                      </a:pPr>
                      <a:r>
                        <a:rPr lang="en-US" sz="1050" b="1" dirty="0">
                          <a:solidFill>
                            <a:srgbClr val="B45309"/>
                          </a:solidFill>
                          <a:latin typeface="Consolas" pitchFamily="34" charset="0"/>
                          <a:ea typeface="Consolas" pitchFamily="34" charset="-122"/>
                          <a:cs typeface="Consolas" pitchFamily="34" charset="-120"/>
                        </a:rPr>
                        <a:t>transition</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238"/>
                          </a:solidFill>
                          <a:latin typeface="Consolas" pitchFamily="34" charset="0"/>
                          <a:ea typeface="Consolas" pitchFamily="34" charset="-122"/>
                          <a:cs typeface="Consolas" pitchFamily="34" charset="-120"/>
                        </a:rPr>
                        <a:t>transition-property</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transition-duration</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transition-timing</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transition-delay</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238"/>
                          </a:solidFill>
                          <a:latin typeface="Consolas" pitchFamily="34" charset="0"/>
                          <a:ea typeface="Consolas" pitchFamily="34" charset="-122"/>
                          <a:cs typeface="Consolas" pitchFamily="34" charset="-120"/>
                        </a:rPr>
                        <a:t>transition: all 300ms ease;</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transition: transform 0.3s</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  ease-in-out 50ms;</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todas las props, 300ms, suave</a:t>
                      </a:r>
                      <a:endParaRPr lang="en-US" sz="1050" dirty="0">
                        <a:latin typeface="Calibri" charset="0"/>
                        <a:ea typeface="Calibri" charset="0"/>
                        <a:cs typeface="Calibri" charset="0"/>
                      </a:endParaRPr>
                    </a:p>
                    <a:p>
                      <a:pPr marL="0" indent="0" algn="l">
                        <a:buNone/>
                      </a:pPr>
                      <a:r>
                        <a:rPr lang="en-US" sz="1050" dirty="0">
                          <a:solidFill>
                            <a:srgbClr val="263238"/>
                          </a:solidFill>
                          <a:latin typeface="Calibri" pitchFamily="34" charset="0"/>
                          <a:ea typeface="Calibri" pitchFamily="34" charset="-122"/>
                          <a:cs typeface="Calibri" pitchFamily="34" charset="-120"/>
                        </a:rPr>
                        <a:t>propiedad, duracion,</a:t>
                      </a:r>
                      <a:endParaRPr lang="en-US" sz="1050" dirty="0">
                        <a:latin typeface="Calibri" charset="0"/>
                        <a:ea typeface="Calibri" charset="0"/>
                        <a:cs typeface="Calibri" charset="0"/>
                      </a:endParaRPr>
                    </a:p>
                    <a:p>
                      <a:pPr marL="0" indent="0" algn="l">
                        <a:buNone/>
                      </a:pPr>
                      <a:r>
                        <a:rPr lang="en-US" sz="1050" dirty="0">
                          <a:solidFill>
                            <a:srgbClr val="263238"/>
                          </a:solidFill>
                          <a:latin typeface="Calibri" pitchFamily="34" charset="0"/>
                          <a:ea typeface="Calibri" pitchFamily="34" charset="-122"/>
                          <a:cs typeface="Calibri" pitchFamily="34" charset="-120"/>
                        </a:rPr>
                        <a:t>curva, retardo</a:t>
                      </a:r>
                      <a:endParaRPr lang="en-US" sz="105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724818">
                <a:tc>
                  <a:txBody>
                    <a:bodyPr/>
                    <a:lstStyle/>
                    <a:p>
                      <a:pPr marL="0" indent="0" algn="l">
                        <a:buNone/>
                      </a:pPr>
                      <a:r>
                        <a:rPr lang="en-US" sz="1050" b="1" dirty="0">
                          <a:solidFill>
                            <a:srgbClr val="B45309"/>
                          </a:solidFill>
                          <a:latin typeface="Consolas" pitchFamily="34" charset="0"/>
                          <a:ea typeface="Consolas" pitchFamily="34" charset="-122"/>
                          <a:cs typeface="Consolas" pitchFamily="34" charset="-120"/>
                        </a:rPr>
                        <a:t>animation</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50" dirty="0">
                          <a:solidFill>
                            <a:srgbClr val="263238"/>
                          </a:solidFill>
                          <a:latin typeface="Consolas" pitchFamily="34" charset="0"/>
                          <a:ea typeface="Consolas" pitchFamily="34" charset="-122"/>
                          <a:cs typeface="Consolas" pitchFamily="34" charset="-120"/>
                        </a:rPr>
                        <a:t>animation-name</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animation-duration</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animation-timing</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animation-fill-mode</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50" dirty="0">
                          <a:solidFill>
                            <a:srgbClr val="263238"/>
                          </a:solidFill>
                          <a:latin typeface="Consolas" pitchFamily="34" charset="0"/>
                          <a:ea typeface="Consolas" pitchFamily="34" charset="-122"/>
                          <a:cs typeface="Consolas" pitchFamily="34" charset="-120"/>
                        </a:rPr>
                        <a:t>animation: aparecer 0.4s</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  ease both;</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animation: spin 1s linear</a:t>
                      </a:r>
                      <a:endParaRPr lang="en-US" sz="1050" dirty="0">
                        <a:latin typeface="Consolas" charset="0"/>
                        <a:ea typeface="Consolas" charset="0"/>
                        <a:cs typeface="Consolas" charset="0"/>
                      </a:endParaRPr>
                    </a:p>
                    <a:p>
                      <a:pPr marL="0" indent="0" algn="l">
                        <a:buNone/>
                      </a:pPr>
                      <a:r>
                        <a:rPr lang="en-US" sz="1050" dirty="0">
                          <a:solidFill>
                            <a:srgbClr val="263238"/>
                          </a:solidFill>
                          <a:latin typeface="Consolas" pitchFamily="34" charset="0"/>
                          <a:ea typeface="Consolas" pitchFamily="34" charset="-122"/>
                          <a:cs typeface="Consolas" pitchFamily="34" charset="-120"/>
                        </a:rPr>
                        <a:t>  infinite;</a:t>
                      </a:r>
                      <a:endParaRPr lang="en-US" sz="1050" dirty="0">
                        <a:latin typeface="Consolas" charset="0"/>
                        <a:ea typeface="Consolas" charset="0"/>
                        <a:cs typeface="Consolas"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nombre @keyframes, duracion,</a:t>
                      </a:r>
                      <a:endParaRPr lang="en-US" sz="1050" dirty="0">
                        <a:latin typeface="Calibri" charset="0"/>
                        <a:ea typeface="Calibri" charset="0"/>
                        <a:cs typeface="Calibri" charset="0"/>
                      </a:endParaRPr>
                    </a:p>
                    <a:p>
                      <a:pPr marL="0" indent="0" algn="l">
                        <a:buNone/>
                      </a:pPr>
                      <a:r>
                        <a:rPr lang="en-US" sz="1050" dirty="0">
                          <a:solidFill>
                            <a:srgbClr val="263238"/>
                          </a:solidFill>
                          <a:latin typeface="Calibri" pitchFamily="34" charset="0"/>
                          <a:ea typeface="Calibri" pitchFamily="34" charset="-122"/>
                          <a:cs typeface="Calibri" pitchFamily="34" charset="-120"/>
                        </a:rPr>
                        <a:t>curva, mantener estado final</a:t>
                      </a:r>
                      <a:endParaRPr lang="en-US" sz="1050" dirty="0">
                        <a:latin typeface="Calibri" charset="0"/>
                        <a:ea typeface="Calibri" charset="0"/>
                        <a:cs typeface="Calibri" charset="0"/>
                      </a:endParaRPr>
                    </a:p>
                    <a:p>
                      <a:pPr marL="0" indent="0" algn="l">
                        <a:buNone/>
                      </a:pPr>
                      <a:r>
                        <a:rPr lang="en-US" sz="1050" dirty="0">
                          <a:solidFill>
                            <a:srgbClr val="263238"/>
                          </a:solidFill>
                          <a:latin typeface="Calibri" pitchFamily="34" charset="0"/>
                          <a:ea typeface="Calibri" pitchFamily="34" charset="-122"/>
                          <a:cs typeface="Calibri" pitchFamily="34" charset="-120"/>
                        </a:rPr>
                        <a:t>nombre, duracion, lineal,</a:t>
                      </a:r>
                      <a:endParaRPr lang="en-US" sz="1050" dirty="0">
                        <a:latin typeface="Calibri" charset="0"/>
                        <a:ea typeface="Calibri" charset="0"/>
                        <a:cs typeface="Calibri" charset="0"/>
                      </a:endParaRPr>
                    </a:p>
                    <a:p>
                      <a:pPr marL="0" indent="0" algn="l">
                        <a:buNone/>
                      </a:pPr>
                      <a:r>
                        <a:rPr lang="en-US" sz="1050" dirty="0">
                          <a:solidFill>
                            <a:srgbClr val="263238"/>
                          </a:solidFill>
                          <a:latin typeface="Calibri" pitchFamily="34" charset="0"/>
                          <a:ea typeface="Calibri" pitchFamily="34" charset="-122"/>
                          <a:cs typeface="Calibri" pitchFamily="34" charset="-120"/>
                        </a:rPr>
                        <a:t>repetir infinitamente</a:t>
                      </a:r>
                      <a:endParaRPr lang="en-US" sz="1050" dirty="0">
                        <a:latin typeface="Calibri" charset="0"/>
                        <a:ea typeface="Calibri" charset="0"/>
                        <a:cs typeface="Calibri" charset="0"/>
                      </a:endParaRPr>
                    </a:p>
                  </a:txBody>
                  <a:tcPr marL="0" marR="50800" marT="25400" marB="0">
                    <a:lnL w="5080" cap="flat" cmpd="sng" algn="ctr">
                      <a:solidFill>
                        <a:srgbClr val="FDE68A"/>
                      </a:solidFill>
                      <a:prstDash val="solid"/>
                      <a:round/>
                      <a:headEnd type="none" w="med" len="med"/>
                      <a:tailEnd type="none" w="med" len="med"/>
                    </a:lnL>
                    <a:lnR w="5080" cap="flat" cmpd="sng" algn="ctr">
                      <a:solidFill>
                        <a:srgbClr val="FDE68A"/>
                      </a:solidFill>
                      <a:prstDash val="solid"/>
                      <a:round/>
                      <a:headEnd type="none" w="med" len="med"/>
                      <a:tailEnd type="none" w="med" len="med"/>
                    </a:lnR>
                    <a:lnT w="5080" cap="flat" cmpd="sng" algn="ctr">
                      <a:solidFill>
                        <a:srgbClr val="FDE68A"/>
                      </a:solidFill>
                      <a:prstDash val="solid"/>
                      <a:round/>
                      <a:headEnd type="none" w="med" len="med"/>
                      <a:tailEnd type="none" w="med" len="med"/>
                    </a:lnT>
                    <a:lnB w="508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8"/>
                  </a:ext>
                </a:extLst>
              </a:tr>
            </a:tbl>
          </a:graphicData>
        </a:graphic>
      </p:graphicFrame>
      <p:sp>
        <p:nvSpPr>
          <p:cNvPr id="8" name="Shape 5"/>
          <p:cNvSpPr/>
          <p:nvPr/>
        </p:nvSpPr>
        <p:spPr>
          <a:xfrm>
            <a:off x="623777" y="3359882"/>
            <a:ext cx="7917712" cy="1687033"/>
          </a:xfrm>
          <a:prstGeom prst="rect">
            <a:avLst/>
          </a:prstGeom>
          <a:solidFill>
            <a:srgbClr val="FFF8E1"/>
          </a:solidFill>
          <a:ln w="12700">
            <a:solidFill>
              <a:srgbClr val="F57C00"/>
            </a:solidFill>
            <a:prstDash val="solid"/>
          </a:ln>
        </p:spPr>
      </p:sp>
      <p:sp>
        <p:nvSpPr>
          <p:cNvPr id="9" name="Text 6"/>
          <p:cNvSpPr/>
          <p:nvPr/>
        </p:nvSpPr>
        <p:spPr>
          <a:xfrm>
            <a:off x="690696" y="3436923"/>
            <a:ext cx="7783514" cy="423623"/>
          </a:xfrm>
          <a:prstGeom prst="rect">
            <a:avLst/>
          </a:prstGeom>
          <a:noFill/>
          <a:ln/>
        </p:spPr>
        <p:txBody>
          <a:bodyPr wrap="square" lIns="0" tIns="0" rIns="0" bIns="0" rtlCol="0" anchor="ctr"/>
          <a:lstStyle/>
          <a:p>
            <a:pPr marL="0" indent="0">
              <a:buNone/>
            </a:pPr>
            <a:r>
              <a:rPr lang="en-US" sz="2400" b="1" dirty="0">
                <a:solidFill>
                  <a:srgbClr val="F57C00"/>
                </a:solidFill>
                <a:latin typeface="Calibri" pitchFamily="34" charset="0"/>
                <a:ea typeface="Calibri" pitchFamily="34" charset="-122"/>
                <a:cs typeface="Calibri" pitchFamily="34" charset="-120"/>
              </a:rPr>
              <a:t>  Ejercicio (2 min) — Reescribir a shorthand</a:t>
            </a:r>
            <a:endParaRPr lang="en-US" sz="2400" dirty="0"/>
          </a:p>
        </p:txBody>
      </p:sp>
      <p:sp>
        <p:nvSpPr>
          <p:cNvPr id="10" name="Text 7"/>
          <p:cNvSpPr/>
          <p:nvPr/>
        </p:nvSpPr>
        <p:spPr>
          <a:xfrm>
            <a:off x="690696" y="3892223"/>
            <a:ext cx="7783514" cy="977590"/>
          </a:xfrm>
          <a:prstGeom prst="rect">
            <a:avLst/>
          </a:prstGeom>
          <a:noFill/>
          <a:ln/>
        </p:spPr>
        <p:txBody>
          <a:bodyPr wrap="square" lIns="0" tIns="0" rIns="0" bIns="0" rtlCol="0" anchor="t"/>
          <a:lstStyle/>
          <a:p>
            <a:pPr marL="342900" indent="-342900">
              <a:buSzPct val="100000"/>
              <a:buChar char="•"/>
            </a:pPr>
            <a:r>
              <a:rPr lang="en-US" dirty="0">
                <a:solidFill>
                  <a:srgbClr val="263238"/>
                </a:solidFill>
                <a:latin typeface="Calibri" pitchFamily="34" charset="0"/>
                <a:ea typeface="Calibri" pitchFamily="34" charset="-122"/>
                <a:cs typeface="Calibri" pitchFamily="34" charset="-120"/>
              </a:rPr>
              <a:t>Convertir: margin-top:1rem; margin-right:2rem; margin-bottom:1rem; margin-left:2rem;  a shorthand.</a:t>
            </a:r>
            <a:endParaRPr lang="en-US" dirty="0"/>
          </a:p>
          <a:p>
            <a:pPr marL="342900" indent="-342900">
              <a:buSzPct val="100000"/>
              <a:buChar char="•"/>
            </a:pPr>
            <a:r>
              <a:rPr lang="en-US" dirty="0">
                <a:solidFill>
                  <a:srgbClr val="263238"/>
                </a:solidFill>
                <a:latin typeface="Calibri" pitchFamily="34" charset="0"/>
                <a:ea typeface="Calibri" pitchFamily="34" charset="-122"/>
                <a:cs typeface="Calibri" pitchFamily="34" charset="-120"/>
              </a:rPr>
              <a:t>Respuesta: margin: 1rem 2rem;  (vertical horizontal). Solo 2 valores porque top=bottom y right=left.</a:t>
            </a:r>
            <a:endParaRPr lang="en-US" dirty="0"/>
          </a:p>
        </p:txBody>
      </p:sp>
    </p:spTree>
    <p:extLst>
      <p:ext uri="{BB962C8B-B14F-4D97-AF65-F5344CB8AC3E}">
        <p14:creationId xmlns:p14="http://schemas.microsoft.com/office/powerpoint/2010/main" val="278768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de layout, caja y posicionamiento</a:t>
            </a:r>
            <a:endParaRPr lang="en-US" sz="2200" dirty="0"/>
          </a:p>
        </p:txBody>
      </p:sp>
      <p:sp>
        <p:nvSpPr>
          <p:cNvPr id="4" name="Text 2"/>
          <p:cNvSpPr/>
          <p:nvPr/>
        </p:nvSpPr>
        <p:spPr>
          <a:xfrm>
            <a:off x="365760" y="652130"/>
            <a:ext cx="8412480" cy="353710"/>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display, position, flex, grid, margin, padding, border-radius, box-shadow</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840340996"/>
              </p:ext>
            </p:extLst>
          </p:nvPr>
        </p:nvGraphicFramePr>
        <p:xfrm>
          <a:off x="256032" y="1115568"/>
          <a:ext cx="8631936" cy="3977640"/>
        </p:xfrm>
        <a:graphic>
          <a:graphicData uri="http://schemas.openxmlformats.org/drawingml/2006/table">
            <a:tbl>
              <a:tblPr/>
              <a:tblGrid>
                <a:gridCol w="2728173">
                  <a:extLst>
                    <a:ext uri="{9D8B030D-6E8A-4147-A177-3AD203B41FA5}">
                      <a16:colId xmlns:a16="http://schemas.microsoft.com/office/drawing/2014/main" val="20000"/>
                    </a:ext>
                  </a:extLst>
                </a:gridCol>
                <a:gridCol w="2353339">
                  <a:extLst>
                    <a:ext uri="{9D8B030D-6E8A-4147-A177-3AD203B41FA5}">
                      <a16:colId xmlns:a16="http://schemas.microsoft.com/office/drawing/2014/main" val="20001"/>
                    </a:ext>
                  </a:extLst>
                </a:gridCol>
                <a:gridCol w="3550424">
                  <a:extLst>
                    <a:ext uri="{9D8B030D-6E8A-4147-A177-3AD203B41FA5}">
                      <a16:colId xmlns:a16="http://schemas.microsoft.com/office/drawing/2014/main" val="20002"/>
                    </a:ext>
                  </a:extLst>
                </a:gridCol>
              </a:tblGrid>
              <a:tr h="220980">
                <a:tc>
                  <a:txBody>
                    <a:bodyPr/>
                    <a:lstStyle/>
                    <a:p>
                      <a:pPr marL="0" indent="0" algn="l">
                        <a:buNone/>
                      </a:pPr>
                      <a:r>
                        <a:rPr lang="en-US" sz="1050" b="1" dirty="0">
                          <a:solidFill>
                            <a:srgbClr val="FFFFFF"/>
                          </a:solidFill>
                          <a:latin typeface="Consolas" pitchFamily="34" charset="0"/>
                          <a:ea typeface="Consolas" pitchFamily="34" charset="-122"/>
                          <a:cs typeface="Consolas" pitchFamily="34" charset="-120"/>
                        </a:rPr>
                        <a:t>Propiedad</a:t>
                      </a:r>
                      <a:endParaRPr lang="en-US" sz="105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Efecto</a:t>
                      </a:r>
                      <a:endParaRPr lang="en-US" sz="105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Valores principales</a:t>
                      </a:r>
                      <a:endParaRPr lang="en-US" sz="105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display</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Modelo de caja del elemento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block - inline - flex - grid - none - inline-flex</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position</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Flujo de posicionamiento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static - relative - absolute - fixed - sticky</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top/right/bottom/left</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Desplaza un elemento posicionado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0 - 1rem - 50% - auto  (requiere position != static)</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z-index</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Orden de apilamiento (eje Z)</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auto - 0 - 10 - 100 - -1  (mayor = encima)</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flex-direction</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Eje principal del contenedor flex</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row - row-reverse - column - column-reverse</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justify-content</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Alineacion eje principal</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flex-start - center - space-between - space-around - space-evenly</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6"/>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align-items</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Alineacion eje secundario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stretch - flex-start - center - flex-end - baseline</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flex</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Crecimiento + contraccion + base</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1 (= 1 1 0%) - 1 1 260px - 0 0 auto - none</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8"/>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gap</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Espacio entre hijos (flex/grid)</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0.5rem - 1rem - 16px - 1rem 2rem (fila columna)</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grid-template-columns</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Define columnas del grid</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repeat(3,1fr) - 1fr 280px - auto 1fr auto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0"/>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grid-template-areas</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Nombra zonas del grid</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"header header" / "main aside" / "footer footer"</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margin</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Espacio exterior</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0 - auto - 1rem - 0 auto (centrar) - 1rem 2rem</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2"/>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padding</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Espacio interior</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0.5rem - 1rem 1.5rem - 8px 16px</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border-radius</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Esquinas redondeadas</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4px - 8px - 50% (circulo) - 0.5rem</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4"/>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box-shadow</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Sombra exterior/interior</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0 2px 8px rgba(0,0,0,.12) - inset 0 1px 3px ...</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overflow</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Contenido que desborda</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visible - hidden - auto - scroll</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6"/>
                  </a:ext>
                </a:extLst>
              </a:tr>
              <a:tr h="220980">
                <a:tc>
                  <a:txBody>
                    <a:bodyPr/>
                    <a:lstStyle/>
                    <a:p>
                      <a:pPr marL="0" indent="0" algn="l">
                        <a:buNone/>
                      </a:pPr>
                      <a:r>
                        <a:rPr lang="en-US" sz="1000" b="1" dirty="0">
                          <a:solidFill>
                            <a:srgbClr val="B45309"/>
                          </a:solidFill>
                          <a:latin typeface="Consolas" pitchFamily="34" charset="0"/>
                          <a:ea typeface="Consolas" pitchFamily="34" charset="-122"/>
                          <a:cs typeface="Consolas" pitchFamily="34" charset="-120"/>
                        </a:rPr>
                        <a:t>width/height</a:t>
                      </a:r>
                      <a:endParaRPr lang="en-US" sz="10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Dimensiones del elemento</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3238"/>
                          </a:solidFill>
                          <a:latin typeface="Calibri" pitchFamily="34" charset="0"/>
                          <a:ea typeface="Calibri" pitchFamily="34" charset="-122"/>
                          <a:cs typeface="Calibri" pitchFamily="34" charset="-120"/>
                        </a:rPr>
                        <a:t>100% - auto - 50vw - 300px - fit-content</a:t>
                      </a:r>
                      <a:endParaRPr lang="en-US" sz="10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de texto, visual y animacion + ejemplos</a:t>
            </a:r>
            <a:endParaRPr lang="en-US" sz="2200" dirty="0"/>
          </a:p>
        </p:txBody>
      </p:sp>
      <p:sp>
        <p:nvSpPr>
          <p:cNvPr id="4" name="Text 2"/>
          <p:cNvSpPr/>
          <p:nvPr/>
        </p:nvSpPr>
        <p:spPr>
          <a:xfrm>
            <a:off x="365760" y="637952"/>
            <a:ext cx="8412480" cy="367887"/>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font, color, opacity, transition, transform, animation, clamp()</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257799774"/>
              </p:ext>
            </p:extLst>
          </p:nvPr>
        </p:nvGraphicFramePr>
        <p:xfrm>
          <a:off x="256032" y="1069847"/>
          <a:ext cx="8631936" cy="3941626"/>
        </p:xfrm>
        <a:graphic>
          <a:graphicData uri="http://schemas.openxmlformats.org/drawingml/2006/table">
            <a:tbl>
              <a:tblPr/>
              <a:tblGrid>
                <a:gridCol w="2139838">
                  <a:extLst>
                    <a:ext uri="{9D8B030D-6E8A-4147-A177-3AD203B41FA5}">
                      <a16:colId xmlns:a16="http://schemas.microsoft.com/office/drawing/2014/main" val="20000"/>
                    </a:ext>
                  </a:extLst>
                </a:gridCol>
                <a:gridCol w="2544725">
                  <a:extLst>
                    <a:ext uri="{9D8B030D-6E8A-4147-A177-3AD203B41FA5}">
                      <a16:colId xmlns:a16="http://schemas.microsoft.com/office/drawing/2014/main" val="20001"/>
                    </a:ext>
                  </a:extLst>
                </a:gridCol>
                <a:gridCol w="3947373">
                  <a:extLst>
                    <a:ext uri="{9D8B030D-6E8A-4147-A177-3AD203B41FA5}">
                      <a16:colId xmlns:a16="http://schemas.microsoft.com/office/drawing/2014/main" val="20002"/>
                    </a:ext>
                  </a:extLst>
                </a:gridCol>
              </a:tblGrid>
              <a:tr h="303202">
                <a:tc>
                  <a:txBody>
                    <a:bodyPr/>
                    <a:lstStyle/>
                    <a:p>
                      <a:pPr marL="0" indent="0" algn="l">
                        <a:buNone/>
                      </a:pPr>
                      <a:r>
                        <a:rPr lang="en-US" sz="1200" b="1" dirty="0">
                          <a:solidFill>
                            <a:srgbClr val="FFFFFF"/>
                          </a:solidFill>
                          <a:latin typeface="Consolas" pitchFamily="34" charset="0"/>
                          <a:ea typeface="Consolas" pitchFamily="34" charset="-122"/>
                          <a:cs typeface="Consolas" pitchFamily="34" charset="-120"/>
                        </a:rPr>
                        <a:t>Propiedad</a:t>
                      </a:r>
                      <a:endParaRPr lang="en-US" sz="12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Efecto</a:t>
                      </a:r>
                      <a:endParaRPr lang="en-US" sz="12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Valores principales</a:t>
                      </a:r>
                      <a:endParaRPr lang="en-US" sz="12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57C00"/>
                    </a:solidFill>
                  </a:tcPr>
                </a:tc>
                <a:extLst>
                  <a:ext uri="{0D108BD9-81ED-4DB2-BD59-A6C34878D82A}">
                    <a16:rowId xmlns:a16="http://schemas.microsoft.com/office/drawing/2014/main" val="10000"/>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font-size</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Tamano del texto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1rem - 1.125rem - clamp(1rem, 2vw, 1.5rem)</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font-weight</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Grosor del texto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400 (normal) - 600 (semibold) - 700 (bold)</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2"/>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line-height</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Interlineado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1 - 1.5 - 1.6 - 2 (sin unidad = relativo a font-size)</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color</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Color del texto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red - #1a1a1a - rgb(0,102,204) - var(--color-texto)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text-align</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Alineacion horizontal del texto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left - center - right - justify</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background-color</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Color de fondo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#fff - transparent - var(--color-fondo) - rgb(...)</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6"/>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opacity</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Transparencia completa del elemento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0 (invisible) - 0.5 (50%) - 1 (opaco)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cursor</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Icono del raton al pasar</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pointer (mano) - default - not-allowed - text</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08"/>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transition</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Anima cambios de propiedades</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all 300ms ease - color 150ms ease-in - transform 0.4s</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transform</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Traslacion, rotacion, escala</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translateY(-3px) - rotate(45deg) - scale(1.05)</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0"/>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animation</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Aplica una animacion @keyframes</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aparecer 0.4s ease both - spin 1s linear infinite</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3202">
                <a:tc>
                  <a:txBody>
                    <a:bodyPr/>
                    <a:lstStyle/>
                    <a:p>
                      <a:pPr marL="0" indent="0" algn="l">
                        <a:buNone/>
                      </a:pPr>
                      <a:r>
                        <a:rPr lang="en-US" sz="1100" b="1" dirty="0">
                          <a:solidFill>
                            <a:srgbClr val="B45309"/>
                          </a:solidFill>
                          <a:latin typeface="Consolas" pitchFamily="34" charset="0"/>
                          <a:ea typeface="Consolas" pitchFamily="34" charset="-122"/>
                          <a:cs typeface="Consolas" pitchFamily="34" charset="-120"/>
                        </a:rPr>
                        <a:t>min/max-width</a:t>
                      </a:r>
                      <a:endParaRPr lang="en-US" sz="1100" dirty="0">
                        <a:latin typeface="Consolas" charset="0"/>
                        <a:ea typeface="Consolas" charset="0"/>
                        <a:cs typeface="Consolas"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Limites de ancho</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280px - 100% - 1200px - min-width:0 (fix flexbox)</a:t>
                      </a:r>
                      <a:endParaRPr lang="en-US" sz="1100" dirty="0">
                        <a:latin typeface="Calibri" charset="0"/>
                        <a:ea typeface="Calibri" charset="0"/>
                        <a:cs typeface="Calibri" charset="0"/>
                      </a:endParaRPr>
                    </a:p>
                  </a:txBody>
                  <a:tcPr marL="0" marR="38100" marT="12700" marB="0" anchor="ctr">
                    <a:lnL w="3810" cap="flat" cmpd="sng" algn="ctr">
                      <a:solidFill>
                        <a:srgbClr val="FDE68A"/>
                      </a:solidFill>
                      <a:prstDash val="solid"/>
                      <a:round/>
                      <a:headEnd type="none" w="med" len="med"/>
                      <a:tailEnd type="none" w="med" len="med"/>
                    </a:lnL>
                    <a:lnR w="3810" cap="flat" cmpd="sng" algn="ctr">
                      <a:solidFill>
                        <a:srgbClr val="FDE68A"/>
                      </a:solidFill>
                      <a:prstDash val="solid"/>
                      <a:round/>
                      <a:headEnd type="none" w="med" len="med"/>
                      <a:tailEnd type="none" w="med" len="med"/>
                    </a:lnR>
                    <a:lnT w="3810" cap="flat" cmpd="sng" algn="ctr">
                      <a:solidFill>
                        <a:srgbClr val="FDE68A"/>
                      </a:solidFill>
                      <a:prstDash val="solid"/>
                      <a:round/>
                      <a:headEnd type="none" w="med" len="med"/>
                      <a:tailEnd type="none" w="med" len="med"/>
                    </a:lnT>
                    <a:lnB w="3810" cap="flat" cmpd="sng" algn="ctr">
                      <a:solidFill>
                        <a:srgbClr val="FDE68A"/>
                      </a:solidFill>
                      <a:prstDash val="solid"/>
                      <a:round/>
                      <a:headEnd type="none" w="med" len="med"/>
                      <a:tailEnd type="none" w="med" len="med"/>
                    </a:lnB>
                    <a:solidFill>
                      <a:srgbClr val="FFF8E1"/>
                    </a:solidFill>
                  </a:tcPr>
                </a:tc>
                <a:extLst>
                  <a:ext uri="{0D108BD9-81ED-4DB2-BD59-A6C34878D82A}">
                    <a16:rowId xmlns:a16="http://schemas.microsoft.com/office/drawing/2014/main" val="1001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de texto, visual y animacion + ejemplos</a:t>
            </a:r>
            <a:endParaRPr lang="en-US" sz="2200" dirty="0"/>
          </a:p>
        </p:txBody>
      </p:sp>
      <p:sp>
        <p:nvSpPr>
          <p:cNvPr id="4" name="Text 2"/>
          <p:cNvSpPr/>
          <p:nvPr/>
        </p:nvSpPr>
        <p:spPr>
          <a:xfrm>
            <a:off x="365760" y="659219"/>
            <a:ext cx="8412480" cy="346621"/>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font, color, opacity, transition, transform, animation, clamp()</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7" name="Text 4"/>
          <p:cNvSpPr/>
          <p:nvPr/>
        </p:nvSpPr>
        <p:spPr>
          <a:xfrm>
            <a:off x="301042" y="1195527"/>
            <a:ext cx="8637395" cy="22860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Ejemplos combinados: tarjeta con hover + layout grid responsivo</a:t>
            </a:r>
            <a:endParaRPr lang="en-US" sz="1400" dirty="0"/>
          </a:p>
        </p:txBody>
      </p:sp>
      <p:sp>
        <p:nvSpPr>
          <p:cNvPr id="8" name="Shape 5"/>
          <p:cNvSpPr/>
          <p:nvPr/>
        </p:nvSpPr>
        <p:spPr>
          <a:xfrm>
            <a:off x="365760" y="1691993"/>
            <a:ext cx="4224528" cy="3227337"/>
          </a:xfrm>
          <a:prstGeom prst="rect">
            <a:avLst/>
          </a:prstGeom>
          <a:solidFill>
            <a:srgbClr val="1A1A2E"/>
          </a:solidFill>
          <a:ln w="12700">
            <a:solidFill>
              <a:srgbClr val="334155"/>
            </a:solidFill>
            <a:prstDash val="solid"/>
          </a:ln>
        </p:spPr>
      </p:sp>
      <p:sp>
        <p:nvSpPr>
          <p:cNvPr id="9" name="Text 6"/>
          <p:cNvSpPr/>
          <p:nvPr/>
        </p:nvSpPr>
        <p:spPr>
          <a:xfrm>
            <a:off x="455783" y="1835959"/>
            <a:ext cx="4041648" cy="2962867"/>
          </a:xfrm>
          <a:prstGeom prst="rect">
            <a:avLst/>
          </a:prstGeom>
          <a:noFill/>
          <a:ln/>
        </p:spPr>
        <p:txBody>
          <a:bodyPr wrap="square" lIns="0" tIns="0" rIns="0" bIns="0" rtlCol="0" anchor="t"/>
          <a:lstStyle/>
          <a:p>
            <a:pPr marL="0" indent="0">
              <a:buNone/>
            </a:pPr>
            <a:r>
              <a:rPr lang="en-US" sz="1200" dirty="0">
                <a:solidFill>
                  <a:srgbClr val="546E7A"/>
                </a:solidFill>
                <a:latin typeface="Consolas" pitchFamily="34" charset="0"/>
                <a:ea typeface="Consolas" pitchFamily="34" charset="-122"/>
                <a:cs typeface="Consolas" pitchFamily="34" charset="-120"/>
              </a:rPr>
              <a:t>/* Tarjeta con todas las propiedades */</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.tarjeta {</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display: flex;</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flex-direction: column;</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gap: 0.75rem;</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padding: 1.25rem;</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border-radius: 10px;</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box-shadow: 0 2px 8px rgba(0,0,0,.12);</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transition: transform 0.3s, box-shadow 0.3s;</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.tarjeta:hover {</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transform: translateY(-4px);</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box-shadow: 0 8px 20px rgba(0,0,0,.18);</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a:t>
            </a:r>
            <a:endParaRPr lang="en-US" sz="1200" dirty="0"/>
          </a:p>
        </p:txBody>
      </p:sp>
      <p:sp>
        <p:nvSpPr>
          <p:cNvPr id="10" name="Shape 7"/>
          <p:cNvSpPr/>
          <p:nvPr/>
        </p:nvSpPr>
        <p:spPr>
          <a:xfrm>
            <a:off x="4840082" y="1677500"/>
            <a:ext cx="4169664" cy="3241830"/>
          </a:xfrm>
          <a:prstGeom prst="rect">
            <a:avLst/>
          </a:prstGeom>
          <a:solidFill>
            <a:srgbClr val="1A1A2E"/>
          </a:solidFill>
          <a:ln w="12700">
            <a:solidFill>
              <a:srgbClr val="334155"/>
            </a:solidFill>
            <a:prstDash val="solid"/>
          </a:ln>
        </p:spPr>
      </p:sp>
      <p:sp>
        <p:nvSpPr>
          <p:cNvPr id="11" name="Text 8"/>
          <p:cNvSpPr/>
          <p:nvPr/>
        </p:nvSpPr>
        <p:spPr>
          <a:xfrm>
            <a:off x="4933507" y="1732314"/>
            <a:ext cx="4057951" cy="3066513"/>
          </a:xfrm>
          <a:prstGeom prst="rect">
            <a:avLst/>
          </a:prstGeom>
          <a:noFill/>
          <a:ln/>
        </p:spPr>
        <p:txBody>
          <a:bodyPr wrap="square" lIns="0" tIns="0" rIns="0" bIns="0" rtlCol="0" anchor="t"/>
          <a:lstStyle/>
          <a:p>
            <a:pPr marL="0" indent="0">
              <a:buNone/>
            </a:pPr>
            <a:r>
              <a:rPr lang="en-US" sz="1200" dirty="0">
                <a:solidFill>
                  <a:srgbClr val="546E7A"/>
                </a:solidFill>
                <a:latin typeface="Consolas" pitchFamily="34" charset="0"/>
                <a:ea typeface="Consolas" pitchFamily="34" charset="-122"/>
                <a:cs typeface="Consolas" pitchFamily="34" charset="-120"/>
              </a:rPr>
              <a:t>/* Layout grid + tipografia fluida */</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.pagina {</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display: grid;</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grid-template-columns: 1fr 300px;</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gap: 1.5rem;</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max-width: 1200px;</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margin: 0 auto;  /* centrado */</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padding: 1rem;</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h1 {</a:t>
            </a:r>
            <a:endParaRPr lang="en-US" sz="1200" dirty="0"/>
          </a:p>
          <a:p>
            <a:pPr marL="0" indent="0">
              <a:buNone/>
            </a:pPr>
            <a:r>
              <a:rPr lang="en-US" sz="1200" dirty="0">
                <a:solidFill>
                  <a:srgbClr val="C3E88D"/>
                </a:solidFill>
                <a:latin typeface="Consolas" pitchFamily="34" charset="0"/>
                <a:ea typeface="Consolas" pitchFamily="34" charset="-122"/>
                <a:cs typeface="Consolas" pitchFamily="34" charset="-120"/>
              </a:rPr>
              <a:t>  font-size: clamp(1.75rem, 4vw, 2.5rem);</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font-weight: 700;</a:t>
            </a:r>
            <a:endParaRPr lang="en-US" sz="1200" dirty="0"/>
          </a:p>
          <a:p>
            <a:pPr marL="0" indent="0">
              <a:buNone/>
            </a:pPr>
            <a:r>
              <a:rPr lang="en-US" sz="1200" dirty="0">
                <a:solidFill>
                  <a:srgbClr val="E8EAF6"/>
                </a:solidFill>
                <a:latin typeface="Consolas" pitchFamily="34" charset="0"/>
                <a:ea typeface="Consolas" pitchFamily="34" charset="-122"/>
                <a:cs typeface="Consolas" pitchFamily="34" charset="-120"/>
              </a:rPr>
              <a:t>  line-height: 1.2;</a:t>
            </a:r>
            <a:endParaRPr lang="en-US" sz="1200" dirty="0"/>
          </a:p>
          <a:p>
            <a:pPr marL="0" indent="0">
              <a:buNone/>
            </a:pPr>
            <a:r>
              <a:rPr lang="en-US" sz="1200" dirty="0">
                <a:solidFill>
                  <a:srgbClr val="82B1FF"/>
                </a:solidFill>
                <a:latin typeface="Consolas" pitchFamily="34" charset="0"/>
                <a:ea typeface="Consolas" pitchFamily="34" charset="-122"/>
                <a:cs typeface="Consolas" pitchFamily="34" charset="-120"/>
              </a:rPr>
              <a:t>}</a:t>
            </a:r>
            <a:endParaRPr lang="en-US" sz="1200" dirty="0"/>
          </a:p>
        </p:txBody>
      </p:sp>
    </p:spTree>
    <p:extLst>
      <p:ext uri="{BB962C8B-B14F-4D97-AF65-F5344CB8AC3E}">
        <p14:creationId xmlns:p14="http://schemas.microsoft.com/office/powerpoint/2010/main" val="21011178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Propiedades de texto, visual y animacion + ejemplos</a:t>
            </a:r>
            <a:endParaRPr lang="en-US" sz="2200" dirty="0"/>
          </a:p>
        </p:txBody>
      </p:sp>
      <p:sp>
        <p:nvSpPr>
          <p:cNvPr id="4" name="Text 2"/>
          <p:cNvSpPr/>
          <p:nvPr/>
        </p:nvSpPr>
        <p:spPr>
          <a:xfrm>
            <a:off x="365760" y="659218"/>
            <a:ext cx="8412480" cy="346621"/>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font, color, opacity, transition, transform, animation, clamp()</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12" name="Shape 9"/>
          <p:cNvSpPr/>
          <p:nvPr/>
        </p:nvSpPr>
        <p:spPr>
          <a:xfrm>
            <a:off x="659218" y="2271026"/>
            <a:ext cx="7017489" cy="2570332"/>
          </a:xfrm>
          <a:prstGeom prst="rect">
            <a:avLst/>
          </a:prstGeom>
          <a:solidFill>
            <a:srgbClr val="FFF8E1"/>
          </a:solidFill>
          <a:ln w="12700">
            <a:solidFill>
              <a:srgbClr val="F57C00"/>
            </a:solidFill>
            <a:prstDash val="solid"/>
          </a:ln>
        </p:spPr>
      </p:sp>
      <p:sp>
        <p:nvSpPr>
          <p:cNvPr id="13" name="Text 10"/>
          <p:cNvSpPr/>
          <p:nvPr/>
        </p:nvSpPr>
        <p:spPr>
          <a:xfrm>
            <a:off x="659218" y="1542420"/>
            <a:ext cx="3912782" cy="523041"/>
          </a:xfrm>
          <a:prstGeom prst="rect">
            <a:avLst/>
          </a:prstGeom>
          <a:noFill/>
          <a:ln/>
        </p:spPr>
        <p:txBody>
          <a:bodyPr wrap="square" lIns="0" tIns="0" rIns="0" bIns="0" rtlCol="0" anchor="ctr"/>
          <a:lstStyle/>
          <a:p>
            <a:pPr marL="0" indent="0">
              <a:buNone/>
            </a:pPr>
            <a:r>
              <a:rPr lang="en-US" sz="3200" b="1" dirty="0">
                <a:solidFill>
                  <a:srgbClr val="F57C00"/>
                </a:solidFill>
                <a:latin typeface="Calibri" pitchFamily="34" charset="0"/>
                <a:ea typeface="Calibri" pitchFamily="34" charset="-122"/>
                <a:cs typeface="Calibri" pitchFamily="34" charset="-120"/>
              </a:rPr>
              <a:t>  Ejercicio (3 min)</a:t>
            </a:r>
            <a:endParaRPr lang="en-US" sz="3200" dirty="0"/>
          </a:p>
        </p:txBody>
      </p:sp>
      <p:sp>
        <p:nvSpPr>
          <p:cNvPr id="14" name="Text 11"/>
          <p:cNvSpPr/>
          <p:nvPr/>
        </p:nvSpPr>
        <p:spPr>
          <a:xfrm>
            <a:off x="767314" y="2551175"/>
            <a:ext cx="6696741" cy="2084619"/>
          </a:xfrm>
          <a:prstGeom prst="rect">
            <a:avLst/>
          </a:prstGeom>
          <a:noFill/>
          <a:ln/>
        </p:spPr>
        <p:txBody>
          <a:bodyPr wrap="square" lIns="0" tIns="0" rIns="0" bIns="0" rtlCol="0" anchor="t"/>
          <a:lstStyle/>
          <a:p>
            <a:pPr marL="342900" indent="-342900">
              <a:buSzPct val="100000"/>
              <a:buChar char="•"/>
            </a:pPr>
            <a:r>
              <a:rPr lang="en-US" sz="2400" dirty="0">
                <a:solidFill>
                  <a:srgbClr val="263238"/>
                </a:solidFill>
                <a:latin typeface="Calibri" pitchFamily="34" charset="0"/>
                <a:ea typeface="Calibri" pitchFamily="34" charset="-122"/>
                <a:cs typeface="Calibri" pitchFamily="34" charset="-120"/>
              </a:rPr>
              <a:t>Escribir el CSS de un boton: background, color, padding, border:none, border-radius, cursor:pointer, transition:background 200ms ease.</a:t>
            </a:r>
            <a:endParaRPr lang="en-US" sz="2400" dirty="0"/>
          </a:p>
          <a:p>
            <a:pPr marL="342900" indent="-342900">
              <a:buSzPct val="100000"/>
              <a:buChar char="•"/>
            </a:pPr>
            <a:r>
              <a:rPr lang="en-US" sz="2400" dirty="0">
                <a:solidFill>
                  <a:srgbClr val="263238"/>
                </a:solidFill>
                <a:latin typeface="Calibri" pitchFamily="34" charset="0"/>
                <a:ea typeface="Calibri" pitchFamily="34" charset="-122"/>
                <a:cs typeface="Calibri" pitchFamily="34" charset="-120"/>
              </a:rPr>
              <a:t>Agregar :hover con background mas oscuro. Verificar que la transicion se ve suave en el navegador.</a:t>
            </a:r>
            <a:endParaRPr lang="en-US" sz="2400" dirty="0"/>
          </a:p>
        </p:txBody>
      </p:sp>
    </p:spTree>
    <p:extLst>
      <p:ext uri="{BB962C8B-B14F-4D97-AF65-F5344CB8AC3E}">
        <p14:creationId xmlns:p14="http://schemas.microsoft.com/office/powerpoint/2010/main" val="15186831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Grid vs Flexbox: cuándo usar cada uno</a:t>
            </a:r>
            <a:endParaRPr lang="en-US" sz="2200" dirty="0"/>
          </a:p>
        </p:txBody>
      </p:sp>
      <p:sp>
        <p:nvSpPr>
          <p:cNvPr id="4" name="Text 2"/>
          <p:cNvSpPr/>
          <p:nvPr/>
        </p:nvSpPr>
        <p:spPr>
          <a:xfrm>
            <a:off x="365760" y="667512"/>
            <a:ext cx="8412480" cy="338328"/>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Diseño responsivo mobile-first</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6" name="Shape 4"/>
          <p:cNvSpPr/>
          <p:nvPr/>
        </p:nvSpPr>
        <p:spPr>
          <a:xfrm>
            <a:off x="292608" y="1143000"/>
            <a:ext cx="4206240" cy="256032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4206240" cy="347472"/>
          </a:xfrm>
          <a:prstGeom prst="rect">
            <a:avLst/>
          </a:prstGeom>
          <a:solidFill>
            <a:srgbClr val="1565C0"/>
          </a:solidFill>
          <a:ln w="12700">
            <a:solidFill>
              <a:srgbClr val="1565C0"/>
            </a:solidFill>
            <a:prstDash val="solid"/>
          </a:ln>
        </p:spPr>
      </p:sp>
      <p:sp>
        <p:nvSpPr>
          <p:cNvPr id="8" name="Text 6"/>
          <p:cNvSpPr/>
          <p:nvPr/>
        </p:nvSpPr>
        <p:spPr>
          <a:xfrm>
            <a:off x="292608" y="1143000"/>
            <a:ext cx="420624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CSS Grid — Dos dimensiones (filas Y columnas)</a:t>
            </a:r>
            <a:endParaRPr lang="en-US" sz="1050" dirty="0"/>
          </a:p>
        </p:txBody>
      </p:sp>
      <p:sp>
        <p:nvSpPr>
          <p:cNvPr id="9" name="Shape 7"/>
          <p:cNvSpPr/>
          <p:nvPr/>
        </p:nvSpPr>
        <p:spPr>
          <a:xfrm>
            <a:off x="384048" y="1554480"/>
            <a:ext cx="841248" cy="347472"/>
          </a:xfrm>
          <a:prstGeom prst="rect">
            <a:avLst/>
          </a:prstGeom>
          <a:solidFill>
            <a:srgbClr val="E3F2FD"/>
          </a:solidFill>
          <a:ln w="6350">
            <a:solidFill>
              <a:srgbClr val="1565C0"/>
            </a:solidFill>
            <a:prstDash val="solid"/>
          </a:ln>
        </p:spPr>
      </p:sp>
      <p:sp>
        <p:nvSpPr>
          <p:cNvPr id="10" name="Shape 8"/>
          <p:cNvSpPr/>
          <p:nvPr/>
        </p:nvSpPr>
        <p:spPr>
          <a:xfrm>
            <a:off x="384048" y="1965960"/>
            <a:ext cx="841248" cy="347472"/>
          </a:xfrm>
          <a:prstGeom prst="rect">
            <a:avLst/>
          </a:prstGeom>
          <a:solidFill>
            <a:srgbClr val="E3F2FD"/>
          </a:solidFill>
          <a:ln w="6350">
            <a:solidFill>
              <a:srgbClr val="1565C0"/>
            </a:solidFill>
            <a:prstDash val="solid"/>
          </a:ln>
        </p:spPr>
      </p:sp>
      <p:sp>
        <p:nvSpPr>
          <p:cNvPr id="11" name="Shape 9"/>
          <p:cNvSpPr/>
          <p:nvPr/>
        </p:nvSpPr>
        <p:spPr>
          <a:xfrm>
            <a:off x="384048" y="2377440"/>
            <a:ext cx="841248" cy="347472"/>
          </a:xfrm>
          <a:prstGeom prst="rect">
            <a:avLst/>
          </a:prstGeom>
          <a:solidFill>
            <a:srgbClr val="E3F2FD"/>
          </a:solidFill>
          <a:ln w="6350">
            <a:solidFill>
              <a:srgbClr val="1565C0"/>
            </a:solidFill>
            <a:prstDash val="solid"/>
          </a:ln>
        </p:spPr>
      </p:sp>
      <p:sp>
        <p:nvSpPr>
          <p:cNvPr id="12" name="Shape 10"/>
          <p:cNvSpPr/>
          <p:nvPr/>
        </p:nvSpPr>
        <p:spPr>
          <a:xfrm>
            <a:off x="1298448" y="1554480"/>
            <a:ext cx="841248" cy="347472"/>
          </a:xfrm>
          <a:prstGeom prst="rect">
            <a:avLst/>
          </a:prstGeom>
          <a:solidFill>
            <a:srgbClr val="E3F2FD"/>
          </a:solidFill>
          <a:ln w="6350">
            <a:solidFill>
              <a:srgbClr val="1565C0"/>
            </a:solidFill>
            <a:prstDash val="solid"/>
          </a:ln>
        </p:spPr>
      </p:sp>
      <p:sp>
        <p:nvSpPr>
          <p:cNvPr id="13" name="Shape 11"/>
          <p:cNvSpPr/>
          <p:nvPr/>
        </p:nvSpPr>
        <p:spPr>
          <a:xfrm>
            <a:off x="1298448" y="1965960"/>
            <a:ext cx="841248" cy="347472"/>
          </a:xfrm>
          <a:prstGeom prst="rect">
            <a:avLst/>
          </a:prstGeom>
          <a:solidFill>
            <a:srgbClr val="E3F2FD"/>
          </a:solidFill>
          <a:ln w="6350">
            <a:solidFill>
              <a:srgbClr val="1565C0"/>
            </a:solidFill>
            <a:prstDash val="solid"/>
          </a:ln>
        </p:spPr>
      </p:sp>
      <p:sp>
        <p:nvSpPr>
          <p:cNvPr id="14" name="Shape 12"/>
          <p:cNvSpPr/>
          <p:nvPr/>
        </p:nvSpPr>
        <p:spPr>
          <a:xfrm>
            <a:off x="1298448" y="2377440"/>
            <a:ext cx="841248" cy="347472"/>
          </a:xfrm>
          <a:prstGeom prst="rect">
            <a:avLst/>
          </a:prstGeom>
          <a:solidFill>
            <a:srgbClr val="E3F2FD"/>
          </a:solidFill>
          <a:ln w="6350">
            <a:solidFill>
              <a:srgbClr val="1565C0"/>
            </a:solidFill>
            <a:prstDash val="solid"/>
          </a:ln>
        </p:spPr>
      </p:sp>
      <p:sp>
        <p:nvSpPr>
          <p:cNvPr id="15" name="Shape 13"/>
          <p:cNvSpPr/>
          <p:nvPr/>
        </p:nvSpPr>
        <p:spPr>
          <a:xfrm>
            <a:off x="2212848" y="1554480"/>
            <a:ext cx="841248" cy="347472"/>
          </a:xfrm>
          <a:prstGeom prst="rect">
            <a:avLst/>
          </a:prstGeom>
          <a:solidFill>
            <a:srgbClr val="E3F2FD"/>
          </a:solidFill>
          <a:ln w="6350">
            <a:solidFill>
              <a:srgbClr val="1565C0"/>
            </a:solidFill>
            <a:prstDash val="solid"/>
          </a:ln>
        </p:spPr>
      </p:sp>
      <p:sp>
        <p:nvSpPr>
          <p:cNvPr id="16" name="Shape 14"/>
          <p:cNvSpPr/>
          <p:nvPr/>
        </p:nvSpPr>
        <p:spPr>
          <a:xfrm>
            <a:off x="2212848" y="1965960"/>
            <a:ext cx="841248" cy="347472"/>
          </a:xfrm>
          <a:prstGeom prst="rect">
            <a:avLst/>
          </a:prstGeom>
          <a:solidFill>
            <a:srgbClr val="E3F2FD"/>
          </a:solidFill>
          <a:ln w="6350">
            <a:solidFill>
              <a:srgbClr val="1565C0"/>
            </a:solidFill>
            <a:prstDash val="solid"/>
          </a:ln>
        </p:spPr>
      </p:sp>
      <p:sp>
        <p:nvSpPr>
          <p:cNvPr id="17" name="Shape 15"/>
          <p:cNvSpPr/>
          <p:nvPr/>
        </p:nvSpPr>
        <p:spPr>
          <a:xfrm>
            <a:off x="2212848" y="2377440"/>
            <a:ext cx="841248" cy="347472"/>
          </a:xfrm>
          <a:prstGeom prst="rect">
            <a:avLst/>
          </a:prstGeom>
          <a:solidFill>
            <a:srgbClr val="E3F2FD"/>
          </a:solidFill>
          <a:ln w="6350">
            <a:solidFill>
              <a:srgbClr val="1565C0"/>
            </a:solidFill>
            <a:prstDash val="solid"/>
          </a:ln>
        </p:spPr>
      </p:sp>
      <p:sp>
        <p:nvSpPr>
          <p:cNvPr id="18" name="Shape 16"/>
          <p:cNvSpPr/>
          <p:nvPr/>
        </p:nvSpPr>
        <p:spPr>
          <a:xfrm>
            <a:off x="3127248" y="1554480"/>
            <a:ext cx="841248" cy="347472"/>
          </a:xfrm>
          <a:prstGeom prst="rect">
            <a:avLst/>
          </a:prstGeom>
          <a:solidFill>
            <a:srgbClr val="E3F2FD"/>
          </a:solidFill>
          <a:ln w="6350">
            <a:solidFill>
              <a:srgbClr val="1565C0"/>
            </a:solidFill>
            <a:prstDash val="solid"/>
          </a:ln>
        </p:spPr>
      </p:sp>
      <p:sp>
        <p:nvSpPr>
          <p:cNvPr id="19" name="Shape 17"/>
          <p:cNvSpPr/>
          <p:nvPr/>
        </p:nvSpPr>
        <p:spPr>
          <a:xfrm>
            <a:off x="3127248" y="1965960"/>
            <a:ext cx="841248" cy="347472"/>
          </a:xfrm>
          <a:prstGeom prst="rect">
            <a:avLst/>
          </a:prstGeom>
          <a:solidFill>
            <a:srgbClr val="E3F2FD"/>
          </a:solidFill>
          <a:ln w="6350">
            <a:solidFill>
              <a:srgbClr val="1565C0"/>
            </a:solidFill>
            <a:prstDash val="solid"/>
          </a:ln>
        </p:spPr>
      </p:sp>
      <p:sp>
        <p:nvSpPr>
          <p:cNvPr id="20" name="Shape 18"/>
          <p:cNvSpPr/>
          <p:nvPr/>
        </p:nvSpPr>
        <p:spPr>
          <a:xfrm>
            <a:off x="3127248" y="2377440"/>
            <a:ext cx="841248" cy="347472"/>
          </a:xfrm>
          <a:prstGeom prst="rect">
            <a:avLst/>
          </a:prstGeom>
          <a:solidFill>
            <a:srgbClr val="E3F2FD"/>
          </a:solidFill>
          <a:ln w="6350">
            <a:solidFill>
              <a:srgbClr val="1565C0"/>
            </a:solidFill>
            <a:prstDash val="solid"/>
          </a:ln>
        </p:spPr>
      </p:sp>
      <p:sp>
        <p:nvSpPr>
          <p:cNvPr id="21" name="Shape 19"/>
          <p:cNvSpPr/>
          <p:nvPr/>
        </p:nvSpPr>
        <p:spPr>
          <a:xfrm>
            <a:off x="384048" y="1554480"/>
            <a:ext cx="3621024" cy="347472"/>
          </a:xfrm>
          <a:prstGeom prst="rect">
            <a:avLst/>
          </a:prstGeom>
          <a:solidFill>
            <a:srgbClr val="1565C0"/>
          </a:solidFill>
          <a:ln w="12700">
            <a:solidFill>
              <a:srgbClr val="1565C0"/>
            </a:solidFill>
            <a:prstDash val="solid"/>
          </a:ln>
        </p:spPr>
      </p:sp>
      <p:sp>
        <p:nvSpPr>
          <p:cNvPr id="22" name="Text 20"/>
          <p:cNvSpPr/>
          <p:nvPr/>
        </p:nvSpPr>
        <p:spPr>
          <a:xfrm>
            <a:off x="384048" y="1554480"/>
            <a:ext cx="3621024" cy="34747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header (span 4 columnas)</a:t>
            </a:r>
            <a:endParaRPr lang="en-US" sz="850" dirty="0"/>
          </a:p>
        </p:txBody>
      </p:sp>
      <p:sp>
        <p:nvSpPr>
          <p:cNvPr id="23" name="Shape 21"/>
          <p:cNvSpPr/>
          <p:nvPr/>
        </p:nvSpPr>
        <p:spPr>
          <a:xfrm>
            <a:off x="384048" y="1965960"/>
            <a:ext cx="2633472" cy="347472"/>
          </a:xfrm>
          <a:prstGeom prst="rect">
            <a:avLst/>
          </a:prstGeom>
          <a:solidFill>
            <a:srgbClr val="90CAF9"/>
          </a:solidFill>
          <a:ln w="12700">
            <a:solidFill>
              <a:srgbClr val="1565C0"/>
            </a:solidFill>
            <a:prstDash val="solid"/>
          </a:ln>
        </p:spPr>
      </p:sp>
      <p:sp>
        <p:nvSpPr>
          <p:cNvPr id="24" name="Text 22"/>
          <p:cNvSpPr/>
          <p:nvPr/>
        </p:nvSpPr>
        <p:spPr>
          <a:xfrm>
            <a:off x="384048" y="1965960"/>
            <a:ext cx="2633472" cy="347472"/>
          </a:xfrm>
          <a:prstGeom prst="rect">
            <a:avLst/>
          </a:prstGeom>
          <a:noFill/>
          <a:ln/>
        </p:spPr>
        <p:txBody>
          <a:bodyPr wrap="square" lIns="0" tIns="0" rIns="0" bIns="0" rtlCol="0" anchor="ctr"/>
          <a:lstStyle/>
          <a:p>
            <a:pPr marL="0" indent="0" algn="ctr">
              <a:buNone/>
            </a:pPr>
            <a:r>
              <a:rPr lang="en-US" sz="850" dirty="0">
                <a:solidFill>
                  <a:srgbClr val="263238"/>
                </a:solidFill>
                <a:latin typeface="Calibri" pitchFamily="34" charset="0"/>
                <a:ea typeface="Calibri" pitchFamily="34" charset="-122"/>
                <a:cs typeface="Calibri" pitchFamily="34" charset="-120"/>
              </a:rPr>
              <a:t>main</a:t>
            </a:r>
            <a:endParaRPr lang="en-US" sz="850" dirty="0"/>
          </a:p>
        </p:txBody>
      </p:sp>
      <p:sp>
        <p:nvSpPr>
          <p:cNvPr id="25" name="Shape 23"/>
          <p:cNvSpPr/>
          <p:nvPr/>
        </p:nvSpPr>
        <p:spPr>
          <a:xfrm>
            <a:off x="3090672" y="1965960"/>
            <a:ext cx="914400" cy="347472"/>
          </a:xfrm>
          <a:prstGeom prst="rect">
            <a:avLst/>
          </a:prstGeom>
          <a:solidFill>
            <a:srgbClr val="BBDEFB"/>
          </a:solidFill>
          <a:ln w="12700">
            <a:solidFill>
              <a:srgbClr val="1565C0"/>
            </a:solidFill>
            <a:prstDash val="solid"/>
          </a:ln>
        </p:spPr>
      </p:sp>
      <p:sp>
        <p:nvSpPr>
          <p:cNvPr id="26" name="Text 24"/>
          <p:cNvSpPr/>
          <p:nvPr/>
        </p:nvSpPr>
        <p:spPr>
          <a:xfrm>
            <a:off x="3090672" y="1965960"/>
            <a:ext cx="914400" cy="347472"/>
          </a:xfrm>
          <a:prstGeom prst="rect">
            <a:avLst/>
          </a:prstGeom>
          <a:noFill/>
          <a:ln/>
        </p:spPr>
        <p:txBody>
          <a:bodyPr wrap="square" lIns="0" tIns="0" rIns="0" bIns="0" rtlCol="0" anchor="ctr"/>
          <a:lstStyle/>
          <a:p>
            <a:pPr marL="0" indent="0" algn="ctr">
              <a:buNone/>
            </a:pPr>
            <a:r>
              <a:rPr lang="en-US" sz="850" dirty="0">
                <a:solidFill>
                  <a:srgbClr val="263238"/>
                </a:solidFill>
                <a:latin typeface="Calibri" pitchFamily="34" charset="0"/>
                <a:ea typeface="Calibri" pitchFamily="34" charset="-122"/>
                <a:cs typeface="Calibri" pitchFamily="34" charset="-120"/>
              </a:rPr>
              <a:t>aside</a:t>
            </a:r>
            <a:endParaRPr lang="en-US" sz="850" dirty="0"/>
          </a:p>
        </p:txBody>
      </p:sp>
      <p:sp>
        <p:nvSpPr>
          <p:cNvPr id="27" name="Shape 25"/>
          <p:cNvSpPr/>
          <p:nvPr/>
        </p:nvSpPr>
        <p:spPr>
          <a:xfrm>
            <a:off x="384048" y="2395728"/>
            <a:ext cx="4023360" cy="1234440"/>
          </a:xfrm>
          <a:prstGeom prst="rect">
            <a:avLst/>
          </a:prstGeom>
          <a:solidFill>
            <a:srgbClr val="1A1A2E"/>
          </a:solidFill>
          <a:ln w="12700">
            <a:solidFill>
              <a:srgbClr val="334155"/>
            </a:solidFill>
            <a:prstDash val="solid"/>
          </a:ln>
        </p:spPr>
      </p:sp>
      <p:sp>
        <p:nvSpPr>
          <p:cNvPr id="28" name="Text 26"/>
          <p:cNvSpPr/>
          <p:nvPr/>
        </p:nvSpPr>
        <p:spPr>
          <a:xfrm>
            <a:off x="472512" y="2402112"/>
            <a:ext cx="3803904" cy="1234440"/>
          </a:xfrm>
          <a:prstGeom prst="rect">
            <a:avLst/>
          </a:prstGeom>
          <a:noFill/>
          <a:ln/>
        </p:spPr>
        <p:txBody>
          <a:bodyPr wrap="square" lIns="0" tIns="0" rIns="0" bIns="0" rtlCol="0" anchor="t"/>
          <a:lstStyle/>
          <a:p>
            <a:pPr marL="0" indent="0">
              <a:buNone/>
            </a:pPr>
            <a:r>
              <a:rPr lang="en-US" sz="1000" dirty="0">
                <a:solidFill>
                  <a:srgbClr val="82B1FF"/>
                </a:solidFill>
                <a:latin typeface="Consolas" pitchFamily="34" charset="0"/>
                <a:ea typeface="Consolas" pitchFamily="34" charset="-122"/>
                <a:cs typeface="Consolas" pitchFamily="34" charset="-120"/>
              </a:rPr>
              <a:t>.layout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display: grid;</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grid-template-columns:</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1fr 280px;</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grid-template-areas:</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"header header"</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"main   aside";</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29" name="Shape 27"/>
          <p:cNvSpPr/>
          <p:nvPr/>
        </p:nvSpPr>
        <p:spPr>
          <a:xfrm>
            <a:off x="4645152" y="1143000"/>
            <a:ext cx="4206240" cy="256032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30" name="Shape 28"/>
          <p:cNvSpPr/>
          <p:nvPr/>
        </p:nvSpPr>
        <p:spPr>
          <a:xfrm>
            <a:off x="4645152" y="1143000"/>
            <a:ext cx="4206240" cy="347472"/>
          </a:xfrm>
          <a:prstGeom prst="rect">
            <a:avLst/>
          </a:prstGeom>
          <a:solidFill>
            <a:srgbClr val="00897B"/>
          </a:solidFill>
          <a:ln w="12700">
            <a:solidFill>
              <a:srgbClr val="00897B"/>
            </a:solidFill>
            <a:prstDash val="solid"/>
          </a:ln>
        </p:spPr>
      </p:sp>
      <p:sp>
        <p:nvSpPr>
          <p:cNvPr id="31" name="Text 29"/>
          <p:cNvSpPr/>
          <p:nvPr/>
        </p:nvSpPr>
        <p:spPr>
          <a:xfrm>
            <a:off x="4645152" y="1143000"/>
            <a:ext cx="420624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Flexbox — Una dimensión (fila O columna)</a:t>
            </a:r>
            <a:endParaRPr lang="en-US" sz="1050" dirty="0"/>
          </a:p>
        </p:txBody>
      </p:sp>
      <p:sp>
        <p:nvSpPr>
          <p:cNvPr id="32" name="Shape 30"/>
          <p:cNvSpPr/>
          <p:nvPr/>
        </p:nvSpPr>
        <p:spPr>
          <a:xfrm>
            <a:off x="4736592" y="1572768"/>
            <a:ext cx="1170432" cy="640080"/>
          </a:xfrm>
          <a:prstGeom prst="rect">
            <a:avLst/>
          </a:prstGeom>
          <a:solidFill>
            <a:srgbClr val="E0F7FA"/>
          </a:solidFill>
          <a:ln w="6350">
            <a:solidFill>
              <a:srgbClr val="00897B"/>
            </a:solidFill>
            <a:prstDash val="solid"/>
          </a:ln>
        </p:spPr>
      </p:sp>
      <p:sp>
        <p:nvSpPr>
          <p:cNvPr id="33" name="Text 31"/>
          <p:cNvSpPr/>
          <p:nvPr/>
        </p:nvSpPr>
        <p:spPr>
          <a:xfrm>
            <a:off x="4736592" y="1572768"/>
            <a:ext cx="1170432" cy="640080"/>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Card 1</a:t>
            </a:r>
            <a:endParaRPr lang="en-US" sz="900" dirty="0"/>
          </a:p>
        </p:txBody>
      </p:sp>
      <p:sp>
        <p:nvSpPr>
          <p:cNvPr id="34" name="Shape 32"/>
          <p:cNvSpPr/>
          <p:nvPr/>
        </p:nvSpPr>
        <p:spPr>
          <a:xfrm>
            <a:off x="6035040" y="1572768"/>
            <a:ext cx="1170432" cy="640080"/>
          </a:xfrm>
          <a:prstGeom prst="rect">
            <a:avLst/>
          </a:prstGeom>
          <a:solidFill>
            <a:srgbClr val="E0F7FA"/>
          </a:solidFill>
          <a:ln w="6350">
            <a:solidFill>
              <a:srgbClr val="00897B"/>
            </a:solidFill>
            <a:prstDash val="solid"/>
          </a:ln>
        </p:spPr>
      </p:sp>
      <p:sp>
        <p:nvSpPr>
          <p:cNvPr id="35" name="Text 33"/>
          <p:cNvSpPr/>
          <p:nvPr/>
        </p:nvSpPr>
        <p:spPr>
          <a:xfrm>
            <a:off x="6035040" y="1572768"/>
            <a:ext cx="1170432" cy="640080"/>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Card 2</a:t>
            </a:r>
            <a:endParaRPr lang="en-US" sz="900" dirty="0"/>
          </a:p>
        </p:txBody>
      </p:sp>
      <p:sp>
        <p:nvSpPr>
          <p:cNvPr id="36" name="Shape 34"/>
          <p:cNvSpPr/>
          <p:nvPr/>
        </p:nvSpPr>
        <p:spPr>
          <a:xfrm>
            <a:off x="7333488" y="1572768"/>
            <a:ext cx="1170432" cy="640080"/>
          </a:xfrm>
          <a:prstGeom prst="rect">
            <a:avLst/>
          </a:prstGeom>
          <a:solidFill>
            <a:srgbClr val="E0F7FA"/>
          </a:solidFill>
          <a:ln w="6350">
            <a:solidFill>
              <a:srgbClr val="00897B"/>
            </a:solidFill>
            <a:prstDash val="solid"/>
          </a:ln>
        </p:spPr>
      </p:sp>
      <p:sp>
        <p:nvSpPr>
          <p:cNvPr id="37" name="Text 35"/>
          <p:cNvSpPr/>
          <p:nvPr/>
        </p:nvSpPr>
        <p:spPr>
          <a:xfrm>
            <a:off x="7333488" y="1572768"/>
            <a:ext cx="1170432" cy="640080"/>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Card 3</a:t>
            </a:r>
            <a:endParaRPr lang="en-US" sz="900" dirty="0"/>
          </a:p>
        </p:txBody>
      </p:sp>
      <p:sp>
        <p:nvSpPr>
          <p:cNvPr id="38" name="Shape 36"/>
          <p:cNvSpPr/>
          <p:nvPr/>
        </p:nvSpPr>
        <p:spPr>
          <a:xfrm>
            <a:off x="4736592" y="2286000"/>
            <a:ext cx="4023360" cy="1344168"/>
          </a:xfrm>
          <a:prstGeom prst="rect">
            <a:avLst/>
          </a:prstGeom>
          <a:solidFill>
            <a:srgbClr val="1A1A2E"/>
          </a:solidFill>
          <a:ln w="12700">
            <a:solidFill>
              <a:srgbClr val="334155"/>
            </a:solidFill>
            <a:prstDash val="solid"/>
          </a:ln>
        </p:spPr>
      </p:sp>
      <p:sp>
        <p:nvSpPr>
          <p:cNvPr id="39" name="Text 37"/>
          <p:cNvSpPr/>
          <p:nvPr/>
        </p:nvSpPr>
        <p:spPr>
          <a:xfrm>
            <a:off x="4846320" y="2292384"/>
            <a:ext cx="3931920" cy="1337784"/>
          </a:xfrm>
          <a:prstGeom prst="rect">
            <a:avLst/>
          </a:prstGeom>
          <a:noFill/>
          <a:ln/>
        </p:spPr>
        <p:txBody>
          <a:bodyPr wrap="square" lIns="0" tIns="0" rIns="0" bIns="0" rtlCol="0" anchor="t"/>
          <a:lstStyle/>
          <a:p>
            <a:pPr marL="0" indent="0">
              <a:buNone/>
            </a:pPr>
            <a:r>
              <a:rPr lang="en-US" sz="1000" dirty="0">
                <a:solidFill>
                  <a:srgbClr val="82B1FF"/>
                </a:solidFill>
                <a:latin typeface="Consolas" pitchFamily="34" charset="0"/>
                <a:ea typeface="Consolas" pitchFamily="34" charset="-122"/>
                <a:cs typeface="Consolas" pitchFamily="34" charset="-120"/>
              </a:rPr>
              <a:t>.tarjetas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display: flex;</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flex-wrap: wrap;</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gap: 1rem;</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.tarjeta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flex: 1 1 260px; </a:t>
            </a:r>
            <a:r>
              <a:rPr lang="en-US" sz="1000" dirty="0">
                <a:solidFill>
                  <a:srgbClr val="546E7A"/>
                </a:solidFill>
                <a:latin typeface="Consolas" pitchFamily="34" charset="0"/>
                <a:ea typeface="Consolas" pitchFamily="34" charset="-122"/>
                <a:cs typeface="Consolas" pitchFamily="34" charset="-120"/>
              </a:rPr>
              <a:t>/* min 260px, crece si hay espacio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40" name="Shape 38"/>
          <p:cNvSpPr/>
          <p:nvPr/>
        </p:nvSpPr>
        <p:spPr>
          <a:xfrm>
            <a:off x="292608" y="3767328"/>
            <a:ext cx="8558784" cy="347472"/>
          </a:xfrm>
          <a:prstGeom prst="rect">
            <a:avLst/>
          </a:prstGeom>
          <a:solidFill>
            <a:srgbClr val="FFF3E0"/>
          </a:solidFill>
          <a:ln w="12700">
            <a:solidFill>
              <a:srgbClr val="F57C00"/>
            </a:solidFill>
            <a:prstDash val="solid"/>
          </a:ln>
        </p:spPr>
      </p:sp>
      <p:sp>
        <p:nvSpPr>
          <p:cNvPr id="41" name="Text 39"/>
          <p:cNvSpPr/>
          <p:nvPr/>
        </p:nvSpPr>
        <p:spPr>
          <a:xfrm>
            <a:off x="292608" y="3767328"/>
            <a:ext cx="8558784" cy="356616"/>
          </a:xfrm>
          <a:prstGeom prst="rect">
            <a:avLst/>
          </a:prstGeom>
          <a:noFill/>
          <a:ln/>
        </p:spPr>
        <p:txBody>
          <a:bodyPr wrap="square" lIns="101600" tIns="101600" rIns="101600" bIns="101600" rtlCol="0" anchor="ctr"/>
          <a:lstStyle/>
          <a:p>
            <a:pPr marL="0" indent="0" algn="ctr">
              <a:buNone/>
            </a:pPr>
            <a:r>
              <a:rPr lang="en-US" sz="1100" b="1" dirty="0">
                <a:solidFill>
                  <a:srgbClr val="F57C00"/>
                </a:solidFill>
                <a:latin typeface="Calibri" pitchFamily="34" charset="0"/>
                <a:ea typeface="Calibri" pitchFamily="34" charset="-122"/>
                <a:cs typeface="Calibri" pitchFamily="34" charset="-120"/>
              </a:rPr>
              <a:t>Regla de decisión: usar Grid cuando el LAYOUT importa más que el contenido · usar Flexbox cuando el CONTENIDO importa más que el layout</a:t>
            </a:r>
            <a:endParaRPr lang="en-US" sz="1100" dirty="0"/>
          </a:p>
        </p:txBody>
      </p:sp>
      <p:sp>
        <p:nvSpPr>
          <p:cNvPr id="42" name="Text 40"/>
          <p:cNvSpPr/>
          <p:nvPr/>
        </p:nvSpPr>
        <p:spPr>
          <a:xfrm>
            <a:off x="265247" y="4216736"/>
            <a:ext cx="4114800" cy="256032"/>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Mobile-first con media queries:</a:t>
            </a:r>
            <a:endParaRPr lang="en-US" sz="1200" dirty="0"/>
          </a:p>
        </p:txBody>
      </p:sp>
      <p:sp>
        <p:nvSpPr>
          <p:cNvPr id="43" name="Shape 41"/>
          <p:cNvSpPr/>
          <p:nvPr/>
        </p:nvSpPr>
        <p:spPr>
          <a:xfrm>
            <a:off x="265247" y="4472768"/>
            <a:ext cx="4114800" cy="571500"/>
          </a:xfrm>
          <a:prstGeom prst="rect">
            <a:avLst/>
          </a:prstGeom>
          <a:solidFill>
            <a:srgbClr val="1A1A2E"/>
          </a:solidFill>
          <a:ln w="12700">
            <a:solidFill>
              <a:srgbClr val="334155"/>
            </a:solidFill>
            <a:prstDash val="solid"/>
          </a:ln>
        </p:spPr>
      </p:sp>
      <p:sp>
        <p:nvSpPr>
          <p:cNvPr id="44" name="Text 42"/>
          <p:cNvSpPr/>
          <p:nvPr/>
        </p:nvSpPr>
        <p:spPr>
          <a:xfrm>
            <a:off x="292608" y="4540072"/>
            <a:ext cx="3895344" cy="529927"/>
          </a:xfrm>
          <a:prstGeom prst="rect">
            <a:avLst/>
          </a:prstGeom>
          <a:noFill/>
          <a:ln/>
        </p:spPr>
        <p:txBody>
          <a:bodyPr wrap="square" lIns="0" tIns="0" rIns="0" bIns="0" rtlCol="0" anchor="t"/>
          <a:lstStyle/>
          <a:p>
            <a:pPr marL="0" indent="0">
              <a:buNone/>
            </a:pPr>
            <a:r>
              <a:rPr lang="en-US" sz="1050" dirty="0">
                <a:solidFill>
                  <a:srgbClr val="546E7A"/>
                </a:solidFill>
                <a:latin typeface="Consolas" pitchFamily="34" charset="0"/>
                <a:ea typeface="Consolas" pitchFamily="34" charset="-122"/>
                <a:cs typeface="Consolas" pitchFamily="34" charset="-120"/>
              </a:rPr>
              <a:t>/* Base: mobile. Luego se AMPLÍA */</a:t>
            </a:r>
            <a:endParaRPr lang="en-US" sz="1050" dirty="0"/>
          </a:p>
          <a:p>
            <a:pPr marL="0" indent="0">
              <a:buNone/>
            </a:pPr>
            <a:r>
              <a:rPr lang="en-US" sz="1050" dirty="0">
                <a:solidFill>
                  <a:srgbClr val="82B1FF"/>
                </a:solidFill>
                <a:latin typeface="Consolas" pitchFamily="34" charset="0"/>
                <a:ea typeface="Consolas" pitchFamily="34" charset="-122"/>
                <a:cs typeface="Consolas" pitchFamily="34" charset="-120"/>
              </a:rPr>
              <a:t>@media (min-width: 768px) { /* tablet */ }</a:t>
            </a:r>
            <a:endParaRPr lang="en-US" sz="1050" dirty="0"/>
          </a:p>
          <a:p>
            <a:pPr marL="0" indent="0">
              <a:buNone/>
            </a:pPr>
            <a:r>
              <a:rPr lang="en-US" sz="1050" dirty="0">
                <a:solidFill>
                  <a:srgbClr val="82B1FF"/>
                </a:solidFill>
                <a:latin typeface="Consolas" pitchFamily="34" charset="0"/>
                <a:ea typeface="Consolas" pitchFamily="34" charset="-122"/>
                <a:cs typeface="Consolas" pitchFamily="34" charset="-120"/>
              </a:rPr>
              <a:t>@media (min-width: 1024px) { /* desktop */ }</a:t>
            </a:r>
            <a:endParaRPr lang="en-US" sz="1050" dirty="0"/>
          </a:p>
        </p:txBody>
      </p:sp>
      <p:sp>
        <p:nvSpPr>
          <p:cNvPr id="45" name="Shape 43"/>
          <p:cNvSpPr/>
          <p:nvPr/>
        </p:nvSpPr>
        <p:spPr>
          <a:xfrm>
            <a:off x="4645152" y="4194619"/>
            <a:ext cx="4206240" cy="875379"/>
          </a:xfrm>
          <a:prstGeom prst="rect">
            <a:avLst/>
          </a:prstGeom>
          <a:solidFill>
            <a:srgbClr val="FFF8E1"/>
          </a:solidFill>
          <a:ln w="12700">
            <a:solidFill>
              <a:srgbClr val="F57C00"/>
            </a:solidFill>
            <a:prstDash val="solid"/>
          </a:ln>
        </p:spPr>
      </p:sp>
      <p:sp>
        <p:nvSpPr>
          <p:cNvPr id="46" name="Text 44"/>
          <p:cNvSpPr/>
          <p:nvPr/>
        </p:nvSpPr>
        <p:spPr>
          <a:xfrm>
            <a:off x="4736592" y="4249484"/>
            <a:ext cx="4023360" cy="256032"/>
          </a:xfrm>
          <a:prstGeom prst="rect">
            <a:avLst/>
          </a:prstGeom>
          <a:noFill/>
          <a:ln/>
        </p:spPr>
        <p:txBody>
          <a:bodyPr wrap="square" lIns="0" tIns="0" rIns="0" bIns="0" rtlCol="0" anchor="ctr"/>
          <a:lstStyle/>
          <a:p>
            <a:pPr marL="0" indent="0">
              <a:buNone/>
            </a:pPr>
            <a:r>
              <a:rPr lang="en-US" sz="1200" b="1" dirty="0">
                <a:solidFill>
                  <a:srgbClr val="F57C00"/>
                </a:solidFill>
                <a:latin typeface="Calibri" pitchFamily="34" charset="0"/>
                <a:ea typeface="Calibri" pitchFamily="34" charset="-122"/>
                <a:cs typeface="Calibri" pitchFamily="34" charset="-120"/>
              </a:rPr>
              <a:t>✏  Ejercicio (3 min)</a:t>
            </a:r>
            <a:endParaRPr lang="en-US" sz="1200" dirty="0"/>
          </a:p>
        </p:txBody>
      </p:sp>
      <p:sp>
        <p:nvSpPr>
          <p:cNvPr id="47" name="Text 45"/>
          <p:cNvSpPr/>
          <p:nvPr/>
        </p:nvSpPr>
        <p:spPr>
          <a:xfrm>
            <a:off x="4736592" y="4505516"/>
            <a:ext cx="4023360" cy="443484"/>
          </a:xfrm>
          <a:prstGeom prst="rect">
            <a:avLst/>
          </a:prstGeom>
          <a:noFill/>
          <a:ln/>
        </p:spPr>
        <p:txBody>
          <a:bodyPr wrap="square" lIns="0" tIns="0" rIns="0" bIns="0" rtlCol="0" anchor="t"/>
          <a:lstStyle/>
          <a:p>
            <a:pPr marL="342900" indent="-342900">
              <a:buSzPct val="100000"/>
              <a:buChar char="•"/>
            </a:pPr>
            <a:r>
              <a:rPr lang="en-US" sz="1050" dirty="0">
                <a:solidFill>
                  <a:srgbClr val="263238"/>
                </a:solidFill>
                <a:latin typeface="Calibri" pitchFamily="34" charset="0"/>
                <a:ea typeface="Calibri" pitchFamily="34" charset="-122"/>
                <a:cs typeface="Calibri" pitchFamily="34" charset="-120"/>
              </a:rPr>
              <a:t>¿Dónde usarías Grid en el PFC? ¿Y Flexbox?</a:t>
            </a:r>
            <a:endParaRPr lang="en-US" sz="1050" dirty="0"/>
          </a:p>
          <a:p>
            <a:pPr marL="342900" indent="-342900">
              <a:buSzPct val="100000"/>
              <a:buChar char="•"/>
            </a:pPr>
            <a:r>
              <a:rPr lang="en-US" sz="1050" dirty="0">
                <a:solidFill>
                  <a:srgbClr val="263238"/>
                </a:solidFill>
                <a:latin typeface="Calibri" pitchFamily="34" charset="0"/>
                <a:ea typeface="Calibri" pitchFamily="34" charset="-122"/>
                <a:cs typeface="Calibri" pitchFamily="34" charset="-120"/>
              </a:rPr>
              <a:t>Escribir el CSS para un layout de 2 columnas en desktop y 1 columna en mobile.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Variables y modo oscuro automático</a:t>
            </a:r>
            <a:endParaRPr lang="en-US" sz="2200" dirty="0"/>
          </a:p>
        </p:txBody>
      </p:sp>
      <p:sp>
        <p:nvSpPr>
          <p:cNvPr id="4" name="Text 2"/>
          <p:cNvSpPr/>
          <p:nvPr/>
        </p:nvSpPr>
        <p:spPr>
          <a:xfrm>
            <a:off x="365760" y="612648"/>
            <a:ext cx="8412480" cy="393192"/>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3: Custom properties, prefers-color-scheme, clamp()</a:t>
            </a:r>
            <a:endParaRPr lang="en-US"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6" name="Shape 4"/>
          <p:cNvSpPr/>
          <p:nvPr/>
        </p:nvSpPr>
        <p:spPr>
          <a:xfrm>
            <a:off x="292608" y="1143000"/>
            <a:ext cx="4389120" cy="3200400"/>
          </a:xfrm>
          <a:prstGeom prst="rect">
            <a:avLst/>
          </a:prstGeom>
          <a:solidFill>
            <a:srgbClr val="1A1A2E"/>
          </a:solidFill>
          <a:ln w="12700">
            <a:solidFill>
              <a:srgbClr val="334155"/>
            </a:solidFill>
            <a:prstDash val="solid"/>
          </a:ln>
        </p:spPr>
      </p:sp>
      <p:sp>
        <p:nvSpPr>
          <p:cNvPr id="7" name="Text 5"/>
          <p:cNvSpPr/>
          <p:nvPr/>
        </p:nvSpPr>
        <p:spPr>
          <a:xfrm>
            <a:off x="402336" y="1234440"/>
            <a:ext cx="4169664" cy="3017520"/>
          </a:xfrm>
          <a:prstGeom prst="rect">
            <a:avLst/>
          </a:prstGeom>
          <a:noFill/>
          <a:ln/>
        </p:spPr>
        <p:txBody>
          <a:bodyPr wrap="square" lIns="0" tIns="0" rIns="0" bIns="0" rtlCol="0" anchor="t"/>
          <a:lstStyle/>
          <a:p>
            <a:pPr marL="0" indent="0">
              <a:buNone/>
            </a:pPr>
            <a:r>
              <a:rPr lang="en-US" sz="1000" dirty="0">
                <a:solidFill>
                  <a:srgbClr val="82B1FF"/>
                </a:solidFill>
                <a:latin typeface="Consolas" pitchFamily="34" charset="0"/>
                <a:ea typeface="Consolas" pitchFamily="34" charset="-122"/>
                <a:cs typeface="Consolas" pitchFamily="34" charset="-120"/>
              </a:rPr>
              <a:t>:root {</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 Token de color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--color-primario: #0066cc;</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--color-fondo:    #ffffff;</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--color-texto:    #1a1a1a;</a:t>
            </a:r>
            <a:endParaRPr lang="en-US" sz="1000" dirty="0"/>
          </a:p>
          <a:p>
            <a:pPr marL="0" indent="0">
              <a:buNone/>
            </a:pP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 Tipografía fluida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--tamano-base:</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clamp(1rem, 2vw, 1.125rem);</a:t>
            </a:r>
            <a:endParaRPr lang="en-US" sz="1000" dirty="0"/>
          </a:p>
          <a:p>
            <a:pPr marL="0" indent="0">
              <a:buNone/>
            </a:pP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 Espaciado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--esp-md: 1rem;  /* 16px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--esp-lg: 1.5rem; /* 24px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Modo oscuro AUTO (sistema)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@media (prefers-color-scheme: dark)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:root:not([data-tema='claro'])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--color-fondo: #0f172a;</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--color-texto: #f1f5f9;</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Modo oscuro MANUAL (botón)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[data-tema='oscuro']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--color-fondo: #0f172a;</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--color-texto: #f1f5f9;</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8" name="Shape 6"/>
          <p:cNvSpPr/>
          <p:nvPr/>
        </p:nvSpPr>
        <p:spPr>
          <a:xfrm>
            <a:off x="4846320" y="1143000"/>
            <a:ext cx="4005072" cy="749808"/>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9" name="Shape 7"/>
          <p:cNvSpPr/>
          <p:nvPr/>
        </p:nvSpPr>
        <p:spPr>
          <a:xfrm>
            <a:off x="4846320" y="1143000"/>
            <a:ext cx="54864" cy="749808"/>
          </a:xfrm>
          <a:prstGeom prst="rect">
            <a:avLst/>
          </a:prstGeom>
          <a:solidFill>
            <a:srgbClr val="F57C00"/>
          </a:solidFill>
          <a:ln w="12700">
            <a:solidFill>
              <a:srgbClr val="F57C00"/>
            </a:solidFill>
            <a:prstDash val="solid"/>
          </a:ln>
        </p:spPr>
      </p:sp>
      <p:sp>
        <p:nvSpPr>
          <p:cNvPr id="10" name="Text 8"/>
          <p:cNvSpPr/>
          <p:nvPr/>
        </p:nvSpPr>
        <p:spPr>
          <a:xfrm>
            <a:off x="4974336" y="1156472"/>
            <a:ext cx="3803904" cy="292608"/>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Custom Properties (variables CSS)</a:t>
            </a:r>
            <a:endParaRPr lang="en-US" sz="1200" dirty="0"/>
          </a:p>
        </p:txBody>
      </p:sp>
      <p:sp>
        <p:nvSpPr>
          <p:cNvPr id="11" name="Text 9"/>
          <p:cNvSpPr/>
          <p:nvPr/>
        </p:nvSpPr>
        <p:spPr>
          <a:xfrm>
            <a:off x="4974336" y="1449080"/>
            <a:ext cx="3803904" cy="274320"/>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Se declaran en :root con doble guión (--nombre). Se usan con var(--nombre). Son heredables por la cascada. Permiten cambiar todo el sistema de colores desde un solo lugar.</a:t>
            </a:r>
            <a:endParaRPr lang="en-US" sz="1000" dirty="0"/>
          </a:p>
        </p:txBody>
      </p:sp>
      <p:sp>
        <p:nvSpPr>
          <p:cNvPr id="12" name="Shape 10"/>
          <p:cNvSpPr/>
          <p:nvPr/>
        </p:nvSpPr>
        <p:spPr>
          <a:xfrm>
            <a:off x="4846320" y="1965960"/>
            <a:ext cx="4005072" cy="749808"/>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3" name="Shape 11"/>
          <p:cNvSpPr/>
          <p:nvPr/>
        </p:nvSpPr>
        <p:spPr>
          <a:xfrm>
            <a:off x="4846320" y="1965960"/>
            <a:ext cx="54864" cy="749808"/>
          </a:xfrm>
          <a:prstGeom prst="rect">
            <a:avLst/>
          </a:prstGeom>
          <a:solidFill>
            <a:srgbClr val="00897B"/>
          </a:solidFill>
          <a:ln w="12700">
            <a:solidFill>
              <a:srgbClr val="00897B"/>
            </a:solidFill>
            <a:prstDash val="solid"/>
          </a:ln>
        </p:spPr>
      </p:sp>
      <p:sp>
        <p:nvSpPr>
          <p:cNvPr id="14" name="Text 12"/>
          <p:cNvSpPr/>
          <p:nvPr/>
        </p:nvSpPr>
        <p:spPr>
          <a:xfrm>
            <a:off x="4974336" y="1986520"/>
            <a:ext cx="3803904" cy="292608"/>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clamp(min, preferido, max)</a:t>
            </a:r>
            <a:endParaRPr lang="en-US" sz="1200" dirty="0"/>
          </a:p>
        </p:txBody>
      </p:sp>
      <p:sp>
        <p:nvSpPr>
          <p:cNvPr id="15" name="Text 13"/>
          <p:cNvSpPr/>
          <p:nvPr/>
        </p:nvSpPr>
        <p:spPr>
          <a:xfrm>
            <a:off x="4974335" y="2279128"/>
            <a:ext cx="3850687" cy="274320"/>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Crea un valor fluido entre un mínimo y un máximo. clamp(1rem, 2vw, 1.125rem) significa: nunca menos de 1rem, idealmente 2% del viewport, nunca más de 1.125rem.</a:t>
            </a:r>
            <a:endParaRPr lang="en-US" sz="1000" dirty="0"/>
          </a:p>
        </p:txBody>
      </p:sp>
      <p:sp>
        <p:nvSpPr>
          <p:cNvPr id="16" name="Shape 14"/>
          <p:cNvSpPr/>
          <p:nvPr/>
        </p:nvSpPr>
        <p:spPr>
          <a:xfrm>
            <a:off x="4846320" y="2788920"/>
            <a:ext cx="4005072" cy="749808"/>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7" name="Shape 15"/>
          <p:cNvSpPr/>
          <p:nvPr/>
        </p:nvSpPr>
        <p:spPr>
          <a:xfrm>
            <a:off x="4846320" y="2788920"/>
            <a:ext cx="54864" cy="749808"/>
          </a:xfrm>
          <a:prstGeom prst="rect">
            <a:avLst/>
          </a:prstGeom>
          <a:solidFill>
            <a:srgbClr val="1565C0"/>
          </a:solidFill>
          <a:ln w="12700">
            <a:solidFill>
              <a:srgbClr val="1565C0"/>
            </a:solidFill>
            <a:prstDash val="solid"/>
          </a:ln>
        </p:spPr>
      </p:sp>
      <p:sp>
        <p:nvSpPr>
          <p:cNvPr id="18" name="Text 16"/>
          <p:cNvSpPr/>
          <p:nvPr/>
        </p:nvSpPr>
        <p:spPr>
          <a:xfrm>
            <a:off x="4974336" y="2880360"/>
            <a:ext cx="3803904" cy="292608"/>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prefers-color-scheme</a:t>
            </a:r>
            <a:endParaRPr lang="en-US" sz="1200" dirty="0"/>
          </a:p>
        </p:txBody>
      </p:sp>
      <p:sp>
        <p:nvSpPr>
          <p:cNvPr id="19" name="Text 17"/>
          <p:cNvSpPr/>
          <p:nvPr/>
        </p:nvSpPr>
        <p:spPr>
          <a:xfrm>
            <a:off x="4974336" y="3172968"/>
            <a:ext cx="3803904" cy="274320"/>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Media query que detecta la preferencia de tema del sistema operativo (claro u oscuro). Permite modo oscuro automático sin JavaScript.</a:t>
            </a:r>
            <a:endParaRPr lang="en-US" sz="1000" dirty="0"/>
          </a:p>
        </p:txBody>
      </p:sp>
      <p:sp>
        <p:nvSpPr>
          <p:cNvPr id="20" name="Shape 18"/>
          <p:cNvSpPr/>
          <p:nvPr/>
        </p:nvSpPr>
        <p:spPr>
          <a:xfrm>
            <a:off x="4846320" y="3611880"/>
            <a:ext cx="4005072" cy="749808"/>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1" name="Shape 19"/>
          <p:cNvSpPr/>
          <p:nvPr/>
        </p:nvSpPr>
        <p:spPr>
          <a:xfrm>
            <a:off x="4846320" y="3611880"/>
            <a:ext cx="54864" cy="749808"/>
          </a:xfrm>
          <a:prstGeom prst="rect">
            <a:avLst/>
          </a:prstGeom>
          <a:solidFill>
            <a:srgbClr val="2E7D32"/>
          </a:solidFill>
          <a:ln w="12700">
            <a:solidFill>
              <a:srgbClr val="2E7D32"/>
            </a:solidFill>
            <a:prstDash val="solid"/>
          </a:ln>
        </p:spPr>
      </p:sp>
      <p:sp>
        <p:nvSpPr>
          <p:cNvPr id="22" name="Text 20"/>
          <p:cNvSpPr/>
          <p:nvPr/>
        </p:nvSpPr>
        <p:spPr>
          <a:xfrm>
            <a:off x="4974336" y="3625352"/>
            <a:ext cx="3803904" cy="292608"/>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Combinación: auto + manual</a:t>
            </a:r>
            <a:endParaRPr lang="en-US" sz="1200" dirty="0"/>
          </a:p>
        </p:txBody>
      </p:sp>
      <p:sp>
        <p:nvSpPr>
          <p:cNvPr id="23" name="Text 21"/>
          <p:cNvSpPr/>
          <p:nvPr/>
        </p:nvSpPr>
        <p:spPr>
          <a:xfrm>
            <a:off x="4974336" y="3917960"/>
            <a:ext cx="3803904" cy="274320"/>
          </a:xfrm>
          <a:prstGeom prst="rect">
            <a:avLst/>
          </a:prstGeom>
          <a:noFill/>
          <a:ln/>
        </p:spPr>
        <p:txBody>
          <a:bodyPr wrap="square" lIns="0" tIns="0" rIns="0" bIns="0" rtlCol="0" anchor="t"/>
          <a:lstStyle/>
          <a:p>
            <a:pPr marL="0" indent="0">
              <a:buNone/>
            </a:pPr>
            <a:r>
              <a:rPr lang="en-US" sz="1000" dirty="0">
                <a:solidFill>
                  <a:srgbClr val="455A64"/>
                </a:solidFill>
                <a:latin typeface="Calibri" pitchFamily="34" charset="0"/>
                <a:ea typeface="Calibri" pitchFamily="34" charset="-122"/>
                <a:cs typeface="Calibri" pitchFamily="34" charset="-120"/>
              </a:rPr>
              <a:t>El :not([data-tema='claro']) permite que el modo oscuro automático se active, EXCEPTO cuando el usuario eligió explícitamente el modo claro con el botón.</a:t>
            </a:r>
            <a:endParaRPr lang="en-US" sz="1000" dirty="0"/>
          </a:p>
        </p:txBody>
      </p:sp>
      <p:sp>
        <p:nvSpPr>
          <p:cNvPr id="24" name="Shape 22"/>
          <p:cNvSpPr/>
          <p:nvPr/>
        </p:nvSpPr>
        <p:spPr>
          <a:xfrm>
            <a:off x="292608" y="4416552"/>
            <a:ext cx="8558784" cy="475488"/>
          </a:xfrm>
          <a:prstGeom prst="rect">
            <a:avLst/>
          </a:prstGeom>
          <a:solidFill>
            <a:srgbClr val="EDE7F6"/>
          </a:solidFill>
          <a:ln w="6350">
            <a:solidFill>
              <a:srgbClr val="7E57C2"/>
            </a:solidFill>
            <a:prstDash val="solid"/>
          </a:ln>
        </p:spPr>
      </p:sp>
      <p:sp>
        <p:nvSpPr>
          <p:cNvPr id="25" name="Text 23"/>
          <p:cNvSpPr/>
          <p:nvPr/>
        </p:nvSpPr>
        <p:spPr>
          <a:xfrm>
            <a:off x="292608" y="4416552"/>
            <a:ext cx="8558784" cy="475488"/>
          </a:xfrm>
          <a:prstGeom prst="rect">
            <a:avLst/>
          </a:prstGeom>
          <a:noFill/>
          <a:ln/>
        </p:spPr>
        <p:txBody>
          <a:bodyPr wrap="square" lIns="76200" tIns="76200" rIns="76200" bIns="76200" rtlCol="0" anchor="ctr"/>
          <a:lstStyle/>
          <a:p>
            <a:pPr marL="0" indent="0" algn="ctr">
              <a:buNone/>
            </a:pPr>
            <a:r>
              <a:rPr lang="en-US" sz="1200" dirty="0">
                <a:solidFill>
                  <a:srgbClr val="4527A0"/>
                </a:solidFill>
                <a:latin typeface="Calibri" pitchFamily="34" charset="0"/>
                <a:ea typeface="Calibri" pitchFamily="34" charset="-122"/>
                <a:cs typeface="Calibri" pitchFamily="34" charset="-120"/>
              </a:rPr>
              <a:t>⚠  prefers-reduced-motion: reduce  →  desactivar TODAS las animaciones CSS para usuarios con epilepsia o mareo por movimiento</a:t>
            </a:r>
            <a:endParaRPr lang="en-US" sz="1200" dirty="0"/>
          </a:p>
        </p:txBody>
      </p:sp>
      <p:sp>
        <p:nvSpPr>
          <p:cNvPr id="26" name="Shape 24"/>
          <p:cNvSpPr/>
          <p:nvPr/>
        </p:nvSpPr>
        <p:spPr>
          <a:xfrm>
            <a:off x="292608" y="4956048"/>
            <a:ext cx="8558784" cy="969264"/>
          </a:xfrm>
          <a:prstGeom prst="rect">
            <a:avLst/>
          </a:prstGeom>
          <a:solidFill>
            <a:srgbClr val="FFF8E1"/>
          </a:solidFill>
          <a:ln w="12700">
            <a:solidFill>
              <a:srgbClr val="F57C00"/>
            </a:solidFill>
            <a:prstDash val="solid"/>
          </a:ln>
        </p:spPr>
      </p:sp>
      <p:sp>
        <p:nvSpPr>
          <p:cNvPr id="27" name="Text 25"/>
          <p:cNvSpPr/>
          <p:nvPr/>
        </p:nvSpPr>
        <p:spPr>
          <a:xfrm>
            <a:off x="384048" y="5010912"/>
            <a:ext cx="8375904" cy="256032"/>
          </a:xfrm>
          <a:prstGeom prst="rect">
            <a:avLst/>
          </a:prstGeom>
          <a:noFill/>
          <a:ln/>
        </p:spPr>
        <p:txBody>
          <a:bodyPr wrap="square" lIns="0" tIns="0" rIns="0" bIns="0" rtlCol="0" anchor="ctr"/>
          <a:lstStyle/>
          <a:p>
            <a:pPr marL="0" indent="0">
              <a:buNone/>
            </a:pPr>
            <a:r>
              <a:rPr lang="en-US" sz="1100" b="1" dirty="0">
                <a:solidFill>
                  <a:srgbClr val="F57C00"/>
                </a:solidFill>
                <a:latin typeface="Calibri" pitchFamily="34" charset="0"/>
                <a:ea typeface="Calibri" pitchFamily="34" charset="-122"/>
                <a:cs typeface="Calibri" pitchFamily="34" charset="-120"/>
              </a:rPr>
              <a:t>✏  Ejercicio (2 min)</a:t>
            </a:r>
            <a:endParaRPr lang="en-US" sz="1100" dirty="0"/>
          </a:p>
        </p:txBody>
      </p:sp>
      <p:sp>
        <p:nvSpPr>
          <p:cNvPr id="28" name="Text 26"/>
          <p:cNvSpPr/>
          <p:nvPr/>
        </p:nvSpPr>
        <p:spPr>
          <a:xfrm>
            <a:off x="384048" y="5266944"/>
            <a:ext cx="8375904" cy="621792"/>
          </a:xfrm>
          <a:prstGeom prst="rect">
            <a:avLst/>
          </a:prstGeom>
          <a:noFill/>
          <a:ln/>
        </p:spPr>
        <p:txBody>
          <a:bodyPr wrap="square" lIns="0" tIns="0" rIns="0" bIns="0" rtlCol="0" anchor="t"/>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Abrir variables.css y cambiar --color-primario. ¿Cuántos lugares cambian automáticamente?</a:t>
            </a:r>
            <a:endParaRPr lang="en-US" sz="1000" dirty="0"/>
          </a:p>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Abrir el navegador &gt; Inspector &gt; pestaña Emulación &gt; activar 'prefers-color-scheme: dark'. ¿Cambia el fondo?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CSS3 — Variables y modo oscuro automático</a:t>
            </a:r>
            <a:endParaRPr lang="en-US" sz="2200" dirty="0"/>
          </a:p>
        </p:txBody>
      </p:sp>
      <p:sp>
        <p:nvSpPr>
          <p:cNvPr id="4" name="Text 2"/>
          <p:cNvSpPr/>
          <p:nvPr/>
        </p:nvSpPr>
        <p:spPr>
          <a:xfrm>
            <a:off x="365760" y="609600"/>
            <a:ext cx="8412480" cy="396240"/>
          </a:xfrm>
          <a:prstGeom prst="rect">
            <a:avLst/>
          </a:prstGeom>
          <a:noFill/>
          <a:ln/>
        </p:spPr>
        <p:txBody>
          <a:bodyPr wrap="square" lIns="0" tIns="0" rIns="0" bIns="0" rtlCol="0" anchor="t"/>
          <a:lstStyle/>
          <a:p>
            <a:pPr marL="0" indent="0">
              <a:buNone/>
            </a:pPr>
            <a:r>
              <a:rPr lang="en-US" sz="2400" dirty="0">
                <a:solidFill>
                  <a:srgbClr val="82B1FF"/>
                </a:solidFill>
                <a:latin typeface="Calibri" pitchFamily="34" charset="0"/>
                <a:ea typeface="Calibri" pitchFamily="34" charset="-122"/>
                <a:cs typeface="Calibri" pitchFamily="34" charset="-120"/>
              </a:rPr>
              <a:t>Tema 3: Custom properties, prefers-color-scheme, clamp()</a:t>
            </a:r>
            <a:endParaRPr lang="en-US" sz="2400" dirty="0"/>
          </a:p>
        </p:txBody>
      </p:sp>
      <p:sp>
        <p:nvSpPr>
          <p:cNvPr id="5" name="Shape 3"/>
          <p:cNvSpPr/>
          <p:nvPr/>
        </p:nvSpPr>
        <p:spPr>
          <a:xfrm>
            <a:off x="0" y="1051560"/>
            <a:ext cx="201168" cy="4096512"/>
          </a:xfrm>
          <a:prstGeom prst="rect">
            <a:avLst/>
          </a:prstGeom>
          <a:solidFill>
            <a:srgbClr val="F57C00"/>
          </a:solidFill>
          <a:ln w="12700">
            <a:solidFill>
              <a:srgbClr val="F57C00"/>
            </a:solidFill>
            <a:prstDash val="solid"/>
          </a:ln>
        </p:spPr>
      </p:sp>
      <p:sp>
        <p:nvSpPr>
          <p:cNvPr id="26" name="Shape 24"/>
          <p:cNvSpPr/>
          <p:nvPr/>
        </p:nvSpPr>
        <p:spPr>
          <a:xfrm>
            <a:off x="852590" y="1569205"/>
            <a:ext cx="7525866" cy="3052413"/>
          </a:xfrm>
          <a:prstGeom prst="rect">
            <a:avLst/>
          </a:prstGeom>
          <a:solidFill>
            <a:srgbClr val="FFF8E1"/>
          </a:solidFill>
          <a:ln w="12700">
            <a:solidFill>
              <a:srgbClr val="F57C00"/>
            </a:solidFill>
            <a:prstDash val="solid"/>
          </a:ln>
        </p:spPr>
      </p:sp>
      <p:sp>
        <p:nvSpPr>
          <p:cNvPr id="27" name="Text 25"/>
          <p:cNvSpPr/>
          <p:nvPr/>
        </p:nvSpPr>
        <p:spPr>
          <a:xfrm>
            <a:off x="944030" y="1624070"/>
            <a:ext cx="7365057" cy="806298"/>
          </a:xfrm>
          <a:prstGeom prst="rect">
            <a:avLst/>
          </a:prstGeom>
          <a:noFill/>
          <a:ln/>
        </p:spPr>
        <p:txBody>
          <a:bodyPr wrap="square" lIns="0" tIns="0" rIns="0" bIns="0" rtlCol="0" anchor="ctr"/>
          <a:lstStyle/>
          <a:p>
            <a:pPr marL="0" indent="0">
              <a:buNone/>
            </a:pPr>
            <a:r>
              <a:rPr lang="en-US" sz="3600" b="1" dirty="0">
                <a:solidFill>
                  <a:srgbClr val="F57C00"/>
                </a:solidFill>
                <a:latin typeface="Calibri" pitchFamily="34" charset="0"/>
                <a:ea typeface="Calibri" pitchFamily="34" charset="-122"/>
                <a:cs typeface="Calibri" pitchFamily="34" charset="-120"/>
              </a:rPr>
              <a:t>✏  Ejercicio (2 min)</a:t>
            </a:r>
            <a:endParaRPr lang="en-US" sz="3600" dirty="0"/>
          </a:p>
        </p:txBody>
      </p:sp>
      <p:sp>
        <p:nvSpPr>
          <p:cNvPr id="28" name="Text 26"/>
          <p:cNvSpPr/>
          <p:nvPr/>
        </p:nvSpPr>
        <p:spPr>
          <a:xfrm>
            <a:off x="834913" y="2340846"/>
            <a:ext cx="7365057" cy="1958152"/>
          </a:xfrm>
          <a:prstGeom prst="rect">
            <a:avLst/>
          </a:prstGeom>
          <a:noFill/>
          <a:ln/>
        </p:spPr>
        <p:txBody>
          <a:bodyPr wrap="square" lIns="0" tIns="0" rIns="0" bIns="0" rtlCol="0" anchor="t"/>
          <a:lstStyle/>
          <a:p>
            <a:pPr marL="342900" indent="-342900">
              <a:buSzPct val="100000"/>
              <a:buChar char="•"/>
            </a:pPr>
            <a:r>
              <a:rPr lang="en-US" sz="2800" dirty="0">
                <a:solidFill>
                  <a:srgbClr val="263238"/>
                </a:solidFill>
                <a:latin typeface="Calibri" pitchFamily="34" charset="0"/>
                <a:ea typeface="Calibri" pitchFamily="34" charset="-122"/>
                <a:cs typeface="Calibri" pitchFamily="34" charset="-120"/>
              </a:rPr>
              <a:t>Abrir variables.css y cambiar --color-primario. ¿Cuántos lugares cambian automáticamente?</a:t>
            </a:r>
            <a:endParaRPr lang="en-US" sz="2800" dirty="0"/>
          </a:p>
          <a:p>
            <a:pPr marL="342900" indent="-342900">
              <a:buSzPct val="100000"/>
              <a:buChar char="•"/>
            </a:pPr>
            <a:r>
              <a:rPr lang="en-US" sz="2800" dirty="0">
                <a:solidFill>
                  <a:srgbClr val="263238"/>
                </a:solidFill>
                <a:latin typeface="Calibri" pitchFamily="34" charset="0"/>
                <a:ea typeface="Calibri" pitchFamily="34" charset="-122"/>
                <a:cs typeface="Calibri" pitchFamily="34" charset="-120"/>
              </a:rPr>
              <a:t>Abrir el navegador &gt; Inspector &gt; pestaña Emulación &gt; activar 'prefers-color-scheme: dark'. ¿Cambia el fondo?</a:t>
            </a:r>
            <a:endParaRPr lang="en-US" sz="2800" dirty="0"/>
          </a:p>
        </p:txBody>
      </p:sp>
    </p:spTree>
    <p:extLst>
      <p:ext uri="{BB962C8B-B14F-4D97-AF65-F5344CB8AC3E}">
        <p14:creationId xmlns:p14="http://schemas.microsoft.com/office/powerpoint/2010/main" val="1555771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JavaScript ES6+ — Módulos y arquitectura</a:t>
            </a:r>
            <a:endParaRPr lang="en-US" sz="2200" dirty="0"/>
          </a:p>
        </p:txBody>
      </p:sp>
      <p:sp>
        <p:nvSpPr>
          <p:cNvPr id="4" name="Text 2"/>
          <p:cNvSpPr/>
          <p:nvPr/>
        </p:nvSpPr>
        <p:spPr>
          <a:xfrm>
            <a:off x="365760" y="680484"/>
            <a:ext cx="8412480" cy="325356"/>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Tema 4: import/export, event loop y separación de responsabilidades</a:t>
            </a:r>
            <a:endParaRPr lang="en-US" dirty="0"/>
          </a:p>
        </p:txBody>
      </p:sp>
      <p:sp>
        <p:nvSpPr>
          <p:cNvPr id="5" name="Shape 3"/>
          <p:cNvSpPr/>
          <p:nvPr/>
        </p:nvSpPr>
        <p:spPr>
          <a:xfrm>
            <a:off x="0" y="1051560"/>
            <a:ext cx="201168" cy="4096512"/>
          </a:xfrm>
          <a:prstGeom prst="rect">
            <a:avLst/>
          </a:prstGeom>
          <a:solidFill>
            <a:srgbClr val="1565C0"/>
          </a:solidFill>
          <a:ln w="12700">
            <a:solidFill>
              <a:srgbClr val="1565C0"/>
            </a:solidFill>
            <a:prstDash val="solid"/>
          </a:ln>
        </p:spPr>
      </p:sp>
      <p:sp>
        <p:nvSpPr>
          <p:cNvPr id="6" name="Text 4"/>
          <p:cNvSpPr/>
          <p:nvPr/>
        </p:nvSpPr>
        <p:spPr>
          <a:xfrm>
            <a:off x="292608" y="1170432"/>
            <a:ext cx="8558784"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Arquitectura de módulos del PFC:</a:t>
            </a:r>
            <a:endParaRPr lang="en-US" sz="1100" dirty="0"/>
          </a:p>
        </p:txBody>
      </p:sp>
      <p:sp>
        <p:nvSpPr>
          <p:cNvPr id="7" name="Shape 5"/>
          <p:cNvSpPr/>
          <p:nvPr/>
        </p:nvSpPr>
        <p:spPr>
          <a:xfrm>
            <a:off x="3712464" y="1070205"/>
            <a:ext cx="1645920" cy="9144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sp>
      <p:sp>
        <p:nvSpPr>
          <p:cNvPr id="8" name="Text 6"/>
          <p:cNvSpPr/>
          <p:nvPr/>
        </p:nvSpPr>
        <p:spPr>
          <a:xfrm>
            <a:off x="3712464" y="1070205"/>
            <a:ext cx="164592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app.js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Orquestador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(punto de entrada)</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Importa todo</a:t>
            </a:r>
            <a:endParaRPr lang="en-US" sz="1050" dirty="0"/>
          </a:p>
        </p:txBody>
      </p:sp>
      <p:sp>
        <p:nvSpPr>
          <p:cNvPr id="9" name="Shape 7"/>
          <p:cNvSpPr/>
          <p:nvPr/>
        </p:nvSpPr>
        <p:spPr>
          <a:xfrm>
            <a:off x="1097280" y="2338461"/>
            <a:ext cx="1645920" cy="914400"/>
          </a:xfrm>
          <a:prstGeom prst="rect">
            <a:avLst/>
          </a:prstGeom>
          <a:solidFill>
            <a:srgbClr val="00897B"/>
          </a:solidFill>
          <a:ln w="12700">
            <a:solidFill>
              <a:srgbClr val="00897B"/>
            </a:solidFill>
            <a:prstDash val="solid"/>
          </a:ln>
          <a:effectLst>
            <a:outerShdw blurRad="101600" dist="38100" dir="8100000" algn="bl" rotWithShape="0">
              <a:srgbClr val="000000">
                <a:alpha val="18000"/>
              </a:srgbClr>
            </a:outerShdw>
          </a:effectLst>
        </p:spPr>
      </p:sp>
      <p:sp>
        <p:nvSpPr>
          <p:cNvPr id="10" name="Text 8"/>
          <p:cNvSpPr/>
          <p:nvPr/>
        </p:nvSpPr>
        <p:spPr>
          <a:xfrm>
            <a:off x="1060704" y="2332293"/>
            <a:ext cx="164592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api.js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Comunicación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con el servidor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fetch / async</a:t>
            </a:r>
            <a:endParaRPr lang="en-US" sz="1050" dirty="0"/>
          </a:p>
        </p:txBody>
      </p:sp>
      <p:sp>
        <p:nvSpPr>
          <p:cNvPr id="11" name="Shape 9"/>
          <p:cNvSpPr/>
          <p:nvPr/>
        </p:nvSpPr>
        <p:spPr>
          <a:xfrm>
            <a:off x="3749040" y="2338461"/>
            <a:ext cx="1645920" cy="914400"/>
          </a:xfrm>
          <a:prstGeom prst="rect">
            <a:avLst/>
          </a:prstGeom>
          <a:solidFill>
            <a:srgbClr val="1565C0"/>
          </a:solidFill>
          <a:ln w="12700">
            <a:solidFill>
              <a:srgbClr val="1565C0"/>
            </a:solidFill>
            <a:prstDash val="solid"/>
          </a:ln>
          <a:effectLst>
            <a:outerShdw blurRad="101600" dist="38100" dir="8100000" algn="bl" rotWithShape="0">
              <a:srgbClr val="000000">
                <a:alpha val="18000"/>
              </a:srgbClr>
            </a:outerShdw>
          </a:effectLst>
        </p:spPr>
      </p:sp>
      <p:sp>
        <p:nvSpPr>
          <p:cNvPr id="12" name="Text 10"/>
          <p:cNvSpPr/>
          <p:nvPr/>
        </p:nvSpPr>
        <p:spPr>
          <a:xfrm>
            <a:off x="3712464" y="2332293"/>
            <a:ext cx="164592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ui.js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Manipulación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del DOM</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renderizar</a:t>
            </a:r>
            <a:endParaRPr lang="en-US" sz="1050" dirty="0"/>
          </a:p>
        </p:txBody>
      </p:sp>
      <p:sp>
        <p:nvSpPr>
          <p:cNvPr id="13" name="Shape 11"/>
          <p:cNvSpPr/>
          <p:nvPr/>
        </p:nvSpPr>
        <p:spPr>
          <a:xfrm>
            <a:off x="6400800" y="2338461"/>
            <a:ext cx="1645920" cy="914400"/>
          </a:xfrm>
          <a:prstGeom prst="rect">
            <a:avLst/>
          </a:prstGeom>
          <a:solidFill>
            <a:srgbClr val="F57C00"/>
          </a:solidFill>
          <a:ln w="12700">
            <a:solidFill>
              <a:srgbClr val="F57C00"/>
            </a:solidFill>
            <a:prstDash val="solid"/>
          </a:ln>
          <a:effectLst>
            <a:outerShdw blurRad="101600" dist="38100" dir="8100000" algn="bl" rotWithShape="0">
              <a:srgbClr val="000000">
                <a:alpha val="18000"/>
              </a:srgbClr>
            </a:outerShdw>
          </a:effectLst>
        </p:spPr>
      </p:sp>
      <p:sp>
        <p:nvSpPr>
          <p:cNvPr id="14" name="Text 12"/>
          <p:cNvSpPr/>
          <p:nvPr/>
        </p:nvSpPr>
        <p:spPr>
          <a:xfrm>
            <a:off x="6364224" y="2332293"/>
            <a:ext cx="164592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helpers.js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Funciones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utilitarias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escapeHTML</a:t>
            </a:r>
            <a:endParaRPr lang="en-US" sz="1050" dirty="0"/>
          </a:p>
        </p:txBody>
      </p:sp>
      <p:sp>
        <p:nvSpPr>
          <p:cNvPr id="15" name="Shape 13"/>
          <p:cNvSpPr/>
          <p:nvPr/>
        </p:nvSpPr>
        <p:spPr>
          <a:xfrm>
            <a:off x="2011680" y="1990775"/>
            <a:ext cx="2560320" cy="334328"/>
          </a:xfrm>
          <a:prstGeom prst="rect">
            <a:avLst/>
          </a:prstGeom>
          <a:solidFill>
            <a:srgbClr val="90A4AE"/>
          </a:solidFill>
          <a:ln w="12700">
            <a:solidFill>
              <a:srgbClr val="90A4AE"/>
            </a:solidFill>
            <a:prstDash val="solid"/>
          </a:ln>
        </p:spPr>
        <p:txBody>
          <a:bodyPr/>
          <a:lstStyle/>
          <a:p>
            <a:endParaRPr lang="es-EC" dirty="0">
              <a:solidFill>
                <a:schemeClr val="tx1">
                  <a:lumMod val="85000"/>
                  <a:lumOff val="15000"/>
                </a:schemeClr>
              </a:solidFill>
            </a:endParaRPr>
          </a:p>
        </p:txBody>
      </p:sp>
      <p:sp>
        <p:nvSpPr>
          <p:cNvPr id="16" name="Shape 14"/>
          <p:cNvSpPr/>
          <p:nvPr/>
        </p:nvSpPr>
        <p:spPr>
          <a:xfrm>
            <a:off x="4608576" y="1996945"/>
            <a:ext cx="91440" cy="334328"/>
          </a:xfrm>
          <a:prstGeom prst="rect">
            <a:avLst/>
          </a:prstGeom>
          <a:solidFill>
            <a:srgbClr val="90A4AE"/>
          </a:solidFill>
          <a:ln w="12700">
            <a:solidFill>
              <a:srgbClr val="90A4AE"/>
            </a:solidFill>
            <a:prstDash val="solid"/>
          </a:ln>
        </p:spPr>
      </p:sp>
      <p:sp>
        <p:nvSpPr>
          <p:cNvPr id="17" name="Shape 15"/>
          <p:cNvSpPr/>
          <p:nvPr/>
        </p:nvSpPr>
        <p:spPr>
          <a:xfrm>
            <a:off x="4572000" y="1990775"/>
            <a:ext cx="2743200" cy="334328"/>
          </a:xfrm>
          <a:prstGeom prst="rect">
            <a:avLst/>
          </a:prstGeom>
          <a:solidFill>
            <a:srgbClr val="90A4AE"/>
          </a:solidFill>
          <a:ln w="12700">
            <a:solidFill>
              <a:srgbClr val="90A4AE"/>
            </a:solidFill>
            <a:prstDash val="solid"/>
          </a:ln>
        </p:spPr>
      </p:sp>
      <p:sp>
        <p:nvSpPr>
          <p:cNvPr id="18" name="Shape 16"/>
          <p:cNvSpPr/>
          <p:nvPr/>
        </p:nvSpPr>
        <p:spPr>
          <a:xfrm>
            <a:off x="292608" y="3263357"/>
            <a:ext cx="4114800" cy="1078992"/>
          </a:xfrm>
          <a:prstGeom prst="rect">
            <a:avLst/>
          </a:prstGeom>
          <a:solidFill>
            <a:srgbClr val="1A1A2E"/>
          </a:solidFill>
          <a:ln w="12700">
            <a:solidFill>
              <a:srgbClr val="334155"/>
            </a:solidFill>
            <a:prstDash val="solid"/>
          </a:ln>
        </p:spPr>
      </p:sp>
      <p:sp>
        <p:nvSpPr>
          <p:cNvPr id="19" name="Text 17"/>
          <p:cNvSpPr/>
          <p:nvPr/>
        </p:nvSpPr>
        <p:spPr>
          <a:xfrm>
            <a:off x="365760" y="3354797"/>
            <a:ext cx="3895344" cy="987552"/>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api.js — exportar funciones</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export async function obtenerDatos(endpoint)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const res = await fetch(BASE_URL + endpoint);</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if (!res.ok) throw new Error(res.status);</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return res.json();</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20" name="Shape 18"/>
          <p:cNvSpPr/>
          <p:nvPr/>
        </p:nvSpPr>
        <p:spPr>
          <a:xfrm>
            <a:off x="4645152" y="3263357"/>
            <a:ext cx="4206240" cy="1078992"/>
          </a:xfrm>
          <a:prstGeom prst="rect">
            <a:avLst/>
          </a:prstGeom>
          <a:solidFill>
            <a:srgbClr val="1A1A2E"/>
          </a:solidFill>
          <a:ln w="12700">
            <a:solidFill>
              <a:srgbClr val="334155"/>
            </a:solidFill>
            <a:prstDash val="solid"/>
          </a:ln>
        </p:spPr>
      </p:sp>
      <p:sp>
        <p:nvSpPr>
          <p:cNvPr id="21" name="Text 19"/>
          <p:cNvSpPr/>
          <p:nvPr/>
        </p:nvSpPr>
        <p:spPr>
          <a:xfrm>
            <a:off x="4754880" y="3354797"/>
            <a:ext cx="3986784" cy="910400"/>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app.js — importar y usar</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import { obtenerDatos } from './modules/api.js';</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import { renderizarTarjetas } from './modules/ui.js';</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const datos = await obtenerDatos('users');</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renderizarTarjetas(datos, 'contenedor');</a:t>
            </a:r>
            <a:endParaRPr lang="en-US" sz="1000" dirty="0"/>
          </a:p>
        </p:txBody>
      </p:sp>
      <p:sp>
        <p:nvSpPr>
          <p:cNvPr id="22" name="Shape 20"/>
          <p:cNvSpPr/>
          <p:nvPr/>
        </p:nvSpPr>
        <p:spPr>
          <a:xfrm>
            <a:off x="292608" y="4401428"/>
            <a:ext cx="8558784" cy="716386"/>
          </a:xfrm>
          <a:prstGeom prst="rect">
            <a:avLst/>
          </a:prstGeom>
          <a:solidFill>
            <a:srgbClr val="FFF8E1"/>
          </a:solidFill>
          <a:ln w="12700">
            <a:solidFill>
              <a:srgbClr val="F57C00"/>
            </a:solidFill>
            <a:prstDash val="solid"/>
          </a:ln>
        </p:spPr>
      </p:sp>
      <p:sp>
        <p:nvSpPr>
          <p:cNvPr id="23" name="Text 21"/>
          <p:cNvSpPr/>
          <p:nvPr/>
        </p:nvSpPr>
        <p:spPr>
          <a:xfrm>
            <a:off x="384048" y="4456292"/>
            <a:ext cx="8375904" cy="189234"/>
          </a:xfrm>
          <a:prstGeom prst="rect">
            <a:avLst/>
          </a:prstGeom>
          <a:noFill/>
          <a:ln/>
        </p:spPr>
        <p:txBody>
          <a:bodyPr wrap="square" lIns="0" tIns="0" rIns="0" bIns="0" rtlCol="0" anchor="ctr"/>
          <a:lstStyle/>
          <a:p>
            <a:pPr marL="0" indent="0">
              <a:buNone/>
            </a:pPr>
            <a:r>
              <a:rPr lang="en-US" sz="1100" b="1" dirty="0">
                <a:solidFill>
                  <a:srgbClr val="F57C00"/>
                </a:solidFill>
                <a:latin typeface="Calibri" pitchFamily="34" charset="0"/>
                <a:ea typeface="Calibri" pitchFamily="34" charset="-122"/>
                <a:cs typeface="Calibri" pitchFamily="34" charset="-120"/>
              </a:rPr>
              <a:t>✏  Ejercicio (2 min)</a:t>
            </a:r>
            <a:endParaRPr lang="en-US" sz="1100" dirty="0"/>
          </a:p>
        </p:txBody>
      </p:sp>
      <p:sp>
        <p:nvSpPr>
          <p:cNvPr id="24" name="Text 22"/>
          <p:cNvSpPr/>
          <p:nvPr/>
        </p:nvSpPr>
        <p:spPr>
          <a:xfrm>
            <a:off x="384048" y="4712324"/>
            <a:ext cx="8375904" cy="459568"/>
          </a:xfrm>
          <a:prstGeom prst="rect">
            <a:avLst/>
          </a:prstGeom>
          <a:noFill/>
          <a:ln/>
        </p:spPr>
        <p:txBody>
          <a:bodyPr wrap="square" lIns="0" tIns="0" rIns="0" bIns="0" rtlCol="0" anchor="t"/>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¿Por qué no ponemos toda la lógica en un único archivo app.js?</a:t>
            </a:r>
            <a:endParaRPr lang="en-US" sz="1000" dirty="0"/>
          </a:p>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Crear api.js con obtenerDatos() y verificar que el import funciona en app.js.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JavaScript ES6+ — async/await y consumo de API</a:t>
            </a:r>
            <a:endParaRPr lang="en-US" sz="2200" dirty="0"/>
          </a:p>
        </p:txBody>
      </p:sp>
      <p:sp>
        <p:nvSpPr>
          <p:cNvPr id="4" name="Text 2"/>
          <p:cNvSpPr/>
          <p:nvPr/>
        </p:nvSpPr>
        <p:spPr>
          <a:xfrm>
            <a:off x="365760" y="637953"/>
            <a:ext cx="8412480" cy="367887"/>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4: fetch, manejo de errores y estados de carga</a:t>
            </a:r>
            <a:endParaRPr lang="en-US" sz="2000" dirty="0"/>
          </a:p>
        </p:txBody>
      </p:sp>
      <p:sp>
        <p:nvSpPr>
          <p:cNvPr id="5" name="Shape 3"/>
          <p:cNvSpPr/>
          <p:nvPr/>
        </p:nvSpPr>
        <p:spPr>
          <a:xfrm>
            <a:off x="0" y="1051560"/>
            <a:ext cx="201168" cy="4096512"/>
          </a:xfrm>
          <a:prstGeom prst="rect">
            <a:avLst/>
          </a:prstGeom>
          <a:solidFill>
            <a:srgbClr val="1565C0"/>
          </a:solidFill>
          <a:ln w="12700">
            <a:solidFill>
              <a:srgbClr val="1565C0"/>
            </a:solidFill>
            <a:prstDash val="solid"/>
          </a:ln>
        </p:spPr>
      </p:sp>
      <p:sp>
        <p:nvSpPr>
          <p:cNvPr id="6" name="Text 4"/>
          <p:cNvSpPr/>
          <p:nvPr/>
        </p:nvSpPr>
        <p:spPr>
          <a:xfrm>
            <a:off x="292608" y="1042416"/>
            <a:ext cx="5029200"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¿Por qué necesitamos async/await?</a:t>
            </a:r>
            <a:endParaRPr lang="en-US" sz="1100" dirty="0"/>
          </a:p>
        </p:txBody>
      </p:sp>
      <p:sp>
        <p:nvSpPr>
          <p:cNvPr id="7" name="Text 5"/>
          <p:cNvSpPr/>
          <p:nvPr/>
        </p:nvSpPr>
        <p:spPr>
          <a:xfrm>
            <a:off x="285290" y="1214025"/>
            <a:ext cx="5029200" cy="356616"/>
          </a:xfrm>
          <a:prstGeom prst="rect">
            <a:avLst/>
          </a:prstGeom>
          <a:noFill/>
          <a:ln/>
        </p:spPr>
        <p:txBody>
          <a:bodyPr wrap="square" lIns="0" tIns="0" rIns="0" bIns="0" rtlCol="0" anchor="ctr"/>
          <a:lstStyle/>
          <a:p>
            <a:pPr marL="0" indent="0">
              <a:buNone/>
            </a:pPr>
            <a:r>
              <a:rPr lang="en-US" sz="1000" dirty="0">
                <a:solidFill>
                  <a:srgbClr val="455A64"/>
                </a:solidFill>
                <a:latin typeface="Calibri" pitchFamily="34" charset="0"/>
                <a:ea typeface="Calibri" pitchFamily="34" charset="-122"/>
                <a:cs typeface="Calibri" pitchFamily="34" charset="-120"/>
              </a:rPr>
              <a:t>JavaScript es single-threaded: ejecuta una sola tarea a la vez. Sin async, fetch bloquearía la UI hasta recibir la respuesta del servidor.</a:t>
            </a:r>
            <a:endParaRPr lang="en-US" sz="1000" dirty="0"/>
          </a:p>
        </p:txBody>
      </p:sp>
      <p:sp>
        <p:nvSpPr>
          <p:cNvPr id="8" name="Shape 6"/>
          <p:cNvSpPr/>
          <p:nvPr/>
        </p:nvSpPr>
        <p:spPr>
          <a:xfrm>
            <a:off x="311604" y="1562084"/>
            <a:ext cx="2858172" cy="1655064"/>
          </a:xfrm>
          <a:prstGeom prst="rect">
            <a:avLst/>
          </a:prstGeom>
          <a:solidFill>
            <a:srgbClr val="1A1A2E"/>
          </a:solidFill>
          <a:ln w="12700">
            <a:solidFill>
              <a:srgbClr val="334155"/>
            </a:solidFill>
            <a:prstDash val="solid"/>
          </a:ln>
        </p:spPr>
      </p:sp>
      <p:sp>
        <p:nvSpPr>
          <p:cNvPr id="9" name="Text 7"/>
          <p:cNvSpPr/>
          <p:nvPr/>
        </p:nvSpPr>
        <p:spPr>
          <a:xfrm>
            <a:off x="421333" y="1653524"/>
            <a:ext cx="2667034" cy="1493874"/>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 .then() — difícil</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fetch(url)</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.then(res =&gt;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if (!res.ok)</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throw Error(res.status);</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return </a:t>
            </a:r>
            <a:r>
              <a:rPr lang="en-US" sz="1000" dirty="0" err="1">
                <a:solidFill>
                  <a:srgbClr val="E8EAF6"/>
                </a:solidFill>
                <a:latin typeface="Consolas" pitchFamily="34" charset="0"/>
                <a:ea typeface="Consolas" pitchFamily="34" charset="-122"/>
                <a:cs typeface="Consolas" pitchFamily="34" charset="-120"/>
              </a:rPr>
              <a:t>res.json</a:t>
            </a:r>
            <a:r>
              <a:rPr lang="en-US" sz="1000" dirty="0">
                <a:solidFill>
                  <a:srgbClr val="E8EAF6"/>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.then(data =&gt; render(data))</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.catch(err =&gt; log(err));</a:t>
            </a:r>
            <a:endParaRPr lang="en-US" sz="1000" dirty="0"/>
          </a:p>
        </p:txBody>
      </p:sp>
      <p:sp>
        <p:nvSpPr>
          <p:cNvPr id="10" name="Shape 8"/>
          <p:cNvSpPr/>
          <p:nvPr/>
        </p:nvSpPr>
        <p:spPr>
          <a:xfrm>
            <a:off x="3195284" y="1562083"/>
            <a:ext cx="2651760" cy="1649393"/>
          </a:xfrm>
          <a:prstGeom prst="rect">
            <a:avLst/>
          </a:prstGeom>
          <a:solidFill>
            <a:srgbClr val="1A1A2E"/>
          </a:solidFill>
          <a:ln w="12700">
            <a:solidFill>
              <a:srgbClr val="334155"/>
            </a:solidFill>
            <a:prstDash val="solid"/>
          </a:ln>
        </p:spPr>
      </p:sp>
      <p:sp>
        <p:nvSpPr>
          <p:cNvPr id="11" name="Text 9"/>
          <p:cNvSpPr/>
          <p:nvPr/>
        </p:nvSpPr>
        <p:spPr>
          <a:xfrm>
            <a:off x="3283747" y="1653524"/>
            <a:ext cx="2432304" cy="1143000"/>
          </a:xfrm>
          <a:prstGeom prst="rect">
            <a:avLst/>
          </a:prstGeom>
          <a:noFill/>
          <a:ln/>
        </p:spPr>
        <p:txBody>
          <a:bodyPr wrap="square" lIns="0" tIns="0" rIns="0" bIns="0" rtlCol="0" anchor="t"/>
          <a:lstStyle/>
          <a:p>
            <a:pPr marL="0" indent="0">
              <a:buNone/>
            </a:pPr>
            <a:r>
              <a:rPr lang="en-US" sz="1000" dirty="0">
                <a:solidFill>
                  <a:srgbClr val="546E7A"/>
                </a:solidFill>
                <a:latin typeface="Consolas" pitchFamily="34" charset="0"/>
                <a:ea typeface="Consolas" pitchFamily="34" charset="-122"/>
                <a:cs typeface="Consolas" pitchFamily="34" charset="-120"/>
              </a:rPr>
              <a:t>// ✅ async/await — claro</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async function cargar()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try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const res = await fetch(url);</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if (!res.ok)</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throw Error(res.status);</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const data = await res.json();</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render(data);</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 catch(e) { log(e);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12" name="Text 10"/>
          <p:cNvSpPr/>
          <p:nvPr/>
        </p:nvSpPr>
        <p:spPr>
          <a:xfrm>
            <a:off x="292608" y="3202173"/>
            <a:ext cx="5029200"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Patrón completo de consumo de API con estados:</a:t>
            </a:r>
            <a:endParaRPr lang="en-US" sz="1100" dirty="0"/>
          </a:p>
        </p:txBody>
      </p:sp>
      <p:sp>
        <p:nvSpPr>
          <p:cNvPr id="13" name="Shape 11"/>
          <p:cNvSpPr/>
          <p:nvPr/>
        </p:nvSpPr>
        <p:spPr>
          <a:xfrm>
            <a:off x="276896" y="3441993"/>
            <a:ext cx="5570148" cy="1837306"/>
          </a:xfrm>
          <a:prstGeom prst="rect">
            <a:avLst/>
          </a:prstGeom>
          <a:solidFill>
            <a:srgbClr val="1A1A2E"/>
          </a:solidFill>
          <a:ln w="12700">
            <a:solidFill>
              <a:srgbClr val="334155"/>
            </a:solidFill>
            <a:prstDash val="solid"/>
          </a:ln>
        </p:spPr>
      </p:sp>
      <p:sp>
        <p:nvSpPr>
          <p:cNvPr id="14" name="Text 12"/>
          <p:cNvSpPr/>
          <p:nvPr/>
        </p:nvSpPr>
        <p:spPr>
          <a:xfrm>
            <a:off x="386623" y="3533433"/>
            <a:ext cx="5327087" cy="1005840"/>
          </a:xfrm>
          <a:prstGeom prst="rect">
            <a:avLst/>
          </a:prstGeom>
          <a:noFill/>
          <a:ln/>
        </p:spPr>
        <p:txBody>
          <a:bodyPr wrap="square" lIns="0" tIns="0" rIns="0" bIns="0" rtlCol="0" anchor="t"/>
          <a:lstStyle/>
          <a:p>
            <a:pPr marL="0" indent="0">
              <a:buNone/>
            </a:pPr>
            <a:r>
              <a:rPr lang="en-US" sz="1000" dirty="0">
                <a:solidFill>
                  <a:srgbClr val="82B1FF"/>
                </a:solidFill>
                <a:latin typeface="Consolas" pitchFamily="34" charset="0"/>
                <a:ea typeface="Consolas" pitchFamily="34" charset="-122"/>
                <a:cs typeface="Consolas" pitchFamily="34" charset="-120"/>
              </a:rPr>
              <a:t>async function cargarDatos()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mostrarCarga();           // Estado: cargando</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try {</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const datos = await obtenerDatos('products');</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renderizarTarjetas(datos, 'contenedor');// Estado: OK</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 catch (error) {</a:t>
            </a:r>
            <a:endParaRPr lang="en-US" sz="1000" dirty="0"/>
          </a:p>
          <a:p>
            <a:pPr marL="0" indent="0">
              <a:buNone/>
            </a:pPr>
            <a:r>
              <a:rPr lang="en-US" sz="1000" dirty="0">
                <a:solidFill>
                  <a:srgbClr val="546E7A"/>
                </a:solidFill>
                <a:latin typeface="Consolas" pitchFamily="34" charset="0"/>
                <a:ea typeface="Consolas" pitchFamily="34" charset="-122"/>
                <a:cs typeface="Consolas" pitchFamily="34" charset="-120"/>
              </a:rPr>
              <a:t>    mostrarError(error.message); // Estado: error</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 finally {</a:t>
            </a:r>
            <a:endParaRPr lang="en-US" sz="1000" dirty="0"/>
          </a:p>
          <a:p>
            <a:pPr marL="0" indent="0">
              <a:buNone/>
            </a:pPr>
            <a:r>
              <a:rPr lang="en-US" sz="1000" dirty="0">
                <a:solidFill>
                  <a:srgbClr val="C3E88D"/>
                </a:solidFill>
                <a:latin typeface="Consolas" pitchFamily="34" charset="0"/>
                <a:ea typeface="Consolas" pitchFamily="34" charset="-122"/>
                <a:cs typeface="Consolas" pitchFamily="34" charset="-120"/>
              </a:rPr>
              <a:t>    ocultarCarga(); // SIEMPRE se ejecuta</a:t>
            </a:r>
            <a:endParaRPr lang="en-US" sz="1000" dirty="0"/>
          </a:p>
          <a:p>
            <a:pPr marL="0" indent="0">
              <a:buNone/>
            </a:pPr>
            <a:r>
              <a:rPr lang="en-US" sz="1000" dirty="0">
                <a:solidFill>
                  <a:srgbClr val="E8EAF6"/>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82B1FF"/>
                </a:solidFill>
                <a:latin typeface="Consolas" pitchFamily="34" charset="0"/>
                <a:ea typeface="Consolas" pitchFamily="34" charset="-122"/>
                <a:cs typeface="Consolas" pitchFamily="34" charset="-120"/>
              </a:rPr>
              <a:t>}</a:t>
            </a:r>
            <a:endParaRPr lang="en-US" sz="1000" dirty="0"/>
          </a:p>
        </p:txBody>
      </p:sp>
      <p:sp>
        <p:nvSpPr>
          <p:cNvPr id="15" name="Text 13"/>
          <p:cNvSpPr/>
          <p:nvPr/>
        </p:nvSpPr>
        <p:spPr>
          <a:xfrm>
            <a:off x="5486400" y="1170432"/>
            <a:ext cx="3364992" cy="256032"/>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Los 4 estados que SIEMPRE hay que manejar:</a:t>
            </a:r>
            <a:endParaRPr lang="en-US" sz="1400" dirty="0"/>
          </a:p>
        </p:txBody>
      </p:sp>
      <p:sp>
        <p:nvSpPr>
          <p:cNvPr id="16" name="Shape 14"/>
          <p:cNvSpPr/>
          <p:nvPr/>
        </p:nvSpPr>
        <p:spPr>
          <a:xfrm>
            <a:off x="5893824" y="1481328"/>
            <a:ext cx="3043771" cy="621792"/>
          </a:xfrm>
          <a:prstGeom prst="rect">
            <a:avLst/>
          </a:prstGeom>
          <a:solidFill>
            <a:srgbClr val="FFFFFF"/>
          </a:solidFill>
          <a:ln w="6350">
            <a:solidFill>
              <a:srgbClr val="D0D7E3"/>
            </a:solidFill>
            <a:prstDash val="solid"/>
          </a:ln>
        </p:spPr>
      </p:sp>
      <p:sp>
        <p:nvSpPr>
          <p:cNvPr id="17" name="Shape 15"/>
          <p:cNvSpPr/>
          <p:nvPr/>
        </p:nvSpPr>
        <p:spPr>
          <a:xfrm>
            <a:off x="5903905" y="1481328"/>
            <a:ext cx="49627" cy="621792"/>
          </a:xfrm>
          <a:prstGeom prst="rect">
            <a:avLst/>
          </a:prstGeom>
          <a:solidFill>
            <a:srgbClr val="F57C00"/>
          </a:solidFill>
          <a:ln w="12700">
            <a:solidFill>
              <a:srgbClr val="F57C00"/>
            </a:solidFill>
            <a:prstDash val="solid"/>
          </a:ln>
        </p:spPr>
      </p:sp>
      <p:sp>
        <p:nvSpPr>
          <p:cNvPr id="18" name="Text 16"/>
          <p:cNvSpPr/>
          <p:nvPr/>
        </p:nvSpPr>
        <p:spPr>
          <a:xfrm>
            <a:off x="5979040" y="1479982"/>
            <a:ext cx="2930192"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Cargando</a:t>
            </a:r>
            <a:endParaRPr lang="en-US" sz="1100" dirty="0"/>
          </a:p>
        </p:txBody>
      </p:sp>
      <p:sp>
        <p:nvSpPr>
          <p:cNvPr id="19" name="Text 17"/>
          <p:cNvSpPr/>
          <p:nvPr/>
        </p:nvSpPr>
        <p:spPr>
          <a:xfrm>
            <a:off x="5969552" y="1737360"/>
            <a:ext cx="2894891" cy="345440"/>
          </a:xfrm>
          <a:prstGeom prst="rect">
            <a:avLst/>
          </a:prstGeom>
          <a:noFill/>
          <a:ln/>
        </p:spPr>
        <p:txBody>
          <a:bodyPr wrap="square" lIns="0" tIns="0" rIns="0" bIns="0" rtlCol="0" anchor="ctr"/>
          <a:lstStyle/>
          <a:p>
            <a:pPr marL="0" indent="0">
              <a:buNone/>
            </a:pPr>
            <a:r>
              <a:rPr lang="en-US" sz="1050" dirty="0">
                <a:solidFill>
                  <a:srgbClr val="455A64"/>
                </a:solidFill>
                <a:latin typeface="Calibri" pitchFamily="34" charset="0"/>
                <a:ea typeface="Calibri" pitchFamily="34" charset="-122"/>
                <a:cs typeface="Calibri" pitchFamily="34" charset="-120"/>
              </a:rPr>
              <a:t>mostrarCarga() → span aria-live anuncia 'Cargando...'</a:t>
            </a:r>
            <a:endParaRPr lang="en-US" sz="1050" dirty="0"/>
          </a:p>
        </p:txBody>
      </p:sp>
      <p:sp>
        <p:nvSpPr>
          <p:cNvPr id="20" name="Shape 18"/>
          <p:cNvSpPr/>
          <p:nvPr/>
        </p:nvSpPr>
        <p:spPr>
          <a:xfrm>
            <a:off x="5893824" y="2181520"/>
            <a:ext cx="3043771" cy="658368"/>
          </a:xfrm>
          <a:prstGeom prst="rect">
            <a:avLst/>
          </a:prstGeom>
          <a:solidFill>
            <a:srgbClr val="FFFFFF"/>
          </a:solidFill>
          <a:ln w="6350">
            <a:solidFill>
              <a:srgbClr val="D0D7E3"/>
            </a:solidFill>
            <a:prstDash val="solid"/>
          </a:ln>
        </p:spPr>
      </p:sp>
      <p:sp>
        <p:nvSpPr>
          <p:cNvPr id="21" name="Shape 19"/>
          <p:cNvSpPr/>
          <p:nvPr/>
        </p:nvSpPr>
        <p:spPr>
          <a:xfrm>
            <a:off x="5903905" y="2181520"/>
            <a:ext cx="49627" cy="658368"/>
          </a:xfrm>
          <a:prstGeom prst="rect">
            <a:avLst/>
          </a:prstGeom>
          <a:solidFill>
            <a:srgbClr val="2E7D32"/>
          </a:solidFill>
          <a:ln w="12700">
            <a:solidFill>
              <a:srgbClr val="2E7D32"/>
            </a:solidFill>
            <a:prstDash val="solid"/>
          </a:ln>
        </p:spPr>
      </p:sp>
      <p:sp>
        <p:nvSpPr>
          <p:cNvPr id="22" name="Text 20"/>
          <p:cNvSpPr/>
          <p:nvPr/>
        </p:nvSpPr>
        <p:spPr>
          <a:xfrm>
            <a:off x="5969552" y="2181520"/>
            <a:ext cx="2894891" cy="25603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Éxito</a:t>
            </a:r>
            <a:endParaRPr lang="en-US" sz="1100" dirty="0"/>
          </a:p>
        </p:txBody>
      </p:sp>
      <p:sp>
        <p:nvSpPr>
          <p:cNvPr id="23" name="Text 21"/>
          <p:cNvSpPr/>
          <p:nvPr/>
        </p:nvSpPr>
        <p:spPr>
          <a:xfrm>
            <a:off x="5969552" y="2437552"/>
            <a:ext cx="2894891" cy="365760"/>
          </a:xfrm>
          <a:prstGeom prst="rect">
            <a:avLst/>
          </a:prstGeom>
          <a:noFill/>
          <a:ln/>
        </p:spPr>
        <p:txBody>
          <a:bodyPr wrap="square" lIns="0" tIns="0" rIns="0" bIns="0" rtlCol="0" anchor="ctr"/>
          <a:lstStyle/>
          <a:p>
            <a:pPr marL="0" indent="0">
              <a:buNone/>
            </a:pPr>
            <a:r>
              <a:rPr lang="en-US" sz="1050" dirty="0">
                <a:solidFill>
                  <a:srgbClr val="455A64"/>
                </a:solidFill>
                <a:latin typeface="Calibri" pitchFamily="34" charset="0"/>
                <a:ea typeface="Calibri" pitchFamily="34" charset="-122"/>
                <a:cs typeface="Calibri" pitchFamily="34" charset="-120"/>
              </a:rPr>
              <a:t>renderizarTarjetas() → DOM actualizado con los datos</a:t>
            </a:r>
            <a:endParaRPr lang="en-US" sz="1050" dirty="0"/>
          </a:p>
        </p:txBody>
      </p:sp>
      <p:sp>
        <p:nvSpPr>
          <p:cNvPr id="24" name="Shape 22"/>
          <p:cNvSpPr/>
          <p:nvPr/>
        </p:nvSpPr>
        <p:spPr>
          <a:xfrm>
            <a:off x="5893824" y="2888800"/>
            <a:ext cx="3043771" cy="534889"/>
          </a:xfrm>
          <a:prstGeom prst="rect">
            <a:avLst/>
          </a:prstGeom>
          <a:solidFill>
            <a:srgbClr val="FFFFFF"/>
          </a:solidFill>
          <a:ln w="6350">
            <a:solidFill>
              <a:srgbClr val="D0D7E3"/>
            </a:solidFill>
            <a:prstDash val="solid"/>
          </a:ln>
        </p:spPr>
      </p:sp>
      <p:sp>
        <p:nvSpPr>
          <p:cNvPr id="25" name="Shape 23"/>
          <p:cNvSpPr/>
          <p:nvPr/>
        </p:nvSpPr>
        <p:spPr>
          <a:xfrm>
            <a:off x="5903905" y="2888800"/>
            <a:ext cx="49627" cy="534889"/>
          </a:xfrm>
          <a:prstGeom prst="rect">
            <a:avLst/>
          </a:prstGeom>
          <a:solidFill>
            <a:srgbClr val="C62828"/>
          </a:solidFill>
          <a:ln w="12700">
            <a:solidFill>
              <a:srgbClr val="C62828"/>
            </a:solidFill>
            <a:prstDash val="solid"/>
          </a:ln>
        </p:spPr>
      </p:sp>
      <p:sp>
        <p:nvSpPr>
          <p:cNvPr id="26" name="Text 24"/>
          <p:cNvSpPr/>
          <p:nvPr/>
        </p:nvSpPr>
        <p:spPr>
          <a:xfrm>
            <a:off x="5969552" y="2888800"/>
            <a:ext cx="2894891" cy="208012"/>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Error</a:t>
            </a:r>
            <a:endParaRPr lang="en-US" sz="1100" dirty="0"/>
          </a:p>
        </p:txBody>
      </p:sp>
      <p:sp>
        <p:nvSpPr>
          <p:cNvPr id="27" name="Text 25"/>
          <p:cNvSpPr/>
          <p:nvPr/>
        </p:nvSpPr>
        <p:spPr>
          <a:xfrm>
            <a:off x="5969552" y="3144832"/>
            <a:ext cx="2894891" cy="297161"/>
          </a:xfrm>
          <a:prstGeom prst="rect">
            <a:avLst/>
          </a:prstGeom>
          <a:noFill/>
          <a:ln/>
        </p:spPr>
        <p:txBody>
          <a:bodyPr wrap="square" lIns="0" tIns="0" rIns="0" bIns="0" rtlCol="0" anchor="ctr"/>
          <a:lstStyle/>
          <a:p>
            <a:pPr marL="0" indent="0">
              <a:buNone/>
            </a:pPr>
            <a:r>
              <a:rPr lang="en-US" sz="1050" dirty="0">
                <a:solidFill>
                  <a:srgbClr val="455A64"/>
                </a:solidFill>
                <a:latin typeface="Calibri" pitchFamily="34" charset="0"/>
                <a:ea typeface="Calibri" pitchFamily="34" charset="-122"/>
                <a:cs typeface="Calibri" pitchFamily="34" charset="-120"/>
              </a:rPr>
              <a:t>mostrarError() → role='alert' anuncia el mensaje</a:t>
            </a:r>
            <a:endParaRPr lang="en-US" sz="1050" dirty="0"/>
          </a:p>
        </p:txBody>
      </p:sp>
      <p:sp>
        <p:nvSpPr>
          <p:cNvPr id="28" name="Shape 26"/>
          <p:cNvSpPr/>
          <p:nvPr/>
        </p:nvSpPr>
        <p:spPr>
          <a:xfrm>
            <a:off x="5893824" y="3482659"/>
            <a:ext cx="3043771" cy="534890"/>
          </a:xfrm>
          <a:prstGeom prst="rect">
            <a:avLst/>
          </a:prstGeom>
          <a:solidFill>
            <a:srgbClr val="FFFFFF"/>
          </a:solidFill>
          <a:ln w="6350">
            <a:solidFill>
              <a:srgbClr val="D0D7E3"/>
            </a:solidFill>
            <a:prstDash val="solid"/>
          </a:ln>
        </p:spPr>
      </p:sp>
      <p:sp>
        <p:nvSpPr>
          <p:cNvPr id="29" name="Shape 27"/>
          <p:cNvSpPr/>
          <p:nvPr/>
        </p:nvSpPr>
        <p:spPr>
          <a:xfrm>
            <a:off x="5903905" y="3482659"/>
            <a:ext cx="49627" cy="534890"/>
          </a:xfrm>
          <a:prstGeom prst="rect">
            <a:avLst/>
          </a:prstGeom>
          <a:solidFill>
            <a:srgbClr val="90A4AE"/>
          </a:solidFill>
          <a:ln w="12700">
            <a:solidFill>
              <a:srgbClr val="90A4AE"/>
            </a:solidFill>
            <a:prstDash val="solid"/>
          </a:ln>
        </p:spPr>
      </p:sp>
      <p:sp>
        <p:nvSpPr>
          <p:cNvPr id="30" name="Text 28"/>
          <p:cNvSpPr/>
          <p:nvPr/>
        </p:nvSpPr>
        <p:spPr>
          <a:xfrm>
            <a:off x="5969552" y="3482659"/>
            <a:ext cx="2894891" cy="208013"/>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Vacío</a:t>
            </a:r>
            <a:endParaRPr lang="en-US" sz="1100" dirty="0"/>
          </a:p>
        </p:txBody>
      </p:sp>
      <p:sp>
        <p:nvSpPr>
          <p:cNvPr id="31" name="Text 29"/>
          <p:cNvSpPr/>
          <p:nvPr/>
        </p:nvSpPr>
        <p:spPr>
          <a:xfrm>
            <a:off x="5969552" y="3738691"/>
            <a:ext cx="2894891" cy="297161"/>
          </a:xfrm>
          <a:prstGeom prst="rect">
            <a:avLst/>
          </a:prstGeom>
          <a:noFill/>
          <a:ln/>
        </p:spPr>
        <p:txBody>
          <a:bodyPr wrap="square" lIns="0" tIns="0" rIns="0" bIns="0" rtlCol="0" anchor="ctr"/>
          <a:lstStyle/>
          <a:p>
            <a:pPr marL="0" indent="0">
              <a:buNone/>
            </a:pPr>
            <a:r>
              <a:rPr lang="en-US" sz="1050" dirty="0">
                <a:solidFill>
                  <a:srgbClr val="455A64"/>
                </a:solidFill>
                <a:latin typeface="Calibri" pitchFamily="34" charset="0"/>
                <a:ea typeface="Calibri" pitchFamily="34" charset="-122"/>
                <a:cs typeface="Calibri" pitchFamily="34" charset="-120"/>
              </a:rPr>
              <a:t>Sin datos → mensaje 'No se encontraron resultados'</a:t>
            </a:r>
            <a:endParaRPr lang="en-US" sz="1050" dirty="0"/>
          </a:p>
        </p:txBody>
      </p:sp>
      <p:sp>
        <p:nvSpPr>
          <p:cNvPr id="32" name="Shape 30"/>
          <p:cNvSpPr/>
          <p:nvPr/>
        </p:nvSpPr>
        <p:spPr>
          <a:xfrm>
            <a:off x="5903904" y="4101084"/>
            <a:ext cx="3240095" cy="969264"/>
          </a:xfrm>
          <a:prstGeom prst="rect">
            <a:avLst/>
          </a:prstGeom>
          <a:solidFill>
            <a:srgbClr val="FFF8E1"/>
          </a:solidFill>
          <a:ln w="12700">
            <a:solidFill>
              <a:srgbClr val="F57C00"/>
            </a:solidFill>
            <a:prstDash val="solid"/>
          </a:ln>
        </p:spPr>
      </p:sp>
      <p:sp>
        <p:nvSpPr>
          <p:cNvPr id="33" name="Text 31"/>
          <p:cNvSpPr/>
          <p:nvPr/>
        </p:nvSpPr>
        <p:spPr>
          <a:xfrm>
            <a:off x="5984810" y="4155948"/>
            <a:ext cx="3067750" cy="256032"/>
          </a:xfrm>
          <a:prstGeom prst="rect">
            <a:avLst/>
          </a:prstGeom>
          <a:noFill/>
          <a:ln/>
        </p:spPr>
        <p:txBody>
          <a:bodyPr wrap="square" lIns="0" tIns="0" rIns="0" bIns="0" rtlCol="0" anchor="ctr"/>
          <a:lstStyle/>
          <a:p>
            <a:pPr marL="0" indent="0">
              <a:buNone/>
            </a:pPr>
            <a:r>
              <a:rPr lang="en-US" sz="1100" b="1" dirty="0">
                <a:solidFill>
                  <a:srgbClr val="F57C00"/>
                </a:solidFill>
                <a:latin typeface="Calibri" pitchFamily="34" charset="0"/>
                <a:ea typeface="Calibri" pitchFamily="34" charset="-122"/>
                <a:cs typeface="Calibri" pitchFamily="34" charset="-120"/>
              </a:rPr>
              <a:t>✏  Ejercicio (3 min)</a:t>
            </a:r>
            <a:endParaRPr lang="en-US" sz="1100" dirty="0"/>
          </a:p>
        </p:txBody>
      </p:sp>
      <p:sp>
        <p:nvSpPr>
          <p:cNvPr id="34" name="Text 32"/>
          <p:cNvSpPr/>
          <p:nvPr/>
        </p:nvSpPr>
        <p:spPr>
          <a:xfrm>
            <a:off x="5984810" y="4411980"/>
            <a:ext cx="3067750" cy="621792"/>
          </a:xfrm>
          <a:prstGeom prst="rect">
            <a:avLst/>
          </a:prstGeom>
          <a:noFill/>
          <a:ln/>
        </p:spPr>
        <p:txBody>
          <a:bodyPr wrap="square" lIns="0" tIns="0" rIns="0" bIns="0" rtlCol="0" anchor="t"/>
          <a:lstStyle/>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Abrir la consola del navegador (F12). Copiar la función cargarDatos() y ejecutarla.</a:t>
            </a:r>
            <a:endParaRPr lang="en-US" sz="1000" dirty="0"/>
          </a:p>
          <a:p>
            <a:pPr marL="342900" indent="-342900">
              <a:buSzPct val="100000"/>
              <a:buChar char="•"/>
            </a:pPr>
            <a:r>
              <a:rPr lang="en-US" sz="1000" dirty="0">
                <a:solidFill>
                  <a:srgbClr val="263238"/>
                </a:solidFill>
                <a:latin typeface="Calibri" pitchFamily="34" charset="0"/>
                <a:ea typeface="Calibri" pitchFamily="34" charset="-122"/>
                <a:cs typeface="Calibri" pitchFamily="34" charset="-120"/>
              </a:rPr>
              <a:t>Cambiar la URL a 'https://error-test.xyz'. ¿Qué error aparece en la consola?</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JavaScript ES6+ — async/await y consumo de API</a:t>
            </a:r>
            <a:endParaRPr lang="en-US" sz="2200" dirty="0"/>
          </a:p>
        </p:txBody>
      </p:sp>
      <p:sp>
        <p:nvSpPr>
          <p:cNvPr id="4" name="Text 2"/>
          <p:cNvSpPr/>
          <p:nvPr/>
        </p:nvSpPr>
        <p:spPr>
          <a:xfrm>
            <a:off x="365760" y="603473"/>
            <a:ext cx="8412480" cy="402367"/>
          </a:xfrm>
          <a:prstGeom prst="rect">
            <a:avLst/>
          </a:prstGeom>
          <a:noFill/>
          <a:ln/>
        </p:spPr>
        <p:txBody>
          <a:bodyPr wrap="square" lIns="0" tIns="0" rIns="0" bIns="0" rtlCol="0" anchor="t"/>
          <a:lstStyle/>
          <a:p>
            <a:pPr marL="0" indent="0">
              <a:buNone/>
            </a:pPr>
            <a:r>
              <a:rPr lang="en-US" sz="2000" dirty="0">
                <a:solidFill>
                  <a:srgbClr val="82B1FF"/>
                </a:solidFill>
                <a:latin typeface="Calibri" pitchFamily="34" charset="0"/>
                <a:ea typeface="Calibri" pitchFamily="34" charset="-122"/>
                <a:cs typeface="Calibri" pitchFamily="34" charset="-120"/>
              </a:rPr>
              <a:t>Tema 4: fetch, manejo de errores y estados de carga</a:t>
            </a:r>
            <a:endParaRPr lang="en-US" sz="2000" dirty="0"/>
          </a:p>
        </p:txBody>
      </p:sp>
      <p:sp>
        <p:nvSpPr>
          <p:cNvPr id="5" name="Shape 3"/>
          <p:cNvSpPr/>
          <p:nvPr/>
        </p:nvSpPr>
        <p:spPr>
          <a:xfrm>
            <a:off x="0" y="1051560"/>
            <a:ext cx="201168" cy="4096512"/>
          </a:xfrm>
          <a:prstGeom prst="rect">
            <a:avLst/>
          </a:prstGeom>
          <a:solidFill>
            <a:srgbClr val="1565C0"/>
          </a:solidFill>
          <a:ln w="12700">
            <a:solidFill>
              <a:srgbClr val="1565C0"/>
            </a:solidFill>
            <a:prstDash val="solid"/>
          </a:ln>
        </p:spPr>
      </p:sp>
      <p:sp>
        <p:nvSpPr>
          <p:cNvPr id="32" name="Shape 30"/>
          <p:cNvSpPr/>
          <p:nvPr/>
        </p:nvSpPr>
        <p:spPr>
          <a:xfrm>
            <a:off x="1234440" y="1684551"/>
            <a:ext cx="6881746" cy="3170983"/>
          </a:xfrm>
          <a:prstGeom prst="rect">
            <a:avLst/>
          </a:prstGeom>
          <a:solidFill>
            <a:srgbClr val="FFF8E1"/>
          </a:solidFill>
          <a:ln w="12700">
            <a:solidFill>
              <a:srgbClr val="F57C00"/>
            </a:solidFill>
            <a:prstDash val="solid"/>
          </a:ln>
        </p:spPr>
      </p:sp>
      <p:sp>
        <p:nvSpPr>
          <p:cNvPr id="33" name="Text 31"/>
          <p:cNvSpPr/>
          <p:nvPr/>
        </p:nvSpPr>
        <p:spPr>
          <a:xfrm>
            <a:off x="1325880" y="1739416"/>
            <a:ext cx="6515696" cy="837618"/>
          </a:xfrm>
          <a:prstGeom prst="rect">
            <a:avLst/>
          </a:prstGeom>
          <a:noFill/>
          <a:ln/>
        </p:spPr>
        <p:txBody>
          <a:bodyPr wrap="square" lIns="0" tIns="0" rIns="0" bIns="0" rtlCol="0" anchor="ctr"/>
          <a:lstStyle/>
          <a:p>
            <a:pPr marL="0" indent="0">
              <a:buNone/>
            </a:pPr>
            <a:r>
              <a:rPr lang="en-US" sz="3600" b="1" dirty="0">
                <a:solidFill>
                  <a:srgbClr val="F57C00"/>
                </a:solidFill>
                <a:latin typeface="Calibri" pitchFamily="34" charset="0"/>
                <a:ea typeface="Calibri" pitchFamily="34" charset="-122"/>
                <a:cs typeface="Calibri" pitchFamily="34" charset="-120"/>
              </a:rPr>
              <a:t>✏  Ejercicio (3 min)</a:t>
            </a:r>
            <a:endParaRPr lang="en-US" sz="3600" dirty="0"/>
          </a:p>
        </p:txBody>
      </p:sp>
      <p:sp>
        <p:nvSpPr>
          <p:cNvPr id="34" name="Text 32"/>
          <p:cNvSpPr/>
          <p:nvPr/>
        </p:nvSpPr>
        <p:spPr>
          <a:xfrm>
            <a:off x="1393864" y="2505811"/>
            <a:ext cx="6515696" cy="2034216"/>
          </a:xfrm>
          <a:prstGeom prst="rect">
            <a:avLst/>
          </a:prstGeom>
          <a:noFill/>
          <a:ln/>
        </p:spPr>
        <p:txBody>
          <a:bodyPr wrap="square" lIns="0" tIns="0" rIns="0" bIns="0" rtlCol="0" anchor="t"/>
          <a:lstStyle/>
          <a:p>
            <a:pPr marL="342900" indent="-342900">
              <a:buSzPct val="100000"/>
              <a:buChar char="•"/>
            </a:pPr>
            <a:r>
              <a:rPr lang="en-US" sz="2800" dirty="0">
                <a:solidFill>
                  <a:srgbClr val="263238"/>
                </a:solidFill>
                <a:latin typeface="Calibri" pitchFamily="34" charset="0"/>
                <a:ea typeface="Calibri" pitchFamily="34" charset="-122"/>
                <a:cs typeface="Calibri" pitchFamily="34" charset="-120"/>
              </a:rPr>
              <a:t>Abrir la consola del navegador (F12). Copiar la función cargarDatos() y ejecutarla.</a:t>
            </a:r>
            <a:endParaRPr lang="en-US" sz="2800" dirty="0"/>
          </a:p>
          <a:p>
            <a:pPr marL="342900" indent="-342900">
              <a:buSzPct val="100000"/>
              <a:buChar char="•"/>
            </a:pPr>
            <a:r>
              <a:rPr lang="en-US" sz="2800" dirty="0">
                <a:solidFill>
                  <a:srgbClr val="263238"/>
                </a:solidFill>
                <a:latin typeface="Calibri" pitchFamily="34" charset="0"/>
                <a:ea typeface="Calibri" pitchFamily="34" charset="-122"/>
                <a:cs typeface="Calibri" pitchFamily="34" charset="-120"/>
              </a:rPr>
              <a:t>Cambiar la URL a 'https://error-test.xyz'. ¿Qué error aparece en la consola?</a:t>
            </a:r>
            <a:endParaRPr lang="en-US" sz="2800" dirty="0"/>
          </a:p>
        </p:txBody>
      </p:sp>
    </p:spTree>
    <p:extLst>
      <p:ext uri="{BB962C8B-B14F-4D97-AF65-F5344CB8AC3E}">
        <p14:creationId xmlns:p14="http://schemas.microsoft.com/office/powerpoint/2010/main" val="3684214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Auditoría de calidad — Lighthouse y WAVE</a:t>
            </a:r>
            <a:endParaRPr lang="en-US" sz="2200" dirty="0"/>
          </a:p>
        </p:txBody>
      </p:sp>
      <p:sp>
        <p:nvSpPr>
          <p:cNvPr id="4" name="Text 2"/>
          <p:cNvSpPr/>
          <p:nvPr/>
        </p:nvSpPr>
        <p:spPr>
          <a:xfrm>
            <a:off x="365760" y="602512"/>
            <a:ext cx="8412480" cy="403328"/>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Objetivo: Lighthouse Accesibilidad ≥ 90 · WAVE 0 errores · W3C 0 errores</a:t>
            </a:r>
            <a:endParaRPr lang="en-US" dirty="0"/>
          </a:p>
        </p:txBody>
      </p:sp>
      <p:sp>
        <p:nvSpPr>
          <p:cNvPr id="5" name="Shape 3"/>
          <p:cNvSpPr/>
          <p:nvPr/>
        </p:nvSpPr>
        <p:spPr>
          <a:xfrm>
            <a:off x="0" y="1051560"/>
            <a:ext cx="201168" cy="4096512"/>
          </a:xfrm>
          <a:prstGeom prst="rect">
            <a:avLst/>
          </a:prstGeom>
          <a:solidFill>
            <a:srgbClr val="2E7D32"/>
          </a:solidFill>
          <a:ln w="12700">
            <a:solidFill>
              <a:srgbClr val="2E7D32"/>
            </a:solidFill>
            <a:prstDash val="solid"/>
          </a:ln>
        </p:spPr>
      </p:sp>
      <p:sp>
        <p:nvSpPr>
          <p:cNvPr id="6" name="Shape 4"/>
          <p:cNvSpPr/>
          <p:nvPr/>
        </p:nvSpPr>
        <p:spPr>
          <a:xfrm>
            <a:off x="292608" y="1143000"/>
            <a:ext cx="2011680"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7" name="Shape 5"/>
          <p:cNvSpPr/>
          <p:nvPr/>
        </p:nvSpPr>
        <p:spPr>
          <a:xfrm>
            <a:off x="292608" y="1143000"/>
            <a:ext cx="2011680" cy="320040"/>
          </a:xfrm>
          <a:prstGeom prst="rect">
            <a:avLst/>
          </a:prstGeom>
          <a:solidFill>
            <a:srgbClr val="F57C00"/>
          </a:solidFill>
          <a:ln w="12700">
            <a:solidFill>
              <a:srgbClr val="F57C00"/>
            </a:solidFill>
            <a:prstDash val="solid"/>
          </a:ln>
        </p:spPr>
      </p:sp>
      <p:sp>
        <p:nvSpPr>
          <p:cNvPr id="8" name="Text 6"/>
          <p:cNvSpPr/>
          <p:nvPr/>
        </p:nvSpPr>
        <p:spPr>
          <a:xfrm>
            <a:off x="292608" y="1143000"/>
            <a:ext cx="20116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Performance</a:t>
            </a:r>
            <a:endParaRPr lang="en-US" sz="1400" dirty="0"/>
          </a:p>
        </p:txBody>
      </p:sp>
      <p:sp>
        <p:nvSpPr>
          <p:cNvPr id="9" name="Text 7"/>
          <p:cNvSpPr/>
          <p:nvPr/>
        </p:nvSpPr>
        <p:spPr>
          <a:xfrm>
            <a:off x="292608" y="1481328"/>
            <a:ext cx="2011680" cy="502920"/>
          </a:xfrm>
          <a:prstGeom prst="rect">
            <a:avLst/>
          </a:prstGeom>
          <a:noFill/>
          <a:ln/>
        </p:spPr>
        <p:txBody>
          <a:bodyPr wrap="square" lIns="0" tIns="0" rIns="0" bIns="0" rtlCol="0" anchor="ctr"/>
          <a:lstStyle/>
          <a:p>
            <a:pPr marL="0" indent="0" algn="ctr">
              <a:buNone/>
            </a:pPr>
            <a:r>
              <a:rPr lang="en-US" sz="2800" b="1" dirty="0">
                <a:solidFill>
                  <a:srgbClr val="F57C00"/>
                </a:solidFill>
                <a:latin typeface="Calibri" pitchFamily="34" charset="0"/>
                <a:ea typeface="Calibri" pitchFamily="34" charset="-122"/>
                <a:cs typeface="Calibri" pitchFamily="34" charset="-120"/>
              </a:rPr>
              <a:t>≥70</a:t>
            </a:r>
            <a:endParaRPr lang="en-US" sz="2800" dirty="0"/>
          </a:p>
        </p:txBody>
      </p:sp>
      <p:sp>
        <p:nvSpPr>
          <p:cNvPr id="10" name="Text 8"/>
          <p:cNvSpPr/>
          <p:nvPr/>
        </p:nvSpPr>
        <p:spPr>
          <a:xfrm>
            <a:off x="365760" y="1993392"/>
            <a:ext cx="1865376" cy="658368"/>
          </a:xfrm>
          <a:prstGeom prst="rect">
            <a:avLst/>
          </a:prstGeom>
          <a:noFill/>
          <a:ln/>
        </p:spPr>
        <p:txBody>
          <a:bodyPr wrap="square" lIns="0" tIns="0" rIns="0" bIns="0" rtlCol="0" anchor="t"/>
          <a:lstStyle/>
          <a:p>
            <a:pPr marL="0" indent="0" algn="ctr">
              <a:buNone/>
            </a:pPr>
            <a:r>
              <a:rPr lang="en-US" sz="1400" dirty="0">
                <a:solidFill>
                  <a:srgbClr val="455A64"/>
                </a:solidFill>
                <a:latin typeface="Calibri" pitchFamily="34" charset="0"/>
                <a:ea typeface="Calibri" pitchFamily="34" charset="-122"/>
                <a:cs typeface="Calibri" pitchFamily="34" charset="-120"/>
              </a:rPr>
              <a:t>Velocidad de carga, LCP, FID, CLS</a:t>
            </a:r>
            <a:endParaRPr lang="en-US" sz="1400" dirty="0"/>
          </a:p>
        </p:txBody>
      </p:sp>
      <p:sp>
        <p:nvSpPr>
          <p:cNvPr id="11" name="Shape 9"/>
          <p:cNvSpPr/>
          <p:nvPr/>
        </p:nvSpPr>
        <p:spPr>
          <a:xfrm>
            <a:off x="2459736" y="1143000"/>
            <a:ext cx="2011680"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2" name="Shape 10"/>
          <p:cNvSpPr/>
          <p:nvPr/>
        </p:nvSpPr>
        <p:spPr>
          <a:xfrm>
            <a:off x="2459736" y="1143000"/>
            <a:ext cx="2011680" cy="320040"/>
          </a:xfrm>
          <a:prstGeom prst="rect">
            <a:avLst/>
          </a:prstGeom>
          <a:solidFill>
            <a:srgbClr val="2E7D32"/>
          </a:solidFill>
          <a:ln w="12700">
            <a:solidFill>
              <a:srgbClr val="2E7D32"/>
            </a:solidFill>
            <a:prstDash val="solid"/>
          </a:ln>
        </p:spPr>
      </p:sp>
      <p:sp>
        <p:nvSpPr>
          <p:cNvPr id="13" name="Text 11"/>
          <p:cNvSpPr/>
          <p:nvPr/>
        </p:nvSpPr>
        <p:spPr>
          <a:xfrm>
            <a:off x="2459736" y="1143000"/>
            <a:ext cx="20116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Accessibility</a:t>
            </a:r>
            <a:endParaRPr lang="en-US" sz="1400" dirty="0"/>
          </a:p>
        </p:txBody>
      </p:sp>
      <p:sp>
        <p:nvSpPr>
          <p:cNvPr id="14" name="Text 12"/>
          <p:cNvSpPr/>
          <p:nvPr/>
        </p:nvSpPr>
        <p:spPr>
          <a:xfrm>
            <a:off x="2459736" y="1481328"/>
            <a:ext cx="2011680" cy="502920"/>
          </a:xfrm>
          <a:prstGeom prst="rect">
            <a:avLst/>
          </a:prstGeom>
          <a:noFill/>
          <a:ln/>
        </p:spPr>
        <p:txBody>
          <a:bodyPr wrap="square" lIns="0" tIns="0" rIns="0" bIns="0" rtlCol="0" anchor="ctr"/>
          <a:lstStyle/>
          <a:p>
            <a:pPr marL="0" indent="0" algn="ctr">
              <a:buNone/>
            </a:pPr>
            <a:r>
              <a:rPr lang="en-US" sz="2800" b="1" dirty="0">
                <a:solidFill>
                  <a:srgbClr val="2E7D32"/>
                </a:solidFill>
                <a:latin typeface="Calibri" pitchFamily="34" charset="0"/>
                <a:ea typeface="Calibri" pitchFamily="34" charset="-122"/>
                <a:cs typeface="Calibri" pitchFamily="34" charset="-120"/>
              </a:rPr>
              <a:t>≥90</a:t>
            </a:r>
            <a:endParaRPr lang="en-US" sz="2800" dirty="0"/>
          </a:p>
        </p:txBody>
      </p:sp>
      <p:sp>
        <p:nvSpPr>
          <p:cNvPr id="15" name="Text 13"/>
          <p:cNvSpPr/>
          <p:nvPr/>
        </p:nvSpPr>
        <p:spPr>
          <a:xfrm>
            <a:off x="2532888" y="1993392"/>
            <a:ext cx="1865376" cy="658368"/>
          </a:xfrm>
          <a:prstGeom prst="rect">
            <a:avLst/>
          </a:prstGeom>
          <a:noFill/>
          <a:ln/>
        </p:spPr>
        <p:txBody>
          <a:bodyPr wrap="square" lIns="0" tIns="0" rIns="0" bIns="0" rtlCol="0" anchor="t"/>
          <a:lstStyle/>
          <a:p>
            <a:pPr marL="0" indent="0" algn="ctr">
              <a:buNone/>
            </a:pPr>
            <a:r>
              <a:rPr lang="en-US" sz="1400" dirty="0">
                <a:solidFill>
                  <a:srgbClr val="455A64"/>
                </a:solidFill>
                <a:latin typeface="Calibri" pitchFamily="34" charset="0"/>
                <a:ea typeface="Calibri" pitchFamily="34" charset="-122"/>
                <a:cs typeface="Calibri" pitchFamily="34" charset="-120"/>
              </a:rPr>
              <a:t>WCAG 2.1 AA: contraste, ARIA, estructura</a:t>
            </a:r>
            <a:endParaRPr lang="en-US" sz="1400" dirty="0"/>
          </a:p>
        </p:txBody>
      </p:sp>
      <p:sp>
        <p:nvSpPr>
          <p:cNvPr id="16" name="Shape 14"/>
          <p:cNvSpPr/>
          <p:nvPr/>
        </p:nvSpPr>
        <p:spPr>
          <a:xfrm>
            <a:off x="4626864" y="1143000"/>
            <a:ext cx="2011680"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17" name="Shape 15"/>
          <p:cNvSpPr/>
          <p:nvPr/>
        </p:nvSpPr>
        <p:spPr>
          <a:xfrm>
            <a:off x="4626864" y="1143000"/>
            <a:ext cx="2011680" cy="320040"/>
          </a:xfrm>
          <a:prstGeom prst="rect">
            <a:avLst/>
          </a:prstGeom>
          <a:solidFill>
            <a:srgbClr val="1565C0"/>
          </a:solidFill>
          <a:ln w="12700">
            <a:solidFill>
              <a:srgbClr val="1565C0"/>
            </a:solidFill>
            <a:prstDash val="solid"/>
          </a:ln>
        </p:spPr>
      </p:sp>
      <p:sp>
        <p:nvSpPr>
          <p:cNvPr id="18" name="Text 16"/>
          <p:cNvSpPr/>
          <p:nvPr/>
        </p:nvSpPr>
        <p:spPr>
          <a:xfrm>
            <a:off x="4626864" y="1143000"/>
            <a:ext cx="20116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Best Practices</a:t>
            </a:r>
            <a:endParaRPr lang="en-US" sz="1400" dirty="0"/>
          </a:p>
        </p:txBody>
      </p:sp>
      <p:sp>
        <p:nvSpPr>
          <p:cNvPr id="19" name="Text 17"/>
          <p:cNvSpPr/>
          <p:nvPr/>
        </p:nvSpPr>
        <p:spPr>
          <a:xfrm>
            <a:off x="4626864" y="1481328"/>
            <a:ext cx="2011680" cy="502920"/>
          </a:xfrm>
          <a:prstGeom prst="rect">
            <a:avLst/>
          </a:prstGeom>
          <a:noFill/>
          <a:ln/>
        </p:spPr>
        <p:txBody>
          <a:bodyPr wrap="square" lIns="0" tIns="0" rIns="0" bIns="0" rtlCol="0" anchor="ctr"/>
          <a:lstStyle/>
          <a:p>
            <a:pPr marL="0" indent="0" algn="ctr">
              <a:buNone/>
            </a:pPr>
            <a:r>
              <a:rPr lang="en-US" sz="2800" b="1" dirty="0">
                <a:solidFill>
                  <a:srgbClr val="1565C0"/>
                </a:solidFill>
                <a:latin typeface="Calibri" pitchFamily="34" charset="0"/>
                <a:ea typeface="Calibri" pitchFamily="34" charset="-122"/>
                <a:cs typeface="Calibri" pitchFamily="34" charset="-120"/>
              </a:rPr>
              <a:t>≥90</a:t>
            </a:r>
            <a:endParaRPr lang="en-US" sz="2800" dirty="0"/>
          </a:p>
        </p:txBody>
      </p:sp>
      <p:sp>
        <p:nvSpPr>
          <p:cNvPr id="20" name="Text 18"/>
          <p:cNvSpPr/>
          <p:nvPr/>
        </p:nvSpPr>
        <p:spPr>
          <a:xfrm>
            <a:off x="4700016" y="1993392"/>
            <a:ext cx="1865376" cy="658368"/>
          </a:xfrm>
          <a:prstGeom prst="rect">
            <a:avLst/>
          </a:prstGeom>
          <a:noFill/>
          <a:ln/>
        </p:spPr>
        <p:txBody>
          <a:bodyPr wrap="square" lIns="0" tIns="0" rIns="0" bIns="0" rtlCol="0" anchor="t"/>
          <a:lstStyle/>
          <a:p>
            <a:pPr marL="0" indent="0" algn="ctr">
              <a:buNone/>
            </a:pPr>
            <a:r>
              <a:rPr lang="en-US" sz="1400" dirty="0">
                <a:solidFill>
                  <a:srgbClr val="455A64"/>
                </a:solidFill>
                <a:latin typeface="Calibri" pitchFamily="34" charset="0"/>
                <a:ea typeface="Calibri" pitchFamily="34" charset="-122"/>
                <a:cs typeface="Calibri" pitchFamily="34" charset="-120"/>
              </a:rPr>
              <a:t>HTTPS, sin console errors, sin libs vulnerables</a:t>
            </a:r>
            <a:endParaRPr lang="en-US" sz="1400" dirty="0"/>
          </a:p>
        </p:txBody>
      </p:sp>
      <p:sp>
        <p:nvSpPr>
          <p:cNvPr id="21" name="Shape 19"/>
          <p:cNvSpPr/>
          <p:nvPr/>
        </p:nvSpPr>
        <p:spPr>
          <a:xfrm>
            <a:off x="6793992" y="1143000"/>
            <a:ext cx="2011680" cy="1325880"/>
          </a:xfrm>
          <a:prstGeom prst="rect">
            <a:avLst/>
          </a:prstGeom>
          <a:solidFill>
            <a:srgbClr val="FFFFFF"/>
          </a:solidFill>
          <a:ln w="6350">
            <a:solidFill>
              <a:srgbClr val="D0D7E3"/>
            </a:solidFill>
            <a:prstDash val="solid"/>
          </a:ln>
          <a:effectLst>
            <a:outerShdw blurRad="101600" dist="38100" dir="8100000" algn="bl" rotWithShape="0">
              <a:srgbClr val="000000">
                <a:alpha val="18000"/>
              </a:srgbClr>
            </a:outerShdw>
          </a:effectLst>
        </p:spPr>
      </p:sp>
      <p:sp>
        <p:nvSpPr>
          <p:cNvPr id="22" name="Shape 20"/>
          <p:cNvSpPr/>
          <p:nvPr/>
        </p:nvSpPr>
        <p:spPr>
          <a:xfrm>
            <a:off x="6793992" y="1143000"/>
            <a:ext cx="2011680" cy="320040"/>
          </a:xfrm>
          <a:prstGeom prst="rect">
            <a:avLst/>
          </a:prstGeom>
          <a:solidFill>
            <a:srgbClr val="6A1B9A"/>
          </a:solidFill>
          <a:ln w="12700">
            <a:solidFill>
              <a:srgbClr val="6A1B9A"/>
            </a:solidFill>
            <a:prstDash val="solid"/>
          </a:ln>
        </p:spPr>
      </p:sp>
      <p:sp>
        <p:nvSpPr>
          <p:cNvPr id="23" name="Text 21"/>
          <p:cNvSpPr/>
          <p:nvPr/>
        </p:nvSpPr>
        <p:spPr>
          <a:xfrm>
            <a:off x="6793992" y="1143000"/>
            <a:ext cx="20116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SEO</a:t>
            </a:r>
            <a:endParaRPr lang="en-US" sz="1400" dirty="0"/>
          </a:p>
        </p:txBody>
      </p:sp>
      <p:sp>
        <p:nvSpPr>
          <p:cNvPr id="24" name="Text 22"/>
          <p:cNvSpPr/>
          <p:nvPr/>
        </p:nvSpPr>
        <p:spPr>
          <a:xfrm>
            <a:off x="6793992" y="1481328"/>
            <a:ext cx="2011680" cy="502920"/>
          </a:xfrm>
          <a:prstGeom prst="rect">
            <a:avLst/>
          </a:prstGeom>
          <a:noFill/>
          <a:ln/>
        </p:spPr>
        <p:txBody>
          <a:bodyPr wrap="square" lIns="0" tIns="0" rIns="0" bIns="0" rtlCol="0" anchor="ctr"/>
          <a:lstStyle/>
          <a:p>
            <a:pPr marL="0" indent="0" algn="ctr">
              <a:buNone/>
            </a:pPr>
            <a:r>
              <a:rPr lang="en-US" sz="2800" b="1" dirty="0">
                <a:solidFill>
                  <a:srgbClr val="6A1B9A"/>
                </a:solidFill>
                <a:latin typeface="Calibri" pitchFamily="34" charset="0"/>
                <a:ea typeface="Calibri" pitchFamily="34" charset="-122"/>
                <a:cs typeface="Calibri" pitchFamily="34" charset="-120"/>
              </a:rPr>
              <a:t>≥80</a:t>
            </a:r>
            <a:endParaRPr lang="en-US" sz="2800" dirty="0"/>
          </a:p>
        </p:txBody>
      </p:sp>
      <p:sp>
        <p:nvSpPr>
          <p:cNvPr id="25" name="Text 23"/>
          <p:cNvSpPr/>
          <p:nvPr/>
        </p:nvSpPr>
        <p:spPr>
          <a:xfrm>
            <a:off x="6867144" y="1993392"/>
            <a:ext cx="1865376" cy="658368"/>
          </a:xfrm>
          <a:prstGeom prst="rect">
            <a:avLst/>
          </a:prstGeom>
          <a:noFill/>
          <a:ln/>
        </p:spPr>
        <p:txBody>
          <a:bodyPr wrap="square" lIns="0" tIns="0" rIns="0" bIns="0" rtlCol="0" anchor="t"/>
          <a:lstStyle/>
          <a:p>
            <a:pPr marL="0" indent="0" algn="ctr">
              <a:buNone/>
            </a:pPr>
            <a:r>
              <a:rPr lang="en-US" sz="1400" dirty="0">
                <a:solidFill>
                  <a:srgbClr val="455A64"/>
                </a:solidFill>
                <a:latin typeface="Calibri" pitchFamily="34" charset="0"/>
                <a:ea typeface="Calibri" pitchFamily="34" charset="-122"/>
                <a:cs typeface="Calibri" pitchFamily="34" charset="-120"/>
              </a:rPr>
              <a:t>Meta, lang, viewport, robots</a:t>
            </a:r>
            <a:endParaRPr lang="en-US" sz="1400" dirty="0"/>
          </a:p>
        </p:txBody>
      </p:sp>
      <p:sp>
        <p:nvSpPr>
          <p:cNvPr id="26" name="Text 24"/>
          <p:cNvSpPr/>
          <p:nvPr/>
        </p:nvSpPr>
        <p:spPr>
          <a:xfrm>
            <a:off x="292608" y="2555748"/>
            <a:ext cx="8558784" cy="256032"/>
          </a:xfrm>
          <a:prstGeom prst="rect">
            <a:avLst/>
          </a:prstGeom>
          <a:noFill/>
          <a:ln/>
        </p:spPr>
        <p:txBody>
          <a:bodyPr wrap="square" lIns="0" tIns="0" rIns="0" bIns="0" rtlCol="0" anchor="ctr"/>
          <a:lstStyle/>
          <a:p>
            <a:pPr marL="0" indent="0">
              <a:buNone/>
            </a:pPr>
            <a:r>
              <a:rPr lang="en-US" sz="1600" b="1" dirty="0">
                <a:solidFill>
                  <a:srgbClr val="263238"/>
                </a:solidFill>
                <a:latin typeface="Calibri" pitchFamily="34" charset="0"/>
                <a:ea typeface="Calibri" pitchFamily="34" charset="-122"/>
                <a:cs typeface="Calibri" pitchFamily="34" charset="-120"/>
              </a:rPr>
              <a:t>Errores de accesibilidad más frecuentes en Lighthouse y su corrección:</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4211833976"/>
              </p:ext>
            </p:extLst>
          </p:nvPr>
        </p:nvGraphicFramePr>
        <p:xfrm>
          <a:off x="292608" y="2896734"/>
          <a:ext cx="8695447" cy="2041074"/>
        </p:xfrm>
        <a:graphic>
          <a:graphicData uri="http://schemas.openxmlformats.org/drawingml/2006/table">
            <a:tbl>
              <a:tblPr/>
              <a:tblGrid>
                <a:gridCol w="2601202">
                  <a:extLst>
                    <a:ext uri="{9D8B030D-6E8A-4147-A177-3AD203B41FA5}">
                      <a16:colId xmlns:a16="http://schemas.microsoft.com/office/drawing/2014/main" val="20000"/>
                    </a:ext>
                  </a:extLst>
                </a:gridCol>
                <a:gridCol w="2322502">
                  <a:extLst>
                    <a:ext uri="{9D8B030D-6E8A-4147-A177-3AD203B41FA5}">
                      <a16:colId xmlns:a16="http://schemas.microsoft.com/office/drawing/2014/main" val="20001"/>
                    </a:ext>
                  </a:extLst>
                </a:gridCol>
                <a:gridCol w="3771743">
                  <a:extLst>
                    <a:ext uri="{9D8B030D-6E8A-4147-A177-3AD203B41FA5}">
                      <a16:colId xmlns:a16="http://schemas.microsoft.com/office/drawing/2014/main" val="20002"/>
                    </a:ext>
                  </a:extLst>
                </a:gridCol>
              </a:tblGrid>
              <a:tr h="267789">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Error Lighthouse</a:t>
                      </a:r>
                      <a:endParaRPr lang="en-US" sz="14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2E7D32"/>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Causa</a:t>
                      </a:r>
                      <a:endParaRPr lang="en-US" sz="14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2E7D32"/>
                    </a:solidFill>
                  </a:tcPr>
                </a:tc>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Solución</a:t>
                      </a:r>
                      <a:endParaRPr lang="en-US" sz="14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2E7D32"/>
                    </a:solidFill>
                  </a:tcPr>
                </a:tc>
                <a:extLst>
                  <a:ext uri="{0D108BD9-81ED-4DB2-BD59-A6C34878D82A}">
                    <a16:rowId xmlns:a16="http://schemas.microsoft.com/office/drawing/2014/main" val="10000"/>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Image elements do not have [alt]</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Imágenes sin alt text</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&lt;img src="x.png" alt="Descripción"&gt;</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Form elements not associated labels</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Input sin &lt;label for&gt;</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&lt;label for="id"&gt;&lt;input id="id"&gt;</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Background/foreground low contrast</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Ratio &lt; 4.5:1</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Usar webaim.org/resources/contrastchecker</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[lang] attribute missing</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Sin lang en &lt;html&gt;</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&lt;html lang="es"&gt;</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Links do not have discernible name</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Enlace sin texto</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&lt;a href="#"&gt;Ver producto&lt;/a&gt;</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7789">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Heading order not descending</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alibri" pitchFamily="34" charset="0"/>
                          <a:ea typeface="Calibri" pitchFamily="34" charset="-122"/>
                          <a:cs typeface="Calibri" pitchFamily="34" charset="-120"/>
                        </a:rPr>
                        <a:t>Saltarse h2, usar h3 directamente</a:t>
                      </a:r>
                      <a:endParaRPr lang="en-US" sz="1300" dirty="0">
                        <a:latin typeface="Calibri" charset="0"/>
                        <a:ea typeface="Calibri" charset="0"/>
                        <a:cs typeface="Calibri"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tc>
                  <a:txBody>
                    <a:bodyPr/>
                    <a:lstStyle/>
                    <a:p>
                      <a:pPr marL="0" indent="0" algn="l">
                        <a:buNone/>
                      </a:pPr>
                      <a:r>
                        <a:rPr lang="en-US" sz="1300" dirty="0">
                          <a:solidFill>
                            <a:srgbClr val="263238"/>
                          </a:solidFill>
                          <a:latin typeface="Consolas" pitchFamily="34" charset="0"/>
                          <a:ea typeface="Consolas" pitchFamily="34" charset="-122"/>
                          <a:cs typeface="Consolas" pitchFamily="34" charset="-120"/>
                        </a:rPr>
                        <a:t>Usar h1 → h2 → h3 en orden</a:t>
                      </a:r>
                      <a:endParaRPr lang="en-US" sz="1300" dirty="0">
                        <a:latin typeface="Consolas" charset="0"/>
                        <a:ea typeface="Consolas" charset="0"/>
                        <a:cs typeface="Consolas" charset="0"/>
                      </a:endParaRPr>
                    </a:p>
                  </a:txBody>
                  <a:tcPr marL="0" marR="63500" marT="38100" marB="0" anchor="ctr">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E8F5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Auditoría de calidad — Lighthouse y WAVE</a:t>
            </a:r>
            <a:endParaRPr lang="en-US" sz="2200" dirty="0"/>
          </a:p>
        </p:txBody>
      </p:sp>
      <p:sp>
        <p:nvSpPr>
          <p:cNvPr id="4" name="Text 2"/>
          <p:cNvSpPr/>
          <p:nvPr/>
        </p:nvSpPr>
        <p:spPr>
          <a:xfrm>
            <a:off x="365760" y="671840"/>
            <a:ext cx="8412480" cy="256032"/>
          </a:xfrm>
          <a:prstGeom prst="rect">
            <a:avLst/>
          </a:prstGeom>
          <a:noFill/>
          <a:ln/>
        </p:spPr>
        <p:txBody>
          <a:bodyPr wrap="square" lIns="0" tIns="0" rIns="0" bIns="0" rtlCol="0" anchor="t"/>
          <a:lstStyle/>
          <a:p>
            <a:pPr marL="0" indent="0">
              <a:buNone/>
            </a:pPr>
            <a:r>
              <a:rPr lang="en-US" dirty="0">
                <a:solidFill>
                  <a:srgbClr val="82B1FF"/>
                </a:solidFill>
                <a:latin typeface="Calibri" pitchFamily="34" charset="0"/>
                <a:ea typeface="Calibri" pitchFamily="34" charset="-122"/>
                <a:cs typeface="Calibri" pitchFamily="34" charset="-120"/>
              </a:rPr>
              <a:t>Objetivo: Lighthouse Accesibilidad ≥ 90 · WAVE 0 errores · W3C 0 errores</a:t>
            </a:r>
            <a:endParaRPr lang="en-US" dirty="0"/>
          </a:p>
        </p:txBody>
      </p:sp>
      <p:sp>
        <p:nvSpPr>
          <p:cNvPr id="5" name="Shape 3"/>
          <p:cNvSpPr/>
          <p:nvPr/>
        </p:nvSpPr>
        <p:spPr>
          <a:xfrm>
            <a:off x="0" y="1051560"/>
            <a:ext cx="201168" cy="4096512"/>
          </a:xfrm>
          <a:prstGeom prst="rect">
            <a:avLst/>
          </a:prstGeom>
          <a:solidFill>
            <a:srgbClr val="2E7D32"/>
          </a:solidFill>
          <a:ln w="12700">
            <a:solidFill>
              <a:srgbClr val="2E7D32"/>
            </a:solidFill>
            <a:prstDash val="solid"/>
          </a:ln>
        </p:spPr>
      </p:sp>
      <p:sp>
        <p:nvSpPr>
          <p:cNvPr id="28" name="Shape 25"/>
          <p:cNvSpPr/>
          <p:nvPr/>
        </p:nvSpPr>
        <p:spPr>
          <a:xfrm>
            <a:off x="865141" y="1629759"/>
            <a:ext cx="7605463" cy="3084008"/>
          </a:xfrm>
          <a:prstGeom prst="rect">
            <a:avLst/>
          </a:prstGeom>
          <a:solidFill>
            <a:srgbClr val="FFF8E1"/>
          </a:solidFill>
          <a:ln w="12700">
            <a:solidFill>
              <a:srgbClr val="F57C00"/>
            </a:solidFill>
            <a:prstDash val="solid"/>
          </a:ln>
        </p:spPr>
      </p:sp>
      <p:sp>
        <p:nvSpPr>
          <p:cNvPr id="29" name="Text 26"/>
          <p:cNvSpPr/>
          <p:nvPr/>
        </p:nvSpPr>
        <p:spPr>
          <a:xfrm>
            <a:off x="945265" y="1684623"/>
            <a:ext cx="7339252" cy="616802"/>
          </a:xfrm>
          <a:prstGeom prst="rect">
            <a:avLst/>
          </a:prstGeom>
          <a:noFill/>
          <a:ln/>
        </p:spPr>
        <p:txBody>
          <a:bodyPr wrap="square" lIns="0" tIns="0" rIns="0" bIns="0" rtlCol="0" anchor="ctr"/>
          <a:lstStyle/>
          <a:p>
            <a:pPr marL="0" indent="0">
              <a:buNone/>
            </a:pPr>
            <a:r>
              <a:rPr lang="en-US" sz="3200" b="1" dirty="0">
                <a:solidFill>
                  <a:srgbClr val="F57C00"/>
                </a:solidFill>
                <a:latin typeface="Calibri" pitchFamily="34" charset="0"/>
                <a:ea typeface="Calibri" pitchFamily="34" charset="-122"/>
                <a:cs typeface="Calibri" pitchFamily="34" charset="-120"/>
              </a:rPr>
              <a:t>✏  Ejercicio final (5 min)</a:t>
            </a:r>
            <a:endParaRPr lang="en-US" sz="3200" dirty="0"/>
          </a:p>
        </p:txBody>
      </p:sp>
      <p:sp>
        <p:nvSpPr>
          <p:cNvPr id="30" name="Text 27"/>
          <p:cNvSpPr/>
          <p:nvPr/>
        </p:nvSpPr>
        <p:spPr>
          <a:xfrm>
            <a:off x="1002958" y="2354636"/>
            <a:ext cx="7339252" cy="2246920"/>
          </a:xfrm>
          <a:prstGeom prst="rect">
            <a:avLst/>
          </a:prstGeom>
          <a:noFill/>
          <a:ln/>
        </p:spPr>
        <p:txBody>
          <a:bodyPr wrap="square" lIns="0" tIns="0" rIns="0" bIns="0" rtlCol="0" anchor="t"/>
          <a:lstStyle/>
          <a:p>
            <a:pPr marL="342900" indent="-342900">
              <a:buSzPct val="100000"/>
              <a:buChar char="•"/>
            </a:pPr>
            <a:r>
              <a:rPr lang="en-US" sz="2400" dirty="0">
                <a:solidFill>
                  <a:srgbClr val="263238"/>
                </a:solidFill>
                <a:latin typeface="Calibri" pitchFamily="34" charset="0"/>
                <a:ea typeface="Calibri" pitchFamily="34" charset="-122"/>
                <a:cs typeface="Calibri" pitchFamily="34" charset="-120"/>
              </a:rPr>
              <a:t>Abrir DevTools (F12) → Lighthouse → Mobile → Analyze. Capturar el score inicial.</a:t>
            </a:r>
            <a:endParaRPr lang="en-US" sz="2400" dirty="0"/>
          </a:p>
          <a:p>
            <a:pPr marL="342900" indent="-342900">
              <a:buSzPct val="100000"/>
              <a:buChar char="•"/>
            </a:pPr>
            <a:r>
              <a:rPr lang="en-US" sz="2400" dirty="0">
                <a:solidFill>
                  <a:srgbClr val="263238"/>
                </a:solidFill>
                <a:latin typeface="Calibri" pitchFamily="34" charset="0"/>
                <a:ea typeface="Calibri" pitchFamily="34" charset="-122"/>
                <a:cs typeface="Calibri" pitchFamily="34" charset="-120"/>
              </a:rPr>
              <a:t>Corregir todos los errores de Accessibility. Volver a analizar. Meta: ≥ 90.</a:t>
            </a:r>
            <a:endParaRPr lang="en-US" sz="2400" dirty="0"/>
          </a:p>
          <a:p>
            <a:pPr marL="342900" indent="-342900">
              <a:buSzPct val="100000"/>
              <a:buChar char="•"/>
            </a:pPr>
            <a:r>
              <a:rPr lang="en-US" sz="2400" dirty="0">
                <a:solidFill>
                  <a:srgbClr val="263238"/>
                </a:solidFill>
                <a:latin typeface="Calibri" pitchFamily="34" charset="0"/>
                <a:ea typeface="Calibri" pitchFamily="34" charset="-122"/>
                <a:cs typeface="Calibri" pitchFamily="34" charset="-120"/>
              </a:rPr>
              <a:t>Instalar extensión WAVE → verificar 0 errores rojos → capturar y guardar en docs/capturas/.</a:t>
            </a:r>
            <a:endParaRPr lang="en-US" sz="2400" dirty="0"/>
          </a:p>
        </p:txBody>
      </p:sp>
    </p:spTree>
    <p:extLst>
      <p:ext uri="{BB962C8B-B14F-4D97-AF65-F5344CB8AC3E}">
        <p14:creationId xmlns:p14="http://schemas.microsoft.com/office/powerpoint/2010/main" val="169108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Resumen de la práctica — ¿Qué debe tener el PFC al final de hoy?</a:t>
            </a:r>
            <a:endParaRPr lang="en-US" sz="1600" dirty="0"/>
          </a:p>
        </p:txBody>
      </p:sp>
      <p:sp>
        <p:nvSpPr>
          <p:cNvPr id="3" name="Shape 1"/>
          <p:cNvSpPr/>
          <p:nvPr/>
        </p:nvSpPr>
        <p:spPr>
          <a:xfrm>
            <a:off x="292608" y="749808"/>
            <a:ext cx="4114800" cy="274320"/>
          </a:xfrm>
          <a:prstGeom prst="rect">
            <a:avLst/>
          </a:prstGeom>
          <a:solidFill>
            <a:srgbClr val="00897B"/>
          </a:solidFill>
          <a:ln w="12700">
            <a:solidFill>
              <a:srgbClr val="00897B"/>
            </a:solidFill>
            <a:prstDash val="solid"/>
          </a:ln>
        </p:spPr>
      </p:sp>
      <p:sp>
        <p:nvSpPr>
          <p:cNvPr id="4" name="Text 2"/>
          <p:cNvSpPr/>
          <p:nvPr/>
        </p:nvSpPr>
        <p:spPr>
          <a:xfrm>
            <a:off x="292608" y="749808"/>
            <a:ext cx="4114800" cy="2743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HTML5</a:t>
            </a:r>
            <a:endParaRPr lang="en-US" dirty="0"/>
          </a:p>
        </p:txBody>
      </p:sp>
      <p:sp>
        <p:nvSpPr>
          <p:cNvPr id="5" name="Text 3"/>
          <p:cNvSpPr/>
          <p:nvPr/>
        </p:nvSpPr>
        <p:spPr>
          <a:xfrm>
            <a:off x="292608" y="1024128"/>
            <a:ext cx="4114800" cy="1783080"/>
          </a:xfrm>
          <a:prstGeom prst="rect">
            <a:avLst/>
          </a:prstGeom>
          <a:noFill/>
          <a:ln/>
        </p:spPr>
        <p:txBody>
          <a:bodyPr wrap="square" lIns="76200" tIns="76200" rIns="76200" bIns="762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index.html con estructura semántica: header, nav, main, article/section, aside, footer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Formulario con ≥ 8 tipos de input: text, email, password, number, date, tel, range, file/select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Todos los inputs con &lt;label for='id'&gt; y aria-describedby apuntando al span de error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Enlace de salto accesible: &lt;a href='#main'&gt;Ir al contenido&lt;/a&gt;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Validador W3C: 0 errores</a:t>
            </a:r>
            <a:endParaRPr lang="en-US" sz="1200" dirty="0"/>
          </a:p>
        </p:txBody>
      </p:sp>
      <p:sp>
        <p:nvSpPr>
          <p:cNvPr id="6" name="Shape 4"/>
          <p:cNvSpPr/>
          <p:nvPr/>
        </p:nvSpPr>
        <p:spPr>
          <a:xfrm>
            <a:off x="4572000" y="749808"/>
            <a:ext cx="4114800" cy="274320"/>
          </a:xfrm>
          <a:prstGeom prst="rect">
            <a:avLst/>
          </a:prstGeom>
          <a:solidFill>
            <a:srgbClr val="F57C00"/>
          </a:solidFill>
          <a:ln w="12700">
            <a:solidFill>
              <a:srgbClr val="F57C00"/>
            </a:solidFill>
            <a:prstDash val="solid"/>
          </a:ln>
        </p:spPr>
      </p:sp>
      <p:sp>
        <p:nvSpPr>
          <p:cNvPr id="7" name="Text 5"/>
          <p:cNvSpPr/>
          <p:nvPr/>
        </p:nvSpPr>
        <p:spPr>
          <a:xfrm>
            <a:off x="4572000" y="749808"/>
            <a:ext cx="4114800" cy="2743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CSS3</a:t>
            </a:r>
            <a:endParaRPr lang="en-US" dirty="0"/>
          </a:p>
        </p:txBody>
      </p:sp>
      <p:sp>
        <p:nvSpPr>
          <p:cNvPr id="8" name="Text 6"/>
          <p:cNvSpPr/>
          <p:nvPr/>
        </p:nvSpPr>
        <p:spPr>
          <a:xfrm>
            <a:off x="4572000" y="1024128"/>
            <a:ext cx="4114800" cy="1764792"/>
          </a:xfrm>
          <a:prstGeom prst="rect">
            <a:avLst/>
          </a:prstGeom>
          <a:noFill/>
          <a:ln/>
        </p:spPr>
        <p:txBody>
          <a:bodyPr wrap="square" lIns="76200" tIns="76200" rIns="76200" bIns="762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variables.css con ≥ 8 custom properties y modo oscuro (prefers-color-scheme + data-tema)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main.css con CSS Grid para el layout general y Flexbox para las tarjetas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Diseño responsive con 2 media queries: tablet (768px) y desktop (1024px)</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Animación @keyframes con prefers-reduced-motion: reduce desactivándola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Validador CSS W3C: 0 errores</a:t>
            </a:r>
            <a:endParaRPr lang="en-US" sz="1200" dirty="0"/>
          </a:p>
        </p:txBody>
      </p:sp>
      <p:sp>
        <p:nvSpPr>
          <p:cNvPr id="9" name="Shape 7"/>
          <p:cNvSpPr/>
          <p:nvPr/>
        </p:nvSpPr>
        <p:spPr>
          <a:xfrm>
            <a:off x="292608" y="2955136"/>
            <a:ext cx="4114800" cy="274320"/>
          </a:xfrm>
          <a:prstGeom prst="rect">
            <a:avLst/>
          </a:prstGeom>
          <a:solidFill>
            <a:srgbClr val="1565C0"/>
          </a:solidFill>
          <a:ln w="12700">
            <a:solidFill>
              <a:srgbClr val="1565C0"/>
            </a:solidFill>
            <a:prstDash val="solid"/>
          </a:ln>
        </p:spPr>
      </p:sp>
      <p:sp>
        <p:nvSpPr>
          <p:cNvPr id="10" name="Text 8"/>
          <p:cNvSpPr/>
          <p:nvPr/>
        </p:nvSpPr>
        <p:spPr>
          <a:xfrm>
            <a:off x="292608" y="2955136"/>
            <a:ext cx="4114800" cy="2743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JavaScript ES6+</a:t>
            </a:r>
            <a:endParaRPr lang="en-US" dirty="0"/>
          </a:p>
        </p:txBody>
      </p:sp>
      <p:sp>
        <p:nvSpPr>
          <p:cNvPr id="11" name="Text 9"/>
          <p:cNvSpPr/>
          <p:nvPr/>
        </p:nvSpPr>
        <p:spPr>
          <a:xfrm>
            <a:off x="292608" y="3229456"/>
            <a:ext cx="4114800" cy="1675691"/>
          </a:xfrm>
          <a:prstGeom prst="rect">
            <a:avLst/>
          </a:prstGeom>
          <a:noFill/>
          <a:ln/>
        </p:spPr>
        <p:txBody>
          <a:bodyPr wrap="square" lIns="76200" tIns="76200" rIns="76200" bIns="762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Mínimo 3 módulos: app.js, modules/api.js, modules/ui.js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api.js: obtenerDatos() con fetch, verificación de response.ok, throw Error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ui.js: renderizarTarjetas(), mostrarCarga(), ocultarCarga(), escapeHTML()</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app.js: DOMContentLoaded, try/catch/finally, toggleTema()</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Sin errores en la consola del navegador (F12)</a:t>
            </a:r>
            <a:endParaRPr lang="en-US" sz="1200" dirty="0"/>
          </a:p>
        </p:txBody>
      </p:sp>
      <p:sp>
        <p:nvSpPr>
          <p:cNvPr id="12" name="Shape 10"/>
          <p:cNvSpPr/>
          <p:nvPr/>
        </p:nvSpPr>
        <p:spPr>
          <a:xfrm>
            <a:off x="4572000" y="2955136"/>
            <a:ext cx="4114800" cy="274320"/>
          </a:xfrm>
          <a:prstGeom prst="rect">
            <a:avLst/>
          </a:prstGeom>
          <a:solidFill>
            <a:srgbClr val="2E7D32"/>
          </a:solidFill>
          <a:ln w="12700">
            <a:solidFill>
              <a:srgbClr val="2E7D32"/>
            </a:solidFill>
            <a:prstDash val="solid"/>
          </a:ln>
        </p:spPr>
      </p:sp>
      <p:sp>
        <p:nvSpPr>
          <p:cNvPr id="13" name="Text 11"/>
          <p:cNvSpPr/>
          <p:nvPr/>
        </p:nvSpPr>
        <p:spPr>
          <a:xfrm>
            <a:off x="4572000" y="2955136"/>
            <a:ext cx="4114800" cy="2743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Auditoría</a:t>
            </a:r>
            <a:endParaRPr lang="en-US" dirty="0"/>
          </a:p>
        </p:txBody>
      </p:sp>
      <p:sp>
        <p:nvSpPr>
          <p:cNvPr id="14" name="Text 12"/>
          <p:cNvSpPr/>
          <p:nvPr/>
        </p:nvSpPr>
        <p:spPr>
          <a:xfrm>
            <a:off x="4572000" y="3229456"/>
            <a:ext cx="4114800" cy="1261872"/>
          </a:xfrm>
          <a:prstGeom prst="rect">
            <a:avLst/>
          </a:prstGeom>
          <a:noFill/>
          <a:ln/>
        </p:spPr>
        <p:txBody>
          <a:bodyPr wrap="square" lIns="76200" tIns="76200" rIns="76200" bIns="7620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Lighthouse Accessibility ≥ 90 (captura en docs/capturas/lighthouse.png)</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WAVE: 0 errores rojos (captura en docs/capturas/wave.png)</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Git: commits de todos los integrantes, tag v1.0-PE-U1</a:t>
            </a:r>
            <a:endParaRPr lang="en-US" sz="1200" dirty="0"/>
          </a:p>
        </p:txBody>
      </p:sp>
      <p:sp>
        <p:nvSpPr>
          <p:cNvPr id="15" name="Text 13"/>
          <p:cNvSpPr/>
          <p:nvPr/>
        </p:nvSpPr>
        <p:spPr>
          <a:xfrm>
            <a:off x="365760" y="4892040"/>
            <a:ext cx="8412480" cy="201168"/>
          </a:xfrm>
          <a:prstGeom prst="rect">
            <a:avLst/>
          </a:prstGeom>
          <a:noFill/>
          <a:ln/>
        </p:spPr>
        <p:txBody>
          <a:bodyPr wrap="square" lIns="0" tIns="0" rIns="0" bIns="0" rtlCol="0" anchor="ctr"/>
          <a:lstStyle/>
          <a:p>
            <a:pPr marL="0" indent="0" algn="ctr">
              <a:buNone/>
            </a:pPr>
            <a:r>
              <a:rPr lang="en-US" sz="1050" dirty="0">
                <a:solidFill>
                  <a:srgbClr val="90A4AE"/>
                </a:solidFill>
                <a:latin typeface="Calibri" pitchFamily="34" charset="0"/>
                <a:ea typeface="Calibri" pitchFamily="34" charset="-122"/>
                <a:cs typeface="Calibri" pitchFamily="34" charset="-120"/>
              </a:rPr>
              <a:t>UTEQ · Ingeniería de Software · Aplicaciones Web · Práctica Experimental Unidad I · 2025-2026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18625</Words>
  <Application>Microsoft Office PowerPoint</Application>
  <PresentationFormat>Presentación en pantalla (16:9)</PresentationFormat>
  <Paragraphs>951</Paragraphs>
  <Slides>28</Slides>
  <Notes>28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 Unidad I: HTML5, CSS3 y JavaScript ES6+</dc:title>
  <dc:subject>PptxGenJS Presentation</dc:subject>
  <dc:creator>UTEQ - Aplicaciones Web</dc:creator>
  <cp:lastModifiedBy>GLEISTON CICERON GUERRERO ULLOA</cp:lastModifiedBy>
  <cp:revision>13</cp:revision>
  <dcterms:created xsi:type="dcterms:W3CDTF">2026-05-15T02:34:03Z</dcterms:created>
  <dcterms:modified xsi:type="dcterms:W3CDTF">2026-05-15T04:31:36Z</dcterms:modified>
</cp:coreProperties>
</file>