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10"/>
  </p:normalViewPr>
  <p:slideViewPr>
    <p:cSldViewPr snapToGrid="0" snapToObjects="1">
      <p:cViewPr varScale="1">
        <p:scale>
          <a:sx n="81" d="100"/>
          <a:sy n="81" d="100"/>
        </p:scale>
        <p:origin x="4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0827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portada. Presente el tema como el capitulo puente de la Unidad III: en semanas previas se implemento el acceso a datos con ORM y cache; ahora se discute como organizar el codigo a mayor escala. Enfatice que el proyecto conductor es BiblioUTEQ y que la Practica Experimental de la Unidad III pide diagramas C4 y ADRs, artefactos que se justifican con lo que veremos hoy.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objetivos cubren los cuatro subtemas del silabo. Recuerde a los estudiantes que la Practica Experimental de la Unidad III exige un diagrama C4 nivel 2 y al menos tres ADRs; esta sesion les da el vocabulario para argumentar cada decision. La cita de Martin sirve para introducir la idea de que la arquitectura no es un diagrama: es el conjunto de decisiones costosas de revertir.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mapa fija expectativas: no vamos a memorizar patrones, vamos a razonar cuando cada uno aplica al PFC. Anticipe que dedicaremos el bloque mas largo a capas (porque es lo que van a implementar) y a microservicios (porque es lo que van a decidir NO usar como monolito modular, siguiendo la recomendacion monolith-first de Fowler).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Enfatice tres cosas: (1) no hay UNA arquitectura, sino varias vistas segun la pregunta que se responde; (2) la arquitectura sirve para RAZONAR, no para decorar entregas; (3) lo arquitectonico es lo dificil de cambiar. Un estudiante que decide 'monolito Java + PostgreSQL' esta tomando una decision arquitectonica; un estudiante que decide 'metodo con for-loop o stream' esta tomando una decision de diseno. La rubrica de la PE U3 evalua explicitamente los ADR (decisiones arquitectonicas versionadas).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el estudiante justifique en un ADR por que separa BookController de BookService, esta aplicando Single Responsibility. Cuando inyecta BookRepository como interfaz y no como clase concreta, esta aplicando Dependency Inversion. Insista: SOLID no es un examen memoristico; es el vocabulario para escribir defensas de decisiones tecnicas.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practico con BiblioUTEQ: si el modulo Prestamos tuviera un metodo para enviar correos de bienvenida, tendria baja cohesion (mezcla dos responsabilidades). Si UsuarioController invocara directamente a JpaTemplate, tendria alto acoplamiento (la UI dependeria de la tecnologia de persistencia). Los patrones que veremos hoy son formas concretas de honrar estos cuatro principios.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ocho atributos deben aparecer en el documento arquitectonico del PFC, cada uno con un escenario concreto (Bass et al. lo llaman 'quality attribute scenarios'). No sirve escribir 'el sistema sera seguro'; hay que decir 'todo endpoint requiere JWT valido, un token expira en 15 min, y las contrasenas se guardan con BCrypt cost=12'. Insista en la frase final: NO existe una arquitectura buena en abstracto; existen arquitecturas buenas para una lista de atributos priorizados.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patron por capas domina la industria: es lo que hay en Spring Boot (Controller -&gt; Service -&gt; Repository), en Laravel, en ASP.NET Core, en Node/Express con Prisma. Insista en la direccion de la dependencia: la Presentacion conoce a Servicios, Servicios conoce a Repositorios, Repositorios conoce a la BD; JAMAS al reves. Cuando el estudiante mete SQL en un Controller, esta rompiendo el patron y perdiendo todo lo que las capas prometen.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estudiante tipico junta todo en el Controller y termina con un metodo de 200 lineas. Este cuadro es la referencia de bolsillo para preguntas de tipo 'donde deberia estar este codigo'. Recuerde el criterio de la rubrica PE U3: no debe haber SQL concatenado en ninguna parte del codigo, y las consultas complejas van en stored procedures o en el catalogo docs/basedatos/CATALOGO-SP.md.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columna de errores es la mas util para el aula: son exactamente los errores que aparecen en las entregas del PFC. Pregunte a los estudiantes cuantas veces han visto (o cometido) cada uno. La solucion no es abandonar el patron, sino disciplinarlo: revisiones de codigo, plantillas de proyecto, y la regla de bolsillo de la diapositiva 9.</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regla de la dependencia es una version fuerte del principio de dependencias unidireccionales. En la practica del PFC significa que la clase Libro (dominio) no importa nada de Spring, ni de Jackson, ni de JPA. Solo tiene atributos y metodos de negocio. Los repositorios JPA implementan una interfaz que el dominio expone. Los estudiantes suelen resistirse porque 'anade clases'; el argumento es que ahorra costo cuando toca migrar (que siempre toca).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hexagono es la evolucion natural de la arquitectura por capas cuando se lleva la regla de la dependencia al limite. Es la arquitectura de referencia en Java empresarial moderno (Spring Boot con MapStruct + JPA), en .NET (Onion Architecture) y en aplicaciones Node/TypeScript con NestJS. Para el PFC lo recomiendo cuando el dominio es complejo (reglas de prestamo con moras, reservas, ejemplares); para dominios triviales sigue siendo aceptable el clasico de 3 capas.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en pizarra rara vez aparece en aplicaciones web CRUD tipicas, pero se cita en tres contextos donde el estudiante puede toparsela: (1) sistemas de IA clasicos y modernos con multiples agentes que comparten memoria, (2) sistemas de vision artificial, (3) motores de reglas complejos. El paper canonico es Erman et al. (1980) sobre HEARSAY-II; el patron fue sistematizado por Buschmann et al. en POSA Vol. 1 (1996). Si en el PFC alguien plantea un modulo de recomendacion con multiples heuristicas, aqui hay un patron aplicable.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patron EDA es la respuesta natural cuando se necesita desacoplar servicios en el tiempo (el productor no espera al consumidor) y en el espacio (el productor no sabe quien consume). Ejemplo en BiblioUTEQ: cuando se registra un prestamo, el Servicio de Prestamos publica el evento 'PrestamoRegistrado' y varios consumidores hacen su parte: enviar email, actualizar la analitica, escribir en el log de auditoria. El productor no cambia si manana se anade un cuarto consumidor.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patron Outbox es una perla practica: resuelve el problema de la doble escritura (si escribo en la BD y luego publico el evento, ambas operaciones no son atomicas). La solucion es escribir el evento en una tabla 'outbox' dentro de la misma transaccion, y tener un proceso que lee la tabla y publica. Kleppmann (2017), capitulo 11, es la lectura obligatoria si el PFC tiene EDA. Insista: EDA es potente pero cara; no la introduzcan en el PFC solo por moda.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P2P vive hoy en tres nichos: blockchain, almacenamiento descentralizado (IPFS) y comunicaciones seguras (Signal, Briar). Para un curso de aplicaciones web empresariales es un patron marginal. Si algun equipo del PFC quiere hacer una dApp o un servicio con IPFS, aqui esta el marco. Para el resto, es cultura general util para reconocer y descartar cuando el patron NO aplica.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sirve como cierre del subtema 3. La ultima fila es la mas util para el PFC: EDA tiene alto potencial cuando aparezcan requisitos de auditoria, notificaciones o analitica; pizarra y P2P casi nunca. En una defensa el estudiante debe poder razonar por que no eligio pizarra o P2P, no solo por que si eligio capas.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 nace en los primeros 2000 en el sector empresarial (banca, seguros, gobierno). Su tecnologia estrella era SOAP + WSDL sobre ESBs comerciales (TIBCO, MuleSoft, IBM Integration Bus). Hoy SOA sigue viva en integraciones B2B legadas, pero el mercado se movio a microservicios para greenfield. Contextualice: si el estudiante entra a la banca ecuatoriana o al SRI, va a ver SOA. Si entra a una startup, no.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Ecuador, muchos sistemas del Estado (SRI, IESS, Banco Central) usan SOA con SOAP/WSDL para servicios B2G. El estudiante debe entender que 'los microservicios reemplazan a SOA' es una simplificacion peligrosa: cada uno resuelve problemas diferentes. Si el PFC integra con un servicio publico externo que expone WSDL, deben saber consumir SOAP (Spring-WS, wsimport, JAX-WS).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palabra clave en Newman es 'autonomo'. Un microservicio que necesita coordinarse constantemente con otros para funcionar NO es un microservicio: es un pedazo de un monolito distribuido con todo lo peor de ambos mundos. Pregunta de examen tipica: 'defina microservicio segun Newman'. Respuesta corta: la cita literal. Respuesta larga: los seis rasgos de esta diapositiva.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Insista: no son lo mismo con nombres distintos. SOA nace para INTEGRAR aplicaciones ya existentes; microservicios nacen para CONSTRUIR una aplicacion nueva de forma modular. La confusion viene porque ambos usan la palabra 'servicio'. Un examen tipico pide dos diferencias: ESB vs. sin ESB, y datos compartidos vs. datos por servicio.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patrones son el vocabulario de defensa de un microservicio. En una entrevista, describa el sistema con estos nombres, no con parrafos. Ejemplo: 'usamos Spring Cloud Gateway como API Gateway con validacion JWT en el filtro, Resilience4j para circuit breakers hacia el servicio de terceros, y saga coreografiada con Kafka para pedidos que atraviesan Pedidos, Inventario y Pagos'. La lista viene de la sistematizacion de Richardson y Newman.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CRITICA del bloque. La moda de microservicios ha causado tantos danos en la industria que Fowler y Newman han tenido que escribir articulos correctivos. Para el PFC de 5to nivel la respuesta es unanime: monolito modular. Los equipos que 'quieran hacer microservicios' deben justificarlo con un ADR explicito que declare como resolveran: transacciones distribuidas, observabilidad, testing integrado, deployment y consistencia.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error clasico es intentar hacer todo sincrono con REST y terminar con cadenas de 5 saltos donde una latencia de 20 ms se convierte en 100 ms. El error opuesto es hacer todo asincrono y perder trazabilidad. La regla practica: consultas rapidas y directas -&gt; sincrono; efectos secundarios (email, log, notificacion) -&gt; asincrono; transacciones distribuidas -&gt; saga con eventos y compensacion.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matriz es la chuleta que deben llevarse. En una defensa, cuando pregunten '¿por que capas y no microservicios?', la respuesta esta en la primera fila. Cuando pregunten '¿por que no P2P?', la respuesta esta en la ultima: el PFC no es un sistema descentralizado sin autoridad central; hay una universidad, un usuario admin, un modelo cliente-servidor claro.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C4 es la lingua franca de la documentacion arquitectonica en 2026. Antes se dibujaban 'cajas y flechas' sin semantica; el C4 formaliza cuatro niveles de zoom con notacion consistente. Structurizr DSL permite escribir la arquitectura como codigo y generar los cuatro diagramas automaticamente. En la rubrica PE U3 el bloque D (Documentacion) pide diagramas C4 niveles 1, 2 y 3.</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formato ADR es una convencion, no un estandar formal. Nygard lo propuso en 2011 y hoy es la norma en empresas modernas. La virtud del ADR no es su formato sino su disciplina: cada decision arquitectonica queda escrita, con contexto y consecuencias. Los ADR sustituyen el conocimiento tribal que se pierde cuando alguien renuncia.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lo que los estudiantes esperan como cierre: no teoria abstracta, sino la aplicacion concreta a lo que estan construyendo. Cada equipo puede tomar esta tabla como plantilla y adaptarla; lo que no puede es escribir 'usamos microservicios porque es moderno'. La ultima linea recuerda que la teoria de la clase se traduce en artefactos de la rubrica de la PE U3.</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checklist condensa la rubrica PE U3 en decisiones concretas. Antes de subir la entrega, cada equipo debe recorrer la columna derecha; cada casilla marcada es un punto asegurado. La columna izquierda es la lista de dolores de cabeza tipicos en revisiones anteriores. Si el estudiante los evita, el trabajo del docente en la evaluacion se reduce a validar evidencia.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las referencias existen fisicamente, con DOI o ISBN verificable. Ninguna es una invencion o un compuesto. Bass/Clements/Kazman 4a edicion salio en 2021 con Addison-Wesley (ISBN 978-0136886099). Newman 2a edicion salio en 2021 con O'Reilly (ISBN 978-1492034025). El paper de Erman/Hayes-Roth es el articulo canonico de HEARSAY-II citado en toda la literatura de blackboard. Buschmann et al. POSA Vol. 1 es donde el patron blackboard aparece formalizado.</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la que los estudiantes deberian fotografiar y llevarse. Repase columna por columna en menos de un minuto. La frase de cierre resume la disciplina del capitulo: no importa que patron elijan, importa que puedan defender la eleccion con datos, escenarios de calidad, y trade-offs conscientes.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Espacio para preguntas. Sugerencias de discusion abierta: (1) ¿Por que su equipo NO va a hacer microservicios? Cada equipo debe poder responder esto. (2) ¿Que atributo de calidad ISO 25010 es el mas critico para BiblioUTEQ y por que? (3) Si tuvieran que elegir UN ADR para escribir hoy sobre el PFC, ¿cual seria? Cerrar con la fecha limite de la PE U3 y el tag Git esperado en la entrega.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6633"/>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UNIVERSIDAD TECNICA ESTATAL DE QUEVEDO</a:t>
            </a:r>
            <a:endParaRPr lang="en-US" sz="1200" dirty="0"/>
          </a:p>
        </p:txBody>
      </p:sp>
      <p:sp>
        <p:nvSpPr>
          <p:cNvPr id="3" name="Text 1"/>
          <p:cNvSpPr/>
          <p:nvPr/>
        </p:nvSpPr>
        <p:spPr>
          <a:xfrm>
            <a:off x="548640" y="777240"/>
            <a:ext cx="10972800" cy="274320"/>
          </a:xfrm>
          <a:prstGeom prst="rect">
            <a:avLst/>
          </a:prstGeom>
          <a:noFill/>
          <a:ln/>
        </p:spPr>
        <p:txBody>
          <a:bodyPr wrap="square" rtlCol="0" anchor="ctr"/>
          <a:lstStyle/>
          <a:p>
            <a:pPr marL="0" indent="0">
              <a:buNone/>
            </a:pPr>
            <a:r>
              <a:rPr lang="en-US" sz="1100" dirty="0">
                <a:solidFill>
                  <a:srgbClr val="C8E6D2"/>
                </a:solidFill>
                <a:latin typeface="Calibri" pitchFamily="34" charset="0"/>
                <a:ea typeface="Calibri" pitchFamily="34" charset="-122"/>
                <a:cs typeface="Calibri" pitchFamily="34" charset="-120"/>
              </a:rPr>
              <a:t>Facultad de Ciencias de la Computacion y Diseno Digital  |  Ingenieria de Software  |  PPA 2026-2027</a:t>
            </a:r>
            <a:endParaRPr lang="en-US" sz="1100" dirty="0"/>
          </a:p>
        </p:txBody>
      </p:sp>
      <p:sp>
        <p:nvSpPr>
          <p:cNvPr id="4" name="Shape 2"/>
          <p:cNvSpPr/>
          <p:nvPr/>
        </p:nvSpPr>
        <p:spPr>
          <a:xfrm>
            <a:off x="8778240" y="1463040"/>
            <a:ext cx="5029200" cy="5029200"/>
          </a:xfrm>
          <a:prstGeom prst="ellipse">
            <a:avLst/>
          </a:prstGeom>
          <a:solidFill>
            <a:srgbClr val="CC9900">
              <a:alpha val="85000"/>
            </a:srgbClr>
          </a:solidFill>
          <a:ln w="12700">
            <a:solidFill>
              <a:srgbClr val="CC9900"/>
            </a:solidFill>
            <a:prstDash val="solid"/>
          </a:ln>
        </p:spPr>
      </p:sp>
      <p:sp>
        <p:nvSpPr>
          <p:cNvPr id="5" name="Shape 3"/>
          <p:cNvSpPr/>
          <p:nvPr/>
        </p:nvSpPr>
        <p:spPr>
          <a:xfrm>
            <a:off x="9509760" y="2103120"/>
            <a:ext cx="3657600" cy="3657600"/>
          </a:xfrm>
          <a:prstGeom prst="ellipse">
            <a:avLst/>
          </a:prstGeom>
          <a:solidFill>
            <a:srgbClr val="006633"/>
          </a:solidFill>
          <a:ln w="38100">
            <a:solidFill>
              <a:srgbClr val="CC9900"/>
            </a:solidFill>
            <a:prstDash val="solid"/>
          </a:ln>
        </p:spPr>
      </p:sp>
      <p:sp>
        <p:nvSpPr>
          <p:cNvPr id="6" name="Text 4"/>
          <p:cNvSpPr/>
          <p:nvPr/>
        </p:nvSpPr>
        <p:spPr>
          <a:xfrm>
            <a:off x="9509760" y="3108960"/>
            <a:ext cx="3657600" cy="1645920"/>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UNIDAD III</a:t>
            </a:r>
            <a:endParaRPr lang="en-US" sz="2400" dirty="0"/>
          </a:p>
          <a:p>
            <a:pPr marL="0" indent="0" algn="ctr">
              <a:buNone/>
            </a:pPr>
            <a:r>
              <a:rPr lang="en-US" sz="2400" b="1" dirty="0">
                <a:solidFill>
                  <a:srgbClr val="FFFFFF"/>
                </a:solidFill>
                <a:latin typeface="Cambria" pitchFamily="34" charset="0"/>
                <a:ea typeface="Cambria" pitchFamily="34" charset="-122"/>
                <a:cs typeface="Cambria" pitchFamily="34" charset="-120"/>
              </a:rPr>
              <a:t>TEMA 3</a:t>
            </a:r>
            <a:endParaRPr lang="en-US" sz="2400" dirty="0"/>
          </a:p>
        </p:txBody>
      </p:sp>
      <p:sp>
        <p:nvSpPr>
          <p:cNvPr id="7" name="Text 5"/>
          <p:cNvSpPr/>
          <p:nvPr/>
        </p:nvSpPr>
        <p:spPr>
          <a:xfrm>
            <a:off x="548640" y="1920240"/>
            <a:ext cx="8686800" cy="86868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Patrones de arquitectura</a:t>
            </a:r>
            <a:endParaRPr lang="en-US" sz="4600" dirty="0"/>
          </a:p>
        </p:txBody>
      </p:sp>
      <p:sp>
        <p:nvSpPr>
          <p:cNvPr id="8" name="Text 6"/>
          <p:cNvSpPr/>
          <p:nvPr/>
        </p:nvSpPr>
        <p:spPr>
          <a:xfrm>
            <a:off x="548640" y="2743200"/>
            <a:ext cx="8686800" cy="777240"/>
          </a:xfrm>
          <a:prstGeom prst="rect">
            <a:avLst/>
          </a:prstGeom>
          <a:noFill/>
          <a:ln/>
        </p:spPr>
        <p:txBody>
          <a:bodyPr wrap="square" rtlCol="0" anchor="ctr"/>
          <a:lstStyle/>
          <a:p>
            <a:pPr marL="0" indent="0">
              <a:buNone/>
            </a:pPr>
            <a:r>
              <a:rPr lang="en-US" sz="4000" b="1" dirty="0">
                <a:solidFill>
                  <a:srgbClr val="E6B833"/>
                </a:solidFill>
                <a:latin typeface="Cambria" pitchFamily="34" charset="0"/>
                <a:ea typeface="Cambria" pitchFamily="34" charset="-122"/>
                <a:cs typeface="Cambria" pitchFamily="34" charset="-120"/>
              </a:rPr>
              <a:t>para aplicaciones web</a:t>
            </a:r>
            <a:endParaRPr lang="en-US" sz="4000" dirty="0"/>
          </a:p>
        </p:txBody>
      </p:sp>
      <p:sp>
        <p:nvSpPr>
          <p:cNvPr id="9" name="Text 7"/>
          <p:cNvSpPr/>
          <p:nvPr/>
        </p:nvSpPr>
        <p:spPr>
          <a:xfrm>
            <a:off x="548640" y="3703320"/>
            <a:ext cx="8686800" cy="365760"/>
          </a:xfrm>
          <a:prstGeom prst="rect">
            <a:avLst/>
          </a:prstGeom>
          <a:noFill/>
          <a:ln/>
        </p:spPr>
        <p:txBody>
          <a:bodyPr wrap="square" rtlCol="0" anchor="ctr"/>
          <a:lstStyle/>
          <a:p>
            <a:pPr marL="0" indent="0">
              <a:buNone/>
            </a:pPr>
            <a:r>
              <a:rPr lang="en-US" sz="1600" i="1" dirty="0">
                <a:solidFill>
                  <a:srgbClr val="C8E6D2"/>
                </a:solidFill>
                <a:latin typeface="Calibri" pitchFamily="34" charset="0"/>
                <a:ea typeface="Calibri" pitchFamily="34" charset="-122"/>
                <a:cs typeface="Calibri" pitchFamily="34" charset="-120"/>
              </a:rPr>
              <a:t>Principios SOLID -- capas -- pizarra -- EDA -- P2P -- SOA -- microservicios</a:t>
            </a:r>
            <a:endParaRPr lang="en-US" sz="1600" dirty="0"/>
          </a:p>
        </p:txBody>
      </p:sp>
      <p:sp>
        <p:nvSpPr>
          <p:cNvPr id="10" name="Shape 8"/>
          <p:cNvSpPr/>
          <p:nvPr/>
        </p:nvSpPr>
        <p:spPr>
          <a:xfrm>
            <a:off x="548640" y="4663440"/>
            <a:ext cx="7955280" cy="1554480"/>
          </a:xfrm>
          <a:prstGeom prst="roundRect">
            <a:avLst>
              <a:gd name="adj" fmla="val 5882"/>
            </a:avLst>
          </a:prstGeom>
          <a:solidFill>
            <a:srgbClr val="1B7A48"/>
          </a:solidFill>
          <a:ln w="12700">
            <a:solidFill>
              <a:srgbClr val="CC9900"/>
            </a:solidFill>
            <a:prstDash val="solid"/>
          </a:ln>
        </p:spPr>
      </p:sp>
      <p:sp>
        <p:nvSpPr>
          <p:cNvPr id="11" name="Text 9"/>
          <p:cNvSpPr/>
          <p:nvPr/>
        </p:nvSpPr>
        <p:spPr>
          <a:xfrm>
            <a:off x="731520" y="4754880"/>
            <a:ext cx="7589520" cy="1417320"/>
          </a:xfrm>
          <a:prstGeom prst="rect">
            <a:avLst/>
          </a:prstGeom>
          <a:noFill/>
          <a:ln/>
        </p:spPr>
        <p:txBody>
          <a:bodyPr wrap="square" lIns="0" tIns="0" rIns="0" bIns="0" rtlCol="0" anchor="t"/>
          <a:lstStyle/>
          <a:p>
            <a:pPr marL="0" indent="0">
              <a:buNone/>
            </a:pPr>
            <a:r>
              <a:rPr lang="en-US" sz="1200" b="1" dirty="0">
                <a:solidFill>
                  <a:srgbClr val="E6B833"/>
                </a:solidFill>
                <a:latin typeface="Calibri" pitchFamily="34" charset="0"/>
                <a:ea typeface="Calibri" pitchFamily="34" charset="-122"/>
                <a:cs typeface="Calibri" pitchFamily="34" charset="-120"/>
              </a:rPr>
              <a:t>Docente:  </a:t>
            </a:r>
            <a:r>
              <a:rPr lang="en-US" sz="1200" dirty="0">
                <a:solidFill>
                  <a:srgbClr val="FFFFFF"/>
                </a:solidFill>
                <a:latin typeface="Calibri" pitchFamily="34" charset="0"/>
                <a:ea typeface="Calibri" pitchFamily="34" charset="-122"/>
                <a:cs typeface="Calibri" pitchFamily="34" charset="-120"/>
              </a:rPr>
              <a:t>Dr. Gleiston Ciceron Guerrero Ulloa, Ph.D.</a:t>
            </a:r>
            <a:endParaRPr lang="en-US" sz="1200" dirty="0"/>
          </a:p>
          <a:p>
            <a:pPr marL="0" indent="0">
              <a:buNone/>
            </a:pPr>
            <a:r>
              <a:rPr lang="en-US" sz="1200" b="1" dirty="0">
                <a:solidFill>
                  <a:srgbClr val="E6B833"/>
                </a:solidFill>
                <a:latin typeface="Calibri" pitchFamily="34" charset="0"/>
                <a:ea typeface="Calibri" pitchFamily="34" charset="-122"/>
                <a:cs typeface="Calibri" pitchFamily="34" charset="-120"/>
              </a:rPr>
              <a:t>Asignatura:  </a:t>
            </a:r>
            <a:r>
              <a:rPr lang="en-US" sz="1200" dirty="0">
                <a:solidFill>
                  <a:srgbClr val="FFFFFF"/>
                </a:solidFill>
                <a:latin typeface="Calibri" pitchFamily="34" charset="0"/>
                <a:ea typeface="Calibri" pitchFamily="34" charset="-122"/>
                <a:cs typeface="Calibri" pitchFamily="34" charset="-120"/>
              </a:rPr>
              <a:t>Aplicaciones Web (5to nivel)  |  Unidad III -- Acceso a Datos y Patrones Arquitecturales</a:t>
            </a:r>
            <a:endParaRPr lang="en-US" sz="1200" dirty="0"/>
          </a:p>
          <a:p>
            <a:pPr marL="0" indent="0">
              <a:buNone/>
            </a:pPr>
            <a:r>
              <a:rPr lang="en-US" sz="1200" b="1" dirty="0">
                <a:solidFill>
                  <a:srgbClr val="E6B833"/>
                </a:solidFill>
                <a:latin typeface="Calibri" pitchFamily="34" charset="0"/>
                <a:ea typeface="Calibri" pitchFamily="34" charset="-122"/>
                <a:cs typeface="Calibri" pitchFamily="34" charset="-120"/>
              </a:rPr>
              <a:t>Proyecto conductor:  </a:t>
            </a:r>
            <a:r>
              <a:rPr lang="en-US" sz="1200" dirty="0">
                <a:solidFill>
                  <a:srgbClr val="FFFFFF"/>
                </a:solidFill>
                <a:latin typeface="Calibri" pitchFamily="34" charset="0"/>
                <a:ea typeface="Calibri" pitchFamily="34" charset="-122"/>
                <a:cs typeface="Calibri" pitchFamily="34" charset="-120"/>
              </a:rPr>
              <a:t>BiblioUTEQ -- Sistema de gestion de biblioteca universitaria</a:t>
            </a:r>
            <a:endParaRPr lang="en-US" sz="1200" dirty="0"/>
          </a:p>
          <a:p>
            <a:pPr marL="0" indent="0">
              <a:buNone/>
            </a:pPr>
            <a:r>
              <a:rPr lang="en-US" sz="1200" b="1" dirty="0">
                <a:solidFill>
                  <a:srgbClr val="E6B833"/>
                </a:solidFill>
                <a:latin typeface="Calibri" pitchFamily="34" charset="0"/>
                <a:ea typeface="Calibri" pitchFamily="34" charset="-122"/>
                <a:cs typeface="Calibri" pitchFamily="34" charset="-120"/>
              </a:rPr>
              <a:t>Referencias:  </a:t>
            </a:r>
            <a:r>
              <a:rPr lang="en-US" sz="1200" dirty="0">
                <a:solidFill>
                  <a:srgbClr val="FFFFFF"/>
                </a:solidFill>
                <a:latin typeface="Calibri" pitchFamily="34" charset="0"/>
                <a:ea typeface="Calibri" pitchFamily="34" charset="-122"/>
                <a:cs typeface="Calibri" pitchFamily="34" charset="-120"/>
              </a:rPr>
              <a:t>Bass 2021 -- Newman 2021 -- Richards 2020 -- Kleppmann 2017 -- Buschmann 1996 -- Brown 2023</a:t>
            </a:r>
            <a:endParaRPr lang="en-US" sz="1200" dirty="0"/>
          </a:p>
        </p:txBody>
      </p:sp>
      <p:sp>
        <p:nvSpPr>
          <p:cNvPr id="12" name="Text 10"/>
          <p:cNvSpPr/>
          <p:nvPr/>
        </p:nvSpPr>
        <p:spPr>
          <a:xfrm>
            <a:off x="548640" y="6355080"/>
            <a:ext cx="10972800" cy="320040"/>
          </a:xfrm>
          <a:prstGeom prst="rect">
            <a:avLst/>
          </a:prstGeom>
          <a:noFill/>
          <a:ln/>
        </p:spPr>
        <p:txBody>
          <a:bodyPr wrap="square" rtlCol="0" anchor="ctr"/>
          <a:lstStyle/>
          <a:p>
            <a:pPr marL="0" indent="0">
              <a:buNone/>
            </a:pPr>
            <a:r>
              <a:rPr lang="en-US" sz="1000" i="1" dirty="0">
                <a:solidFill>
                  <a:srgbClr val="C8E6D2"/>
                </a:solidFill>
                <a:latin typeface="Calibri" pitchFamily="34" charset="0"/>
                <a:ea typeface="Calibri" pitchFamily="34" charset="-122"/>
                <a:cs typeface="Calibri" pitchFamily="34" charset="-120"/>
              </a:rPr>
              <a:t>Quevedo -- Los Rios -- Ecuador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INTRODUCCION</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Objetivos de aprendizaje</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Text 3"/>
          <p:cNvSpPr/>
          <p:nvPr/>
        </p:nvSpPr>
        <p:spPr>
          <a:xfrm>
            <a:off x="640080" y="1691640"/>
            <a:ext cx="11064240" cy="4480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F3F3F"/>
                </a:solidFill>
                <a:latin typeface="Calibri" pitchFamily="34" charset="0"/>
                <a:ea typeface="Calibri" pitchFamily="34" charset="-122"/>
                <a:cs typeface="Calibri" pitchFamily="34" charset="-120"/>
              </a:rPr>
              <a:t>Explicar los principios fundacionales de la arquitectura de software: separacion de intereses, cohesion, acoplamiento y dependencias unidireccionales.</a:t>
            </a:r>
            <a:endParaRPr lang="en-US" sz="1500" dirty="0"/>
          </a:p>
          <a:p>
            <a:pPr marL="342900" indent="-342900">
              <a:spcAft>
                <a:spcPts val="800"/>
              </a:spcAft>
              <a:buSzPct val="100000"/>
              <a:buChar char="■"/>
            </a:pPr>
            <a:r>
              <a:rPr lang="en-US" sz="1500" dirty="0">
                <a:solidFill>
                  <a:srgbClr val="3F3F3F"/>
                </a:solidFill>
                <a:latin typeface="Calibri" pitchFamily="34" charset="0"/>
                <a:ea typeface="Calibri" pitchFamily="34" charset="-122"/>
                <a:cs typeface="Calibri" pitchFamily="34" charset="-120"/>
              </a:rPr>
              <a:t>Reconocer los atributos de calidad de la norma ISO/IEC 25010 y los trade-offs que impone toda decision arquitectonica.</a:t>
            </a:r>
            <a:endParaRPr lang="en-US" sz="1500" dirty="0"/>
          </a:p>
          <a:p>
            <a:pPr marL="342900" indent="-342900">
              <a:spcAft>
                <a:spcPts val="800"/>
              </a:spcAft>
              <a:buSzPct val="100000"/>
              <a:buChar char="■"/>
            </a:pPr>
            <a:r>
              <a:rPr lang="en-US" sz="1500" dirty="0">
                <a:solidFill>
                  <a:srgbClr val="3F3F3F"/>
                </a:solidFill>
                <a:latin typeface="Calibri" pitchFamily="34" charset="0"/>
                <a:ea typeface="Calibri" pitchFamily="34" charset="-122"/>
                <a:cs typeface="Calibri" pitchFamily="34" charset="-120"/>
              </a:rPr>
              <a:t>Aplicar la arquitectura por capas (3-4 capas) y su variante hexagonal (ports and adapters) a una aplicacion web empresarial.</a:t>
            </a:r>
            <a:endParaRPr lang="en-US" sz="1500" dirty="0"/>
          </a:p>
          <a:p>
            <a:pPr marL="342900" indent="-342900">
              <a:spcAft>
                <a:spcPts val="800"/>
              </a:spcAft>
              <a:buSzPct val="100000"/>
              <a:buChar char="■"/>
            </a:pPr>
            <a:r>
              <a:rPr lang="en-US" sz="1500" dirty="0">
                <a:solidFill>
                  <a:srgbClr val="3F3F3F"/>
                </a:solidFill>
                <a:latin typeface="Calibri" pitchFamily="34" charset="0"/>
                <a:ea typeface="Calibri" pitchFamily="34" charset="-122"/>
                <a:cs typeface="Calibri" pitchFamily="34" charset="-120"/>
              </a:rPr>
              <a:t>Distinguir las arquitecturas en pizarra, dirigida por eventos (EDA) y peer-to-peer (P2P), identificando cuando cada una aporta valor.</a:t>
            </a:r>
            <a:endParaRPr lang="en-US" sz="1500" dirty="0"/>
          </a:p>
          <a:p>
            <a:pPr marL="342900" indent="-342900">
              <a:spcAft>
                <a:spcPts val="800"/>
              </a:spcAft>
              <a:buSzPct val="100000"/>
              <a:buChar char="■"/>
            </a:pPr>
            <a:r>
              <a:rPr lang="en-US" sz="1500" dirty="0">
                <a:solidFill>
                  <a:srgbClr val="3F3F3F"/>
                </a:solidFill>
                <a:latin typeface="Calibri" pitchFamily="34" charset="0"/>
                <a:ea typeface="Calibri" pitchFamily="34" charset="-122"/>
                <a:cs typeface="Calibri" pitchFamily="34" charset="-120"/>
              </a:rPr>
              <a:t>Comparar SOA y microservicios, y elegir con criterio cuando (y cuando no) descomponer un sistema en servicios.</a:t>
            </a:r>
            <a:endParaRPr lang="en-US" sz="1500" dirty="0"/>
          </a:p>
          <a:p>
            <a:pPr marL="342900" indent="-342900">
              <a:spcAft>
                <a:spcPts val="800"/>
              </a:spcAft>
              <a:buSzPct val="100000"/>
              <a:buChar char="■"/>
            </a:pPr>
            <a:r>
              <a:rPr lang="en-US" sz="1500" dirty="0">
                <a:solidFill>
                  <a:srgbClr val="3F3F3F"/>
                </a:solidFill>
                <a:latin typeface="Calibri" pitchFamily="34" charset="0"/>
                <a:ea typeface="Calibri" pitchFamily="34" charset="-122"/>
                <a:cs typeface="Calibri" pitchFamily="34" charset="-120"/>
              </a:rPr>
              <a:t>Documentar las decisiones arquitectonicas del PFC con el modelo C4 de Simon Brown y con ADRs (Architectural Decision Records).</a:t>
            </a:r>
            <a:endParaRPr lang="en-US" sz="1500" dirty="0"/>
          </a:p>
        </p:txBody>
      </p:sp>
      <p:sp>
        <p:nvSpPr>
          <p:cNvPr id="6" name="Shape 4"/>
          <p:cNvSpPr/>
          <p:nvPr/>
        </p:nvSpPr>
        <p:spPr>
          <a:xfrm>
            <a:off x="640080" y="5532120"/>
            <a:ext cx="10972800" cy="777240"/>
          </a:xfrm>
          <a:prstGeom prst="roundRect">
            <a:avLst>
              <a:gd name="adj" fmla="val 9412"/>
            </a:avLst>
          </a:prstGeom>
          <a:solidFill>
            <a:srgbClr val="E6F0EA"/>
          </a:solidFill>
          <a:ln w="9525">
            <a:solidFill>
              <a:srgbClr val="006633"/>
            </a:solidFill>
            <a:prstDash val="solid"/>
          </a:ln>
        </p:spPr>
      </p:sp>
      <p:sp>
        <p:nvSpPr>
          <p:cNvPr id="7" name="Text 5"/>
          <p:cNvSpPr/>
          <p:nvPr/>
        </p:nvSpPr>
        <p:spPr>
          <a:xfrm>
            <a:off x="822960" y="5623560"/>
            <a:ext cx="10698480" cy="594360"/>
          </a:xfrm>
          <a:prstGeom prst="rect">
            <a:avLst/>
          </a:prstGeom>
          <a:noFill/>
          <a:ln/>
        </p:spPr>
        <p:txBody>
          <a:bodyPr wrap="square" lIns="0" tIns="0" rIns="0" bIns="0" rtlCol="0" anchor="ctr"/>
          <a:lstStyle/>
          <a:p>
            <a:pPr marL="0" indent="0">
              <a:buNone/>
            </a:pPr>
            <a:r>
              <a:rPr lang="en-US" sz="1300" b="1" i="1" dirty="0">
                <a:solidFill>
                  <a:srgbClr val="006633"/>
                </a:solidFill>
                <a:latin typeface="Calibri" pitchFamily="34" charset="0"/>
                <a:ea typeface="Calibri" pitchFamily="34" charset="-122"/>
                <a:cs typeface="Calibri" pitchFamily="34" charset="-120"/>
              </a:rPr>
              <a:t>«La arquitectura es el conjunto de decisiones que son dificiles de cambiar»</a:t>
            </a:r>
            <a:r>
              <a:rPr lang="en-US" sz="1300" dirty="0">
                <a:solidFill>
                  <a:srgbClr val="3F3F3F"/>
                </a:solidFill>
                <a:latin typeface="Calibri" pitchFamily="34" charset="0"/>
                <a:ea typeface="Calibri" pitchFamily="34" charset="-122"/>
                <a:cs typeface="Calibri" pitchFamily="34" charset="-120"/>
              </a:rPr>
              <a:t>  --  atribuido a Robert C. Martin, sistematizado por Bass, Clements y Kazman (2021).</a:t>
            </a:r>
            <a:endParaRPr lang="en-US" sz="1300" dirty="0"/>
          </a:p>
        </p:txBody>
      </p:sp>
      <p:sp>
        <p:nvSpPr>
          <p:cNvPr id="8" name="Text 6"/>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9" name="Text 7"/>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-- 2 / 32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INTRODUCCION</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Mapa del tema: cuatro subtemas</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Shape 3"/>
          <p:cNvSpPr/>
          <p:nvPr/>
        </p:nvSpPr>
        <p:spPr>
          <a:xfrm>
            <a:off x="640080" y="1783080"/>
            <a:ext cx="914400" cy="914400"/>
          </a:xfrm>
          <a:prstGeom prst="ellipse">
            <a:avLst/>
          </a:prstGeom>
          <a:solidFill>
            <a:srgbClr val="006633"/>
          </a:solidFill>
          <a:ln w="12700">
            <a:solidFill>
              <a:srgbClr val="006633"/>
            </a:solidFill>
            <a:prstDash val="solid"/>
          </a:ln>
        </p:spPr>
      </p:sp>
      <p:sp>
        <p:nvSpPr>
          <p:cNvPr id="6" name="Text 4"/>
          <p:cNvSpPr/>
          <p:nvPr/>
        </p:nvSpPr>
        <p:spPr>
          <a:xfrm>
            <a:off x="640080" y="1783080"/>
            <a:ext cx="9144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7" name="Text 5"/>
          <p:cNvSpPr/>
          <p:nvPr/>
        </p:nvSpPr>
        <p:spPr>
          <a:xfrm>
            <a:off x="1828800" y="1801368"/>
            <a:ext cx="9784080" cy="411480"/>
          </a:xfrm>
          <a:prstGeom prst="rect">
            <a:avLst/>
          </a:prstGeom>
          <a:noFill/>
          <a:ln/>
        </p:spPr>
        <p:txBody>
          <a:bodyPr wrap="square" lIns="0" tIns="0" rIns="0" bIns="0" rtlCol="0" anchor="ctr"/>
          <a:lstStyle/>
          <a:p>
            <a:pPr marL="0" indent="0">
              <a:buNone/>
            </a:pPr>
            <a:r>
              <a:rPr lang="en-US" sz="1800" b="1" dirty="0">
                <a:solidFill>
                  <a:srgbClr val="1A1A1A"/>
                </a:solidFill>
                <a:latin typeface="Cambria" pitchFamily="34" charset="0"/>
                <a:ea typeface="Cambria" pitchFamily="34" charset="-122"/>
                <a:cs typeface="Cambria" pitchFamily="34" charset="-120"/>
              </a:rPr>
              <a:t>Principios de arquitectura de software</a:t>
            </a:r>
            <a:endParaRPr lang="en-US" sz="1800" dirty="0"/>
          </a:p>
        </p:txBody>
      </p:sp>
      <p:sp>
        <p:nvSpPr>
          <p:cNvPr id="8" name="Text 6"/>
          <p:cNvSpPr/>
          <p:nvPr/>
        </p:nvSpPr>
        <p:spPr>
          <a:xfrm>
            <a:off x="1828800" y="2240280"/>
            <a:ext cx="9784080" cy="548640"/>
          </a:xfrm>
          <a:prstGeom prst="rect">
            <a:avLst/>
          </a:prstGeom>
          <a:noFill/>
          <a:ln/>
        </p:spPr>
        <p:txBody>
          <a:bodyPr wrap="square" lIns="0" tIns="0" rIns="0" bIns="0" rtlCol="0" anchor="ctr"/>
          <a:lstStyle/>
          <a:p>
            <a:pPr marL="0" indent="0">
              <a:buNone/>
            </a:pPr>
            <a:r>
              <a:rPr lang="en-US" sz="1300" dirty="0">
                <a:solidFill>
                  <a:srgbClr val="3F3F3F"/>
                </a:solidFill>
                <a:latin typeface="Calibri" pitchFamily="34" charset="0"/>
                <a:ea typeface="Calibri" pitchFamily="34" charset="-122"/>
                <a:cs typeface="Calibri" pitchFamily="34" charset="-120"/>
              </a:rPr>
              <a:t>Definicion, SOLID aplicado a arquitectura, cohesion, acoplamiento, atributos de calidad ISO/IEC 25010.</a:t>
            </a:r>
            <a:endParaRPr lang="en-US" sz="1300" dirty="0"/>
          </a:p>
        </p:txBody>
      </p:sp>
      <p:sp>
        <p:nvSpPr>
          <p:cNvPr id="9" name="Shape 7"/>
          <p:cNvSpPr/>
          <p:nvPr/>
        </p:nvSpPr>
        <p:spPr>
          <a:xfrm>
            <a:off x="640080" y="2971800"/>
            <a:ext cx="914400" cy="914400"/>
          </a:xfrm>
          <a:prstGeom prst="ellipse">
            <a:avLst/>
          </a:prstGeom>
          <a:solidFill>
            <a:srgbClr val="006633"/>
          </a:solidFill>
          <a:ln w="12700">
            <a:solidFill>
              <a:srgbClr val="006633"/>
            </a:solidFill>
            <a:prstDash val="solid"/>
          </a:ln>
        </p:spPr>
      </p:sp>
      <p:sp>
        <p:nvSpPr>
          <p:cNvPr id="10" name="Text 8"/>
          <p:cNvSpPr/>
          <p:nvPr/>
        </p:nvSpPr>
        <p:spPr>
          <a:xfrm>
            <a:off x="640080" y="2971800"/>
            <a:ext cx="9144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11" name="Text 9"/>
          <p:cNvSpPr/>
          <p:nvPr/>
        </p:nvSpPr>
        <p:spPr>
          <a:xfrm>
            <a:off x="1828800" y="2990088"/>
            <a:ext cx="9784080" cy="411480"/>
          </a:xfrm>
          <a:prstGeom prst="rect">
            <a:avLst/>
          </a:prstGeom>
          <a:noFill/>
          <a:ln/>
        </p:spPr>
        <p:txBody>
          <a:bodyPr wrap="square" lIns="0" tIns="0" rIns="0" bIns="0" rtlCol="0" anchor="ctr"/>
          <a:lstStyle/>
          <a:p>
            <a:pPr marL="0" indent="0">
              <a:buNone/>
            </a:pPr>
            <a:r>
              <a:rPr lang="en-US" sz="1800" b="1" dirty="0">
                <a:solidFill>
                  <a:srgbClr val="1A1A1A"/>
                </a:solidFill>
                <a:latin typeface="Cambria" pitchFamily="34" charset="0"/>
                <a:ea typeface="Cambria" pitchFamily="34" charset="-122"/>
                <a:cs typeface="Cambria" pitchFamily="34" charset="-120"/>
              </a:rPr>
              <a:t>Arquitectura por capas</a:t>
            </a:r>
            <a:endParaRPr lang="en-US" sz="1800" dirty="0"/>
          </a:p>
        </p:txBody>
      </p:sp>
      <p:sp>
        <p:nvSpPr>
          <p:cNvPr id="12" name="Text 10"/>
          <p:cNvSpPr/>
          <p:nvPr/>
        </p:nvSpPr>
        <p:spPr>
          <a:xfrm>
            <a:off x="1828800" y="3429000"/>
            <a:ext cx="9784080" cy="548640"/>
          </a:xfrm>
          <a:prstGeom prst="rect">
            <a:avLst/>
          </a:prstGeom>
          <a:noFill/>
          <a:ln/>
        </p:spPr>
        <p:txBody>
          <a:bodyPr wrap="square" lIns="0" tIns="0" rIns="0" bIns="0" rtlCol="0" anchor="ctr"/>
          <a:lstStyle/>
          <a:p>
            <a:pPr marL="0" indent="0">
              <a:buNone/>
            </a:pPr>
            <a:r>
              <a:rPr lang="en-US" sz="1300" dirty="0">
                <a:solidFill>
                  <a:srgbClr val="3F3F3F"/>
                </a:solidFill>
                <a:latin typeface="Calibri" pitchFamily="34" charset="0"/>
                <a:ea typeface="Calibri" pitchFamily="34" charset="-122"/>
                <a:cs typeface="Calibri" pitchFamily="34" charset="-120"/>
              </a:rPr>
              <a:t>El patron mas extendido: presentacion, negocio, acceso a datos. Variante hexagonal (ports and adapters).</a:t>
            </a:r>
            <a:endParaRPr lang="en-US" sz="1300" dirty="0"/>
          </a:p>
        </p:txBody>
      </p:sp>
      <p:sp>
        <p:nvSpPr>
          <p:cNvPr id="13" name="Shape 11"/>
          <p:cNvSpPr/>
          <p:nvPr/>
        </p:nvSpPr>
        <p:spPr>
          <a:xfrm>
            <a:off x="640080" y="4160520"/>
            <a:ext cx="914400" cy="914400"/>
          </a:xfrm>
          <a:prstGeom prst="ellipse">
            <a:avLst/>
          </a:prstGeom>
          <a:solidFill>
            <a:srgbClr val="006633"/>
          </a:solidFill>
          <a:ln w="12700">
            <a:solidFill>
              <a:srgbClr val="006633"/>
            </a:solidFill>
            <a:prstDash val="solid"/>
          </a:ln>
        </p:spPr>
      </p:sp>
      <p:sp>
        <p:nvSpPr>
          <p:cNvPr id="14" name="Text 12"/>
          <p:cNvSpPr/>
          <p:nvPr/>
        </p:nvSpPr>
        <p:spPr>
          <a:xfrm>
            <a:off x="640080" y="4160520"/>
            <a:ext cx="9144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15" name="Text 13"/>
          <p:cNvSpPr/>
          <p:nvPr/>
        </p:nvSpPr>
        <p:spPr>
          <a:xfrm>
            <a:off x="1828800" y="4178808"/>
            <a:ext cx="9784080" cy="411480"/>
          </a:xfrm>
          <a:prstGeom prst="rect">
            <a:avLst/>
          </a:prstGeom>
          <a:noFill/>
          <a:ln/>
        </p:spPr>
        <p:txBody>
          <a:bodyPr wrap="square" lIns="0" tIns="0" rIns="0" bIns="0" rtlCol="0" anchor="ctr"/>
          <a:lstStyle/>
          <a:p>
            <a:pPr marL="0" indent="0">
              <a:buNone/>
            </a:pPr>
            <a:r>
              <a:rPr lang="en-US" sz="1800" b="1" dirty="0">
                <a:solidFill>
                  <a:srgbClr val="1A1A1A"/>
                </a:solidFill>
                <a:latin typeface="Cambria" pitchFamily="34" charset="0"/>
                <a:ea typeface="Cambria" pitchFamily="34" charset="-122"/>
                <a:cs typeface="Cambria" pitchFamily="34" charset="-120"/>
              </a:rPr>
              <a:t>Pizarra, eventos y peer-to-peer</a:t>
            </a:r>
            <a:endParaRPr lang="en-US" sz="1800" dirty="0"/>
          </a:p>
        </p:txBody>
      </p:sp>
      <p:sp>
        <p:nvSpPr>
          <p:cNvPr id="16" name="Text 14"/>
          <p:cNvSpPr/>
          <p:nvPr/>
        </p:nvSpPr>
        <p:spPr>
          <a:xfrm>
            <a:off x="1828800" y="4617720"/>
            <a:ext cx="9784080" cy="548640"/>
          </a:xfrm>
          <a:prstGeom prst="rect">
            <a:avLst/>
          </a:prstGeom>
          <a:noFill/>
          <a:ln/>
        </p:spPr>
        <p:txBody>
          <a:bodyPr wrap="square" lIns="0" tIns="0" rIns="0" bIns="0" rtlCol="0" anchor="ctr"/>
          <a:lstStyle/>
          <a:p>
            <a:pPr marL="0" indent="0">
              <a:buNone/>
            </a:pPr>
            <a:r>
              <a:rPr lang="en-US" sz="1300" dirty="0">
                <a:solidFill>
                  <a:srgbClr val="3F3F3F"/>
                </a:solidFill>
                <a:latin typeface="Calibri" pitchFamily="34" charset="0"/>
                <a:ea typeface="Calibri" pitchFamily="34" charset="-122"/>
                <a:cs typeface="Calibri" pitchFamily="34" charset="-120"/>
              </a:rPr>
              <a:t>Blackboard para problemas heuristicos, EDA para desacoplar servicios, P2P para sistemas descentralizados.</a:t>
            </a:r>
            <a:endParaRPr lang="en-US" sz="1300" dirty="0"/>
          </a:p>
        </p:txBody>
      </p:sp>
      <p:sp>
        <p:nvSpPr>
          <p:cNvPr id="17" name="Shape 15"/>
          <p:cNvSpPr/>
          <p:nvPr/>
        </p:nvSpPr>
        <p:spPr>
          <a:xfrm>
            <a:off x="640080" y="5349240"/>
            <a:ext cx="914400" cy="914400"/>
          </a:xfrm>
          <a:prstGeom prst="ellipse">
            <a:avLst/>
          </a:prstGeom>
          <a:solidFill>
            <a:srgbClr val="006633"/>
          </a:solidFill>
          <a:ln w="12700">
            <a:solidFill>
              <a:srgbClr val="006633"/>
            </a:solidFill>
            <a:prstDash val="solid"/>
          </a:ln>
        </p:spPr>
      </p:sp>
      <p:sp>
        <p:nvSpPr>
          <p:cNvPr id="18" name="Text 16"/>
          <p:cNvSpPr/>
          <p:nvPr/>
        </p:nvSpPr>
        <p:spPr>
          <a:xfrm>
            <a:off x="640080" y="5349240"/>
            <a:ext cx="9144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19" name="Text 17"/>
          <p:cNvSpPr/>
          <p:nvPr/>
        </p:nvSpPr>
        <p:spPr>
          <a:xfrm>
            <a:off x="1828800" y="5367528"/>
            <a:ext cx="9784080" cy="411480"/>
          </a:xfrm>
          <a:prstGeom prst="rect">
            <a:avLst/>
          </a:prstGeom>
          <a:noFill/>
          <a:ln/>
        </p:spPr>
        <p:txBody>
          <a:bodyPr wrap="square" lIns="0" tIns="0" rIns="0" bIns="0" rtlCol="0" anchor="ctr"/>
          <a:lstStyle/>
          <a:p>
            <a:pPr marL="0" indent="0">
              <a:buNone/>
            </a:pPr>
            <a:r>
              <a:rPr lang="en-US" sz="1800" b="1" dirty="0">
                <a:solidFill>
                  <a:srgbClr val="1A1A1A"/>
                </a:solidFill>
                <a:latin typeface="Cambria" pitchFamily="34" charset="0"/>
                <a:ea typeface="Cambria" pitchFamily="34" charset="-122"/>
                <a:cs typeface="Cambria" pitchFamily="34" charset="-120"/>
              </a:rPr>
              <a:t>SOA y microservicios</a:t>
            </a:r>
            <a:endParaRPr lang="en-US" sz="1800" dirty="0"/>
          </a:p>
        </p:txBody>
      </p:sp>
      <p:sp>
        <p:nvSpPr>
          <p:cNvPr id="20" name="Text 18"/>
          <p:cNvSpPr/>
          <p:nvPr/>
        </p:nvSpPr>
        <p:spPr>
          <a:xfrm>
            <a:off x="1828800" y="5806440"/>
            <a:ext cx="9784080" cy="548640"/>
          </a:xfrm>
          <a:prstGeom prst="rect">
            <a:avLst/>
          </a:prstGeom>
          <a:noFill/>
          <a:ln/>
        </p:spPr>
        <p:txBody>
          <a:bodyPr wrap="square" lIns="0" tIns="0" rIns="0" bIns="0" rtlCol="0" anchor="ctr"/>
          <a:lstStyle/>
          <a:p>
            <a:pPr marL="0" indent="0">
              <a:buNone/>
            </a:pPr>
            <a:r>
              <a:rPr lang="en-US" sz="1300" dirty="0">
                <a:solidFill>
                  <a:srgbClr val="3F3F3F"/>
                </a:solidFill>
                <a:latin typeface="Calibri" pitchFamily="34" charset="0"/>
                <a:ea typeface="Calibri" pitchFamily="34" charset="-122"/>
                <a:cs typeface="Calibri" pitchFamily="34" charset="-120"/>
              </a:rPr>
              <a:t>Del ESB al servicio autonomo por dominio: cuando descomponer y cuando NO.</a:t>
            </a:r>
            <a:endParaRPr lang="en-US" sz="1300" dirty="0"/>
          </a:p>
        </p:txBody>
      </p:sp>
      <p:sp>
        <p:nvSpPr>
          <p:cNvPr id="21" name="Text 19"/>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22" name="Text 20"/>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-- 3 / 32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1 -- PRINCIPIOS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Que es arquitectura de software</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Shape 3"/>
          <p:cNvSpPr/>
          <p:nvPr/>
        </p:nvSpPr>
        <p:spPr>
          <a:xfrm>
            <a:off x="457200" y="1691640"/>
            <a:ext cx="5669280" cy="4480560"/>
          </a:xfrm>
          <a:prstGeom prst="roundRect">
            <a:avLst>
              <a:gd name="adj" fmla="val 2041"/>
            </a:avLst>
          </a:prstGeom>
          <a:solidFill>
            <a:srgbClr val="E6F0EA"/>
          </a:solidFill>
          <a:ln w="12700">
            <a:solidFill>
              <a:srgbClr val="006633"/>
            </a:solidFill>
            <a:prstDash val="solid"/>
          </a:ln>
        </p:spPr>
      </p:sp>
      <p:sp>
        <p:nvSpPr>
          <p:cNvPr id="6" name="Text 4"/>
          <p:cNvSpPr/>
          <p:nvPr/>
        </p:nvSpPr>
        <p:spPr>
          <a:xfrm>
            <a:off x="685800" y="1783080"/>
            <a:ext cx="5212080" cy="411480"/>
          </a:xfrm>
          <a:prstGeom prst="rect">
            <a:avLst/>
          </a:prstGeom>
          <a:noFill/>
          <a:ln/>
        </p:spPr>
        <p:txBody>
          <a:bodyPr wrap="square" lIns="0" tIns="0" rIns="0" bIns="0" rtlCol="0" anchor="ctr"/>
          <a:lstStyle/>
          <a:p>
            <a:pPr marL="0" indent="0">
              <a:buNone/>
            </a:pPr>
            <a:r>
              <a:rPr lang="en-US" sz="1500" b="1" dirty="0">
                <a:solidFill>
                  <a:srgbClr val="006633"/>
                </a:solidFill>
                <a:latin typeface="Cambria" pitchFamily="34" charset="0"/>
                <a:ea typeface="Cambria" pitchFamily="34" charset="-122"/>
                <a:cs typeface="Cambria" pitchFamily="34" charset="-120"/>
              </a:rPr>
              <a:t>Definicion (Bass, Clements y Kazman, 2021)</a:t>
            </a:r>
            <a:endParaRPr lang="en-US" sz="1500" dirty="0"/>
          </a:p>
        </p:txBody>
      </p:sp>
      <p:sp>
        <p:nvSpPr>
          <p:cNvPr id="7" name="Text 5"/>
          <p:cNvSpPr/>
          <p:nvPr/>
        </p:nvSpPr>
        <p:spPr>
          <a:xfrm>
            <a:off x="685800" y="2240280"/>
            <a:ext cx="5212080" cy="2011680"/>
          </a:xfrm>
          <a:prstGeom prst="rect">
            <a:avLst/>
          </a:prstGeom>
          <a:noFill/>
          <a:ln/>
        </p:spPr>
        <p:txBody>
          <a:bodyPr wrap="square" lIns="0" tIns="0" rIns="0" bIns="0" rtlCol="0" anchor="t"/>
          <a:lstStyle/>
          <a:p>
            <a:pPr marL="0" indent="0">
              <a:buNone/>
            </a:pPr>
            <a:r>
              <a:rPr lang="en-US" sz="1300" i="1" dirty="0">
                <a:solidFill>
                  <a:srgbClr val="3F3F3F"/>
                </a:solidFill>
                <a:latin typeface="Calibri" pitchFamily="34" charset="0"/>
                <a:ea typeface="Calibri" pitchFamily="34" charset="-122"/>
                <a:cs typeface="Calibri" pitchFamily="34" charset="-120"/>
              </a:rPr>
              <a:t>«La arquitectura de un sistema computacional es el conjunto de estructuras necesarias para razonar sobre el sistema, y comprende los elementos del software, las relaciones entre ellos y las propiedades de ambos.»</a:t>
            </a:r>
            <a:endParaRPr lang="en-US" sz="1300" dirty="0"/>
          </a:p>
        </p:txBody>
      </p:sp>
      <p:sp>
        <p:nvSpPr>
          <p:cNvPr id="8" name="Text 6"/>
          <p:cNvSpPr/>
          <p:nvPr/>
        </p:nvSpPr>
        <p:spPr>
          <a:xfrm>
            <a:off x="685800" y="4206240"/>
            <a:ext cx="5212080" cy="320040"/>
          </a:xfrm>
          <a:prstGeom prst="rect">
            <a:avLst/>
          </a:prstGeom>
          <a:noFill/>
          <a:ln/>
        </p:spPr>
        <p:txBody>
          <a:bodyPr wrap="square" lIns="0" tIns="0" rIns="0" bIns="0" rtlCol="0" anchor="ctr"/>
          <a:lstStyle/>
          <a:p>
            <a:pPr marL="0" indent="0">
              <a:buNone/>
            </a:pPr>
            <a:r>
              <a:rPr lang="en-US" sz="1400" b="1" dirty="0">
                <a:solidFill>
                  <a:srgbClr val="006633"/>
                </a:solidFill>
                <a:latin typeface="Cambria" pitchFamily="34" charset="0"/>
                <a:ea typeface="Cambria" pitchFamily="34" charset="-122"/>
                <a:cs typeface="Cambria" pitchFamily="34" charset="-120"/>
              </a:rPr>
              <a:t>Tres ideas clave</a:t>
            </a:r>
            <a:endParaRPr lang="en-US" sz="1400" dirty="0"/>
          </a:p>
        </p:txBody>
      </p:sp>
      <p:sp>
        <p:nvSpPr>
          <p:cNvPr id="9" name="Text 7"/>
          <p:cNvSpPr/>
          <p:nvPr/>
        </p:nvSpPr>
        <p:spPr>
          <a:xfrm>
            <a:off x="685800" y="4572000"/>
            <a:ext cx="5257800" cy="155448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Estructuras multiples: vistas estatica, dinamica y de despliegue.</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Razonamiento: existe para pensar el sistema sin perderse en detalles.</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Decisiones dificiles de revertir: lo arquitectonico es lo caro de rehacer.</a:t>
            </a:r>
            <a:endParaRPr lang="en-US" sz="1200" dirty="0"/>
          </a:p>
        </p:txBody>
      </p:sp>
      <p:sp>
        <p:nvSpPr>
          <p:cNvPr id="10" name="Text 8"/>
          <p:cNvSpPr/>
          <p:nvPr/>
        </p:nvSpPr>
        <p:spPr>
          <a:xfrm>
            <a:off x="6400800" y="1783080"/>
            <a:ext cx="5486400" cy="365760"/>
          </a:xfrm>
          <a:prstGeom prst="rect">
            <a:avLst/>
          </a:prstGeom>
          <a:noFill/>
          <a:ln/>
        </p:spPr>
        <p:txBody>
          <a:bodyPr wrap="square" lIns="0" tIns="0" rIns="0" bIns="0" rtlCol="0" anchor="ctr"/>
          <a:lstStyle/>
          <a:p>
            <a:pPr marL="0" indent="0">
              <a:buNone/>
            </a:pPr>
            <a:r>
              <a:rPr lang="en-US" sz="1500" b="1" dirty="0">
                <a:solidFill>
                  <a:srgbClr val="CC9900"/>
                </a:solidFill>
                <a:latin typeface="Cambria" pitchFamily="34" charset="0"/>
                <a:ea typeface="Cambria" pitchFamily="34" charset="-122"/>
                <a:cs typeface="Cambria" pitchFamily="34" charset="-120"/>
              </a:rPr>
              <a:t>Arquitectura vs diseno detallado</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0" y="2240280"/>
          <a:ext cx="54864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Aspecto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Arquitectura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Diseno detallado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Alcance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Sistema completo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Modulo o clase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Horizonte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Anos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Semanas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Costo de cambio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Muy alto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Bajo o medio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Ejemplo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Monolito vs microservicios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Nombre de un metodo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Documenta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C4, ADR</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UML de clases, javadoc</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2" name="Text 9"/>
          <p:cNvSpPr/>
          <p:nvPr/>
        </p:nvSpPr>
        <p:spPr>
          <a:xfrm>
            <a:off x="457200" y="6263640"/>
            <a:ext cx="11247120" cy="274320"/>
          </a:xfrm>
          <a:prstGeom prst="rect">
            <a:avLst/>
          </a:prstGeom>
          <a:noFill/>
          <a:ln/>
        </p:spPr>
        <p:txBody>
          <a:bodyPr wrap="square" lIns="0" tIns="0" rIns="0" bIns="0" rtlCol="0" anchor="ctr"/>
          <a:lstStyle/>
          <a:p>
            <a:pPr marL="0" indent="0">
              <a:buNone/>
            </a:pPr>
            <a:r>
              <a:rPr lang="en-US" sz="1000" b="1" dirty="0">
                <a:solidFill>
                  <a:srgbClr val="006633"/>
                </a:solidFill>
                <a:latin typeface="Calibri" pitchFamily="34" charset="0"/>
                <a:ea typeface="Calibri" pitchFamily="34" charset="-122"/>
                <a:cs typeface="Calibri" pitchFamily="34" charset="-120"/>
              </a:rPr>
              <a:t>Referencia clave: </a:t>
            </a:r>
            <a:r>
              <a:rPr lang="en-US" sz="1000" i="1" dirty="0">
                <a:solidFill>
                  <a:srgbClr val="6B6B6B"/>
                </a:solidFill>
                <a:latin typeface="Calibri" pitchFamily="34" charset="0"/>
                <a:ea typeface="Calibri" pitchFamily="34" charset="-122"/>
                <a:cs typeface="Calibri" pitchFamily="34" charset="-120"/>
              </a:rPr>
              <a:t>Bass, L., Clements, P., &amp; Kazman, R. (2021). Software Architecture in Practice, 4th ed., Addison-Wesley.</a:t>
            </a:r>
            <a:endParaRPr lang="en-US" sz="1000" dirty="0"/>
          </a:p>
        </p:txBody>
      </p:sp>
      <p:sp>
        <p:nvSpPr>
          <p:cNvPr id="13" name="Text 10"/>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14" name="Text 11"/>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-- 4 / 32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1 -- PRINCIPIOS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SOLID aplicado a la arquitectura</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47120" cy="914400"/>
        </p:xfrm>
        <a:graphic>
          <a:graphicData uri="http://schemas.openxmlformats.org/drawingml/2006/table">
            <a:tbl>
              <a:tblPr/>
              <a:tblGrid>
                <a:gridCol w="8229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4023360">
                  <a:extLst>
                    <a:ext uri="{9D8B030D-6E8A-4147-A177-3AD203B41FA5}">
                      <a16:colId xmlns:a16="http://schemas.microsoft.com/office/drawing/2014/main" val="20003"/>
                    </a:ext>
                  </a:extLst>
                </a:gridCol>
              </a:tblGrid>
              <a:tr h="5669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Letra</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Principio</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Significado</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Aplicacion arquitectonica</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extLst>
                  <a:ext uri="{0D108BD9-81ED-4DB2-BD59-A6C34878D82A}">
                    <a16:rowId xmlns:a16="http://schemas.microsoft.com/office/drawing/2014/main" val="10000"/>
                  </a:ext>
                </a:extLst>
              </a:tr>
              <a:tr h="566928">
                <a:tc>
                  <a:txBody>
                    <a:bodyPr/>
                    <a:lstStyle/>
                    <a:p>
                      <a:pPr marL="0" indent="0" algn="ctr">
                        <a:buNone/>
                      </a:pPr>
                      <a:r>
                        <a:rPr lang="en-US" sz="1200" b="1" dirty="0">
                          <a:solidFill>
                            <a:srgbClr val="CC9900"/>
                          </a:solidFill>
                          <a:latin typeface="Calibri" pitchFamily="34" charset="0"/>
                          <a:ea typeface="Calibri" pitchFamily="34" charset="-122"/>
                          <a:cs typeface="Calibri" pitchFamily="34" charset="-120"/>
                        </a:rPr>
                        <a:t>S</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Single Responsibility</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Una clase, una razon para cambiar.</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Cada modulo o servicio tiene un foco unico.</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lgn="ctr">
                        <a:buNone/>
                      </a:pPr>
                      <a:r>
                        <a:rPr lang="en-US" sz="1200" b="1" dirty="0">
                          <a:solidFill>
                            <a:srgbClr val="CC9900"/>
                          </a:solidFill>
                          <a:latin typeface="Calibri" pitchFamily="34" charset="0"/>
                          <a:ea typeface="Calibri" pitchFamily="34" charset="-122"/>
                          <a:cs typeface="Calibri" pitchFamily="34" charset="-120"/>
                        </a:rPr>
                        <a:t>O</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Open/Closed</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Abierto a extension, cerrado a modificacion.</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Plugins, hooks, eventos, interfaces.</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lgn="ctr">
                        <a:buNone/>
                      </a:pPr>
                      <a:r>
                        <a:rPr lang="en-US" sz="1200" b="1" dirty="0">
                          <a:solidFill>
                            <a:srgbClr val="CC9900"/>
                          </a:solidFill>
                          <a:latin typeface="Calibri" pitchFamily="34" charset="0"/>
                          <a:ea typeface="Calibri" pitchFamily="34" charset="-122"/>
                          <a:cs typeface="Calibri" pitchFamily="34" charset="-120"/>
                        </a:rPr>
                        <a:t>L</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Liskov Substitution</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Subtipos sustituibles por su tipo base.</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Polimorfismo correcto en jerarquias.</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lgn="ctr">
                        <a:buNone/>
                      </a:pPr>
                      <a:r>
                        <a:rPr lang="en-US" sz="1200" b="1" dirty="0">
                          <a:solidFill>
                            <a:srgbClr val="CC9900"/>
                          </a:solidFill>
                          <a:latin typeface="Calibri" pitchFamily="34" charset="0"/>
                          <a:ea typeface="Calibri" pitchFamily="34" charset="-122"/>
                          <a:cs typeface="Calibri" pitchFamily="34" charset="-120"/>
                        </a:rPr>
                        <a:t>I</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Interface Segregation</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Interfaces pequenas y enfocadas.</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APIs minimas por modulo, no interfaces gigantes.</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lgn="ctr">
                        <a:buNone/>
                      </a:pPr>
                      <a:r>
                        <a:rPr lang="en-US" sz="1200" b="1" dirty="0">
                          <a:solidFill>
                            <a:srgbClr val="CC9900"/>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Dependency Inversion</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Depender de abstracciones, no de concreciones.</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Inyeccion de dependencias (Spring, .NET DI).</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3"/>
          <p:cNvSpPr/>
          <p:nvPr/>
        </p:nvSpPr>
        <p:spPr>
          <a:xfrm>
            <a:off x="457200" y="5532120"/>
            <a:ext cx="11247120" cy="777240"/>
          </a:xfrm>
          <a:prstGeom prst="roundRect">
            <a:avLst>
              <a:gd name="adj" fmla="val 7059"/>
            </a:avLst>
          </a:prstGeom>
          <a:solidFill>
            <a:srgbClr val="E6F0EA"/>
          </a:solidFill>
          <a:ln w="6350">
            <a:solidFill>
              <a:srgbClr val="006633"/>
            </a:solidFill>
            <a:prstDash val="solid"/>
          </a:ln>
        </p:spPr>
      </p:sp>
      <p:sp>
        <p:nvSpPr>
          <p:cNvPr id="7" name="Text 4"/>
          <p:cNvSpPr/>
          <p:nvPr/>
        </p:nvSpPr>
        <p:spPr>
          <a:xfrm>
            <a:off x="640080" y="5623560"/>
            <a:ext cx="10972800" cy="594360"/>
          </a:xfrm>
          <a:prstGeom prst="rect">
            <a:avLst/>
          </a:prstGeom>
          <a:noFill/>
          <a:ln/>
        </p:spPr>
        <p:txBody>
          <a:bodyPr wrap="square" lIns="0" tIns="0" rIns="0" bIns="0" rtlCol="0" anchor="ctr"/>
          <a:lstStyle/>
          <a:p>
            <a:pPr marL="0" indent="0">
              <a:buNone/>
            </a:pPr>
            <a:r>
              <a:rPr lang="en-US" sz="1300" b="1" dirty="0">
                <a:solidFill>
                  <a:srgbClr val="006633"/>
                </a:solidFill>
                <a:latin typeface="Calibri" pitchFamily="34" charset="0"/>
                <a:ea typeface="Calibri" pitchFamily="34" charset="-122"/>
                <a:cs typeface="Calibri" pitchFamily="34" charset="-120"/>
              </a:rPr>
              <a:t>Idea clave.  </a:t>
            </a:r>
            <a:r>
              <a:rPr lang="en-US" sz="1300" dirty="0">
                <a:solidFill>
                  <a:srgbClr val="3F3F3F"/>
                </a:solidFill>
                <a:latin typeface="Calibri" pitchFamily="34" charset="0"/>
                <a:ea typeface="Calibri" pitchFamily="34" charset="-122"/>
                <a:cs typeface="Calibri" pitchFamily="34" charset="-120"/>
              </a:rPr>
              <a:t>SOLID nacio para clases orientadas a objetos, pero sus cinco principios se aplican identicos al nivel de modulos, servicios y capas: es el mismo pensamiento a otra escala.</a:t>
            </a:r>
            <a:endParaRPr lang="en-US" sz="1300" dirty="0"/>
          </a:p>
        </p:txBody>
      </p:sp>
      <p:sp>
        <p:nvSpPr>
          <p:cNvPr id="8" name="Text 5"/>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9" name="Text 6"/>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-- 5 / 32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1 -- PRINCIPIOS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Principios fundacionales que gobiernan a todos los patrones</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Shape 3"/>
          <p:cNvSpPr/>
          <p:nvPr/>
        </p:nvSpPr>
        <p:spPr>
          <a:xfrm>
            <a:off x="457200" y="1691640"/>
            <a:ext cx="5532120" cy="2103120"/>
          </a:xfrm>
          <a:prstGeom prst="roundRect">
            <a:avLst>
              <a:gd name="adj" fmla="val 3478"/>
            </a:avLst>
          </a:prstGeom>
          <a:solidFill>
            <a:srgbClr val="FFFFFF"/>
          </a:solidFill>
          <a:ln w="9525">
            <a:solidFill>
              <a:srgbClr val="D0D0D0"/>
            </a:solidFill>
            <a:prstDash val="solid"/>
          </a:ln>
        </p:spPr>
      </p:sp>
      <p:sp>
        <p:nvSpPr>
          <p:cNvPr id="6" name="Text 4"/>
          <p:cNvSpPr/>
          <p:nvPr/>
        </p:nvSpPr>
        <p:spPr>
          <a:xfrm>
            <a:off x="594360" y="1783080"/>
            <a:ext cx="5257800" cy="411480"/>
          </a:xfrm>
          <a:prstGeom prst="rect">
            <a:avLst/>
          </a:prstGeom>
          <a:noFill/>
          <a:ln/>
        </p:spPr>
        <p:txBody>
          <a:bodyPr wrap="square" lIns="0" tIns="0" rIns="0" bIns="0" rtlCol="0" anchor="ctr"/>
          <a:lstStyle/>
          <a:p>
            <a:pPr marL="0" indent="0">
              <a:buNone/>
            </a:pPr>
            <a:r>
              <a:rPr lang="en-US" sz="1500" b="1" dirty="0">
                <a:solidFill>
                  <a:srgbClr val="006633"/>
                </a:solidFill>
                <a:latin typeface="Cambria" pitchFamily="34" charset="0"/>
                <a:ea typeface="Cambria" pitchFamily="34" charset="-122"/>
                <a:cs typeface="Cambria" pitchFamily="34" charset="-120"/>
              </a:rPr>
              <a:t>Separacion de intereses (SoC)</a:t>
            </a:r>
            <a:endParaRPr lang="en-US" sz="1500" dirty="0"/>
          </a:p>
        </p:txBody>
      </p:sp>
      <p:sp>
        <p:nvSpPr>
          <p:cNvPr id="7" name="Text 5"/>
          <p:cNvSpPr/>
          <p:nvPr/>
        </p:nvSpPr>
        <p:spPr>
          <a:xfrm>
            <a:off x="594360" y="2221992"/>
            <a:ext cx="5257800" cy="146304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Cada elemento del sistema atiende un unico aspecto (UI, logica, persistencia, seguridad).  Consecuencia: un cambio en la BD no toca la UI, y viceversa.  Es el fundamento de las capas.</a:t>
            </a:r>
            <a:endParaRPr lang="en-US" sz="1200" dirty="0"/>
          </a:p>
        </p:txBody>
      </p:sp>
      <p:sp>
        <p:nvSpPr>
          <p:cNvPr id="8" name="Shape 6"/>
          <p:cNvSpPr/>
          <p:nvPr/>
        </p:nvSpPr>
        <p:spPr>
          <a:xfrm>
            <a:off x="6172200" y="1691640"/>
            <a:ext cx="5532120" cy="2103120"/>
          </a:xfrm>
          <a:prstGeom prst="roundRect">
            <a:avLst>
              <a:gd name="adj" fmla="val 3478"/>
            </a:avLst>
          </a:prstGeom>
          <a:solidFill>
            <a:srgbClr val="FFFFFF"/>
          </a:solidFill>
          <a:ln w="9525">
            <a:solidFill>
              <a:srgbClr val="D0D0D0"/>
            </a:solidFill>
            <a:prstDash val="solid"/>
          </a:ln>
        </p:spPr>
      </p:sp>
      <p:sp>
        <p:nvSpPr>
          <p:cNvPr id="9" name="Text 7"/>
          <p:cNvSpPr/>
          <p:nvPr/>
        </p:nvSpPr>
        <p:spPr>
          <a:xfrm>
            <a:off x="6309360" y="1783080"/>
            <a:ext cx="5257800" cy="411480"/>
          </a:xfrm>
          <a:prstGeom prst="rect">
            <a:avLst/>
          </a:prstGeom>
          <a:noFill/>
          <a:ln/>
        </p:spPr>
        <p:txBody>
          <a:bodyPr wrap="square" lIns="0" tIns="0" rIns="0" bIns="0" rtlCol="0" anchor="ctr"/>
          <a:lstStyle/>
          <a:p>
            <a:pPr marL="0" indent="0">
              <a:buNone/>
            </a:pPr>
            <a:r>
              <a:rPr lang="en-US" sz="1500" b="1" dirty="0">
                <a:solidFill>
                  <a:srgbClr val="CC9900"/>
                </a:solidFill>
                <a:latin typeface="Cambria" pitchFamily="34" charset="0"/>
                <a:ea typeface="Cambria" pitchFamily="34" charset="-122"/>
                <a:cs typeface="Cambria" pitchFamily="34" charset="-120"/>
              </a:rPr>
              <a:t>Alta cohesion</a:t>
            </a:r>
            <a:endParaRPr lang="en-US" sz="1500" dirty="0"/>
          </a:p>
        </p:txBody>
      </p:sp>
      <p:sp>
        <p:nvSpPr>
          <p:cNvPr id="10" name="Text 8"/>
          <p:cNvSpPr/>
          <p:nvPr/>
        </p:nvSpPr>
        <p:spPr>
          <a:xfrm>
            <a:off x="6309360" y="2221992"/>
            <a:ext cx="5257800" cy="146304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Un modulo hace UNA cosa y todo lo relacionado con esa cosa esta ahi.  Sintoma de mala cohesion: un archivo llamado 'utils.java' con 47 metodos que no se parecen.</a:t>
            </a:r>
            <a:endParaRPr lang="en-US" sz="1200" dirty="0"/>
          </a:p>
        </p:txBody>
      </p:sp>
      <p:sp>
        <p:nvSpPr>
          <p:cNvPr id="11" name="Shape 9"/>
          <p:cNvSpPr/>
          <p:nvPr/>
        </p:nvSpPr>
        <p:spPr>
          <a:xfrm>
            <a:off x="457200" y="3886200"/>
            <a:ext cx="5532120" cy="2103120"/>
          </a:xfrm>
          <a:prstGeom prst="roundRect">
            <a:avLst>
              <a:gd name="adj" fmla="val 3478"/>
            </a:avLst>
          </a:prstGeom>
          <a:solidFill>
            <a:srgbClr val="FFFFFF"/>
          </a:solidFill>
          <a:ln w="9525">
            <a:solidFill>
              <a:srgbClr val="D0D0D0"/>
            </a:solidFill>
            <a:prstDash val="solid"/>
          </a:ln>
        </p:spPr>
      </p:sp>
      <p:sp>
        <p:nvSpPr>
          <p:cNvPr id="12" name="Text 10"/>
          <p:cNvSpPr/>
          <p:nvPr/>
        </p:nvSpPr>
        <p:spPr>
          <a:xfrm>
            <a:off x="594360" y="3977640"/>
            <a:ext cx="5257800" cy="411480"/>
          </a:xfrm>
          <a:prstGeom prst="rect">
            <a:avLst/>
          </a:prstGeom>
          <a:noFill/>
          <a:ln/>
        </p:spPr>
        <p:txBody>
          <a:bodyPr wrap="square" lIns="0" tIns="0" rIns="0" bIns="0" rtlCol="0" anchor="ctr"/>
          <a:lstStyle/>
          <a:p>
            <a:pPr marL="0" indent="0">
              <a:buNone/>
            </a:pPr>
            <a:r>
              <a:rPr lang="en-US" sz="1500" b="1" dirty="0">
                <a:solidFill>
                  <a:srgbClr val="006633"/>
                </a:solidFill>
                <a:latin typeface="Cambria" pitchFamily="34" charset="0"/>
                <a:ea typeface="Cambria" pitchFamily="34" charset="-122"/>
                <a:cs typeface="Cambria" pitchFamily="34" charset="-120"/>
              </a:rPr>
              <a:t>Bajo acoplamiento</a:t>
            </a:r>
            <a:endParaRPr lang="en-US" sz="1500" dirty="0"/>
          </a:p>
        </p:txBody>
      </p:sp>
      <p:sp>
        <p:nvSpPr>
          <p:cNvPr id="13" name="Text 11"/>
          <p:cNvSpPr/>
          <p:nvPr/>
        </p:nvSpPr>
        <p:spPr>
          <a:xfrm>
            <a:off x="594360" y="4416552"/>
            <a:ext cx="5257800" cy="146304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Un modulo depende de otros lo minimo posible y a traves de contratos estables (interfaces, DTOs).  Consecuencia: puedo probar UsuarioService sin BD real, sustituyendo el Repository por un mock.</a:t>
            </a:r>
            <a:endParaRPr lang="en-US" sz="1200" dirty="0"/>
          </a:p>
        </p:txBody>
      </p:sp>
      <p:sp>
        <p:nvSpPr>
          <p:cNvPr id="14" name="Shape 12"/>
          <p:cNvSpPr/>
          <p:nvPr/>
        </p:nvSpPr>
        <p:spPr>
          <a:xfrm>
            <a:off x="6172200" y="3886200"/>
            <a:ext cx="5532120" cy="2103120"/>
          </a:xfrm>
          <a:prstGeom prst="roundRect">
            <a:avLst>
              <a:gd name="adj" fmla="val 3478"/>
            </a:avLst>
          </a:prstGeom>
          <a:solidFill>
            <a:srgbClr val="FFFFFF"/>
          </a:solidFill>
          <a:ln w="9525">
            <a:solidFill>
              <a:srgbClr val="D0D0D0"/>
            </a:solidFill>
            <a:prstDash val="solid"/>
          </a:ln>
        </p:spPr>
      </p:sp>
      <p:sp>
        <p:nvSpPr>
          <p:cNvPr id="15" name="Text 13"/>
          <p:cNvSpPr/>
          <p:nvPr/>
        </p:nvSpPr>
        <p:spPr>
          <a:xfrm>
            <a:off x="6309360" y="3977640"/>
            <a:ext cx="5257800" cy="411480"/>
          </a:xfrm>
          <a:prstGeom prst="rect">
            <a:avLst/>
          </a:prstGeom>
          <a:noFill/>
          <a:ln/>
        </p:spPr>
        <p:txBody>
          <a:bodyPr wrap="square" lIns="0" tIns="0" rIns="0" bIns="0" rtlCol="0" anchor="ctr"/>
          <a:lstStyle/>
          <a:p>
            <a:pPr marL="0" indent="0">
              <a:buNone/>
            </a:pPr>
            <a:r>
              <a:rPr lang="en-US" sz="1500" b="1" dirty="0">
                <a:solidFill>
                  <a:srgbClr val="CC9900"/>
                </a:solidFill>
                <a:latin typeface="Cambria" pitchFamily="34" charset="0"/>
                <a:ea typeface="Cambria" pitchFamily="34" charset="-122"/>
                <a:cs typeface="Cambria" pitchFamily="34" charset="-120"/>
              </a:rPr>
              <a:t>Dependencias unidireccionales</a:t>
            </a:r>
            <a:endParaRPr lang="en-US" sz="1500" dirty="0"/>
          </a:p>
        </p:txBody>
      </p:sp>
      <p:sp>
        <p:nvSpPr>
          <p:cNvPr id="16" name="Text 14"/>
          <p:cNvSpPr/>
          <p:nvPr/>
        </p:nvSpPr>
        <p:spPr>
          <a:xfrm>
            <a:off x="6309360" y="4416552"/>
            <a:ext cx="5257800" cy="146304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La direccion de las dependencias fluye desde lo volatil (frameworks, drivers) hacia lo estable (dominio de negocio), nunca al reves.  Es el corazon de Clean Architecture (Martin, 2017).</a:t>
            </a:r>
            <a:endParaRPr lang="en-US" sz="1200" dirty="0"/>
          </a:p>
        </p:txBody>
      </p:sp>
      <p:sp>
        <p:nvSpPr>
          <p:cNvPr id="17" name="Text 15"/>
          <p:cNvSpPr/>
          <p:nvPr/>
        </p:nvSpPr>
        <p:spPr>
          <a:xfrm>
            <a:off x="457200" y="6126480"/>
            <a:ext cx="11247120" cy="274320"/>
          </a:xfrm>
          <a:prstGeom prst="rect">
            <a:avLst/>
          </a:prstGeom>
          <a:noFill/>
          <a:ln/>
        </p:spPr>
        <p:txBody>
          <a:bodyPr wrap="square" lIns="0" tIns="0" rIns="0" bIns="0" rtlCol="0" anchor="ctr"/>
          <a:lstStyle/>
          <a:p>
            <a:pPr marL="0" indent="0">
              <a:buNone/>
            </a:pPr>
            <a:r>
              <a:rPr lang="en-US" sz="1300" b="1" dirty="0">
                <a:solidFill>
                  <a:srgbClr val="006633"/>
                </a:solidFill>
                <a:latin typeface="Calibri" pitchFamily="34" charset="0"/>
                <a:ea typeface="Calibri" pitchFamily="34" charset="-122"/>
                <a:cs typeface="Calibri" pitchFamily="34" charset="-120"/>
              </a:rPr>
              <a:t>Regla de bolsillo:  </a:t>
            </a:r>
            <a:r>
              <a:rPr lang="en-US" sz="1300" dirty="0">
                <a:solidFill>
                  <a:srgbClr val="3F3F3F"/>
                </a:solidFill>
                <a:latin typeface="Calibri" pitchFamily="34" charset="0"/>
                <a:ea typeface="Calibri" pitchFamily="34" charset="-122"/>
                <a:cs typeface="Calibri" pitchFamily="34" charset="-120"/>
              </a:rPr>
              <a:t>cohesion alta </a:t>
            </a:r>
            <a:r>
              <a:rPr lang="en-US" sz="1300" b="1" i="1" dirty="0">
                <a:solidFill>
                  <a:srgbClr val="1A1A1A"/>
                </a:solidFill>
                <a:latin typeface="Calibri" pitchFamily="34" charset="0"/>
                <a:ea typeface="Calibri" pitchFamily="34" charset="-122"/>
                <a:cs typeface="Calibri" pitchFamily="34" charset="-120"/>
              </a:rPr>
              <a:t>dentro </a:t>
            </a:r>
            <a:r>
              <a:rPr lang="en-US" sz="1300" dirty="0">
                <a:solidFill>
                  <a:srgbClr val="3F3F3F"/>
                </a:solidFill>
                <a:latin typeface="Calibri" pitchFamily="34" charset="0"/>
                <a:ea typeface="Calibri" pitchFamily="34" charset="-122"/>
                <a:cs typeface="Calibri" pitchFamily="34" charset="-120"/>
              </a:rPr>
              <a:t>de un modulo, acoplamiento bajo </a:t>
            </a:r>
            <a:r>
              <a:rPr lang="en-US" sz="1300" b="1" i="1" dirty="0">
                <a:solidFill>
                  <a:srgbClr val="1A1A1A"/>
                </a:solidFill>
                <a:latin typeface="Calibri" pitchFamily="34" charset="0"/>
                <a:ea typeface="Calibri" pitchFamily="34" charset="-122"/>
                <a:cs typeface="Calibri" pitchFamily="34" charset="-120"/>
              </a:rPr>
              <a:t>entre </a:t>
            </a:r>
            <a:r>
              <a:rPr lang="en-US" sz="1300" dirty="0">
                <a:solidFill>
                  <a:srgbClr val="3F3F3F"/>
                </a:solidFill>
                <a:latin typeface="Calibri" pitchFamily="34" charset="0"/>
                <a:ea typeface="Calibri" pitchFamily="34" charset="-122"/>
                <a:cs typeface="Calibri" pitchFamily="34" charset="-120"/>
              </a:rPr>
              <a:t>modulos.</a:t>
            </a:r>
            <a:endParaRPr lang="en-US" sz="1300" dirty="0"/>
          </a:p>
        </p:txBody>
      </p:sp>
      <p:sp>
        <p:nvSpPr>
          <p:cNvPr id="18" name="Text 16"/>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19" name="Text 17"/>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-- 6 / 32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1 -- PRINCIPIOS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Atributos de calidad: la norma ISO/IEC 25010</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4712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521208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Atributo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Que responde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Escenario en BiblioUTEQ</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Idoneidad funcional</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Hace lo que debe hacer, correctamente.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Un prestamo NUNCA se registra sin descontar el stock del libro.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Eficiencia de desempeno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Latencia, throughput, uso de recursos.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El listado paginado responde en menos de 200 ms con 10 000 libros.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Compatibilidad</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Interoperabilidad con otros sistemas.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El API expone JSON y respeta el estandar RFC 7807 para errores.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Usabilidad</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Facilidad de uso y aprendizaje.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El auxiliar de biblioteca prestar un libro en menos de 30 s sin manual.</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Fiabilidad</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Disponibilidad y tolerancia a fallos.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Si Redis se cae, el sistema sigue sirviendo (degradacion elegante).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Seguridad</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Confidencialidad, integridad, autenticidad.</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JWT firmado, roles, contrasenas hasheadas con BCrypt.</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Mantenibilidad</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Facilidad de cambio y prueba.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Cobertura JaCoCo &gt;= 70%, modulos cohesionados.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Portabilidad</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Facil de mover a otro entorno.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Docker Compose con imagenes fijadas por digest.</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 3"/>
          <p:cNvSpPr/>
          <p:nvPr/>
        </p:nvSpPr>
        <p:spPr>
          <a:xfrm>
            <a:off x="457200" y="6080760"/>
            <a:ext cx="11247120" cy="411480"/>
          </a:xfrm>
          <a:prstGeom prst="rect">
            <a:avLst/>
          </a:prstGeom>
          <a:noFill/>
          <a:ln/>
        </p:spPr>
        <p:txBody>
          <a:bodyPr wrap="square" lIns="0" tIns="0" rIns="0" bIns="0" rtlCol="0" anchor="t"/>
          <a:lstStyle/>
          <a:p>
            <a:pPr marL="0" indent="0">
              <a:buNone/>
            </a:pPr>
            <a:r>
              <a:rPr lang="en-US" sz="1100" b="1" dirty="0">
                <a:solidFill>
                  <a:srgbClr val="B22222"/>
                </a:solidFill>
                <a:latin typeface="Calibri" pitchFamily="34" charset="0"/>
                <a:ea typeface="Calibri" pitchFamily="34" charset="-122"/>
                <a:cs typeface="Calibri" pitchFamily="34" charset="-120"/>
              </a:rPr>
              <a:t>Toda decision arquitectonica es un trade-off.  </a:t>
            </a:r>
            <a:r>
              <a:rPr lang="en-US" sz="1100" dirty="0">
                <a:solidFill>
                  <a:srgbClr val="3F3F3F"/>
                </a:solidFill>
                <a:latin typeface="Calibri" pitchFamily="34" charset="0"/>
                <a:ea typeface="Calibri" pitchFamily="34" charset="-122"/>
                <a:cs typeface="Calibri" pitchFamily="34" charset="-120"/>
              </a:rPr>
              <a:t>Mejorar seguridad casi siempre penaliza usabilidad y desempeno; mejorar desempeno con cache introduce riesgos de consistencia; mejorar mantenibilidad con capas anade latencia.  </a:t>
            </a:r>
            <a:r>
              <a:rPr lang="en-US" sz="1100" i="1" dirty="0">
                <a:solidFill>
                  <a:srgbClr val="6B6B6B"/>
                </a:solidFill>
                <a:latin typeface="Calibri" pitchFamily="34" charset="0"/>
                <a:ea typeface="Calibri" pitchFamily="34" charset="-122"/>
                <a:cs typeface="Calibri" pitchFamily="34" charset="-120"/>
              </a:rPr>
              <a:t>Norma completa: ISO/IEC 25010:2023.</a:t>
            </a:r>
            <a:endParaRPr lang="en-US" sz="1100" dirty="0"/>
          </a:p>
        </p:txBody>
      </p:sp>
      <p:sp>
        <p:nvSpPr>
          <p:cNvPr id="7" name="Text 4"/>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5" name="Text 5"/>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-- 7 / 32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2 -- CAPAS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Arquitectura por capas: el patron mas extendido</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Text 3"/>
          <p:cNvSpPr/>
          <p:nvPr/>
        </p:nvSpPr>
        <p:spPr>
          <a:xfrm>
            <a:off x="457200" y="1691640"/>
            <a:ext cx="5303520" cy="320040"/>
          </a:xfrm>
          <a:prstGeom prst="rect">
            <a:avLst/>
          </a:prstGeom>
          <a:noFill/>
          <a:ln/>
        </p:spPr>
        <p:txBody>
          <a:bodyPr wrap="square" lIns="0" tIns="0" rIns="0" bIns="0" rtlCol="0" anchor="ctr"/>
          <a:lstStyle/>
          <a:p>
            <a:pPr marL="0" indent="0">
              <a:buNone/>
            </a:pPr>
            <a:r>
              <a:rPr lang="en-US" sz="1600" b="1" dirty="0">
                <a:solidFill>
                  <a:srgbClr val="006633"/>
                </a:solidFill>
                <a:latin typeface="Cambria" pitchFamily="34" charset="0"/>
                <a:ea typeface="Cambria" pitchFamily="34" charset="-122"/>
                <a:cs typeface="Cambria" pitchFamily="34" charset="-120"/>
              </a:rPr>
              <a:t>Motivacion</a:t>
            </a:r>
            <a:endParaRPr lang="en-US" sz="1600" dirty="0"/>
          </a:p>
        </p:txBody>
      </p:sp>
      <p:sp>
        <p:nvSpPr>
          <p:cNvPr id="6" name="Text 4"/>
          <p:cNvSpPr/>
          <p:nvPr/>
        </p:nvSpPr>
        <p:spPr>
          <a:xfrm>
            <a:off x="457200" y="2057400"/>
            <a:ext cx="5303520" cy="1463040"/>
          </a:xfrm>
          <a:prstGeom prst="rect">
            <a:avLst/>
          </a:prstGeom>
          <a:noFill/>
          <a:ln/>
        </p:spPr>
        <p:txBody>
          <a:bodyPr wrap="square" lIns="0" tIns="0" rIns="0" bIns="0" rtlCol="0" anchor="t"/>
          <a:lstStyle/>
          <a:p>
            <a:pPr marL="0" indent="0">
              <a:buNone/>
            </a:pPr>
            <a:r>
              <a:rPr lang="en-US" sz="1300" dirty="0">
                <a:solidFill>
                  <a:srgbClr val="3F3F3F"/>
                </a:solidFill>
                <a:latin typeface="Calibri" pitchFamily="34" charset="0"/>
                <a:ea typeface="Calibri" pitchFamily="34" charset="-122"/>
                <a:cs typeface="Calibri" pitchFamily="34" charset="-120"/>
              </a:rPr>
              <a:t>Toda aplicacion web resuelve tres cuestiones distintas: </a:t>
            </a:r>
            <a:r>
              <a:rPr lang="en-US" sz="1300" b="1" dirty="0">
                <a:solidFill>
                  <a:srgbClr val="006633"/>
                </a:solidFill>
                <a:latin typeface="Calibri" pitchFamily="34" charset="0"/>
                <a:ea typeface="Calibri" pitchFamily="34" charset="-122"/>
                <a:cs typeface="Calibri" pitchFamily="34" charset="-120"/>
              </a:rPr>
              <a:t>presentar informacion</a:t>
            </a:r>
            <a:r>
              <a:rPr lang="en-US" sz="1300" dirty="0">
                <a:solidFill>
                  <a:srgbClr val="3F3F3F"/>
                </a:solidFill>
                <a:latin typeface="Calibri" pitchFamily="34" charset="0"/>
                <a:ea typeface="Calibri" pitchFamily="34" charset="-122"/>
                <a:cs typeface="Calibri" pitchFamily="34" charset="-120"/>
              </a:rPr>
              <a:t> al usuario, </a:t>
            </a:r>
            <a:r>
              <a:rPr lang="en-US" sz="1300" b="1" dirty="0">
                <a:solidFill>
                  <a:srgbClr val="006633"/>
                </a:solidFill>
                <a:latin typeface="Calibri" pitchFamily="34" charset="0"/>
                <a:ea typeface="Calibri" pitchFamily="34" charset="-122"/>
                <a:cs typeface="Calibri" pitchFamily="34" charset="-120"/>
              </a:rPr>
              <a:t>aplicar reglas de negocio</a:t>
            </a:r>
            <a:r>
              <a:rPr lang="en-US" sz="1300" dirty="0">
                <a:solidFill>
                  <a:srgbClr val="3F3F3F"/>
                </a:solidFill>
                <a:latin typeface="Calibri" pitchFamily="34" charset="0"/>
                <a:ea typeface="Calibri" pitchFamily="34" charset="-122"/>
                <a:cs typeface="Calibri" pitchFamily="34" charset="-120"/>
              </a:rPr>
              <a:t> y </a:t>
            </a:r>
            <a:r>
              <a:rPr lang="en-US" sz="1300" b="1" dirty="0">
                <a:solidFill>
                  <a:srgbClr val="006633"/>
                </a:solidFill>
                <a:latin typeface="Calibri" pitchFamily="34" charset="0"/>
                <a:ea typeface="Calibri" pitchFamily="34" charset="-122"/>
                <a:cs typeface="Calibri" pitchFamily="34" charset="-120"/>
              </a:rPr>
              <a:t>persistir datos</a:t>
            </a:r>
            <a:r>
              <a:rPr lang="en-US" sz="1300" dirty="0">
                <a:solidFill>
                  <a:srgbClr val="3F3F3F"/>
                </a:solidFill>
                <a:latin typeface="Calibri" pitchFamily="34" charset="0"/>
                <a:ea typeface="Calibri" pitchFamily="34" charset="-122"/>
                <a:cs typeface="Calibri" pitchFamily="34" charset="-120"/>
              </a:rPr>
              <a:t>.  El patron por capas separa cada cuestion en un nivel horizontal con responsabilidad propia y dependencias descendentes.</a:t>
            </a:r>
            <a:endParaRPr lang="en-US" sz="1300" dirty="0"/>
          </a:p>
        </p:txBody>
      </p:sp>
      <p:sp>
        <p:nvSpPr>
          <p:cNvPr id="7" name="Text 5"/>
          <p:cNvSpPr/>
          <p:nvPr/>
        </p:nvSpPr>
        <p:spPr>
          <a:xfrm>
            <a:off x="457200" y="3520440"/>
            <a:ext cx="5394960" cy="24688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F3F3F"/>
                </a:solidFill>
                <a:latin typeface="Calibri" pitchFamily="34" charset="0"/>
                <a:ea typeface="Calibri" pitchFamily="34" charset="-122"/>
                <a:cs typeface="Calibri" pitchFamily="34" charset="-120"/>
              </a:rPr>
              <a:t>Cada capa depende SOLO de la capa inmediatamente inferior.</a:t>
            </a:r>
            <a:endParaRPr lang="en-US" sz="1300" dirty="0"/>
          </a:p>
          <a:p>
            <a:pPr marL="342900" indent="-342900">
              <a:spcAft>
                <a:spcPts val="800"/>
              </a:spcAft>
              <a:buSzPct val="100000"/>
              <a:buChar char="■"/>
            </a:pPr>
            <a:r>
              <a:rPr lang="en-US" sz="1300" dirty="0">
                <a:solidFill>
                  <a:srgbClr val="3F3F3F"/>
                </a:solidFill>
                <a:latin typeface="Calibri" pitchFamily="34" charset="0"/>
                <a:ea typeface="Calibri" pitchFamily="34" charset="-122"/>
                <a:cs typeface="Calibri" pitchFamily="34" charset="-120"/>
              </a:rPr>
              <a:t>Una capa habla con la de arriba por eventos o retornos, nunca por invocacion directa.</a:t>
            </a:r>
            <a:endParaRPr lang="en-US" sz="1300" dirty="0"/>
          </a:p>
          <a:p>
            <a:pPr marL="342900" indent="-342900">
              <a:spcAft>
                <a:spcPts val="800"/>
              </a:spcAft>
              <a:buSzPct val="100000"/>
              <a:buChar char="■"/>
            </a:pPr>
            <a:r>
              <a:rPr lang="en-US" sz="1300" dirty="0">
                <a:solidFill>
                  <a:srgbClr val="3F3F3F"/>
                </a:solidFill>
                <a:latin typeface="Calibri" pitchFamily="34" charset="0"/>
                <a:ea typeface="Calibri" pitchFamily="34" charset="-122"/>
                <a:cs typeface="Calibri" pitchFamily="34" charset="-120"/>
              </a:rPr>
              <a:t>Cada capa expone contratos estables (interfaces, DTOs) al resto.</a:t>
            </a:r>
            <a:endParaRPr lang="en-US" sz="1300" dirty="0"/>
          </a:p>
          <a:p>
            <a:pPr marL="342900" indent="-342900">
              <a:spcAft>
                <a:spcPts val="800"/>
              </a:spcAft>
              <a:buSzPct val="100000"/>
              <a:buChar char="■"/>
            </a:pPr>
            <a:r>
              <a:rPr lang="en-US" sz="1300" dirty="0">
                <a:solidFill>
                  <a:srgbClr val="3F3F3F"/>
                </a:solidFill>
                <a:latin typeface="Calibri" pitchFamily="34" charset="0"/>
                <a:ea typeface="Calibri" pitchFamily="34" charset="-122"/>
                <a:cs typeface="Calibri" pitchFamily="34" charset="-120"/>
              </a:rPr>
              <a:t>Se sustituye una capa sin tocar las demas (ej. cambiar HTML por Angular).</a:t>
            </a:r>
            <a:endParaRPr lang="en-US" sz="1300" dirty="0"/>
          </a:p>
        </p:txBody>
      </p:sp>
      <p:sp>
        <p:nvSpPr>
          <p:cNvPr id="8" name="Shape 6"/>
          <p:cNvSpPr/>
          <p:nvPr/>
        </p:nvSpPr>
        <p:spPr>
          <a:xfrm>
            <a:off x="6309360" y="1828800"/>
            <a:ext cx="5486400" cy="868680"/>
          </a:xfrm>
          <a:prstGeom prst="rect">
            <a:avLst/>
          </a:prstGeom>
          <a:solidFill>
            <a:srgbClr val="006633"/>
          </a:solidFill>
          <a:ln w="6350">
            <a:solidFill>
              <a:srgbClr val="006633"/>
            </a:solidFill>
            <a:prstDash val="solid"/>
          </a:ln>
        </p:spPr>
      </p:sp>
      <p:sp>
        <p:nvSpPr>
          <p:cNvPr id="9" name="Text 7"/>
          <p:cNvSpPr/>
          <p:nvPr/>
        </p:nvSpPr>
        <p:spPr>
          <a:xfrm>
            <a:off x="6309360" y="1901952"/>
            <a:ext cx="548640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Presentacion</a:t>
            </a:r>
            <a:endParaRPr lang="en-US" sz="1400" dirty="0"/>
          </a:p>
        </p:txBody>
      </p:sp>
      <p:sp>
        <p:nvSpPr>
          <p:cNvPr id="10" name="Text 8"/>
          <p:cNvSpPr/>
          <p:nvPr/>
        </p:nvSpPr>
        <p:spPr>
          <a:xfrm>
            <a:off x="6309360" y="2267712"/>
            <a:ext cx="5486400" cy="365760"/>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Angular / Thymeleaf / Razor  --  Controllers  --  DTOs</a:t>
            </a:r>
            <a:endParaRPr lang="en-US" sz="1100" dirty="0"/>
          </a:p>
        </p:txBody>
      </p:sp>
      <p:sp>
        <p:nvSpPr>
          <p:cNvPr id="11" name="Shape 9"/>
          <p:cNvSpPr/>
          <p:nvPr/>
        </p:nvSpPr>
        <p:spPr>
          <a:xfrm>
            <a:off x="8915400" y="2724912"/>
            <a:ext cx="320040" cy="91440"/>
          </a:xfrm>
          <a:prstGeom prst="downArrow">
            <a:avLst/>
          </a:prstGeom>
          <a:solidFill>
            <a:srgbClr val="CC9900"/>
          </a:solidFill>
          <a:ln w="12700">
            <a:solidFill>
              <a:srgbClr val="CC9900"/>
            </a:solidFill>
            <a:prstDash val="solid"/>
          </a:ln>
        </p:spPr>
      </p:sp>
      <p:sp>
        <p:nvSpPr>
          <p:cNvPr id="12" name="Shape 10"/>
          <p:cNvSpPr/>
          <p:nvPr/>
        </p:nvSpPr>
        <p:spPr>
          <a:xfrm>
            <a:off x="6309360" y="2834640"/>
            <a:ext cx="5486400" cy="868680"/>
          </a:xfrm>
          <a:prstGeom prst="rect">
            <a:avLst/>
          </a:prstGeom>
          <a:solidFill>
            <a:srgbClr val="1B7A48"/>
          </a:solidFill>
          <a:ln w="6350">
            <a:solidFill>
              <a:srgbClr val="006633"/>
            </a:solidFill>
            <a:prstDash val="solid"/>
          </a:ln>
        </p:spPr>
      </p:sp>
      <p:sp>
        <p:nvSpPr>
          <p:cNvPr id="13" name="Text 11"/>
          <p:cNvSpPr/>
          <p:nvPr/>
        </p:nvSpPr>
        <p:spPr>
          <a:xfrm>
            <a:off x="6309360" y="2907792"/>
            <a:ext cx="548640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Negocio / Servicios</a:t>
            </a:r>
            <a:endParaRPr lang="en-US" sz="1400" dirty="0"/>
          </a:p>
        </p:txBody>
      </p:sp>
      <p:sp>
        <p:nvSpPr>
          <p:cNvPr id="14" name="Text 12"/>
          <p:cNvSpPr/>
          <p:nvPr/>
        </p:nvSpPr>
        <p:spPr>
          <a:xfrm>
            <a:off x="6309360" y="3273552"/>
            <a:ext cx="5486400" cy="365760"/>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Casos de uso, reglas de dominio, validacion</a:t>
            </a:r>
            <a:endParaRPr lang="en-US" sz="1100" dirty="0"/>
          </a:p>
        </p:txBody>
      </p:sp>
      <p:sp>
        <p:nvSpPr>
          <p:cNvPr id="15" name="Shape 13"/>
          <p:cNvSpPr/>
          <p:nvPr/>
        </p:nvSpPr>
        <p:spPr>
          <a:xfrm>
            <a:off x="8915400" y="3730752"/>
            <a:ext cx="320040" cy="91440"/>
          </a:xfrm>
          <a:prstGeom prst="downArrow">
            <a:avLst/>
          </a:prstGeom>
          <a:solidFill>
            <a:srgbClr val="CC9900"/>
          </a:solidFill>
          <a:ln w="12700">
            <a:solidFill>
              <a:srgbClr val="CC9900"/>
            </a:solidFill>
            <a:prstDash val="solid"/>
          </a:ln>
        </p:spPr>
      </p:sp>
      <p:sp>
        <p:nvSpPr>
          <p:cNvPr id="16" name="Shape 14"/>
          <p:cNvSpPr/>
          <p:nvPr/>
        </p:nvSpPr>
        <p:spPr>
          <a:xfrm>
            <a:off x="6309360" y="3840480"/>
            <a:ext cx="5486400" cy="868680"/>
          </a:xfrm>
          <a:prstGeom prst="rect">
            <a:avLst/>
          </a:prstGeom>
          <a:solidFill>
            <a:srgbClr val="6BAF8C"/>
          </a:solidFill>
          <a:ln w="6350">
            <a:solidFill>
              <a:srgbClr val="006633"/>
            </a:solidFill>
            <a:prstDash val="solid"/>
          </a:ln>
        </p:spPr>
      </p:sp>
      <p:sp>
        <p:nvSpPr>
          <p:cNvPr id="17" name="Text 15"/>
          <p:cNvSpPr/>
          <p:nvPr/>
        </p:nvSpPr>
        <p:spPr>
          <a:xfrm>
            <a:off x="6309360" y="3913632"/>
            <a:ext cx="548640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Acceso a datos</a:t>
            </a:r>
            <a:endParaRPr lang="en-US" sz="1400" dirty="0"/>
          </a:p>
        </p:txBody>
      </p:sp>
      <p:sp>
        <p:nvSpPr>
          <p:cNvPr id="18" name="Text 16"/>
          <p:cNvSpPr/>
          <p:nvPr/>
        </p:nvSpPr>
        <p:spPr>
          <a:xfrm>
            <a:off x="6309360" y="4279392"/>
            <a:ext cx="5486400" cy="365760"/>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Repositories (JPA / Doctrine / EF Core)</a:t>
            </a:r>
            <a:endParaRPr lang="en-US" sz="1100" dirty="0"/>
          </a:p>
        </p:txBody>
      </p:sp>
      <p:sp>
        <p:nvSpPr>
          <p:cNvPr id="19" name="Shape 17"/>
          <p:cNvSpPr/>
          <p:nvPr/>
        </p:nvSpPr>
        <p:spPr>
          <a:xfrm>
            <a:off x="8915400" y="4736592"/>
            <a:ext cx="320040" cy="91440"/>
          </a:xfrm>
          <a:prstGeom prst="downArrow">
            <a:avLst/>
          </a:prstGeom>
          <a:solidFill>
            <a:srgbClr val="CC9900"/>
          </a:solidFill>
          <a:ln w="12700">
            <a:solidFill>
              <a:srgbClr val="CC9900"/>
            </a:solidFill>
            <a:prstDash val="solid"/>
          </a:ln>
        </p:spPr>
      </p:sp>
      <p:sp>
        <p:nvSpPr>
          <p:cNvPr id="20" name="Shape 18"/>
          <p:cNvSpPr/>
          <p:nvPr/>
        </p:nvSpPr>
        <p:spPr>
          <a:xfrm>
            <a:off x="6309360" y="4846320"/>
            <a:ext cx="5486400" cy="868680"/>
          </a:xfrm>
          <a:prstGeom prst="rect">
            <a:avLst/>
          </a:prstGeom>
          <a:solidFill>
            <a:srgbClr val="A8CEB9"/>
          </a:solidFill>
          <a:ln w="6350">
            <a:solidFill>
              <a:srgbClr val="006633"/>
            </a:solidFill>
            <a:prstDash val="solid"/>
          </a:ln>
        </p:spPr>
      </p:sp>
      <p:sp>
        <p:nvSpPr>
          <p:cNvPr id="21" name="Text 19"/>
          <p:cNvSpPr/>
          <p:nvPr/>
        </p:nvSpPr>
        <p:spPr>
          <a:xfrm>
            <a:off x="6309360" y="4919472"/>
            <a:ext cx="548640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Base de datos</a:t>
            </a:r>
            <a:endParaRPr lang="en-US" sz="1400" dirty="0"/>
          </a:p>
        </p:txBody>
      </p:sp>
      <p:sp>
        <p:nvSpPr>
          <p:cNvPr id="22" name="Text 20"/>
          <p:cNvSpPr/>
          <p:nvPr/>
        </p:nvSpPr>
        <p:spPr>
          <a:xfrm>
            <a:off x="6309360" y="5285232"/>
            <a:ext cx="5486400" cy="365760"/>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PostgreSQL / MySQL / SQL Server</a:t>
            </a:r>
            <a:endParaRPr lang="en-US" sz="1100" dirty="0"/>
          </a:p>
        </p:txBody>
      </p:sp>
      <p:sp>
        <p:nvSpPr>
          <p:cNvPr id="23" name="Text 21"/>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24" name="Text 22"/>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-- 8 / 32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2 -- CAPAS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Responsabilidades por capa: ejemplo en Spring Boot 3</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4712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56692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Capa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Que hace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Anotaciones tipicas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Que NO hace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extLst>
                  <a:ext uri="{0D108BD9-81ED-4DB2-BD59-A6C34878D82A}">
                    <a16:rowId xmlns:a16="http://schemas.microsoft.com/office/drawing/2014/main" val="10000"/>
                  </a:ext>
                </a:extLst>
              </a:tr>
              <a:tr h="56692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Presentacion</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Traduce HTTP a llamadas de negocio; valida entrada; formatea salida.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@RestController, @GetMapping, @Valid</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No contiene reglas de negocio ni SQL.</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Servicio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Orquesta casos de uso, aplica reglas y transacciones.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@Service, @Transactional</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No conoce HttpServletRequest ni SQL crudo.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Dominio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Entidades y objetos de valor con invariantes de negocio.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@Entity, @Embeddable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No conoce Spring ni la BD; es Java puro.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Repositorio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Persistencia: CRUD, consultas por criterios, JOIN FETCH.</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@Repository, JpaRepository</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No aplica reglas de negocio ni valida entradas.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Datos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Almacenamiento fisico, indices, integridad referencial.</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PostgreSQL 16, Flyway, indices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No modela reglas de aplicacion.</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457200" y="5349240"/>
            <a:ext cx="11247120" cy="1051560"/>
          </a:xfrm>
          <a:prstGeom prst="roundRect">
            <a:avLst>
              <a:gd name="adj" fmla="val 4348"/>
            </a:avLst>
          </a:prstGeom>
          <a:solidFill>
            <a:srgbClr val="1E1E1E"/>
          </a:solidFill>
          <a:ln w="12700">
            <a:solidFill>
              <a:srgbClr val="1E1E1E"/>
            </a:solidFill>
            <a:prstDash val="solid"/>
          </a:ln>
        </p:spPr>
      </p:sp>
      <p:sp>
        <p:nvSpPr>
          <p:cNvPr id="7" name="Text 4"/>
          <p:cNvSpPr/>
          <p:nvPr/>
        </p:nvSpPr>
        <p:spPr>
          <a:xfrm>
            <a:off x="640080" y="5394960"/>
            <a:ext cx="10972800" cy="960120"/>
          </a:xfrm>
          <a:prstGeom prst="rect">
            <a:avLst/>
          </a:prstGeom>
          <a:noFill/>
          <a:ln/>
        </p:spPr>
        <p:txBody>
          <a:bodyPr wrap="square" lIns="0" tIns="0" rIns="0" bIns="0" rtlCol="0" anchor="t"/>
          <a:lstStyle/>
          <a:p>
            <a:pPr marL="0" indent="0">
              <a:buNone/>
            </a:pPr>
            <a:r>
              <a:rPr lang="en-US" sz="1100" dirty="0">
                <a:solidFill>
                  <a:srgbClr val="6A9955"/>
                </a:solidFill>
                <a:latin typeface="Courier New" pitchFamily="34" charset="0"/>
                <a:ea typeface="Courier New" pitchFamily="34" charset="-122"/>
                <a:cs typeface="Courier New" pitchFamily="34" charset="-120"/>
              </a:rPr>
              <a:t>// PRESENTACION
</a:t>
            </a:r>
            <a:r>
              <a:rPr lang="en-US" sz="1100" dirty="0">
                <a:solidFill>
                  <a:srgbClr val="CE9178"/>
                </a:solidFill>
                <a:latin typeface="Courier New" pitchFamily="34" charset="0"/>
                <a:ea typeface="Courier New" pitchFamily="34" charset="-122"/>
                <a:cs typeface="Courier New" pitchFamily="34" charset="-120"/>
              </a:rPr>
              <a:t>@GetMapping("/libros/{id}")
</a:t>
            </a:r>
            <a:r>
              <a:rPr lang="en-US" sz="1100" dirty="0">
                <a:solidFill>
                  <a:srgbClr val="9CDCFE"/>
                </a:solidFill>
                <a:latin typeface="Courier New" pitchFamily="34" charset="0"/>
                <a:ea typeface="Courier New" pitchFamily="34" charset="-122"/>
                <a:cs typeface="Courier New" pitchFamily="34" charset="-120"/>
              </a:rPr>
              <a:t>public LibroDTO obtener(@PathVariable Long id) {
</a:t>
            </a:r>
            <a:r>
              <a:rPr lang="en-US" sz="1100" dirty="0">
                <a:solidFill>
                  <a:srgbClr val="C586C0"/>
                </a:solidFill>
                <a:latin typeface="Courier New" pitchFamily="34" charset="0"/>
                <a:ea typeface="Courier New" pitchFamily="34" charset="-122"/>
                <a:cs typeface="Courier New" pitchFamily="34" charset="-120"/>
              </a:rPr>
              <a:t>  return </a:t>
            </a:r>
            <a:r>
              <a:rPr lang="en-US" sz="1100" dirty="0">
                <a:solidFill>
                  <a:srgbClr val="DCDCAA"/>
                </a:solidFill>
                <a:latin typeface="Courier New" pitchFamily="34" charset="0"/>
                <a:ea typeface="Courier New" pitchFamily="34" charset="-122"/>
                <a:cs typeface="Courier New" pitchFamily="34" charset="-120"/>
              </a:rPr>
              <a:t>libroService.obtenerPorId(id);  </a:t>
            </a:r>
            <a:r>
              <a:rPr lang="en-US" sz="1100" dirty="0">
                <a:solidFill>
                  <a:srgbClr val="6A9955"/>
                </a:solidFill>
                <a:latin typeface="Courier New" pitchFamily="34" charset="0"/>
                <a:ea typeface="Courier New" pitchFamily="34" charset="-122"/>
                <a:cs typeface="Courier New" pitchFamily="34" charset="-120"/>
              </a:rPr>
              <a:t>// delega a la capa Servicio
</a:t>
            </a: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8" name="Text 5"/>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9" name="Text 6"/>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-- 9 / 32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2 -- CAPAS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Ventajas, desventajas y errores comunes</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Shape 3"/>
          <p:cNvSpPr/>
          <p:nvPr/>
        </p:nvSpPr>
        <p:spPr>
          <a:xfrm>
            <a:off x="457200" y="1691640"/>
            <a:ext cx="3749040" cy="4572000"/>
          </a:xfrm>
          <a:prstGeom prst="roundRect">
            <a:avLst>
              <a:gd name="adj" fmla="val 1951"/>
            </a:avLst>
          </a:prstGeom>
          <a:solidFill>
            <a:srgbClr val="FFFFFF"/>
          </a:solidFill>
          <a:ln w="9525">
            <a:solidFill>
              <a:srgbClr val="D0D0D0"/>
            </a:solidFill>
            <a:prstDash val="solid"/>
          </a:ln>
        </p:spPr>
      </p:sp>
      <p:sp>
        <p:nvSpPr>
          <p:cNvPr id="6" name="Text 4"/>
          <p:cNvSpPr/>
          <p:nvPr/>
        </p:nvSpPr>
        <p:spPr>
          <a:xfrm>
            <a:off x="594360" y="1783080"/>
            <a:ext cx="3474720" cy="411480"/>
          </a:xfrm>
          <a:prstGeom prst="rect">
            <a:avLst/>
          </a:prstGeom>
          <a:noFill/>
          <a:ln/>
        </p:spPr>
        <p:txBody>
          <a:bodyPr wrap="square" lIns="0" tIns="0" rIns="0" bIns="0" rtlCol="0" anchor="ctr"/>
          <a:lstStyle/>
          <a:p>
            <a:pPr marL="0" indent="0">
              <a:buNone/>
            </a:pPr>
            <a:r>
              <a:rPr lang="en-US" sz="1500" b="1" dirty="0">
                <a:solidFill>
                  <a:srgbClr val="006633"/>
                </a:solidFill>
                <a:latin typeface="Cambria" pitchFamily="34" charset="0"/>
                <a:ea typeface="Cambria" pitchFamily="34" charset="-122"/>
                <a:cs typeface="Cambria" pitchFamily="34" charset="-120"/>
              </a:rPr>
              <a:t>Ventajas</a:t>
            </a:r>
            <a:endParaRPr lang="en-US" sz="1500" dirty="0"/>
          </a:p>
        </p:txBody>
      </p:sp>
      <p:sp>
        <p:nvSpPr>
          <p:cNvPr id="7" name="Text 5"/>
          <p:cNvSpPr/>
          <p:nvPr/>
        </p:nvSpPr>
        <p:spPr>
          <a:xfrm>
            <a:off x="594360" y="2221992"/>
            <a:ext cx="3474720" cy="393192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  Separacion clara de responsabilidades.</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Testabilidad: cada capa se prueba en aislamiento.</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Sustituibilidad: cambiar la UI o la BD sin tocar el nucleo.</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Curva de aprendizaje suave: es el modelo mental por defecto en universidades y empresas.</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Compatible con Clean Architecture y arquitectura hexagonal (variantes).</a:t>
            </a:r>
            <a:endParaRPr lang="en-US" sz="1200" dirty="0"/>
          </a:p>
        </p:txBody>
      </p:sp>
      <p:sp>
        <p:nvSpPr>
          <p:cNvPr id="8" name="Shape 6"/>
          <p:cNvSpPr/>
          <p:nvPr/>
        </p:nvSpPr>
        <p:spPr>
          <a:xfrm>
            <a:off x="4343400" y="1691640"/>
            <a:ext cx="3749040" cy="4572000"/>
          </a:xfrm>
          <a:prstGeom prst="roundRect">
            <a:avLst>
              <a:gd name="adj" fmla="val 1951"/>
            </a:avLst>
          </a:prstGeom>
          <a:solidFill>
            <a:srgbClr val="FFFFFF"/>
          </a:solidFill>
          <a:ln w="9525">
            <a:solidFill>
              <a:srgbClr val="D0D0D0"/>
            </a:solidFill>
            <a:prstDash val="solid"/>
          </a:ln>
        </p:spPr>
      </p:sp>
      <p:sp>
        <p:nvSpPr>
          <p:cNvPr id="9" name="Text 7"/>
          <p:cNvSpPr/>
          <p:nvPr/>
        </p:nvSpPr>
        <p:spPr>
          <a:xfrm>
            <a:off x="4480560" y="1783080"/>
            <a:ext cx="3474720" cy="411480"/>
          </a:xfrm>
          <a:prstGeom prst="rect">
            <a:avLst/>
          </a:prstGeom>
          <a:noFill/>
          <a:ln/>
        </p:spPr>
        <p:txBody>
          <a:bodyPr wrap="square" lIns="0" tIns="0" rIns="0" bIns="0" rtlCol="0" anchor="ctr"/>
          <a:lstStyle/>
          <a:p>
            <a:pPr marL="0" indent="0">
              <a:buNone/>
            </a:pPr>
            <a:r>
              <a:rPr lang="en-US" sz="1500" b="1" dirty="0">
                <a:solidFill>
                  <a:srgbClr val="CC9900"/>
                </a:solidFill>
                <a:latin typeface="Cambria" pitchFamily="34" charset="0"/>
                <a:ea typeface="Cambria" pitchFamily="34" charset="-122"/>
                <a:cs typeface="Cambria" pitchFamily="34" charset="-120"/>
              </a:rPr>
              <a:t>Desventajas</a:t>
            </a:r>
            <a:endParaRPr lang="en-US" sz="1500" dirty="0"/>
          </a:p>
        </p:txBody>
      </p:sp>
      <p:sp>
        <p:nvSpPr>
          <p:cNvPr id="10" name="Text 8"/>
          <p:cNvSpPr/>
          <p:nvPr/>
        </p:nvSpPr>
        <p:spPr>
          <a:xfrm>
            <a:off x="4480560" y="2221992"/>
            <a:ext cx="3474720" cy="393192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  Latencia: cada peticion atraviesa varias capas.</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Riesgo de anemia: entidades sin comportamiento y servicios que hacen todo.</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Duplicacion: DTOs, mappers, converters se multiplican.</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No escala bien a sistemas MUY grandes; se convierte en un monolito rigido.</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Los cambios de dominio suelen tocar 4 capas a la vez.</a:t>
            </a:r>
            <a:endParaRPr lang="en-US" sz="1200" dirty="0"/>
          </a:p>
        </p:txBody>
      </p:sp>
      <p:sp>
        <p:nvSpPr>
          <p:cNvPr id="11" name="Shape 9"/>
          <p:cNvSpPr/>
          <p:nvPr/>
        </p:nvSpPr>
        <p:spPr>
          <a:xfrm>
            <a:off x="8229600" y="1691640"/>
            <a:ext cx="3474720" cy="4572000"/>
          </a:xfrm>
          <a:prstGeom prst="roundRect">
            <a:avLst>
              <a:gd name="adj" fmla="val 2105"/>
            </a:avLst>
          </a:prstGeom>
          <a:solidFill>
            <a:srgbClr val="FFFFFF"/>
          </a:solidFill>
          <a:ln w="9525">
            <a:solidFill>
              <a:srgbClr val="D0D0D0"/>
            </a:solidFill>
            <a:prstDash val="solid"/>
          </a:ln>
        </p:spPr>
      </p:sp>
      <p:sp>
        <p:nvSpPr>
          <p:cNvPr id="12" name="Text 10"/>
          <p:cNvSpPr/>
          <p:nvPr/>
        </p:nvSpPr>
        <p:spPr>
          <a:xfrm>
            <a:off x="8366760" y="1783080"/>
            <a:ext cx="3200400" cy="411480"/>
          </a:xfrm>
          <a:prstGeom prst="rect">
            <a:avLst/>
          </a:prstGeom>
          <a:noFill/>
          <a:ln/>
        </p:spPr>
        <p:txBody>
          <a:bodyPr wrap="square" lIns="0" tIns="0" rIns="0" bIns="0" rtlCol="0" anchor="ctr"/>
          <a:lstStyle/>
          <a:p>
            <a:pPr marL="0" indent="0">
              <a:buNone/>
            </a:pPr>
            <a:r>
              <a:rPr lang="en-US" sz="1500" b="1" dirty="0">
                <a:solidFill>
                  <a:srgbClr val="B22222"/>
                </a:solidFill>
                <a:latin typeface="Cambria" pitchFamily="34" charset="0"/>
                <a:ea typeface="Cambria" pitchFamily="34" charset="-122"/>
                <a:cs typeface="Cambria" pitchFamily="34" charset="-120"/>
              </a:rPr>
              <a:t>Errores comunes</a:t>
            </a:r>
            <a:endParaRPr lang="en-US" sz="1500" dirty="0"/>
          </a:p>
        </p:txBody>
      </p:sp>
      <p:sp>
        <p:nvSpPr>
          <p:cNvPr id="13" name="Text 11"/>
          <p:cNvSpPr/>
          <p:nvPr/>
        </p:nvSpPr>
        <p:spPr>
          <a:xfrm>
            <a:off x="8366760" y="2221992"/>
            <a:ext cx="3200400" cy="393192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  Poner SQL crudo en el Controller.</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Devolver @Entity al cliente en lugar de un DTO.</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Servicios que llaman a otros Controllers (dependencia horizontal).</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Capas que se saltan (Controller -&gt; Repository sin pasar por Service).</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Excepciones de negocio que llegan crudas al cliente como stacktrace.</a:t>
            </a:r>
            <a:endParaRPr lang="en-US" sz="1200" dirty="0"/>
          </a:p>
        </p:txBody>
      </p:sp>
      <p:sp>
        <p:nvSpPr>
          <p:cNvPr id="14" name="Text 12"/>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15" name="Text 13"/>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-- 10 / 32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2 -- CAPAS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La regla de la dependencia (Clean Architecture)</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Shape 3"/>
          <p:cNvSpPr/>
          <p:nvPr/>
        </p:nvSpPr>
        <p:spPr>
          <a:xfrm>
            <a:off x="1645920" y="1645920"/>
            <a:ext cx="4937760" cy="4937760"/>
          </a:xfrm>
          <a:prstGeom prst="ellipse">
            <a:avLst/>
          </a:prstGeom>
          <a:solidFill>
            <a:srgbClr val="F5DEB3"/>
          </a:solidFill>
          <a:ln w="12700">
            <a:solidFill>
              <a:srgbClr val="006633"/>
            </a:solidFill>
            <a:prstDash val="solid"/>
          </a:ln>
        </p:spPr>
      </p:sp>
      <p:sp>
        <p:nvSpPr>
          <p:cNvPr id="6" name="Shape 4"/>
          <p:cNvSpPr/>
          <p:nvPr/>
        </p:nvSpPr>
        <p:spPr>
          <a:xfrm>
            <a:off x="2194560" y="2194560"/>
            <a:ext cx="3840480" cy="3840480"/>
          </a:xfrm>
          <a:prstGeom prst="ellipse">
            <a:avLst/>
          </a:prstGeom>
          <a:solidFill>
            <a:srgbClr val="F5E6C4"/>
          </a:solidFill>
          <a:ln w="12700">
            <a:solidFill>
              <a:srgbClr val="006633"/>
            </a:solidFill>
            <a:prstDash val="solid"/>
          </a:ln>
        </p:spPr>
      </p:sp>
      <p:sp>
        <p:nvSpPr>
          <p:cNvPr id="7" name="Shape 5"/>
          <p:cNvSpPr/>
          <p:nvPr/>
        </p:nvSpPr>
        <p:spPr>
          <a:xfrm>
            <a:off x="2743200" y="2743200"/>
            <a:ext cx="2743200" cy="2743200"/>
          </a:xfrm>
          <a:prstGeom prst="ellipse">
            <a:avLst/>
          </a:prstGeom>
          <a:solidFill>
            <a:srgbClr val="F8EFD8"/>
          </a:solidFill>
          <a:ln w="12700">
            <a:solidFill>
              <a:srgbClr val="006633"/>
            </a:solidFill>
            <a:prstDash val="solid"/>
          </a:ln>
        </p:spPr>
      </p:sp>
      <p:sp>
        <p:nvSpPr>
          <p:cNvPr id="8" name="Shape 6"/>
          <p:cNvSpPr/>
          <p:nvPr/>
        </p:nvSpPr>
        <p:spPr>
          <a:xfrm>
            <a:off x="3291840" y="3291840"/>
            <a:ext cx="1645920" cy="1645920"/>
          </a:xfrm>
          <a:prstGeom prst="ellipse">
            <a:avLst/>
          </a:prstGeom>
          <a:solidFill>
            <a:srgbClr val="E6F0EA"/>
          </a:solidFill>
          <a:ln w="12700">
            <a:solidFill>
              <a:srgbClr val="006633"/>
            </a:solidFill>
            <a:prstDash val="solid"/>
          </a:ln>
        </p:spPr>
      </p:sp>
      <p:sp>
        <p:nvSpPr>
          <p:cNvPr id="9" name="Text 7"/>
          <p:cNvSpPr/>
          <p:nvPr/>
        </p:nvSpPr>
        <p:spPr>
          <a:xfrm>
            <a:off x="3291840" y="3977640"/>
            <a:ext cx="1645920" cy="274320"/>
          </a:xfrm>
          <a:prstGeom prst="rect">
            <a:avLst/>
          </a:prstGeom>
          <a:noFill/>
          <a:ln/>
        </p:spPr>
        <p:txBody>
          <a:bodyPr wrap="square" lIns="0" tIns="0" rIns="0" bIns="0" rtlCol="0" anchor="ctr"/>
          <a:lstStyle/>
          <a:p>
            <a:pPr marL="0" indent="0" algn="ctr">
              <a:buNone/>
            </a:pPr>
            <a:r>
              <a:rPr lang="en-US" sz="1200" b="1" dirty="0">
                <a:solidFill>
                  <a:srgbClr val="006633"/>
                </a:solidFill>
                <a:latin typeface="Cambria" pitchFamily="34" charset="0"/>
                <a:ea typeface="Cambria" pitchFamily="34" charset="-122"/>
                <a:cs typeface="Cambria" pitchFamily="34" charset="-120"/>
              </a:rPr>
              <a:t>Dominio</a:t>
            </a:r>
            <a:endParaRPr lang="en-US" sz="1200" dirty="0"/>
          </a:p>
        </p:txBody>
      </p:sp>
      <p:sp>
        <p:nvSpPr>
          <p:cNvPr id="10" name="Text 8"/>
          <p:cNvSpPr/>
          <p:nvPr/>
        </p:nvSpPr>
        <p:spPr>
          <a:xfrm>
            <a:off x="2743200" y="4983480"/>
            <a:ext cx="2743200" cy="274320"/>
          </a:xfrm>
          <a:prstGeom prst="rect">
            <a:avLst/>
          </a:prstGeom>
          <a:noFill/>
          <a:ln/>
        </p:spPr>
        <p:txBody>
          <a:bodyPr wrap="square" lIns="0" tIns="0" rIns="0" bIns="0" rtlCol="0" anchor="ctr"/>
          <a:lstStyle/>
          <a:p>
            <a:pPr marL="0" indent="0" algn="ctr">
              <a:buNone/>
            </a:pPr>
            <a:r>
              <a:rPr lang="en-US" sz="1100" b="1" dirty="0">
                <a:solidFill>
                  <a:srgbClr val="1A1A1A"/>
                </a:solidFill>
                <a:latin typeface="Cambria" pitchFamily="34" charset="0"/>
                <a:ea typeface="Cambria" pitchFamily="34" charset="-122"/>
                <a:cs typeface="Cambria" pitchFamily="34" charset="-120"/>
              </a:rPr>
              <a:t>Casos de uso</a:t>
            </a:r>
            <a:endParaRPr lang="en-US" sz="1100" dirty="0"/>
          </a:p>
        </p:txBody>
      </p:sp>
      <p:sp>
        <p:nvSpPr>
          <p:cNvPr id="11" name="Text 9"/>
          <p:cNvSpPr/>
          <p:nvPr/>
        </p:nvSpPr>
        <p:spPr>
          <a:xfrm>
            <a:off x="2194560" y="5532120"/>
            <a:ext cx="3840480" cy="274320"/>
          </a:xfrm>
          <a:prstGeom prst="rect">
            <a:avLst/>
          </a:prstGeom>
          <a:noFill/>
          <a:ln/>
        </p:spPr>
        <p:txBody>
          <a:bodyPr wrap="square" lIns="0" tIns="0" rIns="0" bIns="0" rtlCol="0" anchor="ctr"/>
          <a:lstStyle/>
          <a:p>
            <a:pPr marL="0" indent="0" algn="ctr">
              <a:buNone/>
            </a:pPr>
            <a:r>
              <a:rPr lang="en-US" sz="1100" b="1" dirty="0">
                <a:solidFill>
                  <a:srgbClr val="1A1A1A"/>
                </a:solidFill>
                <a:latin typeface="Cambria" pitchFamily="34" charset="0"/>
                <a:ea typeface="Cambria" pitchFamily="34" charset="-122"/>
                <a:cs typeface="Cambria" pitchFamily="34" charset="-120"/>
              </a:rPr>
              <a:t>Adaptadores</a:t>
            </a:r>
            <a:endParaRPr lang="en-US" sz="1100" dirty="0"/>
          </a:p>
        </p:txBody>
      </p:sp>
      <p:sp>
        <p:nvSpPr>
          <p:cNvPr id="12" name="Text 10"/>
          <p:cNvSpPr/>
          <p:nvPr/>
        </p:nvSpPr>
        <p:spPr>
          <a:xfrm>
            <a:off x="1645920" y="6080760"/>
            <a:ext cx="4937760" cy="274320"/>
          </a:xfrm>
          <a:prstGeom prst="rect">
            <a:avLst/>
          </a:prstGeom>
          <a:noFill/>
          <a:ln/>
        </p:spPr>
        <p:txBody>
          <a:bodyPr wrap="square" lIns="0" tIns="0" rIns="0" bIns="0" rtlCol="0" anchor="ctr"/>
          <a:lstStyle/>
          <a:p>
            <a:pPr marL="0" indent="0" algn="ctr">
              <a:buNone/>
            </a:pPr>
            <a:r>
              <a:rPr lang="en-US" sz="1100" b="1" dirty="0">
                <a:solidFill>
                  <a:srgbClr val="1A1A1A"/>
                </a:solidFill>
                <a:latin typeface="Cambria" pitchFamily="34" charset="0"/>
                <a:ea typeface="Cambria" pitchFamily="34" charset="-122"/>
                <a:cs typeface="Cambria" pitchFamily="34" charset="-120"/>
              </a:rPr>
              <a:t>Frameworks y drivers</a:t>
            </a:r>
            <a:endParaRPr lang="en-US" sz="1100" dirty="0"/>
          </a:p>
        </p:txBody>
      </p:sp>
      <p:sp>
        <p:nvSpPr>
          <p:cNvPr id="13" name="Shape 11"/>
          <p:cNvSpPr/>
          <p:nvPr/>
        </p:nvSpPr>
        <p:spPr>
          <a:xfrm>
            <a:off x="731520" y="3977640"/>
            <a:ext cx="548640" cy="274320"/>
          </a:xfrm>
          <a:prstGeom prst="leftArrow">
            <a:avLst/>
          </a:prstGeom>
          <a:solidFill>
            <a:srgbClr val="CC9900"/>
          </a:solidFill>
          <a:ln w="12700">
            <a:solidFill>
              <a:srgbClr val="CC9900"/>
            </a:solidFill>
            <a:prstDash val="solid"/>
          </a:ln>
        </p:spPr>
      </p:sp>
      <p:sp>
        <p:nvSpPr>
          <p:cNvPr id="14" name="Text 12"/>
          <p:cNvSpPr/>
          <p:nvPr/>
        </p:nvSpPr>
        <p:spPr>
          <a:xfrm>
            <a:off x="-457200" y="3794760"/>
            <a:ext cx="1188720" cy="594360"/>
          </a:xfrm>
          <a:prstGeom prst="rect">
            <a:avLst/>
          </a:prstGeom>
          <a:noFill/>
          <a:ln/>
        </p:spPr>
        <p:txBody>
          <a:bodyPr wrap="square" lIns="0" tIns="0" rIns="0" bIns="0" rtlCol="0" anchor="ctr"/>
          <a:lstStyle/>
          <a:p>
            <a:pPr marL="0" indent="0" algn="r">
              <a:buNone/>
            </a:pPr>
            <a:r>
              <a:rPr lang="en-US" sz="1000" i="1" dirty="0">
                <a:solidFill>
                  <a:srgbClr val="3F3F3F"/>
                </a:solidFill>
                <a:latin typeface="Calibri" pitchFamily="34" charset="0"/>
                <a:ea typeface="Calibri" pitchFamily="34" charset="-122"/>
                <a:cs typeface="Calibri" pitchFamily="34" charset="-120"/>
              </a:rPr>
              <a:t>Las dependencias</a:t>
            </a:r>
            <a:endParaRPr lang="en-US" sz="1000" dirty="0"/>
          </a:p>
          <a:p>
            <a:pPr marL="0" indent="0" algn="r">
              <a:buNone/>
            </a:pPr>
            <a:r>
              <a:rPr lang="en-US" sz="1000" i="1" dirty="0">
                <a:solidFill>
                  <a:srgbClr val="3F3F3F"/>
                </a:solidFill>
                <a:latin typeface="Calibri" pitchFamily="34" charset="0"/>
                <a:ea typeface="Calibri" pitchFamily="34" charset="-122"/>
                <a:cs typeface="Calibri" pitchFamily="34" charset="-120"/>
              </a:rPr>
              <a:t>apuntan hacia adentro</a:t>
            </a:r>
            <a:endParaRPr lang="en-US" sz="1000" dirty="0"/>
          </a:p>
        </p:txBody>
      </p:sp>
      <p:sp>
        <p:nvSpPr>
          <p:cNvPr id="15" name="Text 13"/>
          <p:cNvSpPr/>
          <p:nvPr/>
        </p:nvSpPr>
        <p:spPr>
          <a:xfrm>
            <a:off x="7772400" y="1691640"/>
            <a:ext cx="3931920" cy="320040"/>
          </a:xfrm>
          <a:prstGeom prst="rect">
            <a:avLst/>
          </a:prstGeom>
          <a:noFill/>
          <a:ln/>
        </p:spPr>
        <p:txBody>
          <a:bodyPr wrap="square" lIns="0" tIns="0" rIns="0" bIns="0" rtlCol="0" anchor="ctr"/>
          <a:lstStyle/>
          <a:p>
            <a:pPr marL="0" indent="0">
              <a:buNone/>
            </a:pPr>
            <a:r>
              <a:rPr lang="en-US" sz="1600" b="1" dirty="0">
                <a:solidFill>
                  <a:srgbClr val="006633"/>
                </a:solidFill>
                <a:latin typeface="Cambria" pitchFamily="34" charset="0"/>
                <a:ea typeface="Cambria" pitchFamily="34" charset="-122"/>
                <a:cs typeface="Cambria" pitchFamily="34" charset="-120"/>
              </a:rPr>
              <a:t>Regla fundamental</a:t>
            </a:r>
            <a:endParaRPr lang="en-US" sz="1600" dirty="0"/>
          </a:p>
        </p:txBody>
      </p:sp>
      <p:sp>
        <p:nvSpPr>
          <p:cNvPr id="16" name="Text 14"/>
          <p:cNvSpPr/>
          <p:nvPr/>
        </p:nvSpPr>
        <p:spPr>
          <a:xfrm>
            <a:off x="7772400" y="2057400"/>
            <a:ext cx="3931920" cy="128016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Ninguna capa interior puede depender de una capa exterior.  El dominio no sabe que existe Spring, ni PostgreSQL, ni HTTP.  Los casos de uso invocan al dominio, no al reves.</a:t>
            </a:r>
            <a:endParaRPr lang="en-US" sz="1200" dirty="0"/>
          </a:p>
        </p:txBody>
      </p:sp>
      <p:sp>
        <p:nvSpPr>
          <p:cNvPr id="17" name="Text 15"/>
          <p:cNvSpPr/>
          <p:nvPr/>
        </p:nvSpPr>
        <p:spPr>
          <a:xfrm>
            <a:off x="7772400" y="3520440"/>
            <a:ext cx="3931920" cy="320040"/>
          </a:xfrm>
          <a:prstGeom prst="rect">
            <a:avLst/>
          </a:prstGeom>
          <a:noFill/>
          <a:ln/>
        </p:spPr>
        <p:txBody>
          <a:bodyPr wrap="square" lIns="0" tIns="0" rIns="0" bIns="0" rtlCol="0" anchor="ctr"/>
          <a:lstStyle/>
          <a:p>
            <a:pPr marL="0" indent="0">
              <a:buNone/>
            </a:pPr>
            <a:r>
              <a:rPr lang="en-US" sz="1400" b="1" dirty="0">
                <a:solidFill>
                  <a:srgbClr val="CC9900"/>
                </a:solidFill>
                <a:latin typeface="Cambria" pitchFamily="34" charset="0"/>
                <a:ea typeface="Cambria" pitchFamily="34" charset="-122"/>
                <a:cs typeface="Cambria" pitchFamily="34" charset="-120"/>
              </a:rPr>
              <a:t>Consecuencias practicas</a:t>
            </a:r>
            <a:endParaRPr lang="en-US" sz="1400" dirty="0"/>
          </a:p>
        </p:txBody>
      </p:sp>
      <p:sp>
        <p:nvSpPr>
          <p:cNvPr id="18" name="Text 16"/>
          <p:cNvSpPr/>
          <p:nvPr/>
        </p:nvSpPr>
        <p:spPr>
          <a:xfrm>
            <a:off x="7772400" y="3840480"/>
            <a:ext cx="4023360" cy="23774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Puedo cambiar PostgreSQL por MongoDB sin tocar los casos de uso.</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Puedo cambiar REST por gRPC sin tocar el dominio.</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El dominio se prueba con jUnit puro, sin Spring, sin BD.</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Los frameworks son detalles reemplazables.</a:t>
            </a:r>
            <a:endParaRPr lang="en-US" sz="1200" dirty="0"/>
          </a:p>
        </p:txBody>
      </p:sp>
      <p:sp>
        <p:nvSpPr>
          <p:cNvPr id="19" name="Text 17"/>
          <p:cNvSpPr/>
          <p:nvPr/>
        </p:nvSpPr>
        <p:spPr>
          <a:xfrm>
            <a:off x="457200" y="6263640"/>
            <a:ext cx="11247120" cy="274320"/>
          </a:xfrm>
          <a:prstGeom prst="rect">
            <a:avLst/>
          </a:prstGeom>
          <a:noFill/>
          <a:ln/>
        </p:spPr>
        <p:txBody>
          <a:bodyPr wrap="square" lIns="0" tIns="0" rIns="0" bIns="0" rtlCol="0" anchor="ctr"/>
          <a:lstStyle/>
          <a:p>
            <a:pPr marL="0" indent="0">
              <a:buNone/>
            </a:pPr>
            <a:r>
              <a:rPr lang="en-US" sz="1000" b="1" dirty="0">
                <a:solidFill>
                  <a:srgbClr val="006633"/>
                </a:solidFill>
                <a:latin typeface="Calibri" pitchFamily="34" charset="0"/>
                <a:ea typeface="Calibri" pitchFamily="34" charset="-122"/>
                <a:cs typeface="Calibri" pitchFamily="34" charset="-120"/>
              </a:rPr>
              <a:t>Referencia: </a:t>
            </a:r>
            <a:r>
              <a:rPr lang="en-US" sz="1000" i="1" dirty="0">
                <a:solidFill>
                  <a:srgbClr val="6B6B6B"/>
                </a:solidFill>
                <a:latin typeface="Calibri" pitchFamily="34" charset="0"/>
                <a:ea typeface="Calibri" pitchFamily="34" charset="-122"/>
                <a:cs typeface="Calibri" pitchFamily="34" charset="-120"/>
              </a:rPr>
              <a:t>Martin, R. C. (2017). Clean Architecture: A Craftsman's Guide to Software Structure and Design, Prentice Hall.</a:t>
            </a:r>
            <a:endParaRPr lang="en-US" sz="1000" dirty="0"/>
          </a:p>
        </p:txBody>
      </p:sp>
      <p:sp>
        <p:nvSpPr>
          <p:cNvPr id="20" name="Text 18"/>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21" name="Text 19"/>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-- 11 / 32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2 -- CAPAS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Variante moderna: arquitectura hexagonal (Ports and Adapters)</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Shape 3"/>
          <p:cNvSpPr/>
          <p:nvPr/>
        </p:nvSpPr>
        <p:spPr>
          <a:xfrm>
            <a:off x="1828800" y="2926080"/>
            <a:ext cx="2743200" cy="2377440"/>
          </a:xfrm>
          <a:prstGeom prst="hexagon">
            <a:avLst/>
          </a:prstGeom>
          <a:solidFill>
            <a:srgbClr val="E6F0EA"/>
          </a:solidFill>
          <a:ln w="25400">
            <a:solidFill>
              <a:srgbClr val="006633"/>
            </a:solidFill>
            <a:prstDash val="solid"/>
          </a:ln>
        </p:spPr>
      </p:sp>
      <p:sp>
        <p:nvSpPr>
          <p:cNvPr id="6" name="Text 4"/>
          <p:cNvSpPr/>
          <p:nvPr/>
        </p:nvSpPr>
        <p:spPr>
          <a:xfrm>
            <a:off x="1828800" y="3429000"/>
            <a:ext cx="2743200" cy="1371600"/>
          </a:xfrm>
          <a:prstGeom prst="rect">
            <a:avLst/>
          </a:prstGeom>
          <a:noFill/>
          <a:ln/>
        </p:spPr>
        <p:txBody>
          <a:bodyPr wrap="square" lIns="0" tIns="0" rIns="0" bIns="0" rtlCol="0" anchor="ctr"/>
          <a:lstStyle/>
          <a:p>
            <a:pPr marL="0" indent="0" algn="ctr">
              <a:buNone/>
            </a:pPr>
            <a:r>
              <a:rPr lang="en-US" sz="1400" b="1" dirty="0">
                <a:solidFill>
                  <a:srgbClr val="006633"/>
                </a:solidFill>
                <a:latin typeface="Cambria" pitchFamily="34" charset="0"/>
                <a:ea typeface="Cambria" pitchFamily="34" charset="-122"/>
                <a:cs typeface="Cambria" pitchFamily="34" charset="-120"/>
              </a:rPr>
              <a:t>Dominio</a:t>
            </a:r>
            <a:endParaRPr lang="en-US" sz="1400" dirty="0"/>
          </a:p>
          <a:p>
            <a:pPr marL="0" indent="0" algn="ctr">
              <a:buNone/>
            </a:pPr>
            <a:r>
              <a:rPr lang="en-US" sz="1400" b="1" dirty="0">
                <a:solidFill>
                  <a:srgbClr val="006633"/>
                </a:solidFill>
                <a:latin typeface="Cambria" pitchFamily="34" charset="0"/>
                <a:ea typeface="Cambria" pitchFamily="34" charset="-122"/>
                <a:cs typeface="Cambria" pitchFamily="34" charset="-120"/>
              </a:rPr>
              <a:t>(casos de uso)</a:t>
            </a:r>
            <a:endParaRPr lang="en-US" sz="1400" dirty="0"/>
          </a:p>
          <a:p>
            <a:pPr marL="0" indent="0" algn="ctr">
              <a:buNone/>
            </a:pPr>
            <a:r>
              <a:rPr lang="en-US" sz="1400" b="1" dirty="0">
                <a:solidFill>
                  <a:srgbClr val="006633"/>
                </a:solidFill>
                <a:latin typeface="Cambria" pitchFamily="34" charset="0"/>
                <a:ea typeface="Cambria" pitchFamily="34" charset="-122"/>
                <a:cs typeface="Cambria" pitchFamily="34" charset="-120"/>
              </a:rPr>
              <a:t>Java puro</a:t>
            </a:r>
            <a:endParaRPr lang="en-US" sz="1400" dirty="0"/>
          </a:p>
        </p:txBody>
      </p:sp>
      <p:sp>
        <p:nvSpPr>
          <p:cNvPr id="7" name="Shape 5"/>
          <p:cNvSpPr/>
          <p:nvPr/>
        </p:nvSpPr>
        <p:spPr>
          <a:xfrm>
            <a:off x="822960" y="1737360"/>
            <a:ext cx="1828800" cy="914400"/>
          </a:xfrm>
          <a:prstGeom prst="roundRect">
            <a:avLst>
              <a:gd name="adj" fmla="val 5000"/>
            </a:avLst>
          </a:prstGeom>
          <a:solidFill>
            <a:srgbClr val="FFFFFF"/>
          </a:solidFill>
          <a:ln w="19050">
            <a:solidFill>
              <a:srgbClr val="CC9900"/>
            </a:solidFill>
            <a:prstDash val="solid"/>
          </a:ln>
        </p:spPr>
      </p:sp>
      <p:sp>
        <p:nvSpPr>
          <p:cNvPr id="8" name="Text 6"/>
          <p:cNvSpPr/>
          <p:nvPr/>
        </p:nvSpPr>
        <p:spPr>
          <a:xfrm>
            <a:off x="822960" y="1737360"/>
            <a:ext cx="1828800" cy="914400"/>
          </a:xfrm>
          <a:prstGeom prst="rect">
            <a:avLst/>
          </a:prstGeom>
          <a:noFill/>
          <a:ln/>
        </p:spPr>
        <p:txBody>
          <a:bodyPr wrap="square" lIns="0" tIns="0" rIns="0" bIns="0" rtlCol="0" anchor="ctr"/>
          <a:lstStyle/>
          <a:p>
            <a:pPr marL="0" indent="0" algn="ctr">
              <a:buNone/>
            </a:pPr>
            <a:r>
              <a:rPr lang="en-US" sz="1200" b="1" dirty="0">
                <a:solidFill>
                  <a:srgbClr val="CC9900"/>
                </a:solidFill>
                <a:latin typeface="Cambria" pitchFamily="34" charset="0"/>
                <a:ea typeface="Cambria" pitchFamily="34" charset="-122"/>
                <a:cs typeface="Cambria" pitchFamily="34" charset="-120"/>
              </a:rPr>
              <a:t>REST</a:t>
            </a:r>
            <a:endParaRPr lang="en-US" sz="1200" dirty="0"/>
          </a:p>
          <a:p>
            <a:pPr marL="0" indent="0" algn="ctr">
              <a:buNone/>
            </a:pPr>
            <a:r>
              <a:rPr lang="en-US" sz="1200" b="1" dirty="0">
                <a:solidFill>
                  <a:srgbClr val="CC9900"/>
                </a:solidFill>
                <a:latin typeface="Cambria" pitchFamily="34" charset="0"/>
                <a:ea typeface="Cambria" pitchFamily="34" charset="-122"/>
                <a:cs typeface="Cambria" pitchFamily="34" charset="-120"/>
              </a:rPr>
              <a:t>Controller</a:t>
            </a:r>
            <a:endParaRPr lang="en-US" sz="1200" dirty="0"/>
          </a:p>
        </p:txBody>
      </p:sp>
      <p:sp>
        <p:nvSpPr>
          <p:cNvPr id="9" name="Shape 7"/>
          <p:cNvSpPr/>
          <p:nvPr/>
        </p:nvSpPr>
        <p:spPr>
          <a:xfrm>
            <a:off x="3749040" y="1737360"/>
            <a:ext cx="1828800" cy="914400"/>
          </a:xfrm>
          <a:prstGeom prst="roundRect">
            <a:avLst>
              <a:gd name="adj" fmla="val 5000"/>
            </a:avLst>
          </a:prstGeom>
          <a:solidFill>
            <a:srgbClr val="FFFFFF"/>
          </a:solidFill>
          <a:ln w="19050">
            <a:solidFill>
              <a:srgbClr val="CC9900"/>
            </a:solidFill>
            <a:prstDash val="solid"/>
          </a:ln>
        </p:spPr>
      </p:sp>
      <p:sp>
        <p:nvSpPr>
          <p:cNvPr id="10" name="Text 8"/>
          <p:cNvSpPr/>
          <p:nvPr/>
        </p:nvSpPr>
        <p:spPr>
          <a:xfrm>
            <a:off x="3749040" y="1737360"/>
            <a:ext cx="1828800" cy="914400"/>
          </a:xfrm>
          <a:prstGeom prst="rect">
            <a:avLst/>
          </a:prstGeom>
          <a:noFill/>
          <a:ln/>
        </p:spPr>
        <p:txBody>
          <a:bodyPr wrap="square" lIns="0" tIns="0" rIns="0" bIns="0" rtlCol="0" anchor="ctr"/>
          <a:lstStyle/>
          <a:p>
            <a:pPr marL="0" indent="0" algn="ctr">
              <a:buNone/>
            </a:pPr>
            <a:r>
              <a:rPr lang="en-US" sz="1200" b="1" dirty="0">
                <a:solidFill>
                  <a:srgbClr val="CC9900"/>
                </a:solidFill>
                <a:latin typeface="Cambria" pitchFamily="34" charset="0"/>
                <a:ea typeface="Cambria" pitchFamily="34" charset="-122"/>
                <a:cs typeface="Cambria" pitchFamily="34" charset="-120"/>
              </a:rPr>
              <a:t>Cliente</a:t>
            </a:r>
            <a:endParaRPr lang="en-US" sz="1200" dirty="0"/>
          </a:p>
          <a:p>
            <a:pPr marL="0" indent="0" algn="ctr">
              <a:buNone/>
            </a:pPr>
            <a:r>
              <a:rPr lang="en-US" sz="1200" b="1" dirty="0">
                <a:solidFill>
                  <a:srgbClr val="CC9900"/>
                </a:solidFill>
                <a:latin typeface="Cambria" pitchFamily="34" charset="0"/>
                <a:ea typeface="Cambria" pitchFamily="34" charset="-122"/>
                <a:cs typeface="Cambria" pitchFamily="34" charset="-120"/>
              </a:rPr>
              <a:t>HTTP</a:t>
            </a:r>
            <a:endParaRPr lang="en-US" sz="1200" dirty="0"/>
          </a:p>
        </p:txBody>
      </p:sp>
      <p:sp>
        <p:nvSpPr>
          <p:cNvPr id="11" name="Shape 9"/>
          <p:cNvSpPr/>
          <p:nvPr/>
        </p:nvSpPr>
        <p:spPr>
          <a:xfrm>
            <a:off x="822960" y="5394960"/>
            <a:ext cx="1828800" cy="914400"/>
          </a:xfrm>
          <a:prstGeom prst="roundRect">
            <a:avLst>
              <a:gd name="adj" fmla="val 5000"/>
            </a:avLst>
          </a:prstGeom>
          <a:solidFill>
            <a:srgbClr val="FFFFFF"/>
          </a:solidFill>
          <a:ln w="19050">
            <a:solidFill>
              <a:srgbClr val="CC9900"/>
            </a:solidFill>
            <a:prstDash val="solid"/>
          </a:ln>
        </p:spPr>
      </p:sp>
      <p:sp>
        <p:nvSpPr>
          <p:cNvPr id="12" name="Text 10"/>
          <p:cNvSpPr/>
          <p:nvPr/>
        </p:nvSpPr>
        <p:spPr>
          <a:xfrm>
            <a:off x="822960" y="5394960"/>
            <a:ext cx="1828800" cy="914400"/>
          </a:xfrm>
          <a:prstGeom prst="rect">
            <a:avLst/>
          </a:prstGeom>
          <a:noFill/>
          <a:ln/>
        </p:spPr>
        <p:txBody>
          <a:bodyPr wrap="square" lIns="0" tIns="0" rIns="0" bIns="0" rtlCol="0" anchor="ctr"/>
          <a:lstStyle/>
          <a:p>
            <a:pPr marL="0" indent="0" algn="ctr">
              <a:buNone/>
            </a:pPr>
            <a:r>
              <a:rPr lang="en-US" sz="1200" b="1" dirty="0">
                <a:solidFill>
                  <a:srgbClr val="CC9900"/>
                </a:solidFill>
                <a:latin typeface="Cambria" pitchFamily="34" charset="0"/>
                <a:ea typeface="Cambria" pitchFamily="34" charset="-122"/>
                <a:cs typeface="Cambria" pitchFamily="34" charset="-120"/>
              </a:rPr>
              <a:t>JPA</a:t>
            </a:r>
            <a:endParaRPr lang="en-US" sz="1200" dirty="0"/>
          </a:p>
          <a:p>
            <a:pPr marL="0" indent="0" algn="ctr">
              <a:buNone/>
            </a:pPr>
            <a:r>
              <a:rPr lang="en-US" sz="1200" b="1" dirty="0">
                <a:solidFill>
                  <a:srgbClr val="CC9900"/>
                </a:solidFill>
                <a:latin typeface="Cambria" pitchFamily="34" charset="0"/>
                <a:ea typeface="Cambria" pitchFamily="34" charset="-122"/>
                <a:cs typeface="Cambria" pitchFamily="34" charset="-120"/>
              </a:rPr>
              <a:t>Repository</a:t>
            </a:r>
            <a:endParaRPr lang="en-US" sz="1200" dirty="0"/>
          </a:p>
        </p:txBody>
      </p:sp>
      <p:sp>
        <p:nvSpPr>
          <p:cNvPr id="13" name="Shape 11"/>
          <p:cNvSpPr/>
          <p:nvPr/>
        </p:nvSpPr>
        <p:spPr>
          <a:xfrm>
            <a:off x="3749040" y="5394960"/>
            <a:ext cx="1828800" cy="914400"/>
          </a:xfrm>
          <a:prstGeom prst="roundRect">
            <a:avLst>
              <a:gd name="adj" fmla="val 5000"/>
            </a:avLst>
          </a:prstGeom>
          <a:solidFill>
            <a:srgbClr val="FFFFFF"/>
          </a:solidFill>
          <a:ln w="19050">
            <a:solidFill>
              <a:srgbClr val="CC9900"/>
            </a:solidFill>
            <a:prstDash val="solid"/>
          </a:ln>
        </p:spPr>
      </p:sp>
      <p:sp>
        <p:nvSpPr>
          <p:cNvPr id="14" name="Text 12"/>
          <p:cNvSpPr/>
          <p:nvPr/>
        </p:nvSpPr>
        <p:spPr>
          <a:xfrm>
            <a:off x="3749040" y="5394960"/>
            <a:ext cx="1828800" cy="914400"/>
          </a:xfrm>
          <a:prstGeom prst="rect">
            <a:avLst/>
          </a:prstGeom>
          <a:noFill/>
          <a:ln/>
        </p:spPr>
        <p:txBody>
          <a:bodyPr wrap="square" lIns="0" tIns="0" rIns="0" bIns="0" rtlCol="0" anchor="ctr"/>
          <a:lstStyle/>
          <a:p>
            <a:pPr marL="0" indent="0" algn="ctr">
              <a:buNone/>
            </a:pPr>
            <a:r>
              <a:rPr lang="en-US" sz="1200" b="1" dirty="0">
                <a:solidFill>
                  <a:srgbClr val="CC9900"/>
                </a:solidFill>
                <a:latin typeface="Cambria" pitchFamily="34" charset="0"/>
                <a:ea typeface="Cambria" pitchFamily="34" charset="-122"/>
                <a:cs typeface="Cambria" pitchFamily="34" charset="-120"/>
              </a:rPr>
              <a:t>Redis</a:t>
            </a:r>
            <a:endParaRPr lang="en-US" sz="1200" dirty="0"/>
          </a:p>
          <a:p>
            <a:pPr marL="0" indent="0" algn="ctr">
              <a:buNone/>
            </a:pPr>
            <a:r>
              <a:rPr lang="en-US" sz="1200" b="1" dirty="0">
                <a:solidFill>
                  <a:srgbClr val="CC9900"/>
                </a:solidFill>
                <a:latin typeface="Cambria" pitchFamily="34" charset="0"/>
                <a:ea typeface="Cambria" pitchFamily="34" charset="-122"/>
                <a:cs typeface="Cambria" pitchFamily="34" charset="-120"/>
              </a:rPr>
              <a:t>Cache</a:t>
            </a:r>
            <a:endParaRPr lang="en-US" sz="1200" dirty="0"/>
          </a:p>
        </p:txBody>
      </p:sp>
      <p:sp>
        <p:nvSpPr>
          <p:cNvPr id="15" name="Shape 13"/>
          <p:cNvSpPr/>
          <p:nvPr/>
        </p:nvSpPr>
        <p:spPr>
          <a:xfrm>
            <a:off x="1737360" y="2194560"/>
            <a:ext cx="1463040" cy="1920240"/>
          </a:xfrm>
          <a:prstGeom prst="line">
            <a:avLst/>
          </a:prstGeom>
          <a:noFill/>
          <a:ln w="19050">
            <a:solidFill>
              <a:srgbClr val="006633"/>
            </a:solidFill>
            <a:prstDash val="dash"/>
          </a:ln>
        </p:spPr>
      </p:sp>
      <p:sp>
        <p:nvSpPr>
          <p:cNvPr id="16" name="Shape 14"/>
          <p:cNvSpPr/>
          <p:nvPr/>
        </p:nvSpPr>
        <p:spPr>
          <a:xfrm>
            <a:off x="4663440" y="2194560"/>
            <a:ext cx="0" cy="1920240"/>
          </a:xfrm>
          <a:prstGeom prst="line">
            <a:avLst/>
          </a:prstGeom>
          <a:noFill/>
          <a:ln w="19050">
            <a:solidFill>
              <a:srgbClr val="006633"/>
            </a:solidFill>
            <a:prstDash val="dash"/>
          </a:ln>
        </p:spPr>
      </p:sp>
      <p:sp>
        <p:nvSpPr>
          <p:cNvPr id="17" name="Shape 15"/>
          <p:cNvSpPr/>
          <p:nvPr/>
        </p:nvSpPr>
        <p:spPr>
          <a:xfrm>
            <a:off x="1737360" y="5852160"/>
            <a:ext cx="1463040" cy="0"/>
          </a:xfrm>
          <a:prstGeom prst="line">
            <a:avLst/>
          </a:prstGeom>
          <a:noFill/>
          <a:ln w="19050">
            <a:solidFill>
              <a:srgbClr val="006633"/>
            </a:solidFill>
            <a:prstDash val="dash"/>
          </a:ln>
        </p:spPr>
      </p:sp>
      <p:sp>
        <p:nvSpPr>
          <p:cNvPr id="18" name="Shape 16"/>
          <p:cNvSpPr/>
          <p:nvPr/>
        </p:nvSpPr>
        <p:spPr>
          <a:xfrm>
            <a:off x="4663440" y="5852160"/>
            <a:ext cx="0" cy="0"/>
          </a:xfrm>
          <a:prstGeom prst="line">
            <a:avLst/>
          </a:prstGeom>
          <a:noFill/>
          <a:ln w="19050">
            <a:solidFill>
              <a:srgbClr val="006633"/>
            </a:solidFill>
            <a:prstDash val="dash"/>
          </a:ln>
        </p:spPr>
      </p:sp>
      <p:sp>
        <p:nvSpPr>
          <p:cNvPr id="19" name="Text 17"/>
          <p:cNvSpPr/>
          <p:nvPr/>
        </p:nvSpPr>
        <p:spPr>
          <a:xfrm>
            <a:off x="6766560" y="1691640"/>
            <a:ext cx="4937760" cy="320040"/>
          </a:xfrm>
          <a:prstGeom prst="rect">
            <a:avLst/>
          </a:prstGeom>
          <a:noFill/>
          <a:ln/>
        </p:spPr>
        <p:txBody>
          <a:bodyPr wrap="square" lIns="0" tIns="0" rIns="0" bIns="0" rtlCol="0" anchor="ctr"/>
          <a:lstStyle/>
          <a:p>
            <a:pPr marL="0" indent="0">
              <a:buNone/>
            </a:pPr>
            <a:r>
              <a:rPr lang="en-US" sz="1600" b="1" dirty="0">
                <a:solidFill>
                  <a:srgbClr val="006633"/>
                </a:solidFill>
                <a:latin typeface="Cambria" pitchFamily="34" charset="0"/>
                <a:ea typeface="Cambria" pitchFamily="34" charset="-122"/>
                <a:cs typeface="Cambria" pitchFamily="34" charset="-120"/>
              </a:rPr>
              <a:t>Idea central</a:t>
            </a:r>
            <a:endParaRPr lang="en-US" sz="1600" dirty="0"/>
          </a:p>
        </p:txBody>
      </p:sp>
      <p:sp>
        <p:nvSpPr>
          <p:cNvPr id="20" name="Text 18"/>
          <p:cNvSpPr/>
          <p:nvPr/>
        </p:nvSpPr>
        <p:spPr>
          <a:xfrm>
            <a:off x="6766560" y="2057400"/>
            <a:ext cx="4937760" cy="1371600"/>
          </a:xfrm>
          <a:prstGeom prst="rect">
            <a:avLst/>
          </a:prstGeom>
          <a:noFill/>
          <a:ln/>
        </p:spPr>
        <p:txBody>
          <a:bodyPr wrap="square" lIns="0" tIns="0" rIns="0" bIns="0" rtlCol="0" anchor="t"/>
          <a:lstStyle/>
          <a:p>
            <a:pPr marL="0" indent="0">
              <a:buNone/>
            </a:pPr>
            <a:r>
              <a:rPr lang="en-US" sz="1300" dirty="0">
                <a:solidFill>
                  <a:srgbClr val="3F3F3F"/>
                </a:solidFill>
                <a:latin typeface="Calibri" pitchFamily="34" charset="0"/>
                <a:ea typeface="Calibri" pitchFamily="34" charset="-122"/>
                <a:cs typeface="Calibri" pitchFamily="34" charset="-120"/>
              </a:rPr>
              <a:t>El dominio define </a:t>
            </a:r>
            <a:r>
              <a:rPr lang="en-US" sz="1300" b="1" i="1" dirty="0">
                <a:solidFill>
                  <a:srgbClr val="006633"/>
                </a:solidFill>
                <a:latin typeface="Calibri" pitchFamily="34" charset="0"/>
                <a:ea typeface="Calibri" pitchFamily="34" charset="-122"/>
                <a:cs typeface="Calibri" pitchFamily="34" charset="-120"/>
              </a:rPr>
              <a:t>ports </a:t>
            </a:r>
            <a:r>
              <a:rPr lang="en-US" sz="1300" dirty="0">
                <a:solidFill>
                  <a:srgbClr val="3F3F3F"/>
                </a:solidFill>
                <a:latin typeface="Calibri" pitchFamily="34" charset="0"/>
                <a:ea typeface="Calibri" pitchFamily="34" charset="-122"/>
                <a:cs typeface="Calibri" pitchFamily="34" charset="-120"/>
              </a:rPr>
              <a:t>(interfaces) que describen QUE necesita del exterior.  Los </a:t>
            </a:r>
            <a:r>
              <a:rPr lang="en-US" sz="1300" b="1" i="1" dirty="0">
                <a:solidFill>
                  <a:srgbClr val="CC9900"/>
                </a:solidFill>
                <a:latin typeface="Calibri" pitchFamily="34" charset="0"/>
                <a:ea typeface="Calibri" pitchFamily="34" charset="-122"/>
                <a:cs typeface="Calibri" pitchFamily="34" charset="-120"/>
              </a:rPr>
              <a:t>adapters </a:t>
            </a:r>
            <a:r>
              <a:rPr lang="en-US" sz="1300" dirty="0">
                <a:solidFill>
                  <a:srgbClr val="3F3F3F"/>
                </a:solidFill>
                <a:latin typeface="Calibri" pitchFamily="34" charset="0"/>
                <a:ea typeface="Calibri" pitchFamily="34" charset="-122"/>
                <a:cs typeface="Calibri" pitchFamily="34" charset="-120"/>
              </a:rPr>
              <a:t>(implementaciones) lo conectan a tecnologias concretas: REST, JPA, Redis, Kafka, gRPC.</a:t>
            </a:r>
            <a:endParaRPr lang="en-US" sz="1300" dirty="0"/>
          </a:p>
        </p:txBody>
      </p:sp>
      <p:sp>
        <p:nvSpPr>
          <p:cNvPr id="21" name="Text 19"/>
          <p:cNvSpPr/>
          <p:nvPr/>
        </p:nvSpPr>
        <p:spPr>
          <a:xfrm>
            <a:off x="6766560" y="3611880"/>
            <a:ext cx="4937760" cy="320040"/>
          </a:xfrm>
          <a:prstGeom prst="rect">
            <a:avLst/>
          </a:prstGeom>
          <a:noFill/>
          <a:ln/>
        </p:spPr>
        <p:txBody>
          <a:bodyPr wrap="square" lIns="0" tIns="0" rIns="0" bIns="0" rtlCol="0" anchor="ctr"/>
          <a:lstStyle/>
          <a:p>
            <a:pPr marL="0" indent="0">
              <a:buNone/>
            </a:pPr>
            <a:r>
              <a:rPr lang="en-US" sz="1400" b="1" dirty="0">
                <a:solidFill>
                  <a:srgbClr val="CC9900"/>
                </a:solidFill>
                <a:latin typeface="Cambria" pitchFamily="34" charset="0"/>
                <a:ea typeface="Cambria" pitchFamily="34" charset="-122"/>
                <a:cs typeface="Cambria" pitchFamily="34" charset="-120"/>
              </a:rPr>
              <a:t>Beneficios frente a capas clasicas</a:t>
            </a:r>
            <a:endParaRPr lang="en-US" sz="1400" dirty="0"/>
          </a:p>
        </p:txBody>
      </p:sp>
      <p:sp>
        <p:nvSpPr>
          <p:cNvPr id="22" name="Text 20"/>
          <p:cNvSpPr/>
          <p:nvPr/>
        </p:nvSpPr>
        <p:spPr>
          <a:xfrm>
            <a:off x="6766560" y="3931920"/>
            <a:ext cx="5029200" cy="22860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Cambio de tecnologia = cambio de adapter.</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Testable con adapters falsos (in-memory).</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El dominio no depende de frameworks.</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Encaja natural con DDD e inyeccion de dependencias.</a:t>
            </a:r>
            <a:endParaRPr lang="en-US" sz="1200" dirty="0"/>
          </a:p>
        </p:txBody>
      </p:sp>
      <p:sp>
        <p:nvSpPr>
          <p:cNvPr id="23" name="Text 21"/>
          <p:cNvSpPr/>
          <p:nvPr/>
        </p:nvSpPr>
        <p:spPr>
          <a:xfrm>
            <a:off x="457200" y="6263640"/>
            <a:ext cx="11247120" cy="274320"/>
          </a:xfrm>
          <a:prstGeom prst="rect">
            <a:avLst/>
          </a:prstGeom>
          <a:noFill/>
          <a:ln/>
        </p:spPr>
        <p:txBody>
          <a:bodyPr wrap="square" lIns="0" tIns="0" rIns="0" bIns="0" rtlCol="0" anchor="ctr"/>
          <a:lstStyle/>
          <a:p>
            <a:pPr marL="0" indent="0">
              <a:buNone/>
            </a:pPr>
            <a:r>
              <a:rPr lang="en-US" sz="1000" b="1" dirty="0">
                <a:solidFill>
                  <a:srgbClr val="006633"/>
                </a:solidFill>
                <a:latin typeface="Calibri" pitchFamily="34" charset="0"/>
                <a:ea typeface="Calibri" pitchFamily="34" charset="-122"/>
                <a:cs typeface="Calibri" pitchFamily="34" charset="-120"/>
              </a:rPr>
              <a:t>Concepto original: </a:t>
            </a:r>
            <a:r>
              <a:rPr lang="en-US" sz="1000" i="1" dirty="0">
                <a:solidFill>
                  <a:srgbClr val="6B6B6B"/>
                </a:solidFill>
                <a:latin typeface="Calibri" pitchFamily="34" charset="0"/>
                <a:ea typeface="Calibri" pitchFamily="34" charset="-122"/>
                <a:cs typeface="Calibri" pitchFamily="34" charset="-120"/>
              </a:rPr>
              <a:t>Alistair Cockburn (2005), sistematizado por Vaughn Vernon en Implementing DDD (2013).</a:t>
            </a:r>
            <a:endParaRPr lang="en-US" sz="1000" dirty="0"/>
          </a:p>
        </p:txBody>
      </p:sp>
      <p:sp>
        <p:nvSpPr>
          <p:cNvPr id="24" name="Text 22"/>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25" name="Text 23"/>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-- 12 / 32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3 -- PIZARRA, EDA, P2P</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Arquitectura en pizarra (Blackboard)</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Shape 3"/>
          <p:cNvSpPr/>
          <p:nvPr/>
        </p:nvSpPr>
        <p:spPr>
          <a:xfrm>
            <a:off x="3017520" y="3108960"/>
            <a:ext cx="4023360" cy="1463040"/>
          </a:xfrm>
          <a:prstGeom prst="rect">
            <a:avLst/>
          </a:prstGeom>
          <a:solidFill>
            <a:srgbClr val="006633"/>
          </a:solidFill>
          <a:ln w="12700">
            <a:solidFill>
              <a:srgbClr val="006633"/>
            </a:solidFill>
            <a:prstDash val="solid"/>
          </a:ln>
        </p:spPr>
      </p:sp>
      <p:sp>
        <p:nvSpPr>
          <p:cNvPr id="6" name="Text 4"/>
          <p:cNvSpPr/>
          <p:nvPr/>
        </p:nvSpPr>
        <p:spPr>
          <a:xfrm>
            <a:off x="3017520" y="3108960"/>
            <a:ext cx="4023360" cy="14630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PIZARRA</a:t>
            </a:r>
            <a:endParaRPr lang="en-US" sz="1500" dirty="0"/>
          </a:p>
          <a:p>
            <a:pPr marL="0" indent="0" algn="ctr">
              <a:buNone/>
            </a:pPr>
            <a:r>
              <a:rPr lang="en-US" sz="1500" b="1" dirty="0">
                <a:solidFill>
                  <a:srgbClr val="FFFFFF"/>
                </a:solidFill>
                <a:latin typeface="Cambria" pitchFamily="34" charset="0"/>
                <a:ea typeface="Cambria" pitchFamily="34" charset="-122"/>
                <a:cs typeface="Cambria" pitchFamily="34" charset="-120"/>
              </a:rPr>
              <a:t>(estado compartido)</a:t>
            </a:r>
            <a:endParaRPr lang="en-US" sz="1500" dirty="0"/>
          </a:p>
        </p:txBody>
      </p:sp>
      <p:sp>
        <p:nvSpPr>
          <p:cNvPr id="7" name="Shape 5"/>
          <p:cNvSpPr/>
          <p:nvPr/>
        </p:nvSpPr>
        <p:spPr>
          <a:xfrm>
            <a:off x="640080" y="1691640"/>
            <a:ext cx="1645920" cy="914400"/>
          </a:xfrm>
          <a:prstGeom prst="roundRect">
            <a:avLst>
              <a:gd name="adj" fmla="val 5000"/>
            </a:avLst>
          </a:prstGeom>
          <a:solidFill>
            <a:srgbClr val="FFFFFF"/>
          </a:solidFill>
          <a:ln w="19050">
            <a:solidFill>
              <a:srgbClr val="CC9900"/>
            </a:solidFill>
            <a:prstDash val="solid"/>
          </a:ln>
        </p:spPr>
      </p:sp>
      <p:sp>
        <p:nvSpPr>
          <p:cNvPr id="8" name="Text 6"/>
          <p:cNvSpPr/>
          <p:nvPr/>
        </p:nvSpPr>
        <p:spPr>
          <a:xfrm>
            <a:off x="640080" y="1691640"/>
            <a:ext cx="1645920" cy="914400"/>
          </a:xfrm>
          <a:prstGeom prst="rect">
            <a:avLst/>
          </a:prstGeom>
          <a:noFill/>
          <a:ln/>
        </p:spPr>
        <p:txBody>
          <a:bodyPr wrap="square" lIns="0" tIns="0" rIns="0" bIns="0" rtlCol="0" anchor="ctr"/>
          <a:lstStyle/>
          <a:p>
            <a:pPr marL="0" indent="0" algn="ctr">
              <a:buNone/>
            </a:pPr>
            <a:r>
              <a:rPr lang="en-US" sz="1000" b="1" dirty="0">
                <a:solidFill>
                  <a:srgbClr val="CC9900"/>
                </a:solidFill>
                <a:latin typeface="Calibri" pitchFamily="34" charset="0"/>
                <a:ea typeface="Calibri" pitchFamily="34" charset="-122"/>
                <a:cs typeface="Calibri" pitchFamily="34" charset="-120"/>
              </a:rPr>
              <a:t>Fuente 1</a:t>
            </a:r>
            <a:endParaRPr lang="en-US" sz="1000" dirty="0"/>
          </a:p>
          <a:p>
            <a:pPr marL="0" indent="0" algn="ctr">
              <a:buNone/>
            </a:pPr>
            <a:r>
              <a:rPr lang="en-US" sz="1000" b="1" dirty="0">
                <a:solidFill>
                  <a:srgbClr val="CC9900"/>
                </a:solidFill>
                <a:latin typeface="Calibri" pitchFamily="34" charset="0"/>
                <a:ea typeface="Calibri" pitchFamily="34" charset="-122"/>
                <a:cs typeface="Calibri" pitchFamily="34" charset="-120"/>
              </a:rPr>
              <a:t>(reconocedor</a:t>
            </a:r>
            <a:endParaRPr lang="en-US" sz="1000" dirty="0"/>
          </a:p>
          <a:p>
            <a:pPr marL="0" indent="0" algn="ctr">
              <a:buNone/>
            </a:pPr>
            <a:r>
              <a:rPr lang="en-US" sz="1000" b="1" dirty="0">
                <a:solidFill>
                  <a:srgbClr val="CC9900"/>
                </a:solidFill>
                <a:latin typeface="Calibri" pitchFamily="34" charset="0"/>
                <a:ea typeface="Calibri" pitchFamily="34" charset="-122"/>
                <a:cs typeface="Calibri" pitchFamily="34" charset="-120"/>
              </a:rPr>
              <a:t>de voz)</a:t>
            </a:r>
            <a:endParaRPr lang="en-US" sz="1000" dirty="0"/>
          </a:p>
        </p:txBody>
      </p:sp>
      <p:sp>
        <p:nvSpPr>
          <p:cNvPr id="9" name="Shape 7"/>
          <p:cNvSpPr/>
          <p:nvPr/>
        </p:nvSpPr>
        <p:spPr>
          <a:xfrm>
            <a:off x="1463040" y="2606040"/>
            <a:ext cx="3566160" cy="502920"/>
          </a:xfrm>
          <a:prstGeom prst="line">
            <a:avLst/>
          </a:prstGeom>
          <a:noFill/>
          <a:ln w="15875">
            <a:solidFill>
              <a:srgbClr val="006633"/>
            </a:solidFill>
            <a:prstDash val="solid"/>
          </a:ln>
        </p:spPr>
      </p:sp>
      <p:sp>
        <p:nvSpPr>
          <p:cNvPr id="10" name="Shape 8"/>
          <p:cNvSpPr/>
          <p:nvPr/>
        </p:nvSpPr>
        <p:spPr>
          <a:xfrm>
            <a:off x="2926080" y="1691640"/>
            <a:ext cx="1645920" cy="914400"/>
          </a:xfrm>
          <a:prstGeom prst="roundRect">
            <a:avLst>
              <a:gd name="adj" fmla="val 5000"/>
            </a:avLst>
          </a:prstGeom>
          <a:solidFill>
            <a:srgbClr val="FFFFFF"/>
          </a:solidFill>
          <a:ln w="19050">
            <a:solidFill>
              <a:srgbClr val="CC9900"/>
            </a:solidFill>
            <a:prstDash val="solid"/>
          </a:ln>
        </p:spPr>
      </p:sp>
      <p:sp>
        <p:nvSpPr>
          <p:cNvPr id="11" name="Text 9"/>
          <p:cNvSpPr/>
          <p:nvPr/>
        </p:nvSpPr>
        <p:spPr>
          <a:xfrm>
            <a:off x="2926080" y="1691640"/>
            <a:ext cx="1645920" cy="914400"/>
          </a:xfrm>
          <a:prstGeom prst="rect">
            <a:avLst/>
          </a:prstGeom>
          <a:noFill/>
          <a:ln/>
        </p:spPr>
        <p:txBody>
          <a:bodyPr wrap="square" lIns="0" tIns="0" rIns="0" bIns="0" rtlCol="0" anchor="ctr"/>
          <a:lstStyle/>
          <a:p>
            <a:pPr marL="0" indent="0" algn="ctr">
              <a:buNone/>
            </a:pPr>
            <a:r>
              <a:rPr lang="en-US" sz="1000" b="1" dirty="0">
                <a:solidFill>
                  <a:srgbClr val="CC9900"/>
                </a:solidFill>
                <a:latin typeface="Calibri" pitchFamily="34" charset="0"/>
                <a:ea typeface="Calibri" pitchFamily="34" charset="-122"/>
                <a:cs typeface="Calibri" pitchFamily="34" charset="-120"/>
              </a:rPr>
              <a:t>Fuente 2</a:t>
            </a:r>
            <a:endParaRPr lang="en-US" sz="1000" dirty="0"/>
          </a:p>
          <a:p>
            <a:pPr marL="0" indent="0" algn="ctr">
              <a:buNone/>
            </a:pPr>
            <a:r>
              <a:rPr lang="en-US" sz="1000" b="1" dirty="0">
                <a:solidFill>
                  <a:srgbClr val="CC9900"/>
                </a:solidFill>
                <a:latin typeface="Calibri" pitchFamily="34" charset="0"/>
                <a:ea typeface="Calibri" pitchFamily="34" charset="-122"/>
                <a:cs typeface="Calibri" pitchFamily="34" charset="-120"/>
              </a:rPr>
              <a:t>(analisis</a:t>
            </a:r>
            <a:endParaRPr lang="en-US" sz="1000" dirty="0"/>
          </a:p>
          <a:p>
            <a:pPr marL="0" indent="0" algn="ctr">
              <a:buNone/>
            </a:pPr>
            <a:r>
              <a:rPr lang="en-US" sz="1000" b="1" dirty="0">
                <a:solidFill>
                  <a:srgbClr val="CC9900"/>
                </a:solidFill>
                <a:latin typeface="Calibri" pitchFamily="34" charset="0"/>
                <a:ea typeface="Calibri" pitchFamily="34" charset="-122"/>
                <a:cs typeface="Calibri" pitchFamily="34" charset="-120"/>
              </a:rPr>
              <a:t>sintactico)</a:t>
            </a:r>
            <a:endParaRPr lang="en-US" sz="1000" dirty="0"/>
          </a:p>
        </p:txBody>
      </p:sp>
      <p:sp>
        <p:nvSpPr>
          <p:cNvPr id="12" name="Shape 10"/>
          <p:cNvSpPr/>
          <p:nvPr/>
        </p:nvSpPr>
        <p:spPr>
          <a:xfrm>
            <a:off x="3749040" y="2606040"/>
            <a:ext cx="1280160" cy="502920"/>
          </a:xfrm>
          <a:prstGeom prst="line">
            <a:avLst/>
          </a:prstGeom>
          <a:noFill/>
          <a:ln w="15875">
            <a:solidFill>
              <a:srgbClr val="006633"/>
            </a:solidFill>
            <a:prstDash val="solid"/>
          </a:ln>
        </p:spPr>
      </p:sp>
      <p:sp>
        <p:nvSpPr>
          <p:cNvPr id="13" name="Shape 11"/>
          <p:cNvSpPr/>
          <p:nvPr/>
        </p:nvSpPr>
        <p:spPr>
          <a:xfrm>
            <a:off x="5212080" y="1691640"/>
            <a:ext cx="1645920" cy="914400"/>
          </a:xfrm>
          <a:prstGeom prst="roundRect">
            <a:avLst>
              <a:gd name="adj" fmla="val 5000"/>
            </a:avLst>
          </a:prstGeom>
          <a:solidFill>
            <a:srgbClr val="FFFFFF"/>
          </a:solidFill>
          <a:ln w="19050">
            <a:solidFill>
              <a:srgbClr val="CC9900"/>
            </a:solidFill>
            <a:prstDash val="solid"/>
          </a:ln>
        </p:spPr>
      </p:sp>
      <p:sp>
        <p:nvSpPr>
          <p:cNvPr id="14" name="Text 12"/>
          <p:cNvSpPr/>
          <p:nvPr/>
        </p:nvSpPr>
        <p:spPr>
          <a:xfrm>
            <a:off x="5212080" y="1691640"/>
            <a:ext cx="1645920" cy="914400"/>
          </a:xfrm>
          <a:prstGeom prst="rect">
            <a:avLst/>
          </a:prstGeom>
          <a:noFill/>
          <a:ln/>
        </p:spPr>
        <p:txBody>
          <a:bodyPr wrap="square" lIns="0" tIns="0" rIns="0" bIns="0" rtlCol="0" anchor="ctr"/>
          <a:lstStyle/>
          <a:p>
            <a:pPr marL="0" indent="0" algn="ctr">
              <a:buNone/>
            </a:pPr>
            <a:r>
              <a:rPr lang="en-US" sz="1000" b="1" dirty="0">
                <a:solidFill>
                  <a:srgbClr val="CC9900"/>
                </a:solidFill>
                <a:latin typeface="Calibri" pitchFamily="34" charset="0"/>
                <a:ea typeface="Calibri" pitchFamily="34" charset="-122"/>
                <a:cs typeface="Calibri" pitchFamily="34" charset="-120"/>
              </a:rPr>
              <a:t>Fuente 3</a:t>
            </a:r>
            <a:endParaRPr lang="en-US" sz="1000" dirty="0"/>
          </a:p>
          <a:p>
            <a:pPr marL="0" indent="0" algn="ctr">
              <a:buNone/>
            </a:pPr>
            <a:r>
              <a:rPr lang="en-US" sz="1000" b="1" dirty="0">
                <a:solidFill>
                  <a:srgbClr val="CC9900"/>
                </a:solidFill>
                <a:latin typeface="Calibri" pitchFamily="34" charset="0"/>
                <a:ea typeface="Calibri" pitchFamily="34" charset="-122"/>
                <a:cs typeface="Calibri" pitchFamily="34" charset="-120"/>
              </a:rPr>
              <a:t>(analisis</a:t>
            </a:r>
            <a:endParaRPr lang="en-US" sz="1000" dirty="0"/>
          </a:p>
          <a:p>
            <a:pPr marL="0" indent="0" algn="ctr">
              <a:buNone/>
            </a:pPr>
            <a:r>
              <a:rPr lang="en-US" sz="1000" b="1" dirty="0">
                <a:solidFill>
                  <a:srgbClr val="CC9900"/>
                </a:solidFill>
                <a:latin typeface="Calibri" pitchFamily="34" charset="0"/>
                <a:ea typeface="Calibri" pitchFamily="34" charset="-122"/>
                <a:cs typeface="Calibri" pitchFamily="34" charset="-120"/>
              </a:rPr>
              <a:t>semantico)</a:t>
            </a:r>
            <a:endParaRPr lang="en-US" sz="1000" dirty="0"/>
          </a:p>
        </p:txBody>
      </p:sp>
      <p:sp>
        <p:nvSpPr>
          <p:cNvPr id="15" name="Shape 13"/>
          <p:cNvSpPr/>
          <p:nvPr/>
        </p:nvSpPr>
        <p:spPr>
          <a:xfrm>
            <a:off x="6035040" y="2606040"/>
            <a:ext cx="0" cy="502920"/>
          </a:xfrm>
          <a:prstGeom prst="line">
            <a:avLst/>
          </a:prstGeom>
          <a:noFill/>
          <a:ln w="15875">
            <a:solidFill>
              <a:srgbClr val="006633"/>
            </a:solidFill>
            <a:prstDash val="solid"/>
          </a:ln>
        </p:spPr>
      </p:sp>
      <p:sp>
        <p:nvSpPr>
          <p:cNvPr id="16" name="Shape 14"/>
          <p:cNvSpPr/>
          <p:nvPr/>
        </p:nvSpPr>
        <p:spPr>
          <a:xfrm>
            <a:off x="7498080" y="1691640"/>
            <a:ext cx="1645920" cy="914400"/>
          </a:xfrm>
          <a:prstGeom prst="roundRect">
            <a:avLst>
              <a:gd name="adj" fmla="val 5000"/>
            </a:avLst>
          </a:prstGeom>
          <a:solidFill>
            <a:srgbClr val="FFFFFF"/>
          </a:solidFill>
          <a:ln w="19050">
            <a:solidFill>
              <a:srgbClr val="CC9900"/>
            </a:solidFill>
            <a:prstDash val="solid"/>
          </a:ln>
        </p:spPr>
      </p:sp>
      <p:sp>
        <p:nvSpPr>
          <p:cNvPr id="17" name="Text 15"/>
          <p:cNvSpPr/>
          <p:nvPr/>
        </p:nvSpPr>
        <p:spPr>
          <a:xfrm>
            <a:off x="7498080" y="1691640"/>
            <a:ext cx="1645920" cy="914400"/>
          </a:xfrm>
          <a:prstGeom prst="rect">
            <a:avLst/>
          </a:prstGeom>
          <a:noFill/>
          <a:ln/>
        </p:spPr>
        <p:txBody>
          <a:bodyPr wrap="square" lIns="0" tIns="0" rIns="0" bIns="0" rtlCol="0" anchor="ctr"/>
          <a:lstStyle/>
          <a:p>
            <a:pPr marL="0" indent="0" algn="ctr">
              <a:buNone/>
            </a:pPr>
            <a:r>
              <a:rPr lang="en-US" sz="1000" b="1" dirty="0">
                <a:solidFill>
                  <a:srgbClr val="CC9900"/>
                </a:solidFill>
                <a:latin typeface="Calibri" pitchFamily="34" charset="0"/>
                <a:ea typeface="Calibri" pitchFamily="34" charset="-122"/>
                <a:cs typeface="Calibri" pitchFamily="34" charset="-120"/>
              </a:rPr>
              <a:t>Fuente N</a:t>
            </a:r>
            <a:endParaRPr lang="en-US" sz="1000" dirty="0"/>
          </a:p>
          <a:p>
            <a:pPr marL="0" indent="0" algn="ctr">
              <a:buNone/>
            </a:pPr>
            <a:r>
              <a:rPr lang="en-US" sz="1000" b="1" dirty="0">
                <a:solidFill>
                  <a:srgbClr val="CC9900"/>
                </a:solidFill>
                <a:latin typeface="Calibri" pitchFamily="34" charset="0"/>
                <a:ea typeface="Calibri" pitchFamily="34" charset="-122"/>
                <a:cs typeface="Calibri" pitchFamily="34" charset="-120"/>
              </a:rPr>
              <a:t>(...)</a:t>
            </a:r>
            <a:endParaRPr lang="en-US" sz="1000" dirty="0"/>
          </a:p>
        </p:txBody>
      </p:sp>
      <p:sp>
        <p:nvSpPr>
          <p:cNvPr id="18" name="Shape 16"/>
          <p:cNvSpPr/>
          <p:nvPr/>
        </p:nvSpPr>
        <p:spPr>
          <a:xfrm>
            <a:off x="8321040" y="2606040"/>
            <a:ext cx="0" cy="502920"/>
          </a:xfrm>
          <a:prstGeom prst="line">
            <a:avLst/>
          </a:prstGeom>
          <a:noFill/>
          <a:ln w="15875">
            <a:solidFill>
              <a:srgbClr val="006633"/>
            </a:solidFill>
            <a:prstDash val="solid"/>
          </a:ln>
        </p:spPr>
      </p:sp>
      <p:sp>
        <p:nvSpPr>
          <p:cNvPr id="19" name="Shape 17"/>
          <p:cNvSpPr/>
          <p:nvPr/>
        </p:nvSpPr>
        <p:spPr>
          <a:xfrm>
            <a:off x="3383280" y="5120640"/>
            <a:ext cx="3291840" cy="731520"/>
          </a:xfrm>
          <a:prstGeom prst="roundRect">
            <a:avLst>
              <a:gd name="adj" fmla="val 6250"/>
            </a:avLst>
          </a:prstGeom>
          <a:solidFill>
            <a:srgbClr val="CC9900"/>
          </a:solidFill>
          <a:ln w="12700">
            <a:solidFill>
              <a:srgbClr val="CC9900"/>
            </a:solidFill>
            <a:prstDash val="solid"/>
          </a:ln>
        </p:spPr>
      </p:sp>
      <p:sp>
        <p:nvSpPr>
          <p:cNvPr id="20" name="Text 18"/>
          <p:cNvSpPr/>
          <p:nvPr/>
        </p:nvSpPr>
        <p:spPr>
          <a:xfrm>
            <a:off x="3383280" y="5120640"/>
            <a:ext cx="329184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CONTROLADOR (elige que fuente actua)</a:t>
            </a:r>
            <a:endParaRPr lang="en-US" sz="1100" dirty="0"/>
          </a:p>
        </p:txBody>
      </p:sp>
      <p:sp>
        <p:nvSpPr>
          <p:cNvPr id="21" name="Shape 19"/>
          <p:cNvSpPr/>
          <p:nvPr/>
        </p:nvSpPr>
        <p:spPr>
          <a:xfrm>
            <a:off x="5029200" y="4572000"/>
            <a:ext cx="0" cy="548640"/>
          </a:xfrm>
          <a:prstGeom prst="line">
            <a:avLst/>
          </a:prstGeom>
          <a:noFill/>
          <a:ln w="15875">
            <a:solidFill>
              <a:srgbClr val="CC9900"/>
            </a:solidFill>
            <a:prstDash val="dash"/>
          </a:ln>
        </p:spPr>
      </p:sp>
      <p:sp>
        <p:nvSpPr>
          <p:cNvPr id="22" name="Text 20"/>
          <p:cNvSpPr/>
          <p:nvPr/>
        </p:nvSpPr>
        <p:spPr>
          <a:xfrm>
            <a:off x="8869680" y="1691640"/>
            <a:ext cx="2834640" cy="320040"/>
          </a:xfrm>
          <a:prstGeom prst="rect">
            <a:avLst/>
          </a:prstGeom>
          <a:noFill/>
          <a:ln/>
        </p:spPr>
        <p:txBody>
          <a:bodyPr wrap="square" lIns="0" tIns="0" rIns="0" bIns="0" rtlCol="0" anchor="ctr"/>
          <a:lstStyle/>
          <a:p>
            <a:pPr marL="0" indent="0">
              <a:buNone/>
            </a:pPr>
            <a:r>
              <a:rPr lang="en-US" sz="1400" b="1" dirty="0">
                <a:solidFill>
                  <a:srgbClr val="006633"/>
                </a:solidFill>
                <a:latin typeface="Cambria" pitchFamily="34" charset="0"/>
                <a:ea typeface="Cambria" pitchFamily="34" charset="-122"/>
                <a:cs typeface="Cambria" pitchFamily="34" charset="-120"/>
              </a:rPr>
              <a:t>Como funciona</a:t>
            </a:r>
            <a:endParaRPr lang="en-US" sz="1400" dirty="0"/>
          </a:p>
        </p:txBody>
      </p:sp>
      <p:sp>
        <p:nvSpPr>
          <p:cNvPr id="23" name="Text 21"/>
          <p:cNvSpPr/>
          <p:nvPr/>
        </p:nvSpPr>
        <p:spPr>
          <a:xfrm>
            <a:off x="8869680" y="2011680"/>
            <a:ext cx="3017520" cy="24688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3F3F3F"/>
                </a:solidFill>
                <a:latin typeface="Calibri" pitchFamily="34" charset="0"/>
                <a:ea typeface="Calibri" pitchFamily="34" charset="-122"/>
                <a:cs typeface="Calibri" pitchFamily="34" charset="-120"/>
              </a:rPr>
              <a:t>Varias fuentes de conocimiento independientes.</a:t>
            </a:r>
            <a:endParaRPr lang="en-US" sz="1100" dirty="0"/>
          </a:p>
          <a:p>
            <a:pPr marL="342900" indent="-342900">
              <a:spcAft>
                <a:spcPts val="800"/>
              </a:spcAft>
              <a:buSzPct val="100000"/>
              <a:buChar char="■"/>
            </a:pPr>
            <a:r>
              <a:rPr lang="en-US" sz="1100" dirty="0">
                <a:solidFill>
                  <a:srgbClr val="3F3F3F"/>
                </a:solidFill>
                <a:latin typeface="Calibri" pitchFamily="34" charset="0"/>
                <a:ea typeface="Calibri" pitchFamily="34" charset="-122"/>
                <a:cs typeface="Calibri" pitchFamily="34" charset="-120"/>
              </a:rPr>
              <a:t>Una pizarra compartida donde publican y leen hipotesis.</a:t>
            </a:r>
            <a:endParaRPr lang="en-US" sz="1100" dirty="0"/>
          </a:p>
          <a:p>
            <a:pPr marL="342900" indent="-342900">
              <a:spcAft>
                <a:spcPts val="800"/>
              </a:spcAft>
              <a:buSzPct val="100000"/>
              <a:buChar char="■"/>
            </a:pPr>
            <a:r>
              <a:rPr lang="en-US" sz="1100" dirty="0">
                <a:solidFill>
                  <a:srgbClr val="3F3F3F"/>
                </a:solidFill>
                <a:latin typeface="Calibri" pitchFamily="34" charset="0"/>
                <a:ea typeface="Calibri" pitchFamily="34" charset="-122"/>
                <a:cs typeface="Calibri" pitchFamily="34" charset="-120"/>
              </a:rPr>
              <a:t>Un controlador decide que fuente actua segun el estado.</a:t>
            </a:r>
            <a:endParaRPr lang="en-US" sz="1100" dirty="0"/>
          </a:p>
          <a:p>
            <a:pPr marL="342900" indent="-342900">
              <a:spcAft>
                <a:spcPts val="800"/>
              </a:spcAft>
              <a:buSzPct val="100000"/>
              <a:buChar char="■"/>
            </a:pPr>
            <a:r>
              <a:rPr lang="en-US" sz="1100" dirty="0">
                <a:solidFill>
                  <a:srgbClr val="3F3F3F"/>
                </a:solidFill>
                <a:latin typeface="Calibri" pitchFamily="34" charset="0"/>
                <a:ea typeface="Calibri" pitchFamily="34" charset="-122"/>
                <a:cs typeface="Calibri" pitchFamily="34" charset="-120"/>
              </a:rPr>
              <a:t>Ideal para problemas sin algoritmo directo conocido.</a:t>
            </a:r>
            <a:endParaRPr lang="en-US" sz="1100" dirty="0"/>
          </a:p>
        </p:txBody>
      </p:sp>
      <p:sp>
        <p:nvSpPr>
          <p:cNvPr id="24" name="Text 22"/>
          <p:cNvSpPr/>
          <p:nvPr/>
        </p:nvSpPr>
        <p:spPr>
          <a:xfrm>
            <a:off x="8869680" y="4343400"/>
            <a:ext cx="2834640" cy="320040"/>
          </a:xfrm>
          <a:prstGeom prst="rect">
            <a:avLst/>
          </a:prstGeom>
          <a:noFill/>
          <a:ln/>
        </p:spPr>
        <p:txBody>
          <a:bodyPr wrap="square" lIns="0" tIns="0" rIns="0" bIns="0" rtlCol="0" anchor="ctr"/>
          <a:lstStyle/>
          <a:p>
            <a:pPr marL="0" indent="0">
              <a:buNone/>
            </a:pPr>
            <a:r>
              <a:rPr lang="en-US" sz="1400" b="1" dirty="0">
                <a:solidFill>
                  <a:srgbClr val="CC9900"/>
                </a:solidFill>
                <a:latin typeface="Cambria" pitchFamily="34" charset="0"/>
                <a:ea typeface="Cambria" pitchFamily="34" charset="-122"/>
                <a:cs typeface="Cambria" pitchFamily="34" charset="-120"/>
              </a:rPr>
              <a:t>Casos historicos y modernos</a:t>
            </a:r>
            <a:endParaRPr lang="en-US" sz="1400" dirty="0"/>
          </a:p>
        </p:txBody>
      </p:sp>
      <p:sp>
        <p:nvSpPr>
          <p:cNvPr id="25" name="Text 23"/>
          <p:cNvSpPr/>
          <p:nvPr/>
        </p:nvSpPr>
        <p:spPr>
          <a:xfrm>
            <a:off x="8869680" y="4663440"/>
            <a:ext cx="3017520" cy="173736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3F3F3F"/>
                </a:solidFill>
                <a:latin typeface="Calibri" pitchFamily="34" charset="0"/>
                <a:ea typeface="Calibri" pitchFamily="34" charset="-122"/>
                <a:cs typeface="Calibri" pitchFamily="34" charset="-120"/>
              </a:rPr>
              <a:t>HEARSAY-II (Erman et al. 1980): comprension del habla.</a:t>
            </a:r>
            <a:endParaRPr lang="en-US" sz="1100" dirty="0"/>
          </a:p>
          <a:p>
            <a:pPr marL="342900" indent="-342900">
              <a:spcAft>
                <a:spcPts val="800"/>
              </a:spcAft>
              <a:buSzPct val="100000"/>
              <a:buChar char="■"/>
            </a:pPr>
            <a:r>
              <a:rPr lang="en-US" sz="1100" dirty="0">
                <a:solidFill>
                  <a:srgbClr val="3F3F3F"/>
                </a:solidFill>
                <a:latin typeface="Calibri" pitchFamily="34" charset="0"/>
                <a:ea typeface="Calibri" pitchFamily="34" charset="-122"/>
                <a:cs typeface="Calibri" pitchFamily="34" charset="-120"/>
              </a:rPr>
              <a:t>Sistemas expertos y de vision artificial.</a:t>
            </a:r>
            <a:endParaRPr lang="en-US" sz="1100" dirty="0"/>
          </a:p>
          <a:p>
            <a:pPr marL="342900" indent="-342900">
              <a:spcAft>
                <a:spcPts val="800"/>
              </a:spcAft>
              <a:buSzPct val="100000"/>
              <a:buChar char="■"/>
            </a:pPr>
            <a:r>
              <a:rPr lang="en-US" sz="1100" dirty="0">
                <a:solidFill>
                  <a:srgbClr val="3F3F3F"/>
                </a:solidFill>
                <a:latin typeface="Calibri" pitchFamily="34" charset="0"/>
                <a:ea typeface="Calibri" pitchFamily="34" charset="-122"/>
                <a:cs typeface="Calibri" pitchFamily="34" charset="-120"/>
              </a:rPr>
              <a:t>Agentes de IA multi-fuente (2024-2026): coordinacion via memoria compartida.</a:t>
            </a:r>
            <a:endParaRPr lang="en-US" sz="1100" dirty="0"/>
          </a:p>
        </p:txBody>
      </p:sp>
      <p:sp>
        <p:nvSpPr>
          <p:cNvPr id="26" name="Text 24"/>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27" name="Text 25"/>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-- 13 / 32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3 -- PIZARRA, EDA, P2P</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Arquitectura dirigida por eventos (EDA)</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Shape 3"/>
          <p:cNvSpPr/>
          <p:nvPr/>
        </p:nvSpPr>
        <p:spPr>
          <a:xfrm>
            <a:off x="640080" y="1965960"/>
            <a:ext cx="1828800" cy="868680"/>
          </a:xfrm>
          <a:prstGeom prst="roundRect">
            <a:avLst>
              <a:gd name="adj" fmla="val 5263"/>
            </a:avLst>
          </a:prstGeom>
          <a:solidFill>
            <a:srgbClr val="E6F0EA"/>
          </a:solidFill>
          <a:ln w="12700">
            <a:solidFill>
              <a:srgbClr val="006633"/>
            </a:solidFill>
            <a:prstDash val="solid"/>
          </a:ln>
        </p:spPr>
      </p:sp>
      <p:sp>
        <p:nvSpPr>
          <p:cNvPr id="6" name="Text 4"/>
          <p:cNvSpPr/>
          <p:nvPr/>
        </p:nvSpPr>
        <p:spPr>
          <a:xfrm>
            <a:off x="640080" y="1965960"/>
            <a:ext cx="1828800" cy="868680"/>
          </a:xfrm>
          <a:prstGeom prst="rect">
            <a:avLst/>
          </a:prstGeom>
          <a:noFill/>
          <a:ln/>
        </p:spPr>
        <p:txBody>
          <a:bodyPr wrap="square" lIns="0" tIns="0" rIns="0" bIns="0" rtlCol="0" anchor="ctr"/>
          <a:lstStyle/>
          <a:p>
            <a:pPr marL="0" indent="0" algn="ctr">
              <a:buNone/>
            </a:pPr>
            <a:r>
              <a:rPr lang="en-US" sz="1200" b="1" dirty="0">
                <a:solidFill>
                  <a:srgbClr val="006633"/>
                </a:solidFill>
                <a:latin typeface="Calibri" pitchFamily="34" charset="0"/>
                <a:ea typeface="Calibri" pitchFamily="34" charset="-122"/>
                <a:cs typeface="Calibri" pitchFamily="34" charset="-120"/>
              </a:rPr>
              <a:t>Servicio</a:t>
            </a:r>
            <a:endParaRPr lang="en-US" sz="1200" dirty="0"/>
          </a:p>
          <a:p>
            <a:pPr marL="0" indent="0" algn="ctr">
              <a:buNone/>
            </a:pPr>
            <a:r>
              <a:rPr lang="en-US" sz="1200" b="1" dirty="0">
                <a:solidFill>
                  <a:srgbClr val="006633"/>
                </a:solidFill>
                <a:latin typeface="Calibri" pitchFamily="34" charset="0"/>
                <a:ea typeface="Calibri" pitchFamily="34" charset="-122"/>
                <a:cs typeface="Calibri" pitchFamily="34" charset="-120"/>
              </a:rPr>
              <a:t>Prestamos</a:t>
            </a:r>
            <a:endParaRPr lang="en-US" sz="1200" dirty="0"/>
          </a:p>
        </p:txBody>
      </p:sp>
      <p:sp>
        <p:nvSpPr>
          <p:cNvPr id="7" name="Shape 5"/>
          <p:cNvSpPr/>
          <p:nvPr/>
        </p:nvSpPr>
        <p:spPr>
          <a:xfrm>
            <a:off x="640080" y="3246120"/>
            <a:ext cx="1828800" cy="868680"/>
          </a:xfrm>
          <a:prstGeom prst="roundRect">
            <a:avLst>
              <a:gd name="adj" fmla="val 5263"/>
            </a:avLst>
          </a:prstGeom>
          <a:solidFill>
            <a:srgbClr val="E6F0EA"/>
          </a:solidFill>
          <a:ln w="12700">
            <a:solidFill>
              <a:srgbClr val="006633"/>
            </a:solidFill>
            <a:prstDash val="solid"/>
          </a:ln>
        </p:spPr>
      </p:sp>
      <p:sp>
        <p:nvSpPr>
          <p:cNvPr id="8" name="Text 6"/>
          <p:cNvSpPr/>
          <p:nvPr/>
        </p:nvSpPr>
        <p:spPr>
          <a:xfrm>
            <a:off x="640080" y="3246120"/>
            <a:ext cx="1828800" cy="868680"/>
          </a:xfrm>
          <a:prstGeom prst="rect">
            <a:avLst/>
          </a:prstGeom>
          <a:noFill/>
          <a:ln/>
        </p:spPr>
        <p:txBody>
          <a:bodyPr wrap="square" lIns="0" tIns="0" rIns="0" bIns="0" rtlCol="0" anchor="ctr"/>
          <a:lstStyle/>
          <a:p>
            <a:pPr marL="0" indent="0" algn="ctr">
              <a:buNone/>
            </a:pPr>
            <a:r>
              <a:rPr lang="en-US" sz="1200" b="1" dirty="0">
                <a:solidFill>
                  <a:srgbClr val="006633"/>
                </a:solidFill>
                <a:latin typeface="Calibri" pitchFamily="34" charset="0"/>
                <a:ea typeface="Calibri" pitchFamily="34" charset="-122"/>
                <a:cs typeface="Calibri" pitchFamily="34" charset="-120"/>
              </a:rPr>
              <a:t>Servicio</a:t>
            </a:r>
            <a:endParaRPr lang="en-US" sz="1200" dirty="0"/>
          </a:p>
          <a:p>
            <a:pPr marL="0" indent="0" algn="ctr">
              <a:buNone/>
            </a:pPr>
            <a:r>
              <a:rPr lang="en-US" sz="1200" b="1" dirty="0">
                <a:solidFill>
                  <a:srgbClr val="006633"/>
                </a:solidFill>
                <a:latin typeface="Calibri" pitchFamily="34" charset="0"/>
                <a:ea typeface="Calibri" pitchFamily="34" charset="-122"/>
                <a:cs typeface="Calibri" pitchFamily="34" charset="-120"/>
              </a:rPr>
              <a:t>Catalogo</a:t>
            </a:r>
            <a:endParaRPr lang="en-US" sz="1200" dirty="0"/>
          </a:p>
        </p:txBody>
      </p:sp>
      <p:sp>
        <p:nvSpPr>
          <p:cNvPr id="9" name="Shape 7"/>
          <p:cNvSpPr/>
          <p:nvPr/>
        </p:nvSpPr>
        <p:spPr>
          <a:xfrm>
            <a:off x="640080" y="4526280"/>
            <a:ext cx="1828800" cy="868680"/>
          </a:xfrm>
          <a:prstGeom prst="roundRect">
            <a:avLst>
              <a:gd name="adj" fmla="val 5263"/>
            </a:avLst>
          </a:prstGeom>
          <a:solidFill>
            <a:srgbClr val="E6F0EA"/>
          </a:solidFill>
          <a:ln w="12700">
            <a:solidFill>
              <a:srgbClr val="006633"/>
            </a:solidFill>
            <a:prstDash val="solid"/>
          </a:ln>
        </p:spPr>
      </p:sp>
      <p:sp>
        <p:nvSpPr>
          <p:cNvPr id="10" name="Text 8"/>
          <p:cNvSpPr/>
          <p:nvPr/>
        </p:nvSpPr>
        <p:spPr>
          <a:xfrm>
            <a:off x="640080" y="4526280"/>
            <a:ext cx="1828800" cy="868680"/>
          </a:xfrm>
          <a:prstGeom prst="rect">
            <a:avLst/>
          </a:prstGeom>
          <a:noFill/>
          <a:ln/>
        </p:spPr>
        <p:txBody>
          <a:bodyPr wrap="square" lIns="0" tIns="0" rIns="0" bIns="0" rtlCol="0" anchor="ctr"/>
          <a:lstStyle/>
          <a:p>
            <a:pPr marL="0" indent="0" algn="ctr">
              <a:buNone/>
            </a:pPr>
            <a:r>
              <a:rPr lang="en-US" sz="1200" b="1" dirty="0">
                <a:solidFill>
                  <a:srgbClr val="006633"/>
                </a:solidFill>
                <a:latin typeface="Calibri" pitchFamily="34" charset="0"/>
                <a:ea typeface="Calibri" pitchFamily="34" charset="-122"/>
                <a:cs typeface="Calibri" pitchFamily="34" charset="-120"/>
              </a:rPr>
              <a:t>Servicio</a:t>
            </a:r>
            <a:endParaRPr lang="en-US" sz="1200" dirty="0"/>
          </a:p>
          <a:p>
            <a:pPr marL="0" indent="0" algn="ctr">
              <a:buNone/>
            </a:pPr>
            <a:r>
              <a:rPr lang="en-US" sz="1200" b="1" dirty="0">
                <a:solidFill>
                  <a:srgbClr val="006633"/>
                </a:solidFill>
                <a:latin typeface="Calibri" pitchFamily="34" charset="0"/>
                <a:ea typeface="Calibri" pitchFamily="34" charset="-122"/>
                <a:cs typeface="Calibri" pitchFamily="34" charset="-120"/>
              </a:rPr>
              <a:t>Usuarios</a:t>
            </a:r>
            <a:endParaRPr lang="en-US" sz="1200" dirty="0"/>
          </a:p>
        </p:txBody>
      </p:sp>
      <p:sp>
        <p:nvSpPr>
          <p:cNvPr id="11" name="Shape 9"/>
          <p:cNvSpPr/>
          <p:nvPr/>
        </p:nvSpPr>
        <p:spPr>
          <a:xfrm>
            <a:off x="4846320" y="2560320"/>
            <a:ext cx="2560320" cy="2560320"/>
          </a:xfrm>
          <a:prstGeom prst="octagon">
            <a:avLst/>
          </a:prstGeom>
          <a:solidFill>
            <a:srgbClr val="CC9900"/>
          </a:solidFill>
          <a:ln w="12700">
            <a:solidFill>
              <a:srgbClr val="CC9900"/>
            </a:solidFill>
            <a:prstDash val="solid"/>
          </a:ln>
        </p:spPr>
      </p:sp>
      <p:sp>
        <p:nvSpPr>
          <p:cNvPr id="12" name="Text 10"/>
          <p:cNvSpPr/>
          <p:nvPr/>
        </p:nvSpPr>
        <p:spPr>
          <a:xfrm>
            <a:off x="4846320" y="2560320"/>
            <a:ext cx="2560320" cy="2560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EVENT BROKER</a:t>
            </a:r>
            <a:endParaRPr lang="en-US" sz="1300" dirty="0"/>
          </a:p>
          <a:p>
            <a:pPr marL="0" indent="0" algn="ctr">
              <a:buNone/>
            </a:pPr>
            <a:r>
              <a:rPr lang="en-US" sz="1300" b="1" dirty="0">
                <a:solidFill>
                  <a:srgbClr val="FFFFFF"/>
                </a:solidFill>
                <a:latin typeface="Cambria" pitchFamily="34" charset="0"/>
                <a:ea typeface="Cambria" pitchFamily="34" charset="-122"/>
                <a:cs typeface="Cambria" pitchFamily="34" charset="-120"/>
              </a:rPr>
              <a:t>(Kafka /</a:t>
            </a:r>
            <a:endParaRPr lang="en-US" sz="1300" dirty="0"/>
          </a:p>
          <a:p>
            <a:pPr marL="0" indent="0" algn="ctr">
              <a:buNone/>
            </a:pPr>
            <a:r>
              <a:rPr lang="en-US" sz="1300" b="1" dirty="0">
                <a:solidFill>
                  <a:srgbClr val="FFFFFF"/>
                </a:solidFill>
                <a:latin typeface="Cambria" pitchFamily="34" charset="0"/>
                <a:ea typeface="Cambria" pitchFamily="34" charset="-122"/>
                <a:cs typeface="Cambria" pitchFamily="34" charset="-120"/>
              </a:rPr>
              <a:t>RabbitMQ)</a:t>
            </a:r>
            <a:endParaRPr lang="en-US" sz="1300" dirty="0"/>
          </a:p>
        </p:txBody>
      </p:sp>
      <p:sp>
        <p:nvSpPr>
          <p:cNvPr id="13" name="Shape 11"/>
          <p:cNvSpPr/>
          <p:nvPr/>
        </p:nvSpPr>
        <p:spPr>
          <a:xfrm>
            <a:off x="9601200" y="1737360"/>
            <a:ext cx="2011680" cy="777240"/>
          </a:xfrm>
          <a:prstGeom prst="roundRect">
            <a:avLst>
              <a:gd name="adj" fmla="val 5882"/>
            </a:avLst>
          </a:prstGeom>
          <a:solidFill>
            <a:srgbClr val="FFFFFF"/>
          </a:solidFill>
          <a:ln w="19050">
            <a:solidFill>
              <a:srgbClr val="CC9900"/>
            </a:solidFill>
            <a:prstDash val="solid"/>
          </a:ln>
        </p:spPr>
      </p:sp>
      <p:sp>
        <p:nvSpPr>
          <p:cNvPr id="14" name="Text 12"/>
          <p:cNvSpPr/>
          <p:nvPr/>
        </p:nvSpPr>
        <p:spPr>
          <a:xfrm>
            <a:off x="9601200" y="1737360"/>
            <a:ext cx="2011680" cy="777240"/>
          </a:xfrm>
          <a:prstGeom prst="rect">
            <a:avLst/>
          </a:prstGeom>
          <a:noFill/>
          <a:ln/>
        </p:spPr>
        <p:txBody>
          <a:bodyPr wrap="square" lIns="0" tIns="0" rIns="0" bIns="0" rtlCol="0" anchor="ctr"/>
          <a:lstStyle/>
          <a:p>
            <a:pPr marL="0" indent="0" algn="ctr">
              <a:buNone/>
            </a:pPr>
            <a:r>
              <a:rPr lang="en-US" sz="1100" b="1" dirty="0">
                <a:solidFill>
                  <a:srgbClr val="CC9900"/>
                </a:solidFill>
                <a:latin typeface="Calibri" pitchFamily="34" charset="0"/>
                <a:ea typeface="Calibri" pitchFamily="34" charset="-122"/>
                <a:cs typeface="Calibri" pitchFamily="34" charset="-120"/>
              </a:rPr>
              <a:t>Servicio</a:t>
            </a:r>
            <a:endParaRPr lang="en-US" sz="1100" dirty="0"/>
          </a:p>
          <a:p>
            <a:pPr marL="0" indent="0" algn="ctr">
              <a:buNone/>
            </a:pPr>
            <a:r>
              <a:rPr lang="en-US" sz="1100" b="1" dirty="0">
                <a:solidFill>
                  <a:srgbClr val="CC9900"/>
                </a:solidFill>
                <a:latin typeface="Calibri" pitchFamily="34" charset="0"/>
                <a:ea typeface="Calibri" pitchFamily="34" charset="-122"/>
                <a:cs typeface="Calibri" pitchFamily="34" charset="-120"/>
              </a:rPr>
              <a:t>Email</a:t>
            </a:r>
            <a:endParaRPr lang="en-US" sz="1100" dirty="0"/>
          </a:p>
        </p:txBody>
      </p:sp>
      <p:sp>
        <p:nvSpPr>
          <p:cNvPr id="15" name="Shape 13"/>
          <p:cNvSpPr/>
          <p:nvPr/>
        </p:nvSpPr>
        <p:spPr>
          <a:xfrm>
            <a:off x="9601200" y="2788920"/>
            <a:ext cx="2011680" cy="777240"/>
          </a:xfrm>
          <a:prstGeom prst="roundRect">
            <a:avLst>
              <a:gd name="adj" fmla="val 5882"/>
            </a:avLst>
          </a:prstGeom>
          <a:solidFill>
            <a:srgbClr val="FFFFFF"/>
          </a:solidFill>
          <a:ln w="19050">
            <a:solidFill>
              <a:srgbClr val="CC9900"/>
            </a:solidFill>
            <a:prstDash val="solid"/>
          </a:ln>
        </p:spPr>
      </p:sp>
      <p:sp>
        <p:nvSpPr>
          <p:cNvPr id="16" name="Text 14"/>
          <p:cNvSpPr/>
          <p:nvPr/>
        </p:nvSpPr>
        <p:spPr>
          <a:xfrm>
            <a:off x="9601200" y="2788920"/>
            <a:ext cx="2011680" cy="777240"/>
          </a:xfrm>
          <a:prstGeom prst="rect">
            <a:avLst/>
          </a:prstGeom>
          <a:noFill/>
          <a:ln/>
        </p:spPr>
        <p:txBody>
          <a:bodyPr wrap="square" lIns="0" tIns="0" rIns="0" bIns="0" rtlCol="0" anchor="ctr"/>
          <a:lstStyle/>
          <a:p>
            <a:pPr marL="0" indent="0" algn="ctr">
              <a:buNone/>
            </a:pPr>
            <a:r>
              <a:rPr lang="en-US" sz="1100" b="1" dirty="0">
                <a:solidFill>
                  <a:srgbClr val="CC9900"/>
                </a:solidFill>
                <a:latin typeface="Calibri" pitchFamily="34" charset="0"/>
                <a:ea typeface="Calibri" pitchFamily="34" charset="-122"/>
                <a:cs typeface="Calibri" pitchFamily="34" charset="-120"/>
              </a:rPr>
              <a:t>Servicio</a:t>
            </a:r>
            <a:endParaRPr lang="en-US" sz="1100" dirty="0"/>
          </a:p>
          <a:p>
            <a:pPr marL="0" indent="0" algn="ctr">
              <a:buNone/>
            </a:pPr>
            <a:r>
              <a:rPr lang="en-US" sz="1100" b="1" dirty="0">
                <a:solidFill>
                  <a:srgbClr val="CC9900"/>
                </a:solidFill>
                <a:latin typeface="Calibri" pitchFamily="34" charset="0"/>
                <a:ea typeface="Calibri" pitchFamily="34" charset="-122"/>
                <a:cs typeface="Calibri" pitchFamily="34" charset="-120"/>
              </a:rPr>
              <a:t>Notificaciones</a:t>
            </a:r>
            <a:endParaRPr lang="en-US" sz="1100" dirty="0"/>
          </a:p>
        </p:txBody>
      </p:sp>
      <p:sp>
        <p:nvSpPr>
          <p:cNvPr id="17" name="Shape 15"/>
          <p:cNvSpPr/>
          <p:nvPr/>
        </p:nvSpPr>
        <p:spPr>
          <a:xfrm>
            <a:off x="9601200" y="3840480"/>
            <a:ext cx="2011680" cy="777240"/>
          </a:xfrm>
          <a:prstGeom prst="roundRect">
            <a:avLst>
              <a:gd name="adj" fmla="val 5882"/>
            </a:avLst>
          </a:prstGeom>
          <a:solidFill>
            <a:srgbClr val="FFFFFF"/>
          </a:solidFill>
          <a:ln w="19050">
            <a:solidFill>
              <a:srgbClr val="CC9900"/>
            </a:solidFill>
            <a:prstDash val="solid"/>
          </a:ln>
        </p:spPr>
      </p:sp>
      <p:sp>
        <p:nvSpPr>
          <p:cNvPr id="18" name="Text 16"/>
          <p:cNvSpPr/>
          <p:nvPr/>
        </p:nvSpPr>
        <p:spPr>
          <a:xfrm>
            <a:off x="9601200" y="3840480"/>
            <a:ext cx="2011680" cy="777240"/>
          </a:xfrm>
          <a:prstGeom prst="rect">
            <a:avLst/>
          </a:prstGeom>
          <a:noFill/>
          <a:ln/>
        </p:spPr>
        <p:txBody>
          <a:bodyPr wrap="square" lIns="0" tIns="0" rIns="0" bIns="0" rtlCol="0" anchor="ctr"/>
          <a:lstStyle/>
          <a:p>
            <a:pPr marL="0" indent="0" algn="ctr">
              <a:buNone/>
            </a:pPr>
            <a:r>
              <a:rPr lang="en-US" sz="1100" b="1" dirty="0">
                <a:solidFill>
                  <a:srgbClr val="CC9900"/>
                </a:solidFill>
                <a:latin typeface="Calibri" pitchFamily="34" charset="0"/>
                <a:ea typeface="Calibri" pitchFamily="34" charset="-122"/>
                <a:cs typeface="Calibri" pitchFamily="34" charset="-120"/>
              </a:rPr>
              <a:t>Servicio</a:t>
            </a:r>
            <a:endParaRPr lang="en-US" sz="1100" dirty="0"/>
          </a:p>
          <a:p>
            <a:pPr marL="0" indent="0" algn="ctr">
              <a:buNone/>
            </a:pPr>
            <a:r>
              <a:rPr lang="en-US" sz="1100" b="1" dirty="0">
                <a:solidFill>
                  <a:srgbClr val="CC9900"/>
                </a:solidFill>
                <a:latin typeface="Calibri" pitchFamily="34" charset="0"/>
                <a:ea typeface="Calibri" pitchFamily="34" charset="-122"/>
                <a:cs typeface="Calibri" pitchFamily="34" charset="-120"/>
              </a:rPr>
              <a:t>Analitica</a:t>
            </a:r>
            <a:endParaRPr lang="en-US" sz="1100" dirty="0"/>
          </a:p>
        </p:txBody>
      </p:sp>
      <p:sp>
        <p:nvSpPr>
          <p:cNvPr id="19" name="Shape 17"/>
          <p:cNvSpPr/>
          <p:nvPr/>
        </p:nvSpPr>
        <p:spPr>
          <a:xfrm>
            <a:off x="9601200" y="4892040"/>
            <a:ext cx="2011680" cy="777240"/>
          </a:xfrm>
          <a:prstGeom prst="roundRect">
            <a:avLst>
              <a:gd name="adj" fmla="val 5882"/>
            </a:avLst>
          </a:prstGeom>
          <a:solidFill>
            <a:srgbClr val="FFFFFF"/>
          </a:solidFill>
          <a:ln w="19050">
            <a:solidFill>
              <a:srgbClr val="CC9900"/>
            </a:solidFill>
            <a:prstDash val="solid"/>
          </a:ln>
        </p:spPr>
      </p:sp>
      <p:sp>
        <p:nvSpPr>
          <p:cNvPr id="20" name="Text 18"/>
          <p:cNvSpPr/>
          <p:nvPr/>
        </p:nvSpPr>
        <p:spPr>
          <a:xfrm>
            <a:off x="9601200" y="4892040"/>
            <a:ext cx="2011680" cy="777240"/>
          </a:xfrm>
          <a:prstGeom prst="rect">
            <a:avLst/>
          </a:prstGeom>
          <a:noFill/>
          <a:ln/>
        </p:spPr>
        <p:txBody>
          <a:bodyPr wrap="square" lIns="0" tIns="0" rIns="0" bIns="0" rtlCol="0" anchor="ctr"/>
          <a:lstStyle/>
          <a:p>
            <a:pPr marL="0" indent="0" algn="ctr">
              <a:buNone/>
            </a:pPr>
            <a:r>
              <a:rPr lang="en-US" sz="1100" b="1" dirty="0">
                <a:solidFill>
                  <a:srgbClr val="CC9900"/>
                </a:solidFill>
                <a:latin typeface="Calibri" pitchFamily="34" charset="0"/>
                <a:ea typeface="Calibri" pitchFamily="34" charset="-122"/>
                <a:cs typeface="Calibri" pitchFamily="34" charset="-120"/>
              </a:rPr>
              <a:t>Servicio</a:t>
            </a:r>
            <a:endParaRPr lang="en-US" sz="1100" dirty="0"/>
          </a:p>
          <a:p>
            <a:pPr marL="0" indent="0" algn="ctr">
              <a:buNone/>
            </a:pPr>
            <a:r>
              <a:rPr lang="en-US" sz="1100" b="1" dirty="0">
                <a:solidFill>
                  <a:srgbClr val="CC9900"/>
                </a:solidFill>
                <a:latin typeface="Calibri" pitchFamily="34" charset="0"/>
                <a:ea typeface="Calibri" pitchFamily="34" charset="-122"/>
                <a:cs typeface="Calibri" pitchFamily="34" charset="-120"/>
              </a:rPr>
              <a:t>Auditoria</a:t>
            </a:r>
            <a:endParaRPr lang="en-US" sz="1100" dirty="0"/>
          </a:p>
        </p:txBody>
      </p:sp>
      <p:sp>
        <p:nvSpPr>
          <p:cNvPr id="21" name="Shape 19"/>
          <p:cNvSpPr/>
          <p:nvPr/>
        </p:nvSpPr>
        <p:spPr>
          <a:xfrm>
            <a:off x="2468880" y="2400300"/>
            <a:ext cx="2377440" cy="1440180"/>
          </a:xfrm>
          <a:prstGeom prst="line">
            <a:avLst/>
          </a:prstGeom>
          <a:noFill/>
          <a:ln w="15240">
            <a:solidFill>
              <a:srgbClr val="006633"/>
            </a:solidFill>
            <a:prstDash val="solid"/>
          </a:ln>
        </p:spPr>
      </p:sp>
      <p:sp>
        <p:nvSpPr>
          <p:cNvPr id="22" name="Shape 20"/>
          <p:cNvSpPr/>
          <p:nvPr/>
        </p:nvSpPr>
        <p:spPr>
          <a:xfrm>
            <a:off x="2468880" y="3680460"/>
            <a:ext cx="2377440" cy="160020"/>
          </a:xfrm>
          <a:prstGeom prst="line">
            <a:avLst/>
          </a:prstGeom>
          <a:noFill/>
          <a:ln w="15240">
            <a:solidFill>
              <a:srgbClr val="006633"/>
            </a:solidFill>
            <a:prstDash val="solid"/>
          </a:ln>
        </p:spPr>
      </p:sp>
      <p:sp>
        <p:nvSpPr>
          <p:cNvPr id="23" name="Shape 21"/>
          <p:cNvSpPr/>
          <p:nvPr/>
        </p:nvSpPr>
        <p:spPr>
          <a:xfrm>
            <a:off x="2468880" y="4960620"/>
            <a:ext cx="2377440" cy="0"/>
          </a:xfrm>
          <a:prstGeom prst="line">
            <a:avLst/>
          </a:prstGeom>
          <a:noFill/>
          <a:ln w="15240">
            <a:solidFill>
              <a:srgbClr val="006633"/>
            </a:solidFill>
            <a:prstDash val="solid"/>
          </a:ln>
        </p:spPr>
      </p:sp>
      <p:sp>
        <p:nvSpPr>
          <p:cNvPr id="24" name="Shape 22"/>
          <p:cNvSpPr/>
          <p:nvPr/>
        </p:nvSpPr>
        <p:spPr>
          <a:xfrm>
            <a:off x="7406640" y="3840480"/>
            <a:ext cx="2194560" cy="0"/>
          </a:xfrm>
          <a:prstGeom prst="line">
            <a:avLst/>
          </a:prstGeom>
          <a:noFill/>
          <a:ln w="15240">
            <a:solidFill>
              <a:srgbClr val="CC9900"/>
            </a:solidFill>
            <a:prstDash val="solid"/>
          </a:ln>
        </p:spPr>
      </p:sp>
      <p:sp>
        <p:nvSpPr>
          <p:cNvPr id="25" name="Shape 23"/>
          <p:cNvSpPr/>
          <p:nvPr/>
        </p:nvSpPr>
        <p:spPr>
          <a:xfrm>
            <a:off x="7406640" y="3840480"/>
            <a:ext cx="2194560" cy="0"/>
          </a:xfrm>
          <a:prstGeom prst="line">
            <a:avLst/>
          </a:prstGeom>
          <a:noFill/>
          <a:ln w="15240">
            <a:solidFill>
              <a:srgbClr val="CC9900"/>
            </a:solidFill>
            <a:prstDash val="solid"/>
          </a:ln>
        </p:spPr>
      </p:sp>
      <p:sp>
        <p:nvSpPr>
          <p:cNvPr id="26" name="Shape 24"/>
          <p:cNvSpPr/>
          <p:nvPr/>
        </p:nvSpPr>
        <p:spPr>
          <a:xfrm>
            <a:off x="7406640" y="3840480"/>
            <a:ext cx="2194560" cy="388620"/>
          </a:xfrm>
          <a:prstGeom prst="line">
            <a:avLst/>
          </a:prstGeom>
          <a:noFill/>
          <a:ln w="15240">
            <a:solidFill>
              <a:srgbClr val="CC9900"/>
            </a:solidFill>
            <a:prstDash val="solid"/>
          </a:ln>
        </p:spPr>
      </p:sp>
      <p:sp>
        <p:nvSpPr>
          <p:cNvPr id="27" name="Shape 25"/>
          <p:cNvSpPr/>
          <p:nvPr/>
        </p:nvSpPr>
        <p:spPr>
          <a:xfrm>
            <a:off x="7406640" y="3840480"/>
            <a:ext cx="2194560" cy="1440180"/>
          </a:xfrm>
          <a:prstGeom prst="line">
            <a:avLst/>
          </a:prstGeom>
          <a:noFill/>
          <a:ln w="15240">
            <a:solidFill>
              <a:srgbClr val="CC9900"/>
            </a:solidFill>
            <a:prstDash val="solid"/>
          </a:ln>
        </p:spPr>
      </p:sp>
      <p:sp>
        <p:nvSpPr>
          <p:cNvPr id="28" name="Text 26"/>
          <p:cNvSpPr/>
          <p:nvPr/>
        </p:nvSpPr>
        <p:spPr>
          <a:xfrm>
            <a:off x="2743200" y="3520440"/>
            <a:ext cx="1463040" cy="274320"/>
          </a:xfrm>
          <a:prstGeom prst="rect">
            <a:avLst/>
          </a:prstGeom>
          <a:noFill/>
          <a:ln/>
        </p:spPr>
        <p:txBody>
          <a:bodyPr wrap="square" rtlCol="0" anchor="ctr"/>
          <a:lstStyle/>
          <a:p>
            <a:pPr marL="0" indent="0" algn="ctr">
              <a:buNone/>
            </a:pPr>
            <a:r>
              <a:rPr lang="en-US" sz="1100" b="1" i="1" dirty="0">
                <a:solidFill>
                  <a:srgbClr val="006633"/>
                </a:solidFill>
                <a:latin typeface="Calibri" pitchFamily="34" charset="0"/>
                <a:ea typeface="Calibri" pitchFamily="34" charset="-122"/>
                <a:cs typeface="Calibri" pitchFamily="34" charset="-120"/>
              </a:rPr>
              <a:t>publica</a:t>
            </a:r>
            <a:endParaRPr lang="en-US" sz="1100" dirty="0"/>
          </a:p>
        </p:txBody>
      </p:sp>
      <p:sp>
        <p:nvSpPr>
          <p:cNvPr id="29" name="Text 27"/>
          <p:cNvSpPr/>
          <p:nvPr/>
        </p:nvSpPr>
        <p:spPr>
          <a:xfrm>
            <a:off x="7589520" y="3520440"/>
            <a:ext cx="1828800" cy="274320"/>
          </a:xfrm>
          <a:prstGeom prst="rect">
            <a:avLst/>
          </a:prstGeom>
          <a:noFill/>
          <a:ln/>
        </p:spPr>
        <p:txBody>
          <a:bodyPr wrap="square" rtlCol="0" anchor="ctr"/>
          <a:lstStyle/>
          <a:p>
            <a:pPr marL="0" indent="0" algn="ctr">
              <a:buNone/>
            </a:pPr>
            <a:r>
              <a:rPr lang="en-US" sz="1100" b="1" i="1" dirty="0">
                <a:solidFill>
                  <a:srgbClr val="CC9900"/>
                </a:solidFill>
                <a:latin typeface="Calibri" pitchFamily="34" charset="0"/>
                <a:ea typeface="Calibri" pitchFamily="34" charset="-122"/>
                <a:cs typeface="Calibri" pitchFamily="34" charset="-120"/>
              </a:rPr>
              <a:t>suscripcion</a:t>
            </a:r>
            <a:endParaRPr lang="en-US" sz="1100" dirty="0"/>
          </a:p>
        </p:txBody>
      </p:sp>
      <p:sp>
        <p:nvSpPr>
          <p:cNvPr id="30" name="Text 28"/>
          <p:cNvSpPr/>
          <p:nvPr/>
        </p:nvSpPr>
        <p:spPr>
          <a:xfrm>
            <a:off x="640080" y="5852160"/>
            <a:ext cx="1828800" cy="274320"/>
          </a:xfrm>
          <a:prstGeom prst="rect">
            <a:avLst/>
          </a:prstGeom>
          <a:noFill/>
          <a:ln/>
        </p:spPr>
        <p:txBody>
          <a:bodyPr wrap="square" rtlCol="0" anchor="ctr"/>
          <a:lstStyle/>
          <a:p>
            <a:pPr marL="0" indent="0" algn="ctr">
              <a:buNone/>
            </a:pPr>
            <a:r>
              <a:rPr lang="en-US" sz="1100" b="1" dirty="0">
                <a:solidFill>
                  <a:srgbClr val="006633"/>
                </a:solidFill>
                <a:latin typeface="Cambria" pitchFamily="34" charset="0"/>
                <a:ea typeface="Cambria" pitchFamily="34" charset="-122"/>
                <a:cs typeface="Cambria" pitchFamily="34" charset="-120"/>
              </a:rPr>
              <a:t>PRODUCERS</a:t>
            </a:r>
            <a:endParaRPr lang="en-US" sz="1100" dirty="0"/>
          </a:p>
        </p:txBody>
      </p:sp>
      <p:sp>
        <p:nvSpPr>
          <p:cNvPr id="31" name="Text 29"/>
          <p:cNvSpPr/>
          <p:nvPr/>
        </p:nvSpPr>
        <p:spPr>
          <a:xfrm>
            <a:off x="9601200" y="5852160"/>
            <a:ext cx="2011680" cy="274320"/>
          </a:xfrm>
          <a:prstGeom prst="rect">
            <a:avLst/>
          </a:prstGeom>
          <a:noFill/>
          <a:ln/>
        </p:spPr>
        <p:txBody>
          <a:bodyPr wrap="square" rtlCol="0" anchor="ctr"/>
          <a:lstStyle/>
          <a:p>
            <a:pPr marL="0" indent="0" algn="ctr">
              <a:buNone/>
            </a:pPr>
            <a:r>
              <a:rPr lang="en-US" sz="1100" b="1" dirty="0">
                <a:solidFill>
                  <a:srgbClr val="CC9900"/>
                </a:solidFill>
                <a:latin typeface="Cambria" pitchFamily="34" charset="0"/>
                <a:ea typeface="Cambria" pitchFamily="34" charset="-122"/>
                <a:cs typeface="Cambria" pitchFamily="34" charset="-120"/>
              </a:rPr>
              <a:t>CONSUMERS</a:t>
            </a:r>
            <a:endParaRPr lang="en-US" sz="1100" dirty="0"/>
          </a:p>
        </p:txBody>
      </p:sp>
      <p:sp>
        <p:nvSpPr>
          <p:cNvPr id="32" name="Text 30"/>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33" name="Text 31"/>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-- 14 / 32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3 -- PIZARRA, EDA, P2P</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EDA: ventajas, costos y patrones asociados</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Shape 3"/>
          <p:cNvSpPr/>
          <p:nvPr/>
        </p:nvSpPr>
        <p:spPr>
          <a:xfrm>
            <a:off x="457200" y="1691640"/>
            <a:ext cx="5623560" cy="2743200"/>
          </a:xfrm>
          <a:prstGeom prst="roundRect">
            <a:avLst>
              <a:gd name="adj" fmla="val 2667"/>
            </a:avLst>
          </a:prstGeom>
          <a:solidFill>
            <a:srgbClr val="FFFFFF"/>
          </a:solidFill>
          <a:ln w="9525">
            <a:solidFill>
              <a:srgbClr val="D0D0D0"/>
            </a:solidFill>
            <a:prstDash val="solid"/>
          </a:ln>
        </p:spPr>
      </p:sp>
      <p:sp>
        <p:nvSpPr>
          <p:cNvPr id="6" name="Text 4"/>
          <p:cNvSpPr/>
          <p:nvPr/>
        </p:nvSpPr>
        <p:spPr>
          <a:xfrm>
            <a:off x="594360" y="1783080"/>
            <a:ext cx="5349240" cy="411480"/>
          </a:xfrm>
          <a:prstGeom prst="rect">
            <a:avLst/>
          </a:prstGeom>
          <a:noFill/>
          <a:ln/>
        </p:spPr>
        <p:txBody>
          <a:bodyPr wrap="square" lIns="0" tIns="0" rIns="0" bIns="0" rtlCol="0" anchor="ctr"/>
          <a:lstStyle/>
          <a:p>
            <a:pPr marL="0" indent="0">
              <a:buNone/>
            </a:pPr>
            <a:r>
              <a:rPr lang="en-US" sz="1500" b="1" dirty="0">
                <a:solidFill>
                  <a:srgbClr val="006633"/>
                </a:solidFill>
                <a:latin typeface="Cambria" pitchFamily="34" charset="0"/>
                <a:ea typeface="Cambria" pitchFamily="34" charset="-122"/>
                <a:cs typeface="Cambria" pitchFamily="34" charset="-120"/>
              </a:rPr>
              <a:t>Ventajas</a:t>
            </a:r>
            <a:endParaRPr lang="en-US" sz="1500" dirty="0"/>
          </a:p>
        </p:txBody>
      </p:sp>
      <p:sp>
        <p:nvSpPr>
          <p:cNvPr id="7" name="Text 5"/>
          <p:cNvSpPr/>
          <p:nvPr/>
        </p:nvSpPr>
        <p:spPr>
          <a:xfrm>
            <a:off x="594360" y="2221992"/>
            <a:ext cx="5349240" cy="210312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  Desacoplamiento temporal y espacial entre servicios.</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Escalabilidad horizontal casi trivial (mas consumidores).</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Resiliencia: si un consumidor cae, los eventos quedan en el broker.</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Extensibilidad: agregar consumidores sin tocar productores.</a:t>
            </a:r>
            <a:endParaRPr lang="en-US" sz="1200" dirty="0"/>
          </a:p>
        </p:txBody>
      </p:sp>
      <p:sp>
        <p:nvSpPr>
          <p:cNvPr id="8" name="Shape 6"/>
          <p:cNvSpPr/>
          <p:nvPr/>
        </p:nvSpPr>
        <p:spPr>
          <a:xfrm>
            <a:off x="6263640" y="1691640"/>
            <a:ext cx="5623560" cy="2743200"/>
          </a:xfrm>
          <a:prstGeom prst="roundRect">
            <a:avLst>
              <a:gd name="adj" fmla="val 2667"/>
            </a:avLst>
          </a:prstGeom>
          <a:solidFill>
            <a:srgbClr val="FFFFFF"/>
          </a:solidFill>
          <a:ln w="9525">
            <a:solidFill>
              <a:srgbClr val="D0D0D0"/>
            </a:solidFill>
            <a:prstDash val="solid"/>
          </a:ln>
        </p:spPr>
      </p:sp>
      <p:sp>
        <p:nvSpPr>
          <p:cNvPr id="9" name="Text 7"/>
          <p:cNvSpPr/>
          <p:nvPr/>
        </p:nvSpPr>
        <p:spPr>
          <a:xfrm>
            <a:off x="6400800" y="1783080"/>
            <a:ext cx="5349240" cy="411480"/>
          </a:xfrm>
          <a:prstGeom prst="rect">
            <a:avLst/>
          </a:prstGeom>
          <a:noFill/>
          <a:ln/>
        </p:spPr>
        <p:txBody>
          <a:bodyPr wrap="square" lIns="0" tIns="0" rIns="0" bIns="0" rtlCol="0" anchor="ctr"/>
          <a:lstStyle/>
          <a:p>
            <a:pPr marL="0" indent="0">
              <a:buNone/>
            </a:pPr>
            <a:r>
              <a:rPr lang="en-US" sz="1500" b="1" dirty="0">
                <a:solidFill>
                  <a:srgbClr val="B22222"/>
                </a:solidFill>
                <a:latin typeface="Cambria" pitchFamily="34" charset="0"/>
                <a:ea typeface="Cambria" pitchFamily="34" charset="-122"/>
                <a:cs typeface="Cambria" pitchFamily="34" charset="-120"/>
              </a:rPr>
              <a:t>Costos y riesgos</a:t>
            </a:r>
            <a:endParaRPr lang="en-US" sz="1500" dirty="0"/>
          </a:p>
        </p:txBody>
      </p:sp>
      <p:sp>
        <p:nvSpPr>
          <p:cNvPr id="10" name="Text 8"/>
          <p:cNvSpPr/>
          <p:nvPr/>
        </p:nvSpPr>
        <p:spPr>
          <a:xfrm>
            <a:off x="6400800" y="2221992"/>
            <a:ext cx="5349240" cy="210312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  Consistencia eventual (no ACID entre servicios).</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Debugging distribuido: hay que rastrear un evento por 3 servicios.</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Message ordering: no siempre garantizado por el broker.</a:t>
            </a:r>
            <a:endParaRPr lang="en-US" sz="1200" dirty="0"/>
          </a:p>
          <a:p>
            <a:pPr marL="0" indent="0">
              <a:buNone/>
            </a:pPr>
            <a:endParaRPr lang="en-US" sz="1200" dirty="0"/>
          </a:p>
          <a:p>
            <a:pPr marL="0" indent="0">
              <a:buNone/>
            </a:pPr>
            <a:r>
              <a:rPr lang="en-US" sz="1200" dirty="0">
                <a:solidFill>
                  <a:srgbClr val="3F3F3F"/>
                </a:solidFill>
                <a:latin typeface="Calibri" pitchFamily="34" charset="0"/>
                <a:ea typeface="Calibri" pitchFamily="34" charset="-122"/>
                <a:cs typeface="Calibri" pitchFamily="34" charset="-120"/>
              </a:rPr>
              <a:t>■  Complejidad operacional: hay que operar Kafka o RabbitMQ.</a:t>
            </a:r>
            <a:endParaRPr lang="en-US" sz="1200" dirty="0"/>
          </a:p>
        </p:txBody>
      </p:sp>
      <p:sp>
        <p:nvSpPr>
          <p:cNvPr id="11" name="Text 9"/>
          <p:cNvSpPr/>
          <p:nvPr/>
        </p:nvSpPr>
        <p:spPr>
          <a:xfrm>
            <a:off x="457200" y="4617720"/>
            <a:ext cx="11247120" cy="320040"/>
          </a:xfrm>
          <a:prstGeom prst="rect">
            <a:avLst/>
          </a:prstGeom>
          <a:noFill/>
          <a:ln/>
        </p:spPr>
        <p:txBody>
          <a:bodyPr wrap="square" lIns="0" tIns="0" rIns="0" bIns="0" rtlCol="0" anchor="ctr"/>
          <a:lstStyle/>
          <a:p>
            <a:pPr marL="0" indent="0">
              <a:buNone/>
            </a:pPr>
            <a:r>
              <a:rPr lang="en-US" sz="1500" b="1" dirty="0">
                <a:solidFill>
                  <a:srgbClr val="006633"/>
                </a:solidFill>
                <a:latin typeface="Cambria" pitchFamily="34" charset="0"/>
                <a:ea typeface="Cambria" pitchFamily="34" charset="-122"/>
                <a:cs typeface="Cambria" pitchFamily="34" charset="-120"/>
              </a:rPr>
              <a:t>Patrones complementarios que se usan con EDA</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4983480"/>
          <a:ext cx="1124712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8503920">
                  <a:extLst>
                    <a:ext uri="{9D8B030D-6E8A-4147-A177-3AD203B41FA5}">
                      <a16:colId xmlns:a16="http://schemas.microsoft.com/office/drawing/2014/main" val="20001"/>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Patron</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Proposito</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Event Sourcing</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El estado se deriva de un log inmutable de eventos.</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CQRS</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Separar comandos (escritura) de queries (lectura).</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Saga</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Transacciones distribuidas orquestadas por eventos.</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Outbox</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200" dirty="0">
                          <a:solidFill>
                            <a:srgbClr val="3F3F3F"/>
                          </a:solidFill>
                          <a:latin typeface="Calibri" pitchFamily="34" charset="0"/>
                          <a:ea typeface="Calibri" pitchFamily="34" charset="-122"/>
                          <a:cs typeface="Calibri" pitchFamily="34" charset="-120"/>
                        </a:rPr>
                        <a:t>Garantizar que un evento se publica si-y-solo-si la escritura fue confirmada en la BD.</a:t>
                      </a:r>
                      <a:endParaRPr lang="en-US" sz="12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Text 10"/>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14" name="Text 11"/>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-- 15 / 32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3 -- PIZARRA, EDA, P2P</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Arquitectura peer-to-peer (P2P)</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Shape 3"/>
          <p:cNvSpPr/>
          <p:nvPr/>
        </p:nvSpPr>
        <p:spPr>
          <a:xfrm>
            <a:off x="3291840" y="2560320"/>
            <a:ext cx="1828800" cy="0"/>
          </a:xfrm>
          <a:prstGeom prst="line">
            <a:avLst/>
          </a:prstGeom>
          <a:noFill/>
          <a:ln w="9525">
            <a:solidFill>
              <a:srgbClr val="006633"/>
            </a:solidFill>
            <a:prstDash val="dash"/>
          </a:ln>
        </p:spPr>
      </p:sp>
      <p:sp>
        <p:nvSpPr>
          <p:cNvPr id="6" name="Shape 4"/>
          <p:cNvSpPr/>
          <p:nvPr/>
        </p:nvSpPr>
        <p:spPr>
          <a:xfrm>
            <a:off x="5120640" y="2103120"/>
            <a:ext cx="1554480" cy="640080"/>
          </a:xfrm>
          <a:prstGeom prst="line">
            <a:avLst/>
          </a:prstGeom>
          <a:noFill/>
          <a:ln w="9525">
            <a:solidFill>
              <a:srgbClr val="006633"/>
            </a:solidFill>
            <a:prstDash val="dash"/>
          </a:ln>
        </p:spPr>
      </p:sp>
      <p:sp>
        <p:nvSpPr>
          <p:cNvPr id="7" name="Shape 5"/>
          <p:cNvSpPr/>
          <p:nvPr/>
        </p:nvSpPr>
        <p:spPr>
          <a:xfrm>
            <a:off x="6675120" y="2743200"/>
            <a:ext cx="822960" cy="1463040"/>
          </a:xfrm>
          <a:prstGeom prst="line">
            <a:avLst/>
          </a:prstGeom>
          <a:noFill/>
          <a:ln w="9525">
            <a:solidFill>
              <a:srgbClr val="006633"/>
            </a:solidFill>
            <a:prstDash val="dash"/>
          </a:ln>
        </p:spPr>
      </p:sp>
      <p:sp>
        <p:nvSpPr>
          <p:cNvPr id="8" name="Shape 6"/>
          <p:cNvSpPr/>
          <p:nvPr/>
        </p:nvSpPr>
        <p:spPr>
          <a:xfrm>
            <a:off x="7498080" y="4206240"/>
            <a:ext cx="0" cy="1280160"/>
          </a:xfrm>
          <a:prstGeom prst="line">
            <a:avLst/>
          </a:prstGeom>
          <a:noFill/>
          <a:ln w="9525">
            <a:solidFill>
              <a:srgbClr val="006633"/>
            </a:solidFill>
            <a:prstDash val="dash"/>
          </a:ln>
        </p:spPr>
      </p:sp>
      <p:sp>
        <p:nvSpPr>
          <p:cNvPr id="9" name="Shape 7"/>
          <p:cNvSpPr/>
          <p:nvPr/>
        </p:nvSpPr>
        <p:spPr>
          <a:xfrm>
            <a:off x="6309360" y="5486400"/>
            <a:ext cx="0" cy="182880"/>
          </a:xfrm>
          <a:prstGeom prst="line">
            <a:avLst/>
          </a:prstGeom>
          <a:noFill/>
          <a:ln w="9525">
            <a:solidFill>
              <a:srgbClr val="006633"/>
            </a:solidFill>
            <a:prstDash val="dash"/>
          </a:ln>
        </p:spPr>
      </p:sp>
      <p:sp>
        <p:nvSpPr>
          <p:cNvPr id="10" name="Shape 8"/>
          <p:cNvSpPr/>
          <p:nvPr/>
        </p:nvSpPr>
        <p:spPr>
          <a:xfrm>
            <a:off x="4480560" y="5669280"/>
            <a:ext cx="0" cy="0"/>
          </a:xfrm>
          <a:prstGeom prst="line">
            <a:avLst/>
          </a:prstGeom>
          <a:noFill/>
          <a:ln w="9525">
            <a:solidFill>
              <a:srgbClr val="006633"/>
            </a:solidFill>
            <a:prstDash val="dash"/>
          </a:ln>
        </p:spPr>
      </p:sp>
      <p:sp>
        <p:nvSpPr>
          <p:cNvPr id="11" name="Shape 9"/>
          <p:cNvSpPr/>
          <p:nvPr/>
        </p:nvSpPr>
        <p:spPr>
          <a:xfrm>
            <a:off x="2926080" y="4754880"/>
            <a:ext cx="0" cy="0"/>
          </a:xfrm>
          <a:prstGeom prst="line">
            <a:avLst/>
          </a:prstGeom>
          <a:noFill/>
          <a:ln w="9525">
            <a:solidFill>
              <a:srgbClr val="006633"/>
            </a:solidFill>
            <a:prstDash val="dash"/>
          </a:ln>
        </p:spPr>
      </p:sp>
      <p:sp>
        <p:nvSpPr>
          <p:cNvPr id="12" name="Shape 10"/>
          <p:cNvSpPr/>
          <p:nvPr/>
        </p:nvSpPr>
        <p:spPr>
          <a:xfrm>
            <a:off x="2560320" y="3474720"/>
            <a:ext cx="731520" cy="0"/>
          </a:xfrm>
          <a:prstGeom prst="line">
            <a:avLst/>
          </a:prstGeom>
          <a:noFill/>
          <a:ln w="9525">
            <a:solidFill>
              <a:srgbClr val="006633"/>
            </a:solidFill>
            <a:prstDash val="dash"/>
          </a:ln>
        </p:spPr>
      </p:sp>
      <p:sp>
        <p:nvSpPr>
          <p:cNvPr id="13" name="Shape 11"/>
          <p:cNvSpPr/>
          <p:nvPr/>
        </p:nvSpPr>
        <p:spPr>
          <a:xfrm>
            <a:off x="3291840" y="2560320"/>
            <a:ext cx="1737360" cy="1463040"/>
          </a:xfrm>
          <a:prstGeom prst="line">
            <a:avLst/>
          </a:prstGeom>
          <a:noFill/>
          <a:ln w="9525">
            <a:solidFill>
              <a:srgbClr val="006633"/>
            </a:solidFill>
            <a:prstDash val="dash"/>
          </a:ln>
        </p:spPr>
      </p:sp>
      <p:sp>
        <p:nvSpPr>
          <p:cNvPr id="14" name="Shape 12"/>
          <p:cNvSpPr/>
          <p:nvPr/>
        </p:nvSpPr>
        <p:spPr>
          <a:xfrm>
            <a:off x="5120640" y="2103120"/>
            <a:ext cx="0" cy="1920240"/>
          </a:xfrm>
          <a:prstGeom prst="line">
            <a:avLst/>
          </a:prstGeom>
          <a:noFill/>
          <a:ln w="9525">
            <a:solidFill>
              <a:srgbClr val="006633"/>
            </a:solidFill>
            <a:prstDash val="dash"/>
          </a:ln>
        </p:spPr>
      </p:sp>
      <p:sp>
        <p:nvSpPr>
          <p:cNvPr id="15" name="Shape 13"/>
          <p:cNvSpPr/>
          <p:nvPr/>
        </p:nvSpPr>
        <p:spPr>
          <a:xfrm>
            <a:off x="6675120" y="2743200"/>
            <a:ext cx="0" cy="1280160"/>
          </a:xfrm>
          <a:prstGeom prst="line">
            <a:avLst/>
          </a:prstGeom>
          <a:noFill/>
          <a:ln w="9525">
            <a:solidFill>
              <a:srgbClr val="006633"/>
            </a:solidFill>
            <a:prstDash val="dash"/>
          </a:ln>
        </p:spPr>
      </p:sp>
      <p:sp>
        <p:nvSpPr>
          <p:cNvPr id="16" name="Shape 14"/>
          <p:cNvSpPr/>
          <p:nvPr/>
        </p:nvSpPr>
        <p:spPr>
          <a:xfrm>
            <a:off x="7498080" y="4206240"/>
            <a:ext cx="0" cy="0"/>
          </a:xfrm>
          <a:prstGeom prst="line">
            <a:avLst/>
          </a:prstGeom>
          <a:noFill/>
          <a:ln w="9525">
            <a:solidFill>
              <a:srgbClr val="006633"/>
            </a:solidFill>
            <a:prstDash val="dash"/>
          </a:ln>
        </p:spPr>
      </p:sp>
      <p:sp>
        <p:nvSpPr>
          <p:cNvPr id="17" name="Shape 15"/>
          <p:cNvSpPr/>
          <p:nvPr/>
        </p:nvSpPr>
        <p:spPr>
          <a:xfrm>
            <a:off x="6309360" y="5486400"/>
            <a:ext cx="0" cy="0"/>
          </a:xfrm>
          <a:prstGeom prst="line">
            <a:avLst/>
          </a:prstGeom>
          <a:noFill/>
          <a:ln w="9525">
            <a:solidFill>
              <a:srgbClr val="006633"/>
            </a:solidFill>
            <a:prstDash val="dash"/>
          </a:ln>
        </p:spPr>
      </p:sp>
      <p:sp>
        <p:nvSpPr>
          <p:cNvPr id="18" name="Shape 16"/>
          <p:cNvSpPr/>
          <p:nvPr/>
        </p:nvSpPr>
        <p:spPr>
          <a:xfrm>
            <a:off x="4480560" y="5669280"/>
            <a:ext cx="548640" cy="0"/>
          </a:xfrm>
          <a:prstGeom prst="line">
            <a:avLst/>
          </a:prstGeom>
          <a:noFill/>
          <a:ln w="9525">
            <a:solidFill>
              <a:srgbClr val="006633"/>
            </a:solidFill>
            <a:prstDash val="dash"/>
          </a:ln>
        </p:spPr>
      </p:sp>
      <p:sp>
        <p:nvSpPr>
          <p:cNvPr id="19" name="Shape 17"/>
          <p:cNvSpPr/>
          <p:nvPr/>
        </p:nvSpPr>
        <p:spPr>
          <a:xfrm>
            <a:off x="2926080" y="4754880"/>
            <a:ext cx="2103120" cy="0"/>
          </a:xfrm>
          <a:prstGeom prst="line">
            <a:avLst/>
          </a:prstGeom>
          <a:noFill/>
          <a:ln w="9525">
            <a:solidFill>
              <a:srgbClr val="006633"/>
            </a:solidFill>
            <a:prstDash val="dash"/>
          </a:ln>
        </p:spPr>
      </p:sp>
      <p:sp>
        <p:nvSpPr>
          <p:cNvPr id="20" name="Shape 18"/>
          <p:cNvSpPr/>
          <p:nvPr/>
        </p:nvSpPr>
        <p:spPr>
          <a:xfrm>
            <a:off x="2560320" y="3474720"/>
            <a:ext cx="2468880" cy="548640"/>
          </a:xfrm>
          <a:prstGeom prst="line">
            <a:avLst/>
          </a:prstGeom>
          <a:noFill/>
          <a:ln w="9525">
            <a:solidFill>
              <a:srgbClr val="006633"/>
            </a:solidFill>
            <a:prstDash val="dash"/>
          </a:ln>
        </p:spPr>
      </p:sp>
      <p:sp>
        <p:nvSpPr>
          <p:cNvPr id="21" name="Shape 19"/>
          <p:cNvSpPr/>
          <p:nvPr/>
        </p:nvSpPr>
        <p:spPr>
          <a:xfrm>
            <a:off x="3291840" y="2560320"/>
            <a:ext cx="3383280" cy="182880"/>
          </a:xfrm>
          <a:prstGeom prst="line">
            <a:avLst/>
          </a:prstGeom>
          <a:noFill/>
          <a:ln w="9525">
            <a:solidFill>
              <a:srgbClr val="006633"/>
            </a:solidFill>
            <a:prstDash val="dash"/>
          </a:ln>
        </p:spPr>
      </p:sp>
      <p:sp>
        <p:nvSpPr>
          <p:cNvPr id="22" name="Shape 20"/>
          <p:cNvSpPr/>
          <p:nvPr/>
        </p:nvSpPr>
        <p:spPr>
          <a:xfrm>
            <a:off x="7498080" y="4206240"/>
            <a:ext cx="0" cy="1463040"/>
          </a:xfrm>
          <a:prstGeom prst="line">
            <a:avLst/>
          </a:prstGeom>
          <a:noFill/>
          <a:ln w="9525">
            <a:solidFill>
              <a:srgbClr val="006633"/>
            </a:solidFill>
            <a:prstDash val="dash"/>
          </a:ln>
        </p:spPr>
      </p:sp>
      <p:sp>
        <p:nvSpPr>
          <p:cNvPr id="23" name="Shape 21"/>
          <p:cNvSpPr/>
          <p:nvPr/>
        </p:nvSpPr>
        <p:spPr>
          <a:xfrm>
            <a:off x="5120640" y="2103120"/>
            <a:ext cx="0" cy="1371600"/>
          </a:xfrm>
          <a:prstGeom prst="line">
            <a:avLst/>
          </a:prstGeom>
          <a:noFill/>
          <a:ln w="9525">
            <a:solidFill>
              <a:srgbClr val="006633"/>
            </a:solidFill>
            <a:prstDash val="dash"/>
          </a:ln>
        </p:spPr>
      </p:sp>
      <p:sp>
        <p:nvSpPr>
          <p:cNvPr id="24" name="Shape 22"/>
          <p:cNvSpPr/>
          <p:nvPr/>
        </p:nvSpPr>
        <p:spPr>
          <a:xfrm>
            <a:off x="3017520" y="2286000"/>
            <a:ext cx="548640" cy="548640"/>
          </a:xfrm>
          <a:prstGeom prst="ellipse">
            <a:avLst/>
          </a:prstGeom>
          <a:solidFill>
            <a:srgbClr val="006633"/>
          </a:solidFill>
          <a:ln w="25400">
            <a:solidFill>
              <a:srgbClr val="FFFFFF"/>
            </a:solidFill>
            <a:prstDash val="solid"/>
          </a:ln>
        </p:spPr>
      </p:sp>
      <p:sp>
        <p:nvSpPr>
          <p:cNvPr id="25" name="Text 23"/>
          <p:cNvSpPr/>
          <p:nvPr/>
        </p:nvSpPr>
        <p:spPr>
          <a:xfrm>
            <a:off x="3017520" y="2286000"/>
            <a:ext cx="54864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26" name="Shape 24"/>
          <p:cNvSpPr/>
          <p:nvPr/>
        </p:nvSpPr>
        <p:spPr>
          <a:xfrm>
            <a:off x="4846320" y="1828800"/>
            <a:ext cx="548640" cy="548640"/>
          </a:xfrm>
          <a:prstGeom prst="ellipse">
            <a:avLst/>
          </a:prstGeom>
          <a:solidFill>
            <a:srgbClr val="006633"/>
          </a:solidFill>
          <a:ln w="25400">
            <a:solidFill>
              <a:srgbClr val="FFFFFF"/>
            </a:solidFill>
            <a:prstDash val="solid"/>
          </a:ln>
        </p:spPr>
      </p:sp>
      <p:sp>
        <p:nvSpPr>
          <p:cNvPr id="27" name="Text 25"/>
          <p:cNvSpPr/>
          <p:nvPr/>
        </p:nvSpPr>
        <p:spPr>
          <a:xfrm>
            <a:off x="4846320" y="1828800"/>
            <a:ext cx="54864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28" name="Shape 26"/>
          <p:cNvSpPr/>
          <p:nvPr/>
        </p:nvSpPr>
        <p:spPr>
          <a:xfrm>
            <a:off x="6400800" y="2468880"/>
            <a:ext cx="548640" cy="548640"/>
          </a:xfrm>
          <a:prstGeom prst="ellipse">
            <a:avLst/>
          </a:prstGeom>
          <a:solidFill>
            <a:srgbClr val="006633"/>
          </a:solidFill>
          <a:ln w="25400">
            <a:solidFill>
              <a:srgbClr val="FFFFFF"/>
            </a:solidFill>
            <a:prstDash val="solid"/>
          </a:ln>
        </p:spPr>
      </p:sp>
      <p:sp>
        <p:nvSpPr>
          <p:cNvPr id="29" name="Text 27"/>
          <p:cNvSpPr/>
          <p:nvPr/>
        </p:nvSpPr>
        <p:spPr>
          <a:xfrm>
            <a:off x="6400800" y="2468880"/>
            <a:ext cx="54864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30" name="Shape 28"/>
          <p:cNvSpPr/>
          <p:nvPr/>
        </p:nvSpPr>
        <p:spPr>
          <a:xfrm>
            <a:off x="7223760" y="3931920"/>
            <a:ext cx="548640" cy="548640"/>
          </a:xfrm>
          <a:prstGeom prst="ellipse">
            <a:avLst/>
          </a:prstGeom>
          <a:solidFill>
            <a:srgbClr val="006633"/>
          </a:solidFill>
          <a:ln w="25400">
            <a:solidFill>
              <a:srgbClr val="FFFFFF"/>
            </a:solidFill>
            <a:prstDash val="solid"/>
          </a:ln>
        </p:spPr>
      </p:sp>
      <p:sp>
        <p:nvSpPr>
          <p:cNvPr id="31" name="Text 29"/>
          <p:cNvSpPr/>
          <p:nvPr/>
        </p:nvSpPr>
        <p:spPr>
          <a:xfrm>
            <a:off x="7223760" y="3931920"/>
            <a:ext cx="54864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32" name="Shape 30"/>
          <p:cNvSpPr/>
          <p:nvPr/>
        </p:nvSpPr>
        <p:spPr>
          <a:xfrm>
            <a:off x="6035040" y="5212080"/>
            <a:ext cx="548640" cy="548640"/>
          </a:xfrm>
          <a:prstGeom prst="ellipse">
            <a:avLst/>
          </a:prstGeom>
          <a:solidFill>
            <a:srgbClr val="006633"/>
          </a:solidFill>
          <a:ln w="25400">
            <a:solidFill>
              <a:srgbClr val="FFFFFF"/>
            </a:solidFill>
            <a:prstDash val="solid"/>
          </a:ln>
        </p:spPr>
      </p:sp>
      <p:sp>
        <p:nvSpPr>
          <p:cNvPr id="33" name="Text 31"/>
          <p:cNvSpPr/>
          <p:nvPr/>
        </p:nvSpPr>
        <p:spPr>
          <a:xfrm>
            <a:off x="6035040" y="5212080"/>
            <a:ext cx="54864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34" name="Shape 32"/>
          <p:cNvSpPr/>
          <p:nvPr/>
        </p:nvSpPr>
        <p:spPr>
          <a:xfrm>
            <a:off x="4206240" y="5394960"/>
            <a:ext cx="548640" cy="548640"/>
          </a:xfrm>
          <a:prstGeom prst="ellipse">
            <a:avLst/>
          </a:prstGeom>
          <a:solidFill>
            <a:srgbClr val="006633"/>
          </a:solidFill>
          <a:ln w="25400">
            <a:solidFill>
              <a:srgbClr val="FFFFFF"/>
            </a:solidFill>
            <a:prstDash val="solid"/>
          </a:ln>
        </p:spPr>
      </p:sp>
      <p:sp>
        <p:nvSpPr>
          <p:cNvPr id="35" name="Text 33"/>
          <p:cNvSpPr/>
          <p:nvPr/>
        </p:nvSpPr>
        <p:spPr>
          <a:xfrm>
            <a:off x="4206240" y="5394960"/>
            <a:ext cx="54864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6</a:t>
            </a:r>
            <a:endParaRPr lang="en-US" sz="1100" dirty="0"/>
          </a:p>
        </p:txBody>
      </p:sp>
      <p:sp>
        <p:nvSpPr>
          <p:cNvPr id="36" name="Shape 34"/>
          <p:cNvSpPr/>
          <p:nvPr/>
        </p:nvSpPr>
        <p:spPr>
          <a:xfrm>
            <a:off x="2651760" y="4480560"/>
            <a:ext cx="548640" cy="548640"/>
          </a:xfrm>
          <a:prstGeom prst="ellipse">
            <a:avLst/>
          </a:prstGeom>
          <a:solidFill>
            <a:srgbClr val="006633"/>
          </a:solidFill>
          <a:ln w="25400">
            <a:solidFill>
              <a:srgbClr val="FFFFFF"/>
            </a:solidFill>
            <a:prstDash val="solid"/>
          </a:ln>
        </p:spPr>
      </p:sp>
      <p:sp>
        <p:nvSpPr>
          <p:cNvPr id="37" name="Text 35"/>
          <p:cNvSpPr/>
          <p:nvPr/>
        </p:nvSpPr>
        <p:spPr>
          <a:xfrm>
            <a:off x="2651760" y="4480560"/>
            <a:ext cx="54864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7</a:t>
            </a:r>
            <a:endParaRPr lang="en-US" sz="1100" dirty="0"/>
          </a:p>
        </p:txBody>
      </p:sp>
      <p:sp>
        <p:nvSpPr>
          <p:cNvPr id="38" name="Shape 36"/>
          <p:cNvSpPr/>
          <p:nvPr/>
        </p:nvSpPr>
        <p:spPr>
          <a:xfrm>
            <a:off x="2286000" y="3200400"/>
            <a:ext cx="548640" cy="548640"/>
          </a:xfrm>
          <a:prstGeom prst="ellipse">
            <a:avLst/>
          </a:prstGeom>
          <a:solidFill>
            <a:srgbClr val="006633"/>
          </a:solidFill>
          <a:ln w="25400">
            <a:solidFill>
              <a:srgbClr val="FFFFFF"/>
            </a:solidFill>
            <a:prstDash val="solid"/>
          </a:ln>
        </p:spPr>
      </p:sp>
      <p:sp>
        <p:nvSpPr>
          <p:cNvPr id="39" name="Text 37"/>
          <p:cNvSpPr/>
          <p:nvPr/>
        </p:nvSpPr>
        <p:spPr>
          <a:xfrm>
            <a:off x="2286000" y="3200400"/>
            <a:ext cx="54864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8</a:t>
            </a:r>
            <a:endParaRPr lang="en-US" sz="1100" dirty="0"/>
          </a:p>
        </p:txBody>
      </p:sp>
      <p:sp>
        <p:nvSpPr>
          <p:cNvPr id="40" name="Shape 38"/>
          <p:cNvSpPr/>
          <p:nvPr/>
        </p:nvSpPr>
        <p:spPr>
          <a:xfrm>
            <a:off x="4754880" y="3749040"/>
            <a:ext cx="548640" cy="548640"/>
          </a:xfrm>
          <a:prstGeom prst="ellipse">
            <a:avLst/>
          </a:prstGeom>
          <a:solidFill>
            <a:srgbClr val="CC9900"/>
          </a:solidFill>
          <a:ln w="25400">
            <a:solidFill>
              <a:srgbClr val="FFFFFF"/>
            </a:solidFill>
            <a:prstDash val="solid"/>
          </a:ln>
        </p:spPr>
      </p:sp>
      <p:sp>
        <p:nvSpPr>
          <p:cNvPr id="41" name="Text 39"/>
          <p:cNvSpPr/>
          <p:nvPr/>
        </p:nvSpPr>
        <p:spPr>
          <a:xfrm>
            <a:off x="4754880" y="3749040"/>
            <a:ext cx="54864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9</a:t>
            </a:r>
            <a:endParaRPr lang="en-US" sz="1100" dirty="0"/>
          </a:p>
        </p:txBody>
      </p:sp>
      <p:sp>
        <p:nvSpPr>
          <p:cNvPr id="42" name="Text 40"/>
          <p:cNvSpPr/>
          <p:nvPr/>
        </p:nvSpPr>
        <p:spPr>
          <a:xfrm>
            <a:off x="8595360" y="1691640"/>
            <a:ext cx="3108960" cy="320040"/>
          </a:xfrm>
          <a:prstGeom prst="rect">
            <a:avLst/>
          </a:prstGeom>
          <a:noFill/>
          <a:ln/>
        </p:spPr>
        <p:txBody>
          <a:bodyPr wrap="square" lIns="0" tIns="0" rIns="0" bIns="0" rtlCol="0" anchor="ctr"/>
          <a:lstStyle/>
          <a:p>
            <a:pPr marL="0" indent="0">
              <a:buNone/>
            </a:pPr>
            <a:r>
              <a:rPr lang="en-US" sz="1400" b="1" dirty="0">
                <a:solidFill>
                  <a:srgbClr val="006633"/>
                </a:solidFill>
                <a:latin typeface="Cambria" pitchFamily="34" charset="0"/>
                <a:ea typeface="Cambria" pitchFamily="34" charset="-122"/>
                <a:cs typeface="Cambria" pitchFamily="34" charset="-120"/>
              </a:rPr>
              <a:t>Definicion</a:t>
            </a:r>
            <a:endParaRPr lang="en-US" sz="1400" dirty="0"/>
          </a:p>
        </p:txBody>
      </p:sp>
      <p:sp>
        <p:nvSpPr>
          <p:cNvPr id="43" name="Text 41"/>
          <p:cNvSpPr/>
          <p:nvPr/>
        </p:nvSpPr>
        <p:spPr>
          <a:xfrm>
            <a:off x="8595360" y="2011680"/>
            <a:ext cx="3108960" cy="128016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Cada nodo es simultaneamente cliente y servidor: no hay servidor central; los peers negocian y comparten recursos entre si.</a:t>
            </a:r>
            <a:endParaRPr lang="en-US" sz="1200" dirty="0"/>
          </a:p>
        </p:txBody>
      </p:sp>
      <p:sp>
        <p:nvSpPr>
          <p:cNvPr id="44" name="Text 42"/>
          <p:cNvSpPr/>
          <p:nvPr/>
        </p:nvSpPr>
        <p:spPr>
          <a:xfrm>
            <a:off x="8595360" y="3246120"/>
            <a:ext cx="3108960" cy="320040"/>
          </a:xfrm>
          <a:prstGeom prst="rect">
            <a:avLst/>
          </a:prstGeom>
          <a:noFill/>
          <a:ln/>
        </p:spPr>
        <p:txBody>
          <a:bodyPr wrap="square" lIns="0" tIns="0" rIns="0" bIns="0" rtlCol="0" anchor="ctr"/>
          <a:lstStyle/>
          <a:p>
            <a:pPr marL="0" indent="0">
              <a:buNone/>
            </a:pPr>
            <a:r>
              <a:rPr lang="en-US" sz="1400" b="1" dirty="0">
                <a:solidFill>
                  <a:srgbClr val="CC9900"/>
                </a:solidFill>
                <a:latin typeface="Cambria" pitchFamily="34" charset="0"/>
                <a:ea typeface="Cambria" pitchFamily="34" charset="-122"/>
                <a:cs typeface="Cambria" pitchFamily="34" charset="-120"/>
              </a:rPr>
              <a:t>Aplicaciones vigentes (2026)</a:t>
            </a:r>
            <a:endParaRPr lang="en-US" sz="1400" dirty="0"/>
          </a:p>
        </p:txBody>
      </p:sp>
      <p:sp>
        <p:nvSpPr>
          <p:cNvPr id="45" name="Text 43"/>
          <p:cNvSpPr/>
          <p:nvPr/>
        </p:nvSpPr>
        <p:spPr>
          <a:xfrm>
            <a:off x="8595360" y="3566160"/>
            <a:ext cx="3108960" cy="237744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3F3F3F"/>
                </a:solidFill>
                <a:latin typeface="Calibri" pitchFamily="34" charset="0"/>
                <a:ea typeface="Calibri" pitchFamily="34" charset="-122"/>
                <a:cs typeface="Calibri" pitchFamily="34" charset="-120"/>
              </a:rPr>
              <a:t>Blockchain (Bitcoin, Ethereum).</a:t>
            </a:r>
            <a:endParaRPr lang="en-US" sz="1100" dirty="0"/>
          </a:p>
          <a:p>
            <a:pPr marL="342900" indent="-342900">
              <a:spcAft>
                <a:spcPts val="800"/>
              </a:spcAft>
              <a:buSzPct val="100000"/>
              <a:buChar char="■"/>
            </a:pPr>
            <a:r>
              <a:rPr lang="en-US" sz="1100" dirty="0">
                <a:solidFill>
                  <a:srgbClr val="3F3F3F"/>
                </a:solidFill>
                <a:latin typeface="Calibri" pitchFamily="34" charset="0"/>
                <a:ea typeface="Calibri" pitchFamily="34" charset="-122"/>
                <a:cs typeface="Calibri" pitchFamily="34" charset="-120"/>
              </a:rPr>
              <a:t>IPFS (sistema de archivos distribuido).</a:t>
            </a:r>
            <a:endParaRPr lang="en-US" sz="1100" dirty="0"/>
          </a:p>
          <a:p>
            <a:pPr marL="342900" indent="-342900">
              <a:spcAft>
                <a:spcPts val="800"/>
              </a:spcAft>
              <a:buSzPct val="100000"/>
              <a:buChar char="■"/>
            </a:pPr>
            <a:r>
              <a:rPr lang="en-US" sz="1100" dirty="0">
                <a:solidFill>
                  <a:srgbClr val="3F3F3F"/>
                </a:solidFill>
                <a:latin typeface="Calibri" pitchFamily="34" charset="0"/>
                <a:ea typeface="Calibri" pitchFamily="34" charset="-122"/>
                <a:cs typeface="Calibri" pitchFamily="34" charset="-120"/>
              </a:rPr>
              <a:t>BitTorrent (compartir archivos grandes).</a:t>
            </a:r>
            <a:endParaRPr lang="en-US" sz="1100" dirty="0"/>
          </a:p>
          <a:p>
            <a:pPr marL="342900" indent="-342900">
              <a:spcAft>
                <a:spcPts val="800"/>
              </a:spcAft>
              <a:buSzPct val="100000"/>
              <a:buChar char="■"/>
            </a:pPr>
            <a:r>
              <a:rPr lang="en-US" sz="1100" dirty="0">
                <a:solidFill>
                  <a:srgbClr val="3F3F3F"/>
                </a:solidFill>
                <a:latin typeface="Calibri" pitchFamily="34" charset="0"/>
                <a:ea typeface="Calibri" pitchFamily="34" charset="-122"/>
                <a:cs typeface="Calibri" pitchFamily="34" charset="-120"/>
              </a:rPr>
              <a:t>Mensajeria cifrada (Briar, Jami).</a:t>
            </a:r>
            <a:endParaRPr lang="en-US" sz="1100" dirty="0"/>
          </a:p>
        </p:txBody>
      </p:sp>
      <p:sp>
        <p:nvSpPr>
          <p:cNvPr id="46" name="Shape 44"/>
          <p:cNvSpPr/>
          <p:nvPr/>
        </p:nvSpPr>
        <p:spPr>
          <a:xfrm>
            <a:off x="457200" y="5760720"/>
            <a:ext cx="11247120" cy="594360"/>
          </a:xfrm>
          <a:prstGeom prst="roundRect">
            <a:avLst>
              <a:gd name="adj" fmla="val 9231"/>
            </a:avLst>
          </a:prstGeom>
          <a:solidFill>
            <a:srgbClr val="FFF3E0"/>
          </a:solidFill>
          <a:ln w="6350">
            <a:solidFill>
              <a:srgbClr val="CC9900"/>
            </a:solidFill>
            <a:prstDash val="solid"/>
          </a:ln>
        </p:spPr>
      </p:sp>
      <p:sp>
        <p:nvSpPr>
          <p:cNvPr id="47" name="Text 45"/>
          <p:cNvSpPr/>
          <p:nvPr/>
        </p:nvSpPr>
        <p:spPr>
          <a:xfrm>
            <a:off x="640080" y="5806440"/>
            <a:ext cx="10972800" cy="502920"/>
          </a:xfrm>
          <a:prstGeom prst="rect">
            <a:avLst/>
          </a:prstGeom>
          <a:noFill/>
          <a:ln/>
        </p:spPr>
        <p:txBody>
          <a:bodyPr wrap="square" lIns="0" tIns="0" rIns="0" bIns="0" rtlCol="0" anchor="ctr"/>
          <a:lstStyle/>
          <a:p>
            <a:pPr marL="0" indent="0">
              <a:buNone/>
            </a:pPr>
            <a:r>
              <a:rPr lang="en-US" sz="1200" b="1" dirty="0">
                <a:solidFill>
                  <a:srgbClr val="B22222"/>
                </a:solidFill>
                <a:latin typeface="Calibri" pitchFamily="34" charset="0"/>
                <a:ea typeface="Calibri" pitchFamily="34" charset="-122"/>
                <a:cs typeface="Calibri" pitchFamily="34" charset="-120"/>
              </a:rPr>
              <a:t>Aviso practico:  </a:t>
            </a:r>
            <a:r>
              <a:rPr lang="en-US" sz="1200" dirty="0">
                <a:solidFill>
                  <a:srgbClr val="3F3F3F"/>
                </a:solidFill>
                <a:latin typeface="Calibri" pitchFamily="34" charset="0"/>
                <a:ea typeface="Calibri" pitchFamily="34" charset="-122"/>
                <a:cs typeface="Calibri" pitchFamily="34" charset="-120"/>
              </a:rPr>
              <a:t>Para aplicaciones web empresariales tradicionales (como BiblioUTEQ), el modelo P2P rara vez es la respuesta. Se cubre porque el silabo lo incluye y por si el PFC tiene componentes descentralizados.</a:t>
            </a:r>
            <a:endParaRPr lang="en-US" sz="1200" dirty="0"/>
          </a:p>
        </p:txBody>
      </p:sp>
      <p:sp>
        <p:nvSpPr>
          <p:cNvPr id="48" name="Text 46"/>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49" name="Text 47"/>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-- 16 / 32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3 -- PIZARRA, EDA, P2P</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Comparativa: cuando usar cada patron</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4712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50292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Criterio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Pizarra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EDA (eventos)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P2P</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extLst>
                  <a:ext uri="{0D108BD9-81ED-4DB2-BD59-A6C34878D82A}">
                    <a16:rowId xmlns:a16="http://schemas.microsoft.com/office/drawing/2014/main" val="10000"/>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Elemento central</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Pizarra compartida + controlador.</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Event broker (Kafka, RabbitMQ).</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No hay: red de nodos iguales.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Comunicacion</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Lectura/escritura sobre memoria comun.</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Publicacion asincrona de eventos.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Negociacion punto a punto.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Problema tipico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Sin algoritmo directo; multiples heuristicas cooperan.</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Desacoplar servicios y escalar reacciones.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Compartir recursos sin autoridad central.</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Ejemplos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HEARSAY-II, agentes IA, motores de reglas.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Notificaciones, auditoria, analitica, saga.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Blockchain, IPFS, BitTorrent.</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Dolor tipico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Diseno del controlador y del vocabulario.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Consistencia eventual, ordering.</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Descubrimiento, NAT, byzantine.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100" b="1" dirty="0">
                          <a:solidFill>
                            <a:srgbClr val="CC9900"/>
                          </a:solidFill>
                          <a:latin typeface="Calibri" pitchFamily="34" charset="0"/>
                          <a:ea typeface="Calibri" pitchFamily="34" charset="-122"/>
                          <a:cs typeface="Calibri" pitchFamily="34" charset="-120"/>
                        </a:rPr>
                        <a:t>Uso en BiblioUTEQ</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Muy raro.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Alto potencial (notif., audit., email).</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Muy raro.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7" name="Text 4"/>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-- 17 / 32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4 -- SOA Y MICROSERVICIOS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Arquitectura Orientada a Servicios (SOA)</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Shape 3"/>
          <p:cNvSpPr/>
          <p:nvPr/>
        </p:nvSpPr>
        <p:spPr>
          <a:xfrm>
            <a:off x="1828800" y="3657600"/>
            <a:ext cx="8503920" cy="914400"/>
          </a:xfrm>
          <a:prstGeom prst="rect">
            <a:avLst/>
          </a:prstGeom>
          <a:solidFill>
            <a:srgbClr val="CC9900"/>
          </a:solidFill>
          <a:ln w="12700">
            <a:solidFill>
              <a:srgbClr val="CC9900"/>
            </a:solidFill>
            <a:prstDash val="solid"/>
          </a:ln>
        </p:spPr>
      </p:sp>
      <p:sp>
        <p:nvSpPr>
          <p:cNvPr id="6" name="Text 4"/>
          <p:cNvSpPr/>
          <p:nvPr/>
        </p:nvSpPr>
        <p:spPr>
          <a:xfrm>
            <a:off x="1828800" y="3657600"/>
            <a:ext cx="8503920" cy="9144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ENTERPRISE SERVICE BUS (ESB)  --  SOAP / WSDL / XML</a:t>
            </a:r>
            <a:endParaRPr lang="en-US" sz="1400" dirty="0"/>
          </a:p>
        </p:txBody>
      </p:sp>
      <p:sp>
        <p:nvSpPr>
          <p:cNvPr id="7" name="Shape 5"/>
          <p:cNvSpPr/>
          <p:nvPr/>
        </p:nvSpPr>
        <p:spPr>
          <a:xfrm>
            <a:off x="1828800" y="1965960"/>
            <a:ext cx="1463040" cy="1005840"/>
          </a:xfrm>
          <a:prstGeom prst="roundRect">
            <a:avLst>
              <a:gd name="adj" fmla="val 4545"/>
            </a:avLst>
          </a:prstGeom>
          <a:solidFill>
            <a:srgbClr val="E6F0EA"/>
          </a:solidFill>
          <a:ln w="12700">
            <a:solidFill>
              <a:srgbClr val="006633"/>
            </a:solidFill>
            <a:prstDash val="solid"/>
          </a:ln>
        </p:spPr>
      </p:sp>
      <p:sp>
        <p:nvSpPr>
          <p:cNvPr id="8" name="Text 6"/>
          <p:cNvSpPr/>
          <p:nvPr/>
        </p:nvSpPr>
        <p:spPr>
          <a:xfrm>
            <a:off x="1828800" y="1965960"/>
            <a:ext cx="1463040" cy="1005840"/>
          </a:xfrm>
          <a:prstGeom prst="rect">
            <a:avLst/>
          </a:prstGeom>
          <a:noFill/>
          <a:ln/>
        </p:spPr>
        <p:txBody>
          <a:bodyPr wrap="square" lIns="0" tIns="0" rIns="0" bIns="0" rtlCol="0" anchor="ctr"/>
          <a:lstStyle/>
          <a:p>
            <a:pPr marL="0" indent="0" algn="ctr">
              <a:buNone/>
            </a:pPr>
            <a:r>
              <a:rPr lang="en-US" sz="1100" b="1" dirty="0">
                <a:solidFill>
                  <a:srgbClr val="006633"/>
                </a:solidFill>
                <a:latin typeface="Calibri" pitchFamily="34" charset="0"/>
                <a:ea typeface="Calibri" pitchFamily="34" charset="-122"/>
                <a:cs typeface="Calibri" pitchFamily="34" charset="-120"/>
              </a:rPr>
              <a:t>Servicio</a:t>
            </a:r>
            <a:endParaRPr lang="en-US" sz="1100" dirty="0"/>
          </a:p>
          <a:p>
            <a:pPr marL="0" indent="0" algn="ctr">
              <a:buNone/>
            </a:pPr>
            <a:r>
              <a:rPr lang="en-US" sz="1100" b="1" dirty="0">
                <a:solidFill>
                  <a:srgbClr val="006633"/>
                </a:solidFill>
                <a:latin typeface="Calibri" pitchFamily="34" charset="0"/>
                <a:ea typeface="Calibri" pitchFamily="34" charset="-122"/>
                <a:cs typeface="Calibri" pitchFamily="34" charset="-120"/>
              </a:rPr>
              <a:t>Banca</a:t>
            </a:r>
            <a:endParaRPr lang="en-US" sz="1100" dirty="0"/>
          </a:p>
        </p:txBody>
      </p:sp>
      <p:sp>
        <p:nvSpPr>
          <p:cNvPr id="9" name="Shape 7"/>
          <p:cNvSpPr/>
          <p:nvPr/>
        </p:nvSpPr>
        <p:spPr>
          <a:xfrm>
            <a:off x="2560320" y="2971800"/>
            <a:ext cx="0" cy="685800"/>
          </a:xfrm>
          <a:prstGeom prst="line">
            <a:avLst/>
          </a:prstGeom>
          <a:noFill/>
          <a:ln w="15240">
            <a:solidFill>
              <a:srgbClr val="006633"/>
            </a:solidFill>
            <a:prstDash val="solid"/>
          </a:ln>
        </p:spPr>
      </p:sp>
      <p:sp>
        <p:nvSpPr>
          <p:cNvPr id="10" name="Shape 8"/>
          <p:cNvSpPr/>
          <p:nvPr/>
        </p:nvSpPr>
        <p:spPr>
          <a:xfrm>
            <a:off x="3529584" y="1965960"/>
            <a:ext cx="1463040" cy="1005840"/>
          </a:xfrm>
          <a:prstGeom prst="roundRect">
            <a:avLst>
              <a:gd name="adj" fmla="val 4545"/>
            </a:avLst>
          </a:prstGeom>
          <a:solidFill>
            <a:srgbClr val="E6F0EA"/>
          </a:solidFill>
          <a:ln w="12700">
            <a:solidFill>
              <a:srgbClr val="006633"/>
            </a:solidFill>
            <a:prstDash val="solid"/>
          </a:ln>
        </p:spPr>
      </p:sp>
      <p:sp>
        <p:nvSpPr>
          <p:cNvPr id="11" name="Text 9"/>
          <p:cNvSpPr/>
          <p:nvPr/>
        </p:nvSpPr>
        <p:spPr>
          <a:xfrm>
            <a:off x="3529584" y="1965960"/>
            <a:ext cx="1463040" cy="1005840"/>
          </a:xfrm>
          <a:prstGeom prst="rect">
            <a:avLst/>
          </a:prstGeom>
          <a:noFill/>
          <a:ln/>
        </p:spPr>
        <p:txBody>
          <a:bodyPr wrap="square" lIns="0" tIns="0" rIns="0" bIns="0" rtlCol="0" anchor="ctr"/>
          <a:lstStyle/>
          <a:p>
            <a:pPr marL="0" indent="0" algn="ctr">
              <a:buNone/>
            </a:pPr>
            <a:r>
              <a:rPr lang="en-US" sz="1100" b="1" dirty="0">
                <a:solidFill>
                  <a:srgbClr val="006633"/>
                </a:solidFill>
                <a:latin typeface="Calibri" pitchFamily="34" charset="0"/>
                <a:ea typeface="Calibri" pitchFamily="34" charset="-122"/>
                <a:cs typeface="Calibri" pitchFamily="34" charset="-120"/>
              </a:rPr>
              <a:t>Servicio</a:t>
            </a:r>
            <a:endParaRPr lang="en-US" sz="1100" dirty="0"/>
          </a:p>
          <a:p>
            <a:pPr marL="0" indent="0" algn="ctr">
              <a:buNone/>
            </a:pPr>
            <a:r>
              <a:rPr lang="en-US" sz="1100" b="1" dirty="0">
                <a:solidFill>
                  <a:srgbClr val="006633"/>
                </a:solidFill>
                <a:latin typeface="Calibri" pitchFamily="34" charset="0"/>
                <a:ea typeface="Calibri" pitchFamily="34" charset="-122"/>
                <a:cs typeface="Calibri" pitchFamily="34" charset="-120"/>
              </a:rPr>
              <a:t>Cliente</a:t>
            </a:r>
            <a:endParaRPr lang="en-US" sz="1100" dirty="0"/>
          </a:p>
        </p:txBody>
      </p:sp>
      <p:sp>
        <p:nvSpPr>
          <p:cNvPr id="12" name="Shape 10"/>
          <p:cNvSpPr/>
          <p:nvPr/>
        </p:nvSpPr>
        <p:spPr>
          <a:xfrm>
            <a:off x="4261104" y="2971800"/>
            <a:ext cx="0" cy="685800"/>
          </a:xfrm>
          <a:prstGeom prst="line">
            <a:avLst/>
          </a:prstGeom>
          <a:noFill/>
          <a:ln w="15240">
            <a:solidFill>
              <a:srgbClr val="006633"/>
            </a:solidFill>
            <a:prstDash val="solid"/>
          </a:ln>
        </p:spPr>
      </p:sp>
      <p:sp>
        <p:nvSpPr>
          <p:cNvPr id="13" name="Shape 11"/>
          <p:cNvSpPr/>
          <p:nvPr/>
        </p:nvSpPr>
        <p:spPr>
          <a:xfrm>
            <a:off x="5230368" y="1965960"/>
            <a:ext cx="1463040" cy="1005840"/>
          </a:xfrm>
          <a:prstGeom prst="roundRect">
            <a:avLst>
              <a:gd name="adj" fmla="val 4545"/>
            </a:avLst>
          </a:prstGeom>
          <a:solidFill>
            <a:srgbClr val="E6F0EA"/>
          </a:solidFill>
          <a:ln w="12700">
            <a:solidFill>
              <a:srgbClr val="006633"/>
            </a:solidFill>
            <a:prstDash val="solid"/>
          </a:ln>
        </p:spPr>
      </p:sp>
      <p:sp>
        <p:nvSpPr>
          <p:cNvPr id="14" name="Text 12"/>
          <p:cNvSpPr/>
          <p:nvPr/>
        </p:nvSpPr>
        <p:spPr>
          <a:xfrm>
            <a:off x="5230368" y="1965960"/>
            <a:ext cx="1463040" cy="1005840"/>
          </a:xfrm>
          <a:prstGeom prst="rect">
            <a:avLst/>
          </a:prstGeom>
          <a:noFill/>
          <a:ln/>
        </p:spPr>
        <p:txBody>
          <a:bodyPr wrap="square" lIns="0" tIns="0" rIns="0" bIns="0" rtlCol="0" anchor="ctr"/>
          <a:lstStyle/>
          <a:p>
            <a:pPr marL="0" indent="0" algn="ctr">
              <a:buNone/>
            </a:pPr>
            <a:r>
              <a:rPr lang="en-US" sz="1100" b="1" dirty="0">
                <a:solidFill>
                  <a:srgbClr val="006633"/>
                </a:solidFill>
                <a:latin typeface="Calibri" pitchFamily="34" charset="0"/>
                <a:ea typeface="Calibri" pitchFamily="34" charset="-122"/>
                <a:cs typeface="Calibri" pitchFamily="34" charset="-120"/>
              </a:rPr>
              <a:t>Servicio</a:t>
            </a:r>
            <a:endParaRPr lang="en-US" sz="1100" dirty="0"/>
          </a:p>
          <a:p>
            <a:pPr marL="0" indent="0" algn="ctr">
              <a:buNone/>
            </a:pPr>
            <a:r>
              <a:rPr lang="en-US" sz="1100" b="1" dirty="0">
                <a:solidFill>
                  <a:srgbClr val="006633"/>
                </a:solidFill>
                <a:latin typeface="Calibri" pitchFamily="34" charset="0"/>
                <a:ea typeface="Calibri" pitchFamily="34" charset="-122"/>
                <a:cs typeface="Calibri" pitchFamily="34" charset="-120"/>
              </a:rPr>
              <a:t>Cobranza</a:t>
            </a:r>
            <a:endParaRPr lang="en-US" sz="1100" dirty="0"/>
          </a:p>
        </p:txBody>
      </p:sp>
      <p:sp>
        <p:nvSpPr>
          <p:cNvPr id="15" name="Shape 13"/>
          <p:cNvSpPr/>
          <p:nvPr/>
        </p:nvSpPr>
        <p:spPr>
          <a:xfrm>
            <a:off x="5961888" y="2971800"/>
            <a:ext cx="0" cy="685800"/>
          </a:xfrm>
          <a:prstGeom prst="line">
            <a:avLst/>
          </a:prstGeom>
          <a:noFill/>
          <a:ln w="15240">
            <a:solidFill>
              <a:srgbClr val="006633"/>
            </a:solidFill>
            <a:prstDash val="solid"/>
          </a:ln>
        </p:spPr>
      </p:sp>
      <p:sp>
        <p:nvSpPr>
          <p:cNvPr id="16" name="Shape 14"/>
          <p:cNvSpPr/>
          <p:nvPr/>
        </p:nvSpPr>
        <p:spPr>
          <a:xfrm>
            <a:off x="6931152" y="1965960"/>
            <a:ext cx="1463040" cy="1005840"/>
          </a:xfrm>
          <a:prstGeom prst="roundRect">
            <a:avLst>
              <a:gd name="adj" fmla="val 4545"/>
            </a:avLst>
          </a:prstGeom>
          <a:solidFill>
            <a:srgbClr val="E6F0EA"/>
          </a:solidFill>
          <a:ln w="12700">
            <a:solidFill>
              <a:srgbClr val="006633"/>
            </a:solidFill>
            <a:prstDash val="solid"/>
          </a:ln>
        </p:spPr>
      </p:sp>
      <p:sp>
        <p:nvSpPr>
          <p:cNvPr id="17" name="Text 15"/>
          <p:cNvSpPr/>
          <p:nvPr/>
        </p:nvSpPr>
        <p:spPr>
          <a:xfrm>
            <a:off x="6931152" y="1965960"/>
            <a:ext cx="1463040" cy="1005840"/>
          </a:xfrm>
          <a:prstGeom prst="rect">
            <a:avLst/>
          </a:prstGeom>
          <a:noFill/>
          <a:ln/>
        </p:spPr>
        <p:txBody>
          <a:bodyPr wrap="square" lIns="0" tIns="0" rIns="0" bIns="0" rtlCol="0" anchor="ctr"/>
          <a:lstStyle/>
          <a:p>
            <a:pPr marL="0" indent="0" algn="ctr">
              <a:buNone/>
            </a:pPr>
            <a:r>
              <a:rPr lang="en-US" sz="1100" b="1" dirty="0">
                <a:solidFill>
                  <a:srgbClr val="006633"/>
                </a:solidFill>
                <a:latin typeface="Calibri" pitchFamily="34" charset="0"/>
                <a:ea typeface="Calibri" pitchFamily="34" charset="-122"/>
                <a:cs typeface="Calibri" pitchFamily="34" charset="-120"/>
              </a:rPr>
              <a:t>Servicio</a:t>
            </a:r>
            <a:endParaRPr lang="en-US" sz="1100" dirty="0"/>
          </a:p>
          <a:p>
            <a:pPr marL="0" indent="0" algn="ctr">
              <a:buNone/>
            </a:pPr>
            <a:r>
              <a:rPr lang="en-US" sz="1100" b="1" dirty="0">
                <a:solidFill>
                  <a:srgbClr val="006633"/>
                </a:solidFill>
                <a:latin typeface="Calibri" pitchFamily="34" charset="0"/>
                <a:ea typeface="Calibri" pitchFamily="34" charset="-122"/>
                <a:cs typeface="Calibri" pitchFamily="34" charset="-120"/>
              </a:rPr>
              <a:t>Contable</a:t>
            </a:r>
            <a:endParaRPr lang="en-US" sz="1100" dirty="0"/>
          </a:p>
        </p:txBody>
      </p:sp>
      <p:sp>
        <p:nvSpPr>
          <p:cNvPr id="18" name="Shape 16"/>
          <p:cNvSpPr/>
          <p:nvPr/>
        </p:nvSpPr>
        <p:spPr>
          <a:xfrm>
            <a:off x="7662672" y="2971800"/>
            <a:ext cx="0" cy="685800"/>
          </a:xfrm>
          <a:prstGeom prst="line">
            <a:avLst/>
          </a:prstGeom>
          <a:noFill/>
          <a:ln w="15240">
            <a:solidFill>
              <a:srgbClr val="006633"/>
            </a:solidFill>
            <a:prstDash val="solid"/>
          </a:ln>
        </p:spPr>
      </p:sp>
      <p:sp>
        <p:nvSpPr>
          <p:cNvPr id="19" name="Shape 17"/>
          <p:cNvSpPr/>
          <p:nvPr/>
        </p:nvSpPr>
        <p:spPr>
          <a:xfrm>
            <a:off x="8631936" y="1965960"/>
            <a:ext cx="1463040" cy="1005840"/>
          </a:xfrm>
          <a:prstGeom prst="roundRect">
            <a:avLst>
              <a:gd name="adj" fmla="val 4545"/>
            </a:avLst>
          </a:prstGeom>
          <a:solidFill>
            <a:srgbClr val="E6F0EA"/>
          </a:solidFill>
          <a:ln w="12700">
            <a:solidFill>
              <a:srgbClr val="006633"/>
            </a:solidFill>
            <a:prstDash val="solid"/>
          </a:ln>
        </p:spPr>
      </p:sp>
      <p:sp>
        <p:nvSpPr>
          <p:cNvPr id="20" name="Text 18"/>
          <p:cNvSpPr/>
          <p:nvPr/>
        </p:nvSpPr>
        <p:spPr>
          <a:xfrm>
            <a:off x="8631936" y="1965960"/>
            <a:ext cx="1463040" cy="1005840"/>
          </a:xfrm>
          <a:prstGeom prst="rect">
            <a:avLst/>
          </a:prstGeom>
          <a:noFill/>
          <a:ln/>
        </p:spPr>
        <p:txBody>
          <a:bodyPr wrap="square" lIns="0" tIns="0" rIns="0" bIns="0" rtlCol="0" anchor="ctr"/>
          <a:lstStyle/>
          <a:p>
            <a:pPr marL="0" indent="0" algn="ctr">
              <a:buNone/>
            </a:pPr>
            <a:r>
              <a:rPr lang="en-US" sz="1100" b="1" dirty="0">
                <a:solidFill>
                  <a:srgbClr val="006633"/>
                </a:solidFill>
                <a:latin typeface="Calibri" pitchFamily="34" charset="0"/>
                <a:ea typeface="Calibri" pitchFamily="34" charset="-122"/>
                <a:cs typeface="Calibri" pitchFamily="34" charset="-120"/>
              </a:rPr>
              <a:t>Servicio</a:t>
            </a:r>
            <a:endParaRPr lang="en-US" sz="1100" dirty="0"/>
          </a:p>
          <a:p>
            <a:pPr marL="0" indent="0" algn="ctr">
              <a:buNone/>
            </a:pPr>
            <a:r>
              <a:rPr lang="en-US" sz="1100" b="1" dirty="0">
                <a:solidFill>
                  <a:srgbClr val="006633"/>
                </a:solidFill>
                <a:latin typeface="Calibri" pitchFamily="34" charset="0"/>
                <a:ea typeface="Calibri" pitchFamily="34" charset="-122"/>
                <a:cs typeface="Calibri" pitchFamily="34" charset="-120"/>
              </a:rPr>
              <a:t>Legado (COBOL)</a:t>
            </a:r>
            <a:endParaRPr lang="en-US" sz="1100" dirty="0"/>
          </a:p>
        </p:txBody>
      </p:sp>
      <p:sp>
        <p:nvSpPr>
          <p:cNvPr id="21" name="Shape 19"/>
          <p:cNvSpPr/>
          <p:nvPr/>
        </p:nvSpPr>
        <p:spPr>
          <a:xfrm>
            <a:off x="9363456" y="2971800"/>
            <a:ext cx="0" cy="685800"/>
          </a:xfrm>
          <a:prstGeom prst="line">
            <a:avLst/>
          </a:prstGeom>
          <a:noFill/>
          <a:ln w="15240">
            <a:solidFill>
              <a:srgbClr val="006633"/>
            </a:solidFill>
            <a:prstDash val="solid"/>
          </a:ln>
        </p:spPr>
      </p:sp>
      <p:sp>
        <p:nvSpPr>
          <p:cNvPr id="22" name="Text 20"/>
          <p:cNvSpPr/>
          <p:nvPr/>
        </p:nvSpPr>
        <p:spPr>
          <a:xfrm>
            <a:off x="457200" y="4937760"/>
            <a:ext cx="11247120" cy="320040"/>
          </a:xfrm>
          <a:prstGeom prst="rect">
            <a:avLst/>
          </a:prstGeom>
          <a:noFill/>
          <a:ln/>
        </p:spPr>
        <p:txBody>
          <a:bodyPr wrap="square" lIns="0" tIns="0" rIns="0" bIns="0" rtlCol="0" anchor="ctr"/>
          <a:lstStyle/>
          <a:p>
            <a:pPr marL="0" indent="0">
              <a:buNone/>
            </a:pPr>
            <a:r>
              <a:rPr lang="en-US" sz="1500" b="1" dirty="0">
                <a:solidFill>
                  <a:srgbClr val="006633"/>
                </a:solidFill>
                <a:latin typeface="Cambria" pitchFamily="34" charset="0"/>
                <a:ea typeface="Cambria" pitchFamily="34" charset="-122"/>
                <a:cs typeface="Cambria" pitchFamily="34" charset="-120"/>
              </a:rPr>
              <a:t>Idea</a:t>
            </a:r>
            <a:endParaRPr lang="en-US" sz="1500" dirty="0"/>
          </a:p>
        </p:txBody>
      </p:sp>
      <p:sp>
        <p:nvSpPr>
          <p:cNvPr id="23" name="Text 21"/>
          <p:cNvSpPr/>
          <p:nvPr/>
        </p:nvSpPr>
        <p:spPr>
          <a:xfrm>
            <a:off x="457200" y="5257800"/>
            <a:ext cx="11247120" cy="1005840"/>
          </a:xfrm>
          <a:prstGeom prst="rect">
            <a:avLst/>
          </a:prstGeom>
          <a:noFill/>
          <a:ln/>
        </p:spPr>
        <p:txBody>
          <a:bodyPr wrap="square" lIns="0" tIns="0" rIns="0" bIns="0" rtlCol="0" anchor="t"/>
          <a:lstStyle/>
          <a:p>
            <a:pPr marL="0" indent="0">
              <a:buNone/>
            </a:pPr>
            <a:r>
              <a:rPr lang="en-US" sz="1300" dirty="0">
                <a:solidFill>
                  <a:srgbClr val="3F3F3F"/>
                </a:solidFill>
                <a:latin typeface="Calibri" pitchFamily="34" charset="0"/>
                <a:ea typeface="Calibri" pitchFamily="34" charset="-122"/>
                <a:cs typeface="Calibri" pitchFamily="34" charset="-120"/>
              </a:rPr>
              <a:t>Integrar sistemas heterogeneos mediante servicios autonomos que se comunican por SOAP/XML sobre un Enterprise Service Bus (ESB). Gobierno centralizado, contratos formales (WSDL), y datos frecuentemente compartidos.</a:t>
            </a:r>
            <a:endParaRPr lang="en-US" sz="1300" dirty="0"/>
          </a:p>
        </p:txBody>
      </p:sp>
      <p:sp>
        <p:nvSpPr>
          <p:cNvPr id="24" name="Text 22"/>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25" name="Text 23"/>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-- 18 / 32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4 -- SOA Y MICROSERVICIOS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SOA: caracteristicas clave y cuando sigue siendo relevante</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Text 3"/>
          <p:cNvSpPr/>
          <p:nvPr/>
        </p:nvSpPr>
        <p:spPr>
          <a:xfrm>
            <a:off x="457200" y="1691640"/>
            <a:ext cx="5486400" cy="320040"/>
          </a:xfrm>
          <a:prstGeom prst="rect">
            <a:avLst/>
          </a:prstGeom>
          <a:noFill/>
          <a:ln/>
        </p:spPr>
        <p:txBody>
          <a:bodyPr wrap="square" lIns="0" tIns="0" rIns="0" bIns="0" rtlCol="0" anchor="ctr"/>
          <a:lstStyle/>
          <a:p>
            <a:pPr marL="0" indent="0">
              <a:buNone/>
            </a:pPr>
            <a:r>
              <a:rPr lang="en-US" sz="1600" b="1" dirty="0">
                <a:solidFill>
                  <a:srgbClr val="006633"/>
                </a:solidFill>
                <a:latin typeface="Cambria" pitchFamily="34" charset="0"/>
                <a:ea typeface="Cambria" pitchFamily="34" charset="-122"/>
                <a:cs typeface="Cambria" pitchFamily="34" charset="-120"/>
              </a:rPr>
              <a:t>Caracteristicas</a:t>
            </a:r>
            <a:endParaRPr lang="en-US" sz="1600" dirty="0"/>
          </a:p>
        </p:txBody>
      </p:sp>
      <p:sp>
        <p:nvSpPr>
          <p:cNvPr id="6" name="Text 4"/>
          <p:cNvSpPr/>
          <p:nvPr/>
        </p:nvSpPr>
        <p:spPr>
          <a:xfrm>
            <a:off x="457200" y="2057400"/>
            <a:ext cx="5577840" cy="4206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F3F3F"/>
                </a:solidFill>
                <a:latin typeface="Calibri" pitchFamily="34" charset="0"/>
                <a:ea typeface="Calibri" pitchFamily="34" charset="-122"/>
                <a:cs typeface="Calibri" pitchFamily="34" charset="-120"/>
              </a:rPr>
              <a:t>Servicios reutilizables expuestos con contratos formales (WSDL).</a:t>
            </a:r>
            <a:endParaRPr lang="en-US" sz="1300" dirty="0"/>
          </a:p>
          <a:p>
            <a:pPr marL="342900" indent="-342900">
              <a:spcAft>
                <a:spcPts val="800"/>
              </a:spcAft>
              <a:buSzPct val="100000"/>
              <a:buChar char="■"/>
            </a:pPr>
            <a:r>
              <a:rPr lang="en-US" sz="1300" dirty="0">
                <a:solidFill>
                  <a:srgbClr val="3F3F3F"/>
                </a:solidFill>
                <a:latin typeface="Calibri" pitchFamily="34" charset="0"/>
                <a:ea typeface="Calibri" pitchFamily="34" charset="-122"/>
                <a:cs typeface="Calibri" pitchFamily="34" charset="-120"/>
              </a:rPr>
              <a:t>Comunicacion generalmente sincrona vla SOAP sobre HTTP.</a:t>
            </a:r>
            <a:endParaRPr lang="en-US" sz="1300" dirty="0"/>
          </a:p>
          <a:p>
            <a:pPr marL="342900" indent="-342900">
              <a:spcAft>
                <a:spcPts val="800"/>
              </a:spcAft>
              <a:buSzPct val="100000"/>
              <a:buChar char="■"/>
            </a:pPr>
            <a:r>
              <a:rPr lang="en-US" sz="1300" dirty="0">
                <a:solidFill>
                  <a:srgbClr val="3F3F3F"/>
                </a:solidFill>
                <a:latin typeface="Calibri" pitchFamily="34" charset="0"/>
                <a:ea typeface="Calibri" pitchFamily="34" charset="-122"/>
                <a:cs typeface="Calibri" pitchFamily="34" charset="-120"/>
              </a:rPr>
              <a:t>ESB centralizado orquesta, transforma y ruta mensajes.</a:t>
            </a:r>
            <a:endParaRPr lang="en-US" sz="1300" dirty="0"/>
          </a:p>
          <a:p>
            <a:pPr marL="342900" indent="-342900">
              <a:spcAft>
                <a:spcPts val="800"/>
              </a:spcAft>
              <a:buSzPct val="100000"/>
              <a:buChar char="■"/>
            </a:pPr>
            <a:r>
              <a:rPr lang="en-US" sz="1300" dirty="0">
                <a:solidFill>
                  <a:srgbClr val="3F3F3F"/>
                </a:solidFill>
                <a:latin typeface="Calibri" pitchFamily="34" charset="0"/>
                <a:ea typeface="Calibri" pitchFamily="34" charset="-122"/>
                <a:cs typeface="Calibri" pitchFamily="34" charset="-120"/>
              </a:rPr>
              <a:t>Gobernanza centralizada: registro de servicios, politicas unificadas.</a:t>
            </a:r>
            <a:endParaRPr lang="en-US" sz="1300" dirty="0"/>
          </a:p>
          <a:p>
            <a:pPr marL="342900" indent="-342900">
              <a:spcAft>
                <a:spcPts val="800"/>
              </a:spcAft>
              <a:buSzPct val="100000"/>
              <a:buChar char="■"/>
            </a:pPr>
            <a:r>
              <a:rPr lang="en-US" sz="1300" dirty="0">
                <a:solidFill>
                  <a:srgbClr val="3F3F3F"/>
                </a:solidFill>
                <a:latin typeface="Calibri" pitchFamily="34" charset="0"/>
                <a:ea typeface="Calibri" pitchFamily="34" charset="-122"/>
                <a:cs typeface="Calibri" pitchFamily="34" charset="-120"/>
              </a:rPr>
              <a:t>Datos frecuentemente compartidos entre servicios.</a:t>
            </a:r>
            <a:endParaRPr lang="en-US" sz="1300" dirty="0"/>
          </a:p>
          <a:p>
            <a:pPr marL="342900" indent="-342900">
              <a:spcAft>
                <a:spcPts val="800"/>
              </a:spcAft>
              <a:buSzPct val="100000"/>
              <a:buChar char="■"/>
            </a:pPr>
            <a:r>
              <a:rPr lang="en-US" sz="1300" dirty="0">
                <a:solidFill>
                  <a:srgbClr val="3F3F3F"/>
                </a:solidFill>
                <a:latin typeface="Calibri" pitchFamily="34" charset="0"/>
                <a:ea typeface="Calibri" pitchFamily="34" charset="-122"/>
                <a:cs typeface="Calibri" pitchFamily="34" charset="-120"/>
              </a:rPr>
              <a:t>Enfocado en interoperabilidad heterogenea.</a:t>
            </a:r>
            <a:endParaRPr lang="en-US" sz="1300" dirty="0"/>
          </a:p>
        </p:txBody>
      </p:sp>
      <p:sp>
        <p:nvSpPr>
          <p:cNvPr id="7" name="Shape 5"/>
          <p:cNvSpPr/>
          <p:nvPr/>
        </p:nvSpPr>
        <p:spPr>
          <a:xfrm>
            <a:off x="6309360" y="1691640"/>
            <a:ext cx="5486400" cy="4572000"/>
          </a:xfrm>
          <a:prstGeom prst="roundRect">
            <a:avLst>
              <a:gd name="adj" fmla="val 1600"/>
            </a:avLst>
          </a:prstGeom>
          <a:solidFill>
            <a:srgbClr val="E6F0EA"/>
          </a:solidFill>
          <a:ln w="12700">
            <a:solidFill>
              <a:srgbClr val="006633"/>
            </a:solidFill>
            <a:prstDash val="solid"/>
          </a:ln>
        </p:spPr>
      </p:sp>
      <p:sp>
        <p:nvSpPr>
          <p:cNvPr id="8" name="Text 6"/>
          <p:cNvSpPr/>
          <p:nvPr/>
        </p:nvSpPr>
        <p:spPr>
          <a:xfrm>
            <a:off x="6492240" y="1783080"/>
            <a:ext cx="5212080" cy="365760"/>
          </a:xfrm>
          <a:prstGeom prst="rect">
            <a:avLst/>
          </a:prstGeom>
          <a:noFill/>
          <a:ln/>
        </p:spPr>
        <p:txBody>
          <a:bodyPr wrap="square" lIns="0" tIns="0" rIns="0" bIns="0" rtlCol="0" anchor="ctr"/>
          <a:lstStyle/>
          <a:p>
            <a:pPr marL="0" indent="0">
              <a:buNone/>
            </a:pPr>
            <a:r>
              <a:rPr lang="en-US" sz="1500" b="1" dirty="0">
                <a:solidFill>
                  <a:srgbClr val="006633"/>
                </a:solidFill>
                <a:latin typeface="Cambria" pitchFamily="34" charset="0"/>
                <a:ea typeface="Cambria" pitchFamily="34" charset="-122"/>
                <a:cs typeface="Cambria" pitchFamily="34" charset="-120"/>
              </a:rPr>
              <a:t>Cuando SOA sigue siendo relevante</a:t>
            </a:r>
            <a:endParaRPr lang="en-US" sz="1500" dirty="0"/>
          </a:p>
        </p:txBody>
      </p:sp>
      <p:sp>
        <p:nvSpPr>
          <p:cNvPr id="9" name="Text 7"/>
          <p:cNvSpPr/>
          <p:nvPr/>
        </p:nvSpPr>
        <p:spPr>
          <a:xfrm>
            <a:off x="6492240" y="2194560"/>
            <a:ext cx="5212080" cy="39776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Integraciones con sistemas heredados (banca, seguros, gobierno).</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Entornos donde el contrato WSDL es contractualmente exigido.</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Escenarios B2B con altos requisitos de interoperabilidad.</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Organizaciones con inversion previa en ESB y gobernanza.</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Sistemas donde el orden de mensajes y las transacciones distribuidas se orquestan por ESB.</a:t>
            </a:r>
            <a:endParaRPr lang="en-US" sz="1200" dirty="0"/>
          </a:p>
        </p:txBody>
      </p:sp>
      <p:sp>
        <p:nvSpPr>
          <p:cNvPr id="10" name="Text 8"/>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11" name="Text 9"/>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-- 19 / 32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4 -- SOA Y MICROSERVICIOS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Microservicios: la definicion de Sam Newman</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Shape 3"/>
          <p:cNvSpPr/>
          <p:nvPr/>
        </p:nvSpPr>
        <p:spPr>
          <a:xfrm>
            <a:off x="457200" y="1691640"/>
            <a:ext cx="11247120" cy="1508760"/>
          </a:xfrm>
          <a:prstGeom prst="roundRect">
            <a:avLst>
              <a:gd name="adj" fmla="val 6061"/>
            </a:avLst>
          </a:prstGeom>
          <a:solidFill>
            <a:srgbClr val="006633"/>
          </a:solidFill>
          <a:ln w="12700">
            <a:solidFill>
              <a:srgbClr val="006633"/>
            </a:solidFill>
            <a:prstDash val="solid"/>
          </a:ln>
        </p:spPr>
      </p:sp>
      <p:sp>
        <p:nvSpPr>
          <p:cNvPr id="6" name="Text 4"/>
          <p:cNvSpPr/>
          <p:nvPr/>
        </p:nvSpPr>
        <p:spPr>
          <a:xfrm>
            <a:off x="822960" y="1783080"/>
            <a:ext cx="10515600" cy="914400"/>
          </a:xfrm>
          <a:prstGeom prst="rect">
            <a:avLst/>
          </a:prstGeom>
          <a:noFill/>
          <a:ln/>
        </p:spPr>
        <p:txBody>
          <a:bodyPr wrap="square" lIns="0" tIns="0" rIns="0" bIns="0" rtlCol="0" anchor="ctr"/>
          <a:lstStyle/>
          <a:p>
            <a:pPr marL="0" indent="0" algn="ctr">
              <a:buNone/>
            </a:pPr>
            <a:r>
              <a:rPr lang="en-US" sz="2200" b="1" i="1" dirty="0">
                <a:solidFill>
                  <a:srgbClr val="FFFFFF"/>
                </a:solidFill>
                <a:latin typeface="Cambria" pitchFamily="34" charset="0"/>
                <a:ea typeface="Cambria" pitchFamily="34" charset="-122"/>
                <a:cs typeface="Cambria" pitchFamily="34" charset="-120"/>
              </a:rPr>
              <a:t>«Pequenos servicios autonomos que trabajan juntos, modelados alrededor de un dominio de negocio.»</a:t>
            </a:r>
            <a:endParaRPr lang="en-US" sz="2200" dirty="0"/>
          </a:p>
        </p:txBody>
      </p:sp>
      <p:sp>
        <p:nvSpPr>
          <p:cNvPr id="7" name="Text 5"/>
          <p:cNvSpPr/>
          <p:nvPr/>
        </p:nvSpPr>
        <p:spPr>
          <a:xfrm>
            <a:off x="822960" y="2788920"/>
            <a:ext cx="10515600" cy="320040"/>
          </a:xfrm>
          <a:prstGeom prst="rect">
            <a:avLst/>
          </a:prstGeom>
          <a:noFill/>
          <a:ln/>
        </p:spPr>
        <p:txBody>
          <a:bodyPr wrap="square" lIns="0" tIns="0" rIns="0" bIns="0" rtlCol="0" anchor="ctr"/>
          <a:lstStyle/>
          <a:p>
            <a:pPr marL="0" indent="0" algn="ctr">
              <a:buNone/>
            </a:pPr>
            <a:r>
              <a:rPr lang="en-US" sz="1200" i="1" dirty="0">
                <a:solidFill>
                  <a:srgbClr val="E6B833"/>
                </a:solidFill>
                <a:latin typeface="Calibri" pitchFamily="34" charset="0"/>
                <a:ea typeface="Calibri" pitchFamily="34" charset="-122"/>
                <a:cs typeface="Calibri" pitchFamily="34" charset="-120"/>
              </a:rPr>
              <a:t>Sam Newman (2021), Building Microservices, 2nd ed., O'Reilly.</a:t>
            </a:r>
            <a:endParaRPr lang="en-US" sz="1200" dirty="0"/>
          </a:p>
        </p:txBody>
      </p:sp>
      <p:sp>
        <p:nvSpPr>
          <p:cNvPr id="8" name="Shape 6"/>
          <p:cNvSpPr/>
          <p:nvPr/>
        </p:nvSpPr>
        <p:spPr>
          <a:xfrm>
            <a:off x="457200" y="3520440"/>
            <a:ext cx="3611880" cy="1280160"/>
          </a:xfrm>
          <a:prstGeom prst="roundRect">
            <a:avLst>
              <a:gd name="adj" fmla="val 5714"/>
            </a:avLst>
          </a:prstGeom>
          <a:solidFill>
            <a:srgbClr val="FFFFFF"/>
          </a:solidFill>
          <a:ln w="9525">
            <a:solidFill>
              <a:srgbClr val="D0D0D0"/>
            </a:solidFill>
            <a:prstDash val="solid"/>
          </a:ln>
        </p:spPr>
      </p:sp>
      <p:sp>
        <p:nvSpPr>
          <p:cNvPr id="9" name="Text 7"/>
          <p:cNvSpPr/>
          <p:nvPr/>
        </p:nvSpPr>
        <p:spPr>
          <a:xfrm>
            <a:off x="594360" y="3611880"/>
            <a:ext cx="3337560" cy="411480"/>
          </a:xfrm>
          <a:prstGeom prst="rect">
            <a:avLst/>
          </a:prstGeom>
          <a:noFill/>
          <a:ln/>
        </p:spPr>
        <p:txBody>
          <a:bodyPr wrap="square" lIns="0" tIns="0" rIns="0" bIns="0" rtlCol="0" anchor="ctr"/>
          <a:lstStyle/>
          <a:p>
            <a:pPr marL="0" indent="0">
              <a:buNone/>
            </a:pPr>
            <a:r>
              <a:rPr lang="en-US" sz="1500" b="1" dirty="0">
                <a:solidFill>
                  <a:srgbClr val="CC9900"/>
                </a:solidFill>
                <a:latin typeface="Cambria" pitchFamily="34" charset="0"/>
                <a:ea typeface="Cambria" pitchFamily="34" charset="-122"/>
                <a:cs typeface="Cambria" pitchFamily="34" charset="-120"/>
              </a:rPr>
              <a:t>Pequenos y enfocados</a:t>
            </a:r>
            <a:endParaRPr lang="en-US" sz="1500" dirty="0"/>
          </a:p>
        </p:txBody>
      </p:sp>
      <p:sp>
        <p:nvSpPr>
          <p:cNvPr id="10" name="Text 8"/>
          <p:cNvSpPr/>
          <p:nvPr/>
        </p:nvSpPr>
        <p:spPr>
          <a:xfrm>
            <a:off x="594360" y="4050792"/>
            <a:ext cx="3337560" cy="64008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Una responsabilidad de negocio bien delimitada.</a:t>
            </a:r>
            <a:endParaRPr lang="en-US" sz="1200" dirty="0"/>
          </a:p>
        </p:txBody>
      </p:sp>
      <p:sp>
        <p:nvSpPr>
          <p:cNvPr id="11" name="Shape 9"/>
          <p:cNvSpPr/>
          <p:nvPr/>
        </p:nvSpPr>
        <p:spPr>
          <a:xfrm>
            <a:off x="4251960" y="3520440"/>
            <a:ext cx="3611880" cy="1280160"/>
          </a:xfrm>
          <a:prstGeom prst="roundRect">
            <a:avLst>
              <a:gd name="adj" fmla="val 5714"/>
            </a:avLst>
          </a:prstGeom>
          <a:solidFill>
            <a:srgbClr val="FFFFFF"/>
          </a:solidFill>
          <a:ln w="9525">
            <a:solidFill>
              <a:srgbClr val="D0D0D0"/>
            </a:solidFill>
            <a:prstDash val="solid"/>
          </a:ln>
        </p:spPr>
      </p:sp>
      <p:sp>
        <p:nvSpPr>
          <p:cNvPr id="12" name="Text 10"/>
          <p:cNvSpPr/>
          <p:nvPr/>
        </p:nvSpPr>
        <p:spPr>
          <a:xfrm>
            <a:off x="4389120" y="3611880"/>
            <a:ext cx="3337560" cy="411480"/>
          </a:xfrm>
          <a:prstGeom prst="rect">
            <a:avLst/>
          </a:prstGeom>
          <a:noFill/>
          <a:ln/>
        </p:spPr>
        <p:txBody>
          <a:bodyPr wrap="square" lIns="0" tIns="0" rIns="0" bIns="0" rtlCol="0" anchor="ctr"/>
          <a:lstStyle/>
          <a:p>
            <a:pPr marL="0" indent="0">
              <a:buNone/>
            </a:pPr>
            <a:r>
              <a:rPr lang="en-US" sz="1500" b="1" dirty="0">
                <a:solidFill>
                  <a:srgbClr val="CC9900"/>
                </a:solidFill>
                <a:latin typeface="Cambria" pitchFamily="34" charset="0"/>
                <a:ea typeface="Cambria" pitchFamily="34" charset="-122"/>
                <a:cs typeface="Cambria" pitchFamily="34" charset="-120"/>
              </a:rPr>
              <a:t>Desplegables por separado</a:t>
            </a:r>
            <a:endParaRPr lang="en-US" sz="1500" dirty="0"/>
          </a:p>
        </p:txBody>
      </p:sp>
      <p:sp>
        <p:nvSpPr>
          <p:cNvPr id="13" name="Text 11"/>
          <p:cNvSpPr/>
          <p:nvPr/>
        </p:nvSpPr>
        <p:spPr>
          <a:xfrm>
            <a:off x="4389120" y="4050792"/>
            <a:ext cx="3337560" cy="64008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Cada servicio tiene su propio pipeline CI/CD.</a:t>
            </a:r>
            <a:endParaRPr lang="en-US" sz="1200" dirty="0"/>
          </a:p>
        </p:txBody>
      </p:sp>
      <p:sp>
        <p:nvSpPr>
          <p:cNvPr id="14" name="Shape 12"/>
          <p:cNvSpPr/>
          <p:nvPr/>
        </p:nvSpPr>
        <p:spPr>
          <a:xfrm>
            <a:off x="8046720" y="3520440"/>
            <a:ext cx="3611880" cy="1280160"/>
          </a:xfrm>
          <a:prstGeom prst="roundRect">
            <a:avLst>
              <a:gd name="adj" fmla="val 5714"/>
            </a:avLst>
          </a:prstGeom>
          <a:solidFill>
            <a:srgbClr val="FFFFFF"/>
          </a:solidFill>
          <a:ln w="9525">
            <a:solidFill>
              <a:srgbClr val="D0D0D0"/>
            </a:solidFill>
            <a:prstDash val="solid"/>
          </a:ln>
        </p:spPr>
      </p:sp>
      <p:sp>
        <p:nvSpPr>
          <p:cNvPr id="15" name="Text 13"/>
          <p:cNvSpPr/>
          <p:nvPr/>
        </p:nvSpPr>
        <p:spPr>
          <a:xfrm>
            <a:off x="8183880" y="3611880"/>
            <a:ext cx="3337560" cy="411480"/>
          </a:xfrm>
          <a:prstGeom prst="rect">
            <a:avLst/>
          </a:prstGeom>
          <a:noFill/>
          <a:ln/>
        </p:spPr>
        <p:txBody>
          <a:bodyPr wrap="square" lIns="0" tIns="0" rIns="0" bIns="0" rtlCol="0" anchor="ctr"/>
          <a:lstStyle/>
          <a:p>
            <a:pPr marL="0" indent="0">
              <a:buNone/>
            </a:pPr>
            <a:r>
              <a:rPr lang="en-US" sz="1500" b="1" dirty="0">
                <a:solidFill>
                  <a:srgbClr val="CC9900"/>
                </a:solidFill>
                <a:latin typeface="Cambria" pitchFamily="34" charset="0"/>
                <a:ea typeface="Cambria" pitchFamily="34" charset="-122"/>
                <a:cs typeface="Cambria" pitchFamily="34" charset="-120"/>
              </a:rPr>
              <a:t>Comunicacion ligera</a:t>
            </a:r>
            <a:endParaRPr lang="en-US" sz="1500" dirty="0"/>
          </a:p>
        </p:txBody>
      </p:sp>
      <p:sp>
        <p:nvSpPr>
          <p:cNvPr id="16" name="Text 14"/>
          <p:cNvSpPr/>
          <p:nvPr/>
        </p:nvSpPr>
        <p:spPr>
          <a:xfrm>
            <a:off x="8183880" y="4050792"/>
            <a:ext cx="3337560" cy="64008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REST/JSON, gRPC o eventos asincronos.</a:t>
            </a:r>
            <a:endParaRPr lang="en-US" sz="1200" dirty="0"/>
          </a:p>
        </p:txBody>
      </p:sp>
      <p:sp>
        <p:nvSpPr>
          <p:cNvPr id="17" name="Shape 15"/>
          <p:cNvSpPr/>
          <p:nvPr/>
        </p:nvSpPr>
        <p:spPr>
          <a:xfrm>
            <a:off x="457200" y="4937760"/>
            <a:ext cx="3611880" cy="1280160"/>
          </a:xfrm>
          <a:prstGeom prst="roundRect">
            <a:avLst>
              <a:gd name="adj" fmla="val 5714"/>
            </a:avLst>
          </a:prstGeom>
          <a:solidFill>
            <a:srgbClr val="FFFFFF"/>
          </a:solidFill>
          <a:ln w="9525">
            <a:solidFill>
              <a:srgbClr val="D0D0D0"/>
            </a:solidFill>
            <a:prstDash val="solid"/>
          </a:ln>
        </p:spPr>
      </p:sp>
      <p:sp>
        <p:nvSpPr>
          <p:cNvPr id="18" name="Text 16"/>
          <p:cNvSpPr/>
          <p:nvPr/>
        </p:nvSpPr>
        <p:spPr>
          <a:xfrm>
            <a:off x="594360" y="5029200"/>
            <a:ext cx="3337560" cy="411480"/>
          </a:xfrm>
          <a:prstGeom prst="rect">
            <a:avLst/>
          </a:prstGeom>
          <a:noFill/>
          <a:ln/>
        </p:spPr>
        <p:txBody>
          <a:bodyPr wrap="square" lIns="0" tIns="0" rIns="0" bIns="0" rtlCol="0" anchor="ctr"/>
          <a:lstStyle/>
          <a:p>
            <a:pPr marL="0" indent="0">
              <a:buNone/>
            </a:pPr>
            <a:r>
              <a:rPr lang="en-US" sz="1500" b="1" dirty="0">
                <a:solidFill>
                  <a:srgbClr val="CC9900"/>
                </a:solidFill>
                <a:latin typeface="Cambria" pitchFamily="34" charset="0"/>
                <a:ea typeface="Cambria" pitchFamily="34" charset="-122"/>
                <a:cs typeface="Cambria" pitchFamily="34" charset="-120"/>
              </a:rPr>
              <a:t>Datos descentralizados</a:t>
            </a:r>
            <a:endParaRPr lang="en-US" sz="1500" dirty="0"/>
          </a:p>
        </p:txBody>
      </p:sp>
      <p:sp>
        <p:nvSpPr>
          <p:cNvPr id="19" name="Text 17"/>
          <p:cNvSpPr/>
          <p:nvPr/>
        </p:nvSpPr>
        <p:spPr>
          <a:xfrm>
            <a:off x="594360" y="5468112"/>
            <a:ext cx="3337560" cy="64008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Una BD (o esquema) por servicio.</a:t>
            </a:r>
            <a:endParaRPr lang="en-US" sz="1200" dirty="0"/>
          </a:p>
        </p:txBody>
      </p:sp>
      <p:sp>
        <p:nvSpPr>
          <p:cNvPr id="20" name="Shape 18"/>
          <p:cNvSpPr/>
          <p:nvPr/>
        </p:nvSpPr>
        <p:spPr>
          <a:xfrm>
            <a:off x="4251960" y="4937760"/>
            <a:ext cx="3611880" cy="1280160"/>
          </a:xfrm>
          <a:prstGeom prst="roundRect">
            <a:avLst>
              <a:gd name="adj" fmla="val 5714"/>
            </a:avLst>
          </a:prstGeom>
          <a:solidFill>
            <a:srgbClr val="FFFFFF"/>
          </a:solidFill>
          <a:ln w="9525">
            <a:solidFill>
              <a:srgbClr val="D0D0D0"/>
            </a:solidFill>
            <a:prstDash val="solid"/>
          </a:ln>
        </p:spPr>
      </p:sp>
      <p:sp>
        <p:nvSpPr>
          <p:cNvPr id="21" name="Text 19"/>
          <p:cNvSpPr/>
          <p:nvPr/>
        </p:nvSpPr>
        <p:spPr>
          <a:xfrm>
            <a:off x="4389120" y="5029200"/>
            <a:ext cx="3337560" cy="411480"/>
          </a:xfrm>
          <a:prstGeom prst="rect">
            <a:avLst/>
          </a:prstGeom>
          <a:noFill/>
          <a:ln/>
        </p:spPr>
        <p:txBody>
          <a:bodyPr wrap="square" lIns="0" tIns="0" rIns="0" bIns="0" rtlCol="0" anchor="ctr"/>
          <a:lstStyle/>
          <a:p>
            <a:pPr marL="0" indent="0">
              <a:buNone/>
            </a:pPr>
            <a:r>
              <a:rPr lang="en-US" sz="1500" b="1" dirty="0">
                <a:solidFill>
                  <a:srgbClr val="CC9900"/>
                </a:solidFill>
                <a:latin typeface="Cambria" pitchFamily="34" charset="0"/>
                <a:ea typeface="Cambria" pitchFamily="34" charset="-122"/>
                <a:cs typeface="Cambria" pitchFamily="34" charset="-120"/>
              </a:rPr>
              <a:t>Equipos autonomos</a:t>
            </a:r>
            <a:endParaRPr lang="en-US" sz="1500" dirty="0"/>
          </a:p>
        </p:txBody>
      </p:sp>
      <p:sp>
        <p:nvSpPr>
          <p:cNvPr id="22" name="Text 20"/>
          <p:cNvSpPr/>
          <p:nvPr/>
        </p:nvSpPr>
        <p:spPr>
          <a:xfrm>
            <a:off x="4389120" y="5468112"/>
            <a:ext cx="3337560" cy="64008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Cada equipo es dueno de uno o varios servicios.</a:t>
            </a:r>
            <a:endParaRPr lang="en-US" sz="1200" dirty="0"/>
          </a:p>
        </p:txBody>
      </p:sp>
      <p:sp>
        <p:nvSpPr>
          <p:cNvPr id="23" name="Shape 21"/>
          <p:cNvSpPr/>
          <p:nvPr/>
        </p:nvSpPr>
        <p:spPr>
          <a:xfrm>
            <a:off x="8046720" y="4937760"/>
            <a:ext cx="3611880" cy="1280160"/>
          </a:xfrm>
          <a:prstGeom prst="roundRect">
            <a:avLst>
              <a:gd name="adj" fmla="val 5714"/>
            </a:avLst>
          </a:prstGeom>
          <a:solidFill>
            <a:srgbClr val="FFFFFF"/>
          </a:solidFill>
          <a:ln w="9525">
            <a:solidFill>
              <a:srgbClr val="D0D0D0"/>
            </a:solidFill>
            <a:prstDash val="solid"/>
          </a:ln>
        </p:spPr>
      </p:sp>
      <p:sp>
        <p:nvSpPr>
          <p:cNvPr id="24" name="Text 22"/>
          <p:cNvSpPr/>
          <p:nvPr/>
        </p:nvSpPr>
        <p:spPr>
          <a:xfrm>
            <a:off x="8183880" y="5029200"/>
            <a:ext cx="3337560" cy="411480"/>
          </a:xfrm>
          <a:prstGeom prst="rect">
            <a:avLst/>
          </a:prstGeom>
          <a:noFill/>
          <a:ln/>
        </p:spPr>
        <p:txBody>
          <a:bodyPr wrap="square" lIns="0" tIns="0" rIns="0" bIns="0" rtlCol="0" anchor="ctr"/>
          <a:lstStyle/>
          <a:p>
            <a:pPr marL="0" indent="0">
              <a:buNone/>
            </a:pPr>
            <a:r>
              <a:rPr lang="en-US" sz="1500" b="1" dirty="0">
                <a:solidFill>
                  <a:srgbClr val="CC9900"/>
                </a:solidFill>
                <a:latin typeface="Cambria" pitchFamily="34" charset="0"/>
                <a:ea typeface="Cambria" pitchFamily="34" charset="-122"/>
                <a:cs typeface="Cambria" pitchFamily="34" charset="-120"/>
              </a:rPr>
              <a:t>Heterogeneidad permitida</a:t>
            </a:r>
            <a:endParaRPr lang="en-US" sz="1500" dirty="0"/>
          </a:p>
        </p:txBody>
      </p:sp>
      <p:sp>
        <p:nvSpPr>
          <p:cNvPr id="25" name="Text 23"/>
          <p:cNvSpPr/>
          <p:nvPr/>
        </p:nvSpPr>
        <p:spPr>
          <a:xfrm>
            <a:off x="8183880" y="5468112"/>
            <a:ext cx="3337560" cy="64008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Cada servicio elige lenguaje y stack.</a:t>
            </a:r>
            <a:endParaRPr lang="en-US" sz="1200" dirty="0"/>
          </a:p>
        </p:txBody>
      </p:sp>
      <p:sp>
        <p:nvSpPr>
          <p:cNvPr id="26" name="Text 24"/>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27" name="Text 25"/>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-- 20 / 32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4 -- SOA Y MICROSERVICIOS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SOA vs Microservicios: comparativa lado a lado</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471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Criterio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SOA clasico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Microservicios modernos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Tamano del servicio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Mediano a grande.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Pequeno y enfocado a un dominio.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Comunicacion</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SOAP / XML sobre ESB centralizado.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REST / JSON, gRPC o eventos asincronos.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Datos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Compartidos, integrados via ESB.</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Una base de datos por servicio.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Despliegue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Acoplado al ESB.</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Independiente por servicio.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Equipos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Centralizados por rol.</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Autonomos por dominio (dos-pizzas).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Lenguajes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Java o .NET dominan.</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Heterogeneidad permitida.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Orquestacion</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ESB orquesta y transforma.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Coreografia con eventos, sin director.</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Epoca de madurez</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Anos 2000.</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2015 en adelante.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8"/>
                  </a:ext>
                </a:extLst>
              </a:tr>
              <a:tr h="384048">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Complejidad operacional</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Alta: mantener el ESB.</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Alta: sistemas distribuidos, K8s.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6" name="Text 3"/>
          <p:cNvSpPr/>
          <p:nvPr/>
        </p:nvSpPr>
        <p:spPr>
          <a:xfrm>
            <a:off x="457200" y="6080760"/>
            <a:ext cx="11247120" cy="320040"/>
          </a:xfrm>
          <a:prstGeom prst="rect">
            <a:avLst/>
          </a:prstGeom>
          <a:noFill/>
          <a:ln/>
        </p:spPr>
        <p:txBody>
          <a:bodyPr wrap="square" lIns="0" tIns="0" rIns="0" bIns="0" rtlCol="0" anchor="ctr"/>
          <a:lstStyle/>
          <a:p>
            <a:pPr marL="0" indent="0">
              <a:buNone/>
            </a:pPr>
            <a:r>
              <a:rPr lang="en-US" sz="1200" b="1" dirty="0">
                <a:solidFill>
                  <a:srgbClr val="006633"/>
                </a:solidFill>
                <a:latin typeface="Calibri" pitchFamily="34" charset="0"/>
                <a:ea typeface="Calibri" pitchFamily="34" charset="-122"/>
                <a:cs typeface="Calibri" pitchFamily="34" charset="-120"/>
              </a:rPr>
              <a:t>En resumen: </a:t>
            </a:r>
            <a:r>
              <a:rPr lang="en-US" sz="1200" i="1" dirty="0">
                <a:solidFill>
                  <a:srgbClr val="3F3F3F"/>
                </a:solidFill>
                <a:latin typeface="Calibri" pitchFamily="34" charset="0"/>
                <a:ea typeface="Calibri" pitchFamily="34" charset="-122"/>
                <a:cs typeface="Calibri" pitchFamily="34" charset="-120"/>
              </a:rPr>
              <a:t>SOA integra sistemas heterogeneos con gobierno central; microservicios descomponen un producto en unidades autonomas por dominio.</a:t>
            </a:r>
            <a:endParaRPr lang="en-US" sz="1200" dirty="0"/>
          </a:p>
        </p:txBody>
      </p:sp>
      <p:sp>
        <p:nvSpPr>
          <p:cNvPr id="7" name="Text 4"/>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8" name="Text 5"/>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-- 21 / 32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4 -- SOA Y MICROSERVICIOS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Patrones esenciales en microservicios</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4712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50292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Patron</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Proposito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Herramienta tipica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extLst>
                  <a:ext uri="{0D108BD9-81ED-4DB2-BD59-A6C34878D82A}">
                    <a16:rowId xmlns:a16="http://schemas.microsoft.com/office/drawing/2014/main" val="10000"/>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API Gateway</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Punto unico de entrada: auth, rate-limiting, ruteo, agregacion.</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Spring Cloud Gateway, Kong, Nginx.</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Service Discovery</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Registro y descubrimiento dinamico de instancias.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Eureka, Consul, Kubernetes DNS.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Circuit Breaker</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Cortar llamadas a servicios fallidos para evitar cascada.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Resilience4j, Hystrix (legado).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Saga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Transacciones distribuidas via secuencia de eventos con compensacion.</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Axon, Camunda, coreografia con Kafka.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CQRS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Separar el modelo de comandos (escritura) del de queries (lectura).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Axon Framework, EventStoreDB.</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Sidecar</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Funciones transversales (proxy, logs, tls) en contenedor adyacente.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Envoy, Istio, Linkerd (service mesh).</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Bulkhead</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Aislar recursos (thread pools) para evitar cascadas de fallo.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Resilience4j Bulkhead, K8s resource limits.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7" name="Text 4"/>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-- 22 / 32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4 -- SOA Y MICROSERVICIOS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Cuando NO usar microservicios: monolith first</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Shape 3"/>
          <p:cNvSpPr/>
          <p:nvPr/>
        </p:nvSpPr>
        <p:spPr>
          <a:xfrm>
            <a:off x="457200" y="1691640"/>
            <a:ext cx="11247120" cy="2194560"/>
          </a:xfrm>
          <a:prstGeom prst="roundRect">
            <a:avLst>
              <a:gd name="adj" fmla="val 4167"/>
            </a:avLst>
          </a:prstGeom>
          <a:solidFill>
            <a:srgbClr val="FFF3E0"/>
          </a:solidFill>
          <a:ln w="12700">
            <a:solidFill>
              <a:srgbClr val="B22222"/>
            </a:solidFill>
            <a:prstDash val="solid"/>
          </a:ln>
        </p:spPr>
      </p:sp>
      <p:sp>
        <p:nvSpPr>
          <p:cNvPr id="6" name="Text 4"/>
          <p:cNvSpPr/>
          <p:nvPr/>
        </p:nvSpPr>
        <p:spPr>
          <a:xfrm>
            <a:off x="685800" y="1783080"/>
            <a:ext cx="10789920" cy="2011680"/>
          </a:xfrm>
          <a:prstGeom prst="rect">
            <a:avLst/>
          </a:prstGeom>
          <a:noFill/>
          <a:ln/>
        </p:spPr>
        <p:txBody>
          <a:bodyPr wrap="square" lIns="0" tIns="0" rIns="0" bIns="0" rtlCol="0" anchor="t"/>
          <a:lstStyle/>
          <a:p>
            <a:pPr marL="0" indent="0">
              <a:buNone/>
            </a:pPr>
            <a:r>
              <a:rPr lang="en-US" sz="1400" b="1" dirty="0">
                <a:solidFill>
                  <a:srgbClr val="B22222"/>
                </a:solidFill>
                <a:latin typeface="Calibri" pitchFamily="34" charset="0"/>
                <a:ea typeface="Calibri" pitchFamily="34" charset="-122"/>
                <a:cs typeface="Calibri" pitchFamily="34" charset="-120"/>
              </a:rPr>
              <a:t>El error costoso de los microservicios prematuros. </a:t>
            </a:r>
            <a:r>
              <a:rPr lang="en-US" sz="1400" dirty="0">
                <a:solidFill>
                  <a:srgbClr val="3F3F3F"/>
                </a:solidFill>
                <a:latin typeface="Calibri" pitchFamily="34" charset="0"/>
                <a:ea typeface="Calibri" pitchFamily="34" charset="-122"/>
                <a:cs typeface="Calibri" pitchFamily="34" charset="-120"/>
              </a:rPr>
              <a:t>Newman y Fowler son enfaticos: los microservicios son </a:t>
            </a:r>
            <a:r>
              <a:rPr lang="en-US" sz="1400" b="1" i="1" dirty="0">
                <a:solidFill>
                  <a:srgbClr val="1A1A1A"/>
                </a:solidFill>
                <a:latin typeface="Calibri" pitchFamily="34" charset="0"/>
                <a:ea typeface="Calibri" pitchFamily="34" charset="-122"/>
                <a:cs typeface="Calibri" pitchFamily="34" charset="-120"/>
              </a:rPr>
              <a:t>una arquitectura distribuida</a:t>
            </a:r>
            <a:r>
              <a:rPr lang="en-US" sz="1400" dirty="0">
                <a:solidFill>
                  <a:srgbClr val="3F3F3F"/>
                </a:solidFill>
                <a:latin typeface="Calibri" pitchFamily="34" charset="0"/>
                <a:ea typeface="Calibri" pitchFamily="34" charset="-122"/>
                <a:cs typeface="Calibri" pitchFamily="34" charset="-120"/>
              </a:rPr>
              <a:t>, y los sistemas distribuidos son inherentemente complejos.  Los problemas que un monolito resuelve trivialmente (transacciones ACID, debugging, deployment) se vuelven retos no triviales en microservicios.</a:t>
            </a:r>
            <a:endParaRPr lang="en-US" sz="1400" dirty="0"/>
          </a:p>
        </p:txBody>
      </p:sp>
      <p:sp>
        <p:nvSpPr>
          <p:cNvPr id="7" name="Text 5"/>
          <p:cNvSpPr/>
          <p:nvPr/>
        </p:nvSpPr>
        <p:spPr>
          <a:xfrm>
            <a:off x="457200" y="4069080"/>
            <a:ext cx="5486400" cy="365760"/>
          </a:xfrm>
          <a:prstGeom prst="rect">
            <a:avLst/>
          </a:prstGeom>
          <a:noFill/>
          <a:ln/>
        </p:spPr>
        <p:txBody>
          <a:bodyPr wrap="square" lIns="0" tIns="0" rIns="0" bIns="0" rtlCol="0" anchor="ctr"/>
          <a:lstStyle/>
          <a:p>
            <a:pPr marL="0" indent="0">
              <a:buNone/>
            </a:pPr>
            <a:r>
              <a:rPr lang="en-US" sz="1500" b="1" dirty="0">
                <a:solidFill>
                  <a:srgbClr val="B22222"/>
                </a:solidFill>
                <a:latin typeface="Cambria" pitchFamily="34" charset="0"/>
                <a:ea typeface="Cambria" pitchFamily="34" charset="-122"/>
                <a:cs typeface="Cambria" pitchFamily="34" charset="-120"/>
              </a:rPr>
              <a:t>NO use microservicios si:</a:t>
            </a:r>
            <a:endParaRPr lang="en-US" sz="1500" dirty="0"/>
          </a:p>
        </p:txBody>
      </p:sp>
      <p:sp>
        <p:nvSpPr>
          <p:cNvPr id="8" name="Text 6"/>
          <p:cNvSpPr/>
          <p:nvPr/>
        </p:nvSpPr>
        <p:spPr>
          <a:xfrm>
            <a:off x="457200" y="4434840"/>
            <a:ext cx="5577840" cy="16916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Su equipo es pequeno (menos de 8 personas).</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No tiene CI/CD maduro ni observabilidad robusta.</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No domina contenedores y orquestacion (Kubernetes).</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No ha experimentado los dolores reales de un monolito grande.</a:t>
            </a:r>
            <a:endParaRPr lang="en-US" sz="1200" dirty="0"/>
          </a:p>
        </p:txBody>
      </p:sp>
      <p:sp>
        <p:nvSpPr>
          <p:cNvPr id="9" name="Shape 7"/>
          <p:cNvSpPr/>
          <p:nvPr/>
        </p:nvSpPr>
        <p:spPr>
          <a:xfrm>
            <a:off x="6263640" y="4069080"/>
            <a:ext cx="5440680" cy="2194560"/>
          </a:xfrm>
          <a:prstGeom prst="roundRect">
            <a:avLst>
              <a:gd name="adj" fmla="val 3333"/>
            </a:avLst>
          </a:prstGeom>
          <a:solidFill>
            <a:srgbClr val="E6F0EA"/>
          </a:solidFill>
          <a:ln w="12700">
            <a:solidFill>
              <a:srgbClr val="006633"/>
            </a:solidFill>
            <a:prstDash val="solid"/>
          </a:ln>
        </p:spPr>
      </p:sp>
      <p:sp>
        <p:nvSpPr>
          <p:cNvPr id="10" name="Text 8"/>
          <p:cNvSpPr/>
          <p:nvPr/>
        </p:nvSpPr>
        <p:spPr>
          <a:xfrm>
            <a:off x="6446520" y="4160520"/>
            <a:ext cx="5212080" cy="365760"/>
          </a:xfrm>
          <a:prstGeom prst="rect">
            <a:avLst/>
          </a:prstGeom>
          <a:noFill/>
          <a:ln/>
        </p:spPr>
        <p:txBody>
          <a:bodyPr wrap="square" lIns="0" tIns="0" rIns="0" bIns="0" rtlCol="0" anchor="ctr"/>
          <a:lstStyle/>
          <a:p>
            <a:pPr marL="0" indent="0">
              <a:buNone/>
            </a:pPr>
            <a:r>
              <a:rPr lang="en-US" sz="1500" b="1" dirty="0">
                <a:solidFill>
                  <a:srgbClr val="006633"/>
                </a:solidFill>
                <a:latin typeface="Cambria" pitchFamily="34" charset="0"/>
                <a:ea typeface="Cambria" pitchFamily="34" charset="-122"/>
                <a:cs typeface="Cambria" pitchFamily="34" charset="-120"/>
              </a:rPr>
              <a:t>Recomendacion Fowler (Monolith First)</a:t>
            </a:r>
            <a:endParaRPr lang="en-US" sz="1500" dirty="0"/>
          </a:p>
        </p:txBody>
      </p:sp>
      <p:sp>
        <p:nvSpPr>
          <p:cNvPr id="11" name="Text 9"/>
          <p:cNvSpPr/>
          <p:nvPr/>
        </p:nvSpPr>
        <p:spPr>
          <a:xfrm>
            <a:off x="6446520" y="4526280"/>
            <a:ext cx="5120640" cy="1691640"/>
          </a:xfrm>
          <a:prstGeom prst="rect">
            <a:avLst/>
          </a:prstGeom>
          <a:noFill/>
          <a:ln/>
        </p:spPr>
        <p:txBody>
          <a:bodyPr wrap="square" lIns="0" tIns="0" rIns="0" bIns="0" rtlCol="0" anchor="t"/>
          <a:lstStyle/>
          <a:p>
            <a:pPr marL="0" indent="0">
              <a:buNone/>
            </a:pPr>
            <a:r>
              <a:rPr lang="en-US" sz="1200" dirty="0">
                <a:solidFill>
                  <a:srgbClr val="3F3F3F"/>
                </a:solidFill>
                <a:latin typeface="Calibri" pitchFamily="34" charset="0"/>
                <a:ea typeface="Calibri" pitchFamily="34" charset="-122"/>
                <a:cs typeface="Calibri" pitchFamily="34" charset="-120"/>
              </a:rPr>
              <a:t>Empezar con un monolito modular bien disenado; migrar servicios a microservicios </a:t>
            </a:r>
            <a:r>
              <a:rPr lang="en-US" sz="1200" b="1" i="1" dirty="0">
                <a:solidFill>
                  <a:srgbClr val="1A1A1A"/>
                </a:solidFill>
                <a:latin typeface="Calibri" pitchFamily="34" charset="0"/>
                <a:ea typeface="Calibri" pitchFamily="34" charset="-122"/>
                <a:cs typeface="Calibri" pitchFamily="34" charset="-120"/>
              </a:rPr>
              <a:t>solo </a:t>
            </a:r>
            <a:r>
              <a:rPr lang="en-US" sz="1200" dirty="0">
                <a:solidFill>
                  <a:srgbClr val="3F3F3F"/>
                </a:solidFill>
                <a:latin typeface="Calibri" pitchFamily="34" charset="0"/>
                <a:ea typeface="Calibri" pitchFamily="34" charset="-122"/>
                <a:cs typeface="Calibri" pitchFamily="34" charset="-120"/>
              </a:rPr>
              <a:t>cuando se justifique con datos (escala, autonomia de equipos, requisitos de despliegue independiente).</a:t>
            </a:r>
            <a:endParaRPr lang="en-US" sz="1200" dirty="0"/>
          </a:p>
        </p:txBody>
      </p:sp>
      <p:sp>
        <p:nvSpPr>
          <p:cNvPr id="12" name="Text 10"/>
          <p:cNvSpPr/>
          <p:nvPr/>
        </p:nvSpPr>
        <p:spPr>
          <a:xfrm>
            <a:off x="457200" y="6263640"/>
            <a:ext cx="11247120" cy="274320"/>
          </a:xfrm>
          <a:prstGeom prst="rect">
            <a:avLst/>
          </a:prstGeom>
          <a:noFill/>
          <a:ln/>
        </p:spPr>
        <p:txBody>
          <a:bodyPr wrap="square" lIns="0" tIns="0" rIns="0" bIns="0" rtlCol="0" anchor="ctr"/>
          <a:lstStyle/>
          <a:p>
            <a:pPr marL="0" indent="0">
              <a:buNone/>
            </a:pPr>
            <a:r>
              <a:rPr lang="en-US" sz="1100" b="1" i="1" dirty="0">
                <a:solidFill>
                  <a:srgbClr val="006633"/>
                </a:solidFill>
                <a:latin typeface="Calibri" pitchFamily="34" charset="0"/>
                <a:ea typeface="Calibri" pitchFamily="34" charset="-122"/>
                <a:cs typeface="Calibri" pitchFamily="34" charset="-120"/>
              </a:rPr>
              <a:t>Para el PFC: </a:t>
            </a:r>
            <a:r>
              <a:rPr lang="en-US" sz="1100" i="1" dirty="0">
                <a:solidFill>
                  <a:srgbClr val="3F3F3F"/>
                </a:solidFill>
                <a:latin typeface="Calibri" pitchFamily="34" charset="0"/>
                <a:ea typeface="Calibri" pitchFamily="34" charset="-122"/>
                <a:cs typeface="Calibri" pitchFamily="34" charset="-120"/>
              </a:rPr>
              <a:t>monolito modular con Spring Boot 3 + PostgreSQL 16 + Redis, organizado por paquetes de dominio.  Los microservicios se justifican en la Tesis, no en el 5to nivel.</a:t>
            </a:r>
            <a:endParaRPr lang="en-US" sz="1100" dirty="0"/>
          </a:p>
        </p:txBody>
      </p:sp>
      <p:sp>
        <p:nvSpPr>
          <p:cNvPr id="13" name="Text 11"/>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14" name="Text 12"/>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-- 23 / 32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SUBTEMA 4 -- SOA Y MICROSERVICIOS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Comunicacion entre servicios: sincrona vs asincrona</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Shape 3"/>
          <p:cNvSpPr/>
          <p:nvPr/>
        </p:nvSpPr>
        <p:spPr>
          <a:xfrm>
            <a:off x="457200" y="1691640"/>
            <a:ext cx="5532120" cy="4480560"/>
          </a:xfrm>
          <a:prstGeom prst="roundRect">
            <a:avLst>
              <a:gd name="adj" fmla="val 2041"/>
            </a:avLst>
          </a:prstGeom>
          <a:solidFill>
            <a:srgbClr val="FFFFFF"/>
          </a:solidFill>
          <a:ln w="12700">
            <a:solidFill>
              <a:srgbClr val="006633"/>
            </a:solidFill>
            <a:prstDash val="solid"/>
          </a:ln>
        </p:spPr>
      </p:sp>
      <p:sp>
        <p:nvSpPr>
          <p:cNvPr id="6" name="Text 4"/>
          <p:cNvSpPr/>
          <p:nvPr/>
        </p:nvSpPr>
        <p:spPr>
          <a:xfrm>
            <a:off x="640080" y="1783080"/>
            <a:ext cx="5212080" cy="365760"/>
          </a:xfrm>
          <a:prstGeom prst="rect">
            <a:avLst/>
          </a:prstGeom>
          <a:noFill/>
          <a:ln/>
        </p:spPr>
        <p:txBody>
          <a:bodyPr wrap="square" lIns="0" tIns="0" rIns="0" bIns="0" rtlCol="0" anchor="ctr"/>
          <a:lstStyle/>
          <a:p>
            <a:pPr marL="0" indent="0">
              <a:buNone/>
            </a:pPr>
            <a:r>
              <a:rPr lang="en-US" sz="1500" b="1" dirty="0">
                <a:solidFill>
                  <a:srgbClr val="006633"/>
                </a:solidFill>
                <a:latin typeface="Cambria" pitchFamily="34" charset="0"/>
                <a:ea typeface="Cambria" pitchFamily="34" charset="-122"/>
                <a:cs typeface="Cambria" pitchFamily="34" charset="-120"/>
              </a:rPr>
              <a:t>Sincrona (request/response)</a:t>
            </a:r>
            <a:endParaRPr lang="en-US" sz="1500" dirty="0"/>
          </a:p>
        </p:txBody>
      </p:sp>
      <p:sp>
        <p:nvSpPr>
          <p:cNvPr id="7" name="Shape 5"/>
          <p:cNvSpPr/>
          <p:nvPr/>
        </p:nvSpPr>
        <p:spPr>
          <a:xfrm>
            <a:off x="822960" y="2286000"/>
            <a:ext cx="1463040" cy="640080"/>
          </a:xfrm>
          <a:prstGeom prst="roundRect">
            <a:avLst>
              <a:gd name="adj" fmla="val 7143"/>
            </a:avLst>
          </a:prstGeom>
          <a:solidFill>
            <a:srgbClr val="E6F0EA"/>
          </a:solidFill>
          <a:ln w="12700">
            <a:solidFill>
              <a:srgbClr val="006633"/>
            </a:solidFill>
            <a:prstDash val="solid"/>
          </a:ln>
        </p:spPr>
      </p:sp>
      <p:sp>
        <p:nvSpPr>
          <p:cNvPr id="8" name="Text 6"/>
          <p:cNvSpPr/>
          <p:nvPr/>
        </p:nvSpPr>
        <p:spPr>
          <a:xfrm>
            <a:off x="822960" y="2286000"/>
            <a:ext cx="1463040" cy="640080"/>
          </a:xfrm>
          <a:prstGeom prst="rect">
            <a:avLst/>
          </a:prstGeom>
          <a:noFill/>
          <a:ln/>
        </p:spPr>
        <p:txBody>
          <a:bodyPr wrap="square" lIns="0" tIns="0" rIns="0" bIns="0" rtlCol="0" anchor="ctr"/>
          <a:lstStyle/>
          <a:p>
            <a:pPr marL="0" indent="0" algn="ctr">
              <a:buNone/>
            </a:pPr>
            <a:r>
              <a:rPr lang="en-US" sz="1100" b="1" dirty="0">
                <a:solidFill>
                  <a:srgbClr val="006633"/>
                </a:solidFill>
                <a:latin typeface="Calibri" pitchFamily="34" charset="0"/>
                <a:ea typeface="Calibri" pitchFamily="34" charset="-122"/>
                <a:cs typeface="Calibri" pitchFamily="34" charset="-120"/>
              </a:rPr>
              <a:t>Servicio A</a:t>
            </a:r>
            <a:endParaRPr lang="en-US" sz="1100" dirty="0"/>
          </a:p>
        </p:txBody>
      </p:sp>
      <p:sp>
        <p:nvSpPr>
          <p:cNvPr id="9" name="Shape 7"/>
          <p:cNvSpPr/>
          <p:nvPr/>
        </p:nvSpPr>
        <p:spPr>
          <a:xfrm>
            <a:off x="4023360" y="2286000"/>
            <a:ext cx="1463040" cy="640080"/>
          </a:xfrm>
          <a:prstGeom prst="roundRect">
            <a:avLst>
              <a:gd name="adj" fmla="val 7143"/>
            </a:avLst>
          </a:prstGeom>
          <a:solidFill>
            <a:srgbClr val="E6F0EA"/>
          </a:solidFill>
          <a:ln w="12700">
            <a:solidFill>
              <a:srgbClr val="006633"/>
            </a:solidFill>
            <a:prstDash val="solid"/>
          </a:ln>
        </p:spPr>
      </p:sp>
      <p:sp>
        <p:nvSpPr>
          <p:cNvPr id="10" name="Text 8"/>
          <p:cNvSpPr/>
          <p:nvPr/>
        </p:nvSpPr>
        <p:spPr>
          <a:xfrm>
            <a:off x="4023360" y="2286000"/>
            <a:ext cx="1463040" cy="640080"/>
          </a:xfrm>
          <a:prstGeom prst="rect">
            <a:avLst/>
          </a:prstGeom>
          <a:noFill/>
          <a:ln/>
        </p:spPr>
        <p:txBody>
          <a:bodyPr wrap="square" lIns="0" tIns="0" rIns="0" bIns="0" rtlCol="0" anchor="ctr"/>
          <a:lstStyle/>
          <a:p>
            <a:pPr marL="0" indent="0" algn="ctr">
              <a:buNone/>
            </a:pPr>
            <a:r>
              <a:rPr lang="en-US" sz="1100" b="1" dirty="0">
                <a:solidFill>
                  <a:srgbClr val="006633"/>
                </a:solidFill>
                <a:latin typeface="Calibri" pitchFamily="34" charset="0"/>
                <a:ea typeface="Calibri" pitchFamily="34" charset="-122"/>
                <a:cs typeface="Calibri" pitchFamily="34" charset="-120"/>
              </a:rPr>
              <a:t>Servicio B</a:t>
            </a:r>
            <a:endParaRPr lang="en-US" sz="1100" dirty="0"/>
          </a:p>
        </p:txBody>
      </p:sp>
      <p:sp>
        <p:nvSpPr>
          <p:cNvPr id="11" name="Shape 9"/>
          <p:cNvSpPr/>
          <p:nvPr/>
        </p:nvSpPr>
        <p:spPr>
          <a:xfrm>
            <a:off x="2286000" y="2487168"/>
            <a:ext cx="1737360" cy="237744"/>
          </a:xfrm>
          <a:prstGeom prst="rightArrow">
            <a:avLst/>
          </a:prstGeom>
          <a:solidFill>
            <a:srgbClr val="006633"/>
          </a:solidFill>
          <a:ln w="12700">
            <a:solidFill>
              <a:srgbClr val="006633"/>
            </a:solidFill>
            <a:prstDash val="solid"/>
          </a:ln>
        </p:spPr>
      </p:sp>
      <p:sp>
        <p:nvSpPr>
          <p:cNvPr id="12" name="Text 10"/>
          <p:cNvSpPr/>
          <p:nvPr/>
        </p:nvSpPr>
        <p:spPr>
          <a:xfrm>
            <a:off x="2286000" y="2084832"/>
            <a:ext cx="1737360" cy="274320"/>
          </a:xfrm>
          <a:prstGeom prst="rect">
            <a:avLst/>
          </a:prstGeom>
          <a:noFill/>
          <a:ln/>
        </p:spPr>
        <p:txBody>
          <a:bodyPr wrap="square" rtlCol="0" anchor="ctr"/>
          <a:lstStyle/>
          <a:p>
            <a:pPr marL="0" indent="0" algn="ctr">
              <a:buNone/>
            </a:pPr>
            <a:r>
              <a:rPr lang="en-US" sz="1000" i="1" dirty="0">
                <a:solidFill>
                  <a:srgbClr val="3F3F3F"/>
                </a:solidFill>
                <a:latin typeface="Calibri" pitchFamily="34" charset="0"/>
                <a:ea typeface="Calibri" pitchFamily="34" charset="-122"/>
                <a:cs typeface="Calibri" pitchFamily="34" charset="-120"/>
              </a:rPr>
              <a:t>HTTP / gRPC</a:t>
            </a:r>
            <a:endParaRPr lang="en-US" sz="1000" dirty="0"/>
          </a:p>
        </p:txBody>
      </p:sp>
      <p:sp>
        <p:nvSpPr>
          <p:cNvPr id="13" name="Shape 11"/>
          <p:cNvSpPr/>
          <p:nvPr/>
        </p:nvSpPr>
        <p:spPr>
          <a:xfrm>
            <a:off x="2286000" y="2743200"/>
            <a:ext cx="1737360" cy="219456"/>
          </a:xfrm>
          <a:prstGeom prst="leftArrow">
            <a:avLst/>
          </a:prstGeom>
          <a:solidFill>
            <a:srgbClr val="CC9900"/>
          </a:solidFill>
          <a:ln w="12700">
            <a:solidFill>
              <a:srgbClr val="CC9900"/>
            </a:solidFill>
            <a:prstDash val="solid"/>
          </a:ln>
        </p:spPr>
      </p:sp>
      <p:sp>
        <p:nvSpPr>
          <p:cNvPr id="14" name="Text 12"/>
          <p:cNvSpPr/>
          <p:nvPr/>
        </p:nvSpPr>
        <p:spPr>
          <a:xfrm>
            <a:off x="2286000" y="3017520"/>
            <a:ext cx="1737360" cy="274320"/>
          </a:xfrm>
          <a:prstGeom prst="rect">
            <a:avLst/>
          </a:prstGeom>
          <a:noFill/>
          <a:ln/>
        </p:spPr>
        <p:txBody>
          <a:bodyPr wrap="square" rtlCol="0" anchor="ctr"/>
          <a:lstStyle/>
          <a:p>
            <a:pPr marL="0" indent="0" algn="ctr">
              <a:buNone/>
            </a:pPr>
            <a:r>
              <a:rPr lang="en-US" sz="1000" i="1" dirty="0">
                <a:solidFill>
                  <a:srgbClr val="3F3F3F"/>
                </a:solidFill>
                <a:latin typeface="Calibri" pitchFamily="34" charset="0"/>
                <a:ea typeface="Calibri" pitchFamily="34" charset="-122"/>
                <a:cs typeface="Calibri" pitchFamily="34" charset="-120"/>
              </a:rPr>
              <a:t>respuesta</a:t>
            </a:r>
            <a:endParaRPr lang="en-US" sz="1000" dirty="0"/>
          </a:p>
        </p:txBody>
      </p:sp>
      <p:sp>
        <p:nvSpPr>
          <p:cNvPr id="15" name="Text 13"/>
          <p:cNvSpPr/>
          <p:nvPr/>
        </p:nvSpPr>
        <p:spPr>
          <a:xfrm>
            <a:off x="640080" y="3520440"/>
            <a:ext cx="5166360" cy="25603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A espera a que B responda para continuar.</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Facil de razonar y depurar.</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Acopla el ciclo de vida: si B esta caido, A falla.</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Riesgo de latencia acumulada en cadenas largas.</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Herramientas: REST, gRPC, GraphQL.</a:t>
            </a:r>
            <a:endParaRPr lang="en-US" sz="1200" dirty="0"/>
          </a:p>
        </p:txBody>
      </p:sp>
      <p:sp>
        <p:nvSpPr>
          <p:cNvPr id="16" name="Shape 14"/>
          <p:cNvSpPr/>
          <p:nvPr/>
        </p:nvSpPr>
        <p:spPr>
          <a:xfrm>
            <a:off x="6172200" y="1691640"/>
            <a:ext cx="5532120" cy="4480560"/>
          </a:xfrm>
          <a:prstGeom prst="roundRect">
            <a:avLst>
              <a:gd name="adj" fmla="val 2041"/>
            </a:avLst>
          </a:prstGeom>
          <a:solidFill>
            <a:srgbClr val="FFFFFF"/>
          </a:solidFill>
          <a:ln w="12700">
            <a:solidFill>
              <a:srgbClr val="CC9900"/>
            </a:solidFill>
            <a:prstDash val="solid"/>
          </a:ln>
        </p:spPr>
      </p:sp>
      <p:sp>
        <p:nvSpPr>
          <p:cNvPr id="17" name="Text 15"/>
          <p:cNvSpPr/>
          <p:nvPr/>
        </p:nvSpPr>
        <p:spPr>
          <a:xfrm>
            <a:off x="6355080" y="1783080"/>
            <a:ext cx="5212080" cy="365760"/>
          </a:xfrm>
          <a:prstGeom prst="rect">
            <a:avLst/>
          </a:prstGeom>
          <a:noFill/>
          <a:ln/>
        </p:spPr>
        <p:txBody>
          <a:bodyPr wrap="square" lIns="0" tIns="0" rIns="0" bIns="0" rtlCol="0" anchor="ctr"/>
          <a:lstStyle/>
          <a:p>
            <a:pPr marL="0" indent="0">
              <a:buNone/>
            </a:pPr>
            <a:r>
              <a:rPr lang="en-US" sz="1500" b="1" dirty="0">
                <a:solidFill>
                  <a:srgbClr val="CC9900"/>
                </a:solidFill>
                <a:latin typeface="Cambria" pitchFamily="34" charset="0"/>
                <a:ea typeface="Cambria" pitchFamily="34" charset="-122"/>
                <a:cs typeface="Cambria" pitchFamily="34" charset="-120"/>
              </a:rPr>
              <a:t>Asincrona (eventos)</a:t>
            </a:r>
            <a:endParaRPr lang="en-US" sz="1500" dirty="0"/>
          </a:p>
        </p:txBody>
      </p:sp>
      <p:sp>
        <p:nvSpPr>
          <p:cNvPr id="18" name="Shape 16"/>
          <p:cNvSpPr/>
          <p:nvPr/>
        </p:nvSpPr>
        <p:spPr>
          <a:xfrm>
            <a:off x="6537960" y="2286000"/>
            <a:ext cx="1371600" cy="640080"/>
          </a:xfrm>
          <a:prstGeom prst="roundRect">
            <a:avLst>
              <a:gd name="adj" fmla="val 7143"/>
            </a:avLst>
          </a:prstGeom>
          <a:solidFill>
            <a:srgbClr val="E6F0EA"/>
          </a:solidFill>
          <a:ln w="12700">
            <a:solidFill>
              <a:srgbClr val="006633"/>
            </a:solidFill>
            <a:prstDash val="solid"/>
          </a:ln>
        </p:spPr>
      </p:sp>
      <p:sp>
        <p:nvSpPr>
          <p:cNvPr id="19" name="Text 17"/>
          <p:cNvSpPr/>
          <p:nvPr/>
        </p:nvSpPr>
        <p:spPr>
          <a:xfrm>
            <a:off x="6537960" y="2286000"/>
            <a:ext cx="1371600" cy="640080"/>
          </a:xfrm>
          <a:prstGeom prst="rect">
            <a:avLst/>
          </a:prstGeom>
          <a:noFill/>
          <a:ln/>
        </p:spPr>
        <p:txBody>
          <a:bodyPr wrap="square" lIns="0" tIns="0" rIns="0" bIns="0" rtlCol="0" anchor="ctr"/>
          <a:lstStyle/>
          <a:p>
            <a:pPr marL="0" indent="0" algn="ctr">
              <a:buNone/>
            </a:pPr>
            <a:r>
              <a:rPr lang="en-US" sz="1100" b="1" dirty="0">
                <a:solidFill>
                  <a:srgbClr val="006633"/>
                </a:solidFill>
                <a:latin typeface="Calibri" pitchFamily="34" charset="0"/>
                <a:ea typeface="Calibri" pitchFamily="34" charset="-122"/>
                <a:cs typeface="Calibri" pitchFamily="34" charset="-120"/>
              </a:rPr>
              <a:t>Servicio A</a:t>
            </a:r>
            <a:endParaRPr lang="en-US" sz="1100" dirty="0"/>
          </a:p>
        </p:txBody>
      </p:sp>
      <p:sp>
        <p:nvSpPr>
          <p:cNvPr id="20" name="Shape 18"/>
          <p:cNvSpPr/>
          <p:nvPr/>
        </p:nvSpPr>
        <p:spPr>
          <a:xfrm>
            <a:off x="8229600" y="2240280"/>
            <a:ext cx="1188720" cy="731520"/>
          </a:xfrm>
          <a:prstGeom prst="ellipse">
            <a:avLst/>
          </a:prstGeom>
          <a:solidFill>
            <a:srgbClr val="CC9900"/>
          </a:solidFill>
          <a:ln w="12700">
            <a:solidFill>
              <a:srgbClr val="CC9900"/>
            </a:solidFill>
            <a:prstDash val="solid"/>
          </a:ln>
        </p:spPr>
      </p:sp>
      <p:sp>
        <p:nvSpPr>
          <p:cNvPr id="21" name="Text 19"/>
          <p:cNvSpPr/>
          <p:nvPr/>
        </p:nvSpPr>
        <p:spPr>
          <a:xfrm>
            <a:off x="8229600" y="2240280"/>
            <a:ext cx="1188720" cy="7315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Broker</a:t>
            </a:r>
            <a:endParaRPr lang="en-US" sz="1000" dirty="0"/>
          </a:p>
        </p:txBody>
      </p:sp>
      <p:sp>
        <p:nvSpPr>
          <p:cNvPr id="22" name="Shape 20"/>
          <p:cNvSpPr/>
          <p:nvPr/>
        </p:nvSpPr>
        <p:spPr>
          <a:xfrm>
            <a:off x="9784080" y="2286000"/>
            <a:ext cx="1371600" cy="640080"/>
          </a:xfrm>
          <a:prstGeom prst="roundRect">
            <a:avLst>
              <a:gd name="adj" fmla="val 7143"/>
            </a:avLst>
          </a:prstGeom>
          <a:solidFill>
            <a:srgbClr val="E6F0EA"/>
          </a:solidFill>
          <a:ln w="12700">
            <a:solidFill>
              <a:srgbClr val="006633"/>
            </a:solidFill>
            <a:prstDash val="solid"/>
          </a:ln>
        </p:spPr>
      </p:sp>
      <p:sp>
        <p:nvSpPr>
          <p:cNvPr id="23" name="Text 21"/>
          <p:cNvSpPr/>
          <p:nvPr/>
        </p:nvSpPr>
        <p:spPr>
          <a:xfrm>
            <a:off x="9784080" y="2286000"/>
            <a:ext cx="1371600" cy="640080"/>
          </a:xfrm>
          <a:prstGeom prst="rect">
            <a:avLst/>
          </a:prstGeom>
          <a:noFill/>
          <a:ln/>
        </p:spPr>
        <p:txBody>
          <a:bodyPr wrap="square" lIns="0" tIns="0" rIns="0" bIns="0" rtlCol="0" anchor="ctr"/>
          <a:lstStyle/>
          <a:p>
            <a:pPr marL="0" indent="0" algn="ctr">
              <a:buNone/>
            </a:pPr>
            <a:r>
              <a:rPr lang="en-US" sz="1100" b="1" dirty="0">
                <a:solidFill>
                  <a:srgbClr val="006633"/>
                </a:solidFill>
                <a:latin typeface="Calibri" pitchFamily="34" charset="0"/>
                <a:ea typeface="Calibri" pitchFamily="34" charset="-122"/>
                <a:cs typeface="Calibri" pitchFamily="34" charset="-120"/>
              </a:rPr>
              <a:t>Servicio B</a:t>
            </a:r>
            <a:endParaRPr lang="en-US" sz="1100" dirty="0"/>
          </a:p>
        </p:txBody>
      </p:sp>
      <p:sp>
        <p:nvSpPr>
          <p:cNvPr id="24" name="Shape 22"/>
          <p:cNvSpPr/>
          <p:nvPr/>
        </p:nvSpPr>
        <p:spPr>
          <a:xfrm>
            <a:off x="7909560" y="2514600"/>
            <a:ext cx="365760" cy="182880"/>
          </a:xfrm>
          <a:prstGeom prst="rightArrow">
            <a:avLst/>
          </a:prstGeom>
          <a:solidFill>
            <a:srgbClr val="CC9900"/>
          </a:solidFill>
          <a:ln w="12700">
            <a:solidFill>
              <a:srgbClr val="CC9900"/>
            </a:solidFill>
            <a:prstDash val="solid"/>
          </a:ln>
        </p:spPr>
      </p:sp>
      <p:sp>
        <p:nvSpPr>
          <p:cNvPr id="25" name="Shape 23"/>
          <p:cNvSpPr/>
          <p:nvPr/>
        </p:nvSpPr>
        <p:spPr>
          <a:xfrm>
            <a:off x="9372600" y="2514600"/>
            <a:ext cx="457200" cy="182880"/>
          </a:xfrm>
          <a:prstGeom prst="rightArrow">
            <a:avLst/>
          </a:prstGeom>
          <a:solidFill>
            <a:srgbClr val="CC9900"/>
          </a:solidFill>
          <a:ln w="12700">
            <a:solidFill>
              <a:srgbClr val="CC9900"/>
            </a:solidFill>
            <a:prstDash val="solid"/>
          </a:ln>
        </p:spPr>
      </p:sp>
      <p:sp>
        <p:nvSpPr>
          <p:cNvPr id="26" name="Text 24"/>
          <p:cNvSpPr/>
          <p:nvPr/>
        </p:nvSpPr>
        <p:spPr>
          <a:xfrm>
            <a:off x="6355080" y="3520440"/>
            <a:ext cx="5166360" cy="25603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A publica un evento y no espera respuesta.</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Desacopla ciclo de vida: B puede estar caido.</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Escala horizontal facil; resiliente.</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Mas dificil de razonar y depurar.</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Herramientas: Kafka, RabbitMQ, AWS SNS/SQS.</a:t>
            </a:r>
            <a:endParaRPr lang="en-US" sz="1200" dirty="0"/>
          </a:p>
        </p:txBody>
      </p:sp>
      <p:sp>
        <p:nvSpPr>
          <p:cNvPr id="27" name="Text 25"/>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28" name="Text 26"/>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-- 24 / 32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CIERRE</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Matriz de decision: elegir el patron adecuado</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47120" cy="914400"/>
        </p:xfrm>
        <a:graphic>
          <a:graphicData uri="http://schemas.openxmlformats.org/drawingml/2006/table">
            <a:tbl>
              <a:tblPr/>
              <a:tblGrid>
                <a:gridCol w="685800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tblGrid>
              <a:tr h="54864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Situacion</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Patron recomendado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extLst>
                  <a:ext uri="{0D108BD9-81ED-4DB2-BD59-A6C34878D82A}">
                    <a16:rowId xmlns:a16="http://schemas.microsoft.com/office/drawing/2014/main" val="10000"/>
                  </a:ext>
                </a:extLst>
              </a:tr>
              <a:tr h="548640">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App CRUD tradicional, equipo pequeno, dominio conocido.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Monolito modular por capas (3-4 capas).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Dominio complejo (reglas ricas), varias fuentes externas, se busca aislar la logica de negocio.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Hexagonal (Ports and Adapters) + capas.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Multiples reacciones automaticas a eventos de negocio (email, auditoria, analitica).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Capas + EDA con broker (Kafka, RabbitMQ).</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Integracion con sistemas heredados via WSDL/SOAP.</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SOA con ESB (o adaptador SOAP en un microservicio).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Producto grande, muchos equipos autonomos, requisitos de escala independiente por dominio.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Microservicios (con monolith-first previo).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548640">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Problema heuristico sin algoritmo directo (IA con multiples fuentes).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Pizarra (blackboard).</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r h="548640">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Sistema descentralizado sin autoridad central (blockchain, IPFS).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Peer-to-peer (P2P).</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457200" y="6172200"/>
            <a:ext cx="11247120" cy="274320"/>
          </a:xfrm>
          <a:prstGeom prst="rect">
            <a:avLst/>
          </a:prstGeom>
          <a:noFill/>
          <a:ln/>
        </p:spPr>
        <p:txBody>
          <a:bodyPr wrap="square" lIns="0" tIns="0" rIns="0" bIns="0" rtlCol="0" anchor="ctr"/>
          <a:lstStyle/>
          <a:p>
            <a:pPr marL="0" indent="0">
              <a:buNone/>
            </a:pPr>
            <a:r>
              <a:rPr lang="en-US" sz="1200" b="1" dirty="0">
                <a:solidFill>
                  <a:srgbClr val="B22222"/>
                </a:solidFill>
                <a:latin typeface="Calibri" pitchFamily="34" charset="0"/>
                <a:ea typeface="Calibri" pitchFamily="34" charset="-122"/>
                <a:cs typeface="Calibri" pitchFamily="34" charset="-120"/>
              </a:rPr>
              <a:t>Ninguna decision arquitectonica se sostiene sin evidencia.  </a:t>
            </a:r>
            <a:r>
              <a:rPr lang="en-US" sz="1200" dirty="0">
                <a:solidFill>
                  <a:srgbClr val="3F3F3F"/>
                </a:solidFill>
                <a:latin typeface="Calibri" pitchFamily="34" charset="0"/>
                <a:ea typeface="Calibri" pitchFamily="34" charset="-122"/>
                <a:cs typeface="Calibri" pitchFamily="34" charset="-120"/>
              </a:rPr>
              <a:t>Documentela con un ADR (siguiente diapositiva).</a:t>
            </a:r>
            <a:endParaRPr lang="en-US" sz="1200" dirty="0"/>
          </a:p>
        </p:txBody>
      </p:sp>
      <p:sp>
        <p:nvSpPr>
          <p:cNvPr id="7" name="Text 4"/>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8" name="Text 5"/>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-- 25 / 32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CIERRE -- DOCUMENTACION</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Modelo C4 de Simon Brown: cuatro niveles de zoom</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Shape 3"/>
          <p:cNvSpPr/>
          <p:nvPr/>
        </p:nvSpPr>
        <p:spPr>
          <a:xfrm>
            <a:off x="457200" y="1828800"/>
            <a:ext cx="10515600" cy="914400"/>
          </a:xfrm>
          <a:prstGeom prst="roundRect">
            <a:avLst>
              <a:gd name="adj" fmla="val 6000"/>
            </a:avLst>
          </a:prstGeom>
          <a:solidFill>
            <a:srgbClr val="006633"/>
          </a:solidFill>
          <a:ln w="12700">
            <a:solidFill>
              <a:srgbClr val="006633"/>
            </a:solidFill>
            <a:prstDash val="solid"/>
          </a:ln>
        </p:spPr>
      </p:sp>
      <p:sp>
        <p:nvSpPr>
          <p:cNvPr id="6" name="Shape 4"/>
          <p:cNvSpPr/>
          <p:nvPr/>
        </p:nvSpPr>
        <p:spPr>
          <a:xfrm>
            <a:off x="640080" y="1920240"/>
            <a:ext cx="731520" cy="731520"/>
          </a:xfrm>
          <a:prstGeom prst="ellipse">
            <a:avLst/>
          </a:prstGeom>
          <a:solidFill>
            <a:srgbClr val="FFFFFF"/>
          </a:solidFill>
          <a:ln w="12700">
            <a:solidFill>
              <a:srgbClr val="FFFFFF"/>
            </a:solidFill>
            <a:prstDash val="solid"/>
          </a:ln>
        </p:spPr>
      </p:sp>
      <p:sp>
        <p:nvSpPr>
          <p:cNvPr id="7" name="Text 5"/>
          <p:cNvSpPr/>
          <p:nvPr/>
        </p:nvSpPr>
        <p:spPr>
          <a:xfrm>
            <a:off x="640080" y="1920240"/>
            <a:ext cx="731520" cy="731520"/>
          </a:xfrm>
          <a:prstGeom prst="rect">
            <a:avLst/>
          </a:prstGeom>
          <a:noFill/>
          <a:ln/>
        </p:spPr>
        <p:txBody>
          <a:bodyPr wrap="square" lIns="0" tIns="0" rIns="0" bIns="0" rtlCol="0" anchor="ctr"/>
          <a:lstStyle/>
          <a:p>
            <a:pPr marL="0" indent="0" algn="ctr">
              <a:buNone/>
            </a:pPr>
            <a:r>
              <a:rPr lang="en-US" sz="1600" b="1" dirty="0">
                <a:solidFill>
                  <a:srgbClr val="006633"/>
                </a:solidFill>
                <a:latin typeface="Cambria" pitchFamily="34" charset="0"/>
                <a:ea typeface="Cambria" pitchFamily="34" charset="-122"/>
                <a:cs typeface="Cambria" pitchFamily="34" charset="-120"/>
              </a:rPr>
              <a:t>C1</a:t>
            </a:r>
            <a:endParaRPr lang="en-US" sz="1600" dirty="0"/>
          </a:p>
        </p:txBody>
      </p:sp>
      <p:sp>
        <p:nvSpPr>
          <p:cNvPr id="8" name="Text 6"/>
          <p:cNvSpPr/>
          <p:nvPr/>
        </p:nvSpPr>
        <p:spPr>
          <a:xfrm>
            <a:off x="1463040" y="1901952"/>
            <a:ext cx="27432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Contexto</a:t>
            </a:r>
            <a:endParaRPr lang="en-US" sz="1700" dirty="0"/>
          </a:p>
        </p:txBody>
      </p:sp>
      <p:sp>
        <p:nvSpPr>
          <p:cNvPr id="9" name="Text 7"/>
          <p:cNvSpPr/>
          <p:nvPr/>
        </p:nvSpPr>
        <p:spPr>
          <a:xfrm>
            <a:off x="1463040" y="2267712"/>
            <a:ext cx="8503920" cy="41148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El sistema y sus actores/externos.</a:t>
            </a:r>
            <a:endParaRPr lang="en-US" sz="1200" dirty="0"/>
          </a:p>
        </p:txBody>
      </p:sp>
      <p:sp>
        <p:nvSpPr>
          <p:cNvPr id="10" name="Shape 8"/>
          <p:cNvSpPr/>
          <p:nvPr/>
        </p:nvSpPr>
        <p:spPr>
          <a:xfrm>
            <a:off x="731520" y="2880360"/>
            <a:ext cx="9966960" cy="914400"/>
          </a:xfrm>
          <a:prstGeom prst="roundRect">
            <a:avLst>
              <a:gd name="adj" fmla="val 6000"/>
            </a:avLst>
          </a:prstGeom>
          <a:solidFill>
            <a:srgbClr val="1B7A48"/>
          </a:solidFill>
          <a:ln w="12700">
            <a:solidFill>
              <a:srgbClr val="1B7A48"/>
            </a:solidFill>
            <a:prstDash val="solid"/>
          </a:ln>
        </p:spPr>
      </p:sp>
      <p:sp>
        <p:nvSpPr>
          <p:cNvPr id="11" name="Shape 9"/>
          <p:cNvSpPr/>
          <p:nvPr/>
        </p:nvSpPr>
        <p:spPr>
          <a:xfrm>
            <a:off x="914400" y="2971800"/>
            <a:ext cx="731520" cy="731520"/>
          </a:xfrm>
          <a:prstGeom prst="ellipse">
            <a:avLst/>
          </a:prstGeom>
          <a:solidFill>
            <a:srgbClr val="FFFFFF"/>
          </a:solidFill>
          <a:ln w="12700">
            <a:solidFill>
              <a:srgbClr val="FFFFFF"/>
            </a:solidFill>
            <a:prstDash val="solid"/>
          </a:ln>
        </p:spPr>
      </p:sp>
      <p:sp>
        <p:nvSpPr>
          <p:cNvPr id="12" name="Text 10"/>
          <p:cNvSpPr/>
          <p:nvPr/>
        </p:nvSpPr>
        <p:spPr>
          <a:xfrm>
            <a:off x="914400" y="2971800"/>
            <a:ext cx="731520" cy="731520"/>
          </a:xfrm>
          <a:prstGeom prst="rect">
            <a:avLst/>
          </a:prstGeom>
          <a:noFill/>
          <a:ln/>
        </p:spPr>
        <p:txBody>
          <a:bodyPr wrap="square" lIns="0" tIns="0" rIns="0" bIns="0" rtlCol="0" anchor="ctr"/>
          <a:lstStyle/>
          <a:p>
            <a:pPr marL="0" indent="0" algn="ctr">
              <a:buNone/>
            </a:pPr>
            <a:r>
              <a:rPr lang="en-US" sz="1600" b="1" dirty="0">
                <a:solidFill>
                  <a:srgbClr val="1B7A48"/>
                </a:solidFill>
                <a:latin typeface="Cambria" pitchFamily="34" charset="0"/>
                <a:ea typeface="Cambria" pitchFamily="34" charset="-122"/>
                <a:cs typeface="Cambria" pitchFamily="34" charset="-120"/>
              </a:rPr>
              <a:t>C2</a:t>
            </a:r>
            <a:endParaRPr lang="en-US" sz="1600" dirty="0"/>
          </a:p>
        </p:txBody>
      </p:sp>
      <p:sp>
        <p:nvSpPr>
          <p:cNvPr id="13" name="Text 11"/>
          <p:cNvSpPr/>
          <p:nvPr/>
        </p:nvSpPr>
        <p:spPr>
          <a:xfrm>
            <a:off x="1737360" y="2953512"/>
            <a:ext cx="27432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Contenedores</a:t>
            </a:r>
            <a:endParaRPr lang="en-US" sz="1700" dirty="0"/>
          </a:p>
        </p:txBody>
      </p:sp>
      <p:sp>
        <p:nvSpPr>
          <p:cNvPr id="14" name="Text 12"/>
          <p:cNvSpPr/>
          <p:nvPr/>
        </p:nvSpPr>
        <p:spPr>
          <a:xfrm>
            <a:off x="1737360" y="3319272"/>
            <a:ext cx="8503920" cy="41148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Aplicaciones y almacenes de datos (front, back, BD, cache).</a:t>
            </a:r>
            <a:endParaRPr lang="en-US" sz="1200" dirty="0"/>
          </a:p>
        </p:txBody>
      </p:sp>
      <p:sp>
        <p:nvSpPr>
          <p:cNvPr id="15" name="Shape 13"/>
          <p:cNvSpPr/>
          <p:nvPr/>
        </p:nvSpPr>
        <p:spPr>
          <a:xfrm>
            <a:off x="1005840" y="3931920"/>
            <a:ext cx="9418320" cy="914400"/>
          </a:xfrm>
          <a:prstGeom prst="roundRect">
            <a:avLst>
              <a:gd name="adj" fmla="val 6000"/>
            </a:avLst>
          </a:prstGeom>
          <a:solidFill>
            <a:srgbClr val="CC9900"/>
          </a:solidFill>
          <a:ln w="12700">
            <a:solidFill>
              <a:srgbClr val="CC9900"/>
            </a:solidFill>
            <a:prstDash val="solid"/>
          </a:ln>
        </p:spPr>
      </p:sp>
      <p:sp>
        <p:nvSpPr>
          <p:cNvPr id="16" name="Shape 14"/>
          <p:cNvSpPr/>
          <p:nvPr/>
        </p:nvSpPr>
        <p:spPr>
          <a:xfrm>
            <a:off x="1188720" y="4023360"/>
            <a:ext cx="731520" cy="731520"/>
          </a:xfrm>
          <a:prstGeom prst="ellipse">
            <a:avLst/>
          </a:prstGeom>
          <a:solidFill>
            <a:srgbClr val="FFFFFF"/>
          </a:solidFill>
          <a:ln w="12700">
            <a:solidFill>
              <a:srgbClr val="FFFFFF"/>
            </a:solidFill>
            <a:prstDash val="solid"/>
          </a:ln>
        </p:spPr>
      </p:sp>
      <p:sp>
        <p:nvSpPr>
          <p:cNvPr id="17" name="Text 15"/>
          <p:cNvSpPr/>
          <p:nvPr/>
        </p:nvSpPr>
        <p:spPr>
          <a:xfrm>
            <a:off x="1188720" y="4023360"/>
            <a:ext cx="731520" cy="731520"/>
          </a:xfrm>
          <a:prstGeom prst="rect">
            <a:avLst/>
          </a:prstGeom>
          <a:noFill/>
          <a:ln/>
        </p:spPr>
        <p:txBody>
          <a:bodyPr wrap="square" lIns="0" tIns="0" rIns="0" bIns="0" rtlCol="0" anchor="ctr"/>
          <a:lstStyle/>
          <a:p>
            <a:pPr marL="0" indent="0" algn="ctr">
              <a:buNone/>
            </a:pPr>
            <a:r>
              <a:rPr lang="en-US" sz="1600" b="1" dirty="0">
                <a:solidFill>
                  <a:srgbClr val="CC9900"/>
                </a:solidFill>
                <a:latin typeface="Cambria" pitchFamily="34" charset="0"/>
                <a:ea typeface="Cambria" pitchFamily="34" charset="-122"/>
                <a:cs typeface="Cambria" pitchFamily="34" charset="-120"/>
              </a:rPr>
              <a:t>C3</a:t>
            </a:r>
            <a:endParaRPr lang="en-US" sz="1600" dirty="0"/>
          </a:p>
        </p:txBody>
      </p:sp>
      <p:sp>
        <p:nvSpPr>
          <p:cNvPr id="18" name="Text 16"/>
          <p:cNvSpPr/>
          <p:nvPr/>
        </p:nvSpPr>
        <p:spPr>
          <a:xfrm>
            <a:off x="2011680" y="4005072"/>
            <a:ext cx="27432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Componentes</a:t>
            </a:r>
            <a:endParaRPr lang="en-US" sz="1700" dirty="0"/>
          </a:p>
        </p:txBody>
      </p:sp>
      <p:sp>
        <p:nvSpPr>
          <p:cNvPr id="19" name="Text 17"/>
          <p:cNvSpPr/>
          <p:nvPr/>
        </p:nvSpPr>
        <p:spPr>
          <a:xfrm>
            <a:off x="2011680" y="4370832"/>
            <a:ext cx="8503920" cy="41148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Modulos internos de un contenedor.</a:t>
            </a:r>
            <a:endParaRPr lang="en-US" sz="1200" dirty="0"/>
          </a:p>
        </p:txBody>
      </p:sp>
      <p:sp>
        <p:nvSpPr>
          <p:cNvPr id="20" name="Shape 18"/>
          <p:cNvSpPr/>
          <p:nvPr/>
        </p:nvSpPr>
        <p:spPr>
          <a:xfrm>
            <a:off x="1280160" y="4983480"/>
            <a:ext cx="8869680" cy="914400"/>
          </a:xfrm>
          <a:prstGeom prst="roundRect">
            <a:avLst>
              <a:gd name="adj" fmla="val 6000"/>
            </a:avLst>
          </a:prstGeom>
          <a:solidFill>
            <a:srgbClr val="E6B833"/>
          </a:solidFill>
          <a:ln w="12700">
            <a:solidFill>
              <a:srgbClr val="E6B833"/>
            </a:solidFill>
            <a:prstDash val="solid"/>
          </a:ln>
        </p:spPr>
      </p:sp>
      <p:sp>
        <p:nvSpPr>
          <p:cNvPr id="21" name="Shape 19"/>
          <p:cNvSpPr/>
          <p:nvPr/>
        </p:nvSpPr>
        <p:spPr>
          <a:xfrm>
            <a:off x="1463040" y="5074920"/>
            <a:ext cx="731520" cy="731520"/>
          </a:xfrm>
          <a:prstGeom prst="ellipse">
            <a:avLst/>
          </a:prstGeom>
          <a:solidFill>
            <a:srgbClr val="FFFFFF"/>
          </a:solidFill>
          <a:ln w="12700">
            <a:solidFill>
              <a:srgbClr val="FFFFFF"/>
            </a:solidFill>
            <a:prstDash val="solid"/>
          </a:ln>
        </p:spPr>
      </p:sp>
      <p:sp>
        <p:nvSpPr>
          <p:cNvPr id="22" name="Text 20"/>
          <p:cNvSpPr/>
          <p:nvPr/>
        </p:nvSpPr>
        <p:spPr>
          <a:xfrm>
            <a:off x="1463040" y="5074920"/>
            <a:ext cx="731520" cy="731520"/>
          </a:xfrm>
          <a:prstGeom prst="rect">
            <a:avLst/>
          </a:prstGeom>
          <a:noFill/>
          <a:ln/>
        </p:spPr>
        <p:txBody>
          <a:bodyPr wrap="square" lIns="0" tIns="0" rIns="0" bIns="0" rtlCol="0" anchor="ctr"/>
          <a:lstStyle/>
          <a:p>
            <a:pPr marL="0" indent="0" algn="ctr">
              <a:buNone/>
            </a:pPr>
            <a:r>
              <a:rPr lang="en-US" sz="1600" b="1" dirty="0">
                <a:solidFill>
                  <a:srgbClr val="E6B833"/>
                </a:solidFill>
                <a:latin typeface="Cambria" pitchFamily="34" charset="0"/>
                <a:ea typeface="Cambria" pitchFamily="34" charset="-122"/>
                <a:cs typeface="Cambria" pitchFamily="34" charset="-120"/>
              </a:rPr>
              <a:t>C4</a:t>
            </a:r>
            <a:endParaRPr lang="en-US" sz="1600" dirty="0"/>
          </a:p>
        </p:txBody>
      </p:sp>
      <p:sp>
        <p:nvSpPr>
          <p:cNvPr id="23" name="Text 21"/>
          <p:cNvSpPr/>
          <p:nvPr/>
        </p:nvSpPr>
        <p:spPr>
          <a:xfrm>
            <a:off x="2286000" y="5056632"/>
            <a:ext cx="27432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Codigo</a:t>
            </a:r>
            <a:endParaRPr lang="en-US" sz="1700" dirty="0"/>
          </a:p>
        </p:txBody>
      </p:sp>
      <p:sp>
        <p:nvSpPr>
          <p:cNvPr id="24" name="Text 22"/>
          <p:cNvSpPr/>
          <p:nvPr/>
        </p:nvSpPr>
        <p:spPr>
          <a:xfrm>
            <a:off x="2286000" y="5422392"/>
            <a:ext cx="8503920" cy="41148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Clases y relaciones (opcional).</a:t>
            </a:r>
            <a:endParaRPr lang="en-US" sz="1200" dirty="0"/>
          </a:p>
        </p:txBody>
      </p:sp>
      <p:sp>
        <p:nvSpPr>
          <p:cNvPr id="25" name="Text 23"/>
          <p:cNvSpPr/>
          <p:nvPr/>
        </p:nvSpPr>
        <p:spPr>
          <a:xfrm>
            <a:off x="457200" y="6172200"/>
            <a:ext cx="11247120" cy="274320"/>
          </a:xfrm>
          <a:prstGeom prst="rect">
            <a:avLst/>
          </a:prstGeom>
          <a:noFill/>
          <a:ln/>
        </p:spPr>
        <p:txBody>
          <a:bodyPr wrap="square" lIns="0" tIns="0" rIns="0" bIns="0" rtlCol="0" anchor="ctr"/>
          <a:lstStyle/>
          <a:p>
            <a:pPr marL="0" indent="0">
              <a:buNone/>
            </a:pPr>
            <a:r>
              <a:rPr lang="en-US" sz="1000" b="1" dirty="0">
                <a:solidFill>
                  <a:srgbClr val="006633"/>
                </a:solidFill>
                <a:latin typeface="Calibri" pitchFamily="34" charset="0"/>
                <a:ea typeface="Calibri" pitchFamily="34" charset="-122"/>
                <a:cs typeface="Calibri" pitchFamily="34" charset="-120"/>
              </a:rPr>
              <a:t>En el PFC: </a:t>
            </a:r>
            <a:r>
              <a:rPr lang="en-US" sz="1000" dirty="0">
                <a:solidFill>
                  <a:srgbClr val="3F3F3F"/>
                </a:solidFill>
                <a:latin typeface="Calibri" pitchFamily="34" charset="0"/>
                <a:ea typeface="Calibri" pitchFamily="34" charset="-122"/>
                <a:cs typeface="Calibri" pitchFamily="34" charset="-120"/>
              </a:rPr>
              <a:t>Entrega 2 exige C1 y C2 obligatorios; Entrega 3 exige C3.  Codigo Structurizr DSL versionado en docs/arquitectura/.  </a:t>
            </a:r>
            <a:r>
              <a:rPr lang="en-US" sz="1000" i="1" dirty="0">
                <a:solidFill>
                  <a:srgbClr val="6B6B6B"/>
                </a:solidFill>
                <a:latin typeface="Calibri" pitchFamily="34" charset="0"/>
                <a:ea typeface="Calibri" pitchFamily="34" charset="-122"/>
                <a:cs typeface="Calibri" pitchFamily="34" charset="-120"/>
              </a:rPr>
              <a:t>Referencia: Brown, S. (2023). The C4 model for visualising software architecture, c4model.com.</a:t>
            </a:r>
            <a:endParaRPr lang="en-US" sz="1000" dirty="0"/>
          </a:p>
        </p:txBody>
      </p:sp>
      <p:sp>
        <p:nvSpPr>
          <p:cNvPr id="26" name="Text 24"/>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27" name="Text 25"/>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-- 26 / 32</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CIERRE -- DOCUMENTACION</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ADR: Architectural Decision Record (Nygard)</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Text 3"/>
          <p:cNvSpPr/>
          <p:nvPr/>
        </p:nvSpPr>
        <p:spPr>
          <a:xfrm>
            <a:off x="457200" y="1691640"/>
            <a:ext cx="5486400" cy="320040"/>
          </a:xfrm>
          <a:prstGeom prst="rect">
            <a:avLst/>
          </a:prstGeom>
          <a:noFill/>
          <a:ln/>
        </p:spPr>
        <p:txBody>
          <a:bodyPr wrap="square" lIns="0" tIns="0" rIns="0" bIns="0" rtlCol="0" anchor="ctr"/>
          <a:lstStyle/>
          <a:p>
            <a:pPr marL="0" indent="0">
              <a:buNone/>
            </a:pPr>
            <a:r>
              <a:rPr lang="en-US" sz="1500" b="1" dirty="0">
                <a:solidFill>
                  <a:srgbClr val="006633"/>
                </a:solidFill>
                <a:latin typeface="Cambria" pitchFamily="34" charset="0"/>
                <a:ea typeface="Cambria" pitchFamily="34" charset="-122"/>
                <a:cs typeface="Cambria" pitchFamily="34" charset="-120"/>
              </a:rPr>
              <a:t>Plantilla estandar de Nygard</a:t>
            </a:r>
            <a:endParaRPr lang="en-US" sz="1500" dirty="0"/>
          </a:p>
        </p:txBody>
      </p:sp>
      <p:sp>
        <p:nvSpPr>
          <p:cNvPr id="6" name="Shape 4"/>
          <p:cNvSpPr/>
          <p:nvPr/>
        </p:nvSpPr>
        <p:spPr>
          <a:xfrm>
            <a:off x="457200" y="2057400"/>
            <a:ext cx="5486400" cy="4160520"/>
          </a:xfrm>
          <a:prstGeom prst="roundRect">
            <a:avLst>
              <a:gd name="adj" fmla="val 1099"/>
            </a:avLst>
          </a:prstGeom>
          <a:solidFill>
            <a:srgbClr val="1E1E1E"/>
          </a:solidFill>
          <a:ln w="12700">
            <a:solidFill>
              <a:srgbClr val="1E1E1E"/>
            </a:solidFill>
            <a:prstDash val="solid"/>
          </a:ln>
        </p:spPr>
      </p:sp>
      <p:sp>
        <p:nvSpPr>
          <p:cNvPr id="7" name="Text 5"/>
          <p:cNvSpPr/>
          <p:nvPr/>
        </p:nvSpPr>
        <p:spPr>
          <a:xfrm>
            <a:off x="640080" y="2148840"/>
            <a:ext cx="5120640" cy="4023360"/>
          </a:xfrm>
          <a:prstGeom prst="rect">
            <a:avLst/>
          </a:prstGeom>
          <a:noFill/>
          <a:ln/>
        </p:spPr>
        <p:txBody>
          <a:bodyPr wrap="square" lIns="0" tIns="0" rIns="0" bIns="0" rtlCol="0" anchor="t"/>
          <a:lstStyle/>
          <a:p>
            <a:pPr marL="0" indent="0">
              <a:buNone/>
            </a:pPr>
            <a:r>
              <a:rPr lang="en-US" sz="1100" b="1" dirty="0">
                <a:solidFill>
                  <a:srgbClr val="FFFFFF"/>
                </a:solidFill>
                <a:latin typeface="Courier New" pitchFamily="34" charset="0"/>
                <a:ea typeface="Courier New" pitchFamily="34" charset="-122"/>
                <a:cs typeface="Courier New" pitchFamily="34" charset="-120"/>
              </a:rPr>
              <a:t># ADR-003: Uso de Redis como cache-aside
</a:t>
            </a:r>
            <a:r>
              <a:rPr lang="en-US" sz="1100" dirty="0">
                <a:solidFill>
                  <a:srgbClr val="6A9955"/>
                </a:solidFill>
                <a:latin typeface="Courier New" pitchFamily="34" charset="0"/>
                <a:ea typeface="Courier New" pitchFamily="34" charset="-122"/>
                <a:cs typeface="Courier New" pitchFamily="34" charset="-120"/>
              </a:rPr>
              <a:t>## Status
</a:t>
            </a:r>
            <a:r>
              <a:rPr lang="en-US" sz="1100" dirty="0">
                <a:solidFill>
                  <a:srgbClr val="FFFFFF"/>
                </a:solidFill>
                <a:latin typeface="Courier New" pitchFamily="34" charset="0"/>
                <a:ea typeface="Courier New" pitchFamily="34" charset="-122"/>
                <a:cs typeface="Courier New" pitchFamily="34" charset="-120"/>
              </a:rPr>
              <a:t>Accepted
</a:t>
            </a:r>
            <a:r>
              <a:rPr lang="en-US" sz="1100" dirty="0">
                <a:solidFill>
                  <a:srgbClr val="6A9955"/>
                </a:solidFill>
                <a:latin typeface="Courier New" pitchFamily="34" charset="0"/>
                <a:ea typeface="Courier New" pitchFamily="34" charset="-122"/>
                <a:cs typeface="Courier New" pitchFamily="34" charset="-120"/>
              </a:rPr>
              <a:t>## Context
</a:t>
            </a:r>
            <a:r>
              <a:rPr lang="en-US" sz="1100" dirty="0">
                <a:solidFill>
                  <a:srgbClr val="FFFFFF"/>
                </a:solidFill>
                <a:latin typeface="Courier New" pitchFamily="34" charset="0"/>
                <a:ea typeface="Courier New" pitchFamily="34" charset="-122"/>
                <a:cs typeface="Courier New" pitchFamily="34" charset="-120"/>
              </a:rPr>
              <a:t>El endpoint GET /api/libros tarda 850 ms con 10k libros.
</a:t>
            </a:r>
            <a:r>
              <a:rPr lang="en-US" sz="1100" dirty="0">
                <a:solidFill>
                  <a:srgbClr val="6A9955"/>
                </a:solidFill>
                <a:latin typeface="Courier New" pitchFamily="34" charset="0"/>
                <a:ea typeface="Courier New" pitchFamily="34" charset="-122"/>
                <a:cs typeface="Courier New" pitchFamily="34" charset="-120"/>
              </a:rPr>
              <a:t>## Decision
</a:t>
            </a:r>
            <a:r>
              <a:rPr lang="en-US" sz="1100" dirty="0">
                <a:solidFill>
                  <a:srgbClr val="FFFFFF"/>
                </a:solidFill>
                <a:latin typeface="Courier New" pitchFamily="34" charset="0"/>
                <a:ea typeface="Courier New" pitchFamily="34" charset="-122"/>
                <a:cs typeface="Courier New" pitchFamily="34" charset="-120"/>
              </a:rPr>
              <a:t>Se adopta </a:t>
            </a:r>
            <a:r>
              <a:rPr lang="en-US" sz="1100" dirty="0">
                <a:solidFill>
                  <a:srgbClr val="CE9178"/>
                </a:solidFill>
                <a:latin typeface="Courier New" pitchFamily="34" charset="0"/>
                <a:ea typeface="Courier New" pitchFamily="34" charset="-122"/>
                <a:cs typeface="Courier New" pitchFamily="34" charset="-120"/>
              </a:rPr>
              <a:t>cache-aside </a:t>
            </a:r>
            <a:r>
              <a:rPr lang="en-US" sz="1100" dirty="0">
                <a:solidFill>
                  <a:srgbClr val="FFFFFF"/>
                </a:solidFill>
                <a:latin typeface="Courier New" pitchFamily="34" charset="0"/>
                <a:ea typeface="Courier New" pitchFamily="34" charset="-122"/>
                <a:cs typeface="Courier New" pitchFamily="34" charset="-120"/>
              </a:rPr>
              <a:t>con Redis 7, TTL de 60 s.
</a:t>
            </a:r>
            <a:r>
              <a:rPr lang="en-US" sz="1100" dirty="0">
                <a:solidFill>
                  <a:srgbClr val="6A9955"/>
                </a:solidFill>
                <a:latin typeface="Courier New" pitchFamily="34" charset="0"/>
                <a:ea typeface="Courier New" pitchFamily="34" charset="-122"/>
                <a:cs typeface="Courier New" pitchFamily="34" charset="-120"/>
              </a:rPr>
              <a:t>## Consequences
</a:t>
            </a:r>
            <a:r>
              <a:rPr lang="en-US" sz="1100" dirty="0">
                <a:solidFill>
                  <a:srgbClr val="FFFFFF"/>
                </a:solidFill>
                <a:latin typeface="Courier New" pitchFamily="34" charset="0"/>
                <a:ea typeface="Courier New" pitchFamily="34" charset="-122"/>
                <a:cs typeface="Courier New" pitchFamily="34" charset="-120"/>
              </a:rPr>
              <a:t>+ Latencia baja a 15 ms (speedup 56x).
- Riesgo de datos stale hasta 60 s.
- Requiere invalidacion en PUT y DELETE.</a:t>
            </a:r>
            <a:endParaRPr lang="en-US" sz="1100" dirty="0"/>
          </a:p>
        </p:txBody>
      </p:sp>
      <p:sp>
        <p:nvSpPr>
          <p:cNvPr id="8" name="Text 6"/>
          <p:cNvSpPr/>
          <p:nvPr/>
        </p:nvSpPr>
        <p:spPr>
          <a:xfrm>
            <a:off x="6217920" y="1691640"/>
            <a:ext cx="5486400" cy="320040"/>
          </a:xfrm>
          <a:prstGeom prst="rect">
            <a:avLst/>
          </a:prstGeom>
          <a:noFill/>
          <a:ln/>
        </p:spPr>
        <p:txBody>
          <a:bodyPr wrap="square" lIns="0" tIns="0" rIns="0" bIns="0" rtlCol="0" anchor="ctr"/>
          <a:lstStyle/>
          <a:p>
            <a:pPr marL="0" indent="0">
              <a:buNone/>
            </a:pPr>
            <a:r>
              <a:rPr lang="en-US" sz="1500" b="1" dirty="0">
                <a:solidFill>
                  <a:srgbClr val="CC9900"/>
                </a:solidFill>
                <a:latin typeface="Cambria" pitchFamily="34" charset="0"/>
                <a:ea typeface="Cambria" pitchFamily="34" charset="-122"/>
                <a:cs typeface="Cambria" pitchFamily="34" charset="-120"/>
              </a:rPr>
              <a:t>Por que ADRs</a:t>
            </a:r>
            <a:endParaRPr lang="en-US" sz="1500" dirty="0"/>
          </a:p>
        </p:txBody>
      </p:sp>
      <p:sp>
        <p:nvSpPr>
          <p:cNvPr id="9" name="Text 7"/>
          <p:cNvSpPr/>
          <p:nvPr/>
        </p:nvSpPr>
        <p:spPr>
          <a:xfrm>
            <a:off x="6217920" y="2057400"/>
            <a:ext cx="5486400" cy="27432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Registran el POR QUE, no solo el QUE.</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Se versionan en Git junto al codigo.</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Son inmutables: si se cambia una decision, se escribe un nuevo ADR que anula al anterior.</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Le dicen al equipo futuro que problema se estaba resolviendo.</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Se numeran secuencialmente en docs/adr/adr-NNN-titulo.md.</a:t>
            </a:r>
            <a:endParaRPr lang="en-US" sz="1200" dirty="0"/>
          </a:p>
        </p:txBody>
      </p:sp>
      <p:sp>
        <p:nvSpPr>
          <p:cNvPr id="10" name="Text 8"/>
          <p:cNvSpPr/>
          <p:nvPr/>
        </p:nvSpPr>
        <p:spPr>
          <a:xfrm>
            <a:off x="6217920" y="5074920"/>
            <a:ext cx="5486400" cy="320040"/>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PFC: 3 ADRs minimo en la PE U3, 5 en Entrega 3</a:t>
            </a:r>
            <a:endParaRPr lang="en-US" sz="1300" dirty="0"/>
          </a:p>
        </p:txBody>
      </p:sp>
      <p:sp>
        <p:nvSpPr>
          <p:cNvPr id="11" name="Text 9"/>
          <p:cNvSpPr/>
          <p:nvPr/>
        </p:nvSpPr>
        <p:spPr>
          <a:xfrm>
            <a:off x="6217920" y="5394960"/>
            <a:ext cx="5486400" cy="91440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3F3F3F"/>
                </a:solidFill>
                <a:latin typeface="Calibri" pitchFamily="34" charset="0"/>
                <a:ea typeface="Calibri" pitchFamily="34" charset="-122"/>
                <a:cs typeface="Calibri" pitchFamily="34" charset="-120"/>
              </a:rPr>
              <a:t>Eleccion de pila (Spring Boot, PostgreSQL, Redis).</a:t>
            </a:r>
            <a:endParaRPr lang="en-US" sz="1100" dirty="0"/>
          </a:p>
          <a:p>
            <a:pPr marL="342900" indent="-342900">
              <a:spcAft>
                <a:spcPts val="800"/>
              </a:spcAft>
              <a:buSzPct val="100000"/>
              <a:buChar char="■"/>
            </a:pPr>
            <a:r>
              <a:rPr lang="en-US" sz="1100" dirty="0">
                <a:solidFill>
                  <a:srgbClr val="3F3F3F"/>
                </a:solidFill>
                <a:latin typeface="Calibri" pitchFamily="34" charset="0"/>
                <a:ea typeface="Calibri" pitchFamily="34" charset="-122"/>
                <a:cs typeface="Calibri" pitchFamily="34" charset="-120"/>
              </a:rPr>
              <a:t>Esquema de autenticacion (JWT firmado).</a:t>
            </a:r>
            <a:endParaRPr lang="en-US" sz="1100" dirty="0"/>
          </a:p>
          <a:p>
            <a:pPr marL="342900" indent="-342900">
              <a:spcAft>
                <a:spcPts val="800"/>
              </a:spcAft>
              <a:buSzPct val="100000"/>
              <a:buChar char="■"/>
            </a:pPr>
            <a:r>
              <a:rPr lang="en-US" sz="1100" dirty="0">
                <a:solidFill>
                  <a:srgbClr val="3F3F3F"/>
                </a:solidFill>
                <a:latin typeface="Calibri" pitchFamily="34" charset="0"/>
                <a:ea typeface="Calibri" pitchFamily="34" charset="-122"/>
                <a:cs typeface="Calibri" pitchFamily="34" charset="-120"/>
              </a:rPr>
              <a:t>Estrategia de cache (cache-aside con TTL).</a:t>
            </a:r>
            <a:endParaRPr lang="en-US" sz="1100" dirty="0"/>
          </a:p>
          <a:p>
            <a:pPr marL="342900" indent="-342900">
              <a:spcAft>
                <a:spcPts val="800"/>
              </a:spcAft>
              <a:buSzPct val="100000"/>
              <a:buChar char="■"/>
            </a:pPr>
            <a:r>
              <a:rPr lang="en-US" sz="1100" dirty="0">
                <a:solidFill>
                  <a:srgbClr val="3F3F3F"/>
                </a:solidFill>
                <a:latin typeface="Calibri" pitchFamily="34" charset="0"/>
                <a:ea typeface="Calibri" pitchFamily="34" charset="-122"/>
                <a:cs typeface="Calibri" pitchFamily="34" charset="-120"/>
              </a:rPr>
              <a:t>Estrategia de despliegue (Docker Compose por digest).</a:t>
            </a:r>
            <a:endParaRPr lang="en-US" sz="1100" dirty="0"/>
          </a:p>
        </p:txBody>
      </p:sp>
      <p:sp>
        <p:nvSpPr>
          <p:cNvPr id="12" name="Text 10"/>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13" name="Text 11"/>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-- 27 / 32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CIERRE -- APLICACION AL PFC</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Aplicacion practica: BiblioUTEQ paso a paso</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4712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50292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Aspecto</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Decision para BiblioUTEQ</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Justificacion</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6633"/>
                    </a:solidFill>
                  </a:tcPr>
                </a:tc>
                <a:extLst>
                  <a:ext uri="{0D108BD9-81ED-4DB2-BD59-A6C34878D82A}">
                    <a16:rowId xmlns:a16="http://schemas.microsoft.com/office/drawing/2014/main" val="10000"/>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Estilo global</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Monolito modular por capas.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Equipo pequeno, dominio conocido; monolith-first.</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Capas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4 capas: Controller, Service, Repository, BD.</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Estandar Spring Boot, testable por capa.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Variante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Ports and Adapters ligero en el modulo Prestamos.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Aisla las reglas de mora y reserva del framework.</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Eventos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EDA local (Spring Events) para notificaciones y auditoria.</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Simplicidad; broker externo no se justifica aun.</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Cache</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Redis 7 en modo cache-aside con TTL 60 s.</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Ganancia medida en la PE U3 con speedup.</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100" b="1" dirty="0">
                          <a:solidFill>
                            <a:srgbClr val="006633"/>
                          </a:solidFill>
                          <a:latin typeface="Calibri" pitchFamily="34" charset="0"/>
                          <a:ea typeface="Calibri" pitchFamily="34" charset="-122"/>
                          <a:cs typeface="Calibri" pitchFamily="34" charset="-120"/>
                        </a:rPr>
                        <a:t>Documentacion</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C4 niveles 1-2-3 + 5 ADR + tabla ISO 25010.</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100" dirty="0">
                          <a:solidFill>
                            <a:srgbClr val="3F3F3F"/>
                          </a:solidFill>
                          <a:latin typeface="Calibri" pitchFamily="34" charset="0"/>
                          <a:ea typeface="Calibri" pitchFamily="34" charset="-122"/>
                          <a:cs typeface="Calibri" pitchFamily="34" charset="-120"/>
                        </a:rPr>
                        <a:t>Rubrica Entrega 3, bloque D.</a:t>
                      </a:r>
                      <a:endParaRPr lang="en-US" sz="1100" dirty="0">
                        <a:latin typeface="Calibri" charset="0"/>
                        <a:ea typeface="Calibri" charset="0"/>
                        <a:cs typeface="Calibri" charset="0"/>
                      </a:endParaRPr>
                    </a:p>
                  </a:txBody>
                  <a:tcP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457200" y="6172200"/>
            <a:ext cx="11247120" cy="274320"/>
          </a:xfrm>
          <a:prstGeom prst="rect">
            <a:avLst/>
          </a:prstGeom>
          <a:noFill/>
          <a:ln/>
        </p:spPr>
        <p:txBody>
          <a:bodyPr wrap="square" lIns="0" tIns="0" rIns="0" bIns="0" rtlCol="0" anchor="ctr"/>
          <a:lstStyle/>
          <a:p>
            <a:pPr marL="0" indent="0">
              <a:buNone/>
            </a:pPr>
            <a:r>
              <a:rPr lang="en-US" sz="1200" b="1" dirty="0">
                <a:solidFill>
                  <a:srgbClr val="006633"/>
                </a:solidFill>
                <a:latin typeface="Calibri" pitchFamily="34" charset="0"/>
                <a:ea typeface="Calibri" pitchFamily="34" charset="-122"/>
                <a:cs typeface="Calibri" pitchFamily="34" charset="-120"/>
              </a:rPr>
              <a:t>Traduccion a rubrica:  </a:t>
            </a:r>
            <a:r>
              <a:rPr lang="en-US" sz="1200" dirty="0">
                <a:solidFill>
                  <a:srgbClr val="3F3F3F"/>
                </a:solidFill>
                <a:latin typeface="Calibri" pitchFamily="34" charset="0"/>
                <a:ea typeface="Calibri" pitchFamily="34" charset="-122"/>
                <a:cs typeface="Calibri" pitchFamily="34" charset="-120"/>
              </a:rPr>
              <a:t>Cada decision de esta tabla debe convertirse en un ADR en docs/adr/ y aparecer en el diagrama C4-C2 del PFC.</a:t>
            </a:r>
            <a:endParaRPr lang="en-US" sz="1200" dirty="0"/>
          </a:p>
        </p:txBody>
      </p:sp>
      <p:sp>
        <p:nvSpPr>
          <p:cNvPr id="7" name="Text 4"/>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8" name="Text 5"/>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-- 28 / 32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CIERRE -- BUENAS PRACTICAS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Errores frecuentes y checklist para el PFC</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Text 3"/>
          <p:cNvSpPr/>
          <p:nvPr/>
        </p:nvSpPr>
        <p:spPr>
          <a:xfrm>
            <a:off x="457200" y="1691640"/>
            <a:ext cx="5486400" cy="320040"/>
          </a:xfrm>
          <a:prstGeom prst="rect">
            <a:avLst/>
          </a:prstGeom>
          <a:noFill/>
          <a:ln/>
        </p:spPr>
        <p:txBody>
          <a:bodyPr wrap="square" lIns="0" tIns="0" rIns="0" bIns="0" rtlCol="0" anchor="ctr"/>
          <a:lstStyle/>
          <a:p>
            <a:pPr marL="0" indent="0">
              <a:buNone/>
            </a:pPr>
            <a:r>
              <a:rPr lang="en-US" sz="1500" b="1" dirty="0">
                <a:solidFill>
                  <a:srgbClr val="B22222"/>
                </a:solidFill>
                <a:latin typeface="Cambria" pitchFamily="34" charset="0"/>
                <a:ea typeface="Cambria" pitchFamily="34" charset="-122"/>
                <a:cs typeface="Cambria" pitchFamily="34" charset="-120"/>
              </a:rPr>
              <a:t>Errores que descuentan puntos</a:t>
            </a:r>
            <a:endParaRPr lang="en-US" sz="1500" dirty="0"/>
          </a:p>
        </p:txBody>
      </p:sp>
      <p:sp>
        <p:nvSpPr>
          <p:cNvPr id="6" name="Text 4"/>
          <p:cNvSpPr/>
          <p:nvPr/>
        </p:nvSpPr>
        <p:spPr>
          <a:xfrm>
            <a:off x="457200" y="2011680"/>
            <a:ext cx="5486400" cy="42062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SQL crudo en el Controller o Service.</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Devolver @Entity al cliente en lugar de un DTO.</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Servicios que se llaman entre si sin abstraccion.</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Elegir microservicios sin justificacion con datos.</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Diagrama C4 sin C2 o sin actores externos.</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ADRs vacios o con 'porque me gusta' como justificacion.</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Cache invalidada solo en GET (no en PUT/DELETE).</a:t>
            </a:r>
            <a:endParaRPr lang="en-US" sz="1200" dirty="0"/>
          </a:p>
        </p:txBody>
      </p:sp>
      <p:sp>
        <p:nvSpPr>
          <p:cNvPr id="7" name="Text 5"/>
          <p:cNvSpPr/>
          <p:nvPr/>
        </p:nvSpPr>
        <p:spPr>
          <a:xfrm>
            <a:off x="6217920" y="1691640"/>
            <a:ext cx="5486400" cy="320040"/>
          </a:xfrm>
          <a:prstGeom prst="rect">
            <a:avLst/>
          </a:prstGeom>
          <a:noFill/>
          <a:ln/>
        </p:spPr>
        <p:txBody>
          <a:bodyPr wrap="square" lIns="0" tIns="0" rIns="0" bIns="0" rtlCol="0" anchor="ctr"/>
          <a:lstStyle/>
          <a:p>
            <a:pPr marL="0" indent="0">
              <a:buNone/>
            </a:pPr>
            <a:r>
              <a:rPr lang="en-US" sz="1500" b="1" dirty="0">
                <a:solidFill>
                  <a:srgbClr val="006633"/>
                </a:solidFill>
                <a:latin typeface="Cambria" pitchFamily="34" charset="0"/>
                <a:ea typeface="Cambria" pitchFamily="34" charset="-122"/>
                <a:cs typeface="Cambria" pitchFamily="34" charset="-120"/>
              </a:rPr>
              <a:t>Checklist antes de entregar</a:t>
            </a:r>
            <a:endParaRPr lang="en-US" sz="1500" dirty="0"/>
          </a:p>
        </p:txBody>
      </p:sp>
      <p:sp>
        <p:nvSpPr>
          <p:cNvPr id="8" name="Text 6"/>
          <p:cNvSpPr/>
          <p:nvPr/>
        </p:nvSpPr>
        <p:spPr>
          <a:xfrm>
            <a:off x="6217920" y="2011680"/>
            <a:ext cx="5486400" cy="42062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Los paquetes reflejan el dominio, no las capas: package prestamos, no package controllers.</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Todas las decisiones importantes tienen un ADR en docs/adr/.</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El diagrama C4-C2 muestra frontend, backend, PostgreSQL, Redis y actores humanos.</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Ningun endpoint devuelve la entidad JPA directamente.</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Cobertura JaCoCo &gt;= 70% en Service y Repository.</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README.md documenta como compilar y arrancar.</a:t>
            </a:r>
            <a:endParaRPr lang="en-US" sz="1200" dirty="0"/>
          </a:p>
          <a:p>
            <a:pPr marL="342900" indent="-342900">
              <a:spcAft>
                <a:spcPts val="800"/>
              </a:spcAft>
              <a:buSzPct val="100000"/>
              <a:buChar char="■"/>
            </a:pPr>
            <a:r>
              <a:rPr lang="en-US" sz="1200" dirty="0">
                <a:solidFill>
                  <a:srgbClr val="3F3F3F"/>
                </a:solidFill>
                <a:latin typeface="Calibri" pitchFamily="34" charset="0"/>
                <a:ea typeface="Calibri" pitchFamily="34" charset="-122"/>
                <a:cs typeface="Calibri" pitchFamily="34" charset="-120"/>
              </a:rPr>
              <a:t>docker-compose.yml fija imagenes por digest SHA-256.</a:t>
            </a:r>
            <a:endParaRPr lang="en-US" sz="1200" dirty="0"/>
          </a:p>
        </p:txBody>
      </p:sp>
      <p:sp>
        <p:nvSpPr>
          <p:cNvPr id="9" name="Text 7"/>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10" name="Text 8"/>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-- 29 / 32</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REFERENCIAS</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Bibliografia verificada</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Text 3"/>
          <p:cNvSpPr/>
          <p:nvPr/>
        </p:nvSpPr>
        <p:spPr>
          <a:xfrm>
            <a:off x="457200" y="1691640"/>
            <a:ext cx="11247120" cy="45720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3F3F3F"/>
                </a:solidFill>
                <a:latin typeface="Calibri" pitchFamily="34" charset="0"/>
                <a:ea typeface="Calibri" pitchFamily="34" charset="-122"/>
                <a:cs typeface="Calibri" pitchFamily="34" charset="-120"/>
              </a:rPr>
              <a:t>Bass, L., Clements, P., &amp; Kazman, R. (2021). Software Architecture in Practice (4th ed.). Addison-Wesley Professional.</a:t>
            </a:r>
            <a:endParaRPr lang="en-US" sz="1150" dirty="0"/>
          </a:p>
          <a:p>
            <a:pPr marL="342900" indent="-342900">
              <a:spcAft>
                <a:spcPts val="500"/>
              </a:spcAft>
              <a:buSzPct val="100000"/>
              <a:buChar char="■"/>
            </a:pPr>
            <a:r>
              <a:rPr lang="en-US" sz="1150" dirty="0">
                <a:solidFill>
                  <a:srgbClr val="3F3F3F"/>
                </a:solidFill>
                <a:latin typeface="Calibri" pitchFamily="34" charset="0"/>
                <a:ea typeface="Calibri" pitchFamily="34" charset="-122"/>
                <a:cs typeface="Calibri" pitchFamily="34" charset="-120"/>
              </a:rPr>
              <a:t>Newman, S. (2021). Building Microservices: Designing Fine-Grained Systems (2nd ed.). O'Reilly Media.</a:t>
            </a:r>
            <a:endParaRPr lang="en-US" sz="1150" dirty="0"/>
          </a:p>
          <a:p>
            <a:pPr marL="342900" indent="-342900">
              <a:spcAft>
                <a:spcPts val="500"/>
              </a:spcAft>
              <a:buSzPct val="100000"/>
              <a:buChar char="■"/>
            </a:pPr>
            <a:r>
              <a:rPr lang="en-US" sz="1150" dirty="0">
                <a:solidFill>
                  <a:srgbClr val="3F3F3F"/>
                </a:solidFill>
                <a:latin typeface="Calibri" pitchFamily="34" charset="0"/>
                <a:ea typeface="Calibri" pitchFamily="34" charset="-122"/>
                <a:cs typeface="Calibri" pitchFamily="34" charset="-120"/>
              </a:rPr>
              <a:t>Richards, M., &amp; Ford, N. (2020). Fundamentals of Software Architecture: An Engineering Approach. O'Reilly Media.</a:t>
            </a:r>
            <a:endParaRPr lang="en-US" sz="1150" dirty="0"/>
          </a:p>
          <a:p>
            <a:pPr marL="342900" indent="-342900">
              <a:spcAft>
                <a:spcPts val="500"/>
              </a:spcAft>
              <a:buSzPct val="100000"/>
              <a:buChar char="■"/>
            </a:pPr>
            <a:r>
              <a:rPr lang="en-US" sz="1150" dirty="0">
                <a:solidFill>
                  <a:srgbClr val="3F3F3F"/>
                </a:solidFill>
                <a:latin typeface="Calibri" pitchFamily="34" charset="0"/>
                <a:ea typeface="Calibri" pitchFamily="34" charset="-122"/>
                <a:cs typeface="Calibri" pitchFamily="34" charset="-120"/>
              </a:rPr>
              <a:t>Kleppmann, M. (2017). Designing Data-Intensive Applications. O'Reilly Media.</a:t>
            </a:r>
            <a:endParaRPr lang="en-US" sz="1150" dirty="0"/>
          </a:p>
          <a:p>
            <a:pPr marL="342900" indent="-342900">
              <a:spcAft>
                <a:spcPts val="500"/>
              </a:spcAft>
              <a:buSzPct val="100000"/>
              <a:buChar char="■"/>
            </a:pPr>
            <a:r>
              <a:rPr lang="en-US" sz="1150" dirty="0">
                <a:solidFill>
                  <a:srgbClr val="3F3F3F"/>
                </a:solidFill>
                <a:latin typeface="Calibri" pitchFamily="34" charset="0"/>
                <a:ea typeface="Calibri" pitchFamily="34" charset="-122"/>
                <a:cs typeface="Calibri" pitchFamily="34" charset="-120"/>
              </a:rPr>
              <a:t>Martin, R. C. (2017). Clean Architecture: A Craftsman's Guide to Software Structure and Design. Prentice Hall.</a:t>
            </a:r>
            <a:endParaRPr lang="en-US" sz="1150" dirty="0"/>
          </a:p>
          <a:p>
            <a:pPr marL="342900" indent="-342900">
              <a:spcAft>
                <a:spcPts val="500"/>
              </a:spcAft>
              <a:buSzPct val="100000"/>
              <a:buChar char="■"/>
            </a:pPr>
            <a:r>
              <a:rPr lang="en-US" sz="1150" dirty="0">
                <a:solidFill>
                  <a:srgbClr val="3F3F3F"/>
                </a:solidFill>
                <a:latin typeface="Calibri" pitchFamily="34" charset="0"/>
                <a:ea typeface="Calibri" pitchFamily="34" charset="-122"/>
                <a:cs typeface="Calibri" pitchFamily="34" charset="-120"/>
              </a:rPr>
              <a:t>Buschmann, F., Meunier, R., Rohnert, H., Sommerlad, P., &amp; Stal, M. (1996). Pattern-Oriented Software Architecture, Volume 1: A System of Patterns. Wiley.</a:t>
            </a:r>
            <a:endParaRPr lang="en-US" sz="1150" dirty="0"/>
          </a:p>
          <a:p>
            <a:pPr marL="342900" indent="-342900">
              <a:spcAft>
                <a:spcPts val="500"/>
              </a:spcAft>
              <a:buSzPct val="100000"/>
              <a:buChar char="■"/>
            </a:pPr>
            <a:r>
              <a:rPr lang="en-US" sz="1150" dirty="0">
                <a:solidFill>
                  <a:srgbClr val="3F3F3F"/>
                </a:solidFill>
                <a:latin typeface="Calibri" pitchFamily="34" charset="0"/>
                <a:ea typeface="Calibri" pitchFamily="34" charset="-122"/>
                <a:cs typeface="Calibri" pitchFamily="34" charset="-120"/>
              </a:rPr>
              <a:t>Erman, L. D., Hayes-Roth, F., Lesser, V. R., &amp; Reddy, D. R. (1980). The HEARSAY-II Speech-Understanding System. ACM Computing Surveys, 12(2), 213-253. DOI 10.1145/356810.356816.</a:t>
            </a:r>
            <a:endParaRPr lang="en-US" sz="1150" dirty="0"/>
          </a:p>
          <a:p>
            <a:pPr marL="342900" indent="-342900">
              <a:spcAft>
                <a:spcPts val="500"/>
              </a:spcAft>
              <a:buSzPct val="100000"/>
              <a:buChar char="■"/>
            </a:pPr>
            <a:r>
              <a:rPr lang="en-US" sz="1150" dirty="0">
                <a:solidFill>
                  <a:srgbClr val="3F3F3F"/>
                </a:solidFill>
                <a:latin typeface="Calibri" pitchFamily="34" charset="0"/>
                <a:ea typeface="Calibri" pitchFamily="34" charset="-122"/>
                <a:cs typeface="Calibri" pitchFamily="34" charset="-120"/>
              </a:rPr>
              <a:t>Brown, S. (2023). The C4 Model for Visualising Software Architecture. Recuperado de https://c4model.com.</a:t>
            </a:r>
            <a:endParaRPr lang="en-US" sz="1150" dirty="0"/>
          </a:p>
          <a:p>
            <a:pPr marL="342900" indent="-342900">
              <a:spcAft>
                <a:spcPts val="500"/>
              </a:spcAft>
              <a:buSzPct val="100000"/>
              <a:buChar char="■"/>
            </a:pPr>
            <a:r>
              <a:rPr lang="en-US" sz="1150" dirty="0">
                <a:solidFill>
                  <a:srgbClr val="3F3F3F"/>
                </a:solidFill>
                <a:latin typeface="Calibri" pitchFamily="34" charset="0"/>
                <a:ea typeface="Calibri" pitchFamily="34" charset="-122"/>
                <a:cs typeface="Calibri" pitchFamily="34" charset="-120"/>
              </a:rPr>
              <a:t>Nygard, M. (2011). Documenting Architecture Decisions. Cognitect Blog.</a:t>
            </a:r>
            <a:endParaRPr lang="en-US" sz="1150" dirty="0"/>
          </a:p>
          <a:p>
            <a:pPr marL="342900" indent="-342900">
              <a:spcAft>
                <a:spcPts val="500"/>
              </a:spcAft>
              <a:buSzPct val="100000"/>
              <a:buChar char="■"/>
            </a:pPr>
            <a:r>
              <a:rPr lang="en-US" sz="1150" dirty="0">
                <a:solidFill>
                  <a:srgbClr val="3F3F3F"/>
                </a:solidFill>
                <a:latin typeface="Calibri" pitchFamily="34" charset="0"/>
                <a:ea typeface="Calibri" pitchFamily="34" charset="-122"/>
                <a:cs typeface="Calibri" pitchFamily="34" charset="-120"/>
              </a:rPr>
              <a:t>International Organization for Standardization. (2023). ISO/IEC 25010:2023 -- Systems and software Quality Requirements and Evaluation (SQuaRE). ISO.</a:t>
            </a:r>
            <a:endParaRPr lang="en-US" sz="1150" dirty="0"/>
          </a:p>
          <a:p>
            <a:pPr marL="342900" indent="-342900">
              <a:spcAft>
                <a:spcPts val="500"/>
              </a:spcAft>
              <a:buSzPct val="100000"/>
              <a:buChar char="■"/>
            </a:pPr>
            <a:r>
              <a:rPr lang="en-US" sz="1150" dirty="0">
                <a:solidFill>
                  <a:srgbClr val="3F3F3F"/>
                </a:solidFill>
                <a:latin typeface="Calibri" pitchFamily="34" charset="0"/>
                <a:ea typeface="Calibri" pitchFamily="34" charset="-122"/>
                <a:cs typeface="Calibri" pitchFamily="34" charset="-120"/>
              </a:rPr>
              <a:t>Fielding, R. T. (2000). Architectural Styles and the Design of Network-based Software Architectures [Tesis doctoral, University of California, Irvine].</a:t>
            </a:r>
            <a:endParaRPr lang="en-US" sz="1150" dirty="0"/>
          </a:p>
          <a:p>
            <a:pPr marL="342900" indent="-342900">
              <a:spcAft>
                <a:spcPts val="500"/>
              </a:spcAft>
              <a:buSzPct val="100000"/>
              <a:buChar char="■"/>
            </a:pPr>
            <a:r>
              <a:rPr lang="en-US" sz="1150" dirty="0">
                <a:solidFill>
                  <a:srgbClr val="3F3F3F"/>
                </a:solidFill>
                <a:latin typeface="Calibri" pitchFamily="34" charset="0"/>
                <a:ea typeface="Calibri" pitchFamily="34" charset="-122"/>
                <a:cs typeface="Calibri" pitchFamily="34" charset="-120"/>
              </a:rPr>
              <a:t>Washizaki, H. (Ed.). (2024). SWEBOK Guide v4.0: Software Engineering Body of Knowledge. IEEE Computer Society.</a:t>
            </a:r>
            <a:endParaRPr lang="en-US" sz="1150" dirty="0"/>
          </a:p>
        </p:txBody>
      </p:sp>
      <p:sp>
        <p:nvSpPr>
          <p:cNvPr id="6" name="Text 4"/>
          <p:cNvSpPr/>
          <p:nvPr/>
        </p:nvSpPr>
        <p:spPr>
          <a:xfrm>
            <a:off x="457200" y="6355080"/>
            <a:ext cx="11247120" cy="274320"/>
          </a:xfrm>
          <a:prstGeom prst="rect">
            <a:avLst/>
          </a:prstGeom>
          <a:noFill/>
          <a:ln/>
        </p:spPr>
        <p:txBody>
          <a:bodyPr wrap="square" lIns="0" tIns="0" rIns="0" bIns="0"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Todas las referencias han sido verificadas contra sus fuentes primarias (editoriales, DOI, ISBN, sitios oficiales de estandar).</a:t>
            </a:r>
            <a:endParaRPr lang="en-US" sz="10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8" name="Text 6"/>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-- 30 / 32</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320040"/>
          </a:xfrm>
          <a:prstGeom prst="rect">
            <a:avLst/>
          </a:prstGeom>
          <a:noFill/>
          <a:ln/>
        </p:spPr>
        <p:txBody>
          <a:bodyPr wrap="square" rtlCol="0" anchor="ctr"/>
          <a:lstStyle/>
          <a:p>
            <a:pPr marL="0" indent="0">
              <a:buNone/>
            </a:pPr>
            <a:r>
              <a:rPr lang="en-US" sz="1200" b="1" kern="0" spc="200" dirty="0">
                <a:solidFill>
                  <a:srgbClr val="006633"/>
                </a:solidFill>
                <a:latin typeface="Calibri" pitchFamily="34" charset="0"/>
                <a:ea typeface="Calibri" pitchFamily="34" charset="-122"/>
                <a:cs typeface="Calibri" pitchFamily="34" charset="-120"/>
              </a:rPr>
              <a:t>RESUMEN</a:t>
            </a:r>
            <a:endParaRPr lang="en-US" sz="1200" dirty="0"/>
          </a:p>
        </p:txBody>
      </p:sp>
      <p:sp>
        <p:nvSpPr>
          <p:cNvPr id="3" name="Text 1"/>
          <p:cNvSpPr/>
          <p:nvPr/>
        </p:nvSpPr>
        <p:spPr>
          <a:xfrm>
            <a:off x="457200" y="566928"/>
            <a:ext cx="11247120" cy="777240"/>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Sintesis del tema en una diapositiva</a:t>
            </a:r>
            <a:endParaRPr lang="en-US" sz="3000" dirty="0"/>
          </a:p>
        </p:txBody>
      </p:sp>
      <p:sp>
        <p:nvSpPr>
          <p:cNvPr id="4" name="Shape 2"/>
          <p:cNvSpPr/>
          <p:nvPr/>
        </p:nvSpPr>
        <p:spPr>
          <a:xfrm>
            <a:off x="457200" y="1389888"/>
            <a:ext cx="1097280" cy="54864"/>
          </a:xfrm>
          <a:prstGeom prst="rect">
            <a:avLst/>
          </a:prstGeom>
          <a:solidFill>
            <a:srgbClr val="CC9900"/>
          </a:solidFill>
          <a:ln w="12700">
            <a:solidFill>
              <a:srgbClr val="CC9900"/>
            </a:solidFill>
            <a:prstDash val="solid"/>
          </a:ln>
        </p:spPr>
      </p:sp>
      <p:sp>
        <p:nvSpPr>
          <p:cNvPr id="5" name="Shape 3"/>
          <p:cNvSpPr/>
          <p:nvPr/>
        </p:nvSpPr>
        <p:spPr>
          <a:xfrm>
            <a:off x="457200" y="1691640"/>
            <a:ext cx="2697480" cy="4480560"/>
          </a:xfrm>
          <a:prstGeom prst="roundRect">
            <a:avLst>
              <a:gd name="adj" fmla="val 2712"/>
            </a:avLst>
          </a:prstGeom>
          <a:solidFill>
            <a:srgbClr val="FFFFFF"/>
          </a:solidFill>
          <a:ln w="19050">
            <a:solidFill>
              <a:srgbClr val="006633"/>
            </a:solidFill>
            <a:prstDash val="solid"/>
          </a:ln>
        </p:spPr>
      </p:sp>
      <p:sp>
        <p:nvSpPr>
          <p:cNvPr id="6" name="Shape 4"/>
          <p:cNvSpPr/>
          <p:nvPr/>
        </p:nvSpPr>
        <p:spPr>
          <a:xfrm>
            <a:off x="457200" y="1691640"/>
            <a:ext cx="2697480" cy="502920"/>
          </a:xfrm>
          <a:prstGeom prst="rect">
            <a:avLst/>
          </a:prstGeom>
          <a:solidFill>
            <a:srgbClr val="006633"/>
          </a:solidFill>
          <a:ln w="12700">
            <a:solidFill>
              <a:srgbClr val="006633"/>
            </a:solidFill>
            <a:prstDash val="solid"/>
          </a:ln>
        </p:spPr>
      </p:sp>
      <p:sp>
        <p:nvSpPr>
          <p:cNvPr id="7" name="Text 5"/>
          <p:cNvSpPr/>
          <p:nvPr/>
        </p:nvSpPr>
        <p:spPr>
          <a:xfrm>
            <a:off x="457200" y="1691640"/>
            <a:ext cx="26974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 Principios</a:t>
            </a:r>
            <a:endParaRPr lang="en-US" sz="1300" dirty="0"/>
          </a:p>
        </p:txBody>
      </p:sp>
      <p:sp>
        <p:nvSpPr>
          <p:cNvPr id="8" name="Text 6"/>
          <p:cNvSpPr/>
          <p:nvPr/>
        </p:nvSpPr>
        <p:spPr>
          <a:xfrm>
            <a:off x="594360" y="2331720"/>
            <a:ext cx="2514600" cy="37490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Arquitectura = decisiones caras.</a:t>
            </a:r>
            <a:endParaRPr lang="en-US" sz="1100" dirty="0"/>
          </a:p>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SOLID en modulos.</a:t>
            </a:r>
            <a:endParaRPr lang="en-US" sz="1100" dirty="0"/>
          </a:p>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SoC, cohesion, acoplamiento.</a:t>
            </a:r>
            <a:endParaRPr lang="en-US" sz="1100" dirty="0"/>
          </a:p>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Dependencias unidireccionales.</a:t>
            </a:r>
            <a:endParaRPr lang="en-US" sz="1100" dirty="0"/>
          </a:p>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Trade-offs ISO 25010.</a:t>
            </a:r>
            <a:endParaRPr lang="en-US" sz="1100" dirty="0"/>
          </a:p>
        </p:txBody>
      </p:sp>
      <p:sp>
        <p:nvSpPr>
          <p:cNvPr id="9" name="Shape 7"/>
          <p:cNvSpPr/>
          <p:nvPr/>
        </p:nvSpPr>
        <p:spPr>
          <a:xfrm>
            <a:off x="3246120" y="1691640"/>
            <a:ext cx="2697480" cy="4480560"/>
          </a:xfrm>
          <a:prstGeom prst="roundRect">
            <a:avLst>
              <a:gd name="adj" fmla="val 2712"/>
            </a:avLst>
          </a:prstGeom>
          <a:solidFill>
            <a:srgbClr val="FFFFFF"/>
          </a:solidFill>
          <a:ln w="19050">
            <a:solidFill>
              <a:srgbClr val="1B7A48"/>
            </a:solidFill>
            <a:prstDash val="solid"/>
          </a:ln>
        </p:spPr>
      </p:sp>
      <p:sp>
        <p:nvSpPr>
          <p:cNvPr id="10" name="Shape 8"/>
          <p:cNvSpPr/>
          <p:nvPr/>
        </p:nvSpPr>
        <p:spPr>
          <a:xfrm>
            <a:off x="3246120" y="1691640"/>
            <a:ext cx="2697480" cy="502920"/>
          </a:xfrm>
          <a:prstGeom prst="rect">
            <a:avLst/>
          </a:prstGeom>
          <a:solidFill>
            <a:srgbClr val="1B7A48"/>
          </a:solidFill>
          <a:ln w="12700">
            <a:solidFill>
              <a:srgbClr val="1B7A48"/>
            </a:solidFill>
            <a:prstDash val="solid"/>
          </a:ln>
        </p:spPr>
      </p:sp>
      <p:sp>
        <p:nvSpPr>
          <p:cNvPr id="11" name="Text 9"/>
          <p:cNvSpPr/>
          <p:nvPr/>
        </p:nvSpPr>
        <p:spPr>
          <a:xfrm>
            <a:off x="3246120" y="1691640"/>
            <a:ext cx="26974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 Capas</a:t>
            </a:r>
            <a:endParaRPr lang="en-US" sz="1300" dirty="0"/>
          </a:p>
        </p:txBody>
      </p:sp>
      <p:sp>
        <p:nvSpPr>
          <p:cNvPr id="12" name="Text 10"/>
          <p:cNvSpPr/>
          <p:nvPr/>
        </p:nvSpPr>
        <p:spPr>
          <a:xfrm>
            <a:off x="3383280" y="2331720"/>
            <a:ext cx="2514600" cy="37490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3-4 capas horizontales.</a:t>
            </a:r>
            <a:endParaRPr lang="en-US" sz="1100" dirty="0"/>
          </a:p>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Dependencias descendentes.</a:t>
            </a:r>
            <a:endParaRPr lang="en-US" sz="1100" dirty="0"/>
          </a:p>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Presentacion, Servicio, Repo, BD.</a:t>
            </a:r>
            <a:endParaRPr lang="en-US" sz="1100" dirty="0"/>
          </a:p>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Hexagonal como refinamiento.</a:t>
            </a:r>
            <a:endParaRPr lang="en-US" sz="1100" dirty="0"/>
          </a:p>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El default sensato del PFC.</a:t>
            </a:r>
            <a:endParaRPr lang="en-US" sz="1100" dirty="0"/>
          </a:p>
        </p:txBody>
      </p:sp>
      <p:sp>
        <p:nvSpPr>
          <p:cNvPr id="13" name="Shape 11"/>
          <p:cNvSpPr/>
          <p:nvPr/>
        </p:nvSpPr>
        <p:spPr>
          <a:xfrm>
            <a:off x="6035040" y="1691640"/>
            <a:ext cx="2697480" cy="4480560"/>
          </a:xfrm>
          <a:prstGeom prst="roundRect">
            <a:avLst>
              <a:gd name="adj" fmla="val 2712"/>
            </a:avLst>
          </a:prstGeom>
          <a:solidFill>
            <a:srgbClr val="FFFFFF"/>
          </a:solidFill>
          <a:ln w="19050">
            <a:solidFill>
              <a:srgbClr val="CC9900"/>
            </a:solidFill>
            <a:prstDash val="solid"/>
          </a:ln>
        </p:spPr>
      </p:sp>
      <p:sp>
        <p:nvSpPr>
          <p:cNvPr id="14" name="Shape 12"/>
          <p:cNvSpPr/>
          <p:nvPr/>
        </p:nvSpPr>
        <p:spPr>
          <a:xfrm>
            <a:off x="6035040" y="1691640"/>
            <a:ext cx="2697480" cy="502920"/>
          </a:xfrm>
          <a:prstGeom prst="rect">
            <a:avLst/>
          </a:prstGeom>
          <a:solidFill>
            <a:srgbClr val="CC9900"/>
          </a:solidFill>
          <a:ln w="12700">
            <a:solidFill>
              <a:srgbClr val="CC9900"/>
            </a:solidFill>
            <a:prstDash val="solid"/>
          </a:ln>
        </p:spPr>
      </p:sp>
      <p:sp>
        <p:nvSpPr>
          <p:cNvPr id="15" name="Text 13"/>
          <p:cNvSpPr/>
          <p:nvPr/>
        </p:nvSpPr>
        <p:spPr>
          <a:xfrm>
            <a:off x="6035040" y="1691640"/>
            <a:ext cx="26974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 Pizarra / EDA / P2P</a:t>
            </a:r>
            <a:endParaRPr lang="en-US" sz="1300" dirty="0"/>
          </a:p>
        </p:txBody>
      </p:sp>
      <p:sp>
        <p:nvSpPr>
          <p:cNvPr id="16" name="Text 14"/>
          <p:cNvSpPr/>
          <p:nvPr/>
        </p:nvSpPr>
        <p:spPr>
          <a:xfrm>
            <a:off x="6172200" y="2331720"/>
            <a:ext cx="2514600" cy="37490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Pizarra: heuristicas cooperando.</a:t>
            </a:r>
            <a:endParaRPr lang="en-US" sz="1100" dirty="0"/>
          </a:p>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EDA: eventos, broker, desacople.</a:t>
            </a:r>
            <a:endParaRPr lang="en-US" sz="1100" dirty="0"/>
          </a:p>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P2P: nodos iguales, sin central.</a:t>
            </a:r>
            <a:endParaRPr lang="en-US" sz="1100" dirty="0"/>
          </a:p>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EDA aplica al PFC; los otros no.</a:t>
            </a:r>
            <a:endParaRPr lang="en-US" sz="1100" dirty="0"/>
          </a:p>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Consistencia eventual.</a:t>
            </a:r>
            <a:endParaRPr lang="en-US" sz="1100" dirty="0"/>
          </a:p>
        </p:txBody>
      </p:sp>
      <p:sp>
        <p:nvSpPr>
          <p:cNvPr id="17" name="Shape 15"/>
          <p:cNvSpPr/>
          <p:nvPr/>
        </p:nvSpPr>
        <p:spPr>
          <a:xfrm>
            <a:off x="8823960" y="1691640"/>
            <a:ext cx="2697480" cy="4480560"/>
          </a:xfrm>
          <a:prstGeom prst="roundRect">
            <a:avLst>
              <a:gd name="adj" fmla="val 2712"/>
            </a:avLst>
          </a:prstGeom>
          <a:solidFill>
            <a:srgbClr val="FFFFFF"/>
          </a:solidFill>
          <a:ln w="19050">
            <a:solidFill>
              <a:srgbClr val="E6B833"/>
            </a:solidFill>
            <a:prstDash val="solid"/>
          </a:ln>
        </p:spPr>
      </p:sp>
      <p:sp>
        <p:nvSpPr>
          <p:cNvPr id="18" name="Shape 16"/>
          <p:cNvSpPr/>
          <p:nvPr/>
        </p:nvSpPr>
        <p:spPr>
          <a:xfrm>
            <a:off x="8823960" y="1691640"/>
            <a:ext cx="2697480" cy="502920"/>
          </a:xfrm>
          <a:prstGeom prst="rect">
            <a:avLst/>
          </a:prstGeom>
          <a:solidFill>
            <a:srgbClr val="E6B833"/>
          </a:solidFill>
          <a:ln w="12700">
            <a:solidFill>
              <a:srgbClr val="E6B833"/>
            </a:solidFill>
            <a:prstDash val="solid"/>
          </a:ln>
        </p:spPr>
      </p:sp>
      <p:sp>
        <p:nvSpPr>
          <p:cNvPr id="19" name="Text 17"/>
          <p:cNvSpPr/>
          <p:nvPr/>
        </p:nvSpPr>
        <p:spPr>
          <a:xfrm>
            <a:off x="8823960" y="1691640"/>
            <a:ext cx="26974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 SOA / Microservicios</a:t>
            </a:r>
            <a:endParaRPr lang="en-US" sz="1300" dirty="0"/>
          </a:p>
        </p:txBody>
      </p:sp>
      <p:sp>
        <p:nvSpPr>
          <p:cNvPr id="20" name="Text 18"/>
          <p:cNvSpPr/>
          <p:nvPr/>
        </p:nvSpPr>
        <p:spPr>
          <a:xfrm>
            <a:off x="8961120" y="2331720"/>
            <a:ext cx="2514600" cy="37490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SOA: ESB, WSDL, integraciones.</a:t>
            </a:r>
            <a:endParaRPr lang="en-US" sz="1100" dirty="0"/>
          </a:p>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Microservicios: autonomos por dominio.</a:t>
            </a:r>
            <a:endParaRPr lang="en-US" sz="1100" dirty="0"/>
          </a:p>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API Gateway, Circuit Breaker, Saga.</a:t>
            </a:r>
            <a:endParaRPr lang="en-US" sz="1100" dirty="0"/>
          </a:p>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Monolith-first (Fowler).</a:t>
            </a:r>
            <a:endParaRPr lang="en-US" sz="1100" dirty="0"/>
          </a:p>
          <a:p>
            <a:pPr marL="342900" indent="-342900">
              <a:spcAft>
                <a:spcPts val="600"/>
              </a:spcAft>
              <a:buSzPct val="100000"/>
              <a:buChar char="■"/>
            </a:pPr>
            <a:r>
              <a:rPr lang="en-US" sz="1100" dirty="0">
                <a:solidFill>
                  <a:srgbClr val="3F3F3F"/>
                </a:solidFill>
                <a:latin typeface="Calibri" pitchFamily="34" charset="0"/>
                <a:ea typeface="Calibri" pitchFamily="34" charset="-122"/>
                <a:cs typeface="Calibri" pitchFamily="34" charset="-120"/>
              </a:rPr>
              <a:t>Para el PFC: NO microservicios.</a:t>
            </a:r>
            <a:endParaRPr lang="en-US" sz="1100" dirty="0"/>
          </a:p>
        </p:txBody>
      </p:sp>
      <p:sp>
        <p:nvSpPr>
          <p:cNvPr id="21" name="Shape 19"/>
          <p:cNvSpPr/>
          <p:nvPr/>
        </p:nvSpPr>
        <p:spPr>
          <a:xfrm>
            <a:off x="457200" y="6309360"/>
            <a:ext cx="11247120" cy="320040"/>
          </a:xfrm>
          <a:prstGeom prst="roundRect">
            <a:avLst>
              <a:gd name="adj" fmla="val 11429"/>
            </a:avLst>
          </a:prstGeom>
          <a:solidFill>
            <a:srgbClr val="E6F0EA"/>
          </a:solidFill>
          <a:ln w="6350">
            <a:solidFill>
              <a:srgbClr val="006633"/>
            </a:solidFill>
            <a:prstDash val="solid"/>
          </a:ln>
        </p:spPr>
      </p:sp>
      <p:sp>
        <p:nvSpPr>
          <p:cNvPr id="22" name="Text 20"/>
          <p:cNvSpPr/>
          <p:nvPr/>
        </p:nvSpPr>
        <p:spPr>
          <a:xfrm>
            <a:off x="640080" y="6327648"/>
            <a:ext cx="10972800" cy="283464"/>
          </a:xfrm>
          <a:prstGeom prst="rect">
            <a:avLst/>
          </a:prstGeom>
          <a:noFill/>
          <a:ln/>
        </p:spPr>
        <p:txBody>
          <a:bodyPr wrap="square" lIns="0" tIns="0" rIns="0" bIns="0" rtlCol="0" anchor="ctr"/>
          <a:lstStyle/>
          <a:p>
            <a:pPr marL="0" indent="0">
              <a:buNone/>
            </a:pPr>
            <a:r>
              <a:rPr lang="en-US" sz="1200" b="1" i="1" dirty="0">
                <a:solidFill>
                  <a:srgbClr val="006633"/>
                </a:solidFill>
                <a:latin typeface="Calibri" pitchFamily="34" charset="0"/>
                <a:ea typeface="Calibri" pitchFamily="34" charset="-122"/>
                <a:cs typeface="Calibri" pitchFamily="34" charset="-120"/>
              </a:rPr>
              <a:t>La arquitectura no se elige; se justifica.  </a:t>
            </a:r>
            <a:r>
              <a:rPr lang="en-US" sz="1200" dirty="0">
                <a:solidFill>
                  <a:srgbClr val="3F3F3F"/>
                </a:solidFill>
                <a:latin typeface="Calibri" pitchFamily="34" charset="0"/>
                <a:ea typeface="Calibri" pitchFamily="34" charset="-122"/>
                <a:cs typeface="Calibri" pitchFamily="34" charset="-120"/>
              </a:rPr>
              <a:t>Documente cada decision con ADR + C4.</a:t>
            </a:r>
            <a:endParaRPr lang="en-US" sz="1200" dirty="0"/>
          </a:p>
        </p:txBody>
      </p:sp>
      <p:sp>
        <p:nvSpPr>
          <p:cNvPr id="23" name="Text 21"/>
          <p:cNvSpPr/>
          <p:nvPr/>
        </p:nvSpPr>
        <p:spPr>
          <a:xfrm>
            <a:off x="457200" y="644652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Aplicaciones Web | UTEQ | Dr. Guerrero Ulloa</a:t>
            </a:r>
            <a:endParaRPr lang="en-US" sz="900" dirty="0"/>
          </a:p>
        </p:txBody>
      </p:sp>
      <p:sp>
        <p:nvSpPr>
          <p:cNvPr id="24" name="Text 22"/>
          <p:cNvSpPr/>
          <p:nvPr/>
        </p:nvSpPr>
        <p:spPr>
          <a:xfrm>
            <a:off x="7772400" y="6446520"/>
            <a:ext cx="393192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Patrones de arquitectura -- 31 / 32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6633"/>
        </a:solidFill>
        <a:effectLst/>
      </p:bgPr>
    </p:bg>
    <p:spTree>
      <p:nvGrpSpPr>
        <p:cNvPr id="1" name=""/>
        <p:cNvGrpSpPr/>
        <p:nvPr/>
      </p:nvGrpSpPr>
      <p:grpSpPr>
        <a:xfrm>
          <a:off x="0" y="0"/>
          <a:ext cx="0" cy="0"/>
          <a:chOff x="0" y="0"/>
          <a:chExt cx="0" cy="0"/>
        </a:xfrm>
      </p:grpSpPr>
      <p:sp>
        <p:nvSpPr>
          <p:cNvPr id="2" name="Text 0"/>
          <p:cNvSpPr/>
          <p:nvPr/>
        </p:nvSpPr>
        <p:spPr>
          <a:xfrm>
            <a:off x="548640" y="1371600"/>
            <a:ext cx="11247120" cy="1280160"/>
          </a:xfrm>
          <a:prstGeom prst="rect">
            <a:avLst/>
          </a:prstGeom>
          <a:noFill/>
          <a:ln/>
        </p:spPr>
        <p:txBody>
          <a:bodyPr wrap="square" rtlCol="0" anchor="ctr"/>
          <a:lstStyle/>
          <a:p>
            <a:pPr marL="0" indent="0">
              <a:buNone/>
            </a:pPr>
            <a:r>
              <a:rPr lang="en-US" sz="6800" b="1" dirty="0">
                <a:solidFill>
                  <a:srgbClr val="FFFFFF"/>
                </a:solidFill>
                <a:latin typeface="Cambria" pitchFamily="34" charset="0"/>
                <a:ea typeface="Cambria" pitchFamily="34" charset="-122"/>
                <a:cs typeface="Cambria" pitchFamily="34" charset="-120"/>
              </a:rPr>
              <a:t>Gracias</a:t>
            </a:r>
            <a:endParaRPr lang="en-US" sz="6800" dirty="0"/>
          </a:p>
        </p:txBody>
      </p:sp>
      <p:sp>
        <p:nvSpPr>
          <p:cNvPr id="3" name="Text 1"/>
          <p:cNvSpPr/>
          <p:nvPr/>
        </p:nvSpPr>
        <p:spPr>
          <a:xfrm>
            <a:off x="548640" y="2651760"/>
            <a:ext cx="11247120" cy="548640"/>
          </a:xfrm>
          <a:prstGeom prst="rect">
            <a:avLst/>
          </a:prstGeom>
          <a:noFill/>
          <a:ln/>
        </p:spPr>
        <p:txBody>
          <a:bodyPr wrap="square" rtlCol="0" anchor="ctr"/>
          <a:lstStyle/>
          <a:p>
            <a:pPr marL="0" indent="0">
              <a:buNone/>
            </a:pPr>
            <a:r>
              <a:rPr lang="en-US" sz="2600" i="1" dirty="0">
                <a:solidFill>
                  <a:srgbClr val="E6B833"/>
                </a:solidFill>
                <a:latin typeface="Cambria" pitchFamily="34" charset="0"/>
                <a:ea typeface="Cambria" pitchFamily="34" charset="-122"/>
                <a:cs typeface="Cambria" pitchFamily="34" charset="-120"/>
              </a:rPr>
              <a:t>Preguntas y discusion abierta</a:t>
            </a:r>
            <a:endParaRPr lang="en-US" sz="2600" dirty="0"/>
          </a:p>
        </p:txBody>
      </p:sp>
      <p:sp>
        <p:nvSpPr>
          <p:cNvPr id="4" name="Shape 2"/>
          <p:cNvSpPr/>
          <p:nvPr/>
        </p:nvSpPr>
        <p:spPr>
          <a:xfrm>
            <a:off x="9509760" y="4114800"/>
            <a:ext cx="2926080" cy="2926080"/>
          </a:xfrm>
          <a:prstGeom prst="ellipse">
            <a:avLst/>
          </a:prstGeom>
          <a:solidFill>
            <a:srgbClr val="CC9900">
              <a:alpha val="75000"/>
            </a:srgbClr>
          </a:solidFill>
          <a:ln w="12700">
            <a:solidFill>
              <a:srgbClr val="CC9900"/>
            </a:solidFill>
            <a:prstDash val="solid"/>
          </a:ln>
        </p:spPr>
      </p:sp>
      <p:sp>
        <p:nvSpPr>
          <p:cNvPr id="5" name="Shape 3"/>
          <p:cNvSpPr/>
          <p:nvPr/>
        </p:nvSpPr>
        <p:spPr>
          <a:xfrm>
            <a:off x="10241280" y="4846320"/>
            <a:ext cx="1463040" cy="1463040"/>
          </a:xfrm>
          <a:prstGeom prst="ellipse">
            <a:avLst/>
          </a:prstGeom>
          <a:solidFill>
            <a:srgbClr val="CC9900"/>
          </a:solidFill>
          <a:ln w="25400">
            <a:solidFill>
              <a:srgbClr val="FFFFFF"/>
            </a:solidFill>
            <a:prstDash val="solid"/>
          </a:ln>
        </p:spPr>
      </p:sp>
      <p:sp>
        <p:nvSpPr>
          <p:cNvPr id="6" name="Text 4"/>
          <p:cNvSpPr/>
          <p:nvPr/>
        </p:nvSpPr>
        <p:spPr>
          <a:xfrm>
            <a:off x="10241280" y="4846320"/>
            <a:ext cx="1463040" cy="1463040"/>
          </a:xfrm>
          <a:prstGeom prst="rect">
            <a:avLst/>
          </a:prstGeom>
          <a:noFill/>
          <a:ln/>
        </p:spPr>
        <p:txBody>
          <a:bodyPr wrap="square" lIns="0" tIns="0" rIns="0" bIns="0" rtlCol="0" anchor="ctr"/>
          <a:lstStyle/>
          <a:p>
            <a:pPr marL="0" indent="0" algn="ctr">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7" name="Shape 5"/>
          <p:cNvSpPr/>
          <p:nvPr/>
        </p:nvSpPr>
        <p:spPr>
          <a:xfrm>
            <a:off x="548640" y="4206240"/>
            <a:ext cx="8229600" cy="1828800"/>
          </a:xfrm>
          <a:prstGeom prst="roundRect">
            <a:avLst>
              <a:gd name="adj" fmla="val 5000"/>
            </a:avLst>
          </a:prstGeom>
          <a:solidFill>
            <a:srgbClr val="1B7A48"/>
          </a:solidFill>
          <a:ln w="12700">
            <a:solidFill>
              <a:srgbClr val="CC9900"/>
            </a:solidFill>
            <a:prstDash val="solid"/>
          </a:ln>
        </p:spPr>
      </p:sp>
      <p:sp>
        <p:nvSpPr>
          <p:cNvPr id="8" name="Text 6"/>
          <p:cNvSpPr/>
          <p:nvPr/>
        </p:nvSpPr>
        <p:spPr>
          <a:xfrm>
            <a:off x="777240" y="4343400"/>
            <a:ext cx="7772400" cy="155448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Dr. Gleiston Ciceron Guerrero Ulloa, Ph.D.
</a:t>
            </a:r>
            <a:r>
              <a:rPr lang="en-US" sz="1300" dirty="0">
                <a:solidFill>
                  <a:srgbClr val="C8E6D2"/>
                </a:solidFill>
                <a:latin typeface="Calibri" pitchFamily="34" charset="0"/>
                <a:ea typeface="Calibri" pitchFamily="34" charset="-122"/>
                <a:cs typeface="Calibri" pitchFamily="34" charset="-120"/>
              </a:rPr>
              <a:t>Facultad de Ciencias de la Computacion y Diseno Digital -- UTEQ
</a:t>
            </a:r>
            <a:r>
              <a:rPr lang="en-US" sz="1300" b="1" dirty="0">
                <a:solidFill>
                  <a:srgbClr val="E6B833"/>
                </a:solidFill>
                <a:latin typeface="Calibri" pitchFamily="34" charset="0"/>
                <a:ea typeface="Calibri" pitchFamily="34" charset="-122"/>
                <a:cs typeface="Calibri" pitchFamily="34" charset="-120"/>
              </a:rPr>
              <a:t>Correo:  </a:t>
            </a:r>
            <a:r>
              <a:rPr lang="en-US" sz="1300" dirty="0">
                <a:solidFill>
                  <a:srgbClr val="FFFFFF"/>
                </a:solidFill>
                <a:latin typeface="Calibri" pitchFamily="34" charset="0"/>
                <a:ea typeface="Calibri" pitchFamily="34" charset="-122"/>
                <a:cs typeface="Calibri" pitchFamily="34" charset="-120"/>
              </a:rPr>
              <a:t>gguerrero@uteq.edu.ec
</a:t>
            </a:r>
            <a:r>
              <a:rPr lang="en-US" sz="1300" b="1" dirty="0">
                <a:solidFill>
                  <a:srgbClr val="E6B833"/>
                </a:solidFill>
                <a:latin typeface="Calibri" pitchFamily="34" charset="0"/>
                <a:ea typeface="Calibri" pitchFamily="34" charset="-122"/>
                <a:cs typeface="Calibri" pitchFamily="34" charset="-120"/>
              </a:rPr>
              <a:t>ORCID:  </a:t>
            </a:r>
            <a:r>
              <a:rPr lang="en-US" sz="1300" dirty="0">
                <a:solidFill>
                  <a:srgbClr val="FFFFFF"/>
                </a:solidFill>
                <a:latin typeface="Calibri" pitchFamily="34" charset="0"/>
                <a:ea typeface="Calibri" pitchFamily="34" charset="-122"/>
                <a:cs typeface="Calibri" pitchFamily="34" charset="-120"/>
              </a:rPr>
              <a:t>0000-0003-3391-0295</a:t>
            </a:r>
            <a:endParaRPr lang="en-US" sz="1800" dirty="0"/>
          </a:p>
        </p:txBody>
      </p:sp>
      <p:sp>
        <p:nvSpPr>
          <p:cNvPr id="9" name="Text 7"/>
          <p:cNvSpPr/>
          <p:nvPr/>
        </p:nvSpPr>
        <p:spPr>
          <a:xfrm>
            <a:off x="548640" y="6355080"/>
            <a:ext cx="10972800" cy="274320"/>
          </a:xfrm>
          <a:prstGeom prst="rect">
            <a:avLst/>
          </a:prstGeom>
          <a:noFill/>
          <a:ln/>
        </p:spPr>
        <p:txBody>
          <a:bodyPr wrap="square" rtlCol="0" anchor="ctr"/>
          <a:lstStyle/>
          <a:p>
            <a:pPr marL="0" indent="0">
              <a:buNone/>
            </a:pPr>
            <a:r>
              <a:rPr lang="en-US" sz="1000" i="1" dirty="0">
                <a:solidFill>
                  <a:srgbClr val="C8E6D2"/>
                </a:solidFill>
                <a:latin typeface="Calibri" pitchFamily="34" charset="0"/>
                <a:ea typeface="Calibri" pitchFamily="34" charset="-122"/>
                <a:cs typeface="Calibri" pitchFamily="34" charset="-120"/>
              </a:rPr>
              <a:t>Aplicaciones Web  |  Unidad III  |  Tema 3  |  PPA 2026-2027  |  UTEQ</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7613</Words>
  <Application>Microsoft Office PowerPoint</Application>
  <PresentationFormat>Panorámica</PresentationFormat>
  <Paragraphs>768</Paragraphs>
  <Slides>32</Slides>
  <Notes>32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32</vt:i4>
      </vt:variant>
    </vt:vector>
  </HeadingPairs>
  <TitlesOfParts>
    <vt:vector size="37"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UTEQ - Facultad de Ciencias de la Computacion y Diseno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Patrones de arquitectura para aplicaciones web</dc:title>
  <dc:subject>PptxGenJS Presentation</dc:subject>
  <dc:creator>Dr. Gleiston Guerrero Ulloa, Ph.D.</dc:creator>
  <cp:lastModifiedBy>GLEISTON CICERON GUERRERO ULLOA</cp:lastModifiedBy>
  <cp:revision>1</cp:revision>
  <dcterms:created xsi:type="dcterms:W3CDTF">2026-07-20T12:56:09Z</dcterms:created>
  <dcterms:modified xsi:type="dcterms:W3CDTF">2026-07-20T13:20:34Z</dcterms:modified>
</cp:coreProperties>
</file>