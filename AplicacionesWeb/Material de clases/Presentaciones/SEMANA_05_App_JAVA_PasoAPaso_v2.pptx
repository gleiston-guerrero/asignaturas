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Esta presentacion resume la guia completa de desarrollo web con Java. La idea central: aprendemos primero la tecnologia base (servlets, JSP, JSTL, EL) para entender que ocurre por debajo, y luego usamos frameworks (Spring Boot y Jakarta Faces) que automatizan ese trabajo. Todo gira en torno a un proyecto real: un sistema con login, control de acceso, CRUD, reportes y reportes impresos.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guia tiene dos partes. En la Parte I construimos todo con tecnologia base de Java, para comprender el mecanismo. En la Parte II rehacemos lo mismo con frameworks. El metodo es siempre el mismo y es importante recalcarlo: primero se presenta el problema concreto a resolver, luego la tecnica, y por ultimo un ejemplo pequeno pero completo. Al final se ensambla el problema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mental de toda la guia. El navegador hace una peticion; el contenedor (Tomcat) la entrega al controlador (un servlet); el controlador pide datos al servicio; el servicio usa el DAO para hablar con la base; y el resultado se presenta con una vista JSP. Insistir en dos ideas: HTTP no tiene estado (de ahi la necesidad de sesiones) y la separacion por capas es lo que mantiene el orden cuando el proyecto crece.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entorno son tres piezas: el JDK para compilar y ejecutar, Tomcat 11 como contenedor que ejecuta la aplicacion, y Maven para construir y empaquetar en un WAR. Un punto importante de nomenclatura: desde Jakarta EE 9 los paquetes son jakarta.* en vez de javax.*; si encuentran ejemplos con javax.servlet, son antiguos y no funcionaran en Tomcat 11. Las versiones de la tabla estan verificadas a junio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la Parte I. Aqui construimos la aplicacion con la tecnologia base de Java, sin frameworks. El objetivo no es solo que funcione, sino que entiendan que hace cada pieza, porque eso es lo que despues les permitira aprovechar de verdad un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servlet es la pieza central del lado del servidor: una clase Java que el contenedor ejecuta para atender peticiones HTTP. Se hereda de HttpServlet y se sobreescriben doGet (abrir una pagina) y doPost (enviar un formulario). La anotacion WebServlet lo asocia a una URL. El contenedor crea una sola instancia y la reutiliza. En el patron MVC, el servlet hace de controlador: recibe, decide y delega.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del formulario se leen con getParameter, que devuelve texto. Como vienen del exterior, hay que validarlos siempre en el servidor. Lo importante del fragmento es el final: el servlet no escribe HTML, sino que guarda el dato como atributo y reenvia (forward) a una JSP. Ese es el patron MVC en accion: el servlet controla, la JSP presenta.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JSP resuelve el problema de generar HTML sin ensuciar el servlet. Es, en esencia, HTML con la posibilidad de insertar datos dinamicos. El contenedor la transforma internamente en un servlet. La regla de oro moderna: en una JSP no debe haber codigo Java (scriptlets). Toda la logica vive en el servlet y el servicio; la JSP solo presenta, con EL y JSTL. Las JSP se colocan en WEB-INF para que solo se sirvan a traves de un servlet.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es un mini-lenguaje para acceder a datos en la JSP con la sintaxis llave-dolar. Navega por las propiedades de los objetos llamando automaticamente a sus getters: por eso el modelo se programa con clases JavaBean. Tambien distingue ambitos (request, session, application), lo que nos permitira leer de la sesion quien ha iniciado sesion. Es la pieza que hace posible la regla de no escribir codigo Java en la vista.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JSTL aporta a la vista las estructuras de control en forma de etiquetas: c:forEach para repetir, c:if y c:choose para condicionar, c:url para construir enlaces correctos. Combinada con EL cubre casi todo lo que una vista necesita. Destacar c:out: no solo muestra el valor, lo escapa, convirtiendo caracteres peligrosos en entidades y evitando ataques XSS. Es buena practica usar c:out para todo dato que venga del usuario.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solucion al desorden es separar responsabilidades en capas y aplicar MVC. El modelo son clases JavaBean; el DAO accede a la base; el servicio tiene la logica; el controlador (servlet) coordina; la vista (JSP) presenta. El flujo de una peticion es siempre el mismo y conviene memorizarlo: navegador, controlador, servicio, DAO, base, y de vuelta a la vista. Mantener ese flujo es la clave de un proyecto ordenado.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problemas, dos piezas. El estado del usuario se guarda en la sesion (HttpSession): tras validar las credenciales -comparando un hash BCrypt, nunca texto plano- guardamos al usuario en la sesion. Para el control de acceso usamos un filtro, que intercepta las peticiones a las rutas privadas: si hay usuario en la sesion, deja pasar; si no, redirige al login. Centralizar el control en un filtro es mas seguro que repetir la comprobacion en cada servlet, donde es facil olvidarla.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CRUD reparte el trabajo entre capas. El DAO concentra el acceso a datos y usa siempre PreparedStatement con marcadores interrogante: es la defensa contra la inyeccion SQL. Un unico servlet controlador atiende todas las acciones (listar, nuevo, guardar, editar, eliminar) segun un parametro. Tras una operacion que modifica datos se redirige al listado: es el patron Post-Redirect-Get, que evita que recargar repita la operacion.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reporte se obtiene con una consulta de agregacion (GROUP BY) y se presenta igual que un listado. El DAO devuelve los totales en un mapa ordenado de carrera a cantidad; la vista lo recorre con c:forEach, usando key y value. Es importante que vean que un reporte no es nada nuevo: es el mismo patron de listado, cambiando la consulta.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dos caminos. El sencillo: una hoja de estilos de impresion (@media print) que oculta menus y botones; el usuario imprime o guarda como PDF desde el navegador, sin librerias. El profesional: generar el PDF en el servidor con una libreria como OpenPDF; el servlet fija el tipo de contenido a application/pdf y escribe el documento en la salida. Para reportes complejos con plantillas existe JasperReports.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Aqui esta el problema completo, que es el objetivo de toda la Parte I. Un Sistema de Gestion de Estudiantes con cinco requisitos: inicio de sesion, control de acceso a las paginas, CRUD, reportes y reportes impresos. La clave pedagogica es que cada requisito se resuelve con piezas que ya construimos por separado en las secciones anteriores. Lo unico nuevo es ensamblarlas.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relaciona cada requisito con las piezas concretas que lo resuelven, todas ya programadas: el login con su servlet y servicio; el control de acceso con el filtro; el CRUD con el servlet, el DAO y las vistas; los reportes con la consulta de agregacion; y la impresion con el CSS de impresion y el servlet de PDF. Con esto la Parte I queda completa: una aplicacion funcional construida con tecnologia base, entendiendo cada 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Empieza la Parte II. Resolvemos el mismo problema, pero con frameworks que automatizan gran parte del trabajo. La recompensa de haber hecho la Parte I a mano es que ahora reconoceran, bajo cada funcion del framework, el concepto que ya dominan.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framework aporta resueltos los problemas comunes -enrutamiento, acceso a datos con un ORM, seguridad, transacciones- para que te centres en tu logica. Veremos dos enfoques muy distintos: Spring Boot, basado en inyeccion de dependencias y autoconfiguracion; y Jakarta Faces, basado en componentes dentro del estandar Jakarta EE. Bajo cada uno reconoceran el controlador, la vista, el acceso a datos, la sesion y la transaccion.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parte de un proyecto autoconfigurado: declaras dependencias (starters) y el framework configura el servidor, el acceso a datos y la seguridad. Los pasos: crear el proyecto con los starters; declarar el origen de datos en application.properties; definir la entidad JPA y el repositorio; escribir el servicio y el controlador con su vista; y configurar Spring Security para el login y el acceso. Lo vemos en codigo en las siguientes diapositivas.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JPA, una clase anotada con Entity se corresponde con una tabla; no escribimos SQL. La magia esta en el repositorio: defines una interfaz que extiende JpaRepository y obtienes gratis listar, buscar, guardar y eliminar; Spring genera la implementacion. Incluso puedes declarar consultas por el nombre del metodo, como findByCarrera, sin escribir 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controlador mapea rutas a metodos con GetMapping y PostMapping, pide datos al servicio y devuelve el nombre de una plantilla, pasando los datos en el Model. Comparenlo con el EstudianteServlet de la Parte I: hace exactamente lo mismo, con mucho menos codigo. La vista es una plantilla Thymeleaf, que es a Spring lo que JSTL y EL eran a la JSP, y que escapa por defecto.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Security resuelve de una vez el login y el control de acceso que en la Parte I programamos con un servlet y un filtro. Defines una clase de configuracion que declara que rutas son publicas, cuales requieren autenticacion y como es el formulario de acceso; el framework se encarga del filtro, la sesion y el hash de contrasenas. El mensaje clave: comparado con la Parte I, desaparecio mucho codigo. El framework lo aporta, pero tu entiendes lo que hace.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Jakarta Server Faces es el framework de interfaces basado en componentes del estandar Jakarta EE. En lugar de servlets y plantillas, defines vistas con componentes en archivos Facelets, conectados a beans gestionados. La persistencia es con JPA -las entidades son identicas a las de Spring, porque JPA es el estandar comun- y las transacciones las gestiona el contenedor con JTA. Se ejecuta en un servidor Jakarta 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bean gestionado es el puente entre la vista y los datos. Se anota con Named para que la vista lo vea, y con un alcance. Obtiene el EntityManager por inyeccion con PersistenceContext, y marca como transaccionales los metodos que modifican datos con Transactional. Eso es JTA: el contenedor inicia la transaccion antes del metodo y la confirma al terminar, o la deshace si hay error. Es la version gestionada de las transacciones que en la Parte I controlabamos a mano.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vista es un archivo xhtml con componentes JSF (prefijo h). dataTable recorre la lista del bean; form e inputText construyen el formulario; commandButton invoca un metodo del bean al pulsarse. La conexion vista-bean se escribe con EL, igual que en la JSP pero con almohadilla-llave. Para el login y el control de acceso se usa un bean de sesion y un filtro, con la misma idea de la Parte I, o la seguridad declarativa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Hemos resuelto el mismo problema de tres maneras. Servlets y JSP: tecnologia base, maximo control y comprension, ideal para aprender. Spring Boot: autoconfiguracion, inyeccion, Spring Data y Security; muy productivo y estandar en la industria. Jakarta Faces: basado en componentes, dentro de Jakarta EE, con JPA y JTA; fuerte en entornos empresariales. Ninguno es el mejor: dependen del contexto. Pero lo esencial -peticion-respuesta, capas, datos seguros, sesion, control de acceso- es comun a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recomendacion: dominen primero la Parte I, porque da los cimientos y el porque de cada cosa. Para la industria hoy, Spring Boot es la opcion mas demandada. Jakarta Faces es valioso en entornos empresariales Jakarta EE. Pero lo esencial es esto: lo que distingue a un buen desarrollador no es la herramienta, sino los principios de diseno -capas, MVC, seguridad-. Si los dominan, cambiar de tecnologia es solo cuestion de aprender su sintaxis.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recursos de referencia mas fiables para profundizar: el sitio de Jakarta EE para servlets, JSP, JSF y JPA; Tomcat; Spring Boot y Spring Security; la especificacion de Jakarta Faces; y la documentacion de PostgreSQL. Recomienden a los estudiantes apoyarse siempre en la documentacion oficial.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Hemos recorrido el desarrollo web con Java de extremo a extremo: de los cimientos -servlets, JSP, JSTL y EL- a los frameworks que los potencian, Spring Boot y Jakarta Faces. Cada problema que planteamos tiene ahora una solucion que entienden a fondo, y el problema completo esta resuelto de tres formas distintas. Abrir 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4A55"/>
        </a:solidFill>
      </p:bgPr>
    </p:bg>
    <p:spTree>
      <p:nvGrpSpPr>
        <p:cNvPr id="1" name=""/>
        <p:cNvGrpSpPr/>
        <p:nvPr/>
      </p:nvGrpSpPr>
      <p:grpSpPr>
        <a:xfrm>
          <a:off x="0" y="0"/>
          <a:ext cx="0" cy="0"/>
          <a:chOff x="0" y="0"/>
          <a:chExt cx="0" cy="0"/>
        </a:xfrm>
      </p:grpSpPr>
      <p:sp>
        <p:nvSpPr>
          <p:cNvPr id="2" name="Text 0"/>
          <p:cNvSpPr/>
          <p:nvPr/>
        </p:nvSpPr>
        <p:spPr>
          <a:xfrm>
            <a:off x="548640" y="1828800"/>
            <a:ext cx="80467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Desarrollo de Aplicaciones Web con Java</a:t>
            </a:r>
            <a:endParaRPr lang="en-US" sz="4000" dirty="0"/>
          </a:p>
        </p:txBody>
      </p:sp>
      <p:sp>
        <p:nvSpPr>
          <p:cNvPr id="3" name="Text 1"/>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BFD6DB"/>
                </a:solidFill>
                <a:latin typeface="Calibri" pitchFamily="34" charset="0"/>
                <a:ea typeface="Calibri" pitchFamily="34" charset="-122"/>
                <a:cs typeface="Calibri" pitchFamily="34" charset="-120"/>
              </a:rPr>
              <a:t>De los servlets a los frameworks — guía orientada a un proyecto real</a:t>
            </a:r>
            <a:endParaRPr lang="en-US" sz="1600" dirty="0"/>
          </a:p>
        </p:txBody>
      </p:sp>
      <p:sp>
        <p:nvSpPr>
          <p:cNvPr id="4" name="Text 2"/>
          <p:cNvSpPr/>
          <p:nvPr/>
        </p:nvSpPr>
        <p:spPr>
          <a:xfrm>
            <a:off x="548640" y="4114800"/>
            <a:ext cx="8046720" cy="365760"/>
          </a:xfrm>
          <a:prstGeom prst="rect">
            <a:avLst/>
          </a:prstGeom>
          <a:noFill/>
          <a:ln/>
        </p:spPr>
        <p:txBody>
          <a:bodyPr wrap="square" lIns="0" tIns="0" rIns="0" bIns="0" rtlCol="0" anchor="ctr"/>
          <a:lstStyle/>
          <a:p>
            <a:pPr indent="0" marL="0">
              <a:buNone/>
            </a:pPr>
            <a:r>
              <a:rPr lang="en-US" sz="1300" dirty="0">
                <a:solidFill>
                  <a:srgbClr val="9FBEC4"/>
                </a:solidFill>
                <a:latin typeface="Calibri" pitchFamily="34" charset="0"/>
                <a:ea typeface="Calibri" pitchFamily="34" charset="-122"/>
                <a:cs typeface="Calibri" pitchFamily="34" charset="-120"/>
              </a:rPr>
              <a:t>Servlets · JSP · JSTL · EL   |   Spring Boot · Jakarta Server Faces (JPA, JTA)</a:t>
            </a:r>
            <a:endParaRPr lang="en-US" sz="1300" dirty="0"/>
          </a:p>
        </p:txBody>
      </p:sp>
      <p:sp>
        <p:nvSpPr>
          <p:cNvPr id="5"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100" dirty="0">
                <a:solidFill>
                  <a:srgbClr val="7FA7AE"/>
                </a:solidFill>
                <a:latin typeface="Calibri" pitchFamily="34" charset="0"/>
                <a:ea typeface="Calibri" pitchFamily="34" charset="-122"/>
                <a:cs typeface="Calibri" pitchFamily="34" charset="-120"/>
              </a:rPr>
              <a:t>UTEQ · Ingeniería de Software · Dr. Gleiston Guerrero Ulloa, Ph.D.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CÓMO ESTÁ ORGANIZADA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Dos partes, un mismo proyecto</a:t>
            </a:r>
            <a:endParaRPr lang="en-US" sz="3000" dirty="0"/>
          </a:p>
        </p:txBody>
      </p:sp>
      <p:sp>
        <p:nvSpPr>
          <p:cNvPr id="4" name="Shape 2"/>
          <p:cNvSpPr/>
          <p:nvPr/>
        </p:nvSpPr>
        <p:spPr>
          <a:xfrm>
            <a:off x="548640" y="1691640"/>
            <a:ext cx="3931920" cy="2651760"/>
          </a:xfrm>
          <a:prstGeom prst="roundRect">
            <a:avLst>
              <a:gd name="adj" fmla="val 2759"/>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31520" y="1837944"/>
            <a:ext cx="3566160" cy="365760"/>
          </a:xfrm>
          <a:prstGeom prst="rect">
            <a:avLst/>
          </a:prstGeom>
          <a:noFill/>
          <a:ln/>
        </p:spPr>
        <p:txBody>
          <a:bodyPr wrap="square" lIns="0" tIns="0" rIns="0" bIns="0" rtlCol="0" anchor="ctr"/>
          <a:lstStyle/>
          <a:p>
            <a:pPr indent="0" marL="0">
              <a:buNone/>
            </a:pPr>
            <a:r>
              <a:rPr lang="en-US" sz="1600" b="1" dirty="0">
                <a:solidFill>
                  <a:srgbClr val="176B7A"/>
                </a:solidFill>
                <a:latin typeface="Cambria" pitchFamily="34" charset="0"/>
                <a:ea typeface="Cambria" pitchFamily="34" charset="-122"/>
                <a:cs typeface="Cambria" pitchFamily="34" charset="-120"/>
              </a:rPr>
              <a:t>Parte I — Tecnología base</a:t>
            </a:r>
            <a:endParaRPr lang="en-US" sz="1600" dirty="0"/>
          </a:p>
        </p:txBody>
      </p:sp>
      <p:sp>
        <p:nvSpPr>
          <p:cNvPr id="6" name="Text 4"/>
          <p:cNvSpPr/>
          <p:nvPr/>
        </p:nvSpPr>
        <p:spPr>
          <a:xfrm>
            <a:off x="731520" y="2258568"/>
            <a:ext cx="3566160" cy="193852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Servlets (controlador), JSP (vista), EL y JSTL. Arquitectura por capas y MVC. Sesiones, login y control de acceso. CRUD, reportes y reportes impresos. Construimos la app a mano para entender cada pieza.</a:t>
            </a:r>
            <a:endParaRPr lang="en-US" sz="1350" dirty="0"/>
          </a:p>
        </p:txBody>
      </p:sp>
      <p:sp>
        <p:nvSpPr>
          <p:cNvPr id="7" name="Shape 5"/>
          <p:cNvSpPr/>
          <p:nvPr/>
        </p:nvSpPr>
        <p:spPr>
          <a:xfrm>
            <a:off x="4663440" y="1691640"/>
            <a:ext cx="3931920" cy="2651760"/>
          </a:xfrm>
          <a:prstGeom prst="roundRect">
            <a:avLst>
              <a:gd name="adj" fmla="val 2759"/>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46320" y="1837944"/>
            <a:ext cx="3566160" cy="365760"/>
          </a:xfrm>
          <a:prstGeom prst="rect">
            <a:avLst/>
          </a:prstGeom>
          <a:noFill/>
          <a:ln/>
        </p:spPr>
        <p:txBody>
          <a:bodyPr wrap="square" lIns="0" tIns="0" rIns="0" bIns="0" rtlCol="0" anchor="ctr"/>
          <a:lstStyle/>
          <a:p>
            <a:pPr indent="0" marL="0">
              <a:buNone/>
            </a:pPr>
            <a:r>
              <a:rPr lang="en-US" sz="1600" b="1" dirty="0">
                <a:solidFill>
                  <a:srgbClr val="C8651B"/>
                </a:solidFill>
                <a:latin typeface="Cambria" pitchFamily="34" charset="0"/>
                <a:ea typeface="Cambria" pitchFamily="34" charset="-122"/>
                <a:cs typeface="Cambria" pitchFamily="34" charset="-120"/>
              </a:rPr>
              <a:t>Parte II — Frameworks</a:t>
            </a:r>
            <a:endParaRPr lang="en-US" sz="1600" dirty="0"/>
          </a:p>
        </p:txBody>
      </p:sp>
      <p:sp>
        <p:nvSpPr>
          <p:cNvPr id="9" name="Text 7"/>
          <p:cNvSpPr/>
          <p:nvPr/>
        </p:nvSpPr>
        <p:spPr>
          <a:xfrm>
            <a:off x="4846320" y="2258568"/>
            <a:ext cx="3566160" cy="193852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Spring Boot (JPA, Spring Data, Spring Security) y Jakarta Server Faces (JPA, JTA, CDI). El mismo problema, resuelto con frameworks que reducen el código repetitivo.</a:t>
            </a:r>
            <a:endParaRPr lang="en-US" sz="1350" dirty="0"/>
          </a:p>
        </p:txBody>
      </p:sp>
      <p:sp>
        <p:nvSpPr>
          <p:cNvPr id="10" name="Text 8"/>
          <p:cNvSpPr/>
          <p:nvPr/>
        </p:nvSpPr>
        <p:spPr>
          <a:xfrm>
            <a:off x="548640" y="452628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Método: cada tema plantea su problema → lo explica → lo resuelve con un ejemplo pequeño y completo.</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LOS CIMIENTOS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Petición–respuesta y arquitectura por capas</a:t>
            </a:r>
            <a:endParaRPr lang="en-US" sz="3000" dirty="0"/>
          </a:p>
        </p:txBody>
      </p:sp>
      <p:sp>
        <p:nvSpPr>
          <p:cNvPr id="4" name="Shape 2"/>
          <p:cNvSpPr/>
          <p:nvPr/>
        </p:nvSpPr>
        <p:spPr>
          <a:xfrm>
            <a:off x="548640" y="1965960"/>
            <a:ext cx="1417320" cy="914400"/>
          </a:xfrm>
          <a:prstGeom prst="roundRect">
            <a:avLst>
              <a:gd name="adj" fmla="val 8000"/>
            </a:avLst>
          </a:prstGeom>
          <a:solidFill>
            <a:srgbClr val="F4F7F8"/>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965960"/>
            <a:ext cx="1417320" cy="914400"/>
          </a:xfrm>
          <a:prstGeom prst="rect">
            <a:avLst/>
          </a:prstGeom>
          <a:noFill/>
          <a:ln/>
        </p:spPr>
        <p:txBody>
          <a:bodyPr wrap="square" lIns="0" tIns="0" rIns="0" bIns="0" rtlCol="0" anchor="ctr"/>
          <a:lstStyle/>
          <a:p>
            <a:pPr algn="ctr" indent="0" marL="0">
              <a:buNone/>
            </a:pPr>
            <a:r>
              <a:rPr lang="en-US" sz="1300" b="1" dirty="0">
                <a:solidFill>
                  <a:srgbClr val="0E4A55"/>
                </a:solidFill>
                <a:latin typeface="Calibri" pitchFamily="34" charset="0"/>
                <a:ea typeface="Calibri" pitchFamily="34" charset="-122"/>
                <a:cs typeface="Calibri" pitchFamily="34" charset="-120"/>
              </a:rPr>
              <a:t>Navegador</a:t>
            </a:r>
            <a:endParaRPr lang="en-US" sz="1300" dirty="0"/>
          </a:p>
        </p:txBody>
      </p:sp>
      <p:sp>
        <p:nvSpPr>
          <p:cNvPr id="6" name="Text 4"/>
          <p:cNvSpPr/>
          <p:nvPr/>
        </p:nvSpPr>
        <p:spPr>
          <a:xfrm>
            <a:off x="1965960" y="1965960"/>
            <a:ext cx="310896" cy="914400"/>
          </a:xfrm>
          <a:prstGeom prst="rect">
            <a:avLst/>
          </a:prstGeom>
          <a:noFill/>
          <a:ln/>
        </p:spPr>
        <p:txBody>
          <a:bodyPr wrap="square" lIns="0" tIns="0" rIns="0" bIns="0" rtlCol="0" anchor="ctr"/>
          <a:lstStyle/>
          <a:p>
            <a:pPr algn="ctr" indent="0" marL="0">
              <a:buNone/>
            </a:pPr>
            <a:r>
              <a:rPr lang="en-US" sz="2200" b="1" dirty="0">
                <a:solidFill>
                  <a:srgbClr val="C8651B"/>
                </a:solidFill>
                <a:latin typeface="Cambria" pitchFamily="34" charset="0"/>
                <a:ea typeface="Cambria" pitchFamily="34" charset="-122"/>
                <a:cs typeface="Cambria" pitchFamily="34" charset="-120"/>
              </a:rPr>
              <a:t>&gt;</a:t>
            </a:r>
            <a:endParaRPr lang="en-US" sz="2200" dirty="0"/>
          </a:p>
        </p:txBody>
      </p:sp>
      <p:sp>
        <p:nvSpPr>
          <p:cNvPr id="7" name="Shape 5"/>
          <p:cNvSpPr/>
          <p:nvPr/>
        </p:nvSpPr>
        <p:spPr>
          <a:xfrm>
            <a:off x="2276856" y="1965960"/>
            <a:ext cx="1417320" cy="914400"/>
          </a:xfrm>
          <a:prstGeom prst="roundRect">
            <a:avLst>
              <a:gd name="adj" fmla="val 8000"/>
            </a:avLst>
          </a:prstGeom>
          <a:solidFill>
            <a:srgbClr val="E7F0F2"/>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2276856" y="1965960"/>
            <a:ext cx="1417320" cy="914400"/>
          </a:xfrm>
          <a:prstGeom prst="rect">
            <a:avLst/>
          </a:prstGeom>
          <a:noFill/>
          <a:ln/>
        </p:spPr>
        <p:txBody>
          <a:bodyPr wrap="square" lIns="0" tIns="0" rIns="0" bIns="0" rtlCol="0" anchor="ctr"/>
          <a:lstStyle/>
          <a:p>
            <a:pPr algn="ctr" indent="0" marL="0">
              <a:buNone/>
            </a:pPr>
            <a:r>
              <a:rPr lang="en-US" sz="1300" b="1" dirty="0">
                <a:solidFill>
                  <a:srgbClr val="0E4A55"/>
                </a:solidFill>
                <a:latin typeface="Calibri" pitchFamily="34" charset="0"/>
                <a:ea typeface="Calibri" pitchFamily="34" charset="-122"/>
                <a:cs typeface="Calibri" pitchFamily="34" charset="-120"/>
              </a:rPr>
              <a:t>Controlador</a:t>
            </a:r>
            <a:endParaRPr lang="en-US" sz="1300" dirty="0"/>
          </a:p>
          <a:p>
            <a:pPr algn="ctr" indent="0" marL="0">
              <a:buNone/>
            </a:pPr>
            <a:r>
              <a:rPr lang="en-US" sz="1300" b="1" dirty="0">
                <a:solidFill>
                  <a:srgbClr val="0E4A55"/>
                </a:solidFill>
                <a:latin typeface="Calibri" pitchFamily="34" charset="0"/>
                <a:ea typeface="Calibri" pitchFamily="34" charset="-122"/>
                <a:cs typeface="Calibri" pitchFamily="34" charset="-120"/>
              </a:rPr>
              <a:t>(servlet)</a:t>
            </a:r>
            <a:endParaRPr lang="en-US" sz="1300" dirty="0"/>
          </a:p>
        </p:txBody>
      </p:sp>
      <p:sp>
        <p:nvSpPr>
          <p:cNvPr id="9" name="Text 7"/>
          <p:cNvSpPr/>
          <p:nvPr/>
        </p:nvSpPr>
        <p:spPr>
          <a:xfrm>
            <a:off x="3694176" y="1965960"/>
            <a:ext cx="310896" cy="914400"/>
          </a:xfrm>
          <a:prstGeom prst="rect">
            <a:avLst/>
          </a:prstGeom>
          <a:noFill/>
          <a:ln/>
        </p:spPr>
        <p:txBody>
          <a:bodyPr wrap="square" lIns="0" tIns="0" rIns="0" bIns="0" rtlCol="0" anchor="ctr"/>
          <a:lstStyle/>
          <a:p>
            <a:pPr algn="ctr" indent="0" marL="0">
              <a:buNone/>
            </a:pPr>
            <a:r>
              <a:rPr lang="en-US" sz="2200" b="1" dirty="0">
                <a:solidFill>
                  <a:srgbClr val="C8651B"/>
                </a:solidFill>
                <a:latin typeface="Cambria" pitchFamily="34" charset="0"/>
                <a:ea typeface="Cambria" pitchFamily="34" charset="-122"/>
                <a:cs typeface="Cambria" pitchFamily="34" charset="-120"/>
              </a:rPr>
              <a:t>&gt;</a:t>
            </a:r>
            <a:endParaRPr lang="en-US" sz="2200" dirty="0"/>
          </a:p>
        </p:txBody>
      </p:sp>
      <p:sp>
        <p:nvSpPr>
          <p:cNvPr id="10" name="Shape 8"/>
          <p:cNvSpPr/>
          <p:nvPr/>
        </p:nvSpPr>
        <p:spPr>
          <a:xfrm>
            <a:off x="4005072" y="1965960"/>
            <a:ext cx="1417320" cy="914400"/>
          </a:xfrm>
          <a:prstGeom prst="roundRect">
            <a:avLst>
              <a:gd name="adj" fmla="val 8000"/>
            </a:avLst>
          </a:prstGeom>
          <a:solidFill>
            <a:srgbClr val="E7F0F2"/>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4005072" y="1965960"/>
            <a:ext cx="1417320" cy="914400"/>
          </a:xfrm>
          <a:prstGeom prst="rect">
            <a:avLst/>
          </a:prstGeom>
          <a:noFill/>
          <a:ln/>
        </p:spPr>
        <p:txBody>
          <a:bodyPr wrap="square" lIns="0" tIns="0" rIns="0" bIns="0" rtlCol="0" anchor="ctr"/>
          <a:lstStyle/>
          <a:p>
            <a:pPr algn="ctr" indent="0" marL="0">
              <a:buNone/>
            </a:pPr>
            <a:r>
              <a:rPr lang="en-US" sz="1300" b="1" dirty="0">
                <a:solidFill>
                  <a:srgbClr val="0E4A55"/>
                </a:solidFill>
                <a:latin typeface="Calibri" pitchFamily="34" charset="0"/>
                <a:ea typeface="Calibri" pitchFamily="34" charset="-122"/>
                <a:cs typeface="Calibri" pitchFamily="34" charset="-120"/>
              </a:rPr>
              <a:t>Servicio</a:t>
            </a:r>
            <a:endParaRPr lang="en-US" sz="1300" dirty="0"/>
          </a:p>
        </p:txBody>
      </p:sp>
      <p:sp>
        <p:nvSpPr>
          <p:cNvPr id="12" name="Text 10"/>
          <p:cNvSpPr/>
          <p:nvPr/>
        </p:nvSpPr>
        <p:spPr>
          <a:xfrm>
            <a:off x="5422392" y="1965960"/>
            <a:ext cx="310896" cy="914400"/>
          </a:xfrm>
          <a:prstGeom prst="rect">
            <a:avLst/>
          </a:prstGeom>
          <a:noFill/>
          <a:ln/>
        </p:spPr>
        <p:txBody>
          <a:bodyPr wrap="square" lIns="0" tIns="0" rIns="0" bIns="0" rtlCol="0" anchor="ctr"/>
          <a:lstStyle/>
          <a:p>
            <a:pPr algn="ctr" indent="0" marL="0">
              <a:buNone/>
            </a:pPr>
            <a:r>
              <a:rPr lang="en-US" sz="2200" b="1" dirty="0">
                <a:solidFill>
                  <a:srgbClr val="C8651B"/>
                </a:solidFill>
                <a:latin typeface="Cambria" pitchFamily="34" charset="0"/>
                <a:ea typeface="Cambria" pitchFamily="34" charset="-122"/>
                <a:cs typeface="Cambria" pitchFamily="34" charset="-120"/>
              </a:rPr>
              <a:t>&gt;</a:t>
            </a:r>
            <a:endParaRPr lang="en-US" sz="2200" dirty="0"/>
          </a:p>
        </p:txBody>
      </p:sp>
      <p:sp>
        <p:nvSpPr>
          <p:cNvPr id="13" name="Shape 11"/>
          <p:cNvSpPr/>
          <p:nvPr/>
        </p:nvSpPr>
        <p:spPr>
          <a:xfrm>
            <a:off x="5733288" y="1965960"/>
            <a:ext cx="1417320" cy="914400"/>
          </a:xfrm>
          <a:prstGeom prst="roundRect">
            <a:avLst>
              <a:gd name="adj" fmla="val 8000"/>
            </a:avLst>
          </a:prstGeom>
          <a:solidFill>
            <a:srgbClr val="E7F0F2"/>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5733288" y="1965960"/>
            <a:ext cx="1417320" cy="914400"/>
          </a:xfrm>
          <a:prstGeom prst="rect">
            <a:avLst/>
          </a:prstGeom>
          <a:noFill/>
          <a:ln/>
        </p:spPr>
        <p:txBody>
          <a:bodyPr wrap="square" lIns="0" tIns="0" rIns="0" bIns="0" rtlCol="0" anchor="ctr"/>
          <a:lstStyle/>
          <a:p>
            <a:pPr algn="ctr" indent="0" marL="0">
              <a:buNone/>
            </a:pPr>
            <a:r>
              <a:rPr lang="en-US" sz="1300" b="1" dirty="0">
                <a:solidFill>
                  <a:srgbClr val="0E4A55"/>
                </a:solidFill>
                <a:latin typeface="Calibri" pitchFamily="34" charset="0"/>
                <a:ea typeface="Calibri" pitchFamily="34" charset="-122"/>
                <a:cs typeface="Calibri" pitchFamily="34" charset="-120"/>
              </a:rPr>
              <a:t>DAO</a:t>
            </a:r>
            <a:endParaRPr lang="en-US" sz="1300" dirty="0"/>
          </a:p>
        </p:txBody>
      </p:sp>
      <p:sp>
        <p:nvSpPr>
          <p:cNvPr id="15" name="Text 13"/>
          <p:cNvSpPr/>
          <p:nvPr/>
        </p:nvSpPr>
        <p:spPr>
          <a:xfrm>
            <a:off x="7150608" y="1965960"/>
            <a:ext cx="310896" cy="914400"/>
          </a:xfrm>
          <a:prstGeom prst="rect">
            <a:avLst/>
          </a:prstGeom>
          <a:noFill/>
          <a:ln/>
        </p:spPr>
        <p:txBody>
          <a:bodyPr wrap="square" lIns="0" tIns="0" rIns="0" bIns="0" rtlCol="0" anchor="ctr"/>
          <a:lstStyle/>
          <a:p>
            <a:pPr algn="ctr" indent="0" marL="0">
              <a:buNone/>
            </a:pPr>
            <a:r>
              <a:rPr lang="en-US" sz="2200" b="1" dirty="0">
                <a:solidFill>
                  <a:srgbClr val="C8651B"/>
                </a:solidFill>
                <a:latin typeface="Cambria" pitchFamily="34" charset="0"/>
                <a:ea typeface="Cambria" pitchFamily="34" charset="-122"/>
                <a:cs typeface="Cambria" pitchFamily="34" charset="-120"/>
              </a:rPr>
              <a:t>&gt;</a:t>
            </a:r>
            <a:endParaRPr lang="en-US" sz="2200" dirty="0"/>
          </a:p>
        </p:txBody>
      </p:sp>
      <p:sp>
        <p:nvSpPr>
          <p:cNvPr id="16" name="Shape 14"/>
          <p:cNvSpPr/>
          <p:nvPr/>
        </p:nvSpPr>
        <p:spPr>
          <a:xfrm>
            <a:off x="7461504" y="1965960"/>
            <a:ext cx="1417320" cy="914400"/>
          </a:xfrm>
          <a:prstGeom prst="roundRect">
            <a:avLst>
              <a:gd name="adj" fmla="val 8000"/>
            </a:avLst>
          </a:prstGeom>
          <a:solidFill>
            <a:srgbClr val="0E4A55"/>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17" name="Text 15"/>
          <p:cNvSpPr/>
          <p:nvPr/>
        </p:nvSpPr>
        <p:spPr>
          <a:xfrm>
            <a:off x="7461504" y="1965960"/>
            <a:ext cx="14173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 de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datos</a:t>
            </a:r>
            <a:endParaRPr lang="en-US" sz="1300" dirty="0"/>
          </a:p>
        </p:txBody>
      </p:sp>
      <p:sp>
        <p:nvSpPr>
          <p:cNvPr id="18" name="Text 16"/>
          <p:cNvSpPr/>
          <p:nvPr/>
        </p:nvSpPr>
        <p:spPr>
          <a:xfrm>
            <a:off x="548640" y="306324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La vista (JSP con JSTL y EL) presenta el resultado al navegador</a:t>
            </a:r>
            <a:endParaRPr lang="en-US" sz="1300" dirty="0"/>
          </a:p>
        </p:txBody>
      </p:sp>
      <p:sp>
        <p:nvSpPr>
          <p:cNvPr id="19" name="Text 17"/>
          <p:cNvSpPr/>
          <p:nvPr/>
        </p:nvSpPr>
        <p:spPr>
          <a:xfrm>
            <a:off x="548640" y="3520440"/>
            <a:ext cx="8046720" cy="128016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HTTP no tiene estado: el servidor no recuerda al usuario entre peticiones (lo resuelven las sesiones).</a:t>
            </a:r>
            <a:endParaRPr lang="en-US" sz="1350" dirty="0"/>
          </a:p>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El contenedor de servlets (Tomcat) recibe la petición, ejecuta tu código y devuelve la respuesta.</a:t>
            </a:r>
            <a:endParaRPr lang="en-US" sz="1350" dirty="0"/>
          </a:p>
          <a:p>
            <a:pPr marL="177800" indent="-177800">
              <a:spcAft>
                <a:spcPts val="800"/>
              </a:spcAft>
              <a:buSzPct val="100000"/>
              <a:buChar char="•"/>
            </a:pPr>
            <a:r>
              <a:rPr lang="en-US" sz="1350" dirty="0">
                <a:solidFill>
                  <a:srgbClr val="1F2933"/>
                </a:solidFill>
                <a:latin typeface="Calibri" pitchFamily="34" charset="0"/>
                <a:ea typeface="Calibri" pitchFamily="34" charset="-122"/>
                <a:cs typeface="Calibri" pitchFamily="34" charset="-120"/>
              </a:rPr>
              <a:t>Cada capa tiene una responsabilidad y solo conoce a la de abajo: así el proyecto crece sano.</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PREPARACIÓN DEL ENTORNO</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Servidor, empaquetado y versiones</a:t>
            </a:r>
            <a:endParaRPr lang="en-US" sz="3000" dirty="0"/>
          </a:p>
        </p:txBody>
      </p:sp>
      <p:sp>
        <p:nvSpPr>
          <p:cNvPr id="4" name="Shape 2"/>
          <p:cNvSpPr/>
          <p:nvPr/>
        </p:nvSpPr>
        <p:spPr>
          <a:xfrm>
            <a:off x="548640" y="1645920"/>
            <a:ext cx="8046720" cy="914400"/>
          </a:xfrm>
          <a:prstGeom prst="roundRect">
            <a:avLst>
              <a:gd name="adj" fmla="val 8000"/>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7393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66544"/>
            <a:ext cx="7644384" cy="3657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Para ejecutar código Java que atienda al navegador necesitamos un servidor que lo aloje y un proyecto bien empaquetado. ¿Cómo lo preparamos?</a:t>
            </a:r>
            <a:endParaRPr lang="en-US" sz="1450" dirty="0"/>
          </a:p>
        </p:txBody>
      </p:sp>
      <p:sp>
        <p:nvSpPr>
          <p:cNvPr id="7" name="Shape 5"/>
          <p:cNvSpPr/>
          <p:nvPr/>
        </p:nvSpPr>
        <p:spPr>
          <a:xfrm>
            <a:off x="548640" y="2743200"/>
            <a:ext cx="3931920" cy="1920240"/>
          </a:xfrm>
          <a:prstGeom prst="roundRect">
            <a:avLst>
              <a:gd name="adj" fmla="val 381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31520" y="2889504"/>
            <a:ext cx="3566160" cy="365760"/>
          </a:xfrm>
          <a:prstGeom prst="rect">
            <a:avLst/>
          </a:prstGeom>
          <a:noFill/>
          <a:ln/>
        </p:spPr>
        <p:txBody>
          <a:bodyPr wrap="square" lIns="0" tIns="0" rIns="0" bIns="0" rtlCol="0" anchor="ctr"/>
          <a:lstStyle/>
          <a:p>
            <a:pPr indent="0" marL="0">
              <a:buNone/>
            </a:pPr>
            <a:r>
              <a:rPr lang="en-US" sz="1600" b="1" dirty="0">
                <a:solidFill>
                  <a:srgbClr val="176B7A"/>
                </a:solidFill>
                <a:latin typeface="Cambria" pitchFamily="34" charset="0"/>
                <a:ea typeface="Cambria" pitchFamily="34" charset="-122"/>
                <a:cs typeface="Cambria" pitchFamily="34" charset="-120"/>
              </a:rPr>
              <a:t>Lo esencial</a:t>
            </a:r>
            <a:endParaRPr lang="en-US" sz="1600" dirty="0"/>
          </a:p>
        </p:txBody>
      </p:sp>
      <p:sp>
        <p:nvSpPr>
          <p:cNvPr id="9" name="Text 7"/>
          <p:cNvSpPr/>
          <p:nvPr/>
        </p:nvSpPr>
        <p:spPr>
          <a:xfrm>
            <a:off x="731520" y="3310128"/>
            <a:ext cx="3566160" cy="12070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JDK LTS (21/25) · IntelliJ IDEA · Apache Tomcat 11. Empaquetado WAR. Las JSP van en WEB-INF para no exponerlas. Paquetes jakarta.* (no javax.*).</a:t>
            </a:r>
            <a:endParaRPr lang="en-US" sz="1350" dirty="0"/>
          </a:p>
        </p:txBody>
      </p:sp>
      <p:sp>
        <p:nvSpPr>
          <p:cNvPr id="10" name="Shape 8"/>
          <p:cNvSpPr/>
          <p:nvPr/>
        </p:nvSpPr>
        <p:spPr>
          <a:xfrm>
            <a:off x="4663440" y="2743200"/>
            <a:ext cx="3931920" cy="1920240"/>
          </a:xfrm>
          <a:prstGeom prst="roundRect">
            <a:avLst>
              <a:gd name="adj" fmla="val 381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4846320" y="2889504"/>
            <a:ext cx="3566160" cy="365760"/>
          </a:xfrm>
          <a:prstGeom prst="rect">
            <a:avLst/>
          </a:prstGeom>
          <a:noFill/>
          <a:ln/>
        </p:spPr>
        <p:txBody>
          <a:bodyPr wrap="square" lIns="0" tIns="0" rIns="0" bIns="0" rtlCol="0" anchor="ctr"/>
          <a:lstStyle/>
          <a:p>
            <a:pPr indent="0" marL="0">
              <a:buNone/>
            </a:pPr>
            <a:r>
              <a:rPr lang="en-US" sz="1500" b="1" dirty="0">
                <a:solidFill>
                  <a:srgbClr val="C8651B"/>
                </a:solidFill>
                <a:latin typeface="Cambria" pitchFamily="34" charset="0"/>
                <a:ea typeface="Cambria" pitchFamily="34" charset="-122"/>
                <a:cs typeface="Cambria" pitchFamily="34" charset="-120"/>
              </a:rPr>
              <a:t>Versiones de referencia (jun. 2026)</a:t>
            </a:r>
            <a:endParaRPr lang="en-US" sz="1500" dirty="0"/>
          </a:p>
        </p:txBody>
      </p:sp>
      <p:sp>
        <p:nvSpPr>
          <p:cNvPr id="12" name="Text 10"/>
          <p:cNvSpPr/>
          <p:nvPr/>
        </p:nvSpPr>
        <p:spPr>
          <a:xfrm>
            <a:off x="4846320" y="3291840"/>
            <a:ext cx="3566160" cy="1280160"/>
          </a:xfrm>
          <a:prstGeom prst="rect">
            <a:avLst/>
          </a:prstGeom>
          <a:noFill/>
          <a:ln/>
        </p:spPr>
        <p:txBody>
          <a:bodyPr wrap="square" lIns="0" tIns="0" rIns="0" bIns="0" rtlCol="0" anchor="t"/>
          <a:lstStyle/>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Java 25 LTS (y 21)</a:t>
            </a:r>
            <a:endParaRPr lang="en-US" sz="1350" dirty="0"/>
          </a:p>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Tomcat 11 · Jakarta EE 11</a:t>
            </a:r>
            <a:endParaRPr lang="en-US" sz="1350" dirty="0"/>
          </a:p>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Jakarta Servlet 6.1</a:t>
            </a:r>
            <a:endParaRPr lang="en-US" sz="1350" dirty="0"/>
          </a:p>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Spring Boot 4 · Faces 4.1</a:t>
            </a: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PostgreSQL 18</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4A55"/>
        </a:solidFill>
      </p:bgPr>
    </p:bg>
    <p:spTree>
      <p:nvGrpSpPr>
        <p:cNvPr id="1" name=""/>
        <p:cNvGrpSpPr/>
        <p:nvPr/>
      </p:nvGrpSpPr>
      <p:grpSpPr>
        <a:xfrm>
          <a:off x="0" y="0"/>
          <a:ext cx="0" cy="0"/>
          <a:chOff x="0" y="0"/>
          <a:chExt cx="0" cy="0"/>
        </a:xfrm>
      </p:grpSpPr>
      <p:sp>
        <p:nvSpPr>
          <p:cNvPr id="2" name="Text 0"/>
          <p:cNvSpPr/>
          <p:nvPr/>
        </p:nvSpPr>
        <p:spPr>
          <a:xfrm>
            <a:off x="548640" y="1554480"/>
            <a:ext cx="8046720" cy="365760"/>
          </a:xfrm>
          <a:prstGeom prst="rect">
            <a:avLst/>
          </a:prstGeom>
          <a:noFill/>
          <a:ln/>
        </p:spPr>
        <p:txBody>
          <a:bodyPr wrap="square" lIns="0" tIns="0" rIns="0" bIns="0" rtlCol="0" anchor="ctr"/>
          <a:lstStyle/>
          <a:p>
            <a:pPr indent="0" marL="0">
              <a:buNone/>
            </a:pPr>
            <a:r>
              <a:rPr lang="en-US" sz="1400" b="1" spc="300" kern="0" dirty="0">
                <a:solidFill>
                  <a:srgbClr val="C8651B"/>
                </a:solidFill>
                <a:latin typeface="Calibri" pitchFamily="34" charset="0"/>
                <a:ea typeface="Calibri" pitchFamily="34" charset="-122"/>
                <a:cs typeface="Calibri" pitchFamily="34" charset="-120"/>
              </a:rPr>
              <a:t>PARTE I</a:t>
            </a:r>
            <a:endParaRPr lang="en-US" sz="1400" dirty="0"/>
          </a:p>
        </p:txBody>
      </p:sp>
      <p:sp>
        <p:nvSpPr>
          <p:cNvPr id="3" name="Text 1"/>
          <p:cNvSpPr/>
          <p:nvPr/>
        </p:nvSpPr>
        <p:spPr>
          <a:xfrm>
            <a:off x="548640" y="1920240"/>
            <a:ext cx="804672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Tecnología base</a:t>
            </a:r>
            <a:endParaRPr lang="en-US" sz="3400" dirty="0"/>
          </a:p>
        </p:txBody>
      </p:sp>
      <p:sp>
        <p:nvSpPr>
          <p:cNvPr id="4" name="Text 2"/>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BFD6DB"/>
                </a:solidFill>
                <a:latin typeface="Calibri" pitchFamily="34" charset="0"/>
                <a:ea typeface="Calibri" pitchFamily="34" charset="-122"/>
                <a:cs typeface="Calibri" pitchFamily="34" charset="-120"/>
              </a:rPr>
              <a:t>Servlets, JSP, JSTL y el lenguaje de expresiones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3 — SERVLETS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El controlador del lado del servidor</a:t>
            </a:r>
            <a:endParaRPr lang="en-US" sz="3000" dirty="0"/>
          </a:p>
        </p:txBody>
      </p:sp>
      <p:sp>
        <p:nvSpPr>
          <p:cNvPr id="4" name="Shape 2"/>
          <p:cNvSpPr/>
          <p:nvPr/>
        </p:nvSpPr>
        <p:spPr>
          <a:xfrm>
            <a:off x="548640" y="1600200"/>
            <a:ext cx="3977640" cy="1554480"/>
          </a:xfrm>
          <a:prstGeom prst="roundRect">
            <a:avLst>
              <a:gd name="adj" fmla="val 4706"/>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3575304" cy="100584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Cuando el navegador pide una dirección, ¿cómo hacemos que un trozo de código Java se ejecute en el servidor y devuelva una respuesta a medida?</a:t>
            </a:r>
            <a:endParaRPr lang="en-US" sz="1450" dirty="0"/>
          </a:p>
        </p:txBody>
      </p:sp>
      <p:sp>
        <p:nvSpPr>
          <p:cNvPr id="7" name="Shape 5"/>
          <p:cNvSpPr/>
          <p:nvPr/>
        </p:nvSpPr>
        <p:spPr>
          <a:xfrm>
            <a:off x="4709160" y="1600200"/>
            <a:ext cx="3886200" cy="2331720"/>
          </a:xfrm>
          <a:prstGeom prst="roundRect">
            <a:avLst>
              <a:gd name="adj" fmla="val 2353"/>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60020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HolaServlet.java</a:t>
            </a:r>
            <a:endParaRPr lang="en-US" sz="1100" dirty="0"/>
          </a:p>
        </p:txBody>
      </p:sp>
      <p:sp>
        <p:nvSpPr>
          <p:cNvPr id="9" name="Text 7"/>
          <p:cNvSpPr/>
          <p:nvPr/>
        </p:nvSpPr>
        <p:spPr>
          <a:xfrm>
            <a:off x="4855464" y="1965960"/>
            <a:ext cx="3611880" cy="1911096"/>
          </a:xfrm>
          <a:prstGeom prst="rect">
            <a:avLst/>
          </a:prstGeom>
          <a:noFill/>
          <a:ln/>
        </p:spPr>
        <p:txBody>
          <a:bodyPr wrap="square" lIns="0" tIns="0" rIns="0" bIns="0" rtlCol="0" anchor="t"/>
          <a:lstStyle/>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@WebServlet("/hola")</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public class HolaServlet</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extends HttpServlet {</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protected void doGet(</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HttpServletRequest req,</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HttpServletResponse resp) {</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resp.setContentType(</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"text/html; charset=UTF-8");</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resp.getWriter()</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.println("&lt;h1&gt;Hola&lt;/h1&gt;");</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a:t>
            </a:r>
            <a:endParaRPr lang="en-US" sz="1050" dirty="0"/>
          </a:p>
        </p:txBody>
      </p:sp>
      <p:sp>
        <p:nvSpPr>
          <p:cNvPr id="10" name="Text 8"/>
          <p:cNvSpPr/>
          <p:nvPr/>
        </p:nvSpPr>
        <p:spPr>
          <a:xfrm>
            <a:off x="548640" y="3337560"/>
            <a:ext cx="3977640" cy="15544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Hereda de HttpServlet; doGet atiende GET y doPost atiende POST.</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@WebServlet asocia el servlet a una URL.</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En MVC, el servlet es el controlador.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3 — SERVLETS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Leer datos y delegar en la vista</a:t>
            </a:r>
            <a:endParaRPr lang="en-US" sz="3000" dirty="0"/>
          </a:p>
        </p:txBody>
      </p:sp>
      <p:sp>
        <p:nvSpPr>
          <p:cNvPr id="4" name="Shape 2"/>
          <p:cNvSpPr/>
          <p:nvPr/>
        </p:nvSpPr>
        <p:spPr>
          <a:xfrm>
            <a:off x="548640" y="1600200"/>
            <a:ext cx="8046720" cy="868680"/>
          </a:xfrm>
          <a:prstGeom prst="roundRect">
            <a:avLst>
              <a:gd name="adj" fmla="val 8421"/>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7644384" cy="32004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El usuario envía un formulario. ¿Cómo lee el servlet esos datos y deja que la vista los muestre?</a:t>
            </a:r>
            <a:endParaRPr lang="en-US" sz="1450" dirty="0"/>
          </a:p>
        </p:txBody>
      </p:sp>
      <p:sp>
        <p:nvSpPr>
          <p:cNvPr id="7" name="Shape 5"/>
          <p:cNvSpPr/>
          <p:nvPr/>
        </p:nvSpPr>
        <p:spPr>
          <a:xfrm>
            <a:off x="548640" y="2651760"/>
            <a:ext cx="8046720" cy="1600200"/>
          </a:xfrm>
          <a:prstGeom prst="roundRect">
            <a:avLst>
              <a:gd name="adj" fmla="val 3429"/>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548640" y="26517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SaludarServlet.java (fragmento)</a:t>
            </a:r>
            <a:endParaRPr lang="en-US" sz="1100" dirty="0"/>
          </a:p>
        </p:txBody>
      </p:sp>
      <p:sp>
        <p:nvSpPr>
          <p:cNvPr id="9" name="Text 7"/>
          <p:cNvSpPr/>
          <p:nvPr/>
        </p:nvSpPr>
        <p:spPr>
          <a:xfrm>
            <a:off x="694944" y="3017520"/>
            <a:ext cx="7772400" cy="11795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String nombre = req.getParameter("nombre");   // dato del formulario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if (nombre == null || nombre.isBlank()) nombre = "invitado"; // validar</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req.setAttribute("nombre", nombre);            // pasar a la vista</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req.getRequestDispatcher("/WEB-INF/vistas/saludo.jsp")</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.forward(req, resp);                        // MVC: servlet -&gt; JSP</a:t>
            </a:r>
            <a:endParaRPr lang="en-US" sz="1100" dirty="0"/>
          </a:p>
        </p:txBody>
      </p:sp>
      <p:sp>
        <p:nvSpPr>
          <p:cNvPr id="10" name="Text 8"/>
          <p:cNvSpPr/>
          <p:nvPr/>
        </p:nvSpPr>
        <p:spPr>
          <a:xfrm>
            <a:off x="548640" y="438912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Regla: validar SIEMPRE la entrada en el servidor; la validación del navegador es solo comodidad.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4 — JSP</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La vista</a:t>
            </a:r>
            <a:endParaRPr lang="en-US" sz="3000" dirty="0"/>
          </a:p>
        </p:txBody>
      </p:sp>
      <p:sp>
        <p:nvSpPr>
          <p:cNvPr id="4" name="Shape 2"/>
          <p:cNvSpPr/>
          <p:nvPr/>
        </p:nvSpPr>
        <p:spPr>
          <a:xfrm>
            <a:off x="548640" y="1600200"/>
            <a:ext cx="3977640" cy="1371600"/>
          </a:xfrm>
          <a:prstGeom prst="roundRect">
            <a:avLst>
              <a:gd name="adj" fmla="val 5333"/>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3575304" cy="8229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Generar HTML con out.println dentro del servlet es tedioso y mezcla lógica y presentación. ¿Cómo los separamos?</a:t>
            </a:r>
            <a:endParaRPr lang="en-US" sz="1450" dirty="0"/>
          </a:p>
        </p:txBody>
      </p:sp>
      <p:sp>
        <p:nvSpPr>
          <p:cNvPr id="7" name="Shape 5"/>
          <p:cNvSpPr/>
          <p:nvPr/>
        </p:nvSpPr>
        <p:spPr>
          <a:xfrm>
            <a:off x="4709160" y="1600200"/>
            <a:ext cx="3886200" cy="1371600"/>
          </a:xfrm>
          <a:prstGeom prst="roundRect">
            <a:avLst>
              <a:gd name="adj" fmla="val 4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60020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saludo.jsp</a:t>
            </a:r>
            <a:endParaRPr lang="en-US" sz="1100" dirty="0"/>
          </a:p>
        </p:txBody>
      </p:sp>
      <p:sp>
        <p:nvSpPr>
          <p:cNvPr id="9" name="Text 7"/>
          <p:cNvSpPr/>
          <p:nvPr/>
        </p:nvSpPr>
        <p:spPr>
          <a:xfrm>
            <a:off x="4855464" y="1965960"/>
            <a:ext cx="3611880" cy="95097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&lt;%@ page contentType=</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"text/html; charset=UTF-8" %&gt;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&lt;h1&gt;Hola, ${nombre}&lt;/h1&gt;</a:t>
            </a:r>
            <a:endParaRPr lang="en-US" sz="1150" dirty="0"/>
          </a:p>
        </p:txBody>
      </p:sp>
      <p:sp>
        <p:nvSpPr>
          <p:cNvPr id="10" name="Shape 8"/>
          <p:cNvSpPr/>
          <p:nvPr/>
        </p:nvSpPr>
        <p:spPr>
          <a:xfrm>
            <a:off x="548640" y="3154680"/>
            <a:ext cx="8046720" cy="1463040"/>
          </a:xfrm>
          <a:prstGeom prst="roundRect">
            <a:avLst>
              <a:gd name="adj" fmla="val 500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31520" y="3300984"/>
            <a:ext cx="7680960" cy="365760"/>
          </a:xfrm>
          <a:prstGeom prst="rect">
            <a:avLst/>
          </a:prstGeom>
          <a:noFill/>
          <a:ln/>
        </p:spPr>
        <p:txBody>
          <a:bodyPr wrap="square" lIns="0" tIns="0" rIns="0" bIns="0" rtlCol="0" anchor="ctr"/>
          <a:lstStyle/>
          <a:p>
            <a:pPr indent="0" marL="0">
              <a:buNone/>
            </a:pPr>
            <a:r>
              <a:rPr lang="en-US" sz="1600" b="1" dirty="0">
                <a:solidFill>
                  <a:srgbClr val="C8651B"/>
                </a:solidFill>
                <a:latin typeface="Cambria" pitchFamily="34" charset="0"/>
                <a:ea typeface="Cambria" pitchFamily="34" charset="-122"/>
                <a:cs typeface="Cambria" pitchFamily="34" charset="-120"/>
              </a:rPr>
              <a:t>Sin código Java en la vista</a:t>
            </a:r>
            <a:endParaRPr lang="en-US" sz="1600" dirty="0"/>
          </a:p>
        </p:txBody>
      </p:sp>
      <p:sp>
        <p:nvSpPr>
          <p:cNvPr id="12" name="Text 10"/>
          <p:cNvSpPr/>
          <p:nvPr/>
        </p:nvSpPr>
        <p:spPr>
          <a:xfrm>
            <a:off x="731520" y="3721608"/>
            <a:ext cx="7680960" cy="7498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JSP es HTML con datos dinámicos: el contenedor la convierte en un servlet, pero tú escribes algo parecido a HTML. Regla moderna: nada de scriptlets &lt;% %&gt;; solo EL (${...}) y etiquetas JSTL. La lógica vive en el servlet y el servicio.</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5 — EL</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El lenguaje de expresiones</a:t>
            </a:r>
            <a:endParaRPr lang="en-US" sz="3000" dirty="0"/>
          </a:p>
        </p:txBody>
      </p:sp>
      <p:sp>
        <p:nvSpPr>
          <p:cNvPr id="4" name="Shape 2"/>
          <p:cNvSpPr/>
          <p:nvPr/>
        </p:nvSpPr>
        <p:spPr>
          <a:xfrm>
            <a:off x="548640" y="1600200"/>
            <a:ext cx="3977640" cy="1371600"/>
          </a:xfrm>
          <a:prstGeom prst="roundRect">
            <a:avLst>
              <a:gd name="adj" fmla="val 5333"/>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3575304" cy="8229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Dentro de la JSP necesitamos leer datos y propiedades de objetos sin escribir código Java. ¿Cómo?</a:t>
            </a:r>
            <a:endParaRPr lang="en-US" sz="1450" dirty="0"/>
          </a:p>
        </p:txBody>
      </p:sp>
      <p:sp>
        <p:nvSpPr>
          <p:cNvPr id="7" name="Shape 5"/>
          <p:cNvSpPr/>
          <p:nvPr/>
        </p:nvSpPr>
        <p:spPr>
          <a:xfrm>
            <a:off x="4709160" y="1600200"/>
            <a:ext cx="3886200" cy="1783080"/>
          </a:xfrm>
          <a:prstGeom prst="roundRect">
            <a:avLst>
              <a:gd name="adj" fmla="val 3077"/>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60020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EL en la JSP</a:t>
            </a:r>
            <a:endParaRPr lang="en-US" sz="1100" dirty="0"/>
          </a:p>
        </p:txBody>
      </p:sp>
      <p:sp>
        <p:nvSpPr>
          <p:cNvPr id="9" name="Text 7"/>
          <p:cNvSpPr/>
          <p:nvPr/>
        </p:nvSpPr>
        <p:spPr>
          <a:xfrm>
            <a:off x="4855464" y="1965960"/>
            <a:ext cx="3611880" cy="136245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${estudiante.nombre}</a:t>
            </a:r>
            <a:endParaRPr lang="en-US" sz="1200" dirty="0"/>
          </a:p>
          <a:p>
            <a:pPr indent="0" marL="0">
              <a:lnSpc>
                <a:spcPct val="102000"/>
              </a:lnSpc>
              <a:buNone/>
            </a:pPr>
            <a:r>
              <a:rPr lang="en-US" sz="1200" dirty="0">
                <a:solidFill>
                  <a:srgbClr val="5A6B72"/>
                </a:solidFill>
                <a:latin typeface="Courier New" pitchFamily="34" charset="0"/>
                <a:ea typeface="Courier New" pitchFamily="34" charset="-122"/>
                <a:cs typeface="Courier New" pitchFamily="34" charset="-120"/>
              </a:rPr>
              <a:t>   // llama a getNombre()</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${sessionScope.usuario}</a:t>
            </a:r>
            <a:endParaRPr lang="en-US" sz="1200" dirty="0"/>
          </a:p>
          <a:p>
            <a:pPr indent="0" marL="0">
              <a:lnSpc>
                <a:spcPct val="102000"/>
              </a:lnSpc>
              <a:buNone/>
            </a:pPr>
            <a:r>
              <a:rPr lang="en-US" sz="1200" dirty="0">
                <a:solidFill>
                  <a:srgbClr val="5A6B72"/>
                </a:solidFill>
                <a:latin typeface="Courier New" pitchFamily="34" charset="0"/>
                <a:ea typeface="Courier New" pitchFamily="34" charset="-122"/>
                <a:cs typeface="Courier New" pitchFamily="34" charset="-120"/>
              </a:rPr>
              <a:t>   // dato de la sesion</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${2 + 3}   // evalua</a:t>
            </a:r>
            <a:endParaRPr lang="en-US" sz="1200" dirty="0"/>
          </a:p>
        </p:txBody>
      </p:sp>
      <p:sp>
        <p:nvSpPr>
          <p:cNvPr id="10" name="Shape 8"/>
          <p:cNvSpPr/>
          <p:nvPr/>
        </p:nvSpPr>
        <p:spPr>
          <a:xfrm>
            <a:off x="548640" y="3154680"/>
            <a:ext cx="3977640" cy="1463040"/>
          </a:xfrm>
          <a:prstGeom prst="roundRect">
            <a:avLst>
              <a:gd name="adj" fmla="val 500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31520" y="3300984"/>
            <a:ext cx="3611880" cy="365760"/>
          </a:xfrm>
          <a:prstGeom prst="rect">
            <a:avLst/>
          </a:prstGeom>
          <a:noFill/>
          <a:ln/>
        </p:spPr>
        <p:txBody>
          <a:bodyPr wrap="square" lIns="0" tIns="0" rIns="0" bIns="0" rtlCol="0" anchor="ctr"/>
          <a:lstStyle/>
          <a:p>
            <a:pPr indent="0" marL="0">
              <a:buNone/>
            </a:pPr>
            <a:r>
              <a:rPr lang="en-US" sz="1600" b="1" dirty="0">
                <a:solidFill>
                  <a:srgbClr val="176B7A"/>
                </a:solidFill>
                <a:latin typeface="Cambria" pitchFamily="34" charset="0"/>
                <a:ea typeface="Cambria" pitchFamily="34" charset="-122"/>
                <a:cs typeface="Cambria" pitchFamily="34" charset="-120"/>
              </a:rPr>
              <a:t>Requiere JavaBeans</a:t>
            </a:r>
            <a:endParaRPr lang="en-US" sz="1600" dirty="0"/>
          </a:p>
        </p:txBody>
      </p:sp>
      <p:sp>
        <p:nvSpPr>
          <p:cNvPr id="12" name="Text 10"/>
          <p:cNvSpPr/>
          <p:nvPr/>
        </p:nvSpPr>
        <p:spPr>
          <a:xfrm>
            <a:off x="731520" y="3721608"/>
            <a:ext cx="3611880" cy="74980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Para que ${objeto.propiedad} funcione, el objeto debe tener getters/setters. Por eso el modelo se programa con clases JavaBean, no con record.</a:t>
            </a:r>
            <a:endParaRPr lang="en-US" sz="1350" dirty="0"/>
          </a:p>
        </p:txBody>
      </p:sp>
      <p:sp>
        <p:nvSpPr>
          <p:cNvPr id="13" name="Text 11"/>
          <p:cNvSpPr/>
          <p:nvPr/>
        </p:nvSpPr>
        <p:spPr>
          <a:xfrm>
            <a:off x="4709160" y="3611880"/>
            <a:ext cx="388620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EL distingue ámbitos: requestScope, sessionScope, applicationScope.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6 — JSTL</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Lógica de presentación sin scriptlets</a:t>
            </a:r>
            <a:endParaRPr lang="en-US" sz="3000" dirty="0"/>
          </a:p>
        </p:txBody>
      </p:sp>
      <p:sp>
        <p:nvSpPr>
          <p:cNvPr id="4" name="Shape 2"/>
          <p:cNvSpPr/>
          <p:nvPr/>
        </p:nvSpPr>
        <p:spPr>
          <a:xfrm>
            <a:off x="548640" y="1600200"/>
            <a:ext cx="3977640" cy="1463040"/>
          </a:xfrm>
          <a:prstGeom prst="roundRect">
            <a:avLst>
              <a:gd name="adj" fmla="val 5000"/>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3575304" cy="91440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En la vista necesitamos repetir filas (una por estudiante) y condicionar contenido, sin volver a escribir código Java. ¿Cómo?</a:t>
            </a:r>
            <a:endParaRPr lang="en-US" sz="1450" dirty="0"/>
          </a:p>
        </p:txBody>
      </p:sp>
      <p:sp>
        <p:nvSpPr>
          <p:cNvPr id="7" name="Shape 5"/>
          <p:cNvSpPr/>
          <p:nvPr/>
        </p:nvSpPr>
        <p:spPr>
          <a:xfrm>
            <a:off x="4709160" y="1600200"/>
            <a:ext cx="3886200" cy="1920240"/>
          </a:xfrm>
          <a:prstGeom prst="roundRect">
            <a:avLst>
              <a:gd name="adj" fmla="val 2857"/>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60020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lista.jsp (fragmento)</a:t>
            </a:r>
            <a:endParaRPr lang="en-US" sz="1100" dirty="0"/>
          </a:p>
        </p:txBody>
      </p:sp>
      <p:sp>
        <p:nvSpPr>
          <p:cNvPr id="9" name="Text 7"/>
          <p:cNvSpPr/>
          <p:nvPr/>
        </p:nvSpPr>
        <p:spPr>
          <a:xfrm>
            <a:off x="4855464" y="1965960"/>
            <a:ext cx="3611880" cy="149961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&lt;%@ taglib prefix="c"</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uri="jakarta.tags.core" %&gt;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&lt;c:forEach var="e"</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items="${estudiantes}"&gt;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&lt;td&gt;&lt;c:out value="${e.nombre}"/&gt;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&lt;/c:forEach&gt;</a:t>
            </a:r>
            <a:endParaRPr lang="en-US" sz="1150" dirty="0"/>
          </a:p>
        </p:txBody>
      </p:sp>
      <p:sp>
        <p:nvSpPr>
          <p:cNvPr id="10" name="Text 8"/>
          <p:cNvSpPr/>
          <p:nvPr/>
        </p:nvSpPr>
        <p:spPr>
          <a:xfrm>
            <a:off x="548640" y="3291840"/>
            <a:ext cx="3977640" cy="1371600"/>
          </a:xfrm>
          <a:prstGeom prst="rect">
            <a:avLst/>
          </a:prstGeom>
          <a:noFill/>
          <a:ln/>
        </p:spPr>
        <p:txBody>
          <a:bodyPr wrap="square" lIns="0" tIns="0" rIns="0" bIns="0" rtlCol="0" anchor="t"/>
          <a:lstStyle/>
          <a:p>
            <a:pPr indent="0" marL="0">
              <a:spcAft>
                <a:spcPts val="600"/>
              </a:spcAft>
              <a:buNone/>
            </a:pPr>
            <a:r>
              <a:rPr lang="en-US" sz="1350" dirty="0">
                <a:solidFill>
                  <a:srgbClr val="1F2933"/>
                </a:solidFill>
                <a:latin typeface="Calibri" pitchFamily="34" charset="0"/>
                <a:ea typeface="Calibri" pitchFamily="34" charset="-122"/>
                <a:cs typeface="Calibri" pitchFamily="34" charset="-120"/>
              </a:rPr>
              <a:t>c:forEach repite · c:if / c:choose condicionan · c:url para enlaces.</a:t>
            </a:r>
            <a:endParaRPr lang="en-US" sz="1350" dirty="0"/>
          </a:p>
          <a:p>
            <a:pPr indent="0" marL="0">
              <a:buNone/>
            </a:pPr>
            <a:r>
              <a:rPr lang="en-US" sz="1350" dirty="0">
                <a:solidFill>
                  <a:srgbClr val="1F2933"/>
                </a:solidFill>
                <a:latin typeface="Calibri" pitchFamily="34" charset="0"/>
                <a:ea typeface="Calibri" pitchFamily="34" charset="-122"/>
                <a:cs typeface="Calibri" pitchFamily="34" charset="-120"/>
              </a:rPr>
              <a:t>c:out escapa el texto: defensa anti-XSS, igual que el escapado manual.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7 — ARQUITECTURA</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Capas y patrón MVC</a:t>
            </a:r>
            <a:endParaRPr lang="en-US" sz="3000" dirty="0"/>
          </a:p>
        </p:txBody>
      </p:sp>
      <p:sp>
        <p:nvSpPr>
          <p:cNvPr id="4" name="Shape 2"/>
          <p:cNvSpPr/>
          <p:nvPr/>
        </p:nvSpPr>
        <p:spPr>
          <a:xfrm>
            <a:off x="548640" y="1600200"/>
            <a:ext cx="8046720" cy="868680"/>
          </a:xfrm>
          <a:prstGeom prst="roundRect">
            <a:avLst>
              <a:gd name="adj" fmla="val 8421"/>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7644384" cy="32004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Si mezclamos acceso a datos, lógica y presentación en cada servlet, el proyecto se vuelve inmanejable. ¿Cómo lo organizamos?</a:t>
            </a:r>
            <a:endParaRPr lang="en-US" sz="1450" dirty="0"/>
          </a:p>
        </p:txBody>
      </p:sp>
      <p:sp>
        <p:nvSpPr>
          <p:cNvPr id="7" name="Shape 5"/>
          <p:cNvSpPr/>
          <p:nvPr/>
        </p:nvSpPr>
        <p:spPr>
          <a:xfrm>
            <a:off x="548640" y="2743200"/>
            <a:ext cx="1554480" cy="1737360"/>
          </a:xfrm>
          <a:prstGeom prst="roundRect">
            <a:avLst>
              <a:gd name="adj" fmla="val 4706"/>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640080" y="2907792"/>
            <a:ext cx="1371600" cy="457200"/>
          </a:xfrm>
          <a:prstGeom prst="rect">
            <a:avLst/>
          </a:prstGeom>
          <a:noFill/>
          <a:ln/>
        </p:spPr>
        <p:txBody>
          <a:bodyPr wrap="square" lIns="0" tIns="0" rIns="0" bIns="0" rtlCol="0" anchor="ctr"/>
          <a:lstStyle/>
          <a:p>
            <a:pPr algn="ctr" indent="0" marL="0">
              <a:buNone/>
            </a:pPr>
            <a:r>
              <a:rPr lang="en-US" sz="1450" b="1" dirty="0">
                <a:solidFill>
                  <a:srgbClr val="176B7A"/>
                </a:solidFill>
                <a:latin typeface="Cambria" pitchFamily="34" charset="0"/>
                <a:ea typeface="Cambria" pitchFamily="34" charset="-122"/>
                <a:cs typeface="Cambria" pitchFamily="34" charset="-120"/>
              </a:rPr>
              <a:t>Modelo</a:t>
            </a:r>
            <a:endParaRPr lang="en-US" sz="1450" dirty="0"/>
          </a:p>
        </p:txBody>
      </p:sp>
      <p:sp>
        <p:nvSpPr>
          <p:cNvPr id="9" name="Text 7"/>
          <p:cNvSpPr/>
          <p:nvPr/>
        </p:nvSpPr>
        <p:spPr>
          <a:xfrm>
            <a:off x="658368" y="3383280"/>
            <a:ext cx="1335024" cy="10058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JavaBean: representa los datos</a:t>
            </a:r>
            <a:endParaRPr lang="en-US" sz="1200" dirty="0"/>
          </a:p>
        </p:txBody>
      </p:sp>
      <p:sp>
        <p:nvSpPr>
          <p:cNvPr id="10" name="Shape 8"/>
          <p:cNvSpPr/>
          <p:nvPr/>
        </p:nvSpPr>
        <p:spPr>
          <a:xfrm>
            <a:off x="2167128" y="2743200"/>
            <a:ext cx="1554480" cy="1737360"/>
          </a:xfrm>
          <a:prstGeom prst="roundRect">
            <a:avLst>
              <a:gd name="adj" fmla="val 4706"/>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2258568" y="2907792"/>
            <a:ext cx="1371600" cy="457200"/>
          </a:xfrm>
          <a:prstGeom prst="rect">
            <a:avLst/>
          </a:prstGeom>
          <a:noFill/>
          <a:ln/>
        </p:spPr>
        <p:txBody>
          <a:bodyPr wrap="square" lIns="0" tIns="0" rIns="0" bIns="0" rtlCol="0" anchor="ctr"/>
          <a:lstStyle/>
          <a:p>
            <a:pPr algn="ctr" indent="0" marL="0">
              <a:buNone/>
            </a:pPr>
            <a:r>
              <a:rPr lang="en-US" sz="1450" b="1" dirty="0">
                <a:solidFill>
                  <a:srgbClr val="176B7A"/>
                </a:solidFill>
                <a:latin typeface="Cambria" pitchFamily="34" charset="0"/>
                <a:ea typeface="Cambria" pitchFamily="34" charset="-122"/>
                <a:cs typeface="Cambria" pitchFamily="34" charset="-120"/>
              </a:rPr>
              <a:t>DAO</a:t>
            </a:r>
            <a:endParaRPr lang="en-US" sz="1450" dirty="0"/>
          </a:p>
        </p:txBody>
      </p:sp>
      <p:sp>
        <p:nvSpPr>
          <p:cNvPr id="12" name="Text 10"/>
          <p:cNvSpPr/>
          <p:nvPr/>
        </p:nvSpPr>
        <p:spPr>
          <a:xfrm>
            <a:off x="2276856" y="3383280"/>
            <a:ext cx="1335024" cy="10058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Acceso a datos (JDBC)</a:t>
            </a:r>
            <a:endParaRPr lang="en-US" sz="1200" dirty="0"/>
          </a:p>
        </p:txBody>
      </p:sp>
      <p:sp>
        <p:nvSpPr>
          <p:cNvPr id="13" name="Shape 11"/>
          <p:cNvSpPr/>
          <p:nvPr/>
        </p:nvSpPr>
        <p:spPr>
          <a:xfrm>
            <a:off x="3785616" y="2743200"/>
            <a:ext cx="1554480" cy="1737360"/>
          </a:xfrm>
          <a:prstGeom prst="roundRect">
            <a:avLst>
              <a:gd name="adj" fmla="val 4706"/>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3877056" y="2907792"/>
            <a:ext cx="1371600" cy="457200"/>
          </a:xfrm>
          <a:prstGeom prst="rect">
            <a:avLst/>
          </a:prstGeom>
          <a:noFill/>
          <a:ln/>
        </p:spPr>
        <p:txBody>
          <a:bodyPr wrap="square" lIns="0" tIns="0" rIns="0" bIns="0" rtlCol="0" anchor="ctr"/>
          <a:lstStyle/>
          <a:p>
            <a:pPr algn="ctr" indent="0" marL="0">
              <a:buNone/>
            </a:pPr>
            <a:r>
              <a:rPr lang="en-US" sz="1450" b="1" dirty="0">
                <a:solidFill>
                  <a:srgbClr val="176B7A"/>
                </a:solidFill>
                <a:latin typeface="Cambria" pitchFamily="34" charset="0"/>
                <a:ea typeface="Cambria" pitchFamily="34" charset="-122"/>
                <a:cs typeface="Cambria" pitchFamily="34" charset="-120"/>
              </a:rPr>
              <a:t>Servicio</a:t>
            </a:r>
            <a:endParaRPr lang="en-US" sz="1450" dirty="0"/>
          </a:p>
        </p:txBody>
      </p:sp>
      <p:sp>
        <p:nvSpPr>
          <p:cNvPr id="15" name="Text 13"/>
          <p:cNvSpPr/>
          <p:nvPr/>
        </p:nvSpPr>
        <p:spPr>
          <a:xfrm>
            <a:off x="3895344" y="3383280"/>
            <a:ext cx="1335024" cy="10058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Lógica y validaciones</a:t>
            </a:r>
            <a:endParaRPr lang="en-US" sz="1200" dirty="0"/>
          </a:p>
        </p:txBody>
      </p:sp>
      <p:sp>
        <p:nvSpPr>
          <p:cNvPr id="16" name="Shape 14"/>
          <p:cNvSpPr/>
          <p:nvPr/>
        </p:nvSpPr>
        <p:spPr>
          <a:xfrm>
            <a:off x="5404104" y="2743200"/>
            <a:ext cx="1554480" cy="1737360"/>
          </a:xfrm>
          <a:prstGeom prst="roundRect">
            <a:avLst>
              <a:gd name="adj" fmla="val 4706"/>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7" name="Text 15"/>
          <p:cNvSpPr/>
          <p:nvPr/>
        </p:nvSpPr>
        <p:spPr>
          <a:xfrm>
            <a:off x="5495544" y="2907792"/>
            <a:ext cx="1371600" cy="457200"/>
          </a:xfrm>
          <a:prstGeom prst="rect">
            <a:avLst/>
          </a:prstGeom>
          <a:noFill/>
          <a:ln/>
        </p:spPr>
        <p:txBody>
          <a:bodyPr wrap="square" lIns="0" tIns="0" rIns="0" bIns="0" rtlCol="0" anchor="ctr"/>
          <a:lstStyle/>
          <a:p>
            <a:pPr algn="ctr" indent="0" marL="0">
              <a:buNone/>
            </a:pPr>
            <a:r>
              <a:rPr lang="en-US" sz="1450" b="1" dirty="0">
                <a:solidFill>
                  <a:srgbClr val="176B7A"/>
                </a:solidFill>
                <a:latin typeface="Cambria" pitchFamily="34" charset="0"/>
                <a:ea typeface="Cambria" pitchFamily="34" charset="-122"/>
                <a:cs typeface="Cambria" pitchFamily="34" charset="-120"/>
              </a:rPr>
              <a:t>Controlador</a:t>
            </a:r>
            <a:endParaRPr lang="en-US" sz="1450" dirty="0"/>
          </a:p>
        </p:txBody>
      </p:sp>
      <p:sp>
        <p:nvSpPr>
          <p:cNvPr id="18" name="Text 16"/>
          <p:cNvSpPr/>
          <p:nvPr/>
        </p:nvSpPr>
        <p:spPr>
          <a:xfrm>
            <a:off x="5513832" y="3383280"/>
            <a:ext cx="1335024" cy="10058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Servlets: coordinan</a:t>
            </a:r>
            <a:endParaRPr lang="en-US" sz="1200" dirty="0"/>
          </a:p>
        </p:txBody>
      </p:sp>
      <p:sp>
        <p:nvSpPr>
          <p:cNvPr id="19" name="Shape 17"/>
          <p:cNvSpPr/>
          <p:nvPr/>
        </p:nvSpPr>
        <p:spPr>
          <a:xfrm>
            <a:off x="7022592" y="2743200"/>
            <a:ext cx="1554480" cy="1737360"/>
          </a:xfrm>
          <a:prstGeom prst="roundRect">
            <a:avLst>
              <a:gd name="adj" fmla="val 4706"/>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20" name="Text 18"/>
          <p:cNvSpPr/>
          <p:nvPr/>
        </p:nvSpPr>
        <p:spPr>
          <a:xfrm>
            <a:off x="7114032" y="2907792"/>
            <a:ext cx="1371600" cy="457200"/>
          </a:xfrm>
          <a:prstGeom prst="rect">
            <a:avLst/>
          </a:prstGeom>
          <a:noFill/>
          <a:ln/>
        </p:spPr>
        <p:txBody>
          <a:bodyPr wrap="square" lIns="0" tIns="0" rIns="0" bIns="0" rtlCol="0" anchor="ctr"/>
          <a:lstStyle/>
          <a:p>
            <a:pPr algn="ctr" indent="0" marL="0">
              <a:buNone/>
            </a:pPr>
            <a:r>
              <a:rPr lang="en-US" sz="1450" b="1" dirty="0">
                <a:solidFill>
                  <a:srgbClr val="176B7A"/>
                </a:solidFill>
                <a:latin typeface="Cambria" pitchFamily="34" charset="0"/>
                <a:ea typeface="Cambria" pitchFamily="34" charset="-122"/>
                <a:cs typeface="Cambria" pitchFamily="34" charset="-120"/>
              </a:rPr>
              <a:t>Vista</a:t>
            </a:r>
            <a:endParaRPr lang="en-US" sz="1450" dirty="0"/>
          </a:p>
        </p:txBody>
      </p:sp>
      <p:sp>
        <p:nvSpPr>
          <p:cNvPr id="21" name="Text 19"/>
          <p:cNvSpPr/>
          <p:nvPr/>
        </p:nvSpPr>
        <p:spPr>
          <a:xfrm>
            <a:off x="7132320" y="3383280"/>
            <a:ext cx="1335024" cy="1005840"/>
          </a:xfrm>
          <a:prstGeom prst="rect">
            <a:avLst/>
          </a:prstGeom>
          <a:noFill/>
          <a:ln/>
        </p:spPr>
        <p:txBody>
          <a:bodyPr wrap="square" lIns="0" tIns="0" rIns="0" bIns="0" rtlCol="0" anchor="t"/>
          <a:lstStyle/>
          <a:p>
            <a:pPr algn="ctr" indent="0" marL="0">
              <a:buNone/>
            </a:pPr>
            <a:r>
              <a:rPr lang="en-US" sz="1200" dirty="0">
                <a:solidFill>
                  <a:srgbClr val="1F2933"/>
                </a:solidFill>
                <a:latin typeface="Calibri" pitchFamily="34" charset="0"/>
                <a:ea typeface="Calibri" pitchFamily="34" charset="-122"/>
                <a:cs typeface="Calibri" pitchFamily="34" charset="-120"/>
              </a:rPr>
              <a:t>JSP + JSTL + EL</a:t>
            </a:r>
            <a:endParaRPr lang="en-US" sz="1200" dirty="0"/>
          </a:p>
        </p:txBody>
      </p:sp>
      <p:sp>
        <p:nvSpPr>
          <p:cNvPr id="22" name="Text 20"/>
          <p:cNvSpPr/>
          <p:nvPr/>
        </p:nvSpPr>
        <p:spPr>
          <a:xfrm>
            <a:off x="548640" y="461772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Programar con clases bien definidas en cada capa es lo que mantiene el orden al crecer.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8 — SEGURIDAD</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Inicio de sesión y control de acceso</a:t>
            </a:r>
            <a:endParaRPr lang="en-US" sz="3000" dirty="0"/>
          </a:p>
        </p:txBody>
      </p:sp>
      <p:sp>
        <p:nvSpPr>
          <p:cNvPr id="4" name="Shape 2"/>
          <p:cNvSpPr/>
          <p:nvPr/>
        </p:nvSpPr>
        <p:spPr>
          <a:xfrm>
            <a:off x="548640" y="1554480"/>
            <a:ext cx="8046720" cy="868680"/>
          </a:xfrm>
          <a:prstGeom prst="roundRect">
            <a:avLst>
              <a:gd name="adj" fmla="val 8421"/>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68249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1975104"/>
            <a:ext cx="7644384" cy="32004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Necesitamos un inicio de sesión que verifique credenciales y, además, impedir el acceso a las páginas privadas a quien no ha iniciado sesión.</a:t>
            </a:r>
            <a:endParaRPr lang="en-US" sz="1450" dirty="0"/>
          </a:p>
        </p:txBody>
      </p:sp>
      <p:sp>
        <p:nvSpPr>
          <p:cNvPr id="7" name="Shape 5"/>
          <p:cNvSpPr/>
          <p:nvPr/>
        </p:nvSpPr>
        <p:spPr>
          <a:xfrm>
            <a:off x="548640" y="2606040"/>
            <a:ext cx="397764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548640" y="2606040"/>
            <a:ext cx="397764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Idea del login</a:t>
            </a:r>
            <a:endParaRPr lang="en-US" sz="1100" dirty="0"/>
          </a:p>
        </p:txBody>
      </p:sp>
      <p:sp>
        <p:nvSpPr>
          <p:cNvPr id="9" name="Text 7"/>
          <p:cNvSpPr/>
          <p:nvPr/>
        </p:nvSpPr>
        <p:spPr>
          <a:xfrm>
            <a:off x="694944" y="2971800"/>
            <a:ext cx="3703320" cy="1408176"/>
          </a:xfrm>
          <a:prstGeom prst="rect">
            <a:avLst/>
          </a:prstGeom>
          <a:noFill/>
          <a:ln/>
        </p:spPr>
        <p:txBody>
          <a:bodyPr wrap="square" lIns="0" tIns="0" rIns="0" bIns="0" rtlCol="0" anchor="t"/>
          <a:lstStyle/>
          <a:p>
            <a:pPr indent="0" marL="0">
              <a:lnSpc>
                <a:spcPct val="102000"/>
              </a:lnSpc>
              <a:buNone/>
            </a:pPr>
            <a:r>
              <a:rPr lang="en-US" sz="1150" dirty="0">
                <a:solidFill>
                  <a:srgbClr val="5A6B72"/>
                </a:solidFill>
                <a:latin typeface="Courier New" pitchFamily="34" charset="0"/>
                <a:ea typeface="Courier New" pitchFamily="34" charset="-122"/>
                <a:cs typeface="Courier New" pitchFamily="34" charset="-120"/>
              </a:rPr>
              <a:t>// tras validar credenciales (BCrypt):</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HttpSession s = req.getSession();</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s.setAttribute("usuario", usuario);</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resp.sendRedirect(".../estudiantes");</a:t>
            </a:r>
            <a:endParaRPr lang="en-US" sz="1150" dirty="0"/>
          </a:p>
        </p:txBody>
      </p:sp>
      <p:sp>
        <p:nvSpPr>
          <p:cNvPr id="10" name="Shape 8"/>
          <p:cNvSpPr/>
          <p:nvPr/>
        </p:nvSpPr>
        <p:spPr>
          <a:xfrm>
            <a:off x="4709160" y="2606040"/>
            <a:ext cx="388620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4709160" y="260604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AutenticacionFilter.java</a:t>
            </a:r>
            <a:endParaRPr lang="en-US" sz="1100" dirty="0"/>
          </a:p>
        </p:txBody>
      </p:sp>
      <p:sp>
        <p:nvSpPr>
          <p:cNvPr id="12" name="Text 10"/>
          <p:cNvSpPr/>
          <p:nvPr/>
        </p:nvSpPr>
        <p:spPr>
          <a:xfrm>
            <a:off x="4855464" y="2971800"/>
            <a:ext cx="3611880" cy="1408176"/>
          </a:xfrm>
          <a:prstGeom prst="rect">
            <a:avLst/>
          </a:prstGeom>
          <a:noFill/>
          <a:ln/>
        </p:spPr>
        <p:txBody>
          <a:bodyPr wrap="square" lIns="0" tIns="0" rIns="0" bIns="0" rtlCol="0" anchor="t"/>
          <a:lstStyle/>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@WebFilter("/estudiantes")</a:t>
            </a:r>
            <a:endParaRPr lang="en-US" sz="1150" dirty="0"/>
          </a:p>
          <a:p>
            <a:pPr indent="0" marL="0">
              <a:lnSpc>
                <a:spcPct val="102000"/>
              </a:lnSpc>
              <a:buNone/>
            </a:pPr>
            <a:r>
              <a:rPr lang="en-US" sz="1150" dirty="0">
                <a:solidFill>
                  <a:srgbClr val="5A6B72"/>
                </a:solidFill>
                <a:latin typeface="Courier New" pitchFamily="34" charset="0"/>
                <a:ea typeface="Courier New" pitchFamily="34" charset="-122"/>
                <a:cs typeface="Courier New" pitchFamily="34" charset="-120"/>
              </a:rPr>
              <a:t>// si hay usuario en sesion:</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chain.doFilter(req, resp);</a:t>
            </a:r>
            <a:endParaRPr lang="en-US" sz="1150" dirty="0"/>
          </a:p>
          <a:p>
            <a:pPr indent="0" marL="0">
              <a:lnSpc>
                <a:spcPct val="102000"/>
              </a:lnSpc>
              <a:buNone/>
            </a:pPr>
            <a:r>
              <a:rPr lang="en-US" sz="1150" dirty="0">
                <a:solidFill>
                  <a:srgbClr val="5A6B72"/>
                </a:solidFill>
                <a:latin typeface="Courier New" pitchFamily="34" charset="0"/>
                <a:ea typeface="Courier New" pitchFamily="34" charset="-122"/>
                <a:cs typeface="Courier New" pitchFamily="34" charset="-120"/>
              </a:rPr>
              <a:t>// si no:</a:t>
            </a:r>
            <a:endParaRPr lang="en-US" sz="1150" dirty="0"/>
          </a:p>
          <a:p>
            <a:pPr indent="0" marL="0">
              <a:lnSpc>
                <a:spcPct val="102000"/>
              </a:lnSpc>
              <a:buNone/>
            </a:pPr>
            <a:r>
              <a:rPr lang="en-US" sz="1150" dirty="0">
                <a:solidFill>
                  <a:srgbClr val="1F2933"/>
                </a:solidFill>
                <a:latin typeface="Courier New" pitchFamily="34" charset="0"/>
                <a:ea typeface="Courier New" pitchFamily="34" charset="-122"/>
                <a:cs typeface="Courier New" pitchFamily="34" charset="-120"/>
              </a:rPr>
              <a:t>   resp.sendRedirect(".../login");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9 — CRUD</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Crear, listar, editar y eliminar</a:t>
            </a:r>
            <a:endParaRPr lang="en-US" sz="3000" dirty="0"/>
          </a:p>
        </p:txBody>
      </p:sp>
      <p:sp>
        <p:nvSpPr>
          <p:cNvPr id="4" name="Shape 2"/>
          <p:cNvSpPr/>
          <p:nvPr/>
        </p:nvSpPr>
        <p:spPr>
          <a:xfrm>
            <a:off x="548640" y="1554480"/>
            <a:ext cx="3977640" cy="1371600"/>
          </a:xfrm>
          <a:prstGeom prst="roundRect">
            <a:avLst>
              <a:gd name="adj" fmla="val 5333"/>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68249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1975104"/>
            <a:ext cx="3575304" cy="8229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El corazón de la aplicación: gestionar registros con un DAO, un servlet controlador y vistas JSP.</a:t>
            </a:r>
            <a:endParaRPr lang="en-US" sz="1450" dirty="0"/>
          </a:p>
        </p:txBody>
      </p:sp>
      <p:sp>
        <p:nvSpPr>
          <p:cNvPr id="7" name="Shape 5"/>
          <p:cNvSpPr/>
          <p:nvPr/>
        </p:nvSpPr>
        <p:spPr>
          <a:xfrm>
            <a:off x="4709160" y="1554480"/>
            <a:ext cx="3886200" cy="2240280"/>
          </a:xfrm>
          <a:prstGeom prst="roundRect">
            <a:avLst>
              <a:gd name="adj" fmla="val 2449"/>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55448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DAO con sentencias preparadas</a:t>
            </a:r>
            <a:endParaRPr lang="en-US" sz="1100" dirty="0"/>
          </a:p>
        </p:txBody>
      </p:sp>
      <p:sp>
        <p:nvSpPr>
          <p:cNvPr id="9" name="Text 7"/>
          <p:cNvSpPr/>
          <p:nvPr/>
        </p:nvSpPr>
        <p:spPr>
          <a:xfrm>
            <a:off x="4855464" y="1920240"/>
            <a:ext cx="3611880" cy="1819656"/>
          </a:xfrm>
          <a:prstGeom prst="rect">
            <a:avLst/>
          </a:prstGeom>
          <a:noFill/>
          <a:ln/>
        </p:spPr>
        <p:txBody>
          <a:bodyPr wrap="square" lIns="0" tIns="0" rIns="0" bIns="0" rtlCol="0" anchor="t"/>
          <a:lstStyle/>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String sql = "INSERT INTO estudiantes"</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 (nombre,correo,carrera) VALUES (?,?,?)";</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PreparedStatement ps =</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    con.prepareStatement(sql); // anti-inyeccion</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ps.setString(1, e.getNombre());</a:t>
            </a:r>
            <a:endParaRPr lang="en-US" sz="1050" dirty="0"/>
          </a:p>
          <a:p>
            <a:pPr indent="0" marL="0">
              <a:lnSpc>
                <a:spcPct val="102000"/>
              </a:lnSpc>
              <a:buNone/>
            </a:pPr>
            <a:r>
              <a:rPr lang="en-US" sz="1050" dirty="0">
                <a:solidFill>
                  <a:srgbClr val="1F2933"/>
                </a:solidFill>
                <a:latin typeface="Courier New" pitchFamily="34" charset="0"/>
                <a:ea typeface="Courier New" pitchFamily="34" charset="-122"/>
                <a:cs typeface="Courier New" pitchFamily="34" charset="-120"/>
              </a:rPr>
              <a:t>ps.executeUpdate();</a:t>
            </a:r>
            <a:endParaRPr lang="en-US" sz="1050" dirty="0"/>
          </a:p>
        </p:txBody>
      </p:sp>
      <p:sp>
        <p:nvSpPr>
          <p:cNvPr id="10" name="Text 8"/>
          <p:cNvSpPr/>
          <p:nvPr/>
        </p:nvSpPr>
        <p:spPr>
          <a:xfrm>
            <a:off x="548640" y="3108960"/>
            <a:ext cx="3977640" cy="14630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Un servlet enruta las acciones con un parámetro accion.</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Marcadores ? en todo SQL: anti-inyección.</a:t>
            </a:r>
            <a:endParaRPr lang="en-US" sz="1300" dirty="0"/>
          </a:p>
          <a:p>
            <a:pPr marL="177800" indent="-1778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Tras guardar/eliminar → redirige (patrón PRG).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10 — REPORTES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Información resumida</a:t>
            </a:r>
            <a:endParaRPr lang="en-US" sz="3000" dirty="0"/>
          </a:p>
        </p:txBody>
      </p:sp>
      <p:sp>
        <p:nvSpPr>
          <p:cNvPr id="4" name="Shape 2"/>
          <p:cNvSpPr/>
          <p:nvPr/>
        </p:nvSpPr>
        <p:spPr>
          <a:xfrm>
            <a:off x="548640" y="1600200"/>
            <a:ext cx="3977640" cy="1371600"/>
          </a:xfrm>
          <a:prstGeom prst="roundRect">
            <a:avLst>
              <a:gd name="adj" fmla="val 5333"/>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28216"/>
            <a:ext cx="361188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20824"/>
            <a:ext cx="3575304" cy="8229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La dirección necesita datos agregados: por ejemplo, cuántos estudiantes hay por carrera.</a:t>
            </a:r>
            <a:endParaRPr lang="en-US" sz="1450" dirty="0"/>
          </a:p>
        </p:txBody>
      </p:sp>
      <p:sp>
        <p:nvSpPr>
          <p:cNvPr id="7" name="Shape 5"/>
          <p:cNvSpPr/>
          <p:nvPr/>
        </p:nvSpPr>
        <p:spPr>
          <a:xfrm>
            <a:off x="4709160" y="1600200"/>
            <a:ext cx="3886200" cy="1417320"/>
          </a:xfrm>
          <a:prstGeom prst="roundRect">
            <a:avLst>
              <a:gd name="adj" fmla="val 3871"/>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709160" y="160020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Consulta de agregación (SQL)</a:t>
            </a:r>
            <a:endParaRPr lang="en-US" sz="1100" dirty="0"/>
          </a:p>
        </p:txBody>
      </p:sp>
      <p:sp>
        <p:nvSpPr>
          <p:cNvPr id="9" name="Text 7"/>
          <p:cNvSpPr/>
          <p:nvPr/>
        </p:nvSpPr>
        <p:spPr>
          <a:xfrm>
            <a:off x="4855464" y="1965960"/>
            <a:ext cx="3611880" cy="996696"/>
          </a:xfrm>
          <a:prstGeom prst="rect">
            <a:avLst/>
          </a:prstGeom>
          <a:noFill/>
          <a:ln/>
        </p:spPr>
        <p:txBody>
          <a:bodyPr wrap="square" lIns="0" tIns="0" rIns="0" bIns="0" rtlCol="0" anchor="t"/>
          <a:lstStyle/>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SELECT carrera, COUNT(*) AS total</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FROM estudiantes</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GROUP BY carrera</a:t>
            </a:r>
            <a:endParaRPr lang="en-US" sz="1200" dirty="0"/>
          </a:p>
          <a:p>
            <a:pPr indent="0" marL="0">
              <a:lnSpc>
                <a:spcPct val="102000"/>
              </a:lnSpc>
              <a:buNone/>
            </a:pPr>
            <a:r>
              <a:rPr lang="en-US" sz="1200" dirty="0">
                <a:solidFill>
                  <a:srgbClr val="1F2933"/>
                </a:solidFill>
                <a:latin typeface="Courier New" pitchFamily="34" charset="0"/>
                <a:ea typeface="Courier New" pitchFamily="34" charset="-122"/>
                <a:cs typeface="Courier New" pitchFamily="34" charset="-120"/>
              </a:rPr>
              <a:t>ORDER BY carrera;</a:t>
            </a:r>
            <a:endParaRPr lang="en-US" sz="1200" dirty="0"/>
          </a:p>
        </p:txBody>
      </p:sp>
      <p:sp>
        <p:nvSpPr>
          <p:cNvPr id="10" name="Shape 8"/>
          <p:cNvSpPr/>
          <p:nvPr/>
        </p:nvSpPr>
        <p:spPr>
          <a:xfrm>
            <a:off x="548640" y="3154680"/>
            <a:ext cx="8046720" cy="1371600"/>
          </a:xfrm>
          <a:prstGeom prst="roundRect">
            <a:avLst>
              <a:gd name="adj" fmla="val 5333"/>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31520" y="3300984"/>
            <a:ext cx="7680960" cy="365760"/>
          </a:xfrm>
          <a:prstGeom prst="rect">
            <a:avLst/>
          </a:prstGeom>
          <a:noFill/>
          <a:ln/>
        </p:spPr>
        <p:txBody>
          <a:bodyPr wrap="square" lIns="0" tIns="0" rIns="0" bIns="0" rtlCol="0" anchor="ctr"/>
          <a:lstStyle/>
          <a:p>
            <a:pPr indent="0" marL="0">
              <a:buNone/>
            </a:pPr>
            <a:r>
              <a:rPr lang="en-US" sz="1600" b="1" dirty="0">
                <a:solidFill>
                  <a:srgbClr val="176B7A"/>
                </a:solidFill>
                <a:latin typeface="Cambria" pitchFamily="34" charset="0"/>
                <a:ea typeface="Cambria" pitchFamily="34" charset="-122"/>
                <a:cs typeface="Cambria" pitchFamily="34" charset="-120"/>
              </a:rPr>
              <a:t>Mismo patrón que el listado</a:t>
            </a:r>
            <a:endParaRPr lang="en-US" sz="1600" dirty="0"/>
          </a:p>
        </p:txBody>
      </p:sp>
      <p:sp>
        <p:nvSpPr>
          <p:cNvPr id="12" name="Text 10"/>
          <p:cNvSpPr/>
          <p:nvPr/>
        </p:nvSpPr>
        <p:spPr>
          <a:xfrm>
            <a:off x="731520" y="3721608"/>
            <a:ext cx="7680960" cy="6583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El DAO ejecuta la consulta GROUP BY y devuelve los totales; el servlet los pasa a una JSP que los recorre con c:forEach (para un mapa, la variable expone key y value). La diferencia con el listado está solo en la consulta.</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11 — IMPRESIÓN</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Reportes impresos</a:t>
            </a:r>
            <a:endParaRPr lang="en-US" sz="3000" dirty="0"/>
          </a:p>
        </p:txBody>
      </p:sp>
      <p:sp>
        <p:nvSpPr>
          <p:cNvPr id="4" name="Shape 2"/>
          <p:cNvSpPr/>
          <p:nvPr/>
        </p:nvSpPr>
        <p:spPr>
          <a:xfrm>
            <a:off x="548640" y="1554480"/>
            <a:ext cx="8046720" cy="868680"/>
          </a:xfrm>
          <a:prstGeom prst="roundRect">
            <a:avLst>
              <a:gd name="adj" fmla="val 8421"/>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68249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1975104"/>
            <a:ext cx="7644384" cy="32004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La secretaría necesita un documento para imprimir o archivar, idealmente en PDF. ¿Cómo lo generamos?</a:t>
            </a:r>
            <a:endParaRPr lang="en-US" sz="1450" dirty="0"/>
          </a:p>
        </p:txBody>
      </p:sp>
      <p:sp>
        <p:nvSpPr>
          <p:cNvPr id="7" name="Shape 5"/>
          <p:cNvSpPr/>
          <p:nvPr/>
        </p:nvSpPr>
        <p:spPr>
          <a:xfrm>
            <a:off x="548640" y="2606040"/>
            <a:ext cx="397764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548640" y="2606040"/>
            <a:ext cx="397764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Camino sencillo: imprimir HTML</a:t>
            </a:r>
            <a:endParaRPr lang="en-US" sz="1100" dirty="0"/>
          </a:p>
        </p:txBody>
      </p:sp>
      <p:sp>
        <p:nvSpPr>
          <p:cNvPr id="9" name="Text 7"/>
          <p:cNvSpPr/>
          <p:nvPr/>
        </p:nvSpPr>
        <p:spPr>
          <a:xfrm>
            <a:off x="694944" y="2971800"/>
            <a:ext cx="3703320" cy="14081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@media print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nav, .botones { display:none;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body { font-size: 12pt;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a:p>
            <a:pPr indent="0" marL="0">
              <a:lnSpc>
                <a:spcPct val="102000"/>
              </a:lnSpc>
              <a:buNone/>
            </a:pPr>
            <a:r>
              <a:rPr lang="en-US" sz="1100" dirty="0">
                <a:solidFill>
                  <a:srgbClr val="5A6B72"/>
                </a:solidFill>
                <a:latin typeface="Courier New" pitchFamily="34" charset="0"/>
                <a:ea typeface="Courier New" pitchFamily="34" charset="-122"/>
                <a:cs typeface="Courier New" pitchFamily="34" charset="-120"/>
              </a:rPr>
              <a:t>// el navegador: Guardar como PDF</a:t>
            </a:r>
            <a:endParaRPr lang="en-US" sz="1100" dirty="0"/>
          </a:p>
        </p:txBody>
      </p:sp>
      <p:sp>
        <p:nvSpPr>
          <p:cNvPr id="10" name="Shape 8"/>
          <p:cNvSpPr/>
          <p:nvPr/>
        </p:nvSpPr>
        <p:spPr>
          <a:xfrm>
            <a:off x="4709160" y="2606040"/>
            <a:ext cx="388620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4709160" y="2606040"/>
            <a:ext cx="388620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PDF en el servidor (OpenPDF)</a:t>
            </a:r>
            <a:endParaRPr lang="en-US" sz="1100" dirty="0"/>
          </a:p>
        </p:txBody>
      </p:sp>
      <p:sp>
        <p:nvSpPr>
          <p:cNvPr id="12" name="Text 10"/>
          <p:cNvSpPr/>
          <p:nvPr/>
        </p:nvSpPr>
        <p:spPr>
          <a:xfrm>
            <a:off x="4855464" y="2971800"/>
            <a:ext cx="3611880" cy="14081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resp.setContentType("application/pdf");</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PdfWriter.getInstance(doc,</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resp.getOutputStream());</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doc.add(new Paragraph("..."));</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doc.close();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12 — INTEGRADOR</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El problema completo</a:t>
            </a:r>
            <a:endParaRPr lang="en-US" sz="3000" dirty="0"/>
          </a:p>
        </p:txBody>
      </p:sp>
      <p:sp>
        <p:nvSpPr>
          <p:cNvPr id="4" name="Shape 2"/>
          <p:cNvSpPr/>
          <p:nvPr/>
        </p:nvSpPr>
        <p:spPr>
          <a:xfrm>
            <a:off x="548640" y="1600200"/>
            <a:ext cx="8046720" cy="868680"/>
          </a:xfrm>
          <a:prstGeom prst="roundRect">
            <a:avLst>
              <a:gd name="adj" fmla="val 8421"/>
            </a:avLst>
          </a:prstGeom>
          <a:solidFill>
            <a:srgbClr val="0E4A55"/>
          </a:solidFill>
          <a:ln/>
          <a:effectLst>
            <a:outerShdw sx="100000" sy="100000" kx="0" ky="0" algn="bl" rotWithShape="0" blurRad="88900" dist="38100" dir="5400000">
              <a:srgbClr val="000000">
                <a:alpha val="10000"/>
              </a:srgbClr>
            </a:outerShdw>
          </a:effectLst>
        </p:spPr>
      </p:sp>
      <p:sp>
        <p:nvSpPr>
          <p:cNvPr id="5" name="Text 3"/>
          <p:cNvSpPr/>
          <p:nvPr/>
        </p:nvSpPr>
        <p:spPr>
          <a:xfrm>
            <a:off x="777240" y="1700784"/>
            <a:ext cx="758952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Sistema de Gestión de Estudiantes</a:t>
            </a:r>
            <a:endParaRPr lang="en-US" sz="1900" dirty="0"/>
          </a:p>
        </p:txBody>
      </p:sp>
      <p:sp>
        <p:nvSpPr>
          <p:cNvPr id="6" name="Text 4"/>
          <p:cNvSpPr/>
          <p:nvPr/>
        </p:nvSpPr>
        <p:spPr>
          <a:xfrm>
            <a:off x="777240" y="2066544"/>
            <a:ext cx="7589520" cy="320040"/>
          </a:xfrm>
          <a:prstGeom prst="rect">
            <a:avLst/>
          </a:prstGeom>
          <a:noFill/>
          <a:ln/>
        </p:spPr>
        <p:txBody>
          <a:bodyPr wrap="square" lIns="0" tIns="0" rIns="0" bIns="0" rtlCol="0" anchor="ctr"/>
          <a:lstStyle/>
          <a:p>
            <a:pPr indent="0" marL="0">
              <a:buNone/>
            </a:pPr>
            <a:r>
              <a:rPr lang="en-US" sz="1300" dirty="0">
                <a:solidFill>
                  <a:srgbClr val="BFD6DB"/>
                </a:solidFill>
                <a:latin typeface="Calibri" pitchFamily="34" charset="0"/>
                <a:ea typeface="Calibri" pitchFamily="34" charset="-122"/>
                <a:cs typeface="Calibri" pitchFamily="34" charset="-120"/>
              </a:rPr>
              <a:t>Reunimos todos los subproblemas en una sola aplicación.</a:t>
            </a:r>
            <a:endParaRPr lang="en-US" sz="1300" dirty="0"/>
          </a:p>
        </p:txBody>
      </p:sp>
      <p:sp>
        <p:nvSpPr>
          <p:cNvPr id="7" name="Shape 5"/>
          <p:cNvSpPr/>
          <p:nvPr/>
        </p:nvSpPr>
        <p:spPr>
          <a:xfrm>
            <a:off x="548640" y="2743200"/>
            <a:ext cx="384048" cy="384048"/>
          </a:xfrm>
          <a:prstGeom prst="ellipse">
            <a:avLst/>
          </a:prstGeom>
          <a:solidFill>
            <a:srgbClr val="C8651B"/>
          </a:solidFill>
          <a:ln/>
        </p:spPr>
      </p:sp>
      <p:sp>
        <p:nvSpPr>
          <p:cNvPr id="8" name="Text 6"/>
          <p:cNvSpPr/>
          <p:nvPr/>
        </p:nvSpPr>
        <p:spPr>
          <a:xfrm>
            <a:off x="548640" y="27432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097280" y="2724912"/>
            <a:ext cx="7498080" cy="420624"/>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Inicio de sesión  </a:t>
            </a:r>
            <a:pPr indent="0" marL="0">
              <a:buNone/>
            </a:pPr>
            <a:r>
              <a:rPr lang="en-US" sz="1450" dirty="0">
                <a:solidFill>
                  <a:srgbClr val="1F2933"/>
                </a:solidFill>
                <a:latin typeface="Calibri" pitchFamily="34" charset="0"/>
                <a:ea typeface="Calibri" pitchFamily="34" charset="-122"/>
                <a:cs typeface="Calibri" pitchFamily="34" charset="-120"/>
              </a:rPr>
              <a:t>— valida usuario y contraseña</a:t>
            </a:r>
            <a:endParaRPr lang="en-US" sz="1450" dirty="0"/>
          </a:p>
        </p:txBody>
      </p:sp>
      <p:sp>
        <p:nvSpPr>
          <p:cNvPr id="10" name="Shape 8"/>
          <p:cNvSpPr/>
          <p:nvPr/>
        </p:nvSpPr>
        <p:spPr>
          <a:xfrm>
            <a:off x="548640" y="3200400"/>
            <a:ext cx="384048" cy="384048"/>
          </a:xfrm>
          <a:prstGeom prst="ellipse">
            <a:avLst/>
          </a:prstGeom>
          <a:solidFill>
            <a:srgbClr val="C8651B"/>
          </a:solidFill>
          <a:ln/>
        </p:spPr>
      </p:sp>
      <p:sp>
        <p:nvSpPr>
          <p:cNvPr id="11" name="Text 9"/>
          <p:cNvSpPr/>
          <p:nvPr/>
        </p:nvSpPr>
        <p:spPr>
          <a:xfrm>
            <a:off x="548640" y="32004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1097280" y="3182112"/>
            <a:ext cx="7498080" cy="420624"/>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Control de acceso  </a:t>
            </a:r>
            <a:pPr indent="0" marL="0">
              <a:buNone/>
            </a:pPr>
            <a:r>
              <a:rPr lang="en-US" sz="1450" dirty="0">
                <a:solidFill>
                  <a:srgbClr val="1F2933"/>
                </a:solidFill>
                <a:latin typeface="Calibri" pitchFamily="34" charset="0"/>
                <a:ea typeface="Calibri" pitchFamily="34" charset="-122"/>
                <a:cs typeface="Calibri" pitchFamily="34" charset="-120"/>
              </a:rPr>
              <a:t>— solo autenticados entran a la gestión</a:t>
            </a:r>
            <a:endParaRPr lang="en-US" sz="1450" dirty="0"/>
          </a:p>
        </p:txBody>
      </p:sp>
      <p:sp>
        <p:nvSpPr>
          <p:cNvPr id="13" name="Shape 11"/>
          <p:cNvSpPr/>
          <p:nvPr/>
        </p:nvSpPr>
        <p:spPr>
          <a:xfrm>
            <a:off x="548640" y="3657600"/>
            <a:ext cx="384048" cy="384048"/>
          </a:xfrm>
          <a:prstGeom prst="ellipse">
            <a:avLst/>
          </a:prstGeom>
          <a:solidFill>
            <a:srgbClr val="C8651B"/>
          </a:solidFill>
          <a:ln/>
        </p:spPr>
      </p:sp>
      <p:sp>
        <p:nvSpPr>
          <p:cNvPr id="14" name="Text 12"/>
          <p:cNvSpPr/>
          <p:nvPr/>
        </p:nvSpPr>
        <p:spPr>
          <a:xfrm>
            <a:off x="548640" y="36576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1097280" y="3639312"/>
            <a:ext cx="7498080" cy="420624"/>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CRUD  </a:t>
            </a:r>
            <a:pPr indent="0" marL="0">
              <a:buNone/>
            </a:pPr>
            <a:r>
              <a:rPr lang="en-US" sz="1450" dirty="0">
                <a:solidFill>
                  <a:srgbClr val="1F2933"/>
                </a:solidFill>
                <a:latin typeface="Calibri" pitchFamily="34" charset="0"/>
                <a:ea typeface="Calibri" pitchFamily="34" charset="-122"/>
                <a:cs typeface="Calibri" pitchFamily="34" charset="-120"/>
              </a:rPr>
              <a:t>— crear, listar, editar y eliminar</a:t>
            </a:r>
            <a:endParaRPr lang="en-US" sz="1450" dirty="0"/>
          </a:p>
        </p:txBody>
      </p:sp>
      <p:sp>
        <p:nvSpPr>
          <p:cNvPr id="16" name="Shape 14"/>
          <p:cNvSpPr/>
          <p:nvPr/>
        </p:nvSpPr>
        <p:spPr>
          <a:xfrm>
            <a:off x="548640" y="4114800"/>
            <a:ext cx="384048" cy="384048"/>
          </a:xfrm>
          <a:prstGeom prst="ellipse">
            <a:avLst/>
          </a:prstGeom>
          <a:solidFill>
            <a:srgbClr val="C8651B"/>
          </a:solidFill>
          <a:ln/>
        </p:spPr>
      </p:sp>
      <p:sp>
        <p:nvSpPr>
          <p:cNvPr id="17" name="Text 15"/>
          <p:cNvSpPr/>
          <p:nvPr/>
        </p:nvSpPr>
        <p:spPr>
          <a:xfrm>
            <a:off x="548640" y="41148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1097280" y="4096512"/>
            <a:ext cx="7498080" cy="420624"/>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Reportes  </a:t>
            </a:r>
            <a:pPr indent="0" marL="0">
              <a:buNone/>
            </a:pPr>
            <a:r>
              <a:rPr lang="en-US" sz="1450" dirty="0">
                <a:solidFill>
                  <a:srgbClr val="1F2933"/>
                </a:solidFill>
                <a:latin typeface="Calibri" pitchFamily="34" charset="0"/>
                <a:ea typeface="Calibri" pitchFamily="34" charset="-122"/>
                <a:cs typeface="Calibri" pitchFamily="34" charset="-120"/>
              </a:rPr>
              <a:t>— total de estudiantes por carrera</a:t>
            </a:r>
            <a:endParaRPr lang="en-US" sz="1450" dirty="0"/>
          </a:p>
        </p:txBody>
      </p:sp>
      <p:sp>
        <p:nvSpPr>
          <p:cNvPr id="19" name="Shape 17"/>
          <p:cNvSpPr/>
          <p:nvPr/>
        </p:nvSpPr>
        <p:spPr>
          <a:xfrm>
            <a:off x="548640" y="4572000"/>
            <a:ext cx="384048" cy="384048"/>
          </a:xfrm>
          <a:prstGeom prst="ellipse">
            <a:avLst/>
          </a:prstGeom>
          <a:solidFill>
            <a:srgbClr val="C8651B"/>
          </a:solidFill>
          <a:ln/>
        </p:spPr>
      </p:sp>
      <p:sp>
        <p:nvSpPr>
          <p:cNvPr id="20" name="Text 18"/>
          <p:cNvSpPr/>
          <p:nvPr/>
        </p:nvSpPr>
        <p:spPr>
          <a:xfrm>
            <a:off x="548640" y="4572000"/>
            <a:ext cx="384048"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p:nvPr/>
        </p:nvSpPr>
        <p:spPr>
          <a:xfrm>
            <a:off x="1097280" y="4553712"/>
            <a:ext cx="7498080" cy="420624"/>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Reportes impresos  </a:t>
            </a:r>
            <a:pPr indent="0" marL="0">
              <a:buNone/>
            </a:pPr>
            <a:r>
              <a:rPr lang="en-US" sz="1450" dirty="0">
                <a:solidFill>
                  <a:srgbClr val="1F2933"/>
                </a:solidFill>
                <a:latin typeface="Calibri" pitchFamily="34" charset="0"/>
                <a:ea typeface="Calibri" pitchFamily="34" charset="-122"/>
                <a:cs typeface="Calibri" pitchFamily="34" charset="-120"/>
              </a:rPr>
              <a:t>— descargar el reporte en PDF</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12 — INTEGRADOR</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Cada requisito y sus piezas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046720" cy="914400"/>
        </p:xfrm>
        <a:graphic>
          <a:graphicData uri="http://schemas.openxmlformats.org/drawingml/2006/table">
            <a:tbl>
              <a:tblPr/>
              <a:tblGrid>
                <a:gridCol w="2377440"/>
                <a:gridCol w="5669280"/>
              </a:tblGrid>
              <a:tr h="50292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Requisito</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176B7A"/>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Piezas que lo resuelven</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176B7A"/>
                    </a:solidFill>
                  </a:tcPr>
                </a:tc>
              </a:tr>
              <a:tr h="502920">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Inicio de sesión</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LoginServlet + login.jsp + UsuarioServicio (hash BCrypt)</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02920">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Control de acceso</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AutenticacionFilter sobre rutas privadas + la sesión</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02920">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CRUD</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EstudianteServlet + EstudianteDAO + lista.jsp, form.jsp</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02920">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Reportes</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contarPorCarrera() + reporte.jsp con c:forEach</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02920">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Reportes impresos</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@media print  y  ReportePdfServlet (OpenPDF)</a:t>
                      </a:r>
                      <a:endParaRPr lang="en-US" sz="130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bl>
          </a:graphicData>
        </a:graphic>
      </p:graphicFrame>
      <p:sp>
        <p:nvSpPr>
          <p:cNvPr id="5" name="Text 2"/>
          <p:cNvSpPr/>
          <p:nvPr/>
        </p:nvSpPr>
        <p:spPr>
          <a:xfrm>
            <a:off x="548640" y="461772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Todo el código ya está escrito en las secciones previas: aquí solo se ve el conjunto.</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4A55"/>
        </a:solidFill>
      </p:bgPr>
    </p:bg>
    <p:spTree>
      <p:nvGrpSpPr>
        <p:cNvPr id="1" name=""/>
        <p:cNvGrpSpPr/>
        <p:nvPr/>
      </p:nvGrpSpPr>
      <p:grpSpPr>
        <a:xfrm>
          <a:off x="0" y="0"/>
          <a:ext cx="0" cy="0"/>
          <a:chOff x="0" y="0"/>
          <a:chExt cx="0" cy="0"/>
        </a:xfrm>
      </p:grpSpPr>
      <p:sp>
        <p:nvSpPr>
          <p:cNvPr id="2" name="Text 0"/>
          <p:cNvSpPr/>
          <p:nvPr/>
        </p:nvSpPr>
        <p:spPr>
          <a:xfrm>
            <a:off x="548640" y="1554480"/>
            <a:ext cx="8046720" cy="365760"/>
          </a:xfrm>
          <a:prstGeom prst="rect">
            <a:avLst/>
          </a:prstGeom>
          <a:noFill/>
          <a:ln/>
        </p:spPr>
        <p:txBody>
          <a:bodyPr wrap="square" lIns="0" tIns="0" rIns="0" bIns="0" rtlCol="0" anchor="ctr"/>
          <a:lstStyle/>
          <a:p>
            <a:pPr indent="0" marL="0">
              <a:buNone/>
            </a:pPr>
            <a:r>
              <a:rPr lang="en-US" sz="1400" b="1" spc="300" kern="0" dirty="0">
                <a:solidFill>
                  <a:srgbClr val="C8651B"/>
                </a:solidFill>
                <a:latin typeface="Calibri" pitchFamily="34" charset="0"/>
                <a:ea typeface="Calibri" pitchFamily="34" charset="-122"/>
                <a:cs typeface="Calibri" pitchFamily="34" charset="-120"/>
              </a:rPr>
              <a:t>PARTE II</a:t>
            </a:r>
            <a:endParaRPr lang="en-US" sz="1400" dirty="0"/>
          </a:p>
        </p:txBody>
      </p:sp>
      <p:sp>
        <p:nvSpPr>
          <p:cNvPr id="3" name="Text 1"/>
          <p:cNvSpPr/>
          <p:nvPr/>
        </p:nvSpPr>
        <p:spPr>
          <a:xfrm>
            <a:off x="548640" y="1920240"/>
            <a:ext cx="804672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Frameworks del backend</a:t>
            </a:r>
            <a:endParaRPr lang="en-US" sz="3400" dirty="0"/>
          </a:p>
        </p:txBody>
      </p:sp>
      <p:sp>
        <p:nvSpPr>
          <p:cNvPr id="4" name="Text 2"/>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BFD6DB"/>
                </a:solidFill>
                <a:latin typeface="Calibri" pitchFamily="34" charset="0"/>
                <a:ea typeface="Calibri" pitchFamily="34" charset="-122"/>
                <a:cs typeface="Calibri" pitchFamily="34" charset="-120"/>
              </a:rPr>
              <a:t>Spring Boot y Jakarta Server Faces (JPA, JTA)</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13</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¿Por qué usar un framework?</a:t>
            </a:r>
            <a:endParaRPr lang="en-US" sz="3000" dirty="0"/>
          </a:p>
        </p:txBody>
      </p:sp>
      <p:sp>
        <p:nvSpPr>
          <p:cNvPr id="4" name="Shape 2"/>
          <p:cNvSpPr/>
          <p:nvPr/>
        </p:nvSpPr>
        <p:spPr>
          <a:xfrm>
            <a:off x="548640" y="1645920"/>
            <a:ext cx="8046720" cy="914400"/>
          </a:xfrm>
          <a:prstGeom prst="roundRect">
            <a:avLst>
              <a:gd name="adj" fmla="val 8000"/>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7393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66544"/>
            <a:ext cx="7644384" cy="3657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En la Parte I escribimos a mano la conexión, el enrutamiento, el control de acceso y el acceso a datos. En proyectos grandes eso es mucho código repetitivo y propenso a errores.</a:t>
            </a:r>
            <a:endParaRPr lang="en-US" sz="1450" dirty="0"/>
          </a:p>
        </p:txBody>
      </p:sp>
      <p:sp>
        <p:nvSpPr>
          <p:cNvPr id="7" name="Shape 5"/>
          <p:cNvSpPr/>
          <p:nvPr/>
        </p:nvSpPr>
        <p:spPr>
          <a:xfrm>
            <a:off x="548640" y="2743200"/>
            <a:ext cx="3931920" cy="1828800"/>
          </a:xfrm>
          <a:prstGeom prst="roundRect">
            <a:avLst>
              <a:gd name="adj" fmla="val 400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31520" y="2889504"/>
            <a:ext cx="3566160" cy="365760"/>
          </a:xfrm>
          <a:prstGeom prst="rect">
            <a:avLst/>
          </a:prstGeom>
          <a:noFill/>
          <a:ln/>
        </p:spPr>
        <p:txBody>
          <a:bodyPr wrap="square" lIns="0" tIns="0" rIns="0" bIns="0" rtlCol="0" anchor="ctr"/>
          <a:lstStyle/>
          <a:p>
            <a:pPr indent="0" marL="0">
              <a:buNone/>
            </a:pPr>
            <a:r>
              <a:rPr lang="en-US" sz="1600" b="1" dirty="0">
                <a:solidFill>
                  <a:srgbClr val="176B7A"/>
                </a:solidFill>
                <a:latin typeface="Cambria" pitchFamily="34" charset="0"/>
                <a:ea typeface="Cambria" pitchFamily="34" charset="-122"/>
                <a:cs typeface="Cambria" pitchFamily="34" charset="-120"/>
              </a:rPr>
              <a:t>Spring Boot</a:t>
            </a:r>
            <a:endParaRPr lang="en-US" sz="1600" dirty="0"/>
          </a:p>
        </p:txBody>
      </p:sp>
      <p:sp>
        <p:nvSpPr>
          <p:cNvPr id="9" name="Text 7"/>
          <p:cNvSpPr/>
          <p:nvPr/>
        </p:nvSpPr>
        <p:spPr>
          <a:xfrm>
            <a:off x="731520" y="3310128"/>
            <a:ext cx="3566160" cy="11155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Autoconfiguración e inyección de dependencias. Spring Data (repositorios sin SQL) y Spring Security (login y acceso). Muy productivo; estándar de la industria.</a:t>
            </a:r>
            <a:endParaRPr lang="en-US" sz="1350" dirty="0"/>
          </a:p>
        </p:txBody>
      </p:sp>
      <p:sp>
        <p:nvSpPr>
          <p:cNvPr id="10" name="Shape 8"/>
          <p:cNvSpPr/>
          <p:nvPr/>
        </p:nvSpPr>
        <p:spPr>
          <a:xfrm>
            <a:off x="4663440" y="2743200"/>
            <a:ext cx="3931920" cy="1828800"/>
          </a:xfrm>
          <a:prstGeom prst="roundRect">
            <a:avLst>
              <a:gd name="adj" fmla="val 4000"/>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4846320" y="2889504"/>
            <a:ext cx="3566160" cy="365760"/>
          </a:xfrm>
          <a:prstGeom prst="rect">
            <a:avLst/>
          </a:prstGeom>
          <a:noFill/>
          <a:ln/>
        </p:spPr>
        <p:txBody>
          <a:bodyPr wrap="square" lIns="0" tIns="0" rIns="0" bIns="0" rtlCol="0" anchor="ctr"/>
          <a:lstStyle/>
          <a:p>
            <a:pPr indent="0" marL="0">
              <a:buNone/>
            </a:pPr>
            <a:r>
              <a:rPr lang="en-US" sz="1600" b="1" dirty="0">
                <a:solidFill>
                  <a:srgbClr val="C8651B"/>
                </a:solidFill>
                <a:latin typeface="Cambria" pitchFamily="34" charset="0"/>
                <a:ea typeface="Cambria" pitchFamily="34" charset="-122"/>
                <a:cs typeface="Cambria" pitchFamily="34" charset="-120"/>
              </a:rPr>
              <a:t>Jakarta Server Faces</a:t>
            </a:r>
            <a:endParaRPr lang="en-US" sz="1600" dirty="0"/>
          </a:p>
        </p:txBody>
      </p:sp>
      <p:sp>
        <p:nvSpPr>
          <p:cNvPr id="12" name="Text 10"/>
          <p:cNvSpPr/>
          <p:nvPr/>
        </p:nvSpPr>
        <p:spPr>
          <a:xfrm>
            <a:off x="4846320" y="3310128"/>
            <a:ext cx="3566160" cy="111556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Enfoque basado en componentes, dentro del estándar Jakarta EE. Persistencia con JPA y transacciones con JTA gestionadas por el contenedor.</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14 — SPRING BOOT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Paso a paso</a:t>
            </a:r>
            <a:endParaRPr lang="en-US" sz="3000" dirty="0"/>
          </a:p>
        </p:txBody>
      </p:sp>
      <p:sp>
        <p:nvSpPr>
          <p:cNvPr id="4" name="Shape 2"/>
          <p:cNvSpPr/>
          <p:nvPr/>
        </p:nvSpPr>
        <p:spPr>
          <a:xfrm>
            <a:off x="548640" y="1737360"/>
            <a:ext cx="402336" cy="402336"/>
          </a:xfrm>
          <a:prstGeom prst="ellipse">
            <a:avLst/>
          </a:prstGeom>
          <a:solidFill>
            <a:srgbClr val="176B7A"/>
          </a:solidFill>
          <a:ln/>
        </p:spPr>
      </p:sp>
      <p:sp>
        <p:nvSpPr>
          <p:cNvPr id="5" name="Text 3"/>
          <p:cNvSpPr/>
          <p:nvPr/>
        </p:nvSpPr>
        <p:spPr>
          <a:xfrm>
            <a:off x="548640" y="173736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115568" y="1719072"/>
            <a:ext cx="7479792" cy="438912"/>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Proyecto y starters   </a:t>
            </a:r>
            <a:pPr indent="0" marL="0">
              <a:buNone/>
            </a:pPr>
            <a:r>
              <a:rPr lang="en-US" sz="1450" i="1" dirty="0">
                <a:solidFill>
                  <a:srgbClr val="5A6B72"/>
                </a:solidFill>
                <a:latin typeface="Calibri" pitchFamily="34" charset="0"/>
                <a:ea typeface="Calibri" pitchFamily="34" charset="-122"/>
                <a:cs typeface="Calibri" pitchFamily="34" charset="-120"/>
              </a:rPr>
              <a:t>web, data-jpa, security, thymeleaf, postgresql</a:t>
            </a:r>
            <a:endParaRPr lang="en-US" sz="1450" dirty="0"/>
          </a:p>
        </p:txBody>
      </p:sp>
      <p:sp>
        <p:nvSpPr>
          <p:cNvPr id="7" name="Shape 5"/>
          <p:cNvSpPr/>
          <p:nvPr/>
        </p:nvSpPr>
        <p:spPr>
          <a:xfrm>
            <a:off x="548640" y="2340864"/>
            <a:ext cx="402336" cy="402336"/>
          </a:xfrm>
          <a:prstGeom prst="ellipse">
            <a:avLst/>
          </a:prstGeom>
          <a:solidFill>
            <a:srgbClr val="176B7A"/>
          </a:solidFill>
          <a:ln/>
        </p:spPr>
      </p:sp>
      <p:sp>
        <p:nvSpPr>
          <p:cNvPr id="8" name="Text 6"/>
          <p:cNvSpPr/>
          <p:nvPr/>
        </p:nvSpPr>
        <p:spPr>
          <a:xfrm>
            <a:off x="548640" y="234086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1115568" y="2322576"/>
            <a:ext cx="7479792" cy="438912"/>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application.properties   </a:t>
            </a:r>
            <a:pPr indent="0" marL="0">
              <a:buNone/>
            </a:pPr>
            <a:r>
              <a:rPr lang="en-US" sz="1450" i="1" dirty="0">
                <a:solidFill>
                  <a:srgbClr val="5A6B72"/>
                </a:solidFill>
                <a:latin typeface="Calibri" pitchFamily="34" charset="0"/>
                <a:ea typeface="Calibri" pitchFamily="34" charset="-122"/>
                <a:cs typeface="Calibri" pitchFamily="34" charset="-120"/>
              </a:rPr>
              <a:t>origen de datos; ddl-auto crea las tablas</a:t>
            </a:r>
            <a:endParaRPr lang="en-US" sz="1450" dirty="0"/>
          </a:p>
        </p:txBody>
      </p:sp>
      <p:sp>
        <p:nvSpPr>
          <p:cNvPr id="10" name="Shape 8"/>
          <p:cNvSpPr/>
          <p:nvPr/>
        </p:nvSpPr>
        <p:spPr>
          <a:xfrm>
            <a:off x="548640" y="2944368"/>
            <a:ext cx="402336" cy="402336"/>
          </a:xfrm>
          <a:prstGeom prst="ellipse">
            <a:avLst/>
          </a:prstGeom>
          <a:solidFill>
            <a:srgbClr val="176B7A"/>
          </a:solidFill>
          <a:ln/>
        </p:spPr>
      </p:sp>
      <p:sp>
        <p:nvSpPr>
          <p:cNvPr id="11" name="Text 9"/>
          <p:cNvSpPr/>
          <p:nvPr/>
        </p:nvSpPr>
        <p:spPr>
          <a:xfrm>
            <a:off x="548640" y="294436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10"/>
          <p:cNvSpPr/>
          <p:nvPr/>
        </p:nvSpPr>
        <p:spPr>
          <a:xfrm>
            <a:off x="1115568" y="2926080"/>
            <a:ext cx="7479792" cy="438912"/>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Entidad y repositorio   </a:t>
            </a:r>
            <a:pPr indent="0" marL="0">
              <a:buNone/>
            </a:pPr>
            <a:r>
              <a:rPr lang="en-US" sz="1450" i="1" dirty="0">
                <a:solidFill>
                  <a:srgbClr val="5A6B72"/>
                </a:solidFill>
                <a:latin typeface="Calibri" pitchFamily="34" charset="0"/>
                <a:ea typeface="Calibri" pitchFamily="34" charset="-122"/>
                <a:cs typeface="Calibri" pitchFamily="34" charset="-120"/>
              </a:rPr>
              <a:t>@Entity + JpaRepository (CRUD gratis)</a:t>
            </a:r>
            <a:endParaRPr lang="en-US" sz="1450" dirty="0"/>
          </a:p>
        </p:txBody>
      </p:sp>
      <p:sp>
        <p:nvSpPr>
          <p:cNvPr id="13" name="Shape 11"/>
          <p:cNvSpPr/>
          <p:nvPr/>
        </p:nvSpPr>
        <p:spPr>
          <a:xfrm>
            <a:off x="548640" y="3547872"/>
            <a:ext cx="402336" cy="402336"/>
          </a:xfrm>
          <a:prstGeom prst="ellipse">
            <a:avLst/>
          </a:prstGeom>
          <a:solidFill>
            <a:srgbClr val="176B7A"/>
          </a:solidFill>
          <a:ln/>
        </p:spPr>
      </p:sp>
      <p:sp>
        <p:nvSpPr>
          <p:cNvPr id="14" name="Text 12"/>
          <p:cNvSpPr/>
          <p:nvPr/>
        </p:nvSpPr>
        <p:spPr>
          <a:xfrm>
            <a:off x="548640" y="35478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3"/>
          <p:cNvSpPr/>
          <p:nvPr/>
        </p:nvSpPr>
        <p:spPr>
          <a:xfrm>
            <a:off x="1115568" y="3529584"/>
            <a:ext cx="7479792" cy="438912"/>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Servicio y controlador   </a:t>
            </a:r>
            <a:pPr indent="0" marL="0">
              <a:buNone/>
            </a:pPr>
            <a:r>
              <a:rPr lang="en-US" sz="1450" i="1" dirty="0">
                <a:solidFill>
                  <a:srgbClr val="5A6B72"/>
                </a:solidFill>
                <a:latin typeface="Calibri" pitchFamily="34" charset="0"/>
                <a:ea typeface="Calibri" pitchFamily="34" charset="-122"/>
                <a:cs typeface="Calibri" pitchFamily="34" charset="-120"/>
              </a:rPr>
              <a:t>@Service, @Controller + vista Thymeleaf</a:t>
            </a:r>
            <a:endParaRPr lang="en-US" sz="1450" dirty="0"/>
          </a:p>
        </p:txBody>
      </p:sp>
      <p:sp>
        <p:nvSpPr>
          <p:cNvPr id="16" name="Shape 14"/>
          <p:cNvSpPr/>
          <p:nvPr/>
        </p:nvSpPr>
        <p:spPr>
          <a:xfrm>
            <a:off x="548640" y="4151376"/>
            <a:ext cx="402336" cy="402336"/>
          </a:xfrm>
          <a:prstGeom prst="ellipse">
            <a:avLst/>
          </a:prstGeom>
          <a:solidFill>
            <a:srgbClr val="176B7A"/>
          </a:solidFill>
          <a:ln/>
        </p:spPr>
      </p:sp>
      <p:sp>
        <p:nvSpPr>
          <p:cNvPr id="17" name="Text 15"/>
          <p:cNvSpPr/>
          <p:nvPr/>
        </p:nvSpPr>
        <p:spPr>
          <a:xfrm>
            <a:off x="548640" y="415137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8" name="Text 16"/>
          <p:cNvSpPr/>
          <p:nvPr/>
        </p:nvSpPr>
        <p:spPr>
          <a:xfrm>
            <a:off x="1115568" y="4133088"/>
            <a:ext cx="7479792" cy="438912"/>
          </a:xfrm>
          <a:prstGeom prst="rect">
            <a:avLst/>
          </a:prstGeom>
          <a:noFill/>
          <a:ln/>
        </p:spPr>
        <p:txBody>
          <a:bodyPr wrap="square" lIns="0" tIns="0" rIns="0" bIns="0" rtlCol="0" anchor="ctr"/>
          <a:lstStyle/>
          <a:p>
            <a:pPr indent="0" marL="0">
              <a:buNone/>
            </a:pPr>
            <a:r>
              <a:rPr lang="en-US" sz="1450" b="1" dirty="0">
                <a:solidFill>
                  <a:srgbClr val="0E4A55"/>
                </a:solidFill>
                <a:latin typeface="Calibri" pitchFamily="34" charset="0"/>
                <a:ea typeface="Calibri" pitchFamily="34" charset="-122"/>
                <a:cs typeface="Calibri" pitchFamily="34" charset="-120"/>
              </a:rPr>
              <a:t>Spring Security   </a:t>
            </a:r>
            <a:pPr indent="0" marL="0">
              <a:buNone/>
            </a:pPr>
            <a:r>
              <a:rPr lang="en-US" sz="1450" i="1" dirty="0">
                <a:solidFill>
                  <a:srgbClr val="5A6B72"/>
                </a:solidFill>
                <a:latin typeface="Calibri" pitchFamily="34" charset="0"/>
                <a:ea typeface="Calibri" pitchFamily="34" charset="-122"/>
                <a:cs typeface="Calibri" pitchFamily="34" charset="-120"/>
              </a:rPr>
              <a:t>login y control de acceso declarativos</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14 — SPRING BOOT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Entidad JPA y repositorio</a:t>
            </a:r>
            <a:endParaRPr lang="en-US" sz="3000" dirty="0"/>
          </a:p>
        </p:txBody>
      </p:sp>
      <p:sp>
        <p:nvSpPr>
          <p:cNvPr id="4" name="Shape 2"/>
          <p:cNvSpPr/>
          <p:nvPr/>
        </p:nvSpPr>
        <p:spPr>
          <a:xfrm>
            <a:off x="548640" y="1737360"/>
            <a:ext cx="8046720" cy="1371600"/>
          </a:xfrm>
          <a:prstGeom prst="roundRect">
            <a:avLst>
              <a:gd name="adj" fmla="val 4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Estudiante.java (entidad)</a:t>
            </a:r>
            <a:endParaRPr lang="en-US" sz="1100" dirty="0"/>
          </a:p>
        </p:txBody>
      </p:sp>
      <p:sp>
        <p:nvSpPr>
          <p:cNvPr id="6" name="Text 4"/>
          <p:cNvSpPr/>
          <p:nvPr/>
        </p:nvSpPr>
        <p:spPr>
          <a:xfrm>
            <a:off x="694944" y="2103120"/>
            <a:ext cx="7772400" cy="9509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@Entity @Table(name = "estudiantes")</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public class Estudiante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@Id @GeneratedValue(strategy = IDENTITY) Long id;</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private String nombre, correo, carrera; /* +get/set */ }</a:t>
            </a:r>
            <a:endParaRPr lang="en-US" sz="1100" dirty="0"/>
          </a:p>
        </p:txBody>
      </p:sp>
      <p:sp>
        <p:nvSpPr>
          <p:cNvPr id="7" name="Shape 5"/>
          <p:cNvSpPr/>
          <p:nvPr/>
        </p:nvSpPr>
        <p:spPr>
          <a:xfrm>
            <a:off x="548640" y="3246120"/>
            <a:ext cx="8046720" cy="1280160"/>
          </a:xfrm>
          <a:prstGeom prst="roundRect">
            <a:avLst>
              <a:gd name="adj" fmla="val 4286"/>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548640" y="324612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EstudianteRepositorio.java</a:t>
            </a:r>
            <a:endParaRPr lang="en-US" sz="1100" dirty="0"/>
          </a:p>
        </p:txBody>
      </p:sp>
      <p:sp>
        <p:nvSpPr>
          <p:cNvPr id="9" name="Text 7"/>
          <p:cNvSpPr/>
          <p:nvPr/>
        </p:nvSpPr>
        <p:spPr>
          <a:xfrm>
            <a:off x="694944" y="3611880"/>
            <a:ext cx="7772400" cy="85953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public interface EstudianteRepositorio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extends JpaRepository&lt;Estudiante, Long&gt;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List&lt;Estudiante&gt; findByCarrera(String carrera); // sin SQL</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14 — SPRING BOOT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Controlador y vista (CRUD)</a:t>
            </a:r>
            <a:endParaRPr lang="en-US" sz="3000" dirty="0"/>
          </a:p>
        </p:txBody>
      </p:sp>
      <p:sp>
        <p:nvSpPr>
          <p:cNvPr id="4" name="Shape 2"/>
          <p:cNvSpPr/>
          <p:nvPr/>
        </p:nvSpPr>
        <p:spPr>
          <a:xfrm>
            <a:off x="548640" y="1737360"/>
            <a:ext cx="804672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EstudianteControlador.java</a:t>
            </a:r>
            <a:endParaRPr lang="en-US" sz="1100" dirty="0"/>
          </a:p>
        </p:txBody>
      </p:sp>
      <p:sp>
        <p:nvSpPr>
          <p:cNvPr id="6" name="Text 4"/>
          <p:cNvSpPr/>
          <p:nvPr/>
        </p:nvSpPr>
        <p:spPr>
          <a:xfrm>
            <a:off x="694944" y="2103120"/>
            <a:ext cx="7772400" cy="14081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@GetMapping</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public String listar(Model m)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m.addAttribute("estudiantes", servicio.listar());</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return "lista";              // plantilla Thymeleaf</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@PostMapping("/guardar")</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public String guardar(@ModelAttribute Estudiante e)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servicio.guardar(e); return "redirect:/estudiantes"; }</a:t>
            </a:r>
            <a:endParaRPr lang="en-US" sz="1100" dirty="0"/>
          </a:p>
        </p:txBody>
      </p:sp>
      <p:sp>
        <p:nvSpPr>
          <p:cNvPr id="7" name="Text 5"/>
          <p:cNvSpPr/>
          <p:nvPr/>
        </p:nvSpPr>
        <p:spPr>
          <a:xfrm>
            <a:off x="548640" y="370332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Compáralo con EstudianteServlet de la Parte I: hace lo mismo, con mucho menos código.</a:t>
            </a:r>
            <a:endParaRPr lang="en-US" sz="1300" dirty="0"/>
          </a:p>
        </p:txBody>
      </p:sp>
      <p:sp>
        <p:nvSpPr>
          <p:cNvPr id="8" name="Text 6"/>
          <p:cNvSpPr/>
          <p:nvPr/>
        </p:nvSpPr>
        <p:spPr>
          <a:xfrm>
            <a:off x="548640" y="4114800"/>
            <a:ext cx="8046720" cy="36576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La vista es Thymeleaf (th:each, th:text), que escapa por defecto — como JSTL/EL.</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14 — SPRING BOOT</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Login y control de acceso</a:t>
            </a:r>
            <a:endParaRPr lang="en-US" sz="3000" dirty="0"/>
          </a:p>
        </p:txBody>
      </p:sp>
      <p:sp>
        <p:nvSpPr>
          <p:cNvPr id="4" name="Shape 2"/>
          <p:cNvSpPr/>
          <p:nvPr/>
        </p:nvSpPr>
        <p:spPr>
          <a:xfrm>
            <a:off x="548640" y="1737360"/>
            <a:ext cx="8046720" cy="1828800"/>
          </a:xfrm>
          <a:prstGeom prst="roundRect">
            <a:avLst>
              <a:gd name="adj" fmla="val 30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SeguridadConfig.java</a:t>
            </a:r>
            <a:endParaRPr lang="en-US" sz="1100" dirty="0"/>
          </a:p>
        </p:txBody>
      </p:sp>
      <p:sp>
        <p:nvSpPr>
          <p:cNvPr id="6" name="Text 4"/>
          <p:cNvSpPr/>
          <p:nvPr/>
        </p:nvSpPr>
        <p:spPr>
          <a:xfrm>
            <a:off x="694944" y="2103120"/>
            <a:ext cx="7772400" cy="140817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http.authorizeHttpRequests(a -&gt; a</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.requestMatchers("/login","/css/**").permitAll()</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.anyRequest().authenticated())          // resto protegido</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.formLogin(f -&gt; f.loginPage("/login"));</a:t>
            </a:r>
            <a:endParaRPr lang="en-US" sz="1100" dirty="0"/>
          </a:p>
          <a:p>
            <a:pPr indent="0" marL="0">
              <a:lnSpc>
                <a:spcPct val="102000"/>
              </a:lnSpc>
              <a:buNone/>
            </a:pPr>
            <a:r>
              <a:rPr lang="en-US" sz="1100" dirty="0">
                <a:solidFill>
                  <a:srgbClr val="5A6B72"/>
                </a:solidFill>
                <a:latin typeface="Courier New" pitchFamily="34" charset="0"/>
                <a:ea typeface="Courier New" pitchFamily="34" charset="-122"/>
                <a:cs typeface="Courier New" pitchFamily="34" charset="-120"/>
              </a:rPr>
              <a:t>// @Bean PasswordEncoder -&gt; new BCryptPasswordEncoder()</a:t>
            </a:r>
            <a:endParaRPr lang="en-US" sz="1100" dirty="0"/>
          </a:p>
        </p:txBody>
      </p:sp>
      <p:sp>
        <p:nvSpPr>
          <p:cNvPr id="7" name="Shape 5"/>
          <p:cNvSpPr/>
          <p:nvPr/>
        </p:nvSpPr>
        <p:spPr>
          <a:xfrm>
            <a:off x="548640" y="3703320"/>
            <a:ext cx="8046720" cy="960120"/>
          </a:xfrm>
          <a:prstGeom prst="roundRect">
            <a:avLst>
              <a:gd name="adj" fmla="val 7619"/>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31520" y="3849624"/>
            <a:ext cx="7680960" cy="365760"/>
          </a:xfrm>
          <a:prstGeom prst="rect">
            <a:avLst/>
          </a:prstGeom>
          <a:noFill/>
          <a:ln/>
        </p:spPr>
        <p:txBody>
          <a:bodyPr wrap="square" lIns="0" tIns="0" rIns="0" bIns="0" rtlCol="0" anchor="ctr"/>
          <a:lstStyle/>
          <a:p>
            <a:pPr indent="0" marL="0">
              <a:buNone/>
            </a:pPr>
            <a:r>
              <a:rPr lang="en-US" sz="1600" b="1" dirty="0">
                <a:solidFill>
                  <a:srgbClr val="C8651B"/>
                </a:solidFill>
                <a:latin typeface="Cambria" pitchFamily="34" charset="0"/>
                <a:ea typeface="Cambria" pitchFamily="34" charset="-122"/>
                <a:cs typeface="Cambria" pitchFamily="34" charset="-120"/>
              </a:rPr>
              <a:t>Mira lo que desapareció</a:t>
            </a:r>
            <a:endParaRPr lang="en-US" sz="1600" dirty="0"/>
          </a:p>
        </p:txBody>
      </p:sp>
      <p:sp>
        <p:nvSpPr>
          <p:cNvPr id="9" name="Text 7"/>
          <p:cNvSpPr/>
          <p:nvPr/>
        </p:nvSpPr>
        <p:spPr>
          <a:xfrm>
            <a:off x="731520" y="4270248"/>
            <a:ext cx="7680960" cy="246888"/>
          </a:xfrm>
          <a:prstGeom prst="rect">
            <a:avLst/>
          </a:prstGeom>
          <a:noFill/>
          <a:ln/>
        </p:spPr>
        <p:txBody>
          <a:bodyPr wrap="square" lIns="0" tIns="0" rIns="0" bIns="0" rtlCol="0" anchor="t"/>
          <a:lstStyle/>
          <a:p>
            <a:pPr indent="0" marL="0">
              <a:buNone/>
            </a:pPr>
            <a:r>
              <a:rPr lang="en-US" sz="1350" dirty="0">
                <a:solidFill>
                  <a:srgbClr val="1F2933"/>
                </a:solidFill>
                <a:latin typeface="Calibri" pitchFamily="34" charset="0"/>
                <a:ea typeface="Calibri" pitchFamily="34" charset="-122"/>
                <a:cs typeface="Calibri" pitchFamily="34" charset="-120"/>
              </a:rPr>
              <a:t>Sin AutenticacionFilter, sin gestión manual de sesión, sin SQL del CRUD. Spring lo aporta; tú declaras intenciones. Por eso era importante entender antes qué hace por debajo.</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15 — JAKARTA FACES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JSF con JPA y JTA</a:t>
            </a:r>
            <a:endParaRPr lang="en-US" sz="3000" dirty="0"/>
          </a:p>
        </p:txBody>
      </p:sp>
      <p:sp>
        <p:nvSpPr>
          <p:cNvPr id="4" name="Shape 2"/>
          <p:cNvSpPr/>
          <p:nvPr/>
        </p:nvSpPr>
        <p:spPr>
          <a:xfrm>
            <a:off x="548640" y="1645920"/>
            <a:ext cx="8046720" cy="914400"/>
          </a:xfrm>
          <a:prstGeom prst="roundRect">
            <a:avLst>
              <a:gd name="adj" fmla="val 8000"/>
            </a:avLst>
          </a:prstGeom>
          <a:solidFill>
            <a:srgbClr val="FBEFE0"/>
          </a:solidFill>
          <a:ln w="15875">
            <a:solidFill>
              <a:srgbClr val="C8651B"/>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773936"/>
            <a:ext cx="7680960" cy="256032"/>
          </a:xfrm>
          <a:prstGeom prst="rect">
            <a:avLst/>
          </a:prstGeom>
          <a:noFill/>
          <a:ln/>
        </p:spPr>
        <p:txBody>
          <a:bodyPr wrap="square" lIns="0" tIns="0" rIns="0" bIns="0" rtlCol="0" anchor="ctr"/>
          <a:lstStyle/>
          <a:p>
            <a:pPr indent="0" marL="0">
              <a:buNone/>
            </a:pPr>
            <a:r>
              <a:rPr lang="en-US" sz="1200" b="1" spc="150" kern="0" dirty="0">
                <a:solidFill>
                  <a:srgbClr val="C8651B"/>
                </a:solidFill>
                <a:latin typeface="Calibri" pitchFamily="34" charset="0"/>
                <a:ea typeface="Calibri" pitchFamily="34" charset="-122"/>
                <a:cs typeface="Calibri" pitchFamily="34" charset="-120"/>
              </a:rPr>
              <a:t>PROBLEMA A RESOLVER</a:t>
            </a:r>
            <a:endParaRPr lang="en-US" sz="1200" dirty="0"/>
          </a:p>
        </p:txBody>
      </p:sp>
      <p:sp>
        <p:nvSpPr>
          <p:cNvPr id="6" name="Text 4"/>
          <p:cNvSpPr/>
          <p:nvPr/>
        </p:nvSpPr>
        <p:spPr>
          <a:xfrm>
            <a:off x="749808" y="2066544"/>
            <a:ext cx="7644384" cy="365760"/>
          </a:xfrm>
          <a:prstGeom prst="rect">
            <a:avLst/>
          </a:prstGeom>
          <a:noFill/>
          <a:ln/>
        </p:spPr>
        <p:txBody>
          <a:bodyPr wrap="square" lIns="0" tIns="0" rIns="0" bIns="0" rtlCol="0" anchor="t"/>
          <a:lstStyle/>
          <a:p>
            <a:pPr indent="0" marL="0">
              <a:buNone/>
            </a:pPr>
            <a:r>
              <a:rPr lang="en-US" sz="1450" dirty="0">
                <a:solidFill>
                  <a:srgbClr val="1F2933"/>
                </a:solidFill>
                <a:latin typeface="Calibri" pitchFamily="34" charset="0"/>
                <a:ea typeface="Calibri" pitchFamily="34" charset="-122"/>
                <a:cs typeface="Calibri" pitchFamily="34" charset="-120"/>
              </a:rPr>
              <a:t>Resolver el mismo problema con un enfoque basado en componentes, dentro del estándar Jakarta EE, donde el contenedor gestiona las transacciones.</a:t>
            </a:r>
            <a:endParaRPr lang="en-US" sz="1450" dirty="0"/>
          </a:p>
        </p:txBody>
      </p:sp>
      <p:sp>
        <p:nvSpPr>
          <p:cNvPr id="7" name="Text 5"/>
          <p:cNvSpPr/>
          <p:nvPr/>
        </p:nvSpPr>
        <p:spPr>
          <a:xfrm>
            <a:off x="548640" y="2743200"/>
            <a:ext cx="804672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La vista se compone de componentes (Facelets .xhtml) conectados a beans gestionados.</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La persistencia se hace con JPA; las entidades usan las mismas anotaciones jakarta.persistence que en Spring.</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Las transacciones las gestiona el contenedor con JTA (@Transactional): no llamas a commit ni a rollback.</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Se ejecuta en un servidor Jakarta EE (Payara, WildFly) o en Tomcat con las extensiones.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15 — JAKARTA FACES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Bean gestionado con JPA y JTA</a:t>
            </a:r>
            <a:endParaRPr lang="en-US" sz="3000" dirty="0"/>
          </a:p>
        </p:txBody>
      </p:sp>
      <p:sp>
        <p:nvSpPr>
          <p:cNvPr id="4" name="Shape 2"/>
          <p:cNvSpPr/>
          <p:nvPr/>
        </p:nvSpPr>
        <p:spPr>
          <a:xfrm>
            <a:off x="548640" y="1737360"/>
            <a:ext cx="8046720" cy="2194560"/>
          </a:xfrm>
          <a:prstGeom prst="roundRect">
            <a:avLst>
              <a:gd name="adj" fmla="val 2500"/>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EstudianteBean.java</a:t>
            </a:r>
            <a:endParaRPr lang="en-US" sz="1100" dirty="0"/>
          </a:p>
        </p:txBody>
      </p:sp>
      <p:sp>
        <p:nvSpPr>
          <p:cNvPr id="6" name="Text 4"/>
          <p:cNvSpPr/>
          <p:nvPr/>
        </p:nvSpPr>
        <p:spPr>
          <a:xfrm>
            <a:off x="694944" y="2103120"/>
            <a:ext cx="7772400" cy="177393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@Named @RequestScoped            // visible como #{estudianteBean}</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public class EstudianteBean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@PersistenceContext EntityManager em;</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@Transactional                 // JTA: el contenedor abre/confirma</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public String guardar()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em.persist(estudiante);</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return "lista?faces-redirect=true";   // patron PRG</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
        <p:nvSpPr>
          <p:cNvPr id="7" name="Text 5"/>
          <p:cNvSpPr/>
          <p:nvPr/>
        </p:nvSpPr>
        <p:spPr>
          <a:xfrm>
            <a:off x="548640" y="4069080"/>
            <a:ext cx="8046720" cy="365760"/>
          </a:xfrm>
          <a:prstGeom prst="rect">
            <a:avLst/>
          </a:prstGeom>
          <a:noFill/>
          <a:ln/>
        </p:spPr>
        <p:txBody>
          <a:bodyPr wrap="square" lIns="0" tIns="0" rIns="0" bIns="0" rtlCol="0" anchor="ctr"/>
          <a:lstStyle/>
          <a:p>
            <a:pPr indent="0" marL="0">
              <a:buNone/>
            </a:pPr>
            <a:r>
              <a:rPr lang="en-US" sz="1300" i="1" dirty="0">
                <a:solidFill>
                  <a:srgbClr val="5A6B72"/>
                </a:solidFill>
                <a:latin typeface="Calibri" pitchFamily="34" charset="0"/>
                <a:ea typeface="Calibri" pitchFamily="34" charset="-122"/>
                <a:cs typeface="Calibri" pitchFamily="34" charset="-120"/>
              </a:rPr>
              <a:t>Con @Transactional el contenedor inicia y confirma la transacción (o la deshace si hay error).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15 — JAKARTA FACES</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La vista con componentes (Facelets)</a:t>
            </a:r>
            <a:endParaRPr lang="en-US" sz="3000" dirty="0"/>
          </a:p>
        </p:txBody>
      </p:sp>
      <p:sp>
        <p:nvSpPr>
          <p:cNvPr id="4" name="Shape 2"/>
          <p:cNvSpPr/>
          <p:nvPr/>
        </p:nvSpPr>
        <p:spPr>
          <a:xfrm>
            <a:off x="548640" y="1737360"/>
            <a:ext cx="8046720" cy="2011680"/>
          </a:xfrm>
          <a:prstGeom prst="roundRect">
            <a:avLst>
              <a:gd name="adj" fmla="val 2727"/>
            </a:avLst>
          </a:prstGeom>
          <a:solidFill>
            <a:srgbClr val="EEF3F4"/>
          </a:solidFill>
          <a:ln w="12700">
            <a:solidFill>
              <a:srgbClr val="D7E2E5"/>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548640" y="1737360"/>
            <a:ext cx="8046720" cy="292608"/>
          </a:xfrm>
          <a:prstGeom prst="rect">
            <a:avLst>
              <a:gd name="adj" fmla="val 18750"/>
            </a:avLst>
          </a:prstGeom>
          <a:solidFill>
            <a:srgbClr val="176B7A"/>
          </a:solidFill>
          <a:ln/>
        </p:spPr>
        <p:txBody>
          <a:bodyPr wrap="square" lIns="0" tIns="101600" rIns="0" bIns="0" rtlCol="0" anchor="ct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lista.xhtml</a:t>
            </a:r>
            <a:endParaRPr lang="en-US" sz="1100" dirty="0"/>
          </a:p>
        </p:txBody>
      </p:sp>
      <p:sp>
        <p:nvSpPr>
          <p:cNvPr id="6" name="Text 4"/>
          <p:cNvSpPr/>
          <p:nvPr/>
        </p:nvSpPr>
        <p:spPr>
          <a:xfrm>
            <a:off x="694944" y="2103120"/>
            <a:ext cx="7772400" cy="1591056"/>
          </a:xfrm>
          <a:prstGeom prst="rect">
            <a:avLst/>
          </a:prstGeom>
          <a:noFill/>
          <a:ln/>
        </p:spPr>
        <p:txBody>
          <a:bodyPr wrap="square" lIns="0" tIns="0" rIns="0" bIns="0" rtlCol="0" anchor="t"/>
          <a:lstStyle/>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&lt;h:dataTable value="#{estudianteBean.lista}" var="e"&gt;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&lt;h:column&gt;#{e.nombre}&lt;/h:column&gt;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&lt;h:column&gt;#{e.carrera}&lt;/h:column&gt;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&lt;/h:dataTable&gt;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&lt;h:form&gt;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&lt;h:inputText value="#{estudianteBean.estudiante.nombre}"/&gt;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&lt;h:commandButton value="Guardar"</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      action="#{estudianteBean.guardar}"/&gt;</a:t>
            </a:r>
            <a:endParaRPr lang="en-US" sz="1100" dirty="0"/>
          </a:p>
          <a:p>
            <a:pPr indent="0" marL="0">
              <a:lnSpc>
                <a:spcPct val="102000"/>
              </a:lnSpc>
              <a:buNone/>
            </a:pPr>
            <a:r>
              <a:rPr lang="en-US" sz="1100" dirty="0">
                <a:solidFill>
                  <a:srgbClr val="1F2933"/>
                </a:solidFill>
                <a:latin typeface="Courier New" pitchFamily="34" charset="0"/>
                <a:ea typeface="Courier New" pitchFamily="34" charset="-122"/>
                <a:cs typeface="Courier New" pitchFamily="34" charset="-120"/>
              </a:rPr>
              <a:t>&lt;/h:form&gt;</a:t>
            </a:r>
            <a:endParaRPr lang="en-US" sz="1100" dirty="0"/>
          </a:p>
        </p:txBody>
      </p:sp>
      <p:sp>
        <p:nvSpPr>
          <p:cNvPr id="7" name="Text 5"/>
          <p:cNvSpPr/>
          <p:nvPr/>
        </p:nvSpPr>
        <p:spPr>
          <a:xfrm>
            <a:off x="548640" y="3886200"/>
            <a:ext cx="8046720" cy="36576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Los componentes h: se enlazan al bean con EL (#{...}); h:commandButton invoca un método al pulsarse.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SECCIÓN 16 — CIERRE</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Los tres enfoques comparados</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8046720" cy="914400"/>
        </p:xfrm>
        <a:graphic>
          <a:graphicData uri="http://schemas.openxmlformats.org/drawingml/2006/table">
            <a:tbl>
              <a:tblPr/>
              <a:tblGrid>
                <a:gridCol w="1371600"/>
                <a:gridCol w="2221992"/>
                <a:gridCol w="2221992"/>
                <a:gridCol w="2231136"/>
              </a:tblGrid>
              <a:tr h="548640">
                <a:tc>
                  <a:txBody>
                    <a:bodyPr/>
                    <a:lstStyle/>
                    <a:p>
                      <a:pPr algn="l" indent="0" marL="0">
                        <a:buNone/>
                      </a:pP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Servlets + JSP</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E4A5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Spring Boot</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176B7A"/>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Jakarta Faces</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C8651B"/>
                    </a:solidFill>
                  </a:tcPr>
                </a:tc>
              </a:tr>
              <a:tr h="548640">
                <a:tc>
                  <a:txBody>
                    <a:bodyPr/>
                    <a:lstStyle/>
                    <a:p>
                      <a:pPr algn="l" indent="0" marL="0">
                        <a:buNone/>
                      </a:pPr>
                      <a:r>
                        <a:rPr lang="en-US" sz="1250" b="1" dirty="0">
                          <a:solidFill>
                            <a:srgbClr val="0E4A55"/>
                          </a:solidFill>
                          <a:latin typeface="Calibri" pitchFamily="34" charset="0"/>
                          <a:ea typeface="Calibri" pitchFamily="34" charset="-122"/>
                          <a:cs typeface="Calibri" pitchFamily="34" charset="-120"/>
                        </a:rPr>
                        <a:t>Enfoque</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Tecnología base</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Autoconfig. + inyección</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Componentes (Jakarta EE)</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48640">
                <a:tc>
                  <a:txBody>
                    <a:bodyPr/>
                    <a:lstStyle/>
                    <a:p>
                      <a:pPr algn="l" indent="0" marL="0">
                        <a:buNone/>
                      </a:pPr>
                      <a:r>
                        <a:rPr lang="en-US" sz="1250" b="1" dirty="0">
                          <a:solidFill>
                            <a:srgbClr val="0E4A55"/>
                          </a:solidFill>
                          <a:latin typeface="Calibri" pitchFamily="34" charset="0"/>
                          <a:ea typeface="Calibri" pitchFamily="34" charset="-122"/>
                          <a:cs typeface="Calibri" pitchFamily="34" charset="-120"/>
                        </a:rPr>
                        <a:t>Datos</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JDBC + DAO</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Spring Data JPA</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JPA + JTA</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48640">
                <a:tc>
                  <a:txBody>
                    <a:bodyPr/>
                    <a:lstStyle/>
                    <a:p>
                      <a:pPr algn="l" indent="0" marL="0">
                        <a:buNone/>
                      </a:pPr>
                      <a:r>
                        <a:rPr lang="en-US" sz="1250" b="1" dirty="0">
                          <a:solidFill>
                            <a:srgbClr val="0E4A55"/>
                          </a:solidFill>
                          <a:latin typeface="Calibri" pitchFamily="34" charset="0"/>
                          <a:ea typeface="Calibri" pitchFamily="34" charset="-122"/>
                          <a:cs typeface="Calibri" pitchFamily="34" charset="-120"/>
                        </a:rPr>
                        <a:t>Vista</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JSP + JSTL/EL</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Thymeleaf</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Facelets (.xhtml)</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r h="548640">
                <a:tc>
                  <a:txBody>
                    <a:bodyPr/>
                    <a:lstStyle/>
                    <a:p>
                      <a:pPr algn="l" indent="0" marL="0">
                        <a:buNone/>
                      </a:pPr>
                      <a:r>
                        <a:rPr lang="en-US" sz="1250" b="1" dirty="0">
                          <a:solidFill>
                            <a:srgbClr val="0E4A55"/>
                          </a:solidFill>
                          <a:latin typeface="Calibri" pitchFamily="34" charset="0"/>
                          <a:ea typeface="Calibri" pitchFamily="34" charset="-122"/>
                          <a:cs typeface="Calibri" pitchFamily="34" charset="-120"/>
                        </a:rPr>
                        <a:t>Cuándo</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Aprender; apps pequeñas</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Productividad; industria</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c>
                  <a:txBody>
                    <a:bodyPr/>
                    <a:lstStyle/>
                    <a:p>
                      <a:pPr algn="l" indent="0" marL="0">
                        <a:buNone/>
                      </a:pPr>
                      <a:r>
                        <a:rPr lang="en-US" sz="1250" dirty="0">
                          <a:solidFill>
                            <a:srgbClr val="1F2933"/>
                          </a:solidFill>
                          <a:latin typeface="Calibri" pitchFamily="34" charset="0"/>
                          <a:ea typeface="Calibri" pitchFamily="34" charset="-122"/>
                          <a:cs typeface="Calibri" pitchFamily="34" charset="-120"/>
                        </a:rPr>
                        <a:t>Empresarial; Jakarta EE</a:t>
                      </a:r>
                      <a:endParaRPr lang="en-US" sz="1250" dirty="0">
                        <a:latin typeface="Calibri" charset="0"/>
                        <a:ea typeface="Calibri" charset="0"/>
                        <a:cs typeface="Calibri" charset="0"/>
                      </a:endParaRPr>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CIERRE</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Recomendación de aprendizaje</a:t>
            </a:r>
            <a:endParaRPr lang="en-US" sz="3000" dirty="0"/>
          </a:p>
        </p:txBody>
      </p:sp>
      <p:sp>
        <p:nvSpPr>
          <p:cNvPr id="4" name="Text 2"/>
          <p:cNvSpPr/>
          <p:nvPr/>
        </p:nvSpPr>
        <p:spPr>
          <a:xfrm>
            <a:off x="548640" y="1737360"/>
            <a:ext cx="8046720" cy="21945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Empieza por entender bien la Parte I: te da los cimientos (el porqué de cada cosa).</a:t>
            </a:r>
            <a:endParaRPr lang="en-US" sz="1500" dirty="0"/>
          </a:p>
          <a:p>
            <a:pPr marL="177800" indent="-1778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Para proyectos nuevos en la industria, Spring Boot es hoy la opción más demandada y productiva.</a:t>
            </a:r>
            <a:endParaRPr lang="en-US" sz="1500" dirty="0"/>
          </a:p>
          <a:p>
            <a:pPr marL="177800" indent="-1778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Jakarta Faces es valioso si trabajarás en entornos empresariales basados en el estándar Jakarta EE.</a:t>
            </a:r>
            <a:endParaRPr lang="en-US" sz="1500" dirty="0"/>
          </a:p>
          <a:p>
            <a:pPr marL="177800" indent="-1778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Lo que marca la diferencia no es la tecnología, sino los principios de diseño: capas, MVC, seguridad.</a:t>
            </a:r>
            <a:endParaRPr lang="en-US" sz="1500" dirty="0"/>
          </a:p>
        </p:txBody>
      </p:sp>
      <p:sp>
        <p:nvSpPr>
          <p:cNvPr id="5" name="Shape 3"/>
          <p:cNvSpPr/>
          <p:nvPr/>
        </p:nvSpPr>
        <p:spPr>
          <a:xfrm>
            <a:off x="548640" y="3977640"/>
            <a:ext cx="8046720" cy="777240"/>
          </a:xfrm>
          <a:prstGeom prst="roundRect">
            <a:avLst>
              <a:gd name="adj" fmla="val 9412"/>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6" name="Text 4"/>
          <p:cNvSpPr/>
          <p:nvPr/>
        </p:nvSpPr>
        <p:spPr>
          <a:xfrm>
            <a:off x="777240" y="3977640"/>
            <a:ext cx="7589520" cy="777240"/>
          </a:xfrm>
          <a:prstGeom prst="rect">
            <a:avLst/>
          </a:prstGeom>
          <a:noFill/>
          <a:ln/>
        </p:spPr>
        <p:txBody>
          <a:bodyPr wrap="square" lIns="0" tIns="0" rIns="0" bIns="0" rtlCol="0" anchor="ctr"/>
          <a:lstStyle/>
          <a:p>
            <a:pPr indent="0" marL="0">
              <a:buNone/>
            </a:pPr>
            <a:r>
              <a:rPr lang="en-US" sz="1600" b="1" i="1" dirty="0">
                <a:solidFill>
                  <a:srgbClr val="176B7A"/>
                </a:solidFill>
                <a:latin typeface="Cambria" pitchFamily="34" charset="0"/>
                <a:ea typeface="Cambria" pitchFamily="34" charset="-122"/>
                <a:cs typeface="Cambria" pitchFamily="34" charset="-120"/>
              </a:rPr>
              <a:t>Si dominas los conceptos, cambiar de tecnología es solo aprender su sintaxis.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74320"/>
          </a:xfrm>
          <a:prstGeom prst="rect">
            <a:avLst/>
          </a:prstGeom>
          <a:noFill/>
          <a:ln/>
        </p:spPr>
        <p:txBody>
          <a:bodyPr wrap="square" lIns="0" tIns="0" rIns="0" bIns="0" rtlCol="0" anchor="ctr"/>
          <a:lstStyle/>
          <a:p>
            <a:pPr indent="0" marL="0">
              <a:buNone/>
            </a:pPr>
            <a:r>
              <a:rPr lang="en-US" sz="1200" b="1" spc="200" kern="0" dirty="0">
                <a:solidFill>
                  <a:srgbClr val="C8651B"/>
                </a:solidFill>
                <a:latin typeface="Calibri" pitchFamily="34" charset="0"/>
                <a:ea typeface="Calibri" pitchFamily="34" charset="-122"/>
                <a:cs typeface="Calibri" pitchFamily="34" charset="-120"/>
              </a:rPr>
              <a:t>PARA PROFUNDIZAR</a:t>
            </a:r>
            <a:endParaRPr lang="en-US" sz="1200" dirty="0"/>
          </a:p>
        </p:txBody>
      </p:sp>
      <p:sp>
        <p:nvSpPr>
          <p:cNvPr id="3" name="Text 1"/>
          <p:cNvSpPr/>
          <p:nvPr/>
        </p:nvSpPr>
        <p:spPr>
          <a:xfrm>
            <a:off x="548640" y="658368"/>
            <a:ext cx="8046720" cy="822960"/>
          </a:xfrm>
          <a:prstGeom prst="rect">
            <a:avLst/>
          </a:prstGeom>
          <a:noFill/>
          <a:ln/>
        </p:spPr>
        <p:txBody>
          <a:bodyPr wrap="square" lIns="0" tIns="0" rIns="0" bIns="0" rtlCol="0" anchor="t"/>
          <a:lstStyle/>
          <a:p>
            <a:pPr indent="0" marL="0">
              <a:buNone/>
            </a:pPr>
            <a:r>
              <a:rPr lang="en-US" sz="3000" b="1" dirty="0">
                <a:solidFill>
                  <a:srgbClr val="0E4A55"/>
                </a:solidFill>
                <a:latin typeface="Cambria" pitchFamily="34" charset="0"/>
                <a:ea typeface="Cambria" pitchFamily="34" charset="-122"/>
                <a:cs typeface="Cambria" pitchFamily="34" charset="-120"/>
              </a:rPr>
              <a:t>Recursos</a:t>
            </a:r>
            <a:endParaRPr lang="en-US" sz="3000" dirty="0"/>
          </a:p>
        </p:txBody>
      </p:sp>
      <p:sp>
        <p:nvSpPr>
          <p:cNvPr id="4" name="Shape 2"/>
          <p:cNvSpPr/>
          <p:nvPr/>
        </p:nvSpPr>
        <p:spPr>
          <a:xfrm>
            <a:off x="548640" y="178308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5" name="Text 3"/>
          <p:cNvSpPr/>
          <p:nvPr/>
        </p:nvSpPr>
        <p:spPr>
          <a:xfrm>
            <a:off x="749808" y="191109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Jakarta EE</a:t>
            </a:r>
            <a:endParaRPr lang="en-US" sz="1500" dirty="0"/>
          </a:p>
        </p:txBody>
      </p:sp>
      <p:sp>
        <p:nvSpPr>
          <p:cNvPr id="6" name="Text 4"/>
          <p:cNvSpPr/>
          <p:nvPr/>
        </p:nvSpPr>
        <p:spPr>
          <a:xfrm>
            <a:off x="749808" y="225856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jakarta.ee</a:t>
            </a:r>
            <a:endParaRPr lang="en-US" sz="1200" dirty="0"/>
          </a:p>
        </p:txBody>
      </p:sp>
      <p:sp>
        <p:nvSpPr>
          <p:cNvPr id="7" name="Shape 5"/>
          <p:cNvSpPr/>
          <p:nvPr/>
        </p:nvSpPr>
        <p:spPr>
          <a:xfrm>
            <a:off x="4663440" y="178308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4864608" y="191109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Apache Tomcat</a:t>
            </a:r>
            <a:endParaRPr lang="en-US" sz="1500" dirty="0"/>
          </a:p>
        </p:txBody>
      </p:sp>
      <p:sp>
        <p:nvSpPr>
          <p:cNvPr id="9" name="Text 7"/>
          <p:cNvSpPr/>
          <p:nvPr/>
        </p:nvSpPr>
        <p:spPr>
          <a:xfrm>
            <a:off x="4864608" y="225856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tomcat.apache.org</a:t>
            </a:r>
            <a:endParaRPr lang="en-US" sz="1200" dirty="0"/>
          </a:p>
        </p:txBody>
      </p:sp>
      <p:sp>
        <p:nvSpPr>
          <p:cNvPr id="10" name="Shape 8"/>
          <p:cNvSpPr/>
          <p:nvPr/>
        </p:nvSpPr>
        <p:spPr>
          <a:xfrm>
            <a:off x="548640" y="283464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1" name="Text 9"/>
          <p:cNvSpPr/>
          <p:nvPr/>
        </p:nvSpPr>
        <p:spPr>
          <a:xfrm>
            <a:off x="749808" y="296265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Spring Boot</a:t>
            </a:r>
            <a:endParaRPr lang="en-US" sz="1500" dirty="0"/>
          </a:p>
        </p:txBody>
      </p:sp>
      <p:sp>
        <p:nvSpPr>
          <p:cNvPr id="12" name="Text 10"/>
          <p:cNvSpPr/>
          <p:nvPr/>
        </p:nvSpPr>
        <p:spPr>
          <a:xfrm>
            <a:off x="749808" y="331012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spring.io/projects/spring-boot</a:t>
            </a:r>
            <a:endParaRPr lang="en-US" sz="1200" dirty="0"/>
          </a:p>
        </p:txBody>
      </p:sp>
      <p:sp>
        <p:nvSpPr>
          <p:cNvPr id="13" name="Shape 11"/>
          <p:cNvSpPr/>
          <p:nvPr/>
        </p:nvSpPr>
        <p:spPr>
          <a:xfrm>
            <a:off x="4663440" y="283464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4" name="Text 12"/>
          <p:cNvSpPr/>
          <p:nvPr/>
        </p:nvSpPr>
        <p:spPr>
          <a:xfrm>
            <a:off x="4864608" y="296265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Spring Security</a:t>
            </a:r>
            <a:endParaRPr lang="en-US" sz="1500" dirty="0"/>
          </a:p>
        </p:txBody>
      </p:sp>
      <p:sp>
        <p:nvSpPr>
          <p:cNvPr id="15" name="Text 13"/>
          <p:cNvSpPr/>
          <p:nvPr/>
        </p:nvSpPr>
        <p:spPr>
          <a:xfrm>
            <a:off x="4864608" y="331012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spring.io/projects/spring-security</a:t>
            </a:r>
            <a:endParaRPr lang="en-US" sz="1200" dirty="0"/>
          </a:p>
        </p:txBody>
      </p:sp>
      <p:sp>
        <p:nvSpPr>
          <p:cNvPr id="16" name="Shape 14"/>
          <p:cNvSpPr/>
          <p:nvPr/>
        </p:nvSpPr>
        <p:spPr>
          <a:xfrm>
            <a:off x="548640" y="388620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17" name="Text 15"/>
          <p:cNvSpPr/>
          <p:nvPr/>
        </p:nvSpPr>
        <p:spPr>
          <a:xfrm>
            <a:off x="749808" y="401421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Jakarta Faces</a:t>
            </a:r>
            <a:endParaRPr lang="en-US" sz="1500" dirty="0"/>
          </a:p>
        </p:txBody>
      </p:sp>
      <p:sp>
        <p:nvSpPr>
          <p:cNvPr id="18" name="Text 16"/>
          <p:cNvSpPr/>
          <p:nvPr/>
        </p:nvSpPr>
        <p:spPr>
          <a:xfrm>
            <a:off x="749808" y="436168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jakarta.ee/specifications/faces</a:t>
            </a:r>
            <a:endParaRPr lang="en-US" sz="1200" dirty="0"/>
          </a:p>
        </p:txBody>
      </p:sp>
      <p:sp>
        <p:nvSpPr>
          <p:cNvPr id="19" name="Shape 17"/>
          <p:cNvSpPr/>
          <p:nvPr/>
        </p:nvSpPr>
        <p:spPr>
          <a:xfrm>
            <a:off x="4663440" y="3886200"/>
            <a:ext cx="3931920" cy="868680"/>
          </a:xfrm>
          <a:prstGeom prst="roundRect">
            <a:avLst>
              <a:gd name="adj" fmla="val 8421"/>
            </a:avLst>
          </a:prstGeom>
          <a:solidFill>
            <a:srgbClr val="F4F7F8"/>
          </a:solidFill>
          <a:ln w="12700">
            <a:solidFill>
              <a:srgbClr val="E1E8EA"/>
            </a:solidFill>
            <a:prstDash val="solid"/>
          </a:ln>
          <a:effectLst>
            <a:outerShdw sx="100000" sy="100000" kx="0" ky="0" algn="bl" rotWithShape="0" blurRad="88900" dist="38100" dir="5400000">
              <a:srgbClr val="000000">
                <a:alpha val="10000"/>
              </a:srgbClr>
            </a:outerShdw>
          </a:effectLst>
        </p:spPr>
      </p:sp>
      <p:sp>
        <p:nvSpPr>
          <p:cNvPr id="20" name="Text 18"/>
          <p:cNvSpPr/>
          <p:nvPr/>
        </p:nvSpPr>
        <p:spPr>
          <a:xfrm>
            <a:off x="4864608" y="4014216"/>
            <a:ext cx="3566160" cy="365760"/>
          </a:xfrm>
          <a:prstGeom prst="rect">
            <a:avLst/>
          </a:prstGeom>
          <a:noFill/>
          <a:ln/>
        </p:spPr>
        <p:txBody>
          <a:bodyPr wrap="square" lIns="0" tIns="0" rIns="0" bIns="0" rtlCol="0" anchor="ctr"/>
          <a:lstStyle/>
          <a:p>
            <a:pPr indent="0" marL="0">
              <a:buNone/>
            </a:pPr>
            <a:r>
              <a:rPr lang="en-US" sz="1500" b="1" dirty="0">
                <a:solidFill>
                  <a:srgbClr val="176B7A"/>
                </a:solidFill>
                <a:latin typeface="Cambria" pitchFamily="34" charset="0"/>
                <a:ea typeface="Cambria" pitchFamily="34" charset="-122"/>
                <a:cs typeface="Cambria" pitchFamily="34" charset="-120"/>
              </a:rPr>
              <a:t>PostgreSQL</a:t>
            </a:r>
            <a:endParaRPr lang="en-US" sz="1500" dirty="0"/>
          </a:p>
        </p:txBody>
      </p:sp>
      <p:sp>
        <p:nvSpPr>
          <p:cNvPr id="21" name="Text 19"/>
          <p:cNvSpPr/>
          <p:nvPr/>
        </p:nvSpPr>
        <p:spPr>
          <a:xfrm>
            <a:off x="4864608" y="4361688"/>
            <a:ext cx="3566160" cy="320040"/>
          </a:xfrm>
          <a:prstGeom prst="rect">
            <a:avLst/>
          </a:prstGeom>
          <a:noFill/>
          <a:ln/>
        </p:spPr>
        <p:txBody>
          <a:bodyPr wrap="square" lIns="0" tIns="0" rIns="0" bIns="0" rtlCol="0" anchor="ctr"/>
          <a:lstStyle/>
          <a:p>
            <a:pPr indent="0" marL="0">
              <a:buNone/>
            </a:pPr>
            <a:r>
              <a:rPr lang="en-US" sz="1200" dirty="0">
                <a:solidFill>
                  <a:srgbClr val="5A6B72"/>
                </a:solidFill>
                <a:latin typeface="Courier New" pitchFamily="34" charset="0"/>
                <a:ea typeface="Courier New" pitchFamily="34" charset="-122"/>
                <a:cs typeface="Courier New" pitchFamily="34" charset="-120"/>
              </a:rPr>
              <a:t>postgresql.org/docs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4A55"/>
        </a:solidFill>
      </p:bgPr>
    </p:bg>
    <p:spTree>
      <p:nvGrpSpPr>
        <p:cNvPr id="1" name=""/>
        <p:cNvGrpSpPr/>
        <p:nvPr/>
      </p:nvGrpSpPr>
      <p:grpSpPr>
        <a:xfrm>
          <a:off x="0" y="0"/>
          <a:ext cx="0" cy="0"/>
          <a:chOff x="0" y="0"/>
          <a:chExt cx="0" cy="0"/>
        </a:xfrm>
      </p:grpSpPr>
      <p:sp>
        <p:nvSpPr>
          <p:cNvPr id="2" name="Text 0"/>
          <p:cNvSpPr/>
          <p:nvPr/>
        </p:nvSpPr>
        <p:spPr>
          <a:xfrm>
            <a:off x="548640" y="1828800"/>
            <a:ext cx="804672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De los cimientos a los frameworks</a:t>
            </a:r>
            <a:endParaRPr lang="en-US" sz="4000" dirty="0"/>
          </a:p>
        </p:txBody>
      </p:sp>
      <p:sp>
        <p:nvSpPr>
          <p:cNvPr id="3" name="Text 1"/>
          <p:cNvSpPr/>
          <p:nvPr/>
        </p:nvSpPr>
        <p:spPr>
          <a:xfrm>
            <a:off x="548640" y="3200400"/>
            <a:ext cx="8046720" cy="914400"/>
          </a:xfrm>
          <a:prstGeom prst="rect">
            <a:avLst/>
          </a:prstGeom>
          <a:noFill/>
          <a:ln/>
        </p:spPr>
        <p:txBody>
          <a:bodyPr wrap="square" lIns="0" tIns="0" rIns="0" bIns="0" rtlCol="0" anchor="ctr"/>
          <a:lstStyle/>
          <a:p>
            <a:pPr indent="0" marL="0">
              <a:buNone/>
            </a:pPr>
            <a:r>
              <a:rPr lang="en-US" sz="1600" dirty="0">
                <a:solidFill>
                  <a:srgbClr val="BFD6DB"/>
                </a:solidFill>
                <a:latin typeface="Calibri" pitchFamily="34" charset="0"/>
                <a:ea typeface="Calibri" pitchFamily="34" charset="-122"/>
                <a:cs typeface="Calibri" pitchFamily="34" charset="-120"/>
              </a:rPr>
              <a:t>Cada problema de la guía tiene ahora una solución que entiendes a fondo — y el problema completo, resuelto de tres formas.</a:t>
            </a:r>
            <a:endParaRPr lang="en-US" sz="1600" dirty="0"/>
          </a:p>
        </p:txBody>
      </p:sp>
      <p:sp>
        <p:nvSpPr>
          <p:cNvPr id="4" name="Text 2"/>
          <p:cNvSpPr/>
          <p:nvPr/>
        </p:nvSpPr>
        <p:spPr>
          <a:xfrm>
            <a:off x="548640" y="4114800"/>
            <a:ext cx="8046720" cy="548640"/>
          </a:xfrm>
          <a:prstGeom prst="rect">
            <a:avLst/>
          </a:prstGeom>
          <a:noFill/>
          <a:ln/>
        </p:spPr>
        <p:txBody>
          <a:bodyPr wrap="square" lIns="0" tIns="0" rIns="0" bIns="0" rtlCol="0" anchor="ctr"/>
          <a:lstStyle/>
          <a:p>
            <a:pPr indent="0" marL="0">
              <a:buNone/>
            </a:pPr>
            <a:r>
              <a:rPr lang="en-US" sz="2400" b="1" dirty="0">
                <a:solidFill>
                  <a:srgbClr val="C8651B"/>
                </a:solidFill>
                <a:latin typeface="Cambria" pitchFamily="34" charset="0"/>
                <a:ea typeface="Cambria" pitchFamily="34" charset="-122"/>
                <a:cs typeface="Cambria" pitchFamily="34" charset="-120"/>
              </a:rPr>
              <a:t>¡Gracias!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Aplicaciones Web con Java</dc:title>
  <dc:subject>PptxGenJS Presentation</dc:subject>
  <dc:creator>UTEQ</dc:creator>
  <cp:lastModifiedBy>UTEQ</cp:lastModifiedBy>
  <cp:revision>1</cp:revision>
  <dcterms:created xsi:type="dcterms:W3CDTF">2026-06-12T11:49:28Z</dcterms:created>
  <dcterms:modified xsi:type="dcterms:W3CDTF">2026-06-12T11:49:28Z</dcterms:modified>
</cp:coreProperties>
</file>