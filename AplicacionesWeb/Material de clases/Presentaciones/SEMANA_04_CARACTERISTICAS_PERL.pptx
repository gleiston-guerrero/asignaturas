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64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2835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
Guion: resumen rapido de que tener en cuenta al construir apps web con PERL usando IntelliJ IDEA: el lenguaje y su ecosistema, el entorno (Strawberry + IntelliJ), la arquitectura web, el acceso a datos, la seguridad y las buenas practicas.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Panorama.
Guion: ubique a PERL: brilla en texto/regex, automatizacion e integracion, y fue pionero de la web (CGI). Para web NUEVA, mencione que el estandar es PSGI/Plack y que existen frameworks (Mojolicious, Dancer2). Para ejercicios o algo minimo, un servidor propio basta.
Siglas: CGI = Common Gateway Interface; PSGI = Perl Web Server Gateway Interface; CPAN = Comprehensive Perl Archive Network.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Entorno.
Guion: dos piezas. Strawberry Perl aporta el motor y los modulos (instala los que falten con cpan). IntelliJ aporta el IDE: con el plugin Camelcade da soporte de Perl; hay que apuntarle al perl.exe correcto. Recuerde lib/t y la integracion con Git.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IntelliJ — consideraciones.
Guion: cuatro puntos practicos. (1) Configurar bien el interprete (perl.exe, no wperl.exe ni gcc). (2) Instalar el plugin Camelcade. (3) Aprovechar Run/Debug con breakpoints. (4) En la red de la UTEQ, la inspeccion SSL puede exigir confiar el certificado o instalar plugins desde disco.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Arquitectura.
Guion: lo esencial del lado web. Recordar que HTTP es sin estado. Mostrar las opciones de servidor (CGI, propio, PSGI/Plack). Enfatizar GET vs POST, la decodificacion de formularios y el patron PRG. Y separar logica de presentacion para que el codigo no se vuelva inmanejable.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Datos.
Guion: DBI = interfaz comun; DBD::Pg = driver de PostgreSQL (no viene por defecto). Resaltar las sentencias preparadas con '?' como la practica obligatoria (seguridad + eficiencia). Mencionar que existe ORM (DBIx::Class) para proyectos grandes, y versionar el esquema.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Seguridad.
Guion: las consideraciones que NO se negocian, y que se repiten en PHP, Java y .NET: validar la entrada en el servidor, escapar la salida (XSS), sentencias preparadas (SQL Injection), cuidar las credenciales (comillas simples / fuera del codigo) y UTF-8 en los cuatro puntos.
Siglas: XSS = Cross-Site Scripting.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Buenas practicas.
Guion: pilares de calidad. strict/warnings siempre; funciones pequenas; manejo de errores; comentar el porque. Separar logica de presentacion (plantillas), reutilizar con modulos, versionar con Git sin secretos, y probar.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Checklist / cierre.
Guion: resuma todo en cinco frentes: entorno, arquitectura, datos, seguridad y calidad. Cierre senalando que estas consideraciones no son exclusivas de PERL: se trasladan a PHP, Java y .NET en el resto de la unidad.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0116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WEB · UNIDAD II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Desarrollar aplicaciones web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 PERL e IntelliJ IDEA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4114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FD3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Características y consideraciones clave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Gleiston Cicerón Guerrero Ulloa, Ph.D. · UTEQ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PERL para la web: ¿qué considerar?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UTEQ · Aplicaciones Web · PERL + IntelliJ IDEA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5486400" cy="146304"/>
          </a:xfrm>
          <a:prstGeom prst="rect">
            <a:avLst/>
          </a:prstGeom>
          <a:solidFill>
            <a:srgbClr val="006633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810512"/>
            <a:ext cx="5084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Fortalezas de PERL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49834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maduro y pragmático; pionero de la web dinámica (CGI, años 90).</a:t>
            </a:r>
            <a:endParaRPr lang="en-US" sz="2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potente en texto y expresiones regulares.</a:t>
            </a:r>
            <a:endParaRPr lang="en-US" sz="2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Enorme ecosistema CPAN: un módulo para casi todo.</a:t>
            </a:r>
            <a:endParaRPr lang="en-US" sz="2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Multiplataforma; ideal para scripting, automatización e integración.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263640" y="155448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1554480"/>
            <a:ext cx="5349240" cy="14630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464808" y="1810512"/>
            <a:ext cx="5148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web moderna, ten presente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537960" y="2454271"/>
            <a:ext cx="48463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CGI clásico hoy es legado: útil para aprender el modelo, no para producción nueva.</a:t>
            </a:r>
            <a:endParaRPr lang="en-US" sz="2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estándar moderno es PSGI/Plack (interfaz app web ↔ servidor).</a:t>
            </a:r>
            <a:endParaRPr lang="en-US" sz="2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Frameworks: Mojolicious, Dancer2, Catalyst para proyectos serios.</a:t>
            </a:r>
            <a:endParaRPr lang="en-US" sz="2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algo mínimo: un servidor propio con IO::Socket::INET (sin Apache).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entorno: Strawberry Perl + IntelliJ IDEA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UTEQ · Aplicaciones Web · PERL + IntelliJ IDEA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5486400" cy="146304"/>
          </a:xfrm>
          <a:prstGeom prst="rect">
            <a:avLst/>
          </a:prstGeom>
          <a:solidFill>
            <a:srgbClr val="006633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810512"/>
            <a:ext cx="5084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Strawberry Perl (Windows)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49834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 el intérprete, el compilador (gcc) y muchos módulos listos.</a:t>
            </a:r>
            <a:endParaRPr lang="en-US" sz="2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DBI; el resto se instala con cpan / cpanm.</a:t>
            </a:r>
            <a:endParaRPr lang="en-US" sz="2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el driver de PostgreSQL DBD::Pg NO viene por defecto.</a:t>
            </a:r>
            <a:endParaRPr lang="en-US" sz="2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con perl -v en la terminal antes de empezar.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263640" y="155448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1554480"/>
            <a:ext cx="5349240" cy="14630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464808" y="1810512"/>
            <a:ext cx="4946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IntelliJ IDEA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537960" y="2331720"/>
            <a:ext cx="48463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«Perl» (Camelcade): resaltado, autocompletado, ejecución y depuración.</a:t>
            </a:r>
            <a:endParaRPr lang="en-US" sz="2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que configurar el intérprete (perl.exe), no wperl.exe.</a:t>
            </a:r>
            <a:endParaRPr lang="en-US" sz="2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proyecto: lib (módulos) y t (pruebas).</a:t>
            </a:r>
            <a:endParaRPr lang="en-US" sz="2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Git para control de versiones.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IDEA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considerar en el IDE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UTEQ · Aplicaciones Web · PERL + IntelliJ IDEA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3949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20240"/>
            <a:ext cx="640080" cy="640080"/>
          </a:xfrm>
          <a:prstGeom prst="ellipse">
            <a:avLst/>
          </a:prstGeom>
          <a:solidFill>
            <a:srgbClr val="00663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554480" y="19385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Intérprete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54480" y="242316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 el Perl5 Interpreter apuntando a perl.exe (C:\Strawberry\perl\bin).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53949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46520" y="19202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223760" y="19385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Plugin Perl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223760" y="242316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 Camelcade desde el Marketplace o, si la red lo bloquea, desde disco (.zip).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53949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4160520"/>
            <a:ext cx="640080" cy="640080"/>
          </a:xfrm>
          <a:prstGeom prst="ellipse">
            <a:avLst/>
          </a:prstGeom>
          <a:solidFill>
            <a:srgbClr val="0E7A52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160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554480" y="41788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7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&amp; Debug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54480" y="466344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con el botón verde; usa breakpoints y la consola integrada para depurar.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17920" y="3886200"/>
            <a:ext cx="53949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46520" y="4160520"/>
            <a:ext cx="640080" cy="640080"/>
          </a:xfrm>
          <a:prstGeom prst="ellipse">
            <a:avLst/>
          </a:prstGeom>
          <a:solidFill>
            <a:srgbClr val="9A2A2A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4160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223760" y="41788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 institucional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223760" y="466344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inspección SSL (firewall UTEQ): acepta el certificado o instala plugins desde disco.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estructurar la aplicación web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UTEQ · Aplicaciones Web · PERL + IntelliJ IDEA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5486400" cy="146304"/>
          </a:xfrm>
          <a:prstGeom prst="rect">
            <a:avLst/>
          </a:prstGeom>
          <a:solidFill>
            <a:srgbClr val="006633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810512"/>
            <a:ext cx="5084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 y servidor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49834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2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request-response; HTTP es sin estado (usa cookies/sesiones para recordar).</a:t>
            </a:r>
            <a:endParaRPr lang="en-US" sz="2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2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Formas de servir: CGI (Apache), servidor propio (IO::Socket::INET) o PSGI/Plack.</a:t>
            </a:r>
            <a:endParaRPr lang="en-US" sz="2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2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Enrutamiento: decide qué hacer según el método (GET/POST) y la ruta.</a:t>
            </a:r>
            <a:endParaRPr lang="en-US" sz="2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2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la respuesta con el código de estado y cabeceras correctas.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6263640" y="155448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1554480"/>
            <a:ext cx="5349240" cy="14630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464808" y="1810512"/>
            <a:ext cx="4946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Interacción con el usuario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537960" y="2331720"/>
            <a:ext cx="48463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2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para consultar (idempotente); POST para enviar o modificar datos.</a:t>
            </a:r>
            <a:endParaRPr lang="en-US" sz="2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2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Decodifica los parámetros del formulario (URL-decode).</a:t>
            </a:r>
            <a:endParaRPr lang="en-US" sz="2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2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Post-Redirect-Get: redirige tras un POST para evitar reenvíos.</a:t>
            </a:r>
            <a:endParaRPr lang="en-US" sz="2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2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 la lógica (Perl) de la presentación (plantillas o heredocs ordenados).</a:t>
            </a:r>
            <a:endParaRPr lang="en-US" sz="2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Acceso a la base de datos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UTEQ · Aplicaciones Web · PERL + IntelliJ IDEA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5486400" cy="146304"/>
          </a:xfrm>
          <a:prstGeom prst="rect">
            <a:avLst/>
          </a:prstGeom>
          <a:solidFill>
            <a:srgbClr val="006633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810512"/>
            <a:ext cx="5084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DBI + driver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49834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2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DBI es la interfaz común para cualquier base de datos.</a:t>
            </a:r>
            <a:endParaRPr lang="en-US" sz="2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2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driver concreto: DBD::Pg para PostgreSQL (instálalo con cpan DBD::Pg).</a:t>
            </a:r>
            <a:endParaRPr lang="en-US" sz="2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2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con DSN + atributos: RaiseError, AutoCommit, pg_enable_utf8.</a:t>
            </a:r>
            <a:endParaRPr lang="en-US" sz="2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2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Cierra siempre lo que abres (finish, disconnect).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6263640" y="155448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1554480"/>
            <a:ext cx="5349240" cy="14630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464808" y="1810512"/>
            <a:ext cx="4946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Buenas prácticas de datos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537960" y="2331720"/>
            <a:ext cx="48463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2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Sentencias preparadas con «?»: seguras y reutilizables.</a:t>
            </a:r>
            <a:endParaRPr lang="en-US" sz="2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2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concatenar datos del usuario dentro del SQL.</a:t>
            </a:r>
            <a:endParaRPr lang="en-US" sz="2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2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proyectos grandes existe un ORM: DBIx::Class.</a:t>
            </a:r>
            <a:endParaRPr lang="en-US" sz="2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2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 el esquema (un archivo schema.sql).</a:t>
            </a:r>
            <a:endParaRPr lang="en-US" sz="2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no negociable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UTEQ · Aplicaciones Web · PERL + IntelliJ IDEA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64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45920"/>
            <a:ext cx="109728" cy="804672"/>
          </a:xfrm>
          <a:prstGeom prst="rect">
            <a:avLst/>
          </a:prstGeom>
          <a:solidFill>
            <a:srgbClr val="006633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55648"/>
            <a:ext cx="3474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Validar la entrada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0" y="17373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SERVIDOR. El cliente es manipulable; nunca confíes solo en él.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542032"/>
            <a:ext cx="11064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542032"/>
            <a:ext cx="109728" cy="804672"/>
          </a:xfrm>
          <a:prstGeom prst="rect">
            <a:avLst/>
          </a:prstGeom>
          <a:solidFill>
            <a:srgbClr val="0E7A52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651760"/>
            <a:ext cx="3474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E7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Escapar la salida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72000" y="263347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Convierte &lt; &gt; &amp; " en entidades para evitar XSS al mostrar datos.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438144"/>
            <a:ext cx="11064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438144"/>
            <a:ext cx="109728" cy="8046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547872"/>
            <a:ext cx="3474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Sentencias preparadas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572000" y="3529584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Marcadores «?» en TODA consulta: defensa contra SQL Injection.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4334256"/>
            <a:ext cx="11064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4334256"/>
            <a:ext cx="109728" cy="804672"/>
          </a:xfrm>
          <a:prstGeom prst="rect">
            <a:avLst/>
          </a:prstGeom>
          <a:solidFill>
            <a:srgbClr val="8A6D1F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443984"/>
            <a:ext cx="3474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8A6D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Credenciales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572000" y="4425696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Claves con $ o @ en comillas simples; mejor fuera del código (variables de entorno).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5230368"/>
            <a:ext cx="11064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5230368"/>
            <a:ext cx="109728" cy="804672"/>
          </a:xfrm>
          <a:prstGeom prst="rect">
            <a:avLst/>
          </a:prstGeom>
          <a:solidFill>
            <a:srgbClr val="9A2A2A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340096"/>
            <a:ext cx="3474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9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UTF-8 de extremo a extremo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572000" y="532180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Archivo, salida, base de datos y cabecera HTTP en UTF-8.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Diseño y mantenimiento del código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UTEQ · Aplicaciones Web · PERL + IntelliJ IDEA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5486400" cy="146304"/>
          </a:xfrm>
          <a:prstGeom prst="rect">
            <a:avLst/>
          </a:prstGeom>
          <a:solidFill>
            <a:srgbClr val="006633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810512"/>
            <a:ext cx="5084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Disciplina de código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435417"/>
            <a:ext cx="49834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strict; y use warnings; SIEMPRE.</a:t>
            </a:r>
            <a:endParaRPr lang="en-US" sz="2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pequeñas, cada una con una sola responsabilidad.</a:t>
            </a:r>
            <a:endParaRPr lang="en-US" sz="2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 errores claro (RaiseError, or die con mensajes útiles).</a:t>
            </a:r>
            <a:endParaRPr lang="en-US" sz="2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Comentarios que expliquen el porqué, no solo el qué.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263640" y="155448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1554480"/>
            <a:ext cx="5349240" cy="14630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464808" y="1810512"/>
            <a:ext cx="4946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Organización y entrega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537960" y="2435417"/>
            <a:ext cx="48463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 lógica de presentación (plantillas: Template Toolkit).</a:t>
            </a:r>
            <a:endParaRPr lang="en-US" sz="2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 con subrutinas y módulos (.pm en lib/).</a:t>
            </a:r>
            <a:endParaRPr lang="en-US" sz="2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 con Git; nunca subas secretos al repositorio.</a:t>
            </a:r>
            <a:endParaRPr lang="en-US" sz="2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tus scripts (carpeta t/) y verifica en otra máquina.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31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Checklist rápido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10515600" cy="3657600"/>
          </a:xfrm>
          <a:prstGeom prst="roundRect">
            <a:avLst>
              <a:gd name="adj" fmla="val 2000"/>
            </a:avLst>
          </a:prstGeom>
          <a:solidFill>
            <a:srgbClr val="0E4A2E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Entorno: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intérprete perl.exe configurado · plugin Perl instalado · módulos vía cpan.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Arquitectura: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request-response · enrutamiento por método y ruta · patrón PRG.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Datos: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DBI + DBD::Pg · sentencias preparadas · cerrar la conexión.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Seguridad: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entrada · escapar salida · credenciales protegidas · UTF-8.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Calidad: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strict/warnings · separar lógica y presentación · Git sin secretos · pruebas.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5669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9FD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Estas consideraciones son transversales: aplican igual al pasar a PHP, Java o ASP.NET en el resto de la Unidad II.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1506</Words>
  <Application>Microsoft Office PowerPoint</Application>
  <PresentationFormat>Panorámica</PresentationFormat>
  <Paragraphs>123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UTEQ — Carrera de Ingeniería de Software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Características para desarrollar apps web con PERL e IntelliJ IDEA</dc:title>
  <dc:subject>PptxGenJS Presentation</dc:subject>
  <dc:creator>Dr. Gleiston Guerrero Ulloa</dc:creator>
  <cp:lastModifiedBy>GLEISTON CICERON GUERRERO ULLOA</cp:lastModifiedBy>
  <cp:revision>2</cp:revision>
  <dcterms:created xsi:type="dcterms:W3CDTF">2026-06-08T15:21:39Z</dcterms:created>
  <dcterms:modified xsi:type="dcterms:W3CDTF">2026-06-08T15:27:16Z</dcterms:modified>
</cp:coreProperties>
</file>