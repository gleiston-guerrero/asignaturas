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4452" autoAdjust="0"/>
  </p:normalViewPr>
  <p:slideViewPr>
    <p:cSldViewPr snapToGrid="0" snapToObjects="1">
      <p:cViewPr varScale="1">
        <p:scale>
          <a:sx n="62" d="100"/>
          <a:sy n="62" d="100"/>
        </p:scale>
        <p:origin x="145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7306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del deck. El objetivo del bloque es que el aprendiz salga de estas diapositivas capaz de instalar Angular desde cero en su equipo, crear un proyecto con Angular CLI, correrlo en IntelliJ IDEA y consumir con HttpClient los endpoints REST del backend de BiblioUTEQ. Se asume que el backend Spring Boot ya esta arriba en localhost:8080 con los endpoints publicos de la Entrega 1B.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seis resultados de aprendizaje del bloque. El orden va de lo mas general (que es Angular) a lo mas concreto (consumir la API). La sesion es esencialmente practica; conviene que el aprendiz siga los pasos en su equipo mientras se avanza en las diapositivas.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subraya que Angular es una plataforma completa, no una libreria minima como React o Vue. Esa amplitud tiene una consecuencia: hay que aprender mas al principio, pero se paga con menos decisiones ad hoc y con un conjunto de herramientas oficial. La caja de advertencia sobre AngularJS es importante: el aprendiz tiende a buscar tutoriales antiguos y a confundir sintaxis.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presenta la comparacion sin descalificar a los competidores. React y Vue son opciones validas en la industria; la razon de elegir Angular en el curso es pedagogica (completo, tipado, opinado). El aprendiz notara que muchas decisiones que en React tomaria por su cuenta, en Angular ya vienen tomadas.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aprendiz debe recordar que Angular 22 se lanzo el 3 de junio de 2026 y que la version actual del deck (22.0.5) es del 1 de julio de 2026. Las versiones anteriores a v20 son EOL o proximas al EOL, por lo que ninguno de los tutoriales antiguos con Angular 12 o 15 debe seguirse. Si algun tutorial encontrado en linea trae angular.json diferente o usa NgModule extensivamente, es probable que sea para v14 o menor.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esquema simplifica: un componente raiz, un enrutador que decide que componente mostrar, componentes hijos que renderizan cada vista, y servicios inyectables que hablan con la API. Este es el mapa mental que el aprendiz debe formar antes de escribir la primera linea de codigo Angular.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aprendiz debe verificar cada uno de los cuatro requisitos antes de continuar. Un error frecuente es instalar la version Community de IntelliJ y no encontrar el soporte para Angular; la asignatura acepta unicamente la version Ultimate, cuya licencia academica gratuita se solicita en jetbrains.com/community/education con el correo institucional @uteq.edu.ec.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Windows el instalador oficial es la via mas simple y no requiere permisos de administrador. En Ubuntu es imprescindible NO usar apt install nodejs sin repositorio, porque la version del repositorio de Ubuntu suele ser Node 18 o 20 que ya son EOL. NodeSource mantiene los repositorios oficiales.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rangos de version aceptados por Angular estan documentados en angular.dev/reference/versions. La ejecucion de node --version debe imprimir un numero que empiece con v24 (o v22 si el aprendiz aun mantiene Maintenance LTS). Si al escribir node PowerShell responde con un mensaje que sugiere Microsoft Store, es senal de que el PATH quedo mal; se corrige reinstalando el .msi.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error de politica de ejecucion en PowerShell es el problema mas frecuente al arrancar en Windows y se resuelve con el comando Set-ExecutionPolicy. Este cambio afecta solo al usuario actual y no requiere permisos de administrador. En Linux o macOS este problema no aparece.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IntelliJ IDEA Ultimate tiene licencia academica gratuita para estudiantes de universidades. El tramite se hace en jetbrains.com/community/education, subiendo un carnet estudiantil vigente o usando el correo institucional. La renovacion es anual. La version Community de IntelliJ NO trae soporte para Angular, TypeScript avanzado ni Spring Boot; usarla implica no poder seguir el curso.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 momento clave. La CLI hace muchas cosas invisibles: baja package.json con Angular 22 y sus dependencias, ejecuta npm install (puede tardar 2-4 minutos), configura tsconfig.json y angular.json, y deja un componente app funcional. El aprendiz debe elegir las opciones que se ven aqui; si acepta los defaults sin leer, terminara con SSR habilitado o SCSS, y confundira los ejemplos posteriores.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estructura de Angular 22 es notablemente mas limpia que la de versiones anteriores porque los componentes son standalone por defecto: ya no hay app.module.ts. La configuracion global va en app.config.ts. Este cambio, introducido gradualmente desde Angular 14 y estabilizado en 17, es el paradigma vigente.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ejecutar ng serve --open Angular abre automaticamente el navegador. El aprendiz vera la pagina de bienvenida de Angular con enlaces a la documentacion oficial. Si aparece un error de compilacion en la terminal, la aplicacion no cargara: hay que corregir el error y guardar; ng serve recompila automaticamente.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Configurar el boton de Run para el script npm start ahorra al aprendiz volver a la terminal cada vez. IntelliJ ademas ofrece autocompletado inteligente para TypeScript, refactor seguro para renombrar componentes, y navegacion por Ctrl+Click en cualquier decorador o clase. Estas ayudas son la razon por la que se prefiere Ultimate sobre VS Code para Angular en el curso.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listado presenta la anatomia minima de un componente en Angular 22: import, decorador @Component, clase con propiedades. En el HTML se ve la interpolacion {{ total }} que se explica en la siguiente diapositiva. El template esta inline por brevedad; en proyectos reales se usa templateUrl y styleUrls apuntando a archivos separados.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CLI es la via canonica para crear cualquier artefacto de Angular. Genera codigo consistente con las convenciones oficiales, evita errores de nombramiento y ejecuta actualizaciones automaticas cuando el aprendiz corre ng update en el futuro. Escribir componentes a mano es aceptable, pero la CLI es mas rapida y mas segura.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cuatro tipos de binding cubren el 95 por ciento de las necesidades. La interpolacion se usa para mostrar valores; property binding para HTML atributos como src, href, disabled; event binding para reaccionar a clicks, cambios y envios; two-way binding para formularios. En Angular 22 las signals aportan una alternativa mas reactiva a estas mismas necesidades.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track es la mayor diferencia con *ngFor: en el flujo antiguo era opcional (trackBy), aqui es obligatorio. La razon es de rendimiento: al agregar, eliminar o reordenar un elemento, Angular necesita un identificador estable para saber que fila del DOM corresponde a que objeto y evitar recrear filas innecesariamente.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inyeccion de dependencias es uno de los patrones que Angular hereda de Java Spring. Un componente NO crea su servicio con new: lo pide al inyector, que lo entrega ya construido. Esto permite intercambiar implementaciones (por ejemplo un servicio real por uno mock en pruebas) sin cambiar el codigo del componente.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Angular hasta la version 14 usaba HttpClientModule con imports en NgModule. Desde el enfoque standalone (v15+) se usa provideHttpClient() en app.config.ts. Esta transicion es una de las razones por las que tutoriales antiguos son confusos: usan HttpClientModule que sigue funcionando por compatibilidad pero ya no es la manera recomendada.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nombre de campos del interface debe coincidir con el nombre del JSON del backend. Si el backend Java usa snake_case (raro pero posible) hay que aplicar mapeo. En BiblioUTEQ el backend Spring Boot usa camelCase con Jackson por defecto, lo que coincide con la convencion de TypeScript.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uso de generic get&lt;Libro[]&gt; es clave: tipa el Observable devuelto para que el componente reciba autocompletado. environment.apiUrl viene de src/environments/environment.ts, donde se define la URL base del backend, distinta en desarrollo y en produccion. Con esa indireccion, cambiar la URL no requiere modificar los servicios.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componente inyecta el servicio, declara una signal libros que arranca vacia, se suscribe en ngOnInit y actualiza la signal cuando llega la respuesta. La signal notifica automaticamente a la vista, que redibuja con la nueva lista. Este patron es el mas idiomatico en Angular 22.</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convencion Angular sufija con $ las variables que son Observables (libros$). El async pipe hace tres cosas: se suscribe al Observable, extrae el valor y lo pasa a la plantilla, y se desuscribe cuando el componente se destruye. Es la forma preferida cuando el dato se muestra directamente sin transformaciones.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metodo POST envia el cuerpo JSON al backend. Angular serializa automaticamente el objeto TypeScript a JSON. El servidor Spring Boot devuelve el libro con id asignado por la base de datos. En un formulario real conviene usar Reactive Forms (mas potentes que ngModel), pero para introducir el POST el enfoque template-driven es suficiente.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estas cinco firmas el servicio LibroService cubre el CRUD completo y una consulta parametrizada. HttpClient acepta un objeto de opciones con params, headers y observe. El params se serializa automaticamente como query string. La semantica de cada verbo HTTP (GET seguro y cacheable, POST no idempotente, PUT idempotente, DELETE idempotente) esta definida en la RFC 9110.</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campo err.status vale 0 cuando falla la red (backend caido o CORS mal configurado); vale 404 cuando el recurso no existe, 401/403 cuando falta autenticacion o permiso, y 500 cuando el servidor tiene un error interno. El backend BiblioUTEQ devuelve errores estructurados segun la RFC 7807 (Problem Details for HTTP APIs), con campos type, title, detail y status.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interceptor clona el request original porque los HttpRequest son inmutables. El token JWT se obtiene del AuthService, que a su vez lo lee de sessionStorage o localStorage. Este patron replica lo que se hizo en la seccion de seguridad de la Unidad II del libro.</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patron de environments era mas automatico en Angular 12-15. En Angular 16+ hay que declarar el fileReplacements en angular.json a mano. Es una configuracion que la CLI ya no genera; se debe agregar explicitamente. Los archivos environment tampoco se generan por defecto; se crean con ng generate environments.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CORS es la fuente numero uno de frustracion cuando se conecta un frontend nuevo a un backend por primera vez. Es imprescindible entender que NO se resuelve del lado Angular; hay que tocar el backend. La configuracion tambien se puede hacer con la anotacion @CrossOrigin en cada controlador, pero para BiblioUTEQ se centraliza en la clase SecurityConfig.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path : id es un parametro dinamico que se captura en el componente destino con ActivatedRoute. La directiva routerLink evita recargar la pagina completa: cambia la URL y renderiza el componente asociado. Es la base de la experiencia SPA. En BiblioUTEQ tendremos rutas para catalogo, prestamos, mis prestamos, usuarios y login.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muestra la ruta completa de una peticion: navegador con Angular, HttpClient con interceptor que agrega el token JWT, chequeo CORS por el navegador y Spring Boot en el puerto 8080 respondiendo. El aprendiz que llegue aqui con las dos terminales funcionando ha completado el objetivo del bloque.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build de produccion tarda mas que el de desarrollo (30-60 segundos para BiblioUTEQ) pero produce un artefacto mucho mas pequeno y rapido. El resultado se sirve como HTML+CSS+JS estatico; no necesita Node en produccion, solo un servidor web. En BiblioUTEQ desplegaremos el frontend detras del mismo nginx que sirve el backend, con proxy_pass para /api.</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las referencias listadas fueron verificadas contra su fuente primaria. Las URLs oficiales son estables. La referencia [12] es un libro fisico util para profundizar; el resto son documentacion oficial y estandares.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deck. Se cierra recordando los cinco hitos concretos que el aprendiz debe tener funcionando al terminar el bloque. Lo que sigue en la asignatura son los formularios reactivos, la proteccion de rutas y las pruebas unitarias.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2377440"/>
          </a:xfrm>
          <a:prstGeom prst="rect">
            <a:avLst/>
          </a:prstGeom>
          <a:solidFill>
            <a:srgbClr val="006633"/>
          </a:solidFill>
          <a:ln w="12700">
            <a:solidFill>
              <a:srgbClr val="006633"/>
            </a:solidFill>
            <a:prstDash val="solid"/>
          </a:ln>
        </p:spPr>
        <p:txBody>
          <a:bodyPr/>
          <a:lstStyle/>
          <a:p>
            <a:endParaRPr lang="es-US"/>
          </a:p>
        </p:txBody>
      </p:sp>
      <p:sp>
        <p:nvSpPr>
          <p:cNvPr id="3" name="Shape 1"/>
          <p:cNvSpPr/>
          <p:nvPr/>
        </p:nvSpPr>
        <p:spPr>
          <a:xfrm>
            <a:off x="0" y="2377440"/>
            <a:ext cx="12188952" cy="73152"/>
          </a:xfrm>
          <a:prstGeom prst="rect">
            <a:avLst/>
          </a:prstGeom>
          <a:solidFill>
            <a:srgbClr val="B8860B"/>
          </a:solidFill>
          <a:ln w="12700">
            <a:solidFill>
              <a:srgbClr val="B8860B"/>
            </a:solidFill>
            <a:prstDash val="solid"/>
          </a:ln>
        </p:spPr>
        <p:txBody>
          <a:bodyPr/>
          <a:lstStyle/>
          <a:p>
            <a:endParaRPr lang="es-US"/>
          </a:p>
        </p:txBody>
      </p:sp>
      <p:sp>
        <p:nvSpPr>
          <p:cNvPr id="4" name="Text 2"/>
          <p:cNvSpPr/>
          <p:nvPr/>
        </p:nvSpPr>
        <p:spPr>
          <a:xfrm>
            <a:off x="457200" y="320040"/>
            <a:ext cx="113385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UNIVERSIDAD TECNICA ESTATAL DE QUEVEDO</a:t>
            </a:r>
            <a:endParaRPr lang="en-US" sz="1400" dirty="0"/>
          </a:p>
        </p:txBody>
      </p:sp>
      <p:sp>
        <p:nvSpPr>
          <p:cNvPr id="5" name="Text 3"/>
          <p:cNvSpPr/>
          <p:nvPr/>
        </p:nvSpPr>
        <p:spPr>
          <a:xfrm>
            <a:off x="457200" y="685800"/>
            <a:ext cx="11338560" cy="292608"/>
          </a:xfrm>
          <a:prstGeom prst="rect">
            <a:avLst/>
          </a:prstGeom>
          <a:noFill/>
          <a:ln/>
        </p:spPr>
        <p:txBody>
          <a:bodyPr wrap="square" rtlCol="0" anchor="ctr"/>
          <a:lstStyle/>
          <a:p>
            <a:pPr marL="0" indent="0">
              <a:buNone/>
            </a:pPr>
            <a:r>
              <a:rPr lang="en-US" sz="1200" dirty="0">
                <a:solidFill>
                  <a:srgbClr val="FBF2D9"/>
                </a:solidFill>
                <a:latin typeface="Calibri" pitchFamily="34" charset="0"/>
                <a:ea typeface="Calibri" pitchFamily="34" charset="-122"/>
                <a:cs typeface="Calibri" pitchFamily="34" charset="-120"/>
              </a:rPr>
              <a:t>Facultad de Ciencias de la Computacion y Diseno Digital</a:t>
            </a:r>
            <a:endParaRPr lang="en-US" sz="1200" dirty="0"/>
          </a:p>
        </p:txBody>
      </p:sp>
      <p:sp>
        <p:nvSpPr>
          <p:cNvPr id="6" name="Text 4"/>
          <p:cNvSpPr/>
          <p:nvPr/>
        </p:nvSpPr>
        <p:spPr>
          <a:xfrm>
            <a:off x="457200" y="960120"/>
            <a:ext cx="11338560" cy="292608"/>
          </a:xfrm>
          <a:prstGeom prst="rect">
            <a:avLst/>
          </a:prstGeom>
          <a:noFill/>
          <a:ln/>
        </p:spPr>
        <p:txBody>
          <a:bodyPr wrap="square" rtlCol="0" anchor="ctr"/>
          <a:lstStyle/>
          <a:p>
            <a:pPr marL="0" indent="0">
              <a:buNone/>
            </a:pPr>
            <a:r>
              <a:rPr lang="en-US" sz="1200" dirty="0">
                <a:solidFill>
                  <a:srgbClr val="FBF2D9"/>
                </a:solidFill>
                <a:latin typeface="Calibri" pitchFamily="34" charset="0"/>
                <a:ea typeface="Calibri" pitchFamily="34" charset="-122"/>
                <a:cs typeface="Calibri" pitchFamily="34" charset="-120"/>
              </a:rPr>
              <a:t>Ingenieria de Software  |  5.º nivel  |  PPA 2026-2027</a:t>
            </a:r>
            <a:endParaRPr lang="en-US" sz="1200" dirty="0"/>
          </a:p>
        </p:txBody>
      </p:sp>
      <p:sp>
        <p:nvSpPr>
          <p:cNvPr id="7" name="Text 5"/>
          <p:cNvSpPr/>
          <p:nvPr/>
        </p:nvSpPr>
        <p:spPr>
          <a:xfrm>
            <a:off x="457200" y="1371600"/>
            <a:ext cx="11338560" cy="777240"/>
          </a:xfrm>
          <a:prstGeom prst="rect">
            <a:avLst/>
          </a:prstGeom>
          <a:noFill/>
          <a:ln/>
        </p:spPr>
        <p:txBody>
          <a:bodyPr wrap="square"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Angular 22</a:t>
            </a:r>
            <a:endParaRPr lang="en-US" sz="5200" dirty="0"/>
          </a:p>
        </p:txBody>
      </p:sp>
      <p:sp>
        <p:nvSpPr>
          <p:cNvPr id="8" name="Text 6"/>
          <p:cNvSpPr/>
          <p:nvPr/>
        </p:nvSpPr>
        <p:spPr>
          <a:xfrm>
            <a:off x="457200" y="2743200"/>
            <a:ext cx="11338560" cy="548640"/>
          </a:xfrm>
          <a:prstGeom prst="rect">
            <a:avLst/>
          </a:prstGeom>
          <a:noFill/>
          <a:ln/>
        </p:spPr>
        <p:txBody>
          <a:bodyPr wrap="square" rtlCol="0" anchor="ctr"/>
          <a:lstStyle/>
          <a:p>
            <a:pPr marL="0" indent="0" algn="ctr">
              <a:buNone/>
            </a:pPr>
            <a:r>
              <a:rPr lang="en-US" sz="2800" b="1" i="1" dirty="0">
                <a:solidFill>
                  <a:srgbClr val="0B3D24"/>
                </a:solidFill>
                <a:latin typeface="Cambria" pitchFamily="34" charset="0"/>
                <a:ea typeface="Cambria" pitchFamily="34" charset="-122"/>
                <a:cs typeface="Cambria" pitchFamily="34" charset="-120"/>
              </a:rPr>
              <a:t>Del setup al consumo de APIs REST</a:t>
            </a:r>
            <a:endParaRPr lang="en-US" sz="2800" dirty="0"/>
          </a:p>
        </p:txBody>
      </p:sp>
      <p:sp>
        <p:nvSpPr>
          <p:cNvPr id="9" name="Text 7"/>
          <p:cNvSpPr/>
          <p:nvPr/>
        </p:nvSpPr>
        <p:spPr>
          <a:xfrm>
            <a:off x="457200" y="3337560"/>
            <a:ext cx="11338560" cy="365760"/>
          </a:xfrm>
          <a:prstGeom prst="rect">
            <a:avLst/>
          </a:prstGeom>
          <a:noFill/>
          <a:ln/>
        </p:spPr>
        <p:txBody>
          <a:bodyPr wrap="square" rtlCol="0" anchor="ctr"/>
          <a:lstStyle/>
          <a:p>
            <a:pPr marL="0" indent="0" algn="ctr">
              <a:buNone/>
            </a:pPr>
            <a:r>
              <a:rPr lang="en-US" sz="1600" dirty="0">
                <a:solidFill>
                  <a:srgbClr val="383A42"/>
                </a:solidFill>
                <a:latin typeface="Calibri" pitchFamily="34" charset="0"/>
                <a:ea typeface="Calibri" pitchFamily="34" charset="-122"/>
                <a:cs typeface="Calibri" pitchFamily="34" charset="-120"/>
              </a:rPr>
              <a:t>Del navegador vacio al frontend que consume la API de BiblioUTEQ</a:t>
            </a:r>
            <a:endParaRPr lang="en-US" sz="1600" dirty="0"/>
          </a:p>
        </p:txBody>
      </p:sp>
      <p:sp>
        <p:nvSpPr>
          <p:cNvPr id="10" name="Shape 8"/>
          <p:cNvSpPr/>
          <p:nvPr/>
        </p:nvSpPr>
        <p:spPr>
          <a:xfrm>
            <a:off x="1645920" y="4480560"/>
            <a:ext cx="8897112" cy="1691640"/>
          </a:xfrm>
          <a:prstGeom prst="roundRect">
            <a:avLst>
              <a:gd name="adj" fmla="val 5405"/>
            </a:avLst>
          </a:prstGeom>
          <a:solidFill>
            <a:srgbClr val="F4F6F5"/>
          </a:solidFill>
          <a:ln w="15240">
            <a:solidFill>
              <a:srgbClr val="006633"/>
            </a:solidFill>
            <a:prstDash val="solid"/>
          </a:ln>
        </p:spPr>
        <p:txBody>
          <a:bodyPr/>
          <a:lstStyle/>
          <a:p>
            <a:endParaRPr lang="es-US"/>
          </a:p>
        </p:txBody>
      </p:sp>
      <p:sp>
        <p:nvSpPr>
          <p:cNvPr id="11" name="Text 9"/>
          <p:cNvSpPr/>
          <p:nvPr/>
        </p:nvSpPr>
        <p:spPr>
          <a:xfrm>
            <a:off x="1828800" y="4572000"/>
            <a:ext cx="8503920" cy="1508760"/>
          </a:xfrm>
          <a:prstGeom prst="rect">
            <a:avLst/>
          </a:prstGeom>
          <a:noFill/>
          <a:ln/>
        </p:spPr>
        <p:txBody>
          <a:bodyPr wrap="square" rtlCol="0" anchor="ctr"/>
          <a:lstStyle/>
          <a:p>
            <a:pPr marL="0" indent="0">
              <a:buNone/>
            </a:pPr>
            <a:r>
              <a:rPr lang="en-US" sz="1400" b="1" dirty="0">
                <a:solidFill>
                  <a:srgbClr val="0B3D24"/>
                </a:solidFill>
                <a:latin typeface="Calibri" pitchFamily="34" charset="0"/>
                <a:ea typeface="Calibri" pitchFamily="34" charset="-122"/>
                <a:cs typeface="Calibri" pitchFamily="34" charset="-120"/>
              </a:rPr>
              <a:t>Docente: </a:t>
            </a:r>
            <a:r>
              <a:rPr lang="en-US" sz="1400" dirty="0">
                <a:solidFill>
                  <a:srgbClr val="383A42"/>
                </a:solidFill>
                <a:latin typeface="Calibri" pitchFamily="34" charset="0"/>
                <a:ea typeface="Calibri" pitchFamily="34" charset="-122"/>
                <a:cs typeface="Calibri" pitchFamily="34" charset="-120"/>
              </a:rPr>
              <a:t>Dr. Gleiston Ciceron Guerrero Ulloa, Ph.D.
</a:t>
            </a:r>
            <a:endParaRPr lang="en-US" sz="1400" dirty="0"/>
          </a:p>
          <a:p>
            <a:pPr marL="0" indent="0">
              <a:buNone/>
            </a:pPr>
            <a:r>
              <a:rPr lang="en-US" sz="1400" b="1" dirty="0">
                <a:solidFill>
                  <a:srgbClr val="0B3D24"/>
                </a:solidFill>
                <a:latin typeface="Calibri" pitchFamily="34" charset="0"/>
                <a:ea typeface="Calibri" pitchFamily="34" charset="-122"/>
                <a:cs typeface="Calibri" pitchFamily="34" charset="-120"/>
              </a:rPr>
              <a:t>Asignatura: </a:t>
            </a:r>
            <a:r>
              <a:rPr lang="en-US" sz="1400" dirty="0">
                <a:solidFill>
                  <a:srgbClr val="383A42"/>
                </a:solidFill>
                <a:latin typeface="Calibri" pitchFamily="34" charset="0"/>
                <a:ea typeface="Calibri" pitchFamily="34" charset="-122"/>
                <a:cs typeface="Calibri" pitchFamily="34" charset="-120"/>
              </a:rPr>
              <a:t>Aplicaciones Web  |  Unidad IV --- Cliente enriquecido y REST
</a:t>
            </a:r>
            <a:endParaRPr lang="en-US" sz="1400" dirty="0"/>
          </a:p>
          <a:p>
            <a:pPr marL="0" indent="0">
              <a:buNone/>
            </a:pPr>
            <a:r>
              <a:rPr lang="en-US" sz="1400" b="1" dirty="0">
                <a:solidFill>
                  <a:srgbClr val="0B3D24"/>
                </a:solidFill>
                <a:latin typeface="Calibri" pitchFamily="34" charset="0"/>
                <a:ea typeface="Calibri" pitchFamily="34" charset="-122"/>
                <a:cs typeface="Calibri" pitchFamily="34" charset="-120"/>
              </a:rPr>
              <a:t>Stack: </a:t>
            </a:r>
            <a:r>
              <a:rPr lang="en-US" sz="1400" dirty="0">
                <a:solidFill>
                  <a:srgbClr val="383A42"/>
                </a:solidFill>
                <a:latin typeface="Calibri" pitchFamily="34" charset="0"/>
                <a:ea typeface="Calibri" pitchFamily="34" charset="-122"/>
                <a:cs typeface="Calibri" pitchFamily="34" charset="-120"/>
              </a:rPr>
              <a:t>Angular 22.0.5  |  Node.js 24 LTS  |  TypeScript 5.9  |  IntelliJ IDEA Ultimate
</a:t>
            </a:r>
            <a:endParaRPr lang="en-US" sz="1400" dirty="0"/>
          </a:p>
          <a:p>
            <a:pPr marL="0" indent="0">
              <a:buNone/>
            </a:pPr>
            <a:r>
              <a:rPr lang="en-US" sz="1400" b="1" dirty="0">
                <a:solidFill>
                  <a:srgbClr val="0B3D24"/>
                </a:solidFill>
                <a:latin typeface="Calibri" pitchFamily="34" charset="0"/>
                <a:ea typeface="Calibri" pitchFamily="34" charset="-122"/>
                <a:cs typeface="Calibri" pitchFamily="34" charset="-120"/>
              </a:rPr>
              <a:t>Proyecto conductor: </a:t>
            </a:r>
            <a:r>
              <a:rPr lang="en-US" sz="1400" dirty="0">
                <a:solidFill>
                  <a:srgbClr val="383A42"/>
                </a:solidFill>
                <a:latin typeface="Calibri" pitchFamily="34" charset="0"/>
                <a:ea typeface="Calibri" pitchFamily="34" charset="-122"/>
                <a:cs typeface="Calibri" pitchFamily="34" charset="-120"/>
              </a:rPr>
              <a:t>BiblioUTEQ --- Sistema de Gestion de Biblioteca Universitaria</a:t>
            </a:r>
            <a:endParaRPr lang="en-US" sz="1400" dirty="0"/>
          </a:p>
        </p:txBody>
      </p:sp>
      <p:sp>
        <p:nvSpPr>
          <p:cNvPr id="12" name="Text 10"/>
          <p:cNvSpPr/>
          <p:nvPr/>
        </p:nvSpPr>
        <p:spPr>
          <a:xfrm>
            <a:off x="457200" y="6355080"/>
            <a:ext cx="11338560" cy="274320"/>
          </a:xfrm>
          <a:prstGeom prst="rect">
            <a:avLst/>
          </a:prstGeom>
          <a:noFill/>
          <a:ln/>
        </p:spPr>
        <p:txBody>
          <a:bodyPr wrap="square" rtlCol="0" anchor="ctr"/>
          <a:lstStyle/>
          <a:p>
            <a:pPr marL="0" indent="0" algn="ctr">
              <a:buNone/>
            </a:pPr>
            <a:r>
              <a:rPr lang="en-US" sz="1000" i="1" dirty="0">
                <a:solidFill>
                  <a:srgbClr val="383A42"/>
                </a:solidFill>
                <a:latin typeface="Calibri" pitchFamily="34" charset="0"/>
                <a:ea typeface="Calibri" pitchFamily="34" charset="-122"/>
                <a:cs typeface="Calibri" pitchFamily="34" charset="-120"/>
              </a:rPr>
              <a:t>Quevedo --- Los Rios --- Ecuador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INTRODUCCION</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Objetivos de aprendizaje</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508760"/>
            <a:ext cx="11109960" cy="4846320"/>
          </a:xfrm>
          <a:prstGeom prst="rect">
            <a:avLst/>
          </a:prstGeom>
          <a:noFill/>
          <a:ln/>
        </p:spPr>
        <p:txBody>
          <a:bodyPr wrap="square" rtlCol="0" anchor="t"/>
          <a:lstStyle/>
          <a:p>
            <a:pPr marL="342900" indent="-342900">
              <a:spcAft>
                <a:spcPts val="900"/>
              </a:spcAft>
              <a:buSzPct val="100000"/>
              <a:buChar char="■"/>
            </a:pPr>
            <a:r>
              <a:rPr lang="en-US" sz="1700" dirty="0">
                <a:solidFill>
                  <a:srgbClr val="383A42"/>
                </a:solidFill>
                <a:latin typeface="Calibri" pitchFamily="34" charset="0"/>
                <a:ea typeface="Calibri" pitchFamily="34" charset="-122"/>
                <a:cs typeface="Calibri" pitchFamily="34" charset="-120"/>
              </a:rPr>
              <a:t>Reconocer que es Angular y por que es el framework de referencia del curso para el cliente enriquecido.</a:t>
            </a:r>
            <a:endParaRPr lang="en-US" sz="1700" dirty="0"/>
          </a:p>
          <a:p>
            <a:pPr marL="342900" indent="-342900">
              <a:spcAft>
                <a:spcPts val="900"/>
              </a:spcAft>
              <a:buSzPct val="100000"/>
              <a:buChar char="■"/>
            </a:pPr>
            <a:r>
              <a:rPr lang="en-US" sz="1700" dirty="0">
                <a:solidFill>
                  <a:srgbClr val="383A42"/>
                </a:solidFill>
                <a:latin typeface="Calibri" pitchFamily="34" charset="0"/>
                <a:ea typeface="Calibri" pitchFamily="34" charset="-122"/>
                <a:cs typeface="Calibri" pitchFamily="34" charset="-120"/>
              </a:rPr>
              <a:t>Instalar el entorno completo desde cero: Node.js LTS, Angular CLI e IntelliJ IDEA Ultimate.</a:t>
            </a:r>
            <a:endParaRPr lang="en-US" sz="1700" dirty="0"/>
          </a:p>
          <a:p>
            <a:pPr marL="342900" indent="-342900">
              <a:spcAft>
                <a:spcPts val="900"/>
              </a:spcAft>
              <a:buSzPct val="100000"/>
              <a:buChar char="■"/>
            </a:pPr>
            <a:r>
              <a:rPr lang="en-US" sz="1700" dirty="0">
                <a:solidFill>
                  <a:srgbClr val="383A42"/>
                </a:solidFill>
                <a:latin typeface="Calibri" pitchFamily="34" charset="0"/>
                <a:ea typeface="Calibri" pitchFamily="34" charset="-122"/>
                <a:cs typeface="Calibri" pitchFamily="34" charset="-120"/>
              </a:rPr>
              <a:t>Crear un proyecto Angular con la CLI, comprender su estructura y ejecutarlo en el navegador.</a:t>
            </a:r>
            <a:endParaRPr lang="en-US" sz="1700" dirty="0"/>
          </a:p>
          <a:p>
            <a:pPr marL="342900" indent="-342900">
              <a:spcAft>
                <a:spcPts val="900"/>
              </a:spcAft>
              <a:buSzPct val="100000"/>
              <a:buChar char="■"/>
            </a:pPr>
            <a:r>
              <a:rPr lang="en-US" sz="1700" dirty="0">
                <a:solidFill>
                  <a:srgbClr val="383A42"/>
                </a:solidFill>
                <a:latin typeface="Calibri" pitchFamily="34" charset="0"/>
                <a:ea typeface="Calibri" pitchFamily="34" charset="-122"/>
                <a:cs typeface="Calibri" pitchFamily="34" charset="-120"/>
              </a:rPr>
              <a:t>Generar componentes y servicios con la CLI aplicando los principios de responsabilidad unica.</a:t>
            </a:r>
            <a:endParaRPr lang="en-US" sz="1700" dirty="0"/>
          </a:p>
          <a:p>
            <a:pPr marL="342900" indent="-342900">
              <a:spcAft>
                <a:spcPts val="900"/>
              </a:spcAft>
              <a:buSzPct val="100000"/>
              <a:buChar char="■"/>
            </a:pPr>
            <a:r>
              <a:rPr lang="en-US" sz="1700" dirty="0">
                <a:solidFill>
                  <a:srgbClr val="383A42"/>
                </a:solidFill>
                <a:latin typeface="Calibri" pitchFamily="34" charset="0"/>
                <a:ea typeface="Calibri" pitchFamily="34" charset="-122"/>
                <a:cs typeface="Calibri" pitchFamily="34" charset="-120"/>
              </a:rPr>
              <a:t>Consumir con HttpClient los endpoints REST del backend BiblioUTEQ (GET, POST, PUT, DELETE).</a:t>
            </a:r>
            <a:endParaRPr lang="en-US" sz="1700" dirty="0"/>
          </a:p>
          <a:p>
            <a:pPr marL="342900" indent="-342900">
              <a:spcAft>
                <a:spcPts val="900"/>
              </a:spcAft>
              <a:buSzPct val="100000"/>
              <a:buChar char="■"/>
            </a:pPr>
            <a:r>
              <a:rPr lang="en-US" sz="1700" dirty="0">
                <a:solidFill>
                  <a:srgbClr val="383A42"/>
                </a:solidFill>
                <a:latin typeface="Calibri" pitchFamily="34" charset="0"/>
                <a:ea typeface="Calibri" pitchFamily="34" charset="-122"/>
                <a:cs typeface="Calibri" pitchFamily="34" charset="-120"/>
              </a:rPr>
              <a:t>Manejar errores, configurar interceptores para autenticacion, y separar la URL del backend por entorno.</a:t>
            </a:r>
            <a:endParaRPr lang="en-US" sz="1700" dirty="0"/>
          </a:p>
        </p:txBody>
      </p:sp>
      <p:sp>
        <p:nvSpPr>
          <p:cNvPr id="7" name="Shape 5"/>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9" name="Text 7"/>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22 --- 2 / 36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PANORAMA DEL FRAMEWORK</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Que es Angular</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1097280"/>
          </a:xfrm>
          <a:prstGeom prst="rect">
            <a:avLst/>
          </a:prstGeom>
          <a:noFill/>
          <a:ln/>
        </p:spPr>
        <p:txBody>
          <a:bodyPr wrap="square" rtlCol="0" anchor="t"/>
          <a:lstStyle/>
          <a:p>
            <a:pPr marL="0" indent="0">
              <a:buNone/>
            </a:pPr>
            <a:r>
              <a:rPr lang="en-US" sz="1600" b="1" dirty="0">
                <a:solidFill>
                  <a:srgbClr val="0B3D24"/>
                </a:solidFill>
                <a:latin typeface="Calibri" pitchFamily="34" charset="0"/>
                <a:ea typeface="Calibri" pitchFamily="34" charset="-122"/>
                <a:cs typeface="Calibri" pitchFamily="34" charset="-120"/>
              </a:rPr>
              <a:t>Angular </a:t>
            </a:r>
            <a:r>
              <a:rPr lang="en-US" sz="1600" dirty="0">
                <a:solidFill>
                  <a:srgbClr val="383A42"/>
                </a:solidFill>
                <a:latin typeface="Calibri" pitchFamily="34" charset="0"/>
                <a:ea typeface="Calibri" pitchFamily="34" charset="-122"/>
                <a:cs typeface="Calibri" pitchFamily="34" charset="-120"/>
              </a:rPr>
              <a:t>es una plataforma de codigo abierto para construir aplicaciones web de una sola pagina (SPA), mantenida por Google y basada en TypeScript. Se distribuye bajo licencia MIT y cubre desde el andamiaje del proyecto hasta el enrutamiento, los formularios, el consumo de APIs y las pruebas.</a:t>
            </a:r>
            <a:endParaRPr lang="en-US" sz="1600" dirty="0"/>
          </a:p>
        </p:txBody>
      </p:sp>
      <p:sp>
        <p:nvSpPr>
          <p:cNvPr id="7" name="Shape 5"/>
          <p:cNvSpPr/>
          <p:nvPr/>
        </p:nvSpPr>
        <p:spPr>
          <a:xfrm>
            <a:off x="548640" y="2697480"/>
            <a:ext cx="3566160" cy="1691640"/>
          </a:xfrm>
          <a:prstGeom prst="roundRect">
            <a:avLst>
              <a:gd name="adj" fmla="val 5405"/>
            </a:avLst>
          </a:prstGeom>
          <a:solidFill>
            <a:srgbClr val="FFFFFF"/>
          </a:solidFill>
          <a:ln w="19050">
            <a:solidFill>
              <a:srgbClr val="006633"/>
            </a:solidFill>
            <a:prstDash val="solid"/>
          </a:ln>
        </p:spPr>
        <p:txBody>
          <a:bodyPr/>
          <a:lstStyle/>
          <a:p>
            <a:endParaRPr lang="es-US"/>
          </a:p>
        </p:txBody>
      </p:sp>
      <p:sp>
        <p:nvSpPr>
          <p:cNvPr id="8" name="Shape 6"/>
          <p:cNvSpPr/>
          <p:nvPr/>
        </p:nvSpPr>
        <p:spPr>
          <a:xfrm>
            <a:off x="548640" y="2697480"/>
            <a:ext cx="3566160" cy="41148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640080" y="2715768"/>
            <a:ext cx="338328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Componentes</a:t>
            </a:r>
            <a:endParaRPr lang="en-US" sz="1300" dirty="0"/>
          </a:p>
        </p:txBody>
      </p:sp>
      <p:sp>
        <p:nvSpPr>
          <p:cNvPr id="10" name="Text 8"/>
          <p:cNvSpPr/>
          <p:nvPr/>
        </p:nvSpPr>
        <p:spPr>
          <a:xfrm>
            <a:off x="685800" y="3200400"/>
            <a:ext cx="3291840" cy="109728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Piezas reutilizables que combinan HTML, CSS y logica en TypeScript. Son la unidad basica de la interfaz.</a:t>
            </a:r>
            <a:endParaRPr lang="en-US" sz="1200" dirty="0"/>
          </a:p>
        </p:txBody>
      </p:sp>
      <p:sp>
        <p:nvSpPr>
          <p:cNvPr id="11" name="Shape 9"/>
          <p:cNvSpPr/>
          <p:nvPr/>
        </p:nvSpPr>
        <p:spPr>
          <a:xfrm>
            <a:off x="4297680" y="2697480"/>
            <a:ext cx="3566160" cy="1691640"/>
          </a:xfrm>
          <a:prstGeom prst="roundRect">
            <a:avLst>
              <a:gd name="adj" fmla="val 5405"/>
            </a:avLst>
          </a:prstGeom>
          <a:solidFill>
            <a:srgbClr val="FFFFFF"/>
          </a:solidFill>
          <a:ln w="19050">
            <a:solidFill>
              <a:srgbClr val="006633"/>
            </a:solidFill>
            <a:prstDash val="solid"/>
          </a:ln>
        </p:spPr>
        <p:txBody>
          <a:bodyPr/>
          <a:lstStyle/>
          <a:p>
            <a:endParaRPr lang="es-US"/>
          </a:p>
        </p:txBody>
      </p:sp>
      <p:sp>
        <p:nvSpPr>
          <p:cNvPr id="12" name="Shape 10"/>
          <p:cNvSpPr/>
          <p:nvPr/>
        </p:nvSpPr>
        <p:spPr>
          <a:xfrm>
            <a:off x="4297680" y="2697480"/>
            <a:ext cx="3566160" cy="411480"/>
          </a:xfrm>
          <a:prstGeom prst="rect">
            <a:avLst/>
          </a:prstGeom>
          <a:solidFill>
            <a:srgbClr val="006633"/>
          </a:solidFill>
          <a:ln w="12700">
            <a:solidFill>
              <a:srgbClr val="006633"/>
            </a:solidFill>
            <a:prstDash val="solid"/>
          </a:ln>
        </p:spPr>
        <p:txBody>
          <a:bodyPr/>
          <a:lstStyle/>
          <a:p>
            <a:endParaRPr lang="es-US"/>
          </a:p>
        </p:txBody>
      </p:sp>
      <p:sp>
        <p:nvSpPr>
          <p:cNvPr id="13" name="Text 11"/>
          <p:cNvSpPr/>
          <p:nvPr/>
        </p:nvSpPr>
        <p:spPr>
          <a:xfrm>
            <a:off x="4389120" y="2715768"/>
            <a:ext cx="338328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Servicios e Inyeccion</a:t>
            </a:r>
            <a:endParaRPr lang="en-US" sz="1300" dirty="0"/>
          </a:p>
        </p:txBody>
      </p:sp>
      <p:sp>
        <p:nvSpPr>
          <p:cNvPr id="14" name="Text 12"/>
          <p:cNvSpPr/>
          <p:nvPr/>
        </p:nvSpPr>
        <p:spPr>
          <a:xfrm>
            <a:off x="4434840" y="3200400"/>
            <a:ext cx="3291840" cy="109728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Encapsulan reglas y acceso a datos. Se inyectan a los componentes por medio de la inyeccion de dependencias.</a:t>
            </a:r>
            <a:endParaRPr lang="en-US" sz="1200" dirty="0"/>
          </a:p>
        </p:txBody>
      </p:sp>
      <p:sp>
        <p:nvSpPr>
          <p:cNvPr id="15" name="Shape 13"/>
          <p:cNvSpPr/>
          <p:nvPr/>
        </p:nvSpPr>
        <p:spPr>
          <a:xfrm>
            <a:off x="8046720" y="2697480"/>
            <a:ext cx="3566160" cy="1691640"/>
          </a:xfrm>
          <a:prstGeom prst="roundRect">
            <a:avLst>
              <a:gd name="adj" fmla="val 5405"/>
            </a:avLst>
          </a:prstGeom>
          <a:solidFill>
            <a:srgbClr val="FFFFFF"/>
          </a:solidFill>
          <a:ln w="19050">
            <a:solidFill>
              <a:srgbClr val="006633"/>
            </a:solidFill>
            <a:prstDash val="solid"/>
          </a:ln>
        </p:spPr>
        <p:txBody>
          <a:bodyPr/>
          <a:lstStyle/>
          <a:p>
            <a:endParaRPr lang="es-US"/>
          </a:p>
        </p:txBody>
      </p:sp>
      <p:sp>
        <p:nvSpPr>
          <p:cNvPr id="16" name="Shape 14"/>
          <p:cNvSpPr/>
          <p:nvPr/>
        </p:nvSpPr>
        <p:spPr>
          <a:xfrm>
            <a:off x="8046720" y="2697480"/>
            <a:ext cx="3566160" cy="411480"/>
          </a:xfrm>
          <a:prstGeom prst="rect">
            <a:avLst/>
          </a:prstGeom>
          <a:solidFill>
            <a:srgbClr val="006633"/>
          </a:solidFill>
          <a:ln w="12700">
            <a:solidFill>
              <a:srgbClr val="006633"/>
            </a:solidFill>
            <a:prstDash val="solid"/>
          </a:ln>
        </p:spPr>
        <p:txBody>
          <a:bodyPr/>
          <a:lstStyle/>
          <a:p>
            <a:endParaRPr lang="es-US"/>
          </a:p>
        </p:txBody>
      </p:sp>
      <p:sp>
        <p:nvSpPr>
          <p:cNvPr id="17" name="Text 15"/>
          <p:cNvSpPr/>
          <p:nvPr/>
        </p:nvSpPr>
        <p:spPr>
          <a:xfrm>
            <a:off x="8138160" y="2715768"/>
            <a:ext cx="338328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Enrutador y HttpClient</a:t>
            </a:r>
            <a:endParaRPr lang="en-US" sz="1300" dirty="0"/>
          </a:p>
        </p:txBody>
      </p:sp>
      <p:sp>
        <p:nvSpPr>
          <p:cNvPr id="18" name="Text 16"/>
          <p:cNvSpPr/>
          <p:nvPr/>
        </p:nvSpPr>
        <p:spPr>
          <a:xfrm>
            <a:off x="8183880" y="3200400"/>
            <a:ext cx="3291840" cy="109728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El enrutador cambia de vista sin recargar; HttpClient consume APIs REST devolviendo Observables de RxJS.</a:t>
            </a:r>
            <a:endParaRPr lang="en-US" sz="1200" dirty="0"/>
          </a:p>
        </p:txBody>
      </p:sp>
      <p:sp>
        <p:nvSpPr>
          <p:cNvPr id="19" name="Shape 17"/>
          <p:cNvSpPr/>
          <p:nvPr/>
        </p:nvSpPr>
        <p:spPr>
          <a:xfrm>
            <a:off x="548640" y="4617720"/>
            <a:ext cx="11091672" cy="1600200"/>
          </a:xfrm>
          <a:prstGeom prst="roundRect">
            <a:avLst>
              <a:gd name="adj" fmla="val 4571"/>
            </a:avLst>
          </a:prstGeom>
          <a:solidFill>
            <a:srgbClr val="FBF0D8"/>
          </a:solidFill>
          <a:ln w="12700">
            <a:solidFill>
              <a:srgbClr val="B8860B"/>
            </a:solidFill>
            <a:prstDash val="solid"/>
          </a:ln>
        </p:spPr>
        <p:txBody>
          <a:bodyPr/>
          <a:lstStyle/>
          <a:p>
            <a:endParaRPr lang="es-US"/>
          </a:p>
        </p:txBody>
      </p:sp>
      <p:sp>
        <p:nvSpPr>
          <p:cNvPr id="20" name="Shape 18"/>
          <p:cNvSpPr/>
          <p:nvPr/>
        </p:nvSpPr>
        <p:spPr>
          <a:xfrm>
            <a:off x="548640" y="4617720"/>
            <a:ext cx="91440" cy="1600200"/>
          </a:xfrm>
          <a:prstGeom prst="rect">
            <a:avLst/>
          </a:prstGeom>
          <a:solidFill>
            <a:srgbClr val="B8860B"/>
          </a:solidFill>
          <a:ln w="12700">
            <a:solidFill>
              <a:srgbClr val="B8860B"/>
            </a:solidFill>
            <a:prstDash val="solid"/>
          </a:ln>
        </p:spPr>
        <p:txBody>
          <a:bodyPr/>
          <a:lstStyle/>
          <a:p>
            <a:endParaRPr lang="es-US"/>
          </a:p>
        </p:txBody>
      </p:sp>
      <p:sp>
        <p:nvSpPr>
          <p:cNvPr id="21" name="Text 19"/>
          <p:cNvSpPr/>
          <p:nvPr/>
        </p:nvSpPr>
        <p:spPr>
          <a:xfrm>
            <a:off x="731520" y="4672584"/>
            <a:ext cx="10817352" cy="274320"/>
          </a:xfrm>
          <a:prstGeom prst="rect">
            <a:avLst/>
          </a:prstGeom>
          <a:noFill/>
          <a:ln/>
        </p:spPr>
        <p:txBody>
          <a:bodyPr wrap="square" rtlCol="0" anchor="ctr"/>
          <a:lstStyle/>
          <a:p>
            <a:pPr marL="0" indent="0">
              <a:buNone/>
            </a:pPr>
            <a:r>
              <a:rPr lang="en-US" sz="1200" b="1" dirty="0">
                <a:solidFill>
                  <a:srgbClr val="B8860B"/>
                </a:solidFill>
                <a:latin typeface="Calibri" pitchFamily="34" charset="0"/>
                <a:ea typeface="Calibri" pitchFamily="34" charset="-122"/>
                <a:cs typeface="Calibri" pitchFamily="34" charset="-120"/>
              </a:rPr>
              <a:t>Angular no es lo mismo que AngularJS</a:t>
            </a:r>
            <a:endParaRPr lang="en-US" sz="1200" dirty="0"/>
          </a:p>
        </p:txBody>
      </p:sp>
      <p:sp>
        <p:nvSpPr>
          <p:cNvPr id="22" name="Text 20"/>
          <p:cNvSpPr/>
          <p:nvPr/>
        </p:nvSpPr>
        <p:spPr>
          <a:xfrm>
            <a:off x="731520" y="4946904"/>
            <a:ext cx="10817352" cy="1216152"/>
          </a:xfrm>
          <a:prstGeom prst="rect">
            <a:avLst/>
          </a:prstGeom>
          <a:noFill/>
          <a:ln/>
        </p:spPr>
        <p:txBody>
          <a:bodyPr wrap="square" rtlCol="0" anchor="t"/>
          <a:lstStyle/>
          <a:p>
            <a:pPr marL="0" indent="0">
              <a:spcAft>
                <a:spcPts val="300"/>
              </a:spcAft>
              <a:buNone/>
            </a:pPr>
            <a:r>
              <a:rPr lang="en-US" sz="1200" dirty="0">
                <a:solidFill>
                  <a:srgbClr val="383A42"/>
                </a:solidFill>
                <a:latin typeface="Calibri" pitchFamily="34" charset="0"/>
                <a:ea typeface="Calibri" pitchFamily="34" charset="-122"/>
                <a:cs typeface="Calibri" pitchFamily="34" charset="-120"/>
              </a:rPr>
              <a:t>AngularJS (versiones 1.x) llego al fin de vida el 31 de diciembre de 2021 y no es compatible con el actual Angular. El actual Angular es una reescritura completa que comenzo en la version 2 y se distribuye bajo el nombre corto Angular. Todo material que aparezca en la red bajo el nombre AngularJS o con codigo en $scope es obsoleto y no debe seguirse en este curso.</a:t>
            </a:r>
            <a:endParaRPr lang="en-US" sz="1200" dirty="0"/>
          </a:p>
        </p:txBody>
      </p:sp>
      <p:sp>
        <p:nvSpPr>
          <p:cNvPr id="23" name="Shape 21"/>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24" name="Text 2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5" name="Text 2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22 --- 3 / 36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PANORAMA DEL FRAMEWORK</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Angular frente a React y Vue</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63040"/>
            <a:ext cx="2743200" cy="502920"/>
          </a:xfrm>
          <a:prstGeom prst="rect">
            <a:avLst/>
          </a:prstGeom>
          <a:solidFill>
            <a:srgbClr val="006633"/>
          </a:solidFill>
          <a:ln w="6350">
            <a:solidFill>
              <a:srgbClr val="006633"/>
            </a:solidFill>
            <a:prstDash val="solid"/>
          </a:ln>
        </p:spPr>
        <p:txBody>
          <a:bodyPr/>
          <a:lstStyle/>
          <a:p>
            <a:endParaRPr lang="es-US"/>
          </a:p>
        </p:txBody>
      </p:sp>
      <p:sp>
        <p:nvSpPr>
          <p:cNvPr id="7" name="Text 5"/>
          <p:cNvSpPr/>
          <p:nvPr/>
        </p:nvSpPr>
        <p:spPr>
          <a:xfrm>
            <a:off x="621792" y="1463040"/>
            <a:ext cx="2596896"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Aspecto</a:t>
            </a:r>
            <a:endParaRPr lang="en-US" sz="1300" dirty="0"/>
          </a:p>
        </p:txBody>
      </p:sp>
      <p:sp>
        <p:nvSpPr>
          <p:cNvPr id="8" name="Shape 6"/>
          <p:cNvSpPr/>
          <p:nvPr/>
        </p:nvSpPr>
        <p:spPr>
          <a:xfrm>
            <a:off x="3291840" y="1463040"/>
            <a:ext cx="2971800" cy="502920"/>
          </a:xfrm>
          <a:prstGeom prst="rect">
            <a:avLst/>
          </a:prstGeom>
          <a:solidFill>
            <a:srgbClr val="006633"/>
          </a:solidFill>
          <a:ln w="6350">
            <a:solidFill>
              <a:srgbClr val="006633"/>
            </a:solidFill>
            <a:prstDash val="solid"/>
          </a:ln>
        </p:spPr>
        <p:txBody>
          <a:bodyPr/>
          <a:lstStyle/>
          <a:p>
            <a:endParaRPr lang="es-US"/>
          </a:p>
        </p:txBody>
      </p:sp>
      <p:sp>
        <p:nvSpPr>
          <p:cNvPr id="9" name="Text 7"/>
          <p:cNvSpPr/>
          <p:nvPr/>
        </p:nvSpPr>
        <p:spPr>
          <a:xfrm>
            <a:off x="3364992" y="1463040"/>
            <a:ext cx="2825496"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Angular 22</a:t>
            </a:r>
            <a:endParaRPr lang="en-US" sz="1300" dirty="0"/>
          </a:p>
        </p:txBody>
      </p:sp>
      <p:sp>
        <p:nvSpPr>
          <p:cNvPr id="10" name="Shape 8"/>
          <p:cNvSpPr/>
          <p:nvPr/>
        </p:nvSpPr>
        <p:spPr>
          <a:xfrm>
            <a:off x="6263640" y="1463040"/>
            <a:ext cx="2971800" cy="502920"/>
          </a:xfrm>
          <a:prstGeom prst="rect">
            <a:avLst/>
          </a:prstGeom>
          <a:solidFill>
            <a:srgbClr val="006633"/>
          </a:solidFill>
          <a:ln w="6350">
            <a:solidFill>
              <a:srgbClr val="006633"/>
            </a:solidFill>
            <a:prstDash val="solid"/>
          </a:ln>
        </p:spPr>
        <p:txBody>
          <a:bodyPr/>
          <a:lstStyle/>
          <a:p>
            <a:endParaRPr lang="es-US"/>
          </a:p>
        </p:txBody>
      </p:sp>
      <p:sp>
        <p:nvSpPr>
          <p:cNvPr id="11" name="Text 9"/>
          <p:cNvSpPr/>
          <p:nvPr/>
        </p:nvSpPr>
        <p:spPr>
          <a:xfrm>
            <a:off x="6336792" y="1463040"/>
            <a:ext cx="2825496"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React 19</a:t>
            </a:r>
            <a:endParaRPr lang="en-US" sz="1300" dirty="0"/>
          </a:p>
        </p:txBody>
      </p:sp>
      <p:sp>
        <p:nvSpPr>
          <p:cNvPr id="12" name="Shape 10"/>
          <p:cNvSpPr/>
          <p:nvPr/>
        </p:nvSpPr>
        <p:spPr>
          <a:xfrm>
            <a:off x="9235440" y="1463040"/>
            <a:ext cx="2834640" cy="502920"/>
          </a:xfrm>
          <a:prstGeom prst="rect">
            <a:avLst/>
          </a:prstGeom>
          <a:solidFill>
            <a:srgbClr val="006633"/>
          </a:solidFill>
          <a:ln w="6350">
            <a:solidFill>
              <a:srgbClr val="006633"/>
            </a:solidFill>
            <a:prstDash val="solid"/>
          </a:ln>
        </p:spPr>
        <p:txBody>
          <a:bodyPr/>
          <a:lstStyle/>
          <a:p>
            <a:endParaRPr lang="es-US"/>
          </a:p>
        </p:txBody>
      </p:sp>
      <p:sp>
        <p:nvSpPr>
          <p:cNvPr id="13" name="Text 11"/>
          <p:cNvSpPr/>
          <p:nvPr/>
        </p:nvSpPr>
        <p:spPr>
          <a:xfrm>
            <a:off x="9308592" y="1463040"/>
            <a:ext cx="2688336"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Vue 3</a:t>
            </a:r>
            <a:endParaRPr lang="en-US" sz="1300" dirty="0"/>
          </a:p>
        </p:txBody>
      </p:sp>
      <p:sp>
        <p:nvSpPr>
          <p:cNvPr id="14" name="Shape 12"/>
          <p:cNvSpPr/>
          <p:nvPr/>
        </p:nvSpPr>
        <p:spPr>
          <a:xfrm>
            <a:off x="548640" y="1965960"/>
            <a:ext cx="2743200" cy="502920"/>
          </a:xfrm>
          <a:prstGeom prst="rect">
            <a:avLst/>
          </a:prstGeom>
          <a:solidFill>
            <a:srgbClr val="FFFFFF"/>
          </a:solidFill>
          <a:ln w="6350">
            <a:solidFill>
              <a:srgbClr val="006633"/>
            </a:solidFill>
            <a:prstDash val="solid"/>
          </a:ln>
        </p:spPr>
        <p:txBody>
          <a:bodyPr/>
          <a:lstStyle/>
          <a:p>
            <a:endParaRPr lang="es-US"/>
          </a:p>
        </p:txBody>
      </p:sp>
      <p:sp>
        <p:nvSpPr>
          <p:cNvPr id="15" name="Text 13"/>
          <p:cNvSpPr/>
          <p:nvPr/>
        </p:nvSpPr>
        <p:spPr>
          <a:xfrm>
            <a:off x="621792" y="1965960"/>
            <a:ext cx="2596896" cy="502920"/>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Tipo</a:t>
            </a:r>
            <a:endParaRPr lang="en-US" sz="1200" dirty="0"/>
          </a:p>
        </p:txBody>
      </p:sp>
      <p:sp>
        <p:nvSpPr>
          <p:cNvPr id="16" name="Shape 14"/>
          <p:cNvSpPr/>
          <p:nvPr/>
        </p:nvSpPr>
        <p:spPr>
          <a:xfrm>
            <a:off x="3291840" y="1965960"/>
            <a:ext cx="2971800" cy="502920"/>
          </a:xfrm>
          <a:prstGeom prst="rect">
            <a:avLst/>
          </a:prstGeom>
          <a:solidFill>
            <a:srgbClr val="FFFFFF"/>
          </a:solidFill>
          <a:ln w="6350">
            <a:solidFill>
              <a:srgbClr val="006633"/>
            </a:solidFill>
            <a:prstDash val="solid"/>
          </a:ln>
        </p:spPr>
        <p:txBody>
          <a:bodyPr/>
          <a:lstStyle/>
          <a:p>
            <a:endParaRPr lang="es-US"/>
          </a:p>
        </p:txBody>
      </p:sp>
      <p:sp>
        <p:nvSpPr>
          <p:cNvPr id="17" name="Text 15"/>
          <p:cNvSpPr/>
          <p:nvPr/>
        </p:nvSpPr>
        <p:spPr>
          <a:xfrm>
            <a:off x="3364992" y="1965960"/>
            <a:ext cx="282549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Framework opinado (completo)</a:t>
            </a:r>
            <a:endParaRPr lang="en-US" sz="1200" dirty="0"/>
          </a:p>
        </p:txBody>
      </p:sp>
      <p:sp>
        <p:nvSpPr>
          <p:cNvPr id="18" name="Shape 16"/>
          <p:cNvSpPr/>
          <p:nvPr/>
        </p:nvSpPr>
        <p:spPr>
          <a:xfrm>
            <a:off x="6263640" y="1965960"/>
            <a:ext cx="2971800" cy="502920"/>
          </a:xfrm>
          <a:prstGeom prst="rect">
            <a:avLst/>
          </a:prstGeom>
          <a:solidFill>
            <a:srgbClr val="FFFFFF"/>
          </a:solidFill>
          <a:ln w="6350">
            <a:solidFill>
              <a:srgbClr val="006633"/>
            </a:solidFill>
            <a:prstDash val="solid"/>
          </a:ln>
        </p:spPr>
        <p:txBody>
          <a:bodyPr/>
          <a:lstStyle/>
          <a:p>
            <a:endParaRPr lang="es-US"/>
          </a:p>
        </p:txBody>
      </p:sp>
      <p:sp>
        <p:nvSpPr>
          <p:cNvPr id="19" name="Text 17"/>
          <p:cNvSpPr/>
          <p:nvPr/>
        </p:nvSpPr>
        <p:spPr>
          <a:xfrm>
            <a:off x="6336792" y="1965960"/>
            <a:ext cx="282549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Libreria de UI</a:t>
            </a:r>
            <a:endParaRPr lang="en-US" sz="1200" dirty="0"/>
          </a:p>
        </p:txBody>
      </p:sp>
      <p:sp>
        <p:nvSpPr>
          <p:cNvPr id="20" name="Shape 18"/>
          <p:cNvSpPr/>
          <p:nvPr/>
        </p:nvSpPr>
        <p:spPr>
          <a:xfrm>
            <a:off x="9235440" y="1965960"/>
            <a:ext cx="2834640" cy="502920"/>
          </a:xfrm>
          <a:prstGeom prst="rect">
            <a:avLst/>
          </a:prstGeom>
          <a:solidFill>
            <a:srgbClr val="FFFFFF"/>
          </a:solidFill>
          <a:ln w="6350">
            <a:solidFill>
              <a:srgbClr val="006633"/>
            </a:solidFill>
            <a:prstDash val="solid"/>
          </a:ln>
        </p:spPr>
        <p:txBody>
          <a:bodyPr/>
          <a:lstStyle/>
          <a:p>
            <a:endParaRPr lang="es-US"/>
          </a:p>
        </p:txBody>
      </p:sp>
      <p:sp>
        <p:nvSpPr>
          <p:cNvPr id="21" name="Text 19"/>
          <p:cNvSpPr/>
          <p:nvPr/>
        </p:nvSpPr>
        <p:spPr>
          <a:xfrm>
            <a:off x="9308592" y="1965960"/>
            <a:ext cx="268833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Framework progresivo</a:t>
            </a:r>
            <a:endParaRPr lang="en-US" sz="1200" dirty="0"/>
          </a:p>
        </p:txBody>
      </p:sp>
      <p:sp>
        <p:nvSpPr>
          <p:cNvPr id="22" name="Shape 20"/>
          <p:cNvSpPr/>
          <p:nvPr/>
        </p:nvSpPr>
        <p:spPr>
          <a:xfrm>
            <a:off x="548640" y="2468880"/>
            <a:ext cx="2743200" cy="502920"/>
          </a:xfrm>
          <a:prstGeom prst="rect">
            <a:avLst/>
          </a:prstGeom>
          <a:solidFill>
            <a:srgbClr val="F4F6F5"/>
          </a:solidFill>
          <a:ln w="6350">
            <a:solidFill>
              <a:srgbClr val="006633"/>
            </a:solidFill>
            <a:prstDash val="solid"/>
          </a:ln>
        </p:spPr>
        <p:txBody>
          <a:bodyPr/>
          <a:lstStyle/>
          <a:p>
            <a:endParaRPr lang="es-US"/>
          </a:p>
        </p:txBody>
      </p:sp>
      <p:sp>
        <p:nvSpPr>
          <p:cNvPr id="23" name="Text 21"/>
          <p:cNvSpPr/>
          <p:nvPr/>
        </p:nvSpPr>
        <p:spPr>
          <a:xfrm>
            <a:off x="621792" y="2468880"/>
            <a:ext cx="2596896" cy="502920"/>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Lenguaje base</a:t>
            </a:r>
            <a:endParaRPr lang="en-US" sz="1200" dirty="0"/>
          </a:p>
        </p:txBody>
      </p:sp>
      <p:sp>
        <p:nvSpPr>
          <p:cNvPr id="24" name="Shape 22"/>
          <p:cNvSpPr/>
          <p:nvPr/>
        </p:nvSpPr>
        <p:spPr>
          <a:xfrm>
            <a:off x="3291840" y="2468880"/>
            <a:ext cx="2971800" cy="502920"/>
          </a:xfrm>
          <a:prstGeom prst="rect">
            <a:avLst/>
          </a:prstGeom>
          <a:solidFill>
            <a:srgbClr val="F4F6F5"/>
          </a:solidFill>
          <a:ln w="6350">
            <a:solidFill>
              <a:srgbClr val="006633"/>
            </a:solidFill>
            <a:prstDash val="solid"/>
          </a:ln>
        </p:spPr>
        <p:txBody>
          <a:bodyPr/>
          <a:lstStyle/>
          <a:p>
            <a:endParaRPr lang="es-US"/>
          </a:p>
        </p:txBody>
      </p:sp>
      <p:sp>
        <p:nvSpPr>
          <p:cNvPr id="25" name="Text 23"/>
          <p:cNvSpPr/>
          <p:nvPr/>
        </p:nvSpPr>
        <p:spPr>
          <a:xfrm>
            <a:off x="3364992" y="2468880"/>
            <a:ext cx="282549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TypeScript (obligatorio)</a:t>
            </a:r>
            <a:endParaRPr lang="en-US" sz="1200" dirty="0"/>
          </a:p>
        </p:txBody>
      </p:sp>
      <p:sp>
        <p:nvSpPr>
          <p:cNvPr id="26" name="Shape 24"/>
          <p:cNvSpPr/>
          <p:nvPr/>
        </p:nvSpPr>
        <p:spPr>
          <a:xfrm>
            <a:off x="6263640" y="2468880"/>
            <a:ext cx="2971800" cy="502920"/>
          </a:xfrm>
          <a:prstGeom prst="rect">
            <a:avLst/>
          </a:prstGeom>
          <a:solidFill>
            <a:srgbClr val="F4F6F5"/>
          </a:solidFill>
          <a:ln w="6350">
            <a:solidFill>
              <a:srgbClr val="006633"/>
            </a:solidFill>
            <a:prstDash val="solid"/>
          </a:ln>
        </p:spPr>
        <p:txBody>
          <a:bodyPr/>
          <a:lstStyle/>
          <a:p>
            <a:endParaRPr lang="es-US"/>
          </a:p>
        </p:txBody>
      </p:sp>
      <p:sp>
        <p:nvSpPr>
          <p:cNvPr id="27" name="Text 25"/>
          <p:cNvSpPr/>
          <p:nvPr/>
        </p:nvSpPr>
        <p:spPr>
          <a:xfrm>
            <a:off x="6336792" y="2468880"/>
            <a:ext cx="282549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JavaScript o TypeScript</a:t>
            </a:r>
            <a:endParaRPr lang="en-US" sz="1200" dirty="0"/>
          </a:p>
        </p:txBody>
      </p:sp>
      <p:sp>
        <p:nvSpPr>
          <p:cNvPr id="28" name="Shape 26"/>
          <p:cNvSpPr/>
          <p:nvPr/>
        </p:nvSpPr>
        <p:spPr>
          <a:xfrm>
            <a:off x="9235440" y="2468880"/>
            <a:ext cx="2834640" cy="502920"/>
          </a:xfrm>
          <a:prstGeom prst="rect">
            <a:avLst/>
          </a:prstGeom>
          <a:solidFill>
            <a:srgbClr val="F4F6F5"/>
          </a:solidFill>
          <a:ln w="6350">
            <a:solidFill>
              <a:srgbClr val="006633"/>
            </a:solidFill>
            <a:prstDash val="solid"/>
          </a:ln>
        </p:spPr>
        <p:txBody>
          <a:bodyPr/>
          <a:lstStyle/>
          <a:p>
            <a:endParaRPr lang="es-US"/>
          </a:p>
        </p:txBody>
      </p:sp>
      <p:sp>
        <p:nvSpPr>
          <p:cNvPr id="29" name="Text 27"/>
          <p:cNvSpPr/>
          <p:nvPr/>
        </p:nvSpPr>
        <p:spPr>
          <a:xfrm>
            <a:off x="9308592" y="2468880"/>
            <a:ext cx="268833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JavaScript o TypeScript</a:t>
            </a:r>
            <a:endParaRPr lang="en-US" sz="1200" dirty="0"/>
          </a:p>
        </p:txBody>
      </p:sp>
      <p:sp>
        <p:nvSpPr>
          <p:cNvPr id="30" name="Shape 28"/>
          <p:cNvSpPr/>
          <p:nvPr/>
        </p:nvSpPr>
        <p:spPr>
          <a:xfrm>
            <a:off x="548640" y="2971800"/>
            <a:ext cx="2743200" cy="502920"/>
          </a:xfrm>
          <a:prstGeom prst="rect">
            <a:avLst/>
          </a:prstGeom>
          <a:solidFill>
            <a:srgbClr val="FFFFFF"/>
          </a:solidFill>
          <a:ln w="6350">
            <a:solidFill>
              <a:srgbClr val="006633"/>
            </a:solidFill>
            <a:prstDash val="solid"/>
          </a:ln>
        </p:spPr>
        <p:txBody>
          <a:bodyPr/>
          <a:lstStyle/>
          <a:p>
            <a:endParaRPr lang="es-US"/>
          </a:p>
        </p:txBody>
      </p:sp>
      <p:sp>
        <p:nvSpPr>
          <p:cNvPr id="31" name="Text 29"/>
          <p:cNvSpPr/>
          <p:nvPr/>
        </p:nvSpPr>
        <p:spPr>
          <a:xfrm>
            <a:off x="621792" y="2971800"/>
            <a:ext cx="2596896" cy="502920"/>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Enrutador oficial</a:t>
            </a:r>
            <a:endParaRPr lang="en-US" sz="1200" dirty="0"/>
          </a:p>
        </p:txBody>
      </p:sp>
      <p:sp>
        <p:nvSpPr>
          <p:cNvPr id="32" name="Shape 30"/>
          <p:cNvSpPr/>
          <p:nvPr/>
        </p:nvSpPr>
        <p:spPr>
          <a:xfrm>
            <a:off x="3291840" y="2971800"/>
            <a:ext cx="2971800" cy="502920"/>
          </a:xfrm>
          <a:prstGeom prst="rect">
            <a:avLst/>
          </a:prstGeom>
          <a:solidFill>
            <a:srgbClr val="FFFFFF"/>
          </a:solidFill>
          <a:ln w="6350">
            <a:solidFill>
              <a:srgbClr val="006633"/>
            </a:solidFill>
            <a:prstDash val="solid"/>
          </a:ln>
        </p:spPr>
        <p:txBody>
          <a:bodyPr/>
          <a:lstStyle/>
          <a:p>
            <a:endParaRPr lang="es-US"/>
          </a:p>
        </p:txBody>
      </p:sp>
      <p:sp>
        <p:nvSpPr>
          <p:cNvPr id="33" name="Text 31"/>
          <p:cNvSpPr/>
          <p:nvPr/>
        </p:nvSpPr>
        <p:spPr>
          <a:xfrm>
            <a:off x="3364992" y="2971800"/>
            <a:ext cx="282549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Si (Router)</a:t>
            </a:r>
            <a:endParaRPr lang="en-US" sz="1200" dirty="0"/>
          </a:p>
        </p:txBody>
      </p:sp>
      <p:sp>
        <p:nvSpPr>
          <p:cNvPr id="34" name="Shape 32"/>
          <p:cNvSpPr/>
          <p:nvPr/>
        </p:nvSpPr>
        <p:spPr>
          <a:xfrm>
            <a:off x="6263640" y="2971800"/>
            <a:ext cx="2971800" cy="502920"/>
          </a:xfrm>
          <a:prstGeom prst="rect">
            <a:avLst/>
          </a:prstGeom>
          <a:solidFill>
            <a:srgbClr val="FFFFFF"/>
          </a:solidFill>
          <a:ln w="6350">
            <a:solidFill>
              <a:srgbClr val="006633"/>
            </a:solidFill>
            <a:prstDash val="solid"/>
          </a:ln>
        </p:spPr>
        <p:txBody>
          <a:bodyPr/>
          <a:lstStyle/>
          <a:p>
            <a:endParaRPr lang="es-US"/>
          </a:p>
        </p:txBody>
      </p:sp>
      <p:sp>
        <p:nvSpPr>
          <p:cNvPr id="35" name="Text 33"/>
          <p:cNvSpPr/>
          <p:nvPr/>
        </p:nvSpPr>
        <p:spPr>
          <a:xfrm>
            <a:off x="6336792" y="2971800"/>
            <a:ext cx="282549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No (react-router-dom externo)</a:t>
            </a:r>
            <a:endParaRPr lang="en-US" sz="1200" dirty="0"/>
          </a:p>
        </p:txBody>
      </p:sp>
      <p:sp>
        <p:nvSpPr>
          <p:cNvPr id="36" name="Shape 34"/>
          <p:cNvSpPr/>
          <p:nvPr/>
        </p:nvSpPr>
        <p:spPr>
          <a:xfrm>
            <a:off x="9235440" y="2971800"/>
            <a:ext cx="2834640" cy="502920"/>
          </a:xfrm>
          <a:prstGeom prst="rect">
            <a:avLst/>
          </a:prstGeom>
          <a:solidFill>
            <a:srgbClr val="FFFFFF"/>
          </a:solidFill>
          <a:ln w="6350">
            <a:solidFill>
              <a:srgbClr val="006633"/>
            </a:solidFill>
            <a:prstDash val="solid"/>
          </a:ln>
        </p:spPr>
        <p:txBody>
          <a:bodyPr/>
          <a:lstStyle/>
          <a:p>
            <a:endParaRPr lang="es-US"/>
          </a:p>
        </p:txBody>
      </p:sp>
      <p:sp>
        <p:nvSpPr>
          <p:cNvPr id="37" name="Text 35"/>
          <p:cNvSpPr/>
          <p:nvPr/>
        </p:nvSpPr>
        <p:spPr>
          <a:xfrm>
            <a:off x="9308592" y="2971800"/>
            <a:ext cx="268833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Si (Vue Router)</a:t>
            </a:r>
            <a:endParaRPr lang="en-US" sz="1200" dirty="0"/>
          </a:p>
        </p:txBody>
      </p:sp>
      <p:sp>
        <p:nvSpPr>
          <p:cNvPr id="38" name="Shape 36"/>
          <p:cNvSpPr/>
          <p:nvPr/>
        </p:nvSpPr>
        <p:spPr>
          <a:xfrm>
            <a:off x="548640" y="3474720"/>
            <a:ext cx="2743200" cy="502920"/>
          </a:xfrm>
          <a:prstGeom prst="rect">
            <a:avLst/>
          </a:prstGeom>
          <a:solidFill>
            <a:srgbClr val="F4F6F5"/>
          </a:solidFill>
          <a:ln w="6350">
            <a:solidFill>
              <a:srgbClr val="006633"/>
            </a:solidFill>
            <a:prstDash val="solid"/>
          </a:ln>
        </p:spPr>
        <p:txBody>
          <a:bodyPr/>
          <a:lstStyle/>
          <a:p>
            <a:endParaRPr lang="es-US"/>
          </a:p>
        </p:txBody>
      </p:sp>
      <p:sp>
        <p:nvSpPr>
          <p:cNvPr id="39" name="Text 37"/>
          <p:cNvSpPr/>
          <p:nvPr/>
        </p:nvSpPr>
        <p:spPr>
          <a:xfrm>
            <a:off x="621792" y="3474720"/>
            <a:ext cx="2596896" cy="502920"/>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CLI oficial</a:t>
            </a:r>
            <a:endParaRPr lang="en-US" sz="1200" dirty="0"/>
          </a:p>
        </p:txBody>
      </p:sp>
      <p:sp>
        <p:nvSpPr>
          <p:cNvPr id="40" name="Shape 38"/>
          <p:cNvSpPr/>
          <p:nvPr/>
        </p:nvSpPr>
        <p:spPr>
          <a:xfrm>
            <a:off x="3291840" y="3474720"/>
            <a:ext cx="2971800" cy="502920"/>
          </a:xfrm>
          <a:prstGeom prst="rect">
            <a:avLst/>
          </a:prstGeom>
          <a:solidFill>
            <a:srgbClr val="F4F6F5"/>
          </a:solidFill>
          <a:ln w="6350">
            <a:solidFill>
              <a:srgbClr val="006633"/>
            </a:solidFill>
            <a:prstDash val="solid"/>
          </a:ln>
        </p:spPr>
        <p:txBody>
          <a:bodyPr/>
          <a:lstStyle/>
          <a:p>
            <a:endParaRPr lang="es-US"/>
          </a:p>
        </p:txBody>
      </p:sp>
      <p:sp>
        <p:nvSpPr>
          <p:cNvPr id="41" name="Text 39"/>
          <p:cNvSpPr/>
          <p:nvPr/>
        </p:nvSpPr>
        <p:spPr>
          <a:xfrm>
            <a:off x="3364992" y="3474720"/>
            <a:ext cx="282549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Si (Angular CLI)</a:t>
            </a:r>
            <a:endParaRPr lang="en-US" sz="1200" dirty="0"/>
          </a:p>
        </p:txBody>
      </p:sp>
      <p:sp>
        <p:nvSpPr>
          <p:cNvPr id="42" name="Shape 40"/>
          <p:cNvSpPr/>
          <p:nvPr/>
        </p:nvSpPr>
        <p:spPr>
          <a:xfrm>
            <a:off x="6263640" y="3474720"/>
            <a:ext cx="2971800" cy="502920"/>
          </a:xfrm>
          <a:prstGeom prst="rect">
            <a:avLst/>
          </a:prstGeom>
          <a:solidFill>
            <a:srgbClr val="F4F6F5"/>
          </a:solidFill>
          <a:ln w="6350">
            <a:solidFill>
              <a:srgbClr val="006633"/>
            </a:solidFill>
            <a:prstDash val="solid"/>
          </a:ln>
        </p:spPr>
        <p:txBody>
          <a:bodyPr/>
          <a:lstStyle/>
          <a:p>
            <a:endParaRPr lang="es-US"/>
          </a:p>
        </p:txBody>
      </p:sp>
      <p:sp>
        <p:nvSpPr>
          <p:cNvPr id="43" name="Text 41"/>
          <p:cNvSpPr/>
          <p:nvPr/>
        </p:nvSpPr>
        <p:spPr>
          <a:xfrm>
            <a:off x="6336792" y="3474720"/>
            <a:ext cx="282549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No (Vite, Next, CRA obsoleto)</a:t>
            </a:r>
            <a:endParaRPr lang="en-US" sz="1200" dirty="0"/>
          </a:p>
        </p:txBody>
      </p:sp>
      <p:sp>
        <p:nvSpPr>
          <p:cNvPr id="44" name="Shape 42"/>
          <p:cNvSpPr/>
          <p:nvPr/>
        </p:nvSpPr>
        <p:spPr>
          <a:xfrm>
            <a:off x="9235440" y="3474720"/>
            <a:ext cx="2834640" cy="502920"/>
          </a:xfrm>
          <a:prstGeom prst="rect">
            <a:avLst/>
          </a:prstGeom>
          <a:solidFill>
            <a:srgbClr val="F4F6F5"/>
          </a:solidFill>
          <a:ln w="6350">
            <a:solidFill>
              <a:srgbClr val="006633"/>
            </a:solidFill>
            <a:prstDash val="solid"/>
          </a:ln>
        </p:spPr>
        <p:txBody>
          <a:bodyPr/>
          <a:lstStyle/>
          <a:p>
            <a:endParaRPr lang="es-US"/>
          </a:p>
        </p:txBody>
      </p:sp>
      <p:sp>
        <p:nvSpPr>
          <p:cNvPr id="45" name="Text 43"/>
          <p:cNvSpPr/>
          <p:nvPr/>
        </p:nvSpPr>
        <p:spPr>
          <a:xfrm>
            <a:off x="9308592" y="3474720"/>
            <a:ext cx="268833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Si (create-vue)</a:t>
            </a:r>
            <a:endParaRPr lang="en-US" sz="1200" dirty="0"/>
          </a:p>
        </p:txBody>
      </p:sp>
      <p:sp>
        <p:nvSpPr>
          <p:cNvPr id="46" name="Shape 44"/>
          <p:cNvSpPr/>
          <p:nvPr/>
        </p:nvSpPr>
        <p:spPr>
          <a:xfrm>
            <a:off x="548640" y="3977640"/>
            <a:ext cx="2743200" cy="502920"/>
          </a:xfrm>
          <a:prstGeom prst="rect">
            <a:avLst/>
          </a:prstGeom>
          <a:solidFill>
            <a:srgbClr val="FFFFFF"/>
          </a:solidFill>
          <a:ln w="6350">
            <a:solidFill>
              <a:srgbClr val="006633"/>
            </a:solidFill>
            <a:prstDash val="solid"/>
          </a:ln>
        </p:spPr>
        <p:txBody>
          <a:bodyPr/>
          <a:lstStyle/>
          <a:p>
            <a:endParaRPr lang="es-US"/>
          </a:p>
        </p:txBody>
      </p:sp>
      <p:sp>
        <p:nvSpPr>
          <p:cNvPr id="47" name="Text 45"/>
          <p:cNvSpPr/>
          <p:nvPr/>
        </p:nvSpPr>
        <p:spPr>
          <a:xfrm>
            <a:off x="621792" y="3977640"/>
            <a:ext cx="2596896" cy="502920"/>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HTTP oficial</a:t>
            </a:r>
            <a:endParaRPr lang="en-US" sz="1200" dirty="0"/>
          </a:p>
        </p:txBody>
      </p:sp>
      <p:sp>
        <p:nvSpPr>
          <p:cNvPr id="48" name="Shape 46"/>
          <p:cNvSpPr/>
          <p:nvPr/>
        </p:nvSpPr>
        <p:spPr>
          <a:xfrm>
            <a:off x="3291840" y="3977640"/>
            <a:ext cx="2971800" cy="502920"/>
          </a:xfrm>
          <a:prstGeom prst="rect">
            <a:avLst/>
          </a:prstGeom>
          <a:solidFill>
            <a:srgbClr val="FFFFFF"/>
          </a:solidFill>
          <a:ln w="6350">
            <a:solidFill>
              <a:srgbClr val="006633"/>
            </a:solidFill>
            <a:prstDash val="solid"/>
          </a:ln>
        </p:spPr>
        <p:txBody>
          <a:bodyPr/>
          <a:lstStyle/>
          <a:p>
            <a:endParaRPr lang="es-US"/>
          </a:p>
        </p:txBody>
      </p:sp>
      <p:sp>
        <p:nvSpPr>
          <p:cNvPr id="49" name="Text 47"/>
          <p:cNvSpPr/>
          <p:nvPr/>
        </p:nvSpPr>
        <p:spPr>
          <a:xfrm>
            <a:off x="3364992" y="3977640"/>
            <a:ext cx="282549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Si (HttpClient)</a:t>
            </a:r>
            <a:endParaRPr lang="en-US" sz="1200" dirty="0"/>
          </a:p>
        </p:txBody>
      </p:sp>
      <p:sp>
        <p:nvSpPr>
          <p:cNvPr id="50" name="Shape 48"/>
          <p:cNvSpPr/>
          <p:nvPr/>
        </p:nvSpPr>
        <p:spPr>
          <a:xfrm>
            <a:off x="6263640" y="3977640"/>
            <a:ext cx="2971800" cy="502920"/>
          </a:xfrm>
          <a:prstGeom prst="rect">
            <a:avLst/>
          </a:prstGeom>
          <a:solidFill>
            <a:srgbClr val="FFFFFF"/>
          </a:solidFill>
          <a:ln w="6350">
            <a:solidFill>
              <a:srgbClr val="006633"/>
            </a:solidFill>
            <a:prstDash val="solid"/>
          </a:ln>
        </p:spPr>
        <p:txBody>
          <a:bodyPr/>
          <a:lstStyle/>
          <a:p>
            <a:endParaRPr lang="es-US"/>
          </a:p>
        </p:txBody>
      </p:sp>
      <p:sp>
        <p:nvSpPr>
          <p:cNvPr id="51" name="Text 49"/>
          <p:cNvSpPr/>
          <p:nvPr/>
        </p:nvSpPr>
        <p:spPr>
          <a:xfrm>
            <a:off x="6336792" y="3977640"/>
            <a:ext cx="282549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No (fetch o axios)</a:t>
            </a:r>
            <a:endParaRPr lang="en-US" sz="1200" dirty="0"/>
          </a:p>
        </p:txBody>
      </p:sp>
      <p:sp>
        <p:nvSpPr>
          <p:cNvPr id="52" name="Shape 50"/>
          <p:cNvSpPr/>
          <p:nvPr/>
        </p:nvSpPr>
        <p:spPr>
          <a:xfrm>
            <a:off x="9235440" y="3977640"/>
            <a:ext cx="2834640" cy="502920"/>
          </a:xfrm>
          <a:prstGeom prst="rect">
            <a:avLst/>
          </a:prstGeom>
          <a:solidFill>
            <a:srgbClr val="FFFFFF"/>
          </a:solidFill>
          <a:ln w="6350">
            <a:solidFill>
              <a:srgbClr val="006633"/>
            </a:solidFill>
            <a:prstDash val="solid"/>
          </a:ln>
        </p:spPr>
        <p:txBody>
          <a:bodyPr/>
          <a:lstStyle/>
          <a:p>
            <a:endParaRPr lang="es-US"/>
          </a:p>
        </p:txBody>
      </p:sp>
      <p:sp>
        <p:nvSpPr>
          <p:cNvPr id="53" name="Text 51"/>
          <p:cNvSpPr/>
          <p:nvPr/>
        </p:nvSpPr>
        <p:spPr>
          <a:xfrm>
            <a:off x="9308592" y="3977640"/>
            <a:ext cx="268833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No (fetch o axios)</a:t>
            </a:r>
            <a:endParaRPr lang="en-US" sz="1200" dirty="0"/>
          </a:p>
        </p:txBody>
      </p:sp>
      <p:sp>
        <p:nvSpPr>
          <p:cNvPr id="54" name="Shape 52"/>
          <p:cNvSpPr/>
          <p:nvPr/>
        </p:nvSpPr>
        <p:spPr>
          <a:xfrm>
            <a:off x="548640" y="4480560"/>
            <a:ext cx="2743200" cy="502920"/>
          </a:xfrm>
          <a:prstGeom prst="rect">
            <a:avLst/>
          </a:prstGeom>
          <a:solidFill>
            <a:srgbClr val="F4F6F5"/>
          </a:solidFill>
          <a:ln w="6350">
            <a:solidFill>
              <a:srgbClr val="006633"/>
            </a:solidFill>
            <a:prstDash val="solid"/>
          </a:ln>
        </p:spPr>
        <p:txBody>
          <a:bodyPr/>
          <a:lstStyle/>
          <a:p>
            <a:endParaRPr lang="es-US"/>
          </a:p>
        </p:txBody>
      </p:sp>
      <p:sp>
        <p:nvSpPr>
          <p:cNvPr id="55" name="Text 53"/>
          <p:cNvSpPr/>
          <p:nvPr/>
        </p:nvSpPr>
        <p:spPr>
          <a:xfrm>
            <a:off x="621792" y="4480560"/>
            <a:ext cx="2596896" cy="502920"/>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Reactividad</a:t>
            </a:r>
            <a:endParaRPr lang="en-US" sz="1200" dirty="0"/>
          </a:p>
        </p:txBody>
      </p:sp>
      <p:sp>
        <p:nvSpPr>
          <p:cNvPr id="56" name="Shape 54"/>
          <p:cNvSpPr/>
          <p:nvPr/>
        </p:nvSpPr>
        <p:spPr>
          <a:xfrm>
            <a:off x="3291840" y="4480560"/>
            <a:ext cx="2971800" cy="502920"/>
          </a:xfrm>
          <a:prstGeom prst="rect">
            <a:avLst/>
          </a:prstGeom>
          <a:solidFill>
            <a:srgbClr val="F4F6F5"/>
          </a:solidFill>
          <a:ln w="6350">
            <a:solidFill>
              <a:srgbClr val="006633"/>
            </a:solidFill>
            <a:prstDash val="solid"/>
          </a:ln>
        </p:spPr>
        <p:txBody>
          <a:bodyPr/>
          <a:lstStyle/>
          <a:p>
            <a:endParaRPr lang="es-US"/>
          </a:p>
        </p:txBody>
      </p:sp>
      <p:sp>
        <p:nvSpPr>
          <p:cNvPr id="57" name="Text 55"/>
          <p:cNvSpPr/>
          <p:nvPr/>
        </p:nvSpPr>
        <p:spPr>
          <a:xfrm>
            <a:off x="3364992" y="4480560"/>
            <a:ext cx="282549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Signals (v22)</a:t>
            </a:r>
            <a:endParaRPr lang="en-US" sz="1200" dirty="0"/>
          </a:p>
        </p:txBody>
      </p:sp>
      <p:sp>
        <p:nvSpPr>
          <p:cNvPr id="58" name="Shape 56"/>
          <p:cNvSpPr/>
          <p:nvPr/>
        </p:nvSpPr>
        <p:spPr>
          <a:xfrm>
            <a:off x="6263640" y="4480560"/>
            <a:ext cx="2971800" cy="502920"/>
          </a:xfrm>
          <a:prstGeom prst="rect">
            <a:avLst/>
          </a:prstGeom>
          <a:solidFill>
            <a:srgbClr val="F4F6F5"/>
          </a:solidFill>
          <a:ln w="6350">
            <a:solidFill>
              <a:srgbClr val="006633"/>
            </a:solidFill>
            <a:prstDash val="solid"/>
          </a:ln>
        </p:spPr>
        <p:txBody>
          <a:bodyPr/>
          <a:lstStyle/>
          <a:p>
            <a:endParaRPr lang="es-US"/>
          </a:p>
        </p:txBody>
      </p:sp>
      <p:sp>
        <p:nvSpPr>
          <p:cNvPr id="59" name="Text 57"/>
          <p:cNvSpPr/>
          <p:nvPr/>
        </p:nvSpPr>
        <p:spPr>
          <a:xfrm>
            <a:off x="6336792" y="4480560"/>
            <a:ext cx="282549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Hooks y estado</a:t>
            </a:r>
            <a:endParaRPr lang="en-US" sz="1200" dirty="0"/>
          </a:p>
        </p:txBody>
      </p:sp>
      <p:sp>
        <p:nvSpPr>
          <p:cNvPr id="60" name="Shape 58"/>
          <p:cNvSpPr/>
          <p:nvPr/>
        </p:nvSpPr>
        <p:spPr>
          <a:xfrm>
            <a:off x="9235440" y="4480560"/>
            <a:ext cx="2834640" cy="502920"/>
          </a:xfrm>
          <a:prstGeom prst="rect">
            <a:avLst/>
          </a:prstGeom>
          <a:solidFill>
            <a:srgbClr val="F4F6F5"/>
          </a:solidFill>
          <a:ln w="6350">
            <a:solidFill>
              <a:srgbClr val="006633"/>
            </a:solidFill>
            <a:prstDash val="solid"/>
          </a:ln>
        </p:spPr>
        <p:txBody>
          <a:bodyPr/>
          <a:lstStyle/>
          <a:p>
            <a:endParaRPr lang="es-US"/>
          </a:p>
        </p:txBody>
      </p:sp>
      <p:sp>
        <p:nvSpPr>
          <p:cNvPr id="61" name="Text 59"/>
          <p:cNvSpPr/>
          <p:nvPr/>
        </p:nvSpPr>
        <p:spPr>
          <a:xfrm>
            <a:off x="9308592" y="4480560"/>
            <a:ext cx="268833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Reactivo por proxy</a:t>
            </a:r>
            <a:endParaRPr lang="en-US" sz="1200" dirty="0"/>
          </a:p>
        </p:txBody>
      </p:sp>
      <p:sp>
        <p:nvSpPr>
          <p:cNvPr id="62" name="Shape 60"/>
          <p:cNvSpPr/>
          <p:nvPr/>
        </p:nvSpPr>
        <p:spPr>
          <a:xfrm>
            <a:off x="548640" y="4983480"/>
            <a:ext cx="2743200" cy="502920"/>
          </a:xfrm>
          <a:prstGeom prst="rect">
            <a:avLst/>
          </a:prstGeom>
          <a:solidFill>
            <a:srgbClr val="FFFFFF"/>
          </a:solidFill>
          <a:ln w="6350">
            <a:solidFill>
              <a:srgbClr val="006633"/>
            </a:solidFill>
            <a:prstDash val="solid"/>
          </a:ln>
        </p:spPr>
        <p:txBody>
          <a:bodyPr/>
          <a:lstStyle/>
          <a:p>
            <a:endParaRPr lang="es-US"/>
          </a:p>
        </p:txBody>
      </p:sp>
      <p:sp>
        <p:nvSpPr>
          <p:cNvPr id="63" name="Text 61"/>
          <p:cNvSpPr/>
          <p:nvPr/>
        </p:nvSpPr>
        <p:spPr>
          <a:xfrm>
            <a:off x="621792" y="4983480"/>
            <a:ext cx="2596896" cy="502920"/>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Curva inicial</a:t>
            </a:r>
            <a:endParaRPr lang="en-US" sz="1200" dirty="0"/>
          </a:p>
        </p:txBody>
      </p:sp>
      <p:sp>
        <p:nvSpPr>
          <p:cNvPr id="64" name="Shape 62"/>
          <p:cNvSpPr/>
          <p:nvPr/>
        </p:nvSpPr>
        <p:spPr>
          <a:xfrm>
            <a:off x="3291840" y="4983480"/>
            <a:ext cx="2971800" cy="502920"/>
          </a:xfrm>
          <a:prstGeom prst="rect">
            <a:avLst/>
          </a:prstGeom>
          <a:solidFill>
            <a:srgbClr val="FFFFFF"/>
          </a:solidFill>
          <a:ln w="6350">
            <a:solidFill>
              <a:srgbClr val="006633"/>
            </a:solidFill>
            <a:prstDash val="solid"/>
          </a:ln>
        </p:spPr>
        <p:txBody>
          <a:bodyPr/>
          <a:lstStyle/>
          <a:p>
            <a:endParaRPr lang="es-US"/>
          </a:p>
        </p:txBody>
      </p:sp>
      <p:sp>
        <p:nvSpPr>
          <p:cNvPr id="65" name="Text 63"/>
          <p:cNvSpPr/>
          <p:nvPr/>
        </p:nvSpPr>
        <p:spPr>
          <a:xfrm>
            <a:off x="3364992" y="4983480"/>
            <a:ext cx="282549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Alta</a:t>
            </a:r>
            <a:endParaRPr lang="en-US" sz="1200" dirty="0"/>
          </a:p>
        </p:txBody>
      </p:sp>
      <p:sp>
        <p:nvSpPr>
          <p:cNvPr id="66" name="Shape 64"/>
          <p:cNvSpPr/>
          <p:nvPr/>
        </p:nvSpPr>
        <p:spPr>
          <a:xfrm>
            <a:off x="6263640" y="4983480"/>
            <a:ext cx="2971800" cy="502920"/>
          </a:xfrm>
          <a:prstGeom prst="rect">
            <a:avLst/>
          </a:prstGeom>
          <a:solidFill>
            <a:srgbClr val="FFFFFF"/>
          </a:solidFill>
          <a:ln w="6350">
            <a:solidFill>
              <a:srgbClr val="006633"/>
            </a:solidFill>
            <a:prstDash val="solid"/>
          </a:ln>
        </p:spPr>
        <p:txBody>
          <a:bodyPr/>
          <a:lstStyle/>
          <a:p>
            <a:endParaRPr lang="es-US"/>
          </a:p>
        </p:txBody>
      </p:sp>
      <p:sp>
        <p:nvSpPr>
          <p:cNvPr id="67" name="Text 65"/>
          <p:cNvSpPr/>
          <p:nvPr/>
        </p:nvSpPr>
        <p:spPr>
          <a:xfrm>
            <a:off x="6336792" y="4983480"/>
            <a:ext cx="282549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Media</a:t>
            </a:r>
            <a:endParaRPr lang="en-US" sz="1200" dirty="0"/>
          </a:p>
        </p:txBody>
      </p:sp>
      <p:sp>
        <p:nvSpPr>
          <p:cNvPr id="68" name="Shape 66"/>
          <p:cNvSpPr/>
          <p:nvPr/>
        </p:nvSpPr>
        <p:spPr>
          <a:xfrm>
            <a:off x="9235440" y="4983480"/>
            <a:ext cx="2834640" cy="502920"/>
          </a:xfrm>
          <a:prstGeom prst="rect">
            <a:avLst/>
          </a:prstGeom>
          <a:solidFill>
            <a:srgbClr val="FFFFFF"/>
          </a:solidFill>
          <a:ln w="6350">
            <a:solidFill>
              <a:srgbClr val="006633"/>
            </a:solidFill>
            <a:prstDash val="solid"/>
          </a:ln>
        </p:spPr>
        <p:txBody>
          <a:bodyPr/>
          <a:lstStyle/>
          <a:p>
            <a:endParaRPr lang="es-US"/>
          </a:p>
        </p:txBody>
      </p:sp>
      <p:sp>
        <p:nvSpPr>
          <p:cNvPr id="69" name="Text 67"/>
          <p:cNvSpPr/>
          <p:nvPr/>
        </p:nvSpPr>
        <p:spPr>
          <a:xfrm>
            <a:off x="9308592" y="4983480"/>
            <a:ext cx="2688336" cy="502920"/>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Media</a:t>
            </a:r>
            <a:endParaRPr lang="en-US" sz="1200" dirty="0"/>
          </a:p>
        </p:txBody>
      </p:sp>
      <p:sp>
        <p:nvSpPr>
          <p:cNvPr id="70" name="Text 68"/>
          <p:cNvSpPr/>
          <p:nvPr/>
        </p:nvSpPr>
        <p:spPr>
          <a:xfrm>
            <a:off x="548640" y="5669280"/>
            <a:ext cx="11091672" cy="685800"/>
          </a:xfrm>
          <a:prstGeom prst="rect">
            <a:avLst/>
          </a:prstGeom>
          <a:noFill/>
          <a:ln/>
        </p:spPr>
        <p:txBody>
          <a:bodyPr wrap="square" rtlCol="0" anchor="t"/>
          <a:lstStyle/>
          <a:p>
            <a:pPr marL="0" indent="0">
              <a:buNone/>
            </a:pPr>
            <a:r>
              <a:rPr lang="en-US" sz="1300" i="1" dirty="0">
                <a:solidFill>
                  <a:srgbClr val="383A42"/>
                </a:solidFill>
                <a:latin typeface="Calibri" pitchFamily="34" charset="0"/>
                <a:ea typeface="Calibri" pitchFamily="34" charset="-122"/>
                <a:cs typeface="Calibri" pitchFamily="34" charset="-120"/>
              </a:rPr>
              <a:t>La eleccion de Angular en este curso obedece a que trae el conjunto completo listo para trabajar (CLI, HttpClient, Router, formularios y pruebas) y a que su TypeScript obligatorio refuerza los habitos de tipado que se ensenan en la carrera.</a:t>
            </a:r>
            <a:endParaRPr lang="en-US" sz="1300" dirty="0"/>
          </a:p>
        </p:txBody>
      </p:sp>
      <p:sp>
        <p:nvSpPr>
          <p:cNvPr id="71" name="Shape 69"/>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72" name="Text 70"/>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73" name="Text 71"/>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22 --- 4 / 36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PANORAMA DEL FRAMEWORK</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Historia y versiones (a julio de 2026)</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822960"/>
          </a:xfrm>
          <a:prstGeom prst="rect">
            <a:avLst/>
          </a:prstGeom>
          <a:noFill/>
          <a:ln/>
        </p:spPr>
        <p:txBody>
          <a:bodyPr wrap="square" rtlCol="0" anchor="t"/>
          <a:lstStyle/>
          <a:p>
            <a:pPr marL="0" indent="0">
              <a:buNone/>
            </a:pPr>
            <a:r>
              <a:rPr lang="en-US" sz="1500" dirty="0">
                <a:solidFill>
                  <a:srgbClr val="383A42"/>
                </a:solidFill>
                <a:latin typeface="Calibri" pitchFamily="34" charset="0"/>
                <a:ea typeface="Calibri" pitchFamily="34" charset="-122"/>
                <a:cs typeface="Calibri" pitchFamily="34" charset="-120"/>
              </a:rPr>
              <a:t>Angular sigue un cadence semestral de versiones mayores. Cada version esta soportada 18 meses: seis en soporte activo y doce en LTS. Para PPA 2026-2027 la version de referencia es Angular 22, publicada el 3 de junio de 2026.</a:t>
            </a:r>
            <a:endParaRPr lang="en-US" sz="1500" dirty="0"/>
          </a:p>
        </p:txBody>
      </p:sp>
      <p:sp>
        <p:nvSpPr>
          <p:cNvPr id="7" name="Shape 5"/>
          <p:cNvSpPr/>
          <p:nvPr/>
        </p:nvSpPr>
        <p:spPr>
          <a:xfrm>
            <a:off x="822960" y="3520440"/>
            <a:ext cx="10332720" cy="0"/>
          </a:xfrm>
          <a:prstGeom prst="line">
            <a:avLst/>
          </a:prstGeom>
          <a:noFill/>
          <a:ln w="25400">
            <a:solidFill>
              <a:srgbClr val="006633"/>
            </a:solidFill>
            <a:prstDash val="solid"/>
          </a:ln>
        </p:spPr>
        <p:txBody>
          <a:bodyPr/>
          <a:lstStyle/>
          <a:p>
            <a:endParaRPr lang="es-US"/>
          </a:p>
        </p:txBody>
      </p:sp>
      <p:sp>
        <p:nvSpPr>
          <p:cNvPr id="8" name="Shape 6"/>
          <p:cNvSpPr/>
          <p:nvPr/>
        </p:nvSpPr>
        <p:spPr>
          <a:xfrm>
            <a:off x="731520" y="3337560"/>
            <a:ext cx="365760" cy="365760"/>
          </a:xfrm>
          <a:prstGeom prst="ellipse">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457200" y="2880360"/>
            <a:ext cx="914400" cy="365760"/>
          </a:xfrm>
          <a:prstGeom prst="rect">
            <a:avLst/>
          </a:prstGeom>
          <a:noFill/>
          <a:ln/>
        </p:spPr>
        <p:txBody>
          <a:bodyPr wrap="square" rtlCol="0" anchor="ctr"/>
          <a:lstStyle/>
          <a:p>
            <a:pPr marL="0" indent="0" algn="ctr">
              <a:buNone/>
            </a:pPr>
            <a:r>
              <a:rPr lang="en-US" sz="1400" b="1" dirty="0">
                <a:solidFill>
                  <a:srgbClr val="0B3D24"/>
                </a:solidFill>
                <a:latin typeface="Calibri" pitchFamily="34" charset="0"/>
                <a:ea typeface="Calibri" pitchFamily="34" charset="-122"/>
                <a:cs typeface="Calibri" pitchFamily="34" charset="-120"/>
              </a:rPr>
              <a:t>v18</a:t>
            </a:r>
            <a:endParaRPr lang="en-US" sz="1400" dirty="0"/>
          </a:p>
        </p:txBody>
      </p:sp>
      <p:sp>
        <p:nvSpPr>
          <p:cNvPr id="10" name="Text 8"/>
          <p:cNvSpPr/>
          <p:nvPr/>
        </p:nvSpPr>
        <p:spPr>
          <a:xfrm>
            <a:off x="457200" y="3794760"/>
            <a:ext cx="914400" cy="274320"/>
          </a:xfrm>
          <a:prstGeom prst="rect">
            <a:avLst/>
          </a:prstGeom>
          <a:noFill/>
          <a:ln/>
        </p:spPr>
        <p:txBody>
          <a:bodyPr wrap="square" rtlCol="0" anchor="ctr"/>
          <a:lstStyle/>
          <a:p>
            <a:pPr marL="0" indent="0" algn="ctr">
              <a:buNone/>
            </a:pPr>
            <a:r>
              <a:rPr lang="en-US" sz="1000" dirty="0">
                <a:solidFill>
                  <a:srgbClr val="383A42"/>
                </a:solidFill>
                <a:latin typeface="Calibri" pitchFamily="34" charset="0"/>
                <a:ea typeface="Calibri" pitchFamily="34" charset="-122"/>
                <a:cs typeface="Calibri" pitchFamily="34" charset="-120"/>
              </a:rPr>
              <a:t>May 2024</a:t>
            </a:r>
            <a:endParaRPr lang="en-US" sz="1000" dirty="0"/>
          </a:p>
        </p:txBody>
      </p:sp>
      <p:sp>
        <p:nvSpPr>
          <p:cNvPr id="11" name="Text 9"/>
          <p:cNvSpPr/>
          <p:nvPr/>
        </p:nvSpPr>
        <p:spPr>
          <a:xfrm>
            <a:off x="457200" y="4069080"/>
            <a:ext cx="914400" cy="274320"/>
          </a:xfrm>
          <a:prstGeom prst="rect">
            <a:avLst/>
          </a:prstGeom>
          <a:noFill/>
          <a:ln/>
        </p:spPr>
        <p:txBody>
          <a:bodyPr wrap="square" rtlCol="0" anchor="ctr"/>
          <a:lstStyle/>
          <a:p>
            <a:pPr marL="0" indent="0" algn="ctr">
              <a:buNone/>
            </a:pPr>
            <a:r>
              <a:rPr lang="en-US" sz="1000" b="1" i="1" dirty="0">
                <a:solidFill>
                  <a:srgbClr val="006633"/>
                </a:solidFill>
                <a:latin typeface="Calibri" pitchFamily="34" charset="0"/>
                <a:ea typeface="Calibri" pitchFamily="34" charset="-122"/>
                <a:cs typeface="Calibri" pitchFamily="34" charset="-120"/>
              </a:rPr>
              <a:t>EOL</a:t>
            </a:r>
            <a:endParaRPr lang="en-US" sz="1000" dirty="0"/>
          </a:p>
        </p:txBody>
      </p:sp>
      <p:sp>
        <p:nvSpPr>
          <p:cNvPr id="12" name="Shape 10"/>
          <p:cNvSpPr/>
          <p:nvPr/>
        </p:nvSpPr>
        <p:spPr>
          <a:xfrm>
            <a:off x="2560320" y="3337560"/>
            <a:ext cx="365760" cy="365760"/>
          </a:xfrm>
          <a:prstGeom prst="ellipse">
            <a:avLst/>
          </a:prstGeom>
          <a:solidFill>
            <a:srgbClr val="006633"/>
          </a:solidFill>
          <a:ln w="12700">
            <a:solidFill>
              <a:srgbClr val="006633"/>
            </a:solidFill>
            <a:prstDash val="solid"/>
          </a:ln>
        </p:spPr>
        <p:txBody>
          <a:bodyPr/>
          <a:lstStyle/>
          <a:p>
            <a:endParaRPr lang="es-US"/>
          </a:p>
        </p:txBody>
      </p:sp>
      <p:sp>
        <p:nvSpPr>
          <p:cNvPr id="13" name="Text 11"/>
          <p:cNvSpPr/>
          <p:nvPr/>
        </p:nvSpPr>
        <p:spPr>
          <a:xfrm>
            <a:off x="2286000" y="2880360"/>
            <a:ext cx="914400" cy="365760"/>
          </a:xfrm>
          <a:prstGeom prst="rect">
            <a:avLst/>
          </a:prstGeom>
          <a:noFill/>
          <a:ln/>
        </p:spPr>
        <p:txBody>
          <a:bodyPr wrap="square" rtlCol="0" anchor="ctr"/>
          <a:lstStyle/>
          <a:p>
            <a:pPr marL="0" indent="0" algn="ctr">
              <a:buNone/>
            </a:pPr>
            <a:r>
              <a:rPr lang="en-US" sz="1400" b="1" dirty="0">
                <a:solidFill>
                  <a:srgbClr val="0B3D24"/>
                </a:solidFill>
                <a:latin typeface="Calibri" pitchFamily="34" charset="0"/>
                <a:ea typeface="Calibri" pitchFamily="34" charset="-122"/>
                <a:cs typeface="Calibri" pitchFamily="34" charset="-120"/>
              </a:rPr>
              <a:t>v19</a:t>
            </a:r>
            <a:endParaRPr lang="en-US" sz="1400" dirty="0"/>
          </a:p>
        </p:txBody>
      </p:sp>
      <p:sp>
        <p:nvSpPr>
          <p:cNvPr id="14" name="Text 12"/>
          <p:cNvSpPr/>
          <p:nvPr/>
        </p:nvSpPr>
        <p:spPr>
          <a:xfrm>
            <a:off x="2286000" y="3794760"/>
            <a:ext cx="914400" cy="274320"/>
          </a:xfrm>
          <a:prstGeom prst="rect">
            <a:avLst/>
          </a:prstGeom>
          <a:noFill/>
          <a:ln/>
        </p:spPr>
        <p:txBody>
          <a:bodyPr wrap="square" rtlCol="0" anchor="ctr"/>
          <a:lstStyle/>
          <a:p>
            <a:pPr marL="0" indent="0" algn="ctr">
              <a:buNone/>
            </a:pPr>
            <a:r>
              <a:rPr lang="en-US" sz="1000" dirty="0">
                <a:solidFill>
                  <a:srgbClr val="383A42"/>
                </a:solidFill>
                <a:latin typeface="Calibri" pitchFamily="34" charset="0"/>
                <a:ea typeface="Calibri" pitchFamily="34" charset="-122"/>
                <a:cs typeface="Calibri" pitchFamily="34" charset="-120"/>
              </a:rPr>
              <a:t>Nov 2024</a:t>
            </a:r>
            <a:endParaRPr lang="en-US" sz="1000" dirty="0"/>
          </a:p>
        </p:txBody>
      </p:sp>
      <p:sp>
        <p:nvSpPr>
          <p:cNvPr id="15" name="Text 13"/>
          <p:cNvSpPr/>
          <p:nvPr/>
        </p:nvSpPr>
        <p:spPr>
          <a:xfrm>
            <a:off x="2286000" y="4069080"/>
            <a:ext cx="914400" cy="274320"/>
          </a:xfrm>
          <a:prstGeom prst="rect">
            <a:avLst/>
          </a:prstGeom>
          <a:noFill/>
          <a:ln/>
        </p:spPr>
        <p:txBody>
          <a:bodyPr wrap="square" rtlCol="0" anchor="ctr"/>
          <a:lstStyle/>
          <a:p>
            <a:pPr marL="0" indent="0" algn="ctr">
              <a:buNone/>
            </a:pPr>
            <a:r>
              <a:rPr lang="en-US" sz="1000" b="1" i="1" dirty="0">
                <a:solidFill>
                  <a:srgbClr val="006633"/>
                </a:solidFill>
                <a:latin typeface="Calibri" pitchFamily="34" charset="0"/>
                <a:ea typeface="Calibri" pitchFamily="34" charset="-122"/>
                <a:cs typeface="Calibri" pitchFamily="34" charset="-120"/>
              </a:rPr>
              <a:t>EOL</a:t>
            </a:r>
            <a:endParaRPr lang="en-US" sz="1000" dirty="0"/>
          </a:p>
        </p:txBody>
      </p:sp>
      <p:sp>
        <p:nvSpPr>
          <p:cNvPr id="16" name="Shape 14"/>
          <p:cNvSpPr/>
          <p:nvPr/>
        </p:nvSpPr>
        <p:spPr>
          <a:xfrm>
            <a:off x="4389120" y="3337560"/>
            <a:ext cx="365760" cy="365760"/>
          </a:xfrm>
          <a:prstGeom prst="ellipse">
            <a:avLst/>
          </a:prstGeom>
          <a:solidFill>
            <a:srgbClr val="006633"/>
          </a:solidFill>
          <a:ln w="12700">
            <a:solidFill>
              <a:srgbClr val="006633"/>
            </a:solidFill>
            <a:prstDash val="solid"/>
          </a:ln>
        </p:spPr>
        <p:txBody>
          <a:bodyPr/>
          <a:lstStyle/>
          <a:p>
            <a:endParaRPr lang="es-US"/>
          </a:p>
        </p:txBody>
      </p:sp>
      <p:sp>
        <p:nvSpPr>
          <p:cNvPr id="17" name="Text 15"/>
          <p:cNvSpPr/>
          <p:nvPr/>
        </p:nvSpPr>
        <p:spPr>
          <a:xfrm>
            <a:off x="4114800" y="2880360"/>
            <a:ext cx="914400" cy="365760"/>
          </a:xfrm>
          <a:prstGeom prst="rect">
            <a:avLst/>
          </a:prstGeom>
          <a:noFill/>
          <a:ln/>
        </p:spPr>
        <p:txBody>
          <a:bodyPr wrap="square" rtlCol="0" anchor="ctr"/>
          <a:lstStyle/>
          <a:p>
            <a:pPr marL="0" indent="0" algn="ctr">
              <a:buNone/>
            </a:pPr>
            <a:r>
              <a:rPr lang="en-US" sz="1400" b="1" dirty="0">
                <a:solidFill>
                  <a:srgbClr val="0B3D24"/>
                </a:solidFill>
                <a:latin typeface="Calibri" pitchFamily="34" charset="0"/>
                <a:ea typeface="Calibri" pitchFamily="34" charset="-122"/>
                <a:cs typeface="Calibri" pitchFamily="34" charset="-120"/>
              </a:rPr>
              <a:t>v20</a:t>
            </a:r>
            <a:endParaRPr lang="en-US" sz="1400" dirty="0"/>
          </a:p>
        </p:txBody>
      </p:sp>
      <p:sp>
        <p:nvSpPr>
          <p:cNvPr id="18" name="Text 16"/>
          <p:cNvSpPr/>
          <p:nvPr/>
        </p:nvSpPr>
        <p:spPr>
          <a:xfrm>
            <a:off x="4114800" y="3794760"/>
            <a:ext cx="914400" cy="274320"/>
          </a:xfrm>
          <a:prstGeom prst="rect">
            <a:avLst/>
          </a:prstGeom>
          <a:noFill/>
          <a:ln/>
        </p:spPr>
        <p:txBody>
          <a:bodyPr wrap="square" rtlCol="0" anchor="ctr"/>
          <a:lstStyle/>
          <a:p>
            <a:pPr marL="0" indent="0" algn="ctr">
              <a:buNone/>
            </a:pPr>
            <a:r>
              <a:rPr lang="en-US" sz="1000" dirty="0">
                <a:solidFill>
                  <a:srgbClr val="383A42"/>
                </a:solidFill>
                <a:latin typeface="Calibri" pitchFamily="34" charset="0"/>
                <a:ea typeface="Calibri" pitchFamily="34" charset="-122"/>
                <a:cs typeface="Calibri" pitchFamily="34" charset="-120"/>
              </a:rPr>
              <a:t>May 2025</a:t>
            </a:r>
            <a:endParaRPr lang="en-US" sz="1000" dirty="0"/>
          </a:p>
        </p:txBody>
      </p:sp>
      <p:sp>
        <p:nvSpPr>
          <p:cNvPr id="19" name="Text 17"/>
          <p:cNvSpPr/>
          <p:nvPr/>
        </p:nvSpPr>
        <p:spPr>
          <a:xfrm>
            <a:off x="4114800" y="4069080"/>
            <a:ext cx="914400" cy="274320"/>
          </a:xfrm>
          <a:prstGeom prst="rect">
            <a:avLst/>
          </a:prstGeom>
          <a:noFill/>
          <a:ln/>
        </p:spPr>
        <p:txBody>
          <a:bodyPr wrap="square" rtlCol="0" anchor="ctr"/>
          <a:lstStyle/>
          <a:p>
            <a:pPr marL="0" indent="0" algn="ctr">
              <a:buNone/>
            </a:pPr>
            <a:r>
              <a:rPr lang="en-US" sz="1000" b="1" i="1" dirty="0">
                <a:solidFill>
                  <a:srgbClr val="006633"/>
                </a:solidFill>
                <a:latin typeface="Calibri" pitchFamily="34" charset="0"/>
                <a:ea typeface="Calibri" pitchFamily="34" charset="-122"/>
                <a:cs typeface="Calibri" pitchFamily="34" charset="-120"/>
              </a:rPr>
              <a:t>LTS</a:t>
            </a:r>
            <a:endParaRPr lang="en-US" sz="1000" dirty="0"/>
          </a:p>
        </p:txBody>
      </p:sp>
      <p:sp>
        <p:nvSpPr>
          <p:cNvPr id="20" name="Shape 18"/>
          <p:cNvSpPr/>
          <p:nvPr/>
        </p:nvSpPr>
        <p:spPr>
          <a:xfrm>
            <a:off x="6217920" y="3337560"/>
            <a:ext cx="365760" cy="365760"/>
          </a:xfrm>
          <a:prstGeom prst="ellipse">
            <a:avLst/>
          </a:prstGeom>
          <a:solidFill>
            <a:srgbClr val="006633"/>
          </a:solidFill>
          <a:ln w="12700">
            <a:solidFill>
              <a:srgbClr val="006633"/>
            </a:solidFill>
            <a:prstDash val="solid"/>
          </a:ln>
        </p:spPr>
        <p:txBody>
          <a:bodyPr/>
          <a:lstStyle/>
          <a:p>
            <a:endParaRPr lang="es-US"/>
          </a:p>
        </p:txBody>
      </p:sp>
      <p:sp>
        <p:nvSpPr>
          <p:cNvPr id="21" name="Text 19"/>
          <p:cNvSpPr/>
          <p:nvPr/>
        </p:nvSpPr>
        <p:spPr>
          <a:xfrm>
            <a:off x="5943600" y="2880360"/>
            <a:ext cx="914400" cy="365760"/>
          </a:xfrm>
          <a:prstGeom prst="rect">
            <a:avLst/>
          </a:prstGeom>
          <a:noFill/>
          <a:ln/>
        </p:spPr>
        <p:txBody>
          <a:bodyPr wrap="square" rtlCol="0" anchor="ctr"/>
          <a:lstStyle/>
          <a:p>
            <a:pPr marL="0" indent="0" algn="ctr">
              <a:buNone/>
            </a:pPr>
            <a:r>
              <a:rPr lang="en-US" sz="1400" b="1" dirty="0">
                <a:solidFill>
                  <a:srgbClr val="0B3D24"/>
                </a:solidFill>
                <a:latin typeface="Calibri" pitchFamily="34" charset="0"/>
                <a:ea typeface="Calibri" pitchFamily="34" charset="-122"/>
                <a:cs typeface="Calibri" pitchFamily="34" charset="-120"/>
              </a:rPr>
              <a:t>v21</a:t>
            </a:r>
            <a:endParaRPr lang="en-US" sz="1400" dirty="0"/>
          </a:p>
        </p:txBody>
      </p:sp>
      <p:sp>
        <p:nvSpPr>
          <p:cNvPr id="22" name="Text 20"/>
          <p:cNvSpPr/>
          <p:nvPr/>
        </p:nvSpPr>
        <p:spPr>
          <a:xfrm>
            <a:off x="5943600" y="3794760"/>
            <a:ext cx="914400" cy="274320"/>
          </a:xfrm>
          <a:prstGeom prst="rect">
            <a:avLst/>
          </a:prstGeom>
          <a:noFill/>
          <a:ln/>
        </p:spPr>
        <p:txBody>
          <a:bodyPr wrap="square" rtlCol="0" anchor="ctr"/>
          <a:lstStyle/>
          <a:p>
            <a:pPr marL="0" indent="0" algn="ctr">
              <a:buNone/>
            </a:pPr>
            <a:r>
              <a:rPr lang="en-US" sz="1000" dirty="0">
                <a:solidFill>
                  <a:srgbClr val="383A42"/>
                </a:solidFill>
                <a:latin typeface="Calibri" pitchFamily="34" charset="0"/>
                <a:ea typeface="Calibri" pitchFamily="34" charset="-122"/>
                <a:cs typeface="Calibri" pitchFamily="34" charset="-120"/>
              </a:rPr>
              <a:t>Nov 2025</a:t>
            </a:r>
            <a:endParaRPr lang="en-US" sz="1000" dirty="0"/>
          </a:p>
        </p:txBody>
      </p:sp>
      <p:sp>
        <p:nvSpPr>
          <p:cNvPr id="23" name="Text 21"/>
          <p:cNvSpPr/>
          <p:nvPr/>
        </p:nvSpPr>
        <p:spPr>
          <a:xfrm>
            <a:off x="5943600" y="4069080"/>
            <a:ext cx="914400" cy="274320"/>
          </a:xfrm>
          <a:prstGeom prst="rect">
            <a:avLst/>
          </a:prstGeom>
          <a:noFill/>
          <a:ln/>
        </p:spPr>
        <p:txBody>
          <a:bodyPr wrap="square" rtlCol="0" anchor="ctr"/>
          <a:lstStyle/>
          <a:p>
            <a:pPr marL="0" indent="0" algn="ctr">
              <a:buNone/>
            </a:pPr>
            <a:r>
              <a:rPr lang="en-US" sz="1000" b="1" i="1" dirty="0">
                <a:solidFill>
                  <a:srgbClr val="006633"/>
                </a:solidFill>
                <a:latin typeface="Calibri" pitchFamily="34" charset="0"/>
                <a:ea typeface="Calibri" pitchFamily="34" charset="-122"/>
                <a:cs typeface="Calibri" pitchFamily="34" charset="-120"/>
              </a:rPr>
              <a:t>LTS</a:t>
            </a:r>
            <a:endParaRPr lang="en-US" sz="1000" dirty="0"/>
          </a:p>
        </p:txBody>
      </p:sp>
      <p:sp>
        <p:nvSpPr>
          <p:cNvPr id="24" name="Shape 22"/>
          <p:cNvSpPr/>
          <p:nvPr/>
        </p:nvSpPr>
        <p:spPr>
          <a:xfrm>
            <a:off x="8046720" y="3337560"/>
            <a:ext cx="365760" cy="365760"/>
          </a:xfrm>
          <a:prstGeom prst="ellipse">
            <a:avLst/>
          </a:prstGeom>
          <a:solidFill>
            <a:srgbClr val="B8860B"/>
          </a:solidFill>
          <a:ln w="12700">
            <a:solidFill>
              <a:srgbClr val="B8860B"/>
            </a:solidFill>
            <a:prstDash val="solid"/>
          </a:ln>
        </p:spPr>
        <p:txBody>
          <a:bodyPr/>
          <a:lstStyle/>
          <a:p>
            <a:endParaRPr lang="es-US"/>
          </a:p>
        </p:txBody>
      </p:sp>
      <p:sp>
        <p:nvSpPr>
          <p:cNvPr id="25" name="Text 23"/>
          <p:cNvSpPr/>
          <p:nvPr/>
        </p:nvSpPr>
        <p:spPr>
          <a:xfrm>
            <a:off x="7772400" y="2880360"/>
            <a:ext cx="914400" cy="365760"/>
          </a:xfrm>
          <a:prstGeom prst="rect">
            <a:avLst/>
          </a:prstGeom>
          <a:noFill/>
          <a:ln/>
        </p:spPr>
        <p:txBody>
          <a:bodyPr wrap="square" rtlCol="0" anchor="ctr"/>
          <a:lstStyle/>
          <a:p>
            <a:pPr marL="0" indent="0" algn="ctr">
              <a:buNone/>
            </a:pPr>
            <a:r>
              <a:rPr lang="en-US" sz="1600" b="1" dirty="0">
                <a:solidFill>
                  <a:srgbClr val="B8860B"/>
                </a:solidFill>
                <a:latin typeface="Calibri" pitchFamily="34" charset="0"/>
                <a:ea typeface="Calibri" pitchFamily="34" charset="-122"/>
                <a:cs typeface="Calibri" pitchFamily="34" charset="-120"/>
              </a:rPr>
              <a:t>v22</a:t>
            </a:r>
            <a:endParaRPr lang="en-US" sz="1600" dirty="0"/>
          </a:p>
        </p:txBody>
      </p:sp>
      <p:sp>
        <p:nvSpPr>
          <p:cNvPr id="26" name="Text 24"/>
          <p:cNvSpPr/>
          <p:nvPr/>
        </p:nvSpPr>
        <p:spPr>
          <a:xfrm>
            <a:off x="7772400" y="3794760"/>
            <a:ext cx="914400" cy="274320"/>
          </a:xfrm>
          <a:prstGeom prst="rect">
            <a:avLst/>
          </a:prstGeom>
          <a:noFill/>
          <a:ln/>
        </p:spPr>
        <p:txBody>
          <a:bodyPr wrap="square" rtlCol="0" anchor="ctr"/>
          <a:lstStyle/>
          <a:p>
            <a:pPr marL="0" indent="0" algn="ctr">
              <a:buNone/>
            </a:pPr>
            <a:r>
              <a:rPr lang="en-US" sz="1000" dirty="0">
                <a:solidFill>
                  <a:srgbClr val="383A42"/>
                </a:solidFill>
                <a:latin typeface="Calibri" pitchFamily="34" charset="0"/>
                <a:ea typeface="Calibri" pitchFamily="34" charset="-122"/>
                <a:cs typeface="Calibri" pitchFamily="34" charset="-120"/>
              </a:rPr>
              <a:t>Jun 2026</a:t>
            </a:r>
            <a:endParaRPr lang="en-US" sz="1000" dirty="0"/>
          </a:p>
        </p:txBody>
      </p:sp>
      <p:sp>
        <p:nvSpPr>
          <p:cNvPr id="27" name="Text 25"/>
          <p:cNvSpPr/>
          <p:nvPr/>
        </p:nvSpPr>
        <p:spPr>
          <a:xfrm>
            <a:off x="7772400" y="4069080"/>
            <a:ext cx="914400" cy="274320"/>
          </a:xfrm>
          <a:prstGeom prst="rect">
            <a:avLst/>
          </a:prstGeom>
          <a:noFill/>
          <a:ln/>
        </p:spPr>
        <p:txBody>
          <a:bodyPr wrap="square" rtlCol="0" anchor="ctr"/>
          <a:lstStyle/>
          <a:p>
            <a:pPr marL="0" indent="0" algn="ctr">
              <a:buNone/>
            </a:pPr>
            <a:r>
              <a:rPr lang="en-US" sz="1000" b="1" i="1" dirty="0">
                <a:solidFill>
                  <a:srgbClr val="B8860B"/>
                </a:solidFill>
                <a:latin typeface="Calibri" pitchFamily="34" charset="0"/>
                <a:ea typeface="Calibri" pitchFamily="34" charset="-122"/>
                <a:cs typeface="Calibri" pitchFamily="34" charset="-120"/>
              </a:rPr>
              <a:t>Activa</a:t>
            </a:r>
            <a:endParaRPr lang="en-US" sz="1000" dirty="0"/>
          </a:p>
        </p:txBody>
      </p:sp>
      <p:sp>
        <p:nvSpPr>
          <p:cNvPr id="28" name="Shape 26"/>
          <p:cNvSpPr/>
          <p:nvPr/>
        </p:nvSpPr>
        <p:spPr>
          <a:xfrm>
            <a:off x="9875520" y="3337560"/>
            <a:ext cx="365760" cy="365760"/>
          </a:xfrm>
          <a:prstGeom prst="ellipse">
            <a:avLst/>
          </a:prstGeom>
          <a:solidFill>
            <a:srgbClr val="006633"/>
          </a:solidFill>
          <a:ln w="12700">
            <a:solidFill>
              <a:srgbClr val="006633"/>
            </a:solidFill>
            <a:prstDash val="solid"/>
          </a:ln>
        </p:spPr>
        <p:txBody>
          <a:bodyPr/>
          <a:lstStyle/>
          <a:p>
            <a:endParaRPr lang="es-US"/>
          </a:p>
        </p:txBody>
      </p:sp>
      <p:sp>
        <p:nvSpPr>
          <p:cNvPr id="29" name="Text 27"/>
          <p:cNvSpPr/>
          <p:nvPr/>
        </p:nvSpPr>
        <p:spPr>
          <a:xfrm>
            <a:off x="9601200" y="2880360"/>
            <a:ext cx="914400" cy="365760"/>
          </a:xfrm>
          <a:prstGeom prst="rect">
            <a:avLst/>
          </a:prstGeom>
          <a:noFill/>
          <a:ln/>
        </p:spPr>
        <p:txBody>
          <a:bodyPr wrap="square" rtlCol="0" anchor="ctr"/>
          <a:lstStyle/>
          <a:p>
            <a:pPr marL="0" indent="0" algn="ctr">
              <a:buNone/>
            </a:pPr>
            <a:r>
              <a:rPr lang="en-US" sz="1400" b="1" dirty="0">
                <a:solidFill>
                  <a:srgbClr val="0B3D24"/>
                </a:solidFill>
                <a:latin typeface="Calibri" pitchFamily="34" charset="0"/>
                <a:ea typeface="Calibri" pitchFamily="34" charset="-122"/>
                <a:cs typeface="Calibri" pitchFamily="34" charset="-120"/>
              </a:rPr>
              <a:t>v23</a:t>
            </a:r>
            <a:endParaRPr lang="en-US" sz="1400" dirty="0"/>
          </a:p>
        </p:txBody>
      </p:sp>
      <p:sp>
        <p:nvSpPr>
          <p:cNvPr id="30" name="Text 28"/>
          <p:cNvSpPr/>
          <p:nvPr/>
        </p:nvSpPr>
        <p:spPr>
          <a:xfrm>
            <a:off x="9601200" y="3794760"/>
            <a:ext cx="914400" cy="274320"/>
          </a:xfrm>
          <a:prstGeom prst="rect">
            <a:avLst/>
          </a:prstGeom>
          <a:noFill/>
          <a:ln/>
        </p:spPr>
        <p:txBody>
          <a:bodyPr wrap="square" rtlCol="0" anchor="ctr"/>
          <a:lstStyle/>
          <a:p>
            <a:pPr marL="0" indent="0" algn="ctr">
              <a:buNone/>
            </a:pPr>
            <a:r>
              <a:rPr lang="en-US" sz="1000" dirty="0">
                <a:solidFill>
                  <a:srgbClr val="383A42"/>
                </a:solidFill>
                <a:latin typeface="Calibri" pitchFamily="34" charset="0"/>
                <a:ea typeface="Calibri" pitchFamily="34" charset="-122"/>
                <a:cs typeface="Calibri" pitchFamily="34" charset="-120"/>
              </a:rPr>
              <a:t>Nov 2026</a:t>
            </a:r>
            <a:endParaRPr lang="en-US" sz="1000" dirty="0"/>
          </a:p>
        </p:txBody>
      </p:sp>
      <p:sp>
        <p:nvSpPr>
          <p:cNvPr id="31" name="Text 29"/>
          <p:cNvSpPr/>
          <p:nvPr/>
        </p:nvSpPr>
        <p:spPr>
          <a:xfrm>
            <a:off x="9601200" y="4069080"/>
            <a:ext cx="914400" cy="274320"/>
          </a:xfrm>
          <a:prstGeom prst="rect">
            <a:avLst/>
          </a:prstGeom>
          <a:noFill/>
          <a:ln/>
        </p:spPr>
        <p:txBody>
          <a:bodyPr wrap="square" rtlCol="0" anchor="ctr"/>
          <a:lstStyle/>
          <a:p>
            <a:pPr marL="0" indent="0" algn="ctr">
              <a:buNone/>
            </a:pPr>
            <a:r>
              <a:rPr lang="en-US" sz="1000" b="1" i="1" dirty="0">
                <a:solidFill>
                  <a:srgbClr val="006633"/>
                </a:solidFill>
                <a:latin typeface="Calibri" pitchFamily="34" charset="0"/>
                <a:ea typeface="Calibri" pitchFamily="34" charset="-122"/>
                <a:cs typeface="Calibri" pitchFamily="34" charset="-120"/>
              </a:rPr>
              <a:t>Prevista</a:t>
            </a:r>
            <a:endParaRPr lang="en-US" sz="1000" dirty="0"/>
          </a:p>
        </p:txBody>
      </p:sp>
      <p:sp>
        <p:nvSpPr>
          <p:cNvPr id="32" name="Shape 30"/>
          <p:cNvSpPr/>
          <p:nvPr/>
        </p:nvSpPr>
        <p:spPr>
          <a:xfrm>
            <a:off x="548640" y="4709160"/>
            <a:ext cx="5577840" cy="1600200"/>
          </a:xfrm>
          <a:prstGeom prst="roundRect">
            <a:avLst>
              <a:gd name="adj" fmla="val 5714"/>
            </a:avLst>
          </a:prstGeom>
          <a:solidFill>
            <a:srgbClr val="FFFFFF"/>
          </a:solidFill>
          <a:ln w="19050">
            <a:solidFill>
              <a:srgbClr val="006633"/>
            </a:solidFill>
            <a:prstDash val="solid"/>
          </a:ln>
        </p:spPr>
        <p:txBody>
          <a:bodyPr/>
          <a:lstStyle/>
          <a:p>
            <a:endParaRPr lang="es-US"/>
          </a:p>
        </p:txBody>
      </p:sp>
      <p:sp>
        <p:nvSpPr>
          <p:cNvPr id="33" name="Shape 31"/>
          <p:cNvSpPr/>
          <p:nvPr/>
        </p:nvSpPr>
        <p:spPr>
          <a:xfrm>
            <a:off x="548640" y="4709160"/>
            <a:ext cx="5577840" cy="411480"/>
          </a:xfrm>
          <a:prstGeom prst="rect">
            <a:avLst/>
          </a:prstGeom>
          <a:solidFill>
            <a:srgbClr val="006633"/>
          </a:solidFill>
          <a:ln w="12700">
            <a:solidFill>
              <a:srgbClr val="006633"/>
            </a:solidFill>
            <a:prstDash val="solid"/>
          </a:ln>
        </p:spPr>
        <p:txBody>
          <a:bodyPr/>
          <a:lstStyle/>
          <a:p>
            <a:endParaRPr lang="es-US"/>
          </a:p>
        </p:txBody>
      </p:sp>
      <p:sp>
        <p:nvSpPr>
          <p:cNvPr id="34" name="Text 32"/>
          <p:cNvSpPr/>
          <p:nvPr/>
        </p:nvSpPr>
        <p:spPr>
          <a:xfrm>
            <a:off x="640080" y="4727448"/>
            <a:ext cx="539496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Version del curso: Angular 22</a:t>
            </a:r>
            <a:endParaRPr lang="en-US" sz="1300" dirty="0"/>
          </a:p>
        </p:txBody>
      </p:sp>
      <p:sp>
        <p:nvSpPr>
          <p:cNvPr id="35" name="Text 33"/>
          <p:cNvSpPr/>
          <p:nvPr/>
        </p:nvSpPr>
        <p:spPr>
          <a:xfrm>
            <a:off x="685800" y="5212080"/>
            <a:ext cx="5303520" cy="100584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Publicada el 3-jun-2026. Trae Signal Forms estables, componentes selectorless y compilacion estricta con TypeScript 5.9. El patch actual es 22.0.5.</a:t>
            </a:r>
            <a:endParaRPr lang="en-US" sz="1200" dirty="0"/>
          </a:p>
        </p:txBody>
      </p:sp>
      <p:sp>
        <p:nvSpPr>
          <p:cNvPr id="36" name="Shape 34"/>
          <p:cNvSpPr/>
          <p:nvPr/>
        </p:nvSpPr>
        <p:spPr>
          <a:xfrm>
            <a:off x="6217920" y="4709160"/>
            <a:ext cx="5422392" cy="1600200"/>
          </a:xfrm>
          <a:prstGeom prst="roundRect">
            <a:avLst>
              <a:gd name="adj" fmla="val 5714"/>
            </a:avLst>
          </a:prstGeom>
          <a:solidFill>
            <a:srgbClr val="FFFFFF"/>
          </a:solidFill>
          <a:ln w="19050">
            <a:solidFill>
              <a:srgbClr val="B8860B"/>
            </a:solidFill>
            <a:prstDash val="solid"/>
          </a:ln>
        </p:spPr>
        <p:txBody>
          <a:bodyPr/>
          <a:lstStyle/>
          <a:p>
            <a:endParaRPr lang="es-US"/>
          </a:p>
        </p:txBody>
      </p:sp>
      <p:sp>
        <p:nvSpPr>
          <p:cNvPr id="37" name="Shape 35"/>
          <p:cNvSpPr/>
          <p:nvPr/>
        </p:nvSpPr>
        <p:spPr>
          <a:xfrm>
            <a:off x="6217920" y="4709160"/>
            <a:ext cx="5422392" cy="411480"/>
          </a:xfrm>
          <a:prstGeom prst="rect">
            <a:avLst/>
          </a:prstGeom>
          <a:solidFill>
            <a:srgbClr val="B8860B"/>
          </a:solidFill>
          <a:ln w="12700">
            <a:solidFill>
              <a:srgbClr val="B8860B"/>
            </a:solidFill>
            <a:prstDash val="solid"/>
          </a:ln>
        </p:spPr>
        <p:txBody>
          <a:bodyPr/>
          <a:lstStyle/>
          <a:p>
            <a:endParaRPr lang="es-US"/>
          </a:p>
        </p:txBody>
      </p:sp>
      <p:sp>
        <p:nvSpPr>
          <p:cNvPr id="38" name="Text 36"/>
          <p:cNvSpPr/>
          <p:nvPr/>
        </p:nvSpPr>
        <p:spPr>
          <a:xfrm>
            <a:off x="6309360" y="4727448"/>
            <a:ext cx="523951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Comando para verificar la version</a:t>
            </a:r>
            <a:endParaRPr lang="en-US" sz="1300" dirty="0"/>
          </a:p>
        </p:txBody>
      </p:sp>
      <p:sp>
        <p:nvSpPr>
          <p:cNvPr id="39" name="Text 37"/>
          <p:cNvSpPr/>
          <p:nvPr/>
        </p:nvSpPr>
        <p:spPr>
          <a:xfrm>
            <a:off x="6355080" y="5212080"/>
            <a:ext cx="5148072" cy="100584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ng version  imprime en consola la version de Angular CLI, el compilador @angular/compiler-cli, RxJS, TypeScript y el runtime de Node.js.</a:t>
            </a:r>
            <a:endParaRPr lang="en-US" sz="1200" dirty="0"/>
          </a:p>
        </p:txBody>
      </p:sp>
      <p:sp>
        <p:nvSpPr>
          <p:cNvPr id="40" name="Shape 38"/>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41" name="Text 3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42" name="Text 4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22 --- 5 / 36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PANORAMA DEL FRAMEWORK</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Arquitectura de una app Angular</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640080"/>
          </a:xfrm>
          <a:prstGeom prst="rect">
            <a:avLst/>
          </a:prstGeom>
          <a:noFill/>
          <a:ln/>
        </p:spPr>
        <p:txBody>
          <a:bodyPr wrap="square" rtlCol="0" anchor="t"/>
          <a:lstStyle/>
          <a:p>
            <a:pPr marL="0" indent="0">
              <a:buNone/>
            </a:pPr>
            <a:r>
              <a:rPr lang="en-US" sz="1500" dirty="0">
                <a:solidFill>
                  <a:srgbClr val="383A42"/>
                </a:solidFill>
                <a:latin typeface="Calibri" pitchFamily="34" charset="0"/>
                <a:ea typeface="Calibri" pitchFamily="34" charset="-122"/>
                <a:cs typeface="Calibri" pitchFamily="34" charset="-120"/>
              </a:rPr>
              <a:t>Toda aplicacion Angular se compone de una jerarquia de componentes con servicios y un enrutador que decide cual componente renderiza cada URL. El siguiente esquema muestra la relacion entre las piezas fundamentales.</a:t>
            </a:r>
            <a:endParaRPr lang="en-US" sz="1500" dirty="0"/>
          </a:p>
        </p:txBody>
      </p:sp>
      <p:sp>
        <p:nvSpPr>
          <p:cNvPr id="7" name="Shape 5"/>
          <p:cNvSpPr/>
          <p:nvPr/>
        </p:nvSpPr>
        <p:spPr>
          <a:xfrm>
            <a:off x="4846320" y="2331720"/>
            <a:ext cx="2468880" cy="685800"/>
          </a:xfrm>
          <a:prstGeom prst="roundRect">
            <a:avLst>
              <a:gd name="adj" fmla="val 10667"/>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4846320" y="2331720"/>
            <a:ext cx="2468880" cy="6858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AppComponent (root)</a:t>
            </a:r>
            <a:endParaRPr lang="en-US" sz="1400" dirty="0"/>
          </a:p>
        </p:txBody>
      </p:sp>
      <p:sp>
        <p:nvSpPr>
          <p:cNvPr id="9" name="Shape 7"/>
          <p:cNvSpPr/>
          <p:nvPr/>
        </p:nvSpPr>
        <p:spPr>
          <a:xfrm>
            <a:off x="4846320" y="3246120"/>
            <a:ext cx="2468880" cy="594360"/>
          </a:xfrm>
          <a:prstGeom prst="roundRect">
            <a:avLst>
              <a:gd name="adj" fmla="val 12308"/>
            </a:avLst>
          </a:prstGeom>
          <a:solidFill>
            <a:srgbClr val="B8860B"/>
          </a:solidFill>
          <a:ln w="12700">
            <a:solidFill>
              <a:srgbClr val="B8860B"/>
            </a:solidFill>
            <a:prstDash val="solid"/>
          </a:ln>
        </p:spPr>
        <p:txBody>
          <a:bodyPr/>
          <a:lstStyle/>
          <a:p>
            <a:endParaRPr lang="es-US"/>
          </a:p>
        </p:txBody>
      </p:sp>
      <p:sp>
        <p:nvSpPr>
          <p:cNvPr id="10" name="Text 8"/>
          <p:cNvSpPr/>
          <p:nvPr/>
        </p:nvSpPr>
        <p:spPr>
          <a:xfrm>
            <a:off x="4846320" y="3246120"/>
            <a:ext cx="246888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Router</a:t>
            </a:r>
            <a:endParaRPr lang="en-US" sz="1300" dirty="0"/>
          </a:p>
        </p:txBody>
      </p:sp>
      <p:sp>
        <p:nvSpPr>
          <p:cNvPr id="11" name="Shape 9"/>
          <p:cNvSpPr/>
          <p:nvPr/>
        </p:nvSpPr>
        <p:spPr>
          <a:xfrm>
            <a:off x="548640" y="4160520"/>
            <a:ext cx="2286000" cy="640080"/>
          </a:xfrm>
          <a:prstGeom prst="roundRect">
            <a:avLst>
              <a:gd name="adj" fmla="val 8571"/>
            </a:avLst>
          </a:prstGeom>
          <a:solidFill>
            <a:srgbClr val="E3F0E8"/>
          </a:solidFill>
          <a:ln w="15240">
            <a:solidFill>
              <a:srgbClr val="006633"/>
            </a:solidFill>
            <a:prstDash val="solid"/>
          </a:ln>
        </p:spPr>
        <p:txBody>
          <a:bodyPr/>
          <a:lstStyle/>
          <a:p>
            <a:endParaRPr lang="es-US"/>
          </a:p>
        </p:txBody>
      </p:sp>
      <p:sp>
        <p:nvSpPr>
          <p:cNvPr id="12" name="Text 10"/>
          <p:cNvSpPr/>
          <p:nvPr/>
        </p:nvSpPr>
        <p:spPr>
          <a:xfrm>
            <a:off x="548640" y="4160520"/>
            <a:ext cx="2286000" cy="640080"/>
          </a:xfrm>
          <a:prstGeom prst="rect">
            <a:avLst/>
          </a:prstGeom>
          <a:noFill/>
          <a:ln/>
        </p:spPr>
        <p:txBody>
          <a:bodyPr wrap="square" rtlCol="0" anchor="ctr"/>
          <a:lstStyle/>
          <a:p>
            <a:pPr marL="0" indent="0" algn="ctr">
              <a:buNone/>
            </a:pPr>
            <a:r>
              <a:rPr lang="en-US" sz="1100" b="1" dirty="0">
                <a:solidFill>
                  <a:srgbClr val="0B3D24"/>
                </a:solidFill>
                <a:latin typeface="Calibri" pitchFamily="34" charset="0"/>
                <a:ea typeface="Calibri" pitchFamily="34" charset="-122"/>
                <a:cs typeface="Calibri" pitchFamily="34" charset="-120"/>
              </a:rPr>
              <a:t>LibroListComponent</a:t>
            </a:r>
            <a:endParaRPr lang="en-US" sz="1100" dirty="0"/>
          </a:p>
        </p:txBody>
      </p:sp>
      <p:sp>
        <p:nvSpPr>
          <p:cNvPr id="13" name="Shape 11"/>
          <p:cNvSpPr/>
          <p:nvPr/>
        </p:nvSpPr>
        <p:spPr>
          <a:xfrm>
            <a:off x="1691640" y="4160520"/>
            <a:ext cx="4389120" cy="0"/>
          </a:xfrm>
          <a:prstGeom prst="line">
            <a:avLst/>
          </a:prstGeom>
          <a:noFill/>
          <a:ln w="9525">
            <a:solidFill>
              <a:srgbClr val="383A42"/>
            </a:solidFill>
            <a:prstDash val="dash"/>
          </a:ln>
        </p:spPr>
        <p:txBody>
          <a:bodyPr/>
          <a:lstStyle/>
          <a:p>
            <a:endParaRPr lang="es-US"/>
          </a:p>
        </p:txBody>
      </p:sp>
      <p:sp>
        <p:nvSpPr>
          <p:cNvPr id="14" name="Shape 12"/>
          <p:cNvSpPr/>
          <p:nvPr/>
        </p:nvSpPr>
        <p:spPr>
          <a:xfrm>
            <a:off x="2880360" y="4160520"/>
            <a:ext cx="2286000" cy="640080"/>
          </a:xfrm>
          <a:prstGeom prst="roundRect">
            <a:avLst>
              <a:gd name="adj" fmla="val 8571"/>
            </a:avLst>
          </a:prstGeom>
          <a:solidFill>
            <a:srgbClr val="E3F0E8"/>
          </a:solidFill>
          <a:ln w="15240">
            <a:solidFill>
              <a:srgbClr val="006633"/>
            </a:solidFill>
            <a:prstDash val="solid"/>
          </a:ln>
        </p:spPr>
        <p:txBody>
          <a:bodyPr/>
          <a:lstStyle/>
          <a:p>
            <a:endParaRPr lang="es-US"/>
          </a:p>
        </p:txBody>
      </p:sp>
      <p:sp>
        <p:nvSpPr>
          <p:cNvPr id="15" name="Text 13"/>
          <p:cNvSpPr/>
          <p:nvPr/>
        </p:nvSpPr>
        <p:spPr>
          <a:xfrm>
            <a:off x="2880360" y="4160520"/>
            <a:ext cx="2286000" cy="640080"/>
          </a:xfrm>
          <a:prstGeom prst="rect">
            <a:avLst/>
          </a:prstGeom>
          <a:noFill/>
          <a:ln/>
        </p:spPr>
        <p:txBody>
          <a:bodyPr wrap="square" rtlCol="0" anchor="ctr"/>
          <a:lstStyle/>
          <a:p>
            <a:pPr marL="0" indent="0" algn="ctr">
              <a:buNone/>
            </a:pPr>
            <a:r>
              <a:rPr lang="en-US" sz="1100" b="1" dirty="0">
                <a:solidFill>
                  <a:srgbClr val="0B3D24"/>
                </a:solidFill>
                <a:latin typeface="Calibri" pitchFamily="34" charset="0"/>
                <a:ea typeface="Calibri" pitchFamily="34" charset="-122"/>
                <a:cs typeface="Calibri" pitchFamily="34" charset="-120"/>
              </a:rPr>
              <a:t>LibroDetailComponent</a:t>
            </a:r>
            <a:endParaRPr lang="en-US" sz="1100" dirty="0"/>
          </a:p>
        </p:txBody>
      </p:sp>
      <p:sp>
        <p:nvSpPr>
          <p:cNvPr id="16" name="Shape 14"/>
          <p:cNvSpPr/>
          <p:nvPr/>
        </p:nvSpPr>
        <p:spPr>
          <a:xfrm>
            <a:off x="4023360" y="4160520"/>
            <a:ext cx="2057400" cy="0"/>
          </a:xfrm>
          <a:prstGeom prst="line">
            <a:avLst/>
          </a:prstGeom>
          <a:noFill/>
          <a:ln w="9525">
            <a:solidFill>
              <a:srgbClr val="383A42"/>
            </a:solidFill>
            <a:prstDash val="dash"/>
          </a:ln>
        </p:spPr>
        <p:txBody>
          <a:bodyPr/>
          <a:lstStyle/>
          <a:p>
            <a:endParaRPr lang="es-US"/>
          </a:p>
        </p:txBody>
      </p:sp>
      <p:sp>
        <p:nvSpPr>
          <p:cNvPr id="17" name="Shape 15"/>
          <p:cNvSpPr/>
          <p:nvPr/>
        </p:nvSpPr>
        <p:spPr>
          <a:xfrm>
            <a:off x="7178040" y="4160520"/>
            <a:ext cx="2286000" cy="640080"/>
          </a:xfrm>
          <a:prstGeom prst="roundRect">
            <a:avLst>
              <a:gd name="adj" fmla="val 8571"/>
            </a:avLst>
          </a:prstGeom>
          <a:solidFill>
            <a:srgbClr val="E3F0E8"/>
          </a:solidFill>
          <a:ln w="15240">
            <a:solidFill>
              <a:srgbClr val="006633"/>
            </a:solidFill>
            <a:prstDash val="solid"/>
          </a:ln>
        </p:spPr>
        <p:txBody>
          <a:bodyPr/>
          <a:lstStyle/>
          <a:p>
            <a:endParaRPr lang="es-US"/>
          </a:p>
        </p:txBody>
      </p:sp>
      <p:sp>
        <p:nvSpPr>
          <p:cNvPr id="18" name="Text 16"/>
          <p:cNvSpPr/>
          <p:nvPr/>
        </p:nvSpPr>
        <p:spPr>
          <a:xfrm>
            <a:off x="7178040" y="4160520"/>
            <a:ext cx="2286000" cy="640080"/>
          </a:xfrm>
          <a:prstGeom prst="rect">
            <a:avLst/>
          </a:prstGeom>
          <a:noFill/>
          <a:ln/>
        </p:spPr>
        <p:txBody>
          <a:bodyPr wrap="square" rtlCol="0" anchor="ctr"/>
          <a:lstStyle/>
          <a:p>
            <a:pPr marL="0" indent="0" algn="ctr">
              <a:buNone/>
            </a:pPr>
            <a:r>
              <a:rPr lang="en-US" sz="1100" b="1" dirty="0">
                <a:solidFill>
                  <a:srgbClr val="0B3D24"/>
                </a:solidFill>
                <a:latin typeface="Calibri" pitchFamily="34" charset="0"/>
                <a:ea typeface="Calibri" pitchFamily="34" charset="-122"/>
                <a:cs typeface="Calibri" pitchFamily="34" charset="-120"/>
              </a:rPr>
              <a:t>PrestamoComponent</a:t>
            </a:r>
            <a:endParaRPr lang="en-US" sz="1100" dirty="0"/>
          </a:p>
        </p:txBody>
      </p:sp>
      <p:sp>
        <p:nvSpPr>
          <p:cNvPr id="19" name="Shape 17"/>
          <p:cNvSpPr/>
          <p:nvPr/>
        </p:nvSpPr>
        <p:spPr>
          <a:xfrm>
            <a:off x="8321040" y="4160520"/>
            <a:ext cx="0" cy="0"/>
          </a:xfrm>
          <a:prstGeom prst="line">
            <a:avLst/>
          </a:prstGeom>
          <a:noFill/>
          <a:ln w="9525">
            <a:solidFill>
              <a:srgbClr val="383A42"/>
            </a:solidFill>
            <a:prstDash val="dash"/>
          </a:ln>
        </p:spPr>
        <p:txBody>
          <a:bodyPr/>
          <a:lstStyle/>
          <a:p>
            <a:endParaRPr lang="es-US"/>
          </a:p>
        </p:txBody>
      </p:sp>
      <p:sp>
        <p:nvSpPr>
          <p:cNvPr id="20" name="Shape 18"/>
          <p:cNvSpPr/>
          <p:nvPr/>
        </p:nvSpPr>
        <p:spPr>
          <a:xfrm>
            <a:off x="9509760" y="4160520"/>
            <a:ext cx="2286000" cy="640080"/>
          </a:xfrm>
          <a:prstGeom prst="roundRect">
            <a:avLst>
              <a:gd name="adj" fmla="val 8571"/>
            </a:avLst>
          </a:prstGeom>
          <a:solidFill>
            <a:srgbClr val="E3F0E8"/>
          </a:solidFill>
          <a:ln w="15240">
            <a:solidFill>
              <a:srgbClr val="006633"/>
            </a:solidFill>
            <a:prstDash val="solid"/>
          </a:ln>
        </p:spPr>
        <p:txBody>
          <a:bodyPr/>
          <a:lstStyle/>
          <a:p>
            <a:endParaRPr lang="es-US"/>
          </a:p>
        </p:txBody>
      </p:sp>
      <p:sp>
        <p:nvSpPr>
          <p:cNvPr id="21" name="Text 19"/>
          <p:cNvSpPr/>
          <p:nvPr/>
        </p:nvSpPr>
        <p:spPr>
          <a:xfrm>
            <a:off x="9509760" y="4160520"/>
            <a:ext cx="2286000" cy="640080"/>
          </a:xfrm>
          <a:prstGeom prst="rect">
            <a:avLst/>
          </a:prstGeom>
          <a:noFill/>
          <a:ln/>
        </p:spPr>
        <p:txBody>
          <a:bodyPr wrap="square" rtlCol="0" anchor="ctr"/>
          <a:lstStyle/>
          <a:p>
            <a:pPr marL="0" indent="0" algn="ctr">
              <a:buNone/>
            </a:pPr>
            <a:r>
              <a:rPr lang="en-US" sz="1100" b="1" dirty="0">
                <a:solidFill>
                  <a:srgbClr val="0B3D24"/>
                </a:solidFill>
                <a:latin typeface="Calibri" pitchFamily="34" charset="0"/>
                <a:ea typeface="Calibri" pitchFamily="34" charset="-122"/>
                <a:cs typeface="Calibri" pitchFamily="34" charset="-120"/>
              </a:rPr>
              <a:t>UsuarioComponent</a:t>
            </a:r>
            <a:endParaRPr lang="en-US" sz="1100" dirty="0"/>
          </a:p>
        </p:txBody>
      </p:sp>
      <p:sp>
        <p:nvSpPr>
          <p:cNvPr id="22" name="Shape 20"/>
          <p:cNvSpPr/>
          <p:nvPr/>
        </p:nvSpPr>
        <p:spPr>
          <a:xfrm>
            <a:off x="10652760" y="4160520"/>
            <a:ext cx="0" cy="0"/>
          </a:xfrm>
          <a:prstGeom prst="line">
            <a:avLst/>
          </a:prstGeom>
          <a:noFill/>
          <a:ln w="9525">
            <a:solidFill>
              <a:srgbClr val="383A42"/>
            </a:solidFill>
            <a:prstDash val="dash"/>
          </a:ln>
        </p:spPr>
        <p:txBody>
          <a:bodyPr/>
          <a:lstStyle/>
          <a:p>
            <a:endParaRPr lang="es-US"/>
          </a:p>
        </p:txBody>
      </p:sp>
      <p:sp>
        <p:nvSpPr>
          <p:cNvPr id="23" name="Shape 21"/>
          <p:cNvSpPr/>
          <p:nvPr/>
        </p:nvSpPr>
        <p:spPr>
          <a:xfrm>
            <a:off x="548640" y="5166360"/>
            <a:ext cx="11091672" cy="960120"/>
          </a:xfrm>
          <a:prstGeom prst="roundRect">
            <a:avLst>
              <a:gd name="adj" fmla="val 7619"/>
            </a:avLst>
          </a:prstGeom>
          <a:solidFill>
            <a:srgbClr val="FBF2D9"/>
          </a:solidFill>
          <a:ln w="15240">
            <a:solidFill>
              <a:srgbClr val="B8860B"/>
            </a:solidFill>
            <a:prstDash val="solid"/>
          </a:ln>
        </p:spPr>
        <p:txBody>
          <a:bodyPr/>
          <a:lstStyle/>
          <a:p>
            <a:endParaRPr lang="es-US"/>
          </a:p>
        </p:txBody>
      </p:sp>
      <p:sp>
        <p:nvSpPr>
          <p:cNvPr id="24" name="Text 22"/>
          <p:cNvSpPr/>
          <p:nvPr/>
        </p:nvSpPr>
        <p:spPr>
          <a:xfrm>
            <a:off x="685800" y="5230368"/>
            <a:ext cx="10817352" cy="841248"/>
          </a:xfrm>
          <a:prstGeom prst="rect">
            <a:avLst/>
          </a:prstGeom>
          <a:noFill/>
          <a:ln/>
        </p:spPr>
        <p:txBody>
          <a:bodyPr wrap="square" rtlCol="0" anchor="t"/>
          <a:lstStyle/>
          <a:p>
            <a:pPr marL="0" indent="0">
              <a:buNone/>
            </a:pPr>
            <a:r>
              <a:rPr lang="en-US" sz="1400" b="1" dirty="0">
                <a:solidFill>
                  <a:srgbClr val="B8860B"/>
                </a:solidFill>
                <a:latin typeface="Calibri" pitchFamily="34" charset="0"/>
                <a:ea typeface="Calibri" pitchFamily="34" charset="-122"/>
                <a:cs typeface="Calibri" pitchFamily="34" charset="-120"/>
              </a:rPr>
              <a:t>Servicios inyectables:  </a:t>
            </a:r>
            <a:r>
              <a:rPr lang="en-US" sz="1300" dirty="0">
                <a:solidFill>
                  <a:srgbClr val="0B3D24"/>
                </a:solidFill>
                <a:latin typeface="Courier New" pitchFamily="34" charset="0"/>
                <a:ea typeface="Courier New" pitchFamily="34" charset="-122"/>
                <a:cs typeface="Courier New" pitchFamily="34" charset="-120"/>
              </a:rPr>
              <a:t>LibroService  |  PrestamoService  |  UsuarioService  |  AuthService  </a:t>
            </a:r>
            <a:endParaRPr lang="en-US" sz="1400" dirty="0"/>
          </a:p>
          <a:p>
            <a:pPr marL="0" indent="0">
              <a:buNone/>
            </a:pPr>
            <a:r>
              <a:rPr lang="en-US" sz="1200" i="1" dirty="0">
                <a:solidFill>
                  <a:srgbClr val="383A42"/>
                </a:solidFill>
                <a:latin typeface="Calibri" pitchFamily="34" charset="0"/>
                <a:ea typeface="Calibri" pitchFamily="34" charset="-122"/>
                <a:cs typeface="Calibri" pitchFamily="34" charset="-120"/>
              </a:rPr>
              <a:t>Cada uno usa HttpClient para hablar con /api/libros, /api/prestamos, /api/usuarios y /api/auth del backend BiblioUTEQ.</a:t>
            </a:r>
            <a:endParaRPr lang="en-US" sz="1400" dirty="0"/>
          </a:p>
        </p:txBody>
      </p:sp>
      <p:sp>
        <p:nvSpPr>
          <p:cNvPr id="25" name="Shape 23"/>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26" name="Text 24"/>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7" name="Text 25"/>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22 --- 6 / 36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INSTALACION DESDE CERO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Requisitos del entorno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685800"/>
          </a:xfrm>
          <a:prstGeom prst="rect">
            <a:avLst/>
          </a:prstGeom>
          <a:noFill/>
          <a:ln/>
        </p:spPr>
        <p:txBody>
          <a:bodyPr wrap="square" rtlCol="0" anchor="t"/>
          <a:lstStyle/>
          <a:p>
            <a:pPr marL="0" indent="0">
              <a:buNone/>
            </a:pPr>
            <a:r>
              <a:rPr lang="en-US" sz="1500" dirty="0">
                <a:solidFill>
                  <a:srgbClr val="383A42"/>
                </a:solidFill>
                <a:latin typeface="Calibri" pitchFamily="34" charset="0"/>
                <a:ea typeface="Calibri" pitchFamily="34" charset="-122"/>
                <a:cs typeface="Calibri" pitchFamily="34" charset="-120"/>
              </a:rPr>
              <a:t>Para trabajar con Angular 22 se requiere una version reciente de Node.js LTS, el gestor de paquetes npm que viene con el, Angular CLI instalado globalmente y un IDE. La eleccion oficial del curso es IntelliJ IDEA Ultimate.</a:t>
            </a:r>
            <a:endParaRPr lang="en-US" sz="1500" dirty="0"/>
          </a:p>
        </p:txBody>
      </p:sp>
      <p:sp>
        <p:nvSpPr>
          <p:cNvPr id="7" name="Shape 5"/>
          <p:cNvSpPr/>
          <p:nvPr/>
        </p:nvSpPr>
        <p:spPr>
          <a:xfrm>
            <a:off x="548640" y="2331720"/>
            <a:ext cx="11091672" cy="868680"/>
          </a:xfrm>
          <a:prstGeom prst="roundRect">
            <a:avLst>
              <a:gd name="adj" fmla="val 10526"/>
            </a:avLst>
          </a:prstGeom>
          <a:solidFill>
            <a:srgbClr val="FFFFFF"/>
          </a:solidFill>
          <a:ln w="19050">
            <a:solidFill>
              <a:srgbClr val="006633"/>
            </a:solidFill>
            <a:prstDash val="solid"/>
          </a:ln>
        </p:spPr>
        <p:txBody>
          <a:bodyPr/>
          <a:lstStyle/>
          <a:p>
            <a:endParaRPr lang="es-US"/>
          </a:p>
        </p:txBody>
      </p:sp>
      <p:sp>
        <p:nvSpPr>
          <p:cNvPr id="8" name="Shape 6"/>
          <p:cNvSpPr/>
          <p:nvPr/>
        </p:nvSpPr>
        <p:spPr>
          <a:xfrm>
            <a:off x="548640" y="2331720"/>
            <a:ext cx="11091672" cy="41148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640080" y="2350008"/>
            <a:ext cx="1090879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Node.js 24 LTS</a:t>
            </a:r>
            <a:endParaRPr lang="en-US" sz="1300" dirty="0"/>
          </a:p>
        </p:txBody>
      </p:sp>
      <p:sp>
        <p:nvSpPr>
          <p:cNvPr id="10" name="Text 8"/>
          <p:cNvSpPr/>
          <p:nvPr/>
        </p:nvSpPr>
        <p:spPr>
          <a:xfrm>
            <a:off x="685800" y="2834640"/>
            <a:ext cx="10817352" cy="27432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Node 24 es la linea Active LTS a julio de 2026 (soporte hasta abr-2028). Trae npm 11 y V8 actualizado. Node 22 tambien es soportado pero ya en Maintenance LTS.</a:t>
            </a:r>
            <a:endParaRPr lang="en-US" sz="1200" dirty="0"/>
          </a:p>
        </p:txBody>
      </p:sp>
      <p:sp>
        <p:nvSpPr>
          <p:cNvPr id="11" name="Shape 9"/>
          <p:cNvSpPr/>
          <p:nvPr/>
        </p:nvSpPr>
        <p:spPr>
          <a:xfrm>
            <a:off x="548640" y="3291840"/>
            <a:ext cx="11091672" cy="868680"/>
          </a:xfrm>
          <a:prstGeom prst="roundRect">
            <a:avLst>
              <a:gd name="adj" fmla="val 10526"/>
            </a:avLst>
          </a:prstGeom>
          <a:solidFill>
            <a:srgbClr val="FFFFFF"/>
          </a:solidFill>
          <a:ln w="19050">
            <a:solidFill>
              <a:srgbClr val="006633"/>
            </a:solidFill>
            <a:prstDash val="solid"/>
          </a:ln>
        </p:spPr>
        <p:txBody>
          <a:bodyPr/>
          <a:lstStyle/>
          <a:p>
            <a:endParaRPr lang="es-US"/>
          </a:p>
        </p:txBody>
      </p:sp>
      <p:sp>
        <p:nvSpPr>
          <p:cNvPr id="12" name="Shape 10"/>
          <p:cNvSpPr/>
          <p:nvPr/>
        </p:nvSpPr>
        <p:spPr>
          <a:xfrm>
            <a:off x="548640" y="3291840"/>
            <a:ext cx="11091672" cy="411480"/>
          </a:xfrm>
          <a:prstGeom prst="rect">
            <a:avLst/>
          </a:prstGeom>
          <a:solidFill>
            <a:srgbClr val="006633"/>
          </a:solidFill>
          <a:ln w="12700">
            <a:solidFill>
              <a:srgbClr val="006633"/>
            </a:solidFill>
            <a:prstDash val="solid"/>
          </a:ln>
        </p:spPr>
        <p:txBody>
          <a:bodyPr/>
          <a:lstStyle/>
          <a:p>
            <a:endParaRPr lang="es-US"/>
          </a:p>
        </p:txBody>
      </p:sp>
      <p:sp>
        <p:nvSpPr>
          <p:cNvPr id="13" name="Text 11"/>
          <p:cNvSpPr/>
          <p:nvPr/>
        </p:nvSpPr>
        <p:spPr>
          <a:xfrm>
            <a:off x="640080" y="3310128"/>
            <a:ext cx="1090879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npm 11 o superior</a:t>
            </a:r>
            <a:endParaRPr lang="en-US" sz="1300" dirty="0"/>
          </a:p>
        </p:txBody>
      </p:sp>
      <p:sp>
        <p:nvSpPr>
          <p:cNvPr id="14" name="Text 12"/>
          <p:cNvSpPr/>
          <p:nvPr/>
        </p:nvSpPr>
        <p:spPr>
          <a:xfrm>
            <a:off x="685800" y="3794760"/>
            <a:ext cx="10817352" cy="27432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npm es el gestor de paquetes de Node. Al instalar Node queda instalado. Permite ejecutar los scripts de package.json y bajar dependencias del registro publico.</a:t>
            </a:r>
            <a:endParaRPr lang="en-US" sz="1200" dirty="0"/>
          </a:p>
        </p:txBody>
      </p:sp>
      <p:sp>
        <p:nvSpPr>
          <p:cNvPr id="15" name="Shape 13"/>
          <p:cNvSpPr/>
          <p:nvPr/>
        </p:nvSpPr>
        <p:spPr>
          <a:xfrm>
            <a:off x="548640" y="4251960"/>
            <a:ext cx="11091672" cy="868680"/>
          </a:xfrm>
          <a:prstGeom prst="roundRect">
            <a:avLst>
              <a:gd name="adj" fmla="val 10526"/>
            </a:avLst>
          </a:prstGeom>
          <a:solidFill>
            <a:srgbClr val="FFFFFF"/>
          </a:solidFill>
          <a:ln w="19050">
            <a:solidFill>
              <a:srgbClr val="B8860B"/>
            </a:solidFill>
            <a:prstDash val="solid"/>
          </a:ln>
        </p:spPr>
        <p:txBody>
          <a:bodyPr/>
          <a:lstStyle/>
          <a:p>
            <a:endParaRPr lang="es-US"/>
          </a:p>
        </p:txBody>
      </p:sp>
      <p:sp>
        <p:nvSpPr>
          <p:cNvPr id="16" name="Shape 14"/>
          <p:cNvSpPr/>
          <p:nvPr/>
        </p:nvSpPr>
        <p:spPr>
          <a:xfrm>
            <a:off x="548640" y="4251960"/>
            <a:ext cx="11091672" cy="411480"/>
          </a:xfrm>
          <a:prstGeom prst="rect">
            <a:avLst/>
          </a:prstGeom>
          <a:solidFill>
            <a:srgbClr val="B8860B"/>
          </a:solidFill>
          <a:ln w="12700">
            <a:solidFill>
              <a:srgbClr val="B8860B"/>
            </a:solidFill>
            <a:prstDash val="solid"/>
          </a:ln>
        </p:spPr>
        <p:txBody>
          <a:bodyPr/>
          <a:lstStyle/>
          <a:p>
            <a:endParaRPr lang="es-US"/>
          </a:p>
        </p:txBody>
      </p:sp>
      <p:sp>
        <p:nvSpPr>
          <p:cNvPr id="17" name="Text 15"/>
          <p:cNvSpPr/>
          <p:nvPr/>
        </p:nvSpPr>
        <p:spPr>
          <a:xfrm>
            <a:off x="640080" y="4270248"/>
            <a:ext cx="1090879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Angular CLI 22</a:t>
            </a:r>
            <a:endParaRPr lang="en-US" sz="1300" dirty="0"/>
          </a:p>
        </p:txBody>
      </p:sp>
      <p:sp>
        <p:nvSpPr>
          <p:cNvPr id="18" name="Text 16"/>
          <p:cNvSpPr/>
          <p:nvPr/>
        </p:nvSpPr>
        <p:spPr>
          <a:xfrm>
            <a:off x="685800" y="4754880"/>
            <a:ext cx="10817352" cy="27432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Se instala globalmente con npm install -g @angular/cli. Provee el comando ng para crear proyectos, generar componentes y correr el servidor de desarrollo.</a:t>
            </a:r>
            <a:endParaRPr lang="en-US" sz="1200" dirty="0"/>
          </a:p>
        </p:txBody>
      </p:sp>
      <p:sp>
        <p:nvSpPr>
          <p:cNvPr id="19" name="Shape 17"/>
          <p:cNvSpPr/>
          <p:nvPr/>
        </p:nvSpPr>
        <p:spPr>
          <a:xfrm>
            <a:off x="548640" y="5212080"/>
            <a:ext cx="11091672" cy="868680"/>
          </a:xfrm>
          <a:prstGeom prst="roundRect">
            <a:avLst>
              <a:gd name="adj" fmla="val 10526"/>
            </a:avLst>
          </a:prstGeom>
          <a:solidFill>
            <a:srgbClr val="FFFFFF"/>
          </a:solidFill>
          <a:ln w="19050">
            <a:solidFill>
              <a:srgbClr val="B8860B"/>
            </a:solidFill>
            <a:prstDash val="solid"/>
          </a:ln>
        </p:spPr>
        <p:txBody>
          <a:bodyPr/>
          <a:lstStyle/>
          <a:p>
            <a:endParaRPr lang="es-US"/>
          </a:p>
        </p:txBody>
      </p:sp>
      <p:sp>
        <p:nvSpPr>
          <p:cNvPr id="20" name="Shape 18"/>
          <p:cNvSpPr/>
          <p:nvPr/>
        </p:nvSpPr>
        <p:spPr>
          <a:xfrm>
            <a:off x="548640" y="5212080"/>
            <a:ext cx="11091672" cy="411480"/>
          </a:xfrm>
          <a:prstGeom prst="rect">
            <a:avLst/>
          </a:prstGeom>
          <a:solidFill>
            <a:srgbClr val="B8860B"/>
          </a:solidFill>
          <a:ln w="12700">
            <a:solidFill>
              <a:srgbClr val="B8860B"/>
            </a:solidFill>
            <a:prstDash val="solid"/>
          </a:ln>
        </p:spPr>
        <p:txBody>
          <a:bodyPr/>
          <a:lstStyle/>
          <a:p>
            <a:endParaRPr lang="es-US"/>
          </a:p>
        </p:txBody>
      </p:sp>
      <p:sp>
        <p:nvSpPr>
          <p:cNvPr id="21" name="Text 19"/>
          <p:cNvSpPr/>
          <p:nvPr/>
        </p:nvSpPr>
        <p:spPr>
          <a:xfrm>
            <a:off x="640080" y="5230368"/>
            <a:ext cx="1090879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IntelliJ IDEA Ultimate</a:t>
            </a:r>
            <a:endParaRPr lang="en-US" sz="1300" dirty="0"/>
          </a:p>
        </p:txBody>
      </p:sp>
      <p:sp>
        <p:nvSpPr>
          <p:cNvPr id="22" name="Text 20"/>
          <p:cNvSpPr/>
          <p:nvPr/>
        </p:nvSpPr>
        <p:spPr>
          <a:xfrm>
            <a:off x="685800" y="5715000"/>
            <a:ext cx="10817352" cy="27432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Version 2024.x o superior. La edicion Community NO trae soporte para Angular; se debe usar Ultimate, gratuita para estudiantes con licencia academica.</a:t>
            </a:r>
            <a:endParaRPr lang="en-US" sz="1200" dirty="0"/>
          </a:p>
        </p:txBody>
      </p:sp>
      <p:sp>
        <p:nvSpPr>
          <p:cNvPr id="23" name="Shape 21"/>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24" name="Text 2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5" name="Text 2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22 --- 7 / 36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INSTALACION DESDE CERO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Instalar Node.js 24 LTS</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63040"/>
            <a:ext cx="5669280" cy="320040"/>
          </a:xfrm>
          <a:prstGeom prst="rect">
            <a:avLst/>
          </a:prstGeom>
          <a:noFill/>
          <a:ln/>
        </p:spPr>
        <p:txBody>
          <a:bodyPr wrap="square" rtlCol="0" anchor="ctr"/>
          <a:lstStyle/>
          <a:p>
            <a:pPr marL="0" indent="0">
              <a:buNone/>
            </a:pPr>
            <a:r>
              <a:rPr lang="en-US" sz="1600" b="1" dirty="0">
                <a:solidFill>
                  <a:srgbClr val="0B3D24"/>
                </a:solidFill>
                <a:latin typeface="Calibri" pitchFamily="34" charset="0"/>
                <a:ea typeface="Calibri" pitchFamily="34" charset="-122"/>
                <a:cs typeface="Calibri" pitchFamily="34" charset="-120"/>
              </a:rPr>
              <a:t>Windows 10/11</a:t>
            </a:r>
            <a:endParaRPr lang="en-US" sz="1600" dirty="0"/>
          </a:p>
        </p:txBody>
      </p:sp>
      <p:sp>
        <p:nvSpPr>
          <p:cNvPr id="7" name="Text 5"/>
          <p:cNvSpPr/>
          <p:nvPr/>
        </p:nvSpPr>
        <p:spPr>
          <a:xfrm>
            <a:off x="548640" y="1828800"/>
            <a:ext cx="5669280" cy="2926080"/>
          </a:xfrm>
          <a:prstGeom prst="rect">
            <a:avLst/>
          </a:prstGeom>
          <a:noFill/>
          <a:ln/>
        </p:spPr>
        <p:txBody>
          <a:bodyPr wrap="square" rtlCol="0" anchor="t"/>
          <a:lstStyle/>
          <a:p>
            <a:pPr marL="342900" indent="-342900">
              <a:spcAft>
                <a:spcPts val="500"/>
              </a:spcAft>
              <a:buSzPct val="100000"/>
              <a:buChar char="■"/>
            </a:pPr>
            <a:r>
              <a:rPr lang="en-US" sz="1300" dirty="0">
                <a:solidFill>
                  <a:srgbClr val="383A42"/>
                </a:solidFill>
                <a:latin typeface="Calibri" pitchFamily="34" charset="0"/>
                <a:ea typeface="Calibri" pitchFamily="34" charset="-122"/>
                <a:cs typeface="Calibri" pitchFamily="34" charset="-120"/>
              </a:rPr>
              <a:t>Descargar el instalador .msi para 64 bits desde el sitio oficial nodejs.org, seccion Downloads &gt; LTS.</a:t>
            </a:r>
            <a:endParaRPr lang="en-US" sz="1300" dirty="0"/>
          </a:p>
          <a:p>
            <a:pPr marL="342900" indent="-342900">
              <a:spcAft>
                <a:spcPts val="500"/>
              </a:spcAft>
              <a:buSzPct val="100000"/>
              <a:buChar char="■"/>
            </a:pPr>
            <a:r>
              <a:rPr lang="en-US" sz="1300" dirty="0">
                <a:solidFill>
                  <a:srgbClr val="383A42"/>
                </a:solidFill>
                <a:latin typeface="Calibri" pitchFamily="34" charset="0"/>
                <a:ea typeface="Calibri" pitchFamily="34" charset="-122"/>
                <a:cs typeface="Calibri" pitchFamily="34" charset="-120"/>
              </a:rPr>
              <a:t>Ejecutar el .msi con doble clic. Aceptar el acuerdo de licencia y dejar la ruta por defecto.</a:t>
            </a:r>
            <a:endParaRPr lang="en-US" sz="1300" dirty="0"/>
          </a:p>
          <a:p>
            <a:pPr marL="342900" indent="-342900">
              <a:spcAft>
                <a:spcPts val="500"/>
              </a:spcAft>
              <a:buSzPct val="100000"/>
              <a:buChar char="■"/>
            </a:pPr>
            <a:r>
              <a:rPr lang="en-US" sz="1300" dirty="0">
                <a:solidFill>
                  <a:srgbClr val="383A42"/>
                </a:solidFill>
                <a:latin typeface="Calibri" pitchFamily="34" charset="0"/>
                <a:ea typeface="Calibri" pitchFamily="34" charset="-122"/>
                <a:cs typeface="Calibri" pitchFamily="34" charset="-120"/>
              </a:rPr>
              <a:t>Marcar la casilla Add to PATH y la de instalar las Chocolatey Tools (opcional pero recomendado).</a:t>
            </a:r>
            <a:endParaRPr lang="en-US" sz="1300" dirty="0"/>
          </a:p>
          <a:p>
            <a:pPr marL="342900" indent="-342900">
              <a:spcAft>
                <a:spcPts val="500"/>
              </a:spcAft>
              <a:buSzPct val="100000"/>
              <a:buChar char="■"/>
            </a:pPr>
            <a:r>
              <a:rPr lang="en-US" sz="1300" dirty="0">
                <a:solidFill>
                  <a:srgbClr val="383A42"/>
                </a:solidFill>
                <a:latin typeface="Calibri" pitchFamily="34" charset="0"/>
                <a:ea typeface="Calibri" pitchFamily="34" charset="-122"/>
                <a:cs typeface="Calibri" pitchFamily="34" charset="-120"/>
              </a:rPr>
              <a:t>Reiniciar la terminal (o cerrar y volver a abrir PowerShell) para que el PATH se recargue.</a:t>
            </a:r>
            <a:endParaRPr lang="en-US" sz="1300" dirty="0"/>
          </a:p>
        </p:txBody>
      </p:sp>
      <p:sp>
        <p:nvSpPr>
          <p:cNvPr id="8" name="Text 6"/>
          <p:cNvSpPr/>
          <p:nvPr/>
        </p:nvSpPr>
        <p:spPr>
          <a:xfrm>
            <a:off x="6492240" y="1463040"/>
            <a:ext cx="5148072" cy="320040"/>
          </a:xfrm>
          <a:prstGeom prst="rect">
            <a:avLst/>
          </a:prstGeom>
          <a:noFill/>
          <a:ln/>
        </p:spPr>
        <p:txBody>
          <a:bodyPr wrap="square" rtlCol="0" anchor="ctr"/>
          <a:lstStyle/>
          <a:p>
            <a:pPr marL="0" indent="0">
              <a:buNone/>
            </a:pPr>
            <a:r>
              <a:rPr lang="en-US" sz="1600" b="1" dirty="0">
                <a:solidFill>
                  <a:srgbClr val="0B3D24"/>
                </a:solidFill>
                <a:latin typeface="Calibri" pitchFamily="34" charset="0"/>
                <a:ea typeface="Calibri" pitchFamily="34" charset="-122"/>
                <a:cs typeface="Calibri" pitchFamily="34" charset="-120"/>
              </a:rPr>
              <a:t>Ubuntu 24.04 LTS</a:t>
            </a:r>
            <a:endParaRPr lang="en-US" sz="1600" dirty="0"/>
          </a:p>
        </p:txBody>
      </p:sp>
      <p:sp>
        <p:nvSpPr>
          <p:cNvPr id="9" name="Text 7"/>
          <p:cNvSpPr/>
          <p:nvPr/>
        </p:nvSpPr>
        <p:spPr>
          <a:xfrm>
            <a:off x="6492240" y="1828800"/>
            <a:ext cx="5148072" cy="2926080"/>
          </a:xfrm>
          <a:prstGeom prst="rect">
            <a:avLst/>
          </a:prstGeom>
          <a:noFill/>
          <a:ln/>
        </p:spPr>
        <p:txBody>
          <a:bodyPr wrap="square" rtlCol="0" anchor="t"/>
          <a:lstStyle/>
          <a:p>
            <a:pPr marL="342900" indent="-342900">
              <a:spcAft>
                <a:spcPts val="500"/>
              </a:spcAft>
              <a:buSzPct val="100000"/>
              <a:buChar char="■"/>
            </a:pPr>
            <a:r>
              <a:rPr lang="en-US" sz="1300" dirty="0">
                <a:solidFill>
                  <a:srgbClr val="383A42"/>
                </a:solidFill>
                <a:latin typeface="Calibri" pitchFamily="34" charset="0"/>
                <a:ea typeface="Calibri" pitchFamily="34" charset="-122"/>
                <a:cs typeface="Calibri" pitchFamily="34" charset="-120"/>
              </a:rPr>
              <a:t>Usar NodeSource (paquete oficial). No usar el paquete apt de Ubuntu que trae versiones muy antiguas.</a:t>
            </a:r>
            <a:endParaRPr lang="en-US" sz="1300" dirty="0"/>
          </a:p>
          <a:p>
            <a:pPr marL="342900" indent="-342900">
              <a:spcAft>
                <a:spcPts val="500"/>
              </a:spcAft>
              <a:buSzPct val="100000"/>
              <a:buChar char="■"/>
            </a:pPr>
            <a:r>
              <a:rPr lang="en-US" sz="1300" dirty="0">
                <a:solidFill>
                  <a:srgbClr val="383A42"/>
                </a:solidFill>
                <a:latin typeface="Calibri" pitchFamily="34" charset="0"/>
                <a:ea typeface="Calibri" pitchFamily="34" charset="-122"/>
                <a:cs typeface="Calibri" pitchFamily="34" charset="-120"/>
              </a:rPr>
              <a:t>Ejecutar curl del script de setup para Node 24 con sudo bash.</a:t>
            </a:r>
            <a:endParaRPr lang="en-US" sz="1300" dirty="0"/>
          </a:p>
          <a:p>
            <a:pPr marL="342900" indent="-342900">
              <a:spcAft>
                <a:spcPts val="500"/>
              </a:spcAft>
              <a:buSzPct val="100000"/>
              <a:buChar char="■"/>
            </a:pPr>
            <a:r>
              <a:rPr lang="en-US" sz="1300" dirty="0">
                <a:solidFill>
                  <a:srgbClr val="383A42"/>
                </a:solidFill>
                <a:latin typeface="Calibri" pitchFamily="34" charset="0"/>
                <a:ea typeface="Calibri" pitchFamily="34" charset="-122"/>
                <a:cs typeface="Calibri" pitchFamily="34" charset="-120"/>
              </a:rPr>
              <a:t>Instalar el paquete nodejs con sudo apt-get install -y nodejs (npm viene incluido).</a:t>
            </a:r>
            <a:endParaRPr lang="en-US" sz="1300" dirty="0"/>
          </a:p>
          <a:p>
            <a:pPr marL="342900" indent="-342900">
              <a:spcAft>
                <a:spcPts val="500"/>
              </a:spcAft>
              <a:buSzPct val="100000"/>
              <a:buChar char="■"/>
            </a:pPr>
            <a:r>
              <a:rPr lang="en-US" sz="1300" dirty="0">
                <a:solidFill>
                  <a:srgbClr val="383A42"/>
                </a:solidFill>
                <a:latin typeface="Calibri" pitchFamily="34" charset="0"/>
                <a:ea typeface="Calibri" pitchFamily="34" charset="-122"/>
                <a:cs typeface="Calibri" pitchFamily="34" charset="-120"/>
              </a:rPr>
              <a:t>Verificar la instalacion con node --version y npm --version.</a:t>
            </a:r>
            <a:endParaRPr lang="en-US" sz="1300" dirty="0"/>
          </a:p>
        </p:txBody>
      </p:sp>
      <p:sp>
        <p:nvSpPr>
          <p:cNvPr id="10" name="Shape 8"/>
          <p:cNvSpPr/>
          <p:nvPr/>
        </p:nvSpPr>
        <p:spPr>
          <a:xfrm>
            <a:off x="548640" y="4846320"/>
            <a:ext cx="11091672" cy="1417320"/>
          </a:xfrm>
          <a:prstGeom prst="roundRect">
            <a:avLst>
              <a:gd name="adj" fmla="val 3871"/>
            </a:avLst>
          </a:prstGeom>
          <a:solidFill>
            <a:srgbClr val="F5F6F5"/>
          </a:solidFill>
          <a:ln w="9525">
            <a:solidFill>
              <a:srgbClr val="006633"/>
            </a:solidFill>
            <a:prstDash val="solid"/>
          </a:ln>
        </p:spPr>
        <p:txBody>
          <a:bodyPr/>
          <a:lstStyle/>
          <a:p>
            <a:endParaRPr lang="es-US"/>
          </a:p>
        </p:txBody>
      </p:sp>
      <p:sp>
        <p:nvSpPr>
          <p:cNvPr id="11" name="Shape 9"/>
          <p:cNvSpPr/>
          <p:nvPr/>
        </p:nvSpPr>
        <p:spPr>
          <a:xfrm>
            <a:off x="548640" y="4846320"/>
            <a:ext cx="1737360" cy="274320"/>
          </a:xfrm>
          <a:prstGeom prst="rect">
            <a:avLst/>
          </a:prstGeom>
          <a:solidFill>
            <a:srgbClr val="006633"/>
          </a:solidFill>
          <a:ln w="12700">
            <a:solidFill>
              <a:srgbClr val="006633"/>
            </a:solidFill>
            <a:prstDash val="solid"/>
          </a:ln>
        </p:spPr>
        <p:txBody>
          <a:bodyPr/>
          <a:lstStyle/>
          <a:p>
            <a:endParaRPr lang="es-US"/>
          </a:p>
        </p:txBody>
      </p:sp>
      <p:sp>
        <p:nvSpPr>
          <p:cNvPr id="12" name="Text 10"/>
          <p:cNvSpPr/>
          <p:nvPr/>
        </p:nvSpPr>
        <p:spPr>
          <a:xfrm>
            <a:off x="594360" y="486460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13" name="Text 11"/>
          <p:cNvSpPr txBox="1"/>
          <p:nvPr/>
        </p:nvSpPr>
        <p:spPr>
          <a:xfrm>
            <a:off x="640080" y="5193792"/>
            <a:ext cx="10908792" cy="978408"/>
          </a:xfrm>
          <a:prstGeom prst="rect">
            <a:avLst/>
          </a:prstGeom>
          <a:noFill/>
          <a:ln/>
        </p:spPr>
        <p:txBody>
          <a:bodyPr wrap="square" rtlCol="0" anchor="t"/>
          <a:lstStyle/>
          <a:p>
            <a:pPr marL="0" indent="0">
              <a:buNone/>
            </a:pPr>
            <a:r>
              <a:rPr lang="en-US" sz="1200" i="1" dirty="0">
                <a:solidFill>
                  <a:srgbClr val="717171"/>
                </a:solidFill>
                <a:latin typeface="Courier New" pitchFamily="34" charset="0"/>
                <a:ea typeface="Courier New" pitchFamily="34" charset="-122"/>
                <a:cs typeface="Courier New" pitchFamily="34" charset="-120"/>
              </a:rPr>
              <a:t># Windows (PowerShell): descargar de nodejs.org y ejecutar el .msi
# Ubuntu / Debian: script NodeSource para Node 24 LTS
</a:t>
            </a:r>
            <a:r>
              <a:rPr lang="en-US" sz="1200" b="1" dirty="0">
                <a:solidFill>
                  <a:srgbClr val="0057AE"/>
                </a:solidFill>
                <a:latin typeface="Courier New" pitchFamily="34" charset="0"/>
                <a:ea typeface="Courier New" pitchFamily="34" charset="-122"/>
                <a:cs typeface="Courier New" pitchFamily="34" charset="-120"/>
              </a:rPr>
              <a:t>curl</a:t>
            </a:r>
            <a:r>
              <a:rPr lang="en-US" sz="1200" dirty="0">
                <a:solidFill>
                  <a:srgbClr val="383A42"/>
                </a:solidFill>
                <a:latin typeface="Courier New" pitchFamily="34" charset="0"/>
                <a:ea typeface="Courier New" pitchFamily="34" charset="-122"/>
                <a:cs typeface="Courier New" pitchFamily="34" charset="-120"/>
              </a:rPr>
              <a:t> -fsSL </a:t>
            </a:r>
            <a:r>
              <a:rPr lang="en-US" sz="1200" b="1" dirty="0">
                <a:solidFill>
                  <a:srgbClr val="0057AE"/>
                </a:solidFill>
                <a:latin typeface="Courier New" pitchFamily="34" charset="0"/>
                <a:ea typeface="Courier New" pitchFamily="34" charset="-122"/>
                <a:cs typeface="Courier New" pitchFamily="34" charset="-120"/>
              </a:rPr>
              <a:t>https</a:t>
            </a:r>
            <a:r>
              <a:rPr lang="en-US" sz="1200" dirty="0">
                <a:solidFill>
                  <a:srgbClr val="383A42"/>
                </a:solidFill>
                <a:latin typeface="Courier New" pitchFamily="34" charset="0"/>
                <a:ea typeface="Courier New" pitchFamily="34" charset="-122"/>
                <a:cs typeface="Courier New" pitchFamily="34" charset="-120"/>
              </a:rPr>
              <a:t>://deb.nodesource.com/setup_24.x | sudo -E bash -</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sudo apt-get </a:t>
            </a:r>
            <a:r>
              <a:rPr lang="en-US" sz="1200" b="1" dirty="0">
                <a:solidFill>
                  <a:srgbClr val="0057AE"/>
                </a:solidFill>
                <a:latin typeface="Courier New" pitchFamily="34" charset="0"/>
                <a:ea typeface="Courier New" pitchFamily="34" charset="-122"/>
                <a:cs typeface="Courier New" pitchFamily="34" charset="-120"/>
              </a:rPr>
              <a:t>install</a:t>
            </a:r>
            <a:r>
              <a:rPr lang="en-US" sz="1200" dirty="0">
                <a:solidFill>
                  <a:srgbClr val="383A42"/>
                </a:solidFill>
                <a:latin typeface="Courier New" pitchFamily="34" charset="0"/>
                <a:ea typeface="Courier New" pitchFamily="34" charset="-122"/>
                <a:cs typeface="Courier New" pitchFamily="34" charset="-120"/>
              </a:rPr>
              <a:t> -y nodejs</a:t>
            </a:r>
            <a:r>
              <a:rPr lang="en-US" sz="1200" dirty="0">
                <a:solidFill>
                  <a:srgbClr val="000000"/>
                </a:solidFill>
              </a:rPr>
              <a:t>
</a:t>
            </a:r>
            <a:endParaRPr lang="en-US" sz="1200" dirty="0"/>
          </a:p>
        </p:txBody>
      </p:sp>
      <p:sp>
        <p:nvSpPr>
          <p:cNvPr id="14" name="Shape 12"/>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5" name="Text 13"/>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6" name="Text 14"/>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22 --- 8 / 36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INSTALACION DESDE CERO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Verificar Node y npm</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640080"/>
          </a:xfrm>
          <a:prstGeom prst="rect">
            <a:avLst/>
          </a:prstGeom>
          <a:noFill/>
          <a:ln/>
        </p:spPr>
        <p:txBody>
          <a:bodyPr wrap="square" rtlCol="0" anchor="t"/>
          <a:lstStyle/>
          <a:p>
            <a:pPr marL="0" indent="0">
              <a:buNone/>
            </a:pPr>
            <a:r>
              <a:rPr lang="en-US" sz="1500" dirty="0">
                <a:solidFill>
                  <a:srgbClr val="383A42"/>
                </a:solidFill>
                <a:latin typeface="Calibri" pitchFamily="34" charset="0"/>
                <a:ea typeface="Calibri" pitchFamily="34" charset="-122"/>
                <a:cs typeface="Calibri" pitchFamily="34" charset="-120"/>
              </a:rPr>
              <a:t>Una vez instalado, el aprendiz confirma con dos comandos que Node y npm quedaron en el PATH y que las versiones son compatibles con Angular 22. Salidas esperadas:</a:t>
            </a:r>
            <a:endParaRPr lang="en-US" sz="1500" dirty="0"/>
          </a:p>
        </p:txBody>
      </p:sp>
      <p:sp>
        <p:nvSpPr>
          <p:cNvPr id="7" name="Shape 5"/>
          <p:cNvSpPr/>
          <p:nvPr/>
        </p:nvSpPr>
        <p:spPr>
          <a:xfrm>
            <a:off x="548640" y="2148839"/>
            <a:ext cx="11091672" cy="2651761"/>
          </a:xfrm>
          <a:prstGeom prst="roundRect">
            <a:avLst>
              <a:gd name="adj" fmla="val 2727"/>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48640" y="2148840"/>
            <a:ext cx="173736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594360" y="216712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10" name="Text 8"/>
          <p:cNvSpPr txBox="1"/>
          <p:nvPr/>
        </p:nvSpPr>
        <p:spPr>
          <a:xfrm>
            <a:off x="640080" y="2496312"/>
            <a:ext cx="10908792" cy="1572768"/>
          </a:xfrm>
          <a:prstGeom prst="rect">
            <a:avLst/>
          </a:prstGeom>
          <a:noFill/>
          <a:ln/>
        </p:spPr>
        <p:txBody>
          <a:bodyPr wrap="square" rtlCol="0" anchor="t"/>
          <a:lstStyle/>
          <a:p>
            <a:pPr marL="0" indent="0">
              <a:buNone/>
            </a:pP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node</a:t>
            </a: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version</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v24.11.0</a:t>
            </a:r>
            <a:r>
              <a:rPr lang="en-US" sz="1400" dirty="0">
                <a:solidFill>
                  <a:srgbClr val="000000"/>
                </a:solidFill>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npm</a:t>
            </a: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version</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11.5.2</a:t>
            </a:r>
            <a:endParaRPr lang="en-US" sz="1400" dirty="0"/>
          </a:p>
          <a:p>
            <a:pPr marL="0" indent="0">
              <a:buNone/>
            </a:pPr>
            <a:endParaRPr lang="en-US" sz="1400" dirty="0"/>
          </a:p>
          <a:p>
            <a:pPr marL="0" indent="0">
              <a:buNone/>
            </a:pPr>
            <a:r>
              <a:rPr lang="en-US" sz="1400" i="1" dirty="0">
                <a:solidFill>
                  <a:srgbClr val="717171"/>
                </a:solidFill>
                <a:latin typeface="Courier New" pitchFamily="34" charset="0"/>
                <a:ea typeface="Courier New" pitchFamily="34" charset="-122"/>
                <a:cs typeface="Courier New" pitchFamily="34" charset="-120"/>
              </a:rPr>
              <a:t># Si aparece 'command not found' hay que revisar el PATH.
# En Windows: reabrir la terminal. En Linux: cerrar sesion y volver a entrar.
</a:t>
            </a:r>
            <a:endParaRPr lang="en-US" sz="1400" dirty="0"/>
          </a:p>
        </p:txBody>
      </p:sp>
      <p:sp>
        <p:nvSpPr>
          <p:cNvPr id="11" name="Shape 9"/>
          <p:cNvSpPr/>
          <p:nvPr/>
        </p:nvSpPr>
        <p:spPr>
          <a:xfrm>
            <a:off x="548640" y="5239512"/>
            <a:ext cx="11091672" cy="1024127"/>
          </a:xfrm>
          <a:prstGeom prst="roundRect">
            <a:avLst>
              <a:gd name="adj" fmla="val 3810"/>
            </a:avLst>
          </a:prstGeom>
          <a:solidFill>
            <a:srgbClr val="FBF0D8"/>
          </a:solidFill>
          <a:ln w="12700">
            <a:solidFill>
              <a:srgbClr val="B8860B"/>
            </a:solidFill>
            <a:prstDash val="solid"/>
          </a:ln>
        </p:spPr>
        <p:txBody>
          <a:bodyPr/>
          <a:lstStyle/>
          <a:p>
            <a:endParaRPr lang="es-US"/>
          </a:p>
        </p:txBody>
      </p:sp>
      <p:sp>
        <p:nvSpPr>
          <p:cNvPr id="12" name="Shape 10"/>
          <p:cNvSpPr/>
          <p:nvPr/>
        </p:nvSpPr>
        <p:spPr>
          <a:xfrm>
            <a:off x="548640" y="5230368"/>
            <a:ext cx="91440" cy="1033272"/>
          </a:xfrm>
          <a:prstGeom prst="rect">
            <a:avLst/>
          </a:prstGeom>
          <a:solidFill>
            <a:srgbClr val="B8860B"/>
          </a:solidFill>
          <a:ln w="12700">
            <a:solidFill>
              <a:srgbClr val="B8860B"/>
            </a:solidFill>
            <a:prstDash val="solid"/>
          </a:ln>
        </p:spPr>
        <p:txBody>
          <a:bodyPr/>
          <a:lstStyle/>
          <a:p>
            <a:endParaRPr lang="es-US"/>
          </a:p>
        </p:txBody>
      </p:sp>
      <p:sp>
        <p:nvSpPr>
          <p:cNvPr id="13" name="Text 11"/>
          <p:cNvSpPr/>
          <p:nvPr/>
        </p:nvSpPr>
        <p:spPr>
          <a:xfrm>
            <a:off x="685800" y="5234940"/>
            <a:ext cx="10817352" cy="274320"/>
          </a:xfrm>
          <a:prstGeom prst="rect">
            <a:avLst/>
          </a:prstGeom>
          <a:noFill/>
          <a:ln/>
        </p:spPr>
        <p:txBody>
          <a:bodyPr wrap="square" rtlCol="0" anchor="ctr"/>
          <a:lstStyle/>
          <a:p>
            <a:pPr marL="0" indent="0">
              <a:buNone/>
            </a:pPr>
            <a:r>
              <a:rPr lang="en-US" sz="1200" b="1" dirty="0">
                <a:solidFill>
                  <a:srgbClr val="B8860B"/>
                </a:solidFill>
                <a:latin typeface="Calibri" pitchFamily="34" charset="0"/>
                <a:ea typeface="Calibri" pitchFamily="34" charset="-122"/>
                <a:cs typeface="Calibri" pitchFamily="34" charset="-120"/>
              </a:rPr>
              <a:t>Versiones minimas requeridas por Angular 22</a:t>
            </a:r>
            <a:endParaRPr lang="en-US" sz="1200" dirty="0"/>
          </a:p>
        </p:txBody>
      </p:sp>
      <p:sp>
        <p:nvSpPr>
          <p:cNvPr id="14" name="Text 12"/>
          <p:cNvSpPr/>
          <p:nvPr/>
        </p:nvSpPr>
        <p:spPr>
          <a:xfrm>
            <a:off x="731520" y="5440680"/>
            <a:ext cx="10817352" cy="768096"/>
          </a:xfrm>
          <a:prstGeom prst="rect">
            <a:avLst/>
          </a:prstGeom>
          <a:noFill/>
          <a:ln/>
        </p:spPr>
        <p:txBody>
          <a:bodyPr wrap="square" rtlCol="0" anchor="t"/>
          <a:lstStyle/>
          <a:p>
            <a:pPr marL="0" indent="0">
              <a:spcAft>
                <a:spcPts val="300"/>
              </a:spcAft>
              <a:buNone/>
            </a:pPr>
            <a:r>
              <a:rPr lang="en-US" sz="1200" dirty="0">
                <a:solidFill>
                  <a:srgbClr val="383A42"/>
                </a:solidFill>
                <a:latin typeface="Calibri" pitchFamily="34" charset="0"/>
                <a:ea typeface="Calibri" pitchFamily="34" charset="-122"/>
                <a:cs typeface="Calibri" pitchFamily="34" charset="-120"/>
              </a:rPr>
              <a:t>Angular 22 soporta oficialmente Node.js ^20.19.0 || ^22.12.0 || ^24.0.0 y npm ^11.0.0. Si el aprendiz instalo por error una version Current impar (25 o 26 en 2026), tambien funciona pero no es LTS y no se recomienda para produccion. Cualquier version inferior a Node 20 hara fallar ng new con un mensaje del tipo 'Node.js version ... is not supported'.</a:t>
            </a:r>
            <a:endParaRPr lang="en-US" sz="1200" dirty="0"/>
          </a:p>
        </p:txBody>
      </p:sp>
      <p:sp>
        <p:nvSpPr>
          <p:cNvPr id="15" name="Shape 13"/>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6" name="Text 14"/>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7" name="Text 15"/>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22 --- 9 / 36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INSTALACION DESDE CERO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Instalar Angular CLI</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777240"/>
          </a:xfrm>
          <a:prstGeom prst="rect">
            <a:avLst/>
          </a:prstGeom>
          <a:noFill/>
          <a:ln/>
        </p:spPr>
        <p:txBody>
          <a:bodyPr wrap="square" rtlCol="0" anchor="t"/>
          <a:lstStyle/>
          <a:p>
            <a:pPr marL="0" indent="0">
              <a:buNone/>
            </a:pPr>
            <a:r>
              <a:rPr lang="en-US" sz="1500" dirty="0">
                <a:solidFill>
                  <a:srgbClr val="383A42"/>
                </a:solidFill>
                <a:latin typeface="Calibri" pitchFamily="34" charset="0"/>
                <a:ea typeface="Calibri" pitchFamily="34" charset="-122"/>
                <a:cs typeface="Calibri" pitchFamily="34" charset="-120"/>
              </a:rPr>
              <a:t>Angular CLI se instala globalmente con npm. Con -g queda accesible como el comando ng en cualquier directorio de la maquina. Para PPA 2026-2027 se fija la version 22, que se corresponde con la version de Angular del curso.</a:t>
            </a:r>
            <a:endParaRPr lang="en-US" sz="1500" dirty="0"/>
          </a:p>
        </p:txBody>
      </p:sp>
      <p:sp>
        <p:nvSpPr>
          <p:cNvPr id="7" name="Shape 5"/>
          <p:cNvSpPr/>
          <p:nvPr/>
        </p:nvSpPr>
        <p:spPr>
          <a:xfrm>
            <a:off x="548640" y="2286000"/>
            <a:ext cx="11091672" cy="1600200"/>
          </a:xfrm>
          <a:prstGeom prst="roundRect">
            <a:avLst>
              <a:gd name="adj" fmla="val 3429"/>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48640" y="2286000"/>
            <a:ext cx="173736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594360" y="230428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10" name="Text 8"/>
          <p:cNvSpPr txBox="1"/>
          <p:nvPr/>
        </p:nvSpPr>
        <p:spPr>
          <a:xfrm>
            <a:off x="640080" y="2633472"/>
            <a:ext cx="10908792" cy="1143001"/>
          </a:xfrm>
          <a:prstGeom prst="rect">
            <a:avLst/>
          </a:prstGeom>
          <a:noFill/>
          <a:ln/>
        </p:spPr>
        <p:txBody>
          <a:bodyPr wrap="square" rtlCol="0" anchor="t"/>
          <a:lstStyle/>
          <a:p>
            <a:pPr marL="0" indent="0">
              <a:buNone/>
            </a:pPr>
            <a:r>
              <a:rPr lang="en-US" sz="1400" i="1" dirty="0">
                <a:solidFill>
                  <a:srgbClr val="717171"/>
                </a:solidFill>
                <a:latin typeface="Courier New" pitchFamily="34" charset="0"/>
                <a:ea typeface="Courier New" pitchFamily="34" charset="-122"/>
                <a:cs typeface="Courier New" pitchFamily="34" charset="-120"/>
              </a:rPr>
              <a:t># Instalacion global de Angular CLI 22
</a:t>
            </a:r>
            <a:r>
              <a:rPr lang="en-US" sz="1400" b="1" dirty="0">
                <a:solidFill>
                  <a:srgbClr val="0057AE"/>
                </a:solidFill>
                <a:latin typeface="Courier New" pitchFamily="34" charset="0"/>
                <a:ea typeface="Courier New" pitchFamily="34" charset="-122"/>
                <a:cs typeface="Courier New" pitchFamily="34" charset="-120"/>
              </a:rPr>
              <a:t>npm</a:t>
            </a: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install</a:t>
            </a: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g</a:t>
            </a:r>
            <a:r>
              <a:rPr lang="en-US" sz="1400" dirty="0">
                <a:solidFill>
                  <a:srgbClr val="383A42"/>
                </a:solidFill>
                <a:latin typeface="Courier New" pitchFamily="34" charset="0"/>
                <a:ea typeface="Courier New" pitchFamily="34" charset="-122"/>
                <a:cs typeface="Courier New" pitchFamily="34" charset="-120"/>
              </a:rPr>
              <a:t> @angular/cli@22</a:t>
            </a:r>
            <a:r>
              <a:rPr lang="en-US" sz="1400" dirty="0">
                <a:solidFill>
                  <a:srgbClr val="000000"/>
                </a:solidFill>
              </a:rPr>
              <a:t>
</a:t>
            </a:r>
            <a:endParaRPr lang="en-US" sz="1400" dirty="0"/>
          </a:p>
          <a:p>
            <a:pPr marL="0" indent="0">
              <a:buNone/>
            </a:pPr>
            <a:r>
              <a:rPr lang="en-US" sz="1400" i="1" dirty="0">
                <a:solidFill>
                  <a:srgbClr val="717171"/>
                </a:solidFill>
                <a:latin typeface="Courier New" pitchFamily="34" charset="0"/>
                <a:ea typeface="Courier New" pitchFamily="34" charset="-122"/>
                <a:cs typeface="Courier New" pitchFamily="34" charset="-120"/>
              </a:rPr>
              <a:t># Verificacion
</a:t>
            </a:r>
            <a:r>
              <a:rPr lang="en-US" sz="1400" b="1" dirty="0">
                <a:solidFill>
                  <a:srgbClr val="0057AE"/>
                </a:solidFill>
                <a:latin typeface="Courier New" pitchFamily="34" charset="0"/>
                <a:ea typeface="Courier New" pitchFamily="34" charset="-122"/>
                <a:cs typeface="Courier New" pitchFamily="34" charset="-120"/>
              </a:rPr>
              <a:t>ng</a:t>
            </a: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version</a:t>
            </a:r>
            <a:r>
              <a:rPr lang="en-US" sz="1400" dirty="0">
                <a:solidFill>
                  <a:srgbClr val="000000"/>
                </a:solidFill>
              </a:rPr>
              <a:t>
</a:t>
            </a:r>
            <a:endParaRPr lang="en-US" sz="1400" dirty="0"/>
          </a:p>
        </p:txBody>
      </p:sp>
      <p:sp>
        <p:nvSpPr>
          <p:cNvPr id="11" name="Text 9"/>
          <p:cNvSpPr/>
          <p:nvPr/>
        </p:nvSpPr>
        <p:spPr>
          <a:xfrm>
            <a:off x="548640" y="4114800"/>
            <a:ext cx="11091672" cy="822960"/>
          </a:xfrm>
          <a:prstGeom prst="rect">
            <a:avLst/>
          </a:prstGeom>
          <a:noFill/>
          <a:ln/>
        </p:spPr>
        <p:txBody>
          <a:bodyPr wrap="square" rtlCol="0" anchor="t"/>
          <a:lstStyle/>
          <a:p>
            <a:pPr marL="0" indent="0">
              <a:buNone/>
            </a:pPr>
            <a:r>
              <a:rPr lang="en-US" sz="1300" dirty="0">
                <a:solidFill>
                  <a:srgbClr val="383A42"/>
                </a:solidFill>
                <a:latin typeface="Calibri" pitchFamily="34" charset="0"/>
                <a:ea typeface="Calibri" pitchFamily="34" charset="-122"/>
                <a:cs typeface="Calibri" pitchFamily="34" charset="-120"/>
              </a:rPr>
              <a:t>La salida esperada de ng version es una tabla ASCII con el logo de Angular y las versiones de CLI, compilador, RxJS, TypeScript y Node. Si ng version devuelve un error de politica de ejecucion en PowerShell, el aprendiz debe habilitar los scripts con:</a:t>
            </a:r>
            <a:endParaRPr lang="en-US" sz="1300" dirty="0"/>
          </a:p>
        </p:txBody>
      </p:sp>
      <p:sp>
        <p:nvSpPr>
          <p:cNvPr id="12" name="Shape 10"/>
          <p:cNvSpPr/>
          <p:nvPr/>
        </p:nvSpPr>
        <p:spPr>
          <a:xfrm>
            <a:off x="548640" y="5029200"/>
            <a:ext cx="11091672" cy="1188720"/>
          </a:xfrm>
          <a:prstGeom prst="roundRect">
            <a:avLst>
              <a:gd name="adj" fmla="val 4615"/>
            </a:avLst>
          </a:prstGeom>
          <a:solidFill>
            <a:srgbClr val="F5F6F5"/>
          </a:solidFill>
          <a:ln w="9525">
            <a:solidFill>
              <a:srgbClr val="006633"/>
            </a:solidFill>
            <a:prstDash val="solid"/>
          </a:ln>
        </p:spPr>
        <p:txBody>
          <a:bodyPr/>
          <a:lstStyle/>
          <a:p>
            <a:endParaRPr lang="es-US"/>
          </a:p>
        </p:txBody>
      </p:sp>
      <p:sp>
        <p:nvSpPr>
          <p:cNvPr id="13" name="Shape 11"/>
          <p:cNvSpPr/>
          <p:nvPr/>
        </p:nvSpPr>
        <p:spPr>
          <a:xfrm>
            <a:off x="548640" y="5029200"/>
            <a:ext cx="1737360" cy="274320"/>
          </a:xfrm>
          <a:prstGeom prst="rect">
            <a:avLst/>
          </a:prstGeom>
          <a:solidFill>
            <a:srgbClr val="006633"/>
          </a:solidFill>
          <a:ln w="12700">
            <a:solidFill>
              <a:srgbClr val="006633"/>
            </a:solidFill>
            <a:prstDash val="solid"/>
          </a:ln>
        </p:spPr>
        <p:txBody>
          <a:bodyPr/>
          <a:lstStyle/>
          <a:p>
            <a:endParaRPr lang="es-US"/>
          </a:p>
        </p:txBody>
      </p:sp>
      <p:sp>
        <p:nvSpPr>
          <p:cNvPr id="14" name="Text 12"/>
          <p:cNvSpPr/>
          <p:nvPr/>
        </p:nvSpPr>
        <p:spPr>
          <a:xfrm>
            <a:off x="594360" y="504748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powershell</a:t>
            </a:r>
            <a:endParaRPr lang="en-US" sz="1000" dirty="0"/>
          </a:p>
        </p:txBody>
      </p:sp>
      <p:sp>
        <p:nvSpPr>
          <p:cNvPr id="15" name="Text 13"/>
          <p:cNvSpPr txBox="1"/>
          <p:nvPr/>
        </p:nvSpPr>
        <p:spPr>
          <a:xfrm>
            <a:off x="640080" y="5376672"/>
            <a:ext cx="10908792" cy="749808"/>
          </a:xfrm>
          <a:prstGeom prst="rect">
            <a:avLst/>
          </a:prstGeom>
          <a:noFill/>
          <a:ln/>
        </p:spPr>
        <p:txBody>
          <a:bodyPr wrap="square" rtlCol="0" anchor="t"/>
          <a:lstStyle/>
          <a:p>
            <a:pPr marL="0" indent="0">
              <a:buNone/>
            </a:pPr>
            <a:r>
              <a:rPr lang="en-US" sz="1300" i="1" dirty="0">
                <a:solidFill>
                  <a:srgbClr val="717171"/>
                </a:solidFill>
                <a:latin typeface="Courier New" pitchFamily="34" charset="0"/>
                <a:ea typeface="Courier New" pitchFamily="34" charset="-122"/>
                <a:cs typeface="Courier New" pitchFamily="34" charset="-120"/>
              </a:rPr>
              <a:t># PowerShell: permitir ejecucion de scripts firmados para el usuario actual
</a:t>
            </a:r>
            <a:r>
              <a:rPr lang="en-US" sz="1300" dirty="0">
                <a:solidFill>
                  <a:srgbClr val="383A42"/>
                </a:solidFill>
                <a:latin typeface="Courier New" pitchFamily="34" charset="0"/>
                <a:ea typeface="Courier New" pitchFamily="34" charset="-122"/>
                <a:cs typeface="Courier New" pitchFamily="34" charset="-120"/>
              </a:rPr>
              <a:t>Set-ExecutionPolicy -Scope CurrentUser -ExecutionPolicy RemoteSigned</a:t>
            </a:r>
            <a:r>
              <a:rPr lang="en-US" sz="1300" dirty="0">
                <a:solidFill>
                  <a:srgbClr val="000000"/>
                </a:solidFill>
              </a:rPr>
              <a:t>
</a:t>
            </a:r>
            <a:endParaRPr lang="en-US" sz="1300" dirty="0"/>
          </a:p>
        </p:txBody>
      </p:sp>
      <p:sp>
        <p:nvSpPr>
          <p:cNvPr id="16" name="Shape 14"/>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7" name="Text 15"/>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8" name="Text 16"/>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22 --- 10 / 36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INSTALACION DESDE CERO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Instalar IntelliJ IDEA Ultimate</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63040"/>
            <a:ext cx="11109960" cy="4846320"/>
          </a:xfrm>
          <a:prstGeom prst="rect">
            <a:avLst/>
          </a:prstGeom>
          <a:noFill/>
          <a:ln/>
        </p:spPr>
        <p:txBody>
          <a:bodyPr wrap="square" rtlCol="0" anchor="t"/>
          <a:lstStyle/>
          <a:p>
            <a:pPr marL="342900" indent="-342900">
              <a:spcAft>
                <a:spcPts val="800"/>
              </a:spcAft>
              <a:buSzPct val="100000"/>
              <a:buChar char="■"/>
            </a:pPr>
            <a:r>
              <a:rPr lang="en-US" sz="1500" dirty="0">
                <a:solidFill>
                  <a:srgbClr val="383A42"/>
                </a:solidFill>
                <a:latin typeface="Calibri" pitchFamily="34" charset="0"/>
                <a:ea typeface="Calibri" pitchFamily="34" charset="-122"/>
                <a:cs typeface="Calibri" pitchFamily="34" charset="-120"/>
              </a:rPr>
              <a:t>Descargar el instalador de la pagina jetbrains.com/idea (opcion Ultimate).</a:t>
            </a:r>
            <a:endParaRPr lang="en-US" sz="1500" dirty="0"/>
          </a:p>
          <a:p>
            <a:pPr marL="342900" indent="-342900">
              <a:spcAft>
                <a:spcPts val="800"/>
              </a:spcAft>
              <a:buSzPct val="100000"/>
              <a:buChar char="■"/>
            </a:pPr>
            <a:r>
              <a:rPr lang="en-US" sz="1500" dirty="0">
                <a:solidFill>
                  <a:srgbClr val="383A42"/>
                </a:solidFill>
                <a:latin typeface="Calibri" pitchFamily="34" charset="0"/>
                <a:ea typeface="Calibri" pitchFamily="34" charset="-122"/>
                <a:cs typeface="Calibri" pitchFamily="34" charset="-120"/>
              </a:rPr>
              <a:t>Iniciar sesion con la cuenta de estudiante (correo institucional @uteq.edu.ec) para activar la licencia academica gratuita.</a:t>
            </a:r>
            <a:endParaRPr lang="en-US" sz="1500" dirty="0"/>
          </a:p>
          <a:p>
            <a:pPr marL="342900" indent="-342900">
              <a:spcAft>
                <a:spcPts val="800"/>
              </a:spcAft>
              <a:buSzPct val="100000"/>
              <a:buChar char="■"/>
            </a:pPr>
            <a:r>
              <a:rPr lang="en-US" sz="1500" dirty="0">
                <a:solidFill>
                  <a:srgbClr val="383A42"/>
                </a:solidFill>
                <a:latin typeface="Calibri" pitchFamily="34" charset="0"/>
                <a:ea typeface="Calibri" pitchFamily="34" charset="-122"/>
                <a:cs typeface="Calibri" pitchFamily="34" charset="-120"/>
              </a:rPr>
              <a:t>Al primer arranque, asegurarse de que los plugins Angular and AngularJS, JavaScript and TypeScript, y Node.js esten habilitados (File &gt; Settings &gt; Plugins).</a:t>
            </a:r>
            <a:endParaRPr lang="en-US" sz="1500" dirty="0"/>
          </a:p>
          <a:p>
            <a:pPr marL="342900" indent="-342900">
              <a:spcAft>
                <a:spcPts val="800"/>
              </a:spcAft>
              <a:buSzPct val="100000"/>
              <a:buChar char="■"/>
            </a:pPr>
            <a:r>
              <a:rPr lang="en-US" sz="1500" dirty="0">
                <a:solidFill>
                  <a:srgbClr val="383A42"/>
                </a:solidFill>
                <a:latin typeface="Calibri" pitchFamily="34" charset="0"/>
                <a:ea typeface="Calibri" pitchFamily="34" charset="-122"/>
                <a:cs typeface="Calibri" pitchFamily="34" charset="-120"/>
              </a:rPr>
              <a:t>Configurar el SDK de Node.js (File &gt; Settings &gt; Languages and Frameworks &gt; Node.js) apuntando al binario recien instalado.</a:t>
            </a:r>
            <a:endParaRPr lang="en-US" sz="1500" dirty="0"/>
          </a:p>
          <a:p>
            <a:pPr marL="342900" indent="-342900">
              <a:spcAft>
                <a:spcPts val="800"/>
              </a:spcAft>
              <a:buSzPct val="100000"/>
              <a:buChar char="■"/>
            </a:pPr>
            <a:r>
              <a:rPr lang="en-US" sz="1500" dirty="0">
                <a:solidFill>
                  <a:srgbClr val="383A42"/>
                </a:solidFill>
                <a:latin typeface="Calibri" pitchFamily="34" charset="0"/>
                <a:ea typeface="Calibri" pitchFamily="34" charset="-122"/>
                <a:cs typeface="Calibri" pitchFamily="34" charset="-120"/>
              </a:rPr>
              <a:t>Configurar el JDK de Java 21 para el backend Spring Boot (File &gt; Project Structure &gt; SDKs).</a:t>
            </a:r>
            <a:endParaRPr lang="en-US" sz="1500" dirty="0"/>
          </a:p>
        </p:txBody>
      </p:sp>
      <p:sp>
        <p:nvSpPr>
          <p:cNvPr id="7" name="Shape 5"/>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9" name="Text 7"/>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22 --- 11 / 36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PRIMER PROYECTO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Crear el proyecto biblioteq-front</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777240"/>
          </a:xfrm>
          <a:prstGeom prst="rect">
            <a:avLst/>
          </a:prstGeom>
          <a:noFill/>
          <a:ln/>
        </p:spPr>
        <p:txBody>
          <a:bodyPr wrap="square" rtlCol="0" anchor="t"/>
          <a:lstStyle/>
          <a:p>
            <a:pPr marL="0" indent="0">
              <a:buNone/>
            </a:pPr>
            <a:r>
              <a:rPr lang="en-US" sz="1500" dirty="0">
                <a:solidFill>
                  <a:srgbClr val="383A42"/>
                </a:solidFill>
                <a:latin typeface="Calibri" pitchFamily="34" charset="0"/>
                <a:ea typeface="Calibri" pitchFamily="34" charset="-122"/>
                <a:cs typeface="Calibri" pitchFamily="34" charset="-120"/>
              </a:rPr>
              <a:t>Con Node y Angular CLI instalados, el aprendiz crea el proyecto frontend del monorepo BiblioUTEQ con un solo comando. La CLI hace todo el andamiaje: genera archivos, instala dependencias y deja el proyecto listo para ejecutarse.</a:t>
            </a:r>
            <a:endParaRPr lang="en-US" sz="1500" dirty="0"/>
          </a:p>
        </p:txBody>
      </p:sp>
      <p:sp>
        <p:nvSpPr>
          <p:cNvPr id="7" name="Shape 5"/>
          <p:cNvSpPr/>
          <p:nvPr/>
        </p:nvSpPr>
        <p:spPr>
          <a:xfrm>
            <a:off x="548640" y="2286000"/>
            <a:ext cx="11091672" cy="2807208"/>
          </a:xfrm>
          <a:prstGeom prst="roundRect">
            <a:avLst>
              <a:gd name="adj" fmla="val 2400"/>
            </a:avLst>
          </a:prstGeom>
          <a:solidFill>
            <a:srgbClr val="F5F6F5"/>
          </a:solidFill>
          <a:ln w="9525">
            <a:solidFill>
              <a:srgbClr val="006633"/>
            </a:solidFill>
            <a:prstDash val="solid"/>
          </a:ln>
        </p:spPr>
        <p:txBody>
          <a:bodyPr/>
          <a:lstStyle/>
          <a:p>
            <a:endParaRPr lang="es-US" dirty="0"/>
          </a:p>
        </p:txBody>
      </p:sp>
      <p:sp>
        <p:nvSpPr>
          <p:cNvPr id="8" name="Shape 6"/>
          <p:cNvSpPr/>
          <p:nvPr/>
        </p:nvSpPr>
        <p:spPr>
          <a:xfrm>
            <a:off x="548640" y="2286000"/>
            <a:ext cx="173736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594360" y="230428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10" name="Text 8"/>
          <p:cNvSpPr txBox="1"/>
          <p:nvPr/>
        </p:nvSpPr>
        <p:spPr>
          <a:xfrm>
            <a:off x="640080" y="2633472"/>
            <a:ext cx="10908792" cy="2459736"/>
          </a:xfrm>
          <a:prstGeom prst="rect">
            <a:avLst/>
          </a:prstGeom>
          <a:noFill/>
          <a:ln/>
        </p:spPr>
        <p:txBody>
          <a:bodyPr wrap="square" rtlCol="0" anchor="t"/>
          <a:lstStyle/>
          <a:p>
            <a:pPr marL="0" indent="0">
              <a:buNone/>
            </a:pPr>
            <a:r>
              <a:rPr lang="en-US" sz="1300" i="1" dirty="0">
                <a:solidFill>
                  <a:srgbClr val="717171"/>
                </a:solidFill>
                <a:latin typeface="Courier New" pitchFamily="34" charset="0"/>
                <a:ea typeface="Courier New" pitchFamily="34" charset="-122"/>
                <a:cs typeface="Courier New" pitchFamily="34" charset="-120"/>
              </a:rPr>
              <a:t># Situarse en la raiz del monorepo
</a:t>
            </a:r>
            <a:r>
              <a:rPr lang="en-US" sz="1300" b="1" dirty="0">
                <a:solidFill>
                  <a:srgbClr val="0057AE"/>
                </a:solidFill>
                <a:latin typeface="Courier New" pitchFamily="34" charset="0"/>
                <a:ea typeface="Courier New" pitchFamily="34" charset="-122"/>
                <a:cs typeface="Courier New" pitchFamily="34" charset="-120"/>
              </a:rPr>
              <a:t>cd</a:t>
            </a:r>
            <a:r>
              <a:rPr lang="en-US" sz="1300" dirty="0">
                <a:solidFill>
                  <a:srgbClr val="383A42"/>
                </a:solidFill>
                <a:latin typeface="Courier New" pitchFamily="34" charset="0"/>
                <a:ea typeface="Courier New" pitchFamily="34" charset="-122"/>
                <a:cs typeface="Courier New" pitchFamily="34" charset="-120"/>
              </a:rPr>
              <a:t> </a:t>
            </a:r>
            <a:r>
              <a:rPr lang="en-US" sz="1300" dirty="0" err="1">
                <a:solidFill>
                  <a:srgbClr val="383A42"/>
                </a:solidFill>
                <a:latin typeface="Courier New" pitchFamily="34" charset="0"/>
                <a:ea typeface="Courier New" pitchFamily="34" charset="-122"/>
                <a:cs typeface="Courier New" pitchFamily="34" charset="-120"/>
              </a:rPr>
              <a:t>biblioteq</a:t>
            </a:r>
            <a:r>
              <a:rPr lang="en-US" sz="1300" dirty="0">
                <a:solidFill>
                  <a:srgbClr val="383A42"/>
                </a:solidFill>
                <a:latin typeface="Courier New" pitchFamily="34" charset="0"/>
                <a:ea typeface="Courier New" pitchFamily="34" charset="-122"/>
                <a:cs typeface="Courier New" pitchFamily="34" charset="-120"/>
              </a:rPr>
              <a:t>/</a:t>
            </a:r>
          </a:p>
          <a:p>
            <a:pPr marL="0" indent="0">
              <a:buNone/>
            </a:pPr>
            <a:r>
              <a:rPr lang="en-US" sz="1300" dirty="0">
                <a:solidFill>
                  <a:srgbClr val="000000"/>
                </a:solidFill>
              </a:rPr>
              <a:t>
</a:t>
            </a:r>
            <a:r>
              <a:rPr lang="en-US" sz="1300" i="1" dirty="0">
                <a:solidFill>
                  <a:srgbClr val="717171"/>
                </a:solidFill>
                <a:latin typeface="Courier New" pitchFamily="34" charset="0"/>
                <a:ea typeface="Courier New" pitchFamily="34" charset="-122"/>
                <a:cs typeface="Courier New" pitchFamily="34" charset="-120"/>
              </a:rPr>
              <a:t># Crear el proyecto frontend con la CLI
</a:t>
            </a:r>
            <a:r>
              <a:rPr lang="en-US" sz="1300" b="1" dirty="0">
                <a:solidFill>
                  <a:srgbClr val="0057AE"/>
                </a:solidFill>
                <a:latin typeface="Courier New" pitchFamily="34" charset="0"/>
                <a:ea typeface="Courier New" pitchFamily="34" charset="-122"/>
                <a:cs typeface="Courier New" pitchFamily="34" charset="-120"/>
              </a:rPr>
              <a:t>ng</a:t>
            </a:r>
            <a:r>
              <a:rPr lang="en-US" sz="1300" dirty="0">
                <a:solidFill>
                  <a:srgbClr val="383A42"/>
                </a:solidFill>
                <a:latin typeface="Courier New" pitchFamily="34" charset="0"/>
                <a:ea typeface="Courier New" pitchFamily="34" charset="-122"/>
                <a:cs typeface="Courier New" pitchFamily="34" charset="-120"/>
              </a:rPr>
              <a:t> </a:t>
            </a:r>
            <a:r>
              <a:rPr lang="en-US" sz="1300" b="1" dirty="0">
                <a:solidFill>
                  <a:srgbClr val="0057AE"/>
                </a:solidFill>
                <a:latin typeface="Courier New" pitchFamily="34" charset="0"/>
                <a:ea typeface="Courier New" pitchFamily="34" charset="-122"/>
                <a:cs typeface="Courier New" pitchFamily="34" charset="-120"/>
              </a:rPr>
              <a:t>new</a:t>
            </a:r>
            <a:r>
              <a:rPr lang="en-US" sz="1300" dirty="0">
                <a:solidFill>
                  <a:srgbClr val="383A42"/>
                </a:solidFill>
                <a:latin typeface="Courier New" pitchFamily="34" charset="0"/>
                <a:ea typeface="Courier New" pitchFamily="34" charset="-122"/>
                <a:cs typeface="Courier New" pitchFamily="34" charset="-120"/>
              </a:rPr>
              <a:t> frontend --style=css --routing=true --ssr=false --skip-</a:t>
            </a:r>
            <a:r>
              <a:rPr lang="en-US" sz="1300" b="1" dirty="0">
                <a:solidFill>
                  <a:srgbClr val="0057AE"/>
                </a:solidFill>
                <a:latin typeface="Courier New" pitchFamily="34" charset="0"/>
                <a:ea typeface="Courier New" pitchFamily="34" charset="-122"/>
                <a:cs typeface="Courier New" pitchFamily="34" charset="-120"/>
              </a:rPr>
              <a:t>git</a:t>
            </a:r>
            <a:r>
              <a:rPr lang="en-US" sz="1300" dirty="0">
                <a:solidFill>
                  <a:srgbClr val="383A42"/>
                </a:solidFill>
                <a:latin typeface="Courier New" pitchFamily="34" charset="0"/>
                <a:ea typeface="Courier New" pitchFamily="34" charset="-122"/>
                <a:cs typeface="Courier New" pitchFamily="34" charset="-120"/>
              </a:rPr>
              <a:t>=true</a:t>
            </a:r>
          </a:p>
          <a:p>
            <a:pPr marL="0" indent="0">
              <a:buNone/>
            </a:pPr>
            <a:r>
              <a:rPr lang="en-US" sz="1300" dirty="0">
                <a:solidFill>
                  <a:srgbClr val="000000"/>
                </a:solidFill>
              </a:rPr>
              <a:t>
</a:t>
            </a:r>
            <a:r>
              <a:rPr lang="en-US" sz="1300" i="1" dirty="0">
                <a:solidFill>
                  <a:srgbClr val="717171"/>
                </a:solidFill>
                <a:latin typeface="Courier New" pitchFamily="34" charset="0"/>
                <a:ea typeface="Courier New" pitchFamily="34" charset="-122"/>
                <a:cs typeface="Courier New" pitchFamily="34" charset="-120"/>
              </a:rPr>
              <a:t># Ingresar al proyecto e instalar dependencias
</a:t>
            </a:r>
            <a:r>
              <a:rPr lang="en-US" sz="1300" b="1" dirty="0">
                <a:solidFill>
                  <a:srgbClr val="0057AE"/>
                </a:solidFill>
                <a:latin typeface="Courier New" pitchFamily="34" charset="0"/>
                <a:ea typeface="Courier New" pitchFamily="34" charset="-122"/>
                <a:cs typeface="Courier New" pitchFamily="34" charset="-120"/>
              </a:rPr>
              <a:t>cd</a:t>
            </a:r>
            <a:r>
              <a:rPr lang="en-US" sz="1300" dirty="0">
                <a:solidFill>
                  <a:srgbClr val="383A42"/>
                </a:solidFill>
                <a:latin typeface="Courier New" pitchFamily="34" charset="0"/>
                <a:ea typeface="Courier New" pitchFamily="34" charset="-122"/>
                <a:cs typeface="Courier New" pitchFamily="34" charset="-120"/>
              </a:rPr>
              <a:t> frontend</a:t>
            </a:r>
            <a:r>
              <a:rPr lang="en-US" sz="1300" dirty="0">
                <a:solidFill>
                  <a:srgbClr val="000000"/>
                </a:solidFill>
              </a:rPr>
              <a:t>
</a:t>
            </a:r>
            <a:endParaRPr lang="en-US" sz="1300" dirty="0"/>
          </a:p>
          <a:p>
            <a:pPr marL="0" indent="0">
              <a:buNone/>
            </a:pPr>
            <a:r>
              <a:rPr lang="en-US" sz="1300" b="1" dirty="0">
                <a:solidFill>
                  <a:srgbClr val="0057AE"/>
                </a:solidFill>
                <a:latin typeface="Courier New" pitchFamily="34" charset="0"/>
                <a:ea typeface="Courier New" pitchFamily="34" charset="-122"/>
                <a:cs typeface="Courier New" pitchFamily="34" charset="-120"/>
              </a:rPr>
              <a:t>npm</a:t>
            </a:r>
            <a:r>
              <a:rPr lang="en-US" sz="1300" dirty="0">
                <a:solidFill>
                  <a:srgbClr val="383A42"/>
                </a:solidFill>
                <a:latin typeface="Courier New" pitchFamily="34" charset="0"/>
                <a:ea typeface="Courier New" pitchFamily="34" charset="-122"/>
                <a:cs typeface="Courier New" pitchFamily="34" charset="-120"/>
              </a:rPr>
              <a:t> </a:t>
            </a:r>
            <a:r>
              <a:rPr lang="en-US" sz="1300" b="1" dirty="0">
                <a:solidFill>
                  <a:srgbClr val="0057AE"/>
                </a:solidFill>
                <a:latin typeface="Courier New" pitchFamily="34" charset="0"/>
                <a:ea typeface="Courier New" pitchFamily="34" charset="-122"/>
                <a:cs typeface="Courier New" pitchFamily="34" charset="-120"/>
              </a:rPr>
              <a:t>install</a:t>
            </a:r>
            <a:r>
              <a:rPr lang="en-US" sz="1300" dirty="0">
                <a:solidFill>
                  <a:srgbClr val="000000"/>
                </a:solidFill>
              </a:rPr>
              <a:t>
</a:t>
            </a:r>
            <a:endParaRPr lang="en-US" sz="1300" dirty="0"/>
          </a:p>
        </p:txBody>
      </p:sp>
      <p:sp>
        <p:nvSpPr>
          <p:cNvPr id="11" name="Shape 9"/>
          <p:cNvSpPr/>
          <p:nvPr/>
        </p:nvSpPr>
        <p:spPr>
          <a:xfrm>
            <a:off x="548640" y="5404104"/>
            <a:ext cx="11091672" cy="813816"/>
          </a:xfrm>
          <a:prstGeom prst="roundRect">
            <a:avLst>
              <a:gd name="adj" fmla="val 5161"/>
            </a:avLst>
          </a:prstGeom>
          <a:solidFill>
            <a:srgbClr val="FBF0D8"/>
          </a:solidFill>
          <a:ln w="12700">
            <a:solidFill>
              <a:srgbClr val="B8860B"/>
            </a:solidFill>
            <a:prstDash val="solid"/>
          </a:ln>
        </p:spPr>
        <p:txBody>
          <a:bodyPr/>
          <a:lstStyle/>
          <a:p>
            <a:endParaRPr lang="es-US"/>
          </a:p>
        </p:txBody>
      </p:sp>
      <p:sp>
        <p:nvSpPr>
          <p:cNvPr id="12" name="Shape 10"/>
          <p:cNvSpPr/>
          <p:nvPr/>
        </p:nvSpPr>
        <p:spPr>
          <a:xfrm>
            <a:off x="548640" y="5404104"/>
            <a:ext cx="91440" cy="813816"/>
          </a:xfrm>
          <a:prstGeom prst="rect">
            <a:avLst/>
          </a:prstGeom>
          <a:solidFill>
            <a:srgbClr val="B8860B"/>
          </a:solidFill>
          <a:ln w="12700">
            <a:solidFill>
              <a:srgbClr val="B8860B"/>
            </a:solidFill>
            <a:prstDash val="solid"/>
          </a:ln>
        </p:spPr>
        <p:txBody>
          <a:bodyPr/>
          <a:lstStyle/>
          <a:p>
            <a:endParaRPr lang="es-US"/>
          </a:p>
        </p:txBody>
      </p:sp>
      <p:sp>
        <p:nvSpPr>
          <p:cNvPr id="13" name="Text 11"/>
          <p:cNvSpPr/>
          <p:nvPr/>
        </p:nvSpPr>
        <p:spPr>
          <a:xfrm>
            <a:off x="777240" y="5413248"/>
            <a:ext cx="10817352" cy="274320"/>
          </a:xfrm>
          <a:prstGeom prst="rect">
            <a:avLst/>
          </a:prstGeom>
          <a:noFill/>
          <a:ln/>
        </p:spPr>
        <p:txBody>
          <a:bodyPr wrap="square" rtlCol="0" anchor="ctr"/>
          <a:lstStyle/>
          <a:p>
            <a:pPr marL="0" indent="0">
              <a:buNone/>
            </a:pPr>
            <a:r>
              <a:rPr lang="en-US" sz="1200" b="1" dirty="0">
                <a:solidFill>
                  <a:srgbClr val="B8860B"/>
                </a:solidFill>
                <a:latin typeface="Calibri" pitchFamily="34" charset="0"/>
                <a:ea typeface="Calibri" pitchFamily="34" charset="-122"/>
                <a:cs typeface="Calibri" pitchFamily="34" charset="-120"/>
              </a:rPr>
              <a:t>Explicacion de los banderines de ng new</a:t>
            </a:r>
            <a:endParaRPr lang="en-US" sz="1200" dirty="0"/>
          </a:p>
        </p:txBody>
      </p:sp>
      <p:sp>
        <p:nvSpPr>
          <p:cNvPr id="14" name="Text 12"/>
          <p:cNvSpPr/>
          <p:nvPr/>
        </p:nvSpPr>
        <p:spPr>
          <a:xfrm>
            <a:off x="731520" y="5687568"/>
            <a:ext cx="10817352" cy="475488"/>
          </a:xfrm>
          <a:prstGeom prst="rect">
            <a:avLst/>
          </a:prstGeom>
          <a:noFill/>
          <a:ln/>
        </p:spPr>
        <p:txBody>
          <a:bodyPr wrap="square" rtlCol="0" anchor="t"/>
          <a:lstStyle/>
          <a:p>
            <a:pPr marL="0" indent="0">
              <a:spcAft>
                <a:spcPts val="300"/>
              </a:spcAft>
              <a:buNone/>
            </a:pPr>
            <a:r>
              <a:rPr lang="en-US" sz="1200" dirty="0">
                <a:solidFill>
                  <a:srgbClr val="383A42"/>
                </a:solidFill>
                <a:latin typeface="Calibri" pitchFamily="34" charset="0"/>
                <a:ea typeface="Calibri" pitchFamily="34" charset="-122"/>
                <a:cs typeface="Calibri" pitchFamily="34" charset="-120"/>
              </a:rPr>
              <a:t>--style=css usa CSS puro (no SCSS) coherente con la Unidad I. --routing=true crea el Router configurado. --ssr=false omite Server-Side Rendering (se cubre en Unidad IV avanzada). --skip-git=true evita crear un repositorio Git dentro del monorepo que ya tiene su propio Git en la raiz.</a:t>
            </a:r>
            <a:endParaRPr lang="en-US" sz="1200" dirty="0"/>
          </a:p>
        </p:txBody>
      </p:sp>
      <p:sp>
        <p:nvSpPr>
          <p:cNvPr id="15" name="Shape 13"/>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6" name="Text 14"/>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7" name="Text 15"/>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22 --- 12 / 36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PRIMER PROYECTO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Estructura del proyecto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21208" y="1353313"/>
            <a:ext cx="11091672" cy="457200"/>
          </a:xfrm>
          <a:prstGeom prst="rect">
            <a:avLst/>
          </a:prstGeom>
          <a:noFill/>
          <a:ln/>
        </p:spPr>
        <p:txBody>
          <a:bodyPr wrap="square" rtlCol="0" anchor="t"/>
          <a:lstStyle/>
          <a:p>
            <a:pPr marL="0" indent="0">
              <a:buNone/>
            </a:pPr>
            <a:r>
              <a:rPr lang="en-US" dirty="0">
                <a:solidFill>
                  <a:srgbClr val="383A42"/>
                </a:solidFill>
                <a:latin typeface="Calibri" pitchFamily="34" charset="0"/>
                <a:ea typeface="Calibri" pitchFamily="34" charset="-122"/>
                <a:cs typeface="Calibri" pitchFamily="34" charset="-120"/>
              </a:rPr>
              <a:t>La CLI genera una estructura estandar que sigue las convenciones del equipo de Angular. Cada carpeta y cada archivo tiene un rol claro.</a:t>
            </a:r>
            <a:endParaRPr lang="en-US" dirty="0"/>
          </a:p>
        </p:txBody>
      </p:sp>
      <p:sp>
        <p:nvSpPr>
          <p:cNvPr id="7" name="Shape 5"/>
          <p:cNvSpPr/>
          <p:nvPr/>
        </p:nvSpPr>
        <p:spPr>
          <a:xfrm>
            <a:off x="548640" y="2011680"/>
            <a:ext cx="6035040" cy="4343400"/>
          </a:xfrm>
          <a:prstGeom prst="roundRect">
            <a:avLst>
              <a:gd name="adj" fmla="val 1263"/>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48640" y="2011680"/>
            <a:ext cx="1737360" cy="274320"/>
          </a:xfrm>
          <a:prstGeom prst="rect">
            <a:avLst/>
          </a:prstGeom>
          <a:solidFill>
            <a:srgbClr val="006633"/>
          </a:solidFill>
          <a:ln w="12700">
            <a:solidFill>
              <a:srgbClr val="006633"/>
            </a:solidFill>
            <a:prstDash val="solid"/>
          </a:ln>
        </p:spPr>
        <p:txBody>
          <a:bodyPr/>
          <a:lstStyle/>
          <a:p>
            <a:endParaRPr lang="es-US" sz="2400"/>
          </a:p>
        </p:txBody>
      </p:sp>
      <p:sp>
        <p:nvSpPr>
          <p:cNvPr id="9" name="Text 7"/>
          <p:cNvSpPr/>
          <p:nvPr/>
        </p:nvSpPr>
        <p:spPr>
          <a:xfrm>
            <a:off x="594360" y="2029968"/>
            <a:ext cx="1691640" cy="23774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tree</a:t>
            </a:r>
            <a:endParaRPr lang="en-US" sz="1100" dirty="0"/>
          </a:p>
        </p:txBody>
      </p:sp>
      <p:sp>
        <p:nvSpPr>
          <p:cNvPr id="10" name="Text 8"/>
          <p:cNvSpPr txBox="1"/>
          <p:nvPr/>
        </p:nvSpPr>
        <p:spPr>
          <a:xfrm>
            <a:off x="570882" y="2423160"/>
            <a:ext cx="5852160" cy="3376749"/>
          </a:xfrm>
          <a:prstGeom prst="rect">
            <a:avLst/>
          </a:prstGeom>
          <a:noFill/>
          <a:ln/>
        </p:spPr>
        <p:txBody>
          <a:bodyPr wrap="square" rtlCol="0" anchor="t"/>
          <a:lstStyle/>
          <a:p>
            <a:pPr marL="0" indent="0">
              <a:buNone/>
            </a:pPr>
            <a:r>
              <a:rPr lang="en-US" sz="1400" dirty="0">
                <a:solidFill>
                  <a:srgbClr val="383A42"/>
                </a:solidFill>
                <a:latin typeface="Courier New" pitchFamily="34" charset="0"/>
                <a:ea typeface="Courier New" pitchFamily="34" charset="-122"/>
                <a:cs typeface="Courier New" pitchFamily="34" charset="-120"/>
              </a:rPr>
              <a:t>frontend/</a:t>
            </a:r>
            <a:r>
              <a:rPr lang="en-US" sz="1400" dirty="0">
                <a:solidFill>
                  <a:srgbClr val="000000"/>
                </a:solidFill>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r>
              <a:rPr lang="en-US" sz="1400" dirty="0" err="1">
                <a:solidFill>
                  <a:srgbClr val="383A42"/>
                </a:solidFill>
                <a:latin typeface="Courier New" pitchFamily="34" charset="0"/>
                <a:ea typeface="Courier New" pitchFamily="34" charset="-122"/>
                <a:cs typeface="Courier New" pitchFamily="34" charset="-120"/>
              </a:rPr>
              <a:t>src</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 app/</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   |-- </a:t>
            </a:r>
            <a:r>
              <a:rPr lang="en-US" sz="1400" dirty="0" err="1">
                <a:solidFill>
                  <a:srgbClr val="383A42"/>
                </a:solidFill>
                <a:latin typeface="Courier New" pitchFamily="34" charset="0"/>
                <a:ea typeface="Courier New" pitchFamily="34" charset="-122"/>
                <a:cs typeface="Courier New" pitchFamily="34" charset="-120"/>
              </a:rPr>
              <a:t>app.component.ts</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   |-- app.component.html</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   |-- app.component.css</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   |-- </a:t>
            </a:r>
            <a:r>
              <a:rPr lang="en-US" sz="1400" dirty="0" err="1">
                <a:solidFill>
                  <a:srgbClr val="383A42"/>
                </a:solidFill>
                <a:latin typeface="Courier New" pitchFamily="34" charset="0"/>
                <a:ea typeface="Courier New" pitchFamily="34" charset="-122"/>
                <a:cs typeface="Courier New" pitchFamily="34" charset="-120"/>
              </a:rPr>
              <a:t>app.config.ts</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   </a:t>
            </a:r>
            <a:r>
              <a:rPr lang="en-US" sz="1400" dirty="0">
                <a:solidFill>
                  <a:srgbClr val="C41A16"/>
                </a:solidFill>
                <a:latin typeface="Courier New" pitchFamily="34" charset="0"/>
                <a:ea typeface="Courier New" pitchFamily="34" charset="-122"/>
                <a:cs typeface="Courier New" pitchFamily="34" charset="-120"/>
              </a:rPr>
              <a:t>`-- </a:t>
            </a:r>
            <a:r>
              <a:rPr lang="en-US" sz="1400" dirty="0" err="1">
                <a:solidFill>
                  <a:srgbClr val="C41A16"/>
                </a:solidFill>
                <a:latin typeface="Courier New" pitchFamily="34" charset="0"/>
                <a:ea typeface="Courier New" pitchFamily="34" charset="-122"/>
                <a:cs typeface="Courier New" pitchFamily="34" charset="-120"/>
              </a:rPr>
              <a:t>app.routes.ts</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 assets/</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 index.html</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 </a:t>
            </a:r>
            <a:r>
              <a:rPr lang="en-US" sz="1400" dirty="0" err="1">
                <a:solidFill>
                  <a:srgbClr val="383A42"/>
                </a:solidFill>
                <a:latin typeface="Courier New" pitchFamily="34" charset="0"/>
                <a:ea typeface="Courier New" pitchFamily="34" charset="-122"/>
                <a:cs typeface="Courier New" pitchFamily="34" charset="-120"/>
              </a:rPr>
              <a:t>main.ts</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 styles.css</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r>
              <a:rPr lang="en-US" sz="1400" dirty="0" err="1">
                <a:solidFill>
                  <a:srgbClr val="383A42"/>
                </a:solidFill>
                <a:latin typeface="Courier New" pitchFamily="34" charset="0"/>
                <a:ea typeface="Courier New" pitchFamily="34" charset="-122"/>
                <a:cs typeface="Courier New" pitchFamily="34" charset="-120"/>
              </a:rPr>
              <a:t>angular.json</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r>
              <a:rPr lang="en-US" sz="1400" dirty="0" err="1">
                <a:solidFill>
                  <a:srgbClr val="383A42"/>
                </a:solidFill>
                <a:latin typeface="Courier New" pitchFamily="34" charset="0"/>
                <a:ea typeface="Courier New" pitchFamily="34" charset="-122"/>
                <a:cs typeface="Courier New" pitchFamily="34" charset="-120"/>
              </a:rPr>
              <a:t>package.json</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r>
              <a:rPr lang="en-US" sz="1400" dirty="0" err="1">
                <a:solidFill>
                  <a:srgbClr val="383A42"/>
                </a:solidFill>
                <a:latin typeface="Courier New" pitchFamily="34" charset="0"/>
                <a:ea typeface="Courier New" pitchFamily="34" charset="-122"/>
                <a:cs typeface="Courier New" pitchFamily="34" charset="-120"/>
              </a:rPr>
              <a:t>tsconfig.json</a:t>
            </a:r>
            <a:endParaRPr lang="en-US" sz="1400" dirty="0"/>
          </a:p>
          <a:p>
            <a:pPr marL="0" indent="0">
              <a:buNone/>
            </a:pPr>
            <a:r>
              <a:rPr lang="en-US" sz="1400" dirty="0">
                <a:solidFill>
                  <a:srgbClr val="C41A16"/>
                </a:solidFill>
                <a:latin typeface="Courier New" pitchFamily="34" charset="0"/>
                <a:ea typeface="Courier New" pitchFamily="34" charset="-122"/>
                <a:cs typeface="Courier New" pitchFamily="34" charset="-120"/>
              </a:rPr>
              <a:t>`-- node_modules/    (dependencias)</a:t>
            </a:r>
            <a:r>
              <a:rPr lang="en-US" sz="1400" dirty="0">
                <a:solidFill>
                  <a:srgbClr val="000000"/>
                </a:solidFill>
              </a:rPr>
              <a:t>
</a:t>
            </a:r>
            <a:endParaRPr lang="en-US" sz="1400" dirty="0"/>
          </a:p>
        </p:txBody>
      </p:sp>
      <p:sp>
        <p:nvSpPr>
          <p:cNvPr id="11" name="Text 9"/>
          <p:cNvSpPr/>
          <p:nvPr/>
        </p:nvSpPr>
        <p:spPr>
          <a:xfrm>
            <a:off x="6766560" y="2011680"/>
            <a:ext cx="4846320" cy="4343400"/>
          </a:xfrm>
          <a:prstGeom prst="rect">
            <a:avLst/>
          </a:prstGeom>
          <a:noFill/>
          <a:ln/>
        </p:spPr>
        <p:txBody>
          <a:bodyPr wrap="square" rtlCol="0" anchor="t"/>
          <a:lstStyle/>
          <a:p>
            <a:pPr marL="0" indent="0">
              <a:buNone/>
            </a:pPr>
            <a:r>
              <a:rPr lang="en-US" sz="1600" b="1" dirty="0">
                <a:solidFill>
                  <a:srgbClr val="0B3D24"/>
                </a:solidFill>
                <a:latin typeface="Courier New" pitchFamily="34" charset="0"/>
                <a:ea typeface="Courier New" pitchFamily="34" charset="-122"/>
                <a:cs typeface="Courier New" pitchFamily="34" charset="-120"/>
              </a:rPr>
              <a:t>src/app/</a:t>
            </a:r>
            <a:r>
              <a:rPr lang="en-US" sz="1600" dirty="0">
                <a:solidFill>
                  <a:srgbClr val="383A42"/>
                </a:solidFill>
                <a:latin typeface="Calibri" pitchFamily="34" charset="0"/>
                <a:ea typeface="Calibri" pitchFamily="34" charset="-122"/>
                <a:cs typeface="Calibri" pitchFamily="34" charset="-120"/>
              </a:rPr>
              <a:t>  --- Codigo TypeScript de la aplicacion.
</a:t>
            </a:r>
            <a:endParaRPr lang="en-US" sz="1600" dirty="0"/>
          </a:p>
          <a:p>
            <a:pPr marL="0" indent="0">
              <a:buNone/>
            </a:pPr>
            <a:r>
              <a:rPr lang="en-US" sz="1600" b="1" dirty="0">
                <a:solidFill>
                  <a:srgbClr val="0B3D24"/>
                </a:solidFill>
                <a:latin typeface="Courier New" pitchFamily="34" charset="0"/>
                <a:ea typeface="Courier New" pitchFamily="34" charset="-122"/>
                <a:cs typeface="Courier New" pitchFamily="34" charset="-120"/>
              </a:rPr>
              <a:t>app.config.ts</a:t>
            </a:r>
            <a:r>
              <a:rPr lang="en-US" sz="1600" dirty="0">
                <a:solidFill>
                  <a:srgbClr val="383A42"/>
                </a:solidFill>
                <a:latin typeface="Calibri" pitchFamily="34" charset="0"/>
                <a:ea typeface="Calibri" pitchFamily="34" charset="-122"/>
                <a:cs typeface="Calibri" pitchFamily="34" charset="-120"/>
              </a:rPr>
              <a:t>  --- Configura providers globales (HttpClient, Router).
</a:t>
            </a:r>
            <a:endParaRPr lang="en-US" sz="1600" dirty="0"/>
          </a:p>
          <a:p>
            <a:pPr marL="0" indent="0">
              <a:buNone/>
            </a:pPr>
            <a:r>
              <a:rPr lang="en-US" sz="1600" b="1" dirty="0">
                <a:solidFill>
                  <a:srgbClr val="0B3D24"/>
                </a:solidFill>
                <a:latin typeface="Courier New" pitchFamily="34" charset="0"/>
                <a:ea typeface="Courier New" pitchFamily="34" charset="-122"/>
                <a:cs typeface="Courier New" pitchFamily="34" charset="-120"/>
              </a:rPr>
              <a:t>app.routes.ts</a:t>
            </a:r>
            <a:r>
              <a:rPr lang="en-US" sz="1600" dirty="0">
                <a:solidFill>
                  <a:srgbClr val="383A42"/>
                </a:solidFill>
                <a:latin typeface="Calibri" pitchFamily="34" charset="0"/>
                <a:ea typeface="Calibri" pitchFamily="34" charset="-122"/>
                <a:cs typeface="Calibri" pitchFamily="34" charset="-120"/>
              </a:rPr>
              <a:t>  --- Rutas del enrutador: URL a Componente.
</a:t>
            </a:r>
            <a:endParaRPr lang="en-US" sz="1600" dirty="0"/>
          </a:p>
          <a:p>
            <a:pPr marL="0" indent="0">
              <a:buNone/>
            </a:pPr>
            <a:r>
              <a:rPr lang="en-US" sz="1600" b="1" dirty="0">
                <a:solidFill>
                  <a:srgbClr val="0B3D24"/>
                </a:solidFill>
                <a:latin typeface="Courier New" pitchFamily="34" charset="0"/>
                <a:ea typeface="Courier New" pitchFamily="34" charset="-122"/>
                <a:cs typeface="Courier New" pitchFamily="34" charset="-120"/>
              </a:rPr>
              <a:t>styles.css</a:t>
            </a:r>
            <a:r>
              <a:rPr lang="en-US" sz="1600" dirty="0">
                <a:solidFill>
                  <a:srgbClr val="383A42"/>
                </a:solidFill>
                <a:latin typeface="Calibri" pitchFamily="34" charset="0"/>
                <a:ea typeface="Calibri" pitchFamily="34" charset="-122"/>
                <a:cs typeface="Calibri" pitchFamily="34" charset="-120"/>
              </a:rPr>
              <a:t>  --- Estilos globales del proyecto. Aqui se importa el estilos.css compartido de BiblioUTEQ.
</a:t>
            </a:r>
            <a:endParaRPr lang="en-US" sz="1600" dirty="0"/>
          </a:p>
          <a:p>
            <a:pPr marL="0" indent="0">
              <a:buNone/>
            </a:pPr>
            <a:r>
              <a:rPr lang="en-US" sz="1600" b="1" dirty="0">
                <a:solidFill>
                  <a:srgbClr val="0B3D24"/>
                </a:solidFill>
                <a:latin typeface="Courier New" pitchFamily="34" charset="0"/>
                <a:ea typeface="Courier New" pitchFamily="34" charset="-122"/>
                <a:cs typeface="Courier New" pitchFamily="34" charset="-120"/>
              </a:rPr>
              <a:t>angular.json</a:t>
            </a:r>
            <a:r>
              <a:rPr lang="en-US" sz="1600" dirty="0">
                <a:solidFill>
                  <a:srgbClr val="383A42"/>
                </a:solidFill>
                <a:latin typeface="Calibri" pitchFamily="34" charset="0"/>
                <a:ea typeface="Calibri" pitchFamily="34" charset="-122"/>
                <a:cs typeface="Calibri" pitchFamily="34" charset="-120"/>
              </a:rPr>
              <a:t>  --- Configuracion del build (assets, budgets).
</a:t>
            </a:r>
            <a:endParaRPr lang="en-US" sz="1600" dirty="0"/>
          </a:p>
          <a:p>
            <a:pPr marL="0" indent="0">
              <a:buNone/>
            </a:pPr>
            <a:r>
              <a:rPr lang="en-US" sz="1600" b="1" dirty="0">
                <a:solidFill>
                  <a:srgbClr val="0B3D24"/>
                </a:solidFill>
                <a:latin typeface="Courier New" pitchFamily="34" charset="0"/>
                <a:ea typeface="Courier New" pitchFamily="34" charset="-122"/>
                <a:cs typeface="Courier New" pitchFamily="34" charset="-120"/>
              </a:rPr>
              <a:t>package.json</a:t>
            </a:r>
            <a:r>
              <a:rPr lang="en-US" sz="1600" dirty="0">
                <a:solidFill>
                  <a:srgbClr val="383A42"/>
                </a:solidFill>
                <a:latin typeface="Calibri" pitchFamily="34" charset="0"/>
                <a:ea typeface="Calibri" pitchFamily="34" charset="-122"/>
                <a:cs typeface="Calibri" pitchFamily="34" charset="-120"/>
              </a:rPr>
              <a:t>  --- Dependencias y scripts npm.</a:t>
            </a:r>
            <a:endParaRPr lang="en-US" sz="1600" dirty="0"/>
          </a:p>
        </p:txBody>
      </p:sp>
      <p:sp>
        <p:nvSpPr>
          <p:cNvPr id="12" name="Shape 10"/>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3" name="Text 11"/>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4" name="Text 12"/>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22 --- 13 / 36</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PRIMER PROYECTO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Ejecutar la aplicacion</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822960"/>
          </a:xfrm>
          <a:prstGeom prst="rect">
            <a:avLst/>
          </a:prstGeom>
          <a:noFill/>
          <a:ln/>
        </p:spPr>
        <p:txBody>
          <a:bodyPr wrap="square" rtlCol="0" anchor="t"/>
          <a:lstStyle/>
          <a:p>
            <a:pPr marL="0" indent="0">
              <a:buNone/>
            </a:pPr>
            <a:r>
              <a:rPr lang="en-US" dirty="0">
                <a:solidFill>
                  <a:srgbClr val="383A42"/>
                </a:solidFill>
                <a:latin typeface="Calibri" pitchFamily="34" charset="0"/>
                <a:ea typeface="Calibri" pitchFamily="34" charset="-122"/>
                <a:cs typeface="Calibri" pitchFamily="34" charset="-120"/>
              </a:rPr>
              <a:t>El comando ng serve compila el proyecto, inicia un servidor de desarrollo en localhost:4200 y activa la recarga en caliente: cualquier cambio en el codigo actualiza el navegador sin perder el estado.</a:t>
            </a:r>
            <a:endParaRPr lang="en-US" dirty="0"/>
          </a:p>
        </p:txBody>
      </p:sp>
      <p:sp>
        <p:nvSpPr>
          <p:cNvPr id="7" name="Shape 5"/>
          <p:cNvSpPr/>
          <p:nvPr/>
        </p:nvSpPr>
        <p:spPr>
          <a:xfrm>
            <a:off x="548640" y="2331720"/>
            <a:ext cx="11091672" cy="2011680"/>
          </a:xfrm>
          <a:prstGeom prst="roundRect">
            <a:avLst>
              <a:gd name="adj" fmla="val 2727"/>
            </a:avLst>
          </a:prstGeom>
          <a:solidFill>
            <a:srgbClr val="F5F6F5"/>
          </a:solidFill>
          <a:ln w="9525">
            <a:solidFill>
              <a:srgbClr val="006633"/>
            </a:solidFill>
            <a:prstDash val="solid"/>
          </a:ln>
        </p:spPr>
        <p:txBody>
          <a:bodyPr/>
          <a:lstStyle/>
          <a:p>
            <a:endParaRPr lang="es-US" sz="2400"/>
          </a:p>
        </p:txBody>
      </p:sp>
      <p:sp>
        <p:nvSpPr>
          <p:cNvPr id="8" name="Shape 6"/>
          <p:cNvSpPr/>
          <p:nvPr/>
        </p:nvSpPr>
        <p:spPr>
          <a:xfrm>
            <a:off x="548640" y="2331720"/>
            <a:ext cx="1737360" cy="274320"/>
          </a:xfrm>
          <a:prstGeom prst="rect">
            <a:avLst/>
          </a:prstGeom>
          <a:solidFill>
            <a:srgbClr val="006633"/>
          </a:solidFill>
          <a:ln w="12700">
            <a:solidFill>
              <a:srgbClr val="006633"/>
            </a:solidFill>
            <a:prstDash val="solid"/>
          </a:ln>
        </p:spPr>
        <p:txBody>
          <a:bodyPr/>
          <a:lstStyle/>
          <a:p>
            <a:endParaRPr lang="es-US" sz="2400"/>
          </a:p>
        </p:txBody>
      </p:sp>
      <p:sp>
        <p:nvSpPr>
          <p:cNvPr id="9" name="Text 7"/>
          <p:cNvSpPr/>
          <p:nvPr/>
        </p:nvSpPr>
        <p:spPr>
          <a:xfrm>
            <a:off x="594360" y="2350008"/>
            <a:ext cx="1691640" cy="23774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terminal</a:t>
            </a:r>
            <a:endParaRPr lang="en-US" sz="1100" dirty="0"/>
          </a:p>
        </p:txBody>
      </p:sp>
      <p:sp>
        <p:nvSpPr>
          <p:cNvPr id="10" name="Text 8"/>
          <p:cNvSpPr txBox="1"/>
          <p:nvPr/>
        </p:nvSpPr>
        <p:spPr>
          <a:xfrm>
            <a:off x="640080" y="2679192"/>
            <a:ext cx="10908792" cy="1572768"/>
          </a:xfrm>
          <a:prstGeom prst="rect">
            <a:avLst/>
          </a:prstGeom>
          <a:noFill/>
          <a:ln/>
        </p:spPr>
        <p:txBody>
          <a:bodyPr wrap="square" rtlCol="0" anchor="t"/>
          <a:lstStyle/>
          <a:p>
            <a:pPr marL="0" indent="0">
              <a:buNone/>
            </a:pPr>
            <a:r>
              <a:rPr lang="en-US" sz="1600" i="1" dirty="0">
                <a:solidFill>
                  <a:srgbClr val="717171"/>
                </a:solidFill>
                <a:latin typeface="Courier New" pitchFamily="34" charset="0"/>
                <a:ea typeface="Courier New" pitchFamily="34" charset="-122"/>
                <a:cs typeface="Courier New" pitchFamily="34" charset="-120"/>
              </a:rPr>
              <a:t># Desde la carpeta frontend/
</a:t>
            </a:r>
            <a:r>
              <a:rPr lang="en-US" sz="1600" b="1" dirty="0">
                <a:solidFill>
                  <a:srgbClr val="0057AE"/>
                </a:solidFill>
                <a:latin typeface="Courier New" pitchFamily="34" charset="0"/>
                <a:ea typeface="Courier New" pitchFamily="34" charset="-122"/>
                <a:cs typeface="Courier New" pitchFamily="34" charset="-120"/>
              </a:rPr>
              <a:t>ng</a:t>
            </a: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serve</a:t>
            </a:r>
            <a:r>
              <a:rPr lang="en-US" sz="1600" dirty="0">
                <a:solidFill>
                  <a:srgbClr val="383A42"/>
                </a:solidFill>
                <a:latin typeface="Courier New" pitchFamily="34" charset="0"/>
                <a:ea typeface="Courier New" pitchFamily="34" charset="-122"/>
                <a:cs typeface="Courier New" pitchFamily="34" charset="-120"/>
              </a:rPr>
              <a:t> --open</a:t>
            </a:r>
            <a:endParaRPr lang="en-US" sz="1600" dirty="0"/>
          </a:p>
          <a:p>
            <a:pPr marL="0" indent="0">
              <a:buNone/>
            </a:pPr>
            <a:r>
              <a:rPr lang="en-US" sz="1600" i="1" dirty="0">
                <a:solidFill>
                  <a:srgbClr val="717171"/>
                </a:solidFill>
                <a:latin typeface="Courier New" pitchFamily="34" charset="0"/>
                <a:ea typeface="Courier New" pitchFamily="34" charset="-122"/>
                <a:cs typeface="Courier New" pitchFamily="34" charset="-120"/>
              </a:rPr>
              <a:t># Salida esperada (abreviada):
# Application bundle generation complete. [3.421 seconds]
# Watch mode enabled. Watching for file changes...
# Local:   http://localhost:4200/
</a:t>
            </a:r>
            <a:endParaRPr lang="en-US" sz="1600" dirty="0"/>
          </a:p>
        </p:txBody>
      </p:sp>
      <p:sp>
        <p:nvSpPr>
          <p:cNvPr id="11" name="Shape 9"/>
          <p:cNvSpPr/>
          <p:nvPr/>
        </p:nvSpPr>
        <p:spPr>
          <a:xfrm>
            <a:off x="548640" y="4526280"/>
            <a:ext cx="5532120" cy="1691640"/>
          </a:xfrm>
          <a:prstGeom prst="roundRect">
            <a:avLst>
              <a:gd name="adj" fmla="val 5405"/>
            </a:avLst>
          </a:prstGeom>
          <a:solidFill>
            <a:srgbClr val="FFFFFF"/>
          </a:solidFill>
          <a:ln w="19050">
            <a:solidFill>
              <a:srgbClr val="006633"/>
            </a:solidFill>
            <a:prstDash val="solid"/>
          </a:ln>
        </p:spPr>
        <p:txBody>
          <a:bodyPr/>
          <a:lstStyle/>
          <a:p>
            <a:endParaRPr lang="es-US" sz="2400"/>
          </a:p>
        </p:txBody>
      </p:sp>
      <p:sp>
        <p:nvSpPr>
          <p:cNvPr id="12" name="Shape 10"/>
          <p:cNvSpPr/>
          <p:nvPr/>
        </p:nvSpPr>
        <p:spPr>
          <a:xfrm>
            <a:off x="548640" y="4526280"/>
            <a:ext cx="5532120" cy="411480"/>
          </a:xfrm>
          <a:prstGeom prst="rect">
            <a:avLst/>
          </a:prstGeom>
          <a:solidFill>
            <a:srgbClr val="006633"/>
          </a:solidFill>
          <a:ln w="12700">
            <a:solidFill>
              <a:srgbClr val="006633"/>
            </a:solidFill>
            <a:prstDash val="solid"/>
          </a:ln>
        </p:spPr>
        <p:txBody>
          <a:bodyPr/>
          <a:lstStyle/>
          <a:p>
            <a:endParaRPr lang="es-US" sz="2400"/>
          </a:p>
        </p:txBody>
      </p:sp>
      <p:sp>
        <p:nvSpPr>
          <p:cNvPr id="13" name="Text 11"/>
          <p:cNvSpPr/>
          <p:nvPr/>
        </p:nvSpPr>
        <p:spPr>
          <a:xfrm>
            <a:off x="640080" y="4544568"/>
            <a:ext cx="534924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Que hace la CLI internamente</a:t>
            </a:r>
            <a:endParaRPr lang="en-US" sz="1600" dirty="0"/>
          </a:p>
        </p:txBody>
      </p:sp>
      <p:sp>
        <p:nvSpPr>
          <p:cNvPr id="14" name="Text 12"/>
          <p:cNvSpPr/>
          <p:nvPr/>
        </p:nvSpPr>
        <p:spPr>
          <a:xfrm>
            <a:off x="685800" y="5093208"/>
            <a:ext cx="5257800" cy="1033272"/>
          </a:xfrm>
          <a:prstGeom prst="rect">
            <a:avLst/>
          </a:prstGeom>
          <a:noFill/>
          <a:ln/>
        </p:spPr>
        <p:txBody>
          <a:bodyPr wrap="square" rtlCol="0" anchor="t"/>
          <a:lstStyle/>
          <a:p>
            <a:pPr marL="0" indent="0">
              <a:spcAft>
                <a:spcPts val="400"/>
              </a:spcAft>
              <a:buNone/>
            </a:pPr>
            <a:r>
              <a:rPr lang="en-US" sz="1600" dirty="0">
                <a:solidFill>
                  <a:srgbClr val="383A42"/>
                </a:solidFill>
                <a:latin typeface="Calibri" pitchFamily="34" charset="0"/>
                <a:ea typeface="Calibri" pitchFamily="34" charset="-122"/>
                <a:cs typeface="Calibri" pitchFamily="34" charset="-120"/>
              </a:rPr>
              <a:t>Compila TypeScript a JavaScript (esbuild), agrupa modulos, procesa CSS, sirve por HTTP con recarga en caliente y expone sourcemaps para depurar en el navegador.</a:t>
            </a:r>
            <a:endParaRPr lang="en-US" sz="1600" dirty="0"/>
          </a:p>
        </p:txBody>
      </p:sp>
      <p:sp>
        <p:nvSpPr>
          <p:cNvPr id="15" name="Shape 13"/>
          <p:cNvSpPr/>
          <p:nvPr/>
        </p:nvSpPr>
        <p:spPr>
          <a:xfrm>
            <a:off x="6172200" y="4526280"/>
            <a:ext cx="5468112" cy="1691640"/>
          </a:xfrm>
          <a:prstGeom prst="roundRect">
            <a:avLst>
              <a:gd name="adj" fmla="val 5405"/>
            </a:avLst>
          </a:prstGeom>
          <a:solidFill>
            <a:srgbClr val="FFFFFF"/>
          </a:solidFill>
          <a:ln w="19050">
            <a:solidFill>
              <a:srgbClr val="B8860B"/>
            </a:solidFill>
            <a:prstDash val="solid"/>
          </a:ln>
        </p:spPr>
        <p:txBody>
          <a:bodyPr/>
          <a:lstStyle/>
          <a:p>
            <a:endParaRPr lang="es-US" sz="2400"/>
          </a:p>
        </p:txBody>
      </p:sp>
      <p:sp>
        <p:nvSpPr>
          <p:cNvPr id="16" name="Shape 14"/>
          <p:cNvSpPr/>
          <p:nvPr/>
        </p:nvSpPr>
        <p:spPr>
          <a:xfrm>
            <a:off x="6172200" y="4526280"/>
            <a:ext cx="5468112" cy="411480"/>
          </a:xfrm>
          <a:prstGeom prst="rect">
            <a:avLst/>
          </a:prstGeom>
          <a:solidFill>
            <a:srgbClr val="B8860B"/>
          </a:solidFill>
          <a:ln w="12700">
            <a:solidFill>
              <a:srgbClr val="B8860B"/>
            </a:solidFill>
            <a:prstDash val="solid"/>
          </a:ln>
        </p:spPr>
        <p:txBody>
          <a:bodyPr/>
          <a:lstStyle/>
          <a:p>
            <a:endParaRPr lang="es-US" sz="2400"/>
          </a:p>
        </p:txBody>
      </p:sp>
      <p:sp>
        <p:nvSpPr>
          <p:cNvPr id="17" name="Text 15"/>
          <p:cNvSpPr/>
          <p:nvPr/>
        </p:nvSpPr>
        <p:spPr>
          <a:xfrm>
            <a:off x="6263640" y="4544568"/>
            <a:ext cx="5285232"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Puerto en uso</a:t>
            </a:r>
            <a:endParaRPr lang="en-US" sz="1600" dirty="0"/>
          </a:p>
        </p:txBody>
      </p:sp>
      <p:sp>
        <p:nvSpPr>
          <p:cNvPr id="18" name="Text 16"/>
          <p:cNvSpPr/>
          <p:nvPr/>
        </p:nvSpPr>
        <p:spPr>
          <a:xfrm>
            <a:off x="6309360" y="5029200"/>
            <a:ext cx="5193792" cy="1097280"/>
          </a:xfrm>
          <a:prstGeom prst="rect">
            <a:avLst/>
          </a:prstGeom>
          <a:noFill/>
          <a:ln/>
        </p:spPr>
        <p:txBody>
          <a:bodyPr wrap="square" rtlCol="0" anchor="t"/>
          <a:lstStyle/>
          <a:p>
            <a:pPr marL="0" indent="0">
              <a:spcAft>
                <a:spcPts val="400"/>
              </a:spcAft>
              <a:buNone/>
            </a:pPr>
            <a:r>
              <a:rPr lang="en-US" sz="1600" dirty="0">
                <a:solidFill>
                  <a:srgbClr val="383A42"/>
                </a:solidFill>
                <a:latin typeface="Calibri" pitchFamily="34" charset="0"/>
                <a:ea typeface="Calibri" pitchFamily="34" charset="-122"/>
                <a:cs typeface="Calibri" pitchFamily="34" charset="-120"/>
              </a:rPr>
              <a:t>Si el 4200 esta ocupado, se pasa --port 4300 al comando. El equipo BiblioUTEQ usa 4200 para el frontend y 8080 para la API.</a:t>
            </a:r>
            <a:endParaRPr lang="en-US" sz="1600" dirty="0"/>
          </a:p>
        </p:txBody>
      </p:sp>
      <p:sp>
        <p:nvSpPr>
          <p:cNvPr id="19" name="Shape 17"/>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20" name="Text 18"/>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1" name="Text 19"/>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22 --- 14 / 36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PRIMER PROYECTO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Abrir el proyecto en IntelliJ IDEA</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63040"/>
            <a:ext cx="11109960" cy="4846320"/>
          </a:xfrm>
          <a:prstGeom prst="rect">
            <a:avLst/>
          </a:prstGeom>
          <a:noFill/>
          <a:ln/>
        </p:spPr>
        <p:txBody>
          <a:bodyPr wrap="square" rtlCol="0" anchor="t"/>
          <a:lstStyle/>
          <a:p>
            <a:pPr marL="342900" indent="-342900">
              <a:spcAft>
                <a:spcPts val="800"/>
              </a:spcAft>
              <a:buSzPct val="100000"/>
              <a:buChar char="■"/>
            </a:pPr>
            <a:r>
              <a:rPr lang="en-US" sz="2000" dirty="0">
                <a:solidFill>
                  <a:srgbClr val="383A42"/>
                </a:solidFill>
                <a:latin typeface="Calibri" pitchFamily="34" charset="0"/>
                <a:ea typeface="Calibri" pitchFamily="34" charset="-122"/>
                <a:cs typeface="Calibri" pitchFamily="34" charset="-120"/>
              </a:rPr>
              <a:t>File &gt; Open &gt; seleccionar la carpeta frontend/ recien creada por ng new.</a:t>
            </a:r>
            <a:endParaRPr lang="en-US" sz="2000" dirty="0"/>
          </a:p>
          <a:p>
            <a:pPr marL="342900" indent="-342900">
              <a:spcAft>
                <a:spcPts val="800"/>
              </a:spcAft>
              <a:buSzPct val="100000"/>
              <a:buChar char="■"/>
            </a:pPr>
            <a:r>
              <a:rPr lang="en-US" sz="2000" dirty="0">
                <a:solidFill>
                  <a:srgbClr val="383A42"/>
                </a:solidFill>
                <a:latin typeface="Calibri" pitchFamily="34" charset="0"/>
                <a:ea typeface="Calibri" pitchFamily="34" charset="-122"/>
                <a:cs typeface="Calibri" pitchFamily="34" charset="-120"/>
              </a:rPr>
              <a:t>Confirmar la opcion Trust Project cuando IntelliJ lo solicite.</a:t>
            </a:r>
            <a:endParaRPr lang="en-US" sz="2000" dirty="0"/>
          </a:p>
          <a:p>
            <a:pPr marL="342900" indent="-342900">
              <a:spcAft>
                <a:spcPts val="800"/>
              </a:spcAft>
              <a:buSzPct val="100000"/>
              <a:buChar char="■"/>
            </a:pPr>
            <a:r>
              <a:rPr lang="en-US" sz="2000" dirty="0">
                <a:solidFill>
                  <a:srgbClr val="383A42"/>
                </a:solidFill>
                <a:latin typeface="Calibri" pitchFamily="34" charset="0"/>
                <a:ea typeface="Calibri" pitchFamily="34" charset="-122"/>
                <a:cs typeface="Calibri" pitchFamily="34" charset="-120"/>
              </a:rPr>
              <a:t>IntelliJ detecta automaticamente el proyecto Angular gracias al angular.json en la raiz.</a:t>
            </a:r>
            <a:endParaRPr lang="en-US" sz="2000" dirty="0"/>
          </a:p>
          <a:p>
            <a:pPr marL="342900" indent="-342900">
              <a:spcAft>
                <a:spcPts val="800"/>
              </a:spcAft>
              <a:buSzPct val="100000"/>
              <a:buChar char="■"/>
            </a:pPr>
            <a:r>
              <a:rPr lang="en-US" sz="2000" dirty="0">
                <a:solidFill>
                  <a:srgbClr val="383A42"/>
                </a:solidFill>
                <a:latin typeface="Calibri" pitchFamily="34" charset="0"/>
                <a:ea typeface="Calibri" pitchFamily="34" charset="-122"/>
                <a:cs typeface="Calibri" pitchFamily="34" charset="-120"/>
              </a:rPr>
              <a:t>En View &gt; Tool Windows &gt; Angular se abre el panel con la lista de componentes, servicios y modulos del proyecto, util para navegar.</a:t>
            </a:r>
            <a:endParaRPr lang="en-US" sz="2000" dirty="0"/>
          </a:p>
          <a:p>
            <a:pPr marL="342900" indent="-342900">
              <a:spcAft>
                <a:spcPts val="800"/>
              </a:spcAft>
              <a:buSzPct val="100000"/>
              <a:buChar char="■"/>
            </a:pPr>
            <a:r>
              <a:rPr lang="en-US" sz="2000" dirty="0">
                <a:solidFill>
                  <a:srgbClr val="383A42"/>
                </a:solidFill>
                <a:latin typeface="Calibri" pitchFamily="34" charset="0"/>
                <a:ea typeface="Calibri" pitchFamily="34" charset="-122"/>
                <a:cs typeface="Calibri" pitchFamily="34" charset="-120"/>
              </a:rPr>
              <a:t>Crear una configuracion de Run &gt; Edit Configurations &gt; + &gt; npm, con script 'start' del package.json, para arrancar ng serve con un solo boton verde.</a:t>
            </a:r>
            <a:endParaRPr lang="en-US" sz="2000" dirty="0"/>
          </a:p>
          <a:p>
            <a:pPr marL="342900" indent="-342900">
              <a:spcAft>
                <a:spcPts val="800"/>
              </a:spcAft>
              <a:buSzPct val="100000"/>
              <a:buChar char="■"/>
            </a:pPr>
            <a:r>
              <a:rPr lang="en-US" sz="2000" dirty="0">
                <a:solidFill>
                  <a:srgbClr val="383A42"/>
                </a:solidFill>
                <a:latin typeface="Calibri" pitchFamily="34" charset="0"/>
                <a:ea typeface="Calibri" pitchFamily="34" charset="-122"/>
                <a:cs typeface="Calibri" pitchFamily="34" charset="-120"/>
              </a:rPr>
              <a:t>Habilitar el ESLint automatico en Settings &gt; Languages and Frameworks &gt; TypeScript &gt; TSLint/ESLint para que resalte errores en tiempo real.</a:t>
            </a:r>
            <a:endParaRPr lang="en-US" sz="2000" dirty="0"/>
          </a:p>
        </p:txBody>
      </p:sp>
      <p:sp>
        <p:nvSpPr>
          <p:cNvPr id="7" name="Shape 5"/>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9" name="Text 7"/>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22 --- 15 / 36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4. FUNDAMENTOS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Componentes: la unidad basica</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822960"/>
          </a:xfrm>
          <a:prstGeom prst="rect">
            <a:avLst/>
          </a:prstGeom>
          <a:noFill/>
          <a:ln/>
        </p:spPr>
        <p:txBody>
          <a:bodyPr wrap="square" rtlCol="0" anchor="t"/>
          <a:lstStyle/>
          <a:p>
            <a:pPr marL="0" indent="0">
              <a:buNone/>
            </a:pPr>
            <a:r>
              <a:rPr lang="en-US" dirty="0">
                <a:solidFill>
                  <a:srgbClr val="383A42"/>
                </a:solidFill>
                <a:latin typeface="Calibri" pitchFamily="34" charset="0"/>
                <a:ea typeface="Calibri" pitchFamily="34" charset="-122"/>
                <a:cs typeface="Calibri" pitchFamily="34" charset="-120"/>
              </a:rPr>
              <a:t>Un componente en Angular es una clase TypeScript decorada con @Component que asocia una plantilla HTML, unos estilos CSS y una logica. Es la unidad reutilizable de la interfaz: un boton, una tabla, una pagina completa.</a:t>
            </a:r>
            <a:endParaRPr lang="en-US" dirty="0"/>
          </a:p>
        </p:txBody>
      </p:sp>
      <p:sp>
        <p:nvSpPr>
          <p:cNvPr id="7" name="Shape 5"/>
          <p:cNvSpPr/>
          <p:nvPr/>
        </p:nvSpPr>
        <p:spPr>
          <a:xfrm>
            <a:off x="548640" y="1973367"/>
            <a:ext cx="11091672" cy="3520440"/>
          </a:xfrm>
          <a:prstGeom prst="roundRect">
            <a:avLst>
              <a:gd name="adj" fmla="val 1558"/>
            </a:avLst>
          </a:prstGeom>
          <a:solidFill>
            <a:srgbClr val="F5F6F5"/>
          </a:solidFill>
          <a:ln w="9525">
            <a:solidFill>
              <a:srgbClr val="006633"/>
            </a:solidFill>
            <a:prstDash val="solid"/>
          </a:ln>
        </p:spPr>
        <p:txBody>
          <a:bodyPr/>
          <a:lstStyle/>
          <a:p>
            <a:endParaRPr lang="es-US" sz="2400"/>
          </a:p>
        </p:txBody>
      </p:sp>
      <p:sp>
        <p:nvSpPr>
          <p:cNvPr id="8" name="Shape 6"/>
          <p:cNvSpPr/>
          <p:nvPr/>
        </p:nvSpPr>
        <p:spPr>
          <a:xfrm>
            <a:off x="548640" y="1973367"/>
            <a:ext cx="1737360" cy="274320"/>
          </a:xfrm>
          <a:prstGeom prst="rect">
            <a:avLst/>
          </a:prstGeom>
          <a:solidFill>
            <a:srgbClr val="006633"/>
          </a:solidFill>
          <a:ln w="12700">
            <a:solidFill>
              <a:srgbClr val="006633"/>
            </a:solidFill>
            <a:prstDash val="solid"/>
          </a:ln>
        </p:spPr>
        <p:txBody>
          <a:bodyPr/>
          <a:lstStyle/>
          <a:p>
            <a:endParaRPr lang="es-US" sz="2400"/>
          </a:p>
        </p:txBody>
      </p:sp>
      <p:sp>
        <p:nvSpPr>
          <p:cNvPr id="9" name="Text 7"/>
          <p:cNvSpPr/>
          <p:nvPr/>
        </p:nvSpPr>
        <p:spPr>
          <a:xfrm>
            <a:off x="594360" y="1991655"/>
            <a:ext cx="1691640" cy="23774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typescript</a:t>
            </a:r>
            <a:endParaRPr lang="en-US" sz="1100" dirty="0"/>
          </a:p>
        </p:txBody>
      </p:sp>
      <p:sp>
        <p:nvSpPr>
          <p:cNvPr id="10" name="Text 8"/>
          <p:cNvSpPr txBox="1"/>
          <p:nvPr/>
        </p:nvSpPr>
        <p:spPr>
          <a:xfrm>
            <a:off x="640080" y="2320839"/>
            <a:ext cx="10908792" cy="3081528"/>
          </a:xfrm>
          <a:prstGeom prst="rect">
            <a:avLst/>
          </a:prstGeom>
          <a:noFill/>
          <a:ln/>
        </p:spPr>
        <p:txBody>
          <a:bodyPr wrap="square" rtlCol="0" anchor="t"/>
          <a:lstStyle/>
          <a:p>
            <a:pPr marL="0" indent="0">
              <a:buNone/>
            </a:pPr>
            <a:r>
              <a:rPr lang="en-US" sz="1400" i="1" dirty="0">
                <a:solidFill>
                  <a:srgbClr val="717171"/>
                </a:solidFill>
                <a:latin typeface="Courier New" pitchFamily="34" charset="0"/>
                <a:ea typeface="Courier New" pitchFamily="34" charset="-122"/>
                <a:cs typeface="Courier New" pitchFamily="34" charset="-120"/>
              </a:rPr>
              <a:t>// biblioteq-front/src/app/libro-list.component.ts
</a:t>
            </a:r>
            <a:r>
              <a:rPr lang="en-US" sz="1400" b="1" dirty="0">
                <a:solidFill>
                  <a:srgbClr val="0057AE"/>
                </a:solidFill>
                <a:latin typeface="Courier New" pitchFamily="34" charset="0"/>
                <a:ea typeface="Courier New" pitchFamily="34" charset="-122"/>
                <a:cs typeface="Courier New" pitchFamily="34" charset="-120"/>
              </a:rPr>
              <a:t>import</a:t>
            </a:r>
            <a:r>
              <a:rPr lang="en-US" sz="1400" dirty="0">
                <a:solidFill>
                  <a:srgbClr val="383A42"/>
                </a:solidFill>
                <a:latin typeface="Courier New" pitchFamily="34" charset="0"/>
                <a:ea typeface="Courier New" pitchFamily="34" charset="-122"/>
                <a:cs typeface="Courier New" pitchFamily="34" charset="-120"/>
              </a:rPr>
              <a:t> { Component } </a:t>
            </a:r>
            <a:r>
              <a:rPr lang="en-US" sz="1400" b="1" dirty="0">
                <a:solidFill>
                  <a:srgbClr val="0057AE"/>
                </a:solidFill>
                <a:latin typeface="Courier New" pitchFamily="34" charset="0"/>
                <a:ea typeface="Courier New" pitchFamily="34" charset="-122"/>
                <a:cs typeface="Courier New" pitchFamily="34" charset="-120"/>
              </a:rPr>
              <a:t>from</a:t>
            </a: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'@angular/core'</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@Component({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selector: </a:t>
            </a:r>
            <a:r>
              <a:rPr lang="en-US" sz="1400" dirty="0">
                <a:solidFill>
                  <a:srgbClr val="C41A16"/>
                </a:solidFill>
                <a:latin typeface="Courier New" pitchFamily="34" charset="0"/>
                <a:ea typeface="Courier New" pitchFamily="34" charset="-122"/>
                <a:cs typeface="Courier New" pitchFamily="34" charset="-120"/>
              </a:rPr>
              <a:t>'app-</a:t>
            </a:r>
            <a:r>
              <a:rPr lang="en-US" sz="1400" dirty="0" err="1">
                <a:solidFill>
                  <a:srgbClr val="C41A16"/>
                </a:solidFill>
                <a:latin typeface="Courier New" pitchFamily="34" charset="0"/>
                <a:ea typeface="Courier New" pitchFamily="34" charset="-122"/>
                <a:cs typeface="Courier New" pitchFamily="34" charset="-120"/>
              </a:rPr>
              <a:t>libro</a:t>
            </a:r>
            <a:r>
              <a:rPr lang="en-US" sz="1400" dirty="0">
                <a:solidFill>
                  <a:srgbClr val="C41A16"/>
                </a:solidFill>
                <a:latin typeface="Courier New" pitchFamily="34" charset="0"/>
                <a:ea typeface="Courier New" pitchFamily="34" charset="-122"/>
                <a:cs typeface="Courier New" pitchFamily="34" charset="-120"/>
              </a:rPr>
              <a:t>-list'</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standalone: </a:t>
            </a:r>
            <a:r>
              <a:rPr lang="en-US" sz="1400" b="1" dirty="0">
                <a:solidFill>
                  <a:srgbClr val="0057AE"/>
                </a:solidFill>
                <a:latin typeface="Courier New" pitchFamily="34" charset="0"/>
                <a:ea typeface="Courier New" pitchFamily="34" charset="-122"/>
                <a:cs typeface="Courier New" pitchFamily="34" charset="-120"/>
              </a:rPr>
              <a:t>true</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template: </a:t>
            </a:r>
            <a:r>
              <a:rPr lang="en-US" sz="1400" dirty="0">
                <a:solidFill>
                  <a:srgbClr val="C41A16"/>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&lt;h2&gt;Catalogo de libros&lt;/h2&gt;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&lt;p&gt;Total en catalogo: {{ total }}&lt;/p&gt;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styles: [ </a:t>
            </a:r>
            <a:r>
              <a:rPr lang="en-US" sz="1400" dirty="0">
                <a:solidFill>
                  <a:srgbClr val="C41A16"/>
                </a:solidFill>
                <a:latin typeface="Courier New" pitchFamily="34" charset="0"/>
                <a:ea typeface="Courier New" pitchFamily="34" charset="-122"/>
                <a:cs typeface="Courier New" pitchFamily="34" charset="-120"/>
              </a:rPr>
              <a:t>'h2 { color: #006633; }'</a:t>
            </a:r>
            <a:r>
              <a:rPr lang="en-US" sz="1400" dirty="0">
                <a:solidFill>
                  <a:srgbClr val="383A42"/>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b="1" dirty="0">
                <a:solidFill>
                  <a:srgbClr val="0057AE"/>
                </a:solidFill>
                <a:latin typeface="Courier New" pitchFamily="34" charset="0"/>
                <a:ea typeface="Courier New" pitchFamily="34" charset="-122"/>
                <a:cs typeface="Courier New" pitchFamily="34" charset="-120"/>
              </a:rPr>
              <a:t>export</a:t>
            </a: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class</a:t>
            </a:r>
            <a:r>
              <a:rPr lang="en-US" sz="1400" dirty="0">
                <a:solidFill>
                  <a:srgbClr val="383A42"/>
                </a:solidFill>
                <a:latin typeface="Courier New" pitchFamily="34" charset="0"/>
                <a:ea typeface="Courier New" pitchFamily="34" charset="-122"/>
                <a:cs typeface="Courier New" pitchFamily="34" charset="-120"/>
              </a:rPr>
              <a:t> </a:t>
            </a:r>
            <a:r>
              <a:rPr lang="en-US" sz="1400" dirty="0" err="1">
                <a:solidFill>
                  <a:srgbClr val="383A42"/>
                </a:solidFill>
                <a:latin typeface="Courier New" pitchFamily="34" charset="0"/>
                <a:ea typeface="Courier New" pitchFamily="34" charset="-122"/>
                <a:cs typeface="Courier New" pitchFamily="34" charset="-120"/>
              </a:rPr>
              <a:t>LibroListComponent</a:t>
            </a:r>
            <a:r>
              <a:rPr lang="en-US" sz="1400" dirty="0">
                <a:solidFill>
                  <a:srgbClr val="383A42"/>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total = 42;</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a:t>
            </a:r>
            <a:r>
              <a:rPr lang="en-US" sz="1400" dirty="0">
                <a:solidFill>
                  <a:srgbClr val="000000"/>
                </a:solidFill>
              </a:rPr>
              <a:t>
</a:t>
            </a:r>
            <a:endParaRPr lang="en-US" sz="1400" dirty="0"/>
          </a:p>
        </p:txBody>
      </p:sp>
      <p:sp>
        <p:nvSpPr>
          <p:cNvPr id="11" name="Text 9"/>
          <p:cNvSpPr/>
          <p:nvPr/>
        </p:nvSpPr>
        <p:spPr>
          <a:xfrm>
            <a:off x="457200" y="5635170"/>
            <a:ext cx="11091672" cy="548640"/>
          </a:xfrm>
          <a:prstGeom prst="rect">
            <a:avLst/>
          </a:prstGeom>
          <a:noFill/>
          <a:ln/>
        </p:spPr>
        <p:txBody>
          <a:bodyPr wrap="square" rtlCol="0" anchor="t"/>
          <a:lstStyle/>
          <a:p>
            <a:pPr marL="0" indent="0">
              <a:buNone/>
            </a:pPr>
            <a:r>
              <a:rPr lang="en-US" sz="1600" i="1" dirty="0">
                <a:solidFill>
                  <a:srgbClr val="383A42"/>
                </a:solidFill>
                <a:latin typeface="Calibri" pitchFamily="34" charset="0"/>
                <a:ea typeface="Calibri" pitchFamily="34" charset="-122"/>
                <a:cs typeface="Calibri" pitchFamily="34" charset="-120"/>
              </a:rPr>
              <a:t>El decorador @Component enlaza la clase con su HTML, su CSS y un selector &lt;app-libro-list&gt;. Cualquier plantilla que incluya esa etiqueta renderizara este componente. La bandera standalone:true, que es el default en Angular 22, permite usar el componente sin declararlo en un NgModule.</a:t>
            </a:r>
            <a:endParaRPr lang="en-US" sz="1600" dirty="0"/>
          </a:p>
        </p:txBody>
      </p:sp>
      <p:sp>
        <p:nvSpPr>
          <p:cNvPr id="12" name="Shape 10"/>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3" name="Text 11"/>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4" name="Text 12"/>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22 --- 16 / 36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4. FUNDAMENTOS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Generar un componente con la CLI</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777240"/>
          </a:xfrm>
          <a:prstGeom prst="rect">
            <a:avLst/>
          </a:prstGeom>
          <a:noFill/>
          <a:ln/>
        </p:spPr>
        <p:txBody>
          <a:bodyPr wrap="square" rtlCol="0" anchor="t"/>
          <a:lstStyle/>
          <a:p>
            <a:pPr marL="0" indent="0">
              <a:buNone/>
            </a:pPr>
            <a:r>
              <a:rPr lang="en-US" dirty="0">
                <a:solidFill>
                  <a:srgbClr val="383A42"/>
                </a:solidFill>
                <a:latin typeface="Calibri" pitchFamily="34" charset="0"/>
                <a:ea typeface="Calibri" pitchFamily="34" charset="-122"/>
                <a:cs typeface="Calibri" pitchFamily="34" charset="-120"/>
              </a:rPr>
              <a:t>En vez de escribir el componente a mano, la CLI lo genera con el andamiaje correcto: archivo .ts, .html, .css, .spec.ts, y lo registra automaticamente en las importaciones si es hijo de la app.</a:t>
            </a:r>
            <a:endParaRPr lang="en-US" dirty="0"/>
          </a:p>
        </p:txBody>
      </p:sp>
      <p:sp>
        <p:nvSpPr>
          <p:cNvPr id="7" name="Shape 5"/>
          <p:cNvSpPr/>
          <p:nvPr/>
        </p:nvSpPr>
        <p:spPr>
          <a:xfrm>
            <a:off x="548640" y="2331720"/>
            <a:ext cx="11091672" cy="2331720"/>
          </a:xfrm>
          <a:prstGeom prst="roundRect">
            <a:avLst>
              <a:gd name="adj" fmla="val 2353"/>
            </a:avLst>
          </a:prstGeom>
          <a:solidFill>
            <a:srgbClr val="F5F6F5"/>
          </a:solidFill>
          <a:ln w="9525">
            <a:solidFill>
              <a:srgbClr val="006633"/>
            </a:solidFill>
            <a:prstDash val="solid"/>
          </a:ln>
        </p:spPr>
        <p:txBody>
          <a:bodyPr/>
          <a:lstStyle/>
          <a:p>
            <a:endParaRPr lang="es-US" sz="2400"/>
          </a:p>
        </p:txBody>
      </p:sp>
      <p:sp>
        <p:nvSpPr>
          <p:cNvPr id="8" name="Shape 6"/>
          <p:cNvSpPr/>
          <p:nvPr/>
        </p:nvSpPr>
        <p:spPr>
          <a:xfrm>
            <a:off x="548640" y="2331720"/>
            <a:ext cx="1737360" cy="274320"/>
          </a:xfrm>
          <a:prstGeom prst="rect">
            <a:avLst/>
          </a:prstGeom>
          <a:solidFill>
            <a:srgbClr val="006633"/>
          </a:solidFill>
          <a:ln w="12700">
            <a:solidFill>
              <a:srgbClr val="006633"/>
            </a:solidFill>
            <a:prstDash val="solid"/>
          </a:ln>
        </p:spPr>
        <p:txBody>
          <a:bodyPr/>
          <a:lstStyle/>
          <a:p>
            <a:endParaRPr lang="es-US" sz="2400"/>
          </a:p>
        </p:txBody>
      </p:sp>
      <p:sp>
        <p:nvSpPr>
          <p:cNvPr id="9" name="Text 7"/>
          <p:cNvSpPr/>
          <p:nvPr/>
        </p:nvSpPr>
        <p:spPr>
          <a:xfrm>
            <a:off x="594360" y="2350008"/>
            <a:ext cx="169164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terminal</a:t>
            </a:r>
            <a:endParaRPr lang="en-US" sz="1200" dirty="0"/>
          </a:p>
        </p:txBody>
      </p:sp>
      <p:sp>
        <p:nvSpPr>
          <p:cNvPr id="10" name="Text 8"/>
          <p:cNvSpPr txBox="1"/>
          <p:nvPr/>
        </p:nvSpPr>
        <p:spPr>
          <a:xfrm>
            <a:off x="640080" y="2679192"/>
            <a:ext cx="10908792" cy="1892808"/>
          </a:xfrm>
          <a:prstGeom prst="rect">
            <a:avLst/>
          </a:prstGeom>
          <a:noFill/>
          <a:ln/>
        </p:spPr>
        <p:txBody>
          <a:bodyPr wrap="square" rtlCol="0" anchor="t"/>
          <a:lstStyle/>
          <a:p>
            <a:pPr marL="0" indent="0">
              <a:buNone/>
            </a:pPr>
            <a:r>
              <a:rPr lang="en-US" i="1" dirty="0">
                <a:solidFill>
                  <a:srgbClr val="717171"/>
                </a:solidFill>
                <a:latin typeface="Courier New" pitchFamily="34" charset="0"/>
                <a:ea typeface="Courier New" pitchFamily="34" charset="-122"/>
                <a:cs typeface="Courier New" pitchFamily="34" charset="-120"/>
              </a:rPr>
              <a:t># Sintaxis larga
</a:t>
            </a:r>
            <a:r>
              <a:rPr lang="en-US" b="1" dirty="0">
                <a:solidFill>
                  <a:srgbClr val="0057AE"/>
                </a:solidFill>
                <a:latin typeface="Courier New" pitchFamily="34" charset="0"/>
                <a:ea typeface="Courier New" pitchFamily="34" charset="-122"/>
                <a:cs typeface="Courier New" pitchFamily="34" charset="-120"/>
              </a:rPr>
              <a:t>ng</a:t>
            </a:r>
            <a:r>
              <a:rPr lang="en-US" dirty="0">
                <a:solidFill>
                  <a:srgbClr val="383A42"/>
                </a:solidFill>
                <a:latin typeface="Courier New" pitchFamily="34" charset="0"/>
                <a:ea typeface="Courier New" pitchFamily="34" charset="-122"/>
                <a:cs typeface="Courier New" pitchFamily="34" charset="-120"/>
              </a:rPr>
              <a:t> </a:t>
            </a:r>
            <a:r>
              <a:rPr lang="en-US" b="1" dirty="0">
                <a:solidFill>
                  <a:srgbClr val="0057AE"/>
                </a:solidFill>
                <a:latin typeface="Courier New" pitchFamily="34" charset="0"/>
                <a:ea typeface="Courier New" pitchFamily="34" charset="-122"/>
                <a:cs typeface="Courier New" pitchFamily="34" charset="-120"/>
              </a:rPr>
              <a:t>generate</a:t>
            </a:r>
            <a:r>
              <a:rPr lang="en-US" dirty="0">
                <a:solidFill>
                  <a:srgbClr val="383A42"/>
                </a:solidFill>
                <a:latin typeface="Courier New" pitchFamily="34" charset="0"/>
                <a:ea typeface="Courier New" pitchFamily="34" charset="-122"/>
                <a:cs typeface="Courier New" pitchFamily="34" charset="-120"/>
              </a:rPr>
              <a:t> component </a:t>
            </a:r>
            <a:r>
              <a:rPr lang="en-US" dirty="0" err="1">
                <a:solidFill>
                  <a:srgbClr val="383A42"/>
                </a:solidFill>
                <a:latin typeface="Courier New" pitchFamily="34" charset="0"/>
                <a:ea typeface="Courier New" pitchFamily="34" charset="-122"/>
                <a:cs typeface="Courier New" pitchFamily="34" charset="-120"/>
              </a:rPr>
              <a:t>libro</a:t>
            </a:r>
            <a:r>
              <a:rPr lang="en-US" dirty="0">
                <a:solidFill>
                  <a:srgbClr val="383A42"/>
                </a:solidFill>
                <a:latin typeface="Courier New" pitchFamily="34" charset="0"/>
                <a:ea typeface="Courier New" pitchFamily="34" charset="-122"/>
                <a:cs typeface="Courier New" pitchFamily="34" charset="-120"/>
              </a:rPr>
              <a:t>-list</a:t>
            </a:r>
            <a:endParaRPr lang="en-US" dirty="0"/>
          </a:p>
          <a:p>
            <a:pPr marL="0" indent="0">
              <a:buNone/>
            </a:pPr>
            <a:r>
              <a:rPr lang="en-US" i="1" dirty="0">
                <a:solidFill>
                  <a:srgbClr val="717171"/>
                </a:solidFill>
                <a:latin typeface="Courier New" pitchFamily="34" charset="0"/>
                <a:ea typeface="Courier New" pitchFamily="34" charset="-122"/>
                <a:cs typeface="Courier New" pitchFamily="34" charset="-120"/>
              </a:rPr>
              <a:t># Forma abreviada (equivalente)
</a:t>
            </a:r>
            <a:r>
              <a:rPr lang="en-US" b="1" dirty="0">
                <a:solidFill>
                  <a:srgbClr val="0057AE"/>
                </a:solidFill>
                <a:latin typeface="Courier New" pitchFamily="34" charset="0"/>
                <a:ea typeface="Courier New" pitchFamily="34" charset="-122"/>
                <a:cs typeface="Courier New" pitchFamily="34" charset="-120"/>
              </a:rPr>
              <a:t>ng</a:t>
            </a:r>
            <a:r>
              <a:rPr lang="en-US" dirty="0">
                <a:solidFill>
                  <a:srgbClr val="383A42"/>
                </a:solidFill>
                <a:latin typeface="Courier New" pitchFamily="34" charset="0"/>
                <a:ea typeface="Courier New" pitchFamily="34" charset="-122"/>
                <a:cs typeface="Courier New" pitchFamily="34" charset="-120"/>
              </a:rPr>
              <a:t> </a:t>
            </a:r>
            <a:r>
              <a:rPr lang="en-US" b="1" dirty="0">
                <a:solidFill>
                  <a:srgbClr val="0057AE"/>
                </a:solidFill>
                <a:latin typeface="Courier New" pitchFamily="34" charset="0"/>
                <a:ea typeface="Courier New" pitchFamily="34" charset="-122"/>
                <a:cs typeface="Courier New" pitchFamily="34" charset="-120"/>
              </a:rPr>
              <a:t>g</a:t>
            </a:r>
            <a:r>
              <a:rPr lang="en-US" dirty="0">
                <a:solidFill>
                  <a:srgbClr val="383A42"/>
                </a:solidFill>
                <a:latin typeface="Courier New" pitchFamily="34" charset="0"/>
                <a:ea typeface="Courier New" pitchFamily="34" charset="-122"/>
                <a:cs typeface="Courier New" pitchFamily="34" charset="-120"/>
              </a:rPr>
              <a:t> c </a:t>
            </a:r>
            <a:r>
              <a:rPr lang="en-US" dirty="0" err="1">
                <a:solidFill>
                  <a:srgbClr val="383A42"/>
                </a:solidFill>
                <a:latin typeface="Courier New" pitchFamily="34" charset="0"/>
                <a:ea typeface="Courier New" pitchFamily="34" charset="-122"/>
                <a:cs typeface="Courier New" pitchFamily="34" charset="-120"/>
              </a:rPr>
              <a:t>libro</a:t>
            </a:r>
            <a:r>
              <a:rPr lang="en-US" dirty="0">
                <a:solidFill>
                  <a:srgbClr val="383A42"/>
                </a:solidFill>
                <a:latin typeface="Courier New" pitchFamily="34" charset="0"/>
                <a:ea typeface="Courier New" pitchFamily="34" charset="-122"/>
                <a:cs typeface="Courier New" pitchFamily="34" charset="-120"/>
              </a:rPr>
              <a:t>-list</a:t>
            </a:r>
            <a:endParaRPr lang="en-US" dirty="0"/>
          </a:p>
          <a:p>
            <a:pPr marL="0" indent="0">
              <a:buNone/>
            </a:pPr>
            <a:r>
              <a:rPr lang="en-US" i="1" dirty="0">
                <a:solidFill>
                  <a:srgbClr val="717171"/>
                </a:solidFill>
                <a:latin typeface="Courier New" pitchFamily="34" charset="0"/>
                <a:ea typeface="Courier New" pitchFamily="34" charset="-122"/>
                <a:cs typeface="Courier New" pitchFamily="34" charset="-120"/>
              </a:rPr>
              <a:t># Con opciones
</a:t>
            </a:r>
            <a:r>
              <a:rPr lang="en-US" b="1" dirty="0">
                <a:solidFill>
                  <a:srgbClr val="0057AE"/>
                </a:solidFill>
                <a:latin typeface="Courier New" pitchFamily="34" charset="0"/>
                <a:ea typeface="Courier New" pitchFamily="34" charset="-122"/>
                <a:cs typeface="Courier New" pitchFamily="34" charset="-120"/>
              </a:rPr>
              <a:t>ng</a:t>
            </a:r>
            <a:r>
              <a:rPr lang="en-US" dirty="0">
                <a:solidFill>
                  <a:srgbClr val="383A42"/>
                </a:solidFill>
                <a:latin typeface="Courier New" pitchFamily="34" charset="0"/>
                <a:ea typeface="Courier New" pitchFamily="34" charset="-122"/>
                <a:cs typeface="Courier New" pitchFamily="34" charset="-120"/>
              </a:rPr>
              <a:t> </a:t>
            </a:r>
            <a:r>
              <a:rPr lang="en-US" b="1" dirty="0">
                <a:solidFill>
                  <a:srgbClr val="0057AE"/>
                </a:solidFill>
                <a:latin typeface="Courier New" pitchFamily="34" charset="0"/>
                <a:ea typeface="Courier New" pitchFamily="34" charset="-122"/>
                <a:cs typeface="Courier New" pitchFamily="34" charset="-120"/>
              </a:rPr>
              <a:t>g</a:t>
            </a:r>
            <a:r>
              <a:rPr lang="en-US" dirty="0">
                <a:solidFill>
                  <a:srgbClr val="383A42"/>
                </a:solidFill>
                <a:latin typeface="Courier New" pitchFamily="34" charset="0"/>
                <a:ea typeface="Courier New" pitchFamily="34" charset="-122"/>
                <a:cs typeface="Courier New" pitchFamily="34" charset="-120"/>
              </a:rPr>
              <a:t> c libros/libro-list --skip-tests --inline-style</a:t>
            </a:r>
            <a:r>
              <a:rPr lang="en-US" dirty="0">
                <a:solidFill>
                  <a:srgbClr val="000000"/>
                </a:solidFill>
              </a:rPr>
              <a:t>
</a:t>
            </a:r>
            <a:endParaRPr lang="en-US" dirty="0"/>
          </a:p>
        </p:txBody>
      </p:sp>
      <p:sp>
        <p:nvSpPr>
          <p:cNvPr id="11" name="Shape 9"/>
          <p:cNvSpPr/>
          <p:nvPr/>
        </p:nvSpPr>
        <p:spPr>
          <a:xfrm>
            <a:off x="548640" y="4846320"/>
            <a:ext cx="5468112" cy="1463040"/>
          </a:xfrm>
          <a:prstGeom prst="roundRect">
            <a:avLst>
              <a:gd name="adj" fmla="val 6250"/>
            </a:avLst>
          </a:prstGeom>
          <a:solidFill>
            <a:srgbClr val="FFFFFF"/>
          </a:solidFill>
          <a:ln w="19050">
            <a:solidFill>
              <a:srgbClr val="006633"/>
            </a:solidFill>
            <a:prstDash val="solid"/>
          </a:ln>
        </p:spPr>
        <p:txBody>
          <a:bodyPr/>
          <a:lstStyle/>
          <a:p>
            <a:endParaRPr lang="es-US" sz="2400"/>
          </a:p>
        </p:txBody>
      </p:sp>
      <p:sp>
        <p:nvSpPr>
          <p:cNvPr id="12" name="Shape 10"/>
          <p:cNvSpPr/>
          <p:nvPr/>
        </p:nvSpPr>
        <p:spPr>
          <a:xfrm>
            <a:off x="548640" y="4846320"/>
            <a:ext cx="5468112" cy="411480"/>
          </a:xfrm>
          <a:prstGeom prst="rect">
            <a:avLst/>
          </a:prstGeom>
          <a:solidFill>
            <a:srgbClr val="006633"/>
          </a:solidFill>
          <a:ln w="12700">
            <a:solidFill>
              <a:srgbClr val="006633"/>
            </a:solidFill>
            <a:prstDash val="solid"/>
          </a:ln>
        </p:spPr>
        <p:txBody>
          <a:bodyPr/>
          <a:lstStyle/>
          <a:p>
            <a:endParaRPr lang="es-US" sz="2400"/>
          </a:p>
        </p:txBody>
      </p:sp>
      <p:sp>
        <p:nvSpPr>
          <p:cNvPr id="13" name="Text 11"/>
          <p:cNvSpPr/>
          <p:nvPr/>
        </p:nvSpPr>
        <p:spPr>
          <a:xfrm>
            <a:off x="640080" y="4864608"/>
            <a:ext cx="5285232"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Archivos creados</a:t>
            </a:r>
            <a:endParaRPr lang="en-US" sz="1600" dirty="0"/>
          </a:p>
        </p:txBody>
      </p:sp>
      <p:sp>
        <p:nvSpPr>
          <p:cNvPr id="14" name="Text 12"/>
          <p:cNvSpPr/>
          <p:nvPr/>
        </p:nvSpPr>
        <p:spPr>
          <a:xfrm>
            <a:off x="685800" y="5349240"/>
            <a:ext cx="5193792" cy="868680"/>
          </a:xfrm>
          <a:prstGeom prst="rect">
            <a:avLst/>
          </a:prstGeom>
          <a:noFill/>
          <a:ln/>
        </p:spPr>
        <p:txBody>
          <a:bodyPr wrap="square" rtlCol="0" anchor="t"/>
          <a:lstStyle/>
          <a:p>
            <a:pPr marL="0" indent="0">
              <a:spcAft>
                <a:spcPts val="400"/>
              </a:spcAft>
              <a:buNone/>
            </a:pPr>
            <a:r>
              <a:rPr lang="en-US" sz="1600" dirty="0">
                <a:solidFill>
                  <a:srgbClr val="383A42"/>
                </a:solidFill>
                <a:latin typeface="Calibri" pitchFamily="34" charset="0"/>
                <a:ea typeface="Calibri" pitchFamily="34" charset="-122"/>
                <a:cs typeface="Calibri" pitchFamily="34" charset="-120"/>
              </a:rPr>
              <a:t>libro-list.component.ts (clase con @Component), .html (template), .css (estilos scoped) y .spec.ts (esqueleto de pruebas con Jasmine).</a:t>
            </a:r>
            <a:endParaRPr lang="en-US" sz="1600" dirty="0"/>
          </a:p>
        </p:txBody>
      </p:sp>
      <p:sp>
        <p:nvSpPr>
          <p:cNvPr id="15" name="Shape 13"/>
          <p:cNvSpPr/>
          <p:nvPr/>
        </p:nvSpPr>
        <p:spPr>
          <a:xfrm>
            <a:off x="6172200" y="4846320"/>
            <a:ext cx="5468112" cy="1463040"/>
          </a:xfrm>
          <a:prstGeom prst="roundRect">
            <a:avLst>
              <a:gd name="adj" fmla="val 6250"/>
            </a:avLst>
          </a:prstGeom>
          <a:solidFill>
            <a:srgbClr val="FFFFFF"/>
          </a:solidFill>
          <a:ln w="19050">
            <a:solidFill>
              <a:srgbClr val="B8860B"/>
            </a:solidFill>
            <a:prstDash val="solid"/>
          </a:ln>
        </p:spPr>
        <p:txBody>
          <a:bodyPr/>
          <a:lstStyle/>
          <a:p>
            <a:endParaRPr lang="es-US" sz="2400"/>
          </a:p>
        </p:txBody>
      </p:sp>
      <p:sp>
        <p:nvSpPr>
          <p:cNvPr id="16" name="Shape 14"/>
          <p:cNvSpPr/>
          <p:nvPr/>
        </p:nvSpPr>
        <p:spPr>
          <a:xfrm>
            <a:off x="6172200" y="4846320"/>
            <a:ext cx="5468112" cy="411480"/>
          </a:xfrm>
          <a:prstGeom prst="rect">
            <a:avLst/>
          </a:prstGeom>
          <a:solidFill>
            <a:srgbClr val="B8860B"/>
          </a:solidFill>
          <a:ln w="12700">
            <a:solidFill>
              <a:srgbClr val="B8860B"/>
            </a:solidFill>
            <a:prstDash val="solid"/>
          </a:ln>
        </p:spPr>
        <p:txBody>
          <a:bodyPr/>
          <a:lstStyle/>
          <a:p>
            <a:endParaRPr lang="es-US" sz="2400"/>
          </a:p>
        </p:txBody>
      </p:sp>
      <p:sp>
        <p:nvSpPr>
          <p:cNvPr id="17" name="Text 15"/>
          <p:cNvSpPr/>
          <p:nvPr/>
        </p:nvSpPr>
        <p:spPr>
          <a:xfrm>
            <a:off x="6263640" y="4864608"/>
            <a:ext cx="5285232"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Buena practica</a:t>
            </a:r>
            <a:endParaRPr lang="en-US" sz="1600" dirty="0"/>
          </a:p>
        </p:txBody>
      </p:sp>
      <p:sp>
        <p:nvSpPr>
          <p:cNvPr id="18" name="Text 16"/>
          <p:cNvSpPr/>
          <p:nvPr/>
        </p:nvSpPr>
        <p:spPr>
          <a:xfrm>
            <a:off x="6309360" y="5349240"/>
            <a:ext cx="5193792" cy="868680"/>
          </a:xfrm>
          <a:prstGeom prst="rect">
            <a:avLst/>
          </a:prstGeom>
          <a:noFill/>
          <a:ln/>
        </p:spPr>
        <p:txBody>
          <a:bodyPr wrap="square" rtlCol="0" anchor="t"/>
          <a:lstStyle/>
          <a:p>
            <a:pPr marL="0" indent="0">
              <a:spcAft>
                <a:spcPts val="400"/>
              </a:spcAft>
              <a:buNone/>
            </a:pPr>
            <a:r>
              <a:rPr lang="en-US" sz="1600" dirty="0">
                <a:solidFill>
                  <a:srgbClr val="383A42"/>
                </a:solidFill>
                <a:latin typeface="Calibri" pitchFamily="34" charset="0"/>
                <a:ea typeface="Calibri" pitchFamily="34" charset="-122"/>
                <a:cs typeface="Calibri" pitchFamily="34" charset="-120"/>
              </a:rPr>
              <a:t>Agrupar componentes por caracteristica en subcarpetas: libros/, prestamos/, usuarios/. La opcion libros/libro-list crea el componente ya en esa carpeta.</a:t>
            </a:r>
            <a:endParaRPr lang="en-US" sz="1600" dirty="0"/>
          </a:p>
        </p:txBody>
      </p:sp>
      <p:sp>
        <p:nvSpPr>
          <p:cNvPr id="19" name="Shape 17"/>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20" name="Text 18"/>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1" name="Text 19"/>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22 --- 17 / 36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4. FUNDAMENTOS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Data binding</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502920"/>
          </a:xfrm>
          <a:prstGeom prst="rect">
            <a:avLst/>
          </a:prstGeom>
          <a:noFill/>
          <a:ln/>
        </p:spPr>
        <p:txBody>
          <a:bodyPr wrap="square" rtlCol="0" anchor="t"/>
          <a:lstStyle/>
          <a:p>
            <a:pPr marL="0" indent="0">
              <a:buNone/>
            </a:pPr>
            <a:r>
              <a:rPr lang="en-US" dirty="0">
                <a:solidFill>
                  <a:srgbClr val="383A42"/>
                </a:solidFill>
                <a:latin typeface="Calibri" pitchFamily="34" charset="0"/>
                <a:ea typeface="Calibri" pitchFamily="34" charset="-122"/>
                <a:cs typeface="Calibri" pitchFamily="34" charset="-120"/>
              </a:rPr>
              <a:t>Data binding es el mecanismo por el que Angular sincroniza el modelo (la clase TypeScript) con la vista (el HTML). Hay cuatro variantes esenciales.</a:t>
            </a:r>
            <a:endParaRPr lang="en-US" dirty="0"/>
          </a:p>
        </p:txBody>
      </p:sp>
      <p:sp>
        <p:nvSpPr>
          <p:cNvPr id="7" name="Shape 5"/>
          <p:cNvSpPr/>
          <p:nvPr/>
        </p:nvSpPr>
        <p:spPr>
          <a:xfrm>
            <a:off x="548640" y="2057400"/>
            <a:ext cx="5468112" cy="1920240"/>
          </a:xfrm>
          <a:prstGeom prst="roundRect">
            <a:avLst>
              <a:gd name="adj" fmla="val 3810"/>
            </a:avLst>
          </a:prstGeom>
          <a:solidFill>
            <a:srgbClr val="FFFFFF"/>
          </a:solidFill>
          <a:ln w="15240">
            <a:solidFill>
              <a:srgbClr val="006633"/>
            </a:solidFill>
            <a:prstDash val="solid"/>
          </a:ln>
        </p:spPr>
        <p:txBody>
          <a:bodyPr/>
          <a:lstStyle/>
          <a:p>
            <a:endParaRPr lang="es-US" sz="2400"/>
          </a:p>
        </p:txBody>
      </p:sp>
      <p:sp>
        <p:nvSpPr>
          <p:cNvPr id="8" name="Shape 6"/>
          <p:cNvSpPr/>
          <p:nvPr/>
        </p:nvSpPr>
        <p:spPr>
          <a:xfrm>
            <a:off x="548640" y="2057400"/>
            <a:ext cx="5468112" cy="411480"/>
          </a:xfrm>
          <a:prstGeom prst="rect">
            <a:avLst/>
          </a:prstGeom>
          <a:solidFill>
            <a:srgbClr val="006633"/>
          </a:solidFill>
          <a:ln w="12700">
            <a:solidFill>
              <a:srgbClr val="006633"/>
            </a:solidFill>
            <a:prstDash val="solid"/>
          </a:ln>
        </p:spPr>
        <p:txBody>
          <a:bodyPr/>
          <a:lstStyle/>
          <a:p>
            <a:endParaRPr lang="es-US" sz="2400"/>
          </a:p>
        </p:txBody>
      </p:sp>
      <p:sp>
        <p:nvSpPr>
          <p:cNvPr id="9" name="Text 7"/>
          <p:cNvSpPr/>
          <p:nvPr/>
        </p:nvSpPr>
        <p:spPr>
          <a:xfrm>
            <a:off x="685800" y="2057400"/>
            <a:ext cx="5193792"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Interpolacion</a:t>
            </a:r>
            <a:endParaRPr lang="en-US" sz="1600" dirty="0"/>
          </a:p>
        </p:txBody>
      </p:sp>
      <p:sp>
        <p:nvSpPr>
          <p:cNvPr id="10" name="Text 8"/>
          <p:cNvSpPr/>
          <p:nvPr/>
        </p:nvSpPr>
        <p:spPr>
          <a:xfrm>
            <a:off x="685800" y="2560320"/>
            <a:ext cx="5193792" cy="502920"/>
          </a:xfrm>
          <a:prstGeom prst="rect">
            <a:avLst/>
          </a:prstGeom>
          <a:noFill/>
          <a:ln/>
        </p:spPr>
        <p:txBody>
          <a:bodyPr wrap="square" rtlCol="0" anchor="ctr"/>
          <a:lstStyle/>
          <a:p>
            <a:pPr marL="0" indent="0">
              <a:buNone/>
            </a:pPr>
            <a:r>
              <a:rPr lang="en-US" b="1" dirty="0">
                <a:solidFill>
                  <a:srgbClr val="0057AE"/>
                </a:solidFill>
                <a:latin typeface="Courier New" pitchFamily="34" charset="0"/>
                <a:ea typeface="Courier New" pitchFamily="34" charset="-122"/>
                <a:cs typeface="Courier New" pitchFamily="34" charset="-120"/>
              </a:rPr>
              <a:t>{{ libro.titulo }}</a:t>
            </a:r>
            <a:endParaRPr lang="en-US" dirty="0"/>
          </a:p>
        </p:txBody>
      </p:sp>
      <p:sp>
        <p:nvSpPr>
          <p:cNvPr id="11" name="Text 9"/>
          <p:cNvSpPr/>
          <p:nvPr/>
        </p:nvSpPr>
        <p:spPr>
          <a:xfrm>
            <a:off x="685800" y="3108960"/>
            <a:ext cx="5193792" cy="777240"/>
          </a:xfrm>
          <a:prstGeom prst="rect">
            <a:avLst/>
          </a:prstGeom>
          <a:noFill/>
          <a:ln/>
        </p:spPr>
        <p:txBody>
          <a:bodyPr wrap="square" rtlCol="0" anchor="t"/>
          <a:lstStyle/>
          <a:p>
            <a:pPr marL="0" indent="0">
              <a:buNone/>
            </a:pPr>
            <a:r>
              <a:rPr lang="en-US" sz="1600" dirty="0">
                <a:solidFill>
                  <a:srgbClr val="383A42"/>
                </a:solidFill>
                <a:latin typeface="Calibri" pitchFamily="34" charset="0"/>
                <a:ea typeface="Calibri" pitchFamily="34" charset="-122"/>
                <a:cs typeface="Calibri" pitchFamily="34" charset="-120"/>
              </a:rPr>
              <a:t>Muestra el valor de una expresion en el DOM.</a:t>
            </a:r>
            <a:endParaRPr lang="en-US" sz="1600" dirty="0"/>
          </a:p>
        </p:txBody>
      </p:sp>
      <p:sp>
        <p:nvSpPr>
          <p:cNvPr id="12" name="Shape 10"/>
          <p:cNvSpPr/>
          <p:nvPr/>
        </p:nvSpPr>
        <p:spPr>
          <a:xfrm>
            <a:off x="6172200" y="2057400"/>
            <a:ext cx="5468112" cy="1920240"/>
          </a:xfrm>
          <a:prstGeom prst="roundRect">
            <a:avLst>
              <a:gd name="adj" fmla="val 3810"/>
            </a:avLst>
          </a:prstGeom>
          <a:solidFill>
            <a:srgbClr val="FFFFFF"/>
          </a:solidFill>
          <a:ln w="15240">
            <a:solidFill>
              <a:srgbClr val="006633"/>
            </a:solidFill>
            <a:prstDash val="solid"/>
          </a:ln>
        </p:spPr>
        <p:txBody>
          <a:bodyPr/>
          <a:lstStyle/>
          <a:p>
            <a:endParaRPr lang="es-US" sz="2400"/>
          </a:p>
        </p:txBody>
      </p:sp>
      <p:sp>
        <p:nvSpPr>
          <p:cNvPr id="13" name="Shape 11"/>
          <p:cNvSpPr/>
          <p:nvPr/>
        </p:nvSpPr>
        <p:spPr>
          <a:xfrm>
            <a:off x="6172200" y="2057400"/>
            <a:ext cx="5468112" cy="411480"/>
          </a:xfrm>
          <a:prstGeom prst="rect">
            <a:avLst/>
          </a:prstGeom>
          <a:solidFill>
            <a:srgbClr val="006633"/>
          </a:solidFill>
          <a:ln w="12700">
            <a:solidFill>
              <a:srgbClr val="006633"/>
            </a:solidFill>
            <a:prstDash val="solid"/>
          </a:ln>
        </p:spPr>
        <p:txBody>
          <a:bodyPr/>
          <a:lstStyle/>
          <a:p>
            <a:endParaRPr lang="es-US" sz="2400"/>
          </a:p>
        </p:txBody>
      </p:sp>
      <p:sp>
        <p:nvSpPr>
          <p:cNvPr id="14" name="Text 12"/>
          <p:cNvSpPr/>
          <p:nvPr/>
        </p:nvSpPr>
        <p:spPr>
          <a:xfrm>
            <a:off x="6309360" y="2057400"/>
            <a:ext cx="5193792"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Property binding</a:t>
            </a:r>
            <a:endParaRPr lang="en-US" sz="1600" dirty="0"/>
          </a:p>
        </p:txBody>
      </p:sp>
      <p:sp>
        <p:nvSpPr>
          <p:cNvPr id="15" name="Text 13"/>
          <p:cNvSpPr/>
          <p:nvPr/>
        </p:nvSpPr>
        <p:spPr>
          <a:xfrm>
            <a:off x="6309360" y="2560320"/>
            <a:ext cx="5193792" cy="502920"/>
          </a:xfrm>
          <a:prstGeom prst="rect">
            <a:avLst/>
          </a:prstGeom>
          <a:noFill/>
          <a:ln/>
        </p:spPr>
        <p:txBody>
          <a:bodyPr wrap="square" rtlCol="0" anchor="ctr"/>
          <a:lstStyle/>
          <a:p>
            <a:pPr marL="0" indent="0">
              <a:buNone/>
            </a:pPr>
            <a:r>
              <a:rPr lang="en-US" b="1" dirty="0">
                <a:solidFill>
                  <a:srgbClr val="0057AE"/>
                </a:solidFill>
                <a:latin typeface="Courier New" pitchFamily="34" charset="0"/>
                <a:ea typeface="Courier New" pitchFamily="34" charset="-122"/>
                <a:cs typeface="Courier New" pitchFamily="34" charset="-120"/>
              </a:rPr>
              <a:t>[value]="libro.titulo"</a:t>
            </a:r>
            <a:endParaRPr lang="en-US" dirty="0"/>
          </a:p>
        </p:txBody>
      </p:sp>
      <p:sp>
        <p:nvSpPr>
          <p:cNvPr id="16" name="Text 14"/>
          <p:cNvSpPr/>
          <p:nvPr/>
        </p:nvSpPr>
        <p:spPr>
          <a:xfrm>
            <a:off x="6309360" y="3108960"/>
            <a:ext cx="5193792" cy="777240"/>
          </a:xfrm>
          <a:prstGeom prst="rect">
            <a:avLst/>
          </a:prstGeom>
          <a:noFill/>
          <a:ln/>
        </p:spPr>
        <p:txBody>
          <a:bodyPr wrap="square" rtlCol="0" anchor="t"/>
          <a:lstStyle/>
          <a:p>
            <a:pPr marL="0" indent="0">
              <a:buNone/>
            </a:pPr>
            <a:r>
              <a:rPr lang="en-US" sz="1600" dirty="0">
                <a:solidFill>
                  <a:srgbClr val="383A42"/>
                </a:solidFill>
                <a:latin typeface="Calibri" pitchFamily="34" charset="0"/>
                <a:ea typeface="Calibri" pitchFamily="34" charset="-122"/>
                <a:cs typeface="Calibri" pitchFamily="34" charset="-120"/>
              </a:rPr>
              <a:t>Asigna un valor a una propiedad del elemento HTML.</a:t>
            </a:r>
            <a:endParaRPr lang="en-US" sz="1600" dirty="0"/>
          </a:p>
        </p:txBody>
      </p:sp>
      <p:sp>
        <p:nvSpPr>
          <p:cNvPr id="17" name="Shape 15"/>
          <p:cNvSpPr/>
          <p:nvPr/>
        </p:nvSpPr>
        <p:spPr>
          <a:xfrm>
            <a:off x="548640" y="4114800"/>
            <a:ext cx="5468112" cy="1920240"/>
          </a:xfrm>
          <a:prstGeom prst="roundRect">
            <a:avLst>
              <a:gd name="adj" fmla="val 3810"/>
            </a:avLst>
          </a:prstGeom>
          <a:solidFill>
            <a:srgbClr val="FFFFFF"/>
          </a:solidFill>
          <a:ln w="15240">
            <a:solidFill>
              <a:srgbClr val="006633"/>
            </a:solidFill>
            <a:prstDash val="solid"/>
          </a:ln>
        </p:spPr>
        <p:txBody>
          <a:bodyPr/>
          <a:lstStyle/>
          <a:p>
            <a:endParaRPr lang="es-US" sz="2400"/>
          </a:p>
        </p:txBody>
      </p:sp>
      <p:sp>
        <p:nvSpPr>
          <p:cNvPr id="18" name="Shape 16"/>
          <p:cNvSpPr/>
          <p:nvPr/>
        </p:nvSpPr>
        <p:spPr>
          <a:xfrm>
            <a:off x="548640" y="4114800"/>
            <a:ext cx="5468112" cy="411480"/>
          </a:xfrm>
          <a:prstGeom prst="rect">
            <a:avLst/>
          </a:prstGeom>
          <a:solidFill>
            <a:srgbClr val="006633"/>
          </a:solidFill>
          <a:ln w="12700">
            <a:solidFill>
              <a:srgbClr val="006633"/>
            </a:solidFill>
            <a:prstDash val="solid"/>
          </a:ln>
        </p:spPr>
        <p:txBody>
          <a:bodyPr/>
          <a:lstStyle/>
          <a:p>
            <a:endParaRPr lang="es-US" sz="2400"/>
          </a:p>
        </p:txBody>
      </p:sp>
      <p:sp>
        <p:nvSpPr>
          <p:cNvPr id="19" name="Text 17"/>
          <p:cNvSpPr/>
          <p:nvPr/>
        </p:nvSpPr>
        <p:spPr>
          <a:xfrm>
            <a:off x="685800" y="4114800"/>
            <a:ext cx="5193792"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Event binding</a:t>
            </a:r>
            <a:endParaRPr lang="en-US" sz="1600" dirty="0"/>
          </a:p>
        </p:txBody>
      </p:sp>
      <p:sp>
        <p:nvSpPr>
          <p:cNvPr id="20" name="Text 18"/>
          <p:cNvSpPr/>
          <p:nvPr/>
        </p:nvSpPr>
        <p:spPr>
          <a:xfrm>
            <a:off x="685800" y="4617720"/>
            <a:ext cx="5193792" cy="502920"/>
          </a:xfrm>
          <a:prstGeom prst="rect">
            <a:avLst/>
          </a:prstGeom>
          <a:noFill/>
          <a:ln/>
        </p:spPr>
        <p:txBody>
          <a:bodyPr wrap="square" rtlCol="0" anchor="ctr"/>
          <a:lstStyle/>
          <a:p>
            <a:pPr marL="0" indent="0">
              <a:buNone/>
            </a:pPr>
            <a:r>
              <a:rPr lang="en-US" b="1" dirty="0">
                <a:solidFill>
                  <a:srgbClr val="0057AE"/>
                </a:solidFill>
                <a:latin typeface="Courier New" pitchFamily="34" charset="0"/>
                <a:ea typeface="Courier New" pitchFamily="34" charset="-122"/>
                <a:cs typeface="Courier New" pitchFamily="34" charset="-120"/>
              </a:rPr>
              <a:t>(click)="onGuardar()"</a:t>
            </a:r>
            <a:endParaRPr lang="en-US" dirty="0"/>
          </a:p>
        </p:txBody>
      </p:sp>
      <p:sp>
        <p:nvSpPr>
          <p:cNvPr id="21" name="Text 19"/>
          <p:cNvSpPr/>
          <p:nvPr/>
        </p:nvSpPr>
        <p:spPr>
          <a:xfrm>
            <a:off x="685800" y="5166360"/>
            <a:ext cx="5193792" cy="777240"/>
          </a:xfrm>
          <a:prstGeom prst="rect">
            <a:avLst/>
          </a:prstGeom>
          <a:noFill/>
          <a:ln/>
        </p:spPr>
        <p:txBody>
          <a:bodyPr wrap="square" rtlCol="0" anchor="t"/>
          <a:lstStyle/>
          <a:p>
            <a:pPr marL="0" indent="0">
              <a:buNone/>
            </a:pPr>
            <a:r>
              <a:rPr lang="en-US" sz="1600" dirty="0">
                <a:solidFill>
                  <a:srgbClr val="383A42"/>
                </a:solidFill>
                <a:latin typeface="Calibri" pitchFamily="34" charset="0"/>
                <a:ea typeface="Calibri" pitchFamily="34" charset="-122"/>
                <a:cs typeface="Calibri" pitchFamily="34" charset="-120"/>
              </a:rPr>
              <a:t>Enlaza un evento del DOM a un metodo de la clase.</a:t>
            </a:r>
            <a:endParaRPr lang="en-US" sz="1600" dirty="0"/>
          </a:p>
        </p:txBody>
      </p:sp>
      <p:sp>
        <p:nvSpPr>
          <p:cNvPr id="22" name="Shape 20"/>
          <p:cNvSpPr/>
          <p:nvPr/>
        </p:nvSpPr>
        <p:spPr>
          <a:xfrm>
            <a:off x="6172200" y="4114800"/>
            <a:ext cx="5468112" cy="1920240"/>
          </a:xfrm>
          <a:prstGeom prst="roundRect">
            <a:avLst>
              <a:gd name="adj" fmla="val 3810"/>
            </a:avLst>
          </a:prstGeom>
          <a:solidFill>
            <a:srgbClr val="FFFFFF"/>
          </a:solidFill>
          <a:ln w="15240">
            <a:solidFill>
              <a:srgbClr val="006633"/>
            </a:solidFill>
            <a:prstDash val="solid"/>
          </a:ln>
        </p:spPr>
        <p:txBody>
          <a:bodyPr/>
          <a:lstStyle/>
          <a:p>
            <a:endParaRPr lang="es-US" sz="2400"/>
          </a:p>
        </p:txBody>
      </p:sp>
      <p:sp>
        <p:nvSpPr>
          <p:cNvPr id="23" name="Shape 21"/>
          <p:cNvSpPr/>
          <p:nvPr/>
        </p:nvSpPr>
        <p:spPr>
          <a:xfrm>
            <a:off x="6172200" y="4114800"/>
            <a:ext cx="5468112" cy="411480"/>
          </a:xfrm>
          <a:prstGeom prst="rect">
            <a:avLst/>
          </a:prstGeom>
          <a:solidFill>
            <a:srgbClr val="006633"/>
          </a:solidFill>
          <a:ln w="12700">
            <a:solidFill>
              <a:srgbClr val="006633"/>
            </a:solidFill>
            <a:prstDash val="solid"/>
          </a:ln>
        </p:spPr>
        <p:txBody>
          <a:bodyPr/>
          <a:lstStyle/>
          <a:p>
            <a:endParaRPr lang="es-US" sz="2400"/>
          </a:p>
        </p:txBody>
      </p:sp>
      <p:sp>
        <p:nvSpPr>
          <p:cNvPr id="24" name="Text 22"/>
          <p:cNvSpPr/>
          <p:nvPr/>
        </p:nvSpPr>
        <p:spPr>
          <a:xfrm>
            <a:off x="6309360" y="4114800"/>
            <a:ext cx="5193792"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Two-way binding</a:t>
            </a:r>
            <a:endParaRPr lang="en-US" sz="1600" dirty="0"/>
          </a:p>
        </p:txBody>
      </p:sp>
      <p:sp>
        <p:nvSpPr>
          <p:cNvPr id="25" name="Text 23"/>
          <p:cNvSpPr/>
          <p:nvPr/>
        </p:nvSpPr>
        <p:spPr>
          <a:xfrm>
            <a:off x="6309360" y="4617720"/>
            <a:ext cx="5193792" cy="502920"/>
          </a:xfrm>
          <a:prstGeom prst="rect">
            <a:avLst/>
          </a:prstGeom>
          <a:noFill/>
          <a:ln/>
        </p:spPr>
        <p:txBody>
          <a:bodyPr wrap="square" rtlCol="0" anchor="ctr"/>
          <a:lstStyle/>
          <a:p>
            <a:pPr marL="0" indent="0">
              <a:buNone/>
            </a:pPr>
            <a:r>
              <a:rPr lang="en-US" b="1" dirty="0">
                <a:solidFill>
                  <a:srgbClr val="0057AE"/>
                </a:solidFill>
                <a:latin typeface="Courier New" pitchFamily="34" charset="0"/>
                <a:ea typeface="Courier New" pitchFamily="34" charset="-122"/>
                <a:cs typeface="Courier New" pitchFamily="34" charset="-120"/>
              </a:rPr>
              <a:t>[(ngModel)]="libro.titulo"</a:t>
            </a:r>
            <a:endParaRPr lang="en-US" dirty="0"/>
          </a:p>
        </p:txBody>
      </p:sp>
      <p:sp>
        <p:nvSpPr>
          <p:cNvPr id="26" name="Text 24"/>
          <p:cNvSpPr/>
          <p:nvPr/>
        </p:nvSpPr>
        <p:spPr>
          <a:xfrm>
            <a:off x="6309360" y="5166360"/>
            <a:ext cx="5193792" cy="777240"/>
          </a:xfrm>
          <a:prstGeom prst="rect">
            <a:avLst/>
          </a:prstGeom>
          <a:noFill/>
          <a:ln/>
        </p:spPr>
        <p:txBody>
          <a:bodyPr wrap="square" rtlCol="0" anchor="t"/>
          <a:lstStyle/>
          <a:p>
            <a:pPr marL="0" indent="0">
              <a:buNone/>
            </a:pPr>
            <a:r>
              <a:rPr lang="en-US" sz="1600" dirty="0">
                <a:solidFill>
                  <a:srgbClr val="383A42"/>
                </a:solidFill>
                <a:latin typeface="Calibri" pitchFamily="34" charset="0"/>
                <a:ea typeface="Calibri" pitchFamily="34" charset="-122"/>
                <a:cs typeface="Calibri" pitchFamily="34" charset="-120"/>
              </a:rPr>
              <a:t>Sincronia bidireccional; requiere FormsModule.</a:t>
            </a:r>
            <a:endParaRPr lang="en-US" sz="1600" dirty="0"/>
          </a:p>
        </p:txBody>
      </p:sp>
      <p:sp>
        <p:nvSpPr>
          <p:cNvPr id="27" name="Shape 25"/>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28" name="Text 26"/>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9" name="Text 27"/>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22 --- 18 / 36</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4. FUNDAMENTOS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Control flow: @if y @for</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685800"/>
          </a:xfrm>
          <a:prstGeom prst="rect">
            <a:avLst/>
          </a:prstGeom>
          <a:noFill/>
          <a:ln/>
        </p:spPr>
        <p:txBody>
          <a:bodyPr wrap="square" rtlCol="0" anchor="t"/>
          <a:lstStyle/>
          <a:p>
            <a:pPr marL="0" indent="0">
              <a:buNone/>
            </a:pPr>
            <a:r>
              <a:rPr lang="en-US" sz="1500" dirty="0">
                <a:solidFill>
                  <a:srgbClr val="383A42"/>
                </a:solidFill>
                <a:latin typeface="Calibri" pitchFamily="34" charset="0"/>
                <a:ea typeface="Calibri" pitchFamily="34" charset="-122"/>
                <a:cs typeface="Calibri" pitchFamily="34" charset="-120"/>
              </a:rPr>
              <a:t>Desde Angular 17 se recomienda el nuevo control flow con las etiquetas @if, @for y @switch, mas rapido y mas legible que las directivas historicas *ngIf y *ngFor.</a:t>
            </a:r>
            <a:endParaRPr lang="en-US" sz="1500" dirty="0"/>
          </a:p>
        </p:txBody>
      </p:sp>
      <p:sp>
        <p:nvSpPr>
          <p:cNvPr id="7" name="Shape 5"/>
          <p:cNvSpPr/>
          <p:nvPr/>
        </p:nvSpPr>
        <p:spPr>
          <a:xfrm>
            <a:off x="548640" y="2240280"/>
            <a:ext cx="11091672" cy="3337560"/>
          </a:xfrm>
          <a:prstGeom prst="roundRect">
            <a:avLst>
              <a:gd name="adj" fmla="val 1644"/>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48640" y="2240280"/>
            <a:ext cx="173736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594360" y="225856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template.html</a:t>
            </a:r>
            <a:endParaRPr lang="en-US" sz="1000" dirty="0"/>
          </a:p>
        </p:txBody>
      </p:sp>
      <p:sp>
        <p:nvSpPr>
          <p:cNvPr id="10" name="Text 8"/>
          <p:cNvSpPr txBox="1"/>
          <p:nvPr/>
        </p:nvSpPr>
        <p:spPr>
          <a:xfrm>
            <a:off x="640080" y="2587752"/>
            <a:ext cx="10908792" cy="2898648"/>
          </a:xfrm>
          <a:prstGeom prst="rect">
            <a:avLst/>
          </a:prstGeom>
          <a:noFill/>
          <a:ln/>
        </p:spPr>
        <p:txBody>
          <a:bodyPr wrap="square" rtlCol="0" anchor="t"/>
          <a:lstStyle/>
          <a:p>
            <a:pPr marL="0" indent="0">
              <a:buNone/>
            </a:pPr>
            <a:r>
              <a:rPr lang="en-US" sz="1300" i="1" dirty="0">
                <a:solidFill>
                  <a:srgbClr val="717171"/>
                </a:solidFill>
                <a:latin typeface="Courier New" pitchFamily="34" charset="0"/>
                <a:ea typeface="Courier New" pitchFamily="34" charset="-122"/>
                <a:cs typeface="Courier New" pitchFamily="34" charset="-120"/>
              </a:rPr>
              <a:t>&lt;!-- Renderizado condicional --&gt;
</a:t>
            </a:r>
            <a:r>
              <a:rPr lang="en-US" sz="1300" dirty="0">
                <a:solidFill>
                  <a:srgbClr val="383A42"/>
                </a:solidFill>
                <a:latin typeface="Courier New" pitchFamily="34" charset="0"/>
                <a:ea typeface="Courier New" pitchFamily="34" charset="-122"/>
                <a:cs typeface="Courier New" pitchFamily="34" charset="-120"/>
              </a:rPr>
              <a:t>@if (libro) {</a:t>
            </a:r>
            <a:endParaRPr lang="en-US" sz="1300" dirty="0"/>
          </a:p>
          <a:p>
            <a:pPr marL="0" indent="0">
              <a:buNone/>
            </a:pPr>
            <a:r>
              <a:rPr lang="en-US" sz="1300" dirty="0">
                <a:solidFill>
                  <a:srgbClr val="383A42"/>
                </a:solidFill>
                <a:latin typeface="Courier New" pitchFamily="34" charset="0"/>
                <a:ea typeface="Courier New" pitchFamily="34" charset="-122"/>
                <a:cs typeface="Courier New" pitchFamily="34" charset="-120"/>
              </a:rPr>
              <a:t>  &lt;h2&gt;{{ libro.titulo }}&lt;/h2&gt;</a:t>
            </a:r>
            <a:endParaRPr lang="en-US" sz="1300" dirty="0"/>
          </a:p>
          <a:p>
            <a:pPr marL="0" indent="0">
              <a:buNone/>
            </a:pPr>
            <a:r>
              <a:rPr lang="en-US" sz="1300" dirty="0">
                <a:solidFill>
                  <a:srgbClr val="383A42"/>
                </a:solidFill>
                <a:latin typeface="Courier New" pitchFamily="34" charset="0"/>
                <a:ea typeface="Courier New" pitchFamily="34" charset="-122"/>
                <a:cs typeface="Courier New" pitchFamily="34" charset="-120"/>
              </a:rPr>
              <a:t>} @else {</a:t>
            </a:r>
            <a:endParaRPr lang="en-US" sz="1300" dirty="0"/>
          </a:p>
          <a:p>
            <a:pPr marL="0" indent="0">
              <a:buNone/>
            </a:pPr>
            <a:r>
              <a:rPr lang="en-US" sz="1300" dirty="0">
                <a:solidFill>
                  <a:srgbClr val="383A42"/>
                </a:solidFill>
                <a:latin typeface="Courier New" pitchFamily="34" charset="0"/>
                <a:ea typeface="Courier New" pitchFamily="34" charset="-122"/>
                <a:cs typeface="Courier New" pitchFamily="34" charset="-120"/>
              </a:rPr>
              <a:t>  &lt;p&gt;No hay libro seleccionado.&lt;/p&gt;</a:t>
            </a:r>
            <a:endParaRPr lang="en-US" sz="1300" dirty="0"/>
          </a:p>
          <a:p>
            <a:pPr marL="0" indent="0">
              <a:buNone/>
            </a:pPr>
            <a:r>
              <a:rPr lang="en-US" sz="1300" dirty="0">
                <a:solidFill>
                  <a:srgbClr val="383A42"/>
                </a:solidFill>
                <a:latin typeface="Courier New" pitchFamily="34" charset="0"/>
                <a:ea typeface="Courier New" pitchFamily="34" charset="-122"/>
                <a:cs typeface="Courier New" pitchFamily="34" charset="-120"/>
              </a:rPr>
              <a:t>}</a:t>
            </a:r>
            <a:r>
              <a:rPr lang="en-US" sz="1300" dirty="0">
                <a:solidFill>
                  <a:srgbClr val="000000"/>
                </a:solidFill>
              </a:rPr>
              <a:t>
</a:t>
            </a:r>
            <a:endParaRPr lang="en-US" sz="1300" dirty="0"/>
          </a:p>
          <a:p>
            <a:pPr marL="0" indent="0">
              <a:buNone/>
            </a:pPr>
            <a:r>
              <a:rPr lang="en-US" sz="1300" i="1" dirty="0">
                <a:solidFill>
                  <a:srgbClr val="717171"/>
                </a:solidFill>
                <a:latin typeface="Courier New" pitchFamily="34" charset="0"/>
                <a:ea typeface="Courier New" pitchFamily="34" charset="-122"/>
                <a:cs typeface="Courier New" pitchFamily="34" charset="-120"/>
              </a:rPr>
              <a:t>&lt;!-- Iteracion sobre una lista --&gt;
</a:t>
            </a:r>
            <a:r>
              <a:rPr lang="en-US" sz="1300" dirty="0">
                <a:solidFill>
                  <a:srgbClr val="383A42"/>
                </a:solidFill>
                <a:latin typeface="Courier New" pitchFamily="34" charset="0"/>
                <a:ea typeface="Courier New" pitchFamily="34" charset="-122"/>
                <a:cs typeface="Courier New" pitchFamily="34" charset="-120"/>
              </a:rPr>
              <a:t>@for (l of libros; track l.id) {</a:t>
            </a:r>
            <a:endParaRPr lang="en-US" sz="1300" dirty="0"/>
          </a:p>
          <a:p>
            <a:pPr marL="0" indent="0">
              <a:buNone/>
            </a:pPr>
            <a:r>
              <a:rPr lang="en-US" sz="1300" dirty="0">
                <a:solidFill>
                  <a:srgbClr val="383A42"/>
                </a:solidFill>
                <a:latin typeface="Courier New" pitchFamily="34" charset="0"/>
                <a:ea typeface="Courier New" pitchFamily="34" charset="-122"/>
                <a:cs typeface="Courier New" pitchFamily="34" charset="-120"/>
              </a:rPr>
              <a:t>  &lt;li&gt;{{ l.titulo }} --- {{ l.autor }}&lt;/li&gt;</a:t>
            </a:r>
            <a:r>
              <a:rPr lang="en-US" sz="1300" dirty="0">
                <a:solidFill>
                  <a:srgbClr val="000000"/>
                </a:solidFill>
              </a:rPr>
              <a:t>
</a:t>
            </a:r>
            <a:endParaRPr lang="en-US" sz="1300" dirty="0"/>
          </a:p>
          <a:p>
            <a:pPr marL="0" indent="0">
              <a:buNone/>
            </a:pPr>
            <a:r>
              <a:rPr lang="en-US" sz="1300" dirty="0">
                <a:solidFill>
                  <a:srgbClr val="383A42"/>
                </a:solidFill>
                <a:latin typeface="Courier New" pitchFamily="34" charset="0"/>
                <a:ea typeface="Courier New" pitchFamily="34" charset="-122"/>
                <a:cs typeface="Courier New" pitchFamily="34" charset="-120"/>
              </a:rPr>
              <a:t>} @empty {</a:t>
            </a:r>
            <a:endParaRPr lang="en-US" sz="1300" dirty="0"/>
          </a:p>
          <a:p>
            <a:pPr marL="0" indent="0">
              <a:buNone/>
            </a:pPr>
            <a:r>
              <a:rPr lang="en-US" sz="1300" dirty="0">
                <a:solidFill>
                  <a:srgbClr val="383A42"/>
                </a:solidFill>
                <a:latin typeface="Courier New" pitchFamily="34" charset="0"/>
                <a:ea typeface="Courier New" pitchFamily="34" charset="-122"/>
                <a:cs typeface="Courier New" pitchFamily="34" charset="-120"/>
              </a:rPr>
              <a:t>  &lt;li&gt;El catalogo esta vacio.&lt;/li&gt;</a:t>
            </a:r>
            <a:endParaRPr lang="en-US" sz="1300" dirty="0"/>
          </a:p>
          <a:p>
            <a:pPr marL="0" indent="0">
              <a:buNone/>
            </a:pPr>
            <a:r>
              <a:rPr lang="en-US" sz="1300" dirty="0">
                <a:solidFill>
                  <a:srgbClr val="383A42"/>
                </a:solidFill>
                <a:latin typeface="Courier New" pitchFamily="34" charset="0"/>
                <a:ea typeface="Courier New" pitchFamily="34" charset="-122"/>
                <a:cs typeface="Courier New" pitchFamily="34" charset="-120"/>
              </a:rPr>
              <a:t>}</a:t>
            </a:r>
            <a:r>
              <a:rPr lang="en-US" sz="1300" dirty="0">
                <a:solidFill>
                  <a:srgbClr val="000000"/>
                </a:solidFill>
              </a:rPr>
              <a:t>
</a:t>
            </a:r>
            <a:endParaRPr lang="en-US" sz="1300" dirty="0"/>
          </a:p>
        </p:txBody>
      </p:sp>
      <p:sp>
        <p:nvSpPr>
          <p:cNvPr id="11" name="Shape 9"/>
          <p:cNvSpPr/>
          <p:nvPr/>
        </p:nvSpPr>
        <p:spPr>
          <a:xfrm>
            <a:off x="548640" y="5669280"/>
            <a:ext cx="11091672" cy="640080"/>
          </a:xfrm>
          <a:prstGeom prst="roundRect">
            <a:avLst>
              <a:gd name="adj" fmla="val 11429"/>
            </a:avLst>
          </a:prstGeom>
          <a:solidFill>
            <a:srgbClr val="FBF0D8"/>
          </a:solidFill>
          <a:ln w="12700">
            <a:solidFill>
              <a:srgbClr val="B8860B"/>
            </a:solidFill>
            <a:prstDash val="solid"/>
          </a:ln>
        </p:spPr>
        <p:txBody>
          <a:bodyPr/>
          <a:lstStyle/>
          <a:p>
            <a:endParaRPr lang="es-US"/>
          </a:p>
        </p:txBody>
      </p:sp>
      <p:sp>
        <p:nvSpPr>
          <p:cNvPr id="12" name="Shape 10"/>
          <p:cNvSpPr/>
          <p:nvPr/>
        </p:nvSpPr>
        <p:spPr>
          <a:xfrm>
            <a:off x="548640" y="5669280"/>
            <a:ext cx="91440" cy="640080"/>
          </a:xfrm>
          <a:prstGeom prst="rect">
            <a:avLst/>
          </a:prstGeom>
          <a:solidFill>
            <a:srgbClr val="B8860B"/>
          </a:solidFill>
          <a:ln w="12700">
            <a:solidFill>
              <a:srgbClr val="B8860B"/>
            </a:solidFill>
            <a:prstDash val="solid"/>
          </a:ln>
        </p:spPr>
        <p:txBody>
          <a:bodyPr/>
          <a:lstStyle/>
          <a:p>
            <a:endParaRPr lang="es-US"/>
          </a:p>
        </p:txBody>
      </p:sp>
      <p:sp>
        <p:nvSpPr>
          <p:cNvPr id="13" name="Text 11"/>
          <p:cNvSpPr/>
          <p:nvPr/>
        </p:nvSpPr>
        <p:spPr>
          <a:xfrm>
            <a:off x="731520" y="5724144"/>
            <a:ext cx="10817352" cy="274320"/>
          </a:xfrm>
          <a:prstGeom prst="rect">
            <a:avLst/>
          </a:prstGeom>
          <a:noFill/>
          <a:ln/>
        </p:spPr>
        <p:txBody>
          <a:bodyPr wrap="square" rtlCol="0" anchor="ctr"/>
          <a:lstStyle/>
          <a:p>
            <a:pPr marL="0" indent="0">
              <a:buNone/>
            </a:pPr>
            <a:r>
              <a:rPr lang="en-US" sz="1200" b="1" dirty="0">
                <a:solidFill>
                  <a:srgbClr val="B8860B"/>
                </a:solidFill>
                <a:latin typeface="Calibri" pitchFamily="34" charset="0"/>
                <a:ea typeface="Calibri" pitchFamily="34" charset="-122"/>
                <a:cs typeface="Calibri" pitchFamily="34" charset="-120"/>
              </a:rPr>
              <a:t>@for requiere track</a:t>
            </a:r>
            <a:endParaRPr lang="en-US" sz="1200" dirty="0"/>
          </a:p>
        </p:txBody>
      </p:sp>
      <p:sp>
        <p:nvSpPr>
          <p:cNvPr id="14" name="Text 12"/>
          <p:cNvSpPr/>
          <p:nvPr/>
        </p:nvSpPr>
        <p:spPr>
          <a:xfrm>
            <a:off x="731520" y="5998464"/>
            <a:ext cx="10817352" cy="256032"/>
          </a:xfrm>
          <a:prstGeom prst="rect">
            <a:avLst/>
          </a:prstGeom>
          <a:noFill/>
          <a:ln/>
        </p:spPr>
        <p:txBody>
          <a:bodyPr wrap="square" rtlCol="0" anchor="t"/>
          <a:lstStyle/>
          <a:p>
            <a:pPr marL="0" indent="0">
              <a:spcAft>
                <a:spcPts val="300"/>
              </a:spcAft>
              <a:buNone/>
            </a:pPr>
            <a:r>
              <a:rPr lang="en-US" sz="1200" dirty="0">
                <a:solidFill>
                  <a:srgbClr val="383A42"/>
                </a:solidFill>
                <a:latin typeface="Calibri" pitchFamily="34" charset="0"/>
                <a:ea typeface="Calibri" pitchFamily="34" charset="-122"/>
                <a:cs typeface="Calibri" pitchFamily="34" charset="-120"/>
              </a:rPr>
              <a:t>El identificador track (por ejemplo track l.id) es obligatorio: sin el Angular no puede optimizar los cambios en la lista y arroja error de compilacion.</a:t>
            </a:r>
            <a:endParaRPr lang="en-US" sz="1200" dirty="0"/>
          </a:p>
        </p:txBody>
      </p:sp>
      <p:sp>
        <p:nvSpPr>
          <p:cNvPr id="15" name="Shape 13"/>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6" name="Text 14"/>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7" name="Text 15"/>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22 --- 19 / 36</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4. FUNDAMENTOS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Servicios e inyeccion de dependencias</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960120"/>
          </a:xfrm>
          <a:prstGeom prst="rect">
            <a:avLst/>
          </a:prstGeom>
          <a:noFill/>
          <a:ln/>
        </p:spPr>
        <p:txBody>
          <a:bodyPr wrap="square" rtlCol="0" anchor="t"/>
          <a:lstStyle/>
          <a:p>
            <a:pPr marL="0" indent="0">
              <a:buNone/>
            </a:pPr>
            <a:r>
              <a:rPr lang="en-US" sz="1500" dirty="0">
                <a:solidFill>
                  <a:srgbClr val="383A42"/>
                </a:solidFill>
                <a:latin typeface="Calibri" pitchFamily="34" charset="0"/>
                <a:ea typeface="Calibri" pitchFamily="34" charset="-122"/>
                <a:cs typeface="Calibri" pitchFamily="34" charset="-120"/>
              </a:rPr>
              <a:t>Un servicio es una clase TypeScript decorada con @Injectable que encapsula logica que no pertenece a la vista: reglas de negocio, acceso a la API, cache, autenticacion. Se inyecta a los componentes en el constructor o con la funcion inject().</a:t>
            </a:r>
            <a:endParaRPr lang="en-US" sz="1500" dirty="0"/>
          </a:p>
        </p:txBody>
      </p:sp>
      <p:sp>
        <p:nvSpPr>
          <p:cNvPr id="7" name="Shape 5"/>
          <p:cNvSpPr/>
          <p:nvPr/>
        </p:nvSpPr>
        <p:spPr>
          <a:xfrm>
            <a:off x="548640" y="2514600"/>
            <a:ext cx="11091672" cy="3200400"/>
          </a:xfrm>
          <a:prstGeom prst="roundRect">
            <a:avLst>
              <a:gd name="adj" fmla="val 1558"/>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48640" y="2514600"/>
            <a:ext cx="173736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594360" y="253288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typescript</a:t>
            </a:r>
            <a:endParaRPr lang="en-US" sz="1000" dirty="0"/>
          </a:p>
        </p:txBody>
      </p:sp>
      <p:sp>
        <p:nvSpPr>
          <p:cNvPr id="10" name="Text 8"/>
          <p:cNvSpPr txBox="1"/>
          <p:nvPr/>
        </p:nvSpPr>
        <p:spPr>
          <a:xfrm>
            <a:off x="640080" y="2862072"/>
            <a:ext cx="10908792" cy="2689642"/>
          </a:xfrm>
          <a:prstGeom prst="rect">
            <a:avLst/>
          </a:prstGeom>
          <a:noFill/>
          <a:ln/>
        </p:spPr>
        <p:txBody>
          <a:bodyPr wrap="square" rtlCol="0" anchor="t"/>
          <a:lstStyle/>
          <a:p>
            <a:pPr marL="0" indent="0">
              <a:buNone/>
            </a:pPr>
            <a:r>
              <a:rPr lang="en-US" sz="1200" i="1" dirty="0">
                <a:solidFill>
                  <a:srgbClr val="717171"/>
                </a:solidFill>
                <a:latin typeface="Courier New" pitchFamily="34" charset="0"/>
                <a:ea typeface="Courier New" pitchFamily="34" charset="-122"/>
                <a:cs typeface="Courier New" pitchFamily="34" charset="-120"/>
              </a:rPr>
              <a:t>// biblioteq-front/src/app/libro.service.ts
</a:t>
            </a: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Injectable, inject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'@angular/core'</a:t>
            </a:r>
            <a:r>
              <a:rPr lang="en-US" sz="1200" dirty="0">
                <a:solidFill>
                  <a:srgbClr val="383A42"/>
                </a:solidFill>
                <a:latin typeface="Courier New" pitchFamily="34" charset="0"/>
                <a:ea typeface="Courier New" pitchFamily="34" charset="-122"/>
                <a:cs typeface="Courier New" pitchFamily="34" charset="-120"/>
              </a:rPr>
              <a:t>;</a:t>
            </a:r>
            <a:endParaRPr lang="en-US" sz="1200" dirty="0"/>
          </a:p>
          <a:p>
            <a:pPr marL="0" indent="0">
              <a:buNone/>
            </a:pP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HttpClient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'@angular/common/http'</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@Injectable({ providedIn: </a:t>
            </a:r>
            <a:r>
              <a:rPr lang="en-US" sz="1200" dirty="0">
                <a:solidFill>
                  <a:srgbClr val="C41A16"/>
                </a:solidFill>
                <a:latin typeface="Courier New" pitchFamily="34" charset="0"/>
                <a:ea typeface="Courier New" pitchFamily="34" charset="-122"/>
                <a:cs typeface="Courier New" pitchFamily="34" charset="-120"/>
              </a:rPr>
              <a:t>'root'</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000000"/>
                </a:solidFill>
              </a:rPr>
              <a:t>
</a:t>
            </a:r>
            <a:endParaRPr lang="en-US" sz="1200" dirty="0"/>
          </a:p>
          <a:p>
            <a:pPr marL="0" indent="0">
              <a:buNone/>
            </a:pPr>
            <a:r>
              <a:rPr lang="en-US" sz="1200" b="1" dirty="0">
                <a:solidFill>
                  <a:srgbClr val="0057AE"/>
                </a:solidFill>
                <a:latin typeface="Courier New" pitchFamily="34" charset="0"/>
                <a:ea typeface="Courier New" pitchFamily="34" charset="-122"/>
                <a:cs typeface="Courier New" pitchFamily="34" charset="-120"/>
              </a:rPr>
              <a:t>export</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class</a:t>
            </a:r>
            <a:r>
              <a:rPr lang="en-US" sz="1200" dirty="0">
                <a:solidFill>
                  <a:srgbClr val="383A42"/>
                </a:solidFill>
                <a:latin typeface="Courier New" pitchFamily="34" charset="0"/>
                <a:ea typeface="Courier New" pitchFamily="34" charset="-122"/>
                <a:cs typeface="Courier New" pitchFamily="34" charset="-120"/>
              </a:rPr>
              <a:t> </a:t>
            </a:r>
            <a:r>
              <a:rPr lang="en-US" sz="1200" dirty="0" err="1">
                <a:solidFill>
                  <a:srgbClr val="383A42"/>
                </a:solidFill>
                <a:latin typeface="Courier New" pitchFamily="34" charset="0"/>
                <a:ea typeface="Courier New" pitchFamily="34" charset="-122"/>
                <a:cs typeface="Courier New" pitchFamily="34" charset="-120"/>
              </a:rPr>
              <a:t>LibroService</a:t>
            </a:r>
            <a:r>
              <a:rPr lang="en-US" sz="1200" dirty="0">
                <a:solidFill>
                  <a:srgbClr val="383A42"/>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private</a:t>
            </a:r>
            <a:r>
              <a:rPr lang="en-US" sz="1200" dirty="0">
                <a:solidFill>
                  <a:srgbClr val="383A42"/>
                </a:solidFill>
                <a:latin typeface="Courier New" pitchFamily="34" charset="0"/>
                <a:ea typeface="Courier New" pitchFamily="34" charset="-122"/>
                <a:cs typeface="Courier New" pitchFamily="34" charset="-120"/>
              </a:rPr>
              <a:t> http = inject(</a:t>
            </a:r>
            <a:r>
              <a:rPr lang="en-US" sz="1200" dirty="0" err="1">
                <a:solidFill>
                  <a:srgbClr val="383A42"/>
                </a:solidFill>
                <a:latin typeface="Courier New" pitchFamily="34" charset="0"/>
                <a:ea typeface="Courier New" pitchFamily="34" charset="-122"/>
                <a:cs typeface="Courier New" pitchFamily="34" charset="-120"/>
              </a:rPr>
              <a:t>HttpClient</a:t>
            </a:r>
            <a:r>
              <a:rPr lang="en-US" sz="1200" dirty="0">
                <a:solidFill>
                  <a:srgbClr val="383A42"/>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private</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readonly</a:t>
            </a:r>
            <a:r>
              <a:rPr lang="en-US" sz="1200" dirty="0">
                <a:solidFill>
                  <a:srgbClr val="383A42"/>
                </a:solidFill>
                <a:latin typeface="Courier New" pitchFamily="34" charset="0"/>
                <a:ea typeface="Courier New" pitchFamily="34" charset="-122"/>
                <a:cs typeface="Courier New" pitchFamily="34" charset="-120"/>
              </a:rPr>
              <a:t> api = </a:t>
            </a:r>
            <a:r>
              <a:rPr lang="en-US" sz="1200" dirty="0">
                <a:solidFill>
                  <a:srgbClr val="C41A16"/>
                </a:solidFill>
                <a:latin typeface="Courier New" pitchFamily="34" charset="0"/>
                <a:ea typeface="Courier New" pitchFamily="34" charset="-122"/>
                <a:cs typeface="Courier New" pitchFamily="34" charset="-120"/>
              </a:rPr>
              <a:t>'http://localhost:8080/api/</a:t>
            </a:r>
            <a:r>
              <a:rPr lang="en-US" sz="1200" dirty="0" err="1">
                <a:solidFill>
                  <a:srgbClr val="C41A16"/>
                </a:solidFill>
                <a:latin typeface="Courier New" pitchFamily="34" charset="0"/>
                <a:ea typeface="Courier New" pitchFamily="34" charset="-122"/>
                <a:cs typeface="Courier New" pitchFamily="34" charset="-120"/>
              </a:rPr>
              <a:t>libros</a:t>
            </a:r>
            <a:r>
              <a:rPr lang="en-US" sz="1200" dirty="0">
                <a:solidFill>
                  <a:srgbClr val="C41A16"/>
                </a:solidFill>
                <a:latin typeface="Courier New" pitchFamily="34" charset="0"/>
                <a:ea typeface="Courier New" pitchFamily="34" charset="-122"/>
                <a:cs typeface="Courier New" pitchFamily="34" charset="-120"/>
              </a:rPr>
              <a:t>'</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listar()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return</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this</a:t>
            </a:r>
            <a:r>
              <a:rPr lang="en-US" sz="1200" dirty="0">
                <a:solidFill>
                  <a:srgbClr val="383A42"/>
                </a:solidFill>
                <a:latin typeface="Courier New" pitchFamily="34" charset="0"/>
                <a:ea typeface="Courier New" pitchFamily="34" charset="-122"/>
                <a:cs typeface="Courier New" pitchFamily="34" charset="-120"/>
              </a:rPr>
              <a:t>.http.get(</a:t>
            </a:r>
            <a:r>
              <a:rPr lang="en-US" sz="1200" b="1" dirty="0" err="1">
                <a:solidFill>
                  <a:srgbClr val="0057AE"/>
                </a:solidFill>
                <a:latin typeface="Courier New" pitchFamily="34" charset="0"/>
                <a:ea typeface="Courier New" pitchFamily="34" charset="-122"/>
                <a:cs typeface="Courier New" pitchFamily="34" charset="-120"/>
              </a:rPr>
              <a:t>this</a:t>
            </a:r>
            <a:r>
              <a:rPr lang="en-US" sz="1200" dirty="0" err="1">
                <a:solidFill>
                  <a:srgbClr val="383A42"/>
                </a:solidFill>
                <a:latin typeface="Courier New" pitchFamily="34" charset="0"/>
                <a:ea typeface="Courier New" pitchFamily="34" charset="-122"/>
                <a:cs typeface="Courier New" pitchFamily="34" charset="-120"/>
              </a:rPr>
              <a:t>.api</a:t>
            </a:r>
            <a:r>
              <a:rPr lang="en-US" sz="1200" dirty="0">
                <a:solidFill>
                  <a:srgbClr val="383A42"/>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p:txBody>
      </p:sp>
      <p:sp>
        <p:nvSpPr>
          <p:cNvPr id="11" name="Text 9"/>
          <p:cNvSpPr/>
          <p:nvPr/>
        </p:nvSpPr>
        <p:spPr>
          <a:xfrm>
            <a:off x="548640" y="5897880"/>
            <a:ext cx="11091672" cy="274320"/>
          </a:xfrm>
          <a:prstGeom prst="rect">
            <a:avLst/>
          </a:prstGeom>
          <a:noFill/>
          <a:ln/>
        </p:spPr>
        <p:txBody>
          <a:bodyPr wrap="square" rtlCol="0" anchor="t"/>
          <a:lstStyle/>
          <a:p>
            <a:pPr marL="0" indent="0">
              <a:buNone/>
            </a:pPr>
            <a:r>
              <a:rPr lang="en-US" sz="1200" i="1" dirty="0">
                <a:solidFill>
                  <a:srgbClr val="383A42"/>
                </a:solidFill>
                <a:latin typeface="Calibri" pitchFamily="34" charset="0"/>
                <a:ea typeface="Calibri" pitchFamily="34" charset="-122"/>
                <a:cs typeface="Calibri" pitchFamily="34" charset="-120"/>
              </a:rPr>
              <a:t>La bandera providedIn: 'root' registra el servicio como singleton en el inyector raiz: existe una sola instancia para toda la aplicacion. La funcion inject() de Angular 14+ reemplaza al constructor con parametros y hace mas legible el servicio.</a:t>
            </a:r>
            <a:endParaRPr lang="en-US" sz="1200" dirty="0"/>
          </a:p>
        </p:txBody>
      </p:sp>
      <p:sp>
        <p:nvSpPr>
          <p:cNvPr id="12" name="Shape 10"/>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3" name="Text 11"/>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4" name="Text 12"/>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22 --- 20 / 36</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CONSUMO DE APIS REST</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HttpClient: configurar el proveedor</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960120"/>
          </a:xfrm>
          <a:prstGeom prst="rect">
            <a:avLst/>
          </a:prstGeom>
          <a:noFill/>
          <a:ln/>
        </p:spPr>
        <p:txBody>
          <a:bodyPr wrap="square" rtlCol="0" anchor="t"/>
          <a:lstStyle/>
          <a:p>
            <a:pPr marL="0" indent="0">
              <a:buNone/>
            </a:pPr>
            <a:r>
              <a:rPr lang="en-US" sz="1500" dirty="0">
                <a:solidFill>
                  <a:srgbClr val="383A42"/>
                </a:solidFill>
                <a:latin typeface="Calibri" pitchFamily="34" charset="0"/>
                <a:ea typeface="Calibri" pitchFamily="34" charset="-122"/>
                <a:cs typeface="Calibri" pitchFamily="34" charset="-120"/>
              </a:rPr>
              <a:t>HttpClient es el modulo oficial de Angular para hablar con APIs por HTTP. Devuelve Observables de RxJS, lo que permite componer, cancelar y transformar peticiones. Antes de usarlo hay que registrarlo en la configuracion global.</a:t>
            </a:r>
            <a:endParaRPr lang="en-US" sz="1500" dirty="0"/>
          </a:p>
        </p:txBody>
      </p:sp>
      <p:sp>
        <p:nvSpPr>
          <p:cNvPr id="7" name="Shape 5"/>
          <p:cNvSpPr/>
          <p:nvPr/>
        </p:nvSpPr>
        <p:spPr>
          <a:xfrm>
            <a:off x="548640" y="2514600"/>
            <a:ext cx="11091672" cy="2926080"/>
          </a:xfrm>
          <a:prstGeom prst="roundRect">
            <a:avLst>
              <a:gd name="adj" fmla="val 1667"/>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48640" y="2514600"/>
            <a:ext cx="173736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594360" y="253288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typescript</a:t>
            </a:r>
            <a:endParaRPr lang="en-US" sz="1000" dirty="0"/>
          </a:p>
        </p:txBody>
      </p:sp>
      <p:sp>
        <p:nvSpPr>
          <p:cNvPr id="10" name="Text 8"/>
          <p:cNvSpPr txBox="1"/>
          <p:nvPr/>
        </p:nvSpPr>
        <p:spPr>
          <a:xfrm>
            <a:off x="640080" y="2862072"/>
            <a:ext cx="10908792" cy="2414016"/>
          </a:xfrm>
          <a:prstGeom prst="rect">
            <a:avLst/>
          </a:prstGeom>
          <a:noFill/>
          <a:ln/>
        </p:spPr>
        <p:txBody>
          <a:bodyPr wrap="square" rtlCol="0" anchor="t"/>
          <a:lstStyle/>
          <a:p>
            <a:pPr marL="0" indent="0">
              <a:buNone/>
            </a:pPr>
            <a:r>
              <a:rPr lang="en-US" sz="1200" i="1" dirty="0">
                <a:solidFill>
                  <a:srgbClr val="717171"/>
                </a:solidFill>
                <a:latin typeface="Courier New" pitchFamily="34" charset="0"/>
                <a:ea typeface="Courier New" pitchFamily="34" charset="-122"/>
                <a:cs typeface="Courier New" pitchFamily="34" charset="-120"/>
              </a:rPr>
              <a:t>// biblioteq-front/src/app/app.config.ts
</a:t>
            </a: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ApplicationConfig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'@angular/core'</a:t>
            </a:r>
            <a:r>
              <a:rPr lang="en-US" sz="1200" dirty="0">
                <a:solidFill>
                  <a:srgbClr val="383A42"/>
                </a:solidFill>
                <a:latin typeface="Courier New" pitchFamily="34" charset="0"/>
                <a:ea typeface="Courier New" pitchFamily="34" charset="-122"/>
                <a:cs typeface="Courier New" pitchFamily="34" charset="-120"/>
              </a:rPr>
              <a:t>;</a:t>
            </a:r>
            <a:endParaRPr lang="en-US" sz="1200" dirty="0"/>
          </a:p>
          <a:p>
            <a:pPr marL="0" indent="0">
              <a:buNone/>
            </a:pP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provideRouter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'@angular/router'</a:t>
            </a:r>
            <a:r>
              <a:rPr lang="en-US" sz="1200" dirty="0">
                <a:solidFill>
                  <a:srgbClr val="383A42"/>
                </a:solidFill>
                <a:latin typeface="Courier New" pitchFamily="34" charset="0"/>
                <a:ea typeface="Courier New" pitchFamily="34" charset="-122"/>
                <a:cs typeface="Courier New" pitchFamily="34" charset="-120"/>
              </a:rPr>
              <a:t>;</a:t>
            </a:r>
            <a:endParaRPr lang="en-US" sz="1200" dirty="0"/>
          </a:p>
          <a:p>
            <a:pPr marL="0" indent="0">
              <a:buNone/>
            </a:pP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provideHttpClient, withInterceptors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'@angular/common/http'</a:t>
            </a:r>
            <a:r>
              <a:rPr lang="en-US" sz="1200" dirty="0">
                <a:solidFill>
                  <a:srgbClr val="383A42"/>
                </a:solidFill>
                <a:latin typeface="Courier New" pitchFamily="34" charset="0"/>
                <a:ea typeface="Courier New" pitchFamily="34" charset="-122"/>
                <a:cs typeface="Courier New" pitchFamily="34" charset="-120"/>
              </a:rPr>
              <a:t>;</a:t>
            </a:r>
            <a:endParaRPr lang="en-US" sz="1200" dirty="0"/>
          </a:p>
          <a:p>
            <a:pPr marL="0" indent="0">
              <a:buNone/>
            </a:pP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routes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'./app.routes'</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b="1" dirty="0">
                <a:solidFill>
                  <a:srgbClr val="0057AE"/>
                </a:solidFill>
                <a:latin typeface="Courier New" pitchFamily="34" charset="0"/>
                <a:ea typeface="Courier New" pitchFamily="34" charset="-122"/>
                <a:cs typeface="Courier New" pitchFamily="34" charset="-120"/>
              </a:rPr>
              <a:t>export</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const</a:t>
            </a:r>
            <a:r>
              <a:rPr lang="en-US" sz="1200" dirty="0">
                <a:solidFill>
                  <a:srgbClr val="383A42"/>
                </a:solidFill>
                <a:latin typeface="Courier New" pitchFamily="34" charset="0"/>
                <a:ea typeface="Courier New" pitchFamily="34" charset="-122"/>
                <a:cs typeface="Courier New" pitchFamily="34" charset="-120"/>
              </a:rPr>
              <a:t> appConfig: ApplicationConfig =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providers: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provideRouter(routes),</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provideHttpClient(</a:t>
            </a:r>
            <a:r>
              <a:rPr lang="en-US" sz="1200" dirty="0" err="1">
                <a:solidFill>
                  <a:srgbClr val="383A42"/>
                </a:solidFill>
                <a:latin typeface="Courier New" pitchFamily="34" charset="0"/>
                <a:ea typeface="Courier New" pitchFamily="34" charset="-122"/>
                <a:cs typeface="Courier New" pitchFamily="34" charset="-120"/>
              </a:rPr>
              <a:t>withInterceptors</a:t>
            </a:r>
            <a:r>
              <a:rPr lang="en-US" sz="1200" dirty="0">
                <a:solidFill>
                  <a:srgbClr val="383A42"/>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p:txBody>
      </p:sp>
      <p:sp>
        <p:nvSpPr>
          <p:cNvPr id="11" name="Text 9"/>
          <p:cNvSpPr/>
          <p:nvPr/>
        </p:nvSpPr>
        <p:spPr>
          <a:xfrm>
            <a:off x="548640" y="5724143"/>
            <a:ext cx="11091672" cy="502920"/>
          </a:xfrm>
          <a:prstGeom prst="rect">
            <a:avLst/>
          </a:prstGeom>
          <a:noFill/>
          <a:ln/>
        </p:spPr>
        <p:txBody>
          <a:bodyPr wrap="square" rtlCol="0" anchor="t"/>
          <a:lstStyle/>
          <a:p>
            <a:pPr marL="0" indent="0">
              <a:buNone/>
            </a:pPr>
            <a:r>
              <a:rPr lang="en-US" sz="1300" i="1" dirty="0">
                <a:solidFill>
                  <a:srgbClr val="383A42"/>
                </a:solidFill>
                <a:latin typeface="Calibri" pitchFamily="34" charset="0"/>
                <a:ea typeface="Calibri" pitchFamily="34" charset="-122"/>
                <a:cs typeface="Calibri" pitchFamily="34" charset="-120"/>
              </a:rPr>
              <a:t>Con provideHttpClient() cualquier servicio de la app puede inyectar HttpClient y hacer peticiones. La opcion withInterceptors([]) queda preparada para anadir interceptores (por ejemplo, uno que agregue el token JWT); se cubre mas adelante.</a:t>
            </a:r>
            <a:endParaRPr lang="en-US" sz="1300" dirty="0"/>
          </a:p>
        </p:txBody>
      </p:sp>
      <p:sp>
        <p:nvSpPr>
          <p:cNvPr id="12" name="Shape 10"/>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3" name="Text 11"/>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4" name="Text 12"/>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22 --- 21 / 36</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CONSUMO DE APIS REST</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Modelar la respuesta de la API</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822960"/>
          </a:xfrm>
          <a:prstGeom prst="rect">
            <a:avLst/>
          </a:prstGeom>
          <a:noFill/>
          <a:ln/>
        </p:spPr>
        <p:txBody>
          <a:bodyPr wrap="square" rtlCol="0" anchor="t"/>
          <a:lstStyle/>
          <a:p>
            <a:pPr marL="0" indent="0">
              <a:buNone/>
            </a:pPr>
            <a:r>
              <a:rPr lang="en-US" sz="1500" dirty="0">
                <a:solidFill>
                  <a:srgbClr val="383A42"/>
                </a:solidFill>
                <a:latin typeface="Calibri" pitchFamily="34" charset="0"/>
                <a:ea typeface="Calibri" pitchFamily="34" charset="-122"/>
                <a:cs typeface="Calibri" pitchFamily="34" charset="-120"/>
              </a:rPr>
              <a:t>Antes de consumir, se define una interface TypeScript que refleje el JSON que responde el backend. Esto brinda autocompletado en IntelliJ y detecta en compilacion inconsistencias entre frontend y backend.</a:t>
            </a:r>
            <a:endParaRPr lang="en-US" sz="1500" dirty="0"/>
          </a:p>
        </p:txBody>
      </p:sp>
      <p:sp>
        <p:nvSpPr>
          <p:cNvPr id="7" name="Shape 5"/>
          <p:cNvSpPr/>
          <p:nvPr/>
        </p:nvSpPr>
        <p:spPr>
          <a:xfrm>
            <a:off x="548640" y="2331720"/>
            <a:ext cx="5532120" cy="3749040"/>
          </a:xfrm>
          <a:prstGeom prst="roundRect">
            <a:avLst>
              <a:gd name="adj" fmla="val 1463"/>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48640" y="2331720"/>
            <a:ext cx="173736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594360" y="235000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libro.model.ts</a:t>
            </a:r>
            <a:endParaRPr lang="en-US" sz="1000" dirty="0"/>
          </a:p>
        </p:txBody>
      </p:sp>
      <p:sp>
        <p:nvSpPr>
          <p:cNvPr id="10" name="Text 8"/>
          <p:cNvSpPr txBox="1"/>
          <p:nvPr/>
        </p:nvSpPr>
        <p:spPr>
          <a:xfrm>
            <a:off x="640080" y="3161210"/>
            <a:ext cx="5349240" cy="2828109"/>
          </a:xfrm>
          <a:prstGeom prst="rect">
            <a:avLst/>
          </a:prstGeom>
          <a:noFill/>
          <a:ln/>
        </p:spPr>
        <p:txBody>
          <a:bodyPr wrap="square" rtlCol="0" anchor="t"/>
          <a:lstStyle/>
          <a:p>
            <a:pPr marL="0" indent="0">
              <a:buNone/>
            </a:pPr>
            <a:r>
              <a:rPr lang="en-US" sz="1600" i="1" dirty="0">
                <a:solidFill>
                  <a:srgbClr val="717171"/>
                </a:solidFill>
                <a:latin typeface="Courier New" pitchFamily="34" charset="0"/>
                <a:ea typeface="Courier New" pitchFamily="34" charset="-122"/>
                <a:cs typeface="Courier New" pitchFamily="34" charset="-120"/>
              </a:rPr>
              <a:t>// biblioteq-front/src/app/libro.model.ts
</a:t>
            </a:r>
            <a:r>
              <a:rPr lang="en-US" sz="1600" b="1" dirty="0">
                <a:solidFill>
                  <a:srgbClr val="0057AE"/>
                </a:solidFill>
                <a:latin typeface="Courier New" pitchFamily="34" charset="0"/>
                <a:ea typeface="Courier New" pitchFamily="34" charset="-122"/>
                <a:cs typeface="Courier New" pitchFamily="34" charset="-120"/>
              </a:rPr>
              <a:t>export</a:t>
            </a: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interface</a:t>
            </a:r>
            <a:r>
              <a:rPr lang="en-US" sz="1600" dirty="0">
                <a:solidFill>
                  <a:srgbClr val="383A42"/>
                </a:solidFill>
                <a:latin typeface="Courier New" pitchFamily="34" charset="0"/>
                <a:ea typeface="Courier New" pitchFamily="34" charset="-122"/>
                <a:cs typeface="Courier New" pitchFamily="34" charset="-120"/>
              </a:rPr>
              <a:t> Libro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id: </a:t>
            </a:r>
            <a:r>
              <a:rPr lang="en-US" sz="1600" b="1" dirty="0">
                <a:solidFill>
                  <a:srgbClr val="0057AE"/>
                </a:solidFill>
                <a:latin typeface="Courier New" pitchFamily="34" charset="0"/>
                <a:ea typeface="Courier New" pitchFamily="34" charset="-122"/>
                <a:cs typeface="Courier New" pitchFamily="34" charset="-120"/>
              </a:rPr>
              <a:t>number</a:t>
            </a:r>
            <a:r>
              <a:rPr lang="en-US" sz="1600" dirty="0">
                <a:solidFill>
                  <a:srgbClr val="383A42"/>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isbn: </a:t>
            </a:r>
            <a:r>
              <a:rPr lang="en-US" sz="1600" b="1" dirty="0">
                <a:solidFill>
                  <a:srgbClr val="0057AE"/>
                </a:solidFill>
                <a:latin typeface="Courier New" pitchFamily="34" charset="0"/>
                <a:ea typeface="Courier New" pitchFamily="34" charset="-122"/>
                <a:cs typeface="Courier New" pitchFamily="34" charset="-120"/>
              </a:rPr>
              <a:t>string</a:t>
            </a:r>
            <a:r>
              <a:rPr lang="en-US" sz="1600" dirty="0">
                <a:solidFill>
                  <a:srgbClr val="383A42"/>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titulo: </a:t>
            </a:r>
            <a:r>
              <a:rPr lang="en-US" sz="1600" b="1" dirty="0">
                <a:solidFill>
                  <a:srgbClr val="0057AE"/>
                </a:solidFill>
                <a:latin typeface="Courier New" pitchFamily="34" charset="0"/>
                <a:ea typeface="Courier New" pitchFamily="34" charset="-122"/>
                <a:cs typeface="Courier New" pitchFamily="34" charset="-120"/>
              </a:rPr>
              <a:t>string</a:t>
            </a:r>
            <a:r>
              <a:rPr lang="en-US" sz="1600" dirty="0">
                <a:solidFill>
                  <a:srgbClr val="383A42"/>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autor: </a:t>
            </a:r>
            <a:r>
              <a:rPr lang="en-US" sz="1600" b="1" dirty="0">
                <a:solidFill>
                  <a:srgbClr val="0057AE"/>
                </a:solidFill>
                <a:latin typeface="Courier New" pitchFamily="34" charset="0"/>
                <a:ea typeface="Courier New" pitchFamily="34" charset="-122"/>
                <a:cs typeface="Courier New" pitchFamily="34" charset="-120"/>
              </a:rPr>
              <a:t>string</a:t>
            </a:r>
            <a:r>
              <a:rPr lang="en-US" sz="1600" dirty="0">
                <a:solidFill>
                  <a:srgbClr val="383A42"/>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editorial: </a:t>
            </a:r>
            <a:r>
              <a:rPr lang="en-US" sz="1600" b="1" dirty="0">
                <a:solidFill>
                  <a:srgbClr val="0057AE"/>
                </a:solidFill>
                <a:latin typeface="Courier New" pitchFamily="34" charset="0"/>
                <a:ea typeface="Courier New" pitchFamily="34" charset="-122"/>
                <a:cs typeface="Courier New" pitchFamily="34" charset="-120"/>
              </a:rPr>
              <a:t>string</a:t>
            </a:r>
            <a:r>
              <a:rPr lang="en-US" sz="1600" dirty="0">
                <a:solidFill>
                  <a:srgbClr val="383A42"/>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anio: </a:t>
            </a:r>
            <a:r>
              <a:rPr lang="en-US" sz="1600" b="1" dirty="0">
                <a:solidFill>
                  <a:srgbClr val="0057AE"/>
                </a:solidFill>
                <a:latin typeface="Courier New" pitchFamily="34" charset="0"/>
                <a:ea typeface="Courier New" pitchFamily="34" charset="-122"/>
                <a:cs typeface="Courier New" pitchFamily="34" charset="-120"/>
              </a:rPr>
              <a:t>number</a:t>
            </a:r>
            <a:r>
              <a:rPr lang="en-US" sz="1600" dirty="0">
                <a:solidFill>
                  <a:srgbClr val="383A42"/>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categoriaId: </a:t>
            </a:r>
            <a:r>
              <a:rPr lang="en-US" sz="1600" b="1" dirty="0">
                <a:solidFill>
                  <a:srgbClr val="0057AE"/>
                </a:solidFill>
                <a:latin typeface="Courier New" pitchFamily="34" charset="0"/>
                <a:ea typeface="Courier New" pitchFamily="34" charset="-122"/>
                <a:cs typeface="Courier New" pitchFamily="34" charset="-120"/>
              </a:rPr>
              <a:t>number</a:t>
            </a:r>
            <a:r>
              <a:rPr lang="en-US" sz="1600" dirty="0">
                <a:solidFill>
                  <a:srgbClr val="383A42"/>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disponibles: </a:t>
            </a:r>
            <a:r>
              <a:rPr lang="en-US" sz="1600" b="1" dirty="0">
                <a:solidFill>
                  <a:srgbClr val="0057AE"/>
                </a:solidFill>
                <a:latin typeface="Courier New" pitchFamily="34" charset="0"/>
                <a:ea typeface="Courier New" pitchFamily="34" charset="-122"/>
                <a:cs typeface="Courier New" pitchFamily="34" charset="-120"/>
              </a:rPr>
              <a:t>number</a:t>
            </a:r>
            <a:r>
              <a:rPr lang="en-US" sz="1600" dirty="0">
                <a:solidFill>
                  <a:srgbClr val="383A42"/>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a:t>
            </a:r>
            <a:r>
              <a:rPr lang="en-US" sz="1600" dirty="0">
                <a:solidFill>
                  <a:srgbClr val="000000"/>
                </a:solidFill>
              </a:rPr>
              <a:t>
</a:t>
            </a:r>
            <a:endParaRPr lang="en-US" sz="1600" dirty="0"/>
          </a:p>
        </p:txBody>
      </p:sp>
      <p:sp>
        <p:nvSpPr>
          <p:cNvPr id="11" name="Shape 9"/>
          <p:cNvSpPr/>
          <p:nvPr/>
        </p:nvSpPr>
        <p:spPr>
          <a:xfrm>
            <a:off x="6126480" y="2331720"/>
            <a:ext cx="5513832" cy="3749040"/>
          </a:xfrm>
          <a:prstGeom prst="roundRect">
            <a:avLst>
              <a:gd name="adj" fmla="val 1463"/>
            </a:avLst>
          </a:prstGeom>
          <a:solidFill>
            <a:srgbClr val="F5F6F5"/>
          </a:solidFill>
          <a:ln w="9525">
            <a:solidFill>
              <a:srgbClr val="006633"/>
            </a:solidFill>
            <a:prstDash val="solid"/>
          </a:ln>
        </p:spPr>
        <p:txBody>
          <a:bodyPr/>
          <a:lstStyle/>
          <a:p>
            <a:endParaRPr lang="es-US"/>
          </a:p>
        </p:txBody>
      </p:sp>
      <p:sp>
        <p:nvSpPr>
          <p:cNvPr id="12" name="Shape 10"/>
          <p:cNvSpPr/>
          <p:nvPr/>
        </p:nvSpPr>
        <p:spPr>
          <a:xfrm>
            <a:off x="6126480" y="2331720"/>
            <a:ext cx="1737360" cy="274320"/>
          </a:xfrm>
          <a:prstGeom prst="rect">
            <a:avLst/>
          </a:prstGeom>
          <a:solidFill>
            <a:srgbClr val="006633"/>
          </a:solidFill>
          <a:ln w="12700">
            <a:solidFill>
              <a:srgbClr val="006633"/>
            </a:solidFill>
            <a:prstDash val="solid"/>
          </a:ln>
        </p:spPr>
        <p:txBody>
          <a:bodyPr/>
          <a:lstStyle/>
          <a:p>
            <a:endParaRPr lang="es-US"/>
          </a:p>
        </p:txBody>
      </p:sp>
      <p:sp>
        <p:nvSpPr>
          <p:cNvPr id="13" name="Text 11"/>
          <p:cNvSpPr/>
          <p:nvPr/>
        </p:nvSpPr>
        <p:spPr>
          <a:xfrm>
            <a:off x="6172200" y="235000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respuesta JSON</a:t>
            </a:r>
            <a:endParaRPr lang="en-US" sz="1000" dirty="0"/>
          </a:p>
        </p:txBody>
      </p:sp>
      <p:sp>
        <p:nvSpPr>
          <p:cNvPr id="14" name="Text 12"/>
          <p:cNvSpPr txBox="1"/>
          <p:nvPr/>
        </p:nvSpPr>
        <p:spPr>
          <a:xfrm>
            <a:off x="6217920" y="2679192"/>
            <a:ext cx="5330952" cy="3310128"/>
          </a:xfrm>
          <a:prstGeom prst="rect">
            <a:avLst/>
          </a:prstGeom>
          <a:noFill/>
          <a:ln/>
        </p:spPr>
        <p:txBody>
          <a:bodyPr wrap="square" rtlCol="0" anchor="t"/>
          <a:lstStyle/>
          <a:p>
            <a:pPr marL="0" indent="0">
              <a:buNone/>
            </a:pPr>
            <a:r>
              <a:rPr lang="en-US" sz="1200" i="1" dirty="0">
                <a:solidFill>
                  <a:srgbClr val="717171"/>
                </a:solidFill>
                <a:latin typeface="Courier New" pitchFamily="34" charset="0"/>
                <a:ea typeface="Courier New" pitchFamily="34" charset="-122"/>
                <a:cs typeface="Courier New" pitchFamily="34" charset="-120"/>
              </a:rPr>
              <a:t>// GET /api/libros/1 --- respuesta
</a:t>
            </a:r>
            <a:r>
              <a:rPr lang="en-US" sz="1200" dirty="0">
                <a:solidFill>
                  <a:srgbClr val="383A42"/>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"id"</a:t>
            </a:r>
            <a:r>
              <a:rPr lang="en-US" sz="1200" dirty="0">
                <a:solidFill>
                  <a:srgbClr val="383A42"/>
                </a:solidFill>
                <a:latin typeface="Courier New" pitchFamily="34" charset="0"/>
                <a:ea typeface="Courier New" pitchFamily="34" charset="-122"/>
                <a:cs typeface="Courier New" pitchFamily="34" charset="-120"/>
              </a:rPr>
              <a:t>: 1,</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"isbn"</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"978-84-376-0494-7"</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"titulo"</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"Cien anos de soledad"</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"autor"</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"Gabriel Garcia Marquez"</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"editorial"</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"Sudamericana"</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"anio"</a:t>
            </a:r>
            <a:r>
              <a:rPr lang="en-US" sz="1200" dirty="0">
                <a:solidFill>
                  <a:srgbClr val="383A42"/>
                </a:solidFill>
                <a:latin typeface="Courier New" pitchFamily="34" charset="0"/>
                <a:ea typeface="Courier New" pitchFamily="34" charset="-122"/>
                <a:cs typeface="Courier New" pitchFamily="34" charset="-120"/>
              </a:rPr>
              <a:t>: 1967,</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"categoriaId"</a:t>
            </a:r>
            <a:r>
              <a:rPr lang="en-US" sz="1200" dirty="0">
                <a:solidFill>
                  <a:srgbClr val="383A42"/>
                </a:solidFill>
                <a:latin typeface="Courier New" pitchFamily="34" charset="0"/>
                <a:ea typeface="Courier New" pitchFamily="34" charset="-122"/>
                <a:cs typeface="Courier New" pitchFamily="34" charset="-120"/>
              </a:rPr>
              <a:t>: 3,</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"disponibles"</a:t>
            </a:r>
            <a:r>
              <a:rPr lang="en-US" sz="1200" dirty="0">
                <a:solidFill>
                  <a:srgbClr val="383A42"/>
                </a:solidFill>
                <a:latin typeface="Courier New" pitchFamily="34" charset="0"/>
                <a:ea typeface="Courier New" pitchFamily="34" charset="-122"/>
                <a:cs typeface="Courier New" pitchFamily="34" charset="-120"/>
              </a:rPr>
              <a:t>: 4</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p:txBody>
      </p:sp>
      <p:sp>
        <p:nvSpPr>
          <p:cNvPr id="15" name="Shape 13"/>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6" name="Text 14"/>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7" name="Text 15"/>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22 --- 22 / 36</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CONSUMO DE APIS REST</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Consumir la API: GET listar</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640080"/>
          </a:xfrm>
          <a:prstGeom prst="rect">
            <a:avLst/>
          </a:prstGeom>
          <a:noFill/>
          <a:ln/>
        </p:spPr>
        <p:txBody>
          <a:bodyPr wrap="square" rtlCol="0" anchor="t"/>
          <a:lstStyle/>
          <a:p>
            <a:pPr marL="0" indent="0">
              <a:buNone/>
            </a:pPr>
            <a:r>
              <a:rPr lang="en-US" sz="1500" dirty="0">
                <a:solidFill>
                  <a:srgbClr val="383A42"/>
                </a:solidFill>
                <a:latin typeface="Calibri" pitchFamily="34" charset="0"/>
                <a:ea typeface="Calibri" pitchFamily="34" charset="-122"/>
                <a:cs typeface="Calibri" pitchFamily="34" charset="-120"/>
              </a:rPr>
              <a:t>El servicio LibroService encapsula la peticion GET al endpoint /api/libros. Devuelve un Observable&lt;Libro[]&gt; que el componente consumira.</a:t>
            </a:r>
            <a:endParaRPr lang="en-US" sz="1500" dirty="0"/>
          </a:p>
        </p:txBody>
      </p:sp>
      <p:sp>
        <p:nvSpPr>
          <p:cNvPr id="7" name="Shape 5"/>
          <p:cNvSpPr/>
          <p:nvPr/>
        </p:nvSpPr>
        <p:spPr>
          <a:xfrm>
            <a:off x="548640" y="2148840"/>
            <a:ext cx="11091672" cy="4160520"/>
          </a:xfrm>
          <a:prstGeom prst="roundRect">
            <a:avLst>
              <a:gd name="adj" fmla="val 1319"/>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48640" y="2148840"/>
            <a:ext cx="173736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594360" y="216712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libro.service.ts</a:t>
            </a:r>
            <a:endParaRPr lang="en-US" sz="1000" dirty="0"/>
          </a:p>
        </p:txBody>
      </p:sp>
      <p:sp>
        <p:nvSpPr>
          <p:cNvPr id="10" name="Text 8"/>
          <p:cNvSpPr txBox="1"/>
          <p:nvPr/>
        </p:nvSpPr>
        <p:spPr>
          <a:xfrm>
            <a:off x="640080" y="2496312"/>
            <a:ext cx="10908792" cy="3721608"/>
          </a:xfrm>
          <a:prstGeom prst="rect">
            <a:avLst/>
          </a:prstGeom>
          <a:noFill/>
          <a:ln/>
        </p:spPr>
        <p:txBody>
          <a:bodyPr wrap="square" rtlCol="0" anchor="t"/>
          <a:lstStyle/>
          <a:p>
            <a:pPr marL="0" indent="0">
              <a:buNone/>
            </a:pPr>
            <a:r>
              <a:rPr lang="en-US" sz="1400" i="1" dirty="0">
                <a:solidFill>
                  <a:srgbClr val="717171"/>
                </a:solidFill>
                <a:latin typeface="Courier New" pitchFamily="34" charset="0"/>
                <a:ea typeface="Courier New" pitchFamily="34" charset="-122"/>
                <a:cs typeface="Courier New" pitchFamily="34" charset="-120"/>
              </a:rPr>
              <a:t>// biblioteq-front/src/app/libro.service.ts
</a:t>
            </a:r>
            <a:r>
              <a:rPr lang="en-US" sz="1400" b="1" dirty="0">
                <a:solidFill>
                  <a:srgbClr val="0057AE"/>
                </a:solidFill>
                <a:latin typeface="Courier New" pitchFamily="34" charset="0"/>
                <a:ea typeface="Courier New" pitchFamily="34" charset="-122"/>
                <a:cs typeface="Courier New" pitchFamily="34" charset="-120"/>
              </a:rPr>
              <a:t>import</a:t>
            </a:r>
            <a:r>
              <a:rPr lang="en-US" sz="1400" dirty="0">
                <a:solidFill>
                  <a:srgbClr val="383A42"/>
                </a:solidFill>
                <a:latin typeface="Courier New" pitchFamily="34" charset="0"/>
                <a:ea typeface="Courier New" pitchFamily="34" charset="-122"/>
                <a:cs typeface="Courier New" pitchFamily="34" charset="-120"/>
              </a:rPr>
              <a:t> { Injectable, inject } </a:t>
            </a:r>
            <a:r>
              <a:rPr lang="en-US" sz="1400" b="1" dirty="0">
                <a:solidFill>
                  <a:srgbClr val="0057AE"/>
                </a:solidFill>
                <a:latin typeface="Courier New" pitchFamily="34" charset="0"/>
                <a:ea typeface="Courier New" pitchFamily="34" charset="-122"/>
                <a:cs typeface="Courier New" pitchFamily="34" charset="-120"/>
              </a:rPr>
              <a:t>from</a:t>
            </a: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'@angular/core'</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b="1" dirty="0">
                <a:solidFill>
                  <a:srgbClr val="0057AE"/>
                </a:solidFill>
                <a:latin typeface="Courier New" pitchFamily="34" charset="0"/>
                <a:ea typeface="Courier New" pitchFamily="34" charset="-122"/>
                <a:cs typeface="Courier New" pitchFamily="34" charset="-120"/>
              </a:rPr>
              <a:t>import</a:t>
            </a:r>
            <a:r>
              <a:rPr lang="en-US" sz="1400" dirty="0">
                <a:solidFill>
                  <a:srgbClr val="383A42"/>
                </a:solidFill>
                <a:latin typeface="Courier New" pitchFamily="34" charset="0"/>
                <a:ea typeface="Courier New" pitchFamily="34" charset="-122"/>
                <a:cs typeface="Courier New" pitchFamily="34" charset="-120"/>
              </a:rPr>
              <a:t> { HttpClient } </a:t>
            </a:r>
            <a:r>
              <a:rPr lang="en-US" sz="1400" b="1" dirty="0">
                <a:solidFill>
                  <a:srgbClr val="0057AE"/>
                </a:solidFill>
                <a:latin typeface="Courier New" pitchFamily="34" charset="0"/>
                <a:ea typeface="Courier New" pitchFamily="34" charset="-122"/>
                <a:cs typeface="Courier New" pitchFamily="34" charset="-120"/>
              </a:rPr>
              <a:t>from</a:t>
            </a: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'@angular/common/http'</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b="1" dirty="0">
                <a:solidFill>
                  <a:srgbClr val="0057AE"/>
                </a:solidFill>
                <a:latin typeface="Courier New" pitchFamily="34" charset="0"/>
                <a:ea typeface="Courier New" pitchFamily="34" charset="-122"/>
                <a:cs typeface="Courier New" pitchFamily="34" charset="-120"/>
              </a:rPr>
              <a:t>import</a:t>
            </a:r>
            <a:r>
              <a:rPr lang="en-US" sz="1400" dirty="0">
                <a:solidFill>
                  <a:srgbClr val="383A42"/>
                </a:solidFill>
                <a:latin typeface="Courier New" pitchFamily="34" charset="0"/>
                <a:ea typeface="Courier New" pitchFamily="34" charset="-122"/>
                <a:cs typeface="Courier New" pitchFamily="34" charset="-120"/>
              </a:rPr>
              <a:t> { </a:t>
            </a:r>
            <a:r>
              <a:rPr lang="en-US" sz="1400" b="1" dirty="0">
                <a:solidFill>
                  <a:srgbClr val="0057AE"/>
                </a:solidFill>
                <a:latin typeface="Courier New" pitchFamily="34" charset="0"/>
                <a:ea typeface="Courier New" pitchFamily="34" charset="-122"/>
                <a:cs typeface="Courier New" pitchFamily="34" charset="-120"/>
              </a:rPr>
              <a:t>Observable</a:t>
            </a:r>
            <a:r>
              <a:rPr lang="en-US" sz="1400" dirty="0">
                <a:solidFill>
                  <a:srgbClr val="383A42"/>
                </a:solidFill>
                <a:latin typeface="Courier New" pitchFamily="34" charset="0"/>
                <a:ea typeface="Courier New" pitchFamily="34" charset="-122"/>
                <a:cs typeface="Courier New" pitchFamily="34" charset="-120"/>
              </a:rPr>
              <a:t> } </a:t>
            </a:r>
            <a:r>
              <a:rPr lang="en-US" sz="1400" b="1" dirty="0">
                <a:solidFill>
                  <a:srgbClr val="0057AE"/>
                </a:solidFill>
                <a:latin typeface="Courier New" pitchFamily="34" charset="0"/>
                <a:ea typeface="Courier New" pitchFamily="34" charset="-122"/>
                <a:cs typeface="Courier New" pitchFamily="34" charset="-120"/>
              </a:rPr>
              <a:t>from</a:t>
            </a: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a:t>
            </a:r>
            <a:r>
              <a:rPr lang="en-US" sz="1400" dirty="0" err="1">
                <a:solidFill>
                  <a:srgbClr val="C41A16"/>
                </a:solidFill>
                <a:latin typeface="Courier New" pitchFamily="34" charset="0"/>
                <a:ea typeface="Courier New" pitchFamily="34" charset="-122"/>
                <a:cs typeface="Courier New" pitchFamily="34" charset="-120"/>
              </a:rPr>
              <a:t>rxjs</a:t>
            </a:r>
            <a:r>
              <a:rPr lang="en-US" sz="1400" dirty="0">
                <a:solidFill>
                  <a:srgbClr val="C41A16"/>
                </a:solidFill>
                <a:latin typeface="Courier New" pitchFamily="34" charset="0"/>
                <a:ea typeface="Courier New" pitchFamily="34" charset="-122"/>
                <a:cs typeface="Courier New" pitchFamily="34" charset="-120"/>
              </a:rPr>
              <a:t>'</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b="1" dirty="0">
                <a:solidFill>
                  <a:srgbClr val="0057AE"/>
                </a:solidFill>
                <a:latin typeface="Courier New" pitchFamily="34" charset="0"/>
                <a:ea typeface="Courier New" pitchFamily="34" charset="-122"/>
                <a:cs typeface="Courier New" pitchFamily="34" charset="-120"/>
              </a:rPr>
              <a:t>import</a:t>
            </a:r>
            <a:r>
              <a:rPr lang="en-US" sz="1400" dirty="0">
                <a:solidFill>
                  <a:srgbClr val="383A42"/>
                </a:solidFill>
                <a:latin typeface="Courier New" pitchFamily="34" charset="0"/>
                <a:ea typeface="Courier New" pitchFamily="34" charset="-122"/>
                <a:cs typeface="Courier New" pitchFamily="34" charset="-120"/>
              </a:rPr>
              <a:t> { Libro } </a:t>
            </a:r>
            <a:r>
              <a:rPr lang="en-US" sz="1400" b="1" dirty="0">
                <a:solidFill>
                  <a:srgbClr val="0057AE"/>
                </a:solidFill>
                <a:latin typeface="Courier New" pitchFamily="34" charset="0"/>
                <a:ea typeface="Courier New" pitchFamily="34" charset="-122"/>
                <a:cs typeface="Courier New" pitchFamily="34" charset="-120"/>
              </a:rPr>
              <a:t>from</a:t>
            </a: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a:t>
            </a:r>
            <a:r>
              <a:rPr lang="en-US" sz="1400" dirty="0" err="1">
                <a:solidFill>
                  <a:srgbClr val="C41A16"/>
                </a:solidFill>
                <a:latin typeface="Courier New" pitchFamily="34" charset="0"/>
                <a:ea typeface="Courier New" pitchFamily="34" charset="-122"/>
                <a:cs typeface="Courier New" pitchFamily="34" charset="-120"/>
              </a:rPr>
              <a:t>libro.model</a:t>
            </a:r>
            <a:r>
              <a:rPr lang="en-US" sz="1400" dirty="0">
                <a:solidFill>
                  <a:srgbClr val="C41A16"/>
                </a:solidFill>
                <a:latin typeface="Courier New" pitchFamily="34" charset="0"/>
                <a:ea typeface="Courier New" pitchFamily="34" charset="-122"/>
                <a:cs typeface="Courier New" pitchFamily="34" charset="-120"/>
              </a:rPr>
              <a:t>'</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b="1" dirty="0">
                <a:solidFill>
                  <a:srgbClr val="0057AE"/>
                </a:solidFill>
                <a:latin typeface="Courier New" pitchFamily="34" charset="0"/>
                <a:ea typeface="Courier New" pitchFamily="34" charset="-122"/>
                <a:cs typeface="Courier New" pitchFamily="34" charset="-120"/>
              </a:rPr>
              <a:t>import</a:t>
            </a:r>
            <a:r>
              <a:rPr lang="en-US" sz="1400" dirty="0">
                <a:solidFill>
                  <a:srgbClr val="383A42"/>
                </a:solidFill>
                <a:latin typeface="Courier New" pitchFamily="34" charset="0"/>
                <a:ea typeface="Courier New" pitchFamily="34" charset="-122"/>
                <a:cs typeface="Courier New" pitchFamily="34" charset="-120"/>
              </a:rPr>
              <a:t> { environment } </a:t>
            </a:r>
            <a:r>
              <a:rPr lang="en-US" sz="1400" b="1" dirty="0">
                <a:solidFill>
                  <a:srgbClr val="0057AE"/>
                </a:solidFill>
                <a:latin typeface="Courier New" pitchFamily="34" charset="0"/>
                <a:ea typeface="Courier New" pitchFamily="34" charset="-122"/>
                <a:cs typeface="Courier New" pitchFamily="34" charset="-120"/>
              </a:rPr>
              <a:t>from</a:t>
            </a: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'../environments/environment'</a:t>
            </a:r>
            <a:r>
              <a:rPr lang="en-US" sz="1400" dirty="0">
                <a:solidFill>
                  <a:srgbClr val="383A42"/>
                </a:solidFill>
                <a:latin typeface="Courier New" pitchFamily="34" charset="0"/>
                <a:ea typeface="Courier New" pitchFamily="34" charset="-122"/>
                <a:cs typeface="Courier New" pitchFamily="34" charset="-120"/>
              </a:rPr>
              <a:t>;</a:t>
            </a:r>
            <a:r>
              <a:rPr lang="en-US" sz="1400" dirty="0">
                <a:solidFill>
                  <a:srgbClr val="000000"/>
                </a:solidFill>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@Injectable({ providedIn: </a:t>
            </a:r>
            <a:r>
              <a:rPr lang="en-US" sz="1400" dirty="0">
                <a:solidFill>
                  <a:srgbClr val="C41A16"/>
                </a:solidFill>
                <a:latin typeface="Courier New" pitchFamily="34" charset="0"/>
                <a:ea typeface="Courier New" pitchFamily="34" charset="-122"/>
                <a:cs typeface="Courier New" pitchFamily="34" charset="-120"/>
              </a:rPr>
              <a:t>'root’</a:t>
            </a:r>
            <a:r>
              <a:rPr lang="en-US" sz="1400" dirty="0">
                <a:solidFill>
                  <a:srgbClr val="383A42"/>
                </a:solidFill>
                <a:latin typeface="Courier New" pitchFamily="34" charset="0"/>
                <a:ea typeface="Courier New" pitchFamily="34" charset="-122"/>
                <a:cs typeface="Courier New" pitchFamily="34" charset="-120"/>
              </a:rPr>
              <a:t> })</a:t>
            </a:r>
            <a:endParaRPr lang="en-US" sz="1400" dirty="0">
              <a:solidFill>
                <a:srgbClr val="000000"/>
              </a:solidFill>
              <a:latin typeface="Courier New" pitchFamily="34" charset="0"/>
              <a:ea typeface="Courier New" pitchFamily="34" charset="-122"/>
              <a:cs typeface="Courier New" pitchFamily="34" charset="-120"/>
            </a:endParaRPr>
          </a:p>
          <a:p>
            <a:pPr marL="0" indent="0">
              <a:buNone/>
            </a:pPr>
            <a:endParaRPr lang="en-US" sz="1400" dirty="0"/>
          </a:p>
          <a:p>
            <a:pPr marL="0" indent="0">
              <a:buNone/>
            </a:pPr>
            <a:r>
              <a:rPr lang="en-US" sz="1400" b="1" dirty="0">
                <a:solidFill>
                  <a:srgbClr val="0057AE"/>
                </a:solidFill>
                <a:latin typeface="Courier New" pitchFamily="34" charset="0"/>
                <a:ea typeface="Courier New" pitchFamily="34" charset="-122"/>
                <a:cs typeface="Courier New" pitchFamily="34" charset="-120"/>
              </a:rPr>
              <a:t>export</a:t>
            </a: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class</a:t>
            </a:r>
            <a:r>
              <a:rPr lang="en-US" sz="1400" dirty="0">
                <a:solidFill>
                  <a:srgbClr val="383A42"/>
                </a:solidFill>
                <a:latin typeface="Courier New" pitchFamily="34" charset="0"/>
                <a:ea typeface="Courier New" pitchFamily="34" charset="-122"/>
                <a:cs typeface="Courier New" pitchFamily="34" charset="-120"/>
              </a:rPr>
              <a:t> </a:t>
            </a:r>
            <a:r>
              <a:rPr lang="en-US" sz="1400" dirty="0" err="1">
                <a:solidFill>
                  <a:srgbClr val="383A42"/>
                </a:solidFill>
                <a:latin typeface="Courier New" pitchFamily="34" charset="0"/>
                <a:ea typeface="Courier New" pitchFamily="34" charset="-122"/>
                <a:cs typeface="Courier New" pitchFamily="34" charset="-120"/>
              </a:rPr>
              <a:t>LibroService</a:t>
            </a:r>
            <a:r>
              <a:rPr lang="en-US" sz="1400" dirty="0">
                <a:solidFill>
                  <a:srgbClr val="383A42"/>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private</a:t>
            </a:r>
            <a:r>
              <a:rPr lang="en-US" sz="1400" dirty="0">
                <a:solidFill>
                  <a:srgbClr val="383A42"/>
                </a:solidFill>
                <a:latin typeface="Courier New" pitchFamily="34" charset="0"/>
                <a:ea typeface="Courier New" pitchFamily="34" charset="-122"/>
                <a:cs typeface="Courier New" pitchFamily="34" charset="-120"/>
              </a:rPr>
              <a:t> http = inject(</a:t>
            </a:r>
            <a:r>
              <a:rPr lang="en-US" sz="1400" dirty="0" err="1">
                <a:solidFill>
                  <a:srgbClr val="383A42"/>
                </a:solidFill>
                <a:latin typeface="Courier New" pitchFamily="34" charset="0"/>
                <a:ea typeface="Courier New" pitchFamily="34" charset="-122"/>
                <a:cs typeface="Courier New" pitchFamily="34" charset="-120"/>
              </a:rPr>
              <a:t>HttpClient</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private</a:t>
            </a: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readonly</a:t>
            </a:r>
            <a:r>
              <a:rPr lang="en-US" sz="1400" dirty="0">
                <a:solidFill>
                  <a:srgbClr val="383A42"/>
                </a:solidFill>
                <a:latin typeface="Courier New" pitchFamily="34" charset="0"/>
                <a:ea typeface="Courier New" pitchFamily="34" charset="-122"/>
                <a:cs typeface="Courier New" pitchFamily="34" charset="-120"/>
              </a:rPr>
              <a:t> api = </a:t>
            </a:r>
            <a:r>
              <a:rPr lang="en-US" sz="1400" dirty="0">
                <a:solidFill>
                  <a:srgbClr val="C41A16"/>
                </a:solidFill>
                <a:latin typeface="Courier New" pitchFamily="34" charset="0"/>
                <a:ea typeface="Courier New" pitchFamily="34" charset="-122"/>
                <a:cs typeface="Courier New" pitchFamily="34" charset="-120"/>
              </a:rPr>
              <a:t>`${environment.apiUrl}/libros`</a:t>
            </a:r>
            <a:r>
              <a:rPr lang="en-US" sz="1400" dirty="0">
                <a:solidFill>
                  <a:srgbClr val="383A42"/>
                </a:solidFill>
                <a:latin typeface="Courier New" pitchFamily="34" charset="0"/>
                <a:ea typeface="Courier New" pitchFamily="34" charset="-122"/>
                <a:cs typeface="Courier New" pitchFamily="34" charset="-120"/>
              </a:rPr>
              <a:t>;</a:t>
            </a:r>
            <a:r>
              <a:rPr lang="en-US" sz="1400" dirty="0">
                <a:solidFill>
                  <a:srgbClr val="000000"/>
                </a:solidFill>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listar(): </a:t>
            </a:r>
            <a:r>
              <a:rPr lang="en-US" sz="1400" b="1" dirty="0">
                <a:solidFill>
                  <a:srgbClr val="0057AE"/>
                </a:solidFill>
                <a:latin typeface="Courier New" pitchFamily="34" charset="0"/>
                <a:ea typeface="Courier New" pitchFamily="34" charset="-122"/>
                <a:cs typeface="Courier New" pitchFamily="34" charset="-120"/>
              </a:rPr>
              <a:t>Observable</a:t>
            </a:r>
            <a:r>
              <a:rPr lang="en-US" sz="1400" dirty="0">
                <a:solidFill>
                  <a:srgbClr val="383A42"/>
                </a:solidFill>
                <a:latin typeface="Courier New" pitchFamily="34" charset="0"/>
                <a:ea typeface="Courier New" pitchFamily="34" charset="-122"/>
                <a:cs typeface="Courier New" pitchFamily="34" charset="-120"/>
              </a:rPr>
              <a:t>&lt;Libro[]&gt;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return</a:t>
            </a: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this</a:t>
            </a:r>
            <a:r>
              <a:rPr lang="en-US" sz="1400" dirty="0">
                <a:solidFill>
                  <a:srgbClr val="383A42"/>
                </a:solidFill>
                <a:latin typeface="Courier New" pitchFamily="34" charset="0"/>
                <a:ea typeface="Courier New" pitchFamily="34" charset="-122"/>
                <a:cs typeface="Courier New" pitchFamily="34" charset="-120"/>
              </a:rPr>
              <a:t>.http.get&lt;Libro[]&gt;(</a:t>
            </a:r>
            <a:r>
              <a:rPr lang="en-US" sz="1400" b="1" dirty="0" err="1">
                <a:solidFill>
                  <a:srgbClr val="0057AE"/>
                </a:solidFill>
                <a:latin typeface="Courier New" pitchFamily="34" charset="0"/>
                <a:ea typeface="Courier New" pitchFamily="34" charset="-122"/>
                <a:cs typeface="Courier New" pitchFamily="34" charset="-120"/>
              </a:rPr>
              <a:t>this</a:t>
            </a:r>
            <a:r>
              <a:rPr lang="en-US" sz="1400" dirty="0" err="1">
                <a:solidFill>
                  <a:srgbClr val="383A42"/>
                </a:solidFill>
                <a:latin typeface="Courier New" pitchFamily="34" charset="0"/>
                <a:ea typeface="Courier New" pitchFamily="34" charset="-122"/>
                <a:cs typeface="Courier New" pitchFamily="34" charset="-120"/>
              </a:rPr>
              <a:t>.api</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a:t>
            </a:r>
            <a:r>
              <a:rPr lang="en-US" sz="1400" dirty="0">
                <a:solidFill>
                  <a:srgbClr val="000000"/>
                </a:solidFill>
              </a:rPr>
              <a:t>
</a:t>
            </a:r>
            <a:endParaRPr lang="en-US" sz="1400" dirty="0"/>
          </a:p>
        </p:txBody>
      </p:sp>
      <p:sp>
        <p:nvSpPr>
          <p:cNvPr id="11" name="Shape 9"/>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2" name="Text 10"/>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3" name="Text 11"/>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22 --- 23 / 36</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CONSUMO DE APIS REST</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Componente que consume el servicio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63040"/>
            <a:ext cx="11091672" cy="4892040"/>
          </a:xfrm>
          <a:prstGeom prst="roundRect">
            <a:avLst>
              <a:gd name="adj" fmla="val 1121"/>
            </a:avLst>
          </a:prstGeom>
          <a:solidFill>
            <a:srgbClr val="F5F6F5"/>
          </a:solidFill>
          <a:ln w="9525">
            <a:solidFill>
              <a:srgbClr val="006633"/>
            </a:solidFill>
            <a:prstDash val="solid"/>
          </a:ln>
        </p:spPr>
        <p:txBody>
          <a:bodyPr/>
          <a:lstStyle/>
          <a:p>
            <a:endParaRPr lang="es-US"/>
          </a:p>
        </p:txBody>
      </p:sp>
      <p:sp>
        <p:nvSpPr>
          <p:cNvPr id="7" name="Shape 5"/>
          <p:cNvSpPr/>
          <p:nvPr/>
        </p:nvSpPr>
        <p:spPr>
          <a:xfrm>
            <a:off x="548640" y="1463040"/>
            <a:ext cx="1737360" cy="27432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594360" y="148132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libro-list.component.ts</a:t>
            </a:r>
            <a:endParaRPr lang="en-US" sz="1000" dirty="0"/>
          </a:p>
        </p:txBody>
      </p:sp>
      <p:sp>
        <p:nvSpPr>
          <p:cNvPr id="9" name="Text 7"/>
          <p:cNvSpPr txBox="1"/>
          <p:nvPr/>
        </p:nvSpPr>
        <p:spPr>
          <a:xfrm>
            <a:off x="640080" y="1810512"/>
            <a:ext cx="10908792" cy="445312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biblioteq-front/src/app/libro-list.component.ts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Component, inject, signal, OnInit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'@angular/core'</a:t>
            </a:r>
            <a:r>
              <a:rPr lang="en-US" sz="1100" dirty="0">
                <a:solidFill>
                  <a:srgbClr val="383A42"/>
                </a:solidFill>
                <a:latin typeface="Courier New" pitchFamily="34" charset="0"/>
                <a:ea typeface="Courier New" pitchFamily="34" charset="-122"/>
                <a:cs typeface="Courier New" pitchFamily="34" charset="-120"/>
              </a:rPr>
              <a:t>;</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LibroService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t>
            </a:r>
            <a:r>
              <a:rPr lang="en-US" sz="1100" dirty="0" err="1">
                <a:solidFill>
                  <a:srgbClr val="C41A16"/>
                </a:solidFill>
                <a:latin typeface="Courier New" pitchFamily="34" charset="0"/>
                <a:ea typeface="Courier New" pitchFamily="34" charset="-122"/>
                <a:cs typeface="Courier New" pitchFamily="34" charset="-120"/>
              </a:rPr>
              <a:t>libro.service</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Libro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'./libro.model'</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@Component({</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selector: </a:t>
            </a:r>
            <a:r>
              <a:rPr lang="en-US" sz="1100" dirty="0">
                <a:solidFill>
                  <a:srgbClr val="C41A16"/>
                </a:solidFill>
                <a:latin typeface="Courier New" pitchFamily="34" charset="0"/>
                <a:ea typeface="Courier New" pitchFamily="34" charset="-122"/>
                <a:cs typeface="Courier New" pitchFamily="34" charset="-120"/>
              </a:rPr>
              <a:t>'app-</a:t>
            </a:r>
            <a:r>
              <a:rPr lang="en-US" sz="1100" dirty="0" err="1">
                <a:solidFill>
                  <a:srgbClr val="C41A16"/>
                </a:solidFill>
                <a:latin typeface="Courier New" pitchFamily="34" charset="0"/>
                <a:ea typeface="Courier New" pitchFamily="34" charset="-122"/>
                <a:cs typeface="Courier New" pitchFamily="34" charset="-120"/>
              </a:rPr>
              <a:t>libro</a:t>
            </a:r>
            <a:r>
              <a:rPr lang="en-US" sz="1100" dirty="0">
                <a:solidFill>
                  <a:srgbClr val="C41A16"/>
                </a:solidFill>
                <a:latin typeface="Courier New" pitchFamily="34" charset="0"/>
                <a:ea typeface="Courier New" pitchFamily="34" charset="-122"/>
                <a:cs typeface="Courier New" pitchFamily="34" charset="-120"/>
              </a:rPr>
              <a:t>-list'</a:t>
            </a:r>
            <a:r>
              <a:rPr lang="en-US" sz="1100" dirty="0">
                <a:solidFill>
                  <a:srgbClr val="383A42"/>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standalone: </a:t>
            </a:r>
            <a:r>
              <a:rPr lang="en-US" sz="1100" b="1" dirty="0">
                <a:solidFill>
                  <a:srgbClr val="0057AE"/>
                </a:solidFill>
                <a:latin typeface="Courier New" pitchFamily="34" charset="0"/>
                <a:ea typeface="Courier New" pitchFamily="34" charset="-122"/>
                <a:cs typeface="Courier New" pitchFamily="34" charset="-120"/>
              </a:rPr>
              <a:t>true</a:t>
            </a:r>
            <a:r>
              <a:rPr lang="en-US" sz="1100" dirty="0">
                <a:solidFill>
                  <a:srgbClr val="383A42"/>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template: </a:t>
            </a:r>
            <a:r>
              <a:rPr lang="en-US" sz="1100" dirty="0">
                <a:solidFill>
                  <a:srgbClr val="C41A16"/>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&lt;h2&gt;Catalogo&lt;/h2&gt;</a:t>
            </a:r>
            <a:endParaRPr lang="en-US" sz="1100" dirty="0">
              <a:solidFill>
                <a:srgbClr val="000000"/>
              </a:solidFill>
              <a:latin typeface="Courier New" pitchFamily="34" charset="0"/>
              <a:ea typeface="Courier New" pitchFamily="34" charset="-122"/>
              <a:cs typeface="Courier New" pitchFamily="34" charset="-120"/>
            </a:endParaRPr>
          </a:p>
          <a:p>
            <a:pPr marL="0" indent="0">
              <a:buNone/>
            </a:pP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@for (l </a:t>
            </a:r>
            <a:r>
              <a:rPr lang="en-US" sz="1100" b="1" dirty="0">
                <a:solidFill>
                  <a:srgbClr val="0057AE"/>
                </a:solidFill>
                <a:latin typeface="Courier New" pitchFamily="34" charset="0"/>
                <a:ea typeface="Courier New" pitchFamily="34" charset="-122"/>
                <a:cs typeface="Courier New" pitchFamily="34" charset="-120"/>
              </a:rPr>
              <a:t>of</a:t>
            </a:r>
            <a:r>
              <a:rPr lang="en-US" sz="1100" dirty="0">
                <a:solidFill>
                  <a:srgbClr val="383A42"/>
                </a:solidFill>
                <a:latin typeface="Courier New" pitchFamily="34" charset="0"/>
                <a:ea typeface="Courier New" pitchFamily="34" charset="-122"/>
                <a:cs typeface="Courier New" pitchFamily="34" charset="-120"/>
              </a:rPr>
              <a:t> libros(); track l.id)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&lt;p&gt;{{ l.titulo }} --- {{ l.autor }}&lt;/p&gt;</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@empty { &lt;p&gt;Cargando...&lt;/p&gt;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 LibroListComponent </a:t>
            </a:r>
            <a:r>
              <a:rPr lang="en-US" sz="1100" b="1" dirty="0">
                <a:solidFill>
                  <a:srgbClr val="0057AE"/>
                </a:solidFill>
                <a:latin typeface="Courier New" pitchFamily="34" charset="0"/>
                <a:ea typeface="Courier New" pitchFamily="34" charset="-122"/>
                <a:cs typeface="Courier New" pitchFamily="34" charset="-120"/>
              </a:rPr>
              <a:t>implements</a:t>
            </a:r>
            <a:r>
              <a:rPr lang="en-US" sz="1100" dirty="0">
                <a:solidFill>
                  <a:srgbClr val="383A42"/>
                </a:solidFill>
                <a:latin typeface="Courier New" pitchFamily="34" charset="0"/>
                <a:ea typeface="Courier New" pitchFamily="34" charset="-122"/>
                <a:cs typeface="Courier New" pitchFamily="34" charset="-120"/>
              </a:rPr>
              <a:t> </a:t>
            </a:r>
            <a:r>
              <a:rPr lang="en-US" sz="1100" dirty="0" err="1">
                <a:solidFill>
                  <a:srgbClr val="383A42"/>
                </a:solidFill>
                <a:latin typeface="Courier New" pitchFamily="34" charset="0"/>
                <a:ea typeface="Courier New" pitchFamily="34" charset="-122"/>
                <a:cs typeface="Courier New" pitchFamily="34" charset="-120"/>
              </a:rPr>
              <a:t>OnInit</a:t>
            </a:r>
            <a:r>
              <a:rPr lang="en-US" sz="1100" dirty="0">
                <a:solidFill>
                  <a:srgbClr val="383A42"/>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private</a:t>
            </a:r>
            <a:r>
              <a:rPr lang="en-US" sz="1100" dirty="0">
                <a:solidFill>
                  <a:srgbClr val="383A42"/>
                </a:solidFill>
                <a:latin typeface="Courier New" pitchFamily="34" charset="0"/>
                <a:ea typeface="Courier New" pitchFamily="34" charset="-122"/>
                <a:cs typeface="Courier New" pitchFamily="34" charset="-120"/>
              </a:rPr>
              <a:t> servicio = inject(</a:t>
            </a:r>
            <a:r>
              <a:rPr lang="en-US" sz="1100" dirty="0" err="1">
                <a:solidFill>
                  <a:srgbClr val="383A42"/>
                </a:solidFill>
                <a:latin typeface="Courier New" pitchFamily="34" charset="0"/>
                <a:ea typeface="Courier New" pitchFamily="34" charset="-122"/>
                <a:cs typeface="Courier New" pitchFamily="34" charset="-120"/>
              </a:rPr>
              <a:t>LibroService</a:t>
            </a:r>
            <a:r>
              <a:rPr lang="en-US" sz="1100" dirty="0">
                <a:solidFill>
                  <a:srgbClr val="383A42"/>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libros = signal&lt;Libro[]&gt;([]);</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ngOnInit(): </a:t>
            </a:r>
            <a:r>
              <a:rPr lang="en-US" sz="1100" b="1" dirty="0">
                <a:solidFill>
                  <a:srgbClr val="0057AE"/>
                </a:solidFill>
                <a:latin typeface="Courier New" pitchFamily="34" charset="0"/>
                <a:ea typeface="Courier New" pitchFamily="34" charset="-122"/>
                <a:cs typeface="Courier New" pitchFamily="34" charset="-120"/>
              </a:rPr>
              <a:t>void</a:t>
            </a:r>
            <a:r>
              <a:rPr lang="en-US" sz="1100" dirty="0">
                <a:solidFill>
                  <a:srgbClr val="383A42"/>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.servicio.listar().subscribe(data =&gt;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.libros.set(data));</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22 --- 24 / 36</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CONSUMO DE APIS REST</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Alternativa con async pipe</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822960"/>
          </a:xfrm>
          <a:prstGeom prst="rect">
            <a:avLst/>
          </a:prstGeom>
          <a:noFill/>
          <a:ln/>
        </p:spPr>
        <p:txBody>
          <a:bodyPr wrap="square" rtlCol="0" anchor="t"/>
          <a:lstStyle/>
          <a:p>
            <a:pPr marL="0" indent="0">
              <a:buNone/>
            </a:pPr>
            <a:r>
              <a:rPr lang="en-US" sz="1500" dirty="0">
                <a:solidFill>
                  <a:srgbClr val="383A42"/>
                </a:solidFill>
                <a:latin typeface="Calibri" pitchFamily="34" charset="0"/>
                <a:ea typeface="Calibri" pitchFamily="34" charset="-122"/>
                <a:cs typeface="Calibri" pitchFamily="34" charset="-120"/>
              </a:rPr>
              <a:t>El async pipe se suscribe al Observable en la propia plantilla y se desuscribe al destruir el componente. Evita el codigo boilerplate del subscribe y previene fugas de memoria.</a:t>
            </a:r>
            <a:endParaRPr lang="en-US" sz="1500" dirty="0"/>
          </a:p>
        </p:txBody>
      </p:sp>
      <p:sp>
        <p:nvSpPr>
          <p:cNvPr id="7" name="Shape 5"/>
          <p:cNvSpPr/>
          <p:nvPr/>
        </p:nvSpPr>
        <p:spPr>
          <a:xfrm>
            <a:off x="548640" y="1933303"/>
            <a:ext cx="11091672" cy="4504073"/>
          </a:xfrm>
          <a:prstGeom prst="roundRect">
            <a:avLst>
              <a:gd name="adj" fmla="val 1429"/>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71500" y="1954203"/>
            <a:ext cx="173736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525780" y="1972491"/>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con async pipe</a:t>
            </a:r>
            <a:endParaRPr lang="en-US" sz="1000" dirty="0"/>
          </a:p>
        </p:txBody>
      </p:sp>
      <p:sp>
        <p:nvSpPr>
          <p:cNvPr id="10" name="Text 8"/>
          <p:cNvSpPr txBox="1"/>
          <p:nvPr/>
        </p:nvSpPr>
        <p:spPr>
          <a:xfrm>
            <a:off x="640080" y="2276856"/>
            <a:ext cx="10908792" cy="4014216"/>
          </a:xfrm>
          <a:prstGeom prst="rect">
            <a:avLst/>
          </a:prstGeom>
          <a:noFill/>
          <a:ln/>
        </p:spPr>
        <p:txBody>
          <a:bodyPr wrap="square" rtlCol="0" anchor="t"/>
          <a:lstStyle/>
          <a:p>
            <a:pPr marL="0" indent="0">
              <a:buNone/>
            </a:pPr>
            <a:r>
              <a:rPr lang="en-US" sz="1400" i="1" dirty="0">
                <a:solidFill>
                  <a:srgbClr val="717171"/>
                </a:solidFill>
                <a:latin typeface="Courier New" pitchFamily="34" charset="0"/>
                <a:ea typeface="Courier New" pitchFamily="34" charset="-122"/>
                <a:cs typeface="Courier New" pitchFamily="34" charset="-120"/>
              </a:rPr>
              <a:t>// biblioteq-front/src/app/libro-list.component.ts
</a:t>
            </a:r>
            <a:r>
              <a:rPr lang="en-US" sz="1400" b="1" dirty="0">
                <a:solidFill>
                  <a:srgbClr val="0057AE"/>
                </a:solidFill>
                <a:latin typeface="Courier New" pitchFamily="34" charset="0"/>
                <a:ea typeface="Courier New" pitchFamily="34" charset="-122"/>
                <a:cs typeface="Courier New" pitchFamily="34" charset="-120"/>
              </a:rPr>
              <a:t>import</a:t>
            </a:r>
            <a:r>
              <a:rPr lang="en-US" sz="1400" dirty="0">
                <a:solidFill>
                  <a:srgbClr val="383A42"/>
                </a:solidFill>
                <a:latin typeface="Courier New" pitchFamily="34" charset="0"/>
                <a:ea typeface="Courier New" pitchFamily="34" charset="-122"/>
                <a:cs typeface="Courier New" pitchFamily="34" charset="-120"/>
              </a:rPr>
              <a:t> { Component, inject } </a:t>
            </a:r>
            <a:r>
              <a:rPr lang="en-US" sz="1400" b="1" dirty="0">
                <a:solidFill>
                  <a:srgbClr val="0057AE"/>
                </a:solidFill>
                <a:latin typeface="Courier New" pitchFamily="34" charset="0"/>
                <a:ea typeface="Courier New" pitchFamily="34" charset="-122"/>
                <a:cs typeface="Courier New" pitchFamily="34" charset="-120"/>
              </a:rPr>
              <a:t>from</a:t>
            </a: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'@angular/core'</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b="1" dirty="0">
                <a:solidFill>
                  <a:srgbClr val="0057AE"/>
                </a:solidFill>
                <a:latin typeface="Courier New" pitchFamily="34" charset="0"/>
                <a:ea typeface="Courier New" pitchFamily="34" charset="-122"/>
                <a:cs typeface="Courier New" pitchFamily="34" charset="-120"/>
              </a:rPr>
              <a:t>import</a:t>
            </a:r>
            <a:r>
              <a:rPr lang="en-US" sz="1400" dirty="0">
                <a:solidFill>
                  <a:srgbClr val="383A42"/>
                </a:solidFill>
                <a:latin typeface="Courier New" pitchFamily="34" charset="0"/>
                <a:ea typeface="Courier New" pitchFamily="34" charset="-122"/>
                <a:cs typeface="Courier New" pitchFamily="34" charset="-120"/>
              </a:rPr>
              <a:t> { AsyncPipe } </a:t>
            </a:r>
            <a:r>
              <a:rPr lang="en-US" sz="1400" b="1" dirty="0">
                <a:solidFill>
                  <a:srgbClr val="0057AE"/>
                </a:solidFill>
                <a:latin typeface="Courier New" pitchFamily="34" charset="0"/>
                <a:ea typeface="Courier New" pitchFamily="34" charset="-122"/>
                <a:cs typeface="Courier New" pitchFamily="34" charset="-120"/>
              </a:rPr>
              <a:t>from</a:t>
            </a: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'@angular/common'</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b="1" dirty="0">
                <a:solidFill>
                  <a:srgbClr val="0057AE"/>
                </a:solidFill>
                <a:latin typeface="Courier New" pitchFamily="34" charset="0"/>
                <a:ea typeface="Courier New" pitchFamily="34" charset="-122"/>
                <a:cs typeface="Courier New" pitchFamily="34" charset="-120"/>
              </a:rPr>
              <a:t>import</a:t>
            </a:r>
            <a:r>
              <a:rPr lang="en-US" sz="1400" dirty="0">
                <a:solidFill>
                  <a:srgbClr val="383A42"/>
                </a:solidFill>
                <a:latin typeface="Courier New" pitchFamily="34" charset="0"/>
                <a:ea typeface="Courier New" pitchFamily="34" charset="-122"/>
                <a:cs typeface="Courier New" pitchFamily="34" charset="-120"/>
              </a:rPr>
              <a:t> { LibroService } </a:t>
            </a:r>
            <a:r>
              <a:rPr lang="en-US" sz="1400" b="1" dirty="0">
                <a:solidFill>
                  <a:srgbClr val="0057AE"/>
                </a:solidFill>
                <a:latin typeface="Courier New" pitchFamily="34" charset="0"/>
                <a:ea typeface="Courier New" pitchFamily="34" charset="-122"/>
                <a:cs typeface="Courier New" pitchFamily="34" charset="-120"/>
              </a:rPr>
              <a:t>from</a:t>
            </a: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a:t>
            </a:r>
            <a:r>
              <a:rPr lang="en-US" sz="1400" dirty="0" err="1">
                <a:solidFill>
                  <a:srgbClr val="C41A16"/>
                </a:solidFill>
                <a:latin typeface="Courier New" pitchFamily="34" charset="0"/>
                <a:ea typeface="Courier New" pitchFamily="34" charset="-122"/>
                <a:cs typeface="Courier New" pitchFamily="34" charset="-120"/>
              </a:rPr>
              <a:t>libro.service</a:t>
            </a:r>
            <a:r>
              <a:rPr lang="en-US" sz="1400" dirty="0">
                <a:solidFill>
                  <a:srgbClr val="C41A16"/>
                </a:solidFill>
                <a:latin typeface="Courier New" pitchFamily="34" charset="0"/>
                <a:ea typeface="Courier New" pitchFamily="34" charset="-122"/>
                <a:cs typeface="Courier New" pitchFamily="34" charset="-120"/>
              </a:rPr>
              <a:t>'</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@Component({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selector: </a:t>
            </a:r>
            <a:r>
              <a:rPr lang="en-US" sz="1400" dirty="0">
                <a:solidFill>
                  <a:srgbClr val="C41A16"/>
                </a:solidFill>
                <a:latin typeface="Courier New" pitchFamily="34" charset="0"/>
                <a:ea typeface="Courier New" pitchFamily="34" charset="-122"/>
                <a:cs typeface="Courier New" pitchFamily="34" charset="-120"/>
              </a:rPr>
              <a:t>'app-</a:t>
            </a:r>
            <a:r>
              <a:rPr lang="en-US" sz="1400" dirty="0" err="1">
                <a:solidFill>
                  <a:srgbClr val="C41A16"/>
                </a:solidFill>
                <a:latin typeface="Courier New" pitchFamily="34" charset="0"/>
                <a:ea typeface="Courier New" pitchFamily="34" charset="-122"/>
                <a:cs typeface="Courier New" pitchFamily="34" charset="-120"/>
              </a:rPr>
              <a:t>libro</a:t>
            </a:r>
            <a:r>
              <a:rPr lang="en-US" sz="1400" dirty="0">
                <a:solidFill>
                  <a:srgbClr val="C41A16"/>
                </a:solidFill>
                <a:latin typeface="Courier New" pitchFamily="34" charset="0"/>
                <a:ea typeface="Courier New" pitchFamily="34" charset="-122"/>
                <a:cs typeface="Courier New" pitchFamily="34" charset="-120"/>
              </a:rPr>
              <a:t>-list'</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standalone: </a:t>
            </a:r>
            <a:r>
              <a:rPr lang="en-US" sz="1400" b="1" dirty="0">
                <a:solidFill>
                  <a:srgbClr val="0057AE"/>
                </a:solidFill>
                <a:latin typeface="Courier New" pitchFamily="34" charset="0"/>
                <a:ea typeface="Courier New" pitchFamily="34" charset="-122"/>
                <a:cs typeface="Courier New" pitchFamily="34" charset="-120"/>
              </a:rPr>
              <a:t>true</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imports: [</a:t>
            </a:r>
            <a:r>
              <a:rPr lang="en-US" sz="1400" dirty="0" err="1">
                <a:solidFill>
                  <a:srgbClr val="383A42"/>
                </a:solidFill>
                <a:latin typeface="Courier New" pitchFamily="34" charset="0"/>
                <a:ea typeface="Courier New" pitchFamily="34" charset="-122"/>
                <a:cs typeface="Courier New" pitchFamily="34" charset="-120"/>
              </a:rPr>
              <a:t>AsyncPipe</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template: </a:t>
            </a:r>
            <a:r>
              <a:rPr lang="en-US" sz="1400" dirty="0">
                <a:solidFill>
                  <a:srgbClr val="C41A16"/>
                </a:solidFill>
                <a:latin typeface="Courier New" pitchFamily="34" charset="0"/>
                <a:ea typeface="Courier New" pitchFamily="34" charset="-122"/>
                <a:cs typeface="Courier New" pitchFamily="34" charset="-120"/>
              </a:rPr>
              <a:t>`</a:t>
            </a:r>
            <a:r>
              <a:rPr lang="en-US" sz="1400" dirty="0">
                <a:solidFill>
                  <a:srgbClr val="000000"/>
                </a:solidFill>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@for (l </a:t>
            </a:r>
            <a:r>
              <a:rPr lang="en-US" sz="1400" b="1" dirty="0">
                <a:solidFill>
                  <a:srgbClr val="0057AE"/>
                </a:solidFill>
                <a:latin typeface="Courier New" pitchFamily="34" charset="0"/>
                <a:ea typeface="Courier New" pitchFamily="34" charset="-122"/>
                <a:cs typeface="Courier New" pitchFamily="34" charset="-120"/>
              </a:rPr>
              <a:t>of</a:t>
            </a:r>
            <a:r>
              <a:rPr lang="en-US" sz="1400" dirty="0">
                <a:solidFill>
                  <a:srgbClr val="383A42"/>
                </a:solidFill>
                <a:latin typeface="Courier New" pitchFamily="34" charset="0"/>
                <a:ea typeface="Courier New" pitchFamily="34" charset="-122"/>
                <a:cs typeface="Courier New" pitchFamily="34" charset="-120"/>
              </a:rPr>
              <a:t> libros$ | </a:t>
            </a:r>
            <a:r>
              <a:rPr lang="en-US" sz="1400" b="1" dirty="0">
                <a:solidFill>
                  <a:srgbClr val="0057AE"/>
                </a:solidFill>
                <a:latin typeface="Courier New" pitchFamily="34" charset="0"/>
                <a:ea typeface="Courier New" pitchFamily="34" charset="-122"/>
                <a:cs typeface="Courier New" pitchFamily="34" charset="-120"/>
              </a:rPr>
              <a:t>async</a:t>
            </a:r>
            <a:r>
              <a:rPr lang="en-US" sz="1400" dirty="0">
                <a:solidFill>
                  <a:srgbClr val="383A42"/>
                </a:solidFill>
                <a:latin typeface="Courier New" pitchFamily="34" charset="0"/>
                <a:ea typeface="Courier New" pitchFamily="34" charset="-122"/>
                <a:cs typeface="Courier New" pitchFamily="34" charset="-120"/>
              </a:rPr>
              <a:t>; track l.id)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&lt;p&gt;{{ l.titulo }} --- {{ l.autor }}&lt;/p&gt;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a:t>
            </a:r>
            <a:r>
              <a:rPr lang="en-US" sz="1400" dirty="0">
                <a:solidFill>
                  <a:srgbClr val="000000"/>
                </a:solidFill>
              </a:rPr>
              <a:t>
</a:t>
            </a:r>
            <a:endParaRPr lang="en-US" sz="1400" dirty="0"/>
          </a:p>
          <a:p>
            <a:pPr marL="0" indent="0">
              <a:buNone/>
            </a:pPr>
            <a:r>
              <a:rPr lang="en-US" sz="1400" b="1" dirty="0">
                <a:solidFill>
                  <a:srgbClr val="0057AE"/>
                </a:solidFill>
                <a:latin typeface="Courier New" pitchFamily="34" charset="0"/>
                <a:ea typeface="Courier New" pitchFamily="34" charset="-122"/>
                <a:cs typeface="Courier New" pitchFamily="34" charset="-120"/>
              </a:rPr>
              <a:t>export</a:t>
            </a: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class</a:t>
            </a:r>
            <a:r>
              <a:rPr lang="en-US" sz="1400" dirty="0">
                <a:solidFill>
                  <a:srgbClr val="383A42"/>
                </a:solidFill>
                <a:latin typeface="Courier New" pitchFamily="34" charset="0"/>
                <a:ea typeface="Courier New" pitchFamily="34" charset="-122"/>
                <a:cs typeface="Courier New" pitchFamily="34" charset="-120"/>
              </a:rPr>
              <a:t> </a:t>
            </a:r>
            <a:r>
              <a:rPr lang="en-US" sz="1400" dirty="0" err="1">
                <a:solidFill>
                  <a:srgbClr val="383A42"/>
                </a:solidFill>
                <a:latin typeface="Courier New" pitchFamily="34" charset="0"/>
                <a:ea typeface="Courier New" pitchFamily="34" charset="-122"/>
                <a:cs typeface="Courier New" pitchFamily="34" charset="-120"/>
              </a:rPr>
              <a:t>LibroListComponent</a:t>
            </a:r>
            <a:r>
              <a:rPr lang="en-US" sz="1400" dirty="0">
                <a:solidFill>
                  <a:srgbClr val="383A42"/>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libros$ = inject(LibroService).</a:t>
            </a:r>
            <a:r>
              <a:rPr lang="en-US" sz="1400" dirty="0" err="1">
                <a:solidFill>
                  <a:srgbClr val="383A42"/>
                </a:solidFill>
                <a:latin typeface="Courier New" pitchFamily="34" charset="0"/>
                <a:ea typeface="Courier New" pitchFamily="34" charset="-122"/>
                <a:cs typeface="Courier New" pitchFamily="34" charset="-120"/>
              </a:rPr>
              <a:t>listar</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a:t>
            </a:r>
            <a:r>
              <a:rPr lang="en-US" sz="1400" dirty="0">
                <a:solidFill>
                  <a:srgbClr val="000000"/>
                </a:solidFill>
              </a:rPr>
              <a:t>
</a:t>
            </a:r>
            <a:endParaRPr lang="en-US" sz="1400" dirty="0"/>
          </a:p>
        </p:txBody>
      </p:sp>
      <p:sp>
        <p:nvSpPr>
          <p:cNvPr id="11" name="Shape 9"/>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2" name="Text 10"/>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3" name="Text 11"/>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22 --- 25 / 36</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CONSUMO DE APIS REST</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Crear un recurso: POST</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63040"/>
            <a:ext cx="11091672" cy="4846320"/>
          </a:xfrm>
          <a:prstGeom prst="roundRect">
            <a:avLst>
              <a:gd name="adj" fmla="val 1132"/>
            </a:avLst>
          </a:prstGeom>
          <a:solidFill>
            <a:srgbClr val="F5F6F5"/>
          </a:solidFill>
          <a:ln w="9525">
            <a:solidFill>
              <a:srgbClr val="006633"/>
            </a:solidFill>
            <a:prstDash val="solid"/>
          </a:ln>
        </p:spPr>
        <p:txBody>
          <a:bodyPr/>
          <a:lstStyle/>
          <a:p>
            <a:endParaRPr lang="es-US"/>
          </a:p>
        </p:txBody>
      </p:sp>
      <p:sp>
        <p:nvSpPr>
          <p:cNvPr id="7" name="Shape 5"/>
          <p:cNvSpPr/>
          <p:nvPr/>
        </p:nvSpPr>
        <p:spPr>
          <a:xfrm>
            <a:off x="548640" y="1463040"/>
            <a:ext cx="1737360" cy="27432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594360" y="148132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POST /api/libros</a:t>
            </a:r>
            <a:endParaRPr lang="en-US" sz="1000" dirty="0"/>
          </a:p>
        </p:txBody>
      </p:sp>
      <p:sp>
        <p:nvSpPr>
          <p:cNvPr id="9" name="Text 7"/>
          <p:cNvSpPr txBox="1"/>
          <p:nvPr/>
        </p:nvSpPr>
        <p:spPr>
          <a:xfrm>
            <a:off x="640080" y="1810512"/>
            <a:ext cx="10908792" cy="4407408"/>
          </a:xfrm>
          <a:prstGeom prst="rect">
            <a:avLst/>
          </a:prstGeom>
          <a:noFill/>
          <a:ln/>
        </p:spPr>
        <p:txBody>
          <a:bodyPr wrap="square" rtlCol="0" anchor="t"/>
          <a:lstStyle/>
          <a:p>
            <a:pPr marL="0" indent="0">
              <a:buNone/>
            </a:pPr>
            <a:r>
              <a:rPr lang="en-US" sz="1200" i="1" dirty="0">
                <a:solidFill>
                  <a:srgbClr val="717171"/>
                </a:solidFill>
                <a:latin typeface="Courier New" pitchFamily="34" charset="0"/>
                <a:ea typeface="Courier New" pitchFamily="34" charset="-122"/>
                <a:cs typeface="Courier New" pitchFamily="34" charset="-120"/>
              </a:rPr>
              <a:t>// libro.service.ts (</a:t>
            </a:r>
            <a:r>
              <a:rPr lang="en-US" sz="1200" i="1" dirty="0" err="1">
                <a:solidFill>
                  <a:srgbClr val="717171"/>
                </a:solidFill>
                <a:latin typeface="Courier New" pitchFamily="34" charset="0"/>
                <a:ea typeface="Courier New" pitchFamily="34" charset="-122"/>
                <a:cs typeface="Courier New" pitchFamily="34" charset="-120"/>
              </a:rPr>
              <a:t>extracto</a:t>
            </a:r>
            <a:r>
              <a:rPr lang="en-US" sz="1200" i="1" dirty="0">
                <a:solidFill>
                  <a:srgbClr val="717171"/>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crear(libro: Libro): </a:t>
            </a:r>
            <a:r>
              <a:rPr lang="en-US" sz="1200" b="1" dirty="0">
                <a:solidFill>
                  <a:srgbClr val="0057AE"/>
                </a:solidFill>
                <a:latin typeface="Courier New" pitchFamily="34" charset="0"/>
                <a:ea typeface="Courier New" pitchFamily="34" charset="-122"/>
                <a:cs typeface="Courier New" pitchFamily="34" charset="-120"/>
              </a:rPr>
              <a:t>Observable</a:t>
            </a:r>
            <a:r>
              <a:rPr lang="en-US" sz="1200" dirty="0">
                <a:solidFill>
                  <a:srgbClr val="383A42"/>
                </a:solidFill>
                <a:latin typeface="Courier New" pitchFamily="34" charset="0"/>
                <a:ea typeface="Courier New" pitchFamily="34" charset="-122"/>
                <a:cs typeface="Courier New" pitchFamily="34" charset="-120"/>
              </a:rPr>
              <a:t>&lt;Libro&gt;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return</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this</a:t>
            </a:r>
            <a:r>
              <a:rPr lang="en-US" sz="1200" dirty="0">
                <a:solidFill>
                  <a:srgbClr val="383A42"/>
                </a:solidFill>
                <a:latin typeface="Courier New" pitchFamily="34" charset="0"/>
                <a:ea typeface="Courier New" pitchFamily="34" charset="-122"/>
                <a:cs typeface="Courier New" pitchFamily="34" charset="-120"/>
              </a:rPr>
              <a:t>.http.post&lt;Libro&gt;(</a:t>
            </a:r>
            <a:r>
              <a:rPr lang="en-US" sz="1200" b="1" dirty="0">
                <a:solidFill>
                  <a:srgbClr val="0057AE"/>
                </a:solidFill>
                <a:latin typeface="Courier New" pitchFamily="34" charset="0"/>
                <a:ea typeface="Courier New" pitchFamily="34" charset="-122"/>
                <a:cs typeface="Courier New" pitchFamily="34" charset="-120"/>
              </a:rPr>
              <a:t>this</a:t>
            </a:r>
            <a:r>
              <a:rPr lang="en-US" sz="1200" dirty="0">
                <a:solidFill>
                  <a:srgbClr val="383A42"/>
                </a:solidFill>
                <a:latin typeface="Courier New" pitchFamily="34" charset="0"/>
                <a:ea typeface="Courier New" pitchFamily="34" charset="-122"/>
                <a:cs typeface="Courier New" pitchFamily="34" charset="-120"/>
              </a:rPr>
              <a:t>.api, </a:t>
            </a:r>
            <a:r>
              <a:rPr lang="en-US" sz="1200" dirty="0" err="1">
                <a:solidFill>
                  <a:srgbClr val="383A42"/>
                </a:solidFill>
                <a:latin typeface="Courier New" pitchFamily="34" charset="0"/>
                <a:ea typeface="Courier New" pitchFamily="34" charset="-122"/>
                <a:cs typeface="Courier New" pitchFamily="34" charset="-120"/>
              </a:rPr>
              <a:t>libro</a:t>
            </a:r>
            <a:r>
              <a:rPr lang="en-US" sz="1200" dirty="0">
                <a:solidFill>
                  <a:srgbClr val="383A42"/>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libro-form.component.ts
</a:t>
            </a: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Component, inject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'@angular/core'</a:t>
            </a:r>
            <a:r>
              <a:rPr lang="en-US" sz="1200" dirty="0">
                <a:solidFill>
                  <a:srgbClr val="383A42"/>
                </a:solidFill>
                <a:latin typeface="Courier New" pitchFamily="34" charset="0"/>
                <a:ea typeface="Courier New" pitchFamily="34" charset="-122"/>
                <a:cs typeface="Courier New" pitchFamily="34" charset="-120"/>
              </a:rPr>
              <a:t>;</a:t>
            </a:r>
            <a:endParaRPr lang="en-US" sz="1200" dirty="0"/>
          </a:p>
          <a:p>
            <a:pPr marL="0" indent="0">
              <a:buNone/>
            </a:pP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FormsModule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'@angular/forms'</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@Component({</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standalone: </a:t>
            </a:r>
            <a:r>
              <a:rPr lang="en-US" sz="1200" b="1" dirty="0">
                <a:solidFill>
                  <a:srgbClr val="0057AE"/>
                </a:solidFill>
                <a:latin typeface="Courier New" pitchFamily="34" charset="0"/>
                <a:ea typeface="Courier New" pitchFamily="34" charset="-122"/>
                <a:cs typeface="Courier New" pitchFamily="34" charset="-120"/>
              </a:rPr>
              <a:t>true</a:t>
            </a:r>
            <a:r>
              <a:rPr lang="en-US" sz="1200" dirty="0">
                <a:solidFill>
                  <a:srgbClr val="383A42"/>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imports: [</a:t>
            </a:r>
            <a:r>
              <a:rPr lang="en-US" sz="1200" dirty="0" err="1">
                <a:solidFill>
                  <a:srgbClr val="383A42"/>
                </a:solidFill>
                <a:latin typeface="Courier New" pitchFamily="34" charset="0"/>
                <a:ea typeface="Courier New" pitchFamily="34" charset="-122"/>
                <a:cs typeface="Courier New" pitchFamily="34" charset="-120"/>
              </a:rPr>
              <a:t>FormsModule</a:t>
            </a:r>
            <a:r>
              <a:rPr lang="en-US" sz="1200" dirty="0">
                <a:solidFill>
                  <a:srgbClr val="383A42"/>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template: </a:t>
            </a:r>
            <a:r>
              <a:rPr lang="en-US" sz="1200" dirty="0">
                <a:solidFill>
                  <a:srgbClr val="C41A16"/>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&lt;input [(ngModel)]=</a:t>
            </a:r>
            <a:r>
              <a:rPr lang="en-US" sz="1200" dirty="0">
                <a:solidFill>
                  <a:srgbClr val="C41A16"/>
                </a:solidFill>
                <a:latin typeface="Courier New" pitchFamily="34" charset="0"/>
                <a:ea typeface="Courier New" pitchFamily="34" charset="-122"/>
                <a:cs typeface="Courier New" pitchFamily="34" charset="-120"/>
              </a:rPr>
              <a:t>"nuevo.titulo"</a:t>
            </a:r>
            <a:r>
              <a:rPr lang="en-US" sz="1200" dirty="0">
                <a:solidFill>
                  <a:srgbClr val="383A42"/>
                </a:solidFill>
                <a:latin typeface="Courier New" pitchFamily="34" charset="0"/>
                <a:ea typeface="Courier New" pitchFamily="34" charset="-122"/>
                <a:cs typeface="Courier New" pitchFamily="34" charset="-120"/>
              </a:rPr>
              <a:t> name=</a:t>
            </a:r>
            <a:r>
              <a:rPr lang="en-US" sz="1200" dirty="0">
                <a:solidFill>
                  <a:srgbClr val="C41A16"/>
                </a:solidFill>
                <a:latin typeface="Courier New" pitchFamily="34" charset="0"/>
                <a:ea typeface="Courier New" pitchFamily="34" charset="-122"/>
                <a:cs typeface="Courier New" pitchFamily="34" charset="-120"/>
              </a:rPr>
              <a:t>"titulo"</a:t>
            </a:r>
            <a:r>
              <a:rPr lang="en-US" sz="1200" dirty="0">
                <a:solidFill>
                  <a:srgbClr val="383A42"/>
                </a:solidFill>
                <a:latin typeface="Courier New" pitchFamily="34" charset="0"/>
                <a:ea typeface="Courier New" pitchFamily="34" charset="-122"/>
                <a:cs typeface="Courier New" pitchFamily="34" charset="-120"/>
              </a:rPr>
              <a:t> placeholder=</a:t>
            </a:r>
            <a:r>
              <a:rPr lang="en-US" sz="1200" dirty="0">
                <a:solidFill>
                  <a:srgbClr val="C41A16"/>
                </a:solidFill>
                <a:latin typeface="Courier New" pitchFamily="34" charset="0"/>
                <a:ea typeface="Courier New" pitchFamily="34" charset="-122"/>
                <a:cs typeface="Courier New" pitchFamily="34" charset="-120"/>
              </a:rPr>
              <a:t>"</a:t>
            </a:r>
            <a:r>
              <a:rPr lang="en-US" sz="1200" dirty="0" err="1">
                <a:solidFill>
                  <a:srgbClr val="C41A16"/>
                </a:solidFill>
                <a:latin typeface="Courier New" pitchFamily="34" charset="0"/>
                <a:ea typeface="Courier New" pitchFamily="34" charset="-122"/>
                <a:cs typeface="Courier New" pitchFamily="34" charset="-120"/>
              </a:rPr>
              <a:t>Titulo</a:t>
            </a:r>
            <a:r>
              <a:rPr lang="en-US" sz="1200" dirty="0">
                <a:solidFill>
                  <a:srgbClr val="C41A16"/>
                </a:solidFill>
                <a:latin typeface="Courier New" pitchFamily="34" charset="0"/>
                <a:ea typeface="Courier New" pitchFamily="34" charset="-122"/>
                <a:cs typeface="Courier New" pitchFamily="34" charset="-120"/>
              </a:rPr>
              <a:t>"</a:t>
            </a:r>
            <a:r>
              <a:rPr lang="en-US" sz="1200" dirty="0">
                <a:solidFill>
                  <a:srgbClr val="383A42"/>
                </a:solidFill>
                <a:latin typeface="Courier New" pitchFamily="34" charset="0"/>
                <a:ea typeface="Courier New" pitchFamily="34" charset="-122"/>
                <a:cs typeface="Courier New" pitchFamily="34" charset="-120"/>
              </a:rPr>
              <a:t>/&gt;</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&lt;button (click)=</a:t>
            </a:r>
            <a:r>
              <a:rPr lang="en-US" sz="1200" dirty="0">
                <a:solidFill>
                  <a:srgbClr val="C41A16"/>
                </a:solidFill>
                <a:latin typeface="Courier New" pitchFamily="34" charset="0"/>
                <a:ea typeface="Courier New" pitchFamily="34" charset="-122"/>
                <a:cs typeface="Courier New" pitchFamily="34" charset="-120"/>
              </a:rPr>
              <a:t>"guardar()"</a:t>
            </a:r>
            <a:r>
              <a:rPr lang="en-US" sz="1200" dirty="0">
                <a:solidFill>
                  <a:srgbClr val="383A42"/>
                </a:solidFill>
                <a:latin typeface="Courier New" pitchFamily="34" charset="0"/>
                <a:ea typeface="Courier New" pitchFamily="34" charset="-122"/>
                <a:cs typeface="Courier New" pitchFamily="34" charset="-120"/>
              </a:rPr>
              <a:t>&gt;Guardar&lt;/button&gt;</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b="1" dirty="0">
                <a:solidFill>
                  <a:srgbClr val="0057AE"/>
                </a:solidFill>
                <a:latin typeface="Courier New" pitchFamily="34" charset="0"/>
                <a:ea typeface="Courier New" pitchFamily="34" charset="-122"/>
                <a:cs typeface="Courier New" pitchFamily="34" charset="-120"/>
              </a:rPr>
              <a:t>export</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class</a:t>
            </a:r>
            <a:r>
              <a:rPr lang="en-US" sz="1200" dirty="0">
                <a:solidFill>
                  <a:srgbClr val="383A42"/>
                </a:solidFill>
                <a:latin typeface="Courier New" pitchFamily="34" charset="0"/>
                <a:ea typeface="Courier New" pitchFamily="34" charset="-122"/>
                <a:cs typeface="Courier New" pitchFamily="34" charset="-120"/>
              </a:rPr>
              <a:t> </a:t>
            </a:r>
            <a:r>
              <a:rPr lang="en-US" sz="1200" dirty="0" err="1">
                <a:solidFill>
                  <a:srgbClr val="383A42"/>
                </a:solidFill>
                <a:latin typeface="Courier New" pitchFamily="34" charset="0"/>
                <a:ea typeface="Courier New" pitchFamily="34" charset="-122"/>
                <a:cs typeface="Courier New" pitchFamily="34" charset="-120"/>
              </a:rPr>
              <a:t>LibroFormComponent</a:t>
            </a:r>
            <a:r>
              <a:rPr lang="en-US" sz="1200" dirty="0">
                <a:solidFill>
                  <a:srgbClr val="383A42"/>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private</a:t>
            </a:r>
            <a:r>
              <a:rPr lang="en-US" sz="1200" dirty="0">
                <a:solidFill>
                  <a:srgbClr val="383A42"/>
                </a:solidFill>
                <a:latin typeface="Courier New" pitchFamily="34" charset="0"/>
                <a:ea typeface="Courier New" pitchFamily="34" charset="-122"/>
                <a:cs typeface="Courier New" pitchFamily="34" charset="-120"/>
              </a:rPr>
              <a:t> servicio = inject(</a:t>
            </a:r>
            <a:r>
              <a:rPr lang="en-US" sz="1200" dirty="0" err="1">
                <a:solidFill>
                  <a:srgbClr val="383A42"/>
                </a:solidFill>
                <a:latin typeface="Courier New" pitchFamily="34" charset="0"/>
                <a:ea typeface="Courier New" pitchFamily="34" charset="-122"/>
                <a:cs typeface="Courier New" pitchFamily="34" charset="-120"/>
              </a:rPr>
              <a:t>LibroService</a:t>
            </a:r>
            <a:r>
              <a:rPr lang="en-US" sz="1200" dirty="0">
                <a:solidFill>
                  <a:srgbClr val="383A42"/>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nuevo: Partial&lt;Libro&gt; =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guardar() { </a:t>
            </a:r>
            <a:r>
              <a:rPr lang="en-US" sz="1200" b="1" dirty="0">
                <a:solidFill>
                  <a:srgbClr val="0057AE"/>
                </a:solidFill>
                <a:latin typeface="Courier New" pitchFamily="34" charset="0"/>
                <a:ea typeface="Courier New" pitchFamily="34" charset="-122"/>
                <a:cs typeface="Courier New" pitchFamily="34" charset="-120"/>
              </a:rPr>
              <a:t>this</a:t>
            </a:r>
            <a:r>
              <a:rPr lang="en-US" sz="1200" dirty="0">
                <a:solidFill>
                  <a:srgbClr val="383A42"/>
                </a:solidFill>
                <a:latin typeface="Courier New" pitchFamily="34" charset="0"/>
                <a:ea typeface="Courier New" pitchFamily="34" charset="-122"/>
                <a:cs typeface="Courier New" pitchFamily="34" charset="-120"/>
              </a:rPr>
              <a:t>.servicio.crear(</a:t>
            </a:r>
            <a:r>
              <a:rPr lang="en-US" sz="1200" b="1" dirty="0">
                <a:solidFill>
                  <a:srgbClr val="0057AE"/>
                </a:solidFill>
                <a:latin typeface="Courier New" pitchFamily="34" charset="0"/>
                <a:ea typeface="Courier New" pitchFamily="34" charset="-122"/>
                <a:cs typeface="Courier New" pitchFamily="34" charset="-120"/>
              </a:rPr>
              <a:t>this</a:t>
            </a:r>
            <a:r>
              <a:rPr lang="en-US" sz="1200" dirty="0">
                <a:solidFill>
                  <a:srgbClr val="383A42"/>
                </a:solidFill>
                <a:latin typeface="Courier New" pitchFamily="34" charset="0"/>
                <a:ea typeface="Courier New" pitchFamily="34" charset="-122"/>
                <a:cs typeface="Courier New" pitchFamily="34" charset="-120"/>
              </a:rPr>
              <a:t>.nuevo as Libro).subscribe();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22 --- 26 / 36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CONSUMO DE APIS REST</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Actualizar y eliminar: PUT y DELETE</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63040"/>
            <a:ext cx="11091672" cy="4846320"/>
          </a:xfrm>
          <a:prstGeom prst="roundRect">
            <a:avLst>
              <a:gd name="adj" fmla="val 1132"/>
            </a:avLst>
          </a:prstGeom>
          <a:solidFill>
            <a:srgbClr val="F5F6F5"/>
          </a:solidFill>
          <a:ln w="9525">
            <a:solidFill>
              <a:srgbClr val="006633"/>
            </a:solidFill>
            <a:prstDash val="solid"/>
          </a:ln>
        </p:spPr>
        <p:txBody>
          <a:bodyPr/>
          <a:lstStyle/>
          <a:p>
            <a:endParaRPr lang="es-US"/>
          </a:p>
        </p:txBody>
      </p:sp>
      <p:sp>
        <p:nvSpPr>
          <p:cNvPr id="7" name="Shape 5"/>
          <p:cNvSpPr/>
          <p:nvPr/>
        </p:nvSpPr>
        <p:spPr>
          <a:xfrm>
            <a:off x="548640" y="1463040"/>
            <a:ext cx="1737360" cy="27432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594360" y="148132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CRUD completo</a:t>
            </a:r>
            <a:endParaRPr lang="en-US" sz="1000" dirty="0"/>
          </a:p>
        </p:txBody>
      </p:sp>
      <p:sp>
        <p:nvSpPr>
          <p:cNvPr id="9" name="Text 7"/>
          <p:cNvSpPr txBox="1"/>
          <p:nvPr/>
        </p:nvSpPr>
        <p:spPr>
          <a:xfrm>
            <a:off x="640080" y="1810512"/>
            <a:ext cx="10908792" cy="4407408"/>
          </a:xfrm>
          <a:prstGeom prst="rect">
            <a:avLst/>
          </a:prstGeom>
          <a:noFill/>
          <a:ln/>
        </p:spPr>
        <p:txBody>
          <a:bodyPr wrap="square" rtlCol="0" anchor="t"/>
          <a:lstStyle/>
          <a:p>
            <a:pPr marL="0" indent="0">
              <a:buNone/>
            </a:pPr>
            <a:r>
              <a:rPr lang="en-US" sz="1600" i="1" dirty="0">
                <a:solidFill>
                  <a:srgbClr val="717171"/>
                </a:solidFill>
                <a:latin typeface="Courier New" pitchFamily="34" charset="0"/>
                <a:ea typeface="Courier New" pitchFamily="34" charset="-122"/>
                <a:cs typeface="Courier New" pitchFamily="34" charset="-120"/>
              </a:rPr>
              <a:t>// libro.service.ts (</a:t>
            </a:r>
            <a:r>
              <a:rPr lang="en-US" sz="1600" i="1" dirty="0" err="1">
                <a:solidFill>
                  <a:srgbClr val="717171"/>
                </a:solidFill>
                <a:latin typeface="Courier New" pitchFamily="34" charset="0"/>
                <a:ea typeface="Courier New" pitchFamily="34" charset="-122"/>
                <a:cs typeface="Courier New" pitchFamily="34" charset="-120"/>
              </a:rPr>
              <a:t>extracto</a:t>
            </a:r>
            <a:r>
              <a:rPr lang="en-US" sz="1600" i="1" dirty="0">
                <a:solidFill>
                  <a:srgbClr val="717171"/>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actualizar(id: </a:t>
            </a:r>
            <a:r>
              <a:rPr lang="en-US" sz="1600" b="1" dirty="0">
                <a:solidFill>
                  <a:srgbClr val="0057AE"/>
                </a:solidFill>
                <a:latin typeface="Courier New" pitchFamily="34" charset="0"/>
                <a:ea typeface="Courier New" pitchFamily="34" charset="-122"/>
                <a:cs typeface="Courier New" pitchFamily="34" charset="-120"/>
              </a:rPr>
              <a:t>number</a:t>
            </a:r>
            <a:r>
              <a:rPr lang="en-US" sz="1600" dirty="0">
                <a:solidFill>
                  <a:srgbClr val="383A42"/>
                </a:solidFill>
                <a:latin typeface="Courier New" pitchFamily="34" charset="0"/>
                <a:ea typeface="Courier New" pitchFamily="34" charset="-122"/>
                <a:cs typeface="Courier New" pitchFamily="34" charset="-120"/>
              </a:rPr>
              <a:t>, libro: Libro): </a:t>
            </a:r>
            <a:r>
              <a:rPr lang="en-US" sz="1600" b="1" dirty="0">
                <a:solidFill>
                  <a:srgbClr val="0057AE"/>
                </a:solidFill>
                <a:latin typeface="Courier New" pitchFamily="34" charset="0"/>
                <a:ea typeface="Courier New" pitchFamily="34" charset="-122"/>
                <a:cs typeface="Courier New" pitchFamily="34" charset="-120"/>
              </a:rPr>
              <a:t>Observable</a:t>
            </a:r>
            <a:r>
              <a:rPr lang="en-US" sz="1600" dirty="0">
                <a:solidFill>
                  <a:srgbClr val="383A42"/>
                </a:solidFill>
                <a:latin typeface="Courier New" pitchFamily="34" charset="0"/>
                <a:ea typeface="Courier New" pitchFamily="34" charset="-122"/>
                <a:cs typeface="Courier New" pitchFamily="34" charset="-120"/>
              </a:rPr>
              <a:t>&lt;Libro&gt;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return</a:t>
            </a: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this</a:t>
            </a:r>
            <a:r>
              <a:rPr lang="en-US" sz="1600" dirty="0">
                <a:solidFill>
                  <a:srgbClr val="383A42"/>
                </a:solidFill>
                <a:latin typeface="Courier New" pitchFamily="34" charset="0"/>
                <a:ea typeface="Courier New" pitchFamily="34" charset="-122"/>
                <a:cs typeface="Courier New" pitchFamily="34" charset="-120"/>
              </a:rPr>
              <a:t>.http.put&lt;Libro&gt;(</a:t>
            </a:r>
            <a:r>
              <a:rPr lang="en-US" sz="1600" dirty="0">
                <a:solidFill>
                  <a:srgbClr val="C41A16"/>
                </a:solidFill>
                <a:latin typeface="Courier New" pitchFamily="34" charset="0"/>
                <a:ea typeface="Courier New" pitchFamily="34" charset="-122"/>
                <a:cs typeface="Courier New" pitchFamily="34" charset="-120"/>
              </a:rPr>
              <a:t>`${this.api}/${id}`</a:t>
            </a:r>
            <a:r>
              <a:rPr lang="en-US" sz="1600" dirty="0">
                <a:solidFill>
                  <a:srgbClr val="383A42"/>
                </a:solidFill>
                <a:latin typeface="Courier New" pitchFamily="34" charset="0"/>
                <a:ea typeface="Courier New" pitchFamily="34" charset="-122"/>
                <a:cs typeface="Courier New" pitchFamily="34" charset="-120"/>
              </a:rPr>
              <a:t>, </a:t>
            </a:r>
            <a:r>
              <a:rPr lang="en-US" sz="1600" dirty="0" err="1">
                <a:solidFill>
                  <a:srgbClr val="383A42"/>
                </a:solidFill>
                <a:latin typeface="Courier New" pitchFamily="34" charset="0"/>
                <a:ea typeface="Courier New" pitchFamily="34" charset="-122"/>
                <a:cs typeface="Courier New" pitchFamily="34" charset="-120"/>
              </a:rPr>
              <a:t>libro</a:t>
            </a:r>
            <a:r>
              <a:rPr lang="en-US" sz="1600" dirty="0">
                <a:solidFill>
                  <a:srgbClr val="383A42"/>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a:t>
            </a:r>
            <a:r>
              <a:rPr lang="en-US" sz="1600" dirty="0">
                <a:solidFill>
                  <a:srgbClr val="000000"/>
                </a:solidFill>
              </a:rPr>
              <a: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eliminar(id: </a:t>
            </a:r>
            <a:r>
              <a:rPr lang="en-US" sz="1600" b="1" dirty="0">
                <a:solidFill>
                  <a:srgbClr val="0057AE"/>
                </a:solidFill>
                <a:latin typeface="Courier New" pitchFamily="34" charset="0"/>
                <a:ea typeface="Courier New" pitchFamily="34" charset="-122"/>
                <a:cs typeface="Courier New" pitchFamily="34" charset="-120"/>
              </a:rPr>
              <a:t>number</a:t>
            </a: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Observable</a:t>
            </a:r>
            <a:r>
              <a:rPr lang="en-US" sz="1600" dirty="0">
                <a:solidFill>
                  <a:srgbClr val="383A42"/>
                </a:solidFill>
                <a:latin typeface="Courier New" pitchFamily="34" charset="0"/>
                <a:ea typeface="Courier New" pitchFamily="34" charset="-122"/>
                <a:cs typeface="Courier New" pitchFamily="34" charset="-120"/>
              </a:rPr>
              <a:t>&lt;</a:t>
            </a:r>
            <a:r>
              <a:rPr lang="en-US" sz="1600" b="1" dirty="0">
                <a:solidFill>
                  <a:srgbClr val="0057AE"/>
                </a:solidFill>
                <a:latin typeface="Courier New" pitchFamily="34" charset="0"/>
                <a:ea typeface="Courier New" pitchFamily="34" charset="-122"/>
                <a:cs typeface="Courier New" pitchFamily="34" charset="-120"/>
              </a:rPr>
              <a:t>void</a:t>
            </a:r>
            <a:r>
              <a:rPr lang="en-US" sz="1600" dirty="0">
                <a:solidFill>
                  <a:srgbClr val="383A42"/>
                </a:solidFill>
                <a:latin typeface="Courier New" pitchFamily="34" charset="0"/>
                <a:ea typeface="Courier New" pitchFamily="34" charset="-122"/>
                <a:cs typeface="Courier New" pitchFamily="34" charset="-120"/>
              </a:rPr>
              <a:t>&gt;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return</a:t>
            </a: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this</a:t>
            </a:r>
            <a:r>
              <a:rPr lang="en-US" sz="1600" dirty="0">
                <a:solidFill>
                  <a:srgbClr val="383A42"/>
                </a:solidFill>
                <a:latin typeface="Courier New" pitchFamily="34" charset="0"/>
                <a:ea typeface="Courier New" pitchFamily="34" charset="-122"/>
                <a:cs typeface="Courier New" pitchFamily="34" charset="-120"/>
              </a:rPr>
              <a:t>.http.delete&lt;</a:t>
            </a:r>
            <a:r>
              <a:rPr lang="en-US" sz="1600" b="1" dirty="0">
                <a:solidFill>
                  <a:srgbClr val="0057AE"/>
                </a:solidFill>
                <a:latin typeface="Courier New" pitchFamily="34" charset="0"/>
                <a:ea typeface="Courier New" pitchFamily="34" charset="-122"/>
                <a:cs typeface="Courier New" pitchFamily="34" charset="-120"/>
              </a:rPr>
              <a:t>void</a:t>
            </a:r>
            <a:r>
              <a:rPr lang="en-US" sz="1600" dirty="0">
                <a:solidFill>
                  <a:srgbClr val="383A42"/>
                </a:solidFill>
                <a:latin typeface="Courier New" pitchFamily="34" charset="0"/>
                <a:ea typeface="Courier New" pitchFamily="34" charset="-122"/>
                <a:cs typeface="Courier New" pitchFamily="34" charset="-120"/>
              </a:rPr>
              <a:t>&gt;(</a:t>
            </a:r>
            <a:r>
              <a:rPr lang="en-US" sz="1600" dirty="0">
                <a:solidFill>
                  <a:srgbClr val="C41A16"/>
                </a:solidFill>
                <a:latin typeface="Courier New" pitchFamily="34" charset="0"/>
                <a:ea typeface="Courier New" pitchFamily="34" charset="-122"/>
                <a:cs typeface="Courier New" pitchFamily="34" charset="-120"/>
              </a:rPr>
              <a:t>`${this.api}/${id}`</a:t>
            </a:r>
            <a:r>
              <a:rPr lang="en-US" sz="1600" dirty="0">
                <a:solidFill>
                  <a:srgbClr val="383A42"/>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a:t>
            </a:r>
            <a:r>
              <a:rPr lang="en-US" sz="1600" dirty="0">
                <a:solidFill>
                  <a:srgbClr val="000000"/>
                </a:solidFill>
              </a:rPr>
              <a: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buscarPorId(id: </a:t>
            </a:r>
            <a:r>
              <a:rPr lang="en-US" sz="1600" b="1" dirty="0">
                <a:solidFill>
                  <a:srgbClr val="0057AE"/>
                </a:solidFill>
                <a:latin typeface="Courier New" pitchFamily="34" charset="0"/>
                <a:ea typeface="Courier New" pitchFamily="34" charset="-122"/>
                <a:cs typeface="Courier New" pitchFamily="34" charset="-120"/>
              </a:rPr>
              <a:t>number</a:t>
            </a: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Observable</a:t>
            </a:r>
            <a:r>
              <a:rPr lang="en-US" sz="1600" dirty="0">
                <a:solidFill>
                  <a:srgbClr val="383A42"/>
                </a:solidFill>
                <a:latin typeface="Courier New" pitchFamily="34" charset="0"/>
                <a:ea typeface="Courier New" pitchFamily="34" charset="-122"/>
                <a:cs typeface="Courier New" pitchFamily="34" charset="-120"/>
              </a:rPr>
              <a:t>&lt;Libro&gt;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return</a:t>
            </a: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this</a:t>
            </a:r>
            <a:r>
              <a:rPr lang="en-US" sz="1600" dirty="0">
                <a:solidFill>
                  <a:srgbClr val="383A42"/>
                </a:solidFill>
                <a:latin typeface="Courier New" pitchFamily="34" charset="0"/>
                <a:ea typeface="Courier New" pitchFamily="34" charset="-122"/>
                <a:cs typeface="Courier New" pitchFamily="34" charset="-120"/>
              </a:rPr>
              <a:t>.http.get&lt;Libro&gt;(</a:t>
            </a:r>
            <a:r>
              <a:rPr lang="en-US" sz="1600" dirty="0">
                <a:solidFill>
                  <a:srgbClr val="C41A16"/>
                </a:solidFill>
                <a:latin typeface="Courier New" pitchFamily="34" charset="0"/>
                <a:ea typeface="Courier New" pitchFamily="34" charset="-122"/>
                <a:cs typeface="Courier New" pitchFamily="34" charset="-120"/>
              </a:rPr>
              <a:t>`${this.api}/${id}`</a:t>
            </a:r>
            <a:r>
              <a:rPr lang="en-US" sz="1600" dirty="0">
                <a:solidFill>
                  <a:srgbClr val="383A42"/>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a:t>
            </a:r>
            <a:r>
              <a:rPr lang="en-US" sz="1600" dirty="0">
                <a:solidFill>
                  <a:srgbClr val="000000"/>
                </a:solidFill>
              </a:rPr>
              <a: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buscarPorTitulo(q: </a:t>
            </a:r>
            <a:r>
              <a:rPr lang="en-US" sz="1600" b="1" dirty="0">
                <a:solidFill>
                  <a:srgbClr val="0057AE"/>
                </a:solidFill>
                <a:latin typeface="Courier New" pitchFamily="34" charset="0"/>
                <a:ea typeface="Courier New" pitchFamily="34" charset="-122"/>
                <a:cs typeface="Courier New" pitchFamily="34" charset="-120"/>
              </a:rPr>
              <a:t>string</a:t>
            </a: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Observable</a:t>
            </a:r>
            <a:r>
              <a:rPr lang="en-US" sz="1600" dirty="0">
                <a:solidFill>
                  <a:srgbClr val="383A42"/>
                </a:solidFill>
                <a:latin typeface="Courier New" pitchFamily="34" charset="0"/>
                <a:ea typeface="Courier New" pitchFamily="34" charset="-122"/>
                <a:cs typeface="Courier New" pitchFamily="34" charset="-120"/>
              </a:rPr>
              <a:t>&lt;Libro[]&gt;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const</a:t>
            </a:r>
            <a:r>
              <a:rPr lang="en-US" sz="1600" dirty="0">
                <a:solidFill>
                  <a:srgbClr val="383A42"/>
                </a:solidFill>
                <a:latin typeface="Courier New" pitchFamily="34" charset="0"/>
                <a:ea typeface="Courier New" pitchFamily="34" charset="-122"/>
                <a:cs typeface="Courier New" pitchFamily="34" charset="-120"/>
              </a:rPr>
              <a:t> params = { q };</a:t>
            </a:r>
            <a:endParaRPr lang="en-US" sz="1600" dirty="0">
              <a:solidFill>
                <a:srgbClr val="000000"/>
              </a:solidFill>
              <a:latin typeface="Courier New" pitchFamily="34" charset="0"/>
              <a:ea typeface="Courier New" pitchFamily="34" charset="-122"/>
              <a:cs typeface="Courier New" pitchFamily="34" charset="-120"/>
            </a:endParaRPr>
          </a:p>
          <a:p>
            <a:pPr marL="0" indent="0">
              <a:buNone/>
            </a:pP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return</a:t>
            </a: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this</a:t>
            </a:r>
            <a:r>
              <a:rPr lang="en-US" sz="1600" dirty="0">
                <a:solidFill>
                  <a:srgbClr val="383A42"/>
                </a:solidFill>
                <a:latin typeface="Courier New" pitchFamily="34" charset="0"/>
                <a:ea typeface="Courier New" pitchFamily="34" charset="-122"/>
                <a:cs typeface="Courier New" pitchFamily="34" charset="-120"/>
              </a:rPr>
              <a:t>.http.get&lt;Libro[]&gt;(</a:t>
            </a:r>
            <a:r>
              <a:rPr lang="en-US" sz="1600" b="1" dirty="0">
                <a:solidFill>
                  <a:srgbClr val="0057AE"/>
                </a:solidFill>
                <a:latin typeface="Courier New" pitchFamily="34" charset="0"/>
                <a:ea typeface="Courier New" pitchFamily="34" charset="-122"/>
                <a:cs typeface="Courier New" pitchFamily="34" charset="-120"/>
              </a:rPr>
              <a:t>this</a:t>
            </a:r>
            <a:r>
              <a:rPr lang="en-US" sz="1600" dirty="0">
                <a:solidFill>
                  <a:srgbClr val="383A42"/>
                </a:solidFill>
                <a:latin typeface="Courier New" pitchFamily="34" charset="0"/>
                <a:ea typeface="Courier New" pitchFamily="34" charset="-122"/>
                <a:cs typeface="Courier New" pitchFamily="34" charset="-120"/>
              </a:rPr>
              <a:t>.api, { params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a:t>
            </a:r>
            <a:r>
              <a:rPr lang="en-US" sz="1600" dirty="0">
                <a:solidFill>
                  <a:srgbClr val="000000"/>
                </a:solidFill>
              </a:rPr>
              <a:t>
</a:t>
            </a:r>
            <a:endParaRPr lang="en-US" sz="16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22 --- 27 / 36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CONSUMO DE APIS REST</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Manejo de errores con catchError</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868680"/>
          </a:xfrm>
          <a:prstGeom prst="rect">
            <a:avLst/>
          </a:prstGeom>
          <a:noFill/>
          <a:ln/>
        </p:spPr>
        <p:txBody>
          <a:bodyPr wrap="square" rtlCol="0" anchor="t"/>
          <a:lstStyle/>
          <a:p>
            <a:pPr marL="0" indent="0">
              <a:buNone/>
            </a:pPr>
            <a:r>
              <a:rPr lang="en-US" sz="1500" dirty="0">
                <a:solidFill>
                  <a:srgbClr val="383A42"/>
                </a:solidFill>
                <a:latin typeface="Calibri" pitchFamily="34" charset="0"/>
                <a:ea typeface="Calibri" pitchFamily="34" charset="-122"/>
                <a:cs typeface="Calibri" pitchFamily="34" charset="-120"/>
              </a:rPr>
              <a:t>HttpClient emite el error del Observable cuando el backend responde con codigo 4xx o 5xx, o cuando hay un fallo de red. El operador catchError de RxJS captura el error y permite reaccionar sin romper el flujo.</a:t>
            </a:r>
            <a:endParaRPr lang="en-US" sz="1500" dirty="0"/>
          </a:p>
        </p:txBody>
      </p:sp>
      <p:sp>
        <p:nvSpPr>
          <p:cNvPr id="7" name="Shape 5"/>
          <p:cNvSpPr/>
          <p:nvPr/>
        </p:nvSpPr>
        <p:spPr>
          <a:xfrm>
            <a:off x="548640" y="2377440"/>
            <a:ext cx="11091672" cy="3931920"/>
          </a:xfrm>
          <a:prstGeom prst="roundRect">
            <a:avLst>
              <a:gd name="adj" fmla="val 1395"/>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48640" y="2377440"/>
            <a:ext cx="173736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594360" y="239572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catchError</a:t>
            </a:r>
            <a:endParaRPr lang="en-US" sz="1000" dirty="0"/>
          </a:p>
        </p:txBody>
      </p:sp>
      <p:sp>
        <p:nvSpPr>
          <p:cNvPr id="10" name="Text 8"/>
          <p:cNvSpPr txBox="1"/>
          <p:nvPr/>
        </p:nvSpPr>
        <p:spPr>
          <a:xfrm>
            <a:off x="640080" y="2724912"/>
            <a:ext cx="10908792" cy="3493008"/>
          </a:xfrm>
          <a:prstGeom prst="rect">
            <a:avLst/>
          </a:prstGeom>
          <a:noFill/>
          <a:ln/>
        </p:spPr>
        <p:txBody>
          <a:bodyPr wrap="square" rtlCol="0" anchor="t"/>
          <a:lstStyle/>
          <a:p>
            <a:pPr marL="0" indent="0">
              <a:buNone/>
            </a:pPr>
            <a:r>
              <a:rPr lang="en-US" sz="1400" i="1" dirty="0">
                <a:solidFill>
                  <a:srgbClr val="717171"/>
                </a:solidFill>
                <a:latin typeface="Courier New" pitchFamily="34" charset="0"/>
                <a:ea typeface="Courier New" pitchFamily="34" charset="-122"/>
                <a:cs typeface="Courier New" pitchFamily="34" charset="-120"/>
              </a:rPr>
              <a:t>// libro.service.ts (extracto)
</a:t>
            </a:r>
            <a:r>
              <a:rPr lang="en-US" sz="1400" b="1" dirty="0">
                <a:solidFill>
                  <a:srgbClr val="0057AE"/>
                </a:solidFill>
                <a:latin typeface="Courier New" pitchFamily="34" charset="0"/>
                <a:ea typeface="Courier New" pitchFamily="34" charset="-122"/>
                <a:cs typeface="Courier New" pitchFamily="34" charset="-120"/>
              </a:rPr>
              <a:t>import</a:t>
            </a:r>
            <a:r>
              <a:rPr lang="en-US" sz="1400" dirty="0">
                <a:solidFill>
                  <a:srgbClr val="383A42"/>
                </a:solidFill>
                <a:latin typeface="Courier New" pitchFamily="34" charset="0"/>
                <a:ea typeface="Courier New" pitchFamily="34" charset="-122"/>
                <a:cs typeface="Courier New" pitchFamily="34" charset="-120"/>
              </a:rPr>
              <a:t> { catchError, throwError } </a:t>
            </a:r>
            <a:r>
              <a:rPr lang="en-US" sz="1400" b="1" dirty="0">
                <a:solidFill>
                  <a:srgbClr val="0057AE"/>
                </a:solidFill>
                <a:latin typeface="Courier New" pitchFamily="34" charset="0"/>
                <a:ea typeface="Courier New" pitchFamily="34" charset="-122"/>
                <a:cs typeface="Courier New" pitchFamily="34" charset="-120"/>
              </a:rPr>
              <a:t>from</a:t>
            </a: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a:t>
            </a:r>
            <a:r>
              <a:rPr lang="en-US" sz="1400" dirty="0" err="1">
                <a:solidFill>
                  <a:srgbClr val="C41A16"/>
                </a:solidFill>
                <a:latin typeface="Courier New" pitchFamily="34" charset="0"/>
                <a:ea typeface="Courier New" pitchFamily="34" charset="-122"/>
                <a:cs typeface="Courier New" pitchFamily="34" charset="-120"/>
              </a:rPr>
              <a:t>rxjs</a:t>
            </a:r>
            <a:r>
              <a:rPr lang="en-US" sz="1400" dirty="0">
                <a:solidFill>
                  <a:srgbClr val="C41A16"/>
                </a:solidFill>
                <a:latin typeface="Courier New" pitchFamily="34" charset="0"/>
                <a:ea typeface="Courier New" pitchFamily="34" charset="-122"/>
                <a:cs typeface="Courier New" pitchFamily="34" charset="-120"/>
              </a:rPr>
              <a:t>'</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b="1" dirty="0">
                <a:solidFill>
                  <a:srgbClr val="0057AE"/>
                </a:solidFill>
                <a:latin typeface="Courier New" pitchFamily="34" charset="0"/>
                <a:ea typeface="Courier New" pitchFamily="34" charset="-122"/>
                <a:cs typeface="Courier New" pitchFamily="34" charset="-120"/>
              </a:rPr>
              <a:t>import</a:t>
            </a:r>
            <a:r>
              <a:rPr lang="en-US" sz="1400" dirty="0">
                <a:solidFill>
                  <a:srgbClr val="383A42"/>
                </a:solidFill>
                <a:latin typeface="Courier New" pitchFamily="34" charset="0"/>
                <a:ea typeface="Courier New" pitchFamily="34" charset="-122"/>
                <a:cs typeface="Courier New" pitchFamily="34" charset="-120"/>
              </a:rPr>
              <a:t> { HttpErrorResponse } </a:t>
            </a:r>
            <a:r>
              <a:rPr lang="en-US" sz="1400" b="1" dirty="0">
                <a:solidFill>
                  <a:srgbClr val="0057AE"/>
                </a:solidFill>
                <a:latin typeface="Courier New" pitchFamily="34" charset="0"/>
                <a:ea typeface="Courier New" pitchFamily="34" charset="-122"/>
                <a:cs typeface="Courier New" pitchFamily="34" charset="-120"/>
              </a:rPr>
              <a:t>from</a:t>
            </a: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'@angular/common/http'</a:t>
            </a:r>
            <a:r>
              <a:rPr lang="en-US" sz="1400" dirty="0">
                <a:solidFill>
                  <a:srgbClr val="383A42"/>
                </a:solidFill>
                <a:latin typeface="Courier New" pitchFamily="34" charset="0"/>
                <a:ea typeface="Courier New" pitchFamily="34" charset="-122"/>
                <a:cs typeface="Courier New" pitchFamily="34" charset="-120"/>
              </a:rPr>
              <a:t>;</a:t>
            </a:r>
            <a:r>
              <a:rPr lang="en-US" sz="1400" dirty="0">
                <a:solidFill>
                  <a:srgbClr val="000000"/>
                </a:solidFill>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listar(): </a:t>
            </a:r>
            <a:r>
              <a:rPr lang="en-US" sz="1400" b="1" dirty="0">
                <a:solidFill>
                  <a:srgbClr val="0057AE"/>
                </a:solidFill>
                <a:latin typeface="Courier New" pitchFamily="34" charset="0"/>
                <a:ea typeface="Courier New" pitchFamily="34" charset="-122"/>
                <a:cs typeface="Courier New" pitchFamily="34" charset="-120"/>
              </a:rPr>
              <a:t>Observable</a:t>
            </a:r>
            <a:r>
              <a:rPr lang="en-US" sz="1400" dirty="0">
                <a:solidFill>
                  <a:srgbClr val="383A42"/>
                </a:solidFill>
                <a:latin typeface="Courier New" pitchFamily="34" charset="0"/>
                <a:ea typeface="Courier New" pitchFamily="34" charset="-122"/>
                <a:cs typeface="Courier New" pitchFamily="34" charset="-120"/>
              </a:rPr>
              <a:t>&lt;Libro[]&gt;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return</a:t>
            </a: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this</a:t>
            </a:r>
            <a:r>
              <a:rPr lang="en-US" sz="1400" dirty="0">
                <a:solidFill>
                  <a:srgbClr val="383A42"/>
                </a:solidFill>
                <a:latin typeface="Courier New" pitchFamily="34" charset="0"/>
                <a:ea typeface="Courier New" pitchFamily="34" charset="-122"/>
                <a:cs typeface="Courier New" pitchFamily="34" charset="-120"/>
              </a:rPr>
              <a:t>.http.get&lt;Libro[]&gt;(</a:t>
            </a:r>
            <a:r>
              <a:rPr lang="en-US" sz="1400" b="1" dirty="0">
                <a:solidFill>
                  <a:srgbClr val="0057AE"/>
                </a:solidFill>
                <a:latin typeface="Courier New" pitchFamily="34" charset="0"/>
                <a:ea typeface="Courier New" pitchFamily="34" charset="-122"/>
                <a:cs typeface="Courier New" pitchFamily="34" charset="-120"/>
              </a:rPr>
              <a:t>this</a:t>
            </a:r>
            <a:r>
              <a:rPr lang="en-US" sz="1400" dirty="0">
                <a:solidFill>
                  <a:srgbClr val="383A42"/>
                </a:solidFill>
                <a:latin typeface="Courier New" pitchFamily="34" charset="0"/>
                <a:ea typeface="Courier New" pitchFamily="34" charset="-122"/>
                <a:cs typeface="Courier New" pitchFamily="34" charset="-120"/>
              </a:rPr>
              <a:t>.api).pipe(</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catchError((err: HttpErrorResponse) =&gt;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console.error(</a:t>
            </a:r>
            <a:r>
              <a:rPr lang="en-US" sz="1400" dirty="0">
                <a:solidFill>
                  <a:srgbClr val="C41A16"/>
                </a:solidFill>
                <a:latin typeface="Courier New" pitchFamily="34" charset="0"/>
                <a:ea typeface="Courier New" pitchFamily="34" charset="-122"/>
                <a:cs typeface="Courier New" pitchFamily="34" charset="-120"/>
              </a:rPr>
              <a:t>'Error al listar libros'</a:t>
            </a:r>
            <a:r>
              <a:rPr lang="en-US" sz="1400" dirty="0">
                <a:solidFill>
                  <a:srgbClr val="383A42"/>
                </a:solidFill>
                <a:latin typeface="Courier New" pitchFamily="34" charset="0"/>
                <a:ea typeface="Courier New" pitchFamily="34" charset="-122"/>
                <a:cs typeface="Courier New" pitchFamily="34" charset="-120"/>
              </a:rPr>
              <a:t>, err.status, </a:t>
            </a:r>
            <a:r>
              <a:rPr lang="en-US" sz="1400" dirty="0" err="1">
                <a:solidFill>
                  <a:srgbClr val="383A42"/>
                </a:solidFill>
                <a:latin typeface="Courier New" pitchFamily="34" charset="0"/>
                <a:ea typeface="Courier New" pitchFamily="34" charset="-122"/>
                <a:cs typeface="Courier New" pitchFamily="34" charset="-120"/>
              </a:rPr>
              <a:t>err.message</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i="1" dirty="0">
                <a:solidFill>
                  <a:srgbClr val="717171"/>
                </a:solidFill>
                <a:latin typeface="Courier New" pitchFamily="34" charset="0"/>
                <a:ea typeface="Courier New" pitchFamily="34" charset="-122"/>
                <a:cs typeface="Courier New" pitchFamily="34" charset="-120"/>
              </a:rPr>
              <a:t>      // se puede transformar en un mensaje amigable
</a:t>
            </a: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const</a:t>
            </a:r>
            <a:r>
              <a:rPr lang="en-US" sz="1400" dirty="0">
                <a:solidFill>
                  <a:srgbClr val="383A42"/>
                </a:solidFill>
                <a:latin typeface="Courier New" pitchFamily="34" charset="0"/>
                <a:ea typeface="Courier New" pitchFamily="34" charset="-122"/>
                <a:cs typeface="Courier New" pitchFamily="34" charset="-120"/>
              </a:rPr>
              <a:t> msg = err.status === 0</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 </a:t>
            </a:r>
            <a:r>
              <a:rPr lang="en-US" sz="1400" dirty="0">
                <a:solidFill>
                  <a:srgbClr val="C41A16"/>
                </a:solidFill>
                <a:latin typeface="Courier New" pitchFamily="34" charset="0"/>
                <a:ea typeface="Courier New" pitchFamily="34" charset="-122"/>
                <a:cs typeface="Courier New" pitchFamily="34" charset="-120"/>
              </a:rPr>
              <a:t>'No se pudo contactar al </a:t>
            </a:r>
            <a:r>
              <a:rPr lang="en-US" sz="1400" dirty="0" err="1">
                <a:solidFill>
                  <a:srgbClr val="C41A16"/>
                </a:solidFill>
                <a:latin typeface="Courier New" pitchFamily="34" charset="0"/>
                <a:ea typeface="Courier New" pitchFamily="34" charset="-122"/>
                <a:cs typeface="Courier New" pitchFamily="34" charset="-120"/>
              </a:rPr>
              <a:t>servidor</a:t>
            </a:r>
            <a:r>
              <a:rPr lang="en-US" sz="1400" dirty="0">
                <a:solidFill>
                  <a:srgbClr val="C41A16"/>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 </a:t>
            </a:r>
            <a:r>
              <a:rPr lang="en-US" sz="1400" dirty="0">
                <a:solidFill>
                  <a:srgbClr val="C41A16"/>
                </a:solidFill>
                <a:latin typeface="Courier New" pitchFamily="34" charset="0"/>
                <a:ea typeface="Courier New" pitchFamily="34" charset="-122"/>
                <a:cs typeface="Courier New" pitchFamily="34" charset="-120"/>
              </a:rPr>
              <a:t>`Error ${err.status}: ${err.error?.detail ?? </a:t>
            </a:r>
            <a:r>
              <a:rPr lang="en-US" sz="1400" dirty="0" err="1">
                <a:solidFill>
                  <a:srgbClr val="C41A16"/>
                </a:solidFill>
                <a:latin typeface="Courier New" pitchFamily="34" charset="0"/>
                <a:ea typeface="Courier New" pitchFamily="34" charset="-122"/>
                <a:cs typeface="Courier New" pitchFamily="34" charset="-120"/>
              </a:rPr>
              <a:t>err.message</a:t>
            </a:r>
            <a:r>
              <a:rPr lang="en-US" sz="1400" dirty="0">
                <a:solidFill>
                  <a:srgbClr val="C41A16"/>
                </a:solidFill>
                <a:latin typeface="Courier New" pitchFamily="34" charset="0"/>
                <a:ea typeface="Courier New" pitchFamily="34" charset="-122"/>
                <a:cs typeface="Courier New" pitchFamily="34" charset="-120"/>
              </a:rPr>
              <a:t>}`</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return</a:t>
            </a:r>
            <a:r>
              <a:rPr lang="en-US" sz="1400" dirty="0">
                <a:solidFill>
                  <a:srgbClr val="383A42"/>
                </a:solidFill>
                <a:latin typeface="Courier New" pitchFamily="34" charset="0"/>
                <a:ea typeface="Courier New" pitchFamily="34" charset="-122"/>
                <a:cs typeface="Courier New" pitchFamily="34" charset="-120"/>
              </a:rPr>
              <a:t> throwError(() =&gt; </a:t>
            </a:r>
            <a:r>
              <a:rPr lang="en-US" sz="1400" b="1" dirty="0">
                <a:solidFill>
                  <a:srgbClr val="0057AE"/>
                </a:solidFill>
                <a:latin typeface="Courier New" pitchFamily="34" charset="0"/>
                <a:ea typeface="Courier New" pitchFamily="34" charset="-122"/>
                <a:cs typeface="Courier New" pitchFamily="34" charset="-120"/>
              </a:rPr>
              <a:t>new</a:t>
            </a:r>
            <a:r>
              <a:rPr lang="en-US" sz="1400" dirty="0">
                <a:solidFill>
                  <a:srgbClr val="383A42"/>
                </a:solidFill>
                <a:latin typeface="Courier New" pitchFamily="34" charset="0"/>
                <a:ea typeface="Courier New" pitchFamily="34" charset="-122"/>
                <a:cs typeface="Courier New" pitchFamily="34" charset="-120"/>
              </a:rPr>
              <a:t> Error(msg));</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a:t>
            </a:r>
            <a:r>
              <a:rPr lang="en-US" sz="1400" dirty="0">
                <a:solidFill>
                  <a:srgbClr val="000000"/>
                </a:solidFill>
              </a:rPr>
              <a:t>
</a:t>
            </a:r>
            <a:endParaRPr lang="en-US" sz="1400" dirty="0"/>
          </a:p>
        </p:txBody>
      </p:sp>
      <p:sp>
        <p:nvSpPr>
          <p:cNvPr id="11" name="Shape 9"/>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2" name="Text 10"/>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3" name="Text 11"/>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22 --- 28 / 36</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CONSUMO DE APIS REST</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Interceptor HTTP para JWT</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914400"/>
          </a:xfrm>
          <a:prstGeom prst="rect">
            <a:avLst/>
          </a:prstGeom>
          <a:noFill/>
          <a:ln/>
        </p:spPr>
        <p:txBody>
          <a:bodyPr wrap="square" rtlCol="0" anchor="t"/>
          <a:lstStyle/>
          <a:p>
            <a:pPr marL="0" indent="0">
              <a:buNone/>
            </a:pPr>
            <a:r>
              <a:rPr lang="en-US" sz="1500" dirty="0">
                <a:solidFill>
                  <a:srgbClr val="383A42"/>
                </a:solidFill>
                <a:latin typeface="Calibri" pitchFamily="34" charset="0"/>
                <a:ea typeface="Calibri" pitchFamily="34" charset="-122"/>
                <a:cs typeface="Calibri" pitchFamily="34" charset="-120"/>
              </a:rPr>
              <a:t>Un interceptor es una funcion que ejecuta Angular antes de enviar cada peticion HTTP. El uso mas comun es agregar el token JWT de autenticacion a la cabecera Authorization sin repetir codigo en cada servicio.</a:t>
            </a:r>
            <a:endParaRPr lang="en-US" sz="1500" dirty="0"/>
          </a:p>
        </p:txBody>
      </p:sp>
      <p:sp>
        <p:nvSpPr>
          <p:cNvPr id="7" name="Shape 5"/>
          <p:cNvSpPr/>
          <p:nvPr/>
        </p:nvSpPr>
        <p:spPr>
          <a:xfrm>
            <a:off x="548640" y="2050869"/>
            <a:ext cx="11091672" cy="3984171"/>
          </a:xfrm>
          <a:prstGeom prst="roundRect">
            <a:avLst>
              <a:gd name="adj" fmla="val 1538"/>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94360" y="2089186"/>
            <a:ext cx="173736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640080" y="2079607"/>
            <a:ext cx="1691640" cy="265611"/>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auth.interceptor.ts</a:t>
            </a:r>
            <a:endParaRPr lang="en-US" sz="1000" dirty="0"/>
          </a:p>
        </p:txBody>
      </p:sp>
      <p:sp>
        <p:nvSpPr>
          <p:cNvPr id="10" name="Text 8"/>
          <p:cNvSpPr txBox="1"/>
          <p:nvPr/>
        </p:nvSpPr>
        <p:spPr>
          <a:xfrm>
            <a:off x="640080" y="2381794"/>
            <a:ext cx="10908792" cy="3561806"/>
          </a:xfrm>
          <a:prstGeom prst="rect">
            <a:avLst/>
          </a:prstGeom>
          <a:noFill/>
          <a:ln/>
        </p:spPr>
        <p:txBody>
          <a:bodyPr wrap="square" rtlCol="0" anchor="t"/>
          <a:lstStyle/>
          <a:p>
            <a:pPr marL="0" indent="0">
              <a:buNone/>
            </a:pPr>
            <a:r>
              <a:rPr lang="en-US" sz="1600" i="1" dirty="0">
                <a:solidFill>
                  <a:srgbClr val="717171"/>
                </a:solidFill>
                <a:latin typeface="Courier New" pitchFamily="34" charset="0"/>
                <a:ea typeface="Courier New" pitchFamily="34" charset="-122"/>
                <a:cs typeface="Courier New" pitchFamily="34" charset="-120"/>
              </a:rPr>
              <a:t>// biblioteq-front/src/app/auth.interceptor.ts
</a:t>
            </a:r>
            <a:r>
              <a:rPr lang="en-US" sz="1600" b="1" dirty="0">
                <a:solidFill>
                  <a:srgbClr val="0057AE"/>
                </a:solidFill>
                <a:latin typeface="Courier New" pitchFamily="34" charset="0"/>
                <a:ea typeface="Courier New" pitchFamily="34" charset="-122"/>
                <a:cs typeface="Courier New" pitchFamily="34" charset="-120"/>
              </a:rPr>
              <a:t>import</a:t>
            </a:r>
            <a:r>
              <a:rPr lang="en-US" sz="1600" dirty="0">
                <a:solidFill>
                  <a:srgbClr val="383A42"/>
                </a:solidFill>
                <a:latin typeface="Courier New" pitchFamily="34" charset="0"/>
                <a:ea typeface="Courier New" pitchFamily="34" charset="-122"/>
                <a:cs typeface="Courier New" pitchFamily="34" charset="-120"/>
              </a:rPr>
              <a:t> { HttpInterceptorFn } </a:t>
            </a:r>
            <a:r>
              <a:rPr lang="en-US" sz="1600" b="1" dirty="0">
                <a:solidFill>
                  <a:srgbClr val="0057AE"/>
                </a:solidFill>
                <a:latin typeface="Courier New" pitchFamily="34" charset="0"/>
                <a:ea typeface="Courier New" pitchFamily="34" charset="-122"/>
                <a:cs typeface="Courier New" pitchFamily="34" charset="-120"/>
              </a:rPr>
              <a:t>from</a:t>
            </a:r>
            <a:r>
              <a:rPr lang="en-US" sz="1600" dirty="0">
                <a:solidFill>
                  <a:srgbClr val="383A42"/>
                </a:solidFill>
                <a:latin typeface="Courier New" pitchFamily="34" charset="0"/>
                <a:ea typeface="Courier New" pitchFamily="34" charset="-122"/>
                <a:cs typeface="Courier New" pitchFamily="34" charset="-120"/>
              </a:rPr>
              <a:t> </a:t>
            </a:r>
            <a:r>
              <a:rPr lang="en-US" sz="1600" dirty="0">
                <a:solidFill>
                  <a:srgbClr val="C41A16"/>
                </a:solidFill>
                <a:latin typeface="Courier New" pitchFamily="34" charset="0"/>
                <a:ea typeface="Courier New" pitchFamily="34" charset="-122"/>
                <a:cs typeface="Courier New" pitchFamily="34" charset="-120"/>
              </a:rPr>
              <a:t>'@angular/common/http'</a:t>
            </a:r>
            <a:r>
              <a:rPr lang="en-US" sz="1600" dirty="0">
                <a:solidFill>
                  <a:srgbClr val="383A42"/>
                </a:solidFill>
                <a:latin typeface="Courier New" pitchFamily="34" charset="0"/>
                <a:ea typeface="Courier New" pitchFamily="34" charset="-122"/>
                <a:cs typeface="Courier New" pitchFamily="34" charset="-120"/>
              </a:rPr>
              <a:t>;</a:t>
            </a:r>
            <a:endParaRPr lang="en-US" sz="1600" dirty="0"/>
          </a:p>
          <a:p>
            <a:pPr marL="0" indent="0">
              <a:buNone/>
            </a:pPr>
            <a:r>
              <a:rPr lang="en-US" sz="1600" b="1" dirty="0">
                <a:solidFill>
                  <a:srgbClr val="0057AE"/>
                </a:solidFill>
                <a:latin typeface="Courier New" pitchFamily="34" charset="0"/>
                <a:ea typeface="Courier New" pitchFamily="34" charset="-122"/>
                <a:cs typeface="Courier New" pitchFamily="34" charset="-120"/>
              </a:rPr>
              <a:t>import</a:t>
            </a:r>
            <a:r>
              <a:rPr lang="en-US" sz="1600" dirty="0">
                <a:solidFill>
                  <a:srgbClr val="383A42"/>
                </a:solidFill>
                <a:latin typeface="Courier New" pitchFamily="34" charset="0"/>
                <a:ea typeface="Courier New" pitchFamily="34" charset="-122"/>
                <a:cs typeface="Courier New" pitchFamily="34" charset="-120"/>
              </a:rPr>
              <a:t> { inject } </a:t>
            </a:r>
            <a:r>
              <a:rPr lang="en-US" sz="1600" b="1" dirty="0">
                <a:solidFill>
                  <a:srgbClr val="0057AE"/>
                </a:solidFill>
                <a:latin typeface="Courier New" pitchFamily="34" charset="0"/>
                <a:ea typeface="Courier New" pitchFamily="34" charset="-122"/>
                <a:cs typeface="Courier New" pitchFamily="34" charset="-120"/>
              </a:rPr>
              <a:t>from</a:t>
            </a:r>
            <a:r>
              <a:rPr lang="en-US" sz="1600" dirty="0">
                <a:solidFill>
                  <a:srgbClr val="383A42"/>
                </a:solidFill>
                <a:latin typeface="Courier New" pitchFamily="34" charset="0"/>
                <a:ea typeface="Courier New" pitchFamily="34" charset="-122"/>
                <a:cs typeface="Courier New" pitchFamily="34" charset="-120"/>
              </a:rPr>
              <a:t> </a:t>
            </a:r>
            <a:r>
              <a:rPr lang="en-US" sz="1600" dirty="0">
                <a:solidFill>
                  <a:srgbClr val="C41A16"/>
                </a:solidFill>
                <a:latin typeface="Courier New" pitchFamily="34" charset="0"/>
                <a:ea typeface="Courier New" pitchFamily="34" charset="-122"/>
                <a:cs typeface="Courier New" pitchFamily="34" charset="-120"/>
              </a:rPr>
              <a:t>'@angular/core'</a:t>
            </a:r>
            <a:r>
              <a:rPr lang="en-US" sz="1600" dirty="0">
                <a:solidFill>
                  <a:srgbClr val="383A42"/>
                </a:solidFill>
                <a:latin typeface="Courier New" pitchFamily="34" charset="0"/>
                <a:ea typeface="Courier New" pitchFamily="34" charset="-122"/>
                <a:cs typeface="Courier New" pitchFamily="34" charset="-120"/>
              </a:rPr>
              <a:t>;</a:t>
            </a:r>
            <a:endParaRPr lang="en-US" sz="1600" dirty="0"/>
          </a:p>
          <a:p>
            <a:pPr marL="0" indent="0">
              <a:buNone/>
            </a:pPr>
            <a:r>
              <a:rPr lang="en-US" sz="1600" b="1" dirty="0">
                <a:solidFill>
                  <a:srgbClr val="0057AE"/>
                </a:solidFill>
                <a:latin typeface="Courier New" pitchFamily="34" charset="0"/>
                <a:ea typeface="Courier New" pitchFamily="34" charset="-122"/>
                <a:cs typeface="Courier New" pitchFamily="34" charset="-120"/>
              </a:rPr>
              <a:t>import</a:t>
            </a:r>
            <a:r>
              <a:rPr lang="en-US" sz="1600" dirty="0">
                <a:solidFill>
                  <a:srgbClr val="383A42"/>
                </a:solidFill>
                <a:latin typeface="Courier New" pitchFamily="34" charset="0"/>
                <a:ea typeface="Courier New" pitchFamily="34" charset="-122"/>
                <a:cs typeface="Courier New" pitchFamily="34" charset="-120"/>
              </a:rPr>
              <a:t> { AuthService } </a:t>
            </a:r>
            <a:r>
              <a:rPr lang="en-US" sz="1600" b="1" dirty="0">
                <a:solidFill>
                  <a:srgbClr val="0057AE"/>
                </a:solidFill>
                <a:latin typeface="Courier New" pitchFamily="34" charset="0"/>
                <a:ea typeface="Courier New" pitchFamily="34" charset="-122"/>
                <a:cs typeface="Courier New" pitchFamily="34" charset="-120"/>
              </a:rPr>
              <a:t>from</a:t>
            </a:r>
            <a:r>
              <a:rPr lang="en-US" sz="1600" dirty="0">
                <a:solidFill>
                  <a:srgbClr val="383A42"/>
                </a:solidFill>
                <a:latin typeface="Courier New" pitchFamily="34" charset="0"/>
                <a:ea typeface="Courier New" pitchFamily="34" charset="-122"/>
                <a:cs typeface="Courier New" pitchFamily="34" charset="-120"/>
              </a:rPr>
              <a:t> </a:t>
            </a:r>
            <a:r>
              <a:rPr lang="en-US" sz="1600" dirty="0">
                <a:solidFill>
                  <a:srgbClr val="C41A16"/>
                </a:solidFill>
                <a:latin typeface="Courier New" pitchFamily="34" charset="0"/>
                <a:ea typeface="Courier New" pitchFamily="34" charset="-122"/>
                <a:cs typeface="Courier New" pitchFamily="34" charset="-120"/>
              </a:rPr>
              <a:t>'./auth.service'</a:t>
            </a:r>
            <a:r>
              <a:rPr lang="en-US" sz="1600" dirty="0">
                <a:solidFill>
                  <a:srgbClr val="383A42"/>
                </a:solidFill>
                <a:latin typeface="Courier New" pitchFamily="34" charset="0"/>
                <a:ea typeface="Courier New" pitchFamily="34" charset="-122"/>
                <a:cs typeface="Courier New" pitchFamily="34" charset="-120"/>
              </a:rPr>
              <a:t>;</a:t>
            </a:r>
            <a:r>
              <a:rPr lang="en-US" sz="1600" dirty="0">
                <a:solidFill>
                  <a:srgbClr val="000000"/>
                </a:solidFill>
              </a:rPr>
              <a:t>
</a:t>
            </a:r>
            <a:endParaRPr lang="en-US" sz="1600" dirty="0"/>
          </a:p>
          <a:p>
            <a:pPr marL="0" indent="0">
              <a:buNone/>
            </a:pPr>
            <a:r>
              <a:rPr lang="en-US" sz="1600" b="1" dirty="0">
                <a:solidFill>
                  <a:srgbClr val="0057AE"/>
                </a:solidFill>
                <a:latin typeface="Courier New" pitchFamily="34" charset="0"/>
                <a:ea typeface="Courier New" pitchFamily="34" charset="-122"/>
                <a:cs typeface="Courier New" pitchFamily="34" charset="-120"/>
              </a:rPr>
              <a:t>export</a:t>
            </a: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const</a:t>
            </a:r>
            <a:r>
              <a:rPr lang="en-US" sz="1600" dirty="0">
                <a:solidFill>
                  <a:srgbClr val="383A42"/>
                </a:solidFill>
                <a:latin typeface="Courier New" pitchFamily="34" charset="0"/>
                <a:ea typeface="Courier New" pitchFamily="34" charset="-122"/>
                <a:cs typeface="Courier New" pitchFamily="34" charset="-120"/>
              </a:rPr>
              <a:t> authInterceptor: HttpInterceptorFn = (req, next) =&gt;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const</a:t>
            </a:r>
            <a:r>
              <a:rPr lang="en-US" sz="1600" dirty="0">
                <a:solidFill>
                  <a:srgbClr val="383A42"/>
                </a:solidFill>
                <a:latin typeface="Courier New" pitchFamily="34" charset="0"/>
                <a:ea typeface="Courier New" pitchFamily="34" charset="-122"/>
                <a:cs typeface="Courier New" pitchFamily="34" charset="-120"/>
              </a:rPr>
              <a:t> token = inject(AuthService).</a:t>
            </a:r>
            <a:r>
              <a:rPr lang="en-US" sz="1600" dirty="0" err="1">
                <a:solidFill>
                  <a:srgbClr val="383A42"/>
                </a:solidFill>
                <a:latin typeface="Courier New" pitchFamily="34" charset="0"/>
                <a:ea typeface="Courier New" pitchFamily="34" charset="-122"/>
                <a:cs typeface="Courier New" pitchFamily="34" charset="-120"/>
              </a:rPr>
              <a:t>getToken</a:t>
            </a:r>
            <a:r>
              <a:rPr lang="en-US" sz="1600" dirty="0">
                <a:solidFill>
                  <a:srgbClr val="383A42"/>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if</a:t>
            </a:r>
            <a:r>
              <a:rPr lang="en-US" sz="1600" dirty="0">
                <a:solidFill>
                  <a:srgbClr val="383A42"/>
                </a:solidFill>
                <a:latin typeface="Courier New" pitchFamily="34" charset="0"/>
                <a:ea typeface="Courier New" pitchFamily="34" charset="-122"/>
                <a:cs typeface="Courier New" pitchFamily="34" charset="-120"/>
              </a:rPr>
              <a:t> (!token) </a:t>
            </a:r>
            <a:r>
              <a:rPr lang="en-US" sz="1600" b="1" dirty="0">
                <a:solidFill>
                  <a:srgbClr val="0057AE"/>
                </a:solidFill>
                <a:latin typeface="Courier New" pitchFamily="34" charset="0"/>
                <a:ea typeface="Courier New" pitchFamily="34" charset="-122"/>
                <a:cs typeface="Courier New" pitchFamily="34" charset="-120"/>
              </a:rPr>
              <a:t>return</a:t>
            </a:r>
            <a:r>
              <a:rPr lang="en-US" sz="1600" dirty="0">
                <a:solidFill>
                  <a:srgbClr val="383A42"/>
                </a:solidFill>
                <a:latin typeface="Courier New" pitchFamily="34" charset="0"/>
                <a:ea typeface="Courier New" pitchFamily="34" charset="-122"/>
                <a:cs typeface="Courier New" pitchFamily="34" charset="-120"/>
              </a:rPr>
              <a:t> next(req);</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const</a:t>
            </a:r>
            <a:r>
              <a:rPr lang="en-US" sz="1600" dirty="0">
                <a:solidFill>
                  <a:srgbClr val="383A42"/>
                </a:solidFill>
                <a:latin typeface="Courier New" pitchFamily="34" charset="0"/>
                <a:ea typeface="Courier New" pitchFamily="34" charset="-122"/>
                <a:cs typeface="Courier New" pitchFamily="34" charset="-120"/>
              </a:rPr>
              <a:t> withAuth = </a:t>
            </a:r>
            <a:r>
              <a:rPr lang="en-US" sz="1600" dirty="0" err="1">
                <a:solidFill>
                  <a:srgbClr val="383A42"/>
                </a:solidFill>
                <a:latin typeface="Courier New" pitchFamily="34" charset="0"/>
                <a:ea typeface="Courier New" pitchFamily="34" charset="-122"/>
                <a:cs typeface="Courier New" pitchFamily="34" charset="-120"/>
              </a:rPr>
              <a:t>req.clone</a:t>
            </a:r>
            <a:r>
              <a:rPr lang="en-US" sz="1600" dirty="0">
                <a:solidFill>
                  <a:srgbClr val="383A42"/>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setHeaders: { Authorization: </a:t>
            </a:r>
            <a:r>
              <a:rPr lang="en-US" sz="1600" dirty="0">
                <a:solidFill>
                  <a:srgbClr val="C41A16"/>
                </a:solidFill>
                <a:latin typeface="Courier New" pitchFamily="34" charset="0"/>
                <a:ea typeface="Courier New" pitchFamily="34" charset="-122"/>
                <a:cs typeface="Courier New" pitchFamily="34" charset="-120"/>
              </a:rPr>
              <a:t>`Bearer ${token}`</a:t>
            </a:r>
            <a:r>
              <a:rPr lang="en-US" sz="1600" dirty="0">
                <a:solidFill>
                  <a:srgbClr val="383A42"/>
                </a:solidFill>
                <a:latin typeface="Courier New" pitchFamily="34" charset="0"/>
                <a:ea typeface="Courier New" pitchFamily="34" charset="-122"/>
                <a:cs typeface="Courier New" pitchFamily="34" charset="-120"/>
              </a:rPr>
              <a: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return</a:t>
            </a:r>
            <a:r>
              <a:rPr lang="en-US" sz="1600" dirty="0">
                <a:solidFill>
                  <a:srgbClr val="383A42"/>
                </a:solidFill>
                <a:latin typeface="Courier New" pitchFamily="34" charset="0"/>
                <a:ea typeface="Courier New" pitchFamily="34" charset="-122"/>
                <a:cs typeface="Courier New" pitchFamily="34" charset="-120"/>
              </a:rPr>
              <a:t> next(</a:t>
            </a:r>
            <a:r>
              <a:rPr lang="en-US" sz="1600" dirty="0" err="1">
                <a:solidFill>
                  <a:srgbClr val="383A42"/>
                </a:solidFill>
                <a:latin typeface="Courier New" pitchFamily="34" charset="0"/>
                <a:ea typeface="Courier New" pitchFamily="34" charset="-122"/>
                <a:cs typeface="Courier New" pitchFamily="34" charset="-120"/>
              </a:rPr>
              <a:t>withAuth</a:t>
            </a:r>
            <a:r>
              <a:rPr lang="en-US" sz="1600" dirty="0">
                <a:solidFill>
                  <a:srgbClr val="383A42"/>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a:t>
            </a:r>
            <a:r>
              <a:rPr lang="en-US" sz="1600" dirty="0">
                <a:solidFill>
                  <a:srgbClr val="000000"/>
                </a:solidFill>
              </a:rPr>
              <a:t>
</a:t>
            </a:r>
            <a:endParaRPr lang="en-US" sz="1600" dirty="0"/>
          </a:p>
        </p:txBody>
      </p:sp>
      <p:sp>
        <p:nvSpPr>
          <p:cNvPr id="11" name="Text 9"/>
          <p:cNvSpPr/>
          <p:nvPr/>
        </p:nvSpPr>
        <p:spPr>
          <a:xfrm>
            <a:off x="548640" y="5989320"/>
            <a:ext cx="11091672" cy="320040"/>
          </a:xfrm>
          <a:prstGeom prst="rect">
            <a:avLst/>
          </a:prstGeom>
          <a:noFill/>
          <a:ln/>
        </p:spPr>
        <p:txBody>
          <a:bodyPr wrap="square" rtlCol="0" anchor="t"/>
          <a:lstStyle/>
          <a:p>
            <a:pPr marL="0" indent="0">
              <a:buNone/>
            </a:pPr>
            <a:r>
              <a:rPr lang="en-US" sz="1400" i="1" dirty="0">
                <a:solidFill>
                  <a:srgbClr val="383A42"/>
                </a:solidFill>
                <a:latin typeface="Calibri" pitchFamily="34" charset="0"/>
                <a:ea typeface="Calibri" pitchFamily="34" charset="-122"/>
                <a:cs typeface="Calibri" pitchFamily="34" charset="-120"/>
              </a:rPr>
              <a:t>El interceptor se registra en app.config.ts: provideHttpClient(withInterceptors([authInterceptor])). A partir de ese momento, todas las peticiones salientes llevan el token si el usuario esta autenticado.</a:t>
            </a:r>
            <a:endParaRPr lang="en-US" sz="1400" dirty="0"/>
          </a:p>
        </p:txBody>
      </p:sp>
      <p:sp>
        <p:nvSpPr>
          <p:cNvPr id="12" name="Shape 10"/>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3" name="Text 11"/>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4" name="Text 12"/>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22 --- 29 / 36</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CONSUMO DE APIS REST</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URLs por entorno: environments</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731520"/>
          </a:xfrm>
          <a:prstGeom prst="rect">
            <a:avLst/>
          </a:prstGeom>
          <a:noFill/>
          <a:ln/>
        </p:spPr>
        <p:txBody>
          <a:bodyPr wrap="square" rtlCol="0" anchor="t"/>
          <a:lstStyle/>
          <a:p>
            <a:pPr marL="0" indent="0">
              <a:buNone/>
            </a:pPr>
            <a:r>
              <a:rPr lang="en-US" sz="1500" dirty="0">
                <a:solidFill>
                  <a:srgbClr val="383A42"/>
                </a:solidFill>
                <a:latin typeface="Calibri" pitchFamily="34" charset="0"/>
                <a:ea typeface="Calibri" pitchFamily="34" charset="-122"/>
                <a:cs typeface="Calibri" pitchFamily="34" charset="-120"/>
              </a:rPr>
              <a:t>En vez de cablear la URL del backend en cada servicio, se centraliza en archivos environment por entorno. Angular sustituye automaticamente al compilar.</a:t>
            </a:r>
            <a:endParaRPr lang="en-US" sz="1500" dirty="0"/>
          </a:p>
        </p:txBody>
      </p:sp>
      <p:sp>
        <p:nvSpPr>
          <p:cNvPr id="7" name="Shape 5"/>
          <p:cNvSpPr/>
          <p:nvPr/>
        </p:nvSpPr>
        <p:spPr>
          <a:xfrm>
            <a:off x="548640" y="2240279"/>
            <a:ext cx="5532120" cy="2679191"/>
          </a:xfrm>
          <a:prstGeom prst="roundRect">
            <a:avLst>
              <a:gd name="adj" fmla="val 2609"/>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48640" y="2240280"/>
            <a:ext cx="173736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594360" y="225856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desarrollo</a:t>
            </a:r>
            <a:endParaRPr lang="en-US" sz="1000" dirty="0"/>
          </a:p>
        </p:txBody>
      </p:sp>
      <p:sp>
        <p:nvSpPr>
          <p:cNvPr id="10" name="Text 8"/>
          <p:cNvSpPr txBox="1"/>
          <p:nvPr/>
        </p:nvSpPr>
        <p:spPr>
          <a:xfrm>
            <a:off x="640080" y="2587752"/>
            <a:ext cx="5349240" cy="2212848"/>
          </a:xfrm>
          <a:prstGeom prst="rect">
            <a:avLst/>
          </a:prstGeom>
          <a:noFill/>
          <a:ln/>
        </p:spPr>
        <p:txBody>
          <a:bodyPr wrap="square" rtlCol="0" anchor="t"/>
          <a:lstStyle/>
          <a:p>
            <a:pPr marL="0" indent="0">
              <a:buNone/>
            </a:pPr>
            <a:r>
              <a:rPr lang="en-US" sz="1600" i="1" dirty="0">
                <a:solidFill>
                  <a:srgbClr val="717171"/>
                </a:solidFill>
                <a:latin typeface="Courier New" pitchFamily="34" charset="0"/>
                <a:ea typeface="Courier New" pitchFamily="34" charset="-122"/>
                <a:cs typeface="Courier New" pitchFamily="34" charset="-120"/>
              </a:rPr>
              <a:t>// src/environments/environment.ts
</a:t>
            </a:r>
            <a:r>
              <a:rPr lang="en-US" sz="1600" b="1" dirty="0">
                <a:solidFill>
                  <a:srgbClr val="0057AE"/>
                </a:solidFill>
                <a:latin typeface="Courier New" pitchFamily="34" charset="0"/>
                <a:ea typeface="Courier New" pitchFamily="34" charset="-122"/>
                <a:cs typeface="Courier New" pitchFamily="34" charset="-120"/>
              </a:rPr>
              <a:t>export</a:t>
            </a: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const</a:t>
            </a:r>
            <a:r>
              <a:rPr lang="en-US" sz="1600" dirty="0">
                <a:solidFill>
                  <a:srgbClr val="383A42"/>
                </a:solidFill>
                <a:latin typeface="Courier New" pitchFamily="34" charset="0"/>
                <a:ea typeface="Courier New" pitchFamily="34" charset="-122"/>
                <a:cs typeface="Courier New" pitchFamily="34" charset="-120"/>
              </a:rPr>
              <a:t> environment = {</a:t>
            </a:r>
            <a:r>
              <a:rPr lang="en-US" sz="1600" dirty="0">
                <a:solidFill>
                  <a:srgbClr val="000000"/>
                </a:solidFill>
              </a:rPr>
              <a: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production: </a:t>
            </a:r>
            <a:r>
              <a:rPr lang="en-US" sz="1600" b="1" dirty="0">
                <a:solidFill>
                  <a:srgbClr val="0057AE"/>
                </a:solidFill>
                <a:latin typeface="Courier New" pitchFamily="34" charset="0"/>
                <a:ea typeface="Courier New" pitchFamily="34" charset="-122"/>
                <a:cs typeface="Courier New" pitchFamily="34" charset="-120"/>
              </a:rPr>
              <a:t>false</a:t>
            </a:r>
            <a:r>
              <a:rPr lang="en-US" sz="1600" dirty="0">
                <a:solidFill>
                  <a:srgbClr val="383A42"/>
                </a:solidFill>
                <a:latin typeface="Courier New" pitchFamily="34" charset="0"/>
                <a:ea typeface="Courier New" pitchFamily="34" charset="-122"/>
                <a:cs typeface="Courier New" pitchFamily="34" charset="-120"/>
              </a:rPr>
              <a:t>,</a:t>
            </a:r>
            <a:r>
              <a:rPr lang="en-US" sz="1600" dirty="0">
                <a:solidFill>
                  <a:srgbClr val="000000"/>
                </a:solidFill>
              </a:rPr>
              <a: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apiUrl: </a:t>
            </a:r>
            <a:r>
              <a:rPr lang="en-US" sz="1600" dirty="0">
                <a:solidFill>
                  <a:srgbClr val="C41A16"/>
                </a:solidFill>
                <a:latin typeface="Courier New" pitchFamily="34" charset="0"/>
                <a:ea typeface="Courier New" pitchFamily="34" charset="-122"/>
                <a:cs typeface="Courier New" pitchFamily="34" charset="-120"/>
              </a:rPr>
              <a:t>'http://localhost:8080/api'</a:t>
            </a:r>
            <a:r>
              <a:rPr lang="en-US" sz="1600" dirty="0">
                <a:solidFill>
                  <a:srgbClr val="000000"/>
                </a:solidFill>
              </a:rPr>
              <a: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a:t>
            </a:r>
            <a:r>
              <a:rPr lang="en-US" sz="1600" dirty="0">
                <a:solidFill>
                  <a:srgbClr val="000000"/>
                </a:solidFill>
              </a:rPr>
              <a:t>
</a:t>
            </a:r>
            <a:endParaRPr lang="en-US" sz="1600" dirty="0"/>
          </a:p>
        </p:txBody>
      </p:sp>
      <p:sp>
        <p:nvSpPr>
          <p:cNvPr id="11" name="Shape 9"/>
          <p:cNvSpPr/>
          <p:nvPr/>
        </p:nvSpPr>
        <p:spPr>
          <a:xfrm>
            <a:off x="6126480" y="2240279"/>
            <a:ext cx="5513832" cy="2679191"/>
          </a:xfrm>
          <a:prstGeom prst="roundRect">
            <a:avLst>
              <a:gd name="adj" fmla="val 2609"/>
            </a:avLst>
          </a:prstGeom>
          <a:solidFill>
            <a:srgbClr val="F5F6F5"/>
          </a:solidFill>
          <a:ln w="9525">
            <a:solidFill>
              <a:srgbClr val="006633"/>
            </a:solidFill>
            <a:prstDash val="solid"/>
          </a:ln>
        </p:spPr>
        <p:txBody>
          <a:bodyPr/>
          <a:lstStyle/>
          <a:p>
            <a:endParaRPr lang="es-US"/>
          </a:p>
        </p:txBody>
      </p:sp>
      <p:sp>
        <p:nvSpPr>
          <p:cNvPr id="12" name="Shape 10"/>
          <p:cNvSpPr/>
          <p:nvPr/>
        </p:nvSpPr>
        <p:spPr>
          <a:xfrm>
            <a:off x="6126480" y="2240280"/>
            <a:ext cx="1737360" cy="274320"/>
          </a:xfrm>
          <a:prstGeom prst="rect">
            <a:avLst/>
          </a:prstGeom>
          <a:solidFill>
            <a:srgbClr val="006633"/>
          </a:solidFill>
          <a:ln w="12700">
            <a:solidFill>
              <a:srgbClr val="006633"/>
            </a:solidFill>
            <a:prstDash val="solid"/>
          </a:ln>
        </p:spPr>
        <p:txBody>
          <a:bodyPr/>
          <a:lstStyle/>
          <a:p>
            <a:endParaRPr lang="es-US"/>
          </a:p>
        </p:txBody>
      </p:sp>
      <p:sp>
        <p:nvSpPr>
          <p:cNvPr id="13" name="Text 11"/>
          <p:cNvSpPr/>
          <p:nvPr/>
        </p:nvSpPr>
        <p:spPr>
          <a:xfrm>
            <a:off x="6172200" y="225856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produccion</a:t>
            </a:r>
            <a:endParaRPr lang="en-US" sz="1000" dirty="0"/>
          </a:p>
        </p:txBody>
      </p:sp>
      <p:sp>
        <p:nvSpPr>
          <p:cNvPr id="14" name="Text 12"/>
          <p:cNvSpPr txBox="1"/>
          <p:nvPr/>
        </p:nvSpPr>
        <p:spPr>
          <a:xfrm>
            <a:off x="6217920" y="2587752"/>
            <a:ext cx="5330952" cy="2212848"/>
          </a:xfrm>
          <a:prstGeom prst="rect">
            <a:avLst/>
          </a:prstGeom>
          <a:noFill/>
          <a:ln/>
        </p:spPr>
        <p:txBody>
          <a:bodyPr wrap="square" rtlCol="0" anchor="t"/>
          <a:lstStyle/>
          <a:p>
            <a:pPr marL="0" indent="0">
              <a:buNone/>
            </a:pPr>
            <a:r>
              <a:rPr lang="en-US" sz="1600" i="1" dirty="0">
                <a:solidFill>
                  <a:srgbClr val="717171"/>
                </a:solidFill>
                <a:latin typeface="Courier New" pitchFamily="34" charset="0"/>
                <a:ea typeface="Courier New" pitchFamily="34" charset="-122"/>
                <a:cs typeface="Courier New" pitchFamily="34" charset="-120"/>
              </a:rPr>
              <a:t>// src/environments/environment.prod.ts
</a:t>
            </a:r>
            <a:r>
              <a:rPr lang="en-US" sz="1600" b="1" dirty="0">
                <a:solidFill>
                  <a:srgbClr val="0057AE"/>
                </a:solidFill>
                <a:latin typeface="Courier New" pitchFamily="34" charset="0"/>
                <a:ea typeface="Courier New" pitchFamily="34" charset="-122"/>
                <a:cs typeface="Courier New" pitchFamily="34" charset="-120"/>
              </a:rPr>
              <a:t>export</a:t>
            </a:r>
            <a:r>
              <a:rPr lang="en-US" sz="1600" dirty="0">
                <a:solidFill>
                  <a:srgbClr val="383A42"/>
                </a:solidFill>
                <a:latin typeface="Courier New" pitchFamily="34" charset="0"/>
                <a:ea typeface="Courier New" pitchFamily="34" charset="-122"/>
                <a:cs typeface="Courier New" pitchFamily="34" charset="-120"/>
              </a:rPr>
              <a:t> </a:t>
            </a:r>
            <a:r>
              <a:rPr lang="en-US" sz="1600" b="1" dirty="0">
                <a:solidFill>
                  <a:srgbClr val="0057AE"/>
                </a:solidFill>
                <a:latin typeface="Courier New" pitchFamily="34" charset="0"/>
                <a:ea typeface="Courier New" pitchFamily="34" charset="-122"/>
                <a:cs typeface="Courier New" pitchFamily="34" charset="-120"/>
              </a:rPr>
              <a:t>const</a:t>
            </a:r>
            <a:r>
              <a:rPr lang="en-US" sz="1600" dirty="0">
                <a:solidFill>
                  <a:srgbClr val="383A42"/>
                </a:solidFill>
                <a:latin typeface="Courier New" pitchFamily="34" charset="0"/>
                <a:ea typeface="Courier New" pitchFamily="34" charset="-122"/>
                <a:cs typeface="Courier New" pitchFamily="34" charset="-120"/>
              </a:rPr>
              <a:t> environment = {</a:t>
            </a:r>
            <a:r>
              <a:rPr lang="en-US" sz="1600" dirty="0">
                <a:solidFill>
                  <a:srgbClr val="000000"/>
                </a:solidFill>
              </a:rPr>
              <a: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production: </a:t>
            </a:r>
            <a:r>
              <a:rPr lang="en-US" sz="1600" b="1" dirty="0">
                <a:solidFill>
                  <a:srgbClr val="0057AE"/>
                </a:solidFill>
                <a:latin typeface="Courier New" pitchFamily="34" charset="0"/>
                <a:ea typeface="Courier New" pitchFamily="34" charset="-122"/>
                <a:cs typeface="Courier New" pitchFamily="34" charset="-120"/>
              </a:rPr>
              <a:t>true</a:t>
            </a:r>
            <a:r>
              <a:rPr lang="en-US" sz="1600" dirty="0">
                <a:solidFill>
                  <a:srgbClr val="383A42"/>
                </a:solidFill>
                <a:latin typeface="Courier New" pitchFamily="34" charset="0"/>
                <a:ea typeface="Courier New" pitchFamily="34" charset="-122"/>
                <a:cs typeface="Courier New" pitchFamily="34" charset="-120"/>
              </a:rPr>
              <a:t>,</a:t>
            </a:r>
            <a:r>
              <a:rPr lang="en-US" sz="1600" dirty="0">
                <a:solidFill>
                  <a:srgbClr val="000000"/>
                </a:solidFill>
              </a:rPr>
              <a: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apiUrl: </a:t>
            </a:r>
            <a:r>
              <a:rPr lang="en-US" sz="1600" dirty="0">
                <a:solidFill>
                  <a:srgbClr val="C41A16"/>
                </a:solidFill>
                <a:latin typeface="Courier New" pitchFamily="34" charset="0"/>
                <a:ea typeface="Courier New" pitchFamily="34" charset="-122"/>
                <a:cs typeface="Courier New" pitchFamily="34" charset="-120"/>
              </a:rPr>
              <a:t>'https://biblioteq.uteq.edu.ec/api'</a:t>
            </a:r>
            <a:r>
              <a:rPr lang="en-US" sz="1600" dirty="0">
                <a:solidFill>
                  <a:srgbClr val="000000"/>
                </a:solidFill>
              </a:rPr>
              <a: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a:t>
            </a:r>
            <a:r>
              <a:rPr lang="en-US" sz="1600" dirty="0">
                <a:solidFill>
                  <a:srgbClr val="000000"/>
                </a:solidFill>
              </a:rPr>
              <a:t>
</a:t>
            </a:r>
            <a:endParaRPr lang="en-US" sz="1600" dirty="0"/>
          </a:p>
        </p:txBody>
      </p:sp>
      <p:sp>
        <p:nvSpPr>
          <p:cNvPr id="15" name="Shape 13"/>
          <p:cNvSpPr/>
          <p:nvPr/>
        </p:nvSpPr>
        <p:spPr>
          <a:xfrm>
            <a:off x="548640" y="5148072"/>
            <a:ext cx="11091672" cy="1115567"/>
          </a:xfrm>
          <a:prstGeom prst="roundRect">
            <a:avLst>
              <a:gd name="adj" fmla="val 4444"/>
            </a:avLst>
          </a:prstGeom>
          <a:solidFill>
            <a:srgbClr val="FBF0D8"/>
          </a:solidFill>
          <a:ln w="12700">
            <a:solidFill>
              <a:srgbClr val="B8860B"/>
            </a:solidFill>
            <a:prstDash val="solid"/>
          </a:ln>
        </p:spPr>
        <p:txBody>
          <a:bodyPr/>
          <a:lstStyle/>
          <a:p>
            <a:endParaRPr lang="es-US"/>
          </a:p>
        </p:txBody>
      </p:sp>
      <p:sp>
        <p:nvSpPr>
          <p:cNvPr id="16" name="Shape 14"/>
          <p:cNvSpPr/>
          <p:nvPr/>
        </p:nvSpPr>
        <p:spPr>
          <a:xfrm>
            <a:off x="548640" y="5148072"/>
            <a:ext cx="91440" cy="1115567"/>
          </a:xfrm>
          <a:prstGeom prst="rect">
            <a:avLst/>
          </a:prstGeom>
          <a:solidFill>
            <a:srgbClr val="B8860B"/>
          </a:solidFill>
          <a:ln w="12700">
            <a:solidFill>
              <a:srgbClr val="B8860B"/>
            </a:solidFill>
            <a:prstDash val="solid"/>
          </a:ln>
        </p:spPr>
        <p:txBody>
          <a:bodyPr/>
          <a:lstStyle/>
          <a:p>
            <a:endParaRPr lang="es-US"/>
          </a:p>
        </p:txBody>
      </p:sp>
      <p:sp>
        <p:nvSpPr>
          <p:cNvPr id="17" name="Text 15"/>
          <p:cNvSpPr/>
          <p:nvPr/>
        </p:nvSpPr>
        <p:spPr>
          <a:xfrm>
            <a:off x="731520" y="5271516"/>
            <a:ext cx="10817352" cy="274320"/>
          </a:xfrm>
          <a:prstGeom prst="rect">
            <a:avLst/>
          </a:prstGeom>
          <a:noFill/>
          <a:ln/>
        </p:spPr>
        <p:txBody>
          <a:bodyPr wrap="square" rtlCol="0" anchor="ctr"/>
          <a:lstStyle/>
          <a:p>
            <a:pPr marL="0" indent="0">
              <a:buNone/>
            </a:pPr>
            <a:r>
              <a:rPr lang="en-US" sz="1200" b="1" dirty="0">
                <a:solidFill>
                  <a:srgbClr val="B8860B"/>
                </a:solidFill>
                <a:latin typeface="Calibri" pitchFamily="34" charset="0"/>
                <a:ea typeface="Calibri" pitchFamily="34" charset="-122"/>
                <a:cs typeface="Calibri" pitchFamily="34" charset="-120"/>
              </a:rPr>
              <a:t>Habilitar file replacement en angular.json</a:t>
            </a:r>
            <a:endParaRPr lang="en-US" sz="1200" dirty="0"/>
          </a:p>
        </p:txBody>
      </p:sp>
      <p:sp>
        <p:nvSpPr>
          <p:cNvPr id="18" name="Text 16"/>
          <p:cNvSpPr/>
          <p:nvPr/>
        </p:nvSpPr>
        <p:spPr>
          <a:xfrm>
            <a:off x="731520" y="5513832"/>
            <a:ext cx="10817352" cy="694943"/>
          </a:xfrm>
          <a:prstGeom prst="rect">
            <a:avLst/>
          </a:prstGeom>
          <a:noFill/>
          <a:ln/>
        </p:spPr>
        <p:txBody>
          <a:bodyPr wrap="square" rtlCol="0" anchor="t"/>
          <a:lstStyle/>
          <a:p>
            <a:pPr marL="0" indent="0">
              <a:spcAft>
                <a:spcPts val="300"/>
              </a:spcAft>
              <a:buNone/>
            </a:pPr>
            <a:r>
              <a:rPr lang="en-US" sz="1200" dirty="0">
                <a:solidFill>
                  <a:srgbClr val="383A42"/>
                </a:solidFill>
                <a:latin typeface="Calibri" pitchFamily="34" charset="0"/>
                <a:ea typeface="Calibri" pitchFamily="34" charset="-122"/>
                <a:cs typeface="Calibri" pitchFamily="34" charset="-120"/>
              </a:rPr>
              <a:t>La sustitucion no es automatica en Angular 22: en angular.json, en configurations &gt; production &gt; fileReplacements, se declara que src/environments/environment.ts se reemplaza por environment.prod.ts al construir con ng build --configuration=production.</a:t>
            </a:r>
            <a:endParaRPr lang="en-US" sz="1200" dirty="0"/>
          </a:p>
        </p:txBody>
      </p:sp>
      <p:sp>
        <p:nvSpPr>
          <p:cNvPr id="19" name="Shape 17"/>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20" name="Text 18"/>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1" name="Text 19"/>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22 --- 30 / 36</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CONSUMO DE APIS REST</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CORS: origen cruzado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470916" y="1271016"/>
            <a:ext cx="11091672" cy="1243584"/>
          </a:xfrm>
          <a:prstGeom prst="rect">
            <a:avLst/>
          </a:prstGeom>
          <a:noFill/>
          <a:ln/>
        </p:spPr>
        <p:txBody>
          <a:bodyPr wrap="square" rtlCol="0" anchor="t"/>
          <a:lstStyle/>
          <a:p>
            <a:pPr marL="0" indent="0">
              <a:buNone/>
            </a:pPr>
            <a:r>
              <a:rPr lang="en-US" sz="1600" dirty="0">
                <a:solidFill>
                  <a:srgbClr val="383A42"/>
                </a:solidFill>
                <a:latin typeface="Calibri" pitchFamily="34" charset="0"/>
                <a:ea typeface="Calibri" pitchFamily="34" charset="-122"/>
                <a:cs typeface="Calibri" pitchFamily="34" charset="-120"/>
              </a:rPr>
              <a:t>El navegador bloquea las peticiones de un origen a otro por seguridad. Como el frontend Angular corre en localhost:4200 y el backend Spring Boot en localhost:8080, ambos son origenes distintos y el navegador rechaza la peticion salvo que el backend lo autorice via CORS.</a:t>
            </a:r>
            <a:endParaRPr lang="en-US" sz="1600" dirty="0"/>
          </a:p>
        </p:txBody>
      </p:sp>
      <p:sp>
        <p:nvSpPr>
          <p:cNvPr id="7" name="Shape 5"/>
          <p:cNvSpPr/>
          <p:nvPr/>
        </p:nvSpPr>
        <p:spPr>
          <a:xfrm>
            <a:off x="548640" y="2070463"/>
            <a:ext cx="5468112" cy="1783080"/>
          </a:xfrm>
          <a:prstGeom prst="roundRect">
            <a:avLst>
              <a:gd name="adj" fmla="val 5128"/>
            </a:avLst>
          </a:prstGeom>
          <a:solidFill>
            <a:srgbClr val="FFFFFF"/>
          </a:solidFill>
          <a:ln w="19050">
            <a:solidFill>
              <a:srgbClr val="006633"/>
            </a:solidFill>
            <a:prstDash val="solid"/>
          </a:ln>
        </p:spPr>
        <p:txBody>
          <a:bodyPr/>
          <a:lstStyle/>
          <a:p>
            <a:endParaRPr lang="es-US"/>
          </a:p>
        </p:txBody>
      </p:sp>
      <p:sp>
        <p:nvSpPr>
          <p:cNvPr id="8" name="Shape 6"/>
          <p:cNvSpPr/>
          <p:nvPr/>
        </p:nvSpPr>
        <p:spPr>
          <a:xfrm>
            <a:off x="548640" y="2070463"/>
            <a:ext cx="5468112" cy="411480"/>
          </a:xfrm>
          <a:prstGeom prst="rect">
            <a:avLst/>
          </a:prstGeom>
          <a:solidFill>
            <a:srgbClr val="006633"/>
          </a:solidFill>
          <a:ln w="12700">
            <a:solidFill>
              <a:srgbClr val="006633"/>
            </a:solidFill>
            <a:prstDash val="solid"/>
          </a:ln>
        </p:spPr>
        <p:txBody>
          <a:bodyPr/>
          <a:lstStyle/>
          <a:p>
            <a:endParaRPr lang="es-US" sz="2800"/>
          </a:p>
        </p:txBody>
      </p:sp>
      <p:sp>
        <p:nvSpPr>
          <p:cNvPr id="9" name="Text 7"/>
          <p:cNvSpPr/>
          <p:nvPr/>
        </p:nvSpPr>
        <p:spPr>
          <a:xfrm>
            <a:off x="640080" y="2088751"/>
            <a:ext cx="5285232" cy="36576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Sintoma</a:t>
            </a:r>
            <a:endParaRPr lang="en-US" sz="1300" dirty="0"/>
          </a:p>
        </p:txBody>
      </p:sp>
      <p:sp>
        <p:nvSpPr>
          <p:cNvPr id="10" name="Text 8"/>
          <p:cNvSpPr/>
          <p:nvPr/>
        </p:nvSpPr>
        <p:spPr>
          <a:xfrm>
            <a:off x="685800" y="2573383"/>
            <a:ext cx="5193792" cy="1188720"/>
          </a:xfrm>
          <a:prstGeom prst="rect">
            <a:avLst/>
          </a:prstGeom>
          <a:noFill/>
          <a:ln/>
        </p:spPr>
        <p:txBody>
          <a:bodyPr wrap="square" rtlCol="0" anchor="t"/>
          <a:lstStyle/>
          <a:p>
            <a:pPr marL="0" indent="0">
              <a:spcAft>
                <a:spcPts val="400"/>
              </a:spcAft>
              <a:buNone/>
            </a:pPr>
            <a:r>
              <a:rPr lang="en-US" dirty="0">
                <a:solidFill>
                  <a:srgbClr val="383A42"/>
                </a:solidFill>
                <a:latin typeface="Calibri" pitchFamily="34" charset="0"/>
                <a:ea typeface="Calibri" pitchFamily="34" charset="-122"/>
                <a:cs typeface="Calibri" pitchFamily="34" charset="-120"/>
              </a:rPr>
              <a:t>En la consola del navegador aparece: 'Access to XMLHttpRequest at ... has been blocked by CORS policy: No Access-Control-Allow-Origin header is present'.</a:t>
            </a:r>
            <a:endParaRPr lang="en-US" dirty="0"/>
          </a:p>
        </p:txBody>
      </p:sp>
      <p:sp>
        <p:nvSpPr>
          <p:cNvPr id="11" name="Shape 9"/>
          <p:cNvSpPr/>
          <p:nvPr/>
        </p:nvSpPr>
        <p:spPr>
          <a:xfrm>
            <a:off x="6172200" y="2070463"/>
            <a:ext cx="5468112" cy="1783080"/>
          </a:xfrm>
          <a:prstGeom prst="roundRect">
            <a:avLst>
              <a:gd name="adj" fmla="val 5128"/>
            </a:avLst>
          </a:prstGeom>
          <a:solidFill>
            <a:srgbClr val="FFFFFF"/>
          </a:solidFill>
          <a:ln w="19050">
            <a:solidFill>
              <a:srgbClr val="B8860B"/>
            </a:solidFill>
            <a:prstDash val="solid"/>
          </a:ln>
        </p:spPr>
        <p:txBody>
          <a:bodyPr/>
          <a:lstStyle/>
          <a:p>
            <a:endParaRPr lang="es-US"/>
          </a:p>
        </p:txBody>
      </p:sp>
      <p:sp>
        <p:nvSpPr>
          <p:cNvPr id="12" name="Shape 10"/>
          <p:cNvSpPr/>
          <p:nvPr/>
        </p:nvSpPr>
        <p:spPr>
          <a:xfrm>
            <a:off x="6172200" y="2070463"/>
            <a:ext cx="5468112" cy="411480"/>
          </a:xfrm>
          <a:prstGeom prst="rect">
            <a:avLst/>
          </a:prstGeom>
          <a:solidFill>
            <a:srgbClr val="B8860B"/>
          </a:solidFill>
          <a:ln w="12700">
            <a:solidFill>
              <a:srgbClr val="B8860B"/>
            </a:solidFill>
            <a:prstDash val="solid"/>
          </a:ln>
        </p:spPr>
        <p:txBody>
          <a:bodyPr/>
          <a:lstStyle/>
          <a:p>
            <a:endParaRPr lang="es-US"/>
          </a:p>
        </p:txBody>
      </p:sp>
      <p:sp>
        <p:nvSpPr>
          <p:cNvPr id="13" name="Text 11"/>
          <p:cNvSpPr/>
          <p:nvPr/>
        </p:nvSpPr>
        <p:spPr>
          <a:xfrm>
            <a:off x="6263640" y="2088751"/>
            <a:ext cx="5285232" cy="36576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Solucion</a:t>
            </a:r>
            <a:endParaRPr lang="en-US" dirty="0"/>
          </a:p>
        </p:txBody>
      </p:sp>
      <p:sp>
        <p:nvSpPr>
          <p:cNvPr id="14" name="Text 12"/>
          <p:cNvSpPr/>
          <p:nvPr/>
        </p:nvSpPr>
        <p:spPr>
          <a:xfrm>
            <a:off x="6309360" y="2573383"/>
            <a:ext cx="5193792" cy="1188720"/>
          </a:xfrm>
          <a:prstGeom prst="rect">
            <a:avLst/>
          </a:prstGeom>
          <a:noFill/>
          <a:ln/>
        </p:spPr>
        <p:txBody>
          <a:bodyPr wrap="square" rtlCol="0" anchor="t"/>
          <a:lstStyle/>
          <a:p>
            <a:pPr marL="0" indent="0">
              <a:spcAft>
                <a:spcPts val="400"/>
              </a:spcAft>
              <a:buNone/>
            </a:pPr>
            <a:r>
              <a:rPr lang="en-US" dirty="0">
                <a:solidFill>
                  <a:srgbClr val="383A42"/>
                </a:solidFill>
                <a:latin typeface="Calibri" pitchFamily="34" charset="0"/>
                <a:ea typeface="Calibri" pitchFamily="34" charset="-122"/>
                <a:cs typeface="Calibri" pitchFamily="34" charset="-120"/>
              </a:rPr>
              <a:t>Se resuelve en el servidor, no en Angular. El backend Spring Boot debe agregar cabeceras Access-Control-Allow-Origin y responder a preflight (OPTIONS).</a:t>
            </a:r>
            <a:endParaRPr lang="en-US" dirty="0"/>
          </a:p>
        </p:txBody>
      </p:sp>
      <p:sp>
        <p:nvSpPr>
          <p:cNvPr id="15" name="Shape 13"/>
          <p:cNvSpPr/>
          <p:nvPr/>
        </p:nvSpPr>
        <p:spPr>
          <a:xfrm>
            <a:off x="548640" y="4007684"/>
            <a:ext cx="11091672" cy="2447979"/>
          </a:xfrm>
          <a:prstGeom prst="roundRect">
            <a:avLst>
              <a:gd name="adj" fmla="val 3333"/>
            </a:avLst>
          </a:prstGeom>
          <a:solidFill>
            <a:srgbClr val="F5F6F5"/>
          </a:solidFill>
          <a:ln w="9525">
            <a:solidFill>
              <a:srgbClr val="006633"/>
            </a:solidFill>
            <a:prstDash val="solid"/>
          </a:ln>
        </p:spPr>
        <p:txBody>
          <a:bodyPr/>
          <a:lstStyle/>
          <a:p>
            <a:endParaRPr lang="es-US"/>
          </a:p>
        </p:txBody>
      </p:sp>
      <p:sp>
        <p:nvSpPr>
          <p:cNvPr id="16" name="Shape 14"/>
          <p:cNvSpPr/>
          <p:nvPr/>
        </p:nvSpPr>
        <p:spPr>
          <a:xfrm>
            <a:off x="548640" y="4042948"/>
            <a:ext cx="1737360" cy="274320"/>
          </a:xfrm>
          <a:prstGeom prst="rect">
            <a:avLst/>
          </a:prstGeom>
          <a:solidFill>
            <a:srgbClr val="006633"/>
          </a:solidFill>
          <a:ln w="12700">
            <a:solidFill>
              <a:srgbClr val="006633"/>
            </a:solidFill>
            <a:prstDash val="solid"/>
          </a:ln>
        </p:spPr>
        <p:txBody>
          <a:bodyPr/>
          <a:lstStyle/>
          <a:p>
            <a:endParaRPr lang="es-US"/>
          </a:p>
        </p:txBody>
      </p:sp>
      <p:sp>
        <p:nvSpPr>
          <p:cNvPr id="17" name="Text 15"/>
          <p:cNvSpPr/>
          <p:nvPr/>
        </p:nvSpPr>
        <p:spPr>
          <a:xfrm>
            <a:off x="594360" y="4025973"/>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backend Spring</a:t>
            </a:r>
            <a:endParaRPr lang="en-US" sz="1000" dirty="0"/>
          </a:p>
        </p:txBody>
      </p:sp>
      <p:sp>
        <p:nvSpPr>
          <p:cNvPr id="18" name="Text 16"/>
          <p:cNvSpPr txBox="1"/>
          <p:nvPr/>
        </p:nvSpPr>
        <p:spPr>
          <a:xfrm>
            <a:off x="640080" y="4355157"/>
            <a:ext cx="10908792" cy="2076994"/>
          </a:xfrm>
          <a:prstGeom prst="rect">
            <a:avLst/>
          </a:prstGeom>
          <a:noFill/>
          <a:ln/>
        </p:spPr>
        <p:txBody>
          <a:bodyPr wrap="square" rtlCol="0" anchor="t"/>
          <a:lstStyle/>
          <a:p>
            <a:pPr marL="0" indent="0">
              <a:buNone/>
            </a:pPr>
            <a:r>
              <a:rPr lang="en-US" sz="1400" i="1" dirty="0">
                <a:solidFill>
                  <a:srgbClr val="717171"/>
                </a:solidFill>
                <a:latin typeface="Courier New" pitchFamily="34" charset="0"/>
                <a:ea typeface="Courier New" pitchFamily="34" charset="-122"/>
                <a:cs typeface="Courier New" pitchFamily="34" charset="-120"/>
              </a:rPr>
              <a:t>// backend Spring Boot: config/SecurityConfig.java
</a:t>
            </a:r>
            <a:r>
              <a:rPr lang="en-US" sz="1400" dirty="0">
                <a:solidFill>
                  <a:srgbClr val="383A42"/>
                </a:solidFill>
                <a:latin typeface="Courier New" pitchFamily="34" charset="0"/>
                <a:ea typeface="Courier New" pitchFamily="34" charset="-122"/>
                <a:cs typeface="Courier New" pitchFamily="34" charset="-120"/>
              </a:rPr>
              <a:t>@Bean CorsConfigurationSource corsConfigurationSource()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var cfg = new </a:t>
            </a:r>
            <a:r>
              <a:rPr lang="en-US" sz="1400" dirty="0" err="1">
                <a:solidFill>
                  <a:srgbClr val="383A42"/>
                </a:solidFill>
                <a:latin typeface="Courier New" pitchFamily="34" charset="0"/>
                <a:ea typeface="Courier New" pitchFamily="34" charset="-122"/>
                <a:cs typeface="Courier New" pitchFamily="34" charset="-120"/>
              </a:rPr>
              <a:t>CorsConfiguration</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cfg.setAllowedOrigins(List.of(</a:t>
            </a:r>
            <a:r>
              <a:rPr lang="en-US" sz="1400" dirty="0">
                <a:solidFill>
                  <a:srgbClr val="C41A16"/>
                </a:solidFill>
                <a:latin typeface="Courier New" pitchFamily="34" charset="0"/>
                <a:ea typeface="Courier New" pitchFamily="34" charset="-122"/>
                <a:cs typeface="Courier New" pitchFamily="34" charset="-120"/>
              </a:rPr>
              <a:t>"http://localhost:4200"</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cfg.setAllowedMethods(List.of(</a:t>
            </a:r>
            <a:r>
              <a:rPr lang="en-US" sz="1400" dirty="0">
                <a:solidFill>
                  <a:srgbClr val="C41A16"/>
                </a:solidFill>
                <a:latin typeface="Courier New" pitchFamily="34" charset="0"/>
                <a:ea typeface="Courier New" pitchFamily="34" charset="-122"/>
                <a:cs typeface="Courier New" pitchFamily="34" charset="-120"/>
              </a:rPr>
              <a:t>"GET"</a:t>
            </a:r>
            <a:r>
              <a:rPr lang="en-US" sz="1400" dirty="0">
                <a:solidFill>
                  <a:srgbClr val="383A42"/>
                </a:solidFill>
                <a:latin typeface="Courier New" pitchFamily="34" charset="0"/>
                <a:ea typeface="Courier New" pitchFamily="34" charset="-122"/>
                <a:cs typeface="Courier New" pitchFamily="34" charset="-120"/>
              </a:rPr>
              <a:t>,</a:t>
            </a:r>
            <a:r>
              <a:rPr lang="en-US" sz="1400" dirty="0">
                <a:solidFill>
                  <a:srgbClr val="C41A16"/>
                </a:solidFill>
                <a:latin typeface="Courier New" pitchFamily="34" charset="0"/>
                <a:ea typeface="Courier New" pitchFamily="34" charset="-122"/>
                <a:cs typeface="Courier New" pitchFamily="34" charset="-120"/>
              </a:rPr>
              <a:t>"POST"</a:t>
            </a:r>
            <a:r>
              <a:rPr lang="en-US" sz="1400" dirty="0">
                <a:solidFill>
                  <a:srgbClr val="383A42"/>
                </a:solidFill>
                <a:latin typeface="Courier New" pitchFamily="34" charset="0"/>
                <a:ea typeface="Courier New" pitchFamily="34" charset="-122"/>
                <a:cs typeface="Courier New" pitchFamily="34" charset="-120"/>
              </a:rPr>
              <a:t>,</a:t>
            </a:r>
            <a:r>
              <a:rPr lang="en-US" sz="1400" dirty="0">
                <a:solidFill>
                  <a:srgbClr val="C41A16"/>
                </a:solidFill>
                <a:latin typeface="Courier New" pitchFamily="34" charset="0"/>
                <a:ea typeface="Courier New" pitchFamily="34" charset="-122"/>
                <a:cs typeface="Courier New" pitchFamily="34" charset="-120"/>
              </a:rPr>
              <a:t>"PUT"</a:t>
            </a:r>
            <a:r>
              <a:rPr lang="en-US" sz="1400" dirty="0">
                <a:solidFill>
                  <a:srgbClr val="383A42"/>
                </a:solidFill>
                <a:latin typeface="Courier New" pitchFamily="34" charset="0"/>
                <a:ea typeface="Courier New" pitchFamily="34" charset="-122"/>
                <a:cs typeface="Courier New" pitchFamily="34" charset="-120"/>
              </a:rPr>
              <a:t>,</a:t>
            </a:r>
            <a:r>
              <a:rPr lang="en-US" sz="1400" dirty="0">
                <a:solidFill>
                  <a:srgbClr val="C41A16"/>
                </a:solidFill>
                <a:latin typeface="Courier New" pitchFamily="34" charset="0"/>
                <a:ea typeface="Courier New" pitchFamily="34" charset="-122"/>
                <a:cs typeface="Courier New" pitchFamily="34" charset="-120"/>
              </a:rPr>
              <a:t>"DELETE"</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cfg.setAllowedHeaders(</a:t>
            </a:r>
            <a:r>
              <a:rPr lang="en-US" sz="1400" dirty="0" err="1">
                <a:solidFill>
                  <a:srgbClr val="383A42"/>
                </a:solidFill>
                <a:latin typeface="Courier New" pitchFamily="34" charset="0"/>
                <a:ea typeface="Courier New" pitchFamily="34" charset="-122"/>
                <a:cs typeface="Courier New" pitchFamily="34" charset="-120"/>
              </a:rPr>
              <a:t>List.of</a:t>
            </a:r>
            <a:r>
              <a:rPr lang="en-US" sz="1400" dirty="0">
                <a:solidFill>
                  <a:srgbClr val="383A42"/>
                </a:solidFill>
                <a:latin typeface="Courier New" pitchFamily="34" charset="0"/>
                <a:ea typeface="Courier New" pitchFamily="34" charset="-122"/>
                <a:cs typeface="Courier New" pitchFamily="34" charset="-120"/>
              </a:rPr>
              <a:t>(</a:t>
            </a:r>
            <a:r>
              <a:rPr lang="en-US" sz="1400" dirty="0">
                <a:solidFill>
                  <a:srgbClr val="C41A16"/>
                </a:solidFill>
                <a:latin typeface="Courier New" pitchFamily="34" charset="0"/>
                <a:ea typeface="Courier New" pitchFamily="34" charset="-122"/>
                <a:cs typeface="Courier New" pitchFamily="34" charset="-120"/>
              </a:rPr>
              <a:t>"*"</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var src = new </a:t>
            </a:r>
            <a:r>
              <a:rPr lang="en-US" sz="1400" dirty="0" err="1">
                <a:solidFill>
                  <a:srgbClr val="383A42"/>
                </a:solidFill>
                <a:latin typeface="Courier New" pitchFamily="34" charset="0"/>
                <a:ea typeface="Courier New" pitchFamily="34" charset="-122"/>
                <a:cs typeface="Courier New" pitchFamily="34" charset="-120"/>
              </a:rPr>
              <a:t>UrlBasedCorsConfigurationSource</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src.registerCorsConfiguration(</a:t>
            </a:r>
            <a:r>
              <a:rPr lang="en-US" sz="1400" dirty="0">
                <a:solidFill>
                  <a:srgbClr val="C41A16"/>
                </a:solidFill>
                <a:latin typeface="Courier New" pitchFamily="34" charset="0"/>
                <a:ea typeface="Courier New" pitchFamily="34" charset="-122"/>
                <a:cs typeface="Courier New" pitchFamily="34" charset="-120"/>
              </a:rPr>
              <a:t>"/**"</a:t>
            </a:r>
            <a:r>
              <a:rPr lang="en-US" sz="1400" dirty="0">
                <a:solidFill>
                  <a:srgbClr val="383A42"/>
                </a:solidFill>
                <a:latin typeface="Courier New" pitchFamily="34" charset="0"/>
                <a:ea typeface="Courier New" pitchFamily="34" charset="-122"/>
                <a:cs typeface="Courier New" pitchFamily="34" charset="-120"/>
              </a:rPr>
              <a:t>, cfg); return </a:t>
            </a:r>
            <a:r>
              <a:rPr lang="en-US" sz="1400" dirty="0" err="1">
                <a:solidFill>
                  <a:srgbClr val="383A42"/>
                </a:solidFill>
                <a:latin typeface="Courier New" pitchFamily="34" charset="0"/>
                <a:ea typeface="Courier New" pitchFamily="34" charset="-122"/>
                <a:cs typeface="Courier New" pitchFamily="34" charset="-120"/>
              </a:rPr>
              <a:t>src</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a:t>
            </a:r>
            <a:r>
              <a:rPr lang="en-US" sz="1400" dirty="0">
                <a:solidFill>
                  <a:srgbClr val="000000"/>
                </a:solidFill>
              </a:rPr>
              <a:t>
</a:t>
            </a:r>
            <a:endParaRPr lang="en-US" sz="1400" dirty="0"/>
          </a:p>
        </p:txBody>
      </p:sp>
      <p:sp>
        <p:nvSpPr>
          <p:cNvPr id="19" name="Shape 17"/>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20" name="Text 18"/>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1" name="Text 19"/>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22 --- 31 / 36</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6. INTEGRACION EN BIBLIOUTEQ</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Enrutamiento basico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822960"/>
          </a:xfrm>
          <a:prstGeom prst="rect">
            <a:avLst/>
          </a:prstGeom>
          <a:noFill/>
          <a:ln/>
        </p:spPr>
        <p:txBody>
          <a:bodyPr wrap="square" rtlCol="0" anchor="t"/>
          <a:lstStyle/>
          <a:p>
            <a:pPr marL="0" indent="0">
              <a:buNone/>
            </a:pPr>
            <a:r>
              <a:rPr lang="en-US" dirty="0">
                <a:solidFill>
                  <a:srgbClr val="383A42"/>
                </a:solidFill>
                <a:latin typeface="Calibri" pitchFamily="34" charset="0"/>
                <a:ea typeface="Calibri" pitchFamily="34" charset="-122"/>
                <a:cs typeface="Calibri" pitchFamily="34" charset="-120"/>
              </a:rPr>
              <a:t>El Router de Angular asocia URLs a componentes. La configuracion vive en app.routes.ts y el HTML principal declara donde se renderiza el componente activo con &lt;router-outlet&gt;.</a:t>
            </a:r>
            <a:endParaRPr lang="en-US" dirty="0"/>
          </a:p>
        </p:txBody>
      </p:sp>
      <p:sp>
        <p:nvSpPr>
          <p:cNvPr id="7" name="Shape 5"/>
          <p:cNvSpPr/>
          <p:nvPr/>
        </p:nvSpPr>
        <p:spPr>
          <a:xfrm>
            <a:off x="548640" y="2331720"/>
            <a:ext cx="5532120" cy="3931920"/>
          </a:xfrm>
          <a:prstGeom prst="roundRect">
            <a:avLst>
              <a:gd name="adj" fmla="val 1395"/>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48640" y="2331720"/>
            <a:ext cx="173736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594360" y="235000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app.routes.ts</a:t>
            </a:r>
            <a:endParaRPr lang="en-US" sz="1000" dirty="0"/>
          </a:p>
        </p:txBody>
      </p:sp>
      <p:sp>
        <p:nvSpPr>
          <p:cNvPr id="10" name="Text 8"/>
          <p:cNvSpPr txBox="1"/>
          <p:nvPr/>
        </p:nvSpPr>
        <p:spPr>
          <a:xfrm>
            <a:off x="640080" y="2679192"/>
            <a:ext cx="5349240" cy="3493008"/>
          </a:xfrm>
          <a:prstGeom prst="rect">
            <a:avLst/>
          </a:prstGeom>
          <a:noFill/>
          <a:ln/>
        </p:spPr>
        <p:txBody>
          <a:bodyPr wrap="square" rtlCol="0" anchor="t"/>
          <a:lstStyle/>
          <a:p>
            <a:pPr marL="0" indent="0">
              <a:buNone/>
            </a:pPr>
            <a:r>
              <a:rPr lang="en-US" sz="1400" i="1" dirty="0">
                <a:solidFill>
                  <a:srgbClr val="717171"/>
                </a:solidFill>
                <a:latin typeface="Courier New" pitchFamily="34" charset="0"/>
                <a:ea typeface="Courier New" pitchFamily="34" charset="-122"/>
                <a:cs typeface="Courier New" pitchFamily="34" charset="-120"/>
              </a:rPr>
              <a:t>// src/app/app.routes.ts
</a:t>
            </a:r>
            <a:r>
              <a:rPr lang="en-US" sz="1400" b="1" dirty="0">
                <a:solidFill>
                  <a:srgbClr val="0057AE"/>
                </a:solidFill>
                <a:latin typeface="Courier New" pitchFamily="34" charset="0"/>
                <a:ea typeface="Courier New" pitchFamily="34" charset="-122"/>
                <a:cs typeface="Courier New" pitchFamily="34" charset="-120"/>
              </a:rPr>
              <a:t>import</a:t>
            </a:r>
            <a:r>
              <a:rPr lang="en-US" sz="1400" dirty="0">
                <a:solidFill>
                  <a:srgbClr val="383A42"/>
                </a:solidFill>
                <a:latin typeface="Courier New" pitchFamily="34" charset="0"/>
                <a:ea typeface="Courier New" pitchFamily="34" charset="-122"/>
                <a:cs typeface="Courier New" pitchFamily="34" charset="-120"/>
              </a:rPr>
              <a:t> { Routes } </a:t>
            </a:r>
            <a:r>
              <a:rPr lang="en-US" sz="1400" b="1" dirty="0">
                <a:solidFill>
                  <a:srgbClr val="0057AE"/>
                </a:solidFill>
                <a:latin typeface="Courier New" pitchFamily="34" charset="0"/>
                <a:ea typeface="Courier New" pitchFamily="34" charset="-122"/>
                <a:cs typeface="Courier New" pitchFamily="34" charset="-120"/>
              </a:rPr>
              <a:t>from</a:t>
            </a: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'@angular/router'</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b="1" dirty="0">
                <a:solidFill>
                  <a:srgbClr val="0057AE"/>
                </a:solidFill>
                <a:latin typeface="Courier New" pitchFamily="34" charset="0"/>
                <a:ea typeface="Courier New" pitchFamily="34" charset="-122"/>
                <a:cs typeface="Courier New" pitchFamily="34" charset="-120"/>
              </a:rPr>
              <a:t>import</a:t>
            </a:r>
            <a:r>
              <a:rPr lang="en-US" sz="1400" dirty="0">
                <a:solidFill>
                  <a:srgbClr val="383A42"/>
                </a:solidFill>
                <a:latin typeface="Courier New" pitchFamily="34" charset="0"/>
                <a:ea typeface="Courier New" pitchFamily="34" charset="-122"/>
                <a:cs typeface="Courier New" pitchFamily="34" charset="-120"/>
              </a:rPr>
              <a:t> { </a:t>
            </a:r>
            <a:r>
              <a:rPr lang="en-US" sz="1400" dirty="0" err="1">
                <a:solidFill>
                  <a:srgbClr val="383A42"/>
                </a:solidFill>
                <a:latin typeface="Courier New" pitchFamily="34" charset="0"/>
                <a:ea typeface="Courier New" pitchFamily="34" charset="-122"/>
                <a:cs typeface="Courier New" pitchFamily="34" charset="-120"/>
              </a:rPr>
              <a:t>LibroListComponent</a:t>
            </a:r>
            <a:r>
              <a:rPr lang="en-US" sz="1400" dirty="0">
                <a:solidFill>
                  <a:srgbClr val="383A42"/>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from</a:t>
            </a: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'./libros/</a:t>
            </a:r>
            <a:r>
              <a:rPr lang="en-US" sz="1400" dirty="0" err="1">
                <a:solidFill>
                  <a:srgbClr val="C41A16"/>
                </a:solidFill>
                <a:latin typeface="Courier New" pitchFamily="34" charset="0"/>
                <a:ea typeface="Courier New" pitchFamily="34" charset="-122"/>
                <a:cs typeface="Courier New" pitchFamily="34" charset="-120"/>
              </a:rPr>
              <a:t>libro-list.component</a:t>
            </a:r>
            <a:r>
              <a:rPr lang="en-US" sz="1400" dirty="0">
                <a:solidFill>
                  <a:srgbClr val="C41A16"/>
                </a:solidFill>
                <a:latin typeface="Courier New" pitchFamily="34" charset="0"/>
                <a:ea typeface="Courier New" pitchFamily="34" charset="-122"/>
                <a:cs typeface="Courier New" pitchFamily="34" charset="-120"/>
              </a:rPr>
              <a:t>'</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b="1" dirty="0">
                <a:solidFill>
                  <a:srgbClr val="0057AE"/>
                </a:solidFill>
                <a:latin typeface="Courier New" pitchFamily="34" charset="0"/>
                <a:ea typeface="Courier New" pitchFamily="34" charset="-122"/>
                <a:cs typeface="Courier New" pitchFamily="34" charset="-120"/>
              </a:rPr>
              <a:t>import</a:t>
            </a:r>
            <a:r>
              <a:rPr lang="en-US" sz="1400" dirty="0">
                <a:solidFill>
                  <a:srgbClr val="383A42"/>
                </a:solidFill>
                <a:latin typeface="Courier New" pitchFamily="34" charset="0"/>
                <a:ea typeface="Courier New" pitchFamily="34" charset="-122"/>
                <a:cs typeface="Courier New" pitchFamily="34" charset="-120"/>
              </a:rPr>
              <a:t> { </a:t>
            </a:r>
            <a:r>
              <a:rPr lang="en-US" sz="1400" dirty="0" err="1">
                <a:solidFill>
                  <a:srgbClr val="383A42"/>
                </a:solidFill>
                <a:latin typeface="Courier New" pitchFamily="34" charset="0"/>
                <a:ea typeface="Courier New" pitchFamily="34" charset="-122"/>
                <a:cs typeface="Courier New" pitchFamily="34" charset="-120"/>
              </a:rPr>
              <a:t>LibroDetailComponent</a:t>
            </a:r>
            <a:r>
              <a:rPr lang="en-US" sz="1400" dirty="0">
                <a:solidFill>
                  <a:srgbClr val="383A42"/>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from</a:t>
            </a:r>
            <a:r>
              <a:rPr lang="en-US" sz="1400" dirty="0">
                <a:solidFill>
                  <a:srgbClr val="383A42"/>
                </a:solidFill>
                <a:latin typeface="Courier New" pitchFamily="34" charset="0"/>
                <a:ea typeface="Courier New" pitchFamily="34" charset="-122"/>
                <a:cs typeface="Courier New" pitchFamily="34" charset="-120"/>
              </a:rPr>
              <a:t> </a:t>
            </a:r>
            <a:r>
              <a:rPr lang="en-US" sz="1400" dirty="0">
                <a:solidFill>
                  <a:srgbClr val="C41A16"/>
                </a:solidFill>
                <a:latin typeface="Courier New" pitchFamily="34" charset="0"/>
                <a:ea typeface="Courier New" pitchFamily="34" charset="-122"/>
                <a:cs typeface="Courier New" pitchFamily="34" charset="-120"/>
              </a:rPr>
              <a:t>'./libros/libro-detail.component'</a:t>
            </a:r>
            <a:r>
              <a:rPr lang="en-US" sz="1400" dirty="0">
                <a:solidFill>
                  <a:srgbClr val="383A42"/>
                </a:solidFill>
                <a:latin typeface="Courier New" pitchFamily="34" charset="0"/>
                <a:ea typeface="Courier New" pitchFamily="34" charset="-122"/>
                <a:cs typeface="Courier New" pitchFamily="34" charset="-120"/>
              </a:rPr>
              <a:t>;</a:t>
            </a:r>
            <a:r>
              <a:rPr lang="en-US" sz="1400" dirty="0">
                <a:solidFill>
                  <a:srgbClr val="000000"/>
                </a:solidFill>
              </a:rPr>
              <a:t>
</a:t>
            </a:r>
            <a:endParaRPr lang="en-US" sz="1400" dirty="0"/>
          </a:p>
          <a:p>
            <a:pPr marL="0" indent="0">
              <a:buNone/>
            </a:pPr>
            <a:r>
              <a:rPr lang="en-US" sz="1400" b="1" dirty="0">
                <a:solidFill>
                  <a:srgbClr val="0057AE"/>
                </a:solidFill>
                <a:latin typeface="Courier New" pitchFamily="34" charset="0"/>
                <a:ea typeface="Courier New" pitchFamily="34" charset="-122"/>
                <a:cs typeface="Courier New" pitchFamily="34" charset="-120"/>
              </a:rPr>
              <a:t>export</a:t>
            </a:r>
            <a:r>
              <a:rPr lang="en-US" sz="1400" dirty="0">
                <a:solidFill>
                  <a:srgbClr val="383A42"/>
                </a:solidFill>
                <a:latin typeface="Courier New" pitchFamily="34" charset="0"/>
                <a:ea typeface="Courier New" pitchFamily="34" charset="-122"/>
                <a:cs typeface="Courier New" pitchFamily="34" charset="-120"/>
              </a:rPr>
              <a:t> </a:t>
            </a:r>
            <a:r>
              <a:rPr lang="en-US" sz="1400" b="1" dirty="0">
                <a:solidFill>
                  <a:srgbClr val="0057AE"/>
                </a:solidFill>
                <a:latin typeface="Courier New" pitchFamily="34" charset="0"/>
                <a:ea typeface="Courier New" pitchFamily="34" charset="-122"/>
                <a:cs typeface="Courier New" pitchFamily="34" charset="-120"/>
              </a:rPr>
              <a:t>const</a:t>
            </a:r>
            <a:r>
              <a:rPr lang="en-US" sz="1400" dirty="0">
                <a:solidFill>
                  <a:srgbClr val="383A42"/>
                </a:solidFill>
                <a:latin typeface="Courier New" pitchFamily="34" charset="0"/>
                <a:ea typeface="Courier New" pitchFamily="34" charset="-122"/>
                <a:cs typeface="Courier New" pitchFamily="34" charset="-120"/>
              </a:rPr>
              <a:t> routes: Routes =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 path: </a:t>
            </a:r>
            <a:r>
              <a:rPr lang="en-US" sz="1400" dirty="0">
                <a:solidFill>
                  <a:srgbClr val="C41A16"/>
                </a:solidFill>
                <a:latin typeface="Courier New" pitchFamily="34" charset="0"/>
                <a:ea typeface="Courier New" pitchFamily="34" charset="-122"/>
                <a:cs typeface="Courier New" pitchFamily="34" charset="-120"/>
              </a:rPr>
              <a:t>''</a:t>
            </a:r>
            <a:r>
              <a:rPr lang="en-US" sz="1400" dirty="0">
                <a:solidFill>
                  <a:srgbClr val="383A42"/>
                </a:solidFill>
                <a:latin typeface="Courier New" pitchFamily="34" charset="0"/>
                <a:ea typeface="Courier New" pitchFamily="34" charset="-122"/>
                <a:cs typeface="Courier New" pitchFamily="34" charset="-120"/>
              </a:rPr>
              <a:t>, redirectTo: </a:t>
            </a:r>
            <a:r>
              <a:rPr lang="en-US" sz="1400" dirty="0">
                <a:solidFill>
                  <a:srgbClr val="C41A16"/>
                </a:solidFill>
                <a:latin typeface="Courier New" pitchFamily="34" charset="0"/>
                <a:ea typeface="Courier New" pitchFamily="34" charset="-122"/>
                <a:cs typeface="Courier New" pitchFamily="34" charset="-120"/>
              </a:rPr>
              <a:t>'</a:t>
            </a:r>
            <a:r>
              <a:rPr lang="en-US" sz="1400" dirty="0" err="1">
                <a:solidFill>
                  <a:srgbClr val="C41A16"/>
                </a:solidFill>
                <a:latin typeface="Courier New" pitchFamily="34" charset="0"/>
                <a:ea typeface="Courier New" pitchFamily="34" charset="-122"/>
                <a:cs typeface="Courier New" pitchFamily="34" charset="-120"/>
              </a:rPr>
              <a:t>libros</a:t>
            </a:r>
            <a:r>
              <a:rPr lang="en-US" sz="1400" dirty="0">
                <a:solidFill>
                  <a:srgbClr val="C41A16"/>
                </a:solidFill>
                <a:latin typeface="Courier New" pitchFamily="34" charset="0"/>
                <a:ea typeface="Courier New" pitchFamily="34" charset="-122"/>
                <a:cs typeface="Courier New" pitchFamily="34" charset="-120"/>
              </a:rPr>
              <a:t>'</a:t>
            </a:r>
            <a:r>
              <a:rPr lang="en-US" sz="1400" dirty="0">
                <a:solidFill>
                  <a:srgbClr val="383A42"/>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pathMatch: </a:t>
            </a:r>
            <a:r>
              <a:rPr lang="en-US" sz="1400" dirty="0">
                <a:solidFill>
                  <a:srgbClr val="C41A16"/>
                </a:solidFill>
                <a:latin typeface="Courier New" pitchFamily="34" charset="0"/>
                <a:ea typeface="Courier New" pitchFamily="34" charset="-122"/>
                <a:cs typeface="Courier New" pitchFamily="34" charset="-120"/>
              </a:rPr>
              <a:t>'full'</a:t>
            </a:r>
            <a:r>
              <a:rPr lang="en-US" sz="1400" dirty="0">
                <a:solidFill>
                  <a:srgbClr val="383A42"/>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 path: </a:t>
            </a:r>
            <a:r>
              <a:rPr lang="en-US" sz="1400" dirty="0">
                <a:solidFill>
                  <a:srgbClr val="C41A16"/>
                </a:solidFill>
                <a:latin typeface="Courier New" pitchFamily="34" charset="0"/>
                <a:ea typeface="Courier New" pitchFamily="34" charset="-122"/>
                <a:cs typeface="Courier New" pitchFamily="34" charset="-120"/>
              </a:rPr>
              <a:t>'libros'</a:t>
            </a:r>
            <a:r>
              <a:rPr lang="en-US" sz="1400" dirty="0">
                <a:solidFill>
                  <a:srgbClr val="383A42"/>
                </a:solidFill>
                <a:latin typeface="Courier New" pitchFamily="34" charset="0"/>
                <a:ea typeface="Courier New" pitchFamily="34" charset="-122"/>
                <a:cs typeface="Courier New" pitchFamily="34" charset="-120"/>
              </a:rPr>
              <a:t>, component: </a:t>
            </a:r>
            <a:r>
              <a:rPr lang="en-US" sz="1400" dirty="0" err="1">
                <a:solidFill>
                  <a:srgbClr val="383A42"/>
                </a:solidFill>
                <a:latin typeface="Courier New" pitchFamily="34" charset="0"/>
                <a:ea typeface="Courier New" pitchFamily="34" charset="-122"/>
                <a:cs typeface="Courier New" pitchFamily="34" charset="-120"/>
              </a:rPr>
              <a:t>LibroListComponent</a:t>
            </a:r>
            <a:r>
              <a:rPr lang="en-US" sz="1400" dirty="0">
                <a:solidFill>
                  <a:srgbClr val="383A42"/>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  { path: </a:t>
            </a:r>
            <a:r>
              <a:rPr lang="en-US" sz="1400" dirty="0">
                <a:solidFill>
                  <a:srgbClr val="C41A16"/>
                </a:solidFill>
                <a:latin typeface="Courier New" pitchFamily="34" charset="0"/>
                <a:ea typeface="Courier New" pitchFamily="34" charset="-122"/>
                <a:cs typeface="Courier New" pitchFamily="34" charset="-120"/>
              </a:rPr>
              <a:t>'libros/:id'</a:t>
            </a:r>
            <a:r>
              <a:rPr lang="en-US" sz="1400" dirty="0">
                <a:solidFill>
                  <a:srgbClr val="383A42"/>
                </a:solidFill>
                <a:latin typeface="Courier New" pitchFamily="34" charset="0"/>
                <a:ea typeface="Courier New" pitchFamily="34" charset="-122"/>
                <a:cs typeface="Courier New" pitchFamily="34" charset="-120"/>
              </a:rPr>
              <a:t>, component: </a:t>
            </a:r>
            <a:r>
              <a:rPr lang="en-US" sz="1400" dirty="0" err="1">
                <a:solidFill>
                  <a:srgbClr val="383A42"/>
                </a:solidFill>
                <a:latin typeface="Courier New" pitchFamily="34" charset="0"/>
                <a:ea typeface="Courier New" pitchFamily="34" charset="-122"/>
                <a:cs typeface="Courier New" pitchFamily="34" charset="-120"/>
              </a:rPr>
              <a:t>LibroDetailComponent</a:t>
            </a:r>
            <a:r>
              <a:rPr lang="en-US" sz="1400" dirty="0">
                <a:solidFill>
                  <a:srgbClr val="383A42"/>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383A42"/>
                </a:solidFill>
                <a:latin typeface="Courier New" pitchFamily="34" charset="0"/>
                <a:ea typeface="Courier New" pitchFamily="34" charset="-122"/>
                <a:cs typeface="Courier New" pitchFamily="34" charset="-120"/>
              </a:rPr>
              <a:t>];</a:t>
            </a:r>
            <a:r>
              <a:rPr lang="en-US" sz="1400" dirty="0">
                <a:solidFill>
                  <a:srgbClr val="000000"/>
                </a:solidFill>
              </a:rPr>
              <a:t>
</a:t>
            </a:r>
            <a:endParaRPr lang="en-US" sz="1400" dirty="0"/>
          </a:p>
        </p:txBody>
      </p:sp>
      <p:sp>
        <p:nvSpPr>
          <p:cNvPr id="11" name="Shape 9"/>
          <p:cNvSpPr/>
          <p:nvPr/>
        </p:nvSpPr>
        <p:spPr>
          <a:xfrm>
            <a:off x="6126480" y="2331720"/>
            <a:ext cx="5513832" cy="3931920"/>
          </a:xfrm>
          <a:prstGeom prst="roundRect">
            <a:avLst>
              <a:gd name="adj" fmla="val 1395"/>
            </a:avLst>
          </a:prstGeom>
          <a:solidFill>
            <a:srgbClr val="F5F6F5"/>
          </a:solidFill>
          <a:ln w="9525">
            <a:solidFill>
              <a:srgbClr val="006633"/>
            </a:solidFill>
            <a:prstDash val="solid"/>
          </a:ln>
        </p:spPr>
        <p:txBody>
          <a:bodyPr/>
          <a:lstStyle/>
          <a:p>
            <a:endParaRPr lang="es-US"/>
          </a:p>
        </p:txBody>
      </p:sp>
      <p:sp>
        <p:nvSpPr>
          <p:cNvPr id="12" name="Shape 10"/>
          <p:cNvSpPr/>
          <p:nvPr/>
        </p:nvSpPr>
        <p:spPr>
          <a:xfrm>
            <a:off x="6126480" y="2331720"/>
            <a:ext cx="1737360" cy="274320"/>
          </a:xfrm>
          <a:prstGeom prst="rect">
            <a:avLst/>
          </a:prstGeom>
          <a:solidFill>
            <a:srgbClr val="006633"/>
          </a:solidFill>
          <a:ln w="12700">
            <a:solidFill>
              <a:srgbClr val="006633"/>
            </a:solidFill>
            <a:prstDash val="solid"/>
          </a:ln>
        </p:spPr>
        <p:txBody>
          <a:bodyPr/>
          <a:lstStyle/>
          <a:p>
            <a:endParaRPr lang="es-US"/>
          </a:p>
        </p:txBody>
      </p:sp>
      <p:sp>
        <p:nvSpPr>
          <p:cNvPr id="13" name="Text 11"/>
          <p:cNvSpPr/>
          <p:nvPr/>
        </p:nvSpPr>
        <p:spPr>
          <a:xfrm>
            <a:off x="6172200" y="2350008"/>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app.component.html</a:t>
            </a:r>
            <a:endParaRPr lang="en-US" sz="1000" dirty="0"/>
          </a:p>
        </p:txBody>
      </p:sp>
      <p:sp>
        <p:nvSpPr>
          <p:cNvPr id="14" name="Text 12"/>
          <p:cNvSpPr txBox="1"/>
          <p:nvPr/>
        </p:nvSpPr>
        <p:spPr>
          <a:xfrm>
            <a:off x="6217920" y="2679192"/>
            <a:ext cx="5330952" cy="3493008"/>
          </a:xfrm>
          <a:prstGeom prst="rect">
            <a:avLst/>
          </a:prstGeom>
          <a:noFill/>
          <a:ln/>
        </p:spPr>
        <p:txBody>
          <a:bodyPr wrap="square" rtlCol="0" anchor="t"/>
          <a:lstStyle/>
          <a:p>
            <a:pPr marL="0" indent="0">
              <a:buNone/>
            </a:pPr>
            <a:r>
              <a:rPr lang="en-US" sz="1600" i="1" dirty="0">
                <a:solidFill>
                  <a:srgbClr val="717171"/>
                </a:solidFill>
                <a:latin typeface="Courier New" pitchFamily="34" charset="0"/>
                <a:ea typeface="Courier New" pitchFamily="34" charset="-122"/>
                <a:cs typeface="Courier New" pitchFamily="34" charset="-120"/>
              </a:rPr>
              <a:t>&lt;!-- src/app/app.component.html --&gt;
</a:t>
            </a:r>
            <a:r>
              <a:rPr lang="en-US" sz="1600" dirty="0">
                <a:solidFill>
                  <a:srgbClr val="383A42"/>
                </a:solidFill>
                <a:latin typeface="Courier New" pitchFamily="34" charset="0"/>
                <a:ea typeface="Courier New" pitchFamily="34" charset="-122"/>
                <a:cs typeface="Courier New" pitchFamily="34" charset="-120"/>
              </a:rPr>
              <a:t>&lt;header&gt;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&lt;a routerLink=</a:t>
            </a:r>
            <a:r>
              <a:rPr lang="en-US" sz="1600" dirty="0">
                <a:solidFill>
                  <a:srgbClr val="C41A16"/>
                </a:solidFill>
                <a:latin typeface="Courier New" pitchFamily="34" charset="0"/>
                <a:ea typeface="Courier New" pitchFamily="34" charset="-122"/>
                <a:cs typeface="Courier New" pitchFamily="34" charset="-120"/>
              </a:rPr>
              <a:t>"/libros"</a:t>
            </a:r>
            <a:r>
              <a:rPr lang="en-US" sz="1600" dirty="0">
                <a:solidFill>
                  <a:srgbClr val="383A42"/>
                </a:solidFill>
                <a:latin typeface="Courier New" pitchFamily="34" charset="0"/>
                <a:ea typeface="Courier New" pitchFamily="34" charset="-122"/>
                <a:cs typeface="Courier New" pitchFamily="34" charset="-120"/>
              </a:rPr>
              <a:t>&gt;Catalogo&lt;/a&gt;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&lt;a routerLink=</a:t>
            </a:r>
            <a:r>
              <a:rPr lang="en-US" sz="1600" dirty="0">
                <a:solidFill>
                  <a:srgbClr val="C41A16"/>
                </a:solidFill>
                <a:latin typeface="Courier New" pitchFamily="34" charset="0"/>
                <a:ea typeface="Courier New" pitchFamily="34" charset="-122"/>
                <a:cs typeface="Courier New" pitchFamily="34" charset="-120"/>
              </a:rPr>
              <a:t>"/prestamos"</a:t>
            </a:r>
            <a:r>
              <a:rPr lang="en-US" sz="1600" dirty="0">
                <a:solidFill>
                  <a:srgbClr val="383A42"/>
                </a:solidFill>
                <a:latin typeface="Courier New" pitchFamily="34" charset="0"/>
                <a:ea typeface="Courier New" pitchFamily="34" charset="-122"/>
                <a:cs typeface="Courier New" pitchFamily="34" charset="-120"/>
              </a:rPr>
              <a:t>&gt;Prestamos&lt;/a&gt;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&lt;/header&gt;</a:t>
            </a:r>
            <a:r>
              <a:rPr lang="en-US" sz="1600" dirty="0">
                <a:solidFill>
                  <a:srgbClr val="000000"/>
                </a:solidFill>
              </a:rPr>
              <a:t>
</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&lt;main&gt;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  &lt;router-outlet&gt;&lt;/router-outlet&gt;</a:t>
            </a:r>
            <a:endParaRPr lang="en-US" sz="1600" dirty="0"/>
          </a:p>
          <a:p>
            <a:pPr marL="0" indent="0">
              <a:buNone/>
            </a:pPr>
            <a:r>
              <a:rPr lang="en-US" sz="1600" dirty="0">
                <a:solidFill>
                  <a:srgbClr val="383A42"/>
                </a:solidFill>
                <a:latin typeface="Courier New" pitchFamily="34" charset="0"/>
                <a:ea typeface="Courier New" pitchFamily="34" charset="-122"/>
                <a:cs typeface="Courier New" pitchFamily="34" charset="-120"/>
              </a:rPr>
              <a:t>&lt;/main&gt;</a:t>
            </a:r>
            <a:r>
              <a:rPr lang="en-US" sz="1600" dirty="0">
                <a:solidFill>
                  <a:srgbClr val="000000"/>
                </a:solidFill>
              </a:rPr>
              <a:t>
</a:t>
            </a:r>
            <a:endParaRPr lang="en-US" sz="1600" dirty="0"/>
          </a:p>
        </p:txBody>
      </p:sp>
      <p:sp>
        <p:nvSpPr>
          <p:cNvPr id="15" name="Shape 13"/>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6" name="Text 14"/>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7" name="Text 15"/>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22 --- 32 / 36</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6. INTEGRACION EN BIBLIOUTEQ</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Integracion completa en BiblioUTEQ</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822960"/>
          </a:xfrm>
          <a:prstGeom prst="rect">
            <a:avLst/>
          </a:prstGeom>
          <a:noFill/>
          <a:ln/>
        </p:spPr>
        <p:txBody>
          <a:bodyPr wrap="square" rtlCol="0" anchor="t"/>
          <a:lstStyle/>
          <a:p>
            <a:pPr marL="0" indent="0">
              <a:buNone/>
            </a:pPr>
            <a:r>
              <a:rPr lang="en-US" dirty="0">
                <a:solidFill>
                  <a:srgbClr val="383A42"/>
                </a:solidFill>
                <a:latin typeface="Calibri" pitchFamily="34" charset="0"/>
                <a:ea typeface="Calibri" pitchFamily="34" charset="-122"/>
                <a:cs typeface="Calibri" pitchFamily="34" charset="-120"/>
              </a:rPr>
              <a:t>Con las piezas anteriores ya integradas, el flujo del catalogo publico de BiblioUTEQ queda funcional. El aprendiz puede navegar a /libros, ver la lista y hacer clic para ver el detalle.</a:t>
            </a:r>
            <a:endParaRPr lang="en-US" dirty="0"/>
          </a:p>
        </p:txBody>
      </p:sp>
      <p:sp>
        <p:nvSpPr>
          <p:cNvPr id="7" name="Shape 5"/>
          <p:cNvSpPr/>
          <p:nvPr/>
        </p:nvSpPr>
        <p:spPr>
          <a:xfrm>
            <a:off x="731520" y="2188028"/>
            <a:ext cx="2377440" cy="1097280"/>
          </a:xfrm>
          <a:prstGeom prst="roundRect">
            <a:avLst>
              <a:gd name="adj" fmla="val 6667"/>
            </a:avLst>
          </a:prstGeom>
          <a:solidFill>
            <a:srgbClr val="006633"/>
          </a:solidFill>
          <a:ln w="12700">
            <a:solidFill>
              <a:srgbClr val="006633"/>
            </a:solidFill>
            <a:prstDash val="solid"/>
          </a:ln>
        </p:spPr>
        <p:txBody>
          <a:bodyPr/>
          <a:lstStyle/>
          <a:p>
            <a:endParaRPr lang="es-US" sz="2400"/>
          </a:p>
        </p:txBody>
      </p:sp>
      <p:sp>
        <p:nvSpPr>
          <p:cNvPr id="8" name="Text 6"/>
          <p:cNvSpPr/>
          <p:nvPr/>
        </p:nvSpPr>
        <p:spPr>
          <a:xfrm>
            <a:off x="731520" y="2188028"/>
            <a:ext cx="2377440" cy="10972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Navegador</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(Angular 4200)</a:t>
            </a:r>
            <a:endParaRPr lang="en-US" sz="1600" dirty="0"/>
          </a:p>
        </p:txBody>
      </p:sp>
      <p:sp>
        <p:nvSpPr>
          <p:cNvPr id="9" name="Shape 7"/>
          <p:cNvSpPr/>
          <p:nvPr/>
        </p:nvSpPr>
        <p:spPr>
          <a:xfrm>
            <a:off x="3108960" y="2788919"/>
            <a:ext cx="228600" cy="0"/>
          </a:xfrm>
          <a:prstGeom prst="line">
            <a:avLst/>
          </a:prstGeom>
          <a:noFill/>
          <a:ln w="25400">
            <a:solidFill>
              <a:srgbClr val="383A42"/>
            </a:solidFill>
            <a:prstDash val="solid"/>
            <a:tailEnd type="triangle"/>
          </a:ln>
        </p:spPr>
        <p:txBody>
          <a:bodyPr/>
          <a:lstStyle/>
          <a:p>
            <a:endParaRPr lang="es-US" sz="2400"/>
          </a:p>
        </p:txBody>
      </p:sp>
      <p:sp>
        <p:nvSpPr>
          <p:cNvPr id="10" name="Shape 8"/>
          <p:cNvSpPr/>
          <p:nvPr/>
        </p:nvSpPr>
        <p:spPr>
          <a:xfrm>
            <a:off x="3337560" y="2188028"/>
            <a:ext cx="2377440" cy="1097280"/>
          </a:xfrm>
          <a:prstGeom prst="roundRect">
            <a:avLst>
              <a:gd name="adj" fmla="val 6667"/>
            </a:avLst>
          </a:prstGeom>
          <a:solidFill>
            <a:srgbClr val="006633"/>
          </a:solidFill>
          <a:ln w="12700">
            <a:solidFill>
              <a:srgbClr val="006633"/>
            </a:solidFill>
            <a:prstDash val="solid"/>
          </a:ln>
        </p:spPr>
        <p:txBody>
          <a:bodyPr/>
          <a:lstStyle/>
          <a:p>
            <a:endParaRPr lang="es-US" sz="2400"/>
          </a:p>
        </p:txBody>
      </p:sp>
      <p:sp>
        <p:nvSpPr>
          <p:cNvPr id="11" name="Text 9"/>
          <p:cNvSpPr/>
          <p:nvPr/>
        </p:nvSpPr>
        <p:spPr>
          <a:xfrm>
            <a:off x="3337560" y="2188028"/>
            <a:ext cx="2377440" cy="10972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HttpClient</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con Interceptor</a:t>
            </a:r>
            <a:endParaRPr lang="en-US" sz="1600" dirty="0"/>
          </a:p>
        </p:txBody>
      </p:sp>
      <p:sp>
        <p:nvSpPr>
          <p:cNvPr id="12" name="Shape 10"/>
          <p:cNvSpPr/>
          <p:nvPr/>
        </p:nvSpPr>
        <p:spPr>
          <a:xfrm>
            <a:off x="5715000" y="2788919"/>
            <a:ext cx="228600" cy="0"/>
          </a:xfrm>
          <a:prstGeom prst="line">
            <a:avLst/>
          </a:prstGeom>
          <a:noFill/>
          <a:ln w="25400">
            <a:solidFill>
              <a:srgbClr val="383A42"/>
            </a:solidFill>
            <a:prstDash val="solid"/>
            <a:tailEnd type="triangle"/>
          </a:ln>
        </p:spPr>
        <p:txBody>
          <a:bodyPr/>
          <a:lstStyle/>
          <a:p>
            <a:endParaRPr lang="es-US" sz="2400"/>
          </a:p>
        </p:txBody>
      </p:sp>
      <p:sp>
        <p:nvSpPr>
          <p:cNvPr id="13" name="Shape 11"/>
          <p:cNvSpPr/>
          <p:nvPr/>
        </p:nvSpPr>
        <p:spPr>
          <a:xfrm>
            <a:off x="5943600" y="2188028"/>
            <a:ext cx="2377440" cy="1097280"/>
          </a:xfrm>
          <a:prstGeom prst="roundRect">
            <a:avLst>
              <a:gd name="adj" fmla="val 6667"/>
            </a:avLst>
          </a:prstGeom>
          <a:solidFill>
            <a:srgbClr val="B8860B"/>
          </a:solidFill>
          <a:ln w="12700">
            <a:solidFill>
              <a:srgbClr val="B8860B"/>
            </a:solidFill>
            <a:prstDash val="solid"/>
          </a:ln>
        </p:spPr>
        <p:txBody>
          <a:bodyPr/>
          <a:lstStyle/>
          <a:p>
            <a:endParaRPr lang="es-US" sz="2400"/>
          </a:p>
        </p:txBody>
      </p:sp>
      <p:sp>
        <p:nvSpPr>
          <p:cNvPr id="14" name="Text 12"/>
          <p:cNvSpPr/>
          <p:nvPr/>
        </p:nvSpPr>
        <p:spPr>
          <a:xfrm>
            <a:off x="5943600" y="2188028"/>
            <a:ext cx="2377440" cy="10972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CORS</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preflight</a:t>
            </a:r>
            <a:endParaRPr lang="en-US" sz="1600" dirty="0"/>
          </a:p>
        </p:txBody>
      </p:sp>
      <p:sp>
        <p:nvSpPr>
          <p:cNvPr id="15" name="Shape 13"/>
          <p:cNvSpPr/>
          <p:nvPr/>
        </p:nvSpPr>
        <p:spPr>
          <a:xfrm>
            <a:off x="8321040" y="2788919"/>
            <a:ext cx="228600" cy="0"/>
          </a:xfrm>
          <a:prstGeom prst="line">
            <a:avLst/>
          </a:prstGeom>
          <a:noFill/>
          <a:ln w="25400">
            <a:solidFill>
              <a:srgbClr val="383A42"/>
            </a:solidFill>
            <a:prstDash val="solid"/>
            <a:tailEnd type="triangle"/>
          </a:ln>
        </p:spPr>
        <p:txBody>
          <a:bodyPr/>
          <a:lstStyle/>
          <a:p>
            <a:endParaRPr lang="es-US" sz="2400"/>
          </a:p>
        </p:txBody>
      </p:sp>
      <p:sp>
        <p:nvSpPr>
          <p:cNvPr id="16" name="Shape 14"/>
          <p:cNvSpPr/>
          <p:nvPr/>
        </p:nvSpPr>
        <p:spPr>
          <a:xfrm>
            <a:off x="8549640" y="2188028"/>
            <a:ext cx="2377440" cy="1097280"/>
          </a:xfrm>
          <a:prstGeom prst="roundRect">
            <a:avLst>
              <a:gd name="adj" fmla="val 6667"/>
            </a:avLst>
          </a:prstGeom>
          <a:solidFill>
            <a:srgbClr val="006633"/>
          </a:solidFill>
          <a:ln w="12700">
            <a:solidFill>
              <a:srgbClr val="006633"/>
            </a:solidFill>
            <a:prstDash val="solid"/>
          </a:ln>
        </p:spPr>
        <p:txBody>
          <a:bodyPr/>
          <a:lstStyle/>
          <a:p>
            <a:endParaRPr lang="es-US" sz="2400"/>
          </a:p>
        </p:txBody>
      </p:sp>
      <p:sp>
        <p:nvSpPr>
          <p:cNvPr id="17" name="Text 15"/>
          <p:cNvSpPr/>
          <p:nvPr/>
        </p:nvSpPr>
        <p:spPr>
          <a:xfrm>
            <a:off x="8549640" y="2188028"/>
            <a:ext cx="2377440" cy="10972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Spring Boot</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(8080 /api)</a:t>
            </a:r>
            <a:endParaRPr lang="en-US" sz="1600" dirty="0"/>
          </a:p>
        </p:txBody>
      </p:sp>
      <p:sp>
        <p:nvSpPr>
          <p:cNvPr id="18" name="Shape 16"/>
          <p:cNvSpPr/>
          <p:nvPr/>
        </p:nvSpPr>
        <p:spPr>
          <a:xfrm>
            <a:off x="548640" y="3572693"/>
            <a:ext cx="11091672" cy="2736667"/>
          </a:xfrm>
          <a:prstGeom prst="roundRect">
            <a:avLst>
              <a:gd name="adj" fmla="val 2927"/>
            </a:avLst>
          </a:prstGeom>
          <a:solidFill>
            <a:srgbClr val="F5F6F5"/>
          </a:solidFill>
          <a:ln w="9525">
            <a:solidFill>
              <a:srgbClr val="006633"/>
            </a:solidFill>
            <a:prstDash val="solid"/>
          </a:ln>
        </p:spPr>
        <p:txBody>
          <a:bodyPr/>
          <a:lstStyle/>
          <a:p>
            <a:endParaRPr lang="es-US"/>
          </a:p>
        </p:txBody>
      </p:sp>
      <p:sp>
        <p:nvSpPr>
          <p:cNvPr id="19" name="Shape 17"/>
          <p:cNvSpPr/>
          <p:nvPr/>
        </p:nvSpPr>
        <p:spPr>
          <a:xfrm>
            <a:off x="571500" y="3572693"/>
            <a:ext cx="1737360" cy="274320"/>
          </a:xfrm>
          <a:prstGeom prst="rect">
            <a:avLst/>
          </a:prstGeom>
          <a:solidFill>
            <a:srgbClr val="006633"/>
          </a:solidFill>
          <a:ln w="12700">
            <a:solidFill>
              <a:srgbClr val="006633"/>
            </a:solidFill>
            <a:prstDash val="solid"/>
          </a:ln>
        </p:spPr>
        <p:txBody>
          <a:bodyPr/>
          <a:lstStyle/>
          <a:p>
            <a:endParaRPr lang="es-US"/>
          </a:p>
        </p:txBody>
      </p:sp>
      <p:sp>
        <p:nvSpPr>
          <p:cNvPr id="20" name="Text 18"/>
          <p:cNvSpPr/>
          <p:nvPr/>
        </p:nvSpPr>
        <p:spPr>
          <a:xfrm>
            <a:off x="571500" y="3607963"/>
            <a:ext cx="1691640" cy="23774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arranque completo</a:t>
            </a:r>
            <a:endParaRPr lang="en-US" sz="1100" dirty="0"/>
          </a:p>
        </p:txBody>
      </p:sp>
      <p:sp>
        <p:nvSpPr>
          <p:cNvPr id="21" name="Text 19"/>
          <p:cNvSpPr txBox="1"/>
          <p:nvPr/>
        </p:nvSpPr>
        <p:spPr>
          <a:xfrm>
            <a:off x="640080" y="4028587"/>
            <a:ext cx="10908792" cy="2189333"/>
          </a:xfrm>
          <a:prstGeom prst="rect">
            <a:avLst/>
          </a:prstGeom>
          <a:noFill/>
          <a:ln/>
        </p:spPr>
        <p:txBody>
          <a:bodyPr wrap="square" rtlCol="0" anchor="t"/>
          <a:lstStyle/>
          <a:p>
            <a:pPr marL="0" indent="0">
              <a:buNone/>
            </a:pPr>
            <a:r>
              <a:rPr lang="en-US" i="1" dirty="0">
                <a:solidFill>
                  <a:srgbClr val="717171"/>
                </a:solidFill>
                <a:latin typeface="Courier New" pitchFamily="34" charset="0"/>
                <a:ea typeface="Courier New" pitchFamily="34" charset="-122"/>
                <a:cs typeface="Courier New" pitchFamily="34" charset="-120"/>
              </a:rPr>
              <a:t># 1) Levantar el backend (otra terminal, otra carpeta)
</a:t>
            </a:r>
            <a:r>
              <a:rPr lang="en-US" b="1" dirty="0">
                <a:solidFill>
                  <a:srgbClr val="0057AE"/>
                </a:solidFill>
                <a:latin typeface="Courier New" pitchFamily="34" charset="0"/>
                <a:ea typeface="Courier New" pitchFamily="34" charset="-122"/>
                <a:cs typeface="Courier New" pitchFamily="34" charset="-120"/>
              </a:rPr>
              <a:t>cd</a:t>
            </a:r>
            <a:r>
              <a:rPr lang="en-US" dirty="0">
                <a:solidFill>
                  <a:srgbClr val="383A42"/>
                </a:solidFill>
                <a:latin typeface="Courier New" pitchFamily="34" charset="0"/>
                <a:ea typeface="Courier New" pitchFamily="34" charset="-122"/>
                <a:cs typeface="Courier New" pitchFamily="34" charset="-120"/>
              </a:rPr>
              <a:t> biblioteq/backend-</a:t>
            </a:r>
            <a:r>
              <a:rPr lang="en-US" b="1" dirty="0">
                <a:solidFill>
                  <a:srgbClr val="0057AE"/>
                </a:solidFill>
                <a:latin typeface="Courier New" pitchFamily="34" charset="0"/>
                <a:ea typeface="Courier New" pitchFamily="34" charset="-122"/>
                <a:cs typeface="Courier New" pitchFamily="34" charset="-120"/>
              </a:rPr>
              <a:t>java</a:t>
            </a:r>
            <a:r>
              <a:rPr lang="en-US" dirty="0">
                <a:solidFill>
                  <a:srgbClr val="383A42"/>
                </a:solidFill>
                <a:latin typeface="Courier New" pitchFamily="34" charset="0"/>
                <a:ea typeface="Courier New" pitchFamily="34" charset="-122"/>
                <a:cs typeface="Courier New" pitchFamily="34" charset="-120"/>
              </a:rPr>
              <a:t> &amp;&amp; mvn </a:t>
            </a:r>
            <a:r>
              <a:rPr lang="en-US" dirty="0" err="1">
                <a:solidFill>
                  <a:srgbClr val="383A42"/>
                </a:solidFill>
                <a:latin typeface="Courier New" pitchFamily="34" charset="0"/>
                <a:ea typeface="Courier New" pitchFamily="34" charset="-122"/>
                <a:cs typeface="Courier New" pitchFamily="34" charset="-120"/>
              </a:rPr>
              <a:t>spring-boot:run</a:t>
            </a:r>
            <a:r>
              <a:rPr lang="en-US" dirty="0">
                <a:solidFill>
                  <a:srgbClr val="000000"/>
                </a:solidFill>
              </a:rPr>
              <a:t>
</a:t>
            </a:r>
          </a:p>
          <a:p>
            <a:pPr marL="0" indent="0">
              <a:buNone/>
            </a:pPr>
            <a:endParaRPr lang="en-US" dirty="0"/>
          </a:p>
          <a:p>
            <a:pPr marL="0" indent="0">
              <a:buNone/>
            </a:pPr>
            <a:r>
              <a:rPr lang="en-US" i="1" dirty="0">
                <a:solidFill>
                  <a:srgbClr val="717171"/>
                </a:solidFill>
                <a:latin typeface="Courier New" pitchFamily="34" charset="0"/>
                <a:ea typeface="Courier New" pitchFamily="34" charset="-122"/>
                <a:cs typeface="Courier New" pitchFamily="34" charset="-120"/>
              </a:rPr>
              <a:t># 2) Levantar el frontend
</a:t>
            </a:r>
            <a:r>
              <a:rPr lang="en-US" b="1" dirty="0">
                <a:solidFill>
                  <a:srgbClr val="0057AE"/>
                </a:solidFill>
                <a:latin typeface="Courier New" pitchFamily="34" charset="0"/>
                <a:ea typeface="Courier New" pitchFamily="34" charset="-122"/>
                <a:cs typeface="Courier New" pitchFamily="34" charset="-120"/>
              </a:rPr>
              <a:t>cd</a:t>
            </a:r>
            <a:r>
              <a:rPr lang="en-US" dirty="0">
                <a:solidFill>
                  <a:srgbClr val="383A42"/>
                </a:solidFill>
                <a:latin typeface="Courier New" pitchFamily="34" charset="0"/>
                <a:ea typeface="Courier New" pitchFamily="34" charset="-122"/>
                <a:cs typeface="Courier New" pitchFamily="34" charset="-120"/>
              </a:rPr>
              <a:t> biblioteq/frontend &amp;&amp; </a:t>
            </a:r>
            <a:r>
              <a:rPr lang="en-US" b="1" dirty="0">
                <a:solidFill>
                  <a:srgbClr val="0057AE"/>
                </a:solidFill>
                <a:latin typeface="Courier New" pitchFamily="34" charset="0"/>
                <a:ea typeface="Courier New" pitchFamily="34" charset="-122"/>
                <a:cs typeface="Courier New" pitchFamily="34" charset="-120"/>
              </a:rPr>
              <a:t>ng</a:t>
            </a:r>
            <a:r>
              <a:rPr lang="en-US" dirty="0">
                <a:solidFill>
                  <a:srgbClr val="383A42"/>
                </a:solidFill>
                <a:latin typeface="Courier New" pitchFamily="34" charset="0"/>
                <a:ea typeface="Courier New" pitchFamily="34" charset="-122"/>
                <a:cs typeface="Courier New" pitchFamily="34" charset="-120"/>
              </a:rPr>
              <a:t> </a:t>
            </a:r>
            <a:r>
              <a:rPr lang="en-US" b="1" dirty="0">
                <a:solidFill>
                  <a:srgbClr val="0057AE"/>
                </a:solidFill>
                <a:latin typeface="Courier New" pitchFamily="34" charset="0"/>
                <a:ea typeface="Courier New" pitchFamily="34" charset="-122"/>
                <a:cs typeface="Courier New" pitchFamily="34" charset="-120"/>
              </a:rPr>
              <a:t>serve</a:t>
            </a:r>
            <a:r>
              <a:rPr lang="en-US" dirty="0">
                <a:solidFill>
                  <a:srgbClr val="383A42"/>
                </a:solidFill>
                <a:latin typeface="Courier New" pitchFamily="34" charset="0"/>
                <a:ea typeface="Courier New" pitchFamily="34" charset="-122"/>
                <a:cs typeface="Courier New" pitchFamily="34" charset="-120"/>
              </a:rPr>
              <a:t> --open</a:t>
            </a:r>
            <a:r>
              <a:rPr lang="en-US" dirty="0">
                <a:solidFill>
                  <a:srgbClr val="000000"/>
                </a:solidFill>
              </a:rPr>
              <a:t>
</a:t>
            </a:r>
            <a:endParaRPr lang="en-US" dirty="0"/>
          </a:p>
        </p:txBody>
      </p:sp>
      <p:sp>
        <p:nvSpPr>
          <p:cNvPr id="22" name="Shape 20"/>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23" name="Text 21"/>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4" name="Text 22"/>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22 --- 33 / 36</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6. INTEGRACION EN BIBLIOUTEQ</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Build para produccion</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914400"/>
          </a:xfrm>
          <a:prstGeom prst="rect">
            <a:avLst/>
          </a:prstGeom>
          <a:noFill/>
          <a:ln/>
        </p:spPr>
        <p:txBody>
          <a:bodyPr wrap="square" rtlCol="0" anchor="t"/>
          <a:lstStyle/>
          <a:p>
            <a:pPr marL="0" indent="0">
              <a:buNone/>
            </a:pPr>
            <a:r>
              <a:rPr lang="en-US" sz="1500" dirty="0">
                <a:solidFill>
                  <a:srgbClr val="383A42"/>
                </a:solidFill>
                <a:latin typeface="Calibri" pitchFamily="34" charset="0"/>
                <a:ea typeface="Calibri" pitchFamily="34" charset="-122"/>
                <a:cs typeface="Calibri" pitchFamily="34" charset="-120"/>
              </a:rPr>
              <a:t>Cuando la aplicacion esta lista para desplegarse, ng build produce un paquete optimizado (minificado, con tree-shaking y AOT) que se sirve como archivos estaticos desde nginx, Apache o un CDN.</a:t>
            </a:r>
            <a:endParaRPr lang="en-US" sz="1500" dirty="0"/>
          </a:p>
        </p:txBody>
      </p:sp>
      <p:sp>
        <p:nvSpPr>
          <p:cNvPr id="7" name="Shape 5"/>
          <p:cNvSpPr/>
          <p:nvPr/>
        </p:nvSpPr>
        <p:spPr>
          <a:xfrm>
            <a:off x="548640" y="2227214"/>
            <a:ext cx="11091672" cy="1874520"/>
          </a:xfrm>
          <a:prstGeom prst="roundRect">
            <a:avLst>
              <a:gd name="adj" fmla="val 2927"/>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48640" y="2227214"/>
            <a:ext cx="173736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594360" y="2245502"/>
            <a:ext cx="169164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10" name="Text 8"/>
          <p:cNvSpPr txBox="1"/>
          <p:nvPr/>
        </p:nvSpPr>
        <p:spPr>
          <a:xfrm>
            <a:off x="640080" y="2574686"/>
            <a:ext cx="10908792" cy="1435608"/>
          </a:xfrm>
          <a:prstGeom prst="rect">
            <a:avLst/>
          </a:prstGeom>
          <a:noFill/>
          <a:ln/>
        </p:spPr>
        <p:txBody>
          <a:bodyPr wrap="square" rtlCol="0" anchor="t"/>
          <a:lstStyle/>
          <a:p>
            <a:pPr marL="0" indent="0">
              <a:buNone/>
            </a:pPr>
            <a:r>
              <a:rPr lang="en-US" i="1" dirty="0">
                <a:solidFill>
                  <a:srgbClr val="717171"/>
                </a:solidFill>
                <a:latin typeface="Courier New" pitchFamily="34" charset="0"/>
                <a:ea typeface="Courier New" pitchFamily="34" charset="-122"/>
                <a:cs typeface="Courier New" pitchFamily="34" charset="-120"/>
              </a:rPr>
              <a:t># Build de produccion (usa environment.prod.ts)
</a:t>
            </a:r>
            <a:r>
              <a:rPr lang="en-US" b="1" dirty="0">
                <a:solidFill>
                  <a:srgbClr val="0057AE"/>
                </a:solidFill>
                <a:latin typeface="Courier New" pitchFamily="34" charset="0"/>
                <a:ea typeface="Courier New" pitchFamily="34" charset="-122"/>
                <a:cs typeface="Courier New" pitchFamily="34" charset="-120"/>
              </a:rPr>
              <a:t>ng</a:t>
            </a:r>
            <a:r>
              <a:rPr lang="en-US" dirty="0">
                <a:solidFill>
                  <a:srgbClr val="383A42"/>
                </a:solidFill>
                <a:latin typeface="Courier New" pitchFamily="34" charset="0"/>
                <a:ea typeface="Courier New" pitchFamily="34" charset="-122"/>
                <a:cs typeface="Courier New" pitchFamily="34" charset="-120"/>
              </a:rPr>
              <a:t> </a:t>
            </a:r>
            <a:r>
              <a:rPr lang="en-US" b="1" dirty="0">
                <a:solidFill>
                  <a:srgbClr val="0057AE"/>
                </a:solidFill>
                <a:latin typeface="Courier New" pitchFamily="34" charset="0"/>
                <a:ea typeface="Courier New" pitchFamily="34" charset="-122"/>
                <a:cs typeface="Courier New" pitchFamily="34" charset="-120"/>
              </a:rPr>
              <a:t>build</a:t>
            </a:r>
            <a:r>
              <a:rPr lang="en-US" dirty="0">
                <a:solidFill>
                  <a:srgbClr val="383A42"/>
                </a:solidFill>
                <a:latin typeface="Courier New" pitchFamily="34" charset="0"/>
                <a:ea typeface="Courier New" pitchFamily="34" charset="-122"/>
                <a:cs typeface="Courier New" pitchFamily="34" charset="-120"/>
              </a:rPr>
              <a:t> --configuration=production</a:t>
            </a:r>
            <a:r>
              <a:rPr lang="en-US" dirty="0">
                <a:solidFill>
                  <a:srgbClr val="000000"/>
                </a:solidFill>
              </a:rPr>
              <a:t>
</a:t>
            </a:r>
            <a:endParaRPr lang="en-US" dirty="0"/>
          </a:p>
          <a:p>
            <a:pPr marL="0" indent="0">
              <a:buNone/>
            </a:pPr>
            <a:r>
              <a:rPr lang="en-US" i="1" dirty="0">
                <a:solidFill>
                  <a:srgbClr val="717171"/>
                </a:solidFill>
                <a:latin typeface="Courier New" pitchFamily="34" charset="0"/>
                <a:ea typeface="Courier New" pitchFamily="34" charset="-122"/>
                <a:cs typeface="Courier New" pitchFamily="34" charset="-120"/>
              </a:rPr>
              <a:t># Salida en dist/frontend/browser/
# Subir el contenido de dist/frontend/browser al servidor estatico
</a:t>
            </a:r>
            <a:endParaRPr lang="en-US" dirty="0"/>
          </a:p>
        </p:txBody>
      </p:sp>
      <p:sp>
        <p:nvSpPr>
          <p:cNvPr id="11" name="Shape 9"/>
          <p:cNvSpPr/>
          <p:nvPr/>
        </p:nvSpPr>
        <p:spPr>
          <a:xfrm>
            <a:off x="548640" y="4572000"/>
            <a:ext cx="5468112" cy="1737360"/>
          </a:xfrm>
          <a:prstGeom prst="roundRect">
            <a:avLst>
              <a:gd name="adj" fmla="val 5263"/>
            </a:avLst>
          </a:prstGeom>
          <a:solidFill>
            <a:srgbClr val="FFFFFF"/>
          </a:solidFill>
          <a:ln w="19050">
            <a:solidFill>
              <a:srgbClr val="006633"/>
            </a:solidFill>
            <a:prstDash val="solid"/>
          </a:ln>
        </p:spPr>
        <p:txBody>
          <a:bodyPr/>
          <a:lstStyle/>
          <a:p>
            <a:endParaRPr lang="es-US"/>
          </a:p>
        </p:txBody>
      </p:sp>
      <p:sp>
        <p:nvSpPr>
          <p:cNvPr id="12" name="Shape 10"/>
          <p:cNvSpPr/>
          <p:nvPr/>
        </p:nvSpPr>
        <p:spPr>
          <a:xfrm>
            <a:off x="548640" y="4572000"/>
            <a:ext cx="5468112" cy="411480"/>
          </a:xfrm>
          <a:prstGeom prst="rect">
            <a:avLst/>
          </a:prstGeom>
          <a:solidFill>
            <a:srgbClr val="006633"/>
          </a:solidFill>
          <a:ln w="12700">
            <a:solidFill>
              <a:srgbClr val="006633"/>
            </a:solidFill>
            <a:prstDash val="solid"/>
          </a:ln>
        </p:spPr>
        <p:txBody>
          <a:bodyPr/>
          <a:lstStyle/>
          <a:p>
            <a:endParaRPr lang="es-US"/>
          </a:p>
        </p:txBody>
      </p:sp>
      <p:sp>
        <p:nvSpPr>
          <p:cNvPr id="13" name="Text 11"/>
          <p:cNvSpPr/>
          <p:nvPr/>
        </p:nvSpPr>
        <p:spPr>
          <a:xfrm>
            <a:off x="640080" y="4590288"/>
            <a:ext cx="528523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Optimizaciones aplicadas</a:t>
            </a:r>
            <a:endParaRPr lang="en-US" sz="1300" dirty="0"/>
          </a:p>
        </p:txBody>
      </p:sp>
      <p:sp>
        <p:nvSpPr>
          <p:cNvPr id="14" name="Text 12"/>
          <p:cNvSpPr/>
          <p:nvPr/>
        </p:nvSpPr>
        <p:spPr>
          <a:xfrm>
            <a:off x="685800" y="5074920"/>
            <a:ext cx="5193792" cy="1143000"/>
          </a:xfrm>
          <a:prstGeom prst="rect">
            <a:avLst/>
          </a:prstGeom>
          <a:noFill/>
          <a:ln/>
        </p:spPr>
        <p:txBody>
          <a:bodyPr wrap="square" rtlCol="0" anchor="t"/>
          <a:lstStyle/>
          <a:p>
            <a:pPr marL="0" indent="0">
              <a:spcAft>
                <a:spcPts val="400"/>
              </a:spcAft>
              <a:buNone/>
            </a:pPr>
            <a:r>
              <a:rPr lang="en-US" dirty="0">
                <a:solidFill>
                  <a:srgbClr val="383A42"/>
                </a:solidFill>
                <a:latin typeface="Calibri" pitchFamily="34" charset="0"/>
                <a:ea typeface="Calibri" pitchFamily="34" charset="-122"/>
                <a:cs typeface="Calibri" pitchFamily="34" charset="-120"/>
              </a:rPr>
              <a:t>Compilacion AOT (ahead-of-time), tree-shaking para eliminar codigo no usado, minificacion y compresion de assets, hashing de nombres para invalidacion de cache.</a:t>
            </a:r>
            <a:endParaRPr lang="en-US" dirty="0"/>
          </a:p>
        </p:txBody>
      </p:sp>
      <p:sp>
        <p:nvSpPr>
          <p:cNvPr id="15" name="Shape 13"/>
          <p:cNvSpPr/>
          <p:nvPr/>
        </p:nvSpPr>
        <p:spPr>
          <a:xfrm>
            <a:off x="6172200" y="4572000"/>
            <a:ext cx="5468112" cy="1737360"/>
          </a:xfrm>
          <a:prstGeom prst="roundRect">
            <a:avLst>
              <a:gd name="adj" fmla="val 5263"/>
            </a:avLst>
          </a:prstGeom>
          <a:solidFill>
            <a:srgbClr val="FFFFFF"/>
          </a:solidFill>
          <a:ln w="19050">
            <a:solidFill>
              <a:srgbClr val="B8860B"/>
            </a:solidFill>
            <a:prstDash val="solid"/>
          </a:ln>
        </p:spPr>
        <p:txBody>
          <a:bodyPr/>
          <a:lstStyle/>
          <a:p>
            <a:endParaRPr lang="es-US"/>
          </a:p>
        </p:txBody>
      </p:sp>
      <p:sp>
        <p:nvSpPr>
          <p:cNvPr id="16" name="Shape 14"/>
          <p:cNvSpPr/>
          <p:nvPr/>
        </p:nvSpPr>
        <p:spPr>
          <a:xfrm>
            <a:off x="6172200" y="4572000"/>
            <a:ext cx="5468112" cy="411480"/>
          </a:xfrm>
          <a:prstGeom prst="rect">
            <a:avLst/>
          </a:prstGeom>
          <a:solidFill>
            <a:srgbClr val="B8860B"/>
          </a:solidFill>
          <a:ln w="12700">
            <a:solidFill>
              <a:srgbClr val="B8860B"/>
            </a:solidFill>
            <a:prstDash val="solid"/>
          </a:ln>
        </p:spPr>
        <p:txBody>
          <a:bodyPr/>
          <a:lstStyle/>
          <a:p>
            <a:endParaRPr lang="es-US"/>
          </a:p>
        </p:txBody>
      </p:sp>
      <p:sp>
        <p:nvSpPr>
          <p:cNvPr id="17" name="Text 15"/>
          <p:cNvSpPr/>
          <p:nvPr/>
        </p:nvSpPr>
        <p:spPr>
          <a:xfrm>
            <a:off x="6263640" y="4590288"/>
            <a:ext cx="528523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Budgets del build</a:t>
            </a:r>
            <a:endParaRPr lang="en-US" sz="1300" dirty="0"/>
          </a:p>
        </p:txBody>
      </p:sp>
      <p:sp>
        <p:nvSpPr>
          <p:cNvPr id="18" name="Text 16"/>
          <p:cNvSpPr/>
          <p:nvPr/>
        </p:nvSpPr>
        <p:spPr>
          <a:xfrm>
            <a:off x="6309360" y="5074920"/>
            <a:ext cx="5193792" cy="1143000"/>
          </a:xfrm>
          <a:prstGeom prst="rect">
            <a:avLst/>
          </a:prstGeom>
          <a:noFill/>
          <a:ln/>
        </p:spPr>
        <p:txBody>
          <a:bodyPr wrap="square" rtlCol="0" anchor="t"/>
          <a:lstStyle/>
          <a:p>
            <a:pPr marL="0" indent="0">
              <a:spcAft>
                <a:spcPts val="400"/>
              </a:spcAft>
              <a:buNone/>
            </a:pPr>
            <a:r>
              <a:rPr lang="en-US" dirty="0">
                <a:solidFill>
                  <a:srgbClr val="383A42"/>
                </a:solidFill>
                <a:latin typeface="Calibri" pitchFamily="34" charset="0"/>
                <a:ea typeface="Calibri" pitchFamily="34" charset="-122"/>
                <a:cs typeface="Calibri" pitchFamily="34" charset="-120"/>
              </a:rPr>
              <a:t>Angular.json define limites de tamano (bundle inicial 500 kB, componente 4 kB). El build falla si se superan; obliga a mantener la aplicacion ligera.</a:t>
            </a:r>
            <a:endParaRPr lang="en-US" dirty="0"/>
          </a:p>
        </p:txBody>
      </p:sp>
      <p:sp>
        <p:nvSpPr>
          <p:cNvPr id="19" name="Shape 17"/>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20" name="Text 18"/>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1" name="Text 19"/>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22 --- 34 / 36</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CIERRE</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Referencias</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484632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[1]  Google LLC. Angular Documentation, v22.0.5. https://angular.dev  (jul. 2026).</a:t>
            </a:r>
            <a:endParaRPr lang="en-US" sz="1200" dirty="0"/>
          </a:p>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[2]  OpenJS Foundation. Node.js Documentation, v24 LTS. https://nodejs.org/docs/latest-v24.x  (jul. 2026).</a:t>
            </a:r>
            <a:endParaRPr lang="en-US" sz="1200" dirty="0"/>
          </a:p>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[3]  Microsoft. TypeScript Handbook 5.9. https://www.typescriptlang.org/docs/  (2026).</a:t>
            </a:r>
            <a:endParaRPr lang="en-US" sz="1200" dirty="0"/>
          </a:p>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[4]  ReactiveX. RxJS 7.8 Documentation. https://rxjs.dev  (2024).</a:t>
            </a:r>
            <a:endParaRPr lang="en-US" sz="1200" dirty="0"/>
          </a:p>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[5]  Fielding, R. T. Architectural Styles and the Design of Network-based Software Architectures. Tesis, UC Irvine, 2000.</a:t>
            </a:r>
            <a:endParaRPr lang="en-US" sz="1200" dirty="0"/>
          </a:p>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[6]  Fielding, R.; Nottingham, M.; Reschke, J. HTTP Semantics. IETF RFC 9110. Jun. 2022. doi:10.17487/RFC9110.</a:t>
            </a:r>
            <a:endParaRPr lang="en-US" sz="1200" dirty="0"/>
          </a:p>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[7]  Nottingham, M.; Wilde, E. Problem Details for HTTP APIs. IETF RFC 7807. Mar. 2016. doi:10.17487/RFC7807.</a:t>
            </a:r>
            <a:endParaRPr lang="en-US" sz="1200" dirty="0"/>
          </a:p>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[8]  Jones, M.; Bradley, J.; Sakimura, N. JSON Web Token (JWT). IETF RFC 7519. May 2015. doi:10.17487/RFC7519.</a:t>
            </a:r>
            <a:endParaRPr lang="en-US" sz="1200" dirty="0"/>
          </a:p>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[9]  OWASP Foundation. OWASP Top 10:2021. https://owasp.org/Top10/</a:t>
            </a:r>
            <a:endParaRPr lang="en-US" sz="1200" dirty="0"/>
          </a:p>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[10] JetBrains. IntelliJ IDEA Ultimate --- WebStorm Documentation for Angular. https://www.jetbrains.com/help/idea/angular.html  (2026).</a:t>
            </a:r>
            <a:endParaRPr lang="en-US" sz="1200" dirty="0"/>
          </a:p>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[11] W3C. Cross-Origin Resource Sharing (CORS). Living standard, WHATWG Fetch. https://fetch.spec.whatwg.org/</a:t>
            </a:r>
            <a:endParaRPr lang="en-US" sz="1200" dirty="0"/>
          </a:p>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[12] Freeman, A. Pro Angular: Build Powerful and Dynamic Web Apps. 5.a ed. Apress, 2023. isbn 978-1-4842-9426-1.</a:t>
            </a:r>
            <a:endParaRPr lang="en-US" sz="1200" dirty="0"/>
          </a:p>
        </p:txBody>
      </p:sp>
      <p:sp>
        <p:nvSpPr>
          <p:cNvPr id="7" name="Shape 5"/>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9" name="Text 7"/>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22 --- 35 / 36</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88952" cy="2011680"/>
          </a:xfrm>
          <a:prstGeom prst="rect">
            <a:avLst/>
          </a:prstGeom>
          <a:solidFill>
            <a:srgbClr val="006633"/>
          </a:solidFill>
          <a:ln w="12700">
            <a:solidFill>
              <a:srgbClr val="006633"/>
            </a:solidFill>
            <a:prstDash val="solid"/>
          </a:ln>
        </p:spPr>
        <p:txBody>
          <a:bodyPr/>
          <a:lstStyle/>
          <a:p>
            <a:endParaRPr lang="es-US"/>
          </a:p>
        </p:txBody>
      </p:sp>
      <p:sp>
        <p:nvSpPr>
          <p:cNvPr id="3" name="Shape 1"/>
          <p:cNvSpPr/>
          <p:nvPr/>
        </p:nvSpPr>
        <p:spPr>
          <a:xfrm>
            <a:off x="0" y="2011680"/>
            <a:ext cx="12188952" cy="73152"/>
          </a:xfrm>
          <a:prstGeom prst="rect">
            <a:avLst/>
          </a:prstGeom>
          <a:solidFill>
            <a:srgbClr val="B8860B"/>
          </a:solidFill>
          <a:ln w="12700">
            <a:solidFill>
              <a:srgbClr val="B8860B"/>
            </a:solidFill>
            <a:prstDash val="solid"/>
          </a:ln>
        </p:spPr>
        <p:txBody>
          <a:bodyPr/>
          <a:lstStyle/>
          <a:p>
            <a:endParaRPr lang="es-US"/>
          </a:p>
        </p:txBody>
      </p:sp>
      <p:sp>
        <p:nvSpPr>
          <p:cNvPr id="4" name="Text 2"/>
          <p:cNvSpPr/>
          <p:nvPr/>
        </p:nvSpPr>
        <p:spPr>
          <a:xfrm>
            <a:off x="457200" y="274320"/>
            <a:ext cx="11338560" cy="457200"/>
          </a:xfrm>
          <a:prstGeom prst="rect">
            <a:avLst/>
          </a:prstGeom>
          <a:noFill/>
          <a:ln/>
        </p:spPr>
        <p:txBody>
          <a:bodyPr wrap="square" rtlCol="0" anchor="ctr"/>
          <a:lstStyle/>
          <a:p>
            <a:pPr marL="0" indent="0" algn="ctr">
              <a:buNone/>
            </a:pPr>
            <a:r>
              <a:rPr lang="en-US" sz="1600" dirty="0">
                <a:solidFill>
                  <a:srgbClr val="FBF2D9"/>
                </a:solidFill>
                <a:latin typeface="Calibri" pitchFamily="34" charset="0"/>
                <a:ea typeface="Calibri" pitchFamily="34" charset="-122"/>
                <a:cs typeface="Calibri" pitchFamily="34" charset="-120"/>
              </a:rPr>
              <a:t>Fin del bloque</a:t>
            </a:r>
            <a:endParaRPr lang="en-US" sz="1600" dirty="0"/>
          </a:p>
        </p:txBody>
      </p:sp>
      <p:sp>
        <p:nvSpPr>
          <p:cNvPr id="5" name="Text 3"/>
          <p:cNvSpPr/>
          <p:nvPr/>
        </p:nvSpPr>
        <p:spPr>
          <a:xfrm>
            <a:off x="457200" y="777240"/>
            <a:ext cx="11338560" cy="77724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Angular 22 --- del setup al consumo REST</a:t>
            </a:r>
            <a:endParaRPr lang="en-US" sz="3200" dirty="0"/>
          </a:p>
        </p:txBody>
      </p:sp>
      <p:sp>
        <p:nvSpPr>
          <p:cNvPr id="6" name="Shape 4"/>
          <p:cNvSpPr/>
          <p:nvPr/>
        </p:nvSpPr>
        <p:spPr>
          <a:xfrm>
            <a:off x="731520" y="2560320"/>
            <a:ext cx="10725912" cy="2377440"/>
          </a:xfrm>
          <a:prstGeom prst="roundRect">
            <a:avLst>
              <a:gd name="adj" fmla="val 3846"/>
            </a:avLst>
          </a:prstGeom>
          <a:solidFill>
            <a:srgbClr val="F4F6F5"/>
          </a:solidFill>
          <a:ln w="15240">
            <a:solidFill>
              <a:srgbClr val="006633"/>
            </a:solidFill>
            <a:prstDash val="solid"/>
          </a:ln>
        </p:spPr>
        <p:txBody>
          <a:bodyPr/>
          <a:lstStyle/>
          <a:p>
            <a:endParaRPr lang="es-US"/>
          </a:p>
        </p:txBody>
      </p:sp>
      <p:sp>
        <p:nvSpPr>
          <p:cNvPr id="7" name="Text 5"/>
          <p:cNvSpPr/>
          <p:nvPr/>
        </p:nvSpPr>
        <p:spPr>
          <a:xfrm>
            <a:off x="914400" y="2651760"/>
            <a:ext cx="10332720" cy="365760"/>
          </a:xfrm>
          <a:prstGeom prst="rect">
            <a:avLst/>
          </a:prstGeom>
          <a:noFill/>
          <a:ln/>
        </p:spPr>
        <p:txBody>
          <a:bodyPr wrap="square" rtlCol="0" anchor="ctr"/>
          <a:lstStyle/>
          <a:p>
            <a:pPr marL="0" indent="0">
              <a:buNone/>
            </a:pPr>
            <a:r>
              <a:rPr lang="en-US" sz="2800" b="1" dirty="0">
                <a:solidFill>
                  <a:srgbClr val="0B3D24"/>
                </a:solidFill>
                <a:latin typeface="Calibri" pitchFamily="34" charset="0"/>
                <a:ea typeface="Calibri" pitchFamily="34" charset="-122"/>
                <a:cs typeface="Calibri" pitchFamily="34" charset="-120"/>
              </a:rPr>
              <a:t>Que se logro</a:t>
            </a:r>
            <a:endParaRPr lang="en-US" sz="2800" dirty="0"/>
          </a:p>
        </p:txBody>
      </p:sp>
      <p:sp>
        <p:nvSpPr>
          <p:cNvPr id="8" name="Text 6"/>
          <p:cNvSpPr/>
          <p:nvPr/>
        </p:nvSpPr>
        <p:spPr>
          <a:xfrm>
            <a:off x="914400" y="3063240"/>
            <a:ext cx="10332720" cy="1828800"/>
          </a:xfrm>
          <a:prstGeom prst="rect">
            <a:avLst/>
          </a:prstGeom>
          <a:noFill/>
          <a:ln/>
        </p:spPr>
        <p:txBody>
          <a:bodyPr wrap="square" rtlCol="0" anchor="t"/>
          <a:lstStyle/>
          <a:p>
            <a:pPr marL="0" indent="0">
              <a:buNone/>
            </a:pPr>
            <a:r>
              <a:rPr lang="en-US" sz="2200" b="1" dirty="0">
                <a:solidFill>
                  <a:srgbClr val="B8860B"/>
                </a:solidFill>
                <a:latin typeface="Calibri" pitchFamily="34" charset="0"/>
                <a:ea typeface="Calibri" pitchFamily="34" charset="-122"/>
                <a:cs typeface="Calibri" pitchFamily="34" charset="-120"/>
              </a:rPr>
              <a:t>1.  </a:t>
            </a:r>
            <a:r>
              <a:rPr lang="en-US" sz="2200" dirty="0">
                <a:solidFill>
                  <a:srgbClr val="383A42"/>
                </a:solidFill>
                <a:latin typeface="Calibri" pitchFamily="34" charset="0"/>
                <a:ea typeface="Calibri" pitchFamily="34" charset="-122"/>
                <a:cs typeface="Calibri" pitchFamily="34" charset="-120"/>
              </a:rPr>
              <a:t>Entorno completo instalado: Node.js 24 LTS + Angular CLI 22 + IntelliJ IDEA Ultimate.</a:t>
            </a:r>
            <a:endParaRPr lang="en-US" sz="2200" dirty="0"/>
          </a:p>
          <a:p>
            <a:pPr marL="0" indent="0">
              <a:buNone/>
            </a:pPr>
            <a:r>
              <a:rPr lang="en-US" sz="2200" b="1" dirty="0">
                <a:solidFill>
                  <a:srgbClr val="B8860B"/>
                </a:solidFill>
                <a:latin typeface="Calibri" pitchFamily="34" charset="0"/>
                <a:ea typeface="Calibri" pitchFamily="34" charset="-122"/>
                <a:cs typeface="Calibri" pitchFamily="34" charset="-120"/>
              </a:rPr>
              <a:t>2.  </a:t>
            </a:r>
            <a:r>
              <a:rPr lang="en-US" sz="2200" dirty="0">
                <a:solidFill>
                  <a:srgbClr val="383A42"/>
                </a:solidFill>
                <a:latin typeface="Calibri" pitchFamily="34" charset="0"/>
                <a:ea typeface="Calibri" pitchFamily="34" charset="-122"/>
                <a:cs typeface="Calibri" pitchFamily="34" charset="-120"/>
              </a:rPr>
              <a:t>Proyecto frontend/ creado y corriendo en localhost:4200 con recarga en caliente.</a:t>
            </a:r>
            <a:endParaRPr lang="en-US" sz="2200" dirty="0"/>
          </a:p>
          <a:p>
            <a:pPr marL="0" indent="0">
              <a:buNone/>
            </a:pPr>
            <a:r>
              <a:rPr lang="en-US" sz="2200" b="1" dirty="0">
                <a:solidFill>
                  <a:srgbClr val="B8860B"/>
                </a:solidFill>
                <a:latin typeface="Calibri" pitchFamily="34" charset="0"/>
                <a:ea typeface="Calibri" pitchFamily="34" charset="-122"/>
                <a:cs typeface="Calibri" pitchFamily="34" charset="-120"/>
              </a:rPr>
              <a:t>3.  </a:t>
            </a:r>
            <a:r>
              <a:rPr lang="en-US" sz="2200" dirty="0">
                <a:solidFill>
                  <a:srgbClr val="383A42"/>
                </a:solidFill>
                <a:latin typeface="Calibri" pitchFamily="34" charset="0"/>
                <a:ea typeface="Calibri" pitchFamily="34" charset="-122"/>
                <a:cs typeface="Calibri" pitchFamily="34" charset="-120"/>
              </a:rPr>
              <a:t>Componentes y servicios generados con la CLI, con inyeccion de </a:t>
            </a:r>
            <a:r>
              <a:rPr lang="en-US" sz="2200" dirty="0" err="1">
                <a:solidFill>
                  <a:srgbClr val="383A42"/>
                </a:solidFill>
                <a:latin typeface="Calibri" pitchFamily="34" charset="0"/>
                <a:ea typeface="Calibri" pitchFamily="34" charset="-122"/>
                <a:cs typeface="Calibri" pitchFamily="34" charset="-120"/>
              </a:rPr>
              <a:t>dependencias</a:t>
            </a:r>
            <a:r>
              <a:rPr lang="en-US" sz="2200" dirty="0">
                <a:solidFill>
                  <a:srgbClr val="383A42"/>
                </a:solidFill>
                <a:latin typeface="Calibri" pitchFamily="34" charset="0"/>
                <a:ea typeface="Calibri" pitchFamily="34" charset="-122"/>
                <a:cs typeface="Calibri" pitchFamily="34" charset="-120"/>
              </a:rPr>
              <a:t>.</a:t>
            </a:r>
            <a:endParaRPr lang="en-US" sz="2200" dirty="0"/>
          </a:p>
          <a:p>
            <a:pPr marL="0" indent="0">
              <a:buNone/>
            </a:pPr>
            <a:r>
              <a:rPr lang="en-US" sz="2200" b="1" dirty="0">
                <a:solidFill>
                  <a:srgbClr val="B8860B"/>
                </a:solidFill>
                <a:latin typeface="Calibri" pitchFamily="34" charset="0"/>
                <a:ea typeface="Calibri" pitchFamily="34" charset="-122"/>
                <a:cs typeface="Calibri" pitchFamily="34" charset="-120"/>
              </a:rPr>
              <a:t>4.  </a:t>
            </a:r>
            <a:r>
              <a:rPr lang="en-US" sz="2200" dirty="0">
                <a:solidFill>
                  <a:srgbClr val="383A42"/>
                </a:solidFill>
                <a:latin typeface="Calibri" pitchFamily="34" charset="0"/>
                <a:ea typeface="Calibri" pitchFamily="34" charset="-122"/>
                <a:cs typeface="Calibri" pitchFamily="34" charset="-120"/>
              </a:rPr>
              <a:t>CRUD completo consumiendo /api/libros con HttpClient, tipado por interfaces.</a:t>
            </a:r>
            <a:endParaRPr lang="en-US" sz="2200" dirty="0"/>
          </a:p>
          <a:p>
            <a:pPr marL="0" indent="0">
              <a:buNone/>
            </a:pPr>
            <a:r>
              <a:rPr lang="en-US" sz="2200" b="1" dirty="0">
                <a:solidFill>
                  <a:srgbClr val="B8860B"/>
                </a:solidFill>
                <a:latin typeface="Calibri" pitchFamily="34" charset="0"/>
                <a:ea typeface="Calibri" pitchFamily="34" charset="-122"/>
                <a:cs typeface="Calibri" pitchFamily="34" charset="-120"/>
              </a:rPr>
              <a:t>5.  </a:t>
            </a:r>
            <a:r>
              <a:rPr lang="en-US" sz="2200" dirty="0">
                <a:solidFill>
                  <a:srgbClr val="383A42"/>
                </a:solidFill>
                <a:latin typeface="Calibri" pitchFamily="34" charset="0"/>
                <a:ea typeface="Calibri" pitchFamily="34" charset="-122"/>
                <a:cs typeface="Calibri" pitchFamily="34" charset="-120"/>
              </a:rPr>
              <a:t>Interceptor JWT, manejo de errores, environments por entorno y CORS resuelto.</a:t>
            </a:r>
            <a:endParaRPr lang="en-US" sz="2200" dirty="0"/>
          </a:p>
        </p:txBody>
      </p:sp>
      <p:sp>
        <p:nvSpPr>
          <p:cNvPr id="9" name="Shape 7"/>
          <p:cNvSpPr/>
          <p:nvPr/>
        </p:nvSpPr>
        <p:spPr>
          <a:xfrm>
            <a:off x="731520" y="5120640"/>
            <a:ext cx="10725912" cy="1188720"/>
          </a:xfrm>
          <a:prstGeom prst="roundRect">
            <a:avLst>
              <a:gd name="adj" fmla="val 7692"/>
            </a:avLst>
          </a:prstGeom>
          <a:solidFill>
            <a:srgbClr val="FBF2D9"/>
          </a:solidFill>
          <a:ln w="15240">
            <a:solidFill>
              <a:srgbClr val="B8860B"/>
            </a:solidFill>
            <a:prstDash val="solid"/>
          </a:ln>
        </p:spPr>
        <p:txBody>
          <a:bodyPr/>
          <a:lstStyle/>
          <a:p>
            <a:endParaRPr lang="es-US"/>
          </a:p>
        </p:txBody>
      </p:sp>
      <p:sp>
        <p:nvSpPr>
          <p:cNvPr id="10" name="Text 8"/>
          <p:cNvSpPr/>
          <p:nvPr/>
        </p:nvSpPr>
        <p:spPr>
          <a:xfrm>
            <a:off x="914400" y="5212080"/>
            <a:ext cx="10332720" cy="320040"/>
          </a:xfrm>
          <a:prstGeom prst="rect">
            <a:avLst/>
          </a:prstGeom>
          <a:noFill/>
          <a:ln/>
        </p:spPr>
        <p:txBody>
          <a:bodyPr wrap="square" rtlCol="0" anchor="ctr"/>
          <a:lstStyle/>
          <a:p>
            <a:pPr marL="0" indent="0">
              <a:buNone/>
            </a:pPr>
            <a:r>
              <a:rPr lang="en-US" sz="2000" b="1" dirty="0">
                <a:solidFill>
                  <a:srgbClr val="B8860B"/>
                </a:solidFill>
                <a:latin typeface="Calibri" pitchFamily="34" charset="0"/>
                <a:ea typeface="Calibri" pitchFamily="34" charset="-122"/>
                <a:cs typeface="Calibri" pitchFamily="34" charset="-120"/>
              </a:rPr>
              <a:t>Que sigue</a:t>
            </a:r>
            <a:endParaRPr lang="en-US" sz="2000" dirty="0"/>
          </a:p>
        </p:txBody>
      </p:sp>
      <p:sp>
        <p:nvSpPr>
          <p:cNvPr id="11" name="Text 9"/>
          <p:cNvSpPr/>
          <p:nvPr/>
        </p:nvSpPr>
        <p:spPr>
          <a:xfrm>
            <a:off x="914400" y="5532120"/>
            <a:ext cx="10332720" cy="777240"/>
          </a:xfrm>
          <a:prstGeom prst="rect">
            <a:avLst/>
          </a:prstGeom>
          <a:noFill/>
          <a:ln/>
        </p:spPr>
        <p:txBody>
          <a:bodyPr wrap="square" rtlCol="0" anchor="t"/>
          <a:lstStyle/>
          <a:p>
            <a:pPr marL="0" indent="0">
              <a:buNone/>
            </a:pPr>
            <a:r>
              <a:rPr lang="en-US" i="1" dirty="0">
                <a:solidFill>
                  <a:srgbClr val="383A42"/>
                </a:solidFill>
                <a:latin typeface="Calibri" pitchFamily="34" charset="0"/>
                <a:ea typeface="Calibri" pitchFamily="34" charset="-122"/>
                <a:cs typeface="Calibri" pitchFamily="34" charset="-120"/>
              </a:rPr>
              <a:t>Formularios reactivos, guards de rutas para proteger vistas por rol, pruebas unitarias con Vitest, y despliegue detras de nginx. Todo se cubre en los capítulos siguientes de la Unidad IV.</a:t>
            </a:r>
            <a:endParaRPr lang="en-US" dirty="0"/>
          </a:p>
        </p:txBody>
      </p:sp>
      <p:sp>
        <p:nvSpPr>
          <p:cNvPr id="12" name="Text 10"/>
          <p:cNvSpPr/>
          <p:nvPr/>
        </p:nvSpPr>
        <p:spPr>
          <a:xfrm>
            <a:off x="457200" y="6446520"/>
            <a:ext cx="11338560" cy="320040"/>
          </a:xfrm>
          <a:prstGeom prst="rect">
            <a:avLst/>
          </a:prstGeom>
          <a:noFill/>
          <a:ln/>
        </p:spPr>
        <p:txBody>
          <a:bodyPr wrap="square" rtlCol="0" anchor="ctr"/>
          <a:lstStyle/>
          <a:p>
            <a:pPr marL="0" indent="0" algn="ctr">
              <a:buNone/>
            </a:pPr>
            <a:r>
              <a:rPr lang="en-US" sz="1100" i="1" dirty="0">
                <a:solidFill>
                  <a:srgbClr val="383A42"/>
                </a:solidFill>
                <a:latin typeface="Calibri" pitchFamily="34" charset="0"/>
                <a:ea typeface="Calibri" pitchFamily="34" charset="-122"/>
                <a:cs typeface="Calibri" pitchFamily="34" charset="-120"/>
              </a:rPr>
              <a:t>Dr. Gleiston Ciceron Guerrero Ulloa, Ph.D.  |  gguerrero@uteq.edu.ec</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177</TotalTime>
  <Words>8802</Words>
  <Application>Microsoft Office PowerPoint</Application>
  <PresentationFormat>Panorámica</PresentationFormat>
  <Paragraphs>703</Paragraphs>
  <Slides>36</Slides>
  <Notes>36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36</vt:i4>
      </vt:variant>
    </vt:vector>
  </HeadingPairs>
  <TitlesOfParts>
    <vt:vector size="41"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UTEQ --- Ingenieria de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Angular 22 --- Del setup al consumo de APIs REST</dc:title>
  <dc:subject>Aplicaciones Web --- Unidad IV</dc:subject>
  <dc:creator>Dr. Gleiston Ciceron Guerrero Ulloa, Ph.D.</dc:creator>
  <cp:lastModifiedBy>GLEISTON CICERÓN GUERRERO ULLOA</cp:lastModifiedBy>
  <cp:revision>9</cp:revision>
  <dcterms:created xsi:type="dcterms:W3CDTF">2026-07-06T12:20:36Z</dcterms:created>
  <dcterms:modified xsi:type="dcterms:W3CDTF">2026-07-10T11:58:03Z</dcterms:modified>
</cp:coreProperties>
</file>