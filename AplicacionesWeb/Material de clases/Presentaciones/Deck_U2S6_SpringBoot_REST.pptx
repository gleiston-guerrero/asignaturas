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32A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840480" cy="3840480"/>
          </a:xfrm>
          <a:prstGeom prst="ellipse">
            <a:avLst/>
          </a:prstGeom>
          <a:solidFill>
            <a:srgbClr val="003D1F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3108960"/>
            <a:ext cx="2377440" cy="2377440"/>
          </a:xfrm>
          <a:prstGeom prst="ellipse">
            <a:avLst/>
          </a:prstGeom>
          <a:solidFill>
            <a:srgbClr val="00622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rgbClr val="CC990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8302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713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II  ·  SEMANA 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Services RESTful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Spring Boot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154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paso: del «Hola Mundo» al CRUD completo — con relaciones JPA y claves primarias de doble campo (compuestas).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B9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4.1  ·  Java 25 LTS  ·  Maven  ·  PostgreSQL 18  ·  IntelliJ IDEA 2026.1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Ingeniería de Software · Dr. Gleiston Guerrero Ulloa,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SEMANA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ruta: ocho pasos hacia una API REST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408176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52704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3502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Crear el proyecto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Initializr en IntelliJ IDEA Ultimate.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0" y="1261872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75504" y="1408176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52704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33502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Hola Mundo REST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@RestController que devuelve JSON.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139696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" y="2286000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4048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21284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Arquitectura por capas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config, model, repository, service, controller, dto.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29200" y="2139696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175504" y="2286000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240487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60720" y="221284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Modelo de dominio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JPA: 1:1, 1:N, N:1 y N:M con atributos.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57200" y="301752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03504" y="3163824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282696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30906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Clave compuesta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puente con PK de doble campo (@EmbeddedId).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029200" y="301752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175504" y="3163824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376" y="3282696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760720" y="30906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CRUD REST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Repositorios, servicio y controlador con los cinco verbos.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457200" y="3895344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03504" y="4041648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160520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88720" y="396849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Errores y validación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 + @Valid (400/404).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5029200" y="3895344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5175504" y="4041648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4376" y="4160520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760720" y="396849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Documentar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 y Swagger UI con springdoc 3.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construiremos: una API académica de UTEQ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572000" cy="3200400"/>
          </a:xfrm>
          <a:prstGeom prst="roundRect">
            <a:avLst>
              <a:gd name="adj" fmla="val 228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44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del ejemplo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muchos estudiantes  (1 : N)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Perfil  (1 : 1)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↔ Curso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a muchos, con nota y periodo (N : M)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A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Inscripcion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puente con PK (estudiante_id, curso_id)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57800" y="13258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0E3D2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13248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que expondremos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13248" y="1810512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/api/estudiantes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/api/estudiantes/{id}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/api/estudiantes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/api/estudiantes/{id}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/api/estudiantes/{id}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/api/inscripciones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/api/estudiantes/{id}/cursos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B9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/swagger-ui.html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DEL ENTORNO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y versiones de referencia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a junio de 2026. Spring Boot 4 corre sobre Spring Framework 7 y Jakarta EE 11 (paquetes jakarta.*).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64208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3749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en el proyecto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25 LTS (o 21 LTS)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y máquina virtual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Framework: auto-config, Tomcat embebido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3.9+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 y empaquetado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 relacional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JPA / Hibernate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Mapeo objeto-relacional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springdoc-openapi 3.0.3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OpenAPI 3 + Swagger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IntelliJ IDEA Ultimate 2026.1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Editor, Initializr, ejecución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/ cURL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Probar los endpoints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CREAR 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Project → Spring Boot (Spring Initializr)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11480"/>
            <a:ext cx="566928" cy="566928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IntelliJ IDEA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82880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→ New → Project → Spring Boot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Java     Type: Maven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JDK: 25     Java: 25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Packaging: Jar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    ec.edu.uteq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Artifact: appweb-api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Boot: 4.1.0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0E3D2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82312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(starters)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82312" y="18470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</a:t>
            </a:r>
            <a:pPr indent="0" marL="0">
              <a:buNone/>
            </a:pPr>
            <a:r>
              <a:rPr lang="en-US" sz="1050" dirty="0">
                <a:solidFill>
                  <a:srgbClr val="B9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API REST con @RestController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82312" y="22677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pPr indent="0" marL="0">
              <a:buNone/>
            </a:pPr>
            <a:r>
              <a:rPr lang="en-US" sz="1050" dirty="0">
                <a:solidFill>
                  <a:srgbClr val="B9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Repositorios y ORM Hibernate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268833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Driver</a:t>
            </a:r>
            <a:pPr indent="0" marL="0">
              <a:buNone/>
            </a:pPr>
            <a:r>
              <a:rPr lang="en-US" sz="1050" dirty="0">
                <a:solidFill>
                  <a:srgbClr val="B9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Conector JDBC de PostgreSQL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2312" y="3108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pPr indent="0" marL="0">
              <a:buNone/>
            </a:pPr>
            <a:r>
              <a:rPr lang="en-US" sz="1050" dirty="0">
                <a:solidFill>
                  <a:srgbClr val="B9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Bean Validation (@Valid)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352958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pPr indent="0" marL="0">
              <a:buNone/>
            </a:pPr>
            <a:r>
              <a:rPr lang="en-US" sz="1050" dirty="0">
                <a:solidFill>
                  <a:srgbClr val="B9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Getters/setters sin boilerplate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39502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DevTools</a:t>
            </a:r>
            <a:pPr indent="0" marL="0">
              <a:buNone/>
            </a:pPr>
            <a:r>
              <a:rPr lang="en-US" sz="1050" dirty="0">
                <a:solidFill>
                  <a:srgbClr val="B9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Recarga en caliente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53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springdoc-openapi 3.0.3 se añade luego, manualmente, en el pom.xml (no está en el Initializr).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RESULTADO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estructura que genera IntelliJ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F6F7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81328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appweb-api/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dependencias Maven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mvnw, mvnw.cmd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wrapper de Maven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├─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java/ec/edu/uteq/appwebapi/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│   └─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AppwebApiApplication.java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└─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├─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application.properties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├─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css, js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└─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test/java/.../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pruebas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0" y="1325880"/>
            <a:ext cx="2971800" cy="3200400"/>
          </a:xfrm>
          <a:prstGeom prst="roundRect">
            <a:avLst>
              <a:gd name="adj" fmla="val 2462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79592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principal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1783080"/>
            <a:ext cx="2743200" cy="2331720"/>
          </a:xfrm>
          <a:prstGeom prst="roundRect">
            <a:avLst>
              <a:gd name="adj" fmla="val 2353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16752" y="1874520"/>
            <a:ext cx="243230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AppwebApiApplication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SpringApplication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AppwebApiApplication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79592" y="4160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arranque: levanta Tomcat embebido en el puerto 8080.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DEPENDENCIAS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pom.xml: el corazón del proyecto Maven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3401568"/>
          </a:xfrm>
          <a:prstGeom prst="roundRect">
            <a:avLst>
              <a:gd name="adj" fmla="val 1613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3716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 (fragmento)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7918704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&lt;parent&gt;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&lt;groupId&gt;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org.springframework.boot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&lt;/groupId&gt;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&lt;artifactId&gt;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spring-boot-starter-parent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&lt;/artifactId&gt;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&lt;version&gt;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4.1.0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&lt;/version&gt;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&lt;/parent&gt;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&lt;dependencies&gt;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2000"/>
              </a:lnSpc>
              <a:buNone/>
            </a:pPr>
            <a:r>
              <a:rPr lang="en-US" sz="92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API REST --&gt;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&lt;groupId&gt;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org.springframework.boot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&lt;/groupId&gt;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&lt;artifactId&gt;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spring-boot-starter-web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&lt;/artifactId&gt;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data-jpa, validation, devtools: igual patron --&gt;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2000"/>
              </a:lnSpc>
              <a:buNone/>
            </a:pPr>
            <a:r>
              <a:rPr lang="en-US" sz="92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driver PostgreSQL --&gt;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&lt;groupId&gt;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org.postgresql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&lt;/groupId&gt;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&lt;artifactId&gt;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&lt;/artifactId&gt;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2000"/>
              </a:lnSpc>
              <a:buNone/>
            </a:pPr>
            <a:r>
              <a:rPr lang="en-US" sz="92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Swagger UI / OpenAPI 3 --&gt;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&lt;groupId&gt;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org.springdoc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&lt;/groupId&gt;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&lt;artifactId&gt;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springdoc-openapi-starter-webmvc-ui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&lt;/artifactId&gt;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&lt;version&gt;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3.0.3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&lt;/version&gt;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92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&lt;/dependencies&gt;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HOLA MUNDO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@RestController que devuelve JSON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11480"/>
            <a:ext cx="566928" cy="566928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39903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HolaController.java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1655064"/>
            <a:ext cx="51755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uteq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appwebapi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springframework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.*;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devuelve datos (JSON), no vistas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HolaController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"/api/hola"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endpoint HTTP GET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@RequestParam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defaultValue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"Mundo"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"mensaje"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"Hola, 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325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y probar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36208" y="17556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Shift + F10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Tomcat: puerto 8080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304288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2395728"/>
            <a:ext cx="2020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</a:t>
            </a:r>
            <a:endParaRPr lang="en-US" sz="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UTEQ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3035808"/>
            <a:ext cx="2331720" cy="1097280"/>
          </a:xfrm>
          <a:prstGeom prst="roundRect">
            <a:avLst>
              <a:gd name="adj" fmla="val 4167"/>
            </a:avLst>
          </a:prstGeom>
          <a:solidFill>
            <a:srgbClr val="0E3D2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9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334670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"mensaje":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"Hola, UTEQ!"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ORGANIZACIÓN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por capas: los paquetes que creamos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60520" cy="3200400"/>
          </a:xfrm>
          <a:prstGeom prst="roundRect">
            <a:avLst>
              <a:gd name="adj" fmla="val 2286"/>
            </a:avLst>
          </a:prstGeom>
          <a:solidFill>
            <a:srgbClr val="F6F7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6304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ec/edu/uteq/appwebapi/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pPr indent="0" marL="0">
              <a:lnSpc>
                <a:spcPct val="105000"/>
              </a:lnSpc>
              <a:buNone/>
            </a:pPr>
            <a:r>
              <a:rPr lang="en-US" sz="980" i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OpenAPI, CORS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</a:t>
            </a:r>
            <a:pPr indent="0" marL="0">
              <a:lnSpc>
                <a:spcPct val="105000"/>
              </a:lnSpc>
              <a:buNone/>
            </a:pPr>
            <a:r>
              <a:rPr lang="en-US" sz="980" i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entidades JPA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Carrera.java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Estudiante.java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Perfil.java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Curso.java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Inscripcion.java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InscripcionId.java</a:t>
            </a:r>
            <a:pPr indent="0" marL="0">
              <a:lnSpc>
                <a:spcPct val="105000"/>
              </a:lnSpc>
              <a:buNone/>
            </a:pPr>
            <a:r>
              <a:rPr lang="en-US" sz="980" i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 doble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repository/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service/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dto/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</a:t>
            </a:r>
            <a:pPr indent="0" marL="0">
              <a:lnSpc>
                <a:spcPct val="105000"/>
              </a:lnSpc>
              <a:buNone/>
            </a:pPr>
            <a:r>
              <a:rPr lang="en-US" sz="980" i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controllers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8A9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</a:t>
            </a:r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exception/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3886200" cy="676656"/>
          </a:xfrm>
          <a:prstGeom prst="roundRect">
            <a:avLst>
              <a:gd name="adj" fmla="val 10811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81328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60020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32120" y="14264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controller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HTTP, valida, responde JSON.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00600" y="2157984"/>
            <a:ext cx="3886200" cy="676656"/>
          </a:xfrm>
          <a:prstGeom prst="roundRect">
            <a:avLst>
              <a:gd name="adj" fmla="val 10811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2267712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38658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22128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y @Transactional.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00600" y="2944368"/>
            <a:ext cx="3886200" cy="676656"/>
          </a:xfrm>
          <a:prstGeom prst="roundRect">
            <a:avLst>
              <a:gd name="adj" fmla="val 10811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37760" y="3054096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317296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32120" y="29992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 (JpaRepository).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00600" y="3730752"/>
            <a:ext cx="3886200" cy="676656"/>
          </a:xfrm>
          <a:prstGeom prst="roundRect">
            <a:avLst>
              <a:gd name="adj" fmla="val 10811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840480"/>
            <a:ext cx="457200" cy="45720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95935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7856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= tablas de la BD.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CONEXIÓN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application.properties: conectar PostgreSQL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400800" cy="2926080"/>
          </a:xfrm>
          <a:prstGeom prst="roundRect">
            <a:avLst>
              <a:gd name="adj" fmla="val 1875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39903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src/main/resources/application.properties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655064"/>
            <a:ext cx="608990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Origen de datos ---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spring.datasource.url=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jdbc:postgresql://localhost:5432/appweb2026ppa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spring.datasource.username=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spring.datasource.password=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P@$7Gr3$QL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spring.datasource.driver-class-name=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org.postgresql.Driver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JPA / Hibernate ---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spring.jpa.hibernate.ddl-auto=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  </a:t>
            </a:r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crea/actualiza tablas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spring.jpa.show-sql=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            </a:t>
            </a:r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 el SQL generado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spring.jpa.properties.hibernate.format_sql=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Swagger UI ---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0B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springdoc.swagger-ui.path=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/swagger-ui.html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95160" y="1325880"/>
            <a:ext cx="1691640" cy="2926080"/>
          </a:xfrm>
          <a:prstGeom prst="roundRect">
            <a:avLst>
              <a:gd name="adj" fmla="val 4324"/>
            </a:avLst>
          </a:prstGeom>
          <a:solidFill>
            <a:srgbClr val="0E3D2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1426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783080"/>
            <a:ext cx="1463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Flyway/Liquibase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— MODELO DE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diagrama entidad-relación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544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
</a:t>
            </a:r>
            <a:pPr algn="ctr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nombre · facultad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554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
</a:t>
            </a:r>
            <a:pPr algn="ctr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cedula · nombres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55448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5544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
</a:t>
            </a:r>
            <a:pPr algn="ctr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telefono · dir.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342900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9A740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34290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Inscripcion
</a:t>
            </a:r>
            <a:pPr algn="ctr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(estudiante_id, curso_id)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4747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
</a:t>
            </a:r>
            <a:pPr algn="ctr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codigo · creditos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0" y="1984248"/>
            <a:ext cx="777240" cy="0"/>
          </a:xfrm>
          <a:prstGeom prst="line">
            <a:avLst/>
          </a:prstGeom>
          <a:noFill/>
          <a:ln w="25400">
            <a:solidFill>
              <a:srgbClr val="006633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487168" y="1691640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07792" y="1691640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2011680"/>
            <a:ext cx="914400" cy="0"/>
          </a:xfrm>
          <a:prstGeom prst="line">
            <a:avLst/>
          </a:prstGeom>
          <a:noFill/>
          <a:ln w="25400">
            <a:solidFill>
              <a:srgbClr val="006633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596128" y="1700784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1700784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2468880"/>
            <a:ext cx="0" cy="960120"/>
          </a:xfrm>
          <a:prstGeom prst="line">
            <a:avLst/>
          </a:prstGeom>
          <a:noFill/>
          <a:ln w="25400">
            <a:solidFill>
              <a:srgbClr val="006633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572000" y="2542032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154680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3904488"/>
            <a:ext cx="731520" cy="0"/>
          </a:xfrm>
          <a:prstGeom prst="line">
            <a:avLst/>
          </a:prstGeom>
          <a:noFill/>
          <a:ln w="25400">
            <a:solidFill>
              <a:srgbClr val="006633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779008" y="3611880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611880"/>
            <a:ext cx="36576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 </a:t>
            </a:r>
            <a:pPr algn="ctr" indent="0" marL="0"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Carrera→Estudiante     </a:t>
            </a:r>
            <a:pPr algn="ctr"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 </a:t>
            </a:r>
            <a:pPr algn="ctr" indent="0" marL="0"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Estudiante→Perfil     </a:t>
            </a:r>
            <a:pPr algn="ctr" indent="0" marL="0">
              <a:buNone/>
            </a:pPr>
            <a:r>
              <a:rPr lang="en-US" sz="1100" b="1" dirty="0">
                <a:solidFill>
                  <a:srgbClr val="9A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  </a:t>
            </a:r>
            <a:pPr algn="ctr" indent="0" marL="0"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Estudiante↔Curso (vía Inscripcion)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JPA — 1:1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 ↔ Perfil: uno a uno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lado dueño guarda la clave foránea (perfil_id). El inverso usa mappedBy. cascade y orphanRemoval propagan el ciclo de vida.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166360" cy="2880360"/>
          </a:xfrm>
          <a:prstGeom prst="roundRect">
            <a:avLst>
              <a:gd name="adj" fmla="val 1905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73736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Perfil.java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993392"/>
            <a:ext cx="48554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"perfil"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@Getter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@Setter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@NoArgsConstructor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GenerationType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telefono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fechaNacimiento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lado inverso: la FK vive en Estudiante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@OneToOne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mappedBy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"perfil"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06440" y="1664208"/>
            <a:ext cx="2880360" cy="2880360"/>
          </a:xfrm>
          <a:prstGeom prst="roundRect">
            <a:avLst>
              <a:gd name="adj" fmla="val 2540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61888" y="1773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Estudiante (lado dueño)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08192" y="2194560"/>
            <a:ext cx="22951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@OneToOne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CascadeType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orphanRemoval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"perfil_id"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961888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la columna perfil_id (UNIQUE) en la tabla estudiante.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JPA — 1:N Y N:1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Carrera ↔ Estudiante: uno a muchos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3154680"/>
          </a:xfrm>
          <a:prstGeom prst="roundRect">
            <a:avLst>
              <a:gd name="adj" fmla="val 1739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4475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Carrera.java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700784"/>
            <a:ext cx="517550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"carrera"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@Getter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@Setter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@NoArgsConstructor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GenerationType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nullable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facultad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lado inverso (uno): una carrera, muchos estudiantes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mappedBy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"carrera"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6208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36208" y="1828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lado «muchos» (N:1) es el dueño y lleva la FK.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lado «uno» (1:N) usa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mappedBy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FetchType.LAZY en colecciones para no cargar de más.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Estudiante.java: reúne las tres relaciones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3401568"/>
          </a:xfrm>
          <a:prstGeom prst="roundRect">
            <a:avLst>
              <a:gd name="adj" fmla="val 1613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3716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Estudiante.java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7918704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"estudiante"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@Getter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@Setter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@NoArgsConstructor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@AllArgsConstructor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GenerationType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nullable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apellidos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FetchType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2000"/>
              </a:lnSpc>
              <a:buNone/>
            </a:pPr>
            <a:r>
              <a:rPr lang="en-US" sz="90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N:1 dueño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"carrera_id"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@OneToOne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CascadeType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orphanRemoval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"perfil_id"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2000"/>
              </a:lnSpc>
              <a:buNone/>
            </a:pPr>
            <a:r>
              <a:rPr lang="en-US" sz="90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1:1 dueño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mappedBy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"estudiante"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2000"/>
              </a:lnSpc>
              <a:buNone/>
            </a:pPr>
            <a:r>
              <a:rPr lang="en-US" sz="90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1:N inverso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inscripciones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— N:M CON ATRIBUTOS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una entidad de asociación?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BEFE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@ManyToMany simple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una tabla puente automática solo con las dos FK.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admite columnas extra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(nota, periodo, fecha…).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puedes referenciar la fila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intermedia como recurso REST.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de asociación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Promovemos la tabla puente a una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propia: Inscripcion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Lleva atributos propios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(nota, periodo, fechaInscripcion).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 clave primaria es compuesta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por las dos FK: clave de doble campo.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 modela con @EmbeddedId + @MapsId.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— CLAVE DE DOBLE CAMPO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InscripcionId: la clave primaria compuesta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11480"/>
            <a:ext cx="566928" cy="566928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4447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InscripcionId.java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791870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@Embeddable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incrusta en la entidad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@Getter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@Setter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@NoArgsConstructor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@AllArgsConstructor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Serializable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primer campo de la clave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segundo campo de la clave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equals() y hashCode() son OBLIGATORIOS en una PK compuesta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(!(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instanceof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hashCode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— TABLA PUENTE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Inscripcion.java: @EmbeddedId + @MapsId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806440" cy="3246120"/>
          </a:xfrm>
          <a:prstGeom prst="roundRect">
            <a:avLst>
              <a:gd name="adj" fmla="val 1690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399032"/>
            <a:ext cx="5532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Inscripcion.java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655064"/>
            <a:ext cx="549554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"inscripcion"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@Getter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@Setter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@NoArgsConstructor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@EmbeddedId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lnSpc>
                <a:spcPct val="102000"/>
              </a:lnSpc>
              <a:buNone/>
            </a:pPr>
            <a:r>
              <a:rPr lang="en-US" sz="97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clave primaria compuesta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InscripcionId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InscripcionId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FetchType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@MapsId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"estudianteId"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2000"/>
              </a:lnSpc>
              <a:buNone/>
            </a:pPr>
            <a:r>
              <a:rPr lang="en-US" sz="97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comparte la FK con la PK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"estudiante_id"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FetchType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@MapsId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"cursoId"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"curso_id"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BigDecimal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2000"/>
              </a:lnSpc>
              <a:buNone/>
            </a:pPr>
            <a:r>
              <a:rPr lang="en-US" sz="97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atributo propio del enlace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7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periodo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2000"/>
              </a:lnSpc>
              <a:buNone/>
            </a:pPr>
            <a:r>
              <a:rPr lang="en-US" sz="97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p.ej. 2026-2027 PI</a:t>
            </a:r>
            <a:endParaRPr lang="en-US" sz="97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2286000" cy="3246120"/>
          </a:xfrm>
          <a:prstGeom prst="roundRect">
            <a:avLst>
              <a:gd name="adj" fmla="val 3200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47104" y="1426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@MapsId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47104" y="17830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que la FK de la relación ES, a la vez, parte de la clave primaria.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columnas duplicadas: estudiante_id sirve como FK y como mitad de la PK.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Curso.java y el lado inverso de Inscripcion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4475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Curso.java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700784"/>
            <a:ext cx="51755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@Getter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@Setter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@NoArgsConstructor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GenerationType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nullable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creditos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mappedBy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"curso"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inverso de Inscripcion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inscripciones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0E3D2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6208" y="1481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clases del modelo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8288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B9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B9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InscripcionId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36208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entidades + 1 puente + 1 clave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— RESULTADO EN LA BD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SQL (DDL) que Hibernate genera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943600" cy="3246120"/>
          </a:xfrm>
          <a:prstGeom prst="roundRect">
            <a:avLst>
              <a:gd name="adj" fmla="val 1690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39903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DDL generado (ddl-auto=update)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655064"/>
            <a:ext cx="563270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carrera_id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perfil_id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estudiante_id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curso_id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estudiante_id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curso_id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2000"/>
              </a:lnSpc>
              <a:buNone/>
            </a:pPr>
            <a:r>
              <a:rPr lang="en-US" sz="98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clave de doble campo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estudiante_id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curso_id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537960" y="132588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0E3D2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93408" y="1481328"/>
            <a:ext cx="502920" cy="502920"/>
          </a:xfrm>
          <a:prstGeom prst="ellipse">
            <a:avLst/>
          </a:prstGeom>
          <a:solidFill>
            <a:srgbClr val="CC990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4167" y="1612087"/>
            <a:ext cx="241402" cy="2414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69480" y="15179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 doble campo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93408" y="219456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
(estudiante_id,
 curso_id)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un estudiante no se inscriba dos veces al mismo curso.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— ACCESO A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Repositorios: CRUD gratis con Spring Data JPA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11480"/>
            <a:ext cx="566928" cy="566928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669280" cy="3154680"/>
          </a:xfrm>
          <a:prstGeom prst="roundRect">
            <a:avLst>
              <a:gd name="adj" fmla="val 1739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44475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repository/*.java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535838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EstudianteRepository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JpaRepository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consultas derivadas: sin escribir SQL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findByCarreraId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findByCedula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CursoRepository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JpaRepository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PK es InscripcionId, no Long: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InscripcionRepository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JpaRepository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findByIdEstudianteId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estudianteId</a:t>
            </a:r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al heredar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findAll()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deleteById()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existsById()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la PK debe coincidir: InscripcionId para la tabla puente.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— CONTRATOS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DTOs: separar la entidad de la respuesta JSON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94960" cy="2971800"/>
          </a:xfrm>
          <a:prstGeom prst="roundRect">
            <a:avLst>
              <a:gd name="adj" fmla="val 1846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447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dto/EstudianteDTO.java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700784"/>
            <a:ext cx="5084064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record = inmutable y conciso (Java 17+)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@NotBlank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@NotBlank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@NotBlank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apellidos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@Email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InscripcionDTO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cursoId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BigDecimal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periodo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1371600"/>
            <a:ext cx="2697480" cy="2971800"/>
          </a:xfrm>
          <a:prstGeom prst="roundRect">
            <a:avLst>
              <a:gd name="adj" fmla="val 2712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44768" y="1481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DTOs?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44768" y="18288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 recursión infinita en JSON (Estudiante↔Inscripcion).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Ocultan campos internos y relaciones perezosas (LAZY).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 la entrada con @NotBlank, @Email, @NotNull.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— LÓGICA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servicio: transacciones y mapeo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name="adj" fmla="val 1690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3990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service/EstudianteService.java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655064"/>
            <a:ext cx="791870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EstudianteService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EstudianteRepository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CarreraRepository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carreraRepo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findAll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aDTO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setCedula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setNombres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setApellidos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setEmail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setCarrera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carreraRepo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getReferenceById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aDTO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aDTO(Estudiante): convierte entidad → DTO ...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— API REST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controlador: GET y POST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11480"/>
            <a:ext cx="566928" cy="566928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4447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web/EstudianteController.java (1/2)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791870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@RequestMapping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"/api/estudiantes"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EstudianteController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EstudianteService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lnSpc>
                <a:spcPct val="102000"/>
              </a:lnSpc>
              <a:buNone/>
            </a:pPr>
            <a:r>
              <a:rPr lang="en-US" sz="98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/api/estudiantes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"/{id}"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2000"/>
              </a:lnSpc>
              <a:buNone/>
            </a:pPr>
            <a:r>
              <a:rPr lang="en-US" sz="98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/api/estudiantes/7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@PathVariable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lnSpc>
                <a:spcPct val="102000"/>
              </a:lnSpc>
              <a:buNone/>
            </a:pPr>
            <a:r>
              <a:rPr lang="en-US" sz="98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→ 201 Created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@ResponseStatus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HttpStatus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@Valid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@RequestBody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— API REST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PUT, DELETE y la clave compuesta en la URL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5074920" cy="2011680"/>
          </a:xfrm>
          <a:prstGeom prst="roundRect">
            <a:avLst>
              <a:gd name="adj" fmla="val 2727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2646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EstudianteController.java (2/2)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682496"/>
            <a:ext cx="47640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@PutMapping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"/{id}"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2000"/>
              </a:lnSpc>
              <a:buNone/>
            </a:pPr>
            <a:r>
              <a:rPr lang="en-US" sz="93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reemplaza por completo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actualizar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@PathVariable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@Valid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@RequestBody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EstudianteDTO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actualizar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@DeleteMapping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"/{id}"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2000"/>
              </a:lnSpc>
              <a:buNone/>
            </a:pPr>
            <a:r>
              <a:rPr lang="en-US" sz="93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204 No Content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@ResponseStatus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HttpStatus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NO_CONTENT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@PathVariable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35935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InscripcionController.java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3849624"/>
            <a:ext cx="79187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PK compuesta se direcciona con dos variables en la URL: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"/api/inscripciones"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2000"/>
              </a:lnSpc>
              <a:buNone/>
            </a:pPr>
            <a:r>
              <a:rPr lang="en-US" sz="88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 inscripcion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InscripcionDTO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inscribir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8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@RequestBody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InscripcionDTO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){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"/api/estudiantes/{id}/cursos"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2000"/>
              </a:lnSpc>
              <a:buNone/>
            </a:pPr>
            <a:r>
              <a:rPr lang="en-US" sz="88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navega la relacion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CursoDTO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cursosDe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88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@PathVariable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){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669280" y="1353312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24728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→ respuesta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24728" y="1755648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201 Created
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 OK
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 OK
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204 No Content
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existe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— ROBUSTEZ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errores y validación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11480"/>
            <a:ext cx="566928" cy="566928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6F7F4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4447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exception/ManejadorErrores.java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791870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@RestControllerAdvice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captura excepciones globalmente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ManejadorErrores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@ExceptionHandler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RecursoNoEncontrado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@ResponseStatus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HttpStatus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NOT_FOUND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404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noEncontrado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RecursoNoEncontrado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){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4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"error"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getMessage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@ExceptionHandler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MethodArgumentNotValidException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@ResponseStatus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HttpStatus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BAD_REQUEST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2000"/>
              </a:lnSpc>
              <a:buNone/>
            </a:pPr>
            <a:r>
              <a:rPr lang="en-US" sz="960" i="1" dirty="0">
                <a:solidFill>
                  <a:srgbClr val="71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400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validacion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MethodArgumentNotValidException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D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&gt;();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getBindingResult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getFieldErrors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getField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getDefaultMessage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()));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2000"/>
              </a:lnSpc>
              <a:buNone/>
            </a:pPr>
            <a:r>
              <a:rPr lang="en-US" sz="96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383A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verbos HTTP y un ejemplo con cURL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349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57400"/>
                <a:gridCol w="137160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57A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/api/estudiantes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57A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/api/estudiantes/7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Obtener uno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57A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/api/estudiantes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57A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/api/estudiantes/7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57A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/api/estudiantes/7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57A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/api/inscripciones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Inscribir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371600"/>
            <a:ext cx="2697480" cy="3154680"/>
          </a:xfrm>
          <a:prstGeom prst="roundRect">
            <a:avLst>
              <a:gd name="adj" fmla="val 2034"/>
            </a:avLst>
          </a:prstGeom>
          <a:solidFill>
            <a:srgbClr val="1B1B1B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9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44768" y="1755648"/>
            <a:ext cx="2468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B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\
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localhost:8080/api/
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estudiantes \
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'Content-Type:
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application/json' \
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'{"cedula":"120...",
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"nombres":"Ana"}'
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B9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201 Created
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DB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Location: /api/
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DB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estudiantes/7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8 — DOCUMENTAR Y CERRAR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 UI + checklist profesional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</a:t>
            </a:r>
            <a:pPr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Aplicaciones Web · Unidad II · Semana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11480"/>
            <a:ext cx="566928" cy="566928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1F4F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499616"/>
            <a:ext cx="502920" cy="50292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551" y="1630375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 + Swagger UI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1792" y="2148840"/>
            <a:ext cx="3611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springdoc-openapi 3.0.3 genera la documentación automáticamente.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configurar nada, abre: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localhost:8080/swagger-ui.html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5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localhost:8080/v3/api-docs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con @Operation y @Schema para enriquecer la API.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0E3D2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82312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la semana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82312" y="18470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separadas: controller → service → repository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82312" y="22128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distintos de las entidades JPA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82312" y="25786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 en toda entrada del controlador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82312" y="29443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LAZY + cascade donde corresponda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82312" y="331012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compuesta con @EmbeddedId + @MapsId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82312" y="36758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y códigos HTTP correctos (201, 204, 404)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82312" y="40416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documentada con OpenAPI / Swagger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5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743200"/>
            <a:ext cx="3657600" cy="3657600"/>
          </a:xfrm>
          <a:prstGeom prst="ellipse">
            <a:avLst/>
          </a:prstGeom>
          <a:solidFill>
            <a:srgbClr val="003D1F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280160"/>
            <a:ext cx="3108960" cy="3108960"/>
          </a:xfrm>
          <a:prstGeom prst="ellipse">
            <a:avLst/>
          </a:prstGeom>
          <a:solidFill>
            <a:srgbClr val="00622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731520" cy="731520"/>
          </a:xfrm>
          <a:prstGeom prst="ellipse">
            <a:avLst/>
          </a:prstGeom>
          <a:solidFill>
            <a:srgbClr val="CC990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875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758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endpoint a una API completa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6928" y="2377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Construiste un servicio REST con Spring Boot 4: proyecto, capas, entidades con las cuatro cardinalidades y una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 de doble campo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resuelta con @EmbeddedId + @MapsId.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sigue:  </a:t>
            </a:r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SPA en Angular consumirá esta misma API REST sin tocar el backend.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4069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66928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Dr. Gleiston Guerrero Ulloa, Ph.D.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II · Semana 6 — Web Services RESTful con Spring Boot</dc:title>
  <dc:subject>PptxGenJS Presentation</dc:subject>
  <dc:creator>Dr. Gleiston Guerrero Ulloa, Ph.D. — UTEQ</dc:creator>
  <cp:lastModifiedBy>Dr. Gleiston Guerrero Ulloa, Ph.D. — UTEQ</cp:lastModifiedBy>
  <cp:revision>1</cp:revision>
  <dcterms:created xsi:type="dcterms:W3CDTF">2026-06-18T02:53:15Z</dcterms:created>
  <dcterms:modified xsi:type="dcterms:W3CDTF">2026-06-18T02:53:15Z</dcterms:modified>
</cp:coreProperties>
</file>