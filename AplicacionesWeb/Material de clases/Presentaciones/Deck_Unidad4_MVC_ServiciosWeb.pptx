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6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081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APERTURA. Presente la unidad situandola en el mapa del curso.
Guion sugerido: 'Esta es la ultima unidad de la asignatura. Cubre las semanas 14 a 18 y concentra el mayor peso de la evaluacion del segundo corte, porque aqui se entrega el Proyecto Fin de Curso en su version 1.0.0.'
TERMINOS Y SIGLAS QUE APARECEN EN PANTALLA:
- MVC (Modelo-Vista-Controlador): patron de diseno que separa los datos y reglas del negocio, su representacion visual y la logica que coordina ambos. En ingles Model-View-Controller.
- Servicio web: funcionalidad que un programa expone en una red para que OTRO PROGRAMA la consuma, no una persona. La diferencia con una pagina web es el destinatario.
- PPA: Periodo Academico Presencial, la denominacion institucional del semestre en la UTEQ.
- BiblioUTEQ: sistema de gestion de biblioteca que actua como proyecto conductor. Todos los ejercicios de la unidad se construyen sobre ese mismo dominio, de modo que el estudiante acumula un sistema real en lugar de ejercicios sueltos.
- Credito academico: unidad de medida del trabajo del estudiante. Cinco creditos y 190 horas implican alrededor de 11 horas semanales entre clase y trabajo autonomo; conviene decirlo en voz alta el primer dia.
ADVERTENCIA AL DOCENTE: no empiece por la definicion de MVC. Empiece preguntando al grupo como organizarian el codigo de un sistema de prestamos si tuvieran que cambiar la pantalla sin tocar las reglas. La definicion cobra sentido despues de que ellos hayan sentido el problema.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ESTA DIAPOSITIVA: dejar por escrito el compromiso de la unidad. Leala en voz alta; es el criterio contra el que se calificara.
DESGLOSE DE TERMINOS DEL ENUNCIADO:
- 'Interoperable': que dos sistemas construidos por equipos distintos, en lenguajes distintos y sobre plataformas distintas puedan intercambiar informacion sin acordar previamente su tecnologia interna. Es la razon de ser de los servicios web.
- 'Cliente-servidor': modelo donde un programa (cliente) solicita y otro (servidor) responde. En la web el cliente es el navegador; el servidor, el programa que atiende la peticion.
- 'Dominio institucional': el conjunto de conceptos y reglas propias del negocio. En BiblioUTEQ el dominio incluye Libro, Ejemplar, Usuario, Prestamo, Reserva, Multa y Categoria.
SIGLAS Y REFERENCIAS DE LAS TARJETAS:
- Fielding (2000): Roy Fielding, tesis doctoral en la Universidad de California en Irvine, donde formula REST. No invento REST diseniando: lo DERIVO analizando por que la web ya existente habia escalado bien.
- RFC: Request for Comments, serie de documentos tecnicos del IETF (Internet Engineering Task Force). Pese al nombre modesto, las RFC en via de estandar son normativas.
- RFC 9110 (junio 2022): define la semantica de HTTP. Reemplazo a la RFC 7231 y a varias otras. Es la fuente de autoridad sobre que significa cada verbo y cada codigo de estado.
- ORM (Object-Relational Mapping): mapeo objeto-relacional; capa que traduce entre objetos del lenguaje y tablas de la base de datos.
- Motor de plantillas: componente que combina un archivo HTML con marcas y un conjunto de datos para producir el HTML final. Thymeleaf en Spring, Blade en Laravel, Razor en ASP.NET Core.
SUGERENCIA: pida a cada equipo que copie estos cuatro RA en la primera pagina de su bitacora del PFC. Al final de la unidad deberan senalar la evidencia concreta de cada uno en su repositorio.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mapa de ruta. Vuelva a esta diapositiva al terminar cada bloque para marcar el avance.
COMO PRESENTAR EL HILO CONDUCTOR: el MVC separa responsabilidades DENTRO de una aplicacion; los servicios web las separan ENTRE aplicaciones distintas. Es el mismo principio aplicado a dos escalas. Si el grupo capta esa idea, el resto de la unidad se ordena solo.
TERMINOS DE LAS BAJADAS:
- Enrutamiento (routing): mecanismo que decide que porcion de codigo atiende cada direccion solicitada.
- Framework: armazon que impone una estructura y provee las piezas comunes ya resueltas (despacho de peticiones, acceso a datos, seguridad). Se diferencia de una biblioteca en quien llama a quien: usted llama a una biblioteca, el framework lo llama a usted.
- REST (Representational State Transfer): estilo arquitectonico, no una tecnologia ni una biblioteca. Se traduce como 'transferencia de estado representacional'.
- Cliente y servidor en 4.4: consumir desde el cliente es hacerlo desde el navegador con JavaScript; desde el servidor es que su propio backend llame a un servicio de un tercero, por ejemplo una pasarela de pago o el SRI.
- SRI: Servicio de Rentas Internas del Ecuador. Se menciona porque su integracion de facturacion electronica sigue operando sobre servicios SOAP, y es el caso real mas cercano al estudiante.
RITMO SUGERIDO: 4.1 y 4.2 en la semana 14; 4.3 en la 15; 4.4 en la 16. Las semanas 17 y 18 son defensa y cierre.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SECCION. Anuncie que este bloque es conceptual y que el codigo llega en 4.2.
PREGUNTA DE ARRANQUE recomendada: '¿Cuantos de ustedes han escrito una pagina donde la consulta SQL, el calculo y el HTML estaban en el mismo archivo?' Casi todos levantaran la mano. Ese es el punto de partida honesto.
SIGLA: SQL (Structured Query Language), lenguaje estructurado de consulta; el idioma con el que se interroga una base de datos relacional.
AVISO: el error mas comun de esta seccion es que el estudiante crea que MVC es 'tener tres carpetas'. Insista desde el principio en que MVC reparte RESPONSABILIDADES, no archivos.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USARLA: proyecte el codigo y pida al grupo que identifique cuantas responsabilidades distintas conviven en doce lineas. Respuesta: cuatro. Acceso a datos, regla de negocio, formato de presentacion y control de flujo.
LECTURA DEL CODIGO, LINEA A LINEA:
- PDO (PHP Data Objects): extension de PHP para acceder a bases de datos de forma uniforme. Es la manera correcta de conectarse en PHP; el problema del ejemplo no es PDO sino DONDE esta.
- El numero 86400 son los segundos que tiene un dia. Convertir una diferencia de marcas de tiempo a dias es una regla de negocio disfrazada de aritmetica.
- El 15 y el 0.25 son parametros del negocio: plazo de prestamo y valor de la multa diaria. Estan incrustados en el codigo, lo que se llama 'numero magico'. Si la biblioteca cambia la politica hay que buscarlos en todo el proyecto.
- La clase CSS 'rojo' mezcla una decision visual con una decision de negocio en la misma linea.
TERMINOS DE LA COLUMNA DERECHA:
- 'Probar sin levantar un servidor web' se refiere a las pruebas unitarias: verificar una funcion de forma aislada, sin infraestructura. Es rapido y automatizable; probar a mano en el navegador no lo es.
- 'Tarea programada' (cron job): proceso que se ejecuta solo a una hora fija, por ejemplo para recalcular multas cada medianoche. No tiene navegador, asi que no puede reutilizar codigo que emite HTML.
CIERRE DE LA DIAPOSITIVA: subraye la frase del recuadro. El codigo malo no se reconoce porque falle, sino porque cada cambio cuesta cada vez mas. Ese costo creciente tiene nombre: deuda tecnica.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MVC que usamos hoy NO es el de 1979. Es una adaptacion que conserva la separacion de responsabilidades y sacrifica el mecanismo observador. Si el estudiante entiende esto, deja de buscar en Spring algo que no esta.
ACLARACIONES DE CADA FILA:
- Xerox PARC (Palo Alto Research Center): centro de investigacion de Xerox donde tambien nacieron la interfaz grafica de ventanas, el raton y Ethernet. Contexto: se programaba en Smalltalk, un lenguaje orientado a objetos puro.
- Reenskaug es noruego y estaba en estancia sabatica; su nota interna de diciembre de 1979 fijo los tres nombres que seguimos usando.
- JOOP: Journal of Object-Oriented Programming, revista donde Krasner y Pope publicaron en 1988. La cita completa esta en la bibliografia de la unidad. Es importante citarla porque es la fuente que realmente difundio el patron, no la nota de Reenskaug.
- 'Mecanismo de notificacion' es el patron Observador: el modelo mantiene una lista de vistas suscritas y les avisa cuando cambia. En el escritorio funciona; en la web clasica no, porque el servidor no puede hablarle al navegador sin que este pregunte primero.
- JSP (JavaServer Pages): tecnologia de Sun para generar HTML desde Java. 'Model 2' fue el nombre del reparto de trabajo entre servlets (control) y paginas JSP (vista), frente al 'Model 1' donde la pagina lo hacia todo.
- Servlet: componente Java que atiende peticiones HTTP. El DispatcherServlet de Spring, que vera en la diapositiva del ciclo de vida, es un descendiente directo.
- 'Convencion sobre configuracion': principio que dice que el framework asume valores razonables por defecto y solo se configura lo excepcional. Rails lo popularizo; Spring Boot lo adopto despues.
MATIZ QUE CONVIENE DECIR: hoy el mecanismo observador VOLVIO al navegador, con las senales de Angular y equivalentes. El circulo se cerro, pero del lado del cliente.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EXPLICARLO: use la analogia del restaurante y luego vuelva a las tarjetas.
El modelo es la despensa y las recetas: lo que el negocio sabe. La vista es el plato emplatado. El controlador es el mesero: recibe el pedido, decide a que estacion enviarlo y devuelve el resultado, pero NO cocina. La analogia sirve sobre todo por lo que prohibe: un mesero cocinando en el comedor es el controlador con SQL dentro.
PRECISIONES SOBRE EL MODELO:
- Entidad: clase que representa un concepto del dominio con identidad propia y estado que persiste. En BiblioUTEQ, Prestamo es una entidad.
- Servicio de dominio: clase sin estado que alberga reglas que involucran a varias entidades. La regla 'un usuario no puede tener mas de tres prestamos activos ni multas impagas' no cabe en ninguna entidad sola, asi que vive en un servicio.
- 'Persistente' significa que sobrevive al fin del programa, normalmente porque esta en una base de datos.
PRECISIONES SOBRE LA VISTA:
- La regla de oro es negativa: la vista no toma decisiones de negocio. Distinga los dos casos con el ejemplo del color: decidir el tono de rojo es presentacion; decidir si esta vencido es negocio.
PRECISIONES SOBRE EL CONTROLADOR:
- 'Convertir parametros' se llama enlace de datos o data binding: pasar del texto plano que viaja en HTTP a objetos tipados del lenguaje. Es donde se originan la mitad de los fallos de formulario.
- 'Decidir la respuesta' significa elegir que vista renderizar o que codigo de estado devolver, no construir el contenido.
SOBRE EL RECUADRO ROJO: es el defecto mas frecuente en las entregas. Mencione ahora que la rubrica lo penaliza, para que nadie alegue desconocimiento despues. Un controlador con acceso directo a datos pierde puntos aunque la pantalla funcione perfectamente.
TERMINO ADICIONAL: 'modelo anemico' es el defecto contrario y tambien se penaliza; entidades reducidas a contenedores de atributos con toda la logica desplazada a servicios. Reproduce programacion procedimental bajo apariencia de objetos.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mostrar que la separacion no es teorica; se ve en el codigo.
ANOTACIONES DE JAVA QUE APARECEN (una anotacion es metadato que se adjunta al codigo y que el framework lee en tiempo de ejecucion; empiezan con arroba):
- @Entity: marca la clase como entidad persistente para JPA. JPA (Jakarta Persistence API) es la especificacion estandar de mapeo objeto-relacional en Java; Hibernate es su implementacion mas usada.
- @Id: senala el atributo que actua como clave primaria.
- @GeneratedValue(strategy = IDENTITY): delega la generacion del identificador a la base de datos, mediante columna autoincremental.
- @Controller: estereotipo de Spring que registra la clase como controlador web y hace que el valor retornado se interprete como NOMBRE DE VISTA.
- @RequestMapping: fija el prefijo de ruta comun a todos los metodos de la clase.
- @GetMapping: asocia el metodo al verbo GET sobre esa ruta.
SOBRE LA PLANTILLA THYMELEAF:
- th:each es la iteracion; equivale a un for sobre la coleccion.
- th:text sustituye el contenido de la etiqueta por el valor de la expresion.
- La sintaxis ${...} accede a los atributos que el controlador deposito en el objeto Model.
- La propiedad de abrir el archivo sin servidor se llama PROTOTIPADO NATURAL y es la razon principal por la que Thymeleaf desplazo a JSP en el ecosistema Spring. Vale la pena demostrarla en vivo: abra el .html con doble clic.
SIGLA: LTS (Long Term Support), soporte a largo plazo. Java 21 es una version LTS, lo que significa parches de seguridad durante anos. Elegir LTS en un proyecto institucional no es preferencia, es prudencia.
NOTA DE VERSIONES: Spring Boot 4.1 exige Java 17 como minimo. El curso fija Java 21 LTS. Recuerde al grupo que las versiones deben quedar declaradas en el pom.xml y en el README.md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 DE ESTA DIAPOSITIVA: separa al estudiante que configura por prueba y error del que depura con criterio. Pidales que la fotografien.
GLOSARIO COMPLETO DE LA PANTALLA:
- URI (Uniform Resource Identifier): identificador uniforme de recurso. Es el termino general; una URL es una URI que ademas indica como localizar el recurso. En REST se habla de URI.
- Cabeceras (headers): pares nombre-valor que acompanan a la peticion y a la respuesta con metadatos: tipo de contenido, credenciales, idioma preferido, control de cache.
- Filtro / middleware: pieza que intercepta la peticion antes y despues del controlador. Spring los llama filtros; ASP.NET Core y Laravel, middleware. Mismo concepto.
- CORS (Cross-Origin Resource Sharing): mecanismo por el que un servidor autoriza que una pagina servida desde OTRO origen lea sus respuestas. Se vera en detalle en el bloque 4.4.
- DispatcherServlet: el unico servlet de entrada en Spring MVC. Implementa el patron Front Controller catalogado por Fowler en 2002: toda peticion pasa por un mismo punto que despacha al destino adecuado. Laravel hace lo mismo con public/index.php.
- HandlerMapping: componente que decide QUE metodo atiende una ruta. Si falla se obtiene 404 aunque el metodo exista, normalmente por un prefijo mal escrito.
- Enlace de datos (data binding): conversion del texto plano de HTTP a objetos tipados. HTTP transporta cadenas; Java necesita enteros, fechas y objetos.
- Repositorio: objeto que encapsula el acceso a la coleccion de entidades. Con Spring Data basta declarar una interfaz; el framework genera la implementacion.
- Resolvedor de vistas (ViewResolver): traduce el nombre logico devuelto por el controlador a un archivo concreto de plantilla.
CODIGOS DE ESTADO QUE SE MENCIONAN:
- 401 Unauthorized: no hay credenciales validas. Pese al nombre, significa 'no autenticado'.
- 403 Forbidden: hay credenciales validas pero no permisos suficientes.
- 404 Not Found: no existe recurso en esa ruta.
- 500 Internal Server Error: fallo no controlado del servidor.
DEMOSTRACION EN VIVO MUY RECOMENDABLE: active el registro en modo DEBUG, haga una peticion a una ruta valida y otra a una inexistente, y muestre en el log la diferencia. Cinco minutos que ahorran semanas de consultas.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ENFOQUE PEDAGOGICO: presentar solo virtudes es mala ingenieria. Este es el momento de ensenar a decidir, no a obedecer.
TERMINOS DE LAS TARJETAS:
- Testabilidad: facilidad para verificar el codigo de forma automatica. Si para probar una regla hay que levantar servidor y base de datos, la prueba sera lenta y nadie la ejecutara.
- JSON (JavaScript Object Notation): formato de intercambio de datos basado en texto, compacto y legible. Desplazo a XML por tamano y por convertirse a estructuras nativas con una sola llamada.
- Inyeccion de dependencias: tecnica por la que un objeto no construye sus colaboradores sino que los recibe ya construidos. El framework arma el grafo. Es lo que permite sustituir un repositorio real por uno simulado en las pruebas.
- Modelo anemico: termino de Martin Fowler para entidades sin comportamiento, meros contenedores de atributos, con toda la logica en servicios. Parece orientacion a objetos y es programacion procedimental.
TERMINOS DE LA TABLA:
- SEO (Search Engine Optimization): optimizacion para buscadores. Importa porque un buscador indexa mas facilmente el HTML que llega ya construido desde el servidor.
- SPA (Single Page Application): aplicacion de pagina unica. El navegador carga una vez el armazon y despues solo intercambia datos; la navegacion no recarga la pagina.
- Renderizado en servidor (SSR, Server-Side Rendering): tecnica que genera el HTML inicial en el servidor aunque despues la aplicacion siga funcionando como SPA. Resuelve el problema de SEO de las SPA.
- 'Terceros' significa otras organizaciones que consumen su API. Si existen, el MVC del lado del servidor no sirve: habria que duplicar la logica.
PREGUNTA PARA EL GRUPO: ¿en que fila cae BiblioUTEQ? Respuesta esperada: en varias a la vez, y por eso el ADR-004 del curso adopta API REST con cliente Angular MAS un modulo administrativo con Thymeleaf.
- ADR (Architecture Decision Record): registro de decision arquitectonica. Documento breve con contexto, decision, consecuencias y estado. Formato propuesto por Michael Nygard.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este es el primer ejercicio grande. Ocupa de 6 a 8 horas de trabajo autonomo y se entrega antes del bloque 4.2.
SIGLAS Y TERMINOS DE LA PANTALLA:
- CRUD: acronimo de Create, Read, Update, Delete; las cuatro operaciones basicas sobre una entidad. Se pronuncia 'crud'.
- Paginacion: devolver los resultados en bloques en lugar de todos a la vez. Sin ella, una tabla de cien mil filas tumba la pantalla y la memoria del servidor.
- Baja logica frente a baja fisica: la logica marca el registro como inactivo y lo conserva; la fisica ejecuta DELETE y lo borra. En sistemas institucionales casi siempre se exige la logica, por trazabilidad y por auditoria.
- DTO (Data Transfer Object): objeto de transferencia de datos. Existe para llevar informacion entre capas con la forma exacta que esa capa necesita. Validar sobre el DTO y no sobre la entidad evita que las anotaciones de formulario contaminen el dominio.
- Post/Redirect/Get (PRG): patron que responde a un POST exitoso con una redireccion, de modo que el navegador haga despues un GET. Evita que al pulsar F5 se reenvie el formulario y se dupliquen registros. Se relaciona con que POST no es idempotente, concepto que se vera en el bloque 4.3.
- 'Nombres del dominio': registrarCategoria y desactivarCategoria, no guardar ni update. El vocabulario del codigo debe ser el del negocio; esto se llama lenguaje ubicuo.
SOBRE LA ESTRUCTURA DE ARCHIVOS: senale que hay cuatro paquetes con responsabilidades distintas. dominio contiene entidad y repositorio; aplicacion contiene el servicio; web contiene controlador y DTO; templates contiene la vista. Si un archivo no encuentra su carpeta, probablemente la responsabilidad esta mal asignada.
CRITERIOS DE PISO: explique que 'piso' significa condicion cuyo incumplimiento implica calificacion CERO, con independencia de la calidad del resto. No es una amenaza: es transparencia. Leales los dos en voz alta y pida que los anoten.
- README.md: archivo en formato Markdown en la raiz del repositorio con las instrucciones de compilacion y ejecucion. Es el primer archivo que abre un evaluador y el primero que abre un empleador.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PROPOSITO: esta es la diapositiva que hay que dejar proyectada mientras se programa el ejercicio 4.A. Convierte la lista abstracta de ocho etapas en un mapa de componentes con nombre propio.
RECORRIDO GUIADO, siguiendo la numeracion:
1. El NAVEGADOR construye la peticion: metodo, URI, cabeceras y, si la hay, cuerpo. Aqui no interviene Spring.
2. El DISPATCHERSERVLET recibe absolutamente todas las peticiones. Es la implementacion que Spring hace del patron Front Controller, catalogado por Martin Fowler en 2002. Servlet es el componente estandar de Java que atiende peticiones HTTP; 'dispatcher' significa despachador, porque su trabajo es repartir. Laravel hace lo mismo con public/index.php y ASP.NET Core con su tuberia de middleware: cambian los nombres, no la estructura.
3. El HANDLERMAPPING busca que metodo de que clase atiende esa ruta, cotejando las anotaciones @RequestMapping y @GetMapping. Si falla aqui se obtiene 404 aunque el metodo exista, casi siempre por un prefijo mal escrito. Existe ademas un HandlerAdapter que se encarga de invocar el metodo con los argumentos correctos; se omite del diagrama para no recargarlo, pero conviene mencionarlo.
4. El @CONTROLLER convierte parametros y delega. Cuatro tareas y ninguna mas: recibir, convertir, delegar, decidir la respuesta.
5. El @SERVICE alberga las reglas de negocio. La anotacion @Transactional delimita la transaccion: o se confirman todos los cambios o no se confirma ninguno. Es la garantia de que no quede un prestamo registrado con el ejemplar todavia marcado como disponible.
6. El @REPOSITORY encapsula el acceso a datos. Con Spring Data JPA basta declarar una INTERFAZ: el framework genera la implementacion en tiempo de arranque analizando el nombre de los metodos. findByIsbn se traduce solo a la consulta correspondiente.
7. POSTGRESQL ejecuta la sentencia. Es el gestor de base de datos relacional fijado para el PFC, version 16.
SOBRE LA FORMA DEL DIAGRAMA: la primera fila va de izquierda a derecha y la segunda de derecha a izquierda. Ese recorrido en zigzag se llama serpentina y se usa para que quepa un flujo largo sin cruzar flechas. Adviertalo, porque algun estudiante leera la segunda fila al reves.
SOBRE EL CAMINO DE VUELTA:
- 'Nombre logico' significa que el controlador devuelve la cadena "categorias/lista" y no una ruta de archivo. El VIEWRESOLVER, resolvedor de vistas, la traduce por configuracion a src/main/resources/templates/categorias/lista.html. Esa indireccion es lo que permite cambiar de motor de plantillas sin tocar el controlador.
- Si en cambio la clase estuviera anotada como @RestController, no habria ViewResolver ni plantilla: el objeto retornado se convertiria a JSON y se escribiria directamente en el cuerpo. Ese es el camino que se vera en el bloque 4.3.
IDEA DEL REMATE, que conviene subrayar: de las siete cajas, el estudiante escribe tres y la plantilla. Las otras cuatro las aporta el framework. Eso es una ventaja enorme y a la vez el motivo por el que depurar exige conocer el circuito: cuando algo falla en una caja que usted no escribio, solo puede localizarlo si sabe que existe.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PROPOSITO: responder a la pregunta que todos hacen al abrir un proyecto vacio: '¿por donde empiezo?'.
EL PRINCIPIO QUE ORDENA LOS SEIS PASOS es 'de adentro hacia afuera'. Se construye primero lo que no depende de nada —el dominio— y al final lo que depende de todo —la pantalla—. Quien empieza por la pantalla acaba metiendo las reglas en el controlador, porque es el unico sitio que existe todavia. Esa es literalmente la causa del defecto que penaliza la rubrica.
DETALLE DE CADA PASO:
1. start.spring.io es Spring Initializr, el generador oficial de esqueletos. Tambien esta integrado en IntelliJ IDEA Ultimate mediante Archivo, Nuevo, Proyecto, Spring Initializr.
   - Maven: herramienta de construccion y gestion de dependencias de Java. El archivo pom.xml declara que bibliotecas usa el proyecto y con que version.
   - DevTools: modulo que reinicia la aplicacion automaticamente al detectar cambios. Comodo en desarrollo; debe excluirse del empaquetado de produccion.
2. Flyway es la herramienta de migraciones: cada cambio del esquema es un archivo SQL numerado y versionado en el repositorio.
   - ddl-auto es la propiedad de Hibernate que le permite crear o alterar tablas por su cuenta. Con el valor 'update' parece magia y es una trampa: nadie sabe que ejecuto, no hay historial y no se puede reconstruir la base en otra maquina. En el PFC se exige 'validate', que solo comprueba que el esquema coincide con las entidades.
   - Convencion de nombres de Flyway: V, numero de version, dos guiones bajos, descripcion, .sql.
3. Modelar el dominio: entidades con @Entity y las interfaces de repositorio. Nada de anotaciones de formulario aqui; esa es la contaminacion que se evita con el DTO del paso 5.
4. El servicio es donde viven las reglas. Detalle pedagogico importante: las pruebas se escriben EN ESTE PASO, no al final. Un servicio con sus pruebas se puede verificar en segundos sin navegador ni base de datos.
   - JUnit 5: marco de pruebas unitarias de Java. Mockito: biblioteca para sustituir dependencias por dobles simulados, de modo que se pruebe el servicio sin repositorio real.
5. El controlador se anade cuando ya hay algo que exponer.
   - DTO de formulario: objeto con exactamente los campos del formulario y sus anotaciones de validacion.
   - @Valid activa esa validacion; sin esa anotacion las reglas declaradas no hacen nada, y es un olvido muy frecuente.
   - Post/Redirect/Get: tras un alta exitosa se responde con redireccion, para que al pulsar F5 no se reenvie el formulario.
6. La vista al final.
   - Fragmento de Thymeleaf: porcion reutilizable de plantilla, por ejemplo la cabecera o el menu, que se declara con th:fragment y se inserta con th:replace. Evita repetir el mismo HTML en diez archivos.
   - MockMvc ejecuta peticiones contra el controlador sin levantar servidor. El 302 es el codigo de redireccion que confirma que el patron Post/Redirect/Get quedo bien implementado.
SOBRE LAS DEPENDENCIAS: los artefactos que empiezan por spring-boot-starter son agrupadores. Uno solo arrastra decenas de bibliotecas ya probadas entre si; esa curaduria de versiones compatibles es buena parte del valor de Spring Boot. El 'scope test' significa que esa dependencia se usa al compilar y ejecutar pruebas, pero no se empaqueta en el artefacto final.
SOBRE LA ESTRUCTURA DE PAQUETES: tres paquetes con responsabilidades distintas, mas las plantillas. Regla practica que conviene dar: si un archivo nuevo no encuentra con claridad su carpeta, probablemente la responsabilidad esta mal asignada. Es un buen detector temprano de diseno confuso.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Anuncie el cambio de registro: de conceptos a herramientas.
POR QUE LARAVEL Y NO SOLO SPRING: dos razones que conviene decir explicitamente.
Primera, laboral: Laravel es el framework que un egresado encontrara con mayor probabilidad en la pequena y mediana empresa ecuatoriana, porque PHP domina el hospedaje economico.
Segunda, didactica: resuelve los mismos problemas con decisiones de diseno casi opuestas a las de Spring. Comparar dos encarnaciones distintas permite distinguir lo que es esencial al patron de lo que solo es idiosincrasia de una herramienta.
ADVERTENCIA: algun estudiante preguntara si 'hay que aprender los dos'. La respuesta honesta es que hay que aprender el patron; los frameworks se aprenden en una semana cuando el patron esta claro.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PRINCIPAL: la eleccion de framework condiciona un proyecto durante anos y debe ser razonada, no heredada del ultimo video que alguien vio.
SIGLAS DE LA TABLA:
- JPA (Jakarta Persistence API): especificacion estandar de Java para mapeo objeto-relacional. Spring Data JPA anade encima la generacion automatica de repositorios.
- Eloquent: el ORM de Laravel. Sigue el patron Active Record.
- EF Core (Entity Framework Core): el ORM de Microsoft para .NET.
- DTL (Django Template Language): motor de plantillas propio de Django.
- Prisma y TypeORM: dos ORM habituales del ecosistema Node.js. Node.js es un entorno que ejecuta JavaScript fuera del navegador.
- Razor, Blade, Thymeleaf: los tres son motores de plantillas; la idea es la misma, cambia la sintaxis.
DOS OBSERVACIONES QUE CONVIENE DECIR EN VOZ ALTA:
1. Express no impone estructura. Quien lo elige asume la responsabilidad de definir y hacer cumplir la separacion de capas. En equipos sin experiencia esto degenera en carpetas llamadas models, views y controllers que no separan nada.
2. Spring y Laravel encarnan filosofias opuestas de acceso a datos, y eso se ve en una linea: en Laravel se escribe $libro-&gt;save(); en Spring, repositorio.save(libro). Quien guarda al objeto es distinto, y esa diferencia tiene consecuencias que se explican en la diapositiva siguiente.
SOBRE LOS CUATRO CRITERIOS: el quinto criterio, muchas veces decisivo en el sector publico ecuatoriano, es la compatibilidad con la infraestructura ya contratada. Un ministerio con licencias de SQL Server y servidores Windows dificilmente aprobara una propuesta en otra pila, por buena que sea tecnicamente.
ACTIVIDAD SUGERIDA (25 minutos): matriz de decision ponderada para un sistema de matricula en linea de una unidad educativa fiscal de Quevedo. Pesos que sumen 100, calificacion de 1 a 5, puntaje ponderado y un parrafo justificando los pesos. Lo evaluable es la justificacion de los pesos, no el ganador.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CLAVE: no hay un ganador. Hay un intercambio, y la ingenieria consiste en elegir con criterio y dejar constancia.
DE DONDE VIENEN LOS NOMBRES: ambos patrones estan catalogados por Martin Fowler en 'Patterns of Enterprise Application Architecture' (2002). No son invenciones de Laravel ni de Hibernate; son categorias previas que esas herramientas implementan.
EXPLICACION DE ACTIVE RECORD: el objeto de dominio 'sabe guardarse'. Un registro de la tabla y un objeto del programa son la misma cosa activa. La ventaja es evidente en velocidad de desarrollo. El costo aparece al escribir pruebas: si la entidad hereda de una clase que habla con la base, probar la regla de negocio exige una base de datos disponible.
EXPLICACION DE DATA MAPPER: existe una capa intermedia, el mapeador, que conoce ambos mundos y los traduce. La entidad es una clase Java corriente, sin dependencias de infraestructura. Esto permite probarla en milisegundos y respeta el principio de inversion de dependencias, la D de SOLID, visto en la Unidad III.
SIGLAS ADICIONALES:
- Doctrine: el ORM de tipo Data Mapper habitual en PHP, usado por Symfony. Se menciona para que no se asocie PHP unicamente con Active Record.
- SOLID: acronimo de cinco principios de diseno orientado a objetos formulados por Robert C. Martin. La D es Dependency Inversion Principle.
POR QUE SE PENALIZA MEZCLAR: si en el mismo proyecto unas entidades se guardan solas y otras necesitan repositorio, nadie sabe que esperar al abrir una clase nueva. La coherencia interna vale mas que la superioridad teorica de un enfoque.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ESTA DIAPOSITIVA EXISTE: es la causa numero uno de tardes perdidas. El estudiante busca 'registrar middleware en Laravel', encuentra decenas de resultados que le dicen editar app/Http/Kernel.php, crea el archivo a mano, no ocurre nada, y culpa al framework.
QUE CAMBIO EXACTAMENTE EN LARAVEL 11 (2024):
- Desaparecieron las clases Kernel. El registro de middleware, el manejo de excepciones y la carga de rutas se declaran ahora en bootstrap/app.php mediante el constructor fluido Application::configure().
- La carpeta app/Http/Middleware/ no viene creada; aparece solo cuando se genera un middleware propio con artisan.
- routes/api.php NO forma parte de la instalacion por defecto. Hay que pedirlo con 'php artisan install:api', orden que ademas incorpora Sanctum y publica la migracion de testigos de acceso.
- La propiedad $casts se sustituyo por el metodo casts().
GLOSARIO:
- artisan: la herramienta de linea de ordenes de Laravel. Genera controladores, modelos, migraciones y ejecuta tareas de mantenimiento.
- Middleware: capa que envuelve la peticion; puede inspeccionarla, modificarla o rechazarla antes de que llegue al controlador. Autenticacion, CORS y limitacion de frecuencia se implementan asi.
- Sanctum: paquete oficial de Laravel para autenticacion de APIs mediante testigos.
- Seeder: clase que inserta datos de prueba. Distinto de una migracion, que define el ESQUEMA.
- 'Unico punto de entrada': todas las peticiones pasan por public/index.php. Es el Front Controller de Laravel, equivalente al DispatcherServlet de Spring.
- Casting o conversion de atributos: declarar que una columna de la base se convierte a un tipo concreto del lenguaje, por ejemplo texto a fecha o entero a booleano.
CONSEJO PARA EL GRUPO: antes de seguir cualquier tutorial, comprobar la version a la que corresponde. La fecha del articulo no basta; hay contenido reciente escrito sobre proyectos antiguos.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LOS TRES BLOQUES DE CODIGO:
1) Route::resource declara de una vez las siete rutas convencionales de un recurso: index, create, store, show, edit, update y destroy. Verifiquelo en clase con 'php artisan route:list'. Pida que identifiquen cuales son idempotentes.
- El metodo name() que no aparece aqui pero conviene mencionar asigna un identificador logico a la ruta, de modo que se genere la URL con route('libros.index') en lugar de escribirla a mano. Asi un cambio de patron no obliga a buscar y reemplazar en decenas de plantillas.
2) El modelo Eloquent hereda de Model y, por convencion, se corresponde con una tabla cuyo nombre es el plural en minusculas del nombre de la clase: Libro con libros.
- Asignacion masiva (mass assignment): asignar de golpe todos los campos recibidos del formulario a los atributos del objeto. Comoda y peligrosa.
- $fillable declara la lista blanca de atributos permitidos. Su complemento es $guarded, la lista negra. Un modelo sin ninguno de los dos es un defecto de seguridad y asi se califica en la rubrica.
3) FormRequest concentra las reglas de validacion en una clase aparte.
- 'required' obliga a que el campo venga; 'size:17' fija longitud exacta; 'unique:libros' consulta la tabla para verificar que no exista; 'exists:categorias,id' hace lo contrario, exige que el valor exista.
- ISBN (International Standard Book Number): identificador internacional de un libro. Con guiones ocupa 17 caracteres; de ahi el size:17.
SIGLAS DEL RECUADRO ROJO:
- OWASP (Open Worldwide Application Security Project): fundacion sin animo de lucro que publica material de referencia sobre seguridad de aplicaciones. Su Top 10 es el catalogo de riesgos mas citado del sector.
- Broken Object Property Level Authorization: autorizacion rota a nivel de propiedad del objeto. Nombre tecnico del riesgo de permitir que el cliente escriba campos que no le corresponden.
DEMOSTRACION MUY RECOMENDABLE: en un proyecto de laboratorio, quite $fillable, anada con las herramientas del navegador un campo oculto al formulario y muestre como se escribe en la base. Cinco minutos que se recuerdan todo el semestre.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MERECE UNA DIAPOSITIVA ENTERA: porque no se manifiesta en desarrollo. Con veinte registros de prueba todo va rapido; con datos reales la pantalla tarda ocho segundos y nadie sabe por que.
EXPLICACION DEL NOMBRE: se llama problema N+1 porque se ejecuta 1 consulta para obtener la lista principal y despues N consultas adicionales, una por cada elemento, para resolver la relacion. Con N igual a 200 son 201 viajes a la base de datos.
TERMINOS:
- Carga perezosa (lazy loading): la relacion no se trae hasta que alguien la pide. Es el comportamiento por defecto de Eloquent y de JPA para colecciones. Ahorra memoria y genera este problema.
- Carga anticipada (eager loading): traer la relacion en la misma consulta o en una segunda consulta agrupada. En Laravel es with(); en Spring Data se logra con @EntityGraph o con una consulta JPQL que use JOIN FETCH.
- JPQL (Jakarta Persistence Query Language): lenguaje de consulta de JPA que opera sobre entidades y no sobre tablas.
- spring.jpa.open-in-view: propiedad de Spring Boot que mantiene abierta la sesion de persistencia durante el renderizado de la vista. Viene activada por defecto y enmascara el problema; ponerla en false hace que el fallo aparezca en desarrollo, que es donde debe aparecer.
COMO DEMOSTRARLO EN CLASE: active el registro de sentencias SQL con spring.jpa.show-sql=true o, en Laravel, con Laravel Debugbar, y muestre el contador de consultas antes y despues del with(). El impacto visual del contador pasando de 201 a 2 es mas persuasivo que cualquier explicacion.
CONEXION CON LA UNIDAD III: este tema se trato al estudiar ORM. Aqui reaparece porque la vista es donde suele detonar. Es un buen momento para recordar que las unidades no son compartimentos.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Marque el cambio de destinatario: hasta aqui la aplicacion conversaba con un ser humano a traves de un navegador. Ahora la conversacion es entre programas.
POR QUE ESA DIFERENCIA LO CAMBIA TODO: un humano tolera ambiguedad, interpreta una pantalla mal alineada y reintenta cuando algo falla. Un programa no. Necesita contratos explicitos, formatos predecibles y errores que pueda distinguir sin leer prosa.
ESTE ES EL BLOQUE MAS DENSO DE LA UNIDAD y el que mas peso tiene en la evaluacion parcial del segundo corte. Concede el tiempo que necesite.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HISTORICO BREVE: entre 1999 y 2007 SOAP fue sinonimo de servicio web. Cuando Amazon publico en 2006 dos interfaces equivalentes, una SOAP y otra sencilla sobre HTTP, la abrumadora mayoria del trafico se fue a la segunda. La web eligio la simplicidad; la empresa conservo SOAP donde importaban las garantias formales.
SIGLAS, UNA POR UNA:
- SOAP: originalmente Simple Object Access Protocol. Hoy la especificacion del W3C ya no expande el acronimo, porque de simple tenia poco. Version vigente: 1.2, Recomendacion del W3C de abril de 2007.
- W3C (World Wide Web Consortium): organismo que estandariza las tecnologias de la web. HTML, CSS, SOAP y WSDL son suyos. Las RFC, en cambio, son del IETF.
- XML (eXtensible Markup Language): lenguaje de marcado extensible. Autodescriptivo y validable contra un esquema, pero costoso en tamano y en tiempo de analisis.
- WSDL (Web Services Description Language): documento XML que describe el contrato del servicio: que operaciones ofrece, que datos espera y que devuelve. Es procesable por herramientas, lo que permite generar el codigo cliente automaticamente. Version 2.0, W3C, junio de 2007.
- UDDI (Universal Description, Discovery and Integration): registro para descubrir servicios. Practicamente en desuso; se menciona por completitud historica.
- SMTP (Simple Mail Transfer Protocol): protocolo de correo. Que SOAP pueda viajar sobre correo ilustra que no depende de HTTP.
- JMS (Java Message Service): API de mensajeria de Java.
- Fault: elemento del cuerpo SOAP que transporta el error. A diferencia de REST, el codigo HTTP puede seguir siendo 200 aunque la operacion haya fallado.
- WS-AtomicTransaction: especificacion de la familia WS-* para transacciones distribuidas, es decir, operaciones que abarcan varios sistemas y deben confirmarse o deshacerse en conjunto.
- OpenAPI: especificacion para describir interfaces HTTP. Antes se llamaba Swagger. Version vigente 3.2, publicada en septiembre de 2025 por la OpenAPI Initiative, bajo la Linux Foundation.
- Microservicio: estilo en el que un sistema se despliega como un conjunto de servicios pequenos e independientes, cada uno con su propia base de datos.
MATIZ IMPORTANTE QUE LA TABLA NO PUEDE EXPRESAR: SOAP y REST no compiten en el mismo terreno. El primero es un protocolo con garantias formales; el segundo, un conjunto de restricciones sobre como usar un protocolo que ya existe.
DATO LOCAL: mencione el SRI. Un egresado que trabaje en facturacion electronica se encontrara con un WSDL mas pronto que tarde, y conviene que no sea la primera vez que oye la palabra.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ORIGEN: Roy Fielding, tesis doctoral, Universidad de California en Irvine, 2000. Desarrollada con Richard Taylor en un articulo de ACM Transactions on Internet Technology en 2002 que sigue siendo la referencia obligada. Fielding es ademas coautor de las especificaciones de HTTP.
DATO QUE SE PREGUNTA EN EXAMEN: son SEIS restricciones, de las cuales CINCO son obligatorias y UNA, la sexta, es opcional. Repitalo.
ACLARACION DE CADA RESTRICCION:
1. Cliente-servidor: permite que ambos evolucionen por separado. Se puede rehacer la interfaz sin tocar el servidor.
2. Sin estado (stateless): la mas discutida, porque choca con la practica de guardar la sesion del usuario en memoria del servidor. La consecuencia operativa es directa: si el servidor no guarda sesion, cualquier instancia puede atender cualquier peticion, y escalar horizontalmente se vuelve trivial.
   - Escalar horizontalmente: anadir mas maquinas. Escalar verticalmente: poner una maquina mas grande. Lo primero es mas barato y tiene menos techo.
3. Cacheable: mediante cabeceras como Cache-Control y ETag. Una respuesta que puede reutilizarse evita un viaje completo a la base de datos.
4. Interfaz uniforme: es la restriccion compuesta. Sus cuatro sub-restricciones son identificacion de recursos por URI, manipulacion mediante representaciones, mensajes autodescriptivos e hipermedia como motor del estado de la aplicacion.
   - 'Representacion' es una forma concreta del recurso: el mismo libro puede representarse en JSON, en XML o en HTML. El recurso es abstracto; lo que viaja es una representacion.
   - Hipermedia: que la respuesta incluya los enlaces a las acciones posibles, igual que una pagina web incluye sus enlaces. Se abrevia HATEOAS.
5. Sistema en capas: hace posible interponer balanceadores, cachés y pasarelas sin que el cliente se entere.
6. Codigo bajo demanda: el ejemplo canonico es el propio JavaScript que el navegador descarga y ejecuta.
SOBRE EL REMATE:
- Testigo (token): cadena que acredita la identidad del portador. El formato mas usado es JWT, que se vera en dos diapositivas.
- Cookie de sesion: identificador que el navegador reenvia y que el servidor usa para recuperar el contexto guardado. Rompe la restriccion de ausencia de estado.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DE LA ESCALA: es diagnostica. Permite decir 'a esta API le falta el nivel 2 porque usa POST para borrar' en lugar de calificarla vagamente como 'poco REST'.
QUIEN ES RICHARDSON: Leonard Richardson, coautor de libros sobre APIs REST. La escala se popularizo a traves de una charla y de la difusion posterior de Martin Fowler. No es un estandar normativo: es un modelo de analisis.
RECORRIDO POR LOS NIVELES:
- Nivel 0: se conoce como 'el pantano del POST plano'. Se usa HTTP como simple tunel de transporte; toda la semantica va en el cuerpo. Muchas integraciones heredadas viven aqui.
- Nivel 1: aparecen los recursos con URI propia, pero se sigue usando un unico verbo, casi siempre POST. Es el error mas comun en proyectos de estudiantes.
- Nivel 2: cada verbo HTTP significa lo que dice la norma y cada respuesta lleva su codigo de estado adecuado. Es el nivel que la industria considera suficiente.
- Nivel 3: HATEOAS (Hypermedia As The Engine Of Application State), hipermedia como motor del estado de la aplicacion. La respuesta incluye los enlaces a lo que se puede hacer a continuacion, de modo que el cliente no necesita conocer de antemano la estructura de URIs.
- Codigo 204 No Content: operacion exitosa que no devuelve cuerpo. Es la respuesta correcta a un DELETE.
SOBRE EL ESTUDIO CITADO: es un experimento controlado con 105 participantes, publicado en Empirical Software Engineering, revista de primer cuartil. Se cita por dos motivos. Primero, porque aporta evidencia empirica de algo que solele afirmarse por costumbre: que las convenciones de nomenclatura mejoran la comprensibilidad. Segundo, porque relativiza el debate sobre HATEOAS: si tres de cada cuatro profesionales que conocen la escala consideran suficiente el nivel 2, exigir el nivel 3 en un curso introductorio seria desproporcionado.
HONESTIDAD ACADEMICA: diga al grupo que puede discrepar del consenso, pero que debe conocerlo y citarlo. La discrepancia informada es valiosa; la ignorancia con opinion, no.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esta distincion aparece en el examen parcial del segundo corte todos los periodos. Dedique tiempo.
FUENTE NORMATIVA: RFC 9110, HTTP Semantics, junio de 2022. Es STD 97, es decir, Estandar de Internet. Sus editores son Roy Fielding, Mark Nottingham y Julian Reschke. Obsoleto a la RFC 7231 y a otras siete. Cuando alguien discuta que significa PUT, esta es la fuente que zanja la discusion.
COMO EXPLICAR CADA VERBO:
- GET recupera y no debe tener efectos secundarios. Un GET que borra algo es un defecto grave: los buscadores y los aceleradores de navegador siguen enlaces automaticamente.
- POST crea un recurso subordinado a la URI indicada. Por eso se envia a /libros y no a /libros/42.
- La cabecera Location de la respuesta 201 indica DONDE quedo el recurso creado. Omitirla es incumplir la norma y obliga al cliente a adivinar.
- PUT reemplaza el recurso completo. Si se envia un objeto con un campo menos, ese campo debe quedar vacio. Quien quiera modificar solo un campo debe usar PATCH.
- PATCH no es idempotente en general porque su cuerpo puede describir una operacion relativa, por ejemplo 'incrementa en uno'.
- HEAD devuelve solo las cabeceras. Sirve para comprobar si un recurso existe o si cambio, sin descargarlo.
- OPTIONS, que no cabe en la tabla, consulta que metodos admite un recurso; el navegador lo usa en la peticion previa de CORS.
CLAVE DE IDEMPOTENCIA: cabecera que el cliente envia con un identificador unico de la operacion; el servidor la almacena y descarta repeticiones. Es la proteccion estandar cuando hay que reintentar un POST, por ejemplo en pagos. Sin ella, si el servidor proceso la peticion pero la respuesta se perdio en la red, el reintento crea un segundo cobro.
EJERCICIO RAPIDO DE PIZARRA: pregunte si 'renovar un prestamo' debe ser POST, PUT o PATCH, y por que. No hay una unica respuesta correcta; lo evaluable es el argumento.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la RFC 9457 sustituyo en julio de 2023 a la RFC 7807, que databa de 2016. Autores: Mark Nottingham, Erik Wilde y Sanjay Dalal. Es via de estandar del IETF.
POR QUE IMPORTA: devolver un 400 con el cuerpo 'error' obliga al cliente a adivinar. Un formato normalizado permite que el cliente distinga por codigo que ocurrio y reaccione en consecuencia, sin analizar prosa en espanol.
LOS CINCO CAMPOS, CON SU PAPEL EXACTO:
- type: URI que identifica el TIPO de problema. No tiene por que ser accesible por navegador, aunque es buena practica que lo sea y documente el error. Es el campo que el cliente compara.
- title: resumen breve y legible. Debe ser estable: si cambia entre ocurrencias, deja de servir para agrupar.
- status: el mismo codigo HTTP de la respuesta, repetido en el cuerpo para conveniencia de intermediarios.
- detail: descripcion de ESTA ocurrencia concreta. Aqui si van los datos particulares.
- instance: URI de la ocurrencia, util para correlacionar con los registros del servidor.
TIPO DE MEDIO: application/problem+json. El sufijo +json indica que la estructura es JSON aunque el tipo sea especifico. Existe tambien application/problem+xml.
SOBRE EL CODIGO 409 CONFLICT: se elige porque la peticion es sintacticamente valida y el usuario existe; lo que falla es una regla de estado del recurso. Un 400 Bad Request seria incorrecto: los datos no estan mal formados. Discuta esta eleccion con el grupo, porque es exactamente el tipo de decision que separa una API pensada de una improvisada.
OTROS CODIGOS UTILES EN ESTE CONTEXTO:
- 422 Unprocessable Content: la peticion esta bien formada pero es semanticamente incorrecta.
- 429 Too Many Requests: se supero el limite de frecuencia.
ANTIPATRON QUE HAY QUE NOMBRAR: responder siempre 200 con un campo booleano de exito en el cuerpo. Rompe la cache, confunde a los intermediarios, invalida el monitoreo basado en codigos de estado y obliga a cada cliente a inventar su propia logica. En la rubrica de la unidad, una API que responde 200 ante un error recibe calificacion CERO.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HILO DE LA DIAPOSITIVA: con el vocabulario ya asentado, la implementacion resulta breve. Eso es deliberado: lo dificil de una API no es escribirla, es diseniarla.
ANOTACIONES QUE APARECEN:
- @RestController: combina @Controller y @ResponseBody. La consecuencia practica es la del remate: el valor retornado se convierte a JSON y se escribe en el cuerpo, en lugar de interpretarse como nombre de plantilla.
- @PathVariable: extrae un segmento variable de la ruta. En /libros/42, el 42 llega como parametro id.
- @RequestBody, que aparece en la diapositiva de creacion, hace lo inverso: convierte el JSON recibido en un objeto.
- @Valid activa la validacion de las anotaciones declaradas en el DTO. Sin @Valid, las anotaciones no hacen nada; es un olvido muy frecuente.
ANOTACIONES DE VALIDACION (pertenecen a Jakarta Validation, especificacion estandar de Java):
- @NotBlank: no nulo y con al menos un caracter no blanco. Distinto de @NotNull, que solo exige que no sea nulo, y de @NotEmpty, que admite espacios.
- @Size(min, max): longitud de la cadena o tamano de la coleccion.
- @Min y @Max: cotas para valores numericos.
SOBRE record: tipo introducido en Java 16 para clases inmutables portadoras de datos. En una linea declara los campos, el constructor, los accesores, equals, hashCode y toString. Es la forma idiomatica de escribir un DTO en Java 21.
POR QUE NO EXPONER ENTIDADES, EN DETALLE:
- Acoplamiento: cualquier cambio en el esquema de la base se convierte en un cambio incompatible del contrato publico.
- Relaciones perezosas: al serializar, el conversor intenta leer una relacion no cargada y falla, o peor, arrastra media base de datos en la respuesta.
- Fuga de datos: campos como la contrasena cifrada o las marcas internas de auditoria salen sin que nadie lo advierta.
- Serializar: convertir un objeto en memoria a un formato transmisible, aqui JSON. La operacion inversa es deserializar.
VERSION: /api/v1/ en el primer segmento. Versionar desde el primer dia cuesta nada; anadirlo despues obliga a coordinar con todos los clientes.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TEMAS EN UNA DIAPOSITIVA porque ambos son requisitos de la entrega y ninguno da para media hora.
SOBRE OPENAPI:
- springdoc es la biblioteca que genera la especificacion OpenAPI a partir del codigo, examinando la aplicacion en tiempo de ejecucion, y publica ademas una interfaz interactiva.
- La correspondencia de versiones es estricta y sin mensaje de error claro. Es la causa numero uno de fallos al integrar la documentacion. La version 3.0.3, de abril de 2026, se compila contra Spring Boot 4.0.5.
- /v3/api-docs es la ruta donde queda publicada la especificacion en JSON; la interfaz interactiva suele quedar en /swagger-ui/index.html.
- Swagger fue el nombre original de la especificacion antes de donarse a la Linux Foundation en 2015; hoy Swagger designa a las herramientas y OpenAPI a la especificacion.
- La generacion automatica cubre rutas, verbos y esquemas, pero NO las descripciones ni los ejemplos. Eso sigue siendo responsabilidad de quien programa, mediante @Operation y @ApiResponse.
- Exija exportar el documento a docs/api/openapi.json y versionarlo: solo asi se detecta en revision de codigo que un cambio rompio el contrato.
SOBRE JWT:
- JWT (JSON Web Token), RFC 7519, mayo de 2015. Autores: Michael Jones, John Bradley y Nat Sakimura.
- Base64URL es una codificacion, no un cifrado. Convierte binario en texto seguro para URLs. Se decodifica sin clave. Demuestrelo en clase pegando un testigo en jwt.io.
- 'Carga' o payload contiene las afirmaciones o claims: sujeto, emisor, fecha de emision, expiracion y los roles.
- Ataque de algoritmo none: el atacante modifica la cabecera del testigo declarando que no lleva firma. Si la biblioteca confia en ese campo, acepta un testigo falsificado. La defensa es fijar el algoritmo esperado en la validacion.
- localStorage es un almacen del navegador accesible desde JavaScript. Si la aplicacion sufre una inyeccion de scripts, el atacante lee el testigo. Una cookie con los atributos HttpOnly, Secure y SameSite es preferible: HttpOnly la oculta a JavaScript, Secure la restringe a HTTPS y SameSite limita el envio entre sitios.
- XSS (Cross-Site Scripting): inyeccion de scripts en una pagina. Es el vector que hace peligroso a localStorage.
LOS CUATRO FALLOS DEL RECUADRO figuran en el OWASP API Security Top 10:2023 y los cuatro comprometen el sistema por completo. Adviertalo antes de la entrega, no despues.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es el ejercicio de mayor peso antes del proyecto final y el que mejor prepara para la defensa.
TERMINOS DE LA TABLA:
- Paginacion, ordenamiento y filtro se expresan como parametros de consulta (query parameters), no como segmentos de ruta. Es una de las doce reglas de diseno de URI de la unidad.
- Recurso anidado: /libros/{id}/ejemplares expresa que los ejemplares pertenecen a ese libro. El anidamiento no debe pasar de dos niveles; tres ya es sintoma de mal modelado.
- 'Idempotencia verificable' significa que debe existir una prueba automatizada que ejecute el mismo PUT dos veces y compruebe que el estado final es identico.
TERMINOS DE LA LISTA INFERIOR:
- Manejador global unico: una sola clase anotada con @RestControllerAdvice concentra la traduccion de excepciones. Capturar excepciones dentro de cada metodo multiplica el codigo y produce respuestas inconsistentes.
- Rol: etiqueta que agrupa permisos. BIBLIOTECARIO puede escribir; un usuario anonimo solo puede leer. La autorizacion se verifica SIEMPRE en el servidor: ocultar un boton en el frontend no es una medida de seguridad.
- MockMvc: utilidad de Spring que ejecuta peticiones contra los controladores sin levantar un servidor real. Rapida y adecuada para pruebas de integracion de la capa web.
- Prueba de integracion: verifica que varias piezas funcionan juntas, a diferencia de la unitaria, que aisla una sola.
POR QUE OCHO CODIGOS DISTINTOS: porque obliga a recorrer todos los caminos de error, que es justo lo que los estudiantes omiten. Un conjunto de pruebas que solo cubre el camino feliz no demuestra nada.
NOTA SOBRE EVIDENCIA: probar a mano con Postman no constituye evidencia y no se acepta como tal en la rubrica. Se exige la coleccion versionada Y las pruebas automatizadas. La revision sistematica de Golmohammadi, Zhang y Arcuri en ACM TOSEM (2023), sobre 92 estudios, muestra ademas que una especificacion bien escrita habilita la generacion automatica de casos de prueba.
- TOSEM: ACM Transactions on Software Engineering and Methodology, revista de primer nivel del area.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Mensaje de entrada: publicar una interfaz es media tarea. La otra media es consumirla bien.
DONDE SE DETERIORAN LOS PROYECTOS, y conviene anunciarlo: peticiones sin control de errores, estados de carga que no se muestran, condiciones de carrera cuando el usuario escribe rapido en un buscador, y credenciales repetidas en cada llamada.
- Condicion de carrera (race condition): dos operaciones concurrentes cuyo resultado depende del orden en que terminen. En un buscador se manifiesta cuando la respuesta de una consulta antigua llega despues de la reciente y sobrescribe la pantalla con datos obsoletos.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PRESENTARLO: pida al grupo que prediga que imprime el codigo de la izquierda cuando el identificador no existe. La mayoria dira que lanza un error. No lo hace: intentara interpretar como libro un cuerpo de error, y el fallo aparecera varias capas mas arriba, donde ya nadie lo relaciona con la causa.
TERMINOS DE JAVASCRIPT:
- fetch: funcion nativa del navegador para hacer peticiones HTTP. Sustituyo a XMLHttpRequest. No necesita bibliotecas externas.
- Promesa (Promise): objeto que representa un resultado que estara disponible mas adelante. Puede resolverse o rechazarse.
- await: pausa la ejecucion hasta que la promesa se resuelva. Solo puede usarse dentro de una funcion async.
- La propiedad ok de la respuesta es verdadera cuando el codigo esta entre 200 y 299.
- AbortController: mecanismo estandar para cancelar una peticion en curso. Sin tiempo limite, una peticion puede quedar colgada indefinidamente y la interfaz mostrar un girador eterno.
- La cabecera Accept declara al servidor que formato prefiere el cliente. Forma parte de la negociacion de contenido.
- Excepcion tipada: clase de error propia, aqui ErrorApi, que transporta el objeto de problema completo. Permite que capas superiores decidan segun el codigo sin analizar cadenas de texto.
POR QUE fetch SE COMPORTA ASI: por diseno. Considera que la peticion HTTP se completo con exito: el servidor respondio. Que la respuesta sea un error es informacion de la aplicacion, no un fallo del transporte. La logica es defendible, pero contraintuitiva, y por eso hay que ensenarla explicitamente.
NOTA DE VERSION: en Angular 22 el HttpClient utiliza la API Fetch por defecto, en lugar de XMLHttpRequest. Es un cambio interno, pero conviene saberlo al depurar en la pestana de red del navegador.
EJERCICIO CORTO (15 minutos): consumir un identificador inexistente con ambas versiones y documentar en cinco renglones donde se manifiesta el error en cada caso.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PEDAGOGICA QUE CONVIENE EXPLICITAR: se ensena primero HttpClient con observables porque expone con claridad el ciclo de la peticion, y despues httpResource porque es lo que el estudiante encontrara en codigo nuevo. Quien empieza por la abstraccion no entiende que hay debajo.
GLOSARIO DE ANGULAR:
- Angular: framework de aplicaciones web basado en TypeScript, desarrollado por Google. Version 22 publicada el 3 de junio de 2026.
- TypeScript: superconjunto de JavaScript que anade tipos estaticos. El compilador detecta desajustes antes de ejecutar.
- @Injectable({ providedIn: 'root' }): declara el servicio como inyectable y disponible en toda la aplicacion como instancia unica.
- inject(): funcion que obtiene una dependencia del inyector. Forma moderna, alternativa a declararla en el constructor.
- Observable: flujo de valores en el tiempo, de la biblioteca RxJS. Es perezoso: no ocurre nada hasta que alguien se suscribe.
- RxJS (Reactive Extensions for JavaScript): biblioteca de programacion reactiva sobre la que Angular construyo su manejo de asincronia.
- Senal (signal): contenedor de un valor que notifica a quien lo lea cuando cambia. Es el nuevo modelo reactivo de Angular, mas simple que los observables para el estado de la interfaz.
- HttpParams: constructor de parametros de consulta. Evita concatenar cadenas a mano, que es fuente de errores de codificacion de caracteres.
- Genericos, la sintaxis con angulos: get&lt;Pagina&lt;Libro&gt;&gt; declara el tipo esperado y permite que el compilador detecte desajustes con el contrato.
SOBRE LOS CAMBIOS DE LA VERSION 22:
- OnPush: estrategia de deteccion de cambios que solo revisa el componente cuando cambian sus entradas o se dispara un evento propio. Antes habia que activarla; ahora es el valor por defecto. Mejora el rendimiento y obliga a un estilo mas disciplinado.
- TypeScript 6 es requisito. Un proyecto con una version anterior no compilara.
ADVERTENCIA PARA EL PFC: fije la version de Angular en package.json y declarela en el README. Angular publica una version mayor cada seis meses y cada una recibe dieciocho meses de soporte.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PARTE, INTERCEPTORES:
- Interceptor: funcion que se sitúa entre el codigo que pide y la peticion que sale, y puede modificarla o reaccionar a la respuesta. Resuelve en un punto unico lo que de otro modo se repetiria en cada llamada.
- HttpInterceptorFn: la forma funcional del interceptor, disponible desde Angular 15. Se registra con provideHttpClient(withInterceptors([...])).
- peticion.clone(): las peticiones de Angular son inmutables. No se modifican: se clona con los cambios. Intentar asignar la cabecera directamente no produce efecto y no avisa.
- Esquema Bearer: forma estandar de enviar un testigo en la cabecera Authorization, definida en la RFC 6750. Se escribe la palabra Bearer, un espacio y el testigo.
- catchError y throwError son operadores de RxJS: el primero intercepta el error, el segundo lo vuelve a emitir para que otros interesados tambien lo reciban.
SEGUNDA PARTE, CORS. Es el malentendido mas caro del bloque, asi que insista:
- CORS (Cross-Origin Resource Sharing): compartir recursos entre origenes distintos.
- Origen: la combinacion de esquema, dominio y puerto. http://localhost:4200 y http://localhost:8080 son origenes DISTINTOS aunque compartan maquina. Por eso aparece el problema en desarrollo.
- Politica de mismo origen (same-origin policy): regla del navegador que impide que una pagina lea respuestas de otro origen salvo autorizacion explicita. Existe para que una pestana maliciosa no lea el correo del usuario abierto en otra.
- Peticion previa (preflight): para ciertos casos el navegador envia primero un OPTIONS preguntando si la operacion esta permitida. Si esa consulta falla, la peticion real nunca se envia.
- Access-Control-Allow-Origin: la cabecera con la que el servidor autoriza. El comodin asterisco autoriza a cualquiera; en produccion es un defecto.
- Proxy de desarrollo: el servidor de Angular reenvia a la API las rutas que se le indiquen, de modo que para el navegador todo procede del mismo origen y el problema desaparece.
- Nginx: servidor web y proxy inverso. En el PFC sirve los archivos del cliente y redirige /api al backend, unificando el origen.
FRASE PARA FIJAR EL CONCEPTO: 'CORS no protege a su servidor; protege al usuario de su navegador'. Si el estudiante entiende eso, deja de buscar la solucion en el lugar equivocado.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DE PERSPECTIVA: hasta ahora el consumo ocurria en el navegador. Aqui es el propio servidor el que llama a un tercero: pasarela de pago, servicio de correo, administracion tributaria, catalogo bibliografico externo. Las exigencias son mayores, porque un fallo del servicio externo puede arrastrar a toda la aplicacion.
SOBRE LOS TIEMPOS LIMITE:
- connect-timeout: cuanto se espera a establecer la conexion.
- read-timeout: cuanto se espera a que lleguen los datos una vez conectados.
- Declararlos por configuracion y no en codigo permite valores distintos por entorno sin recompilar.
- Conjunto de hilos (thread pool): numero finito de hilos que atienden peticiones. Cuando se agotan, la aplicacion deja de responder aunque el procesador este ocioso. Este es el mecanismo exacto por el que un servicio externo lento tumba un sistema entero; se conoce como agotamiento del conjunto de hilos.
AVISO IMPORTANTE SOBRE CODIGO ANTIGUO: circula ampliamente el fragmento setConnectTimeout(Duration.ofSeconds(3)) aplicado a SimpleClientHttpRequestFactory. Ese metodo recibe un int de milisegundos, no un Duration, de modo que NO COMPILA. Quien necesite la fabrica programatica debe usar ClientHttpRequestFactoryBuilder con ClientHttpRequestFactorySettings, disponibles desde Spring Boot 3.4.
LOS CUATRO MECANISMOS DE RESILIENCIA:
- Espera exponencial (exponential backoff): cada reintento espera mas que el anterior, para no golpear a un servicio ya saturado.
- Cortacircuitos (circuit breaker): tras varios fallos consecutivos deja de intentar durante un periodo. Evita saturar un servicio caido y libera recursos propios. La implementacion habitual en Java es Resilience4j.
- Respuesta alternativa (fallback): valor de reserva, dato en cache o mensaje explicativo, en lugar de propagar el fallo al usuario.
- Degradacion controlada: que el sistema siga siendo utilizable con funcionalidad reducida. En el ejercicio de la unidad, si el catalogo externo cae, el formulario de alta debe seguir funcionando sin la sugerencia automatica de titulo.
SOBRE EL REMATE: es la advertencia mas importante del bloque. Un reintento automatico sobre una operacion no idempotente es causa clasica de duplicacion de registros en sistemas transaccionales.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esta es la entrega que concentra el mayor peso del semestre. Presentela con cuatro semanas de antelacion y vuelva a ella cada clase.
TERMINOS DEL ALCANCE FUNCIONAL:
- Circulacion: nombre que la biblioteconomia da al conjunto de operaciones de prestamo, renovacion y devolucion. Use el vocabulario del dominio; forma parte del aprendizaje.
- Indicador agregado: valor calculado sobre muchos registros, por ejemplo prestamos activos, promedio de dias de retraso o titulos mas solicitados. Exige consultas de agrupacion, no simples listados.
TERMINOS ARQUITECTONICOS:
- 'Nivel 2 en todos los recursos' remite al modelo de Richardson: verbos con su semantica correcta y codigos de estado adecuados.
- 'Sin acceso directo a la base' significa que el cliente Angular consume exclusivamente la API. Es una restriccion evidente en la teoria y violada con frecuencia en la practica cuando alguien decide 'atajar'.
- Docker: tecnologia de contenedores que empaqueta una aplicacion con todas sus dependencias para que se ejecute igual en cualquier maquina.
- Docker Compose: herramienta que declara en un archivo el conjunto de contenedores de un sistema y sus relaciones.
- SHA-256: funcion de resumen criptografico. Fijar la imagen por resumen y no por etiqueta garantiza que se despliega exactamente el mismo contenido; una etiqueta como 'latest' puede apuntar manana a otra cosa. Esto se llama reproducibilidad.
TERMINOS DE LOS INDICADORES:
- Cobertura de pruebas: porcentaje de lineas o ramas del codigo que las pruebas ejecutan. Se mide con JaCoCo en el mundo Java. Aviso necesario: cobertura alta no significa pruebas buenas; significa que el codigo se ejecuto. Una prueba sin aserciones da cobertura y no verifica nada.
- ADR: registro de decision arquitectonica, formato de Michael Nygard. Contexto, decision, consecuencias, estado.
- APA: estilo de citacion de la American Psychological Association, el exigido en el documento tecnico. Las referencias deben ser verificables: una cita inventada es motivo de sancion academica.
- Etiqueta (tag) de Git: marca inmutable sobre un punto concreto de la historia del repositorio. v1.0.0 sigue versionado semantico: mayor.menor.parche.
INSISTA EN ESTO: la etiqueta es la unica fuente de verdad para calificar. Codigo que no este en el repositorio bajo esa etiqueta no existe a efectos de evaluacion, por mas que aparezca en el PDF o en la demostracion.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ENFOQUE: no enumere tecnologias de moda; la lista caducaria antes de la graduacion. Identifique las tensiones, que sobreviven a las herramientas que las resuelven en cada momento.
SIGLAS Y TERMINOS:
- GraphQL: lenguaje de consulta para APIs creado en Facebook. El cliente declara exactamente que campos quiere y recibe solo eso. Resuelve el exceso y el defecto de datos; el costo es un servidor mas complejo, con dificultades anadidas de cache y de limitacion de consultas costosas.
- BFF (Backend for Frontend): capa intermedia adaptada a cada tipo de cliente, que consume la API generica y entrega a la aplicacion movil o web exactamente lo que necesita.
- Consistencia eventual: garantia debil segun la cual todas las copias del dato convergeran, pero puede haber ventanas durante las que dos partes del sistema tengan versiones distintas de la verdad. Contrasta con la consistencia fuerte de una transaccion.
- Arquitectura orientada a eventos: los componentes publican hechos ocurridos y otros reaccionan, en lugar de llamarse directamente. Se apoya en colas de mensajes como Kafka o RabbitMQ.
- HTTP/3: tercera version del protocolo, sobre QUIC en lugar de TCP.
- QUIC: protocolo de transporte sobre UDP que integra el cifrado y reduce el numero de viajes necesarios para establecer la conexion. Importa especialmente en redes moviles inestables, escenario habitual en buena parte del territorio ecuatoriano.
- API-first: practica de escribir y acordar la especificacion OpenAPI ANTES que el codigo, de modo que cliente y servidor se desarrollen en paralelo contra un contrato estable.
- gRPC: alternativa binaria de alto rendimiento para comunicacion entre servicios internos, mencionela si alguien pregunta.
CONCLUSION QUE CONVIENE DECIR CON TODAS LAS LETRAS: las herramientas de generacion asistida producen hoy controladores REST completos en segundos. Eso desplaza el valor profesional hacia donde siempre debio estar: saber si el codigo generado es correcto. Un generador puede producir un extremo que devuelve 200 ante un error, que expone la entidad JPA completa o que reintenta un POST sin clave de idempotencia. Detectar esos tres defectos exige exactamente los criterios de esta unidad.
CIERRE PROFESIONAL: lo que distingue a un candidato en una entrevista tecnica no es la lista de tecnologias de la hoja de vida, sino la capacidad de explicar por que eligio una y descarto otra en un proyecto concreto.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proyectela al iniciar cada sesion durante dos minutos como repaso, y de nuevo antes del examen parcial.
POR QUE UN GLOSARIO IMPORTA EN ESTA ASIGNATURA: buena parte de la dificultad percibida del desarrollo web no es conceptual sino terminologica. El estudiante que no sabe que DTO significa objeto de transferencia de datos no puede seguir una explicacion que lo mencione seis veces.
ACLARACIONES SOBRE ENTRADAS QUE SUELEN CONFUNDIRSE:
- API es un termino general: cualquier interfaz de programacion. Una API web o API HTTP es un caso particular. Decir 'una API' para referirse a un servicio REST es un uso extendido pero impreciso.
- CSRF frente a XSS: en CSRF el atacante hace que el navegador de la victima envie una peticion legitima sin que ella lo sepa; en XSS el atacante inyecta codigo que se ejecuta en la pagina. Son riesgos distintos con defensas distintas: testigo antifalsificacion para CSRF, escapado de salida para XSS.
- IETF frente a W3C: el IETF publica las RFC y estandariza los protocolos de Internet, HTTP incluido. El W3C estandariza las tecnologias de la web: HTML, CSS, SOAP, WSDL. Confundirlos en un examen es un error frecuente.
- SOAP: la especificacion vigente del W3C ya no expande el acronimo. Originalmente era Simple Object Access Protocol, pero de simple tenia poco y el nombre se abandono.
- HATEOAS es el acronimo mas largo y el mas preguntado. Merece la pena que lo memoricen.
- LTS: aplica tanto a Java 21 como a las versiones de Angular en su ventana de soporte prolongado. Elegir LTS en un proyecto institucional es prudencia, no preferencia.
SUGERENCIA DE EVALUACION: incluya en el examen parcial dos o tres preguntas de expansion de siglas con explicacion breve. Son rapidas de calificar y detectan con precision quien estudio y quien memorizo diapositivas.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Uselas como repaso guiado: proyecte una afirmacion y pida a un estudiante distinto que la defienda con un ejemplo del PFC de su equipo. Es el mejor simulacro de defensa que existe.
POR QUE ESTAN FORMULADAS COMO AFIRMACIONES Y NO COMO PREGUNTAS: porque el objetivo no es que las reciten, sino que las ARGUMENTEN. La instruccion al grupo es explicita: 'deben poder defenderlas', lo que implica dar razones y ejemplos, no repetir.
RECORDATORIOS SOBRE PUNTOS QUE SUELEN FALLAR:
- Asignacion masiva: en Laravel se controla con $fillable o $guarded; en Spring, no exponiendo la entidad y usando un DTO de entrada con solo los campos permitidos. La solucion difiere; el riesgo es el mismo.
- La relacion entre seguro e idempotente es de implicacion en un solo sentido. Dibujela en la pizarra como dos circulos concentricos: el de las operaciones seguras esta contenido en el de las idempotentes.
- Clave de idempotencia: identificador unico que el cliente envia en una cabecera; el servidor lo almacena y descarta repeticiones. Es lo que permite reintentar un POST sin duplicar.
CIERRE DE LA UNIDAD, guion sugerido: 'Empezamos con un patron de 1979 y terminamos con protocolos que aun se estan escribiendo. Lo unico que no cambio en cincuenta anos es el principio: separar responsabilidades. Las herramientas que aprendieron caducaran; ese criterio no.'
ULTIMO AVISO PRACTICO: recuerde las fechas de la etiqueta v1.0.0 y de la defensa oral, y que cada integrante debe poder responder sobre CUALQUIER parte del sistema, no solo sobre la suya.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1F"/>
        </a:solidFill>
        <a:effectLst/>
      </p:bgPr>
    </p:bg>
    <p:spTree>
      <p:nvGrpSpPr>
        <p:cNvPr id="1" name=""/>
        <p:cNvGrpSpPr/>
        <p:nvPr/>
      </p:nvGrpSpPr>
      <p:grpSpPr>
        <a:xfrm>
          <a:off x="0" y="0"/>
          <a:ext cx="0" cy="0"/>
          <a:chOff x="0" y="0"/>
          <a:chExt cx="0" cy="0"/>
        </a:xfrm>
      </p:grpSpPr>
      <p:sp>
        <p:nvSpPr>
          <p:cNvPr id="2" name="Text 0"/>
          <p:cNvSpPr/>
          <p:nvPr/>
        </p:nvSpPr>
        <p:spPr>
          <a:xfrm>
            <a:off x="640080" y="1325880"/>
            <a:ext cx="10058400" cy="502920"/>
          </a:xfrm>
          <a:prstGeom prst="rect">
            <a:avLst/>
          </a:prstGeom>
          <a:noFill/>
          <a:ln/>
        </p:spPr>
        <p:txBody>
          <a:bodyPr wrap="square" lIns="0" tIns="0" rIns="0" bIns="0" rtlCol="0" anchor="ctr"/>
          <a:lstStyle/>
          <a:p>
            <a:pPr marL="0" indent="0">
              <a:buNone/>
            </a:pPr>
            <a:r>
              <a:rPr lang="en-US" sz="2000" b="1" kern="0" spc="500" dirty="0">
                <a:solidFill>
                  <a:srgbClr val="CC9900"/>
                </a:solidFill>
                <a:latin typeface="Calibri" pitchFamily="34" charset="0"/>
                <a:ea typeface="Calibri" pitchFamily="34" charset="-122"/>
                <a:cs typeface="Calibri" pitchFamily="34" charset="-120"/>
              </a:rPr>
              <a:t>UNIDAD IV</a:t>
            </a:r>
            <a:endParaRPr lang="en-US" sz="2000" dirty="0"/>
          </a:p>
        </p:txBody>
      </p:sp>
      <p:sp>
        <p:nvSpPr>
          <p:cNvPr id="3" name="Text 1"/>
          <p:cNvSpPr/>
          <p:nvPr/>
        </p:nvSpPr>
        <p:spPr>
          <a:xfrm>
            <a:off x="640080" y="1874520"/>
            <a:ext cx="10241280" cy="173736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Cambria" pitchFamily="34" charset="0"/>
                <a:ea typeface="Cambria" pitchFamily="34" charset="-122"/>
                <a:cs typeface="Cambria" pitchFamily="34" charset="-120"/>
              </a:rPr>
              <a:t>Modelo-Vista-Controlador</a:t>
            </a:r>
            <a:endParaRPr lang="en-US" sz="4400" dirty="0"/>
          </a:p>
          <a:p>
            <a:pPr marL="0" indent="0">
              <a:lnSpc>
                <a:spcPct val="110000"/>
              </a:lnSpc>
              <a:buNone/>
            </a:pPr>
            <a:r>
              <a:rPr lang="en-US" sz="4400" b="1" dirty="0">
                <a:solidFill>
                  <a:srgbClr val="FFFFFF"/>
                </a:solidFill>
                <a:latin typeface="Cambria" pitchFamily="34" charset="0"/>
                <a:ea typeface="Cambria" pitchFamily="34" charset="-122"/>
                <a:cs typeface="Cambria" pitchFamily="34" charset="-120"/>
              </a:rPr>
              <a:t>y Servicios Web</a:t>
            </a:r>
            <a:endParaRPr lang="en-US" sz="4400" dirty="0"/>
          </a:p>
        </p:txBody>
      </p:sp>
      <p:sp>
        <p:nvSpPr>
          <p:cNvPr id="4" name="Text 2"/>
          <p:cNvSpPr/>
          <p:nvPr/>
        </p:nvSpPr>
        <p:spPr>
          <a:xfrm>
            <a:off x="640080" y="3794760"/>
            <a:ext cx="10241280" cy="384048"/>
          </a:xfrm>
          <a:prstGeom prst="rect">
            <a:avLst/>
          </a:prstGeom>
          <a:noFill/>
          <a:ln/>
        </p:spPr>
        <p:txBody>
          <a:bodyPr wrap="square" lIns="0" tIns="0" rIns="0" bIns="0" rtlCol="0" anchor="ctr"/>
          <a:lstStyle/>
          <a:p>
            <a:pPr marL="0" indent="0">
              <a:buNone/>
            </a:pPr>
            <a:r>
              <a:rPr lang="en-US" sz="1600" dirty="0">
                <a:solidFill>
                  <a:srgbClr val="C9DCC9"/>
                </a:solidFill>
                <a:latin typeface="Calibri" pitchFamily="34" charset="0"/>
                <a:ea typeface="Calibri" pitchFamily="34" charset="-122"/>
                <a:cs typeface="Calibri" pitchFamily="34" charset="-120"/>
              </a:rPr>
              <a:t>Aplicaciones Web  ·  Quinto nivel  ·  190 horas  ·  5 créditos</a:t>
            </a:r>
            <a:endParaRPr lang="en-US" sz="1600" dirty="0"/>
          </a:p>
        </p:txBody>
      </p:sp>
      <p:sp>
        <p:nvSpPr>
          <p:cNvPr id="5" name="Shape 3"/>
          <p:cNvSpPr/>
          <p:nvPr/>
        </p:nvSpPr>
        <p:spPr>
          <a:xfrm>
            <a:off x="640080" y="4370832"/>
            <a:ext cx="2377440" cy="32004"/>
          </a:xfrm>
          <a:prstGeom prst="rect">
            <a:avLst/>
          </a:prstGeom>
          <a:solidFill>
            <a:srgbClr val="CC9900"/>
          </a:solidFill>
          <a:ln/>
        </p:spPr>
      </p:sp>
      <p:sp>
        <p:nvSpPr>
          <p:cNvPr id="6" name="Text 4"/>
          <p:cNvSpPr/>
          <p:nvPr/>
        </p:nvSpPr>
        <p:spPr>
          <a:xfrm>
            <a:off x="640080" y="4617720"/>
            <a:ext cx="10241280" cy="822960"/>
          </a:xfrm>
          <a:prstGeom prst="rect">
            <a:avLst/>
          </a:prstGeom>
          <a:noFill/>
          <a:ln/>
        </p:spPr>
        <p:txBody>
          <a:bodyPr wrap="square" lIns="0" tIns="0" rIns="0" bIns="0" rtlCol="0" anchor="ctr"/>
          <a:lstStyle/>
          <a:p>
            <a:pPr marL="0" indent="0">
              <a:buNone/>
            </a:pPr>
            <a:r>
              <a:rPr lang="en-US" sz="1300" dirty="0">
                <a:solidFill>
                  <a:srgbClr val="9FBCA6"/>
                </a:solidFill>
                <a:latin typeface="Calibri" pitchFamily="34" charset="0"/>
                <a:ea typeface="Calibri" pitchFamily="34" charset="-122"/>
                <a:cs typeface="Calibri" pitchFamily="34" charset="-120"/>
              </a:rPr>
              <a:t>Universidad Técnica Estatal de Quevedo</a:t>
            </a:r>
            <a:endParaRPr lang="en-US" sz="1300" dirty="0"/>
          </a:p>
          <a:p>
            <a:pPr marL="0" indent="0">
              <a:buNone/>
            </a:pPr>
            <a:r>
              <a:rPr lang="en-US" sz="1300" dirty="0">
                <a:solidFill>
                  <a:srgbClr val="9FBCA6"/>
                </a:solidFill>
                <a:latin typeface="Calibri" pitchFamily="34" charset="0"/>
                <a:ea typeface="Calibri" pitchFamily="34" charset="-122"/>
                <a:cs typeface="Calibri" pitchFamily="34" charset="-120"/>
              </a:rPr>
              <a:t>Facultad de Ciencias de la Computación y Diseño Digital  ·  Carrera de Ingeniería de Software</a:t>
            </a:r>
            <a:endParaRPr lang="en-US" sz="1300" dirty="0"/>
          </a:p>
        </p:txBody>
      </p:sp>
      <p:sp>
        <p:nvSpPr>
          <p:cNvPr id="7" name="Text 5"/>
          <p:cNvSpPr/>
          <p:nvPr/>
        </p:nvSpPr>
        <p:spPr>
          <a:xfrm>
            <a:off x="640080" y="5989320"/>
            <a:ext cx="10241280" cy="365760"/>
          </a:xfrm>
          <a:prstGeom prst="rect">
            <a:avLst/>
          </a:prstGeom>
          <a:noFill/>
          <a:ln/>
        </p:spPr>
        <p:txBody>
          <a:bodyPr wrap="square" lIns="0" tIns="0" rIns="0" bIns="0" rtlCol="0" anchor="ctr"/>
          <a:lstStyle/>
          <a:p>
            <a:pPr marL="0" indent="0">
              <a:buNone/>
            </a:pPr>
            <a:r>
              <a:rPr lang="en-US" sz="1200" i="1" dirty="0">
                <a:solidFill>
                  <a:srgbClr val="CC9900"/>
                </a:solidFill>
                <a:latin typeface="Calibri" pitchFamily="34" charset="0"/>
                <a:ea typeface="Calibri" pitchFamily="34" charset="-122"/>
                <a:cs typeface="Calibri" pitchFamily="34" charset="-120"/>
              </a:rPr>
              <a:t>Proyecto conductor: BiblioUTEQ  ·  PPA 2026–2027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Resultado de aprendizaje de la unidad</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Recuperado del sílabo y del programa analítico de la asignatura</a:t>
            </a:r>
            <a:endParaRPr lang="en-US" sz="1400" dirty="0"/>
          </a:p>
        </p:txBody>
      </p:sp>
      <p:sp>
        <p:nvSpPr>
          <p:cNvPr id="4" name="Shape 2"/>
          <p:cNvSpPr/>
          <p:nvPr/>
        </p:nvSpPr>
        <p:spPr>
          <a:xfrm>
            <a:off x="640080" y="1481328"/>
            <a:ext cx="10908792" cy="1078992"/>
          </a:xfrm>
          <a:prstGeom prst="roundRect">
            <a:avLst>
              <a:gd name="adj" fmla="val 5085"/>
            </a:avLst>
          </a:prstGeom>
          <a:solidFill>
            <a:srgbClr val="FBF3DE"/>
          </a:solidFill>
          <a:ln w="15875">
            <a:solidFill>
              <a:srgbClr val="CC9900"/>
            </a:solidFill>
            <a:prstDash val="solid"/>
          </a:ln>
        </p:spPr>
      </p:sp>
      <p:sp>
        <p:nvSpPr>
          <p:cNvPr id="5" name="Text 3"/>
          <p:cNvSpPr/>
          <p:nvPr/>
        </p:nvSpPr>
        <p:spPr>
          <a:xfrm>
            <a:off x="896112" y="1481328"/>
            <a:ext cx="10396728" cy="1078992"/>
          </a:xfrm>
          <a:prstGeom prst="rect">
            <a:avLst/>
          </a:prstGeom>
          <a:noFill/>
          <a:ln/>
        </p:spPr>
        <p:txBody>
          <a:bodyPr wrap="square" lIns="0" tIns="0" rIns="0" bIns="0" rtlCol="0" anchor="ctr"/>
          <a:lstStyle/>
          <a:p>
            <a:pPr marL="0" indent="0">
              <a:buNone/>
            </a:pPr>
            <a:r>
              <a:rPr lang="en-US" sz="1450" i="1" dirty="0">
                <a:solidFill>
                  <a:srgbClr val="00401F"/>
                </a:solidFill>
                <a:latin typeface="Calibri" pitchFamily="34" charset="0"/>
                <a:ea typeface="Calibri" pitchFamily="34" charset="-122"/>
                <a:cs typeface="Calibri" pitchFamily="34" charset="-120"/>
              </a:rPr>
              <a:t>El estudiante diseña e implementa aplicaciones web bajo el patrón MVC y construye, documenta y consume servicios web interoperables, integrando componentes cliente-servidor en una solución funcional que responde a requisitos reales de un dominio institucional.</a:t>
            </a:r>
            <a:endParaRPr lang="en-US" sz="1450" dirty="0"/>
          </a:p>
        </p:txBody>
      </p:sp>
      <p:sp>
        <p:nvSpPr>
          <p:cNvPr id="6" name="Shape 4"/>
          <p:cNvSpPr/>
          <p:nvPr/>
        </p:nvSpPr>
        <p:spPr>
          <a:xfrm>
            <a:off x="640080" y="2852928"/>
            <a:ext cx="5349240" cy="1371600"/>
          </a:xfrm>
          <a:prstGeom prst="roundRect">
            <a:avLst>
              <a:gd name="adj" fmla="val 4000"/>
            </a:avLst>
          </a:prstGeom>
          <a:solidFill>
            <a:srgbClr val="EEF4F0"/>
          </a:solidFill>
          <a:ln w="12700">
            <a:solidFill>
              <a:srgbClr val="EEF4F0"/>
            </a:solidFill>
            <a:prstDash val="solid"/>
          </a:ln>
        </p:spPr>
      </p:sp>
      <p:sp>
        <p:nvSpPr>
          <p:cNvPr id="7" name="Shape 5"/>
          <p:cNvSpPr/>
          <p:nvPr/>
        </p:nvSpPr>
        <p:spPr>
          <a:xfrm>
            <a:off x="841248" y="3054096"/>
            <a:ext cx="457200" cy="457200"/>
          </a:xfrm>
          <a:prstGeom prst="ellipse">
            <a:avLst/>
          </a:prstGeom>
          <a:solidFill>
            <a:srgbClr val="006633"/>
          </a:solidFill>
          <a:ln/>
        </p:spPr>
      </p:sp>
      <p:sp>
        <p:nvSpPr>
          <p:cNvPr id="8" name="Text 6"/>
          <p:cNvSpPr/>
          <p:nvPr/>
        </p:nvSpPr>
        <p:spPr>
          <a:xfrm>
            <a:off x="841248" y="30540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9" name="Text 7"/>
          <p:cNvSpPr/>
          <p:nvPr/>
        </p:nvSpPr>
        <p:spPr>
          <a:xfrm>
            <a:off x="1389888" y="3054096"/>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Explicar el patrón</a:t>
            </a:r>
            <a:endParaRPr lang="en-US" sz="1500" dirty="0"/>
          </a:p>
        </p:txBody>
      </p:sp>
      <p:sp>
        <p:nvSpPr>
          <p:cNvPr id="10" name="Text 8"/>
          <p:cNvSpPr/>
          <p:nvPr/>
        </p:nvSpPr>
        <p:spPr>
          <a:xfrm>
            <a:off x="859536" y="3602736"/>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Origen, componentes y ciclo de vida del MVC. Justificar cuándo aporta valor y cuándo añade complejidad innecesaria.</a:t>
            </a:r>
            <a:endParaRPr lang="en-US" sz="1250" dirty="0"/>
          </a:p>
        </p:txBody>
      </p:sp>
      <p:sp>
        <p:nvSpPr>
          <p:cNvPr id="11" name="Shape 9"/>
          <p:cNvSpPr/>
          <p:nvPr/>
        </p:nvSpPr>
        <p:spPr>
          <a:xfrm>
            <a:off x="6199632" y="2852928"/>
            <a:ext cx="5349240" cy="1371600"/>
          </a:xfrm>
          <a:prstGeom prst="roundRect">
            <a:avLst>
              <a:gd name="adj" fmla="val 4000"/>
            </a:avLst>
          </a:prstGeom>
          <a:solidFill>
            <a:srgbClr val="EEF4F0"/>
          </a:solidFill>
          <a:ln w="12700">
            <a:solidFill>
              <a:srgbClr val="EEF4F0"/>
            </a:solidFill>
            <a:prstDash val="solid"/>
          </a:ln>
        </p:spPr>
      </p:sp>
      <p:sp>
        <p:nvSpPr>
          <p:cNvPr id="12" name="Shape 10"/>
          <p:cNvSpPr/>
          <p:nvPr/>
        </p:nvSpPr>
        <p:spPr>
          <a:xfrm>
            <a:off x="6400800" y="3054096"/>
            <a:ext cx="457200" cy="457200"/>
          </a:xfrm>
          <a:prstGeom prst="ellipse">
            <a:avLst/>
          </a:prstGeom>
          <a:solidFill>
            <a:srgbClr val="006633"/>
          </a:solidFill>
          <a:ln/>
        </p:spPr>
      </p:sp>
      <p:sp>
        <p:nvSpPr>
          <p:cNvPr id="13" name="Text 11"/>
          <p:cNvSpPr/>
          <p:nvPr/>
        </p:nvSpPr>
        <p:spPr>
          <a:xfrm>
            <a:off x="6400800" y="30540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14" name="Text 12"/>
          <p:cNvSpPr/>
          <p:nvPr/>
        </p:nvSpPr>
        <p:spPr>
          <a:xfrm>
            <a:off x="6949440" y="3054096"/>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Implementar con framework</a:t>
            </a:r>
            <a:endParaRPr lang="en-US" sz="1500" dirty="0"/>
          </a:p>
        </p:txBody>
      </p:sp>
      <p:sp>
        <p:nvSpPr>
          <p:cNvPr id="15" name="Text 13"/>
          <p:cNvSpPr/>
          <p:nvPr/>
        </p:nvSpPr>
        <p:spPr>
          <a:xfrm>
            <a:off x="6419088" y="3602736"/>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Aplicación completa con enrutamiento, controladores, motor de plantillas y mapeo objeto-relacional.</a:t>
            </a:r>
            <a:endParaRPr lang="en-US" sz="1250" dirty="0"/>
          </a:p>
        </p:txBody>
      </p:sp>
      <p:sp>
        <p:nvSpPr>
          <p:cNvPr id="16" name="Shape 14"/>
          <p:cNvSpPr/>
          <p:nvPr/>
        </p:nvSpPr>
        <p:spPr>
          <a:xfrm>
            <a:off x="640080" y="4407408"/>
            <a:ext cx="5349240" cy="1371600"/>
          </a:xfrm>
          <a:prstGeom prst="roundRect">
            <a:avLst>
              <a:gd name="adj" fmla="val 4000"/>
            </a:avLst>
          </a:prstGeom>
          <a:solidFill>
            <a:srgbClr val="FBF3DE"/>
          </a:solidFill>
          <a:ln w="12700">
            <a:solidFill>
              <a:srgbClr val="FBF3DE"/>
            </a:solidFill>
            <a:prstDash val="solid"/>
          </a:ln>
        </p:spPr>
      </p:sp>
      <p:sp>
        <p:nvSpPr>
          <p:cNvPr id="17" name="Shape 15"/>
          <p:cNvSpPr/>
          <p:nvPr/>
        </p:nvSpPr>
        <p:spPr>
          <a:xfrm>
            <a:off x="841248" y="4608576"/>
            <a:ext cx="457200" cy="457200"/>
          </a:xfrm>
          <a:prstGeom prst="ellipse">
            <a:avLst/>
          </a:prstGeom>
          <a:solidFill>
            <a:srgbClr val="CC9900"/>
          </a:solidFill>
          <a:ln/>
        </p:spPr>
      </p:sp>
      <p:sp>
        <p:nvSpPr>
          <p:cNvPr id="18" name="Text 16"/>
          <p:cNvSpPr/>
          <p:nvPr/>
        </p:nvSpPr>
        <p:spPr>
          <a:xfrm>
            <a:off x="841248" y="46085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19" name="Text 17"/>
          <p:cNvSpPr/>
          <p:nvPr/>
        </p:nvSpPr>
        <p:spPr>
          <a:xfrm>
            <a:off x="1389888" y="4608576"/>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Diseñar servicios REST</a:t>
            </a:r>
            <a:endParaRPr lang="en-US" sz="1500" dirty="0"/>
          </a:p>
        </p:txBody>
      </p:sp>
      <p:sp>
        <p:nvSpPr>
          <p:cNvPr id="20" name="Text 18"/>
          <p:cNvSpPr/>
          <p:nvPr/>
        </p:nvSpPr>
        <p:spPr>
          <a:xfrm>
            <a:off x="859536" y="5157216"/>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Conformes a las restricciones de Fielding (2000) y a la semántica de HTTP de la RFC 9110 (2022).</a:t>
            </a:r>
            <a:endParaRPr lang="en-US" sz="1250" dirty="0"/>
          </a:p>
        </p:txBody>
      </p:sp>
      <p:sp>
        <p:nvSpPr>
          <p:cNvPr id="21" name="Shape 19"/>
          <p:cNvSpPr/>
          <p:nvPr/>
        </p:nvSpPr>
        <p:spPr>
          <a:xfrm>
            <a:off x="6199632" y="4407408"/>
            <a:ext cx="5349240" cy="1371600"/>
          </a:xfrm>
          <a:prstGeom prst="roundRect">
            <a:avLst>
              <a:gd name="adj" fmla="val 4000"/>
            </a:avLst>
          </a:prstGeom>
          <a:solidFill>
            <a:srgbClr val="FBF3DE"/>
          </a:solidFill>
          <a:ln w="12700">
            <a:solidFill>
              <a:srgbClr val="FBF3DE"/>
            </a:solidFill>
            <a:prstDash val="solid"/>
          </a:ln>
        </p:spPr>
      </p:sp>
      <p:sp>
        <p:nvSpPr>
          <p:cNvPr id="22" name="Shape 20"/>
          <p:cNvSpPr/>
          <p:nvPr/>
        </p:nvSpPr>
        <p:spPr>
          <a:xfrm>
            <a:off x="6400800" y="4608576"/>
            <a:ext cx="457200" cy="457200"/>
          </a:xfrm>
          <a:prstGeom prst="ellipse">
            <a:avLst/>
          </a:prstGeom>
          <a:solidFill>
            <a:srgbClr val="CC9900"/>
          </a:solidFill>
          <a:ln/>
        </p:spPr>
      </p:sp>
      <p:sp>
        <p:nvSpPr>
          <p:cNvPr id="23" name="Text 21"/>
          <p:cNvSpPr/>
          <p:nvPr/>
        </p:nvSpPr>
        <p:spPr>
          <a:xfrm>
            <a:off x="6400800" y="46085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24" name="Text 22"/>
          <p:cNvSpPr/>
          <p:nvPr/>
        </p:nvSpPr>
        <p:spPr>
          <a:xfrm>
            <a:off x="6949440" y="4608576"/>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Consumir e integrar</a:t>
            </a:r>
            <a:endParaRPr lang="en-US" sz="1500" dirty="0"/>
          </a:p>
        </p:txBody>
      </p:sp>
      <p:sp>
        <p:nvSpPr>
          <p:cNvPr id="25" name="Text 23"/>
          <p:cNvSpPr/>
          <p:nvPr/>
        </p:nvSpPr>
        <p:spPr>
          <a:xfrm>
            <a:off x="6419088" y="5157216"/>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Desde el cliente y desde el servidor. Integrar sistemas heterogéneos y evaluar tendencias vigentes.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Recorrido de la unidad</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De un patrón de 1979 a las interfaces que hoy integran sistemas</a:t>
            </a:r>
            <a:endParaRPr lang="en-US" sz="1400" dirty="0"/>
          </a:p>
        </p:txBody>
      </p:sp>
      <p:sp>
        <p:nvSpPr>
          <p:cNvPr id="4" name="Shape 2"/>
          <p:cNvSpPr/>
          <p:nvPr/>
        </p:nvSpPr>
        <p:spPr>
          <a:xfrm>
            <a:off x="640080" y="1572768"/>
            <a:ext cx="10908792" cy="932688"/>
          </a:xfrm>
          <a:prstGeom prst="roundRect">
            <a:avLst>
              <a:gd name="adj" fmla="val 4902"/>
            </a:avLst>
          </a:prstGeom>
          <a:solidFill>
            <a:srgbClr val="EEF4F0"/>
          </a:solidFill>
          <a:ln w="12700">
            <a:solidFill>
              <a:srgbClr val="EEF4F0"/>
            </a:solidFill>
            <a:prstDash val="solid"/>
          </a:ln>
        </p:spPr>
      </p:sp>
      <p:sp>
        <p:nvSpPr>
          <p:cNvPr id="5" name="Shape 3"/>
          <p:cNvSpPr/>
          <p:nvPr/>
        </p:nvSpPr>
        <p:spPr>
          <a:xfrm>
            <a:off x="877824" y="1792224"/>
            <a:ext cx="502920" cy="502920"/>
          </a:xfrm>
          <a:prstGeom prst="ellipse">
            <a:avLst/>
          </a:prstGeom>
          <a:solidFill>
            <a:srgbClr val="006633"/>
          </a:solidFill>
          <a:ln/>
        </p:spPr>
      </p:sp>
      <p:sp>
        <p:nvSpPr>
          <p:cNvPr id="6" name="Text 4"/>
          <p:cNvSpPr/>
          <p:nvPr/>
        </p:nvSpPr>
        <p:spPr>
          <a:xfrm>
            <a:off x="877824" y="179222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7" name="Text 5"/>
          <p:cNvSpPr/>
          <p:nvPr/>
        </p:nvSpPr>
        <p:spPr>
          <a:xfrm>
            <a:off x="1554480" y="1700784"/>
            <a:ext cx="3383280" cy="384048"/>
          </a:xfrm>
          <a:prstGeom prst="rect">
            <a:avLst/>
          </a:prstGeom>
          <a:noFill/>
          <a:ln/>
        </p:spPr>
        <p:txBody>
          <a:bodyPr wrap="square" lIns="0" tIns="0" rIns="0" bIns="0" rtlCol="0" anchor="ctr"/>
          <a:lstStyle/>
          <a:p>
            <a:pPr marL="0" indent="0">
              <a:buNone/>
            </a:pPr>
            <a:r>
              <a:rPr lang="en-US" sz="1600" b="1" dirty="0">
                <a:solidFill>
                  <a:srgbClr val="00401F"/>
                </a:solidFill>
                <a:latin typeface="Calibri" pitchFamily="34" charset="0"/>
                <a:ea typeface="Calibri" pitchFamily="34" charset="-122"/>
                <a:cs typeface="Calibri" pitchFamily="34" charset="-120"/>
              </a:rPr>
              <a:t>El patrón MVC</a:t>
            </a:r>
            <a:endParaRPr lang="en-US" sz="1600" dirty="0"/>
          </a:p>
        </p:txBody>
      </p:sp>
      <p:sp>
        <p:nvSpPr>
          <p:cNvPr id="8" name="Text 6"/>
          <p:cNvSpPr/>
          <p:nvPr/>
        </p:nvSpPr>
        <p:spPr>
          <a:xfrm>
            <a:off x="1554480" y="2057400"/>
            <a:ext cx="8778240" cy="347472"/>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Origen · componentes · ciclo de vida · cuándo usarlo</a:t>
            </a:r>
            <a:endParaRPr lang="en-US" sz="1250" dirty="0"/>
          </a:p>
        </p:txBody>
      </p:sp>
      <p:sp>
        <p:nvSpPr>
          <p:cNvPr id="9" name="Shape 7"/>
          <p:cNvSpPr/>
          <p:nvPr/>
        </p:nvSpPr>
        <p:spPr>
          <a:xfrm>
            <a:off x="640080" y="2633472"/>
            <a:ext cx="10908792" cy="932688"/>
          </a:xfrm>
          <a:prstGeom prst="roundRect">
            <a:avLst>
              <a:gd name="adj" fmla="val 4902"/>
            </a:avLst>
          </a:prstGeom>
          <a:solidFill>
            <a:srgbClr val="EEF4F0"/>
          </a:solidFill>
          <a:ln w="12700">
            <a:solidFill>
              <a:srgbClr val="EEF4F0"/>
            </a:solidFill>
            <a:prstDash val="solid"/>
          </a:ln>
        </p:spPr>
      </p:sp>
      <p:sp>
        <p:nvSpPr>
          <p:cNvPr id="10" name="Shape 8"/>
          <p:cNvSpPr/>
          <p:nvPr/>
        </p:nvSpPr>
        <p:spPr>
          <a:xfrm>
            <a:off x="877824" y="2852928"/>
            <a:ext cx="502920" cy="502920"/>
          </a:xfrm>
          <a:prstGeom prst="ellipse">
            <a:avLst/>
          </a:prstGeom>
          <a:solidFill>
            <a:srgbClr val="006633"/>
          </a:solidFill>
          <a:ln/>
        </p:spPr>
      </p:sp>
      <p:sp>
        <p:nvSpPr>
          <p:cNvPr id="11" name="Text 9"/>
          <p:cNvSpPr/>
          <p:nvPr/>
        </p:nvSpPr>
        <p:spPr>
          <a:xfrm>
            <a:off x="877824" y="285292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12" name="Text 10"/>
          <p:cNvSpPr/>
          <p:nvPr/>
        </p:nvSpPr>
        <p:spPr>
          <a:xfrm>
            <a:off x="1554480" y="2761488"/>
            <a:ext cx="3383280" cy="384048"/>
          </a:xfrm>
          <a:prstGeom prst="rect">
            <a:avLst/>
          </a:prstGeom>
          <a:noFill/>
          <a:ln/>
        </p:spPr>
        <p:txBody>
          <a:bodyPr wrap="square" lIns="0" tIns="0" rIns="0" bIns="0" rtlCol="0" anchor="ctr"/>
          <a:lstStyle/>
          <a:p>
            <a:pPr marL="0" indent="0">
              <a:buNone/>
            </a:pPr>
            <a:r>
              <a:rPr lang="en-US" sz="1600" b="1" dirty="0">
                <a:solidFill>
                  <a:srgbClr val="00401F"/>
                </a:solidFill>
                <a:latin typeface="Calibri" pitchFamily="34" charset="0"/>
                <a:ea typeface="Calibri" pitchFamily="34" charset="-122"/>
                <a:cs typeface="Calibri" pitchFamily="34" charset="-120"/>
              </a:rPr>
              <a:t>MVC con frameworks</a:t>
            </a:r>
            <a:endParaRPr lang="en-US" sz="1600" dirty="0"/>
          </a:p>
        </p:txBody>
      </p:sp>
      <p:sp>
        <p:nvSpPr>
          <p:cNvPr id="13" name="Text 11"/>
          <p:cNvSpPr/>
          <p:nvPr/>
        </p:nvSpPr>
        <p:spPr>
          <a:xfrm>
            <a:off x="1554480" y="3118104"/>
            <a:ext cx="8778240" cy="347472"/>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Panorama comparativo · Laravel · proyecto integrador</a:t>
            </a:r>
            <a:endParaRPr lang="en-US" sz="1250" dirty="0"/>
          </a:p>
        </p:txBody>
      </p:sp>
      <p:sp>
        <p:nvSpPr>
          <p:cNvPr id="14" name="Shape 12"/>
          <p:cNvSpPr/>
          <p:nvPr/>
        </p:nvSpPr>
        <p:spPr>
          <a:xfrm>
            <a:off x="640080" y="3694176"/>
            <a:ext cx="10908792" cy="932688"/>
          </a:xfrm>
          <a:prstGeom prst="roundRect">
            <a:avLst>
              <a:gd name="adj" fmla="val 4902"/>
            </a:avLst>
          </a:prstGeom>
          <a:solidFill>
            <a:srgbClr val="FBF3DE"/>
          </a:solidFill>
          <a:ln w="12700">
            <a:solidFill>
              <a:srgbClr val="FBF3DE"/>
            </a:solidFill>
            <a:prstDash val="solid"/>
          </a:ln>
        </p:spPr>
      </p:sp>
      <p:sp>
        <p:nvSpPr>
          <p:cNvPr id="15" name="Shape 13"/>
          <p:cNvSpPr/>
          <p:nvPr/>
        </p:nvSpPr>
        <p:spPr>
          <a:xfrm>
            <a:off x="877824" y="3913632"/>
            <a:ext cx="502920" cy="502920"/>
          </a:xfrm>
          <a:prstGeom prst="ellipse">
            <a:avLst/>
          </a:prstGeom>
          <a:solidFill>
            <a:srgbClr val="CC9900"/>
          </a:solidFill>
          <a:ln/>
        </p:spPr>
      </p:sp>
      <p:sp>
        <p:nvSpPr>
          <p:cNvPr id="16" name="Text 14"/>
          <p:cNvSpPr/>
          <p:nvPr/>
        </p:nvSpPr>
        <p:spPr>
          <a:xfrm>
            <a:off x="877824" y="391363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17" name="Text 15"/>
          <p:cNvSpPr/>
          <p:nvPr/>
        </p:nvSpPr>
        <p:spPr>
          <a:xfrm>
            <a:off x="1554480" y="3822192"/>
            <a:ext cx="3383280" cy="384048"/>
          </a:xfrm>
          <a:prstGeom prst="rect">
            <a:avLst/>
          </a:prstGeom>
          <a:noFill/>
          <a:ln/>
        </p:spPr>
        <p:txBody>
          <a:bodyPr wrap="square" lIns="0" tIns="0" rIns="0" bIns="0" rtlCol="0" anchor="ctr"/>
          <a:lstStyle/>
          <a:p>
            <a:pPr marL="0" indent="0">
              <a:buNone/>
            </a:pPr>
            <a:r>
              <a:rPr lang="en-US" sz="1600" b="1" dirty="0">
                <a:solidFill>
                  <a:srgbClr val="00401F"/>
                </a:solidFill>
                <a:latin typeface="Calibri" pitchFamily="34" charset="0"/>
                <a:ea typeface="Calibri" pitchFamily="34" charset="-122"/>
                <a:cs typeface="Calibri" pitchFamily="34" charset="-120"/>
              </a:rPr>
              <a:t>Servicios web</a:t>
            </a:r>
            <a:endParaRPr lang="en-US" sz="1600" dirty="0"/>
          </a:p>
        </p:txBody>
      </p:sp>
      <p:sp>
        <p:nvSpPr>
          <p:cNvPr id="18" name="Text 16"/>
          <p:cNvSpPr/>
          <p:nvPr/>
        </p:nvSpPr>
        <p:spPr>
          <a:xfrm>
            <a:off x="1554480" y="4178808"/>
            <a:ext cx="8778240" cy="347472"/>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Fundamentos y estándares · REST · implementación</a:t>
            </a:r>
            <a:endParaRPr lang="en-US" sz="1250" dirty="0"/>
          </a:p>
        </p:txBody>
      </p:sp>
      <p:sp>
        <p:nvSpPr>
          <p:cNvPr id="19" name="Shape 17"/>
          <p:cNvSpPr/>
          <p:nvPr/>
        </p:nvSpPr>
        <p:spPr>
          <a:xfrm>
            <a:off x="640080" y="4754880"/>
            <a:ext cx="10908792" cy="932688"/>
          </a:xfrm>
          <a:prstGeom prst="roundRect">
            <a:avLst>
              <a:gd name="adj" fmla="val 4902"/>
            </a:avLst>
          </a:prstGeom>
          <a:solidFill>
            <a:srgbClr val="FBF3DE"/>
          </a:solidFill>
          <a:ln w="12700">
            <a:solidFill>
              <a:srgbClr val="FBF3DE"/>
            </a:solidFill>
            <a:prstDash val="solid"/>
          </a:ln>
        </p:spPr>
      </p:sp>
      <p:sp>
        <p:nvSpPr>
          <p:cNvPr id="20" name="Shape 18"/>
          <p:cNvSpPr/>
          <p:nvPr/>
        </p:nvSpPr>
        <p:spPr>
          <a:xfrm>
            <a:off x="877824" y="4974336"/>
            <a:ext cx="502920" cy="502920"/>
          </a:xfrm>
          <a:prstGeom prst="ellipse">
            <a:avLst/>
          </a:prstGeom>
          <a:solidFill>
            <a:srgbClr val="CC9900"/>
          </a:solidFill>
          <a:ln/>
        </p:spPr>
      </p:sp>
      <p:sp>
        <p:nvSpPr>
          <p:cNvPr id="21" name="Text 19"/>
          <p:cNvSpPr/>
          <p:nvPr/>
        </p:nvSpPr>
        <p:spPr>
          <a:xfrm>
            <a:off x="877824" y="497433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22" name="Text 20"/>
          <p:cNvSpPr/>
          <p:nvPr/>
        </p:nvSpPr>
        <p:spPr>
          <a:xfrm>
            <a:off x="1554480" y="4882896"/>
            <a:ext cx="3383280" cy="384048"/>
          </a:xfrm>
          <a:prstGeom prst="rect">
            <a:avLst/>
          </a:prstGeom>
          <a:noFill/>
          <a:ln/>
        </p:spPr>
        <p:txBody>
          <a:bodyPr wrap="square" lIns="0" tIns="0" rIns="0" bIns="0" rtlCol="0" anchor="ctr"/>
          <a:lstStyle/>
          <a:p>
            <a:pPr marL="0" indent="0">
              <a:buNone/>
            </a:pPr>
            <a:r>
              <a:rPr lang="en-US" sz="1600" b="1" dirty="0">
                <a:solidFill>
                  <a:srgbClr val="00401F"/>
                </a:solidFill>
                <a:latin typeface="Calibri" pitchFamily="34" charset="0"/>
                <a:ea typeface="Calibri" pitchFamily="34" charset="-122"/>
                <a:cs typeface="Calibri" pitchFamily="34" charset="-120"/>
              </a:rPr>
              <a:t>Consumo e integración</a:t>
            </a:r>
            <a:endParaRPr lang="en-US" sz="1600" dirty="0"/>
          </a:p>
        </p:txBody>
      </p:sp>
      <p:sp>
        <p:nvSpPr>
          <p:cNvPr id="23" name="Text 21"/>
          <p:cNvSpPr/>
          <p:nvPr/>
        </p:nvSpPr>
        <p:spPr>
          <a:xfrm>
            <a:off x="1554480" y="5239512"/>
            <a:ext cx="8778240" cy="347472"/>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Cliente · servidor · proyecto final · tendencias</a:t>
            </a:r>
            <a:endParaRPr lang="en-US" sz="1250" dirty="0"/>
          </a:p>
        </p:txBody>
      </p:sp>
      <p:sp>
        <p:nvSpPr>
          <p:cNvPr id="24" name="Shape 22"/>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25" name="Text 23"/>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Hilo conductor único: separar responsabilidades para que el cambio en una parte no obligue a tocar las demás.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401F"/>
        </a:solidFill>
        <a:effectLst/>
      </p:bgPr>
    </p:bg>
    <p:spTree>
      <p:nvGrpSpPr>
        <p:cNvPr id="1" name=""/>
        <p:cNvGrpSpPr/>
        <p:nvPr/>
      </p:nvGrpSpPr>
      <p:grpSpPr>
        <a:xfrm>
          <a:off x="0" y="0"/>
          <a:ext cx="0" cy="0"/>
          <a:chOff x="0" y="0"/>
          <a:chExt cx="0" cy="0"/>
        </a:xfrm>
      </p:grpSpPr>
      <p:sp>
        <p:nvSpPr>
          <p:cNvPr id="2" name="Shape 0"/>
          <p:cNvSpPr/>
          <p:nvPr/>
        </p:nvSpPr>
        <p:spPr>
          <a:xfrm>
            <a:off x="640080" y="2057400"/>
            <a:ext cx="1417320" cy="1417320"/>
          </a:xfrm>
          <a:prstGeom prst="ellipse">
            <a:avLst/>
          </a:prstGeom>
          <a:solidFill>
            <a:srgbClr val="CC9900"/>
          </a:solidFill>
          <a:ln/>
        </p:spPr>
      </p:sp>
      <p:sp>
        <p:nvSpPr>
          <p:cNvPr id="3" name="Text 1"/>
          <p:cNvSpPr/>
          <p:nvPr/>
        </p:nvSpPr>
        <p:spPr>
          <a:xfrm>
            <a:off x="640080" y="2057400"/>
            <a:ext cx="1417320" cy="1417320"/>
          </a:xfrm>
          <a:prstGeom prst="rect">
            <a:avLst/>
          </a:prstGeom>
          <a:noFill/>
          <a:ln/>
        </p:spPr>
        <p:txBody>
          <a:bodyPr wrap="square" lIns="0" tIns="0" rIns="0" bIns="0" rtlCol="0" anchor="ctr"/>
          <a:lstStyle/>
          <a:p>
            <a:pPr marL="0" indent="0" algn="ctr">
              <a:buNone/>
            </a:pPr>
            <a:r>
              <a:rPr lang="en-US" sz="4600" b="1" dirty="0">
                <a:solidFill>
                  <a:srgbClr val="00401F"/>
                </a:solidFill>
                <a:latin typeface="Cambria" pitchFamily="34" charset="0"/>
                <a:ea typeface="Cambria" pitchFamily="34" charset="-122"/>
                <a:cs typeface="Cambria" pitchFamily="34" charset="-120"/>
              </a:rPr>
              <a:t>4.1</a:t>
            </a:r>
            <a:endParaRPr lang="en-US" sz="4600" dirty="0"/>
          </a:p>
        </p:txBody>
      </p:sp>
      <p:sp>
        <p:nvSpPr>
          <p:cNvPr id="4" name="Text 2"/>
          <p:cNvSpPr/>
          <p:nvPr/>
        </p:nvSpPr>
        <p:spPr>
          <a:xfrm>
            <a:off x="2423160" y="2057400"/>
            <a:ext cx="9052560" cy="91440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El Patrón Modelo-Vista-Controlador</a:t>
            </a:r>
            <a:endParaRPr lang="en-US" sz="3600" dirty="0"/>
          </a:p>
        </p:txBody>
      </p:sp>
      <p:sp>
        <p:nvSpPr>
          <p:cNvPr id="5" name="Text 3"/>
          <p:cNvSpPr/>
          <p:nvPr/>
        </p:nvSpPr>
        <p:spPr>
          <a:xfrm>
            <a:off x="2423160" y="2971800"/>
            <a:ext cx="9052560" cy="640080"/>
          </a:xfrm>
          <a:prstGeom prst="rect">
            <a:avLst/>
          </a:prstGeom>
          <a:noFill/>
          <a:ln/>
        </p:spPr>
        <p:txBody>
          <a:bodyPr wrap="square" lIns="0" tIns="0" rIns="0" bIns="0" rtlCol="0" anchor="t"/>
          <a:lstStyle/>
          <a:p>
            <a:pPr marL="0" indent="0" algn="l">
              <a:buNone/>
            </a:pPr>
            <a:r>
              <a:rPr lang="en-US" sz="1600" dirty="0">
                <a:solidFill>
                  <a:srgbClr val="C9DCC9"/>
                </a:solidFill>
                <a:latin typeface="Calibri" pitchFamily="34" charset="0"/>
                <a:ea typeface="Calibri" pitchFamily="34" charset="-122"/>
                <a:cs typeface="Calibri" pitchFamily="34" charset="-120"/>
              </a:rPr>
              <a:t>Origen y fundamentos · Componentes · Ciclo de vida de la petición · Ventajas, desventajas y criterio de uso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El problema que el patrón resuelve</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Un programa interactivo hace tres cosas distintas a la vez</a:t>
            </a:r>
            <a:endParaRPr lang="en-US" sz="1400" dirty="0"/>
          </a:p>
        </p:txBody>
      </p:sp>
      <p:sp>
        <p:nvSpPr>
          <p:cNvPr id="4" name="Shape 2"/>
          <p:cNvSpPr/>
          <p:nvPr/>
        </p:nvSpPr>
        <p:spPr>
          <a:xfrm>
            <a:off x="640080" y="1536192"/>
            <a:ext cx="5257800" cy="3108960"/>
          </a:xfrm>
          <a:prstGeom prst="roundRect">
            <a:avLst>
              <a:gd name="adj" fmla="val 1176"/>
            </a:avLst>
          </a:prstGeom>
          <a:solidFill>
            <a:srgbClr val="23272E"/>
          </a:solidFill>
          <a:ln w="12700">
            <a:solidFill>
              <a:srgbClr val="23272E"/>
            </a:solidFill>
            <a:prstDash val="solid"/>
          </a:ln>
        </p:spPr>
      </p:sp>
      <p:sp>
        <p:nvSpPr>
          <p:cNvPr id="5" name="Text 3"/>
          <p:cNvSpPr/>
          <p:nvPr/>
        </p:nvSpPr>
        <p:spPr>
          <a:xfrm>
            <a:off x="841248" y="1682496"/>
            <a:ext cx="4855464" cy="281635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&lt;?php</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$c = new PDO(...);</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$r = $c-&gt;query("SELECT * FROM prestamos");</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echo "&lt;table&gt;";</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foreach ($r as $p) {</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$dias = (time() - $p['salida']) / 86400;</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if ($dias &gt; 15) {</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$multa = ($dias - 15) * 0.25;</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echo "&lt;tr class='rojo'&gt;...";</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echo "&lt;/table&gt;";</a:t>
            </a:r>
            <a:endParaRPr lang="en-US" sz="1250" dirty="0"/>
          </a:p>
        </p:txBody>
      </p:sp>
      <p:sp>
        <p:nvSpPr>
          <p:cNvPr id="6" name="Text 4"/>
          <p:cNvSpPr/>
          <p:nvPr/>
        </p:nvSpPr>
        <p:spPr>
          <a:xfrm>
            <a:off x="640080" y="4718304"/>
            <a:ext cx="5257800" cy="310896"/>
          </a:xfrm>
          <a:prstGeom prst="rect">
            <a:avLst/>
          </a:prstGeom>
          <a:noFill/>
          <a:ln/>
        </p:spPr>
        <p:txBody>
          <a:bodyPr wrap="square" lIns="0" tIns="0" rIns="0" bIns="0" rtlCol="0" anchor="ctr"/>
          <a:lstStyle/>
          <a:p>
            <a:pPr marL="0" indent="0">
              <a:buNone/>
            </a:pPr>
            <a:r>
              <a:rPr lang="en-US" sz="1250" i="1" dirty="0">
                <a:solidFill>
                  <a:srgbClr val="A32020"/>
                </a:solidFill>
                <a:latin typeface="Calibri" pitchFamily="34" charset="0"/>
                <a:ea typeface="Calibri" pitchFamily="34" charset="-122"/>
                <a:cs typeface="Calibri" pitchFamily="34" charset="-120"/>
              </a:rPr>
              <a:t>Todo mezclado</a:t>
            </a:r>
            <a:endParaRPr lang="en-US" sz="1250" dirty="0"/>
          </a:p>
        </p:txBody>
      </p:sp>
      <p:sp>
        <p:nvSpPr>
          <p:cNvPr id="7" name="Text 5"/>
          <p:cNvSpPr/>
          <p:nvPr/>
        </p:nvSpPr>
        <p:spPr>
          <a:xfrm>
            <a:off x="6291072" y="1600200"/>
            <a:ext cx="5257800" cy="3200400"/>
          </a:xfrm>
          <a:prstGeom prst="rect">
            <a:avLst/>
          </a:prstGeom>
          <a:noFill/>
          <a:ln/>
        </p:spPr>
        <p:txBody>
          <a:bodyPr wrap="square" lIns="0" tIns="0" rIns="0" bIns="0" rtlCol="0" anchor="t"/>
          <a:lstStyle/>
          <a:p>
            <a:pPr marL="342900" indent="-342900" algn="l">
              <a:spcAft>
                <a:spcPts val="800"/>
              </a:spcAft>
              <a:buSzPct val="100000"/>
              <a:buChar char="•"/>
            </a:pPr>
            <a:r>
              <a:rPr lang="en-US" sz="1450" dirty="0">
                <a:solidFill>
                  <a:srgbClr val="2B333C"/>
                </a:solidFill>
                <a:latin typeface="Calibri" pitchFamily="34" charset="0"/>
                <a:ea typeface="Calibri" pitchFamily="34" charset="-122"/>
                <a:cs typeface="Calibri" pitchFamily="34" charset="-120"/>
              </a:rPr>
              <a:t>Cambiar el diseño obliga a tocar la consulta.</a:t>
            </a:r>
            <a:endParaRPr lang="en-US" sz="1450" dirty="0"/>
          </a:p>
          <a:p>
            <a:pPr marL="342900" indent="-342900" algn="l">
              <a:spcAft>
                <a:spcPts val="800"/>
              </a:spcAft>
              <a:buSzPct val="100000"/>
              <a:buChar char="•"/>
            </a:pPr>
            <a:r>
              <a:rPr lang="en-US" sz="1450" dirty="0">
                <a:solidFill>
                  <a:srgbClr val="2B333C"/>
                </a:solidFill>
                <a:latin typeface="Calibri" pitchFamily="34" charset="0"/>
                <a:ea typeface="Calibri" pitchFamily="34" charset="-122"/>
                <a:cs typeface="Calibri" pitchFamily="34" charset="-120"/>
              </a:rPr>
              <a:t>Cambiar la regla de la multa obliga a tocar el HTML.</a:t>
            </a:r>
            <a:endParaRPr lang="en-US" sz="1450" dirty="0"/>
          </a:p>
          <a:p>
            <a:pPr marL="342900" indent="-342900" algn="l">
              <a:spcAft>
                <a:spcPts val="800"/>
              </a:spcAft>
              <a:buSzPct val="100000"/>
              <a:buChar char="•"/>
            </a:pPr>
            <a:r>
              <a:rPr lang="en-US" sz="1450" dirty="0">
                <a:solidFill>
                  <a:srgbClr val="2B333C"/>
                </a:solidFill>
                <a:latin typeface="Calibri" pitchFamily="34" charset="0"/>
                <a:ea typeface="Calibri" pitchFamily="34" charset="-122"/>
                <a:cs typeface="Calibri" pitchFamily="34" charset="-120"/>
              </a:rPr>
              <a:t>No se puede probar sin levantar un servidor web.</a:t>
            </a:r>
            <a:endParaRPr lang="en-US" sz="1450" dirty="0"/>
          </a:p>
          <a:p>
            <a:pPr marL="342900" indent="-342900" algn="l">
              <a:spcAft>
                <a:spcPts val="800"/>
              </a:spcAft>
              <a:buSzPct val="100000"/>
              <a:buChar char="•"/>
            </a:pPr>
            <a:r>
              <a:rPr lang="en-US" sz="1450" dirty="0">
                <a:solidFill>
                  <a:srgbClr val="2B333C"/>
                </a:solidFill>
                <a:latin typeface="Calibri" pitchFamily="34" charset="0"/>
                <a:ea typeface="Calibri" pitchFamily="34" charset="-122"/>
                <a:cs typeface="Calibri" pitchFamily="34" charset="-120"/>
              </a:rPr>
              <a:t>No se puede reutilizar el cálculo desde una tarea programada.</a:t>
            </a:r>
            <a:endParaRPr lang="en-US" sz="1450" dirty="0"/>
          </a:p>
          <a:p>
            <a:pPr marL="342900" indent="-342900" algn="l">
              <a:spcAft>
                <a:spcPts val="800"/>
              </a:spcAft>
              <a:buSzPct val="100000"/>
              <a:buChar char="•"/>
            </a:pPr>
            <a:r>
              <a:rPr lang="en-US" sz="1450" dirty="0">
                <a:solidFill>
                  <a:srgbClr val="2B333C"/>
                </a:solidFill>
                <a:latin typeface="Calibri" pitchFamily="34" charset="0"/>
                <a:ea typeface="Calibri" pitchFamily="34" charset="-122"/>
                <a:cs typeface="Calibri" pitchFamily="34" charset="-120"/>
              </a:rPr>
              <a:t>Dos personas no pueden trabajar en paralelo sobre el archivo.</a:t>
            </a:r>
            <a:endParaRPr lang="en-US" sz="1450" dirty="0"/>
          </a:p>
        </p:txBody>
      </p:sp>
      <p:sp>
        <p:nvSpPr>
          <p:cNvPr id="8" name="Shape 6"/>
          <p:cNvSpPr/>
          <p:nvPr/>
        </p:nvSpPr>
        <p:spPr>
          <a:xfrm>
            <a:off x="6291072" y="4617720"/>
            <a:ext cx="5257800" cy="1005840"/>
          </a:xfrm>
          <a:prstGeom prst="roundRect">
            <a:avLst>
              <a:gd name="adj" fmla="val 4545"/>
            </a:avLst>
          </a:prstGeom>
          <a:solidFill>
            <a:srgbClr val="EEF4F0"/>
          </a:solidFill>
          <a:ln w="12700">
            <a:solidFill>
              <a:srgbClr val="EEF4F0"/>
            </a:solidFill>
            <a:prstDash val="solid"/>
          </a:ln>
        </p:spPr>
      </p:sp>
      <p:sp>
        <p:nvSpPr>
          <p:cNvPr id="9" name="Text 7"/>
          <p:cNvSpPr/>
          <p:nvPr/>
        </p:nvSpPr>
        <p:spPr>
          <a:xfrm>
            <a:off x="6519672" y="4617720"/>
            <a:ext cx="4800600" cy="1005840"/>
          </a:xfrm>
          <a:prstGeom prst="rect">
            <a:avLst/>
          </a:prstGeom>
          <a:noFill/>
          <a:ln/>
        </p:spPr>
        <p:txBody>
          <a:bodyPr wrap="square" lIns="0" tIns="0" rIns="0" bIns="0" rtlCol="0" anchor="ctr"/>
          <a:lstStyle/>
          <a:p>
            <a:pPr marL="0" indent="0">
              <a:buNone/>
            </a:pPr>
            <a:r>
              <a:rPr lang="en-US" sz="1350" i="1" dirty="0">
                <a:solidFill>
                  <a:srgbClr val="00401F"/>
                </a:solidFill>
                <a:latin typeface="Calibri" pitchFamily="34" charset="0"/>
                <a:ea typeface="Calibri" pitchFamily="34" charset="-122"/>
                <a:cs typeface="Calibri" pitchFamily="34" charset="-120"/>
              </a:rPr>
              <a:t>El código funciona. Ese es justamente el motivo por el que sobrevive en producción durante años.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Origen: del Xerox PARC al navegador</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Cincuenta años de un patrón que sigue vigente</a:t>
            </a:r>
            <a:endParaRPr lang="en-US" sz="1400" dirty="0"/>
          </a:p>
        </p:txBody>
      </p:sp>
      <p:sp>
        <p:nvSpPr>
          <p:cNvPr id="4" name="Shape 2"/>
          <p:cNvSpPr/>
          <p:nvPr/>
        </p:nvSpPr>
        <p:spPr>
          <a:xfrm>
            <a:off x="640080" y="1572768"/>
            <a:ext cx="10908792" cy="969264"/>
          </a:xfrm>
          <a:prstGeom prst="roundRect">
            <a:avLst>
              <a:gd name="adj" fmla="val 4717"/>
            </a:avLst>
          </a:prstGeom>
          <a:solidFill>
            <a:srgbClr val="EEF4F0"/>
          </a:solidFill>
          <a:ln w="12700">
            <a:solidFill>
              <a:srgbClr val="EEF4F0"/>
            </a:solidFill>
            <a:prstDash val="solid"/>
          </a:ln>
        </p:spPr>
      </p:sp>
      <p:sp>
        <p:nvSpPr>
          <p:cNvPr id="5" name="Text 3"/>
          <p:cNvSpPr/>
          <p:nvPr/>
        </p:nvSpPr>
        <p:spPr>
          <a:xfrm>
            <a:off x="859536" y="1737360"/>
            <a:ext cx="1051560" cy="640080"/>
          </a:xfrm>
          <a:prstGeom prst="rect">
            <a:avLst/>
          </a:prstGeom>
          <a:noFill/>
          <a:ln/>
        </p:spPr>
        <p:txBody>
          <a:bodyPr wrap="square" lIns="0" tIns="0" rIns="0" bIns="0" rtlCol="0" anchor="ctr"/>
          <a:lstStyle/>
          <a:p>
            <a:pPr marL="0" indent="0" algn="l">
              <a:buNone/>
            </a:pPr>
            <a:r>
              <a:rPr lang="en-US" sz="2100" b="1" dirty="0">
                <a:solidFill>
                  <a:srgbClr val="006633"/>
                </a:solidFill>
                <a:latin typeface="Cambria" pitchFamily="34" charset="0"/>
                <a:ea typeface="Cambria" pitchFamily="34" charset="-122"/>
                <a:cs typeface="Cambria" pitchFamily="34" charset="-120"/>
              </a:rPr>
              <a:t>1979</a:t>
            </a:r>
            <a:endParaRPr lang="en-US" sz="2100" dirty="0"/>
          </a:p>
        </p:txBody>
      </p:sp>
      <p:sp>
        <p:nvSpPr>
          <p:cNvPr id="6" name="Text 4"/>
          <p:cNvSpPr/>
          <p:nvPr/>
        </p:nvSpPr>
        <p:spPr>
          <a:xfrm>
            <a:off x="2057400" y="1691640"/>
            <a:ext cx="9052560" cy="384048"/>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Trygve Reenskaug, Xerox PARC</a:t>
            </a:r>
            <a:endParaRPr lang="en-US" sz="1500" dirty="0"/>
          </a:p>
        </p:txBody>
      </p:sp>
      <p:sp>
        <p:nvSpPr>
          <p:cNvPr id="7" name="Text 5"/>
          <p:cNvSpPr/>
          <p:nvPr/>
        </p:nvSpPr>
        <p:spPr>
          <a:xfrm>
            <a:off x="2057400" y="2057400"/>
            <a:ext cx="9052560" cy="36576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Nota interna que nombra los tres roles. Objetivo: que varias vistas del mismo dato coexistan sin acoplarse.</a:t>
            </a:r>
            <a:endParaRPr lang="en-US" sz="1250" dirty="0"/>
          </a:p>
        </p:txBody>
      </p:sp>
      <p:sp>
        <p:nvSpPr>
          <p:cNvPr id="8" name="Shape 6"/>
          <p:cNvSpPr/>
          <p:nvPr/>
        </p:nvSpPr>
        <p:spPr>
          <a:xfrm>
            <a:off x="640080" y="2670048"/>
            <a:ext cx="10908792" cy="969264"/>
          </a:xfrm>
          <a:prstGeom prst="roundRect">
            <a:avLst>
              <a:gd name="adj" fmla="val 4717"/>
            </a:avLst>
          </a:prstGeom>
          <a:solidFill>
            <a:srgbClr val="FBF3DE"/>
          </a:solidFill>
          <a:ln w="12700">
            <a:solidFill>
              <a:srgbClr val="FBF3DE"/>
            </a:solidFill>
            <a:prstDash val="solid"/>
          </a:ln>
        </p:spPr>
      </p:sp>
      <p:sp>
        <p:nvSpPr>
          <p:cNvPr id="9" name="Text 7"/>
          <p:cNvSpPr/>
          <p:nvPr/>
        </p:nvSpPr>
        <p:spPr>
          <a:xfrm>
            <a:off x="859536" y="2834640"/>
            <a:ext cx="1051560" cy="640080"/>
          </a:xfrm>
          <a:prstGeom prst="rect">
            <a:avLst/>
          </a:prstGeom>
          <a:noFill/>
          <a:ln/>
        </p:spPr>
        <p:txBody>
          <a:bodyPr wrap="square" lIns="0" tIns="0" rIns="0" bIns="0" rtlCol="0" anchor="ctr"/>
          <a:lstStyle/>
          <a:p>
            <a:pPr marL="0" indent="0" algn="l">
              <a:buNone/>
            </a:pPr>
            <a:r>
              <a:rPr lang="en-US" sz="2100" b="1" dirty="0">
                <a:solidFill>
                  <a:srgbClr val="CC9900"/>
                </a:solidFill>
                <a:latin typeface="Cambria" pitchFamily="34" charset="0"/>
                <a:ea typeface="Cambria" pitchFamily="34" charset="-122"/>
                <a:cs typeface="Cambria" pitchFamily="34" charset="-120"/>
              </a:rPr>
              <a:t>1988</a:t>
            </a:r>
            <a:endParaRPr lang="en-US" sz="2100" dirty="0"/>
          </a:p>
        </p:txBody>
      </p:sp>
      <p:sp>
        <p:nvSpPr>
          <p:cNvPr id="10" name="Text 8"/>
          <p:cNvSpPr/>
          <p:nvPr/>
        </p:nvSpPr>
        <p:spPr>
          <a:xfrm>
            <a:off x="2057400" y="2788920"/>
            <a:ext cx="9052560" cy="384048"/>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Krasner y Pope, JOOP 1(3):26–49</a:t>
            </a:r>
            <a:endParaRPr lang="en-US" sz="1500" dirty="0"/>
          </a:p>
        </p:txBody>
      </p:sp>
      <p:sp>
        <p:nvSpPr>
          <p:cNvPr id="11" name="Text 9"/>
          <p:cNvSpPr/>
          <p:nvPr/>
        </p:nvSpPr>
        <p:spPr>
          <a:xfrm>
            <a:off x="2057400" y="3154680"/>
            <a:ext cx="9052560" cy="36576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Primera formulación difundida. Documenta el mecanismo de notificación entre modelo y vistas.</a:t>
            </a:r>
            <a:endParaRPr lang="en-US" sz="1250" dirty="0"/>
          </a:p>
        </p:txBody>
      </p:sp>
      <p:sp>
        <p:nvSpPr>
          <p:cNvPr id="12" name="Shape 10"/>
          <p:cNvSpPr/>
          <p:nvPr/>
        </p:nvSpPr>
        <p:spPr>
          <a:xfrm>
            <a:off x="640080" y="3767328"/>
            <a:ext cx="10908792" cy="969264"/>
          </a:xfrm>
          <a:prstGeom prst="roundRect">
            <a:avLst>
              <a:gd name="adj" fmla="val 4717"/>
            </a:avLst>
          </a:prstGeom>
          <a:solidFill>
            <a:srgbClr val="EEF4F0"/>
          </a:solidFill>
          <a:ln w="12700">
            <a:solidFill>
              <a:srgbClr val="EEF4F0"/>
            </a:solidFill>
            <a:prstDash val="solid"/>
          </a:ln>
        </p:spPr>
      </p:sp>
      <p:sp>
        <p:nvSpPr>
          <p:cNvPr id="13" name="Text 11"/>
          <p:cNvSpPr/>
          <p:nvPr/>
        </p:nvSpPr>
        <p:spPr>
          <a:xfrm>
            <a:off x="859536" y="3931920"/>
            <a:ext cx="1051560" cy="640080"/>
          </a:xfrm>
          <a:prstGeom prst="rect">
            <a:avLst/>
          </a:prstGeom>
          <a:noFill/>
          <a:ln/>
        </p:spPr>
        <p:txBody>
          <a:bodyPr wrap="square" lIns="0" tIns="0" rIns="0" bIns="0" rtlCol="0" anchor="ctr"/>
          <a:lstStyle/>
          <a:p>
            <a:pPr marL="0" indent="0" algn="l">
              <a:buNone/>
            </a:pPr>
            <a:r>
              <a:rPr lang="en-US" sz="2100" b="1" dirty="0">
                <a:solidFill>
                  <a:srgbClr val="006633"/>
                </a:solidFill>
                <a:latin typeface="Cambria" pitchFamily="34" charset="0"/>
                <a:ea typeface="Cambria" pitchFamily="34" charset="-122"/>
                <a:cs typeface="Cambria" pitchFamily="34" charset="-120"/>
              </a:rPr>
              <a:t>1999</a:t>
            </a:r>
            <a:endParaRPr lang="en-US" sz="2100" dirty="0"/>
          </a:p>
        </p:txBody>
      </p:sp>
      <p:sp>
        <p:nvSpPr>
          <p:cNvPr id="14" name="Text 12"/>
          <p:cNvSpPr/>
          <p:nvPr/>
        </p:nvSpPr>
        <p:spPr>
          <a:xfrm>
            <a:off x="2057400" y="3886200"/>
            <a:ext cx="9052560" cy="384048"/>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JSP Model 2</a:t>
            </a:r>
            <a:endParaRPr lang="en-US" sz="1500" dirty="0"/>
          </a:p>
        </p:txBody>
      </p:sp>
      <p:sp>
        <p:nvSpPr>
          <p:cNvPr id="15" name="Text 13"/>
          <p:cNvSpPr/>
          <p:nvPr/>
        </p:nvSpPr>
        <p:spPr>
          <a:xfrm>
            <a:off x="2057400" y="4251960"/>
            <a:ext cx="9052560" cy="36576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Traslada el patrón al ciclo petición–respuesta de HTTP. Nace el MVC verdaderamente web.</a:t>
            </a:r>
            <a:endParaRPr lang="en-US" sz="1250" dirty="0"/>
          </a:p>
        </p:txBody>
      </p:sp>
      <p:sp>
        <p:nvSpPr>
          <p:cNvPr id="16" name="Shape 14"/>
          <p:cNvSpPr/>
          <p:nvPr/>
        </p:nvSpPr>
        <p:spPr>
          <a:xfrm>
            <a:off x="640080" y="4864608"/>
            <a:ext cx="10908792" cy="969264"/>
          </a:xfrm>
          <a:prstGeom prst="roundRect">
            <a:avLst>
              <a:gd name="adj" fmla="val 4717"/>
            </a:avLst>
          </a:prstGeom>
          <a:solidFill>
            <a:srgbClr val="FBF3DE"/>
          </a:solidFill>
          <a:ln w="12700">
            <a:solidFill>
              <a:srgbClr val="FBF3DE"/>
            </a:solidFill>
            <a:prstDash val="solid"/>
          </a:ln>
        </p:spPr>
      </p:sp>
      <p:sp>
        <p:nvSpPr>
          <p:cNvPr id="17" name="Text 15"/>
          <p:cNvSpPr/>
          <p:nvPr/>
        </p:nvSpPr>
        <p:spPr>
          <a:xfrm>
            <a:off x="859536" y="5029200"/>
            <a:ext cx="1051560" cy="640080"/>
          </a:xfrm>
          <a:prstGeom prst="rect">
            <a:avLst/>
          </a:prstGeom>
          <a:noFill/>
          <a:ln/>
        </p:spPr>
        <p:txBody>
          <a:bodyPr wrap="square" lIns="0" tIns="0" rIns="0" bIns="0" rtlCol="0" anchor="ctr"/>
          <a:lstStyle/>
          <a:p>
            <a:pPr marL="0" indent="0" algn="l">
              <a:buNone/>
            </a:pPr>
            <a:r>
              <a:rPr lang="en-US" sz="2100" b="1" dirty="0">
                <a:solidFill>
                  <a:srgbClr val="CC9900"/>
                </a:solidFill>
                <a:latin typeface="Cambria" pitchFamily="34" charset="0"/>
                <a:ea typeface="Cambria" pitchFamily="34" charset="-122"/>
                <a:cs typeface="Cambria" pitchFamily="34" charset="-120"/>
              </a:rPr>
              <a:t>2005</a:t>
            </a:r>
            <a:endParaRPr lang="en-US" sz="2100" dirty="0"/>
          </a:p>
        </p:txBody>
      </p:sp>
      <p:sp>
        <p:nvSpPr>
          <p:cNvPr id="18" name="Text 16"/>
          <p:cNvSpPr/>
          <p:nvPr/>
        </p:nvSpPr>
        <p:spPr>
          <a:xfrm>
            <a:off x="2057400" y="4983480"/>
            <a:ext cx="9052560" cy="384048"/>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Ruby on Rails</a:t>
            </a:r>
            <a:endParaRPr lang="en-US" sz="1500" dirty="0"/>
          </a:p>
        </p:txBody>
      </p:sp>
      <p:sp>
        <p:nvSpPr>
          <p:cNvPr id="19" name="Text 17"/>
          <p:cNvSpPr/>
          <p:nvPr/>
        </p:nvSpPr>
        <p:spPr>
          <a:xfrm>
            <a:off x="2057400" y="5349240"/>
            <a:ext cx="9052560" cy="36576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Convención sobre configuración. El patrón se vuelve el valor por defecto de toda una generación.</a:t>
            </a:r>
            <a:endParaRPr lang="en-US" sz="1250" dirty="0"/>
          </a:p>
        </p:txBody>
      </p:sp>
      <p:sp>
        <p:nvSpPr>
          <p:cNvPr id="20" name="Shape 18"/>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21" name="Text 1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Lo que la web perdió en la traducción: el modelo ya no puede avisar a la vista. HTTP no permite que el servidor inicie la conversación.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Los tres componentes y sus fronteras</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Lo difícil no es la definición: es aplicarla cuando el código crece</a:t>
            </a:r>
            <a:endParaRPr lang="en-US" sz="1400" dirty="0"/>
          </a:p>
        </p:txBody>
      </p:sp>
      <p:sp>
        <p:nvSpPr>
          <p:cNvPr id="4" name="Shape 2"/>
          <p:cNvSpPr/>
          <p:nvPr/>
        </p:nvSpPr>
        <p:spPr>
          <a:xfrm>
            <a:off x="640080" y="1554480"/>
            <a:ext cx="3520440" cy="2148840"/>
          </a:xfrm>
          <a:prstGeom prst="roundRect">
            <a:avLst>
              <a:gd name="adj" fmla="val 2553"/>
            </a:avLst>
          </a:prstGeom>
          <a:solidFill>
            <a:srgbClr val="EEF4F0"/>
          </a:solidFill>
          <a:ln w="12700">
            <a:solidFill>
              <a:srgbClr val="EEF4F0"/>
            </a:solidFill>
            <a:prstDash val="solid"/>
          </a:ln>
        </p:spPr>
      </p:sp>
      <p:sp>
        <p:nvSpPr>
          <p:cNvPr id="5" name="Shape 3"/>
          <p:cNvSpPr/>
          <p:nvPr/>
        </p:nvSpPr>
        <p:spPr>
          <a:xfrm>
            <a:off x="841248" y="1755648"/>
            <a:ext cx="457200" cy="457200"/>
          </a:xfrm>
          <a:prstGeom prst="ellipse">
            <a:avLst/>
          </a:prstGeom>
          <a:solidFill>
            <a:srgbClr val="006633"/>
          </a:solidFill>
          <a:ln/>
        </p:spPr>
      </p:sp>
      <p:sp>
        <p:nvSpPr>
          <p:cNvPr id="6" name="Text 4"/>
          <p:cNvSpPr/>
          <p:nvPr/>
        </p:nvSpPr>
        <p:spPr>
          <a:xfrm>
            <a:off x="841248"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7" name="Text 5"/>
          <p:cNvSpPr/>
          <p:nvPr/>
        </p:nvSpPr>
        <p:spPr>
          <a:xfrm>
            <a:off x="1389888" y="1755648"/>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Modelo</a:t>
            </a:r>
            <a:endParaRPr lang="en-US" sz="1500" dirty="0"/>
          </a:p>
        </p:txBody>
      </p:sp>
      <p:sp>
        <p:nvSpPr>
          <p:cNvPr id="8" name="Text 6"/>
          <p:cNvSpPr/>
          <p:nvPr/>
        </p:nvSpPr>
        <p:spPr>
          <a:xfrm>
            <a:off x="859536" y="2304288"/>
            <a:ext cx="3081528" cy="121615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Conoce el dominio y sus reglas.</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Entidades: estado persistente.</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Servicios: reglas que involucran a varias entidades.</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No conoce a la vista ni al controlador.</a:t>
            </a:r>
            <a:endParaRPr lang="en-US" sz="1250" dirty="0"/>
          </a:p>
        </p:txBody>
      </p:sp>
      <p:sp>
        <p:nvSpPr>
          <p:cNvPr id="9" name="Shape 7"/>
          <p:cNvSpPr/>
          <p:nvPr/>
        </p:nvSpPr>
        <p:spPr>
          <a:xfrm>
            <a:off x="4334256" y="1554480"/>
            <a:ext cx="3520440" cy="2148840"/>
          </a:xfrm>
          <a:prstGeom prst="roundRect">
            <a:avLst>
              <a:gd name="adj" fmla="val 2553"/>
            </a:avLst>
          </a:prstGeom>
          <a:solidFill>
            <a:srgbClr val="EEF4F0"/>
          </a:solidFill>
          <a:ln w="12700">
            <a:solidFill>
              <a:srgbClr val="EEF4F0"/>
            </a:solidFill>
            <a:prstDash val="solid"/>
          </a:ln>
        </p:spPr>
      </p:sp>
      <p:sp>
        <p:nvSpPr>
          <p:cNvPr id="10" name="Shape 8"/>
          <p:cNvSpPr/>
          <p:nvPr/>
        </p:nvSpPr>
        <p:spPr>
          <a:xfrm>
            <a:off x="4535424" y="1755648"/>
            <a:ext cx="457200" cy="457200"/>
          </a:xfrm>
          <a:prstGeom prst="ellipse">
            <a:avLst/>
          </a:prstGeom>
          <a:solidFill>
            <a:srgbClr val="006633"/>
          </a:solidFill>
          <a:ln/>
        </p:spPr>
      </p:sp>
      <p:sp>
        <p:nvSpPr>
          <p:cNvPr id="11" name="Text 9"/>
          <p:cNvSpPr/>
          <p:nvPr/>
        </p:nvSpPr>
        <p:spPr>
          <a:xfrm>
            <a:off x="4535424"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t>
            </a:r>
            <a:endParaRPr lang="en-US" sz="1300" dirty="0"/>
          </a:p>
        </p:txBody>
      </p:sp>
      <p:sp>
        <p:nvSpPr>
          <p:cNvPr id="12" name="Text 10"/>
          <p:cNvSpPr/>
          <p:nvPr/>
        </p:nvSpPr>
        <p:spPr>
          <a:xfrm>
            <a:off x="5084064" y="1755648"/>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Vista</a:t>
            </a:r>
            <a:endParaRPr lang="en-US" sz="1500" dirty="0"/>
          </a:p>
        </p:txBody>
      </p:sp>
      <p:sp>
        <p:nvSpPr>
          <p:cNvPr id="13" name="Text 11"/>
          <p:cNvSpPr/>
          <p:nvPr/>
        </p:nvSpPr>
        <p:spPr>
          <a:xfrm>
            <a:off x="4553712" y="2304288"/>
            <a:ext cx="3081528" cy="121615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Traduce el estado a algo perceptible.</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Puede decidir si algo se pinta en rojo.</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No puede decidir si un préstamo está vencido: eso lo pregunta al modelo.</a:t>
            </a:r>
            <a:endParaRPr lang="en-US" sz="1250" dirty="0"/>
          </a:p>
        </p:txBody>
      </p:sp>
      <p:sp>
        <p:nvSpPr>
          <p:cNvPr id="14" name="Shape 12"/>
          <p:cNvSpPr/>
          <p:nvPr/>
        </p:nvSpPr>
        <p:spPr>
          <a:xfrm>
            <a:off x="8028432" y="1554480"/>
            <a:ext cx="3520440" cy="2148840"/>
          </a:xfrm>
          <a:prstGeom prst="roundRect">
            <a:avLst>
              <a:gd name="adj" fmla="val 2553"/>
            </a:avLst>
          </a:prstGeom>
          <a:solidFill>
            <a:srgbClr val="FBF3DE"/>
          </a:solidFill>
          <a:ln w="12700">
            <a:solidFill>
              <a:srgbClr val="FBF3DE"/>
            </a:solidFill>
            <a:prstDash val="solid"/>
          </a:ln>
        </p:spPr>
      </p:sp>
      <p:sp>
        <p:nvSpPr>
          <p:cNvPr id="15" name="Shape 13"/>
          <p:cNvSpPr/>
          <p:nvPr/>
        </p:nvSpPr>
        <p:spPr>
          <a:xfrm>
            <a:off x="8229600" y="1755648"/>
            <a:ext cx="457200" cy="457200"/>
          </a:xfrm>
          <a:prstGeom prst="ellipse">
            <a:avLst/>
          </a:prstGeom>
          <a:solidFill>
            <a:srgbClr val="CC9900"/>
          </a:solidFill>
          <a:ln/>
        </p:spPr>
      </p:sp>
      <p:sp>
        <p:nvSpPr>
          <p:cNvPr id="16" name="Text 14"/>
          <p:cNvSpPr/>
          <p:nvPr/>
        </p:nvSpPr>
        <p:spPr>
          <a:xfrm>
            <a:off x="8229600"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7" name="Text 15"/>
          <p:cNvSpPr/>
          <p:nvPr/>
        </p:nvSpPr>
        <p:spPr>
          <a:xfrm>
            <a:off x="8778240" y="1755648"/>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Controlador</a:t>
            </a:r>
            <a:endParaRPr lang="en-US" sz="1500" dirty="0"/>
          </a:p>
        </p:txBody>
      </p:sp>
      <p:sp>
        <p:nvSpPr>
          <p:cNvPr id="18" name="Text 16"/>
          <p:cNvSpPr/>
          <p:nvPr/>
        </p:nvSpPr>
        <p:spPr>
          <a:xfrm>
            <a:off x="8247888" y="2304288"/>
            <a:ext cx="3081528" cy="121615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Coordina. Nada más.</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1. Recibe la petición</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2. Convierte parámetros</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3. Delega en el modelo</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4. Decide la respuesta</a:t>
            </a:r>
            <a:endParaRPr lang="en-US" sz="1250" dirty="0"/>
          </a:p>
        </p:txBody>
      </p:sp>
      <p:sp>
        <p:nvSpPr>
          <p:cNvPr id="19" name="Shape 17"/>
          <p:cNvSpPr/>
          <p:nvPr/>
        </p:nvSpPr>
        <p:spPr>
          <a:xfrm>
            <a:off x="640080" y="3950208"/>
            <a:ext cx="10908792" cy="1737360"/>
          </a:xfrm>
          <a:prstGeom prst="roundRect">
            <a:avLst>
              <a:gd name="adj" fmla="val 3158"/>
            </a:avLst>
          </a:prstGeom>
          <a:solidFill>
            <a:srgbClr val="FBEDED"/>
          </a:solidFill>
          <a:ln w="15875">
            <a:solidFill>
              <a:srgbClr val="A32020"/>
            </a:solidFill>
            <a:prstDash val="solid"/>
          </a:ln>
        </p:spPr>
      </p:sp>
      <p:sp>
        <p:nvSpPr>
          <p:cNvPr id="20" name="Text 18"/>
          <p:cNvSpPr/>
          <p:nvPr/>
        </p:nvSpPr>
        <p:spPr>
          <a:xfrm>
            <a:off x="914400" y="4069080"/>
            <a:ext cx="10360152" cy="347472"/>
          </a:xfrm>
          <a:prstGeom prst="rect">
            <a:avLst/>
          </a:prstGeom>
          <a:noFill/>
          <a:ln/>
        </p:spPr>
        <p:txBody>
          <a:bodyPr wrap="square" lIns="0" tIns="0" rIns="0" bIns="0" rtlCol="0" anchor="ctr"/>
          <a:lstStyle/>
          <a:p>
            <a:pPr marL="0" indent="0">
              <a:buNone/>
            </a:pPr>
            <a:r>
              <a:rPr lang="en-US" sz="1500" b="1" dirty="0">
                <a:solidFill>
                  <a:srgbClr val="A32020"/>
                </a:solidFill>
                <a:latin typeface="Calibri" pitchFamily="34" charset="0"/>
                <a:ea typeface="Calibri" pitchFamily="34" charset="-122"/>
                <a:cs typeface="Calibri" pitchFamily="34" charset="-120"/>
              </a:rPr>
              <a:t>Síntoma inconfundible de que la frontera se rompió</a:t>
            </a:r>
            <a:endParaRPr lang="en-US" sz="1500" dirty="0"/>
          </a:p>
        </p:txBody>
      </p:sp>
      <p:sp>
        <p:nvSpPr>
          <p:cNvPr id="21" name="Text 19"/>
          <p:cNvSpPr/>
          <p:nvPr/>
        </p:nvSpPr>
        <p:spPr>
          <a:xfrm>
            <a:off x="914400" y="4480560"/>
            <a:ext cx="10360152" cy="1051560"/>
          </a:xfrm>
          <a:prstGeom prst="rect">
            <a:avLst/>
          </a:prstGeom>
          <a:noFill/>
          <a:ln/>
        </p:spPr>
        <p:txBody>
          <a:bodyPr wrap="square" lIns="0" tIns="0" rIns="0" bIns="0" rtlCol="0" anchor="t"/>
          <a:lstStyle/>
          <a:p>
            <a:pPr marL="0" indent="0">
              <a:buNone/>
            </a:pPr>
            <a:r>
              <a:rPr lang="en-US" sz="1350" dirty="0">
                <a:solidFill>
                  <a:srgbClr val="5A2020"/>
                </a:solidFill>
                <a:latin typeface="Calibri" pitchFamily="34" charset="0"/>
                <a:ea typeface="Calibri" pitchFamily="34" charset="-122"/>
                <a:cs typeface="Calibri" pitchFamily="34" charset="-120"/>
              </a:rPr>
              <a:t>Un método de controlador de sesenta líneas que abre una conexión, ejecuta una consulta, recorre el resultado, aplica reglas de negocio y arma un mapa para la vista. Funciona, y por eso sobrevive. En la rúbrica de esta unidad se penaliza de forma explícita, aunque la funcionalidad sea correcta.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Las tres capas en código</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Spring Boot 4.1 · Java 21 LTS · Thymeleaf</a:t>
            </a:r>
            <a:endParaRPr lang="en-US" sz="1400" dirty="0"/>
          </a:p>
        </p:txBody>
      </p:sp>
      <p:sp>
        <p:nvSpPr>
          <p:cNvPr id="4" name="Text 2"/>
          <p:cNvSpPr/>
          <p:nvPr/>
        </p:nvSpPr>
        <p:spPr>
          <a:xfrm>
            <a:off x="640080" y="1463040"/>
            <a:ext cx="3520440" cy="292608"/>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Modelo — entidad</a:t>
            </a:r>
            <a:endParaRPr lang="en-US" sz="1350" dirty="0"/>
          </a:p>
        </p:txBody>
      </p:sp>
      <p:sp>
        <p:nvSpPr>
          <p:cNvPr id="5" name="Shape 3"/>
          <p:cNvSpPr/>
          <p:nvPr/>
        </p:nvSpPr>
        <p:spPr>
          <a:xfrm>
            <a:off x="640080" y="1792224"/>
            <a:ext cx="3520440" cy="2286000"/>
          </a:xfrm>
          <a:prstGeom prst="roundRect">
            <a:avLst>
              <a:gd name="adj" fmla="val 1600"/>
            </a:avLst>
          </a:prstGeom>
          <a:solidFill>
            <a:srgbClr val="23272E"/>
          </a:solidFill>
          <a:ln w="12700">
            <a:solidFill>
              <a:srgbClr val="23272E"/>
            </a:solidFill>
            <a:prstDash val="solid"/>
          </a:ln>
        </p:spPr>
      </p:sp>
      <p:sp>
        <p:nvSpPr>
          <p:cNvPr id="6" name="Text 4"/>
          <p:cNvSpPr/>
          <p:nvPr/>
        </p:nvSpPr>
        <p:spPr>
          <a:xfrm>
            <a:off x="841248" y="1938528"/>
            <a:ext cx="3118104" cy="199339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@Entity</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public class Categoria {</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@Id</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@GeneratedValue(</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strategy = IDENTITY)</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private Long id;</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private String nombre;</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334256" y="1463040"/>
            <a:ext cx="3520440" cy="292608"/>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Vista — plantilla</a:t>
            </a:r>
            <a:endParaRPr lang="en-US" sz="1350" dirty="0"/>
          </a:p>
        </p:txBody>
      </p:sp>
      <p:sp>
        <p:nvSpPr>
          <p:cNvPr id="8" name="Shape 6"/>
          <p:cNvSpPr/>
          <p:nvPr/>
        </p:nvSpPr>
        <p:spPr>
          <a:xfrm>
            <a:off x="4334256" y="1792224"/>
            <a:ext cx="3520440" cy="2286000"/>
          </a:xfrm>
          <a:prstGeom prst="roundRect">
            <a:avLst>
              <a:gd name="adj" fmla="val 1600"/>
            </a:avLst>
          </a:prstGeom>
          <a:solidFill>
            <a:srgbClr val="23272E"/>
          </a:solidFill>
          <a:ln w="12700">
            <a:solidFill>
              <a:srgbClr val="23272E"/>
            </a:solidFill>
            <a:prstDash val="solid"/>
          </a:ln>
        </p:spPr>
      </p:sp>
      <p:sp>
        <p:nvSpPr>
          <p:cNvPr id="9" name="Text 7"/>
          <p:cNvSpPr/>
          <p:nvPr/>
        </p:nvSpPr>
        <p:spPr>
          <a:xfrm>
            <a:off x="4535424" y="1938528"/>
            <a:ext cx="3118104" cy="199339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&lt;table&gt;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&lt;tr th:each=</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"c : ${categorias}"&gt;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&lt;td th:text=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"${c.nombre}"&gt;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Marcador</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&lt;/td&gt;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&lt;/tr&gt;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&lt;/table&gt;</a:t>
            </a:r>
            <a:endParaRPr lang="en-US" sz="1100" dirty="0"/>
          </a:p>
        </p:txBody>
      </p:sp>
      <p:sp>
        <p:nvSpPr>
          <p:cNvPr id="10" name="Text 8"/>
          <p:cNvSpPr/>
          <p:nvPr/>
        </p:nvSpPr>
        <p:spPr>
          <a:xfrm>
            <a:off x="8028432" y="1463040"/>
            <a:ext cx="3520440" cy="292608"/>
          </a:xfrm>
          <a:prstGeom prst="rect">
            <a:avLst/>
          </a:prstGeom>
          <a:noFill/>
          <a:ln/>
        </p:spPr>
        <p:txBody>
          <a:bodyPr wrap="square" lIns="0" tIns="0" rIns="0" bIns="0" rtlCol="0" anchor="ctr"/>
          <a:lstStyle/>
          <a:p>
            <a:pPr marL="0" indent="0">
              <a:buNone/>
            </a:pPr>
            <a:r>
              <a:rPr lang="en-US" sz="1350" b="1" dirty="0">
                <a:solidFill>
                  <a:srgbClr val="CC9900"/>
                </a:solidFill>
                <a:latin typeface="Calibri" pitchFamily="34" charset="0"/>
                <a:ea typeface="Calibri" pitchFamily="34" charset="-122"/>
                <a:cs typeface="Calibri" pitchFamily="34" charset="-120"/>
              </a:rPr>
              <a:t>Controlador</a:t>
            </a:r>
            <a:endParaRPr lang="en-US" sz="1350" dirty="0"/>
          </a:p>
        </p:txBody>
      </p:sp>
      <p:sp>
        <p:nvSpPr>
          <p:cNvPr id="11" name="Shape 9"/>
          <p:cNvSpPr/>
          <p:nvPr/>
        </p:nvSpPr>
        <p:spPr>
          <a:xfrm>
            <a:off x="8028432" y="1792224"/>
            <a:ext cx="3520440" cy="2286000"/>
          </a:xfrm>
          <a:prstGeom prst="roundRect">
            <a:avLst>
              <a:gd name="adj" fmla="val 1600"/>
            </a:avLst>
          </a:prstGeom>
          <a:solidFill>
            <a:srgbClr val="23272E"/>
          </a:solidFill>
          <a:ln w="12700">
            <a:solidFill>
              <a:srgbClr val="23272E"/>
            </a:solidFill>
            <a:prstDash val="solid"/>
          </a:ln>
        </p:spPr>
      </p:sp>
      <p:sp>
        <p:nvSpPr>
          <p:cNvPr id="12" name="Text 10"/>
          <p:cNvSpPr/>
          <p:nvPr/>
        </p:nvSpPr>
        <p:spPr>
          <a:xfrm>
            <a:off x="8229600" y="1938528"/>
            <a:ext cx="3118104" cy="199339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@Controller</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@RequestMapping(</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"/categorias")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class CategoriaCtrl {</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@GetMapping</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String listar(Model m)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m.addAttribute("...");</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return "cat/lista";</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p:txBody>
      </p:sp>
      <p:sp>
        <p:nvSpPr>
          <p:cNvPr id="13" name="Text 11"/>
          <p:cNvSpPr/>
          <p:nvPr/>
        </p:nvSpPr>
        <p:spPr>
          <a:xfrm>
            <a:off x="640080" y="4279392"/>
            <a:ext cx="10908792" cy="141732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El método del controlador tiene cuatro líneas y ninguna contiene lógica de negocio.</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"cat/lista" no es una ruta de archivo: es un nombre lógico que el resolvedor traduce a templates/cat/lista.html.</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El texto "Marcador" nunca llega al navegador; permite abrir la plantilla en disco y verla maquetada sin arrancar el servidor.</a:t>
            </a:r>
            <a:endParaRPr lang="en-US" sz="1350" dirty="0"/>
          </a:p>
        </p:txBody>
      </p:sp>
      <p:sp>
        <p:nvSpPr>
          <p:cNvPr id="14" name="Shape 12"/>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15" name="Text 13"/>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Esa indirección del nombre lógico es lo que permite cambiar de motor de plantillas sin tocar el controlador.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Ciclo de vida de una petición</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Ocho etapas, y el código del estudiante solo se ejecuta en la sexta</a:t>
            </a:r>
            <a:endParaRPr lang="en-US" sz="1400" dirty="0"/>
          </a:p>
        </p:txBody>
      </p:sp>
      <p:sp>
        <p:nvSpPr>
          <p:cNvPr id="4" name="Shape 2"/>
          <p:cNvSpPr/>
          <p:nvPr/>
        </p:nvSpPr>
        <p:spPr>
          <a:xfrm>
            <a:off x="640080" y="1572768"/>
            <a:ext cx="2606040" cy="1207008"/>
          </a:xfrm>
          <a:prstGeom prst="roundRect">
            <a:avLst>
              <a:gd name="adj" fmla="val 3788"/>
            </a:avLst>
          </a:prstGeom>
          <a:solidFill>
            <a:srgbClr val="EEF4F0"/>
          </a:solidFill>
          <a:ln w="12700">
            <a:solidFill>
              <a:srgbClr val="EEF4F0"/>
            </a:solidFill>
            <a:prstDash val="solid"/>
          </a:ln>
        </p:spPr>
      </p:sp>
      <p:sp>
        <p:nvSpPr>
          <p:cNvPr id="5" name="Shape 3"/>
          <p:cNvSpPr/>
          <p:nvPr/>
        </p:nvSpPr>
        <p:spPr>
          <a:xfrm>
            <a:off x="804672" y="1719072"/>
            <a:ext cx="384048" cy="384048"/>
          </a:xfrm>
          <a:prstGeom prst="ellipse">
            <a:avLst/>
          </a:prstGeom>
          <a:solidFill>
            <a:srgbClr val="006633"/>
          </a:solidFill>
          <a:ln/>
        </p:spPr>
      </p:sp>
      <p:sp>
        <p:nvSpPr>
          <p:cNvPr id="6" name="Text 4"/>
          <p:cNvSpPr/>
          <p:nvPr/>
        </p:nvSpPr>
        <p:spPr>
          <a:xfrm>
            <a:off x="804672" y="17190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719072"/>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Emisión</a:t>
            </a:r>
            <a:endParaRPr lang="en-US" sz="1350" dirty="0"/>
          </a:p>
        </p:txBody>
      </p:sp>
      <p:sp>
        <p:nvSpPr>
          <p:cNvPr id="8" name="Text 6"/>
          <p:cNvSpPr/>
          <p:nvPr/>
        </p:nvSpPr>
        <p:spPr>
          <a:xfrm>
            <a:off x="822960" y="2148840"/>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El navegador construye método, URI, cabeceras y cuerpo</a:t>
            </a:r>
            <a:endParaRPr lang="en-US" sz="1050" dirty="0"/>
          </a:p>
        </p:txBody>
      </p:sp>
      <p:sp>
        <p:nvSpPr>
          <p:cNvPr id="9" name="Shape 7"/>
          <p:cNvSpPr/>
          <p:nvPr/>
        </p:nvSpPr>
        <p:spPr>
          <a:xfrm>
            <a:off x="3419856" y="1572768"/>
            <a:ext cx="2606040" cy="1207008"/>
          </a:xfrm>
          <a:prstGeom prst="roundRect">
            <a:avLst>
              <a:gd name="adj" fmla="val 3788"/>
            </a:avLst>
          </a:prstGeom>
          <a:solidFill>
            <a:srgbClr val="FBF3DE"/>
          </a:solidFill>
          <a:ln w="15875">
            <a:solidFill>
              <a:srgbClr val="CC9900"/>
            </a:solidFill>
            <a:prstDash val="solid"/>
          </a:ln>
        </p:spPr>
      </p:sp>
      <p:sp>
        <p:nvSpPr>
          <p:cNvPr id="10" name="Shape 8"/>
          <p:cNvSpPr/>
          <p:nvPr/>
        </p:nvSpPr>
        <p:spPr>
          <a:xfrm>
            <a:off x="3584448" y="1719072"/>
            <a:ext cx="384048" cy="384048"/>
          </a:xfrm>
          <a:prstGeom prst="ellipse">
            <a:avLst/>
          </a:prstGeom>
          <a:solidFill>
            <a:srgbClr val="CC9900"/>
          </a:solidFill>
          <a:ln/>
        </p:spPr>
      </p:sp>
      <p:sp>
        <p:nvSpPr>
          <p:cNvPr id="11" name="Text 9"/>
          <p:cNvSpPr/>
          <p:nvPr/>
        </p:nvSpPr>
        <p:spPr>
          <a:xfrm>
            <a:off x="3584448" y="17190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041648" y="1719072"/>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Filtros</a:t>
            </a:r>
            <a:endParaRPr lang="en-US" sz="1350" dirty="0"/>
          </a:p>
        </p:txBody>
      </p:sp>
      <p:sp>
        <p:nvSpPr>
          <p:cNvPr id="13" name="Text 11"/>
          <p:cNvSpPr/>
          <p:nvPr/>
        </p:nvSpPr>
        <p:spPr>
          <a:xfrm>
            <a:off x="3602736" y="2148840"/>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Seguridad, CORS, registro de acceso, compresión</a:t>
            </a:r>
            <a:endParaRPr lang="en-US" sz="1050" dirty="0"/>
          </a:p>
        </p:txBody>
      </p:sp>
      <p:sp>
        <p:nvSpPr>
          <p:cNvPr id="14" name="Shape 12"/>
          <p:cNvSpPr/>
          <p:nvPr/>
        </p:nvSpPr>
        <p:spPr>
          <a:xfrm>
            <a:off x="6199632" y="1572768"/>
            <a:ext cx="2606040" cy="1207008"/>
          </a:xfrm>
          <a:prstGeom prst="roundRect">
            <a:avLst>
              <a:gd name="adj" fmla="val 3788"/>
            </a:avLst>
          </a:prstGeom>
          <a:solidFill>
            <a:srgbClr val="EEF4F0"/>
          </a:solidFill>
          <a:ln w="12700">
            <a:solidFill>
              <a:srgbClr val="EEF4F0"/>
            </a:solidFill>
            <a:prstDash val="solid"/>
          </a:ln>
        </p:spPr>
      </p:sp>
      <p:sp>
        <p:nvSpPr>
          <p:cNvPr id="15" name="Shape 13"/>
          <p:cNvSpPr/>
          <p:nvPr/>
        </p:nvSpPr>
        <p:spPr>
          <a:xfrm>
            <a:off x="6364224" y="1719072"/>
            <a:ext cx="384048" cy="384048"/>
          </a:xfrm>
          <a:prstGeom prst="ellipse">
            <a:avLst/>
          </a:prstGeom>
          <a:solidFill>
            <a:srgbClr val="006633"/>
          </a:solidFill>
          <a:ln/>
        </p:spPr>
      </p:sp>
      <p:sp>
        <p:nvSpPr>
          <p:cNvPr id="16" name="Text 14"/>
          <p:cNvSpPr/>
          <p:nvPr/>
        </p:nvSpPr>
        <p:spPr>
          <a:xfrm>
            <a:off x="6364224" y="17190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821424" y="1719072"/>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Despacho</a:t>
            </a:r>
            <a:endParaRPr lang="en-US" sz="1350" dirty="0"/>
          </a:p>
        </p:txBody>
      </p:sp>
      <p:sp>
        <p:nvSpPr>
          <p:cNvPr id="18" name="Text 16"/>
          <p:cNvSpPr/>
          <p:nvPr/>
        </p:nvSpPr>
        <p:spPr>
          <a:xfrm>
            <a:off x="6382512" y="2148840"/>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El DispatcherServlet toma el control</a:t>
            </a:r>
            <a:endParaRPr lang="en-US" sz="1050" dirty="0"/>
          </a:p>
        </p:txBody>
      </p:sp>
      <p:sp>
        <p:nvSpPr>
          <p:cNvPr id="19" name="Shape 17"/>
          <p:cNvSpPr/>
          <p:nvPr/>
        </p:nvSpPr>
        <p:spPr>
          <a:xfrm>
            <a:off x="8979408" y="1572768"/>
            <a:ext cx="2606040" cy="1207008"/>
          </a:xfrm>
          <a:prstGeom prst="roundRect">
            <a:avLst>
              <a:gd name="adj" fmla="val 3788"/>
            </a:avLst>
          </a:prstGeom>
          <a:solidFill>
            <a:srgbClr val="EEF4F0"/>
          </a:solidFill>
          <a:ln w="12700">
            <a:solidFill>
              <a:srgbClr val="EEF4F0"/>
            </a:solidFill>
            <a:prstDash val="solid"/>
          </a:ln>
        </p:spPr>
      </p:sp>
      <p:sp>
        <p:nvSpPr>
          <p:cNvPr id="20" name="Shape 18"/>
          <p:cNvSpPr/>
          <p:nvPr/>
        </p:nvSpPr>
        <p:spPr>
          <a:xfrm>
            <a:off x="9144000" y="1719072"/>
            <a:ext cx="384048" cy="384048"/>
          </a:xfrm>
          <a:prstGeom prst="ellipse">
            <a:avLst/>
          </a:prstGeom>
          <a:solidFill>
            <a:srgbClr val="006633"/>
          </a:solidFill>
          <a:ln/>
        </p:spPr>
      </p:sp>
      <p:sp>
        <p:nvSpPr>
          <p:cNvPr id="21" name="Text 19"/>
          <p:cNvSpPr/>
          <p:nvPr/>
        </p:nvSpPr>
        <p:spPr>
          <a:xfrm>
            <a:off x="9144000" y="171907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9601200" y="1719072"/>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Enrutamiento</a:t>
            </a:r>
            <a:endParaRPr lang="en-US" sz="1350" dirty="0"/>
          </a:p>
        </p:txBody>
      </p:sp>
      <p:sp>
        <p:nvSpPr>
          <p:cNvPr id="23" name="Text 21"/>
          <p:cNvSpPr/>
          <p:nvPr/>
        </p:nvSpPr>
        <p:spPr>
          <a:xfrm>
            <a:off x="9162288" y="2148840"/>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HandlerMapping busca el método que atiende la ruta</a:t>
            </a:r>
            <a:endParaRPr lang="en-US" sz="1050" dirty="0"/>
          </a:p>
        </p:txBody>
      </p:sp>
      <p:sp>
        <p:nvSpPr>
          <p:cNvPr id="24" name="Shape 22"/>
          <p:cNvSpPr/>
          <p:nvPr/>
        </p:nvSpPr>
        <p:spPr>
          <a:xfrm>
            <a:off x="640080" y="2980944"/>
            <a:ext cx="2606040" cy="1207008"/>
          </a:xfrm>
          <a:prstGeom prst="roundRect">
            <a:avLst>
              <a:gd name="adj" fmla="val 3788"/>
            </a:avLst>
          </a:prstGeom>
          <a:solidFill>
            <a:srgbClr val="FBF3DE"/>
          </a:solidFill>
          <a:ln w="15875">
            <a:solidFill>
              <a:srgbClr val="CC9900"/>
            </a:solidFill>
            <a:prstDash val="solid"/>
          </a:ln>
        </p:spPr>
      </p:sp>
      <p:sp>
        <p:nvSpPr>
          <p:cNvPr id="25" name="Shape 23"/>
          <p:cNvSpPr/>
          <p:nvPr/>
        </p:nvSpPr>
        <p:spPr>
          <a:xfrm>
            <a:off x="804672" y="3127248"/>
            <a:ext cx="384048" cy="384048"/>
          </a:xfrm>
          <a:prstGeom prst="ellipse">
            <a:avLst/>
          </a:prstGeom>
          <a:solidFill>
            <a:srgbClr val="CC9900"/>
          </a:solidFill>
          <a:ln/>
        </p:spPr>
      </p:sp>
      <p:sp>
        <p:nvSpPr>
          <p:cNvPr id="26" name="Text 24"/>
          <p:cNvSpPr/>
          <p:nvPr/>
        </p:nvSpPr>
        <p:spPr>
          <a:xfrm>
            <a:off x="804672" y="31272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261872" y="3127248"/>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Enlace de datos</a:t>
            </a:r>
            <a:endParaRPr lang="en-US" sz="1350" dirty="0"/>
          </a:p>
        </p:txBody>
      </p:sp>
      <p:sp>
        <p:nvSpPr>
          <p:cNvPr id="28" name="Text 26"/>
          <p:cNvSpPr/>
          <p:nvPr/>
        </p:nvSpPr>
        <p:spPr>
          <a:xfrm>
            <a:off x="822960" y="3557016"/>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Conversión de parámetros a objetos y validación</a:t>
            </a:r>
            <a:endParaRPr lang="en-US" sz="1050" dirty="0"/>
          </a:p>
        </p:txBody>
      </p:sp>
      <p:sp>
        <p:nvSpPr>
          <p:cNvPr id="29" name="Shape 27"/>
          <p:cNvSpPr/>
          <p:nvPr/>
        </p:nvSpPr>
        <p:spPr>
          <a:xfrm>
            <a:off x="3419856" y="2980944"/>
            <a:ext cx="2606040" cy="1207008"/>
          </a:xfrm>
          <a:prstGeom prst="roundRect">
            <a:avLst>
              <a:gd name="adj" fmla="val 3788"/>
            </a:avLst>
          </a:prstGeom>
          <a:solidFill>
            <a:srgbClr val="EEF4F0"/>
          </a:solidFill>
          <a:ln w="12700">
            <a:solidFill>
              <a:srgbClr val="EEF4F0"/>
            </a:solidFill>
            <a:prstDash val="solid"/>
          </a:ln>
        </p:spPr>
      </p:sp>
      <p:sp>
        <p:nvSpPr>
          <p:cNvPr id="30" name="Shape 28"/>
          <p:cNvSpPr/>
          <p:nvPr/>
        </p:nvSpPr>
        <p:spPr>
          <a:xfrm>
            <a:off x="3584448" y="3127248"/>
            <a:ext cx="384048" cy="384048"/>
          </a:xfrm>
          <a:prstGeom prst="ellipse">
            <a:avLst/>
          </a:prstGeom>
          <a:solidFill>
            <a:srgbClr val="006633"/>
          </a:solidFill>
          <a:ln/>
        </p:spPr>
      </p:sp>
      <p:sp>
        <p:nvSpPr>
          <p:cNvPr id="31" name="Text 29"/>
          <p:cNvSpPr/>
          <p:nvPr/>
        </p:nvSpPr>
        <p:spPr>
          <a:xfrm>
            <a:off x="3584448" y="31272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4041648" y="3127248"/>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Ejecución</a:t>
            </a:r>
            <a:endParaRPr lang="en-US" sz="1350" dirty="0"/>
          </a:p>
        </p:txBody>
      </p:sp>
      <p:sp>
        <p:nvSpPr>
          <p:cNvPr id="33" name="Text 31"/>
          <p:cNvSpPr/>
          <p:nvPr/>
        </p:nvSpPr>
        <p:spPr>
          <a:xfrm>
            <a:off x="3602736" y="3557016"/>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Se invoca el método del controlador</a:t>
            </a:r>
            <a:endParaRPr lang="en-US" sz="1050" dirty="0"/>
          </a:p>
        </p:txBody>
      </p:sp>
      <p:sp>
        <p:nvSpPr>
          <p:cNvPr id="34" name="Shape 32"/>
          <p:cNvSpPr/>
          <p:nvPr/>
        </p:nvSpPr>
        <p:spPr>
          <a:xfrm>
            <a:off x="6199632" y="2980944"/>
            <a:ext cx="2606040" cy="1207008"/>
          </a:xfrm>
          <a:prstGeom prst="roundRect">
            <a:avLst>
              <a:gd name="adj" fmla="val 3788"/>
            </a:avLst>
          </a:prstGeom>
          <a:solidFill>
            <a:srgbClr val="EEF4F0"/>
          </a:solidFill>
          <a:ln w="12700">
            <a:solidFill>
              <a:srgbClr val="EEF4F0"/>
            </a:solidFill>
            <a:prstDash val="solid"/>
          </a:ln>
        </p:spPr>
      </p:sp>
      <p:sp>
        <p:nvSpPr>
          <p:cNvPr id="35" name="Shape 33"/>
          <p:cNvSpPr/>
          <p:nvPr/>
        </p:nvSpPr>
        <p:spPr>
          <a:xfrm>
            <a:off x="6364224" y="3127248"/>
            <a:ext cx="384048" cy="384048"/>
          </a:xfrm>
          <a:prstGeom prst="ellipse">
            <a:avLst/>
          </a:prstGeom>
          <a:solidFill>
            <a:srgbClr val="006633"/>
          </a:solidFill>
          <a:ln/>
        </p:spPr>
      </p:sp>
      <p:sp>
        <p:nvSpPr>
          <p:cNvPr id="36" name="Text 34"/>
          <p:cNvSpPr/>
          <p:nvPr/>
        </p:nvSpPr>
        <p:spPr>
          <a:xfrm>
            <a:off x="6364224" y="31272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6821424" y="3127248"/>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Dominio</a:t>
            </a:r>
            <a:endParaRPr lang="en-US" sz="1350" dirty="0"/>
          </a:p>
        </p:txBody>
      </p:sp>
      <p:sp>
        <p:nvSpPr>
          <p:cNvPr id="38" name="Text 36"/>
          <p:cNvSpPr/>
          <p:nvPr/>
        </p:nvSpPr>
        <p:spPr>
          <a:xfrm>
            <a:off x="6382512" y="3557016"/>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Servicio y repositorio resuelven la operación</a:t>
            </a:r>
            <a:endParaRPr lang="en-US" sz="1050" dirty="0"/>
          </a:p>
        </p:txBody>
      </p:sp>
      <p:sp>
        <p:nvSpPr>
          <p:cNvPr id="39" name="Shape 37"/>
          <p:cNvSpPr/>
          <p:nvPr/>
        </p:nvSpPr>
        <p:spPr>
          <a:xfrm>
            <a:off x="8979408" y="2980944"/>
            <a:ext cx="2606040" cy="1207008"/>
          </a:xfrm>
          <a:prstGeom prst="roundRect">
            <a:avLst>
              <a:gd name="adj" fmla="val 3788"/>
            </a:avLst>
          </a:prstGeom>
          <a:solidFill>
            <a:srgbClr val="EEF4F0"/>
          </a:solidFill>
          <a:ln w="12700">
            <a:solidFill>
              <a:srgbClr val="EEF4F0"/>
            </a:solidFill>
            <a:prstDash val="solid"/>
          </a:ln>
        </p:spPr>
      </p:sp>
      <p:sp>
        <p:nvSpPr>
          <p:cNvPr id="40" name="Shape 38"/>
          <p:cNvSpPr/>
          <p:nvPr/>
        </p:nvSpPr>
        <p:spPr>
          <a:xfrm>
            <a:off x="9144000" y="3127248"/>
            <a:ext cx="384048" cy="384048"/>
          </a:xfrm>
          <a:prstGeom prst="ellipse">
            <a:avLst/>
          </a:prstGeom>
          <a:solidFill>
            <a:srgbClr val="006633"/>
          </a:solidFill>
          <a:ln/>
        </p:spPr>
      </p:sp>
      <p:sp>
        <p:nvSpPr>
          <p:cNvPr id="41" name="Text 39"/>
          <p:cNvSpPr/>
          <p:nvPr/>
        </p:nvSpPr>
        <p:spPr>
          <a:xfrm>
            <a:off x="9144000" y="31272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9601200" y="3127248"/>
            <a:ext cx="1819656" cy="384048"/>
          </a:xfrm>
          <a:prstGeom prst="rect">
            <a:avLst/>
          </a:prstGeom>
          <a:noFill/>
          <a:ln/>
        </p:spPr>
        <p:txBody>
          <a:bodyPr wrap="square" lIns="0" tIns="0" rIns="0" bIns="0" rtlCol="0" anchor="ctr"/>
          <a:lstStyle/>
          <a:p>
            <a:pPr marL="0" indent="0">
              <a:buNone/>
            </a:pPr>
            <a:r>
              <a:rPr lang="en-US" sz="1350" b="1" dirty="0">
                <a:solidFill>
                  <a:srgbClr val="00401F"/>
                </a:solidFill>
                <a:latin typeface="Calibri" pitchFamily="34" charset="0"/>
                <a:ea typeface="Calibri" pitchFamily="34" charset="-122"/>
                <a:cs typeface="Calibri" pitchFamily="34" charset="-120"/>
              </a:rPr>
              <a:t>Renderizado</a:t>
            </a:r>
            <a:endParaRPr lang="en-US" sz="1350" dirty="0"/>
          </a:p>
        </p:txBody>
      </p:sp>
      <p:sp>
        <p:nvSpPr>
          <p:cNvPr id="43" name="Text 41"/>
          <p:cNvSpPr/>
          <p:nvPr/>
        </p:nvSpPr>
        <p:spPr>
          <a:xfrm>
            <a:off x="9162288" y="3557016"/>
            <a:ext cx="2240280" cy="530352"/>
          </a:xfrm>
          <a:prstGeom prst="rect">
            <a:avLst/>
          </a:prstGeom>
          <a:noFill/>
          <a:ln/>
        </p:spPr>
        <p:txBody>
          <a:bodyPr wrap="square" lIns="0" tIns="0" rIns="0" bIns="0" rtlCol="0" anchor="t"/>
          <a:lstStyle/>
          <a:p>
            <a:pPr marL="0" indent="0">
              <a:buNone/>
            </a:pPr>
            <a:r>
              <a:rPr lang="en-US" sz="1050" dirty="0">
                <a:solidFill>
                  <a:srgbClr val="5A6472"/>
                </a:solidFill>
                <a:latin typeface="Calibri" pitchFamily="34" charset="0"/>
                <a:ea typeface="Calibri" pitchFamily="34" charset="-122"/>
                <a:cs typeface="Calibri" pitchFamily="34" charset="-120"/>
              </a:rPr>
              <a:t>El resolvedor localiza la plantilla y la rellena</a:t>
            </a:r>
            <a:endParaRPr lang="en-US" sz="1050" dirty="0"/>
          </a:p>
        </p:txBody>
      </p:sp>
      <p:sp>
        <p:nvSpPr>
          <p:cNvPr id="44" name="Shape 42"/>
          <p:cNvSpPr/>
          <p:nvPr/>
        </p:nvSpPr>
        <p:spPr>
          <a:xfrm>
            <a:off x="640080" y="4443984"/>
            <a:ext cx="10908792" cy="1225296"/>
          </a:xfrm>
          <a:prstGeom prst="roundRect">
            <a:avLst>
              <a:gd name="adj" fmla="val 4478"/>
            </a:avLst>
          </a:prstGeom>
          <a:solidFill>
            <a:srgbClr val="FBF3DE"/>
          </a:solidFill>
          <a:ln w="15875">
            <a:solidFill>
              <a:srgbClr val="CC9900"/>
            </a:solidFill>
            <a:prstDash val="solid"/>
          </a:ln>
        </p:spPr>
      </p:sp>
      <p:sp>
        <p:nvSpPr>
          <p:cNvPr id="45" name="Text 43"/>
          <p:cNvSpPr/>
          <p:nvPr/>
        </p:nvSpPr>
        <p:spPr>
          <a:xfrm>
            <a:off x="914400" y="4553712"/>
            <a:ext cx="10360152" cy="347472"/>
          </a:xfrm>
          <a:prstGeom prst="rect">
            <a:avLst/>
          </a:prstGeom>
          <a:noFill/>
          <a:ln/>
        </p:spPr>
        <p:txBody>
          <a:bodyPr wrap="square" lIns="0" tIns="0" rIns="0" bIns="0" rtlCol="0" anchor="ctr"/>
          <a:lstStyle/>
          <a:p>
            <a:pPr marL="0" indent="0">
              <a:buNone/>
            </a:pPr>
            <a:r>
              <a:rPr lang="en-US" sz="1450" b="1" dirty="0">
                <a:solidFill>
                  <a:srgbClr val="00401F"/>
                </a:solidFill>
                <a:latin typeface="Calibri" pitchFamily="34" charset="0"/>
                <a:ea typeface="Calibri" pitchFamily="34" charset="-122"/>
                <a:cs typeface="Calibri" pitchFamily="34" charset="-120"/>
              </a:rPr>
              <a:t>Las etapas 2 y 5 causan la mayoría de los problemas, y ambas ocurren ANTES de que se ejecute el código del estudiante.</a:t>
            </a:r>
            <a:endParaRPr lang="en-US" sz="1450" dirty="0"/>
          </a:p>
        </p:txBody>
      </p:sp>
      <p:sp>
        <p:nvSpPr>
          <p:cNvPr id="46" name="Text 44"/>
          <p:cNvSpPr/>
          <p:nvPr/>
        </p:nvSpPr>
        <p:spPr>
          <a:xfrm>
            <a:off x="914400" y="4956048"/>
            <a:ext cx="10360152" cy="621792"/>
          </a:xfrm>
          <a:prstGeom prst="rect">
            <a:avLst/>
          </a:prstGeom>
          <a:noFill/>
          <a:ln/>
        </p:spPr>
        <p:txBody>
          <a:bodyPr wrap="square" lIns="0" tIns="0" rIns="0" bIns="0" rtlCol="0" anchor="t"/>
          <a:lstStyle/>
          <a:p>
            <a:pPr marL="0" indent="0">
              <a:buNone/>
            </a:pPr>
            <a:r>
              <a:rPr lang="en-US" sz="1300" dirty="0">
                <a:solidFill>
                  <a:srgbClr val="2B333C"/>
                </a:solidFill>
                <a:latin typeface="Calibri" pitchFamily="34" charset="0"/>
                <a:ea typeface="Calibri" pitchFamily="34" charset="-122"/>
                <a:cs typeface="Calibri" pitchFamily="34" charset="-120"/>
              </a:rPr>
              <a:t>Formulario que llega vacío → casi siempre desajuste entre el atributo name del campo HTML y el nombre de la propiedad del objeto destino, no un fallo del controlador. Un punto de interrupción en la primera línea del método lo resuelve en segundos.</a:t>
            </a:r>
            <a:endParaRPr lang="en-US" sz="1300" dirty="0"/>
          </a:p>
        </p:txBody>
      </p:sp>
      <p:sp>
        <p:nvSpPr>
          <p:cNvPr id="47" name="Shape 45"/>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48" name="Text 46"/>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Diagnóstico rápido: logging.level.org.springframework.web=DEBUG muestra en el registro qué handler se resolvió.</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Ventajas, costos y criterio de decisión</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Todo patrón compra algo a cambio de algo</a:t>
            </a:r>
            <a:endParaRPr lang="en-US" sz="1400" dirty="0"/>
          </a:p>
        </p:txBody>
      </p:sp>
      <p:sp>
        <p:nvSpPr>
          <p:cNvPr id="4" name="Shape 2"/>
          <p:cNvSpPr/>
          <p:nvPr/>
        </p:nvSpPr>
        <p:spPr>
          <a:xfrm>
            <a:off x="640080" y="1554480"/>
            <a:ext cx="5349240" cy="1874520"/>
          </a:xfrm>
          <a:prstGeom prst="roundRect">
            <a:avLst>
              <a:gd name="adj" fmla="val 2927"/>
            </a:avLst>
          </a:prstGeom>
          <a:solidFill>
            <a:srgbClr val="EEF4F0"/>
          </a:solidFill>
          <a:ln w="12700">
            <a:solidFill>
              <a:srgbClr val="EEF4F0"/>
            </a:solidFill>
            <a:prstDash val="solid"/>
          </a:ln>
        </p:spPr>
      </p:sp>
      <p:sp>
        <p:nvSpPr>
          <p:cNvPr id="5" name="Shape 3"/>
          <p:cNvSpPr/>
          <p:nvPr/>
        </p:nvSpPr>
        <p:spPr>
          <a:xfrm>
            <a:off x="841248" y="1755648"/>
            <a:ext cx="457200" cy="457200"/>
          </a:xfrm>
          <a:prstGeom prst="ellipse">
            <a:avLst/>
          </a:prstGeom>
          <a:solidFill>
            <a:srgbClr val="006633"/>
          </a:solidFill>
          <a:ln/>
        </p:spPr>
      </p:sp>
      <p:sp>
        <p:nvSpPr>
          <p:cNvPr id="6" name="Text 4"/>
          <p:cNvSpPr/>
          <p:nvPr/>
        </p:nvSpPr>
        <p:spPr>
          <a:xfrm>
            <a:off x="841248"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389888" y="175564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Lo que se gana</a:t>
            </a:r>
            <a:endParaRPr lang="en-US" sz="1500" dirty="0"/>
          </a:p>
        </p:txBody>
      </p:sp>
      <p:sp>
        <p:nvSpPr>
          <p:cNvPr id="8" name="Text 6"/>
          <p:cNvSpPr/>
          <p:nvPr/>
        </p:nvSpPr>
        <p:spPr>
          <a:xfrm>
            <a:off x="859536" y="2304288"/>
            <a:ext cx="4910328" cy="94183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Testabilidad: el modelo se prueba sin servidor.</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Sustituibilidad: la misma lógica alimenta HTML, JSON y PDF.</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Paralelismo: quien maqueta y quien programa no se bloquean.</a:t>
            </a:r>
            <a:endParaRPr lang="en-US" sz="1250" dirty="0"/>
          </a:p>
        </p:txBody>
      </p:sp>
      <p:sp>
        <p:nvSpPr>
          <p:cNvPr id="9" name="Shape 7"/>
          <p:cNvSpPr/>
          <p:nvPr/>
        </p:nvSpPr>
        <p:spPr>
          <a:xfrm>
            <a:off x="6199632" y="1554480"/>
            <a:ext cx="5349240" cy="1874520"/>
          </a:xfrm>
          <a:prstGeom prst="roundRect">
            <a:avLst>
              <a:gd name="adj" fmla="val 2927"/>
            </a:avLst>
          </a:prstGeom>
          <a:solidFill>
            <a:srgbClr val="FBEDED"/>
          </a:solidFill>
          <a:ln w="12700">
            <a:solidFill>
              <a:srgbClr val="FBEDED"/>
            </a:solidFill>
            <a:prstDash val="solid"/>
          </a:ln>
        </p:spPr>
      </p:sp>
      <p:sp>
        <p:nvSpPr>
          <p:cNvPr id="10" name="Shape 8"/>
          <p:cNvSpPr/>
          <p:nvPr/>
        </p:nvSpPr>
        <p:spPr>
          <a:xfrm>
            <a:off x="6400800" y="1755648"/>
            <a:ext cx="457200" cy="457200"/>
          </a:xfrm>
          <a:prstGeom prst="ellipse">
            <a:avLst/>
          </a:prstGeom>
          <a:solidFill>
            <a:srgbClr val="A32020"/>
          </a:solidFill>
          <a:ln/>
        </p:spPr>
      </p:sp>
      <p:sp>
        <p:nvSpPr>
          <p:cNvPr id="11" name="Text 9"/>
          <p:cNvSpPr/>
          <p:nvPr/>
        </p:nvSpPr>
        <p:spPr>
          <a:xfrm>
            <a:off x="6400800" y="1755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949440" y="175564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Lo que se paga</a:t>
            </a:r>
            <a:endParaRPr lang="en-US" sz="1500" dirty="0"/>
          </a:p>
        </p:txBody>
      </p:sp>
      <p:sp>
        <p:nvSpPr>
          <p:cNvPr id="13" name="Text 11"/>
          <p:cNvSpPr/>
          <p:nvPr/>
        </p:nvSpPr>
        <p:spPr>
          <a:xfrm>
            <a:off x="6419088" y="2304288"/>
            <a:ext cx="4910328" cy="94183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Seis archivos donde antes bastaba uno.</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Curva de enrutamiento e inyección de dependencias.</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Tentación del modelo anémico: objetos sin comportamiento.</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3639312"/>
          <a:ext cx="10908792" cy="914400"/>
        </p:xfrm>
        <a:graphic>
          <a:graphicData uri="http://schemas.openxmlformats.org/drawingml/2006/table">
            <a:tbl>
              <a:tblPr/>
              <a:tblGrid>
                <a:gridCol w="4480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27832">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Situación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MVC en servidor</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API REST + SPA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Sitio de contenido con SEO crítico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Recomendado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Requiere renderizado en servidor</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Panel administrativo interno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Adecuado y económico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Sobredimensionado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Aplicación con interacción intensa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Costoso en peticiones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Recomendado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Varios clientes: web, móvil, terceros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Inviable sin duplicar</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Recomendado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Equipo pequeño sin perfil de frontend</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Recomendado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Riesgo de sobrecarga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Ejercicio integrador 4.A</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CRUD completo con MVC del lado del servidor · 6 a 8 horas</a:t>
            </a:r>
            <a:endParaRPr lang="en-US" sz="1400" dirty="0"/>
          </a:p>
        </p:txBody>
      </p:sp>
      <p:sp>
        <p:nvSpPr>
          <p:cNvPr id="4" name="Text 2"/>
          <p:cNvSpPr/>
          <p:nvPr/>
        </p:nvSpPr>
        <p:spPr>
          <a:xfrm>
            <a:off x="640080" y="1517904"/>
            <a:ext cx="5349240" cy="210312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Listado paginado, 10 por página, orden alfabético</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Alta con validación de servidor: 3–60 caracteres, único</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Edición en /categorias/{id}/editar</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Baja lógica, no física</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Búsqueda por fragmento de nombre</a:t>
            </a:r>
            <a:endParaRPr lang="en-US" sz="1350" dirty="0"/>
          </a:p>
        </p:txBody>
      </p:sp>
      <p:sp>
        <p:nvSpPr>
          <p:cNvPr id="5" name="Text 3"/>
          <p:cNvSpPr/>
          <p:nvPr/>
        </p:nvSpPr>
        <p:spPr>
          <a:xfrm>
            <a:off x="640080" y="1207008"/>
            <a:ext cx="5349240" cy="274320"/>
          </a:xfrm>
          <a:prstGeom prst="rect">
            <a:avLst/>
          </a:prstGeom>
          <a:noFill/>
          <a:ln/>
        </p:spPr>
        <p:txBody>
          <a:bodyPr wrap="square" lIns="0" tIns="0" rIns="0" bIns="0" rtlCol="0" anchor="ctr"/>
          <a:lstStyle/>
          <a:p>
            <a:pPr marL="0" indent="0">
              <a:buNone/>
            </a:pPr>
            <a:r>
              <a:rPr lang="en-US" sz="1400" b="1" dirty="0">
                <a:solidFill>
                  <a:srgbClr val="006633"/>
                </a:solidFill>
                <a:latin typeface="Calibri" pitchFamily="34" charset="0"/>
                <a:ea typeface="Calibri" pitchFamily="34" charset="-122"/>
                <a:cs typeface="Calibri" pitchFamily="34" charset="-120"/>
              </a:rPr>
              <a:t>Requisitos funcionales</a:t>
            </a:r>
            <a:endParaRPr lang="en-US" sz="1400" dirty="0"/>
          </a:p>
        </p:txBody>
      </p:sp>
      <p:sp>
        <p:nvSpPr>
          <p:cNvPr id="6" name="Text 4"/>
          <p:cNvSpPr/>
          <p:nvPr/>
        </p:nvSpPr>
        <p:spPr>
          <a:xfrm>
            <a:off x="6199632" y="1207008"/>
            <a:ext cx="5349240" cy="274320"/>
          </a:xfrm>
          <a:prstGeom prst="rect">
            <a:avLst/>
          </a:prstGeom>
          <a:noFill/>
          <a:ln/>
        </p:spPr>
        <p:txBody>
          <a:bodyPr wrap="square" lIns="0" tIns="0" rIns="0" bIns="0" rtlCol="0" anchor="ctr"/>
          <a:lstStyle/>
          <a:p>
            <a:pPr marL="0" indent="0">
              <a:buNone/>
            </a:pPr>
            <a:r>
              <a:rPr lang="en-US" sz="1400" b="1" dirty="0">
                <a:solidFill>
                  <a:srgbClr val="CC9900"/>
                </a:solidFill>
                <a:latin typeface="Calibri" pitchFamily="34" charset="0"/>
                <a:ea typeface="Calibri" pitchFamily="34" charset="-122"/>
                <a:cs typeface="Calibri" pitchFamily="34" charset="-120"/>
              </a:rPr>
              <a:t>Restricciones de diseño evaluadas</a:t>
            </a:r>
            <a:endParaRPr lang="en-US" sz="1400" dirty="0"/>
          </a:p>
        </p:txBody>
      </p:sp>
      <p:sp>
        <p:nvSpPr>
          <p:cNvPr id="7" name="Text 5"/>
          <p:cNvSpPr/>
          <p:nvPr/>
        </p:nvSpPr>
        <p:spPr>
          <a:xfrm>
            <a:off x="6199632" y="1517904"/>
            <a:ext cx="5349240" cy="210312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El controlador no puede tener SQL ni reglas de negocio</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Validación sobre el DTO, jamás sobre la entidad</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Errores devueltos a la misma vista, junto a cada campo</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Post/Redirect/Get tras alta o edición exitosa</a:t>
            </a:r>
            <a:endParaRPr lang="en-US" sz="1350" dirty="0"/>
          </a:p>
          <a:p>
            <a:pPr marL="342900" indent="-342900" algn="l">
              <a:spcAft>
                <a:spcPts val="800"/>
              </a:spcAft>
              <a:buSzPct val="100000"/>
              <a:buChar char="•"/>
            </a:pPr>
            <a:r>
              <a:rPr lang="en-US" sz="1350" dirty="0">
                <a:solidFill>
                  <a:srgbClr val="2B333C"/>
                </a:solidFill>
                <a:latin typeface="Calibri" pitchFamily="34" charset="0"/>
                <a:ea typeface="Calibri" pitchFamily="34" charset="-122"/>
                <a:cs typeface="Calibri" pitchFamily="34" charset="-120"/>
              </a:rPr>
              <a:t>Métodos del servicio con nombres del dominio</a:t>
            </a:r>
            <a:endParaRPr lang="en-US" sz="1350" dirty="0"/>
          </a:p>
        </p:txBody>
      </p:sp>
      <p:sp>
        <p:nvSpPr>
          <p:cNvPr id="8" name="Shape 6"/>
          <p:cNvSpPr/>
          <p:nvPr/>
        </p:nvSpPr>
        <p:spPr>
          <a:xfrm>
            <a:off x="640080" y="3749040"/>
            <a:ext cx="10908792" cy="1783080"/>
          </a:xfrm>
          <a:prstGeom prst="roundRect">
            <a:avLst>
              <a:gd name="adj" fmla="val 2051"/>
            </a:avLst>
          </a:prstGeom>
          <a:solidFill>
            <a:srgbClr val="23272E"/>
          </a:solidFill>
          <a:ln w="12700">
            <a:solidFill>
              <a:srgbClr val="23272E"/>
            </a:solidFill>
            <a:prstDash val="solid"/>
          </a:ln>
        </p:spPr>
      </p:sp>
      <p:sp>
        <p:nvSpPr>
          <p:cNvPr id="9" name="Text 7"/>
          <p:cNvSpPr/>
          <p:nvPr/>
        </p:nvSpPr>
        <p:spPr>
          <a:xfrm>
            <a:off x="841248" y="3895344"/>
            <a:ext cx="10506456" cy="1490472"/>
          </a:xfrm>
          <a:prstGeom prst="rect">
            <a:avLst/>
          </a:prstGeom>
          <a:noFill/>
          <a:ln/>
        </p:spPr>
        <p:txBody>
          <a:bodyPr wrap="square" lIns="0" tIns="0" rIns="0" bIns="0" rtlCol="0" anchor="t"/>
          <a:lstStyle/>
          <a:p>
            <a:pPr marL="0" indent="0" algn="l">
              <a:buNone/>
            </a:pPr>
            <a:r>
              <a:rPr lang="en-US" sz="1150" dirty="0">
                <a:solidFill>
                  <a:srgbClr val="E6E6E6"/>
                </a:solidFill>
                <a:latin typeface="Courier New" pitchFamily="34" charset="0"/>
                <a:ea typeface="Courier New" pitchFamily="34" charset="-122"/>
                <a:cs typeface="Courier New" pitchFamily="34" charset="-120"/>
              </a:rPr>
              <a:t>backend-java/src/main/java/ec/edu/uteq/biblioteq/</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  dominio/Categoria.java          |  web/CategoriaController.java</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  dominio/CategoriaRepository.java|  web/dto/CategoriaForm.java</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  aplicacion/CategoriaService.java|  resources/templates/categorias/lista.html</a:t>
            </a:r>
            <a:endParaRPr lang="en-US" sz="1150" dirty="0"/>
          </a:p>
        </p:txBody>
      </p:sp>
      <p:sp>
        <p:nvSpPr>
          <p:cNvPr id="10" name="Shape 8"/>
          <p:cNvSpPr/>
          <p:nvPr/>
        </p:nvSpPr>
        <p:spPr>
          <a:xfrm>
            <a:off x="640080" y="5870448"/>
            <a:ext cx="10908792" cy="658368"/>
          </a:xfrm>
          <a:prstGeom prst="roundRect">
            <a:avLst>
              <a:gd name="adj" fmla="val 8333"/>
            </a:avLst>
          </a:prstGeom>
          <a:solidFill>
            <a:srgbClr val="FBEDED"/>
          </a:solidFill>
          <a:ln w="12700">
            <a:solidFill>
              <a:srgbClr val="FBEDED"/>
            </a:solidFill>
            <a:prstDash val="solid"/>
          </a:ln>
        </p:spPr>
      </p:sp>
      <p:sp>
        <p:nvSpPr>
          <p:cNvPr id="11" name="Text 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Criterios de piso: URL del repositorio en la carátula del PDF · el proyecto debe compilar tras clonar siguiendo el README.md.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Cómo funciona Spring MVC por dentro</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El mismo ciclo de ocho etapas, ahora con los componentes que lo ejecutan</a:t>
            </a:r>
            <a:endParaRPr lang="en-US" sz="1400" dirty="0"/>
          </a:p>
        </p:txBody>
      </p:sp>
      <p:sp>
        <p:nvSpPr>
          <p:cNvPr id="4" name="Shape 2"/>
          <p:cNvSpPr/>
          <p:nvPr/>
        </p:nvSpPr>
        <p:spPr>
          <a:xfrm>
            <a:off x="640080" y="1463040"/>
            <a:ext cx="2011680" cy="932688"/>
          </a:xfrm>
          <a:prstGeom prst="roundRect">
            <a:avLst>
              <a:gd name="adj" fmla="val 4902"/>
            </a:avLst>
          </a:prstGeom>
          <a:solidFill>
            <a:srgbClr val="EEF4F0"/>
          </a:solidFill>
          <a:ln w="15875">
            <a:solidFill>
              <a:srgbClr val="006633"/>
            </a:solidFill>
            <a:prstDash val="solid"/>
          </a:ln>
        </p:spPr>
      </p:sp>
      <p:sp>
        <p:nvSpPr>
          <p:cNvPr id="5" name="Shape 3"/>
          <p:cNvSpPr/>
          <p:nvPr/>
        </p:nvSpPr>
        <p:spPr>
          <a:xfrm>
            <a:off x="768096" y="1581912"/>
            <a:ext cx="329184" cy="329184"/>
          </a:xfrm>
          <a:prstGeom prst="ellipse">
            <a:avLst/>
          </a:prstGeom>
          <a:solidFill>
            <a:srgbClr val="006633"/>
          </a:solidFill>
          <a:ln/>
        </p:spPr>
      </p:sp>
      <p:sp>
        <p:nvSpPr>
          <p:cNvPr id="6" name="Text 4"/>
          <p:cNvSpPr/>
          <p:nvPr/>
        </p:nvSpPr>
        <p:spPr>
          <a:xfrm>
            <a:off x="768096" y="15819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1152144" y="1572768"/>
            <a:ext cx="135331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Navegador</a:t>
            </a:r>
            <a:endParaRPr lang="en-US" sz="1250" dirty="0"/>
          </a:p>
        </p:txBody>
      </p:sp>
      <p:sp>
        <p:nvSpPr>
          <p:cNvPr id="8" name="Text 6"/>
          <p:cNvSpPr/>
          <p:nvPr/>
        </p:nvSpPr>
        <p:spPr>
          <a:xfrm>
            <a:off x="786384" y="1947672"/>
            <a:ext cx="171907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GET /categorias</a:t>
            </a:r>
            <a:endParaRPr lang="en-US" sz="1000" dirty="0"/>
          </a:p>
        </p:txBody>
      </p:sp>
      <p:sp>
        <p:nvSpPr>
          <p:cNvPr id="9" name="Shape 7"/>
          <p:cNvSpPr/>
          <p:nvPr/>
        </p:nvSpPr>
        <p:spPr>
          <a:xfrm>
            <a:off x="3090672" y="1463040"/>
            <a:ext cx="2788920" cy="932688"/>
          </a:xfrm>
          <a:prstGeom prst="roundRect">
            <a:avLst>
              <a:gd name="adj" fmla="val 4902"/>
            </a:avLst>
          </a:prstGeom>
          <a:solidFill>
            <a:srgbClr val="FBF3DE"/>
          </a:solidFill>
          <a:ln w="15875">
            <a:solidFill>
              <a:srgbClr val="CC9900"/>
            </a:solidFill>
            <a:prstDash val="solid"/>
          </a:ln>
        </p:spPr>
      </p:sp>
      <p:sp>
        <p:nvSpPr>
          <p:cNvPr id="10" name="Shape 8"/>
          <p:cNvSpPr/>
          <p:nvPr/>
        </p:nvSpPr>
        <p:spPr>
          <a:xfrm>
            <a:off x="3218688" y="1581912"/>
            <a:ext cx="329184" cy="329184"/>
          </a:xfrm>
          <a:prstGeom prst="ellipse">
            <a:avLst/>
          </a:prstGeom>
          <a:solidFill>
            <a:srgbClr val="CC9900"/>
          </a:solidFill>
          <a:ln/>
        </p:spPr>
      </p:sp>
      <p:sp>
        <p:nvSpPr>
          <p:cNvPr id="11" name="Text 9"/>
          <p:cNvSpPr/>
          <p:nvPr/>
        </p:nvSpPr>
        <p:spPr>
          <a:xfrm>
            <a:off x="3218688" y="15819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3602736" y="1572768"/>
            <a:ext cx="213055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DispatcherServlet</a:t>
            </a:r>
            <a:endParaRPr lang="en-US" sz="1250" dirty="0"/>
          </a:p>
        </p:txBody>
      </p:sp>
      <p:sp>
        <p:nvSpPr>
          <p:cNvPr id="13" name="Text 11"/>
          <p:cNvSpPr/>
          <p:nvPr/>
        </p:nvSpPr>
        <p:spPr>
          <a:xfrm>
            <a:off x="3236976" y="1947672"/>
            <a:ext cx="249631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Front Controller: única puerta de entrada de toda petición</a:t>
            </a:r>
            <a:endParaRPr lang="en-US" sz="1000" dirty="0"/>
          </a:p>
        </p:txBody>
      </p:sp>
      <p:sp>
        <p:nvSpPr>
          <p:cNvPr id="14" name="Shape 12"/>
          <p:cNvSpPr/>
          <p:nvPr/>
        </p:nvSpPr>
        <p:spPr>
          <a:xfrm>
            <a:off x="6318504" y="1463040"/>
            <a:ext cx="2377440" cy="932688"/>
          </a:xfrm>
          <a:prstGeom prst="roundRect">
            <a:avLst>
              <a:gd name="adj" fmla="val 4902"/>
            </a:avLst>
          </a:prstGeom>
          <a:solidFill>
            <a:srgbClr val="EEF4F0"/>
          </a:solidFill>
          <a:ln w="15875">
            <a:solidFill>
              <a:srgbClr val="006633"/>
            </a:solidFill>
            <a:prstDash val="solid"/>
          </a:ln>
        </p:spPr>
      </p:sp>
      <p:sp>
        <p:nvSpPr>
          <p:cNvPr id="15" name="Shape 13"/>
          <p:cNvSpPr/>
          <p:nvPr/>
        </p:nvSpPr>
        <p:spPr>
          <a:xfrm>
            <a:off x="6446520" y="1581912"/>
            <a:ext cx="329184" cy="329184"/>
          </a:xfrm>
          <a:prstGeom prst="ellipse">
            <a:avLst/>
          </a:prstGeom>
          <a:solidFill>
            <a:srgbClr val="006633"/>
          </a:solidFill>
          <a:ln/>
        </p:spPr>
      </p:sp>
      <p:sp>
        <p:nvSpPr>
          <p:cNvPr id="16" name="Text 14"/>
          <p:cNvSpPr/>
          <p:nvPr/>
        </p:nvSpPr>
        <p:spPr>
          <a:xfrm>
            <a:off x="6446520" y="15819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6830568" y="1572768"/>
            <a:ext cx="171907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HandlerMapping</a:t>
            </a:r>
            <a:endParaRPr lang="en-US" sz="1250" dirty="0"/>
          </a:p>
        </p:txBody>
      </p:sp>
      <p:sp>
        <p:nvSpPr>
          <p:cNvPr id="18" name="Text 16"/>
          <p:cNvSpPr/>
          <p:nvPr/>
        </p:nvSpPr>
        <p:spPr>
          <a:xfrm>
            <a:off x="6464808" y="1947672"/>
            <a:ext cx="208483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Localiza el método que atiende la ruta</a:t>
            </a:r>
            <a:endParaRPr lang="en-US" sz="1000" dirty="0"/>
          </a:p>
        </p:txBody>
      </p:sp>
      <p:sp>
        <p:nvSpPr>
          <p:cNvPr id="19" name="Shape 17"/>
          <p:cNvSpPr/>
          <p:nvPr/>
        </p:nvSpPr>
        <p:spPr>
          <a:xfrm>
            <a:off x="9134856" y="1463040"/>
            <a:ext cx="2377440" cy="932688"/>
          </a:xfrm>
          <a:prstGeom prst="roundRect">
            <a:avLst>
              <a:gd name="adj" fmla="val 4902"/>
            </a:avLst>
          </a:prstGeom>
          <a:solidFill>
            <a:srgbClr val="EEF4F0"/>
          </a:solidFill>
          <a:ln w="15875">
            <a:solidFill>
              <a:srgbClr val="006633"/>
            </a:solidFill>
            <a:prstDash val="solid"/>
          </a:ln>
        </p:spPr>
      </p:sp>
      <p:sp>
        <p:nvSpPr>
          <p:cNvPr id="20" name="Shape 18"/>
          <p:cNvSpPr/>
          <p:nvPr/>
        </p:nvSpPr>
        <p:spPr>
          <a:xfrm>
            <a:off x="9262872" y="1581912"/>
            <a:ext cx="329184" cy="329184"/>
          </a:xfrm>
          <a:prstGeom prst="ellipse">
            <a:avLst/>
          </a:prstGeom>
          <a:solidFill>
            <a:srgbClr val="006633"/>
          </a:solidFill>
          <a:ln/>
        </p:spPr>
      </p:sp>
      <p:sp>
        <p:nvSpPr>
          <p:cNvPr id="21" name="Text 19"/>
          <p:cNvSpPr/>
          <p:nvPr/>
        </p:nvSpPr>
        <p:spPr>
          <a:xfrm>
            <a:off x="9262872" y="15819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9646920" y="1572768"/>
            <a:ext cx="171907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@Controller</a:t>
            </a:r>
            <a:endParaRPr lang="en-US" sz="1250" dirty="0"/>
          </a:p>
        </p:txBody>
      </p:sp>
      <p:sp>
        <p:nvSpPr>
          <p:cNvPr id="23" name="Text 21"/>
          <p:cNvSpPr/>
          <p:nvPr/>
        </p:nvSpPr>
        <p:spPr>
          <a:xfrm>
            <a:off x="9281160" y="1947672"/>
            <a:ext cx="208483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Convierte parámetros y delega</a:t>
            </a:r>
            <a:endParaRPr lang="en-US" sz="1000" dirty="0"/>
          </a:p>
        </p:txBody>
      </p:sp>
      <p:sp>
        <p:nvSpPr>
          <p:cNvPr id="24" name="Shape 22"/>
          <p:cNvSpPr/>
          <p:nvPr/>
        </p:nvSpPr>
        <p:spPr>
          <a:xfrm>
            <a:off x="2688336" y="1929384"/>
            <a:ext cx="365760" cy="0"/>
          </a:xfrm>
          <a:prstGeom prst="line">
            <a:avLst/>
          </a:prstGeom>
          <a:noFill/>
          <a:ln w="22225">
            <a:solidFill>
              <a:srgbClr val="006633"/>
            </a:solidFill>
            <a:prstDash val="solid"/>
            <a:tailEnd type="triangle"/>
          </a:ln>
        </p:spPr>
      </p:sp>
      <p:sp>
        <p:nvSpPr>
          <p:cNvPr id="25" name="Shape 23"/>
          <p:cNvSpPr/>
          <p:nvPr/>
        </p:nvSpPr>
        <p:spPr>
          <a:xfrm>
            <a:off x="5916168" y="1929384"/>
            <a:ext cx="365760" cy="0"/>
          </a:xfrm>
          <a:prstGeom prst="line">
            <a:avLst/>
          </a:prstGeom>
          <a:noFill/>
          <a:ln w="22225">
            <a:solidFill>
              <a:srgbClr val="006633"/>
            </a:solidFill>
            <a:prstDash val="solid"/>
            <a:tailEnd type="triangle"/>
          </a:ln>
        </p:spPr>
      </p:sp>
      <p:sp>
        <p:nvSpPr>
          <p:cNvPr id="26" name="Shape 24"/>
          <p:cNvSpPr/>
          <p:nvPr/>
        </p:nvSpPr>
        <p:spPr>
          <a:xfrm>
            <a:off x="8732520" y="1929384"/>
            <a:ext cx="365760" cy="0"/>
          </a:xfrm>
          <a:prstGeom prst="line">
            <a:avLst/>
          </a:prstGeom>
          <a:noFill/>
          <a:ln w="22225">
            <a:solidFill>
              <a:srgbClr val="006633"/>
            </a:solidFill>
            <a:prstDash val="solid"/>
            <a:tailEnd type="triangle"/>
          </a:ln>
        </p:spPr>
      </p:sp>
      <p:sp>
        <p:nvSpPr>
          <p:cNvPr id="27" name="Shape 25"/>
          <p:cNvSpPr/>
          <p:nvPr/>
        </p:nvSpPr>
        <p:spPr>
          <a:xfrm>
            <a:off x="10323576" y="2450592"/>
            <a:ext cx="0" cy="402336"/>
          </a:xfrm>
          <a:prstGeom prst="line">
            <a:avLst/>
          </a:prstGeom>
          <a:noFill/>
          <a:ln w="22225">
            <a:solidFill>
              <a:srgbClr val="006633"/>
            </a:solidFill>
            <a:prstDash val="solid"/>
            <a:tailEnd type="triangle"/>
          </a:ln>
        </p:spPr>
      </p:sp>
      <p:sp>
        <p:nvSpPr>
          <p:cNvPr id="28" name="Shape 26"/>
          <p:cNvSpPr/>
          <p:nvPr/>
        </p:nvSpPr>
        <p:spPr>
          <a:xfrm>
            <a:off x="3099816" y="2871216"/>
            <a:ext cx="2377440" cy="932688"/>
          </a:xfrm>
          <a:prstGeom prst="roundRect">
            <a:avLst>
              <a:gd name="adj" fmla="val 4902"/>
            </a:avLst>
          </a:prstGeom>
          <a:solidFill>
            <a:srgbClr val="EEF4F0"/>
          </a:solidFill>
          <a:ln w="15875">
            <a:solidFill>
              <a:srgbClr val="006633"/>
            </a:solidFill>
            <a:prstDash val="solid"/>
          </a:ln>
        </p:spPr>
      </p:sp>
      <p:sp>
        <p:nvSpPr>
          <p:cNvPr id="29" name="Shape 27"/>
          <p:cNvSpPr/>
          <p:nvPr/>
        </p:nvSpPr>
        <p:spPr>
          <a:xfrm>
            <a:off x="3227832" y="2990088"/>
            <a:ext cx="329184" cy="329184"/>
          </a:xfrm>
          <a:prstGeom prst="ellipse">
            <a:avLst/>
          </a:prstGeom>
          <a:solidFill>
            <a:srgbClr val="006633"/>
          </a:solidFill>
          <a:ln/>
        </p:spPr>
      </p:sp>
      <p:sp>
        <p:nvSpPr>
          <p:cNvPr id="30" name="Text 28"/>
          <p:cNvSpPr/>
          <p:nvPr/>
        </p:nvSpPr>
        <p:spPr>
          <a:xfrm>
            <a:off x="3227832" y="299008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1" name="Text 29"/>
          <p:cNvSpPr/>
          <p:nvPr/>
        </p:nvSpPr>
        <p:spPr>
          <a:xfrm>
            <a:off x="3611880" y="2980944"/>
            <a:ext cx="171907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PostgreSQL 16</a:t>
            </a:r>
            <a:endParaRPr lang="en-US" sz="1250" dirty="0"/>
          </a:p>
        </p:txBody>
      </p:sp>
      <p:sp>
        <p:nvSpPr>
          <p:cNvPr id="32" name="Text 30"/>
          <p:cNvSpPr/>
          <p:nvPr/>
        </p:nvSpPr>
        <p:spPr>
          <a:xfrm>
            <a:off x="3246120" y="3355848"/>
            <a:ext cx="208483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Ejecuta la consulta</a:t>
            </a:r>
            <a:endParaRPr lang="en-US" sz="1000" dirty="0"/>
          </a:p>
        </p:txBody>
      </p:sp>
      <p:sp>
        <p:nvSpPr>
          <p:cNvPr id="33" name="Shape 31"/>
          <p:cNvSpPr/>
          <p:nvPr/>
        </p:nvSpPr>
        <p:spPr>
          <a:xfrm>
            <a:off x="5916168" y="2871216"/>
            <a:ext cx="2788920" cy="932688"/>
          </a:xfrm>
          <a:prstGeom prst="roundRect">
            <a:avLst>
              <a:gd name="adj" fmla="val 4902"/>
            </a:avLst>
          </a:prstGeom>
          <a:solidFill>
            <a:srgbClr val="EEF4F0"/>
          </a:solidFill>
          <a:ln w="15875">
            <a:solidFill>
              <a:srgbClr val="006633"/>
            </a:solidFill>
            <a:prstDash val="solid"/>
          </a:ln>
        </p:spPr>
      </p:sp>
      <p:sp>
        <p:nvSpPr>
          <p:cNvPr id="34" name="Shape 32"/>
          <p:cNvSpPr/>
          <p:nvPr/>
        </p:nvSpPr>
        <p:spPr>
          <a:xfrm>
            <a:off x="6044184" y="2990088"/>
            <a:ext cx="329184" cy="329184"/>
          </a:xfrm>
          <a:prstGeom prst="ellipse">
            <a:avLst/>
          </a:prstGeom>
          <a:solidFill>
            <a:srgbClr val="006633"/>
          </a:solidFill>
          <a:ln/>
        </p:spPr>
      </p:sp>
      <p:sp>
        <p:nvSpPr>
          <p:cNvPr id="35" name="Text 33"/>
          <p:cNvSpPr/>
          <p:nvPr/>
        </p:nvSpPr>
        <p:spPr>
          <a:xfrm>
            <a:off x="6044184" y="299008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6" name="Text 34"/>
          <p:cNvSpPr/>
          <p:nvPr/>
        </p:nvSpPr>
        <p:spPr>
          <a:xfrm>
            <a:off x="6428232" y="2980944"/>
            <a:ext cx="213055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@Repository</a:t>
            </a:r>
            <a:endParaRPr lang="en-US" sz="1250" dirty="0"/>
          </a:p>
        </p:txBody>
      </p:sp>
      <p:sp>
        <p:nvSpPr>
          <p:cNvPr id="37" name="Text 35"/>
          <p:cNvSpPr/>
          <p:nvPr/>
        </p:nvSpPr>
        <p:spPr>
          <a:xfrm>
            <a:off x="6062472" y="3355848"/>
            <a:ext cx="249631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Spring Data JPA genera la implementación</a:t>
            </a:r>
            <a:endParaRPr lang="en-US" sz="1000" dirty="0"/>
          </a:p>
        </p:txBody>
      </p:sp>
      <p:sp>
        <p:nvSpPr>
          <p:cNvPr id="38" name="Shape 36"/>
          <p:cNvSpPr/>
          <p:nvPr/>
        </p:nvSpPr>
        <p:spPr>
          <a:xfrm>
            <a:off x="9134856" y="2871216"/>
            <a:ext cx="2377440" cy="932688"/>
          </a:xfrm>
          <a:prstGeom prst="roundRect">
            <a:avLst>
              <a:gd name="adj" fmla="val 4902"/>
            </a:avLst>
          </a:prstGeom>
          <a:solidFill>
            <a:srgbClr val="EEF4F0"/>
          </a:solidFill>
          <a:ln w="15875">
            <a:solidFill>
              <a:srgbClr val="006633"/>
            </a:solidFill>
            <a:prstDash val="solid"/>
          </a:ln>
        </p:spPr>
      </p:sp>
      <p:sp>
        <p:nvSpPr>
          <p:cNvPr id="39" name="Shape 37"/>
          <p:cNvSpPr/>
          <p:nvPr/>
        </p:nvSpPr>
        <p:spPr>
          <a:xfrm>
            <a:off x="9262872" y="2990088"/>
            <a:ext cx="329184" cy="329184"/>
          </a:xfrm>
          <a:prstGeom prst="ellipse">
            <a:avLst/>
          </a:prstGeom>
          <a:solidFill>
            <a:srgbClr val="006633"/>
          </a:solidFill>
          <a:ln/>
        </p:spPr>
      </p:sp>
      <p:sp>
        <p:nvSpPr>
          <p:cNvPr id="40" name="Text 38"/>
          <p:cNvSpPr/>
          <p:nvPr/>
        </p:nvSpPr>
        <p:spPr>
          <a:xfrm>
            <a:off x="9262872" y="299008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1" name="Text 39"/>
          <p:cNvSpPr/>
          <p:nvPr/>
        </p:nvSpPr>
        <p:spPr>
          <a:xfrm>
            <a:off x="9646920" y="2980944"/>
            <a:ext cx="1719072" cy="347472"/>
          </a:xfrm>
          <a:prstGeom prst="rect">
            <a:avLst/>
          </a:prstGeom>
          <a:noFill/>
          <a:ln/>
        </p:spPr>
        <p:txBody>
          <a:bodyPr wrap="square" lIns="0" tIns="0" rIns="0" bIns="0" rtlCol="0" anchor="ctr"/>
          <a:lstStyle/>
          <a:p>
            <a:pPr marL="0" indent="0" algn="l">
              <a:buNone/>
            </a:pPr>
            <a:r>
              <a:rPr lang="en-US" sz="1250" b="1" dirty="0">
                <a:solidFill>
                  <a:srgbClr val="00401F"/>
                </a:solidFill>
                <a:latin typeface="Calibri" pitchFamily="34" charset="0"/>
                <a:ea typeface="Calibri" pitchFamily="34" charset="-122"/>
                <a:cs typeface="Calibri" pitchFamily="34" charset="-120"/>
              </a:rPr>
              <a:t>@Service</a:t>
            </a:r>
            <a:endParaRPr lang="en-US" sz="1250" dirty="0"/>
          </a:p>
        </p:txBody>
      </p:sp>
      <p:sp>
        <p:nvSpPr>
          <p:cNvPr id="42" name="Text 40"/>
          <p:cNvSpPr/>
          <p:nvPr/>
        </p:nvSpPr>
        <p:spPr>
          <a:xfrm>
            <a:off x="9281160" y="3355848"/>
            <a:ext cx="2084832" cy="329184"/>
          </a:xfrm>
          <a:prstGeom prst="rect">
            <a:avLst/>
          </a:prstGeom>
          <a:noFill/>
          <a:ln/>
        </p:spPr>
        <p:txBody>
          <a:bodyPr wrap="square" lIns="0" tIns="0" rIns="0" bIns="0" rtlCol="0" anchor="t"/>
          <a:lstStyle/>
          <a:p>
            <a:pPr marL="0" indent="0" algn="l">
              <a:buNone/>
            </a:pPr>
            <a:r>
              <a:rPr lang="en-US" sz="1000" dirty="0">
                <a:solidFill>
                  <a:srgbClr val="5A6472"/>
                </a:solidFill>
                <a:latin typeface="Calibri" pitchFamily="34" charset="0"/>
                <a:ea typeface="Calibri" pitchFamily="34" charset="-122"/>
                <a:cs typeface="Calibri" pitchFamily="34" charset="-120"/>
              </a:rPr>
              <a:t>Reglas de negocio y @Transactional</a:t>
            </a:r>
            <a:endParaRPr lang="en-US" sz="1000" dirty="0"/>
          </a:p>
        </p:txBody>
      </p:sp>
      <p:sp>
        <p:nvSpPr>
          <p:cNvPr id="43" name="Shape 41"/>
          <p:cNvSpPr/>
          <p:nvPr/>
        </p:nvSpPr>
        <p:spPr>
          <a:xfrm>
            <a:off x="5477256" y="3337560"/>
            <a:ext cx="438912" cy="0"/>
          </a:xfrm>
          <a:prstGeom prst="line">
            <a:avLst/>
          </a:prstGeom>
          <a:noFill/>
          <a:ln w="22225">
            <a:solidFill>
              <a:srgbClr val="006633"/>
            </a:solidFill>
            <a:prstDash val="solid"/>
            <a:headEnd type="triangle"/>
          </a:ln>
        </p:spPr>
      </p:sp>
      <p:sp>
        <p:nvSpPr>
          <p:cNvPr id="44" name="Shape 42"/>
          <p:cNvSpPr/>
          <p:nvPr/>
        </p:nvSpPr>
        <p:spPr>
          <a:xfrm>
            <a:off x="8695944" y="3337560"/>
            <a:ext cx="438912" cy="0"/>
          </a:xfrm>
          <a:prstGeom prst="line">
            <a:avLst/>
          </a:prstGeom>
          <a:noFill/>
          <a:ln w="22225">
            <a:solidFill>
              <a:srgbClr val="006633"/>
            </a:solidFill>
            <a:prstDash val="solid"/>
            <a:headEnd type="triangle"/>
          </a:ln>
        </p:spPr>
      </p:sp>
      <p:sp>
        <p:nvSpPr>
          <p:cNvPr id="45" name="Shape 43"/>
          <p:cNvSpPr/>
          <p:nvPr/>
        </p:nvSpPr>
        <p:spPr>
          <a:xfrm>
            <a:off x="640080" y="4224528"/>
            <a:ext cx="10908792" cy="1243584"/>
          </a:xfrm>
          <a:prstGeom prst="roundRect">
            <a:avLst>
              <a:gd name="adj" fmla="val 4412"/>
            </a:avLst>
          </a:prstGeom>
          <a:solidFill>
            <a:srgbClr val="FBF3DE"/>
          </a:solidFill>
          <a:ln w="15875">
            <a:solidFill>
              <a:srgbClr val="CC9900"/>
            </a:solidFill>
            <a:prstDash val="solid"/>
          </a:ln>
        </p:spPr>
      </p:sp>
      <p:sp>
        <p:nvSpPr>
          <p:cNvPr id="46" name="Text 44"/>
          <p:cNvSpPr/>
          <p:nvPr/>
        </p:nvSpPr>
        <p:spPr>
          <a:xfrm>
            <a:off x="914400" y="4315968"/>
            <a:ext cx="2743200" cy="310896"/>
          </a:xfrm>
          <a:prstGeom prst="rect">
            <a:avLst/>
          </a:prstGeom>
          <a:noFill/>
          <a:ln/>
        </p:spPr>
        <p:txBody>
          <a:bodyPr wrap="square" lIns="0" tIns="0" rIns="0" bIns="0" rtlCol="0" anchor="ctr"/>
          <a:lstStyle/>
          <a:p>
            <a:pPr marL="0" indent="0" algn="l">
              <a:buNone/>
            </a:pPr>
            <a:r>
              <a:rPr lang="en-US" sz="1350" b="1" dirty="0">
                <a:solidFill>
                  <a:srgbClr val="CC9900"/>
                </a:solidFill>
                <a:latin typeface="Calibri" pitchFamily="34" charset="0"/>
                <a:ea typeface="Calibri" pitchFamily="34" charset="-122"/>
                <a:cs typeface="Calibri" pitchFamily="34" charset="-120"/>
              </a:rPr>
              <a:t>Camino de vuelta</a:t>
            </a:r>
            <a:endParaRPr lang="en-US" sz="1350" dirty="0"/>
          </a:p>
        </p:txBody>
      </p:sp>
      <p:sp>
        <p:nvSpPr>
          <p:cNvPr id="47" name="Text 45"/>
          <p:cNvSpPr/>
          <p:nvPr/>
        </p:nvSpPr>
        <p:spPr>
          <a:xfrm>
            <a:off x="914400" y="4645152"/>
            <a:ext cx="10360152" cy="713232"/>
          </a:xfrm>
          <a:prstGeom prst="rect">
            <a:avLst/>
          </a:prstGeom>
          <a:noFill/>
          <a:ln/>
        </p:spPr>
        <p:txBody>
          <a:bodyPr wrap="square" lIns="0" tIns="0" rIns="0" bIns="0" rtlCol="0" anchor="t"/>
          <a:lstStyle/>
          <a:p>
            <a:pPr marL="0" indent="0" algn="l">
              <a:buNone/>
            </a:pPr>
            <a:r>
              <a:rPr lang="en-US" sz="1300" dirty="0">
                <a:solidFill>
                  <a:srgbClr val="2B333C"/>
                </a:solidFill>
                <a:latin typeface="Calibri" pitchFamily="34" charset="0"/>
                <a:ea typeface="Calibri" pitchFamily="34" charset="-122"/>
                <a:cs typeface="Calibri" pitchFamily="34" charset="-120"/>
              </a:rPr>
              <a:t>El controlador devuelve un nombre lógico  →  ViewResolver lo traduce a templates/categorias/lista.html  →  Thymeleaf rellena la plantilla  →  el DispatcherServlet escribe la respuesta HTTP  →  HTML al navegador</a:t>
            </a:r>
            <a:endParaRPr lang="en-US" sz="1300" dirty="0"/>
          </a:p>
        </p:txBody>
      </p:sp>
      <p:sp>
        <p:nvSpPr>
          <p:cNvPr id="48" name="Shape 46"/>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49" name="Text 47"/>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El estudiante solo escribe las cajas 4, 5 y 6, y la plantilla. Todo lo demás lo aporta el framework: por eso hay que saber dónde mirar cuando falla.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Cómo desarrollar un proyecto con Spring MVC</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De adentro hacia afuera: el dominio primero, la pantalla al final</a:t>
            </a:r>
            <a:endParaRPr lang="en-US" sz="1400" dirty="0"/>
          </a:p>
        </p:txBody>
      </p:sp>
      <p:sp>
        <p:nvSpPr>
          <p:cNvPr id="4" name="Shape 2"/>
          <p:cNvSpPr/>
          <p:nvPr/>
        </p:nvSpPr>
        <p:spPr>
          <a:xfrm>
            <a:off x="640080" y="1444752"/>
            <a:ext cx="3520440" cy="1097280"/>
          </a:xfrm>
          <a:prstGeom prst="roundRect">
            <a:avLst>
              <a:gd name="adj" fmla="val 5000"/>
            </a:avLst>
          </a:prstGeom>
          <a:solidFill>
            <a:srgbClr val="EEF4F0"/>
          </a:solidFill>
          <a:ln w="12700">
            <a:solidFill>
              <a:srgbClr val="EEF4F0"/>
            </a:solidFill>
            <a:prstDash val="solid"/>
          </a:ln>
        </p:spPr>
      </p:sp>
      <p:sp>
        <p:nvSpPr>
          <p:cNvPr id="5" name="Shape 3"/>
          <p:cNvSpPr/>
          <p:nvPr/>
        </p:nvSpPr>
        <p:spPr>
          <a:xfrm>
            <a:off x="841248" y="1645920"/>
            <a:ext cx="457200" cy="457200"/>
          </a:xfrm>
          <a:prstGeom prst="ellipse">
            <a:avLst/>
          </a:prstGeom>
          <a:solidFill>
            <a:srgbClr val="006633"/>
          </a:solidFill>
          <a:ln/>
        </p:spPr>
      </p:sp>
      <p:sp>
        <p:nvSpPr>
          <p:cNvPr id="6" name="Text 4"/>
          <p:cNvSpPr/>
          <p:nvPr/>
        </p:nvSpPr>
        <p:spPr>
          <a:xfrm>
            <a:off x="841248" y="16459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645920"/>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Generar el esqueleto</a:t>
            </a:r>
            <a:endParaRPr lang="en-US" sz="1500" dirty="0"/>
          </a:p>
        </p:txBody>
      </p:sp>
      <p:sp>
        <p:nvSpPr>
          <p:cNvPr id="8" name="Text 6"/>
          <p:cNvSpPr/>
          <p:nvPr/>
        </p:nvSpPr>
        <p:spPr>
          <a:xfrm>
            <a:off x="859536" y="2194560"/>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start.spring.io con Web, JPA, Thymeleaf, Validation, PostgreSQL y DevTools. Fijar Java 21 y Maven.</a:t>
            </a:r>
            <a:endParaRPr lang="en-US" sz="1250" dirty="0"/>
          </a:p>
        </p:txBody>
      </p:sp>
      <p:sp>
        <p:nvSpPr>
          <p:cNvPr id="9" name="Shape 7"/>
          <p:cNvSpPr/>
          <p:nvPr/>
        </p:nvSpPr>
        <p:spPr>
          <a:xfrm>
            <a:off x="4334256" y="1444752"/>
            <a:ext cx="3520440" cy="1097280"/>
          </a:xfrm>
          <a:prstGeom prst="roundRect">
            <a:avLst>
              <a:gd name="adj" fmla="val 5000"/>
            </a:avLst>
          </a:prstGeom>
          <a:solidFill>
            <a:srgbClr val="EEF4F0"/>
          </a:solidFill>
          <a:ln w="12700">
            <a:solidFill>
              <a:srgbClr val="EEF4F0"/>
            </a:solidFill>
            <a:prstDash val="solid"/>
          </a:ln>
        </p:spPr>
      </p:sp>
      <p:sp>
        <p:nvSpPr>
          <p:cNvPr id="10" name="Shape 8"/>
          <p:cNvSpPr/>
          <p:nvPr/>
        </p:nvSpPr>
        <p:spPr>
          <a:xfrm>
            <a:off x="4535424" y="1645920"/>
            <a:ext cx="457200" cy="457200"/>
          </a:xfrm>
          <a:prstGeom prst="ellipse">
            <a:avLst/>
          </a:prstGeom>
          <a:solidFill>
            <a:srgbClr val="006633"/>
          </a:solidFill>
          <a:ln/>
        </p:spPr>
      </p:sp>
      <p:sp>
        <p:nvSpPr>
          <p:cNvPr id="11" name="Text 9"/>
          <p:cNvSpPr/>
          <p:nvPr/>
        </p:nvSpPr>
        <p:spPr>
          <a:xfrm>
            <a:off x="4535424" y="16459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084064" y="1645920"/>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Versionar el esquema</a:t>
            </a:r>
            <a:endParaRPr lang="en-US" sz="1500" dirty="0"/>
          </a:p>
        </p:txBody>
      </p:sp>
      <p:sp>
        <p:nvSpPr>
          <p:cNvPr id="13" name="Text 11"/>
          <p:cNvSpPr/>
          <p:nvPr/>
        </p:nvSpPr>
        <p:spPr>
          <a:xfrm>
            <a:off x="4553712" y="2194560"/>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Flyway: db/migration/V1__crear_tablas.sql. Jamás ddl-auto=update en un proyecto evaluable.</a:t>
            </a:r>
            <a:endParaRPr lang="en-US" sz="1250" dirty="0"/>
          </a:p>
        </p:txBody>
      </p:sp>
      <p:sp>
        <p:nvSpPr>
          <p:cNvPr id="14" name="Shape 12"/>
          <p:cNvSpPr/>
          <p:nvPr/>
        </p:nvSpPr>
        <p:spPr>
          <a:xfrm>
            <a:off x="8028432" y="1444752"/>
            <a:ext cx="3520440" cy="1097280"/>
          </a:xfrm>
          <a:prstGeom prst="roundRect">
            <a:avLst>
              <a:gd name="adj" fmla="val 5000"/>
            </a:avLst>
          </a:prstGeom>
          <a:solidFill>
            <a:srgbClr val="EEF4F0"/>
          </a:solidFill>
          <a:ln w="12700">
            <a:solidFill>
              <a:srgbClr val="EEF4F0"/>
            </a:solidFill>
            <a:prstDash val="solid"/>
          </a:ln>
        </p:spPr>
      </p:sp>
      <p:sp>
        <p:nvSpPr>
          <p:cNvPr id="15" name="Shape 13"/>
          <p:cNvSpPr/>
          <p:nvPr/>
        </p:nvSpPr>
        <p:spPr>
          <a:xfrm>
            <a:off x="8229600" y="1645920"/>
            <a:ext cx="457200" cy="457200"/>
          </a:xfrm>
          <a:prstGeom prst="ellipse">
            <a:avLst/>
          </a:prstGeom>
          <a:solidFill>
            <a:srgbClr val="006633"/>
          </a:solidFill>
          <a:ln/>
        </p:spPr>
      </p:sp>
      <p:sp>
        <p:nvSpPr>
          <p:cNvPr id="16" name="Text 14"/>
          <p:cNvSpPr/>
          <p:nvPr/>
        </p:nvSpPr>
        <p:spPr>
          <a:xfrm>
            <a:off x="8229600" y="16459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778240" y="1645920"/>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Modelar el dominio</a:t>
            </a:r>
            <a:endParaRPr lang="en-US" sz="1500" dirty="0"/>
          </a:p>
        </p:txBody>
      </p:sp>
      <p:sp>
        <p:nvSpPr>
          <p:cNvPr id="18" name="Text 16"/>
          <p:cNvSpPr/>
          <p:nvPr/>
        </p:nvSpPr>
        <p:spPr>
          <a:xfrm>
            <a:off x="8247888" y="2194560"/>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@Entity con sus relaciones, más la interfaz del repositorio. Sin lógica de presentación.</a:t>
            </a:r>
            <a:endParaRPr lang="en-US" sz="1250" dirty="0"/>
          </a:p>
        </p:txBody>
      </p:sp>
      <p:sp>
        <p:nvSpPr>
          <p:cNvPr id="19" name="Shape 17"/>
          <p:cNvSpPr/>
          <p:nvPr/>
        </p:nvSpPr>
        <p:spPr>
          <a:xfrm>
            <a:off x="640080" y="2688336"/>
            <a:ext cx="3520440" cy="1097280"/>
          </a:xfrm>
          <a:prstGeom prst="roundRect">
            <a:avLst>
              <a:gd name="adj" fmla="val 5000"/>
            </a:avLst>
          </a:prstGeom>
          <a:solidFill>
            <a:srgbClr val="FBF3DE"/>
          </a:solidFill>
          <a:ln w="12700">
            <a:solidFill>
              <a:srgbClr val="FBF3DE"/>
            </a:solidFill>
            <a:prstDash val="solid"/>
          </a:ln>
        </p:spPr>
      </p:sp>
      <p:sp>
        <p:nvSpPr>
          <p:cNvPr id="20" name="Shape 18"/>
          <p:cNvSpPr/>
          <p:nvPr/>
        </p:nvSpPr>
        <p:spPr>
          <a:xfrm>
            <a:off x="841248" y="2889504"/>
            <a:ext cx="457200" cy="457200"/>
          </a:xfrm>
          <a:prstGeom prst="ellipse">
            <a:avLst/>
          </a:prstGeom>
          <a:solidFill>
            <a:srgbClr val="CC9900"/>
          </a:solidFill>
          <a:ln/>
        </p:spPr>
      </p:sp>
      <p:sp>
        <p:nvSpPr>
          <p:cNvPr id="21" name="Text 19"/>
          <p:cNvSpPr/>
          <p:nvPr/>
        </p:nvSpPr>
        <p:spPr>
          <a:xfrm>
            <a:off x="841248" y="28895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89888" y="2889504"/>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Escribir el servicio</a:t>
            </a:r>
            <a:endParaRPr lang="en-US" sz="1500" dirty="0"/>
          </a:p>
        </p:txBody>
      </p:sp>
      <p:sp>
        <p:nvSpPr>
          <p:cNvPr id="23" name="Text 21"/>
          <p:cNvSpPr/>
          <p:nvPr/>
        </p:nvSpPr>
        <p:spPr>
          <a:xfrm>
            <a:off x="859536" y="3438144"/>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Reglas de negocio y @Transactional. Las pruebas de JUnit se escriben aquí, antes que la pantalla.</a:t>
            </a:r>
            <a:endParaRPr lang="en-US" sz="1250" dirty="0"/>
          </a:p>
        </p:txBody>
      </p:sp>
      <p:sp>
        <p:nvSpPr>
          <p:cNvPr id="24" name="Shape 22"/>
          <p:cNvSpPr/>
          <p:nvPr/>
        </p:nvSpPr>
        <p:spPr>
          <a:xfrm>
            <a:off x="4334256" y="2688336"/>
            <a:ext cx="3520440" cy="1097280"/>
          </a:xfrm>
          <a:prstGeom prst="roundRect">
            <a:avLst>
              <a:gd name="adj" fmla="val 5000"/>
            </a:avLst>
          </a:prstGeom>
          <a:solidFill>
            <a:srgbClr val="FBF3DE"/>
          </a:solidFill>
          <a:ln w="12700">
            <a:solidFill>
              <a:srgbClr val="FBF3DE"/>
            </a:solidFill>
            <a:prstDash val="solid"/>
          </a:ln>
        </p:spPr>
      </p:sp>
      <p:sp>
        <p:nvSpPr>
          <p:cNvPr id="25" name="Shape 23"/>
          <p:cNvSpPr/>
          <p:nvPr/>
        </p:nvSpPr>
        <p:spPr>
          <a:xfrm>
            <a:off x="4535424" y="2889504"/>
            <a:ext cx="457200" cy="457200"/>
          </a:xfrm>
          <a:prstGeom prst="ellipse">
            <a:avLst/>
          </a:prstGeom>
          <a:solidFill>
            <a:srgbClr val="CC9900"/>
          </a:solidFill>
          <a:ln/>
        </p:spPr>
      </p:sp>
      <p:sp>
        <p:nvSpPr>
          <p:cNvPr id="26" name="Text 24"/>
          <p:cNvSpPr/>
          <p:nvPr/>
        </p:nvSpPr>
        <p:spPr>
          <a:xfrm>
            <a:off x="4535424" y="28895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5084064" y="2889504"/>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Exponer el controlador</a:t>
            </a:r>
            <a:endParaRPr lang="en-US" sz="1500" dirty="0"/>
          </a:p>
        </p:txBody>
      </p:sp>
      <p:sp>
        <p:nvSpPr>
          <p:cNvPr id="28" name="Text 26"/>
          <p:cNvSpPr/>
          <p:nvPr/>
        </p:nvSpPr>
        <p:spPr>
          <a:xfrm>
            <a:off x="4553712" y="3438144"/>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@Controller con DTO de formulario, @Valid y Post/Redirect/Get tras cada escritura.</a:t>
            </a:r>
            <a:endParaRPr lang="en-US" sz="1250" dirty="0"/>
          </a:p>
        </p:txBody>
      </p:sp>
      <p:sp>
        <p:nvSpPr>
          <p:cNvPr id="29" name="Shape 27"/>
          <p:cNvSpPr/>
          <p:nvPr/>
        </p:nvSpPr>
        <p:spPr>
          <a:xfrm>
            <a:off x="8028432" y="2688336"/>
            <a:ext cx="3520440" cy="1097280"/>
          </a:xfrm>
          <a:prstGeom prst="roundRect">
            <a:avLst>
              <a:gd name="adj" fmla="val 5000"/>
            </a:avLst>
          </a:prstGeom>
          <a:solidFill>
            <a:srgbClr val="FBF3DE"/>
          </a:solidFill>
          <a:ln w="12700">
            <a:solidFill>
              <a:srgbClr val="FBF3DE"/>
            </a:solidFill>
            <a:prstDash val="solid"/>
          </a:ln>
        </p:spPr>
      </p:sp>
      <p:sp>
        <p:nvSpPr>
          <p:cNvPr id="30" name="Shape 28"/>
          <p:cNvSpPr/>
          <p:nvPr/>
        </p:nvSpPr>
        <p:spPr>
          <a:xfrm>
            <a:off x="8229600" y="2889504"/>
            <a:ext cx="457200" cy="457200"/>
          </a:xfrm>
          <a:prstGeom prst="ellipse">
            <a:avLst/>
          </a:prstGeom>
          <a:solidFill>
            <a:srgbClr val="CC9900"/>
          </a:solidFill>
          <a:ln/>
        </p:spPr>
      </p:sp>
      <p:sp>
        <p:nvSpPr>
          <p:cNvPr id="31" name="Text 29"/>
          <p:cNvSpPr/>
          <p:nvPr/>
        </p:nvSpPr>
        <p:spPr>
          <a:xfrm>
            <a:off x="8229600" y="28895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778240" y="2889504"/>
            <a:ext cx="25877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Construir la vista</a:t>
            </a:r>
            <a:endParaRPr lang="en-US" sz="1500" dirty="0"/>
          </a:p>
        </p:txBody>
      </p:sp>
      <p:sp>
        <p:nvSpPr>
          <p:cNvPr id="33" name="Text 31"/>
          <p:cNvSpPr/>
          <p:nvPr/>
        </p:nvSpPr>
        <p:spPr>
          <a:xfrm>
            <a:off x="8247888" y="3438144"/>
            <a:ext cx="3081528" cy="164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Plantilla Thymeleaf con fragmentos reutilizables. Verificar con MockMvc que responde 302.</a:t>
            </a:r>
            <a:endParaRPr lang="en-US" sz="1250" dirty="0"/>
          </a:p>
        </p:txBody>
      </p:sp>
      <p:sp>
        <p:nvSpPr>
          <p:cNvPr id="34" name="Text 32"/>
          <p:cNvSpPr/>
          <p:nvPr/>
        </p:nvSpPr>
        <p:spPr>
          <a:xfrm>
            <a:off x="640080" y="3785616"/>
            <a:ext cx="5349240" cy="274320"/>
          </a:xfrm>
          <a:prstGeom prst="rect">
            <a:avLst/>
          </a:prstGeom>
          <a:noFill/>
          <a:ln/>
        </p:spPr>
        <p:txBody>
          <a:bodyPr wrap="square" lIns="0" tIns="0" rIns="0" bIns="0" rtlCol="0" anchor="ctr"/>
          <a:lstStyle/>
          <a:p>
            <a:pPr marL="0" indent="0">
              <a:buNone/>
            </a:pPr>
            <a:r>
              <a:rPr lang="en-US" sz="1300" b="1" dirty="0">
                <a:solidFill>
                  <a:srgbClr val="006633"/>
                </a:solidFill>
                <a:latin typeface="Calibri" pitchFamily="34" charset="0"/>
                <a:ea typeface="Calibri" pitchFamily="34" charset="-122"/>
                <a:cs typeface="Calibri" pitchFamily="34" charset="-120"/>
              </a:rPr>
              <a:t>Dependencias mínimas — pom.xml</a:t>
            </a:r>
            <a:endParaRPr lang="en-US" sz="1300" dirty="0"/>
          </a:p>
        </p:txBody>
      </p:sp>
      <p:sp>
        <p:nvSpPr>
          <p:cNvPr id="35" name="Shape 33"/>
          <p:cNvSpPr/>
          <p:nvPr/>
        </p:nvSpPr>
        <p:spPr>
          <a:xfrm>
            <a:off x="640080" y="4078224"/>
            <a:ext cx="5349240" cy="1609344"/>
          </a:xfrm>
          <a:prstGeom prst="roundRect">
            <a:avLst>
              <a:gd name="adj" fmla="val 2273"/>
            </a:avLst>
          </a:prstGeom>
          <a:solidFill>
            <a:srgbClr val="23272E"/>
          </a:solidFill>
          <a:ln w="12700">
            <a:solidFill>
              <a:srgbClr val="23272E"/>
            </a:solidFill>
            <a:prstDash val="solid"/>
          </a:ln>
        </p:spPr>
      </p:sp>
      <p:sp>
        <p:nvSpPr>
          <p:cNvPr id="36" name="Text 34"/>
          <p:cNvSpPr/>
          <p:nvPr/>
        </p:nvSpPr>
        <p:spPr>
          <a:xfrm>
            <a:off x="841248" y="4224528"/>
            <a:ext cx="4946904" cy="1316736"/>
          </a:xfrm>
          <a:prstGeom prst="rect">
            <a:avLst/>
          </a:prstGeom>
          <a:noFill/>
          <a:ln/>
        </p:spPr>
        <p:txBody>
          <a:bodyPr wrap="square" lIns="0" tIns="0" rIns="0" bIns="0" rtlCol="0" anchor="t"/>
          <a:lstStyle/>
          <a:p>
            <a:pPr marL="0" indent="0" algn="l">
              <a:buNone/>
            </a:pPr>
            <a:r>
              <a:rPr lang="en-US" sz="1150" dirty="0">
                <a:solidFill>
                  <a:srgbClr val="E6E6E6"/>
                </a:solidFill>
                <a:latin typeface="Courier New" pitchFamily="34" charset="0"/>
                <a:ea typeface="Courier New" pitchFamily="34" charset="-122"/>
                <a:cs typeface="Courier New" pitchFamily="34" charset="-120"/>
              </a:rPr>
              <a:t>spring-boot-starter-web</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spring-boot-starter-data-jpa</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spring-boot-starter-thymeleaf</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spring-boot-starter-validation</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flyway-core  +  postgresql</a:t>
            </a:r>
            <a:endParaRPr lang="en-US" sz="1150" dirty="0"/>
          </a:p>
          <a:p>
            <a:pPr marL="0" indent="0" algn="l">
              <a:buNone/>
            </a:pPr>
            <a:r>
              <a:rPr lang="en-US" sz="1150" dirty="0">
                <a:solidFill>
                  <a:srgbClr val="E6E6E6"/>
                </a:solidFill>
                <a:latin typeface="Courier New" pitchFamily="34" charset="0"/>
                <a:ea typeface="Courier New" pitchFamily="34" charset="-122"/>
                <a:cs typeface="Courier New" pitchFamily="34" charset="-120"/>
              </a:rPr>
              <a:t>spring-boot-starter-test  (scope test)</a:t>
            </a:r>
            <a:endParaRPr lang="en-US" sz="1150" dirty="0"/>
          </a:p>
        </p:txBody>
      </p:sp>
      <p:sp>
        <p:nvSpPr>
          <p:cNvPr id="37" name="Text 35"/>
          <p:cNvSpPr/>
          <p:nvPr/>
        </p:nvSpPr>
        <p:spPr>
          <a:xfrm>
            <a:off x="6199632" y="3785616"/>
            <a:ext cx="5349240" cy="274320"/>
          </a:xfrm>
          <a:prstGeom prst="rect">
            <a:avLst/>
          </a:prstGeom>
          <a:noFill/>
          <a:ln/>
        </p:spPr>
        <p:txBody>
          <a:bodyPr wrap="square" lIns="0" tIns="0" rIns="0" bIns="0" rtlCol="0" anchor="ctr"/>
          <a:lstStyle/>
          <a:p>
            <a:pPr marL="0" indent="0">
              <a:buNone/>
            </a:pPr>
            <a:r>
              <a:rPr lang="en-US" sz="1300" b="1" dirty="0">
                <a:solidFill>
                  <a:srgbClr val="CC9900"/>
                </a:solidFill>
                <a:latin typeface="Calibri" pitchFamily="34" charset="0"/>
                <a:ea typeface="Calibri" pitchFamily="34" charset="-122"/>
                <a:cs typeface="Calibri" pitchFamily="34" charset="-120"/>
              </a:rPr>
              <a:t>Estructura de paquetes del ejercicio 4.A</a:t>
            </a:r>
            <a:endParaRPr lang="en-US" sz="1300" dirty="0"/>
          </a:p>
        </p:txBody>
      </p:sp>
      <p:sp>
        <p:nvSpPr>
          <p:cNvPr id="38" name="Shape 36"/>
          <p:cNvSpPr/>
          <p:nvPr/>
        </p:nvSpPr>
        <p:spPr>
          <a:xfrm>
            <a:off x="6199632" y="4078224"/>
            <a:ext cx="5349240" cy="1609344"/>
          </a:xfrm>
          <a:prstGeom prst="roundRect">
            <a:avLst>
              <a:gd name="adj" fmla="val 2273"/>
            </a:avLst>
          </a:prstGeom>
          <a:solidFill>
            <a:srgbClr val="23272E"/>
          </a:solidFill>
          <a:ln w="12700">
            <a:solidFill>
              <a:srgbClr val="23272E"/>
            </a:solidFill>
            <a:prstDash val="solid"/>
          </a:ln>
        </p:spPr>
      </p:sp>
      <p:sp>
        <p:nvSpPr>
          <p:cNvPr id="39" name="Text 37"/>
          <p:cNvSpPr/>
          <p:nvPr/>
        </p:nvSpPr>
        <p:spPr>
          <a:xfrm>
            <a:off x="6400800" y="4224528"/>
            <a:ext cx="4946904" cy="1316736"/>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ec.edu.uteq.biblioteq/</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dominio/      Categoria, CategoriaRepository</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aplicacion/   CategoriaService</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web/          CategoriaController</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 dto/      CategoriaForm</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resources/templates/categorias/lista.html</a:t>
            </a:r>
            <a:endParaRPr lang="en-US" sz="1050" dirty="0"/>
          </a:p>
        </p:txBody>
      </p:sp>
      <p:sp>
        <p:nvSpPr>
          <p:cNvPr id="40" name="Shape 38"/>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41" name="Text 3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Orden inverso —empezar por la pantalla— es la causa habitual de que las reglas terminen dentro del controlador.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401F"/>
        </a:solidFill>
        <a:effectLst/>
      </p:bgPr>
    </p:bg>
    <p:spTree>
      <p:nvGrpSpPr>
        <p:cNvPr id="1" name=""/>
        <p:cNvGrpSpPr/>
        <p:nvPr/>
      </p:nvGrpSpPr>
      <p:grpSpPr>
        <a:xfrm>
          <a:off x="0" y="0"/>
          <a:ext cx="0" cy="0"/>
          <a:chOff x="0" y="0"/>
          <a:chExt cx="0" cy="0"/>
        </a:xfrm>
      </p:grpSpPr>
      <p:sp>
        <p:nvSpPr>
          <p:cNvPr id="2" name="Shape 0"/>
          <p:cNvSpPr/>
          <p:nvPr/>
        </p:nvSpPr>
        <p:spPr>
          <a:xfrm>
            <a:off x="640080" y="2057400"/>
            <a:ext cx="1417320" cy="1417320"/>
          </a:xfrm>
          <a:prstGeom prst="ellipse">
            <a:avLst/>
          </a:prstGeom>
          <a:solidFill>
            <a:srgbClr val="CC9900"/>
          </a:solidFill>
          <a:ln/>
        </p:spPr>
      </p:sp>
      <p:sp>
        <p:nvSpPr>
          <p:cNvPr id="3" name="Text 1"/>
          <p:cNvSpPr/>
          <p:nvPr/>
        </p:nvSpPr>
        <p:spPr>
          <a:xfrm>
            <a:off x="640080" y="2057400"/>
            <a:ext cx="1417320" cy="1417320"/>
          </a:xfrm>
          <a:prstGeom prst="rect">
            <a:avLst/>
          </a:prstGeom>
          <a:noFill/>
          <a:ln/>
        </p:spPr>
        <p:txBody>
          <a:bodyPr wrap="square" lIns="0" tIns="0" rIns="0" bIns="0" rtlCol="0" anchor="ctr"/>
          <a:lstStyle/>
          <a:p>
            <a:pPr marL="0" indent="0" algn="ctr">
              <a:buNone/>
            </a:pPr>
            <a:r>
              <a:rPr lang="en-US" sz="4600" b="1" dirty="0">
                <a:solidFill>
                  <a:srgbClr val="00401F"/>
                </a:solidFill>
                <a:latin typeface="Cambria" pitchFamily="34" charset="0"/>
                <a:ea typeface="Cambria" pitchFamily="34" charset="-122"/>
                <a:cs typeface="Cambria" pitchFamily="34" charset="-120"/>
              </a:rPr>
              <a:t>4.2</a:t>
            </a:r>
            <a:endParaRPr lang="en-US" sz="4600" dirty="0"/>
          </a:p>
        </p:txBody>
      </p:sp>
      <p:sp>
        <p:nvSpPr>
          <p:cNvPr id="4" name="Text 2"/>
          <p:cNvSpPr/>
          <p:nvPr/>
        </p:nvSpPr>
        <p:spPr>
          <a:xfrm>
            <a:off x="2423160" y="2057400"/>
            <a:ext cx="9052560" cy="91440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Implementación del Patrón con Frameworks</a:t>
            </a:r>
            <a:endParaRPr lang="en-US" sz="3600" dirty="0"/>
          </a:p>
        </p:txBody>
      </p:sp>
      <p:sp>
        <p:nvSpPr>
          <p:cNvPr id="5" name="Text 3"/>
          <p:cNvSpPr/>
          <p:nvPr/>
        </p:nvSpPr>
        <p:spPr>
          <a:xfrm>
            <a:off x="2423160" y="2971800"/>
            <a:ext cx="9052560" cy="640080"/>
          </a:xfrm>
          <a:prstGeom prst="rect">
            <a:avLst/>
          </a:prstGeom>
          <a:noFill/>
          <a:ln/>
        </p:spPr>
        <p:txBody>
          <a:bodyPr wrap="square" lIns="0" tIns="0" rIns="0" bIns="0" rtlCol="0" anchor="t"/>
          <a:lstStyle/>
          <a:p>
            <a:pPr marL="0" indent="0" algn="l">
              <a:buNone/>
            </a:pPr>
            <a:r>
              <a:rPr lang="en-US" sz="1600" dirty="0">
                <a:solidFill>
                  <a:srgbClr val="C9DCC9"/>
                </a:solidFill>
                <a:latin typeface="Calibri" pitchFamily="34" charset="0"/>
                <a:ea typeface="Calibri" pitchFamily="34" charset="-122"/>
                <a:cs typeface="Calibri" pitchFamily="34" charset="-120"/>
              </a:rPr>
              <a:t>Panorama comparativo · Laravel como contraste didáctico · Proyecto integrador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Panorama de frameworks MVC</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Los criterios que pesan en la industria no incluyen la popularidad</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2148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3639312">
                  <a:extLst>
                    <a:ext uri="{9D8B030D-6E8A-4147-A177-3AD203B41FA5}">
                      <a16:colId xmlns:a16="http://schemas.microsoft.com/office/drawing/2014/main" val="20004"/>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Framework</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Lenguaje</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Vistas</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Acceso a datos</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Rasgo diferencial</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Spring Boot 4</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Java 21+</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Thymeleaf</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Spring Data JPA</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Dominio en banca y sector público</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Laravel 13</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PHP 8.4</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Blade</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Eloquent</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Productividad alta; hospedaje económico</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ASP.NET Core 10</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C# 13</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Razor</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EF Core</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Integración con ecosistema Microsoft</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Django 5</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Python 3.12</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DTL</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Django ORM</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Panel de administración generado</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0">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Express 5</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Node.js 22</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Diversos</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Prisma / TypeORM</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150" dirty="0">
                          <a:solidFill>
                            <a:srgbClr val="2B333C"/>
                          </a:solidFill>
                          <a:latin typeface="Calibri" pitchFamily="34" charset="0"/>
                          <a:ea typeface="Calibri" pitchFamily="34" charset="-122"/>
                          <a:cs typeface="Calibri" pitchFamily="34" charset="-120"/>
                        </a:rPr>
                        <a:t>Minimalista: el patrón lo impone el equipo</a:t>
                      </a:r>
                      <a:endParaRPr lang="en-US" sz="11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640080" y="4224528"/>
            <a:ext cx="10908792" cy="155448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Disponibilidad de talento en el mercado local — un sistema que nadie más domina se vuelve inmantenible.</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Ventana de soporte de la versión — una versión sin parches de seguridad es un pasivo, no un activo.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Madurez del ecosistema para tareas transversales: autenticación, migraciones, colas, correo.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Costo operativo del despliegue y compatibilidad con la infraestructura ya contratada.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Data Mapper frente a Active Record</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Dos respuestas legítimas a la misma pregunta</a:t>
            </a:r>
            <a:endParaRPr lang="en-US" sz="1400" dirty="0"/>
          </a:p>
        </p:txBody>
      </p:sp>
      <p:sp>
        <p:nvSpPr>
          <p:cNvPr id="4" name="Shape 2"/>
          <p:cNvSpPr/>
          <p:nvPr/>
        </p:nvSpPr>
        <p:spPr>
          <a:xfrm>
            <a:off x="640080" y="1517904"/>
            <a:ext cx="5349240" cy="2240280"/>
          </a:xfrm>
          <a:prstGeom prst="roundRect">
            <a:avLst>
              <a:gd name="adj" fmla="val 2449"/>
            </a:avLst>
          </a:prstGeom>
          <a:solidFill>
            <a:srgbClr val="FBF3DE"/>
          </a:solidFill>
          <a:ln w="12700">
            <a:solidFill>
              <a:srgbClr val="FBF3DE"/>
            </a:solidFill>
            <a:prstDash val="solid"/>
          </a:ln>
        </p:spPr>
      </p:sp>
      <p:sp>
        <p:nvSpPr>
          <p:cNvPr id="5" name="Shape 3"/>
          <p:cNvSpPr/>
          <p:nvPr/>
        </p:nvSpPr>
        <p:spPr>
          <a:xfrm>
            <a:off x="841248" y="1719072"/>
            <a:ext cx="457200" cy="457200"/>
          </a:xfrm>
          <a:prstGeom prst="ellipse">
            <a:avLst/>
          </a:prstGeom>
          <a:solidFill>
            <a:srgbClr val="CC9900"/>
          </a:solidFill>
          <a:ln/>
        </p:spPr>
      </p:sp>
      <p:sp>
        <p:nvSpPr>
          <p:cNvPr id="6" name="Text 4"/>
          <p:cNvSpPr/>
          <p:nvPr/>
        </p:nvSpPr>
        <p:spPr>
          <a:xfrm>
            <a:off x="841248"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a:t>
            </a:r>
            <a:endParaRPr lang="en-US" sz="1300" dirty="0"/>
          </a:p>
        </p:txBody>
      </p:sp>
      <p:sp>
        <p:nvSpPr>
          <p:cNvPr id="7" name="Text 5"/>
          <p:cNvSpPr/>
          <p:nvPr/>
        </p:nvSpPr>
        <p:spPr>
          <a:xfrm>
            <a:off x="1389888"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Active Record</a:t>
            </a:r>
            <a:endParaRPr lang="en-US" sz="1500" dirty="0"/>
          </a:p>
        </p:txBody>
      </p:sp>
      <p:sp>
        <p:nvSpPr>
          <p:cNvPr id="8" name="Text 6"/>
          <p:cNvSpPr/>
          <p:nvPr/>
        </p:nvSpPr>
        <p:spPr>
          <a:xfrm>
            <a:off x="859536" y="2267712"/>
            <a:ext cx="4910328" cy="1307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La entidad hereda de una clase base que le da métodos de persistencia.</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Eloquent (Laravel), Rails.</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 Menos código, entrada muy suave.</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  La entidad depende de la infraestructura: cuesta probarla sin base de datos.</a:t>
            </a:r>
            <a:endParaRPr lang="en-US" sz="1250" dirty="0"/>
          </a:p>
        </p:txBody>
      </p:sp>
      <p:sp>
        <p:nvSpPr>
          <p:cNvPr id="9" name="Shape 7"/>
          <p:cNvSpPr/>
          <p:nvPr/>
        </p:nvSpPr>
        <p:spPr>
          <a:xfrm>
            <a:off x="6199632" y="1517904"/>
            <a:ext cx="5349240" cy="2240280"/>
          </a:xfrm>
          <a:prstGeom prst="roundRect">
            <a:avLst>
              <a:gd name="adj" fmla="val 2449"/>
            </a:avLst>
          </a:prstGeom>
          <a:solidFill>
            <a:srgbClr val="EEF4F0"/>
          </a:solidFill>
          <a:ln w="12700">
            <a:solidFill>
              <a:srgbClr val="EEF4F0"/>
            </a:solidFill>
            <a:prstDash val="solid"/>
          </a:ln>
        </p:spPr>
      </p:sp>
      <p:sp>
        <p:nvSpPr>
          <p:cNvPr id="10" name="Shape 8"/>
          <p:cNvSpPr/>
          <p:nvPr/>
        </p:nvSpPr>
        <p:spPr>
          <a:xfrm>
            <a:off x="6400800" y="1719072"/>
            <a:ext cx="457200" cy="457200"/>
          </a:xfrm>
          <a:prstGeom prst="ellipse">
            <a:avLst/>
          </a:prstGeom>
          <a:solidFill>
            <a:srgbClr val="006633"/>
          </a:solidFill>
          <a:ln/>
        </p:spPr>
      </p:sp>
      <p:sp>
        <p:nvSpPr>
          <p:cNvPr id="11" name="Text 9"/>
          <p:cNvSpPr/>
          <p:nvPr/>
        </p:nvSpPr>
        <p:spPr>
          <a:xfrm>
            <a:off x="6400800"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a:t>
            </a:r>
            <a:endParaRPr lang="en-US" sz="1300" dirty="0"/>
          </a:p>
        </p:txBody>
      </p:sp>
      <p:sp>
        <p:nvSpPr>
          <p:cNvPr id="12" name="Text 10"/>
          <p:cNvSpPr/>
          <p:nvPr/>
        </p:nvSpPr>
        <p:spPr>
          <a:xfrm>
            <a:off x="6949440"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Data Mapper</a:t>
            </a:r>
            <a:endParaRPr lang="en-US" sz="1500" dirty="0"/>
          </a:p>
        </p:txBody>
      </p:sp>
      <p:sp>
        <p:nvSpPr>
          <p:cNvPr id="13" name="Text 11"/>
          <p:cNvSpPr/>
          <p:nvPr/>
        </p:nvSpPr>
        <p:spPr>
          <a:xfrm>
            <a:off x="6419088" y="2267712"/>
            <a:ext cx="4910328" cy="13075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Un objeto intermedio traduce entre entidades y tablas; la entidad no conoce la base.</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JPA/Hibernate, Doctrine.</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 Dominio puro y probable en aislamiento.</a:t>
            </a: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  Más artefactos y curva más pronunciada.</a:t>
            </a:r>
            <a:endParaRPr lang="en-US" sz="1250" dirty="0"/>
          </a:p>
        </p:txBody>
      </p:sp>
      <p:sp>
        <p:nvSpPr>
          <p:cNvPr id="14" name="Shape 12"/>
          <p:cNvSpPr/>
          <p:nvPr/>
        </p:nvSpPr>
        <p:spPr>
          <a:xfrm>
            <a:off x="640080" y="3950208"/>
            <a:ext cx="5349240" cy="868680"/>
          </a:xfrm>
          <a:prstGeom prst="roundRect">
            <a:avLst>
              <a:gd name="adj" fmla="val 4211"/>
            </a:avLst>
          </a:prstGeom>
          <a:solidFill>
            <a:srgbClr val="23272E"/>
          </a:solidFill>
          <a:ln w="12700">
            <a:solidFill>
              <a:srgbClr val="23272E"/>
            </a:solidFill>
            <a:prstDash val="solid"/>
          </a:ln>
        </p:spPr>
      </p:sp>
      <p:sp>
        <p:nvSpPr>
          <p:cNvPr id="15" name="Text 13"/>
          <p:cNvSpPr/>
          <p:nvPr/>
        </p:nvSpPr>
        <p:spPr>
          <a:xfrm>
            <a:off x="841248" y="4096512"/>
            <a:ext cx="4946904" cy="57607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 Laravel — Active Record</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$libro-&gt;save();</a:t>
            </a:r>
            <a:endParaRPr lang="en-US" sz="1250" dirty="0"/>
          </a:p>
        </p:txBody>
      </p:sp>
      <p:sp>
        <p:nvSpPr>
          <p:cNvPr id="16" name="Shape 14"/>
          <p:cNvSpPr/>
          <p:nvPr/>
        </p:nvSpPr>
        <p:spPr>
          <a:xfrm>
            <a:off x="6199632" y="3950208"/>
            <a:ext cx="5349240" cy="868680"/>
          </a:xfrm>
          <a:prstGeom prst="roundRect">
            <a:avLst>
              <a:gd name="adj" fmla="val 4211"/>
            </a:avLst>
          </a:prstGeom>
          <a:solidFill>
            <a:srgbClr val="23272E"/>
          </a:solidFill>
          <a:ln w="12700">
            <a:solidFill>
              <a:srgbClr val="23272E"/>
            </a:solidFill>
            <a:prstDash val="solid"/>
          </a:ln>
        </p:spPr>
      </p:sp>
      <p:sp>
        <p:nvSpPr>
          <p:cNvPr id="17" name="Text 15"/>
          <p:cNvSpPr/>
          <p:nvPr/>
        </p:nvSpPr>
        <p:spPr>
          <a:xfrm>
            <a:off x="6400800" y="4096512"/>
            <a:ext cx="4946904" cy="57607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 Spring — Data Mapper</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repositorio.save(libro);</a:t>
            </a:r>
            <a:endParaRPr lang="en-US" sz="1250" dirty="0"/>
          </a:p>
        </p:txBody>
      </p:sp>
      <p:sp>
        <p:nvSpPr>
          <p:cNvPr id="18" name="Shape 16"/>
          <p:cNvSpPr/>
          <p:nvPr/>
        </p:nvSpPr>
        <p:spPr>
          <a:xfrm>
            <a:off x="640080" y="4992624"/>
            <a:ext cx="10908792" cy="1481328"/>
          </a:xfrm>
          <a:prstGeom prst="roundRect">
            <a:avLst>
              <a:gd name="adj" fmla="val 3704"/>
            </a:avLst>
          </a:prstGeom>
          <a:solidFill>
            <a:srgbClr val="EEF4F0"/>
          </a:solidFill>
          <a:ln w="15875">
            <a:solidFill>
              <a:srgbClr val="006633"/>
            </a:solidFill>
            <a:prstDash val="solid"/>
          </a:ln>
        </p:spPr>
      </p:sp>
      <p:sp>
        <p:nvSpPr>
          <p:cNvPr id="19" name="Text 17"/>
          <p:cNvSpPr/>
          <p:nvPr/>
        </p:nvSpPr>
        <p:spPr>
          <a:xfrm>
            <a:off x="914400" y="5102352"/>
            <a:ext cx="10360152" cy="310896"/>
          </a:xfrm>
          <a:prstGeom prst="rect">
            <a:avLst/>
          </a:prstGeom>
          <a:noFill/>
          <a:ln/>
        </p:spPr>
        <p:txBody>
          <a:bodyPr wrap="square" lIns="0" tIns="0" rIns="0" bIns="0" rtlCol="0" anchor="ctr"/>
          <a:lstStyle/>
          <a:p>
            <a:pPr marL="0" indent="0">
              <a:buNone/>
            </a:pPr>
            <a:r>
              <a:rPr lang="en-US" sz="1450" b="1" dirty="0">
                <a:solidFill>
                  <a:srgbClr val="00401F"/>
                </a:solidFill>
                <a:latin typeface="Calibri" pitchFamily="34" charset="0"/>
                <a:ea typeface="Calibri" pitchFamily="34" charset="-122"/>
                <a:cs typeface="Calibri" pitchFamily="34" charset="-120"/>
              </a:rPr>
              <a:t>Criterio para el PFC</a:t>
            </a:r>
            <a:endParaRPr lang="en-US" sz="1450" dirty="0"/>
          </a:p>
        </p:txBody>
      </p:sp>
      <p:sp>
        <p:nvSpPr>
          <p:cNvPr id="20" name="Text 18"/>
          <p:cNvSpPr/>
          <p:nvPr/>
        </p:nvSpPr>
        <p:spPr>
          <a:xfrm>
            <a:off x="914400" y="5449824"/>
            <a:ext cx="10360152" cy="896112"/>
          </a:xfrm>
          <a:prstGeom prst="rect">
            <a:avLst/>
          </a:prstGeom>
          <a:noFill/>
          <a:ln/>
        </p:spPr>
        <p:txBody>
          <a:bodyPr wrap="square" lIns="0" tIns="0" rIns="0" bIns="0" rtlCol="0" anchor="t"/>
          <a:lstStyle/>
          <a:p>
            <a:pPr marL="0" indent="0">
              <a:buNone/>
            </a:pPr>
            <a:r>
              <a:rPr lang="en-US" sz="1350" dirty="0">
                <a:solidFill>
                  <a:srgbClr val="2B333C"/>
                </a:solidFill>
                <a:latin typeface="Calibri" pitchFamily="34" charset="0"/>
                <a:ea typeface="Calibri" pitchFamily="34" charset="-122"/>
                <a:cs typeface="Calibri" pitchFamily="34" charset="-120"/>
              </a:rPr>
              <a:t>Ambos son legítimos. La rúbrica no evalúa cuál se eligió, sino si la elección está documentada en un ADR y si el código es coherente con ella. Mezclar los dos enfoques en un mismo proyecto sí se penaliza.</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Laravel 13: estructura real del esqueleto</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Cambió en la versión 11 y la mayoría de los tutoriales no lo reflejan</a:t>
            </a:r>
            <a:endParaRPr lang="en-US" sz="1400" dirty="0"/>
          </a:p>
        </p:txBody>
      </p:sp>
      <p:sp>
        <p:nvSpPr>
          <p:cNvPr id="4" name="Shape 2"/>
          <p:cNvSpPr/>
          <p:nvPr/>
        </p:nvSpPr>
        <p:spPr>
          <a:xfrm>
            <a:off x="640080" y="1481328"/>
            <a:ext cx="5806440" cy="4114800"/>
          </a:xfrm>
          <a:prstGeom prst="roundRect">
            <a:avLst>
              <a:gd name="adj" fmla="val 889"/>
            </a:avLst>
          </a:prstGeom>
          <a:solidFill>
            <a:srgbClr val="23272E"/>
          </a:solidFill>
          <a:ln w="12700">
            <a:solidFill>
              <a:srgbClr val="23272E"/>
            </a:solidFill>
            <a:prstDash val="solid"/>
          </a:ln>
        </p:spPr>
      </p:sp>
      <p:sp>
        <p:nvSpPr>
          <p:cNvPr id="5" name="Text 3"/>
          <p:cNvSpPr/>
          <p:nvPr/>
        </p:nvSpPr>
        <p:spPr>
          <a:xfrm>
            <a:off x="841248" y="1627632"/>
            <a:ext cx="5404104" cy="382219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biblioteq-laravel/</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app/</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Http/</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 Controllers/    &lt;- controladores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 Requests/       &lt;- validacion</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Models/             &lt;- modelos Eloquent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Services/           &lt;- reglas (a mano)</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Providers/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bootstrap/</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app.php    &lt;- middleware, rutas,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excepciones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database/</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migrations/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seeders/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resources/views/        &lt;- plantillas Blade</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routes/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web.php</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console.php</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 api.php    &lt;- solo tras install:api</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public/index.php &lt;- unico punto de entrada</a:t>
            </a:r>
            <a:endParaRPr lang="en-US" sz="1100" dirty="0"/>
          </a:p>
        </p:txBody>
      </p:sp>
      <p:sp>
        <p:nvSpPr>
          <p:cNvPr id="6" name="Shape 4"/>
          <p:cNvSpPr/>
          <p:nvPr/>
        </p:nvSpPr>
        <p:spPr>
          <a:xfrm>
            <a:off x="6675120" y="1481328"/>
            <a:ext cx="4873752" cy="2103120"/>
          </a:xfrm>
          <a:prstGeom prst="roundRect">
            <a:avLst>
              <a:gd name="adj" fmla="val 2609"/>
            </a:avLst>
          </a:prstGeom>
          <a:solidFill>
            <a:srgbClr val="FBEDED"/>
          </a:solidFill>
          <a:ln w="15875">
            <a:solidFill>
              <a:srgbClr val="A32020"/>
            </a:solidFill>
            <a:prstDash val="solid"/>
          </a:ln>
        </p:spPr>
      </p:sp>
      <p:sp>
        <p:nvSpPr>
          <p:cNvPr id="7" name="Text 5"/>
          <p:cNvSpPr/>
          <p:nvPr/>
        </p:nvSpPr>
        <p:spPr>
          <a:xfrm>
            <a:off x="6931152" y="1591056"/>
            <a:ext cx="4389120" cy="310896"/>
          </a:xfrm>
          <a:prstGeom prst="rect">
            <a:avLst/>
          </a:prstGeom>
          <a:noFill/>
          <a:ln/>
        </p:spPr>
        <p:txBody>
          <a:bodyPr wrap="square" lIns="0" tIns="0" rIns="0" bIns="0" rtlCol="0" anchor="ctr"/>
          <a:lstStyle/>
          <a:p>
            <a:pPr marL="0" indent="0">
              <a:buNone/>
            </a:pPr>
            <a:r>
              <a:rPr lang="en-US" sz="1500" b="1" dirty="0">
                <a:solidFill>
                  <a:srgbClr val="A32020"/>
                </a:solidFill>
                <a:latin typeface="Calibri" pitchFamily="34" charset="0"/>
                <a:ea typeface="Calibri" pitchFamily="34" charset="-122"/>
                <a:cs typeface="Calibri" pitchFamily="34" charset="-120"/>
              </a:rPr>
              <a:t>Ya no existen</a:t>
            </a:r>
            <a:endParaRPr lang="en-US" sz="1500" dirty="0"/>
          </a:p>
        </p:txBody>
      </p:sp>
      <p:sp>
        <p:nvSpPr>
          <p:cNvPr id="8" name="Text 6"/>
          <p:cNvSpPr/>
          <p:nvPr/>
        </p:nvSpPr>
        <p:spPr>
          <a:xfrm>
            <a:off x="6931152" y="1956816"/>
            <a:ext cx="4389120" cy="1554480"/>
          </a:xfrm>
          <a:prstGeom prst="rect">
            <a:avLst/>
          </a:prstGeom>
          <a:noFill/>
          <a:ln/>
        </p:spPr>
        <p:txBody>
          <a:bodyPr wrap="square" lIns="0" tIns="0" rIns="0" bIns="0" rtlCol="0" anchor="t"/>
          <a:lstStyle/>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app/Http/Kernel.php</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app/Console/Kernel.php</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app/Exceptions/Handler.php</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La propiedad $casts en el modelo</a:t>
            </a:r>
            <a:endParaRPr lang="en-US" sz="1250" dirty="0"/>
          </a:p>
        </p:txBody>
      </p:sp>
      <p:sp>
        <p:nvSpPr>
          <p:cNvPr id="9" name="Shape 7"/>
          <p:cNvSpPr/>
          <p:nvPr/>
        </p:nvSpPr>
        <p:spPr>
          <a:xfrm>
            <a:off x="6675120" y="3712464"/>
            <a:ext cx="4873752" cy="1883664"/>
          </a:xfrm>
          <a:prstGeom prst="roundRect">
            <a:avLst>
              <a:gd name="adj" fmla="val 2913"/>
            </a:avLst>
          </a:prstGeom>
          <a:solidFill>
            <a:srgbClr val="FBF3DE"/>
          </a:solidFill>
          <a:ln w="12700">
            <a:solidFill>
              <a:srgbClr val="FBF3DE"/>
            </a:solidFill>
            <a:prstDash val="solid"/>
          </a:ln>
        </p:spPr>
      </p:sp>
      <p:sp>
        <p:nvSpPr>
          <p:cNvPr id="10" name="Shape 8"/>
          <p:cNvSpPr/>
          <p:nvPr/>
        </p:nvSpPr>
        <p:spPr>
          <a:xfrm>
            <a:off x="6876288" y="3913632"/>
            <a:ext cx="457200" cy="457200"/>
          </a:xfrm>
          <a:prstGeom prst="ellipse">
            <a:avLst/>
          </a:prstGeom>
          <a:solidFill>
            <a:srgbClr val="CC9900"/>
          </a:solidFill>
          <a:ln/>
        </p:spPr>
      </p:sp>
      <p:sp>
        <p:nvSpPr>
          <p:cNvPr id="11" name="Text 9"/>
          <p:cNvSpPr/>
          <p:nvPr/>
        </p:nvSpPr>
        <p:spPr>
          <a:xfrm>
            <a:off x="6876288" y="391363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424928" y="3913632"/>
            <a:ext cx="3941064"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Regla práctica</a:t>
            </a:r>
            <a:endParaRPr lang="en-US" sz="1500" dirty="0"/>
          </a:p>
        </p:txBody>
      </p:sp>
      <p:sp>
        <p:nvSpPr>
          <p:cNvPr id="13" name="Text 11"/>
          <p:cNvSpPr/>
          <p:nvPr/>
        </p:nvSpPr>
        <p:spPr>
          <a:xfrm>
            <a:off x="6894576" y="4462272"/>
            <a:ext cx="4434840" cy="950976"/>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Si un tutorial menciona Kernel.php, Handler.php o $casts, está escrito para Laravel 10 o anterior.</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Tradúzcalo a bootstrap/app.php y al método casts().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Laravel: ruta, modelo y validación</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Tres piezas, tres archivos, ninguna mezcla</a:t>
            </a:r>
            <a:endParaRPr lang="en-US" sz="1400" dirty="0"/>
          </a:p>
        </p:txBody>
      </p:sp>
      <p:sp>
        <p:nvSpPr>
          <p:cNvPr id="4" name="Text 2"/>
          <p:cNvSpPr/>
          <p:nvPr/>
        </p:nvSpPr>
        <p:spPr>
          <a:xfrm>
            <a:off x="640080" y="1225296"/>
            <a:ext cx="3520440" cy="274320"/>
          </a:xfrm>
          <a:prstGeom prst="rect">
            <a:avLst/>
          </a:prstGeom>
          <a:noFill/>
          <a:ln/>
        </p:spPr>
        <p:txBody>
          <a:bodyPr wrap="square" lIns="0" tIns="0" rIns="0" bIns="0" rtlCol="0" anchor="ctr"/>
          <a:lstStyle/>
          <a:p>
            <a:pPr marL="0" indent="0">
              <a:buNone/>
            </a:pPr>
            <a:r>
              <a:rPr lang="en-US" sz="1300" b="1" dirty="0">
                <a:solidFill>
                  <a:srgbClr val="006633"/>
                </a:solidFill>
                <a:latin typeface="Calibri" pitchFamily="34" charset="0"/>
                <a:ea typeface="Calibri" pitchFamily="34" charset="-122"/>
                <a:cs typeface="Calibri" pitchFamily="34" charset="-120"/>
              </a:rPr>
              <a:t>routes/web.php</a:t>
            </a:r>
            <a:endParaRPr lang="en-US" sz="1300" dirty="0"/>
          </a:p>
        </p:txBody>
      </p:sp>
      <p:sp>
        <p:nvSpPr>
          <p:cNvPr id="5" name="Shape 3"/>
          <p:cNvSpPr/>
          <p:nvPr/>
        </p:nvSpPr>
        <p:spPr>
          <a:xfrm>
            <a:off x="640080" y="1517904"/>
            <a:ext cx="3520440" cy="1371600"/>
          </a:xfrm>
          <a:prstGeom prst="roundRect">
            <a:avLst>
              <a:gd name="adj" fmla="val 2667"/>
            </a:avLst>
          </a:prstGeom>
          <a:solidFill>
            <a:srgbClr val="23272E"/>
          </a:solidFill>
          <a:ln w="12700">
            <a:solidFill>
              <a:srgbClr val="23272E"/>
            </a:solidFill>
            <a:prstDash val="solid"/>
          </a:ln>
        </p:spPr>
      </p:sp>
      <p:sp>
        <p:nvSpPr>
          <p:cNvPr id="6" name="Text 4"/>
          <p:cNvSpPr/>
          <p:nvPr/>
        </p:nvSpPr>
        <p:spPr>
          <a:xfrm>
            <a:off x="841248" y="1664208"/>
            <a:ext cx="3118104" cy="107899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Route::resource(</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'libros',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LibroController::class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genera 7 rutas</a:t>
            </a:r>
            <a:endParaRPr lang="en-US" sz="1050" dirty="0"/>
          </a:p>
        </p:txBody>
      </p:sp>
      <p:sp>
        <p:nvSpPr>
          <p:cNvPr id="7" name="Text 5"/>
          <p:cNvSpPr/>
          <p:nvPr/>
        </p:nvSpPr>
        <p:spPr>
          <a:xfrm>
            <a:off x="4334256" y="1225296"/>
            <a:ext cx="3520440" cy="274320"/>
          </a:xfrm>
          <a:prstGeom prst="rect">
            <a:avLst/>
          </a:prstGeom>
          <a:noFill/>
          <a:ln/>
        </p:spPr>
        <p:txBody>
          <a:bodyPr wrap="square" lIns="0" tIns="0" rIns="0" bIns="0" rtlCol="0" anchor="ctr"/>
          <a:lstStyle/>
          <a:p>
            <a:pPr marL="0" indent="0">
              <a:buNone/>
            </a:pPr>
            <a:r>
              <a:rPr lang="en-US" sz="1300" b="1" dirty="0">
                <a:solidFill>
                  <a:srgbClr val="006633"/>
                </a:solidFill>
                <a:latin typeface="Calibri" pitchFamily="34" charset="0"/>
                <a:ea typeface="Calibri" pitchFamily="34" charset="-122"/>
                <a:cs typeface="Calibri" pitchFamily="34" charset="-120"/>
              </a:rPr>
              <a:t>app/Models/Libro.php</a:t>
            </a:r>
            <a:endParaRPr lang="en-US" sz="1300" dirty="0"/>
          </a:p>
        </p:txBody>
      </p:sp>
      <p:sp>
        <p:nvSpPr>
          <p:cNvPr id="8" name="Shape 6"/>
          <p:cNvSpPr/>
          <p:nvPr/>
        </p:nvSpPr>
        <p:spPr>
          <a:xfrm>
            <a:off x="4334256" y="1517904"/>
            <a:ext cx="3520440" cy="1371600"/>
          </a:xfrm>
          <a:prstGeom prst="roundRect">
            <a:avLst>
              <a:gd name="adj" fmla="val 2667"/>
            </a:avLst>
          </a:prstGeom>
          <a:solidFill>
            <a:srgbClr val="23272E"/>
          </a:solidFill>
          <a:ln w="12700">
            <a:solidFill>
              <a:srgbClr val="23272E"/>
            </a:solidFill>
            <a:prstDash val="solid"/>
          </a:ln>
        </p:spPr>
      </p:sp>
      <p:sp>
        <p:nvSpPr>
          <p:cNvPr id="9" name="Text 7"/>
          <p:cNvSpPr/>
          <p:nvPr/>
        </p:nvSpPr>
        <p:spPr>
          <a:xfrm>
            <a:off x="4535424" y="1664208"/>
            <a:ext cx="3118104" cy="107899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class Libro extends Model</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protected $fillable =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'isbn','titulo',</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'anio_publicacion'];</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a:t>
            </a:r>
            <a:endParaRPr lang="en-US" sz="1050" dirty="0"/>
          </a:p>
        </p:txBody>
      </p:sp>
      <p:sp>
        <p:nvSpPr>
          <p:cNvPr id="10" name="Text 8"/>
          <p:cNvSpPr/>
          <p:nvPr/>
        </p:nvSpPr>
        <p:spPr>
          <a:xfrm>
            <a:off x="8028432" y="1225296"/>
            <a:ext cx="3520440" cy="274320"/>
          </a:xfrm>
          <a:prstGeom prst="rect">
            <a:avLst/>
          </a:prstGeom>
          <a:noFill/>
          <a:ln/>
        </p:spPr>
        <p:txBody>
          <a:bodyPr wrap="square" lIns="0" tIns="0" rIns="0" bIns="0" rtlCol="0" anchor="ctr"/>
          <a:lstStyle/>
          <a:p>
            <a:pPr marL="0" indent="0">
              <a:buNone/>
            </a:pPr>
            <a:r>
              <a:rPr lang="en-US" sz="1300" b="1" dirty="0">
                <a:solidFill>
                  <a:srgbClr val="CC9900"/>
                </a:solidFill>
                <a:latin typeface="Calibri" pitchFamily="34" charset="0"/>
                <a:ea typeface="Calibri" pitchFamily="34" charset="-122"/>
                <a:cs typeface="Calibri" pitchFamily="34" charset="-120"/>
              </a:rPr>
              <a:t>app/Http/Requests/…</a:t>
            </a:r>
            <a:endParaRPr lang="en-US" sz="1300" dirty="0"/>
          </a:p>
        </p:txBody>
      </p:sp>
      <p:sp>
        <p:nvSpPr>
          <p:cNvPr id="11" name="Shape 9"/>
          <p:cNvSpPr/>
          <p:nvPr/>
        </p:nvSpPr>
        <p:spPr>
          <a:xfrm>
            <a:off x="8028432" y="1517904"/>
            <a:ext cx="3520440" cy="1371600"/>
          </a:xfrm>
          <a:prstGeom prst="roundRect">
            <a:avLst>
              <a:gd name="adj" fmla="val 2667"/>
            </a:avLst>
          </a:prstGeom>
          <a:solidFill>
            <a:srgbClr val="23272E"/>
          </a:solidFill>
          <a:ln w="12700">
            <a:solidFill>
              <a:srgbClr val="23272E"/>
            </a:solidFill>
            <a:prstDash val="solid"/>
          </a:ln>
        </p:spPr>
      </p:sp>
      <p:sp>
        <p:nvSpPr>
          <p:cNvPr id="12" name="Text 10"/>
          <p:cNvSpPr/>
          <p:nvPr/>
        </p:nvSpPr>
        <p:spPr>
          <a:xfrm>
            <a:off x="8229600" y="1664208"/>
            <a:ext cx="3118104" cy="107899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public function rules()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return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'isbn' =&gt; ['required',</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'size:17','unique:libros'],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'titulo' =&gt; ['required',</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'min:3','max:200'] ]; }</a:t>
            </a:r>
            <a:endParaRPr lang="en-US" sz="1050" dirty="0"/>
          </a:p>
        </p:txBody>
      </p:sp>
      <p:sp>
        <p:nvSpPr>
          <p:cNvPr id="13" name="Shape 11"/>
          <p:cNvSpPr/>
          <p:nvPr/>
        </p:nvSpPr>
        <p:spPr>
          <a:xfrm>
            <a:off x="640080" y="3090672"/>
            <a:ext cx="10908792" cy="1572768"/>
          </a:xfrm>
          <a:prstGeom prst="roundRect">
            <a:avLst>
              <a:gd name="adj" fmla="val 3488"/>
            </a:avLst>
          </a:prstGeom>
          <a:solidFill>
            <a:srgbClr val="FBEDED"/>
          </a:solidFill>
          <a:ln w="15875">
            <a:solidFill>
              <a:srgbClr val="A32020"/>
            </a:solidFill>
            <a:prstDash val="solid"/>
          </a:ln>
        </p:spPr>
      </p:sp>
      <p:sp>
        <p:nvSpPr>
          <p:cNvPr id="14" name="Text 12"/>
          <p:cNvSpPr/>
          <p:nvPr/>
        </p:nvSpPr>
        <p:spPr>
          <a:xfrm>
            <a:off x="914400" y="3200400"/>
            <a:ext cx="10360152" cy="329184"/>
          </a:xfrm>
          <a:prstGeom prst="rect">
            <a:avLst/>
          </a:prstGeom>
          <a:noFill/>
          <a:ln/>
        </p:spPr>
        <p:txBody>
          <a:bodyPr wrap="square" lIns="0" tIns="0" rIns="0" bIns="0" rtlCol="0" anchor="ctr"/>
          <a:lstStyle/>
          <a:p>
            <a:pPr marL="0" indent="0">
              <a:buNone/>
            </a:pPr>
            <a:r>
              <a:rPr lang="en-US" sz="1500" b="1" dirty="0">
                <a:solidFill>
                  <a:srgbClr val="A32020"/>
                </a:solidFill>
                <a:latin typeface="Calibri" pitchFamily="34" charset="0"/>
                <a:ea typeface="Calibri" pitchFamily="34" charset="-122"/>
                <a:cs typeface="Calibri" pitchFamily="34" charset="-120"/>
              </a:rPr>
              <a:t>$fillable no es estilo: es una defensa de seguridad</a:t>
            </a:r>
            <a:endParaRPr lang="en-US" sz="1500" dirty="0"/>
          </a:p>
        </p:txBody>
      </p:sp>
      <p:sp>
        <p:nvSpPr>
          <p:cNvPr id="15" name="Text 13"/>
          <p:cNvSpPr/>
          <p:nvPr/>
        </p:nvSpPr>
        <p:spPr>
          <a:xfrm>
            <a:off x="914400" y="3584448"/>
            <a:ext cx="10360152" cy="969264"/>
          </a:xfrm>
          <a:prstGeom prst="rect">
            <a:avLst/>
          </a:prstGeom>
          <a:noFill/>
          <a:ln/>
        </p:spPr>
        <p:txBody>
          <a:bodyPr wrap="square" lIns="0" tIns="0" rIns="0" bIns="0" rtlCol="0" anchor="t"/>
          <a:lstStyle/>
          <a:p>
            <a:pPr marL="0" indent="0">
              <a:buNone/>
            </a:pPr>
            <a:r>
              <a:rPr lang="en-US" sz="1350" dirty="0">
                <a:solidFill>
                  <a:srgbClr val="5A2020"/>
                </a:solidFill>
                <a:latin typeface="Calibri" pitchFamily="34" charset="0"/>
                <a:ea typeface="Calibri" pitchFamily="34" charset="-122"/>
                <a:cs typeface="Calibri" pitchFamily="34" charset="-120"/>
              </a:rPr>
              <a:t>Si el modelo no declara qué atributos aceptan asignación masiva, un atacante puede añadir campos al formulario —por ejemplo es_administrador=1— y Eloquent los asignará sin objeciones. El riesgo está catalogado como Broken Object Property Level Authorization en el OWASP API Security Top 10:2023.</a:t>
            </a:r>
            <a:endParaRPr lang="en-US" sz="1350" dirty="0"/>
          </a:p>
        </p:txBody>
      </p:sp>
      <p:sp>
        <p:nvSpPr>
          <p:cNvPr id="16" name="Shape 14"/>
          <p:cNvSpPr/>
          <p:nvPr/>
        </p:nvSpPr>
        <p:spPr>
          <a:xfrm>
            <a:off x="640080" y="4828032"/>
            <a:ext cx="10908792" cy="1481328"/>
          </a:xfrm>
          <a:prstGeom prst="roundRect">
            <a:avLst>
              <a:gd name="adj" fmla="val 3704"/>
            </a:avLst>
          </a:prstGeom>
          <a:solidFill>
            <a:srgbClr val="EEF4F0"/>
          </a:solidFill>
          <a:ln w="12700">
            <a:solidFill>
              <a:srgbClr val="EEF4F0"/>
            </a:solidFill>
            <a:prstDash val="solid"/>
          </a:ln>
        </p:spPr>
      </p:sp>
      <p:sp>
        <p:nvSpPr>
          <p:cNvPr id="17" name="Shape 15"/>
          <p:cNvSpPr/>
          <p:nvPr/>
        </p:nvSpPr>
        <p:spPr>
          <a:xfrm>
            <a:off x="841248" y="5029200"/>
            <a:ext cx="457200" cy="457200"/>
          </a:xfrm>
          <a:prstGeom prst="ellipse">
            <a:avLst/>
          </a:prstGeom>
          <a:solidFill>
            <a:srgbClr val="006633"/>
          </a:solidFill>
          <a:ln/>
        </p:spPr>
      </p:sp>
      <p:sp>
        <p:nvSpPr>
          <p:cNvPr id="18" name="Text 16"/>
          <p:cNvSpPr/>
          <p:nvPr/>
        </p:nvSpPr>
        <p:spPr>
          <a:xfrm>
            <a:off x="841248" y="50292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389888" y="5029200"/>
            <a:ext cx="9976104"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La validación ocurre antes de entrar al controlador</a:t>
            </a:r>
            <a:endParaRPr lang="en-US" sz="1500" dirty="0"/>
          </a:p>
        </p:txBody>
      </p:sp>
      <p:sp>
        <p:nvSpPr>
          <p:cNvPr id="20" name="Text 18"/>
          <p:cNvSpPr/>
          <p:nvPr/>
        </p:nvSpPr>
        <p:spPr>
          <a:xfrm>
            <a:off x="859536" y="5577840"/>
            <a:ext cx="10469880" cy="54864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Cuando Laravel detecta que el parámetro del método es una subclase de FormRequest, ejecuta las reglas primero. Si alguna falla, redirige al formulario con los errores y los valores previos. El controlador solo recibe datos ya válidos.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 trampa N+1</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El defecto de rendimiento más frecuente en los proyectos del curso</a:t>
            </a:r>
            <a:endParaRPr lang="en-US" sz="1400" dirty="0"/>
          </a:p>
        </p:txBody>
      </p:sp>
      <p:sp>
        <p:nvSpPr>
          <p:cNvPr id="4" name="Shape 2"/>
          <p:cNvSpPr/>
          <p:nvPr/>
        </p:nvSpPr>
        <p:spPr>
          <a:xfrm>
            <a:off x="640080" y="1517904"/>
            <a:ext cx="5349240" cy="1600200"/>
          </a:xfrm>
          <a:prstGeom prst="roundRect">
            <a:avLst>
              <a:gd name="adj" fmla="val 2286"/>
            </a:avLst>
          </a:prstGeom>
          <a:solidFill>
            <a:srgbClr val="23272E"/>
          </a:solidFill>
          <a:ln w="12700">
            <a:solidFill>
              <a:srgbClr val="23272E"/>
            </a:solidFill>
            <a:prstDash val="solid"/>
          </a:ln>
        </p:spPr>
      </p:sp>
      <p:sp>
        <p:nvSpPr>
          <p:cNvPr id="5" name="Text 3"/>
          <p:cNvSpPr/>
          <p:nvPr/>
        </p:nvSpPr>
        <p:spPr>
          <a:xfrm>
            <a:off x="841248" y="1664208"/>
            <a:ext cx="4946904" cy="130759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 Blade --}}</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@foreach ($libros as $libro)</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 $libro-&gt;categoria-&gt;nombre }}</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@endforeach</a:t>
            </a:r>
            <a:endParaRPr lang="en-US" sz="1250" dirty="0"/>
          </a:p>
        </p:txBody>
      </p:sp>
      <p:sp>
        <p:nvSpPr>
          <p:cNvPr id="6" name="Text 4"/>
          <p:cNvSpPr/>
          <p:nvPr/>
        </p:nvSpPr>
        <p:spPr>
          <a:xfrm>
            <a:off x="640080" y="3246120"/>
            <a:ext cx="5349240" cy="658368"/>
          </a:xfrm>
          <a:prstGeom prst="rect">
            <a:avLst/>
          </a:prstGeom>
          <a:noFill/>
          <a:ln/>
        </p:spPr>
        <p:txBody>
          <a:bodyPr wrap="square" lIns="0" tIns="0" rIns="0" bIns="0" rtlCol="0" anchor="ctr"/>
          <a:lstStyle/>
          <a:p>
            <a:pPr marL="0" indent="0">
              <a:buNone/>
            </a:pPr>
            <a:r>
              <a:rPr lang="en-US" sz="1450" b="1" dirty="0">
                <a:solidFill>
                  <a:srgbClr val="A32020"/>
                </a:solidFill>
                <a:latin typeface="Calibri" pitchFamily="34" charset="0"/>
                <a:ea typeface="Calibri" pitchFamily="34" charset="-122"/>
                <a:cs typeface="Calibri" pitchFamily="34" charset="-120"/>
              </a:rPr>
              <a:t>Con 10 libros → 11 consultas.</a:t>
            </a:r>
            <a:endParaRPr lang="en-US" sz="1450" dirty="0"/>
          </a:p>
          <a:p>
            <a:pPr marL="0" indent="0">
              <a:buNone/>
            </a:pPr>
            <a:r>
              <a:rPr lang="en-US" sz="1450" b="1" dirty="0">
                <a:solidFill>
                  <a:srgbClr val="A32020"/>
                </a:solidFill>
                <a:latin typeface="Calibri" pitchFamily="34" charset="0"/>
                <a:ea typeface="Calibri" pitchFamily="34" charset="-122"/>
                <a:cs typeface="Calibri" pitchFamily="34" charset="-120"/>
              </a:rPr>
              <a:t>Con 200 libros → 201 consultas.</a:t>
            </a:r>
            <a:endParaRPr lang="en-US" sz="1450" dirty="0"/>
          </a:p>
        </p:txBody>
      </p:sp>
      <p:sp>
        <p:nvSpPr>
          <p:cNvPr id="7" name="Shape 5"/>
          <p:cNvSpPr/>
          <p:nvPr/>
        </p:nvSpPr>
        <p:spPr>
          <a:xfrm>
            <a:off x="6199632" y="1517904"/>
            <a:ext cx="5349240" cy="1600200"/>
          </a:xfrm>
          <a:prstGeom prst="roundRect">
            <a:avLst>
              <a:gd name="adj" fmla="val 2286"/>
            </a:avLst>
          </a:prstGeom>
          <a:solidFill>
            <a:srgbClr val="23272E"/>
          </a:solidFill>
          <a:ln w="12700">
            <a:solidFill>
              <a:srgbClr val="23272E"/>
            </a:solidFill>
            <a:prstDash val="solid"/>
          </a:ln>
        </p:spPr>
      </p:sp>
      <p:sp>
        <p:nvSpPr>
          <p:cNvPr id="8" name="Text 6"/>
          <p:cNvSpPr/>
          <p:nvPr/>
        </p:nvSpPr>
        <p:spPr>
          <a:xfrm>
            <a:off x="6400800" y="1664208"/>
            <a:ext cx="4946904" cy="130759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 Controlador: carga anticipada</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Libro::with('categoria')</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-&gt;paginate(10);</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 -&gt; 2 consultas, siempre</a:t>
            </a:r>
            <a:endParaRPr lang="en-US" sz="1250" dirty="0"/>
          </a:p>
        </p:txBody>
      </p:sp>
      <p:sp>
        <p:nvSpPr>
          <p:cNvPr id="9" name="Text 7"/>
          <p:cNvSpPr/>
          <p:nvPr/>
        </p:nvSpPr>
        <p:spPr>
          <a:xfrm>
            <a:off x="6199632" y="3246120"/>
            <a:ext cx="5349240" cy="658368"/>
          </a:xfrm>
          <a:prstGeom prst="rect">
            <a:avLst/>
          </a:prstGeom>
          <a:noFill/>
          <a:ln/>
        </p:spPr>
        <p:txBody>
          <a:bodyPr wrap="square" lIns="0" tIns="0" rIns="0" bIns="0" rtlCol="0" anchor="ctr"/>
          <a:lstStyle/>
          <a:p>
            <a:pPr marL="0" indent="0">
              <a:buNone/>
            </a:pPr>
            <a:r>
              <a:rPr lang="en-US" sz="1450" b="1" dirty="0">
                <a:solidFill>
                  <a:srgbClr val="006633"/>
                </a:solidFill>
                <a:latin typeface="Calibri" pitchFamily="34" charset="0"/>
                <a:ea typeface="Calibri" pitchFamily="34" charset="-122"/>
                <a:cs typeface="Calibri" pitchFamily="34" charset="-120"/>
              </a:rPr>
              <a:t>La solución cabe en una línea,</a:t>
            </a:r>
            <a:endParaRPr lang="en-US" sz="1450" dirty="0"/>
          </a:p>
          <a:p>
            <a:pPr marL="0" indent="0">
              <a:buNone/>
            </a:pPr>
            <a:r>
              <a:rPr lang="en-US" sz="1450" b="1" dirty="0">
                <a:solidFill>
                  <a:srgbClr val="006633"/>
                </a:solidFill>
                <a:latin typeface="Calibri" pitchFamily="34" charset="0"/>
                <a:ea typeface="Calibri" pitchFamily="34" charset="-122"/>
                <a:cs typeface="Calibri" pitchFamily="34" charset="-120"/>
              </a:rPr>
              <a:t>pero hay que saber que el problema existe.</a:t>
            </a:r>
            <a:endParaRPr lang="en-US" sz="1450" dirty="0"/>
          </a:p>
        </p:txBody>
      </p:sp>
      <p:sp>
        <p:nvSpPr>
          <p:cNvPr id="10" name="Shape 8"/>
          <p:cNvSpPr/>
          <p:nvPr/>
        </p:nvSpPr>
        <p:spPr>
          <a:xfrm>
            <a:off x="640080" y="4041648"/>
            <a:ext cx="10908792" cy="1207008"/>
          </a:xfrm>
          <a:prstGeom prst="roundRect">
            <a:avLst>
              <a:gd name="adj" fmla="val 4545"/>
            </a:avLst>
          </a:prstGeom>
          <a:solidFill>
            <a:srgbClr val="FBF3DE"/>
          </a:solidFill>
          <a:ln w="12700">
            <a:solidFill>
              <a:srgbClr val="FBF3DE"/>
            </a:solidFill>
            <a:prstDash val="solid"/>
          </a:ln>
        </p:spPr>
      </p:sp>
      <p:sp>
        <p:nvSpPr>
          <p:cNvPr id="11" name="Shape 9"/>
          <p:cNvSpPr/>
          <p:nvPr/>
        </p:nvSpPr>
        <p:spPr>
          <a:xfrm>
            <a:off x="841248" y="4242816"/>
            <a:ext cx="457200" cy="457200"/>
          </a:xfrm>
          <a:prstGeom prst="ellipse">
            <a:avLst/>
          </a:prstGeom>
          <a:solidFill>
            <a:srgbClr val="CC9900"/>
          </a:solidFill>
          <a:ln/>
        </p:spPr>
      </p:sp>
      <p:sp>
        <p:nvSpPr>
          <p:cNvPr id="12" name="Text 10"/>
          <p:cNvSpPr/>
          <p:nvPr/>
        </p:nvSpPr>
        <p:spPr>
          <a:xfrm>
            <a:off x="841248" y="424281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89888" y="4242816"/>
            <a:ext cx="9976104"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Convierta el fallo silencioso en un error ruidoso</a:t>
            </a:r>
            <a:endParaRPr lang="en-US" sz="1500" dirty="0"/>
          </a:p>
        </p:txBody>
      </p:sp>
      <p:sp>
        <p:nvSpPr>
          <p:cNvPr id="14" name="Text 12"/>
          <p:cNvSpPr/>
          <p:nvPr/>
        </p:nvSpPr>
        <p:spPr>
          <a:xfrm>
            <a:off x="859536" y="4791456"/>
            <a:ext cx="10469880" cy="27432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Active Model::preventLazyLoading() en el entorno de desarrollo: Laravel lanzará una excepción cuando esto ocurra, en lugar de degradar el rendimiento sin avisar. Spring Boot ofrece el equivalente con spring.jpa.open-in-view=false.</a:t>
            </a:r>
            <a:endParaRPr lang="en-US" sz="1250" dirty="0"/>
          </a:p>
        </p:txBody>
      </p:sp>
      <p:sp>
        <p:nvSpPr>
          <p:cNvPr id="15" name="Shape 13"/>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16" name="Text 14"/>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Regla de la unidad: si va a recorrer una relación en la vista, cárguela de forma anticipada en el controlador.</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401F"/>
        </a:solidFill>
        <a:effectLst/>
      </p:bgPr>
    </p:bg>
    <p:spTree>
      <p:nvGrpSpPr>
        <p:cNvPr id="1" name=""/>
        <p:cNvGrpSpPr/>
        <p:nvPr/>
      </p:nvGrpSpPr>
      <p:grpSpPr>
        <a:xfrm>
          <a:off x="0" y="0"/>
          <a:ext cx="0" cy="0"/>
          <a:chOff x="0" y="0"/>
          <a:chExt cx="0" cy="0"/>
        </a:xfrm>
      </p:grpSpPr>
      <p:sp>
        <p:nvSpPr>
          <p:cNvPr id="2" name="Shape 0"/>
          <p:cNvSpPr/>
          <p:nvPr/>
        </p:nvSpPr>
        <p:spPr>
          <a:xfrm>
            <a:off x="640080" y="2057400"/>
            <a:ext cx="1417320" cy="1417320"/>
          </a:xfrm>
          <a:prstGeom prst="ellipse">
            <a:avLst/>
          </a:prstGeom>
          <a:solidFill>
            <a:srgbClr val="CC9900"/>
          </a:solidFill>
          <a:ln/>
        </p:spPr>
      </p:sp>
      <p:sp>
        <p:nvSpPr>
          <p:cNvPr id="3" name="Text 1"/>
          <p:cNvSpPr/>
          <p:nvPr/>
        </p:nvSpPr>
        <p:spPr>
          <a:xfrm>
            <a:off x="640080" y="2057400"/>
            <a:ext cx="1417320" cy="1417320"/>
          </a:xfrm>
          <a:prstGeom prst="rect">
            <a:avLst/>
          </a:prstGeom>
          <a:noFill/>
          <a:ln/>
        </p:spPr>
        <p:txBody>
          <a:bodyPr wrap="square" lIns="0" tIns="0" rIns="0" bIns="0" rtlCol="0" anchor="ctr"/>
          <a:lstStyle/>
          <a:p>
            <a:pPr marL="0" indent="0" algn="ctr">
              <a:buNone/>
            </a:pPr>
            <a:r>
              <a:rPr lang="en-US" sz="4600" b="1" dirty="0">
                <a:solidFill>
                  <a:srgbClr val="00401F"/>
                </a:solidFill>
                <a:latin typeface="Cambria" pitchFamily="34" charset="0"/>
                <a:ea typeface="Cambria" pitchFamily="34" charset="-122"/>
                <a:cs typeface="Cambria" pitchFamily="34" charset="-120"/>
              </a:rPr>
              <a:t>4.3</a:t>
            </a:r>
            <a:endParaRPr lang="en-US" sz="4600" dirty="0"/>
          </a:p>
        </p:txBody>
      </p:sp>
      <p:sp>
        <p:nvSpPr>
          <p:cNvPr id="4" name="Text 2"/>
          <p:cNvSpPr/>
          <p:nvPr/>
        </p:nvSpPr>
        <p:spPr>
          <a:xfrm>
            <a:off x="2423160" y="2057400"/>
            <a:ext cx="9052560" cy="91440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Servicios Web: Conceptos, Tipos e Implementación</a:t>
            </a:r>
            <a:endParaRPr lang="en-US" sz="3600" dirty="0"/>
          </a:p>
        </p:txBody>
      </p:sp>
      <p:sp>
        <p:nvSpPr>
          <p:cNvPr id="5" name="Text 3"/>
          <p:cNvSpPr/>
          <p:nvPr/>
        </p:nvSpPr>
        <p:spPr>
          <a:xfrm>
            <a:off x="2423160" y="2971800"/>
            <a:ext cx="9052560" cy="640080"/>
          </a:xfrm>
          <a:prstGeom prst="rect">
            <a:avLst/>
          </a:prstGeom>
          <a:noFill/>
          <a:ln/>
        </p:spPr>
        <p:txBody>
          <a:bodyPr wrap="square" lIns="0" tIns="0" rIns="0" bIns="0" rtlCol="0" anchor="t"/>
          <a:lstStyle/>
          <a:p>
            <a:pPr marL="0" indent="0" algn="l">
              <a:buNone/>
            </a:pPr>
            <a:r>
              <a:rPr lang="en-US" sz="1600" dirty="0">
                <a:solidFill>
                  <a:srgbClr val="C9DCC9"/>
                </a:solidFill>
                <a:latin typeface="Calibri" pitchFamily="34" charset="0"/>
                <a:ea typeface="Calibri" pitchFamily="34" charset="-122"/>
                <a:cs typeface="Calibri" pitchFamily="34" charset="-120"/>
              </a:rPr>
              <a:t>Fundamentos y estándares · REST y sus restricciones · Implementación con Spring Boot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Los dos estilos dominantes</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SOAP no murió: se mudó a donde importan las garantías formales</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370832">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Aspecto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REST</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Naturaleza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Protocolo con especificación formal</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Estilo arquitectónico con restricciones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Transporte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HTTP, SMTP, JMS y otros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HTTP exclusivamente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Formato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XML obligatorio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JSON habitual; negociable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Contrato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WSDL, procesable por herramientas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OpenAPI, adoptado por convención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Errores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Elemento Fault en el cuerpo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Código de estado HTTP + cuerpo estructurado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Transacciones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WS-AtomicTransaction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Sin soporte nativo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6"/>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Dominio vigente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Banca, seguros, administración tributaria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Web pública, móviles, microservicios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6" name="Text 3"/>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En Ecuador, buena parte de la integración con el SRI para comprobantes electrónicos sigue operando sobre servicios SOAP.</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Las seis restricciones de REST</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Fielding no diseñó REST: lo derivó analizando por qué la web ya escalaba</a:t>
            </a:r>
            <a:endParaRPr lang="en-US" sz="1400" dirty="0"/>
          </a:p>
        </p:txBody>
      </p:sp>
      <p:sp>
        <p:nvSpPr>
          <p:cNvPr id="4" name="Shape 2"/>
          <p:cNvSpPr/>
          <p:nvPr/>
        </p:nvSpPr>
        <p:spPr>
          <a:xfrm>
            <a:off x="640080" y="1517904"/>
            <a:ext cx="5349240" cy="1298448"/>
          </a:xfrm>
          <a:prstGeom prst="roundRect">
            <a:avLst>
              <a:gd name="adj" fmla="val 4225"/>
            </a:avLst>
          </a:prstGeom>
          <a:solidFill>
            <a:srgbClr val="EEF4F0"/>
          </a:solidFill>
          <a:ln w="12700">
            <a:solidFill>
              <a:srgbClr val="EEF4F0"/>
            </a:solidFill>
            <a:prstDash val="solid"/>
          </a:ln>
        </p:spPr>
      </p:sp>
      <p:sp>
        <p:nvSpPr>
          <p:cNvPr id="5" name="Shape 3"/>
          <p:cNvSpPr/>
          <p:nvPr/>
        </p:nvSpPr>
        <p:spPr>
          <a:xfrm>
            <a:off x="841248" y="1719072"/>
            <a:ext cx="457200" cy="457200"/>
          </a:xfrm>
          <a:prstGeom prst="ellipse">
            <a:avLst/>
          </a:prstGeom>
          <a:solidFill>
            <a:srgbClr val="006633"/>
          </a:solidFill>
          <a:ln/>
        </p:spPr>
      </p:sp>
      <p:sp>
        <p:nvSpPr>
          <p:cNvPr id="6" name="Text 4"/>
          <p:cNvSpPr/>
          <p:nvPr/>
        </p:nvSpPr>
        <p:spPr>
          <a:xfrm>
            <a:off x="841248"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Cliente-servidor</a:t>
            </a:r>
            <a:endParaRPr lang="en-US" sz="1500" dirty="0"/>
          </a:p>
        </p:txBody>
      </p:sp>
      <p:sp>
        <p:nvSpPr>
          <p:cNvPr id="8" name="Text 6"/>
          <p:cNvSpPr/>
          <p:nvPr/>
        </p:nvSpPr>
        <p:spPr>
          <a:xfrm>
            <a:off x="859536" y="2267712"/>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Separación estricta entre quien almacena y quien presenta.</a:t>
            </a:r>
            <a:endParaRPr lang="en-US" sz="1250" dirty="0"/>
          </a:p>
        </p:txBody>
      </p:sp>
      <p:sp>
        <p:nvSpPr>
          <p:cNvPr id="9" name="Shape 7"/>
          <p:cNvSpPr/>
          <p:nvPr/>
        </p:nvSpPr>
        <p:spPr>
          <a:xfrm>
            <a:off x="6199632" y="1517904"/>
            <a:ext cx="5349240" cy="1298448"/>
          </a:xfrm>
          <a:prstGeom prst="roundRect">
            <a:avLst>
              <a:gd name="adj" fmla="val 4225"/>
            </a:avLst>
          </a:prstGeom>
          <a:solidFill>
            <a:srgbClr val="EEF4F0"/>
          </a:solidFill>
          <a:ln w="12700">
            <a:solidFill>
              <a:srgbClr val="EEF4F0"/>
            </a:solidFill>
            <a:prstDash val="solid"/>
          </a:ln>
        </p:spPr>
      </p:sp>
      <p:sp>
        <p:nvSpPr>
          <p:cNvPr id="10" name="Shape 8"/>
          <p:cNvSpPr/>
          <p:nvPr/>
        </p:nvSpPr>
        <p:spPr>
          <a:xfrm>
            <a:off x="6400800" y="1719072"/>
            <a:ext cx="457200" cy="457200"/>
          </a:xfrm>
          <a:prstGeom prst="ellipse">
            <a:avLst/>
          </a:prstGeom>
          <a:solidFill>
            <a:srgbClr val="006633"/>
          </a:solidFill>
          <a:ln/>
        </p:spPr>
      </p:sp>
      <p:sp>
        <p:nvSpPr>
          <p:cNvPr id="11" name="Text 9"/>
          <p:cNvSpPr/>
          <p:nvPr/>
        </p:nvSpPr>
        <p:spPr>
          <a:xfrm>
            <a:off x="6400800"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949440"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Sin estado</a:t>
            </a:r>
            <a:endParaRPr lang="en-US" sz="1500" dirty="0"/>
          </a:p>
        </p:txBody>
      </p:sp>
      <p:sp>
        <p:nvSpPr>
          <p:cNvPr id="13" name="Text 11"/>
          <p:cNvSpPr/>
          <p:nvPr/>
        </p:nvSpPr>
        <p:spPr>
          <a:xfrm>
            <a:off x="6419088" y="2267712"/>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Cada petición contiene todo lo necesario. El servidor no guarda contexto de sesión.</a:t>
            </a:r>
            <a:endParaRPr lang="en-US" sz="1250" dirty="0"/>
          </a:p>
        </p:txBody>
      </p:sp>
      <p:sp>
        <p:nvSpPr>
          <p:cNvPr id="14" name="Shape 12"/>
          <p:cNvSpPr/>
          <p:nvPr/>
        </p:nvSpPr>
        <p:spPr>
          <a:xfrm>
            <a:off x="640080" y="2999232"/>
            <a:ext cx="5349240" cy="1298448"/>
          </a:xfrm>
          <a:prstGeom prst="roundRect">
            <a:avLst>
              <a:gd name="adj" fmla="val 4225"/>
            </a:avLst>
          </a:prstGeom>
          <a:solidFill>
            <a:srgbClr val="EEF4F0"/>
          </a:solidFill>
          <a:ln w="12700">
            <a:solidFill>
              <a:srgbClr val="EEF4F0"/>
            </a:solidFill>
            <a:prstDash val="solid"/>
          </a:ln>
        </p:spPr>
      </p:sp>
      <p:sp>
        <p:nvSpPr>
          <p:cNvPr id="15" name="Shape 13"/>
          <p:cNvSpPr/>
          <p:nvPr/>
        </p:nvSpPr>
        <p:spPr>
          <a:xfrm>
            <a:off x="841248" y="3200400"/>
            <a:ext cx="457200" cy="457200"/>
          </a:xfrm>
          <a:prstGeom prst="ellipse">
            <a:avLst/>
          </a:prstGeom>
          <a:solidFill>
            <a:srgbClr val="006633"/>
          </a:solidFill>
          <a:ln/>
        </p:spPr>
      </p:sp>
      <p:sp>
        <p:nvSpPr>
          <p:cNvPr id="16" name="Text 14"/>
          <p:cNvSpPr/>
          <p:nvPr/>
        </p:nvSpPr>
        <p:spPr>
          <a:xfrm>
            <a:off x="841248" y="32004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89888" y="3200400"/>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Cacheable</a:t>
            </a:r>
            <a:endParaRPr lang="en-US" sz="1500" dirty="0"/>
          </a:p>
        </p:txBody>
      </p:sp>
      <p:sp>
        <p:nvSpPr>
          <p:cNvPr id="18" name="Text 16"/>
          <p:cNvSpPr/>
          <p:nvPr/>
        </p:nvSpPr>
        <p:spPr>
          <a:xfrm>
            <a:off x="859536" y="3749040"/>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Toda respuesta indica si puede almacenarse y por cuánto tiempo.</a:t>
            </a:r>
            <a:endParaRPr lang="en-US" sz="1250" dirty="0"/>
          </a:p>
        </p:txBody>
      </p:sp>
      <p:sp>
        <p:nvSpPr>
          <p:cNvPr id="19" name="Shape 17"/>
          <p:cNvSpPr/>
          <p:nvPr/>
        </p:nvSpPr>
        <p:spPr>
          <a:xfrm>
            <a:off x="6199632" y="2999232"/>
            <a:ext cx="5349240" cy="1298448"/>
          </a:xfrm>
          <a:prstGeom prst="roundRect">
            <a:avLst>
              <a:gd name="adj" fmla="val 4225"/>
            </a:avLst>
          </a:prstGeom>
          <a:solidFill>
            <a:srgbClr val="EEF4F0"/>
          </a:solidFill>
          <a:ln w="12700">
            <a:solidFill>
              <a:srgbClr val="EEF4F0"/>
            </a:solidFill>
            <a:prstDash val="solid"/>
          </a:ln>
        </p:spPr>
      </p:sp>
      <p:sp>
        <p:nvSpPr>
          <p:cNvPr id="20" name="Shape 18"/>
          <p:cNvSpPr/>
          <p:nvPr/>
        </p:nvSpPr>
        <p:spPr>
          <a:xfrm>
            <a:off x="6400800" y="3200400"/>
            <a:ext cx="457200" cy="457200"/>
          </a:xfrm>
          <a:prstGeom prst="ellipse">
            <a:avLst/>
          </a:prstGeom>
          <a:solidFill>
            <a:srgbClr val="006633"/>
          </a:solidFill>
          <a:ln/>
        </p:spPr>
      </p:sp>
      <p:sp>
        <p:nvSpPr>
          <p:cNvPr id="21" name="Text 19"/>
          <p:cNvSpPr/>
          <p:nvPr/>
        </p:nvSpPr>
        <p:spPr>
          <a:xfrm>
            <a:off x="6400800" y="32004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949440" y="3200400"/>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Interfaz uniforme</a:t>
            </a:r>
            <a:endParaRPr lang="en-US" sz="1500" dirty="0"/>
          </a:p>
        </p:txBody>
      </p:sp>
      <p:sp>
        <p:nvSpPr>
          <p:cNvPr id="23" name="Text 21"/>
          <p:cNvSpPr/>
          <p:nvPr/>
        </p:nvSpPr>
        <p:spPr>
          <a:xfrm>
            <a:off x="6419088" y="3749040"/>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URI para identificar, representaciones para manipular, mensajes autodescriptivos, hipermedia.</a:t>
            </a:r>
            <a:endParaRPr lang="en-US" sz="1250" dirty="0"/>
          </a:p>
        </p:txBody>
      </p:sp>
      <p:sp>
        <p:nvSpPr>
          <p:cNvPr id="24" name="Shape 22"/>
          <p:cNvSpPr/>
          <p:nvPr/>
        </p:nvSpPr>
        <p:spPr>
          <a:xfrm>
            <a:off x="640080" y="4480560"/>
            <a:ext cx="5349240" cy="1298448"/>
          </a:xfrm>
          <a:prstGeom prst="roundRect">
            <a:avLst>
              <a:gd name="adj" fmla="val 4225"/>
            </a:avLst>
          </a:prstGeom>
          <a:solidFill>
            <a:srgbClr val="EEF4F0"/>
          </a:solidFill>
          <a:ln w="12700">
            <a:solidFill>
              <a:srgbClr val="EEF4F0"/>
            </a:solidFill>
            <a:prstDash val="solid"/>
          </a:ln>
        </p:spPr>
      </p:sp>
      <p:sp>
        <p:nvSpPr>
          <p:cNvPr id="25" name="Shape 23"/>
          <p:cNvSpPr/>
          <p:nvPr/>
        </p:nvSpPr>
        <p:spPr>
          <a:xfrm>
            <a:off x="841248" y="4681728"/>
            <a:ext cx="457200" cy="457200"/>
          </a:xfrm>
          <a:prstGeom prst="ellipse">
            <a:avLst/>
          </a:prstGeom>
          <a:solidFill>
            <a:srgbClr val="006633"/>
          </a:solidFill>
          <a:ln/>
        </p:spPr>
      </p:sp>
      <p:sp>
        <p:nvSpPr>
          <p:cNvPr id="26" name="Text 24"/>
          <p:cNvSpPr/>
          <p:nvPr/>
        </p:nvSpPr>
        <p:spPr>
          <a:xfrm>
            <a:off x="841248" y="468172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89888" y="468172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Sistema en capas</a:t>
            </a:r>
            <a:endParaRPr lang="en-US" sz="1500" dirty="0"/>
          </a:p>
        </p:txBody>
      </p:sp>
      <p:sp>
        <p:nvSpPr>
          <p:cNvPr id="28" name="Text 26"/>
          <p:cNvSpPr/>
          <p:nvPr/>
        </p:nvSpPr>
        <p:spPr>
          <a:xfrm>
            <a:off x="859536" y="5230368"/>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El cliente no puede saber si habla con el servidor final o con un intermediario.</a:t>
            </a:r>
            <a:endParaRPr lang="en-US" sz="1250" dirty="0"/>
          </a:p>
        </p:txBody>
      </p:sp>
      <p:sp>
        <p:nvSpPr>
          <p:cNvPr id="29" name="Shape 27"/>
          <p:cNvSpPr/>
          <p:nvPr/>
        </p:nvSpPr>
        <p:spPr>
          <a:xfrm>
            <a:off x="6199632" y="4480560"/>
            <a:ext cx="5349240" cy="1298448"/>
          </a:xfrm>
          <a:prstGeom prst="roundRect">
            <a:avLst>
              <a:gd name="adj" fmla="val 4225"/>
            </a:avLst>
          </a:prstGeom>
          <a:solidFill>
            <a:srgbClr val="FBF3DE"/>
          </a:solidFill>
          <a:ln w="12700">
            <a:solidFill>
              <a:srgbClr val="FBF3DE"/>
            </a:solidFill>
            <a:prstDash val="solid"/>
          </a:ln>
        </p:spPr>
      </p:sp>
      <p:sp>
        <p:nvSpPr>
          <p:cNvPr id="30" name="Shape 28"/>
          <p:cNvSpPr/>
          <p:nvPr/>
        </p:nvSpPr>
        <p:spPr>
          <a:xfrm>
            <a:off x="6400800" y="4681728"/>
            <a:ext cx="457200" cy="457200"/>
          </a:xfrm>
          <a:prstGeom prst="ellipse">
            <a:avLst/>
          </a:prstGeom>
          <a:solidFill>
            <a:srgbClr val="CC9900"/>
          </a:solidFill>
          <a:ln/>
        </p:spPr>
      </p:sp>
      <p:sp>
        <p:nvSpPr>
          <p:cNvPr id="31" name="Text 29"/>
          <p:cNvSpPr/>
          <p:nvPr/>
        </p:nvSpPr>
        <p:spPr>
          <a:xfrm>
            <a:off x="6400800" y="468172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6949440" y="468172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Código bajo demanda</a:t>
            </a:r>
            <a:endParaRPr lang="en-US" sz="1500" dirty="0"/>
          </a:p>
        </p:txBody>
      </p:sp>
      <p:sp>
        <p:nvSpPr>
          <p:cNvPr id="33" name="Text 31"/>
          <p:cNvSpPr/>
          <p:nvPr/>
        </p:nvSpPr>
        <p:spPr>
          <a:xfrm>
            <a:off x="6419088" y="5230368"/>
            <a:ext cx="4910328"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OPCIONAL. El servidor puede extender al cliente enviándole código ejecutable.</a:t>
            </a:r>
            <a:endParaRPr lang="en-US" sz="1250" dirty="0"/>
          </a:p>
        </p:txBody>
      </p:sp>
      <p:sp>
        <p:nvSpPr>
          <p:cNvPr id="34" name="Shape 32"/>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35" name="Text 33"/>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«Sin estado» es la razón técnica por la que las APIs REST autentican con testigos firmados y no con cookies de sesión.</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Modelo de madurez de Richardson</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Sirve para diagnosticar con precisión, no para descalificar</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118872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Nivel</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Característica</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Ejemplo en BiblioUTEQ</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Un único extremo; el verbo real viaja en el cuerpo</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POST /api con {"accion":"buscarLibro"}</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Recursos con URI, pero un solo verbo</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POST /libros/buscar, POST /libros/crear</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Verbos HTTP con su semántica y códigos correctos</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GET /libros/42, DELETE /libros/42 → 204</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Hipermedia: la respuesta enlaza las transiciones posibles</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50" dirty="0">
                          <a:solidFill>
                            <a:srgbClr val="2B333C"/>
                          </a:solidFill>
                          <a:latin typeface="Calibri" pitchFamily="34" charset="0"/>
                          <a:ea typeface="Calibri" pitchFamily="34" charset="-122"/>
                          <a:cs typeface="Calibri" pitchFamily="34" charset="-120"/>
                        </a:rPr>
                        <a:t>El préstamo incluye enlace a /prestamos/7/devolucion</a:t>
                      </a:r>
                      <a:endParaRPr lang="en-US" sz="125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bl>
          </a:graphicData>
        </a:graphic>
      </p:graphicFrame>
      <p:sp>
        <p:nvSpPr>
          <p:cNvPr id="5" name="Shape 2"/>
          <p:cNvSpPr/>
          <p:nvPr/>
        </p:nvSpPr>
        <p:spPr>
          <a:xfrm>
            <a:off x="640080" y="3566160"/>
            <a:ext cx="10908792" cy="2139696"/>
          </a:xfrm>
          <a:prstGeom prst="roundRect">
            <a:avLst>
              <a:gd name="adj" fmla="val 2564"/>
            </a:avLst>
          </a:prstGeom>
          <a:solidFill>
            <a:srgbClr val="EEF4F0"/>
          </a:solidFill>
          <a:ln w="15875">
            <a:solidFill>
              <a:srgbClr val="006633"/>
            </a:solidFill>
            <a:prstDash val="solid"/>
          </a:ln>
        </p:spPr>
      </p:sp>
      <p:sp>
        <p:nvSpPr>
          <p:cNvPr id="6" name="Text 3"/>
          <p:cNvSpPr/>
          <p:nvPr/>
        </p:nvSpPr>
        <p:spPr>
          <a:xfrm>
            <a:off x="914400" y="3675888"/>
            <a:ext cx="10360152" cy="329184"/>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Evidencia empírica antes de discutir sobre HATEOAS</a:t>
            </a:r>
            <a:endParaRPr lang="en-US" sz="1500" dirty="0"/>
          </a:p>
        </p:txBody>
      </p:sp>
      <p:sp>
        <p:nvSpPr>
          <p:cNvPr id="7" name="Text 4"/>
          <p:cNvSpPr/>
          <p:nvPr/>
        </p:nvSpPr>
        <p:spPr>
          <a:xfrm>
            <a:off x="914400" y="4041648"/>
            <a:ext cx="10360152" cy="1572768"/>
          </a:xfrm>
          <a:prstGeom prst="rect">
            <a:avLst/>
          </a:prstGeom>
          <a:noFill/>
          <a:ln/>
        </p:spPr>
        <p:txBody>
          <a:bodyPr wrap="square" lIns="0" tIns="0" rIns="0" bIns="0" rtlCol="0" anchor="t"/>
          <a:lstStyle/>
          <a:p>
            <a:pPr marL="0" indent="0">
              <a:buNone/>
            </a:pPr>
            <a:r>
              <a:rPr lang="en-US" sz="1300" dirty="0">
                <a:solidFill>
                  <a:srgbClr val="2B333C"/>
                </a:solidFill>
                <a:latin typeface="Calibri" pitchFamily="34" charset="0"/>
                <a:ea typeface="Calibri" pitchFamily="34" charset="-122"/>
                <a:cs typeface="Calibri" pitchFamily="34" charset="-120"/>
              </a:rPr>
              <a:t>En el experimento controlado de Bogner, Kotstein y Pfaff (Empirical Software Engineering, 2023) con 105 participantes de industria y academia:</a:t>
            </a:r>
            <a:endParaRPr lang="en-US" sz="1300" dirty="0"/>
          </a:p>
          <a:p>
            <a:pPr marL="0" indent="0">
              <a:buNone/>
            </a:pPr>
            <a:endParaRPr lang="en-US" sz="1300" dirty="0"/>
          </a:p>
          <a:p>
            <a:pPr marL="0" indent="0">
              <a:buNone/>
            </a:pPr>
            <a:r>
              <a:rPr lang="en-US" sz="1300" dirty="0">
                <a:solidFill>
                  <a:srgbClr val="2B333C"/>
                </a:solidFill>
                <a:latin typeface="Calibri" pitchFamily="34" charset="0"/>
                <a:ea typeface="Calibri" pitchFamily="34" charset="-122"/>
                <a:cs typeface="Calibri" pitchFamily="34" charset="-120"/>
              </a:rPr>
              <a:t>·  solo el 27 % conocía el modelo de madurez de Richardson;</a:t>
            </a:r>
            <a:endParaRPr lang="en-US" sz="1300" dirty="0"/>
          </a:p>
          <a:p>
            <a:pPr marL="0" indent="0">
              <a:buNone/>
            </a:pPr>
            <a:r>
              <a:rPr lang="en-US" sz="1300" dirty="0">
                <a:solidFill>
                  <a:srgbClr val="2B333C"/>
                </a:solidFill>
                <a:latin typeface="Calibri" pitchFamily="34" charset="0"/>
                <a:ea typeface="Calibri" pitchFamily="34" charset="-122"/>
                <a:cs typeface="Calibri" pitchFamily="34" charset="-120"/>
              </a:rPr>
              <a:t>·  de quienes lo conocían, el 79 % consideró que el nivel 2 basta para llamar RESTful a una interfaz;</a:t>
            </a:r>
            <a:endParaRPr lang="en-US" sz="1300" dirty="0"/>
          </a:p>
          <a:p>
            <a:pPr marL="0" indent="0">
              <a:buNone/>
            </a:pPr>
            <a:r>
              <a:rPr lang="en-US" sz="1300" dirty="0">
                <a:solidFill>
                  <a:srgbClr val="2B333C"/>
                </a:solidFill>
                <a:latin typeface="Calibri" pitchFamily="34" charset="0"/>
                <a:ea typeface="Calibri" pitchFamily="34" charset="-122"/>
                <a:cs typeface="Calibri" pitchFamily="34" charset="-120"/>
              </a:rPr>
              <a:t>·  respetar las reglas de diseño mejora de forma medible la comprensibilidad de la API.</a:t>
            </a:r>
            <a:endParaRPr lang="en-US" sz="1300" dirty="0"/>
          </a:p>
        </p:txBody>
      </p:sp>
      <p:sp>
        <p:nvSpPr>
          <p:cNvPr id="8" name="Shape 5"/>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9" name="Text 6"/>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Meta del PFC: nivel 2 demostrable en todos los recursos. El nivel 3 en algún recurso suma, si se documenta la decisión.</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Verbos, seguridad e idempotencia</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Dos propiedades que la RFC 9110 define con precisión y que suelen confundirse</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3913632">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Verbo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Operación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Seguro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Idempotente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Respuesta habitual</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Recuperar representación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200 con cuerpo; 404 si no existe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Crear subordinado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201 con cabecera Location</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PUT</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Reemplazar por completo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200 o 204; 201 si se crea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PATCH</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Modificar parcialmente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200 o 204</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DELETE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Eliminar</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204 sin cuerpo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HEAD</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Cabeceras de GET</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Sí</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200 sin cuerpo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6"/>
                  </a:ext>
                </a:extLst>
              </a:tr>
            </a:tbl>
          </a:graphicData>
        </a:graphic>
      </p:graphicFrame>
      <p:sp>
        <p:nvSpPr>
          <p:cNvPr id="5" name="Shape 2"/>
          <p:cNvSpPr/>
          <p:nvPr/>
        </p:nvSpPr>
        <p:spPr>
          <a:xfrm>
            <a:off x="640080" y="3950208"/>
            <a:ext cx="10908792" cy="1737360"/>
          </a:xfrm>
          <a:prstGeom prst="roundRect">
            <a:avLst>
              <a:gd name="adj" fmla="val 3158"/>
            </a:avLst>
          </a:prstGeom>
          <a:solidFill>
            <a:srgbClr val="FBF3DE"/>
          </a:solidFill>
          <a:ln w="15875">
            <a:solidFill>
              <a:srgbClr val="CC9900"/>
            </a:solidFill>
            <a:prstDash val="solid"/>
          </a:ln>
        </p:spPr>
      </p:sp>
      <p:sp>
        <p:nvSpPr>
          <p:cNvPr id="6" name="Text 3"/>
          <p:cNvSpPr/>
          <p:nvPr/>
        </p:nvSpPr>
        <p:spPr>
          <a:xfrm>
            <a:off x="914400" y="4059936"/>
            <a:ext cx="10360152" cy="310896"/>
          </a:xfrm>
          <a:prstGeom prst="rect">
            <a:avLst/>
          </a:prstGeom>
          <a:noFill/>
          <a:ln/>
        </p:spPr>
        <p:txBody>
          <a:bodyPr wrap="square" lIns="0" tIns="0" rIns="0" bIns="0" rtlCol="0" anchor="ctr"/>
          <a:lstStyle/>
          <a:p>
            <a:pPr marL="0" indent="0">
              <a:buNone/>
            </a:pPr>
            <a:r>
              <a:rPr lang="en-US" sz="1500" b="1" dirty="0">
                <a:solidFill>
                  <a:srgbClr val="00401F"/>
                </a:solidFill>
                <a:latin typeface="Calibri" pitchFamily="34" charset="0"/>
                <a:ea typeface="Calibri" pitchFamily="34" charset="-122"/>
                <a:cs typeface="Calibri" pitchFamily="34" charset="-120"/>
              </a:rPr>
              <a:t>La distinción exacta</a:t>
            </a:r>
            <a:endParaRPr lang="en-US" sz="1500" dirty="0"/>
          </a:p>
        </p:txBody>
      </p:sp>
      <p:sp>
        <p:nvSpPr>
          <p:cNvPr id="7" name="Text 4"/>
          <p:cNvSpPr/>
          <p:nvPr/>
        </p:nvSpPr>
        <p:spPr>
          <a:xfrm>
            <a:off x="914400" y="4407408"/>
            <a:ext cx="10360152" cy="1170432"/>
          </a:xfrm>
          <a:prstGeom prst="rect">
            <a:avLst/>
          </a:prstGeom>
          <a:noFill/>
          <a:ln/>
        </p:spPr>
        <p:txBody>
          <a:bodyPr wrap="square" lIns="0" tIns="0" rIns="0" bIns="0" rtlCol="0" anchor="t"/>
          <a:lstStyle/>
          <a:p>
            <a:pPr marL="0" indent="0">
              <a:buNone/>
            </a:pPr>
            <a:r>
              <a:rPr lang="en-US" sz="1350" dirty="0">
                <a:solidFill>
                  <a:srgbClr val="2B333C"/>
                </a:solidFill>
                <a:latin typeface="Calibri" pitchFamily="34" charset="0"/>
                <a:ea typeface="Calibri" pitchFamily="34" charset="-122"/>
                <a:cs typeface="Calibri" pitchFamily="34" charset="-120"/>
              </a:rPr>
              <a:t>SEGURO = no modifica el estado del servidor.    IDEMPOTENTE = repetirlo produce el mismo efecto que ejecutarlo una vez.</a:t>
            </a:r>
            <a:endParaRPr lang="en-US" sz="1350" dirty="0"/>
          </a:p>
          <a:p>
            <a:pPr marL="0" indent="0">
              <a:buNone/>
            </a:pPr>
            <a:endParaRPr lang="en-US" sz="1350" dirty="0"/>
          </a:p>
          <a:p>
            <a:pPr marL="0" indent="0">
              <a:buNone/>
            </a:pPr>
            <a:r>
              <a:rPr lang="en-US" sz="1350" dirty="0">
                <a:solidFill>
                  <a:srgbClr val="2B333C"/>
                </a:solidFill>
                <a:latin typeface="Calibri" pitchFamily="34" charset="0"/>
                <a:ea typeface="Calibri" pitchFamily="34" charset="-122"/>
                <a:cs typeface="Calibri" pitchFamily="34" charset="-120"/>
              </a:rPr>
              <a:t>Toda operación segura es idempotente, pero no al revés: DELETE modifica el estado —no es seguro— y sin embargo borrar dos veces deja el sistema igual, luego es idempotente. POST no lo es: dos envíos crean dos recursos.</a:t>
            </a:r>
            <a:endParaRPr lang="en-US" sz="1350" dirty="0"/>
          </a:p>
        </p:txBody>
      </p:sp>
      <p:sp>
        <p:nvSpPr>
          <p:cNvPr id="8" name="Shape 5"/>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9" name="Text 6"/>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De ahí que exista el patrón Post/Redirect/Get, y que reintentar un POST sin clave de idempotencia pueda duplicar un cobro.</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Errores que el cliente pueda entender</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RFC 9457 · Problem Details for HTTP APIs · julio de 2023</a:t>
            </a:r>
            <a:endParaRPr lang="en-US" sz="1400" dirty="0"/>
          </a:p>
        </p:txBody>
      </p:sp>
      <p:sp>
        <p:nvSpPr>
          <p:cNvPr id="4" name="Shape 2"/>
          <p:cNvSpPr/>
          <p:nvPr/>
        </p:nvSpPr>
        <p:spPr>
          <a:xfrm>
            <a:off x="640080" y="1481328"/>
            <a:ext cx="6035040" cy="3246120"/>
          </a:xfrm>
          <a:prstGeom prst="roundRect">
            <a:avLst>
              <a:gd name="adj" fmla="val 1127"/>
            </a:avLst>
          </a:prstGeom>
          <a:solidFill>
            <a:srgbClr val="23272E"/>
          </a:solidFill>
          <a:ln w="12700">
            <a:solidFill>
              <a:srgbClr val="23272E"/>
            </a:solidFill>
            <a:prstDash val="solid"/>
          </a:ln>
        </p:spPr>
      </p:sp>
      <p:sp>
        <p:nvSpPr>
          <p:cNvPr id="5" name="Text 3"/>
          <p:cNvSpPr/>
          <p:nvPr/>
        </p:nvSpPr>
        <p:spPr>
          <a:xfrm>
            <a:off x="841248" y="1627632"/>
            <a:ext cx="5632704" cy="295351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HTTP/1.1 409 Conflict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Content-Type: application/problem+json</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"type":   "https://biblioteq.uteq.edu.ec/</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problemas/limite-prestamos",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"title":  "Limite de prestamos alcanzado",</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"status": 409,</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"detail": "El usuario 1042 mantiene 3</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prestamos activos; el maximo es 3.",</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"instance": "/api/v1/prestamos",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"prestamosActivos": 3,</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"limite": 3</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p:txBody>
      </p:sp>
      <p:sp>
        <p:nvSpPr>
          <p:cNvPr id="6" name="Text 4"/>
          <p:cNvSpPr/>
          <p:nvPr/>
        </p:nvSpPr>
        <p:spPr>
          <a:xfrm>
            <a:off x="6903720" y="1517904"/>
            <a:ext cx="4645152" cy="3200400"/>
          </a:xfrm>
          <a:prstGeom prst="rect">
            <a:avLst/>
          </a:prstGeom>
          <a:noFill/>
          <a:ln/>
        </p:spPr>
        <p:txBody>
          <a:bodyPr wrap="square" lIns="0" tIns="0" rIns="0" bIns="0" rtlCol="0" anchor="t"/>
          <a:lstStyle/>
          <a:p>
            <a:pPr marL="342900" indent="-342900" algn="l">
              <a:spcAft>
                <a:spcPts val="800"/>
              </a:spcAft>
              <a:buSzPct val="100000"/>
              <a:buChar char="•"/>
            </a:pPr>
            <a:r>
              <a:rPr lang="en-US" sz="1250" dirty="0">
                <a:solidFill>
                  <a:srgbClr val="2B333C"/>
                </a:solidFill>
                <a:latin typeface="Calibri" pitchFamily="34" charset="0"/>
                <a:ea typeface="Calibri" pitchFamily="34" charset="-122"/>
                <a:cs typeface="Calibri" pitchFamily="34" charset="-120"/>
              </a:rPr>
              <a:t>type — identificador estable del tipo de problema; el cliente lo compara por código.</a:t>
            </a:r>
            <a:endParaRPr lang="en-US" sz="1250" dirty="0"/>
          </a:p>
          <a:p>
            <a:pPr marL="342900" indent="-342900" algn="l">
              <a:spcAft>
                <a:spcPts val="800"/>
              </a:spcAft>
              <a:buSzPct val="100000"/>
              <a:buChar char="•"/>
            </a:pPr>
            <a:r>
              <a:rPr lang="en-US" sz="1250" dirty="0">
                <a:solidFill>
                  <a:srgbClr val="2B333C"/>
                </a:solidFill>
                <a:latin typeface="Calibri" pitchFamily="34" charset="0"/>
                <a:ea typeface="Calibri" pitchFamily="34" charset="-122"/>
                <a:cs typeface="Calibri" pitchFamily="34" charset="-120"/>
              </a:rPr>
              <a:t>title — resumen legible que no cambia entre ocurrencias.</a:t>
            </a:r>
            <a:endParaRPr lang="en-US" sz="1250" dirty="0"/>
          </a:p>
          <a:p>
            <a:pPr marL="342900" indent="-342900" algn="l">
              <a:spcAft>
                <a:spcPts val="800"/>
              </a:spcAft>
              <a:buSzPct val="100000"/>
              <a:buChar char="•"/>
            </a:pPr>
            <a:r>
              <a:rPr lang="en-US" sz="1250" dirty="0">
                <a:solidFill>
                  <a:srgbClr val="2B333C"/>
                </a:solidFill>
                <a:latin typeface="Calibri" pitchFamily="34" charset="0"/>
                <a:ea typeface="Calibri" pitchFamily="34" charset="-122"/>
                <a:cs typeface="Calibri" pitchFamily="34" charset="-120"/>
              </a:rPr>
              <a:t>detail — específico de ESTA ocurrencia.</a:t>
            </a:r>
            <a:endParaRPr lang="en-US" sz="1250" dirty="0"/>
          </a:p>
          <a:p>
            <a:pPr marL="342900" indent="-342900" algn="l">
              <a:spcAft>
                <a:spcPts val="800"/>
              </a:spcAft>
              <a:buSzPct val="100000"/>
              <a:buChar char="•"/>
            </a:pPr>
            <a:r>
              <a:rPr lang="en-US" sz="1250" dirty="0">
                <a:solidFill>
                  <a:srgbClr val="2B333C"/>
                </a:solidFill>
                <a:latin typeface="Calibri" pitchFamily="34" charset="0"/>
                <a:ea typeface="Calibri" pitchFamily="34" charset="-122"/>
                <a:cs typeface="Calibri" pitchFamily="34" charset="-120"/>
              </a:rPr>
              <a:t>instance — dónde se produjo.</a:t>
            </a:r>
            <a:endParaRPr lang="en-US" sz="1250" dirty="0"/>
          </a:p>
          <a:p>
            <a:pPr marL="342900" indent="-342900" algn="l">
              <a:spcAft>
                <a:spcPts val="800"/>
              </a:spcAft>
              <a:buSzPct val="100000"/>
              <a:buChar char="•"/>
            </a:pPr>
            <a:r>
              <a:rPr lang="en-US" sz="1250" dirty="0">
                <a:solidFill>
                  <a:srgbClr val="2B333C"/>
                </a:solidFill>
                <a:latin typeface="Calibri" pitchFamily="34" charset="0"/>
                <a:ea typeface="Calibri" pitchFamily="34" charset="-122"/>
                <a:cs typeface="Calibri" pitchFamily="34" charset="-120"/>
              </a:rPr>
              <a:t>Las dos últimas claves son extensiones propias del dominio, permitidas por la especificación.</a:t>
            </a:r>
            <a:endParaRPr lang="en-US" sz="1250" dirty="0"/>
          </a:p>
        </p:txBody>
      </p:sp>
      <p:sp>
        <p:nvSpPr>
          <p:cNvPr id="7" name="Shape 5"/>
          <p:cNvSpPr/>
          <p:nvPr/>
        </p:nvSpPr>
        <p:spPr>
          <a:xfrm>
            <a:off x="640080" y="4882896"/>
            <a:ext cx="10908792" cy="1371600"/>
          </a:xfrm>
          <a:prstGeom prst="roundRect">
            <a:avLst>
              <a:gd name="adj" fmla="val 4000"/>
            </a:avLst>
          </a:prstGeom>
          <a:solidFill>
            <a:srgbClr val="EEF4F0"/>
          </a:solidFill>
          <a:ln w="12700">
            <a:solidFill>
              <a:srgbClr val="EEF4F0"/>
            </a:solidFill>
            <a:prstDash val="solid"/>
          </a:ln>
        </p:spPr>
      </p:sp>
      <p:sp>
        <p:nvSpPr>
          <p:cNvPr id="8" name="Shape 6"/>
          <p:cNvSpPr/>
          <p:nvPr/>
        </p:nvSpPr>
        <p:spPr>
          <a:xfrm>
            <a:off x="841248" y="5084064"/>
            <a:ext cx="457200" cy="457200"/>
          </a:xfrm>
          <a:prstGeom prst="ellipse">
            <a:avLst/>
          </a:prstGeom>
          <a:solidFill>
            <a:srgbClr val="006633"/>
          </a:solidFill>
          <a:ln/>
        </p:spPr>
      </p:sp>
      <p:sp>
        <p:nvSpPr>
          <p:cNvPr id="9" name="Text 7"/>
          <p:cNvSpPr/>
          <p:nvPr/>
        </p:nvSpPr>
        <p:spPr>
          <a:xfrm>
            <a:off x="841248" y="50840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389888" y="5084064"/>
            <a:ext cx="9976104"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Spring Boot lo implementa sin biblioteca adicional</a:t>
            </a:r>
            <a:endParaRPr lang="en-US" sz="1500" dirty="0"/>
          </a:p>
        </p:txBody>
      </p:sp>
      <p:sp>
        <p:nvSpPr>
          <p:cNvPr id="11" name="Text 9"/>
          <p:cNvSpPr/>
          <p:nvPr/>
        </p:nvSpPr>
        <p:spPr>
          <a:xfrm>
            <a:off x="859536" y="5632704"/>
            <a:ext cx="10469880"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La clase ProblemDetail y el manejador @RestControllerAdvice traducen las excepciones de dominio a este formato en un único punto. Devolver 200 con un campo «exito» en el cuerpo es el antipatrón que esta RFC vino a corregir.</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Implementación con Spring Boot</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El esfuerzo se desplaza del código al diseño del contrato</a:t>
            </a:r>
            <a:endParaRPr lang="en-US" sz="1400" dirty="0"/>
          </a:p>
        </p:txBody>
      </p:sp>
      <p:sp>
        <p:nvSpPr>
          <p:cNvPr id="4" name="Text 2"/>
          <p:cNvSpPr/>
          <p:nvPr/>
        </p:nvSpPr>
        <p:spPr>
          <a:xfrm>
            <a:off x="640080" y="1207008"/>
            <a:ext cx="5349240" cy="27432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Controlador REST</a:t>
            </a:r>
            <a:endParaRPr lang="en-US" sz="1350" dirty="0"/>
          </a:p>
        </p:txBody>
      </p:sp>
      <p:sp>
        <p:nvSpPr>
          <p:cNvPr id="5" name="Shape 3"/>
          <p:cNvSpPr/>
          <p:nvPr/>
        </p:nvSpPr>
        <p:spPr>
          <a:xfrm>
            <a:off x="640080" y="1499616"/>
            <a:ext cx="5349240" cy="1965960"/>
          </a:xfrm>
          <a:prstGeom prst="roundRect">
            <a:avLst>
              <a:gd name="adj" fmla="val 1860"/>
            </a:avLst>
          </a:prstGeom>
          <a:solidFill>
            <a:srgbClr val="23272E"/>
          </a:solidFill>
          <a:ln w="12700">
            <a:solidFill>
              <a:srgbClr val="23272E"/>
            </a:solidFill>
            <a:prstDash val="solid"/>
          </a:ln>
        </p:spPr>
      </p:sp>
      <p:sp>
        <p:nvSpPr>
          <p:cNvPr id="6" name="Text 4"/>
          <p:cNvSpPr/>
          <p:nvPr/>
        </p:nvSpPr>
        <p:spPr>
          <a:xfrm>
            <a:off x="841248" y="1645920"/>
            <a:ext cx="4946904" cy="167335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@RestController</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@RequestMapping("/api/v1/libros")</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public class LibroApiController {</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@GetMapping("/{id}")</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public LibroDto obtener(@PathVariable Long id)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return catalogo.buscarPorId(id);</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6199632" y="1207008"/>
            <a:ext cx="5349240" cy="274320"/>
          </a:xfrm>
          <a:prstGeom prst="rect">
            <a:avLst/>
          </a:prstGeom>
          <a:noFill/>
          <a:ln/>
        </p:spPr>
        <p:txBody>
          <a:bodyPr wrap="square" lIns="0" tIns="0" rIns="0" bIns="0" rtlCol="0" anchor="ctr"/>
          <a:lstStyle/>
          <a:p>
            <a:pPr marL="0" indent="0">
              <a:buNone/>
            </a:pPr>
            <a:r>
              <a:rPr lang="en-US" sz="1350" b="1" dirty="0">
                <a:solidFill>
                  <a:srgbClr val="CC9900"/>
                </a:solidFill>
                <a:latin typeface="Calibri" pitchFamily="34" charset="0"/>
                <a:ea typeface="Calibri" pitchFamily="34" charset="-122"/>
                <a:cs typeface="Calibri" pitchFamily="34" charset="-120"/>
              </a:rPr>
              <a:t>DTO de entrada y de salida</a:t>
            </a:r>
            <a:endParaRPr lang="en-US" sz="1350" dirty="0"/>
          </a:p>
        </p:txBody>
      </p:sp>
      <p:sp>
        <p:nvSpPr>
          <p:cNvPr id="8" name="Shape 6"/>
          <p:cNvSpPr/>
          <p:nvPr/>
        </p:nvSpPr>
        <p:spPr>
          <a:xfrm>
            <a:off x="6199632" y="1499616"/>
            <a:ext cx="5349240" cy="1965960"/>
          </a:xfrm>
          <a:prstGeom prst="roundRect">
            <a:avLst>
              <a:gd name="adj" fmla="val 1860"/>
            </a:avLst>
          </a:prstGeom>
          <a:solidFill>
            <a:srgbClr val="23272E"/>
          </a:solidFill>
          <a:ln w="12700">
            <a:solidFill>
              <a:srgbClr val="23272E"/>
            </a:solidFill>
            <a:prstDash val="solid"/>
          </a:ln>
        </p:spPr>
      </p:sp>
      <p:sp>
        <p:nvSpPr>
          <p:cNvPr id="9" name="Text 7"/>
          <p:cNvSpPr/>
          <p:nvPr/>
        </p:nvSpPr>
        <p:spPr>
          <a:xfrm>
            <a:off x="6400800" y="1645920"/>
            <a:ext cx="4946904" cy="167335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public record CrearLibroRequest(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@NotBlank @Size(min=17,max=17) String isbn,</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@NotBlank @Size(min=3,max=200) String titulo,</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@Min(1450) @Max(2026) int anioPublicacion,</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@NotNull Long categoriaId) {}</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public record LibroDto(Long id, String isbn,</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String titulo, String categoria,</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int ejemplaresDisponibles) {}</a:t>
            </a:r>
            <a:endParaRPr lang="en-US" sz="1100" dirty="0"/>
          </a:p>
        </p:txBody>
      </p:sp>
      <p:sp>
        <p:nvSpPr>
          <p:cNvPr id="10" name="Shape 8"/>
          <p:cNvSpPr/>
          <p:nvPr/>
        </p:nvSpPr>
        <p:spPr>
          <a:xfrm>
            <a:off x="640080" y="3639312"/>
            <a:ext cx="5349240" cy="2011680"/>
          </a:xfrm>
          <a:prstGeom prst="roundRect">
            <a:avLst>
              <a:gd name="adj" fmla="val 2727"/>
            </a:avLst>
          </a:prstGeom>
          <a:solidFill>
            <a:srgbClr val="EEF4F0"/>
          </a:solidFill>
          <a:ln w="12700">
            <a:solidFill>
              <a:srgbClr val="EEF4F0"/>
            </a:solidFill>
            <a:prstDash val="solid"/>
          </a:ln>
        </p:spPr>
      </p:sp>
      <p:sp>
        <p:nvSpPr>
          <p:cNvPr id="11" name="Shape 9"/>
          <p:cNvSpPr/>
          <p:nvPr/>
        </p:nvSpPr>
        <p:spPr>
          <a:xfrm>
            <a:off x="841248" y="3840480"/>
            <a:ext cx="457200" cy="457200"/>
          </a:xfrm>
          <a:prstGeom prst="ellipse">
            <a:avLst/>
          </a:prstGeom>
          <a:solidFill>
            <a:srgbClr val="006633"/>
          </a:solidFill>
          <a:ln/>
        </p:spPr>
      </p:sp>
      <p:sp>
        <p:nvSpPr>
          <p:cNvPr id="12" name="Text 10"/>
          <p:cNvSpPr/>
          <p:nvPr/>
        </p:nvSpPr>
        <p:spPr>
          <a:xfrm>
            <a:off x="841248" y="3840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p:nvPr/>
        </p:nvSpPr>
        <p:spPr>
          <a:xfrm>
            <a:off x="1389888" y="3840480"/>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Nunca exponga entidades JPA</a:t>
            </a:r>
            <a:endParaRPr lang="en-US" sz="1500" dirty="0"/>
          </a:p>
        </p:txBody>
      </p:sp>
      <p:sp>
        <p:nvSpPr>
          <p:cNvPr id="14" name="Text 12"/>
          <p:cNvSpPr/>
          <p:nvPr/>
        </p:nvSpPr>
        <p:spPr>
          <a:xfrm>
            <a:off x="859536" y="4389120"/>
            <a:ext cx="4910328" cy="10789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Acopla el contrato público al esquema de la base, arrastra relaciones perezosas que rompen la serialización y filtra campos que no deberían salir.</a:t>
            </a:r>
            <a:endParaRPr lang="en-US" sz="1250" dirty="0"/>
          </a:p>
        </p:txBody>
      </p:sp>
      <p:sp>
        <p:nvSpPr>
          <p:cNvPr id="15" name="Shape 13"/>
          <p:cNvSpPr/>
          <p:nvPr/>
        </p:nvSpPr>
        <p:spPr>
          <a:xfrm>
            <a:off x="6199632" y="3639312"/>
            <a:ext cx="5349240" cy="2011680"/>
          </a:xfrm>
          <a:prstGeom prst="roundRect">
            <a:avLst>
              <a:gd name="adj" fmla="val 2727"/>
            </a:avLst>
          </a:prstGeom>
          <a:solidFill>
            <a:srgbClr val="FBF3DE"/>
          </a:solidFill>
          <a:ln w="12700">
            <a:solidFill>
              <a:srgbClr val="FBF3DE"/>
            </a:solidFill>
            <a:prstDash val="solid"/>
          </a:ln>
        </p:spPr>
      </p:sp>
      <p:sp>
        <p:nvSpPr>
          <p:cNvPr id="16" name="Shape 14"/>
          <p:cNvSpPr/>
          <p:nvPr/>
        </p:nvSpPr>
        <p:spPr>
          <a:xfrm>
            <a:off x="6400800" y="3840480"/>
            <a:ext cx="457200" cy="457200"/>
          </a:xfrm>
          <a:prstGeom prst="ellipse">
            <a:avLst/>
          </a:prstGeom>
          <a:solidFill>
            <a:srgbClr val="CC9900"/>
          </a:solidFill>
          <a:ln/>
        </p:spPr>
      </p:sp>
      <p:sp>
        <p:nvSpPr>
          <p:cNvPr id="17" name="Text 15"/>
          <p:cNvSpPr/>
          <p:nvPr/>
        </p:nvSpPr>
        <p:spPr>
          <a:xfrm>
            <a:off x="6400800" y="3840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6949440" y="3840480"/>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Entrada y salida son tipos distintos</a:t>
            </a:r>
            <a:endParaRPr lang="en-US" sz="1500" dirty="0"/>
          </a:p>
        </p:txBody>
      </p:sp>
      <p:sp>
        <p:nvSpPr>
          <p:cNvPr id="19" name="Text 17"/>
          <p:cNvSpPr/>
          <p:nvPr/>
        </p:nvSpPr>
        <p:spPr>
          <a:xfrm>
            <a:off x="6419088" y="4389120"/>
            <a:ext cx="4910328" cy="107899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El cliente no envía el id ni el número de ejemplares; el servidor no devuelve el id de categoría sino su nombre. Confundirlos obliga a documentar campos que se ignoran.</a:t>
            </a:r>
            <a:endParaRPr lang="en-US" sz="1250" dirty="0"/>
          </a:p>
        </p:txBody>
      </p:sp>
      <p:sp>
        <p:nvSpPr>
          <p:cNvPr id="20" name="Shape 18"/>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21" name="Text 1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@RestController = @Controller + @ResponseBody: el retorno se serializa al cuerpo en vez de interpretarse como nombre de vista.</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Documentación y autenticación</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Dos requisitos no negociables de una API publicada</a:t>
            </a:r>
            <a:endParaRPr lang="en-US" sz="1400" dirty="0"/>
          </a:p>
        </p:txBody>
      </p:sp>
      <p:sp>
        <p:nvSpPr>
          <p:cNvPr id="4" name="Text 2"/>
          <p:cNvSpPr/>
          <p:nvPr/>
        </p:nvSpPr>
        <p:spPr>
          <a:xfrm>
            <a:off x="640080" y="1207008"/>
            <a:ext cx="5349240" cy="27432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OpenAPI con springdoc</a:t>
            </a:r>
            <a:endParaRPr lang="en-US" sz="1350" dirty="0"/>
          </a:p>
        </p:txBody>
      </p:sp>
      <p:sp>
        <p:nvSpPr>
          <p:cNvPr id="5" name="Shape 3"/>
          <p:cNvSpPr/>
          <p:nvPr/>
        </p:nvSpPr>
        <p:spPr>
          <a:xfrm>
            <a:off x="640080" y="1499616"/>
            <a:ext cx="5349240" cy="1417320"/>
          </a:xfrm>
          <a:prstGeom prst="roundRect">
            <a:avLst>
              <a:gd name="adj" fmla="val 2581"/>
            </a:avLst>
          </a:prstGeom>
          <a:solidFill>
            <a:srgbClr val="23272E"/>
          </a:solidFill>
          <a:ln w="12700">
            <a:solidFill>
              <a:srgbClr val="23272E"/>
            </a:solidFill>
            <a:prstDash val="solid"/>
          </a:ln>
        </p:spPr>
      </p:sp>
      <p:sp>
        <p:nvSpPr>
          <p:cNvPr id="6" name="Text 4"/>
          <p:cNvSpPr/>
          <p:nvPr/>
        </p:nvSpPr>
        <p:spPr>
          <a:xfrm>
            <a:off x="841248" y="1645920"/>
            <a:ext cx="4946904" cy="112471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&lt;dependency&gt;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&lt;groupId&gt;org.springdoc&lt;/groupId&gt;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&lt;artifactId&gt;springdoc-openapi-</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starter-webmvc-ui&lt;/artifactId&gt;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&lt;version&gt;3.0.3&lt;/version&gt;</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&lt;/dependency&gt;</a:t>
            </a:r>
            <a:endParaRPr lang="en-US" sz="1100" dirty="0"/>
          </a:p>
        </p:txBody>
      </p:sp>
      <p:sp>
        <p:nvSpPr>
          <p:cNvPr id="7" name="Shape 5"/>
          <p:cNvSpPr/>
          <p:nvPr/>
        </p:nvSpPr>
        <p:spPr>
          <a:xfrm>
            <a:off x="640080" y="3035808"/>
            <a:ext cx="5349240" cy="1170432"/>
          </a:xfrm>
          <a:prstGeom prst="roundRect">
            <a:avLst>
              <a:gd name="adj" fmla="val 3906"/>
            </a:avLst>
          </a:prstGeom>
          <a:solidFill>
            <a:srgbClr val="FBEDED"/>
          </a:solidFill>
          <a:ln w="15875">
            <a:solidFill>
              <a:srgbClr val="A32020"/>
            </a:solidFill>
            <a:prstDash val="solid"/>
          </a:ln>
        </p:spPr>
      </p:sp>
      <p:sp>
        <p:nvSpPr>
          <p:cNvPr id="8" name="Text 6"/>
          <p:cNvSpPr/>
          <p:nvPr/>
        </p:nvSpPr>
        <p:spPr>
          <a:xfrm>
            <a:off x="877824" y="3127248"/>
            <a:ext cx="4892040" cy="292608"/>
          </a:xfrm>
          <a:prstGeom prst="rect">
            <a:avLst/>
          </a:prstGeom>
          <a:noFill/>
          <a:ln/>
        </p:spPr>
        <p:txBody>
          <a:bodyPr wrap="square" lIns="0" tIns="0" rIns="0" bIns="0" rtlCol="0" anchor="ctr"/>
          <a:lstStyle/>
          <a:p>
            <a:pPr marL="0" indent="0">
              <a:buNone/>
            </a:pPr>
            <a:r>
              <a:rPr lang="en-US" sz="1300" b="1" dirty="0">
                <a:solidFill>
                  <a:srgbClr val="A32020"/>
                </a:solidFill>
                <a:latin typeface="Calibri" pitchFamily="34" charset="0"/>
                <a:ea typeface="Calibri" pitchFamily="34" charset="-122"/>
                <a:cs typeface="Calibri" pitchFamily="34" charset="-120"/>
              </a:rPr>
              <a:t>Emparejamiento estricto de versiones</a:t>
            </a:r>
            <a:endParaRPr lang="en-US" sz="1300" dirty="0"/>
          </a:p>
        </p:txBody>
      </p:sp>
      <p:sp>
        <p:nvSpPr>
          <p:cNvPr id="9" name="Text 7"/>
          <p:cNvSpPr/>
          <p:nvPr/>
        </p:nvSpPr>
        <p:spPr>
          <a:xfrm>
            <a:off x="877824" y="3438144"/>
            <a:ext cx="4892040" cy="713232"/>
          </a:xfrm>
          <a:prstGeom prst="rect">
            <a:avLst/>
          </a:prstGeom>
          <a:noFill/>
          <a:ln/>
        </p:spPr>
        <p:txBody>
          <a:bodyPr wrap="square" lIns="0" tIns="0" rIns="0" bIns="0" rtlCol="0" anchor="t"/>
          <a:lstStyle/>
          <a:p>
            <a:pPr marL="0" indent="0">
              <a:buNone/>
            </a:pPr>
            <a:r>
              <a:rPr lang="en-US" sz="1150" dirty="0">
                <a:solidFill>
                  <a:srgbClr val="5A2020"/>
                </a:solidFill>
                <a:latin typeface="Calibri" pitchFamily="34" charset="0"/>
                <a:ea typeface="Calibri" pitchFamily="34" charset="-122"/>
                <a:cs typeface="Calibri" pitchFamily="34" charset="-120"/>
              </a:rPr>
              <a:t>Spring Boot 3.x → springdoc 2.x</a:t>
            </a:r>
            <a:endParaRPr lang="en-US" sz="1150" dirty="0"/>
          </a:p>
          <a:p>
            <a:pPr marL="0" indent="0">
              <a:buNone/>
            </a:pPr>
            <a:r>
              <a:rPr lang="en-US" sz="1150" dirty="0">
                <a:solidFill>
                  <a:srgbClr val="5A2020"/>
                </a:solidFill>
                <a:latin typeface="Calibri" pitchFamily="34" charset="0"/>
                <a:ea typeface="Calibri" pitchFamily="34" charset="-122"/>
                <a:cs typeface="Calibri" pitchFamily="34" charset="-120"/>
              </a:rPr>
              <a:t>Spring Boot 4.x → springdoc 3.x</a:t>
            </a:r>
            <a:endParaRPr lang="en-US" sz="1150" dirty="0"/>
          </a:p>
          <a:p>
            <a:pPr marL="0" indent="0">
              <a:buNone/>
            </a:pPr>
            <a:r>
              <a:rPr lang="en-US" sz="1150" dirty="0">
                <a:solidFill>
                  <a:srgbClr val="5A2020"/>
                </a:solidFill>
                <a:latin typeface="Calibri" pitchFamily="34" charset="0"/>
                <a:ea typeface="Calibri" pitchFamily="34" charset="-122"/>
                <a:cs typeface="Calibri" pitchFamily="34" charset="-120"/>
              </a:rPr>
              <a:t>Equivocarse no da error claro: /v3/api-docs simplemente devuelve 404.</a:t>
            </a:r>
            <a:endParaRPr lang="en-US" sz="1150" dirty="0"/>
          </a:p>
        </p:txBody>
      </p:sp>
      <p:sp>
        <p:nvSpPr>
          <p:cNvPr id="10" name="Text 8"/>
          <p:cNvSpPr/>
          <p:nvPr/>
        </p:nvSpPr>
        <p:spPr>
          <a:xfrm>
            <a:off x="6199632" y="1207008"/>
            <a:ext cx="5349240" cy="274320"/>
          </a:xfrm>
          <a:prstGeom prst="rect">
            <a:avLst/>
          </a:prstGeom>
          <a:noFill/>
          <a:ln/>
        </p:spPr>
        <p:txBody>
          <a:bodyPr wrap="square" lIns="0" tIns="0" rIns="0" bIns="0" rtlCol="0" anchor="ctr"/>
          <a:lstStyle/>
          <a:p>
            <a:pPr marL="0" indent="0">
              <a:buNone/>
            </a:pPr>
            <a:r>
              <a:rPr lang="en-US" sz="1350" b="1" dirty="0">
                <a:solidFill>
                  <a:srgbClr val="CC9900"/>
                </a:solidFill>
                <a:latin typeface="Calibri" pitchFamily="34" charset="0"/>
                <a:ea typeface="Calibri" pitchFamily="34" charset="-122"/>
                <a:cs typeface="Calibri" pitchFamily="34" charset="-120"/>
              </a:rPr>
              <a:t>JWT: tres partes separadas por puntos</a:t>
            </a:r>
            <a:endParaRPr lang="en-US" sz="1350" dirty="0"/>
          </a:p>
        </p:txBody>
      </p:sp>
      <p:sp>
        <p:nvSpPr>
          <p:cNvPr id="11" name="Shape 9"/>
          <p:cNvSpPr/>
          <p:nvPr/>
        </p:nvSpPr>
        <p:spPr>
          <a:xfrm>
            <a:off x="6199632" y="1499616"/>
            <a:ext cx="5349240" cy="1417320"/>
          </a:xfrm>
          <a:prstGeom prst="roundRect">
            <a:avLst>
              <a:gd name="adj" fmla="val 2581"/>
            </a:avLst>
          </a:prstGeom>
          <a:solidFill>
            <a:srgbClr val="23272E"/>
          </a:solidFill>
          <a:ln w="12700">
            <a:solidFill>
              <a:srgbClr val="23272E"/>
            </a:solidFill>
            <a:prstDash val="solid"/>
          </a:ln>
        </p:spPr>
      </p:sp>
      <p:sp>
        <p:nvSpPr>
          <p:cNvPr id="12" name="Text 10"/>
          <p:cNvSpPr/>
          <p:nvPr/>
        </p:nvSpPr>
        <p:spPr>
          <a:xfrm>
            <a:off x="6400800" y="1645920"/>
            <a:ext cx="4946904" cy="112471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eyJhbGciOiJIUzI1NiJ9      &lt;- cabecera</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.eyJzdWIiOiIxMDQyIiwi...  &lt;- carga</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.dBjftJeZ4CVP-mB92K27uh   &lt;- firma</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Base64URL, NO cifrado:</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cualquiera puede leer la carga.</a:t>
            </a:r>
            <a:endParaRPr lang="en-US" sz="1100" dirty="0"/>
          </a:p>
        </p:txBody>
      </p:sp>
      <p:sp>
        <p:nvSpPr>
          <p:cNvPr id="13" name="Shape 11"/>
          <p:cNvSpPr/>
          <p:nvPr/>
        </p:nvSpPr>
        <p:spPr>
          <a:xfrm>
            <a:off x="6199632" y="3035808"/>
            <a:ext cx="5349240" cy="1170432"/>
          </a:xfrm>
          <a:prstGeom prst="roundRect">
            <a:avLst>
              <a:gd name="adj" fmla="val 3906"/>
            </a:avLst>
          </a:prstGeom>
          <a:solidFill>
            <a:srgbClr val="EEF4F0"/>
          </a:solidFill>
          <a:ln w="15875">
            <a:solidFill>
              <a:srgbClr val="006633"/>
            </a:solidFill>
            <a:prstDash val="solid"/>
          </a:ln>
        </p:spPr>
      </p:sp>
      <p:sp>
        <p:nvSpPr>
          <p:cNvPr id="14" name="Text 12"/>
          <p:cNvSpPr/>
          <p:nvPr/>
        </p:nvSpPr>
        <p:spPr>
          <a:xfrm>
            <a:off x="6437376" y="3127248"/>
            <a:ext cx="4892040" cy="292608"/>
          </a:xfrm>
          <a:prstGeom prst="rect">
            <a:avLst/>
          </a:prstGeom>
          <a:noFill/>
          <a:ln/>
        </p:spPr>
        <p:txBody>
          <a:bodyPr wrap="square" lIns="0" tIns="0" rIns="0" bIns="0" rtlCol="0" anchor="ctr"/>
          <a:lstStyle/>
          <a:p>
            <a:pPr marL="0" indent="0">
              <a:buNone/>
            </a:pPr>
            <a:r>
              <a:rPr lang="en-US" sz="1300" b="1" dirty="0">
                <a:solidFill>
                  <a:srgbClr val="00401F"/>
                </a:solidFill>
                <a:latin typeface="Calibri" pitchFamily="34" charset="0"/>
                <a:ea typeface="Calibri" pitchFamily="34" charset="-122"/>
                <a:cs typeface="Calibri" pitchFamily="34" charset="-120"/>
              </a:rPr>
              <a:t>La firma garantiza integridad, no confidencialidad</a:t>
            </a:r>
            <a:endParaRPr lang="en-US" sz="1300" dirty="0"/>
          </a:p>
        </p:txBody>
      </p:sp>
      <p:sp>
        <p:nvSpPr>
          <p:cNvPr id="15" name="Text 13"/>
          <p:cNvSpPr/>
          <p:nvPr/>
        </p:nvSpPr>
        <p:spPr>
          <a:xfrm>
            <a:off x="6437376" y="3438144"/>
            <a:ext cx="4892040" cy="713232"/>
          </a:xfrm>
          <a:prstGeom prst="rect">
            <a:avLst/>
          </a:prstGeom>
          <a:noFill/>
          <a:ln/>
        </p:spPr>
        <p:txBody>
          <a:bodyPr wrap="square" lIns="0" tIns="0" rIns="0" bIns="0" rtlCol="0" anchor="t"/>
          <a:lstStyle/>
          <a:p>
            <a:pPr marL="0" indent="0">
              <a:buNone/>
            </a:pPr>
            <a:r>
              <a:rPr lang="en-US" sz="1150" dirty="0">
                <a:solidFill>
                  <a:srgbClr val="2B333C"/>
                </a:solidFill>
                <a:latin typeface="Calibri" pitchFamily="34" charset="0"/>
                <a:ea typeface="Calibri" pitchFamily="34" charset="-122"/>
                <a:cs typeface="Calibri" pitchFamily="34" charset="-120"/>
              </a:rPr>
              <a:t>Nadie puede alterar el testigo sin invalidarlo, pero cualquiera puede decodificarlo. Jamás coloque datos sensibles en la carga.</a:t>
            </a:r>
            <a:endParaRPr lang="en-US" sz="1150" dirty="0"/>
          </a:p>
        </p:txBody>
      </p:sp>
      <p:sp>
        <p:nvSpPr>
          <p:cNvPr id="16" name="Shape 14"/>
          <p:cNvSpPr/>
          <p:nvPr/>
        </p:nvSpPr>
        <p:spPr>
          <a:xfrm>
            <a:off x="640080" y="4370832"/>
            <a:ext cx="10908792" cy="1920240"/>
          </a:xfrm>
          <a:prstGeom prst="roundRect">
            <a:avLst>
              <a:gd name="adj" fmla="val 2857"/>
            </a:avLst>
          </a:prstGeom>
          <a:solidFill>
            <a:srgbClr val="FBEDED"/>
          </a:solidFill>
          <a:ln w="15875">
            <a:solidFill>
              <a:srgbClr val="A32020"/>
            </a:solidFill>
            <a:prstDash val="solid"/>
          </a:ln>
        </p:spPr>
      </p:sp>
      <p:sp>
        <p:nvSpPr>
          <p:cNvPr id="17" name="Text 15"/>
          <p:cNvSpPr/>
          <p:nvPr/>
        </p:nvSpPr>
        <p:spPr>
          <a:xfrm>
            <a:off x="914400" y="4480560"/>
            <a:ext cx="10360152" cy="310896"/>
          </a:xfrm>
          <a:prstGeom prst="rect">
            <a:avLst/>
          </a:prstGeom>
          <a:noFill/>
          <a:ln/>
        </p:spPr>
        <p:txBody>
          <a:bodyPr wrap="square" lIns="0" tIns="0" rIns="0" bIns="0" rtlCol="0" anchor="ctr"/>
          <a:lstStyle/>
          <a:p>
            <a:pPr marL="0" indent="0">
              <a:buNone/>
            </a:pPr>
            <a:r>
              <a:rPr lang="en-US" sz="1500" b="1" dirty="0">
                <a:solidFill>
                  <a:srgbClr val="A32020"/>
                </a:solidFill>
                <a:latin typeface="Calibri" pitchFamily="34" charset="0"/>
                <a:ea typeface="Calibri" pitchFamily="34" charset="-122"/>
                <a:cs typeface="Calibri" pitchFamily="34" charset="-120"/>
              </a:rPr>
              <a:t>Cuatro fallos que invalidan la entrega</a:t>
            </a:r>
            <a:endParaRPr lang="en-US" sz="1500" dirty="0"/>
          </a:p>
        </p:txBody>
      </p:sp>
      <p:sp>
        <p:nvSpPr>
          <p:cNvPr id="18" name="Text 16"/>
          <p:cNvSpPr/>
          <p:nvPr/>
        </p:nvSpPr>
        <p:spPr>
          <a:xfrm>
            <a:off x="914400" y="4846320"/>
            <a:ext cx="10360152" cy="1325880"/>
          </a:xfrm>
          <a:prstGeom prst="rect">
            <a:avLst/>
          </a:prstGeom>
          <a:noFill/>
          <a:ln/>
        </p:spPr>
        <p:txBody>
          <a:bodyPr wrap="square" lIns="0" tIns="0" rIns="0" bIns="0" rtlCol="0" anchor="t"/>
          <a:lstStyle/>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Guardar la clave de firma en el repositorio → debe leerse de una variable de entorno.</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Emitir testigos sin expiración o con vigencias de días.</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Confiar en el algoritmo declarado en la cabecera del testigo → ataque de algoritmo «none».</a:t>
            </a:r>
            <a:endParaRPr lang="en-US" sz="1250" dirty="0"/>
          </a:p>
          <a:p>
            <a:pPr marL="342900" indent="-342900" algn="l">
              <a:spcAft>
                <a:spcPts val="800"/>
              </a:spcAft>
              <a:buSzPct val="100000"/>
              <a:buChar char="•"/>
            </a:pPr>
            <a:r>
              <a:rPr lang="en-US" sz="1250" dirty="0">
                <a:solidFill>
                  <a:srgbClr val="5A2020"/>
                </a:solidFill>
                <a:latin typeface="Calibri" pitchFamily="34" charset="0"/>
                <a:ea typeface="Calibri" pitchFamily="34" charset="-122"/>
                <a:cs typeface="Calibri" pitchFamily="34" charset="-120"/>
              </a:rPr>
              <a:t>Almacenar el testigo en localStorage → cualquier script inyectado lo lee.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Ejercicio integrador 4.C</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API REST completa del catálogo · 12 a 15 horas en equipo</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4114800">
                  <a:extLst>
                    <a:ext uri="{9D8B030D-6E8A-4147-A177-3AD203B41FA5}">
                      <a16:colId xmlns:a16="http://schemas.microsoft.com/office/drawing/2014/main" val="20000"/>
                    </a:ext>
                  </a:extLst>
                </a:gridCol>
                <a:gridCol w="6793992">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Verbo y ruta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Comportamiento exigido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GET /api/v1/libros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Paginación, ordenamiento y filtro por categoría y título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GET /api/v1/libros/{id}</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404 descrito según RFC 9457</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POST /api/v1/libros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201, cabecera Location, 409 ante ISBN duplicado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PUT /api/v1/libros/{id}</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Reemplazo completo, idempotencia verificable</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DELETE /api/v1/libros/{id}</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204 y baja lógica</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GET /api/v1/libros/{id}/ejemplares</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tc>
                  <a:txBody>
                    <a:bodyPr/>
                    <a:lstStyle/>
                    <a:p>
                      <a:pPr marL="0" indent="0">
                        <a:buNone/>
                      </a:pPr>
                      <a:r>
                        <a:rPr lang="en-US" sz="1200" dirty="0">
                          <a:solidFill>
                            <a:srgbClr val="2B333C"/>
                          </a:solidFill>
                          <a:latin typeface="Calibri" pitchFamily="34" charset="0"/>
                          <a:ea typeface="Calibri" pitchFamily="34" charset="-122"/>
                          <a:cs typeface="Calibri" pitchFamily="34" charset="-120"/>
                        </a:rPr>
                        <a:t>Recurso anidado</a:t>
                      </a:r>
                      <a:endParaRPr lang="en-US" sz="1200" dirty="0">
                        <a:latin typeface="Calibri" charset="0"/>
                        <a:ea typeface="Calibri" charset="0"/>
                        <a:cs typeface="Calibri" charset="0"/>
                      </a:endParaRPr>
                    </a:p>
                  </a:txBody>
                  <a:tcPr marL="54864" marR="54864" marT="54864" marB="54864" anchor="ctr">
                    <a:lnL w="6350" cap="flat" cmpd="sng" algn="ctr">
                      <a:solidFill>
                        <a:srgbClr val="D7DEE2"/>
                      </a:solidFill>
                      <a:prstDash val="solid"/>
                      <a:round/>
                      <a:headEnd type="none" w="med" len="med"/>
                      <a:tailEnd type="none" w="med" len="med"/>
                    </a:lnL>
                    <a:lnR w="6350" cap="flat" cmpd="sng" algn="ctr">
                      <a:solidFill>
                        <a:srgbClr val="D7DEE2"/>
                      </a:solidFill>
                      <a:prstDash val="solid"/>
                      <a:round/>
                      <a:headEnd type="none" w="med" len="med"/>
                      <a:tailEnd type="none" w="med" len="med"/>
                    </a:lnR>
                    <a:lnT w="6350" cap="flat" cmpd="sng" algn="ctr">
                      <a:solidFill>
                        <a:srgbClr val="D7DEE2"/>
                      </a:solidFill>
                      <a:prstDash val="solid"/>
                      <a:round/>
                      <a:headEnd type="none" w="med" len="med"/>
                      <a:tailEnd type="none" w="med" len="med"/>
                    </a:lnT>
                    <a:lnB w="6350" cap="flat" cmpd="sng" algn="ctr">
                      <a:solidFill>
                        <a:srgbClr val="D7DEE2"/>
                      </a:solidFill>
                      <a:prstDash val="solid"/>
                      <a:round/>
                      <a:headEnd type="none" w="med" len="med"/>
                      <a:tailEnd type="none" w="med" len="med"/>
                    </a:lnB>
                    <a:solidFill>
                      <a:srgbClr val="EEF4F0"/>
                    </a:solidFill>
                  </a:tcPr>
                </a:tc>
                <a:extLst>
                  <a:ext uri="{0D108BD9-81ED-4DB2-BD59-A6C34878D82A}">
                    <a16:rowId xmlns:a16="http://schemas.microsoft.com/office/drawing/2014/main" val="10006"/>
                  </a:ext>
                </a:extLst>
              </a:tr>
            </a:tbl>
          </a:graphicData>
        </a:graphic>
      </p:graphicFrame>
      <p:sp>
        <p:nvSpPr>
          <p:cNvPr id="5" name="Text 2"/>
          <p:cNvSpPr/>
          <p:nvPr/>
        </p:nvSpPr>
        <p:spPr>
          <a:xfrm>
            <a:off x="640080" y="4114800"/>
            <a:ext cx="10908792" cy="164592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Todos los errores en application/problem+json desde un manejador global único.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Especificación OpenAPI enriquecida y exportada a docs/api/openapi.json.</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JWT: lectura pública, escritura restringida al rol BIBLIOTECARIO.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Ocho pruebas de integración con MockMvc cubriendo 200, 201, 204, 400, 401, 403, 404 y 409.</a:t>
            </a:r>
            <a:endParaRPr lang="en-US" sz="1300" dirty="0"/>
          </a:p>
        </p:txBody>
      </p:sp>
      <p:sp>
        <p:nvSpPr>
          <p:cNvPr id="6" name="Shape 3"/>
          <p:cNvSpPr/>
          <p:nvPr/>
        </p:nvSpPr>
        <p:spPr>
          <a:xfrm>
            <a:off x="640080" y="5870448"/>
            <a:ext cx="10908792" cy="658368"/>
          </a:xfrm>
          <a:prstGeom prst="roundRect">
            <a:avLst>
              <a:gd name="adj" fmla="val 8333"/>
            </a:avLst>
          </a:prstGeom>
          <a:solidFill>
            <a:srgbClr val="FBEDED"/>
          </a:solidFill>
          <a:ln w="12700">
            <a:solidFill>
              <a:srgbClr val="FBEDED"/>
            </a:solidFill>
            <a:prstDash val="solid"/>
          </a:ln>
        </p:spPr>
      </p:sp>
      <p:sp>
        <p:nvSpPr>
          <p:cNvPr id="7" name="Text 4"/>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Piso adicional: si un extremo devuelve 200 ante un error, o la clave de firma está versionada, la calificación es CERO.</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401F"/>
        </a:solidFill>
        <a:effectLst/>
      </p:bgPr>
    </p:bg>
    <p:spTree>
      <p:nvGrpSpPr>
        <p:cNvPr id="1" name=""/>
        <p:cNvGrpSpPr/>
        <p:nvPr/>
      </p:nvGrpSpPr>
      <p:grpSpPr>
        <a:xfrm>
          <a:off x="0" y="0"/>
          <a:ext cx="0" cy="0"/>
          <a:chOff x="0" y="0"/>
          <a:chExt cx="0" cy="0"/>
        </a:xfrm>
      </p:grpSpPr>
      <p:sp>
        <p:nvSpPr>
          <p:cNvPr id="2" name="Shape 0"/>
          <p:cNvSpPr/>
          <p:nvPr/>
        </p:nvSpPr>
        <p:spPr>
          <a:xfrm>
            <a:off x="640080" y="2057400"/>
            <a:ext cx="1417320" cy="1417320"/>
          </a:xfrm>
          <a:prstGeom prst="ellipse">
            <a:avLst/>
          </a:prstGeom>
          <a:solidFill>
            <a:srgbClr val="CC9900"/>
          </a:solidFill>
          <a:ln/>
        </p:spPr>
      </p:sp>
      <p:sp>
        <p:nvSpPr>
          <p:cNvPr id="3" name="Text 1"/>
          <p:cNvSpPr/>
          <p:nvPr/>
        </p:nvSpPr>
        <p:spPr>
          <a:xfrm>
            <a:off x="640080" y="2057400"/>
            <a:ext cx="1417320" cy="1417320"/>
          </a:xfrm>
          <a:prstGeom prst="rect">
            <a:avLst/>
          </a:prstGeom>
          <a:noFill/>
          <a:ln/>
        </p:spPr>
        <p:txBody>
          <a:bodyPr wrap="square" lIns="0" tIns="0" rIns="0" bIns="0" rtlCol="0" anchor="ctr"/>
          <a:lstStyle/>
          <a:p>
            <a:pPr marL="0" indent="0" algn="ctr">
              <a:buNone/>
            </a:pPr>
            <a:r>
              <a:rPr lang="en-US" sz="4600" b="1" dirty="0">
                <a:solidFill>
                  <a:srgbClr val="00401F"/>
                </a:solidFill>
                <a:latin typeface="Cambria" pitchFamily="34" charset="0"/>
                <a:ea typeface="Cambria" pitchFamily="34" charset="-122"/>
                <a:cs typeface="Cambria" pitchFamily="34" charset="-120"/>
              </a:rPr>
              <a:t>4.4</a:t>
            </a:r>
            <a:endParaRPr lang="en-US" sz="4600" dirty="0"/>
          </a:p>
        </p:txBody>
      </p:sp>
      <p:sp>
        <p:nvSpPr>
          <p:cNvPr id="4" name="Text 2"/>
          <p:cNvSpPr/>
          <p:nvPr/>
        </p:nvSpPr>
        <p:spPr>
          <a:xfrm>
            <a:off x="2423160" y="2057400"/>
            <a:ext cx="9052560" cy="91440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Consumo de Servicios Web e Integración</a:t>
            </a:r>
            <a:endParaRPr lang="en-US" sz="3600" dirty="0"/>
          </a:p>
        </p:txBody>
      </p:sp>
      <p:sp>
        <p:nvSpPr>
          <p:cNvPr id="5" name="Text 3"/>
          <p:cNvSpPr/>
          <p:nvPr/>
        </p:nvSpPr>
        <p:spPr>
          <a:xfrm>
            <a:off x="2423160" y="2971800"/>
            <a:ext cx="9052560" cy="640080"/>
          </a:xfrm>
          <a:prstGeom prst="rect">
            <a:avLst/>
          </a:prstGeom>
          <a:noFill/>
          <a:ln/>
        </p:spPr>
        <p:txBody>
          <a:bodyPr wrap="square" lIns="0" tIns="0" rIns="0" bIns="0" rtlCol="0" anchor="t"/>
          <a:lstStyle/>
          <a:p>
            <a:pPr marL="0" indent="0" algn="l">
              <a:buNone/>
            </a:pPr>
            <a:r>
              <a:rPr lang="en-US" sz="1600" dirty="0">
                <a:solidFill>
                  <a:srgbClr val="C9DCC9"/>
                </a:solidFill>
                <a:latin typeface="Calibri" pitchFamily="34" charset="0"/>
                <a:ea typeface="Calibri" pitchFamily="34" charset="-122"/>
                <a:cs typeface="Calibri" pitchFamily="34" charset="-120"/>
              </a:rPr>
              <a:t>Desde el cliente con JavaScript y Angular · Desde el servidor con resiliencia · Proyecto final · Tendencias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La trampa del 404 en fetch</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El error que sorprende a todos los estudiantes</a:t>
            </a:r>
            <a:endParaRPr lang="en-US" sz="1400" dirty="0"/>
          </a:p>
        </p:txBody>
      </p:sp>
      <p:sp>
        <p:nvSpPr>
          <p:cNvPr id="4" name="Shape 2"/>
          <p:cNvSpPr/>
          <p:nvPr/>
        </p:nvSpPr>
        <p:spPr>
          <a:xfrm>
            <a:off x="640080" y="1481328"/>
            <a:ext cx="5349240" cy="1234440"/>
          </a:xfrm>
          <a:prstGeom prst="roundRect">
            <a:avLst>
              <a:gd name="adj" fmla="val 2963"/>
            </a:avLst>
          </a:prstGeom>
          <a:solidFill>
            <a:srgbClr val="23272E"/>
          </a:solidFill>
          <a:ln w="12700">
            <a:solidFill>
              <a:srgbClr val="23272E"/>
            </a:solidFill>
            <a:prstDash val="solid"/>
          </a:ln>
        </p:spPr>
      </p:sp>
      <p:sp>
        <p:nvSpPr>
          <p:cNvPr id="5" name="Text 3"/>
          <p:cNvSpPr/>
          <p:nvPr/>
        </p:nvSpPr>
        <p:spPr>
          <a:xfrm>
            <a:off x="841248" y="1627632"/>
            <a:ext cx="4946904" cy="941832"/>
          </a:xfrm>
          <a:prstGeom prst="rect">
            <a:avLst/>
          </a:prstGeom>
          <a:noFill/>
          <a:ln/>
        </p:spPr>
        <p:txBody>
          <a:bodyPr wrap="square" lIns="0" tIns="0" rIns="0" bIns="0" rtlCol="0" anchor="t"/>
          <a:lstStyle/>
          <a:p>
            <a:pPr marL="0" indent="0" algn="l">
              <a:buNone/>
            </a:pPr>
            <a:r>
              <a:rPr lang="en-US" sz="1250" dirty="0">
                <a:solidFill>
                  <a:srgbClr val="E6E6E6"/>
                </a:solidFill>
                <a:latin typeface="Courier New" pitchFamily="34" charset="0"/>
                <a:ea typeface="Courier New" pitchFamily="34" charset="-122"/>
                <a:cs typeface="Courier New" pitchFamily="34" charset="-120"/>
              </a:rPr>
              <a:t>const r = await fetch('/api/v1/libros/42');</a:t>
            </a:r>
            <a:endParaRPr lang="en-US" sz="1250" dirty="0"/>
          </a:p>
          <a:p>
            <a:pPr marL="0" indent="0" algn="l">
              <a:buNone/>
            </a:pPr>
            <a:r>
              <a:rPr lang="en-US" sz="1250" dirty="0">
                <a:solidFill>
                  <a:srgbClr val="E6E6E6"/>
                </a:solidFill>
                <a:latin typeface="Courier New" pitchFamily="34" charset="0"/>
                <a:ea typeface="Courier New" pitchFamily="34" charset="-122"/>
                <a:cs typeface="Courier New" pitchFamily="34" charset="-120"/>
              </a:rPr>
              <a:t>const libro = await r.json();</a:t>
            </a:r>
            <a:endParaRPr lang="en-US" sz="1250" dirty="0"/>
          </a:p>
        </p:txBody>
      </p:sp>
      <p:sp>
        <p:nvSpPr>
          <p:cNvPr id="6" name="Shape 4"/>
          <p:cNvSpPr/>
          <p:nvPr/>
        </p:nvSpPr>
        <p:spPr>
          <a:xfrm>
            <a:off x="640080" y="2852928"/>
            <a:ext cx="5349240" cy="1508760"/>
          </a:xfrm>
          <a:prstGeom prst="roundRect">
            <a:avLst>
              <a:gd name="adj" fmla="val 3030"/>
            </a:avLst>
          </a:prstGeom>
          <a:solidFill>
            <a:srgbClr val="FBEDED"/>
          </a:solidFill>
          <a:ln w="15875">
            <a:solidFill>
              <a:srgbClr val="A32020"/>
            </a:solidFill>
            <a:prstDash val="solid"/>
          </a:ln>
        </p:spPr>
      </p:sp>
      <p:sp>
        <p:nvSpPr>
          <p:cNvPr id="7" name="Text 5"/>
          <p:cNvSpPr/>
          <p:nvPr/>
        </p:nvSpPr>
        <p:spPr>
          <a:xfrm>
            <a:off x="877824" y="2962656"/>
            <a:ext cx="4892040" cy="292608"/>
          </a:xfrm>
          <a:prstGeom prst="rect">
            <a:avLst/>
          </a:prstGeom>
          <a:noFill/>
          <a:ln/>
        </p:spPr>
        <p:txBody>
          <a:bodyPr wrap="square" lIns="0" tIns="0" rIns="0" bIns="0" rtlCol="0" anchor="ctr"/>
          <a:lstStyle/>
          <a:p>
            <a:pPr marL="0" indent="0">
              <a:buNone/>
            </a:pPr>
            <a:r>
              <a:rPr lang="en-US" sz="1400" b="1" dirty="0">
                <a:solidFill>
                  <a:srgbClr val="A32020"/>
                </a:solidFill>
                <a:latin typeface="Calibri" pitchFamily="34" charset="0"/>
                <a:ea typeface="Calibri" pitchFamily="34" charset="-122"/>
                <a:cs typeface="Calibri" pitchFamily="34" charset="-120"/>
              </a:rPr>
              <a:t>Correcto e inaceptable a la vez</a:t>
            </a:r>
            <a:endParaRPr lang="en-US" sz="1400" dirty="0"/>
          </a:p>
        </p:txBody>
      </p:sp>
      <p:sp>
        <p:nvSpPr>
          <p:cNvPr id="8" name="Text 6"/>
          <p:cNvSpPr/>
          <p:nvPr/>
        </p:nvSpPr>
        <p:spPr>
          <a:xfrm>
            <a:off x="877824" y="3310128"/>
            <a:ext cx="4892040" cy="932688"/>
          </a:xfrm>
          <a:prstGeom prst="rect">
            <a:avLst/>
          </a:prstGeom>
          <a:noFill/>
          <a:ln/>
        </p:spPr>
        <p:txBody>
          <a:bodyPr wrap="square" lIns="0" tIns="0" rIns="0" bIns="0" rtlCol="0" anchor="t"/>
          <a:lstStyle/>
          <a:p>
            <a:pPr marL="0" indent="0">
              <a:buNone/>
            </a:pPr>
            <a:r>
              <a:rPr lang="en-US" sz="1300" dirty="0">
                <a:solidFill>
                  <a:srgbClr val="5A2020"/>
                </a:solidFill>
                <a:latin typeface="Calibri" pitchFamily="34" charset="0"/>
                <a:ea typeface="Calibri" pitchFamily="34" charset="-122"/>
                <a:cs typeface="Calibri" pitchFamily="34" charset="-120"/>
              </a:rPr>
              <a:t>fetch NO rechaza la promesa ante un 404 o un 500. Solo falla ante errores de red. Un 404 llega como respuesta resuelta cuya propiedad ok vale false.</a:t>
            </a:r>
            <a:endParaRPr lang="en-US" sz="1300" dirty="0"/>
          </a:p>
        </p:txBody>
      </p:sp>
      <p:sp>
        <p:nvSpPr>
          <p:cNvPr id="9" name="Shape 7"/>
          <p:cNvSpPr/>
          <p:nvPr/>
        </p:nvSpPr>
        <p:spPr>
          <a:xfrm>
            <a:off x="6199632" y="1481328"/>
            <a:ext cx="5349240" cy="2880360"/>
          </a:xfrm>
          <a:prstGeom prst="roundRect">
            <a:avLst>
              <a:gd name="adj" fmla="val 1270"/>
            </a:avLst>
          </a:prstGeom>
          <a:solidFill>
            <a:srgbClr val="23272E"/>
          </a:solidFill>
          <a:ln w="12700">
            <a:solidFill>
              <a:srgbClr val="23272E"/>
            </a:solidFill>
            <a:prstDash val="solid"/>
          </a:ln>
        </p:spPr>
      </p:sp>
      <p:sp>
        <p:nvSpPr>
          <p:cNvPr id="10" name="Text 8"/>
          <p:cNvSpPr/>
          <p:nvPr/>
        </p:nvSpPr>
        <p:spPr>
          <a:xfrm>
            <a:off x="6400800" y="1627632"/>
            <a:ext cx="4946904" cy="2587752"/>
          </a:xfrm>
          <a:prstGeom prst="rect">
            <a:avLst/>
          </a:prstGeom>
          <a:noFill/>
          <a:ln/>
        </p:spPr>
        <p:txBody>
          <a:bodyPr wrap="square" lIns="0" tIns="0" rIns="0" bIns="0" rtlCol="0" anchor="t"/>
          <a:lstStyle/>
          <a:p>
            <a:pPr marL="0" indent="0" algn="l">
              <a:buNone/>
            </a:pPr>
            <a:r>
              <a:rPr lang="en-US" sz="1100" dirty="0">
                <a:solidFill>
                  <a:srgbClr val="E6E6E6"/>
                </a:solidFill>
                <a:latin typeface="Courier New" pitchFamily="34" charset="0"/>
                <a:ea typeface="Courier New" pitchFamily="34" charset="-122"/>
                <a:cs typeface="Courier New" pitchFamily="34" charset="-120"/>
              </a:rPr>
              <a:t>const control = new AbortController();</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setTimeout(() =&gt; control.abort(), 8000);</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const r = await fetch(url,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signal: control.signal,</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headers: { 'Accept': 'application/json'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if (!r.ok) {</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const problema = await r.json();</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  throw new ErrorApi(problema);</a:t>
            </a: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a:t>
            </a:r>
            <a:endParaRPr lang="en-US" sz="1100" dirty="0"/>
          </a:p>
          <a:p>
            <a:pPr marL="0" indent="0" algn="l">
              <a:buNone/>
            </a:pPr>
            <a:endParaRPr lang="en-US" sz="1100" dirty="0"/>
          </a:p>
          <a:p>
            <a:pPr marL="0" indent="0" algn="l">
              <a:buNone/>
            </a:pPr>
            <a:r>
              <a:rPr lang="en-US" sz="1100" dirty="0">
                <a:solidFill>
                  <a:srgbClr val="E6E6E6"/>
                </a:solidFill>
                <a:latin typeface="Courier New" pitchFamily="34" charset="0"/>
                <a:ea typeface="Courier New" pitchFamily="34" charset="-122"/>
                <a:cs typeface="Courier New" pitchFamily="34" charset="-120"/>
              </a:rPr>
              <a:t>return r.status === 204 ? null : await r.json();</a:t>
            </a:r>
            <a:endParaRPr lang="en-US" sz="1100" dirty="0"/>
          </a:p>
        </p:txBody>
      </p:sp>
      <p:sp>
        <p:nvSpPr>
          <p:cNvPr id="11" name="Shape 9"/>
          <p:cNvSpPr/>
          <p:nvPr/>
        </p:nvSpPr>
        <p:spPr>
          <a:xfrm>
            <a:off x="640080" y="4535424"/>
            <a:ext cx="10908792" cy="1298448"/>
          </a:xfrm>
          <a:prstGeom prst="roundRect">
            <a:avLst>
              <a:gd name="adj" fmla="val 4225"/>
            </a:avLst>
          </a:prstGeom>
          <a:solidFill>
            <a:srgbClr val="EEF4F0"/>
          </a:solidFill>
          <a:ln w="12700">
            <a:solidFill>
              <a:srgbClr val="EEF4F0"/>
            </a:solidFill>
            <a:prstDash val="solid"/>
          </a:ln>
        </p:spPr>
      </p:sp>
      <p:sp>
        <p:nvSpPr>
          <p:cNvPr id="12" name="Shape 10"/>
          <p:cNvSpPr/>
          <p:nvPr/>
        </p:nvSpPr>
        <p:spPr>
          <a:xfrm>
            <a:off x="841248" y="4736592"/>
            <a:ext cx="457200" cy="457200"/>
          </a:xfrm>
          <a:prstGeom prst="ellipse">
            <a:avLst/>
          </a:prstGeom>
          <a:solidFill>
            <a:srgbClr val="006633"/>
          </a:solidFill>
          <a:ln/>
        </p:spPr>
      </p:sp>
      <p:sp>
        <p:nvSpPr>
          <p:cNvPr id="13" name="Text 11"/>
          <p:cNvSpPr/>
          <p:nvPr/>
        </p:nvSpPr>
        <p:spPr>
          <a:xfrm>
            <a:off x="841248" y="473659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389888" y="4736592"/>
            <a:ext cx="9976104"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Las cuatro precauciones que deben estar siempre</a:t>
            </a:r>
            <a:endParaRPr lang="en-US" sz="1500" dirty="0"/>
          </a:p>
        </p:txBody>
      </p:sp>
      <p:sp>
        <p:nvSpPr>
          <p:cNvPr id="15" name="Text 13"/>
          <p:cNvSpPr/>
          <p:nvPr/>
        </p:nvSpPr>
        <p:spPr>
          <a:xfrm>
            <a:off x="859536" y="5285232"/>
            <a:ext cx="10469880" cy="365760"/>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Comprobación del estado con ok  ·  tiempo límite con AbortController  ·  interpretación del cuerpo de error como problem+json  ·  propagación de una excepción tipada que el resto de la aplicación pueda distinguir.</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Angular 22: del observable a la señal</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Ambos enfoques son válidos; conviene dominar primero el clásico</a:t>
            </a:r>
            <a:endParaRPr lang="en-US" sz="1400" dirty="0"/>
          </a:p>
        </p:txBody>
      </p:sp>
      <p:sp>
        <p:nvSpPr>
          <p:cNvPr id="4" name="Text 2"/>
          <p:cNvSpPr/>
          <p:nvPr/>
        </p:nvSpPr>
        <p:spPr>
          <a:xfrm>
            <a:off x="640080" y="1207008"/>
            <a:ext cx="5349240" cy="27432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HttpClient con observables</a:t>
            </a:r>
            <a:endParaRPr lang="en-US" sz="1350" dirty="0"/>
          </a:p>
        </p:txBody>
      </p:sp>
      <p:sp>
        <p:nvSpPr>
          <p:cNvPr id="5" name="Shape 3"/>
          <p:cNvSpPr/>
          <p:nvPr/>
        </p:nvSpPr>
        <p:spPr>
          <a:xfrm>
            <a:off x="640080" y="1499616"/>
            <a:ext cx="5349240" cy="2194560"/>
          </a:xfrm>
          <a:prstGeom prst="roundRect">
            <a:avLst>
              <a:gd name="adj" fmla="val 1667"/>
            </a:avLst>
          </a:prstGeom>
          <a:solidFill>
            <a:srgbClr val="23272E"/>
          </a:solidFill>
          <a:ln w="12700">
            <a:solidFill>
              <a:srgbClr val="23272E"/>
            </a:solidFill>
            <a:prstDash val="solid"/>
          </a:ln>
        </p:spPr>
      </p:sp>
      <p:sp>
        <p:nvSpPr>
          <p:cNvPr id="6" name="Text 4"/>
          <p:cNvSpPr/>
          <p:nvPr/>
        </p:nvSpPr>
        <p:spPr>
          <a:xfrm>
            <a:off x="841248" y="1645920"/>
            <a:ext cx="4946904" cy="190195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@Injectable({ providedIn: 'root'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export class CatalogoService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private readonly http = inject(HttpClient);</a:t>
            </a:r>
            <a:endParaRPr lang="en-US" sz="1050" dirty="0"/>
          </a:p>
          <a:p>
            <a:pPr marL="0" indent="0" algn="l">
              <a:buNone/>
            </a:pP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listar(pagina: number, filtro: string)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const params = new HttpParams()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.set('page', pagina)</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.set('titulo', filtro);</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return this.http.get&lt;Pagina&lt;Libro&gt;&gt;(</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'/api/v1/libros', { params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6199632" y="1207008"/>
            <a:ext cx="5349240" cy="274320"/>
          </a:xfrm>
          <a:prstGeom prst="rect">
            <a:avLst/>
          </a:prstGeom>
          <a:noFill/>
          <a:ln/>
        </p:spPr>
        <p:txBody>
          <a:bodyPr wrap="square" lIns="0" tIns="0" rIns="0" bIns="0" rtlCol="0" anchor="ctr"/>
          <a:lstStyle/>
          <a:p>
            <a:pPr marL="0" indent="0">
              <a:buNone/>
            </a:pPr>
            <a:r>
              <a:rPr lang="en-US" sz="1350" b="1" dirty="0">
                <a:solidFill>
                  <a:srgbClr val="CC9900"/>
                </a:solidFill>
                <a:latin typeface="Calibri" pitchFamily="34" charset="0"/>
                <a:ea typeface="Calibri" pitchFamily="34" charset="-122"/>
                <a:cs typeface="Calibri" pitchFamily="34" charset="-120"/>
              </a:rPr>
              <a:t>httpResource con señales</a:t>
            </a:r>
            <a:endParaRPr lang="en-US" sz="1350" dirty="0"/>
          </a:p>
        </p:txBody>
      </p:sp>
      <p:sp>
        <p:nvSpPr>
          <p:cNvPr id="8" name="Shape 6"/>
          <p:cNvSpPr/>
          <p:nvPr/>
        </p:nvSpPr>
        <p:spPr>
          <a:xfrm>
            <a:off x="6199632" y="1499616"/>
            <a:ext cx="5349240" cy="2194560"/>
          </a:xfrm>
          <a:prstGeom prst="roundRect">
            <a:avLst>
              <a:gd name="adj" fmla="val 1667"/>
            </a:avLst>
          </a:prstGeom>
          <a:solidFill>
            <a:srgbClr val="23272E"/>
          </a:solidFill>
          <a:ln w="12700">
            <a:solidFill>
              <a:srgbClr val="23272E"/>
            </a:solidFill>
            <a:prstDash val="solid"/>
          </a:ln>
        </p:spPr>
      </p:sp>
      <p:sp>
        <p:nvSpPr>
          <p:cNvPr id="9" name="Text 7"/>
          <p:cNvSpPr/>
          <p:nvPr/>
        </p:nvSpPr>
        <p:spPr>
          <a:xfrm>
            <a:off x="6400800" y="1645920"/>
            <a:ext cx="4946904" cy="190195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readonly filtro = signal('');</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readonly pagina = signal(0);</a:t>
            </a:r>
            <a:endParaRPr lang="en-US" sz="1050" dirty="0"/>
          </a:p>
          <a:p>
            <a:pPr marL="0" indent="0" algn="l">
              <a:buNone/>
            </a:pP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Se relanza sola cuando cambian</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readonly libros = httpResource&lt;Pagina&lt;Libro&gt;&gt;(</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 =&gt;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url: '/api/v1/libros',</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params: { titulo: this.filtro(),</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page: this.pagina()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t>
            </a:r>
            <a:endParaRPr lang="en-US" sz="1050" dirty="0"/>
          </a:p>
          <a:p>
            <a:pPr marL="0" indent="0" algn="l">
              <a:buNone/>
            </a:pP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libros.isLoading() libros.error()</a:t>
            </a:r>
            <a:endParaRPr lang="en-US" sz="1050" dirty="0"/>
          </a:p>
        </p:txBody>
      </p:sp>
      <p:sp>
        <p:nvSpPr>
          <p:cNvPr id="10" name="Shape 8"/>
          <p:cNvSpPr/>
          <p:nvPr/>
        </p:nvSpPr>
        <p:spPr>
          <a:xfrm>
            <a:off x="640080" y="3840480"/>
            <a:ext cx="5349240" cy="1234440"/>
          </a:xfrm>
          <a:prstGeom prst="roundRect">
            <a:avLst>
              <a:gd name="adj" fmla="val 4444"/>
            </a:avLst>
          </a:prstGeom>
          <a:solidFill>
            <a:srgbClr val="FBF3DE"/>
          </a:solidFill>
          <a:ln w="12700">
            <a:solidFill>
              <a:srgbClr val="FBF3DE"/>
            </a:solidFill>
            <a:prstDash val="solid"/>
          </a:ln>
        </p:spPr>
      </p:sp>
      <p:sp>
        <p:nvSpPr>
          <p:cNvPr id="11" name="Shape 9"/>
          <p:cNvSpPr/>
          <p:nvPr/>
        </p:nvSpPr>
        <p:spPr>
          <a:xfrm>
            <a:off x="841248" y="4041648"/>
            <a:ext cx="457200" cy="457200"/>
          </a:xfrm>
          <a:prstGeom prst="ellipse">
            <a:avLst/>
          </a:prstGeom>
          <a:solidFill>
            <a:srgbClr val="CC9900"/>
          </a:solidFill>
          <a:ln/>
        </p:spPr>
      </p:sp>
      <p:sp>
        <p:nvSpPr>
          <p:cNvPr id="12" name="Text 10"/>
          <p:cNvSpPr/>
          <p:nvPr/>
        </p:nvSpPr>
        <p:spPr>
          <a:xfrm>
            <a:off x="841248" y="4041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89888" y="404164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Estables desde Angular 22</a:t>
            </a:r>
            <a:endParaRPr lang="en-US" sz="1500" dirty="0"/>
          </a:p>
        </p:txBody>
      </p:sp>
      <p:sp>
        <p:nvSpPr>
          <p:cNvPr id="14" name="Text 12"/>
          <p:cNvSpPr/>
          <p:nvPr/>
        </p:nvSpPr>
        <p:spPr>
          <a:xfrm>
            <a:off x="859536" y="4590288"/>
            <a:ext cx="4910328" cy="30175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resource(), rxResource() y httpResource() dejaron de ser experimentales en la versión 22 (junio de 2026). httpResource vive en @angular/common/http.</a:t>
            </a:r>
            <a:endParaRPr lang="en-US" sz="1250" dirty="0"/>
          </a:p>
        </p:txBody>
      </p:sp>
      <p:sp>
        <p:nvSpPr>
          <p:cNvPr id="15" name="Shape 13"/>
          <p:cNvSpPr/>
          <p:nvPr/>
        </p:nvSpPr>
        <p:spPr>
          <a:xfrm>
            <a:off x="6199632" y="3840480"/>
            <a:ext cx="5349240" cy="1234440"/>
          </a:xfrm>
          <a:prstGeom prst="roundRect">
            <a:avLst>
              <a:gd name="adj" fmla="val 4444"/>
            </a:avLst>
          </a:prstGeom>
          <a:solidFill>
            <a:srgbClr val="EEF4F0"/>
          </a:solidFill>
          <a:ln w="12700">
            <a:solidFill>
              <a:srgbClr val="EEF4F0"/>
            </a:solidFill>
            <a:prstDash val="solid"/>
          </a:ln>
        </p:spPr>
      </p:sp>
      <p:sp>
        <p:nvSpPr>
          <p:cNvPr id="16" name="Shape 14"/>
          <p:cNvSpPr/>
          <p:nvPr/>
        </p:nvSpPr>
        <p:spPr>
          <a:xfrm>
            <a:off x="6400800" y="4041648"/>
            <a:ext cx="457200" cy="457200"/>
          </a:xfrm>
          <a:prstGeom prst="ellipse">
            <a:avLst/>
          </a:prstGeom>
          <a:solidFill>
            <a:srgbClr val="006633"/>
          </a:solidFill>
          <a:ln/>
        </p:spPr>
      </p:sp>
      <p:sp>
        <p:nvSpPr>
          <p:cNvPr id="17" name="Text 15"/>
          <p:cNvSpPr/>
          <p:nvPr/>
        </p:nvSpPr>
        <p:spPr>
          <a:xfrm>
            <a:off x="6400800" y="40416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6949440" y="404164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Qué resuelven</a:t>
            </a:r>
            <a:endParaRPr lang="en-US" sz="1500" dirty="0"/>
          </a:p>
        </p:txBody>
      </p:sp>
      <p:sp>
        <p:nvSpPr>
          <p:cNvPr id="19" name="Text 17"/>
          <p:cNvSpPr/>
          <p:nvPr/>
        </p:nvSpPr>
        <p:spPr>
          <a:xfrm>
            <a:off x="6419088" y="4590288"/>
            <a:ext cx="4910328" cy="30175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Eliminan la coordinación manual de tres estados —cargando, error y valor— y vuelven a lanzar la petición cuando cambia cualquier señal leída dentro de la expresión.</a:t>
            </a:r>
            <a:endParaRPr lang="en-US" sz="1250" dirty="0"/>
          </a:p>
        </p:txBody>
      </p:sp>
      <p:sp>
        <p:nvSpPr>
          <p:cNvPr id="20" name="Shape 18"/>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21" name="Text 1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Otros cambios de v22 que afectan al PFC: OnPush pasa a ser la detección de cambios por defecto y se exige TypeScript 6.</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Interceptores y CORS</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Un punto único para las credenciales; un malentendido muy caro</a:t>
            </a:r>
            <a:endParaRPr lang="en-US" sz="1400" dirty="0"/>
          </a:p>
        </p:txBody>
      </p:sp>
      <p:sp>
        <p:nvSpPr>
          <p:cNvPr id="4" name="Shape 2"/>
          <p:cNvSpPr/>
          <p:nvPr/>
        </p:nvSpPr>
        <p:spPr>
          <a:xfrm>
            <a:off x="640080" y="1481328"/>
            <a:ext cx="5806440" cy="2788920"/>
          </a:xfrm>
          <a:prstGeom prst="roundRect">
            <a:avLst>
              <a:gd name="adj" fmla="val 1311"/>
            </a:avLst>
          </a:prstGeom>
          <a:solidFill>
            <a:srgbClr val="23272E"/>
          </a:solidFill>
          <a:ln w="12700">
            <a:solidFill>
              <a:srgbClr val="23272E"/>
            </a:solidFill>
            <a:prstDash val="solid"/>
          </a:ln>
        </p:spPr>
      </p:sp>
      <p:sp>
        <p:nvSpPr>
          <p:cNvPr id="5" name="Text 3"/>
          <p:cNvSpPr/>
          <p:nvPr/>
        </p:nvSpPr>
        <p:spPr>
          <a:xfrm>
            <a:off x="841248" y="1627632"/>
            <a:ext cx="5404104" cy="2496312"/>
          </a:xfrm>
          <a:prstGeom prst="rect">
            <a:avLst/>
          </a:prstGeom>
          <a:noFill/>
          <a:ln/>
        </p:spPr>
        <p:txBody>
          <a:bodyPr wrap="square" lIns="0" tIns="0" rIns="0" bIns="0" rtlCol="0" anchor="t"/>
          <a:lstStyle/>
          <a:p>
            <a:pPr marL="0" indent="0" algn="l">
              <a:buNone/>
            </a:pPr>
            <a:r>
              <a:rPr lang="en-US" sz="1050" dirty="0">
                <a:solidFill>
                  <a:srgbClr val="E6E6E6"/>
                </a:solidFill>
                <a:latin typeface="Courier New" pitchFamily="34" charset="0"/>
                <a:ea typeface="Courier New" pitchFamily="34" charset="-122"/>
                <a:cs typeface="Courier New" pitchFamily="34" charset="-120"/>
              </a:rPr>
              <a:t>export const autenticacionInterceptor:</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HttpInterceptorFn = (peticion, siguiente) =&gt; {</a:t>
            </a:r>
            <a:endParaRPr lang="en-US" sz="1050" dirty="0"/>
          </a:p>
          <a:p>
            <a:pPr marL="0" indent="0" algn="l">
              <a:buNone/>
            </a:pP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const token = inject(SesionService).token();</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const conCredenciales = token</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 peticion.clone({ setHeaders: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Authorization: `Bearer ${token}` }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 peticion;</a:t>
            </a:r>
            <a:endParaRPr lang="en-US" sz="1050" dirty="0"/>
          </a:p>
          <a:p>
            <a:pPr marL="0" indent="0" algn="l">
              <a:buNone/>
            </a:pP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return siguiente(conCredenciales).pipe(</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catchError((e: HttpErrorResponse) =&gt;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if (e.status === 401) router.navigate(['/ingreso']);</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return throwError(() =&gt; e);</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    }));</a:t>
            </a:r>
            <a:endParaRPr lang="en-US" sz="1050" dirty="0"/>
          </a:p>
          <a:p>
            <a:pPr marL="0" indent="0" algn="l">
              <a:buNone/>
            </a:pPr>
            <a:r>
              <a:rPr lang="en-US" sz="1050" dirty="0">
                <a:solidFill>
                  <a:srgbClr val="E6E6E6"/>
                </a:solidFill>
                <a:latin typeface="Courier New" pitchFamily="34" charset="0"/>
                <a:ea typeface="Courier New" pitchFamily="34" charset="-122"/>
                <a:cs typeface="Courier New" pitchFamily="34" charset="-120"/>
              </a:rPr>
              <a:t>};</a:t>
            </a:r>
            <a:endParaRPr lang="en-US" sz="1050" dirty="0"/>
          </a:p>
        </p:txBody>
      </p:sp>
      <p:sp>
        <p:nvSpPr>
          <p:cNvPr id="6" name="Shape 4"/>
          <p:cNvSpPr/>
          <p:nvPr/>
        </p:nvSpPr>
        <p:spPr>
          <a:xfrm>
            <a:off x="6675120" y="1481328"/>
            <a:ext cx="4873752" cy="2788920"/>
          </a:xfrm>
          <a:prstGeom prst="roundRect">
            <a:avLst>
              <a:gd name="adj" fmla="val 1967"/>
            </a:avLst>
          </a:prstGeom>
          <a:solidFill>
            <a:srgbClr val="FBF3DE"/>
          </a:solidFill>
          <a:ln w="15875">
            <a:solidFill>
              <a:srgbClr val="CC9900"/>
            </a:solidFill>
            <a:prstDash val="solid"/>
          </a:ln>
        </p:spPr>
      </p:sp>
      <p:sp>
        <p:nvSpPr>
          <p:cNvPr id="7" name="Text 5"/>
          <p:cNvSpPr/>
          <p:nvPr/>
        </p:nvSpPr>
        <p:spPr>
          <a:xfrm>
            <a:off x="6931152" y="1591056"/>
            <a:ext cx="4389120" cy="329184"/>
          </a:xfrm>
          <a:prstGeom prst="rect">
            <a:avLst/>
          </a:prstGeom>
          <a:noFill/>
          <a:ln/>
        </p:spPr>
        <p:txBody>
          <a:bodyPr wrap="square" lIns="0" tIns="0" rIns="0" bIns="0" rtlCol="0" anchor="ctr"/>
          <a:lstStyle/>
          <a:p>
            <a:pPr marL="0" indent="0">
              <a:buNone/>
            </a:pPr>
            <a:r>
              <a:rPr lang="en-US" sz="1450" b="1" dirty="0">
                <a:solidFill>
                  <a:srgbClr val="00401F"/>
                </a:solidFill>
                <a:latin typeface="Calibri" pitchFamily="34" charset="0"/>
                <a:ea typeface="Calibri" pitchFamily="34" charset="-122"/>
                <a:cs typeface="Calibri" pitchFamily="34" charset="-120"/>
              </a:rPr>
              <a:t>CORS: el bloqueo lo aplica el navegador</a:t>
            </a:r>
            <a:endParaRPr lang="en-US" sz="1450" dirty="0"/>
          </a:p>
        </p:txBody>
      </p:sp>
      <p:sp>
        <p:nvSpPr>
          <p:cNvPr id="8" name="Text 6"/>
          <p:cNvSpPr/>
          <p:nvPr/>
        </p:nvSpPr>
        <p:spPr>
          <a:xfrm>
            <a:off x="6931152" y="1956816"/>
            <a:ext cx="4389120" cy="2194560"/>
          </a:xfrm>
          <a:prstGeom prst="rect">
            <a:avLst/>
          </a:prstGeom>
          <a:noFill/>
          <a:ln/>
        </p:spPr>
        <p:txBody>
          <a:bodyPr wrap="square" lIns="0" tIns="0" rIns="0" bIns="0" rtlCol="0" anchor="t"/>
          <a:lstStyle/>
          <a:p>
            <a:pPr marL="0" indent="0">
              <a:buNone/>
            </a:pPr>
            <a:r>
              <a:rPr lang="en-US" sz="1250" dirty="0">
                <a:solidFill>
                  <a:srgbClr val="2B333C"/>
                </a:solidFill>
                <a:latin typeface="Calibri" pitchFamily="34" charset="0"/>
                <a:ea typeface="Calibri" pitchFamily="34" charset="-122"/>
                <a:cs typeface="Calibri" pitchFamily="34" charset="-120"/>
              </a:rPr>
              <a:t>La petición llega al servidor y se procesa. Lo que el navegador impide es que el código JavaScript LEA la respuesta.</a:t>
            </a:r>
            <a:endParaRPr lang="en-US" sz="1250" dirty="0"/>
          </a:p>
          <a:p>
            <a:pPr marL="0" indent="0">
              <a:buNone/>
            </a:pPr>
            <a:endParaRPr lang="en-US" sz="1250" dirty="0"/>
          </a:p>
          <a:p>
            <a:pPr marL="0" indent="0">
              <a:buNone/>
            </a:pPr>
            <a:r>
              <a:rPr lang="en-US" sz="1250" dirty="0">
                <a:solidFill>
                  <a:srgbClr val="2B333C"/>
                </a:solidFill>
                <a:latin typeface="Calibri" pitchFamily="34" charset="0"/>
                <a:ea typeface="Calibri" pitchFamily="34" charset="-122"/>
                <a:cs typeface="Calibri" pitchFamily="34" charset="-120"/>
              </a:rPr>
              <a:t>En desarrollo: proxy de Angular en proxy.conf.json.</a:t>
            </a:r>
            <a:endParaRPr lang="en-US" sz="1250" dirty="0"/>
          </a:p>
          <a:p>
            <a:pPr marL="0" indent="0">
              <a:buNone/>
            </a:pPr>
            <a:r>
              <a:rPr lang="en-US" sz="1250" dirty="0">
                <a:solidFill>
                  <a:srgbClr val="2B333C"/>
                </a:solidFill>
                <a:latin typeface="Calibri" pitchFamily="34" charset="0"/>
                <a:ea typeface="Calibri" pitchFamily="34" charset="-122"/>
                <a:cs typeface="Calibri" pitchFamily="34" charset="-120"/>
              </a:rPr>
              <a:t>En producción: servir cliente y API desde el mismo origen con Nginx.</a:t>
            </a:r>
            <a:endParaRPr lang="en-US" sz="1250" dirty="0"/>
          </a:p>
        </p:txBody>
      </p:sp>
      <p:sp>
        <p:nvSpPr>
          <p:cNvPr id="9" name="Shape 7"/>
          <p:cNvSpPr/>
          <p:nvPr/>
        </p:nvSpPr>
        <p:spPr>
          <a:xfrm>
            <a:off x="640080" y="4443984"/>
            <a:ext cx="10908792" cy="1298448"/>
          </a:xfrm>
          <a:prstGeom prst="roundRect">
            <a:avLst>
              <a:gd name="adj" fmla="val 4225"/>
            </a:avLst>
          </a:prstGeom>
          <a:solidFill>
            <a:srgbClr val="FBEDED"/>
          </a:solidFill>
          <a:ln w="15875">
            <a:solidFill>
              <a:srgbClr val="A32020"/>
            </a:solidFill>
            <a:prstDash val="solid"/>
          </a:ln>
        </p:spPr>
      </p:sp>
      <p:sp>
        <p:nvSpPr>
          <p:cNvPr id="10" name="Text 8"/>
          <p:cNvSpPr/>
          <p:nvPr/>
        </p:nvSpPr>
        <p:spPr>
          <a:xfrm>
            <a:off x="914400" y="4535424"/>
            <a:ext cx="10360152" cy="310896"/>
          </a:xfrm>
          <a:prstGeom prst="rect">
            <a:avLst/>
          </a:prstGeom>
          <a:noFill/>
          <a:ln/>
        </p:spPr>
        <p:txBody>
          <a:bodyPr wrap="square" lIns="0" tIns="0" rIns="0" bIns="0" rtlCol="0" anchor="ctr"/>
          <a:lstStyle/>
          <a:p>
            <a:pPr marL="0" indent="0">
              <a:buNone/>
            </a:pPr>
            <a:r>
              <a:rPr lang="en-US" sz="1450" b="1" dirty="0">
                <a:solidFill>
                  <a:srgbClr val="A32020"/>
                </a:solidFill>
                <a:latin typeface="Calibri" pitchFamily="34" charset="0"/>
                <a:ea typeface="Calibri" pitchFamily="34" charset="-122"/>
                <a:cs typeface="Calibri" pitchFamily="34" charset="-120"/>
              </a:rPr>
              <a:t>No son soluciones: son defectos de seguridad</a:t>
            </a:r>
            <a:endParaRPr lang="en-US" sz="1450" dirty="0"/>
          </a:p>
        </p:txBody>
      </p:sp>
      <p:sp>
        <p:nvSpPr>
          <p:cNvPr id="11" name="Text 9"/>
          <p:cNvSpPr/>
          <p:nvPr/>
        </p:nvSpPr>
        <p:spPr>
          <a:xfrm>
            <a:off x="914400" y="4901184"/>
            <a:ext cx="10360152" cy="731520"/>
          </a:xfrm>
          <a:prstGeom prst="rect">
            <a:avLst/>
          </a:prstGeom>
          <a:noFill/>
          <a:ln/>
        </p:spPr>
        <p:txBody>
          <a:bodyPr wrap="square" lIns="0" tIns="0" rIns="0" bIns="0" rtlCol="0" anchor="t"/>
          <a:lstStyle/>
          <a:p>
            <a:pPr marL="0" indent="0">
              <a:buNone/>
            </a:pPr>
            <a:r>
              <a:rPr lang="en-US" sz="1300" dirty="0">
                <a:solidFill>
                  <a:srgbClr val="5A2020"/>
                </a:solidFill>
                <a:latin typeface="Calibri" pitchFamily="34" charset="0"/>
                <a:ea typeface="Calibri" pitchFamily="34" charset="-122"/>
                <a:cs typeface="Calibri" pitchFamily="34" charset="-120"/>
              </a:rPr>
              <a:t>Desactivar CORS con una extensión del navegador  ·  permitir cualquier origen con comodín en producción  ·  añadir la cabecera a mano en cada respuesta. Las tres se penalizan en la rúbrica.</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Consumo desde el servidor y resiliencia</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Un servicio externo fallará: la pregunta de diseño es qué hará el sistema entonces</a:t>
            </a:r>
            <a:endParaRPr lang="en-US" sz="1400" dirty="0"/>
          </a:p>
        </p:txBody>
      </p:sp>
      <p:sp>
        <p:nvSpPr>
          <p:cNvPr id="4" name="Shape 2"/>
          <p:cNvSpPr/>
          <p:nvPr/>
        </p:nvSpPr>
        <p:spPr>
          <a:xfrm>
            <a:off x="640080" y="1463040"/>
            <a:ext cx="5349240" cy="1463040"/>
          </a:xfrm>
          <a:prstGeom prst="roundRect">
            <a:avLst>
              <a:gd name="adj" fmla="val 2500"/>
            </a:avLst>
          </a:prstGeom>
          <a:solidFill>
            <a:srgbClr val="23272E"/>
          </a:solidFill>
          <a:ln w="12700">
            <a:solidFill>
              <a:srgbClr val="23272E"/>
            </a:solidFill>
            <a:prstDash val="solid"/>
          </a:ln>
        </p:spPr>
      </p:sp>
      <p:sp>
        <p:nvSpPr>
          <p:cNvPr id="5" name="Text 3"/>
          <p:cNvSpPr/>
          <p:nvPr/>
        </p:nvSpPr>
        <p:spPr>
          <a:xfrm>
            <a:off x="841248" y="1609344"/>
            <a:ext cx="4946904" cy="1170432"/>
          </a:xfrm>
          <a:prstGeom prst="rect">
            <a:avLst/>
          </a:prstGeom>
          <a:noFill/>
          <a:ln/>
        </p:spPr>
        <p:txBody>
          <a:bodyPr wrap="square" lIns="0" tIns="0" rIns="0" bIns="0" rtlCol="0" anchor="t"/>
          <a:lstStyle/>
          <a:p>
            <a:pPr marL="0" indent="0" algn="l">
              <a:buNone/>
            </a:pPr>
            <a:r>
              <a:rPr lang="en-US" sz="1200" dirty="0">
                <a:solidFill>
                  <a:srgbClr val="E6E6E6"/>
                </a:solidFill>
                <a:latin typeface="Courier New" pitchFamily="34" charset="0"/>
                <a:ea typeface="Courier New" pitchFamily="34" charset="-122"/>
                <a:cs typeface="Courier New" pitchFamily="34" charset="-120"/>
              </a:rPr>
              <a:t># application.yml</a:t>
            </a:r>
            <a:endParaRPr lang="en-US" sz="1200" dirty="0"/>
          </a:p>
          <a:p>
            <a:pPr marL="0" indent="0" algn="l">
              <a:buNone/>
            </a:pPr>
            <a:r>
              <a:rPr lang="en-US" sz="1200" dirty="0">
                <a:solidFill>
                  <a:srgbClr val="E6E6E6"/>
                </a:solidFill>
                <a:latin typeface="Courier New" pitchFamily="34" charset="0"/>
                <a:ea typeface="Courier New" pitchFamily="34" charset="-122"/>
                <a:cs typeface="Courier New" pitchFamily="34" charset="-120"/>
              </a:rPr>
              <a:t>spring:</a:t>
            </a:r>
            <a:endParaRPr lang="en-US" sz="1200" dirty="0"/>
          </a:p>
          <a:p>
            <a:pPr marL="0" indent="0" algn="l">
              <a:buNone/>
            </a:pPr>
            <a:r>
              <a:rPr lang="en-US" sz="1200" dirty="0">
                <a:solidFill>
                  <a:srgbClr val="E6E6E6"/>
                </a:solidFill>
                <a:latin typeface="Courier New" pitchFamily="34" charset="0"/>
                <a:ea typeface="Courier New" pitchFamily="34" charset="-122"/>
                <a:cs typeface="Courier New" pitchFamily="34" charset="-120"/>
              </a:rPr>
              <a:t>  http:</a:t>
            </a:r>
            <a:endParaRPr lang="en-US" sz="1200" dirty="0"/>
          </a:p>
          <a:p>
            <a:pPr marL="0" indent="0" algn="l">
              <a:buNone/>
            </a:pPr>
            <a:r>
              <a:rPr lang="en-US" sz="1200" dirty="0">
                <a:solidFill>
                  <a:srgbClr val="E6E6E6"/>
                </a:solidFill>
                <a:latin typeface="Courier New" pitchFamily="34" charset="0"/>
                <a:ea typeface="Courier New" pitchFamily="34" charset="-122"/>
                <a:cs typeface="Courier New" pitchFamily="34" charset="-120"/>
              </a:rPr>
              <a:t>    client:</a:t>
            </a:r>
            <a:endParaRPr lang="en-US" sz="1200" dirty="0"/>
          </a:p>
          <a:p>
            <a:pPr marL="0" indent="0" algn="l">
              <a:buNone/>
            </a:pPr>
            <a:r>
              <a:rPr lang="en-US" sz="1200" dirty="0">
                <a:solidFill>
                  <a:srgbClr val="E6E6E6"/>
                </a:solidFill>
                <a:latin typeface="Courier New" pitchFamily="34" charset="0"/>
                <a:ea typeface="Courier New" pitchFamily="34" charset="-122"/>
                <a:cs typeface="Courier New" pitchFamily="34" charset="-120"/>
              </a:rPr>
              <a:t>      connect-timeout: 3s</a:t>
            </a:r>
            <a:endParaRPr lang="en-US" sz="1200" dirty="0"/>
          </a:p>
          <a:p>
            <a:pPr marL="0" indent="0" algn="l">
              <a:buNone/>
            </a:pPr>
            <a:r>
              <a:rPr lang="en-US" sz="1200" dirty="0">
                <a:solidFill>
                  <a:srgbClr val="E6E6E6"/>
                </a:solidFill>
                <a:latin typeface="Courier New" pitchFamily="34" charset="0"/>
                <a:ea typeface="Courier New" pitchFamily="34" charset="-122"/>
                <a:cs typeface="Courier New" pitchFamily="34" charset="-120"/>
              </a:rPr>
              <a:t>      read-timeout: 5s</a:t>
            </a:r>
            <a:endParaRPr lang="en-US" sz="1200" dirty="0"/>
          </a:p>
        </p:txBody>
      </p:sp>
      <p:sp>
        <p:nvSpPr>
          <p:cNvPr id="6" name="Shape 4"/>
          <p:cNvSpPr/>
          <p:nvPr/>
        </p:nvSpPr>
        <p:spPr>
          <a:xfrm>
            <a:off x="640080" y="3054096"/>
            <a:ext cx="5349240" cy="1371600"/>
          </a:xfrm>
          <a:prstGeom prst="roundRect">
            <a:avLst>
              <a:gd name="adj" fmla="val 3333"/>
            </a:avLst>
          </a:prstGeom>
          <a:solidFill>
            <a:srgbClr val="FBEDED"/>
          </a:solidFill>
          <a:ln w="15875">
            <a:solidFill>
              <a:srgbClr val="A32020"/>
            </a:solidFill>
            <a:prstDash val="solid"/>
          </a:ln>
        </p:spPr>
      </p:sp>
      <p:sp>
        <p:nvSpPr>
          <p:cNvPr id="7" name="Text 5"/>
          <p:cNvSpPr/>
          <p:nvPr/>
        </p:nvSpPr>
        <p:spPr>
          <a:xfrm>
            <a:off x="877824" y="3145536"/>
            <a:ext cx="4892040" cy="292608"/>
          </a:xfrm>
          <a:prstGeom prst="rect">
            <a:avLst/>
          </a:prstGeom>
          <a:noFill/>
          <a:ln/>
        </p:spPr>
        <p:txBody>
          <a:bodyPr wrap="square" lIns="0" tIns="0" rIns="0" bIns="0" rtlCol="0" anchor="ctr"/>
          <a:lstStyle/>
          <a:p>
            <a:pPr marL="0" indent="0">
              <a:buNone/>
            </a:pPr>
            <a:r>
              <a:rPr lang="en-US" sz="1350" b="1" dirty="0">
                <a:solidFill>
                  <a:srgbClr val="A32020"/>
                </a:solidFill>
                <a:latin typeface="Calibri" pitchFamily="34" charset="0"/>
                <a:ea typeface="Calibri" pitchFamily="34" charset="-122"/>
                <a:cs typeface="Calibri" pitchFamily="34" charset="-120"/>
              </a:rPr>
              <a:t>Sin tiempos límite</a:t>
            </a:r>
            <a:endParaRPr lang="en-US" sz="1350" dirty="0"/>
          </a:p>
        </p:txBody>
      </p:sp>
      <p:sp>
        <p:nvSpPr>
          <p:cNvPr id="8" name="Text 6"/>
          <p:cNvSpPr/>
          <p:nvPr/>
        </p:nvSpPr>
        <p:spPr>
          <a:xfrm>
            <a:off x="877824" y="3474720"/>
            <a:ext cx="4892040" cy="877824"/>
          </a:xfrm>
          <a:prstGeom prst="rect">
            <a:avLst/>
          </a:prstGeom>
          <a:noFill/>
          <a:ln/>
        </p:spPr>
        <p:txBody>
          <a:bodyPr wrap="square" lIns="0" tIns="0" rIns="0" bIns="0" rtlCol="0" anchor="t"/>
          <a:lstStyle/>
          <a:p>
            <a:pPr marL="0" indent="0">
              <a:buNone/>
            </a:pPr>
            <a:r>
              <a:rPr lang="en-US" sz="1250" dirty="0">
                <a:solidFill>
                  <a:srgbClr val="5A2020"/>
                </a:solidFill>
                <a:latin typeface="Calibri" pitchFamily="34" charset="0"/>
                <a:ea typeface="Calibri" pitchFamily="34" charset="-122"/>
                <a:cs typeface="Calibri" pitchFamily="34" charset="-120"/>
              </a:rPr>
              <a:t>Si el servicio remoto deja de responder sin cerrar la conexión, cada petición retiene un hilo hasta agotar el conjunto. La aplicación deja de atender incluso lo que no depende de ese servicio.</a:t>
            </a:r>
            <a:endParaRPr lang="en-US" sz="1250" dirty="0"/>
          </a:p>
        </p:txBody>
      </p:sp>
      <p:sp>
        <p:nvSpPr>
          <p:cNvPr id="9" name="Shape 7"/>
          <p:cNvSpPr/>
          <p:nvPr/>
        </p:nvSpPr>
        <p:spPr>
          <a:xfrm>
            <a:off x="6199632" y="1463040"/>
            <a:ext cx="5349240" cy="1371600"/>
          </a:xfrm>
          <a:prstGeom prst="roundRect">
            <a:avLst>
              <a:gd name="adj" fmla="val 4000"/>
            </a:avLst>
          </a:prstGeom>
          <a:solidFill>
            <a:srgbClr val="EEF4F0"/>
          </a:solidFill>
          <a:ln w="12700">
            <a:solidFill>
              <a:srgbClr val="EEF4F0"/>
            </a:solidFill>
            <a:prstDash val="solid"/>
          </a:ln>
        </p:spPr>
      </p:sp>
      <p:sp>
        <p:nvSpPr>
          <p:cNvPr id="10" name="Shape 8"/>
          <p:cNvSpPr/>
          <p:nvPr/>
        </p:nvSpPr>
        <p:spPr>
          <a:xfrm>
            <a:off x="6400800" y="1664208"/>
            <a:ext cx="457200" cy="457200"/>
          </a:xfrm>
          <a:prstGeom prst="ellipse">
            <a:avLst/>
          </a:prstGeom>
          <a:solidFill>
            <a:srgbClr val="006633"/>
          </a:solidFill>
          <a:ln/>
        </p:spPr>
      </p:sp>
      <p:sp>
        <p:nvSpPr>
          <p:cNvPr id="11" name="Text 9"/>
          <p:cNvSpPr/>
          <p:nvPr/>
        </p:nvSpPr>
        <p:spPr>
          <a:xfrm>
            <a:off x="6400800" y="16642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6949440" y="1664208"/>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Tiempo límite</a:t>
            </a:r>
            <a:endParaRPr lang="en-US" sz="1500" dirty="0"/>
          </a:p>
        </p:txBody>
      </p:sp>
      <p:sp>
        <p:nvSpPr>
          <p:cNvPr id="13" name="Text 11"/>
          <p:cNvSpPr/>
          <p:nvPr/>
        </p:nvSpPr>
        <p:spPr>
          <a:xfrm>
            <a:off x="6419088" y="2212848"/>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Cuánto se espera antes de abandonar. El mecanismo más barato y el más olvidado.</a:t>
            </a:r>
            <a:endParaRPr lang="en-US" sz="1250" dirty="0"/>
          </a:p>
        </p:txBody>
      </p:sp>
      <p:sp>
        <p:nvSpPr>
          <p:cNvPr id="14" name="Shape 12"/>
          <p:cNvSpPr/>
          <p:nvPr/>
        </p:nvSpPr>
        <p:spPr>
          <a:xfrm>
            <a:off x="6199632" y="2980944"/>
            <a:ext cx="5349240" cy="1371600"/>
          </a:xfrm>
          <a:prstGeom prst="roundRect">
            <a:avLst>
              <a:gd name="adj" fmla="val 4000"/>
            </a:avLst>
          </a:prstGeom>
          <a:solidFill>
            <a:srgbClr val="EEF4F0"/>
          </a:solidFill>
          <a:ln w="12700">
            <a:solidFill>
              <a:srgbClr val="EEF4F0"/>
            </a:solidFill>
            <a:prstDash val="solid"/>
          </a:ln>
        </p:spPr>
      </p:sp>
      <p:sp>
        <p:nvSpPr>
          <p:cNvPr id="15" name="Shape 13"/>
          <p:cNvSpPr/>
          <p:nvPr/>
        </p:nvSpPr>
        <p:spPr>
          <a:xfrm>
            <a:off x="6400800" y="3182112"/>
            <a:ext cx="457200" cy="457200"/>
          </a:xfrm>
          <a:prstGeom prst="ellipse">
            <a:avLst/>
          </a:prstGeom>
          <a:solidFill>
            <a:srgbClr val="006633"/>
          </a:solidFill>
          <a:ln/>
        </p:spPr>
      </p:sp>
      <p:sp>
        <p:nvSpPr>
          <p:cNvPr id="16" name="Text 14"/>
          <p:cNvSpPr/>
          <p:nvPr/>
        </p:nvSpPr>
        <p:spPr>
          <a:xfrm>
            <a:off x="6400800" y="31821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6949440" y="318211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Reintento con espera creciente</a:t>
            </a:r>
            <a:endParaRPr lang="en-US" sz="1500" dirty="0"/>
          </a:p>
        </p:txBody>
      </p:sp>
      <p:sp>
        <p:nvSpPr>
          <p:cNvPr id="18" name="Text 16"/>
          <p:cNvSpPr/>
          <p:nvPr/>
        </p:nvSpPr>
        <p:spPr>
          <a:xfrm>
            <a:off x="6419088" y="3730752"/>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Solo para operaciones idempotentes. Reintentar un POST puede duplicar un cobro.</a:t>
            </a:r>
            <a:endParaRPr lang="en-US" sz="1250" dirty="0"/>
          </a:p>
        </p:txBody>
      </p:sp>
      <p:sp>
        <p:nvSpPr>
          <p:cNvPr id="19" name="Shape 17"/>
          <p:cNvSpPr/>
          <p:nvPr/>
        </p:nvSpPr>
        <p:spPr>
          <a:xfrm>
            <a:off x="6199632" y="4498848"/>
            <a:ext cx="5349240" cy="1371600"/>
          </a:xfrm>
          <a:prstGeom prst="roundRect">
            <a:avLst>
              <a:gd name="adj" fmla="val 4000"/>
            </a:avLst>
          </a:prstGeom>
          <a:solidFill>
            <a:srgbClr val="FBF3DE"/>
          </a:solidFill>
          <a:ln w="12700">
            <a:solidFill>
              <a:srgbClr val="FBF3DE"/>
            </a:solidFill>
            <a:prstDash val="solid"/>
          </a:ln>
        </p:spPr>
      </p:sp>
      <p:sp>
        <p:nvSpPr>
          <p:cNvPr id="20" name="Shape 18"/>
          <p:cNvSpPr/>
          <p:nvPr/>
        </p:nvSpPr>
        <p:spPr>
          <a:xfrm>
            <a:off x="6400800" y="4700016"/>
            <a:ext cx="457200" cy="457200"/>
          </a:xfrm>
          <a:prstGeom prst="ellipse">
            <a:avLst/>
          </a:prstGeom>
          <a:solidFill>
            <a:srgbClr val="CC9900"/>
          </a:solidFill>
          <a:ln/>
        </p:spPr>
      </p:sp>
      <p:sp>
        <p:nvSpPr>
          <p:cNvPr id="21" name="Text 19"/>
          <p:cNvSpPr/>
          <p:nvPr/>
        </p:nvSpPr>
        <p:spPr>
          <a:xfrm>
            <a:off x="6400800" y="470001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6949440" y="4700016"/>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Cortacircuitos y respuesta alternativa</a:t>
            </a:r>
            <a:endParaRPr lang="en-US" sz="1500" dirty="0"/>
          </a:p>
        </p:txBody>
      </p:sp>
      <p:sp>
        <p:nvSpPr>
          <p:cNvPr id="23" name="Text 21"/>
          <p:cNvSpPr/>
          <p:nvPr/>
        </p:nvSpPr>
        <p:spPr>
          <a:xfrm>
            <a:off x="6419088" y="5248656"/>
            <a:ext cx="4910328" cy="43891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Tras varios fallos deja de intentar; entretanto devuelve dato en caché o mensaje explicativo.</a:t>
            </a:r>
            <a:endParaRPr lang="en-US" sz="1250" dirty="0"/>
          </a:p>
        </p:txBody>
      </p:sp>
      <p:sp>
        <p:nvSpPr>
          <p:cNvPr id="24" name="Shape 22"/>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25" name="Text 23"/>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Antes de programar un reintento, verifique el verbo: GET, PUT y DELETE lo admiten; POST y PATCH no, salvo clave de idempotencia.</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Proyecto integrador final: BiblioUTEQ v1.0.0</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40 a 50 horas en equipo · la etiqueta del repositorio es la única fuente de verdad</a:t>
            </a:r>
            <a:endParaRPr lang="en-US" sz="1400" dirty="0"/>
          </a:p>
        </p:txBody>
      </p:sp>
      <p:sp>
        <p:nvSpPr>
          <p:cNvPr id="4" name="Text 2"/>
          <p:cNvSpPr/>
          <p:nvPr/>
        </p:nvSpPr>
        <p:spPr>
          <a:xfrm>
            <a:off x="640080" y="1188720"/>
            <a:ext cx="5349240" cy="27432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Alcance funcional mínimo</a:t>
            </a:r>
            <a:endParaRPr lang="en-US" sz="1350" dirty="0"/>
          </a:p>
        </p:txBody>
      </p:sp>
      <p:sp>
        <p:nvSpPr>
          <p:cNvPr id="5" name="Text 3"/>
          <p:cNvSpPr/>
          <p:nvPr/>
        </p:nvSpPr>
        <p:spPr>
          <a:xfrm>
            <a:off x="640080" y="1481328"/>
            <a:ext cx="5349240" cy="228600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Catálogo: libros, ejemplares y categorías</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Usuarios con roles diferenciados</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Circulación: préstamo, renovación, devolución</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Reservas con notificación al liberarse</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Multas: cálculo, consulta y pago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Tablero con cuatro indicadores agregados</a:t>
            </a:r>
            <a:endParaRPr lang="en-US" sz="1300" dirty="0"/>
          </a:p>
        </p:txBody>
      </p:sp>
      <p:sp>
        <p:nvSpPr>
          <p:cNvPr id="6" name="Text 4"/>
          <p:cNvSpPr/>
          <p:nvPr/>
        </p:nvSpPr>
        <p:spPr>
          <a:xfrm>
            <a:off x="6199632" y="1188720"/>
            <a:ext cx="5349240" cy="274320"/>
          </a:xfrm>
          <a:prstGeom prst="rect">
            <a:avLst/>
          </a:prstGeom>
          <a:noFill/>
          <a:ln/>
        </p:spPr>
        <p:txBody>
          <a:bodyPr wrap="square" lIns="0" tIns="0" rIns="0" bIns="0" rtlCol="0" anchor="ctr"/>
          <a:lstStyle/>
          <a:p>
            <a:pPr marL="0" indent="0">
              <a:buNone/>
            </a:pPr>
            <a:r>
              <a:rPr lang="en-US" sz="1350" b="1" dirty="0">
                <a:solidFill>
                  <a:srgbClr val="CC9900"/>
                </a:solidFill>
                <a:latin typeface="Calibri" pitchFamily="34" charset="0"/>
                <a:ea typeface="Calibri" pitchFamily="34" charset="-122"/>
                <a:cs typeface="Calibri" pitchFamily="34" charset="-120"/>
              </a:rPr>
              <a:t>Requisitos arquitectónicos</a:t>
            </a:r>
            <a:endParaRPr lang="en-US" sz="1350" dirty="0"/>
          </a:p>
        </p:txBody>
      </p:sp>
      <p:sp>
        <p:nvSpPr>
          <p:cNvPr id="7" name="Text 5"/>
          <p:cNvSpPr/>
          <p:nvPr/>
        </p:nvSpPr>
        <p:spPr>
          <a:xfrm>
            <a:off x="6199632" y="1481328"/>
            <a:ext cx="5349240" cy="228600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API REST nivel 2 en todos los recursos</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Cliente Angular sin acceso directo a la base</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Módulo administrativo MVC con Thymeleaf</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JWT con autorización verificada en servidor</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Errores RFC 9457 sin excepción</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Docker Compose con imágenes fijadas por SHA-256</a:t>
            </a:r>
            <a:endParaRPr lang="en-US" sz="1300" dirty="0"/>
          </a:p>
        </p:txBody>
      </p:sp>
      <p:sp>
        <p:nvSpPr>
          <p:cNvPr id="8" name="Shape 6"/>
          <p:cNvSpPr/>
          <p:nvPr/>
        </p:nvSpPr>
        <p:spPr>
          <a:xfrm>
            <a:off x="640080" y="3968496"/>
            <a:ext cx="2606040" cy="1188720"/>
          </a:xfrm>
          <a:prstGeom prst="roundRect">
            <a:avLst>
              <a:gd name="adj" fmla="val 3846"/>
            </a:avLst>
          </a:prstGeom>
          <a:solidFill>
            <a:srgbClr val="EEF4F0"/>
          </a:solidFill>
          <a:ln w="12700">
            <a:solidFill>
              <a:srgbClr val="006633"/>
            </a:solidFill>
            <a:prstDash val="solid"/>
          </a:ln>
        </p:spPr>
      </p:sp>
      <p:sp>
        <p:nvSpPr>
          <p:cNvPr id="9" name="Text 7"/>
          <p:cNvSpPr/>
          <p:nvPr/>
        </p:nvSpPr>
        <p:spPr>
          <a:xfrm>
            <a:off x="804672" y="4059936"/>
            <a:ext cx="2276856" cy="548640"/>
          </a:xfrm>
          <a:prstGeom prst="rect">
            <a:avLst/>
          </a:prstGeom>
          <a:noFill/>
          <a:ln/>
        </p:spPr>
        <p:txBody>
          <a:bodyPr wrap="square" lIns="0" tIns="0" rIns="0" bIns="0" rtlCol="0" anchor="ctr"/>
          <a:lstStyle/>
          <a:p>
            <a:pPr marL="0" indent="0" algn="ctr">
              <a:buNone/>
            </a:pPr>
            <a:r>
              <a:rPr lang="en-US" sz="3000" b="1" dirty="0">
                <a:solidFill>
                  <a:srgbClr val="006633"/>
                </a:solidFill>
                <a:latin typeface="Cambria" pitchFamily="34" charset="0"/>
                <a:ea typeface="Cambria" pitchFamily="34" charset="-122"/>
                <a:cs typeface="Cambria" pitchFamily="34" charset="-120"/>
              </a:rPr>
              <a:t>70 %</a:t>
            </a:r>
            <a:endParaRPr lang="en-US" sz="3000" dirty="0"/>
          </a:p>
        </p:txBody>
      </p:sp>
      <p:sp>
        <p:nvSpPr>
          <p:cNvPr id="10" name="Text 8"/>
          <p:cNvSpPr/>
          <p:nvPr/>
        </p:nvSpPr>
        <p:spPr>
          <a:xfrm>
            <a:off x="804672" y="4572000"/>
            <a:ext cx="2276856" cy="475488"/>
          </a:xfrm>
          <a:prstGeom prst="rect">
            <a:avLst/>
          </a:prstGeom>
          <a:noFill/>
          <a:ln/>
        </p:spPr>
        <p:txBody>
          <a:bodyPr wrap="square" lIns="0" tIns="0" rIns="0" bIns="0" rtlCol="0" anchor="t"/>
          <a:lstStyle/>
          <a:p>
            <a:pPr marL="0" indent="0" algn="ctr">
              <a:buNone/>
            </a:pPr>
            <a:r>
              <a:rPr lang="en-US" sz="1150" dirty="0">
                <a:solidFill>
                  <a:srgbClr val="5A6472"/>
                </a:solidFill>
                <a:latin typeface="Calibri" pitchFamily="34" charset="0"/>
                <a:ea typeface="Calibri" pitchFamily="34" charset="-122"/>
                <a:cs typeface="Calibri" pitchFamily="34" charset="-120"/>
              </a:rPr>
              <a:t>cobertura mínima</a:t>
            </a:r>
            <a:endParaRPr lang="en-US" sz="1150" dirty="0"/>
          </a:p>
          <a:p>
            <a:pPr marL="0" indent="0" algn="ctr">
              <a:buNone/>
            </a:pPr>
            <a:r>
              <a:rPr lang="en-US" sz="1150" dirty="0">
                <a:solidFill>
                  <a:srgbClr val="5A6472"/>
                </a:solidFill>
                <a:latin typeface="Calibri" pitchFamily="34" charset="0"/>
                <a:ea typeface="Calibri" pitchFamily="34" charset="-122"/>
                <a:cs typeface="Calibri" pitchFamily="34" charset="-120"/>
              </a:rPr>
              <a:t>en servicios</a:t>
            </a:r>
            <a:endParaRPr lang="en-US" sz="1150" dirty="0"/>
          </a:p>
        </p:txBody>
      </p:sp>
      <p:sp>
        <p:nvSpPr>
          <p:cNvPr id="11" name="Shape 9"/>
          <p:cNvSpPr/>
          <p:nvPr/>
        </p:nvSpPr>
        <p:spPr>
          <a:xfrm>
            <a:off x="3419856" y="3968496"/>
            <a:ext cx="2606040" cy="1188720"/>
          </a:xfrm>
          <a:prstGeom prst="roundRect">
            <a:avLst>
              <a:gd name="adj" fmla="val 3846"/>
            </a:avLst>
          </a:prstGeom>
          <a:solidFill>
            <a:srgbClr val="EEF4F0"/>
          </a:solidFill>
          <a:ln w="12700">
            <a:solidFill>
              <a:srgbClr val="006633"/>
            </a:solidFill>
            <a:prstDash val="solid"/>
          </a:ln>
        </p:spPr>
      </p:sp>
      <p:sp>
        <p:nvSpPr>
          <p:cNvPr id="12" name="Text 10"/>
          <p:cNvSpPr/>
          <p:nvPr/>
        </p:nvSpPr>
        <p:spPr>
          <a:xfrm>
            <a:off x="3584448" y="4059936"/>
            <a:ext cx="2276856" cy="548640"/>
          </a:xfrm>
          <a:prstGeom prst="rect">
            <a:avLst/>
          </a:prstGeom>
          <a:noFill/>
          <a:ln/>
        </p:spPr>
        <p:txBody>
          <a:bodyPr wrap="square" lIns="0" tIns="0" rIns="0" bIns="0" rtlCol="0" anchor="ctr"/>
          <a:lstStyle/>
          <a:p>
            <a:pPr marL="0" indent="0" algn="ctr">
              <a:buNone/>
            </a:pPr>
            <a:r>
              <a:rPr lang="en-US" sz="3000" b="1" dirty="0">
                <a:solidFill>
                  <a:srgbClr val="006633"/>
                </a:solidFill>
                <a:latin typeface="Cambria" pitchFamily="34" charset="0"/>
                <a:ea typeface="Cambria" pitchFamily="34" charset="-122"/>
                <a:cs typeface="Cambria" pitchFamily="34" charset="-120"/>
              </a:rPr>
              <a:t>15</a:t>
            </a:r>
            <a:endParaRPr lang="en-US" sz="3000" dirty="0"/>
          </a:p>
        </p:txBody>
      </p:sp>
      <p:sp>
        <p:nvSpPr>
          <p:cNvPr id="13" name="Text 11"/>
          <p:cNvSpPr/>
          <p:nvPr/>
        </p:nvSpPr>
        <p:spPr>
          <a:xfrm>
            <a:off x="3584448" y="4572000"/>
            <a:ext cx="2276856" cy="475488"/>
          </a:xfrm>
          <a:prstGeom prst="rect">
            <a:avLst/>
          </a:prstGeom>
          <a:noFill/>
          <a:ln/>
        </p:spPr>
        <p:txBody>
          <a:bodyPr wrap="square" lIns="0" tIns="0" rIns="0" bIns="0" rtlCol="0" anchor="t"/>
          <a:lstStyle/>
          <a:p>
            <a:pPr marL="0" indent="0" algn="ctr">
              <a:buNone/>
            </a:pPr>
            <a:r>
              <a:rPr lang="en-US" sz="1150" dirty="0">
                <a:solidFill>
                  <a:srgbClr val="5A6472"/>
                </a:solidFill>
                <a:latin typeface="Calibri" pitchFamily="34" charset="0"/>
                <a:ea typeface="Calibri" pitchFamily="34" charset="-122"/>
                <a:cs typeface="Calibri" pitchFamily="34" charset="-120"/>
              </a:rPr>
              <a:t>pruebas de</a:t>
            </a:r>
            <a:endParaRPr lang="en-US" sz="1150" dirty="0"/>
          </a:p>
          <a:p>
            <a:pPr marL="0" indent="0" algn="ctr">
              <a:buNone/>
            </a:pPr>
            <a:r>
              <a:rPr lang="en-US" sz="1150" dirty="0">
                <a:solidFill>
                  <a:srgbClr val="5A6472"/>
                </a:solidFill>
                <a:latin typeface="Calibri" pitchFamily="34" charset="0"/>
                <a:ea typeface="Calibri" pitchFamily="34" charset="-122"/>
                <a:cs typeface="Calibri" pitchFamily="34" charset="-120"/>
              </a:rPr>
              <a:t>integración REST</a:t>
            </a:r>
            <a:endParaRPr lang="en-US" sz="1150" dirty="0"/>
          </a:p>
        </p:txBody>
      </p:sp>
      <p:sp>
        <p:nvSpPr>
          <p:cNvPr id="14" name="Shape 12"/>
          <p:cNvSpPr/>
          <p:nvPr/>
        </p:nvSpPr>
        <p:spPr>
          <a:xfrm>
            <a:off x="6199632" y="3968496"/>
            <a:ext cx="2606040" cy="1188720"/>
          </a:xfrm>
          <a:prstGeom prst="roundRect">
            <a:avLst>
              <a:gd name="adj" fmla="val 3846"/>
            </a:avLst>
          </a:prstGeom>
          <a:solidFill>
            <a:srgbClr val="EEF4F0"/>
          </a:solidFill>
          <a:ln w="12700">
            <a:solidFill>
              <a:srgbClr val="006633"/>
            </a:solidFill>
            <a:prstDash val="solid"/>
          </a:ln>
        </p:spPr>
      </p:sp>
      <p:sp>
        <p:nvSpPr>
          <p:cNvPr id="15" name="Text 13"/>
          <p:cNvSpPr/>
          <p:nvPr/>
        </p:nvSpPr>
        <p:spPr>
          <a:xfrm>
            <a:off x="6364224" y="4059936"/>
            <a:ext cx="2276856" cy="548640"/>
          </a:xfrm>
          <a:prstGeom prst="rect">
            <a:avLst/>
          </a:prstGeom>
          <a:noFill/>
          <a:ln/>
        </p:spPr>
        <p:txBody>
          <a:bodyPr wrap="square" lIns="0" tIns="0" rIns="0" bIns="0" rtlCol="0" anchor="ctr"/>
          <a:lstStyle/>
          <a:p>
            <a:pPr marL="0" indent="0" algn="ctr">
              <a:buNone/>
            </a:pPr>
            <a:r>
              <a:rPr lang="en-US" sz="3000" b="1" dirty="0">
                <a:solidFill>
                  <a:srgbClr val="006633"/>
                </a:solidFill>
                <a:latin typeface="Cambria" pitchFamily="34" charset="0"/>
                <a:ea typeface="Cambria" pitchFamily="34" charset="-122"/>
                <a:cs typeface="Cambria" pitchFamily="34" charset="-120"/>
              </a:rPr>
              <a:t>6</a:t>
            </a:r>
            <a:endParaRPr lang="en-US" sz="3000" dirty="0"/>
          </a:p>
        </p:txBody>
      </p:sp>
      <p:sp>
        <p:nvSpPr>
          <p:cNvPr id="16" name="Text 14"/>
          <p:cNvSpPr/>
          <p:nvPr/>
        </p:nvSpPr>
        <p:spPr>
          <a:xfrm>
            <a:off x="6364224" y="4572000"/>
            <a:ext cx="2276856" cy="475488"/>
          </a:xfrm>
          <a:prstGeom prst="rect">
            <a:avLst/>
          </a:prstGeom>
          <a:noFill/>
          <a:ln/>
        </p:spPr>
        <p:txBody>
          <a:bodyPr wrap="square" lIns="0" tIns="0" rIns="0" bIns="0" rtlCol="0" anchor="t"/>
          <a:lstStyle/>
          <a:p>
            <a:pPr marL="0" indent="0" algn="ctr">
              <a:buNone/>
            </a:pPr>
            <a:r>
              <a:rPr lang="en-US" sz="1150" dirty="0">
                <a:solidFill>
                  <a:srgbClr val="5A6472"/>
                </a:solidFill>
                <a:latin typeface="Calibri" pitchFamily="34" charset="0"/>
                <a:ea typeface="Calibri" pitchFamily="34" charset="-122"/>
                <a:cs typeface="Calibri" pitchFamily="34" charset="-120"/>
              </a:rPr>
              <a:t>ADR mínimos</a:t>
            </a:r>
            <a:endParaRPr lang="en-US" sz="1150" dirty="0"/>
          </a:p>
          <a:p>
            <a:pPr marL="0" indent="0" algn="ctr">
              <a:buNone/>
            </a:pPr>
            <a:r>
              <a:rPr lang="en-US" sz="1150" dirty="0">
                <a:solidFill>
                  <a:srgbClr val="5A6472"/>
                </a:solidFill>
                <a:latin typeface="Calibri" pitchFamily="34" charset="0"/>
                <a:ea typeface="Calibri" pitchFamily="34" charset="-122"/>
                <a:cs typeface="Calibri" pitchFamily="34" charset="-120"/>
              </a:rPr>
              <a:t>documentados</a:t>
            </a:r>
            <a:endParaRPr lang="en-US" sz="1150" dirty="0"/>
          </a:p>
        </p:txBody>
      </p:sp>
      <p:sp>
        <p:nvSpPr>
          <p:cNvPr id="17" name="Shape 15"/>
          <p:cNvSpPr/>
          <p:nvPr/>
        </p:nvSpPr>
        <p:spPr>
          <a:xfrm>
            <a:off x="8979408" y="3968496"/>
            <a:ext cx="2606040" cy="1188720"/>
          </a:xfrm>
          <a:prstGeom prst="roundRect">
            <a:avLst>
              <a:gd name="adj" fmla="val 3846"/>
            </a:avLst>
          </a:prstGeom>
          <a:solidFill>
            <a:srgbClr val="EEF4F0"/>
          </a:solidFill>
          <a:ln w="12700">
            <a:solidFill>
              <a:srgbClr val="006633"/>
            </a:solidFill>
            <a:prstDash val="solid"/>
          </a:ln>
        </p:spPr>
      </p:sp>
      <p:sp>
        <p:nvSpPr>
          <p:cNvPr id="18" name="Text 16"/>
          <p:cNvSpPr/>
          <p:nvPr/>
        </p:nvSpPr>
        <p:spPr>
          <a:xfrm>
            <a:off x="9144000" y="4059936"/>
            <a:ext cx="2276856" cy="548640"/>
          </a:xfrm>
          <a:prstGeom prst="rect">
            <a:avLst/>
          </a:prstGeom>
          <a:noFill/>
          <a:ln/>
        </p:spPr>
        <p:txBody>
          <a:bodyPr wrap="square" lIns="0" tIns="0" rIns="0" bIns="0" rtlCol="0" anchor="ctr"/>
          <a:lstStyle/>
          <a:p>
            <a:pPr marL="0" indent="0" algn="ctr">
              <a:buNone/>
            </a:pPr>
            <a:r>
              <a:rPr lang="en-US" sz="3000" b="1" dirty="0">
                <a:solidFill>
                  <a:srgbClr val="006633"/>
                </a:solidFill>
                <a:latin typeface="Cambria" pitchFamily="34" charset="0"/>
                <a:ea typeface="Cambria" pitchFamily="34" charset="-122"/>
                <a:cs typeface="Cambria" pitchFamily="34" charset="-120"/>
              </a:rPr>
              <a:t>15</a:t>
            </a:r>
            <a:endParaRPr lang="en-US" sz="3000" dirty="0"/>
          </a:p>
        </p:txBody>
      </p:sp>
      <p:sp>
        <p:nvSpPr>
          <p:cNvPr id="19" name="Text 17"/>
          <p:cNvSpPr/>
          <p:nvPr/>
        </p:nvSpPr>
        <p:spPr>
          <a:xfrm>
            <a:off x="9144000" y="4572000"/>
            <a:ext cx="2276856" cy="475488"/>
          </a:xfrm>
          <a:prstGeom prst="rect">
            <a:avLst/>
          </a:prstGeom>
          <a:noFill/>
          <a:ln/>
        </p:spPr>
        <p:txBody>
          <a:bodyPr wrap="square" lIns="0" tIns="0" rIns="0" bIns="0" rtlCol="0" anchor="t"/>
          <a:lstStyle/>
          <a:p>
            <a:pPr marL="0" indent="0" algn="ctr">
              <a:buNone/>
            </a:pPr>
            <a:r>
              <a:rPr lang="en-US" sz="1150" dirty="0">
                <a:solidFill>
                  <a:srgbClr val="5A6472"/>
                </a:solidFill>
                <a:latin typeface="Calibri" pitchFamily="34" charset="0"/>
                <a:ea typeface="Calibri" pitchFamily="34" charset="-122"/>
                <a:cs typeface="Calibri" pitchFamily="34" charset="-120"/>
              </a:rPr>
              <a:t>referencias APA</a:t>
            </a:r>
            <a:endParaRPr lang="en-US" sz="1150" dirty="0"/>
          </a:p>
          <a:p>
            <a:pPr marL="0" indent="0" algn="ctr">
              <a:buNone/>
            </a:pPr>
            <a:r>
              <a:rPr lang="en-US" sz="1150" dirty="0">
                <a:solidFill>
                  <a:srgbClr val="5A6472"/>
                </a:solidFill>
                <a:latin typeface="Calibri" pitchFamily="34" charset="0"/>
                <a:ea typeface="Calibri" pitchFamily="34" charset="-122"/>
                <a:cs typeface="Calibri" pitchFamily="34" charset="-120"/>
              </a:rPr>
              <a:t>verificables</a:t>
            </a:r>
            <a:endParaRPr lang="en-US" sz="1150" dirty="0"/>
          </a:p>
        </p:txBody>
      </p:sp>
      <p:sp>
        <p:nvSpPr>
          <p:cNvPr id="20" name="Shape 18"/>
          <p:cNvSpPr/>
          <p:nvPr/>
        </p:nvSpPr>
        <p:spPr>
          <a:xfrm>
            <a:off x="640080" y="5870448"/>
            <a:ext cx="10908792" cy="658368"/>
          </a:xfrm>
          <a:prstGeom prst="roundRect">
            <a:avLst>
              <a:gd name="adj" fmla="val 8333"/>
            </a:avLst>
          </a:prstGeom>
          <a:solidFill>
            <a:srgbClr val="FBEDED"/>
          </a:solidFill>
          <a:ln w="12700">
            <a:solidFill>
              <a:srgbClr val="FBEDED"/>
            </a:solidFill>
            <a:prstDash val="solid"/>
          </a:ln>
        </p:spPr>
      </p:sp>
      <p:sp>
        <p:nvSpPr>
          <p:cNvPr id="21" name="Text 19"/>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Piso: sin etiqueta v1.0.0, con cobertura bajo el 40 % o con credenciales versionadas → calificación CERO.</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Tendencias: las tensiones que mueven el diseño</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Las herramientas caducan; las tensiones de fondo permanecen</a:t>
            </a:r>
            <a:endParaRPr lang="en-US" sz="1400" dirty="0"/>
          </a:p>
        </p:txBody>
      </p:sp>
      <p:sp>
        <p:nvSpPr>
          <p:cNvPr id="4" name="Shape 2"/>
          <p:cNvSpPr/>
          <p:nvPr/>
        </p:nvSpPr>
        <p:spPr>
          <a:xfrm>
            <a:off x="640080" y="1517904"/>
            <a:ext cx="5349240" cy="1965960"/>
          </a:xfrm>
          <a:prstGeom prst="roundRect">
            <a:avLst>
              <a:gd name="adj" fmla="val 2791"/>
            </a:avLst>
          </a:prstGeom>
          <a:solidFill>
            <a:srgbClr val="EEF4F0"/>
          </a:solidFill>
          <a:ln w="12700">
            <a:solidFill>
              <a:srgbClr val="EEF4F0"/>
            </a:solidFill>
            <a:prstDash val="solid"/>
          </a:ln>
        </p:spPr>
      </p:sp>
      <p:sp>
        <p:nvSpPr>
          <p:cNvPr id="5" name="Shape 3"/>
          <p:cNvSpPr/>
          <p:nvPr/>
        </p:nvSpPr>
        <p:spPr>
          <a:xfrm>
            <a:off x="841248" y="1719072"/>
            <a:ext cx="457200" cy="457200"/>
          </a:xfrm>
          <a:prstGeom prst="ellipse">
            <a:avLst/>
          </a:prstGeom>
          <a:solidFill>
            <a:srgbClr val="006633"/>
          </a:solidFill>
          <a:ln/>
        </p:spPr>
      </p:sp>
      <p:sp>
        <p:nvSpPr>
          <p:cNvPr id="6" name="Text 4"/>
          <p:cNvSpPr/>
          <p:nvPr/>
        </p:nvSpPr>
        <p:spPr>
          <a:xfrm>
            <a:off x="841248"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Generalidad frente a ajuste al cliente</a:t>
            </a:r>
            <a:endParaRPr lang="en-US" sz="1500" dirty="0"/>
          </a:p>
        </p:txBody>
      </p:sp>
      <p:sp>
        <p:nvSpPr>
          <p:cNvPr id="8" name="Text 6"/>
          <p:cNvSpPr/>
          <p:nvPr/>
        </p:nvSpPr>
        <p:spPr>
          <a:xfrm>
            <a:off x="859536" y="2267712"/>
            <a:ext cx="4910328" cy="103327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REST expone recursos genéricos y el cliente compone. GraphQL deja que el cliente declare qué campos quiere. El patrón BFF mantiene la API genérica y añade una capa por tipo de cliente.</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Ninguna es superior: depende del contexto.</a:t>
            </a:r>
            <a:endParaRPr lang="en-US" sz="1250" dirty="0"/>
          </a:p>
        </p:txBody>
      </p:sp>
      <p:sp>
        <p:nvSpPr>
          <p:cNvPr id="9" name="Shape 7"/>
          <p:cNvSpPr/>
          <p:nvPr/>
        </p:nvSpPr>
        <p:spPr>
          <a:xfrm>
            <a:off x="6199632" y="1517904"/>
            <a:ext cx="5349240" cy="1965960"/>
          </a:xfrm>
          <a:prstGeom prst="roundRect">
            <a:avLst>
              <a:gd name="adj" fmla="val 2791"/>
            </a:avLst>
          </a:prstGeom>
          <a:solidFill>
            <a:srgbClr val="FBF3DE"/>
          </a:solidFill>
          <a:ln w="12700">
            <a:solidFill>
              <a:srgbClr val="FBF3DE"/>
            </a:solidFill>
            <a:prstDash val="solid"/>
          </a:ln>
        </p:spPr>
      </p:sp>
      <p:sp>
        <p:nvSpPr>
          <p:cNvPr id="10" name="Shape 8"/>
          <p:cNvSpPr/>
          <p:nvPr/>
        </p:nvSpPr>
        <p:spPr>
          <a:xfrm>
            <a:off x="6400800" y="1719072"/>
            <a:ext cx="457200" cy="457200"/>
          </a:xfrm>
          <a:prstGeom prst="ellipse">
            <a:avLst/>
          </a:prstGeom>
          <a:solidFill>
            <a:srgbClr val="CC9900"/>
          </a:solidFill>
          <a:ln/>
        </p:spPr>
      </p:sp>
      <p:sp>
        <p:nvSpPr>
          <p:cNvPr id="11" name="Text 9"/>
          <p:cNvSpPr/>
          <p:nvPr/>
        </p:nvSpPr>
        <p:spPr>
          <a:xfrm>
            <a:off x="6400800" y="17190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949440" y="1719072"/>
            <a:ext cx="4416552" cy="457200"/>
          </a:xfrm>
          <a:prstGeom prst="rect">
            <a:avLst/>
          </a:prstGeom>
          <a:noFill/>
          <a:ln/>
        </p:spPr>
        <p:txBody>
          <a:bodyPr wrap="square" lIns="0" tIns="0" rIns="0" bIns="0" rtlCol="0" anchor="ctr"/>
          <a:lstStyle/>
          <a:p>
            <a:pPr marL="0" indent="0" algn="l">
              <a:buNone/>
            </a:pPr>
            <a:r>
              <a:rPr lang="en-US" sz="1500" b="1" dirty="0">
                <a:solidFill>
                  <a:srgbClr val="00401F"/>
                </a:solidFill>
                <a:latin typeface="Calibri" pitchFamily="34" charset="0"/>
                <a:ea typeface="Calibri" pitchFamily="34" charset="-122"/>
                <a:cs typeface="Calibri" pitchFamily="34" charset="-120"/>
              </a:rPr>
              <a:t>Acoplamiento temporal frente a simplicidad</a:t>
            </a:r>
            <a:endParaRPr lang="en-US" sz="1500" dirty="0"/>
          </a:p>
        </p:txBody>
      </p:sp>
      <p:sp>
        <p:nvSpPr>
          <p:cNvPr id="13" name="Text 11"/>
          <p:cNvSpPr/>
          <p:nvPr/>
        </p:nvSpPr>
        <p:spPr>
          <a:xfrm>
            <a:off x="6419088" y="2267712"/>
            <a:ext cx="4910328" cy="1033272"/>
          </a:xfrm>
          <a:prstGeom prst="rect">
            <a:avLst/>
          </a:prstGeom>
          <a:noFill/>
          <a:ln/>
        </p:spPr>
        <p:txBody>
          <a:bodyPr wrap="square" lIns="0" tIns="0" rIns="0" bIns="0" rtlCol="0" anchor="t"/>
          <a:lstStyle/>
          <a:p>
            <a:pPr marL="0" indent="0" algn="l">
              <a:buNone/>
            </a:pPr>
            <a:r>
              <a:rPr lang="en-US" sz="1250" dirty="0">
                <a:solidFill>
                  <a:srgbClr val="2B333C"/>
                </a:solidFill>
                <a:latin typeface="Calibri" pitchFamily="34" charset="0"/>
                <a:ea typeface="Calibri" pitchFamily="34" charset="-122"/>
                <a:cs typeface="Calibri" pitchFamily="34" charset="-120"/>
              </a:rPr>
              <a:t>Toda llamada síncrona acopla en el tiempo: si el otro no está, usted falla. La arquitectura de eventos rompe ese acoplamiento y paga con consistencia eventual.</a:t>
            </a:r>
            <a:endParaRPr lang="en-US" sz="1250" dirty="0"/>
          </a:p>
          <a:p>
            <a:pPr marL="0" indent="0" algn="l">
              <a:buNone/>
            </a:pPr>
            <a:endParaRPr lang="en-US" sz="1250" dirty="0"/>
          </a:p>
          <a:p>
            <a:pPr marL="0" indent="0" algn="l">
              <a:buNone/>
            </a:pPr>
            <a:r>
              <a:rPr lang="en-US" sz="1250" dirty="0">
                <a:solidFill>
                  <a:srgbClr val="2B333C"/>
                </a:solidFill>
                <a:latin typeface="Calibri" pitchFamily="34" charset="0"/>
                <a:ea typeface="Calibri" pitchFamily="34" charset="-122"/>
                <a:cs typeface="Calibri" pitchFamily="34" charset="-120"/>
              </a:rPr>
              <a:t>Encaja donde se tolera retraso; no donde el usuario espera ver el resultado.</a:t>
            </a:r>
            <a:endParaRPr lang="en-US" sz="1250" dirty="0"/>
          </a:p>
        </p:txBody>
      </p:sp>
      <p:sp>
        <p:nvSpPr>
          <p:cNvPr id="14" name="Text 12"/>
          <p:cNvSpPr/>
          <p:nvPr/>
        </p:nvSpPr>
        <p:spPr>
          <a:xfrm>
            <a:off x="640080" y="3712464"/>
            <a:ext cx="10908792" cy="169164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HTTP/3 sobre QUIC — menor latencia de establecimiento y mejor comportamiento en redes móviles inestables.</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Enfoque API-first — la especificación se acuerda antes que el código; cliente y servidor avanzan en paralelo.</a:t>
            </a:r>
            <a:endParaRPr lang="en-US" sz="1300" dirty="0"/>
          </a:p>
          <a:p>
            <a:pPr marL="342900" indent="-342900" algn="l">
              <a:spcAft>
                <a:spcPts val="800"/>
              </a:spcAft>
              <a:buSzPct val="100000"/>
              <a:buChar char="•"/>
            </a:pPr>
            <a:r>
              <a:rPr lang="en-US" sz="1300" dirty="0">
                <a:solidFill>
                  <a:srgbClr val="2B333C"/>
                </a:solidFill>
                <a:latin typeface="Calibri" pitchFamily="34" charset="0"/>
                <a:ea typeface="Calibri" pitchFamily="34" charset="-122"/>
                <a:cs typeface="Calibri" pitchFamily="34" charset="-120"/>
              </a:rPr>
              <a:t>Protocolos para exponer herramientas a agentes automáticos — reutilizan todo lo visto: contratos, testigos, errores estructurados.</a:t>
            </a:r>
            <a:endParaRPr lang="en-US" sz="1300" dirty="0"/>
          </a:p>
        </p:txBody>
      </p:sp>
      <p:sp>
        <p:nvSpPr>
          <p:cNvPr id="15" name="Shape 13"/>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16" name="Text 14"/>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Lo que conserva valor no es la sintaxis de las anotaciones: es la capacidad de revisar un diseño y sostener el argumento.</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10908792" cy="658368"/>
          </a:xfrm>
          <a:prstGeom prst="rect">
            <a:avLst/>
          </a:prstGeom>
          <a:noFill/>
          <a:ln/>
        </p:spPr>
        <p:txBody>
          <a:bodyPr wrap="square" lIns="0" tIns="0" rIns="0" bIns="0" rtlCol="0" anchor="ctr"/>
          <a:lstStyle/>
          <a:p>
            <a:pPr marL="0" indent="0" algn="l">
              <a:buNone/>
            </a:pPr>
            <a:r>
              <a:rPr lang="en-US" sz="3000" b="1" dirty="0">
                <a:solidFill>
                  <a:srgbClr val="006633"/>
                </a:solidFill>
                <a:latin typeface="Cambria" pitchFamily="34" charset="0"/>
                <a:ea typeface="Cambria" pitchFamily="34" charset="-122"/>
                <a:cs typeface="Cambria" pitchFamily="34" charset="-120"/>
              </a:rPr>
              <a:t>Glosario de siglas de la unidad</a:t>
            </a:r>
            <a:endParaRPr lang="en-US" sz="3000" dirty="0"/>
          </a:p>
        </p:txBody>
      </p:sp>
      <p:sp>
        <p:nvSpPr>
          <p:cNvPr id="3" name="Text 1"/>
          <p:cNvSpPr/>
          <p:nvPr/>
        </p:nvSpPr>
        <p:spPr>
          <a:xfrm>
            <a:off x="640080" y="987552"/>
            <a:ext cx="10908792" cy="365760"/>
          </a:xfrm>
          <a:prstGeom prst="rect">
            <a:avLst/>
          </a:prstGeom>
          <a:noFill/>
          <a:ln/>
        </p:spPr>
        <p:txBody>
          <a:bodyPr wrap="square" lIns="0" tIns="0" rIns="0" bIns="0" rtlCol="0" anchor="ctr"/>
          <a:lstStyle/>
          <a:p>
            <a:pPr marL="0" indent="0" algn="l">
              <a:buNone/>
            </a:pPr>
            <a:r>
              <a:rPr lang="en-US" sz="1400" i="1" dirty="0">
                <a:solidFill>
                  <a:srgbClr val="5A6472"/>
                </a:solidFill>
                <a:latin typeface="Calibri" pitchFamily="34" charset="0"/>
                <a:ea typeface="Calibri" pitchFamily="34" charset="-122"/>
                <a:cs typeface="Calibri" pitchFamily="34" charset="-120"/>
              </a:rPr>
              <a:t>Para consulta rápida durante el estudio y la defensa</a:t>
            </a:r>
            <a:endParaRPr lang="en-US" sz="1400" dirty="0"/>
          </a:p>
        </p:txBody>
      </p:sp>
      <p:sp>
        <p:nvSpPr>
          <p:cNvPr id="4" name="Text 2"/>
          <p:cNvSpPr/>
          <p:nvPr/>
        </p:nvSpPr>
        <p:spPr>
          <a:xfrm>
            <a:off x="640080" y="1481328"/>
            <a:ext cx="3520440" cy="4297680"/>
          </a:xfrm>
          <a:prstGeom prst="rect">
            <a:avLst/>
          </a:prstGeom>
          <a:noFill/>
          <a:ln/>
        </p:spPr>
        <p:txBody>
          <a:bodyPr wrap="square" lIns="0" tIns="0" rIns="0" bIns="0" rtlCol="0" anchor="t"/>
          <a:lstStyle/>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API — Application Programming Interface</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ADR — Architecture Decision Record</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BFF — Backend for Frontend</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CORS — Cross-Origin Resource Sharing</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CRUD — Create, Read, Update, Delete</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CSRF — Cross-Site Request Forgery</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DTO — Data Transfer Object</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HATEOAS — Hypermedia As The Engine Of Application State</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HTTP — HyperText Transfer Protocol</a:t>
            </a:r>
            <a:endParaRPr lang="en-US" sz="1150" dirty="0"/>
          </a:p>
        </p:txBody>
      </p:sp>
      <p:sp>
        <p:nvSpPr>
          <p:cNvPr id="5" name="Text 3"/>
          <p:cNvSpPr/>
          <p:nvPr/>
        </p:nvSpPr>
        <p:spPr>
          <a:xfrm>
            <a:off x="4334256" y="1481328"/>
            <a:ext cx="3520440" cy="4297680"/>
          </a:xfrm>
          <a:prstGeom prst="rect">
            <a:avLst/>
          </a:prstGeom>
          <a:noFill/>
          <a:ln/>
        </p:spPr>
        <p:txBody>
          <a:bodyPr wrap="square" lIns="0" tIns="0" rIns="0" bIns="0" rtlCol="0" anchor="t"/>
          <a:lstStyle/>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IETF — Internet Engineering Task Force</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JPA — Jakarta Persistence API</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JSON — JavaScript Object Notation</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JWT — JSON Web Token</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LTS — Long Term Support</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MVC — Model-View-Controller</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ORM — Object-Relational Mapping</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OWASP — Open Worldwide Application Security Project</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PRG — Post / Redirect / Get</a:t>
            </a:r>
            <a:endParaRPr lang="en-US" sz="1150" dirty="0"/>
          </a:p>
        </p:txBody>
      </p:sp>
      <p:sp>
        <p:nvSpPr>
          <p:cNvPr id="6" name="Text 4"/>
          <p:cNvSpPr/>
          <p:nvPr/>
        </p:nvSpPr>
        <p:spPr>
          <a:xfrm>
            <a:off x="8028432" y="1481328"/>
            <a:ext cx="3520440" cy="4297680"/>
          </a:xfrm>
          <a:prstGeom prst="rect">
            <a:avLst/>
          </a:prstGeom>
          <a:noFill/>
          <a:ln/>
        </p:spPr>
        <p:txBody>
          <a:bodyPr wrap="square" lIns="0" tIns="0" rIns="0" bIns="0" rtlCol="0" anchor="t"/>
          <a:lstStyle/>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REST — Representational State Transfer</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RFC — Request for Comments</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SEO — Search Engine Optimization</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SOAP — protocolo de mensajería XML (W3C)</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SPA — Single Page Application</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SQL — Structured Query Language</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SSR — Server-Side Rendering</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W3C — World Wide Web Consortium</a:t>
            </a:r>
            <a:endParaRPr lang="en-US" sz="1150" dirty="0"/>
          </a:p>
          <a:p>
            <a:pPr marL="342900" indent="-342900" algn="l">
              <a:spcAft>
                <a:spcPts val="800"/>
              </a:spcAft>
              <a:buSzPct val="100000"/>
              <a:buChar char="•"/>
            </a:pPr>
            <a:r>
              <a:rPr lang="en-US" sz="1150" dirty="0">
                <a:solidFill>
                  <a:srgbClr val="2B333C"/>
                </a:solidFill>
                <a:latin typeface="Calibri" pitchFamily="34" charset="0"/>
                <a:ea typeface="Calibri" pitchFamily="34" charset="-122"/>
                <a:cs typeface="Calibri" pitchFamily="34" charset="-120"/>
              </a:rPr>
              <a:t>WSDL — Web Services Description Language</a:t>
            </a:r>
            <a:endParaRPr lang="en-US" sz="1150" dirty="0"/>
          </a:p>
        </p:txBody>
      </p:sp>
      <p:sp>
        <p:nvSpPr>
          <p:cNvPr id="7" name="Shape 5"/>
          <p:cNvSpPr/>
          <p:nvPr/>
        </p:nvSpPr>
        <p:spPr>
          <a:xfrm>
            <a:off x="640080" y="5870448"/>
            <a:ext cx="10908792" cy="658368"/>
          </a:xfrm>
          <a:prstGeom prst="roundRect">
            <a:avLst>
              <a:gd name="adj" fmla="val 8333"/>
            </a:avLst>
          </a:prstGeom>
          <a:solidFill>
            <a:srgbClr val="FBF3DE"/>
          </a:solidFill>
          <a:ln w="12700">
            <a:solidFill>
              <a:srgbClr val="FBF3DE"/>
            </a:solidFill>
            <a:prstDash val="solid"/>
          </a:ln>
        </p:spPr>
      </p:sp>
      <p:sp>
        <p:nvSpPr>
          <p:cNvPr id="8" name="Text 6"/>
          <p:cNvSpPr/>
          <p:nvPr/>
        </p:nvSpPr>
        <p:spPr>
          <a:xfrm>
            <a:off x="868680" y="5870448"/>
            <a:ext cx="10451592" cy="658368"/>
          </a:xfrm>
          <a:prstGeom prst="rect">
            <a:avLst/>
          </a:prstGeom>
          <a:noFill/>
          <a:ln/>
        </p:spPr>
        <p:txBody>
          <a:bodyPr wrap="square" lIns="0" tIns="0" rIns="0" bIns="0" rtlCol="0" anchor="ctr"/>
          <a:lstStyle/>
          <a:p>
            <a:pPr marL="0" indent="0" algn="l">
              <a:buNone/>
            </a:pPr>
            <a:r>
              <a:rPr lang="en-US" sz="1350" b="1" dirty="0">
                <a:solidFill>
                  <a:srgbClr val="00401F"/>
                </a:solidFill>
                <a:latin typeface="Calibri" pitchFamily="34" charset="0"/>
                <a:ea typeface="Calibri" pitchFamily="34" charset="-122"/>
                <a:cs typeface="Calibri" pitchFamily="34" charset="-120"/>
              </a:rPr>
              <a:t>XSS — Cross-Site Scripting  ·  UDDI — Universal Description, Discovery and Integration  ·  QUIC — protocolo de transporte sobre UDP</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401F"/>
        </a:solidFill>
        <a:effectLst/>
      </p:bgPr>
    </p:bg>
    <p:spTree>
      <p:nvGrpSpPr>
        <p:cNvPr id="1" name=""/>
        <p:cNvGrpSpPr/>
        <p:nvPr/>
      </p:nvGrpSpPr>
      <p:grpSpPr>
        <a:xfrm>
          <a:off x="0" y="0"/>
          <a:ext cx="0" cy="0"/>
          <a:chOff x="0" y="0"/>
          <a:chExt cx="0" cy="0"/>
        </a:xfrm>
      </p:grpSpPr>
      <p:sp>
        <p:nvSpPr>
          <p:cNvPr id="2" name="Text 0"/>
          <p:cNvSpPr/>
          <p:nvPr/>
        </p:nvSpPr>
        <p:spPr>
          <a:xfrm>
            <a:off x="640080" y="566928"/>
            <a:ext cx="10881360" cy="1005840"/>
          </a:xfrm>
          <a:prstGeom prst="rect">
            <a:avLst/>
          </a:prstGeom>
          <a:noFill/>
          <a:ln/>
        </p:spPr>
        <p:txBody>
          <a:bodyPr wrap="square" lIns="0" tIns="0" rIns="0" bIns="0" rtlCol="0" anchor="ctr"/>
          <a:lstStyle/>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Diez afirmaciones que el estudiante</a:t>
            </a:r>
            <a:endParaRPr lang="en-US" sz="2800" dirty="0"/>
          </a:p>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debe poder defender</a:t>
            </a:r>
            <a:endParaRPr lang="en-US" sz="2800" dirty="0"/>
          </a:p>
        </p:txBody>
      </p:sp>
      <p:sp>
        <p:nvSpPr>
          <p:cNvPr id="3" name="Text 1"/>
          <p:cNvSpPr/>
          <p:nvPr/>
        </p:nvSpPr>
        <p:spPr>
          <a:xfrm>
            <a:off x="640080" y="1828800"/>
            <a:ext cx="5349240" cy="329184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El controlador coordina; no consulta la base ni decide reglas.</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La vista puede decidir colores, jamás si un préstamo está vencido.</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Las ocho etapas del ciclo explican casi todo fallo.</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MVC no siempre conviene: con varios clientes, la API es superior.</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Active Record y Data Mapper difieren en acoplamiento, no en resultado.</a:t>
            </a:r>
            <a:endParaRPr lang="en-US" sz="1350" dirty="0"/>
          </a:p>
        </p:txBody>
      </p:sp>
      <p:sp>
        <p:nvSpPr>
          <p:cNvPr id="4" name="Text 2"/>
          <p:cNvSpPr/>
          <p:nvPr/>
        </p:nvSpPr>
        <p:spPr>
          <a:xfrm>
            <a:off x="6199632" y="1828800"/>
            <a:ext cx="5349240" cy="329184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Un modelo sin control de asignación masiva es una vulnerabilidad.</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Toda operación segura es idempotente; no toda idempotente es segura.</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Un error viaja con su código correcto y cuerpo RFC 9457.</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fetch no rechaza la promesa ante un 404: comprobar ok es obligatorio.</a:t>
            </a:r>
            <a:endParaRPr lang="en-US" sz="1350" dirty="0"/>
          </a:p>
          <a:p>
            <a:pPr marL="342900" indent="-342900" algn="l">
              <a:spcAft>
                <a:spcPts val="800"/>
              </a:spcAft>
              <a:buSzPct val="100000"/>
              <a:buChar char="•"/>
            </a:pPr>
            <a:r>
              <a:rPr lang="en-US" sz="1350" dirty="0">
                <a:solidFill>
                  <a:srgbClr val="DCEADC"/>
                </a:solidFill>
                <a:latin typeface="Calibri" pitchFamily="34" charset="0"/>
                <a:ea typeface="Calibri" pitchFamily="34" charset="-122"/>
                <a:cs typeface="Calibri" pitchFamily="34" charset="-120"/>
              </a:rPr>
              <a:t>Reintentar sin clave de idempotencia puede duplicar registros.</a:t>
            </a:r>
            <a:endParaRPr lang="en-US" sz="1350" dirty="0"/>
          </a:p>
        </p:txBody>
      </p:sp>
      <p:sp>
        <p:nvSpPr>
          <p:cNvPr id="5" name="Shape 3"/>
          <p:cNvSpPr/>
          <p:nvPr/>
        </p:nvSpPr>
        <p:spPr>
          <a:xfrm>
            <a:off x="640080" y="5321808"/>
            <a:ext cx="10908792" cy="969264"/>
          </a:xfrm>
          <a:prstGeom prst="roundRect">
            <a:avLst>
              <a:gd name="adj" fmla="val 5660"/>
            </a:avLst>
          </a:prstGeom>
          <a:solidFill>
            <a:srgbClr val="CC9900"/>
          </a:solidFill>
          <a:ln w="12700">
            <a:solidFill>
              <a:srgbClr val="CC9900"/>
            </a:solidFill>
            <a:prstDash val="solid"/>
          </a:ln>
        </p:spPr>
      </p:sp>
      <p:sp>
        <p:nvSpPr>
          <p:cNvPr id="6" name="Text 4"/>
          <p:cNvSpPr/>
          <p:nvPr/>
        </p:nvSpPr>
        <p:spPr>
          <a:xfrm>
            <a:off x="914400" y="5321808"/>
            <a:ext cx="10360152" cy="969264"/>
          </a:xfrm>
          <a:prstGeom prst="rect">
            <a:avLst/>
          </a:prstGeom>
          <a:noFill/>
          <a:ln/>
        </p:spPr>
        <p:txBody>
          <a:bodyPr wrap="square" lIns="0" tIns="0" rIns="0" bIns="0" rtlCol="0" anchor="ctr"/>
          <a:lstStyle/>
          <a:p>
            <a:pPr marL="0" indent="0">
              <a:buNone/>
            </a:pPr>
            <a:r>
              <a:rPr lang="en-US" sz="1450" b="1" dirty="0">
                <a:solidFill>
                  <a:srgbClr val="00401F"/>
                </a:solidFill>
                <a:latin typeface="Calibri" pitchFamily="34" charset="0"/>
                <a:ea typeface="Calibri" pitchFamily="34" charset="-122"/>
                <a:cs typeface="Calibri" pitchFamily="34" charset="-120"/>
              </a:rPr>
              <a:t>Separar responsabilidades para que el cambio en una parte no obligue a tocar las demás. Dentro de una aplicación: MVC. Entre aplicaciones: servicios web.</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19920</Words>
  <Application>Microsoft Office PowerPoint</Application>
  <PresentationFormat>Panorámica</PresentationFormat>
  <Paragraphs>906</Paragraphs>
  <Slides>37</Slides>
  <Notes>37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37</vt:i4>
      </vt:variant>
    </vt:vector>
  </HeadingPairs>
  <TitlesOfParts>
    <vt:vector size="42"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IV - Modelo-Vista-Controlador y Servicios Web</dc:title>
  <dc:subject>PptxGenJS Presentation</dc:subject>
  <dc:creator>UTEQ - Carrera de Ingenieria de Software</dc:creator>
  <cp:lastModifiedBy>GLEISTON CICERON GUERRERO ULLOA</cp:lastModifiedBy>
  <cp:revision>1</cp:revision>
  <dcterms:created xsi:type="dcterms:W3CDTF">2026-07-31T19:46:11Z</dcterms:created>
  <dcterms:modified xsi:type="dcterms:W3CDTF">2026-08-03T12:58:39Z</dcterms:modified>
</cp:coreProperties>
</file>