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63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segundo deck. Se asume que el aprendiz ya trae completo el bloque anterior: entorno Node/CLI/IntelliJ instalado, proyecto frontend/ generado, componentes basicos, servicios y consumo GET/POST/PUT/DELETE de la API de BiblioUTEQ. Esta continuacion cubre lo que separa un frontend basico de uno listo para produccion.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recap es breve pero importante: garantiza que todos los aprendices parten del mismo estado inicial. Si alguno no logra levantar la app en localhost:4200 con datos reales del backend, el resto del deck no le funcionara. Vale la pena esperar unos minutos aqui antes de continuar.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objetivos suman las piezas que faltaban para que el frontend de BiblioUTEQ sea considerado listo para produccion. Cada objetivo se cubre en su seccion propia.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importante no mezclar las dos APIs en el mismo formulario. La recomendacion oficial es: proyectos nuevos --- Signal Forms; formularios existentes --- migrar cuando compense, sin urgencia. Reactive Forms no esta deprecado. En BiblioUTEQ el catalogo usa Signal Forms; se muestra Reactive Forms brevemente para reconocer codigo en tutoriales antiguos.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presentan las cuatro piezas basicas de Signal Forms. Es un mapa mental antes de ver codigo. En la siguiente diapositiva se muestra el ejemplo mas corto posible: el registro de un libro en BiblioUTEQ.</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imports desde @angular/forms/signals cubren el 95 por ciento de los casos. La primera vez que un aprendiz vea 'from @angular/forms/signals' es facil confundirlo con @angular/forms; conviene subrayar la barra que separa 'forms' de 'signals'.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codigo TypeScript minimo. La convencion protected readonly hace que la propiedad sea accesible desde la plantilla pero no reasignable desde otro lugar. El aprendiz debe notar que NO hay constructor, NO hay valueChanges, NO hay subscribe. Todo esta declarado.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directiva [formField] cumple el rol que en Reactive Forms cumplia formControlName + formGroup. libroForm.titulo es una signal de campo que expone value(), errors(), touched(), dirty(). El aprendiz debe leer siempre con parentesis: es una llamada, no una propiedad.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schema es un elemento nuevo introducido con Signal Forms. La ventaja frente a los validadores clasicos es que se declara UNA vez y viaja con el modelo. El validador tipico de Reactive Forms se declaraba por control, lo que se volvia repetitivo en formularios grandes.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helper submit() garantiza que la logica de envio no se ejecute con datos invalidos. Marca ademas el estado submitted del formulario, lo que permite mostrar todos los errores despues del primer intento. subscribe() dispara efectivamente la peticion HTTP; sin el, el Observable no se ejecuta (comportamiento estandar de RxJS).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Reactive Forms sirve para dos cosas: reconocer codigo antiguo cuando el aprendiz busca ayuda en Stack Overflow, y comparar la verbosidad. En Signal Forms el schema pesa 6 lineas; en Reactive Forms los validadores viven en cada control y se repiten. Fuera de eso, la mecanica de envio es semejante.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enfatiza que set() reemplaza el valor y update() lo transforma leyendo el previo. Ambos son sincronos. Aunque suena trivial, la diferencia importa en formularios con validacion cruzada donde el nuevo valor depende del anterior.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reemplaza patrones donde antes se usaba un pipe con RxJS combineLatest o un getter que se recalculaba en cada ciclo de deteccion. La memoizacion es clave: llamar tres veces seguidas al valor sin cambios de fuente NO ejecuta el filter tres veces.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debe registrarse en un contexto de inyeccion: el constructor de un componente o servicio, o dentro de la funcion runInInjectionContext. Fuera de ahi arroja un error. NO usar effect() para actualizar otras signals; genera bucles infinitos y Angular ahora los detecta y avisa.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 junior tiende a preguntar si signals van a reemplazar RxJS. La respuesta corta es no: cubren cosas distintas. RxJS es superior para modelar streams asincronos con transformaciones; signals es superior para estado sincrono y para reactividad de grano fino en la vista.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path ':id' captura un parametro dinamico que el componente destino leera con ActivatedRoute. El path '**' es la ruta comodin que atrapa cualquier URL no reconocida; conviene declararla al final porque el enrutador la evalua en orden.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muestran ambas formas: la moderna (input() del router, que llega como signal) y la clasica (ActivatedRoute con snapshot). Angular 22 recomienda la primera cuando se habilita withComponentInputBinding en provideRouter. paramMap.get devuelve string, por lo que se convierte a numero con el operador unario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patron oficial actual: guards funcionales. Antes (hasta Angular 14) se implementaban como clases con @Injectable y un metodo canActivate. Esas clases siguen funcionando pero estan marcadas como deprecated en la documentacion.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canActivate y canMatch se ven parecidos pero son distintos. canMatch conviene en lazy loading porque impide siquiera cargar el bundle si el usuario no cumple la condicion. canActivate se ejecuta despues de resolver el componente y sirve para mensajes especificos como 'debes iniciar sesion primero'.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BiblioUTEQ el catalogo publico es de carga inmediata (todo mundo lo usa), pero la seccion de administracion se carga solo cuando el usuario navega a ella. En el reporte de la consola del navegador se ve el chunk .js separado descargarse en ese momento.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OnPush por defecto es el cambio de comportamiento con mas impacto en migraciones a Angular 22. Componentes antiguos que mutaban objetos in-place y esperaban re-render automatico dejan de funcionar. Solucion: usar signals, o mutar por reemplazo de referencia (spread ...) en vez de mutar in-place.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@defer y sus bloques hermanos (@placeholder, @loading, @error) forman el sistema oficial de carga diferida a nivel plantilla. Es mas fino que loadComponent en rutas: postpone piezas dentro de una misma pagina. Ideal para bloques pesados como comentarios, mapas o graficos.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Vitest reemplazo a Karma+Jasmine como default desde Angular 21 (noviembre 2025). Los proyectos existentes con Karma siguen funcionando; hay una migracion asistida documentada en angular.dev/guide/testing/migrating-to-vitest. Para PPA 2026-2027 se usa Vitest en todos los proyectos nuevos del curso.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patron completo de una prueba de servicio con HttpClient: setup en beforeEach, invocacion del metodo bajo prueba, expectOne para atrapar la request esperada, flush para simular la respuesta del backend, y expect para verificar el efecto. NO viaja peticion real por la red.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setInput es la forma moderna de asignar inputs de tipo signal desde una prueba (antes se hacia component.input = valor, que no funciona con inputs de tipo signal). detectChanges es crucial: si no se llama, la vista queda con los valores previos.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ci es preferido a npm install en CI: usa el lock file y no lo modifica, garantizando builds reproducibles. La imagen final (nginx:1.27-alpine) pesa ~20 MB; sin multi-stage la imagen con Node incluido pesaria ~1 GB. La diferencia se paga en el push al registro y en el arranque del pod.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try_files $uri $uri/ /index.html es la linea clave para SPAs: sin ella, al recargar en /libros/42 nginx buscaria un archivo en disco y devolveria 404. Con try_files, siempre sirve index.html y deja que el Router de Angular resuelva la URL. proxy_pass hacia http://backend:8080 usa el nombre de servicio de docker-compose.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up --build levanta el sistema completo. Los servicios se resuelven entre si por nombre en la red virtual que Docker crea (backend puede alcanzar db en la URL jdbc:postgresql://db:5432/biblioteca). Este es el patron canonico para levantar BiblioUTEQ en la maquina del aprendiz sin instalar Postgres ni Java localmente.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AOT (Ahead-of-Time) es la contraparte de JIT (Just-in-Time). Con AOT las plantillas se compilan en el build a JavaScript optimizado; con JIT se compilaban en el navegador al arranque, lo cual era mas lento. Desde Angular 9 (2020) AOT es el default y ya no hay marcha atras.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checklist es la ultima verificacion antes de considerar una version desplegable. Faltar un elemento produce fallos silenciosos: si el fileReplacement no esta declarado, el build lleva la URL localhost, la aplicacion en produccion no se conectara a la API, y el debugging via network tab es la unica pista.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ejemplo minimo replica lo que ngClass haria en una linea de plantilla, pero encapsula la logica y la hace reutilizable. En BiblioUTEQ se usan directivas para requisitos de accesibilidad especifica (foco automatico, atajos de teclado) y para toggle de temas.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pipe personalizado encapsula logica de presentacion que se repetiria en varios lugares. La clave es pure:true (default): Angular NO llama a transform en cada ciclo, solo cuando el argumento cambia por referencia. Esto es importante para el rendimiento; un pipe impure sobrecargaria la deteccion de cambios.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listado no es opinion propia: refleja lo que la rúbrica del PFC (Entrega Final) evalua en el frontend. Un equipo que siga estos ocho puntos ya cumple la mayor parte de los criterios del componente frontend de la evaluacion final.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documentacion oficial de Angular es de gran calidad, con playgrounds interactivos que corren en el navegador. Es la primera parada recomendada. Los blogs y tutoriales de terceros son utiles como segunda opinion, pero cuidando la fecha de publicacion.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consolida los dos decks en un unico esquema. Es util imprimirlo en A3 y colgarlo en la sala de clase durante la Unidad IV para que el aprendiz visualice donde esta parado en cada momento.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roadmap alinea el resto de la Unidad IV con las semanas lectivas y con el PFC. La Semana 18 es la mas critica: se defienden los proyectos ante la comunidad y se entrega el compendio completo.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referencias fueron verificadas contra su fuente primaria. Las URLs son estables (documentacion oficial, RFCs y editoriales). Se aportaran entradas BibTeX completas para el Proyecto.bib del compendio en el mensaje que acompana esta entrega.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BibTeX completos con todos los campos verificados se entregan como texto plano en el chat, listos para pegar en Proyecto.bib. Con eso el libro puede citar estas fuentes en las diapositivas del deck y en los capitulos futuros de la Unidad IV.</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segundo deck. Con estos 39 slides (mas la portada) el aprendiz ha cubierto el arco completo Angular para BiblioUTEQ: setup, consumo, formularios, estado, rutas protegidas, pruebas y despliegue. Es el material canonico de referencia para el frontend de la asignatura.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para preguntas y respuestas. Se sugiere abrirla en pantalla completa mientras se atienden dudas del auditorio.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2377440"/>
          </a:xfrm>
          <a:prstGeom prst="rect">
            <a:avLst/>
          </a:prstGeom>
          <a:solidFill>
            <a:srgbClr val="006633"/>
          </a:solidFill>
          <a:ln w="12700">
            <a:solidFill>
              <a:srgbClr val="006633"/>
            </a:solidFill>
            <a:prstDash val="solid"/>
          </a:ln>
        </p:spPr>
        <p:txBody>
          <a:bodyPr/>
          <a:lstStyle/>
          <a:p>
            <a:endParaRPr lang="es-US"/>
          </a:p>
        </p:txBody>
      </p:sp>
      <p:sp>
        <p:nvSpPr>
          <p:cNvPr id="3" name="Shape 1"/>
          <p:cNvSpPr/>
          <p:nvPr/>
        </p:nvSpPr>
        <p:spPr>
          <a:xfrm>
            <a:off x="0" y="2377440"/>
            <a:ext cx="12188952" cy="73152"/>
          </a:xfrm>
          <a:prstGeom prst="rect">
            <a:avLst/>
          </a:prstGeom>
          <a:solidFill>
            <a:srgbClr val="B8860B"/>
          </a:solidFill>
          <a:ln w="12700">
            <a:solidFill>
              <a:srgbClr val="B8860B"/>
            </a:solidFill>
            <a:prstDash val="solid"/>
          </a:ln>
        </p:spPr>
        <p:txBody>
          <a:bodyPr/>
          <a:lstStyle/>
          <a:p>
            <a:endParaRPr lang="es-US"/>
          </a:p>
        </p:txBody>
      </p:sp>
      <p:sp>
        <p:nvSpPr>
          <p:cNvPr id="4" name="Text 2"/>
          <p:cNvSpPr/>
          <p:nvPr/>
        </p:nvSpPr>
        <p:spPr>
          <a:xfrm>
            <a:off x="457200" y="320040"/>
            <a:ext cx="113385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UNIVERSIDAD TECNICA ESTATAL DE QUEVEDO</a:t>
            </a:r>
            <a:endParaRPr lang="en-US" sz="1400" dirty="0"/>
          </a:p>
        </p:txBody>
      </p:sp>
      <p:sp>
        <p:nvSpPr>
          <p:cNvPr id="5" name="Text 3"/>
          <p:cNvSpPr/>
          <p:nvPr/>
        </p:nvSpPr>
        <p:spPr>
          <a:xfrm>
            <a:off x="457200" y="68580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Facultad de Ciencias de la Computacion y Diseno Digital</a:t>
            </a:r>
            <a:endParaRPr lang="en-US" sz="1200" dirty="0"/>
          </a:p>
        </p:txBody>
      </p:sp>
      <p:sp>
        <p:nvSpPr>
          <p:cNvPr id="6" name="Text 4"/>
          <p:cNvSpPr/>
          <p:nvPr/>
        </p:nvSpPr>
        <p:spPr>
          <a:xfrm>
            <a:off x="457200" y="960120"/>
            <a:ext cx="11338560" cy="292608"/>
          </a:xfrm>
          <a:prstGeom prst="rect">
            <a:avLst/>
          </a:prstGeom>
          <a:noFill/>
          <a:ln/>
        </p:spPr>
        <p:txBody>
          <a:bodyPr wrap="square" rtlCol="0" anchor="ctr"/>
          <a:lstStyle/>
          <a:p>
            <a:pPr marL="0" indent="0">
              <a:buNone/>
            </a:pPr>
            <a:r>
              <a:rPr lang="en-US" sz="1200" dirty="0">
                <a:solidFill>
                  <a:srgbClr val="FBF2D9"/>
                </a:solidFill>
                <a:latin typeface="Calibri" pitchFamily="34" charset="0"/>
                <a:ea typeface="Calibri" pitchFamily="34" charset="-122"/>
                <a:cs typeface="Calibri" pitchFamily="34" charset="-120"/>
              </a:rPr>
              <a:t>Ingenieria de Software  |  5.º nivel  |  PPA 2026-2027</a:t>
            </a:r>
            <a:endParaRPr lang="en-US" sz="1200" dirty="0"/>
          </a:p>
        </p:txBody>
      </p:sp>
      <p:sp>
        <p:nvSpPr>
          <p:cNvPr id="7" name="Text 5"/>
          <p:cNvSpPr/>
          <p:nvPr/>
        </p:nvSpPr>
        <p:spPr>
          <a:xfrm>
            <a:off x="457200" y="1371600"/>
            <a:ext cx="11338560" cy="77724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Angular 22  ---  Parte 2</a:t>
            </a:r>
            <a:endParaRPr lang="en-US" sz="4600" dirty="0"/>
          </a:p>
        </p:txBody>
      </p:sp>
      <p:sp>
        <p:nvSpPr>
          <p:cNvPr id="8" name="Text 6"/>
          <p:cNvSpPr/>
          <p:nvPr/>
        </p:nvSpPr>
        <p:spPr>
          <a:xfrm>
            <a:off x="457200" y="2743200"/>
            <a:ext cx="11338560" cy="548640"/>
          </a:xfrm>
          <a:prstGeom prst="rect">
            <a:avLst/>
          </a:prstGeom>
          <a:noFill/>
          <a:ln/>
        </p:spPr>
        <p:txBody>
          <a:bodyPr wrap="square" rtlCol="0" anchor="ctr"/>
          <a:lstStyle/>
          <a:p>
            <a:pPr marL="0" indent="0" algn="ctr">
              <a:buNone/>
            </a:pPr>
            <a:r>
              <a:rPr lang="en-US" sz="2600" b="1" i="1" dirty="0">
                <a:solidFill>
                  <a:srgbClr val="0B3D24"/>
                </a:solidFill>
                <a:latin typeface="Cambria" pitchFamily="34" charset="0"/>
                <a:ea typeface="Cambria" pitchFamily="34" charset="-122"/>
                <a:cs typeface="Cambria" pitchFamily="34" charset="-120"/>
              </a:rPr>
              <a:t>Formularios, Guards, Signals, Testing y Despliegue</a:t>
            </a:r>
            <a:endParaRPr lang="en-US" sz="2600" dirty="0"/>
          </a:p>
        </p:txBody>
      </p:sp>
      <p:sp>
        <p:nvSpPr>
          <p:cNvPr id="9" name="Text 7"/>
          <p:cNvSpPr/>
          <p:nvPr/>
        </p:nvSpPr>
        <p:spPr>
          <a:xfrm>
            <a:off x="457200" y="3291840"/>
            <a:ext cx="11338560" cy="365760"/>
          </a:xfrm>
          <a:prstGeom prst="rect">
            <a:avLst/>
          </a:prstGeom>
          <a:noFill/>
          <a:ln/>
        </p:spPr>
        <p:txBody>
          <a:bodyPr wrap="square" rtlCol="0" anchor="ctr"/>
          <a:lstStyle/>
          <a:p>
            <a:pPr marL="0" indent="0" algn="ctr">
              <a:buNone/>
            </a:pPr>
            <a:r>
              <a:rPr lang="en-US" sz="1500" i="1" dirty="0">
                <a:solidFill>
                  <a:srgbClr val="383A42"/>
                </a:solidFill>
                <a:latin typeface="Calibri" pitchFamily="34" charset="0"/>
                <a:ea typeface="Calibri" pitchFamily="34" charset="-122"/>
                <a:cs typeface="Calibri" pitchFamily="34" charset="-120"/>
              </a:rPr>
              <a:t>Continuacion del bloque anterior --- del setup y consumo REST al proyecto listo para produccion</a:t>
            </a:r>
            <a:endParaRPr lang="en-US" sz="1500" dirty="0"/>
          </a:p>
        </p:txBody>
      </p:sp>
      <p:sp>
        <p:nvSpPr>
          <p:cNvPr id="10" name="Shape 8"/>
          <p:cNvSpPr/>
          <p:nvPr/>
        </p:nvSpPr>
        <p:spPr>
          <a:xfrm>
            <a:off x="1645920" y="4160520"/>
            <a:ext cx="8897112" cy="2011680"/>
          </a:xfrm>
          <a:prstGeom prst="roundRect">
            <a:avLst>
              <a:gd name="adj" fmla="val 4545"/>
            </a:avLst>
          </a:prstGeom>
          <a:solidFill>
            <a:srgbClr val="F4F6F5"/>
          </a:solidFill>
          <a:ln w="15240">
            <a:solidFill>
              <a:srgbClr val="006633"/>
            </a:solidFill>
            <a:prstDash val="solid"/>
          </a:ln>
        </p:spPr>
        <p:txBody>
          <a:bodyPr/>
          <a:lstStyle/>
          <a:p>
            <a:endParaRPr lang="es-US"/>
          </a:p>
        </p:txBody>
      </p:sp>
      <p:sp>
        <p:nvSpPr>
          <p:cNvPr id="11" name="Text 9"/>
          <p:cNvSpPr/>
          <p:nvPr/>
        </p:nvSpPr>
        <p:spPr>
          <a:xfrm>
            <a:off x="1828800" y="4251960"/>
            <a:ext cx="8503920" cy="1828800"/>
          </a:xfrm>
          <a:prstGeom prst="rect">
            <a:avLst/>
          </a:prstGeom>
          <a:noFill/>
          <a:ln/>
        </p:spPr>
        <p:txBody>
          <a:bodyPr wrap="square" rtlCol="0" anchor="ctr"/>
          <a:lstStyle/>
          <a:p>
            <a:pPr marL="0" indent="0">
              <a:buNone/>
            </a:pPr>
            <a:r>
              <a:rPr lang="en-US" sz="1400" b="1" dirty="0">
                <a:solidFill>
                  <a:srgbClr val="0B3D24"/>
                </a:solidFill>
                <a:latin typeface="Calibri" pitchFamily="34" charset="0"/>
                <a:ea typeface="Calibri" pitchFamily="34" charset="-122"/>
                <a:cs typeface="Calibri" pitchFamily="34" charset="-120"/>
              </a:rPr>
              <a:t>Requisito previo: </a:t>
            </a:r>
            <a:r>
              <a:rPr lang="en-US" sz="1400" dirty="0">
                <a:solidFill>
                  <a:srgbClr val="383A42"/>
                </a:solidFill>
                <a:latin typeface="Calibri" pitchFamily="34" charset="0"/>
                <a:ea typeface="Calibri" pitchFamily="34" charset="-122"/>
                <a:cs typeface="Calibri" pitchFamily="34" charset="-120"/>
              </a:rPr>
              <a:t>haber completado el deck 1 (entorno instalado, proyecto frontend creado, consumo REST basico).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Que se anade: </a:t>
            </a:r>
            <a:r>
              <a:rPr lang="en-US" sz="1400" dirty="0">
                <a:solidFill>
                  <a:srgbClr val="383A42"/>
                </a:solidFill>
                <a:latin typeface="Calibri" pitchFamily="34" charset="0"/>
                <a:ea typeface="Calibri" pitchFamily="34" charset="-122"/>
                <a:cs typeface="Calibri" pitchFamily="34" charset="-120"/>
              </a:rPr>
              <a:t>formularios reactivos con Signal Forms, protecciones de rutas, signals derivadas,
</a:t>
            </a:r>
            <a:endParaRPr lang="en-US" sz="1400" dirty="0"/>
          </a:p>
          <a:p>
            <a:pPr marL="0" indent="0">
              <a:buNone/>
            </a:pPr>
            <a:r>
              <a:rPr lang="en-US" sz="1400" dirty="0">
                <a:solidFill>
                  <a:srgbClr val="383A42"/>
                </a:solidFill>
                <a:latin typeface="Calibri" pitchFamily="34" charset="0"/>
                <a:ea typeface="Calibri" pitchFamily="34" charset="-122"/>
                <a:cs typeface="Calibri" pitchFamily="34" charset="-120"/>
              </a:rPr>
              <a:t>                                     pruebas con Vitest y despliegue en Docker con nginx.
</a:t>
            </a:r>
            <a:endParaRPr lang="en-US" sz="1400" dirty="0"/>
          </a:p>
          <a:p>
            <a:pPr marL="0" indent="0">
              <a:buNone/>
            </a:pPr>
            <a:r>
              <a:rPr lang="en-US" sz="1400" b="1" dirty="0">
                <a:solidFill>
                  <a:srgbClr val="0B3D24"/>
                </a:solidFill>
                <a:latin typeface="Calibri" pitchFamily="34" charset="0"/>
                <a:ea typeface="Calibri" pitchFamily="34" charset="-122"/>
                <a:cs typeface="Calibri" pitchFamily="34" charset="-120"/>
              </a:rPr>
              <a:t>Stack: </a:t>
            </a:r>
            <a:r>
              <a:rPr lang="en-US" sz="1400" dirty="0">
                <a:solidFill>
                  <a:srgbClr val="383A42"/>
                </a:solidFill>
                <a:latin typeface="Calibri" pitchFamily="34" charset="0"/>
                <a:ea typeface="Calibri" pitchFamily="34" charset="-122"/>
                <a:cs typeface="Calibri" pitchFamily="34" charset="-120"/>
              </a:rPr>
              <a:t>Angular 22.0.5  |  @angular/forms/signals  |  Vitest  |  Docker 24+  |  nginx 1.27+</a:t>
            </a:r>
            <a:endParaRPr lang="en-US" sz="1400" dirty="0"/>
          </a:p>
        </p:txBody>
      </p:sp>
      <p:sp>
        <p:nvSpPr>
          <p:cNvPr id="12" name="Text 10"/>
          <p:cNvSpPr/>
          <p:nvPr/>
        </p:nvSpPr>
        <p:spPr>
          <a:xfrm>
            <a:off x="457200" y="6309360"/>
            <a:ext cx="11338560" cy="274320"/>
          </a:xfrm>
          <a:prstGeom prst="rect">
            <a:avLst/>
          </a:prstGeom>
          <a:noFill/>
          <a:ln/>
        </p:spPr>
        <p:txBody>
          <a:bodyPr wrap="square" rtlCol="0" anchor="ctr"/>
          <a:lstStyle/>
          <a:p>
            <a:pPr marL="0" indent="0" algn="ctr">
              <a:buNone/>
            </a:pPr>
            <a:r>
              <a:rPr lang="en-US" sz="1000" i="1" dirty="0">
                <a:solidFill>
                  <a:srgbClr val="383A42"/>
                </a:solidFill>
                <a:latin typeface="Calibri" pitchFamily="34" charset="0"/>
                <a:ea typeface="Calibri" pitchFamily="34" charset="-122"/>
                <a:cs typeface="Calibri" pitchFamily="34" charset="-120"/>
              </a:rPr>
              <a:t>Docente: Dr. Gleiston Ciceron Guerrero Ulloa, Ph.D.  |  gguerrero@uteq.edu.ec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 PUNTO DE PARTIDA</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Recapitulacion del bloque anterior</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54864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Antes de avanzar, se resume que se dejo funcionando en el deck 1 para asegurar que el aprendiz parta del mismo punto que el docente.</a:t>
            </a:r>
            <a:endParaRPr lang="en-US" sz="1400" dirty="0"/>
          </a:p>
        </p:txBody>
      </p:sp>
      <p:sp>
        <p:nvSpPr>
          <p:cNvPr id="7" name="Text 5"/>
          <p:cNvSpPr/>
          <p:nvPr/>
        </p:nvSpPr>
        <p:spPr>
          <a:xfrm>
            <a:off x="548640" y="2011680"/>
            <a:ext cx="11109960" cy="4846320"/>
          </a:xfrm>
          <a:prstGeom prst="rect">
            <a:avLst/>
          </a:prstGeom>
          <a:noFill/>
          <a:ln/>
        </p:spPr>
        <p:txBody>
          <a:bodyPr wrap="square" rtlCol="0" anchor="t"/>
          <a:lstStyle/>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Node.js 24 LTS instalado y verificado con node --version (comando que imprime la version del interprete de JavaScript del servidor).</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Angular CLI 22 instalado globalmente con npm install -g @angular/cli@22 (herramienta de linea de comandos que crea y mantiene proyectos Angular).</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IntelliJ IDEA Ultimate configurado con plugins Angular y TypeScript activos.</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Proyecto frontend/ generado con ng new frontend (comando que crea un proyecto Angular completo con enrutador y estilos CSS).</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Componentes standalone y servicios inyectables (@Injectable) generados con ng generate.</a:t>
            </a:r>
            <a:endParaRPr lang="en-US" sz="1400" dirty="0"/>
          </a:p>
          <a:p>
            <a:pPr marL="342900" indent="-342900">
              <a:spcAft>
                <a:spcPts val="800"/>
              </a:spcAft>
              <a:buSzPct val="100000"/>
              <a:buChar char="■"/>
            </a:pPr>
            <a:r>
              <a:rPr lang="en-US" sz="1400" dirty="0">
                <a:solidFill>
                  <a:srgbClr val="383A42"/>
                </a:solidFill>
                <a:latin typeface="Calibri" pitchFamily="34" charset="0"/>
                <a:ea typeface="Calibri" pitchFamily="34" charset="-122"/>
                <a:cs typeface="Calibri" pitchFamily="34" charset="-120"/>
              </a:rPr>
              <a:t>HttpClient registrado con provideHttpClient() y consumo de /api/libros implementado (metodos GET, POST, PUT, DELETE del CRUD).</a:t>
            </a:r>
            <a:endParaRPr lang="en-US" sz="1400" dirty="0"/>
          </a:p>
        </p:txBody>
      </p:sp>
      <p:sp>
        <p:nvSpPr>
          <p:cNvPr id="8" name="Shape 6"/>
          <p:cNvSpPr/>
          <p:nvPr/>
        </p:nvSpPr>
        <p:spPr>
          <a:xfrm>
            <a:off x="548640" y="5623560"/>
            <a:ext cx="11091672" cy="685800"/>
          </a:xfrm>
          <a:prstGeom prst="roundRect">
            <a:avLst>
              <a:gd name="adj" fmla="val 10667"/>
            </a:avLst>
          </a:prstGeom>
          <a:solidFill>
            <a:srgbClr val="FBF0D8"/>
          </a:solidFill>
          <a:ln w="12700">
            <a:solidFill>
              <a:srgbClr val="B8860B"/>
            </a:solidFill>
            <a:prstDash val="solid"/>
          </a:ln>
        </p:spPr>
        <p:txBody>
          <a:bodyPr/>
          <a:lstStyle/>
          <a:p>
            <a:endParaRPr lang="es-US"/>
          </a:p>
        </p:txBody>
      </p:sp>
      <p:sp>
        <p:nvSpPr>
          <p:cNvPr id="9" name="Shape 7"/>
          <p:cNvSpPr/>
          <p:nvPr/>
        </p:nvSpPr>
        <p:spPr>
          <a:xfrm>
            <a:off x="548640" y="5623560"/>
            <a:ext cx="91440" cy="685800"/>
          </a:xfrm>
          <a:prstGeom prst="rect">
            <a:avLst/>
          </a:prstGeom>
          <a:solidFill>
            <a:srgbClr val="B8860B"/>
          </a:solidFill>
          <a:ln w="12700">
            <a:solidFill>
              <a:srgbClr val="B8860B"/>
            </a:solidFill>
            <a:prstDash val="solid"/>
          </a:ln>
        </p:spPr>
        <p:txBody>
          <a:bodyPr/>
          <a:lstStyle/>
          <a:p>
            <a:endParaRPr lang="es-US"/>
          </a:p>
        </p:txBody>
      </p:sp>
      <p:sp>
        <p:nvSpPr>
          <p:cNvPr id="10" name="Text 8"/>
          <p:cNvSpPr/>
          <p:nvPr/>
        </p:nvSpPr>
        <p:spPr>
          <a:xfrm>
            <a:off x="731520" y="567842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Comprobacion rapida</a:t>
            </a:r>
            <a:endParaRPr lang="en-US" sz="1200" dirty="0"/>
          </a:p>
        </p:txBody>
      </p:sp>
      <p:sp>
        <p:nvSpPr>
          <p:cNvPr id="11" name="Text 9"/>
          <p:cNvSpPr/>
          <p:nvPr/>
        </p:nvSpPr>
        <p:spPr>
          <a:xfrm>
            <a:off x="731520" y="5952744"/>
            <a:ext cx="10817352" cy="30175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Ejecutar 'ng serve --open' en la carpeta frontend/ debe abrir localhost:4200 y mostrar el catalogo de libros consumido desde el backend en localhost:8080. Si no es asi, revisar el deck 1 antes de continuar.</a:t>
            </a:r>
            <a:endParaRPr lang="en-US" sz="1200" dirty="0"/>
          </a:p>
        </p:txBody>
      </p:sp>
      <p:sp>
        <p:nvSpPr>
          <p:cNvPr id="12" name="Shape 10"/>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4" name="Text 12"/>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 / 40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0. PUNTO DE PARTIDA</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Objetivos de la continuacion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Construir formularios con Signal Forms, la API estable en Angular 22 basada en signals (contenedores reactivos de estado).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Aprender los signals derivados con computed() (funcion que calcula un valor a partir de otros signals) y los efectos con effect() (funcion que se dispara cuando algun signal leido cambia).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Proteger rutas con guards funcionales, funciones que Angular ejecuta antes de activar una ruta y que deciden si el usuario puede acceder.</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Cargar componentes bajo demanda con loadComponent (mecanismo de lazy loading, o carga diferida, que reduce el bundle inicial).</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Escribir pruebas unitarias con Vitest, el corredor de pruebas por defecto de Angular desde la version 21, y con TestBed, la utilidad oficial de Angular para montar componentes en un entorno de prueba.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Empaquetar el frontend en un Dockerfile multi-stage y desplegarlo detras de nginx con proxy_pass hacia la API de BiblioUTEQ.</a:t>
            </a:r>
            <a:endParaRPr lang="en-US" sz="15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 / 40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Formularios: dos APIs coexisten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234440"/>
          </a:xfrm>
          <a:prstGeom prst="roundRect">
            <a:avLst>
              <a:gd name="adj" fmla="val 4444"/>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2344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10881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Formulario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Vista con campos (input, select, textarea) que capturan datos del usuario y los envian al servidor. Un formulario tiene estado (valores actuales, si se toco, si es valido, si tiene errores) y comportamiento (validacion, envio).</a:t>
            </a:r>
            <a:endParaRPr lang="en-US" sz="1100" dirty="0"/>
          </a:p>
        </p:txBody>
      </p:sp>
      <p:sp>
        <p:nvSpPr>
          <p:cNvPr id="9" name="Text 7"/>
          <p:cNvSpPr/>
          <p:nvPr/>
        </p:nvSpPr>
        <p:spPr>
          <a:xfrm>
            <a:off x="548640" y="27889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En Angular 22 conviven dos APIs oficiales para escribir formularios. Cual se usa depende del proyecto y del gusto del equipo; ambas tienen soporte a largo plazo, segun la nota oficial del anuncio de Angular 22.</a:t>
            </a:r>
            <a:endParaRPr lang="en-US" sz="1400" dirty="0"/>
          </a:p>
        </p:txBody>
      </p:sp>
      <p:sp>
        <p:nvSpPr>
          <p:cNvPr id="10" name="Shape 8"/>
          <p:cNvSpPr/>
          <p:nvPr/>
        </p:nvSpPr>
        <p:spPr>
          <a:xfrm>
            <a:off x="548640" y="3566160"/>
            <a:ext cx="5468112" cy="2651760"/>
          </a:xfrm>
          <a:prstGeom prst="roundRect">
            <a:avLst>
              <a:gd name="adj" fmla="val 3448"/>
            </a:avLst>
          </a:prstGeom>
          <a:solidFill>
            <a:srgbClr val="FFFFFF"/>
          </a:solidFill>
          <a:ln w="19050">
            <a:solidFill>
              <a:srgbClr val="006633"/>
            </a:solidFill>
            <a:prstDash val="solid"/>
          </a:ln>
        </p:spPr>
        <p:txBody>
          <a:bodyPr/>
          <a:lstStyle/>
          <a:p>
            <a:endParaRPr lang="es-US"/>
          </a:p>
        </p:txBody>
      </p:sp>
      <p:sp>
        <p:nvSpPr>
          <p:cNvPr id="11" name="Shape 9"/>
          <p:cNvSpPr/>
          <p:nvPr/>
        </p:nvSpPr>
        <p:spPr>
          <a:xfrm>
            <a:off x="548640" y="3566160"/>
            <a:ext cx="5468112" cy="41148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640080" y="358444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Reactive Forms (clasico)</a:t>
            </a:r>
            <a:endParaRPr lang="en-US" sz="1300" dirty="0"/>
          </a:p>
        </p:txBody>
      </p:sp>
      <p:sp>
        <p:nvSpPr>
          <p:cNvPr id="13" name="Text 11"/>
          <p:cNvSpPr/>
          <p:nvPr/>
        </p:nvSpPr>
        <p:spPr>
          <a:xfrm>
            <a:off x="685800" y="4069080"/>
            <a:ext cx="5193792" cy="205740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Modulo: @angular/forms. Se construye con clases FormGroup y FormControl. Cada control es un objeto que expone valueChanges (un Observable) y statusChanges. Ha sido el estandar desde Angular 2 (2016). Requiere gestionar suscripciones y ControlValueAccessor para inputs personalizados.</a:t>
            </a:r>
            <a:endParaRPr lang="en-US" sz="1200" dirty="0"/>
          </a:p>
        </p:txBody>
      </p:sp>
      <p:sp>
        <p:nvSpPr>
          <p:cNvPr id="14" name="Shape 12"/>
          <p:cNvSpPr/>
          <p:nvPr/>
        </p:nvSpPr>
        <p:spPr>
          <a:xfrm>
            <a:off x="6172200" y="3566160"/>
            <a:ext cx="5468112" cy="2651760"/>
          </a:xfrm>
          <a:prstGeom prst="roundRect">
            <a:avLst>
              <a:gd name="adj" fmla="val 3448"/>
            </a:avLst>
          </a:prstGeom>
          <a:solidFill>
            <a:srgbClr val="FFFFFF"/>
          </a:solidFill>
          <a:ln w="19050">
            <a:solidFill>
              <a:srgbClr val="B8860B"/>
            </a:solidFill>
            <a:prstDash val="solid"/>
          </a:ln>
        </p:spPr>
        <p:txBody>
          <a:bodyPr/>
          <a:lstStyle/>
          <a:p>
            <a:endParaRPr lang="es-US"/>
          </a:p>
        </p:txBody>
      </p:sp>
      <p:sp>
        <p:nvSpPr>
          <p:cNvPr id="15" name="Shape 13"/>
          <p:cNvSpPr/>
          <p:nvPr/>
        </p:nvSpPr>
        <p:spPr>
          <a:xfrm>
            <a:off x="6172200" y="3566160"/>
            <a:ext cx="5468112" cy="411480"/>
          </a:xfrm>
          <a:prstGeom prst="rect">
            <a:avLst/>
          </a:prstGeom>
          <a:solidFill>
            <a:srgbClr val="B8860B"/>
          </a:solidFill>
          <a:ln w="12700">
            <a:solidFill>
              <a:srgbClr val="B8860B"/>
            </a:solidFill>
            <a:prstDash val="solid"/>
          </a:ln>
        </p:spPr>
        <p:txBody>
          <a:bodyPr/>
          <a:lstStyle/>
          <a:p>
            <a:endParaRPr lang="es-US"/>
          </a:p>
        </p:txBody>
      </p:sp>
      <p:sp>
        <p:nvSpPr>
          <p:cNvPr id="16" name="Text 14"/>
          <p:cNvSpPr/>
          <p:nvPr/>
        </p:nvSpPr>
        <p:spPr>
          <a:xfrm>
            <a:off x="6263640" y="358444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Signal Forms (estable en v22)</a:t>
            </a:r>
            <a:endParaRPr lang="en-US" sz="1300" dirty="0"/>
          </a:p>
        </p:txBody>
      </p:sp>
      <p:sp>
        <p:nvSpPr>
          <p:cNvPr id="17" name="Text 15"/>
          <p:cNvSpPr/>
          <p:nvPr/>
        </p:nvSpPr>
        <p:spPr>
          <a:xfrm>
            <a:off x="6309360" y="4069080"/>
            <a:ext cx="5193792" cy="205740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Modulo: @angular/forms/signals. Se construye con la funcion form() a partir de una signal que contiene los datos. Cada campo es una signal tipada. Todo se lee y se muta a traves de signals; no hay Observables ni subscribe. Se recomienda para formularios nuevos.</a:t>
            </a:r>
            <a:endParaRPr lang="en-US" sz="1200" dirty="0"/>
          </a:p>
        </p:txBody>
      </p:sp>
      <p:sp>
        <p:nvSpPr>
          <p:cNvPr id="18" name="Shape 16"/>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9" name="Text 17"/>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0" name="Text 18"/>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--- 4 / 40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piezas clave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Signal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Contenedor reactivo de un valor. Se lee llamandolo como funcion (mi.signal()) y se muta con set() o update(). Cuando cambia, Angular re-renderiza automaticamente las vistas y calcula lo derivado que dependa de el.</a:t>
            </a:r>
            <a:endParaRPr lang="en-US" sz="1100" dirty="0"/>
          </a:p>
        </p:txBody>
      </p:sp>
      <p:sp>
        <p:nvSpPr>
          <p:cNvPr id="9" name="Shape 7"/>
          <p:cNvSpPr/>
          <p:nvPr/>
        </p:nvSpPr>
        <p:spPr>
          <a:xfrm>
            <a:off x="548640" y="2560320"/>
            <a:ext cx="5468112" cy="1737360"/>
          </a:xfrm>
          <a:prstGeom prst="roundRect">
            <a:avLst>
              <a:gd name="adj" fmla="val 3158"/>
            </a:avLst>
          </a:prstGeom>
          <a:solidFill>
            <a:srgbClr val="FFFFFF"/>
          </a:solidFill>
          <a:ln w="15240">
            <a:solidFill>
              <a:srgbClr val="006633"/>
            </a:solidFill>
            <a:prstDash val="solid"/>
          </a:ln>
        </p:spPr>
        <p:txBody>
          <a:bodyPr/>
          <a:lstStyle/>
          <a:p>
            <a:endParaRPr lang="es-US"/>
          </a:p>
        </p:txBody>
      </p:sp>
      <p:sp>
        <p:nvSpPr>
          <p:cNvPr id="10" name="Shape 8"/>
          <p:cNvSpPr/>
          <p:nvPr/>
        </p:nvSpPr>
        <p:spPr>
          <a:xfrm>
            <a:off x="548640" y="2560320"/>
            <a:ext cx="546811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640080" y="256032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signal&lt;T&gt;(inicial)</a:t>
            </a:r>
            <a:endParaRPr lang="en-US" sz="1200" dirty="0"/>
          </a:p>
        </p:txBody>
      </p:sp>
      <p:sp>
        <p:nvSpPr>
          <p:cNvPr id="12" name="Text 10"/>
          <p:cNvSpPr/>
          <p:nvPr/>
        </p:nvSpPr>
        <p:spPr>
          <a:xfrm>
            <a:off x="685800" y="299923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Crea la signal que guarda el modelo del formulario. Su tipo T describe la forma del objeto (ej. interface Libro).</a:t>
            </a:r>
            <a:endParaRPr lang="en-US" sz="1200" dirty="0"/>
          </a:p>
        </p:txBody>
      </p:sp>
      <p:sp>
        <p:nvSpPr>
          <p:cNvPr id="13" name="Shape 11"/>
          <p:cNvSpPr/>
          <p:nvPr/>
        </p:nvSpPr>
        <p:spPr>
          <a:xfrm>
            <a:off x="6172200" y="2560320"/>
            <a:ext cx="5468112" cy="1737360"/>
          </a:xfrm>
          <a:prstGeom prst="roundRect">
            <a:avLst>
              <a:gd name="adj" fmla="val 3158"/>
            </a:avLst>
          </a:prstGeom>
          <a:solidFill>
            <a:srgbClr val="FFFFFF"/>
          </a:solidFill>
          <a:ln w="15240">
            <a:solidFill>
              <a:srgbClr val="006633"/>
            </a:solidFill>
            <a:prstDash val="solid"/>
          </a:ln>
        </p:spPr>
        <p:txBody>
          <a:bodyPr/>
          <a:lstStyle/>
          <a:p>
            <a:endParaRPr lang="es-US"/>
          </a:p>
        </p:txBody>
      </p:sp>
      <p:sp>
        <p:nvSpPr>
          <p:cNvPr id="14" name="Shape 12"/>
          <p:cNvSpPr/>
          <p:nvPr/>
        </p:nvSpPr>
        <p:spPr>
          <a:xfrm>
            <a:off x="6172200" y="2560320"/>
            <a:ext cx="5468112" cy="365760"/>
          </a:xfrm>
          <a:prstGeom prst="rect">
            <a:avLst/>
          </a:prstGeom>
          <a:solidFill>
            <a:srgbClr val="006633"/>
          </a:solidFill>
          <a:ln w="12700">
            <a:solidFill>
              <a:srgbClr val="006633"/>
            </a:solidFill>
            <a:prstDash val="solid"/>
          </a:ln>
        </p:spPr>
        <p:txBody>
          <a:bodyPr/>
          <a:lstStyle/>
          <a:p>
            <a:endParaRPr lang="es-US"/>
          </a:p>
        </p:txBody>
      </p:sp>
      <p:sp>
        <p:nvSpPr>
          <p:cNvPr id="15" name="Text 13"/>
          <p:cNvSpPr/>
          <p:nvPr/>
        </p:nvSpPr>
        <p:spPr>
          <a:xfrm>
            <a:off x="6263640" y="256032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form(mi_signal)</a:t>
            </a:r>
            <a:endParaRPr lang="en-US" sz="1200" dirty="0"/>
          </a:p>
        </p:txBody>
      </p:sp>
      <p:sp>
        <p:nvSpPr>
          <p:cNvPr id="16" name="Text 14"/>
          <p:cNvSpPr/>
          <p:nvPr/>
        </p:nvSpPr>
        <p:spPr>
          <a:xfrm>
            <a:off x="6309360" y="299923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Convierte la signal en un FieldTree: arbol donde cada campo del modelo es una signal con estado (valor, valido, tocado, errores).</a:t>
            </a:r>
            <a:endParaRPr lang="en-US" sz="1200" dirty="0"/>
          </a:p>
        </p:txBody>
      </p:sp>
      <p:sp>
        <p:nvSpPr>
          <p:cNvPr id="17" name="Shape 15"/>
          <p:cNvSpPr/>
          <p:nvPr/>
        </p:nvSpPr>
        <p:spPr>
          <a:xfrm>
            <a:off x="548640" y="4434840"/>
            <a:ext cx="5468112" cy="1737360"/>
          </a:xfrm>
          <a:prstGeom prst="roundRect">
            <a:avLst>
              <a:gd name="adj" fmla="val 3158"/>
            </a:avLst>
          </a:prstGeom>
          <a:solidFill>
            <a:srgbClr val="FFFFFF"/>
          </a:solidFill>
          <a:ln w="15240">
            <a:solidFill>
              <a:srgbClr val="B8860B"/>
            </a:solidFill>
            <a:prstDash val="solid"/>
          </a:ln>
        </p:spPr>
        <p:txBody>
          <a:bodyPr/>
          <a:lstStyle/>
          <a:p>
            <a:endParaRPr lang="es-US"/>
          </a:p>
        </p:txBody>
      </p:sp>
      <p:sp>
        <p:nvSpPr>
          <p:cNvPr id="18" name="Shape 16"/>
          <p:cNvSpPr/>
          <p:nvPr/>
        </p:nvSpPr>
        <p:spPr>
          <a:xfrm>
            <a:off x="548640" y="4434840"/>
            <a:ext cx="5468112" cy="365760"/>
          </a:xfrm>
          <a:prstGeom prst="rect">
            <a:avLst/>
          </a:prstGeom>
          <a:solidFill>
            <a:srgbClr val="B8860B"/>
          </a:solidFill>
          <a:ln w="12700">
            <a:solidFill>
              <a:srgbClr val="B8860B"/>
            </a:solidFill>
            <a:prstDash val="solid"/>
          </a:ln>
        </p:spPr>
        <p:txBody>
          <a:bodyPr/>
          <a:lstStyle/>
          <a:p>
            <a:endParaRPr lang="es-US"/>
          </a:p>
        </p:txBody>
      </p:sp>
      <p:sp>
        <p:nvSpPr>
          <p:cNvPr id="19" name="Text 17"/>
          <p:cNvSpPr/>
          <p:nvPr/>
        </p:nvSpPr>
        <p:spPr>
          <a:xfrm>
            <a:off x="640080" y="443484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[formField]="f.campo"</a:t>
            </a:r>
            <a:endParaRPr lang="en-US" sz="1200" dirty="0"/>
          </a:p>
        </p:txBody>
      </p:sp>
      <p:sp>
        <p:nvSpPr>
          <p:cNvPr id="20" name="Text 18"/>
          <p:cNvSpPr/>
          <p:nvPr/>
        </p:nvSpPr>
        <p:spPr>
          <a:xfrm>
            <a:off x="685800" y="487375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Directiva que enlaza un &lt;input&gt; con la rama del arbol; sincroniza valor y estado en ambas direcciones.</a:t>
            </a:r>
            <a:endParaRPr lang="en-US" sz="1200" dirty="0"/>
          </a:p>
        </p:txBody>
      </p:sp>
      <p:sp>
        <p:nvSpPr>
          <p:cNvPr id="21" name="Shape 19"/>
          <p:cNvSpPr/>
          <p:nvPr/>
        </p:nvSpPr>
        <p:spPr>
          <a:xfrm>
            <a:off x="6172200" y="4434840"/>
            <a:ext cx="5468112" cy="1737360"/>
          </a:xfrm>
          <a:prstGeom prst="roundRect">
            <a:avLst>
              <a:gd name="adj" fmla="val 3158"/>
            </a:avLst>
          </a:prstGeom>
          <a:solidFill>
            <a:srgbClr val="FFFFFF"/>
          </a:solidFill>
          <a:ln w="15240">
            <a:solidFill>
              <a:srgbClr val="B8860B"/>
            </a:solidFill>
            <a:prstDash val="solid"/>
          </a:ln>
        </p:spPr>
        <p:txBody>
          <a:bodyPr/>
          <a:lstStyle/>
          <a:p>
            <a:endParaRPr lang="es-US"/>
          </a:p>
        </p:txBody>
      </p:sp>
      <p:sp>
        <p:nvSpPr>
          <p:cNvPr id="22" name="Shape 20"/>
          <p:cNvSpPr/>
          <p:nvPr/>
        </p:nvSpPr>
        <p:spPr>
          <a:xfrm>
            <a:off x="6172200" y="4434840"/>
            <a:ext cx="5468112" cy="365760"/>
          </a:xfrm>
          <a:prstGeom prst="rect">
            <a:avLst/>
          </a:prstGeom>
          <a:solidFill>
            <a:srgbClr val="B8860B"/>
          </a:solidFill>
          <a:ln w="12700">
            <a:solidFill>
              <a:srgbClr val="B8860B"/>
            </a:solidFill>
            <a:prstDash val="solid"/>
          </a:ln>
        </p:spPr>
        <p:txBody>
          <a:bodyPr/>
          <a:lstStyle/>
          <a:p>
            <a:endParaRPr lang="es-US"/>
          </a:p>
        </p:txBody>
      </p:sp>
      <p:sp>
        <p:nvSpPr>
          <p:cNvPr id="23" name="Text 21"/>
          <p:cNvSpPr/>
          <p:nvPr/>
        </p:nvSpPr>
        <p:spPr>
          <a:xfrm>
            <a:off x="6263640" y="4434840"/>
            <a:ext cx="5285232" cy="365760"/>
          </a:xfrm>
          <a:prstGeom prst="rect">
            <a:avLst/>
          </a:prstGeom>
          <a:noFill/>
          <a:ln/>
        </p:spPr>
        <p:txBody>
          <a:bodyPr wrap="square"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submit(form, fn)</a:t>
            </a:r>
            <a:endParaRPr lang="en-US" sz="1200" dirty="0"/>
          </a:p>
        </p:txBody>
      </p:sp>
      <p:sp>
        <p:nvSpPr>
          <p:cNvPr id="24" name="Text 22"/>
          <p:cNvSpPr/>
          <p:nvPr/>
        </p:nvSpPr>
        <p:spPr>
          <a:xfrm>
            <a:off x="6309360" y="4873752"/>
            <a:ext cx="5193792" cy="1234440"/>
          </a:xfrm>
          <a:prstGeom prst="rect">
            <a:avLst/>
          </a:prstGeom>
          <a:noFill/>
          <a:ln/>
        </p:spPr>
        <p:txBody>
          <a:bodyPr wrap="square" rtlCol="0" anchor="t"/>
          <a:lstStyle/>
          <a:p>
            <a:pPr marL="0" indent="0">
              <a:buNone/>
            </a:pPr>
            <a:r>
              <a:rPr lang="en-US" sz="1200" dirty="0">
                <a:solidFill>
                  <a:srgbClr val="383A42"/>
                </a:solidFill>
                <a:latin typeface="Calibri" pitchFamily="34" charset="0"/>
                <a:ea typeface="Calibri" pitchFamily="34" charset="-122"/>
                <a:cs typeface="Calibri" pitchFamily="34" charset="-120"/>
              </a:rPr>
              <a:t>Ejecuta la accion de envio; marca el formulario como enviado y solo procesa si validity() vale 'valid'.</a:t>
            </a:r>
            <a:endParaRPr lang="en-US" sz="1200" dirty="0"/>
          </a:p>
        </p:txBody>
      </p:sp>
      <p:sp>
        <p:nvSpPr>
          <p:cNvPr id="25" name="Shape 23"/>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6" name="Text 24"/>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7" name="Text 25"/>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--- 5 /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no requiere instalacion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El modulo @angular/forms/signals ya viene incluido en el paquete @angular/forms que la CLI instala por defecto. Basta importarlo en el componente que lo use.</a:t>
            </a:r>
            <a:endParaRPr lang="en-US" sz="1400" dirty="0"/>
          </a:p>
        </p:txBody>
      </p:sp>
      <p:sp>
        <p:nvSpPr>
          <p:cNvPr id="7" name="Shape 5"/>
          <p:cNvSpPr/>
          <p:nvPr/>
        </p:nvSpPr>
        <p:spPr>
          <a:xfrm>
            <a:off x="548640" y="2148840"/>
            <a:ext cx="11091672" cy="4114800"/>
          </a:xfrm>
          <a:prstGeom prst="roundRect">
            <a:avLst>
              <a:gd name="adj" fmla="val 1333"/>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148840"/>
            <a:ext cx="192024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1671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imports base</a:t>
            </a:r>
            <a:endParaRPr lang="en-US" sz="1000" dirty="0"/>
          </a:p>
        </p:txBody>
      </p:sp>
      <p:sp>
        <p:nvSpPr>
          <p:cNvPr id="10" name="Text 8"/>
          <p:cNvSpPr txBox="1"/>
          <p:nvPr/>
        </p:nvSpPr>
        <p:spPr>
          <a:xfrm>
            <a:off x="640080" y="2496312"/>
            <a:ext cx="10908792" cy="367588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biblioteq-front/src/app/libros/libro-form.component.ts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Component: decorador que declara la clase como componente Angular.
// signal: fabrica la senal que guarda el modelo del formulario.
// inject: helper que obtiene una instancia registrada del inyector.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Component,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inject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form: crea el FieldTree a partir de una signal.
// FormField: directiva de plantilla que enlaza &lt;input&gt; con la rama.
// submit: helper que dispara el envio y valida antes de ejecutar el callback.
</a:t>
            </a: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form, FormField, submit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'@angular/forms/signals'</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LibroService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'./libro.service'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Libro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'./libro.model'</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--- 6 / 40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formulario minimo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libro-form.component.ts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Decorador @Component: metadatos de configuracion del componente.
</a:t>
            </a:r>
            <a:r>
              <a:rPr lang="en-US" sz="1100" dirty="0">
                <a:solidFill>
                  <a:srgbClr val="383A42"/>
                </a:solidFill>
                <a:latin typeface="Courier New" pitchFamily="34" charset="0"/>
                <a:ea typeface="Courier New" pitchFamily="34" charset="-122"/>
                <a:cs typeface="Courier New" pitchFamily="34" charset="-120"/>
              </a:rPr>
              <a: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'app-libro-form'</a:t>
            </a:r>
            <a:r>
              <a:rPr lang="en-US" sz="1100" dirty="0">
                <a:solidFill>
                  <a:srgbClr val="383A42"/>
                </a:solidFill>
                <a:latin typeface="Courier New" pitchFamily="34" charset="0"/>
                <a:ea typeface="Courier New" pitchFamily="34" charset="-122"/>
                <a:cs typeface="Courier New" pitchFamily="34" charset="-120"/>
              </a:rPr>
              <a:t>,      // etiqueta HTML del componente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 no requiere NgModule (default en v22)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imports: [FormField],             // directiva formField usada en la plantilla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templateUrl: </a:t>
            </a:r>
            <a:r>
              <a:rPr lang="en-US" sz="1100" dirty="0">
                <a:solidFill>
                  <a:srgbClr val="C41A16"/>
                </a:solidFill>
                <a:latin typeface="Courier New" pitchFamily="34" charset="0"/>
                <a:ea typeface="Courier New" pitchFamily="34" charset="-122"/>
                <a:cs typeface="Courier New" pitchFamily="34" charset="-120"/>
              </a:rPr>
              <a:t>'./libro-form.html'</a:t>
            </a:r>
            <a:r>
              <a:rPr lang="en-US" sz="1100" dirty="0">
                <a:solidFill>
                  <a:srgbClr val="383A42"/>
                </a:solidFill>
                <a:latin typeface="Courier New" pitchFamily="34" charset="0"/>
                <a:ea typeface="Courier New" pitchFamily="34" charset="-122"/>
                <a:cs typeface="Courier New" pitchFamily="34" charset="-120"/>
              </a:rPr>
              <a:t>  // ruta al archivo de plantilla externa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signal&lt;Libro&gt;() : contenedor reactivo con el modelo inicial vacio.
  // Su valor se lee con model() y se muta con model.set() o model.update().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model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id: 0, isbn: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titulo: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autor: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editorial: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anio: 2026, categoriaId: 1, disponibles: 1</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 : convierte la signal en un FieldTree.
  // libroForm.titulo, libroForm.isbn... son signals de campo con estado.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--- 7 / 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 Forms: plantilla del formulario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libro-form.html</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&lt;!-- libro-form.html: enlaza cada input a una rama del FieldTree --&gt;
</a:t>
            </a:r>
            <a:r>
              <a:rPr lang="en-US" sz="1100" dirty="0">
                <a:solidFill>
                  <a:srgbClr val="383A42"/>
                </a:solidFill>
                <a:latin typeface="Courier New" pitchFamily="34" charset="0"/>
                <a:ea typeface="Courier New" pitchFamily="34" charset="-122"/>
                <a:cs typeface="Courier New" pitchFamily="34" charset="-120"/>
              </a:rPr>
              <a:t>&lt;form (submit)=</a:t>
            </a:r>
            <a:r>
              <a:rPr lang="en-US" sz="1100" dirty="0">
                <a:solidFill>
                  <a:srgbClr val="C41A16"/>
                </a:solidFill>
                <a:latin typeface="Courier New" pitchFamily="34" charset="0"/>
                <a:ea typeface="Courier New" pitchFamily="34" charset="-122"/>
                <a:cs typeface="Courier New" pitchFamily="34" charset="-120"/>
              </a:rPr>
              <a:t>"guardar($event)"</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[formField] es una directiva estructural que sincroniza --&gt;
  &lt;!-- el valor del input con la signal del campo del arbol.    --&gt;
</a:t>
            </a:r>
            <a:r>
              <a:rPr lang="en-US" sz="1100" dirty="0">
                <a:solidFill>
                  <a:srgbClr val="383A42"/>
                </a:solidFill>
                <a:latin typeface="Courier New" pitchFamily="34" charset="0"/>
                <a:ea typeface="Courier New" pitchFamily="34" charset="-122"/>
                <a:cs typeface="Courier New" pitchFamily="34" charset="-120"/>
              </a:rPr>
              <a:t>  &lt;label&gt;Titulo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&lt;input [formField]=</a:t>
            </a:r>
            <a:r>
              <a:rPr lang="en-US" sz="1100" dirty="0">
                <a:solidFill>
                  <a:srgbClr val="C41A16"/>
                </a:solidFill>
                <a:latin typeface="Courier New" pitchFamily="34" charset="0"/>
                <a:ea typeface="Courier New" pitchFamily="34" charset="-122"/>
                <a:cs typeface="Courier New" pitchFamily="34" charset="-120"/>
              </a:rPr>
              <a:t>"libroForm.titulo"</a:t>
            </a:r>
            <a:r>
              <a:rPr lang="en-US" sz="1100" dirty="0">
                <a:solidFill>
                  <a:srgbClr val="383A42"/>
                </a:solidFill>
                <a:latin typeface="Courier New" pitchFamily="34" charset="0"/>
                <a:ea typeface="Courier New" pitchFamily="34" charset="-122"/>
                <a:cs typeface="Courier New" pitchFamily="34" charset="-120"/>
              </a:rPr>
              <a:t>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errors() es una signal que devuelve la lista de errores  --&gt;
  &lt;!-- de un campo; @if la lee y muestra un mensaje si hay uno. --&gt;
</a:t>
            </a:r>
            <a:r>
              <a:rPr lang="en-US" sz="1100" dirty="0">
                <a:solidFill>
                  <a:srgbClr val="383A42"/>
                </a:solidFill>
                <a:latin typeface="Courier New" pitchFamily="34" charset="0"/>
                <a:ea typeface="Courier New" pitchFamily="34" charset="-122"/>
                <a:cs typeface="Courier New" pitchFamily="34" charset="-120"/>
              </a:rPr>
              <a:t>  @if (libroForm.titulo.errors().length &gt; 0)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&lt;p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"error"</a:t>
            </a:r>
            <a:r>
              <a:rPr lang="en-US" sz="1100" dirty="0">
                <a:solidFill>
                  <a:srgbClr val="383A42"/>
                </a:solidFill>
                <a:latin typeface="Courier New" pitchFamily="34" charset="0"/>
                <a:ea typeface="Courier New" pitchFamily="34" charset="-122"/>
                <a:cs typeface="Courier New" pitchFamily="34" charset="-120"/>
              </a:rPr>
              <a:t>&gt;Titulo obligatorio.&lt;/p&gt;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&lt;label&gt;ISBN &lt;input [formField]=</a:t>
            </a:r>
            <a:r>
              <a:rPr lang="en-US" sz="1100" dirty="0">
                <a:solidFill>
                  <a:srgbClr val="C41A16"/>
                </a:solidFill>
                <a:latin typeface="Courier New" pitchFamily="34" charset="0"/>
                <a:ea typeface="Courier New" pitchFamily="34" charset="-122"/>
                <a:cs typeface="Courier New" pitchFamily="34" charset="-120"/>
              </a:rPr>
              <a:t>"libroForm.isbn"</a:t>
            </a:r>
            <a:r>
              <a:rPr lang="en-US" sz="1100" dirty="0">
                <a:solidFill>
                  <a:srgbClr val="383A42"/>
                </a:solidFill>
                <a:latin typeface="Courier New" pitchFamily="34" charset="0"/>
                <a:ea typeface="Courier New" pitchFamily="34" charset="-122"/>
                <a:cs typeface="Courier New" pitchFamily="34" charset="-120"/>
              </a:rPr>
              <a:t> /&gt;&lt;/label&gt;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&lt;label&gt;Autor &lt;input [formField]=</a:t>
            </a:r>
            <a:r>
              <a:rPr lang="en-US" sz="1100" dirty="0">
                <a:solidFill>
                  <a:srgbClr val="C41A16"/>
                </a:solidFill>
                <a:latin typeface="Courier New" pitchFamily="34" charset="0"/>
                <a:ea typeface="Courier New" pitchFamily="34" charset="-122"/>
                <a:cs typeface="Courier New" pitchFamily="34" charset="-120"/>
              </a:rPr>
              <a:t>"libroForm.autor"</a:t>
            </a:r>
            <a:r>
              <a:rPr lang="en-US" sz="1100" dirty="0">
                <a:solidFill>
                  <a:srgbClr val="383A42"/>
                </a:solidFill>
                <a:latin typeface="Courier New" pitchFamily="34" charset="0"/>
                <a:ea typeface="Courier New" pitchFamily="34" charset="-122"/>
                <a:cs typeface="Courier New" pitchFamily="34" charset="-120"/>
              </a:rPr>
              <a:t> /&gt;&lt;/label&gt;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&lt;button </a:t>
            </a:r>
            <a:r>
              <a:rPr lang="en-US" sz="1100" b="1" dirty="0">
                <a:solidFill>
                  <a:srgbClr val="0057AE"/>
                </a:solidFill>
                <a:latin typeface="Courier New" pitchFamily="34" charset="0"/>
                <a:ea typeface="Courier New" pitchFamily="34" charset="-122"/>
                <a:cs typeface="Courier New" pitchFamily="34" charset="-120"/>
              </a:rPr>
              <a:t>type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"submit"</a:t>
            </a:r>
            <a:r>
              <a:rPr lang="en-US" sz="1100" dirty="0">
                <a:solidFill>
                  <a:srgbClr val="383A42"/>
                </a:solidFill>
                <a:latin typeface="Courier New" pitchFamily="34" charset="0"/>
                <a:ea typeface="Courier New" pitchFamily="34" charset="-122"/>
                <a:cs typeface="Courier New" pitchFamily="34" charset="-120"/>
              </a:rPr>
              <a:t>&gt;Guardar&lt;/button&gt;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&lt;/form&gt;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--- 8 / 40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Validacion declarativa con un schema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schema declarativo</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schema() : recibe una funcion (path) =&gt; que declara las reglas
// para cada rama. path apunta al arbol de campos del modelo.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form, schema, required, minLength, maxLength, min, max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'@angular/forms/signals'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El schema es un valor declarativo: no ejecuta validaciones,
// las anota. La validacion se corre sola cuando cambia el valor.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libroSchema = schema&lt;Libro&gt;((path)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required : el campo no puede ser cadena vacia ni undefined.
</a:t>
            </a:r>
            <a:r>
              <a:rPr lang="en-US" sz="1100" dirty="0">
                <a:solidFill>
                  <a:srgbClr val="383A42"/>
                </a:solidFill>
                <a:latin typeface="Courier New" pitchFamily="34" charset="0"/>
                <a:ea typeface="Courier New" pitchFamily="34" charset="-122"/>
                <a:cs typeface="Courier New" pitchFamily="34" charset="-120"/>
              </a:rPr>
              <a:t>  required(path.titulo,   { message: </a:t>
            </a:r>
            <a:r>
              <a:rPr lang="en-US" sz="1100" dirty="0">
                <a:solidFill>
                  <a:srgbClr val="C41A16"/>
                </a:solidFill>
                <a:latin typeface="Courier New" pitchFamily="34" charset="0"/>
                <a:ea typeface="Courier New" pitchFamily="34" charset="-122"/>
                <a:cs typeface="Courier New" pitchFamily="34" charset="-120"/>
              </a:rPr>
              <a:t>'El titulo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required(path.isbn,     { message: </a:t>
            </a:r>
            <a:r>
              <a:rPr lang="en-US" sz="1100" dirty="0">
                <a:solidFill>
                  <a:srgbClr val="C41A16"/>
                </a:solidFill>
                <a:latin typeface="Courier New" pitchFamily="34" charset="0"/>
                <a:ea typeface="Courier New" pitchFamily="34" charset="-122"/>
                <a:cs typeface="Courier New" pitchFamily="34" charset="-120"/>
              </a:rPr>
              <a:t>'El ISBN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required(path.autor,    { message: </a:t>
            </a:r>
            <a:r>
              <a:rPr lang="en-US" sz="1100" dirty="0">
                <a:solidFill>
                  <a:srgbClr val="C41A16"/>
                </a:solidFill>
                <a:latin typeface="Courier New" pitchFamily="34" charset="0"/>
                <a:ea typeface="Courier New" pitchFamily="34" charset="-122"/>
                <a:cs typeface="Courier New" pitchFamily="34" charset="-120"/>
              </a:rPr>
              <a:t>'El autor es obligatorio'</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minLength / maxLength : longitud del texto en caracteres.
</a:t>
            </a:r>
            <a:r>
              <a:rPr lang="en-US" sz="1100" dirty="0">
                <a:solidFill>
                  <a:srgbClr val="383A42"/>
                </a:solidFill>
                <a:latin typeface="Courier New" pitchFamily="34" charset="0"/>
                <a:ea typeface="Courier New" pitchFamily="34" charset="-122"/>
                <a:cs typeface="Courier New" pitchFamily="34" charset="-120"/>
              </a:rPr>
              <a:t>  minLength(path.titulo, 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maxLength(path.titulo, 120);</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min / max : rango numerico. Se aplica al campo anio.
</a:t>
            </a:r>
            <a:r>
              <a:rPr lang="en-US" sz="1100" dirty="0">
                <a:solidFill>
                  <a:srgbClr val="383A42"/>
                </a:solidFill>
                <a:latin typeface="Courier New" pitchFamily="34" charset="0"/>
                <a:ea typeface="Courier New" pitchFamily="34" charset="-122"/>
                <a:cs typeface="Courier New" pitchFamily="34" charset="-120"/>
              </a:rPr>
              <a:t>  min(path.anio, 1500);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max(path.anio, 2100);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Al declarar el formulario, se pasa el schema como segunda opcion: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 libroSchema);</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--- 9 / 40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Envio del formulario (submit)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guardar()</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En la clase del componente: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inject() : obtiene la instancia unica del servicio del inyector.
  // Es equivalente moderno de tener el servicio como parametro del constructor.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servicio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(LibroService);</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model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protected</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readonly</a:t>
            </a:r>
            <a:r>
              <a:rPr lang="en-US" sz="1100" dirty="0">
                <a:solidFill>
                  <a:srgbClr val="383A42"/>
                </a:solidFill>
                <a:latin typeface="Courier New" pitchFamily="34" charset="0"/>
                <a:ea typeface="Courier New" pitchFamily="34" charset="-122"/>
                <a:cs typeface="Courier New" pitchFamily="34" charset="-120"/>
              </a:rPr>
              <a:t> libroForm = form(</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.model, libroSchema);</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guardar() : callback del evento (submit) del &lt;form&gt;.
  // event.preventDefault() : evita la recarga por defecto del navegador.
  // submit() : helper de Signal Forms que marca el form como enviado,
  //           valida, y solo ejecuta la funcion callback si es valido.
</a:t>
            </a:r>
            <a:r>
              <a:rPr lang="en-US" sz="1100" dirty="0">
                <a:solidFill>
                  <a:srgbClr val="383A42"/>
                </a:solidFill>
                <a:latin typeface="Courier New" pitchFamily="34" charset="0"/>
                <a:ea typeface="Courier New" pitchFamily="34" charset="-122"/>
                <a:cs typeface="Courier New" pitchFamily="34" charset="-120"/>
              </a:rPr>
              <a:t>  guardar(event: Event): </a:t>
            </a:r>
            <a:r>
              <a:rPr lang="en-US" sz="1100" b="1" dirty="0">
                <a:solidFill>
                  <a:srgbClr val="0057AE"/>
                </a:solidFill>
                <a:latin typeface="Courier New" pitchFamily="34" charset="0"/>
                <a:ea typeface="Courier New" pitchFamily="34" charset="-122"/>
                <a:cs typeface="Courier New" pitchFamily="34" charset="-120"/>
              </a:rPr>
              <a:t>void</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event.preventDefault();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submit(</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.libroForm, </a:t>
            </a:r>
            <a:r>
              <a:rPr lang="en-US" sz="1100" b="1" dirty="0">
                <a:solidFill>
                  <a:srgbClr val="0057AE"/>
                </a:solidFill>
                <a:latin typeface="Courier New" pitchFamily="34" charset="0"/>
                <a:ea typeface="Courier New" pitchFamily="34" charset="-122"/>
                <a:cs typeface="Courier New" pitchFamily="34" charset="-120"/>
              </a:rPr>
              <a:t>async</a:t>
            </a:r>
            <a:r>
              <a:rPr lang="en-US" sz="1100" dirty="0">
                <a:solidFill>
                  <a:srgbClr val="383A42"/>
                </a:solidFill>
                <a:latin typeface="Courier New" pitchFamily="34" charset="0"/>
                <a:ea typeface="Courier New" pitchFamily="34" charset="-122"/>
                <a:cs typeface="Courier New" pitchFamily="34" charset="-120"/>
              </a:rPr>
              <a:t> (form)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form.value() : signal que expone el modelo completo tipado.
      // subscribe() : consume el Observable devuelto por HttpClient.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.servicio.crear(form.value()).subscribe({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next: (libroCreado) =&gt; console.log(</a:t>
            </a:r>
            <a:r>
              <a:rPr lang="en-US" sz="1100" dirty="0">
                <a:solidFill>
                  <a:srgbClr val="C41A16"/>
                </a:solidFill>
                <a:latin typeface="Courier New" pitchFamily="34" charset="0"/>
                <a:ea typeface="Courier New" pitchFamily="34" charset="-122"/>
                <a:cs typeface="Courier New" pitchFamily="34" charset="-120"/>
              </a:rPr>
              <a:t>'OK'</a:t>
            </a:r>
            <a:r>
              <a:rPr lang="en-US" sz="1100" dirty="0">
                <a:solidFill>
                  <a:srgbClr val="383A42"/>
                </a:solidFill>
                <a:latin typeface="Courier New" pitchFamily="34" charset="0"/>
                <a:ea typeface="Courier New" pitchFamily="34" charset="-122"/>
                <a:cs typeface="Courier New" pitchFamily="34" charset="-120"/>
              </a:rPr>
              <a:t>, libroCreado.id),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error: (err) =&gt; console.error(</a:t>
            </a:r>
            <a:r>
              <a:rPr lang="en-US" sz="1100" dirty="0">
                <a:solidFill>
                  <a:srgbClr val="C41A16"/>
                </a:solidFill>
                <a:latin typeface="Courier New" pitchFamily="34" charset="0"/>
                <a:ea typeface="Courier New" pitchFamily="34" charset="-122"/>
                <a:cs typeface="Courier New" pitchFamily="34" charset="-120"/>
              </a:rPr>
              <a:t>'Error al crear'</a:t>
            </a:r>
            <a:r>
              <a:rPr lang="en-US" sz="1100" dirty="0">
                <a:solidFill>
                  <a:srgbClr val="383A42"/>
                </a:solidFill>
                <a:latin typeface="Courier New" pitchFamily="34" charset="0"/>
                <a:ea typeface="Courier New" pitchFamily="34" charset="-122"/>
                <a:cs typeface="Courier New" pitchFamily="34" charset="-120"/>
              </a:rPr>
              <a:t>, err)</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--- 10 / 40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FORMULARIOS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Reactive Forms como alternativa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8580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Reactive Forms sigue soportado y aparece en la mayoria de proyectos existentes. Se resume aqui para que el aprendiz reconozca su sintaxis, no para recomendarla en proyectos nuevos.</a:t>
            </a:r>
            <a:endParaRPr lang="en-US" sz="1400" dirty="0"/>
          </a:p>
        </p:txBody>
      </p:sp>
      <p:sp>
        <p:nvSpPr>
          <p:cNvPr id="7" name="Shape 5"/>
          <p:cNvSpPr/>
          <p:nvPr/>
        </p:nvSpPr>
        <p:spPr>
          <a:xfrm>
            <a:off x="548640" y="2194560"/>
            <a:ext cx="11091672" cy="4069080"/>
          </a:xfrm>
          <a:prstGeom prst="roundRect">
            <a:avLst>
              <a:gd name="adj" fmla="val 1348"/>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194560"/>
            <a:ext cx="192024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2128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Reactive Forms</a:t>
            </a:r>
            <a:endParaRPr lang="en-US" sz="1000" dirty="0"/>
          </a:p>
        </p:txBody>
      </p:sp>
      <p:sp>
        <p:nvSpPr>
          <p:cNvPr id="10" name="Text 8"/>
          <p:cNvSpPr txBox="1"/>
          <p:nvPr/>
        </p:nvSpPr>
        <p:spPr>
          <a:xfrm>
            <a:off x="640080" y="2542032"/>
            <a:ext cx="10908792" cy="363016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FormBuilder : servicio inyectable que fabrica controles/grupos.
// ReactiveFormsModule : modulo que expone las directivas formGroup/formControlName.
// Validators : coleccion de funciones estaticas (required, email, minLength).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FormBuilder, ReactiveFormsModule, Validators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'@angular/forms'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 imports:[ReactiveFormsModule], /* ... */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LibroFormReactivoComponent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fb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(FormBuilder);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fb.group() : construye un FormGroup con los controles indicados.
  // Cada control es [valorInicial, listaDeValidadores].
</a:t>
            </a:r>
            <a:r>
              <a:rPr lang="en-US" sz="1100" dirty="0">
                <a:solidFill>
                  <a:srgbClr val="383A42"/>
                </a:solidFill>
                <a:latin typeface="Courier New" pitchFamily="34" charset="0"/>
                <a:ea typeface="Courier New" pitchFamily="34" charset="-122"/>
                <a:cs typeface="Courier New" pitchFamily="34" charset="-120"/>
              </a:rPr>
              <a:t>  form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.fb.group({</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titulo: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 Validators.minLength(3)]],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isbn: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autor: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Validators.required],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anio:   [2026, [Validators.min(1500), Validators.max(2100)]]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form.valid : booleano que resume la validez de todos los controles.
</a:t>
            </a:r>
            <a:r>
              <a:rPr lang="en-US" sz="1100" dirty="0">
                <a:solidFill>
                  <a:srgbClr val="383A42"/>
                </a:solidFill>
                <a:latin typeface="Courier New" pitchFamily="34" charset="0"/>
                <a:ea typeface="Courier New" pitchFamily="34" charset="-122"/>
                <a:cs typeface="Courier New" pitchFamily="34" charset="-120"/>
              </a:rPr>
              <a:t>  guardar() {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.form.valid) console.log(</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.form.value);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--- 11 / 40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Signals: la primitiva signal()</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234440"/>
          </a:xfrm>
          <a:prstGeom prst="roundRect">
            <a:avLst>
              <a:gd name="adj" fmla="val 4444"/>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2344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10881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Signal (reactividad de grano fino)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Contenedor reactivo de un valor tipado. Angular sabe que componente y que expresion de plantilla lee cada signal; cuando la signal cambia, actualiza solo las expresiones que la leyeron. Introducidas como estables en Angular 17 (2023).</a:t>
            </a:r>
            <a:endParaRPr lang="en-US" sz="1100" dirty="0"/>
          </a:p>
        </p:txBody>
      </p:sp>
      <p:sp>
        <p:nvSpPr>
          <p:cNvPr id="9" name="Shape 7"/>
          <p:cNvSpPr/>
          <p:nvPr/>
        </p:nvSpPr>
        <p:spPr>
          <a:xfrm>
            <a:off x="548640" y="2834640"/>
            <a:ext cx="11091672" cy="3429000"/>
          </a:xfrm>
          <a:prstGeom prst="roundRect">
            <a:avLst>
              <a:gd name="adj" fmla="val 16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8346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8529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contador con signal</a:t>
            </a:r>
            <a:endParaRPr lang="en-US" sz="1000" dirty="0"/>
          </a:p>
        </p:txBody>
      </p:sp>
      <p:sp>
        <p:nvSpPr>
          <p:cNvPr id="12" name="Text 10"/>
          <p:cNvSpPr txBox="1"/>
          <p:nvPr/>
        </p:nvSpPr>
        <p:spPr>
          <a:xfrm>
            <a:off x="640080" y="3182112"/>
            <a:ext cx="10908792" cy="29900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signal&lt;number&gt;(0) : crea una signal de tipo number con valor inicial 0.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contador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a:t>
            </a:r>
            <a:r>
              <a:rPr lang="en-US" sz="1200" b="1" dirty="0">
                <a:solidFill>
                  <a:srgbClr val="0057AE"/>
                </a:solidFill>
                <a:latin typeface="Courier New" pitchFamily="34" charset="0"/>
                <a:ea typeface="Courier New" pitchFamily="34" charset="-122"/>
                <a:cs typeface="Courier New" pitchFamily="34" charset="-120"/>
              </a:rPr>
              <a:t>number</a:t>
            </a:r>
            <a:r>
              <a:rPr lang="en-US" sz="1200" dirty="0">
                <a:solidFill>
                  <a:srgbClr val="383A42"/>
                </a:solidFill>
                <a:latin typeface="Courier New" pitchFamily="34" charset="0"/>
                <a:ea typeface="Courier New" pitchFamily="34" charset="-122"/>
                <a:cs typeface="Courier New" pitchFamily="34" charset="-120"/>
              </a:rPr>
              <a:t>&gt;(0);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Lectura : se llama como funcion. Se devuelve el valor actual.
</a:t>
            </a:r>
            <a:r>
              <a:rPr lang="en-US" sz="1200" dirty="0">
                <a:solidFill>
                  <a:srgbClr val="383A42"/>
                </a:solidFill>
                <a:latin typeface="Courier New" pitchFamily="34" charset="0"/>
                <a:ea typeface="Courier New" pitchFamily="34" charset="-122"/>
                <a:cs typeface="Courier New" pitchFamily="34" charset="-120"/>
              </a:rPr>
              <a:t>console.log(contador());   // -&gt; 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Escritura absoluta : reemplaza el valor.
</a:t>
            </a:r>
            <a:r>
              <a:rPr lang="en-US" sz="1200" dirty="0">
                <a:solidFill>
                  <a:srgbClr val="383A42"/>
                </a:solidFill>
                <a:latin typeface="Courier New" pitchFamily="34" charset="0"/>
                <a:ea typeface="Courier New" pitchFamily="34" charset="-122"/>
                <a:cs typeface="Courier New" pitchFamily="34" charset="-120"/>
              </a:rPr>
              <a:t>contador.set(5);</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console.log(contador());   // -&gt; 5</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Escritura por transformacion : recibe el valor previo y devuelve el nuevo.
</a:t>
            </a:r>
            <a:r>
              <a:rPr lang="en-US" sz="1200" dirty="0">
                <a:solidFill>
                  <a:srgbClr val="383A42"/>
                </a:solidFill>
                <a:latin typeface="Courier New" pitchFamily="34" charset="0"/>
                <a:ea typeface="Courier New" pitchFamily="34" charset="-122"/>
                <a:cs typeface="Courier New" pitchFamily="34" charset="-120"/>
              </a:rPr>
              <a:t>contador.update(valor =&gt; valor + 1);</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console.log(contador());   // -&gt; 6</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--- 12 / 40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computed(): estado derivado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computed()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Signal cuyo valor NO se asigna: se calcula a partir de otras signals. Angular vuelve a calcularla solo cuando alguna de las signals leidas cambia. Se memoiza: si nada cambia, no recalcula.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filtro derivado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computed</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Fuentes de datos: signals independientes.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libros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&lt;Libro[]&gt;([]);</a:t>
            </a: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filtro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&lt;</a:t>
            </a:r>
            <a:r>
              <a:rPr lang="en-US" sz="1200" b="1" dirty="0">
                <a:solidFill>
                  <a:srgbClr val="0057AE"/>
                </a:solidFill>
                <a:latin typeface="Courier New" pitchFamily="34" charset="0"/>
                <a:ea typeface="Courier New" pitchFamily="34" charset="-122"/>
                <a:cs typeface="Courier New" pitchFamily="34" charset="-120"/>
              </a:rPr>
              <a:t>string</a:t>
            </a:r>
            <a:r>
              <a:rPr lang="en-US" sz="1200" dirty="0">
                <a:solidFill>
                  <a:srgbClr val="383A42"/>
                </a:solidFill>
                <a:latin typeface="Courier New" pitchFamily="34" charset="0"/>
                <a:ea typeface="Courier New" pitchFamily="34" charset="-122"/>
                <a:cs typeface="Courier New" pitchFamily="34" charset="-120"/>
              </a:rPr>
              <a:t>&gt;(</a:t>
            </a:r>
            <a:r>
              <a:rPr lang="en-US" sz="1200" dirty="0">
                <a:solidFill>
                  <a:srgbClr val="C41A16"/>
                </a:solidFill>
                <a:latin typeface="Courier New" pitchFamily="34" charset="0"/>
                <a:ea typeface="Courier New" pitchFamily="34" charset="-122"/>
                <a:cs typeface="Courier New" pitchFamily="34" charset="-120"/>
              </a:rPr>
              <a:t>''</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computed() : recibe una funcion que lee otras signals y devuelve un valor.
// Angular observa que signals se leyeron y crea la dependencia.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librosFiltrados = </a:t>
            </a:r>
            <a:r>
              <a:rPr lang="en-US" sz="1200" b="1" dirty="0">
                <a:solidFill>
                  <a:srgbClr val="0057AE"/>
                </a:solidFill>
                <a:latin typeface="Courier New" pitchFamily="34" charset="0"/>
                <a:ea typeface="Courier New" pitchFamily="34" charset="-122"/>
                <a:cs typeface="Courier New" pitchFamily="34" charset="-120"/>
              </a:rPr>
              <a:t>computed</a:t>
            </a:r>
            <a:r>
              <a:rPr lang="en-US" sz="1200" dirty="0">
                <a:solidFill>
                  <a:srgbClr val="383A42"/>
                </a:solidFill>
                <a:latin typeface="Courier New" pitchFamily="34" charset="0"/>
                <a:ea typeface="Courier New" pitchFamily="34" charset="-122"/>
                <a:cs typeface="Courier New" pitchFamily="34" charset="-120"/>
              </a:rPr>
              <a:t>(() =&gt;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const</a:t>
            </a:r>
            <a:r>
              <a:rPr lang="en-US" sz="1200" dirty="0">
                <a:solidFill>
                  <a:srgbClr val="383A42"/>
                </a:solidFill>
                <a:latin typeface="Courier New" pitchFamily="34" charset="0"/>
                <a:ea typeface="Courier New" pitchFamily="34" charset="-122"/>
                <a:cs typeface="Courier New" pitchFamily="34" charset="-120"/>
              </a:rPr>
              <a:t> q = filtro().toLowerCase();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return</a:t>
            </a:r>
            <a:r>
              <a:rPr lang="en-US" sz="1200" dirty="0">
                <a:solidFill>
                  <a:srgbClr val="383A42"/>
                </a:solidFill>
                <a:latin typeface="Courier New" pitchFamily="34" charset="0"/>
                <a:ea typeface="Courier New" pitchFamily="34" charset="-122"/>
                <a:cs typeface="Courier New" pitchFamily="34" charset="-120"/>
              </a:rPr>
              <a:t> libros().filter(l =&gt;</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l.titulo.toLowerCase().includes(q));</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Uso : cada vez que cambia libros o filtro, librosFiltrados
// se recalcula automaticamente la proxima vez que se lea.
</a:t>
            </a:r>
            <a:r>
              <a:rPr lang="en-US" sz="1200" dirty="0">
                <a:solidFill>
                  <a:srgbClr val="383A42"/>
                </a:solidFill>
                <a:latin typeface="Courier New" pitchFamily="34" charset="0"/>
                <a:ea typeface="Courier New" pitchFamily="34" charset="-122"/>
                <a:cs typeface="Courier New" pitchFamily="34" charset="-120"/>
              </a:rPr>
              <a:t>console.log(librosFiltrados().length);   // recalcula si es necesario</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console.log(librosFiltrados().length);   // usa el valor memoizado</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--- 13 / 40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effect(): efectos colaterales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effect()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Registra una funcion que se ejecuta al montar el componente y cada vez que cambia alguna signal que lea dentro. Se usa para efectos colaterales: registrar en consola, guardar en localStorage, llamar a una API. NO se usa para calcular valores (para eso, computed).</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efecto reactivo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200" b="1" dirty="0">
                <a:solidFill>
                  <a:srgbClr val="0057AE"/>
                </a:solidFill>
                <a:latin typeface="Courier New" pitchFamily="34" charset="0"/>
                <a:ea typeface="Courier New" pitchFamily="34" charset="-122"/>
                <a:cs typeface="Courier New" pitchFamily="34" charset="-120"/>
              </a:rPr>
              <a:t>import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effect</a:t>
            </a:r>
            <a:r>
              <a:rPr lang="en-US" sz="1200" dirty="0">
                <a:solidFill>
                  <a:srgbClr val="383A42"/>
                </a:solidFill>
                <a:latin typeface="Courier New" pitchFamily="34" charset="0"/>
                <a:ea typeface="Courier New" pitchFamily="34" charset="-122"/>
                <a:cs typeface="Courier New" pitchFamily="34" charset="-120"/>
              </a:rPr>
              <a:t> } </a:t>
            </a:r>
            <a:r>
              <a:rPr lang="en-US" sz="1200" b="1" dirty="0">
                <a:solidFill>
                  <a:srgbClr val="0057AE"/>
                </a:solidFill>
                <a:latin typeface="Courier New" pitchFamily="34" charset="0"/>
                <a:ea typeface="Courier New" pitchFamily="34" charset="-122"/>
                <a:cs typeface="Courier New" pitchFamily="34" charset="-120"/>
              </a:rPr>
              <a:t>from</a:t>
            </a: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C41A16"/>
                </a:solidFill>
                <a:latin typeface="Courier New" pitchFamily="34" charset="0"/>
                <a:ea typeface="Courier New" pitchFamily="34" charset="-122"/>
                <a:cs typeface="Courier New" pitchFamily="34" charset="-120"/>
              </a:rPr>
              <a:t>'@angular/core'</a:t>
            </a: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b="1" dirty="0">
                <a:solidFill>
                  <a:srgbClr val="0057AE"/>
                </a:solidFill>
                <a:latin typeface="Courier New" pitchFamily="34" charset="0"/>
                <a:ea typeface="Courier New" pitchFamily="34" charset="-122"/>
                <a:cs typeface="Courier New" pitchFamily="34" charset="-120"/>
              </a:rPr>
              <a:t>export</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class</a:t>
            </a:r>
            <a:r>
              <a:rPr lang="en-US" sz="1200" dirty="0">
                <a:solidFill>
                  <a:srgbClr val="383A42"/>
                </a:solidFill>
                <a:latin typeface="Courier New" pitchFamily="34" charset="0"/>
                <a:ea typeface="Courier New" pitchFamily="34" charset="-122"/>
                <a:cs typeface="Courier New" pitchFamily="34" charset="-120"/>
              </a:rPr>
              <a:t> ContadorComponent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contador = </a:t>
            </a:r>
            <a:r>
              <a:rPr lang="en-US" sz="1200" b="1" dirty="0">
                <a:solidFill>
                  <a:srgbClr val="0057AE"/>
                </a:solidFill>
                <a:latin typeface="Courier New" pitchFamily="34" charset="0"/>
                <a:ea typeface="Courier New" pitchFamily="34" charset="-122"/>
                <a:cs typeface="Courier New" pitchFamily="34" charset="-120"/>
              </a:rPr>
              <a:t>signal</a:t>
            </a:r>
            <a:r>
              <a:rPr lang="en-US" sz="1200" dirty="0">
                <a:solidFill>
                  <a:srgbClr val="383A42"/>
                </a:solidFill>
                <a:latin typeface="Courier New" pitchFamily="34" charset="0"/>
                <a:ea typeface="Courier New" pitchFamily="34" charset="-122"/>
                <a:cs typeface="Courier New" pitchFamily="34" charset="-120"/>
              </a:rPr>
              <a:t>(0);</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constructor()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 effect() : queda registrado en el inyector actual.
    // La funcion se dispara: (1) inmediatamente, (2) cada vez
    // que contador() cambie de valor.
</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effect</a:t>
            </a:r>
            <a:r>
              <a:rPr lang="en-US" sz="1200" dirty="0">
                <a:solidFill>
                  <a:srgbClr val="383A42"/>
                </a:solidFill>
                <a:latin typeface="Courier New" pitchFamily="34" charset="0"/>
                <a:ea typeface="Courier New" pitchFamily="34" charset="-122"/>
                <a:cs typeface="Courier New" pitchFamily="34" charset="-120"/>
              </a:rPr>
              <a:t>(() =&gt; {</a:t>
            </a: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 Efecto colateral: guardar en el almacenamiento del navegador.
</a:t>
            </a:r>
            <a:r>
              <a:rPr lang="en-US" sz="1200" dirty="0">
                <a:solidFill>
                  <a:srgbClr val="383A42"/>
                </a:solidFill>
                <a:latin typeface="Courier New" pitchFamily="34" charset="0"/>
                <a:ea typeface="Courier New" pitchFamily="34" charset="-122"/>
                <a:cs typeface="Courier New" pitchFamily="34" charset="-120"/>
              </a:rPr>
              <a:t>      localStorage.setItem(</a:t>
            </a:r>
            <a:r>
              <a:rPr lang="en-US" sz="1200" dirty="0">
                <a:solidFill>
                  <a:srgbClr val="C41A16"/>
                </a:solidFill>
                <a:latin typeface="Courier New" pitchFamily="34" charset="0"/>
                <a:ea typeface="Courier New" pitchFamily="34" charset="-122"/>
                <a:cs typeface="Courier New" pitchFamily="34" charset="-120"/>
              </a:rPr>
              <a:t>'contador'</a:t>
            </a:r>
            <a:r>
              <a:rPr lang="en-US" sz="1200" dirty="0">
                <a:solidFill>
                  <a:srgbClr val="383A42"/>
                </a:solidFill>
                <a:latin typeface="Courier New" pitchFamily="34" charset="0"/>
                <a:ea typeface="Courier New" pitchFamily="34" charset="-122"/>
                <a:cs typeface="Courier New" pitchFamily="34" charset="-120"/>
              </a:rPr>
              <a:t>, String(</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console.log(</a:t>
            </a:r>
            <a:r>
              <a:rPr lang="en-US" sz="1200" dirty="0">
                <a:solidFill>
                  <a:srgbClr val="C41A16"/>
                </a:solidFill>
                <a:latin typeface="Courier New" pitchFamily="34" charset="0"/>
                <a:ea typeface="Courier New" pitchFamily="34" charset="-122"/>
                <a:cs typeface="Courier New" pitchFamily="34" charset="-120"/>
              </a:rPr>
              <a:t>'contador cambio a'</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incrementar() { </a:t>
            </a:r>
            <a:r>
              <a:rPr lang="en-US" sz="1200" b="1" dirty="0">
                <a:solidFill>
                  <a:srgbClr val="0057AE"/>
                </a:solidFill>
                <a:latin typeface="Courier New" pitchFamily="34" charset="0"/>
                <a:ea typeface="Courier New" pitchFamily="34" charset="-122"/>
                <a:cs typeface="Courier New" pitchFamily="34" charset="-120"/>
              </a:rPr>
              <a:t>this</a:t>
            </a:r>
            <a:r>
              <a:rPr lang="en-US" sz="1200" dirty="0">
                <a:solidFill>
                  <a:srgbClr val="383A42"/>
                </a:solidFill>
                <a:latin typeface="Courier New" pitchFamily="34" charset="0"/>
                <a:ea typeface="Courier New" pitchFamily="34" charset="-122"/>
                <a:cs typeface="Courier New" pitchFamily="34" charset="-120"/>
              </a:rPr>
              <a:t>.contador.update(v =&gt; v + 1); }</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t>
            </a:r>
            <a:r>
              <a:rPr lang="en-US" sz="1200" dirty="0">
                <a:solidFill>
                  <a:srgbClr val="000000"/>
                </a:solidFill>
              </a:rPr>
              <a:t>
</a:t>
            </a:r>
            <a:endParaRPr lang="en-US" sz="12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--- 14 / 40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SIGNALS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Signals frente a Observables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2743200" cy="566928"/>
          </a:xfrm>
          <a:prstGeom prst="rect">
            <a:avLst/>
          </a:prstGeom>
          <a:solidFill>
            <a:srgbClr val="006633"/>
          </a:solidFill>
          <a:ln w="6350">
            <a:solidFill>
              <a:srgbClr val="006633"/>
            </a:solidFill>
            <a:prstDash val="solid"/>
          </a:ln>
        </p:spPr>
        <p:txBody>
          <a:bodyPr/>
          <a:lstStyle/>
          <a:p>
            <a:endParaRPr lang="es-US"/>
          </a:p>
        </p:txBody>
      </p:sp>
      <p:sp>
        <p:nvSpPr>
          <p:cNvPr id="7" name="Text 5"/>
          <p:cNvSpPr/>
          <p:nvPr/>
        </p:nvSpPr>
        <p:spPr>
          <a:xfrm>
            <a:off x="640080" y="1417320"/>
            <a:ext cx="256032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Aspecto</a:t>
            </a:r>
            <a:endParaRPr lang="en-US" sz="1300" dirty="0"/>
          </a:p>
        </p:txBody>
      </p:sp>
      <p:sp>
        <p:nvSpPr>
          <p:cNvPr id="8" name="Shape 6"/>
          <p:cNvSpPr/>
          <p:nvPr/>
        </p:nvSpPr>
        <p:spPr>
          <a:xfrm>
            <a:off x="3291840" y="1417320"/>
            <a:ext cx="3703320" cy="566928"/>
          </a:xfrm>
          <a:prstGeom prst="rect">
            <a:avLst/>
          </a:prstGeom>
          <a:solidFill>
            <a:srgbClr val="006633"/>
          </a:solidFill>
          <a:ln w="6350">
            <a:solidFill>
              <a:srgbClr val="006633"/>
            </a:solidFill>
            <a:prstDash val="solid"/>
          </a:ln>
        </p:spPr>
        <p:txBody>
          <a:bodyPr/>
          <a:lstStyle/>
          <a:p>
            <a:endParaRPr lang="es-US"/>
          </a:p>
        </p:txBody>
      </p:sp>
      <p:sp>
        <p:nvSpPr>
          <p:cNvPr id="9" name="Text 7"/>
          <p:cNvSpPr/>
          <p:nvPr/>
        </p:nvSpPr>
        <p:spPr>
          <a:xfrm>
            <a:off x="3383280" y="1417320"/>
            <a:ext cx="35204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Signal</a:t>
            </a:r>
            <a:endParaRPr lang="en-US" sz="1300" dirty="0"/>
          </a:p>
        </p:txBody>
      </p:sp>
      <p:sp>
        <p:nvSpPr>
          <p:cNvPr id="10" name="Shape 8"/>
          <p:cNvSpPr/>
          <p:nvPr/>
        </p:nvSpPr>
        <p:spPr>
          <a:xfrm>
            <a:off x="6995160" y="1417320"/>
            <a:ext cx="4645152" cy="566928"/>
          </a:xfrm>
          <a:prstGeom prst="rect">
            <a:avLst/>
          </a:prstGeom>
          <a:solidFill>
            <a:srgbClr val="006633"/>
          </a:solidFill>
          <a:ln w="6350">
            <a:solidFill>
              <a:srgbClr val="006633"/>
            </a:solidFill>
            <a:prstDash val="solid"/>
          </a:ln>
        </p:spPr>
        <p:txBody>
          <a:bodyPr/>
          <a:lstStyle/>
          <a:p>
            <a:endParaRPr lang="es-US"/>
          </a:p>
        </p:txBody>
      </p:sp>
      <p:sp>
        <p:nvSpPr>
          <p:cNvPr id="11" name="Text 9"/>
          <p:cNvSpPr/>
          <p:nvPr/>
        </p:nvSpPr>
        <p:spPr>
          <a:xfrm>
            <a:off x="7086600" y="1417320"/>
            <a:ext cx="4462272"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Observable (RxJS)</a:t>
            </a:r>
            <a:endParaRPr lang="en-US" sz="1300" dirty="0"/>
          </a:p>
        </p:txBody>
      </p:sp>
      <p:sp>
        <p:nvSpPr>
          <p:cNvPr id="12" name="Shape 10"/>
          <p:cNvSpPr/>
          <p:nvPr/>
        </p:nvSpPr>
        <p:spPr>
          <a:xfrm>
            <a:off x="548640" y="1984248"/>
            <a:ext cx="2743200" cy="566928"/>
          </a:xfrm>
          <a:prstGeom prst="rect">
            <a:avLst/>
          </a:prstGeom>
          <a:solidFill>
            <a:srgbClr val="FFFFFF"/>
          </a:solidFill>
          <a:ln w="6350">
            <a:solidFill>
              <a:srgbClr val="006633"/>
            </a:solidFill>
            <a:prstDash val="solid"/>
          </a:ln>
        </p:spPr>
        <p:txBody>
          <a:bodyPr/>
          <a:lstStyle/>
          <a:p>
            <a:endParaRPr lang="es-US"/>
          </a:p>
        </p:txBody>
      </p:sp>
      <p:sp>
        <p:nvSpPr>
          <p:cNvPr id="13" name="Text 11"/>
          <p:cNvSpPr/>
          <p:nvPr/>
        </p:nvSpPr>
        <p:spPr>
          <a:xfrm>
            <a:off x="640080" y="1984248"/>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Naturaleza</a:t>
            </a:r>
            <a:endParaRPr lang="en-US" sz="1200" dirty="0"/>
          </a:p>
        </p:txBody>
      </p:sp>
      <p:sp>
        <p:nvSpPr>
          <p:cNvPr id="14" name="Shape 12"/>
          <p:cNvSpPr/>
          <p:nvPr/>
        </p:nvSpPr>
        <p:spPr>
          <a:xfrm>
            <a:off x="3291840" y="1984248"/>
            <a:ext cx="3703320" cy="566928"/>
          </a:xfrm>
          <a:prstGeom prst="rect">
            <a:avLst/>
          </a:prstGeom>
          <a:solidFill>
            <a:srgbClr val="FFFFFF"/>
          </a:solidFill>
          <a:ln w="6350">
            <a:solidFill>
              <a:srgbClr val="006633"/>
            </a:solidFill>
            <a:prstDash val="solid"/>
          </a:ln>
        </p:spPr>
        <p:txBody>
          <a:bodyPr/>
          <a:lstStyle/>
          <a:p>
            <a:endParaRPr lang="es-US"/>
          </a:p>
        </p:txBody>
      </p:sp>
      <p:sp>
        <p:nvSpPr>
          <p:cNvPr id="15" name="Text 13"/>
          <p:cNvSpPr/>
          <p:nvPr/>
        </p:nvSpPr>
        <p:spPr>
          <a:xfrm>
            <a:off x="3383280" y="1984248"/>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Contenedor sincrono de un valor unico</a:t>
            </a:r>
            <a:endParaRPr lang="en-US" sz="1200" dirty="0"/>
          </a:p>
        </p:txBody>
      </p:sp>
      <p:sp>
        <p:nvSpPr>
          <p:cNvPr id="16" name="Shape 14"/>
          <p:cNvSpPr/>
          <p:nvPr/>
        </p:nvSpPr>
        <p:spPr>
          <a:xfrm>
            <a:off x="6995160" y="1984248"/>
            <a:ext cx="4645152" cy="566928"/>
          </a:xfrm>
          <a:prstGeom prst="rect">
            <a:avLst/>
          </a:prstGeom>
          <a:solidFill>
            <a:srgbClr val="FFFFFF"/>
          </a:solidFill>
          <a:ln w="6350">
            <a:solidFill>
              <a:srgbClr val="006633"/>
            </a:solidFill>
            <a:prstDash val="solid"/>
          </a:ln>
        </p:spPr>
        <p:txBody>
          <a:bodyPr/>
          <a:lstStyle/>
          <a:p>
            <a:endParaRPr lang="es-US"/>
          </a:p>
        </p:txBody>
      </p:sp>
      <p:sp>
        <p:nvSpPr>
          <p:cNvPr id="17" name="Text 15"/>
          <p:cNvSpPr/>
          <p:nvPr/>
        </p:nvSpPr>
        <p:spPr>
          <a:xfrm>
            <a:off x="7086600" y="1984248"/>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Flujo asincrono de valores en el tiempo</a:t>
            </a:r>
            <a:endParaRPr lang="en-US" sz="1200" dirty="0"/>
          </a:p>
        </p:txBody>
      </p:sp>
      <p:sp>
        <p:nvSpPr>
          <p:cNvPr id="18" name="Shape 16"/>
          <p:cNvSpPr/>
          <p:nvPr/>
        </p:nvSpPr>
        <p:spPr>
          <a:xfrm>
            <a:off x="548640" y="2551176"/>
            <a:ext cx="2743200" cy="566928"/>
          </a:xfrm>
          <a:prstGeom prst="rect">
            <a:avLst/>
          </a:prstGeom>
          <a:solidFill>
            <a:srgbClr val="F4F6F5"/>
          </a:solidFill>
          <a:ln w="6350">
            <a:solidFill>
              <a:srgbClr val="006633"/>
            </a:solidFill>
            <a:prstDash val="solid"/>
          </a:ln>
        </p:spPr>
        <p:txBody>
          <a:bodyPr/>
          <a:lstStyle/>
          <a:p>
            <a:endParaRPr lang="es-US"/>
          </a:p>
        </p:txBody>
      </p:sp>
      <p:sp>
        <p:nvSpPr>
          <p:cNvPr id="19" name="Text 17"/>
          <p:cNvSpPr/>
          <p:nvPr/>
        </p:nvSpPr>
        <p:spPr>
          <a:xfrm>
            <a:off x="640080" y="2551176"/>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Se lee con</a:t>
            </a:r>
            <a:endParaRPr lang="en-US" sz="1200" dirty="0"/>
          </a:p>
        </p:txBody>
      </p:sp>
      <p:sp>
        <p:nvSpPr>
          <p:cNvPr id="20" name="Shape 18"/>
          <p:cNvSpPr/>
          <p:nvPr/>
        </p:nvSpPr>
        <p:spPr>
          <a:xfrm>
            <a:off x="3291840" y="2551176"/>
            <a:ext cx="3703320" cy="566928"/>
          </a:xfrm>
          <a:prstGeom prst="rect">
            <a:avLst/>
          </a:prstGeom>
          <a:solidFill>
            <a:srgbClr val="F4F6F5"/>
          </a:solidFill>
          <a:ln w="6350">
            <a:solidFill>
              <a:srgbClr val="006633"/>
            </a:solidFill>
            <a:prstDash val="solid"/>
          </a:ln>
        </p:spPr>
        <p:txBody>
          <a:bodyPr/>
          <a:lstStyle/>
          <a:p>
            <a:endParaRPr lang="es-US"/>
          </a:p>
        </p:txBody>
      </p:sp>
      <p:sp>
        <p:nvSpPr>
          <p:cNvPr id="21" name="Text 19"/>
          <p:cNvSpPr/>
          <p:nvPr/>
        </p:nvSpPr>
        <p:spPr>
          <a:xfrm>
            <a:off x="3383280" y="2551176"/>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llamada como funcion: mi.signal()</a:t>
            </a:r>
            <a:endParaRPr lang="en-US" sz="1200" dirty="0"/>
          </a:p>
        </p:txBody>
      </p:sp>
      <p:sp>
        <p:nvSpPr>
          <p:cNvPr id="22" name="Shape 20"/>
          <p:cNvSpPr/>
          <p:nvPr/>
        </p:nvSpPr>
        <p:spPr>
          <a:xfrm>
            <a:off x="6995160" y="2551176"/>
            <a:ext cx="4645152" cy="566928"/>
          </a:xfrm>
          <a:prstGeom prst="rect">
            <a:avLst/>
          </a:prstGeom>
          <a:solidFill>
            <a:srgbClr val="F4F6F5"/>
          </a:solidFill>
          <a:ln w="6350">
            <a:solidFill>
              <a:srgbClr val="006633"/>
            </a:solidFill>
            <a:prstDash val="solid"/>
          </a:ln>
        </p:spPr>
        <p:txBody>
          <a:bodyPr/>
          <a:lstStyle/>
          <a:p>
            <a:endParaRPr lang="es-US"/>
          </a:p>
        </p:txBody>
      </p:sp>
      <p:sp>
        <p:nvSpPr>
          <p:cNvPr id="23" name="Text 21"/>
          <p:cNvSpPr/>
          <p:nvPr/>
        </p:nvSpPr>
        <p:spPr>
          <a:xfrm>
            <a:off x="7086600" y="2551176"/>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subscribe() u operador async pipe</a:t>
            </a:r>
            <a:endParaRPr lang="en-US" sz="1200" dirty="0"/>
          </a:p>
        </p:txBody>
      </p:sp>
      <p:sp>
        <p:nvSpPr>
          <p:cNvPr id="24" name="Shape 22"/>
          <p:cNvSpPr/>
          <p:nvPr/>
        </p:nvSpPr>
        <p:spPr>
          <a:xfrm>
            <a:off x="548640" y="3118104"/>
            <a:ext cx="2743200" cy="566928"/>
          </a:xfrm>
          <a:prstGeom prst="rect">
            <a:avLst/>
          </a:prstGeom>
          <a:solidFill>
            <a:srgbClr val="FFFFFF"/>
          </a:solidFill>
          <a:ln w="6350">
            <a:solidFill>
              <a:srgbClr val="006633"/>
            </a:solidFill>
            <a:prstDash val="solid"/>
          </a:ln>
        </p:spPr>
        <p:txBody>
          <a:bodyPr/>
          <a:lstStyle/>
          <a:p>
            <a:endParaRPr lang="es-US"/>
          </a:p>
        </p:txBody>
      </p:sp>
      <p:sp>
        <p:nvSpPr>
          <p:cNvPr id="25" name="Text 23"/>
          <p:cNvSpPr/>
          <p:nvPr/>
        </p:nvSpPr>
        <p:spPr>
          <a:xfrm>
            <a:off x="640080" y="3118104"/>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Se crea con</a:t>
            </a:r>
            <a:endParaRPr lang="en-US" sz="1200" dirty="0"/>
          </a:p>
        </p:txBody>
      </p:sp>
      <p:sp>
        <p:nvSpPr>
          <p:cNvPr id="26" name="Shape 24"/>
          <p:cNvSpPr/>
          <p:nvPr/>
        </p:nvSpPr>
        <p:spPr>
          <a:xfrm>
            <a:off x="3291840" y="3118104"/>
            <a:ext cx="3703320" cy="566928"/>
          </a:xfrm>
          <a:prstGeom prst="rect">
            <a:avLst/>
          </a:prstGeom>
          <a:solidFill>
            <a:srgbClr val="FFFFFF"/>
          </a:solidFill>
          <a:ln w="6350">
            <a:solidFill>
              <a:srgbClr val="006633"/>
            </a:solidFill>
            <a:prstDash val="solid"/>
          </a:ln>
        </p:spPr>
        <p:txBody>
          <a:bodyPr/>
          <a:lstStyle/>
          <a:p>
            <a:endParaRPr lang="es-US"/>
          </a:p>
        </p:txBody>
      </p:sp>
      <p:sp>
        <p:nvSpPr>
          <p:cNvPr id="27" name="Text 25"/>
          <p:cNvSpPr/>
          <p:nvPr/>
        </p:nvSpPr>
        <p:spPr>
          <a:xfrm>
            <a:off x="3383280" y="3118104"/>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signal(v), computed(fn), toSignal(obs)</a:t>
            </a:r>
            <a:endParaRPr lang="en-US" sz="1200" dirty="0"/>
          </a:p>
        </p:txBody>
      </p:sp>
      <p:sp>
        <p:nvSpPr>
          <p:cNvPr id="28" name="Shape 26"/>
          <p:cNvSpPr/>
          <p:nvPr/>
        </p:nvSpPr>
        <p:spPr>
          <a:xfrm>
            <a:off x="6995160" y="3118104"/>
            <a:ext cx="4645152" cy="566928"/>
          </a:xfrm>
          <a:prstGeom prst="rect">
            <a:avLst/>
          </a:prstGeom>
          <a:solidFill>
            <a:srgbClr val="FFFFFF"/>
          </a:solidFill>
          <a:ln w="6350">
            <a:solidFill>
              <a:srgbClr val="006633"/>
            </a:solidFill>
            <a:prstDash val="solid"/>
          </a:ln>
        </p:spPr>
        <p:txBody>
          <a:bodyPr/>
          <a:lstStyle/>
          <a:p>
            <a:endParaRPr lang="es-US"/>
          </a:p>
        </p:txBody>
      </p:sp>
      <p:sp>
        <p:nvSpPr>
          <p:cNvPr id="29" name="Text 27"/>
          <p:cNvSpPr/>
          <p:nvPr/>
        </p:nvSpPr>
        <p:spPr>
          <a:xfrm>
            <a:off x="7086600" y="3118104"/>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new Observable(), of(v), from(promise)</a:t>
            </a:r>
            <a:endParaRPr lang="en-US" sz="1200" dirty="0"/>
          </a:p>
        </p:txBody>
      </p:sp>
      <p:sp>
        <p:nvSpPr>
          <p:cNvPr id="30" name="Shape 28"/>
          <p:cNvSpPr/>
          <p:nvPr/>
        </p:nvSpPr>
        <p:spPr>
          <a:xfrm>
            <a:off x="548640" y="3685032"/>
            <a:ext cx="2743200" cy="566928"/>
          </a:xfrm>
          <a:prstGeom prst="rect">
            <a:avLst/>
          </a:prstGeom>
          <a:solidFill>
            <a:srgbClr val="F4F6F5"/>
          </a:solidFill>
          <a:ln w="6350">
            <a:solidFill>
              <a:srgbClr val="006633"/>
            </a:solidFill>
            <a:prstDash val="solid"/>
          </a:ln>
        </p:spPr>
        <p:txBody>
          <a:bodyPr/>
          <a:lstStyle/>
          <a:p>
            <a:endParaRPr lang="es-US"/>
          </a:p>
        </p:txBody>
      </p:sp>
      <p:sp>
        <p:nvSpPr>
          <p:cNvPr id="31" name="Text 29"/>
          <p:cNvSpPr/>
          <p:nvPr/>
        </p:nvSpPr>
        <p:spPr>
          <a:xfrm>
            <a:off x="640080" y="3685032"/>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Composicion</a:t>
            </a:r>
            <a:endParaRPr lang="en-US" sz="1200" dirty="0"/>
          </a:p>
        </p:txBody>
      </p:sp>
      <p:sp>
        <p:nvSpPr>
          <p:cNvPr id="32" name="Shape 30"/>
          <p:cNvSpPr/>
          <p:nvPr/>
        </p:nvSpPr>
        <p:spPr>
          <a:xfrm>
            <a:off x="3291840" y="3685032"/>
            <a:ext cx="3703320" cy="566928"/>
          </a:xfrm>
          <a:prstGeom prst="rect">
            <a:avLst/>
          </a:prstGeom>
          <a:solidFill>
            <a:srgbClr val="F4F6F5"/>
          </a:solidFill>
          <a:ln w="6350">
            <a:solidFill>
              <a:srgbClr val="006633"/>
            </a:solidFill>
            <a:prstDash val="solid"/>
          </a:ln>
        </p:spPr>
        <p:txBody>
          <a:bodyPr/>
          <a:lstStyle/>
          <a:p>
            <a:endParaRPr lang="es-US"/>
          </a:p>
        </p:txBody>
      </p:sp>
      <p:sp>
        <p:nvSpPr>
          <p:cNvPr id="33" name="Text 31"/>
          <p:cNvSpPr/>
          <p:nvPr/>
        </p:nvSpPr>
        <p:spPr>
          <a:xfrm>
            <a:off x="3383280" y="3685032"/>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computed(), effect()</a:t>
            </a:r>
            <a:endParaRPr lang="en-US" sz="1200" dirty="0"/>
          </a:p>
        </p:txBody>
      </p:sp>
      <p:sp>
        <p:nvSpPr>
          <p:cNvPr id="34" name="Shape 32"/>
          <p:cNvSpPr/>
          <p:nvPr/>
        </p:nvSpPr>
        <p:spPr>
          <a:xfrm>
            <a:off x="6995160" y="3685032"/>
            <a:ext cx="4645152" cy="566928"/>
          </a:xfrm>
          <a:prstGeom prst="rect">
            <a:avLst/>
          </a:prstGeom>
          <a:solidFill>
            <a:srgbClr val="F4F6F5"/>
          </a:solidFill>
          <a:ln w="6350">
            <a:solidFill>
              <a:srgbClr val="006633"/>
            </a:solidFill>
            <a:prstDash val="solid"/>
          </a:ln>
        </p:spPr>
        <p:txBody>
          <a:bodyPr/>
          <a:lstStyle/>
          <a:p>
            <a:endParaRPr lang="es-US"/>
          </a:p>
        </p:txBody>
      </p:sp>
      <p:sp>
        <p:nvSpPr>
          <p:cNvPr id="35" name="Text 33"/>
          <p:cNvSpPr/>
          <p:nvPr/>
        </p:nvSpPr>
        <p:spPr>
          <a:xfrm>
            <a:off x="7086600" y="3685032"/>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map, filter, mergeMap, switchMap, combineLatest</a:t>
            </a:r>
            <a:endParaRPr lang="en-US" sz="1200" dirty="0"/>
          </a:p>
        </p:txBody>
      </p:sp>
      <p:sp>
        <p:nvSpPr>
          <p:cNvPr id="36" name="Shape 34"/>
          <p:cNvSpPr/>
          <p:nvPr/>
        </p:nvSpPr>
        <p:spPr>
          <a:xfrm>
            <a:off x="548640" y="4251960"/>
            <a:ext cx="2743200" cy="566928"/>
          </a:xfrm>
          <a:prstGeom prst="rect">
            <a:avLst/>
          </a:prstGeom>
          <a:solidFill>
            <a:srgbClr val="FFFFFF"/>
          </a:solidFill>
          <a:ln w="6350">
            <a:solidFill>
              <a:srgbClr val="006633"/>
            </a:solidFill>
            <a:prstDash val="solid"/>
          </a:ln>
        </p:spPr>
        <p:txBody>
          <a:bodyPr/>
          <a:lstStyle/>
          <a:p>
            <a:endParaRPr lang="es-US"/>
          </a:p>
        </p:txBody>
      </p:sp>
      <p:sp>
        <p:nvSpPr>
          <p:cNvPr id="37" name="Text 35"/>
          <p:cNvSpPr/>
          <p:nvPr/>
        </p:nvSpPr>
        <p:spPr>
          <a:xfrm>
            <a:off x="640080" y="4251960"/>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Ideal para</a:t>
            </a:r>
            <a:endParaRPr lang="en-US" sz="1200" dirty="0"/>
          </a:p>
        </p:txBody>
      </p:sp>
      <p:sp>
        <p:nvSpPr>
          <p:cNvPr id="38" name="Shape 36"/>
          <p:cNvSpPr/>
          <p:nvPr/>
        </p:nvSpPr>
        <p:spPr>
          <a:xfrm>
            <a:off x="3291840" y="4251960"/>
            <a:ext cx="3703320" cy="566928"/>
          </a:xfrm>
          <a:prstGeom prst="rect">
            <a:avLst/>
          </a:prstGeom>
          <a:solidFill>
            <a:srgbClr val="FFFFFF"/>
          </a:solidFill>
          <a:ln w="6350">
            <a:solidFill>
              <a:srgbClr val="006633"/>
            </a:solidFill>
            <a:prstDash val="solid"/>
          </a:ln>
        </p:spPr>
        <p:txBody>
          <a:bodyPr/>
          <a:lstStyle/>
          <a:p>
            <a:endParaRPr lang="es-US"/>
          </a:p>
        </p:txBody>
      </p:sp>
      <p:sp>
        <p:nvSpPr>
          <p:cNvPr id="39" name="Text 37"/>
          <p:cNvSpPr/>
          <p:nvPr/>
        </p:nvSpPr>
        <p:spPr>
          <a:xfrm>
            <a:off x="3383280" y="4251960"/>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Estado local del componente/formulario</a:t>
            </a:r>
            <a:endParaRPr lang="en-US" sz="1200" dirty="0"/>
          </a:p>
        </p:txBody>
      </p:sp>
      <p:sp>
        <p:nvSpPr>
          <p:cNvPr id="40" name="Shape 38"/>
          <p:cNvSpPr/>
          <p:nvPr/>
        </p:nvSpPr>
        <p:spPr>
          <a:xfrm>
            <a:off x="6995160" y="4251960"/>
            <a:ext cx="4645152" cy="566928"/>
          </a:xfrm>
          <a:prstGeom prst="rect">
            <a:avLst/>
          </a:prstGeom>
          <a:solidFill>
            <a:srgbClr val="FFFFFF"/>
          </a:solidFill>
          <a:ln w="6350">
            <a:solidFill>
              <a:srgbClr val="006633"/>
            </a:solidFill>
            <a:prstDash val="solid"/>
          </a:ln>
        </p:spPr>
        <p:txBody>
          <a:bodyPr/>
          <a:lstStyle/>
          <a:p>
            <a:endParaRPr lang="es-US"/>
          </a:p>
        </p:txBody>
      </p:sp>
      <p:sp>
        <p:nvSpPr>
          <p:cNvPr id="41" name="Text 39"/>
          <p:cNvSpPr/>
          <p:nvPr/>
        </p:nvSpPr>
        <p:spPr>
          <a:xfrm>
            <a:off x="7086600" y="4251960"/>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Streams asincronos (HTTP, eventos, WebSocket)</a:t>
            </a:r>
            <a:endParaRPr lang="en-US" sz="1200" dirty="0"/>
          </a:p>
        </p:txBody>
      </p:sp>
      <p:sp>
        <p:nvSpPr>
          <p:cNvPr id="42" name="Shape 40"/>
          <p:cNvSpPr/>
          <p:nvPr/>
        </p:nvSpPr>
        <p:spPr>
          <a:xfrm>
            <a:off x="548640" y="4818888"/>
            <a:ext cx="2743200" cy="566928"/>
          </a:xfrm>
          <a:prstGeom prst="rect">
            <a:avLst/>
          </a:prstGeom>
          <a:solidFill>
            <a:srgbClr val="F4F6F5"/>
          </a:solidFill>
          <a:ln w="6350">
            <a:solidFill>
              <a:srgbClr val="006633"/>
            </a:solidFill>
            <a:prstDash val="solid"/>
          </a:ln>
        </p:spPr>
        <p:txBody>
          <a:bodyPr/>
          <a:lstStyle/>
          <a:p>
            <a:endParaRPr lang="es-US"/>
          </a:p>
        </p:txBody>
      </p:sp>
      <p:sp>
        <p:nvSpPr>
          <p:cNvPr id="43" name="Text 41"/>
          <p:cNvSpPr/>
          <p:nvPr/>
        </p:nvSpPr>
        <p:spPr>
          <a:xfrm>
            <a:off x="640080" y="4818888"/>
            <a:ext cx="2560320" cy="566928"/>
          </a:xfrm>
          <a:prstGeom prst="rect">
            <a:avLst/>
          </a:prstGeom>
          <a:noFill/>
          <a:ln/>
        </p:spPr>
        <p:txBody>
          <a:bodyPr wrap="square" rtlCol="0" anchor="ctr"/>
          <a:lstStyle/>
          <a:p>
            <a:pPr marL="0" indent="0">
              <a:buNone/>
            </a:pPr>
            <a:r>
              <a:rPr lang="en-US" sz="1200" b="1" dirty="0">
                <a:solidFill>
                  <a:srgbClr val="383A42"/>
                </a:solidFill>
                <a:latin typeface="Calibri" pitchFamily="34" charset="0"/>
                <a:ea typeface="Calibri" pitchFamily="34" charset="-122"/>
                <a:cs typeface="Calibri" pitchFamily="34" charset="-120"/>
              </a:rPr>
              <a:t>En Angular 22</a:t>
            </a:r>
            <a:endParaRPr lang="en-US" sz="1200" dirty="0"/>
          </a:p>
        </p:txBody>
      </p:sp>
      <p:sp>
        <p:nvSpPr>
          <p:cNvPr id="44" name="Shape 42"/>
          <p:cNvSpPr/>
          <p:nvPr/>
        </p:nvSpPr>
        <p:spPr>
          <a:xfrm>
            <a:off x="3291840" y="4818888"/>
            <a:ext cx="3703320" cy="566928"/>
          </a:xfrm>
          <a:prstGeom prst="rect">
            <a:avLst/>
          </a:prstGeom>
          <a:solidFill>
            <a:srgbClr val="F4F6F5"/>
          </a:solidFill>
          <a:ln w="6350">
            <a:solidFill>
              <a:srgbClr val="006633"/>
            </a:solidFill>
            <a:prstDash val="solid"/>
          </a:ln>
        </p:spPr>
        <p:txBody>
          <a:bodyPr/>
          <a:lstStyle/>
          <a:p>
            <a:endParaRPr lang="es-US"/>
          </a:p>
        </p:txBody>
      </p:sp>
      <p:sp>
        <p:nvSpPr>
          <p:cNvPr id="45" name="Text 43"/>
          <p:cNvSpPr/>
          <p:nvPr/>
        </p:nvSpPr>
        <p:spPr>
          <a:xfrm>
            <a:off x="3383280" y="4818888"/>
            <a:ext cx="3520440"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API estable y recomendada</a:t>
            </a:r>
            <a:endParaRPr lang="en-US" sz="1200" dirty="0"/>
          </a:p>
        </p:txBody>
      </p:sp>
      <p:sp>
        <p:nvSpPr>
          <p:cNvPr id="46" name="Shape 44"/>
          <p:cNvSpPr/>
          <p:nvPr/>
        </p:nvSpPr>
        <p:spPr>
          <a:xfrm>
            <a:off x="6995160" y="4818888"/>
            <a:ext cx="4645152" cy="566928"/>
          </a:xfrm>
          <a:prstGeom prst="rect">
            <a:avLst/>
          </a:prstGeom>
          <a:solidFill>
            <a:srgbClr val="F4F6F5"/>
          </a:solidFill>
          <a:ln w="6350">
            <a:solidFill>
              <a:srgbClr val="006633"/>
            </a:solidFill>
            <a:prstDash val="solid"/>
          </a:ln>
        </p:spPr>
        <p:txBody>
          <a:bodyPr/>
          <a:lstStyle/>
          <a:p>
            <a:endParaRPr lang="es-US"/>
          </a:p>
        </p:txBody>
      </p:sp>
      <p:sp>
        <p:nvSpPr>
          <p:cNvPr id="47" name="Text 45"/>
          <p:cNvSpPr/>
          <p:nvPr/>
        </p:nvSpPr>
        <p:spPr>
          <a:xfrm>
            <a:off x="7086600" y="4818888"/>
            <a:ext cx="4462272" cy="566928"/>
          </a:xfrm>
          <a:prstGeom prst="rect">
            <a:avLst/>
          </a:prstGeom>
          <a:noFill/>
          <a:ln/>
        </p:spPr>
        <p:txBody>
          <a:bodyPr wrap="square" rtlCol="0" anchor="ctr"/>
          <a:lstStyle/>
          <a:p>
            <a:pPr marL="0" indent="0">
              <a:buNone/>
            </a:pPr>
            <a:r>
              <a:rPr lang="en-US" sz="1200" dirty="0">
                <a:solidFill>
                  <a:srgbClr val="383A42"/>
                </a:solidFill>
                <a:latin typeface="Calibri" pitchFamily="34" charset="0"/>
                <a:ea typeface="Calibri" pitchFamily="34" charset="-122"/>
                <a:cs typeface="Calibri" pitchFamily="34" charset="-120"/>
              </a:rPr>
              <a:t>Sigue estable; conviven ambos</a:t>
            </a:r>
            <a:endParaRPr lang="en-US" sz="1200" dirty="0"/>
          </a:p>
        </p:txBody>
      </p:sp>
      <p:sp>
        <p:nvSpPr>
          <p:cNvPr id="48" name="Text 46"/>
          <p:cNvSpPr/>
          <p:nvPr/>
        </p:nvSpPr>
        <p:spPr>
          <a:xfrm>
            <a:off x="548640" y="5669280"/>
            <a:ext cx="11091672" cy="594360"/>
          </a:xfrm>
          <a:prstGeom prst="rect">
            <a:avLst/>
          </a:prstGeom>
          <a:noFill/>
          <a:ln/>
        </p:spPr>
        <p:txBody>
          <a:bodyPr wrap="square" rtlCol="0" anchor="t"/>
          <a:lstStyle/>
          <a:p>
            <a:pPr marL="0" indent="0">
              <a:buNone/>
            </a:pPr>
            <a:r>
              <a:rPr lang="en-US" sz="1200" i="1" dirty="0">
                <a:solidFill>
                  <a:srgbClr val="383A42"/>
                </a:solidFill>
                <a:latin typeface="Calibri" pitchFamily="34" charset="0"/>
                <a:ea typeface="Calibri" pitchFamily="34" charset="-122"/>
                <a:cs typeface="Calibri" pitchFamily="34" charset="-120"/>
              </a:rPr>
              <a:t>Regla practica: signal para estado; Observable para asincronia. HttpClient sigue devolviendo Observables; se convierten a signal con toSignal(observable) cuando conviene leerlos en la plantilla como signal.</a:t>
            </a:r>
            <a:endParaRPr lang="en-US" sz="1200" dirty="0"/>
          </a:p>
        </p:txBody>
      </p:sp>
      <p:sp>
        <p:nvSpPr>
          <p:cNvPr id="49" name="Shape 47"/>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50" name="Text 48"/>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51" name="Text 49"/>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--- 15 / 40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Rutas anidadas (nested routes)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Ruta anidada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Ruta cuyo componente contiene otro &lt;router-outlet&gt; para renderizar sub-rutas. Permite construir vistas maestro-detalle o layouts con menu lateral persistente y contenido central que cambia.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app.routes.ts</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biblioteq-front/src/app/app.routes.ts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Routes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Cada objeto de la lista es una ruta.
// children : arreglo de rutas cuyo componente se renderiza
//            dentro del &lt;router-outlet&gt; del componente padre.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routes: Routes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redirectTo: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pathMatch: </a:t>
            </a:r>
            <a:r>
              <a:rPr lang="en-US" sz="1100" dirty="0">
                <a:solidFill>
                  <a:srgbClr val="C41A16"/>
                </a:solidFill>
                <a:latin typeface="Courier New" pitchFamily="34" charset="0"/>
                <a:ea typeface="Courier New" pitchFamily="34" charset="-122"/>
                <a:cs typeface="Courier New" pitchFamily="34" charset="-120"/>
              </a:rPr>
              <a:t>'full'</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/libros abre LibroLayoutComponent con menu lateral fijo
</a:t>
            </a: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LibroLayoutComponent, children: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component: LibroListComponent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':id'</a:t>
            </a:r>
            <a:r>
              <a:rPr lang="en-US" sz="1100" dirty="0">
                <a:solidFill>
                  <a:srgbClr val="383A42"/>
                </a:solidFill>
                <a:latin typeface="Courier New" pitchFamily="34" charset="0"/>
                <a:ea typeface="Courier New" pitchFamily="34" charset="-122"/>
                <a:cs typeface="Courier New" pitchFamily="34" charset="-120"/>
              </a:rPr>
              <a:t>, component: LibroDetailComponent },  // /libros/42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'nuevo'</a:t>
            </a:r>
            <a:r>
              <a:rPr lang="en-US" sz="1100" dirty="0">
                <a:solidFill>
                  <a:srgbClr val="383A42"/>
                </a:solidFill>
                <a:latin typeface="Courier New" pitchFamily="34" charset="0"/>
                <a:ea typeface="Courier New" pitchFamily="34" charset="-122"/>
                <a:cs typeface="Courier New" pitchFamily="34" charset="-120"/>
              </a:rPr>
              <a:t>, component: LibroFormComponent }   // /libros/nuevo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component: NotFoundComponent }  // ruta comodin (404)</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--- 16 / 40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Parametros de ruta y query params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leer parametros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Component,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input,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ActivatedRoute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 /* ... */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LibroDetailComponent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servicio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(LibroService);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ruta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(ActivatedRoute);</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input() de router : Angular 16+ inyecta parametros como signal.
  // Requiere withComponentInputBinding() en provideRouter (angular.dev).
</a:t>
            </a:r>
            <a:r>
              <a:rPr lang="en-US" sz="1100" dirty="0">
                <a:solidFill>
                  <a:srgbClr val="383A42"/>
                </a:solidFill>
                <a:latin typeface="Courier New" pitchFamily="34" charset="0"/>
                <a:ea typeface="Courier New" pitchFamily="34" charset="-122"/>
                <a:cs typeface="Courier New" pitchFamily="34" charset="-120"/>
              </a:rPr>
              <a:t>  id = input.required&lt;</a:t>
            </a:r>
            <a:r>
              <a:rPr lang="en-US" sz="1100" b="1" dirty="0">
                <a:solidFill>
                  <a:srgbClr val="0057AE"/>
                </a:solidFill>
                <a:latin typeface="Courier New" pitchFamily="34" charset="0"/>
                <a:ea typeface="Courier New" pitchFamily="34" charset="-122"/>
                <a:cs typeface="Courier New" pitchFamily="34" charset="-120"/>
              </a:rPr>
              <a:t>number</a:t>
            </a:r>
            <a:r>
              <a:rPr lang="en-US" sz="1100" dirty="0">
                <a:solidFill>
                  <a:srgbClr val="383A42"/>
                </a:solidFill>
                <a:latin typeface="Courier New" pitchFamily="34" charset="0"/>
                <a:ea typeface="Courier New" pitchFamily="34" charset="-122"/>
                <a:cs typeface="Courier New" pitchFamily="34" charset="-120"/>
              </a:rPr>
              <a:t>&gt;();          // /libros/42  -&gt; id() = 42</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edicion = input&lt;</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C41A16"/>
                </a:solidFill>
                <a:latin typeface="Courier New" pitchFamily="34" charset="0"/>
                <a:ea typeface="Courier New" pitchFamily="34" charset="-122"/>
                <a:cs typeface="Courier New" pitchFamily="34" charset="-120"/>
              </a:rPr>
              <a:t>'lectura'</a:t>
            </a:r>
            <a:r>
              <a:rPr lang="en-US" sz="1100" dirty="0">
                <a:solidFill>
                  <a:srgbClr val="383A42"/>
                </a:solidFill>
                <a:latin typeface="Courier New" pitchFamily="34" charset="0"/>
                <a:ea typeface="Courier New" pitchFamily="34" charset="-122"/>
                <a:cs typeface="Courier New" pitchFamily="34" charset="-120"/>
              </a:rPr>
              <a:t>);     // ?edicion=nueva</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Alternativa clasica leyendo ActivatedRoute:
</a:t>
            </a:r>
            <a:r>
              <a:rPr lang="en-US" sz="1100" dirty="0">
                <a:solidFill>
                  <a:srgbClr val="383A42"/>
                </a:solidFill>
                <a:latin typeface="Courier New" pitchFamily="34" charset="0"/>
                <a:ea typeface="Courier New" pitchFamily="34" charset="-122"/>
                <a:cs typeface="Courier New" pitchFamily="34" charset="-120"/>
              </a:rPr>
              <a:t>  libro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 | </a:t>
            </a:r>
            <a:r>
              <a:rPr lang="en-US" sz="1100" b="1" dirty="0">
                <a:solidFill>
                  <a:srgbClr val="0057AE"/>
                </a:solidFill>
                <a:latin typeface="Courier New" pitchFamily="34" charset="0"/>
                <a:ea typeface="Courier New" pitchFamily="34" charset="-122"/>
                <a:cs typeface="Courier New" pitchFamily="34" charset="-120"/>
              </a:rPr>
              <a:t>null</a:t>
            </a:r>
            <a:r>
              <a:rPr lang="en-US" sz="1100" dirty="0">
                <a:solidFill>
                  <a:srgbClr val="383A42"/>
                </a:solidFill>
                <a:latin typeface="Courier New" pitchFamily="34" charset="0"/>
                <a:ea typeface="Courier New" pitchFamily="34" charset="-122"/>
                <a:cs typeface="Courier New" pitchFamily="34" charset="-120"/>
              </a:rPr>
              <a:t>&gt;(</a:t>
            </a:r>
            <a:r>
              <a:rPr lang="en-US" sz="1100" b="1" dirty="0">
                <a:solidFill>
                  <a:srgbClr val="0057AE"/>
                </a:solidFill>
                <a:latin typeface="Courier New" pitchFamily="34" charset="0"/>
                <a:ea typeface="Courier New" pitchFamily="34" charset="-122"/>
                <a:cs typeface="Courier New" pitchFamily="34" charset="-120"/>
              </a:rPr>
              <a:t>null</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ngOnInit()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rawId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.ruta.snapshot.paramMap.get(</a:t>
            </a:r>
            <a:r>
              <a:rPr lang="en-US" sz="1100" dirty="0">
                <a:solidFill>
                  <a:srgbClr val="C41A16"/>
                </a:solidFill>
                <a:latin typeface="Courier New" pitchFamily="34" charset="0"/>
                <a:ea typeface="Courier New" pitchFamily="34" charset="-122"/>
                <a:cs typeface="Courier New" pitchFamily="34" charset="-120"/>
              </a:rPr>
              <a:t>'id'</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(rawId)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.servicio.buscarPorId(+rawId)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.subscribe(l =&gt;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.libro.set(l));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--- 17 / 40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Guards funcionales: canActivate</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Guard (CanActivateFn)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Funcion que Angular ejecuta antes de activar una ruta y que devuelve true, false, o un UrlTree para redirigir. Se usa para restringir vistas a usuarios autenticados o a ciertos roles. Reemplaza a los guards basados en clase, ya obsoletos.</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auth.guard.ts</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biblioteq-front/src/app/security/auth.guard.ts
// CanActivateFn : tipo de la funcion que Angular espera como guard.
// inject : lo usamos dentro para obtener el AuthService y el Router.
// Router.parseUrl : construye un UrlTree para redirigir con seguridad.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CanActivateFn, Router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AuthService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'./auth.service'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authGuard: CanActivateFn = (route, state)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(AuthService);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router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(Router);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isAuthenticated() : signal booleana que expone el servicio.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if</a:t>
            </a:r>
            <a:r>
              <a:rPr lang="en-US" sz="1100" dirty="0">
                <a:solidFill>
                  <a:srgbClr val="383A42"/>
                </a:solidFill>
                <a:latin typeface="Courier New" pitchFamily="34" charset="0"/>
                <a:ea typeface="Courier New" pitchFamily="34" charset="-122"/>
                <a:cs typeface="Courier New" pitchFamily="34" charset="-120"/>
              </a:rPr>
              <a:t> (auth.isAuthenticated())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Si NO esta autenticado, se redirige a /login preservando la
  // URL destino para volver a ella tras iniciar sesion.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router.parseUrl(</a:t>
            </a:r>
            <a:r>
              <a:rPr lang="en-US" sz="1100" dirty="0">
                <a:solidFill>
                  <a:srgbClr val="C41A16"/>
                </a:solidFill>
                <a:latin typeface="Courier New" pitchFamily="34" charset="0"/>
                <a:ea typeface="Courier New" pitchFamily="34" charset="-122"/>
                <a:cs typeface="Courier New" pitchFamily="34" charset="-120"/>
              </a:rPr>
              <a:t>`/login?volver=${state.url}`</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--- 18 / 40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canMatch y aplicacion a rutas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aplicar guards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canMatch : variante que decide si la ruta siquiera se considera.
// Si devuelve false, Angular sigue evaluando otras rutas (util con lazy).
// canActivate : decide si el usuario puede acceder a una ruta ya elegida.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CanMatchFn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'@angular/router'</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adminMatch: CanMatchFn = ()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auth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(AuthService);</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hasRole('ADMIN') : consulta si el token JWT lleva ese rol.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auth.hasRole(</a:t>
            </a:r>
            <a:r>
              <a:rPr lang="en-US" sz="1100" dirty="0">
                <a:solidFill>
                  <a:srgbClr val="C41A16"/>
                </a:solidFill>
                <a:latin typeface="Courier New" pitchFamily="34" charset="0"/>
                <a:ea typeface="Courier New" pitchFamily="34" charset="-122"/>
                <a:cs typeface="Courier New" pitchFamily="34" charset="-120"/>
              </a:rPr>
              <a:t>'ADMIN'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Aplicacion : el guard se anade al objeto de ruta.
</a:t>
            </a: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routes: Routes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LibroListComponent,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canActivate: [authGuard]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'usuarios'</a:t>
            </a:r>
            <a:r>
              <a:rPr lang="en-US" sz="1100" dirty="0">
                <a:solidFill>
                  <a:srgbClr val="383A42"/>
                </a:solidFill>
                <a:latin typeface="Courier New" pitchFamily="34" charset="0"/>
                <a:ea typeface="Courier New" pitchFamily="34" charset="-122"/>
                <a:cs typeface="Courier New" pitchFamily="34" charset="-120"/>
              </a:rPr>
              <a:t>,     component: UsuariosComponent,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canMatch: [adminMatch]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'login'</a:t>
            </a:r>
            <a:r>
              <a:rPr lang="en-US" sz="1100" dirty="0">
                <a:solidFill>
                  <a:srgbClr val="383A42"/>
                </a:solidFill>
                <a:latin typeface="Courier New" pitchFamily="34" charset="0"/>
                <a:ea typeface="Courier New" pitchFamily="34" charset="-122"/>
                <a:cs typeface="Courier New" pitchFamily="34" charset="-120"/>
              </a:rPr>
              <a:t>,        component: LoginComponent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path: </a:t>
            </a:r>
            <a:r>
              <a:rPr lang="en-US" sz="1100" dirty="0">
                <a:solidFill>
                  <a:srgbClr val="C41A16"/>
                </a:solidFill>
                <a:latin typeface="Courier New" pitchFamily="34" charset="0"/>
                <a:ea typeface="Courier New" pitchFamily="34" charset="-122"/>
                <a:cs typeface="Courier New" pitchFamily="34" charset="-120"/>
              </a:rPr>
              <a:t>'**'</a:t>
            </a:r>
            <a:r>
              <a:rPr lang="en-US" sz="1100" dirty="0">
                <a:solidFill>
                  <a:srgbClr val="383A42"/>
                </a:solidFill>
                <a:latin typeface="Courier New" pitchFamily="34" charset="0"/>
                <a:ea typeface="Courier New" pitchFamily="34" charset="-122"/>
                <a:cs typeface="Courier New" pitchFamily="34" charset="-120"/>
              </a:rPr>
              <a:t>,           redirectTo: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--- 19 / 40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RUTAS Y NAVEGACION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Lazy loading con loadComponent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Lazy loading (carga diferida)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Tecnica en la que un componente o modulo NO se incluye en el bundle inicial que descarga el navegador, sino en un bundle separado que se descarga solo cuando el usuario navega a esa ruta. Reduce el tiempo de carga inicial.</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cargar bajo demanda</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Sin lazy loading (todo el bundle desde el arranque):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LibroListComponent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'./libros/libro-list.component'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 component: LibroListComponent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Con lazy loading (componente en bundle separado):
// loadComponent : funcion que recibe una funcion asincrona que
// hace import() dinamico y devuelve el componente.
// El bundler (esbuild) crea un chunk aparte para ese modulo.
</a:t>
            </a: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'libros'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loadComponent: ()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'./libros/libro-list.component'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.then(m =&gt; m.LibroListComponent)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Tambien existe loadChildren para cargar un grupo de rutas hijas:
</a:t>
            </a:r>
            <a:r>
              <a:rPr lang="en-US" sz="1100" dirty="0">
                <a:solidFill>
                  <a:srgbClr val="383A42"/>
                </a:solidFill>
                <a:latin typeface="Courier New" pitchFamily="34" charset="0"/>
                <a:ea typeface="Courier New" pitchFamily="34" charset="-122"/>
                <a:cs typeface="Courier New" pitchFamily="34" charset="-120"/>
              </a:rPr>
              <a:t>{ path: </a:t>
            </a:r>
            <a:r>
              <a:rPr lang="en-US" sz="1100" dirty="0">
                <a:solidFill>
                  <a:srgbClr val="C41A16"/>
                </a:solidFill>
                <a:latin typeface="Courier New" pitchFamily="34" charset="0"/>
                <a:ea typeface="Courier New" pitchFamily="34" charset="-122"/>
                <a:cs typeface="Courier New" pitchFamily="34" charset="-120"/>
              </a:rPr>
              <a:t>'admin'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loadChildren: ()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C41A16"/>
                </a:solidFill>
                <a:latin typeface="Courier New" pitchFamily="34" charset="0"/>
                <a:ea typeface="Courier New" pitchFamily="34" charset="-122"/>
                <a:cs typeface="Courier New" pitchFamily="34" charset="-120"/>
              </a:rPr>
              <a:t>'./admin/admin.routes'</a:t>
            </a:r>
            <a:r>
              <a:rPr lang="en-US" sz="1100" dirty="0">
                <a:solidFill>
                  <a:srgbClr val="383A42"/>
                </a:solidFill>
                <a:latin typeface="Courier New" pitchFamily="34" charset="0"/>
                <a:ea typeface="Courier New" pitchFamily="34" charset="-122"/>
                <a:cs typeface="Courier New" pitchFamily="34" charset="-120"/>
              </a:rPr>
              <a:t>).then(m =&gt; m.ADMIN_ROUTES) }</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--- 20 / 40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OPTIMIZACION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OnPush: el nuevo default en Angular 22</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97280"/>
          </a:xfrm>
          <a:prstGeom prst="roundRect">
            <a:avLst>
              <a:gd name="adj" fmla="val 5000"/>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9728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5097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Change detection (deteccion de cambios)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Proceso por el que Angular decide que expresiones de la plantilla se re-evaluan cuando algo cambia. Con la estrategia OnPush, el componente solo se re-renderiza cuando sus inputs cambian por referencia o cuando una signal que lea cambia.</a:t>
            </a:r>
            <a:endParaRPr lang="en-US" sz="1100" dirty="0"/>
          </a:p>
        </p:txBody>
      </p:sp>
      <p:sp>
        <p:nvSpPr>
          <p:cNvPr id="9" name="Shape 7"/>
          <p:cNvSpPr/>
          <p:nvPr/>
        </p:nvSpPr>
        <p:spPr>
          <a:xfrm>
            <a:off x="548640" y="2651760"/>
            <a:ext cx="11091672" cy="3566160"/>
          </a:xfrm>
          <a:prstGeom prst="roundRect">
            <a:avLst>
              <a:gd name="adj" fmla="val 1538"/>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5176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700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OnPush por defecto</a:t>
            </a:r>
            <a:endParaRPr lang="en-US" sz="1000" dirty="0"/>
          </a:p>
        </p:txBody>
      </p:sp>
      <p:sp>
        <p:nvSpPr>
          <p:cNvPr id="12" name="Text 10"/>
          <p:cNvSpPr txBox="1"/>
          <p:nvPr/>
        </p:nvSpPr>
        <p:spPr>
          <a:xfrm>
            <a:off x="640080" y="2999232"/>
            <a:ext cx="10908792" cy="312724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En Angular 22, si un componente NO declara changeDetection,
// el default es ChangeDetectionStrategy.OnPush (antes: Default).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Component, ChangeDetectionStrategy,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'app-libro-card'</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template: </a:t>
            </a:r>
            <a:r>
              <a:rPr lang="en-US" sz="1100" dirty="0">
                <a:solidFill>
                  <a:srgbClr val="C41A16"/>
                </a:solidFill>
                <a:latin typeface="Courier New" pitchFamily="34" charset="0"/>
                <a:ea typeface="Courier New" pitchFamily="34" charset="-122"/>
                <a:cs typeface="Courier New" pitchFamily="34" charset="-120"/>
              </a:rPr>
              <a:t>`&lt;h3&gt;{{ libro().titulo }}&lt;/h3&gt;`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Explicito (opcional en v22). Si se omite, Angular usa OnPush.
</a:t>
            </a:r>
            <a:r>
              <a:rPr lang="en-US" sz="1100" dirty="0">
                <a:solidFill>
                  <a:srgbClr val="383A42"/>
                </a:solidFill>
                <a:latin typeface="Courier New" pitchFamily="34" charset="0"/>
                <a:ea typeface="Courier New" pitchFamily="34" charset="-122"/>
                <a:cs typeface="Courier New" pitchFamily="34" charset="-120"/>
              </a:rPr>
              <a:t>  changeDetection: ChangeDetectionStrategy.OnPush</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LibroCardComponent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libro = </a:t>
            </a:r>
            <a:r>
              <a:rPr lang="en-US" sz="1100" b="1" dirty="0">
                <a:solidFill>
                  <a:srgbClr val="0057AE"/>
                </a:solidFill>
                <a:latin typeface="Courier New" pitchFamily="34" charset="0"/>
                <a:ea typeface="Courier New" pitchFamily="34" charset="-122"/>
                <a:cs typeface="Courier New" pitchFamily="34" charset="-120"/>
              </a:rPr>
              <a:t>signal</a:t>
            </a:r>
            <a:r>
              <a:rPr lang="en-US" sz="1100" dirty="0">
                <a:solidFill>
                  <a:srgbClr val="383A42"/>
                </a:solidFill>
                <a:latin typeface="Courier New" pitchFamily="34" charset="0"/>
                <a:ea typeface="Courier New" pitchFamily="34" charset="-122"/>
                <a:cs typeface="Courier New" pitchFamily="34" charset="-120"/>
              </a:rPr>
              <a:t>&lt;Libro&gt;({ /* ...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548640" y="6309360"/>
            <a:ext cx="0" cy="0"/>
          </a:xfrm>
          <a:prstGeom prst="roundRect">
            <a:avLst>
              <a:gd name="adj" fmla="val Infinity"/>
            </a:avLst>
          </a:prstGeom>
          <a:solidFill>
            <a:srgbClr val="FBF0D8"/>
          </a:solidFill>
          <a:ln w="12700">
            <a:solidFill>
              <a:srgbClr val="B8860B"/>
            </a:solidFill>
            <a:prstDash val="solid"/>
          </a:ln>
        </p:spPr>
        <p:txBody>
          <a:bodyPr/>
          <a:lstStyle/>
          <a:p>
            <a:endParaRPr lang="es-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4. OPTIMIZACION</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@defer: vistas diferidas por gatillo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Vista diferida (@defer block)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Bloque de plantilla cuya carga y renderizado se posterga hasta que ocurre un gatillo (on hover, on interaction, on viewport, on idle, on timer). Aparece como estable desde Angular 17. Reduce el trabajo del hilo principal en la primera carga.</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defer con on viewport</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&lt;!-- Bloque @defer : el componente pesado se carga solo cuando --&gt;
&lt;!-- el elemento marcado con #trigger entra en el viewport.    --&gt;
</a:t>
            </a:r>
            <a:r>
              <a:rPr lang="en-US" sz="1100" dirty="0">
                <a:solidFill>
                  <a:srgbClr val="383A42"/>
                </a:solidFill>
                <a:latin typeface="Courier New" pitchFamily="34" charset="0"/>
                <a:ea typeface="Courier New" pitchFamily="34" charset="-122"/>
                <a:cs typeface="Courier New" pitchFamily="34" charset="-120"/>
              </a:rPr>
              <a:t>&lt;div&gt;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&lt;h2&gt;Detalle del libro&lt;/h2&gt;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&lt;p&gt;{{ libro().titulo }}&lt;/p&gt;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&lt;hr #trigger /&gt;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&lt;!-- on viewport(trigger) : dispara cuando el ref entra a viewport --&gt;
</a:t>
            </a:r>
            <a:r>
              <a:rPr lang="en-US" sz="1100" dirty="0">
                <a:solidFill>
                  <a:srgbClr val="383A42"/>
                </a:solidFill>
                <a:latin typeface="Courier New" pitchFamily="34" charset="0"/>
                <a:ea typeface="Courier New" pitchFamily="34" charset="-122"/>
                <a:cs typeface="Courier New" pitchFamily="34" charset="-120"/>
              </a:rPr>
              <a:t>  @defer (on viewport(trigger))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&lt;app-comentarios [libroId]=</a:t>
            </a:r>
            <a:r>
              <a:rPr lang="en-US" sz="1100" dirty="0">
                <a:solidFill>
                  <a:srgbClr val="C41A16"/>
                </a:solidFill>
                <a:latin typeface="Courier New" pitchFamily="34" charset="0"/>
                <a:ea typeface="Courier New" pitchFamily="34" charset="-122"/>
                <a:cs typeface="Courier New" pitchFamily="34" charset="-120"/>
              </a:rPr>
              <a:t>"libro().id"</a:t>
            </a:r>
            <a:r>
              <a:rPr lang="en-US" sz="1100" dirty="0">
                <a:solidFill>
                  <a:srgbClr val="383A42"/>
                </a:solidFill>
                <a:latin typeface="Courier New" pitchFamily="34" charset="0"/>
                <a:ea typeface="Courier New" pitchFamily="34" charset="-122"/>
                <a:cs typeface="Courier New" pitchFamily="34" charset="-120"/>
              </a:rPr>
              <a:t> /&gt;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@placeholder { &lt;p&gt;Los comentarios se cargaran al bajar...&lt;/p&gt;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@loading    { &lt;p&gt;Cargando comentarios...&lt;/p&gt;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@error      { &lt;p&gt;No se pudieron cargar los comentarios.&lt;/p&gt;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&lt;/div&gt;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--- 22 / 40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Testing: Vitest como default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Vitest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Corredor de pruebas basado en Vite, adoptado como default por Angular CLI desde la version 21. Compatible con la sintaxis de Jasmine (describe, it, expect). Ofrece arranque mas rapido que Karma y no requiere navegador para las pruebas de logica.</a:t>
            </a:r>
            <a:endParaRPr lang="en-US" sz="1100" dirty="0"/>
          </a:p>
        </p:txBody>
      </p:sp>
      <p:sp>
        <p:nvSpPr>
          <p:cNvPr id="9" name="Text 7"/>
          <p:cNvSpPr/>
          <p:nvPr/>
        </p:nvSpPr>
        <p:spPr>
          <a:xfrm>
            <a:off x="548640" y="2606040"/>
            <a:ext cx="11091672" cy="640080"/>
          </a:xfrm>
          <a:prstGeom prst="rect">
            <a:avLst/>
          </a:prstGeom>
          <a:noFill/>
          <a:ln/>
        </p:spPr>
        <p:txBody>
          <a:bodyPr wrap="square" rtlCol="0" anchor="t"/>
          <a:lstStyle/>
          <a:p>
            <a:pPr marL="0" indent="0">
              <a:buNone/>
            </a:pPr>
            <a:r>
              <a:rPr lang="en-US" sz="1300" dirty="0">
                <a:solidFill>
                  <a:srgbClr val="383A42"/>
                </a:solidFill>
                <a:latin typeface="Calibri" pitchFamily="34" charset="0"/>
                <a:ea typeface="Calibri" pitchFamily="34" charset="-122"/>
                <a:cs typeface="Calibri" pitchFamily="34" charset="-120"/>
              </a:rPr>
              <a:t>Al crear un proyecto Angular 22 con ng new, la CLI configura Vitest automaticamente. Al ejecutar 'ng test' la salida indica el runner y las pruebas.</a:t>
            </a:r>
            <a:endParaRPr lang="en-US" sz="1300" dirty="0"/>
          </a:p>
        </p:txBody>
      </p:sp>
      <p:sp>
        <p:nvSpPr>
          <p:cNvPr id="10" name="Shape 8"/>
          <p:cNvSpPr/>
          <p:nvPr/>
        </p:nvSpPr>
        <p:spPr>
          <a:xfrm>
            <a:off x="548640" y="3337560"/>
            <a:ext cx="11091672" cy="2926080"/>
          </a:xfrm>
          <a:prstGeom prst="roundRect">
            <a:avLst>
              <a:gd name="adj" fmla="val 1875"/>
            </a:avLst>
          </a:prstGeom>
          <a:solidFill>
            <a:srgbClr val="F5F6F5"/>
          </a:solidFill>
          <a:ln w="9525">
            <a:solidFill>
              <a:srgbClr val="006633"/>
            </a:solidFill>
            <a:prstDash val="solid"/>
          </a:ln>
        </p:spPr>
        <p:txBody>
          <a:bodyPr/>
          <a:lstStyle/>
          <a:p>
            <a:endParaRPr lang="es-US"/>
          </a:p>
        </p:txBody>
      </p:sp>
      <p:sp>
        <p:nvSpPr>
          <p:cNvPr id="11" name="Shape 9"/>
          <p:cNvSpPr/>
          <p:nvPr/>
        </p:nvSpPr>
        <p:spPr>
          <a:xfrm>
            <a:off x="548640" y="3337560"/>
            <a:ext cx="1920240" cy="27432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594360" y="33558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13" name="Text 11"/>
          <p:cNvSpPr txBox="1"/>
          <p:nvPr/>
        </p:nvSpPr>
        <p:spPr>
          <a:xfrm>
            <a:off x="640080" y="3685032"/>
            <a:ext cx="10908792" cy="248716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Ejecutar la suite de pruebas del proyecto
</a:t>
            </a:r>
            <a:r>
              <a:rPr lang="en-US" sz="1200" b="1" dirty="0">
                <a:solidFill>
                  <a:srgbClr val="0057AE"/>
                </a:solidFill>
                <a:latin typeface="Courier New" pitchFamily="34" charset="0"/>
                <a:ea typeface="Courier New" pitchFamily="34" charset="-122"/>
                <a:cs typeface="Courier New" pitchFamily="34" charset="-120"/>
              </a:rPr>
              <a:t>ng</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test</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Salida esperada (abreviada):
# RUN  v3.x.x  /home/dev/biblioteq/frontend
#  DEV  Server running at http://localhost:5173/
#  Test Files  2 passed (2)
#       Tests  7 passed (7)
#    Duration  1.34s
</a:t>
            </a:r>
            <a:endParaRPr lang="en-US" sz="1200" dirty="0"/>
          </a:p>
        </p:txBody>
      </p:sp>
      <p:sp>
        <p:nvSpPr>
          <p:cNvPr id="14" name="Shape 12"/>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5" name="Text 13"/>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6" name="Text 14"/>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--- 23 / 40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Prueba de un servicio con HttpClient</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46320"/>
          </a:xfrm>
          <a:prstGeom prst="roundRect">
            <a:avLst>
              <a:gd name="adj" fmla="val 1132"/>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libro.service.spec.ts</a:t>
            </a:r>
            <a:endParaRPr lang="en-US" sz="1000" dirty="0"/>
          </a:p>
        </p:txBody>
      </p:sp>
      <p:sp>
        <p:nvSpPr>
          <p:cNvPr id="9" name="Text 7"/>
          <p:cNvSpPr txBox="1"/>
          <p:nvPr/>
        </p:nvSpPr>
        <p:spPr>
          <a:xfrm>
            <a:off x="640080" y="1764792"/>
            <a:ext cx="10908792" cy="4407408"/>
          </a:xfrm>
          <a:prstGeom prst="rect">
            <a:avLst/>
          </a:prstGeom>
          <a:noFill/>
          <a:ln/>
        </p:spPr>
        <p:txBody>
          <a:bodyPr wrap="square" rtlCol="0" anchor="t"/>
          <a:lstStyle/>
          <a:p>
            <a:pPr marL="0" indent="0">
              <a:buNone/>
            </a:pPr>
            <a:r>
              <a:rPr lang="en-US" sz="1000" i="1" dirty="0">
                <a:solidFill>
                  <a:srgbClr val="717171"/>
                </a:solidFill>
                <a:latin typeface="Courier New" pitchFamily="34" charset="0"/>
                <a:ea typeface="Courier New" pitchFamily="34" charset="-122"/>
                <a:cs typeface="Courier New" pitchFamily="34" charset="-120"/>
              </a:rPr>
              <a:t>// biblioteq-front/src/app/libros/libro.service.spec.ts
// describe : agrupa un conjunto de pruebas relacionadas.
// it : declara una prueba individual con nombre humano.
// expect : declara una asercion que debe cumplirse.
</a:t>
            </a: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describe, it, expect, beforeEach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'vitest'</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TestBed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'@angular/core/testing'</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provideHttpClient : registra HttpClient en el TestBed.
// provideHttpClientTesting : sustituye la implementacion
// por una que intercepta y controla las llamadas HTTP.
</a:t>
            </a: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a:t>
            </a:r>
            <a:r>
              <a:rPr lang="en-US" sz="1000" b="1" dirty="0">
                <a:solidFill>
                  <a:srgbClr val="0057AE"/>
                </a:solidFill>
                <a:latin typeface="Courier New" pitchFamily="34" charset="0"/>
                <a:ea typeface="Courier New" pitchFamily="34" charset="-122"/>
                <a:cs typeface="Courier New" pitchFamily="34" charset="-120"/>
              </a:rPr>
              <a:t>provideHttpClient</a:t>
            </a:r>
            <a:r>
              <a:rPr lang="en-US" sz="1000" dirty="0">
                <a:solidFill>
                  <a:srgbClr val="383A42"/>
                </a:solidFill>
                <a:latin typeface="Courier New" pitchFamily="34" charset="0"/>
                <a:ea typeface="Courier New" pitchFamily="34" charset="-122"/>
                <a:cs typeface="Courier New" pitchFamily="34" charset="-120"/>
              </a:rPr>
              <a:t>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'@angular/common/http'</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HttpTestingController, provideHttpClientTesting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'@angular/common/http/testing'</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b="1" dirty="0">
                <a:solidFill>
                  <a:srgbClr val="0057AE"/>
                </a:solidFill>
                <a:latin typeface="Courier New" pitchFamily="34" charset="0"/>
                <a:ea typeface="Courier New" pitchFamily="34" charset="-122"/>
                <a:cs typeface="Courier New" pitchFamily="34" charset="-120"/>
              </a:rPr>
              <a:t>import</a:t>
            </a:r>
            <a:r>
              <a:rPr lang="en-US" sz="1000" dirty="0">
                <a:solidFill>
                  <a:srgbClr val="383A42"/>
                </a:solidFill>
                <a:latin typeface="Courier New" pitchFamily="34" charset="0"/>
                <a:ea typeface="Courier New" pitchFamily="34" charset="-122"/>
                <a:cs typeface="Courier New" pitchFamily="34" charset="-120"/>
              </a:rPr>
              <a:t> { LibroService } </a:t>
            </a:r>
            <a:r>
              <a:rPr lang="en-US" sz="1000" b="1" dirty="0">
                <a:solidFill>
                  <a:srgbClr val="0057AE"/>
                </a:solidFill>
                <a:latin typeface="Courier New" pitchFamily="34" charset="0"/>
                <a:ea typeface="Courier New" pitchFamily="34" charset="-122"/>
                <a:cs typeface="Courier New" pitchFamily="34" charset="-120"/>
              </a:rPr>
              <a:t>from</a:t>
            </a: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C41A16"/>
                </a:solidFill>
                <a:latin typeface="Courier New" pitchFamily="34" charset="0"/>
                <a:ea typeface="Courier New" pitchFamily="34" charset="-122"/>
                <a:cs typeface="Courier New" pitchFamily="34" charset="-120"/>
              </a:rPr>
              <a:t>'./libro.service'</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describe(</a:t>
            </a:r>
            <a:r>
              <a:rPr lang="en-US" sz="1000" dirty="0">
                <a:solidFill>
                  <a:srgbClr val="C41A16"/>
                </a:solidFill>
                <a:latin typeface="Courier New" pitchFamily="34" charset="0"/>
                <a:ea typeface="Courier New" pitchFamily="34" charset="-122"/>
                <a:cs typeface="Courier New" pitchFamily="34" charset="-120"/>
              </a:rPr>
              <a:t>'LibroService'</a:t>
            </a:r>
            <a:r>
              <a:rPr lang="en-US" sz="1000" dirty="0">
                <a:solidFill>
                  <a:srgbClr val="383A42"/>
                </a:solidFill>
                <a:latin typeface="Courier New" pitchFamily="34" charset="0"/>
                <a:ea typeface="Courier New" pitchFamily="34" charset="-122"/>
                <a:cs typeface="Courier New" pitchFamily="34" charset="-120"/>
              </a:rPr>
              <a:t>, () =&gt;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let</a:t>
            </a:r>
            <a:r>
              <a:rPr lang="en-US" sz="1000" dirty="0">
                <a:solidFill>
                  <a:srgbClr val="383A42"/>
                </a:solidFill>
                <a:latin typeface="Courier New" pitchFamily="34" charset="0"/>
                <a:ea typeface="Courier New" pitchFamily="34" charset="-122"/>
                <a:cs typeface="Courier New" pitchFamily="34" charset="-120"/>
              </a:rPr>
              <a:t> servicio: LibroService;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let</a:t>
            </a:r>
            <a:r>
              <a:rPr lang="en-US" sz="1000" dirty="0">
                <a:solidFill>
                  <a:srgbClr val="383A42"/>
                </a:solidFill>
                <a:latin typeface="Courier New" pitchFamily="34" charset="0"/>
                <a:ea typeface="Courier New" pitchFamily="34" charset="-122"/>
                <a:cs typeface="Courier New" pitchFamily="34" charset="-120"/>
              </a:rPr>
              <a:t> http: HttpTestingController;</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beforeEach(() =&gt; {                       // se ejecuta antes de cada it()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TestBed.configureTestingModule({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providers: [ </a:t>
            </a:r>
            <a:r>
              <a:rPr lang="en-US" sz="1000" b="1" dirty="0">
                <a:solidFill>
                  <a:srgbClr val="0057AE"/>
                </a:solidFill>
                <a:latin typeface="Courier New" pitchFamily="34" charset="0"/>
                <a:ea typeface="Courier New" pitchFamily="34" charset="-122"/>
                <a:cs typeface="Courier New" pitchFamily="34" charset="-120"/>
              </a:rPr>
              <a:t>provideHttpClient</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provideHttpClientTesting()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servicio = TestBed.</a:t>
            </a:r>
            <a:r>
              <a:rPr lang="en-US" sz="1000" b="1" dirty="0">
                <a:solidFill>
                  <a:srgbClr val="0057AE"/>
                </a:solidFill>
                <a:latin typeface="Courier New" pitchFamily="34" charset="0"/>
                <a:ea typeface="Courier New" pitchFamily="34" charset="-122"/>
                <a:cs typeface="Courier New" pitchFamily="34" charset="-120"/>
              </a:rPr>
              <a:t>inject</a:t>
            </a:r>
            <a:r>
              <a:rPr lang="en-US" sz="1000" dirty="0">
                <a:solidFill>
                  <a:srgbClr val="383A42"/>
                </a:solidFill>
                <a:latin typeface="Courier New" pitchFamily="34" charset="0"/>
                <a:ea typeface="Courier New" pitchFamily="34" charset="-122"/>
                <a:cs typeface="Courier New" pitchFamily="34" charset="-120"/>
              </a:rPr>
              <a:t>(LibroService);</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http = TestBed.</a:t>
            </a:r>
            <a:r>
              <a:rPr lang="en-US" sz="1000" b="1" dirty="0">
                <a:solidFill>
                  <a:srgbClr val="0057AE"/>
                </a:solidFill>
                <a:latin typeface="Courier New" pitchFamily="34" charset="0"/>
                <a:ea typeface="Courier New" pitchFamily="34" charset="-122"/>
                <a:cs typeface="Courier New" pitchFamily="34" charset="-120"/>
              </a:rPr>
              <a:t>inject</a:t>
            </a:r>
            <a:r>
              <a:rPr lang="en-US" sz="1000" dirty="0">
                <a:solidFill>
                  <a:srgbClr val="383A42"/>
                </a:solidFill>
                <a:latin typeface="Courier New" pitchFamily="34" charset="0"/>
                <a:ea typeface="Courier New" pitchFamily="34" charset="-122"/>
                <a:cs typeface="Courier New" pitchFamily="34" charset="-120"/>
              </a:rPr>
              <a:t>(HttpTestingController);</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it(</a:t>
            </a:r>
            <a:r>
              <a:rPr lang="en-US" sz="1000" dirty="0">
                <a:solidFill>
                  <a:srgbClr val="C41A16"/>
                </a:solidFill>
                <a:latin typeface="Courier New" pitchFamily="34" charset="0"/>
                <a:ea typeface="Courier New" pitchFamily="34" charset="-122"/>
                <a:cs typeface="Courier New" pitchFamily="34" charset="-120"/>
              </a:rPr>
              <a:t>'lista libros del backend'</a:t>
            </a:r>
            <a:r>
              <a:rPr lang="en-US" sz="1000" dirty="0">
                <a:solidFill>
                  <a:srgbClr val="383A42"/>
                </a:solidFill>
                <a:latin typeface="Courier New" pitchFamily="34" charset="0"/>
                <a:ea typeface="Courier New" pitchFamily="34" charset="-122"/>
                <a:cs typeface="Courier New" pitchFamily="34" charset="-120"/>
              </a:rPr>
              <a:t>, () =&gt; {</a:t>
            </a: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 subscribe : dispara la peticion HTTP.
</a:t>
            </a:r>
            <a:r>
              <a:rPr lang="en-US" sz="1000" dirty="0">
                <a:solidFill>
                  <a:srgbClr val="383A42"/>
                </a:solidFill>
                <a:latin typeface="Courier New" pitchFamily="34" charset="0"/>
                <a:ea typeface="Courier New" pitchFamily="34" charset="-122"/>
                <a:cs typeface="Courier New" pitchFamily="34" charset="-120"/>
              </a:rPr>
              <a:t>    servicio.listar().subscribe(libros =&gt;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expect(libros.length).toBe(2));</a:t>
            </a:r>
            <a:r>
              <a:rPr lang="en-US" sz="1000" dirty="0">
                <a:solidFill>
                  <a:srgbClr val="000000"/>
                </a:solidFill>
              </a:rPr>
              <a:t>
</a:t>
            </a:r>
            <a:endParaRPr lang="en-US" sz="1000" dirty="0"/>
          </a:p>
          <a:p>
            <a:pPr marL="0" indent="0">
              <a:buNone/>
            </a:pPr>
            <a:r>
              <a:rPr lang="en-US" sz="1000" dirty="0">
                <a:solidFill>
                  <a:srgbClr val="000000"/>
                </a:solidFill>
              </a:rPr>
              <a:t>
</a:t>
            </a:r>
            <a:endParaRPr lang="en-US" sz="1000" dirty="0"/>
          </a:p>
          <a:p>
            <a:pPr marL="0" indent="0">
              <a:buNone/>
            </a:pPr>
            <a:r>
              <a:rPr lang="en-US" sz="1000" i="1" dirty="0">
                <a:solidFill>
                  <a:srgbClr val="717171"/>
                </a:solidFill>
                <a:latin typeface="Courier New" pitchFamily="34" charset="0"/>
                <a:ea typeface="Courier New" pitchFamily="34" charset="-122"/>
                <a:cs typeface="Courier New" pitchFamily="34" charset="-120"/>
              </a:rPr>
              <a:t>    // expectOne : verifica que se hizo una unica peticion a la URL.
</a:t>
            </a:r>
            <a:r>
              <a:rPr lang="en-US" sz="1000" dirty="0">
                <a:solidFill>
                  <a:srgbClr val="383A42"/>
                </a:solidFill>
                <a:latin typeface="Courier New" pitchFamily="34" charset="0"/>
                <a:ea typeface="Courier New" pitchFamily="34" charset="-122"/>
                <a:cs typeface="Courier New" pitchFamily="34" charset="-120"/>
              </a:rPr>
              <a:t>    </a:t>
            </a:r>
            <a:r>
              <a:rPr lang="en-US" sz="1000" b="1" dirty="0">
                <a:solidFill>
                  <a:srgbClr val="0057AE"/>
                </a:solidFill>
                <a:latin typeface="Courier New" pitchFamily="34" charset="0"/>
                <a:ea typeface="Courier New" pitchFamily="34" charset="-122"/>
                <a:cs typeface="Courier New" pitchFamily="34" charset="-120"/>
              </a:rPr>
              <a:t>const</a:t>
            </a:r>
            <a:r>
              <a:rPr lang="en-US" sz="1000" dirty="0">
                <a:solidFill>
                  <a:srgbClr val="383A42"/>
                </a:solidFill>
                <a:latin typeface="Courier New" pitchFamily="34" charset="0"/>
                <a:ea typeface="Courier New" pitchFamily="34" charset="-122"/>
                <a:cs typeface="Courier New" pitchFamily="34" charset="-120"/>
              </a:rPr>
              <a:t> req = http.expectOne(</a:t>
            </a:r>
            <a:r>
              <a:rPr lang="en-US" sz="1000" dirty="0">
                <a:solidFill>
                  <a:srgbClr val="C41A16"/>
                </a:solidFill>
                <a:latin typeface="Courier New" pitchFamily="34" charset="0"/>
                <a:ea typeface="Courier New" pitchFamily="34" charset="-122"/>
                <a:cs typeface="Courier New" pitchFamily="34" charset="-120"/>
              </a:rPr>
              <a:t>'http://localhost:8080/api/libros'</a:t>
            </a: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req.flush([ { id:1, titulo:</a:t>
            </a:r>
            <a:r>
              <a:rPr lang="en-US" sz="1000" dirty="0">
                <a:solidFill>
                  <a:srgbClr val="C41A16"/>
                </a:solidFill>
                <a:latin typeface="Courier New" pitchFamily="34" charset="0"/>
                <a:ea typeface="Courier New" pitchFamily="34" charset="-122"/>
                <a:cs typeface="Courier New" pitchFamily="34" charset="-120"/>
              </a:rPr>
              <a:t>'A'</a:t>
            </a:r>
            <a:r>
              <a:rPr lang="en-US" sz="1000" dirty="0">
                <a:solidFill>
                  <a:srgbClr val="383A42"/>
                </a:solidFill>
                <a:latin typeface="Courier New" pitchFamily="34" charset="0"/>
                <a:ea typeface="Courier New" pitchFamily="34" charset="-122"/>
                <a:cs typeface="Courier New" pitchFamily="34" charset="-120"/>
              </a:rPr>
              <a:t> }, { id:2, titulo:</a:t>
            </a:r>
            <a:r>
              <a:rPr lang="en-US" sz="1000" dirty="0">
                <a:solidFill>
                  <a:srgbClr val="C41A16"/>
                </a:solidFill>
                <a:latin typeface="Courier New" pitchFamily="34" charset="0"/>
                <a:ea typeface="Courier New" pitchFamily="34" charset="-122"/>
                <a:cs typeface="Courier New" pitchFamily="34" charset="-120"/>
              </a:rPr>
              <a:t>'B'</a:t>
            </a:r>
            <a:r>
              <a:rPr lang="en-US" sz="1000" dirty="0">
                <a:solidFill>
                  <a:srgbClr val="383A42"/>
                </a:solidFill>
                <a:latin typeface="Courier New" pitchFamily="34" charset="0"/>
                <a:ea typeface="Courier New" pitchFamily="34" charset="-122"/>
                <a:cs typeface="Courier New" pitchFamily="34" charset="-120"/>
              </a:rPr>
              <a:t> }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  });</a:t>
            </a:r>
            <a:r>
              <a:rPr lang="en-US" sz="1000" dirty="0">
                <a:solidFill>
                  <a:srgbClr val="000000"/>
                </a:solidFill>
              </a:rPr>
              <a:t>
</a:t>
            </a:r>
            <a:endParaRPr lang="en-US" sz="1000" dirty="0"/>
          </a:p>
          <a:p>
            <a:pPr marL="0" indent="0">
              <a:buNone/>
            </a:pPr>
            <a:r>
              <a:rPr lang="en-US" sz="1000" dirty="0">
                <a:solidFill>
                  <a:srgbClr val="383A42"/>
                </a:solidFill>
                <a:latin typeface="Courier New" pitchFamily="34" charset="0"/>
                <a:ea typeface="Courier New" pitchFamily="34" charset="-122"/>
                <a:cs typeface="Courier New" pitchFamily="34" charset="-120"/>
              </a:rPr>
              <a:t>});</a:t>
            </a:r>
            <a:r>
              <a:rPr lang="en-US" sz="1000" dirty="0">
                <a:solidFill>
                  <a:srgbClr val="000000"/>
                </a:solidFill>
              </a:rPr>
              <a:t>
</a:t>
            </a:r>
            <a:endParaRPr lang="en-US" sz="10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--- 24 / 40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5. PRUEBAS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Prueba de un componente con TestBed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TestBed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Utilidad oficial de Angular para montar componentes, directivas o servicios en un entorno aislado de pruebas. Reemplaza providers, permite compilar plantillas y crear fixtures (envoltorios del componente para inspeccionar y actuar).</a:t>
            </a:r>
            <a:endParaRPr lang="en-US" sz="1100" dirty="0"/>
          </a:p>
        </p:txBody>
      </p:sp>
      <p:sp>
        <p:nvSpPr>
          <p:cNvPr id="9" name="Shape 7"/>
          <p:cNvSpPr/>
          <p:nvPr/>
        </p:nvSpPr>
        <p:spPr>
          <a:xfrm>
            <a:off x="548640" y="2560320"/>
            <a:ext cx="11091672" cy="3703320"/>
          </a:xfrm>
          <a:prstGeom prst="roundRect">
            <a:avLst>
              <a:gd name="adj" fmla="val 1481"/>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56032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578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prueba de componente</a:t>
            </a:r>
            <a:endParaRPr lang="en-US" sz="1000" dirty="0"/>
          </a:p>
        </p:txBody>
      </p:sp>
      <p:sp>
        <p:nvSpPr>
          <p:cNvPr id="12" name="Text 10"/>
          <p:cNvSpPr txBox="1"/>
          <p:nvPr/>
        </p:nvSpPr>
        <p:spPr>
          <a:xfrm>
            <a:off x="640080" y="2907792"/>
            <a:ext cx="10908792" cy="3264408"/>
          </a:xfrm>
          <a:prstGeom prst="rect">
            <a:avLst/>
          </a:prstGeom>
          <a:noFill/>
          <a:ln/>
        </p:spPr>
        <p:txBody>
          <a:bodyPr wrap="square" rtlCol="0" anchor="t"/>
          <a:lstStyle/>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describe, it, expect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'vitest'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TestBed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'@angular/core/testing'</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LibroCardComponent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'./libro-card.component'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describe(</a:t>
            </a:r>
            <a:r>
              <a:rPr lang="en-US" sz="1100" dirty="0">
                <a:solidFill>
                  <a:srgbClr val="C41A16"/>
                </a:solidFill>
                <a:latin typeface="Courier New" pitchFamily="34" charset="0"/>
                <a:ea typeface="Courier New" pitchFamily="34" charset="-122"/>
                <a:cs typeface="Courier New" pitchFamily="34" charset="-120"/>
              </a:rPr>
              <a:t>'LibroCardComponent'</a:t>
            </a:r>
            <a:r>
              <a:rPr lang="en-US" sz="1100" dirty="0">
                <a:solidFill>
                  <a:srgbClr val="383A42"/>
                </a:solidFill>
                <a:latin typeface="Courier New" pitchFamily="34" charset="0"/>
                <a:ea typeface="Courier New" pitchFamily="34" charset="-122"/>
                <a:cs typeface="Courier New" pitchFamily="34" charset="-120"/>
              </a:rPr>
              <a:t>, ()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it(</a:t>
            </a:r>
            <a:r>
              <a:rPr lang="en-US" sz="1100" dirty="0">
                <a:solidFill>
                  <a:srgbClr val="C41A16"/>
                </a:solidFill>
                <a:latin typeface="Courier New" pitchFamily="34" charset="0"/>
                <a:ea typeface="Courier New" pitchFamily="34" charset="-122"/>
                <a:cs typeface="Courier New" pitchFamily="34" charset="-120"/>
              </a:rPr>
              <a:t>'renderiza el titulo del libro'</a:t>
            </a:r>
            <a:r>
              <a:rPr lang="en-US" sz="1100" dirty="0">
                <a:solidFill>
                  <a:srgbClr val="383A42"/>
                </a:solidFill>
                <a:latin typeface="Courier New" pitchFamily="34" charset="0"/>
                <a:ea typeface="Courier New" pitchFamily="34" charset="-122"/>
                <a:cs typeface="Courier New" pitchFamily="34" charset="-120"/>
              </a:rPr>
              <a:t>, () =&gt;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createComponent : instancia el componente y su plantilla.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fixture = TestBed.createComponent(LibroCardComponent);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fixture.componentRef.setInput(</a:t>
            </a:r>
            <a:r>
              <a:rPr lang="en-US" sz="1100" dirty="0">
                <a:solidFill>
                  <a:srgbClr val="C41A16"/>
                </a:solidFill>
                <a:latin typeface="Courier New" pitchFamily="34" charset="0"/>
                <a:ea typeface="Courier New" pitchFamily="34" charset="-122"/>
                <a:cs typeface="Courier New" pitchFamily="34" charset="-120"/>
              </a:rPr>
              <a:t>'libro'</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id:1, titulo:</a:t>
            </a:r>
            <a:r>
              <a:rPr lang="en-US" sz="1100" dirty="0">
                <a:solidFill>
                  <a:srgbClr val="C41A16"/>
                </a:solidFill>
                <a:latin typeface="Courier New" pitchFamily="34" charset="0"/>
                <a:ea typeface="Courier New" pitchFamily="34" charset="-122"/>
                <a:cs typeface="Courier New" pitchFamily="34" charset="-120"/>
              </a:rPr>
              <a:t>'Ficciones'</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detectChanges : corre la deteccion de cambios manualmente.
</a:t>
            </a:r>
            <a:r>
              <a:rPr lang="en-US" sz="1100" dirty="0">
                <a:solidFill>
                  <a:srgbClr val="383A42"/>
                </a:solidFill>
                <a:latin typeface="Courier New" pitchFamily="34" charset="0"/>
                <a:ea typeface="Courier New" pitchFamily="34" charset="-122"/>
                <a:cs typeface="Courier New" pitchFamily="34" charset="-120"/>
              </a:rPr>
              <a:t>    fixture.detectChanges();</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nativeElement : nodo del DOM raiz del componente.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html = fixture.nativeElement.textContent as </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expect(html).toContain(</a:t>
            </a:r>
            <a:r>
              <a:rPr lang="en-US" sz="1100" dirty="0">
                <a:solidFill>
                  <a:srgbClr val="C41A16"/>
                </a:solidFill>
                <a:latin typeface="Courier New" pitchFamily="34" charset="0"/>
                <a:ea typeface="Courier New" pitchFamily="34" charset="-122"/>
                <a:cs typeface="Courier New" pitchFamily="34" charset="-120"/>
              </a:rPr>
              <a:t>'Ficciones'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--- 25 / 40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Dockerfile multi-stage del frontend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97280"/>
          </a:xfrm>
          <a:prstGeom prst="roundRect">
            <a:avLst>
              <a:gd name="adj" fmla="val 5000"/>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9728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5097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Multi-stage build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Estrategia de Docker en la que un Dockerfile declara varias FASES (stage). La primera compila la aplicacion en un contenedor con todas las herramientas. La segunda copia SOLO el resultado a una imagen minima que se despliega. El artefacto final pesa mucho menos que el de compilacion.</a:t>
            </a:r>
            <a:endParaRPr lang="en-US" sz="1100" dirty="0"/>
          </a:p>
        </p:txBody>
      </p:sp>
      <p:sp>
        <p:nvSpPr>
          <p:cNvPr id="9" name="Shape 7"/>
          <p:cNvSpPr/>
          <p:nvPr/>
        </p:nvSpPr>
        <p:spPr>
          <a:xfrm>
            <a:off x="548640" y="2651760"/>
            <a:ext cx="11091672" cy="3611880"/>
          </a:xfrm>
          <a:prstGeom prst="roundRect">
            <a:avLst>
              <a:gd name="adj" fmla="val 1519"/>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5176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7004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Dockerfile</a:t>
            </a:r>
            <a:endParaRPr lang="en-US" sz="1000" dirty="0"/>
          </a:p>
        </p:txBody>
      </p:sp>
      <p:sp>
        <p:nvSpPr>
          <p:cNvPr id="12" name="Text 10"/>
          <p:cNvSpPr txBox="1"/>
          <p:nvPr/>
        </p:nvSpPr>
        <p:spPr>
          <a:xfrm>
            <a:off x="640080" y="2999232"/>
            <a:ext cx="10908792" cy="317296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biblioteq/frontend/Dockerfile
# --- Fase 1: compilacion con Node.js 24 ---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node:24-alpine </a:t>
            </a:r>
            <a:r>
              <a:rPr lang="en-US" sz="1100" b="1" dirty="0">
                <a:solidFill>
                  <a:srgbClr val="0057AE"/>
                </a:solidFill>
                <a:latin typeface="Courier New" pitchFamily="34" charset="0"/>
                <a:ea typeface="Courier New" pitchFamily="34" charset="-122"/>
                <a:cs typeface="Courier New" pitchFamily="34" charset="-120"/>
              </a:rPr>
              <a:t>AS</a:t>
            </a:r>
            <a:r>
              <a:rPr lang="en-US" sz="1100" dirty="0">
                <a:solidFill>
                  <a:srgbClr val="383A42"/>
                </a:solidFill>
                <a:latin typeface="Courier New" pitchFamily="34" charset="0"/>
                <a:ea typeface="Courier New" pitchFamily="34" charset="-122"/>
                <a:cs typeface="Courier New" pitchFamily="34" charset="-120"/>
              </a:rPr>
              <a:t> build</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WORKDIR</a:t>
            </a:r>
            <a:r>
              <a:rPr lang="en-US" sz="1100" dirty="0">
                <a:solidFill>
                  <a:srgbClr val="383A42"/>
                </a:solidFill>
                <a:latin typeface="Courier New" pitchFamily="34" charset="0"/>
                <a:ea typeface="Courier New" pitchFamily="34" charset="-122"/>
                <a:cs typeface="Courier New" pitchFamily="34" charset="-120"/>
              </a:rPr>
              <a:t> /app                             # directorio de trabajo dentro del contenedor</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package*.json ./                    # copiar solo el manifiesto</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RUN</a:t>
            </a:r>
            <a:r>
              <a:rPr lang="en-US" sz="1100" dirty="0">
                <a:solidFill>
                  <a:srgbClr val="383A42"/>
                </a:solidFill>
                <a:latin typeface="Courier New" pitchFamily="34" charset="0"/>
                <a:ea typeface="Courier New" pitchFamily="34" charset="-122"/>
                <a:cs typeface="Courier New" pitchFamily="34" charset="-120"/>
              </a:rPr>
              <a:t> npm ci                               # instalacion reproducible desde el lock</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 .                                 # copiar el resto del codigo</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RUN</a:t>
            </a:r>
            <a:r>
              <a:rPr lang="en-US" sz="1100" dirty="0">
                <a:solidFill>
                  <a:srgbClr val="383A42"/>
                </a:solidFill>
                <a:latin typeface="Courier New" pitchFamily="34" charset="0"/>
                <a:ea typeface="Courier New" pitchFamily="34" charset="-122"/>
                <a:cs typeface="Courier New" pitchFamily="34" charset="-120"/>
              </a:rPr>
              <a:t> npx ng build --configuration=production   # genera dist/frontend/browser</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Fase 2: servir con nginx (imagen final delgada)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nginx:1.27-alpine </a:t>
            </a:r>
            <a:r>
              <a:rPr lang="en-US" sz="1100" b="1" dirty="0">
                <a:solidFill>
                  <a:srgbClr val="0057AE"/>
                </a:solidFill>
                <a:latin typeface="Courier New" pitchFamily="34" charset="0"/>
                <a:ea typeface="Courier New" pitchFamily="34" charset="-122"/>
                <a:cs typeface="Courier New" pitchFamily="34" charset="-120"/>
              </a:rPr>
              <a:t>AS</a:t>
            </a:r>
            <a:r>
              <a:rPr lang="en-US" sz="1100" dirty="0">
                <a:solidFill>
                  <a:srgbClr val="383A42"/>
                </a:solidFill>
                <a:latin typeface="Courier New" pitchFamily="34" charset="0"/>
                <a:ea typeface="Courier New" pitchFamily="34" charset="-122"/>
                <a:cs typeface="Courier New" pitchFamily="34" charset="-120"/>
              </a:rPr>
              <a:t> runtime</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--from=build /app/dist/frontend/browser /usr/share/nginx/html</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COPY</a:t>
            </a:r>
            <a:r>
              <a:rPr lang="en-US" sz="1100" dirty="0">
                <a:solidFill>
                  <a:srgbClr val="383A42"/>
                </a:solidFill>
                <a:latin typeface="Courier New" pitchFamily="34" charset="0"/>
                <a:ea typeface="Courier New" pitchFamily="34" charset="-122"/>
                <a:cs typeface="Courier New" pitchFamily="34" charset="-120"/>
              </a:rPr>
              <a:t> nginx.conf /etc/nginx/conf.d/default.conf</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EXPOSE</a:t>
            </a:r>
            <a:r>
              <a:rPr lang="en-US" sz="1100" dirty="0">
                <a:solidFill>
                  <a:srgbClr val="383A42"/>
                </a:solidFill>
                <a:latin typeface="Courier New" pitchFamily="34" charset="0"/>
                <a:ea typeface="Courier New" pitchFamily="34" charset="-122"/>
                <a:cs typeface="Courier New" pitchFamily="34" charset="-120"/>
              </a:rPr>
              <a:t> 80</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CMD</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"nginx"</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"-g"</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"daemon off;"</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--- 26 / 40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nginx.conf con proxy_pass a la API</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proxy_pass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Directiva de nginx que reenvia una peticion HTTP a otro servidor. Sirve para que el frontend (puerto 80) y la API (puerto 8080) parezcan servidos desde el mismo origen y eviten CORS en produccion.</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nginx.conf</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biblioteq/frontend/nginx.conf
</a:t>
            </a:r>
            <a:r>
              <a:rPr lang="en-US" sz="1100" b="1" dirty="0">
                <a:solidFill>
                  <a:srgbClr val="0057AE"/>
                </a:solidFill>
                <a:latin typeface="Courier New" pitchFamily="34" charset="0"/>
                <a:ea typeface="Courier New" pitchFamily="34" charset="-122"/>
                <a:cs typeface="Courier New" pitchFamily="34" charset="-120"/>
              </a:rPr>
              <a:t>server</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listen</a:t>
            </a:r>
            <a:r>
              <a:rPr lang="en-US" sz="1100" dirty="0">
                <a:solidFill>
                  <a:srgbClr val="383A42"/>
                </a:solidFill>
                <a:latin typeface="Courier New" pitchFamily="34" charset="0"/>
                <a:ea typeface="Courier New" pitchFamily="34" charset="-122"/>
                <a:cs typeface="Courier New" pitchFamily="34" charset="-120"/>
              </a:rPr>
              <a:t> 80;                             # escucha HTTP</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server_name</a:t>
            </a:r>
            <a:r>
              <a:rPr lang="en-US" sz="1100" dirty="0">
                <a:solidFill>
                  <a:srgbClr val="383A42"/>
                </a:solidFill>
                <a:latin typeface="Courier New" pitchFamily="34" charset="0"/>
                <a:ea typeface="Courier New" pitchFamily="34" charset="-122"/>
                <a:cs typeface="Courier New" pitchFamily="34" charset="-120"/>
              </a:rPr>
              <a:t> biblioteq.uteq.edu.ec;     # nombre publico</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Angular SPA : sirve los estaticos del build.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root</a:t>
            </a:r>
            <a:r>
              <a:rPr lang="en-US" sz="1100" dirty="0">
                <a:solidFill>
                  <a:srgbClr val="383A42"/>
                </a:solidFill>
                <a:latin typeface="Courier New" pitchFamily="34" charset="0"/>
                <a:ea typeface="Courier New" pitchFamily="34" charset="-122"/>
                <a:cs typeface="Courier New" pitchFamily="34" charset="-120"/>
              </a:rPr>
              <a:t>  /usr/share/nginx/html;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.html;</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try_files : para rutas de Angular Router (fallback a index.html).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location</a:t>
            </a: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try_files</a:t>
            </a:r>
            <a:r>
              <a:rPr lang="en-US" sz="1100" dirty="0">
                <a:solidFill>
                  <a:srgbClr val="383A42"/>
                </a:solidFill>
                <a:latin typeface="Courier New" pitchFamily="34" charset="0"/>
                <a:ea typeface="Courier New" pitchFamily="34" charset="-122"/>
                <a:cs typeface="Courier New" pitchFamily="34" charset="-120"/>
              </a:rPr>
              <a:t> $uri $uri/ /</a:t>
            </a:r>
            <a:r>
              <a:rPr lang="en-US" sz="1100" b="1" dirty="0">
                <a:solidFill>
                  <a:srgbClr val="0057AE"/>
                </a:solidFill>
                <a:latin typeface="Courier New" pitchFamily="34" charset="0"/>
                <a:ea typeface="Courier New" pitchFamily="34" charset="-122"/>
                <a:cs typeface="Courier New" pitchFamily="34" charset="-120"/>
              </a:rPr>
              <a:t>index</a:t>
            </a:r>
            <a:r>
              <a:rPr lang="en-US" sz="1100" dirty="0">
                <a:solidFill>
                  <a:srgbClr val="383A42"/>
                </a:solidFill>
                <a:latin typeface="Courier New" pitchFamily="34" charset="0"/>
                <a:ea typeface="Courier New" pitchFamily="34" charset="-122"/>
                <a:cs typeface="Courier New" pitchFamily="34" charset="-120"/>
              </a:rPr>
              <a:t>.html;</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Reverse proxy : /api/* se reenvia al backend Spring Boot.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location</a:t>
            </a:r>
            <a:r>
              <a:rPr lang="en-US" sz="1100" dirty="0">
                <a:solidFill>
                  <a:srgbClr val="383A42"/>
                </a:solidFill>
                <a:latin typeface="Courier New" pitchFamily="34" charset="0"/>
                <a:ea typeface="Courier New" pitchFamily="34" charset="-122"/>
                <a:cs typeface="Courier New" pitchFamily="34" charset="-120"/>
              </a:rPr>
              <a:t> /api/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proxy_pass</a:t>
            </a:r>
            <a:r>
              <a:rPr lang="en-US" sz="1100" dirty="0">
                <a:solidFill>
                  <a:srgbClr val="383A42"/>
                </a:solidFill>
                <a:latin typeface="Courier New" pitchFamily="34" charset="0"/>
                <a:ea typeface="Courier New" pitchFamily="34" charset="-122"/>
                <a:cs typeface="Courier New" pitchFamily="34" charset="-120"/>
              </a:rPr>
              <a:t> http://backend:8080/api/;</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proxy_set_header Host $host;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proxy_set_header X-Real-IP $remote_addr;</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--- 27 / 40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docker-compose.yml del monorepo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4892040"/>
          </a:xfrm>
          <a:prstGeom prst="roundRect">
            <a:avLst>
              <a:gd name="adj" fmla="val 1121"/>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docker-compose.yml</a:t>
            </a:r>
            <a:endParaRPr lang="en-US" sz="1000" dirty="0"/>
          </a:p>
        </p:txBody>
      </p:sp>
      <p:sp>
        <p:nvSpPr>
          <p:cNvPr id="9" name="Text 7"/>
          <p:cNvSpPr txBox="1"/>
          <p:nvPr/>
        </p:nvSpPr>
        <p:spPr>
          <a:xfrm>
            <a:off x="640080" y="1764792"/>
            <a:ext cx="10908792" cy="445312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biblioteq/docker-compose.yml
# services : declara los contenedores a levantar juntos.
# Cada servicio expone puertos y depende de otros por nombre.
</a:t>
            </a:r>
            <a:r>
              <a:rPr lang="en-US" sz="1100" b="1" dirty="0">
                <a:solidFill>
                  <a:srgbClr val="0057AE"/>
                </a:solidFill>
                <a:latin typeface="Courier New" pitchFamily="34" charset="0"/>
                <a:ea typeface="Courier New" pitchFamily="34" charset="-122"/>
                <a:cs typeface="Courier New" pitchFamily="34" charset="-120"/>
              </a:rPr>
              <a:t>services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db:                                # servicio de base de datos</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image</a:t>
            </a:r>
            <a:r>
              <a:rPr lang="en-US" sz="1100" dirty="0">
                <a:solidFill>
                  <a:srgbClr val="383A42"/>
                </a:solidFill>
                <a:latin typeface="Courier New" pitchFamily="34" charset="0"/>
                <a:ea typeface="Courier New" pitchFamily="34" charset="-122"/>
                <a:cs typeface="Courier New" pitchFamily="34" charset="-120"/>
              </a:rPr>
              <a:t>: postgres:16-alpine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environment</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POSTGRES_DB: biblioteca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POSTGRES_USER: biblio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POSTGRES_PASSWORD: cambiar123</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'5432:5432'</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backend:                           # servicio Spring Boot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build</a:t>
            </a:r>
            <a:r>
              <a:rPr lang="en-US" sz="1100" dirty="0">
                <a:solidFill>
                  <a:srgbClr val="383A42"/>
                </a:solidFill>
                <a:latin typeface="Courier New" pitchFamily="34" charset="0"/>
                <a:ea typeface="Courier New" pitchFamily="34" charset="-122"/>
                <a:cs typeface="Courier New" pitchFamily="34" charset="-120"/>
              </a:rPr>
              <a:t>: ./backend-java</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'8080:8080'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depends_on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db                           # arranca db primero</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frontend:                          # servicio Angular servido por nginx</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build</a:t>
            </a:r>
            <a:r>
              <a:rPr lang="en-US" sz="1100" dirty="0">
                <a:solidFill>
                  <a:srgbClr val="383A42"/>
                </a:solidFill>
                <a:latin typeface="Courier New" pitchFamily="34" charset="0"/>
                <a:ea typeface="Courier New" pitchFamily="34" charset="-122"/>
                <a:cs typeface="Courier New" pitchFamily="34" charset="-120"/>
              </a:rPr>
              <a:t>: ./frontend</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ports</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dirty="0">
                <a:solidFill>
                  <a:srgbClr val="C41A16"/>
                </a:solidFill>
                <a:latin typeface="Courier New" pitchFamily="34" charset="0"/>
                <a:ea typeface="Courier New" pitchFamily="34" charset="-122"/>
                <a:cs typeface="Courier New" pitchFamily="34" charset="-120"/>
              </a:rPr>
              <a:t>'80:80'</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depends_on</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backend</a:t>
            </a:r>
            <a:r>
              <a:rPr lang="en-US" sz="1100" dirty="0">
                <a:solidFill>
                  <a:srgbClr val="000000"/>
                </a:solidFill>
              </a:rPr>
              <a:t>
</a:t>
            </a:r>
            <a:endParaRPr lang="en-US" sz="1100" dirty="0"/>
          </a:p>
        </p:txBody>
      </p:sp>
      <p:sp>
        <p:nvSpPr>
          <p:cNvPr id="10" name="Shape 8"/>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2" name="Text 10"/>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--- 28 / 40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Build de produccion optimizado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2011680"/>
          </a:xfrm>
          <a:prstGeom prst="roundRect">
            <a:avLst>
              <a:gd name="adj" fmla="val 2727"/>
            </a:avLst>
          </a:prstGeom>
          <a:solidFill>
            <a:srgbClr val="F5F6F5"/>
          </a:solidFill>
          <a:ln w="9525">
            <a:solidFill>
              <a:srgbClr val="006633"/>
            </a:solidFill>
            <a:prstDash val="solid"/>
          </a:ln>
        </p:spPr>
        <p:txBody>
          <a:bodyPr/>
          <a:lstStyle/>
          <a:p>
            <a:endParaRPr lang="es-US"/>
          </a:p>
        </p:txBody>
      </p:sp>
      <p:sp>
        <p:nvSpPr>
          <p:cNvPr id="7" name="Shape 5"/>
          <p:cNvSpPr/>
          <p:nvPr/>
        </p:nvSpPr>
        <p:spPr>
          <a:xfrm>
            <a:off x="548640" y="1417320"/>
            <a:ext cx="1920240" cy="27432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594360" y="1435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terminal</a:t>
            </a:r>
            <a:endParaRPr lang="en-US" sz="1000" dirty="0"/>
          </a:p>
        </p:txBody>
      </p:sp>
      <p:sp>
        <p:nvSpPr>
          <p:cNvPr id="9" name="Text 7"/>
          <p:cNvSpPr txBox="1"/>
          <p:nvPr/>
        </p:nvSpPr>
        <p:spPr>
          <a:xfrm>
            <a:off x="640080" y="1764792"/>
            <a:ext cx="10908792" cy="1572768"/>
          </a:xfrm>
          <a:prstGeom prst="rect">
            <a:avLst/>
          </a:prstGeom>
          <a:noFill/>
          <a:ln/>
        </p:spPr>
        <p:txBody>
          <a:bodyPr wrap="square" rtlCol="0" anchor="t"/>
          <a:lstStyle/>
          <a:p>
            <a:pPr marL="0" indent="0">
              <a:buNone/>
            </a:pPr>
            <a:r>
              <a:rPr lang="en-US" sz="1200" i="1" dirty="0">
                <a:solidFill>
                  <a:srgbClr val="717171"/>
                </a:solidFill>
                <a:latin typeface="Courier New" pitchFamily="34" charset="0"/>
                <a:ea typeface="Courier New" pitchFamily="34" charset="-122"/>
                <a:cs typeface="Courier New" pitchFamily="34" charset="-120"/>
              </a:rPr>
              <a:t># En la carpeta frontend/
</a:t>
            </a:r>
            <a:r>
              <a:rPr lang="en-US" sz="1200" b="1" dirty="0">
                <a:solidFill>
                  <a:srgbClr val="0057AE"/>
                </a:solidFill>
                <a:latin typeface="Courier New" pitchFamily="34" charset="0"/>
                <a:ea typeface="Courier New" pitchFamily="34" charset="-122"/>
                <a:cs typeface="Courier New" pitchFamily="34" charset="-120"/>
              </a:rPr>
              <a:t>ng</a:t>
            </a:r>
            <a:r>
              <a:rPr lang="en-US" sz="1200" dirty="0">
                <a:solidFill>
                  <a:srgbClr val="383A42"/>
                </a:solidFill>
                <a:latin typeface="Courier New" pitchFamily="34" charset="0"/>
                <a:ea typeface="Courier New" pitchFamily="34" charset="-122"/>
                <a:cs typeface="Courier New" pitchFamily="34" charset="-120"/>
              </a:rPr>
              <a:t> </a:t>
            </a:r>
            <a:r>
              <a:rPr lang="en-US" sz="1200" b="1" dirty="0">
                <a:solidFill>
                  <a:srgbClr val="0057AE"/>
                </a:solidFill>
                <a:latin typeface="Courier New" pitchFamily="34" charset="0"/>
                <a:ea typeface="Courier New" pitchFamily="34" charset="-122"/>
                <a:cs typeface="Courier New" pitchFamily="34" charset="-120"/>
              </a:rPr>
              <a:t>build</a:t>
            </a:r>
            <a:r>
              <a:rPr lang="en-US" sz="1200" dirty="0">
                <a:solidFill>
                  <a:srgbClr val="383A42"/>
                </a:solidFill>
                <a:latin typeface="Courier New" pitchFamily="34" charset="0"/>
                <a:ea typeface="Courier New" pitchFamily="34" charset="-122"/>
                <a:cs typeface="Courier New" pitchFamily="34" charset="-120"/>
              </a:rPr>
              <a:t> --configuration=production</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i="1" dirty="0">
                <a:solidFill>
                  <a:srgbClr val="717171"/>
                </a:solidFill>
                <a:latin typeface="Courier New" pitchFamily="34" charset="0"/>
                <a:ea typeface="Courier New" pitchFamily="34" charset="-122"/>
                <a:cs typeface="Courier New" pitchFamily="34" charset="-120"/>
              </a:rPr>
              <a:t># Resultado en dist/frontend/browser (~200-500 kB)
# El bundle esta minificado, con hashes en los nombres para invalidar cache.
</a:t>
            </a:r>
            <a:endParaRPr lang="en-US" sz="1200" dirty="0"/>
          </a:p>
        </p:txBody>
      </p:sp>
      <p:sp>
        <p:nvSpPr>
          <p:cNvPr id="10" name="Shape 8"/>
          <p:cNvSpPr/>
          <p:nvPr/>
        </p:nvSpPr>
        <p:spPr>
          <a:xfrm>
            <a:off x="548640" y="3657600"/>
            <a:ext cx="5532120" cy="2606040"/>
          </a:xfrm>
          <a:prstGeom prst="roundRect">
            <a:avLst>
              <a:gd name="adj" fmla="val 3509"/>
            </a:avLst>
          </a:prstGeom>
          <a:solidFill>
            <a:srgbClr val="FFFFFF"/>
          </a:solidFill>
          <a:ln w="19050">
            <a:solidFill>
              <a:srgbClr val="006633"/>
            </a:solidFill>
            <a:prstDash val="solid"/>
          </a:ln>
        </p:spPr>
        <p:txBody>
          <a:bodyPr/>
          <a:lstStyle/>
          <a:p>
            <a:endParaRPr lang="es-US"/>
          </a:p>
        </p:txBody>
      </p:sp>
      <p:sp>
        <p:nvSpPr>
          <p:cNvPr id="11" name="Shape 9"/>
          <p:cNvSpPr/>
          <p:nvPr/>
        </p:nvSpPr>
        <p:spPr>
          <a:xfrm>
            <a:off x="548640" y="3657600"/>
            <a:ext cx="5532120" cy="41148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640080" y="3675888"/>
            <a:ext cx="5349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Optimizaciones activadas</a:t>
            </a:r>
            <a:endParaRPr lang="en-US" sz="1300" dirty="0"/>
          </a:p>
        </p:txBody>
      </p:sp>
      <p:sp>
        <p:nvSpPr>
          <p:cNvPr id="13" name="Text 11"/>
          <p:cNvSpPr/>
          <p:nvPr/>
        </p:nvSpPr>
        <p:spPr>
          <a:xfrm>
            <a:off x="685800" y="4160520"/>
            <a:ext cx="5257800" cy="20116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Compilacion AOT (Ahead-of-Time) que precompila las plantillas. Tree-shaking que elimina codigo no importado. Minificacion de JS y CSS. Hashing de nombres para invalidacion de cache HTTP. Reduccion via Brotli o gzip en el servidor.</a:t>
            </a:r>
            <a:endParaRPr lang="en-US" sz="1200" dirty="0"/>
          </a:p>
        </p:txBody>
      </p:sp>
      <p:sp>
        <p:nvSpPr>
          <p:cNvPr id="14" name="Shape 12"/>
          <p:cNvSpPr/>
          <p:nvPr/>
        </p:nvSpPr>
        <p:spPr>
          <a:xfrm>
            <a:off x="6172200" y="3657600"/>
            <a:ext cx="5468112" cy="2606040"/>
          </a:xfrm>
          <a:prstGeom prst="roundRect">
            <a:avLst>
              <a:gd name="adj" fmla="val 3509"/>
            </a:avLst>
          </a:prstGeom>
          <a:solidFill>
            <a:srgbClr val="FFFFFF"/>
          </a:solidFill>
          <a:ln w="19050">
            <a:solidFill>
              <a:srgbClr val="B8860B"/>
            </a:solidFill>
            <a:prstDash val="solid"/>
          </a:ln>
        </p:spPr>
        <p:txBody>
          <a:bodyPr/>
          <a:lstStyle/>
          <a:p>
            <a:endParaRPr lang="es-US"/>
          </a:p>
        </p:txBody>
      </p:sp>
      <p:sp>
        <p:nvSpPr>
          <p:cNvPr id="15" name="Shape 13"/>
          <p:cNvSpPr/>
          <p:nvPr/>
        </p:nvSpPr>
        <p:spPr>
          <a:xfrm>
            <a:off x="6172200" y="3657600"/>
            <a:ext cx="5468112" cy="411480"/>
          </a:xfrm>
          <a:prstGeom prst="rect">
            <a:avLst/>
          </a:prstGeom>
          <a:solidFill>
            <a:srgbClr val="B8860B"/>
          </a:solidFill>
          <a:ln w="12700">
            <a:solidFill>
              <a:srgbClr val="B8860B"/>
            </a:solidFill>
            <a:prstDash val="solid"/>
          </a:ln>
        </p:spPr>
        <p:txBody>
          <a:bodyPr/>
          <a:lstStyle/>
          <a:p>
            <a:endParaRPr lang="es-US"/>
          </a:p>
        </p:txBody>
      </p:sp>
      <p:sp>
        <p:nvSpPr>
          <p:cNvPr id="16" name="Text 14"/>
          <p:cNvSpPr/>
          <p:nvPr/>
        </p:nvSpPr>
        <p:spPr>
          <a:xfrm>
            <a:off x="6263640" y="3675888"/>
            <a:ext cx="528523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Budgets configurables</a:t>
            </a:r>
            <a:endParaRPr lang="en-US" sz="1300" dirty="0"/>
          </a:p>
        </p:txBody>
      </p:sp>
      <p:sp>
        <p:nvSpPr>
          <p:cNvPr id="17" name="Text 15"/>
          <p:cNvSpPr/>
          <p:nvPr/>
        </p:nvSpPr>
        <p:spPr>
          <a:xfrm>
            <a:off x="6309360" y="4160520"/>
            <a:ext cx="5193792" cy="2011680"/>
          </a:xfrm>
          <a:prstGeom prst="rect">
            <a:avLst/>
          </a:prstGeom>
          <a:noFill/>
          <a:ln/>
        </p:spPr>
        <p:txBody>
          <a:bodyPr wrap="square" rtlCol="0" anchor="t"/>
          <a:lstStyle/>
          <a:p>
            <a:pPr marL="0" indent="0">
              <a:spcAft>
                <a:spcPts val="400"/>
              </a:spcAft>
              <a:buNone/>
            </a:pPr>
            <a:r>
              <a:rPr lang="en-US" sz="1200" dirty="0">
                <a:solidFill>
                  <a:srgbClr val="383A42"/>
                </a:solidFill>
                <a:latin typeface="Calibri" pitchFamily="34" charset="0"/>
                <a:ea typeface="Calibri" pitchFamily="34" charset="-122"/>
                <a:cs typeface="Calibri" pitchFamily="34" charset="-120"/>
              </a:rPr>
              <a:t>En angular.json se declaran budgets: limites de tamano por bundle inicial (default 500 kB) y por bundle de componente (4 kB). Superarlos genera warning; superar los limites 'error' hace fallar el build. Fuerza a mantener la app ligera.</a:t>
            </a:r>
            <a:endParaRPr lang="en-US" sz="1200" dirty="0"/>
          </a:p>
        </p:txBody>
      </p:sp>
      <p:sp>
        <p:nvSpPr>
          <p:cNvPr id="18" name="Shape 16"/>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9" name="Text 17"/>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0" name="Text 18"/>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--- 29 / 40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6. DESPLIEGUE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Checklist previo a produccion</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environment.prod.ts apunta a la URL publica de la API y NO al localhost.</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fileReplacements declarado en angular.json para sustituir environment por environment.prod al construir con --configuration=production.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Interceptor JWT registrado y AuthService que refresca el token con antelacion al vencimiento.</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CORS resuelto en el backend con la URL publica del frontend (o servidos desde el mismo origen mediante proxy_pass).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Pruebas unitarias verdes con 'ng test --watch=false' antes de fusionar a main.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Dockerfile multi-stage compilado y verificado localmente con docker build y docker run.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docker-compose.yml probado con docker compose up y verificado con curl http://localhost/api/libros.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Etiqueta Git firmada segun SemVer (por ejemplo, v1.0.0) creada en el commit de release.</a:t>
            </a:r>
            <a:endParaRPr lang="en-US" sz="14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--- 30 / 40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 PIEZAS COMPLEMENTARIAS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Directiva de atributo personalizada</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05840"/>
          </a:xfrm>
          <a:prstGeom prst="roundRect">
            <a:avLst>
              <a:gd name="adj" fmla="val 5455"/>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0584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85953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Directiva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Clase decorada con @Directive que altera el aspecto o comportamiento de un elemento HTML. Se aplica como atributo del elemento y no crea DOM propio, a diferencia del componente.</a:t>
            </a:r>
            <a:endParaRPr lang="en-US" sz="1100" dirty="0"/>
          </a:p>
        </p:txBody>
      </p:sp>
      <p:sp>
        <p:nvSpPr>
          <p:cNvPr id="9" name="Shape 7"/>
          <p:cNvSpPr/>
          <p:nvPr/>
        </p:nvSpPr>
        <p:spPr>
          <a:xfrm>
            <a:off x="548640" y="2560320"/>
            <a:ext cx="11091672" cy="3703320"/>
          </a:xfrm>
          <a:prstGeom prst="roundRect">
            <a:avLst>
              <a:gd name="adj" fmla="val 1481"/>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56032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5786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directiva</a:t>
            </a:r>
            <a:endParaRPr lang="en-US" sz="1000" dirty="0"/>
          </a:p>
        </p:txBody>
      </p:sp>
      <p:sp>
        <p:nvSpPr>
          <p:cNvPr id="12" name="Text 10"/>
          <p:cNvSpPr txBox="1"/>
          <p:nvPr/>
        </p:nvSpPr>
        <p:spPr>
          <a:xfrm>
            <a:off x="640080" y="2907792"/>
            <a:ext cx="10908792" cy="326440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biblioteq-front/src/app/shared/marcar-invalido.directive.ts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Directive, ElementRef,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effect</a:t>
            </a:r>
            <a:r>
              <a:rPr lang="en-US" sz="1100" dirty="0">
                <a:solidFill>
                  <a:srgbClr val="383A42"/>
                </a:solidFill>
                <a:latin typeface="Courier New" pitchFamily="34" charset="0"/>
                <a:ea typeface="Courier New" pitchFamily="34" charset="-122"/>
                <a:cs typeface="Courier New" pitchFamily="34" charset="-120"/>
              </a:rPr>
              <a:t>, input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@Directive({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selector: </a:t>
            </a:r>
            <a:r>
              <a:rPr lang="en-US" sz="1100" dirty="0">
                <a:solidFill>
                  <a:srgbClr val="C41A16"/>
                </a:solidFill>
                <a:latin typeface="Courier New" pitchFamily="34" charset="0"/>
                <a:ea typeface="Courier New" pitchFamily="34" charset="-122"/>
                <a:cs typeface="Courier New" pitchFamily="34" charset="-120"/>
              </a:rPr>
              <a:t>'[appMarcarInvalido]'</a:t>
            </a:r>
            <a:r>
              <a:rPr lang="en-US" sz="1100" dirty="0">
                <a:solidFill>
                  <a:srgbClr val="383A42"/>
                </a:solidFill>
                <a:latin typeface="Courier New" pitchFamily="34" charset="0"/>
                <a:ea typeface="Courier New" pitchFamily="34" charset="-122"/>
                <a:cs typeface="Courier New" pitchFamily="34" charset="-120"/>
              </a:rPr>
              <a:t>,       // usar como &lt;input appMarcarInvalido&gt;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MarcarInvalidoDirective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input() : declara un input reactivo (signal).
</a:t>
            </a:r>
            <a:r>
              <a:rPr lang="en-US" sz="1100" dirty="0">
                <a:solidFill>
                  <a:srgbClr val="383A42"/>
                </a:solidFill>
                <a:latin typeface="Courier New" pitchFamily="34" charset="0"/>
                <a:ea typeface="Courier New" pitchFamily="34" charset="-122"/>
                <a:cs typeface="Courier New" pitchFamily="34" charset="-120"/>
              </a:rPr>
              <a:t>  invalido = input.required&lt;</a:t>
            </a:r>
            <a:r>
              <a:rPr lang="en-US" sz="1100" b="1" dirty="0">
                <a:solidFill>
                  <a:srgbClr val="0057AE"/>
                </a:solidFill>
                <a:latin typeface="Courier New" pitchFamily="34" charset="0"/>
                <a:ea typeface="Courier New" pitchFamily="34" charset="-122"/>
                <a:cs typeface="Courier New" pitchFamily="34" charset="-120"/>
              </a:rPr>
              <a:t>boolean</a:t>
            </a:r>
            <a:r>
              <a:rPr lang="en-US" sz="1100" dirty="0">
                <a:solidFill>
                  <a:srgbClr val="383A42"/>
                </a:solidFill>
                <a:latin typeface="Courier New" pitchFamily="34" charset="0"/>
                <a:ea typeface="Courier New" pitchFamily="34" charset="-122"/>
                <a:cs typeface="Courier New" pitchFamily="34" charset="-120"/>
              </a:rPr>
              <a: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ElementRef : referencia al nodo HTML donde se aplico la directiva.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private</a:t>
            </a:r>
            <a:r>
              <a:rPr lang="en-US" sz="1100" dirty="0">
                <a:solidFill>
                  <a:srgbClr val="383A42"/>
                </a:solidFill>
                <a:latin typeface="Courier New" pitchFamily="34" charset="0"/>
                <a:ea typeface="Courier New" pitchFamily="34" charset="-122"/>
                <a:cs typeface="Courier New" pitchFamily="34" charset="-120"/>
              </a:rPr>
              <a:t> el = </a:t>
            </a:r>
            <a:r>
              <a:rPr lang="en-US" sz="1100" b="1" dirty="0">
                <a:solidFill>
                  <a:srgbClr val="0057AE"/>
                </a:solidFill>
                <a:latin typeface="Courier New" pitchFamily="34" charset="0"/>
                <a:ea typeface="Courier New" pitchFamily="34" charset="-122"/>
                <a:cs typeface="Courier New" pitchFamily="34" charset="-120"/>
              </a:rPr>
              <a:t>inject</a:t>
            </a:r>
            <a:r>
              <a:rPr lang="en-US" sz="1100" dirty="0">
                <a:solidFill>
                  <a:srgbClr val="383A42"/>
                </a:solidFill>
                <a:latin typeface="Courier New" pitchFamily="34" charset="0"/>
                <a:ea typeface="Courier New" pitchFamily="34" charset="-122"/>
                <a:cs typeface="Courier New" pitchFamily="34" charset="-120"/>
              </a:rPr>
              <a:t>(ElementRef&lt;HTMLElement&gt;);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constructor()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effect() : cada vez que invalido() cambie, actualizamos el estilo.
</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effect</a:t>
            </a:r>
            <a:r>
              <a:rPr lang="en-US" sz="1100" dirty="0">
                <a:solidFill>
                  <a:srgbClr val="383A42"/>
                </a:solidFill>
                <a:latin typeface="Courier New" pitchFamily="34" charset="0"/>
                <a:ea typeface="Courier New" pitchFamily="34" charset="-122"/>
                <a:cs typeface="Courier New" pitchFamily="34" charset="-120"/>
              </a:rPr>
              <a:t>(() =&gt;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cls =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.el.nativeElement.classList;</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cls.toggle(</a:t>
            </a:r>
            <a:r>
              <a:rPr lang="en-US" sz="1100" dirty="0">
                <a:solidFill>
                  <a:srgbClr val="C41A16"/>
                </a:solidFill>
                <a:latin typeface="Courier New" pitchFamily="34" charset="0"/>
                <a:ea typeface="Courier New" pitchFamily="34" charset="-122"/>
                <a:cs typeface="Courier New" pitchFamily="34" charset="-120"/>
              </a:rPr>
              <a:t>'borde-rojo'</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this</a:t>
            </a:r>
            <a:r>
              <a:rPr lang="en-US" sz="1100" dirty="0">
                <a:solidFill>
                  <a:srgbClr val="383A42"/>
                </a:solidFill>
                <a:latin typeface="Courier New" pitchFamily="34" charset="0"/>
                <a:ea typeface="Courier New" pitchFamily="34" charset="-122"/>
                <a:cs typeface="Courier New" pitchFamily="34" charset="-120"/>
              </a:rPr>
              <a:t>.invalido());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--- 31 / 40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 PIEZAS COMPLEMENTARIAS</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Pipe personalizado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Shape 4"/>
          <p:cNvSpPr/>
          <p:nvPr/>
        </p:nvSpPr>
        <p:spPr>
          <a:xfrm>
            <a:off x="548640" y="1417320"/>
            <a:ext cx="11091672" cy="1051560"/>
          </a:xfrm>
          <a:prstGeom prst="roundRect">
            <a:avLst>
              <a:gd name="adj" fmla="val 5217"/>
            </a:avLst>
          </a:prstGeom>
          <a:solidFill>
            <a:srgbClr val="ECEEF7"/>
          </a:solidFill>
          <a:ln w="12700">
            <a:solidFill>
              <a:srgbClr val="3E4A94"/>
            </a:solidFill>
            <a:prstDash val="solid"/>
          </a:ln>
        </p:spPr>
        <p:txBody>
          <a:bodyPr/>
          <a:lstStyle/>
          <a:p>
            <a:endParaRPr lang="es-US"/>
          </a:p>
        </p:txBody>
      </p:sp>
      <p:sp>
        <p:nvSpPr>
          <p:cNvPr id="7" name="Shape 5"/>
          <p:cNvSpPr/>
          <p:nvPr/>
        </p:nvSpPr>
        <p:spPr>
          <a:xfrm>
            <a:off x="548640" y="1417320"/>
            <a:ext cx="91440" cy="1051560"/>
          </a:xfrm>
          <a:prstGeom prst="rect">
            <a:avLst/>
          </a:prstGeom>
          <a:solidFill>
            <a:srgbClr val="3E4A94"/>
          </a:solidFill>
          <a:ln w="12700">
            <a:solidFill>
              <a:srgbClr val="3E4A94"/>
            </a:solidFill>
            <a:prstDash val="solid"/>
          </a:ln>
        </p:spPr>
        <p:txBody>
          <a:bodyPr/>
          <a:lstStyle/>
          <a:p>
            <a:endParaRPr lang="es-US"/>
          </a:p>
        </p:txBody>
      </p:sp>
      <p:sp>
        <p:nvSpPr>
          <p:cNvPr id="8" name="Text 6"/>
          <p:cNvSpPr/>
          <p:nvPr/>
        </p:nvSpPr>
        <p:spPr>
          <a:xfrm>
            <a:off x="731520" y="1490472"/>
            <a:ext cx="10817352" cy="905256"/>
          </a:xfrm>
          <a:prstGeom prst="rect">
            <a:avLst/>
          </a:prstGeom>
          <a:noFill/>
          <a:ln/>
        </p:spPr>
        <p:txBody>
          <a:bodyPr wrap="square" rtlCol="0" anchor="t"/>
          <a:lstStyle/>
          <a:p>
            <a:pPr marL="0" indent="0">
              <a:buNone/>
            </a:pPr>
            <a:r>
              <a:rPr lang="en-US" sz="1100" b="1" dirty="0">
                <a:solidFill>
                  <a:srgbClr val="3E4A94"/>
                </a:solidFill>
                <a:latin typeface="Calibri" pitchFamily="34" charset="0"/>
                <a:ea typeface="Calibri" pitchFamily="34" charset="-122"/>
                <a:cs typeface="Calibri" pitchFamily="34" charset="-120"/>
              </a:rPr>
              <a:t>Termino:  </a:t>
            </a:r>
            <a:r>
              <a:rPr lang="en-US" sz="1200" b="1" dirty="0">
                <a:solidFill>
                  <a:srgbClr val="3E4A94"/>
                </a:solidFill>
                <a:latin typeface="Calibri" pitchFamily="34" charset="0"/>
                <a:ea typeface="Calibri" pitchFamily="34" charset="-122"/>
                <a:cs typeface="Calibri" pitchFamily="34" charset="-120"/>
              </a:rPr>
              <a:t>Pipe
</a:t>
            </a:r>
            <a:endParaRPr lang="en-US" sz="1100" dirty="0"/>
          </a:p>
          <a:p>
            <a:pPr marL="0" indent="0">
              <a:buNone/>
            </a:pPr>
            <a:r>
              <a:rPr lang="en-US" sz="1200" dirty="0">
                <a:solidFill>
                  <a:srgbClr val="383A42"/>
                </a:solidFill>
                <a:latin typeface="Calibri" pitchFamily="34" charset="0"/>
                <a:ea typeface="Calibri" pitchFamily="34" charset="-122"/>
                <a:cs typeface="Calibri" pitchFamily="34" charset="-120"/>
              </a:rPr>
              <a:t>Funcion que transforma un valor para mostrarlo en la plantilla. Se aplica con el operador |. Ejemplo del framework: {{ fecha | date:'shortDate' }}. Un pipe personalizado permite encapsular una transformacion propia del dominio.</a:t>
            </a:r>
            <a:endParaRPr lang="en-US" sz="1100" dirty="0"/>
          </a:p>
        </p:txBody>
      </p:sp>
      <p:sp>
        <p:nvSpPr>
          <p:cNvPr id="9" name="Shape 7"/>
          <p:cNvSpPr/>
          <p:nvPr/>
        </p:nvSpPr>
        <p:spPr>
          <a:xfrm>
            <a:off x="548640" y="2606040"/>
            <a:ext cx="11091672" cy="3657600"/>
          </a:xfrm>
          <a:prstGeom prst="roundRect">
            <a:avLst>
              <a:gd name="adj" fmla="val 1500"/>
            </a:avLst>
          </a:prstGeom>
          <a:solidFill>
            <a:srgbClr val="F5F6F5"/>
          </a:solidFill>
          <a:ln w="9525">
            <a:solidFill>
              <a:srgbClr val="006633"/>
            </a:solidFill>
            <a:prstDash val="solid"/>
          </a:ln>
        </p:spPr>
        <p:txBody>
          <a:bodyPr/>
          <a:lstStyle/>
          <a:p>
            <a:endParaRPr lang="es-US"/>
          </a:p>
        </p:txBody>
      </p:sp>
      <p:sp>
        <p:nvSpPr>
          <p:cNvPr id="10" name="Shape 8"/>
          <p:cNvSpPr/>
          <p:nvPr/>
        </p:nvSpPr>
        <p:spPr>
          <a:xfrm>
            <a:off x="548640" y="2606040"/>
            <a:ext cx="1920240" cy="274320"/>
          </a:xfrm>
          <a:prstGeom prst="rect">
            <a:avLst/>
          </a:prstGeom>
          <a:solidFill>
            <a:srgbClr val="006633"/>
          </a:solidFill>
          <a:ln w="12700">
            <a:solidFill>
              <a:srgbClr val="006633"/>
            </a:solidFill>
            <a:prstDash val="solid"/>
          </a:ln>
        </p:spPr>
        <p:txBody>
          <a:bodyPr/>
          <a:lstStyle/>
          <a:p>
            <a:endParaRPr lang="es-US"/>
          </a:p>
        </p:txBody>
      </p:sp>
      <p:sp>
        <p:nvSpPr>
          <p:cNvPr id="11" name="Text 9"/>
          <p:cNvSpPr/>
          <p:nvPr/>
        </p:nvSpPr>
        <p:spPr>
          <a:xfrm>
            <a:off x="594360" y="262432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pipe personalizado</a:t>
            </a:r>
            <a:endParaRPr lang="en-US" sz="1000" dirty="0"/>
          </a:p>
        </p:txBody>
      </p:sp>
      <p:sp>
        <p:nvSpPr>
          <p:cNvPr id="12" name="Text 10"/>
          <p:cNvSpPr txBox="1"/>
          <p:nvPr/>
        </p:nvSpPr>
        <p:spPr>
          <a:xfrm>
            <a:off x="640080" y="2953512"/>
            <a:ext cx="10908792" cy="3218688"/>
          </a:xfrm>
          <a:prstGeom prst="rect">
            <a:avLst/>
          </a:prstGeom>
          <a:noFill/>
          <a:ln/>
        </p:spPr>
        <p:txBody>
          <a:bodyPr wrap="square" rtlCol="0" anchor="t"/>
          <a:lstStyle/>
          <a:p>
            <a:pPr marL="0" indent="0">
              <a:buNone/>
            </a:pPr>
            <a:r>
              <a:rPr lang="en-US" sz="1100" i="1" dirty="0">
                <a:solidFill>
                  <a:srgbClr val="717171"/>
                </a:solidFill>
                <a:latin typeface="Courier New" pitchFamily="34" charset="0"/>
                <a:ea typeface="Courier New" pitchFamily="34" charset="-122"/>
                <a:cs typeface="Courier New" pitchFamily="34" charset="-120"/>
              </a:rPr>
              <a:t>// biblioteq-front/src/app/shared/dias-vencido.pipe.ts
// Pipe : decorador que marca la clase como pipe.
// PipeTransform : interfaz que obliga a implementar transform().
</a:t>
            </a:r>
            <a:r>
              <a:rPr lang="en-US" sz="1100" b="1" dirty="0">
                <a:solidFill>
                  <a:srgbClr val="0057AE"/>
                </a:solidFill>
                <a:latin typeface="Courier New" pitchFamily="34" charset="0"/>
                <a:ea typeface="Courier New" pitchFamily="34" charset="-122"/>
                <a:cs typeface="Courier New" pitchFamily="34" charset="-120"/>
              </a:rPr>
              <a:t>import</a:t>
            </a:r>
            <a:r>
              <a:rPr lang="en-US" sz="1100" dirty="0">
                <a:solidFill>
                  <a:srgbClr val="383A42"/>
                </a:solidFill>
                <a:latin typeface="Courier New" pitchFamily="34" charset="0"/>
                <a:ea typeface="Courier New" pitchFamily="34" charset="-122"/>
                <a:cs typeface="Courier New" pitchFamily="34" charset="-120"/>
              </a:rPr>
              <a:t> { Pipe, PipeTransform } </a:t>
            </a:r>
            <a:r>
              <a:rPr lang="en-US" sz="1100" b="1" dirty="0">
                <a:solidFill>
                  <a:srgbClr val="0057AE"/>
                </a:solidFill>
                <a:latin typeface="Courier New" pitchFamily="34" charset="0"/>
                <a:ea typeface="Courier New" pitchFamily="34" charset="-122"/>
                <a:cs typeface="Courier New" pitchFamily="34" charset="-120"/>
              </a:rPr>
              <a:t>from</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C41A16"/>
                </a:solidFill>
                <a:latin typeface="Courier New" pitchFamily="34" charset="0"/>
                <a:ea typeface="Courier New" pitchFamily="34" charset="-122"/>
                <a:cs typeface="Courier New" pitchFamily="34" charset="-120"/>
              </a:rPr>
              <a:t>'@angular/core'</a:t>
            </a: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@Pipe({ name: </a:t>
            </a:r>
            <a:r>
              <a:rPr lang="en-US" sz="1100" dirty="0">
                <a:solidFill>
                  <a:srgbClr val="C41A16"/>
                </a:solidFill>
                <a:latin typeface="Courier New" pitchFamily="34" charset="0"/>
                <a:ea typeface="Courier New" pitchFamily="34" charset="-122"/>
                <a:cs typeface="Courier New" pitchFamily="34" charset="-120"/>
              </a:rPr>
              <a:t>'diasVencido'</a:t>
            </a:r>
            <a:r>
              <a:rPr lang="en-US" sz="1100" dirty="0">
                <a:solidFill>
                  <a:srgbClr val="383A42"/>
                </a:solidFill>
                <a:latin typeface="Courier New" pitchFamily="34" charset="0"/>
                <a:ea typeface="Courier New" pitchFamily="34" charset="-122"/>
                <a:cs typeface="Courier New" pitchFamily="34" charset="-120"/>
              </a:rPr>
              <a:t>, standalone: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pure: </a:t>
            </a:r>
            <a:r>
              <a:rPr lang="en-US" sz="1100" b="1" dirty="0">
                <a:solidFill>
                  <a:srgbClr val="0057AE"/>
                </a:solidFill>
                <a:latin typeface="Courier New" pitchFamily="34" charset="0"/>
                <a:ea typeface="Courier New" pitchFamily="34" charset="-122"/>
                <a:cs typeface="Courier New" pitchFamily="34" charset="-120"/>
              </a:rPr>
              <a:t>true</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b="1" dirty="0">
                <a:solidFill>
                  <a:srgbClr val="0057AE"/>
                </a:solidFill>
                <a:latin typeface="Courier New" pitchFamily="34" charset="0"/>
                <a:ea typeface="Courier New" pitchFamily="34" charset="-122"/>
                <a:cs typeface="Courier New" pitchFamily="34" charset="-120"/>
              </a:rPr>
              <a:t>export</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class</a:t>
            </a:r>
            <a:r>
              <a:rPr lang="en-US" sz="1100" dirty="0">
                <a:solidFill>
                  <a:srgbClr val="383A42"/>
                </a:solidFill>
                <a:latin typeface="Courier New" pitchFamily="34" charset="0"/>
                <a:ea typeface="Courier New" pitchFamily="34" charset="-122"/>
                <a:cs typeface="Courier New" pitchFamily="34" charset="-120"/>
              </a:rPr>
              <a:t> DiasVencidoPipe </a:t>
            </a:r>
            <a:r>
              <a:rPr lang="en-US" sz="1100" b="1" dirty="0">
                <a:solidFill>
                  <a:srgbClr val="0057AE"/>
                </a:solidFill>
                <a:latin typeface="Courier New" pitchFamily="34" charset="0"/>
                <a:ea typeface="Courier New" pitchFamily="34" charset="-122"/>
                <a:cs typeface="Courier New" pitchFamily="34" charset="-120"/>
              </a:rPr>
              <a:t>implements</a:t>
            </a:r>
            <a:r>
              <a:rPr lang="en-US" sz="1100" dirty="0">
                <a:solidFill>
                  <a:srgbClr val="383A42"/>
                </a:solidFill>
                <a:latin typeface="Courier New" pitchFamily="34" charset="0"/>
                <a:ea typeface="Courier New" pitchFamily="34" charset="-122"/>
                <a:cs typeface="Courier New" pitchFamily="34" charset="-120"/>
              </a:rPr>
              <a:t> PipeTransform {</a:t>
            </a: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 transform(fechaVencimiento) devuelve el numero de dias vencidos.
  // pure:true : Angular solo recomputa cuando cambia el argumento.
</a:t>
            </a:r>
            <a:r>
              <a:rPr lang="en-US" sz="1100" dirty="0">
                <a:solidFill>
                  <a:srgbClr val="383A42"/>
                </a:solidFill>
                <a:latin typeface="Courier New" pitchFamily="34" charset="0"/>
                <a:ea typeface="Courier New" pitchFamily="34" charset="-122"/>
                <a:cs typeface="Courier New" pitchFamily="34" charset="-120"/>
              </a:rPr>
              <a:t>  transform(vencimiento: Date | </a:t>
            </a:r>
            <a:r>
              <a:rPr lang="en-US" sz="1100" b="1" dirty="0">
                <a:solidFill>
                  <a:srgbClr val="0057AE"/>
                </a:solidFill>
                <a:latin typeface="Courier New" pitchFamily="34" charset="0"/>
                <a:ea typeface="Courier New" pitchFamily="34" charset="-122"/>
                <a:cs typeface="Courier New" pitchFamily="34" charset="-120"/>
              </a:rPr>
              <a:t>string</a:t>
            </a: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number</a:t>
            </a: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v = typeof vencimiento === </a:t>
            </a:r>
            <a:r>
              <a:rPr lang="en-US" sz="1100" dirty="0">
                <a:solidFill>
                  <a:srgbClr val="C41A16"/>
                </a:solidFill>
                <a:latin typeface="Courier New" pitchFamily="34" charset="0"/>
                <a:ea typeface="Courier New" pitchFamily="34" charset="-122"/>
                <a:cs typeface="Courier New" pitchFamily="34" charset="-120"/>
              </a:rPr>
              <a:t>'string'</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 </a:t>
            </a:r>
            <a:r>
              <a:rPr lang="en-US" sz="1100" b="1" dirty="0">
                <a:solidFill>
                  <a:srgbClr val="0057AE"/>
                </a:solidFill>
                <a:latin typeface="Courier New" pitchFamily="34" charset="0"/>
                <a:ea typeface="Courier New" pitchFamily="34" charset="-122"/>
                <a:cs typeface="Courier New" pitchFamily="34" charset="-120"/>
              </a:rPr>
              <a:t>new</a:t>
            </a:r>
            <a:r>
              <a:rPr lang="en-US" sz="1100" dirty="0">
                <a:solidFill>
                  <a:srgbClr val="383A42"/>
                </a:solidFill>
                <a:latin typeface="Courier New" pitchFamily="34" charset="0"/>
                <a:ea typeface="Courier New" pitchFamily="34" charset="-122"/>
                <a:cs typeface="Courier New" pitchFamily="34" charset="-120"/>
              </a:rPr>
              <a:t> Date(vencimiento) : vencimiento;</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hoy = </a:t>
            </a:r>
            <a:r>
              <a:rPr lang="en-US" sz="1100" b="1" dirty="0">
                <a:solidFill>
                  <a:srgbClr val="0057AE"/>
                </a:solidFill>
                <a:latin typeface="Courier New" pitchFamily="34" charset="0"/>
                <a:ea typeface="Courier New" pitchFamily="34" charset="-122"/>
                <a:cs typeface="Courier New" pitchFamily="34" charset="-120"/>
              </a:rPr>
              <a:t>new</a:t>
            </a:r>
            <a:r>
              <a:rPr lang="en-US" sz="1100" dirty="0">
                <a:solidFill>
                  <a:srgbClr val="383A42"/>
                </a:solidFill>
                <a:latin typeface="Courier New" pitchFamily="34" charset="0"/>
                <a:ea typeface="Courier New" pitchFamily="34" charset="-122"/>
                <a:cs typeface="Courier New" pitchFamily="34" charset="-120"/>
              </a:rPr>
              <a:t> Date();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const</a:t>
            </a:r>
            <a:r>
              <a:rPr lang="en-US" sz="1100" dirty="0">
                <a:solidFill>
                  <a:srgbClr val="383A42"/>
                </a:solidFill>
                <a:latin typeface="Courier New" pitchFamily="34" charset="0"/>
                <a:ea typeface="Courier New" pitchFamily="34" charset="-122"/>
                <a:cs typeface="Courier New" pitchFamily="34" charset="-120"/>
              </a:rPr>
              <a:t> ms  = hoy.getTime() - v.getTime();</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b="1" dirty="0">
                <a:solidFill>
                  <a:srgbClr val="0057AE"/>
                </a:solidFill>
                <a:latin typeface="Courier New" pitchFamily="34" charset="0"/>
                <a:ea typeface="Courier New" pitchFamily="34" charset="-122"/>
                <a:cs typeface="Courier New" pitchFamily="34" charset="-120"/>
              </a:rPr>
              <a:t>return</a:t>
            </a:r>
            <a:r>
              <a:rPr lang="en-US" sz="1100" dirty="0">
                <a:solidFill>
                  <a:srgbClr val="383A42"/>
                </a:solidFill>
                <a:latin typeface="Courier New" pitchFamily="34" charset="0"/>
                <a:ea typeface="Courier New" pitchFamily="34" charset="-122"/>
                <a:cs typeface="Courier New" pitchFamily="34" charset="-120"/>
              </a:rPr>
              <a:t> Math.max(0, Math.ceil(ms / 86_400_000));  // 24h en ms</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  }</a:t>
            </a:r>
            <a:r>
              <a:rPr lang="en-US" sz="1100" dirty="0">
                <a:solidFill>
                  <a:srgbClr val="000000"/>
                </a:solidFill>
              </a:rPr>
              <a:t>
</a:t>
            </a:r>
            <a:endParaRPr lang="en-US" sz="1100" dirty="0"/>
          </a:p>
          <a:p>
            <a:pPr marL="0" indent="0">
              <a:buNone/>
            </a:pPr>
            <a:r>
              <a:rPr lang="en-US" sz="1100" dirty="0">
                <a:solidFill>
                  <a:srgbClr val="383A42"/>
                </a:solidFill>
                <a:latin typeface="Courier New" pitchFamily="34" charset="0"/>
                <a:ea typeface="Courier New" pitchFamily="34" charset="-122"/>
                <a:cs typeface="Courier New" pitchFamily="34" charset="-120"/>
              </a:rPr>
              <a:t>}</a:t>
            </a:r>
            <a:r>
              <a:rPr lang="en-US" sz="1100" dirty="0">
                <a:solidFill>
                  <a:srgbClr val="000000"/>
                </a:solidFill>
              </a:rPr>
              <a:t>
</a:t>
            </a:r>
            <a:endParaRPr lang="en-US" sz="1100" dirty="0"/>
          </a:p>
          <a:p>
            <a:pPr marL="0" indent="0">
              <a:buNone/>
            </a:pPr>
            <a:r>
              <a:rPr lang="en-US" sz="1100" dirty="0">
                <a:solidFill>
                  <a:srgbClr val="000000"/>
                </a:solidFill>
              </a:rPr>
              <a:t>
</a:t>
            </a:r>
            <a:endParaRPr lang="en-US" sz="1100" dirty="0"/>
          </a:p>
          <a:p>
            <a:pPr marL="0" indent="0">
              <a:buNone/>
            </a:pPr>
            <a:r>
              <a:rPr lang="en-US" sz="1100" i="1" dirty="0">
                <a:solidFill>
                  <a:srgbClr val="717171"/>
                </a:solidFill>
                <a:latin typeface="Courier New" pitchFamily="34" charset="0"/>
                <a:ea typeface="Courier New" pitchFamily="34" charset="-122"/>
                <a:cs typeface="Courier New" pitchFamily="34" charset="-120"/>
              </a:rPr>
              <a:t>// Uso en plantilla:
// {{ prestamo.fechaVencimiento | diasVencido }} dias vencido
</a:t>
            </a:r>
            <a:endParaRPr lang="en-US" sz="1100" dirty="0"/>
          </a:p>
        </p:txBody>
      </p:sp>
      <p:sp>
        <p:nvSpPr>
          <p:cNvPr id="13" name="Shape 1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4" name="Text 1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5" name="Text 1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--- 32 / 40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Buenas practicas en el proyecto BiblioUTEQ</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63040"/>
            <a:ext cx="11109960" cy="4846320"/>
          </a:xfrm>
          <a:prstGeom prst="rect">
            <a:avLst/>
          </a:prstGeom>
          <a:noFill/>
          <a:ln/>
        </p:spPr>
        <p:txBody>
          <a:bodyPr wrap="square" rtlCol="0" anchor="t"/>
          <a:lstStyle/>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Feature folder : agrupar por caracteristica de negocio (libros/, prestamos/, usuarios/) y no por tipo (services/, components/).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Componentes tontos y contenedores : el componente contenedor conoce el servicio y los datos; los tontos reciben inputs y emiten eventos.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Un servicio por agregado : LibroService, PrestamoService, UsuarioService, con inject() de HttpClient.</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Model tipado en un .model.ts junto al servicio; interface Libro reflejando el JSON del backend.</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Rutas con lazy loading para las secciones grandes o rara vez visitadas (por ejemplo, administracion).</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Guards funcionales para proteger vistas por rol (authGuard, adminMatch).</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Interceptor de JWT y de manejo de errores en @angular/common/http registrados en app.config.ts.</a:t>
            </a:r>
            <a:endParaRPr lang="en-US" sz="1400" dirty="0"/>
          </a:p>
          <a:p>
            <a:pPr marL="342900" indent="-342900">
              <a:spcAft>
                <a:spcPts val="900"/>
              </a:spcAft>
              <a:buSzPct val="100000"/>
              <a:buChar char="■"/>
            </a:pPr>
            <a:r>
              <a:rPr lang="en-US" sz="1400" dirty="0">
                <a:solidFill>
                  <a:srgbClr val="383A42"/>
                </a:solidFill>
                <a:latin typeface="Calibri" pitchFamily="34" charset="0"/>
                <a:ea typeface="Calibri" pitchFamily="34" charset="-122"/>
                <a:cs typeface="Calibri" pitchFamily="34" charset="-120"/>
              </a:rPr>
              <a:t>Pruebas unitarias con Vitest y cobertura minima del 70 por ciento en servicios.</a:t>
            </a:r>
            <a:endParaRPr lang="en-US" sz="14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--- 33 / 40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Recursos oficiales y comunidad</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Documentacion oficial de Angular 22 en https://angular.dev con tutorial interactivo y guias tema por tema.</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Blog oficial en https://blog.angular.dev con anuncios de version, roadmap y ejemplos verificados.</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Repositorio publico en https://github.com/angular/angular con issues, releases y codigo fuente.</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Angular Live en YouTube (canal oficial) con sesiones tecnicas y AMAs con miembros del equipo.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Meetup local Angular Ecuador para networking y ejercicios en grupo.</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Documentacion oficial de Vitest en https://vitest.dev y de Docker en https://docs.docker.com.</a:t>
            </a:r>
            <a:endParaRPr lang="en-US" sz="1500" dirty="0"/>
          </a:p>
        </p:txBody>
      </p:sp>
      <p:sp>
        <p:nvSpPr>
          <p:cNvPr id="7" name="Shape 5"/>
          <p:cNvSpPr/>
          <p:nvPr/>
        </p:nvSpPr>
        <p:spPr>
          <a:xfrm>
            <a:off x="548640" y="5577840"/>
            <a:ext cx="11091672" cy="731520"/>
          </a:xfrm>
          <a:prstGeom prst="roundRect">
            <a:avLst>
              <a:gd name="adj" fmla="val 10000"/>
            </a:avLst>
          </a:prstGeom>
          <a:solidFill>
            <a:srgbClr val="FBF0D8"/>
          </a:solidFill>
          <a:ln w="12700">
            <a:solidFill>
              <a:srgbClr val="B8860B"/>
            </a:solidFill>
            <a:prstDash val="solid"/>
          </a:ln>
        </p:spPr>
        <p:txBody>
          <a:bodyPr/>
          <a:lstStyle/>
          <a:p>
            <a:endParaRPr lang="es-US"/>
          </a:p>
        </p:txBody>
      </p:sp>
      <p:sp>
        <p:nvSpPr>
          <p:cNvPr id="8" name="Shape 6"/>
          <p:cNvSpPr/>
          <p:nvPr/>
        </p:nvSpPr>
        <p:spPr>
          <a:xfrm>
            <a:off x="548640" y="5577840"/>
            <a:ext cx="91440" cy="731520"/>
          </a:xfrm>
          <a:prstGeom prst="rect">
            <a:avLst/>
          </a:prstGeom>
          <a:solidFill>
            <a:srgbClr val="B8860B"/>
          </a:solidFill>
          <a:ln w="12700">
            <a:solidFill>
              <a:srgbClr val="B8860B"/>
            </a:solidFill>
            <a:prstDash val="solid"/>
          </a:ln>
        </p:spPr>
        <p:txBody>
          <a:bodyPr/>
          <a:lstStyle/>
          <a:p>
            <a:endParaRPr lang="es-US"/>
          </a:p>
        </p:txBody>
      </p:sp>
      <p:sp>
        <p:nvSpPr>
          <p:cNvPr id="9" name="Text 7"/>
          <p:cNvSpPr/>
          <p:nvPr/>
        </p:nvSpPr>
        <p:spPr>
          <a:xfrm>
            <a:off x="731520" y="5632704"/>
            <a:ext cx="10817352" cy="274320"/>
          </a:xfrm>
          <a:prstGeom prst="rect">
            <a:avLst/>
          </a:prstGeom>
          <a:noFill/>
          <a:ln/>
        </p:spPr>
        <p:txBody>
          <a:bodyPr wrap="square"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Sobre tutoriales de terceros</a:t>
            </a:r>
            <a:endParaRPr lang="en-US" sz="1200" dirty="0"/>
          </a:p>
        </p:txBody>
      </p:sp>
      <p:sp>
        <p:nvSpPr>
          <p:cNvPr id="10" name="Text 8"/>
          <p:cNvSpPr/>
          <p:nvPr/>
        </p:nvSpPr>
        <p:spPr>
          <a:xfrm>
            <a:off x="731520" y="5907024"/>
            <a:ext cx="10817352" cy="347472"/>
          </a:xfrm>
          <a:prstGeom prst="rect">
            <a:avLst/>
          </a:prstGeom>
          <a:noFill/>
          <a:ln/>
        </p:spPr>
        <p:txBody>
          <a:bodyPr wrap="square" rtlCol="0" anchor="t"/>
          <a:lstStyle/>
          <a:p>
            <a:pPr marL="0" indent="0">
              <a:spcAft>
                <a:spcPts val="300"/>
              </a:spcAft>
              <a:buNone/>
            </a:pPr>
            <a:r>
              <a:rPr lang="en-US" sz="1200" dirty="0">
                <a:solidFill>
                  <a:srgbClr val="383A42"/>
                </a:solidFill>
                <a:latin typeface="Calibri" pitchFamily="34" charset="0"/>
                <a:ea typeface="Calibri" pitchFamily="34" charset="-122"/>
                <a:cs typeface="Calibri" pitchFamily="34" charset="-120"/>
              </a:rPr>
              <a:t>Antes de seguir un tutorial no oficial, verificar la fecha: cualquier material anterior a mayo de 2024 (Angular 18) usa patrones desactualizados (NgModule, ChangeDetection default eager, HttpClientModule).</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--- 34 / 40</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Mapa completo de lo entregado</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400" dirty="0">
                <a:solidFill>
                  <a:srgbClr val="383A42"/>
                </a:solidFill>
                <a:latin typeface="Calibri" pitchFamily="34" charset="0"/>
                <a:ea typeface="Calibri" pitchFamily="34" charset="-122"/>
                <a:cs typeface="Calibri" pitchFamily="34" charset="-120"/>
              </a:rPr>
              <a:t>Entre el deck 1 y este deck 2, el aprendiz sale de la Unidad IV con el siguiente conjunto de conocimientos y artefactos en su repositorio.</a:t>
            </a:r>
            <a:endParaRPr lang="en-US" sz="1400" dirty="0"/>
          </a:p>
        </p:txBody>
      </p:sp>
      <p:sp>
        <p:nvSpPr>
          <p:cNvPr id="7" name="Shape 5"/>
          <p:cNvSpPr/>
          <p:nvPr/>
        </p:nvSpPr>
        <p:spPr>
          <a:xfrm>
            <a:off x="548640" y="2148840"/>
            <a:ext cx="5468112" cy="1965960"/>
          </a:xfrm>
          <a:prstGeom prst="roundRect">
            <a:avLst>
              <a:gd name="adj" fmla="val 3721"/>
            </a:avLst>
          </a:prstGeom>
          <a:solidFill>
            <a:srgbClr val="FFFFFF"/>
          </a:solidFill>
          <a:ln w="15240">
            <a:solidFill>
              <a:srgbClr val="006633"/>
            </a:solidFill>
            <a:prstDash val="solid"/>
          </a:ln>
        </p:spPr>
        <p:txBody>
          <a:bodyPr/>
          <a:lstStyle/>
          <a:p>
            <a:endParaRPr lang="es-US"/>
          </a:p>
        </p:txBody>
      </p:sp>
      <p:sp>
        <p:nvSpPr>
          <p:cNvPr id="8" name="Shape 6"/>
          <p:cNvSpPr/>
          <p:nvPr/>
        </p:nvSpPr>
        <p:spPr>
          <a:xfrm>
            <a:off x="548640" y="2148840"/>
            <a:ext cx="5468112" cy="36576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685800" y="214884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Setup y estructura</a:t>
            </a:r>
            <a:endParaRPr lang="en-US" sz="1300" dirty="0"/>
          </a:p>
        </p:txBody>
      </p:sp>
      <p:sp>
        <p:nvSpPr>
          <p:cNvPr id="10" name="Text 8"/>
          <p:cNvSpPr/>
          <p:nvPr/>
        </p:nvSpPr>
        <p:spPr>
          <a:xfrm>
            <a:off x="731520" y="260604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Node 24 LTS + Angular CLI 22</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IntelliJ IDEA Ultimate configurado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Proyecto frontend/ generado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Rutas con Router + guards</a:t>
            </a:r>
            <a:endParaRPr lang="en-US" sz="1200" dirty="0"/>
          </a:p>
        </p:txBody>
      </p:sp>
      <p:sp>
        <p:nvSpPr>
          <p:cNvPr id="11" name="Shape 9"/>
          <p:cNvSpPr/>
          <p:nvPr/>
        </p:nvSpPr>
        <p:spPr>
          <a:xfrm>
            <a:off x="6172200" y="2148840"/>
            <a:ext cx="5468112" cy="1965960"/>
          </a:xfrm>
          <a:prstGeom prst="roundRect">
            <a:avLst>
              <a:gd name="adj" fmla="val 3721"/>
            </a:avLst>
          </a:prstGeom>
          <a:solidFill>
            <a:srgbClr val="FFFFFF"/>
          </a:solidFill>
          <a:ln w="15240">
            <a:solidFill>
              <a:srgbClr val="006633"/>
            </a:solidFill>
            <a:prstDash val="solid"/>
          </a:ln>
        </p:spPr>
        <p:txBody>
          <a:bodyPr/>
          <a:lstStyle/>
          <a:p>
            <a:endParaRPr lang="es-US"/>
          </a:p>
        </p:txBody>
      </p:sp>
      <p:sp>
        <p:nvSpPr>
          <p:cNvPr id="12" name="Shape 10"/>
          <p:cNvSpPr/>
          <p:nvPr/>
        </p:nvSpPr>
        <p:spPr>
          <a:xfrm>
            <a:off x="6172200" y="2148840"/>
            <a:ext cx="5468112" cy="365760"/>
          </a:xfrm>
          <a:prstGeom prst="rect">
            <a:avLst/>
          </a:prstGeom>
          <a:solidFill>
            <a:srgbClr val="006633"/>
          </a:solidFill>
          <a:ln w="12700">
            <a:solidFill>
              <a:srgbClr val="006633"/>
            </a:solidFill>
            <a:prstDash val="solid"/>
          </a:ln>
        </p:spPr>
        <p:txBody>
          <a:bodyPr/>
          <a:lstStyle/>
          <a:p>
            <a:endParaRPr lang="es-US"/>
          </a:p>
        </p:txBody>
      </p:sp>
      <p:sp>
        <p:nvSpPr>
          <p:cNvPr id="13" name="Text 11"/>
          <p:cNvSpPr/>
          <p:nvPr/>
        </p:nvSpPr>
        <p:spPr>
          <a:xfrm>
            <a:off x="6309360" y="214884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Consumo de la API REST</a:t>
            </a:r>
            <a:endParaRPr lang="en-US" sz="1300" dirty="0"/>
          </a:p>
        </p:txBody>
      </p:sp>
      <p:sp>
        <p:nvSpPr>
          <p:cNvPr id="14" name="Text 12"/>
          <p:cNvSpPr/>
          <p:nvPr/>
        </p:nvSpPr>
        <p:spPr>
          <a:xfrm>
            <a:off x="6355080" y="260604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HttpClient con provideHttpClient</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GET/POST/PUT/DELETE completos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Interceptor JWT operando</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environments por entorno</a:t>
            </a:r>
            <a:endParaRPr lang="en-US" sz="1200" dirty="0"/>
          </a:p>
        </p:txBody>
      </p:sp>
      <p:sp>
        <p:nvSpPr>
          <p:cNvPr id="15" name="Shape 13"/>
          <p:cNvSpPr/>
          <p:nvPr/>
        </p:nvSpPr>
        <p:spPr>
          <a:xfrm>
            <a:off x="548640" y="4251960"/>
            <a:ext cx="5468112" cy="1965960"/>
          </a:xfrm>
          <a:prstGeom prst="roundRect">
            <a:avLst>
              <a:gd name="adj" fmla="val 3721"/>
            </a:avLst>
          </a:prstGeom>
          <a:solidFill>
            <a:srgbClr val="FFFFFF"/>
          </a:solidFill>
          <a:ln w="15240">
            <a:solidFill>
              <a:srgbClr val="006633"/>
            </a:solidFill>
            <a:prstDash val="solid"/>
          </a:ln>
        </p:spPr>
        <p:txBody>
          <a:bodyPr/>
          <a:lstStyle/>
          <a:p>
            <a:endParaRPr lang="es-US"/>
          </a:p>
        </p:txBody>
      </p:sp>
      <p:sp>
        <p:nvSpPr>
          <p:cNvPr id="16" name="Shape 14"/>
          <p:cNvSpPr/>
          <p:nvPr/>
        </p:nvSpPr>
        <p:spPr>
          <a:xfrm>
            <a:off x="548640" y="4251960"/>
            <a:ext cx="5468112" cy="365760"/>
          </a:xfrm>
          <a:prstGeom prst="rect">
            <a:avLst/>
          </a:prstGeom>
          <a:solidFill>
            <a:srgbClr val="006633"/>
          </a:solidFill>
          <a:ln w="12700">
            <a:solidFill>
              <a:srgbClr val="006633"/>
            </a:solidFill>
            <a:prstDash val="solid"/>
          </a:ln>
        </p:spPr>
        <p:txBody>
          <a:bodyPr/>
          <a:lstStyle/>
          <a:p>
            <a:endParaRPr lang="es-US"/>
          </a:p>
        </p:txBody>
      </p:sp>
      <p:sp>
        <p:nvSpPr>
          <p:cNvPr id="17" name="Text 15"/>
          <p:cNvSpPr/>
          <p:nvPr/>
        </p:nvSpPr>
        <p:spPr>
          <a:xfrm>
            <a:off x="685800" y="425196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Formularios y estado</a:t>
            </a:r>
            <a:endParaRPr lang="en-US" sz="1300" dirty="0"/>
          </a:p>
        </p:txBody>
      </p:sp>
      <p:sp>
        <p:nvSpPr>
          <p:cNvPr id="18" name="Text 16"/>
          <p:cNvSpPr/>
          <p:nvPr/>
        </p:nvSpPr>
        <p:spPr>
          <a:xfrm>
            <a:off x="731520" y="470916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Signal Forms para nuevos formularios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Schema declarativo con validadores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computed() y effect() en la vista</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Signals de campo con errores</a:t>
            </a:r>
            <a:endParaRPr lang="en-US" sz="1200" dirty="0"/>
          </a:p>
        </p:txBody>
      </p:sp>
      <p:sp>
        <p:nvSpPr>
          <p:cNvPr id="19" name="Shape 17"/>
          <p:cNvSpPr/>
          <p:nvPr/>
        </p:nvSpPr>
        <p:spPr>
          <a:xfrm>
            <a:off x="6172200" y="4251960"/>
            <a:ext cx="5468112" cy="1965960"/>
          </a:xfrm>
          <a:prstGeom prst="roundRect">
            <a:avLst>
              <a:gd name="adj" fmla="val 3721"/>
            </a:avLst>
          </a:prstGeom>
          <a:solidFill>
            <a:srgbClr val="FFFFFF"/>
          </a:solidFill>
          <a:ln w="15240">
            <a:solidFill>
              <a:srgbClr val="006633"/>
            </a:solidFill>
            <a:prstDash val="solid"/>
          </a:ln>
        </p:spPr>
        <p:txBody>
          <a:bodyPr/>
          <a:lstStyle/>
          <a:p>
            <a:endParaRPr lang="es-US"/>
          </a:p>
        </p:txBody>
      </p:sp>
      <p:sp>
        <p:nvSpPr>
          <p:cNvPr id="20" name="Shape 18"/>
          <p:cNvSpPr/>
          <p:nvPr/>
        </p:nvSpPr>
        <p:spPr>
          <a:xfrm>
            <a:off x="6172200" y="4251960"/>
            <a:ext cx="5468112" cy="365760"/>
          </a:xfrm>
          <a:prstGeom prst="rect">
            <a:avLst/>
          </a:prstGeom>
          <a:solidFill>
            <a:srgbClr val="006633"/>
          </a:solidFill>
          <a:ln w="12700">
            <a:solidFill>
              <a:srgbClr val="006633"/>
            </a:solidFill>
            <a:prstDash val="solid"/>
          </a:ln>
        </p:spPr>
        <p:txBody>
          <a:bodyPr/>
          <a:lstStyle/>
          <a:p>
            <a:endParaRPr lang="es-US"/>
          </a:p>
        </p:txBody>
      </p:sp>
      <p:sp>
        <p:nvSpPr>
          <p:cNvPr id="21" name="Text 19"/>
          <p:cNvSpPr/>
          <p:nvPr/>
        </p:nvSpPr>
        <p:spPr>
          <a:xfrm>
            <a:off x="6309360" y="4251960"/>
            <a:ext cx="5193792"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Produccion</a:t>
            </a:r>
            <a:endParaRPr lang="en-US" sz="1300" dirty="0"/>
          </a:p>
        </p:txBody>
      </p:sp>
      <p:sp>
        <p:nvSpPr>
          <p:cNvPr id="22" name="Text 20"/>
          <p:cNvSpPr/>
          <p:nvPr/>
        </p:nvSpPr>
        <p:spPr>
          <a:xfrm>
            <a:off x="6355080" y="4709160"/>
            <a:ext cx="5102352" cy="1463040"/>
          </a:xfrm>
          <a:prstGeom prst="rect">
            <a:avLst/>
          </a:prstGeom>
          <a:noFill/>
          <a:ln/>
        </p:spPr>
        <p:txBody>
          <a:bodyPr wrap="square" rtlCol="0" anchor="t"/>
          <a:lstStyle/>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Vitest para pruebas unitarias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Multi-stage Dockerfile</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nginx con proxy_pass</a:t>
            </a:r>
            <a:endParaRPr lang="en-US" sz="1200" dirty="0"/>
          </a:p>
          <a:p>
            <a:pPr marL="342900" indent="-342900">
              <a:spcAft>
                <a:spcPts val="300"/>
              </a:spcAft>
              <a:buSzPct val="100000"/>
              <a:buChar char="■"/>
            </a:pPr>
            <a:r>
              <a:rPr lang="en-US" sz="1200" dirty="0">
                <a:solidFill>
                  <a:srgbClr val="383A42"/>
                </a:solidFill>
                <a:latin typeface="Calibri" pitchFamily="34" charset="0"/>
                <a:ea typeface="Calibri" pitchFamily="34" charset="-122"/>
                <a:cs typeface="Calibri" pitchFamily="34" charset="-120"/>
              </a:rPr>
              <a:t>docker-compose completo</a:t>
            </a:r>
            <a:endParaRPr lang="en-US" sz="1200" dirty="0"/>
          </a:p>
        </p:txBody>
      </p:sp>
      <p:sp>
        <p:nvSpPr>
          <p:cNvPr id="23" name="Shape 21"/>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24" name="Text 22"/>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25" name="Text 23"/>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--- 35 / 40</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8. CIERRE METODOLOGICO</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Roadmap del resto de la Unidad IV</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508760"/>
            <a:ext cx="11109960" cy="4846320"/>
          </a:xfrm>
          <a:prstGeom prst="rect">
            <a:avLst/>
          </a:prstGeom>
          <a:noFill/>
          <a:ln/>
        </p:spPr>
        <p:txBody>
          <a:bodyPr wrap="square" rtlCol="0" anchor="t"/>
          <a:lstStyle/>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15 : documentacion viva de la API con OpenAPI 3.1 y Swagger UI --- integra el JSON de la API en el propio frontend.</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16 : consumo de servicios externos (mapas, correos transaccionales, notificaciones push).</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17 : monitoreo del sistema en produccion (logs estructurados, healthchecks, metricas).</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Semana 18 : cierre y entrega final --- integracion completa, defensa oral del PFC y entrega de la carpeta docs/entregas/entrega-final.</a:t>
            </a:r>
            <a:endParaRPr lang="en-US" sz="1500" dirty="0"/>
          </a:p>
          <a:p>
            <a:pPr marL="342900" indent="-342900">
              <a:spcAft>
                <a:spcPts val="1000"/>
              </a:spcAft>
              <a:buSzPct val="100000"/>
              <a:buChar char="■"/>
            </a:pPr>
            <a:r>
              <a:rPr lang="en-US" sz="1500" dirty="0">
                <a:solidFill>
                  <a:srgbClr val="383A42"/>
                </a:solidFill>
                <a:latin typeface="Calibri" pitchFamily="34" charset="0"/>
                <a:ea typeface="Calibri" pitchFamily="34" charset="-122"/>
                <a:cs typeface="Calibri" pitchFamily="34" charset="-120"/>
              </a:rPr>
              <a:t>Entregable transversal : la Guia PFC Entrega 2B (recasteo de la Entrega Final) al cierre de la Unidad IV.</a:t>
            </a:r>
            <a:endParaRPr lang="en-US" sz="150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--- 36 / 40</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Referencias verificadas</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4846320"/>
          </a:xfrm>
          <a:prstGeom prst="rect">
            <a:avLst/>
          </a:prstGeom>
          <a:noFill/>
          <a:ln/>
        </p:spPr>
        <p:txBody>
          <a:bodyPr wrap="square" rtlCol="0" anchor="t"/>
          <a:lstStyle/>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  Angular Team. Announcing Angular v22. blog.angular.dev, 3 jun.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[2]  Google LLC. Angular Documentation --- Forms (Signal Forms). angular.dev/guide/forms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[3]  Google LLC. Angular Documentation --- Signals. angular.dev/guide/signals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[4]  Google LLC. Angular Documentation --- Router Guards. angular.dev/guide/routing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[5]  Google LLC. Angular Documentation --- Deferrable Views. angular.dev/guide/templates/defer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[6]  Google LLC. Angular Documentation --- Migrating to Vitest. angular.dev/guide/testing/migrating-to-vitest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[7]  Vitest Team. Vitest --- Blazing Fast Unit Test Framework. vitest.dev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[8]  OpenJS Foundation. Node.js 24 LTS Documentation. nodejs.org/docs/latest-v24.x (jul.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[9]  Docker Inc. Docker Documentation. docs.docker.com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[10] Nginx Inc. Nginx Documentation. nginx.org/en/docs/ (2026).</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[11] Fielding, R. T. Architectural Styles and the Design of Network-based Software Architectures. Tesis, UC Irvine, 2000.</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[12] Fielding, R.; Nottingham, M.; Reschke, J. HTTP Semantics. IETF RFC 9110. Jun. 2022. doi:10.17487/RFC9110.</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[13] Jones, M.; Bradley, J.; Sakimura, N. JSON Web Token (JWT). IETF RFC 7519. May 2015. doi:10.17487/RFC7519.</a:t>
            </a:r>
            <a:endParaRPr lang="en-US" sz="1150" dirty="0"/>
          </a:p>
          <a:p>
            <a:pPr marL="0" indent="0">
              <a:spcAft>
                <a:spcPts val="300"/>
              </a:spcAft>
              <a:buNone/>
            </a:pPr>
            <a:r>
              <a:rPr lang="en-US" sz="1150" dirty="0">
                <a:solidFill>
                  <a:srgbClr val="383A42"/>
                </a:solidFill>
                <a:latin typeface="Calibri" pitchFamily="34" charset="0"/>
                <a:ea typeface="Calibri" pitchFamily="34" charset="-122"/>
                <a:cs typeface="Calibri" pitchFamily="34" charset="-120"/>
              </a:rPr>
              <a:t>[14] Freeman, A. Pro Angular: Build Powerful and Dynamic Web Apps. 5.a ed. Apress, 2023. isbn 978-1-4842-9426-1.</a:t>
            </a:r>
            <a:endParaRPr lang="en-US" sz="1150" dirty="0"/>
          </a:p>
        </p:txBody>
      </p:sp>
      <p:sp>
        <p:nvSpPr>
          <p:cNvPr id="7" name="Shape 5"/>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8" name="Text 6"/>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9" name="Text 7"/>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--- 37 / 40</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274320" y="54864"/>
            <a:ext cx="11612880"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320040" y="566928"/>
            <a:ext cx="11521440" cy="594360"/>
          </a:xfrm>
          <a:prstGeom prst="rect">
            <a:avLst/>
          </a:prstGeom>
          <a:noFill/>
          <a:ln/>
        </p:spPr>
        <p:txBody>
          <a:bodyPr wrap="square" rtlCol="0" anchor="ctr"/>
          <a:lstStyle/>
          <a:p>
            <a:pPr marL="0" indent="0">
              <a:buNone/>
            </a:pPr>
            <a:r>
              <a:rPr lang="en-US" sz="2600" b="1" dirty="0">
                <a:solidFill>
                  <a:srgbClr val="0B3D24"/>
                </a:solidFill>
                <a:latin typeface="Cambria" pitchFamily="34" charset="0"/>
                <a:ea typeface="Cambria" pitchFamily="34" charset="-122"/>
                <a:cs typeface="Cambria" pitchFamily="34" charset="-120"/>
              </a:rPr>
              <a:t>Nuevas entradas para Proyecto.bib</a:t>
            </a:r>
            <a:endParaRPr lang="en-US" sz="2600" dirty="0"/>
          </a:p>
        </p:txBody>
      </p:sp>
      <p:sp>
        <p:nvSpPr>
          <p:cNvPr id="5" name="Shape 3"/>
          <p:cNvSpPr/>
          <p:nvPr/>
        </p:nvSpPr>
        <p:spPr>
          <a:xfrm>
            <a:off x="320040" y="1170432"/>
            <a:ext cx="2103120" cy="0"/>
          </a:xfrm>
          <a:prstGeom prst="line">
            <a:avLst/>
          </a:prstGeom>
          <a:noFill/>
          <a:ln w="38100">
            <a:solidFill>
              <a:srgbClr val="B8860B"/>
            </a:solidFill>
            <a:prstDash val="solid"/>
          </a:ln>
        </p:spPr>
        <p:txBody>
          <a:bodyPr/>
          <a:lstStyle/>
          <a:p>
            <a:endParaRPr lang="es-US"/>
          </a:p>
        </p:txBody>
      </p:sp>
      <p:sp>
        <p:nvSpPr>
          <p:cNvPr id="6" name="Text 4"/>
          <p:cNvSpPr/>
          <p:nvPr/>
        </p:nvSpPr>
        <p:spPr>
          <a:xfrm>
            <a:off x="548640" y="1417320"/>
            <a:ext cx="11091672" cy="640080"/>
          </a:xfrm>
          <a:prstGeom prst="rect">
            <a:avLst/>
          </a:prstGeom>
          <a:noFill/>
          <a:ln/>
        </p:spPr>
        <p:txBody>
          <a:bodyPr wrap="square" rtlCol="0" anchor="t"/>
          <a:lstStyle/>
          <a:p>
            <a:pPr marL="0" indent="0">
              <a:buNone/>
            </a:pPr>
            <a:r>
              <a:rPr lang="en-US" sz="1300" dirty="0">
                <a:solidFill>
                  <a:srgbClr val="383A42"/>
                </a:solidFill>
                <a:latin typeface="Calibri" pitchFamily="34" charset="0"/>
                <a:ea typeface="Calibri" pitchFamily="34" charset="-122"/>
                <a:cs typeface="Calibri" pitchFamily="34" charset="-120"/>
              </a:rPr>
              <a:t>Las siguientes claves se agregan al archivo Proyecto.bib del compendio para citar las referencias nuevas usadas en este deck.</a:t>
            </a:r>
            <a:endParaRPr lang="en-US" sz="1300" dirty="0"/>
          </a:p>
        </p:txBody>
      </p:sp>
      <p:sp>
        <p:nvSpPr>
          <p:cNvPr id="7" name="Shape 5"/>
          <p:cNvSpPr/>
          <p:nvPr/>
        </p:nvSpPr>
        <p:spPr>
          <a:xfrm>
            <a:off x="548640" y="2103120"/>
            <a:ext cx="11091672" cy="4206240"/>
          </a:xfrm>
          <a:prstGeom prst="roundRect">
            <a:avLst>
              <a:gd name="adj" fmla="val 1304"/>
            </a:avLst>
          </a:prstGeom>
          <a:solidFill>
            <a:srgbClr val="F5F6F5"/>
          </a:solidFill>
          <a:ln w="9525">
            <a:solidFill>
              <a:srgbClr val="006633"/>
            </a:solidFill>
            <a:prstDash val="solid"/>
          </a:ln>
        </p:spPr>
        <p:txBody>
          <a:bodyPr/>
          <a:lstStyle/>
          <a:p>
            <a:endParaRPr lang="es-US"/>
          </a:p>
        </p:txBody>
      </p:sp>
      <p:sp>
        <p:nvSpPr>
          <p:cNvPr id="8" name="Shape 6"/>
          <p:cNvSpPr/>
          <p:nvPr/>
        </p:nvSpPr>
        <p:spPr>
          <a:xfrm>
            <a:off x="548640" y="2103120"/>
            <a:ext cx="1920240" cy="274320"/>
          </a:xfrm>
          <a:prstGeom prst="rect">
            <a:avLst/>
          </a:prstGeom>
          <a:solidFill>
            <a:srgbClr val="006633"/>
          </a:solidFill>
          <a:ln w="12700">
            <a:solidFill>
              <a:srgbClr val="006633"/>
            </a:solidFill>
            <a:prstDash val="solid"/>
          </a:ln>
        </p:spPr>
        <p:txBody>
          <a:bodyPr/>
          <a:lstStyle/>
          <a:p>
            <a:endParaRPr lang="es-US"/>
          </a:p>
        </p:txBody>
      </p:sp>
      <p:sp>
        <p:nvSpPr>
          <p:cNvPr id="9" name="Text 7"/>
          <p:cNvSpPr/>
          <p:nvPr/>
        </p:nvSpPr>
        <p:spPr>
          <a:xfrm>
            <a:off x="594360" y="2121408"/>
            <a:ext cx="1874520" cy="237744"/>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claves BibTeX</a:t>
            </a:r>
            <a:endParaRPr lang="en-US" sz="1000" dirty="0"/>
          </a:p>
        </p:txBody>
      </p:sp>
      <p:sp>
        <p:nvSpPr>
          <p:cNvPr id="10" name="Text 8"/>
          <p:cNvSpPr txBox="1"/>
          <p:nvPr/>
        </p:nvSpPr>
        <p:spPr>
          <a:xfrm>
            <a:off x="640080" y="2450592"/>
            <a:ext cx="10908792" cy="3767328"/>
          </a:xfrm>
          <a:prstGeom prst="rect">
            <a:avLst/>
          </a:prstGeom>
          <a:noFill/>
          <a:ln/>
        </p:spPr>
        <p:txBody>
          <a:bodyPr wrap="square" rtlCol="0" anchor="t"/>
          <a:lstStyle/>
          <a:p>
            <a:pPr marL="0" indent="0">
              <a:buNone/>
            </a:pPr>
            <a:r>
              <a:rPr lang="en-US" sz="1200" dirty="0">
                <a:solidFill>
                  <a:srgbClr val="383A42"/>
                </a:solidFill>
                <a:latin typeface="Courier New" pitchFamily="34" charset="0"/>
                <a:ea typeface="Courier New" pitchFamily="34" charset="-122"/>
                <a:cs typeface="Courier New" pitchFamily="34" charset="-120"/>
              </a:rPr>
              <a:t>% Angular v22 anuncio oficial</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angular2026v22        --&gt; Angular Team, Announcing Angular v22, 3 jun.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Guias oficiales del framework (angular.dev/guide/...)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angular2026forms      --&gt; Angular Docs, Forms (Signal Forms),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angular2026signals    --&gt; Angular Docs, Signals,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angular2026router     --&gt; Angular Docs, Routing and Navigation,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angular2026defer      --&gt; Angular Docs, Deferrable Views,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angular2026testing    --&gt; Angular Docs, Migrating to Vitest,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Ecosistema de testing y despliegue</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vitest2026            --&gt; Vitest --- Blazing Fast Unit Test Framework,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docker2026            --&gt; Docker Documentation, Docker Inc., 2026</a:t>
            </a: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nginx2026             --&gt; nginx Documentation, Nginx Inc., 2026</a:t>
            </a:r>
            <a:r>
              <a:rPr lang="en-US" sz="1200" dirty="0">
                <a:solidFill>
                  <a:srgbClr val="000000"/>
                </a:solidFill>
              </a:rPr>
              <a:t>
</a:t>
            </a:r>
            <a:endParaRPr lang="en-US" sz="1200" dirty="0"/>
          </a:p>
          <a:p>
            <a:pPr marL="0" indent="0">
              <a:buNone/>
            </a:pPr>
            <a:r>
              <a:rPr lang="en-US" sz="1200" dirty="0">
                <a:solidFill>
                  <a:srgbClr val="000000"/>
                </a:solidFill>
              </a:rPr>
              <a:t>
</a:t>
            </a:r>
            <a:endParaRPr lang="en-US" sz="1200" dirty="0"/>
          </a:p>
          <a:p>
            <a:pPr marL="0" indent="0">
              <a:buNone/>
            </a:pPr>
            <a:r>
              <a:rPr lang="en-US" sz="1200" dirty="0">
                <a:solidFill>
                  <a:srgbClr val="383A42"/>
                </a:solidFill>
                <a:latin typeface="Courier New" pitchFamily="34" charset="0"/>
                <a:ea typeface="Courier New" pitchFamily="34" charset="-122"/>
                <a:cs typeface="Courier New" pitchFamily="34" charset="-120"/>
              </a:rPr>
              <a:t>% (Las 3 entradas de RFCs y Freeman ya existen en Proyecto.bib)</a:t>
            </a:r>
            <a:r>
              <a:rPr lang="en-US" sz="1200" dirty="0">
                <a:solidFill>
                  <a:srgbClr val="000000"/>
                </a:solidFill>
              </a:rPr>
              <a:t>
</a:t>
            </a:r>
            <a:endParaRPr lang="en-US" sz="1200" dirty="0"/>
          </a:p>
        </p:txBody>
      </p:sp>
      <p:sp>
        <p:nvSpPr>
          <p:cNvPr id="11" name="Shape 9"/>
          <p:cNvSpPr/>
          <p:nvPr/>
        </p:nvSpPr>
        <p:spPr>
          <a:xfrm>
            <a:off x="0" y="6492240"/>
            <a:ext cx="12188952" cy="365760"/>
          </a:xfrm>
          <a:prstGeom prst="rect">
            <a:avLst/>
          </a:prstGeom>
          <a:solidFill>
            <a:srgbClr val="006633"/>
          </a:solidFill>
          <a:ln w="12700">
            <a:solidFill>
              <a:srgbClr val="006633"/>
            </a:solidFill>
            <a:prstDash val="solid"/>
          </a:ln>
        </p:spPr>
        <p:txBody>
          <a:bodyPr/>
          <a:lstStyle/>
          <a:p>
            <a:endParaRPr lang="es-US"/>
          </a:p>
        </p:txBody>
      </p:sp>
      <p:sp>
        <p:nvSpPr>
          <p:cNvPr id="12" name="Text 10"/>
          <p:cNvSpPr/>
          <p:nvPr/>
        </p:nvSpPr>
        <p:spPr>
          <a:xfrm>
            <a:off x="274320" y="6528816"/>
            <a:ext cx="7315200" cy="292608"/>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Aplicaciones Web  |  UTEQ  |  Dr. Guerrero Ulloa</a:t>
            </a:r>
            <a:endParaRPr lang="en-US" sz="1000" dirty="0"/>
          </a:p>
        </p:txBody>
      </p:sp>
      <p:sp>
        <p:nvSpPr>
          <p:cNvPr id="13" name="Text 11"/>
          <p:cNvSpPr/>
          <p:nvPr/>
        </p:nvSpPr>
        <p:spPr>
          <a:xfrm>
            <a:off x="8869680" y="6528816"/>
            <a:ext cx="3017520" cy="292608"/>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Angular 22 (parte 2) --- 38 / 40</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88952" cy="2011680"/>
          </a:xfrm>
          <a:prstGeom prst="rect">
            <a:avLst/>
          </a:prstGeom>
          <a:solidFill>
            <a:srgbClr val="006633"/>
          </a:solidFill>
          <a:ln w="12700">
            <a:solidFill>
              <a:srgbClr val="006633"/>
            </a:solidFill>
            <a:prstDash val="solid"/>
          </a:ln>
        </p:spPr>
        <p:txBody>
          <a:bodyPr/>
          <a:lstStyle/>
          <a:p>
            <a:endParaRPr lang="es-US"/>
          </a:p>
        </p:txBody>
      </p:sp>
      <p:sp>
        <p:nvSpPr>
          <p:cNvPr id="3" name="Shape 1"/>
          <p:cNvSpPr/>
          <p:nvPr/>
        </p:nvSpPr>
        <p:spPr>
          <a:xfrm>
            <a:off x="0" y="2011680"/>
            <a:ext cx="12188952" cy="73152"/>
          </a:xfrm>
          <a:prstGeom prst="rect">
            <a:avLst/>
          </a:prstGeom>
          <a:solidFill>
            <a:srgbClr val="B8860B"/>
          </a:solidFill>
          <a:ln w="12700">
            <a:solidFill>
              <a:srgbClr val="B8860B"/>
            </a:solidFill>
            <a:prstDash val="solid"/>
          </a:ln>
        </p:spPr>
        <p:txBody>
          <a:bodyPr/>
          <a:lstStyle/>
          <a:p>
            <a:endParaRPr lang="es-US"/>
          </a:p>
        </p:txBody>
      </p:sp>
      <p:sp>
        <p:nvSpPr>
          <p:cNvPr id="4" name="Text 2"/>
          <p:cNvSpPr/>
          <p:nvPr/>
        </p:nvSpPr>
        <p:spPr>
          <a:xfrm>
            <a:off x="457200" y="274320"/>
            <a:ext cx="11338560" cy="457200"/>
          </a:xfrm>
          <a:prstGeom prst="rect">
            <a:avLst/>
          </a:prstGeom>
          <a:noFill/>
          <a:ln/>
        </p:spPr>
        <p:txBody>
          <a:bodyPr wrap="square" rtlCol="0" anchor="ctr"/>
          <a:lstStyle/>
          <a:p>
            <a:pPr marL="0" indent="0" algn="ctr">
              <a:buNone/>
            </a:pPr>
            <a:r>
              <a:rPr lang="en-US" sz="1600" dirty="0">
                <a:solidFill>
                  <a:srgbClr val="FBF2D9"/>
                </a:solidFill>
                <a:latin typeface="Calibri" pitchFamily="34" charset="0"/>
                <a:ea typeface="Calibri" pitchFamily="34" charset="-122"/>
                <a:cs typeface="Calibri" pitchFamily="34" charset="-120"/>
              </a:rPr>
              <a:t>Fin de la continuacion</a:t>
            </a:r>
            <a:endParaRPr lang="en-US" sz="1600" dirty="0"/>
          </a:p>
        </p:txBody>
      </p:sp>
      <p:sp>
        <p:nvSpPr>
          <p:cNvPr id="5" name="Text 3"/>
          <p:cNvSpPr/>
          <p:nvPr/>
        </p:nvSpPr>
        <p:spPr>
          <a:xfrm>
            <a:off x="457200" y="777240"/>
            <a:ext cx="11338560" cy="7772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Angular 22 --- listo para produccion</a:t>
            </a:r>
            <a:endParaRPr lang="en-US" sz="3200" dirty="0"/>
          </a:p>
        </p:txBody>
      </p:sp>
      <p:sp>
        <p:nvSpPr>
          <p:cNvPr id="6" name="Shape 4"/>
          <p:cNvSpPr/>
          <p:nvPr/>
        </p:nvSpPr>
        <p:spPr>
          <a:xfrm>
            <a:off x="731520" y="2560320"/>
            <a:ext cx="10725912" cy="2377440"/>
          </a:xfrm>
          <a:prstGeom prst="roundRect">
            <a:avLst>
              <a:gd name="adj" fmla="val 3846"/>
            </a:avLst>
          </a:prstGeom>
          <a:solidFill>
            <a:srgbClr val="F4F6F5"/>
          </a:solidFill>
          <a:ln w="15240">
            <a:solidFill>
              <a:srgbClr val="006633"/>
            </a:solidFill>
            <a:prstDash val="solid"/>
          </a:ln>
        </p:spPr>
        <p:txBody>
          <a:bodyPr/>
          <a:lstStyle/>
          <a:p>
            <a:endParaRPr lang="es-US"/>
          </a:p>
        </p:txBody>
      </p:sp>
      <p:sp>
        <p:nvSpPr>
          <p:cNvPr id="7" name="Text 5"/>
          <p:cNvSpPr/>
          <p:nvPr/>
        </p:nvSpPr>
        <p:spPr>
          <a:xfrm>
            <a:off x="914400" y="2651760"/>
            <a:ext cx="10332720" cy="365760"/>
          </a:xfrm>
          <a:prstGeom prst="rect">
            <a:avLst/>
          </a:prstGeom>
          <a:noFill/>
          <a:ln/>
        </p:spPr>
        <p:txBody>
          <a:bodyPr wrap="square" rtlCol="0" anchor="ctr"/>
          <a:lstStyle/>
          <a:p>
            <a:pPr marL="0" indent="0">
              <a:buNone/>
            </a:pPr>
            <a:r>
              <a:rPr lang="en-US" sz="1600" b="1" dirty="0">
                <a:solidFill>
                  <a:srgbClr val="0B3D24"/>
                </a:solidFill>
                <a:latin typeface="Calibri" pitchFamily="34" charset="0"/>
                <a:ea typeface="Calibri" pitchFamily="34" charset="-122"/>
                <a:cs typeface="Calibri" pitchFamily="34" charset="-120"/>
              </a:rPr>
              <a:t>Que se logro con esta continuacion</a:t>
            </a:r>
            <a:endParaRPr lang="en-US" sz="1600" dirty="0"/>
          </a:p>
        </p:txBody>
      </p:sp>
      <p:sp>
        <p:nvSpPr>
          <p:cNvPr id="8" name="Text 6"/>
          <p:cNvSpPr/>
          <p:nvPr/>
        </p:nvSpPr>
        <p:spPr>
          <a:xfrm>
            <a:off x="914400" y="3063240"/>
            <a:ext cx="10332720" cy="1828800"/>
          </a:xfrm>
          <a:prstGeom prst="rect">
            <a:avLst/>
          </a:prstGeom>
          <a:noFill/>
          <a:ln/>
        </p:spPr>
        <p:txBody>
          <a:bodyPr wrap="square" rtlCol="0" anchor="t"/>
          <a:lstStyle/>
          <a:p>
            <a:pPr marL="0" indent="0">
              <a:buNone/>
            </a:pPr>
            <a:r>
              <a:rPr lang="en-US" sz="1400" b="1" dirty="0">
                <a:solidFill>
                  <a:srgbClr val="B8860B"/>
                </a:solidFill>
                <a:latin typeface="Calibri" pitchFamily="34" charset="0"/>
                <a:ea typeface="Calibri" pitchFamily="34" charset="-122"/>
                <a:cs typeface="Calibri" pitchFamily="34" charset="-120"/>
              </a:rPr>
              <a:t>1.  </a:t>
            </a:r>
            <a:r>
              <a:rPr lang="en-US" sz="1400" dirty="0">
                <a:solidFill>
                  <a:srgbClr val="383A42"/>
                </a:solidFill>
                <a:latin typeface="Calibri" pitchFamily="34" charset="0"/>
                <a:ea typeface="Calibri" pitchFamily="34" charset="-122"/>
                <a:cs typeface="Calibri" pitchFamily="34" charset="-120"/>
              </a:rPr>
              <a:t>Formularios con Signal Forms, validacion declarativa y submit tipado.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2.  </a:t>
            </a:r>
            <a:r>
              <a:rPr lang="en-US" sz="1400" dirty="0">
                <a:solidFill>
                  <a:srgbClr val="383A42"/>
                </a:solidFill>
                <a:latin typeface="Calibri" pitchFamily="34" charset="0"/>
                <a:ea typeface="Calibri" pitchFamily="34" charset="-122"/>
                <a:cs typeface="Calibri" pitchFamily="34" charset="-120"/>
              </a:rPr>
              <a:t>Estado del componente con signals, computed y effect.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3.  </a:t>
            </a:r>
            <a:r>
              <a:rPr lang="en-US" sz="1400" dirty="0">
                <a:solidFill>
                  <a:srgbClr val="383A42"/>
                </a:solidFill>
                <a:latin typeface="Calibri" pitchFamily="34" charset="0"/>
                <a:ea typeface="Calibri" pitchFamily="34" charset="-122"/>
                <a:cs typeface="Calibri" pitchFamily="34" charset="-120"/>
              </a:rPr>
              <a:t>Rutas con guards funcionales y lazy loading por seccion.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4.  </a:t>
            </a:r>
            <a:r>
              <a:rPr lang="en-US" sz="1400" dirty="0">
                <a:solidFill>
                  <a:srgbClr val="383A42"/>
                </a:solidFill>
                <a:latin typeface="Calibri" pitchFamily="34" charset="0"/>
                <a:ea typeface="Calibri" pitchFamily="34" charset="-122"/>
                <a:cs typeface="Calibri" pitchFamily="34" charset="-120"/>
              </a:rPr>
              <a:t>Pruebas unitarias con Vitest para servicios y componentes.
</a:t>
            </a:r>
            <a:endParaRPr lang="en-US" sz="1400" dirty="0"/>
          </a:p>
          <a:p>
            <a:pPr marL="0" indent="0">
              <a:buNone/>
            </a:pPr>
            <a:r>
              <a:rPr lang="en-US" sz="1400" b="1" dirty="0">
                <a:solidFill>
                  <a:srgbClr val="B8860B"/>
                </a:solidFill>
                <a:latin typeface="Calibri" pitchFamily="34" charset="0"/>
                <a:ea typeface="Calibri" pitchFamily="34" charset="-122"/>
                <a:cs typeface="Calibri" pitchFamily="34" charset="-120"/>
              </a:rPr>
              <a:t>5.  </a:t>
            </a:r>
            <a:r>
              <a:rPr lang="en-US" sz="1400" dirty="0">
                <a:solidFill>
                  <a:srgbClr val="383A42"/>
                </a:solidFill>
                <a:latin typeface="Calibri" pitchFamily="34" charset="0"/>
                <a:ea typeface="Calibri" pitchFamily="34" charset="-122"/>
                <a:cs typeface="Calibri" pitchFamily="34" charset="-120"/>
              </a:rPr>
              <a:t>Despliegue con Dockerfile multi-stage y nginx enfrente de la API.</a:t>
            </a:r>
            <a:endParaRPr lang="en-US" sz="1400" dirty="0"/>
          </a:p>
        </p:txBody>
      </p:sp>
      <p:sp>
        <p:nvSpPr>
          <p:cNvPr id="9" name="Shape 7"/>
          <p:cNvSpPr/>
          <p:nvPr/>
        </p:nvSpPr>
        <p:spPr>
          <a:xfrm>
            <a:off x="731520" y="5120640"/>
            <a:ext cx="10725912" cy="1188720"/>
          </a:xfrm>
          <a:prstGeom prst="roundRect">
            <a:avLst>
              <a:gd name="adj" fmla="val 7692"/>
            </a:avLst>
          </a:prstGeom>
          <a:solidFill>
            <a:srgbClr val="FBF2D9"/>
          </a:solidFill>
          <a:ln w="15240">
            <a:solidFill>
              <a:srgbClr val="B8860B"/>
            </a:solidFill>
            <a:prstDash val="solid"/>
          </a:ln>
        </p:spPr>
        <p:txBody>
          <a:bodyPr/>
          <a:lstStyle/>
          <a:p>
            <a:endParaRPr lang="es-US"/>
          </a:p>
        </p:txBody>
      </p:sp>
      <p:sp>
        <p:nvSpPr>
          <p:cNvPr id="10" name="Text 8"/>
          <p:cNvSpPr/>
          <p:nvPr/>
        </p:nvSpPr>
        <p:spPr>
          <a:xfrm>
            <a:off x="914400" y="5212080"/>
            <a:ext cx="10332720" cy="320040"/>
          </a:xfrm>
          <a:prstGeom prst="rect">
            <a:avLst/>
          </a:prstGeom>
          <a:noFill/>
          <a:ln/>
        </p:spPr>
        <p:txBody>
          <a:bodyPr wrap="square" rtlCol="0" anchor="ctr"/>
          <a:lstStyle/>
          <a:p>
            <a:pPr marL="0" indent="0">
              <a:buNone/>
            </a:pPr>
            <a:r>
              <a:rPr lang="en-US" sz="1500" b="1" dirty="0">
                <a:solidFill>
                  <a:srgbClr val="B8860B"/>
                </a:solidFill>
                <a:latin typeface="Calibri" pitchFamily="34" charset="0"/>
                <a:ea typeface="Calibri" pitchFamily="34" charset="-122"/>
                <a:cs typeface="Calibri" pitchFamily="34" charset="-120"/>
              </a:rPr>
              <a:t>Que sigue en la Unidad IV</a:t>
            </a:r>
            <a:endParaRPr lang="en-US" sz="1500" dirty="0"/>
          </a:p>
        </p:txBody>
      </p:sp>
      <p:sp>
        <p:nvSpPr>
          <p:cNvPr id="11" name="Text 9"/>
          <p:cNvSpPr/>
          <p:nvPr/>
        </p:nvSpPr>
        <p:spPr>
          <a:xfrm>
            <a:off x="914400" y="5532120"/>
            <a:ext cx="10332720" cy="777240"/>
          </a:xfrm>
          <a:prstGeom prst="rect">
            <a:avLst/>
          </a:prstGeom>
          <a:noFill/>
          <a:ln/>
        </p:spPr>
        <p:txBody>
          <a:bodyPr wrap="square" rtlCol="0" anchor="t"/>
          <a:lstStyle/>
          <a:p>
            <a:pPr marL="0" indent="0">
              <a:buNone/>
            </a:pPr>
            <a:r>
              <a:rPr lang="en-US" sz="1300" i="1" dirty="0">
                <a:solidFill>
                  <a:srgbClr val="383A42"/>
                </a:solidFill>
                <a:latin typeface="Calibri" pitchFamily="34" charset="0"/>
                <a:ea typeface="Calibri" pitchFamily="34" charset="-122"/>
                <a:cs typeface="Calibri" pitchFamily="34" charset="-120"/>
              </a:rPr>
              <a:t>Documentacion OpenAPI/Swagger, consumo de servicios externos, monitoreo en produccion y defensa final del PFC.</a:t>
            </a:r>
            <a:endParaRPr lang="en-US" sz="1300" dirty="0"/>
          </a:p>
        </p:txBody>
      </p:sp>
      <p:sp>
        <p:nvSpPr>
          <p:cNvPr id="12" name="Text 10"/>
          <p:cNvSpPr/>
          <p:nvPr/>
        </p:nvSpPr>
        <p:spPr>
          <a:xfrm>
            <a:off x="457200" y="6446520"/>
            <a:ext cx="11338560" cy="320040"/>
          </a:xfrm>
          <a:prstGeom prst="rect">
            <a:avLst/>
          </a:prstGeom>
          <a:noFill/>
          <a:ln/>
        </p:spPr>
        <p:txBody>
          <a:bodyPr wrap="square" rtlCol="0" anchor="ctr"/>
          <a:lstStyle/>
          <a:p>
            <a:pPr marL="0" indent="0" algn="ctr">
              <a:buNone/>
            </a:pPr>
            <a:r>
              <a:rPr lang="en-US" sz="1100" i="1" dirty="0">
                <a:solidFill>
                  <a:srgbClr val="383A42"/>
                </a:solidFill>
                <a:latin typeface="Calibri" pitchFamily="34" charset="0"/>
                <a:ea typeface="Calibri" pitchFamily="34" charset="-122"/>
                <a:cs typeface="Calibri" pitchFamily="34" charset="-120"/>
              </a:rPr>
              <a:t>Dr. Gleiston Ciceron Guerrero Ulloa, Ph.D.  |  gguerrero@uteq.edu.ec</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6633"/>
          </a:solidFill>
          <a:ln w="12700">
            <a:solidFill>
              <a:srgbClr val="006633"/>
            </a:solidFill>
            <a:prstDash val="solid"/>
          </a:ln>
        </p:spPr>
        <p:txBody>
          <a:bodyPr/>
          <a:lstStyle/>
          <a:p>
            <a:endParaRPr lang="es-US"/>
          </a:p>
        </p:txBody>
      </p:sp>
      <p:sp>
        <p:nvSpPr>
          <p:cNvPr id="3" name="Text 1"/>
          <p:cNvSpPr/>
          <p:nvPr/>
        </p:nvSpPr>
        <p:spPr>
          <a:xfrm>
            <a:off x="457200" y="2286000"/>
            <a:ext cx="11338560" cy="1097280"/>
          </a:xfrm>
          <a:prstGeom prst="rect">
            <a:avLst/>
          </a:prstGeom>
          <a:noFill/>
          <a:ln/>
        </p:spPr>
        <p:txBody>
          <a:bodyPr wrap="square"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Preguntas</a:t>
            </a:r>
            <a:endParaRPr lang="en-US" sz="8000" dirty="0"/>
          </a:p>
        </p:txBody>
      </p:sp>
      <p:sp>
        <p:nvSpPr>
          <p:cNvPr id="4" name="Shape 2"/>
          <p:cNvSpPr/>
          <p:nvPr/>
        </p:nvSpPr>
        <p:spPr>
          <a:xfrm>
            <a:off x="5175504" y="3474720"/>
            <a:ext cx="1828800" cy="0"/>
          </a:xfrm>
          <a:prstGeom prst="line">
            <a:avLst/>
          </a:prstGeom>
          <a:noFill/>
          <a:ln w="50800">
            <a:solidFill>
              <a:srgbClr val="B8860B"/>
            </a:solidFill>
            <a:prstDash val="solid"/>
          </a:ln>
        </p:spPr>
        <p:txBody>
          <a:bodyPr/>
          <a:lstStyle/>
          <a:p>
            <a:endParaRPr lang="es-US"/>
          </a:p>
        </p:txBody>
      </p:sp>
      <p:sp>
        <p:nvSpPr>
          <p:cNvPr id="5" name="Text 3"/>
          <p:cNvSpPr/>
          <p:nvPr/>
        </p:nvSpPr>
        <p:spPr>
          <a:xfrm>
            <a:off x="457200" y="3931920"/>
            <a:ext cx="11338560" cy="365760"/>
          </a:xfrm>
          <a:prstGeom prst="rect">
            <a:avLst/>
          </a:prstGeom>
          <a:noFill/>
          <a:ln/>
        </p:spPr>
        <p:txBody>
          <a:bodyPr wrap="square" rtlCol="0" anchor="ctr"/>
          <a:lstStyle/>
          <a:p>
            <a:pPr marL="0" indent="0" algn="ctr">
              <a:buNone/>
            </a:pPr>
            <a:r>
              <a:rPr lang="en-US" sz="1800" i="1" dirty="0">
                <a:solidFill>
                  <a:srgbClr val="FBF2D9"/>
                </a:solidFill>
                <a:latin typeface="Calibri" pitchFamily="34" charset="0"/>
                <a:ea typeface="Calibri" pitchFamily="34" charset="-122"/>
                <a:cs typeface="Calibri" pitchFamily="34" charset="-120"/>
              </a:rPr>
              <a:t>Aplicaciones Web  --- UTEQ  ---  PPA 2026-2027</a:t>
            </a:r>
            <a:endParaRPr lang="en-US" sz="1800" dirty="0"/>
          </a:p>
        </p:txBody>
      </p:sp>
      <p:sp>
        <p:nvSpPr>
          <p:cNvPr id="6" name="Text 4"/>
          <p:cNvSpPr/>
          <p:nvPr/>
        </p:nvSpPr>
        <p:spPr>
          <a:xfrm>
            <a:off x="457200" y="4434840"/>
            <a:ext cx="11338560" cy="320040"/>
          </a:xfrm>
          <a:prstGeom prst="rect">
            <a:avLst/>
          </a:prstGeom>
          <a:noFill/>
          <a:ln/>
        </p:spPr>
        <p:txBody>
          <a:bodyPr wrap="square" rtlCol="0" anchor="ctr"/>
          <a:lstStyle/>
          <a:p>
            <a:pPr marL="0" indent="0" algn="ctr">
              <a:buNone/>
            </a:pPr>
            <a:r>
              <a:rPr lang="en-US" sz="1300" dirty="0">
                <a:solidFill>
                  <a:srgbClr val="FBF2D9"/>
                </a:solidFill>
                <a:latin typeface="Calibri" pitchFamily="34" charset="0"/>
                <a:ea typeface="Calibri" pitchFamily="34" charset="-122"/>
                <a:cs typeface="Calibri" pitchFamily="34" charset="-120"/>
              </a:rPr>
              <a:t>Dr. Gleiston Ciceron Guerrero Ulloa, Ph.D.  ---  gguerrero@uteq.edu.ec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10796</Words>
  <Application>Microsoft Office PowerPoint</Application>
  <PresentationFormat>Panorámica</PresentationFormat>
  <Paragraphs>803</Paragraphs>
  <Slides>40</Slides>
  <Notes>40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40</vt:i4>
      </vt:variant>
    </vt:vector>
  </HeadingPairs>
  <TitlesOfParts>
    <vt:vector size="45"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Ingenieria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22 (2) --- Formularios, Guards, Signals, Testing y Despliegue</dc:title>
  <dc:subject>Aplicaciones Web --- Unidad IV --- Continuacion</dc:subject>
  <dc:creator>Dr. Gleiston Ciceron Guerrero Ulloa, Ph.D.</dc:creator>
  <cp:lastModifiedBy>GLEISTON CICERÓN GUERRERO ULLOA</cp:lastModifiedBy>
  <cp:revision>2</cp:revision>
  <dcterms:created xsi:type="dcterms:W3CDTF">2026-07-06T15:11:23Z</dcterms:created>
  <dcterms:modified xsi:type="dcterms:W3CDTF">2026-07-10T11:53:51Z</dcterms:modified>
</cp:coreProperties>
</file>