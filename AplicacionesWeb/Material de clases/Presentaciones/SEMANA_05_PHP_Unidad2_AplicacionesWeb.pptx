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Esta presentacion resume la guia de PHP para aplicaciones web. El recorrido va del primer script hasta un CRUD completo conectado a PostgreSQL, con validacion, seguridad y sesiones, y termina con los frameworks Laravel y Symfony. La idea es construir entendiendo cada pieza, para luego aprovechar bien un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guia tiene cuatro bloques. Primero, fundamentos del lenguaje y web dinamica: sintaxis, tipos, formularios, validacion y escapado. Segundo, organizacion del codigo y programacion orientada a objetos. Tercero, datos seguros: sesiones, login con hash y acceso a la base con PDO y sentencias preparadas. Y cuarto, el proyecto integrador CRUD con seguridad, mas una introduccion a Laravel y Symfony. Construimos a mano para entender, y luego vemos como el framework lo agiliza.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dos formas de ejecutar PHP. La mas rapida para practicar es el servidor embebido: desde la carpeta del proyecto, php guion S localhost dos puntos 8000, y se abre esa direccion. La otra es XAMPP con Apache: se copia el proyecto a htdocs, se arranca Apache y se abre localhost barra proyecto. El archivo info.php con phpinfo confirma la version y las extensiones, como pdo_pgsql. Y un aviso practico: si aparece Not Found pese a estar en htdocs, casi siempre es la extension oculta -el archivo es index.php.txt- o un nombre que no coincide con la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codigo PHP se escribe entre las etiquetas de apertura y cierre. Todo lo que esta fuera se envia al navegador tal cual, como HTML; lo de dentro se ejecuta. echo muestra texto y cada sentencia termina en punto y coma. Un detalle de buena practica: en archivos que son solo PHP, se omite la etiqueta de cierre final para evitar espacios accidentales en la salida.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punto que confunde a quien viene de Java o C. En PHP no se escribe int x; las variables empiezan por dolar y no llevan tipo delante; PHP deduce el tipo del valor. Es tipado dinamico: la misma variable puede ser primero un entero y luego una cadena. Importante: que no se declare no significa que PHP no tenga tipos; si los tiene, pero pertenecen al valor. Y el tipo si se declara en tres lugares: parametros y retorno de funciones, propiedades de clase -lo mas parecido a int x; pero con dolar y dentro de la clase- y con declare strict_types.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entre comillas es fuente de errores. Las comillas dobles interpolan: dentro de ellas, dolar n se reemplaza por el valor de la variable. Las comillas simples son literales: muestran dolar n tal cual. Esto importa especialmente con datos que contienen el simbolo dolar, como ciertas contrasenas: deben ir en comillas simples para que no se interpreten como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 tiene los condicionales clasicos if, else y switch. La novedad util es match, de PHP 8: a diferencia de switch, match devuelve un valor y compara de forma estricta, sin conversiones de tipo. Es mas conciso y seguro para asignar un valor segun varios casos. Para los bucles estan for, while y, sobre todo, foreach, que es la forma idiomatica de recorrer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PHP el array es una estructura muy flexible. Puede ser indexado, con claves numericas, o asociativo, que asocia una clave de texto a un valor. El asociativo es el que mas usaras: representa filas de la base, datos de un formulario, configuraciones. Se recorre con foreach, obteniendo clave y valor. De hecho, los datos que llegan de un formulario llegan en un array asociativo.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Aunque las variables sueltas no llevan tipo, en las funciones si conviene declararlo: el tipo de cada parametro y el tipo de retorno tras los dos puntos. Esto documenta y previene errores. La funcion flecha, fn de equis a equis por dos, es una forma breve de escribir funciones pequenas. Y declare strict_types igual a uno, al inicio del archivo, activa el modo estricto: PHP deja de convertir tipos automaticamente, asi que los errores aparecen antes y mas claros.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de un formulario llegan al servidor en el array asociativo dolar guion POST. Se leen por su nombre, usando el operador de fusion de null para evitar avisos si falta el campo. Para validar se usa filter_var con filtros como FILTER_VALIDATE_EMAIL, que comprueba que el correo tenga forma valida. La regla de oro: validar siempre en el servidor; la validacion del navegador es comodidad para el usuario, no una medida de seguridad, porque se puede saltar.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muestras en una pagina un dato que vino del usuario, debes escaparlo con htmlspecialchars: convierte caracteres como menor que, mayor que o comillas en entidades inofensivas. Si no lo haces, alguien podria inyectar codigo -un ataque XSS-. Y una buena practica de organizacion: estructura cada pagina con la logica arriba -consultas y validaciones- y la presentacion HTML abajo, usando ya los datos preparados. Asi el archivo se lee facil y no mezclas logica con diseno.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medida que el proyecto crece, conviene no repetir codigo. Con require o include traes otro archivo donde lo necesites, por ejemplo la conexion a la base o una vista. Los namespaces agrupan las clases en espacios de nombres y evitan que dos clases con el mismo nombre choquen. Y Composer, el gestor de dependencias de PHP, usa el estandar PSR-4 para autocargar tus clases sin que tengas que incluir cada archivo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 moderno gestiona los errores con excepciones. El bloque try contiene el codigo que podria fallar; el catch captura la excepcion y reacciona. Es tipico envolver el acceso a la base, porque PDO lanza PDOException si algo va mal. Capturar la excepcion te permite mostrar un mensaje controlado o registrar el fallo, en vez de que el programa se caiga con un error feo.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programacion orientada a objetos, una clase modela datos y comportamiento. PHP 8 trae la promocion de propiedades en el constructor: en lugar de declarar cada atributo y luego asignarlo, lo haces en una sola linea anteponiendo el modificador y el tipo al parametro. Fijate que aqui si se declaran tipos -string nombre, string correo- porque son propiedades de clase. El resultado es mucho menos codigo repetido.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herramientas clave de la POO. La interfaz es un contrato: define que metodos debe tener una clase, sin implementarlos; programar contra interfaces hace el codigo flexible. El enum, desde PHP 8.1, representa un conjunto fijo de valores validos, como estados o roles, y evita usar cadenas sueltas. Y la inyeccion de dependencias: en vez de que una clase cree por dentro lo que necesita, lo recibe por el constructor; eso la desacopla y la hace facil de probar.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HTTP no recuerda al usuario, usamos sesiones. session_start al inicio de cada pagina habilita la sesion, un almacen en el servidor por visitante. Para el login, regla critica: nunca se guarda la contrasena en claro; se guarda un hash con password_hash, y al entrar se compara con password_verify. Si coincide, guardamos al usuario en la sesion y queda autenticado. Y tras una accion que modifica datos conviene redirigir -patron PRG- para que recargar la pagina no repita la operacion.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PDO es la forma moderna y portable de acceder a bases de datos en PHP. La conexion se crea con un DSN que indica el motor, el host, el puerto y la base, mas el usuario y la clave. Dos detalles importantes: la clave con simbolo dolar va en comillas simples para que PHP no la interprete como variable; y conviene configurar el modo de error a excepciones, para que cualquier fallo lance una PDOException que podemos capturar. Esta conexion vive en su propio archivo, config db.php, para reutilizarla.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corazon del acceso a datos son las sentencias preparadas. Para crear, actualizar o borrar, se usa prepare con marcadores interrogante y luego execute pasando los valores en un array. El motor trata esos valores como datos, nunca como codigo: es la defensa contra la inyeccion SQL. Para leer, query mas fetchAll devuelve las filas. La regla absoluta: nunca concatenar datos del usuario dentro del SQL; siempre marcadores con prepare y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varias operaciones deben tener exito o fracasar como un bloque -por ejemplo, insertar una carrera y sus estudiantes-, se agrupan en una transaccion. Se inicia con beginTransaction, se ejecutan las operaciones y, si todo va bien, commit las confirma. Si algo falla, en el catch se hace rollBack y se deshace todo. Asi la base nunca queda a medias.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integrador reune todo en un CRUD de estudiantes. La estructura es minima y clara: la conexion en config db.php y el punto de entrada index.php. Asi funciona: todo entra por index.php, que primero incluye la conexion y luego decide segun la peticion. Si es POST, valida, inserta y redirige -patron PRG-. Si llega eliminar con un id, borra y redirige. En cualquier otro caso, consulta la lista y la muestra en una tabla. Todo se inserta con sentencias preparadas y se muestra escapado. Con dos archivos tienes un CRUD completo y seguro.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defensas que deben estar siempre. Contra la inyeccion SQL: nunca concatenar datos en la consulta, siempre sentencias preparadas. Contra el XSS: escapar toda salida que venga del usuario con htmlspecialchars antes de mostrarla. Y contra el CSRF -peticiones falsificadas-: poner un token unico por formulario, guardado en la sesion, y verificarlo al recibir el envio con hash_equals, que compara de forma segura. La idea de fondo: la seguridad no es un paso final, se aplica en cada consulta y en cada salida desde el primer 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PHPUnit es el estandar de pruebas en PHP. Una prueba es un metodo que ejecuta tu codigo y comprueba el resultado con aserciones como assertSame. Las pruebas automatizadas verifican que el codigo hace lo que debe y, sobre todo, que sigue funcionando despues de cada cambio. Conviene empezar probando la logica pura -funciones y servicios sin base de datos-, que es la mas facil de comprobar, y luego ampliar.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frameworks PHP mas usados son Laravel y Symfony. Laravel es rapido y expresivo, ideal para entregar pronto; usa el ORM Eloquent, de estilo Active Record, y plantillas Blade. Symfony es mas modular y configurable, fuerte en proyectos grandes; usa Doctrine, de estilo Data Mapper, y plantillas Twig. Ambos resuelven, ya hechos, los problemas que abordamos a mano: rutas, controladores, ORM para los datos, plantillas para las vistas, validacion y seguridad. Por eso era valioso entender primero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se ve la misma idea en ambos. En Laravel, defines la ruta hacia un controlador y, con el modelo Eloquent, obtienes el CRUD casi gratis: Estudiante::all para listar, Estudiante::create para guardar. En Symfony, la ruta se declara con un atributo sobre el metodo del controlador, y el repositorio de Doctrine te da findAll y demas; la entidad se mapea con atributos. En los dos casos, reconoces el controlador, el modelo y la vista que ya conoces, pero con mucho menos codigo repetitivo.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las buenas practicas que recorren toda la guia. Activa el tipado estricto y declara tipos en funciones y propiedades. Valida toda entrada en el servidor y escapa toda salida con htmlspecialchars. Accede a la base siempre con PDO y sentencias preparadas. Organiza el codigo por capas, separando logica y presentacion. Y domina primero la base; luego elige framework segun el proyecto: Laravel para entregar rapido, Symfony para sistemas grandes. Lo que distingue a un buen desarrollador no es la herramienta, sino los habitos: validar, escapar, preparar.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seguir aprendiendo, estos son los recursos de referencia mas fiables: el manual oficial de PHP en espanol, que es excelente; la documentacion de PDO para el acceso a datos; Composer para dependencias; la documentacion de Laravel y de Symfony; y la de PostgreSQL. Recomienden siempre apoyarse en la documentacion oficial antes que en tutoriales sueltos.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Hemos recorrido PHP desde el primer echo hasta un CRUD completo y seguro, pasando por los tipos, la POO, las sesiones, el acceso a datos con PDO y la seguridad. Ahora entienden cada pieza y, por eso, estan listos para aprovechar de verdad un framework como Laravel o Symfony. Gracias, y abrimos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357"/>
        </a:solidFill>
      </p:bgPr>
    </p:bg>
    <p:spTree>
      <p:nvGrpSpPr>
        <p:cNvPr id="1" name=""/>
        <p:cNvGrpSpPr/>
        <p:nvPr/>
      </p:nvGrpSpPr>
      <p:grpSpPr>
        <a:xfrm>
          <a:off x="0" y="0"/>
          <a:ext cx="0" cy="0"/>
          <a:chOff x="0" y="0"/>
          <a:chExt cx="0" cy="0"/>
        </a:xfrm>
      </p:grpSpPr>
      <p:sp>
        <p:nvSpPr>
          <p:cNvPr id="2" name="Text 0"/>
          <p:cNvSpPr/>
          <p:nvPr/>
        </p:nvSpPr>
        <p:spPr>
          <a:xfrm>
            <a:off x="548640" y="1828800"/>
            <a:ext cx="804672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Guía de PHP para Aplicaciones Web</a:t>
            </a:r>
            <a:endParaRPr lang="en-US" sz="4000" dirty="0"/>
          </a:p>
        </p:txBody>
      </p:sp>
      <p:sp>
        <p:nvSpPr>
          <p:cNvPr id="3" name="Text 1"/>
          <p:cNvSpPr/>
          <p:nvPr/>
        </p:nvSpPr>
        <p:spPr>
          <a:xfrm>
            <a:off x="548640" y="3200400"/>
            <a:ext cx="8046720" cy="914400"/>
          </a:xfrm>
          <a:prstGeom prst="rect">
            <a:avLst/>
          </a:prstGeom>
          <a:noFill/>
          <a:ln/>
        </p:spPr>
        <p:txBody>
          <a:bodyPr wrap="square" lIns="0" tIns="0" rIns="0" bIns="0" rtlCol="0" anchor="ctr"/>
          <a:lstStyle/>
          <a:p>
            <a:pPr indent="0" marL="0">
              <a:buNone/>
            </a:pPr>
            <a:r>
              <a:rPr lang="en-US" sz="1600" dirty="0">
                <a:solidFill>
                  <a:srgbClr val="C7CBE0"/>
                </a:solidFill>
                <a:latin typeface="Calibri" pitchFamily="34" charset="0"/>
                <a:ea typeface="Calibri" pitchFamily="34" charset="-122"/>
                <a:cs typeface="Calibri" pitchFamily="34" charset="-120"/>
              </a:rPr>
              <a:t>Del primer script a un CRUD completo, con seguridad y frameworks</a:t>
            </a:r>
            <a:endParaRPr lang="en-US" sz="1600" dirty="0"/>
          </a:p>
        </p:txBody>
      </p:sp>
      <p:sp>
        <p:nvSpPr>
          <p:cNvPr id="4" name="Text 2"/>
          <p:cNvSpPr/>
          <p:nvPr/>
        </p:nvSpPr>
        <p:spPr>
          <a:xfrm>
            <a:off x="548640" y="4114800"/>
            <a:ext cx="8046720" cy="365760"/>
          </a:xfrm>
          <a:prstGeom prst="rect">
            <a:avLst/>
          </a:prstGeom>
          <a:noFill/>
          <a:ln/>
        </p:spPr>
        <p:txBody>
          <a:bodyPr wrap="square" lIns="0" tIns="0" rIns="0" bIns="0" rtlCol="0" anchor="ctr"/>
          <a:lstStyle/>
          <a:p>
            <a:pPr indent="0" marL="0">
              <a:buNone/>
            </a:pPr>
            <a:r>
              <a:rPr lang="en-US" sz="1300" dirty="0">
                <a:solidFill>
                  <a:srgbClr val="AFB4D0"/>
                </a:solidFill>
                <a:latin typeface="Calibri" pitchFamily="34" charset="0"/>
                <a:ea typeface="Calibri" pitchFamily="34" charset="-122"/>
                <a:cs typeface="Calibri" pitchFamily="34" charset="-120"/>
              </a:rPr>
              <a:t>Fundamentos · POO · Sesiones · PDO/PostgreSQL · Seguridad · Laravel y Symfony</a:t>
            </a:r>
            <a:endParaRPr lang="en-US" sz="1300" dirty="0"/>
          </a:p>
        </p:txBody>
      </p:sp>
      <p:sp>
        <p:nvSpPr>
          <p:cNvPr id="5" name="Text 3"/>
          <p:cNvSpPr/>
          <p:nvPr/>
        </p:nvSpPr>
        <p:spPr>
          <a:xfrm>
            <a:off x="548640" y="4572000"/>
            <a:ext cx="8046720" cy="274320"/>
          </a:xfrm>
          <a:prstGeom prst="rect">
            <a:avLst/>
          </a:prstGeom>
          <a:noFill/>
          <a:ln/>
        </p:spPr>
        <p:txBody>
          <a:bodyPr wrap="square" lIns="0" tIns="0" rIns="0" bIns="0" rtlCol="0" anchor="ctr"/>
          <a:lstStyle/>
          <a:p>
            <a:pPr indent="0" marL="0">
              <a:buNone/>
            </a:pPr>
            <a:r>
              <a:rPr lang="en-US" sz="1100" dirty="0">
                <a:solidFill>
                  <a:srgbClr val="8E93B4"/>
                </a:solidFill>
                <a:latin typeface="Calibri" pitchFamily="34" charset="0"/>
                <a:ea typeface="Calibri" pitchFamily="34" charset="-122"/>
                <a:cs typeface="Calibri" pitchFamily="34" charset="-120"/>
              </a:rPr>
              <a:t>UTEQ · Aplicaciones Web · Dr. Gleiston Guerrero Ulloa, Ph.D.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DE QUÉ TRATA</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Lo que vamos a construir</a:t>
            </a:r>
            <a:endParaRPr lang="en-US" sz="3000" dirty="0"/>
          </a:p>
        </p:txBody>
      </p:sp>
      <p:sp>
        <p:nvSpPr>
          <p:cNvPr id="4" name="Shape 2"/>
          <p:cNvSpPr/>
          <p:nvPr/>
        </p:nvSpPr>
        <p:spPr>
          <a:xfrm>
            <a:off x="548640" y="1691640"/>
            <a:ext cx="3931920" cy="1371600"/>
          </a:xfrm>
          <a:prstGeom prst="roundRect">
            <a:avLst>
              <a:gd name="adj" fmla="val 5333"/>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31520" y="1837944"/>
            <a:ext cx="3566160" cy="365760"/>
          </a:xfrm>
          <a:prstGeom prst="rect">
            <a:avLst/>
          </a:prstGeom>
          <a:noFill/>
          <a:ln/>
        </p:spPr>
        <p:txBody>
          <a:bodyPr wrap="square" lIns="0" tIns="0" rIns="0" bIns="0" rtlCol="0" anchor="ctr"/>
          <a:lstStyle/>
          <a:p>
            <a:pPr indent="0" marL="0">
              <a:buNone/>
            </a:pPr>
            <a:r>
              <a:rPr lang="en-US" sz="1600" b="1" dirty="0">
                <a:solidFill>
                  <a:srgbClr val="4F5B93"/>
                </a:solidFill>
                <a:latin typeface="Cambria" pitchFamily="34" charset="0"/>
                <a:ea typeface="Cambria" pitchFamily="34" charset="-122"/>
                <a:cs typeface="Cambria" pitchFamily="34" charset="-120"/>
              </a:rPr>
              <a:t>Fundamentos + web dinámica</a:t>
            </a:r>
            <a:endParaRPr lang="en-US" sz="1600" dirty="0"/>
          </a:p>
        </p:txBody>
      </p:sp>
      <p:sp>
        <p:nvSpPr>
          <p:cNvPr id="6" name="Text 4"/>
          <p:cNvSpPr/>
          <p:nvPr/>
        </p:nvSpPr>
        <p:spPr>
          <a:xfrm>
            <a:off x="731520" y="2258568"/>
            <a:ext cx="3566160" cy="65836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Sintaxis y tipos, formularios, validación y escapado de la salida.</a:t>
            </a:r>
            <a:endParaRPr lang="en-US" sz="1350" dirty="0"/>
          </a:p>
        </p:txBody>
      </p:sp>
      <p:sp>
        <p:nvSpPr>
          <p:cNvPr id="7" name="Shape 5"/>
          <p:cNvSpPr/>
          <p:nvPr/>
        </p:nvSpPr>
        <p:spPr>
          <a:xfrm>
            <a:off x="4663440" y="1691640"/>
            <a:ext cx="3931920" cy="1371600"/>
          </a:xfrm>
          <a:prstGeom prst="roundRect">
            <a:avLst>
              <a:gd name="adj" fmla="val 5333"/>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846320" y="1837944"/>
            <a:ext cx="3566160" cy="365760"/>
          </a:xfrm>
          <a:prstGeom prst="rect">
            <a:avLst/>
          </a:prstGeom>
          <a:noFill/>
          <a:ln/>
        </p:spPr>
        <p:txBody>
          <a:bodyPr wrap="square" lIns="0" tIns="0" rIns="0" bIns="0" rtlCol="0" anchor="ctr"/>
          <a:lstStyle/>
          <a:p>
            <a:pPr indent="0" marL="0">
              <a:buNone/>
            </a:pPr>
            <a:r>
              <a:rPr lang="en-US" sz="1600" b="1" dirty="0">
                <a:solidFill>
                  <a:srgbClr val="4F5B93"/>
                </a:solidFill>
                <a:latin typeface="Cambria" pitchFamily="34" charset="0"/>
                <a:ea typeface="Cambria" pitchFamily="34" charset="-122"/>
                <a:cs typeface="Cambria" pitchFamily="34" charset="-120"/>
              </a:rPr>
              <a:t>Código organizado + POO</a:t>
            </a:r>
            <a:endParaRPr lang="en-US" sz="1600" dirty="0"/>
          </a:p>
        </p:txBody>
      </p:sp>
      <p:sp>
        <p:nvSpPr>
          <p:cNvPr id="9" name="Text 7"/>
          <p:cNvSpPr/>
          <p:nvPr/>
        </p:nvSpPr>
        <p:spPr>
          <a:xfrm>
            <a:off x="4846320" y="2258568"/>
            <a:ext cx="3566160" cy="65836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Include, namespaces, Composer, clases, interfaces y enums.</a:t>
            </a:r>
            <a:endParaRPr lang="en-US" sz="1350" dirty="0"/>
          </a:p>
        </p:txBody>
      </p:sp>
      <p:sp>
        <p:nvSpPr>
          <p:cNvPr id="10" name="Shape 8"/>
          <p:cNvSpPr/>
          <p:nvPr/>
        </p:nvSpPr>
        <p:spPr>
          <a:xfrm>
            <a:off x="548640" y="3200400"/>
            <a:ext cx="3931920" cy="1371600"/>
          </a:xfrm>
          <a:prstGeom prst="roundRect">
            <a:avLst>
              <a:gd name="adj" fmla="val 5333"/>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731520" y="3346704"/>
            <a:ext cx="3566160" cy="365760"/>
          </a:xfrm>
          <a:prstGeom prst="rect">
            <a:avLst/>
          </a:prstGeom>
          <a:noFill/>
          <a:ln/>
        </p:spPr>
        <p:txBody>
          <a:bodyPr wrap="square" lIns="0" tIns="0" rIns="0" bIns="0" rtlCol="0" anchor="ctr"/>
          <a:lstStyle/>
          <a:p>
            <a:pPr indent="0" marL="0">
              <a:buNone/>
            </a:pPr>
            <a:r>
              <a:rPr lang="en-US" sz="1600" b="1" dirty="0">
                <a:solidFill>
                  <a:srgbClr val="B07A1E"/>
                </a:solidFill>
                <a:latin typeface="Cambria" pitchFamily="34" charset="0"/>
                <a:ea typeface="Cambria" pitchFamily="34" charset="-122"/>
                <a:cs typeface="Cambria" pitchFamily="34" charset="-120"/>
              </a:rPr>
              <a:t>Datos seguros</a:t>
            </a:r>
            <a:endParaRPr lang="en-US" sz="1600" dirty="0"/>
          </a:p>
        </p:txBody>
      </p:sp>
      <p:sp>
        <p:nvSpPr>
          <p:cNvPr id="12" name="Text 10"/>
          <p:cNvSpPr/>
          <p:nvPr/>
        </p:nvSpPr>
        <p:spPr>
          <a:xfrm>
            <a:off x="731520" y="3767328"/>
            <a:ext cx="3566160" cy="65836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Sesiones y login con hash; PDO con sentencias preparadas; CRUD.</a:t>
            </a:r>
            <a:endParaRPr lang="en-US" sz="1350" dirty="0"/>
          </a:p>
        </p:txBody>
      </p:sp>
      <p:sp>
        <p:nvSpPr>
          <p:cNvPr id="13" name="Shape 11"/>
          <p:cNvSpPr/>
          <p:nvPr/>
        </p:nvSpPr>
        <p:spPr>
          <a:xfrm>
            <a:off x="4663440" y="3200400"/>
            <a:ext cx="3931920" cy="1371600"/>
          </a:xfrm>
          <a:prstGeom prst="roundRect">
            <a:avLst>
              <a:gd name="adj" fmla="val 5333"/>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14" name="Text 12"/>
          <p:cNvSpPr/>
          <p:nvPr/>
        </p:nvSpPr>
        <p:spPr>
          <a:xfrm>
            <a:off x="4846320" y="3346704"/>
            <a:ext cx="3566160" cy="365760"/>
          </a:xfrm>
          <a:prstGeom prst="rect">
            <a:avLst/>
          </a:prstGeom>
          <a:noFill/>
          <a:ln/>
        </p:spPr>
        <p:txBody>
          <a:bodyPr wrap="square" lIns="0" tIns="0" rIns="0" bIns="0" rtlCol="0" anchor="ctr"/>
          <a:lstStyle/>
          <a:p>
            <a:pPr indent="0" marL="0">
              <a:buNone/>
            </a:pPr>
            <a:r>
              <a:rPr lang="en-US" sz="1600" b="1" dirty="0">
                <a:solidFill>
                  <a:srgbClr val="B07A1E"/>
                </a:solidFill>
                <a:latin typeface="Cambria" pitchFamily="34" charset="0"/>
                <a:ea typeface="Cambria" pitchFamily="34" charset="-122"/>
                <a:cs typeface="Cambria" pitchFamily="34" charset="-120"/>
              </a:rPr>
              <a:t>Proyecto y frameworks</a:t>
            </a:r>
            <a:endParaRPr lang="en-US" sz="1600" dirty="0"/>
          </a:p>
        </p:txBody>
      </p:sp>
      <p:sp>
        <p:nvSpPr>
          <p:cNvPr id="15" name="Text 13"/>
          <p:cNvSpPr/>
          <p:nvPr/>
        </p:nvSpPr>
        <p:spPr>
          <a:xfrm>
            <a:off x="4846320" y="3767328"/>
            <a:ext cx="3566160" cy="65836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CRUD integrador + seguridad; luego Laravel y Symfony.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2 — ENTORNO</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Cómo ejecutar PHP</a:t>
            </a:r>
            <a:endParaRPr lang="en-US" sz="3000" dirty="0"/>
          </a:p>
        </p:txBody>
      </p:sp>
      <p:sp>
        <p:nvSpPr>
          <p:cNvPr id="4" name="Shape 2"/>
          <p:cNvSpPr/>
          <p:nvPr/>
        </p:nvSpPr>
        <p:spPr>
          <a:xfrm>
            <a:off x="548640" y="1691640"/>
            <a:ext cx="3931920" cy="1463040"/>
          </a:xfrm>
          <a:prstGeom prst="roundRect">
            <a:avLst>
              <a:gd name="adj" fmla="val 5000"/>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31520" y="1837944"/>
            <a:ext cx="3566160" cy="365760"/>
          </a:xfrm>
          <a:prstGeom prst="rect">
            <a:avLst/>
          </a:prstGeom>
          <a:noFill/>
          <a:ln/>
        </p:spPr>
        <p:txBody>
          <a:bodyPr wrap="square" lIns="0" tIns="0" rIns="0" bIns="0" rtlCol="0" anchor="ctr"/>
          <a:lstStyle/>
          <a:p>
            <a:pPr indent="0" marL="0">
              <a:buNone/>
            </a:pPr>
            <a:r>
              <a:rPr lang="en-US" sz="1600" b="1" dirty="0">
                <a:solidFill>
                  <a:srgbClr val="4F5B93"/>
                </a:solidFill>
                <a:latin typeface="Cambria" pitchFamily="34" charset="0"/>
                <a:ea typeface="Cambria" pitchFamily="34" charset="-122"/>
                <a:cs typeface="Cambria" pitchFamily="34" charset="-120"/>
              </a:rPr>
              <a:t>Servidor embebido</a:t>
            </a:r>
            <a:endParaRPr lang="en-US" sz="1600" dirty="0"/>
          </a:p>
        </p:txBody>
      </p:sp>
      <p:sp>
        <p:nvSpPr>
          <p:cNvPr id="6" name="Text 4"/>
          <p:cNvSpPr/>
          <p:nvPr/>
        </p:nvSpPr>
        <p:spPr>
          <a:xfrm>
            <a:off x="731520" y="2258568"/>
            <a:ext cx="3566160" cy="74980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Desde la carpeta del proyecto:  php -S localhost:8000  y abrir esa dirección. Rápido para practicar.</a:t>
            </a:r>
            <a:endParaRPr lang="en-US" sz="1350" dirty="0"/>
          </a:p>
        </p:txBody>
      </p:sp>
      <p:sp>
        <p:nvSpPr>
          <p:cNvPr id="7" name="Shape 5"/>
          <p:cNvSpPr/>
          <p:nvPr/>
        </p:nvSpPr>
        <p:spPr>
          <a:xfrm>
            <a:off x="4663440" y="1691640"/>
            <a:ext cx="3931920" cy="1463040"/>
          </a:xfrm>
          <a:prstGeom prst="roundRect">
            <a:avLst>
              <a:gd name="adj" fmla="val 5000"/>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846320" y="1837944"/>
            <a:ext cx="3566160" cy="365760"/>
          </a:xfrm>
          <a:prstGeom prst="rect">
            <a:avLst/>
          </a:prstGeom>
          <a:noFill/>
          <a:ln/>
        </p:spPr>
        <p:txBody>
          <a:bodyPr wrap="square" lIns="0" tIns="0" rIns="0" bIns="0" rtlCol="0" anchor="ctr"/>
          <a:lstStyle/>
          <a:p>
            <a:pPr indent="0" marL="0">
              <a:buNone/>
            </a:pPr>
            <a:r>
              <a:rPr lang="en-US" sz="1600" b="1" dirty="0">
                <a:solidFill>
                  <a:srgbClr val="4F5B93"/>
                </a:solidFill>
                <a:latin typeface="Cambria" pitchFamily="34" charset="0"/>
                <a:ea typeface="Cambria" pitchFamily="34" charset="-122"/>
                <a:cs typeface="Cambria" pitchFamily="34" charset="-120"/>
              </a:rPr>
              <a:t>XAMPP / Apache</a:t>
            </a:r>
            <a:endParaRPr lang="en-US" sz="1600" dirty="0"/>
          </a:p>
        </p:txBody>
      </p:sp>
      <p:sp>
        <p:nvSpPr>
          <p:cNvPr id="9" name="Text 7"/>
          <p:cNvSpPr/>
          <p:nvPr/>
        </p:nvSpPr>
        <p:spPr>
          <a:xfrm>
            <a:off x="4846320" y="2258568"/>
            <a:ext cx="3566160" cy="74980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Copiar el proyecto a C:\xampp\htdocs\, iniciar Apache (y MySQL/PostgreSQL) y abrir localhost/proyecto/.</a:t>
            </a:r>
            <a:endParaRPr lang="en-US" sz="1350" dirty="0"/>
          </a:p>
        </p:txBody>
      </p:sp>
      <p:sp>
        <p:nvSpPr>
          <p:cNvPr id="10" name="Shape 8"/>
          <p:cNvSpPr/>
          <p:nvPr/>
        </p:nvSpPr>
        <p:spPr>
          <a:xfrm>
            <a:off x="548640" y="3337560"/>
            <a:ext cx="3931920" cy="1371600"/>
          </a:xfrm>
          <a:prstGeom prst="roundRect">
            <a:avLst>
              <a:gd name="adj" fmla="val 4000"/>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548640" y="3337560"/>
            <a:ext cx="39319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info.php (prueba)</a:t>
            </a:r>
            <a:endParaRPr lang="en-US" sz="1100" dirty="0"/>
          </a:p>
        </p:txBody>
      </p:sp>
      <p:sp>
        <p:nvSpPr>
          <p:cNvPr id="12" name="Text 10"/>
          <p:cNvSpPr/>
          <p:nvPr/>
        </p:nvSpPr>
        <p:spPr>
          <a:xfrm>
            <a:off x="694944" y="3703320"/>
            <a:ext cx="3657600" cy="95097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&lt;?php</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phpinfo();  // confirma version y</a:t>
            </a:r>
            <a:endParaRPr lang="en-US" sz="1100" dirty="0"/>
          </a:p>
          <a:p>
            <a:pPr indent="0" marL="0">
              <a:lnSpc>
                <a:spcPct val="102000"/>
              </a:lnSpc>
              <a:buNone/>
            </a:pPr>
            <a:r>
              <a:rPr lang="en-US" sz="1100" dirty="0">
                <a:solidFill>
                  <a:srgbClr val="5A6270"/>
                </a:solidFill>
                <a:latin typeface="Courier New" pitchFamily="34" charset="0"/>
                <a:ea typeface="Courier New" pitchFamily="34" charset="-122"/>
                <a:cs typeface="Courier New" pitchFamily="34" charset="-120"/>
              </a:rPr>
              <a:t>            // extensiones (pdo_pgsql)</a:t>
            </a:r>
            <a:endParaRPr lang="en-US" sz="1100" dirty="0"/>
          </a:p>
        </p:txBody>
      </p:sp>
      <p:sp>
        <p:nvSpPr>
          <p:cNvPr id="13" name="Shape 11"/>
          <p:cNvSpPr/>
          <p:nvPr/>
        </p:nvSpPr>
        <p:spPr>
          <a:xfrm>
            <a:off x="4663440" y="3337560"/>
            <a:ext cx="3931920" cy="1371600"/>
          </a:xfrm>
          <a:prstGeom prst="roundRect">
            <a:avLst>
              <a:gd name="adj" fmla="val 5333"/>
            </a:avLst>
          </a:prstGeom>
          <a:solidFill>
            <a:srgbClr val="ECEEF6"/>
          </a:solidFill>
          <a:ln w="12700">
            <a:solidFill>
              <a:srgbClr val="4F5B93"/>
            </a:solidFill>
            <a:prstDash val="solid"/>
          </a:ln>
          <a:effectLst>
            <a:outerShdw sx="100000" sy="100000" kx="0" ky="0" algn="bl" rotWithShape="0" blurRad="88900" dist="38100" dir="5400000">
              <a:srgbClr val="000000">
                <a:alpha val="10000"/>
              </a:srgbClr>
            </a:outerShdw>
          </a:effectLst>
        </p:spPr>
      </p:sp>
      <p:sp>
        <p:nvSpPr>
          <p:cNvPr id="14" name="Text 12"/>
          <p:cNvSpPr/>
          <p:nvPr/>
        </p:nvSpPr>
        <p:spPr>
          <a:xfrm>
            <a:off x="4864608" y="3456432"/>
            <a:ext cx="3566160" cy="237744"/>
          </a:xfrm>
          <a:prstGeom prst="rect">
            <a:avLst/>
          </a:prstGeom>
          <a:noFill/>
          <a:ln/>
        </p:spPr>
        <p:txBody>
          <a:bodyPr wrap="square" lIns="0" tIns="0" rIns="0" bIns="0" rtlCol="0" anchor="ctr"/>
          <a:lstStyle/>
          <a:p>
            <a:pPr indent="0" marL="0">
              <a:buNone/>
            </a:pPr>
            <a:r>
              <a:rPr lang="en-US" sz="1150" b="1" spc="150" kern="0" dirty="0">
                <a:solidFill>
                  <a:srgbClr val="4F5B93"/>
                </a:solidFill>
                <a:latin typeface="Calibri" pitchFamily="34" charset="0"/>
                <a:ea typeface="Calibri" pitchFamily="34" charset="-122"/>
                <a:cs typeface="Calibri" pitchFamily="34" charset="-120"/>
              </a:rPr>
              <a:t>ERROR COMÚN</a:t>
            </a:r>
            <a:endParaRPr lang="en-US" sz="1150" dirty="0"/>
          </a:p>
        </p:txBody>
      </p:sp>
      <p:sp>
        <p:nvSpPr>
          <p:cNvPr id="15" name="Text 13"/>
          <p:cNvSpPr/>
          <p:nvPr/>
        </p:nvSpPr>
        <p:spPr>
          <a:xfrm>
            <a:off x="4864608" y="3721608"/>
            <a:ext cx="3529584" cy="859536"/>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Si sale «Not Found» y el archivo está en htdocs, revisa la extensión oculta (index.php.txt) y que el nombre de carpeta/archivo coincida con la URL.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3 — FUNDAMENTOS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Etiquetas, echo y sentencias</a:t>
            </a:r>
            <a:endParaRPr lang="en-US" sz="3000" dirty="0"/>
          </a:p>
        </p:txBody>
      </p:sp>
      <p:sp>
        <p:nvSpPr>
          <p:cNvPr id="4" name="Shape 2"/>
          <p:cNvSpPr/>
          <p:nvPr/>
        </p:nvSpPr>
        <p:spPr>
          <a:xfrm>
            <a:off x="548640" y="1737360"/>
            <a:ext cx="8046720" cy="1828800"/>
          </a:xfrm>
          <a:prstGeom prst="roundRect">
            <a:avLst>
              <a:gd name="adj" fmla="val 3000"/>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Primer script</a:t>
            </a:r>
            <a:endParaRPr lang="en-US" sz="1100" dirty="0"/>
          </a:p>
        </p:txBody>
      </p:sp>
      <p:sp>
        <p:nvSpPr>
          <p:cNvPr id="6" name="Text 4"/>
          <p:cNvSpPr/>
          <p:nvPr/>
        </p:nvSpPr>
        <p:spPr>
          <a:xfrm>
            <a:off x="694944" y="2103120"/>
            <a:ext cx="7772400" cy="1408176"/>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&lt;?php</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echo "Hola, mundo";   // imprime texto</a:t>
            </a:r>
            <a:endParaRPr lang="en-US" sz="1200" dirty="0"/>
          </a:p>
          <a:p>
            <a:pPr indent="0" marL="0">
              <a:lnSpc>
                <a:spcPct val="102000"/>
              </a:lnSpc>
              <a:buNone/>
            </a:pPr>
            <a:r>
              <a:rPr lang="en-US" sz="1200" dirty="0">
                <a:solidFill>
                  <a:srgbClr val="5A6270"/>
                </a:solidFill>
                <a:latin typeface="Courier New" pitchFamily="34" charset="0"/>
                <a:ea typeface="Courier New" pitchFamily="34" charset="-122"/>
                <a:cs typeface="Courier New" pitchFamily="34" charset="-120"/>
              </a:rPr>
              <a:t>// fuera de &lt;?php ?&gt; el contenido se envia tal cual</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?&gt;</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&lt;p&gt;Esto es HTML normal, fuera de PHP.&lt;/p&gt;</a:t>
            </a:r>
            <a:endParaRPr lang="en-US" sz="1200" dirty="0"/>
          </a:p>
        </p:txBody>
      </p:sp>
      <p:sp>
        <p:nvSpPr>
          <p:cNvPr id="7" name="Text 5"/>
          <p:cNvSpPr/>
          <p:nvPr/>
        </p:nvSpPr>
        <p:spPr>
          <a:xfrm>
            <a:off x="548640" y="3749040"/>
            <a:ext cx="8046720" cy="109728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El código PHP va entre &lt;?php y ?&gt;; lo de fuera se envía como HTML.</a:t>
            </a:r>
            <a:endParaRPr lang="en-US" sz="1300" dirty="0"/>
          </a:p>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echo muestra texto; cada sentencia termina en punto y coma (;).</a:t>
            </a:r>
            <a:endParaRPr lang="en-US" sz="1300" dirty="0"/>
          </a:p>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En archivos solo-PHP, se omite la etiqueta de cierre final.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3.2 — TIPOS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Variables y tipos: nada de «int x;»</a:t>
            </a:r>
            <a:endParaRPr lang="en-US" sz="3000" dirty="0"/>
          </a:p>
        </p:txBody>
      </p:sp>
      <p:sp>
        <p:nvSpPr>
          <p:cNvPr id="4" name="Shape 2"/>
          <p:cNvSpPr/>
          <p:nvPr/>
        </p:nvSpPr>
        <p:spPr>
          <a:xfrm>
            <a:off x="548640" y="1691640"/>
            <a:ext cx="4160520" cy="2240280"/>
          </a:xfrm>
          <a:prstGeom prst="roundRect">
            <a:avLst>
              <a:gd name="adj" fmla="val 2449"/>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691640"/>
            <a:ext cx="41605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Tipado dinámico</a:t>
            </a:r>
            <a:endParaRPr lang="en-US" sz="1100" dirty="0"/>
          </a:p>
        </p:txBody>
      </p:sp>
      <p:sp>
        <p:nvSpPr>
          <p:cNvPr id="6" name="Text 4"/>
          <p:cNvSpPr/>
          <p:nvPr/>
        </p:nvSpPr>
        <p:spPr>
          <a:xfrm>
            <a:off x="694944" y="2057400"/>
            <a:ext cx="3886200" cy="1819656"/>
          </a:xfrm>
          <a:prstGeom prst="rect">
            <a:avLst/>
          </a:prstGeom>
          <a:noFill/>
          <a:ln/>
        </p:spPr>
        <p:txBody>
          <a:bodyPr wrap="square" lIns="0" tIns="0" rIns="0" bIns="0" rtlCol="0" anchor="t"/>
          <a:lstStyle/>
          <a:p>
            <a:pPr indent="0" marL="0">
              <a:lnSpc>
                <a:spcPct val="102000"/>
              </a:lnSpc>
              <a:buNone/>
            </a:pPr>
            <a:r>
              <a:rPr lang="en-US" sz="1100" dirty="0">
                <a:solidFill>
                  <a:srgbClr val="5A6270"/>
                </a:solidFill>
                <a:latin typeface="Courier New" pitchFamily="34" charset="0"/>
                <a:ea typeface="Courier New" pitchFamily="34" charset="-122"/>
                <a:cs typeface="Courier New" pitchFamily="34" charset="-120"/>
              </a:rPr>
              <a:t>// En Java/C:  int x;  x = 5;</a:t>
            </a:r>
            <a:endParaRPr lang="en-US" sz="1100" dirty="0"/>
          </a:p>
          <a:p>
            <a:pPr indent="0" marL="0">
              <a:lnSpc>
                <a:spcPct val="102000"/>
              </a:lnSpc>
              <a:buNone/>
            </a:pPr>
            <a:r>
              <a:rPr lang="en-US" sz="1100" dirty="0">
                <a:solidFill>
                  <a:srgbClr val="5A6270"/>
                </a:solidFill>
                <a:latin typeface="Courier New" pitchFamily="34" charset="0"/>
                <a:ea typeface="Courier New" pitchFamily="34" charset="-122"/>
                <a:cs typeface="Courier New" pitchFamily="34" charset="-120"/>
              </a:rPr>
              <a:t>// En PHP la variable lleva $ y</a:t>
            </a:r>
            <a:endParaRPr lang="en-US" sz="1100" dirty="0"/>
          </a:p>
          <a:p>
            <a:pPr indent="0" marL="0">
              <a:lnSpc>
                <a:spcPct val="102000"/>
              </a:lnSpc>
              <a:buNone/>
            </a:pPr>
            <a:r>
              <a:rPr lang="en-US" sz="1100" dirty="0">
                <a:solidFill>
                  <a:srgbClr val="5A6270"/>
                </a:solidFill>
                <a:latin typeface="Courier New" pitchFamily="34" charset="0"/>
                <a:ea typeface="Courier New" pitchFamily="34" charset="-122"/>
                <a:cs typeface="Courier New" pitchFamily="34" charset="-120"/>
              </a:rPr>
              <a:t>// toma el tipo del valor:</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$x = 5;        // int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$x = "hola";   // ahora string</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var_dump($x);  // string(4)</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echo gettype(8.5); // 'double'</a:t>
            </a:r>
            <a:endParaRPr lang="en-US" sz="1100" dirty="0"/>
          </a:p>
        </p:txBody>
      </p:sp>
      <p:sp>
        <p:nvSpPr>
          <p:cNvPr id="7" name="Text 5"/>
          <p:cNvSpPr/>
          <p:nvPr/>
        </p:nvSpPr>
        <p:spPr>
          <a:xfrm>
            <a:off x="4846320" y="1691640"/>
            <a:ext cx="3749040" cy="137160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La variable empieza por $ y no lleva tipo delante.</a:t>
            </a:r>
            <a:endParaRPr lang="en-US" sz="1250" dirty="0"/>
          </a:p>
          <a:p>
            <a:pPr marL="177800" indent="-1778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PHP sí tiene tipos, pero pertenecen al valor, no a la variable.</a:t>
            </a:r>
            <a:endParaRPr lang="en-US" sz="1250" dirty="0"/>
          </a:p>
          <a:p>
            <a:pPr marL="177800" indent="-1778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El tipo puede cambiar al reasignar.</a:t>
            </a:r>
            <a:endParaRPr lang="en-US" sz="1250" dirty="0"/>
          </a:p>
        </p:txBody>
      </p:sp>
      <p:sp>
        <p:nvSpPr>
          <p:cNvPr id="8" name="Shape 6"/>
          <p:cNvSpPr/>
          <p:nvPr/>
        </p:nvSpPr>
        <p:spPr>
          <a:xfrm>
            <a:off x="4846320" y="3200400"/>
            <a:ext cx="3749040" cy="1463040"/>
          </a:xfrm>
          <a:prstGeom prst="roundRect">
            <a:avLst>
              <a:gd name="adj" fmla="val 5000"/>
            </a:avLst>
          </a:prstGeom>
          <a:solidFill>
            <a:srgbClr val="ECEEF6"/>
          </a:solidFill>
          <a:ln w="12700">
            <a:solidFill>
              <a:srgbClr val="4F5B93"/>
            </a:solidFill>
            <a:prstDash val="solid"/>
          </a:ln>
          <a:effectLst>
            <a:outerShdw sx="100000" sy="100000" kx="0" ky="0" algn="bl" rotWithShape="0" blurRad="88900" dist="38100" dir="5400000">
              <a:srgbClr val="000000">
                <a:alpha val="10000"/>
              </a:srgbClr>
            </a:outerShdw>
          </a:effectLst>
        </p:spPr>
      </p:sp>
      <p:sp>
        <p:nvSpPr>
          <p:cNvPr id="9" name="Text 7"/>
          <p:cNvSpPr/>
          <p:nvPr/>
        </p:nvSpPr>
        <p:spPr>
          <a:xfrm>
            <a:off x="5047488" y="3319272"/>
            <a:ext cx="3383280" cy="237744"/>
          </a:xfrm>
          <a:prstGeom prst="rect">
            <a:avLst/>
          </a:prstGeom>
          <a:noFill/>
          <a:ln/>
        </p:spPr>
        <p:txBody>
          <a:bodyPr wrap="square" lIns="0" tIns="0" rIns="0" bIns="0" rtlCol="0" anchor="ctr"/>
          <a:lstStyle/>
          <a:p>
            <a:pPr indent="0" marL="0">
              <a:buNone/>
            </a:pPr>
            <a:r>
              <a:rPr lang="en-US" sz="1150" b="1" spc="150" kern="0" dirty="0">
                <a:solidFill>
                  <a:srgbClr val="4F5B93"/>
                </a:solidFill>
                <a:latin typeface="Calibri" pitchFamily="34" charset="0"/>
                <a:ea typeface="Calibri" pitchFamily="34" charset="-122"/>
                <a:cs typeface="Calibri" pitchFamily="34" charset="-120"/>
              </a:rPr>
              <a:t>DÓNDE SÍ SE DECLARA</a:t>
            </a:r>
            <a:endParaRPr lang="en-US" sz="1150" dirty="0"/>
          </a:p>
        </p:txBody>
      </p:sp>
      <p:sp>
        <p:nvSpPr>
          <p:cNvPr id="10" name="Text 8"/>
          <p:cNvSpPr/>
          <p:nvPr/>
        </p:nvSpPr>
        <p:spPr>
          <a:xfrm>
            <a:off x="5047488" y="3584448"/>
            <a:ext cx="3346704" cy="950976"/>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El tipo SÍ se declara en: parámetros y retorno de funciones, propiedades de clase (private int $edad;) y con declare(strict_types=1);.</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3.3 — CADENAS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Comillas simples vs dobles</a:t>
            </a:r>
            <a:endParaRPr lang="en-US" sz="3000" dirty="0"/>
          </a:p>
        </p:txBody>
      </p:sp>
      <p:sp>
        <p:nvSpPr>
          <p:cNvPr id="4" name="Shape 2"/>
          <p:cNvSpPr/>
          <p:nvPr/>
        </p:nvSpPr>
        <p:spPr>
          <a:xfrm>
            <a:off x="548640" y="1737360"/>
            <a:ext cx="8046720" cy="1554480"/>
          </a:xfrm>
          <a:prstGeom prst="roundRect">
            <a:avLst>
              <a:gd name="adj" fmla="val 3529"/>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Interpolación</a:t>
            </a:r>
            <a:endParaRPr lang="en-US" sz="1100" dirty="0"/>
          </a:p>
        </p:txBody>
      </p:sp>
      <p:sp>
        <p:nvSpPr>
          <p:cNvPr id="6" name="Text 4"/>
          <p:cNvSpPr/>
          <p:nvPr/>
        </p:nvSpPr>
        <p:spPr>
          <a:xfrm>
            <a:off x="694944" y="2103120"/>
            <a:ext cx="7772400" cy="1133856"/>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$n = "Ana";</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echo "Hola $n";   // dobles: interpola  -&gt; Hola Ana</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echo 'Hola $n';   // simples: literal   -&gt; Hola $n</a:t>
            </a:r>
            <a:endParaRPr lang="en-US" sz="1200" dirty="0"/>
          </a:p>
        </p:txBody>
      </p:sp>
      <p:sp>
        <p:nvSpPr>
          <p:cNvPr id="7" name="Shape 5"/>
          <p:cNvSpPr/>
          <p:nvPr/>
        </p:nvSpPr>
        <p:spPr>
          <a:xfrm>
            <a:off x="548640" y="3429000"/>
            <a:ext cx="8046720" cy="1188720"/>
          </a:xfrm>
          <a:prstGeom prst="roundRect">
            <a:avLst>
              <a:gd name="adj" fmla="val 6154"/>
            </a:avLst>
          </a:prstGeom>
          <a:solidFill>
            <a:srgbClr val="ECEEF6"/>
          </a:solidFill>
          <a:ln w="12700">
            <a:solidFill>
              <a:srgbClr val="4F5B93"/>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749808" y="3547872"/>
            <a:ext cx="7680960" cy="237744"/>
          </a:xfrm>
          <a:prstGeom prst="rect">
            <a:avLst/>
          </a:prstGeom>
          <a:noFill/>
          <a:ln/>
        </p:spPr>
        <p:txBody>
          <a:bodyPr wrap="square" lIns="0" tIns="0" rIns="0" bIns="0" rtlCol="0" anchor="ctr"/>
          <a:lstStyle/>
          <a:p>
            <a:pPr indent="0" marL="0">
              <a:buNone/>
            </a:pPr>
            <a:r>
              <a:rPr lang="en-US" sz="1150" b="1" spc="150" kern="0" dirty="0">
                <a:solidFill>
                  <a:srgbClr val="4F5B93"/>
                </a:solidFill>
                <a:latin typeface="Calibri" pitchFamily="34" charset="0"/>
                <a:ea typeface="Calibri" pitchFamily="34" charset="-122"/>
                <a:cs typeface="Calibri" pitchFamily="34" charset="-120"/>
              </a:rPr>
              <a:t>REGLA PRÁCTICA</a:t>
            </a:r>
            <a:endParaRPr lang="en-US" sz="1150" dirty="0"/>
          </a:p>
        </p:txBody>
      </p:sp>
      <p:sp>
        <p:nvSpPr>
          <p:cNvPr id="9" name="Text 7"/>
          <p:cNvSpPr/>
          <p:nvPr/>
        </p:nvSpPr>
        <p:spPr>
          <a:xfrm>
            <a:off x="749808" y="3813048"/>
            <a:ext cx="7644384" cy="676656"/>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Las comillas dobles interpretan las variables y las secuencias de escape; las simples las toman literales. Ojo con datos que contienen el símbolo $ (como ciertas contraseñas): van en comillas simples.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3.5 — CONTROL</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Condicionales y match</a:t>
            </a:r>
            <a:endParaRPr lang="en-US" sz="3000" dirty="0"/>
          </a:p>
        </p:txBody>
      </p:sp>
      <p:sp>
        <p:nvSpPr>
          <p:cNvPr id="4" name="Shape 2"/>
          <p:cNvSpPr/>
          <p:nvPr/>
        </p:nvSpPr>
        <p:spPr>
          <a:xfrm>
            <a:off x="548640" y="1737360"/>
            <a:ext cx="4023360" cy="2377440"/>
          </a:xfrm>
          <a:prstGeom prst="roundRect">
            <a:avLst>
              <a:gd name="adj" fmla="val 2308"/>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402336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match (PHP 8)</a:t>
            </a:r>
            <a:endParaRPr lang="en-US" sz="1100" dirty="0"/>
          </a:p>
        </p:txBody>
      </p:sp>
      <p:sp>
        <p:nvSpPr>
          <p:cNvPr id="6" name="Text 4"/>
          <p:cNvSpPr/>
          <p:nvPr/>
        </p:nvSpPr>
        <p:spPr>
          <a:xfrm>
            <a:off x="694944" y="2103120"/>
            <a:ext cx="3749040" cy="1956816"/>
          </a:xfrm>
          <a:prstGeom prst="rect">
            <a:avLst/>
          </a:prstGeom>
          <a:noFill/>
          <a:ln/>
        </p:spPr>
        <p:txBody>
          <a:bodyPr wrap="square" lIns="0" tIns="0" rIns="0" bIns="0" rtlCol="0" anchor="t"/>
          <a:lstStyle/>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$letra = match(true) {</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$nota &gt;= 9 =&gt; "A",</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$nota &gt;= 7 =&gt; "B",</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default    =&gt; "C",</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a:t>
            </a:r>
            <a:endParaRPr lang="en-US" sz="1150" dirty="0"/>
          </a:p>
        </p:txBody>
      </p:sp>
      <p:sp>
        <p:nvSpPr>
          <p:cNvPr id="7" name="Text 5"/>
          <p:cNvSpPr/>
          <p:nvPr/>
        </p:nvSpPr>
        <p:spPr>
          <a:xfrm>
            <a:off x="4663440" y="1737360"/>
            <a:ext cx="3931920" cy="237744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F2933"/>
                </a:solidFill>
                <a:latin typeface="Calibri" pitchFamily="34" charset="0"/>
                <a:ea typeface="Calibri" pitchFamily="34" charset="-122"/>
                <a:cs typeface="Calibri" pitchFamily="34" charset="-120"/>
              </a:rPr>
              <a:t>if / else y switch de siempre.</a:t>
            </a:r>
            <a:endParaRPr lang="en-US" sz="1350" dirty="0"/>
          </a:p>
          <a:p>
            <a:pPr marL="177800" indent="-177800">
              <a:spcAft>
                <a:spcPts val="800"/>
              </a:spcAft>
              <a:buSzPct val="100000"/>
              <a:buChar char="•"/>
            </a:pPr>
            <a:r>
              <a:rPr lang="en-US" sz="1350" dirty="0">
                <a:solidFill>
                  <a:srgbClr val="1F2933"/>
                </a:solidFill>
                <a:latin typeface="Calibri" pitchFamily="34" charset="0"/>
                <a:ea typeface="Calibri" pitchFamily="34" charset="-122"/>
                <a:cs typeface="Calibri" pitchFamily="34" charset="-120"/>
              </a:rPr>
              <a:t>match (PHP 8): devuelve un valor y compara de forma estricta (===).</a:t>
            </a:r>
            <a:endParaRPr lang="en-US" sz="1350" dirty="0"/>
          </a:p>
          <a:p>
            <a:pPr marL="177800" indent="-177800">
              <a:spcAft>
                <a:spcPts val="800"/>
              </a:spcAft>
              <a:buSzPct val="100000"/>
              <a:buChar char="•"/>
            </a:pPr>
            <a:r>
              <a:rPr lang="en-US" sz="1350" dirty="0">
                <a:solidFill>
                  <a:srgbClr val="1F2933"/>
                </a:solidFill>
                <a:latin typeface="Calibri" pitchFamily="34" charset="0"/>
                <a:ea typeface="Calibri" pitchFamily="34" charset="-122"/>
                <a:cs typeface="Calibri" pitchFamily="34" charset="-120"/>
              </a:rPr>
              <a:t>Más conciso y seguro que switch para asignar según casos.</a:t>
            </a:r>
            <a:endParaRPr lang="en-US" sz="1350" dirty="0"/>
          </a:p>
          <a:p>
            <a:pPr marL="177800" indent="-177800">
              <a:spcAft>
                <a:spcPts val="800"/>
              </a:spcAft>
              <a:buSzPct val="100000"/>
              <a:buChar char="•"/>
            </a:pPr>
            <a:r>
              <a:rPr lang="en-US" sz="1350" dirty="0">
                <a:solidFill>
                  <a:srgbClr val="1F2933"/>
                </a:solidFill>
                <a:latin typeface="Calibri" pitchFamily="34" charset="0"/>
                <a:ea typeface="Calibri" pitchFamily="34" charset="-122"/>
                <a:cs typeface="Calibri" pitchFamily="34" charset="-120"/>
              </a:rPr>
              <a:t>Bucles: for, while y foreach (el rey para recorrer arrays).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3.6 — ARRAYS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Arrays: indexados y asociativos</a:t>
            </a:r>
            <a:endParaRPr lang="en-US" sz="3000" dirty="0"/>
          </a:p>
        </p:txBody>
      </p:sp>
      <p:sp>
        <p:nvSpPr>
          <p:cNvPr id="4" name="Shape 2"/>
          <p:cNvSpPr/>
          <p:nvPr/>
        </p:nvSpPr>
        <p:spPr>
          <a:xfrm>
            <a:off x="548640" y="1737360"/>
            <a:ext cx="8046720" cy="2103120"/>
          </a:xfrm>
          <a:prstGeom prst="roundRect">
            <a:avLst>
              <a:gd name="adj" fmla="val 2609"/>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Arrays</a:t>
            </a:r>
            <a:endParaRPr lang="en-US" sz="1100" dirty="0"/>
          </a:p>
        </p:txBody>
      </p:sp>
      <p:sp>
        <p:nvSpPr>
          <p:cNvPr id="6" name="Text 4"/>
          <p:cNvSpPr/>
          <p:nvPr/>
        </p:nvSpPr>
        <p:spPr>
          <a:xfrm>
            <a:off x="694944" y="2103120"/>
            <a:ext cx="7772400" cy="1682496"/>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$nums = [10, 20, 30];            // indexado</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$persona = ["nombre" =&gt; "Ana",     // asociativo</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"edad"   =&gt; 21];</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foreach ($persona as $clave =&gt; $valor) {</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echo "$clave: $valor\n";</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548640" y="3977640"/>
            <a:ext cx="8046720" cy="548640"/>
          </a:xfrm>
          <a:prstGeom prst="rect">
            <a:avLst/>
          </a:prstGeom>
          <a:noFill/>
          <a:ln/>
        </p:spPr>
        <p:txBody>
          <a:bodyPr wrap="square" lIns="0" tIns="0" rIns="0" bIns="0" rtlCol="0" anchor="ctr"/>
          <a:lstStyle/>
          <a:p>
            <a:pPr indent="0" marL="0">
              <a:buNone/>
            </a:pPr>
            <a:r>
              <a:rPr lang="en-US" sz="1300" i="1" dirty="0">
                <a:solidFill>
                  <a:srgbClr val="5A6270"/>
                </a:solidFill>
                <a:latin typeface="Calibri" pitchFamily="34" charset="0"/>
                <a:ea typeface="Calibri" pitchFamily="34" charset="-122"/>
                <a:cs typeface="Calibri" pitchFamily="34" charset="-120"/>
              </a:rPr>
              <a:t>El array asociativo (clave → valor) es la estructura más usada en PHP: representa filas, formularios, configuraciones...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3.7–3.8 — FUNCIONES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Funciones tipadas y tipado estricto</a:t>
            </a:r>
            <a:endParaRPr lang="en-US" sz="3000" dirty="0"/>
          </a:p>
        </p:txBody>
      </p:sp>
      <p:sp>
        <p:nvSpPr>
          <p:cNvPr id="4" name="Shape 2"/>
          <p:cNvSpPr/>
          <p:nvPr/>
        </p:nvSpPr>
        <p:spPr>
          <a:xfrm>
            <a:off x="548640" y="1737360"/>
            <a:ext cx="8046720" cy="2011680"/>
          </a:xfrm>
          <a:prstGeom prst="roundRect">
            <a:avLst>
              <a:gd name="adj" fmla="val 2727"/>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Funciones</a:t>
            </a:r>
            <a:endParaRPr lang="en-US" sz="1100" dirty="0"/>
          </a:p>
        </p:txBody>
      </p:sp>
      <p:sp>
        <p:nvSpPr>
          <p:cNvPr id="6" name="Text 4"/>
          <p:cNvSpPr/>
          <p:nvPr/>
        </p:nvSpPr>
        <p:spPr>
          <a:xfrm>
            <a:off x="694944" y="2103120"/>
            <a:ext cx="7772400" cy="1591056"/>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declare(strict_types=1);   // arriba del archivo</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function sumar(int $a, int $b): int {  // tipos declarados</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return $a + $b;</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$doble = fn($x) =&gt; $x * 2;   // funcion flecha (arrow fn)</a:t>
            </a:r>
            <a:endParaRPr lang="en-US" sz="1200" dirty="0"/>
          </a:p>
        </p:txBody>
      </p:sp>
      <p:sp>
        <p:nvSpPr>
          <p:cNvPr id="7" name="Shape 5"/>
          <p:cNvSpPr/>
          <p:nvPr/>
        </p:nvSpPr>
        <p:spPr>
          <a:xfrm>
            <a:off x="548640" y="3977640"/>
            <a:ext cx="8046720" cy="822960"/>
          </a:xfrm>
          <a:prstGeom prst="roundRect">
            <a:avLst>
              <a:gd name="adj" fmla="val 8889"/>
            </a:avLst>
          </a:prstGeom>
          <a:solidFill>
            <a:srgbClr val="ECEEF6"/>
          </a:solidFill>
          <a:ln w="12700">
            <a:solidFill>
              <a:srgbClr val="4F5B93"/>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749808" y="4096512"/>
            <a:ext cx="7680960" cy="237744"/>
          </a:xfrm>
          <a:prstGeom prst="rect">
            <a:avLst/>
          </a:prstGeom>
          <a:noFill/>
          <a:ln/>
        </p:spPr>
        <p:txBody>
          <a:bodyPr wrap="square" lIns="0" tIns="0" rIns="0" bIns="0" rtlCol="0" anchor="ctr"/>
          <a:lstStyle/>
          <a:p>
            <a:pPr indent="0" marL="0">
              <a:buNone/>
            </a:pPr>
            <a:r>
              <a:rPr lang="en-US" sz="1150" b="1" spc="150" kern="0" dirty="0">
                <a:solidFill>
                  <a:srgbClr val="4F5B93"/>
                </a:solidFill>
                <a:latin typeface="Calibri" pitchFamily="34" charset="0"/>
                <a:ea typeface="Calibri" pitchFamily="34" charset="-122"/>
                <a:cs typeface="Calibri" pitchFamily="34" charset="-120"/>
              </a:rPr>
              <a:t>TIPADO DONDE IMPORTA</a:t>
            </a:r>
            <a:endParaRPr lang="en-US" sz="1150" dirty="0"/>
          </a:p>
        </p:txBody>
      </p:sp>
      <p:sp>
        <p:nvSpPr>
          <p:cNvPr id="9" name="Text 7"/>
          <p:cNvSpPr/>
          <p:nvPr/>
        </p:nvSpPr>
        <p:spPr>
          <a:xfrm>
            <a:off x="749808" y="4361688"/>
            <a:ext cx="7644384" cy="310896"/>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Aquí SÍ se declaran tipos: en los parámetros (int $a) y en el retorno (: int). Con strict_types=1, PHP no convierte tipos a la ligera y los errores salen antes.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4 — WEB DINÁMICA</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Formularios y validación</a:t>
            </a:r>
            <a:endParaRPr lang="en-US" sz="3000" dirty="0"/>
          </a:p>
        </p:txBody>
      </p:sp>
      <p:sp>
        <p:nvSpPr>
          <p:cNvPr id="4" name="Shape 2"/>
          <p:cNvSpPr/>
          <p:nvPr/>
        </p:nvSpPr>
        <p:spPr>
          <a:xfrm>
            <a:off x="548640" y="1737360"/>
            <a:ext cx="8046720" cy="2103120"/>
          </a:xfrm>
          <a:prstGeom prst="roundRect">
            <a:avLst>
              <a:gd name="adj" fmla="val 2609"/>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Procesar y validar (POST)</a:t>
            </a:r>
            <a:endParaRPr lang="en-US" sz="1100" dirty="0"/>
          </a:p>
        </p:txBody>
      </p:sp>
      <p:sp>
        <p:nvSpPr>
          <p:cNvPr id="6" name="Text 4"/>
          <p:cNvSpPr/>
          <p:nvPr/>
        </p:nvSpPr>
        <p:spPr>
          <a:xfrm>
            <a:off x="694944" y="2103120"/>
            <a:ext cx="7772400" cy="1682496"/>
          </a:xfrm>
          <a:prstGeom prst="rect">
            <a:avLst/>
          </a:prstGeom>
          <a:noFill/>
          <a:ln/>
        </p:spPr>
        <p:txBody>
          <a:bodyPr wrap="square" lIns="0" tIns="0" rIns="0" bIns="0" rtlCol="0" anchor="t"/>
          <a:lstStyle/>
          <a:p>
            <a:pPr indent="0" marL="0">
              <a:lnSpc>
                <a:spcPct val="102000"/>
              </a:lnSpc>
              <a:buNone/>
            </a:pPr>
            <a:r>
              <a:rPr lang="en-US" sz="1150" dirty="0">
                <a:solidFill>
                  <a:srgbClr val="5A6270"/>
                </a:solidFill>
                <a:latin typeface="Courier New" pitchFamily="34" charset="0"/>
                <a:ea typeface="Courier New" pitchFamily="34" charset="-122"/>
                <a:cs typeface="Courier New" pitchFamily="34" charset="-120"/>
              </a:rPr>
              <a:t>// los datos llegan en $_POST (array asociativo)</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$nombre = trim($_POST["nombre"] ?? "");</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$correo = filter_var($_POST["correo"] ?? "",</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FILTER_VALIDATE_EMAIL);</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if ($nombre === "" || $correo === false) {</a:t>
            </a:r>
            <a:endParaRPr lang="en-US" sz="1150" dirty="0"/>
          </a:p>
          <a:p>
            <a:pPr indent="0" marL="0">
              <a:lnSpc>
                <a:spcPct val="102000"/>
              </a:lnSpc>
              <a:buNone/>
            </a:pPr>
            <a:r>
              <a:rPr lang="en-US" sz="1150" dirty="0">
                <a:solidFill>
                  <a:srgbClr val="5A6270"/>
                </a:solidFill>
                <a:latin typeface="Courier New" pitchFamily="34" charset="0"/>
                <a:ea typeface="Courier New" pitchFamily="34" charset="-122"/>
                <a:cs typeface="Courier New" pitchFamily="34" charset="-120"/>
              </a:rPr>
              <a:t>  // mostrar error: datos invalidos</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a:t>
            </a:r>
            <a:endParaRPr lang="en-US" sz="1150" dirty="0"/>
          </a:p>
        </p:txBody>
      </p:sp>
      <p:sp>
        <p:nvSpPr>
          <p:cNvPr id="7" name="Text 5"/>
          <p:cNvSpPr/>
          <p:nvPr/>
        </p:nvSpPr>
        <p:spPr>
          <a:xfrm>
            <a:off x="548640" y="4023360"/>
            <a:ext cx="8046720" cy="457200"/>
          </a:xfrm>
          <a:prstGeom prst="rect">
            <a:avLst/>
          </a:prstGeom>
          <a:noFill/>
          <a:ln/>
        </p:spPr>
        <p:txBody>
          <a:bodyPr wrap="square" lIns="0" tIns="0" rIns="0" bIns="0" rtlCol="0" anchor="ctr"/>
          <a:lstStyle/>
          <a:p>
            <a:pPr indent="0" marL="0">
              <a:buNone/>
            </a:pPr>
            <a:r>
              <a:rPr lang="en-US" sz="1300" i="1" dirty="0">
                <a:solidFill>
                  <a:srgbClr val="5A6270"/>
                </a:solidFill>
                <a:latin typeface="Calibri" pitchFamily="34" charset="0"/>
                <a:ea typeface="Calibri" pitchFamily="34" charset="-122"/>
                <a:cs typeface="Calibri" pitchFamily="34" charset="-120"/>
              </a:rPr>
              <a:t>Regla: valida SIEMPRE en el servidor. La validación del navegador es solo comodidad, no seguridad.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4 — SEGURIDAD DE LA VISTA</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Escapar siempre la salida</a:t>
            </a:r>
            <a:endParaRPr lang="en-US" sz="3000" dirty="0"/>
          </a:p>
        </p:txBody>
      </p:sp>
      <p:sp>
        <p:nvSpPr>
          <p:cNvPr id="4" name="Shape 2"/>
          <p:cNvSpPr/>
          <p:nvPr/>
        </p:nvSpPr>
        <p:spPr>
          <a:xfrm>
            <a:off x="548640" y="1737360"/>
            <a:ext cx="4114800" cy="1371600"/>
          </a:xfrm>
          <a:prstGeom prst="roundRect">
            <a:avLst>
              <a:gd name="adj" fmla="val 4000"/>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411480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Anti-XSS</a:t>
            </a:r>
            <a:endParaRPr lang="en-US" sz="1100" dirty="0"/>
          </a:p>
        </p:txBody>
      </p:sp>
      <p:sp>
        <p:nvSpPr>
          <p:cNvPr id="6" name="Text 4"/>
          <p:cNvSpPr/>
          <p:nvPr/>
        </p:nvSpPr>
        <p:spPr>
          <a:xfrm>
            <a:off x="694944" y="2103120"/>
            <a:ext cx="3840480" cy="950976"/>
          </a:xfrm>
          <a:prstGeom prst="rect">
            <a:avLst/>
          </a:prstGeom>
          <a:noFill/>
          <a:ln/>
        </p:spPr>
        <p:txBody>
          <a:bodyPr wrap="square" lIns="0" tIns="0" rIns="0" bIns="0" rtlCol="0" anchor="t"/>
          <a:lstStyle/>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echo htmlspecialchars(</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$nombre,</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ENT_QUOTES);  // convierte &lt; &gt; " &amp;</a:t>
            </a:r>
            <a:endParaRPr lang="en-US" sz="1150" dirty="0"/>
          </a:p>
        </p:txBody>
      </p:sp>
      <p:sp>
        <p:nvSpPr>
          <p:cNvPr id="7" name="Shape 5"/>
          <p:cNvSpPr/>
          <p:nvPr/>
        </p:nvSpPr>
        <p:spPr>
          <a:xfrm>
            <a:off x="4846320" y="1737360"/>
            <a:ext cx="3749040" cy="1371600"/>
          </a:xfrm>
          <a:prstGeom prst="roundRect">
            <a:avLst>
              <a:gd name="adj" fmla="val 5333"/>
            </a:avLst>
          </a:prstGeom>
          <a:solidFill>
            <a:srgbClr val="ECEEF6"/>
          </a:solidFill>
          <a:ln w="12700">
            <a:solidFill>
              <a:srgbClr val="4F5B93"/>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5047488" y="1856232"/>
            <a:ext cx="3383280" cy="237744"/>
          </a:xfrm>
          <a:prstGeom prst="rect">
            <a:avLst/>
          </a:prstGeom>
          <a:noFill/>
          <a:ln/>
        </p:spPr>
        <p:txBody>
          <a:bodyPr wrap="square" lIns="0" tIns="0" rIns="0" bIns="0" rtlCol="0" anchor="ctr"/>
          <a:lstStyle/>
          <a:p>
            <a:pPr indent="0" marL="0">
              <a:buNone/>
            </a:pPr>
            <a:r>
              <a:rPr lang="en-US" sz="1150" b="1" spc="150" kern="0" dirty="0">
                <a:solidFill>
                  <a:srgbClr val="4F5B93"/>
                </a:solidFill>
                <a:latin typeface="Calibri" pitchFamily="34" charset="0"/>
                <a:ea typeface="Calibri" pitchFamily="34" charset="-122"/>
                <a:cs typeface="Calibri" pitchFamily="34" charset="-120"/>
              </a:rPr>
              <a:t>POR QUÉ IMPORTA</a:t>
            </a:r>
            <a:endParaRPr lang="en-US" sz="1150" dirty="0"/>
          </a:p>
        </p:txBody>
      </p:sp>
      <p:sp>
        <p:nvSpPr>
          <p:cNvPr id="9" name="Text 7"/>
          <p:cNvSpPr/>
          <p:nvPr/>
        </p:nvSpPr>
        <p:spPr>
          <a:xfrm>
            <a:off x="5047488" y="2121408"/>
            <a:ext cx="3346704" cy="859536"/>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Todo dato que venga del usuario y se muestre en una página debe pasar por htmlspecialchars. Si no, un atacante puede inyectar scripts (XSS).</a:t>
            </a:r>
            <a:endParaRPr lang="en-US" sz="1400" dirty="0"/>
          </a:p>
        </p:txBody>
      </p:sp>
      <p:sp>
        <p:nvSpPr>
          <p:cNvPr id="10" name="Shape 8"/>
          <p:cNvSpPr/>
          <p:nvPr/>
        </p:nvSpPr>
        <p:spPr>
          <a:xfrm>
            <a:off x="548640" y="3291840"/>
            <a:ext cx="8046720" cy="1371600"/>
          </a:xfrm>
          <a:prstGeom prst="roundRect">
            <a:avLst>
              <a:gd name="adj" fmla="val 5333"/>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731520" y="3438144"/>
            <a:ext cx="7680960" cy="365760"/>
          </a:xfrm>
          <a:prstGeom prst="rect">
            <a:avLst/>
          </a:prstGeom>
          <a:noFill/>
          <a:ln/>
        </p:spPr>
        <p:txBody>
          <a:bodyPr wrap="square" lIns="0" tIns="0" rIns="0" bIns="0" rtlCol="0" anchor="ctr"/>
          <a:lstStyle/>
          <a:p>
            <a:pPr indent="0" marL="0">
              <a:buNone/>
            </a:pPr>
            <a:r>
              <a:rPr lang="en-US" sz="1600" b="1" dirty="0">
                <a:solidFill>
                  <a:srgbClr val="4F5B93"/>
                </a:solidFill>
                <a:latin typeface="Cambria" pitchFamily="34" charset="0"/>
                <a:ea typeface="Cambria" pitchFamily="34" charset="-122"/>
                <a:cs typeface="Cambria" pitchFamily="34" charset="-120"/>
              </a:rPr>
              <a:t>Datos arriba, presentación abajo</a:t>
            </a:r>
            <a:endParaRPr lang="en-US" sz="1600" dirty="0"/>
          </a:p>
        </p:txBody>
      </p:sp>
      <p:sp>
        <p:nvSpPr>
          <p:cNvPr id="12" name="Text 10"/>
          <p:cNvSpPr/>
          <p:nvPr/>
        </p:nvSpPr>
        <p:spPr>
          <a:xfrm>
            <a:off x="731520" y="3858768"/>
            <a:ext cx="7680960" cy="65836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Estructura cada página en dos partes: primero la lógica (consultas, validaciones) y, debajo, el HTML que muestra los resultados ya preparados. Mantiene el archivo legible y evita mezclar lógica con diseño.</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5 — ORGANIZACIÓN</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Reutilizar y organizar el código</a:t>
            </a:r>
            <a:endParaRPr lang="en-US" sz="3000" dirty="0"/>
          </a:p>
        </p:txBody>
      </p:sp>
      <p:sp>
        <p:nvSpPr>
          <p:cNvPr id="4" name="Shape 2"/>
          <p:cNvSpPr/>
          <p:nvPr/>
        </p:nvSpPr>
        <p:spPr>
          <a:xfrm>
            <a:off x="548640" y="1737360"/>
            <a:ext cx="8046720" cy="1828800"/>
          </a:xfrm>
          <a:prstGeom prst="roundRect">
            <a:avLst>
              <a:gd name="adj" fmla="val 3000"/>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Inclusión, namespaces y Composer</a:t>
            </a:r>
            <a:endParaRPr lang="en-US" sz="1100" dirty="0"/>
          </a:p>
        </p:txBody>
      </p:sp>
      <p:sp>
        <p:nvSpPr>
          <p:cNvPr id="6" name="Text 4"/>
          <p:cNvSpPr/>
          <p:nvPr/>
        </p:nvSpPr>
        <p:spPr>
          <a:xfrm>
            <a:off x="694944" y="2103120"/>
            <a:ext cx="7772400" cy="1408176"/>
          </a:xfrm>
          <a:prstGeom prst="rect">
            <a:avLst/>
          </a:prstGeom>
          <a:noFill/>
          <a:ln/>
        </p:spPr>
        <p:txBody>
          <a:bodyPr wrap="square" lIns="0" tIns="0" rIns="0" bIns="0" rtlCol="0" anchor="t"/>
          <a:lstStyle/>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require __DIR__ . "/config/db.php";  // reutiliza la conexion</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namespace App\Modelo;        // agrupa clases por espacio</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use App\Modelo\Estudiante;</a:t>
            </a:r>
            <a:endParaRPr lang="en-US" sz="1150" dirty="0"/>
          </a:p>
          <a:p>
            <a:pPr indent="0" marL="0">
              <a:lnSpc>
                <a:spcPct val="102000"/>
              </a:lnSpc>
              <a:buNone/>
            </a:pPr>
            <a:r>
              <a:rPr lang="en-US" sz="1150" dirty="0">
                <a:solidFill>
                  <a:srgbClr val="5A6270"/>
                </a:solidFill>
                <a:latin typeface="Courier New" pitchFamily="34" charset="0"/>
                <a:ea typeface="Courier New" pitchFamily="34" charset="-122"/>
                <a:cs typeface="Courier New" pitchFamily="34" charset="-120"/>
              </a:rPr>
              <a:t>// composer.json -&gt; autoload PSR-4: Composer carga las clases</a:t>
            </a:r>
            <a:endParaRPr lang="en-US" sz="1150" dirty="0"/>
          </a:p>
        </p:txBody>
      </p:sp>
      <p:sp>
        <p:nvSpPr>
          <p:cNvPr id="7" name="Text 5"/>
          <p:cNvSpPr/>
          <p:nvPr/>
        </p:nvSpPr>
        <p:spPr>
          <a:xfrm>
            <a:off x="548640" y="3794760"/>
            <a:ext cx="8046720"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require / include traen otro archivo (la conexión, una vista).</a:t>
            </a:r>
            <a:endParaRPr lang="en-US" sz="1300" dirty="0"/>
          </a:p>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Los namespaces evitan choques de nombres; Composer autocarga las clases (PSR-4).</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5 — ERRORES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Manejo de errores con try / catch</a:t>
            </a:r>
            <a:endParaRPr lang="en-US" sz="3000" dirty="0"/>
          </a:p>
        </p:txBody>
      </p:sp>
      <p:sp>
        <p:nvSpPr>
          <p:cNvPr id="4" name="Shape 2"/>
          <p:cNvSpPr/>
          <p:nvPr/>
        </p:nvSpPr>
        <p:spPr>
          <a:xfrm>
            <a:off x="548640" y="1737360"/>
            <a:ext cx="8046720" cy="1737360"/>
          </a:xfrm>
          <a:prstGeom prst="roundRect">
            <a:avLst>
              <a:gd name="adj" fmla="val 3158"/>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try / catch</a:t>
            </a:r>
            <a:endParaRPr lang="en-US" sz="1100" dirty="0"/>
          </a:p>
        </p:txBody>
      </p:sp>
      <p:sp>
        <p:nvSpPr>
          <p:cNvPr id="6" name="Text 4"/>
          <p:cNvSpPr/>
          <p:nvPr/>
        </p:nvSpPr>
        <p:spPr>
          <a:xfrm>
            <a:off x="694944" y="2103120"/>
            <a:ext cx="7772400" cy="1316736"/>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try {</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$pdo = new PDO($dsn, $usuario, $clave);</a:t>
            </a:r>
            <a:endParaRPr lang="en-US" sz="1200" dirty="0"/>
          </a:p>
          <a:p>
            <a:pPr indent="0" marL="0">
              <a:lnSpc>
                <a:spcPct val="102000"/>
              </a:lnSpc>
              <a:buNone/>
            </a:pPr>
            <a:r>
              <a:rPr lang="en-US" sz="1200" dirty="0">
                <a:solidFill>
                  <a:srgbClr val="5A6270"/>
                </a:solidFill>
                <a:latin typeface="Courier New" pitchFamily="34" charset="0"/>
                <a:ea typeface="Courier New" pitchFamily="34" charset="-122"/>
                <a:cs typeface="Courier New" pitchFamily="34" charset="-120"/>
              </a:rPr>
              <a:t>  // ... operaciones con la base ...</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catch (PDOException $e) {</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echo "Error: " . $e-&gt;getMessage();</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548640" y="3657600"/>
            <a:ext cx="804672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Las excepciones separan el flujo normal del manejo de errores; captúralas donde puedas reaccionar (mostrar un mensaje, registrar el fallo).</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6 — POO</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Clases con PHP moderno</a:t>
            </a:r>
            <a:endParaRPr lang="en-US" sz="3000" dirty="0"/>
          </a:p>
        </p:txBody>
      </p:sp>
      <p:sp>
        <p:nvSpPr>
          <p:cNvPr id="4" name="Shape 2"/>
          <p:cNvSpPr/>
          <p:nvPr/>
        </p:nvSpPr>
        <p:spPr>
          <a:xfrm>
            <a:off x="548640" y="1737360"/>
            <a:ext cx="8046720" cy="2103120"/>
          </a:xfrm>
          <a:prstGeom prst="roundRect">
            <a:avLst>
              <a:gd name="adj" fmla="val 2609"/>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Constructor con promoción (PHP 8)</a:t>
            </a:r>
            <a:endParaRPr lang="en-US" sz="1100" dirty="0"/>
          </a:p>
        </p:txBody>
      </p:sp>
      <p:sp>
        <p:nvSpPr>
          <p:cNvPr id="6" name="Text 4"/>
          <p:cNvSpPr/>
          <p:nvPr/>
        </p:nvSpPr>
        <p:spPr>
          <a:xfrm>
            <a:off x="694944" y="2103120"/>
            <a:ext cx="7772400" cy="1682496"/>
          </a:xfrm>
          <a:prstGeom prst="rect">
            <a:avLst/>
          </a:prstGeom>
          <a:noFill/>
          <a:ln/>
        </p:spPr>
        <p:txBody>
          <a:bodyPr wrap="square" lIns="0" tIns="0" rIns="0" bIns="0" rtlCol="0" anchor="t"/>
          <a:lstStyle/>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class Estudiante {</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public function __construct(</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private string $nombre,    // tipado + promocion</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private string $correo,</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private string $carrera</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 {}</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public function getNombre(): string { return $this-&gt;nombre; }</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a:t>
            </a:r>
            <a:endParaRPr lang="en-US" sz="1150" dirty="0"/>
          </a:p>
        </p:txBody>
      </p:sp>
      <p:sp>
        <p:nvSpPr>
          <p:cNvPr id="7" name="Text 5"/>
          <p:cNvSpPr/>
          <p:nvPr/>
        </p:nvSpPr>
        <p:spPr>
          <a:xfrm>
            <a:off x="548640" y="4069080"/>
            <a:ext cx="8046720" cy="548640"/>
          </a:xfrm>
          <a:prstGeom prst="rect">
            <a:avLst/>
          </a:prstGeom>
          <a:noFill/>
          <a:ln/>
        </p:spPr>
        <p:txBody>
          <a:bodyPr wrap="square" lIns="0" tIns="0" rIns="0" bIns="0" rtlCol="0" anchor="ctr"/>
          <a:lstStyle/>
          <a:p>
            <a:pPr indent="0" marL="0">
              <a:buNone/>
            </a:pPr>
            <a:r>
              <a:rPr lang="en-US" sz="1300" i="1" dirty="0">
                <a:solidFill>
                  <a:srgbClr val="5A6270"/>
                </a:solidFill>
                <a:latin typeface="Calibri" pitchFamily="34" charset="0"/>
                <a:ea typeface="Calibri" pitchFamily="34" charset="-122"/>
                <a:cs typeface="Calibri" pitchFamily="34" charset="-120"/>
              </a:rPr>
              <a:t>La promoción de propiedades (PHP 8) declara y asigna los atributos en el propio constructor: menos código repetido.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6 — POO</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Interfaces, enums e inyección</a:t>
            </a:r>
            <a:endParaRPr lang="en-US" sz="3000" dirty="0"/>
          </a:p>
        </p:txBody>
      </p:sp>
      <p:sp>
        <p:nvSpPr>
          <p:cNvPr id="4" name="Shape 2"/>
          <p:cNvSpPr/>
          <p:nvPr/>
        </p:nvSpPr>
        <p:spPr>
          <a:xfrm>
            <a:off x="548640" y="1737360"/>
            <a:ext cx="4114800" cy="2011680"/>
          </a:xfrm>
          <a:prstGeom prst="roundRect">
            <a:avLst>
              <a:gd name="adj" fmla="val 2727"/>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411480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Contratos y valores fijos</a:t>
            </a:r>
            <a:endParaRPr lang="en-US" sz="1100" dirty="0"/>
          </a:p>
        </p:txBody>
      </p:sp>
      <p:sp>
        <p:nvSpPr>
          <p:cNvPr id="6" name="Text 4"/>
          <p:cNvSpPr/>
          <p:nvPr/>
        </p:nvSpPr>
        <p:spPr>
          <a:xfrm>
            <a:off x="694944" y="2103120"/>
            <a:ext cx="3840480" cy="159105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interface Figura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public function area(): float;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enum Estado {        // PHP 8.1</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case Activo;</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case Inactivo;</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4846320" y="1737360"/>
            <a:ext cx="3749040" cy="23774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Interfaz: un contrato que las clases implementan.</a:t>
            </a:r>
            <a:endParaRPr lang="en-US" sz="1300" dirty="0"/>
          </a:p>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Enum (PHP 8.1): conjunto fijo de valores válidos.</a:t>
            </a:r>
            <a:endParaRPr lang="en-US" sz="1300" dirty="0"/>
          </a:p>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Inyección de dependencias: la clase recibe lo que necesita por el constructor, no lo crea dentro.</a:t>
            </a:r>
            <a:endParaRPr lang="en-US" sz="1300" dirty="0"/>
          </a:p>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Estas piezas hacen el código flexible y fácil de probar.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7 — SESIONES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Inicio de sesión y estado</a:t>
            </a:r>
            <a:endParaRPr lang="en-US" sz="3000" dirty="0"/>
          </a:p>
        </p:txBody>
      </p:sp>
      <p:sp>
        <p:nvSpPr>
          <p:cNvPr id="4" name="Shape 2"/>
          <p:cNvSpPr/>
          <p:nvPr/>
        </p:nvSpPr>
        <p:spPr>
          <a:xfrm>
            <a:off x="548640" y="1737360"/>
            <a:ext cx="8046720" cy="2011680"/>
          </a:xfrm>
          <a:prstGeom prst="roundRect">
            <a:avLst>
              <a:gd name="adj" fmla="val 2727"/>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Login seguro y sesión</a:t>
            </a:r>
            <a:endParaRPr lang="en-US" sz="1100" dirty="0"/>
          </a:p>
        </p:txBody>
      </p:sp>
      <p:sp>
        <p:nvSpPr>
          <p:cNvPr id="6" name="Text 4"/>
          <p:cNvSpPr/>
          <p:nvPr/>
        </p:nvSpPr>
        <p:spPr>
          <a:xfrm>
            <a:off x="694944" y="2103120"/>
            <a:ext cx="7772400" cy="159105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session_start();   // al inicio de cada pagina con sesion</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a:t>
            </a:r>
            <a:endParaRPr lang="en-US" sz="1100" dirty="0"/>
          </a:p>
          <a:p>
            <a:pPr indent="0" marL="0">
              <a:lnSpc>
                <a:spcPct val="102000"/>
              </a:lnSpc>
              <a:buNone/>
            </a:pPr>
            <a:r>
              <a:rPr lang="en-US" sz="1100" dirty="0">
                <a:solidFill>
                  <a:srgbClr val="5A6270"/>
                </a:solidFill>
                <a:latin typeface="Courier New" pitchFamily="34" charset="0"/>
                <a:ea typeface="Courier New" pitchFamily="34" charset="-122"/>
                <a:cs typeface="Courier New" pitchFamily="34" charset="-120"/>
              </a:rPr>
              <a:t>// al registrar: guardar el HASH, nunca la clave en claro</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$hash = password_hash($clave, PASSWORD_DEFAULT);</a:t>
            </a:r>
            <a:endParaRPr lang="en-US" sz="1100" dirty="0"/>
          </a:p>
          <a:p>
            <a:pPr indent="0" marL="0">
              <a:lnSpc>
                <a:spcPct val="102000"/>
              </a:lnSpc>
              <a:buNone/>
            </a:pPr>
            <a:r>
              <a:rPr lang="en-US" sz="1100" dirty="0">
                <a:solidFill>
                  <a:srgbClr val="5A6270"/>
                </a:solidFill>
                <a:latin typeface="Courier New" pitchFamily="34" charset="0"/>
                <a:ea typeface="Courier New" pitchFamily="34" charset="-122"/>
                <a:cs typeface="Courier New" pitchFamily="34" charset="-120"/>
              </a:rPr>
              <a:t>// al entrar: verificar contra el hash guardado</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if (password_verify($clave, $hashGuardado))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$_SESSION["usuario"] = $usuario;   // queda autenticado</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548640" y="4069080"/>
            <a:ext cx="8046720" cy="457200"/>
          </a:xfrm>
          <a:prstGeom prst="rect">
            <a:avLst/>
          </a:prstGeom>
          <a:noFill/>
          <a:ln/>
        </p:spPr>
        <p:txBody>
          <a:bodyPr wrap="square" lIns="0" tIns="0" rIns="0" bIns="0" rtlCol="0" anchor="ctr"/>
          <a:lstStyle/>
          <a:p>
            <a:pPr indent="0" marL="0">
              <a:buNone/>
            </a:pPr>
            <a:r>
              <a:rPr lang="en-US" sz="1300" i="1" dirty="0">
                <a:solidFill>
                  <a:srgbClr val="5A6270"/>
                </a:solidFill>
                <a:latin typeface="Calibri" pitchFamily="34" charset="0"/>
                <a:ea typeface="Calibri" pitchFamily="34" charset="-122"/>
                <a:cs typeface="Calibri" pitchFamily="34" charset="-120"/>
              </a:rPr>
              <a:t>Tras una acción que modifica datos, redirige (patrón PRG) para que recargar no la repita.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8 — PDO</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Conexión a PostgreSQL con PDO</a:t>
            </a:r>
            <a:endParaRPr lang="en-US" sz="3000" dirty="0"/>
          </a:p>
        </p:txBody>
      </p:sp>
      <p:sp>
        <p:nvSpPr>
          <p:cNvPr id="4" name="Shape 2"/>
          <p:cNvSpPr/>
          <p:nvPr/>
        </p:nvSpPr>
        <p:spPr>
          <a:xfrm>
            <a:off x="548640" y="1737360"/>
            <a:ext cx="8046720" cy="1920240"/>
          </a:xfrm>
          <a:prstGeom prst="roundRect">
            <a:avLst>
              <a:gd name="adj" fmla="val 2857"/>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config/db.php</a:t>
            </a:r>
            <a:endParaRPr lang="en-US" sz="1100" dirty="0"/>
          </a:p>
        </p:txBody>
      </p:sp>
      <p:sp>
        <p:nvSpPr>
          <p:cNvPr id="6" name="Text 4"/>
          <p:cNvSpPr/>
          <p:nvPr/>
        </p:nvSpPr>
        <p:spPr>
          <a:xfrm>
            <a:off x="694944" y="2103120"/>
            <a:ext cx="7772400" cy="149961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$dsn = 'pgsql:host=127.0.0.1;port=5432;dbname=appweb2026ppa';</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$pdo = new PDO($dsn, 'postgres', 'P@$7Gr3$QL');</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$pdo-&gt;setAttribute(PDO::ATTR_ERRMODE,</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PDO::ERRMODE_EXCEPTION);  // errores -&gt; excepciones</a:t>
            </a:r>
            <a:endParaRPr lang="en-US" sz="1100" dirty="0"/>
          </a:p>
        </p:txBody>
      </p:sp>
      <p:sp>
        <p:nvSpPr>
          <p:cNvPr id="7" name="Shape 5"/>
          <p:cNvSpPr/>
          <p:nvPr/>
        </p:nvSpPr>
        <p:spPr>
          <a:xfrm>
            <a:off x="548640" y="3794760"/>
            <a:ext cx="8046720" cy="914400"/>
          </a:xfrm>
          <a:prstGeom prst="roundRect">
            <a:avLst>
              <a:gd name="adj" fmla="val 8000"/>
            </a:avLst>
          </a:prstGeom>
          <a:solidFill>
            <a:srgbClr val="ECEEF6"/>
          </a:solidFill>
          <a:ln w="12700">
            <a:solidFill>
              <a:srgbClr val="4F5B93"/>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749808" y="3913632"/>
            <a:ext cx="7680960" cy="237744"/>
          </a:xfrm>
          <a:prstGeom prst="rect">
            <a:avLst/>
          </a:prstGeom>
          <a:noFill/>
          <a:ln/>
        </p:spPr>
        <p:txBody>
          <a:bodyPr wrap="square" lIns="0" tIns="0" rIns="0" bIns="0" rtlCol="0" anchor="ctr"/>
          <a:lstStyle/>
          <a:p>
            <a:pPr indent="0" marL="0">
              <a:buNone/>
            </a:pPr>
            <a:r>
              <a:rPr lang="en-US" sz="1150" b="1" spc="150" kern="0" dirty="0">
                <a:solidFill>
                  <a:srgbClr val="4F5B93"/>
                </a:solidFill>
                <a:latin typeface="Calibri" pitchFamily="34" charset="0"/>
                <a:ea typeface="Calibri" pitchFamily="34" charset="-122"/>
                <a:cs typeface="Calibri" pitchFamily="34" charset="-120"/>
              </a:rPr>
              <a:t>DOS DETALLES CLAVE</a:t>
            </a:r>
            <a:endParaRPr lang="en-US" sz="1150" dirty="0"/>
          </a:p>
        </p:txBody>
      </p:sp>
      <p:sp>
        <p:nvSpPr>
          <p:cNvPr id="9" name="Text 7"/>
          <p:cNvSpPr/>
          <p:nvPr/>
        </p:nvSpPr>
        <p:spPr>
          <a:xfrm>
            <a:off x="749808" y="4178808"/>
            <a:ext cx="7644384" cy="402336"/>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 clave con $ va en comillas SIMPLES para que PHP no la interprete. Configurar ERRMODE_EXCEPTION hace que los fallos lancen excepciones (más fáciles de manejar).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8 — PDO</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Sentencias preparadas (CRUD)</a:t>
            </a:r>
            <a:endParaRPr lang="en-US" sz="3000" dirty="0"/>
          </a:p>
        </p:txBody>
      </p:sp>
      <p:sp>
        <p:nvSpPr>
          <p:cNvPr id="4" name="Shape 2"/>
          <p:cNvSpPr/>
          <p:nvPr/>
        </p:nvSpPr>
        <p:spPr>
          <a:xfrm>
            <a:off x="548640" y="1737360"/>
            <a:ext cx="8046720" cy="2103120"/>
          </a:xfrm>
          <a:prstGeom prst="roundRect">
            <a:avLst>
              <a:gd name="adj" fmla="val 2609"/>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Las operaciones</a:t>
            </a:r>
            <a:endParaRPr lang="en-US" sz="1100" dirty="0"/>
          </a:p>
        </p:txBody>
      </p:sp>
      <p:sp>
        <p:nvSpPr>
          <p:cNvPr id="6" name="Text 4"/>
          <p:cNvSpPr/>
          <p:nvPr/>
        </p:nvSpPr>
        <p:spPr>
          <a:xfrm>
            <a:off x="694944" y="2103120"/>
            <a:ext cx="7772400" cy="1682496"/>
          </a:xfrm>
          <a:prstGeom prst="rect">
            <a:avLst/>
          </a:prstGeom>
          <a:noFill/>
          <a:ln/>
        </p:spPr>
        <p:txBody>
          <a:bodyPr wrap="square" lIns="0" tIns="0" rIns="0" bIns="0" rtlCol="0" anchor="t"/>
          <a:lstStyle/>
          <a:p>
            <a:pPr indent="0" marL="0">
              <a:lnSpc>
                <a:spcPct val="102000"/>
              </a:lnSpc>
              <a:buNone/>
            </a:pPr>
            <a:r>
              <a:rPr lang="en-US" sz="1100" dirty="0">
                <a:solidFill>
                  <a:srgbClr val="5A6270"/>
                </a:solidFill>
                <a:latin typeface="Courier New" pitchFamily="34" charset="0"/>
                <a:ea typeface="Courier New" pitchFamily="34" charset="-122"/>
                <a:cs typeface="Courier New" pitchFamily="34" charset="-120"/>
              </a:rPr>
              <a:t>// CREATE -- marcadores ? : defensa anti-inyeccion</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$pdo-&gt;prepare('INSERT INTO estudiantes (nombre,correo)</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VALUES (?,?)')-&gt;execute([$nombre, $correo]);</a:t>
            </a:r>
            <a:endParaRPr lang="en-US" sz="1100" dirty="0"/>
          </a:p>
          <a:p>
            <a:pPr indent="0" marL="0">
              <a:lnSpc>
                <a:spcPct val="102000"/>
              </a:lnSpc>
              <a:buNone/>
            </a:pPr>
            <a:r>
              <a:rPr lang="en-US" sz="1100" dirty="0">
                <a:solidFill>
                  <a:srgbClr val="5A6270"/>
                </a:solidFill>
                <a:latin typeface="Courier New" pitchFamily="34" charset="0"/>
                <a:ea typeface="Courier New" pitchFamily="34" charset="-122"/>
                <a:cs typeface="Courier New" pitchFamily="34" charset="-120"/>
              </a:rPr>
              <a:t>// READ</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$filas = $pdo-&gt;query('SELECT * FROM estudiantes')-&gt;fetchAll();</a:t>
            </a:r>
            <a:endParaRPr lang="en-US" sz="1100" dirty="0"/>
          </a:p>
          <a:p>
            <a:pPr indent="0" marL="0">
              <a:lnSpc>
                <a:spcPct val="102000"/>
              </a:lnSpc>
              <a:buNone/>
            </a:pPr>
            <a:r>
              <a:rPr lang="en-US" sz="1100" dirty="0">
                <a:solidFill>
                  <a:srgbClr val="5A6270"/>
                </a:solidFill>
                <a:latin typeface="Courier New" pitchFamily="34" charset="0"/>
                <a:ea typeface="Courier New" pitchFamily="34" charset="-122"/>
                <a:cs typeface="Courier New" pitchFamily="34" charset="-120"/>
              </a:rPr>
              <a:t>// UPDATE / DELETE: igual, con prepare() + execute([...])</a:t>
            </a:r>
            <a:endParaRPr lang="en-US" sz="1100" dirty="0"/>
          </a:p>
        </p:txBody>
      </p:sp>
      <p:sp>
        <p:nvSpPr>
          <p:cNvPr id="7" name="Text 5"/>
          <p:cNvSpPr/>
          <p:nvPr/>
        </p:nvSpPr>
        <p:spPr>
          <a:xfrm>
            <a:off x="548640" y="4069080"/>
            <a:ext cx="8046720" cy="457200"/>
          </a:xfrm>
          <a:prstGeom prst="rect">
            <a:avLst/>
          </a:prstGeom>
          <a:noFill/>
          <a:ln/>
        </p:spPr>
        <p:txBody>
          <a:bodyPr wrap="square" lIns="0" tIns="0" rIns="0" bIns="0" rtlCol="0" anchor="ctr"/>
          <a:lstStyle/>
          <a:p>
            <a:pPr indent="0" marL="0">
              <a:buNone/>
            </a:pPr>
            <a:r>
              <a:rPr lang="en-US" sz="1300" b="1" dirty="0">
                <a:solidFill>
                  <a:srgbClr val="2E3357"/>
                </a:solidFill>
                <a:latin typeface="Calibri" pitchFamily="34" charset="0"/>
                <a:ea typeface="Calibri" pitchFamily="34" charset="-122"/>
                <a:cs typeface="Calibri" pitchFamily="34" charset="-120"/>
              </a:rPr>
              <a:t>Nunca concatenes datos del usuario en el SQL: usa siempre marcadores ? con prepare()/execute().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8 — PDO</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Transacciones</a:t>
            </a:r>
            <a:endParaRPr lang="en-US" sz="3000" dirty="0"/>
          </a:p>
        </p:txBody>
      </p:sp>
      <p:sp>
        <p:nvSpPr>
          <p:cNvPr id="4" name="Shape 2"/>
          <p:cNvSpPr/>
          <p:nvPr/>
        </p:nvSpPr>
        <p:spPr>
          <a:xfrm>
            <a:off x="548640" y="1737360"/>
            <a:ext cx="8046720" cy="1828800"/>
          </a:xfrm>
          <a:prstGeom prst="roundRect">
            <a:avLst>
              <a:gd name="adj" fmla="val 3000"/>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Todo o nada</a:t>
            </a:r>
            <a:endParaRPr lang="en-US" sz="1100" dirty="0"/>
          </a:p>
        </p:txBody>
      </p:sp>
      <p:sp>
        <p:nvSpPr>
          <p:cNvPr id="6" name="Text 4"/>
          <p:cNvSpPr/>
          <p:nvPr/>
        </p:nvSpPr>
        <p:spPr>
          <a:xfrm>
            <a:off x="694944" y="2103120"/>
            <a:ext cx="7772400" cy="1408176"/>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$pdo-&gt;beginTransaction();</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try {</a:t>
            </a:r>
            <a:endParaRPr lang="en-US" sz="1200" dirty="0"/>
          </a:p>
          <a:p>
            <a:pPr indent="0" marL="0">
              <a:lnSpc>
                <a:spcPct val="102000"/>
              </a:lnSpc>
              <a:buNone/>
            </a:pPr>
            <a:r>
              <a:rPr lang="en-US" sz="1200" dirty="0">
                <a:solidFill>
                  <a:srgbClr val="5A6270"/>
                </a:solidFill>
                <a:latin typeface="Courier New" pitchFamily="34" charset="0"/>
                <a:ea typeface="Courier New" pitchFamily="34" charset="-122"/>
                <a:cs typeface="Courier New" pitchFamily="34" charset="-120"/>
              </a:rPr>
              <a:t>  // varias operaciones que deben tener exito juntas</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$pdo-&gt;commit();      // confirmar</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catch (Throwable $e) {</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$pdo-&gt;rollBack();    // deshacer todo si algo falla</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548640" y="3749040"/>
            <a:ext cx="804672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Cuando varias operaciones deben completarse como un bloque, agrúpalas en una transacción: o todas, o ninguna.</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9 — INTEGRADOR</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Proyecto CRUD: cómo funciona</a:t>
            </a:r>
            <a:endParaRPr lang="en-US" sz="3000" dirty="0"/>
          </a:p>
        </p:txBody>
      </p:sp>
      <p:sp>
        <p:nvSpPr>
          <p:cNvPr id="4" name="Shape 2"/>
          <p:cNvSpPr/>
          <p:nvPr/>
        </p:nvSpPr>
        <p:spPr>
          <a:xfrm>
            <a:off x="548640" y="1737360"/>
            <a:ext cx="4023360" cy="1920240"/>
          </a:xfrm>
          <a:prstGeom prst="roundRect">
            <a:avLst>
              <a:gd name="adj" fmla="val 2857"/>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402336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Estructura</a:t>
            </a:r>
            <a:endParaRPr lang="en-US" sz="1100" dirty="0"/>
          </a:p>
        </p:txBody>
      </p:sp>
      <p:sp>
        <p:nvSpPr>
          <p:cNvPr id="6" name="Text 4"/>
          <p:cNvSpPr/>
          <p:nvPr/>
        </p:nvSpPr>
        <p:spPr>
          <a:xfrm>
            <a:off x="694944" y="2103120"/>
            <a:ext cx="3749040" cy="149961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crud_php/</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config/</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 db.php      # conexion PDO</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index.php      # punto de entrada</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schema.sql     # tabla</a:t>
            </a:r>
            <a:endParaRPr lang="en-US" sz="1100" dirty="0"/>
          </a:p>
        </p:txBody>
      </p:sp>
      <p:sp>
        <p:nvSpPr>
          <p:cNvPr id="7" name="Text 5"/>
          <p:cNvSpPr/>
          <p:nvPr/>
        </p:nvSpPr>
        <p:spPr>
          <a:xfrm>
            <a:off x="4663440" y="1737360"/>
            <a:ext cx="3931920" cy="23774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Un único punto de entrada: index.php incluye la conexión y decide según la petición.</a:t>
            </a:r>
            <a:endParaRPr lang="en-US" sz="1250" dirty="0"/>
          </a:p>
          <a:p>
            <a:pPr marL="177800" indent="-1778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POST → valida, inserta y redirige (PRG).</a:t>
            </a:r>
            <a:endParaRPr lang="en-US" sz="1250" dirty="0"/>
          </a:p>
          <a:p>
            <a:pPr marL="177800" indent="-1778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?eliminar=ID → borra y redirige.</a:t>
            </a:r>
            <a:endParaRPr lang="en-US" sz="1250" dirty="0"/>
          </a:p>
          <a:p>
            <a:pPr marL="177800" indent="-1778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En otro caso → lista y muestra la tabla.</a:t>
            </a:r>
            <a:endParaRPr lang="en-US" sz="1250" dirty="0"/>
          </a:p>
          <a:p>
            <a:pPr marL="177800" indent="-1778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Inserta con sentencias preparadas; muestra con htmlspecialchars.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10 — SEGURIDAD</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Las tres defensas esenciales</a:t>
            </a:r>
            <a:endParaRPr lang="en-US" sz="3000" dirty="0"/>
          </a:p>
        </p:txBody>
      </p:sp>
      <p:sp>
        <p:nvSpPr>
          <p:cNvPr id="4" name="Shape 2"/>
          <p:cNvSpPr/>
          <p:nvPr/>
        </p:nvSpPr>
        <p:spPr>
          <a:xfrm>
            <a:off x="548640" y="1737360"/>
            <a:ext cx="2743200" cy="2377440"/>
          </a:xfrm>
          <a:prstGeom prst="roundRect">
            <a:avLst>
              <a:gd name="adj" fmla="val 3077"/>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31520" y="1883664"/>
            <a:ext cx="2377440" cy="365760"/>
          </a:xfrm>
          <a:prstGeom prst="rect">
            <a:avLst/>
          </a:prstGeom>
          <a:noFill/>
          <a:ln/>
        </p:spPr>
        <p:txBody>
          <a:bodyPr wrap="square" lIns="0" tIns="0" rIns="0" bIns="0" rtlCol="0" anchor="ctr"/>
          <a:lstStyle/>
          <a:p>
            <a:pPr indent="0" marL="0">
              <a:buNone/>
            </a:pPr>
            <a:r>
              <a:rPr lang="en-US" sz="1600" b="1" dirty="0">
                <a:solidFill>
                  <a:srgbClr val="B07A1E"/>
                </a:solidFill>
                <a:latin typeface="Cambria" pitchFamily="34" charset="0"/>
                <a:ea typeface="Cambria" pitchFamily="34" charset="-122"/>
                <a:cs typeface="Cambria" pitchFamily="34" charset="-120"/>
              </a:rPr>
              <a:t>Inyección SQL</a:t>
            </a:r>
            <a:endParaRPr lang="en-US" sz="1600" dirty="0"/>
          </a:p>
        </p:txBody>
      </p:sp>
      <p:sp>
        <p:nvSpPr>
          <p:cNvPr id="6" name="Text 4"/>
          <p:cNvSpPr/>
          <p:nvPr/>
        </p:nvSpPr>
        <p:spPr>
          <a:xfrm>
            <a:off x="731520" y="2304288"/>
            <a:ext cx="2377440" cy="166420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Nunca concatenar datos en el SQL. Usar siempre sentencias preparadas (prepare + execute).</a:t>
            </a:r>
            <a:endParaRPr lang="en-US" sz="1350" dirty="0"/>
          </a:p>
        </p:txBody>
      </p:sp>
      <p:sp>
        <p:nvSpPr>
          <p:cNvPr id="7" name="Shape 5"/>
          <p:cNvSpPr/>
          <p:nvPr/>
        </p:nvSpPr>
        <p:spPr>
          <a:xfrm>
            <a:off x="3383280" y="1737360"/>
            <a:ext cx="2743200" cy="2377440"/>
          </a:xfrm>
          <a:prstGeom prst="roundRect">
            <a:avLst>
              <a:gd name="adj" fmla="val 3077"/>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3566160" y="1883664"/>
            <a:ext cx="2377440" cy="365760"/>
          </a:xfrm>
          <a:prstGeom prst="rect">
            <a:avLst/>
          </a:prstGeom>
          <a:noFill/>
          <a:ln/>
        </p:spPr>
        <p:txBody>
          <a:bodyPr wrap="square" lIns="0" tIns="0" rIns="0" bIns="0" rtlCol="0" anchor="ctr"/>
          <a:lstStyle/>
          <a:p>
            <a:pPr indent="0" marL="0">
              <a:buNone/>
            </a:pPr>
            <a:r>
              <a:rPr lang="en-US" sz="1600" b="1" dirty="0">
                <a:solidFill>
                  <a:srgbClr val="B07A1E"/>
                </a:solidFill>
                <a:latin typeface="Cambria" pitchFamily="34" charset="0"/>
                <a:ea typeface="Cambria" pitchFamily="34" charset="-122"/>
                <a:cs typeface="Cambria" pitchFamily="34" charset="-120"/>
              </a:rPr>
              <a:t>XSS</a:t>
            </a:r>
            <a:endParaRPr lang="en-US" sz="1600" dirty="0"/>
          </a:p>
        </p:txBody>
      </p:sp>
      <p:sp>
        <p:nvSpPr>
          <p:cNvPr id="9" name="Text 7"/>
          <p:cNvSpPr/>
          <p:nvPr/>
        </p:nvSpPr>
        <p:spPr>
          <a:xfrm>
            <a:off x="3566160" y="2304288"/>
            <a:ext cx="2377440" cy="166420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Escapar toda salida que venga del usuario con htmlspecialchars antes de mostrarla.</a:t>
            </a:r>
            <a:endParaRPr lang="en-US" sz="1350" dirty="0"/>
          </a:p>
        </p:txBody>
      </p:sp>
      <p:sp>
        <p:nvSpPr>
          <p:cNvPr id="10" name="Shape 8"/>
          <p:cNvSpPr/>
          <p:nvPr/>
        </p:nvSpPr>
        <p:spPr>
          <a:xfrm>
            <a:off x="5852160" y="1737360"/>
            <a:ext cx="2743200" cy="2377440"/>
          </a:xfrm>
          <a:prstGeom prst="roundRect">
            <a:avLst>
              <a:gd name="adj" fmla="val 3077"/>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6035040" y="1883664"/>
            <a:ext cx="2377440" cy="365760"/>
          </a:xfrm>
          <a:prstGeom prst="rect">
            <a:avLst/>
          </a:prstGeom>
          <a:noFill/>
          <a:ln/>
        </p:spPr>
        <p:txBody>
          <a:bodyPr wrap="square" lIns="0" tIns="0" rIns="0" bIns="0" rtlCol="0" anchor="ctr"/>
          <a:lstStyle/>
          <a:p>
            <a:pPr indent="0" marL="0">
              <a:buNone/>
            </a:pPr>
            <a:r>
              <a:rPr lang="en-US" sz="1600" b="1" dirty="0">
                <a:solidFill>
                  <a:srgbClr val="B07A1E"/>
                </a:solidFill>
                <a:latin typeface="Cambria" pitchFamily="34" charset="0"/>
                <a:ea typeface="Cambria" pitchFamily="34" charset="-122"/>
                <a:cs typeface="Cambria" pitchFamily="34" charset="-120"/>
              </a:rPr>
              <a:t>CSRF</a:t>
            </a:r>
            <a:endParaRPr lang="en-US" sz="1600" dirty="0"/>
          </a:p>
        </p:txBody>
      </p:sp>
      <p:sp>
        <p:nvSpPr>
          <p:cNvPr id="12" name="Text 10"/>
          <p:cNvSpPr/>
          <p:nvPr/>
        </p:nvSpPr>
        <p:spPr>
          <a:xfrm>
            <a:off x="6035040" y="2304288"/>
            <a:ext cx="2377440" cy="166420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Token único por formulario en la sesión; verificarlo con hash_equals al recibir el envío.</a:t>
            </a:r>
            <a:endParaRPr lang="en-US" sz="1350" dirty="0"/>
          </a:p>
        </p:txBody>
      </p:sp>
      <p:sp>
        <p:nvSpPr>
          <p:cNvPr id="13" name="Text 11"/>
          <p:cNvSpPr/>
          <p:nvPr/>
        </p:nvSpPr>
        <p:spPr>
          <a:xfrm>
            <a:off x="548640" y="4343400"/>
            <a:ext cx="8046720" cy="457200"/>
          </a:xfrm>
          <a:prstGeom prst="rect">
            <a:avLst/>
          </a:prstGeom>
          <a:noFill/>
          <a:ln/>
        </p:spPr>
        <p:txBody>
          <a:bodyPr wrap="square" lIns="0" tIns="0" rIns="0" bIns="0" rtlCol="0" anchor="ctr"/>
          <a:lstStyle/>
          <a:p>
            <a:pPr indent="0" marL="0">
              <a:buNone/>
            </a:pPr>
            <a:r>
              <a:rPr lang="en-US" sz="1300" i="1" dirty="0">
                <a:solidFill>
                  <a:srgbClr val="5A6270"/>
                </a:solidFill>
                <a:latin typeface="Calibri" pitchFamily="34" charset="0"/>
                <a:ea typeface="Calibri" pitchFamily="34" charset="-122"/>
                <a:cs typeface="Calibri" pitchFamily="34" charset="-120"/>
              </a:rPr>
              <a:t>La seguridad no es un paso final: se aplica en cada consulta y en cada salida, desde el principio.</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11 — PRUEBAS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Pruebas automatizadas con PHPUnit</a:t>
            </a:r>
            <a:endParaRPr lang="en-US" sz="3000" dirty="0"/>
          </a:p>
        </p:txBody>
      </p:sp>
      <p:sp>
        <p:nvSpPr>
          <p:cNvPr id="4" name="Shape 2"/>
          <p:cNvSpPr/>
          <p:nvPr/>
        </p:nvSpPr>
        <p:spPr>
          <a:xfrm>
            <a:off x="548640" y="1737360"/>
            <a:ext cx="8046720" cy="1737360"/>
          </a:xfrm>
          <a:prstGeom prst="roundRect">
            <a:avLst>
              <a:gd name="adj" fmla="val 3158"/>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Una prueba</a:t>
            </a:r>
            <a:endParaRPr lang="en-US" sz="1100" dirty="0"/>
          </a:p>
        </p:txBody>
      </p:sp>
      <p:sp>
        <p:nvSpPr>
          <p:cNvPr id="6" name="Text 4"/>
          <p:cNvSpPr/>
          <p:nvPr/>
        </p:nvSpPr>
        <p:spPr>
          <a:xfrm>
            <a:off x="694944" y="2103120"/>
            <a:ext cx="7772400" cy="1316736"/>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use PHPUnit\Framework\TestCase;</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class CalculadoraTest extends TestCase {</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public function testSuma(): void {</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$this-&gt;assertSame(5, sumar(2, 3));</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548640" y="3657600"/>
            <a:ext cx="8046720" cy="64008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Las pruebas verifican que tu código hace lo que debe y sigue funcionando tras cada cambio. Empieza por la lógica pura (funciones y servicios).</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12 — FRAMEWORKS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Laravel y Symfony</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8046720" cy="914400"/>
        </p:xfrm>
        <a:graphic>
          <a:graphicData uri="http://schemas.openxmlformats.org/drawingml/2006/table">
            <a:tbl>
              <a:tblPr/>
              <a:tblGrid>
                <a:gridCol w="1828800"/>
                <a:gridCol w="3108960"/>
                <a:gridCol w="3108960"/>
              </a:tblGrid>
              <a:tr h="566928">
                <a:tc>
                  <a:txBody>
                    <a:bodyPr/>
                    <a:lstStyle/>
                    <a:p>
                      <a:pPr algn="l" indent="0" marL="0">
                        <a:buNone/>
                      </a:pP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Laravel</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solidFill>
                      <a:srgbClr val="4F5B93"/>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Symfony</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solidFill>
                      <a:srgbClr val="B07A1E"/>
                    </a:solidFill>
                  </a:tcPr>
                </a:tc>
              </a:tr>
              <a:tr h="566928">
                <a:tc>
                  <a:txBody>
                    <a:bodyPr/>
                    <a:lstStyle/>
                    <a:p>
                      <a:pPr algn="l" indent="0" marL="0">
                        <a:buNone/>
                      </a:pPr>
                      <a:r>
                        <a:rPr lang="en-US" sz="1350" b="1" dirty="0">
                          <a:solidFill>
                            <a:srgbClr val="2E3357"/>
                          </a:solidFill>
                          <a:latin typeface="Calibri" pitchFamily="34" charset="0"/>
                          <a:ea typeface="Calibri" pitchFamily="34" charset="-122"/>
                          <a:cs typeface="Calibri" pitchFamily="34" charset="-120"/>
                        </a:rPr>
                        <a:t>Estilo</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c>
                  <a:txBody>
                    <a:bodyPr/>
                    <a:lstStyle/>
                    <a:p>
                      <a:pPr algn="l" indent="0" marL="0">
                        <a:buNone/>
                      </a:pPr>
                      <a:r>
                        <a:rPr lang="en-US" sz="1350" dirty="0">
                          <a:solidFill>
                            <a:srgbClr val="1F2933"/>
                          </a:solidFill>
                          <a:latin typeface="Calibri" pitchFamily="34" charset="0"/>
                          <a:ea typeface="Calibri" pitchFamily="34" charset="-122"/>
                          <a:cs typeface="Calibri" pitchFamily="34" charset="-120"/>
                        </a:rPr>
                        <a:t>Rápido y expresivo</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c>
                  <a:txBody>
                    <a:bodyPr/>
                    <a:lstStyle/>
                    <a:p>
                      <a:pPr algn="l" indent="0" marL="0">
                        <a:buNone/>
                      </a:pPr>
                      <a:r>
                        <a:rPr lang="en-US" sz="1350" dirty="0">
                          <a:solidFill>
                            <a:srgbClr val="1F2933"/>
                          </a:solidFill>
                          <a:latin typeface="Calibri" pitchFamily="34" charset="0"/>
                          <a:ea typeface="Calibri" pitchFamily="34" charset="-122"/>
                          <a:cs typeface="Calibri" pitchFamily="34" charset="-120"/>
                        </a:rPr>
                        <a:t>Modular y muy configurable</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r>
              <a:tr h="566928">
                <a:tc>
                  <a:txBody>
                    <a:bodyPr/>
                    <a:lstStyle/>
                    <a:p>
                      <a:pPr algn="l" indent="0" marL="0">
                        <a:buNone/>
                      </a:pPr>
                      <a:r>
                        <a:rPr lang="en-US" sz="1350" b="1" dirty="0">
                          <a:solidFill>
                            <a:srgbClr val="2E3357"/>
                          </a:solidFill>
                          <a:latin typeface="Calibri" pitchFamily="34" charset="0"/>
                          <a:ea typeface="Calibri" pitchFamily="34" charset="-122"/>
                          <a:cs typeface="Calibri" pitchFamily="34" charset="-120"/>
                        </a:rPr>
                        <a:t>ORM</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c>
                  <a:txBody>
                    <a:bodyPr/>
                    <a:lstStyle/>
                    <a:p>
                      <a:pPr algn="l" indent="0" marL="0">
                        <a:buNone/>
                      </a:pPr>
                      <a:r>
                        <a:rPr lang="en-US" sz="1350" dirty="0">
                          <a:solidFill>
                            <a:srgbClr val="1F2933"/>
                          </a:solidFill>
                          <a:latin typeface="Calibri" pitchFamily="34" charset="0"/>
                          <a:ea typeface="Calibri" pitchFamily="34" charset="-122"/>
                          <a:cs typeface="Calibri" pitchFamily="34" charset="-120"/>
                        </a:rPr>
                        <a:t>Eloquent (Active Record)</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c>
                  <a:txBody>
                    <a:bodyPr/>
                    <a:lstStyle/>
                    <a:p>
                      <a:pPr algn="l" indent="0" marL="0">
                        <a:buNone/>
                      </a:pPr>
                      <a:r>
                        <a:rPr lang="en-US" sz="1350" dirty="0">
                          <a:solidFill>
                            <a:srgbClr val="1F2933"/>
                          </a:solidFill>
                          <a:latin typeface="Calibri" pitchFamily="34" charset="0"/>
                          <a:ea typeface="Calibri" pitchFamily="34" charset="-122"/>
                          <a:cs typeface="Calibri" pitchFamily="34" charset="-120"/>
                        </a:rPr>
                        <a:t>Doctrine (Data Mapper)</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r>
              <a:tr h="566928">
                <a:tc>
                  <a:txBody>
                    <a:bodyPr/>
                    <a:lstStyle/>
                    <a:p>
                      <a:pPr algn="l" indent="0" marL="0">
                        <a:buNone/>
                      </a:pPr>
                      <a:r>
                        <a:rPr lang="en-US" sz="1350" b="1" dirty="0">
                          <a:solidFill>
                            <a:srgbClr val="2E3357"/>
                          </a:solidFill>
                          <a:latin typeface="Calibri" pitchFamily="34" charset="0"/>
                          <a:ea typeface="Calibri" pitchFamily="34" charset="-122"/>
                          <a:cs typeface="Calibri" pitchFamily="34" charset="-120"/>
                        </a:rPr>
                        <a:t>Plantillas</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c>
                  <a:txBody>
                    <a:bodyPr/>
                    <a:lstStyle/>
                    <a:p>
                      <a:pPr algn="l" indent="0" marL="0">
                        <a:buNone/>
                      </a:pPr>
                      <a:r>
                        <a:rPr lang="en-US" sz="1350" dirty="0">
                          <a:solidFill>
                            <a:srgbClr val="1F2933"/>
                          </a:solidFill>
                          <a:latin typeface="Calibri" pitchFamily="34" charset="0"/>
                          <a:ea typeface="Calibri" pitchFamily="34" charset="-122"/>
                          <a:cs typeface="Calibri" pitchFamily="34" charset="-120"/>
                        </a:rPr>
                        <a:t>Blade</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c>
                  <a:txBody>
                    <a:bodyPr/>
                    <a:lstStyle/>
                    <a:p>
                      <a:pPr algn="l" indent="0" marL="0">
                        <a:buNone/>
                      </a:pPr>
                      <a:r>
                        <a:rPr lang="en-US" sz="1350" dirty="0">
                          <a:solidFill>
                            <a:srgbClr val="1F2933"/>
                          </a:solidFill>
                          <a:latin typeface="Calibri" pitchFamily="34" charset="0"/>
                          <a:ea typeface="Calibri" pitchFamily="34" charset="-122"/>
                          <a:cs typeface="Calibri" pitchFamily="34" charset="-120"/>
                        </a:rPr>
                        <a:t>Twig</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r>
              <a:tr h="566928">
                <a:tc>
                  <a:txBody>
                    <a:bodyPr/>
                    <a:lstStyle/>
                    <a:p>
                      <a:pPr algn="l" indent="0" marL="0">
                        <a:buNone/>
                      </a:pPr>
                      <a:r>
                        <a:rPr lang="en-US" sz="1350" b="1" dirty="0">
                          <a:solidFill>
                            <a:srgbClr val="2E3357"/>
                          </a:solidFill>
                          <a:latin typeface="Calibri" pitchFamily="34" charset="0"/>
                          <a:ea typeface="Calibri" pitchFamily="34" charset="-122"/>
                          <a:cs typeface="Calibri" pitchFamily="34" charset="-120"/>
                        </a:rPr>
                        <a:t>Ideal para</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c>
                  <a:txBody>
                    <a:bodyPr/>
                    <a:lstStyle/>
                    <a:p>
                      <a:pPr algn="l" indent="0" marL="0">
                        <a:buNone/>
                      </a:pPr>
                      <a:r>
                        <a:rPr lang="en-US" sz="1350" dirty="0">
                          <a:solidFill>
                            <a:srgbClr val="1F2933"/>
                          </a:solidFill>
                          <a:latin typeface="Calibri" pitchFamily="34" charset="0"/>
                          <a:ea typeface="Calibri" pitchFamily="34" charset="-122"/>
                          <a:cs typeface="Calibri" pitchFamily="34" charset="-120"/>
                        </a:rPr>
                        <a:t>Entregar rápido</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c>
                  <a:txBody>
                    <a:bodyPr/>
                    <a:lstStyle/>
                    <a:p>
                      <a:pPr algn="l" indent="0" marL="0">
                        <a:buNone/>
                      </a:pPr>
                      <a:r>
                        <a:rPr lang="en-US" sz="1350" dirty="0">
                          <a:solidFill>
                            <a:srgbClr val="1F2933"/>
                          </a:solidFill>
                          <a:latin typeface="Calibri" pitchFamily="34" charset="0"/>
                          <a:ea typeface="Calibri" pitchFamily="34" charset="-122"/>
                          <a:cs typeface="Calibri" pitchFamily="34" charset="-120"/>
                        </a:rPr>
                        <a:t>Proyectos grandes y exigentes</a:t>
                      </a:r>
                      <a:endParaRPr lang="en-US" sz="1350" dirty="0">
                        <a:latin typeface="Calibri" charset="0"/>
                        <a:ea typeface="Calibri" charset="0"/>
                        <a:cs typeface="Calibri" charset="0"/>
                      </a:endParaRPr>
                    </a:p>
                  </a:txBody>
                  <a:tcPr marL="91440" marR="91440" marT="45720" marB="45720" anchor="ctr">
                    <a:lnL w="6350" cap="flat" cmpd="sng" algn="ctr">
                      <a:solidFill>
                        <a:srgbClr val="DCDCE8"/>
                      </a:solidFill>
                      <a:prstDash val="solid"/>
                      <a:round/>
                      <a:headEnd type="none" w="med" len="med"/>
                      <a:tailEnd type="none" w="med" len="med"/>
                    </a:lnL>
                    <a:lnR w="6350" cap="flat" cmpd="sng" algn="ctr">
                      <a:solidFill>
                        <a:srgbClr val="DCDCE8"/>
                      </a:solidFill>
                      <a:prstDash val="solid"/>
                      <a:round/>
                      <a:headEnd type="none" w="med" len="med"/>
                      <a:tailEnd type="none" w="med" len="med"/>
                    </a:lnR>
                    <a:lnT w="6350" cap="flat" cmpd="sng" algn="ctr">
                      <a:solidFill>
                        <a:srgbClr val="DCDCE8"/>
                      </a:solidFill>
                      <a:prstDash val="solid"/>
                      <a:round/>
                      <a:headEnd type="none" w="med" len="med"/>
                      <a:tailEnd type="none" w="med" len="med"/>
                    </a:lnT>
                    <a:lnB w="6350" cap="flat" cmpd="sng" algn="ctr">
                      <a:solidFill>
                        <a:srgbClr val="DCDCE8"/>
                      </a:solidFill>
                      <a:prstDash val="solid"/>
                      <a:round/>
                      <a:headEnd type="none" w="med" len="med"/>
                      <a:tailEnd type="none" w="med" len="med"/>
                    </a:lnB>
                  </a:tcPr>
                </a:tc>
              </a:tr>
            </a:tbl>
          </a:graphicData>
        </a:graphic>
      </p:graphicFrame>
      <p:sp>
        <p:nvSpPr>
          <p:cNvPr id="5" name="Text 2"/>
          <p:cNvSpPr/>
          <p:nvPr/>
        </p:nvSpPr>
        <p:spPr>
          <a:xfrm>
            <a:off x="548640" y="4480560"/>
            <a:ext cx="8046720" cy="365760"/>
          </a:xfrm>
          <a:prstGeom prst="rect">
            <a:avLst/>
          </a:prstGeom>
          <a:noFill/>
          <a:ln/>
        </p:spPr>
        <p:txBody>
          <a:bodyPr wrap="square" lIns="0" tIns="0" rIns="0" bIns="0" rtlCol="0" anchor="ctr"/>
          <a:lstStyle/>
          <a:p>
            <a:pPr indent="0" marL="0">
              <a:buNone/>
            </a:pPr>
            <a:r>
              <a:rPr lang="en-US" sz="1300" i="1" dirty="0">
                <a:solidFill>
                  <a:srgbClr val="5A6270"/>
                </a:solidFill>
                <a:latin typeface="Calibri" pitchFamily="34" charset="0"/>
                <a:ea typeface="Calibri" pitchFamily="34" charset="-122"/>
                <a:cs typeface="Calibri" pitchFamily="34" charset="-120"/>
              </a:rPr>
              <a:t>Ambos resuelven lo que hicimos a mano: rutas, controladores, ORM, plantillas, validación y seguridad.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SECCIÓN 12 — FRAMEWORKS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La misma idea, menos código</a:t>
            </a:r>
            <a:endParaRPr lang="en-US" sz="3000" dirty="0"/>
          </a:p>
        </p:txBody>
      </p:sp>
      <p:sp>
        <p:nvSpPr>
          <p:cNvPr id="4" name="Shape 2"/>
          <p:cNvSpPr/>
          <p:nvPr/>
        </p:nvSpPr>
        <p:spPr>
          <a:xfrm>
            <a:off x="548640" y="1737360"/>
            <a:ext cx="4114800" cy="2194560"/>
          </a:xfrm>
          <a:prstGeom prst="roundRect">
            <a:avLst>
              <a:gd name="adj" fmla="val 2500"/>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411480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Laravel (Eloquent)</a:t>
            </a:r>
            <a:endParaRPr lang="en-US" sz="1100" dirty="0"/>
          </a:p>
        </p:txBody>
      </p:sp>
      <p:sp>
        <p:nvSpPr>
          <p:cNvPr id="6" name="Text 4"/>
          <p:cNvSpPr/>
          <p:nvPr/>
        </p:nvSpPr>
        <p:spPr>
          <a:xfrm>
            <a:off x="694944" y="2103120"/>
            <a:ext cx="3840480" cy="1773936"/>
          </a:xfrm>
          <a:prstGeom prst="rect">
            <a:avLst/>
          </a:prstGeom>
          <a:noFill/>
          <a:ln/>
        </p:spPr>
        <p:txBody>
          <a:bodyPr wrap="square" lIns="0" tIns="0" rIns="0" bIns="0" rtlCol="0" anchor="t"/>
          <a:lstStyle/>
          <a:p>
            <a:pPr indent="0" marL="0">
              <a:lnSpc>
                <a:spcPct val="102000"/>
              </a:lnSpc>
              <a:buNone/>
            </a:pPr>
            <a:r>
              <a:rPr lang="en-US" sz="1050" dirty="0">
                <a:solidFill>
                  <a:srgbClr val="5A6270"/>
                </a:solidFill>
                <a:latin typeface="Courier New" pitchFamily="34" charset="0"/>
                <a:ea typeface="Courier New" pitchFamily="34" charset="-122"/>
                <a:cs typeface="Courier New" pitchFamily="34" charset="-120"/>
              </a:rPr>
              <a:t>// routes/web.php</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Route::get('/estudiantes',</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[EstudianteController::class,'index']);</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a:t>
            </a:r>
            <a:endParaRPr lang="en-US" sz="1050" dirty="0"/>
          </a:p>
          <a:p>
            <a:pPr indent="0" marL="0">
              <a:lnSpc>
                <a:spcPct val="102000"/>
              </a:lnSpc>
              <a:buNone/>
            </a:pPr>
            <a:r>
              <a:rPr lang="en-US" sz="1050" dirty="0">
                <a:solidFill>
                  <a:srgbClr val="5A6270"/>
                </a:solidFill>
                <a:latin typeface="Courier New" pitchFamily="34" charset="0"/>
                <a:ea typeface="Courier New" pitchFamily="34" charset="-122"/>
                <a:cs typeface="Courier New" pitchFamily="34" charset="-120"/>
              </a:rPr>
              <a:t>// modelo: CRUD casi gratis</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Estudiante::all();</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Estudiante::create($datos);</a:t>
            </a:r>
            <a:endParaRPr lang="en-US" sz="1050" dirty="0"/>
          </a:p>
        </p:txBody>
      </p:sp>
      <p:sp>
        <p:nvSpPr>
          <p:cNvPr id="7" name="Shape 5"/>
          <p:cNvSpPr/>
          <p:nvPr/>
        </p:nvSpPr>
        <p:spPr>
          <a:xfrm>
            <a:off x="4846320" y="1737360"/>
            <a:ext cx="3749040" cy="2194560"/>
          </a:xfrm>
          <a:prstGeom prst="roundRect">
            <a:avLst>
              <a:gd name="adj" fmla="val 2500"/>
            </a:avLst>
          </a:prstGeom>
          <a:solidFill>
            <a:srgbClr val="EEEEF4"/>
          </a:solidFill>
          <a:ln w="12700">
            <a:solidFill>
              <a:srgbClr val="DCDCE8"/>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846320" y="1737360"/>
            <a:ext cx="3749040" cy="292608"/>
          </a:xfrm>
          <a:prstGeom prst="rect">
            <a:avLst>
              <a:gd name="adj" fmla="val 18750"/>
            </a:avLst>
          </a:prstGeom>
          <a:solidFill>
            <a:srgbClr val="4F5B93"/>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Symfony (Doctrine)</a:t>
            </a:r>
            <a:endParaRPr lang="en-US" sz="1100" dirty="0"/>
          </a:p>
        </p:txBody>
      </p:sp>
      <p:sp>
        <p:nvSpPr>
          <p:cNvPr id="9" name="Text 7"/>
          <p:cNvSpPr/>
          <p:nvPr/>
        </p:nvSpPr>
        <p:spPr>
          <a:xfrm>
            <a:off x="4992624" y="2103120"/>
            <a:ext cx="3474720" cy="1773936"/>
          </a:xfrm>
          <a:prstGeom prst="rect">
            <a:avLst/>
          </a:prstGeom>
          <a:noFill/>
          <a:ln/>
        </p:spPr>
        <p:txBody>
          <a:bodyPr wrap="square" lIns="0" tIns="0" rIns="0" bIns="0" rtlCol="0" anchor="t"/>
          <a:lstStyle/>
          <a:p>
            <a:pPr indent="0" marL="0">
              <a:lnSpc>
                <a:spcPct val="102000"/>
              </a:lnSpc>
              <a:buNone/>
            </a:pPr>
            <a:r>
              <a:rPr lang="en-US" sz="1050" dirty="0">
                <a:solidFill>
                  <a:srgbClr val="5A6270"/>
                </a:solidFill>
                <a:latin typeface="Courier New" pitchFamily="34" charset="0"/>
                <a:ea typeface="Courier New" pitchFamily="34" charset="-122"/>
                <a:cs typeface="Courier New" pitchFamily="34" charset="-120"/>
              </a:rPr>
              <a:t>#[Route('/estudiantes')]</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public function index(</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EstudianteRepository $repo){</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$repo-&gt;findAll();</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a:t>
            </a:r>
            <a:endParaRPr lang="en-US" sz="1050" dirty="0"/>
          </a:p>
          <a:p>
            <a:pPr indent="0" marL="0">
              <a:lnSpc>
                <a:spcPct val="102000"/>
              </a:lnSpc>
              <a:buNone/>
            </a:pPr>
            <a:r>
              <a:rPr lang="en-US" sz="1050" dirty="0">
                <a:solidFill>
                  <a:srgbClr val="5A6270"/>
                </a:solidFill>
                <a:latin typeface="Courier New" pitchFamily="34" charset="0"/>
                <a:ea typeface="Courier New" pitchFamily="34" charset="-122"/>
                <a:cs typeface="Courier New" pitchFamily="34" charset="-120"/>
              </a:rPr>
              <a:t>// entidad mapeada con atributos</a:t>
            </a:r>
            <a:endParaRPr lang="en-US" sz="1050" dirty="0"/>
          </a:p>
          <a:p>
            <a:pPr indent="0" marL="0">
              <a:lnSpc>
                <a:spcPct val="102000"/>
              </a:lnSpc>
              <a:buNone/>
            </a:pPr>
            <a:r>
              <a:rPr lang="en-US" sz="1050" dirty="0">
                <a:solidFill>
                  <a:srgbClr val="5A6270"/>
                </a:solidFill>
                <a:latin typeface="Courier New" pitchFamily="34" charset="0"/>
                <a:ea typeface="Courier New" pitchFamily="34" charset="-122"/>
                <a:cs typeface="Courier New" pitchFamily="34" charset="-120"/>
              </a:rPr>
              <a:t>// #[ORM\Entity] ...</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CIERRE</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Buenas prácticas y recomendación</a:t>
            </a:r>
            <a:endParaRPr lang="en-US" sz="3000" dirty="0"/>
          </a:p>
        </p:txBody>
      </p:sp>
      <p:sp>
        <p:nvSpPr>
          <p:cNvPr id="4" name="Text 2"/>
          <p:cNvSpPr/>
          <p:nvPr/>
        </p:nvSpPr>
        <p:spPr>
          <a:xfrm>
            <a:off x="548640" y="1737360"/>
            <a:ext cx="8046720" cy="2377440"/>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F2933"/>
                </a:solidFill>
                <a:latin typeface="Calibri" pitchFamily="34" charset="0"/>
                <a:ea typeface="Calibri" pitchFamily="34" charset="-122"/>
                <a:cs typeface="Calibri" pitchFamily="34" charset="-120"/>
              </a:rPr>
              <a:t>Activa declare(strict_types=1) y declara tipos en funciones y propiedades.</a:t>
            </a:r>
            <a:endParaRPr lang="en-US" sz="1450" dirty="0"/>
          </a:p>
          <a:p>
            <a:pPr marL="177800" indent="-177800">
              <a:spcAft>
                <a:spcPts val="800"/>
              </a:spcAft>
              <a:buSzPct val="100000"/>
              <a:buChar char="•"/>
            </a:pPr>
            <a:r>
              <a:rPr lang="en-US" sz="1450" dirty="0">
                <a:solidFill>
                  <a:srgbClr val="1F2933"/>
                </a:solidFill>
                <a:latin typeface="Calibri" pitchFamily="34" charset="0"/>
                <a:ea typeface="Calibri" pitchFamily="34" charset="-122"/>
                <a:cs typeface="Calibri" pitchFamily="34" charset="-120"/>
              </a:rPr>
              <a:t>Toda entrada se valida en el servidor; toda salida se escapa con htmlspecialchars.</a:t>
            </a:r>
            <a:endParaRPr lang="en-US" sz="1450" dirty="0"/>
          </a:p>
          <a:p>
            <a:pPr marL="177800" indent="-177800">
              <a:spcAft>
                <a:spcPts val="800"/>
              </a:spcAft>
              <a:buSzPct val="100000"/>
              <a:buChar char="•"/>
            </a:pPr>
            <a:r>
              <a:rPr lang="en-US" sz="1450" dirty="0">
                <a:solidFill>
                  <a:srgbClr val="1F2933"/>
                </a:solidFill>
                <a:latin typeface="Calibri" pitchFamily="34" charset="0"/>
                <a:ea typeface="Calibri" pitchFamily="34" charset="-122"/>
                <a:cs typeface="Calibri" pitchFamily="34" charset="-120"/>
              </a:rPr>
              <a:t>Acceso a datos siempre con PDO y sentencias preparadas.</a:t>
            </a:r>
            <a:endParaRPr lang="en-US" sz="1450" dirty="0"/>
          </a:p>
          <a:p>
            <a:pPr marL="177800" indent="-177800">
              <a:spcAft>
                <a:spcPts val="800"/>
              </a:spcAft>
              <a:buSzPct val="100000"/>
              <a:buChar char="•"/>
            </a:pPr>
            <a:r>
              <a:rPr lang="en-US" sz="1450" dirty="0">
                <a:solidFill>
                  <a:srgbClr val="1F2933"/>
                </a:solidFill>
                <a:latin typeface="Calibri" pitchFamily="34" charset="0"/>
                <a:ea typeface="Calibri" pitchFamily="34" charset="-122"/>
                <a:cs typeface="Calibri" pitchFamily="34" charset="-120"/>
              </a:rPr>
              <a:t>Organiza por capas y separa la lógica de la presentación.</a:t>
            </a:r>
            <a:endParaRPr lang="en-US" sz="1450" dirty="0"/>
          </a:p>
          <a:p>
            <a:pPr marL="177800" indent="-177800">
              <a:spcAft>
                <a:spcPts val="800"/>
              </a:spcAft>
              <a:buSzPct val="100000"/>
              <a:buChar char="•"/>
            </a:pPr>
            <a:r>
              <a:rPr lang="en-US" sz="1450" dirty="0">
                <a:solidFill>
                  <a:srgbClr val="1F2933"/>
                </a:solidFill>
                <a:latin typeface="Calibri" pitchFamily="34" charset="0"/>
                <a:ea typeface="Calibri" pitchFamily="34" charset="-122"/>
                <a:cs typeface="Calibri" pitchFamily="34" charset="-120"/>
              </a:rPr>
              <a:t>Domina la base; luego elige Laravel (rapidez) o Symfony (proyectos grandes).</a:t>
            </a:r>
            <a:endParaRPr lang="en-US" sz="1450" dirty="0"/>
          </a:p>
        </p:txBody>
      </p:sp>
      <p:sp>
        <p:nvSpPr>
          <p:cNvPr id="5" name="Shape 3"/>
          <p:cNvSpPr/>
          <p:nvPr/>
        </p:nvSpPr>
        <p:spPr>
          <a:xfrm>
            <a:off x="548640" y="4114800"/>
            <a:ext cx="8046720" cy="777240"/>
          </a:xfrm>
          <a:prstGeom prst="roundRect">
            <a:avLst>
              <a:gd name="adj" fmla="val 9412"/>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6" name="Text 4"/>
          <p:cNvSpPr/>
          <p:nvPr/>
        </p:nvSpPr>
        <p:spPr>
          <a:xfrm>
            <a:off x="777240" y="4114800"/>
            <a:ext cx="7589520" cy="777240"/>
          </a:xfrm>
          <a:prstGeom prst="rect">
            <a:avLst/>
          </a:prstGeom>
          <a:noFill/>
          <a:ln/>
        </p:spPr>
        <p:txBody>
          <a:bodyPr wrap="square" lIns="0" tIns="0" rIns="0" bIns="0" rtlCol="0" anchor="ctr"/>
          <a:lstStyle/>
          <a:p>
            <a:pPr indent="0" marL="0">
              <a:buNone/>
            </a:pPr>
            <a:r>
              <a:rPr lang="en-US" sz="1600" b="1" i="1" dirty="0">
                <a:solidFill>
                  <a:srgbClr val="4F5B93"/>
                </a:solidFill>
                <a:latin typeface="Cambria" pitchFamily="34" charset="0"/>
                <a:ea typeface="Cambria" pitchFamily="34" charset="-122"/>
                <a:cs typeface="Cambria" pitchFamily="34" charset="-120"/>
              </a:rPr>
              <a:t>Lo que marca la diferencia no es la herramienta, sino los hábitos: validar, escapar, preparar.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B07A1E"/>
                </a:solidFill>
                <a:latin typeface="Calibri" pitchFamily="34" charset="0"/>
                <a:ea typeface="Calibri" pitchFamily="34" charset="-122"/>
                <a:cs typeface="Calibri" pitchFamily="34" charset="-120"/>
              </a:rPr>
              <a:t>PARA PROFUNDIZAR</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2E3357"/>
                </a:solidFill>
                <a:latin typeface="Cambria" pitchFamily="34" charset="0"/>
                <a:ea typeface="Cambria" pitchFamily="34" charset="-122"/>
                <a:cs typeface="Cambria" pitchFamily="34" charset="-120"/>
              </a:rPr>
              <a:t>Recursos</a:t>
            </a:r>
            <a:endParaRPr lang="en-US" sz="3000" dirty="0"/>
          </a:p>
        </p:txBody>
      </p:sp>
      <p:sp>
        <p:nvSpPr>
          <p:cNvPr id="4" name="Shape 2"/>
          <p:cNvSpPr/>
          <p:nvPr/>
        </p:nvSpPr>
        <p:spPr>
          <a:xfrm>
            <a:off x="548640" y="1783080"/>
            <a:ext cx="3931920" cy="868680"/>
          </a:xfrm>
          <a:prstGeom prst="roundRect">
            <a:avLst>
              <a:gd name="adj" fmla="val 8421"/>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911096"/>
            <a:ext cx="3566160" cy="365760"/>
          </a:xfrm>
          <a:prstGeom prst="rect">
            <a:avLst/>
          </a:prstGeom>
          <a:noFill/>
          <a:ln/>
        </p:spPr>
        <p:txBody>
          <a:bodyPr wrap="square" lIns="0" tIns="0" rIns="0" bIns="0" rtlCol="0" anchor="ctr"/>
          <a:lstStyle/>
          <a:p>
            <a:pPr indent="0" marL="0">
              <a:buNone/>
            </a:pPr>
            <a:r>
              <a:rPr lang="en-US" sz="1500" b="1" dirty="0">
                <a:solidFill>
                  <a:srgbClr val="4F5B93"/>
                </a:solidFill>
                <a:latin typeface="Cambria" pitchFamily="34" charset="0"/>
                <a:ea typeface="Cambria" pitchFamily="34" charset="-122"/>
                <a:cs typeface="Cambria" pitchFamily="34" charset="-120"/>
              </a:rPr>
              <a:t>PHP (manual oficial)</a:t>
            </a:r>
            <a:endParaRPr lang="en-US" sz="1500" dirty="0"/>
          </a:p>
        </p:txBody>
      </p:sp>
      <p:sp>
        <p:nvSpPr>
          <p:cNvPr id="6" name="Text 4"/>
          <p:cNvSpPr/>
          <p:nvPr/>
        </p:nvSpPr>
        <p:spPr>
          <a:xfrm>
            <a:off x="749808" y="2258568"/>
            <a:ext cx="3566160" cy="320040"/>
          </a:xfrm>
          <a:prstGeom prst="rect">
            <a:avLst/>
          </a:prstGeom>
          <a:noFill/>
          <a:ln/>
        </p:spPr>
        <p:txBody>
          <a:bodyPr wrap="square" lIns="0" tIns="0" rIns="0" bIns="0" rtlCol="0" anchor="ctr"/>
          <a:lstStyle/>
          <a:p>
            <a:pPr indent="0" marL="0">
              <a:buNone/>
            </a:pPr>
            <a:r>
              <a:rPr lang="en-US" sz="1200" dirty="0">
                <a:solidFill>
                  <a:srgbClr val="5A6270"/>
                </a:solidFill>
                <a:latin typeface="Courier New" pitchFamily="34" charset="0"/>
                <a:ea typeface="Courier New" pitchFamily="34" charset="-122"/>
                <a:cs typeface="Courier New" pitchFamily="34" charset="-120"/>
              </a:rPr>
              <a:t>php.net/manual/es</a:t>
            </a:r>
            <a:endParaRPr lang="en-US" sz="1200" dirty="0"/>
          </a:p>
        </p:txBody>
      </p:sp>
      <p:sp>
        <p:nvSpPr>
          <p:cNvPr id="7" name="Shape 5"/>
          <p:cNvSpPr/>
          <p:nvPr/>
        </p:nvSpPr>
        <p:spPr>
          <a:xfrm>
            <a:off x="4663440" y="1783080"/>
            <a:ext cx="3931920" cy="868680"/>
          </a:xfrm>
          <a:prstGeom prst="roundRect">
            <a:avLst>
              <a:gd name="adj" fmla="val 8421"/>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864608" y="1911096"/>
            <a:ext cx="3566160" cy="365760"/>
          </a:xfrm>
          <a:prstGeom prst="rect">
            <a:avLst/>
          </a:prstGeom>
          <a:noFill/>
          <a:ln/>
        </p:spPr>
        <p:txBody>
          <a:bodyPr wrap="square" lIns="0" tIns="0" rIns="0" bIns="0" rtlCol="0" anchor="ctr"/>
          <a:lstStyle/>
          <a:p>
            <a:pPr indent="0" marL="0">
              <a:buNone/>
            </a:pPr>
            <a:r>
              <a:rPr lang="en-US" sz="1500" b="1" dirty="0">
                <a:solidFill>
                  <a:srgbClr val="4F5B93"/>
                </a:solidFill>
                <a:latin typeface="Cambria" pitchFamily="34" charset="0"/>
                <a:ea typeface="Cambria" pitchFamily="34" charset="-122"/>
                <a:cs typeface="Cambria" pitchFamily="34" charset="-120"/>
              </a:rPr>
              <a:t>PDO</a:t>
            </a:r>
            <a:endParaRPr lang="en-US" sz="1500" dirty="0"/>
          </a:p>
        </p:txBody>
      </p:sp>
      <p:sp>
        <p:nvSpPr>
          <p:cNvPr id="9" name="Text 7"/>
          <p:cNvSpPr/>
          <p:nvPr/>
        </p:nvSpPr>
        <p:spPr>
          <a:xfrm>
            <a:off x="4864608" y="2258568"/>
            <a:ext cx="3566160" cy="320040"/>
          </a:xfrm>
          <a:prstGeom prst="rect">
            <a:avLst/>
          </a:prstGeom>
          <a:noFill/>
          <a:ln/>
        </p:spPr>
        <p:txBody>
          <a:bodyPr wrap="square" lIns="0" tIns="0" rIns="0" bIns="0" rtlCol="0" anchor="ctr"/>
          <a:lstStyle/>
          <a:p>
            <a:pPr indent="0" marL="0">
              <a:buNone/>
            </a:pPr>
            <a:r>
              <a:rPr lang="en-US" sz="1200" dirty="0">
                <a:solidFill>
                  <a:srgbClr val="5A6270"/>
                </a:solidFill>
                <a:latin typeface="Courier New" pitchFamily="34" charset="0"/>
                <a:ea typeface="Courier New" pitchFamily="34" charset="-122"/>
                <a:cs typeface="Courier New" pitchFamily="34" charset="-120"/>
              </a:rPr>
              <a:t>php.net/manual/es/book.pdo</a:t>
            </a:r>
            <a:endParaRPr lang="en-US" sz="1200" dirty="0"/>
          </a:p>
        </p:txBody>
      </p:sp>
      <p:sp>
        <p:nvSpPr>
          <p:cNvPr id="10" name="Shape 8"/>
          <p:cNvSpPr/>
          <p:nvPr/>
        </p:nvSpPr>
        <p:spPr>
          <a:xfrm>
            <a:off x="548640" y="2834640"/>
            <a:ext cx="3931920" cy="868680"/>
          </a:xfrm>
          <a:prstGeom prst="roundRect">
            <a:avLst>
              <a:gd name="adj" fmla="val 8421"/>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749808" y="2962656"/>
            <a:ext cx="3566160" cy="365760"/>
          </a:xfrm>
          <a:prstGeom prst="rect">
            <a:avLst/>
          </a:prstGeom>
          <a:noFill/>
          <a:ln/>
        </p:spPr>
        <p:txBody>
          <a:bodyPr wrap="square" lIns="0" tIns="0" rIns="0" bIns="0" rtlCol="0" anchor="ctr"/>
          <a:lstStyle/>
          <a:p>
            <a:pPr indent="0" marL="0">
              <a:buNone/>
            </a:pPr>
            <a:r>
              <a:rPr lang="en-US" sz="1500" b="1" dirty="0">
                <a:solidFill>
                  <a:srgbClr val="4F5B93"/>
                </a:solidFill>
                <a:latin typeface="Cambria" pitchFamily="34" charset="0"/>
                <a:ea typeface="Cambria" pitchFamily="34" charset="-122"/>
                <a:cs typeface="Cambria" pitchFamily="34" charset="-120"/>
              </a:rPr>
              <a:t>Composer</a:t>
            </a:r>
            <a:endParaRPr lang="en-US" sz="1500" dirty="0"/>
          </a:p>
        </p:txBody>
      </p:sp>
      <p:sp>
        <p:nvSpPr>
          <p:cNvPr id="12" name="Text 10"/>
          <p:cNvSpPr/>
          <p:nvPr/>
        </p:nvSpPr>
        <p:spPr>
          <a:xfrm>
            <a:off x="749808" y="3310128"/>
            <a:ext cx="3566160" cy="320040"/>
          </a:xfrm>
          <a:prstGeom prst="rect">
            <a:avLst/>
          </a:prstGeom>
          <a:noFill/>
          <a:ln/>
        </p:spPr>
        <p:txBody>
          <a:bodyPr wrap="square" lIns="0" tIns="0" rIns="0" bIns="0" rtlCol="0" anchor="ctr"/>
          <a:lstStyle/>
          <a:p>
            <a:pPr indent="0" marL="0">
              <a:buNone/>
            </a:pPr>
            <a:r>
              <a:rPr lang="en-US" sz="1200" dirty="0">
                <a:solidFill>
                  <a:srgbClr val="5A6270"/>
                </a:solidFill>
                <a:latin typeface="Courier New" pitchFamily="34" charset="0"/>
                <a:ea typeface="Courier New" pitchFamily="34" charset="-122"/>
                <a:cs typeface="Courier New" pitchFamily="34" charset="-120"/>
              </a:rPr>
              <a:t>getcomposer.org</a:t>
            </a:r>
            <a:endParaRPr lang="en-US" sz="1200" dirty="0"/>
          </a:p>
        </p:txBody>
      </p:sp>
      <p:sp>
        <p:nvSpPr>
          <p:cNvPr id="13" name="Shape 11"/>
          <p:cNvSpPr/>
          <p:nvPr/>
        </p:nvSpPr>
        <p:spPr>
          <a:xfrm>
            <a:off x="4663440" y="2834640"/>
            <a:ext cx="3931920" cy="868680"/>
          </a:xfrm>
          <a:prstGeom prst="roundRect">
            <a:avLst>
              <a:gd name="adj" fmla="val 8421"/>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14" name="Text 12"/>
          <p:cNvSpPr/>
          <p:nvPr/>
        </p:nvSpPr>
        <p:spPr>
          <a:xfrm>
            <a:off x="4864608" y="2962656"/>
            <a:ext cx="3566160" cy="365760"/>
          </a:xfrm>
          <a:prstGeom prst="rect">
            <a:avLst/>
          </a:prstGeom>
          <a:noFill/>
          <a:ln/>
        </p:spPr>
        <p:txBody>
          <a:bodyPr wrap="square" lIns="0" tIns="0" rIns="0" bIns="0" rtlCol="0" anchor="ctr"/>
          <a:lstStyle/>
          <a:p>
            <a:pPr indent="0" marL="0">
              <a:buNone/>
            </a:pPr>
            <a:r>
              <a:rPr lang="en-US" sz="1500" b="1" dirty="0">
                <a:solidFill>
                  <a:srgbClr val="4F5B93"/>
                </a:solidFill>
                <a:latin typeface="Cambria" pitchFamily="34" charset="0"/>
                <a:ea typeface="Cambria" pitchFamily="34" charset="-122"/>
                <a:cs typeface="Cambria" pitchFamily="34" charset="-120"/>
              </a:rPr>
              <a:t>Laravel</a:t>
            </a:r>
            <a:endParaRPr lang="en-US" sz="1500" dirty="0"/>
          </a:p>
        </p:txBody>
      </p:sp>
      <p:sp>
        <p:nvSpPr>
          <p:cNvPr id="15" name="Text 13"/>
          <p:cNvSpPr/>
          <p:nvPr/>
        </p:nvSpPr>
        <p:spPr>
          <a:xfrm>
            <a:off x="4864608" y="3310128"/>
            <a:ext cx="3566160" cy="320040"/>
          </a:xfrm>
          <a:prstGeom prst="rect">
            <a:avLst/>
          </a:prstGeom>
          <a:noFill/>
          <a:ln/>
        </p:spPr>
        <p:txBody>
          <a:bodyPr wrap="square" lIns="0" tIns="0" rIns="0" bIns="0" rtlCol="0" anchor="ctr"/>
          <a:lstStyle/>
          <a:p>
            <a:pPr indent="0" marL="0">
              <a:buNone/>
            </a:pPr>
            <a:r>
              <a:rPr lang="en-US" sz="1200" dirty="0">
                <a:solidFill>
                  <a:srgbClr val="5A6270"/>
                </a:solidFill>
                <a:latin typeface="Courier New" pitchFamily="34" charset="0"/>
                <a:ea typeface="Courier New" pitchFamily="34" charset="-122"/>
                <a:cs typeface="Courier New" pitchFamily="34" charset="-120"/>
              </a:rPr>
              <a:t>laravel.com/docs</a:t>
            </a:r>
            <a:endParaRPr lang="en-US" sz="1200" dirty="0"/>
          </a:p>
        </p:txBody>
      </p:sp>
      <p:sp>
        <p:nvSpPr>
          <p:cNvPr id="16" name="Shape 14"/>
          <p:cNvSpPr/>
          <p:nvPr/>
        </p:nvSpPr>
        <p:spPr>
          <a:xfrm>
            <a:off x="548640" y="3886200"/>
            <a:ext cx="3931920" cy="868680"/>
          </a:xfrm>
          <a:prstGeom prst="roundRect">
            <a:avLst>
              <a:gd name="adj" fmla="val 8421"/>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17" name="Text 15"/>
          <p:cNvSpPr/>
          <p:nvPr/>
        </p:nvSpPr>
        <p:spPr>
          <a:xfrm>
            <a:off x="749808" y="4014216"/>
            <a:ext cx="3566160" cy="365760"/>
          </a:xfrm>
          <a:prstGeom prst="rect">
            <a:avLst/>
          </a:prstGeom>
          <a:noFill/>
          <a:ln/>
        </p:spPr>
        <p:txBody>
          <a:bodyPr wrap="square" lIns="0" tIns="0" rIns="0" bIns="0" rtlCol="0" anchor="ctr"/>
          <a:lstStyle/>
          <a:p>
            <a:pPr indent="0" marL="0">
              <a:buNone/>
            </a:pPr>
            <a:r>
              <a:rPr lang="en-US" sz="1500" b="1" dirty="0">
                <a:solidFill>
                  <a:srgbClr val="4F5B93"/>
                </a:solidFill>
                <a:latin typeface="Cambria" pitchFamily="34" charset="0"/>
                <a:ea typeface="Cambria" pitchFamily="34" charset="-122"/>
                <a:cs typeface="Cambria" pitchFamily="34" charset="-120"/>
              </a:rPr>
              <a:t>Symfony</a:t>
            </a:r>
            <a:endParaRPr lang="en-US" sz="1500" dirty="0"/>
          </a:p>
        </p:txBody>
      </p:sp>
      <p:sp>
        <p:nvSpPr>
          <p:cNvPr id="18" name="Text 16"/>
          <p:cNvSpPr/>
          <p:nvPr/>
        </p:nvSpPr>
        <p:spPr>
          <a:xfrm>
            <a:off x="749808" y="4361688"/>
            <a:ext cx="3566160" cy="320040"/>
          </a:xfrm>
          <a:prstGeom prst="rect">
            <a:avLst/>
          </a:prstGeom>
          <a:noFill/>
          <a:ln/>
        </p:spPr>
        <p:txBody>
          <a:bodyPr wrap="square" lIns="0" tIns="0" rIns="0" bIns="0" rtlCol="0" anchor="ctr"/>
          <a:lstStyle/>
          <a:p>
            <a:pPr indent="0" marL="0">
              <a:buNone/>
            </a:pPr>
            <a:r>
              <a:rPr lang="en-US" sz="1200" dirty="0">
                <a:solidFill>
                  <a:srgbClr val="5A6270"/>
                </a:solidFill>
                <a:latin typeface="Courier New" pitchFamily="34" charset="0"/>
                <a:ea typeface="Courier New" pitchFamily="34" charset="-122"/>
                <a:cs typeface="Courier New" pitchFamily="34" charset="-120"/>
              </a:rPr>
              <a:t>symfony.com/doc</a:t>
            </a:r>
            <a:endParaRPr lang="en-US" sz="1200" dirty="0"/>
          </a:p>
        </p:txBody>
      </p:sp>
      <p:sp>
        <p:nvSpPr>
          <p:cNvPr id="19" name="Shape 17"/>
          <p:cNvSpPr/>
          <p:nvPr/>
        </p:nvSpPr>
        <p:spPr>
          <a:xfrm>
            <a:off x="4663440" y="3886200"/>
            <a:ext cx="3931920" cy="868680"/>
          </a:xfrm>
          <a:prstGeom prst="roundRect">
            <a:avLst>
              <a:gd name="adj" fmla="val 8421"/>
            </a:avLst>
          </a:prstGeom>
          <a:solidFill>
            <a:srgbClr val="F4F4F8"/>
          </a:solidFill>
          <a:ln w="12700">
            <a:solidFill>
              <a:srgbClr val="E3E3EC"/>
            </a:solidFill>
            <a:prstDash val="solid"/>
          </a:ln>
          <a:effectLst>
            <a:outerShdw sx="100000" sy="100000" kx="0" ky="0" algn="bl" rotWithShape="0" blurRad="88900" dist="38100" dir="5400000">
              <a:srgbClr val="000000">
                <a:alpha val="10000"/>
              </a:srgbClr>
            </a:outerShdw>
          </a:effectLst>
        </p:spPr>
      </p:sp>
      <p:sp>
        <p:nvSpPr>
          <p:cNvPr id="20" name="Text 18"/>
          <p:cNvSpPr/>
          <p:nvPr/>
        </p:nvSpPr>
        <p:spPr>
          <a:xfrm>
            <a:off x="4864608" y="4014216"/>
            <a:ext cx="3566160" cy="365760"/>
          </a:xfrm>
          <a:prstGeom prst="rect">
            <a:avLst/>
          </a:prstGeom>
          <a:noFill/>
          <a:ln/>
        </p:spPr>
        <p:txBody>
          <a:bodyPr wrap="square" lIns="0" tIns="0" rIns="0" bIns="0" rtlCol="0" anchor="ctr"/>
          <a:lstStyle/>
          <a:p>
            <a:pPr indent="0" marL="0">
              <a:buNone/>
            </a:pPr>
            <a:r>
              <a:rPr lang="en-US" sz="1500" b="1" dirty="0">
                <a:solidFill>
                  <a:srgbClr val="4F5B93"/>
                </a:solidFill>
                <a:latin typeface="Cambria" pitchFamily="34" charset="0"/>
                <a:ea typeface="Cambria" pitchFamily="34" charset="-122"/>
                <a:cs typeface="Cambria" pitchFamily="34" charset="-120"/>
              </a:rPr>
              <a:t>PostgreSQL</a:t>
            </a:r>
            <a:endParaRPr lang="en-US" sz="1500" dirty="0"/>
          </a:p>
        </p:txBody>
      </p:sp>
      <p:sp>
        <p:nvSpPr>
          <p:cNvPr id="21" name="Text 19"/>
          <p:cNvSpPr/>
          <p:nvPr/>
        </p:nvSpPr>
        <p:spPr>
          <a:xfrm>
            <a:off x="4864608" y="4361688"/>
            <a:ext cx="3566160" cy="320040"/>
          </a:xfrm>
          <a:prstGeom prst="rect">
            <a:avLst/>
          </a:prstGeom>
          <a:noFill/>
          <a:ln/>
        </p:spPr>
        <p:txBody>
          <a:bodyPr wrap="square" lIns="0" tIns="0" rIns="0" bIns="0" rtlCol="0" anchor="ctr"/>
          <a:lstStyle/>
          <a:p>
            <a:pPr indent="0" marL="0">
              <a:buNone/>
            </a:pPr>
            <a:r>
              <a:rPr lang="en-US" sz="1200" dirty="0">
                <a:solidFill>
                  <a:srgbClr val="5A6270"/>
                </a:solidFill>
                <a:latin typeface="Courier New" pitchFamily="34" charset="0"/>
                <a:ea typeface="Courier New" pitchFamily="34" charset="-122"/>
                <a:cs typeface="Courier New" pitchFamily="34" charset="-120"/>
              </a:rPr>
              <a:t>postgresql.org/docs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E3357"/>
        </a:solidFill>
      </p:bgPr>
    </p:bg>
    <p:spTree>
      <p:nvGrpSpPr>
        <p:cNvPr id="1" name=""/>
        <p:cNvGrpSpPr/>
        <p:nvPr/>
      </p:nvGrpSpPr>
      <p:grpSpPr>
        <a:xfrm>
          <a:off x="0" y="0"/>
          <a:ext cx="0" cy="0"/>
          <a:chOff x="0" y="0"/>
          <a:chExt cx="0" cy="0"/>
        </a:xfrm>
      </p:grpSpPr>
      <p:sp>
        <p:nvSpPr>
          <p:cNvPr id="2" name="Text 0"/>
          <p:cNvSpPr/>
          <p:nvPr/>
        </p:nvSpPr>
        <p:spPr>
          <a:xfrm>
            <a:off x="548640" y="1828800"/>
            <a:ext cx="804672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Del primer echo a un CRUD seguro</a:t>
            </a:r>
            <a:endParaRPr lang="en-US" sz="4000" dirty="0"/>
          </a:p>
        </p:txBody>
      </p:sp>
      <p:sp>
        <p:nvSpPr>
          <p:cNvPr id="3" name="Text 1"/>
          <p:cNvSpPr/>
          <p:nvPr/>
        </p:nvSpPr>
        <p:spPr>
          <a:xfrm>
            <a:off x="548640" y="3200400"/>
            <a:ext cx="8046720" cy="914400"/>
          </a:xfrm>
          <a:prstGeom prst="rect">
            <a:avLst/>
          </a:prstGeom>
          <a:noFill/>
          <a:ln/>
        </p:spPr>
        <p:txBody>
          <a:bodyPr wrap="square" lIns="0" tIns="0" rIns="0" bIns="0" rtlCol="0" anchor="ctr"/>
          <a:lstStyle/>
          <a:p>
            <a:pPr indent="0" marL="0">
              <a:buNone/>
            </a:pPr>
            <a:r>
              <a:rPr lang="en-US" sz="1600" dirty="0">
                <a:solidFill>
                  <a:srgbClr val="C7CBE0"/>
                </a:solidFill>
                <a:latin typeface="Calibri" pitchFamily="34" charset="0"/>
                <a:ea typeface="Calibri" pitchFamily="34" charset="-122"/>
                <a:cs typeface="Calibri" pitchFamily="34" charset="-120"/>
              </a:rPr>
              <a:t>Ya entiendes cada pieza: sintaxis, POO, sesiones, PDO y seguridad — y por qué los frameworks ayudan.</a:t>
            </a:r>
            <a:endParaRPr lang="en-US" sz="1600" dirty="0"/>
          </a:p>
        </p:txBody>
      </p:sp>
      <p:sp>
        <p:nvSpPr>
          <p:cNvPr id="4" name="Text 2"/>
          <p:cNvSpPr/>
          <p:nvPr/>
        </p:nvSpPr>
        <p:spPr>
          <a:xfrm>
            <a:off x="548640" y="4114800"/>
            <a:ext cx="8046720" cy="548640"/>
          </a:xfrm>
          <a:prstGeom prst="rect">
            <a:avLst/>
          </a:prstGeom>
          <a:noFill/>
          <a:ln/>
        </p:spPr>
        <p:txBody>
          <a:bodyPr wrap="square" lIns="0" tIns="0" rIns="0" bIns="0" rtlCol="0" anchor="ctr"/>
          <a:lstStyle/>
          <a:p>
            <a:pPr indent="0" marL="0">
              <a:buNone/>
            </a:pPr>
            <a:r>
              <a:rPr lang="en-US" sz="2400" b="1" dirty="0">
                <a:solidFill>
                  <a:srgbClr val="B07A1E"/>
                </a:solidFill>
                <a:latin typeface="Cambria" pitchFamily="34" charset="0"/>
                <a:ea typeface="Cambria" pitchFamily="34" charset="-122"/>
                <a:cs typeface="Cambria" pitchFamily="34" charset="-120"/>
              </a:rPr>
              <a:t>¡Gracias!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Guía de PHP para Aplicaciones Web</dc:title>
  <dc:subject>PptxGenJS Presentation</dc:subject>
  <dc:creator>UTEQ</dc:creator>
  <cp:lastModifiedBy>UTEQ</cp:lastModifiedBy>
  <cp:revision>1</cp:revision>
  <dcterms:created xsi:type="dcterms:W3CDTF">2026-06-17T20:44:26Z</dcterms:created>
  <dcterms:modified xsi:type="dcterms:W3CDTF">2026-06-17T20:44:26Z</dcterms:modified>
</cp:coreProperties>
</file>