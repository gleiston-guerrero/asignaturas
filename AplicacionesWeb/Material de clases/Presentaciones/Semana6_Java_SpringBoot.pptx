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 de la Semana 6, segunda del lado servidor. El salto conceptual desde la Semana 5: de lenguajes de scripting dinámicos (PHP/PERL) al servidor empresarial fuertemente tipado con Java. La cita 'Write once, run anywhere' (WORA) es la promesa fundacional de Java: el mismo bytecode corre en cualquier plataforma con JVM. Java cumple 30 años en 2025 y domina banca, salud y gobierno. Anticipe el arco de la semana: del modelo histórico (Servlets/JSP, justo lo que el estudiante acaba de practicar) al estándar moderno (Spring Boot 3 con JPA). SIGLAS de portada: JSP = JavaServer Pages; WORA = Write Once Run Anywhere; JVM = Java Virtual Machine. Duración: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de aprendizaje de la semana, con tres verbos: comprende (la historia), construye (una app Spring Boot) e implementa (persistencia JPA). Ubique al estudiante: es la semana 6 de la Unidad II; ya vio el lado servidor con PHP, ahora con Java. Recalque que Spring Boot será la base del backend del Proyecto Final de Curso. SIGLAS: JSP = JavaServer Pages; JPA = Jakarta Persistence API (antes Java Persistence API), el estándar de mapeo objeto-relacional; CRUD = Create, Read, Update, Delete; H2 = base de datos relacional ligera, embebible en memoria, ideal para clase; REST = REpresentational State Transfer; Spring Boot 3 = versión que usa el espacio de nombres jakarta.* (lo mismo que el estudiante encontró en Tomcat 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historia explica por qué hoy coexisten tantos modelos Java web (Servlets, JSP, JSF, Struts, Spring, Quarkus): cada uno fue respuesta a una época. Punto pedagógico clave: J2EE era tan pesado (configuración XML interminable) que nació Spring para simplificar, y luego Spring Boot para eliminar casi toda la configuración mediante 'convención sobre configuración'. Conecte con lo que el estudiante acaba de hacer: ese HolaServlet en Tomcat es exactamente el modelo de 1997 que sigue siendo el cimiento de todo. SIGLAS Y NOMBRES: Applets = Java ejecutándose en el navegador (hoy obsoleto); Servlets = Java en el servidor; J2EE = Java 2 Enterprise Edition (luego Java EE, hoy Jakarta EE); Spring Framework = contenedor de inyección de dependencias; inyección de dependencias = patrón donde el framework provee los objetos que una clase necesita; Star7 = el dispositivo embebido original de Sun.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de referencia, no de memorización. Dos hilos paralelos: la evolución del lenguaje Java y la del framework Spring. Hitos a resaltar: Java 8 (2014) trajo programación funcional (lambdas/streams); Java 17 los records; Java 21 los virtual threads. En Spring, la versión 3.0 (2022) migró a jakarta.* — la MISMA razón por la que el estudiante usó jakarta.servlet en Tomcat 11. Enseñe el criterio profesional: en producción solo se usan versiones LTS. SIGLAS Y TÉRMINOS: LTS = Long-Term Support (soporte de largo plazo, versiones con años de mantenimiento); lambdas = funciones anónimas; streams = procesamiento funcional de colecciones; records = clases de datos inmutables concisas; sealed classes = clases con herencia restringida; virtual threads = hilos ligeros para alta concurrencia; pattern matching = coincidencia de patrones; Jakarta EE = el sucesor de Java EE tras pasar a la Eclipse Foundation.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Concepto base que el estudiante ya tocó con las manos. Defina Servlet con precisión: clase Java que vive en el servidor, extiende HttpServlet y responde a HTTP sobrescribiendo doGet/doPost — exactamente el 405 que vimos: si el formulario hace POST y no existe doPost, el contenedor responde 'método no permitido'. El JSP es el camino inverso: HTML con Java embebido que el servidor compila a un Servlet por debajo. Insista en que aunque Spring Boot oculta todo esto, por dentro sigue siendo el modelo Servlet. SIGLAS: JSP = JavaServer Pages; JSF = JavaServer Faces (otro modelo, basado en componentes); @WebServlet = anotación que mapea la clase a una URL; HttpServlet = clase base; doGet/doPost = métodos para los verbos HTTP GET y POST. NEMÓNICO: 'el Servlet es el motor; Spring Boot es la carrocería'.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ejemplo que el estudiante acaba de vivir. Anatomía: la anotación @WebServlet('/hola') mapea la clase a una URL sin necesidad de web.xml; doGet lee el parámetro nombre con getParameter; si viene vacío usa 'Mundo'; arma el HTML y lo escribe en la respuesta. RECUERDE la trampa que ya enfrentamos: el import debe ser jakarta.* (Tomcat 11 = Jakarta EE), nunca javax.*, y si el formulario envía POST hay que implementar doPost (si no, sale el 405). Nota de seguridad: concatenar 'nombre' directo en el HTML es vulnerable a XSS — en producción se escapa, como vimos en la Semana 5. SIGLAS: @WebServlet = mapeo declarativo de URL; HttpServletRequest/Response = objetos de petición y respuesta; getParameter = lee datos del formulario o query string; getWriter = flujo de salida hacia el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Spring Boot es OPINIONADO: toma decisiones por ti para que escribas menos. Cuatro pilares: (1) auto-configuration: detecta qué hay en el classpath y configura solo; (2) starters: dependencias agrupadas, pides 'web' y vienen Tomcat, Spring MVC, Jackson, etc.; (3) servidor embebido: el Tomcat va dentro del JAR ejecutable — no instalas nada, corres con el botón play (contraste fuerte con lo que el estudiante hizo: instalar Tomcat, configurar el artifact, desplegar el WAR); (4) convención sobre configuración: defaults sensatos. El mensaje: lo que en Servlet puro toma muchos pasos, en Spring Boot toma minutos. SIGLAS Y TÉRMINOS: auto-configuration = configuración automática; starter = paquete de dependencias; servidor embebido = el contenedor web incluido en el ejecutable; convention over configuration = convención sobre configuración; classpath = ruta de clases; JAR = Java ARchive (el ejecutable empaquetado).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la productividad con el Servlet de la diapositiva 6: aquí no hay web.xml, ni getWriter, ni configuración de servidor. Solo anotaciones declarativas. @Controller marca la clase; @GetMapping('/') la enlaza a la raíz por GET; @RequestParam extrae 'nombre' del query string con valor por defecto; el Model lleva datos a la plantilla; devolver 'inicio' le dice a Spring que renderice templates/inicio.html. Esto es Spring MVC. SIGLAS Y ANOTACIONES: MVC = Model-View-Controller (separa datos, presentación y lógica); @Controller = controlador que devuelve vistas; @GetMapping = mapea peticiones GET; @RequestParam = parámetro de la URL; Model = contenedor de atributos para la vista; query string = los parámetros tras el '?' en la URL. Diferencia con @RestController: este último devuelve JSON directo, no nombres de vista.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capa de vista. Thymeleaf es un motor de plantillas del lado servidor: HTML válido con atributos especiales con prefijo th:. Aquí th:text reemplaza el contenido del h1 con la expresión que lee ${nombre} del Model. Ventaja sobre el getWriter del Servlet: el HTML está limpio y los diseñadores pueden abrirlo en el navegador (el texto interno 'Hola, Mundo...' es el placeholder de previsualización que Thymeleaf sustituye en ejecución). Importante: Thymeleaf escapa la salida por defecto, así que protege contra XSS automáticamente (a diferencia del Servlet manual). Para ejecutar: Shift+F10, y abrir localhost:8080. SIGLAS Y TÉRMINOS: Thymeleaf = motor de plantillas; th:text = atributo que fija el texto; ${...} = expresión que lee atributos del Model; motor de plantillas = componente que combina HTML + datos; Tomcat embebido = el servidor que viene dentro del ejecutable Spring Boot.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puente entre Spring Boot y la base de datos. Tres piezas: (1) JPA es el estándar de mapeo objeto-relacional: tú trabajas con objetos Java y JPA traduce a SQL automáticamente; (2) Spring Data JPA reduce aún más el trabajo: declaras una interfaz que extiende JpaRepository y obtienes save, findAll, findById, deleteById gratis, sin implementarlos; (3) H2 es una base embebida en memoria, perfecta para clase porque arranca con la app y no requiere instalación. La metáfora visual: un objeto Producto se convierte en una fila de la tabla productos y viceversa. SIGLAS: JPA = Jakarta Persistence API; ORM = Object-Relational Mapping (mapeo objeto-relacional); Spring Data JPA = capa de Spring que autogenera repositorios; H2 = base de datos relacional ligera en memoria; CRUD = las operaciones Create/Read/Update/Delete; repositorio = objeto que abstrae el acceso a datos. En el Proyecto Final se cambia H2 por PostgreSQL.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arquitectura en capas es el patrón profesional de Spring Boot. Flujo: el @Controller recibe la petición y delega en un @Service (lógica de negocio), que usa un Repository (acceso a datos), que habla con la BD. Cada capa tiene una única responsabilidad. Muestre el poder de Spring Data: el repositorio son DOS líneas — una interfaz que extiende JpaRepository — y Spring genera en tiempo de ejecución toda la implementación (save, findAll, findById, deleteById, etc.). Aclaración honesta: el ejemplo 6.3 simplifica e inyecta el repositorio directo en el controller (sin service) para no alargar; pero la regla profesional (diapositiva de buenas prácticas) es controller → service → repository. SIGLAS: @Service = capa de lógica de negocio; JpaRepository = interfaz base de Spring Data con CRUD genérico; repository = patrón de acceso a datos (Repository/DAO); separación de responsabilidades = cada clase hace una sola cosa.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entidad es el corazón del modelo de datos. Tres familias de anotaciones se combinan: (1) JPA — @Entity y @Table mapean la clase a una tabla; @Id marca la clave primaria; @GeneratedValue(IDENTITY) hace que la BD autogenere el id. (2) Validación (Bean Validation) — @NotBlank, @Size, @NotNull, @DecimalMin, @Min declaran reglas que se verifican con @Valid en el controller; es la validación SERVER-SIDE de la que hablamos en la Semana 5, ahora declarativa. (3) Lombok — @Getter, @Setter, @NoArgsConstructor, @AllArgsConstructor generan getters, setters y constructores en tiempo de compilación, eliminando código repetitivo (boilerplate). Use BigDecimal para dinero, nunca double (evita errores de redondeo). SIGLAS Y ANOTACIONES: @Entity = clase persistente; @Table = nombre de tabla; @Id = clave primaria; @GeneratedValue = generación automática del id; Bean Validation = estándar de validación por anotaciones; Lombok = biblioteca que reduce boilerplate; BigDecimal = tipo de precisión exacta para montos; boilerplate = código repetitivo y mecánico.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controlador que orquesta el CRUD. @RequestMapping('/productos') fija la ruta base; @RequiredArgsConstructor (Lombok) genera el constructor para la inyección del repositorio (inyección por constructor, la práctica recomendada sobre @Autowired en campos). Tres operaciones: listar (GET) pone todos los productos en el Model y devuelve la vista; guardar (POST) valida con @Valid, y si BindingResult tiene errores vuelve al formulario, si no persiste y redirige; eliminar (POST con @PathVariable) borra por id. Señale el patrón PRG (Post-Redirect-Get): tras un POST exitoso se hace 'redirect:' en vez de devolver HTML, para que al refrescar el navegador no reenvíe el formulario — justo el problema del 'reenviar' que el estudiante vio al pulsar F5 tras un POST. SIGLAS Y ANOTACIONES: @RequestMapping = ruta base; @PostMapping/@GetMapping = verbos HTTP; @Valid = dispara la validación de la entidad; BindingResult = recoge los errores de validación; @PathVariable = extrae parte de la URL; RedirectAttributes = pasa datos a través de un redirect; PRG = Post-Redirect-Get; inyección por constructor = forma preferida de 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mapa mental que unifica toda la semana (y conecta con la Semana 5). CRUD son las cuatro operaciones fundamentales sobre datos, y se alinean perfectamente: Create↔POST↔INSERT, Read↔GET↔SELECT, Update↔PUT↔UPDATE, Delete↔DELETE↔DELETE. En Spring cada una tiene su anotación @...Mapping. Este es el esqueleto de cualquier API REST bien diseñada. Pida que memoricen esta tabla: es lo que se evalúa al diseñar endpoints. Note que GET y POST ya los conocen del formulario PHP y del Servlet; PUT y DELETE completan el conjunto. SIGLAS: CRUD = Create, Read, Update, Delete; REST = REpresentational State Transfer; los verbos HTTP GET/POST/PUT/DELETE; SQL = Structured Query Language con sus sentencias INSERT/SELECT/UPDATE/DELETE; endpoint = punto de acceso de una API (una URL + verbo). NEMÓNICO: 'CRUD se lee de izquierda a derecha en HTTP y en SQL'.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Entregables: código fuente + capturas funcionando desde Postman o el navegador, en IntelliJ IDEA con Java 21 y Spring Boot 3.4. El Ejercicio 6.1 (API de tareas) practica el CRUD REST puro con @RestController devolviendo JSON, validación con @Valid y pruebas en Postman; se valora seguir convenciones REST (verbos correctos, códigos de estado). El Ejercicio 6.2 (inscripciones) sube un escalón: introduce RELACIONES JPA entre entidades (un curso tiene muchos estudiantes, @OneToMany/@ManyToOne) con Thymeleaf para la interfaz. Ambos consolidan lo evaluable en el EP1. SIGLAS Y HERRAMIENTAS: API = Application Programming Interface; REST = REpresentational State Transfer; CRUD = Create/Read/Update/Delete; Postman = herramienta para probar APIs HTTP; @RestController = controlador que devuelve datos (JSON); @OneToMany/@ManyToOne = anotaciones de relaciones JPA; JSON = formato de intercambio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doce reglas que separan un proyecto Spring Boot de juguete de uno profesional. Agrúpelas: 1-3 arquitectura (controllers delgados, capas separadas, DTOs que no exponen entidades); 4-5 robustez (validar siempre, manejo central de errores); 6 PRG (el patrón que evita el reenvío de formularios al refrescar — justo el problema del F5 tras POST que vivimos); 7-8 tooling (Lombok, logging correcto); 9 tests; 10-12 operación (profiles, configuración externa, health checks). SIGLAS Y HERRAMIENTAS: thin controller = controlador delgado; service = capa de lógica; repository = acceso a datos; DTO = Data Transfer Object (objeto para transportar datos sin exponer la entidad); @ControllerAdvice = manejador global de excepciones; PRG = Post-Redirect-Get; Slf4j = Simple Logging Facade for Java; Logback = implementación de logging; @WebMvcTest/@DataJpaTest = pruebas de capa; profiles = perfiles de entorno; Actuator = módulo de métricas y health checks; YAML = formato de configuración.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Diapositiva-resumen para fotografiar: reúne TODAS las siglas, anotaciones y nemónicos de la semana. Repase las siglas que más confunden: JVM vs JDK vs JRE (máquina virtual / kit de desarrollo / entorno de ejecución); JPA vs ORM (el estándar vs el concepto); DI/IoC (el patrón de Spring). Para las anotaciones, recuerde que son la esencia declarativa de Spring. Cierre con los cinco nemónicos de oro. Siglas adicionales no listadas por espacio: WORA = Write Once Run Anywhere; POJO = Plain Old Java Object; DAO = Data Access Object; PRG = Post-Redirect-Get; Slf4j = Simple Logging Facade for Java; JAR/WAR = empaquetados Java; REST = REpresentational State Transfer; Actuator = módulo de observabilidad; Lombok = reductor de boilerplate; Thymeleaf = motor de plantillas.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Recapitule el arco: entendimos 30 años de Java web, vimos el modelo histórico Servlet/JSP (que el estudiante practicó en Tomcat), dimos el salto a Spring Boot 3 (controlador + vista Thymeleaf), añadimos persistencia con Spring Data JPA y H2, construimos un CRUD completo y fijamos el mapa CRUD↔HTTP↔SQL. Conecte con el Proyecto Final de Curso: su backend será exactamente este stack (Spring Boot 3 + JPA), solo que con PostgreSQL en vez de H2 y añadiendo JWT y Swagger más adelante. Anuncie la Semana 7: cruzamos al ecosistema de Microsoft con ASP.NET Core, para contrastar enfoques del lado servidor. SIGLAS: JSP = JavaServer Pages; JPA = Jakarta Persistence API; CRUD = Create/Read/Update/Delete; H2 = base de datos en memoria.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C9900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2011680"/>
            <a:ext cx="1371600" cy="1371600"/>
          </a:xfrm>
          <a:prstGeom prst="ellipse">
            <a:avLst/>
          </a:prstGeom>
          <a:solidFill>
            <a:srgbClr val="006633"/>
          </a:solidFill>
          <a:ln/>
        </p:spPr>
      </p:sp>
      <p:pic>
        <p:nvPicPr>
          <p:cNvPr id="4" name="Image 0" descr="icons/java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331720"/>
            <a:ext cx="731520" cy="731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697480" y="1783080"/>
            <a:ext cx="1554480" cy="310896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6" name="Text 3"/>
          <p:cNvSpPr/>
          <p:nvPr/>
        </p:nvSpPr>
        <p:spPr>
          <a:xfrm>
            <a:off x="2697480" y="17830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II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343400" y="17647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697480" y="2240280"/>
            <a:ext cx="8778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para la web: Servlets,</a:t>
            </a:r>
            <a:endParaRPr lang="en-US" sz="36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JSP y Spring Boot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2697480" y="39319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«Write once, run anywhere. Java cumplió la promesa en el servidor: sigue siendo la columna vertebral de la banca, la salud y el gobierno digital.»  </a:t>
            </a:r>
            <a:pPr indent="0" marL="0">
              <a:buNone/>
            </a:pPr>
            <a:r>
              <a:rPr lang="en-US" sz="13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Sun Microsystems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Técnica Estatal de Quevedo · Ingeniería en Software · 5.º semestre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 ·  Semana 6  ·  Unidad II  ·  UTEQ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6633"/>
          </a:solidFill>
          <a:ln/>
        </p:spPr>
      </p:sp>
      <p:pic>
        <p:nvPicPr>
          <p:cNvPr id="3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2120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II · RESULTADO DE APRENDIZAJE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88720" y="6217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Dónde estamos y qué construirás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Mapa de la Unidad II — programación del lado del servidor (semanas 5–9)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1993392" cy="640080"/>
          </a:xfrm>
          <a:prstGeom prst="roundRect">
            <a:avLst>
              <a:gd name="adj" fmla="val 8571"/>
            </a:avLst>
          </a:prstGeom>
          <a:solidFill>
            <a:srgbClr val="F4F6F4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10312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  </a:t>
            </a:r>
            <a:pPr indent="0" marL="0">
              <a:buNone/>
            </a:pPr>
            <a:r>
              <a:rPr lang="en-US" sz="11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 y PHP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06624" y="2103120"/>
            <a:ext cx="1993392" cy="640080"/>
          </a:xfrm>
          <a:prstGeom prst="roundRect">
            <a:avLst>
              <a:gd name="adj" fmla="val 8571"/>
            </a:avLst>
          </a:prstGeom>
          <a:solidFill>
            <a:srgbClr val="E8F0EA"/>
          </a:solidFill>
          <a:ln w="19050">
            <a:solidFill>
              <a:srgbClr val="0066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98064" y="210312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6  </a:t>
            </a:r>
            <a:pPr indent="0" marL="0">
              <a:buNone/>
            </a:pPr>
            <a:r>
              <a:rPr lang="en-US" sz="11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Spring Boot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73168" y="2103120"/>
            <a:ext cx="1993392" cy="640080"/>
          </a:xfrm>
          <a:prstGeom prst="roundRect">
            <a:avLst>
              <a:gd name="adj" fmla="val 8571"/>
            </a:avLst>
          </a:prstGeom>
          <a:solidFill>
            <a:srgbClr val="F4F6F4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64608" y="210312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7  </a:t>
            </a:r>
            <a:pPr indent="0" marL="0">
              <a:buNone/>
            </a:pPr>
            <a:r>
              <a:rPr lang="en-US" sz="11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39712" y="2103120"/>
            <a:ext cx="1993392" cy="640080"/>
          </a:xfrm>
          <a:prstGeom prst="roundRect">
            <a:avLst>
              <a:gd name="adj" fmla="val 8571"/>
            </a:avLst>
          </a:prstGeom>
          <a:solidFill>
            <a:srgbClr val="F4F6F4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31152" y="210312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8  </a:t>
            </a:r>
            <a:pPr indent="0" marL="0">
              <a:buNone/>
            </a:pPr>
            <a:r>
              <a:rPr lang="en-US" sz="11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servidor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906256" y="2103120"/>
            <a:ext cx="1993392" cy="640080"/>
          </a:xfrm>
          <a:prstGeom prst="roundRect">
            <a:avLst>
              <a:gd name="adj" fmla="val 8571"/>
            </a:avLst>
          </a:prstGeom>
          <a:solidFill>
            <a:srgbClr val="F4F6F4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97696" y="210312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9  </a:t>
            </a:r>
            <a:pPr indent="0" marL="0">
              <a:buNone/>
            </a:pPr>
            <a:r>
              <a:rPr lang="en-US" sz="11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+ EP1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3063240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4F6F4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8680" y="3282696"/>
            <a:ext cx="493776" cy="493776"/>
          </a:xfrm>
          <a:prstGeom prst="ellipse">
            <a:avLst/>
          </a:prstGeom>
          <a:solidFill>
            <a:srgbClr val="006633"/>
          </a:solidFill>
          <a:ln/>
        </p:spPr>
      </p:sp>
      <p:pic>
        <p:nvPicPr>
          <p:cNvPr id="19" name="Image 1" descr="icons/java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3392424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600200" y="3182112"/>
            <a:ext cx="9692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moderno para web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1600200" y="3538728"/>
            <a:ext cx="9692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la trayectoria de Servlets/JSP hasta Spring Boot 3 sobre Java 21.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40080" y="4096512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4F6F4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68680" y="4315968"/>
            <a:ext cx="493776" cy="493776"/>
          </a:xfrm>
          <a:prstGeom prst="ellipse">
            <a:avLst/>
          </a:prstGeom>
          <a:solidFill>
            <a:srgbClr val="006633"/>
          </a:solidFill>
          <a:ln/>
        </p:spPr>
      </p:sp>
      <p:pic>
        <p:nvPicPr>
          <p:cNvPr id="24" name="Image 2" descr="icons/leaf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425696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00200" y="4215384"/>
            <a:ext cx="9692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Aplicación Spring Boot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1600200" y="4572000"/>
            <a:ext cx="9692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proyecto funcional con controladores, vistas y endpoints REST.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640080" y="5129784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4F6F4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68680" y="5349240"/>
            <a:ext cx="493776" cy="493776"/>
          </a:xfrm>
          <a:prstGeom prst="ellipse">
            <a:avLst/>
          </a:prstGeom>
          <a:solidFill>
            <a:srgbClr val="006633"/>
          </a:solidFill>
          <a:ln/>
        </p:spPr>
      </p:sp>
      <p:pic>
        <p:nvPicPr>
          <p:cNvPr id="29" name="Image 3" descr="icons/db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5458968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600200" y="5248656"/>
            <a:ext cx="9692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Persistencia con JPA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1600200" y="5605272"/>
            <a:ext cx="9692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 CRUD real con Spring Data JPA y base de datos H2 embebida.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 ·  Semana 6  ·  Unidad II  ·  UTEQ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6633"/>
          </a:solidFill>
          <a:ln/>
        </p:spPr>
      </p:sp>
      <p:pic>
        <p:nvPicPr>
          <p:cNvPr id="3" name="Image 0" descr="icons/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2120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 JAVA EN LA WEB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88720" y="6217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los Applets a Spring Boot — 30 años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040880" cy="4160520"/>
          </a:xfrm>
          <a:prstGeom prst="roundRect">
            <a:avLst>
              <a:gd name="adj" fmla="val 2198"/>
            </a:avLst>
          </a:prstGeom>
          <a:solidFill>
            <a:srgbClr val="F4F6F4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993392"/>
            <a:ext cx="66294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Gosling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su equipo en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Microsystems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crearon Java en 1995, pensado para dispositivos embebidos (el Star7), pero ideal para la naciente World Wide Web.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introdujo los 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Applets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(Java en el navegador, 1996) y los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Servlets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(Java en el servidor, 1997).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1999 llegó 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J2EE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potente pero pesado, con decenas de archivos XML. La frustración dio dos respuestas: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A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Framework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(Rod Johnson, 2003), que simplificó la inyección de dependencias; y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A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(2014), que eliminó la configuración manual con «convención sobre configuración». Hoy es el framework Java dominante.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863840" y="1810512"/>
            <a:ext cx="3657600" cy="749808"/>
          </a:xfrm>
          <a:prstGeom prst="roundRect">
            <a:avLst>
              <a:gd name="adj" fmla="val 8537"/>
            </a:avLst>
          </a:prstGeom>
          <a:solidFill>
            <a:srgbClr val="E8F0EA"/>
          </a:solidFill>
          <a:ln w="15240">
            <a:solidFill>
              <a:srgbClr val="0066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01000" y="1810512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1995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052560" y="181051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 Java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863840" y="2670048"/>
            <a:ext cx="3657600" cy="749808"/>
          </a:xfrm>
          <a:prstGeom prst="roundRect">
            <a:avLst>
              <a:gd name="adj" fmla="val 8537"/>
            </a:avLst>
          </a:prstGeom>
          <a:solidFill>
            <a:srgbClr val="E8F0EA"/>
          </a:solidFill>
          <a:ln w="15240">
            <a:solidFill>
              <a:srgbClr val="0066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0" y="2670048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1997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052560" y="267004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863840" y="3529584"/>
            <a:ext cx="3657600" cy="749808"/>
          </a:xfrm>
          <a:prstGeom prst="roundRect">
            <a:avLst>
              <a:gd name="adj" fmla="val 8537"/>
            </a:avLst>
          </a:prstGeom>
          <a:solidFill>
            <a:srgbClr val="E8F0EA"/>
          </a:solidFill>
          <a:ln w="15240">
            <a:solidFill>
              <a:srgbClr val="A8763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01000" y="3529584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87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1999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9052560" y="3529584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J2EE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7863840" y="4389120"/>
            <a:ext cx="3657600" cy="749808"/>
          </a:xfrm>
          <a:prstGeom prst="roundRect">
            <a:avLst>
              <a:gd name="adj" fmla="val 8537"/>
            </a:avLst>
          </a:prstGeom>
          <a:solidFill>
            <a:srgbClr val="E8F0EA"/>
          </a:solidFill>
          <a:ln w="15240">
            <a:solidFill>
              <a:srgbClr val="4A8A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01000" y="438912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8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2003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9052560" y="4389120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7863840" y="5248656"/>
            <a:ext cx="3657600" cy="749808"/>
          </a:xfrm>
          <a:prstGeom prst="roundRect">
            <a:avLst>
              <a:gd name="adj" fmla="val 8537"/>
            </a:avLst>
          </a:prstGeom>
          <a:solidFill>
            <a:srgbClr val="E8F0EA"/>
          </a:solidFill>
          <a:ln w="15240">
            <a:solidFill>
              <a:srgbClr val="4A8A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01000" y="5248656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8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2014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9052560" y="5248656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 ·  Semana 6  ·  Unidad II  ·  UTEQ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6633"/>
          </a:solidFill>
          <a:ln/>
        </p:spPr>
      </p:sp>
      <p:pic>
        <p:nvPicPr>
          <p:cNvPr id="3" name="Image 0" descr="icons/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2120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ESTÁNDAR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88720" y="6217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Versiones de Java y Spring relevantes en 2026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7040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Aporte clave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3A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2014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66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Java 8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Lambdas, streams, Optional.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3A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2014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66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Spring Boot 1.0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Convención sobre configuración.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3A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2018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66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Java 11 LTS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Primera LTS moderna y estable.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3A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66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Java 17 LTS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Sealed classes, records, pattern matching.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3A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2022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66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Spring Boot 3.0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Jakarta EE 9 (paquetes jakarta.*).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3A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66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Java 21 LTS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threads, sequenced collections.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3A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2024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66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Spring Boot 3.4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Compatible con Java 21+, observabilidad.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3A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66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Java 25 LTS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Patrones de cadena en switch.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Nemónico:  </a:t>
            </a:r>
            <a:pPr indent="0" marL="0">
              <a:buNone/>
            </a:pPr>
            <a:r>
              <a:rPr lang="en-US" sz="11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 se usan las versiones LTS (Long-Term Support): 8, 11, 17, 21, 25. El curso usa Java 21 LTS + Spring Boot 3.4.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 ·  Semana 6  ·  Unidad II  ·  UTEQ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6633"/>
          </a:solidFill>
          <a:ln/>
        </p:spPr>
      </p:sp>
      <p:pic>
        <p:nvPicPr>
          <p:cNvPr id="3" name="Image 0" descr="icons/cube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2120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HISTÓRICO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88720" y="6217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Servlets y JSP: el motor por debajo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E8F0EA"/>
          </a:solidFill>
          <a:ln w="15240">
            <a:solidFill>
              <a:srgbClr val="0066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9385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un Servlet?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clase Java que se ejecuta en el servidor y responde a peticiones HTTP. Extiende </a:t>
            </a:r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0057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HttpServlet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sobrescribe </a:t>
            </a:r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0057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doGet()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0057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doPost()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JSP (JavaServer Pages) es lo inverso: HTML con Java incrustado, que el servidor COMPILA a un Servlet.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cimiento de TODOS los frameworks Java web modernos, Spring Boot incluido.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263640" y="1828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ciclo de una petición a un Servlet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63640" y="2331720"/>
            <a:ext cx="457200" cy="457200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11" name="Text 8"/>
          <p:cNvSpPr/>
          <p:nvPr/>
        </p:nvSpPr>
        <p:spPr>
          <a:xfrm>
            <a:off x="6263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58000" y="23317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envía GET/POST a la URL del Servlet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92240" y="2788920"/>
            <a:ext cx="0" cy="256032"/>
          </a:xfrm>
          <a:prstGeom prst="line">
            <a:avLst/>
          </a:prstGeom>
          <a:noFill/>
          <a:ln w="25400">
            <a:solidFill>
              <a:srgbClr val="CC99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63640" y="3044952"/>
            <a:ext cx="457200" cy="457200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858000" y="30449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busca el @WebServlet con ese patrón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92240" y="3502152"/>
            <a:ext cx="0" cy="256032"/>
          </a:xfrm>
          <a:prstGeom prst="line">
            <a:avLst/>
          </a:prstGeom>
          <a:noFill/>
          <a:ln w="25400">
            <a:solidFill>
              <a:srgbClr val="CC99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63640" y="3758184"/>
            <a:ext cx="457200" cy="457200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19" name="Text 16"/>
          <p:cNvSpPr/>
          <p:nvPr/>
        </p:nvSpPr>
        <p:spPr>
          <a:xfrm>
            <a:off x="626364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858000" y="375818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 doGet() o doPost() según el método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92240" y="4215384"/>
            <a:ext cx="0" cy="256032"/>
          </a:xfrm>
          <a:prstGeom prst="line">
            <a:avLst/>
          </a:prstGeom>
          <a:noFill/>
          <a:ln w="25400">
            <a:solidFill>
              <a:srgbClr val="CC99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63640" y="4471416"/>
            <a:ext cx="457200" cy="457200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23" name="Text 20"/>
          <p:cNvSpPr/>
          <p:nvPr/>
        </p:nvSpPr>
        <p:spPr>
          <a:xfrm>
            <a:off x="6263640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858000" y="447141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Servlet arma la respuesta (HTML/JSON)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492240" y="4928616"/>
            <a:ext cx="0" cy="256032"/>
          </a:xfrm>
          <a:prstGeom prst="line">
            <a:avLst/>
          </a:prstGeom>
          <a:noFill/>
          <a:ln w="25400">
            <a:solidFill>
              <a:srgbClr val="CC99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63640" y="5184648"/>
            <a:ext cx="457200" cy="457200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27" name="Text 24"/>
          <p:cNvSpPr/>
          <p:nvPr/>
        </p:nvSpPr>
        <p:spPr>
          <a:xfrm>
            <a:off x="626364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858000" y="51846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la devuelve al navegador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 ·  Semana 6  ·  Unidad II  ·  UTEQ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6633"/>
          </a:solidFill>
          <a:ln/>
        </p:spPr>
      </p:sp>
      <p:pic>
        <p:nvPicPr>
          <p:cNvPr id="3" name="Image 0" descr="icons/cod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2120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6.1 · SERVLET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88720" y="6217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Hola Mundo en un Servlet (Tomcat 11)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7863840" cy="4114800"/>
          </a:xfrm>
          <a:prstGeom prst="rect">
            <a:avLst/>
          </a:prstGeom>
          <a:solidFill>
            <a:srgbClr val="F8F8F2"/>
          </a:solidFill>
          <a:ln w="12700">
            <a:solidFill>
              <a:srgbClr val="D9E0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828800"/>
            <a:ext cx="73152" cy="4114800"/>
          </a:xfrm>
          <a:prstGeom prst="rect">
            <a:avLst/>
          </a:prstGeom>
          <a:solidFill>
            <a:srgbClr val="006633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38528"/>
            <a:ext cx="749808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ec.edu.uteq.appweb;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jakarta.servlet.annotation.WebServlet;  </a:t>
            </a:r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71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OJO: jakarta.*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jakarta.servlet.http.*;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java.io.IOException;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@WebServlet("/hola")                  </a:t>
            </a:r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71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mapea la URL /hola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HolaServlet extends HttpServlet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void doGet(HttpServletRequest req,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HttpServletResponse resp) throws IOException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nombre = req.getParameter("nombre");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(nombre == null || nombre.isBlank()) nombre = "Mundo";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resp.setContentType("text/html; charset=utf-8");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resp.getWriter().write(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"&lt;h1&gt;Hola, " + nombre + " desde Servlet!&lt;/h1&gt;");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86800" y="1828800"/>
            <a:ext cx="2834640" cy="2331720"/>
          </a:xfrm>
          <a:prstGeom prst="roundRect">
            <a:avLst>
              <a:gd name="adj" fmla="val 3922"/>
            </a:avLst>
          </a:prstGeom>
          <a:solidFill>
            <a:srgbClr val="F4F6F4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69680" y="19385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Claves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869680" y="2286000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57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jakarta.*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 javax) en Tomcat 11.
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57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@WebServlet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define la ruta.
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57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doGet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atiende el verbo GET.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0" y="4297680"/>
            <a:ext cx="2834640" cy="1645920"/>
          </a:xfrm>
          <a:prstGeom prst="roundRect">
            <a:avLst>
              <a:gd name="adj" fmla="val 5556"/>
            </a:avLst>
          </a:prstGeom>
          <a:solidFill>
            <a:srgbClr val="E8F0EA"/>
          </a:solidFill>
          <a:ln w="15240">
            <a:solidFill>
              <a:srgbClr val="0066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0" y="44074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869680" y="47091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Hola, Ana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desde Servlet!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869680" y="54406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URL: /app/hola?nombre=Ana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 ·  Semana 6  ·  Unidad II  ·  UTEQ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6633"/>
          </a:solidFill>
          <a:ln/>
        </p:spPr>
      </p:sp>
      <p:pic>
        <p:nvPicPr>
          <p:cNvPr id="3" name="Image 0" descr="icons/leaf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2120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ESTÁNDAR MODERNO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88720" y="6217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Boot: por qué es tan productivo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E8F0EA"/>
          </a:solidFill>
          <a:ln w="15240">
            <a:solidFill>
              <a:srgbClr val="0066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0116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Auto-configuration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542032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automáticamente la app según las dependencias detectadas. Adiós a los XML de J2EE.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E8F0EA"/>
          </a:solidFill>
          <a:ln w="15240">
            <a:solidFill>
              <a:srgbClr val="0066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20116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46520" y="2542032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preempaquetadas: un solo starter (p. ej. spring-boot-starter-web) trae todo lo necesario.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" y="388620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E8F0EA"/>
          </a:solidFill>
          <a:ln w="15240">
            <a:solidFill>
              <a:srgbClr val="0066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40690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Servidor embebido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14400" y="4599432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va DENTRO del JAR. No instalas ni configuras servidor: se ejecuta con un clic (play).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172200" y="388620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E8F0EA"/>
          </a:solidFill>
          <a:ln w="15240">
            <a:solidFill>
              <a:srgbClr val="0066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40690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Convención sobre configuración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446520" y="4599432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Asume valores por defecto sensatos; solo configuras lo que se aparta de la norma.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 ·  Semana 6  ·  Unidad II  ·  UTEQ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6633"/>
          </a:solidFill>
          <a:ln/>
        </p:spPr>
      </p:sp>
      <p:pic>
        <p:nvPicPr>
          <p:cNvPr id="3" name="Image 0" descr="icons/cod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2120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6.2 · CONTROLADOR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88720" y="6217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 primera app Spring Boot — el Controller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proyecto:  </a:t>
            </a:r>
            <a:pPr indent="0" marL="0">
              <a:buNone/>
            </a:pPr>
            <a:r>
              <a:rPr lang="en-US" sz="12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New → Project → Spring Boot · Java 21 · Maven · deps: Spring Web, DevTools, Thymeleaf.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7680960" cy="3794760"/>
          </a:xfrm>
          <a:prstGeom prst="rect">
            <a:avLst/>
          </a:prstGeom>
          <a:solidFill>
            <a:srgbClr val="F8F8F2"/>
          </a:solidFill>
          <a:ln w="12700">
            <a:solidFill>
              <a:srgbClr val="D9E0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148840"/>
            <a:ext cx="73152" cy="3794760"/>
          </a:xfrm>
          <a:prstGeom prst="rect">
            <a:avLst/>
          </a:prstGeom>
          <a:solidFill>
            <a:srgbClr val="006633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258568"/>
            <a:ext cx="7315200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ec.edu.uteq.primera.controller;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org.springframework.stereotype.Controller;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org.springframework.ui.Model;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org.springframework.web.bind.annotation.*;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@Controller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71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controlador MVC (devuelve vistas)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HolaController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@GetMapping("/")              </a:t>
            </a:r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71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atiende GET en la raiz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inicio(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@RequestParam(defaultValue = "Mundo") String nombre,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 model)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model.addAttribute("nombre", nombre);  </a:t>
            </a:r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71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pasa datos a la vista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"inicio";          </a:t>
            </a:r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71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resuelve a templates/inicio.html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503920" y="2148840"/>
            <a:ext cx="3017520" cy="3794760"/>
          </a:xfrm>
          <a:prstGeom prst="roundRect">
            <a:avLst>
              <a:gd name="adj" fmla="val 3030"/>
            </a:avLst>
          </a:prstGeom>
          <a:solidFill>
            <a:srgbClr val="F4F6F4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0" y="22677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Anotaciones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686800" y="2651760"/>
            <a:ext cx="2697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57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@Controller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marca la clase como controlador MVC.
</a:t>
            </a:r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57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asocia un método a una URL y verbo.
</a:t>
            </a:r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57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@RequestParam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extrae parámetros del query string.
</a:t>
            </a:r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57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transporta datos del controlador a la vista.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 ·  Semana 6  ·  Unidad II  ·  UTEQ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6633"/>
          </a:solidFill>
          <a:ln/>
        </p:spPr>
      </p:sp>
      <p:pic>
        <p:nvPicPr>
          <p:cNvPr id="3" name="Image 0" descr="icons/cod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2120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6.2 · VISTA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88720" y="6217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plantilla Thymeleaf (inicio.html)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7772400" cy="3383280"/>
          </a:xfrm>
          <a:prstGeom prst="rect">
            <a:avLst/>
          </a:prstGeom>
          <a:solidFill>
            <a:srgbClr val="F8F8F2"/>
          </a:solidFill>
          <a:ln w="12700">
            <a:solidFill>
              <a:srgbClr val="D9E0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828800"/>
            <a:ext cx="73152" cy="3383280"/>
          </a:xfrm>
          <a:prstGeom prst="rect">
            <a:avLst/>
          </a:prstGeom>
          <a:solidFill>
            <a:srgbClr val="006633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38528"/>
            <a:ext cx="740664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xmlns:th="http://www.thymeleaf.org" lang="es-EC"&gt;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&lt;title&gt;Hola Spring Boot&lt;/title&gt;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 th:text="'Hola, ' + ${nombre} + ' desde Spring Boot!'"&gt;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Hola, Mundo desde Spring Boot!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&lt;/h1&gt;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&lt;p&gt;Servidor Tomcat embebido en el puerto 8080.&lt;/p&gt;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5349240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F4F6F4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413248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th:text</a:t>
            </a:r>
            <a:pPr indent="0" marL="0">
              <a:buNone/>
            </a:pPr>
            <a:r>
              <a:rPr lang="en-US" sz="12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 atributo de Thymeleaf: reemplaza el contenido con la expresión </a:t>
            </a:r>
            <a:pPr indent="0" marL="0">
              <a:buNone/>
            </a:pPr>
            <a:r>
              <a:rPr lang="en-US" sz="1250" b="1" dirty="0">
                <a:solidFill>
                  <a:srgbClr val="0057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${nombre}</a:t>
            </a:r>
            <a:pPr indent="0" marL="0">
              <a:buNone/>
            </a:pPr>
            <a:r>
              <a:rPr lang="en-US" sz="12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Model. El texto interno es solo un marcador de previsualización.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0" y="1828800"/>
            <a:ext cx="2834640" cy="4297680"/>
          </a:xfrm>
          <a:prstGeom prst="roundRect">
            <a:avLst>
              <a:gd name="adj" fmla="val 3226"/>
            </a:avLst>
          </a:prstGeom>
          <a:solidFill>
            <a:srgbClr val="E8F0EA"/>
          </a:solidFill>
          <a:ln w="15240">
            <a:solidFill>
              <a:srgbClr val="0066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69680" y="19659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869680" y="22860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Hola, UTEQ desde Spring Boot!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869680" y="35204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Tomcat embebido en el puerto 8080.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869680" y="50292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Ejecutar: Shift+F10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Abrir: localhost:8080/?nombre=UTEQ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 ·  Semana 6  ·  Unidad II  ·  UTEQ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6633"/>
          </a:solidFill>
          <a:ln/>
        </p:spPr>
      </p:sp>
      <p:pic>
        <p:nvPicPr>
          <p:cNvPr id="3" name="Image 0" descr="icons/db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2120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88720" y="6217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Data JPA y la base H2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E8F0EA"/>
          </a:solidFill>
          <a:ln w="15240">
            <a:solidFill>
              <a:srgbClr val="0066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9385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resuelve JPA?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(Jakarta Persistence API) es el estándar de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(mapeo objeto-relacional): convierte objetos Java en filas de una tabla y viceversa, sin escribir SQL a mano.
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4A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 más allá: tú declaras una interfaz repositorio y el framework GENERA la implementación (save, findAll, deleteById…).
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una base relacional ligera, embebida y en memoria: ideal para clase, sin instalar PostgreSQL.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263640" y="1828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objeto Java a fila de tabla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63640" y="228600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4F6F4"/>
          </a:solidFill>
          <a:ln w="15240">
            <a:solidFill>
              <a:srgbClr val="0066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23774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Producto
</a:t>
            </a:r>
            <a:pPr indent="0" marL="0">
              <a:buNone/>
            </a:pPr>
            <a:r>
              <a:rPr lang="en-US" sz="12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id=1, nombre="Café", precio=4.50, stock=30</a:t>
            </a:r>
            <a:endParaRPr lang="en-US" sz="1300" dirty="0"/>
          </a:p>
        </p:txBody>
      </p:sp>
      <p:pic>
        <p:nvPicPr>
          <p:cNvPr id="12" name="Image 1" descr="icons/d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370332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63640" y="3749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ORM (JPA)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63640" y="43434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4F6F4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46520" y="44348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productos
</a:t>
            </a:r>
            <a:pPr indent="0" marL="0"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id | nombre | precio | stock |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1  | Café   | 4.50   | 30    |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 ·  Semana 6  ·  Unidad II  ·  UTEQ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6633"/>
          </a:solidFill>
          <a:ln/>
        </p:spPr>
      </p:sp>
      <p:pic>
        <p:nvPicPr>
          <p:cNvPr id="3" name="Image 0" descr="icons/arc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2120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88720" y="6217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Capas: controller → service → repository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2468880" cy="1325880"/>
          </a:xfrm>
          <a:prstGeom prst="roundRect">
            <a:avLst>
              <a:gd name="adj" fmla="val 6897"/>
            </a:avLst>
          </a:prstGeom>
          <a:solidFill>
            <a:srgbClr val="E8F0EA"/>
          </a:solidFill>
          <a:ln w="17780">
            <a:solidFill>
              <a:srgbClr val="0066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215798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@Controller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633472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 petición HTTP y devuelve la vista o JSON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145536" y="2670048"/>
            <a:ext cx="262128" cy="0"/>
          </a:xfrm>
          <a:prstGeom prst="line">
            <a:avLst/>
          </a:prstGeom>
          <a:noFill/>
          <a:ln w="31750">
            <a:solidFill>
              <a:srgbClr val="CC9900"/>
            </a:solidFill>
            <a:prstDash val="solid"/>
            <a:headEnd type="triangl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444240" y="2011680"/>
            <a:ext cx="2468880" cy="1325880"/>
          </a:xfrm>
          <a:prstGeom prst="roundRect">
            <a:avLst>
              <a:gd name="adj" fmla="val 6897"/>
            </a:avLst>
          </a:prstGeom>
          <a:solidFill>
            <a:srgbClr val="E8F0EA"/>
          </a:solidFill>
          <a:ln w="17780">
            <a:solidFill>
              <a:srgbClr val="0066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35680" y="215798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553968" y="2633472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Contiene la lógica de negocio (reglas, cálculos)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49696" y="2670048"/>
            <a:ext cx="262128" cy="0"/>
          </a:xfrm>
          <a:prstGeom prst="line">
            <a:avLst/>
          </a:prstGeom>
          <a:noFill/>
          <a:ln w="31750">
            <a:solidFill>
              <a:srgbClr val="CC9900"/>
            </a:solidFill>
            <a:prstDash val="solid"/>
            <a:headEnd type="triangl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248400" y="2011680"/>
            <a:ext cx="2468880" cy="1325880"/>
          </a:xfrm>
          <a:prstGeom prst="roundRect">
            <a:avLst>
              <a:gd name="adj" fmla="val 6897"/>
            </a:avLst>
          </a:prstGeom>
          <a:solidFill>
            <a:srgbClr val="E8F0EA"/>
          </a:solidFill>
          <a:ln w="17780">
            <a:solidFill>
              <a:srgbClr val="0066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39840" y="215798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58128" y="2633472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datos: Spring Data JPA lo genera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753856" y="2670048"/>
            <a:ext cx="262128" cy="0"/>
          </a:xfrm>
          <a:prstGeom prst="line">
            <a:avLst/>
          </a:prstGeom>
          <a:noFill/>
          <a:ln w="31750">
            <a:solidFill>
              <a:srgbClr val="CC9900"/>
            </a:solidFill>
            <a:prstDash val="solid"/>
            <a:headEnd type="triangl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052560" y="2011680"/>
            <a:ext cx="2468880" cy="1325880"/>
          </a:xfrm>
          <a:prstGeom prst="roundRect">
            <a:avLst>
              <a:gd name="adj" fmla="val 6897"/>
            </a:avLst>
          </a:prstGeom>
          <a:solidFill>
            <a:srgbClr val="E6EEF2"/>
          </a:solidFill>
          <a:ln w="17780">
            <a:solidFill>
              <a:srgbClr val="1C729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0" y="215798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BD H2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162288" y="2633472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y recupera las filas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40080" y="3657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repositorio: dos líneas, cero implementación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4069080"/>
            <a:ext cx="10881360" cy="960120"/>
          </a:xfrm>
          <a:prstGeom prst="rect">
            <a:avLst/>
          </a:prstGeom>
          <a:solidFill>
            <a:srgbClr val="F8F8F2"/>
          </a:solidFill>
          <a:ln w="12700">
            <a:solidFill>
              <a:srgbClr val="D9E0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4069080"/>
            <a:ext cx="73152" cy="960120"/>
          </a:xfrm>
          <a:prstGeom prst="rect">
            <a:avLst/>
          </a:prstGeom>
          <a:solidFill>
            <a:srgbClr val="006633"/>
          </a:solidFill>
          <a:ln/>
        </p:spPr>
      </p:sp>
      <p:sp>
        <p:nvSpPr>
          <p:cNvPr id="24" name="Text 21"/>
          <p:cNvSpPr/>
          <p:nvPr/>
        </p:nvSpPr>
        <p:spPr>
          <a:xfrm>
            <a:off x="841248" y="4178808"/>
            <a:ext cx="10515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ProductoRepository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extends JpaRepository&lt;Producto, Long&gt; { }   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71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Spring genera save, findAll, deleteById...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profesional:  </a:t>
            </a:r>
            <a:pPr indent="0" marL="0">
              <a:buNone/>
            </a:pPr>
            <a:r>
              <a:rPr lang="en-US" sz="12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controller no habla con la BD directamente; delega en un service, y este en el repository. Separación de responsabilidades.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 ·  Semana 6  ·  Unidad II  ·  UTEQ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6633"/>
          </a:solidFill>
          <a:ln/>
        </p:spPr>
      </p:sp>
      <p:pic>
        <p:nvPicPr>
          <p:cNvPr id="3" name="Image 0" descr="icons/cod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2120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6.3 · ENTIDAD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88720" y="6217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entidad JPA Producto (modelo + validación)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10881360" cy="4206240"/>
          </a:xfrm>
          <a:prstGeom prst="rect">
            <a:avLst/>
          </a:prstGeom>
          <a:solidFill>
            <a:srgbClr val="F8F8F2"/>
          </a:solidFill>
          <a:ln w="12700">
            <a:solidFill>
              <a:srgbClr val="D9E0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828800"/>
            <a:ext cx="73152" cy="4206240"/>
          </a:xfrm>
          <a:prstGeom prst="rect">
            <a:avLst/>
          </a:prstGeom>
          <a:solidFill>
            <a:srgbClr val="006633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38528"/>
            <a:ext cx="1051560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ec.edu.uteq.primera.model;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jakarta.persistence.*;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jakarta.validation.constraints.*;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lombok.*;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java.math.BigDecimal;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 @Table(name = "productos")          </a:t>
            </a:r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71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mapea a la tabla productos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@Getter @Setter @NoArgsConstructor @AllArgsConstructor  </a:t>
            </a:r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71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Lombok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Producto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@Id @GeneratedValue(strategy = GenerationType.IDENTITY)  </a:t>
            </a:r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71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clave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Long id;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@NotBlank @Size(min = 3, max = 100)     </a:t>
            </a:r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71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validacion del nombre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nombre;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@NotNull @DecimalMin("0.01")            </a:t>
            </a:r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71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precio &gt; 0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BigDecimal precio;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@NotNull @Min(0) 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71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stock &gt;= 0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Integer stock;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 ·  Semana 6  ·  Unidad II  ·  UTEQ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6633"/>
          </a:solidFill>
          <a:ln/>
        </p:spPr>
      </p:sp>
      <p:pic>
        <p:nvPicPr>
          <p:cNvPr id="3" name="Image 0" descr="icons/cod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2120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6.3 · CONTROLADOR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88720" y="6217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CRUD de productos — el controlador completo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10881360" cy="4526280"/>
          </a:xfrm>
          <a:prstGeom prst="rect">
            <a:avLst/>
          </a:prstGeom>
          <a:solidFill>
            <a:srgbClr val="F8F8F2"/>
          </a:solidFill>
          <a:ln w="12700">
            <a:solidFill>
              <a:srgbClr val="D9E0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737360"/>
            <a:ext cx="73152" cy="4526280"/>
          </a:xfrm>
          <a:prstGeom prst="rect">
            <a:avLst/>
          </a:prstGeom>
          <a:solidFill>
            <a:srgbClr val="006633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847088"/>
            <a:ext cx="10515600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@Controller @RequestMapping("/productos")   </a:t>
            </a:r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71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ruta base del controlador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@RequiredArgsConstructor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ProductoController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ProductoRepository repo;   </a:t>
            </a:r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71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inyeccion por constructor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@GetMapping       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71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LEER: listar todos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listar(Model model)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model.addAttribute("productos", repo.findAll());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"productos/lista";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@PostMapping      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71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guardar(@Valid Producto p, BindingResult br,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RedirectAttributes ra)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(br.hasErrors()) return "productos/form";  </a:t>
            </a:r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71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re-validar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repo.save(p);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ra.addFlashAttribute("msg", "Producto guardado");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"redirect:/productos";        </a:t>
            </a:r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71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patron PRG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@PostMapping("/{id}/eliminar")           </a:t>
            </a:r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71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ELIMINAR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eliminar(@PathVariable Long id)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repo.deleteById(id);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"redirect:/productos";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 ·  Semana 6  ·  Unidad II  ·  UTEQ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6633"/>
          </a:solidFill>
          <a:ln/>
        </p:spPr>
      </p:sp>
      <p:pic>
        <p:nvPicPr>
          <p:cNvPr id="3" name="Image 0" descr="icons/tabl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2120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MENTAL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88720" y="6217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CRUD ↔ HTTP ↔ Spring ↔ SQL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194560"/>
                <a:gridCol w="3108960"/>
                <a:gridCol w="25603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Verbo HTTP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Anotación Spring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6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 (crear)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83A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83A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@PostMapping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83A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INSERT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6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 (leer)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83A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83A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@GetMapping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83A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SELECT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6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 (actualizar)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83A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83A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@PutMapping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83A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UPDATE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6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 (eliminar)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83A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83A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@DeleteMapping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83A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0080" y="50292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8F0EA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68680" y="5102352"/>
            <a:ext cx="10424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Nemónico:  </a:t>
            </a:r>
            <a:pPr indent="0" marL="0">
              <a:buNone/>
            </a:pPr>
            <a:r>
              <a:rPr lang="en-US" sz="13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= Create, Read, Update, Delete. Las cuatro operaciones de datos se corresponden 1 a 1 con los verbos HTTP y con las sentencias SQL. Si memorizas esta tabla, dominas el diseño de cualquier API REST.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 ·  Semana 6  ·  Unidad II  ·  UTEQ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6633"/>
          </a:solidFill>
          <a:ln/>
        </p:spPr>
      </p:sp>
      <p:pic>
        <p:nvPicPr>
          <p:cNvPr id="3" name="Image 0" descr="icons/exerc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2120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88720" y="6217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Ejercicios propuestos de la semana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10881360" cy="1965960"/>
          </a:xfrm>
          <a:prstGeom prst="roundRect">
            <a:avLst>
              <a:gd name="adj" fmla="val 4651"/>
            </a:avLst>
          </a:prstGeom>
          <a:solidFill>
            <a:srgbClr val="F4F6F4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28800"/>
            <a:ext cx="109728" cy="1965960"/>
          </a:xfrm>
          <a:prstGeom prst="rect">
            <a:avLst/>
          </a:prstGeom>
          <a:solidFill>
            <a:srgbClr val="CC9900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2176272"/>
            <a:ext cx="914400" cy="914400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1762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1440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194560" y="2084832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REST de tareas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194560" y="2578608"/>
            <a:ext cx="9098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en Spring Boot con CRUD completo para una entidad Tarea (id, titulo, completada, fechaCreacion). Persistir en H2, devolver JSON, validar con @Valid y probar con Postman siguiendo convenciones REST.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4023360"/>
            <a:ext cx="10881360" cy="1965960"/>
          </a:xfrm>
          <a:prstGeom prst="roundRect">
            <a:avLst>
              <a:gd name="adj" fmla="val 4651"/>
            </a:avLst>
          </a:prstGeom>
          <a:solidFill>
            <a:srgbClr val="F4F6F4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4023360"/>
            <a:ext cx="109728" cy="1965960"/>
          </a:xfrm>
          <a:prstGeom prst="rect">
            <a:avLst/>
          </a:prstGeom>
          <a:solidFill>
            <a:srgbClr val="CC9900"/>
          </a:solidFill>
          <a:ln/>
        </p:spPr>
      </p:sp>
      <p:sp>
        <p:nvSpPr>
          <p:cNvPr id="15" name="Shape 12"/>
          <p:cNvSpPr/>
          <p:nvPr/>
        </p:nvSpPr>
        <p:spPr>
          <a:xfrm>
            <a:off x="914400" y="4370832"/>
            <a:ext cx="914400" cy="914400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37083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14400" y="5394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194560" y="4279392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de inscripciones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2194560" y="4773168"/>
            <a:ext cx="9098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Spring Boot + Thymeleaf con relaciones JPA (un curso, muchos estudiantes). Un estudiante se inscribe a un curso (formulario), ve los cursos disponibles (listado) y se da de baja (botón). BD H2 en memoria.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 ·  Semana 6  ·  Unidad II  ·  UTEQ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6633"/>
          </a:solidFill>
          <a:ln/>
        </p:spPr>
      </p:sp>
      <p:pic>
        <p:nvPicPr>
          <p:cNvPr id="3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2120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PROFESIONAL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88720" y="6217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Doce reglas profesionales 2026 (Spring Boot)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47088"/>
            <a:ext cx="384048" cy="384048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1783080"/>
            <a:ext cx="49834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thin: la lógica vive en los services.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560320"/>
            <a:ext cx="384048" cy="384048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43000" y="2496312"/>
            <a:ext cx="49834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Capas: controller → service → repository.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3273552"/>
            <a:ext cx="384048" cy="384048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43000" y="3209544"/>
            <a:ext cx="49834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separados de las entidades JPA.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3986784"/>
            <a:ext cx="384048" cy="384048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43000" y="3922776"/>
            <a:ext cx="49834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@Valid en TODA entrada de los controllers.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" y="4700016"/>
            <a:ext cx="384048" cy="384048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4700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43000" y="4636008"/>
            <a:ext cx="49834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global de errores con @ControllerAdvice.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0080" y="5413248"/>
            <a:ext cx="384048" cy="384048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5413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43000" y="5349240"/>
            <a:ext cx="49834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PRG (Post-Redirect-Get) tras cada POST.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263640" y="1847088"/>
            <a:ext cx="384048" cy="384048"/>
          </a:xfrm>
          <a:prstGeom prst="ellipse">
            <a:avLst/>
          </a:prstGeom>
          <a:solidFill>
            <a:srgbClr val="CC9900"/>
          </a:solidFill>
          <a:ln/>
        </p:spPr>
      </p:sp>
      <p:sp>
        <p:nvSpPr>
          <p:cNvPr id="25" name="Text 22"/>
          <p:cNvSpPr/>
          <p:nvPr/>
        </p:nvSpPr>
        <p:spPr>
          <a:xfrm>
            <a:off x="62636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766560" y="1783080"/>
            <a:ext cx="49834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 para reducir el boilerplate.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63640" y="2560320"/>
            <a:ext cx="384048" cy="384048"/>
          </a:xfrm>
          <a:prstGeom prst="ellipse">
            <a:avLst/>
          </a:prstGeom>
          <a:solidFill>
            <a:srgbClr val="CC9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2636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766560" y="2496312"/>
            <a:ext cx="49834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Slf4j + Logback con niveles de log correctos.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263640" y="3273552"/>
            <a:ext cx="384048" cy="384048"/>
          </a:xfrm>
          <a:prstGeom prst="ellipse">
            <a:avLst/>
          </a:prstGeom>
          <a:solidFill>
            <a:srgbClr val="CC9900"/>
          </a:solidFill>
          <a:ln/>
        </p:spPr>
      </p:sp>
      <p:sp>
        <p:nvSpPr>
          <p:cNvPr id="31" name="Text 28"/>
          <p:cNvSpPr/>
          <p:nvPr/>
        </p:nvSpPr>
        <p:spPr>
          <a:xfrm>
            <a:off x="626364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766560" y="3209544"/>
            <a:ext cx="49834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con @WebMvcTest y @DataJpaTest.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263640" y="3986784"/>
            <a:ext cx="384048" cy="384048"/>
          </a:xfrm>
          <a:prstGeom prst="ellipse">
            <a:avLst/>
          </a:prstGeom>
          <a:solidFill>
            <a:srgbClr val="CC9900"/>
          </a:solidFill>
          <a:ln/>
        </p:spPr>
      </p:sp>
      <p:sp>
        <p:nvSpPr>
          <p:cNvPr id="34" name="Text 31"/>
          <p:cNvSpPr/>
          <p:nvPr/>
        </p:nvSpPr>
        <p:spPr>
          <a:xfrm>
            <a:off x="626364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766560" y="3922776"/>
            <a:ext cx="49834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separados: dev, test, prod.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263640" y="4700016"/>
            <a:ext cx="384048" cy="384048"/>
          </a:xfrm>
          <a:prstGeom prst="ellipse">
            <a:avLst/>
          </a:prstGeom>
          <a:solidFill>
            <a:srgbClr val="CC9900"/>
          </a:solidFill>
          <a:ln/>
        </p:spPr>
      </p:sp>
      <p:sp>
        <p:nvSpPr>
          <p:cNvPr id="37" name="Text 34"/>
          <p:cNvSpPr/>
          <p:nvPr/>
        </p:nvSpPr>
        <p:spPr>
          <a:xfrm>
            <a:off x="6263640" y="4700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766560" y="4636008"/>
            <a:ext cx="49834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externa en application-{profile}.yml.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6263640" y="5413248"/>
            <a:ext cx="384048" cy="384048"/>
          </a:xfrm>
          <a:prstGeom prst="ellipse">
            <a:avLst/>
          </a:prstGeom>
          <a:solidFill>
            <a:srgbClr val="CC9900"/>
          </a:solidFill>
          <a:ln/>
        </p:spPr>
      </p:sp>
      <p:sp>
        <p:nvSpPr>
          <p:cNvPr id="40" name="Text 37"/>
          <p:cNvSpPr/>
          <p:nvPr/>
        </p:nvSpPr>
        <p:spPr>
          <a:xfrm>
            <a:off x="6263640" y="5413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6766560" y="5349240"/>
            <a:ext cx="49834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con Spring Boot Actuator.</a:t>
            </a:r>
            <a:endParaRPr lang="en-US" sz="1250" dirty="0"/>
          </a:p>
        </p:txBody>
      </p:sp>
      <p:sp>
        <p:nvSpPr>
          <p:cNvPr id="43" name="Text 3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 ·  Semana 6  ·  Unidad II  ·  UTEQ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6633"/>
          </a:solidFill>
          <a:ln/>
        </p:spPr>
      </p:sp>
      <p:pic>
        <p:nvPicPr>
          <p:cNvPr id="3" name="Image 0" descr="icons/boo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2120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88720" y="6217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Glosario de siglas y nemónicos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Siglas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08483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JVM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103120" y="208483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Virtual Machine — ejecuta el bytecode Java.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24460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JDK / JRE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103120" y="24460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desarrollo / entorno de ejecución de Java.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0080" y="280720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Jakarta EE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103120" y="28072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empresarial (antes J2EE / Java EE).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0080" y="316839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JSP / JSF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103120" y="316839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JavaServer Pages / JavaServer Faces.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0080" y="352958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103120" y="352958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Persistence API — estándar de ORM.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0080" y="389077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ORM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103120" y="38907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Object-Relational Mapping — objeto ↔ tabla.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0080" y="42519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CRUD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103120" y="42519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Update, Delete.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40080" y="461314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MVC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2103120" y="46131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Model-View-Controller.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0080" y="497433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 / IoC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2103120" y="497433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de dependencias / inversión de control.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0080" y="533552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2103120" y="533552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 Object.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0080" y="569671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LTS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2103120" y="569671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Support (Java 8, 11, 17, 21, 25).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40080" y="60579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2103120" y="60579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 ligera en memoria.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30936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Anotaciones y símbolos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6309360" y="2084832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F4F6F4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09360" y="20848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C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@WebServlet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8001000" y="210312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 un Servlet a una URL (Jakarta).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309360" y="2596896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F4F6F4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09360" y="25968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C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@Controller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001000" y="261518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MVC que devuelve vistas.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309360" y="310896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F4F6F4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309360" y="3108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C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8001000" y="31272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 un método a un GET (y @PostMapping…).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6309360" y="3621024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F4F6F4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309360" y="36210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C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 / @Id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8001000" y="363931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persistente / clave primaria (JPA).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6309360" y="4133088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F4F6F4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309360" y="41330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C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@Valid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8001000" y="415137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 la validación de la entrada.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309360" y="4645152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F4F6F4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309360" y="46451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C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"""..."""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8001000" y="466344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de texto multilínea (Java 17+).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6309360" y="521208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E8F0EA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92240" y="53035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Nemónicos clave
</a:t>
            </a:r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38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«write once, run anywhere»  ·  «convención sobre configuración»  ·  «controller → service → repository»  ·  «CRUD = POST/GET/PUT/DELETE»  ·  PRG tras cada POST</a:t>
            </a:r>
            <a:endParaRPr lang="en-US" sz="1200" dirty="0"/>
          </a:p>
        </p:txBody>
      </p:sp>
      <p:sp>
        <p:nvSpPr>
          <p:cNvPr id="53" name="Text 4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 ·  Semana 6  ·  Unidad II  ·  UTEQ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C9900"/>
          </a:solidFill>
          <a:ln/>
        </p:spPr>
      </p:sp>
      <p:pic>
        <p:nvPicPr>
          <p:cNvPr id="3" name="Image 0" descr="icons/leaf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32588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37744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Síntesis de la Semana 6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30632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 Java · Servlets/JSP · Spring Boot 3 · Thymeleaf · Spring Data JPA + H2 · CRUD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39776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semana (7):  </a:t>
            </a:r>
            <a:pPr algn="ctr" indent="0" marL="0">
              <a:buNone/>
            </a:pPr>
            <a:r>
              <a:rPr lang="en-US" sz="150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— el ecosistema de Microsoft para el lado servidor.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74920" y="4754880"/>
            <a:ext cx="2011680" cy="310896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5074920" y="47548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II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Técnica Estatal de Quevedo · Ing. en Software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 ·  Semana 6  ·  Unidad II  ·  UTEQ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6 - Java para la web: Servlets, JSP y Spring Boot</dc:title>
  <dc:subject>PptxGenJS Presentation</dc:subject>
  <dc:creator>Gleiston Guerrero - UTEQ</dc:creator>
  <cp:lastModifiedBy>Gleiston Guerrero - UTEQ</cp:lastModifiedBy>
  <cp:revision>1</cp:revision>
  <dcterms:created xsi:type="dcterms:W3CDTF">2026-06-01T15:23:12Z</dcterms:created>
  <dcterms:modified xsi:type="dcterms:W3CDTF">2026-06-01T15:23:12Z</dcterms:modified>
</cp:coreProperties>
</file>