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2"/>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8" d="100"/>
          <a:sy n="118" d="100"/>
        </p:scale>
        <p:origin x="67"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3145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portada. Esta clase es la continuacion directa de la Semana 6: alli construimos la API REST appweb-api con las entidades Carrera, Estudiante, Perfil, Curso e Inscripcion y sus controladores con los cinco verbos HTTP. Hasta ahora cualquier cliente podia consumir cualquier endpoint. Hoy le anadimos una capa de seguridad profesional: inicio de sesion, emision de un token firmado (JWT) y autorizacion por rol en cada peticion. La pila esta verificada a junio de 2026: Spring Boot 4.1 arrastra Spring Security 7.1, que elimina APIs antiguas; usaremos JJWT 0.13 para los tokens y BCrypt para las contrasenas. Objetivo de la sesion: que el estudiante entienda el porque de cada pieza, no solo el como. Al final, la misma API quedara lista para que una SPA en Angular la consuma con token.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hoja de ruta de la sesion, diez pasos. Conviene leerla como un arco: primero los conceptos (1 y 2), luego la construccion incremental sobre el proyecto (3 a 8), despues el escenario de despliegue real con clientes en otro servidor (9) y finalmente las buenas practicas (10). Cada paso plantea primero el problema que resuelve y luego la tecnica. Insistir en que la seguridad no se 'pega' al final: se construye capa por capa, y cada pieza tiene una responsabilidad unica. Si el tiempo aprieta, los pasos imprescindibles para tener seguridad funcional son del 3 al 8; CORS (9) solo importa cuando el cliente es un navegador en otro origen, y lo veremos en detalle porque es donde mas se equivocan los equipos.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Separar estos dos conceptos evita la mitad de los errores de seguridad. Autenticacion responde a 'quien eres': se comprueban las credenciales. Autorizacion responde a 'que puedes hacer': ya identificado, se decide si tiene permiso. En una API con JWT, la autenticacion ocurre una sola vez (en el login, que emite el token) y la autorizacion ocurre en cada peticion (validando el token y mirando el rol). Recalcar la diferencia entre los codigos 401 y 403, que los estudiantes suelen confundir: 401 es 'no se quien eres' (falta el token o es invalido); 403 es 'se quien eres, pero no tienes permiso' (token valido, rol insuficiente). Confundirlos despista al cliente que consume la API.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esta el porque de JWT. Una API REST es sin estado: por diseno, el servidor no guarda una sesion en memoria entre peticiones. Eso choca con el login tradicional basado en cookie de sesion, que si guarda estado del lado del servidor y obliga a que todas las peticiones del mismo usuario caigan en el mismo servidor. La solucion estandar es el token: el usuario se autentica una sola vez y recibe una credencial autocontenida que lleva dentro su identidad y sus roles; en cada peticion la adjunta y el servidor solo verifica la firma, sin consultar ninguna sesion. Esto permite escalar en horizontal (cualquier instancia valida el token) y encaja perfecto con una SPA en Angular o varios clientes. JWT es el formato mas extendido de ese token.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JWT son tres partes separadas por puntos: cabecera, cuerpo y firma. La cabecera declara el algoritmo de firma (aqui HS256). El cuerpo contiene las afirmaciones o claims: el subject (nuestro nombre de usuario), los roles y la expiracion. La firma se calcula con una clave secreta que solo conoce el servidor. Punto critico que hay que martillar: cabecera y cuerpo van codificados en Base64URL, NO cifrados; cualquiera puede decodificarlos y leerlos. Por eso jamas se ponen datos sensibles (ni contrasenas) en el cuerpo. Lo que protege al token es la firma: si alguien altera un solo byte del cuerpo, la firma deja de coincidir y el servidor rechaza el token. Es decir, JWT da integridad y autenticidad, no confidencialidad; la confidencialidad la aporta HTTPS. La cadena de abajo es un token real abreviado, coloreada por partes.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flujo completo, conviene dibujarlo como un dialogo entre el cliente y la API. Paso 1: el cliente envia usuario y clave al endpoint de login. Paso 2: si son correctos, la API responde con el token firmado; el cliente lo guarda. Paso 3: en cada peticion protegida, el cliente adjunta la cabecera Authorization con el esquema Bearer seguido del token. Paso 4: del lado del servidor, nuestro JwtAuthFilter intercepta la peticion, valida la firma y la expiracion del token, y coloca la identidad en el contexto de seguridad. Paso 5: si todo esta bien, la API atiende la peticion segun el rol del usuario. La idea clave: la contrasena solo viaja una vez (en el login); despues solo viaja el token. Y el servidor nunca guarda sesion: cada peticion se valida de forma independiente.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versiones exactas, verificadas a junio de 2026. Es el punto que mas conviene fijar porque la seguridad de Spring cambia mucho entre versiones. Spring Boot 4.1 arrastra Spring Framework 7, Jakarta EE 11 (paquetes jakarta.*) y, lo mas importante para hoy, Spring Security 7.1. Esta generacion elimino metodos que llevaban anos en desuso: authorizeRequests(), el and() para encadenar y los antMatchers/mvcMatchers. Por eso advertir a los estudiantes: si copian codigo de un tutorial de Spring Security 5 o 6 con .and(), no compilara; hoy todo es DSL de lambdas. Para los tokens usamos JJWT 0.13, que tiene una API moderna distinta de versiones anteriores. Y BCrypt viene incluido en Spring Security, no requiere libreria extra.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paso practico: dependencias. Anadimos al pom.xml de la Semana 6 el starter de seguridad de Spring Boot y las tres dependencias de JJWT: jjwt-api (la que usamos en el codigo) y, en scope runtime, jjwt-impl y jjwt-jackson. En application.properties definimos dos propiedades: el secreto de firma y la expiracion. Dos advertencias importantes para los estudiantes. Primera: en cuanto anaden el starter de seguridad, Spring bloquea TODOS los endpoints por defecto y aparece una pantalla de login; eso es normal, lo controlaremos en el Paso 7. Segunda: para el algoritmo HS256 la clave debe medir al menos 32 bytes; usar una cadena larga y aleatoria y, en produccion, leerla de una variable de entorno, nunca dejarla en el repositorio. Nota tecnica: jjwt-jackson usa Jackson 2 internamente y convive sin conflicto con el Jackson 3 de Spring Boot 4 porque tienen paquetes raiz distintos.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Respondiendo a una duda frecuente: toda la configuracion del proyecto vive en un unico archivo, src/main/resources/application.properties. No hay un archivo aparte para la base de datos ni otro para la seguridad: aqui estan la conexion a PostgreSQL, el comportamiento de JPA/Hibernate, Swagger y las claves del JWT. Como alternativa equivalente puede usarse application.yml, con las mismas claves en formato YAML; en el curso usamos .properties. Recorrer los bloques: la conexion apunta a la base appweb2026ppa con usuario postgres; el bloque JPA tiene la clave estrella, ddl-auto=update, que hace que Hibernate cree y actualice las tablas a partir de tus clases @Entity sin que escribas SQL; show-sql y format_sql muestran el SQL generado en la consola para inspeccion; y al final las dos claves del JWT que anadimos hoy. Insistir: el secreto debe ser largo y, en produccion, venir de una variable de entorno, no del repositorio.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Security necesita saber que usuarios existen, su contrasena cifrada y sus permisos. Modelamos eso con una entidad Usuario en el paquete model y un enumerado Rol. La contrasena se guarda cifrada con BCrypt, jamas en texto plano: esto es no negociable. Los roles se modelan como una coleccion de valores del enumerado; con @ElementCollection y @CollectionTable, Hibernate los guarda en una tabla secundaria usuario_rol. Usamos fetch EAGER porque al autenticar necesitamos los roles de inmediato. Mantenemos el mismo estilo de la Semana 6: anotaciones JPA y Lombok para los accesores. Tres roles de ejemplo para el dominio academico: ADMIN, DOCENTE y ESTUDIANTE. Mas adelante esos roles se traduciran a autoridades de Spring con el prefijo ROLE_.</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repositorio es un JpaRepository, igual que en la Semana 6, con dos consultas derivadas que Spring Data implementa por nosotros solo a partir del nombre del metodo: findByUsername, que usara el UserDetailsService en el login, y existsByUsername, que usara el registro para no duplicar usuarios. Devolvemos Optional para manejar limpiamente el caso de usuario inexistente. El punto que cambia respecto a versiones anteriores de la clase: no escribimos sentencias CREATE TABLE. En el enfoque code-first de JPA, las clases @Entity son la unica fuente de verdad del esquema; al arrancar, Hibernate las inspecciona y, segun ddl-auto=update, crea o actualiza las tablas en PostgreSQL automaticamente. La entidad Usuario produce la tabla usuario; su coleccion de roles con @ElementCollection produce la tabla secundaria usuario_rol. Si manana anades un campo a la clase, basta reiniciar y la columna aparece sola. Si alguna vez quieres ver el SQL exacto que genera, activa show-sql, pero nunca tienes que ejecutarlo a mano.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Security no sabe leer nuestra tabla usuario; se lo ensenamos implementando el contrato UserDetailsService, que tiene un solo metodo: loadUserByUsername. Spring lo invoca durante la autenticacion. Nuestra implementacion hace tres cosas: busca el Usuario en el repositorio (y lanza UsernameNotFoundException si no existe), traduce cada Rol del enumerado a una autoridad de Spring con el prefijo ROLE_, y devuelve un objeto UserDetails estandar con username, contrasena (el hash ya almacenado) y autoridades. El detalle del prefijo ROLE_ es importante: hasRole('ADMIN') comprueba internamente la autoridad ROLE_ADMIN, por eso lo anteponemos. Si usaramos hasAuthority en vez de hasRole, escribiriamos la autoridad completa sin que Spring anada el prefijo. Este servicio es el puente entre el modelo de dominio y el motor de seguridad.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Necesitamos dos beans. El PasswordEncoder, para el que usamos BCryptPasswordEncoder, cifra las contrasenas al registrar y las compara al iniciar sesion; BCrypt incorpora sal y un coste configurable, por eso nunca se usa MD5 o SHA simple. El AuthenticationManager es quien realmente autentica: en Spring Security 7 lo construimos a partir de un DaoAuthenticationProvider, al que le pasamos nuestro UserDetailsService por constructor y el codificador por setter, y lo envolvemos en un ProviderManager. Este es el patron oficial de la documentacion de Spring Security 7. Advertencia clave que evita el error mas comun: el constructor sin argumentos con setUserDetailsService quedo en desuso; mezclar el estilo antiguo con el nuevo produce el error 'constructor cannot be applied'. Hay que usar el constructor que recibe el UserDetailsService.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Aislamos todo el manejo de JWT en un JwtService, para que ninguna otra clase dependa de la libreria. Lee el secreto y la expiracion de application.properties con @Value. El metodo clave() construye la SecretKey a partir del secreto con Keys.hmacShaKeyFor. El metodo generarToken usa la API moderna de JJWT 0.13: Jwts.builder(), pone el username como subject, los roles como un claim personalizado, la fecha de emision y la de expiracion, firma con la clave y compacta a la cadena final. Detalle util: con signWith(clave()) no indicamos el algoritmo a mano; JJWT lo deduce del tamano de la clave HMAC: 32 bytes producen HS256, una clave mayor produce HS384 o HS512. Por eso basta con que el secreto cumpla el tamano minimo. Este metodo se llamara justo despues de un login exitoso.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otra mitad del JwtService es leer y validar. extraerUsername devuelve el subject del token. esValido comprueba dos cosas mas alla de la firma: que el subject coincida con el usuario cargado y que el token no haya expirado. El metodo privado parsear concentra la verificacion con la API de JJWT 0.13: Jwts.parser().verifyWith(clave()).build().parseSignedClaims(token).getPayload(). El paso verifyWith es el que comprueba la firma con nuestra clave secreta; si la firma no coincide o el token esta corrupto, lanza una excepcion que atraparemos en el filtro. Resumir las tres comprobaciones del panel derecho: firma intacta, subject correcto y expiracion vigente. Solo si las tres se cumplen el token se considera valido.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peticion protegida llega con su token en la cabecera, pero hasta ahora Spring no lo mira. El JwtAuthFilter lo intercepta. Extendemos OncePerRequestFilter, que garantiza una sola ejecucion por peticion. La logica: leer la cabecera Authorization; si no trae 'Bearer ', dejar pasar la peticion sin autenticar y terminar. Si la trae, extraer el token (quitando los 7 caracteres de 'Bearer '), obtener el username, cargar el usuario y, si el token es valido, colocar la autenticacion en el SecurityContextHolder. A partir de ese momento Spring considera autenticada la peticion y aplica las reglas de autorizacion. Punto clave: si el token falta o es invalido, el filtro NO rechaza la peticion el mismo; simplemente la deja pasar sin autenticar, y sera la cadena de seguridad quien responda 401 o 403 segun corresponda. He resumido el codigo en la diapositiva; la version completa, con el manejo de la excepcion JwtException y el WebAuthenticationDetailsSource, esta en la guia.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ubica el filtro en el panorama. Spring Security funciona como una cadena de filtros que corre ANTES de que la peticion llegue al controlador. El orden es: llega la peticion HTTP con su cabecera Bearer; nuestro JwtAuthFilter la intercepta, valida el token y, si es valido, puebla el contexto de seguridad; luego corren los filtros de autorizacion de Spring, que comprueban las reglas por ruta y por rol; y solo si todo pasa, la peticion llega al controlador. El detalle tecnico de registro: usamos addFilterBefore para colocar nuestro filtro antes del UsernamePasswordAuthenticationFilter, de modo que el token se procese a tiempo. Si lo registraramos despues, la cadena ya habria decidido rechazar la peticion. Esta vista mental de 'pipeline' ayuda a depurar: cuando algo falla con 401 o 403, casi siempre es porque el contexto no quedo poblado en el filtro.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se une todo. La clase SecurityConfig expone el SecurityFilterChain, que define la politica. Recorrer las decisiones: csrf.disable() es correcto porque la API es sin estado y se autentica con token en cabecera, no con cookies; en una app con sesion seria un error desactivarlo. authorizeHttpRequests con el DSL de lambdas de Spring Security 7: dejamos publicos los endpoints de autenticacion y los de Swagger, exigimos rol ADMIN para los DELETE, y todo lo demas requiere estar autenticado. sessionManagement en STATELESS: le decimos a Spring que no cree ni use sesiones, coherente con JWT. addFilterBefore registra nuestro filtro en la posicion correcta. Y arriba, @EnableMethodSecurity habilita las anotaciones @PreAuthorize que veremos en el Paso 9. Recalcar que el orden de las reglas importa: van de la mas especifica a la mas general, terminando en anyRequest().authenticated().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AuthController expone los puntos de entrada. /registro cifra la contrasena con el encoder y guarda el usuario; lo he resumido en el comentario para enfocarnos en el login. El metodo login es el corazon: construye un token de autenticacion NO autenticado con UsernamePasswordAuthenticationToken.unauthenticated, como indica la documentacion oficial de Spring Security 7, y se lo entrega al AuthenticationManager. Este, por dentro, usa nuestro DaoAuthenticationProvider, que carga al usuario con el UserDetailsService y compara la contrasena con BCrypt. Si las credenciales son validas, devuelve la autenticacion y, de su principal, generamos el JWT con el JwtService. La respuesta es un record AuthResponse con el token, el tipo Bearer y la expiracion. Si las credenciales son invalidas, authenticate lanza una excepcion y Spring responde 401 automaticamente. Los datos de entrada y salida viajan en records, igual que los DTO de la Semana 6.</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reglas por ruta de SecurityConfig cubren lo general, pero a veces queremos proteger un metodo concreto de un controlador ya existente sin tocar la configuracion global. Para eso sirve @PreAuthorize, habilitado por @EnableMethodSecurity que pusimos en el Paso 7. El ejemplo restringe el borrado de un estudiante al rol ADMIN, directamente sobre el EstudianteController de la Semana 6. La idea pedagogica importante: las dos capas no se excluyen, se complementan. La autorizacion por ruta filtra pronto, antes de entrar al controlador; la autorizacion por metodo protege puntos concretos con reglas finas. Usar ambas es defensa en profundidad. Y las expresiones pueden ir mas alla de hasRole: por ejemplo permitir que un usuario solo acceda a sus propios datos comparando el id con el nombre del autenticado. Recordar el requisito de @EnableMethodSecurity, sin el las anotaciones se ignoran en silencio.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todo en su sitio, probamos el ciclo completo sin necesidad de un frontend, usando cURL. Primero el login: enviamos usuario y clave en JSON y, si son correctos, recibimos el token en la respuesta. Copiamos ese token y, en la segunda llamada, lo enviamos en la cabecera Authorization con el esquema Bearer para acceder a un endpoint protegido. La tabla de la derecha resume el comportamiento esperado, que conviene que los estudiantes verifiquen uno por uno: credenciales correctas dan 200 y token; credenciales incorrectas dan 401; una ruta protegida sin token da 401; un token valido pero con rol insuficiente da 403; y un token expirado o alterado da 401. Sugerencia didactica: pedirles que prueben tambien manipular un caracter del token para ver que la firma deja de validar y obtienen 401. Y recordar: si funciona en cURL pero falla en el navegador, no es la API, es CORS, que vemos a continuacion.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Semana 6 dejo Swagger UI funcionando, pero ahora los endpoints exigen token. Con springdoc-openapi declaramos un esquema de seguridad de tipo HTTP bearer mediante anotaciones: @SecurityScheme define el esquema 'bearerAuth' como HTTP, scheme bearer, formato JWT; y @OpenAPIDefinition lo aplica globalmente. El efecto visible es que aparece el boton Authorize en Swagger UI, donde el usuario pega su token y, a partir de ahi, prueba los endpoints protegidos directamente desde el navegador sin escribir cURL. Recordar que en el Paso 7 ya dejamos publicas las rutas de Swagger (/swagger-ui/** y /v3/api-docs/**); si no lo hicieramos, la propia documentacion quedaria bloqueada. Es un detalle pequeno pero que ahorra mucha frustracion al probar.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pregunta del estudiante que motivo anadir esta seccion, y la respuesta tiene matiz. CORS es una politica que aplica el NAVEGADOR; solo interviene cuando el codigo que hace la peticion se ejecuta dentro de un navegador. Por eso Angular y Thymeleaf no se comportan igual. Angular es una SPA que corre en el navegador: el navegador descarga la aplicacion desde app.uteq.edu.ec y desde ahi llama a la API en api.uteq.edu.ec; eso es cross-origin y CORS aplica. Thymeleaf renderizado en el servidor es distinto: el navegador solo habla con el servidor Thymeleaf (mismo origen para el), y es ese servidor quien llama a la API de backend a backend con RestClient; esa llamada no pasa por el navegador, asi que NO esta sujeta a CORS. Caso mixto: si una pagina Thymeleaf incluye JavaScript que llama directamente a la API en otro origen, ahi si vuelve a aplicar CORS. Y ojo: Postman y cURL nunca disparan CORS, por eso a veces funcionan cuando el navegador falla.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regla de oro: habilitar CORS DENTRO de Spring Security, no solo en Spring MVC. La cadena de filtros corre antes que el controlador; si el preflight OPTIONS se rechaza en esa capa, el navegador nunca recibe las cabeceras y la llamada falla aunque el controlador sea correcto. Son dos cambios sobre el Paso 7: anadir la linea .cors(Customizer.withDefaults()) a la cadena, y declarar el bean corsConfigurationSource con los origenes permitidos. En el bean listamos los origenes concretos de la SPA (produccion y localhost:4200 para desarrollo), los metodos, las cabeceras (Authorization es imprescindible), y allowCredentials en false porque usamos token en cabecera, no cookies. Dos trampas que cuestan horas: primera, el bean DEBE llamarse exactamente corsConfigurationSource para que withDefaults lo detecte; si lo nombras distinto, falla en silencio y debes pasarlo explicito. Segunda, nunca combines comodin de origen '*' con allowCredentials true: el navegador lo rechaza y ademas abre la API a cualquiera.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CORS con los dos lados del cliente. En Angular, lo natural es un interceptor HTTP que anade la cabecera Authorization Bearer a cada peticion de forma automatica, para no repetirla en cada servicio; el token se obtuvo del login y se guarda en el cliente. Una advertencia de seguridad: guardar el token en localStorage es lo mas comun y sencillo, pero es legible por cualquier script, asi que un ataque XSS podria robarlo; para mayor seguridad puede usarse una cookie HttpOnly, aunque eso reintroduce CSRF y allowCredentials. Es una decision de diseno entre simplicidad y exposicion. En Thymeleaf de servidor a servidor no hay CORS: el reto es otro, custodiar el token. El servidor Thymeleaf obtiene el JWT tras el login del usuario, lo guarda por ejemplo en la sesion de ese usuario en el servidor, y lo adjunta en cada llamada con RestClient, el cliente HTTP sincrono de Spring 6.1+. Resumen de decision: cliente en navegador y otro origen, configura CORS; cliente que llama de backend a backend, solo envia el token y protege con HTTPS.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tecnico con las buenas practicas que separan una seguridad real de una falsa sensacion de proteccion. El secreto siempre fuera del codigo, en variable de entorno, y de al menos 32 bytes para HS256. Siempre HTTPS, porque el token viaja en cada peticion y sobre HTTP plano cualquiera lo intercepta. Expiracion corta, una hora como punto de partida; para sesiones largas lo correcto es anadir un refresh token, no alargar el de acceso. Nada sensible en el cuerpo del token, que es legible: solo el identificador del usuario y sus roles. Contrasenas siempre con BCrypt, que incorpora sal y coste; jamas MD5 o SHA simple. Y el error de configuracion mas comun: el filtro debe llevar @Component para que Spring lo descubra y registrarse con addFilterBefore en la posicion correcta. Si el filtro no se ejecuta, revisar esas dos cosas primero.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cierre. Recapitular el arco completo: empezamos con una API donde cualquiera podia entrar y terminamos con una API protegida de extremo a extremo. Anadimos autenticacion con JWT firmado, contrasenas cifradas con BCrypt, un filtro sin estado que valida cada peticion, control de acceso por rol tanto por ruta como por metodo, y CORS para permitir clientes legitimos en otro servidor. El siguiente paso natural del curso es el frontend: una SPA en Angular que se autentique contra /api/auth/login, guarde el token y lo envie en cada peticion mediante el interceptor que vimos. Cerrar invitando a preguntas y recordando que la guia escrita contiene el codigo completo de cada paso, incluidos los detalles que aqui resumimos.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3.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3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532A"/>
          </a:solidFill>
          <a:ln/>
        </p:spPr>
        <p:txBody>
          <a:bodyPr/>
          <a:lstStyle/>
          <a:p>
            <a:endParaRPr lang="es-ES"/>
          </a:p>
        </p:txBody>
      </p:sp>
      <p:sp>
        <p:nvSpPr>
          <p:cNvPr id="3" name="Shape 1"/>
          <p:cNvSpPr/>
          <p:nvPr/>
        </p:nvSpPr>
        <p:spPr>
          <a:xfrm>
            <a:off x="6949440" y="-1371600"/>
            <a:ext cx="3840480" cy="3840480"/>
          </a:xfrm>
          <a:prstGeom prst="ellipse">
            <a:avLst/>
          </a:prstGeom>
          <a:solidFill>
            <a:srgbClr val="003D1F"/>
          </a:solidFill>
          <a:ln/>
        </p:spPr>
        <p:txBody>
          <a:bodyPr/>
          <a:lstStyle/>
          <a:p>
            <a:endParaRPr lang="es-ES"/>
          </a:p>
        </p:txBody>
      </p:sp>
      <p:sp>
        <p:nvSpPr>
          <p:cNvPr id="4" name="Shape 2"/>
          <p:cNvSpPr/>
          <p:nvPr/>
        </p:nvSpPr>
        <p:spPr>
          <a:xfrm>
            <a:off x="7955280" y="3108960"/>
            <a:ext cx="2377440" cy="2377440"/>
          </a:xfrm>
          <a:prstGeom prst="ellipse">
            <a:avLst/>
          </a:prstGeom>
          <a:solidFill>
            <a:srgbClr val="00622F"/>
          </a:solidFill>
          <a:ln/>
        </p:spPr>
        <p:txBody>
          <a:bodyPr/>
          <a:lstStyle/>
          <a:p>
            <a:endParaRPr lang="es-ES"/>
          </a:p>
        </p:txBody>
      </p:sp>
      <p:sp>
        <p:nvSpPr>
          <p:cNvPr id="5" name="Shape 3"/>
          <p:cNvSpPr/>
          <p:nvPr/>
        </p:nvSpPr>
        <p:spPr>
          <a:xfrm>
            <a:off x="548640" y="640080"/>
            <a:ext cx="731520" cy="731520"/>
          </a:xfrm>
          <a:prstGeom prst="ellipse">
            <a:avLst/>
          </a:prstGeom>
          <a:solidFill>
            <a:srgbClr val="CC9900"/>
          </a:solidFill>
          <a:ln/>
          <a:effectLst>
            <a:outerShdw blurRad="88900" dist="38100" dir="5400000" algn="bl" rotWithShape="0">
              <a:srgbClr val="000000">
                <a:alpha val="16000"/>
              </a:srgbClr>
            </a:outerShdw>
          </a:effectLst>
        </p:spPr>
        <p:txBody>
          <a:bodyPr/>
          <a:lstStyle/>
          <a:p>
            <a:endParaRPr lang="es-ES"/>
          </a:p>
        </p:txBody>
      </p:sp>
      <p:pic>
        <p:nvPicPr>
          <p:cNvPr id="6" name="Image 0" descr="preencoded.png"/>
          <p:cNvPicPr>
            <a:picLocks noChangeAspect="1"/>
          </p:cNvPicPr>
          <p:nvPr/>
        </p:nvPicPr>
        <p:blipFill>
          <a:blip r:embed="rId3"/>
          <a:stretch>
            <a:fillRect/>
          </a:stretch>
        </p:blipFill>
        <p:spPr>
          <a:xfrm>
            <a:off x="738835" y="830275"/>
            <a:ext cx="351130" cy="351130"/>
          </a:xfrm>
          <a:prstGeom prst="rect">
            <a:avLst/>
          </a:prstGeom>
        </p:spPr>
      </p:pic>
      <p:sp>
        <p:nvSpPr>
          <p:cNvPr id="7" name="Text 4"/>
          <p:cNvSpPr/>
          <p:nvPr/>
        </p:nvSpPr>
        <p:spPr>
          <a:xfrm>
            <a:off x="1463040" y="713232"/>
            <a:ext cx="6400800" cy="365760"/>
          </a:xfrm>
          <a:prstGeom prst="rect">
            <a:avLst/>
          </a:prstGeom>
          <a:noFill/>
          <a:ln/>
        </p:spPr>
        <p:txBody>
          <a:bodyPr wrap="square" lIns="0" tIns="0" rIns="0" bIns="0" rtlCol="0" anchor="ctr"/>
          <a:lstStyle/>
          <a:p>
            <a:pPr marL="0" indent="0">
              <a:buNone/>
            </a:pPr>
            <a:r>
              <a:rPr lang="en-US" sz="1300" b="1" kern="0" spc="400" dirty="0">
                <a:solidFill>
                  <a:srgbClr val="E8B923"/>
                </a:solidFill>
                <a:latin typeface="Calibri" pitchFamily="34" charset="0"/>
                <a:ea typeface="Calibri" pitchFamily="34" charset="-122"/>
                <a:cs typeface="Calibri" pitchFamily="34" charset="-120"/>
              </a:rPr>
              <a:t>UNIDAD II  ·  SEGURIDAD</a:t>
            </a:r>
            <a:endParaRPr lang="en-US" sz="1300" dirty="0"/>
          </a:p>
        </p:txBody>
      </p:sp>
      <p:sp>
        <p:nvSpPr>
          <p:cNvPr id="8" name="Text 5"/>
          <p:cNvSpPr/>
          <p:nvPr/>
        </p:nvSpPr>
        <p:spPr>
          <a:xfrm>
            <a:off x="548640" y="1463040"/>
            <a:ext cx="8046720" cy="1554480"/>
          </a:xfrm>
          <a:prstGeom prst="rect">
            <a:avLst/>
          </a:prstGeom>
          <a:noFill/>
          <a:ln/>
        </p:spPr>
        <p:txBody>
          <a:bodyPr wrap="square" lIns="0" tIns="0" rIns="0" bIns="0" rtlCol="0" anchor="ctr"/>
          <a:lstStyle/>
          <a:p>
            <a:pPr marL="0" indent="0">
              <a:lnSpc>
                <a:spcPct val="98000"/>
              </a:lnSpc>
              <a:buNone/>
            </a:pPr>
            <a:r>
              <a:rPr lang="en-US" sz="3800" b="1" dirty="0">
                <a:solidFill>
                  <a:srgbClr val="FFFFFF"/>
                </a:solidFill>
                <a:latin typeface="Cambria" pitchFamily="34" charset="0"/>
                <a:ea typeface="Cambria" pitchFamily="34" charset="-122"/>
                <a:cs typeface="Cambria" pitchFamily="34" charset="-120"/>
              </a:rPr>
              <a:t>Seguridad con</a:t>
            </a:r>
            <a:endParaRPr lang="en-US" sz="3800" dirty="0"/>
          </a:p>
          <a:p>
            <a:pPr marL="0" indent="0">
              <a:lnSpc>
                <a:spcPct val="98000"/>
              </a:lnSpc>
              <a:buNone/>
            </a:pPr>
            <a:r>
              <a:rPr lang="en-US" sz="3800" b="1" dirty="0">
                <a:solidFill>
                  <a:srgbClr val="FFFFFF"/>
                </a:solidFill>
                <a:latin typeface="Cambria" pitchFamily="34" charset="0"/>
                <a:ea typeface="Cambria" pitchFamily="34" charset="-122"/>
                <a:cs typeface="Cambria" pitchFamily="34" charset="-120"/>
              </a:rPr>
              <a:t>Spring Security y JWT</a:t>
            </a:r>
            <a:endParaRPr lang="en-US" sz="3800" dirty="0"/>
          </a:p>
        </p:txBody>
      </p:sp>
      <p:sp>
        <p:nvSpPr>
          <p:cNvPr id="9" name="Text 6"/>
          <p:cNvSpPr/>
          <p:nvPr/>
        </p:nvSpPr>
        <p:spPr>
          <a:xfrm>
            <a:off x="566928" y="3154680"/>
            <a:ext cx="7863840" cy="640080"/>
          </a:xfrm>
          <a:prstGeom prst="rect">
            <a:avLst/>
          </a:prstGeom>
          <a:noFill/>
          <a:ln/>
        </p:spPr>
        <p:txBody>
          <a:bodyPr wrap="square" lIns="0" tIns="0" rIns="0" bIns="0" rtlCol="0" anchor="ctr"/>
          <a:lstStyle/>
          <a:p>
            <a:pPr marL="0" indent="0">
              <a:buNone/>
            </a:pPr>
            <a:r>
              <a:rPr lang="en-US" sz="1500" dirty="0">
                <a:solidFill>
                  <a:srgbClr val="CFE3D6"/>
                </a:solidFill>
                <a:latin typeface="Calibri" pitchFamily="34" charset="0"/>
                <a:ea typeface="Calibri" pitchFamily="34" charset="-122"/>
                <a:cs typeface="Calibri" pitchFamily="34" charset="-120"/>
              </a:rPr>
              <a:t>Continuacion del proyecto appweb-api: de un CRUD abierto a una API REST protegida con autenticacion, roles y control de acceso.</a:t>
            </a:r>
            <a:endParaRPr lang="en-US" sz="1500" dirty="0"/>
          </a:p>
        </p:txBody>
      </p:sp>
      <p:sp>
        <p:nvSpPr>
          <p:cNvPr id="10" name="Text 7"/>
          <p:cNvSpPr/>
          <p:nvPr/>
        </p:nvSpPr>
        <p:spPr>
          <a:xfrm>
            <a:off x="566928" y="3886200"/>
            <a:ext cx="8046720" cy="274320"/>
          </a:xfrm>
          <a:prstGeom prst="rect">
            <a:avLst/>
          </a:prstGeom>
          <a:noFill/>
          <a:ln/>
        </p:spPr>
        <p:txBody>
          <a:bodyPr wrap="square" lIns="0" tIns="0" rIns="0" bIns="0" rtlCol="0" anchor="ctr"/>
          <a:lstStyle/>
          <a:p>
            <a:pPr marL="0" indent="0">
              <a:buNone/>
            </a:pPr>
            <a:r>
              <a:rPr lang="en-US" sz="1150" dirty="0">
                <a:solidFill>
                  <a:srgbClr val="E8B923"/>
                </a:solidFill>
                <a:latin typeface="Courier New" pitchFamily="34" charset="0"/>
                <a:ea typeface="Courier New" pitchFamily="34" charset="-122"/>
                <a:cs typeface="Courier New" pitchFamily="34" charset="-120"/>
              </a:rPr>
              <a:t>Spring Boot 4.1  ·  Spring Security 7.1  ·  JJWT 0.13  ·  BCrypt  ·  PostgreSQL 18</a:t>
            </a:r>
            <a:endParaRPr lang="en-US" sz="1150" dirty="0"/>
          </a:p>
        </p:txBody>
      </p:sp>
      <p:sp>
        <p:nvSpPr>
          <p:cNvPr id="11" name="Text 8"/>
          <p:cNvSpPr/>
          <p:nvPr/>
        </p:nvSpPr>
        <p:spPr>
          <a:xfrm>
            <a:off x="566928" y="4526280"/>
            <a:ext cx="7863840" cy="274320"/>
          </a:xfrm>
          <a:prstGeom prst="rect">
            <a:avLst/>
          </a:prstGeom>
          <a:noFill/>
          <a:ln/>
        </p:spPr>
        <p:txBody>
          <a:bodyPr wrap="square" lIns="0" tIns="0" rIns="0" bIns="0" rtlCol="0" anchor="ctr"/>
          <a:lstStyle/>
          <a:p>
            <a:pPr marL="0" indent="0">
              <a:buNone/>
            </a:pPr>
            <a:r>
              <a:rPr lang="en-US" sz="1100" dirty="0">
                <a:solidFill>
                  <a:srgbClr val="9DBBA8"/>
                </a:solidFill>
                <a:latin typeface="Calibri" pitchFamily="34" charset="0"/>
                <a:ea typeface="Calibri" pitchFamily="34" charset="-122"/>
                <a:cs typeface="Calibri" pitchFamily="34" charset="-120"/>
              </a:rPr>
              <a:t>UTEQ · Ingenieria de Software · Dr. Gleiston Guerrero Ulloa, Ph.D.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OBJETIVOS DE LA SESION</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La ruta: de una API abierta a una protegida</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a:t>
            </a:r>
            <a:endParaRPr lang="en-US" sz="900" dirty="0"/>
          </a:p>
        </p:txBody>
      </p:sp>
      <p:sp>
        <p:nvSpPr>
          <p:cNvPr id="6" name="Shape 4"/>
          <p:cNvSpPr/>
          <p:nvPr/>
        </p:nvSpPr>
        <p:spPr>
          <a:xfrm>
            <a:off x="457200" y="1225296"/>
            <a:ext cx="4069080" cy="603504"/>
          </a:xfrm>
          <a:prstGeom prst="roundRect">
            <a:avLst>
              <a:gd name="adj" fmla="val 121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7" name="Shape 5"/>
          <p:cNvSpPr/>
          <p:nvPr/>
        </p:nvSpPr>
        <p:spPr>
          <a:xfrm>
            <a:off x="585216" y="1325880"/>
            <a:ext cx="402336" cy="402336"/>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8" name="Image 0" descr="preencoded.png"/>
          <p:cNvPicPr>
            <a:picLocks noChangeAspect="1"/>
          </p:cNvPicPr>
          <p:nvPr/>
        </p:nvPicPr>
        <p:blipFill>
          <a:blip r:embed="rId3"/>
          <a:stretch>
            <a:fillRect/>
          </a:stretch>
        </p:blipFill>
        <p:spPr>
          <a:xfrm>
            <a:off x="689823" y="1430487"/>
            <a:ext cx="193121" cy="193121"/>
          </a:xfrm>
          <a:prstGeom prst="rect">
            <a:avLst/>
          </a:prstGeom>
        </p:spPr>
      </p:pic>
      <p:sp>
        <p:nvSpPr>
          <p:cNvPr id="9" name="Text 6"/>
          <p:cNvSpPr/>
          <p:nvPr/>
        </p:nvSpPr>
        <p:spPr>
          <a:xfrm>
            <a:off x="1115568" y="1280160"/>
            <a:ext cx="3282696" cy="493776"/>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1 · Autenticacion vs autorizacion
</a:t>
            </a:r>
            <a:r>
              <a:rPr lang="en-US" sz="950" dirty="0">
                <a:solidFill>
                  <a:srgbClr val="5C6B62"/>
                </a:solidFill>
                <a:latin typeface="Calibri" pitchFamily="34" charset="0"/>
                <a:ea typeface="Calibri" pitchFamily="34" charset="-122"/>
                <a:cs typeface="Calibri" pitchFamily="34" charset="-120"/>
              </a:rPr>
              <a:t>Quien eres frente a que puedes hacer.</a:t>
            </a:r>
            <a:endParaRPr lang="en-US" sz="1150" dirty="0"/>
          </a:p>
        </p:txBody>
      </p:sp>
      <p:sp>
        <p:nvSpPr>
          <p:cNvPr id="10" name="Shape 7"/>
          <p:cNvSpPr/>
          <p:nvPr/>
        </p:nvSpPr>
        <p:spPr>
          <a:xfrm>
            <a:off x="5029200" y="1225296"/>
            <a:ext cx="4069080" cy="603504"/>
          </a:xfrm>
          <a:prstGeom prst="roundRect">
            <a:avLst>
              <a:gd name="adj" fmla="val 121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1" name="Shape 8"/>
          <p:cNvSpPr/>
          <p:nvPr/>
        </p:nvSpPr>
        <p:spPr>
          <a:xfrm>
            <a:off x="5157216" y="1325880"/>
            <a:ext cx="402336" cy="402336"/>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2" name="Image 1" descr="preencoded.png"/>
          <p:cNvPicPr>
            <a:picLocks noChangeAspect="1"/>
          </p:cNvPicPr>
          <p:nvPr/>
        </p:nvPicPr>
        <p:blipFill>
          <a:blip r:embed="rId4"/>
          <a:stretch>
            <a:fillRect/>
          </a:stretch>
        </p:blipFill>
        <p:spPr>
          <a:xfrm>
            <a:off x="5261823" y="1430487"/>
            <a:ext cx="193121" cy="193121"/>
          </a:xfrm>
          <a:prstGeom prst="rect">
            <a:avLst/>
          </a:prstGeom>
        </p:spPr>
      </p:pic>
      <p:sp>
        <p:nvSpPr>
          <p:cNvPr id="13" name="Text 9"/>
          <p:cNvSpPr/>
          <p:nvPr/>
        </p:nvSpPr>
        <p:spPr>
          <a:xfrm>
            <a:off x="5687568" y="1280160"/>
            <a:ext cx="3282696" cy="493776"/>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2 · Como funciona un JWT
</a:t>
            </a:r>
            <a:r>
              <a:rPr lang="en-US" sz="950" dirty="0">
                <a:solidFill>
                  <a:srgbClr val="5C6B62"/>
                </a:solidFill>
                <a:latin typeface="Calibri" pitchFamily="34" charset="0"/>
                <a:ea typeface="Calibri" pitchFamily="34" charset="-122"/>
                <a:cs typeface="Calibri" pitchFamily="34" charset="-120"/>
              </a:rPr>
              <a:t>Estructura, firma y flujo sin estado.</a:t>
            </a:r>
            <a:endParaRPr lang="en-US" sz="1150" dirty="0"/>
          </a:p>
        </p:txBody>
      </p:sp>
      <p:sp>
        <p:nvSpPr>
          <p:cNvPr id="14" name="Shape 10"/>
          <p:cNvSpPr/>
          <p:nvPr/>
        </p:nvSpPr>
        <p:spPr>
          <a:xfrm>
            <a:off x="457200" y="1929384"/>
            <a:ext cx="4069080" cy="603504"/>
          </a:xfrm>
          <a:prstGeom prst="roundRect">
            <a:avLst>
              <a:gd name="adj" fmla="val 121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5" name="Shape 11"/>
          <p:cNvSpPr/>
          <p:nvPr/>
        </p:nvSpPr>
        <p:spPr>
          <a:xfrm>
            <a:off x="585216" y="2029968"/>
            <a:ext cx="402336" cy="402336"/>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6" name="Image 2" descr="preencoded.png"/>
          <p:cNvPicPr>
            <a:picLocks noChangeAspect="1"/>
          </p:cNvPicPr>
          <p:nvPr/>
        </p:nvPicPr>
        <p:blipFill>
          <a:blip r:embed="rId5"/>
          <a:stretch>
            <a:fillRect/>
          </a:stretch>
        </p:blipFill>
        <p:spPr>
          <a:xfrm>
            <a:off x="689823" y="2134575"/>
            <a:ext cx="193121" cy="193121"/>
          </a:xfrm>
          <a:prstGeom prst="rect">
            <a:avLst/>
          </a:prstGeom>
        </p:spPr>
      </p:pic>
      <p:sp>
        <p:nvSpPr>
          <p:cNvPr id="17" name="Text 12"/>
          <p:cNvSpPr/>
          <p:nvPr/>
        </p:nvSpPr>
        <p:spPr>
          <a:xfrm>
            <a:off x="1115568" y="1984248"/>
            <a:ext cx="3282696" cy="493776"/>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3 · Dependencias
</a:t>
            </a:r>
            <a:r>
              <a:rPr lang="en-US" sz="950" dirty="0">
                <a:solidFill>
                  <a:srgbClr val="5C6B62"/>
                </a:solidFill>
                <a:latin typeface="Calibri" pitchFamily="34" charset="0"/>
                <a:ea typeface="Calibri" pitchFamily="34" charset="-122"/>
                <a:cs typeface="Calibri" pitchFamily="34" charset="-120"/>
              </a:rPr>
              <a:t>starter-security y JJWT 0.13.</a:t>
            </a:r>
            <a:endParaRPr lang="en-US" sz="1150" dirty="0"/>
          </a:p>
        </p:txBody>
      </p:sp>
      <p:sp>
        <p:nvSpPr>
          <p:cNvPr id="18" name="Shape 13"/>
          <p:cNvSpPr/>
          <p:nvPr/>
        </p:nvSpPr>
        <p:spPr>
          <a:xfrm>
            <a:off x="5029200" y="1929384"/>
            <a:ext cx="4069080" cy="603504"/>
          </a:xfrm>
          <a:prstGeom prst="roundRect">
            <a:avLst>
              <a:gd name="adj" fmla="val 121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9" name="Shape 14"/>
          <p:cNvSpPr/>
          <p:nvPr/>
        </p:nvSpPr>
        <p:spPr>
          <a:xfrm>
            <a:off x="5157216" y="2029968"/>
            <a:ext cx="402336" cy="402336"/>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0" name="Image 3" descr="preencoded.png"/>
          <p:cNvPicPr>
            <a:picLocks noChangeAspect="1"/>
          </p:cNvPicPr>
          <p:nvPr/>
        </p:nvPicPr>
        <p:blipFill>
          <a:blip r:embed="rId6"/>
          <a:stretch>
            <a:fillRect/>
          </a:stretch>
        </p:blipFill>
        <p:spPr>
          <a:xfrm>
            <a:off x="5261823" y="2134575"/>
            <a:ext cx="193121" cy="193121"/>
          </a:xfrm>
          <a:prstGeom prst="rect">
            <a:avLst/>
          </a:prstGeom>
        </p:spPr>
      </p:pic>
      <p:sp>
        <p:nvSpPr>
          <p:cNvPr id="21" name="Text 15"/>
          <p:cNvSpPr/>
          <p:nvPr/>
        </p:nvSpPr>
        <p:spPr>
          <a:xfrm>
            <a:off x="5687568" y="1984248"/>
            <a:ext cx="3282696" cy="493776"/>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4 · Usuario, roles y datos
</a:t>
            </a:r>
            <a:r>
              <a:rPr lang="en-US" sz="950" dirty="0">
                <a:solidFill>
                  <a:srgbClr val="5C6B62"/>
                </a:solidFill>
                <a:latin typeface="Calibri" pitchFamily="34" charset="0"/>
                <a:ea typeface="Calibri" pitchFamily="34" charset="-122"/>
                <a:cs typeface="Calibri" pitchFamily="34" charset="-120"/>
              </a:rPr>
              <a:t>Entidad Usuario, BCrypt y repositorio.</a:t>
            </a:r>
            <a:endParaRPr lang="en-US" sz="1150" dirty="0"/>
          </a:p>
        </p:txBody>
      </p:sp>
      <p:sp>
        <p:nvSpPr>
          <p:cNvPr id="22" name="Shape 16"/>
          <p:cNvSpPr/>
          <p:nvPr/>
        </p:nvSpPr>
        <p:spPr>
          <a:xfrm>
            <a:off x="457200" y="2633472"/>
            <a:ext cx="4069080" cy="603504"/>
          </a:xfrm>
          <a:prstGeom prst="roundRect">
            <a:avLst>
              <a:gd name="adj" fmla="val 121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23" name="Shape 17"/>
          <p:cNvSpPr/>
          <p:nvPr/>
        </p:nvSpPr>
        <p:spPr>
          <a:xfrm>
            <a:off x="585216" y="2734056"/>
            <a:ext cx="402336" cy="402336"/>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4" name="Image 4" descr="preencoded.png"/>
          <p:cNvPicPr>
            <a:picLocks noChangeAspect="1"/>
          </p:cNvPicPr>
          <p:nvPr/>
        </p:nvPicPr>
        <p:blipFill>
          <a:blip r:embed="rId7"/>
          <a:stretch>
            <a:fillRect/>
          </a:stretch>
        </p:blipFill>
        <p:spPr>
          <a:xfrm>
            <a:off x="689823" y="2838663"/>
            <a:ext cx="193121" cy="193121"/>
          </a:xfrm>
          <a:prstGeom prst="rect">
            <a:avLst/>
          </a:prstGeom>
        </p:spPr>
      </p:pic>
      <p:sp>
        <p:nvSpPr>
          <p:cNvPr id="25" name="Text 18"/>
          <p:cNvSpPr/>
          <p:nvPr/>
        </p:nvSpPr>
        <p:spPr>
          <a:xfrm>
            <a:off x="1115568" y="2688336"/>
            <a:ext cx="3282696" cy="493776"/>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5 · UserDetailsService
</a:t>
            </a:r>
            <a:r>
              <a:rPr lang="en-US" sz="950" dirty="0">
                <a:solidFill>
                  <a:srgbClr val="5C6B62"/>
                </a:solidFill>
                <a:latin typeface="Calibri" pitchFamily="34" charset="0"/>
                <a:ea typeface="Calibri" pitchFamily="34" charset="-122"/>
                <a:cs typeface="Calibri" pitchFamily="34" charset="-120"/>
              </a:rPr>
              <a:t>Cargar el usuario desde PostgreSQL.</a:t>
            </a:r>
            <a:endParaRPr lang="en-US" sz="1150" dirty="0"/>
          </a:p>
        </p:txBody>
      </p:sp>
      <p:sp>
        <p:nvSpPr>
          <p:cNvPr id="26" name="Shape 19"/>
          <p:cNvSpPr/>
          <p:nvPr/>
        </p:nvSpPr>
        <p:spPr>
          <a:xfrm>
            <a:off x="5029200" y="2633472"/>
            <a:ext cx="4069080" cy="603504"/>
          </a:xfrm>
          <a:prstGeom prst="roundRect">
            <a:avLst>
              <a:gd name="adj" fmla="val 121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27" name="Shape 20"/>
          <p:cNvSpPr/>
          <p:nvPr/>
        </p:nvSpPr>
        <p:spPr>
          <a:xfrm>
            <a:off x="5157216" y="2734056"/>
            <a:ext cx="402336" cy="402336"/>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8" name="Image 5" descr="preencoded.png"/>
          <p:cNvPicPr>
            <a:picLocks noChangeAspect="1"/>
          </p:cNvPicPr>
          <p:nvPr/>
        </p:nvPicPr>
        <p:blipFill>
          <a:blip r:embed="rId8"/>
          <a:stretch>
            <a:fillRect/>
          </a:stretch>
        </p:blipFill>
        <p:spPr>
          <a:xfrm>
            <a:off x="5261823" y="2838663"/>
            <a:ext cx="193121" cy="193121"/>
          </a:xfrm>
          <a:prstGeom prst="rect">
            <a:avLst/>
          </a:prstGeom>
        </p:spPr>
      </p:pic>
      <p:sp>
        <p:nvSpPr>
          <p:cNvPr id="29" name="Text 21"/>
          <p:cNvSpPr/>
          <p:nvPr/>
        </p:nvSpPr>
        <p:spPr>
          <a:xfrm>
            <a:off x="5687568" y="2688336"/>
            <a:ext cx="3282696" cy="493776"/>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6 · Emitir y validar tokens
</a:t>
            </a:r>
            <a:r>
              <a:rPr lang="en-US" sz="950" dirty="0">
                <a:solidFill>
                  <a:srgbClr val="5C6B62"/>
                </a:solidFill>
                <a:latin typeface="Calibri" pitchFamily="34" charset="0"/>
                <a:ea typeface="Calibri" pitchFamily="34" charset="-122"/>
                <a:cs typeface="Calibri" pitchFamily="34" charset="-120"/>
              </a:rPr>
              <a:t>JwtService con JJWT.</a:t>
            </a:r>
            <a:endParaRPr lang="en-US" sz="1150" dirty="0"/>
          </a:p>
        </p:txBody>
      </p:sp>
      <p:sp>
        <p:nvSpPr>
          <p:cNvPr id="30" name="Shape 22"/>
          <p:cNvSpPr/>
          <p:nvPr/>
        </p:nvSpPr>
        <p:spPr>
          <a:xfrm>
            <a:off x="457200" y="3337560"/>
            <a:ext cx="4069080" cy="603504"/>
          </a:xfrm>
          <a:prstGeom prst="roundRect">
            <a:avLst>
              <a:gd name="adj" fmla="val 121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31" name="Shape 23"/>
          <p:cNvSpPr/>
          <p:nvPr/>
        </p:nvSpPr>
        <p:spPr>
          <a:xfrm>
            <a:off x="585216" y="3438144"/>
            <a:ext cx="402336" cy="402336"/>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32" name="Image 6" descr="preencoded.png"/>
          <p:cNvPicPr>
            <a:picLocks noChangeAspect="1"/>
          </p:cNvPicPr>
          <p:nvPr/>
        </p:nvPicPr>
        <p:blipFill>
          <a:blip r:embed="rId9"/>
          <a:stretch>
            <a:fillRect/>
          </a:stretch>
        </p:blipFill>
        <p:spPr>
          <a:xfrm>
            <a:off x="689823" y="3542751"/>
            <a:ext cx="193121" cy="193121"/>
          </a:xfrm>
          <a:prstGeom prst="rect">
            <a:avLst/>
          </a:prstGeom>
        </p:spPr>
      </p:pic>
      <p:sp>
        <p:nvSpPr>
          <p:cNvPr id="33" name="Text 24"/>
          <p:cNvSpPr/>
          <p:nvPr/>
        </p:nvSpPr>
        <p:spPr>
          <a:xfrm>
            <a:off x="1115568" y="3392424"/>
            <a:ext cx="3282696" cy="493776"/>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7 · Filtro y configuracion
</a:t>
            </a:r>
            <a:r>
              <a:rPr lang="en-US" sz="950" dirty="0">
                <a:solidFill>
                  <a:srgbClr val="5C6B62"/>
                </a:solidFill>
                <a:latin typeface="Calibri" pitchFamily="34" charset="0"/>
                <a:ea typeface="Calibri" pitchFamily="34" charset="-122"/>
                <a:cs typeface="Calibri" pitchFamily="34" charset="-120"/>
              </a:rPr>
              <a:t>JwtAuthFilter + SecurityConfig.</a:t>
            </a:r>
            <a:endParaRPr lang="en-US" sz="1150" dirty="0"/>
          </a:p>
        </p:txBody>
      </p:sp>
      <p:sp>
        <p:nvSpPr>
          <p:cNvPr id="34" name="Shape 25"/>
          <p:cNvSpPr/>
          <p:nvPr/>
        </p:nvSpPr>
        <p:spPr>
          <a:xfrm>
            <a:off x="5029200" y="3337560"/>
            <a:ext cx="4069080" cy="603504"/>
          </a:xfrm>
          <a:prstGeom prst="roundRect">
            <a:avLst>
              <a:gd name="adj" fmla="val 121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35" name="Shape 26"/>
          <p:cNvSpPr/>
          <p:nvPr/>
        </p:nvSpPr>
        <p:spPr>
          <a:xfrm>
            <a:off x="5157216" y="3438144"/>
            <a:ext cx="402336" cy="402336"/>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36" name="Image 7" descr="preencoded.png"/>
          <p:cNvPicPr>
            <a:picLocks noChangeAspect="1"/>
          </p:cNvPicPr>
          <p:nvPr/>
        </p:nvPicPr>
        <p:blipFill>
          <a:blip r:embed="rId10"/>
          <a:stretch>
            <a:fillRect/>
          </a:stretch>
        </p:blipFill>
        <p:spPr>
          <a:xfrm>
            <a:off x="5261823" y="3542751"/>
            <a:ext cx="193121" cy="193121"/>
          </a:xfrm>
          <a:prstGeom prst="rect">
            <a:avLst/>
          </a:prstGeom>
        </p:spPr>
      </p:pic>
      <p:sp>
        <p:nvSpPr>
          <p:cNvPr id="37" name="Text 27"/>
          <p:cNvSpPr/>
          <p:nvPr/>
        </p:nvSpPr>
        <p:spPr>
          <a:xfrm>
            <a:off x="5687568" y="3392424"/>
            <a:ext cx="3282696" cy="493776"/>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8 · Registro e inicio de sesion
</a:t>
            </a:r>
            <a:r>
              <a:rPr lang="en-US" sz="950" dirty="0">
                <a:solidFill>
                  <a:srgbClr val="5C6B62"/>
                </a:solidFill>
                <a:latin typeface="Calibri" pitchFamily="34" charset="0"/>
                <a:ea typeface="Calibri" pitchFamily="34" charset="-122"/>
                <a:cs typeface="Calibri" pitchFamily="34" charset="-120"/>
              </a:rPr>
              <a:t>AuthController y prueba con cURL.</a:t>
            </a:r>
            <a:endParaRPr lang="en-US" sz="1150" dirty="0"/>
          </a:p>
        </p:txBody>
      </p:sp>
      <p:sp>
        <p:nvSpPr>
          <p:cNvPr id="38" name="Shape 28"/>
          <p:cNvSpPr/>
          <p:nvPr/>
        </p:nvSpPr>
        <p:spPr>
          <a:xfrm>
            <a:off x="457200" y="4041648"/>
            <a:ext cx="4069080" cy="603504"/>
          </a:xfrm>
          <a:prstGeom prst="roundRect">
            <a:avLst>
              <a:gd name="adj" fmla="val 121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39" name="Shape 29"/>
          <p:cNvSpPr/>
          <p:nvPr/>
        </p:nvSpPr>
        <p:spPr>
          <a:xfrm>
            <a:off x="585216" y="4142232"/>
            <a:ext cx="402336" cy="402336"/>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40" name="Image 8" descr="preencoded.png"/>
          <p:cNvPicPr>
            <a:picLocks noChangeAspect="1"/>
          </p:cNvPicPr>
          <p:nvPr/>
        </p:nvPicPr>
        <p:blipFill>
          <a:blip r:embed="rId11"/>
          <a:stretch>
            <a:fillRect/>
          </a:stretch>
        </p:blipFill>
        <p:spPr>
          <a:xfrm>
            <a:off x="689823" y="4246839"/>
            <a:ext cx="193121" cy="193121"/>
          </a:xfrm>
          <a:prstGeom prst="rect">
            <a:avLst/>
          </a:prstGeom>
        </p:spPr>
      </p:pic>
      <p:sp>
        <p:nvSpPr>
          <p:cNvPr id="41" name="Text 30"/>
          <p:cNvSpPr/>
          <p:nvPr/>
        </p:nvSpPr>
        <p:spPr>
          <a:xfrm>
            <a:off x="1115568" y="4096512"/>
            <a:ext cx="3282696" cy="493776"/>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9 · Clientes en otro servidor
</a:t>
            </a:r>
            <a:r>
              <a:rPr lang="en-US" sz="950" dirty="0">
                <a:solidFill>
                  <a:srgbClr val="5C6B62"/>
                </a:solidFill>
                <a:latin typeface="Calibri" pitchFamily="34" charset="0"/>
                <a:ea typeface="Calibri" pitchFamily="34" charset="-122"/>
                <a:cs typeface="Calibri" pitchFamily="34" charset="-120"/>
              </a:rPr>
              <a:t>CORS: Angular vs Thymeleaf.</a:t>
            </a:r>
            <a:endParaRPr lang="en-US" sz="1150" dirty="0"/>
          </a:p>
        </p:txBody>
      </p:sp>
      <p:sp>
        <p:nvSpPr>
          <p:cNvPr id="42" name="Shape 31"/>
          <p:cNvSpPr/>
          <p:nvPr/>
        </p:nvSpPr>
        <p:spPr>
          <a:xfrm>
            <a:off x="5029200" y="4041648"/>
            <a:ext cx="4069080" cy="603504"/>
          </a:xfrm>
          <a:prstGeom prst="roundRect">
            <a:avLst>
              <a:gd name="adj" fmla="val 121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43" name="Shape 32"/>
          <p:cNvSpPr/>
          <p:nvPr/>
        </p:nvSpPr>
        <p:spPr>
          <a:xfrm>
            <a:off x="5157216" y="4142232"/>
            <a:ext cx="402336" cy="402336"/>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44" name="Image 9" descr="preencoded.png"/>
          <p:cNvPicPr>
            <a:picLocks noChangeAspect="1"/>
          </p:cNvPicPr>
          <p:nvPr/>
        </p:nvPicPr>
        <p:blipFill>
          <a:blip r:embed="rId12"/>
          <a:stretch>
            <a:fillRect/>
          </a:stretch>
        </p:blipFill>
        <p:spPr>
          <a:xfrm>
            <a:off x="5261823" y="4246839"/>
            <a:ext cx="193121" cy="193121"/>
          </a:xfrm>
          <a:prstGeom prst="rect">
            <a:avLst/>
          </a:prstGeom>
        </p:spPr>
      </p:pic>
      <p:sp>
        <p:nvSpPr>
          <p:cNvPr id="45" name="Text 33"/>
          <p:cNvSpPr/>
          <p:nvPr/>
        </p:nvSpPr>
        <p:spPr>
          <a:xfrm>
            <a:off x="5687568" y="4096512"/>
            <a:ext cx="3282696" cy="493776"/>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10 · Buenas practicas
</a:t>
            </a:r>
            <a:r>
              <a:rPr lang="en-US" sz="950" dirty="0">
                <a:solidFill>
                  <a:srgbClr val="5C6B62"/>
                </a:solidFill>
                <a:latin typeface="Calibri" pitchFamily="34" charset="0"/>
                <a:ea typeface="Calibri" pitchFamily="34" charset="-122"/>
                <a:cs typeface="Calibri" pitchFamily="34" charset="-120"/>
              </a:rPr>
              <a:t>Errores comunes y checklist.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CONCEPTOS BASE</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Autenticacion y autorizacion: dos preguntas</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457200" y="1371600"/>
            <a:ext cx="4023360" cy="3017520"/>
          </a:xfrm>
          <a:prstGeom prst="roundRect">
            <a:avLst>
              <a:gd name="adj" fmla="val 2424"/>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7" name="Shape 5"/>
          <p:cNvSpPr/>
          <p:nvPr/>
        </p:nvSpPr>
        <p:spPr>
          <a:xfrm>
            <a:off x="658368" y="1554480"/>
            <a:ext cx="548640" cy="54864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8" name="Image 0" descr="preencoded.png"/>
          <p:cNvPicPr>
            <a:picLocks noChangeAspect="1"/>
          </p:cNvPicPr>
          <p:nvPr/>
        </p:nvPicPr>
        <p:blipFill>
          <a:blip r:embed="rId3"/>
          <a:stretch>
            <a:fillRect/>
          </a:stretch>
        </p:blipFill>
        <p:spPr>
          <a:xfrm>
            <a:off x="801014" y="1697126"/>
            <a:ext cx="263347" cy="263347"/>
          </a:xfrm>
          <a:prstGeom prst="rect">
            <a:avLst/>
          </a:prstGeom>
        </p:spPr>
      </p:pic>
      <p:sp>
        <p:nvSpPr>
          <p:cNvPr id="9" name="Text 6"/>
          <p:cNvSpPr/>
          <p:nvPr/>
        </p:nvSpPr>
        <p:spPr>
          <a:xfrm>
            <a:off x="1371600" y="1591056"/>
            <a:ext cx="2926080" cy="365760"/>
          </a:xfrm>
          <a:prstGeom prst="rect">
            <a:avLst/>
          </a:prstGeom>
          <a:noFill/>
          <a:ln/>
        </p:spPr>
        <p:txBody>
          <a:bodyPr wrap="square" lIns="0" tIns="0" rIns="0" bIns="0" rtlCol="0" anchor="ctr"/>
          <a:lstStyle/>
          <a:p>
            <a:pPr marL="0" indent="0">
              <a:buNone/>
            </a:pPr>
            <a:r>
              <a:rPr lang="en-US" sz="1600" b="1" dirty="0">
                <a:solidFill>
                  <a:srgbClr val="006633"/>
                </a:solidFill>
                <a:latin typeface="Calibri" pitchFamily="34" charset="0"/>
                <a:ea typeface="Calibri" pitchFamily="34" charset="-122"/>
                <a:cs typeface="Calibri" pitchFamily="34" charset="-120"/>
              </a:rPr>
              <a:t>Autenticacion</a:t>
            </a:r>
            <a:endParaRPr lang="en-US" sz="1600" dirty="0"/>
          </a:p>
        </p:txBody>
      </p:sp>
      <p:sp>
        <p:nvSpPr>
          <p:cNvPr id="10" name="Text 7"/>
          <p:cNvSpPr/>
          <p:nvPr/>
        </p:nvSpPr>
        <p:spPr>
          <a:xfrm>
            <a:off x="658368" y="2286000"/>
            <a:ext cx="3657600" cy="1920240"/>
          </a:xfrm>
          <a:prstGeom prst="rect">
            <a:avLst/>
          </a:prstGeom>
          <a:noFill/>
          <a:ln/>
        </p:spPr>
        <p:txBody>
          <a:bodyPr wrap="square" lIns="0" tIns="0" rIns="0" bIns="0" rtlCol="0" anchor="t"/>
          <a:lstStyle/>
          <a:p>
            <a:pPr marL="0" indent="0">
              <a:lnSpc>
                <a:spcPct val="106000"/>
              </a:lnSpc>
              <a:buNone/>
            </a:pPr>
            <a:r>
              <a:rPr lang="en-US" sz="1250" b="1" dirty="0">
                <a:solidFill>
                  <a:srgbClr val="1E2A22"/>
                </a:solidFill>
                <a:latin typeface="Calibri" pitchFamily="34" charset="0"/>
                <a:ea typeface="Calibri" pitchFamily="34" charset="-122"/>
                <a:cs typeface="Calibri" pitchFamily="34" charset="-120"/>
              </a:rPr>
              <a:t>Quien eres.
</a:t>
            </a:r>
            <a:endParaRPr lang="en-US" sz="1250" dirty="0"/>
          </a:p>
          <a:p>
            <a:pPr marL="0" indent="0">
              <a:lnSpc>
                <a:spcPct val="106000"/>
              </a:lnSpc>
              <a:buNone/>
            </a:pPr>
            <a:r>
              <a:rPr lang="en-US" sz="1250" dirty="0">
                <a:solidFill>
                  <a:srgbClr val="5C6B62"/>
                </a:solidFill>
                <a:latin typeface="Calibri" pitchFamily="34" charset="0"/>
                <a:ea typeface="Calibri" pitchFamily="34" charset="-122"/>
                <a:cs typeface="Calibri" pitchFamily="34" charset="-120"/>
              </a:rPr>
              <a:t>Verifica la identidad comprobando las credenciales (usuario y contrasena). Ocurre una sola vez, al iniciar sesion, y termina con la emision del token.</a:t>
            </a:r>
            <a:endParaRPr lang="en-US" sz="1250" dirty="0"/>
          </a:p>
        </p:txBody>
      </p:sp>
      <p:sp>
        <p:nvSpPr>
          <p:cNvPr id="11" name="Shape 8"/>
          <p:cNvSpPr/>
          <p:nvPr/>
        </p:nvSpPr>
        <p:spPr>
          <a:xfrm>
            <a:off x="4663440" y="1371600"/>
            <a:ext cx="4023360" cy="3017520"/>
          </a:xfrm>
          <a:prstGeom prst="roundRect">
            <a:avLst>
              <a:gd name="adj" fmla="val 2424"/>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Shape 9"/>
          <p:cNvSpPr/>
          <p:nvPr/>
        </p:nvSpPr>
        <p:spPr>
          <a:xfrm>
            <a:off x="4864608" y="1554480"/>
            <a:ext cx="548640" cy="548640"/>
          </a:xfrm>
          <a:prstGeom prst="ellipse">
            <a:avLst/>
          </a:prstGeom>
          <a:solidFill>
            <a:srgbClr val="CC9900"/>
          </a:solidFill>
          <a:ln/>
          <a:effectLst>
            <a:outerShdw blurRad="88900" dist="38100" dir="5400000" algn="bl" rotWithShape="0">
              <a:srgbClr val="000000">
                <a:alpha val="16000"/>
              </a:srgbClr>
            </a:outerShdw>
          </a:effectLst>
        </p:spPr>
        <p:txBody>
          <a:bodyPr/>
          <a:lstStyle/>
          <a:p>
            <a:endParaRPr lang="es-ES"/>
          </a:p>
        </p:txBody>
      </p:sp>
      <p:pic>
        <p:nvPicPr>
          <p:cNvPr id="13" name="Image 1" descr="preencoded.png"/>
          <p:cNvPicPr>
            <a:picLocks noChangeAspect="1"/>
          </p:cNvPicPr>
          <p:nvPr/>
        </p:nvPicPr>
        <p:blipFill>
          <a:blip r:embed="rId4"/>
          <a:stretch>
            <a:fillRect/>
          </a:stretch>
        </p:blipFill>
        <p:spPr>
          <a:xfrm>
            <a:off x="5007254" y="1697126"/>
            <a:ext cx="263347" cy="263347"/>
          </a:xfrm>
          <a:prstGeom prst="rect">
            <a:avLst/>
          </a:prstGeom>
        </p:spPr>
      </p:pic>
      <p:sp>
        <p:nvSpPr>
          <p:cNvPr id="14" name="Text 10"/>
          <p:cNvSpPr/>
          <p:nvPr/>
        </p:nvSpPr>
        <p:spPr>
          <a:xfrm>
            <a:off x="5577840" y="1591056"/>
            <a:ext cx="2926080" cy="365760"/>
          </a:xfrm>
          <a:prstGeom prst="rect">
            <a:avLst/>
          </a:prstGeom>
          <a:noFill/>
          <a:ln/>
        </p:spPr>
        <p:txBody>
          <a:bodyPr wrap="square" lIns="0" tIns="0" rIns="0" bIns="0" rtlCol="0" anchor="ctr"/>
          <a:lstStyle/>
          <a:p>
            <a:pPr marL="0" indent="0">
              <a:buNone/>
            </a:pPr>
            <a:r>
              <a:rPr lang="en-US" sz="1600" b="1" dirty="0">
                <a:solidFill>
                  <a:srgbClr val="9A7400"/>
                </a:solidFill>
                <a:latin typeface="Calibri" pitchFamily="34" charset="0"/>
                <a:ea typeface="Calibri" pitchFamily="34" charset="-122"/>
                <a:cs typeface="Calibri" pitchFamily="34" charset="-120"/>
              </a:rPr>
              <a:t>Autorizacion</a:t>
            </a:r>
            <a:endParaRPr lang="en-US" sz="1600" dirty="0"/>
          </a:p>
        </p:txBody>
      </p:sp>
      <p:sp>
        <p:nvSpPr>
          <p:cNvPr id="15" name="Text 11"/>
          <p:cNvSpPr/>
          <p:nvPr/>
        </p:nvSpPr>
        <p:spPr>
          <a:xfrm>
            <a:off x="4864608" y="2286000"/>
            <a:ext cx="3657600" cy="1920240"/>
          </a:xfrm>
          <a:prstGeom prst="rect">
            <a:avLst/>
          </a:prstGeom>
          <a:noFill/>
          <a:ln/>
        </p:spPr>
        <p:txBody>
          <a:bodyPr wrap="square" lIns="0" tIns="0" rIns="0" bIns="0" rtlCol="0" anchor="t"/>
          <a:lstStyle/>
          <a:p>
            <a:pPr marL="0" indent="0">
              <a:lnSpc>
                <a:spcPct val="106000"/>
              </a:lnSpc>
              <a:buNone/>
            </a:pPr>
            <a:r>
              <a:rPr lang="en-US" sz="1250" b="1" dirty="0">
                <a:solidFill>
                  <a:srgbClr val="1E2A22"/>
                </a:solidFill>
                <a:latin typeface="Calibri" pitchFamily="34" charset="0"/>
                <a:ea typeface="Calibri" pitchFamily="34" charset="-122"/>
                <a:cs typeface="Calibri" pitchFamily="34" charset="-120"/>
              </a:rPr>
              <a:t>Que puedes hacer.
</a:t>
            </a:r>
            <a:endParaRPr lang="en-US" sz="1250" dirty="0"/>
          </a:p>
          <a:p>
            <a:pPr marL="0" indent="0">
              <a:lnSpc>
                <a:spcPct val="106000"/>
              </a:lnSpc>
              <a:buNone/>
            </a:pPr>
            <a:r>
              <a:rPr lang="en-US" sz="1250" dirty="0">
                <a:solidFill>
                  <a:srgbClr val="5C6B62"/>
                </a:solidFill>
                <a:latin typeface="Calibri" pitchFamily="34" charset="0"/>
                <a:ea typeface="Calibri" pitchFamily="34" charset="-122"/>
                <a:cs typeface="Calibri" pitchFamily="34" charset="-120"/>
              </a:rPr>
              <a:t>Una vez identificado, decide si tiene permiso para una accion concreta segun su rol. Ocurre en cada peticion posterior.</a:t>
            </a:r>
            <a:endParaRPr lang="en-US" sz="1250" dirty="0"/>
          </a:p>
        </p:txBody>
      </p:sp>
      <p:sp>
        <p:nvSpPr>
          <p:cNvPr id="16" name="Text 12"/>
          <p:cNvSpPr/>
          <p:nvPr/>
        </p:nvSpPr>
        <p:spPr>
          <a:xfrm>
            <a:off x="457200" y="4526280"/>
            <a:ext cx="8229600" cy="274320"/>
          </a:xfrm>
          <a:prstGeom prst="rect">
            <a:avLst/>
          </a:prstGeom>
          <a:noFill/>
          <a:ln/>
        </p:spPr>
        <p:txBody>
          <a:bodyPr wrap="square" lIns="0" tIns="0" rIns="0" bIns="0" rtlCol="0" anchor="ctr"/>
          <a:lstStyle/>
          <a:p>
            <a:pPr marL="0" indent="0" algn="ctr">
              <a:buNone/>
            </a:pPr>
            <a:r>
              <a:rPr lang="en-US" sz="1050" dirty="0">
                <a:solidFill>
                  <a:srgbClr val="5C6B62"/>
                </a:solidFill>
                <a:latin typeface="Courier New" pitchFamily="34" charset="0"/>
                <a:ea typeface="Courier New" pitchFamily="34" charset="-122"/>
                <a:cs typeface="Courier New" pitchFamily="34" charset="-120"/>
              </a:rPr>
              <a:t>401 No autenticado  =  'no se quien eres'        ·        403 Prohibido  =  'se quien eres, pero no puedes'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POR QUE UN TOKEN</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Una API REST es sin estado (stateless)</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371600"/>
            <a:ext cx="3977640" cy="3063240"/>
          </a:xfrm>
          <a:prstGeom prst="roundRect">
            <a:avLst>
              <a:gd name="adj" fmla="val 2388"/>
            </a:avLst>
          </a:prstGeom>
          <a:solidFill>
            <a:srgbClr val="FBEFE0"/>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658368" y="1481328"/>
            <a:ext cx="3657600" cy="320040"/>
          </a:xfrm>
          <a:prstGeom prst="rect">
            <a:avLst/>
          </a:prstGeom>
          <a:noFill/>
          <a:ln/>
        </p:spPr>
        <p:txBody>
          <a:bodyPr wrap="square" lIns="0" tIns="0" rIns="0" bIns="0" rtlCol="0" anchor="ctr"/>
          <a:lstStyle/>
          <a:p>
            <a:pPr marL="0" indent="0">
              <a:buNone/>
            </a:pPr>
            <a:r>
              <a:rPr lang="en-US" sz="1400" b="1" dirty="0">
                <a:solidFill>
                  <a:srgbClr val="9A5B00"/>
                </a:solidFill>
                <a:latin typeface="Calibri" pitchFamily="34" charset="0"/>
                <a:ea typeface="Calibri" pitchFamily="34" charset="-122"/>
                <a:cs typeface="Calibri" pitchFamily="34" charset="-120"/>
              </a:rPr>
              <a:t>El problema</a:t>
            </a:r>
            <a:endParaRPr lang="en-US" sz="1400" dirty="0"/>
          </a:p>
        </p:txBody>
      </p:sp>
      <p:sp>
        <p:nvSpPr>
          <p:cNvPr id="8" name="Text 6"/>
          <p:cNvSpPr/>
          <p:nvPr/>
        </p:nvSpPr>
        <p:spPr>
          <a:xfrm>
            <a:off x="658368" y="1874520"/>
            <a:ext cx="3657600" cy="2377440"/>
          </a:xfrm>
          <a:prstGeom prst="rect">
            <a:avLst/>
          </a:prstGeom>
          <a:noFill/>
          <a:ln/>
        </p:spPr>
        <p:txBody>
          <a:bodyPr wrap="square" lIns="0" tIns="0" rIns="0" bIns="0" rtlCol="0" anchor="t"/>
          <a:lstStyle/>
          <a:p>
            <a:pPr marL="0" indent="0">
              <a:lnSpc>
                <a:spcPct val="108000"/>
              </a:lnSpc>
              <a:buNone/>
            </a:pPr>
            <a:r>
              <a:rPr lang="en-US" sz="1250" dirty="0">
                <a:solidFill>
                  <a:srgbClr val="1E2A22"/>
                </a:solidFill>
                <a:latin typeface="Calibri" pitchFamily="34" charset="0"/>
                <a:ea typeface="Calibri" pitchFamily="34" charset="-122"/>
                <a:cs typeface="Calibri" pitchFamily="34" charset="-120"/>
              </a:rPr>
              <a:t>HTTP no recuerda al usuario entre una peticion y la siguiente. </a:t>
            </a:r>
            <a:endParaRPr lang="en-US" sz="1250" dirty="0"/>
          </a:p>
          <a:p>
            <a:pPr marL="0" indent="0">
              <a:lnSpc>
                <a:spcPct val="108000"/>
              </a:lnSpc>
              <a:buNone/>
            </a:pPr>
            <a:endParaRPr lang="en-US" sz="1250" dirty="0"/>
          </a:p>
          <a:p>
            <a:pPr marL="0" indent="0">
              <a:lnSpc>
                <a:spcPct val="108000"/>
              </a:lnSpc>
              <a:buNone/>
            </a:pPr>
            <a:r>
              <a:rPr lang="en-US" sz="1250" dirty="0">
                <a:solidFill>
                  <a:srgbClr val="5C6B62"/>
                </a:solidFill>
                <a:latin typeface="Calibri" pitchFamily="34" charset="0"/>
                <a:ea typeface="Calibri" pitchFamily="34" charset="-122"/>
                <a:cs typeface="Calibri" pitchFamily="34" charset="-120"/>
              </a:rPr>
              <a:t>El inicio de sesion clasico con cookie de sesion guarda estado en el servidor: no encaja con una API REST distribuida.</a:t>
            </a:r>
            <a:endParaRPr lang="en-US" sz="1250" dirty="0"/>
          </a:p>
        </p:txBody>
      </p:sp>
      <p:sp>
        <p:nvSpPr>
          <p:cNvPr id="9" name="Shape 7"/>
          <p:cNvSpPr/>
          <p:nvPr/>
        </p:nvSpPr>
        <p:spPr>
          <a:xfrm>
            <a:off x="4663440" y="1371600"/>
            <a:ext cx="4023360" cy="3063240"/>
          </a:xfrm>
          <a:prstGeom prst="roundRect">
            <a:avLst>
              <a:gd name="adj" fmla="val 2388"/>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0" name="Text 8"/>
          <p:cNvSpPr/>
          <p:nvPr/>
        </p:nvSpPr>
        <p:spPr>
          <a:xfrm>
            <a:off x="4864608" y="1481328"/>
            <a:ext cx="3657600" cy="320040"/>
          </a:xfrm>
          <a:prstGeom prst="rect">
            <a:avLst/>
          </a:prstGeom>
          <a:noFill/>
          <a:ln/>
        </p:spPr>
        <p:txBody>
          <a:bodyPr wrap="square" lIns="0" tIns="0" rIns="0" bIns="0" rtlCol="0" anchor="ctr"/>
          <a:lstStyle/>
          <a:p>
            <a:pPr marL="0" indent="0">
              <a:buNone/>
            </a:pPr>
            <a:r>
              <a:rPr lang="en-US" sz="1400" b="1" dirty="0">
                <a:solidFill>
                  <a:srgbClr val="006633"/>
                </a:solidFill>
                <a:latin typeface="Calibri" pitchFamily="34" charset="0"/>
                <a:ea typeface="Calibri" pitchFamily="34" charset="-122"/>
                <a:cs typeface="Calibri" pitchFamily="34" charset="-120"/>
              </a:rPr>
              <a:t>La solucion: token</a:t>
            </a:r>
            <a:endParaRPr lang="en-US" sz="1400" dirty="0"/>
          </a:p>
        </p:txBody>
      </p:sp>
      <p:sp>
        <p:nvSpPr>
          <p:cNvPr id="11" name="Text 9"/>
          <p:cNvSpPr/>
          <p:nvPr/>
        </p:nvSpPr>
        <p:spPr>
          <a:xfrm>
            <a:off x="4864608" y="1874520"/>
            <a:ext cx="3657600" cy="2377440"/>
          </a:xfrm>
          <a:prstGeom prst="rect">
            <a:avLst/>
          </a:prstGeom>
          <a:noFill/>
          <a:ln/>
        </p:spPr>
        <p:txBody>
          <a:bodyPr wrap="square" lIns="0" tIns="0" rIns="0" bIns="0" rtlCol="0" anchor="t"/>
          <a:lstStyle/>
          <a:p>
            <a:pPr marL="0" indent="0">
              <a:lnSpc>
                <a:spcPct val="108000"/>
              </a:lnSpc>
              <a:buNone/>
            </a:pPr>
            <a:r>
              <a:rPr lang="en-US" sz="1250" dirty="0">
                <a:solidFill>
                  <a:srgbClr val="1E2A22"/>
                </a:solidFill>
                <a:latin typeface="Calibri" pitchFamily="34" charset="0"/>
                <a:ea typeface="Calibri" pitchFamily="34" charset="-122"/>
                <a:cs typeface="Calibri" pitchFamily="34" charset="-120"/>
              </a:rPr>
              <a:t>Tras autenticarse una vez, el cliente recibe una credencial autocontenida </a:t>
            </a:r>
            <a:r>
              <a:rPr lang="en-US" sz="1250" b="1" dirty="0">
                <a:solidFill>
                  <a:srgbClr val="1E2A22"/>
                </a:solidFill>
                <a:latin typeface="Calibri" pitchFamily="34" charset="0"/>
                <a:ea typeface="Calibri" pitchFamily="34" charset="-122"/>
                <a:cs typeface="Calibri" pitchFamily="34" charset="-120"/>
              </a:rPr>
              <a:t>que envia en cada peticion.
</a:t>
            </a:r>
            <a:endParaRPr lang="en-US" sz="1250" dirty="0"/>
          </a:p>
          <a:p>
            <a:pPr marL="0" indent="0">
              <a:lnSpc>
                <a:spcPct val="108000"/>
              </a:lnSpc>
              <a:buNone/>
            </a:pPr>
            <a:r>
              <a:rPr lang="en-US" sz="1250" dirty="0">
                <a:solidFill>
                  <a:srgbClr val="5C6B62"/>
                </a:solidFill>
                <a:latin typeface="Calibri" pitchFamily="34" charset="0"/>
                <a:ea typeface="Calibri" pitchFamily="34" charset="-122"/>
                <a:cs typeface="Calibri" pitchFamily="34" charset="-120"/>
              </a:rPr>
              <a:t>El servidor la valida sin recordar nada: escala en horizontal y encaja con una SPA en Angular.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ANATOMIA</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Un JWT: cabecera . cuerpo . firma</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457200" y="1417320"/>
            <a:ext cx="2670048" cy="1783080"/>
          </a:xfrm>
          <a:prstGeom prst="roundRect">
            <a:avLst>
              <a:gd name="adj" fmla="val 4103"/>
            </a:avLst>
          </a:prstGeom>
          <a:solidFill>
            <a:srgbClr val="F8E3E1"/>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548640" y="1527048"/>
            <a:ext cx="2487168" cy="320040"/>
          </a:xfrm>
          <a:prstGeom prst="rect">
            <a:avLst/>
          </a:prstGeom>
          <a:noFill/>
          <a:ln/>
        </p:spPr>
        <p:txBody>
          <a:bodyPr wrap="square" lIns="0" tIns="0" rIns="0" bIns="0" rtlCol="0" anchor="ctr"/>
          <a:lstStyle/>
          <a:p>
            <a:pPr marL="0" indent="0" algn="ctr">
              <a:buNone/>
            </a:pPr>
            <a:r>
              <a:rPr lang="en-US" sz="1300" b="1" dirty="0">
                <a:solidFill>
                  <a:srgbClr val="C41A16"/>
                </a:solidFill>
                <a:latin typeface="Calibri" pitchFamily="34" charset="0"/>
                <a:ea typeface="Calibri" pitchFamily="34" charset="-122"/>
                <a:cs typeface="Calibri" pitchFamily="34" charset="-120"/>
              </a:rPr>
              <a:t>CABECERA</a:t>
            </a:r>
            <a:endParaRPr lang="en-US" sz="1300" dirty="0"/>
          </a:p>
        </p:txBody>
      </p:sp>
      <p:sp>
        <p:nvSpPr>
          <p:cNvPr id="8" name="Text 6"/>
          <p:cNvSpPr/>
          <p:nvPr/>
        </p:nvSpPr>
        <p:spPr>
          <a:xfrm>
            <a:off x="566928" y="1947672"/>
            <a:ext cx="2450592" cy="1143000"/>
          </a:xfrm>
          <a:prstGeom prst="rect">
            <a:avLst/>
          </a:prstGeom>
          <a:noFill/>
          <a:ln/>
        </p:spPr>
        <p:txBody>
          <a:bodyPr wrap="square" lIns="0" tIns="0" rIns="0" bIns="0" rtlCol="0" anchor="t"/>
          <a:lstStyle/>
          <a:p>
            <a:pPr marL="0" indent="0" algn="ctr">
              <a:lnSpc>
                <a:spcPct val="110000"/>
              </a:lnSpc>
              <a:buNone/>
            </a:pPr>
            <a:r>
              <a:rPr lang="en-US" sz="1050" dirty="0">
                <a:solidFill>
                  <a:srgbClr val="383A42"/>
                </a:solidFill>
                <a:latin typeface="Courier New" pitchFamily="34" charset="0"/>
                <a:ea typeface="Courier New" pitchFamily="34" charset="-122"/>
                <a:cs typeface="Courier New" pitchFamily="34" charset="-120"/>
              </a:rPr>
              <a:t>alg: HS256</a:t>
            </a:r>
            <a:endParaRPr lang="en-US" sz="1050" dirty="0"/>
          </a:p>
          <a:p>
            <a:pPr marL="0" indent="0" algn="ctr">
              <a:lnSpc>
                <a:spcPct val="110000"/>
              </a:lnSpc>
              <a:buNone/>
            </a:pPr>
            <a:r>
              <a:rPr lang="en-US" sz="1050" dirty="0">
                <a:solidFill>
                  <a:srgbClr val="383A42"/>
                </a:solidFill>
                <a:latin typeface="Courier New" pitchFamily="34" charset="0"/>
                <a:ea typeface="Courier New" pitchFamily="34" charset="-122"/>
                <a:cs typeface="Courier New" pitchFamily="34" charset="-120"/>
              </a:rPr>
              <a:t>typ: JWT</a:t>
            </a:r>
            <a:endParaRPr lang="en-US" sz="1050" dirty="0"/>
          </a:p>
        </p:txBody>
      </p:sp>
      <p:sp>
        <p:nvSpPr>
          <p:cNvPr id="9" name="Shape 7"/>
          <p:cNvSpPr/>
          <p:nvPr/>
        </p:nvSpPr>
        <p:spPr>
          <a:xfrm>
            <a:off x="3236976" y="1417320"/>
            <a:ext cx="2670048" cy="1783080"/>
          </a:xfrm>
          <a:prstGeom prst="roundRect">
            <a:avLst>
              <a:gd name="adj" fmla="val 4103"/>
            </a:avLst>
          </a:prstGeom>
          <a:solidFill>
            <a:srgbClr val="EEE4F6"/>
          </a:solidFill>
          <a:ln/>
          <a:effectLst>
            <a:outerShdw blurRad="88900" dist="38100" dir="5400000" algn="bl" rotWithShape="0">
              <a:srgbClr val="000000">
                <a:alpha val="16000"/>
              </a:srgbClr>
            </a:outerShdw>
          </a:effectLst>
        </p:spPr>
        <p:txBody>
          <a:bodyPr/>
          <a:lstStyle/>
          <a:p>
            <a:endParaRPr lang="es-ES"/>
          </a:p>
        </p:txBody>
      </p:sp>
      <p:sp>
        <p:nvSpPr>
          <p:cNvPr id="10" name="Text 8"/>
          <p:cNvSpPr/>
          <p:nvPr/>
        </p:nvSpPr>
        <p:spPr>
          <a:xfrm>
            <a:off x="3328416" y="1527048"/>
            <a:ext cx="2487168" cy="320040"/>
          </a:xfrm>
          <a:prstGeom prst="rect">
            <a:avLst/>
          </a:prstGeom>
          <a:noFill/>
          <a:ln/>
        </p:spPr>
        <p:txBody>
          <a:bodyPr wrap="square" lIns="0" tIns="0" rIns="0" bIns="0" rtlCol="0" anchor="ctr"/>
          <a:lstStyle/>
          <a:p>
            <a:pPr marL="0" indent="0" algn="ctr">
              <a:buNone/>
            </a:pPr>
            <a:r>
              <a:rPr lang="en-US" sz="1300" b="1" dirty="0">
                <a:solidFill>
                  <a:srgbClr val="7B2FBE"/>
                </a:solidFill>
                <a:latin typeface="Calibri" pitchFamily="34" charset="0"/>
                <a:ea typeface="Calibri" pitchFamily="34" charset="-122"/>
                <a:cs typeface="Calibri" pitchFamily="34" charset="-120"/>
              </a:rPr>
              <a:t>CUERPO (claims)</a:t>
            </a:r>
            <a:endParaRPr lang="en-US" sz="1300" dirty="0"/>
          </a:p>
        </p:txBody>
      </p:sp>
      <p:sp>
        <p:nvSpPr>
          <p:cNvPr id="11" name="Text 9"/>
          <p:cNvSpPr/>
          <p:nvPr/>
        </p:nvSpPr>
        <p:spPr>
          <a:xfrm>
            <a:off x="3346704" y="1947672"/>
            <a:ext cx="2450592" cy="1143000"/>
          </a:xfrm>
          <a:prstGeom prst="rect">
            <a:avLst/>
          </a:prstGeom>
          <a:noFill/>
          <a:ln/>
        </p:spPr>
        <p:txBody>
          <a:bodyPr wrap="square" lIns="0" tIns="0" rIns="0" bIns="0" rtlCol="0" anchor="t"/>
          <a:lstStyle/>
          <a:p>
            <a:pPr marL="0" indent="0" algn="ctr">
              <a:lnSpc>
                <a:spcPct val="110000"/>
              </a:lnSpc>
              <a:buNone/>
            </a:pPr>
            <a:r>
              <a:rPr lang="en-US" sz="1050" dirty="0">
                <a:solidFill>
                  <a:srgbClr val="383A42"/>
                </a:solidFill>
                <a:latin typeface="Courier New" pitchFamily="34" charset="0"/>
                <a:ea typeface="Courier New" pitchFamily="34" charset="-122"/>
                <a:cs typeface="Courier New" pitchFamily="34" charset="-120"/>
              </a:rPr>
              <a:t>sub: usuario</a:t>
            </a:r>
            <a:endParaRPr lang="en-US" sz="1050" dirty="0"/>
          </a:p>
          <a:p>
            <a:pPr marL="0" indent="0" algn="ctr">
              <a:lnSpc>
                <a:spcPct val="110000"/>
              </a:lnSpc>
              <a:buNone/>
            </a:pPr>
            <a:r>
              <a:rPr lang="en-US" sz="1050" dirty="0">
                <a:solidFill>
                  <a:srgbClr val="383A42"/>
                </a:solidFill>
                <a:latin typeface="Courier New" pitchFamily="34" charset="0"/>
                <a:ea typeface="Courier New" pitchFamily="34" charset="-122"/>
                <a:cs typeface="Courier New" pitchFamily="34" charset="-120"/>
              </a:rPr>
              <a:t>roles: [ADMIN]</a:t>
            </a:r>
            <a:endParaRPr lang="en-US" sz="1050" dirty="0"/>
          </a:p>
          <a:p>
            <a:pPr marL="0" indent="0" algn="ctr">
              <a:lnSpc>
                <a:spcPct val="110000"/>
              </a:lnSpc>
              <a:buNone/>
            </a:pPr>
            <a:r>
              <a:rPr lang="en-US" sz="1050" dirty="0">
                <a:solidFill>
                  <a:srgbClr val="383A42"/>
                </a:solidFill>
                <a:latin typeface="Courier New" pitchFamily="34" charset="0"/>
                <a:ea typeface="Courier New" pitchFamily="34" charset="-122"/>
                <a:cs typeface="Courier New" pitchFamily="34" charset="-120"/>
              </a:rPr>
              <a:t>exp: 1718...</a:t>
            </a:r>
            <a:endParaRPr lang="en-US" sz="1050" dirty="0"/>
          </a:p>
          <a:p>
            <a:pPr marL="0" indent="0" algn="ctr">
              <a:lnSpc>
                <a:spcPct val="110000"/>
              </a:lnSpc>
              <a:buNone/>
            </a:pPr>
            <a:r>
              <a:rPr lang="en-US" sz="1050" dirty="0">
                <a:solidFill>
                  <a:srgbClr val="383A42"/>
                </a:solidFill>
                <a:latin typeface="Courier New" pitchFamily="34" charset="0"/>
                <a:ea typeface="Courier New" pitchFamily="34" charset="-122"/>
                <a:cs typeface="Courier New" pitchFamily="34" charset="-120"/>
              </a:rPr>
              <a:t>(legible, no secreto)</a:t>
            </a:r>
            <a:endParaRPr lang="en-US" sz="1050" dirty="0"/>
          </a:p>
        </p:txBody>
      </p:sp>
      <p:sp>
        <p:nvSpPr>
          <p:cNvPr id="12" name="Shape 10"/>
          <p:cNvSpPr/>
          <p:nvPr/>
        </p:nvSpPr>
        <p:spPr>
          <a:xfrm>
            <a:off x="6016752" y="1417320"/>
            <a:ext cx="2670048" cy="1783080"/>
          </a:xfrm>
          <a:prstGeom prst="roundRect">
            <a:avLst>
              <a:gd name="adj" fmla="val 4103"/>
            </a:avLst>
          </a:prstGeom>
          <a:solidFill>
            <a:srgbClr val="E1ECF6"/>
          </a:solidFill>
          <a:ln/>
          <a:effectLst>
            <a:outerShdw blurRad="88900" dist="38100" dir="5400000" algn="bl" rotWithShape="0">
              <a:srgbClr val="000000">
                <a:alpha val="16000"/>
              </a:srgbClr>
            </a:outerShdw>
          </a:effectLst>
        </p:spPr>
        <p:txBody>
          <a:bodyPr/>
          <a:lstStyle/>
          <a:p>
            <a:endParaRPr lang="es-ES"/>
          </a:p>
        </p:txBody>
      </p:sp>
      <p:sp>
        <p:nvSpPr>
          <p:cNvPr id="13" name="Text 11"/>
          <p:cNvSpPr/>
          <p:nvPr/>
        </p:nvSpPr>
        <p:spPr>
          <a:xfrm>
            <a:off x="6108192" y="1527048"/>
            <a:ext cx="2487168" cy="320040"/>
          </a:xfrm>
          <a:prstGeom prst="rect">
            <a:avLst/>
          </a:prstGeom>
          <a:noFill/>
          <a:ln/>
        </p:spPr>
        <p:txBody>
          <a:bodyPr wrap="square" lIns="0" tIns="0" rIns="0" bIns="0" rtlCol="0" anchor="ctr"/>
          <a:lstStyle/>
          <a:p>
            <a:pPr marL="0" indent="0" algn="ctr">
              <a:buNone/>
            </a:pPr>
            <a:r>
              <a:rPr lang="en-US" sz="1300" b="1" dirty="0">
                <a:solidFill>
                  <a:srgbClr val="0057AE"/>
                </a:solidFill>
                <a:latin typeface="Calibri" pitchFamily="34" charset="0"/>
                <a:ea typeface="Calibri" pitchFamily="34" charset="-122"/>
                <a:cs typeface="Calibri" pitchFamily="34" charset="-120"/>
              </a:rPr>
              <a:t>FIRMA</a:t>
            </a:r>
            <a:endParaRPr lang="en-US" sz="1300" dirty="0"/>
          </a:p>
        </p:txBody>
      </p:sp>
      <p:sp>
        <p:nvSpPr>
          <p:cNvPr id="14" name="Text 12"/>
          <p:cNvSpPr/>
          <p:nvPr/>
        </p:nvSpPr>
        <p:spPr>
          <a:xfrm>
            <a:off x="6126480" y="1947672"/>
            <a:ext cx="2450592" cy="1143000"/>
          </a:xfrm>
          <a:prstGeom prst="rect">
            <a:avLst/>
          </a:prstGeom>
          <a:noFill/>
          <a:ln/>
        </p:spPr>
        <p:txBody>
          <a:bodyPr wrap="square" lIns="0" tIns="0" rIns="0" bIns="0" rtlCol="0" anchor="t"/>
          <a:lstStyle/>
          <a:p>
            <a:pPr marL="0" indent="0" algn="ctr">
              <a:lnSpc>
                <a:spcPct val="110000"/>
              </a:lnSpc>
              <a:buNone/>
            </a:pPr>
            <a:r>
              <a:rPr lang="en-US" sz="1050" dirty="0">
                <a:solidFill>
                  <a:srgbClr val="383A42"/>
                </a:solidFill>
                <a:latin typeface="Courier New" pitchFamily="34" charset="0"/>
                <a:ea typeface="Courier New" pitchFamily="34" charset="-122"/>
                <a:cs typeface="Courier New" pitchFamily="34" charset="-120"/>
              </a:rPr>
              <a:t>HMAC-SHA256 con</a:t>
            </a:r>
            <a:endParaRPr lang="en-US" sz="1050" dirty="0"/>
          </a:p>
          <a:p>
            <a:pPr marL="0" indent="0" algn="ctr">
              <a:lnSpc>
                <a:spcPct val="110000"/>
              </a:lnSpc>
              <a:buNone/>
            </a:pPr>
            <a:r>
              <a:rPr lang="en-US" sz="1050" dirty="0">
                <a:solidFill>
                  <a:srgbClr val="383A42"/>
                </a:solidFill>
                <a:latin typeface="Courier New" pitchFamily="34" charset="0"/>
                <a:ea typeface="Courier New" pitchFamily="34" charset="-122"/>
                <a:cs typeface="Courier New" pitchFamily="34" charset="-120"/>
              </a:rPr>
              <a:t>clave secreta del</a:t>
            </a:r>
            <a:endParaRPr lang="en-US" sz="1050" dirty="0"/>
          </a:p>
          <a:p>
            <a:pPr marL="0" indent="0" algn="ctr">
              <a:lnSpc>
                <a:spcPct val="110000"/>
              </a:lnSpc>
              <a:buNone/>
            </a:pPr>
            <a:r>
              <a:rPr lang="en-US" sz="1050" dirty="0">
                <a:solidFill>
                  <a:srgbClr val="383A42"/>
                </a:solidFill>
                <a:latin typeface="Courier New" pitchFamily="34" charset="0"/>
                <a:ea typeface="Courier New" pitchFamily="34" charset="-122"/>
                <a:cs typeface="Courier New" pitchFamily="34" charset="-120"/>
              </a:rPr>
              <a:t>servidor</a:t>
            </a:r>
            <a:endParaRPr lang="en-US" sz="1050" dirty="0"/>
          </a:p>
        </p:txBody>
      </p:sp>
      <p:sp>
        <p:nvSpPr>
          <p:cNvPr id="15" name="Shape 13"/>
          <p:cNvSpPr/>
          <p:nvPr/>
        </p:nvSpPr>
        <p:spPr>
          <a:xfrm>
            <a:off x="457200" y="3429000"/>
            <a:ext cx="8229600" cy="566928"/>
          </a:xfrm>
          <a:prstGeom prst="roundRect">
            <a:avLst>
              <a:gd name="adj" fmla="val 8065"/>
            </a:avLst>
          </a:prstGeom>
          <a:solidFill>
            <a:srgbClr val="F6F7F4"/>
          </a:solidFill>
          <a:ln w="12700">
            <a:solidFill>
              <a:srgbClr val="DDE3DC"/>
            </a:solidFill>
            <a:prstDash val="solid"/>
          </a:ln>
        </p:spPr>
        <p:txBody>
          <a:bodyPr/>
          <a:lstStyle/>
          <a:p>
            <a:endParaRPr lang="es-ES"/>
          </a:p>
        </p:txBody>
      </p:sp>
      <p:sp>
        <p:nvSpPr>
          <p:cNvPr id="16" name="Text 14"/>
          <p:cNvSpPr/>
          <p:nvPr/>
        </p:nvSpPr>
        <p:spPr>
          <a:xfrm>
            <a:off x="594360" y="3511296"/>
            <a:ext cx="7955280" cy="402336"/>
          </a:xfrm>
          <a:prstGeom prst="rect">
            <a:avLst/>
          </a:prstGeom>
          <a:noFill/>
          <a:ln/>
        </p:spPr>
        <p:txBody>
          <a:bodyPr wrap="square" lIns="0" tIns="0" rIns="0" bIns="0" rtlCol="0" anchor="ctr"/>
          <a:lstStyle/>
          <a:p>
            <a:pPr marL="0" indent="0">
              <a:buNone/>
            </a:pPr>
            <a:r>
              <a:rPr lang="en-US" sz="1100" dirty="0">
                <a:solidFill>
                  <a:srgbClr val="C41A16"/>
                </a:solidFill>
                <a:latin typeface="Courier New" pitchFamily="34" charset="0"/>
                <a:ea typeface="Courier New" pitchFamily="34" charset="-122"/>
                <a:cs typeface="Courier New" pitchFamily="34" charset="-120"/>
              </a:rPr>
              <a:t>eyJhbGciOiJIUzI1NiJ9</a:t>
            </a:r>
            <a:r>
              <a:rPr lang="en-US" sz="1100" dirty="0">
                <a:solidFill>
                  <a:srgbClr val="5C6B62"/>
                </a:solidFill>
                <a:latin typeface="Courier New" pitchFamily="34" charset="0"/>
                <a:ea typeface="Courier New" pitchFamily="34" charset="-122"/>
                <a:cs typeface="Courier New" pitchFamily="34" charset="-120"/>
              </a:rPr>
              <a:t>.</a:t>
            </a:r>
            <a:r>
              <a:rPr lang="en-US" sz="1100" dirty="0">
                <a:solidFill>
                  <a:srgbClr val="7B2FBE"/>
                </a:solidFill>
                <a:latin typeface="Courier New" pitchFamily="34" charset="0"/>
                <a:ea typeface="Courier New" pitchFamily="34" charset="-122"/>
                <a:cs typeface="Courier New" pitchFamily="34" charset="-120"/>
              </a:rPr>
              <a:t>eyJzdWIiOiJhZG1pbiIsInJvbGVzIjpbIkFETUlOIl19</a:t>
            </a:r>
            <a:r>
              <a:rPr lang="en-US" sz="1100" dirty="0">
                <a:solidFill>
                  <a:srgbClr val="5C6B62"/>
                </a:solidFill>
                <a:latin typeface="Courier New" pitchFamily="34" charset="0"/>
                <a:ea typeface="Courier New" pitchFamily="34" charset="-122"/>
                <a:cs typeface="Courier New" pitchFamily="34" charset="-120"/>
              </a:rPr>
              <a:t>.</a:t>
            </a:r>
            <a:r>
              <a:rPr lang="en-US" sz="1100" dirty="0">
                <a:solidFill>
                  <a:srgbClr val="0057AE"/>
                </a:solidFill>
                <a:latin typeface="Courier New" pitchFamily="34" charset="0"/>
                <a:ea typeface="Courier New" pitchFamily="34" charset="-122"/>
                <a:cs typeface="Courier New" pitchFamily="34" charset="-120"/>
              </a:rPr>
              <a:t>S0Fr... (firma)</a:t>
            </a:r>
            <a:endParaRPr lang="en-US" sz="1100" dirty="0"/>
          </a:p>
        </p:txBody>
      </p:sp>
      <p:sp>
        <p:nvSpPr>
          <p:cNvPr id="17" name="Text 15"/>
          <p:cNvSpPr/>
          <p:nvPr/>
        </p:nvSpPr>
        <p:spPr>
          <a:xfrm>
            <a:off x="457200" y="4114800"/>
            <a:ext cx="8229600" cy="365760"/>
          </a:xfrm>
          <a:prstGeom prst="rect">
            <a:avLst/>
          </a:prstGeom>
          <a:noFill/>
          <a:ln/>
        </p:spPr>
        <p:txBody>
          <a:bodyPr wrap="square" lIns="0" tIns="0" rIns="0" bIns="0" rtlCol="0" anchor="ctr"/>
          <a:lstStyle/>
          <a:p>
            <a:pPr marL="0" indent="0" algn="ctr">
              <a:buNone/>
            </a:pPr>
            <a:r>
              <a:rPr lang="en-US" sz="1200" i="1" dirty="0">
                <a:solidFill>
                  <a:srgbClr val="5C6B62"/>
                </a:solidFill>
                <a:latin typeface="Calibri" pitchFamily="34" charset="0"/>
                <a:ea typeface="Calibri" pitchFamily="34" charset="-122"/>
                <a:cs typeface="Calibri" pitchFamily="34" charset="-120"/>
              </a:rPr>
              <a:t>Cabecera y cuerpo van en Base64URL (no cifrados): cualquiera los lee. Lo que protege al token es la firma.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EL INTERCAMBIO</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Flujo: iniciar sesion una vez, luego Bearer</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640080" y="1371600"/>
            <a:ext cx="2286000" cy="502920"/>
          </a:xfrm>
          <a:prstGeom prst="roundRect">
            <a:avLst>
              <a:gd name="adj" fmla="val 14545"/>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640080" y="1371600"/>
            <a:ext cx="228600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Cliente (Angular / cURL)</a:t>
            </a:r>
            <a:endParaRPr lang="en-US" sz="1150" dirty="0"/>
          </a:p>
        </p:txBody>
      </p:sp>
      <p:sp>
        <p:nvSpPr>
          <p:cNvPr id="8" name="Shape 6"/>
          <p:cNvSpPr/>
          <p:nvPr/>
        </p:nvSpPr>
        <p:spPr>
          <a:xfrm>
            <a:off x="6217920" y="1371600"/>
            <a:ext cx="2286000" cy="502920"/>
          </a:xfrm>
          <a:prstGeom prst="roundRect">
            <a:avLst>
              <a:gd name="adj" fmla="val 14545"/>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217920" y="1371600"/>
            <a:ext cx="228600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API (Spring Boot)</a:t>
            </a:r>
            <a:endParaRPr lang="en-US" sz="1150" dirty="0"/>
          </a:p>
        </p:txBody>
      </p:sp>
      <p:sp>
        <p:nvSpPr>
          <p:cNvPr id="10" name="Shape 8"/>
          <p:cNvSpPr/>
          <p:nvPr/>
        </p:nvSpPr>
        <p:spPr>
          <a:xfrm>
            <a:off x="1783080" y="1874520"/>
            <a:ext cx="0" cy="2697480"/>
          </a:xfrm>
          <a:prstGeom prst="line">
            <a:avLst/>
          </a:prstGeom>
          <a:noFill/>
          <a:ln w="12700">
            <a:solidFill>
              <a:srgbClr val="8A968E"/>
            </a:solidFill>
            <a:prstDash val="dash"/>
          </a:ln>
        </p:spPr>
        <p:txBody>
          <a:bodyPr/>
          <a:lstStyle/>
          <a:p>
            <a:endParaRPr lang="es-ES"/>
          </a:p>
        </p:txBody>
      </p:sp>
      <p:sp>
        <p:nvSpPr>
          <p:cNvPr id="11" name="Shape 9"/>
          <p:cNvSpPr/>
          <p:nvPr/>
        </p:nvSpPr>
        <p:spPr>
          <a:xfrm>
            <a:off x="7360920" y="1874520"/>
            <a:ext cx="0" cy="2697480"/>
          </a:xfrm>
          <a:prstGeom prst="line">
            <a:avLst/>
          </a:prstGeom>
          <a:noFill/>
          <a:ln w="12700">
            <a:solidFill>
              <a:srgbClr val="8A968E"/>
            </a:solidFill>
            <a:prstDash val="dash"/>
          </a:ln>
        </p:spPr>
        <p:txBody>
          <a:bodyPr/>
          <a:lstStyle/>
          <a:p>
            <a:endParaRPr lang="es-ES"/>
          </a:p>
        </p:txBody>
      </p:sp>
      <p:sp>
        <p:nvSpPr>
          <p:cNvPr id="12" name="Shape 10"/>
          <p:cNvSpPr/>
          <p:nvPr/>
        </p:nvSpPr>
        <p:spPr>
          <a:xfrm>
            <a:off x="1828800" y="2286000"/>
            <a:ext cx="5486400" cy="0"/>
          </a:xfrm>
          <a:prstGeom prst="line">
            <a:avLst/>
          </a:prstGeom>
          <a:noFill/>
          <a:ln w="22225">
            <a:solidFill>
              <a:srgbClr val="CC9900"/>
            </a:solidFill>
            <a:prstDash val="solid"/>
            <a:tailEnd type="triangle"/>
          </a:ln>
        </p:spPr>
        <p:txBody>
          <a:bodyPr/>
          <a:lstStyle/>
          <a:p>
            <a:endParaRPr lang="es-ES"/>
          </a:p>
        </p:txBody>
      </p:sp>
      <p:sp>
        <p:nvSpPr>
          <p:cNvPr id="13" name="Text 11"/>
          <p:cNvSpPr/>
          <p:nvPr/>
        </p:nvSpPr>
        <p:spPr>
          <a:xfrm>
            <a:off x="1920240" y="2039112"/>
            <a:ext cx="5303520" cy="237744"/>
          </a:xfrm>
          <a:prstGeom prst="rect">
            <a:avLst/>
          </a:prstGeom>
          <a:noFill/>
          <a:ln/>
        </p:spPr>
        <p:txBody>
          <a:bodyPr wrap="square" lIns="0" tIns="0" rIns="0" bIns="0" rtlCol="0" anchor="ctr"/>
          <a:lstStyle/>
          <a:p>
            <a:pPr marL="0" indent="0" algn="l">
              <a:buNone/>
            </a:pPr>
            <a:r>
              <a:rPr lang="en-US" sz="950" dirty="0">
                <a:solidFill>
                  <a:srgbClr val="1E2A22"/>
                </a:solidFill>
                <a:latin typeface="Courier New" pitchFamily="34" charset="0"/>
                <a:ea typeface="Courier New" pitchFamily="34" charset="-122"/>
                <a:cs typeface="Courier New" pitchFamily="34" charset="-120"/>
              </a:rPr>
              <a:t>POST /api/auth/login   { usuario, clave }</a:t>
            </a:r>
            <a:endParaRPr lang="en-US" sz="950" dirty="0"/>
          </a:p>
        </p:txBody>
      </p:sp>
      <p:sp>
        <p:nvSpPr>
          <p:cNvPr id="14" name="Shape 12"/>
          <p:cNvSpPr/>
          <p:nvPr/>
        </p:nvSpPr>
        <p:spPr>
          <a:xfrm>
            <a:off x="7315200" y="2834640"/>
            <a:ext cx="0" cy="0"/>
          </a:xfrm>
          <a:prstGeom prst="line">
            <a:avLst/>
          </a:prstGeom>
          <a:noFill/>
          <a:ln w="22225">
            <a:solidFill>
              <a:srgbClr val="006633"/>
            </a:solidFill>
            <a:prstDash val="solid"/>
            <a:tailEnd type="triangle"/>
          </a:ln>
        </p:spPr>
        <p:txBody>
          <a:bodyPr/>
          <a:lstStyle/>
          <a:p>
            <a:endParaRPr lang="es-ES"/>
          </a:p>
        </p:txBody>
      </p:sp>
      <p:sp>
        <p:nvSpPr>
          <p:cNvPr id="15" name="Text 13"/>
          <p:cNvSpPr/>
          <p:nvPr/>
        </p:nvSpPr>
        <p:spPr>
          <a:xfrm>
            <a:off x="1920240" y="2587752"/>
            <a:ext cx="5303520" cy="237744"/>
          </a:xfrm>
          <a:prstGeom prst="rect">
            <a:avLst/>
          </a:prstGeom>
          <a:noFill/>
          <a:ln/>
        </p:spPr>
        <p:txBody>
          <a:bodyPr wrap="square" lIns="0" tIns="0" rIns="0" bIns="0" rtlCol="0" anchor="ctr"/>
          <a:lstStyle/>
          <a:p>
            <a:pPr marL="0" indent="0" algn="r">
              <a:buNone/>
            </a:pPr>
            <a:r>
              <a:rPr lang="en-US" sz="950" dirty="0">
                <a:solidFill>
                  <a:srgbClr val="1E2A22"/>
                </a:solidFill>
                <a:latin typeface="Courier New" pitchFamily="34" charset="0"/>
                <a:ea typeface="Courier New" pitchFamily="34" charset="-122"/>
                <a:cs typeface="Courier New" pitchFamily="34" charset="-120"/>
              </a:rPr>
              <a:t>200 OK   { token: eyJ... }</a:t>
            </a:r>
            <a:endParaRPr lang="en-US" sz="950" dirty="0"/>
          </a:p>
        </p:txBody>
      </p:sp>
      <p:sp>
        <p:nvSpPr>
          <p:cNvPr id="16" name="Shape 14"/>
          <p:cNvSpPr/>
          <p:nvPr/>
        </p:nvSpPr>
        <p:spPr>
          <a:xfrm>
            <a:off x="1828800" y="3383280"/>
            <a:ext cx="5486400" cy="0"/>
          </a:xfrm>
          <a:prstGeom prst="line">
            <a:avLst/>
          </a:prstGeom>
          <a:noFill/>
          <a:ln w="22225">
            <a:solidFill>
              <a:srgbClr val="CC9900"/>
            </a:solidFill>
            <a:prstDash val="solid"/>
            <a:tailEnd type="triangle"/>
          </a:ln>
        </p:spPr>
        <p:txBody>
          <a:bodyPr/>
          <a:lstStyle/>
          <a:p>
            <a:endParaRPr lang="es-ES"/>
          </a:p>
        </p:txBody>
      </p:sp>
      <p:sp>
        <p:nvSpPr>
          <p:cNvPr id="17" name="Text 15"/>
          <p:cNvSpPr/>
          <p:nvPr/>
        </p:nvSpPr>
        <p:spPr>
          <a:xfrm>
            <a:off x="1920240" y="3136392"/>
            <a:ext cx="5303520" cy="237744"/>
          </a:xfrm>
          <a:prstGeom prst="rect">
            <a:avLst/>
          </a:prstGeom>
          <a:noFill/>
          <a:ln/>
        </p:spPr>
        <p:txBody>
          <a:bodyPr wrap="square" lIns="0" tIns="0" rIns="0" bIns="0" rtlCol="0" anchor="ctr"/>
          <a:lstStyle/>
          <a:p>
            <a:pPr marL="0" indent="0" algn="l">
              <a:buNone/>
            </a:pPr>
            <a:r>
              <a:rPr lang="en-US" sz="950" dirty="0">
                <a:solidFill>
                  <a:srgbClr val="1E2A22"/>
                </a:solidFill>
                <a:latin typeface="Courier New" pitchFamily="34" charset="0"/>
                <a:ea typeface="Courier New" pitchFamily="34" charset="-122"/>
                <a:cs typeface="Courier New" pitchFamily="34" charset="-120"/>
              </a:rPr>
              <a:t>GET /api/estudiantes   Authorization: Bearer &lt;token&gt;</a:t>
            </a:r>
            <a:endParaRPr lang="en-US" sz="950" dirty="0"/>
          </a:p>
        </p:txBody>
      </p:sp>
      <p:sp>
        <p:nvSpPr>
          <p:cNvPr id="18" name="Text 16"/>
          <p:cNvSpPr/>
          <p:nvPr/>
        </p:nvSpPr>
        <p:spPr>
          <a:xfrm>
            <a:off x="5943600" y="3776472"/>
            <a:ext cx="3108960" cy="274320"/>
          </a:xfrm>
          <a:prstGeom prst="rect">
            <a:avLst/>
          </a:prstGeom>
          <a:noFill/>
          <a:ln/>
        </p:spPr>
        <p:txBody>
          <a:bodyPr wrap="square" lIns="0" tIns="0" rIns="0" bIns="0" rtlCol="0" anchor="ctr"/>
          <a:lstStyle/>
          <a:p>
            <a:pPr marL="0" indent="0" algn="r">
              <a:buNone/>
            </a:pPr>
            <a:r>
              <a:rPr lang="en-US" sz="950" i="1" dirty="0">
                <a:solidFill>
                  <a:srgbClr val="5C6B62"/>
                </a:solidFill>
                <a:latin typeface="Calibri" pitchFamily="34" charset="0"/>
                <a:ea typeface="Calibri" pitchFamily="34" charset="-122"/>
                <a:cs typeface="Calibri" pitchFamily="34" charset="-120"/>
              </a:rPr>
              <a:t>· JwtAuthFilter valida firma + expiracion</a:t>
            </a:r>
            <a:endParaRPr lang="en-US" sz="950" dirty="0"/>
          </a:p>
        </p:txBody>
      </p:sp>
      <p:sp>
        <p:nvSpPr>
          <p:cNvPr id="19" name="Shape 17"/>
          <p:cNvSpPr/>
          <p:nvPr/>
        </p:nvSpPr>
        <p:spPr>
          <a:xfrm>
            <a:off x="7315200" y="4343400"/>
            <a:ext cx="0" cy="0"/>
          </a:xfrm>
          <a:prstGeom prst="line">
            <a:avLst/>
          </a:prstGeom>
          <a:noFill/>
          <a:ln w="22225">
            <a:solidFill>
              <a:srgbClr val="006633"/>
            </a:solidFill>
            <a:prstDash val="solid"/>
            <a:tailEnd type="triangle"/>
          </a:ln>
        </p:spPr>
        <p:txBody>
          <a:bodyPr/>
          <a:lstStyle/>
          <a:p>
            <a:endParaRPr lang="es-ES"/>
          </a:p>
        </p:txBody>
      </p:sp>
      <p:sp>
        <p:nvSpPr>
          <p:cNvPr id="20" name="Text 18"/>
          <p:cNvSpPr/>
          <p:nvPr/>
        </p:nvSpPr>
        <p:spPr>
          <a:xfrm>
            <a:off x="1920240" y="4096512"/>
            <a:ext cx="5303520" cy="237744"/>
          </a:xfrm>
          <a:prstGeom prst="rect">
            <a:avLst/>
          </a:prstGeom>
          <a:noFill/>
          <a:ln/>
        </p:spPr>
        <p:txBody>
          <a:bodyPr wrap="square" lIns="0" tIns="0" rIns="0" bIns="0" rtlCol="0" anchor="ctr"/>
          <a:lstStyle/>
          <a:p>
            <a:pPr marL="0" indent="0" algn="r">
              <a:buNone/>
            </a:pPr>
            <a:r>
              <a:rPr lang="en-US" sz="950" dirty="0">
                <a:solidFill>
                  <a:srgbClr val="1E2A22"/>
                </a:solidFill>
                <a:latin typeface="Courier New" pitchFamily="34" charset="0"/>
                <a:ea typeface="Courier New" pitchFamily="34" charset="-122"/>
                <a:cs typeface="Courier New" pitchFamily="34" charset="-120"/>
              </a:rPr>
              <a:t>200 OK   datos (segun rol)</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VERSIONES DE REFERENCIA</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La pila verificada (junio 2026)</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457200" y="1234440"/>
            <a:ext cx="8229600" cy="457200"/>
          </a:xfrm>
          <a:prstGeom prst="rect">
            <a:avLst/>
          </a:prstGeom>
          <a:noFill/>
          <a:ln/>
        </p:spPr>
        <p:txBody>
          <a:bodyPr wrap="square" lIns="0" tIns="0" rIns="0" bIns="0" rtlCol="0" anchor="ctr"/>
          <a:lstStyle/>
          <a:p>
            <a:pPr marL="0" indent="0">
              <a:buNone/>
            </a:pPr>
            <a:r>
              <a:rPr lang="en-US" sz="1250" i="1" dirty="0">
                <a:solidFill>
                  <a:srgbClr val="5C6B62"/>
                </a:solidFill>
                <a:latin typeface="Calibri" pitchFamily="34" charset="0"/>
                <a:ea typeface="Calibri" pitchFamily="34" charset="-122"/>
                <a:cs typeface="Calibri" pitchFamily="34" charset="-120"/>
              </a:rPr>
              <a:t>La seguridad es donde mas cambian las APIs entre versiones. Spring Security 7 elimino metodos antiguos: mucho codigo de tutoriales viejos ya no compila.</a:t>
            </a:r>
            <a:endParaRPr lang="en-US" sz="1250" dirty="0"/>
          </a:p>
        </p:txBody>
      </p:sp>
      <p:sp>
        <p:nvSpPr>
          <p:cNvPr id="7" name="Shape 5"/>
          <p:cNvSpPr/>
          <p:nvPr/>
        </p:nvSpPr>
        <p:spPr>
          <a:xfrm>
            <a:off x="457200" y="1828800"/>
            <a:ext cx="2926080" cy="384048"/>
          </a:xfrm>
          <a:prstGeom prst="rect">
            <a:avLst/>
          </a:prstGeom>
          <a:solidFill>
            <a:srgbClr val="006633"/>
          </a:solidFill>
          <a:ln w="6350">
            <a:solidFill>
              <a:srgbClr val="D8E0D8"/>
            </a:solidFill>
            <a:prstDash val="solid"/>
          </a:ln>
        </p:spPr>
        <p:txBody>
          <a:bodyPr/>
          <a:lstStyle/>
          <a:p>
            <a:endParaRPr lang="es-ES"/>
          </a:p>
        </p:txBody>
      </p:sp>
      <p:sp>
        <p:nvSpPr>
          <p:cNvPr id="8" name="Text 6"/>
          <p:cNvSpPr/>
          <p:nvPr/>
        </p:nvSpPr>
        <p:spPr>
          <a:xfrm>
            <a:off x="548640" y="1828800"/>
            <a:ext cx="278892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Componente</a:t>
            </a:r>
            <a:endParaRPr lang="en-US" sz="1150" dirty="0"/>
          </a:p>
        </p:txBody>
      </p:sp>
      <p:sp>
        <p:nvSpPr>
          <p:cNvPr id="9" name="Shape 7"/>
          <p:cNvSpPr/>
          <p:nvPr/>
        </p:nvSpPr>
        <p:spPr>
          <a:xfrm>
            <a:off x="3383280" y="1828800"/>
            <a:ext cx="2194560" cy="384048"/>
          </a:xfrm>
          <a:prstGeom prst="rect">
            <a:avLst/>
          </a:prstGeom>
          <a:solidFill>
            <a:srgbClr val="006633"/>
          </a:solidFill>
          <a:ln w="6350">
            <a:solidFill>
              <a:srgbClr val="D8E0D8"/>
            </a:solidFill>
            <a:prstDash val="solid"/>
          </a:ln>
        </p:spPr>
        <p:txBody>
          <a:bodyPr/>
          <a:lstStyle/>
          <a:p>
            <a:endParaRPr lang="es-ES"/>
          </a:p>
        </p:txBody>
      </p:sp>
      <p:sp>
        <p:nvSpPr>
          <p:cNvPr id="10" name="Text 8"/>
          <p:cNvSpPr/>
          <p:nvPr/>
        </p:nvSpPr>
        <p:spPr>
          <a:xfrm>
            <a:off x="3474720" y="1828800"/>
            <a:ext cx="205740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Version</a:t>
            </a:r>
            <a:endParaRPr lang="en-US" sz="1150" dirty="0"/>
          </a:p>
        </p:txBody>
      </p:sp>
      <p:sp>
        <p:nvSpPr>
          <p:cNvPr id="11" name="Shape 9"/>
          <p:cNvSpPr/>
          <p:nvPr/>
        </p:nvSpPr>
        <p:spPr>
          <a:xfrm>
            <a:off x="5577840" y="1828800"/>
            <a:ext cx="3108960" cy="384048"/>
          </a:xfrm>
          <a:prstGeom prst="rect">
            <a:avLst/>
          </a:prstGeom>
          <a:solidFill>
            <a:srgbClr val="006633"/>
          </a:solidFill>
          <a:ln w="6350">
            <a:solidFill>
              <a:srgbClr val="D8E0D8"/>
            </a:solidFill>
            <a:prstDash val="solid"/>
          </a:ln>
        </p:spPr>
        <p:txBody>
          <a:bodyPr/>
          <a:lstStyle/>
          <a:p>
            <a:endParaRPr lang="es-ES"/>
          </a:p>
        </p:txBody>
      </p:sp>
      <p:sp>
        <p:nvSpPr>
          <p:cNvPr id="12" name="Text 10"/>
          <p:cNvSpPr/>
          <p:nvPr/>
        </p:nvSpPr>
        <p:spPr>
          <a:xfrm>
            <a:off x="5669280" y="1828800"/>
            <a:ext cx="297180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Rol en la seguridad</a:t>
            </a:r>
            <a:endParaRPr lang="en-US" sz="1150" dirty="0"/>
          </a:p>
        </p:txBody>
      </p:sp>
      <p:sp>
        <p:nvSpPr>
          <p:cNvPr id="13" name="Shape 11"/>
          <p:cNvSpPr/>
          <p:nvPr/>
        </p:nvSpPr>
        <p:spPr>
          <a:xfrm>
            <a:off x="457200" y="2212848"/>
            <a:ext cx="2926080" cy="384048"/>
          </a:xfrm>
          <a:prstGeom prst="rect">
            <a:avLst/>
          </a:prstGeom>
          <a:solidFill>
            <a:srgbClr val="F1F4F0"/>
          </a:solidFill>
          <a:ln w="6350">
            <a:solidFill>
              <a:srgbClr val="D8E0D8"/>
            </a:solidFill>
            <a:prstDash val="solid"/>
          </a:ln>
        </p:spPr>
        <p:txBody>
          <a:bodyPr/>
          <a:lstStyle/>
          <a:p>
            <a:endParaRPr lang="es-ES"/>
          </a:p>
        </p:txBody>
      </p:sp>
      <p:sp>
        <p:nvSpPr>
          <p:cNvPr id="14" name="Text 12"/>
          <p:cNvSpPr/>
          <p:nvPr/>
        </p:nvSpPr>
        <p:spPr>
          <a:xfrm>
            <a:off x="548640" y="2212848"/>
            <a:ext cx="2788920" cy="384048"/>
          </a:xfrm>
          <a:prstGeom prst="rect">
            <a:avLst/>
          </a:prstGeom>
          <a:noFill/>
          <a:ln/>
        </p:spPr>
        <p:txBody>
          <a:bodyPr wrap="square" lIns="0" tIns="0" rIns="0" bIns="0"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Spring Boot</a:t>
            </a:r>
            <a:endParaRPr lang="en-US" sz="1100" dirty="0"/>
          </a:p>
        </p:txBody>
      </p:sp>
      <p:sp>
        <p:nvSpPr>
          <p:cNvPr id="15" name="Shape 13"/>
          <p:cNvSpPr/>
          <p:nvPr/>
        </p:nvSpPr>
        <p:spPr>
          <a:xfrm>
            <a:off x="3383280" y="2212848"/>
            <a:ext cx="2194560" cy="384048"/>
          </a:xfrm>
          <a:prstGeom prst="rect">
            <a:avLst/>
          </a:prstGeom>
          <a:solidFill>
            <a:srgbClr val="F1F4F0"/>
          </a:solidFill>
          <a:ln w="6350">
            <a:solidFill>
              <a:srgbClr val="D8E0D8"/>
            </a:solidFill>
            <a:prstDash val="solid"/>
          </a:ln>
        </p:spPr>
        <p:txBody>
          <a:bodyPr/>
          <a:lstStyle/>
          <a:p>
            <a:endParaRPr lang="es-ES"/>
          </a:p>
        </p:txBody>
      </p:sp>
      <p:sp>
        <p:nvSpPr>
          <p:cNvPr id="16" name="Text 14"/>
          <p:cNvSpPr/>
          <p:nvPr/>
        </p:nvSpPr>
        <p:spPr>
          <a:xfrm>
            <a:off x="3474720" y="2212848"/>
            <a:ext cx="2057400" cy="384048"/>
          </a:xfrm>
          <a:prstGeom prst="rect">
            <a:avLst/>
          </a:prstGeom>
          <a:noFill/>
          <a:ln/>
        </p:spPr>
        <p:txBody>
          <a:bodyPr wrap="square" lIns="0" tIns="0" rIns="0" bIns="0" rtlCol="0" anchor="ctr"/>
          <a:lstStyle/>
          <a:p>
            <a:pPr marL="0" indent="0">
              <a:buNone/>
            </a:pPr>
            <a:r>
              <a:rPr lang="en-US" sz="1100" dirty="0">
                <a:solidFill>
                  <a:srgbClr val="1E2A22"/>
                </a:solidFill>
                <a:latin typeface="Courier New" pitchFamily="34" charset="0"/>
                <a:ea typeface="Courier New" pitchFamily="34" charset="-122"/>
                <a:cs typeface="Courier New" pitchFamily="34" charset="-120"/>
              </a:rPr>
              <a:t>4.1.0</a:t>
            </a:r>
            <a:endParaRPr lang="en-US" sz="1100" dirty="0"/>
          </a:p>
        </p:txBody>
      </p:sp>
      <p:sp>
        <p:nvSpPr>
          <p:cNvPr id="17" name="Shape 15"/>
          <p:cNvSpPr/>
          <p:nvPr/>
        </p:nvSpPr>
        <p:spPr>
          <a:xfrm>
            <a:off x="5577840" y="2212848"/>
            <a:ext cx="3108960" cy="384048"/>
          </a:xfrm>
          <a:prstGeom prst="rect">
            <a:avLst/>
          </a:prstGeom>
          <a:solidFill>
            <a:srgbClr val="F1F4F0"/>
          </a:solidFill>
          <a:ln w="6350">
            <a:solidFill>
              <a:srgbClr val="D8E0D8"/>
            </a:solidFill>
            <a:prstDash val="solid"/>
          </a:ln>
        </p:spPr>
        <p:txBody>
          <a:bodyPr/>
          <a:lstStyle/>
          <a:p>
            <a:endParaRPr lang="es-ES"/>
          </a:p>
        </p:txBody>
      </p:sp>
      <p:sp>
        <p:nvSpPr>
          <p:cNvPr id="18" name="Text 16"/>
          <p:cNvSpPr/>
          <p:nvPr/>
        </p:nvSpPr>
        <p:spPr>
          <a:xfrm>
            <a:off x="5669280" y="2212848"/>
            <a:ext cx="2971800" cy="384048"/>
          </a:xfrm>
          <a:prstGeom prst="rect">
            <a:avLst/>
          </a:prstGeom>
          <a:noFill/>
          <a:ln/>
        </p:spPr>
        <p:txBody>
          <a:bodyPr wrap="square" lIns="0" tIns="0" rIns="0" bIns="0" rtlCol="0" anchor="ctr"/>
          <a:lstStyle/>
          <a:p>
            <a:pPr marL="0" indent="0">
              <a:buNone/>
            </a:pPr>
            <a:r>
              <a:rPr lang="en-US" sz="1100" dirty="0">
                <a:solidFill>
                  <a:srgbClr val="1E2A22"/>
                </a:solidFill>
                <a:latin typeface="Calibri" pitchFamily="34" charset="0"/>
                <a:ea typeface="Calibri" pitchFamily="34" charset="-122"/>
                <a:cs typeface="Calibri" pitchFamily="34" charset="-120"/>
              </a:rPr>
              <a:t>Arranque y autoconfiguracion</a:t>
            </a:r>
            <a:endParaRPr lang="en-US" sz="1100" dirty="0"/>
          </a:p>
        </p:txBody>
      </p:sp>
      <p:sp>
        <p:nvSpPr>
          <p:cNvPr id="19" name="Shape 17"/>
          <p:cNvSpPr/>
          <p:nvPr/>
        </p:nvSpPr>
        <p:spPr>
          <a:xfrm>
            <a:off x="457200" y="2596896"/>
            <a:ext cx="2926080" cy="384048"/>
          </a:xfrm>
          <a:prstGeom prst="rect">
            <a:avLst/>
          </a:prstGeom>
          <a:solidFill>
            <a:srgbClr val="FFFFFF"/>
          </a:solidFill>
          <a:ln w="6350">
            <a:solidFill>
              <a:srgbClr val="D8E0D8"/>
            </a:solidFill>
            <a:prstDash val="solid"/>
          </a:ln>
        </p:spPr>
        <p:txBody>
          <a:bodyPr/>
          <a:lstStyle/>
          <a:p>
            <a:endParaRPr lang="es-ES"/>
          </a:p>
        </p:txBody>
      </p:sp>
      <p:sp>
        <p:nvSpPr>
          <p:cNvPr id="20" name="Text 18"/>
          <p:cNvSpPr/>
          <p:nvPr/>
        </p:nvSpPr>
        <p:spPr>
          <a:xfrm>
            <a:off x="548640" y="2596896"/>
            <a:ext cx="2788920" cy="384048"/>
          </a:xfrm>
          <a:prstGeom prst="rect">
            <a:avLst/>
          </a:prstGeom>
          <a:noFill/>
          <a:ln/>
        </p:spPr>
        <p:txBody>
          <a:bodyPr wrap="square" lIns="0" tIns="0" rIns="0" bIns="0"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Spring Security</a:t>
            </a:r>
            <a:endParaRPr lang="en-US" sz="1100" dirty="0"/>
          </a:p>
        </p:txBody>
      </p:sp>
      <p:sp>
        <p:nvSpPr>
          <p:cNvPr id="21" name="Shape 19"/>
          <p:cNvSpPr/>
          <p:nvPr/>
        </p:nvSpPr>
        <p:spPr>
          <a:xfrm>
            <a:off x="3383280" y="2596896"/>
            <a:ext cx="2194560" cy="384048"/>
          </a:xfrm>
          <a:prstGeom prst="rect">
            <a:avLst/>
          </a:prstGeom>
          <a:solidFill>
            <a:srgbClr val="FFFFFF"/>
          </a:solidFill>
          <a:ln w="6350">
            <a:solidFill>
              <a:srgbClr val="D8E0D8"/>
            </a:solidFill>
            <a:prstDash val="solid"/>
          </a:ln>
        </p:spPr>
        <p:txBody>
          <a:bodyPr/>
          <a:lstStyle/>
          <a:p>
            <a:endParaRPr lang="es-ES"/>
          </a:p>
        </p:txBody>
      </p:sp>
      <p:sp>
        <p:nvSpPr>
          <p:cNvPr id="22" name="Text 20"/>
          <p:cNvSpPr/>
          <p:nvPr/>
        </p:nvSpPr>
        <p:spPr>
          <a:xfrm>
            <a:off x="3474720" y="2596896"/>
            <a:ext cx="2057400" cy="384048"/>
          </a:xfrm>
          <a:prstGeom prst="rect">
            <a:avLst/>
          </a:prstGeom>
          <a:noFill/>
          <a:ln/>
        </p:spPr>
        <p:txBody>
          <a:bodyPr wrap="square" lIns="0" tIns="0" rIns="0" bIns="0" rtlCol="0" anchor="ctr"/>
          <a:lstStyle/>
          <a:p>
            <a:pPr marL="0" indent="0">
              <a:buNone/>
            </a:pPr>
            <a:r>
              <a:rPr lang="en-US" sz="1100" dirty="0">
                <a:solidFill>
                  <a:srgbClr val="1E2A22"/>
                </a:solidFill>
                <a:latin typeface="Courier New" pitchFamily="34" charset="0"/>
                <a:ea typeface="Courier New" pitchFamily="34" charset="-122"/>
                <a:cs typeface="Courier New" pitchFamily="34" charset="-120"/>
              </a:rPr>
              <a:t>7.1</a:t>
            </a:r>
            <a:endParaRPr lang="en-US" sz="1100" dirty="0"/>
          </a:p>
        </p:txBody>
      </p:sp>
      <p:sp>
        <p:nvSpPr>
          <p:cNvPr id="23" name="Shape 21"/>
          <p:cNvSpPr/>
          <p:nvPr/>
        </p:nvSpPr>
        <p:spPr>
          <a:xfrm>
            <a:off x="5577840" y="2596896"/>
            <a:ext cx="3108960" cy="384048"/>
          </a:xfrm>
          <a:prstGeom prst="rect">
            <a:avLst/>
          </a:prstGeom>
          <a:solidFill>
            <a:srgbClr val="FFFFFF"/>
          </a:solidFill>
          <a:ln w="6350">
            <a:solidFill>
              <a:srgbClr val="D8E0D8"/>
            </a:solidFill>
            <a:prstDash val="solid"/>
          </a:ln>
        </p:spPr>
        <p:txBody>
          <a:bodyPr/>
          <a:lstStyle/>
          <a:p>
            <a:endParaRPr lang="es-ES"/>
          </a:p>
        </p:txBody>
      </p:sp>
      <p:sp>
        <p:nvSpPr>
          <p:cNvPr id="24" name="Text 22"/>
          <p:cNvSpPr/>
          <p:nvPr/>
        </p:nvSpPr>
        <p:spPr>
          <a:xfrm>
            <a:off x="5669280" y="2596896"/>
            <a:ext cx="2971800" cy="384048"/>
          </a:xfrm>
          <a:prstGeom prst="rect">
            <a:avLst/>
          </a:prstGeom>
          <a:noFill/>
          <a:ln/>
        </p:spPr>
        <p:txBody>
          <a:bodyPr wrap="square" lIns="0" tIns="0" rIns="0" bIns="0" rtlCol="0" anchor="ctr"/>
          <a:lstStyle/>
          <a:p>
            <a:pPr marL="0" indent="0">
              <a:buNone/>
            </a:pPr>
            <a:r>
              <a:rPr lang="en-US" sz="1100" dirty="0">
                <a:solidFill>
                  <a:srgbClr val="1E2A22"/>
                </a:solidFill>
                <a:latin typeface="Calibri" pitchFamily="34" charset="0"/>
                <a:ea typeface="Calibri" pitchFamily="34" charset="-122"/>
                <a:cs typeface="Calibri" pitchFamily="34" charset="-120"/>
              </a:rPr>
              <a:t>Filtros, autenticacion, autorizacion</a:t>
            </a:r>
            <a:endParaRPr lang="en-US" sz="1100" dirty="0"/>
          </a:p>
        </p:txBody>
      </p:sp>
      <p:sp>
        <p:nvSpPr>
          <p:cNvPr id="25" name="Shape 23"/>
          <p:cNvSpPr/>
          <p:nvPr/>
        </p:nvSpPr>
        <p:spPr>
          <a:xfrm>
            <a:off x="457200" y="2980944"/>
            <a:ext cx="2926080" cy="384048"/>
          </a:xfrm>
          <a:prstGeom prst="rect">
            <a:avLst/>
          </a:prstGeom>
          <a:solidFill>
            <a:srgbClr val="F1F4F0"/>
          </a:solidFill>
          <a:ln w="6350">
            <a:solidFill>
              <a:srgbClr val="D8E0D8"/>
            </a:solidFill>
            <a:prstDash val="solid"/>
          </a:ln>
        </p:spPr>
        <p:txBody>
          <a:bodyPr/>
          <a:lstStyle/>
          <a:p>
            <a:endParaRPr lang="es-ES"/>
          </a:p>
        </p:txBody>
      </p:sp>
      <p:sp>
        <p:nvSpPr>
          <p:cNvPr id="26" name="Text 24"/>
          <p:cNvSpPr/>
          <p:nvPr/>
        </p:nvSpPr>
        <p:spPr>
          <a:xfrm>
            <a:off x="548640" y="2980944"/>
            <a:ext cx="2788920" cy="384048"/>
          </a:xfrm>
          <a:prstGeom prst="rect">
            <a:avLst/>
          </a:prstGeom>
          <a:noFill/>
          <a:ln/>
        </p:spPr>
        <p:txBody>
          <a:bodyPr wrap="square" lIns="0" tIns="0" rIns="0" bIns="0"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JJWT (io.jsonwebtoken)</a:t>
            </a:r>
            <a:endParaRPr lang="en-US" sz="1100" dirty="0"/>
          </a:p>
        </p:txBody>
      </p:sp>
      <p:sp>
        <p:nvSpPr>
          <p:cNvPr id="27" name="Shape 25"/>
          <p:cNvSpPr/>
          <p:nvPr/>
        </p:nvSpPr>
        <p:spPr>
          <a:xfrm>
            <a:off x="3383280" y="2980944"/>
            <a:ext cx="2194560" cy="384048"/>
          </a:xfrm>
          <a:prstGeom prst="rect">
            <a:avLst/>
          </a:prstGeom>
          <a:solidFill>
            <a:srgbClr val="F1F4F0"/>
          </a:solidFill>
          <a:ln w="6350">
            <a:solidFill>
              <a:srgbClr val="D8E0D8"/>
            </a:solidFill>
            <a:prstDash val="solid"/>
          </a:ln>
        </p:spPr>
        <p:txBody>
          <a:bodyPr/>
          <a:lstStyle/>
          <a:p>
            <a:endParaRPr lang="es-ES"/>
          </a:p>
        </p:txBody>
      </p:sp>
      <p:sp>
        <p:nvSpPr>
          <p:cNvPr id="28" name="Text 26"/>
          <p:cNvSpPr/>
          <p:nvPr/>
        </p:nvSpPr>
        <p:spPr>
          <a:xfrm>
            <a:off x="3474720" y="2980944"/>
            <a:ext cx="2057400" cy="384048"/>
          </a:xfrm>
          <a:prstGeom prst="rect">
            <a:avLst/>
          </a:prstGeom>
          <a:noFill/>
          <a:ln/>
        </p:spPr>
        <p:txBody>
          <a:bodyPr wrap="square" lIns="0" tIns="0" rIns="0" bIns="0" rtlCol="0" anchor="ctr"/>
          <a:lstStyle/>
          <a:p>
            <a:pPr marL="0" indent="0">
              <a:buNone/>
            </a:pPr>
            <a:r>
              <a:rPr lang="en-US" sz="1100" dirty="0">
                <a:solidFill>
                  <a:srgbClr val="1E2A22"/>
                </a:solidFill>
                <a:latin typeface="Courier New" pitchFamily="34" charset="0"/>
                <a:ea typeface="Courier New" pitchFamily="34" charset="-122"/>
                <a:cs typeface="Courier New" pitchFamily="34" charset="-120"/>
              </a:rPr>
              <a:t>0.13.0</a:t>
            </a:r>
            <a:endParaRPr lang="en-US" sz="1100" dirty="0"/>
          </a:p>
        </p:txBody>
      </p:sp>
      <p:sp>
        <p:nvSpPr>
          <p:cNvPr id="29" name="Shape 27"/>
          <p:cNvSpPr/>
          <p:nvPr/>
        </p:nvSpPr>
        <p:spPr>
          <a:xfrm>
            <a:off x="5577840" y="2980944"/>
            <a:ext cx="3108960" cy="384048"/>
          </a:xfrm>
          <a:prstGeom prst="rect">
            <a:avLst/>
          </a:prstGeom>
          <a:solidFill>
            <a:srgbClr val="F1F4F0"/>
          </a:solidFill>
          <a:ln w="6350">
            <a:solidFill>
              <a:srgbClr val="D8E0D8"/>
            </a:solidFill>
            <a:prstDash val="solid"/>
          </a:ln>
        </p:spPr>
        <p:txBody>
          <a:bodyPr/>
          <a:lstStyle/>
          <a:p>
            <a:endParaRPr lang="es-ES"/>
          </a:p>
        </p:txBody>
      </p:sp>
      <p:sp>
        <p:nvSpPr>
          <p:cNvPr id="30" name="Text 28"/>
          <p:cNvSpPr/>
          <p:nvPr/>
        </p:nvSpPr>
        <p:spPr>
          <a:xfrm>
            <a:off x="5669280" y="2980944"/>
            <a:ext cx="2971800" cy="384048"/>
          </a:xfrm>
          <a:prstGeom prst="rect">
            <a:avLst/>
          </a:prstGeom>
          <a:noFill/>
          <a:ln/>
        </p:spPr>
        <p:txBody>
          <a:bodyPr wrap="square" lIns="0" tIns="0" rIns="0" bIns="0" rtlCol="0" anchor="ctr"/>
          <a:lstStyle/>
          <a:p>
            <a:pPr marL="0" indent="0">
              <a:buNone/>
            </a:pPr>
            <a:r>
              <a:rPr lang="en-US" sz="1100" dirty="0">
                <a:solidFill>
                  <a:srgbClr val="1E2A22"/>
                </a:solidFill>
                <a:latin typeface="Calibri" pitchFamily="34" charset="0"/>
                <a:ea typeface="Calibri" pitchFamily="34" charset="-122"/>
                <a:cs typeface="Calibri" pitchFamily="34" charset="-120"/>
              </a:rPr>
              <a:t>Construye y verifica los tokens</a:t>
            </a:r>
            <a:endParaRPr lang="en-US" sz="1100" dirty="0"/>
          </a:p>
        </p:txBody>
      </p:sp>
      <p:sp>
        <p:nvSpPr>
          <p:cNvPr id="31" name="Shape 29"/>
          <p:cNvSpPr/>
          <p:nvPr/>
        </p:nvSpPr>
        <p:spPr>
          <a:xfrm>
            <a:off x="457200" y="3364992"/>
            <a:ext cx="2926080" cy="384048"/>
          </a:xfrm>
          <a:prstGeom prst="rect">
            <a:avLst/>
          </a:prstGeom>
          <a:solidFill>
            <a:srgbClr val="FFFFFF"/>
          </a:solidFill>
          <a:ln w="6350">
            <a:solidFill>
              <a:srgbClr val="D8E0D8"/>
            </a:solidFill>
            <a:prstDash val="solid"/>
          </a:ln>
        </p:spPr>
        <p:txBody>
          <a:bodyPr/>
          <a:lstStyle/>
          <a:p>
            <a:endParaRPr lang="es-ES"/>
          </a:p>
        </p:txBody>
      </p:sp>
      <p:sp>
        <p:nvSpPr>
          <p:cNvPr id="32" name="Text 30"/>
          <p:cNvSpPr/>
          <p:nvPr/>
        </p:nvSpPr>
        <p:spPr>
          <a:xfrm>
            <a:off x="548640" y="3364992"/>
            <a:ext cx="2788920" cy="384048"/>
          </a:xfrm>
          <a:prstGeom prst="rect">
            <a:avLst/>
          </a:prstGeom>
          <a:noFill/>
          <a:ln/>
        </p:spPr>
        <p:txBody>
          <a:bodyPr wrap="square" lIns="0" tIns="0" rIns="0" bIns="0"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Java</a:t>
            </a:r>
            <a:endParaRPr lang="en-US" sz="1100" dirty="0"/>
          </a:p>
        </p:txBody>
      </p:sp>
      <p:sp>
        <p:nvSpPr>
          <p:cNvPr id="33" name="Shape 31"/>
          <p:cNvSpPr/>
          <p:nvPr/>
        </p:nvSpPr>
        <p:spPr>
          <a:xfrm>
            <a:off x="3383280" y="3364992"/>
            <a:ext cx="2194560" cy="384048"/>
          </a:xfrm>
          <a:prstGeom prst="rect">
            <a:avLst/>
          </a:prstGeom>
          <a:solidFill>
            <a:srgbClr val="FFFFFF"/>
          </a:solidFill>
          <a:ln w="6350">
            <a:solidFill>
              <a:srgbClr val="D8E0D8"/>
            </a:solidFill>
            <a:prstDash val="solid"/>
          </a:ln>
        </p:spPr>
        <p:txBody>
          <a:bodyPr/>
          <a:lstStyle/>
          <a:p>
            <a:endParaRPr lang="es-ES"/>
          </a:p>
        </p:txBody>
      </p:sp>
      <p:sp>
        <p:nvSpPr>
          <p:cNvPr id="34" name="Text 32"/>
          <p:cNvSpPr/>
          <p:nvPr/>
        </p:nvSpPr>
        <p:spPr>
          <a:xfrm>
            <a:off x="3474720" y="3364992"/>
            <a:ext cx="2057400" cy="384048"/>
          </a:xfrm>
          <a:prstGeom prst="rect">
            <a:avLst/>
          </a:prstGeom>
          <a:noFill/>
          <a:ln/>
        </p:spPr>
        <p:txBody>
          <a:bodyPr wrap="square" lIns="0" tIns="0" rIns="0" bIns="0" rtlCol="0" anchor="ctr"/>
          <a:lstStyle/>
          <a:p>
            <a:pPr marL="0" indent="0">
              <a:buNone/>
            </a:pPr>
            <a:r>
              <a:rPr lang="en-US" sz="1100" dirty="0">
                <a:solidFill>
                  <a:srgbClr val="1E2A22"/>
                </a:solidFill>
                <a:latin typeface="Courier New" pitchFamily="34" charset="0"/>
                <a:ea typeface="Courier New" pitchFamily="34" charset="-122"/>
                <a:cs typeface="Courier New" pitchFamily="34" charset="-120"/>
              </a:rPr>
              <a:t>25 LTS (o 21 LTS)</a:t>
            </a:r>
            <a:endParaRPr lang="en-US" sz="1100" dirty="0"/>
          </a:p>
        </p:txBody>
      </p:sp>
      <p:sp>
        <p:nvSpPr>
          <p:cNvPr id="35" name="Shape 33"/>
          <p:cNvSpPr/>
          <p:nvPr/>
        </p:nvSpPr>
        <p:spPr>
          <a:xfrm>
            <a:off x="5577840" y="3364992"/>
            <a:ext cx="3108960" cy="384048"/>
          </a:xfrm>
          <a:prstGeom prst="rect">
            <a:avLst/>
          </a:prstGeom>
          <a:solidFill>
            <a:srgbClr val="FFFFFF"/>
          </a:solidFill>
          <a:ln w="6350">
            <a:solidFill>
              <a:srgbClr val="D8E0D8"/>
            </a:solidFill>
            <a:prstDash val="solid"/>
          </a:ln>
        </p:spPr>
        <p:txBody>
          <a:bodyPr/>
          <a:lstStyle/>
          <a:p>
            <a:endParaRPr lang="es-ES"/>
          </a:p>
        </p:txBody>
      </p:sp>
      <p:sp>
        <p:nvSpPr>
          <p:cNvPr id="36" name="Text 34"/>
          <p:cNvSpPr/>
          <p:nvPr/>
        </p:nvSpPr>
        <p:spPr>
          <a:xfrm>
            <a:off x="5669280" y="3364992"/>
            <a:ext cx="2971800" cy="384048"/>
          </a:xfrm>
          <a:prstGeom prst="rect">
            <a:avLst/>
          </a:prstGeom>
          <a:noFill/>
          <a:ln/>
        </p:spPr>
        <p:txBody>
          <a:bodyPr wrap="square" lIns="0" tIns="0" rIns="0" bIns="0" rtlCol="0" anchor="ctr"/>
          <a:lstStyle/>
          <a:p>
            <a:pPr marL="0" indent="0">
              <a:buNone/>
            </a:pPr>
            <a:r>
              <a:rPr lang="en-US" sz="1100" dirty="0">
                <a:solidFill>
                  <a:srgbClr val="1E2A22"/>
                </a:solidFill>
                <a:latin typeface="Calibri" pitchFamily="34" charset="0"/>
                <a:ea typeface="Calibri" pitchFamily="34" charset="-122"/>
                <a:cs typeface="Calibri" pitchFamily="34" charset="-120"/>
              </a:rPr>
              <a:t>Lenguaje y maquina virtual</a:t>
            </a:r>
            <a:endParaRPr lang="en-US" sz="1100" dirty="0"/>
          </a:p>
        </p:txBody>
      </p:sp>
      <p:sp>
        <p:nvSpPr>
          <p:cNvPr id="37" name="Shape 35"/>
          <p:cNvSpPr/>
          <p:nvPr/>
        </p:nvSpPr>
        <p:spPr>
          <a:xfrm>
            <a:off x="457200" y="3749040"/>
            <a:ext cx="2926080" cy="384048"/>
          </a:xfrm>
          <a:prstGeom prst="rect">
            <a:avLst/>
          </a:prstGeom>
          <a:solidFill>
            <a:srgbClr val="F1F4F0"/>
          </a:solidFill>
          <a:ln w="6350">
            <a:solidFill>
              <a:srgbClr val="D8E0D8"/>
            </a:solidFill>
            <a:prstDash val="solid"/>
          </a:ln>
        </p:spPr>
        <p:txBody>
          <a:bodyPr/>
          <a:lstStyle/>
          <a:p>
            <a:endParaRPr lang="es-ES"/>
          </a:p>
        </p:txBody>
      </p:sp>
      <p:sp>
        <p:nvSpPr>
          <p:cNvPr id="38" name="Text 36"/>
          <p:cNvSpPr/>
          <p:nvPr/>
        </p:nvSpPr>
        <p:spPr>
          <a:xfrm>
            <a:off x="548640" y="3749040"/>
            <a:ext cx="2788920" cy="384048"/>
          </a:xfrm>
          <a:prstGeom prst="rect">
            <a:avLst/>
          </a:prstGeom>
          <a:noFill/>
          <a:ln/>
        </p:spPr>
        <p:txBody>
          <a:bodyPr wrap="square" lIns="0" tIns="0" rIns="0" bIns="0"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PostgreSQL</a:t>
            </a:r>
            <a:endParaRPr lang="en-US" sz="1100" dirty="0"/>
          </a:p>
        </p:txBody>
      </p:sp>
      <p:sp>
        <p:nvSpPr>
          <p:cNvPr id="39" name="Shape 37"/>
          <p:cNvSpPr/>
          <p:nvPr/>
        </p:nvSpPr>
        <p:spPr>
          <a:xfrm>
            <a:off x="3383280" y="3749040"/>
            <a:ext cx="2194560" cy="384048"/>
          </a:xfrm>
          <a:prstGeom prst="rect">
            <a:avLst/>
          </a:prstGeom>
          <a:solidFill>
            <a:srgbClr val="F1F4F0"/>
          </a:solidFill>
          <a:ln w="6350">
            <a:solidFill>
              <a:srgbClr val="D8E0D8"/>
            </a:solidFill>
            <a:prstDash val="solid"/>
          </a:ln>
        </p:spPr>
        <p:txBody>
          <a:bodyPr/>
          <a:lstStyle/>
          <a:p>
            <a:endParaRPr lang="es-ES"/>
          </a:p>
        </p:txBody>
      </p:sp>
      <p:sp>
        <p:nvSpPr>
          <p:cNvPr id="40" name="Text 38"/>
          <p:cNvSpPr/>
          <p:nvPr/>
        </p:nvSpPr>
        <p:spPr>
          <a:xfrm>
            <a:off x="3474720" y="3749040"/>
            <a:ext cx="2057400" cy="384048"/>
          </a:xfrm>
          <a:prstGeom prst="rect">
            <a:avLst/>
          </a:prstGeom>
          <a:noFill/>
          <a:ln/>
        </p:spPr>
        <p:txBody>
          <a:bodyPr wrap="square" lIns="0" tIns="0" rIns="0" bIns="0" rtlCol="0" anchor="ctr"/>
          <a:lstStyle/>
          <a:p>
            <a:pPr marL="0" indent="0">
              <a:buNone/>
            </a:pPr>
            <a:r>
              <a:rPr lang="en-US" sz="1100" dirty="0">
                <a:solidFill>
                  <a:srgbClr val="1E2A22"/>
                </a:solidFill>
                <a:latin typeface="Courier New" pitchFamily="34" charset="0"/>
                <a:ea typeface="Courier New" pitchFamily="34" charset="-122"/>
                <a:cs typeface="Courier New" pitchFamily="34" charset="-120"/>
              </a:rPr>
              <a:t>18</a:t>
            </a:r>
            <a:endParaRPr lang="en-US" sz="1100" dirty="0"/>
          </a:p>
        </p:txBody>
      </p:sp>
      <p:sp>
        <p:nvSpPr>
          <p:cNvPr id="41" name="Shape 39"/>
          <p:cNvSpPr/>
          <p:nvPr/>
        </p:nvSpPr>
        <p:spPr>
          <a:xfrm>
            <a:off x="5577840" y="3749040"/>
            <a:ext cx="3108960" cy="384048"/>
          </a:xfrm>
          <a:prstGeom prst="rect">
            <a:avLst/>
          </a:prstGeom>
          <a:solidFill>
            <a:srgbClr val="F1F4F0"/>
          </a:solidFill>
          <a:ln w="6350">
            <a:solidFill>
              <a:srgbClr val="D8E0D8"/>
            </a:solidFill>
            <a:prstDash val="solid"/>
          </a:ln>
        </p:spPr>
        <p:txBody>
          <a:bodyPr/>
          <a:lstStyle/>
          <a:p>
            <a:endParaRPr lang="es-ES"/>
          </a:p>
        </p:txBody>
      </p:sp>
      <p:sp>
        <p:nvSpPr>
          <p:cNvPr id="42" name="Text 40"/>
          <p:cNvSpPr/>
          <p:nvPr/>
        </p:nvSpPr>
        <p:spPr>
          <a:xfrm>
            <a:off x="5669280" y="3749040"/>
            <a:ext cx="2971800" cy="384048"/>
          </a:xfrm>
          <a:prstGeom prst="rect">
            <a:avLst/>
          </a:prstGeom>
          <a:noFill/>
          <a:ln/>
        </p:spPr>
        <p:txBody>
          <a:bodyPr wrap="square" lIns="0" tIns="0" rIns="0" bIns="0" rtlCol="0" anchor="ctr"/>
          <a:lstStyle/>
          <a:p>
            <a:pPr marL="0" indent="0">
              <a:buNone/>
            </a:pPr>
            <a:r>
              <a:rPr lang="en-US" sz="1100" dirty="0">
                <a:solidFill>
                  <a:srgbClr val="1E2A22"/>
                </a:solidFill>
                <a:latin typeface="Calibri" pitchFamily="34" charset="0"/>
                <a:ea typeface="Calibri" pitchFamily="34" charset="-122"/>
                <a:cs typeface="Calibri" pitchFamily="34" charset="-120"/>
              </a:rPr>
              <a:t>Almacena usuarios y roles</a:t>
            </a:r>
            <a:endParaRPr lang="en-US" sz="1100" dirty="0"/>
          </a:p>
        </p:txBody>
      </p:sp>
      <p:sp>
        <p:nvSpPr>
          <p:cNvPr id="43" name="Shape 41"/>
          <p:cNvSpPr/>
          <p:nvPr/>
        </p:nvSpPr>
        <p:spPr>
          <a:xfrm>
            <a:off x="457200" y="4133088"/>
            <a:ext cx="2926080" cy="384048"/>
          </a:xfrm>
          <a:prstGeom prst="rect">
            <a:avLst/>
          </a:prstGeom>
          <a:solidFill>
            <a:srgbClr val="FFFFFF"/>
          </a:solidFill>
          <a:ln w="6350">
            <a:solidFill>
              <a:srgbClr val="D8E0D8"/>
            </a:solidFill>
            <a:prstDash val="solid"/>
          </a:ln>
        </p:spPr>
        <p:txBody>
          <a:bodyPr/>
          <a:lstStyle/>
          <a:p>
            <a:endParaRPr lang="es-ES"/>
          </a:p>
        </p:txBody>
      </p:sp>
      <p:sp>
        <p:nvSpPr>
          <p:cNvPr id="44" name="Text 42"/>
          <p:cNvSpPr/>
          <p:nvPr/>
        </p:nvSpPr>
        <p:spPr>
          <a:xfrm>
            <a:off x="548640" y="4133088"/>
            <a:ext cx="2788920" cy="384048"/>
          </a:xfrm>
          <a:prstGeom prst="rect">
            <a:avLst/>
          </a:prstGeom>
          <a:noFill/>
          <a:ln/>
        </p:spPr>
        <p:txBody>
          <a:bodyPr wrap="square" lIns="0" tIns="0" rIns="0" bIns="0"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BCrypt (Spring Security)</a:t>
            </a:r>
            <a:endParaRPr lang="en-US" sz="1100" dirty="0"/>
          </a:p>
        </p:txBody>
      </p:sp>
      <p:sp>
        <p:nvSpPr>
          <p:cNvPr id="45" name="Shape 43"/>
          <p:cNvSpPr/>
          <p:nvPr/>
        </p:nvSpPr>
        <p:spPr>
          <a:xfrm>
            <a:off x="3383280" y="4133088"/>
            <a:ext cx="2194560" cy="384048"/>
          </a:xfrm>
          <a:prstGeom prst="rect">
            <a:avLst/>
          </a:prstGeom>
          <a:solidFill>
            <a:srgbClr val="FFFFFF"/>
          </a:solidFill>
          <a:ln w="6350">
            <a:solidFill>
              <a:srgbClr val="D8E0D8"/>
            </a:solidFill>
            <a:prstDash val="solid"/>
          </a:ln>
        </p:spPr>
        <p:txBody>
          <a:bodyPr/>
          <a:lstStyle/>
          <a:p>
            <a:endParaRPr lang="es-ES"/>
          </a:p>
        </p:txBody>
      </p:sp>
      <p:sp>
        <p:nvSpPr>
          <p:cNvPr id="46" name="Text 44"/>
          <p:cNvSpPr/>
          <p:nvPr/>
        </p:nvSpPr>
        <p:spPr>
          <a:xfrm>
            <a:off x="3474720" y="4133088"/>
            <a:ext cx="2057400" cy="384048"/>
          </a:xfrm>
          <a:prstGeom prst="rect">
            <a:avLst/>
          </a:prstGeom>
          <a:noFill/>
          <a:ln/>
        </p:spPr>
        <p:txBody>
          <a:bodyPr wrap="square" lIns="0" tIns="0" rIns="0" bIns="0" rtlCol="0" anchor="ctr"/>
          <a:lstStyle/>
          <a:p>
            <a:pPr marL="0" indent="0">
              <a:buNone/>
            </a:pPr>
            <a:r>
              <a:rPr lang="en-US" sz="1100" dirty="0">
                <a:solidFill>
                  <a:srgbClr val="1E2A22"/>
                </a:solidFill>
                <a:latin typeface="Courier New" pitchFamily="34" charset="0"/>
                <a:ea typeface="Courier New" pitchFamily="34" charset="-122"/>
                <a:cs typeface="Courier New" pitchFamily="34" charset="-120"/>
              </a:rPr>
              <a:t>incluido</a:t>
            </a:r>
            <a:endParaRPr lang="en-US" sz="1100" dirty="0"/>
          </a:p>
        </p:txBody>
      </p:sp>
      <p:sp>
        <p:nvSpPr>
          <p:cNvPr id="47" name="Shape 45"/>
          <p:cNvSpPr/>
          <p:nvPr/>
        </p:nvSpPr>
        <p:spPr>
          <a:xfrm>
            <a:off x="5577840" y="4133088"/>
            <a:ext cx="3108960" cy="384048"/>
          </a:xfrm>
          <a:prstGeom prst="rect">
            <a:avLst/>
          </a:prstGeom>
          <a:solidFill>
            <a:srgbClr val="FFFFFF"/>
          </a:solidFill>
          <a:ln w="6350">
            <a:solidFill>
              <a:srgbClr val="D8E0D8"/>
            </a:solidFill>
            <a:prstDash val="solid"/>
          </a:ln>
        </p:spPr>
        <p:txBody>
          <a:bodyPr/>
          <a:lstStyle/>
          <a:p>
            <a:endParaRPr lang="es-ES"/>
          </a:p>
        </p:txBody>
      </p:sp>
      <p:sp>
        <p:nvSpPr>
          <p:cNvPr id="48" name="Text 46"/>
          <p:cNvSpPr/>
          <p:nvPr/>
        </p:nvSpPr>
        <p:spPr>
          <a:xfrm>
            <a:off x="5669280" y="4133088"/>
            <a:ext cx="2971800" cy="384048"/>
          </a:xfrm>
          <a:prstGeom prst="rect">
            <a:avLst/>
          </a:prstGeom>
          <a:noFill/>
          <a:ln/>
        </p:spPr>
        <p:txBody>
          <a:bodyPr wrap="square" lIns="0" tIns="0" rIns="0" bIns="0" rtlCol="0" anchor="ctr"/>
          <a:lstStyle/>
          <a:p>
            <a:pPr marL="0" indent="0">
              <a:buNone/>
            </a:pPr>
            <a:r>
              <a:rPr lang="en-US" sz="1100" dirty="0">
                <a:solidFill>
                  <a:srgbClr val="1E2A22"/>
                </a:solidFill>
                <a:latin typeface="Calibri" pitchFamily="34" charset="0"/>
                <a:ea typeface="Calibri" pitchFamily="34" charset="-122"/>
                <a:cs typeface="Calibri" pitchFamily="34" charset="-120"/>
              </a:rPr>
              <a:t>Cifra y compara contrasenas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1 — DEPENDENCIAS</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pom.xml: security y JJWT</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8092440" y="411480"/>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8092440" y="411480"/>
            <a:ext cx="566928" cy="566928"/>
          </a:xfrm>
          <a:prstGeom prst="rect">
            <a:avLst/>
          </a:prstGeom>
          <a:noFill/>
          <a:ln/>
        </p:spPr>
        <p:txBody>
          <a:bodyPr wrap="square" lIns="0" tIns="0" rIns="0" bIns="0" rtlCol="0" anchor="ctr"/>
          <a:lstStyle/>
          <a:p>
            <a:pPr marL="0" indent="0" algn="ctr">
              <a:buNone/>
            </a:pPr>
            <a:r>
              <a:rPr lang="en-US" sz="2600" b="1" dirty="0">
                <a:solidFill>
                  <a:srgbClr val="E8B923"/>
                </a:solidFill>
                <a:latin typeface="Cambria" pitchFamily="34" charset="0"/>
                <a:ea typeface="Cambria" pitchFamily="34" charset="-122"/>
                <a:cs typeface="Cambria" pitchFamily="34" charset="-120"/>
              </a:rPr>
              <a:t>1</a:t>
            </a:r>
            <a:endParaRPr lang="en-US" sz="2600" dirty="0"/>
          </a:p>
        </p:txBody>
      </p:sp>
      <p:sp>
        <p:nvSpPr>
          <p:cNvPr id="8" name="Shape 6"/>
          <p:cNvSpPr/>
          <p:nvPr/>
        </p:nvSpPr>
        <p:spPr>
          <a:xfrm>
            <a:off x="457200" y="1371600"/>
            <a:ext cx="5120640" cy="3200400"/>
          </a:xfrm>
          <a:prstGeom prst="roundRect">
            <a:avLst>
              <a:gd name="adj" fmla="val 1714"/>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21792" y="1444752"/>
            <a:ext cx="484632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pom.xml</a:t>
            </a:r>
            <a:endParaRPr lang="en-US" sz="950" dirty="0"/>
          </a:p>
        </p:txBody>
      </p:sp>
      <p:sp>
        <p:nvSpPr>
          <p:cNvPr id="10" name="Text 8"/>
          <p:cNvSpPr/>
          <p:nvPr/>
        </p:nvSpPr>
        <p:spPr>
          <a:xfrm>
            <a:off x="621792" y="1700784"/>
            <a:ext cx="4809744" cy="2779776"/>
          </a:xfrm>
          <a:prstGeom prst="rect">
            <a:avLst/>
          </a:prstGeom>
          <a:noFill/>
          <a:ln/>
        </p:spPr>
        <p:txBody>
          <a:bodyPr wrap="square" lIns="0" tIns="0" rIns="0" bIns="0" rtlCol="0" anchor="t"/>
          <a:lstStyle/>
          <a:p>
            <a:pPr marL="0" indent="0">
              <a:lnSpc>
                <a:spcPct val="102000"/>
              </a:lnSpc>
              <a:buNone/>
            </a:pPr>
            <a:r>
              <a:rPr lang="en-US" sz="950" i="1" dirty="0">
                <a:solidFill>
                  <a:srgbClr val="717171"/>
                </a:solidFill>
                <a:latin typeface="Courier New" pitchFamily="34" charset="0"/>
                <a:ea typeface="Courier New" pitchFamily="34" charset="-122"/>
                <a:cs typeface="Courier New" pitchFamily="34" charset="-120"/>
              </a:rPr>
              <a:t>&lt;!-- Spring Security --&gt;</a:t>
            </a:r>
            <a:endParaRPr lang="en-US" sz="950" dirty="0"/>
          </a:p>
          <a:p>
            <a:pPr marL="0" indent="0">
              <a:lnSpc>
                <a:spcPct val="102000"/>
              </a:lnSpc>
              <a:buNone/>
            </a:pPr>
            <a:r>
              <a:rPr lang="en-US" sz="950" dirty="0">
                <a:solidFill>
                  <a:srgbClr val="0B6B8A"/>
                </a:solidFill>
                <a:latin typeface="Courier New" pitchFamily="34" charset="0"/>
                <a:ea typeface="Courier New" pitchFamily="34" charset="-122"/>
                <a:cs typeface="Courier New" pitchFamily="34" charset="-120"/>
              </a:rPr>
              <a:t>&lt;dependency&gt;</a:t>
            </a:r>
            <a:endParaRPr lang="en-US" sz="950" dirty="0"/>
          </a:p>
          <a:p>
            <a:pPr marL="0" indent="0">
              <a:lnSpc>
                <a:spcPct val="102000"/>
              </a:lnSpc>
              <a:buNone/>
            </a:pPr>
            <a:r>
              <a:rPr lang="en-US" sz="950" dirty="0">
                <a:solidFill>
                  <a:srgbClr val="383A42"/>
                </a:solidFill>
                <a:latin typeface="Courier New" pitchFamily="34" charset="0"/>
                <a:ea typeface="Courier New" pitchFamily="34" charset="-122"/>
                <a:cs typeface="Courier New" pitchFamily="34" charset="-120"/>
              </a:rPr>
              <a:t>  </a:t>
            </a:r>
            <a:r>
              <a:rPr lang="en-US" sz="950" dirty="0">
                <a:solidFill>
                  <a:srgbClr val="0B6B8A"/>
                </a:solidFill>
                <a:latin typeface="Courier New" pitchFamily="34" charset="0"/>
                <a:ea typeface="Courier New" pitchFamily="34" charset="-122"/>
                <a:cs typeface="Courier New" pitchFamily="34" charset="-120"/>
              </a:rPr>
              <a:t>&lt;groupId&gt;</a:t>
            </a:r>
            <a:r>
              <a:rPr lang="en-US" sz="950" dirty="0">
                <a:solidFill>
                  <a:srgbClr val="383A42"/>
                </a:solidFill>
                <a:latin typeface="Courier New" pitchFamily="34" charset="0"/>
                <a:ea typeface="Courier New" pitchFamily="34" charset="-122"/>
                <a:cs typeface="Courier New" pitchFamily="34" charset="-120"/>
              </a:rPr>
              <a:t>org.springframework.boot</a:t>
            </a:r>
            <a:r>
              <a:rPr lang="en-US" sz="950" dirty="0">
                <a:solidFill>
                  <a:srgbClr val="0B6B8A"/>
                </a:solidFill>
                <a:latin typeface="Courier New" pitchFamily="34" charset="0"/>
                <a:ea typeface="Courier New" pitchFamily="34" charset="-122"/>
                <a:cs typeface="Courier New" pitchFamily="34" charset="-120"/>
              </a:rPr>
              <a:t>&lt;/groupId&gt;</a:t>
            </a:r>
            <a:endParaRPr lang="en-US" sz="950" dirty="0"/>
          </a:p>
          <a:p>
            <a:pPr marL="0" indent="0">
              <a:lnSpc>
                <a:spcPct val="102000"/>
              </a:lnSpc>
              <a:buNone/>
            </a:pPr>
            <a:r>
              <a:rPr lang="en-US" sz="950" dirty="0">
                <a:solidFill>
                  <a:srgbClr val="383A42"/>
                </a:solidFill>
                <a:latin typeface="Courier New" pitchFamily="34" charset="0"/>
                <a:ea typeface="Courier New" pitchFamily="34" charset="-122"/>
                <a:cs typeface="Courier New" pitchFamily="34" charset="-120"/>
              </a:rPr>
              <a:t>  </a:t>
            </a:r>
            <a:r>
              <a:rPr lang="en-US" sz="950" dirty="0">
                <a:solidFill>
                  <a:srgbClr val="0B6B8A"/>
                </a:solidFill>
                <a:latin typeface="Courier New" pitchFamily="34" charset="0"/>
                <a:ea typeface="Courier New" pitchFamily="34" charset="-122"/>
                <a:cs typeface="Courier New" pitchFamily="34" charset="-120"/>
              </a:rPr>
              <a:t>&lt;artifactId&gt;</a:t>
            </a:r>
            <a:r>
              <a:rPr lang="en-US" sz="950" dirty="0">
                <a:solidFill>
                  <a:srgbClr val="383A42"/>
                </a:solidFill>
                <a:latin typeface="Courier New" pitchFamily="34" charset="0"/>
                <a:ea typeface="Courier New" pitchFamily="34" charset="-122"/>
                <a:cs typeface="Courier New" pitchFamily="34" charset="-120"/>
              </a:rPr>
              <a:t>spring-boot-starter-security</a:t>
            </a:r>
            <a:r>
              <a:rPr lang="en-US" sz="950" dirty="0">
                <a:solidFill>
                  <a:srgbClr val="0B6B8A"/>
                </a:solidFill>
                <a:latin typeface="Courier New" pitchFamily="34" charset="0"/>
                <a:ea typeface="Courier New" pitchFamily="34" charset="-122"/>
                <a:cs typeface="Courier New" pitchFamily="34" charset="-120"/>
              </a:rPr>
              <a:t>&lt;/artifactId&gt;</a:t>
            </a:r>
            <a:endParaRPr lang="en-US" sz="950" dirty="0"/>
          </a:p>
          <a:p>
            <a:pPr marL="0" indent="0">
              <a:lnSpc>
                <a:spcPct val="102000"/>
              </a:lnSpc>
              <a:buNone/>
            </a:pPr>
            <a:r>
              <a:rPr lang="en-US" sz="950" dirty="0">
                <a:solidFill>
                  <a:srgbClr val="0B6B8A"/>
                </a:solidFill>
                <a:latin typeface="Courier New" pitchFamily="34" charset="0"/>
                <a:ea typeface="Courier New" pitchFamily="34" charset="-122"/>
                <a:cs typeface="Courier New" pitchFamily="34" charset="-120"/>
              </a:rPr>
              <a:t>&lt;/dependency&gt;</a:t>
            </a:r>
            <a:endParaRPr lang="en-US" sz="950" dirty="0"/>
          </a:p>
          <a:p>
            <a:pPr marL="0" indent="0">
              <a:lnSpc>
                <a:spcPct val="102000"/>
              </a:lnSpc>
              <a:buNone/>
            </a:pPr>
            <a:r>
              <a:rPr lang="en-US" sz="950" dirty="0">
                <a:solidFill>
                  <a:srgbClr val="383A42"/>
                </a:solidFill>
                <a:latin typeface="Courier New" pitchFamily="34" charset="0"/>
                <a:ea typeface="Courier New" pitchFamily="34" charset="-122"/>
                <a:cs typeface="Courier New" pitchFamily="34" charset="-120"/>
              </a:rPr>
              <a:t> </a:t>
            </a:r>
            <a:endParaRPr lang="en-US" sz="950" dirty="0"/>
          </a:p>
          <a:p>
            <a:pPr marL="0" indent="0">
              <a:lnSpc>
                <a:spcPct val="102000"/>
              </a:lnSpc>
              <a:buNone/>
            </a:pPr>
            <a:r>
              <a:rPr lang="en-US" sz="950" i="1" dirty="0">
                <a:solidFill>
                  <a:srgbClr val="717171"/>
                </a:solidFill>
                <a:latin typeface="Courier New" pitchFamily="34" charset="0"/>
                <a:ea typeface="Courier New" pitchFamily="34" charset="-122"/>
                <a:cs typeface="Courier New" pitchFamily="34" charset="-120"/>
              </a:rPr>
              <a:t>&lt;!-- JSON Web Token (JJWT 0.13.0) --&gt;</a:t>
            </a:r>
            <a:endParaRPr lang="en-US" sz="950" dirty="0"/>
          </a:p>
          <a:p>
            <a:pPr marL="0" indent="0">
              <a:lnSpc>
                <a:spcPct val="102000"/>
              </a:lnSpc>
              <a:buNone/>
            </a:pPr>
            <a:r>
              <a:rPr lang="en-US" sz="950" dirty="0">
                <a:solidFill>
                  <a:srgbClr val="0B6B8A"/>
                </a:solidFill>
                <a:latin typeface="Courier New" pitchFamily="34" charset="0"/>
                <a:ea typeface="Courier New" pitchFamily="34" charset="-122"/>
                <a:cs typeface="Courier New" pitchFamily="34" charset="-120"/>
              </a:rPr>
              <a:t>&lt;dependency&gt;</a:t>
            </a:r>
            <a:endParaRPr lang="en-US" sz="950" dirty="0"/>
          </a:p>
          <a:p>
            <a:pPr marL="0" indent="0">
              <a:lnSpc>
                <a:spcPct val="102000"/>
              </a:lnSpc>
              <a:buNone/>
            </a:pPr>
            <a:r>
              <a:rPr lang="en-US" sz="950" dirty="0">
                <a:solidFill>
                  <a:srgbClr val="383A42"/>
                </a:solidFill>
                <a:latin typeface="Courier New" pitchFamily="34" charset="0"/>
                <a:ea typeface="Courier New" pitchFamily="34" charset="-122"/>
                <a:cs typeface="Courier New" pitchFamily="34" charset="-120"/>
              </a:rPr>
              <a:t>  </a:t>
            </a:r>
            <a:r>
              <a:rPr lang="en-US" sz="950" dirty="0">
                <a:solidFill>
                  <a:srgbClr val="0B6B8A"/>
                </a:solidFill>
                <a:latin typeface="Courier New" pitchFamily="34" charset="0"/>
                <a:ea typeface="Courier New" pitchFamily="34" charset="-122"/>
                <a:cs typeface="Courier New" pitchFamily="34" charset="-120"/>
              </a:rPr>
              <a:t>&lt;groupId&gt;</a:t>
            </a:r>
            <a:r>
              <a:rPr lang="en-US" sz="950" dirty="0">
                <a:solidFill>
                  <a:srgbClr val="383A42"/>
                </a:solidFill>
                <a:latin typeface="Courier New" pitchFamily="34" charset="0"/>
                <a:ea typeface="Courier New" pitchFamily="34" charset="-122"/>
                <a:cs typeface="Courier New" pitchFamily="34" charset="-120"/>
              </a:rPr>
              <a:t>io.jsonwebtoken</a:t>
            </a:r>
            <a:r>
              <a:rPr lang="en-US" sz="950" dirty="0">
                <a:solidFill>
                  <a:srgbClr val="0B6B8A"/>
                </a:solidFill>
                <a:latin typeface="Courier New" pitchFamily="34" charset="0"/>
                <a:ea typeface="Courier New" pitchFamily="34" charset="-122"/>
                <a:cs typeface="Courier New" pitchFamily="34" charset="-120"/>
              </a:rPr>
              <a:t>&lt;/groupId&gt;</a:t>
            </a:r>
            <a:endParaRPr lang="en-US" sz="950" dirty="0"/>
          </a:p>
          <a:p>
            <a:pPr marL="0" indent="0">
              <a:lnSpc>
                <a:spcPct val="102000"/>
              </a:lnSpc>
              <a:buNone/>
            </a:pPr>
            <a:r>
              <a:rPr lang="en-US" sz="950" dirty="0">
                <a:solidFill>
                  <a:srgbClr val="383A42"/>
                </a:solidFill>
                <a:latin typeface="Courier New" pitchFamily="34" charset="0"/>
                <a:ea typeface="Courier New" pitchFamily="34" charset="-122"/>
                <a:cs typeface="Courier New" pitchFamily="34" charset="-120"/>
              </a:rPr>
              <a:t>  </a:t>
            </a:r>
            <a:r>
              <a:rPr lang="en-US" sz="950" dirty="0">
                <a:solidFill>
                  <a:srgbClr val="0B6B8A"/>
                </a:solidFill>
                <a:latin typeface="Courier New" pitchFamily="34" charset="0"/>
                <a:ea typeface="Courier New" pitchFamily="34" charset="-122"/>
                <a:cs typeface="Courier New" pitchFamily="34" charset="-120"/>
              </a:rPr>
              <a:t>&lt;artifactId&gt;</a:t>
            </a:r>
            <a:r>
              <a:rPr lang="en-US" sz="950" dirty="0">
                <a:solidFill>
                  <a:srgbClr val="383A42"/>
                </a:solidFill>
                <a:latin typeface="Courier New" pitchFamily="34" charset="0"/>
                <a:ea typeface="Courier New" pitchFamily="34" charset="-122"/>
                <a:cs typeface="Courier New" pitchFamily="34" charset="-120"/>
              </a:rPr>
              <a:t>jjwt-api</a:t>
            </a:r>
            <a:r>
              <a:rPr lang="en-US" sz="950" dirty="0">
                <a:solidFill>
                  <a:srgbClr val="0B6B8A"/>
                </a:solidFill>
                <a:latin typeface="Courier New" pitchFamily="34" charset="0"/>
                <a:ea typeface="Courier New" pitchFamily="34" charset="-122"/>
                <a:cs typeface="Courier New" pitchFamily="34" charset="-120"/>
              </a:rPr>
              <a:t>&lt;/artifactId&gt;</a:t>
            </a:r>
            <a:endParaRPr lang="en-US" sz="950" dirty="0"/>
          </a:p>
          <a:p>
            <a:pPr marL="0" indent="0">
              <a:lnSpc>
                <a:spcPct val="102000"/>
              </a:lnSpc>
              <a:buNone/>
            </a:pPr>
            <a:r>
              <a:rPr lang="en-US" sz="950" dirty="0">
                <a:solidFill>
                  <a:srgbClr val="383A42"/>
                </a:solidFill>
                <a:latin typeface="Courier New" pitchFamily="34" charset="0"/>
                <a:ea typeface="Courier New" pitchFamily="34" charset="-122"/>
                <a:cs typeface="Courier New" pitchFamily="34" charset="-120"/>
              </a:rPr>
              <a:t>  </a:t>
            </a:r>
            <a:r>
              <a:rPr lang="en-US" sz="950" dirty="0">
                <a:solidFill>
                  <a:srgbClr val="0B6B8A"/>
                </a:solidFill>
                <a:latin typeface="Courier New" pitchFamily="34" charset="0"/>
                <a:ea typeface="Courier New" pitchFamily="34" charset="-122"/>
                <a:cs typeface="Courier New" pitchFamily="34" charset="-120"/>
              </a:rPr>
              <a:t>&lt;version&gt;</a:t>
            </a:r>
            <a:r>
              <a:rPr lang="en-US" sz="950" dirty="0">
                <a:solidFill>
                  <a:srgbClr val="383A42"/>
                </a:solidFill>
                <a:latin typeface="Courier New" pitchFamily="34" charset="0"/>
                <a:ea typeface="Courier New" pitchFamily="34" charset="-122"/>
                <a:cs typeface="Courier New" pitchFamily="34" charset="-120"/>
              </a:rPr>
              <a:t>0.13.0</a:t>
            </a:r>
            <a:r>
              <a:rPr lang="en-US" sz="950" dirty="0">
                <a:solidFill>
                  <a:srgbClr val="0B6B8A"/>
                </a:solidFill>
                <a:latin typeface="Courier New" pitchFamily="34" charset="0"/>
                <a:ea typeface="Courier New" pitchFamily="34" charset="-122"/>
                <a:cs typeface="Courier New" pitchFamily="34" charset="-120"/>
              </a:rPr>
              <a:t>&lt;/version&gt;</a:t>
            </a:r>
            <a:endParaRPr lang="en-US" sz="950" dirty="0"/>
          </a:p>
          <a:p>
            <a:pPr marL="0" indent="0">
              <a:lnSpc>
                <a:spcPct val="102000"/>
              </a:lnSpc>
              <a:buNone/>
            </a:pPr>
            <a:r>
              <a:rPr lang="en-US" sz="950" dirty="0">
                <a:solidFill>
                  <a:srgbClr val="0B6B8A"/>
                </a:solidFill>
                <a:latin typeface="Courier New" pitchFamily="34" charset="0"/>
                <a:ea typeface="Courier New" pitchFamily="34" charset="-122"/>
                <a:cs typeface="Courier New" pitchFamily="34" charset="-120"/>
              </a:rPr>
              <a:t>&lt;/dependency&gt;</a:t>
            </a:r>
            <a:endParaRPr lang="en-US" sz="950" dirty="0"/>
          </a:p>
          <a:p>
            <a:pPr marL="0" indent="0">
              <a:lnSpc>
                <a:spcPct val="102000"/>
              </a:lnSpc>
              <a:buNone/>
            </a:pPr>
            <a:r>
              <a:rPr lang="en-US" sz="950" i="1" dirty="0">
                <a:solidFill>
                  <a:srgbClr val="717171"/>
                </a:solidFill>
                <a:latin typeface="Courier New" pitchFamily="34" charset="0"/>
                <a:ea typeface="Courier New" pitchFamily="34" charset="-122"/>
                <a:cs typeface="Courier New" pitchFamily="34" charset="-120"/>
              </a:rPr>
              <a:t>&lt;!-- + jjwt-impl y jjwt-jackson (scope runtime) --&gt;</a:t>
            </a:r>
            <a:endParaRPr lang="en-US" sz="950" dirty="0"/>
          </a:p>
        </p:txBody>
      </p:sp>
      <p:sp>
        <p:nvSpPr>
          <p:cNvPr id="11" name="Shape 9"/>
          <p:cNvSpPr/>
          <p:nvPr/>
        </p:nvSpPr>
        <p:spPr>
          <a:xfrm>
            <a:off x="5715000" y="1371600"/>
            <a:ext cx="2971800" cy="1783080"/>
          </a:xfrm>
          <a:prstGeom prst="roundRect">
            <a:avLst>
              <a:gd name="adj" fmla="val 3077"/>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12" name="Text 10"/>
          <p:cNvSpPr/>
          <p:nvPr/>
        </p:nvSpPr>
        <p:spPr>
          <a:xfrm>
            <a:off x="5879592" y="1444752"/>
            <a:ext cx="269748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application.properties (claves nuevas)</a:t>
            </a:r>
            <a:endParaRPr lang="en-US" sz="950" dirty="0"/>
          </a:p>
        </p:txBody>
      </p:sp>
      <p:sp>
        <p:nvSpPr>
          <p:cNvPr id="13" name="Text 11"/>
          <p:cNvSpPr/>
          <p:nvPr/>
        </p:nvSpPr>
        <p:spPr>
          <a:xfrm>
            <a:off x="5879592" y="1700784"/>
            <a:ext cx="2660904" cy="1362456"/>
          </a:xfrm>
          <a:prstGeom prst="rect">
            <a:avLst/>
          </a:prstGeom>
          <a:noFill/>
          <a:ln/>
        </p:spPr>
        <p:txBody>
          <a:bodyPr wrap="square" lIns="0" tIns="0" rIns="0" bIns="0" rtlCol="0" anchor="t"/>
          <a:lstStyle/>
          <a:p>
            <a:pPr marL="0" indent="0">
              <a:lnSpc>
                <a:spcPct val="102000"/>
              </a:lnSpc>
              <a:buNone/>
            </a:pPr>
            <a:r>
              <a:rPr lang="en-US" sz="950" i="1" dirty="0">
                <a:solidFill>
                  <a:srgbClr val="717171"/>
                </a:solidFill>
                <a:latin typeface="Courier New" pitchFamily="34" charset="0"/>
                <a:ea typeface="Courier New" pitchFamily="34" charset="-122"/>
                <a:cs typeface="Courier New" pitchFamily="34" charset="-120"/>
              </a:rPr>
              <a:t># Secreto de firma (&gt;= 32 bytes para HS256)</a:t>
            </a:r>
            <a:endParaRPr lang="en-US" sz="950" dirty="0"/>
          </a:p>
          <a:p>
            <a:pPr marL="0" indent="0">
              <a:lnSpc>
                <a:spcPct val="102000"/>
              </a:lnSpc>
              <a:buNone/>
            </a:pPr>
            <a:r>
              <a:rPr lang="en-US" sz="950" dirty="0">
                <a:solidFill>
                  <a:srgbClr val="0B6B8A"/>
                </a:solidFill>
                <a:latin typeface="Courier New" pitchFamily="34" charset="0"/>
                <a:ea typeface="Courier New" pitchFamily="34" charset="-122"/>
                <a:cs typeface="Courier New" pitchFamily="34" charset="-120"/>
              </a:rPr>
              <a:t>app.jwt.secret=</a:t>
            </a:r>
            <a:r>
              <a:rPr lang="en-US" sz="950" dirty="0">
                <a:solidFill>
                  <a:srgbClr val="383A42"/>
                </a:solidFill>
                <a:latin typeface="Courier New" pitchFamily="34" charset="0"/>
                <a:ea typeface="Courier New" pitchFamily="34" charset="-122"/>
                <a:cs typeface="Courier New" pitchFamily="34" charset="-120"/>
              </a:rPr>
              <a:t>cambia-esta-clave-larga-aleatoria</a:t>
            </a:r>
            <a:endParaRPr lang="en-US" sz="950" dirty="0"/>
          </a:p>
          <a:p>
            <a:pPr marL="0" indent="0">
              <a:lnSpc>
                <a:spcPct val="102000"/>
              </a:lnSpc>
              <a:buNone/>
            </a:pPr>
            <a:r>
              <a:rPr lang="en-US" sz="950" i="1" dirty="0">
                <a:solidFill>
                  <a:srgbClr val="717171"/>
                </a:solidFill>
                <a:latin typeface="Courier New" pitchFamily="34" charset="0"/>
                <a:ea typeface="Courier New" pitchFamily="34" charset="-122"/>
                <a:cs typeface="Courier New" pitchFamily="34" charset="-120"/>
              </a:rPr>
              <a:t># Vida del token en ms (3600000 = 1 hora)</a:t>
            </a:r>
            <a:endParaRPr lang="en-US" sz="950" dirty="0"/>
          </a:p>
          <a:p>
            <a:pPr marL="0" indent="0">
              <a:lnSpc>
                <a:spcPct val="102000"/>
              </a:lnSpc>
              <a:buNone/>
            </a:pPr>
            <a:r>
              <a:rPr lang="en-US" sz="950" dirty="0">
                <a:solidFill>
                  <a:srgbClr val="0B6B8A"/>
                </a:solidFill>
                <a:latin typeface="Courier New" pitchFamily="34" charset="0"/>
                <a:ea typeface="Courier New" pitchFamily="34" charset="-122"/>
                <a:cs typeface="Courier New" pitchFamily="34" charset="-120"/>
              </a:rPr>
              <a:t>app.jwt.expiration-ms=</a:t>
            </a:r>
            <a:r>
              <a:rPr lang="en-US" sz="950" dirty="0">
                <a:solidFill>
                  <a:srgbClr val="383A42"/>
                </a:solidFill>
                <a:latin typeface="Courier New" pitchFamily="34" charset="0"/>
                <a:ea typeface="Courier New" pitchFamily="34" charset="-122"/>
                <a:cs typeface="Courier New" pitchFamily="34" charset="-120"/>
              </a:rPr>
              <a:t>3600000</a:t>
            </a:r>
            <a:endParaRPr lang="en-US" sz="950" dirty="0"/>
          </a:p>
        </p:txBody>
      </p:sp>
      <p:sp>
        <p:nvSpPr>
          <p:cNvPr id="14" name="Shape 12"/>
          <p:cNvSpPr/>
          <p:nvPr/>
        </p:nvSpPr>
        <p:spPr>
          <a:xfrm>
            <a:off x="5715000" y="3310128"/>
            <a:ext cx="2971800" cy="1261872"/>
          </a:xfrm>
          <a:prstGeom prst="roundRect">
            <a:avLst>
              <a:gd name="adj" fmla="val 5797"/>
            </a:avLst>
          </a:prstGeom>
          <a:solidFill>
            <a:srgbClr val="FBEFE0"/>
          </a:solidFill>
          <a:ln/>
          <a:effectLst>
            <a:outerShdw blurRad="88900" dist="38100" dir="5400000" algn="bl" rotWithShape="0">
              <a:srgbClr val="000000">
                <a:alpha val="16000"/>
              </a:srgbClr>
            </a:outerShdw>
          </a:effectLst>
        </p:spPr>
        <p:txBody>
          <a:bodyPr/>
          <a:lstStyle/>
          <a:p>
            <a:endParaRPr lang="es-ES"/>
          </a:p>
        </p:txBody>
      </p:sp>
      <p:sp>
        <p:nvSpPr>
          <p:cNvPr id="15" name="Text 13"/>
          <p:cNvSpPr/>
          <p:nvPr/>
        </p:nvSpPr>
        <p:spPr>
          <a:xfrm>
            <a:off x="5870448" y="3401568"/>
            <a:ext cx="2697480" cy="1097280"/>
          </a:xfrm>
          <a:prstGeom prst="rect">
            <a:avLst/>
          </a:prstGeom>
          <a:noFill/>
          <a:ln/>
        </p:spPr>
        <p:txBody>
          <a:bodyPr wrap="square" lIns="0" tIns="0" rIns="0" bIns="0" rtlCol="0" anchor="t"/>
          <a:lstStyle/>
          <a:p>
            <a:pPr marL="0" indent="0">
              <a:lnSpc>
                <a:spcPct val="104000"/>
              </a:lnSpc>
              <a:buNone/>
            </a:pPr>
            <a:r>
              <a:rPr lang="en-US" sz="1150" b="1" dirty="0">
                <a:solidFill>
                  <a:srgbClr val="9A5B00"/>
                </a:solidFill>
                <a:latin typeface="Calibri" pitchFamily="34" charset="0"/>
                <a:ea typeface="Calibri" pitchFamily="34" charset="-122"/>
                <a:cs typeface="Calibri" pitchFamily="34" charset="-120"/>
              </a:rPr>
              <a:t>Aviso
</a:t>
            </a:r>
            <a:endParaRPr lang="en-US" sz="1150" dirty="0"/>
          </a:p>
          <a:p>
            <a:pPr marL="0" indent="0">
              <a:lnSpc>
                <a:spcPct val="104000"/>
              </a:lnSpc>
              <a:buNone/>
            </a:pPr>
            <a:r>
              <a:rPr lang="en-US" sz="1050" dirty="0">
                <a:solidFill>
                  <a:srgbClr val="5C6B62"/>
                </a:solidFill>
                <a:latin typeface="Calibri" pitchFamily="34" charset="0"/>
                <a:ea typeface="Calibri" pitchFamily="34" charset="-122"/>
                <a:cs typeface="Calibri" pitchFamily="34" charset="-120"/>
              </a:rPr>
              <a:t>Al anadir el starter, Spring protege TODOS los endpoints por defecto. Los abriremos en el Paso 7.</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1 — CONFIGURACION</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application.properties: un solo archivo</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8092440" y="411480"/>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8092440" y="411480"/>
            <a:ext cx="566928" cy="566928"/>
          </a:xfrm>
          <a:prstGeom prst="rect">
            <a:avLst/>
          </a:prstGeom>
          <a:noFill/>
          <a:ln/>
        </p:spPr>
        <p:txBody>
          <a:bodyPr wrap="square" lIns="0" tIns="0" rIns="0" bIns="0" rtlCol="0" anchor="ctr"/>
          <a:lstStyle/>
          <a:p>
            <a:pPr marL="0" indent="0" algn="ctr">
              <a:buNone/>
            </a:pPr>
            <a:r>
              <a:rPr lang="en-US" sz="2600" b="1" dirty="0">
                <a:solidFill>
                  <a:srgbClr val="E8B923"/>
                </a:solidFill>
                <a:latin typeface="Cambria" pitchFamily="34" charset="0"/>
                <a:ea typeface="Cambria" pitchFamily="34" charset="-122"/>
                <a:cs typeface="Cambria" pitchFamily="34" charset="-120"/>
              </a:rPr>
              <a:t>1</a:t>
            </a:r>
            <a:endParaRPr lang="en-US" sz="2600" dirty="0"/>
          </a:p>
        </p:txBody>
      </p:sp>
      <p:sp>
        <p:nvSpPr>
          <p:cNvPr id="8" name="Shape 6"/>
          <p:cNvSpPr/>
          <p:nvPr/>
        </p:nvSpPr>
        <p:spPr>
          <a:xfrm>
            <a:off x="457200" y="1325880"/>
            <a:ext cx="5806440" cy="3246120"/>
          </a:xfrm>
          <a:prstGeom prst="roundRect">
            <a:avLst>
              <a:gd name="adj" fmla="val 1690"/>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21792" y="1399032"/>
            <a:ext cx="553212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src/main/resources/application.properties</a:t>
            </a:r>
            <a:endParaRPr lang="en-US" sz="950" dirty="0"/>
          </a:p>
        </p:txBody>
      </p:sp>
      <p:sp>
        <p:nvSpPr>
          <p:cNvPr id="10" name="Text 8"/>
          <p:cNvSpPr/>
          <p:nvPr/>
        </p:nvSpPr>
        <p:spPr>
          <a:xfrm>
            <a:off x="621792" y="1655064"/>
            <a:ext cx="5495544" cy="2825496"/>
          </a:xfrm>
          <a:prstGeom prst="rect">
            <a:avLst/>
          </a:prstGeom>
          <a:noFill/>
          <a:ln/>
        </p:spPr>
        <p:txBody>
          <a:bodyPr wrap="square" lIns="0" tIns="0" rIns="0" bIns="0" rtlCol="0" anchor="t"/>
          <a:lstStyle/>
          <a:p>
            <a:pPr marL="0" indent="0">
              <a:lnSpc>
                <a:spcPct val="102000"/>
              </a:lnSpc>
              <a:buNone/>
            </a:pPr>
            <a:r>
              <a:rPr lang="en-US" sz="860" i="1" dirty="0">
                <a:solidFill>
                  <a:srgbClr val="717171"/>
                </a:solidFill>
                <a:latin typeface="Courier New" pitchFamily="34" charset="0"/>
                <a:ea typeface="Courier New" pitchFamily="34" charset="-122"/>
                <a:cs typeface="Courier New" pitchFamily="34" charset="-120"/>
              </a:rPr>
              <a:t># --- Conexion a PostgreSQL ---</a:t>
            </a:r>
            <a:endParaRPr lang="en-US" sz="860" dirty="0"/>
          </a:p>
          <a:p>
            <a:pPr marL="0" indent="0">
              <a:lnSpc>
                <a:spcPct val="102000"/>
              </a:lnSpc>
              <a:buNone/>
            </a:pPr>
            <a:r>
              <a:rPr lang="en-US" sz="860" dirty="0">
                <a:solidFill>
                  <a:srgbClr val="0B6B8A"/>
                </a:solidFill>
                <a:latin typeface="Courier New" pitchFamily="34" charset="0"/>
                <a:ea typeface="Courier New" pitchFamily="34" charset="-122"/>
                <a:cs typeface="Courier New" pitchFamily="34" charset="-120"/>
              </a:rPr>
              <a:t>spring.datasource.url=</a:t>
            </a:r>
            <a:r>
              <a:rPr lang="en-US" sz="860" dirty="0">
                <a:solidFill>
                  <a:srgbClr val="383A42"/>
                </a:solidFill>
                <a:latin typeface="Courier New" pitchFamily="34" charset="0"/>
                <a:ea typeface="Courier New" pitchFamily="34" charset="-122"/>
                <a:cs typeface="Courier New" pitchFamily="34" charset="-120"/>
              </a:rPr>
              <a:t>jdbc:postgresql://localhost:5432/appweb2026ppa</a:t>
            </a:r>
            <a:endParaRPr lang="en-US" sz="860" dirty="0"/>
          </a:p>
          <a:p>
            <a:pPr marL="0" indent="0">
              <a:lnSpc>
                <a:spcPct val="102000"/>
              </a:lnSpc>
              <a:buNone/>
            </a:pPr>
            <a:r>
              <a:rPr lang="en-US" sz="860" dirty="0">
                <a:solidFill>
                  <a:srgbClr val="0B6B8A"/>
                </a:solidFill>
                <a:latin typeface="Courier New" pitchFamily="34" charset="0"/>
                <a:ea typeface="Courier New" pitchFamily="34" charset="-122"/>
                <a:cs typeface="Courier New" pitchFamily="34" charset="-120"/>
              </a:rPr>
              <a:t>spring.datasource.username=</a:t>
            </a:r>
            <a:r>
              <a:rPr lang="en-US" sz="860" dirty="0">
                <a:solidFill>
                  <a:srgbClr val="383A42"/>
                </a:solidFill>
                <a:latin typeface="Courier New" pitchFamily="34" charset="0"/>
                <a:ea typeface="Courier New" pitchFamily="34" charset="-122"/>
                <a:cs typeface="Courier New" pitchFamily="34" charset="-120"/>
              </a:rPr>
              <a:t>postgres</a:t>
            </a:r>
            <a:endParaRPr lang="en-US" sz="860" dirty="0"/>
          </a:p>
          <a:p>
            <a:pPr marL="0" indent="0">
              <a:lnSpc>
                <a:spcPct val="102000"/>
              </a:lnSpc>
              <a:buNone/>
            </a:pPr>
            <a:r>
              <a:rPr lang="en-US" sz="860" dirty="0">
                <a:solidFill>
                  <a:srgbClr val="0B6B8A"/>
                </a:solidFill>
                <a:latin typeface="Courier New" pitchFamily="34" charset="0"/>
                <a:ea typeface="Courier New" pitchFamily="34" charset="-122"/>
                <a:cs typeface="Courier New" pitchFamily="34" charset="-120"/>
              </a:rPr>
              <a:t>spring.datasource.password=</a:t>
            </a:r>
            <a:r>
              <a:rPr lang="en-US" sz="860" dirty="0">
                <a:solidFill>
                  <a:srgbClr val="383A42"/>
                </a:solidFill>
                <a:latin typeface="Courier New" pitchFamily="34" charset="0"/>
                <a:ea typeface="Courier New" pitchFamily="34" charset="-122"/>
                <a:cs typeface="Courier New" pitchFamily="34" charset="-120"/>
              </a:rPr>
              <a:t>P@$7Gr3$QL</a:t>
            </a:r>
            <a:endParaRPr lang="en-US" sz="860" dirty="0"/>
          </a:p>
          <a:p>
            <a:pPr marL="0" indent="0">
              <a:lnSpc>
                <a:spcPct val="102000"/>
              </a:lnSpc>
              <a:buNone/>
            </a:pPr>
            <a:r>
              <a:rPr lang="en-US" sz="860" dirty="0">
                <a:solidFill>
                  <a:srgbClr val="0B6B8A"/>
                </a:solidFill>
                <a:latin typeface="Courier New" pitchFamily="34" charset="0"/>
                <a:ea typeface="Courier New" pitchFamily="34" charset="-122"/>
                <a:cs typeface="Courier New" pitchFamily="34" charset="-120"/>
              </a:rPr>
              <a:t>spring.datasource.driver-class-name=</a:t>
            </a:r>
            <a:r>
              <a:rPr lang="en-US" sz="860" dirty="0">
                <a:solidFill>
                  <a:srgbClr val="383A42"/>
                </a:solidFill>
                <a:latin typeface="Courier New" pitchFamily="34" charset="0"/>
                <a:ea typeface="Courier New" pitchFamily="34" charset="-122"/>
                <a:cs typeface="Courier New" pitchFamily="34" charset="-120"/>
              </a:rPr>
              <a:t>org.postgresql.Driver</a:t>
            </a:r>
            <a:endParaRPr lang="en-US" sz="860" dirty="0"/>
          </a:p>
          <a:p>
            <a:pPr marL="0" indent="0">
              <a:lnSpc>
                <a:spcPct val="102000"/>
              </a:lnSpc>
              <a:buNone/>
            </a:pPr>
            <a:r>
              <a:rPr lang="en-US" sz="860" dirty="0">
                <a:solidFill>
                  <a:srgbClr val="383A42"/>
                </a:solidFill>
                <a:latin typeface="Courier New" pitchFamily="34" charset="0"/>
                <a:ea typeface="Courier New" pitchFamily="34" charset="-122"/>
                <a:cs typeface="Courier New" pitchFamily="34" charset="-120"/>
              </a:rPr>
              <a:t> </a:t>
            </a:r>
            <a:endParaRPr lang="en-US" sz="860" dirty="0"/>
          </a:p>
          <a:p>
            <a:pPr marL="0" indent="0">
              <a:lnSpc>
                <a:spcPct val="102000"/>
              </a:lnSpc>
              <a:buNone/>
            </a:pPr>
            <a:r>
              <a:rPr lang="en-US" sz="860" i="1" dirty="0">
                <a:solidFill>
                  <a:srgbClr val="717171"/>
                </a:solidFill>
                <a:latin typeface="Courier New" pitchFamily="34" charset="0"/>
                <a:ea typeface="Courier New" pitchFamily="34" charset="-122"/>
                <a:cs typeface="Courier New" pitchFamily="34" charset="-120"/>
              </a:rPr>
              <a:t># --- JPA / Hibernate ---</a:t>
            </a:r>
            <a:endParaRPr lang="en-US" sz="860" dirty="0"/>
          </a:p>
          <a:p>
            <a:pPr marL="0" indent="0">
              <a:lnSpc>
                <a:spcPct val="102000"/>
              </a:lnSpc>
              <a:buNone/>
            </a:pPr>
            <a:r>
              <a:rPr lang="en-US" sz="860" dirty="0">
                <a:solidFill>
                  <a:srgbClr val="0B6B8A"/>
                </a:solidFill>
                <a:latin typeface="Courier New" pitchFamily="34" charset="0"/>
                <a:ea typeface="Courier New" pitchFamily="34" charset="-122"/>
                <a:cs typeface="Courier New" pitchFamily="34" charset="-120"/>
              </a:rPr>
              <a:t>spring.jpa.hibernate.ddl-auto=</a:t>
            </a:r>
            <a:r>
              <a:rPr lang="en-US" sz="860" dirty="0">
                <a:solidFill>
                  <a:srgbClr val="383A42"/>
                </a:solidFill>
                <a:latin typeface="Courier New" pitchFamily="34" charset="0"/>
                <a:ea typeface="Courier New" pitchFamily="34" charset="-122"/>
                <a:cs typeface="Courier New" pitchFamily="34" charset="-120"/>
              </a:rPr>
              <a:t>update</a:t>
            </a:r>
            <a:endParaRPr lang="en-US" sz="860" dirty="0"/>
          </a:p>
          <a:p>
            <a:pPr marL="0" indent="0">
              <a:lnSpc>
                <a:spcPct val="102000"/>
              </a:lnSpc>
              <a:buNone/>
            </a:pPr>
            <a:r>
              <a:rPr lang="en-US" sz="860" dirty="0">
                <a:solidFill>
                  <a:srgbClr val="0B6B8A"/>
                </a:solidFill>
                <a:latin typeface="Courier New" pitchFamily="34" charset="0"/>
                <a:ea typeface="Courier New" pitchFamily="34" charset="-122"/>
                <a:cs typeface="Courier New" pitchFamily="34" charset="-120"/>
              </a:rPr>
              <a:t>spring.jpa.show-sql=</a:t>
            </a:r>
            <a:r>
              <a:rPr lang="en-US" sz="860" dirty="0">
                <a:solidFill>
                  <a:srgbClr val="383A42"/>
                </a:solidFill>
                <a:latin typeface="Courier New" pitchFamily="34" charset="0"/>
                <a:ea typeface="Courier New" pitchFamily="34" charset="-122"/>
                <a:cs typeface="Courier New" pitchFamily="34" charset="-120"/>
              </a:rPr>
              <a:t>true</a:t>
            </a:r>
            <a:endParaRPr lang="en-US" sz="860" dirty="0"/>
          </a:p>
          <a:p>
            <a:pPr marL="0" indent="0">
              <a:lnSpc>
                <a:spcPct val="102000"/>
              </a:lnSpc>
              <a:buNone/>
            </a:pPr>
            <a:r>
              <a:rPr lang="en-US" sz="860" dirty="0">
                <a:solidFill>
                  <a:srgbClr val="0B6B8A"/>
                </a:solidFill>
                <a:latin typeface="Courier New" pitchFamily="34" charset="0"/>
                <a:ea typeface="Courier New" pitchFamily="34" charset="-122"/>
                <a:cs typeface="Courier New" pitchFamily="34" charset="-120"/>
              </a:rPr>
              <a:t>spring.jpa.properties.hibernate.format_sql=</a:t>
            </a:r>
            <a:r>
              <a:rPr lang="en-US" sz="860" dirty="0">
                <a:solidFill>
                  <a:srgbClr val="383A42"/>
                </a:solidFill>
                <a:latin typeface="Courier New" pitchFamily="34" charset="0"/>
                <a:ea typeface="Courier New" pitchFamily="34" charset="-122"/>
                <a:cs typeface="Courier New" pitchFamily="34" charset="-120"/>
              </a:rPr>
              <a:t>true</a:t>
            </a:r>
            <a:endParaRPr lang="en-US" sz="860" dirty="0"/>
          </a:p>
          <a:p>
            <a:pPr marL="0" indent="0">
              <a:lnSpc>
                <a:spcPct val="102000"/>
              </a:lnSpc>
              <a:buNone/>
            </a:pPr>
            <a:r>
              <a:rPr lang="en-US" sz="860" dirty="0">
                <a:solidFill>
                  <a:srgbClr val="383A42"/>
                </a:solidFill>
                <a:latin typeface="Courier New" pitchFamily="34" charset="0"/>
                <a:ea typeface="Courier New" pitchFamily="34" charset="-122"/>
                <a:cs typeface="Courier New" pitchFamily="34" charset="-120"/>
              </a:rPr>
              <a:t> </a:t>
            </a:r>
            <a:endParaRPr lang="en-US" sz="860" dirty="0"/>
          </a:p>
          <a:p>
            <a:pPr marL="0" indent="0">
              <a:lnSpc>
                <a:spcPct val="102000"/>
              </a:lnSpc>
              <a:buNone/>
            </a:pPr>
            <a:r>
              <a:rPr lang="en-US" sz="860" i="1" dirty="0">
                <a:solidFill>
                  <a:srgbClr val="717171"/>
                </a:solidFill>
                <a:latin typeface="Courier New" pitchFamily="34" charset="0"/>
                <a:ea typeface="Courier New" pitchFamily="34" charset="-122"/>
                <a:cs typeface="Courier New" pitchFamily="34" charset="-120"/>
              </a:rPr>
              <a:t># --- Swagger / OpenAPI ---</a:t>
            </a:r>
            <a:endParaRPr lang="en-US" sz="860" dirty="0"/>
          </a:p>
          <a:p>
            <a:pPr marL="0" indent="0">
              <a:lnSpc>
                <a:spcPct val="102000"/>
              </a:lnSpc>
              <a:buNone/>
            </a:pPr>
            <a:r>
              <a:rPr lang="en-US" sz="860" dirty="0">
                <a:solidFill>
                  <a:srgbClr val="0B6B8A"/>
                </a:solidFill>
                <a:latin typeface="Courier New" pitchFamily="34" charset="0"/>
                <a:ea typeface="Courier New" pitchFamily="34" charset="-122"/>
                <a:cs typeface="Courier New" pitchFamily="34" charset="-120"/>
              </a:rPr>
              <a:t>springdoc.swagger-ui.path=</a:t>
            </a:r>
            <a:r>
              <a:rPr lang="en-US" sz="860" dirty="0">
                <a:solidFill>
                  <a:srgbClr val="383A42"/>
                </a:solidFill>
                <a:latin typeface="Courier New" pitchFamily="34" charset="0"/>
                <a:ea typeface="Courier New" pitchFamily="34" charset="-122"/>
                <a:cs typeface="Courier New" pitchFamily="34" charset="-120"/>
              </a:rPr>
              <a:t>/swagger-ui.html</a:t>
            </a:r>
            <a:endParaRPr lang="en-US" sz="860" dirty="0"/>
          </a:p>
          <a:p>
            <a:pPr marL="0" indent="0">
              <a:lnSpc>
                <a:spcPct val="102000"/>
              </a:lnSpc>
              <a:buNone/>
            </a:pPr>
            <a:r>
              <a:rPr lang="en-US" sz="860" dirty="0">
                <a:solidFill>
                  <a:srgbClr val="383A42"/>
                </a:solidFill>
                <a:latin typeface="Courier New" pitchFamily="34" charset="0"/>
                <a:ea typeface="Courier New" pitchFamily="34" charset="-122"/>
                <a:cs typeface="Courier New" pitchFamily="34" charset="-120"/>
              </a:rPr>
              <a:t> </a:t>
            </a:r>
            <a:endParaRPr lang="en-US" sz="860" dirty="0"/>
          </a:p>
          <a:p>
            <a:pPr marL="0" indent="0">
              <a:lnSpc>
                <a:spcPct val="102000"/>
              </a:lnSpc>
              <a:buNone/>
            </a:pPr>
            <a:r>
              <a:rPr lang="en-US" sz="860" i="1" dirty="0">
                <a:solidFill>
                  <a:srgbClr val="717171"/>
                </a:solidFill>
                <a:latin typeface="Courier New" pitchFamily="34" charset="0"/>
                <a:ea typeface="Courier New" pitchFamily="34" charset="-122"/>
                <a:cs typeface="Courier New" pitchFamily="34" charset="-120"/>
              </a:rPr>
              <a:t># --- Seguridad: JWT ---</a:t>
            </a:r>
            <a:endParaRPr lang="en-US" sz="860" dirty="0"/>
          </a:p>
          <a:p>
            <a:pPr marL="0" indent="0">
              <a:lnSpc>
                <a:spcPct val="102000"/>
              </a:lnSpc>
              <a:buNone/>
            </a:pPr>
            <a:r>
              <a:rPr lang="en-US" sz="860" dirty="0">
                <a:solidFill>
                  <a:srgbClr val="0B6B8A"/>
                </a:solidFill>
                <a:latin typeface="Courier New" pitchFamily="34" charset="0"/>
                <a:ea typeface="Courier New" pitchFamily="34" charset="-122"/>
                <a:cs typeface="Courier New" pitchFamily="34" charset="-120"/>
              </a:rPr>
              <a:t>app.jwt.secret=</a:t>
            </a:r>
            <a:r>
              <a:rPr lang="en-US" sz="860" dirty="0">
                <a:solidFill>
                  <a:srgbClr val="383A42"/>
                </a:solidFill>
                <a:latin typeface="Courier New" pitchFamily="34" charset="0"/>
                <a:ea typeface="Courier New" pitchFamily="34" charset="-122"/>
                <a:cs typeface="Courier New" pitchFamily="34" charset="-120"/>
              </a:rPr>
              <a:t>cambia-esta-clave-larga-y-aleatoria</a:t>
            </a:r>
            <a:endParaRPr lang="en-US" sz="860" dirty="0"/>
          </a:p>
          <a:p>
            <a:pPr marL="0" indent="0">
              <a:lnSpc>
                <a:spcPct val="102000"/>
              </a:lnSpc>
              <a:buNone/>
            </a:pPr>
            <a:r>
              <a:rPr lang="en-US" sz="860" dirty="0">
                <a:solidFill>
                  <a:srgbClr val="0B6B8A"/>
                </a:solidFill>
                <a:latin typeface="Courier New" pitchFamily="34" charset="0"/>
                <a:ea typeface="Courier New" pitchFamily="34" charset="-122"/>
                <a:cs typeface="Courier New" pitchFamily="34" charset="-120"/>
              </a:rPr>
              <a:t>app.jwt.expiration-ms=</a:t>
            </a:r>
            <a:r>
              <a:rPr lang="en-US" sz="860" dirty="0">
                <a:solidFill>
                  <a:srgbClr val="383A42"/>
                </a:solidFill>
                <a:latin typeface="Courier New" pitchFamily="34" charset="0"/>
                <a:ea typeface="Courier New" pitchFamily="34" charset="-122"/>
                <a:cs typeface="Courier New" pitchFamily="34" charset="-120"/>
              </a:rPr>
              <a:t>3600000</a:t>
            </a:r>
            <a:endParaRPr lang="en-US" sz="860" dirty="0"/>
          </a:p>
        </p:txBody>
      </p:sp>
      <p:sp>
        <p:nvSpPr>
          <p:cNvPr id="11" name="Shape 9"/>
          <p:cNvSpPr/>
          <p:nvPr/>
        </p:nvSpPr>
        <p:spPr>
          <a:xfrm>
            <a:off x="6400800" y="1325880"/>
            <a:ext cx="2286000" cy="1783080"/>
          </a:xfrm>
          <a:prstGeom prst="roundRect">
            <a:avLst>
              <a:gd name="adj" fmla="val 4103"/>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Text 10"/>
          <p:cNvSpPr/>
          <p:nvPr/>
        </p:nvSpPr>
        <p:spPr>
          <a:xfrm>
            <a:off x="6565392" y="1435608"/>
            <a:ext cx="1965960" cy="1600200"/>
          </a:xfrm>
          <a:prstGeom prst="rect">
            <a:avLst/>
          </a:prstGeom>
          <a:noFill/>
          <a:ln/>
        </p:spPr>
        <p:txBody>
          <a:bodyPr wrap="square" lIns="0" tIns="0" rIns="0" bIns="0" rtlCol="0" anchor="t"/>
          <a:lstStyle/>
          <a:p>
            <a:pPr marL="0" indent="0">
              <a:lnSpc>
                <a:spcPct val="104000"/>
              </a:lnSpc>
              <a:buNone/>
            </a:pPr>
            <a:r>
              <a:rPr lang="en-US" sz="1200" b="1" dirty="0">
                <a:solidFill>
                  <a:srgbClr val="006633"/>
                </a:solidFill>
                <a:latin typeface="Calibri" pitchFamily="34" charset="0"/>
                <a:ea typeface="Calibri" pitchFamily="34" charset="-122"/>
                <a:cs typeface="Calibri" pitchFamily="34" charset="-120"/>
              </a:rPr>
              <a:t>Un solo archivo
</a:t>
            </a:r>
            <a:endParaRPr lang="en-US" sz="1200" dirty="0"/>
          </a:p>
          <a:p>
            <a:pPr marL="0" indent="0">
              <a:lnSpc>
                <a:spcPct val="104000"/>
              </a:lnSpc>
              <a:buNone/>
            </a:pPr>
            <a:r>
              <a:rPr lang="en-US" sz="1000" dirty="0">
                <a:solidFill>
                  <a:srgbClr val="5C6B62"/>
                </a:solidFill>
                <a:latin typeface="Calibri" pitchFamily="34" charset="0"/>
                <a:ea typeface="Calibri" pitchFamily="34" charset="-122"/>
                <a:cs typeface="Calibri" pitchFamily="34" charset="-120"/>
              </a:rPr>
              <a:t>Conexion + JPA + Swagger + JWT, todo aqui. No hay archivo aparte para la BD.
</a:t>
            </a:r>
            <a:endParaRPr lang="en-US" sz="1200" dirty="0"/>
          </a:p>
          <a:p>
            <a:pPr marL="0" indent="0">
              <a:lnSpc>
                <a:spcPct val="104000"/>
              </a:lnSpc>
              <a:buNone/>
            </a:pPr>
            <a:r>
              <a:rPr lang="en-US" sz="1000" dirty="0">
                <a:solidFill>
                  <a:srgbClr val="1E2A22"/>
                </a:solidFill>
                <a:latin typeface="Calibri" pitchFamily="34" charset="0"/>
                <a:ea typeface="Calibri" pitchFamily="34" charset="-122"/>
                <a:cs typeface="Calibri" pitchFamily="34" charset="-120"/>
              </a:rPr>
              <a:t>Alternativa: application.yml (mismas claves en YAML).</a:t>
            </a:r>
            <a:endParaRPr lang="en-US" sz="1200" dirty="0"/>
          </a:p>
        </p:txBody>
      </p:sp>
      <p:sp>
        <p:nvSpPr>
          <p:cNvPr id="13" name="Shape 11"/>
          <p:cNvSpPr/>
          <p:nvPr/>
        </p:nvSpPr>
        <p:spPr>
          <a:xfrm>
            <a:off x="6400800" y="3246120"/>
            <a:ext cx="2286000" cy="1325880"/>
          </a:xfrm>
          <a:prstGeom prst="roundRect">
            <a:avLst>
              <a:gd name="adj" fmla="val 5517"/>
            </a:avLst>
          </a:prstGeom>
          <a:solidFill>
            <a:srgbClr val="FBEFE0"/>
          </a:solidFill>
          <a:ln/>
          <a:effectLst>
            <a:outerShdw blurRad="88900" dist="38100" dir="5400000" algn="bl" rotWithShape="0">
              <a:srgbClr val="000000">
                <a:alpha val="16000"/>
              </a:srgbClr>
            </a:outerShdw>
          </a:effectLst>
        </p:spPr>
        <p:txBody>
          <a:bodyPr/>
          <a:lstStyle/>
          <a:p>
            <a:endParaRPr lang="es-ES"/>
          </a:p>
        </p:txBody>
      </p:sp>
      <p:sp>
        <p:nvSpPr>
          <p:cNvPr id="14" name="Text 12"/>
          <p:cNvSpPr/>
          <p:nvPr/>
        </p:nvSpPr>
        <p:spPr>
          <a:xfrm>
            <a:off x="6565392" y="3346704"/>
            <a:ext cx="1965960" cy="1143000"/>
          </a:xfrm>
          <a:prstGeom prst="rect">
            <a:avLst/>
          </a:prstGeom>
          <a:noFill/>
          <a:ln/>
        </p:spPr>
        <p:txBody>
          <a:bodyPr wrap="square" lIns="0" tIns="0" rIns="0" bIns="0" rtlCol="0" anchor="t"/>
          <a:lstStyle/>
          <a:p>
            <a:pPr marL="0" indent="0">
              <a:lnSpc>
                <a:spcPct val="104000"/>
              </a:lnSpc>
              <a:buNone/>
            </a:pPr>
            <a:r>
              <a:rPr lang="en-US" sz="1000" b="1" dirty="0">
                <a:solidFill>
                  <a:srgbClr val="9A5B00"/>
                </a:solidFill>
                <a:latin typeface="Courier New" pitchFamily="34" charset="0"/>
                <a:ea typeface="Courier New" pitchFamily="34" charset="-122"/>
                <a:cs typeface="Courier New" pitchFamily="34" charset="-120"/>
              </a:rPr>
              <a:t>ddl-auto=update
</a:t>
            </a:r>
            <a:endParaRPr lang="en-US" sz="1000" dirty="0"/>
          </a:p>
          <a:p>
            <a:pPr marL="0" indent="0">
              <a:lnSpc>
                <a:spcPct val="104000"/>
              </a:lnSpc>
              <a:buNone/>
            </a:pPr>
            <a:r>
              <a:rPr lang="en-US" sz="1000" dirty="0">
                <a:solidFill>
                  <a:srgbClr val="5C6B62"/>
                </a:solidFill>
                <a:latin typeface="Calibri" pitchFamily="34" charset="0"/>
                <a:ea typeface="Calibri" pitchFamily="34" charset="-122"/>
                <a:cs typeface="Calibri" pitchFamily="34" charset="-120"/>
              </a:rPr>
              <a:t>Crea las tablas desde tus clases @Entity. No escribes SQL.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2 — MODELO DE USUARIO</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Usuario y Rol: la identidad en la BD</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8092440" y="411480"/>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8092440" y="411480"/>
            <a:ext cx="566928" cy="566928"/>
          </a:xfrm>
          <a:prstGeom prst="rect">
            <a:avLst/>
          </a:prstGeom>
          <a:noFill/>
          <a:ln/>
        </p:spPr>
        <p:txBody>
          <a:bodyPr wrap="square" lIns="0" tIns="0" rIns="0" bIns="0" rtlCol="0" anchor="ctr"/>
          <a:lstStyle/>
          <a:p>
            <a:pPr marL="0" indent="0" algn="ctr">
              <a:buNone/>
            </a:pPr>
            <a:r>
              <a:rPr lang="en-US" sz="2600" b="1" dirty="0">
                <a:solidFill>
                  <a:srgbClr val="E8B923"/>
                </a:solidFill>
                <a:latin typeface="Cambria" pitchFamily="34" charset="0"/>
                <a:ea typeface="Cambria" pitchFamily="34" charset="-122"/>
                <a:cs typeface="Cambria" pitchFamily="34" charset="-120"/>
              </a:rPr>
              <a:t>2</a:t>
            </a:r>
            <a:endParaRPr lang="en-US" sz="2600" dirty="0"/>
          </a:p>
        </p:txBody>
      </p:sp>
      <p:sp>
        <p:nvSpPr>
          <p:cNvPr id="8" name="Shape 6"/>
          <p:cNvSpPr/>
          <p:nvPr/>
        </p:nvSpPr>
        <p:spPr>
          <a:xfrm>
            <a:off x="457200" y="1371600"/>
            <a:ext cx="5669280" cy="3246120"/>
          </a:xfrm>
          <a:prstGeom prst="roundRect">
            <a:avLst>
              <a:gd name="adj" fmla="val 1690"/>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21792" y="1444752"/>
            <a:ext cx="539496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model/Usuario.java</a:t>
            </a:r>
            <a:endParaRPr lang="en-US" sz="950" dirty="0"/>
          </a:p>
        </p:txBody>
      </p:sp>
      <p:sp>
        <p:nvSpPr>
          <p:cNvPr id="10" name="Text 8"/>
          <p:cNvSpPr/>
          <p:nvPr/>
        </p:nvSpPr>
        <p:spPr>
          <a:xfrm>
            <a:off x="621792" y="1700784"/>
            <a:ext cx="5358384" cy="2825496"/>
          </a:xfrm>
          <a:prstGeom prst="rect">
            <a:avLst/>
          </a:prstGeom>
          <a:noFill/>
          <a:ln/>
        </p:spPr>
        <p:txBody>
          <a:bodyPr wrap="square" lIns="0" tIns="0" rIns="0" bIns="0" rtlCol="0" anchor="t"/>
          <a:lstStyle/>
          <a:p>
            <a:pPr marL="0" indent="0">
              <a:lnSpc>
                <a:spcPct val="102000"/>
              </a:lnSpc>
              <a:buNone/>
            </a:pPr>
            <a:r>
              <a:rPr lang="en-US" sz="930" b="1" dirty="0">
                <a:solidFill>
                  <a:srgbClr val="7B2FBE"/>
                </a:solidFill>
                <a:latin typeface="Courier New" pitchFamily="34" charset="0"/>
                <a:ea typeface="Courier New" pitchFamily="34" charset="-122"/>
                <a:cs typeface="Courier New" pitchFamily="34" charset="-120"/>
              </a:rPr>
              <a:t>@Entity</a:t>
            </a: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7B2FBE"/>
                </a:solidFill>
                <a:latin typeface="Courier New" pitchFamily="34" charset="0"/>
                <a:ea typeface="Courier New" pitchFamily="34" charset="-122"/>
                <a:cs typeface="Courier New" pitchFamily="34" charset="-120"/>
              </a:rPr>
              <a:t>@Table</a:t>
            </a:r>
            <a:r>
              <a:rPr lang="en-US" sz="930" dirty="0">
                <a:solidFill>
                  <a:srgbClr val="383A42"/>
                </a:solidFill>
                <a:latin typeface="Courier New" pitchFamily="34" charset="0"/>
                <a:ea typeface="Courier New" pitchFamily="34" charset="-122"/>
                <a:cs typeface="Courier New" pitchFamily="34" charset="-120"/>
              </a:rPr>
              <a:t>(name = </a:t>
            </a:r>
            <a:r>
              <a:rPr lang="en-US" sz="930" dirty="0">
                <a:solidFill>
                  <a:srgbClr val="C41A16"/>
                </a:solidFill>
                <a:latin typeface="Courier New" pitchFamily="34" charset="0"/>
                <a:ea typeface="Courier New" pitchFamily="34" charset="-122"/>
                <a:cs typeface="Courier New" pitchFamily="34" charset="-120"/>
              </a:rPr>
              <a:t>"usuario"</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b="1" dirty="0">
                <a:solidFill>
                  <a:srgbClr val="7B2FBE"/>
                </a:solidFill>
                <a:latin typeface="Courier New" pitchFamily="34" charset="0"/>
                <a:ea typeface="Courier New" pitchFamily="34" charset="-122"/>
                <a:cs typeface="Courier New" pitchFamily="34" charset="-120"/>
              </a:rPr>
              <a:t>@Getter</a:t>
            </a: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7B2FBE"/>
                </a:solidFill>
                <a:latin typeface="Courier New" pitchFamily="34" charset="0"/>
                <a:ea typeface="Courier New" pitchFamily="34" charset="-122"/>
                <a:cs typeface="Courier New" pitchFamily="34" charset="-120"/>
              </a:rPr>
              <a:t>@Setter</a:t>
            </a:r>
            <a:endParaRPr lang="en-US" sz="930" dirty="0"/>
          </a:p>
          <a:p>
            <a:pPr marL="0" indent="0">
              <a:lnSpc>
                <a:spcPct val="102000"/>
              </a:lnSpc>
              <a:buNone/>
            </a:pPr>
            <a:r>
              <a:rPr lang="en-US" sz="930" b="1" dirty="0">
                <a:solidFill>
                  <a:srgbClr val="0057AE"/>
                </a:solidFill>
                <a:latin typeface="Courier New" pitchFamily="34" charset="0"/>
                <a:ea typeface="Courier New" pitchFamily="34" charset="-122"/>
                <a:cs typeface="Courier New" pitchFamily="34" charset="-120"/>
              </a:rPr>
              <a:t>public</a:t>
            </a: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0057AE"/>
                </a:solidFill>
                <a:latin typeface="Courier New" pitchFamily="34" charset="0"/>
                <a:ea typeface="Courier New" pitchFamily="34" charset="-122"/>
                <a:cs typeface="Courier New" pitchFamily="34" charset="-120"/>
              </a:rPr>
              <a:t>class</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Usuario</a:t>
            </a:r>
            <a:r>
              <a:rPr lang="en-US" sz="930" dirty="0">
                <a:solidFill>
                  <a:srgbClr val="383A42"/>
                </a:solidFill>
                <a:latin typeface="Courier New" pitchFamily="34" charset="0"/>
                <a:ea typeface="Courier New" pitchFamily="34" charset="-122"/>
                <a:cs typeface="Courier New" pitchFamily="34" charset="-120"/>
              </a:rPr>
              <a:t> {</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7B2FBE"/>
                </a:solidFill>
                <a:latin typeface="Courier New" pitchFamily="34" charset="0"/>
                <a:ea typeface="Courier New" pitchFamily="34" charset="-122"/>
                <a:cs typeface="Courier New" pitchFamily="34" charset="-120"/>
              </a:rPr>
              <a:t>@Id</a:t>
            </a: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7B2FBE"/>
                </a:solidFill>
                <a:latin typeface="Courier New" pitchFamily="34" charset="0"/>
                <a:ea typeface="Courier New" pitchFamily="34" charset="-122"/>
                <a:cs typeface="Courier New" pitchFamily="34" charset="-120"/>
              </a:rPr>
              <a:t>@GeneratedValue</a:t>
            </a:r>
            <a:r>
              <a:rPr lang="en-US" sz="930" dirty="0">
                <a:solidFill>
                  <a:srgbClr val="383A42"/>
                </a:solidFill>
                <a:latin typeface="Courier New" pitchFamily="34" charset="0"/>
                <a:ea typeface="Courier New" pitchFamily="34" charset="-122"/>
                <a:cs typeface="Courier New" pitchFamily="34" charset="-120"/>
              </a:rPr>
              <a:t>(strategy = GenerationType.IDENTITY)</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0057AE"/>
                </a:solidFill>
                <a:latin typeface="Courier New" pitchFamily="34" charset="0"/>
                <a:ea typeface="Courier New" pitchFamily="34" charset="-122"/>
                <a:cs typeface="Courier New" pitchFamily="34" charset="-120"/>
              </a:rPr>
              <a:t>private</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Long</a:t>
            </a:r>
            <a:r>
              <a:rPr lang="en-US" sz="930" dirty="0">
                <a:solidFill>
                  <a:srgbClr val="383A42"/>
                </a:solidFill>
                <a:latin typeface="Courier New" pitchFamily="34" charset="0"/>
                <a:ea typeface="Courier New" pitchFamily="34" charset="-122"/>
                <a:cs typeface="Courier New" pitchFamily="34" charset="-120"/>
              </a:rPr>
              <a:t> id;</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7B2FBE"/>
                </a:solidFill>
                <a:latin typeface="Courier New" pitchFamily="34" charset="0"/>
                <a:ea typeface="Courier New" pitchFamily="34" charset="-122"/>
                <a:cs typeface="Courier New" pitchFamily="34" charset="-120"/>
              </a:rPr>
              <a:t>@Column</a:t>
            </a:r>
            <a:r>
              <a:rPr lang="en-US" sz="930" dirty="0">
                <a:solidFill>
                  <a:srgbClr val="383A42"/>
                </a:solidFill>
                <a:latin typeface="Courier New" pitchFamily="34" charset="0"/>
                <a:ea typeface="Courier New" pitchFamily="34" charset="-122"/>
                <a:cs typeface="Courier New" pitchFamily="34" charset="-120"/>
              </a:rPr>
              <a:t>(unique = </a:t>
            </a:r>
            <a:r>
              <a:rPr lang="en-US" sz="930" b="1" dirty="0">
                <a:solidFill>
                  <a:srgbClr val="0057AE"/>
                </a:solidFill>
                <a:latin typeface="Courier New" pitchFamily="34" charset="0"/>
                <a:ea typeface="Courier New" pitchFamily="34" charset="-122"/>
                <a:cs typeface="Courier New" pitchFamily="34" charset="-120"/>
              </a:rPr>
              <a:t>true</a:t>
            </a:r>
            <a:r>
              <a:rPr lang="en-US" sz="930" dirty="0">
                <a:solidFill>
                  <a:srgbClr val="383A42"/>
                </a:solidFill>
                <a:latin typeface="Courier New" pitchFamily="34" charset="0"/>
                <a:ea typeface="Courier New" pitchFamily="34" charset="-122"/>
                <a:cs typeface="Courier New" pitchFamily="34" charset="-120"/>
              </a:rPr>
              <a:t>, nullable = </a:t>
            </a:r>
            <a:r>
              <a:rPr lang="en-US" sz="930" b="1" dirty="0">
                <a:solidFill>
                  <a:srgbClr val="0057AE"/>
                </a:solidFill>
                <a:latin typeface="Courier New" pitchFamily="34" charset="0"/>
                <a:ea typeface="Courier New" pitchFamily="34" charset="-122"/>
                <a:cs typeface="Courier New" pitchFamily="34" charset="-120"/>
              </a:rPr>
              <a:t>false</a:t>
            </a:r>
            <a:r>
              <a:rPr lang="en-US" sz="930" dirty="0">
                <a:solidFill>
                  <a:srgbClr val="383A42"/>
                </a:solidFill>
                <a:latin typeface="Courier New" pitchFamily="34" charset="0"/>
                <a:ea typeface="Courier New" pitchFamily="34" charset="-122"/>
                <a:cs typeface="Courier New" pitchFamily="34" charset="-120"/>
              </a:rPr>
              <a:t>, length = </a:t>
            </a:r>
            <a:r>
              <a:rPr lang="en-US" sz="930" dirty="0">
                <a:solidFill>
                  <a:srgbClr val="C87B00"/>
                </a:solidFill>
                <a:latin typeface="Courier New" pitchFamily="34" charset="0"/>
                <a:ea typeface="Courier New" pitchFamily="34" charset="-122"/>
                <a:cs typeface="Courier New" pitchFamily="34" charset="-120"/>
              </a:rPr>
              <a:t>60</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0057AE"/>
                </a:solidFill>
                <a:latin typeface="Courier New" pitchFamily="34" charset="0"/>
                <a:ea typeface="Courier New" pitchFamily="34" charset="-122"/>
                <a:cs typeface="Courier New" pitchFamily="34" charset="-120"/>
              </a:rPr>
              <a:t>private</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String</a:t>
            </a:r>
            <a:r>
              <a:rPr lang="en-US" sz="930" dirty="0">
                <a:solidFill>
                  <a:srgbClr val="383A42"/>
                </a:solidFill>
                <a:latin typeface="Courier New" pitchFamily="34" charset="0"/>
                <a:ea typeface="Courier New" pitchFamily="34" charset="-122"/>
                <a:cs typeface="Courier New" pitchFamily="34" charset="-120"/>
              </a:rPr>
              <a:t> username;</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7B2FBE"/>
                </a:solidFill>
                <a:latin typeface="Courier New" pitchFamily="34" charset="0"/>
                <a:ea typeface="Courier New" pitchFamily="34" charset="-122"/>
                <a:cs typeface="Courier New" pitchFamily="34" charset="-120"/>
              </a:rPr>
              <a:t>@Column</a:t>
            </a:r>
            <a:r>
              <a:rPr lang="en-US" sz="930" dirty="0">
                <a:solidFill>
                  <a:srgbClr val="383A42"/>
                </a:solidFill>
                <a:latin typeface="Courier New" pitchFamily="34" charset="0"/>
                <a:ea typeface="Courier New" pitchFamily="34" charset="-122"/>
                <a:cs typeface="Courier New" pitchFamily="34" charset="-120"/>
              </a:rPr>
              <a:t>(nullable = </a:t>
            </a:r>
            <a:r>
              <a:rPr lang="en-US" sz="930" b="1" dirty="0">
                <a:solidFill>
                  <a:srgbClr val="0057AE"/>
                </a:solidFill>
                <a:latin typeface="Courier New" pitchFamily="34" charset="0"/>
                <a:ea typeface="Courier New" pitchFamily="34" charset="-122"/>
                <a:cs typeface="Courier New" pitchFamily="34" charset="-120"/>
              </a:rPr>
              <a:t>false</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0057AE"/>
                </a:solidFill>
                <a:latin typeface="Courier New" pitchFamily="34" charset="0"/>
                <a:ea typeface="Courier New" pitchFamily="34" charset="-122"/>
                <a:cs typeface="Courier New" pitchFamily="34" charset="-120"/>
              </a:rPr>
              <a:t>private</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String</a:t>
            </a:r>
            <a:r>
              <a:rPr lang="en-US" sz="930" dirty="0">
                <a:solidFill>
                  <a:srgbClr val="383A42"/>
                </a:solidFill>
                <a:latin typeface="Courier New" pitchFamily="34" charset="0"/>
                <a:ea typeface="Courier New" pitchFamily="34" charset="-122"/>
                <a:cs typeface="Courier New" pitchFamily="34" charset="-120"/>
              </a:rPr>
              <a:t> password;          </a:t>
            </a:r>
            <a:r>
              <a:rPr lang="en-US" sz="930" i="1" dirty="0">
                <a:solidFill>
                  <a:srgbClr val="717171"/>
                </a:solidFill>
                <a:latin typeface="Courier New" pitchFamily="34" charset="0"/>
                <a:ea typeface="Courier New" pitchFamily="34" charset="-122"/>
                <a:cs typeface="Courier New" pitchFamily="34" charset="-120"/>
              </a:rPr>
              <a:t>// hash BCrypt</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7B2FBE"/>
                </a:solidFill>
                <a:latin typeface="Courier New" pitchFamily="34" charset="0"/>
                <a:ea typeface="Courier New" pitchFamily="34" charset="-122"/>
                <a:cs typeface="Courier New" pitchFamily="34" charset="-120"/>
              </a:rPr>
              <a:t>@ElementCollection</a:t>
            </a:r>
            <a:r>
              <a:rPr lang="en-US" sz="930" dirty="0">
                <a:solidFill>
                  <a:srgbClr val="383A42"/>
                </a:solidFill>
                <a:latin typeface="Courier New" pitchFamily="34" charset="0"/>
                <a:ea typeface="Courier New" pitchFamily="34" charset="-122"/>
                <a:cs typeface="Courier New" pitchFamily="34" charset="-120"/>
              </a:rPr>
              <a:t>(fetch = FetchType.EAGER)</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7B2FBE"/>
                </a:solidFill>
                <a:latin typeface="Courier New" pitchFamily="34" charset="0"/>
                <a:ea typeface="Courier New" pitchFamily="34" charset="-122"/>
                <a:cs typeface="Courier New" pitchFamily="34" charset="-120"/>
              </a:rPr>
              <a:t>@CollectionTable</a:t>
            </a:r>
            <a:r>
              <a:rPr lang="en-US" sz="930" dirty="0">
                <a:solidFill>
                  <a:srgbClr val="383A42"/>
                </a:solidFill>
                <a:latin typeface="Courier New" pitchFamily="34" charset="0"/>
                <a:ea typeface="Courier New" pitchFamily="34" charset="-122"/>
                <a:cs typeface="Courier New" pitchFamily="34" charset="-120"/>
              </a:rPr>
              <a:t>(name = </a:t>
            </a:r>
            <a:r>
              <a:rPr lang="en-US" sz="930" dirty="0">
                <a:solidFill>
                  <a:srgbClr val="C41A16"/>
                </a:solidFill>
                <a:latin typeface="Courier New" pitchFamily="34" charset="0"/>
                <a:ea typeface="Courier New" pitchFamily="34" charset="-122"/>
                <a:cs typeface="Courier New" pitchFamily="34" charset="-120"/>
              </a:rPr>
              <a:t>"usuario_rol"</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joinColumns = </a:t>
            </a:r>
            <a:r>
              <a:rPr lang="en-US" sz="930" b="1" dirty="0">
                <a:solidFill>
                  <a:srgbClr val="7B2FBE"/>
                </a:solidFill>
                <a:latin typeface="Courier New" pitchFamily="34" charset="0"/>
                <a:ea typeface="Courier New" pitchFamily="34" charset="-122"/>
                <a:cs typeface="Courier New" pitchFamily="34" charset="-120"/>
              </a:rPr>
              <a:t>@JoinColumn</a:t>
            </a:r>
            <a:r>
              <a:rPr lang="en-US" sz="930" dirty="0">
                <a:solidFill>
                  <a:srgbClr val="383A42"/>
                </a:solidFill>
                <a:latin typeface="Courier New" pitchFamily="34" charset="0"/>
                <a:ea typeface="Courier New" pitchFamily="34" charset="-122"/>
                <a:cs typeface="Courier New" pitchFamily="34" charset="-120"/>
              </a:rPr>
              <a:t>(name = </a:t>
            </a:r>
            <a:r>
              <a:rPr lang="en-US" sz="930" dirty="0">
                <a:solidFill>
                  <a:srgbClr val="C41A16"/>
                </a:solidFill>
                <a:latin typeface="Courier New" pitchFamily="34" charset="0"/>
                <a:ea typeface="Courier New" pitchFamily="34" charset="-122"/>
                <a:cs typeface="Courier New" pitchFamily="34" charset="-120"/>
              </a:rPr>
              <a:t>"usuario_id"</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7B2FBE"/>
                </a:solidFill>
                <a:latin typeface="Courier New" pitchFamily="34" charset="0"/>
                <a:ea typeface="Courier New" pitchFamily="34" charset="-122"/>
                <a:cs typeface="Courier New" pitchFamily="34" charset="-120"/>
              </a:rPr>
              <a:t>@Enumerated</a:t>
            </a:r>
            <a:r>
              <a:rPr lang="en-US" sz="930" dirty="0">
                <a:solidFill>
                  <a:srgbClr val="383A42"/>
                </a:solidFill>
                <a:latin typeface="Courier New" pitchFamily="34" charset="0"/>
                <a:ea typeface="Courier New" pitchFamily="34" charset="-122"/>
                <a:cs typeface="Courier New" pitchFamily="34" charset="-120"/>
              </a:rPr>
              <a:t>(EnumType.STRING)</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7B2FBE"/>
                </a:solidFill>
                <a:latin typeface="Courier New" pitchFamily="34" charset="0"/>
                <a:ea typeface="Courier New" pitchFamily="34" charset="-122"/>
                <a:cs typeface="Courier New" pitchFamily="34" charset="-120"/>
              </a:rPr>
              <a:t>@Column</a:t>
            </a:r>
            <a:r>
              <a:rPr lang="en-US" sz="930" dirty="0">
                <a:solidFill>
                  <a:srgbClr val="383A42"/>
                </a:solidFill>
                <a:latin typeface="Courier New" pitchFamily="34" charset="0"/>
                <a:ea typeface="Courier New" pitchFamily="34" charset="-122"/>
                <a:cs typeface="Courier New" pitchFamily="34" charset="-120"/>
              </a:rPr>
              <a:t>(name = </a:t>
            </a:r>
            <a:r>
              <a:rPr lang="en-US" sz="930" dirty="0">
                <a:solidFill>
                  <a:srgbClr val="C41A16"/>
                </a:solidFill>
                <a:latin typeface="Courier New" pitchFamily="34" charset="0"/>
                <a:ea typeface="Courier New" pitchFamily="34" charset="-122"/>
                <a:cs typeface="Courier New" pitchFamily="34" charset="-120"/>
              </a:rPr>
              <a:t>"rol"</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0057AE"/>
                </a:solidFill>
                <a:latin typeface="Courier New" pitchFamily="34" charset="0"/>
                <a:ea typeface="Courier New" pitchFamily="34" charset="-122"/>
                <a:cs typeface="Courier New" pitchFamily="34" charset="-120"/>
              </a:rPr>
              <a:t>private</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Set</a:t>
            </a:r>
            <a:r>
              <a:rPr lang="en-US" sz="930" dirty="0">
                <a:solidFill>
                  <a:srgbClr val="383A42"/>
                </a:solidFill>
                <a:latin typeface="Courier New" pitchFamily="34" charset="0"/>
                <a:ea typeface="Courier New" pitchFamily="34" charset="-122"/>
                <a:cs typeface="Courier New" pitchFamily="34" charset="-120"/>
              </a:rPr>
              <a:t>&lt;</a:t>
            </a:r>
            <a:r>
              <a:rPr lang="en-US" sz="930" dirty="0">
                <a:solidFill>
                  <a:srgbClr val="2D8000"/>
                </a:solidFill>
                <a:latin typeface="Courier New" pitchFamily="34" charset="0"/>
                <a:ea typeface="Courier New" pitchFamily="34" charset="-122"/>
                <a:cs typeface="Courier New" pitchFamily="34" charset="-120"/>
              </a:rPr>
              <a:t>Rol</a:t>
            </a:r>
            <a:r>
              <a:rPr lang="en-US" sz="930" dirty="0">
                <a:solidFill>
                  <a:srgbClr val="383A42"/>
                </a:solidFill>
                <a:latin typeface="Courier New" pitchFamily="34" charset="0"/>
                <a:ea typeface="Courier New" pitchFamily="34" charset="-122"/>
                <a:cs typeface="Courier New" pitchFamily="34" charset="-120"/>
              </a:rPr>
              <a:t>&gt; roles;</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a:t>
            </a:r>
            <a:endParaRPr lang="en-US" sz="930" dirty="0"/>
          </a:p>
        </p:txBody>
      </p:sp>
      <p:sp>
        <p:nvSpPr>
          <p:cNvPr id="11" name="Shape 9"/>
          <p:cNvSpPr/>
          <p:nvPr/>
        </p:nvSpPr>
        <p:spPr>
          <a:xfrm>
            <a:off x="6263640" y="1371600"/>
            <a:ext cx="2423160" cy="1600200"/>
          </a:xfrm>
          <a:prstGeom prst="roundRect">
            <a:avLst>
              <a:gd name="adj" fmla="val 3429"/>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12" name="Text 10"/>
          <p:cNvSpPr/>
          <p:nvPr/>
        </p:nvSpPr>
        <p:spPr>
          <a:xfrm>
            <a:off x="6428232" y="1444752"/>
            <a:ext cx="214884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model/Rol.java</a:t>
            </a:r>
            <a:endParaRPr lang="en-US" sz="950" dirty="0"/>
          </a:p>
        </p:txBody>
      </p:sp>
      <p:sp>
        <p:nvSpPr>
          <p:cNvPr id="13" name="Text 11"/>
          <p:cNvSpPr/>
          <p:nvPr/>
        </p:nvSpPr>
        <p:spPr>
          <a:xfrm>
            <a:off x="6428232" y="1700784"/>
            <a:ext cx="2112264" cy="1179576"/>
          </a:xfrm>
          <a:prstGeom prst="rect">
            <a:avLst/>
          </a:prstGeom>
          <a:noFill/>
          <a:ln/>
        </p:spPr>
        <p:txBody>
          <a:bodyPr wrap="square" lIns="0" tIns="0" rIns="0" bIns="0" rtlCol="0" anchor="t"/>
          <a:lstStyle/>
          <a:p>
            <a:pPr marL="0" indent="0">
              <a:lnSpc>
                <a:spcPct val="102000"/>
              </a:lnSpc>
              <a:buNone/>
            </a:pPr>
            <a:r>
              <a:rPr lang="en-US" sz="1000" b="1" dirty="0">
                <a:solidFill>
                  <a:srgbClr val="0057AE"/>
                </a:solidFill>
                <a:latin typeface="Courier New" pitchFamily="34" charset="0"/>
                <a:ea typeface="Courier New" pitchFamily="34" charset="-122"/>
                <a:cs typeface="Courier New" pitchFamily="34" charset="-120"/>
              </a:rPr>
              <a:t>public</a:t>
            </a:r>
            <a:r>
              <a:rPr lang="en-US" sz="1000" dirty="0">
                <a:solidFill>
                  <a:srgbClr val="383A42"/>
                </a:solidFill>
                <a:latin typeface="Courier New" pitchFamily="34" charset="0"/>
                <a:ea typeface="Courier New" pitchFamily="34" charset="-122"/>
                <a:cs typeface="Courier New" pitchFamily="34" charset="-120"/>
              </a:rPr>
              <a:t> </a:t>
            </a:r>
            <a:r>
              <a:rPr lang="en-US" sz="1000" b="1" dirty="0">
                <a:solidFill>
                  <a:srgbClr val="0057AE"/>
                </a:solidFill>
                <a:latin typeface="Courier New" pitchFamily="34" charset="0"/>
                <a:ea typeface="Courier New" pitchFamily="34" charset="-122"/>
                <a:cs typeface="Courier New" pitchFamily="34" charset="-120"/>
              </a:rPr>
              <a:t>enum</a:t>
            </a: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2D8000"/>
                </a:solidFill>
                <a:latin typeface="Courier New" pitchFamily="34" charset="0"/>
                <a:ea typeface="Courier New" pitchFamily="34" charset="-122"/>
                <a:cs typeface="Courier New" pitchFamily="34" charset="-120"/>
              </a:rPr>
              <a:t>Rol</a:t>
            </a:r>
            <a:r>
              <a:rPr lang="en-US" sz="1000" dirty="0">
                <a:solidFill>
                  <a:srgbClr val="383A42"/>
                </a:solidFill>
                <a:latin typeface="Courier New" pitchFamily="34" charset="0"/>
                <a:ea typeface="Courier New" pitchFamily="34" charset="-122"/>
                <a:cs typeface="Courier New" pitchFamily="34" charset="-120"/>
              </a:rPr>
              <a:t> {</a:t>
            </a:r>
            <a:endParaRPr lang="en-US" sz="1000" dirty="0"/>
          </a:p>
          <a:p>
            <a:pPr marL="0" indent="0">
              <a:lnSpc>
                <a:spcPct val="102000"/>
              </a:lnSpc>
              <a:buNone/>
            </a:pPr>
            <a:r>
              <a:rPr lang="en-US" sz="1000" dirty="0">
                <a:solidFill>
                  <a:srgbClr val="383A42"/>
                </a:solidFill>
                <a:latin typeface="Courier New" pitchFamily="34" charset="0"/>
                <a:ea typeface="Courier New" pitchFamily="34" charset="-122"/>
                <a:cs typeface="Courier New" pitchFamily="34" charset="-120"/>
              </a:rPr>
              <a:t>  ADMIN,</a:t>
            </a:r>
            <a:endParaRPr lang="en-US" sz="1000" dirty="0"/>
          </a:p>
          <a:p>
            <a:pPr marL="0" indent="0">
              <a:lnSpc>
                <a:spcPct val="102000"/>
              </a:lnSpc>
              <a:buNone/>
            </a:pPr>
            <a:r>
              <a:rPr lang="en-US" sz="1000" dirty="0">
                <a:solidFill>
                  <a:srgbClr val="383A42"/>
                </a:solidFill>
                <a:latin typeface="Courier New" pitchFamily="34" charset="0"/>
                <a:ea typeface="Courier New" pitchFamily="34" charset="-122"/>
                <a:cs typeface="Courier New" pitchFamily="34" charset="-120"/>
              </a:rPr>
              <a:t>  DOCENTE,</a:t>
            </a:r>
            <a:endParaRPr lang="en-US" sz="1000" dirty="0"/>
          </a:p>
          <a:p>
            <a:pPr marL="0" indent="0">
              <a:lnSpc>
                <a:spcPct val="102000"/>
              </a:lnSpc>
              <a:buNone/>
            </a:pPr>
            <a:r>
              <a:rPr lang="en-US" sz="1000" dirty="0">
                <a:solidFill>
                  <a:srgbClr val="383A42"/>
                </a:solidFill>
                <a:latin typeface="Courier New" pitchFamily="34" charset="0"/>
                <a:ea typeface="Courier New" pitchFamily="34" charset="-122"/>
                <a:cs typeface="Courier New" pitchFamily="34" charset="-120"/>
              </a:rPr>
              <a:t>  ESTUDIANTE</a:t>
            </a:r>
            <a:endParaRPr lang="en-US" sz="1000" dirty="0"/>
          </a:p>
          <a:p>
            <a:pPr marL="0" indent="0">
              <a:lnSpc>
                <a:spcPct val="102000"/>
              </a:lnSpc>
              <a:buNone/>
            </a:pPr>
            <a:r>
              <a:rPr lang="en-US" sz="1000" dirty="0">
                <a:solidFill>
                  <a:srgbClr val="383A42"/>
                </a:solidFill>
                <a:latin typeface="Courier New" pitchFamily="34" charset="0"/>
                <a:ea typeface="Courier New" pitchFamily="34" charset="-122"/>
                <a:cs typeface="Courier New" pitchFamily="34" charset="-120"/>
              </a:rPr>
              <a:t>}</a:t>
            </a:r>
            <a:endParaRPr lang="en-US" sz="1000" dirty="0"/>
          </a:p>
        </p:txBody>
      </p:sp>
      <p:sp>
        <p:nvSpPr>
          <p:cNvPr id="14" name="Shape 12"/>
          <p:cNvSpPr/>
          <p:nvPr/>
        </p:nvSpPr>
        <p:spPr>
          <a:xfrm>
            <a:off x="6263640" y="3108960"/>
            <a:ext cx="2423160" cy="1463040"/>
          </a:xfrm>
          <a:prstGeom prst="roundRect">
            <a:avLst>
              <a:gd name="adj" fmla="val 5000"/>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5" name="Text 13"/>
          <p:cNvSpPr/>
          <p:nvPr/>
        </p:nvSpPr>
        <p:spPr>
          <a:xfrm>
            <a:off x="6419088" y="3200400"/>
            <a:ext cx="2148840" cy="1280160"/>
          </a:xfrm>
          <a:prstGeom prst="rect">
            <a:avLst/>
          </a:prstGeom>
          <a:noFill/>
          <a:ln/>
        </p:spPr>
        <p:txBody>
          <a:bodyPr wrap="square" lIns="0" tIns="0" rIns="0" bIns="0" rtlCol="0" anchor="t"/>
          <a:lstStyle/>
          <a:p>
            <a:pPr marL="0" indent="0">
              <a:lnSpc>
                <a:spcPct val="104000"/>
              </a:lnSpc>
              <a:buNone/>
            </a:pPr>
            <a:r>
              <a:rPr lang="en-US" sz="1100" b="1" dirty="0">
                <a:solidFill>
                  <a:srgbClr val="006633"/>
                </a:solidFill>
                <a:latin typeface="Calibri" pitchFamily="34" charset="0"/>
                <a:ea typeface="Calibri" pitchFamily="34" charset="-122"/>
                <a:cs typeface="Calibri" pitchFamily="34" charset="-120"/>
              </a:rPr>
              <a:t>Clave
</a:t>
            </a:r>
            <a:endParaRPr lang="en-US" sz="1100" dirty="0"/>
          </a:p>
          <a:p>
            <a:pPr marL="0" indent="0">
              <a:lnSpc>
                <a:spcPct val="104000"/>
              </a:lnSpc>
              <a:buNone/>
            </a:pPr>
            <a:r>
              <a:rPr lang="en-US" sz="1000" dirty="0">
                <a:solidFill>
                  <a:srgbClr val="5C6B62"/>
                </a:solidFill>
                <a:latin typeface="Calibri" pitchFamily="34" charset="0"/>
                <a:ea typeface="Calibri" pitchFamily="34" charset="-122"/>
                <a:cs typeface="Calibri" pitchFamily="34" charset="-120"/>
              </a:rPr>
              <a:t>La contrasena se guarda SIEMPRE cifrada con BCrypt, nunca en texto plano.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2 — ACCESO A DATOS</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Repositorio y creacion automatica de tablas</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457200" y="1325880"/>
            <a:ext cx="4846320" cy="1645920"/>
          </a:xfrm>
          <a:prstGeom prst="roundRect">
            <a:avLst>
              <a:gd name="adj" fmla="val 3333"/>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621792" y="1399032"/>
            <a:ext cx="457200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repository/UsuarioRepository.java</a:t>
            </a:r>
            <a:endParaRPr lang="en-US" sz="950" dirty="0"/>
          </a:p>
        </p:txBody>
      </p:sp>
      <p:sp>
        <p:nvSpPr>
          <p:cNvPr id="8" name="Text 6"/>
          <p:cNvSpPr/>
          <p:nvPr/>
        </p:nvSpPr>
        <p:spPr>
          <a:xfrm>
            <a:off x="621792" y="1655064"/>
            <a:ext cx="4535424" cy="1225296"/>
          </a:xfrm>
          <a:prstGeom prst="rect">
            <a:avLst/>
          </a:prstGeom>
          <a:noFill/>
          <a:ln/>
        </p:spPr>
        <p:txBody>
          <a:bodyPr wrap="square" lIns="0" tIns="0" rIns="0" bIns="0" rtlCol="0" anchor="t"/>
          <a:lstStyle/>
          <a:p>
            <a:pPr marL="0" indent="0">
              <a:lnSpc>
                <a:spcPct val="102000"/>
              </a:lnSpc>
              <a:buNone/>
            </a:pPr>
            <a:r>
              <a:rPr lang="en-US" sz="930" b="1" dirty="0">
                <a:solidFill>
                  <a:srgbClr val="0057AE"/>
                </a:solidFill>
                <a:latin typeface="Courier New" pitchFamily="34" charset="0"/>
                <a:ea typeface="Courier New" pitchFamily="34" charset="-122"/>
                <a:cs typeface="Courier New" pitchFamily="34" charset="-120"/>
              </a:rPr>
              <a:t>public</a:t>
            </a: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0057AE"/>
                </a:solidFill>
                <a:latin typeface="Courier New" pitchFamily="34" charset="0"/>
                <a:ea typeface="Courier New" pitchFamily="34" charset="-122"/>
                <a:cs typeface="Courier New" pitchFamily="34" charset="-120"/>
              </a:rPr>
              <a:t>interface</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UsuarioRepository</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0057AE"/>
                </a:solidFill>
                <a:latin typeface="Courier New" pitchFamily="34" charset="0"/>
                <a:ea typeface="Courier New" pitchFamily="34" charset="-122"/>
                <a:cs typeface="Courier New" pitchFamily="34" charset="-120"/>
              </a:rPr>
              <a:t>extends</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JpaRepository</a:t>
            </a:r>
            <a:r>
              <a:rPr lang="en-US" sz="930" dirty="0">
                <a:solidFill>
                  <a:srgbClr val="383A42"/>
                </a:solidFill>
                <a:latin typeface="Courier New" pitchFamily="34" charset="0"/>
                <a:ea typeface="Courier New" pitchFamily="34" charset="-122"/>
                <a:cs typeface="Courier New" pitchFamily="34" charset="-120"/>
              </a:rPr>
              <a:t>&lt;</a:t>
            </a:r>
            <a:r>
              <a:rPr lang="en-US" sz="930" dirty="0">
                <a:solidFill>
                  <a:srgbClr val="2D8000"/>
                </a:solidFill>
                <a:latin typeface="Courier New" pitchFamily="34" charset="0"/>
                <a:ea typeface="Courier New" pitchFamily="34" charset="-122"/>
                <a:cs typeface="Courier New" pitchFamily="34" charset="-120"/>
              </a:rPr>
              <a:t>Usuario</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Long</a:t>
            </a:r>
            <a:r>
              <a:rPr lang="en-US" sz="930" dirty="0">
                <a:solidFill>
                  <a:srgbClr val="383A42"/>
                </a:solidFill>
                <a:latin typeface="Courier New" pitchFamily="34" charset="0"/>
                <a:ea typeface="Courier New" pitchFamily="34" charset="-122"/>
                <a:cs typeface="Courier New" pitchFamily="34" charset="-120"/>
              </a:rPr>
              <a:t>&gt; {</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Optional</a:t>
            </a:r>
            <a:r>
              <a:rPr lang="en-US" sz="930" dirty="0">
                <a:solidFill>
                  <a:srgbClr val="383A42"/>
                </a:solidFill>
                <a:latin typeface="Courier New" pitchFamily="34" charset="0"/>
                <a:ea typeface="Courier New" pitchFamily="34" charset="-122"/>
                <a:cs typeface="Courier New" pitchFamily="34" charset="-120"/>
              </a:rPr>
              <a:t>&lt;</a:t>
            </a:r>
            <a:r>
              <a:rPr lang="en-US" sz="930" dirty="0">
                <a:solidFill>
                  <a:srgbClr val="2D8000"/>
                </a:solidFill>
                <a:latin typeface="Courier New" pitchFamily="34" charset="0"/>
                <a:ea typeface="Courier New" pitchFamily="34" charset="-122"/>
                <a:cs typeface="Courier New" pitchFamily="34" charset="-120"/>
              </a:rPr>
              <a:t>Usuario</a:t>
            </a:r>
            <a:r>
              <a:rPr lang="en-US" sz="930" dirty="0">
                <a:solidFill>
                  <a:srgbClr val="383A42"/>
                </a:solidFill>
                <a:latin typeface="Courier New" pitchFamily="34" charset="0"/>
                <a:ea typeface="Courier New" pitchFamily="34" charset="-122"/>
                <a:cs typeface="Courier New" pitchFamily="34" charset="-120"/>
              </a:rPr>
              <a:t>&gt; findByUsername(</a:t>
            </a:r>
            <a:r>
              <a:rPr lang="en-US" sz="930" dirty="0">
                <a:solidFill>
                  <a:srgbClr val="2D8000"/>
                </a:solidFill>
                <a:latin typeface="Courier New" pitchFamily="34" charset="0"/>
                <a:ea typeface="Courier New" pitchFamily="34" charset="-122"/>
                <a:cs typeface="Courier New" pitchFamily="34" charset="-120"/>
              </a:rPr>
              <a:t>String</a:t>
            </a:r>
            <a:r>
              <a:rPr lang="en-US" sz="930" dirty="0">
                <a:solidFill>
                  <a:srgbClr val="383A42"/>
                </a:solidFill>
                <a:latin typeface="Courier New" pitchFamily="34" charset="0"/>
                <a:ea typeface="Courier New" pitchFamily="34" charset="-122"/>
                <a:cs typeface="Courier New" pitchFamily="34" charset="-120"/>
              </a:rPr>
              <a:t> username);</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boolean</a:t>
            </a:r>
            <a:r>
              <a:rPr lang="en-US" sz="930" dirty="0">
                <a:solidFill>
                  <a:srgbClr val="383A42"/>
                </a:solidFill>
                <a:latin typeface="Courier New" pitchFamily="34" charset="0"/>
                <a:ea typeface="Courier New" pitchFamily="34" charset="-122"/>
                <a:cs typeface="Courier New" pitchFamily="34" charset="-120"/>
              </a:rPr>
              <a:t> existsByUsername(</a:t>
            </a:r>
            <a:r>
              <a:rPr lang="en-US" sz="930" dirty="0">
                <a:solidFill>
                  <a:srgbClr val="2D8000"/>
                </a:solidFill>
                <a:latin typeface="Courier New" pitchFamily="34" charset="0"/>
                <a:ea typeface="Courier New" pitchFamily="34" charset="-122"/>
                <a:cs typeface="Courier New" pitchFamily="34" charset="-120"/>
              </a:rPr>
              <a:t>String</a:t>
            </a:r>
            <a:r>
              <a:rPr lang="en-US" sz="930" dirty="0">
                <a:solidFill>
                  <a:srgbClr val="383A42"/>
                </a:solidFill>
                <a:latin typeface="Courier New" pitchFamily="34" charset="0"/>
                <a:ea typeface="Courier New" pitchFamily="34" charset="-122"/>
                <a:cs typeface="Courier New" pitchFamily="34" charset="-120"/>
              </a:rPr>
              <a:t> username);</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a:t>
            </a:r>
            <a:endParaRPr lang="en-US" sz="930" dirty="0"/>
          </a:p>
        </p:txBody>
      </p:sp>
      <p:sp>
        <p:nvSpPr>
          <p:cNvPr id="9" name="Shape 7"/>
          <p:cNvSpPr/>
          <p:nvPr/>
        </p:nvSpPr>
        <p:spPr>
          <a:xfrm>
            <a:off x="5532120" y="1325880"/>
            <a:ext cx="3154680" cy="1645920"/>
          </a:xfrm>
          <a:prstGeom prst="roundRect">
            <a:avLst>
              <a:gd name="adj" fmla="val 4444"/>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0" name="Text 8"/>
          <p:cNvSpPr/>
          <p:nvPr/>
        </p:nvSpPr>
        <p:spPr>
          <a:xfrm>
            <a:off x="5715000" y="1444752"/>
            <a:ext cx="2788920" cy="1463040"/>
          </a:xfrm>
          <a:prstGeom prst="rect">
            <a:avLst/>
          </a:prstGeom>
          <a:noFill/>
          <a:ln/>
        </p:spPr>
        <p:txBody>
          <a:bodyPr wrap="square" lIns="0" tIns="0" rIns="0" bIns="0" rtlCol="0" anchor="t"/>
          <a:lstStyle/>
          <a:p>
            <a:pPr marL="0" indent="0">
              <a:lnSpc>
                <a:spcPct val="104000"/>
              </a:lnSpc>
              <a:buNone/>
            </a:pPr>
            <a:r>
              <a:rPr lang="en-US" sz="1200" b="1" dirty="0">
                <a:solidFill>
                  <a:srgbClr val="006633"/>
                </a:solidFill>
                <a:latin typeface="Calibri" pitchFamily="34" charset="0"/>
                <a:ea typeface="Calibri" pitchFamily="34" charset="-122"/>
                <a:cs typeface="Calibri" pitchFamily="34" charset="-120"/>
              </a:rPr>
              <a:t>Dos consultas derivadas
</a:t>
            </a:r>
            <a:endParaRPr lang="en-US" sz="1200" dirty="0"/>
          </a:p>
          <a:p>
            <a:pPr marL="0" indent="0">
              <a:lnSpc>
                <a:spcPct val="104000"/>
              </a:lnSpc>
              <a:buNone/>
            </a:pPr>
            <a:r>
              <a:rPr lang="en-US" sz="1000" b="1" dirty="0">
                <a:solidFill>
                  <a:srgbClr val="0057AE"/>
                </a:solidFill>
                <a:latin typeface="Courier New" pitchFamily="34" charset="0"/>
                <a:ea typeface="Courier New" pitchFamily="34" charset="-122"/>
                <a:cs typeface="Courier New" pitchFamily="34" charset="-120"/>
              </a:rPr>
              <a:t>findByUsername  </a:t>
            </a:r>
            <a:r>
              <a:rPr lang="en-US" sz="1050" dirty="0">
                <a:solidFill>
                  <a:srgbClr val="5C6B62"/>
                </a:solidFill>
                <a:latin typeface="Calibri" pitchFamily="34" charset="0"/>
                <a:ea typeface="Calibri" pitchFamily="34" charset="-122"/>
                <a:cs typeface="Calibri" pitchFamily="34" charset="-120"/>
              </a:rPr>
              <a:t>lo usa el UserDetailsService.
</a:t>
            </a:r>
            <a:endParaRPr lang="en-US" sz="1200" dirty="0"/>
          </a:p>
          <a:p>
            <a:pPr marL="0" indent="0">
              <a:lnSpc>
                <a:spcPct val="104000"/>
              </a:lnSpc>
              <a:buNone/>
            </a:pPr>
            <a:r>
              <a:rPr lang="en-US" sz="1000" b="1" dirty="0">
                <a:solidFill>
                  <a:srgbClr val="0057AE"/>
                </a:solidFill>
                <a:latin typeface="Courier New" pitchFamily="34" charset="0"/>
                <a:ea typeface="Courier New" pitchFamily="34" charset="-122"/>
                <a:cs typeface="Courier New" pitchFamily="34" charset="-120"/>
              </a:rPr>
              <a:t>existsByUsername  </a:t>
            </a:r>
            <a:r>
              <a:rPr lang="en-US" sz="1050" dirty="0">
                <a:solidFill>
                  <a:srgbClr val="5C6B62"/>
                </a:solidFill>
                <a:latin typeface="Calibri" pitchFamily="34" charset="0"/>
                <a:ea typeface="Calibri" pitchFamily="34" charset="-122"/>
                <a:cs typeface="Calibri" pitchFamily="34" charset="-120"/>
              </a:rPr>
              <a:t>lo usa el registro.</a:t>
            </a:r>
            <a:endParaRPr lang="en-US" sz="1200" dirty="0"/>
          </a:p>
        </p:txBody>
      </p:sp>
      <p:sp>
        <p:nvSpPr>
          <p:cNvPr id="11" name="Shape 9"/>
          <p:cNvSpPr/>
          <p:nvPr/>
        </p:nvSpPr>
        <p:spPr>
          <a:xfrm>
            <a:off x="640080" y="3291840"/>
            <a:ext cx="2194560" cy="960120"/>
          </a:xfrm>
          <a:prstGeom prst="roundRect">
            <a:avLst>
              <a:gd name="adj" fmla="val 7619"/>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Text 10"/>
          <p:cNvSpPr/>
          <p:nvPr/>
        </p:nvSpPr>
        <p:spPr>
          <a:xfrm>
            <a:off x="713232" y="3438144"/>
            <a:ext cx="2048256" cy="365760"/>
          </a:xfrm>
          <a:prstGeom prst="rect">
            <a:avLst/>
          </a:prstGeom>
          <a:noFill/>
          <a:ln/>
        </p:spPr>
        <p:txBody>
          <a:bodyPr wrap="square" lIns="0" tIns="0" rIns="0" bIns="0" rtlCol="0" anchor="ctr"/>
          <a:lstStyle/>
          <a:p>
            <a:pPr marL="0" indent="0" algn="ctr">
              <a:buNone/>
            </a:pPr>
            <a:r>
              <a:rPr lang="en-US" sz="1300" b="1" dirty="0">
                <a:solidFill>
                  <a:srgbClr val="006633"/>
                </a:solidFill>
                <a:latin typeface="Calibri" pitchFamily="34" charset="0"/>
                <a:ea typeface="Calibri" pitchFamily="34" charset="-122"/>
                <a:cs typeface="Calibri" pitchFamily="34" charset="-120"/>
              </a:rPr>
              <a:t>Clases @Entity</a:t>
            </a:r>
            <a:endParaRPr lang="en-US" sz="1300" dirty="0"/>
          </a:p>
        </p:txBody>
      </p:sp>
      <p:sp>
        <p:nvSpPr>
          <p:cNvPr id="13" name="Text 11"/>
          <p:cNvSpPr/>
          <p:nvPr/>
        </p:nvSpPr>
        <p:spPr>
          <a:xfrm>
            <a:off x="713232" y="3822192"/>
            <a:ext cx="2048256" cy="320040"/>
          </a:xfrm>
          <a:prstGeom prst="rect">
            <a:avLst/>
          </a:prstGeom>
          <a:noFill/>
          <a:ln/>
        </p:spPr>
        <p:txBody>
          <a:bodyPr wrap="square" lIns="0" tIns="0" rIns="0" bIns="0" rtlCol="0" anchor="ctr"/>
          <a:lstStyle/>
          <a:p>
            <a:pPr marL="0" indent="0" algn="ctr">
              <a:buNone/>
            </a:pPr>
            <a:r>
              <a:rPr lang="en-US" sz="1000" dirty="0">
                <a:solidFill>
                  <a:srgbClr val="5C6B62"/>
                </a:solidFill>
                <a:latin typeface="Courier New" pitchFamily="34" charset="0"/>
                <a:ea typeface="Courier New" pitchFamily="34" charset="-122"/>
                <a:cs typeface="Courier New" pitchFamily="34" charset="-120"/>
              </a:rPr>
              <a:t>Usuario, Rol</a:t>
            </a:r>
            <a:endParaRPr lang="en-US" sz="1000" dirty="0"/>
          </a:p>
        </p:txBody>
      </p:sp>
      <p:sp>
        <p:nvSpPr>
          <p:cNvPr id="14" name="Shape 12"/>
          <p:cNvSpPr/>
          <p:nvPr/>
        </p:nvSpPr>
        <p:spPr>
          <a:xfrm>
            <a:off x="3383280" y="3291840"/>
            <a:ext cx="2377440" cy="960120"/>
          </a:xfrm>
          <a:prstGeom prst="roundRect">
            <a:avLst>
              <a:gd name="adj" fmla="val 7619"/>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15" name="Text 13"/>
          <p:cNvSpPr/>
          <p:nvPr/>
        </p:nvSpPr>
        <p:spPr>
          <a:xfrm>
            <a:off x="3456432" y="3438144"/>
            <a:ext cx="2231136"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Hibernate</a:t>
            </a:r>
            <a:endParaRPr lang="en-US" sz="1300" dirty="0"/>
          </a:p>
        </p:txBody>
      </p:sp>
      <p:sp>
        <p:nvSpPr>
          <p:cNvPr id="16" name="Text 14"/>
          <p:cNvSpPr/>
          <p:nvPr/>
        </p:nvSpPr>
        <p:spPr>
          <a:xfrm>
            <a:off x="3456432" y="3822192"/>
            <a:ext cx="2231136" cy="320040"/>
          </a:xfrm>
          <a:prstGeom prst="rect">
            <a:avLst/>
          </a:prstGeom>
          <a:noFill/>
          <a:ln/>
        </p:spPr>
        <p:txBody>
          <a:bodyPr wrap="square" lIns="0" tIns="0" rIns="0" bIns="0" rtlCol="0" anchor="ctr"/>
          <a:lstStyle/>
          <a:p>
            <a:pPr marL="0" indent="0" algn="ctr">
              <a:buNone/>
            </a:pPr>
            <a:r>
              <a:rPr lang="en-US" sz="1000" dirty="0">
                <a:solidFill>
                  <a:srgbClr val="EAF4EC"/>
                </a:solidFill>
                <a:latin typeface="Courier New" pitchFamily="34" charset="0"/>
                <a:ea typeface="Courier New" pitchFamily="34" charset="-122"/>
                <a:cs typeface="Courier New" pitchFamily="34" charset="-120"/>
              </a:rPr>
              <a:t>ddl-auto=update</a:t>
            </a:r>
            <a:endParaRPr lang="en-US" sz="1000" dirty="0"/>
          </a:p>
        </p:txBody>
      </p:sp>
      <p:sp>
        <p:nvSpPr>
          <p:cNvPr id="17" name="Shape 15"/>
          <p:cNvSpPr/>
          <p:nvPr/>
        </p:nvSpPr>
        <p:spPr>
          <a:xfrm>
            <a:off x="6355080" y="3291840"/>
            <a:ext cx="2194560" cy="960120"/>
          </a:xfrm>
          <a:prstGeom prst="roundRect">
            <a:avLst>
              <a:gd name="adj" fmla="val 7619"/>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8" name="Text 16"/>
          <p:cNvSpPr/>
          <p:nvPr/>
        </p:nvSpPr>
        <p:spPr>
          <a:xfrm>
            <a:off x="6428232" y="3438144"/>
            <a:ext cx="2048256" cy="365760"/>
          </a:xfrm>
          <a:prstGeom prst="rect">
            <a:avLst/>
          </a:prstGeom>
          <a:noFill/>
          <a:ln/>
        </p:spPr>
        <p:txBody>
          <a:bodyPr wrap="square" lIns="0" tIns="0" rIns="0" bIns="0" rtlCol="0" anchor="ctr"/>
          <a:lstStyle/>
          <a:p>
            <a:pPr marL="0" indent="0" algn="ctr">
              <a:buNone/>
            </a:pPr>
            <a:r>
              <a:rPr lang="en-US" sz="1300" b="1" dirty="0">
                <a:solidFill>
                  <a:srgbClr val="006633"/>
                </a:solidFill>
                <a:latin typeface="Calibri" pitchFamily="34" charset="0"/>
                <a:ea typeface="Calibri" pitchFamily="34" charset="-122"/>
                <a:cs typeface="Calibri" pitchFamily="34" charset="-120"/>
              </a:rPr>
              <a:t>Tablas en BD</a:t>
            </a:r>
            <a:endParaRPr lang="en-US" sz="1300" dirty="0"/>
          </a:p>
        </p:txBody>
      </p:sp>
      <p:sp>
        <p:nvSpPr>
          <p:cNvPr id="19" name="Text 17"/>
          <p:cNvSpPr/>
          <p:nvPr/>
        </p:nvSpPr>
        <p:spPr>
          <a:xfrm>
            <a:off x="6428232" y="3822192"/>
            <a:ext cx="2048256" cy="320040"/>
          </a:xfrm>
          <a:prstGeom prst="rect">
            <a:avLst/>
          </a:prstGeom>
          <a:noFill/>
          <a:ln/>
        </p:spPr>
        <p:txBody>
          <a:bodyPr wrap="square" lIns="0" tIns="0" rIns="0" bIns="0" rtlCol="0" anchor="ctr"/>
          <a:lstStyle/>
          <a:p>
            <a:pPr marL="0" indent="0" algn="ctr">
              <a:buNone/>
            </a:pPr>
            <a:r>
              <a:rPr lang="en-US" sz="1000" dirty="0">
                <a:solidFill>
                  <a:srgbClr val="5C6B62"/>
                </a:solidFill>
                <a:latin typeface="Courier New" pitchFamily="34" charset="0"/>
                <a:ea typeface="Courier New" pitchFamily="34" charset="-122"/>
                <a:cs typeface="Courier New" pitchFamily="34" charset="-120"/>
              </a:rPr>
              <a:t>PostgreSQL</a:t>
            </a:r>
            <a:endParaRPr lang="en-US" sz="1000" dirty="0"/>
          </a:p>
        </p:txBody>
      </p:sp>
      <p:sp>
        <p:nvSpPr>
          <p:cNvPr id="20" name="Shape 18"/>
          <p:cNvSpPr/>
          <p:nvPr/>
        </p:nvSpPr>
        <p:spPr>
          <a:xfrm>
            <a:off x="2880360" y="3771900"/>
            <a:ext cx="429768" cy="0"/>
          </a:xfrm>
          <a:prstGeom prst="line">
            <a:avLst/>
          </a:prstGeom>
          <a:noFill/>
          <a:ln w="27940">
            <a:solidFill>
              <a:srgbClr val="006633"/>
            </a:solidFill>
            <a:prstDash val="solid"/>
            <a:tailEnd type="triangle"/>
          </a:ln>
        </p:spPr>
        <p:txBody>
          <a:bodyPr/>
          <a:lstStyle/>
          <a:p>
            <a:endParaRPr lang="es-ES"/>
          </a:p>
        </p:txBody>
      </p:sp>
      <p:sp>
        <p:nvSpPr>
          <p:cNvPr id="21" name="Shape 19"/>
          <p:cNvSpPr/>
          <p:nvPr/>
        </p:nvSpPr>
        <p:spPr>
          <a:xfrm>
            <a:off x="5806440" y="3771900"/>
            <a:ext cx="475488" cy="0"/>
          </a:xfrm>
          <a:prstGeom prst="line">
            <a:avLst/>
          </a:prstGeom>
          <a:noFill/>
          <a:ln w="27940">
            <a:solidFill>
              <a:srgbClr val="006633"/>
            </a:solidFill>
            <a:prstDash val="solid"/>
            <a:tailEnd type="triangle"/>
          </a:ln>
        </p:spPr>
        <p:txBody>
          <a:bodyPr/>
          <a:lstStyle/>
          <a:p>
            <a:endParaRPr lang="es-ES"/>
          </a:p>
        </p:txBody>
      </p:sp>
      <p:sp>
        <p:nvSpPr>
          <p:cNvPr id="22" name="Text 20"/>
          <p:cNvSpPr/>
          <p:nvPr/>
        </p:nvSpPr>
        <p:spPr>
          <a:xfrm>
            <a:off x="457200" y="4370832"/>
            <a:ext cx="8229600" cy="320040"/>
          </a:xfrm>
          <a:prstGeom prst="rect">
            <a:avLst/>
          </a:prstGeom>
          <a:noFill/>
          <a:ln/>
        </p:spPr>
        <p:txBody>
          <a:bodyPr wrap="square" lIns="0" tIns="0" rIns="0" bIns="0" rtlCol="0" anchor="ctr"/>
          <a:lstStyle/>
          <a:p>
            <a:pPr marL="0" indent="0" algn="ctr">
              <a:buNone/>
            </a:pPr>
            <a:r>
              <a:rPr lang="en-US" sz="1100" i="1" dirty="0">
                <a:solidFill>
                  <a:srgbClr val="5C6B62"/>
                </a:solidFill>
                <a:latin typeface="Calibri" pitchFamily="34" charset="0"/>
                <a:ea typeface="Calibri" pitchFamily="34" charset="-122"/>
                <a:cs typeface="Calibri" pitchFamily="34" charset="-120"/>
              </a:rPr>
              <a:t>No escribes CREATE TABLE: las @Entity son la fuente de verdad y Spring Boot crea el esquema al arrancar.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3 — USERDETAILSSERVICE</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Ensenar a Spring a leer tu tabla usuario</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8092440" y="411480"/>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8092440" y="411480"/>
            <a:ext cx="566928" cy="566928"/>
          </a:xfrm>
          <a:prstGeom prst="rect">
            <a:avLst/>
          </a:prstGeom>
          <a:noFill/>
          <a:ln/>
        </p:spPr>
        <p:txBody>
          <a:bodyPr wrap="square" lIns="0" tIns="0" rIns="0" bIns="0" rtlCol="0" anchor="ctr"/>
          <a:lstStyle/>
          <a:p>
            <a:pPr marL="0" indent="0" algn="ctr">
              <a:buNone/>
            </a:pPr>
            <a:r>
              <a:rPr lang="en-US" sz="2600" b="1" dirty="0">
                <a:solidFill>
                  <a:srgbClr val="E8B923"/>
                </a:solidFill>
                <a:latin typeface="Cambria" pitchFamily="34" charset="0"/>
                <a:ea typeface="Cambria" pitchFamily="34" charset="-122"/>
                <a:cs typeface="Cambria" pitchFamily="34" charset="-120"/>
              </a:rPr>
              <a:t>3</a:t>
            </a:r>
            <a:endParaRPr lang="en-US" sz="2600" dirty="0"/>
          </a:p>
        </p:txBody>
      </p:sp>
      <p:sp>
        <p:nvSpPr>
          <p:cNvPr id="8" name="Shape 6"/>
          <p:cNvSpPr/>
          <p:nvPr/>
        </p:nvSpPr>
        <p:spPr>
          <a:xfrm>
            <a:off x="457200" y="1325880"/>
            <a:ext cx="8229600" cy="3154680"/>
          </a:xfrm>
          <a:prstGeom prst="roundRect">
            <a:avLst>
              <a:gd name="adj" fmla="val 1739"/>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21792" y="1399032"/>
            <a:ext cx="795528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security/UsuarioDetailsService.java</a:t>
            </a:r>
            <a:endParaRPr lang="en-US" sz="950" dirty="0"/>
          </a:p>
        </p:txBody>
      </p:sp>
      <p:sp>
        <p:nvSpPr>
          <p:cNvPr id="10" name="Text 8"/>
          <p:cNvSpPr/>
          <p:nvPr/>
        </p:nvSpPr>
        <p:spPr>
          <a:xfrm>
            <a:off x="621792" y="1655064"/>
            <a:ext cx="7918704" cy="2734056"/>
          </a:xfrm>
          <a:prstGeom prst="rect">
            <a:avLst/>
          </a:prstGeom>
          <a:noFill/>
          <a:ln/>
        </p:spPr>
        <p:txBody>
          <a:bodyPr wrap="square" lIns="0" tIns="0" rIns="0" bIns="0" rtlCol="0" anchor="t"/>
          <a:lstStyle/>
          <a:p>
            <a:pPr marL="0" indent="0">
              <a:lnSpc>
                <a:spcPct val="102000"/>
              </a:lnSpc>
              <a:buNone/>
            </a:pPr>
            <a:r>
              <a:rPr lang="en-US" sz="900" b="1" dirty="0">
                <a:solidFill>
                  <a:srgbClr val="7B2FBE"/>
                </a:solidFill>
                <a:latin typeface="Courier New" pitchFamily="34" charset="0"/>
                <a:ea typeface="Courier New" pitchFamily="34" charset="-122"/>
                <a:cs typeface="Courier New" pitchFamily="34" charset="-120"/>
              </a:rPr>
              <a:t>@Service</a:t>
            </a:r>
            <a:endParaRPr lang="en-US" sz="900" dirty="0"/>
          </a:p>
          <a:p>
            <a:pPr marL="0" indent="0">
              <a:lnSpc>
                <a:spcPct val="102000"/>
              </a:lnSpc>
              <a:buNone/>
            </a:pPr>
            <a:r>
              <a:rPr lang="en-US" sz="900" b="1" dirty="0">
                <a:solidFill>
                  <a:srgbClr val="7B2FBE"/>
                </a:solidFill>
                <a:latin typeface="Courier New" pitchFamily="34" charset="0"/>
                <a:ea typeface="Courier New" pitchFamily="34" charset="-122"/>
                <a:cs typeface="Courier New" pitchFamily="34" charset="-120"/>
              </a:rPr>
              <a:t>@RequiredArgsConstructor</a:t>
            </a:r>
            <a:endParaRPr lang="en-US" sz="900" dirty="0"/>
          </a:p>
          <a:p>
            <a:pPr marL="0" indent="0">
              <a:lnSpc>
                <a:spcPct val="102000"/>
              </a:lnSpc>
              <a:buNone/>
            </a:pPr>
            <a:r>
              <a:rPr lang="en-US" sz="900" b="1" dirty="0">
                <a:solidFill>
                  <a:srgbClr val="0057AE"/>
                </a:solidFill>
                <a:latin typeface="Courier New" pitchFamily="34" charset="0"/>
                <a:ea typeface="Courier New" pitchFamily="34" charset="-122"/>
                <a:cs typeface="Courier New" pitchFamily="34" charset="-120"/>
              </a:rPr>
              <a:t>public</a:t>
            </a:r>
            <a:r>
              <a:rPr lang="en-US" sz="900" dirty="0">
                <a:solidFill>
                  <a:srgbClr val="383A42"/>
                </a:solidFill>
                <a:latin typeface="Courier New" pitchFamily="34" charset="0"/>
                <a:ea typeface="Courier New" pitchFamily="34" charset="-122"/>
                <a:cs typeface="Courier New" pitchFamily="34" charset="-120"/>
              </a:rPr>
              <a:t> </a:t>
            </a:r>
            <a:r>
              <a:rPr lang="en-US" sz="900" b="1" dirty="0">
                <a:solidFill>
                  <a:srgbClr val="0057AE"/>
                </a:solidFill>
                <a:latin typeface="Courier New" pitchFamily="34" charset="0"/>
                <a:ea typeface="Courier New" pitchFamily="34" charset="-122"/>
                <a:cs typeface="Courier New" pitchFamily="34" charset="-120"/>
              </a:rPr>
              <a:t>class</a:t>
            </a:r>
            <a:r>
              <a:rPr lang="en-US" sz="900" dirty="0">
                <a:solidFill>
                  <a:srgbClr val="383A42"/>
                </a:solidFill>
                <a:latin typeface="Courier New" pitchFamily="34" charset="0"/>
                <a:ea typeface="Courier New" pitchFamily="34" charset="-122"/>
                <a:cs typeface="Courier New" pitchFamily="34" charset="-120"/>
              </a:rPr>
              <a:t> </a:t>
            </a:r>
            <a:r>
              <a:rPr lang="en-US" sz="900" dirty="0">
                <a:solidFill>
                  <a:srgbClr val="2D8000"/>
                </a:solidFill>
                <a:latin typeface="Courier New" pitchFamily="34" charset="0"/>
                <a:ea typeface="Courier New" pitchFamily="34" charset="-122"/>
                <a:cs typeface="Courier New" pitchFamily="34" charset="-120"/>
              </a:rPr>
              <a:t>UsuarioDetailsService</a:t>
            </a:r>
            <a:r>
              <a:rPr lang="en-US" sz="900" dirty="0">
                <a:solidFill>
                  <a:srgbClr val="383A42"/>
                </a:solidFill>
                <a:latin typeface="Courier New" pitchFamily="34" charset="0"/>
                <a:ea typeface="Courier New" pitchFamily="34" charset="-122"/>
                <a:cs typeface="Courier New" pitchFamily="34" charset="-120"/>
              </a:rPr>
              <a:t> </a:t>
            </a:r>
            <a:r>
              <a:rPr lang="en-US" sz="900" b="1" dirty="0">
                <a:solidFill>
                  <a:srgbClr val="0057AE"/>
                </a:solidFill>
                <a:latin typeface="Courier New" pitchFamily="34" charset="0"/>
                <a:ea typeface="Courier New" pitchFamily="34" charset="-122"/>
                <a:cs typeface="Courier New" pitchFamily="34" charset="-120"/>
              </a:rPr>
              <a:t>implements</a:t>
            </a:r>
            <a:r>
              <a:rPr lang="en-US" sz="900" dirty="0">
                <a:solidFill>
                  <a:srgbClr val="383A42"/>
                </a:solidFill>
                <a:latin typeface="Courier New" pitchFamily="34" charset="0"/>
                <a:ea typeface="Courier New" pitchFamily="34" charset="-122"/>
                <a:cs typeface="Courier New" pitchFamily="34" charset="-120"/>
              </a:rPr>
              <a:t> </a:t>
            </a:r>
            <a:r>
              <a:rPr lang="en-US" sz="900" dirty="0">
                <a:solidFill>
                  <a:srgbClr val="2D8000"/>
                </a:solidFill>
                <a:latin typeface="Courier New" pitchFamily="34" charset="0"/>
                <a:ea typeface="Courier New" pitchFamily="34" charset="-122"/>
                <a:cs typeface="Courier New" pitchFamily="34" charset="-120"/>
              </a:rPr>
              <a:t>UserDetailsService</a:t>
            </a:r>
            <a:r>
              <a:rPr lang="en-US" sz="900" dirty="0">
                <a:solidFill>
                  <a:srgbClr val="383A42"/>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r>
              <a:rPr lang="en-US" sz="900" b="1" dirty="0">
                <a:solidFill>
                  <a:srgbClr val="0057AE"/>
                </a:solidFill>
                <a:latin typeface="Courier New" pitchFamily="34" charset="0"/>
                <a:ea typeface="Courier New" pitchFamily="34" charset="-122"/>
                <a:cs typeface="Courier New" pitchFamily="34" charset="-120"/>
              </a:rPr>
              <a:t>private</a:t>
            </a:r>
            <a:r>
              <a:rPr lang="en-US" sz="900" dirty="0">
                <a:solidFill>
                  <a:srgbClr val="383A42"/>
                </a:solidFill>
                <a:latin typeface="Courier New" pitchFamily="34" charset="0"/>
                <a:ea typeface="Courier New" pitchFamily="34" charset="-122"/>
                <a:cs typeface="Courier New" pitchFamily="34" charset="-120"/>
              </a:rPr>
              <a:t> </a:t>
            </a:r>
            <a:r>
              <a:rPr lang="en-US" sz="900" b="1" dirty="0">
                <a:solidFill>
                  <a:srgbClr val="0057AE"/>
                </a:solidFill>
                <a:latin typeface="Courier New" pitchFamily="34" charset="0"/>
                <a:ea typeface="Courier New" pitchFamily="34" charset="-122"/>
                <a:cs typeface="Courier New" pitchFamily="34" charset="-120"/>
              </a:rPr>
              <a:t>final</a:t>
            </a:r>
            <a:r>
              <a:rPr lang="en-US" sz="900" dirty="0">
                <a:solidFill>
                  <a:srgbClr val="383A42"/>
                </a:solidFill>
                <a:latin typeface="Courier New" pitchFamily="34" charset="0"/>
                <a:ea typeface="Courier New" pitchFamily="34" charset="-122"/>
                <a:cs typeface="Courier New" pitchFamily="34" charset="-120"/>
              </a:rPr>
              <a:t> </a:t>
            </a:r>
            <a:r>
              <a:rPr lang="en-US" sz="900" dirty="0">
                <a:solidFill>
                  <a:srgbClr val="2D8000"/>
                </a:solidFill>
                <a:latin typeface="Courier New" pitchFamily="34" charset="0"/>
                <a:ea typeface="Courier New" pitchFamily="34" charset="-122"/>
                <a:cs typeface="Courier New" pitchFamily="34" charset="-120"/>
              </a:rPr>
              <a:t>UsuarioRepository</a:t>
            </a:r>
            <a:r>
              <a:rPr lang="en-US" sz="900" dirty="0">
                <a:solidFill>
                  <a:srgbClr val="383A42"/>
                </a:solidFill>
                <a:latin typeface="Courier New" pitchFamily="34" charset="0"/>
                <a:ea typeface="Courier New" pitchFamily="34" charset="-122"/>
                <a:cs typeface="Courier New" pitchFamily="34" charset="-120"/>
              </a:rPr>
              <a:t> repo;</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r>
              <a:rPr lang="en-US" sz="900" b="1" dirty="0">
                <a:solidFill>
                  <a:srgbClr val="7B2FBE"/>
                </a:solidFill>
                <a:latin typeface="Courier New" pitchFamily="34" charset="0"/>
                <a:ea typeface="Courier New" pitchFamily="34" charset="-122"/>
                <a:cs typeface="Courier New" pitchFamily="34" charset="-120"/>
              </a:rPr>
              <a:t>@Override</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r>
              <a:rPr lang="en-US" sz="900" b="1" dirty="0">
                <a:solidFill>
                  <a:srgbClr val="0057AE"/>
                </a:solidFill>
                <a:latin typeface="Courier New" pitchFamily="34" charset="0"/>
                <a:ea typeface="Courier New" pitchFamily="34" charset="-122"/>
                <a:cs typeface="Courier New" pitchFamily="34" charset="-120"/>
              </a:rPr>
              <a:t>public</a:t>
            </a:r>
            <a:r>
              <a:rPr lang="en-US" sz="900" dirty="0">
                <a:solidFill>
                  <a:srgbClr val="383A42"/>
                </a:solidFill>
                <a:latin typeface="Courier New" pitchFamily="34" charset="0"/>
                <a:ea typeface="Courier New" pitchFamily="34" charset="-122"/>
                <a:cs typeface="Courier New" pitchFamily="34" charset="-120"/>
              </a:rPr>
              <a:t> </a:t>
            </a:r>
            <a:r>
              <a:rPr lang="en-US" sz="900" dirty="0">
                <a:solidFill>
                  <a:srgbClr val="2D8000"/>
                </a:solidFill>
                <a:latin typeface="Courier New" pitchFamily="34" charset="0"/>
                <a:ea typeface="Courier New" pitchFamily="34" charset="-122"/>
                <a:cs typeface="Courier New" pitchFamily="34" charset="-120"/>
              </a:rPr>
              <a:t>UserDetails</a:t>
            </a:r>
            <a:r>
              <a:rPr lang="en-US" sz="900" dirty="0">
                <a:solidFill>
                  <a:srgbClr val="383A42"/>
                </a:solidFill>
                <a:latin typeface="Courier New" pitchFamily="34" charset="0"/>
                <a:ea typeface="Courier New" pitchFamily="34" charset="-122"/>
                <a:cs typeface="Courier New" pitchFamily="34" charset="-120"/>
              </a:rPr>
              <a:t> loadUserByUsername(</a:t>
            </a:r>
            <a:r>
              <a:rPr lang="en-US" sz="900" dirty="0">
                <a:solidFill>
                  <a:srgbClr val="2D8000"/>
                </a:solidFill>
                <a:latin typeface="Courier New" pitchFamily="34" charset="0"/>
                <a:ea typeface="Courier New" pitchFamily="34" charset="-122"/>
                <a:cs typeface="Courier New" pitchFamily="34" charset="-120"/>
              </a:rPr>
              <a:t>String</a:t>
            </a:r>
            <a:r>
              <a:rPr lang="en-US" sz="900" dirty="0">
                <a:solidFill>
                  <a:srgbClr val="383A42"/>
                </a:solidFill>
                <a:latin typeface="Courier New" pitchFamily="34" charset="0"/>
                <a:ea typeface="Courier New" pitchFamily="34" charset="-122"/>
                <a:cs typeface="Courier New" pitchFamily="34" charset="-120"/>
              </a:rPr>
              <a:t> username) {</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r>
              <a:rPr lang="en-US" sz="900" dirty="0">
                <a:solidFill>
                  <a:srgbClr val="2D8000"/>
                </a:solidFill>
                <a:latin typeface="Courier New" pitchFamily="34" charset="0"/>
                <a:ea typeface="Courier New" pitchFamily="34" charset="-122"/>
                <a:cs typeface="Courier New" pitchFamily="34" charset="-120"/>
              </a:rPr>
              <a:t>Usuario</a:t>
            </a:r>
            <a:r>
              <a:rPr lang="en-US" sz="900" dirty="0">
                <a:solidFill>
                  <a:srgbClr val="383A42"/>
                </a:solidFill>
                <a:latin typeface="Courier New" pitchFamily="34" charset="0"/>
                <a:ea typeface="Courier New" pitchFamily="34" charset="-122"/>
                <a:cs typeface="Courier New" pitchFamily="34" charset="-120"/>
              </a:rPr>
              <a:t> u = repo.findByUsername(username)</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.orElseThrow(() -&gt;</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r>
              <a:rPr lang="en-US" sz="900" b="1" dirty="0">
                <a:solidFill>
                  <a:srgbClr val="0057AE"/>
                </a:solidFill>
                <a:latin typeface="Courier New" pitchFamily="34" charset="0"/>
                <a:ea typeface="Courier New" pitchFamily="34" charset="-122"/>
                <a:cs typeface="Courier New" pitchFamily="34" charset="-120"/>
              </a:rPr>
              <a:t>new</a:t>
            </a:r>
            <a:r>
              <a:rPr lang="en-US" sz="900" dirty="0">
                <a:solidFill>
                  <a:srgbClr val="383A42"/>
                </a:solidFill>
                <a:latin typeface="Courier New" pitchFamily="34" charset="0"/>
                <a:ea typeface="Courier New" pitchFamily="34" charset="-122"/>
                <a:cs typeface="Courier New" pitchFamily="34" charset="-120"/>
              </a:rPr>
              <a:t> </a:t>
            </a:r>
            <a:r>
              <a:rPr lang="en-US" sz="900" dirty="0">
                <a:solidFill>
                  <a:srgbClr val="2D8000"/>
                </a:solidFill>
                <a:latin typeface="Courier New" pitchFamily="34" charset="0"/>
                <a:ea typeface="Courier New" pitchFamily="34" charset="-122"/>
                <a:cs typeface="Courier New" pitchFamily="34" charset="-120"/>
              </a:rPr>
              <a:t>UsernameNotFoundException</a:t>
            </a:r>
            <a:r>
              <a:rPr lang="en-US" sz="900" dirty="0">
                <a:solidFill>
                  <a:srgbClr val="383A42"/>
                </a:solidFill>
                <a:latin typeface="Courier New" pitchFamily="34" charset="0"/>
                <a:ea typeface="Courier New" pitchFamily="34" charset="-122"/>
                <a:cs typeface="Courier New" pitchFamily="34" charset="-120"/>
              </a:rPr>
              <a:t>(</a:t>
            </a:r>
            <a:r>
              <a:rPr lang="en-US" sz="900" dirty="0">
                <a:solidFill>
                  <a:srgbClr val="C41A16"/>
                </a:solidFill>
                <a:latin typeface="Courier New" pitchFamily="34" charset="0"/>
                <a:ea typeface="Courier New" pitchFamily="34" charset="-122"/>
                <a:cs typeface="Courier New" pitchFamily="34" charset="-120"/>
              </a:rPr>
              <a:t>"No existe: "</a:t>
            </a:r>
            <a:r>
              <a:rPr lang="en-US" sz="900" dirty="0">
                <a:solidFill>
                  <a:srgbClr val="383A42"/>
                </a:solidFill>
                <a:latin typeface="Courier New" pitchFamily="34" charset="0"/>
                <a:ea typeface="Courier New" pitchFamily="34" charset="-122"/>
                <a:cs typeface="Courier New" pitchFamily="34" charset="-120"/>
              </a:rPr>
              <a:t> + username));</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r>
              <a:rPr lang="en-US" sz="900" b="1" dirty="0">
                <a:solidFill>
                  <a:srgbClr val="0057AE"/>
                </a:solidFill>
                <a:latin typeface="Courier New" pitchFamily="34" charset="0"/>
                <a:ea typeface="Courier New" pitchFamily="34" charset="-122"/>
                <a:cs typeface="Courier New" pitchFamily="34" charset="-120"/>
              </a:rPr>
              <a:t>var</a:t>
            </a:r>
            <a:r>
              <a:rPr lang="en-US" sz="900" dirty="0">
                <a:solidFill>
                  <a:srgbClr val="383A42"/>
                </a:solidFill>
                <a:latin typeface="Courier New" pitchFamily="34" charset="0"/>
                <a:ea typeface="Courier New" pitchFamily="34" charset="-122"/>
                <a:cs typeface="Courier New" pitchFamily="34" charset="-120"/>
              </a:rPr>
              <a:t> autoridades = u.getRoles().stream()</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.map(r -&gt; </a:t>
            </a:r>
            <a:r>
              <a:rPr lang="en-US" sz="900" b="1" dirty="0">
                <a:solidFill>
                  <a:srgbClr val="0057AE"/>
                </a:solidFill>
                <a:latin typeface="Courier New" pitchFamily="34" charset="0"/>
                <a:ea typeface="Courier New" pitchFamily="34" charset="-122"/>
                <a:cs typeface="Courier New" pitchFamily="34" charset="-120"/>
              </a:rPr>
              <a:t>new</a:t>
            </a:r>
            <a:r>
              <a:rPr lang="en-US" sz="900" dirty="0">
                <a:solidFill>
                  <a:srgbClr val="383A42"/>
                </a:solidFill>
                <a:latin typeface="Courier New" pitchFamily="34" charset="0"/>
                <a:ea typeface="Courier New" pitchFamily="34" charset="-122"/>
                <a:cs typeface="Courier New" pitchFamily="34" charset="-120"/>
              </a:rPr>
              <a:t> </a:t>
            </a:r>
            <a:r>
              <a:rPr lang="en-US" sz="900" dirty="0">
                <a:solidFill>
                  <a:srgbClr val="2D8000"/>
                </a:solidFill>
                <a:latin typeface="Courier New" pitchFamily="34" charset="0"/>
                <a:ea typeface="Courier New" pitchFamily="34" charset="-122"/>
                <a:cs typeface="Courier New" pitchFamily="34" charset="-120"/>
              </a:rPr>
              <a:t>SimpleGrantedAuthority</a:t>
            </a:r>
            <a:r>
              <a:rPr lang="en-US" sz="900" dirty="0">
                <a:solidFill>
                  <a:srgbClr val="383A42"/>
                </a:solidFill>
                <a:latin typeface="Courier New" pitchFamily="34" charset="0"/>
                <a:ea typeface="Courier New" pitchFamily="34" charset="-122"/>
                <a:cs typeface="Courier New" pitchFamily="34" charset="-120"/>
              </a:rPr>
              <a:t>(</a:t>
            </a:r>
            <a:r>
              <a:rPr lang="en-US" sz="900" dirty="0">
                <a:solidFill>
                  <a:srgbClr val="C41A16"/>
                </a:solidFill>
                <a:latin typeface="Courier New" pitchFamily="34" charset="0"/>
                <a:ea typeface="Courier New" pitchFamily="34" charset="-122"/>
                <a:cs typeface="Courier New" pitchFamily="34" charset="-120"/>
              </a:rPr>
              <a:t>"ROLE_"</a:t>
            </a:r>
            <a:r>
              <a:rPr lang="en-US" sz="900" dirty="0">
                <a:solidFill>
                  <a:srgbClr val="383A42"/>
                </a:solidFill>
                <a:latin typeface="Courier New" pitchFamily="34" charset="0"/>
                <a:ea typeface="Courier New" pitchFamily="34" charset="-122"/>
                <a:cs typeface="Courier New" pitchFamily="34" charset="-120"/>
              </a:rPr>
              <a:t> + r.name()))</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.toList();</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r>
              <a:rPr lang="en-US" sz="900" b="1" dirty="0">
                <a:solidFill>
                  <a:srgbClr val="0057AE"/>
                </a:solidFill>
                <a:latin typeface="Courier New" pitchFamily="34" charset="0"/>
                <a:ea typeface="Courier New" pitchFamily="34" charset="-122"/>
                <a:cs typeface="Courier New" pitchFamily="34" charset="-120"/>
              </a:rPr>
              <a:t>return</a:t>
            </a:r>
            <a:r>
              <a:rPr lang="en-US" sz="900" dirty="0">
                <a:solidFill>
                  <a:srgbClr val="383A42"/>
                </a:solidFill>
                <a:latin typeface="Courier New" pitchFamily="34" charset="0"/>
                <a:ea typeface="Courier New" pitchFamily="34" charset="-122"/>
                <a:cs typeface="Courier New" pitchFamily="34" charset="-120"/>
              </a:rPr>
              <a:t> </a:t>
            </a:r>
            <a:r>
              <a:rPr lang="en-US" sz="900" dirty="0">
                <a:solidFill>
                  <a:srgbClr val="2D8000"/>
                </a:solidFill>
                <a:latin typeface="Courier New" pitchFamily="34" charset="0"/>
                <a:ea typeface="Courier New" pitchFamily="34" charset="-122"/>
                <a:cs typeface="Courier New" pitchFamily="34" charset="-120"/>
              </a:rPr>
              <a:t>User</a:t>
            </a:r>
            <a:r>
              <a:rPr lang="en-US" sz="900" dirty="0">
                <a:solidFill>
                  <a:srgbClr val="383A42"/>
                </a:solidFill>
                <a:latin typeface="Courier New" pitchFamily="34" charset="0"/>
                <a:ea typeface="Courier New" pitchFamily="34" charset="-122"/>
                <a:cs typeface="Courier New" pitchFamily="34" charset="-120"/>
              </a:rPr>
              <a:t>.builder().username(u.getUsername())</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.password(u.getPassword()).authorities(autoridades).build();</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4 — ENCODER Y AUTHENTICATIONMANAGER</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Quien cifra y quien autentica</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8092440" y="411480"/>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8092440" y="411480"/>
            <a:ext cx="566928" cy="566928"/>
          </a:xfrm>
          <a:prstGeom prst="rect">
            <a:avLst/>
          </a:prstGeom>
          <a:noFill/>
          <a:ln/>
        </p:spPr>
        <p:txBody>
          <a:bodyPr wrap="square" lIns="0" tIns="0" rIns="0" bIns="0" rtlCol="0" anchor="ctr"/>
          <a:lstStyle/>
          <a:p>
            <a:pPr marL="0" indent="0" algn="ctr">
              <a:buNone/>
            </a:pPr>
            <a:r>
              <a:rPr lang="en-US" sz="2600" b="1" dirty="0">
                <a:solidFill>
                  <a:srgbClr val="E8B923"/>
                </a:solidFill>
                <a:latin typeface="Cambria" pitchFamily="34" charset="0"/>
                <a:ea typeface="Cambria" pitchFamily="34" charset="-122"/>
                <a:cs typeface="Cambria" pitchFamily="34" charset="-120"/>
              </a:rPr>
              <a:t>4</a:t>
            </a:r>
            <a:endParaRPr lang="en-US" sz="2600" dirty="0"/>
          </a:p>
        </p:txBody>
      </p:sp>
      <p:sp>
        <p:nvSpPr>
          <p:cNvPr id="8" name="Shape 6"/>
          <p:cNvSpPr/>
          <p:nvPr/>
        </p:nvSpPr>
        <p:spPr>
          <a:xfrm>
            <a:off x="457200" y="1371600"/>
            <a:ext cx="5440680" cy="3017520"/>
          </a:xfrm>
          <a:prstGeom prst="roundRect">
            <a:avLst>
              <a:gd name="adj" fmla="val 1818"/>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21792" y="1444752"/>
            <a:ext cx="516636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Beans en SecurityConfig</a:t>
            </a:r>
            <a:endParaRPr lang="en-US" sz="950" dirty="0"/>
          </a:p>
        </p:txBody>
      </p:sp>
      <p:sp>
        <p:nvSpPr>
          <p:cNvPr id="10" name="Text 8"/>
          <p:cNvSpPr/>
          <p:nvPr/>
        </p:nvSpPr>
        <p:spPr>
          <a:xfrm>
            <a:off x="621792" y="1700784"/>
            <a:ext cx="5129784" cy="2596896"/>
          </a:xfrm>
          <a:prstGeom prst="rect">
            <a:avLst/>
          </a:prstGeom>
          <a:noFill/>
          <a:ln/>
        </p:spPr>
        <p:txBody>
          <a:bodyPr wrap="square" lIns="0" tIns="0" rIns="0" bIns="0" rtlCol="0" anchor="t"/>
          <a:lstStyle/>
          <a:p>
            <a:pPr marL="0" indent="0">
              <a:lnSpc>
                <a:spcPct val="102000"/>
              </a:lnSpc>
              <a:buNone/>
            </a:pPr>
            <a:r>
              <a:rPr lang="en-US" sz="930" b="1" dirty="0">
                <a:solidFill>
                  <a:srgbClr val="7B2FBE"/>
                </a:solidFill>
                <a:latin typeface="Courier New" pitchFamily="34" charset="0"/>
                <a:ea typeface="Courier New" pitchFamily="34" charset="-122"/>
                <a:cs typeface="Courier New" pitchFamily="34" charset="-120"/>
              </a:rPr>
              <a:t>@Bean</a:t>
            </a:r>
            <a:endParaRPr lang="en-US" sz="930" dirty="0"/>
          </a:p>
          <a:p>
            <a:pPr marL="0" indent="0">
              <a:lnSpc>
                <a:spcPct val="102000"/>
              </a:lnSpc>
              <a:buNone/>
            </a:pPr>
            <a:r>
              <a:rPr lang="en-US" sz="930" b="1" dirty="0">
                <a:solidFill>
                  <a:srgbClr val="0057AE"/>
                </a:solidFill>
                <a:latin typeface="Courier New" pitchFamily="34" charset="0"/>
                <a:ea typeface="Courier New" pitchFamily="34" charset="-122"/>
                <a:cs typeface="Courier New" pitchFamily="34" charset="-120"/>
              </a:rPr>
              <a:t>public</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PasswordEncoder</a:t>
            </a:r>
            <a:r>
              <a:rPr lang="en-US" sz="930" dirty="0">
                <a:solidFill>
                  <a:srgbClr val="383A42"/>
                </a:solidFill>
                <a:latin typeface="Courier New" pitchFamily="34" charset="0"/>
                <a:ea typeface="Courier New" pitchFamily="34" charset="-122"/>
                <a:cs typeface="Courier New" pitchFamily="34" charset="-120"/>
              </a:rPr>
              <a:t> passwordEncoder() {</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0057AE"/>
                </a:solidFill>
                <a:latin typeface="Courier New" pitchFamily="34" charset="0"/>
                <a:ea typeface="Courier New" pitchFamily="34" charset="-122"/>
                <a:cs typeface="Courier New" pitchFamily="34" charset="-120"/>
              </a:rPr>
              <a:t>return</a:t>
            </a: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0057AE"/>
                </a:solidFill>
                <a:latin typeface="Courier New" pitchFamily="34" charset="0"/>
                <a:ea typeface="Courier New" pitchFamily="34" charset="-122"/>
                <a:cs typeface="Courier New" pitchFamily="34" charset="-120"/>
              </a:rPr>
              <a:t>new</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BCryptPasswordEncoder</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endParaRPr lang="en-US" sz="930" dirty="0"/>
          </a:p>
          <a:p>
            <a:pPr marL="0" indent="0">
              <a:lnSpc>
                <a:spcPct val="102000"/>
              </a:lnSpc>
              <a:buNone/>
            </a:pPr>
            <a:r>
              <a:rPr lang="en-US" sz="930" b="1" dirty="0">
                <a:solidFill>
                  <a:srgbClr val="7B2FBE"/>
                </a:solidFill>
                <a:latin typeface="Courier New" pitchFamily="34" charset="0"/>
                <a:ea typeface="Courier New" pitchFamily="34" charset="-122"/>
                <a:cs typeface="Courier New" pitchFamily="34" charset="-120"/>
              </a:rPr>
              <a:t>@Bean</a:t>
            </a:r>
            <a:endParaRPr lang="en-US" sz="930" dirty="0"/>
          </a:p>
          <a:p>
            <a:pPr marL="0" indent="0">
              <a:lnSpc>
                <a:spcPct val="102000"/>
              </a:lnSpc>
              <a:buNone/>
            </a:pPr>
            <a:r>
              <a:rPr lang="en-US" sz="930" b="1" dirty="0">
                <a:solidFill>
                  <a:srgbClr val="0057AE"/>
                </a:solidFill>
                <a:latin typeface="Courier New" pitchFamily="34" charset="0"/>
                <a:ea typeface="Courier New" pitchFamily="34" charset="-122"/>
                <a:cs typeface="Courier New" pitchFamily="34" charset="-120"/>
              </a:rPr>
              <a:t>public</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AuthenticationManager</a:t>
            </a:r>
            <a:r>
              <a:rPr lang="en-US" sz="930" dirty="0">
                <a:solidFill>
                  <a:srgbClr val="383A42"/>
                </a:solidFill>
                <a:latin typeface="Courier New" pitchFamily="34" charset="0"/>
                <a:ea typeface="Courier New" pitchFamily="34" charset="-122"/>
                <a:cs typeface="Courier New" pitchFamily="34" charset="-120"/>
              </a:rPr>
              <a:t> authenticationManager(</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UserDetailsService</a:t>
            </a:r>
            <a:r>
              <a:rPr lang="en-US" sz="930" dirty="0">
                <a:solidFill>
                  <a:srgbClr val="383A42"/>
                </a:solidFill>
                <a:latin typeface="Courier New" pitchFamily="34" charset="0"/>
                <a:ea typeface="Courier New" pitchFamily="34" charset="-122"/>
                <a:cs typeface="Courier New" pitchFamily="34" charset="-120"/>
              </a:rPr>
              <a:t> uds, </a:t>
            </a:r>
            <a:r>
              <a:rPr lang="en-US" sz="930" dirty="0">
                <a:solidFill>
                  <a:srgbClr val="2D8000"/>
                </a:solidFill>
                <a:latin typeface="Courier New" pitchFamily="34" charset="0"/>
                <a:ea typeface="Courier New" pitchFamily="34" charset="-122"/>
                <a:cs typeface="Courier New" pitchFamily="34" charset="-120"/>
              </a:rPr>
              <a:t>PasswordEncoder</a:t>
            </a:r>
            <a:r>
              <a:rPr lang="en-US" sz="930" dirty="0">
                <a:solidFill>
                  <a:srgbClr val="383A42"/>
                </a:solidFill>
                <a:latin typeface="Courier New" pitchFamily="34" charset="0"/>
                <a:ea typeface="Courier New" pitchFamily="34" charset="-122"/>
                <a:cs typeface="Courier New" pitchFamily="34" charset="-120"/>
              </a:rPr>
              <a:t> encoder) {</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DaoAuthenticationProvider</a:t>
            </a:r>
            <a:r>
              <a:rPr lang="en-US" sz="930" dirty="0">
                <a:solidFill>
                  <a:srgbClr val="383A42"/>
                </a:solidFill>
                <a:latin typeface="Courier New" pitchFamily="34" charset="0"/>
                <a:ea typeface="Courier New" pitchFamily="34" charset="-122"/>
                <a:cs typeface="Courier New" pitchFamily="34" charset="-120"/>
              </a:rPr>
              <a:t> provider =</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0057AE"/>
                </a:solidFill>
                <a:latin typeface="Courier New" pitchFamily="34" charset="0"/>
                <a:ea typeface="Courier New" pitchFamily="34" charset="-122"/>
                <a:cs typeface="Courier New" pitchFamily="34" charset="-120"/>
              </a:rPr>
              <a:t>new</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DaoAuthenticationProvider</a:t>
            </a:r>
            <a:r>
              <a:rPr lang="en-US" sz="930" dirty="0">
                <a:solidFill>
                  <a:srgbClr val="383A42"/>
                </a:solidFill>
                <a:latin typeface="Courier New" pitchFamily="34" charset="0"/>
                <a:ea typeface="Courier New" pitchFamily="34" charset="-122"/>
                <a:cs typeface="Courier New" pitchFamily="34" charset="-120"/>
              </a:rPr>
              <a:t>(uds);   </a:t>
            </a:r>
            <a:r>
              <a:rPr lang="en-US" sz="930" i="1" dirty="0">
                <a:solidFill>
                  <a:srgbClr val="717171"/>
                </a:solidFill>
                <a:latin typeface="Courier New" pitchFamily="34" charset="0"/>
                <a:ea typeface="Courier New" pitchFamily="34" charset="-122"/>
                <a:cs typeface="Courier New" pitchFamily="34" charset="-120"/>
              </a:rPr>
              <a:t>// constructor SS7</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provider.setPasswordEncoder(encoder);</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0057AE"/>
                </a:solidFill>
                <a:latin typeface="Courier New" pitchFamily="34" charset="0"/>
                <a:ea typeface="Courier New" pitchFamily="34" charset="-122"/>
                <a:cs typeface="Courier New" pitchFamily="34" charset="-120"/>
              </a:rPr>
              <a:t>return</a:t>
            </a: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0057AE"/>
                </a:solidFill>
                <a:latin typeface="Courier New" pitchFamily="34" charset="0"/>
                <a:ea typeface="Courier New" pitchFamily="34" charset="-122"/>
                <a:cs typeface="Courier New" pitchFamily="34" charset="-120"/>
              </a:rPr>
              <a:t>new</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ProviderManager</a:t>
            </a:r>
            <a:r>
              <a:rPr lang="en-US" sz="930" dirty="0">
                <a:solidFill>
                  <a:srgbClr val="383A42"/>
                </a:solidFill>
                <a:latin typeface="Courier New" pitchFamily="34" charset="0"/>
                <a:ea typeface="Courier New" pitchFamily="34" charset="-122"/>
                <a:cs typeface="Courier New" pitchFamily="34" charset="-120"/>
              </a:rPr>
              <a:t>(provider);</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a:t>
            </a:r>
            <a:endParaRPr lang="en-US" sz="930" dirty="0"/>
          </a:p>
        </p:txBody>
      </p:sp>
      <p:sp>
        <p:nvSpPr>
          <p:cNvPr id="11" name="Shape 9"/>
          <p:cNvSpPr/>
          <p:nvPr/>
        </p:nvSpPr>
        <p:spPr>
          <a:xfrm>
            <a:off x="6035040" y="1371600"/>
            <a:ext cx="2651760" cy="3017520"/>
          </a:xfrm>
          <a:prstGeom prst="roundRect">
            <a:avLst>
              <a:gd name="adj" fmla="val 2759"/>
            </a:avLst>
          </a:prstGeom>
          <a:solidFill>
            <a:srgbClr val="FBEFE0"/>
          </a:solidFill>
          <a:ln/>
          <a:effectLst>
            <a:outerShdw blurRad="88900" dist="38100" dir="5400000" algn="bl" rotWithShape="0">
              <a:srgbClr val="000000">
                <a:alpha val="16000"/>
              </a:srgbClr>
            </a:outerShdw>
          </a:effectLst>
        </p:spPr>
        <p:txBody>
          <a:bodyPr/>
          <a:lstStyle/>
          <a:p>
            <a:endParaRPr lang="es-ES"/>
          </a:p>
        </p:txBody>
      </p:sp>
      <p:sp>
        <p:nvSpPr>
          <p:cNvPr id="12" name="Text 10"/>
          <p:cNvSpPr/>
          <p:nvPr/>
        </p:nvSpPr>
        <p:spPr>
          <a:xfrm>
            <a:off x="6199632" y="1481328"/>
            <a:ext cx="2331720" cy="2743200"/>
          </a:xfrm>
          <a:prstGeom prst="rect">
            <a:avLst/>
          </a:prstGeom>
          <a:noFill/>
          <a:ln/>
        </p:spPr>
        <p:txBody>
          <a:bodyPr wrap="square" lIns="0" tIns="0" rIns="0" bIns="0" rtlCol="0" anchor="t"/>
          <a:lstStyle/>
          <a:p>
            <a:pPr marL="0" indent="0">
              <a:lnSpc>
                <a:spcPct val="105000"/>
              </a:lnSpc>
              <a:buNone/>
            </a:pPr>
            <a:r>
              <a:rPr lang="en-US" sz="1200" b="1" dirty="0">
                <a:solidFill>
                  <a:srgbClr val="9A5B00"/>
                </a:solidFill>
                <a:latin typeface="Calibri" pitchFamily="34" charset="0"/>
                <a:ea typeface="Calibri" pitchFamily="34" charset="-122"/>
                <a:cs typeface="Calibri" pitchFamily="34" charset="-120"/>
              </a:rPr>
              <a:t>Patron oficial SS7
</a:t>
            </a:r>
            <a:endParaRPr lang="en-US" sz="1200" dirty="0"/>
          </a:p>
          <a:p>
            <a:pPr marL="0" indent="0">
              <a:lnSpc>
                <a:spcPct val="105000"/>
              </a:lnSpc>
              <a:buNone/>
            </a:pPr>
            <a:r>
              <a:rPr lang="en-US" sz="1050" dirty="0">
                <a:solidFill>
                  <a:srgbClr val="5C6B62"/>
                </a:solidFill>
                <a:latin typeface="Calibri" pitchFamily="34" charset="0"/>
                <a:ea typeface="Calibri" pitchFamily="34" charset="-122"/>
                <a:cs typeface="Calibri" pitchFamily="34" charset="-120"/>
              </a:rPr>
              <a:t>El constructor sin argumentos con setUserDetailsService quedo en desuso.
</a:t>
            </a:r>
            <a:endParaRPr lang="en-US" sz="1200" dirty="0"/>
          </a:p>
          <a:p>
            <a:pPr marL="0" indent="0">
              <a:lnSpc>
                <a:spcPct val="105000"/>
              </a:lnSpc>
              <a:buNone/>
            </a:pPr>
            <a:r>
              <a:rPr lang="en-US" sz="1050" b="1" dirty="0">
                <a:solidFill>
                  <a:srgbClr val="1E2A22"/>
                </a:solidFill>
                <a:latin typeface="Calibri" pitchFamily="34" charset="0"/>
                <a:ea typeface="Calibri" pitchFamily="34" charset="-122"/>
                <a:cs typeface="Calibri" pitchFamily="34" charset="-120"/>
              </a:rPr>
              <a:t>Correcto: </a:t>
            </a:r>
            <a:r>
              <a:rPr lang="en-US" sz="1050" dirty="0">
                <a:solidFill>
                  <a:srgbClr val="5C6B62"/>
                </a:solidFill>
                <a:latin typeface="Calibri" pitchFamily="34" charset="0"/>
                <a:ea typeface="Calibri" pitchFamily="34" charset="-122"/>
                <a:cs typeface="Calibri" pitchFamily="34" charset="-120"/>
              </a:rPr>
              <a:t>new DaoAuthenticationProvider(uds) + setPasswordEncoder, envuelto en ProviderManager.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5 — SERVICIO DE TOKENS</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JwtService: emitir el token</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8092440" y="411480"/>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8092440" y="411480"/>
            <a:ext cx="566928" cy="566928"/>
          </a:xfrm>
          <a:prstGeom prst="rect">
            <a:avLst/>
          </a:prstGeom>
          <a:noFill/>
          <a:ln/>
        </p:spPr>
        <p:txBody>
          <a:bodyPr wrap="square" lIns="0" tIns="0" rIns="0" bIns="0" rtlCol="0" anchor="ctr"/>
          <a:lstStyle/>
          <a:p>
            <a:pPr marL="0" indent="0" algn="ctr">
              <a:buNone/>
            </a:pPr>
            <a:r>
              <a:rPr lang="en-US" sz="2600" b="1" dirty="0">
                <a:solidFill>
                  <a:srgbClr val="E8B923"/>
                </a:solidFill>
                <a:latin typeface="Cambria" pitchFamily="34" charset="0"/>
                <a:ea typeface="Cambria" pitchFamily="34" charset="-122"/>
                <a:cs typeface="Cambria" pitchFamily="34" charset="-120"/>
              </a:rPr>
              <a:t>5</a:t>
            </a:r>
            <a:endParaRPr lang="en-US" sz="2600" dirty="0"/>
          </a:p>
        </p:txBody>
      </p:sp>
      <p:sp>
        <p:nvSpPr>
          <p:cNvPr id="8" name="Shape 6"/>
          <p:cNvSpPr/>
          <p:nvPr/>
        </p:nvSpPr>
        <p:spPr>
          <a:xfrm>
            <a:off x="457200" y="1325880"/>
            <a:ext cx="8229600" cy="3200400"/>
          </a:xfrm>
          <a:prstGeom prst="roundRect">
            <a:avLst>
              <a:gd name="adj" fmla="val 1714"/>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21792" y="1399032"/>
            <a:ext cx="795528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security/JwtService.java — emision</a:t>
            </a:r>
            <a:endParaRPr lang="en-US" sz="950" dirty="0"/>
          </a:p>
        </p:txBody>
      </p:sp>
      <p:sp>
        <p:nvSpPr>
          <p:cNvPr id="10" name="Text 8"/>
          <p:cNvSpPr/>
          <p:nvPr/>
        </p:nvSpPr>
        <p:spPr>
          <a:xfrm>
            <a:off x="621792" y="1655064"/>
            <a:ext cx="7918704" cy="2779776"/>
          </a:xfrm>
          <a:prstGeom prst="rect">
            <a:avLst/>
          </a:prstGeom>
          <a:noFill/>
          <a:ln/>
        </p:spPr>
        <p:txBody>
          <a:bodyPr wrap="square" lIns="0" tIns="0" rIns="0" bIns="0" rtlCol="0" anchor="t"/>
          <a:lstStyle/>
          <a:p>
            <a:pPr marL="0" indent="0">
              <a:lnSpc>
                <a:spcPct val="102000"/>
              </a:lnSpc>
              <a:buNone/>
            </a:pPr>
            <a:r>
              <a:rPr lang="en-US" sz="880" b="1" dirty="0">
                <a:solidFill>
                  <a:srgbClr val="7B2FBE"/>
                </a:solidFill>
                <a:latin typeface="Courier New" pitchFamily="34" charset="0"/>
                <a:ea typeface="Courier New" pitchFamily="34" charset="-122"/>
                <a:cs typeface="Courier New" pitchFamily="34" charset="-120"/>
              </a:rPr>
              <a:t>@Service</a:t>
            </a:r>
            <a:endParaRPr lang="en-US" sz="880" dirty="0"/>
          </a:p>
          <a:p>
            <a:pPr marL="0" indent="0">
              <a:lnSpc>
                <a:spcPct val="102000"/>
              </a:lnSpc>
              <a:buNone/>
            </a:pPr>
            <a:r>
              <a:rPr lang="en-US" sz="880" b="1" dirty="0">
                <a:solidFill>
                  <a:srgbClr val="0057AE"/>
                </a:solidFill>
                <a:latin typeface="Courier New" pitchFamily="34" charset="0"/>
                <a:ea typeface="Courier New" pitchFamily="34" charset="-122"/>
                <a:cs typeface="Courier New" pitchFamily="34" charset="-120"/>
              </a:rPr>
              <a:t>public</a:t>
            </a:r>
            <a:r>
              <a:rPr lang="en-US" sz="880" dirty="0">
                <a:solidFill>
                  <a:srgbClr val="383A42"/>
                </a:solidFill>
                <a:latin typeface="Courier New" pitchFamily="34" charset="0"/>
                <a:ea typeface="Courier New" pitchFamily="34" charset="-122"/>
                <a:cs typeface="Courier New" pitchFamily="34" charset="-120"/>
              </a:rPr>
              <a:t> </a:t>
            </a:r>
            <a:r>
              <a:rPr lang="en-US" sz="880" b="1" dirty="0">
                <a:solidFill>
                  <a:srgbClr val="0057AE"/>
                </a:solidFill>
                <a:latin typeface="Courier New" pitchFamily="34" charset="0"/>
                <a:ea typeface="Courier New" pitchFamily="34" charset="-122"/>
                <a:cs typeface="Courier New" pitchFamily="34" charset="-120"/>
              </a:rPr>
              <a:t>class</a:t>
            </a:r>
            <a:r>
              <a:rPr lang="en-US" sz="880" dirty="0">
                <a:solidFill>
                  <a:srgbClr val="383A42"/>
                </a:solidFill>
                <a:latin typeface="Courier New" pitchFamily="34" charset="0"/>
                <a:ea typeface="Courier New" pitchFamily="34" charset="-122"/>
                <a:cs typeface="Courier New" pitchFamily="34" charset="-120"/>
              </a:rPr>
              <a:t> </a:t>
            </a:r>
            <a:r>
              <a:rPr lang="en-US" sz="880" dirty="0">
                <a:solidFill>
                  <a:srgbClr val="2D8000"/>
                </a:solidFill>
                <a:latin typeface="Courier New" pitchFamily="34" charset="0"/>
                <a:ea typeface="Courier New" pitchFamily="34" charset="-122"/>
                <a:cs typeface="Courier New" pitchFamily="34" charset="-120"/>
              </a:rPr>
              <a:t>JwtService</a:t>
            </a:r>
            <a:r>
              <a:rPr lang="en-US" sz="880" dirty="0">
                <a:solidFill>
                  <a:srgbClr val="383A42"/>
                </a:solidFill>
                <a:latin typeface="Courier New" pitchFamily="34" charset="0"/>
                <a:ea typeface="Courier New" pitchFamily="34" charset="-122"/>
                <a:cs typeface="Courier New" pitchFamily="34" charset="-120"/>
              </a:rPr>
              <a:t> {</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a:t>
            </a:r>
            <a:r>
              <a:rPr lang="en-US" sz="880" b="1" dirty="0">
                <a:solidFill>
                  <a:srgbClr val="7B2FBE"/>
                </a:solidFill>
                <a:latin typeface="Courier New" pitchFamily="34" charset="0"/>
                <a:ea typeface="Courier New" pitchFamily="34" charset="-122"/>
                <a:cs typeface="Courier New" pitchFamily="34" charset="-120"/>
              </a:rPr>
              <a:t>@Value</a:t>
            </a:r>
            <a:r>
              <a:rPr lang="en-US" sz="880" dirty="0">
                <a:solidFill>
                  <a:srgbClr val="383A42"/>
                </a:solidFill>
                <a:latin typeface="Courier New" pitchFamily="34" charset="0"/>
                <a:ea typeface="Courier New" pitchFamily="34" charset="-122"/>
                <a:cs typeface="Courier New" pitchFamily="34" charset="-120"/>
              </a:rPr>
              <a:t>(</a:t>
            </a:r>
            <a:r>
              <a:rPr lang="en-US" sz="880" dirty="0">
                <a:solidFill>
                  <a:srgbClr val="C41A16"/>
                </a:solidFill>
                <a:latin typeface="Courier New" pitchFamily="34" charset="0"/>
                <a:ea typeface="Courier New" pitchFamily="34" charset="-122"/>
                <a:cs typeface="Courier New" pitchFamily="34" charset="-120"/>
              </a:rPr>
              <a:t>"${app.jwt.secret}"</a:t>
            </a:r>
            <a:r>
              <a:rPr lang="en-US" sz="880" dirty="0">
                <a:solidFill>
                  <a:srgbClr val="383A42"/>
                </a:solidFill>
                <a:latin typeface="Courier New" pitchFamily="34" charset="0"/>
                <a:ea typeface="Courier New" pitchFamily="34" charset="-122"/>
                <a:cs typeface="Courier New" pitchFamily="34" charset="-120"/>
              </a:rPr>
              <a:t>)        </a:t>
            </a:r>
            <a:r>
              <a:rPr lang="en-US" sz="880" b="1" dirty="0">
                <a:solidFill>
                  <a:srgbClr val="0057AE"/>
                </a:solidFill>
                <a:latin typeface="Courier New" pitchFamily="34" charset="0"/>
                <a:ea typeface="Courier New" pitchFamily="34" charset="-122"/>
                <a:cs typeface="Courier New" pitchFamily="34" charset="-120"/>
              </a:rPr>
              <a:t>private</a:t>
            </a:r>
            <a:r>
              <a:rPr lang="en-US" sz="880" dirty="0">
                <a:solidFill>
                  <a:srgbClr val="383A42"/>
                </a:solidFill>
                <a:latin typeface="Courier New" pitchFamily="34" charset="0"/>
                <a:ea typeface="Courier New" pitchFamily="34" charset="-122"/>
                <a:cs typeface="Courier New" pitchFamily="34" charset="-120"/>
              </a:rPr>
              <a:t> </a:t>
            </a:r>
            <a:r>
              <a:rPr lang="en-US" sz="880" dirty="0">
                <a:solidFill>
                  <a:srgbClr val="2D8000"/>
                </a:solidFill>
                <a:latin typeface="Courier New" pitchFamily="34" charset="0"/>
                <a:ea typeface="Courier New" pitchFamily="34" charset="-122"/>
                <a:cs typeface="Courier New" pitchFamily="34" charset="-120"/>
              </a:rPr>
              <a:t>String</a:t>
            </a:r>
            <a:r>
              <a:rPr lang="en-US" sz="880" dirty="0">
                <a:solidFill>
                  <a:srgbClr val="383A42"/>
                </a:solidFill>
                <a:latin typeface="Courier New" pitchFamily="34" charset="0"/>
                <a:ea typeface="Courier New" pitchFamily="34" charset="-122"/>
                <a:cs typeface="Courier New" pitchFamily="34" charset="-120"/>
              </a:rPr>
              <a:t> secret;</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a:t>
            </a:r>
            <a:r>
              <a:rPr lang="en-US" sz="880" b="1" dirty="0">
                <a:solidFill>
                  <a:srgbClr val="7B2FBE"/>
                </a:solidFill>
                <a:latin typeface="Courier New" pitchFamily="34" charset="0"/>
                <a:ea typeface="Courier New" pitchFamily="34" charset="-122"/>
                <a:cs typeface="Courier New" pitchFamily="34" charset="-120"/>
              </a:rPr>
              <a:t>@Value</a:t>
            </a:r>
            <a:r>
              <a:rPr lang="en-US" sz="880" dirty="0">
                <a:solidFill>
                  <a:srgbClr val="383A42"/>
                </a:solidFill>
                <a:latin typeface="Courier New" pitchFamily="34" charset="0"/>
                <a:ea typeface="Courier New" pitchFamily="34" charset="-122"/>
                <a:cs typeface="Courier New" pitchFamily="34" charset="-120"/>
              </a:rPr>
              <a:t>(</a:t>
            </a:r>
            <a:r>
              <a:rPr lang="en-US" sz="880" dirty="0">
                <a:solidFill>
                  <a:srgbClr val="C41A16"/>
                </a:solidFill>
                <a:latin typeface="Courier New" pitchFamily="34" charset="0"/>
                <a:ea typeface="Courier New" pitchFamily="34" charset="-122"/>
                <a:cs typeface="Courier New" pitchFamily="34" charset="-120"/>
              </a:rPr>
              <a:t>"${app.jwt.expiration-ms}"</a:t>
            </a:r>
            <a:r>
              <a:rPr lang="en-US" sz="880" dirty="0">
                <a:solidFill>
                  <a:srgbClr val="383A42"/>
                </a:solidFill>
                <a:latin typeface="Courier New" pitchFamily="34" charset="0"/>
                <a:ea typeface="Courier New" pitchFamily="34" charset="-122"/>
                <a:cs typeface="Courier New" pitchFamily="34" charset="-120"/>
              </a:rPr>
              <a:t>) </a:t>
            </a:r>
            <a:r>
              <a:rPr lang="en-US" sz="880" b="1" dirty="0">
                <a:solidFill>
                  <a:srgbClr val="0057AE"/>
                </a:solidFill>
                <a:latin typeface="Courier New" pitchFamily="34" charset="0"/>
                <a:ea typeface="Courier New" pitchFamily="34" charset="-122"/>
                <a:cs typeface="Courier New" pitchFamily="34" charset="-120"/>
              </a:rPr>
              <a:t>private</a:t>
            </a:r>
            <a:r>
              <a:rPr lang="en-US" sz="880" dirty="0">
                <a:solidFill>
                  <a:srgbClr val="383A42"/>
                </a:solidFill>
                <a:latin typeface="Courier New" pitchFamily="34" charset="0"/>
                <a:ea typeface="Courier New" pitchFamily="34" charset="-122"/>
                <a:cs typeface="Courier New" pitchFamily="34" charset="-120"/>
              </a:rPr>
              <a:t> </a:t>
            </a:r>
            <a:r>
              <a:rPr lang="en-US" sz="880" dirty="0">
                <a:solidFill>
                  <a:srgbClr val="2D8000"/>
                </a:solidFill>
                <a:latin typeface="Courier New" pitchFamily="34" charset="0"/>
                <a:ea typeface="Courier New" pitchFamily="34" charset="-122"/>
                <a:cs typeface="Courier New" pitchFamily="34" charset="-120"/>
              </a:rPr>
              <a:t>long</a:t>
            </a:r>
            <a:r>
              <a:rPr lang="en-US" sz="880" dirty="0">
                <a:solidFill>
                  <a:srgbClr val="383A42"/>
                </a:solidFill>
                <a:latin typeface="Courier New" pitchFamily="34" charset="0"/>
                <a:ea typeface="Courier New" pitchFamily="34" charset="-122"/>
                <a:cs typeface="Courier New" pitchFamily="34" charset="-120"/>
              </a:rPr>
              <a:t> expiracionMs;</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a:t>
            </a:r>
            <a:r>
              <a:rPr lang="en-US" sz="880" b="1" dirty="0">
                <a:solidFill>
                  <a:srgbClr val="0057AE"/>
                </a:solidFill>
                <a:latin typeface="Courier New" pitchFamily="34" charset="0"/>
                <a:ea typeface="Courier New" pitchFamily="34" charset="-122"/>
                <a:cs typeface="Courier New" pitchFamily="34" charset="-120"/>
              </a:rPr>
              <a:t>private</a:t>
            </a:r>
            <a:r>
              <a:rPr lang="en-US" sz="880" dirty="0">
                <a:solidFill>
                  <a:srgbClr val="383A42"/>
                </a:solidFill>
                <a:latin typeface="Courier New" pitchFamily="34" charset="0"/>
                <a:ea typeface="Courier New" pitchFamily="34" charset="-122"/>
                <a:cs typeface="Courier New" pitchFamily="34" charset="-120"/>
              </a:rPr>
              <a:t> </a:t>
            </a:r>
            <a:r>
              <a:rPr lang="en-US" sz="880" dirty="0">
                <a:solidFill>
                  <a:srgbClr val="2D8000"/>
                </a:solidFill>
                <a:latin typeface="Courier New" pitchFamily="34" charset="0"/>
                <a:ea typeface="Courier New" pitchFamily="34" charset="-122"/>
                <a:cs typeface="Courier New" pitchFamily="34" charset="-120"/>
              </a:rPr>
              <a:t>SecretKey</a:t>
            </a:r>
            <a:r>
              <a:rPr lang="en-US" sz="880" dirty="0">
                <a:solidFill>
                  <a:srgbClr val="383A42"/>
                </a:solidFill>
                <a:latin typeface="Courier New" pitchFamily="34" charset="0"/>
                <a:ea typeface="Courier New" pitchFamily="34" charset="-122"/>
                <a:cs typeface="Courier New" pitchFamily="34" charset="-120"/>
              </a:rPr>
              <a:t> clave() {</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a:t>
            </a:r>
            <a:r>
              <a:rPr lang="en-US" sz="880" b="1" dirty="0">
                <a:solidFill>
                  <a:srgbClr val="0057AE"/>
                </a:solidFill>
                <a:latin typeface="Courier New" pitchFamily="34" charset="0"/>
                <a:ea typeface="Courier New" pitchFamily="34" charset="-122"/>
                <a:cs typeface="Courier New" pitchFamily="34" charset="-120"/>
              </a:rPr>
              <a:t>return</a:t>
            </a:r>
            <a:r>
              <a:rPr lang="en-US" sz="880" dirty="0">
                <a:solidFill>
                  <a:srgbClr val="383A42"/>
                </a:solidFill>
                <a:latin typeface="Courier New" pitchFamily="34" charset="0"/>
                <a:ea typeface="Courier New" pitchFamily="34" charset="-122"/>
                <a:cs typeface="Courier New" pitchFamily="34" charset="-120"/>
              </a:rPr>
              <a:t> </a:t>
            </a:r>
            <a:r>
              <a:rPr lang="en-US" sz="880" dirty="0">
                <a:solidFill>
                  <a:srgbClr val="2D8000"/>
                </a:solidFill>
                <a:latin typeface="Courier New" pitchFamily="34" charset="0"/>
                <a:ea typeface="Courier New" pitchFamily="34" charset="-122"/>
                <a:cs typeface="Courier New" pitchFamily="34" charset="-120"/>
              </a:rPr>
              <a:t>Keys</a:t>
            </a:r>
            <a:r>
              <a:rPr lang="en-US" sz="880" dirty="0">
                <a:solidFill>
                  <a:srgbClr val="383A42"/>
                </a:solidFill>
                <a:latin typeface="Courier New" pitchFamily="34" charset="0"/>
                <a:ea typeface="Courier New" pitchFamily="34" charset="-122"/>
                <a:cs typeface="Courier New" pitchFamily="34" charset="-120"/>
              </a:rPr>
              <a:t>.hmacShaKeyFor(secret.getBytes(UTF_8));</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a:t>
            </a:r>
            <a:r>
              <a:rPr lang="en-US" sz="880" b="1" dirty="0">
                <a:solidFill>
                  <a:srgbClr val="0057AE"/>
                </a:solidFill>
                <a:latin typeface="Courier New" pitchFamily="34" charset="0"/>
                <a:ea typeface="Courier New" pitchFamily="34" charset="-122"/>
                <a:cs typeface="Courier New" pitchFamily="34" charset="-120"/>
              </a:rPr>
              <a:t>public</a:t>
            </a:r>
            <a:r>
              <a:rPr lang="en-US" sz="880" dirty="0">
                <a:solidFill>
                  <a:srgbClr val="383A42"/>
                </a:solidFill>
                <a:latin typeface="Courier New" pitchFamily="34" charset="0"/>
                <a:ea typeface="Courier New" pitchFamily="34" charset="-122"/>
                <a:cs typeface="Courier New" pitchFamily="34" charset="-120"/>
              </a:rPr>
              <a:t> </a:t>
            </a:r>
            <a:r>
              <a:rPr lang="en-US" sz="880" dirty="0">
                <a:solidFill>
                  <a:srgbClr val="2D8000"/>
                </a:solidFill>
                <a:latin typeface="Courier New" pitchFamily="34" charset="0"/>
                <a:ea typeface="Courier New" pitchFamily="34" charset="-122"/>
                <a:cs typeface="Courier New" pitchFamily="34" charset="-120"/>
              </a:rPr>
              <a:t>String</a:t>
            </a:r>
            <a:r>
              <a:rPr lang="en-US" sz="880" dirty="0">
                <a:solidFill>
                  <a:srgbClr val="383A42"/>
                </a:solidFill>
                <a:latin typeface="Courier New" pitchFamily="34" charset="0"/>
                <a:ea typeface="Courier New" pitchFamily="34" charset="-122"/>
                <a:cs typeface="Courier New" pitchFamily="34" charset="-120"/>
              </a:rPr>
              <a:t> generarToken(</a:t>
            </a:r>
            <a:r>
              <a:rPr lang="en-US" sz="880" dirty="0">
                <a:solidFill>
                  <a:srgbClr val="2D8000"/>
                </a:solidFill>
                <a:latin typeface="Courier New" pitchFamily="34" charset="0"/>
                <a:ea typeface="Courier New" pitchFamily="34" charset="-122"/>
                <a:cs typeface="Courier New" pitchFamily="34" charset="-120"/>
              </a:rPr>
              <a:t>UserDetails</a:t>
            </a:r>
            <a:r>
              <a:rPr lang="en-US" sz="880" dirty="0">
                <a:solidFill>
                  <a:srgbClr val="383A42"/>
                </a:solidFill>
                <a:latin typeface="Courier New" pitchFamily="34" charset="0"/>
                <a:ea typeface="Courier New" pitchFamily="34" charset="-122"/>
                <a:cs typeface="Courier New" pitchFamily="34" charset="-120"/>
              </a:rPr>
              <a:t> usuario) {</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a:t>
            </a:r>
            <a:r>
              <a:rPr lang="en-US" sz="880" dirty="0">
                <a:solidFill>
                  <a:srgbClr val="2D8000"/>
                </a:solidFill>
                <a:latin typeface="Courier New" pitchFamily="34" charset="0"/>
                <a:ea typeface="Courier New" pitchFamily="34" charset="-122"/>
                <a:cs typeface="Courier New" pitchFamily="34" charset="-120"/>
              </a:rPr>
              <a:t>Instant</a:t>
            </a:r>
            <a:r>
              <a:rPr lang="en-US" sz="880" dirty="0">
                <a:solidFill>
                  <a:srgbClr val="383A42"/>
                </a:solidFill>
                <a:latin typeface="Courier New" pitchFamily="34" charset="0"/>
                <a:ea typeface="Courier New" pitchFamily="34" charset="-122"/>
                <a:cs typeface="Courier New" pitchFamily="34" charset="-120"/>
              </a:rPr>
              <a:t> ahora = </a:t>
            </a:r>
            <a:r>
              <a:rPr lang="en-US" sz="880" dirty="0">
                <a:solidFill>
                  <a:srgbClr val="2D8000"/>
                </a:solidFill>
                <a:latin typeface="Courier New" pitchFamily="34" charset="0"/>
                <a:ea typeface="Courier New" pitchFamily="34" charset="-122"/>
                <a:cs typeface="Courier New" pitchFamily="34" charset="-120"/>
              </a:rPr>
              <a:t>Instant</a:t>
            </a:r>
            <a:r>
              <a:rPr lang="en-US" sz="880" dirty="0">
                <a:solidFill>
                  <a:srgbClr val="383A42"/>
                </a:solidFill>
                <a:latin typeface="Courier New" pitchFamily="34" charset="0"/>
                <a:ea typeface="Courier New" pitchFamily="34" charset="-122"/>
                <a:cs typeface="Courier New" pitchFamily="34" charset="-120"/>
              </a:rPr>
              <a:t>.now();</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a:t>
            </a:r>
            <a:r>
              <a:rPr lang="en-US" sz="880" b="1" dirty="0">
                <a:solidFill>
                  <a:srgbClr val="0057AE"/>
                </a:solidFill>
                <a:latin typeface="Courier New" pitchFamily="34" charset="0"/>
                <a:ea typeface="Courier New" pitchFamily="34" charset="-122"/>
                <a:cs typeface="Courier New" pitchFamily="34" charset="-120"/>
              </a:rPr>
              <a:t>return</a:t>
            </a:r>
            <a:r>
              <a:rPr lang="en-US" sz="880" dirty="0">
                <a:solidFill>
                  <a:srgbClr val="383A42"/>
                </a:solidFill>
                <a:latin typeface="Courier New" pitchFamily="34" charset="0"/>
                <a:ea typeface="Courier New" pitchFamily="34" charset="-122"/>
                <a:cs typeface="Courier New" pitchFamily="34" charset="-120"/>
              </a:rPr>
              <a:t> </a:t>
            </a:r>
            <a:r>
              <a:rPr lang="en-US" sz="880" dirty="0">
                <a:solidFill>
                  <a:srgbClr val="2D8000"/>
                </a:solidFill>
                <a:latin typeface="Courier New" pitchFamily="34" charset="0"/>
                <a:ea typeface="Courier New" pitchFamily="34" charset="-122"/>
                <a:cs typeface="Courier New" pitchFamily="34" charset="-120"/>
              </a:rPr>
              <a:t>Jwts</a:t>
            </a:r>
            <a:r>
              <a:rPr lang="en-US" sz="880" dirty="0">
                <a:solidFill>
                  <a:srgbClr val="383A42"/>
                </a:solidFill>
                <a:latin typeface="Courier New" pitchFamily="34" charset="0"/>
                <a:ea typeface="Courier New" pitchFamily="34" charset="-122"/>
                <a:cs typeface="Courier New" pitchFamily="34" charset="-120"/>
              </a:rPr>
              <a:t>.builder()</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.subject(usuario.getUsername())</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.claim(</a:t>
            </a:r>
            <a:r>
              <a:rPr lang="en-US" sz="880" dirty="0">
                <a:solidFill>
                  <a:srgbClr val="C41A16"/>
                </a:solidFill>
                <a:latin typeface="Courier New" pitchFamily="34" charset="0"/>
                <a:ea typeface="Courier New" pitchFamily="34" charset="-122"/>
                <a:cs typeface="Courier New" pitchFamily="34" charset="-120"/>
              </a:rPr>
              <a:t>"roles"</a:t>
            </a:r>
            <a:r>
              <a:rPr lang="en-US" sz="880" dirty="0">
                <a:solidFill>
                  <a:srgbClr val="383A42"/>
                </a:solidFill>
                <a:latin typeface="Courier New" pitchFamily="34" charset="0"/>
                <a:ea typeface="Courier New" pitchFamily="34" charset="-122"/>
                <a:cs typeface="Courier New" pitchFamily="34" charset="-120"/>
              </a:rPr>
              <a:t>, usuario.getAuthorities().stream()</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.map(</a:t>
            </a:r>
            <a:r>
              <a:rPr lang="en-US" sz="880" dirty="0">
                <a:solidFill>
                  <a:srgbClr val="2D8000"/>
                </a:solidFill>
                <a:latin typeface="Courier New" pitchFamily="34" charset="0"/>
                <a:ea typeface="Courier New" pitchFamily="34" charset="-122"/>
                <a:cs typeface="Courier New" pitchFamily="34" charset="-120"/>
              </a:rPr>
              <a:t>GrantedAuthority</a:t>
            </a:r>
            <a:r>
              <a:rPr lang="en-US" sz="880" dirty="0">
                <a:solidFill>
                  <a:srgbClr val="383A42"/>
                </a:solidFill>
                <a:latin typeface="Courier New" pitchFamily="34" charset="0"/>
                <a:ea typeface="Courier New" pitchFamily="34" charset="-122"/>
                <a:cs typeface="Courier New" pitchFamily="34" charset="-120"/>
              </a:rPr>
              <a:t>::getAuthority).toList())</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.issuedAt(</a:t>
            </a:r>
            <a:r>
              <a:rPr lang="en-US" sz="880" dirty="0">
                <a:solidFill>
                  <a:srgbClr val="2D8000"/>
                </a:solidFill>
                <a:latin typeface="Courier New" pitchFamily="34" charset="0"/>
                <a:ea typeface="Courier New" pitchFamily="34" charset="-122"/>
                <a:cs typeface="Courier New" pitchFamily="34" charset="-120"/>
              </a:rPr>
              <a:t>Date</a:t>
            </a:r>
            <a:r>
              <a:rPr lang="en-US" sz="880" dirty="0">
                <a:solidFill>
                  <a:srgbClr val="383A42"/>
                </a:solidFill>
                <a:latin typeface="Courier New" pitchFamily="34" charset="0"/>
                <a:ea typeface="Courier New" pitchFamily="34" charset="-122"/>
                <a:cs typeface="Courier New" pitchFamily="34" charset="-120"/>
              </a:rPr>
              <a:t>.from(ahora))</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.expiration(</a:t>
            </a:r>
            <a:r>
              <a:rPr lang="en-US" sz="880" dirty="0">
                <a:solidFill>
                  <a:srgbClr val="2D8000"/>
                </a:solidFill>
                <a:latin typeface="Courier New" pitchFamily="34" charset="0"/>
                <a:ea typeface="Courier New" pitchFamily="34" charset="-122"/>
                <a:cs typeface="Courier New" pitchFamily="34" charset="-120"/>
              </a:rPr>
              <a:t>Date</a:t>
            </a:r>
            <a:r>
              <a:rPr lang="en-US" sz="880" dirty="0">
                <a:solidFill>
                  <a:srgbClr val="383A42"/>
                </a:solidFill>
                <a:latin typeface="Courier New" pitchFamily="34" charset="0"/>
                <a:ea typeface="Courier New" pitchFamily="34" charset="-122"/>
                <a:cs typeface="Courier New" pitchFamily="34" charset="-120"/>
              </a:rPr>
              <a:t>.from(ahora.plusMillis(expiracionMs)))</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.signWith(clave()).compact();</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  }</a:t>
            </a:r>
            <a:endParaRPr lang="en-US" sz="880" dirty="0"/>
          </a:p>
          <a:p>
            <a:pPr marL="0" indent="0">
              <a:lnSpc>
                <a:spcPct val="102000"/>
              </a:lnSpc>
              <a:buNone/>
            </a:pPr>
            <a:r>
              <a:rPr lang="en-US" sz="880" dirty="0">
                <a:solidFill>
                  <a:srgbClr val="383A42"/>
                </a:solidFill>
                <a:latin typeface="Courier New" pitchFamily="34" charset="0"/>
                <a:ea typeface="Courier New" pitchFamily="34" charset="-122"/>
                <a:cs typeface="Courier New" pitchFamily="34" charset="-120"/>
              </a:rPr>
              <a:t>}</a:t>
            </a:r>
            <a:endParaRPr lang="en-US" sz="8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5 — SERVICIO DE TOKENS</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JwtService: leer y validar el token</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8092440" y="411480"/>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8092440" y="411480"/>
            <a:ext cx="566928" cy="566928"/>
          </a:xfrm>
          <a:prstGeom prst="rect">
            <a:avLst/>
          </a:prstGeom>
          <a:noFill/>
          <a:ln/>
        </p:spPr>
        <p:txBody>
          <a:bodyPr wrap="square" lIns="0" tIns="0" rIns="0" bIns="0" rtlCol="0" anchor="ctr"/>
          <a:lstStyle/>
          <a:p>
            <a:pPr marL="0" indent="0" algn="ctr">
              <a:buNone/>
            </a:pPr>
            <a:r>
              <a:rPr lang="en-US" sz="2600" b="1" dirty="0">
                <a:solidFill>
                  <a:srgbClr val="E8B923"/>
                </a:solidFill>
                <a:latin typeface="Cambria" pitchFamily="34" charset="0"/>
                <a:ea typeface="Cambria" pitchFamily="34" charset="-122"/>
                <a:cs typeface="Cambria" pitchFamily="34" charset="-120"/>
              </a:rPr>
              <a:t>5</a:t>
            </a:r>
            <a:endParaRPr lang="en-US" sz="2600" dirty="0"/>
          </a:p>
        </p:txBody>
      </p:sp>
      <p:sp>
        <p:nvSpPr>
          <p:cNvPr id="8" name="Shape 6"/>
          <p:cNvSpPr/>
          <p:nvPr/>
        </p:nvSpPr>
        <p:spPr>
          <a:xfrm>
            <a:off x="457200" y="1371600"/>
            <a:ext cx="5577840" cy="3200400"/>
          </a:xfrm>
          <a:prstGeom prst="roundRect">
            <a:avLst>
              <a:gd name="adj" fmla="val 1714"/>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21792" y="1444752"/>
            <a:ext cx="530352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security/JwtService.java — validacion</a:t>
            </a:r>
            <a:endParaRPr lang="en-US" sz="950" dirty="0"/>
          </a:p>
        </p:txBody>
      </p:sp>
      <p:sp>
        <p:nvSpPr>
          <p:cNvPr id="10" name="Text 8"/>
          <p:cNvSpPr/>
          <p:nvPr/>
        </p:nvSpPr>
        <p:spPr>
          <a:xfrm>
            <a:off x="621792" y="1700784"/>
            <a:ext cx="5266944" cy="2779776"/>
          </a:xfrm>
          <a:prstGeom prst="rect">
            <a:avLst/>
          </a:prstGeom>
          <a:noFill/>
          <a:ln/>
        </p:spPr>
        <p:txBody>
          <a:bodyPr wrap="square" lIns="0" tIns="0" rIns="0" bIns="0" rtlCol="0" anchor="t"/>
          <a:lstStyle/>
          <a:p>
            <a:pPr marL="0" indent="0">
              <a:lnSpc>
                <a:spcPct val="102000"/>
              </a:lnSpc>
              <a:buNone/>
            </a:pPr>
            <a:r>
              <a:rPr lang="en-US" sz="920" b="1" dirty="0">
                <a:solidFill>
                  <a:srgbClr val="0057AE"/>
                </a:solidFill>
                <a:latin typeface="Courier New" pitchFamily="34" charset="0"/>
                <a:ea typeface="Courier New" pitchFamily="34" charset="-122"/>
                <a:cs typeface="Courier New" pitchFamily="34" charset="-120"/>
              </a:rPr>
              <a:t>public</a:t>
            </a:r>
            <a:r>
              <a:rPr lang="en-US" sz="920" dirty="0">
                <a:solidFill>
                  <a:srgbClr val="383A42"/>
                </a:solidFill>
                <a:latin typeface="Courier New" pitchFamily="34" charset="0"/>
                <a:ea typeface="Courier New" pitchFamily="34" charset="-122"/>
                <a:cs typeface="Courier New" pitchFamily="34" charset="-120"/>
              </a:rPr>
              <a:t> </a:t>
            </a:r>
            <a:r>
              <a:rPr lang="en-US" sz="920" dirty="0">
                <a:solidFill>
                  <a:srgbClr val="2D8000"/>
                </a:solidFill>
                <a:latin typeface="Courier New" pitchFamily="34" charset="0"/>
                <a:ea typeface="Courier New" pitchFamily="34" charset="-122"/>
                <a:cs typeface="Courier New" pitchFamily="34" charset="-120"/>
              </a:rPr>
              <a:t>String</a:t>
            </a:r>
            <a:r>
              <a:rPr lang="en-US" sz="920" dirty="0">
                <a:solidFill>
                  <a:srgbClr val="383A42"/>
                </a:solidFill>
                <a:latin typeface="Courier New" pitchFamily="34" charset="0"/>
                <a:ea typeface="Courier New" pitchFamily="34" charset="-122"/>
                <a:cs typeface="Courier New" pitchFamily="34" charset="-120"/>
              </a:rPr>
              <a:t> extraerUsername(</a:t>
            </a:r>
            <a:r>
              <a:rPr lang="en-US" sz="920" dirty="0">
                <a:solidFill>
                  <a:srgbClr val="2D8000"/>
                </a:solidFill>
                <a:latin typeface="Courier New" pitchFamily="34" charset="0"/>
                <a:ea typeface="Courier New" pitchFamily="34" charset="-122"/>
                <a:cs typeface="Courier New" pitchFamily="34" charset="-120"/>
              </a:rPr>
              <a:t>String</a:t>
            </a:r>
            <a:r>
              <a:rPr lang="en-US" sz="920" dirty="0">
                <a:solidFill>
                  <a:srgbClr val="383A42"/>
                </a:solidFill>
                <a:latin typeface="Courier New" pitchFamily="34" charset="0"/>
                <a:ea typeface="Courier New" pitchFamily="34" charset="-122"/>
                <a:cs typeface="Courier New" pitchFamily="34" charset="-120"/>
              </a:rPr>
              <a:t> token) {</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  </a:t>
            </a:r>
            <a:r>
              <a:rPr lang="en-US" sz="920" b="1" dirty="0">
                <a:solidFill>
                  <a:srgbClr val="0057AE"/>
                </a:solidFill>
                <a:latin typeface="Courier New" pitchFamily="34" charset="0"/>
                <a:ea typeface="Courier New" pitchFamily="34" charset="-122"/>
                <a:cs typeface="Courier New" pitchFamily="34" charset="-120"/>
              </a:rPr>
              <a:t>return</a:t>
            </a:r>
            <a:r>
              <a:rPr lang="en-US" sz="920" dirty="0">
                <a:solidFill>
                  <a:srgbClr val="383A42"/>
                </a:solidFill>
                <a:latin typeface="Courier New" pitchFamily="34" charset="0"/>
                <a:ea typeface="Courier New" pitchFamily="34" charset="-122"/>
                <a:cs typeface="Courier New" pitchFamily="34" charset="-120"/>
              </a:rPr>
              <a:t> parsear(token).getSubject();</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 </a:t>
            </a:r>
            <a:endParaRPr lang="en-US" sz="920" dirty="0"/>
          </a:p>
          <a:p>
            <a:pPr marL="0" indent="0">
              <a:lnSpc>
                <a:spcPct val="102000"/>
              </a:lnSpc>
              <a:buNone/>
            </a:pPr>
            <a:r>
              <a:rPr lang="en-US" sz="920" b="1" dirty="0">
                <a:solidFill>
                  <a:srgbClr val="0057AE"/>
                </a:solidFill>
                <a:latin typeface="Courier New" pitchFamily="34" charset="0"/>
                <a:ea typeface="Courier New" pitchFamily="34" charset="-122"/>
                <a:cs typeface="Courier New" pitchFamily="34" charset="-120"/>
              </a:rPr>
              <a:t>public</a:t>
            </a:r>
            <a:r>
              <a:rPr lang="en-US" sz="920" dirty="0">
                <a:solidFill>
                  <a:srgbClr val="383A42"/>
                </a:solidFill>
                <a:latin typeface="Courier New" pitchFamily="34" charset="0"/>
                <a:ea typeface="Courier New" pitchFamily="34" charset="-122"/>
                <a:cs typeface="Courier New" pitchFamily="34" charset="-120"/>
              </a:rPr>
              <a:t> </a:t>
            </a:r>
            <a:r>
              <a:rPr lang="en-US" sz="920" dirty="0">
                <a:solidFill>
                  <a:srgbClr val="2D8000"/>
                </a:solidFill>
                <a:latin typeface="Courier New" pitchFamily="34" charset="0"/>
                <a:ea typeface="Courier New" pitchFamily="34" charset="-122"/>
                <a:cs typeface="Courier New" pitchFamily="34" charset="-120"/>
              </a:rPr>
              <a:t>boolean</a:t>
            </a:r>
            <a:r>
              <a:rPr lang="en-US" sz="920" dirty="0">
                <a:solidFill>
                  <a:srgbClr val="383A42"/>
                </a:solidFill>
                <a:latin typeface="Courier New" pitchFamily="34" charset="0"/>
                <a:ea typeface="Courier New" pitchFamily="34" charset="-122"/>
                <a:cs typeface="Courier New" pitchFamily="34" charset="-120"/>
              </a:rPr>
              <a:t> esValido(</a:t>
            </a:r>
            <a:r>
              <a:rPr lang="en-US" sz="920" dirty="0">
                <a:solidFill>
                  <a:srgbClr val="2D8000"/>
                </a:solidFill>
                <a:latin typeface="Courier New" pitchFamily="34" charset="0"/>
                <a:ea typeface="Courier New" pitchFamily="34" charset="-122"/>
                <a:cs typeface="Courier New" pitchFamily="34" charset="-120"/>
              </a:rPr>
              <a:t>String</a:t>
            </a:r>
            <a:r>
              <a:rPr lang="en-US" sz="920" dirty="0">
                <a:solidFill>
                  <a:srgbClr val="383A42"/>
                </a:solidFill>
                <a:latin typeface="Courier New" pitchFamily="34" charset="0"/>
                <a:ea typeface="Courier New" pitchFamily="34" charset="-122"/>
                <a:cs typeface="Courier New" pitchFamily="34" charset="-120"/>
              </a:rPr>
              <a:t> token, </a:t>
            </a:r>
            <a:r>
              <a:rPr lang="en-US" sz="920" dirty="0">
                <a:solidFill>
                  <a:srgbClr val="2D8000"/>
                </a:solidFill>
                <a:latin typeface="Courier New" pitchFamily="34" charset="0"/>
                <a:ea typeface="Courier New" pitchFamily="34" charset="-122"/>
                <a:cs typeface="Courier New" pitchFamily="34" charset="-120"/>
              </a:rPr>
              <a:t>UserDetails</a:t>
            </a:r>
            <a:r>
              <a:rPr lang="en-US" sz="920" dirty="0">
                <a:solidFill>
                  <a:srgbClr val="383A42"/>
                </a:solidFill>
                <a:latin typeface="Courier New" pitchFamily="34" charset="0"/>
                <a:ea typeface="Courier New" pitchFamily="34" charset="-122"/>
                <a:cs typeface="Courier New" pitchFamily="34" charset="-120"/>
              </a:rPr>
              <a:t> usuario) {</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  </a:t>
            </a:r>
            <a:r>
              <a:rPr lang="en-US" sz="920" dirty="0">
                <a:solidFill>
                  <a:srgbClr val="2D8000"/>
                </a:solidFill>
                <a:latin typeface="Courier New" pitchFamily="34" charset="0"/>
                <a:ea typeface="Courier New" pitchFamily="34" charset="-122"/>
                <a:cs typeface="Courier New" pitchFamily="34" charset="-120"/>
              </a:rPr>
              <a:t>Claims</a:t>
            </a:r>
            <a:r>
              <a:rPr lang="en-US" sz="920" dirty="0">
                <a:solidFill>
                  <a:srgbClr val="383A42"/>
                </a:solidFill>
                <a:latin typeface="Courier New" pitchFamily="34" charset="0"/>
                <a:ea typeface="Courier New" pitchFamily="34" charset="-122"/>
                <a:cs typeface="Courier New" pitchFamily="34" charset="-120"/>
              </a:rPr>
              <a:t> c = parsear(token);</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  </a:t>
            </a:r>
            <a:r>
              <a:rPr lang="en-US" sz="920" b="1" dirty="0">
                <a:solidFill>
                  <a:srgbClr val="0057AE"/>
                </a:solidFill>
                <a:latin typeface="Courier New" pitchFamily="34" charset="0"/>
                <a:ea typeface="Courier New" pitchFamily="34" charset="-122"/>
                <a:cs typeface="Courier New" pitchFamily="34" charset="-120"/>
              </a:rPr>
              <a:t>return</a:t>
            </a:r>
            <a:r>
              <a:rPr lang="en-US" sz="920" dirty="0">
                <a:solidFill>
                  <a:srgbClr val="383A42"/>
                </a:solidFill>
                <a:latin typeface="Courier New" pitchFamily="34" charset="0"/>
                <a:ea typeface="Courier New" pitchFamily="34" charset="-122"/>
                <a:cs typeface="Courier New" pitchFamily="34" charset="-120"/>
              </a:rPr>
              <a:t> c.getSubject().equals(usuario.getUsername())</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      &amp;&amp; c.getExpiration().after(</a:t>
            </a:r>
            <a:r>
              <a:rPr lang="en-US" sz="920" b="1" dirty="0">
                <a:solidFill>
                  <a:srgbClr val="0057AE"/>
                </a:solidFill>
                <a:latin typeface="Courier New" pitchFamily="34" charset="0"/>
                <a:ea typeface="Courier New" pitchFamily="34" charset="-122"/>
                <a:cs typeface="Courier New" pitchFamily="34" charset="-120"/>
              </a:rPr>
              <a:t>new</a:t>
            </a:r>
            <a:r>
              <a:rPr lang="en-US" sz="920" dirty="0">
                <a:solidFill>
                  <a:srgbClr val="383A42"/>
                </a:solidFill>
                <a:latin typeface="Courier New" pitchFamily="34" charset="0"/>
                <a:ea typeface="Courier New" pitchFamily="34" charset="-122"/>
                <a:cs typeface="Courier New" pitchFamily="34" charset="-120"/>
              </a:rPr>
              <a:t> </a:t>
            </a:r>
            <a:r>
              <a:rPr lang="en-US" sz="920" dirty="0">
                <a:solidFill>
                  <a:srgbClr val="2D8000"/>
                </a:solidFill>
                <a:latin typeface="Courier New" pitchFamily="34" charset="0"/>
                <a:ea typeface="Courier New" pitchFamily="34" charset="-122"/>
                <a:cs typeface="Courier New" pitchFamily="34" charset="-120"/>
              </a:rPr>
              <a:t>Date</a:t>
            </a:r>
            <a:r>
              <a:rPr lang="en-US" sz="920" dirty="0">
                <a:solidFill>
                  <a:srgbClr val="383A42"/>
                </a:solidFill>
                <a:latin typeface="Courier New" pitchFamily="34" charset="0"/>
                <a:ea typeface="Courier New" pitchFamily="34" charset="-122"/>
                <a:cs typeface="Courier New" pitchFamily="34" charset="-120"/>
              </a:rPr>
              <a:t>());</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 </a:t>
            </a:r>
            <a:endParaRPr lang="en-US" sz="920" dirty="0"/>
          </a:p>
          <a:p>
            <a:pPr marL="0" indent="0">
              <a:lnSpc>
                <a:spcPct val="102000"/>
              </a:lnSpc>
              <a:buNone/>
            </a:pPr>
            <a:r>
              <a:rPr lang="en-US" sz="920" b="1" dirty="0">
                <a:solidFill>
                  <a:srgbClr val="0057AE"/>
                </a:solidFill>
                <a:latin typeface="Courier New" pitchFamily="34" charset="0"/>
                <a:ea typeface="Courier New" pitchFamily="34" charset="-122"/>
                <a:cs typeface="Courier New" pitchFamily="34" charset="-120"/>
              </a:rPr>
              <a:t>private</a:t>
            </a:r>
            <a:r>
              <a:rPr lang="en-US" sz="920" dirty="0">
                <a:solidFill>
                  <a:srgbClr val="383A42"/>
                </a:solidFill>
                <a:latin typeface="Courier New" pitchFamily="34" charset="0"/>
                <a:ea typeface="Courier New" pitchFamily="34" charset="-122"/>
                <a:cs typeface="Courier New" pitchFamily="34" charset="-120"/>
              </a:rPr>
              <a:t> </a:t>
            </a:r>
            <a:r>
              <a:rPr lang="en-US" sz="920" dirty="0">
                <a:solidFill>
                  <a:srgbClr val="2D8000"/>
                </a:solidFill>
                <a:latin typeface="Courier New" pitchFamily="34" charset="0"/>
                <a:ea typeface="Courier New" pitchFamily="34" charset="-122"/>
                <a:cs typeface="Courier New" pitchFamily="34" charset="-120"/>
              </a:rPr>
              <a:t>Claims</a:t>
            </a:r>
            <a:r>
              <a:rPr lang="en-US" sz="920" dirty="0">
                <a:solidFill>
                  <a:srgbClr val="383A42"/>
                </a:solidFill>
                <a:latin typeface="Courier New" pitchFamily="34" charset="0"/>
                <a:ea typeface="Courier New" pitchFamily="34" charset="-122"/>
                <a:cs typeface="Courier New" pitchFamily="34" charset="-120"/>
              </a:rPr>
              <a:t> parsear(</a:t>
            </a:r>
            <a:r>
              <a:rPr lang="en-US" sz="920" dirty="0">
                <a:solidFill>
                  <a:srgbClr val="2D8000"/>
                </a:solidFill>
                <a:latin typeface="Courier New" pitchFamily="34" charset="0"/>
                <a:ea typeface="Courier New" pitchFamily="34" charset="-122"/>
                <a:cs typeface="Courier New" pitchFamily="34" charset="-120"/>
              </a:rPr>
              <a:t>String</a:t>
            </a:r>
            <a:r>
              <a:rPr lang="en-US" sz="920" dirty="0">
                <a:solidFill>
                  <a:srgbClr val="383A42"/>
                </a:solidFill>
                <a:latin typeface="Courier New" pitchFamily="34" charset="0"/>
                <a:ea typeface="Courier New" pitchFamily="34" charset="-122"/>
                <a:cs typeface="Courier New" pitchFamily="34" charset="-120"/>
              </a:rPr>
              <a:t> token) {</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  </a:t>
            </a:r>
            <a:r>
              <a:rPr lang="en-US" sz="920" b="1" dirty="0">
                <a:solidFill>
                  <a:srgbClr val="0057AE"/>
                </a:solidFill>
                <a:latin typeface="Courier New" pitchFamily="34" charset="0"/>
                <a:ea typeface="Courier New" pitchFamily="34" charset="-122"/>
                <a:cs typeface="Courier New" pitchFamily="34" charset="-120"/>
              </a:rPr>
              <a:t>return</a:t>
            </a:r>
            <a:r>
              <a:rPr lang="en-US" sz="920" dirty="0">
                <a:solidFill>
                  <a:srgbClr val="383A42"/>
                </a:solidFill>
                <a:latin typeface="Courier New" pitchFamily="34" charset="0"/>
                <a:ea typeface="Courier New" pitchFamily="34" charset="-122"/>
                <a:cs typeface="Courier New" pitchFamily="34" charset="-120"/>
              </a:rPr>
              <a:t> </a:t>
            </a:r>
            <a:r>
              <a:rPr lang="en-US" sz="920" dirty="0">
                <a:solidFill>
                  <a:srgbClr val="2D8000"/>
                </a:solidFill>
                <a:latin typeface="Courier New" pitchFamily="34" charset="0"/>
                <a:ea typeface="Courier New" pitchFamily="34" charset="-122"/>
                <a:cs typeface="Courier New" pitchFamily="34" charset="-120"/>
              </a:rPr>
              <a:t>Jwts</a:t>
            </a:r>
            <a:r>
              <a:rPr lang="en-US" sz="920" dirty="0">
                <a:solidFill>
                  <a:srgbClr val="383A42"/>
                </a:solidFill>
                <a:latin typeface="Courier New" pitchFamily="34" charset="0"/>
                <a:ea typeface="Courier New" pitchFamily="34" charset="-122"/>
                <a:cs typeface="Courier New" pitchFamily="34" charset="-120"/>
              </a:rPr>
              <a:t>.parser()</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    .verifyWith(clave())        </a:t>
            </a:r>
            <a:r>
              <a:rPr lang="en-US" sz="920" i="1" dirty="0">
                <a:solidFill>
                  <a:srgbClr val="717171"/>
                </a:solidFill>
                <a:latin typeface="Courier New" pitchFamily="34" charset="0"/>
                <a:ea typeface="Courier New" pitchFamily="34" charset="-122"/>
                <a:cs typeface="Courier New" pitchFamily="34" charset="-120"/>
              </a:rPr>
              <a:t>// comprueba la firma</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    .build()</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    .parseSignedClaims(token)</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    .getPayload();</a:t>
            </a:r>
            <a:endParaRPr lang="en-US" sz="920" dirty="0"/>
          </a:p>
          <a:p>
            <a:pPr marL="0" indent="0">
              <a:lnSpc>
                <a:spcPct val="102000"/>
              </a:lnSpc>
              <a:buNone/>
            </a:pPr>
            <a:r>
              <a:rPr lang="en-US" sz="920" dirty="0">
                <a:solidFill>
                  <a:srgbClr val="383A42"/>
                </a:solidFill>
                <a:latin typeface="Courier New" pitchFamily="34" charset="0"/>
                <a:ea typeface="Courier New" pitchFamily="34" charset="-122"/>
                <a:cs typeface="Courier New" pitchFamily="34" charset="-120"/>
              </a:rPr>
              <a:t>}</a:t>
            </a:r>
            <a:endParaRPr lang="en-US" sz="920" dirty="0"/>
          </a:p>
        </p:txBody>
      </p:sp>
      <p:sp>
        <p:nvSpPr>
          <p:cNvPr id="11" name="Shape 9"/>
          <p:cNvSpPr/>
          <p:nvPr/>
        </p:nvSpPr>
        <p:spPr>
          <a:xfrm>
            <a:off x="6172200" y="1371600"/>
            <a:ext cx="2514600" cy="3200400"/>
          </a:xfrm>
          <a:prstGeom prst="roundRect">
            <a:avLst>
              <a:gd name="adj" fmla="val 2909"/>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Text 10"/>
          <p:cNvSpPr/>
          <p:nvPr/>
        </p:nvSpPr>
        <p:spPr>
          <a:xfrm>
            <a:off x="6336792" y="1481328"/>
            <a:ext cx="2194560" cy="2926080"/>
          </a:xfrm>
          <a:prstGeom prst="rect">
            <a:avLst/>
          </a:prstGeom>
          <a:noFill/>
          <a:ln/>
        </p:spPr>
        <p:txBody>
          <a:bodyPr wrap="square" lIns="0" tIns="0" rIns="0" bIns="0" rtlCol="0" anchor="t"/>
          <a:lstStyle/>
          <a:p>
            <a:pPr marL="0" indent="0">
              <a:lnSpc>
                <a:spcPct val="104000"/>
              </a:lnSpc>
              <a:buNone/>
            </a:pPr>
            <a:r>
              <a:rPr lang="en-US" sz="1250" b="1" dirty="0">
                <a:solidFill>
                  <a:srgbClr val="006633"/>
                </a:solidFill>
                <a:latin typeface="Calibri" pitchFamily="34" charset="0"/>
                <a:ea typeface="Calibri" pitchFamily="34" charset="-122"/>
                <a:cs typeface="Calibri" pitchFamily="34" charset="-120"/>
              </a:rPr>
              <a:t>Que valida
</a:t>
            </a:r>
            <a:endParaRPr lang="en-US" sz="1250" dirty="0"/>
          </a:p>
          <a:p>
            <a:pPr marL="0" indent="0">
              <a:lnSpc>
                <a:spcPct val="104000"/>
              </a:lnSpc>
              <a:buNone/>
            </a:pPr>
            <a:r>
              <a:rPr lang="en-US" sz="1100" b="1" dirty="0">
                <a:solidFill>
                  <a:srgbClr val="1E2A22"/>
                </a:solidFill>
                <a:latin typeface="Calibri" pitchFamily="34" charset="0"/>
                <a:ea typeface="Calibri" pitchFamily="34" charset="-122"/>
                <a:cs typeface="Calibri" pitchFamily="34" charset="-120"/>
              </a:rPr>
              <a:t>1. La firma  </a:t>
            </a:r>
            <a:r>
              <a:rPr lang="en-US" sz="1050" dirty="0">
                <a:solidFill>
                  <a:srgbClr val="5C6B62"/>
                </a:solidFill>
                <a:latin typeface="Calibri" pitchFamily="34" charset="0"/>
                <a:ea typeface="Calibri" pitchFamily="34" charset="-122"/>
                <a:cs typeface="Calibri" pitchFamily="34" charset="-120"/>
              </a:rPr>
              <a:t>(verifyWith): nadie altero el token.
</a:t>
            </a:r>
            <a:endParaRPr lang="en-US" sz="1250" dirty="0"/>
          </a:p>
          <a:p>
            <a:pPr marL="0" indent="0">
              <a:lnSpc>
                <a:spcPct val="104000"/>
              </a:lnSpc>
              <a:buNone/>
            </a:pPr>
            <a:r>
              <a:rPr lang="en-US" sz="1100" b="1" dirty="0">
                <a:solidFill>
                  <a:srgbClr val="1E2A22"/>
                </a:solidFill>
                <a:latin typeface="Calibri" pitchFamily="34" charset="0"/>
                <a:ea typeface="Calibri" pitchFamily="34" charset="-122"/>
                <a:cs typeface="Calibri" pitchFamily="34" charset="-120"/>
              </a:rPr>
              <a:t>2. El subject  </a:t>
            </a:r>
            <a:r>
              <a:rPr lang="en-US" sz="1050" dirty="0">
                <a:solidFill>
                  <a:srgbClr val="5C6B62"/>
                </a:solidFill>
                <a:latin typeface="Calibri" pitchFamily="34" charset="0"/>
                <a:ea typeface="Calibri" pitchFamily="34" charset="-122"/>
                <a:cs typeface="Calibri" pitchFamily="34" charset="-120"/>
              </a:rPr>
              <a:t>coincide con el usuario.
</a:t>
            </a:r>
            <a:endParaRPr lang="en-US" sz="1250" dirty="0"/>
          </a:p>
          <a:p>
            <a:pPr marL="0" indent="0">
              <a:lnSpc>
                <a:spcPct val="104000"/>
              </a:lnSpc>
              <a:buNone/>
            </a:pPr>
            <a:r>
              <a:rPr lang="en-US" sz="1100" b="1" dirty="0">
                <a:solidFill>
                  <a:srgbClr val="1E2A22"/>
                </a:solidFill>
                <a:latin typeface="Calibri" pitchFamily="34" charset="0"/>
                <a:ea typeface="Calibri" pitchFamily="34" charset="-122"/>
                <a:cs typeface="Calibri" pitchFamily="34" charset="-120"/>
              </a:rPr>
              <a:t>3. La expiracion  </a:t>
            </a:r>
            <a:r>
              <a:rPr lang="en-US" sz="1050" dirty="0">
                <a:solidFill>
                  <a:srgbClr val="5C6B62"/>
                </a:solidFill>
                <a:latin typeface="Calibri" pitchFamily="34" charset="0"/>
                <a:ea typeface="Calibri" pitchFamily="34" charset="-122"/>
                <a:cs typeface="Calibri" pitchFamily="34" charset="-120"/>
              </a:rPr>
              <a:t>aun no ha pasado.</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6 — FILTRO DE AUTENTICACION</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JwtAuthFilter: intercepta cada peticion</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8092440" y="411480"/>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8092440" y="411480"/>
            <a:ext cx="566928" cy="566928"/>
          </a:xfrm>
          <a:prstGeom prst="rect">
            <a:avLst/>
          </a:prstGeom>
          <a:noFill/>
          <a:ln/>
        </p:spPr>
        <p:txBody>
          <a:bodyPr wrap="square" lIns="0" tIns="0" rIns="0" bIns="0" rtlCol="0" anchor="ctr"/>
          <a:lstStyle/>
          <a:p>
            <a:pPr marL="0" indent="0" algn="ctr">
              <a:buNone/>
            </a:pPr>
            <a:r>
              <a:rPr lang="en-US" sz="2600" b="1" dirty="0">
                <a:solidFill>
                  <a:srgbClr val="E8B923"/>
                </a:solidFill>
                <a:latin typeface="Cambria" pitchFamily="34" charset="0"/>
                <a:ea typeface="Cambria" pitchFamily="34" charset="-122"/>
                <a:cs typeface="Cambria" pitchFamily="34" charset="-120"/>
              </a:rPr>
              <a:t>6</a:t>
            </a:r>
            <a:endParaRPr lang="en-US" sz="2600" dirty="0"/>
          </a:p>
        </p:txBody>
      </p:sp>
      <p:sp>
        <p:nvSpPr>
          <p:cNvPr id="8" name="Shape 6"/>
          <p:cNvSpPr/>
          <p:nvPr/>
        </p:nvSpPr>
        <p:spPr>
          <a:xfrm>
            <a:off x="457200" y="1325880"/>
            <a:ext cx="8229600" cy="3200400"/>
          </a:xfrm>
          <a:prstGeom prst="roundRect">
            <a:avLst>
              <a:gd name="adj" fmla="val 1714"/>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21792" y="1399032"/>
            <a:ext cx="795528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security/JwtAuthFilter.java (resumen)</a:t>
            </a:r>
            <a:endParaRPr lang="en-US" sz="950" dirty="0"/>
          </a:p>
        </p:txBody>
      </p:sp>
      <p:sp>
        <p:nvSpPr>
          <p:cNvPr id="10" name="Text 8"/>
          <p:cNvSpPr/>
          <p:nvPr/>
        </p:nvSpPr>
        <p:spPr>
          <a:xfrm>
            <a:off x="621792" y="1655064"/>
            <a:ext cx="7918704" cy="2779776"/>
          </a:xfrm>
          <a:prstGeom prst="rect">
            <a:avLst/>
          </a:prstGeom>
          <a:noFill/>
          <a:ln/>
        </p:spPr>
        <p:txBody>
          <a:bodyPr wrap="square" lIns="0" tIns="0" rIns="0" bIns="0" rtlCol="0" anchor="t"/>
          <a:lstStyle/>
          <a:p>
            <a:pPr marL="0" indent="0">
              <a:lnSpc>
                <a:spcPct val="102000"/>
              </a:lnSpc>
              <a:buNone/>
            </a:pPr>
            <a:r>
              <a:rPr lang="en-US" sz="850" b="1" dirty="0">
                <a:solidFill>
                  <a:srgbClr val="7B2FBE"/>
                </a:solidFill>
                <a:latin typeface="Courier New" pitchFamily="34" charset="0"/>
                <a:ea typeface="Courier New" pitchFamily="34" charset="-122"/>
                <a:cs typeface="Courier New" pitchFamily="34" charset="-120"/>
              </a:rPr>
              <a:t>@Component</a:t>
            </a:r>
            <a:endParaRPr lang="en-US" sz="850" dirty="0"/>
          </a:p>
          <a:p>
            <a:pPr marL="0" indent="0">
              <a:lnSpc>
                <a:spcPct val="102000"/>
              </a:lnSpc>
              <a:buNone/>
            </a:pPr>
            <a:r>
              <a:rPr lang="en-US" sz="850" b="1" dirty="0">
                <a:solidFill>
                  <a:srgbClr val="7B2FBE"/>
                </a:solidFill>
                <a:latin typeface="Courier New" pitchFamily="34" charset="0"/>
                <a:ea typeface="Courier New" pitchFamily="34" charset="-122"/>
                <a:cs typeface="Courier New" pitchFamily="34" charset="-120"/>
              </a:rPr>
              <a:t>@RequiredArgsConstructor</a:t>
            </a:r>
            <a:endParaRPr lang="en-US" sz="850" dirty="0"/>
          </a:p>
          <a:p>
            <a:pPr marL="0" indent="0">
              <a:lnSpc>
                <a:spcPct val="102000"/>
              </a:lnSpc>
              <a:buNone/>
            </a:pPr>
            <a:r>
              <a:rPr lang="en-US" sz="850" b="1" dirty="0">
                <a:solidFill>
                  <a:srgbClr val="0057AE"/>
                </a:solidFill>
                <a:latin typeface="Courier New" pitchFamily="34" charset="0"/>
                <a:ea typeface="Courier New" pitchFamily="34" charset="-122"/>
                <a:cs typeface="Courier New" pitchFamily="34" charset="-120"/>
              </a:rPr>
              <a:t>public</a:t>
            </a: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class</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JwtAuthFilter</a:t>
            </a: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extends</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OncePerRequestFilter</a:t>
            </a:r>
            <a:r>
              <a:rPr lang="en-US" sz="850" dirty="0">
                <a:solidFill>
                  <a:srgbClr val="383A42"/>
                </a:solidFill>
                <a:latin typeface="Courier New" pitchFamily="34" charset="0"/>
                <a:ea typeface="Courier New" pitchFamily="34" charset="-122"/>
                <a:cs typeface="Courier New" pitchFamily="34" charset="-120"/>
              </a:rPr>
              <a:t> {</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private</a:t>
            </a: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final</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JwtService</a:t>
            </a:r>
            <a:r>
              <a:rPr lang="en-US" sz="850" dirty="0">
                <a:solidFill>
                  <a:srgbClr val="383A42"/>
                </a:solidFill>
                <a:latin typeface="Courier New" pitchFamily="34" charset="0"/>
                <a:ea typeface="Courier New" pitchFamily="34" charset="-122"/>
                <a:cs typeface="Courier New" pitchFamily="34" charset="-120"/>
              </a:rPr>
              <a:t> jwtService;</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private</a:t>
            </a: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final</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UserDetailsService</a:t>
            </a:r>
            <a:r>
              <a:rPr lang="en-US" sz="850" dirty="0">
                <a:solidFill>
                  <a:srgbClr val="383A42"/>
                </a:solidFill>
                <a:latin typeface="Courier New" pitchFamily="34" charset="0"/>
                <a:ea typeface="Courier New" pitchFamily="34" charset="-122"/>
                <a:cs typeface="Courier New" pitchFamily="34" charset="-120"/>
              </a:rPr>
              <a:t> userDetailsService;</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7B2FBE"/>
                </a:solidFill>
                <a:latin typeface="Courier New" pitchFamily="34" charset="0"/>
                <a:ea typeface="Courier New" pitchFamily="34" charset="-122"/>
                <a:cs typeface="Courier New" pitchFamily="34" charset="-120"/>
              </a:rPr>
              <a:t>@Override</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protected</a:t>
            </a: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void</a:t>
            </a:r>
            <a:r>
              <a:rPr lang="en-US" sz="850" dirty="0">
                <a:solidFill>
                  <a:srgbClr val="383A42"/>
                </a:solidFill>
                <a:latin typeface="Courier New" pitchFamily="34" charset="0"/>
                <a:ea typeface="Courier New" pitchFamily="34" charset="-122"/>
                <a:cs typeface="Courier New" pitchFamily="34" charset="-120"/>
              </a:rPr>
              <a:t> doFilterInternal(</a:t>
            </a:r>
            <a:r>
              <a:rPr lang="en-US" sz="850" dirty="0">
                <a:solidFill>
                  <a:srgbClr val="2D8000"/>
                </a:solidFill>
                <a:latin typeface="Courier New" pitchFamily="34" charset="0"/>
                <a:ea typeface="Courier New" pitchFamily="34" charset="-122"/>
                <a:cs typeface="Courier New" pitchFamily="34" charset="-120"/>
              </a:rPr>
              <a:t>HttpServletRequest</a:t>
            </a:r>
            <a:r>
              <a:rPr lang="en-US" sz="850" dirty="0">
                <a:solidFill>
                  <a:srgbClr val="383A42"/>
                </a:solidFill>
                <a:latin typeface="Courier New" pitchFamily="34" charset="0"/>
                <a:ea typeface="Courier New" pitchFamily="34" charset="-122"/>
                <a:cs typeface="Courier New" pitchFamily="34" charset="-120"/>
              </a:rPr>
              <a:t> req,</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HttpServletResponse</a:t>
            </a:r>
            <a:r>
              <a:rPr lang="en-US" sz="850" dirty="0">
                <a:solidFill>
                  <a:srgbClr val="383A42"/>
                </a:solidFill>
                <a:latin typeface="Courier New" pitchFamily="34" charset="0"/>
                <a:ea typeface="Courier New" pitchFamily="34" charset="-122"/>
                <a:cs typeface="Courier New" pitchFamily="34" charset="-120"/>
              </a:rPr>
              <a:t> res, </a:t>
            </a:r>
            <a:r>
              <a:rPr lang="en-US" sz="850" dirty="0">
                <a:solidFill>
                  <a:srgbClr val="2D8000"/>
                </a:solidFill>
                <a:latin typeface="Courier New" pitchFamily="34" charset="0"/>
                <a:ea typeface="Courier New" pitchFamily="34" charset="-122"/>
                <a:cs typeface="Courier New" pitchFamily="34" charset="-120"/>
              </a:rPr>
              <a:t>FilterChain</a:t>
            </a:r>
            <a:r>
              <a:rPr lang="en-US" sz="850" dirty="0">
                <a:solidFill>
                  <a:srgbClr val="383A42"/>
                </a:solidFill>
                <a:latin typeface="Courier New" pitchFamily="34" charset="0"/>
                <a:ea typeface="Courier New" pitchFamily="34" charset="-122"/>
                <a:cs typeface="Courier New" pitchFamily="34" charset="-120"/>
              </a:rPr>
              <a:t> chain) ... {</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String</a:t>
            </a:r>
            <a:r>
              <a:rPr lang="en-US" sz="850" dirty="0">
                <a:solidFill>
                  <a:srgbClr val="383A42"/>
                </a:solidFill>
                <a:latin typeface="Courier New" pitchFamily="34" charset="0"/>
                <a:ea typeface="Courier New" pitchFamily="34" charset="-122"/>
                <a:cs typeface="Courier New" pitchFamily="34" charset="-120"/>
              </a:rPr>
              <a:t> cabecera = req.getHeader(</a:t>
            </a:r>
            <a:r>
              <a:rPr lang="en-US" sz="850" dirty="0">
                <a:solidFill>
                  <a:srgbClr val="C41A16"/>
                </a:solidFill>
                <a:latin typeface="Courier New" pitchFamily="34" charset="0"/>
                <a:ea typeface="Courier New" pitchFamily="34" charset="-122"/>
                <a:cs typeface="Courier New" pitchFamily="34" charset="-120"/>
              </a:rPr>
              <a:t>"Authorization"</a:t>
            </a:r>
            <a:r>
              <a:rPr lang="en-US" sz="850" dirty="0">
                <a:solidFill>
                  <a:srgbClr val="383A42"/>
                </a:solidFill>
                <a:latin typeface="Courier New" pitchFamily="34" charset="0"/>
                <a:ea typeface="Courier New" pitchFamily="34" charset="-122"/>
                <a:cs typeface="Courier New" pitchFamily="34" charset="-120"/>
              </a:rPr>
              <a:t>);</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if</a:t>
            </a:r>
            <a:r>
              <a:rPr lang="en-US" sz="850" dirty="0">
                <a:solidFill>
                  <a:srgbClr val="383A42"/>
                </a:solidFill>
                <a:latin typeface="Courier New" pitchFamily="34" charset="0"/>
                <a:ea typeface="Courier New" pitchFamily="34" charset="-122"/>
                <a:cs typeface="Courier New" pitchFamily="34" charset="-120"/>
              </a:rPr>
              <a:t> (cabecera == </a:t>
            </a:r>
            <a:r>
              <a:rPr lang="en-US" sz="850" b="1" dirty="0">
                <a:solidFill>
                  <a:srgbClr val="0057AE"/>
                </a:solidFill>
                <a:latin typeface="Courier New" pitchFamily="34" charset="0"/>
                <a:ea typeface="Courier New" pitchFamily="34" charset="-122"/>
                <a:cs typeface="Courier New" pitchFamily="34" charset="-120"/>
              </a:rPr>
              <a:t>null</a:t>
            </a:r>
            <a:r>
              <a:rPr lang="en-US" sz="850" dirty="0">
                <a:solidFill>
                  <a:srgbClr val="383A42"/>
                </a:solidFill>
                <a:latin typeface="Courier New" pitchFamily="34" charset="0"/>
                <a:ea typeface="Courier New" pitchFamily="34" charset="-122"/>
                <a:cs typeface="Courier New" pitchFamily="34" charset="-120"/>
              </a:rPr>
              <a:t> || !cabecera.startsWith(</a:t>
            </a:r>
            <a:r>
              <a:rPr lang="en-US" sz="850" dirty="0">
                <a:solidFill>
                  <a:srgbClr val="C41A16"/>
                </a:solidFill>
                <a:latin typeface="Courier New" pitchFamily="34" charset="0"/>
                <a:ea typeface="Courier New" pitchFamily="34" charset="-122"/>
                <a:cs typeface="Courier New" pitchFamily="34" charset="-120"/>
              </a:rPr>
              <a:t>"Bearer "</a:t>
            </a:r>
            <a:r>
              <a:rPr lang="en-US" sz="850" dirty="0">
                <a:solidFill>
                  <a:srgbClr val="383A42"/>
                </a:solidFill>
                <a:latin typeface="Courier New" pitchFamily="34" charset="0"/>
                <a:ea typeface="Courier New" pitchFamily="34" charset="-122"/>
                <a:cs typeface="Courier New" pitchFamily="34" charset="-120"/>
              </a:rPr>
              <a:t>)) {</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chain.doFilter(req, res); </a:t>
            </a:r>
            <a:r>
              <a:rPr lang="en-US" sz="850" b="1" dirty="0">
                <a:solidFill>
                  <a:srgbClr val="0057AE"/>
                </a:solidFill>
                <a:latin typeface="Courier New" pitchFamily="34" charset="0"/>
                <a:ea typeface="Courier New" pitchFamily="34" charset="-122"/>
                <a:cs typeface="Courier New" pitchFamily="34" charset="-120"/>
              </a:rPr>
              <a:t>return</a:t>
            </a:r>
            <a:r>
              <a:rPr lang="en-US" sz="850" dirty="0">
                <a:solidFill>
                  <a:srgbClr val="383A42"/>
                </a:solidFill>
                <a:latin typeface="Courier New" pitchFamily="34" charset="0"/>
                <a:ea typeface="Courier New" pitchFamily="34" charset="-122"/>
                <a:cs typeface="Courier New" pitchFamily="34" charset="-120"/>
              </a:rPr>
              <a:t>;   </a:t>
            </a:r>
            <a:r>
              <a:rPr lang="en-US" sz="850" i="1" dirty="0">
                <a:solidFill>
                  <a:srgbClr val="717171"/>
                </a:solidFill>
                <a:latin typeface="Courier New" pitchFamily="34" charset="0"/>
                <a:ea typeface="Courier New" pitchFamily="34" charset="-122"/>
                <a:cs typeface="Courier New" pitchFamily="34" charset="-120"/>
              </a:rPr>
              <a:t>// sin token: sigue</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String</a:t>
            </a:r>
            <a:r>
              <a:rPr lang="en-US" sz="850" dirty="0">
                <a:solidFill>
                  <a:srgbClr val="383A42"/>
                </a:solidFill>
                <a:latin typeface="Courier New" pitchFamily="34" charset="0"/>
                <a:ea typeface="Courier New" pitchFamily="34" charset="-122"/>
                <a:cs typeface="Courier New" pitchFamily="34" charset="-120"/>
              </a:rPr>
              <a:t> token = cabecera.substring(</a:t>
            </a:r>
            <a:r>
              <a:rPr lang="en-US" sz="850" dirty="0">
                <a:solidFill>
                  <a:srgbClr val="C87B00"/>
                </a:solidFill>
                <a:latin typeface="Courier New" pitchFamily="34" charset="0"/>
                <a:ea typeface="Courier New" pitchFamily="34" charset="-122"/>
                <a:cs typeface="Courier New" pitchFamily="34" charset="-120"/>
              </a:rPr>
              <a:t>7</a:t>
            </a:r>
            <a:r>
              <a:rPr lang="en-US" sz="850" dirty="0">
                <a:solidFill>
                  <a:srgbClr val="383A42"/>
                </a:solidFill>
                <a:latin typeface="Courier New" pitchFamily="34" charset="0"/>
                <a:ea typeface="Courier New" pitchFamily="34" charset="-122"/>
                <a:cs typeface="Courier New" pitchFamily="34" charset="-120"/>
              </a:rPr>
              <a:t>);</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String</a:t>
            </a:r>
            <a:r>
              <a:rPr lang="en-US" sz="850" dirty="0">
                <a:solidFill>
                  <a:srgbClr val="383A42"/>
                </a:solidFill>
                <a:latin typeface="Courier New" pitchFamily="34" charset="0"/>
                <a:ea typeface="Courier New" pitchFamily="34" charset="-122"/>
                <a:cs typeface="Courier New" pitchFamily="34" charset="-120"/>
              </a:rPr>
              <a:t> username = jwtService.extraerUsername(token);</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if</a:t>
            </a:r>
            <a:r>
              <a:rPr lang="en-US" sz="850" dirty="0">
                <a:solidFill>
                  <a:srgbClr val="383A42"/>
                </a:solidFill>
                <a:latin typeface="Courier New" pitchFamily="34" charset="0"/>
                <a:ea typeface="Courier New" pitchFamily="34" charset="-122"/>
                <a:cs typeface="Courier New" pitchFamily="34" charset="-120"/>
              </a:rPr>
              <a:t> (username != </a:t>
            </a:r>
            <a:r>
              <a:rPr lang="en-US" sz="850" b="1" dirty="0">
                <a:solidFill>
                  <a:srgbClr val="0057AE"/>
                </a:solidFill>
                <a:latin typeface="Courier New" pitchFamily="34" charset="0"/>
                <a:ea typeface="Courier New" pitchFamily="34" charset="-122"/>
                <a:cs typeface="Courier New" pitchFamily="34" charset="-120"/>
              </a:rPr>
              <a:t>null</a:t>
            </a:r>
            <a:r>
              <a:rPr lang="en-US" sz="850" dirty="0">
                <a:solidFill>
                  <a:srgbClr val="383A42"/>
                </a:solidFill>
                <a:latin typeface="Courier New" pitchFamily="34" charset="0"/>
                <a:ea typeface="Courier New" pitchFamily="34" charset="-122"/>
                <a:cs typeface="Courier New" pitchFamily="34" charset="-120"/>
              </a:rPr>
              <a:t> &amp;&amp; noAutenticadoAun()) {</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UserDetails</a:t>
            </a:r>
            <a:r>
              <a:rPr lang="en-US" sz="850" dirty="0">
                <a:solidFill>
                  <a:srgbClr val="383A42"/>
                </a:solidFill>
                <a:latin typeface="Courier New" pitchFamily="34" charset="0"/>
                <a:ea typeface="Courier New" pitchFamily="34" charset="-122"/>
                <a:cs typeface="Courier New" pitchFamily="34" charset="-120"/>
              </a:rPr>
              <a:t> u = userDetailsService.loadUserByUsername(username);</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if</a:t>
            </a:r>
            <a:r>
              <a:rPr lang="en-US" sz="850" dirty="0">
                <a:solidFill>
                  <a:srgbClr val="383A42"/>
                </a:solidFill>
                <a:latin typeface="Courier New" pitchFamily="34" charset="0"/>
                <a:ea typeface="Courier New" pitchFamily="34" charset="-122"/>
                <a:cs typeface="Courier New" pitchFamily="34" charset="-120"/>
              </a:rPr>
              <a:t> (jwtService.esValido(token, u))</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SecurityContextHolder</a:t>
            </a:r>
            <a:r>
              <a:rPr lang="en-US" sz="850" dirty="0">
                <a:solidFill>
                  <a:srgbClr val="383A42"/>
                </a:solidFill>
                <a:latin typeface="Courier New" pitchFamily="34" charset="0"/>
                <a:ea typeface="Courier New" pitchFamily="34" charset="-122"/>
                <a:cs typeface="Courier New" pitchFamily="34" charset="-120"/>
              </a:rPr>
              <a:t>.getContext().setAuthentication(auth(u));</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chain.doFilter(req, res);</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DONDE ENCAJA</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La cadena de filtros de Spring Security</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457200" y="1828800"/>
            <a:ext cx="1691640" cy="1371600"/>
          </a:xfrm>
          <a:prstGeom prst="roundRect">
            <a:avLst>
              <a:gd name="adj" fmla="val 5333"/>
            </a:avLst>
          </a:prstGeom>
          <a:solidFill>
            <a:srgbClr val="EDEFEA"/>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530352" y="1956816"/>
            <a:ext cx="1545336" cy="502920"/>
          </a:xfrm>
          <a:prstGeom prst="rect">
            <a:avLst/>
          </a:prstGeom>
          <a:noFill/>
          <a:ln/>
        </p:spPr>
        <p:txBody>
          <a:bodyPr wrap="square" lIns="0" tIns="0" rIns="0" bIns="0" rtlCol="0" anchor="ctr"/>
          <a:lstStyle/>
          <a:p>
            <a:pPr marL="0" indent="0" algn="ctr">
              <a:buNone/>
            </a:pPr>
            <a:r>
              <a:rPr lang="en-US" sz="1200" b="1" dirty="0">
                <a:solidFill>
                  <a:srgbClr val="006633"/>
                </a:solidFill>
                <a:latin typeface="Calibri" pitchFamily="34" charset="0"/>
                <a:ea typeface="Calibri" pitchFamily="34" charset="-122"/>
                <a:cs typeface="Calibri" pitchFamily="34" charset="-120"/>
              </a:rPr>
              <a:t>Peticion HTTP</a:t>
            </a:r>
            <a:endParaRPr lang="en-US" sz="1200" dirty="0"/>
          </a:p>
        </p:txBody>
      </p:sp>
      <p:sp>
        <p:nvSpPr>
          <p:cNvPr id="8" name="Text 6"/>
          <p:cNvSpPr/>
          <p:nvPr/>
        </p:nvSpPr>
        <p:spPr>
          <a:xfrm>
            <a:off x="530352" y="2487168"/>
            <a:ext cx="1545336" cy="640080"/>
          </a:xfrm>
          <a:prstGeom prst="rect">
            <a:avLst/>
          </a:prstGeom>
          <a:noFill/>
          <a:ln/>
        </p:spPr>
        <p:txBody>
          <a:bodyPr wrap="square" lIns="0" tIns="0" rIns="0" bIns="0" rtlCol="0" anchor="t"/>
          <a:lstStyle/>
          <a:p>
            <a:pPr marL="0" indent="0" algn="ctr">
              <a:lnSpc>
                <a:spcPct val="100000"/>
              </a:lnSpc>
              <a:buNone/>
            </a:pPr>
            <a:r>
              <a:rPr lang="en-US" sz="950" dirty="0">
                <a:solidFill>
                  <a:srgbClr val="5C6B62"/>
                </a:solidFill>
                <a:latin typeface="Calibri" pitchFamily="34" charset="0"/>
                <a:ea typeface="Calibri" pitchFamily="34" charset="-122"/>
                <a:cs typeface="Calibri" pitchFamily="34" charset="-120"/>
              </a:rPr>
              <a:t>Authorization: Bearer</a:t>
            </a:r>
            <a:endParaRPr lang="en-US" sz="950" dirty="0"/>
          </a:p>
        </p:txBody>
      </p:sp>
      <p:sp>
        <p:nvSpPr>
          <p:cNvPr id="9" name="Shape 7"/>
          <p:cNvSpPr/>
          <p:nvPr/>
        </p:nvSpPr>
        <p:spPr>
          <a:xfrm>
            <a:off x="2167128" y="2514600"/>
            <a:ext cx="146304" cy="0"/>
          </a:xfrm>
          <a:prstGeom prst="line">
            <a:avLst/>
          </a:prstGeom>
          <a:noFill/>
          <a:ln w="25400">
            <a:solidFill>
              <a:srgbClr val="006633"/>
            </a:solidFill>
            <a:prstDash val="solid"/>
            <a:tailEnd type="triangle"/>
          </a:ln>
        </p:spPr>
        <p:txBody>
          <a:bodyPr/>
          <a:lstStyle/>
          <a:p>
            <a:endParaRPr lang="es-ES"/>
          </a:p>
        </p:txBody>
      </p:sp>
      <p:sp>
        <p:nvSpPr>
          <p:cNvPr id="10" name="Shape 8"/>
          <p:cNvSpPr/>
          <p:nvPr/>
        </p:nvSpPr>
        <p:spPr>
          <a:xfrm>
            <a:off x="2331720" y="1828800"/>
            <a:ext cx="1691640" cy="1371600"/>
          </a:xfrm>
          <a:prstGeom prst="roundRect">
            <a:avLst>
              <a:gd name="adj" fmla="val 5333"/>
            </a:avLst>
          </a:prstGeom>
          <a:solidFill>
            <a:srgbClr val="DCEAD6"/>
          </a:solidFill>
          <a:ln/>
          <a:effectLst>
            <a:outerShdw blurRad="88900" dist="38100" dir="5400000" algn="bl" rotWithShape="0">
              <a:srgbClr val="000000">
                <a:alpha val="16000"/>
              </a:srgbClr>
            </a:outerShdw>
          </a:effectLst>
        </p:spPr>
        <p:txBody>
          <a:bodyPr/>
          <a:lstStyle/>
          <a:p>
            <a:endParaRPr lang="es-ES"/>
          </a:p>
        </p:txBody>
      </p:sp>
      <p:sp>
        <p:nvSpPr>
          <p:cNvPr id="11" name="Text 9"/>
          <p:cNvSpPr/>
          <p:nvPr/>
        </p:nvSpPr>
        <p:spPr>
          <a:xfrm>
            <a:off x="2404872" y="1956816"/>
            <a:ext cx="1545336" cy="502920"/>
          </a:xfrm>
          <a:prstGeom prst="rect">
            <a:avLst/>
          </a:prstGeom>
          <a:noFill/>
          <a:ln/>
        </p:spPr>
        <p:txBody>
          <a:bodyPr wrap="square" lIns="0" tIns="0" rIns="0" bIns="0" rtlCol="0" anchor="ctr"/>
          <a:lstStyle/>
          <a:p>
            <a:pPr marL="0" indent="0" algn="ctr">
              <a:buNone/>
            </a:pPr>
            <a:r>
              <a:rPr lang="en-US" sz="1200" b="1" dirty="0">
                <a:solidFill>
                  <a:srgbClr val="006633"/>
                </a:solidFill>
                <a:latin typeface="Calibri" pitchFamily="34" charset="0"/>
                <a:ea typeface="Calibri" pitchFamily="34" charset="-122"/>
                <a:cs typeface="Calibri" pitchFamily="34" charset="-120"/>
              </a:rPr>
              <a:t>JwtAuthFilter</a:t>
            </a:r>
            <a:endParaRPr lang="en-US" sz="1200" dirty="0"/>
          </a:p>
        </p:txBody>
      </p:sp>
      <p:sp>
        <p:nvSpPr>
          <p:cNvPr id="12" name="Text 10"/>
          <p:cNvSpPr/>
          <p:nvPr/>
        </p:nvSpPr>
        <p:spPr>
          <a:xfrm>
            <a:off x="2404872" y="2487168"/>
            <a:ext cx="1545336" cy="640080"/>
          </a:xfrm>
          <a:prstGeom prst="rect">
            <a:avLst/>
          </a:prstGeom>
          <a:noFill/>
          <a:ln/>
        </p:spPr>
        <p:txBody>
          <a:bodyPr wrap="square" lIns="0" tIns="0" rIns="0" bIns="0" rtlCol="0" anchor="t"/>
          <a:lstStyle/>
          <a:p>
            <a:pPr marL="0" indent="0" algn="ctr">
              <a:lnSpc>
                <a:spcPct val="100000"/>
              </a:lnSpc>
              <a:buNone/>
            </a:pPr>
            <a:r>
              <a:rPr lang="en-US" sz="950" dirty="0">
                <a:solidFill>
                  <a:srgbClr val="5C6B62"/>
                </a:solidFill>
                <a:latin typeface="Calibri" pitchFamily="34" charset="0"/>
                <a:ea typeface="Calibri" pitchFamily="34" charset="-122"/>
                <a:cs typeface="Calibri" pitchFamily="34" charset="-120"/>
              </a:rPr>
              <a:t>valida token y</a:t>
            </a:r>
            <a:endParaRPr lang="en-US" sz="950" dirty="0"/>
          </a:p>
          <a:p>
            <a:pPr marL="0" indent="0" algn="ctr">
              <a:lnSpc>
                <a:spcPct val="100000"/>
              </a:lnSpc>
              <a:buNone/>
            </a:pPr>
            <a:r>
              <a:rPr lang="en-US" sz="950" dirty="0">
                <a:solidFill>
                  <a:srgbClr val="5C6B62"/>
                </a:solidFill>
                <a:latin typeface="Calibri" pitchFamily="34" charset="0"/>
                <a:ea typeface="Calibri" pitchFamily="34" charset="-122"/>
                <a:cs typeface="Calibri" pitchFamily="34" charset="-120"/>
              </a:rPr>
              <a:t>puebla el contexto</a:t>
            </a:r>
            <a:endParaRPr lang="en-US" sz="950" dirty="0"/>
          </a:p>
        </p:txBody>
      </p:sp>
      <p:sp>
        <p:nvSpPr>
          <p:cNvPr id="13" name="Shape 11"/>
          <p:cNvSpPr/>
          <p:nvPr/>
        </p:nvSpPr>
        <p:spPr>
          <a:xfrm>
            <a:off x="4041648" y="2514600"/>
            <a:ext cx="146304" cy="0"/>
          </a:xfrm>
          <a:prstGeom prst="line">
            <a:avLst/>
          </a:prstGeom>
          <a:noFill/>
          <a:ln w="25400">
            <a:solidFill>
              <a:srgbClr val="006633"/>
            </a:solidFill>
            <a:prstDash val="solid"/>
            <a:tailEnd type="triangle"/>
          </a:ln>
        </p:spPr>
        <p:txBody>
          <a:bodyPr/>
          <a:lstStyle/>
          <a:p>
            <a:endParaRPr lang="es-ES"/>
          </a:p>
        </p:txBody>
      </p:sp>
      <p:sp>
        <p:nvSpPr>
          <p:cNvPr id="14" name="Shape 12"/>
          <p:cNvSpPr/>
          <p:nvPr/>
        </p:nvSpPr>
        <p:spPr>
          <a:xfrm>
            <a:off x="4206240" y="1828800"/>
            <a:ext cx="1691640" cy="1371600"/>
          </a:xfrm>
          <a:prstGeom prst="roundRect">
            <a:avLst>
              <a:gd name="adj" fmla="val 5333"/>
            </a:avLst>
          </a:prstGeom>
          <a:solidFill>
            <a:srgbClr val="EDEFEA"/>
          </a:solidFill>
          <a:ln/>
          <a:effectLst>
            <a:outerShdw blurRad="88900" dist="38100" dir="5400000" algn="bl" rotWithShape="0">
              <a:srgbClr val="000000">
                <a:alpha val="16000"/>
              </a:srgbClr>
            </a:outerShdw>
          </a:effectLst>
        </p:spPr>
        <p:txBody>
          <a:bodyPr/>
          <a:lstStyle/>
          <a:p>
            <a:endParaRPr lang="es-ES"/>
          </a:p>
        </p:txBody>
      </p:sp>
      <p:sp>
        <p:nvSpPr>
          <p:cNvPr id="15" name="Text 13"/>
          <p:cNvSpPr/>
          <p:nvPr/>
        </p:nvSpPr>
        <p:spPr>
          <a:xfrm>
            <a:off x="4279392" y="1956816"/>
            <a:ext cx="1545336" cy="502920"/>
          </a:xfrm>
          <a:prstGeom prst="rect">
            <a:avLst/>
          </a:prstGeom>
          <a:noFill/>
          <a:ln/>
        </p:spPr>
        <p:txBody>
          <a:bodyPr wrap="square" lIns="0" tIns="0" rIns="0" bIns="0" rtlCol="0" anchor="ctr"/>
          <a:lstStyle/>
          <a:p>
            <a:pPr marL="0" indent="0" algn="ctr">
              <a:buNone/>
            </a:pPr>
            <a:r>
              <a:rPr lang="en-US" sz="1200" b="1" dirty="0">
                <a:solidFill>
                  <a:srgbClr val="006633"/>
                </a:solidFill>
                <a:latin typeface="Calibri" pitchFamily="34" charset="0"/>
                <a:ea typeface="Calibri" pitchFamily="34" charset="-122"/>
                <a:cs typeface="Calibri" pitchFamily="34" charset="-120"/>
              </a:rPr>
              <a:t>Filtros de</a:t>
            </a:r>
            <a:endParaRPr lang="en-US" sz="1200" dirty="0"/>
          </a:p>
          <a:p>
            <a:pPr marL="0" indent="0" algn="ctr">
              <a:buNone/>
            </a:pPr>
            <a:r>
              <a:rPr lang="en-US" sz="1200" b="1" dirty="0">
                <a:solidFill>
                  <a:srgbClr val="006633"/>
                </a:solidFill>
                <a:latin typeface="Calibri" pitchFamily="34" charset="0"/>
                <a:ea typeface="Calibri" pitchFamily="34" charset="-122"/>
                <a:cs typeface="Calibri" pitchFamily="34" charset="-120"/>
              </a:rPr>
              <a:t>Spring Security</a:t>
            </a:r>
            <a:endParaRPr lang="en-US" sz="1200" dirty="0"/>
          </a:p>
        </p:txBody>
      </p:sp>
      <p:sp>
        <p:nvSpPr>
          <p:cNvPr id="16" name="Text 14"/>
          <p:cNvSpPr/>
          <p:nvPr/>
        </p:nvSpPr>
        <p:spPr>
          <a:xfrm>
            <a:off x="4279392" y="2487168"/>
            <a:ext cx="1545336" cy="640080"/>
          </a:xfrm>
          <a:prstGeom prst="rect">
            <a:avLst/>
          </a:prstGeom>
          <a:noFill/>
          <a:ln/>
        </p:spPr>
        <p:txBody>
          <a:bodyPr wrap="square" lIns="0" tIns="0" rIns="0" bIns="0" rtlCol="0" anchor="t"/>
          <a:lstStyle/>
          <a:p>
            <a:pPr marL="0" indent="0" algn="ctr">
              <a:lnSpc>
                <a:spcPct val="100000"/>
              </a:lnSpc>
              <a:buNone/>
            </a:pPr>
            <a:r>
              <a:rPr lang="en-US" sz="950" dirty="0">
                <a:solidFill>
                  <a:srgbClr val="5C6B62"/>
                </a:solidFill>
                <a:latin typeface="Calibri" pitchFamily="34" charset="0"/>
                <a:ea typeface="Calibri" pitchFamily="34" charset="-122"/>
                <a:cs typeface="Calibri" pitchFamily="34" charset="-120"/>
              </a:rPr>
              <a:t>autorizacion por</a:t>
            </a:r>
            <a:endParaRPr lang="en-US" sz="950" dirty="0"/>
          </a:p>
          <a:p>
            <a:pPr marL="0" indent="0" algn="ctr">
              <a:lnSpc>
                <a:spcPct val="100000"/>
              </a:lnSpc>
              <a:buNone/>
            </a:pPr>
            <a:r>
              <a:rPr lang="en-US" sz="950" dirty="0">
                <a:solidFill>
                  <a:srgbClr val="5C6B62"/>
                </a:solidFill>
                <a:latin typeface="Calibri" pitchFamily="34" charset="0"/>
                <a:ea typeface="Calibri" pitchFamily="34" charset="-122"/>
                <a:cs typeface="Calibri" pitchFamily="34" charset="-120"/>
              </a:rPr>
              <a:t>ruta y por rol</a:t>
            </a:r>
            <a:endParaRPr lang="en-US" sz="950" dirty="0"/>
          </a:p>
        </p:txBody>
      </p:sp>
      <p:sp>
        <p:nvSpPr>
          <p:cNvPr id="17" name="Shape 15"/>
          <p:cNvSpPr/>
          <p:nvPr/>
        </p:nvSpPr>
        <p:spPr>
          <a:xfrm>
            <a:off x="5916168" y="2514600"/>
            <a:ext cx="146304" cy="0"/>
          </a:xfrm>
          <a:prstGeom prst="line">
            <a:avLst/>
          </a:prstGeom>
          <a:noFill/>
          <a:ln w="25400">
            <a:solidFill>
              <a:srgbClr val="006633"/>
            </a:solidFill>
            <a:prstDash val="solid"/>
            <a:tailEnd type="triangle"/>
          </a:ln>
        </p:spPr>
        <p:txBody>
          <a:bodyPr/>
          <a:lstStyle/>
          <a:p>
            <a:endParaRPr lang="es-ES"/>
          </a:p>
        </p:txBody>
      </p:sp>
      <p:sp>
        <p:nvSpPr>
          <p:cNvPr id="18" name="Shape 16"/>
          <p:cNvSpPr/>
          <p:nvPr/>
        </p:nvSpPr>
        <p:spPr>
          <a:xfrm>
            <a:off x="6080760" y="1828800"/>
            <a:ext cx="1691640" cy="1371600"/>
          </a:xfrm>
          <a:prstGeom prst="roundRect">
            <a:avLst>
              <a:gd name="adj" fmla="val 5333"/>
            </a:avLst>
          </a:prstGeom>
          <a:solidFill>
            <a:srgbClr val="DCEAD6"/>
          </a:solidFill>
          <a:ln/>
          <a:effectLst>
            <a:outerShdw blurRad="88900" dist="38100" dir="5400000" algn="bl" rotWithShape="0">
              <a:srgbClr val="000000">
                <a:alpha val="16000"/>
              </a:srgbClr>
            </a:outerShdw>
          </a:effectLst>
        </p:spPr>
        <p:txBody>
          <a:bodyPr/>
          <a:lstStyle/>
          <a:p>
            <a:endParaRPr lang="es-ES"/>
          </a:p>
        </p:txBody>
      </p:sp>
      <p:sp>
        <p:nvSpPr>
          <p:cNvPr id="19" name="Text 17"/>
          <p:cNvSpPr/>
          <p:nvPr/>
        </p:nvSpPr>
        <p:spPr>
          <a:xfrm>
            <a:off x="6153912" y="1956816"/>
            <a:ext cx="1545336" cy="502920"/>
          </a:xfrm>
          <a:prstGeom prst="rect">
            <a:avLst/>
          </a:prstGeom>
          <a:noFill/>
          <a:ln/>
        </p:spPr>
        <p:txBody>
          <a:bodyPr wrap="square" lIns="0" tIns="0" rIns="0" bIns="0" rtlCol="0" anchor="ctr"/>
          <a:lstStyle/>
          <a:p>
            <a:pPr marL="0" indent="0" algn="ctr">
              <a:buNone/>
            </a:pPr>
            <a:r>
              <a:rPr lang="en-US" sz="1200" b="1" dirty="0">
                <a:solidFill>
                  <a:srgbClr val="006633"/>
                </a:solidFill>
                <a:latin typeface="Calibri" pitchFamily="34" charset="0"/>
                <a:ea typeface="Calibri" pitchFamily="34" charset="-122"/>
                <a:cs typeface="Calibri" pitchFamily="34" charset="-120"/>
              </a:rPr>
              <a:t>Controlador</a:t>
            </a:r>
            <a:endParaRPr lang="en-US" sz="1200" dirty="0"/>
          </a:p>
        </p:txBody>
      </p:sp>
      <p:sp>
        <p:nvSpPr>
          <p:cNvPr id="20" name="Text 18"/>
          <p:cNvSpPr/>
          <p:nvPr/>
        </p:nvSpPr>
        <p:spPr>
          <a:xfrm>
            <a:off x="6153912" y="2487168"/>
            <a:ext cx="1545336" cy="640080"/>
          </a:xfrm>
          <a:prstGeom prst="rect">
            <a:avLst/>
          </a:prstGeom>
          <a:noFill/>
          <a:ln/>
        </p:spPr>
        <p:txBody>
          <a:bodyPr wrap="square" lIns="0" tIns="0" rIns="0" bIns="0" rtlCol="0" anchor="t"/>
          <a:lstStyle/>
          <a:p>
            <a:pPr marL="0" indent="0" algn="ctr">
              <a:lnSpc>
                <a:spcPct val="100000"/>
              </a:lnSpc>
              <a:buNone/>
            </a:pPr>
            <a:r>
              <a:rPr lang="en-US" sz="950" dirty="0">
                <a:solidFill>
                  <a:srgbClr val="5C6B62"/>
                </a:solidFill>
                <a:latin typeface="Calibri" pitchFamily="34" charset="0"/>
                <a:ea typeface="Calibri" pitchFamily="34" charset="-122"/>
                <a:cs typeface="Calibri" pitchFamily="34" charset="-120"/>
              </a:rPr>
              <a:t>@RestController</a:t>
            </a:r>
            <a:endParaRPr lang="en-US" sz="950" dirty="0"/>
          </a:p>
          <a:p>
            <a:pPr marL="0" indent="0" algn="ctr">
              <a:lnSpc>
                <a:spcPct val="100000"/>
              </a:lnSpc>
              <a:buNone/>
            </a:pPr>
            <a:r>
              <a:rPr lang="en-US" sz="950" dirty="0">
                <a:solidFill>
                  <a:srgbClr val="5C6B62"/>
                </a:solidFill>
                <a:latin typeface="Calibri" pitchFamily="34" charset="0"/>
                <a:ea typeface="Calibri" pitchFamily="34" charset="-122"/>
                <a:cs typeface="Calibri" pitchFamily="34" charset="-120"/>
              </a:rPr>
              <a:t>(tu logica)</a:t>
            </a:r>
            <a:endParaRPr lang="en-US" sz="950" dirty="0"/>
          </a:p>
        </p:txBody>
      </p:sp>
      <p:sp>
        <p:nvSpPr>
          <p:cNvPr id="21" name="Shape 19"/>
          <p:cNvSpPr/>
          <p:nvPr/>
        </p:nvSpPr>
        <p:spPr>
          <a:xfrm>
            <a:off x="2331720" y="3520440"/>
            <a:ext cx="3611880" cy="868680"/>
          </a:xfrm>
          <a:prstGeom prst="roundRect">
            <a:avLst>
              <a:gd name="adj" fmla="val 5263"/>
            </a:avLst>
          </a:prstGeom>
          <a:solidFill>
            <a:srgbClr val="FBEFE0"/>
          </a:solidFill>
          <a:ln w="12700">
            <a:solidFill>
              <a:srgbClr val="CC9900"/>
            </a:solidFill>
            <a:prstDash val="solid"/>
          </a:ln>
        </p:spPr>
        <p:txBody>
          <a:bodyPr/>
          <a:lstStyle/>
          <a:p>
            <a:endParaRPr lang="es-ES"/>
          </a:p>
        </p:txBody>
      </p:sp>
      <p:sp>
        <p:nvSpPr>
          <p:cNvPr id="22" name="Text 20"/>
          <p:cNvSpPr/>
          <p:nvPr/>
        </p:nvSpPr>
        <p:spPr>
          <a:xfrm>
            <a:off x="2468880" y="3593592"/>
            <a:ext cx="3337560" cy="731520"/>
          </a:xfrm>
          <a:prstGeom prst="rect">
            <a:avLst/>
          </a:prstGeom>
          <a:noFill/>
          <a:ln/>
        </p:spPr>
        <p:txBody>
          <a:bodyPr wrap="square" lIns="0" tIns="0" rIns="0" bIns="0" rtlCol="0" anchor="t"/>
          <a:lstStyle/>
          <a:p>
            <a:pPr marL="0" indent="0">
              <a:lnSpc>
                <a:spcPct val="100000"/>
              </a:lnSpc>
              <a:buNone/>
            </a:pPr>
            <a:r>
              <a:rPr lang="en-US" sz="900" b="1" dirty="0">
                <a:solidFill>
                  <a:srgbClr val="9A5B00"/>
                </a:solidFill>
                <a:latin typeface="Courier New" pitchFamily="34" charset="0"/>
                <a:ea typeface="Courier New" pitchFamily="34" charset="-122"/>
                <a:cs typeface="Courier New" pitchFamily="34" charset="-120"/>
              </a:rPr>
              <a:t>addFilterBefore(jwtAuthFilter, UsernamePasswordAuthenticationFilter.class)
</a:t>
            </a:r>
            <a:endParaRPr lang="en-US" sz="900" dirty="0"/>
          </a:p>
          <a:p>
            <a:pPr marL="0" indent="0">
              <a:lnSpc>
                <a:spcPct val="100000"/>
              </a:lnSpc>
              <a:buNone/>
            </a:pPr>
            <a:r>
              <a:rPr lang="en-US" sz="950" dirty="0">
                <a:solidFill>
                  <a:srgbClr val="5C6B62"/>
                </a:solidFill>
                <a:latin typeface="Calibri" pitchFamily="34" charset="0"/>
                <a:ea typeface="Calibri" pitchFamily="34" charset="-122"/>
                <a:cs typeface="Calibri" pitchFamily="34" charset="-120"/>
              </a:rPr>
              <a:t>Registramos el filtro ANTES del de usuario/clave para que el token se procese a tiempo.</a:t>
            </a:r>
            <a:endParaRPr lang="en-US" sz="900" dirty="0"/>
          </a:p>
        </p:txBody>
      </p:sp>
      <p:sp>
        <p:nvSpPr>
          <p:cNvPr id="23" name="Text 21"/>
          <p:cNvSpPr/>
          <p:nvPr/>
        </p:nvSpPr>
        <p:spPr>
          <a:xfrm>
            <a:off x="6080760" y="3611880"/>
            <a:ext cx="2606040" cy="731520"/>
          </a:xfrm>
          <a:prstGeom prst="rect">
            <a:avLst/>
          </a:prstGeom>
          <a:noFill/>
          <a:ln/>
        </p:spPr>
        <p:txBody>
          <a:bodyPr wrap="square" lIns="0" tIns="0" rIns="0" bIns="0" rtlCol="0" anchor="t"/>
          <a:lstStyle/>
          <a:p>
            <a:pPr marL="0" indent="0">
              <a:lnSpc>
                <a:spcPct val="102000"/>
              </a:lnSpc>
              <a:buNone/>
            </a:pPr>
            <a:r>
              <a:rPr lang="en-US" sz="1000" i="1" dirty="0">
                <a:solidFill>
                  <a:srgbClr val="5C6B62"/>
                </a:solidFill>
                <a:latin typeface="Calibri" pitchFamily="34" charset="0"/>
                <a:ea typeface="Calibri" pitchFamily="34" charset="-122"/>
                <a:cs typeface="Calibri" pitchFamily="34" charset="-120"/>
              </a:rPr>
              <a:t>SecurityContext: una vez poblado, el controlador conoce al usuario y sus roles.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7 — CONFIGURACION</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SecurityConfig: la politica de acceso</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8092440" y="411480"/>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8092440" y="411480"/>
            <a:ext cx="566928" cy="566928"/>
          </a:xfrm>
          <a:prstGeom prst="rect">
            <a:avLst/>
          </a:prstGeom>
          <a:noFill/>
          <a:ln/>
        </p:spPr>
        <p:txBody>
          <a:bodyPr wrap="square" lIns="0" tIns="0" rIns="0" bIns="0" rtlCol="0" anchor="ctr"/>
          <a:lstStyle/>
          <a:p>
            <a:pPr marL="0" indent="0" algn="ctr">
              <a:buNone/>
            </a:pPr>
            <a:r>
              <a:rPr lang="en-US" sz="2600" b="1" dirty="0">
                <a:solidFill>
                  <a:srgbClr val="E8B923"/>
                </a:solidFill>
                <a:latin typeface="Cambria" pitchFamily="34" charset="0"/>
                <a:ea typeface="Cambria" pitchFamily="34" charset="-122"/>
                <a:cs typeface="Cambria" pitchFamily="34" charset="-120"/>
              </a:rPr>
              <a:t>7</a:t>
            </a:r>
            <a:endParaRPr lang="en-US" sz="2600" dirty="0"/>
          </a:p>
        </p:txBody>
      </p:sp>
      <p:sp>
        <p:nvSpPr>
          <p:cNvPr id="8" name="Shape 6"/>
          <p:cNvSpPr/>
          <p:nvPr/>
        </p:nvSpPr>
        <p:spPr>
          <a:xfrm>
            <a:off x="457200" y="1325880"/>
            <a:ext cx="8229600" cy="3200400"/>
          </a:xfrm>
          <a:prstGeom prst="roundRect">
            <a:avLst>
              <a:gd name="adj" fmla="val 1714"/>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21792" y="1399032"/>
            <a:ext cx="795528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security/SecurityConfig.java</a:t>
            </a:r>
            <a:endParaRPr lang="en-US" sz="950" dirty="0"/>
          </a:p>
        </p:txBody>
      </p:sp>
      <p:sp>
        <p:nvSpPr>
          <p:cNvPr id="10" name="Text 8"/>
          <p:cNvSpPr/>
          <p:nvPr/>
        </p:nvSpPr>
        <p:spPr>
          <a:xfrm>
            <a:off x="621792" y="1655064"/>
            <a:ext cx="7918704" cy="2779776"/>
          </a:xfrm>
          <a:prstGeom prst="rect">
            <a:avLst/>
          </a:prstGeom>
          <a:noFill/>
          <a:ln/>
        </p:spPr>
        <p:txBody>
          <a:bodyPr wrap="square" lIns="0" tIns="0" rIns="0" bIns="0" rtlCol="0" anchor="t"/>
          <a:lstStyle/>
          <a:p>
            <a:pPr marL="0" indent="0">
              <a:lnSpc>
                <a:spcPct val="102000"/>
              </a:lnSpc>
              <a:buNone/>
            </a:pPr>
            <a:r>
              <a:rPr lang="en-US" sz="840" b="1" dirty="0">
                <a:solidFill>
                  <a:srgbClr val="7B2FBE"/>
                </a:solidFill>
                <a:latin typeface="Courier New" pitchFamily="34" charset="0"/>
                <a:ea typeface="Courier New" pitchFamily="34" charset="-122"/>
                <a:cs typeface="Courier New" pitchFamily="34" charset="-120"/>
              </a:rPr>
              <a:t>@Configuration</a:t>
            </a:r>
            <a:r>
              <a:rPr lang="en-US" sz="840" dirty="0">
                <a:solidFill>
                  <a:srgbClr val="383A42"/>
                </a:solidFill>
                <a:latin typeface="Courier New" pitchFamily="34" charset="0"/>
                <a:ea typeface="Courier New" pitchFamily="34" charset="-122"/>
                <a:cs typeface="Courier New" pitchFamily="34" charset="-120"/>
              </a:rPr>
              <a:t> </a:t>
            </a:r>
            <a:r>
              <a:rPr lang="en-US" sz="840" b="1" dirty="0">
                <a:solidFill>
                  <a:srgbClr val="7B2FBE"/>
                </a:solidFill>
                <a:latin typeface="Courier New" pitchFamily="34" charset="0"/>
                <a:ea typeface="Courier New" pitchFamily="34" charset="-122"/>
                <a:cs typeface="Courier New" pitchFamily="34" charset="-120"/>
              </a:rPr>
              <a:t>@EnableWebSecurity</a:t>
            </a:r>
            <a:r>
              <a:rPr lang="en-US" sz="840" dirty="0">
                <a:solidFill>
                  <a:srgbClr val="383A42"/>
                </a:solidFill>
                <a:latin typeface="Courier New" pitchFamily="34" charset="0"/>
                <a:ea typeface="Courier New" pitchFamily="34" charset="-122"/>
                <a:cs typeface="Courier New" pitchFamily="34" charset="-120"/>
              </a:rPr>
              <a:t> </a:t>
            </a:r>
            <a:r>
              <a:rPr lang="en-US" sz="840" b="1" dirty="0">
                <a:solidFill>
                  <a:srgbClr val="7B2FBE"/>
                </a:solidFill>
                <a:latin typeface="Courier New" pitchFamily="34" charset="0"/>
                <a:ea typeface="Courier New" pitchFamily="34" charset="-122"/>
                <a:cs typeface="Courier New" pitchFamily="34" charset="-120"/>
              </a:rPr>
              <a:t>@EnableMethodSecurity</a:t>
            </a:r>
            <a:endParaRPr lang="en-US" sz="840" dirty="0"/>
          </a:p>
          <a:p>
            <a:pPr marL="0" indent="0">
              <a:lnSpc>
                <a:spcPct val="102000"/>
              </a:lnSpc>
              <a:buNone/>
            </a:pPr>
            <a:r>
              <a:rPr lang="en-US" sz="840" b="1" dirty="0">
                <a:solidFill>
                  <a:srgbClr val="7B2FBE"/>
                </a:solidFill>
                <a:latin typeface="Courier New" pitchFamily="34" charset="0"/>
                <a:ea typeface="Courier New" pitchFamily="34" charset="-122"/>
                <a:cs typeface="Courier New" pitchFamily="34" charset="-120"/>
              </a:rPr>
              <a:t>@RequiredArgsConstructor</a:t>
            </a:r>
            <a:endParaRPr lang="en-US" sz="840" dirty="0"/>
          </a:p>
          <a:p>
            <a:pPr marL="0" indent="0">
              <a:lnSpc>
                <a:spcPct val="102000"/>
              </a:lnSpc>
              <a:buNone/>
            </a:pPr>
            <a:r>
              <a:rPr lang="en-US" sz="840" b="1" dirty="0">
                <a:solidFill>
                  <a:srgbClr val="0057AE"/>
                </a:solidFill>
                <a:latin typeface="Courier New" pitchFamily="34" charset="0"/>
                <a:ea typeface="Courier New" pitchFamily="34" charset="-122"/>
                <a:cs typeface="Courier New" pitchFamily="34" charset="-120"/>
              </a:rPr>
              <a:t>public</a:t>
            </a:r>
            <a:r>
              <a:rPr lang="en-US" sz="840" dirty="0">
                <a:solidFill>
                  <a:srgbClr val="383A42"/>
                </a:solidFill>
                <a:latin typeface="Courier New" pitchFamily="34" charset="0"/>
                <a:ea typeface="Courier New" pitchFamily="34" charset="-122"/>
                <a:cs typeface="Courier New" pitchFamily="34" charset="-120"/>
              </a:rPr>
              <a:t> </a:t>
            </a:r>
            <a:r>
              <a:rPr lang="en-US" sz="840" b="1" dirty="0">
                <a:solidFill>
                  <a:srgbClr val="0057AE"/>
                </a:solidFill>
                <a:latin typeface="Courier New" pitchFamily="34" charset="0"/>
                <a:ea typeface="Courier New" pitchFamily="34" charset="-122"/>
                <a:cs typeface="Courier New" pitchFamily="34" charset="-120"/>
              </a:rPr>
              <a:t>class</a:t>
            </a:r>
            <a:r>
              <a:rPr lang="en-US" sz="840" dirty="0">
                <a:solidFill>
                  <a:srgbClr val="383A42"/>
                </a:solidFill>
                <a:latin typeface="Courier New" pitchFamily="34" charset="0"/>
                <a:ea typeface="Courier New" pitchFamily="34" charset="-122"/>
                <a:cs typeface="Courier New" pitchFamily="34" charset="-120"/>
              </a:rPr>
              <a:t> </a:t>
            </a:r>
            <a:r>
              <a:rPr lang="en-US" sz="840" dirty="0">
                <a:solidFill>
                  <a:srgbClr val="2D8000"/>
                </a:solidFill>
                <a:latin typeface="Courier New" pitchFamily="34" charset="0"/>
                <a:ea typeface="Courier New" pitchFamily="34" charset="-122"/>
                <a:cs typeface="Courier New" pitchFamily="34" charset="-120"/>
              </a:rPr>
              <a:t>SecurityConfig</a:t>
            </a:r>
            <a:r>
              <a:rPr lang="en-US" sz="840" dirty="0">
                <a:solidFill>
                  <a:srgbClr val="383A42"/>
                </a:solidFill>
                <a:latin typeface="Courier New" pitchFamily="34" charset="0"/>
                <a:ea typeface="Courier New" pitchFamily="34" charset="-122"/>
                <a:cs typeface="Courier New" pitchFamily="34" charset="-120"/>
              </a:rPr>
              <a:t> {</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a:t>
            </a:r>
            <a:r>
              <a:rPr lang="en-US" sz="840" b="1" dirty="0">
                <a:solidFill>
                  <a:srgbClr val="0057AE"/>
                </a:solidFill>
                <a:latin typeface="Courier New" pitchFamily="34" charset="0"/>
                <a:ea typeface="Courier New" pitchFamily="34" charset="-122"/>
                <a:cs typeface="Courier New" pitchFamily="34" charset="-120"/>
              </a:rPr>
              <a:t>private</a:t>
            </a:r>
            <a:r>
              <a:rPr lang="en-US" sz="840" dirty="0">
                <a:solidFill>
                  <a:srgbClr val="383A42"/>
                </a:solidFill>
                <a:latin typeface="Courier New" pitchFamily="34" charset="0"/>
                <a:ea typeface="Courier New" pitchFamily="34" charset="-122"/>
                <a:cs typeface="Courier New" pitchFamily="34" charset="-120"/>
              </a:rPr>
              <a:t> </a:t>
            </a:r>
            <a:r>
              <a:rPr lang="en-US" sz="840" b="1" dirty="0">
                <a:solidFill>
                  <a:srgbClr val="0057AE"/>
                </a:solidFill>
                <a:latin typeface="Courier New" pitchFamily="34" charset="0"/>
                <a:ea typeface="Courier New" pitchFamily="34" charset="-122"/>
                <a:cs typeface="Courier New" pitchFamily="34" charset="-120"/>
              </a:rPr>
              <a:t>final</a:t>
            </a:r>
            <a:r>
              <a:rPr lang="en-US" sz="840" dirty="0">
                <a:solidFill>
                  <a:srgbClr val="383A42"/>
                </a:solidFill>
                <a:latin typeface="Courier New" pitchFamily="34" charset="0"/>
                <a:ea typeface="Courier New" pitchFamily="34" charset="-122"/>
                <a:cs typeface="Courier New" pitchFamily="34" charset="-120"/>
              </a:rPr>
              <a:t> </a:t>
            </a:r>
            <a:r>
              <a:rPr lang="en-US" sz="840" dirty="0">
                <a:solidFill>
                  <a:srgbClr val="2D8000"/>
                </a:solidFill>
                <a:latin typeface="Courier New" pitchFamily="34" charset="0"/>
                <a:ea typeface="Courier New" pitchFamily="34" charset="-122"/>
                <a:cs typeface="Courier New" pitchFamily="34" charset="-120"/>
              </a:rPr>
              <a:t>JwtAuthFilter</a:t>
            </a:r>
            <a:r>
              <a:rPr lang="en-US" sz="840" dirty="0">
                <a:solidFill>
                  <a:srgbClr val="383A42"/>
                </a:solidFill>
                <a:latin typeface="Courier New" pitchFamily="34" charset="0"/>
                <a:ea typeface="Courier New" pitchFamily="34" charset="-122"/>
                <a:cs typeface="Courier New" pitchFamily="34" charset="-120"/>
              </a:rPr>
              <a:t> jwtAuthFilter;</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a:t>
            </a:r>
            <a:r>
              <a:rPr lang="en-US" sz="840" b="1" dirty="0">
                <a:solidFill>
                  <a:srgbClr val="7B2FBE"/>
                </a:solidFill>
                <a:latin typeface="Courier New" pitchFamily="34" charset="0"/>
                <a:ea typeface="Courier New" pitchFamily="34" charset="-122"/>
                <a:cs typeface="Courier New" pitchFamily="34" charset="-120"/>
              </a:rPr>
              <a:t>@Bean</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a:t>
            </a:r>
            <a:r>
              <a:rPr lang="en-US" sz="840" b="1" dirty="0">
                <a:solidFill>
                  <a:srgbClr val="0057AE"/>
                </a:solidFill>
                <a:latin typeface="Courier New" pitchFamily="34" charset="0"/>
                <a:ea typeface="Courier New" pitchFamily="34" charset="-122"/>
                <a:cs typeface="Courier New" pitchFamily="34" charset="-120"/>
              </a:rPr>
              <a:t>public</a:t>
            </a:r>
            <a:r>
              <a:rPr lang="en-US" sz="840" dirty="0">
                <a:solidFill>
                  <a:srgbClr val="383A42"/>
                </a:solidFill>
                <a:latin typeface="Courier New" pitchFamily="34" charset="0"/>
                <a:ea typeface="Courier New" pitchFamily="34" charset="-122"/>
                <a:cs typeface="Courier New" pitchFamily="34" charset="-120"/>
              </a:rPr>
              <a:t> </a:t>
            </a:r>
            <a:r>
              <a:rPr lang="en-US" sz="840" dirty="0">
                <a:solidFill>
                  <a:srgbClr val="2D8000"/>
                </a:solidFill>
                <a:latin typeface="Courier New" pitchFamily="34" charset="0"/>
                <a:ea typeface="Courier New" pitchFamily="34" charset="-122"/>
                <a:cs typeface="Courier New" pitchFamily="34" charset="-120"/>
              </a:rPr>
              <a:t>SecurityFilterChain</a:t>
            </a:r>
            <a:r>
              <a:rPr lang="en-US" sz="840" dirty="0">
                <a:solidFill>
                  <a:srgbClr val="383A42"/>
                </a:solidFill>
                <a:latin typeface="Courier New" pitchFamily="34" charset="0"/>
                <a:ea typeface="Courier New" pitchFamily="34" charset="-122"/>
                <a:cs typeface="Courier New" pitchFamily="34" charset="-120"/>
              </a:rPr>
              <a:t> filterChain(</a:t>
            </a:r>
            <a:r>
              <a:rPr lang="en-US" sz="840" dirty="0">
                <a:solidFill>
                  <a:srgbClr val="2D8000"/>
                </a:solidFill>
                <a:latin typeface="Courier New" pitchFamily="34" charset="0"/>
                <a:ea typeface="Courier New" pitchFamily="34" charset="-122"/>
                <a:cs typeface="Courier New" pitchFamily="34" charset="-120"/>
              </a:rPr>
              <a:t>HttpSecurity</a:t>
            </a:r>
            <a:r>
              <a:rPr lang="en-US" sz="840" dirty="0">
                <a:solidFill>
                  <a:srgbClr val="383A42"/>
                </a:solidFill>
                <a:latin typeface="Courier New" pitchFamily="34" charset="0"/>
                <a:ea typeface="Courier New" pitchFamily="34" charset="-122"/>
                <a:cs typeface="Courier New" pitchFamily="34" charset="-120"/>
              </a:rPr>
              <a:t> http) ... {</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http</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.csrf(csrf -&gt; csrf.disable())</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.authorizeHttpRequests(auth -&gt; auth</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.requestMatchers(</a:t>
            </a:r>
            <a:r>
              <a:rPr lang="en-US" sz="840" dirty="0">
                <a:solidFill>
                  <a:srgbClr val="C41A16"/>
                </a:solidFill>
                <a:latin typeface="Courier New" pitchFamily="34" charset="0"/>
                <a:ea typeface="Courier New" pitchFamily="34" charset="-122"/>
                <a:cs typeface="Courier New" pitchFamily="34" charset="-120"/>
              </a:rPr>
              <a:t>"/api/auth/**"</a:t>
            </a:r>
            <a:r>
              <a:rPr lang="en-US" sz="840" dirty="0">
                <a:solidFill>
                  <a:srgbClr val="383A42"/>
                </a:solidFill>
                <a:latin typeface="Courier New" pitchFamily="34" charset="0"/>
                <a:ea typeface="Courier New" pitchFamily="34" charset="-122"/>
                <a:cs typeface="Courier New" pitchFamily="34" charset="-120"/>
              </a:rPr>
              <a:t>).permitAll()</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.requestMatchers(</a:t>
            </a:r>
            <a:r>
              <a:rPr lang="en-US" sz="840" dirty="0">
                <a:solidFill>
                  <a:srgbClr val="C41A16"/>
                </a:solidFill>
                <a:latin typeface="Courier New" pitchFamily="34" charset="0"/>
                <a:ea typeface="Courier New" pitchFamily="34" charset="-122"/>
                <a:cs typeface="Courier New" pitchFamily="34" charset="-120"/>
              </a:rPr>
              <a:t>"/swagger-ui/**"</a:t>
            </a:r>
            <a:r>
              <a:rPr lang="en-US" sz="840" dirty="0">
                <a:solidFill>
                  <a:srgbClr val="383A42"/>
                </a:solidFill>
                <a:latin typeface="Courier New" pitchFamily="34" charset="0"/>
                <a:ea typeface="Courier New" pitchFamily="34" charset="-122"/>
                <a:cs typeface="Courier New" pitchFamily="34" charset="-120"/>
              </a:rPr>
              <a:t>,</a:t>
            </a:r>
            <a:r>
              <a:rPr lang="en-US" sz="840" dirty="0">
                <a:solidFill>
                  <a:srgbClr val="C41A16"/>
                </a:solidFill>
                <a:latin typeface="Courier New" pitchFamily="34" charset="0"/>
                <a:ea typeface="Courier New" pitchFamily="34" charset="-122"/>
                <a:cs typeface="Courier New" pitchFamily="34" charset="-120"/>
              </a:rPr>
              <a:t>"/v3/api-docs/**"</a:t>
            </a:r>
            <a:r>
              <a:rPr lang="en-US" sz="840" dirty="0">
                <a:solidFill>
                  <a:srgbClr val="383A42"/>
                </a:solidFill>
                <a:latin typeface="Courier New" pitchFamily="34" charset="0"/>
                <a:ea typeface="Courier New" pitchFamily="34" charset="-122"/>
                <a:cs typeface="Courier New" pitchFamily="34" charset="-120"/>
              </a:rPr>
              <a:t>).permitAll()</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.requestMatchers(</a:t>
            </a:r>
            <a:r>
              <a:rPr lang="en-US" sz="840" dirty="0">
                <a:solidFill>
                  <a:srgbClr val="2D8000"/>
                </a:solidFill>
                <a:latin typeface="Courier New" pitchFamily="34" charset="0"/>
                <a:ea typeface="Courier New" pitchFamily="34" charset="-122"/>
                <a:cs typeface="Courier New" pitchFamily="34" charset="-120"/>
              </a:rPr>
              <a:t>HttpMethod</a:t>
            </a:r>
            <a:r>
              <a:rPr lang="en-US" sz="840" dirty="0">
                <a:solidFill>
                  <a:srgbClr val="383A42"/>
                </a:solidFill>
                <a:latin typeface="Courier New" pitchFamily="34" charset="0"/>
                <a:ea typeface="Courier New" pitchFamily="34" charset="-122"/>
                <a:cs typeface="Courier New" pitchFamily="34" charset="-120"/>
              </a:rPr>
              <a:t>.DELETE,</a:t>
            </a:r>
            <a:r>
              <a:rPr lang="en-US" sz="840" dirty="0">
                <a:solidFill>
                  <a:srgbClr val="C41A16"/>
                </a:solidFill>
                <a:latin typeface="Courier New" pitchFamily="34" charset="0"/>
                <a:ea typeface="Courier New" pitchFamily="34" charset="-122"/>
                <a:cs typeface="Courier New" pitchFamily="34" charset="-120"/>
              </a:rPr>
              <a:t>"/api/**"</a:t>
            </a:r>
            <a:r>
              <a:rPr lang="en-US" sz="840" dirty="0">
                <a:solidFill>
                  <a:srgbClr val="383A42"/>
                </a:solidFill>
                <a:latin typeface="Courier New" pitchFamily="34" charset="0"/>
                <a:ea typeface="Courier New" pitchFamily="34" charset="-122"/>
                <a:cs typeface="Courier New" pitchFamily="34" charset="-120"/>
              </a:rPr>
              <a:t>).hasRole(</a:t>
            </a:r>
            <a:r>
              <a:rPr lang="en-US" sz="840" dirty="0">
                <a:solidFill>
                  <a:srgbClr val="C41A16"/>
                </a:solidFill>
                <a:latin typeface="Courier New" pitchFamily="34" charset="0"/>
                <a:ea typeface="Courier New" pitchFamily="34" charset="-122"/>
                <a:cs typeface="Courier New" pitchFamily="34" charset="-120"/>
              </a:rPr>
              <a:t>"ADMIN"</a:t>
            </a:r>
            <a:r>
              <a:rPr lang="en-US" sz="840" dirty="0">
                <a:solidFill>
                  <a:srgbClr val="383A42"/>
                </a:solidFill>
                <a:latin typeface="Courier New" pitchFamily="34" charset="0"/>
                <a:ea typeface="Courier New" pitchFamily="34" charset="-122"/>
                <a:cs typeface="Courier New" pitchFamily="34" charset="-120"/>
              </a:rPr>
              <a:t>)</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.anyRequest().authenticated())</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.sessionManagement(sm -&gt; sm</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.sessionCreationPolicy(</a:t>
            </a:r>
            <a:r>
              <a:rPr lang="en-US" sz="840" dirty="0">
                <a:solidFill>
                  <a:srgbClr val="2D8000"/>
                </a:solidFill>
                <a:latin typeface="Courier New" pitchFamily="34" charset="0"/>
                <a:ea typeface="Courier New" pitchFamily="34" charset="-122"/>
                <a:cs typeface="Courier New" pitchFamily="34" charset="-120"/>
              </a:rPr>
              <a:t>SessionCreationPolicy</a:t>
            </a:r>
            <a:r>
              <a:rPr lang="en-US" sz="840" dirty="0">
                <a:solidFill>
                  <a:srgbClr val="383A42"/>
                </a:solidFill>
                <a:latin typeface="Courier New" pitchFamily="34" charset="0"/>
                <a:ea typeface="Courier New" pitchFamily="34" charset="-122"/>
                <a:cs typeface="Courier New" pitchFamily="34" charset="-120"/>
              </a:rPr>
              <a:t>.STATELESS))</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.addFilterBefore(jwtAuthFilter,</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UsernamePasswordAuthenticationFilter.</a:t>
            </a:r>
            <a:r>
              <a:rPr lang="en-US" sz="840" b="1" dirty="0">
                <a:solidFill>
                  <a:srgbClr val="0057AE"/>
                </a:solidFill>
                <a:latin typeface="Courier New" pitchFamily="34" charset="0"/>
                <a:ea typeface="Courier New" pitchFamily="34" charset="-122"/>
                <a:cs typeface="Courier New" pitchFamily="34" charset="-120"/>
              </a:rPr>
              <a:t>class</a:t>
            </a:r>
            <a:r>
              <a:rPr lang="en-US" sz="840" dirty="0">
                <a:solidFill>
                  <a:srgbClr val="383A42"/>
                </a:solidFill>
                <a:latin typeface="Courier New" pitchFamily="34" charset="0"/>
                <a:ea typeface="Courier New" pitchFamily="34" charset="-122"/>
                <a:cs typeface="Courier New" pitchFamily="34" charset="-120"/>
              </a:rPr>
              <a:t>);</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a:t>
            </a:r>
            <a:r>
              <a:rPr lang="en-US" sz="840" b="1" dirty="0">
                <a:solidFill>
                  <a:srgbClr val="0057AE"/>
                </a:solidFill>
                <a:latin typeface="Courier New" pitchFamily="34" charset="0"/>
                <a:ea typeface="Courier New" pitchFamily="34" charset="-122"/>
                <a:cs typeface="Courier New" pitchFamily="34" charset="-120"/>
              </a:rPr>
              <a:t>return</a:t>
            </a:r>
            <a:r>
              <a:rPr lang="en-US" sz="840" dirty="0">
                <a:solidFill>
                  <a:srgbClr val="383A42"/>
                </a:solidFill>
                <a:latin typeface="Courier New" pitchFamily="34" charset="0"/>
                <a:ea typeface="Courier New" pitchFamily="34" charset="-122"/>
                <a:cs typeface="Courier New" pitchFamily="34" charset="-120"/>
              </a:rPr>
              <a:t> http.build();</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a:t>
            </a:r>
            <a:endParaRPr lang="en-US" sz="8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8 — AUTENTICACION</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AuthController: registro e inicio de sesion</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8092440" y="411480"/>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8092440" y="411480"/>
            <a:ext cx="566928" cy="566928"/>
          </a:xfrm>
          <a:prstGeom prst="rect">
            <a:avLst/>
          </a:prstGeom>
          <a:noFill/>
          <a:ln/>
        </p:spPr>
        <p:txBody>
          <a:bodyPr wrap="square" lIns="0" tIns="0" rIns="0" bIns="0" rtlCol="0" anchor="ctr"/>
          <a:lstStyle/>
          <a:p>
            <a:pPr marL="0" indent="0" algn="ctr">
              <a:buNone/>
            </a:pPr>
            <a:r>
              <a:rPr lang="en-US" sz="2600" b="1" dirty="0">
                <a:solidFill>
                  <a:srgbClr val="E8B923"/>
                </a:solidFill>
                <a:latin typeface="Cambria" pitchFamily="34" charset="0"/>
                <a:ea typeface="Cambria" pitchFamily="34" charset="-122"/>
                <a:cs typeface="Cambria" pitchFamily="34" charset="-120"/>
              </a:rPr>
              <a:t>8</a:t>
            </a:r>
            <a:endParaRPr lang="en-US" sz="2600" dirty="0"/>
          </a:p>
        </p:txBody>
      </p:sp>
      <p:sp>
        <p:nvSpPr>
          <p:cNvPr id="8" name="Shape 6"/>
          <p:cNvSpPr/>
          <p:nvPr/>
        </p:nvSpPr>
        <p:spPr>
          <a:xfrm>
            <a:off x="457200" y="1325880"/>
            <a:ext cx="8229600" cy="3200400"/>
          </a:xfrm>
          <a:prstGeom prst="roundRect">
            <a:avLst>
              <a:gd name="adj" fmla="val 1714"/>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21792" y="1399032"/>
            <a:ext cx="795528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controller/AuthController.java</a:t>
            </a:r>
            <a:endParaRPr lang="en-US" sz="950" dirty="0"/>
          </a:p>
        </p:txBody>
      </p:sp>
      <p:sp>
        <p:nvSpPr>
          <p:cNvPr id="10" name="Text 8"/>
          <p:cNvSpPr/>
          <p:nvPr/>
        </p:nvSpPr>
        <p:spPr>
          <a:xfrm>
            <a:off x="621792" y="1655064"/>
            <a:ext cx="7918704" cy="2779776"/>
          </a:xfrm>
          <a:prstGeom prst="rect">
            <a:avLst/>
          </a:prstGeom>
          <a:noFill/>
          <a:ln/>
        </p:spPr>
        <p:txBody>
          <a:bodyPr wrap="square" lIns="0" tIns="0" rIns="0" bIns="0" rtlCol="0" anchor="t"/>
          <a:lstStyle/>
          <a:p>
            <a:pPr marL="0" indent="0">
              <a:lnSpc>
                <a:spcPct val="102000"/>
              </a:lnSpc>
              <a:buNone/>
            </a:pPr>
            <a:r>
              <a:rPr lang="en-US" sz="850" b="1" dirty="0">
                <a:solidFill>
                  <a:srgbClr val="7B2FBE"/>
                </a:solidFill>
                <a:latin typeface="Courier New" pitchFamily="34" charset="0"/>
                <a:ea typeface="Courier New" pitchFamily="34" charset="-122"/>
                <a:cs typeface="Courier New" pitchFamily="34" charset="-120"/>
              </a:rPr>
              <a:t>@RestController</a:t>
            </a: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7B2FBE"/>
                </a:solidFill>
                <a:latin typeface="Courier New" pitchFamily="34" charset="0"/>
                <a:ea typeface="Courier New" pitchFamily="34" charset="-122"/>
                <a:cs typeface="Courier New" pitchFamily="34" charset="-120"/>
              </a:rPr>
              <a:t>@RequestMapping</a:t>
            </a:r>
            <a:r>
              <a:rPr lang="en-US" sz="850" dirty="0">
                <a:solidFill>
                  <a:srgbClr val="383A42"/>
                </a:solidFill>
                <a:latin typeface="Courier New" pitchFamily="34" charset="0"/>
                <a:ea typeface="Courier New" pitchFamily="34" charset="-122"/>
                <a:cs typeface="Courier New" pitchFamily="34" charset="-120"/>
              </a:rPr>
              <a:t>(</a:t>
            </a:r>
            <a:r>
              <a:rPr lang="en-US" sz="850" dirty="0">
                <a:solidFill>
                  <a:srgbClr val="C41A16"/>
                </a:solidFill>
                <a:latin typeface="Courier New" pitchFamily="34" charset="0"/>
                <a:ea typeface="Courier New" pitchFamily="34" charset="-122"/>
                <a:cs typeface="Courier New" pitchFamily="34" charset="-120"/>
              </a:rPr>
              <a:t>"/api/auth"</a:t>
            </a:r>
            <a:r>
              <a:rPr lang="en-US" sz="850" dirty="0">
                <a:solidFill>
                  <a:srgbClr val="383A42"/>
                </a:solidFill>
                <a:latin typeface="Courier New" pitchFamily="34" charset="0"/>
                <a:ea typeface="Courier New" pitchFamily="34" charset="-122"/>
                <a:cs typeface="Courier New" pitchFamily="34" charset="-120"/>
              </a:rPr>
              <a:t>)</a:t>
            </a:r>
            <a:endParaRPr lang="en-US" sz="850" dirty="0"/>
          </a:p>
          <a:p>
            <a:pPr marL="0" indent="0">
              <a:lnSpc>
                <a:spcPct val="102000"/>
              </a:lnSpc>
              <a:buNone/>
            </a:pPr>
            <a:r>
              <a:rPr lang="en-US" sz="850" b="1" dirty="0">
                <a:solidFill>
                  <a:srgbClr val="7B2FBE"/>
                </a:solidFill>
                <a:latin typeface="Courier New" pitchFamily="34" charset="0"/>
                <a:ea typeface="Courier New" pitchFamily="34" charset="-122"/>
                <a:cs typeface="Courier New" pitchFamily="34" charset="-120"/>
              </a:rPr>
              <a:t>@RequiredArgsConstructor</a:t>
            </a:r>
            <a:endParaRPr lang="en-US" sz="850" dirty="0"/>
          </a:p>
          <a:p>
            <a:pPr marL="0" indent="0">
              <a:lnSpc>
                <a:spcPct val="102000"/>
              </a:lnSpc>
              <a:buNone/>
            </a:pPr>
            <a:r>
              <a:rPr lang="en-US" sz="850" b="1" dirty="0">
                <a:solidFill>
                  <a:srgbClr val="0057AE"/>
                </a:solidFill>
                <a:latin typeface="Courier New" pitchFamily="34" charset="0"/>
                <a:ea typeface="Courier New" pitchFamily="34" charset="-122"/>
                <a:cs typeface="Courier New" pitchFamily="34" charset="-120"/>
              </a:rPr>
              <a:t>public</a:t>
            </a: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class</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AuthController</a:t>
            </a:r>
            <a:r>
              <a:rPr lang="en-US" sz="850" dirty="0">
                <a:solidFill>
                  <a:srgbClr val="383A42"/>
                </a:solidFill>
                <a:latin typeface="Courier New" pitchFamily="34" charset="0"/>
                <a:ea typeface="Courier New" pitchFamily="34" charset="-122"/>
                <a:cs typeface="Courier New" pitchFamily="34" charset="-120"/>
              </a:rPr>
              <a:t> {</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private</a:t>
            </a: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final</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AuthenticationManager</a:t>
            </a:r>
            <a:r>
              <a:rPr lang="en-US" sz="850" dirty="0">
                <a:solidFill>
                  <a:srgbClr val="383A42"/>
                </a:solidFill>
                <a:latin typeface="Courier New" pitchFamily="34" charset="0"/>
                <a:ea typeface="Courier New" pitchFamily="34" charset="-122"/>
                <a:cs typeface="Courier New" pitchFamily="34" charset="-120"/>
              </a:rPr>
              <a:t> authManager;</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private</a:t>
            </a: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final</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JwtService</a:t>
            </a:r>
            <a:r>
              <a:rPr lang="en-US" sz="850" dirty="0">
                <a:solidFill>
                  <a:srgbClr val="383A42"/>
                </a:solidFill>
                <a:latin typeface="Courier New" pitchFamily="34" charset="0"/>
                <a:ea typeface="Courier New" pitchFamily="34" charset="-122"/>
                <a:cs typeface="Courier New" pitchFamily="34" charset="-120"/>
              </a:rPr>
              <a:t> jwtService;</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private</a:t>
            </a: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final</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UsuarioRepository</a:t>
            </a:r>
            <a:r>
              <a:rPr lang="en-US" sz="850" dirty="0">
                <a:solidFill>
                  <a:srgbClr val="383A42"/>
                </a:solidFill>
                <a:latin typeface="Courier New" pitchFamily="34" charset="0"/>
                <a:ea typeface="Courier New" pitchFamily="34" charset="-122"/>
                <a:cs typeface="Courier New" pitchFamily="34" charset="-120"/>
              </a:rPr>
              <a:t> repo;</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private</a:t>
            </a: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final</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PasswordEncoder</a:t>
            </a:r>
            <a:r>
              <a:rPr lang="en-US" sz="850" dirty="0">
                <a:solidFill>
                  <a:srgbClr val="383A42"/>
                </a:solidFill>
                <a:latin typeface="Courier New" pitchFamily="34" charset="0"/>
                <a:ea typeface="Courier New" pitchFamily="34" charset="-122"/>
                <a:cs typeface="Courier New" pitchFamily="34" charset="-120"/>
              </a:rPr>
              <a:t> encoder;</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7B2FBE"/>
                </a:solidFill>
                <a:latin typeface="Courier New" pitchFamily="34" charset="0"/>
                <a:ea typeface="Courier New" pitchFamily="34" charset="-122"/>
                <a:cs typeface="Courier New" pitchFamily="34" charset="-120"/>
              </a:rPr>
              <a:t>@PostMapping</a:t>
            </a:r>
            <a:r>
              <a:rPr lang="en-US" sz="850" dirty="0">
                <a:solidFill>
                  <a:srgbClr val="383A42"/>
                </a:solidFill>
                <a:latin typeface="Courier New" pitchFamily="34" charset="0"/>
                <a:ea typeface="Courier New" pitchFamily="34" charset="-122"/>
                <a:cs typeface="Courier New" pitchFamily="34" charset="-120"/>
              </a:rPr>
              <a:t>(</a:t>
            </a:r>
            <a:r>
              <a:rPr lang="en-US" sz="850" dirty="0">
                <a:solidFill>
                  <a:srgbClr val="C41A16"/>
                </a:solidFill>
                <a:latin typeface="Courier New" pitchFamily="34" charset="0"/>
                <a:ea typeface="Courier New" pitchFamily="34" charset="-122"/>
                <a:cs typeface="Courier New" pitchFamily="34" charset="-120"/>
              </a:rPr>
              <a:t>"/login"</a:t>
            </a:r>
            <a:r>
              <a:rPr lang="en-US" sz="850" dirty="0">
                <a:solidFill>
                  <a:srgbClr val="383A42"/>
                </a:solidFill>
                <a:latin typeface="Courier New" pitchFamily="34" charset="0"/>
                <a:ea typeface="Courier New" pitchFamily="34" charset="-122"/>
                <a:cs typeface="Courier New" pitchFamily="34" charset="-120"/>
              </a:rPr>
              <a:t>)</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public</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ResponseEntity</a:t>
            </a:r>
            <a:r>
              <a:rPr lang="en-US" sz="850" dirty="0">
                <a:solidFill>
                  <a:srgbClr val="383A42"/>
                </a:solidFill>
                <a:latin typeface="Courier New" pitchFamily="34" charset="0"/>
                <a:ea typeface="Courier New" pitchFamily="34" charset="-122"/>
                <a:cs typeface="Courier New" pitchFamily="34" charset="-120"/>
              </a:rPr>
              <a:t>&lt;</a:t>
            </a:r>
            <a:r>
              <a:rPr lang="en-US" sz="850" dirty="0">
                <a:solidFill>
                  <a:srgbClr val="2D8000"/>
                </a:solidFill>
                <a:latin typeface="Courier New" pitchFamily="34" charset="0"/>
                <a:ea typeface="Courier New" pitchFamily="34" charset="-122"/>
                <a:cs typeface="Courier New" pitchFamily="34" charset="-120"/>
              </a:rPr>
              <a:t>AuthResponse</a:t>
            </a:r>
            <a:r>
              <a:rPr lang="en-US" sz="850" dirty="0">
                <a:solidFill>
                  <a:srgbClr val="383A42"/>
                </a:solidFill>
                <a:latin typeface="Courier New" pitchFamily="34" charset="0"/>
                <a:ea typeface="Courier New" pitchFamily="34" charset="-122"/>
                <a:cs typeface="Courier New" pitchFamily="34" charset="-120"/>
              </a:rPr>
              <a:t>&gt; login(</a:t>
            </a:r>
            <a:r>
              <a:rPr lang="en-US" sz="850" b="1" dirty="0">
                <a:solidFill>
                  <a:srgbClr val="7B2FBE"/>
                </a:solidFill>
                <a:latin typeface="Courier New" pitchFamily="34" charset="0"/>
                <a:ea typeface="Courier New" pitchFamily="34" charset="-122"/>
                <a:cs typeface="Courier New" pitchFamily="34" charset="-120"/>
              </a:rPr>
              <a:t>@RequestBody</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LoginRequest</a:t>
            </a:r>
            <a:r>
              <a:rPr lang="en-US" sz="850" dirty="0">
                <a:solidFill>
                  <a:srgbClr val="383A42"/>
                </a:solidFill>
                <a:latin typeface="Courier New" pitchFamily="34" charset="0"/>
                <a:ea typeface="Courier New" pitchFamily="34" charset="-122"/>
                <a:cs typeface="Courier New" pitchFamily="34" charset="-120"/>
              </a:rPr>
              <a:t> req) {</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Authentication</a:t>
            </a:r>
            <a:r>
              <a:rPr lang="en-US" sz="850" dirty="0">
                <a:solidFill>
                  <a:srgbClr val="383A42"/>
                </a:solidFill>
                <a:latin typeface="Courier New" pitchFamily="34" charset="0"/>
                <a:ea typeface="Courier New" pitchFamily="34" charset="-122"/>
                <a:cs typeface="Courier New" pitchFamily="34" charset="-120"/>
              </a:rPr>
              <a:t> peticion = </a:t>
            </a:r>
            <a:r>
              <a:rPr lang="en-US" sz="850" dirty="0">
                <a:solidFill>
                  <a:srgbClr val="2D8000"/>
                </a:solidFill>
                <a:latin typeface="Courier New" pitchFamily="34" charset="0"/>
                <a:ea typeface="Courier New" pitchFamily="34" charset="-122"/>
                <a:cs typeface="Courier New" pitchFamily="34" charset="-120"/>
              </a:rPr>
              <a:t>UsernamePasswordAuthenticationToken</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.unauthenticated(req.username(), req.password());</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Authentication</a:t>
            </a:r>
            <a:r>
              <a:rPr lang="en-US" sz="850" dirty="0">
                <a:solidFill>
                  <a:srgbClr val="383A42"/>
                </a:solidFill>
                <a:latin typeface="Courier New" pitchFamily="34" charset="0"/>
                <a:ea typeface="Courier New" pitchFamily="34" charset="-122"/>
                <a:cs typeface="Courier New" pitchFamily="34" charset="-120"/>
              </a:rPr>
              <a:t> auth = authManager.authenticate(peticion);</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String</a:t>
            </a:r>
            <a:r>
              <a:rPr lang="en-US" sz="850" dirty="0">
                <a:solidFill>
                  <a:srgbClr val="383A42"/>
                </a:solidFill>
                <a:latin typeface="Courier New" pitchFamily="34" charset="0"/>
                <a:ea typeface="Courier New" pitchFamily="34" charset="-122"/>
                <a:cs typeface="Courier New" pitchFamily="34" charset="-120"/>
              </a:rPr>
              <a:t> token = jwtService.generarToken(</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UserDetails</a:t>
            </a:r>
            <a:r>
              <a:rPr lang="en-US" sz="850" dirty="0">
                <a:solidFill>
                  <a:srgbClr val="383A42"/>
                </a:solidFill>
                <a:latin typeface="Courier New" pitchFamily="34" charset="0"/>
                <a:ea typeface="Courier New" pitchFamily="34" charset="-122"/>
                <a:cs typeface="Courier New" pitchFamily="34" charset="-120"/>
              </a:rPr>
              <a:t>) auth.getPrincipal());</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b="1" dirty="0">
                <a:solidFill>
                  <a:srgbClr val="0057AE"/>
                </a:solidFill>
                <a:latin typeface="Courier New" pitchFamily="34" charset="0"/>
                <a:ea typeface="Courier New" pitchFamily="34" charset="-122"/>
                <a:cs typeface="Courier New" pitchFamily="34" charset="-120"/>
              </a:rPr>
              <a:t>return</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ResponseEntity</a:t>
            </a:r>
            <a:r>
              <a:rPr lang="en-US" sz="850" dirty="0">
                <a:solidFill>
                  <a:srgbClr val="383A42"/>
                </a:solidFill>
                <a:latin typeface="Courier New" pitchFamily="34" charset="0"/>
                <a:ea typeface="Courier New" pitchFamily="34" charset="-122"/>
                <a:cs typeface="Courier New" pitchFamily="34" charset="-120"/>
              </a:rPr>
              <a:t>.ok(</a:t>
            </a:r>
            <a:r>
              <a:rPr lang="en-US" sz="850" b="1" dirty="0">
                <a:solidFill>
                  <a:srgbClr val="0057AE"/>
                </a:solidFill>
                <a:latin typeface="Courier New" pitchFamily="34" charset="0"/>
                <a:ea typeface="Courier New" pitchFamily="34" charset="-122"/>
                <a:cs typeface="Courier New" pitchFamily="34" charset="-120"/>
              </a:rPr>
              <a:t>new</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2D8000"/>
                </a:solidFill>
                <a:latin typeface="Courier New" pitchFamily="34" charset="0"/>
                <a:ea typeface="Courier New" pitchFamily="34" charset="-122"/>
                <a:cs typeface="Courier New" pitchFamily="34" charset="-120"/>
              </a:rPr>
              <a:t>AuthResponse</a:t>
            </a:r>
            <a:r>
              <a:rPr lang="en-US" sz="850" dirty="0">
                <a:solidFill>
                  <a:srgbClr val="383A42"/>
                </a:solidFill>
                <a:latin typeface="Courier New" pitchFamily="34" charset="0"/>
                <a:ea typeface="Courier New" pitchFamily="34" charset="-122"/>
                <a:cs typeface="Courier New" pitchFamily="34" charset="-120"/>
              </a:rPr>
              <a:t>(token, </a:t>
            </a:r>
            <a:r>
              <a:rPr lang="en-US" sz="850" dirty="0">
                <a:solidFill>
                  <a:srgbClr val="C41A16"/>
                </a:solidFill>
                <a:latin typeface="Courier New" pitchFamily="34" charset="0"/>
                <a:ea typeface="Courier New" pitchFamily="34" charset="-122"/>
                <a:cs typeface="Courier New" pitchFamily="34" charset="-120"/>
              </a:rPr>
              <a:t>"Bearer"</a:t>
            </a:r>
            <a:r>
              <a:rPr lang="en-US" sz="850" dirty="0">
                <a:solidFill>
                  <a:srgbClr val="383A42"/>
                </a:solidFill>
                <a:latin typeface="Courier New" pitchFamily="34" charset="0"/>
                <a:ea typeface="Courier New" pitchFamily="34" charset="-122"/>
                <a:cs typeface="Courier New" pitchFamily="34" charset="-120"/>
              </a:rPr>
              <a:t>, </a:t>
            </a:r>
            <a:r>
              <a:rPr lang="en-US" sz="850" dirty="0">
                <a:solidFill>
                  <a:srgbClr val="C87B00"/>
                </a:solidFill>
                <a:latin typeface="Courier New" pitchFamily="34" charset="0"/>
                <a:ea typeface="Courier New" pitchFamily="34" charset="-122"/>
                <a:cs typeface="Courier New" pitchFamily="34" charset="-120"/>
              </a:rPr>
              <a:t>3600000</a:t>
            </a:r>
            <a:r>
              <a:rPr lang="en-US" sz="850" dirty="0">
                <a:solidFill>
                  <a:srgbClr val="383A42"/>
                </a:solidFill>
                <a:latin typeface="Courier New" pitchFamily="34" charset="0"/>
                <a:ea typeface="Courier New" pitchFamily="34" charset="-122"/>
                <a:cs typeface="Courier New" pitchFamily="34" charset="-120"/>
              </a:rPr>
              <a:t>));</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  </a:t>
            </a:r>
            <a:r>
              <a:rPr lang="en-US" sz="850" i="1" dirty="0">
                <a:solidFill>
                  <a:srgbClr val="717171"/>
                </a:solidFill>
                <a:latin typeface="Courier New" pitchFamily="34" charset="0"/>
                <a:ea typeface="Courier New" pitchFamily="34" charset="-122"/>
                <a:cs typeface="Courier New" pitchFamily="34" charset="-120"/>
              </a:rPr>
              <a:t>// + POST /registro: cifra la clave y guarda el Usuario</a:t>
            </a:r>
            <a:endParaRPr lang="en-US" sz="850" dirty="0"/>
          </a:p>
          <a:p>
            <a:pPr marL="0" indent="0">
              <a:lnSpc>
                <a:spcPct val="102000"/>
              </a:lnSpc>
              <a:buNone/>
            </a:pPr>
            <a:r>
              <a:rPr lang="en-US" sz="850" dirty="0">
                <a:solidFill>
                  <a:srgbClr val="383A42"/>
                </a:solidFill>
                <a:latin typeface="Courier New" pitchFamily="34" charset="0"/>
                <a:ea typeface="Courier New" pitchFamily="34" charset="-122"/>
                <a:cs typeface="Courier New" pitchFamily="34" charset="-120"/>
              </a:rPr>
              <a:t>}</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9 — AUTORIZACION POR METODO</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@PreAuthorize: reglas finas en el controlador</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8092440" y="411480"/>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8092440" y="411480"/>
            <a:ext cx="566928" cy="566928"/>
          </a:xfrm>
          <a:prstGeom prst="rect">
            <a:avLst/>
          </a:prstGeom>
          <a:noFill/>
          <a:ln/>
        </p:spPr>
        <p:txBody>
          <a:bodyPr wrap="square" lIns="0" tIns="0" rIns="0" bIns="0" rtlCol="0" anchor="ctr"/>
          <a:lstStyle/>
          <a:p>
            <a:pPr marL="0" indent="0" algn="ctr">
              <a:buNone/>
            </a:pPr>
            <a:r>
              <a:rPr lang="en-US" sz="2600" b="1" dirty="0">
                <a:solidFill>
                  <a:srgbClr val="E8B923"/>
                </a:solidFill>
                <a:latin typeface="Cambria" pitchFamily="34" charset="0"/>
                <a:ea typeface="Cambria" pitchFamily="34" charset="-122"/>
                <a:cs typeface="Cambria" pitchFamily="34" charset="-120"/>
              </a:rPr>
              <a:t>9</a:t>
            </a:r>
            <a:endParaRPr lang="en-US" sz="2600" dirty="0"/>
          </a:p>
        </p:txBody>
      </p:sp>
      <p:sp>
        <p:nvSpPr>
          <p:cNvPr id="8" name="Shape 6"/>
          <p:cNvSpPr/>
          <p:nvPr/>
        </p:nvSpPr>
        <p:spPr>
          <a:xfrm>
            <a:off x="457200" y="1371600"/>
            <a:ext cx="5029200" cy="1828800"/>
          </a:xfrm>
          <a:prstGeom prst="roundRect">
            <a:avLst>
              <a:gd name="adj" fmla="val 3000"/>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21792" y="1444752"/>
            <a:ext cx="475488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EstudianteController.java</a:t>
            </a:r>
            <a:endParaRPr lang="en-US" sz="950" dirty="0"/>
          </a:p>
        </p:txBody>
      </p:sp>
      <p:sp>
        <p:nvSpPr>
          <p:cNvPr id="10" name="Text 8"/>
          <p:cNvSpPr/>
          <p:nvPr/>
        </p:nvSpPr>
        <p:spPr>
          <a:xfrm>
            <a:off x="621792" y="1700784"/>
            <a:ext cx="4718304" cy="1408176"/>
          </a:xfrm>
          <a:prstGeom prst="rect">
            <a:avLst/>
          </a:prstGeom>
          <a:noFill/>
          <a:ln/>
        </p:spPr>
        <p:txBody>
          <a:bodyPr wrap="square" lIns="0" tIns="0" rIns="0" bIns="0" rtlCol="0" anchor="t"/>
          <a:lstStyle/>
          <a:p>
            <a:pPr marL="0" indent="0">
              <a:lnSpc>
                <a:spcPct val="102000"/>
              </a:lnSpc>
              <a:buNone/>
            </a:pPr>
            <a:r>
              <a:rPr lang="en-US" sz="1000" b="1" dirty="0">
                <a:solidFill>
                  <a:srgbClr val="7B2FBE"/>
                </a:solidFill>
                <a:latin typeface="Courier New" pitchFamily="34" charset="0"/>
                <a:ea typeface="Courier New" pitchFamily="34" charset="-122"/>
                <a:cs typeface="Courier New" pitchFamily="34" charset="-120"/>
              </a:rPr>
              <a:t>@DeleteMapping</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C41A16"/>
                </a:solidFill>
                <a:latin typeface="Courier New" pitchFamily="34" charset="0"/>
                <a:ea typeface="Courier New" pitchFamily="34" charset="-122"/>
                <a:cs typeface="Courier New" pitchFamily="34" charset="-120"/>
              </a:rPr>
              <a:t>"/{id}"</a:t>
            </a:r>
            <a:r>
              <a:rPr lang="en-US" sz="1000" dirty="0">
                <a:solidFill>
                  <a:srgbClr val="383A42"/>
                </a:solidFill>
                <a:latin typeface="Courier New" pitchFamily="34" charset="0"/>
                <a:ea typeface="Courier New" pitchFamily="34" charset="-122"/>
                <a:cs typeface="Courier New" pitchFamily="34" charset="-120"/>
              </a:rPr>
              <a:t>)</a:t>
            </a:r>
            <a:endParaRPr lang="en-US" sz="1000" dirty="0"/>
          </a:p>
          <a:p>
            <a:pPr marL="0" indent="0">
              <a:lnSpc>
                <a:spcPct val="102000"/>
              </a:lnSpc>
              <a:buNone/>
            </a:pPr>
            <a:r>
              <a:rPr lang="en-US" sz="1000" b="1" dirty="0">
                <a:solidFill>
                  <a:srgbClr val="7B2FBE"/>
                </a:solidFill>
                <a:latin typeface="Courier New" pitchFamily="34" charset="0"/>
                <a:ea typeface="Courier New" pitchFamily="34" charset="-122"/>
                <a:cs typeface="Courier New" pitchFamily="34" charset="-120"/>
              </a:rPr>
              <a:t>@PreAuthorize</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C41A16"/>
                </a:solidFill>
                <a:latin typeface="Courier New" pitchFamily="34" charset="0"/>
                <a:ea typeface="Courier New" pitchFamily="34" charset="-122"/>
                <a:cs typeface="Courier New" pitchFamily="34" charset="-120"/>
              </a:rPr>
              <a:t>"hasRole('ADMIN')"</a:t>
            </a:r>
            <a:r>
              <a:rPr lang="en-US" sz="1000" dirty="0">
                <a:solidFill>
                  <a:srgbClr val="383A42"/>
                </a:solidFill>
                <a:latin typeface="Courier New" pitchFamily="34" charset="0"/>
                <a:ea typeface="Courier New" pitchFamily="34" charset="-122"/>
                <a:cs typeface="Courier New" pitchFamily="34" charset="-120"/>
              </a:rPr>
              <a:t>)</a:t>
            </a:r>
            <a:endParaRPr lang="en-US" sz="1000" dirty="0"/>
          </a:p>
          <a:p>
            <a:pPr marL="0" indent="0">
              <a:lnSpc>
                <a:spcPct val="102000"/>
              </a:lnSpc>
              <a:buNone/>
            </a:pPr>
            <a:r>
              <a:rPr lang="en-US" sz="1000" b="1" dirty="0">
                <a:solidFill>
                  <a:srgbClr val="7B2FBE"/>
                </a:solidFill>
                <a:latin typeface="Courier New" pitchFamily="34" charset="0"/>
                <a:ea typeface="Courier New" pitchFamily="34" charset="-122"/>
                <a:cs typeface="Courier New" pitchFamily="34" charset="-120"/>
              </a:rPr>
              <a:t>@ResponseStatus</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2D8000"/>
                </a:solidFill>
                <a:latin typeface="Courier New" pitchFamily="34" charset="0"/>
                <a:ea typeface="Courier New" pitchFamily="34" charset="-122"/>
                <a:cs typeface="Courier New" pitchFamily="34" charset="-120"/>
              </a:rPr>
              <a:t>HttpStatus</a:t>
            </a:r>
            <a:r>
              <a:rPr lang="en-US" sz="1000" dirty="0">
                <a:solidFill>
                  <a:srgbClr val="383A42"/>
                </a:solidFill>
                <a:latin typeface="Courier New" pitchFamily="34" charset="0"/>
                <a:ea typeface="Courier New" pitchFamily="34" charset="-122"/>
                <a:cs typeface="Courier New" pitchFamily="34" charset="-120"/>
              </a:rPr>
              <a:t>.NO_CONTENT)</a:t>
            </a:r>
            <a:endParaRPr lang="en-US" sz="1000" dirty="0"/>
          </a:p>
          <a:p>
            <a:pPr marL="0" indent="0">
              <a:lnSpc>
                <a:spcPct val="102000"/>
              </a:lnSpc>
              <a:buNone/>
            </a:pPr>
            <a:r>
              <a:rPr lang="en-US" sz="1000" b="1" dirty="0">
                <a:solidFill>
                  <a:srgbClr val="0057AE"/>
                </a:solidFill>
                <a:latin typeface="Courier New" pitchFamily="34" charset="0"/>
                <a:ea typeface="Courier New" pitchFamily="34" charset="-122"/>
                <a:cs typeface="Courier New" pitchFamily="34" charset="-120"/>
              </a:rPr>
              <a:t>public</a:t>
            </a:r>
            <a:r>
              <a:rPr lang="en-US" sz="1000" dirty="0">
                <a:solidFill>
                  <a:srgbClr val="383A42"/>
                </a:solidFill>
                <a:latin typeface="Courier New" pitchFamily="34" charset="0"/>
                <a:ea typeface="Courier New" pitchFamily="34" charset="-122"/>
                <a:cs typeface="Courier New" pitchFamily="34" charset="-120"/>
              </a:rPr>
              <a:t> </a:t>
            </a:r>
            <a:r>
              <a:rPr lang="en-US" sz="1000" b="1" dirty="0">
                <a:solidFill>
                  <a:srgbClr val="0057AE"/>
                </a:solidFill>
                <a:latin typeface="Courier New" pitchFamily="34" charset="0"/>
                <a:ea typeface="Courier New" pitchFamily="34" charset="-122"/>
                <a:cs typeface="Courier New" pitchFamily="34" charset="-120"/>
              </a:rPr>
              <a:t>void</a:t>
            </a:r>
            <a:r>
              <a:rPr lang="en-US" sz="1000" dirty="0">
                <a:solidFill>
                  <a:srgbClr val="383A42"/>
                </a:solidFill>
                <a:latin typeface="Courier New" pitchFamily="34" charset="0"/>
                <a:ea typeface="Courier New" pitchFamily="34" charset="-122"/>
                <a:cs typeface="Courier New" pitchFamily="34" charset="-120"/>
              </a:rPr>
              <a:t> eliminar(</a:t>
            </a:r>
            <a:r>
              <a:rPr lang="en-US" sz="1000" b="1" dirty="0">
                <a:solidFill>
                  <a:srgbClr val="7B2FBE"/>
                </a:solidFill>
                <a:latin typeface="Courier New" pitchFamily="34" charset="0"/>
                <a:ea typeface="Courier New" pitchFamily="34" charset="-122"/>
                <a:cs typeface="Courier New" pitchFamily="34" charset="-120"/>
              </a:rPr>
              <a:t>@PathVariable</a:t>
            </a: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2D8000"/>
                </a:solidFill>
                <a:latin typeface="Courier New" pitchFamily="34" charset="0"/>
                <a:ea typeface="Courier New" pitchFamily="34" charset="-122"/>
                <a:cs typeface="Courier New" pitchFamily="34" charset="-120"/>
              </a:rPr>
              <a:t>Long</a:t>
            </a:r>
            <a:r>
              <a:rPr lang="en-US" sz="1000" dirty="0">
                <a:solidFill>
                  <a:srgbClr val="383A42"/>
                </a:solidFill>
                <a:latin typeface="Courier New" pitchFamily="34" charset="0"/>
                <a:ea typeface="Courier New" pitchFamily="34" charset="-122"/>
                <a:cs typeface="Courier New" pitchFamily="34" charset="-120"/>
              </a:rPr>
              <a:t> id) {</a:t>
            </a:r>
            <a:endParaRPr lang="en-US" sz="1000" dirty="0"/>
          </a:p>
          <a:p>
            <a:pPr marL="0" indent="0">
              <a:lnSpc>
                <a:spcPct val="102000"/>
              </a:lnSpc>
              <a:buNone/>
            </a:pPr>
            <a:r>
              <a:rPr lang="en-US" sz="1000" dirty="0">
                <a:solidFill>
                  <a:srgbClr val="383A42"/>
                </a:solidFill>
                <a:latin typeface="Courier New" pitchFamily="34" charset="0"/>
                <a:ea typeface="Courier New" pitchFamily="34" charset="-122"/>
                <a:cs typeface="Courier New" pitchFamily="34" charset="-120"/>
              </a:rPr>
              <a:t>  servicio.eliminar(id);</a:t>
            </a:r>
            <a:endParaRPr lang="en-US" sz="1000" dirty="0"/>
          </a:p>
          <a:p>
            <a:pPr marL="0" indent="0">
              <a:lnSpc>
                <a:spcPct val="102000"/>
              </a:lnSpc>
              <a:buNone/>
            </a:pPr>
            <a:r>
              <a:rPr lang="en-US" sz="1000" dirty="0">
                <a:solidFill>
                  <a:srgbClr val="383A42"/>
                </a:solidFill>
                <a:latin typeface="Courier New" pitchFamily="34" charset="0"/>
                <a:ea typeface="Courier New" pitchFamily="34" charset="-122"/>
                <a:cs typeface="Courier New" pitchFamily="34" charset="-120"/>
              </a:rPr>
              <a:t>}</a:t>
            </a:r>
            <a:endParaRPr lang="en-US" sz="1000" dirty="0"/>
          </a:p>
        </p:txBody>
      </p:sp>
      <p:sp>
        <p:nvSpPr>
          <p:cNvPr id="11" name="Shape 9"/>
          <p:cNvSpPr/>
          <p:nvPr/>
        </p:nvSpPr>
        <p:spPr>
          <a:xfrm>
            <a:off x="5623560" y="1371600"/>
            <a:ext cx="3063240" cy="1508760"/>
          </a:xfrm>
          <a:prstGeom prst="roundRect">
            <a:avLst>
              <a:gd name="adj" fmla="val 4848"/>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Text 10"/>
          <p:cNvSpPr/>
          <p:nvPr/>
        </p:nvSpPr>
        <p:spPr>
          <a:xfrm>
            <a:off x="5788152" y="1481328"/>
            <a:ext cx="2743200" cy="1325880"/>
          </a:xfrm>
          <a:prstGeom prst="rect">
            <a:avLst/>
          </a:prstGeom>
          <a:noFill/>
          <a:ln/>
        </p:spPr>
        <p:txBody>
          <a:bodyPr wrap="square" lIns="0" tIns="0" rIns="0" bIns="0" rtlCol="0" anchor="t"/>
          <a:lstStyle/>
          <a:p>
            <a:pPr marL="0" indent="0">
              <a:lnSpc>
                <a:spcPct val="105000"/>
              </a:lnSpc>
              <a:buNone/>
            </a:pPr>
            <a:r>
              <a:rPr lang="en-US" sz="1150" b="1" dirty="0">
                <a:solidFill>
                  <a:srgbClr val="006633"/>
                </a:solidFill>
                <a:latin typeface="Calibri" pitchFamily="34" charset="0"/>
                <a:ea typeface="Calibri" pitchFamily="34" charset="-122"/>
                <a:cs typeface="Calibri" pitchFamily="34" charset="-120"/>
              </a:rPr>
              <a:t>Dos capas que se complementan
</a:t>
            </a:r>
            <a:endParaRPr lang="en-US" sz="1150" dirty="0"/>
          </a:p>
          <a:p>
            <a:pPr marL="0" indent="0">
              <a:lnSpc>
                <a:spcPct val="105000"/>
              </a:lnSpc>
              <a:buNone/>
            </a:pPr>
            <a:r>
              <a:rPr lang="en-US" sz="1050" dirty="0">
                <a:solidFill>
                  <a:srgbClr val="5C6B62"/>
                </a:solidFill>
                <a:latin typeface="Calibri" pitchFamily="34" charset="0"/>
                <a:ea typeface="Calibri" pitchFamily="34" charset="-122"/>
                <a:cs typeface="Calibri" pitchFamily="34" charset="-120"/>
              </a:rPr>
              <a:t>Ruta (SecurityConfig): filtra pronto.</a:t>
            </a:r>
            <a:endParaRPr lang="en-US" sz="1150" dirty="0"/>
          </a:p>
          <a:p>
            <a:pPr marL="0" indent="0">
              <a:lnSpc>
                <a:spcPct val="105000"/>
              </a:lnSpc>
              <a:buNone/>
            </a:pPr>
            <a:r>
              <a:rPr lang="en-US" sz="1050" dirty="0">
                <a:solidFill>
                  <a:srgbClr val="5C6B62"/>
                </a:solidFill>
                <a:latin typeface="Calibri" pitchFamily="34" charset="0"/>
                <a:ea typeface="Calibri" pitchFamily="34" charset="-122"/>
                <a:cs typeface="Calibri" pitchFamily="34" charset="-120"/>
              </a:rPr>
              <a:t>Metodo (@PreAuthorize): regla fina sobre un punto concreto. </a:t>
            </a:r>
            <a:endParaRPr lang="en-US" sz="1150" dirty="0"/>
          </a:p>
          <a:p>
            <a:pPr marL="0" indent="0">
              <a:lnSpc>
                <a:spcPct val="105000"/>
              </a:lnSpc>
              <a:buNone/>
            </a:pPr>
            <a:r>
              <a:rPr lang="en-US" sz="1050" b="1" dirty="0">
                <a:solidFill>
                  <a:srgbClr val="1E2A22"/>
                </a:solidFill>
                <a:latin typeface="Calibri" pitchFamily="34" charset="0"/>
                <a:ea typeface="Calibri" pitchFamily="34" charset="-122"/>
                <a:cs typeface="Calibri" pitchFamily="34" charset="-120"/>
              </a:rPr>
              <a:t>Defensa en profundidad.</a:t>
            </a:r>
            <a:endParaRPr lang="en-US" sz="1150" dirty="0"/>
          </a:p>
        </p:txBody>
      </p:sp>
      <p:sp>
        <p:nvSpPr>
          <p:cNvPr id="13" name="Shape 11"/>
          <p:cNvSpPr/>
          <p:nvPr/>
        </p:nvSpPr>
        <p:spPr>
          <a:xfrm>
            <a:off x="457200" y="3429000"/>
            <a:ext cx="8229600" cy="1097280"/>
          </a:xfrm>
          <a:prstGeom prst="roundRect">
            <a:avLst>
              <a:gd name="adj" fmla="val 6667"/>
            </a:avLst>
          </a:prstGeom>
          <a:solidFill>
            <a:srgbClr val="FBEFE0"/>
          </a:solidFill>
          <a:ln/>
          <a:effectLst>
            <a:outerShdw blurRad="88900" dist="38100" dir="5400000" algn="bl" rotWithShape="0">
              <a:srgbClr val="000000">
                <a:alpha val="16000"/>
              </a:srgbClr>
            </a:outerShdw>
          </a:effectLst>
        </p:spPr>
        <p:txBody>
          <a:bodyPr/>
          <a:lstStyle/>
          <a:p>
            <a:endParaRPr lang="es-ES"/>
          </a:p>
        </p:txBody>
      </p:sp>
      <p:sp>
        <p:nvSpPr>
          <p:cNvPr id="14" name="Text 12"/>
          <p:cNvSpPr/>
          <p:nvPr/>
        </p:nvSpPr>
        <p:spPr>
          <a:xfrm>
            <a:off x="658368" y="3611880"/>
            <a:ext cx="7863840" cy="777240"/>
          </a:xfrm>
          <a:prstGeom prst="rect">
            <a:avLst/>
          </a:prstGeom>
          <a:noFill/>
          <a:ln/>
        </p:spPr>
        <p:txBody>
          <a:bodyPr wrap="square" lIns="0" tIns="0" rIns="0" bIns="0" rtlCol="0" anchor="t"/>
          <a:lstStyle/>
          <a:p>
            <a:pPr marL="0" indent="0">
              <a:lnSpc>
                <a:spcPct val="105000"/>
              </a:lnSpc>
              <a:buNone/>
            </a:pPr>
            <a:r>
              <a:rPr lang="en-US" sz="1100" b="1" dirty="0">
                <a:solidFill>
                  <a:srgbClr val="9A5B00"/>
                </a:solidFill>
                <a:latin typeface="Calibri" pitchFamily="34" charset="0"/>
                <a:ea typeface="Calibri" pitchFamily="34" charset="-122"/>
                <a:cs typeface="Calibri" pitchFamily="34" charset="-120"/>
              </a:rPr>
              <a:t>Requisito:  </a:t>
            </a:r>
            <a:r>
              <a:rPr lang="en-US" sz="1100" dirty="0">
                <a:solidFill>
                  <a:srgbClr val="5C6B62"/>
                </a:solidFill>
                <a:latin typeface="Calibri" pitchFamily="34" charset="0"/>
                <a:ea typeface="Calibri" pitchFamily="34" charset="-122"/>
                <a:cs typeface="Calibri" pitchFamily="34" charset="-120"/>
              </a:rPr>
              <a:t>@PreAuthorize solo funciona si la clase SecurityConfig lleva </a:t>
            </a:r>
            <a:r>
              <a:rPr lang="en-US" sz="1050" b="1" dirty="0">
                <a:solidFill>
                  <a:srgbClr val="0057AE"/>
                </a:solidFill>
                <a:latin typeface="Courier New" pitchFamily="34" charset="0"/>
                <a:ea typeface="Courier New" pitchFamily="34" charset="-122"/>
                <a:cs typeface="Courier New" pitchFamily="34" charset="-120"/>
              </a:rPr>
              <a:t>@EnableMethodSecurity</a:t>
            </a:r>
            <a:r>
              <a:rPr lang="en-US" sz="1100" dirty="0">
                <a:solidFill>
                  <a:srgbClr val="5C6B62"/>
                </a:solidFill>
                <a:latin typeface="Calibri" pitchFamily="34" charset="0"/>
                <a:ea typeface="Calibri" pitchFamily="34" charset="-122"/>
                <a:cs typeface="Calibri" pitchFamily="34" charset="-120"/>
              </a:rPr>
              <a:t> (Paso 7). La expresion puede ser hasRole, hasAnyRole o condiciones mas ricas como #id == authentication.name.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10 — PROBAR</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El ciclo completo con cURL</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8092440" y="411480"/>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8092440" y="411480"/>
            <a:ext cx="566928" cy="566928"/>
          </a:xfrm>
          <a:prstGeom prst="rect">
            <a:avLst/>
          </a:prstGeom>
          <a:noFill/>
          <a:ln/>
        </p:spPr>
        <p:txBody>
          <a:bodyPr wrap="square" lIns="0" tIns="0" rIns="0" bIns="0" rtlCol="0" anchor="ctr"/>
          <a:lstStyle/>
          <a:p>
            <a:pPr marL="0" indent="0" algn="ctr">
              <a:buNone/>
            </a:pPr>
            <a:r>
              <a:rPr lang="en-US" sz="2600" b="1" dirty="0">
                <a:solidFill>
                  <a:srgbClr val="E8B923"/>
                </a:solidFill>
                <a:latin typeface="Cambria" pitchFamily="34" charset="0"/>
                <a:ea typeface="Cambria" pitchFamily="34" charset="-122"/>
                <a:cs typeface="Cambria" pitchFamily="34" charset="-120"/>
              </a:rPr>
              <a:t>10</a:t>
            </a:r>
            <a:endParaRPr lang="en-US" sz="2600" dirty="0"/>
          </a:p>
        </p:txBody>
      </p:sp>
      <p:sp>
        <p:nvSpPr>
          <p:cNvPr id="8" name="Shape 6"/>
          <p:cNvSpPr/>
          <p:nvPr/>
        </p:nvSpPr>
        <p:spPr>
          <a:xfrm>
            <a:off x="457200" y="1325880"/>
            <a:ext cx="5440680" cy="3291840"/>
          </a:xfrm>
          <a:prstGeom prst="roundRect">
            <a:avLst>
              <a:gd name="adj" fmla="val 1389"/>
            </a:avLst>
          </a:prstGeom>
          <a:solidFill>
            <a:srgbClr val="1E2A22"/>
          </a:solidFill>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40080" y="1417320"/>
            <a:ext cx="2743200" cy="228600"/>
          </a:xfrm>
          <a:prstGeom prst="rect">
            <a:avLst/>
          </a:prstGeom>
          <a:noFill/>
          <a:ln/>
        </p:spPr>
        <p:txBody>
          <a:bodyPr wrap="square" lIns="0" tIns="0" rIns="0" bIns="0" rtlCol="0" anchor="ctr"/>
          <a:lstStyle/>
          <a:p>
            <a:pPr marL="0" indent="0">
              <a:buNone/>
            </a:pPr>
            <a:r>
              <a:rPr lang="en-US" sz="1000" b="1" dirty="0">
                <a:solidFill>
                  <a:srgbClr val="E8B923"/>
                </a:solidFill>
                <a:latin typeface="Courier New" pitchFamily="34" charset="0"/>
                <a:ea typeface="Courier New" pitchFamily="34" charset="-122"/>
                <a:cs typeface="Courier New" pitchFamily="34" charset="-120"/>
              </a:rPr>
              <a:t>Terminal</a:t>
            </a:r>
            <a:endParaRPr lang="en-US" sz="1000" dirty="0"/>
          </a:p>
        </p:txBody>
      </p:sp>
      <p:sp>
        <p:nvSpPr>
          <p:cNvPr id="10" name="Text 8"/>
          <p:cNvSpPr/>
          <p:nvPr/>
        </p:nvSpPr>
        <p:spPr>
          <a:xfrm>
            <a:off x="640080" y="1737360"/>
            <a:ext cx="5120640" cy="2743200"/>
          </a:xfrm>
          <a:prstGeom prst="rect">
            <a:avLst/>
          </a:prstGeom>
          <a:noFill/>
          <a:ln/>
        </p:spPr>
        <p:txBody>
          <a:bodyPr wrap="square" lIns="0" tIns="0" rIns="0" bIns="0" rtlCol="0" anchor="t"/>
          <a:lstStyle/>
          <a:p>
            <a:pPr marL="0" indent="0">
              <a:lnSpc>
                <a:spcPct val="100000"/>
              </a:lnSpc>
              <a:buNone/>
            </a:pPr>
            <a:r>
              <a:rPr lang="en-US" sz="900" i="1" dirty="0">
                <a:solidFill>
                  <a:srgbClr val="8FB9A0"/>
                </a:solidFill>
                <a:latin typeface="Courier New" pitchFamily="34" charset="0"/>
                <a:ea typeface="Courier New" pitchFamily="34" charset="-122"/>
                <a:cs typeface="Courier New" pitchFamily="34" charset="-120"/>
              </a:rPr>
              <a:t># 1) login -&gt; token
</a:t>
            </a:r>
            <a:endParaRPr lang="en-US" sz="900" dirty="0"/>
          </a:p>
          <a:p>
            <a:pPr marL="0" indent="0">
              <a:lnSpc>
                <a:spcPct val="100000"/>
              </a:lnSpc>
              <a:buNone/>
            </a:pPr>
            <a:r>
              <a:rPr lang="en-US" sz="900" dirty="0">
                <a:solidFill>
                  <a:srgbClr val="E8EDE9"/>
                </a:solidFill>
                <a:latin typeface="Courier New" pitchFamily="34" charset="0"/>
                <a:ea typeface="Courier New" pitchFamily="34" charset="-122"/>
                <a:cs typeface="Courier New" pitchFamily="34" charset="-120"/>
              </a:rPr>
              <a:t>$ curl -X POST .../api/auth/login \
</a:t>
            </a:r>
            <a:endParaRPr lang="en-US" sz="900" dirty="0"/>
          </a:p>
          <a:p>
            <a:pPr marL="0" indent="0">
              <a:lnSpc>
                <a:spcPct val="100000"/>
              </a:lnSpc>
              <a:buNone/>
            </a:pPr>
            <a:r>
              <a:rPr lang="en-US" sz="900" dirty="0">
                <a:solidFill>
                  <a:srgbClr val="E8EDE9"/>
                </a:solidFill>
                <a:latin typeface="Courier New" pitchFamily="34" charset="0"/>
                <a:ea typeface="Courier New" pitchFamily="34" charset="-122"/>
                <a:cs typeface="Courier New" pitchFamily="34" charset="-120"/>
              </a:rPr>
              <a:t>   -H 'Content-Type: application/json' \
</a:t>
            </a:r>
            <a:endParaRPr lang="en-US" sz="900" dirty="0"/>
          </a:p>
          <a:p>
            <a:pPr marL="0" indent="0">
              <a:lnSpc>
                <a:spcPct val="100000"/>
              </a:lnSpc>
              <a:buNone/>
            </a:pPr>
            <a:r>
              <a:rPr lang="en-US" sz="900" dirty="0">
                <a:solidFill>
                  <a:srgbClr val="E8EDE9"/>
                </a:solidFill>
                <a:latin typeface="Courier New" pitchFamily="34" charset="0"/>
                <a:ea typeface="Courier New" pitchFamily="34" charset="-122"/>
                <a:cs typeface="Courier New" pitchFamily="34" charset="-120"/>
              </a:rPr>
              <a:t>   -d '{"username":"admin","password":"x"}'
</a:t>
            </a:r>
            <a:endParaRPr lang="en-US" sz="900" dirty="0"/>
          </a:p>
          <a:p>
            <a:pPr marL="0" indent="0">
              <a:lnSpc>
                <a:spcPct val="100000"/>
              </a:lnSpc>
              <a:buNone/>
            </a:pPr>
            <a:r>
              <a:rPr lang="en-US" sz="900" dirty="0">
                <a:solidFill>
                  <a:srgbClr val="C9E3D3"/>
                </a:solidFill>
                <a:latin typeface="Courier New" pitchFamily="34" charset="0"/>
                <a:ea typeface="Courier New" pitchFamily="34" charset="-122"/>
                <a:cs typeface="Courier New" pitchFamily="34" charset="-120"/>
              </a:rPr>
              <a:t>&lt; {"token":"eyJ...","tipo":"Bearer"}
</a:t>
            </a:r>
            <a:endParaRPr lang="en-US" sz="900" dirty="0"/>
          </a:p>
          <a:p>
            <a:pPr marL="0" indent="0">
              <a:lnSpc>
                <a:spcPct val="100000"/>
              </a:lnSpc>
              <a:buNone/>
            </a:pPr>
            <a:r>
              <a:rPr lang="en-US" sz="900" i="1" dirty="0">
                <a:solidFill>
                  <a:srgbClr val="8FB9A0"/>
                </a:solidFill>
                <a:latin typeface="Courier New" pitchFamily="34" charset="0"/>
                <a:ea typeface="Courier New" pitchFamily="34" charset="-122"/>
                <a:cs typeface="Courier New" pitchFamily="34" charset="-120"/>
              </a:rPr>
              <a:t># 2) llamada protegida con el token
</a:t>
            </a:r>
            <a:endParaRPr lang="en-US" sz="900" dirty="0"/>
          </a:p>
          <a:p>
            <a:pPr marL="0" indent="0">
              <a:lnSpc>
                <a:spcPct val="100000"/>
              </a:lnSpc>
              <a:buNone/>
            </a:pPr>
            <a:r>
              <a:rPr lang="en-US" sz="900" dirty="0">
                <a:solidFill>
                  <a:srgbClr val="E8EDE9"/>
                </a:solidFill>
                <a:latin typeface="Courier New" pitchFamily="34" charset="0"/>
                <a:ea typeface="Courier New" pitchFamily="34" charset="-122"/>
                <a:cs typeface="Courier New" pitchFamily="34" charset="-120"/>
              </a:rPr>
              <a:t>$ curl .../api/estudiantes \
</a:t>
            </a:r>
            <a:endParaRPr lang="en-US" sz="900" dirty="0"/>
          </a:p>
          <a:p>
            <a:pPr marL="0" indent="0">
              <a:lnSpc>
                <a:spcPct val="100000"/>
              </a:lnSpc>
              <a:buNone/>
            </a:pPr>
            <a:r>
              <a:rPr lang="en-US" sz="900" dirty="0">
                <a:solidFill>
                  <a:srgbClr val="E8EDE9"/>
                </a:solidFill>
                <a:latin typeface="Courier New" pitchFamily="34" charset="0"/>
                <a:ea typeface="Courier New" pitchFamily="34" charset="-122"/>
                <a:cs typeface="Courier New" pitchFamily="34" charset="-120"/>
              </a:rPr>
              <a:t>   -H 'Authorization: Bearer eyJ...'
</a:t>
            </a:r>
            <a:endParaRPr lang="en-US" sz="900" dirty="0"/>
          </a:p>
          <a:p>
            <a:pPr marL="0" indent="0">
              <a:lnSpc>
                <a:spcPct val="100000"/>
              </a:lnSpc>
              <a:buNone/>
            </a:pPr>
            <a:r>
              <a:rPr lang="en-US" sz="900" dirty="0">
                <a:solidFill>
                  <a:srgbClr val="C9E3D3"/>
                </a:solidFill>
                <a:latin typeface="Courier New" pitchFamily="34" charset="0"/>
                <a:ea typeface="Courier New" pitchFamily="34" charset="-122"/>
                <a:cs typeface="Courier New" pitchFamily="34" charset="-120"/>
              </a:rPr>
              <a:t>&lt; 200 OK   [ ... ]</a:t>
            </a:r>
            <a:endParaRPr lang="en-US" sz="900" dirty="0"/>
          </a:p>
        </p:txBody>
      </p:sp>
      <p:sp>
        <p:nvSpPr>
          <p:cNvPr id="11" name="Shape 9"/>
          <p:cNvSpPr/>
          <p:nvPr/>
        </p:nvSpPr>
        <p:spPr>
          <a:xfrm>
            <a:off x="6080760" y="1463040"/>
            <a:ext cx="1828800" cy="502920"/>
          </a:xfrm>
          <a:prstGeom prst="rect">
            <a:avLst/>
          </a:prstGeom>
          <a:solidFill>
            <a:srgbClr val="006633"/>
          </a:solidFill>
          <a:ln w="6350">
            <a:solidFill>
              <a:srgbClr val="D8E0D8"/>
            </a:solidFill>
            <a:prstDash val="solid"/>
          </a:ln>
        </p:spPr>
        <p:txBody>
          <a:bodyPr/>
          <a:lstStyle/>
          <a:p>
            <a:endParaRPr lang="es-ES"/>
          </a:p>
        </p:txBody>
      </p:sp>
      <p:sp>
        <p:nvSpPr>
          <p:cNvPr id="12" name="Text 10"/>
          <p:cNvSpPr/>
          <p:nvPr/>
        </p:nvSpPr>
        <p:spPr>
          <a:xfrm>
            <a:off x="6144768" y="1463040"/>
            <a:ext cx="1737360" cy="5029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Situacion</a:t>
            </a:r>
            <a:endParaRPr lang="en-US" sz="950" dirty="0"/>
          </a:p>
        </p:txBody>
      </p:sp>
      <p:sp>
        <p:nvSpPr>
          <p:cNvPr id="13" name="Shape 11"/>
          <p:cNvSpPr/>
          <p:nvPr/>
        </p:nvSpPr>
        <p:spPr>
          <a:xfrm>
            <a:off x="7909560" y="1463040"/>
            <a:ext cx="777240" cy="502920"/>
          </a:xfrm>
          <a:prstGeom prst="rect">
            <a:avLst/>
          </a:prstGeom>
          <a:solidFill>
            <a:srgbClr val="006633"/>
          </a:solidFill>
          <a:ln w="6350">
            <a:solidFill>
              <a:srgbClr val="D8E0D8"/>
            </a:solidFill>
            <a:prstDash val="solid"/>
          </a:ln>
        </p:spPr>
        <p:txBody>
          <a:bodyPr/>
          <a:lstStyle/>
          <a:p>
            <a:endParaRPr lang="es-ES"/>
          </a:p>
        </p:txBody>
      </p:sp>
      <p:sp>
        <p:nvSpPr>
          <p:cNvPr id="14" name="Text 12"/>
          <p:cNvSpPr/>
          <p:nvPr/>
        </p:nvSpPr>
        <p:spPr>
          <a:xfrm>
            <a:off x="7973568" y="1463040"/>
            <a:ext cx="685800" cy="5029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Respuesta</a:t>
            </a:r>
            <a:endParaRPr lang="en-US" sz="1000" dirty="0"/>
          </a:p>
        </p:txBody>
      </p:sp>
      <p:sp>
        <p:nvSpPr>
          <p:cNvPr id="15" name="Shape 13"/>
          <p:cNvSpPr/>
          <p:nvPr/>
        </p:nvSpPr>
        <p:spPr>
          <a:xfrm>
            <a:off x="6080760" y="1965960"/>
            <a:ext cx="1828800" cy="502920"/>
          </a:xfrm>
          <a:prstGeom prst="rect">
            <a:avLst/>
          </a:prstGeom>
          <a:solidFill>
            <a:srgbClr val="F1F4F0"/>
          </a:solidFill>
          <a:ln w="6350">
            <a:solidFill>
              <a:srgbClr val="D8E0D8"/>
            </a:solidFill>
            <a:prstDash val="solid"/>
          </a:ln>
        </p:spPr>
        <p:txBody>
          <a:bodyPr/>
          <a:lstStyle/>
          <a:p>
            <a:endParaRPr lang="es-ES"/>
          </a:p>
        </p:txBody>
      </p:sp>
      <p:sp>
        <p:nvSpPr>
          <p:cNvPr id="16" name="Text 14"/>
          <p:cNvSpPr/>
          <p:nvPr/>
        </p:nvSpPr>
        <p:spPr>
          <a:xfrm>
            <a:off x="6144768" y="1965960"/>
            <a:ext cx="1737360" cy="502920"/>
          </a:xfrm>
          <a:prstGeom prst="rect">
            <a:avLst/>
          </a:prstGeom>
          <a:noFill/>
          <a:ln/>
        </p:spPr>
        <p:txBody>
          <a:bodyPr wrap="square" lIns="0" tIns="0" rIns="0" bIns="0" rtlCol="0" anchor="ctr"/>
          <a:lstStyle/>
          <a:p>
            <a:pPr marL="0" indent="0">
              <a:buNone/>
            </a:pPr>
            <a:r>
              <a:rPr lang="en-US" sz="950" dirty="0">
                <a:solidFill>
                  <a:srgbClr val="1E2A22"/>
                </a:solidFill>
                <a:latin typeface="Calibri" pitchFamily="34" charset="0"/>
                <a:ea typeface="Calibri" pitchFamily="34" charset="-122"/>
                <a:cs typeface="Calibri" pitchFamily="34" charset="-120"/>
              </a:rPr>
              <a:t>Credenciales correctas</a:t>
            </a:r>
            <a:endParaRPr lang="en-US" sz="950" dirty="0"/>
          </a:p>
        </p:txBody>
      </p:sp>
      <p:sp>
        <p:nvSpPr>
          <p:cNvPr id="17" name="Shape 15"/>
          <p:cNvSpPr/>
          <p:nvPr/>
        </p:nvSpPr>
        <p:spPr>
          <a:xfrm>
            <a:off x="7909560" y="1965960"/>
            <a:ext cx="777240" cy="502920"/>
          </a:xfrm>
          <a:prstGeom prst="rect">
            <a:avLst/>
          </a:prstGeom>
          <a:solidFill>
            <a:srgbClr val="F1F4F0"/>
          </a:solidFill>
          <a:ln w="6350">
            <a:solidFill>
              <a:srgbClr val="D8E0D8"/>
            </a:solidFill>
            <a:prstDash val="solid"/>
          </a:ln>
        </p:spPr>
        <p:txBody>
          <a:bodyPr/>
          <a:lstStyle/>
          <a:p>
            <a:endParaRPr lang="es-ES"/>
          </a:p>
        </p:txBody>
      </p:sp>
      <p:sp>
        <p:nvSpPr>
          <p:cNvPr id="18" name="Text 16"/>
          <p:cNvSpPr/>
          <p:nvPr/>
        </p:nvSpPr>
        <p:spPr>
          <a:xfrm>
            <a:off x="7973568" y="1965960"/>
            <a:ext cx="685800" cy="502920"/>
          </a:xfrm>
          <a:prstGeom prst="rect">
            <a:avLst/>
          </a:prstGeom>
          <a:noFill/>
          <a:ln/>
        </p:spPr>
        <p:txBody>
          <a:bodyPr wrap="square" lIns="0" tIns="0" rIns="0" bIns="0" rtlCol="0" anchor="ctr"/>
          <a:lstStyle/>
          <a:p>
            <a:pPr marL="0" indent="0">
              <a:buNone/>
            </a:pPr>
            <a:r>
              <a:rPr lang="en-US" sz="1000" dirty="0">
                <a:solidFill>
                  <a:srgbClr val="006633"/>
                </a:solidFill>
                <a:latin typeface="Calibri" pitchFamily="34" charset="0"/>
                <a:ea typeface="Calibri" pitchFamily="34" charset="-122"/>
                <a:cs typeface="Calibri" pitchFamily="34" charset="-120"/>
              </a:rPr>
              <a:t>200 + token</a:t>
            </a:r>
            <a:endParaRPr lang="en-US" sz="1000" dirty="0"/>
          </a:p>
        </p:txBody>
      </p:sp>
      <p:sp>
        <p:nvSpPr>
          <p:cNvPr id="19" name="Shape 17"/>
          <p:cNvSpPr/>
          <p:nvPr/>
        </p:nvSpPr>
        <p:spPr>
          <a:xfrm>
            <a:off x="6080760" y="2468880"/>
            <a:ext cx="1828800" cy="502920"/>
          </a:xfrm>
          <a:prstGeom prst="rect">
            <a:avLst/>
          </a:prstGeom>
          <a:solidFill>
            <a:srgbClr val="FFFFFF"/>
          </a:solidFill>
          <a:ln w="6350">
            <a:solidFill>
              <a:srgbClr val="D8E0D8"/>
            </a:solidFill>
            <a:prstDash val="solid"/>
          </a:ln>
        </p:spPr>
        <p:txBody>
          <a:bodyPr/>
          <a:lstStyle/>
          <a:p>
            <a:endParaRPr lang="es-ES"/>
          </a:p>
        </p:txBody>
      </p:sp>
      <p:sp>
        <p:nvSpPr>
          <p:cNvPr id="20" name="Text 18"/>
          <p:cNvSpPr/>
          <p:nvPr/>
        </p:nvSpPr>
        <p:spPr>
          <a:xfrm>
            <a:off x="6144768" y="2468880"/>
            <a:ext cx="1737360" cy="502920"/>
          </a:xfrm>
          <a:prstGeom prst="rect">
            <a:avLst/>
          </a:prstGeom>
          <a:noFill/>
          <a:ln/>
        </p:spPr>
        <p:txBody>
          <a:bodyPr wrap="square" lIns="0" tIns="0" rIns="0" bIns="0" rtlCol="0" anchor="ctr"/>
          <a:lstStyle/>
          <a:p>
            <a:pPr marL="0" indent="0">
              <a:buNone/>
            </a:pPr>
            <a:r>
              <a:rPr lang="en-US" sz="950" dirty="0">
                <a:solidFill>
                  <a:srgbClr val="1E2A22"/>
                </a:solidFill>
                <a:latin typeface="Calibri" pitchFamily="34" charset="0"/>
                <a:ea typeface="Calibri" pitchFamily="34" charset="-122"/>
                <a:cs typeface="Calibri" pitchFamily="34" charset="-120"/>
              </a:rPr>
              <a:t>Credenciales incorrectas</a:t>
            </a:r>
            <a:endParaRPr lang="en-US" sz="950" dirty="0"/>
          </a:p>
        </p:txBody>
      </p:sp>
      <p:sp>
        <p:nvSpPr>
          <p:cNvPr id="21" name="Shape 19"/>
          <p:cNvSpPr/>
          <p:nvPr/>
        </p:nvSpPr>
        <p:spPr>
          <a:xfrm>
            <a:off x="7909560" y="2468880"/>
            <a:ext cx="777240" cy="502920"/>
          </a:xfrm>
          <a:prstGeom prst="rect">
            <a:avLst/>
          </a:prstGeom>
          <a:solidFill>
            <a:srgbClr val="FFFFFF"/>
          </a:solidFill>
          <a:ln w="6350">
            <a:solidFill>
              <a:srgbClr val="D8E0D8"/>
            </a:solidFill>
            <a:prstDash val="solid"/>
          </a:ln>
        </p:spPr>
        <p:txBody>
          <a:bodyPr/>
          <a:lstStyle/>
          <a:p>
            <a:endParaRPr lang="es-ES"/>
          </a:p>
        </p:txBody>
      </p:sp>
      <p:sp>
        <p:nvSpPr>
          <p:cNvPr id="22" name="Text 20"/>
          <p:cNvSpPr/>
          <p:nvPr/>
        </p:nvSpPr>
        <p:spPr>
          <a:xfrm>
            <a:off x="7973568" y="2468880"/>
            <a:ext cx="685800" cy="502920"/>
          </a:xfrm>
          <a:prstGeom prst="rect">
            <a:avLst/>
          </a:prstGeom>
          <a:noFill/>
          <a:ln/>
        </p:spPr>
        <p:txBody>
          <a:bodyPr wrap="square" lIns="0" tIns="0" rIns="0" bIns="0" rtlCol="0" anchor="ctr"/>
          <a:lstStyle/>
          <a:p>
            <a:pPr marL="0" indent="0">
              <a:buNone/>
            </a:pPr>
            <a:r>
              <a:rPr lang="en-US" sz="1000" dirty="0">
                <a:solidFill>
                  <a:srgbClr val="006633"/>
                </a:solidFill>
                <a:latin typeface="Calibri" pitchFamily="34" charset="0"/>
                <a:ea typeface="Calibri" pitchFamily="34" charset="-122"/>
                <a:cs typeface="Calibri" pitchFamily="34" charset="-120"/>
              </a:rPr>
              <a:t>401</a:t>
            </a:r>
            <a:endParaRPr lang="en-US" sz="1000" dirty="0"/>
          </a:p>
        </p:txBody>
      </p:sp>
      <p:sp>
        <p:nvSpPr>
          <p:cNvPr id="23" name="Shape 21"/>
          <p:cNvSpPr/>
          <p:nvPr/>
        </p:nvSpPr>
        <p:spPr>
          <a:xfrm>
            <a:off x="6080760" y="2971800"/>
            <a:ext cx="1828800" cy="502920"/>
          </a:xfrm>
          <a:prstGeom prst="rect">
            <a:avLst/>
          </a:prstGeom>
          <a:solidFill>
            <a:srgbClr val="F1F4F0"/>
          </a:solidFill>
          <a:ln w="6350">
            <a:solidFill>
              <a:srgbClr val="D8E0D8"/>
            </a:solidFill>
            <a:prstDash val="solid"/>
          </a:ln>
        </p:spPr>
        <p:txBody>
          <a:bodyPr/>
          <a:lstStyle/>
          <a:p>
            <a:endParaRPr lang="es-ES"/>
          </a:p>
        </p:txBody>
      </p:sp>
      <p:sp>
        <p:nvSpPr>
          <p:cNvPr id="24" name="Text 22"/>
          <p:cNvSpPr/>
          <p:nvPr/>
        </p:nvSpPr>
        <p:spPr>
          <a:xfrm>
            <a:off x="6144768" y="2971800"/>
            <a:ext cx="1737360" cy="502920"/>
          </a:xfrm>
          <a:prstGeom prst="rect">
            <a:avLst/>
          </a:prstGeom>
          <a:noFill/>
          <a:ln/>
        </p:spPr>
        <p:txBody>
          <a:bodyPr wrap="square" lIns="0" tIns="0" rIns="0" bIns="0" rtlCol="0" anchor="ctr"/>
          <a:lstStyle/>
          <a:p>
            <a:pPr marL="0" indent="0">
              <a:buNone/>
            </a:pPr>
            <a:r>
              <a:rPr lang="en-US" sz="950" dirty="0">
                <a:solidFill>
                  <a:srgbClr val="1E2A22"/>
                </a:solidFill>
                <a:latin typeface="Calibri" pitchFamily="34" charset="0"/>
                <a:ea typeface="Calibri" pitchFamily="34" charset="-122"/>
                <a:cs typeface="Calibri" pitchFamily="34" charset="-120"/>
              </a:rPr>
              <a:t>Sin token (ruta protegida)</a:t>
            </a:r>
            <a:endParaRPr lang="en-US" sz="950" dirty="0"/>
          </a:p>
        </p:txBody>
      </p:sp>
      <p:sp>
        <p:nvSpPr>
          <p:cNvPr id="25" name="Shape 23"/>
          <p:cNvSpPr/>
          <p:nvPr/>
        </p:nvSpPr>
        <p:spPr>
          <a:xfrm>
            <a:off x="7909560" y="2971800"/>
            <a:ext cx="777240" cy="502920"/>
          </a:xfrm>
          <a:prstGeom prst="rect">
            <a:avLst/>
          </a:prstGeom>
          <a:solidFill>
            <a:srgbClr val="F1F4F0"/>
          </a:solidFill>
          <a:ln w="6350">
            <a:solidFill>
              <a:srgbClr val="D8E0D8"/>
            </a:solidFill>
            <a:prstDash val="solid"/>
          </a:ln>
        </p:spPr>
        <p:txBody>
          <a:bodyPr/>
          <a:lstStyle/>
          <a:p>
            <a:endParaRPr lang="es-ES"/>
          </a:p>
        </p:txBody>
      </p:sp>
      <p:sp>
        <p:nvSpPr>
          <p:cNvPr id="26" name="Text 24"/>
          <p:cNvSpPr/>
          <p:nvPr/>
        </p:nvSpPr>
        <p:spPr>
          <a:xfrm>
            <a:off x="7973568" y="2971800"/>
            <a:ext cx="685800" cy="502920"/>
          </a:xfrm>
          <a:prstGeom prst="rect">
            <a:avLst/>
          </a:prstGeom>
          <a:noFill/>
          <a:ln/>
        </p:spPr>
        <p:txBody>
          <a:bodyPr wrap="square" lIns="0" tIns="0" rIns="0" bIns="0" rtlCol="0" anchor="ctr"/>
          <a:lstStyle/>
          <a:p>
            <a:pPr marL="0" indent="0">
              <a:buNone/>
            </a:pPr>
            <a:r>
              <a:rPr lang="en-US" sz="1000" dirty="0">
                <a:solidFill>
                  <a:srgbClr val="006633"/>
                </a:solidFill>
                <a:latin typeface="Calibri" pitchFamily="34" charset="0"/>
                <a:ea typeface="Calibri" pitchFamily="34" charset="-122"/>
                <a:cs typeface="Calibri" pitchFamily="34" charset="-120"/>
              </a:rPr>
              <a:t>401</a:t>
            </a:r>
            <a:endParaRPr lang="en-US" sz="1000" dirty="0"/>
          </a:p>
        </p:txBody>
      </p:sp>
      <p:sp>
        <p:nvSpPr>
          <p:cNvPr id="27" name="Shape 25"/>
          <p:cNvSpPr/>
          <p:nvPr/>
        </p:nvSpPr>
        <p:spPr>
          <a:xfrm>
            <a:off x="6080760" y="3474720"/>
            <a:ext cx="1828800" cy="502920"/>
          </a:xfrm>
          <a:prstGeom prst="rect">
            <a:avLst/>
          </a:prstGeom>
          <a:solidFill>
            <a:srgbClr val="FFFFFF"/>
          </a:solidFill>
          <a:ln w="6350">
            <a:solidFill>
              <a:srgbClr val="D8E0D8"/>
            </a:solidFill>
            <a:prstDash val="solid"/>
          </a:ln>
        </p:spPr>
        <p:txBody>
          <a:bodyPr/>
          <a:lstStyle/>
          <a:p>
            <a:endParaRPr lang="es-ES"/>
          </a:p>
        </p:txBody>
      </p:sp>
      <p:sp>
        <p:nvSpPr>
          <p:cNvPr id="28" name="Text 26"/>
          <p:cNvSpPr/>
          <p:nvPr/>
        </p:nvSpPr>
        <p:spPr>
          <a:xfrm>
            <a:off x="6144768" y="3474720"/>
            <a:ext cx="1737360" cy="502920"/>
          </a:xfrm>
          <a:prstGeom prst="rect">
            <a:avLst/>
          </a:prstGeom>
          <a:noFill/>
          <a:ln/>
        </p:spPr>
        <p:txBody>
          <a:bodyPr wrap="square" lIns="0" tIns="0" rIns="0" bIns="0" rtlCol="0" anchor="ctr"/>
          <a:lstStyle/>
          <a:p>
            <a:pPr marL="0" indent="0">
              <a:buNone/>
            </a:pPr>
            <a:r>
              <a:rPr lang="en-US" sz="950" dirty="0">
                <a:solidFill>
                  <a:srgbClr val="1E2A22"/>
                </a:solidFill>
                <a:latin typeface="Calibri" pitchFamily="34" charset="0"/>
                <a:ea typeface="Calibri" pitchFamily="34" charset="-122"/>
                <a:cs typeface="Calibri" pitchFamily="34" charset="-120"/>
              </a:rPr>
              <a:t>Token valido, rol insuficiente</a:t>
            </a:r>
            <a:endParaRPr lang="en-US" sz="950" dirty="0"/>
          </a:p>
        </p:txBody>
      </p:sp>
      <p:sp>
        <p:nvSpPr>
          <p:cNvPr id="29" name="Shape 27"/>
          <p:cNvSpPr/>
          <p:nvPr/>
        </p:nvSpPr>
        <p:spPr>
          <a:xfrm>
            <a:off x="7909560" y="3474720"/>
            <a:ext cx="777240" cy="502920"/>
          </a:xfrm>
          <a:prstGeom prst="rect">
            <a:avLst/>
          </a:prstGeom>
          <a:solidFill>
            <a:srgbClr val="FFFFFF"/>
          </a:solidFill>
          <a:ln w="6350">
            <a:solidFill>
              <a:srgbClr val="D8E0D8"/>
            </a:solidFill>
            <a:prstDash val="solid"/>
          </a:ln>
        </p:spPr>
        <p:txBody>
          <a:bodyPr/>
          <a:lstStyle/>
          <a:p>
            <a:endParaRPr lang="es-ES"/>
          </a:p>
        </p:txBody>
      </p:sp>
      <p:sp>
        <p:nvSpPr>
          <p:cNvPr id="30" name="Text 28"/>
          <p:cNvSpPr/>
          <p:nvPr/>
        </p:nvSpPr>
        <p:spPr>
          <a:xfrm>
            <a:off x="7973568" y="3474720"/>
            <a:ext cx="685800" cy="502920"/>
          </a:xfrm>
          <a:prstGeom prst="rect">
            <a:avLst/>
          </a:prstGeom>
          <a:noFill/>
          <a:ln/>
        </p:spPr>
        <p:txBody>
          <a:bodyPr wrap="square" lIns="0" tIns="0" rIns="0" bIns="0" rtlCol="0" anchor="ctr"/>
          <a:lstStyle/>
          <a:p>
            <a:pPr marL="0" indent="0">
              <a:buNone/>
            </a:pPr>
            <a:r>
              <a:rPr lang="en-US" sz="1000" dirty="0">
                <a:solidFill>
                  <a:srgbClr val="006633"/>
                </a:solidFill>
                <a:latin typeface="Calibri" pitchFamily="34" charset="0"/>
                <a:ea typeface="Calibri" pitchFamily="34" charset="-122"/>
                <a:cs typeface="Calibri" pitchFamily="34" charset="-120"/>
              </a:rPr>
              <a:t>403</a:t>
            </a:r>
            <a:endParaRPr lang="en-US" sz="1000" dirty="0"/>
          </a:p>
        </p:txBody>
      </p:sp>
      <p:sp>
        <p:nvSpPr>
          <p:cNvPr id="31" name="Shape 29"/>
          <p:cNvSpPr/>
          <p:nvPr/>
        </p:nvSpPr>
        <p:spPr>
          <a:xfrm>
            <a:off x="6080760" y="3977640"/>
            <a:ext cx="1828800" cy="502920"/>
          </a:xfrm>
          <a:prstGeom prst="rect">
            <a:avLst/>
          </a:prstGeom>
          <a:solidFill>
            <a:srgbClr val="F1F4F0"/>
          </a:solidFill>
          <a:ln w="6350">
            <a:solidFill>
              <a:srgbClr val="D8E0D8"/>
            </a:solidFill>
            <a:prstDash val="solid"/>
          </a:ln>
        </p:spPr>
        <p:txBody>
          <a:bodyPr/>
          <a:lstStyle/>
          <a:p>
            <a:endParaRPr lang="es-ES"/>
          </a:p>
        </p:txBody>
      </p:sp>
      <p:sp>
        <p:nvSpPr>
          <p:cNvPr id="32" name="Text 30"/>
          <p:cNvSpPr/>
          <p:nvPr/>
        </p:nvSpPr>
        <p:spPr>
          <a:xfrm>
            <a:off x="6144768" y="3977640"/>
            <a:ext cx="1737360" cy="502920"/>
          </a:xfrm>
          <a:prstGeom prst="rect">
            <a:avLst/>
          </a:prstGeom>
          <a:noFill/>
          <a:ln/>
        </p:spPr>
        <p:txBody>
          <a:bodyPr wrap="square" lIns="0" tIns="0" rIns="0" bIns="0" rtlCol="0" anchor="ctr"/>
          <a:lstStyle/>
          <a:p>
            <a:pPr marL="0" indent="0">
              <a:buNone/>
            </a:pPr>
            <a:r>
              <a:rPr lang="en-US" sz="950" dirty="0">
                <a:solidFill>
                  <a:srgbClr val="1E2A22"/>
                </a:solidFill>
                <a:latin typeface="Calibri" pitchFamily="34" charset="0"/>
                <a:ea typeface="Calibri" pitchFamily="34" charset="-122"/>
                <a:cs typeface="Calibri" pitchFamily="34" charset="-120"/>
              </a:rPr>
              <a:t>Token expirado o alterado</a:t>
            </a:r>
            <a:endParaRPr lang="en-US" sz="950" dirty="0"/>
          </a:p>
        </p:txBody>
      </p:sp>
      <p:sp>
        <p:nvSpPr>
          <p:cNvPr id="33" name="Shape 31"/>
          <p:cNvSpPr/>
          <p:nvPr/>
        </p:nvSpPr>
        <p:spPr>
          <a:xfrm>
            <a:off x="7909560" y="3977640"/>
            <a:ext cx="777240" cy="502920"/>
          </a:xfrm>
          <a:prstGeom prst="rect">
            <a:avLst/>
          </a:prstGeom>
          <a:solidFill>
            <a:srgbClr val="F1F4F0"/>
          </a:solidFill>
          <a:ln w="6350">
            <a:solidFill>
              <a:srgbClr val="D8E0D8"/>
            </a:solidFill>
            <a:prstDash val="solid"/>
          </a:ln>
        </p:spPr>
        <p:txBody>
          <a:bodyPr/>
          <a:lstStyle/>
          <a:p>
            <a:endParaRPr lang="es-ES"/>
          </a:p>
        </p:txBody>
      </p:sp>
      <p:sp>
        <p:nvSpPr>
          <p:cNvPr id="34" name="Text 32"/>
          <p:cNvSpPr/>
          <p:nvPr/>
        </p:nvSpPr>
        <p:spPr>
          <a:xfrm>
            <a:off x="7973568" y="3977640"/>
            <a:ext cx="685800" cy="502920"/>
          </a:xfrm>
          <a:prstGeom prst="rect">
            <a:avLst/>
          </a:prstGeom>
          <a:noFill/>
          <a:ln/>
        </p:spPr>
        <p:txBody>
          <a:bodyPr wrap="square" lIns="0" tIns="0" rIns="0" bIns="0" rtlCol="0" anchor="ctr"/>
          <a:lstStyle/>
          <a:p>
            <a:pPr marL="0" indent="0">
              <a:buNone/>
            </a:pPr>
            <a:r>
              <a:rPr lang="en-US" sz="1000" dirty="0">
                <a:solidFill>
                  <a:srgbClr val="006633"/>
                </a:solidFill>
                <a:latin typeface="Calibri" pitchFamily="34" charset="0"/>
                <a:ea typeface="Calibri" pitchFamily="34" charset="-122"/>
                <a:cs typeface="Calibri" pitchFamily="34" charset="-120"/>
              </a:rPr>
              <a:t>401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PASO 11 — DOCUMENTAR</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Swagger con el esquema Bearer</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8092440" y="411480"/>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8092440" y="411480"/>
            <a:ext cx="566928" cy="566928"/>
          </a:xfrm>
          <a:prstGeom prst="rect">
            <a:avLst/>
          </a:prstGeom>
          <a:noFill/>
          <a:ln/>
        </p:spPr>
        <p:txBody>
          <a:bodyPr wrap="square" lIns="0" tIns="0" rIns="0" bIns="0" rtlCol="0" anchor="ctr"/>
          <a:lstStyle/>
          <a:p>
            <a:pPr marL="0" indent="0" algn="ctr">
              <a:buNone/>
            </a:pPr>
            <a:r>
              <a:rPr lang="en-US" sz="2600" b="1" dirty="0">
                <a:solidFill>
                  <a:srgbClr val="E8B923"/>
                </a:solidFill>
                <a:latin typeface="Cambria" pitchFamily="34" charset="0"/>
                <a:ea typeface="Cambria" pitchFamily="34" charset="-122"/>
                <a:cs typeface="Cambria" pitchFamily="34" charset="-120"/>
              </a:rPr>
              <a:t>11</a:t>
            </a:r>
            <a:endParaRPr lang="en-US" sz="2600" dirty="0"/>
          </a:p>
        </p:txBody>
      </p:sp>
      <p:sp>
        <p:nvSpPr>
          <p:cNvPr id="8" name="Shape 6"/>
          <p:cNvSpPr/>
          <p:nvPr/>
        </p:nvSpPr>
        <p:spPr>
          <a:xfrm>
            <a:off x="457200" y="1371600"/>
            <a:ext cx="5486400" cy="2606040"/>
          </a:xfrm>
          <a:prstGeom prst="roundRect">
            <a:avLst>
              <a:gd name="adj" fmla="val 2105"/>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621792" y="1444752"/>
            <a:ext cx="521208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config/OpenApiConfig.java</a:t>
            </a:r>
            <a:endParaRPr lang="en-US" sz="950" dirty="0"/>
          </a:p>
        </p:txBody>
      </p:sp>
      <p:sp>
        <p:nvSpPr>
          <p:cNvPr id="10" name="Text 8"/>
          <p:cNvSpPr/>
          <p:nvPr/>
        </p:nvSpPr>
        <p:spPr>
          <a:xfrm>
            <a:off x="621792" y="1700784"/>
            <a:ext cx="5175504" cy="2185416"/>
          </a:xfrm>
          <a:prstGeom prst="rect">
            <a:avLst/>
          </a:prstGeom>
          <a:noFill/>
          <a:ln/>
        </p:spPr>
        <p:txBody>
          <a:bodyPr wrap="square" lIns="0" tIns="0" rIns="0" bIns="0" rtlCol="0" anchor="t"/>
          <a:lstStyle/>
          <a:p>
            <a:pPr marL="0" indent="0">
              <a:lnSpc>
                <a:spcPct val="102000"/>
              </a:lnSpc>
              <a:buNone/>
            </a:pPr>
            <a:r>
              <a:rPr lang="en-US" sz="930" b="1" dirty="0">
                <a:solidFill>
                  <a:srgbClr val="7B2FBE"/>
                </a:solidFill>
                <a:latin typeface="Courier New" pitchFamily="34" charset="0"/>
                <a:ea typeface="Courier New" pitchFamily="34" charset="-122"/>
                <a:cs typeface="Courier New" pitchFamily="34" charset="-120"/>
              </a:rPr>
              <a:t>@Configuration</a:t>
            </a:r>
            <a:endParaRPr lang="en-US" sz="930" dirty="0"/>
          </a:p>
          <a:p>
            <a:pPr marL="0" indent="0">
              <a:lnSpc>
                <a:spcPct val="102000"/>
              </a:lnSpc>
              <a:buNone/>
            </a:pPr>
            <a:r>
              <a:rPr lang="en-US" sz="930" b="1" dirty="0">
                <a:solidFill>
                  <a:srgbClr val="7B2FBE"/>
                </a:solidFill>
                <a:latin typeface="Courier New" pitchFamily="34" charset="0"/>
                <a:ea typeface="Courier New" pitchFamily="34" charset="-122"/>
                <a:cs typeface="Courier New" pitchFamily="34" charset="-120"/>
              </a:rPr>
              <a:t>@OpenAPIDefinition</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info = </a:t>
            </a:r>
            <a:r>
              <a:rPr lang="en-US" sz="930" b="1" dirty="0">
                <a:solidFill>
                  <a:srgbClr val="7B2FBE"/>
                </a:solidFill>
                <a:latin typeface="Courier New" pitchFamily="34" charset="0"/>
                <a:ea typeface="Courier New" pitchFamily="34" charset="-122"/>
                <a:cs typeface="Courier New" pitchFamily="34" charset="-120"/>
              </a:rPr>
              <a:t>@Info</a:t>
            </a:r>
            <a:r>
              <a:rPr lang="en-US" sz="930" dirty="0">
                <a:solidFill>
                  <a:srgbClr val="383A42"/>
                </a:solidFill>
                <a:latin typeface="Courier New" pitchFamily="34" charset="0"/>
                <a:ea typeface="Courier New" pitchFamily="34" charset="-122"/>
                <a:cs typeface="Courier New" pitchFamily="34" charset="-120"/>
              </a:rPr>
              <a:t>(title = </a:t>
            </a:r>
            <a:r>
              <a:rPr lang="en-US" sz="930" dirty="0">
                <a:solidFill>
                  <a:srgbClr val="C41A16"/>
                </a:solidFill>
                <a:latin typeface="Courier New" pitchFamily="34" charset="0"/>
                <a:ea typeface="Courier New" pitchFamily="34" charset="-122"/>
                <a:cs typeface="Courier New" pitchFamily="34" charset="-120"/>
              </a:rPr>
              <a:t>"API Academica UTEQ"</a:t>
            </a:r>
            <a:r>
              <a:rPr lang="en-US" sz="930" dirty="0">
                <a:solidFill>
                  <a:srgbClr val="383A42"/>
                </a:solidFill>
                <a:latin typeface="Courier New" pitchFamily="34" charset="0"/>
                <a:ea typeface="Courier New" pitchFamily="34" charset="-122"/>
                <a:cs typeface="Courier New" pitchFamily="34" charset="-120"/>
              </a:rPr>
              <a:t>, version = </a:t>
            </a:r>
            <a:r>
              <a:rPr lang="en-US" sz="930" dirty="0">
                <a:solidFill>
                  <a:srgbClr val="C41A16"/>
                </a:solidFill>
                <a:latin typeface="Courier New" pitchFamily="34" charset="0"/>
                <a:ea typeface="Courier New" pitchFamily="34" charset="-122"/>
                <a:cs typeface="Courier New" pitchFamily="34" charset="-120"/>
              </a:rPr>
              <a:t>"1.0"</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security = </a:t>
            </a:r>
            <a:r>
              <a:rPr lang="en-US" sz="930" b="1" dirty="0">
                <a:solidFill>
                  <a:srgbClr val="7B2FBE"/>
                </a:solidFill>
                <a:latin typeface="Courier New" pitchFamily="34" charset="0"/>
                <a:ea typeface="Courier New" pitchFamily="34" charset="-122"/>
                <a:cs typeface="Courier New" pitchFamily="34" charset="-120"/>
              </a:rPr>
              <a:t>@SecurityRequirement</a:t>
            </a:r>
            <a:r>
              <a:rPr lang="en-US" sz="930" dirty="0">
                <a:solidFill>
                  <a:srgbClr val="383A42"/>
                </a:solidFill>
                <a:latin typeface="Courier New" pitchFamily="34" charset="0"/>
                <a:ea typeface="Courier New" pitchFamily="34" charset="-122"/>
                <a:cs typeface="Courier New" pitchFamily="34" charset="-120"/>
              </a:rPr>
              <a:t>(name = </a:t>
            </a:r>
            <a:r>
              <a:rPr lang="en-US" sz="930" dirty="0">
                <a:solidFill>
                  <a:srgbClr val="C41A16"/>
                </a:solidFill>
                <a:latin typeface="Courier New" pitchFamily="34" charset="0"/>
                <a:ea typeface="Courier New" pitchFamily="34" charset="-122"/>
                <a:cs typeface="Courier New" pitchFamily="34" charset="-120"/>
              </a:rPr>
              <a:t>"bearerAuth"</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b="1" dirty="0">
                <a:solidFill>
                  <a:srgbClr val="7B2FBE"/>
                </a:solidFill>
                <a:latin typeface="Courier New" pitchFamily="34" charset="0"/>
                <a:ea typeface="Courier New" pitchFamily="34" charset="-122"/>
                <a:cs typeface="Courier New" pitchFamily="34" charset="-120"/>
              </a:rPr>
              <a:t>@SecurityScheme</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name = </a:t>
            </a:r>
            <a:r>
              <a:rPr lang="en-US" sz="930" dirty="0">
                <a:solidFill>
                  <a:srgbClr val="C41A16"/>
                </a:solidFill>
                <a:latin typeface="Courier New" pitchFamily="34" charset="0"/>
                <a:ea typeface="Courier New" pitchFamily="34" charset="-122"/>
                <a:cs typeface="Courier New" pitchFamily="34" charset="-120"/>
              </a:rPr>
              <a:t>"bearerAuth"</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type = SecuritySchemeType.HTTP,</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scheme = </a:t>
            </a:r>
            <a:r>
              <a:rPr lang="en-US" sz="930" dirty="0">
                <a:solidFill>
                  <a:srgbClr val="C41A16"/>
                </a:solidFill>
                <a:latin typeface="Courier New" pitchFamily="34" charset="0"/>
                <a:ea typeface="Courier New" pitchFamily="34" charset="-122"/>
                <a:cs typeface="Courier New" pitchFamily="34" charset="-120"/>
              </a:rPr>
              <a:t>"bearer"</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bearerFormat = </a:t>
            </a:r>
            <a:r>
              <a:rPr lang="en-US" sz="930" dirty="0">
                <a:solidFill>
                  <a:srgbClr val="C41A16"/>
                </a:solidFill>
                <a:latin typeface="Courier New" pitchFamily="34" charset="0"/>
                <a:ea typeface="Courier New" pitchFamily="34" charset="-122"/>
                <a:cs typeface="Courier New" pitchFamily="34" charset="-120"/>
              </a:rPr>
              <a:t>"JWT"</a:t>
            </a:r>
            <a:r>
              <a:rPr lang="en-US" sz="930" dirty="0">
                <a:solidFill>
                  <a:srgbClr val="383A42"/>
                </a:solidFill>
                <a:latin typeface="Courier New" pitchFamily="34" charset="0"/>
                <a:ea typeface="Courier New" pitchFamily="34" charset="-122"/>
                <a:cs typeface="Courier New" pitchFamily="34" charset="-120"/>
              </a:rPr>
              <a:t>)</a:t>
            </a:r>
            <a:endParaRPr lang="en-US" sz="930" dirty="0"/>
          </a:p>
          <a:p>
            <a:pPr marL="0" indent="0">
              <a:lnSpc>
                <a:spcPct val="102000"/>
              </a:lnSpc>
              <a:buNone/>
            </a:pPr>
            <a:r>
              <a:rPr lang="en-US" sz="930" b="1" dirty="0">
                <a:solidFill>
                  <a:srgbClr val="0057AE"/>
                </a:solidFill>
                <a:latin typeface="Courier New" pitchFamily="34" charset="0"/>
                <a:ea typeface="Courier New" pitchFamily="34" charset="-122"/>
                <a:cs typeface="Courier New" pitchFamily="34" charset="-120"/>
              </a:rPr>
              <a:t>public</a:t>
            </a:r>
            <a:r>
              <a:rPr lang="en-US" sz="930" dirty="0">
                <a:solidFill>
                  <a:srgbClr val="383A42"/>
                </a:solidFill>
                <a:latin typeface="Courier New" pitchFamily="34" charset="0"/>
                <a:ea typeface="Courier New" pitchFamily="34" charset="-122"/>
                <a:cs typeface="Courier New" pitchFamily="34" charset="-120"/>
              </a:rPr>
              <a:t> </a:t>
            </a:r>
            <a:r>
              <a:rPr lang="en-US" sz="930" b="1" dirty="0">
                <a:solidFill>
                  <a:srgbClr val="0057AE"/>
                </a:solidFill>
                <a:latin typeface="Courier New" pitchFamily="34" charset="0"/>
                <a:ea typeface="Courier New" pitchFamily="34" charset="-122"/>
                <a:cs typeface="Courier New" pitchFamily="34" charset="-120"/>
              </a:rPr>
              <a:t>class</a:t>
            </a:r>
            <a:r>
              <a:rPr lang="en-US" sz="930" dirty="0">
                <a:solidFill>
                  <a:srgbClr val="383A42"/>
                </a:solidFill>
                <a:latin typeface="Courier New" pitchFamily="34" charset="0"/>
                <a:ea typeface="Courier New" pitchFamily="34" charset="-122"/>
                <a:cs typeface="Courier New" pitchFamily="34" charset="-120"/>
              </a:rPr>
              <a:t> </a:t>
            </a:r>
            <a:r>
              <a:rPr lang="en-US" sz="930" dirty="0">
                <a:solidFill>
                  <a:srgbClr val="2D8000"/>
                </a:solidFill>
                <a:latin typeface="Courier New" pitchFamily="34" charset="0"/>
                <a:ea typeface="Courier New" pitchFamily="34" charset="-122"/>
                <a:cs typeface="Courier New" pitchFamily="34" charset="-120"/>
              </a:rPr>
              <a:t>OpenApiConfig</a:t>
            </a:r>
            <a:r>
              <a:rPr lang="en-US" sz="930" dirty="0">
                <a:solidFill>
                  <a:srgbClr val="383A42"/>
                </a:solidFill>
                <a:latin typeface="Courier New" pitchFamily="34" charset="0"/>
                <a:ea typeface="Courier New" pitchFamily="34" charset="-122"/>
                <a:cs typeface="Courier New" pitchFamily="34" charset="-120"/>
              </a:rPr>
              <a:t> { }</a:t>
            </a:r>
            <a:endParaRPr lang="en-US" sz="930" dirty="0"/>
          </a:p>
        </p:txBody>
      </p:sp>
      <p:sp>
        <p:nvSpPr>
          <p:cNvPr id="11" name="Shape 9"/>
          <p:cNvSpPr/>
          <p:nvPr/>
        </p:nvSpPr>
        <p:spPr>
          <a:xfrm>
            <a:off x="6080760" y="1371600"/>
            <a:ext cx="2606040" cy="2606040"/>
          </a:xfrm>
          <a:prstGeom prst="roundRect">
            <a:avLst>
              <a:gd name="adj" fmla="val 2807"/>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Shape 10"/>
          <p:cNvSpPr/>
          <p:nvPr/>
        </p:nvSpPr>
        <p:spPr>
          <a:xfrm>
            <a:off x="6263640" y="1536192"/>
            <a:ext cx="457200" cy="45720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3" name="Image 0" descr="preencoded.png"/>
          <p:cNvPicPr>
            <a:picLocks noChangeAspect="1"/>
          </p:cNvPicPr>
          <p:nvPr/>
        </p:nvPicPr>
        <p:blipFill>
          <a:blip r:embed="rId3"/>
          <a:stretch>
            <a:fillRect/>
          </a:stretch>
        </p:blipFill>
        <p:spPr>
          <a:xfrm>
            <a:off x="6382512" y="1655064"/>
            <a:ext cx="219456" cy="219456"/>
          </a:xfrm>
          <a:prstGeom prst="rect">
            <a:avLst/>
          </a:prstGeom>
        </p:spPr>
      </p:pic>
      <p:sp>
        <p:nvSpPr>
          <p:cNvPr id="14" name="Text 11"/>
          <p:cNvSpPr/>
          <p:nvPr/>
        </p:nvSpPr>
        <p:spPr>
          <a:xfrm>
            <a:off x="6812280" y="1554480"/>
            <a:ext cx="1828800" cy="411480"/>
          </a:xfrm>
          <a:prstGeom prst="rect">
            <a:avLst/>
          </a:prstGeom>
          <a:noFill/>
          <a:ln/>
        </p:spPr>
        <p:txBody>
          <a:bodyPr wrap="square" lIns="0" tIns="0" rIns="0" bIns="0" rtlCol="0" anchor="ctr"/>
          <a:lstStyle/>
          <a:p>
            <a:pPr marL="0" indent="0">
              <a:buNone/>
            </a:pPr>
            <a:r>
              <a:rPr lang="en-US" sz="1250" b="1" dirty="0">
                <a:solidFill>
                  <a:srgbClr val="006633"/>
                </a:solidFill>
                <a:latin typeface="Calibri" pitchFamily="34" charset="0"/>
                <a:ea typeface="Calibri" pitchFamily="34" charset="-122"/>
                <a:cs typeface="Calibri" pitchFamily="34" charset="-120"/>
              </a:rPr>
              <a:t>Boton Authorize</a:t>
            </a:r>
            <a:endParaRPr lang="en-US" sz="1250" dirty="0"/>
          </a:p>
        </p:txBody>
      </p:sp>
      <p:sp>
        <p:nvSpPr>
          <p:cNvPr id="15" name="Text 12"/>
          <p:cNvSpPr/>
          <p:nvPr/>
        </p:nvSpPr>
        <p:spPr>
          <a:xfrm>
            <a:off x="6245352" y="2121408"/>
            <a:ext cx="2286000" cy="1737360"/>
          </a:xfrm>
          <a:prstGeom prst="rect">
            <a:avLst/>
          </a:prstGeom>
          <a:noFill/>
          <a:ln/>
        </p:spPr>
        <p:txBody>
          <a:bodyPr wrap="square" lIns="0" tIns="0" rIns="0" bIns="0" rtlCol="0" anchor="t"/>
          <a:lstStyle/>
          <a:p>
            <a:pPr marL="0" indent="0">
              <a:lnSpc>
                <a:spcPct val="105000"/>
              </a:lnSpc>
              <a:buNone/>
            </a:pPr>
            <a:r>
              <a:rPr lang="en-US" sz="1050" dirty="0">
                <a:solidFill>
                  <a:srgbClr val="5C6B62"/>
                </a:solidFill>
                <a:latin typeface="Calibri" pitchFamily="34" charset="0"/>
                <a:ea typeface="Calibri" pitchFamily="34" charset="-122"/>
                <a:cs typeface="Calibri" pitchFamily="34" charset="-120"/>
              </a:rPr>
              <a:t>Aparece en Swagger UI; el usuario pega su token y prueba los endpoints protegidos desde el navegador.
</a:t>
            </a:r>
            <a:endParaRPr lang="en-US" sz="1050" dirty="0"/>
          </a:p>
          <a:p>
            <a:pPr marL="0" indent="0">
              <a:lnSpc>
                <a:spcPct val="105000"/>
              </a:lnSpc>
              <a:buNone/>
            </a:pPr>
            <a:r>
              <a:rPr lang="en-US" sz="1000" dirty="0">
                <a:solidFill>
                  <a:srgbClr val="1E2A22"/>
                </a:solidFill>
                <a:latin typeface="Calibri" pitchFamily="34" charset="0"/>
                <a:ea typeface="Calibri" pitchFamily="34" charset="-122"/>
                <a:cs typeface="Calibri" pitchFamily="34" charset="-120"/>
              </a:rPr>
              <a:t>/swagger-ui/** y /v3/api-docs/** ya estan permitidos en el Paso 7.</a:t>
            </a:r>
            <a:endParaRPr lang="en-US" sz="1050" dirty="0"/>
          </a:p>
        </p:txBody>
      </p:sp>
      <p:sp>
        <p:nvSpPr>
          <p:cNvPr id="16" name="Text 13"/>
          <p:cNvSpPr/>
          <p:nvPr/>
        </p:nvSpPr>
        <p:spPr>
          <a:xfrm>
            <a:off x="457200" y="4114800"/>
            <a:ext cx="8229600" cy="411480"/>
          </a:xfrm>
          <a:prstGeom prst="rect">
            <a:avLst/>
          </a:prstGeom>
          <a:noFill/>
          <a:ln/>
        </p:spPr>
        <p:txBody>
          <a:bodyPr wrap="square" lIns="0" tIns="0" rIns="0" bIns="0" rtlCol="0" anchor="ctr"/>
          <a:lstStyle/>
          <a:p>
            <a:pPr marL="0" indent="0">
              <a:buNone/>
            </a:pPr>
            <a:r>
              <a:rPr lang="en-US" sz="1150" i="1" dirty="0">
                <a:solidFill>
                  <a:srgbClr val="5C6B62"/>
                </a:solidFill>
                <a:latin typeface="Calibri" pitchFamily="34" charset="0"/>
                <a:ea typeface="Calibri" pitchFamily="34" charset="-122"/>
                <a:cs typeface="Calibri" pitchFamily="34" charset="-120"/>
              </a:rPr>
              <a:t>La Semana 6 dejo Swagger funcionando; ahora los endpoints exigen token. Esta anotacion habilita el candado para autenticarse.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CLIENTES EN OTRO SERVIDOR</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CORS: cuando aplica (y cuando no)</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7955280" y="457200"/>
            <a:ext cx="566928" cy="566928"/>
          </a:xfrm>
          <a:prstGeom prst="ellipse">
            <a:avLst/>
          </a:prstGeom>
          <a:solidFill>
            <a:srgbClr val="CC9900"/>
          </a:solidFill>
          <a:ln/>
          <a:effectLst>
            <a:outerShdw blurRad="88900" dist="38100" dir="5400000" algn="bl" rotWithShape="0">
              <a:srgbClr val="000000">
                <a:alpha val="16000"/>
              </a:srgbClr>
            </a:outerShdw>
          </a:effectLst>
        </p:spPr>
        <p:txBody>
          <a:bodyPr/>
          <a:lstStyle/>
          <a:p>
            <a:endParaRPr lang="es-ES"/>
          </a:p>
        </p:txBody>
      </p:sp>
      <p:pic>
        <p:nvPicPr>
          <p:cNvPr id="7" name="Image 0" descr="preencoded.png"/>
          <p:cNvPicPr>
            <a:picLocks noChangeAspect="1"/>
          </p:cNvPicPr>
          <p:nvPr/>
        </p:nvPicPr>
        <p:blipFill>
          <a:blip r:embed="rId3"/>
          <a:stretch>
            <a:fillRect/>
          </a:stretch>
        </p:blipFill>
        <p:spPr>
          <a:xfrm>
            <a:off x="8102681" y="604601"/>
            <a:ext cx="272125" cy="272125"/>
          </a:xfrm>
          <a:prstGeom prst="rect">
            <a:avLst/>
          </a:prstGeom>
        </p:spPr>
      </p:pic>
      <p:sp>
        <p:nvSpPr>
          <p:cNvPr id="8" name="Text 5"/>
          <p:cNvSpPr/>
          <p:nvPr/>
        </p:nvSpPr>
        <p:spPr>
          <a:xfrm>
            <a:off x="457200" y="1234440"/>
            <a:ext cx="8229600" cy="457200"/>
          </a:xfrm>
          <a:prstGeom prst="rect">
            <a:avLst/>
          </a:prstGeom>
          <a:noFill/>
          <a:ln/>
        </p:spPr>
        <p:txBody>
          <a:bodyPr wrap="square" lIns="0" tIns="0" rIns="0" bIns="0" rtlCol="0" anchor="ctr"/>
          <a:lstStyle/>
          <a:p>
            <a:pPr marL="0" indent="0">
              <a:buNone/>
            </a:pPr>
            <a:r>
              <a:rPr lang="en-US" sz="1250" i="1" dirty="0">
                <a:solidFill>
                  <a:srgbClr val="5C6B62"/>
                </a:solidFill>
                <a:latin typeface="Calibri" pitchFamily="34" charset="0"/>
                <a:ea typeface="Calibri" pitchFamily="34" charset="-122"/>
                <a:cs typeface="Calibri" pitchFamily="34" charset="-120"/>
              </a:rPr>
              <a:t>CORS es una politica del NAVEGADOR: solo interviene cuando la llamada se hace desde un navegador hacia otro origen.</a:t>
            </a:r>
            <a:endParaRPr lang="en-US" sz="1250" dirty="0"/>
          </a:p>
        </p:txBody>
      </p:sp>
      <p:sp>
        <p:nvSpPr>
          <p:cNvPr id="9" name="Shape 6"/>
          <p:cNvSpPr/>
          <p:nvPr/>
        </p:nvSpPr>
        <p:spPr>
          <a:xfrm>
            <a:off x="457200" y="1828800"/>
            <a:ext cx="3931920" cy="457200"/>
          </a:xfrm>
          <a:prstGeom prst="rect">
            <a:avLst/>
          </a:prstGeom>
          <a:solidFill>
            <a:srgbClr val="006633"/>
          </a:solidFill>
          <a:ln w="6350">
            <a:solidFill>
              <a:srgbClr val="D8E0D8"/>
            </a:solidFill>
            <a:prstDash val="solid"/>
          </a:ln>
        </p:spPr>
        <p:txBody>
          <a:bodyPr/>
          <a:lstStyle/>
          <a:p>
            <a:endParaRPr lang="es-ES"/>
          </a:p>
        </p:txBody>
      </p:sp>
      <p:sp>
        <p:nvSpPr>
          <p:cNvPr id="10" name="Text 7"/>
          <p:cNvSpPr/>
          <p:nvPr/>
        </p:nvSpPr>
        <p:spPr>
          <a:xfrm>
            <a:off x="548640" y="1828800"/>
            <a:ext cx="3794760" cy="457200"/>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Cliente</a:t>
            </a:r>
            <a:endParaRPr lang="en-US" sz="1150" dirty="0"/>
          </a:p>
        </p:txBody>
      </p:sp>
      <p:sp>
        <p:nvSpPr>
          <p:cNvPr id="11" name="Shape 8"/>
          <p:cNvSpPr/>
          <p:nvPr/>
        </p:nvSpPr>
        <p:spPr>
          <a:xfrm>
            <a:off x="4389120" y="1828800"/>
            <a:ext cx="2743200" cy="457200"/>
          </a:xfrm>
          <a:prstGeom prst="rect">
            <a:avLst/>
          </a:prstGeom>
          <a:solidFill>
            <a:srgbClr val="006633"/>
          </a:solidFill>
          <a:ln w="6350">
            <a:solidFill>
              <a:srgbClr val="D8E0D8"/>
            </a:solidFill>
            <a:prstDash val="solid"/>
          </a:ln>
        </p:spPr>
        <p:txBody>
          <a:bodyPr/>
          <a:lstStyle/>
          <a:p>
            <a:endParaRPr lang="es-ES"/>
          </a:p>
        </p:txBody>
      </p:sp>
      <p:sp>
        <p:nvSpPr>
          <p:cNvPr id="12" name="Text 9"/>
          <p:cNvSpPr/>
          <p:nvPr/>
        </p:nvSpPr>
        <p:spPr>
          <a:xfrm>
            <a:off x="4480560" y="1828800"/>
            <a:ext cx="2606040" cy="457200"/>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Donde corre la llamada</a:t>
            </a:r>
            <a:endParaRPr lang="en-US" sz="1150" dirty="0"/>
          </a:p>
        </p:txBody>
      </p:sp>
      <p:sp>
        <p:nvSpPr>
          <p:cNvPr id="13" name="Shape 10"/>
          <p:cNvSpPr/>
          <p:nvPr/>
        </p:nvSpPr>
        <p:spPr>
          <a:xfrm>
            <a:off x="7132320" y="1828800"/>
            <a:ext cx="1554480" cy="457200"/>
          </a:xfrm>
          <a:prstGeom prst="rect">
            <a:avLst/>
          </a:prstGeom>
          <a:solidFill>
            <a:srgbClr val="006633"/>
          </a:solidFill>
          <a:ln w="6350">
            <a:solidFill>
              <a:srgbClr val="D8E0D8"/>
            </a:solidFill>
            <a:prstDash val="solid"/>
          </a:ln>
        </p:spPr>
        <p:txBody>
          <a:bodyPr/>
          <a:lstStyle/>
          <a:p>
            <a:endParaRPr lang="es-ES"/>
          </a:p>
        </p:txBody>
      </p:sp>
      <p:sp>
        <p:nvSpPr>
          <p:cNvPr id="14" name="Text 11"/>
          <p:cNvSpPr/>
          <p:nvPr/>
        </p:nvSpPr>
        <p:spPr>
          <a:xfrm>
            <a:off x="7223760" y="1828800"/>
            <a:ext cx="141732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CORS</a:t>
            </a:r>
            <a:endParaRPr lang="en-US" sz="1150" dirty="0"/>
          </a:p>
        </p:txBody>
      </p:sp>
      <p:sp>
        <p:nvSpPr>
          <p:cNvPr id="15" name="Shape 12"/>
          <p:cNvSpPr/>
          <p:nvPr/>
        </p:nvSpPr>
        <p:spPr>
          <a:xfrm>
            <a:off x="457200" y="2286000"/>
            <a:ext cx="3931920" cy="457200"/>
          </a:xfrm>
          <a:prstGeom prst="rect">
            <a:avLst/>
          </a:prstGeom>
          <a:solidFill>
            <a:srgbClr val="F1F4F0"/>
          </a:solidFill>
          <a:ln w="6350">
            <a:solidFill>
              <a:srgbClr val="D8E0D8"/>
            </a:solidFill>
            <a:prstDash val="solid"/>
          </a:ln>
        </p:spPr>
        <p:txBody>
          <a:bodyPr/>
          <a:lstStyle/>
          <a:p>
            <a:endParaRPr lang="es-ES"/>
          </a:p>
        </p:txBody>
      </p:sp>
      <p:sp>
        <p:nvSpPr>
          <p:cNvPr id="16" name="Text 13"/>
          <p:cNvSpPr/>
          <p:nvPr/>
        </p:nvSpPr>
        <p:spPr>
          <a:xfrm>
            <a:off x="548640" y="2286000"/>
            <a:ext cx="3794760" cy="457200"/>
          </a:xfrm>
          <a:prstGeom prst="rect">
            <a:avLst/>
          </a:prstGeom>
          <a:noFill/>
          <a:ln/>
        </p:spPr>
        <p:txBody>
          <a:bodyPr wrap="square" lIns="0" tIns="0" rIns="0" bIns="0" rtlCol="0" anchor="ctr"/>
          <a:lstStyle/>
          <a:p>
            <a:pPr marL="0" indent="0" algn="l">
              <a:buNone/>
            </a:pPr>
            <a:r>
              <a:rPr lang="en-US" sz="1050" dirty="0">
                <a:solidFill>
                  <a:srgbClr val="1E2A22"/>
                </a:solidFill>
                <a:latin typeface="Calibri" pitchFamily="34" charset="0"/>
                <a:ea typeface="Calibri" pitchFamily="34" charset="-122"/>
                <a:cs typeface="Calibri" pitchFamily="34" charset="-120"/>
              </a:rPr>
              <a:t>SPA Angular en otro servidor</a:t>
            </a:r>
            <a:endParaRPr lang="en-US" sz="1050" dirty="0"/>
          </a:p>
        </p:txBody>
      </p:sp>
      <p:sp>
        <p:nvSpPr>
          <p:cNvPr id="17" name="Shape 14"/>
          <p:cNvSpPr/>
          <p:nvPr/>
        </p:nvSpPr>
        <p:spPr>
          <a:xfrm>
            <a:off x="4389120" y="2286000"/>
            <a:ext cx="2743200" cy="457200"/>
          </a:xfrm>
          <a:prstGeom prst="rect">
            <a:avLst/>
          </a:prstGeom>
          <a:solidFill>
            <a:srgbClr val="F1F4F0"/>
          </a:solidFill>
          <a:ln w="6350">
            <a:solidFill>
              <a:srgbClr val="D8E0D8"/>
            </a:solidFill>
            <a:prstDash val="solid"/>
          </a:ln>
        </p:spPr>
        <p:txBody>
          <a:bodyPr/>
          <a:lstStyle/>
          <a:p>
            <a:endParaRPr lang="es-ES"/>
          </a:p>
        </p:txBody>
      </p:sp>
      <p:sp>
        <p:nvSpPr>
          <p:cNvPr id="18" name="Text 15"/>
          <p:cNvSpPr/>
          <p:nvPr/>
        </p:nvSpPr>
        <p:spPr>
          <a:xfrm>
            <a:off x="4480560" y="2286000"/>
            <a:ext cx="2606040" cy="457200"/>
          </a:xfrm>
          <a:prstGeom prst="rect">
            <a:avLst/>
          </a:prstGeom>
          <a:noFill/>
          <a:ln/>
        </p:spPr>
        <p:txBody>
          <a:bodyPr wrap="square" lIns="0" tIns="0" rIns="0" bIns="0" rtlCol="0" anchor="ctr"/>
          <a:lstStyle/>
          <a:p>
            <a:pPr marL="0" indent="0" algn="l">
              <a:buNone/>
            </a:pPr>
            <a:r>
              <a:rPr lang="en-US" sz="1050" dirty="0">
                <a:solidFill>
                  <a:srgbClr val="1E2A22"/>
                </a:solidFill>
                <a:latin typeface="Calibri" pitchFamily="34" charset="0"/>
                <a:ea typeface="Calibri" pitchFamily="34" charset="-122"/>
                <a:cs typeface="Calibri" pitchFamily="34" charset="-120"/>
              </a:rPr>
              <a:t>Navegador</a:t>
            </a:r>
            <a:endParaRPr lang="en-US" sz="1050" dirty="0"/>
          </a:p>
        </p:txBody>
      </p:sp>
      <p:sp>
        <p:nvSpPr>
          <p:cNvPr id="19" name="Shape 16"/>
          <p:cNvSpPr/>
          <p:nvPr/>
        </p:nvSpPr>
        <p:spPr>
          <a:xfrm>
            <a:off x="7132320" y="2286000"/>
            <a:ext cx="1554480" cy="457200"/>
          </a:xfrm>
          <a:prstGeom prst="rect">
            <a:avLst/>
          </a:prstGeom>
          <a:solidFill>
            <a:srgbClr val="F1F4F0"/>
          </a:solidFill>
          <a:ln w="6350">
            <a:solidFill>
              <a:srgbClr val="D8E0D8"/>
            </a:solidFill>
            <a:prstDash val="solid"/>
          </a:ln>
        </p:spPr>
        <p:txBody>
          <a:bodyPr/>
          <a:lstStyle/>
          <a:p>
            <a:endParaRPr lang="es-ES"/>
          </a:p>
        </p:txBody>
      </p:sp>
      <p:sp>
        <p:nvSpPr>
          <p:cNvPr id="20" name="Text 17"/>
          <p:cNvSpPr/>
          <p:nvPr/>
        </p:nvSpPr>
        <p:spPr>
          <a:xfrm>
            <a:off x="7223760" y="2286000"/>
            <a:ext cx="1417320" cy="457200"/>
          </a:xfrm>
          <a:prstGeom prst="rect">
            <a:avLst/>
          </a:prstGeom>
          <a:noFill/>
          <a:ln/>
        </p:spPr>
        <p:txBody>
          <a:bodyPr wrap="square" lIns="0" tIns="0" rIns="0" bIns="0" rtlCol="0" anchor="ctr"/>
          <a:lstStyle/>
          <a:p>
            <a:pPr marL="0" indent="0" algn="ctr">
              <a:buNone/>
            </a:pPr>
            <a:r>
              <a:rPr lang="en-US" sz="1050" b="1" dirty="0">
                <a:solidFill>
                  <a:srgbClr val="B23A18"/>
                </a:solidFill>
                <a:latin typeface="Calibri" pitchFamily="34" charset="0"/>
                <a:ea typeface="Calibri" pitchFamily="34" charset="-122"/>
                <a:cs typeface="Calibri" pitchFamily="34" charset="-120"/>
              </a:rPr>
              <a:t>Si</a:t>
            </a:r>
            <a:endParaRPr lang="en-US" sz="1050" dirty="0"/>
          </a:p>
        </p:txBody>
      </p:sp>
      <p:sp>
        <p:nvSpPr>
          <p:cNvPr id="21" name="Shape 18"/>
          <p:cNvSpPr/>
          <p:nvPr/>
        </p:nvSpPr>
        <p:spPr>
          <a:xfrm>
            <a:off x="457200" y="2743200"/>
            <a:ext cx="3931920" cy="457200"/>
          </a:xfrm>
          <a:prstGeom prst="rect">
            <a:avLst/>
          </a:prstGeom>
          <a:solidFill>
            <a:srgbClr val="FFFFFF"/>
          </a:solidFill>
          <a:ln w="6350">
            <a:solidFill>
              <a:srgbClr val="D8E0D8"/>
            </a:solidFill>
            <a:prstDash val="solid"/>
          </a:ln>
        </p:spPr>
        <p:txBody>
          <a:bodyPr/>
          <a:lstStyle/>
          <a:p>
            <a:endParaRPr lang="es-ES"/>
          </a:p>
        </p:txBody>
      </p:sp>
      <p:sp>
        <p:nvSpPr>
          <p:cNvPr id="22" name="Text 19"/>
          <p:cNvSpPr/>
          <p:nvPr/>
        </p:nvSpPr>
        <p:spPr>
          <a:xfrm>
            <a:off x="548640" y="2743200"/>
            <a:ext cx="3794760" cy="457200"/>
          </a:xfrm>
          <a:prstGeom prst="rect">
            <a:avLst/>
          </a:prstGeom>
          <a:noFill/>
          <a:ln/>
        </p:spPr>
        <p:txBody>
          <a:bodyPr wrap="square" lIns="0" tIns="0" rIns="0" bIns="0" rtlCol="0" anchor="ctr"/>
          <a:lstStyle/>
          <a:p>
            <a:pPr marL="0" indent="0" algn="l">
              <a:buNone/>
            </a:pPr>
            <a:r>
              <a:rPr lang="en-US" sz="1050" dirty="0">
                <a:solidFill>
                  <a:srgbClr val="1E2A22"/>
                </a:solidFill>
                <a:latin typeface="Calibri" pitchFamily="34" charset="0"/>
                <a:ea typeface="Calibri" pitchFamily="34" charset="-122"/>
                <a:cs typeface="Calibri" pitchFamily="34" charset="-120"/>
              </a:rPr>
              <a:t>Thymeleaf (SSR) + RestClient</a:t>
            </a:r>
            <a:endParaRPr lang="en-US" sz="1050" dirty="0"/>
          </a:p>
        </p:txBody>
      </p:sp>
      <p:sp>
        <p:nvSpPr>
          <p:cNvPr id="23" name="Shape 20"/>
          <p:cNvSpPr/>
          <p:nvPr/>
        </p:nvSpPr>
        <p:spPr>
          <a:xfrm>
            <a:off x="4389120" y="2743200"/>
            <a:ext cx="2743200" cy="457200"/>
          </a:xfrm>
          <a:prstGeom prst="rect">
            <a:avLst/>
          </a:prstGeom>
          <a:solidFill>
            <a:srgbClr val="FFFFFF"/>
          </a:solidFill>
          <a:ln w="6350">
            <a:solidFill>
              <a:srgbClr val="D8E0D8"/>
            </a:solidFill>
            <a:prstDash val="solid"/>
          </a:ln>
        </p:spPr>
        <p:txBody>
          <a:bodyPr/>
          <a:lstStyle/>
          <a:p>
            <a:endParaRPr lang="es-ES"/>
          </a:p>
        </p:txBody>
      </p:sp>
      <p:sp>
        <p:nvSpPr>
          <p:cNvPr id="24" name="Text 21"/>
          <p:cNvSpPr/>
          <p:nvPr/>
        </p:nvSpPr>
        <p:spPr>
          <a:xfrm>
            <a:off x="4480560" y="2743200"/>
            <a:ext cx="2606040" cy="457200"/>
          </a:xfrm>
          <a:prstGeom prst="rect">
            <a:avLst/>
          </a:prstGeom>
          <a:noFill/>
          <a:ln/>
        </p:spPr>
        <p:txBody>
          <a:bodyPr wrap="square" lIns="0" tIns="0" rIns="0" bIns="0" rtlCol="0" anchor="ctr"/>
          <a:lstStyle/>
          <a:p>
            <a:pPr marL="0" indent="0" algn="l">
              <a:buNone/>
            </a:pPr>
            <a:r>
              <a:rPr lang="en-US" sz="1050" dirty="0">
                <a:solidFill>
                  <a:srgbClr val="1E2A22"/>
                </a:solidFill>
                <a:latin typeface="Calibri" pitchFamily="34" charset="0"/>
                <a:ea typeface="Calibri" pitchFamily="34" charset="-122"/>
                <a:cs typeface="Calibri" pitchFamily="34" charset="-120"/>
              </a:rPr>
              <a:t>Servidor (backend)</a:t>
            </a:r>
            <a:endParaRPr lang="en-US" sz="1050" dirty="0"/>
          </a:p>
        </p:txBody>
      </p:sp>
      <p:sp>
        <p:nvSpPr>
          <p:cNvPr id="25" name="Shape 22"/>
          <p:cNvSpPr/>
          <p:nvPr/>
        </p:nvSpPr>
        <p:spPr>
          <a:xfrm>
            <a:off x="7132320" y="2743200"/>
            <a:ext cx="1554480" cy="457200"/>
          </a:xfrm>
          <a:prstGeom prst="rect">
            <a:avLst/>
          </a:prstGeom>
          <a:solidFill>
            <a:srgbClr val="FFFFFF"/>
          </a:solidFill>
          <a:ln w="6350">
            <a:solidFill>
              <a:srgbClr val="D8E0D8"/>
            </a:solidFill>
            <a:prstDash val="solid"/>
          </a:ln>
        </p:spPr>
        <p:txBody>
          <a:bodyPr/>
          <a:lstStyle/>
          <a:p>
            <a:endParaRPr lang="es-ES"/>
          </a:p>
        </p:txBody>
      </p:sp>
      <p:sp>
        <p:nvSpPr>
          <p:cNvPr id="26" name="Text 23"/>
          <p:cNvSpPr/>
          <p:nvPr/>
        </p:nvSpPr>
        <p:spPr>
          <a:xfrm>
            <a:off x="7223760" y="2743200"/>
            <a:ext cx="1417320" cy="457200"/>
          </a:xfrm>
          <a:prstGeom prst="rect">
            <a:avLst/>
          </a:prstGeom>
          <a:noFill/>
          <a:ln/>
        </p:spPr>
        <p:txBody>
          <a:bodyPr wrap="square" lIns="0" tIns="0" rIns="0" bIns="0" rtlCol="0" anchor="ctr"/>
          <a:lstStyle/>
          <a:p>
            <a:pPr marL="0" indent="0" algn="ctr">
              <a:buNone/>
            </a:pPr>
            <a:r>
              <a:rPr lang="en-US" sz="1050" b="1" dirty="0">
                <a:solidFill>
                  <a:srgbClr val="006633"/>
                </a:solidFill>
                <a:latin typeface="Calibri" pitchFamily="34" charset="0"/>
                <a:ea typeface="Calibri" pitchFamily="34" charset="-122"/>
                <a:cs typeface="Calibri" pitchFamily="34" charset="-120"/>
              </a:rPr>
              <a:t>No</a:t>
            </a:r>
            <a:endParaRPr lang="en-US" sz="1050" dirty="0"/>
          </a:p>
        </p:txBody>
      </p:sp>
      <p:sp>
        <p:nvSpPr>
          <p:cNvPr id="27" name="Shape 24"/>
          <p:cNvSpPr/>
          <p:nvPr/>
        </p:nvSpPr>
        <p:spPr>
          <a:xfrm>
            <a:off x="457200" y="3200400"/>
            <a:ext cx="3931920" cy="457200"/>
          </a:xfrm>
          <a:prstGeom prst="rect">
            <a:avLst/>
          </a:prstGeom>
          <a:solidFill>
            <a:srgbClr val="F1F4F0"/>
          </a:solidFill>
          <a:ln w="6350">
            <a:solidFill>
              <a:srgbClr val="D8E0D8"/>
            </a:solidFill>
            <a:prstDash val="solid"/>
          </a:ln>
        </p:spPr>
        <p:txBody>
          <a:bodyPr/>
          <a:lstStyle/>
          <a:p>
            <a:endParaRPr lang="es-ES"/>
          </a:p>
        </p:txBody>
      </p:sp>
      <p:sp>
        <p:nvSpPr>
          <p:cNvPr id="28" name="Text 25"/>
          <p:cNvSpPr/>
          <p:nvPr/>
        </p:nvSpPr>
        <p:spPr>
          <a:xfrm>
            <a:off x="548640" y="3200400"/>
            <a:ext cx="3794760" cy="457200"/>
          </a:xfrm>
          <a:prstGeom prst="rect">
            <a:avLst/>
          </a:prstGeom>
          <a:noFill/>
          <a:ln/>
        </p:spPr>
        <p:txBody>
          <a:bodyPr wrap="square" lIns="0" tIns="0" rIns="0" bIns="0" rtlCol="0" anchor="ctr"/>
          <a:lstStyle/>
          <a:p>
            <a:pPr marL="0" indent="0" algn="l">
              <a:buNone/>
            </a:pPr>
            <a:r>
              <a:rPr lang="en-US" sz="1050" dirty="0">
                <a:solidFill>
                  <a:srgbClr val="1E2A22"/>
                </a:solidFill>
                <a:latin typeface="Calibri" pitchFamily="34" charset="0"/>
                <a:ea typeface="Calibri" pitchFamily="34" charset="-122"/>
                <a:cs typeface="Calibri" pitchFamily="34" charset="-120"/>
              </a:rPr>
              <a:t>Thymeleaf con fetch/JS a otro origen</a:t>
            </a:r>
            <a:endParaRPr lang="en-US" sz="1050" dirty="0"/>
          </a:p>
        </p:txBody>
      </p:sp>
      <p:sp>
        <p:nvSpPr>
          <p:cNvPr id="29" name="Shape 26"/>
          <p:cNvSpPr/>
          <p:nvPr/>
        </p:nvSpPr>
        <p:spPr>
          <a:xfrm>
            <a:off x="4389120" y="3200400"/>
            <a:ext cx="2743200" cy="457200"/>
          </a:xfrm>
          <a:prstGeom prst="rect">
            <a:avLst/>
          </a:prstGeom>
          <a:solidFill>
            <a:srgbClr val="F1F4F0"/>
          </a:solidFill>
          <a:ln w="6350">
            <a:solidFill>
              <a:srgbClr val="D8E0D8"/>
            </a:solidFill>
            <a:prstDash val="solid"/>
          </a:ln>
        </p:spPr>
        <p:txBody>
          <a:bodyPr/>
          <a:lstStyle/>
          <a:p>
            <a:endParaRPr lang="es-ES"/>
          </a:p>
        </p:txBody>
      </p:sp>
      <p:sp>
        <p:nvSpPr>
          <p:cNvPr id="30" name="Text 27"/>
          <p:cNvSpPr/>
          <p:nvPr/>
        </p:nvSpPr>
        <p:spPr>
          <a:xfrm>
            <a:off x="4480560" y="3200400"/>
            <a:ext cx="2606040" cy="457200"/>
          </a:xfrm>
          <a:prstGeom prst="rect">
            <a:avLst/>
          </a:prstGeom>
          <a:noFill/>
          <a:ln/>
        </p:spPr>
        <p:txBody>
          <a:bodyPr wrap="square" lIns="0" tIns="0" rIns="0" bIns="0" rtlCol="0" anchor="ctr"/>
          <a:lstStyle/>
          <a:p>
            <a:pPr marL="0" indent="0" algn="l">
              <a:buNone/>
            </a:pPr>
            <a:r>
              <a:rPr lang="en-US" sz="1050" dirty="0">
                <a:solidFill>
                  <a:srgbClr val="1E2A22"/>
                </a:solidFill>
                <a:latin typeface="Calibri" pitchFamily="34" charset="0"/>
                <a:ea typeface="Calibri" pitchFamily="34" charset="-122"/>
                <a:cs typeface="Calibri" pitchFamily="34" charset="-120"/>
              </a:rPr>
              <a:t>Navegador</a:t>
            </a:r>
            <a:endParaRPr lang="en-US" sz="1050" dirty="0"/>
          </a:p>
        </p:txBody>
      </p:sp>
      <p:sp>
        <p:nvSpPr>
          <p:cNvPr id="31" name="Shape 28"/>
          <p:cNvSpPr/>
          <p:nvPr/>
        </p:nvSpPr>
        <p:spPr>
          <a:xfrm>
            <a:off x="7132320" y="3200400"/>
            <a:ext cx="1554480" cy="457200"/>
          </a:xfrm>
          <a:prstGeom prst="rect">
            <a:avLst/>
          </a:prstGeom>
          <a:solidFill>
            <a:srgbClr val="F1F4F0"/>
          </a:solidFill>
          <a:ln w="6350">
            <a:solidFill>
              <a:srgbClr val="D8E0D8"/>
            </a:solidFill>
            <a:prstDash val="solid"/>
          </a:ln>
        </p:spPr>
        <p:txBody>
          <a:bodyPr/>
          <a:lstStyle/>
          <a:p>
            <a:endParaRPr lang="es-ES"/>
          </a:p>
        </p:txBody>
      </p:sp>
      <p:sp>
        <p:nvSpPr>
          <p:cNvPr id="32" name="Text 29"/>
          <p:cNvSpPr/>
          <p:nvPr/>
        </p:nvSpPr>
        <p:spPr>
          <a:xfrm>
            <a:off x="7223760" y="3200400"/>
            <a:ext cx="1417320" cy="457200"/>
          </a:xfrm>
          <a:prstGeom prst="rect">
            <a:avLst/>
          </a:prstGeom>
          <a:noFill/>
          <a:ln/>
        </p:spPr>
        <p:txBody>
          <a:bodyPr wrap="square" lIns="0" tIns="0" rIns="0" bIns="0" rtlCol="0" anchor="ctr"/>
          <a:lstStyle/>
          <a:p>
            <a:pPr marL="0" indent="0" algn="ctr">
              <a:buNone/>
            </a:pPr>
            <a:r>
              <a:rPr lang="en-US" sz="1050" b="1" dirty="0">
                <a:solidFill>
                  <a:srgbClr val="B23A18"/>
                </a:solidFill>
                <a:latin typeface="Calibri" pitchFamily="34" charset="0"/>
                <a:ea typeface="Calibri" pitchFamily="34" charset="-122"/>
                <a:cs typeface="Calibri" pitchFamily="34" charset="-120"/>
              </a:rPr>
              <a:t>Si</a:t>
            </a:r>
            <a:endParaRPr lang="en-US" sz="1050" dirty="0"/>
          </a:p>
        </p:txBody>
      </p:sp>
      <p:sp>
        <p:nvSpPr>
          <p:cNvPr id="33" name="Shape 30"/>
          <p:cNvSpPr/>
          <p:nvPr/>
        </p:nvSpPr>
        <p:spPr>
          <a:xfrm>
            <a:off x="457200" y="3657600"/>
            <a:ext cx="3931920" cy="457200"/>
          </a:xfrm>
          <a:prstGeom prst="rect">
            <a:avLst/>
          </a:prstGeom>
          <a:solidFill>
            <a:srgbClr val="FFFFFF"/>
          </a:solidFill>
          <a:ln w="6350">
            <a:solidFill>
              <a:srgbClr val="D8E0D8"/>
            </a:solidFill>
            <a:prstDash val="solid"/>
          </a:ln>
        </p:spPr>
        <p:txBody>
          <a:bodyPr/>
          <a:lstStyle/>
          <a:p>
            <a:endParaRPr lang="es-ES"/>
          </a:p>
        </p:txBody>
      </p:sp>
      <p:sp>
        <p:nvSpPr>
          <p:cNvPr id="34" name="Text 31"/>
          <p:cNvSpPr/>
          <p:nvPr/>
        </p:nvSpPr>
        <p:spPr>
          <a:xfrm>
            <a:off x="548640" y="3657600"/>
            <a:ext cx="3794760" cy="457200"/>
          </a:xfrm>
          <a:prstGeom prst="rect">
            <a:avLst/>
          </a:prstGeom>
          <a:noFill/>
          <a:ln/>
        </p:spPr>
        <p:txBody>
          <a:bodyPr wrap="square" lIns="0" tIns="0" rIns="0" bIns="0" rtlCol="0" anchor="ctr"/>
          <a:lstStyle/>
          <a:p>
            <a:pPr marL="0" indent="0" algn="l">
              <a:buNone/>
            </a:pPr>
            <a:r>
              <a:rPr lang="en-US" sz="1050" dirty="0">
                <a:solidFill>
                  <a:srgbClr val="1E2A22"/>
                </a:solidFill>
                <a:latin typeface="Calibri" pitchFamily="34" charset="0"/>
                <a:ea typeface="Calibri" pitchFamily="34" charset="-122"/>
                <a:cs typeface="Calibri" pitchFamily="34" charset="-120"/>
              </a:rPr>
              <a:t>Postman / cURL / pruebas</a:t>
            </a:r>
            <a:endParaRPr lang="en-US" sz="1050" dirty="0"/>
          </a:p>
        </p:txBody>
      </p:sp>
      <p:sp>
        <p:nvSpPr>
          <p:cNvPr id="35" name="Shape 32"/>
          <p:cNvSpPr/>
          <p:nvPr/>
        </p:nvSpPr>
        <p:spPr>
          <a:xfrm>
            <a:off x="4389120" y="3657600"/>
            <a:ext cx="2743200" cy="457200"/>
          </a:xfrm>
          <a:prstGeom prst="rect">
            <a:avLst/>
          </a:prstGeom>
          <a:solidFill>
            <a:srgbClr val="FFFFFF"/>
          </a:solidFill>
          <a:ln w="6350">
            <a:solidFill>
              <a:srgbClr val="D8E0D8"/>
            </a:solidFill>
            <a:prstDash val="solid"/>
          </a:ln>
        </p:spPr>
        <p:txBody>
          <a:bodyPr/>
          <a:lstStyle/>
          <a:p>
            <a:endParaRPr lang="es-ES"/>
          </a:p>
        </p:txBody>
      </p:sp>
      <p:sp>
        <p:nvSpPr>
          <p:cNvPr id="36" name="Text 33"/>
          <p:cNvSpPr/>
          <p:nvPr/>
        </p:nvSpPr>
        <p:spPr>
          <a:xfrm>
            <a:off x="4480560" y="3657600"/>
            <a:ext cx="2606040" cy="457200"/>
          </a:xfrm>
          <a:prstGeom prst="rect">
            <a:avLst/>
          </a:prstGeom>
          <a:noFill/>
          <a:ln/>
        </p:spPr>
        <p:txBody>
          <a:bodyPr wrap="square" lIns="0" tIns="0" rIns="0" bIns="0" rtlCol="0" anchor="ctr"/>
          <a:lstStyle/>
          <a:p>
            <a:pPr marL="0" indent="0" algn="l">
              <a:buNone/>
            </a:pPr>
            <a:r>
              <a:rPr lang="en-US" sz="1050" dirty="0">
                <a:solidFill>
                  <a:srgbClr val="1E2A22"/>
                </a:solidFill>
                <a:latin typeface="Calibri" pitchFamily="34" charset="0"/>
                <a:ea typeface="Calibri" pitchFamily="34" charset="-122"/>
                <a:cs typeface="Calibri" pitchFamily="34" charset="-120"/>
              </a:rPr>
              <a:t>Sin navegador</a:t>
            </a:r>
            <a:endParaRPr lang="en-US" sz="1050" dirty="0"/>
          </a:p>
        </p:txBody>
      </p:sp>
      <p:sp>
        <p:nvSpPr>
          <p:cNvPr id="37" name="Shape 34"/>
          <p:cNvSpPr/>
          <p:nvPr/>
        </p:nvSpPr>
        <p:spPr>
          <a:xfrm>
            <a:off x="7132320" y="3657600"/>
            <a:ext cx="1554480" cy="457200"/>
          </a:xfrm>
          <a:prstGeom prst="rect">
            <a:avLst/>
          </a:prstGeom>
          <a:solidFill>
            <a:srgbClr val="FFFFFF"/>
          </a:solidFill>
          <a:ln w="6350">
            <a:solidFill>
              <a:srgbClr val="D8E0D8"/>
            </a:solidFill>
            <a:prstDash val="solid"/>
          </a:ln>
        </p:spPr>
        <p:txBody>
          <a:bodyPr/>
          <a:lstStyle/>
          <a:p>
            <a:endParaRPr lang="es-ES"/>
          </a:p>
        </p:txBody>
      </p:sp>
      <p:sp>
        <p:nvSpPr>
          <p:cNvPr id="38" name="Text 35"/>
          <p:cNvSpPr/>
          <p:nvPr/>
        </p:nvSpPr>
        <p:spPr>
          <a:xfrm>
            <a:off x="7223760" y="3657600"/>
            <a:ext cx="1417320" cy="457200"/>
          </a:xfrm>
          <a:prstGeom prst="rect">
            <a:avLst/>
          </a:prstGeom>
          <a:noFill/>
          <a:ln/>
        </p:spPr>
        <p:txBody>
          <a:bodyPr wrap="square" lIns="0" tIns="0" rIns="0" bIns="0" rtlCol="0" anchor="ctr"/>
          <a:lstStyle/>
          <a:p>
            <a:pPr marL="0" indent="0" algn="ctr">
              <a:buNone/>
            </a:pPr>
            <a:r>
              <a:rPr lang="en-US" sz="1050" b="1" dirty="0">
                <a:solidFill>
                  <a:srgbClr val="006633"/>
                </a:solidFill>
                <a:latin typeface="Calibri" pitchFamily="34" charset="0"/>
                <a:ea typeface="Calibri" pitchFamily="34" charset="-122"/>
                <a:cs typeface="Calibri" pitchFamily="34" charset="-120"/>
              </a:rPr>
              <a:t>No</a:t>
            </a:r>
            <a:endParaRPr lang="en-US" sz="1050" dirty="0"/>
          </a:p>
        </p:txBody>
      </p:sp>
      <p:sp>
        <p:nvSpPr>
          <p:cNvPr id="39" name="Text 36"/>
          <p:cNvSpPr/>
          <p:nvPr/>
        </p:nvSpPr>
        <p:spPr>
          <a:xfrm>
            <a:off x="457200" y="4251960"/>
            <a:ext cx="8229600" cy="457200"/>
          </a:xfrm>
          <a:prstGeom prst="rect">
            <a:avLst/>
          </a:prstGeom>
          <a:noFill/>
          <a:ln/>
        </p:spPr>
        <p:txBody>
          <a:bodyPr wrap="square" lIns="0" tIns="0" rIns="0" bIns="0" rtlCol="0" anchor="ctr"/>
          <a:lstStyle/>
          <a:p>
            <a:pPr marL="0" indent="0">
              <a:lnSpc>
                <a:spcPct val="105000"/>
              </a:lnSpc>
              <a:buNone/>
            </a:pPr>
            <a:r>
              <a:rPr lang="en-US" sz="1050" dirty="0">
                <a:solidFill>
                  <a:srgbClr val="5C6B62"/>
                </a:solidFill>
                <a:latin typeface="Calibri" pitchFamily="34" charset="0"/>
                <a:ea typeface="Calibri" pitchFamily="34" charset="-122"/>
                <a:cs typeface="Calibri" pitchFamily="34" charset="-120"/>
              </a:rPr>
              <a:t>Angular: el navegador descarga la SPA y desde ahi llama a la API en otro origen.  ·  Thymeleaf SSR: el servidor llama de backend a backend, sin navegador de por medio.</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CORS</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Configurarlo dentro de Spring Security</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457200" y="1325880"/>
            <a:ext cx="8229600" cy="1097280"/>
          </a:xfrm>
          <a:prstGeom prst="roundRect">
            <a:avLst>
              <a:gd name="adj" fmla="val 5000"/>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621792" y="1399032"/>
            <a:ext cx="795528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SecurityConfig — linea a anadir</a:t>
            </a:r>
            <a:endParaRPr lang="en-US" sz="950" dirty="0"/>
          </a:p>
        </p:txBody>
      </p:sp>
      <p:sp>
        <p:nvSpPr>
          <p:cNvPr id="8" name="Text 6"/>
          <p:cNvSpPr/>
          <p:nvPr/>
        </p:nvSpPr>
        <p:spPr>
          <a:xfrm>
            <a:off x="621792" y="1655064"/>
            <a:ext cx="7918704" cy="676656"/>
          </a:xfrm>
          <a:prstGeom prst="rect">
            <a:avLst/>
          </a:prstGeom>
          <a:noFill/>
          <a:ln/>
        </p:spPr>
        <p:txBody>
          <a:bodyPr wrap="square" lIns="0" tIns="0" rIns="0" bIns="0" rtlCol="0" anchor="t"/>
          <a:lstStyle/>
          <a:p>
            <a:pPr marL="0" indent="0">
              <a:lnSpc>
                <a:spcPct val="102000"/>
              </a:lnSpc>
              <a:buNone/>
            </a:pPr>
            <a:r>
              <a:rPr lang="en-US" sz="950" dirty="0">
                <a:solidFill>
                  <a:srgbClr val="383A42"/>
                </a:solidFill>
                <a:latin typeface="Courier New" pitchFamily="34" charset="0"/>
                <a:ea typeface="Courier New" pitchFamily="34" charset="-122"/>
                <a:cs typeface="Courier New" pitchFamily="34" charset="-120"/>
              </a:rPr>
              <a:t>http</a:t>
            </a:r>
            <a:endParaRPr lang="en-US" sz="950" dirty="0"/>
          </a:p>
          <a:p>
            <a:pPr marL="0" indent="0">
              <a:lnSpc>
                <a:spcPct val="102000"/>
              </a:lnSpc>
              <a:buNone/>
            </a:pPr>
            <a:r>
              <a:rPr lang="en-US" sz="950" dirty="0">
                <a:solidFill>
                  <a:srgbClr val="383A42"/>
                </a:solidFill>
                <a:latin typeface="Courier New" pitchFamily="34" charset="0"/>
                <a:ea typeface="Courier New" pitchFamily="34" charset="-122"/>
                <a:cs typeface="Courier New" pitchFamily="34" charset="-120"/>
              </a:rPr>
              <a:t>  .cors(</a:t>
            </a:r>
            <a:r>
              <a:rPr lang="en-US" sz="950" dirty="0">
                <a:solidFill>
                  <a:srgbClr val="2D8000"/>
                </a:solidFill>
                <a:latin typeface="Courier New" pitchFamily="34" charset="0"/>
                <a:ea typeface="Courier New" pitchFamily="34" charset="-122"/>
                <a:cs typeface="Courier New" pitchFamily="34" charset="-120"/>
              </a:rPr>
              <a:t>Customizer</a:t>
            </a:r>
            <a:r>
              <a:rPr lang="en-US" sz="950" dirty="0">
                <a:solidFill>
                  <a:srgbClr val="383A42"/>
                </a:solidFill>
                <a:latin typeface="Courier New" pitchFamily="34" charset="0"/>
                <a:ea typeface="Courier New" pitchFamily="34" charset="-122"/>
                <a:cs typeface="Courier New" pitchFamily="34" charset="-120"/>
              </a:rPr>
              <a:t>.withDefaults())   </a:t>
            </a:r>
            <a:r>
              <a:rPr lang="en-US" sz="950" i="1" dirty="0">
                <a:solidFill>
                  <a:srgbClr val="717171"/>
                </a:solidFill>
                <a:latin typeface="Courier New" pitchFamily="34" charset="0"/>
                <a:ea typeface="Courier New" pitchFamily="34" charset="-122"/>
                <a:cs typeface="Courier New" pitchFamily="34" charset="-120"/>
              </a:rPr>
              <a:t>// usa el bean de abajo</a:t>
            </a:r>
            <a:endParaRPr lang="en-US" sz="950" dirty="0"/>
          </a:p>
          <a:p>
            <a:pPr marL="0" indent="0">
              <a:lnSpc>
                <a:spcPct val="102000"/>
              </a:lnSpc>
              <a:buNone/>
            </a:pPr>
            <a:r>
              <a:rPr lang="en-US" sz="950" dirty="0">
                <a:solidFill>
                  <a:srgbClr val="383A42"/>
                </a:solidFill>
                <a:latin typeface="Courier New" pitchFamily="34" charset="0"/>
                <a:ea typeface="Courier New" pitchFamily="34" charset="-122"/>
                <a:cs typeface="Courier New" pitchFamily="34" charset="-120"/>
              </a:rPr>
              <a:t>  .csrf(csrf -&gt; csrf.disable())</a:t>
            </a:r>
            <a:endParaRPr lang="en-US" sz="950" dirty="0"/>
          </a:p>
          <a:p>
            <a:pPr marL="0" indent="0">
              <a:lnSpc>
                <a:spcPct val="102000"/>
              </a:lnSpc>
              <a:buNone/>
            </a:pPr>
            <a:r>
              <a:rPr lang="en-US" sz="950" dirty="0">
                <a:solidFill>
                  <a:srgbClr val="383A42"/>
                </a:solidFill>
                <a:latin typeface="Courier New" pitchFamily="34" charset="0"/>
                <a:ea typeface="Courier New" pitchFamily="34" charset="-122"/>
                <a:cs typeface="Courier New" pitchFamily="34" charset="-120"/>
              </a:rPr>
              <a:t>  </a:t>
            </a:r>
            <a:r>
              <a:rPr lang="en-US" sz="950" i="1" dirty="0">
                <a:solidFill>
                  <a:srgbClr val="717171"/>
                </a:solidFill>
                <a:latin typeface="Courier New" pitchFamily="34" charset="0"/>
                <a:ea typeface="Courier New" pitchFamily="34" charset="-122"/>
                <a:cs typeface="Courier New" pitchFamily="34" charset="-120"/>
              </a:rPr>
              <a:t>// ... resto de Paso 7 sin cambios ...</a:t>
            </a:r>
            <a:endParaRPr lang="en-US" sz="950" dirty="0"/>
          </a:p>
        </p:txBody>
      </p:sp>
      <p:sp>
        <p:nvSpPr>
          <p:cNvPr id="9" name="Shape 7"/>
          <p:cNvSpPr/>
          <p:nvPr/>
        </p:nvSpPr>
        <p:spPr>
          <a:xfrm>
            <a:off x="457200" y="2542032"/>
            <a:ext cx="5897880" cy="2057400"/>
          </a:xfrm>
          <a:prstGeom prst="roundRect">
            <a:avLst>
              <a:gd name="adj" fmla="val 2667"/>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10" name="Text 8"/>
          <p:cNvSpPr/>
          <p:nvPr/>
        </p:nvSpPr>
        <p:spPr>
          <a:xfrm>
            <a:off x="621792" y="2615184"/>
            <a:ext cx="562356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bean corsConfigurationSource</a:t>
            </a:r>
            <a:endParaRPr lang="en-US" sz="950" dirty="0"/>
          </a:p>
        </p:txBody>
      </p:sp>
      <p:sp>
        <p:nvSpPr>
          <p:cNvPr id="11" name="Text 9"/>
          <p:cNvSpPr/>
          <p:nvPr/>
        </p:nvSpPr>
        <p:spPr>
          <a:xfrm>
            <a:off x="621792" y="2871216"/>
            <a:ext cx="5586984" cy="1636776"/>
          </a:xfrm>
          <a:prstGeom prst="rect">
            <a:avLst/>
          </a:prstGeom>
          <a:noFill/>
          <a:ln/>
        </p:spPr>
        <p:txBody>
          <a:bodyPr wrap="square" lIns="0" tIns="0" rIns="0" bIns="0" rtlCol="0" anchor="t"/>
          <a:lstStyle/>
          <a:p>
            <a:pPr marL="0" indent="0">
              <a:lnSpc>
                <a:spcPct val="102000"/>
              </a:lnSpc>
              <a:buNone/>
            </a:pPr>
            <a:r>
              <a:rPr lang="en-US" sz="840" b="1" dirty="0">
                <a:solidFill>
                  <a:srgbClr val="7B2FBE"/>
                </a:solidFill>
                <a:latin typeface="Courier New" pitchFamily="34" charset="0"/>
                <a:ea typeface="Courier New" pitchFamily="34" charset="-122"/>
                <a:cs typeface="Courier New" pitchFamily="34" charset="-120"/>
              </a:rPr>
              <a:t>@Bean</a:t>
            </a:r>
            <a:endParaRPr lang="en-US" sz="840" dirty="0"/>
          </a:p>
          <a:p>
            <a:pPr marL="0" indent="0">
              <a:lnSpc>
                <a:spcPct val="102000"/>
              </a:lnSpc>
              <a:buNone/>
            </a:pPr>
            <a:r>
              <a:rPr lang="en-US" sz="840" b="1" dirty="0">
                <a:solidFill>
                  <a:srgbClr val="0057AE"/>
                </a:solidFill>
                <a:latin typeface="Courier New" pitchFamily="34" charset="0"/>
                <a:ea typeface="Courier New" pitchFamily="34" charset="-122"/>
                <a:cs typeface="Courier New" pitchFamily="34" charset="-120"/>
              </a:rPr>
              <a:t>public</a:t>
            </a:r>
            <a:r>
              <a:rPr lang="en-US" sz="840" dirty="0">
                <a:solidFill>
                  <a:srgbClr val="383A42"/>
                </a:solidFill>
                <a:latin typeface="Courier New" pitchFamily="34" charset="0"/>
                <a:ea typeface="Courier New" pitchFamily="34" charset="-122"/>
                <a:cs typeface="Courier New" pitchFamily="34" charset="-120"/>
              </a:rPr>
              <a:t> </a:t>
            </a:r>
            <a:r>
              <a:rPr lang="en-US" sz="840" dirty="0">
                <a:solidFill>
                  <a:srgbClr val="2D8000"/>
                </a:solidFill>
                <a:latin typeface="Courier New" pitchFamily="34" charset="0"/>
                <a:ea typeface="Courier New" pitchFamily="34" charset="-122"/>
                <a:cs typeface="Courier New" pitchFamily="34" charset="-120"/>
              </a:rPr>
              <a:t>CorsConfigurationSource</a:t>
            </a:r>
            <a:r>
              <a:rPr lang="en-US" sz="840" dirty="0">
                <a:solidFill>
                  <a:srgbClr val="383A42"/>
                </a:solidFill>
                <a:latin typeface="Courier New" pitchFamily="34" charset="0"/>
                <a:ea typeface="Courier New" pitchFamily="34" charset="-122"/>
                <a:cs typeface="Courier New" pitchFamily="34" charset="-120"/>
              </a:rPr>
              <a:t> corsConfigurationSource() {</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a:t>
            </a:r>
            <a:r>
              <a:rPr lang="en-US" sz="840" dirty="0">
                <a:solidFill>
                  <a:srgbClr val="2D8000"/>
                </a:solidFill>
                <a:latin typeface="Courier New" pitchFamily="34" charset="0"/>
                <a:ea typeface="Courier New" pitchFamily="34" charset="-122"/>
                <a:cs typeface="Courier New" pitchFamily="34" charset="-120"/>
              </a:rPr>
              <a:t>CorsConfiguration</a:t>
            </a:r>
            <a:r>
              <a:rPr lang="en-US" sz="840" dirty="0">
                <a:solidFill>
                  <a:srgbClr val="383A42"/>
                </a:solidFill>
                <a:latin typeface="Courier New" pitchFamily="34" charset="0"/>
                <a:ea typeface="Courier New" pitchFamily="34" charset="-122"/>
                <a:cs typeface="Courier New" pitchFamily="34" charset="-120"/>
              </a:rPr>
              <a:t> config = </a:t>
            </a:r>
            <a:r>
              <a:rPr lang="en-US" sz="840" b="1" dirty="0">
                <a:solidFill>
                  <a:srgbClr val="0057AE"/>
                </a:solidFill>
                <a:latin typeface="Courier New" pitchFamily="34" charset="0"/>
                <a:ea typeface="Courier New" pitchFamily="34" charset="-122"/>
                <a:cs typeface="Courier New" pitchFamily="34" charset="-120"/>
              </a:rPr>
              <a:t>new</a:t>
            </a:r>
            <a:r>
              <a:rPr lang="en-US" sz="840" dirty="0">
                <a:solidFill>
                  <a:srgbClr val="383A42"/>
                </a:solidFill>
                <a:latin typeface="Courier New" pitchFamily="34" charset="0"/>
                <a:ea typeface="Courier New" pitchFamily="34" charset="-122"/>
                <a:cs typeface="Courier New" pitchFamily="34" charset="-120"/>
              </a:rPr>
              <a:t> </a:t>
            </a:r>
            <a:r>
              <a:rPr lang="en-US" sz="840" dirty="0">
                <a:solidFill>
                  <a:srgbClr val="2D8000"/>
                </a:solidFill>
                <a:latin typeface="Courier New" pitchFamily="34" charset="0"/>
                <a:ea typeface="Courier New" pitchFamily="34" charset="-122"/>
                <a:cs typeface="Courier New" pitchFamily="34" charset="-120"/>
              </a:rPr>
              <a:t>CorsConfiguration</a:t>
            </a:r>
            <a:r>
              <a:rPr lang="en-US" sz="840" dirty="0">
                <a:solidFill>
                  <a:srgbClr val="383A42"/>
                </a:solidFill>
                <a:latin typeface="Courier New" pitchFamily="34" charset="0"/>
                <a:ea typeface="Courier New" pitchFamily="34" charset="-122"/>
                <a:cs typeface="Courier New" pitchFamily="34" charset="-120"/>
              </a:rPr>
              <a:t>();</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config.setAllowedOrigins(</a:t>
            </a:r>
            <a:r>
              <a:rPr lang="en-US" sz="840" dirty="0">
                <a:solidFill>
                  <a:srgbClr val="2D8000"/>
                </a:solidFill>
                <a:latin typeface="Courier New" pitchFamily="34" charset="0"/>
                <a:ea typeface="Courier New" pitchFamily="34" charset="-122"/>
                <a:cs typeface="Courier New" pitchFamily="34" charset="-120"/>
              </a:rPr>
              <a:t>List</a:t>
            </a:r>
            <a:r>
              <a:rPr lang="en-US" sz="840" dirty="0">
                <a:solidFill>
                  <a:srgbClr val="383A42"/>
                </a:solidFill>
                <a:latin typeface="Courier New" pitchFamily="34" charset="0"/>
                <a:ea typeface="Courier New" pitchFamily="34" charset="-122"/>
                <a:cs typeface="Courier New" pitchFamily="34" charset="-120"/>
              </a:rPr>
              <a:t>.of(</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https:</a:t>
            </a:r>
            <a:r>
              <a:rPr lang="en-US" sz="840" i="1" dirty="0">
                <a:solidFill>
                  <a:srgbClr val="717171"/>
                </a:solidFill>
                <a:latin typeface="Courier New" pitchFamily="34" charset="0"/>
                <a:ea typeface="Courier New" pitchFamily="34" charset="-122"/>
                <a:cs typeface="Courier New" pitchFamily="34" charset="-120"/>
              </a:rPr>
              <a:t>//app.uteq.edu.ec", "http://localhost:4200"));</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config.setAllowedMethods(</a:t>
            </a:r>
            <a:r>
              <a:rPr lang="en-US" sz="840" dirty="0">
                <a:solidFill>
                  <a:srgbClr val="2D8000"/>
                </a:solidFill>
                <a:latin typeface="Courier New" pitchFamily="34" charset="0"/>
                <a:ea typeface="Courier New" pitchFamily="34" charset="-122"/>
                <a:cs typeface="Courier New" pitchFamily="34" charset="-120"/>
              </a:rPr>
              <a:t>List</a:t>
            </a:r>
            <a:r>
              <a:rPr lang="en-US" sz="840" dirty="0">
                <a:solidFill>
                  <a:srgbClr val="383A42"/>
                </a:solidFill>
                <a:latin typeface="Courier New" pitchFamily="34" charset="0"/>
                <a:ea typeface="Courier New" pitchFamily="34" charset="-122"/>
                <a:cs typeface="Courier New" pitchFamily="34" charset="-120"/>
              </a:rPr>
              <a:t>.of(</a:t>
            </a:r>
            <a:r>
              <a:rPr lang="en-US" sz="840" dirty="0">
                <a:solidFill>
                  <a:srgbClr val="C41A16"/>
                </a:solidFill>
                <a:latin typeface="Courier New" pitchFamily="34" charset="0"/>
                <a:ea typeface="Courier New" pitchFamily="34" charset="-122"/>
                <a:cs typeface="Courier New" pitchFamily="34" charset="-120"/>
              </a:rPr>
              <a:t>"GET"</a:t>
            </a:r>
            <a:r>
              <a:rPr lang="en-US" sz="840" dirty="0">
                <a:solidFill>
                  <a:srgbClr val="383A42"/>
                </a:solidFill>
                <a:latin typeface="Courier New" pitchFamily="34" charset="0"/>
                <a:ea typeface="Courier New" pitchFamily="34" charset="-122"/>
                <a:cs typeface="Courier New" pitchFamily="34" charset="-120"/>
              </a:rPr>
              <a:t>,</a:t>
            </a:r>
            <a:r>
              <a:rPr lang="en-US" sz="840" dirty="0">
                <a:solidFill>
                  <a:srgbClr val="C41A16"/>
                </a:solidFill>
                <a:latin typeface="Courier New" pitchFamily="34" charset="0"/>
                <a:ea typeface="Courier New" pitchFamily="34" charset="-122"/>
                <a:cs typeface="Courier New" pitchFamily="34" charset="-120"/>
              </a:rPr>
              <a:t>"POST"</a:t>
            </a:r>
            <a:r>
              <a:rPr lang="en-US" sz="840" dirty="0">
                <a:solidFill>
                  <a:srgbClr val="383A42"/>
                </a:solidFill>
                <a:latin typeface="Courier New" pitchFamily="34" charset="0"/>
                <a:ea typeface="Courier New" pitchFamily="34" charset="-122"/>
                <a:cs typeface="Courier New" pitchFamily="34" charset="-120"/>
              </a:rPr>
              <a:t>,</a:t>
            </a:r>
            <a:r>
              <a:rPr lang="en-US" sz="840" dirty="0">
                <a:solidFill>
                  <a:srgbClr val="C41A16"/>
                </a:solidFill>
                <a:latin typeface="Courier New" pitchFamily="34" charset="0"/>
                <a:ea typeface="Courier New" pitchFamily="34" charset="-122"/>
                <a:cs typeface="Courier New" pitchFamily="34" charset="-120"/>
              </a:rPr>
              <a:t>"PUT"</a:t>
            </a:r>
            <a:r>
              <a:rPr lang="en-US" sz="840" dirty="0">
                <a:solidFill>
                  <a:srgbClr val="383A42"/>
                </a:solidFill>
                <a:latin typeface="Courier New" pitchFamily="34" charset="0"/>
                <a:ea typeface="Courier New" pitchFamily="34" charset="-122"/>
                <a:cs typeface="Courier New" pitchFamily="34" charset="-120"/>
              </a:rPr>
              <a:t>,</a:t>
            </a:r>
            <a:r>
              <a:rPr lang="en-US" sz="840" dirty="0">
                <a:solidFill>
                  <a:srgbClr val="C41A16"/>
                </a:solidFill>
                <a:latin typeface="Courier New" pitchFamily="34" charset="0"/>
                <a:ea typeface="Courier New" pitchFamily="34" charset="-122"/>
                <a:cs typeface="Courier New" pitchFamily="34" charset="-120"/>
              </a:rPr>
              <a:t>"DELETE"</a:t>
            </a:r>
            <a:r>
              <a:rPr lang="en-US" sz="840" dirty="0">
                <a:solidFill>
                  <a:srgbClr val="383A42"/>
                </a:solidFill>
                <a:latin typeface="Courier New" pitchFamily="34" charset="0"/>
                <a:ea typeface="Courier New" pitchFamily="34" charset="-122"/>
                <a:cs typeface="Courier New" pitchFamily="34" charset="-120"/>
              </a:rPr>
              <a:t>,</a:t>
            </a:r>
            <a:r>
              <a:rPr lang="en-US" sz="840" dirty="0">
                <a:solidFill>
                  <a:srgbClr val="C41A16"/>
                </a:solidFill>
                <a:latin typeface="Courier New" pitchFamily="34" charset="0"/>
                <a:ea typeface="Courier New" pitchFamily="34" charset="-122"/>
                <a:cs typeface="Courier New" pitchFamily="34" charset="-120"/>
              </a:rPr>
              <a:t>"OPTIONS"</a:t>
            </a:r>
            <a:r>
              <a:rPr lang="en-US" sz="840" dirty="0">
                <a:solidFill>
                  <a:srgbClr val="383A42"/>
                </a:solidFill>
                <a:latin typeface="Courier New" pitchFamily="34" charset="0"/>
                <a:ea typeface="Courier New" pitchFamily="34" charset="-122"/>
                <a:cs typeface="Courier New" pitchFamily="34" charset="-120"/>
              </a:rPr>
              <a:t>));</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config.setAllowedHeaders(</a:t>
            </a:r>
            <a:r>
              <a:rPr lang="en-US" sz="840" dirty="0">
                <a:solidFill>
                  <a:srgbClr val="2D8000"/>
                </a:solidFill>
                <a:latin typeface="Courier New" pitchFamily="34" charset="0"/>
                <a:ea typeface="Courier New" pitchFamily="34" charset="-122"/>
                <a:cs typeface="Courier New" pitchFamily="34" charset="-120"/>
              </a:rPr>
              <a:t>List</a:t>
            </a:r>
            <a:r>
              <a:rPr lang="en-US" sz="840" dirty="0">
                <a:solidFill>
                  <a:srgbClr val="383A42"/>
                </a:solidFill>
                <a:latin typeface="Courier New" pitchFamily="34" charset="0"/>
                <a:ea typeface="Courier New" pitchFamily="34" charset="-122"/>
                <a:cs typeface="Courier New" pitchFamily="34" charset="-120"/>
              </a:rPr>
              <a:t>.of(</a:t>
            </a:r>
            <a:r>
              <a:rPr lang="en-US" sz="840" dirty="0">
                <a:solidFill>
                  <a:srgbClr val="C41A16"/>
                </a:solidFill>
                <a:latin typeface="Courier New" pitchFamily="34" charset="0"/>
                <a:ea typeface="Courier New" pitchFamily="34" charset="-122"/>
                <a:cs typeface="Courier New" pitchFamily="34" charset="-120"/>
              </a:rPr>
              <a:t>"Authorization"</a:t>
            </a:r>
            <a:r>
              <a:rPr lang="en-US" sz="840" dirty="0">
                <a:solidFill>
                  <a:srgbClr val="383A42"/>
                </a:solidFill>
                <a:latin typeface="Courier New" pitchFamily="34" charset="0"/>
                <a:ea typeface="Courier New" pitchFamily="34" charset="-122"/>
                <a:cs typeface="Courier New" pitchFamily="34" charset="-120"/>
              </a:rPr>
              <a:t>,</a:t>
            </a:r>
            <a:r>
              <a:rPr lang="en-US" sz="840" dirty="0">
                <a:solidFill>
                  <a:srgbClr val="C41A16"/>
                </a:solidFill>
                <a:latin typeface="Courier New" pitchFamily="34" charset="0"/>
                <a:ea typeface="Courier New" pitchFamily="34" charset="-122"/>
                <a:cs typeface="Courier New" pitchFamily="34" charset="-120"/>
              </a:rPr>
              <a:t>"Content-Type"</a:t>
            </a:r>
            <a:r>
              <a:rPr lang="en-US" sz="840" dirty="0">
                <a:solidFill>
                  <a:srgbClr val="383A42"/>
                </a:solidFill>
                <a:latin typeface="Courier New" pitchFamily="34" charset="0"/>
                <a:ea typeface="Courier New" pitchFamily="34" charset="-122"/>
                <a:cs typeface="Courier New" pitchFamily="34" charset="-120"/>
              </a:rPr>
              <a:t>));</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config.setAllowCredentials(</a:t>
            </a:r>
            <a:r>
              <a:rPr lang="en-US" sz="840" b="1" dirty="0">
                <a:solidFill>
                  <a:srgbClr val="0057AE"/>
                </a:solidFill>
                <a:latin typeface="Courier New" pitchFamily="34" charset="0"/>
                <a:ea typeface="Courier New" pitchFamily="34" charset="-122"/>
                <a:cs typeface="Courier New" pitchFamily="34" charset="-120"/>
              </a:rPr>
              <a:t>false</a:t>
            </a:r>
            <a:r>
              <a:rPr lang="en-US" sz="840" dirty="0">
                <a:solidFill>
                  <a:srgbClr val="383A42"/>
                </a:solidFill>
                <a:latin typeface="Courier New" pitchFamily="34" charset="0"/>
                <a:ea typeface="Courier New" pitchFamily="34" charset="-122"/>
                <a:cs typeface="Courier New" pitchFamily="34" charset="-120"/>
              </a:rPr>
              <a:t>);   </a:t>
            </a:r>
            <a:r>
              <a:rPr lang="en-US" sz="840" i="1" dirty="0">
                <a:solidFill>
                  <a:srgbClr val="717171"/>
                </a:solidFill>
                <a:latin typeface="Courier New" pitchFamily="34" charset="0"/>
                <a:ea typeface="Courier New" pitchFamily="34" charset="-122"/>
                <a:cs typeface="Courier New" pitchFamily="34" charset="-120"/>
              </a:rPr>
              <a:t>// token en cabecera, no cookies</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a:t>
            </a:r>
            <a:r>
              <a:rPr lang="en-US" sz="840" b="1" dirty="0">
                <a:solidFill>
                  <a:srgbClr val="0057AE"/>
                </a:solidFill>
                <a:latin typeface="Courier New" pitchFamily="34" charset="0"/>
                <a:ea typeface="Courier New" pitchFamily="34" charset="-122"/>
                <a:cs typeface="Courier New" pitchFamily="34" charset="-120"/>
              </a:rPr>
              <a:t>var</a:t>
            </a:r>
            <a:r>
              <a:rPr lang="en-US" sz="840" dirty="0">
                <a:solidFill>
                  <a:srgbClr val="383A42"/>
                </a:solidFill>
                <a:latin typeface="Courier New" pitchFamily="34" charset="0"/>
                <a:ea typeface="Courier New" pitchFamily="34" charset="-122"/>
                <a:cs typeface="Courier New" pitchFamily="34" charset="-120"/>
              </a:rPr>
              <a:t> source = </a:t>
            </a:r>
            <a:r>
              <a:rPr lang="en-US" sz="840" b="1" dirty="0">
                <a:solidFill>
                  <a:srgbClr val="0057AE"/>
                </a:solidFill>
                <a:latin typeface="Courier New" pitchFamily="34" charset="0"/>
                <a:ea typeface="Courier New" pitchFamily="34" charset="-122"/>
                <a:cs typeface="Courier New" pitchFamily="34" charset="-120"/>
              </a:rPr>
              <a:t>new</a:t>
            </a:r>
            <a:r>
              <a:rPr lang="en-US" sz="840" dirty="0">
                <a:solidFill>
                  <a:srgbClr val="383A42"/>
                </a:solidFill>
                <a:latin typeface="Courier New" pitchFamily="34" charset="0"/>
                <a:ea typeface="Courier New" pitchFamily="34" charset="-122"/>
                <a:cs typeface="Courier New" pitchFamily="34" charset="-120"/>
              </a:rPr>
              <a:t> </a:t>
            </a:r>
            <a:r>
              <a:rPr lang="en-US" sz="840" dirty="0">
                <a:solidFill>
                  <a:srgbClr val="2D8000"/>
                </a:solidFill>
                <a:latin typeface="Courier New" pitchFamily="34" charset="0"/>
                <a:ea typeface="Courier New" pitchFamily="34" charset="-122"/>
                <a:cs typeface="Courier New" pitchFamily="34" charset="-120"/>
              </a:rPr>
              <a:t>UrlBasedCorsConfigurationSource</a:t>
            </a:r>
            <a:r>
              <a:rPr lang="en-US" sz="840" dirty="0">
                <a:solidFill>
                  <a:srgbClr val="383A42"/>
                </a:solidFill>
                <a:latin typeface="Courier New" pitchFamily="34" charset="0"/>
                <a:ea typeface="Courier New" pitchFamily="34" charset="-122"/>
                <a:cs typeface="Courier New" pitchFamily="34" charset="-120"/>
              </a:rPr>
              <a:t>();</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source.registerCorsConfiguration(</a:t>
            </a:r>
            <a:r>
              <a:rPr lang="en-US" sz="840" dirty="0">
                <a:solidFill>
                  <a:srgbClr val="C41A16"/>
                </a:solidFill>
                <a:latin typeface="Courier New" pitchFamily="34" charset="0"/>
                <a:ea typeface="Courier New" pitchFamily="34" charset="-122"/>
                <a:cs typeface="Courier New" pitchFamily="34" charset="-120"/>
              </a:rPr>
              <a:t>"/**"</a:t>
            </a:r>
            <a:r>
              <a:rPr lang="en-US" sz="840" dirty="0">
                <a:solidFill>
                  <a:srgbClr val="383A42"/>
                </a:solidFill>
                <a:latin typeface="Courier New" pitchFamily="34" charset="0"/>
                <a:ea typeface="Courier New" pitchFamily="34" charset="-122"/>
                <a:cs typeface="Courier New" pitchFamily="34" charset="-120"/>
              </a:rPr>
              <a:t>, config);</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  </a:t>
            </a:r>
            <a:r>
              <a:rPr lang="en-US" sz="840" b="1" dirty="0">
                <a:solidFill>
                  <a:srgbClr val="0057AE"/>
                </a:solidFill>
                <a:latin typeface="Courier New" pitchFamily="34" charset="0"/>
                <a:ea typeface="Courier New" pitchFamily="34" charset="-122"/>
                <a:cs typeface="Courier New" pitchFamily="34" charset="-120"/>
              </a:rPr>
              <a:t>return</a:t>
            </a:r>
            <a:r>
              <a:rPr lang="en-US" sz="840" dirty="0">
                <a:solidFill>
                  <a:srgbClr val="383A42"/>
                </a:solidFill>
                <a:latin typeface="Courier New" pitchFamily="34" charset="0"/>
                <a:ea typeface="Courier New" pitchFamily="34" charset="-122"/>
                <a:cs typeface="Courier New" pitchFamily="34" charset="-120"/>
              </a:rPr>
              <a:t> source;</a:t>
            </a:r>
            <a:endParaRPr lang="en-US" sz="840" dirty="0"/>
          </a:p>
          <a:p>
            <a:pPr marL="0" indent="0">
              <a:lnSpc>
                <a:spcPct val="102000"/>
              </a:lnSpc>
              <a:buNone/>
            </a:pPr>
            <a:r>
              <a:rPr lang="en-US" sz="840" dirty="0">
                <a:solidFill>
                  <a:srgbClr val="383A42"/>
                </a:solidFill>
                <a:latin typeface="Courier New" pitchFamily="34" charset="0"/>
                <a:ea typeface="Courier New" pitchFamily="34" charset="-122"/>
                <a:cs typeface="Courier New" pitchFamily="34" charset="-120"/>
              </a:rPr>
              <a:t>}</a:t>
            </a:r>
            <a:endParaRPr lang="en-US" sz="840" dirty="0"/>
          </a:p>
        </p:txBody>
      </p:sp>
      <p:sp>
        <p:nvSpPr>
          <p:cNvPr id="12" name="Shape 10"/>
          <p:cNvSpPr/>
          <p:nvPr/>
        </p:nvSpPr>
        <p:spPr>
          <a:xfrm>
            <a:off x="6492240" y="2542032"/>
            <a:ext cx="2194560" cy="2057400"/>
          </a:xfrm>
          <a:prstGeom prst="roundRect">
            <a:avLst>
              <a:gd name="adj" fmla="val 3556"/>
            </a:avLst>
          </a:prstGeom>
          <a:solidFill>
            <a:srgbClr val="FBE9E7"/>
          </a:solidFill>
          <a:ln/>
          <a:effectLst>
            <a:outerShdw blurRad="88900" dist="38100" dir="5400000" algn="bl" rotWithShape="0">
              <a:srgbClr val="000000">
                <a:alpha val="16000"/>
              </a:srgbClr>
            </a:outerShdw>
          </a:effectLst>
        </p:spPr>
        <p:txBody>
          <a:bodyPr/>
          <a:lstStyle/>
          <a:p>
            <a:endParaRPr lang="es-ES"/>
          </a:p>
        </p:txBody>
      </p:sp>
      <p:sp>
        <p:nvSpPr>
          <p:cNvPr id="13" name="Text 11"/>
          <p:cNvSpPr/>
          <p:nvPr/>
        </p:nvSpPr>
        <p:spPr>
          <a:xfrm>
            <a:off x="6656832" y="2651760"/>
            <a:ext cx="1874520" cy="1828800"/>
          </a:xfrm>
          <a:prstGeom prst="rect">
            <a:avLst/>
          </a:prstGeom>
          <a:noFill/>
          <a:ln/>
        </p:spPr>
        <p:txBody>
          <a:bodyPr wrap="square" lIns="0" tIns="0" rIns="0" bIns="0" rtlCol="0" anchor="t"/>
          <a:lstStyle/>
          <a:p>
            <a:pPr marL="0" indent="0">
              <a:lnSpc>
                <a:spcPct val="104000"/>
              </a:lnSpc>
              <a:buNone/>
            </a:pPr>
            <a:r>
              <a:rPr lang="en-US" sz="1200" b="1" dirty="0">
                <a:solidFill>
                  <a:srgbClr val="B23A18"/>
                </a:solidFill>
                <a:latin typeface="Calibri" pitchFamily="34" charset="0"/>
                <a:ea typeface="Calibri" pitchFamily="34" charset="-122"/>
                <a:cs typeface="Calibri" pitchFamily="34" charset="-120"/>
              </a:rPr>
              <a:t>Dos trampas
</a:t>
            </a:r>
            <a:endParaRPr lang="en-US" sz="1200" dirty="0"/>
          </a:p>
          <a:p>
            <a:pPr marL="0" indent="0">
              <a:lnSpc>
                <a:spcPct val="104000"/>
              </a:lnSpc>
              <a:buNone/>
            </a:pPr>
            <a:r>
              <a:rPr lang="en-US" sz="950" dirty="0">
                <a:solidFill>
                  <a:srgbClr val="5C6B62"/>
                </a:solidFill>
                <a:latin typeface="Calibri" pitchFamily="34" charset="0"/>
                <a:ea typeface="Calibri" pitchFamily="34" charset="-122"/>
                <a:cs typeface="Calibri" pitchFamily="34" charset="-120"/>
              </a:rPr>
              <a:t>El bean debe llamarse exacto corsConfigurationSource, o el preflight se rechaza en silencio.
</a:t>
            </a:r>
            <a:endParaRPr lang="en-US" sz="1200" dirty="0"/>
          </a:p>
          <a:p>
            <a:pPr marL="0" indent="0">
              <a:lnSpc>
                <a:spcPct val="104000"/>
              </a:lnSpc>
              <a:buNone/>
            </a:pPr>
            <a:r>
              <a:rPr lang="en-US" sz="950" b="1" dirty="0">
                <a:solidFill>
                  <a:srgbClr val="B23A18"/>
                </a:solidFill>
                <a:latin typeface="Calibri" pitchFamily="34" charset="0"/>
                <a:ea typeface="Calibri" pitchFamily="34" charset="-122"/>
                <a:cs typeface="Calibri" pitchFamily="34" charset="-120"/>
              </a:rPr>
              <a:t>Nunca '*' junto a allowCredentials(true).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CORS</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El cliente: Angular y Thymeleaf</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457200" y="1371600"/>
            <a:ext cx="4572000" cy="2240280"/>
          </a:xfrm>
          <a:prstGeom prst="roundRect">
            <a:avLst>
              <a:gd name="adj" fmla="val 2449"/>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621792" y="1444752"/>
            <a:ext cx="429768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Angular — auth.interceptor.ts</a:t>
            </a:r>
            <a:endParaRPr lang="en-US" sz="950" dirty="0"/>
          </a:p>
        </p:txBody>
      </p:sp>
      <p:sp>
        <p:nvSpPr>
          <p:cNvPr id="8" name="Text 6"/>
          <p:cNvSpPr/>
          <p:nvPr/>
        </p:nvSpPr>
        <p:spPr>
          <a:xfrm>
            <a:off x="621792" y="1700784"/>
            <a:ext cx="4261104" cy="1819656"/>
          </a:xfrm>
          <a:prstGeom prst="rect">
            <a:avLst/>
          </a:prstGeom>
          <a:noFill/>
          <a:ln/>
        </p:spPr>
        <p:txBody>
          <a:bodyPr wrap="square" lIns="0" tIns="0" rIns="0" bIns="0" rtlCol="0" anchor="t"/>
          <a:lstStyle/>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export const authInterceptor: HttpInterceptorFn =</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(req, next) =&gt; {</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const token = localStorage.getItem(</a:t>
            </a:r>
            <a:r>
              <a:rPr lang="en-US" sz="900" dirty="0">
                <a:solidFill>
                  <a:srgbClr val="C41A16"/>
                </a:solidFill>
                <a:latin typeface="Courier New" pitchFamily="34" charset="0"/>
                <a:ea typeface="Courier New" pitchFamily="34" charset="-122"/>
                <a:cs typeface="Courier New" pitchFamily="34" charset="-120"/>
              </a:rPr>
              <a:t>'token'</a:t>
            </a:r>
            <a:r>
              <a:rPr lang="en-US" sz="900" dirty="0">
                <a:solidFill>
                  <a:srgbClr val="383A42"/>
                </a:solidFill>
                <a:latin typeface="Courier New" pitchFamily="34" charset="0"/>
                <a:ea typeface="Courier New" pitchFamily="34" charset="-122"/>
                <a:cs typeface="Courier New" pitchFamily="34" charset="-120"/>
              </a:rPr>
              <a:t>);</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r>
              <a:rPr lang="en-US" sz="900" b="1" dirty="0">
                <a:solidFill>
                  <a:srgbClr val="0057AE"/>
                </a:solidFill>
                <a:latin typeface="Courier New" pitchFamily="34" charset="0"/>
                <a:ea typeface="Courier New" pitchFamily="34" charset="-122"/>
                <a:cs typeface="Courier New" pitchFamily="34" charset="-120"/>
              </a:rPr>
              <a:t>if</a:t>
            </a:r>
            <a:r>
              <a:rPr lang="en-US" sz="900" dirty="0">
                <a:solidFill>
                  <a:srgbClr val="383A42"/>
                </a:solidFill>
                <a:latin typeface="Courier New" pitchFamily="34" charset="0"/>
                <a:ea typeface="Courier New" pitchFamily="34" charset="-122"/>
                <a:cs typeface="Courier New" pitchFamily="34" charset="-120"/>
              </a:rPr>
              <a:t> (token) {</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req = req.clone({ setHeaders: {</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Authorization: `Bearer ${token}` } });</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  </a:t>
            </a:r>
            <a:r>
              <a:rPr lang="en-US" sz="900" b="1" dirty="0">
                <a:solidFill>
                  <a:srgbClr val="0057AE"/>
                </a:solidFill>
                <a:latin typeface="Courier New" pitchFamily="34" charset="0"/>
                <a:ea typeface="Courier New" pitchFamily="34" charset="-122"/>
                <a:cs typeface="Courier New" pitchFamily="34" charset="-120"/>
              </a:rPr>
              <a:t>return</a:t>
            </a:r>
            <a:r>
              <a:rPr lang="en-US" sz="900" dirty="0">
                <a:solidFill>
                  <a:srgbClr val="383A42"/>
                </a:solidFill>
                <a:latin typeface="Courier New" pitchFamily="34" charset="0"/>
                <a:ea typeface="Courier New" pitchFamily="34" charset="-122"/>
                <a:cs typeface="Courier New" pitchFamily="34" charset="-120"/>
              </a:rPr>
              <a:t> next(req);</a:t>
            </a:r>
            <a:endParaRPr lang="en-US" sz="900" dirty="0"/>
          </a:p>
          <a:p>
            <a:pPr marL="0" indent="0">
              <a:lnSpc>
                <a:spcPct val="102000"/>
              </a:lnSpc>
              <a:buNone/>
            </a:pPr>
            <a:r>
              <a:rPr lang="en-US" sz="900" dirty="0">
                <a:solidFill>
                  <a:srgbClr val="383A42"/>
                </a:solidFill>
                <a:latin typeface="Courier New" pitchFamily="34" charset="0"/>
                <a:ea typeface="Courier New" pitchFamily="34" charset="-122"/>
                <a:cs typeface="Courier New" pitchFamily="34" charset="-120"/>
              </a:rPr>
              <a:t>};</a:t>
            </a:r>
            <a:endParaRPr lang="en-US" sz="900" dirty="0"/>
          </a:p>
        </p:txBody>
      </p:sp>
      <p:sp>
        <p:nvSpPr>
          <p:cNvPr id="9" name="Text 7"/>
          <p:cNvSpPr/>
          <p:nvPr/>
        </p:nvSpPr>
        <p:spPr>
          <a:xfrm>
            <a:off x="457200" y="3703320"/>
            <a:ext cx="4572000" cy="731520"/>
          </a:xfrm>
          <a:prstGeom prst="rect">
            <a:avLst/>
          </a:prstGeom>
          <a:noFill/>
          <a:ln/>
        </p:spPr>
        <p:txBody>
          <a:bodyPr wrap="square" lIns="0" tIns="0" rIns="0" bIns="0" rtlCol="0" anchor="t"/>
          <a:lstStyle/>
          <a:p>
            <a:pPr marL="0" indent="0">
              <a:lnSpc>
                <a:spcPct val="105000"/>
              </a:lnSpc>
              <a:buNone/>
            </a:pPr>
            <a:r>
              <a:rPr lang="en-US" sz="1050" i="1" dirty="0">
                <a:solidFill>
                  <a:srgbClr val="5C6B62"/>
                </a:solidFill>
                <a:latin typeface="Calibri" pitchFamily="34" charset="0"/>
                <a:ea typeface="Calibri" pitchFamily="34" charset="-122"/>
                <a:cs typeface="Calibri" pitchFamily="34" charset="-120"/>
              </a:rPr>
              <a:t>Angular adjunta el token automaticamente en cada peticion. Aplica CORS (navegador).</a:t>
            </a:r>
            <a:endParaRPr lang="en-US" sz="1050" dirty="0"/>
          </a:p>
        </p:txBody>
      </p:sp>
      <p:sp>
        <p:nvSpPr>
          <p:cNvPr id="10" name="Shape 8"/>
          <p:cNvSpPr/>
          <p:nvPr/>
        </p:nvSpPr>
        <p:spPr>
          <a:xfrm>
            <a:off x="5166360" y="1371600"/>
            <a:ext cx="3520440" cy="2240280"/>
          </a:xfrm>
          <a:prstGeom prst="roundRect">
            <a:avLst>
              <a:gd name="adj" fmla="val 2449"/>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11" name="Text 9"/>
          <p:cNvSpPr/>
          <p:nvPr/>
        </p:nvSpPr>
        <p:spPr>
          <a:xfrm>
            <a:off x="5330952" y="1444752"/>
            <a:ext cx="324612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Thymeleaf — RestClient (backend)</a:t>
            </a:r>
            <a:endParaRPr lang="en-US" sz="950" dirty="0"/>
          </a:p>
        </p:txBody>
      </p:sp>
      <p:sp>
        <p:nvSpPr>
          <p:cNvPr id="12" name="Text 10"/>
          <p:cNvSpPr/>
          <p:nvPr/>
        </p:nvSpPr>
        <p:spPr>
          <a:xfrm>
            <a:off x="5330952" y="1700784"/>
            <a:ext cx="3209544" cy="1819656"/>
          </a:xfrm>
          <a:prstGeom prst="rect">
            <a:avLst/>
          </a:prstGeom>
          <a:noFill/>
          <a:ln/>
        </p:spPr>
        <p:txBody>
          <a:bodyPr wrap="square" lIns="0" tIns="0" rIns="0" bIns="0" rtlCol="0" anchor="t"/>
          <a:lstStyle/>
          <a:p>
            <a:pPr marL="0" indent="0">
              <a:lnSpc>
                <a:spcPct val="102000"/>
              </a:lnSpc>
              <a:buNone/>
            </a:pPr>
            <a:r>
              <a:rPr lang="en-US" sz="860" i="1" dirty="0">
                <a:solidFill>
                  <a:srgbClr val="717171"/>
                </a:solidFill>
                <a:latin typeface="Courier New" pitchFamily="34" charset="0"/>
                <a:ea typeface="Courier New" pitchFamily="34" charset="-122"/>
                <a:cs typeface="Courier New" pitchFamily="34" charset="-120"/>
              </a:rPr>
              <a:t>// token guardado en la sesion del usuario</a:t>
            </a:r>
            <a:endParaRPr lang="en-US" sz="860" dirty="0"/>
          </a:p>
          <a:p>
            <a:pPr marL="0" indent="0">
              <a:lnSpc>
                <a:spcPct val="102000"/>
              </a:lnSpc>
              <a:buNone/>
            </a:pPr>
            <a:r>
              <a:rPr lang="en-US" sz="860" dirty="0">
                <a:solidFill>
                  <a:srgbClr val="2D8000"/>
                </a:solidFill>
                <a:latin typeface="Courier New" pitchFamily="34" charset="0"/>
                <a:ea typeface="Courier New" pitchFamily="34" charset="-122"/>
                <a:cs typeface="Courier New" pitchFamily="34" charset="-120"/>
              </a:rPr>
              <a:t>EstudianteDTO</a:t>
            </a:r>
            <a:r>
              <a:rPr lang="en-US" sz="860" dirty="0">
                <a:solidFill>
                  <a:srgbClr val="383A42"/>
                </a:solidFill>
                <a:latin typeface="Courier New" pitchFamily="34" charset="0"/>
                <a:ea typeface="Courier New" pitchFamily="34" charset="-122"/>
                <a:cs typeface="Courier New" pitchFamily="34" charset="-120"/>
              </a:rPr>
              <a:t>[] datos = restClient.get()</a:t>
            </a:r>
            <a:endParaRPr lang="en-US" sz="860" dirty="0"/>
          </a:p>
          <a:p>
            <a:pPr marL="0" indent="0">
              <a:lnSpc>
                <a:spcPct val="102000"/>
              </a:lnSpc>
              <a:buNone/>
            </a:pPr>
            <a:r>
              <a:rPr lang="en-US" sz="860" dirty="0">
                <a:solidFill>
                  <a:srgbClr val="383A42"/>
                </a:solidFill>
                <a:latin typeface="Courier New" pitchFamily="34" charset="0"/>
                <a:ea typeface="Courier New" pitchFamily="34" charset="-122"/>
                <a:cs typeface="Courier New" pitchFamily="34" charset="-120"/>
              </a:rPr>
              <a:t>  .uri(https:</a:t>
            </a:r>
            <a:r>
              <a:rPr lang="en-US" sz="860" i="1" dirty="0">
                <a:solidFill>
                  <a:srgbClr val="717171"/>
                </a:solidFill>
                <a:latin typeface="Courier New" pitchFamily="34" charset="0"/>
                <a:ea typeface="Courier New" pitchFamily="34" charset="-122"/>
                <a:cs typeface="Courier New" pitchFamily="34" charset="-120"/>
              </a:rPr>
              <a:t>//api.uteq.edu.ec/api/estudiantes")</a:t>
            </a:r>
            <a:endParaRPr lang="en-US" sz="860" dirty="0"/>
          </a:p>
          <a:p>
            <a:pPr marL="0" indent="0">
              <a:lnSpc>
                <a:spcPct val="102000"/>
              </a:lnSpc>
              <a:buNone/>
            </a:pPr>
            <a:r>
              <a:rPr lang="en-US" sz="860" dirty="0">
                <a:solidFill>
                  <a:srgbClr val="383A42"/>
                </a:solidFill>
                <a:latin typeface="Courier New" pitchFamily="34" charset="0"/>
                <a:ea typeface="Courier New" pitchFamily="34" charset="-122"/>
                <a:cs typeface="Courier New" pitchFamily="34" charset="-120"/>
              </a:rPr>
              <a:t>  .header(</a:t>
            </a:r>
            <a:r>
              <a:rPr lang="en-US" sz="860" dirty="0">
                <a:solidFill>
                  <a:srgbClr val="C41A16"/>
                </a:solidFill>
                <a:latin typeface="Courier New" pitchFamily="34" charset="0"/>
                <a:ea typeface="Courier New" pitchFamily="34" charset="-122"/>
                <a:cs typeface="Courier New" pitchFamily="34" charset="-120"/>
              </a:rPr>
              <a:t>"Authorization"</a:t>
            </a:r>
            <a:r>
              <a:rPr lang="en-US" sz="860" dirty="0">
                <a:solidFill>
                  <a:srgbClr val="383A42"/>
                </a:solidFill>
                <a:latin typeface="Courier New" pitchFamily="34" charset="0"/>
                <a:ea typeface="Courier New" pitchFamily="34" charset="-122"/>
                <a:cs typeface="Courier New" pitchFamily="34" charset="-120"/>
              </a:rPr>
              <a:t>, </a:t>
            </a:r>
            <a:r>
              <a:rPr lang="en-US" sz="860" dirty="0">
                <a:solidFill>
                  <a:srgbClr val="C41A16"/>
                </a:solidFill>
                <a:latin typeface="Courier New" pitchFamily="34" charset="0"/>
                <a:ea typeface="Courier New" pitchFamily="34" charset="-122"/>
                <a:cs typeface="Courier New" pitchFamily="34" charset="-120"/>
              </a:rPr>
              <a:t>"Bearer "</a:t>
            </a:r>
            <a:r>
              <a:rPr lang="en-US" sz="860" dirty="0">
                <a:solidFill>
                  <a:srgbClr val="383A42"/>
                </a:solidFill>
                <a:latin typeface="Courier New" pitchFamily="34" charset="0"/>
                <a:ea typeface="Courier New" pitchFamily="34" charset="-122"/>
                <a:cs typeface="Courier New" pitchFamily="34" charset="-120"/>
              </a:rPr>
              <a:t> + token)</a:t>
            </a:r>
            <a:endParaRPr lang="en-US" sz="860" dirty="0"/>
          </a:p>
          <a:p>
            <a:pPr marL="0" indent="0">
              <a:lnSpc>
                <a:spcPct val="102000"/>
              </a:lnSpc>
              <a:buNone/>
            </a:pPr>
            <a:r>
              <a:rPr lang="en-US" sz="860" dirty="0">
                <a:solidFill>
                  <a:srgbClr val="383A42"/>
                </a:solidFill>
                <a:latin typeface="Courier New" pitchFamily="34" charset="0"/>
                <a:ea typeface="Courier New" pitchFamily="34" charset="-122"/>
                <a:cs typeface="Courier New" pitchFamily="34" charset="-120"/>
              </a:rPr>
              <a:t>  .retrieve()</a:t>
            </a:r>
            <a:endParaRPr lang="en-US" sz="860" dirty="0"/>
          </a:p>
          <a:p>
            <a:pPr marL="0" indent="0">
              <a:lnSpc>
                <a:spcPct val="102000"/>
              </a:lnSpc>
              <a:buNone/>
            </a:pPr>
            <a:r>
              <a:rPr lang="en-US" sz="860" dirty="0">
                <a:solidFill>
                  <a:srgbClr val="383A42"/>
                </a:solidFill>
                <a:latin typeface="Courier New" pitchFamily="34" charset="0"/>
                <a:ea typeface="Courier New" pitchFamily="34" charset="-122"/>
                <a:cs typeface="Courier New" pitchFamily="34" charset="-120"/>
              </a:rPr>
              <a:t>  .body(</a:t>
            </a:r>
            <a:r>
              <a:rPr lang="en-US" sz="860" dirty="0">
                <a:solidFill>
                  <a:srgbClr val="2D8000"/>
                </a:solidFill>
                <a:latin typeface="Courier New" pitchFamily="34" charset="0"/>
                <a:ea typeface="Courier New" pitchFamily="34" charset="-122"/>
                <a:cs typeface="Courier New" pitchFamily="34" charset="-120"/>
              </a:rPr>
              <a:t>EstudianteDTO</a:t>
            </a:r>
            <a:r>
              <a:rPr lang="en-US" sz="860" dirty="0">
                <a:solidFill>
                  <a:srgbClr val="383A42"/>
                </a:solidFill>
                <a:latin typeface="Courier New" pitchFamily="34" charset="0"/>
                <a:ea typeface="Courier New" pitchFamily="34" charset="-122"/>
                <a:cs typeface="Courier New" pitchFamily="34" charset="-120"/>
              </a:rPr>
              <a:t>[].</a:t>
            </a:r>
            <a:r>
              <a:rPr lang="en-US" sz="860" b="1" dirty="0">
                <a:solidFill>
                  <a:srgbClr val="0057AE"/>
                </a:solidFill>
                <a:latin typeface="Courier New" pitchFamily="34" charset="0"/>
                <a:ea typeface="Courier New" pitchFamily="34" charset="-122"/>
                <a:cs typeface="Courier New" pitchFamily="34" charset="-120"/>
              </a:rPr>
              <a:t>class</a:t>
            </a:r>
            <a:r>
              <a:rPr lang="en-US" sz="860" dirty="0">
                <a:solidFill>
                  <a:srgbClr val="383A42"/>
                </a:solidFill>
                <a:latin typeface="Courier New" pitchFamily="34" charset="0"/>
                <a:ea typeface="Courier New" pitchFamily="34" charset="-122"/>
                <a:cs typeface="Courier New" pitchFamily="34" charset="-120"/>
              </a:rPr>
              <a:t>);</a:t>
            </a:r>
            <a:endParaRPr lang="en-US" sz="860" dirty="0"/>
          </a:p>
        </p:txBody>
      </p:sp>
      <p:sp>
        <p:nvSpPr>
          <p:cNvPr id="13" name="Text 11"/>
          <p:cNvSpPr/>
          <p:nvPr/>
        </p:nvSpPr>
        <p:spPr>
          <a:xfrm>
            <a:off x="5166360" y="3703320"/>
            <a:ext cx="3520440" cy="731520"/>
          </a:xfrm>
          <a:prstGeom prst="rect">
            <a:avLst/>
          </a:prstGeom>
          <a:noFill/>
          <a:ln/>
        </p:spPr>
        <p:txBody>
          <a:bodyPr wrap="square" lIns="0" tIns="0" rIns="0" bIns="0" rtlCol="0" anchor="t"/>
          <a:lstStyle/>
          <a:p>
            <a:pPr marL="0" indent="0">
              <a:lnSpc>
                <a:spcPct val="105000"/>
              </a:lnSpc>
              <a:buNone/>
            </a:pPr>
            <a:r>
              <a:rPr lang="en-US" sz="1050" i="1" dirty="0">
                <a:solidFill>
                  <a:srgbClr val="5C6B62"/>
                </a:solidFill>
                <a:latin typeface="Calibri" pitchFamily="34" charset="0"/>
                <a:ea typeface="Calibri" pitchFamily="34" charset="-122"/>
                <a:cs typeface="Calibri" pitchFamily="34" charset="-120"/>
              </a:rPr>
              <a:t>Servidor a servidor: no hay CORS. El reto es custodiar el token.</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CIERRE TECNICO</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Buenas practicas y errores comunes</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 JWT</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457200" y="1371600"/>
            <a:ext cx="4069080" cy="786384"/>
          </a:xfrm>
          <a:prstGeom prst="roundRect">
            <a:avLst>
              <a:gd name="adj" fmla="val 9302"/>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7" name="Shape 5"/>
          <p:cNvSpPr/>
          <p:nvPr/>
        </p:nvSpPr>
        <p:spPr>
          <a:xfrm>
            <a:off x="603504" y="1527048"/>
            <a:ext cx="475488" cy="47548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8" name="Image 0" descr="preencoded.png"/>
          <p:cNvPicPr>
            <a:picLocks noChangeAspect="1"/>
          </p:cNvPicPr>
          <p:nvPr/>
        </p:nvPicPr>
        <p:blipFill>
          <a:blip r:embed="rId3"/>
          <a:stretch>
            <a:fillRect/>
          </a:stretch>
        </p:blipFill>
        <p:spPr>
          <a:xfrm>
            <a:off x="727131" y="1650675"/>
            <a:ext cx="228234" cy="228234"/>
          </a:xfrm>
          <a:prstGeom prst="rect">
            <a:avLst/>
          </a:prstGeom>
        </p:spPr>
      </p:pic>
      <p:sp>
        <p:nvSpPr>
          <p:cNvPr id="9" name="Text 6"/>
          <p:cNvSpPr/>
          <p:nvPr/>
        </p:nvSpPr>
        <p:spPr>
          <a:xfrm>
            <a:off x="1243584" y="1444752"/>
            <a:ext cx="3154680" cy="640080"/>
          </a:xfrm>
          <a:prstGeom prst="rect">
            <a:avLst/>
          </a:prstGeom>
          <a:noFill/>
          <a:ln/>
        </p:spPr>
        <p:txBody>
          <a:bodyPr wrap="square" lIns="0" tIns="0" rIns="0" bIns="0" rtlCol="0" anchor="ctr"/>
          <a:lstStyle/>
          <a:p>
            <a:pPr marL="0" indent="0">
              <a:lnSpc>
                <a:spcPct val="98000"/>
              </a:lnSpc>
              <a:buNone/>
            </a:pPr>
            <a:r>
              <a:rPr lang="en-US" sz="1250" b="1" dirty="0">
                <a:solidFill>
                  <a:srgbClr val="006633"/>
                </a:solidFill>
                <a:latin typeface="Calibri" pitchFamily="34" charset="0"/>
                <a:ea typeface="Calibri" pitchFamily="34" charset="-122"/>
                <a:cs typeface="Calibri" pitchFamily="34" charset="-120"/>
              </a:rPr>
              <a:t>Secreto fuera del codigo
</a:t>
            </a:r>
            <a:r>
              <a:rPr lang="en-US" sz="1050" dirty="0">
                <a:solidFill>
                  <a:srgbClr val="5C6B62"/>
                </a:solidFill>
                <a:latin typeface="Calibri" pitchFamily="34" charset="0"/>
                <a:ea typeface="Calibri" pitchFamily="34" charset="-122"/>
                <a:cs typeface="Calibri" pitchFamily="34" charset="-120"/>
              </a:rPr>
              <a:t>Variable de entorno; &gt;= 32 bytes para HS256.</a:t>
            </a:r>
            <a:endParaRPr lang="en-US" sz="1250" dirty="0"/>
          </a:p>
        </p:txBody>
      </p:sp>
      <p:sp>
        <p:nvSpPr>
          <p:cNvPr id="10" name="Shape 7"/>
          <p:cNvSpPr/>
          <p:nvPr/>
        </p:nvSpPr>
        <p:spPr>
          <a:xfrm>
            <a:off x="5029200" y="1371600"/>
            <a:ext cx="4069080" cy="786384"/>
          </a:xfrm>
          <a:prstGeom prst="roundRect">
            <a:avLst>
              <a:gd name="adj" fmla="val 9302"/>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1" name="Shape 8"/>
          <p:cNvSpPr/>
          <p:nvPr/>
        </p:nvSpPr>
        <p:spPr>
          <a:xfrm>
            <a:off x="5175504" y="1527048"/>
            <a:ext cx="475488" cy="47548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2" name="Image 1" descr="preencoded.png"/>
          <p:cNvPicPr>
            <a:picLocks noChangeAspect="1"/>
          </p:cNvPicPr>
          <p:nvPr/>
        </p:nvPicPr>
        <p:blipFill>
          <a:blip r:embed="rId4"/>
          <a:stretch>
            <a:fillRect/>
          </a:stretch>
        </p:blipFill>
        <p:spPr>
          <a:xfrm>
            <a:off x="5299131" y="1650675"/>
            <a:ext cx="228234" cy="228234"/>
          </a:xfrm>
          <a:prstGeom prst="rect">
            <a:avLst/>
          </a:prstGeom>
        </p:spPr>
      </p:pic>
      <p:sp>
        <p:nvSpPr>
          <p:cNvPr id="13" name="Text 9"/>
          <p:cNvSpPr/>
          <p:nvPr/>
        </p:nvSpPr>
        <p:spPr>
          <a:xfrm>
            <a:off x="5815584" y="1444752"/>
            <a:ext cx="3154680" cy="640080"/>
          </a:xfrm>
          <a:prstGeom prst="rect">
            <a:avLst/>
          </a:prstGeom>
          <a:noFill/>
          <a:ln/>
        </p:spPr>
        <p:txBody>
          <a:bodyPr wrap="square" lIns="0" tIns="0" rIns="0" bIns="0" rtlCol="0" anchor="ctr"/>
          <a:lstStyle/>
          <a:p>
            <a:pPr marL="0" indent="0">
              <a:lnSpc>
                <a:spcPct val="98000"/>
              </a:lnSpc>
              <a:buNone/>
            </a:pPr>
            <a:r>
              <a:rPr lang="en-US" sz="1250" b="1" dirty="0">
                <a:solidFill>
                  <a:srgbClr val="006633"/>
                </a:solidFill>
                <a:latin typeface="Calibri" pitchFamily="34" charset="0"/>
                <a:ea typeface="Calibri" pitchFamily="34" charset="-122"/>
                <a:cs typeface="Calibri" pitchFamily="34" charset="-120"/>
              </a:rPr>
              <a:t>Siempre HTTPS
</a:t>
            </a:r>
            <a:r>
              <a:rPr lang="en-US" sz="1050" dirty="0">
                <a:solidFill>
                  <a:srgbClr val="5C6B62"/>
                </a:solidFill>
                <a:latin typeface="Calibri" pitchFamily="34" charset="0"/>
                <a:ea typeface="Calibri" pitchFamily="34" charset="-122"/>
                <a:cs typeface="Calibri" pitchFamily="34" charset="-120"/>
              </a:rPr>
              <a:t>El token viaja en cada peticion.</a:t>
            </a:r>
            <a:endParaRPr lang="en-US" sz="1250" dirty="0"/>
          </a:p>
        </p:txBody>
      </p:sp>
      <p:sp>
        <p:nvSpPr>
          <p:cNvPr id="14" name="Shape 10"/>
          <p:cNvSpPr/>
          <p:nvPr/>
        </p:nvSpPr>
        <p:spPr>
          <a:xfrm>
            <a:off x="457200" y="2304288"/>
            <a:ext cx="4069080" cy="786384"/>
          </a:xfrm>
          <a:prstGeom prst="roundRect">
            <a:avLst>
              <a:gd name="adj" fmla="val 9302"/>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5" name="Shape 11"/>
          <p:cNvSpPr/>
          <p:nvPr/>
        </p:nvSpPr>
        <p:spPr>
          <a:xfrm>
            <a:off x="603504" y="2459736"/>
            <a:ext cx="475488" cy="47548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6" name="Image 2" descr="preencoded.png"/>
          <p:cNvPicPr>
            <a:picLocks noChangeAspect="1"/>
          </p:cNvPicPr>
          <p:nvPr/>
        </p:nvPicPr>
        <p:blipFill>
          <a:blip r:embed="rId5"/>
          <a:stretch>
            <a:fillRect/>
          </a:stretch>
        </p:blipFill>
        <p:spPr>
          <a:xfrm>
            <a:off x="727131" y="2583363"/>
            <a:ext cx="228234" cy="228234"/>
          </a:xfrm>
          <a:prstGeom prst="rect">
            <a:avLst/>
          </a:prstGeom>
        </p:spPr>
      </p:pic>
      <p:sp>
        <p:nvSpPr>
          <p:cNvPr id="17" name="Text 12"/>
          <p:cNvSpPr/>
          <p:nvPr/>
        </p:nvSpPr>
        <p:spPr>
          <a:xfrm>
            <a:off x="1243584" y="2377440"/>
            <a:ext cx="3154680" cy="640080"/>
          </a:xfrm>
          <a:prstGeom prst="rect">
            <a:avLst/>
          </a:prstGeom>
          <a:noFill/>
          <a:ln/>
        </p:spPr>
        <p:txBody>
          <a:bodyPr wrap="square" lIns="0" tIns="0" rIns="0" bIns="0" rtlCol="0" anchor="ctr"/>
          <a:lstStyle/>
          <a:p>
            <a:pPr marL="0" indent="0">
              <a:lnSpc>
                <a:spcPct val="98000"/>
              </a:lnSpc>
              <a:buNone/>
            </a:pPr>
            <a:r>
              <a:rPr lang="en-US" sz="1250" b="1" dirty="0">
                <a:solidFill>
                  <a:srgbClr val="006633"/>
                </a:solidFill>
                <a:latin typeface="Calibri" pitchFamily="34" charset="0"/>
                <a:ea typeface="Calibri" pitchFamily="34" charset="-122"/>
                <a:cs typeface="Calibri" pitchFamily="34" charset="-120"/>
              </a:rPr>
              <a:t>Expiracion corta
</a:t>
            </a:r>
            <a:r>
              <a:rPr lang="en-US" sz="1050" dirty="0">
                <a:solidFill>
                  <a:srgbClr val="5C6B62"/>
                </a:solidFill>
                <a:latin typeface="Calibri" pitchFamily="34" charset="0"/>
                <a:ea typeface="Calibri" pitchFamily="34" charset="-122"/>
                <a:cs typeface="Calibri" pitchFamily="34" charset="-120"/>
              </a:rPr>
              <a:t>1 hora; para sesiones largas, refresh token.</a:t>
            </a:r>
            <a:endParaRPr lang="en-US" sz="1250" dirty="0"/>
          </a:p>
        </p:txBody>
      </p:sp>
      <p:sp>
        <p:nvSpPr>
          <p:cNvPr id="18" name="Shape 13"/>
          <p:cNvSpPr/>
          <p:nvPr/>
        </p:nvSpPr>
        <p:spPr>
          <a:xfrm>
            <a:off x="5029200" y="2304288"/>
            <a:ext cx="4069080" cy="786384"/>
          </a:xfrm>
          <a:prstGeom prst="roundRect">
            <a:avLst>
              <a:gd name="adj" fmla="val 9302"/>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9" name="Shape 14"/>
          <p:cNvSpPr/>
          <p:nvPr/>
        </p:nvSpPr>
        <p:spPr>
          <a:xfrm>
            <a:off x="5175504" y="2459736"/>
            <a:ext cx="475488" cy="47548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0" name="Image 3" descr="preencoded.png"/>
          <p:cNvPicPr>
            <a:picLocks noChangeAspect="1"/>
          </p:cNvPicPr>
          <p:nvPr/>
        </p:nvPicPr>
        <p:blipFill>
          <a:blip r:embed="rId6"/>
          <a:stretch>
            <a:fillRect/>
          </a:stretch>
        </p:blipFill>
        <p:spPr>
          <a:xfrm>
            <a:off x="5299131" y="2583363"/>
            <a:ext cx="228234" cy="228234"/>
          </a:xfrm>
          <a:prstGeom prst="rect">
            <a:avLst/>
          </a:prstGeom>
        </p:spPr>
      </p:pic>
      <p:sp>
        <p:nvSpPr>
          <p:cNvPr id="21" name="Text 15"/>
          <p:cNvSpPr/>
          <p:nvPr/>
        </p:nvSpPr>
        <p:spPr>
          <a:xfrm>
            <a:off x="5815584" y="2377440"/>
            <a:ext cx="3154680" cy="640080"/>
          </a:xfrm>
          <a:prstGeom prst="rect">
            <a:avLst/>
          </a:prstGeom>
          <a:noFill/>
          <a:ln/>
        </p:spPr>
        <p:txBody>
          <a:bodyPr wrap="square" lIns="0" tIns="0" rIns="0" bIns="0" rtlCol="0" anchor="ctr"/>
          <a:lstStyle/>
          <a:p>
            <a:pPr marL="0" indent="0">
              <a:lnSpc>
                <a:spcPct val="98000"/>
              </a:lnSpc>
              <a:buNone/>
            </a:pPr>
            <a:r>
              <a:rPr lang="en-US" sz="1250" b="1" dirty="0">
                <a:solidFill>
                  <a:srgbClr val="006633"/>
                </a:solidFill>
                <a:latin typeface="Calibri" pitchFamily="34" charset="0"/>
                <a:ea typeface="Calibri" pitchFamily="34" charset="-122"/>
                <a:cs typeface="Calibri" pitchFamily="34" charset="-120"/>
              </a:rPr>
              <a:t>Nada sensible en el cuerpo
</a:t>
            </a:r>
            <a:r>
              <a:rPr lang="en-US" sz="1050" dirty="0">
                <a:solidFill>
                  <a:srgbClr val="5C6B62"/>
                </a:solidFill>
                <a:latin typeface="Calibri" pitchFamily="34" charset="0"/>
                <a:ea typeface="Calibri" pitchFamily="34" charset="-122"/>
                <a:cs typeface="Calibri" pitchFamily="34" charset="-120"/>
              </a:rPr>
              <a:t>El payload es legible; solo id y roles.</a:t>
            </a:r>
            <a:endParaRPr lang="en-US" sz="1250" dirty="0"/>
          </a:p>
        </p:txBody>
      </p:sp>
      <p:sp>
        <p:nvSpPr>
          <p:cNvPr id="22" name="Shape 16"/>
          <p:cNvSpPr/>
          <p:nvPr/>
        </p:nvSpPr>
        <p:spPr>
          <a:xfrm>
            <a:off x="457200" y="3236976"/>
            <a:ext cx="4069080" cy="786384"/>
          </a:xfrm>
          <a:prstGeom prst="roundRect">
            <a:avLst>
              <a:gd name="adj" fmla="val 9302"/>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23" name="Shape 17"/>
          <p:cNvSpPr/>
          <p:nvPr/>
        </p:nvSpPr>
        <p:spPr>
          <a:xfrm>
            <a:off x="603504" y="3392424"/>
            <a:ext cx="475488" cy="47548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4" name="Image 4" descr="preencoded.png"/>
          <p:cNvPicPr>
            <a:picLocks noChangeAspect="1"/>
          </p:cNvPicPr>
          <p:nvPr/>
        </p:nvPicPr>
        <p:blipFill>
          <a:blip r:embed="rId7"/>
          <a:stretch>
            <a:fillRect/>
          </a:stretch>
        </p:blipFill>
        <p:spPr>
          <a:xfrm>
            <a:off x="727131" y="3516051"/>
            <a:ext cx="228234" cy="228234"/>
          </a:xfrm>
          <a:prstGeom prst="rect">
            <a:avLst/>
          </a:prstGeom>
        </p:spPr>
      </p:pic>
      <p:sp>
        <p:nvSpPr>
          <p:cNvPr id="25" name="Text 18"/>
          <p:cNvSpPr/>
          <p:nvPr/>
        </p:nvSpPr>
        <p:spPr>
          <a:xfrm>
            <a:off x="1243584" y="3310128"/>
            <a:ext cx="3154680" cy="640080"/>
          </a:xfrm>
          <a:prstGeom prst="rect">
            <a:avLst/>
          </a:prstGeom>
          <a:noFill/>
          <a:ln/>
        </p:spPr>
        <p:txBody>
          <a:bodyPr wrap="square" lIns="0" tIns="0" rIns="0" bIns="0" rtlCol="0" anchor="ctr"/>
          <a:lstStyle/>
          <a:p>
            <a:pPr marL="0" indent="0">
              <a:lnSpc>
                <a:spcPct val="98000"/>
              </a:lnSpc>
              <a:buNone/>
            </a:pPr>
            <a:r>
              <a:rPr lang="en-US" sz="1250" b="1" dirty="0">
                <a:solidFill>
                  <a:srgbClr val="006633"/>
                </a:solidFill>
                <a:latin typeface="Calibri" pitchFamily="34" charset="0"/>
                <a:ea typeface="Calibri" pitchFamily="34" charset="-122"/>
                <a:cs typeface="Calibri" pitchFamily="34" charset="-120"/>
              </a:rPr>
              <a:t>Contrasenas con BCrypt
</a:t>
            </a:r>
            <a:r>
              <a:rPr lang="en-US" sz="1050" dirty="0">
                <a:solidFill>
                  <a:srgbClr val="5C6B62"/>
                </a:solidFill>
                <a:latin typeface="Calibri" pitchFamily="34" charset="0"/>
                <a:ea typeface="Calibri" pitchFamily="34" charset="-122"/>
                <a:cs typeface="Calibri" pitchFamily="34" charset="-120"/>
              </a:rPr>
              <a:t>Con sal y coste; nunca MD5/SHA simple.</a:t>
            </a:r>
            <a:endParaRPr lang="en-US" sz="1250" dirty="0"/>
          </a:p>
        </p:txBody>
      </p:sp>
      <p:sp>
        <p:nvSpPr>
          <p:cNvPr id="26" name="Shape 19"/>
          <p:cNvSpPr/>
          <p:nvPr/>
        </p:nvSpPr>
        <p:spPr>
          <a:xfrm>
            <a:off x="5029200" y="3236976"/>
            <a:ext cx="4069080" cy="786384"/>
          </a:xfrm>
          <a:prstGeom prst="roundRect">
            <a:avLst>
              <a:gd name="adj" fmla="val 9302"/>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27" name="Shape 20"/>
          <p:cNvSpPr/>
          <p:nvPr/>
        </p:nvSpPr>
        <p:spPr>
          <a:xfrm>
            <a:off x="5175504" y="3392424"/>
            <a:ext cx="475488" cy="47548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8" name="Image 5" descr="preencoded.png"/>
          <p:cNvPicPr>
            <a:picLocks noChangeAspect="1"/>
          </p:cNvPicPr>
          <p:nvPr/>
        </p:nvPicPr>
        <p:blipFill>
          <a:blip r:embed="rId8"/>
          <a:stretch>
            <a:fillRect/>
          </a:stretch>
        </p:blipFill>
        <p:spPr>
          <a:xfrm>
            <a:off x="5299131" y="3516051"/>
            <a:ext cx="228234" cy="228234"/>
          </a:xfrm>
          <a:prstGeom prst="rect">
            <a:avLst/>
          </a:prstGeom>
        </p:spPr>
      </p:pic>
      <p:sp>
        <p:nvSpPr>
          <p:cNvPr id="29" name="Text 21"/>
          <p:cNvSpPr/>
          <p:nvPr/>
        </p:nvSpPr>
        <p:spPr>
          <a:xfrm>
            <a:off x="5815584" y="3310128"/>
            <a:ext cx="3154680" cy="640080"/>
          </a:xfrm>
          <a:prstGeom prst="rect">
            <a:avLst/>
          </a:prstGeom>
          <a:noFill/>
          <a:ln/>
        </p:spPr>
        <p:txBody>
          <a:bodyPr wrap="square" lIns="0" tIns="0" rIns="0" bIns="0" rtlCol="0" anchor="ctr"/>
          <a:lstStyle/>
          <a:p>
            <a:pPr marL="0" indent="0">
              <a:lnSpc>
                <a:spcPct val="98000"/>
              </a:lnSpc>
              <a:buNone/>
            </a:pPr>
            <a:r>
              <a:rPr lang="en-US" sz="1250" b="1" dirty="0">
                <a:solidFill>
                  <a:srgbClr val="006633"/>
                </a:solidFill>
                <a:latin typeface="Calibri" pitchFamily="34" charset="0"/>
                <a:ea typeface="Calibri" pitchFamily="34" charset="-122"/>
                <a:cs typeface="Calibri" pitchFamily="34" charset="-120"/>
              </a:rPr>
              <a:t>Filtro bien registrado
</a:t>
            </a:r>
            <a:r>
              <a:rPr lang="en-US" sz="1050" dirty="0">
                <a:solidFill>
                  <a:srgbClr val="5C6B62"/>
                </a:solidFill>
                <a:latin typeface="Calibri" pitchFamily="34" charset="0"/>
                <a:ea typeface="Calibri" pitchFamily="34" charset="-122"/>
                <a:cs typeface="Calibri" pitchFamily="34" charset="-120"/>
              </a:rPr>
              <a:t>@Component + addFilterBefore.</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53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532A"/>
          </a:solidFill>
          <a:ln/>
        </p:spPr>
        <p:txBody>
          <a:bodyPr/>
          <a:lstStyle/>
          <a:p>
            <a:endParaRPr lang="es-ES"/>
          </a:p>
        </p:txBody>
      </p:sp>
      <p:sp>
        <p:nvSpPr>
          <p:cNvPr id="3" name="Shape 1"/>
          <p:cNvSpPr/>
          <p:nvPr/>
        </p:nvSpPr>
        <p:spPr>
          <a:xfrm>
            <a:off x="-1280160" y="2743200"/>
            <a:ext cx="3291840" cy="3291840"/>
          </a:xfrm>
          <a:prstGeom prst="ellipse">
            <a:avLst/>
          </a:prstGeom>
          <a:solidFill>
            <a:srgbClr val="003D1F"/>
          </a:solidFill>
          <a:ln/>
        </p:spPr>
        <p:txBody>
          <a:bodyPr/>
          <a:lstStyle/>
          <a:p>
            <a:endParaRPr lang="es-ES"/>
          </a:p>
        </p:txBody>
      </p:sp>
      <p:sp>
        <p:nvSpPr>
          <p:cNvPr id="4" name="Shape 2"/>
          <p:cNvSpPr/>
          <p:nvPr/>
        </p:nvSpPr>
        <p:spPr>
          <a:xfrm>
            <a:off x="7680960" y="-1097280"/>
            <a:ext cx="2926080" cy="2926080"/>
          </a:xfrm>
          <a:prstGeom prst="ellipse">
            <a:avLst/>
          </a:prstGeom>
          <a:solidFill>
            <a:srgbClr val="00622F"/>
          </a:solidFill>
          <a:ln/>
        </p:spPr>
        <p:txBody>
          <a:bodyPr/>
          <a:lstStyle/>
          <a:p>
            <a:endParaRPr lang="es-ES"/>
          </a:p>
        </p:txBody>
      </p:sp>
      <p:sp>
        <p:nvSpPr>
          <p:cNvPr id="5" name="Shape 3"/>
          <p:cNvSpPr/>
          <p:nvPr/>
        </p:nvSpPr>
        <p:spPr>
          <a:xfrm>
            <a:off x="566928" y="640080"/>
            <a:ext cx="777240" cy="777240"/>
          </a:xfrm>
          <a:prstGeom prst="ellipse">
            <a:avLst/>
          </a:prstGeom>
          <a:solidFill>
            <a:srgbClr val="CC9900"/>
          </a:solidFill>
          <a:ln/>
          <a:effectLst>
            <a:outerShdw blurRad="88900" dist="38100" dir="5400000" algn="bl" rotWithShape="0">
              <a:srgbClr val="000000">
                <a:alpha val="16000"/>
              </a:srgbClr>
            </a:outerShdw>
          </a:effectLst>
        </p:spPr>
        <p:txBody>
          <a:bodyPr/>
          <a:lstStyle/>
          <a:p>
            <a:endParaRPr lang="es-ES"/>
          </a:p>
        </p:txBody>
      </p:sp>
      <p:pic>
        <p:nvPicPr>
          <p:cNvPr id="6" name="Image 0" descr="preencoded.png"/>
          <p:cNvPicPr>
            <a:picLocks noChangeAspect="1"/>
          </p:cNvPicPr>
          <p:nvPr/>
        </p:nvPicPr>
        <p:blipFill>
          <a:blip r:embed="rId3"/>
          <a:stretch>
            <a:fillRect/>
          </a:stretch>
        </p:blipFill>
        <p:spPr>
          <a:xfrm>
            <a:off x="769010" y="842162"/>
            <a:ext cx="373075" cy="373075"/>
          </a:xfrm>
          <a:prstGeom prst="rect">
            <a:avLst/>
          </a:prstGeom>
        </p:spPr>
      </p:pic>
      <p:sp>
        <p:nvSpPr>
          <p:cNvPr id="7" name="Text 4"/>
          <p:cNvSpPr/>
          <p:nvPr/>
        </p:nvSpPr>
        <p:spPr>
          <a:xfrm>
            <a:off x="1554480" y="777240"/>
            <a:ext cx="5486400" cy="365760"/>
          </a:xfrm>
          <a:prstGeom prst="rect">
            <a:avLst/>
          </a:prstGeom>
          <a:noFill/>
          <a:ln/>
        </p:spPr>
        <p:txBody>
          <a:bodyPr wrap="square" lIns="0" tIns="0" rIns="0" bIns="0" rtlCol="0" anchor="ctr"/>
          <a:lstStyle/>
          <a:p>
            <a:pPr marL="0" indent="0">
              <a:buNone/>
            </a:pPr>
            <a:r>
              <a:rPr lang="en-US" sz="1400" b="1" kern="0" spc="500" dirty="0">
                <a:solidFill>
                  <a:srgbClr val="E8B923"/>
                </a:solidFill>
                <a:latin typeface="Calibri" pitchFamily="34" charset="0"/>
                <a:ea typeface="Calibri" pitchFamily="34" charset="-122"/>
                <a:cs typeface="Calibri" pitchFamily="34" charset="-120"/>
              </a:rPr>
              <a:t>CIERRE</a:t>
            </a:r>
            <a:endParaRPr lang="en-US" sz="1400" dirty="0"/>
          </a:p>
        </p:txBody>
      </p:sp>
      <p:sp>
        <p:nvSpPr>
          <p:cNvPr id="8" name="Text 5"/>
          <p:cNvSpPr/>
          <p:nvPr/>
        </p:nvSpPr>
        <p:spPr>
          <a:xfrm>
            <a:off x="566928" y="1554480"/>
            <a:ext cx="804672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De una API abierta a una API protegida</a:t>
            </a:r>
            <a:endParaRPr lang="en-US" sz="3000" dirty="0"/>
          </a:p>
        </p:txBody>
      </p:sp>
      <p:sp>
        <p:nvSpPr>
          <p:cNvPr id="9" name="Text 6"/>
          <p:cNvSpPr/>
          <p:nvPr/>
        </p:nvSpPr>
        <p:spPr>
          <a:xfrm>
            <a:off x="566928" y="2377440"/>
            <a:ext cx="7863840" cy="822960"/>
          </a:xfrm>
          <a:prstGeom prst="rect">
            <a:avLst/>
          </a:prstGeom>
          <a:noFill/>
          <a:ln/>
        </p:spPr>
        <p:txBody>
          <a:bodyPr wrap="square" lIns="0" tIns="0" rIns="0" bIns="0" rtlCol="0" anchor="ctr"/>
          <a:lstStyle/>
          <a:p>
            <a:pPr marL="0" indent="0">
              <a:lnSpc>
                <a:spcPct val="105000"/>
              </a:lnSpc>
              <a:buNone/>
            </a:pPr>
            <a:r>
              <a:rPr lang="en-US" sz="1500" dirty="0">
                <a:solidFill>
                  <a:srgbClr val="CFE3D6"/>
                </a:solidFill>
                <a:latin typeface="Calibri" pitchFamily="34" charset="0"/>
                <a:ea typeface="Calibri" pitchFamily="34" charset="-122"/>
                <a:cs typeface="Calibri" pitchFamily="34" charset="-120"/>
              </a:rPr>
              <a:t>Anadiste autenticacion con </a:t>
            </a:r>
            <a:r>
              <a:rPr lang="en-US" sz="1500" b="1" dirty="0">
                <a:solidFill>
                  <a:srgbClr val="E8B923"/>
                </a:solidFill>
                <a:latin typeface="Calibri" pitchFamily="34" charset="0"/>
                <a:ea typeface="Calibri" pitchFamily="34" charset="-122"/>
                <a:cs typeface="Calibri" pitchFamily="34" charset="-120"/>
              </a:rPr>
              <a:t>JWT firmado</a:t>
            </a:r>
            <a:r>
              <a:rPr lang="en-US" sz="1500" dirty="0">
                <a:solidFill>
                  <a:srgbClr val="CFE3D6"/>
                </a:solidFill>
                <a:latin typeface="Calibri" pitchFamily="34" charset="0"/>
                <a:ea typeface="Calibri" pitchFamily="34" charset="-122"/>
                <a:cs typeface="Calibri" pitchFamily="34" charset="-120"/>
              </a:rPr>
              <a:t>, contrasenas con BCrypt, un filtro sin estado, control de acceso por rol y CORS para clientes en otro servidor.</a:t>
            </a:r>
            <a:endParaRPr lang="en-US" sz="1500" dirty="0"/>
          </a:p>
        </p:txBody>
      </p:sp>
      <p:sp>
        <p:nvSpPr>
          <p:cNvPr id="10" name="Text 7"/>
          <p:cNvSpPr/>
          <p:nvPr/>
        </p:nvSpPr>
        <p:spPr>
          <a:xfrm>
            <a:off x="566928" y="3337560"/>
            <a:ext cx="78638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 que sigue:  </a:t>
            </a:r>
            <a:r>
              <a:rPr lang="en-US" sz="1400" dirty="0">
                <a:solidFill>
                  <a:srgbClr val="CFE3D6"/>
                </a:solidFill>
                <a:latin typeface="Calibri" pitchFamily="34" charset="0"/>
                <a:ea typeface="Calibri" pitchFamily="34" charset="-122"/>
                <a:cs typeface="Calibri" pitchFamily="34" charset="-120"/>
              </a:rPr>
              <a:t>una SPA en Angular se autenticara y consumira esta API enviando el token en cada peticion.</a:t>
            </a:r>
            <a:endParaRPr lang="en-US" sz="1400" dirty="0"/>
          </a:p>
        </p:txBody>
      </p:sp>
      <p:sp>
        <p:nvSpPr>
          <p:cNvPr id="11" name="Text 8"/>
          <p:cNvSpPr/>
          <p:nvPr/>
        </p:nvSpPr>
        <p:spPr>
          <a:xfrm>
            <a:off x="566928" y="4069080"/>
            <a:ext cx="5486400" cy="548640"/>
          </a:xfrm>
          <a:prstGeom prst="rect">
            <a:avLst/>
          </a:prstGeom>
          <a:noFill/>
          <a:ln/>
        </p:spPr>
        <p:txBody>
          <a:bodyPr wrap="square" lIns="0" tIns="0" rIns="0" bIns="0" rtlCol="0" anchor="ctr"/>
          <a:lstStyle/>
          <a:p>
            <a:pPr marL="0" indent="0">
              <a:buNone/>
            </a:pPr>
            <a:r>
              <a:rPr lang="en-US" sz="2400" b="1" dirty="0">
                <a:solidFill>
                  <a:srgbClr val="E8B923"/>
                </a:solidFill>
                <a:latin typeface="Cambria" pitchFamily="34" charset="0"/>
                <a:ea typeface="Cambria" pitchFamily="34" charset="-122"/>
                <a:cs typeface="Cambria" pitchFamily="34" charset="-120"/>
              </a:rPr>
              <a:t>Gracias</a:t>
            </a:r>
            <a:endParaRPr lang="en-US" sz="2400" dirty="0"/>
          </a:p>
        </p:txBody>
      </p:sp>
      <p:sp>
        <p:nvSpPr>
          <p:cNvPr id="12" name="Text 9"/>
          <p:cNvSpPr/>
          <p:nvPr/>
        </p:nvSpPr>
        <p:spPr>
          <a:xfrm>
            <a:off x="566928" y="4645152"/>
            <a:ext cx="7863840" cy="274320"/>
          </a:xfrm>
          <a:prstGeom prst="rect">
            <a:avLst/>
          </a:prstGeom>
          <a:noFill/>
          <a:ln/>
        </p:spPr>
        <p:txBody>
          <a:bodyPr wrap="square" lIns="0" tIns="0" rIns="0" bIns="0" rtlCol="0" anchor="ctr"/>
          <a:lstStyle/>
          <a:p>
            <a:pPr marL="0" indent="0">
              <a:buNone/>
            </a:pPr>
            <a:r>
              <a:rPr lang="en-US" sz="1050" dirty="0">
                <a:solidFill>
                  <a:srgbClr val="9DBBA8"/>
                </a:solidFill>
                <a:latin typeface="Calibri" pitchFamily="34" charset="0"/>
                <a:ea typeface="Calibri" pitchFamily="34" charset="-122"/>
                <a:cs typeface="Calibri" pitchFamily="34" charset="-120"/>
              </a:rPr>
              <a:t>UTEQ · Aplicaciones Web · Dr. Gleiston Guerrero Ulloa, Ph.D.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FF77C1C0B5E3748BF30B533DB552F6A" ma:contentTypeVersion="10" ma:contentTypeDescription="Crear nuevo documento." ma:contentTypeScope="" ma:versionID="8b1a4ec7acd86c79fb4506bcf6b08cd4">
  <xsd:schema xmlns:xsd="http://www.w3.org/2001/XMLSchema" xmlns:xs="http://www.w3.org/2001/XMLSchema" xmlns:p="http://schemas.microsoft.com/office/2006/metadata/properties" xmlns:ns3="9a39e2ca-0de9-4902-ad71-31d7db0b601e" targetNamespace="http://schemas.microsoft.com/office/2006/metadata/properties" ma:root="true" ma:fieldsID="df1d34fb5d8f582f6cc1a39484e24c1f" ns3:_="">
    <xsd:import namespace="9a39e2ca-0de9-4902-ad71-31d7db0b601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SearchPropertie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39e2ca-0de9-4902-ad71-31d7db0b60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ystemTags" ma:index="11" nillable="true" ma:displayName="MediaServiceSystemTags" ma:hidden="true" ma:internalName="MediaServiceSystemTags" ma:readOnly="true">
      <xsd:simpleType>
        <xsd:restriction base="dms:Note"/>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_activity" ma:index="17"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a39e2ca-0de9-4902-ad71-31d7db0b601e" xsi:nil="true"/>
  </documentManagement>
</p:properties>
</file>

<file path=customXml/itemProps1.xml><?xml version="1.0" encoding="utf-8"?>
<ds:datastoreItem xmlns:ds="http://schemas.openxmlformats.org/officeDocument/2006/customXml" ds:itemID="{B17F09DA-831C-405E-B43D-C86AAD7F41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39e2ca-0de9-4902-ad71-31d7db0b60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6EC46CE-2AC3-4939-8740-B2519F6D716C}">
  <ds:schemaRefs>
    <ds:schemaRef ds:uri="http://schemas.microsoft.com/sharepoint/v3/contenttype/forms"/>
  </ds:schemaRefs>
</ds:datastoreItem>
</file>

<file path=customXml/itemProps3.xml><?xml version="1.0" encoding="utf-8"?>
<ds:datastoreItem xmlns:ds="http://schemas.openxmlformats.org/officeDocument/2006/customXml" ds:itemID="{E92483DF-130C-43C9-955E-E395E28251C4}">
  <ds:schemaRefs>
    <ds:schemaRef ds:uri="http://schemas.microsoft.com/office/infopath/2007/PartnerControls"/>
    <ds:schemaRef ds:uri="9a39e2ca-0de9-4902-ad71-31d7db0b601e"/>
    <ds:schemaRef ds:uri="http://www.w3.org/XML/1998/namespace"/>
    <ds:schemaRef ds:uri="http://purl.org/dc/terms/"/>
    <ds:schemaRef ds:uri="http://schemas.microsoft.com/office/2006/documentManagement/types"/>
    <ds:schemaRef ds:uri="http://purl.org/dc/elements/1.1/"/>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8093</Words>
  <Application>Microsoft Office PowerPoint</Application>
  <PresentationFormat>Presentación en pantalla (16:9)</PresentationFormat>
  <Paragraphs>607</Paragraphs>
  <Slides>27</Slides>
  <Notes>27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27</vt:i4>
      </vt:variant>
    </vt:vector>
  </HeadingPairs>
  <TitlesOfParts>
    <vt:vector size="32"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II — Seguridad con Spring Security y JWT</dc:title>
  <dc:subject>PptxGenJS Presentation</dc:subject>
  <dc:creator>Dr. Gleiston Guerrero Ulloa, Ph.D. — UTEQ</dc:creator>
  <cp:lastModifiedBy>GLEISTON CICERÓN GUERRERO ULLOA</cp:lastModifiedBy>
  <cp:revision>2</cp:revision>
  <dcterms:created xsi:type="dcterms:W3CDTF">2026-06-18T05:39:25Z</dcterms:created>
  <dcterms:modified xsi:type="dcterms:W3CDTF">2026-06-22T14:03:41Z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0x0101003FF77C1C0B5E3748BF30B533DB552F6A</vt:lpwstr>
  </property>
</Properties>
</file>