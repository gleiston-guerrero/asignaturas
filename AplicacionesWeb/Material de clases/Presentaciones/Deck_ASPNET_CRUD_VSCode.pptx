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portada. Presente el deck en dos partes claramente separadas: primero los conceptos de ASP.NET Core (que es, su historia, el pipeline de middleware, REST) y despues el CRUD completo construido paso a paso con Visual Studio Code. Aclare desde el inicio el IDE de referencia: en esta asignatura usamos Visual Studio Code con la extension C# Dev Kit, no Visual Studio completo; el flujo se apoya en la linea de comandos dotnet, que encaja muy bien con VS Code. Mencione el stack verificado: .NET 10 LTS, C# 14, ASP.NET Core 10, EF Core 10, Npgsql 10 y PostgreSQL 18. Recalque que el objetivo final es una Web API REST que mas adelante consumira un frontend en Angular, conectando esta tecnologia con el Proyecto Final de Curso. Siglas: CRUD = Create, Read, Update, Delete; API = Application Programming Interface; JWT = JSON Web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la estructura del deck. La Parte A da el marco conceptual imprescindible para no programar a ciegas: que es el framework, de donde viene, como se parece y se diferencia de Java, como fluye una peticion por el pipeline y como se exponen los datos con REST. La Parte B es 100% practica: construiremos una Web API CRUD de estudiantes de principio a fin con Visual Studio Code y la CLI dotnet, conectada a PostgreSQL mediante Entity Framework Core. Sugiera a los estudiantes que tengan el entorno listo (SDK de .NET 10, VS Code con C# Dev Kit y PostgreSQL 18 en marcha) para seguir el paso a paso en vivo. Indique que cada paso de la Parte B se corresponde con una seccion de la guia escrita, de modo que puedan repasar despues con calma. Siglas: DTO = Data Transfer Object; EF = Entity Framework; ORM = Object-Relational Mapper.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Defina ASP.NET Core con precision. Es el subsistema web de .NET, la plataforma de desarrollo de Microsoft. Subraye las cuatro propiedades que lo hacen relevante hoy: es multiplataforma (corre en Linux, donde vive la mayoria de los servidores de produccion), es de codigo abierto, ofrece un rendimiento entre los mas altos del mercado en pruebas independientes, y usa C#, un lenguaje de tipado fuerte que detecta muchos errores antes de ejecutar. El mensaje pedagogico clave: los conceptos que aprenderan aqui (peticion-respuesta, inyeccion de dependencias, acceso a datos, seguridad) son los mismos que reaparecen en Spring Boot con Java o en Laravel con PHP, de modo que cada tecnologia del curso refuerza a las demas. La cita de Andrew Lock, autor de un libro de referencia sobre ASP.NET Core, resume su madurez. Siglas: .NET = plataforma de Microsoft; C# = su lenguaje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Recorra la linea de tiempo destacando la moraleja, no las fechas memorizadas. Microsoft lanzo ASP.NET clasico en 2002 sobre el .NET Framework: potente, pero atado a Windows y propietario. El punto de inflexion es 2016: la reescritura como ASP.NET Core lo hizo open source y multiplataforma, lo que le permitio correr en Linux, que es donde vive la mayoria de los servidores de produccion. En 2020, con .NET 5, se unifico la marca y desde entonces decimos simplemente «.NET». La version vigente en 2026 es .NET 10, una version LTS publicada en noviembre de 2025 con soporte de tres anos, hasta noviembre de 2028. Recomiende a los estudiantes usar siempre versiones con soporte activo por seguridad. No se detenga en WebForms ni en ASP clasico: son solo contexto historico; ellos trabajaran con ASP.NET Core de 2016 en adelante. Siglas: LTS = Long Term Support (soporte a largo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Aproveche que los estudiantes ya dominan Java para acelerar el aprendizaje de C#. Insista en que la transicion es suave porque ambos comparten lo esencial: tipado estatico, orientacion a objetos y sintaxis de llaves. Las diferencias que mas notaran al principio: en C# los metodos y propiedades usan PascalCase, es decir, empiezan con mayuscula; el estado de las clases se expone con propiedades autogeneradas { get; set; } en lugar de escribir getters y setters a mano; la palabra var infiere el tipo; los record declaran objetos de datos inmutables en una sola linea, ideales para los DTO que usaremos en el CRUD; el operador flecha =&gt; sirve tanto para cuerpos de metodo de una expresion como para lambdas; y la asincronia se expresa con async y await, fundamentales en la web porque liberan el hilo mientras se espera la base de datos o la red. Pida que, cada vez que vean una de estas construcciones en el codigo, la reconozcan como el equivalente de algo que ya conocen en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el pipeline como una serie de filtros en linea. La peticion entra por el primer middleware y avanza; la respuesta sale en sentido inverso. Cada middleware puede inspeccionar, modificar, responder o dejar pasar la peticion al siguiente. Lo critico es el orden: el orden en que registras los middleware en Program.cs es el orden en que se ejecutan, y equivocarse rompe la aplicacion. Recorra el flujo tipico: redireccion a HTTPS, archivos estaticos, enrutamiento, autenticacion, autorizacion y finalmente el endpoint con tu codigo. Detengase en la regla de oro de la caja inferior: UseAuthentication siempre antes que UseAuthorization, porque primero hay que saber quien es el usuario y solo despues evaluar si tiene permiso; invertir el orden hace que la autorizacion no encuentre la identidad y rechace todo. Esta diapositiva es conceptual y prepara el terreno para cuando configuremos seguridad en la Parte B. Siglas: HTTPS = HTTP seguro; middleware = componente intermedio del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la inyeccion de dependencias como uno de los pilares de ASP.NET Core, integrado de serie sin librerias externas. La idea: en lugar de crear tus servicios con new dentro de cada clase, los registras una sola vez en el builder y el framework te los entrega como parametros donde los necesites. Esto desacopla el codigo y facilita las pruebas, porque puedes sustituir una implementacion por otra falsa al probar. Recorra los tres pasos del codigo: declarar el contrato (la interfaz) y su implementacion; registrarlo en el contenedor con AddScoped; y consumirlo simplemente declarandolo como parametro del endpoint, donde el framework lo inyecta automaticamente. A la derecha, los tres ciclos de vida: Singleton crea una unica instancia para toda la aplicacion; Scoped crea una por peticion, que es lo habitual para el DbContext de la base de datos; y Transient crea una nueva cada vez. Fijese tambien en la cadena interpolada con el prefijo dolar, que inserta variables entre llaves. Siglas: DI = Dependency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los dos estilos para definir una API en ASP.NET Core, sin presentarlos como rivales: son herramientas para contextos distintos. Las Minimal API definen las rutas directamente en Program.cs: son concisas, todo esta a la vista, y resultan ideales para servicios pequenos y para aprender, por eso las usaremos en el CRUD de hoy. Los controladores son clases anotadas con ApiController que agrupan acciones relacionadas; si los estudiantes vienen de Spring Boot, los reconoceran de inmediato porque equivalen al RestController de Java. Los controladores brillan en proyectos grandes, donde la organizacion por clases y los filtros aportan estructura y mantenibilidad. El mensaje: ambos estilos producen la misma API REST; la eleccion depende del tamano y la complejidad del proyecto. Para el proyecto integrador elegimos Minimal API por claridad pedagogica, pero mencione que pasar a controladores es directo cuando el proyecto crece. Siglas: API = Application Programming Interface; REST = estilo de API basado en recursos y verbos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una referencia que los estudiantes usaran constantemente al construir el CRUD. Una API REST expone operaciones sobre recursos mediante verbos HTTP, y cada operacion debe responder con el codigo de estado adecuado. Recorra la tabla: leer usa GET y devuelve 200 con Results.Ok; crear usa POST y devuelve 201 con Results.Created, que ademas incluye la cabecera Location apuntando al nuevo recurso; actualizar usa PUT y devuelve 204 sin contenido; eliminar usa DELETE y tambien 204; cuando el recurso no existe se responde 404 con Results.NotFound; y cuando la validacion falla se devuelve 400 con Results.ValidationProblem, que incluye el detalle de los errores. Insista en el mensaje de la franja inferior: devolver el codigo correcto en cada caso es lo que distingue una API profesional de una improvisada, y es algo que se evalua. En la Parte B veran exactamente estos metodos en accion dentro de cada endpoint. Siglas: HTTP = HyperText Transfer Protocol; GET/POST/PUT/DELETE = verbos del protocolo.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divisoria que marca el cambio de los conceptos a la practica. A partir de aqui construimos juntos, paso a paso, una Web API REST completa para gestionar estudiantes, con operaciones de crear, leer, actualizar y eliminar. El IDE es Visual Studio Code con la extension C# Dev Kit, y el flujo se apoya en la CLI de dotnet. La base de datos es PostgreSQL 18, accedida mediante Entity Framework Core, el ORM de .NET. Anime a los estudiantes a seguir el paso a paso en su propia maquina: cada diapositiva es un paso concreto y acumulativo. Reutilizamos la base de datos appweb2026ppa y la entidad estudiantes que ya aparecen en otras guias del curso, para mantener coherencia. Recuerdeles que el resultado final sera un backend que mas adelante consumira un frontend en Angular. Siglas: CRUD = Create, Read, Update, Delete; CLI = Command-Line Interface; ORM = Object-Relational Mapper.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programar, confirme que todos tienen el entorno listo con las versiones correctas, porque el codigo esta probado contra ellas. El SDK de .NET 10 incluye el compilador, las bibliotecas y la CLI dotnet; es version LTS con soporte hasta 2028. El lenguaje es C# 14. El framework web es ASP.NET Core 10. Para datos usamos Entity Framework Core 10 con el proveedor Npgsql 10, que conecta con PostgreSQL 18. El IDE es Visual Studio Code con la extension C# Dev Kit, que a su vez instala la extension base de C# e IntelliCode. Para documentar la API usamos el generador de OpenAPI integrado mas Scalar como interfaz visual. Mencione el cambio importante que veremos en detalle mas adelante: desde .NET 9 la plantilla webapi ya no incluye Swagger por defecto, asi que añadiremos Scalar. Pida que verifiquen con dotnet --version que tienen la 10 instalada y que PostgreSQL este escuchando en el puerto 5432. Siglas: SDK = Software Development Kit; LTS = Long Term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paso practico: crear el proyecto y traer las dependencias. En la terminal de Visual Studio Code, dotnet new web crea un proyecto Minimal API minimo; la opcion -o le da nombre y carpeta. Luego entramos en la carpeta y añadimos cuatro paquetes NuGet: el proveedor Npgsql para conectar EF Core con PostgreSQL; el paquete Design, que habilita las migraciones desde la terminal; el paquete OpenApi integrado, para generar la documentacion; y Scalar, para la interfaz visual de la API. Por ultimo, code punto abre la carpeta en VS Code. Aclare que la primera vez VS Code preguntara si confias en la carpeta: hay que aceptar para que la extension de C# cargue el proyecto y active el autocompletado. Recuerde tambien instalar una sola vez la herramienta de migraciones con dotnet tool install --global dotnet-ef. Si la terminal no reconoce dotnet, hay que cerrarla y reabrirla para que tome el PATH. Siglas: NuGet = gestor de paquetes de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paso: modelar los datos. Separe con claridad tres piezas. El modelo Estudiante es una clase cuyas propiedades representan las columnas de la tabla; es lo que se guarda. El DTO, declarado como record en una sola linea, es lo que el cliente envia o recibe por la API; usarlo evita exponer la tabla directamente y te deja controlar exactamente que campos acepta el cliente, lo cual es una buena practica de seguridad y de diseno. El DbContext es la sesion con la base de datos: contiene un DbSet por cada tabla y es a traves de el que consultas y guardas. Llame la atencion sobre dos rasgos modernos de C#: el record para el DTO y el constructor primario del DbContext, que declara el constructor en la misma linea de la clase; ambos reducen el codigo repetitivo respecto a Java. Cree este archivo Datos.cs en la raiz del proyecto. Siglas: DTO = Data Transfer Object; DbSet = coleccion que mapea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paso: decirle a la aplicacion como llegar a la base de datos. La cadena de conexion describe el host, el puerto, la base, el usuario y la contrasena; se guarda en appsettings.json para no incrustarla en el codigo. Usamos la misma base appweb2026ppa del resto del curso. Luego, en Program.cs, registramos el DbContext como servicio con AddDbContext, indicando que use Npgsql con esa cadena de conexion y apuntando a PostgreSQL 18 con SetPostgresVersion para que aproveche sus caracteristicas. El DbContext se registra con ciclo de vida Scoped, uno por peticion, que es lo adecuado para acceso a datos. Detengase en la caja de seguridad: en un proyecto real la contrasena no va en appsettings.json versionado, sino en User Secrets durante el desarrollo y en variables de entorno en produccion; aqui la dejamos visible solo con fines didacticos porque es la base local del curso. Recuerdeles que la contrasena lleva caracteres especiales y debe escribirse con cuidado. Siglas: EF = Entity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Cuarto paso: crear las tablas a partir del modelo. Una migracion es un archivo que describe de forma versionada los cambios de esquema, como crear tablas o anadir columnas. EF Core las genera comparando tu modelo actual con el estado anterior, y luego las aplica a la base de datos. Recorra los comandos: primero, una sola vez, se instala la herramienta dotnet-ef de forma global; despues, migrations add Inicial genera el codigo de la migracion en una carpeta Migrations; y database update aplica esos cambios a PostgreSQL. Subraye el concepto de la caja derecha: este es el flujo code-first, donde la fuente de verdad es tu codigo C#, no la base de datos. Advierta un detalle practico: si crearon antes la tabla estudiantes a mano, EF Core intentara crearla de nuevo y fallara; para estos ejercicios conviene partir de una base vacia y dejar que EF Core gestione el esquema. Mantener una unica fuente de verdad evita conflictos. Siglas: CLI = Command-Line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paso: la primera mitad de Program.cs, donde se configura todo antes de definir los endpoints. Lea el codigo de arriba abajo. Las directivas using importan EF Core y Scalar. El builder configura la aplicacion. Registramos el DbContext con Npgsql apuntando a PostgreSQL 18. Registramos el generador de OpenAPI con AddOpenApi, que mas tarde publicara el documento en la ruta openapi barra v1.json. Tras construir la app con Build, dentro del bloque de desarrollo activamos MapOpenApi, que expone el documento, y MapScalarApiReference, que monta la interfaz interactiva de Scalar en la ruta scalar barra v1. Es importante que la documentacion quede dentro del if de desarrollo: exponerla en produccion revela la estructura interna de la API y es mala practica de seguridad. Por ultimo, UseHttpsRedirection fuerza el uso de HTTPS. En la siguiente diapositiva vienen los endpoints CRUD. Siglas: OpenAPI = estandar para describir APIs; UI = interfaz de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Sexto paso: los primeros endpoints, agrupados bajo el prefijo comun /v1/estudiantes con MapGroup, lo que reduce la repeticion. Recorra cada uno. El GET de la raiz devuelve la lista completa, ordenada por id, con ToListAsync; EF Core traduce esa consulta LINQ a SQL parametrizado, lo que protege automaticamente contra la inyeccion SQL. El GET con id usa FindAsync para buscar uno; si lo encuentra devuelve 200 con Results.Ok, si no, devuelve 404 con Results.NotFound; fijese en el patron is Estudiante e, que comprueba y asigna en una sola expresion. El POST recibe el DTO de entrada, construye la entidad Estudiante con la fecha actual en UTC, la agrega al contexto, guarda con SaveChangesAsync y devuelve 201 con la cabecera Location apuntando al nuevo recurso. Subraye el uso sistematico de async y await: liberan el hilo mientras la base de datos responde, permitiendo atender mas peticiones. En la siguiente diapositiva completamos con actualizar y eliminar. Siglas: LINQ = Language Integrated Query; UTC = tiempo universal coordinado.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Septimo paso: completamos el CRUD con actualizar y eliminar, y arrancamos la aplicacion. El PUT recibe el id en la ruta y el DTO en el cuerpo; busca la entidad con FindAsync, y si no existe devuelve 404; si existe, actualiza sus campos, guarda con SaveChangesAsync y devuelve 204 No Content, porque no hay nada que devolver. El DELETE busca la entidad, devuelve 404 si no existe, y si existe la elimina con Remove, guarda y devuelve 204. Por ultimo, app.Run arranca el servidor. Recalque dos buenas practicas visibles en el codigo: siempre se comprueba la existencia antes de actuar, devolviendo 404 cuando corresponde; y se devuelve el codigo HTTP semanticamente correcto en cada caso. Con esto el CRUD esta completo: cinco endpoints que cubren crear, leer lista, leer detalle, actualizar y eliminar. En un ejercicio posterior añadiran validacion de la entrada antes de guardar, devolviendo 400 con el detalle de los errores. Mencione que toda esta logica podria extraerse a un servicio inyectable para dejar los endpoints mas delgados.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Octavo paso: documentar y probar la API. Empiece por el cambio importante de la caja superior: desde .NET 9 la plantilla webapi dejo de incluir Swashbuckle y Swagger; ahora el documento OpenAPI lo genera el paquete integrado Microsoft.AspNetCore.OpenApi mediante AddOpenApi y MapOpenApi, que lo publica en la ruta openapi barra v1.json. Ese documento es solo datos legibles por maquinas; para una interfaz visual se anade una herramienta aparte, y nosotros elegimos Scalar por su diseno moderno, su modo oscuro y su generador de ejemplos. Con la aplicacion en marcha, los estudiantes abren dos URLs: el JSON del documento y la interfaz de Scalar en scalar barra v1. Explique que en Scalar pueden ver y probar cada endpoint desde el navegador sin escribir codigo cliente: ejecutar un GET, crear un estudiante con POST y comprobar los codigos de estado. Para que el navegador abra Scalar automaticamente al pulsar F5, configuran launchBrowser y launchUrl en launchSettings.json. Recuerde que la documentacion solo se expone en desarrollo. Siglas: JSON = JavaScript Object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Noveno paso: poner en marcha y probar todo el CRUD. En la terminal, generamos la migracion, la aplicamos con database update y arrancamos con dotnet run; recuerden tener PostgreSQL en marcha y la cadena de conexion correcta. La terminal mostrara una URL con el puerto local. Para probar, tres opciones: la interfaz de Scalar, que es la mas comoda y visual; la linea de comandos con curl, como muestra el ejemplo que crea un estudiante enviando un JSON; o la extension REST Client de VS Code. Sugiera verificar en pgAdmin que el estudiante quedo guardado en la tabla. Cierre la parte practica con el mensaje de la caja: ya tienen una Web API REST completa, conectada a PostgreSQL y documentada, que es exactamente la base de un backend moderno. Conecte de nuevo con el Proyecto Final de Curso: este mismo backend, en su version equivalente, sera consumido por un frontend en Angular. Siglas: API = Application Programming Interface; REST = estilo de servicio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la parte practica con seis lineas de mejora que separan un ejercicio de un proyecto profesional, y que corresponden a ejercicios de nivel intermedio y avanzado de la guia. JWT: anade autenticacion con tokens firmados y protege los grupos de endpoints con RequireAuthorization, de modo que sin token valido la API responda 401. CORS: controla que sitios web pueden consumir tu API desde el navegador; autoriza solo los origenes reales, como el frontend de Angular en el puerto 4200, y evita abrirlo a todo el mundo. Validacion: valida siempre la entrada en el servidor y devuelve 400 con el detalle de los errores. Capas: extrae la logica del CRUD a servicios inyectables para dejar los endpoints delgados y poder probarlos por separado. Secretos: nunca dejes contrasenas ni claves en el codigo; usa User Secrets en desarrollo y variables de entorno en produccion. Docker: empaqueta la API con un Dockerfile multietapa para que corra igual en cualquier maquina. Anime a abordarlas una a una sobre el CRUD ya construido. Siglas: JWT = JSON Web Token; CORS = Cross-Origin Resource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deck. Recapitule el arco completo: en la Parte A entendimos que es ASP.NET Core, de donde viene, como se relaciona con Java, como fluye una peticion por el pipeline de middleware y como REST organiza una API. En la Parte B construimos, paso a paso y con Visual Studio Code, una Web API CRUD de estudiantes sobre PostgreSQL usando Entity Framework Core, la documentamos con OpenAPI y Scalar, y vimos las lineas de mejora hacia un proyecto profesional. Refuerce el mensaje final: este backend es exactamente el tipo de servicio que un frontend en Angular consumira en el Proyecto Final de Curso, de modo que lo aprendido aqui conecta directamente con la meta del semestre. Indique los recursos oficiales para que profundicen: la documentacion de ASP.NET Core en learn.microsoft.com, la del proveedor Npgsql para EF Core, y el repositorio de Scalar. Invite a resolver el banco de ejercicios de la guia, que va del nivel basico al avanzado e incluye seguridad con JWT y despliegue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5E"/>
        </a:solidFill>
      </p:bgPr>
    </p:bg>
    <p:spTree>
      <p:nvGrpSpPr>
        <p:cNvPr id="1" name=""/>
        <p:cNvGrpSpPr/>
        <p:nvPr/>
      </p:nvGrpSpPr>
      <p:grpSpPr>
        <a:xfrm>
          <a:off x="0" y="0"/>
          <a:ext cx="0" cy="0"/>
          <a:chOff x="0" y="0"/>
          <a:chExt cx="0" cy="0"/>
        </a:xfrm>
      </p:grpSpPr>
      <p:sp>
        <p:nvSpPr>
          <p:cNvPr id="2" name="Text 0"/>
          <p:cNvSpPr/>
          <p:nvPr/>
        </p:nvSpPr>
        <p:spPr>
          <a:xfrm>
            <a:off x="548640" y="640080"/>
            <a:ext cx="8229600" cy="274320"/>
          </a:xfrm>
          <a:prstGeom prst="rect">
            <a:avLst/>
          </a:prstGeom>
          <a:noFill/>
          <a:ln/>
        </p:spPr>
        <p:txBody>
          <a:bodyPr wrap="square" lIns="0" tIns="0" rIns="0" bIns="0" rtlCol="0" anchor="ctr"/>
          <a:lstStyle/>
          <a:p>
            <a:pPr indent="0" marL="0">
              <a:buNone/>
            </a:pPr>
            <a:r>
              <a:rPr lang="en-US" sz="1200" b="1" spc="200" kern="0" dirty="0">
                <a:solidFill>
                  <a:srgbClr val="C9BEF0"/>
                </a:solidFill>
                <a:latin typeface="Calibri" pitchFamily="34" charset="0"/>
                <a:ea typeface="Calibri" pitchFamily="34" charset="-122"/>
                <a:cs typeface="Calibri" pitchFamily="34" charset="-120"/>
              </a:rPr>
              <a:t>UNIVERSIDAD TÉCNICA ESTATAL DE QUEVEDO</a:t>
            </a:r>
            <a:endParaRPr lang="en-US" sz="1200" dirty="0"/>
          </a:p>
        </p:txBody>
      </p:sp>
      <p:sp>
        <p:nvSpPr>
          <p:cNvPr id="3" name="Text 1"/>
          <p:cNvSpPr/>
          <p:nvPr/>
        </p:nvSpPr>
        <p:spPr>
          <a:xfrm>
            <a:off x="548640" y="932688"/>
            <a:ext cx="8229600" cy="274320"/>
          </a:xfrm>
          <a:prstGeom prst="rect">
            <a:avLst/>
          </a:prstGeom>
          <a:noFill/>
          <a:ln/>
        </p:spPr>
        <p:txBody>
          <a:bodyPr wrap="square" lIns="0" tIns="0" rIns="0" bIns="0" rtlCol="0" anchor="ctr"/>
          <a:lstStyle/>
          <a:p>
            <a:pPr indent="0" marL="0">
              <a:buNone/>
            </a:pPr>
            <a:r>
              <a:rPr lang="en-US" sz="1100" dirty="0">
                <a:solidFill>
                  <a:srgbClr val="9AA0AA"/>
                </a:solidFill>
                <a:latin typeface="Calibri" pitchFamily="34" charset="0"/>
                <a:ea typeface="Calibri" pitchFamily="34" charset="-122"/>
                <a:cs typeface="Calibri" pitchFamily="34" charset="-120"/>
              </a:rPr>
              <a:t>Facultad de Ciencias de la Computación y Diseño Digital · Ingeniería de Software</a:t>
            </a:r>
            <a:endParaRPr lang="en-US" sz="1100" dirty="0"/>
          </a:p>
        </p:txBody>
      </p:sp>
      <p:sp>
        <p:nvSpPr>
          <p:cNvPr id="4" name="Text 2"/>
          <p:cNvSpPr/>
          <p:nvPr/>
        </p:nvSpPr>
        <p:spPr>
          <a:xfrm>
            <a:off x="530352" y="1783080"/>
            <a:ext cx="8229600" cy="13716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Desarrollo de Aplicaciones Web</a:t>
            </a:r>
            <a:endParaRPr lang="en-US" sz="4000" dirty="0"/>
          </a:p>
          <a:p>
            <a:pPr indent="0" marL="0">
              <a:buNone/>
            </a:pPr>
            <a:r>
              <a:rPr lang="en-US" sz="4000" b="1" dirty="0">
                <a:solidFill>
                  <a:srgbClr val="B7A6F2"/>
                </a:solidFill>
                <a:latin typeface="Bookman Old Style" pitchFamily="34" charset="0"/>
                <a:ea typeface="Bookman Old Style" pitchFamily="34" charset="-122"/>
                <a:cs typeface="Bookman Old Style" pitchFamily="34" charset="-120"/>
              </a:rPr>
              <a:t>con ASP.NET Core 10</a:t>
            </a:r>
            <a:endParaRPr lang="en-US" sz="4000" dirty="0"/>
          </a:p>
        </p:txBody>
      </p:sp>
      <p:sp>
        <p:nvSpPr>
          <p:cNvPr id="5" name="Text 3"/>
          <p:cNvSpPr/>
          <p:nvPr/>
        </p:nvSpPr>
        <p:spPr>
          <a:xfrm>
            <a:off x="548640" y="3246120"/>
            <a:ext cx="8229600" cy="365760"/>
          </a:xfrm>
          <a:prstGeom prst="rect">
            <a:avLst/>
          </a:prstGeom>
          <a:noFill/>
          <a:ln/>
        </p:spPr>
        <p:txBody>
          <a:bodyPr wrap="square" lIns="0" tIns="0" rIns="0" bIns="0" rtlCol="0" anchor="ctr"/>
          <a:lstStyle/>
          <a:p>
            <a:pPr indent="0" marL="0">
              <a:buNone/>
            </a:pPr>
            <a:r>
              <a:rPr lang="en-US" sz="1700" dirty="0">
                <a:solidFill>
                  <a:srgbClr val="E6E1F7"/>
                </a:solidFill>
                <a:latin typeface="Calibri" pitchFamily="34" charset="0"/>
                <a:ea typeface="Calibri" pitchFamily="34" charset="-122"/>
                <a:cs typeface="Calibri" pitchFamily="34" charset="-120"/>
              </a:rPr>
              <a:t>CRUD paso a paso con Visual Studio Code</a:t>
            </a:r>
            <a:endParaRPr lang="en-US" sz="1700" dirty="0"/>
          </a:p>
        </p:txBody>
      </p:sp>
      <p:sp>
        <p:nvSpPr>
          <p:cNvPr id="6" name="Text 4"/>
          <p:cNvSpPr/>
          <p:nvPr/>
        </p:nvSpPr>
        <p:spPr>
          <a:xfrm>
            <a:off x="548640" y="3749040"/>
            <a:ext cx="8229600" cy="274320"/>
          </a:xfrm>
          <a:prstGeom prst="rect">
            <a:avLst/>
          </a:prstGeom>
          <a:noFill/>
          <a:ln/>
        </p:spPr>
        <p:txBody>
          <a:bodyPr wrap="square" lIns="0" tIns="0" rIns="0" bIns="0" rtlCol="0" anchor="ctr"/>
          <a:lstStyle/>
          <a:p>
            <a:pPr indent="0" marL="0">
              <a:buNone/>
            </a:pPr>
            <a:r>
              <a:rPr lang="en-US" sz="1200" dirty="0">
                <a:solidFill>
                  <a:srgbClr val="9AA0AA"/>
                </a:solidFill>
                <a:latin typeface="Calibri" pitchFamily="34" charset="0"/>
                <a:ea typeface="Calibri" pitchFamily="34" charset="-122"/>
                <a:cs typeface="Calibri" pitchFamily="34" charset="-120"/>
              </a:rPr>
              <a:t>Minimal API · Entity Framework Core · PostgreSQL · OpenAPI/Scalar · JWT</a:t>
            </a:r>
            <a:endParaRPr lang="en-US" sz="1200" dirty="0"/>
          </a:p>
        </p:txBody>
      </p:sp>
      <p:sp>
        <p:nvSpPr>
          <p:cNvPr id="7" name="Text 5"/>
          <p:cNvSpPr/>
          <p:nvPr/>
        </p:nvSpPr>
        <p:spPr>
          <a:xfrm>
            <a:off x="548640" y="4526280"/>
            <a:ext cx="8229600" cy="274320"/>
          </a:xfrm>
          <a:prstGeom prst="rect">
            <a:avLst/>
          </a:prstGeom>
          <a:noFill/>
          <a:ln/>
        </p:spPr>
        <p:txBody>
          <a:bodyPr wrap="square" lIns="0" tIns="0" rIns="0" bIns="0" rtlCol="0" anchor="ctr"/>
          <a:lstStyle/>
          <a:p>
            <a:pPr indent="0" marL="0">
              <a:buNone/>
            </a:pPr>
            <a:r>
              <a:rPr lang="en-US" sz="1100" dirty="0">
                <a:solidFill>
                  <a:srgbClr val="9AA0AA"/>
                </a:solidFill>
                <a:latin typeface="Calibri" pitchFamily="34" charset="0"/>
                <a:ea typeface="Calibri" pitchFamily="34" charset="-122"/>
                <a:cs typeface="Calibri" pitchFamily="34" charset="-120"/>
              </a:rPr>
              <a:t>UTEQ · Unidad II · Dr. Gleiston Guerrero Ulloa, Ph.D. · PPA 2026–2027</a:t>
            </a:r>
            <a:endParaRPr lang="en-US" sz="1100" dirty="0"/>
          </a:p>
        </p:txBody>
      </p:sp>
      <p:sp>
        <p:nvSpPr>
          <p:cNvPr id="9" name="Text 6"/>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9AA0AA"/>
                </a:solidFill>
                <a:latin typeface="Calibri" pitchFamily="34" charset="0"/>
                <a:ea typeface="Calibri" pitchFamily="34" charset="-122"/>
                <a:cs typeface="Calibri" pitchFamily="34" charset="-120"/>
              </a:rPr>
              <a:t>UTEQ · Aplicaciones Web · Unidad II</a:t>
            </a:r>
            <a:endParaRPr lang="en-US" sz="900" dirty="0"/>
          </a:p>
        </p:txBody>
      </p:sp>
      <p:sp>
        <p:nvSpPr>
          <p:cNvPr id="10" name="Text 7"/>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9AA0A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HOJA DE RUTA</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Lo que veremos hoy</a:t>
            </a:r>
            <a:endParaRPr lang="en-US" sz="2900" dirty="0"/>
          </a:p>
        </p:txBody>
      </p:sp>
      <p:sp>
        <p:nvSpPr>
          <p:cNvPr id="4" name="Shape 2"/>
          <p:cNvSpPr/>
          <p:nvPr/>
        </p:nvSpPr>
        <p:spPr>
          <a:xfrm>
            <a:off x="548640" y="1554480"/>
            <a:ext cx="3886200" cy="2926080"/>
          </a:xfrm>
          <a:prstGeom prst="roundRect">
            <a:avLst>
              <a:gd name="adj" fmla="val 2188"/>
            </a:avLst>
          </a:prstGeom>
          <a:solidFill>
            <a:srgbClr val="EEEAFB"/>
          </a:solidFill>
          <a:ln w="12700">
            <a:solidFill>
              <a:srgbClr val="EEEAFB"/>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77240" y="1783080"/>
            <a:ext cx="3474720" cy="274320"/>
          </a:xfrm>
          <a:prstGeom prst="rect">
            <a:avLst/>
          </a:prstGeom>
          <a:noFill/>
          <a:ln/>
        </p:spPr>
        <p:txBody>
          <a:bodyPr wrap="square" lIns="0" tIns="0" rIns="0" bIns="0" rtlCol="0" anchor="ctr"/>
          <a:lstStyle/>
          <a:p>
            <a:pPr indent="0" marL="0">
              <a:buNone/>
            </a:pPr>
            <a:r>
              <a:rPr lang="en-US" sz="1200" b="1" spc="100" kern="0" dirty="0">
                <a:solidFill>
                  <a:srgbClr val="512BD4"/>
                </a:solidFill>
                <a:latin typeface="Calibri" pitchFamily="34" charset="0"/>
                <a:ea typeface="Calibri" pitchFamily="34" charset="-122"/>
                <a:cs typeface="Calibri" pitchFamily="34" charset="-120"/>
              </a:rPr>
              <a:t>PARTE A · CONCEPTOS</a:t>
            </a:r>
            <a:endParaRPr lang="en-US" sz="1200" dirty="0"/>
          </a:p>
        </p:txBody>
      </p:sp>
      <p:sp>
        <p:nvSpPr>
          <p:cNvPr id="6" name="Text 4"/>
          <p:cNvSpPr/>
          <p:nvPr/>
        </p:nvSpPr>
        <p:spPr>
          <a:xfrm>
            <a:off x="777240" y="2148840"/>
            <a:ext cx="352044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¿Qué es ASP.NET Core?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Historia: de ASP clásico a .NET 10</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 para quien ya sabe Java</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El pipeline de middleware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Inyección de dependencias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Minimal API vs. controladores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REST: rutas, verbos y códigos HTTP</a:t>
            </a:r>
            <a:endParaRPr lang="en-US" sz="1300" dirty="0"/>
          </a:p>
        </p:txBody>
      </p:sp>
      <p:sp>
        <p:nvSpPr>
          <p:cNvPr id="7" name="Shape 5"/>
          <p:cNvSpPr/>
          <p:nvPr/>
        </p:nvSpPr>
        <p:spPr>
          <a:xfrm>
            <a:off x="4709160" y="1554480"/>
            <a:ext cx="3886200" cy="2926080"/>
          </a:xfrm>
          <a:prstGeom prst="roundRect">
            <a:avLst>
              <a:gd name="adj" fmla="val 2188"/>
            </a:avLst>
          </a:prstGeom>
          <a:solidFill>
            <a:srgbClr val="E4F0E9"/>
          </a:solidFill>
          <a:ln w="12700">
            <a:solidFill>
              <a:srgbClr val="E4F0E9"/>
            </a:solidFill>
            <a:prstDash val="solid"/>
          </a:ln>
          <a:effectLst>
            <a:outerShdw sx="100000" sy="100000" kx="0" ky="0" algn="bl" rotWithShape="0" blurRad="88900" dist="38100" dir="5400000">
              <a:srgbClr val="000000">
                <a:alpha val="12000"/>
              </a:srgbClr>
            </a:outerShdw>
          </a:effectLst>
        </p:spPr>
      </p:sp>
      <p:sp>
        <p:nvSpPr>
          <p:cNvPr id="8" name="Text 6"/>
          <p:cNvSpPr/>
          <p:nvPr/>
        </p:nvSpPr>
        <p:spPr>
          <a:xfrm>
            <a:off x="4937760" y="1783080"/>
            <a:ext cx="3474720" cy="274320"/>
          </a:xfrm>
          <a:prstGeom prst="rect">
            <a:avLst/>
          </a:prstGeom>
          <a:noFill/>
          <a:ln/>
        </p:spPr>
        <p:txBody>
          <a:bodyPr wrap="square" lIns="0" tIns="0" rIns="0" bIns="0" rtlCol="0" anchor="ctr"/>
          <a:lstStyle/>
          <a:p>
            <a:pPr indent="0" marL="0">
              <a:buNone/>
            </a:pPr>
            <a:r>
              <a:rPr lang="en-US" sz="1200" b="1" spc="100" kern="0" dirty="0">
                <a:solidFill>
                  <a:srgbClr val="006633"/>
                </a:solidFill>
                <a:latin typeface="Calibri" pitchFamily="34" charset="0"/>
                <a:ea typeface="Calibri" pitchFamily="34" charset="-122"/>
                <a:cs typeface="Calibri" pitchFamily="34" charset="-120"/>
              </a:rPr>
              <a:t>PARTE B · CRUD PASO A PASO</a:t>
            </a:r>
            <a:endParaRPr lang="en-US" sz="1200" dirty="0"/>
          </a:p>
        </p:txBody>
      </p:sp>
      <p:sp>
        <p:nvSpPr>
          <p:cNvPr id="9" name="Text 7"/>
          <p:cNvSpPr/>
          <p:nvPr/>
        </p:nvSpPr>
        <p:spPr>
          <a:xfrm>
            <a:off x="4937760" y="2148840"/>
            <a:ext cx="352044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Crear el proyecto y los paquetes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Modelo, DTO y DbContext</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Cadena de conexión y EF Core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Migraciones a PostgreSQL</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Program.cs y endpoints CRUD</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Documentar con OpenAPI + Scalar</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Ejecutar, probar y asegurar</a:t>
            </a:r>
            <a:endParaRPr lang="en-US" sz="1300" dirty="0"/>
          </a:p>
        </p:txBody>
      </p:sp>
      <p:sp>
        <p:nvSpPr>
          <p:cNvPr id="11" name="Text 8"/>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2" name="Text 9"/>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CONCEPTO</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¿Qué es ASP.NET Core?</a:t>
            </a:r>
            <a:endParaRPr lang="en-US" sz="2900" dirty="0"/>
          </a:p>
        </p:txBody>
      </p:sp>
      <p:sp>
        <p:nvSpPr>
          <p:cNvPr id="4" name="Shape 2"/>
          <p:cNvSpPr/>
          <p:nvPr/>
        </p:nvSpPr>
        <p:spPr>
          <a:xfrm>
            <a:off x="548640" y="1554480"/>
            <a:ext cx="5074920" cy="2926080"/>
          </a:xfrm>
          <a:prstGeom prst="roundRect">
            <a:avLst>
              <a:gd name="adj" fmla="val 2188"/>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77240" y="1783080"/>
            <a:ext cx="461772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 framework de Microsoft para construir aplicaciones y servicios web sobre la plataforma .NET, con el lenguaje C#.</a:t>
            </a:r>
            <a:endParaRPr lang="en-US" sz="1500" dirty="0"/>
          </a:p>
        </p:txBody>
      </p:sp>
      <p:sp>
        <p:nvSpPr>
          <p:cNvPr id="6" name="Text 4"/>
          <p:cNvSpPr/>
          <p:nvPr/>
        </p:nvSpPr>
        <p:spPr>
          <a:xfrm>
            <a:off x="777240" y="2743200"/>
            <a:ext cx="4663440" cy="16459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Multiplataforma: Windows, Linux y macOS</a:t>
            </a:r>
            <a:endParaRPr lang="en-US" sz="1350" dirty="0"/>
          </a:p>
          <a:p>
            <a:pPr marL="177800" indent="-1778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Código abierto y de altísimo rendimiento</a:t>
            </a:r>
            <a:endParaRPr lang="en-US" sz="1350" dirty="0"/>
          </a:p>
          <a:p>
            <a:pPr marL="177800" indent="-1778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Tipado fuerte con C#: errores en compilación</a:t>
            </a:r>
            <a:endParaRPr lang="en-US" sz="1350" dirty="0"/>
          </a:p>
          <a:p>
            <a:pPr marL="177800" indent="-1778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Mismos patrones que Spring Boot o Laravel</a:t>
            </a:r>
            <a:endParaRPr lang="en-US" sz="1350" dirty="0"/>
          </a:p>
        </p:txBody>
      </p:sp>
      <p:sp>
        <p:nvSpPr>
          <p:cNvPr id="7" name="Shape 5"/>
          <p:cNvSpPr/>
          <p:nvPr/>
        </p:nvSpPr>
        <p:spPr>
          <a:xfrm>
            <a:off x="5852160" y="1554480"/>
            <a:ext cx="2743200" cy="2926080"/>
          </a:xfrm>
          <a:prstGeom prst="roundRect">
            <a:avLst>
              <a:gd name="adj" fmla="val 2333"/>
            </a:avLst>
          </a:prstGeom>
          <a:solidFill>
            <a:srgbClr val="EEEAFB"/>
          </a:solidFill>
          <a:ln w="12700">
            <a:solidFill>
              <a:srgbClr val="EEEAFB"/>
            </a:solidFill>
            <a:prstDash val="solid"/>
          </a:ln>
          <a:effectLst>
            <a:outerShdw sx="100000" sy="100000" kx="0" ky="0" algn="bl" rotWithShape="0" blurRad="88900" dist="38100" dir="5400000">
              <a:srgbClr val="000000">
                <a:alpha val="12000"/>
              </a:srgbClr>
            </a:outerShdw>
          </a:effectLst>
        </p:spPr>
      </p:sp>
      <p:sp>
        <p:nvSpPr>
          <p:cNvPr id="8" name="Text 6"/>
          <p:cNvSpPr/>
          <p:nvPr/>
        </p:nvSpPr>
        <p:spPr>
          <a:xfrm>
            <a:off x="6053328" y="1783080"/>
            <a:ext cx="2377440" cy="274320"/>
          </a:xfrm>
          <a:prstGeom prst="rect">
            <a:avLst/>
          </a:prstGeom>
          <a:noFill/>
          <a:ln/>
        </p:spPr>
        <p:txBody>
          <a:bodyPr wrap="square" lIns="0" tIns="0" rIns="0" bIns="0" rtlCol="0" anchor="ctr"/>
          <a:lstStyle/>
          <a:p>
            <a:pPr indent="0" marL="0">
              <a:buNone/>
            </a:pPr>
            <a:r>
              <a:rPr lang="en-US" sz="1100" b="1" spc="100" kern="0" dirty="0">
                <a:solidFill>
                  <a:srgbClr val="512BD4"/>
                </a:solidFill>
                <a:latin typeface="Calibri" pitchFamily="34" charset="0"/>
                <a:ea typeface="Calibri" pitchFamily="34" charset="-122"/>
                <a:cs typeface="Calibri" pitchFamily="34" charset="-120"/>
              </a:rPr>
              <a:t>EN UNA FRASE</a:t>
            </a:r>
            <a:endParaRPr lang="en-US" sz="1100" dirty="0"/>
          </a:p>
        </p:txBody>
      </p:sp>
      <p:sp>
        <p:nvSpPr>
          <p:cNvPr id="9" name="Text 7"/>
          <p:cNvSpPr/>
          <p:nvPr/>
        </p:nvSpPr>
        <p:spPr>
          <a:xfrm>
            <a:off x="6053328" y="2103120"/>
            <a:ext cx="2331720" cy="1463040"/>
          </a:xfrm>
          <a:prstGeom prst="rect">
            <a:avLst/>
          </a:prstGeom>
          <a:noFill/>
          <a:ln/>
        </p:spPr>
        <p:txBody>
          <a:bodyPr wrap="square" lIns="0" tIns="0" rIns="0" bIns="0" rtlCol="0" anchor="t"/>
          <a:lstStyle/>
          <a:p>
            <a:pPr indent="0" marL="0">
              <a:buNone/>
            </a:pPr>
            <a:r>
              <a:rPr lang="en-US" sz="1500" i="1" dirty="0">
                <a:solidFill>
                  <a:srgbClr val="2B1B5E"/>
                </a:solidFill>
                <a:latin typeface="Bookman Old Style" pitchFamily="34" charset="0"/>
                <a:ea typeface="Bookman Old Style" pitchFamily="34" charset="-122"/>
                <a:cs typeface="Bookman Old Style" pitchFamily="34" charset="-120"/>
              </a:rPr>
              <a:t>«Una plataforma de pleno derecho para aplicaciones web modernas, multiplataforma y de alto rendimiento.»</a:t>
            </a:r>
            <a:endParaRPr lang="en-US" sz="1500" dirty="0"/>
          </a:p>
        </p:txBody>
      </p:sp>
      <p:sp>
        <p:nvSpPr>
          <p:cNvPr id="10" name="Text 8"/>
          <p:cNvSpPr/>
          <p:nvPr/>
        </p:nvSpPr>
        <p:spPr>
          <a:xfrm>
            <a:off x="6053328" y="3977640"/>
            <a:ext cx="23317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 Andrew Lock</a:t>
            </a:r>
            <a:endParaRPr lang="en-US" sz="1100" dirty="0"/>
          </a:p>
        </p:txBody>
      </p:sp>
      <p:sp>
        <p:nvSpPr>
          <p:cNvPr id="12" name="Text 9"/>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3" name="Text 10"/>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EVOLUCIÓN</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De ASP clásico a .NET 10</a:t>
            </a:r>
            <a:endParaRPr lang="en-US" sz="2900" dirty="0"/>
          </a:p>
        </p:txBody>
      </p:sp>
      <p:sp>
        <p:nvSpPr>
          <p:cNvPr id="4" name="Shape 2"/>
          <p:cNvSpPr/>
          <p:nvPr/>
        </p:nvSpPr>
        <p:spPr>
          <a:xfrm>
            <a:off x="548640" y="1828800"/>
            <a:ext cx="1938528" cy="2286000"/>
          </a:xfrm>
          <a:prstGeom prst="roundRect">
            <a:avLst>
              <a:gd name="adj" fmla="val 3302"/>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1133856" y="1993392"/>
            <a:ext cx="768096" cy="768096"/>
          </a:xfrm>
          <a:prstGeom prst="ellipse">
            <a:avLst/>
          </a:prstGeom>
          <a:solidFill>
            <a:srgbClr val="512BD4"/>
          </a:solidFill>
          <a:ln/>
        </p:spPr>
      </p:sp>
      <p:sp>
        <p:nvSpPr>
          <p:cNvPr id="6" name="Text 4"/>
          <p:cNvSpPr/>
          <p:nvPr/>
        </p:nvSpPr>
        <p:spPr>
          <a:xfrm>
            <a:off x="1133856" y="1993392"/>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2002</a:t>
            </a:r>
            <a:endParaRPr lang="en-US" sz="1500" dirty="0"/>
          </a:p>
        </p:txBody>
      </p:sp>
      <p:sp>
        <p:nvSpPr>
          <p:cNvPr id="7" name="Text 5"/>
          <p:cNvSpPr/>
          <p:nvPr/>
        </p:nvSpPr>
        <p:spPr>
          <a:xfrm>
            <a:off x="658368" y="2907792"/>
            <a:ext cx="1719072" cy="548640"/>
          </a:xfrm>
          <a:prstGeom prst="rect">
            <a:avLst/>
          </a:prstGeom>
          <a:noFill/>
          <a:ln/>
        </p:spPr>
        <p:txBody>
          <a:bodyPr wrap="square" lIns="0" tIns="0" rIns="0" bIns="0" rtlCol="0" anchor="t"/>
          <a:lstStyle/>
          <a:p>
            <a:pPr algn="ctr" indent="0" marL="0">
              <a:buNone/>
            </a:pPr>
            <a:r>
              <a:rPr lang="en-US" sz="1400" b="1" dirty="0">
                <a:solidFill>
                  <a:srgbClr val="2B1B5E"/>
                </a:solidFill>
                <a:latin typeface="Bookman Old Style" pitchFamily="34" charset="0"/>
                <a:ea typeface="Bookman Old Style" pitchFamily="34" charset="-122"/>
                <a:cs typeface="Bookman Old Style" pitchFamily="34" charset="-120"/>
              </a:rPr>
              <a:t>ASP.NET</a:t>
            </a:r>
            <a:endParaRPr lang="en-US" sz="1400" dirty="0"/>
          </a:p>
        </p:txBody>
      </p:sp>
      <p:sp>
        <p:nvSpPr>
          <p:cNvPr id="8" name="Text 6"/>
          <p:cNvSpPr/>
          <p:nvPr/>
        </p:nvSpPr>
        <p:spPr>
          <a:xfrm>
            <a:off x="658368" y="3419856"/>
            <a:ext cx="1719072" cy="64008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Sobre .NET Framework. Solo Windows.</a:t>
            </a:r>
            <a:endParaRPr lang="en-US" sz="1150" dirty="0"/>
          </a:p>
        </p:txBody>
      </p:sp>
      <p:sp>
        <p:nvSpPr>
          <p:cNvPr id="9" name="Shape 7"/>
          <p:cNvSpPr/>
          <p:nvPr/>
        </p:nvSpPr>
        <p:spPr>
          <a:xfrm>
            <a:off x="2496312" y="2377440"/>
            <a:ext cx="146304" cy="0"/>
          </a:xfrm>
          <a:prstGeom prst="line">
            <a:avLst/>
          </a:prstGeom>
          <a:noFill/>
          <a:ln w="19050">
            <a:solidFill>
              <a:srgbClr val="9AA0AA"/>
            </a:solidFill>
            <a:prstDash val="solid"/>
            <a:tailEnd type="triangle"/>
          </a:ln>
        </p:spPr>
      </p:sp>
      <p:sp>
        <p:nvSpPr>
          <p:cNvPr id="10" name="Shape 8"/>
          <p:cNvSpPr/>
          <p:nvPr/>
        </p:nvSpPr>
        <p:spPr>
          <a:xfrm>
            <a:off x="2651760" y="1828800"/>
            <a:ext cx="1938528" cy="2286000"/>
          </a:xfrm>
          <a:prstGeom prst="roundRect">
            <a:avLst>
              <a:gd name="adj" fmla="val 3302"/>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3236976" y="1993392"/>
            <a:ext cx="768096" cy="768096"/>
          </a:xfrm>
          <a:prstGeom prst="ellipse">
            <a:avLst/>
          </a:prstGeom>
          <a:solidFill>
            <a:srgbClr val="006633"/>
          </a:solidFill>
          <a:ln/>
        </p:spPr>
      </p:sp>
      <p:sp>
        <p:nvSpPr>
          <p:cNvPr id="12" name="Text 10"/>
          <p:cNvSpPr/>
          <p:nvPr/>
        </p:nvSpPr>
        <p:spPr>
          <a:xfrm>
            <a:off x="3236976" y="1993392"/>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2016</a:t>
            </a:r>
            <a:endParaRPr lang="en-US" sz="1500" dirty="0"/>
          </a:p>
        </p:txBody>
      </p:sp>
      <p:sp>
        <p:nvSpPr>
          <p:cNvPr id="13" name="Text 11"/>
          <p:cNvSpPr/>
          <p:nvPr/>
        </p:nvSpPr>
        <p:spPr>
          <a:xfrm>
            <a:off x="2761488" y="2907792"/>
            <a:ext cx="1719072" cy="548640"/>
          </a:xfrm>
          <a:prstGeom prst="rect">
            <a:avLst/>
          </a:prstGeom>
          <a:noFill/>
          <a:ln/>
        </p:spPr>
        <p:txBody>
          <a:bodyPr wrap="square" lIns="0" tIns="0" rIns="0" bIns="0" rtlCol="0" anchor="t"/>
          <a:lstStyle/>
          <a:p>
            <a:pPr algn="ctr" indent="0" marL="0">
              <a:buNone/>
            </a:pPr>
            <a:r>
              <a:rPr lang="en-US" sz="1400" b="1" dirty="0">
                <a:solidFill>
                  <a:srgbClr val="2B1B5E"/>
                </a:solidFill>
                <a:latin typeface="Bookman Old Style" pitchFamily="34" charset="0"/>
                <a:ea typeface="Bookman Old Style" pitchFamily="34" charset="-122"/>
                <a:cs typeface="Bookman Old Style" pitchFamily="34" charset="-120"/>
              </a:rPr>
              <a:t>ASP.NET Core 1.0</a:t>
            </a:r>
            <a:endParaRPr lang="en-US" sz="1400" dirty="0"/>
          </a:p>
        </p:txBody>
      </p:sp>
      <p:sp>
        <p:nvSpPr>
          <p:cNvPr id="14" name="Text 12"/>
          <p:cNvSpPr/>
          <p:nvPr/>
        </p:nvSpPr>
        <p:spPr>
          <a:xfrm>
            <a:off x="2761488" y="3419856"/>
            <a:ext cx="1719072" cy="64008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Reescritura: open source y multiplataforma.</a:t>
            </a:r>
            <a:endParaRPr lang="en-US" sz="1150" dirty="0"/>
          </a:p>
        </p:txBody>
      </p:sp>
      <p:sp>
        <p:nvSpPr>
          <p:cNvPr id="15" name="Shape 13"/>
          <p:cNvSpPr/>
          <p:nvPr/>
        </p:nvSpPr>
        <p:spPr>
          <a:xfrm>
            <a:off x="4599432" y="2377440"/>
            <a:ext cx="146304" cy="0"/>
          </a:xfrm>
          <a:prstGeom prst="line">
            <a:avLst/>
          </a:prstGeom>
          <a:noFill/>
          <a:ln w="19050">
            <a:solidFill>
              <a:srgbClr val="9AA0AA"/>
            </a:solidFill>
            <a:prstDash val="solid"/>
            <a:tailEnd type="triangle"/>
          </a:ln>
        </p:spPr>
      </p:sp>
      <p:sp>
        <p:nvSpPr>
          <p:cNvPr id="16" name="Shape 14"/>
          <p:cNvSpPr/>
          <p:nvPr/>
        </p:nvSpPr>
        <p:spPr>
          <a:xfrm>
            <a:off x="4754880" y="1828800"/>
            <a:ext cx="1938528" cy="2286000"/>
          </a:xfrm>
          <a:prstGeom prst="roundRect">
            <a:avLst>
              <a:gd name="adj" fmla="val 3302"/>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5340096" y="1993392"/>
            <a:ext cx="768096" cy="768096"/>
          </a:xfrm>
          <a:prstGeom prst="ellipse">
            <a:avLst/>
          </a:prstGeom>
          <a:solidFill>
            <a:srgbClr val="512BD4"/>
          </a:solidFill>
          <a:ln/>
        </p:spPr>
      </p:sp>
      <p:sp>
        <p:nvSpPr>
          <p:cNvPr id="18" name="Text 16"/>
          <p:cNvSpPr/>
          <p:nvPr/>
        </p:nvSpPr>
        <p:spPr>
          <a:xfrm>
            <a:off x="5340096" y="1993392"/>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2020</a:t>
            </a:r>
            <a:endParaRPr lang="en-US" sz="1500" dirty="0"/>
          </a:p>
        </p:txBody>
      </p:sp>
      <p:sp>
        <p:nvSpPr>
          <p:cNvPr id="19" name="Text 17"/>
          <p:cNvSpPr/>
          <p:nvPr/>
        </p:nvSpPr>
        <p:spPr>
          <a:xfrm>
            <a:off x="4864608" y="2907792"/>
            <a:ext cx="1719072" cy="548640"/>
          </a:xfrm>
          <a:prstGeom prst="rect">
            <a:avLst/>
          </a:prstGeom>
          <a:noFill/>
          <a:ln/>
        </p:spPr>
        <p:txBody>
          <a:bodyPr wrap="square" lIns="0" tIns="0" rIns="0" bIns="0" rtlCol="0" anchor="t"/>
          <a:lstStyle/>
          <a:p>
            <a:pPr algn="ctr" indent="0" marL="0">
              <a:buNone/>
            </a:pPr>
            <a:r>
              <a:rPr lang="en-US" sz="1400" b="1" dirty="0">
                <a:solidFill>
                  <a:srgbClr val="2B1B5E"/>
                </a:solidFill>
                <a:latin typeface="Bookman Old Style" pitchFamily="34" charset="0"/>
                <a:ea typeface="Bookman Old Style" pitchFamily="34" charset="-122"/>
                <a:cs typeface="Bookman Old Style" pitchFamily="34" charset="-120"/>
              </a:rPr>
              <a:t>Unificación .NET 5</a:t>
            </a:r>
            <a:endParaRPr lang="en-US" sz="1400" dirty="0"/>
          </a:p>
        </p:txBody>
      </p:sp>
      <p:sp>
        <p:nvSpPr>
          <p:cNvPr id="20" name="Text 18"/>
          <p:cNvSpPr/>
          <p:nvPr/>
        </p:nvSpPr>
        <p:spPr>
          <a:xfrm>
            <a:off x="4864608" y="3419856"/>
            <a:ext cx="1719072" cy="64008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Una sola marca: «.NET» a secas.</a:t>
            </a:r>
            <a:endParaRPr lang="en-US" sz="1150" dirty="0"/>
          </a:p>
        </p:txBody>
      </p:sp>
      <p:sp>
        <p:nvSpPr>
          <p:cNvPr id="21" name="Shape 19"/>
          <p:cNvSpPr/>
          <p:nvPr/>
        </p:nvSpPr>
        <p:spPr>
          <a:xfrm>
            <a:off x="6702552" y="2377440"/>
            <a:ext cx="146304" cy="0"/>
          </a:xfrm>
          <a:prstGeom prst="line">
            <a:avLst/>
          </a:prstGeom>
          <a:noFill/>
          <a:ln w="19050">
            <a:solidFill>
              <a:srgbClr val="9AA0AA"/>
            </a:solidFill>
            <a:prstDash val="solid"/>
            <a:tailEnd type="triangle"/>
          </a:ln>
        </p:spPr>
      </p:sp>
      <p:sp>
        <p:nvSpPr>
          <p:cNvPr id="22" name="Shape 20"/>
          <p:cNvSpPr/>
          <p:nvPr/>
        </p:nvSpPr>
        <p:spPr>
          <a:xfrm>
            <a:off x="6858000" y="1828800"/>
            <a:ext cx="1938528" cy="2286000"/>
          </a:xfrm>
          <a:prstGeom prst="roundRect">
            <a:avLst>
              <a:gd name="adj" fmla="val 3302"/>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23" name="Shape 21"/>
          <p:cNvSpPr/>
          <p:nvPr/>
        </p:nvSpPr>
        <p:spPr>
          <a:xfrm>
            <a:off x="7443216" y="1993392"/>
            <a:ext cx="768096" cy="768096"/>
          </a:xfrm>
          <a:prstGeom prst="ellipse">
            <a:avLst/>
          </a:prstGeom>
          <a:solidFill>
            <a:srgbClr val="006633"/>
          </a:solidFill>
          <a:ln/>
        </p:spPr>
      </p:sp>
      <p:sp>
        <p:nvSpPr>
          <p:cNvPr id="24" name="Text 22"/>
          <p:cNvSpPr/>
          <p:nvPr/>
        </p:nvSpPr>
        <p:spPr>
          <a:xfrm>
            <a:off x="7443216" y="1993392"/>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2025</a:t>
            </a:r>
            <a:endParaRPr lang="en-US" sz="1500" dirty="0"/>
          </a:p>
        </p:txBody>
      </p:sp>
      <p:sp>
        <p:nvSpPr>
          <p:cNvPr id="25" name="Text 23"/>
          <p:cNvSpPr/>
          <p:nvPr/>
        </p:nvSpPr>
        <p:spPr>
          <a:xfrm>
            <a:off x="6967728" y="2907792"/>
            <a:ext cx="1719072" cy="548640"/>
          </a:xfrm>
          <a:prstGeom prst="rect">
            <a:avLst/>
          </a:prstGeom>
          <a:noFill/>
          <a:ln/>
        </p:spPr>
        <p:txBody>
          <a:bodyPr wrap="square" lIns="0" tIns="0" rIns="0" bIns="0" rtlCol="0" anchor="t"/>
          <a:lstStyle/>
          <a:p>
            <a:pPr algn="ctr" indent="0" marL="0">
              <a:buNone/>
            </a:pPr>
            <a:r>
              <a:rPr lang="en-US" sz="1400" b="1" dirty="0">
                <a:solidFill>
                  <a:srgbClr val="2B1B5E"/>
                </a:solidFill>
                <a:latin typeface="Bookman Old Style" pitchFamily="34" charset="0"/>
                <a:ea typeface="Bookman Old Style" pitchFamily="34" charset="-122"/>
                <a:cs typeface="Bookman Old Style" pitchFamily="34" charset="-120"/>
              </a:rPr>
              <a:t>.NET 10 (LTS)</a:t>
            </a:r>
            <a:endParaRPr lang="en-US" sz="1400" dirty="0"/>
          </a:p>
        </p:txBody>
      </p:sp>
      <p:sp>
        <p:nvSpPr>
          <p:cNvPr id="26" name="Text 24"/>
          <p:cNvSpPr/>
          <p:nvPr/>
        </p:nvSpPr>
        <p:spPr>
          <a:xfrm>
            <a:off x="6967728" y="3419856"/>
            <a:ext cx="1719072" cy="64008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Versión vigente. Soporte hasta 2028.</a:t>
            </a:r>
            <a:endParaRPr lang="en-US" sz="1150" dirty="0"/>
          </a:p>
        </p:txBody>
      </p:sp>
      <p:sp>
        <p:nvSpPr>
          <p:cNvPr id="27" name="Text 25"/>
          <p:cNvSpPr/>
          <p:nvPr/>
        </p:nvSpPr>
        <p:spPr>
          <a:xfrm>
            <a:off x="548640" y="4343400"/>
            <a:ext cx="8046720" cy="365760"/>
          </a:xfrm>
          <a:prstGeom prst="rect">
            <a:avLst/>
          </a:prstGeom>
          <a:noFill/>
          <a:ln/>
        </p:spPr>
        <p:txBody>
          <a:bodyPr wrap="square" lIns="0" tIns="0" rIns="0" bIns="0" rtlCol="0" anchor="ctr"/>
          <a:lstStyle/>
          <a:p>
            <a:pPr indent="0" marL="0">
              <a:buNone/>
            </a:pPr>
            <a:r>
              <a:rPr lang="en-US" sz="1300" i="1" dirty="0">
                <a:solidFill>
                  <a:srgbClr val="006633"/>
                </a:solidFill>
                <a:latin typeface="Calibri" pitchFamily="34" charset="0"/>
                <a:ea typeface="Calibri" pitchFamily="34" charset="-122"/>
                <a:cs typeface="Calibri" pitchFamily="34" charset="-120"/>
              </a:rPr>
              <a:t>Punto de inflexión: 2016. El giro a código abierto y multiplataforma volvió a .NET competitivo frente a Java y Node.js.</a:t>
            </a:r>
            <a:endParaRPr lang="en-US" sz="1300" dirty="0"/>
          </a:p>
        </p:txBody>
      </p:sp>
      <p:sp>
        <p:nvSpPr>
          <p:cNvPr id="29" name="Text 26"/>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30" name="Text 27"/>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LENGUAJE</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C# para quien ya sabe Java</a:t>
            </a:r>
            <a:endParaRPr lang="en-US" sz="2900" dirty="0"/>
          </a:p>
        </p:txBody>
      </p:sp>
      <p:sp>
        <p:nvSpPr>
          <p:cNvPr id="4" name="Text 2"/>
          <p:cNvSpPr/>
          <p:nvPr/>
        </p:nvSpPr>
        <p:spPr>
          <a:xfrm>
            <a:off x="548640" y="1481328"/>
            <a:ext cx="8046720" cy="411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Ambos son de tipado estático, orientados a objetos y de sintaxis con llaves. Estas son las diferencias que más verás:</a:t>
            </a:r>
            <a:endParaRPr lang="en-US" sz="1400" dirty="0"/>
          </a:p>
        </p:txBody>
      </p:sp>
      <p:sp>
        <p:nvSpPr>
          <p:cNvPr id="5" name="Shape 3"/>
          <p:cNvSpPr/>
          <p:nvPr/>
        </p:nvSpPr>
        <p:spPr>
          <a:xfrm>
            <a:off x="548640" y="2011680"/>
            <a:ext cx="8046720" cy="402336"/>
          </a:xfrm>
          <a:prstGeom prst="rect">
            <a:avLst/>
          </a:prstGeom>
          <a:solidFill>
            <a:srgbClr val="EEEAFB"/>
          </a:solidFill>
          <a:ln w="6350">
            <a:solidFill>
              <a:srgbClr val="D9D3F2"/>
            </a:solidFill>
            <a:prstDash val="solid"/>
          </a:ln>
        </p:spPr>
      </p:sp>
      <p:sp>
        <p:nvSpPr>
          <p:cNvPr id="6" name="Text 4"/>
          <p:cNvSpPr/>
          <p:nvPr/>
        </p:nvSpPr>
        <p:spPr>
          <a:xfrm>
            <a:off x="713232" y="2011680"/>
            <a:ext cx="3017520" cy="402336"/>
          </a:xfrm>
          <a:prstGeom prst="rect">
            <a:avLst/>
          </a:prstGeom>
          <a:noFill/>
          <a:ln/>
        </p:spPr>
        <p:txBody>
          <a:bodyPr wrap="square" lIns="0" tIns="0" rIns="0" bIns="0" rtlCol="0" anchor="ctr"/>
          <a:lstStyle/>
          <a:p>
            <a:pPr indent="0" marL="0">
              <a:buNone/>
            </a:pPr>
            <a:r>
              <a:rPr lang="en-US" sz="1300" b="1" dirty="0">
                <a:solidFill>
                  <a:srgbClr val="2B1B5E"/>
                </a:solidFill>
                <a:latin typeface="Calibri" pitchFamily="34" charset="0"/>
                <a:ea typeface="Calibri" pitchFamily="34" charset="-122"/>
                <a:cs typeface="Calibri" pitchFamily="34" charset="-120"/>
              </a:rPr>
              <a:t>Métodos y propiedades</a:t>
            </a:r>
            <a:endParaRPr lang="en-US" sz="1300" dirty="0"/>
          </a:p>
        </p:txBody>
      </p:sp>
      <p:sp>
        <p:nvSpPr>
          <p:cNvPr id="7" name="Text 5"/>
          <p:cNvSpPr/>
          <p:nvPr/>
        </p:nvSpPr>
        <p:spPr>
          <a:xfrm>
            <a:off x="3840480" y="2011680"/>
            <a:ext cx="4617720" cy="40233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PascalCase (mayúscula inicial)</a:t>
            </a:r>
            <a:endParaRPr lang="en-US" sz="1250" dirty="0"/>
          </a:p>
        </p:txBody>
      </p:sp>
      <p:sp>
        <p:nvSpPr>
          <p:cNvPr id="8" name="Shape 6"/>
          <p:cNvSpPr/>
          <p:nvPr/>
        </p:nvSpPr>
        <p:spPr>
          <a:xfrm>
            <a:off x="548640" y="2414016"/>
            <a:ext cx="8046720" cy="402336"/>
          </a:xfrm>
          <a:prstGeom prst="rect">
            <a:avLst/>
          </a:prstGeom>
          <a:solidFill>
            <a:srgbClr val="FFFFFF"/>
          </a:solidFill>
          <a:ln w="6350">
            <a:solidFill>
              <a:srgbClr val="D9D3F2"/>
            </a:solidFill>
            <a:prstDash val="solid"/>
          </a:ln>
        </p:spPr>
      </p:sp>
      <p:sp>
        <p:nvSpPr>
          <p:cNvPr id="9" name="Text 7"/>
          <p:cNvSpPr/>
          <p:nvPr/>
        </p:nvSpPr>
        <p:spPr>
          <a:xfrm>
            <a:off x="713232" y="2414016"/>
            <a:ext cx="3017520" cy="402336"/>
          </a:xfrm>
          <a:prstGeom prst="rect">
            <a:avLst/>
          </a:prstGeom>
          <a:noFill/>
          <a:ln/>
        </p:spPr>
        <p:txBody>
          <a:bodyPr wrap="square" lIns="0" tIns="0" rIns="0" bIns="0" rtlCol="0" anchor="ctr"/>
          <a:lstStyle/>
          <a:p>
            <a:pPr indent="0" marL="0">
              <a:buNone/>
            </a:pPr>
            <a:r>
              <a:rPr lang="en-US" sz="1300" b="1" dirty="0">
                <a:solidFill>
                  <a:srgbClr val="2B1B5E"/>
                </a:solidFill>
                <a:latin typeface="Calibri" pitchFamily="34" charset="0"/>
                <a:ea typeface="Calibri" pitchFamily="34" charset="-122"/>
                <a:cs typeface="Calibri" pitchFamily="34" charset="-120"/>
              </a:rPr>
              <a:t>Estado de las clases</a:t>
            </a:r>
            <a:endParaRPr lang="en-US" sz="1300" dirty="0"/>
          </a:p>
        </p:txBody>
      </p:sp>
      <p:sp>
        <p:nvSpPr>
          <p:cNvPr id="10" name="Text 8"/>
          <p:cNvSpPr/>
          <p:nvPr/>
        </p:nvSpPr>
        <p:spPr>
          <a:xfrm>
            <a:off x="3840480" y="2414016"/>
            <a:ext cx="4617720" cy="40233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Propiedades { get; set; } en vez de getters/setters</a:t>
            </a:r>
            <a:endParaRPr lang="en-US" sz="1250" dirty="0"/>
          </a:p>
        </p:txBody>
      </p:sp>
      <p:sp>
        <p:nvSpPr>
          <p:cNvPr id="11" name="Shape 9"/>
          <p:cNvSpPr/>
          <p:nvPr/>
        </p:nvSpPr>
        <p:spPr>
          <a:xfrm>
            <a:off x="548640" y="2816352"/>
            <a:ext cx="8046720" cy="402336"/>
          </a:xfrm>
          <a:prstGeom prst="rect">
            <a:avLst/>
          </a:prstGeom>
          <a:solidFill>
            <a:srgbClr val="EEEAFB"/>
          </a:solidFill>
          <a:ln w="6350">
            <a:solidFill>
              <a:srgbClr val="D9D3F2"/>
            </a:solidFill>
            <a:prstDash val="solid"/>
          </a:ln>
        </p:spPr>
      </p:sp>
      <p:sp>
        <p:nvSpPr>
          <p:cNvPr id="12" name="Text 10"/>
          <p:cNvSpPr/>
          <p:nvPr/>
        </p:nvSpPr>
        <p:spPr>
          <a:xfrm>
            <a:off x="713232" y="2816352"/>
            <a:ext cx="3017520" cy="402336"/>
          </a:xfrm>
          <a:prstGeom prst="rect">
            <a:avLst/>
          </a:prstGeom>
          <a:noFill/>
          <a:ln/>
        </p:spPr>
        <p:txBody>
          <a:bodyPr wrap="square" lIns="0" tIns="0" rIns="0" bIns="0" rtlCol="0" anchor="ctr"/>
          <a:lstStyle/>
          <a:p>
            <a:pPr indent="0" marL="0">
              <a:buNone/>
            </a:pPr>
            <a:r>
              <a:rPr lang="en-US" sz="1300" b="1" dirty="0">
                <a:solidFill>
                  <a:srgbClr val="2B1B5E"/>
                </a:solidFill>
                <a:latin typeface="Calibri" pitchFamily="34" charset="0"/>
                <a:ea typeface="Calibri" pitchFamily="34" charset="-122"/>
                <a:cs typeface="Calibri" pitchFamily="34" charset="-120"/>
              </a:rPr>
              <a:t>Inferencia de tipos</a:t>
            </a:r>
            <a:endParaRPr lang="en-US" sz="1300" dirty="0"/>
          </a:p>
        </p:txBody>
      </p:sp>
      <p:sp>
        <p:nvSpPr>
          <p:cNvPr id="13" name="Text 11"/>
          <p:cNvSpPr/>
          <p:nvPr/>
        </p:nvSpPr>
        <p:spPr>
          <a:xfrm>
            <a:off x="3840480" y="2816352"/>
            <a:ext cx="4617720" cy="40233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var nombre = "Ada";</a:t>
            </a:r>
            <a:endParaRPr lang="en-US" sz="1250" dirty="0"/>
          </a:p>
        </p:txBody>
      </p:sp>
      <p:sp>
        <p:nvSpPr>
          <p:cNvPr id="14" name="Shape 12"/>
          <p:cNvSpPr/>
          <p:nvPr/>
        </p:nvSpPr>
        <p:spPr>
          <a:xfrm>
            <a:off x="548640" y="3218688"/>
            <a:ext cx="8046720" cy="402336"/>
          </a:xfrm>
          <a:prstGeom prst="rect">
            <a:avLst/>
          </a:prstGeom>
          <a:solidFill>
            <a:srgbClr val="FFFFFF"/>
          </a:solidFill>
          <a:ln w="6350">
            <a:solidFill>
              <a:srgbClr val="D9D3F2"/>
            </a:solidFill>
            <a:prstDash val="solid"/>
          </a:ln>
        </p:spPr>
      </p:sp>
      <p:sp>
        <p:nvSpPr>
          <p:cNvPr id="15" name="Text 13"/>
          <p:cNvSpPr/>
          <p:nvPr/>
        </p:nvSpPr>
        <p:spPr>
          <a:xfrm>
            <a:off x="713232" y="3218688"/>
            <a:ext cx="3017520" cy="402336"/>
          </a:xfrm>
          <a:prstGeom prst="rect">
            <a:avLst/>
          </a:prstGeom>
          <a:noFill/>
          <a:ln/>
        </p:spPr>
        <p:txBody>
          <a:bodyPr wrap="square" lIns="0" tIns="0" rIns="0" bIns="0" rtlCol="0" anchor="ctr"/>
          <a:lstStyle/>
          <a:p>
            <a:pPr indent="0" marL="0">
              <a:buNone/>
            </a:pPr>
            <a:r>
              <a:rPr lang="en-US" sz="1300" b="1" dirty="0">
                <a:solidFill>
                  <a:srgbClr val="2B1B5E"/>
                </a:solidFill>
                <a:latin typeface="Calibri" pitchFamily="34" charset="0"/>
                <a:ea typeface="Calibri" pitchFamily="34" charset="-122"/>
                <a:cs typeface="Calibri" pitchFamily="34" charset="-120"/>
              </a:rPr>
              <a:t>Datos inmutables</a:t>
            </a:r>
            <a:endParaRPr lang="en-US" sz="1300" dirty="0"/>
          </a:p>
        </p:txBody>
      </p:sp>
      <p:sp>
        <p:nvSpPr>
          <p:cNvPr id="16" name="Text 14"/>
          <p:cNvSpPr/>
          <p:nvPr/>
        </p:nvSpPr>
        <p:spPr>
          <a:xfrm>
            <a:off x="3840480" y="3218688"/>
            <a:ext cx="4617720" cy="40233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record en una sola línea</a:t>
            </a:r>
            <a:endParaRPr lang="en-US" sz="1250" dirty="0"/>
          </a:p>
        </p:txBody>
      </p:sp>
      <p:sp>
        <p:nvSpPr>
          <p:cNvPr id="17" name="Shape 15"/>
          <p:cNvSpPr/>
          <p:nvPr/>
        </p:nvSpPr>
        <p:spPr>
          <a:xfrm>
            <a:off x="548640" y="3621024"/>
            <a:ext cx="8046720" cy="402336"/>
          </a:xfrm>
          <a:prstGeom prst="rect">
            <a:avLst/>
          </a:prstGeom>
          <a:solidFill>
            <a:srgbClr val="EEEAFB"/>
          </a:solidFill>
          <a:ln w="6350">
            <a:solidFill>
              <a:srgbClr val="D9D3F2"/>
            </a:solidFill>
            <a:prstDash val="solid"/>
          </a:ln>
        </p:spPr>
      </p:sp>
      <p:sp>
        <p:nvSpPr>
          <p:cNvPr id="18" name="Text 16"/>
          <p:cNvSpPr/>
          <p:nvPr/>
        </p:nvSpPr>
        <p:spPr>
          <a:xfrm>
            <a:off x="713232" y="3621024"/>
            <a:ext cx="3017520" cy="402336"/>
          </a:xfrm>
          <a:prstGeom prst="rect">
            <a:avLst/>
          </a:prstGeom>
          <a:noFill/>
          <a:ln/>
        </p:spPr>
        <p:txBody>
          <a:bodyPr wrap="square" lIns="0" tIns="0" rIns="0" bIns="0" rtlCol="0" anchor="ctr"/>
          <a:lstStyle/>
          <a:p>
            <a:pPr indent="0" marL="0">
              <a:buNone/>
            </a:pPr>
            <a:r>
              <a:rPr lang="en-US" sz="1300" b="1" dirty="0">
                <a:solidFill>
                  <a:srgbClr val="2B1B5E"/>
                </a:solidFill>
                <a:latin typeface="Calibri" pitchFamily="34" charset="0"/>
                <a:ea typeface="Calibri" pitchFamily="34" charset="-122"/>
                <a:cs typeface="Calibri" pitchFamily="34" charset="-120"/>
              </a:rPr>
              <a:t>Expresiones y lambdas</a:t>
            </a:r>
            <a:endParaRPr lang="en-US" sz="1300" dirty="0"/>
          </a:p>
        </p:txBody>
      </p:sp>
      <p:sp>
        <p:nvSpPr>
          <p:cNvPr id="19" name="Text 17"/>
          <p:cNvSpPr/>
          <p:nvPr/>
        </p:nvSpPr>
        <p:spPr>
          <a:xfrm>
            <a:off x="3840480" y="3621024"/>
            <a:ext cx="4617720" cy="40233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operador =&gt; para cuerpos y funciones</a:t>
            </a:r>
            <a:endParaRPr lang="en-US" sz="1250" dirty="0"/>
          </a:p>
        </p:txBody>
      </p:sp>
      <p:sp>
        <p:nvSpPr>
          <p:cNvPr id="20" name="Shape 18"/>
          <p:cNvSpPr/>
          <p:nvPr/>
        </p:nvSpPr>
        <p:spPr>
          <a:xfrm>
            <a:off x="548640" y="4023360"/>
            <a:ext cx="8046720" cy="402336"/>
          </a:xfrm>
          <a:prstGeom prst="rect">
            <a:avLst/>
          </a:prstGeom>
          <a:solidFill>
            <a:srgbClr val="FFFFFF"/>
          </a:solidFill>
          <a:ln w="6350">
            <a:solidFill>
              <a:srgbClr val="D9D3F2"/>
            </a:solidFill>
            <a:prstDash val="solid"/>
          </a:ln>
        </p:spPr>
      </p:sp>
      <p:sp>
        <p:nvSpPr>
          <p:cNvPr id="21" name="Text 19"/>
          <p:cNvSpPr/>
          <p:nvPr/>
        </p:nvSpPr>
        <p:spPr>
          <a:xfrm>
            <a:off x="713232" y="4023360"/>
            <a:ext cx="3017520" cy="402336"/>
          </a:xfrm>
          <a:prstGeom prst="rect">
            <a:avLst/>
          </a:prstGeom>
          <a:noFill/>
          <a:ln/>
        </p:spPr>
        <p:txBody>
          <a:bodyPr wrap="square" lIns="0" tIns="0" rIns="0" bIns="0" rtlCol="0" anchor="ctr"/>
          <a:lstStyle/>
          <a:p>
            <a:pPr indent="0" marL="0">
              <a:buNone/>
            </a:pPr>
            <a:r>
              <a:rPr lang="en-US" sz="1300" b="1" dirty="0">
                <a:solidFill>
                  <a:srgbClr val="2B1B5E"/>
                </a:solidFill>
                <a:latin typeface="Calibri" pitchFamily="34" charset="0"/>
                <a:ea typeface="Calibri" pitchFamily="34" charset="-122"/>
                <a:cs typeface="Calibri" pitchFamily="34" charset="-120"/>
              </a:rPr>
              <a:t>Asincronía</a:t>
            </a:r>
            <a:endParaRPr lang="en-US" sz="1300" dirty="0"/>
          </a:p>
        </p:txBody>
      </p:sp>
      <p:sp>
        <p:nvSpPr>
          <p:cNvPr id="22" name="Text 20"/>
          <p:cNvSpPr/>
          <p:nvPr/>
        </p:nvSpPr>
        <p:spPr>
          <a:xfrm>
            <a:off x="3840480" y="4023360"/>
            <a:ext cx="4617720" cy="40233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async / await liberan el hilo en E/S</a:t>
            </a:r>
            <a:endParaRPr lang="en-US" sz="1250" dirty="0"/>
          </a:p>
        </p:txBody>
      </p:sp>
      <p:sp>
        <p:nvSpPr>
          <p:cNvPr id="24" name="Text 21"/>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25" name="Text 22"/>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ARQUITECTURA</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El pipeline de middleware</a:t>
            </a:r>
            <a:endParaRPr lang="en-US" sz="2900" dirty="0"/>
          </a:p>
        </p:txBody>
      </p:sp>
      <p:sp>
        <p:nvSpPr>
          <p:cNvPr id="4" name="Text 2"/>
          <p:cNvSpPr/>
          <p:nvPr/>
        </p:nvSpPr>
        <p:spPr>
          <a:xfrm>
            <a:off x="548640" y="1481328"/>
            <a:ext cx="8046720" cy="411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Cada petición atraviesa una cadena de componentes (middleware). El orden en que los registras es el orden en que se ejecutan.</a:t>
            </a:r>
            <a:endParaRPr lang="en-US" sz="1400" dirty="0"/>
          </a:p>
        </p:txBody>
      </p:sp>
      <p:sp>
        <p:nvSpPr>
          <p:cNvPr id="5" name="Shape 3"/>
          <p:cNvSpPr/>
          <p:nvPr/>
        </p:nvSpPr>
        <p:spPr>
          <a:xfrm>
            <a:off x="548640" y="2240280"/>
            <a:ext cx="1207008" cy="868680"/>
          </a:xfrm>
          <a:prstGeom prst="roundRect">
            <a:avLst>
              <a:gd name="adj" fmla="val 6316"/>
            </a:avLst>
          </a:prstGeom>
          <a:solidFill>
            <a:srgbClr val="512BD4"/>
          </a:solidFill>
          <a:ln/>
          <a:effectLst>
            <a:outerShdw sx="100000" sy="100000" kx="0" ky="0" algn="bl" rotWithShape="0" blurRad="88900" dist="38100" dir="5400000">
              <a:srgbClr val="000000">
                <a:alpha val="12000"/>
              </a:srgbClr>
            </a:outerShdw>
          </a:effectLst>
        </p:spPr>
      </p:sp>
      <p:sp>
        <p:nvSpPr>
          <p:cNvPr id="6" name="Text 4"/>
          <p:cNvSpPr/>
          <p:nvPr/>
        </p:nvSpPr>
        <p:spPr>
          <a:xfrm>
            <a:off x="548640" y="2240280"/>
            <a:ext cx="120700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HTTPS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redirection</a:t>
            </a:r>
            <a:endParaRPr lang="en-US" sz="1250" dirty="0"/>
          </a:p>
        </p:txBody>
      </p:sp>
      <p:sp>
        <p:nvSpPr>
          <p:cNvPr id="7" name="Shape 5"/>
          <p:cNvSpPr/>
          <p:nvPr/>
        </p:nvSpPr>
        <p:spPr>
          <a:xfrm>
            <a:off x="1764792" y="2670048"/>
            <a:ext cx="146304" cy="0"/>
          </a:xfrm>
          <a:prstGeom prst="line">
            <a:avLst/>
          </a:prstGeom>
          <a:noFill/>
          <a:ln w="19050">
            <a:solidFill>
              <a:srgbClr val="6B7280"/>
            </a:solidFill>
            <a:prstDash val="solid"/>
            <a:tailEnd type="triangle"/>
          </a:ln>
        </p:spPr>
      </p:sp>
      <p:sp>
        <p:nvSpPr>
          <p:cNvPr id="8" name="Shape 6"/>
          <p:cNvSpPr/>
          <p:nvPr/>
        </p:nvSpPr>
        <p:spPr>
          <a:xfrm>
            <a:off x="1920240" y="2240280"/>
            <a:ext cx="1207008" cy="868680"/>
          </a:xfrm>
          <a:prstGeom prst="roundRect">
            <a:avLst>
              <a:gd name="adj" fmla="val 6316"/>
            </a:avLst>
          </a:prstGeom>
          <a:solidFill>
            <a:srgbClr val="512BD4"/>
          </a:solidFill>
          <a:ln/>
          <a:effectLst>
            <a:outerShdw sx="100000" sy="100000" kx="0" ky="0" algn="bl" rotWithShape="0" blurRad="88900" dist="38100" dir="5400000">
              <a:srgbClr val="000000">
                <a:alpha val="12000"/>
              </a:srgbClr>
            </a:outerShdw>
          </a:effectLst>
        </p:spPr>
      </p:sp>
      <p:sp>
        <p:nvSpPr>
          <p:cNvPr id="9" name="Text 7"/>
          <p:cNvSpPr/>
          <p:nvPr/>
        </p:nvSpPr>
        <p:spPr>
          <a:xfrm>
            <a:off x="1920240" y="2240280"/>
            <a:ext cx="120700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Static</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Files</a:t>
            </a:r>
            <a:endParaRPr lang="en-US" sz="1250" dirty="0"/>
          </a:p>
        </p:txBody>
      </p:sp>
      <p:sp>
        <p:nvSpPr>
          <p:cNvPr id="10" name="Shape 8"/>
          <p:cNvSpPr/>
          <p:nvPr/>
        </p:nvSpPr>
        <p:spPr>
          <a:xfrm>
            <a:off x="3136392" y="2670048"/>
            <a:ext cx="146304" cy="0"/>
          </a:xfrm>
          <a:prstGeom prst="line">
            <a:avLst/>
          </a:prstGeom>
          <a:noFill/>
          <a:ln w="19050">
            <a:solidFill>
              <a:srgbClr val="6B7280"/>
            </a:solidFill>
            <a:prstDash val="solid"/>
            <a:tailEnd type="triangle"/>
          </a:ln>
        </p:spPr>
      </p:sp>
      <p:sp>
        <p:nvSpPr>
          <p:cNvPr id="11" name="Shape 9"/>
          <p:cNvSpPr/>
          <p:nvPr/>
        </p:nvSpPr>
        <p:spPr>
          <a:xfrm>
            <a:off x="3291840" y="2240280"/>
            <a:ext cx="1207008" cy="868680"/>
          </a:xfrm>
          <a:prstGeom prst="roundRect">
            <a:avLst>
              <a:gd name="adj" fmla="val 6316"/>
            </a:avLst>
          </a:prstGeom>
          <a:solidFill>
            <a:srgbClr val="512BD4"/>
          </a:solidFill>
          <a:ln/>
          <a:effectLst>
            <a:outerShdw sx="100000" sy="100000" kx="0" ky="0" algn="bl" rotWithShape="0" blurRad="88900" dist="38100" dir="5400000">
              <a:srgbClr val="000000">
                <a:alpha val="12000"/>
              </a:srgbClr>
            </a:outerShdw>
          </a:effectLst>
        </p:spPr>
      </p:sp>
      <p:sp>
        <p:nvSpPr>
          <p:cNvPr id="12" name="Text 10"/>
          <p:cNvSpPr/>
          <p:nvPr/>
        </p:nvSpPr>
        <p:spPr>
          <a:xfrm>
            <a:off x="3291840" y="2240280"/>
            <a:ext cx="120700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Routing</a:t>
            </a:r>
            <a:endParaRPr lang="en-US" sz="1250" dirty="0"/>
          </a:p>
        </p:txBody>
      </p:sp>
      <p:sp>
        <p:nvSpPr>
          <p:cNvPr id="13" name="Shape 11"/>
          <p:cNvSpPr/>
          <p:nvPr/>
        </p:nvSpPr>
        <p:spPr>
          <a:xfrm>
            <a:off x="4507992" y="2670048"/>
            <a:ext cx="146304" cy="0"/>
          </a:xfrm>
          <a:prstGeom prst="line">
            <a:avLst/>
          </a:prstGeom>
          <a:noFill/>
          <a:ln w="19050">
            <a:solidFill>
              <a:srgbClr val="6B7280"/>
            </a:solidFill>
            <a:prstDash val="solid"/>
            <a:tailEnd type="triangle"/>
          </a:ln>
        </p:spPr>
      </p:sp>
      <p:sp>
        <p:nvSpPr>
          <p:cNvPr id="14" name="Shape 12"/>
          <p:cNvSpPr/>
          <p:nvPr/>
        </p:nvSpPr>
        <p:spPr>
          <a:xfrm>
            <a:off x="4663440" y="2240280"/>
            <a:ext cx="1207008" cy="868680"/>
          </a:xfrm>
          <a:prstGeom prst="roundRect">
            <a:avLst>
              <a:gd name="adj" fmla="val 6316"/>
            </a:avLst>
          </a:prstGeom>
          <a:solidFill>
            <a:srgbClr val="006633"/>
          </a:solidFill>
          <a:ln/>
          <a:effectLst>
            <a:outerShdw sx="100000" sy="100000" kx="0" ky="0" algn="bl" rotWithShape="0" blurRad="88900" dist="38100" dir="5400000">
              <a:srgbClr val="000000">
                <a:alpha val="12000"/>
              </a:srgbClr>
            </a:outerShdw>
          </a:effectLst>
        </p:spPr>
      </p:sp>
      <p:sp>
        <p:nvSpPr>
          <p:cNvPr id="15" name="Text 13"/>
          <p:cNvSpPr/>
          <p:nvPr/>
        </p:nvSpPr>
        <p:spPr>
          <a:xfrm>
            <a:off x="4663440" y="2240280"/>
            <a:ext cx="120700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Authentication</a:t>
            </a:r>
            <a:endParaRPr lang="en-US" sz="1250" dirty="0"/>
          </a:p>
        </p:txBody>
      </p:sp>
      <p:sp>
        <p:nvSpPr>
          <p:cNvPr id="16" name="Shape 14"/>
          <p:cNvSpPr/>
          <p:nvPr/>
        </p:nvSpPr>
        <p:spPr>
          <a:xfrm>
            <a:off x="5879592" y="2670048"/>
            <a:ext cx="146304" cy="0"/>
          </a:xfrm>
          <a:prstGeom prst="line">
            <a:avLst/>
          </a:prstGeom>
          <a:noFill/>
          <a:ln w="19050">
            <a:solidFill>
              <a:srgbClr val="6B7280"/>
            </a:solidFill>
            <a:prstDash val="solid"/>
            <a:tailEnd type="triangle"/>
          </a:ln>
        </p:spPr>
      </p:sp>
      <p:sp>
        <p:nvSpPr>
          <p:cNvPr id="17" name="Shape 15"/>
          <p:cNvSpPr/>
          <p:nvPr/>
        </p:nvSpPr>
        <p:spPr>
          <a:xfrm>
            <a:off x="6035040" y="2240280"/>
            <a:ext cx="1207008" cy="868680"/>
          </a:xfrm>
          <a:prstGeom prst="roundRect">
            <a:avLst>
              <a:gd name="adj" fmla="val 6316"/>
            </a:avLst>
          </a:prstGeom>
          <a:solidFill>
            <a:srgbClr val="006633"/>
          </a:solidFill>
          <a:ln/>
          <a:effectLst>
            <a:outerShdw sx="100000" sy="100000" kx="0" ky="0" algn="bl" rotWithShape="0" blurRad="88900" dist="38100" dir="5400000">
              <a:srgbClr val="000000">
                <a:alpha val="12000"/>
              </a:srgbClr>
            </a:outerShdw>
          </a:effectLst>
        </p:spPr>
      </p:sp>
      <p:sp>
        <p:nvSpPr>
          <p:cNvPr id="18" name="Text 16"/>
          <p:cNvSpPr/>
          <p:nvPr/>
        </p:nvSpPr>
        <p:spPr>
          <a:xfrm>
            <a:off x="6035040" y="2240280"/>
            <a:ext cx="120700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Authorization</a:t>
            </a:r>
            <a:endParaRPr lang="en-US" sz="1250" dirty="0"/>
          </a:p>
        </p:txBody>
      </p:sp>
      <p:sp>
        <p:nvSpPr>
          <p:cNvPr id="19" name="Shape 17"/>
          <p:cNvSpPr/>
          <p:nvPr/>
        </p:nvSpPr>
        <p:spPr>
          <a:xfrm>
            <a:off x="7251192" y="2670048"/>
            <a:ext cx="146304" cy="0"/>
          </a:xfrm>
          <a:prstGeom prst="line">
            <a:avLst/>
          </a:prstGeom>
          <a:noFill/>
          <a:ln w="19050">
            <a:solidFill>
              <a:srgbClr val="6B7280"/>
            </a:solidFill>
            <a:prstDash val="solid"/>
            <a:tailEnd type="triangle"/>
          </a:ln>
        </p:spPr>
      </p:sp>
      <p:sp>
        <p:nvSpPr>
          <p:cNvPr id="20" name="Shape 18"/>
          <p:cNvSpPr/>
          <p:nvPr/>
        </p:nvSpPr>
        <p:spPr>
          <a:xfrm>
            <a:off x="7406640" y="2240280"/>
            <a:ext cx="1207008" cy="868680"/>
          </a:xfrm>
          <a:prstGeom prst="roundRect">
            <a:avLst>
              <a:gd name="adj" fmla="val 6316"/>
            </a:avLst>
          </a:prstGeom>
          <a:solidFill>
            <a:srgbClr val="CC9900"/>
          </a:solidFill>
          <a:ln/>
          <a:effectLst>
            <a:outerShdw sx="100000" sy="100000" kx="0" ky="0" algn="bl" rotWithShape="0" blurRad="88900" dist="38100" dir="5400000">
              <a:srgbClr val="000000">
                <a:alpha val="12000"/>
              </a:srgbClr>
            </a:outerShdw>
          </a:effectLst>
        </p:spPr>
      </p:sp>
      <p:sp>
        <p:nvSpPr>
          <p:cNvPr id="21" name="Text 19"/>
          <p:cNvSpPr/>
          <p:nvPr/>
        </p:nvSpPr>
        <p:spPr>
          <a:xfrm>
            <a:off x="7406640" y="2240280"/>
            <a:ext cx="1207008"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Endpoint</a:t>
            </a:r>
            <a:endParaRPr lang="en-US" sz="1250" dirty="0"/>
          </a:p>
        </p:txBody>
      </p:sp>
      <p:sp>
        <p:nvSpPr>
          <p:cNvPr id="22" name="Text 20"/>
          <p:cNvSpPr/>
          <p:nvPr/>
        </p:nvSpPr>
        <p:spPr>
          <a:xfrm>
            <a:off x="548640" y="3200400"/>
            <a:ext cx="18288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Petición →</a:t>
            </a:r>
            <a:endParaRPr lang="en-US" sz="1100" dirty="0"/>
          </a:p>
        </p:txBody>
      </p:sp>
      <p:sp>
        <p:nvSpPr>
          <p:cNvPr id="23" name="Text 21"/>
          <p:cNvSpPr/>
          <p:nvPr/>
        </p:nvSpPr>
        <p:spPr>
          <a:xfrm>
            <a:off x="6766560" y="3200400"/>
            <a:ext cx="1828800" cy="27432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 Respuesta</a:t>
            </a:r>
            <a:endParaRPr lang="en-US" sz="1100" dirty="0"/>
          </a:p>
        </p:txBody>
      </p:sp>
      <p:sp>
        <p:nvSpPr>
          <p:cNvPr id="24" name="Shape 22"/>
          <p:cNvSpPr/>
          <p:nvPr/>
        </p:nvSpPr>
        <p:spPr>
          <a:xfrm>
            <a:off x="548640" y="3703320"/>
            <a:ext cx="8046720" cy="868680"/>
          </a:xfrm>
          <a:prstGeom prst="roundRect">
            <a:avLst>
              <a:gd name="adj" fmla="val 7368"/>
            </a:avLst>
          </a:prstGeom>
          <a:solidFill>
            <a:srgbClr val="FBF1D8"/>
          </a:solidFill>
          <a:ln w="12700">
            <a:solidFill>
              <a:srgbClr val="FBF1D8"/>
            </a:solidFill>
            <a:prstDash val="solid"/>
          </a:ln>
          <a:effectLst>
            <a:outerShdw sx="100000" sy="100000" kx="0" ky="0" algn="bl" rotWithShape="0" blurRad="88900" dist="38100" dir="5400000">
              <a:srgbClr val="000000">
                <a:alpha val="12000"/>
              </a:srgbClr>
            </a:outerShdw>
          </a:effectLst>
        </p:spPr>
      </p:sp>
      <p:sp>
        <p:nvSpPr>
          <p:cNvPr id="25" name="Text 23"/>
          <p:cNvSpPr/>
          <p:nvPr/>
        </p:nvSpPr>
        <p:spPr>
          <a:xfrm>
            <a:off x="777240" y="3703320"/>
            <a:ext cx="7589520" cy="868680"/>
          </a:xfrm>
          <a:prstGeom prst="rect">
            <a:avLst/>
          </a:prstGeom>
          <a:noFill/>
          <a:ln/>
        </p:spPr>
        <p:txBody>
          <a:bodyPr wrap="square" lIns="0" tIns="0" rIns="0" bIns="0" rtlCol="0" anchor="ctr"/>
          <a:lstStyle/>
          <a:p>
            <a:pPr indent="0" marL="0">
              <a:buNone/>
            </a:pPr>
            <a:r>
              <a:rPr lang="en-US" sz="1350" b="1" dirty="0">
                <a:solidFill>
                  <a:srgbClr val="8A6D00"/>
                </a:solidFill>
                <a:latin typeface="Calibri" pitchFamily="34" charset="0"/>
                <a:ea typeface="Calibri" pitchFamily="34" charset="-122"/>
                <a:cs typeface="Calibri" pitchFamily="34" charset="-120"/>
              </a:rPr>
              <a:t>Regla de oro:  </a:t>
            </a:r>
            <a:pPr indent="0" marL="0">
              <a:buNone/>
            </a:pPr>
            <a:r>
              <a:rPr lang="en-US" sz="1350" dirty="0">
                <a:solidFill>
                  <a:srgbClr val="1F2933"/>
                </a:solidFill>
                <a:latin typeface="Calibri" pitchFamily="34" charset="0"/>
                <a:ea typeface="Calibri" pitchFamily="34" charset="-122"/>
                <a:cs typeface="Calibri" pitchFamily="34" charset="-120"/>
              </a:rPr>
              <a:t>UseAuthentication() va siempre antes que UseAuthorization(). Primero se establece quién es el usuario; solo después si tiene permiso.</a:t>
            </a:r>
            <a:endParaRPr lang="en-US" sz="1350" dirty="0"/>
          </a:p>
        </p:txBody>
      </p:sp>
      <p:sp>
        <p:nvSpPr>
          <p:cNvPr id="27" name="Text 24"/>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28" name="Text 25"/>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DISEÑO</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Inyección de dependencias (DI)</a:t>
            </a:r>
            <a:endParaRPr lang="en-US" sz="2900" dirty="0"/>
          </a:p>
        </p:txBody>
      </p:sp>
      <p:sp>
        <p:nvSpPr>
          <p:cNvPr id="4" name="Text 2"/>
          <p:cNvSpPr/>
          <p:nvPr/>
        </p:nvSpPr>
        <p:spPr>
          <a:xfrm>
            <a:off x="548640" y="1481328"/>
            <a:ext cx="804672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Registras tus servicios una vez y el framework te los entrega donde los necesitas. Desacopla el código y facilita las pruebas.</a:t>
            </a:r>
            <a:endParaRPr lang="en-US" sz="1400" dirty="0"/>
          </a:p>
        </p:txBody>
      </p:sp>
      <p:sp>
        <p:nvSpPr>
          <p:cNvPr id="5" name="Shape 3"/>
          <p:cNvSpPr/>
          <p:nvPr/>
        </p:nvSpPr>
        <p:spPr>
          <a:xfrm>
            <a:off x="548640" y="2011680"/>
            <a:ext cx="5257800" cy="310896"/>
          </a:xfrm>
          <a:prstGeom prst="rect">
            <a:avLst/>
          </a:prstGeom>
          <a:solidFill>
            <a:srgbClr val="3A2480"/>
          </a:solidFill>
          <a:ln w="12700">
            <a:solidFill>
              <a:srgbClr val="3A2480"/>
            </a:solidFill>
            <a:prstDash val="solid"/>
          </a:ln>
        </p:spPr>
      </p:sp>
      <p:sp>
        <p:nvSpPr>
          <p:cNvPr id="6" name="Text 4"/>
          <p:cNvSpPr/>
          <p:nvPr/>
        </p:nvSpPr>
        <p:spPr>
          <a:xfrm>
            <a:off x="676656" y="2011680"/>
            <a:ext cx="500176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Program.cs</a:t>
            </a:r>
            <a:endParaRPr lang="en-US" sz="1100" dirty="0"/>
          </a:p>
        </p:txBody>
      </p:sp>
      <p:sp>
        <p:nvSpPr>
          <p:cNvPr id="7" name="Shape 5"/>
          <p:cNvSpPr/>
          <p:nvPr/>
        </p:nvSpPr>
        <p:spPr>
          <a:xfrm>
            <a:off x="548640" y="2322576"/>
            <a:ext cx="5257800" cy="2295144"/>
          </a:xfrm>
          <a:prstGeom prst="rect">
            <a:avLst/>
          </a:prstGeom>
          <a:solidFill>
            <a:srgbClr val="F4F2FB"/>
          </a:solidFill>
          <a:ln w="12700">
            <a:solidFill>
              <a:srgbClr val="D9D3F2"/>
            </a:solidFill>
            <a:prstDash val="solid"/>
          </a:ln>
        </p:spPr>
      </p:sp>
      <p:sp>
        <p:nvSpPr>
          <p:cNvPr id="8" name="Text 6"/>
          <p:cNvSpPr/>
          <p:nvPr/>
        </p:nvSpPr>
        <p:spPr>
          <a:xfrm>
            <a:off x="694944" y="2395728"/>
            <a:ext cx="4983480" cy="2148840"/>
          </a:xfrm>
          <a:prstGeom prst="rect">
            <a:avLst/>
          </a:prstGeom>
          <a:noFill/>
          <a:ln/>
        </p:spPr>
        <p:txBody>
          <a:bodyPr wrap="square" lIns="0" tIns="0" rIns="0" bIns="0" rtlCol="0" anchor="t"/>
          <a:lstStyle/>
          <a:p>
            <a:pPr indent="0" marL="0">
              <a:lnSpc>
                <a:spcPct val="102000"/>
              </a:lnSpc>
              <a:buNone/>
            </a:pPr>
            <a:r>
              <a:rPr lang="en-US" sz="1000" i="1" dirty="0">
                <a:solidFill>
                  <a:srgbClr val="8A86A8"/>
                </a:solidFill>
                <a:latin typeface="Consolas" pitchFamily="34" charset="0"/>
                <a:ea typeface="Consolas" pitchFamily="34" charset="-122"/>
                <a:cs typeface="Consolas" pitchFamily="34" charset="-120"/>
              </a:rPr>
              <a:t>// 1) Contrato e implementacion</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public interface ISaludador { string Saludar(string n); }</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public class Saludador : ISaludador</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    public string Saludar(string n) =&gt; $"Hola, {n}!";</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 </a:t>
            </a:r>
            <a:endParaRPr lang="en-US" sz="1000" dirty="0"/>
          </a:p>
          <a:p>
            <a:pPr indent="0" marL="0">
              <a:lnSpc>
                <a:spcPct val="102000"/>
              </a:lnSpc>
              <a:buNone/>
            </a:pPr>
            <a:r>
              <a:rPr lang="en-US" sz="1000" i="1" dirty="0">
                <a:solidFill>
                  <a:srgbClr val="8A86A8"/>
                </a:solidFill>
                <a:latin typeface="Consolas" pitchFamily="34" charset="0"/>
                <a:ea typeface="Consolas" pitchFamily="34" charset="-122"/>
                <a:cs typeface="Consolas" pitchFamily="34" charset="-120"/>
              </a:rPr>
              <a:t>// 2) Registrar en el contenedor</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builder.Services.AddScoped&lt;ISaludador, Saludador&gt;();</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 </a:t>
            </a:r>
            <a:endParaRPr lang="en-US" sz="1000" dirty="0"/>
          </a:p>
          <a:p>
            <a:pPr indent="0" marL="0">
              <a:lnSpc>
                <a:spcPct val="102000"/>
              </a:lnSpc>
              <a:buNone/>
            </a:pPr>
            <a:r>
              <a:rPr lang="en-US" sz="1000" i="1" dirty="0">
                <a:solidFill>
                  <a:srgbClr val="8A86A8"/>
                </a:solidFill>
                <a:latin typeface="Consolas" pitchFamily="34" charset="0"/>
                <a:ea typeface="Consolas" pitchFamily="34" charset="-122"/>
                <a:cs typeface="Consolas" pitchFamily="34" charset="-120"/>
              </a:rPr>
              <a:t>// 3) El framework lo inyecta en el endpoint</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app.MapGet("/saludo/{n}", (string n, ISaludador svc)</a:t>
            </a:r>
            <a:endParaRPr lang="en-US" sz="1000" dirty="0"/>
          </a:p>
          <a:p>
            <a:pPr indent="0" marL="0">
              <a:lnSpc>
                <a:spcPct val="102000"/>
              </a:lnSpc>
              <a:buNone/>
            </a:pPr>
            <a:r>
              <a:rPr lang="en-US" sz="1000" dirty="0">
                <a:solidFill>
                  <a:srgbClr val="1F2933"/>
                </a:solidFill>
                <a:latin typeface="Consolas" pitchFamily="34" charset="0"/>
                <a:ea typeface="Consolas" pitchFamily="34" charset="-122"/>
                <a:cs typeface="Consolas" pitchFamily="34" charset="-120"/>
              </a:rPr>
              <a:t>    =&gt; svc.Saludar(n));</a:t>
            </a:r>
            <a:endParaRPr lang="en-US" sz="1000" dirty="0"/>
          </a:p>
        </p:txBody>
      </p:sp>
      <p:sp>
        <p:nvSpPr>
          <p:cNvPr id="9" name="Shape 7"/>
          <p:cNvSpPr/>
          <p:nvPr/>
        </p:nvSpPr>
        <p:spPr>
          <a:xfrm>
            <a:off x="5989320" y="2011680"/>
            <a:ext cx="2606040" cy="2606040"/>
          </a:xfrm>
          <a:prstGeom prst="roundRect">
            <a:avLst>
              <a:gd name="adj" fmla="val 2456"/>
            </a:avLst>
          </a:prstGeom>
          <a:solidFill>
            <a:srgbClr val="EEEAFB"/>
          </a:solidFill>
          <a:ln w="12700">
            <a:solidFill>
              <a:srgbClr val="EEEAFB"/>
            </a:solidFill>
            <a:prstDash val="solid"/>
          </a:ln>
          <a:effectLst>
            <a:outerShdw sx="100000" sy="100000" kx="0" ky="0" algn="bl" rotWithShape="0" blurRad="88900" dist="38100" dir="5400000">
              <a:srgbClr val="000000">
                <a:alpha val="12000"/>
              </a:srgbClr>
            </a:outerShdw>
          </a:effectLst>
        </p:spPr>
      </p:sp>
      <p:sp>
        <p:nvSpPr>
          <p:cNvPr id="10" name="Text 8"/>
          <p:cNvSpPr/>
          <p:nvPr/>
        </p:nvSpPr>
        <p:spPr>
          <a:xfrm>
            <a:off x="6199632" y="2194560"/>
            <a:ext cx="2286000" cy="274320"/>
          </a:xfrm>
          <a:prstGeom prst="rect">
            <a:avLst/>
          </a:prstGeom>
          <a:noFill/>
          <a:ln/>
        </p:spPr>
        <p:txBody>
          <a:bodyPr wrap="square" lIns="0" tIns="0" rIns="0" bIns="0" rtlCol="0" anchor="ctr"/>
          <a:lstStyle/>
          <a:p>
            <a:pPr indent="0" marL="0">
              <a:buNone/>
            </a:pPr>
            <a:r>
              <a:rPr lang="en-US" sz="1100" b="1" spc="100" kern="0" dirty="0">
                <a:solidFill>
                  <a:srgbClr val="512BD4"/>
                </a:solidFill>
                <a:latin typeface="Calibri" pitchFamily="34" charset="0"/>
                <a:ea typeface="Calibri" pitchFamily="34" charset="-122"/>
                <a:cs typeface="Calibri" pitchFamily="34" charset="-120"/>
              </a:rPr>
              <a:t>CICLOS DE VIDA</a:t>
            </a:r>
            <a:endParaRPr lang="en-US" sz="1100" dirty="0"/>
          </a:p>
        </p:txBody>
      </p:sp>
      <p:sp>
        <p:nvSpPr>
          <p:cNvPr id="11" name="Text 9"/>
          <p:cNvSpPr/>
          <p:nvPr/>
        </p:nvSpPr>
        <p:spPr>
          <a:xfrm>
            <a:off x="6199632" y="2532888"/>
            <a:ext cx="2286000" cy="1920240"/>
          </a:xfrm>
          <a:prstGeom prst="rect">
            <a:avLst/>
          </a:prstGeom>
          <a:noFill/>
          <a:ln/>
        </p:spPr>
        <p:txBody>
          <a:bodyPr wrap="square" lIns="0" tIns="0" rIns="0" bIns="0" rtlCol="0" anchor="t"/>
          <a:lstStyle/>
          <a:p>
            <a:pPr indent="0" marL="0">
              <a:spcAft>
                <a:spcPts val="400"/>
              </a:spcAft>
              <a:buNone/>
            </a:pPr>
            <a:r>
              <a:rPr lang="en-US" sz="1300" b="1" dirty="0">
                <a:solidFill>
                  <a:srgbClr val="2B1B5E"/>
                </a:solidFill>
                <a:latin typeface="Calibri" pitchFamily="34" charset="0"/>
                <a:ea typeface="Calibri" pitchFamily="34" charset="-122"/>
                <a:cs typeface="Calibri" pitchFamily="34" charset="-120"/>
              </a:rPr>
              <a:t>Singleton</a:t>
            </a:r>
            <a:endParaRPr lang="en-US" sz="1300" dirty="0"/>
          </a:p>
          <a:p>
            <a:pPr indent="0" marL="0">
              <a:spcAft>
                <a:spcPts val="400"/>
              </a:spcAft>
              <a:buNone/>
            </a:pPr>
            <a:r>
              <a:rPr lang="en-US" sz="1150" dirty="0">
                <a:solidFill>
                  <a:srgbClr val="6B7280"/>
                </a:solidFill>
                <a:latin typeface="Calibri" pitchFamily="34" charset="0"/>
                <a:ea typeface="Calibri" pitchFamily="34" charset="-122"/>
                <a:cs typeface="Calibri" pitchFamily="34" charset="-120"/>
              </a:rPr>
              <a:t>una instancia para toda la app</a:t>
            </a:r>
            <a:endParaRPr lang="en-US" sz="1300" dirty="0"/>
          </a:p>
          <a:p>
            <a:pPr indent="0" marL="0">
              <a:spcAft>
                <a:spcPts val="400"/>
              </a:spcAft>
              <a:buNone/>
            </a:pPr>
            <a:r>
              <a:rPr lang="en-US" sz="1300" b="1" dirty="0">
                <a:solidFill>
                  <a:srgbClr val="2B1B5E"/>
                </a:solidFill>
                <a:latin typeface="Calibri" pitchFamily="34" charset="0"/>
                <a:ea typeface="Calibri" pitchFamily="34" charset="-122"/>
                <a:cs typeface="Calibri" pitchFamily="34" charset="-120"/>
              </a:rPr>
              <a:t>Scoped</a:t>
            </a:r>
            <a:endParaRPr lang="en-US" sz="1300" dirty="0"/>
          </a:p>
          <a:p>
            <a:pPr indent="0" marL="0">
              <a:spcAft>
                <a:spcPts val="400"/>
              </a:spcAft>
              <a:buNone/>
            </a:pPr>
            <a:r>
              <a:rPr lang="en-US" sz="1150" dirty="0">
                <a:solidFill>
                  <a:srgbClr val="6B7280"/>
                </a:solidFill>
                <a:latin typeface="Calibri" pitchFamily="34" charset="0"/>
                <a:ea typeface="Calibri" pitchFamily="34" charset="-122"/>
                <a:cs typeface="Calibri" pitchFamily="34" charset="-120"/>
              </a:rPr>
              <a:t>una por cada petición</a:t>
            </a:r>
            <a:endParaRPr lang="en-US" sz="1300" dirty="0"/>
          </a:p>
          <a:p>
            <a:pPr indent="0" marL="0">
              <a:spcAft>
                <a:spcPts val="400"/>
              </a:spcAft>
              <a:buNone/>
            </a:pPr>
            <a:r>
              <a:rPr lang="en-US" sz="1300" b="1" dirty="0">
                <a:solidFill>
                  <a:srgbClr val="2B1B5E"/>
                </a:solidFill>
                <a:latin typeface="Calibri" pitchFamily="34" charset="0"/>
                <a:ea typeface="Calibri" pitchFamily="34" charset="-122"/>
                <a:cs typeface="Calibri" pitchFamily="34" charset="-120"/>
              </a:rPr>
              <a:t>Transient</a:t>
            </a:r>
            <a:endParaRPr lang="en-US" sz="1300" dirty="0"/>
          </a:p>
          <a:p>
            <a:pPr indent="0" marL="0">
              <a:spcAft>
                <a:spcPts val="400"/>
              </a:spcAft>
              <a:buNone/>
            </a:pPr>
            <a:r>
              <a:rPr lang="en-US" sz="1150" dirty="0">
                <a:solidFill>
                  <a:srgbClr val="6B7280"/>
                </a:solidFill>
                <a:latin typeface="Calibri" pitchFamily="34" charset="0"/>
                <a:ea typeface="Calibri" pitchFamily="34" charset="-122"/>
                <a:cs typeface="Calibri" pitchFamily="34" charset="-120"/>
              </a:rPr>
              <a:t>una nueva cada vez</a:t>
            </a:r>
            <a:endParaRPr lang="en-US" sz="1300" dirty="0"/>
          </a:p>
        </p:txBody>
      </p:sp>
      <p:sp>
        <p:nvSpPr>
          <p:cNvPr id="13" name="Text 10"/>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4" name="Text 11"/>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ESTILOS</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Minimal API vs. controladores</a:t>
            </a:r>
            <a:endParaRPr lang="en-US" sz="2900" dirty="0"/>
          </a:p>
        </p:txBody>
      </p:sp>
      <p:sp>
        <p:nvSpPr>
          <p:cNvPr id="4" name="Shape 2"/>
          <p:cNvSpPr/>
          <p:nvPr/>
        </p:nvSpPr>
        <p:spPr>
          <a:xfrm>
            <a:off x="548640" y="1554480"/>
            <a:ext cx="3886200" cy="3017520"/>
          </a:xfrm>
          <a:prstGeom prst="roundRect">
            <a:avLst>
              <a:gd name="adj" fmla="val 2121"/>
            </a:avLst>
          </a:prstGeom>
          <a:solidFill>
            <a:srgbClr val="E4F0E9"/>
          </a:solidFill>
          <a:ln w="12700">
            <a:solidFill>
              <a:srgbClr val="E4F0E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77240" y="1755648"/>
            <a:ext cx="3474720" cy="274320"/>
          </a:xfrm>
          <a:prstGeom prst="rect">
            <a:avLst/>
          </a:prstGeom>
          <a:noFill/>
          <a:ln/>
        </p:spPr>
        <p:txBody>
          <a:bodyPr wrap="square" lIns="0" tIns="0" rIns="0" bIns="0" rtlCol="0" anchor="ctr"/>
          <a:lstStyle/>
          <a:p>
            <a:pPr indent="0" marL="0">
              <a:buNone/>
            </a:pPr>
            <a:r>
              <a:rPr lang="en-US" sz="1200" b="1" spc="100" kern="0" dirty="0">
                <a:solidFill>
                  <a:srgbClr val="006633"/>
                </a:solidFill>
                <a:latin typeface="Calibri" pitchFamily="34" charset="0"/>
                <a:ea typeface="Calibri" pitchFamily="34" charset="-122"/>
                <a:cs typeface="Calibri" pitchFamily="34" charset="-120"/>
              </a:rPr>
              <a:t>MINIMAL API</a:t>
            </a:r>
            <a:endParaRPr lang="en-US" sz="1200" dirty="0"/>
          </a:p>
        </p:txBody>
      </p:sp>
      <p:sp>
        <p:nvSpPr>
          <p:cNvPr id="6" name="Text 4"/>
          <p:cNvSpPr/>
          <p:nvPr/>
        </p:nvSpPr>
        <p:spPr>
          <a:xfrm>
            <a:off x="777240" y="2048256"/>
            <a:ext cx="3429000" cy="3657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Rutas definidas directamente en Program.cs</a:t>
            </a:r>
            <a:endParaRPr lang="en-US" sz="1250" dirty="0"/>
          </a:p>
        </p:txBody>
      </p:sp>
      <p:sp>
        <p:nvSpPr>
          <p:cNvPr id="7" name="Text 5"/>
          <p:cNvSpPr/>
          <p:nvPr/>
        </p:nvSpPr>
        <p:spPr>
          <a:xfrm>
            <a:off x="777240" y="2514600"/>
            <a:ext cx="347472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Conciso: todo a la vista</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Ideal para servicios pequeños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Perfecto para aprender</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Lo usamos en el CRUD de hoy</a:t>
            </a:r>
            <a:endParaRPr lang="en-US" sz="1300" dirty="0"/>
          </a:p>
        </p:txBody>
      </p:sp>
      <p:sp>
        <p:nvSpPr>
          <p:cNvPr id="8" name="Shape 6"/>
          <p:cNvSpPr/>
          <p:nvPr/>
        </p:nvSpPr>
        <p:spPr>
          <a:xfrm>
            <a:off x="4709160" y="1554480"/>
            <a:ext cx="3886200" cy="3017520"/>
          </a:xfrm>
          <a:prstGeom prst="roundRect">
            <a:avLst>
              <a:gd name="adj" fmla="val 2121"/>
            </a:avLst>
          </a:prstGeom>
          <a:solidFill>
            <a:srgbClr val="EEEAFB"/>
          </a:solidFill>
          <a:ln w="12700">
            <a:solidFill>
              <a:srgbClr val="EEEAFB"/>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4937760" y="1755648"/>
            <a:ext cx="3474720" cy="274320"/>
          </a:xfrm>
          <a:prstGeom prst="rect">
            <a:avLst/>
          </a:prstGeom>
          <a:noFill/>
          <a:ln/>
        </p:spPr>
        <p:txBody>
          <a:bodyPr wrap="square" lIns="0" tIns="0" rIns="0" bIns="0" rtlCol="0" anchor="ctr"/>
          <a:lstStyle/>
          <a:p>
            <a:pPr indent="0" marL="0">
              <a:buNone/>
            </a:pPr>
            <a:r>
              <a:rPr lang="en-US" sz="1200" b="1" spc="100" kern="0" dirty="0">
                <a:solidFill>
                  <a:srgbClr val="512BD4"/>
                </a:solidFill>
                <a:latin typeface="Calibri" pitchFamily="34" charset="0"/>
                <a:ea typeface="Calibri" pitchFamily="34" charset="-122"/>
                <a:cs typeface="Calibri" pitchFamily="34" charset="-120"/>
              </a:rPr>
              <a:t>CONTROLADORES</a:t>
            </a:r>
            <a:endParaRPr lang="en-US" sz="1200" dirty="0"/>
          </a:p>
        </p:txBody>
      </p:sp>
      <p:sp>
        <p:nvSpPr>
          <p:cNvPr id="10" name="Text 8"/>
          <p:cNvSpPr/>
          <p:nvPr/>
        </p:nvSpPr>
        <p:spPr>
          <a:xfrm>
            <a:off x="4937760" y="2048256"/>
            <a:ext cx="3429000" cy="3657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Clases con [ApiController] — como @RestController</a:t>
            </a:r>
            <a:endParaRPr lang="en-US" sz="1250" dirty="0"/>
          </a:p>
        </p:txBody>
      </p:sp>
      <p:sp>
        <p:nvSpPr>
          <p:cNvPr id="11" name="Text 9"/>
          <p:cNvSpPr/>
          <p:nvPr/>
        </p:nvSpPr>
        <p:spPr>
          <a:xfrm>
            <a:off x="4937760" y="2514600"/>
            <a:ext cx="347472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Organización por clases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Ideal para APIs grandes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Filtros y atributos aportan estructura</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Familiar si vienes de Spring</a:t>
            </a:r>
            <a:endParaRPr lang="en-US" sz="1300" dirty="0"/>
          </a:p>
        </p:txBody>
      </p:sp>
      <p:sp>
        <p:nvSpPr>
          <p:cNvPr id="13" name="Text 10"/>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4" name="Text 11"/>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A · REST</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Verbos HTTP y códigos de respuesta</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914400"/>
        </p:xfrm>
        <a:graphic>
          <a:graphicData uri="http://schemas.openxmlformats.org/drawingml/2006/table">
            <a:tbl>
              <a:tblPr/>
              <a:tblGrid>
                <a:gridCol w="2468880"/>
                <a:gridCol w="1371600"/>
                <a:gridCol w="2743200"/>
                <a:gridCol w="146304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Operación</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512BD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Verbo HTTP</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512BD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Respuesta típica</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512BD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Código</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512BD4"/>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Leer lista / detalle</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Results.Ok(...)</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200 OK</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Crear</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POST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Results.Created(...)</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201 Created</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Actualizar</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PUT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Results.NoContent()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204 No Content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Eliminar</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Results.NoContent()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204 No Content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No encontrado</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Results.NotFound()</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404 Not Found</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Validación fallida</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Results.ValidationProblem(...)</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400 Bad Request</a:t>
                      </a:r>
                      <a:endParaRPr lang="en-US" sz="1300" dirty="0">
                        <a:latin typeface="Calibri" charset="0"/>
                        <a:ea typeface="Calibri" charset="0"/>
                        <a:cs typeface="Calibri" charset="0"/>
                      </a:endParaRPr>
                    </a:p>
                  </a:txBody>
                  <a:tcPr marL="91440" marR="91440" marT="45720" marB="45720" anchor="ctr">
                    <a:lnL w="6350" cap="flat" cmpd="sng" algn="ctr">
                      <a:solidFill>
                        <a:srgbClr val="D9D3F2"/>
                      </a:solidFill>
                      <a:prstDash val="solid"/>
                      <a:round/>
                      <a:headEnd type="none" w="med" len="med"/>
                      <a:tailEnd type="none" w="med" len="med"/>
                    </a:lnL>
                    <a:lnR w="6350" cap="flat" cmpd="sng" algn="ctr">
                      <a:solidFill>
                        <a:srgbClr val="D9D3F2"/>
                      </a:solidFill>
                      <a:prstDash val="solid"/>
                      <a:round/>
                      <a:headEnd type="none" w="med" len="med"/>
                      <a:tailEnd type="none" w="med" len="med"/>
                    </a:lnR>
                    <a:lnT w="6350" cap="flat" cmpd="sng" algn="ctr">
                      <a:solidFill>
                        <a:srgbClr val="D9D3F2"/>
                      </a:solidFill>
                      <a:prstDash val="solid"/>
                      <a:round/>
                      <a:headEnd type="none" w="med" len="med"/>
                      <a:tailEnd type="none" w="med" len="med"/>
                    </a:lnT>
                    <a:lnB w="6350" cap="flat" cmpd="sng" algn="ctr">
                      <a:solidFill>
                        <a:srgbClr val="D9D3F2"/>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480560"/>
            <a:ext cx="8046720" cy="320040"/>
          </a:xfrm>
          <a:prstGeom prst="rect">
            <a:avLst/>
          </a:prstGeom>
          <a:noFill/>
          <a:ln/>
        </p:spPr>
        <p:txBody>
          <a:bodyPr wrap="square" lIns="0" tIns="0" rIns="0" bIns="0" rtlCol="0" anchor="ctr"/>
          <a:lstStyle/>
          <a:p>
            <a:pPr indent="0" marL="0">
              <a:buNone/>
            </a:pPr>
            <a:r>
              <a:rPr lang="en-US" sz="1250" i="1" dirty="0">
                <a:solidFill>
                  <a:srgbClr val="006633"/>
                </a:solidFill>
                <a:latin typeface="Calibri" pitchFamily="34" charset="0"/>
                <a:ea typeface="Calibri" pitchFamily="34" charset="-122"/>
                <a:cs typeface="Calibri" pitchFamily="34" charset="-120"/>
              </a:rPr>
              <a:t>Devolver el código correcto en cada caso es lo que distingue una API profesional de una improvisada.</a:t>
            </a:r>
            <a:endParaRPr lang="en-US" sz="1250" dirty="0"/>
          </a:p>
        </p:txBody>
      </p:sp>
      <p:sp>
        <p:nvSpPr>
          <p:cNvPr id="7" name="Text 3"/>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8" name="Text 4"/>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1B5E"/>
        </a:solidFill>
      </p:bgPr>
    </p:bg>
    <p:spTree>
      <p:nvGrpSpPr>
        <p:cNvPr id="1" name=""/>
        <p:cNvGrpSpPr/>
        <p:nvPr/>
      </p:nvGrpSpPr>
      <p:grpSpPr>
        <a:xfrm>
          <a:off x="0" y="0"/>
          <a:ext cx="0" cy="0"/>
          <a:chOff x="0" y="0"/>
          <a:chExt cx="0" cy="0"/>
        </a:xfrm>
      </p:grpSpPr>
      <p:sp>
        <p:nvSpPr>
          <p:cNvPr id="2" name="Text 0"/>
          <p:cNvSpPr/>
          <p:nvPr/>
        </p:nvSpPr>
        <p:spPr>
          <a:xfrm>
            <a:off x="548640" y="1737360"/>
            <a:ext cx="8229600" cy="365760"/>
          </a:xfrm>
          <a:prstGeom prst="rect">
            <a:avLst/>
          </a:prstGeom>
          <a:noFill/>
          <a:ln/>
        </p:spPr>
        <p:txBody>
          <a:bodyPr wrap="square" lIns="0" tIns="0" rIns="0" bIns="0" rtlCol="0" anchor="ctr"/>
          <a:lstStyle/>
          <a:p>
            <a:pPr indent="0" marL="0">
              <a:buNone/>
            </a:pPr>
            <a:r>
              <a:rPr lang="en-US" sz="1400" b="1" spc="400" kern="0" dirty="0">
                <a:solidFill>
                  <a:srgbClr val="B7A6F2"/>
                </a:solidFill>
                <a:latin typeface="Calibri" pitchFamily="34" charset="0"/>
                <a:ea typeface="Calibri" pitchFamily="34" charset="-122"/>
                <a:cs typeface="Calibri" pitchFamily="34" charset="-120"/>
              </a:rPr>
              <a:t>PARTE B</a:t>
            </a:r>
            <a:endParaRPr lang="en-US" sz="1400" dirty="0"/>
          </a:p>
        </p:txBody>
      </p:sp>
      <p:sp>
        <p:nvSpPr>
          <p:cNvPr id="3" name="Text 1"/>
          <p:cNvSpPr/>
          <p:nvPr/>
        </p:nvSpPr>
        <p:spPr>
          <a:xfrm>
            <a:off x="530352" y="2148840"/>
            <a:ext cx="8229600" cy="1371600"/>
          </a:xfrm>
          <a:prstGeom prst="rect">
            <a:avLst/>
          </a:prstGeom>
          <a:noFill/>
          <a:ln/>
        </p:spPr>
        <p:txBody>
          <a:bodyPr wrap="square" lIns="0" tIns="0" rIns="0" bIns="0" rtlCol="0" anchor="ctr"/>
          <a:lstStyle/>
          <a:p>
            <a:pPr indent="0" marL="0">
              <a:buNone/>
            </a:pPr>
            <a:r>
              <a:rPr lang="en-US" sz="3600" b="1" dirty="0">
                <a:solidFill>
                  <a:srgbClr val="FFFFFF"/>
                </a:solidFill>
                <a:latin typeface="Bookman Old Style" pitchFamily="34" charset="0"/>
                <a:ea typeface="Bookman Old Style" pitchFamily="34" charset="-122"/>
                <a:cs typeface="Bookman Old Style" pitchFamily="34" charset="-120"/>
              </a:rPr>
              <a:t>CRUD paso a paso con</a:t>
            </a:r>
            <a:endParaRPr lang="en-US" sz="3600" dirty="0"/>
          </a:p>
          <a:p>
            <a:pPr indent="0" marL="0">
              <a:buNone/>
            </a:pPr>
            <a:r>
              <a:rPr lang="en-US" sz="3600" b="1" dirty="0">
                <a:solidFill>
                  <a:srgbClr val="FFFFFF"/>
                </a:solidFill>
                <a:latin typeface="Bookman Old Style" pitchFamily="34" charset="0"/>
                <a:ea typeface="Bookman Old Style" pitchFamily="34" charset="-122"/>
                <a:cs typeface="Bookman Old Style" pitchFamily="34" charset="-120"/>
              </a:rPr>
              <a:t>Visual Studio Code</a:t>
            </a:r>
            <a:endParaRPr lang="en-US" sz="3600" dirty="0"/>
          </a:p>
        </p:txBody>
      </p:sp>
      <p:sp>
        <p:nvSpPr>
          <p:cNvPr id="4" name="Text 2"/>
          <p:cNvSpPr/>
          <p:nvPr/>
        </p:nvSpPr>
        <p:spPr>
          <a:xfrm>
            <a:off x="548640" y="3657600"/>
            <a:ext cx="7863840" cy="548640"/>
          </a:xfrm>
          <a:prstGeom prst="rect">
            <a:avLst/>
          </a:prstGeom>
          <a:noFill/>
          <a:ln/>
        </p:spPr>
        <p:txBody>
          <a:bodyPr wrap="square" lIns="0" tIns="0" rIns="0" bIns="0" rtlCol="0" anchor="t"/>
          <a:lstStyle/>
          <a:p>
            <a:pPr indent="0" marL="0">
              <a:buNone/>
            </a:pPr>
            <a:r>
              <a:rPr lang="en-US" sz="1500" dirty="0">
                <a:solidFill>
                  <a:srgbClr val="E6E1F7"/>
                </a:solidFill>
                <a:latin typeface="Calibri" pitchFamily="34" charset="0"/>
                <a:ea typeface="Calibri" pitchFamily="34" charset="-122"/>
                <a:cs typeface="Calibri" pitchFamily="34" charset="-120"/>
              </a:rPr>
              <a:t>Una Web API REST de estudiantes, de principio a fin, con la CLI de dotnet y Entity Framework Core sobre PostgreSQL.</a:t>
            </a:r>
            <a:endParaRPr lang="en-US" sz="1500" dirty="0"/>
          </a:p>
        </p:txBody>
      </p:sp>
      <p:sp>
        <p:nvSpPr>
          <p:cNvPr id="6" name="Text 3"/>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9AA0AA"/>
                </a:solidFill>
                <a:latin typeface="Calibri" pitchFamily="34" charset="0"/>
                <a:ea typeface="Calibri" pitchFamily="34" charset="-122"/>
                <a:cs typeface="Calibri" pitchFamily="34" charset="-120"/>
              </a:rPr>
              <a:t>UTEQ · Aplicaciones Web · Unidad II</a:t>
            </a:r>
            <a:endParaRPr lang="en-US" sz="900" dirty="0"/>
          </a:p>
        </p:txBody>
      </p:sp>
      <p:sp>
        <p:nvSpPr>
          <p:cNvPr id="7" name="Text 4"/>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9AA0A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REQUISITOS</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El stack y sus versiones (2026)</a:t>
            </a:r>
            <a:endParaRPr lang="en-US" sz="2900" dirty="0"/>
          </a:p>
        </p:txBody>
      </p:sp>
      <p:sp>
        <p:nvSpPr>
          <p:cNvPr id="4" name="Shape 2"/>
          <p:cNvSpPr/>
          <p:nvPr/>
        </p:nvSpPr>
        <p:spPr>
          <a:xfrm>
            <a:off x="548640" y="169164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713232" y="1892808"/>
            <a:ext cx="201168" cy="201168"/>
          </a:xfrm>
          <a:prstGeom prst="ellipse">
            <a:avLst/>
          </a:prstGeom>
          <a:solidFill>
            <a:srgbClr val="512BD4"/>
          </a:solidFill>
          <a:ln/>
        </p:spPr>
      </p:sp>
      <p:sp>
        <p:nvSpPr>
          <p:cNvPr id="6" name="Text 4"/>
          <p:cNvSpPr/>
          <p:nvPr/>
        </p:nvSpPr>
        <p:spPr>
          <a:xfrm>
            <a:off x="694944" y="214884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SDK .NET 10</a:t>
            </a:r>
            <a:endParaRPr lang="en-US" sz="1400" dirty="0"/>
          </a:p>
        </p:txBody>
      </p:sp>
      <p:sp>
        <p:nvSpPr>
          <p:cNvPr id="7" name="Text 5"/>
          <p:cNvSpPr/>
          <p:nvPr/>
        </p:nvSpPr>
        <p:spPr>
          <a:xfrm>
            <a:off x="694944" y="256032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LTS hasta 2028</a:t>
            </a:r>
            <a:endParaRPr lang="en-US" sz="1150" dirty="0"/>
          </a:p>
        </p:txBody>
      </p:sp>
      <p:sp>
        <p:nvSpPr>
          <p:cNvPr id="8" name="Shape 6"/>
          <p:cNvSpPr/>
          <p:nvPr/>
        </p:nvSpPr>
        <p:spPr>
          <a:xfrm>
            <a:off x="2660904" y="169164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9" name="Shape 7"/>
          <p:cNvSpPr/>
          <p:nvPr/>
        </p:nvSpPr>
        <p:spPr>
          <a:xfrm>
            <a:off x="2825496" y="1892808"/>
            <a:ext cx="201168" cy="201168"/>
          </a:xfrm>
          <a:prstGeom prst="ellipse">
            <a:avLst/>
          </a:prstGeom>
          <a:solidFill>
            <a:srgbClr val="512BD4"/>
          </a:solidFill>
          <a:ln/>
        </p:spPr>
      </p:sp>
      <p:sp>
        <p:nvSpPr>
          <p:cNvPr id="10" name="Text 8"/>
          <p:cNvSpPr/>
          <p:nvPr/>
        </p:nvSpPr>
        <p:spPr>
          <a:xfrm>
            <a:off x="2807208" y="214884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C# 14</a:t>
            </a:r>
            <a:endParaRPr lang="en-US" sz="1400" dirty="0"/>
          </a:p>
        </p:txBody>
      </p:sp>
      <p:sp>
        <p:nvSpPr>
          <p:cNvPr id="11" name="Text 9"/>
          <p:cNvSpPr/>
          <p:nvPr/>
        </p:nvSpPr>
        <p:spPr>
          <a:xfrm>
            <a:off x="2807208" y="256032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Lenguaje</a:t>
            </a:r>
            <a:endParaRPr lang="en-US" sz="1150" dirty="0"/>
          </a:p>
        </p:txBody>
      </p:sp>
      <p:sp>
        <p:nvSpPr>
          <p:cNvPr id="12" name="Shape 10"/>
          <p:cNvSpPr/>
          <p:nvPr/>
        </p:nvSpPr>
        <p:spPr>
          <a:xfrm>
            <a:off x="4773168" y="169164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3" name="Shape 11"/>
          <p:cNvSpPr/>
          <p:nvPr/>
        </p:nvSpPr>
        <p:spPr>
          <a:xfrm>
            <a:off x="4937760" y="1892808"/>
            <a:ext cx="201168" cy="201168"/>
          </a:xfrm>
          <a:prstGeom prst="ellipse">
            <a:avLst/>
          </a:prstGeom>
          <a:solidFill>
            <a:srgbClr val="512BD4"/>
          </a:solidFill>
          <a:ln/>
        </p:spPr>
      </p:sp>
      <p:sp>
        <p:nvSpPr>
          <p:cNvPr id="14" name="Text 12"/>
          <p:cNvSpPr/>
          <p:nvPr/>
        </p:nvSpPr>
        <p:spPr>
          <a:xfrm>
            <a:off x="4919472" y="214884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ASP.NET Core 10</a:t>
            </a:r>
            <a:endParaRPr lang="en-US" sz="1400" dirty="0"/>
          </a:p>
        </p:txBody>
      </p:sp>
      <p:sp>
        <p:nvSpPr>
          <p:cNvPr id="15" name="Text 13"/>
          <p:cNvSpPr/>
          <p:nvPr/>
        </p:nvSpPr>
        <p:spPr>
          <a:xfrm>
            <a:off x="4919472" y="256032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Framework web</a:t>
            </a:r>
            <a:endParaRPr lang="en-US" sz="1150" dirty="0"/>
          </a:p>
        </p:txBody>
      </p:sp>
      <p:sp>
        <p:nvSpPr>
          <p:cNvPr id="16" name="Shape 14"/>
          <p:cNvSpPr/>
          <p:nvPr/>
        </p:nvSpPr>
        <p:spPr>
          <a:xfrm>
            <a:off x="6885432" y="169164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7050024" y="1892808"/>
            <a:ext cx="201168" cy="201168"/>
          </a:xfrm>
          <a:prstGeom prst="ellipse">
            <a:avLst/>
          </a:prstGeom>
          <a:solidFill>
            <a:srgbClr val="006633"/>
          </a:solidFill>
          <a:ln/>
        </p:spPr>
      </p:sp>
      <p:sp>
        <p:nvSpPr>
          <p:cNvPr id="18" name="Text 16"/>
          <p:cNvSpPr/>
          <p:nvPr/>
        </p:nvSpPr>
        <p:spPr>
          <a:xfrm>
            <a:off x="7031736" y="214884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EF Core 10</a:t>
            </a:r>
            <a:endParaRPr lang="en-US" sz="1400" dirty="0"/>
          </a:p>
        </p:txBody>
      </p:sp>
      <p:sp>
        <p:nvSpPr>
          <p:cNvPr id="19" name="Text 17"/>
          <p:cNvSpPr/>
          <p:nvPr/>
        </p:nvSpPr>
        <p:spPr>
          <a:xfrm>
            <a:off x="7031736" y="256032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ORM</a:t>
            </a:r>
            <a:endParaRPr lang="en-US" sz="1150" dirty="0"/>
          </a:p>
        </p:txBody>
      </p:sp>
      <p:sp>
        <p:nvSpPr>
          <p:cNvPr id="20" name="Shape 18"/>
          <p:cNvSpPr/>
          <p:nvPr/>
        </p:nvSpPr>
        <p:spPr>
          <a:xfrm>
            <a:off x="548640" y="310896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21" name="Shape 19"/>
          <p:cNvSpPr/>
          <p:nvPr/>
        </p:nvSpPr>
        <p:spPr>
          <a:xfrm>
            <a:off x="713232" y="3310128"/>
            <a:ext cx="201168" cy="201168"/>
          </a:xfrm>
          <a:prstGeom prst="ellipse">
            <a:avLst/>
          </a:prstGeom>
          <a:solidFill>
            <a:srgbClr val="006633"/>
          </a:solidFill>
          <a:ln/>
        </p:spPr>
      </p:sp>
      <p:sp>
        <p:nvSpPr>
          <p:cNvPr id="22" name="Text 20"/>
          <p:cNvSpPr/>
          <p:nvPr/>
        </p:nvSpPr>
        <p:spPr>
          <a:xfrm>
            <a:off x="694944" y="356616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Npgsql 10</a:t>
            </a:r>
            <a:endParaRPr lang="en-US" sz="1400" dirty="0"/>
          </a:p>
        </p:txBody>
      </p:sp>
      <p:sp>
        <p:nvSpPr>
          <p:cNvPr id="23" name="Text 21"/>
          <p:cNvSpPr/>
          <p:nvPr/>
        </p:nvSpPr>
        <p:spPr>
          <a:xfrm>
            <a:off x="694944" y="397764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Proveedor PostgreSQL</a:t>
            </a:r>
            <a:endParaRPr lang="en-US" sz="1150" dirty="0"/>
          </a:p>
        </p:txBody>
      </p:sp>
      <p:sp>
        <p:nvSpPr>
          <p:cNvPr id="24" name="Shape 22"/>
          <p:cNvSpPr/>
          <p:nvPr/>
        </p:nvSpPr>
        <p:spPr>
          <a:xfrm>
            <a:off x="2660904" y="310896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25" name="Shape 23"/>
          <p:cNvSpPr/>
          <p:nvPr/>
        </p:nvSpPr>
        <p:spPr>
          <a:xfrm>
            <a:off x="2825496" y="3310128"/>
            <a:ext cx="201168" cy="201168"/>
          </a:xfrm>
          <a:prstGeom prst="ellipse">
            <a:avLst/>
          </a:prstGeom>
          <a:solidFill>
            <a:srgbClr val="006633"/>
          </a:solidFill>
          <a:ln/>
        </p:spPr>
      </p:sp>
      <p:sp>
        <p:nvSpPr>
          <p:cNvPr id="26" name="Text 24"/>
          <p:cNvSpPr/>
          <p:nvPr/>
        </p:nvSpPr>
        <p:spPr>
          <a:xfrm>
            <a:off x="2807208" y="356616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PostgreSQL 18</a:t>
            </a:r>
            <a:endParaRPr lang="en-US" sz="1400" dirty="0"/>
          </a:p>
        </p:txBody>
      </p:sp>
      <p:sp>
        <p:nvSpPr>
          <p:cNvPr id="27" name="Text 25"/>
          <p:cNvSpPr/>
          <p:nvPr/>
        </p:nvSpPr>
        <p:spPr>
          <a:xfrm>
            <a:off x="2807208" y="397764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Base de datos</a:t>
            </a:r>
            <a:endParaRPr lang="en-US" sz="1150" dirty="0"/>
          </a:p>
        </p:txBody>
      </p:sp>
      <p:sp>
        <p:nvSpPr>
          <p:cNvPr id="28" name="Shape 26"/>
          <p:cNvSpPr/>
          <p:nvPr/>
        </p:nvSpPr>
        <p:spPr>
          <a:xfrm>
            <a:off x="4773168" y="310896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29" name="Shape 27"/>
          <p:cNvSpPr/>
          <p:nvPr/>
        </p:nvSpPr>
        <p:spPr>
          <a:xfrm>
            <a:off x="4937760" y="3310128"/>
            <a:ext cx="201168" cy="201168"/>
          </a:xfrm>
          <a:prstGeom prst="ellipse">
            <a:avLst/>
          </a:prstGeom>
          <a:solidFill>
            <a:srgbClr val="007ACC"/>
          </a:solidFill>
          <a:ln/>
        </p:spPr>
      </p:sp>
      <p:sp>
        <p:nvSpPr>
          <p:cNvPr id="30" name="Text 28"/>
          <p:cNvSpPr/>
          <p:nvPr/>
        </p:nvSpPr>
        <p:spPr>
          <a:xfrm>
            <a:off x="4919472" y="356616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VS Code + C# Dev Kit</a:t>
            </a:r>
            <a:endParaRPr lang="en-US" sz="1400" dirty="0"/>
          </a:p>
        </p:txBody>
      </p:sp>
      <p:sp>
        <p:nvSpPr>
          <p:cNvPr id="31" name="Text 29"/>
          <p:cNvSpPr/>
          <p:nvPr/>
        </p:nvSpPr>
        <p:spPr>
          <a:xfrm>
            <a:off x="4919472" y="397764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IDE de referencia</a:t>
            </a:r>
            <a:endParaRPr lang="en-US" sz="1150" dirty="0"/>
          </a:p>
        </p:txBody>
      </p:sp>
      <p:sp>
        <p:nvSpPr>
          <p:cNvPr id="32" name="Shape 30"/>
          <p:cNvSpPr/>
          <p:nvPr/>
        </p:nvSpPr>
        <p:spPr>
          <a:xfrm>
            <a:off x="6885432" y="3108960"/>
            <a:ext cx="1947672" cy="1234440"/>
          </a:xfrm>
          <a:prstGeom prst="roundRect">
            <a:avLst>
              <a:gd name="adj" fmla="val 5185"/>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33" name="Shape 31"/>
          <p:cNvSpPr/>
          <p:nvPr/>
        </p:nvSpPr>
        <p:spPr>
          <a:xfrm>
            <a:off x="7050024" y="3310128"/>
            <a:ext cx="201168" cy="201168"/>
          </a:xfrm>
          <a:prstGeom prst="ellipse">
            <a:avLst/>
          </a:prstGeom>
          <a:solidFill>
            <a:srgbClr val="CC9900"/>
          </a:solidFill>
          <a:ln/>
        </p:spPr>
      </p:sp>
      <p:sp>
        <p:nvSpPr>
          <p:cNvPr id="34" name="Text 32"/>
          <p:cNvSpPr/>
          <p:nvPr/>
        </p:nvSpPr>
        <p:spPr>
          <a:xfrm>
            <a:off x="7031736" y="3566160"/>
            <a:ext cx="1673352" cy="411480"/>
          </a:xfrm>
          <a:prstGeom prst="rect">
            <a:avLst/>
          </a:prstGeom>
          <a:noFill/>
          <a:ln/>
        </p:spPr>
        <p:txBody>
          <a:bodyPr wrap="square" lIns="0" tIns="0" rIns="0" bIns="0" rtlCol="0" anchor="t"/>
          <a:lstStyle/>
          <a:p>
            <a:pPr indent="0" marL="0">
              <a:buNone/>
            </a:pPr>
            <a:r>
              <a:rPr lang="en-US" sz="1400" b="1" dirty="0">
                <a:solidFill>
                  <a:srgbClr val="2B1B5E"/>
                </a:solidFill>
                <a:latin typeface="Bookman Old Style" pitchFamily="34" charset="0"/>
                <a:ea typeface="Bookman Old Style" pitchFamily="34" charset="-122"/>
                <a:cs typeface="Bookman Old Style" pitchFamily="34" charset="-120"/>
              </a:rPr>
              <a:t>OpenAPI + Scalar</a:t>
            </a:r>
            <a:endParaRPr lang="en-US" sz="1400" dirty="0"/>
          </a:p>
        </p:txBody>
      </p:sp>
      <p:sp>
        <p:nvSpPr>
          <p:cNvPr id="35" name="Text 33"/>
          <p:cNvSpPr/>
          <p:nvPr/>
        </p:nvSpPr>
        <p:spPr>
          <a:xfrm>
            <a:off x="7031736" y="3977640"/>
            <a:ext cx="1673352"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Documentación</a:t>
            </a:r>
            <a:endParaRPr lang="en-US" sz="1150" dirty="0"/>
          </a:p>
        </p:txBody>
      </p:sp>
      <p:sp>
        <p:nvSpPr>
          <p:cNvPr id="37" name="Text 34"/>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38" name="Text 35"/>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1</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Crear el proyecto y los paquetes</a:t>
            </a:r>
            <a:endParaRPr lang="en-US" sz="2900" dirty="0"/>
          </a:p>
        </p:txBody>
      </p:sp>
      <p:sp>
        <p:nvSpPr>
          <p:cNvPr id="4" name="Shape 2"/>
          <p:cNvSpPr/>
          <p:nvPr/>
        </p:nvSpPr>
        <p:spPr>
          <a:xfrm>
            <a:off x="548640" y="1554480"/>
            <a:ext cx="3246120" cy="3017520"/>
          </a:xfrm>
          <a:prstGeom prst="roundRect">
            <a:avLst>
              <a:gd name="adj" fmla="val 2121"/>
            </a:avLst>
          </a:prstGeom>
          <a:solidFill>
            <a:srgbClr val="E8F2FB"/>
          </a:solidFill>
          <a:ln w="12700">
            <a:solidFill>
              <a:srgbClr val="E8F2FB"/>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49808" y="1737360"/>
            <a:ext cx="2834640" cy="274320"/>
          </a:xfrm>
          <a:prstGeom prst="rect">
            <a:avLst/>
          </a:prstGeom>
          <a:noFill/>
          <a:ln/>
        </p:spPr>
        <p:txBody>
          <a:bodyPr wrap="square" lIns="0" tIns="0" rIns="0" bIns="0" rtlCol="0" anchor="ctr"/>
          <a:lstStyle/>
          <a:p>
            <a:pPr indent="0" marL="0">
              <a:buNone/>
            </a:pPr>
            <a:r>
              <a:rPr lang="en-US" sz="1100" b="1" spc="100" kern="0" dirty="0">
                <a:solidFill>
                  <a:srgbClr val="007ACC"/>
                </a:solidFill>
                <a:latin typeface="Calibri" pitchFamily="34" charset="0"/>
                <a:ea typeface="Calibri" pitchFamily="34" charset="-122"/>
                <a:cs typeface="Calibri" pitchFamily="34" charset="-120"/>
              </a:rPr>
              <a:t>EN VISUAL STUDIO CODE</a:t>
            </a:r>
            <a:endParaRPr lang="en-US" sz="1100" dirty="0"/>
          </a:p>
        </p:txBody>
      </p:sp>
      <p:sp>
        <p:nvSpPr>
          <p:cNvPr id="6" name="Text 4"/>
          <p:cNvSpPr/>
          <p:nvPr/>
        </p:nvSpPr>
        <p:spPr>
          <a:xfrm>
            <a:off x="749808" y="2103120"/>
            <a:ext cx="2880360" cy="22860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Abre una terminal en tu carpeta de prácticas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Ejecuta los comandos de la derecha</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Abre la carpeta con code .</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Acepta confiar en la carpeta cuando lo pida</a:t>
            </a:r>
            <a:endParaRPr lang="en-US" sz="1300" dirty="0"/>
          </a:p>
        </p:txBody>
      </p:sp>
      <p:sp>
        <p:nvSpPr>
          <p:cNvPr id="7" name="Shape 5"/>
          <p:cNvSpPr/>
          <p:nvPr/>
        </p:nvSpPr>
        <p:spPr>
          <a:xfrm>
            <a:off x="3977640" y="1554480"/>
            <a:ext cx="4617720" cy="310896"/>
          </a:xfrm>
          <a:prstGeom prst="rect">
            <a:avLst/>
          </a:prstGeom>
          <a:solidFill>
            <a:srgbClr val="3A2480"/>
          </a:solidFill>
          <a:ln w="12700">
            <a:solidFill>
              <a:srgbClr val="3A2480"/>
            </a:solidFill>
            <a:prstDash val="solid"/>
          </a:ln>
        </p:spPr>
      </p:sp>
      <p:sp>
        <p:nvSpPr>
          <p:cNvPr id="8" name="Text 6"/>
          <p:cNvSpPr/>
          <p:nvPr/>
        </p:nvSpPr>
        <p:spPr>
          <a:xfrm>
            <a:off x="4105656" y="1554480"/>
            <a:ext cx="43616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Terminal</a:t>
            </a:r>
            <a:endParaRPr lang="en-US" sz="1100" dirty="0"/>
          </a:p>
        </p:txBody>
      </p:sp>
      <p:sp>
        <p:nvSpPr>
          <p:cNvPr id="9" name="Shape 7"/>
          <p:cNvSpPr/>
          <p:nvPr/>
        </p:nvSpPr>
        <p:spPr>
          <a:xfrm>
            <a:off x="3977640" y="1865376"/>
            <a:ext cx="4617720" cy="2706624"/>
          </a:xfrm>
          <a:prstGeom prst="rect">
            <a:avLst/>
          </a:prstGeom>
          <a:solidFill>
            <a:srgbClr val="F4F2FB"/>
          </a:solidFill>
          <a:ln w="12700">
            <a:solidFill>
              <a:srgbClr val="D9D3F2"/>
            </a:solidFill>
            <a:prstDash val="solid"/>
          </a:ln>
        </p:spPr>
      </p:sp>
      <p:sp>
        <p:nvSpPr>
          <p:cNvPr id="10" name="Text 8"/>
          <p:cNvSpPr/>
          <p:nvPr/>
        </p:nvSpPr>
        <p:spPr>
          <a:xfrm>
            <a:off x="4123944" y="1938528"/>
            <a:ext cx="4343400" cy="2560320"/>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new web -o ApiEstudiantes</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cd ApiEstudiantes</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 </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add package \</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  Npgsql.EntityFrameworkCore.PostgreSQL</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add package \</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  Microsoft.EntityFrameworkCore.Design</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add package Microsoft.AspNetCore.OpenApi</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add package Scalar.AspNetCore</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 </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code .</a:t>
            </a:r>
            <a:endParaRPr lang="en-US" sz="1100" dirty="0"/>
          </a:p>
        </p:txBody>
      </p:sp>
      <p:sp>
        <p:nvSpPr>
          <p:cNvPr id="12" name="Text 9"/>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3" name="Text 10"/>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2</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Modelo, DTO y DbContext</a:t>
            </a:r>
            <a:endParaRPr lang="en-US" sz="2900" dirty="0"/>
          </a:p>
        </p:txBody>
      </p:sp>
      <p:sp>
        <p:nvSpPr>
          <p:cNvPr id="4" name="Shape 2"/>
          <p:cNvSpPr/>
          <p:nvPr/>
        </p:nvSpPr>
        <p:spPr>
          <a:xfrm>
            <a:off x="548640" y="1481328"/>
            <a:ext cx="5257800" cy="310896"/>
          </a:xfrm>
          <a:prstGeom prst="rect">
            <a:avLst/>
          </a:prstGeom>
          <a:solidFill>
            <a:srgbClr val="3A2480"/>
          </a:solidFill>
          <a:ln w="12700">
            <a:solidFill>
              <a:srgbClr val="3A2480"/>
            </a:solidFill>
            <a:prstDash val="solid"/>
          </a:ln>
        </p:spPr>
      </p:sp>
      <p:sp>
        <p:nvSpPr>
          <p:cNvPr id="5" name="Text 3"/>
          <p:cNvSpPr/>
          <p:nvPr/>
        </p:nvSpPr>
        <p:spPr>
          <a:xfrm>
            <a:off x="676656" y="1481328"/>
            <a:ext cx="500176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Datos.cs</a:t>
            </a:r>
            <a:endParaRPr lang="en-US" sz="1100" dirty="0"/>
          </a:p>
        </p:txBody>
      </p:sp>
      <p:sp>
        <p:nvSpPr>
          <p:cNvPr id="6" name="Shape 4"/>
          <p:cNvSpPr/>
          <p:nvPr/>
        </p:nvSpPr>
        <p:spPr>
          <a:xfrm>
            <a:off x="548640" y="1792224"/>
            <a:ext cx="5257800" cy="2889504"/>
          </a:xfrm>
          <a:prstGeom prst="rect">
            <a:avLst/>
          </a:prstGeom>
          <a:solidFill>
            <a:srgbClr val="F4F2FB"/>
          </a:solidFill>
          <a:ln w="12700">
            <a:solidFill>
              <a:srgbClr val="D9D3F2"/>
            </a:solidFill>
            <a:prstDash val="solid"/>
          </a:ln>
        </p:spPr>
      </p:sp>
      <p:sp>
        <p:nvSpPr>
          <p:cNvPr id="7" name="Text 5"/>
          <p:cNvSpPr/>
          <p:nvPr/>
        </p:nvSpPr>
        <p:spPr>
          <a:xfrm>
            <a:off x="694944" y="1865376"/>
            <a:ext cx="4983480" cy="2743200"/>
          </a:xfrm>
          <a:prstGeom prst="rect">
            <a:avLst/>
          </a:prstGeom>
          <a:noFill/>
          <a:ln/>
        </p:spPr>
        <p:txBody>
          <a:bodyPr wrap="square" lIns="0" tIns="0" rIns="0" bIns="0" rtlCol="0" anchor="t"/>
          <a:lstStyle/>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public class Estudiante</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public int Id { get; set;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public string Nombre { get; set; } =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public string Correo { get; set; } =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public string Carrera { get; set; } =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public DateTime Creado { get; set;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t>
            </a:r>
            <a:endParaRPr lang="en-US" sz="950" dirty="0"/>
          </a:p>
          <a:p>
            <a:pPr indent="0" marL="0">
              <a:lnSpc>
                <a:spcPct val="102000"/>
              </a:lnSpc>
              <a:buNone/>
            </a:pPr>
            <a:r>
              <a:rPr lang="en-US" sz="950" i="1" dirty="0">
                <a:solidFill>
                  <a:srgbClr val="8A86A8"/>
                </a:solidFill>
                <a:latin typeface="Consolas" pitchFamily="34" charset="0"/>
                <a:ea typeface="Consolas" pitchFamily="34" charset="-122"/>
                <a:cs typeface="Consolas" pitchFamily="34" charset="-120"/>
              </a:rPr>
              <a:t>// DTO: lo que entra por la API</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public record EstudianteEntradaDto(</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string Nombre, string Correo, string Carrera);</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public class AppDbContext(DbContextOptions o)</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 DbContext(o)</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public DbSet&lt;Estudiante&gt; Estudiantes =&gt; Set&lt;Estudiante&gt;();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t>
            </a:r>
            <a:endParaRPr lang="en-US" sz="950" dirty="0"/>
          </a:p>
        </p:txBody>
      </p:sp>
      <p:sp>
        <p:nvSpPr>
          <p:cNvPr id="8" name="Shape 6"/>
          <p:cNvSpPr/>
          <p:nvPr/>
        </p:nvSpPr>
        <p:spPr>
          <a:xfrm>
            <a:off x="5989320" y="1481328"/>
            <a:ext cx="2606040" cy="3200400"/>
          </a:xfrm>
          <a:prstGeom prst="roundRect">
            <a:avLst>
              <a:gd name="adj" fmla="val 2456"/>
            </a:avLst>
          </a:prstGeom>
          <a:solidFill>
            <a:srgbClr val="EEEAFB"/>
          </a:solidFill>
          <a:ln w="12700">
            <a:solidFill>
              <a:srgbClr val="EEEAFB"/>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6199632" y="1664208"/>
            <a:ext cx="2286000" cy="274320"/>
          </a:xfrm>
          <a:prstGeom prst="rect">
            <a:avLst/>
          </a:prstGeom>
          <a:noFill/>
          <a:ln/>
        </p:spPr>
        <p:txBody>
          <a:bodyPr wrap="square" lIns="0" tIns="0" rIns="0" bIns="0" rtlCol="0" anchor="ctr"/>
          <a:lstStyle/>
          <a:p>
            <a:pPr indent="0" marL="0">
              <a:buNone/>
            </a:pPr>
            <a:r>
              <a:rPr lang="en-US" sz="1100" b="1" spc="100" kern="0" dirty="0">
                <a:solidFill>
                  <a:srgbClr val="512BD4"/>
                </a:solidFill>
                <a:latin typeface="Calibri" pitchFamily="34" charset="0"/>
                <a:ea typeface="Calibri" pitchFamily="34" charset="-122"/>
                <a:cs typeface="Calibri" pitchFamily="34" charset="-120"/>
              </a:rPr>
              <a:t>TRES PIEZAS</a:t>
            </a:r>
            <a:endParaRPr lang="en-US" sz="1100" dirty="0"/>
          </a:p>
        </p:txBody>
      </p:sp>
      <p:sp>
        <p:nvSpPr>
          <p:cNvPr id="10" name="Text 8"/>
          <p:cNvSpPr/>
          <p:nvPr/>
        </p:nvSpPr>
        <p:spPr>
          <a:xfrm>
            <a:off x="6199632" y="2011680"/>
            <a:ext cx="2286000" cy="2468880"/>
          </a:xfrm>
          <a:prstGeom prst="rect">
            <a:avLst/>
          </a:prstGeom>
          <a:noFill/>
          <a:ln/>
        </p:spPr>
        <p:txBody>
          <a:bodyPr wrap="square" lIns="0" tIns="0" rIns="0" bIns="0" rtlCol="0" anchor="t"/>
          <a:lstStyle/>
          <a:p>
            <a:pPr indent="0" marL="0">
              <a:spcAft>
                <a:spcPts val="500"/>
              </a:spcAft>
              <a:buNone/>
            </a:pPr>
            <a:r>
              <a:rPr lang="en-US" sz="1250" b="1" dirty="0">
                <a:solidFill>
                  <a:srgbClr val="2B1B5E"/>
                </a:solidFill>
                <a:latin typeface="Calibri" pitchFamily="34" charset="0"/>
                <a:ea typeface="Calibri" pitchFamily="34" charset="-122"/>
                <a:cs typeface="Calibri" pitchFamily="34" charset="-120"/>
              </a:rPr>
              <a:t>Modelo</a:t>
            </a:r>
            <a:endParaRPr lang="en-US" sz="1250" dirty="0"/>
          </a:p>
          <a:p>
            <a:pPr indent="0" marL="0">
              <a:spcAft>
                <a:spcPts val="500"/>
              </a:spcAft>
              <a:buNone/>
            </a:pPr>
            <a:r>
              <a:rPr lang="en-US" sz="1150" dirty="0">
                <a:solidFill>
                  <a:srgbClr val="6B7280"/>
                </a:solidFill>
                <a:latin typeface="Calibri" pitchFamily="34" charset="0"/>
                <a:ea typeface="Calibri" pitchFamily="34" charset="-122"/>
                <a:cs typeface="Calibri" pitchFamily="34" charset="-120"/>
              </a:rPr>
              <a:t>la fila que se guarda en la tabla</a:t>
            </a:r>
            <a:endParaRPr lang="en-US" sz="1250" dirty="0"/>
          </a:p>
          <a:p>
            <a:pPr indent="0" marL="0">
              <a:spcAft>
                <a:spcPts val="500"/>
              </a:spcAft>
              <a:buNone/>
            </a:pPr>
            <a:r>
              <a:rPr lang="en-US" sz="1250" b="1" dirty="0">
                <a:solidFill>
                  <a:srgbClr val="2B1B5E"/>
                </a:solidFill>
                <a:latin typeface="Calibri" pitchFamily="34" charset="0"/>
                <a:ea typeface="Calibri" pitchFamily="34" charset="-122"/>
                <a:cs typeface="Calibri" pitchFamily="34" charset="-120"/>
              </a:rPr>
              <a:t>DTO</a:t>
            </a:r>
            <a:endParaRPr lang="en-US" sz="1250" dirty="0"/>
          </a:p>
          <a:p>
            <a:pPr indent="0" marL="0">
              <a:spcAft>
                <a:spcPts val="500"/>
              </a:spcAft>
              <a:buNone/>
            </a:pPr>
            <a:r>
              <a:rPr lang="en-US" sz="1150" dirty="0">
                <a:solidFill>
                  <a:srgbClr val="6B7280"/>
                </a:solidFill>
                <a:latin typeface="Calibri" pitchFamily="34" charset="0"/>
                <a:ea typeface="Calibri" pitchFamily="34" charset="-122"/>
                <a:cs typeface="Calibri" pitchFamily="34" charset="-120"/>
              </a:rPr>
              <a:t>lo que el cliente envía o recibe; no expone la tabla</a:t>
            </a:r>
            <a:endParaRPr lang="en-US" sz="1250" dirty="0"/>
          </a:p>
          <a:p>
            <a:pPr indent="0" marL="0">
              <a:spcAft>
                <a:spcPts val="500"/>
              </a:spcAft>
              <a:buNone/>
            </a:pPr>
            <a:r>
              <a:rPr lang="en-US" sz="1250" b="1" dirty="0">
                <a:solidFill>
                  <a:srgbClr val="2B1B5E"/>
                </a:solidFill>
                <a:latin typeface="Calibri" pitchFamily="34" charset="0"/>
                <a:ea typeface="Calibri" pitchFamily="34" charset="-122"/>
                <a:cs typeface="Calibri" pitchFamily="34" charset="-120"/>
              </a:rPr>
              <a:t>DbContext</a:t>
            </a:r>
            <a:endParaRPr lang="en-US" sz="1250" dirty="0"/>
          </a:p>
          <a:p>
            <a:pPr indent="0" marL="0">
              <a:spcAft>
                <a:spcPts val="500"/>
              </a:spcAft>
              <a:buNone/>
            </a:pPr>
            <a:r>
              <a:rPr lang="en-US" sz="1150" dirty="0">
                <a:solidFill>
                  <a:srgbClr val="6B7280"/>
                </a:solidFill>
                <a:latin typeface="Calibri" pitchFamily="34" charset="0"/>
                <a:ea typeface="Calibri" pitchFamily="34" charset="-122"/>
                <a:cs typeface="Calibri" pitchFamily="34" charset="-120"/>
              </a:rPr>
              <a:t>la sesión con la base de datos</a:t>
            </a:r>
            <a:endParaRPr lang="en-US" sz="1250" dirty="0"/>
          </a:p>
        </p:txBody>
      </p:sp>
      <p:sp>
        <p:nvSpPr>
          <p:cNvPr id="12" name="Text 9"/>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3" name="Text 10"/>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3</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Cadena de conexión y registro de EF Core</a:t>
            </a:r>
            <a:endParaRPr lang="en-US" sz="2900" dirty="0"/>
          </a:p>
        </p:txBody>
      </p:sp>
      <p:sp>
        <p:nvSpPr>
          <p:cNvPr id="4" name="Shape 2"/>
          <p:cNvSpPr/>
          <p:nvPr/>
        </p:nvSpPr>
        <p:spPr>
          <a:xfrm>
            <a:off x="548640" y="1600200"/>
            <a:ext cx="4160520" cy="310896"/>
          </a:xfrm>
          <a:prstGeom prst="rect">
            <a:avLst/>
          </a:prstGeom>
          <a:solidFill>
            <a:srgbClr val="3A2480"/>
          </a:solidFill>
          <a:ln w="12700">
            <a:solidFill>
              <a:srgbClr val="3A2480"/>
            </a:solidFill>
            <a:prstDash val="solid"/>
          </a:ln>
        </p:spPr>
      </p:sp>
      <p:sp>
        <p:nvSpPr>
          <p:cNvPr id="5" name="Text 3"/>
          <p:cNvSpPr/>
          <p:nvPr/>
        </p:nvSpPr>
        <p:spPr>
          <a:xfrm>
            <a:off x="676656" y="1600200"/>
            <a:ext cx="39044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appsettings.json</a:t>
            </a:r>
            <a:endParaRPr lang="en-US" sz="1100" dirty="0"/>
          </a:p>
        </p:txBody>
      </p:sp>
      <p:sp>
        <p:nvSpPr>
          <p:cNvPr id="6" name="Shape 4"/>
          <p:cNvSpPr/>
          <p:nvPr/>
        </p:nvSpPr>
        <p:spPr>
          <a:xfrm>
            <a:off x="548640" y="1911096"/>
            <a:ext cx="4160520" cy="1517904"/>
          </a:xfrm>
          <a:prstGeom prst="rect">
            <a:avLst/>
          </a:prstGeom>
          <a:solidFill>
            <a:srgbClr val="F4F2FB"/>
          </a:solidFill>
          <a:ln w="12700">
            <a:solidFill>
              <a:srgbClr val="D9D3F2"/>
            </a:solidFill>
            <a:prstDash val="solid"/>
          </a:ln>
        </p:spPr>
      </p:sp>
      <p:sp>
        <p:nvSpPr>
          <p:cNvPr id="7" name="Text 5"/>
          <p:cNvSpPr/>
          <p:nvPr/>
        </p:nvSpPr>
        <p:spPr>
          <a:xfrm>
            <a:off x="694944" y="1984248"/>
            <a:ext cx="3886200" cy="1371600"/>
          </a:xfrm>
          <a:prstGeom prst="rect">
            <a:avLst/>
          </a:prstGeom>
          <a:noFill/>
          <a:ln/>
        </p:spPr>
        <p:txBody>
          <a:bodyPr wrap="square" lIns="0" tIns="0" rIns="0" bIns="0" rtlCol="0" anchor="t"/>
          <a:lstStyle/>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"ConnectionStrings": {</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"Postgres": "Host=127.0.0.1;Port=5432;</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Database=appweb2026ppa;</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Username=postgres;Password=P@$7Gr3$QL"</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a:t>
            </a:r>
            <a:endParaRPr lang="en-US" sz="1050" dirty="0"/>
          </a:p>
        </p:txBody>
      </p:sp>
      <p:sp>
        <p:nvSpPr>
          <p:cNvPr id="8" name="Shape 6"/>
          <p:cNvSpPr/>
          <p:nvPr/>
        </p:nvSpPr>
        <p:spPr>
          <a:xfrm>
            <a:off x="4892040" y="1600200"/>
            <a:ext cx="3703320" cy="310896"/>
          </a:xfrm>
          <a:prstGeom prst="rect">
            <a:avLst/>
          </a:prstGeom>
          <a:solidFill>
            <a:srgbClr val="3A2480"/>
          </a:solidFill>
          <a:ln w="12700">
            <a:solidFill>
              <a:srgbClr val="3A2480"/>
            </a:solidFill>
            <a:prstDash val="solid"/>
          </a:ln>
        </p:spPr>
      </p:sp>
      <p:sp>
        <p:nvSpPr>
          <p:cNvPr id="9" name="Text 7"/>
          <p:cNvSpPr/>
          <p:nvPr/>
        </p:nvSpPr>
        <p:spPr>
          <a:xfrm>
            <a:off x="5020056" y="1600200"/>
            <a:ext cx="34472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Program.cs</a:t>
            </a:r>
            <a:endParaRPr lang="en-US" sz="1100" dirty="0"/>
          </a:p>
        </p:txBody>
      </p:sp>
      <p:sp>
        <p:nvSpPr>
          <p:cNvPr id="10" name="Shape 8"/>
          <p:cNvSpPr/>
          <p:nvPr/>
        </p:nvSpPr>
        <p:spPr>
          <a:xfrm>
            <a:off x="4892040" y="1911096"/>
            <a:ext cx="3703320" cy="1517904"/>
          </a:xfrm>
          <a:prstGeom prst="rect">
            <a:avLst/>
          </a:prstGeom>
          <a:solidFill>
            <a:srgbClr val="F4F2FB"/>
          </a:solidFill>
          <a:ln w="12700">
            <a:solidFill>
              <a:srgbClr val="D9D3F2"/>
            </a:solidFill>
            <a:prstDash val="solid"/>
          </a:ln>
        </p:spPr>
      </p:sp>
      <p:sp>
        <p:nvSpPr>
          <p:cNvPr id="11" name="Text 9"/>
          <p:cNvSpPr/>
          <p:nvPr/>
        </p:nvSpPr>
        <p:spPr>
          <a:xfrm>
            <a:off x="5038344" y="1984248"/>
            <a:ext cx="3429000" cy="1371600"/>
          </a:xfrm>
          <a:prstGeom prst="rect">
            <a:avLst/>
          </a:prstGeom>
          <a:noFill/>
          <a:ln/>
        </p:spPr>
        <p:txBody>
          <a:bodyPr wrap="square" lIns="0" tIns="0" rIns="0" bIns="0" rtlCol="0" anchor="t"/>
          <a:lstStyle/>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builder.Services.AddDbContext&lt;AppDbContext&gt;(o =&gt;</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o.UseNpgsql(</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builder.Configuration</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.GetConnectionString("Postgres"),</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npg =&gt; npg.SetPostgresVersion(18, 0)));</a:t>
            </a:r>
            <a:endParaRPr lang="en-US" sz="1050" dirty="0"/>
          </a:p>
        </p:txBody>
      </p:sp>
      <p:sp>
        <p:nvSpPr>
          <p:cNvPr id="12" name="Shape 10"/>
          <p:cNvSpPr/>
          <p:nvPr/>
        </p:nvSpPr>
        <p:spPr>
          <a:xfrm>
            <a:off x="548640" y="3657600"/>
            <a:ext cx="8046720" cy="914400"/>
          </a:xfrm>
          <a:prstGeom prst="roundRect">
            <a:avLst>
              <a:gd name="adj" fmla="val 7000"/>
            </a:avLst>
          </a:prstGeom>
          <a:solidFill>
            <a:srgbClr val="FBF1D8"/>
          </a:solidFill>
          <a:ln w="12700">
            <a:solidFill>
              <a:srgbClr val="FBF1D8"/>
            </a:solidFill>
            <a:prstDash val="solid"/>
          </a:ln>
          <a:effectLst>
            <a:outerShdw sx="100000" sy="100000" kx="0" ky="0" algn="bl" rotWithShape="0" blurRad="88900" dist="38100" dir="5400000">
              <a:srgbClr val="000000">
                <a:alpha val="12000"/>
              </a:srgbClr>
            </a:outerShdw>
          </a:effectLst>
        </p:spPr>
      </p:sp>
      <p:sp>
        <p:nvSpPr>
          <p:cNvPr id="13" name="Text 11"/>
          <p:cNvSpPr/>
          <p:nvPr/>
        </p:nvSpPr>
        <p:spPr>
          <a:xfrm>
            <a:off x="777240" y="3657600"/>
            <a:ext cx="7589520" cy="914400"/>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Seguridad:  </a:t>
            </a:r>
            <a:pPr indent="0" marL="0">
              <a:buNone/>
            </a:pPr>
            <a:r>
              <a:rPr lang="en-US" sz="1300" dirty="0">
                <a:solidFill>
                  <a:srgbClr val="1F2933"/>
                </a:solidFill>
                <a:latin typeface="Calibri" pitchFamily="34" charset="0"/>
                <a:ea typeface="Calibri" pitchFamily="34" charset="-122"/>
                <a:cs typeface="Calibri" pitchFamily="34" charset="-120"/>
              </a:rPr>
              <a:t>nunca subas contraseñas al repositorio. En desarrollo usa User Secrets (dotnet user-secrets); en producción, variables de entorno. Aquí se deja visible solo con fines didácticos.</a:t>
            </a:r>
            <a:endParaRPr lang="en-US" sz="1300" dirty="0"/>
          </a:p>
        </p:txBody>
      </p:sp>
      <p:sp>
        <p:nvSpPr>
          <p:cNvPr id="15" name="Text 12"/>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6" name="Text 13"/>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4</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Migraciones: del modelo a las tablas</a:t>
            </a:r>
            <a:endParaRPr lang="en-US" sz="2900" dirty="0"/>
          </a:p>
        </p:txBody>
      </p:sp>
      <p:sp>
        <p:nvSpPr>
          <p:cNvPr id="4" name="Text 2"/>
          <p:cNvSpPr/>
          <p:nvPr/>
        </p:nvSpPr>
        <p:spPr>
          <a:xfrm>
            <a:off x="548640" y="1481328"/>
            <a:ext cx="804672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Una migración es un archivo versionado que describe los cambios de esquema. EF Core las genera comparando tu modelo y las aplica a la base.</a:t>
            </a:r>
            <a:endParaRPr lang="en-US" sz="1400" dirty="0"/>
          </a:p>
        </p:txBody>
      </p:sp>
      <p:sp>
        <p:nvSpPr>
          <p:cNvPr id="5" name="Shape 3"/>
          <p:cNvSpPr/>
          <p:nvPr/>
        </p:nvSpPr>
        <p:spPr>
          <a:xfrm>
            <a:off x="548640" y="2057400"/>
            <a:ext cx="5257800" cy="310896"/>
          </a:xfrm>
          <a:prstGeom prst="rect">
            <a:avLst/>
          </a:prstGeom>
          <a:solidFill>
            <a:srgbClr val="3A2480"/>
          </a:solidFill>
          <a:ln w="12700">
            <a:solidFill>
              <a:srgbClr val="3A2480"/>
            </a:solidFill>
            <a:prstDash val="solid"/>
          </a:ln>
        </p:spPr>
      </p:sp>
      <p:sp>
        <p:nvSpPr>
          <p:cNvPr id="6" name="Text 4"/>
          <p:cNvSpPr/>
          <p:nvPr/>
        </p:nvSpPr>
        <p:spPr>
          <a:xfrm>
            <a:off x="676656" y="2057400"/>
            <a:ext cx="500176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Terminal</a:t>
            </a:r>
            <a:endParaRPr lang="en-US" sz="1100" dirty="0"/>
          </a:p>
        </p:txBody>
      </p:sp>
      <p:sp>
        <p:nvSpPr>
          <p:cNvPr id="7" name="Shape 5"/>
          <p:cNvSpPr/>
          <p:nvPr/>
        </p:nvSpPr>
        <p:spPr>
          <a:xfrm>
            <a:off x="548640" y="2368296"/>
            <a:ext cx="5257800" cy="1792224"/>
          </a:xfrm>
          <a:prstGeom prst="rect">
            <a:avLst/>
          </a:prstGeom>
          <a:solidFill>
            <a:srgbClr val="F4F2FB"/>
          </a:solidFill>
          <a:ln w="12700">
            <a:solidFill>
              <a:srgbClr val="D9D3F2"/>
            </a:solidFill>
            <a:prstDash val="solid"/>
          </a:ln>
        </p:spPr>
      </p:sp>
      <p:sp>
        <p:nvSpPr>
          <p:cNvPr id="8" name="Text 6"/>
          <p:cNvSpPr/>
          <p:nvPr/>
        </p:nvSpPr>
        <p:spPr>
          <a:xfrm>
            <a:off x="694944" y="2441448"/>
            <a:ext cx="4983480" cy="1645920"/>
          </a:xfrm>
          <a:prstGeom prst="rect">
            <a:avLst/>
          </a:prstGeom>
          <a:noFill/>
          <a:ln/>
        </p:spPr>
        <p:txBody>
          <a:bodyPr wrap="square" lIns="0" tIns="0" rIns="0" bIns="0" rtlCol="0" anchor="t"/>
          <a:lstStyle/>
          <a:p>
            <a:pPr indent="0" marL="0">
              <a:lnSpc>
                <a:spcPct val="102000"/>
              </a:lnSpc>
              <a:buNone/>
            </a:pPr>
            <a:r>
              <a:rPr lang="en-US" sz="1100" i="1" dirty="0">
                <a:solidFill>
                  <a:srgbClr val="8A86A8"/>
                </a:solidFill>
                <a:latin typeface="Consolas" pitchFamily="34" charset="0"/>
                <a:ea typeface="Consolas" pitchFamily="34" charset="-122"/>
                <a:cs typeface="Consolas" pitchFamily="34" charset="-120"/>
              </a:rPr>
              <a:t>// Instalar la CLI de EF Core (una sola vez)</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tool install --global dotnet-ef</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 </a:t>
            </a:r>
            <a:endParaRPr lang="en-US" sz="1100" dirty="0"/>
          </a:p>
          <a:p>
            <a:pPr indent="0" marL="0">
              <a:lnSpc>
                <a:spcPct val="102000"/>
              </a:lnSpc>
              <a:buNone/>
            </a:pPr>
            <a:r>
              <a:rPr lang="en-US" sz="1100" i="1" dirty="0">
                <a:solidFill>
                  <a:srgbClr val="8A86A8"/>
                </a:solidFill>
                <a:latin typeface="Consolas" pitchFamily="34" charset="0"/>
                <a:ea typeface="Consolas" pitchFamily="34" charset="-122"/>
                <a:cs typeface="Consolas" pitchFamily="34" charset="-120"/>
              </a:rPr>
              <a:t>// Generar el codigo de la migracion (carpeta Migrations/)</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ef migrations add Inicial</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 </a:t>
            </a:r>
            <a:endParaRPr lang="en-US" sz="1100" dirty="0"/>
          </a:p>
          <a:p>
            <a:pPr indent="0" marL="0">
              <a:lnSpc>
                <a:spcPct val="102000"/>
              </a:lnSpc>
              <a:buNone/>
            </a:pPr>
            <a:r>
              <a:rPr lang="en-US" sz="1100" i="1" dirty="0">
                <a:solidFill>
                  <a:srgbClr val="8A86A8"/>
                </a:solidFill>
                <a:latin typeface="Consolas" pitchFamily="34" charset="0"/>
                <a:ea typeface="Consolas" pitchFamily="34" charset="-122"/>
                <a:cs typeface="Consolas" pitchFamily="34" charset="-120"/>
              </a:rPr>
              <a:t>// Aplicar los cambios a la base de datos</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ef database update</a:t>
            </a:r>
            <a:endParaRPr lang="en-US" sz="1100" dirty="0"/>
          </a:p>
        </p:txBody>
      </p:sp>
      <p:sp>
        <p:nvSpPr>
          <p:cNvPr id="9" name="Shape 7"/>
          <p:cNvSpPr/>
          <p:nvPr/>
        </p:nvSpPr>
        <p:spPr>
          <a:xfrm>
            <a:off x="5989320" y="2057400"/>
            <a:ext cx="2606040" cy="2103120"/>
          </a:xfrm>
          <a:prstGeom prst="roundRect">
            <a:avLst>
              <a:gd name="adj" fmla="val 3043"/>
            </a:avLst>
          </a:prstGeom>
          <a:solidFill>
            <a:srgbClr val="E4F0E9"/>
          </a:solidFill>
          <a:ln w="12700">
            <a:solidFill>
              <a:srgbClr val="E4F0E9"/>
            </a:solidFill>
            <a:prstDash val="solid"/>
          </a:ln>
          <a:effectLst>
            <a:outerShdw sx="100000" sy="100000" kx="0" ky="0" algn="bl" rotWithShape="0" blurRad="88900" dist="38100" dir="5400000">
              <a:srgbClr val="000000">
                <a:alpha val="12000"/>
              </a:srgbClr>
            </a:outerShdw>
          </a:effectLst>
        </p:spPr>
      </p:sp>
      <p:sp>
        <p:nvSpPr>
          <p:cNvPr id="10" name="Text 8"/>
          <p:cNvSpPr/>
          <p:nvPr/>
        </p:nvSpPr>
        <p:spPr>
          <a:xfrm>
            <a:off x="6199632" y="2240280"/>
            <a:ext cx="2286000" cy="274320"/>
          </a:xfrm>
          <a:prstGeom prst="rect">
            <a:avLst/>
          </a:prstGeom>
          <a:noFill/>
          <a:ln/>
        </p:spPr>
        <p:txBody>
          <a:bodyPr wrap="square" lIns="0" tIns="0" rIns="0" bIns="0" rtlCol="0" anchor="ctr"/>
          <a:lstStyle/>
          <a:p>
            <a:pPr indent="0" marL="0">
              <a:buNone/>
            </a:pPr>
            <a:r>
              <a:rPr lang="en-US" sz="1100" b="1" spc="100" kern="0" dirty="0">
                <a:solidFill>
                  <a:srgbClr val="006633"/>
                </a:solidFill>
                <a:latin typeface="Calibri" pitchFamily="34" charset="0"/>
                <a:ea typeface="Calibri" pitchFamily="34" charset="-122"/>
                <a:cs typeface="Calibri" pitchFamily="34" charset="-120"/>
              </a:rPr>
              <a:t>CODE-FIRST</a:t>
            </a:r>
            <a:endParaRPr lang="en-US" sz="1100" dirty="0"/>
          </a:p>
        </p:txBody>
      </p:sp>
      <p:sp>
        <p:nvSpPr>
          <p:cNvPr id="11" name="Text 9"/>
          <p:cNvSpPr/>
          <p:nvPr/>
        </p:nvSpPr>
        <p:spPr>
          <a:xfrm>
            <a:off x="6199632" y="2578608"/>
            <a:ext cx="2286000" cy="1554480"/>
          </a:xfrm>
          <a:prstGeom prst="rect">
            <a:avLst/>
          </a:prstGeom>
          <a:noFill/>
          <a:ln/>
        </p:spPr>
        <p:txBody>
          <a:bodyPr wrap="square" lIns="0" tIns="0" rIns="0" bIns="0" rtlCol="0" anchor="t"/>
          <a:lstStyle/>
          <a:p>
            <a:pPr indent="0" marL="0">
              <a:buNone/>
            </a:pPr>
            <a:r>
              <a:rPr lang="en-US" sz="1250" dirty="0">
                <a:solidFill>
                  <a:srgbClr val="2B1B5E"/>
                </a:solidFill>
                <a:latin typeface="Calibri" pitchFamily="34" charset="0"/>
                <a:ea typeface="Calibri" pitchFamily="34" charset="-122"/>
                <a:cs typeface="Calibri" pitchFamily="34" charset="-120"/>
              </a:rPr>
              <a:t>La fuente de verdad es tu código C#. EF Core crea y versiona el esquema por ti; mantén una sola fuente de verdad para evitar conflictos.</a:t>
            </a:r>
            <a:endParaRPr lang="en-US" sz="1250" dirty="0"/>
          </a:p>
        </p:txBody>
      </p:sp>
      <p:sp>
        <p:nvSpPr>
          <p:cNvPr id="13" name="Text 10"/>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4" name="Text 11"/>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5</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Program.cs — configuración</a:t>
            </a:r>
            <a:endParaRPr lang="en-US" sz="2900" dirty="0"/>
          </a:p>
        </p:txBody>
      </p:sp>
      <p:sp>
        <p:nvSpPr>
          <p:cNvPr id="4" name="Shape 2"/>
          <p:cNvSpPr/>
          <p:nvPr/>
        </p:nvSpPr>
        <p:spPr>
          <a:xfrm>
            <a:off x="548640" y="1371600"/>
            <a:ext cx="8046720" cy="310896"/>
          </a:xfrm>
          <a:prstGeom prst="rect">
            <a:avLst/>
          </a:prstGeom>
          <a:solidFill>
            <a:srgbClr val="3A2480"/>
          </a:solidFill>
          <a:ln w="12700">
            <a:solidFill>
              <a:srgbClr val="3A2480"/>
            </a:solidFill>
            <a:prstDash val="solid"/>
          </a:ln>
        </p:spPr>
      </p:sp>
      <p:sp>
        <p:nvSpPr>
          <p:cNvPr id="5" name="Text 3"/>
          <p:cNvSpPr/>
          <p:nvPr/>
        </p:nvSpPr>
        <p:spPr>
          <a:xfrm>
            <a:off x="676656" y="1371600"/>
            <a:ext cx="77906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Program.cs (parte 1 de 2)</a:t>
            </a:r>
            <a:endParaRPr lang="en-US" sz="1100" dirty="0"/>
          </a:p>
        </p:txBody>
      </p:sp>
      <p:sp>
        <p:nvSpPr>
          <p:cNvPr id="6" name="Shape 4"/>
          <p:cNvSpPr/>
          <p:nvPr/>
        </p:nvSpPr>
        <p:spPr>
          <a:xfrm>
            <a:off x="548640" y="1682496"/>
            <a:ext cx="8046720" cy="2980944"/>
          </a:xfrm>
          <a:prstGeom prst="rect">
            <a:avLst/>
          </a:prstGeom>
          <a:solidFill>
            <a:srgbClr val="F4F2FB"/>
          </a:solidFill>
          <a:ln w="12700">
            <a:solidFill>
              <a:srgbClr val="D9D3F2"/>
            </a:solidFill>
            <a:prstDash val="solid"/>
          </a:ln>
        </p:spPr>
      </p:sp>
      <p:sp>
        <p:nvSpPr>
          <p:cNvPr id="7" name="Text 5"/>
          <p:cNvSpPr/>
          <p:nvPr/>
        </p:nvSpPr>
        <p:spPr>
          <a:xfrm>
            <a:off x="694944" y="1755648"/>
            <a:ext cx="7772400" cy="2834640"/>
          </a:xfrm>
          <a:prstGeom prst="rect">
            <a:avLst/>
          </a:prstGeom>
          <a:noFill/>
          <a:ln/>
        </p:spPr>
        <p:txBody>
          <a:bodyPr wrap="square" lIns="0" tIns="0" rIns="0" bIns="0" rtlCol="0" anchor="t"/>
          <a:lstStyle/>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using Microsoft.EntityFrameworkCore;</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using Scalar.AspNetCore;</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var builder = WebApplication.CreateBuilder(args);</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builder.Services.AddDbContext&lt;AppDbContext&gt;(o =&gt;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o.UseNpgsql(builder.Configuration</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.GetConnectionString("Postgres"),</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npg =&gt; npg.SetPostgresVersion(18, 0)));</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builder.Services.AddOpenApi();   </a:t>
            </a:r>
            <a:pPr indent="0" marL="0">
              <a:lnSpc>
                <a:spcPct val="102000"/>
              </a:lnSpc>
              <a:buNone/>
            </a:pPr>
            <a:r>
              <a:rPr lang="en-US" sz="950" i="1" dirty="0">
                <a:solidFill>
                  <a:srgbClr val="8A86A8"/>
                </a:solidFill>
                <a:latin typeface="Consolas" pitchFamily="34" charset="0"/>
                <a:ea typeface="Consolas" pitchFamily="34" charset="-122"/>
                <a:cs typeface="Consolas" pitchFamily="34" charset="-120"/>
              </a:rPr>
              <a:t>// genera /openapi/v1.json</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var app = builder.Build();</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if (app.Environment.IsDevelopment())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app.MapOpenApi();             </a:t>
            </a:r>
            <a:pPr indent="0" marL="0">
              <a:lnSpc>
                <a:spcPct val="102000"/>
              </a:lnSpc>
              <a:buNone/>
            </a:pPr>
            <a:r>
              <a:rPr lang="en-US" sz="950" i="1" dirty="0">
                <a:solidFill>
                  <a:srgbClr val="8A86A8"/>
                </a:solidFill>
                <a:latin typeface="Consolas" pitchFamily="34" charset="0"/>
                <a:ea typeface="Consolas" pitchFamily="34" charset="-122"/>
                <a:cs typeface="Consolas" pitchFamily="34" charset="-120"/>
              </a:rPr>
              <a:t>// documento OpenAPI</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app.MapScalarApiReference();  </a:t>
            </a:r>
            <a:pPr indent="0" marL="0">
              <a:lnSpc>
                <a:spcPct val="102000"/>
              </a:lnSpc>
              <a:buNone/>
            </a:pPr>
            <a:r>
              <a:rPr lang="en-US" sz="950" i="1" dirty="0">
                <a:solidFill>
                  <a:srgbClr val="8A86A8"/>
                </a:solidFill>
                <a:latin typeface="Consolas" pitchFamily="34" charset="0"/>
                <a:ea typeface="Consolas" pitchFamily="34" charset="-122"/>
                <a:cs typeface="Consolas" pitchFamily="34" charset="-120"/>
              </a:rPr>
              <a:t>// UI en /scalar/v1</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app.UseHttpsRedirection();</a:t>
            </a:r>
            <a:endParaRPr lang="en-US" sz="950" dirty="0"/>
          </a:p>
        </p:txBody>
      </p:sp>
      <p:sp>
        <p:nvSpPr>
          <p:cNvPr id="9" name="Text 6"/>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0" name="Text 7"/>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6</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Endpoints CRUD — leer y crear</a:t>
            </a:r>
            <a:endParaRPr lang="en-US" sz="2900" dirty="0"/>
          </a:p>
        </p:txBody>
      </p:sp>
      <p:sp>
        <p:nvSpPr>
          <p:cNvPr id="4" name="Shape 2"/>
          <p:cNvSpPr/>
          <p:nvPr/>
        </p:nvSpPr>
        <p:spPr>
          <a:xfrm>
            <a:off x="548640" y="1371600"/>
            <a:ext cx="8046720" cy="310896"/>
          </a:xfrm>
          <a:prstGeom prst="rect">
            <a:avLst/>
          </a:prstGeom>
          <a:solidFill>
            <a:srgbClr val="3A2480"/>
          </a:solidFill>
          <a:ln w="12700">
            <a:solidFill>
              <a:srgbClr val="3A2480"/>
            </a:solidFill>
            <a:prstDash val="solid"/>
          </a:ln>
        </p:spPr>
      </p:sp>
      <p:sp>
        <p:nvSpPr>
          <p:cNvPr id="5" name="Text 3"/>
          <p:cNvSpPr/>
          <p:nvPr/>
        </p:nvSpPr>
        <p:spPr>
          <a:xfrm>
            <a:off x="676656" y="1371600"/>
            <a:ext cx="77906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Program.cs (parte 2 de 2)</a:t>
            </a:r>
            <a:endParaRPr lang="en-US" sz="1100" dirty="0"/>
          </a:p>
        </p:txBody>
      </p:sp>
      <p:sp>
        <p:nvSpPr>
          <p:cNvPr id="6" name="Shape 4"/>
          <p:cNvSpPr/>
          <p:nvPr/>
        </p:nvSpPr>
        <p:spPr>
          <a:xfrm>
            <a:off x="548640" y="1682496"/>
            <a:ext cx="8046720" cy="2980944"/>
          </a:xfrm>
          <a:prstGeom prst="rect">
            <a:avLst/>
          </a:prstGeom>
          <a:solidFill>
            <a:srgbClr val="F4F2FB"/>
          </a:solidFill>
          <a:ln w="12700">
            <a:solidFill>
              <a:srgbClr val="D9D3F2"/>
            </a:solidFill>
            <a:prstDash val="solid"/>
          </a:ln>
        </p:spPr>
      </p:sp>
      <p:sp>
        <p:nvSpPr>
          <p:cNvPr id="7" name="Text 5"/>
          <p:cNvSpPr/>
          <p:nvPr/>
        </p:nvSpPr>
        <p:spPr>
          <a:xfrm>
            <a:off x="694944" y="1755648"/>
            <a:ext cx="7772400" cy="2834640"/>
          </a:xfrm>
          <a:prstGeom prst="rect">
            <a:avLst/>
          </a:prstGeom>
          <a:noFill/>
          <a:ln/>
        </p:spPr>
        <p:txBody>
          <a:bodyPr wrap="square" lIns="0" tIns="0" rIns="0" bIns="0" rtlCol="0" anchor="t"/>
          <a:lstStyle/>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var grupo = app.MapGroup("/v1/estudiantes");</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t>
            </a:r>
            <a:endParaRPr lang="en-US" sz="900" dirty="0"/>
          </a:p>
          <a:p>
            <a:pPr indent="0" marL="0">
              <a:lnSpc>
                <a:spcPct val="102000"/>
              </a:lnSpc>
              <a:buNone/>
            </a:pPr>
            <a:r>
              <a:rPr lang="en-US" sz="900" i="1" dirty="0">
                <a:solidFill>
                  <a:srgbClr val="8A86A8"/>
                </a:solidFill>
                <a:latin typeface="Consolas" pitchFamily="34" charset="0"/>
                <a:ea typeface="Consolas" pitchFamily="34" charset="-122"/>
                <a:cs typeface="Consolas" pitchFamily="34" charset="-120"/>
              </a:rPr>
              <a:t>// READ: lista y detalle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grupo.MapGet("/", async (AppDbContext db) =&gt;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await db.Estudiantes.OrderBy(e =&gt; e.Id).ToListAsync());</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grupo.MapGet("/{id:int}", async (int id, AppDbContext db) =&gt;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await db.Estudiantes.FindAsync(id) is Estudiante 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 Results.Ok(e) : Results.NotFound());</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t>
            </a:r>
            <a:endParaRPr lang="en-US" sz="900" dirty="0"/>
          </a:p>
          <a:p>
            <a:pPr indent="0" marL="0">
              <a:lnSpc>
                <a:spcPct val="102000"/>
              </a:lnSpc>
              <a:buNone/>
            </a:pPr>
            <a:r>
              <a:rPr lang="en-US" sz="900" i="1" dirty="0">
                <a:solidFill>
                  <a:srgbClr val="8A86A8"/>
                </a:solidFill>
                <a:latin typeface="Consolas" pitchFamily="34" charset="0"/>
                <a:ea typeface="Consolas" pitchFamily="34" charset="-122"/>
                <a:cs typeface="Consolas" pitchFamily="34" charset="-120"/>
              </a:rPr>
              <a:t>// CREATE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grupo.MapPost("/", async (EstudianteEntradaDto dto, AppDbContext db) =&gt;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var e = new Estudiante { Nombre = dto.Nombre, Correo = dto.Correo,</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Carrera = dto.Carrera, Creado = DateTime.UtcNow };</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db.Estudiantes.Add(e);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await db.SaveChangesAsync();</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return Results.Created($"/v1/estudiantes/{e.Id}", 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a:t>
            </a:r>
            <a:endParaRPr lang="en-US" sz="900" dirty="0"/>
          </a:p>
        </p:txBody>
      </p:sp>
      <p:sp>
        <p:nvSpPr>
          <p:cNvPr id="9" name="Text 6"/>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0" name="Text 7"/>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7</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Endpoints CRUD — actualizar y eliminar</a:t>
            </a:r>
            <a:endParaRPr lang="en-US" sz="2900" dirty="0"/>
          </a:p>
        </p:txBody>
      </p:sp>
      <p:sp>
        <p:nvSpPr>
          <p:cNvPr id="4" name="Shape 2"/>
          <p:cNvSpPr/>
          <p:nvPr/>
        </p:nvSpPr>
        <p:spPr>
          <a:xfrm>
            <a:off x="548640" y="1371600"/>
            <a:ext cx="8046720" cy="310896"/>
          </a:xfrm>
          <a:prstGeom prst="rect">
            <a:avLst/>
          </a:prstGeom>
          <a:solidFill>
            <a:srgbClr val="3A2480"/>
          </a:solidFill>
          <a:ln w="12700">
            <a:solidFill>
              <a:srgbClr val="3A2480"/>
            </a:solidFill>
            <a:prstDash val="solid"/>
          </a:ln>
        </p:spPr>
      </p:sp>
      <p:sp>
        <p:nvSpPr>
          <p:cNvPr id="5" name="Text 3"/>
          <p:cNvSpPr/>
          <p:nvPr/>
        </p:nvSpPr>
        <p:spPr>
          <a:xfrm>
            <a:off x="676656" y="1371600"/>
            <a:ext cx="77906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Program.cs (continuación)</a:t>
            </a:r>
            <a:endParaRPr lang="en-US" sz="1100" dirty="0"/>
          </a:p>
        </p:txBody>
      </p:sp>
      <p:sp>
        <p:nvSpPr>
          <p:cNvPr id="6" name="Shape 4"/>
          <p:cNvSpPr/>
          <p:nvPr/>
        </p:nvSpPr>
        <p:spPr>
          <a:xfrm>
            <a:off x="548640" y="1682496"/>
            <a:ext cx="8046720" cy="2980944"/>
          </a:xfrm>
          <a:prstGeom prst="rect">
            <a:avLst/>
          </a:prstGeom>
          <a:solidFill>
            <a:srgbClr val="F4F2FB"/>
          </a:solidFill>
          <a:ln w="12700">
            <a:solidFill>
              <a:srgbClr val="D9D3F2"/>
            </a:solidFill>
            <a:prstDash val="solid"/>
          </a:ln>
        </p:spPr>
      </p:sp>
      <p:sp>
        <p:nvSpPr>
          <p:cNvPr id="7" name="Text 5"/>
          <p:cNvSpPr/>
          <p:nvPr/>
        </p:nvSpPr>
        <p:spPr>
          <a:xfrm>
            <a:off x="694944" y="1755648"/>
            <a:ext cx="7772400" cy="2834640"/>
          </a:xfrm>
          <a:prstGeom prst="rect">
            <a:avLst/>
          </a:prstGeom>
          <a:noFill/>
          <a:ln/>
        </p:spPr>
        <p:txBody>
          <a:bodyPr wrap="square" lIns="0" tIns="0" rIns="0" bIns="0" rtlCol="0" anchor="t"/>
          <a:lstStyle/>
          <a:p>
            <a:pPr indent="0" marL="0">
              <a:lnSpc>
                <a:spcPct val="102000"/>
              </a:lnSpc>
              <a:buNone/>
            </a:pPr>
            <a:r>
              <a:rPr lang="en-US" sz="900" i="1" dirty="0">
                <a:solidFill>
                  <a:srgbClr val="8A86A8"/>
                </a:solidFill>
                <a:latin typeface="Consolas" pitchFamily="34" charset="0"/>
                <a:ea typeface="Consolas" pitchFamily="34" charset="-122"/>
                <a:cs typeface="Consolas" pitchFamily="34" charset="-120"/>
              </a:rPr>
              <a:t>// UPDATE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grupo.MapPut("/{id:int}", async (int id,</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EstudianteEntradaDto dto, AppDbContext db) =&gt;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var e = await db.Estudiantes.FindAsync(id);</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if (e is null) return Results.NotFound();</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e.Nombre = dto.Nombre; e.Correo = dto.Correo;</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e.Carrera = dto.Carrera;</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await db.SaveChangesAsync();</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return Results.NoContent();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a:t>
            </a:r>
            <a:endParaRPr lang="en-US" sz="900" dirty="0"/>
          </a:p>
          <a:p>
            <a:pPr indent="0" marL="0">
              <a:lnSpc>
                <a:spcPct val="102000"/>
              </a:lnSpc>
              <a:buNone/>
            </a:pPr>
            <a:r>
              <a:rPr lang="en-US" sz="900" i="1" dirty="0">
                <a:solidFill>
                  <a:srgbClr val="8A86A8"/>
                </a:solidFill>
                <a:latin typeface="Consolas" pitchFamily="34" charset="0"/>
                <a:ea typeface="Consolas" pitchFamily="34" charset="-122"/>
                <a:cs typeface="Consolas" pitchFamily="34" charset="-120"/>
              </a:rPr>
              <a:t>// DELETE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grupo.MapDelete("/{id:int}", async (int id, AppDbContext db) =&gt;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var e = await db.Estudiantes.FindAsync(id);</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if (e is null) return Results.NotFound();</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db.Estudiantes.Remove(e);</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await db.SaveChangesAsync();</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return Results.NoContent();</a:t>
            </a:r>
            <a:endParaRPr lang="en-US" sz="900" dirty="0"/>
          </a:p>
          <a:p>
            <a:pPr indent="0" marL="0">
              <a:lnSpc>
                <a:spcPct val="102000"/>
              </a:lnSpc>
              <a:buNone/>
            </a:pPr>
            <a:r>
              <a:rPr lang="en-US" sz="900" dirty="0">
                <a:solidFill>
                  <a:srgbClr val="1F2933"/>
                </a:solidFill>
                <a:latin typeface="Consolas" pitchFamily="34" charset="0"/>
                <a:ea typeface="Consolas" pitchFamily="34" charset="-122"/>
                <a:cs typeface="Consolas" pitchFamily="34" charset="-120"/>
              </a:rPr>
              <a:t>});   </a:t>
            </a:r>
            <a:pPr indent="0" marL="0">
              <a:lnSpc>
                <a:spcPct val="102000"/>
              </a:lnSpc>
              <a:buNone/>
            </a:pPr>
            <a:r>
              <a:rPr lang="en-US" sz="900" i="1" dirty="0">
                <a:solidFill>
                  <a:srgbClr val="8A86A8"/>
                </a:solidFill>
                <a:latin typeface="Consolas" pitchFamily="34" charset="0"/>
                <a:ea typeface="Consolas" pitchFamily="34" charset="-122"/>
                <a:cs typeface="Consolas" pitchFamily="34" charset="-120"/>
              </a:rPr>
              <a:t>// y al final: app.Run();</a:t>
            </a:r>
            <a:endParaRPr lang="en-US" sz="900" dirty="0"/>
          </a:p>
        </p:txBody>
      </p:sp>
      <p:sp>
        <p:nvSpPr>
          <p:cNvPr id="9" name="Text 6"/>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0" name="Text 7"/>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8</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Documentar con OpenAPI y Scalar</a:t>
            </a:r>
            <a:endParaRPr lang="en-US" sz="2900" dirty="0"/>
          </a:p>
        </p:txBody>
      </p:sp>
      <p:sp>
        <p:nvSpPr>
          <p:cNvPr id="4" name="Shape 2"/>
          <p:cNvSpPr/>
          <p:nvPr/>
        </p:nvSpPr>
        <p:spPr>
          <a:xfrm>
            <a:off x="548640" y="1554480"/>
            <a:ext cx="4160520" cy="1417320"/>
          </a:xfrm>
          <a:prstGeom prst="roundRect">
            <a:avLst>
              <a:gd name="adj" fmla="val 4516"/>
            </a:avLst>
          </a:prstGeom>
          <a:solidFill>
            <a:srgbClr val="FBF1D8"/>
          </a:solidFill>
          <a:ln w="12700">
            <a:solidFill>
              <a:srgbClr val="FBF1D8"/>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77240" y="1554480"/>
            <a:ext cx="3703320" cy="1417320"/>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Cambio en .NET 9/10:  </a:t>
            </a:r>
            <a:pPr indent="0" marL="0">
              <a:buNone/>
            </a:pPr>
            <a:r>
              <a:rPr lang="en-US" sz="1300" dirty="0">
                <a:solidFill>
                  <a:srgbClr val="1F2933"/>
                </a:solidFill>
                <a:latin typeface="Calibri" pitchFamily="34" charset="0"/>
                <a:ea typeface="Calibri" pitchFamily="34" charset="-122"/>
                <a:cs typeface="Calibri" pitchFamily="34" charset="-120"/>
              </a:rPr>
              <a:t>la plantilla webapi ya NO trae Swagger. El documento lo genera el paquete integrado OpenApi; la UI se añade aparte.</a:t>
            </a:r>
            <a:endParaRPr lang="en-US" sz="1300" dirty="0"/>
          </a:p>
        </p:txBody>
      </p:sp>
      <p:sp>
        <p:nvSpPr>
          <p:cNvPr id="6" name="Shape 4"/>
          <p:cNvSpPr/>
          <p:nvPr/>
        </p:nvSpPr>
        <p:spPr>
          <a:xfrm>
            <a:off x="4892040" y="1554480"/>
            <a:ext cx="3703320" cy="310896"/>
          </a:xfrm>
          <a:prstGeom prst="rect">
            <a:avLst/>
          </a:prstGeom>
          <a:solidFill>
            <a:srgbClr val="3A2480"/>
          </a:solidFill>
          <a:ln w="12700">
            <a:solidFill>
              <a:srgbClr val="3A2480"/>
            </a:solidFill>
            <a:prstDash val="solid"/>
          </a:ln>
        </p:spPr>
      </p:sp>
      <p:sp>
        <p:nvSpPr>
          <p:cNvPr id="7" name="Text 5"/>
          <p:cNvSpPr/>
          <p:nvPr/>
        </p:nvSpPr>
        <p:spPr>
          <a:xfrm>
            <a:off x="5020056" y="1554480"/>
            <a:ext cx="34472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URLs con la app en marcha</a:t>
            </a:r>
            <a:endParaRPr lang="en-US" sz="1100" dirty="0"/>
          </a:p>
        </p:txBody>
      </p:sp>
      <p:sp>
        <p:nvSpPr>
          <p:cNvPr id="8" name="Shape 6"/>
          <p:cNvSpPr/>
          <p:nvPr/>
        </p:nvSpPr>
        <p:spPr>
          <a:xfrm>
            <a:off x="4892040" y="1865376"/>
            <a:ext cx="3703320" cy="1380744"/>
          </a:xfrm>
          <a:prstGeom prst="rect">
            <a:avLst/>
          </a:prstGeom>
          <a:solidFill>
            <a:srgbClr val="F4F2FB"/>
          </a:solidFill>
          <a:ln w="12700">
            <a:solidFill>
              <a:srgbClr val="D9D3F2"/>
            </a:solidFill>
            <a:prstDash val="solid"/>
          </a:ln>
        </p:spPr>
      </p:sp>
      <p:sp>
        <p:nvSpPr>
          <p:cNvPr id="9" name="Text 7"/>
          <p:cNvSpPr/>
          <p:nvPr/>
        </p:nvSpPr>
        <p:spPr>
          <a:xfrm>
            <a:off x="5038344" y="1938528"/>
            <a:ext cx="3429000" cy="1234440"/>
          </a:xfrm>
          <a:prstGeom prst="rect">
            <a:avLst/>
          </a:prstGeom>
          <a:noFill/>
          <a:ln/>
        </p:spPr>
        <p:txBody>
          <a:bodyPr wrap="square" lIns="0" tIns="0" rIns="0" bIns="0" rtlCol="0" anchor="t"/>
          <a:lstStyle/>
          <a:p>
            <a:pPr indent="0" marL="0">
              <a:lnSpc>
                <a:spcPct val="102000"/>
              </a:lnSpc>
              <a:buNone/>
            </a:pPr>
            <a:r>
              <a:rPr lang="en-US" sz="1050" i="1" dirty="0">
                <a:solidFill>
                  <a:srgbClr val="8A86A8"/>
                </a:solidFill>
                <a:latin typeface="Consolas" pitchFamily="34" charset="0"/>
                <a:ea typeface="Consolas" pitchFamily="34" charset="-122"/>
                <a:cs typeface="Consolas" pitchFamily="34" charset="-120"/>
              </a:rPr>
              <a:t>// Documento OpenAPI (JSON)</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https://localhost:5xxx/openapi/v1.json</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 </a:t>
            </a:r>
            <a:endParaRPr lang="en-US" sz="1050" dirty="0"/>
          </a:p>
          <a:p>
            <a:pPr indent="0" marL="0">
              <a:lnSpc>
                <a:spcPct val="102000"/>
              </a:lnSpc>
              <a:buNone/>
            </a:pPr>
            <a:r>
              <a:rPr lang="en-US" sz="1050" i="1" dirty="0">
                <a:solidFill>
                  <a:srgbClr val="8A86A8"/>
                </a:solidFill>
                <a:latin typeface="Consolas" pitchFamily="34" charset="0"/>
                <a:ea typeface="Consolas" pitchFamily="34" charset="-122"/>
                <a:cs typeface="Consolas" pitchFamily="34" charset="-120"/>
              </a:rPr>
              <a:t>// Interfaz interactiva de Scalar</a:t>
            </a:r>
            <a:endParaRPr lang="en-US" sz="1050" dirty="0"/>
          </a:p>
          <a:p>
            <a:pPr indent="0" marL="0">
              <a:lnSpc>
                <a:spcPct val="102000"/>
              </a:lnSpc>
              <a:buNone/>
            </a:pPr>
            <a:r>
              <a:rPr lang="en-US" sz="1050" dirty="0">
                <a:solidFill>
                  <a:srgbClr val="1F2933"/>
                </a:solidFill>
                <a:latin typeface="Consolas" pitchFamily="34" charset="0"/>
                <a:ea typeface="Consolas" pitchFamily="34" charset="-122"/>
                <a:cs typeface="Consolas" pitchFamily="34" charset="-120"/>
              </a:rPr>
              <a:t>https://localhost:5xxx/scalar/v1</a:t>
            </a:r>
            <a:endParaRPr lang="en-US" sz="1050" dirty="0"/>
          </a:p>
        </p:txBody>
      </p:sp>
      <p:sp>
        <p:nvSpPr>
          <p:cNvPr id="10" name="Shape 8"/>
          <p:cNvSpPr/>
          <p:nvPr/>
        </p:nvSpPr>
        <p:spPr>
          <a:xfrm>
            <a:off x="548640" y="3200400"/>
            <a:ext cx="8046720" cy="1371600"/>
          </a:xfrm>
          <a:prstGeom prst="roundRect">
            <a:avLst>
              <a:gd name="adj" fmla="val 4667"/>
            </a:avLst>
          </a:prstGeom>
          <a:solidFill>
            <a:srgbClr val="EEEAFB"/>
          </a:solidFill>
          <a:ln w="12700">
            <a:solidFill>
              <a:srgbClr val="EEEAFB"/>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777240" y="3310128"/>
            <a:ext cx="7589520" cy="320040"/>
          </a:xfrm>
          <a:prstGeom prst="rect">
            <a:avLst/>
          </a:prstGeom>
          <a:noFill/>
          <a:ln/>
        </p:spPr>
        <p:txBody>
          <a:bodyPr wrap="square" lIns="0" tIns="0" rIns="0" bIns="0" rtlCol="0" anchor="ctr"/>
          <a:lstStyle/>
          <a:p>
            <a:pPr indent="0" marL="0">
              <a:buNone/>
            </a:pPr>
            <a:r>
              <a:rPr lang="en-US" sz="1500" b="1" dirty="0">
                <a:solidFill>
                  <a:srgbClr val="2B1B5E"/>
                </a:solidFill>
                <a:latin typeface="Bookman Old Style" pitchFamily="34" charset="0"/>
                <a:ea typeface="Bookman Old Style" pitchFamily="34" charset="-122"/>
                <a:cs typeface="Bookman Old Style" pitchFamily="34" charset="-120"/>
              </a:rPr>
              <a:t>¿Para qué sirve?</a:t>
            </a:r>
            <a:endParaRPr lang="en-US" sz="1500" dirty="0"/>
          </a:p>
        </p:txBody>
      </p:sp>
      <p:sp>
        <p:nvSpPr>
          <p:cNvPr id="12" name="Text 10"/>
          <p:cNvSpPr/>
          <p:nvPr/>
        </p:nvSpPr>
        <p:spPr>
          <a:xfrm>
            <a:off x="777240" y="3611880"/>
            <a:ext cx="758952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Scalar genera una interfaz donde ves y pruebas cada endpoint desde el navegador, sin escribir cliente: ejecutas un GET, creas un estudiante con POST y compruebas los códigos 200, 201 y 404. Para abrirla automáticamente con F5, pon launchBrowser true y launchUrl scalar/v1 en launchSettings.json.</a:t>
            </a:r>
            <a:endParaRPr lang="en-US" sz="1300" dirty="0"/>
          </a:p>
        </p:txBody>
      </p:sp>
      <p:sp>
        <p:nvSpPr>
          <p:cNvPr id="14" name="Text 11"/>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5" name="Text 12"/>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PASO 9</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Ejecutar y probar la API</a:t>
            </a:r>
            <a:endParaRPr lang="en-US" sz="2900" dirty="0"/>
          </a:p>
        </p:txBody>
      </p:sp>
      <p:sp>
        <p:nvSpPr>
          <p:cNvPr id="4" name="Shape 2"/>
          <p:cNvSpPr/>
          <p:nvPr/>
        </p:nvSpPr>
        <p:spPr>
          <a:xfrm>
            <a:off x="548640" y="1600200"/>
            <a:ext cx="4160520" cy="310896"/>
          </a:xfrm>
          <a:prstGeom prst="rect">
            <a:avLst/>
          </a:prstGeom>
          <a:solidFill>
            <a:srgbClr val="3A2480"/>
          </a:solidFill>
          <a:ln w="12700">
            <a:solidFill>
              <a:srgbClr val="3A2480"/>
            </a:solidFill>
            <a:prstDash val="solid"/>
          </a:ln>
        </p:spPr>
      </p:sp>
      <p:sp>
        <p:nvSpPr>
          <p:cNvPr id="5" name="Text 3"/>
          <p:cNvSpPr/>
          <p:nvPr/>
        </p:nvSpPr>
        <p:spPr>
          <a:xfrm>
            <a:off x="676656" y="1600200"/>
            <a:ext cx="39044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Terminal</a:t>
            </a:r>
            <a:endParaRPr lang="en-US" sz="1100" dirty="0"/>
          </a:p>
        </p:txBody>
      </p:sp>
      <p:sp>
        <p:nvSpPr>
          <p:cNvPr id="6" name="Shape 4"/>
          <p:cNvSpPr/>
          <p:nvPr/>
        </p:nvSpPr>
        <p:spPr>
          <a:xfrm>
            <a:off x="548640" y="1911096"/>
            <a:ext cx="4160520" cy="923544"/>
          </a:xfrm>
          <a:prstGeom prst="rect">
            <a:avLst/>
          </a:prstGeom>
          <a:solidFill>
            <a:srgbClr val="F4F2FB"/>
          </a:solidFill>
          <a:ln w="12700">
            <a:solidFill>
              <a:srgbClr val="D9D3F2"/>
            </a:solidFill>
            <a:prstDash val="solid"/>
          </a:ln>
        </p:spPr>
      </p:sp>
      <p:sp>
        <p:nvSpPr>
          <p:cNvPr id="7" name="Text 5"/>
          <p:cNvSpPr/>
          <p:nvPr/>
        </p:nvSpPr>
        <p:spPr>
          <a:xfrm>
            <a:off x="694944" y="1984248"/>
            <a:ext cx="3886200" cy="777240"/>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ef migrations add Inicial</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ef database update</a:t>
            </a:r>
            <a:endParaRPr lang="en-US" sz="1100" dirty="0"/>
          </a:p>
          <a:p>
            <a:pPr indent="0" marL="0">
              <a:lnSpc>
                <a:spcPct val="102000"/>
              </a:lnSpc>
              <a:buNone/>
            </a:pPr>
            <a:r>
              <a:rPr lang="en-US" sz="1100" dirty="0">
                <a:solidFill>
                  <a:srgbClr val="1F2933"/>
                </a:solidFill>
                <a:latin typeface="Consolas" pitchFamily="34" charset="0"/>
                <a:ea typeface="Consolas" pitchFamily="34" charset="-122"/>
                <a:cs typeface="Consolas" pitchFamily="34" charset="-120"/>
              </a:rPr>
              <a:t>dotnet run</a:t>
            </a:r>
            <a:endParaRPr lang="en-US" sz="1100" dirty="0"/>
          </a:p>
        </p:txBody>
      </p:sp>
      <p:sp>
        <p:nvSpPr>
          <p:cNvPr id="8" name="Shape 6"/>
          <p:cNvSpPr/>
          <p:nvPr/>
        </p:nvSpPr>
        <p:spPr>
          <a:xfrm>
            <a:off x="4892040" y="1600200"/>
            <a:ext cx="3703320" cy="310896"/>
          </a:xfrm>
          <a:prstGeom prst="rect">
            <a:avLst/>
          </a:prstGeom>
          <a:solidFill>
            <a:srgbClr val="3A2480"/>
          </a:solidFill>
          <a:ln w="12700">
            <a:solidFill>
              <a:srgbClr val="3A2480"/>
            </a:solidFill>
            <a:prstDash val="solid"/>
          </a:ln>
        </p:spPr>
      </p:sp>
      <p:sp>
        <p:nvSpPr>
          <p:cNvPr id="9" name="Text 7"/>
          <p:cNvSpPr/>
          <p:nvPr/>
        </p:nvSpPr>
        <p:spPr>
          <a:xfrm>
            <a:off x="5020056" y="1600200"/>
            <a:ext cx="3447288" cy="310896"/>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Probar con curl</a:t>
            </a:r>
            <a:endParaRPr lang="en-US" sz="1100" dirty="0"/>
          </a:p>
        </p:txBody>
      </p:sp>
      <p:sp>
        <p:nvSpPr>
          <p:cNvPr id="10" name="Shape 8"/>
          <p:cNvSpPr/>
          <p:nvPr/>
        </p:nvSpPr>
        <p:spPr>
          <a:xfrm>
            <a:off x="4892040" y="1911096"/>
            <a:ext cx="3703320" cy="1472184"/>
          </a:xfrm>
          <a:prstGeom prst="rect">
            <a:avLst/>
          </a:prstGeom>
          <a:solidFill>
            <a:srgbClr val="F4F2FB"/>
          </a:solidFill>
          <a:ln w="12700">
            <a:solidFill>
              <a:srgbClr val="D9D3F2"/>
            </a:solidFill>
            <a:prstDash val="solid"/>
          </a:ln>
        </p:spPr>
      </p:sp>
      <p:sp>
        <p:nvSpPr>
          <p:cNvPr id="11" name="Text 9"/>
          <p:cNvSpPr/>
          <p:nvPr/>
        </p:nvSpPr>
        <p:spPr>
          <a:xfrm>
            <a:off x="5038344" y="1984248"/>
            <a:ext cx="3429000" cy="1325880"/>
          </a:xfrm>
          <a:prstGeom prst="rect">
            <a:avLst/>
          </a:prstGeom>
          <a:noFill/>
          <a:ln/>
        </p:spPr>
        <p:txBody>
          <a:bodyPr wrap="square" lIns="0" tIns="0" rIns="0" bIns="0" rtlCol="0" anchor="t"/>
          <a:lstStyle/>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curl -X POST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https://localhost:5xxx/v1/estudiantes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-H "Content-Type: application/json" \</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-d '{ "nombre": "Ada",</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"correo": "ada@uteq.edu.ec",</a:t>
            </a:r>
            <a:endParaRPr lang="en-US" sz="950" dirty="0"/>
          </a:p>
          <a:p>
            <a:pPr indent="0" marL="0">
              <a:lnSpc>
                <a:spcPct val="102000"/>
              </a:lnSpc>
              <a:buNone/>
            </a:pPr>
            <a:r>
              <a:rPr lang="en-US" sz="950" dirty="0">
                <a:solidFill>
                  <a:srgbClr val="1F2933"/>
                </a:solidFill>
                <a:latin typeface="Consolas" pitchFamily="34" charset="0"/>
                <a:ea typeface="Consolas" pitchFamily="34" charset="-122"/>
                <a:cs typeface="Consolas" pitchFamily="34" charset="-120"/>
              </a:rPr>
              <a:t>        "carrera": "Software" }'</a:t>
            </a:r>
            <a:endParaRPr lang="en-US" sz="950" dirty="0"/>
          </a:p>
        </p:txBody>
      </p:sp>
      <p:sp>
        <p:nvSpPr>
          <p:cNvPr id="12" name="Shape 10"/>
          <p:cNvSpPr/>
          <p:nvPr/>
        </p:nvSpPr>
        <p:spPr>
          <a:xfrm>
            <a:off x="548640" y="3063240"/>
            <a:ext cx="4160520" cy="1508760"/>
          </a:xfrm>
          <a:prstGeom prst="roundRect">
            <a:avLst>
              <a:gd name="adj" fmla="val 4242"/>
            </a:avLst>
          </a:prstGeom>
          <a:solidFill>
            <a:srgbClr val="E4F0E9"/>
          </a:solidFill>
          <a:ln w="12700">
            <a:solidFill>
              <a:srgbClr val="E4F0E9"/>
            </a:solidFill>
            <a:prstDash val="solid"/>
          </a:ln>
          <a:effectLst>
            <a:outerShdw sx="100000" sy="100000" kx="0" ky="0" algn="bl" rotWithShape="0" blurRad="88900" dist="38100" dir="5400000">
              <a:srgbClr val="000000">
                <a:alpha val="12000"/>
              </a:srgbClr>
            </a:outerShdw>
          </a:effectLst>
        </p:spPr>
      </p:sp>
      <p:sp>
        <p:nvSpPr>
          <p:cNvPr id="13" name="Text 11"/>
          <p:cNvSpPr/>
          <p:nvPr/>
        </p:nvSpPr>
        <p:spPr>
          <a:xfrm>
            <a:off x="749808" y="3200400"/>
            <a:ext cx="3749040" cy="274320"/>
          </a:xfrm>
          <a:prstGeom prst="rect">
            <a:avLst/>
          </a:prstGeom>
          <a:noFill/>
          <a:ln/>
        </p:spPr>
        <p:txBody>
          <a:bodyPr wrap="square" lIns="0" tIns="0" rIns="0" bIns="0" rtlCol="0" anchor="ctr"/>
          <a:lstStyle/>
          <a:p>
            <a:pPr indent="0" marL="0">
              <a:buNone/>
            </a:pPr>
            <a:r>
              <a:rPr lang="en-US" sz="1100" b="1" spc="100" kern="0" dirty="0">
                <a:solidFill>
                  <a:srgbClr val="006633"/>
                </a:solidFill>
                <a:latin typeface="Calibri" pitchFamily="34" charset="0"/>
                <a:ea typeface="Calibri" pitchFamily="34" charset="-122"/>
                <a:cs typeface="Calibri" pitchFamily="34" charset="-120"/>
              </a:rPr>
              <a:t>CÓMO PROBARLO</a:t>
            </a:r>
            <a:endParaRPr lang="en-US" sz="1100" dirty="0"/>
          </a:p>
        </p:txBody>
      </p:sp>
      <p:sp>
        <p:nvSpPr>
          <p:cNvPr id="14" name="Text 12"/>
          <p:cNvSpPr/>
          <p:nvPr/>
        </p:nvSpPr>
        <p:spPr>
          <a:xfrm>
            <a:off x="749808" y="3520440"/>
            <a:ext cx="3794760" cy="10058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Desde la interfaz de Scalar (recomendado)</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Con curl o la extensión REST Client de VS Code</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Verifica los datos en pgAdmin</a:t>
            </a:r>
            <a:endParaRPr lang="en-US" sz="1250" dirty="0"/>
          </a:p>
        </p:txBody>
      </p:sp>
      <p:sp>
        <p:nvSpPr>
          <p:cNvPr id="15" name="Shape 13"/>
          <p:cNvSpPr/>
          <p:nvPr/>
        </p:nvSpPr>
        <p:spPr>
          <a:xfrm>
            <a:off x="4892040" y="3520440"/>
            <a:ext cx="3703320" cy="1051560"/>
          </a:xfrm>
          <a:prstGeom prst="roundRect">
            <a:avLst>
              <a:gd name="adj" fmla="val 6087"/>
            </a:avLst>
          </a:prstGeom>
          <a:solidFill>
            <a:srgbClr val="FBF1D8"/>
          </a:solidFill>
          <a:ln w="12700">
            <a:solidFill>
              <a:srgbClr val="FBF1D8"/>
            </a:solidFill>
            <a:prstDash val="solid"/>
          </a:ln>
          <a:effectLst>
            <a:outerShdw sx="100000" sy="100000" kx="0" ky="0" algn="bl" rotWithShape="0" blurRad="88900" dist="38100" dir="5400000">
              <a:srgbClr val="000000">
                <a:alpha val="12000"/>
              </a:srgbClr>
            </a:outerShdw>
          </a:effectLst>
        </p:spPr>
      </p:sp>
      <p:sp>
        <p:nvSpPr>
          <p:cNvPr id="16" name="Text 14"/>
          <p:cNvSpPr/>
          <p:nvPr/>
        </p:nvSpPr>
        <p:spPr>
          <a:xfrm>
            <a:off x="5120640" y="3520440"/>
            <a:ext cx="3246120" cy="1051560"/>
          </a:xfrm>
          <a:prstGeom prst="rect">
            <a:avLst/>
          </a:prstGeom>
          <a:noFill/>
          <a:ln/>
        </p:spPr>
        <p:txBody>
          <a:bodyPr wrap="square" lIns="0" tIns="0" rIns="0" bIns="0" rtlCol="0" anchor="ctr"/>
          <a:lstStyle/>
          <a:p>
            <a:pPr indent="0" marL="0">
              <a:buNone/>
            </a:pPr>
            <a:r>
              <a:rPr lang="en-US" sz="1250" b="1" dirty="0">
                <a:solidFill>
                  <a:srgbClr val="8A6D00"/>
                </a:solidFill>
                <a:latin typeface="Calibri" pitchFamily="34" charset="0"/>
                <a:ea typeface="Calibri" pitchFamily="34" charset="-122"/>
                <a:cs typeface="Calibri" pitchFamily="34" charset="-120"/>
              </a:rPr>
              <a:t>Listo:  </a:t>
            </a:r>
            <a:pPr indent="0" marL="0">
              <a:buNone/>
            </a:pPr>
            <a:r>
              <a:rPr lang="en-US" sz="1250" dirty="0">
                <a:solidFill>
                  <a:srgbClr val="1F2933"/>
                </a:solidFill>
                <a:latin typeface="Calibri" pitchFamily="34" charset="0"/>
                <a:ea typeface="Calibri" pitchFamily="34" charset="-122"/>
                <a:cs typeface="Calibri" pitchFamily="34" charset="-120"/>
              </a:rPr>
              <a:t>tienes una Web API REST completa, conectada a PostgreSQL y documentada. La base para tu backend con Angular.</a:t>
            </a:r>
            <a:endParaRPr lang="en-US" sz="1250" dirty="0"/>
          </a:p>
        </p:txBody>
      </p:sp>
      <p:sp>
        <p:nvSpPr>
          <p:cNvPr id="18" name="Text 15"/>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19" name="Text 16"/>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65760"/>
            <a:ext cx="8046720" cy="256032"/>
          </a:xfrm>
          <a:prstGeom prst="rect">
            <a:avLst/>
          </a:prstGeom>
          <a:noFill/>
          <a:ln/>
        </p:spPr>
        <p:txBody>
          <a:bodyPr wrap="square" lIns="0" tIns="0" rIns="0" bIns="0" rtlCol="0" anchor="ctr"/>
          <a:lstStyle/>
          <a:p>
            <a:pPr indent="0" marL="0">
              <a:buNone/>
            </a:pPr>
            <a:r>
              <a:rPr lang="en-US" sz="1100" b="1" spc="300" kern="0" dirty="0">
                <a:solidFill>
                  <a:srgbClr val="512BD4"/>
                </a:solidFill>
                <a:latin typeface="Calibri" pitchFamily="34" charset="0"/>
                <a:ea typeface="Calibri" pitchFamily="34" charset="-122"/>
                <a:cs typeface="Calibri" pitchFamily="34" charset="-120"/>
              </a:rPr>
              <a:t>PARTE B · PARA IR MÁS ALLÁ</a:t>
            </a:r>
            <a:endParaRPr lang="en-US" sz="1100" dirty="0"/>
          </a:p>
        </p:txBody>
      </p:sp>
      <p:sp>
        <p:nvSpPr>
          <p:cNvPr id="3" name="Text 1"/>
          <p:cNvSpPr/>
          <p:nvPr/>
        </p:nvSpPr>
        <p:spPr>
          <a:xfrm>
            <a:off x="530352" y="603504"/>
            <a:ext cx="8138160" cy="603504"/>
          </a:xfrm>
          <a:prstGeom prst="rect">
            <a:avLst/>
          </a:prstGeom>
          <a:noFill/>
          <a:ln/>
        </p:spPr>
        <p:txBody>
          <a:bodyPr wrap="square" lIns="0" tIns="0" rIns="0" bIns="0" rtlCol="0" anchor="ctr"/>
          <a:lstStyle/>
          <a:p>
            <a:pPr indent="0" marL="0">
              <a:buNone/>
            </a:pPr>
            <a:r>
              <a:rPr lang="en-US" sz="2900" b="1" dirty="0">
                <a:solidFill>
                  <a:srgbClr val="2B1B5E"/>
                </a:solidFill>
                <a:latin typeface="Bookman Old Style" pitchFamily="34" charset="0"/>
                <a:ea typeface="Bookman Old Style" pitchFamily="34" charset="-122"/>
                <a:cs typeface="Bookman Old Style" pitchFamily="34" charset="-120"/>
              </a:rPr>
              <a:t>Buenas prácticas y seguridad</a:t>
            </a:r>
            <a:endParaRPr lang="en-US" sz="2900" dirty="0"/>
          </a:p>
        </p:txBody>
      </p:sp>
      <p:sp>
        <p:nvSpPr>
          <p:cNvPr id="4" name="Shape 2"/>
          <p:cNvSpPr/>
          <p:nvPr/>
        </p:nvSpPr>
        <p:spPr>
          <a:xfrm>
            <a:off x="548640" y="1645920"/>
            <a:ext cx="2615184" cy="1371600"/>
          </a:xfrm>
          <a:prstGeom prst="roundRect">
            <a:avLst>
              <a:gd name="adj" fmla="val 4667"/>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31520" y="1792224"/>
            <a:ext cx="2249424" cy="365760"/>
          </a:xfrm>
          <a:prstGeom prst="rect">
            <a:avLst/>
          </a:prstGeom>
          <a:noFill/>
          <a:ln/>
        </p:spPr>
        <p:txBody>
          <a:bodyPr wrap="square" lIns="0" tIns="0" rIns="0" bIns="0" rtlCol="0" anchor="t"/>
          <a:lstStyle/>
          <a:p>
            <a:pPr indent="0" marL="0">
              <a:buNone/>
            </a:pPr>
            <a:r>
              <a:rPr lang="en-US" sz="1600" b="1" dirty="0">
                <a:solidFill>
                  <a:srgbClr val="512BD4"/>
                </a:solidFill>
                <a:latin typeface="Bookman Old Style" pitchFamily="34" charset="0"/>
                <a:ea typeface="Bookman Old Style" pitchFamily="34" charset="-122"/>
                <a:cs typeface="Bookman Old Style" pitchFamily="34" charset="-120"/>
              </a:rPr>
              <a:t>JWT</a:t>
            </a:r>
            <a:endParaRPr lang="en-US" sz="1600" dirty="0"/>
          </a:p>
        </p:txBody>
      </p:sp>
      <p:sp>
        <p:nvSpPr>
          <p:cNvPr id="6" name="Text 4"/>
          <p:cNvSpPr/>
          <p:nvPr/>
        </p:nvSpPr>
        <p:spPr>
          <a:xfrm>
            <a:off x="731520" y="2194560"/>
            <a:ext cx="2249424"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Autenticación con tokens firmados; protege grupos con RequireAuthorization.</a:t>
            </a:r>
            <a:endParaRPr lang="en-US" sz="1200" dirty="0"/>
          </a:p>
        </p:txBody>
      </p:sp>
      <p:sp>
        <p:nvSpPr>
          <p:cNvPr id="7" name="Shape 5"/>
          <p:cNvSpPr/>
          <p:nvPr/>
        </p:nvSpPr>
        <p:spPr>
          <a:xfrm>
            <a:off x="3264408" y="1645920"/>
            <a:ext cx="2615184" cy="1371600"/>
          </a:xfrm>
          <a:prstGeom prst="roundRect">
            <a:avLst>
              <a:gd name="adj" fmla="val 4667"/>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8" name="Text 6"/>
          <p:cNvSpPr/>
          <p:nvPr/>
        </p:nvSpPr>
        <p:spPr>
          <a:xfrm>
            <a:off x="3447288" y="1792224"/>
            <a:ext cx="2249424" cy="365760"/>
          </a:xfrm>
          <a:prstGeom prst="rect">
            <a:avLst/>
          </a:prstGeom>
          <a:noFill/>
          <a:ln/>
        </p:spPr>
        <p:txBody>
          <a:bodyPr wrap="square" lIns="0" tIns="0" rIns="0" bIns="0" rtlCol="0" anchor="t"/>
          <a:lstStyle/>
          <a:p>
            <a:pPr indent="0" marL="0">
              <a:buNone/>
            </a:pPr>
            <a:r>
              <a:rPr lang="en-US" sz="1600" b="1" dirty="0">
                <a:solidFill>
                  <a:srgbClr val="006633"/>
                </a:solidFill>
                <a:latin typeface="Bookman Old Style" pitchFamily="34" charset="0"/>
                <a:ea typeface="Bookman Old Style" pitchFamily="34" charset="-122"/>
                <a:cs typeface="Bookman Old Style" pitchFamily="34" charset="-120"/>
              </a:rPr>
              <a:t>CORS</a:t>
            </a:r>
            <a:endParaRPr lang="en-US" sz="1600" dirty="0"/>
          </a:p>
        </p:txBody>
      </p:sp>
      <p:sp>
        <p:nvSpPr>
          <p:cNvPr id="9" name="Text 7"/>
          <p:cNvSpPr/>
          <p:nvPr/>
        </p:nvSpPr>
        <p:spPr>
          <a:xfrm>
            <a:off x="3447288" y="2194560"/>
            <a:ext cx="2249424"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Autoriza solo los orígenes que consumen tu API (p. ej. Angular en :4200).</a:t>
            </a:r>
            <a:endParaRPr lang="en-US" sz="1200" dirty="0"/>
          </a:p>
        </p:txBody>
      </p:sp>
      <p:sp>
        <p:nvSpPr>
          <p:cNvPr id="10" name="Shape 8"/>
          <p:cNvSpPr/>
          <p:nvPr/>
        </p:nvSpPr>
        <p:spPr>
          <a:xfrm>
            <a:off x="5980176" y="1645920"/>
            <a:ext cx="2615184" cy="1371600"/>
          </a:xfrm>
          <a:prstGeom prst="roundRect">
            <a:avLst>
              <a:gd name="adj" fmla="val 4667"/>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6163056" y="1792224"/>
            <a:ext cx="2249424" cy="365760"/>
          </a:xfrm>
          <a:prstGeom prst="rect">
            <a:avLst/>
          </a:prstGeom>
          <a:noFill/>
          <a:ln/>
        </p:spPr>
        <p:txBody>
          <a:bodyPr wrap="square" lIns="0" tIns="0" rIns="0" bIns="0" rtlCol="0" anchor="t"/>
          <a:lstStyle/>
          <a:p>
            <a:pPr indent="0" marL="0">
              <a:buNone/>
            </a:pPr>
            <a:r>
              <a:rPr lang="en-US" sz="1600" b="1" dirty="0">
                <a:solidFill>
                  <a:srgbClr val="CC9900"/>
                </a:solidFill>
                <a:latin typeface="Bookman Old Style" pitchFamily="34" charset="0"/>
                <a:ea typeface="Bookman Old Style" pitchFamily="34" charset="-122"/>
                <a:cs typeface="Bookman Old Style" pitchFamily="34" charset="-120"/>
              </a:rPr>
              <a:t>Validación</a:t>
            </a:r>
            <a:endParaRPr lang="en-US" sz="1600" dirty="0"/>
          </a:p>
        </p:txBody>
      </p:sp>
      <p:sp>
        <p:nvSpPr>
          <p:cNvPr id="12" name="Text 10"/>
          <p:cNvSpPr/>
          <p:nvPr/>
        </p:nvSpPr>
        <p:spPr>
          <a:xfrm>
            <a:off x="6163056" y="2194560"/>
            <a:ext cx="2249424"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Valida toda entrada en el servidor; devuelve 400 con el detalle.</a:t>
            </a:r>
            <a:endParaRPr lang="en-US" sz="1200" dirty="0"/>
          </a:p>
        </p:txBody>
      </p:sp>
      <p:sp>
        <p:nvSpPr>
          <p:cNvPr id="13" name="Shape 11"/>
          <p:cNvSpPr/>
          <p:nvPr/>
        </p:nvSpPr>
        <p:spPr>
          <a:xfrm>
            <a:off x="548640" y="3182112"/>
            <a:ext cx="2615184" cy="1371600"/>
          </a:xfrm>
          <a:prstGeom prst="roundRect">
            <a:avLst>
              <a:gd name="adj" fmla="val 4667"/>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4" name="Text 12"/>
          <p:cNvSpPr/>
          <p:nvPr/>
        </p:nvSpPr>
        <p:spPr>
          <a:xfrm>
            <a:off x="731520" y="3328416"/>
            <a:ext cx="2249424" cy="365760"/>
          </a:xfrm>
          <a:prstGeom prst="rect">
            <a:avLst/>
          </a:prstGeom>
          <a:noFill/>
          <a:ln/>
        </p:spPr>
        <p:txBody>
          <a:bodyPr wrap="square" lIns="0" tIns="0" rIns="0" bIns="0" rtlCol="0" anchor="t"/>
          <a:lstStyle/>
          <a:p>
            <a:pPr indent="0" marL="0">
              <a:buNone/>
            </a:pPr>
            <a:r>
              <a:rPr lang="en-US" sz="1600" b="1" dirty="0">
                <a:solidFill>
                  <a:srgbClr val="512BD4"/>
                </a:solidFill>
                <a:latin typeface="Bookman Old Style" pitchFamily="34" charset="0"/>
                <a:ea typeface="Bookman Old Style" pitchFamily="34" charset="-122"/>
                <a:cs typeface="Bookman Old Style" pitchFamily="34" charset="-120"/>
              </a:rPr>
              <a:t>Capas</a:t>
            </a:r>
            <a:endParaRPr lang="en-US" sz="1600" dirty="0"/>
          </a:p>
        </p:txBody>
      </p:sp>
      <p:sp>
        <p:nvSpPr>
          <p:cNvPr id="15" name="Text 13"/>
          <p:cNvSpPr/>
          <p:nvPr/>
        </p:nvSpPr>
        <p:spPr>
          <a:xfrm>
            <a:off x="731520" y="3730752"/>
            <a:ext cx="2249424"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Extrae la lógica a servicios inyectables; deja los endpoints delgados.</a:t>
            </a:r>
            <a:endParaRPr lang="en-US" sz="1200" dirty="0"/>
          </a:p>
        </p:txBody>
      </p:sp>
      <p:sp>
        <p:nvSpPr>
          <p:cNvPr id="16" name="Shape 14"/>
          <p:cNvSpPr/>
          <p:nvPr/>
        </p:nvSpPr>
        <p:spPr>
          <a:xfrm>
            <a:off x="3264408" y="3182112"/>
            <a:ext cx="2615184" cy="1371600"/>
          </a:xfrm>
          <a:prstGeom prst="roundRect">
            <a:avLst>
              <a:gd name="adj" fmla="val 4667"/>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17" name="Text 15"/>
          <p:cNvSpPr/>
          <p:nvPr/>
        </p:nvSpPr>
        <p:spPr>
          <a:xfrm>
            <a:off x="3447288" y="3328416"/>
            <a:ext cx="2249424" cy="365760"/>
          </a:xfrm>
          <a:prstGeom prst="rect">
            <a:avLst/>
          </a:prstGeom>
          <a:noFill/>
          <a:ln/>
        </p:spPr>
        <p:txBody>
          <a:bodyPr wrap="square" lIns="0" tIns="0" rIns="0" bIns="0" rtlCol="0" anchor="t"/>
          <a:lstStyle/>
          <a:p>
            <a:pPr indent="0" marL="0">
              <a:buNone/>
            </a:pPr>
            <a:r>
              <a:rPr lang="en-US" sz="1600" b="1" dirty="0">
                <a:solidFill>
                  <a:srgbClr val="006633"/>
                </a:solidFill>
                <a:latin typeface="Bookman Old Style" pitchFamily="34" charset="0"/>
                <a:ea typeface="Bookman Old Style" pitchFamily="34" charset="-122"/>
                <a:cs typeface="Bookman Old Style" pitchFamily="34" charset="-120"/>
              </a:rPr>
              <a:t>Secretos</a:t>
            </a:r>
            <a:endParaRPr lang="en-US" sz="1600" dirty="0"/>
          </a:p>
        </p:txBody>
      </p:sp>
      <p:sp>
        <p:nvSpPr>
          <p:cNvPr id="18" name="Text 16"/>
          <p:cNvSpPr/>
          <p:nvPr/>
        </p:nvSpPr>
        <p:spPr>
          <a:xfrm>
            <a:off x="3447288" y="3730752"/>
            <a:ext cx="2249424"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Contraseñas y claves fuera del código: User Secrets y variables de entorno.</a:t>
            </a:r>
            <a:endParaRPr lang="en-US" sz="1200" dirty="0"/>
          </a:p>
        </p:txBody>
      </p:sp>
      <p:sp>
        <p:nvSpPr>
          <p:cNvPr id="19" name="Shape 17"/>
          <p:cNvSpPr/>
          <p:nvPr/>
        </p:nvSpPr>
        <p:spPr>
          <a:xfrm>
            <a:off x="5980176" y="3182112"/>
            <a:ext cx="2615184" cy="1371600"/>
          </a:xfrm>
          <a:prstGeom prst="roundRect">
            <a:avLst>
              <a:gd name="adj" fmla="val 4667"/>
            </a:avLst>
          </a:prstGeom>
          <a:solidFill>
            <a:srgbClr val="FFFFFF"/>
          </a:solidFill>
          <a:ln w="12700">
            <a:solidFill>
              <a:srgbClr val="FFFFFF"/>
            </a:solidFill>
            <a:prstDash val="solid"/>
          </a:ln>
          <a:effectLst>
            <a:outerShdw sx="100000" sy="100000" kx="0" ky="0" algn="bl" rotWithShape="0" blurRad="88900" dist="38100" dir="5400000">
              <a:srgbClr val="000000">
                <a:alpha val="12000"/>
              </a:srgbClr>
            </a:outerShdw>
          </a:effectLst>
        </p:spPr>
      </p:sp>
      <p:sp>
        <p:nvSpPr>
          <p:cNvPr id="20" name="Text 18"/>
          <p:cNvSpPr/>
          <p:nvPr/>
        </p:nvSpPr>
        <p:spPr>
          <a:xfrm>
            <a:off x="6163056" y="3328416"/>
            <a:ext cx="2249424" cy="365760"/>
          </a:xfrm>
          <a:prstGeom prst="rect">
            <a:avLst/>
          </a:prstGeom>
          <a:noFill/>
          <a:ln/>
        </p:spPr>
        <p:txBody>
          <a:bodyPr wrap="square" lIns="0" tIns="0" rIns="0" bIns="0" rtlCol="0" anchor="t"/>
          <a:lstStyle/>
          <a:p>
            <a:pPr indent="0" marL="0">
              <a:buNone/>
            </a:pPr>
            <a:r>
              <a:rPr lang="en-US" sz="1600" b="1" dirty="0">
                <a:solidFill>
                  <a:srgbClr val="007ACC"/>
                </a:solidFill>
                <a:latin typeface="Bookman Old Style" pitchFamily="34" charset="0"/>
                <a:ea typeface="Bookman Old Style" pitchFamily="34" charset="-122"/>
                <a:cs typeface="Bookman Old Style" pitchFamily="34" charset="-120"/>
              </a:rPr>
              <a:t>Docker</a:t>
            </a:r>
            <a:endParaRPr lang="en-US" sz="1600" dirty="0"/>
          </a:p>
        </p:txBody>
      </p:sp>
      <p:sp>
        <p:nvSpPr>
          <p:cNvPr id="21" name="Text 19"/>
          <p:cNvSpPr/>
          <p:nvPr/>
        </p:nvSpPr>
        <p:spPr>
          <a:xfrm>
            <a:off x="6163056" y="3730752"/>
            <a:ext cx="2249424"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Empaqueta la API con un Dockerfile multietapa para desplegar igual en cualquier lugar.</a:t>
            </a:r>
            <a:endParaRPr lang="en-US" sz="1200" dirty="0"/>
          </a:p>
        </p:txBody>
      </p:sp>
      <p:sp>
        <p:nvSpPr>
          <p:cNvPr id="23" name="Text 20"/>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a:t>
            </a:r>
            <a:endParaRPr lang="en-US" sz="900" dirty="0"/>
          </a:p>
        </p:txBody>
      </p:sp>
      <p:sp>
        <p:nvSpPr>
          <p:cNvPr id="24" name="Text 21"/>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B1B5E"/>
        </a:solidFill>
      </p:bgPr>
    </p:bg>
    <p:spTree>
      <p:nvGrpSpPr>
        <p:cNvPr id="1" name=""/>
        <p:cNvGrpSpPr/>
        <p:nvPr/>
      </p:nvGrpSpPr>
      <p:grpSpPr>
        <a:xfrm>
          <a:off x="0" y="0"/>
          <a:ext cx="0" cy="0"/>
          <a:chOff x="0" y="0"/>
          <a:chExt cx="0" cy="0"/>
        </a:xfrm>
      </p:grpSpPr>
      <p:sp>
        <p:nvSpPr>
          <p:cNvPr id="2" name="Text 0"/>
          <p:cNvSpPr/>
          <p:nvPr/>
        </p:nvSpPr>
        <p:spPr>
          <a:xfrm>
            <a:off x="548640" y="1280160"/>
            <a:ext cx="8229600" cy="365760"/>
          </a:xfrm>
          <a:prstGeom prst="rect">
            <a:avLst/>
          </a:prstGeom>
          <a:noFill/>
          <a:ln/>
        </p:spPr>
        <p:txBody>
          <a:bodyPr wrap="square" lIns="0" tIns="0" rIns="0" bIns="0" rtlCol="0" anchor="ctr"/>
          <a:lstStyle/>
          <a:p>
            <a:pPr indent="0" marL="0">
              <a:buNone/>
            </a:pPr>
            <a:r>
              <a:rPr lang="en-US" sz="1300" b="1" spc="300" kern="0" dirty="0">
                <a:solidFill>
                  <a:srgbClr val="B7A6F2"/>
                </a:solidFill>
                <a:latin typeface="Calibri" pitchFamily="34" charset="0"/>
                <a:ea typeface="Calibri" pitchFamily="34" charset="-122"/>
                <a:cs typeface="Calibri" pitchFamily="34" charset="-120"/>
              </a:rPr>
              <a:t>EN RESUMEN</a:t>
            </a:r>
            <a:endParaRPr lang="en-US" sz="1300" dirty="0"/>
          </a:p>
        </p:txBody>
      </p:sp>
      <p:sp>
        <p:nvSpPr>
          <p:cNvPr id="3" name="Text 1"/>
          <p:cNvSpPr/>
          <p:nvPr/>
        </p:nvSpPr>
        <p:spPr>
          <a:xfrm>
            <a:off x="530352" y="1691640"/>
            <a:ext cx="8229600" cy="1188720"/>
          </a:xfrm>
          <a:prstGeom prst="rect">
            <a:avLst/>
          </a:prstGeom>
          <a:noFill/>
          <a:ln/>
        </p:spPr>
        <p:txBody>
          <a:bodyPr wrap="square" lIns="0" tIns="0" rIns="0" bIns="0" rtlCol="0" anchor="ctr"/>
          <a:lstStyle/>
          <a:p>
            <a:pPr indent="0" marL="0">
              <a:buNone/>
            </a:pPr>
            <a:r>
              <a:rPr lang="en-US" sz="3100" b="1" dirty="0">
                <a:solidFill>
                  <a:srgbClr val="FFFFFF"/>
                </a:solidFill>
                <a:latin typeface="Bookman Old Style" pitchFamily="34" charset="0"/>
                <a:ea typeface="Bookman Old Style" pitchFamily="34" charset="-122"/>
                <a:cs typeface="Bookman Old Style" pitchFamily="34" charset="-120"/>
              </a:rPr>
              <a:t>De cero a una Web API REST</a:t>
            </a:r>
            <a:endParaRPr lang="en-US" sz="3100" dirty="0"/>
          </a:p>
          <a:p>
            <a:pPr indent="0" marL="0">
              <a:buNone/>
            </a:pPr>
            <a:r>
              <a:rPr lang="en-US" sz="3100" b="1" dirty="0">
                <a:solidFill>
                  <a:srgbClr val="FFFFFF"/>
                </a:solidFill>
                <a:latin typeface="Bookman Old Style" pitchFamily="34" charset="0"/>
                <a:ea typeface="Bookman Old Style" pitchFamily="34" charset="-122"/>
                <a:cs typeface="Bookman Old Style" pitchFamily="34" charset="-120"/>
              </a:rPr>
              <a:t>completa y segura</a:t>
            </a:r>
            <a:endParaRPr lang="en-US" sz="3100" dirty="0"/>
          </a:p>
        </p:txBody>
      </p:sp>
      <p:sp>
        <p:nvSpPr>
          <p:cNvPr id="4" name="Text 2"/>
          <p:cNvSpPr/>
          <p:nvPr/>
        </p:nvSpPr>
        <p:spPr>
          <a:xfrm>
            <a:off x="548640" y="2971800"/>
            <a:ext cx="7955280" cy="822960"/>
          </a:xfrm>
          <a:prstGeom prst="rect">
            <a:avLst/>
          </a:prstGeom>
          <a:noFill/>
          <a:ln/>
        </p:spPr>
        <p:txBody>
          <a:bodyPr wrap="square" lIns="0" tIns="0" rIns="0" bIns="0" rtlCol="0" anchor="t"/>
          <a:lstStyle/>
          <a:p>
            <a:pPr indent="0" marL="0">
              <a:buNone/>
            </a:pPr>
            <a:r>
              <a:rPr lang="en-US" sz="1500" dirty="0">
                <a:solidFill>
                  <a:srgbClr val="E6E1F7"/>
                </a:solidFill>
                <a:latin typeface="Calibri" pitchFamily="34" charset="0"/>
                <a:ea typeface="Calibri" pitchFamily="34" charset="-122"/>
                <a:cs typeface="Calibri" pitchFamily="34" charset="-120"/>
              </a:rPr>
              <a:t>Construiste, con Visual Studio Code y la CLI de dotnet, una API CRUD de estudiantes sobre PostgreSQL con EF Core, documentada con OpenAPI y Scalar.</a:t>
            </a:r>
            <a:endParaRPr lang="en-US" sz="1500" dirty="0"/>
          </a:p>
        </p:txBody>
      </p:sp>
      <p:sp>
        <p:nvSpPr>
          <p:cNvPr id="5" name="Text 3"/>
          <p:cNvSpPr/>
          <p:nvPr/>
        </p:nvSpPr>
        <p:spPr>
          <a:xfrm>
            <a:off x="548640" y="4160520"/>
            <a:ext cx="8229600" cy="274320"/>
          </a:xfrm>
          <a:prstGeom prst="rect">
            <a:avLst/>
          </a:prstGeom>
          <a:noFill/>
          <a:ln/>
        </p:spPr>
        <p:txBody>
          <a:bodyPr wrap="square" lIns="0" tIns="0" rIns="0" bIns="0" rtlCol="0" anchor="ctr"/>
          <a:lstStyle/>
          <a:p>
            <a:pPr indent="0" marL="0">
              <a:buNone/>
            </a:pPr>
            <a:r>
              <a:rPr lang="en-US" sz="1150" dirty="0">
                <a:solidFill>
                  <a:srgbClr val="9AA0AA"/>
                </a:solidFill>
                <a:latin typeface="Calibri" pitchFamily="34" charset="0"/>
                <a:ea typeface="Calibri" pitchFamily="34" charset="-122"/>
                <a:cs typeface="Calibri" pitchFamily="34" charset="-120"/>
              </a:rPr>
              <a:t>Recursos: learn.microsoft.com/aspnet/core  ·  npgsql.org/efcore  ·  github.com/scalar/scalar</a:t>
            </a:r>
            <a:endParaRPr lang="en-US" sz="1150" dirty="0"/>
          </a:p>
        </p:txBody>
      </p:sp>
      <p:sp>
        <p:nvSpPr>
          <p:cNvPr id="7" name="Text 4"/>
          <p:cNvSpPr/>
          <p:nvPr/>
        </p:nvSpPr>
        <p:spPr>
          <a:xfrm>
            <a:off x="548640" y="4828032"/>
            <a:ext cx="5486400" cy="228600"/>
          </a:xfrm>
          <a:prstGeom prst="rect">
            <a:avLst/>
          </a:prstGeom>
          <a:noFill/>
          <a:ln/>
        </p:spPr>
        <p:txBody>
          <a:bodyPr wrap="square" lIns="0" tIns="0" rIns="0" bIns="0" rtlCol="0" anchor="ctr"/>
          <a:lstStyle/>
          <a:p>
            <a:pPr indent="0" marL="0">
              <a:buNone/>
            </a:pPr>
            <a:r>
              <a:rPr lang="en-US" sz="900" dirty="0">
                <a:solidFill>
                  <a:srgbClr val="9AA0AA"/>
                </a:solidFill>
                <a:latin typeface="Calibri" pitchFamily="34" charset="0"/>
                <a:ea typeface="Calibri" pitchFamily="34" charset="-122"/>
                <a:cs typeface="Calibri" pitchFamily="34" charset="-120"/>
              </a:rPr>
              <a:t>UTEQ · Aplicaciones Web · Unidad II</a:t>
            </a:r>
            <a:endParaRPr lang="en-US" sz="900" dirty="0"/>
          </a:p>
        </p:txBody>
      </p:sp>
      <p:sp>
        <p:nvSpPr>
          <p:cNvPr id="8" name="Text 5"/>
          <p:cNvSpPr/>
          <p:nvPr/>
        </p:nvSpPr>
        <p:spPr>
          <a:xfrm>
            <a:off x="8229600" y="4828032"/>
            <a:ext cx="365760" cy="228600"/>
          </a:xfrm>
          <a:prstGeom prst="rect">
            <a:avLst/>
          </a:prstGeom>
          <a:noFill/>
          <a:ln/>
        </p:spPr>
        <p:txBody>
          <a:bodyPr wrap="square" lIns="0" tIns="0" rIns="0" bIns="0" rtlCol="0" anchor="ctr"/>
          <a:lstStyle/>
          <a:p>
            <a:pPr algn="r" indent="0" marL="0">
              <a:buNone/>
            </a:pPr>
            <a:r>
              <a:rPr lang="en-US" sz="900" dirty="0">
                <a:solidFill>
                  <a:srgbClr val="9AA0A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ASP.NET Core con VS Code — CRUD paso a paso</dc:title>
  <dc:subject>PptxGenJS Presentation</dc:subject>
  <dc:creator>Dr. Gleiston Guerrero Ulloa</dc:creator>
  <cp:lastModifiedBy>Dr. Gleiston Guerrero Ulloa</cp:lastModifiedBy>
  <cp:revision>1</cp:revision>
  <dcterms:created xsi:type="dcterms:W3CDTF">2026-06-20T20:44:59Z</dcterms:created>
  <dcterms:modified xsi:type="dcterms:W3CDTF">2026-06-20T20:44:59Z</dcterms:modified>
</cp:coreProperties>
</file>