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· UTEQ 2026 · Semana 02 · HTML y HTML5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ULAR">
    <p:bg>
      <p:bgPr>
        <a:solidFill>
          <a:srgbClr val="0F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6152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72200"/>
            <a:ext cx="12161520" cy="45720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91440" cy="4114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y HTML5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el desarrollo web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36576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31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«HTML no es código fuente: es un contrato semántico entre el autor del documento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ecosistema de agentes que lo interpretan.»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Ian Hickson, editor de la especificación HTML5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Ingeniería de Software  ·  Quinto período  ·  UTEQ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 de la sesión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recorreremos en las próximas 4 horas de contacto docente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22860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09728" cy="2286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SGML a HTML Living Standard.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entender la historia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a entender el lenguaje.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22860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463040"/>
            <a:ext cx="109728" cy="2286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2628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 estructura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atributos, contenido.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DOCTYPE, &lt;html&gt;, &lt;head&gt;, &lt;body&gt;.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W3C.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2860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463040"/>
            <a:ext cx="109728" cy="2286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667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Semántica de HTML5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nav, main, article,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section, aside, footer.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&lt;article&gt; vs &lt;section&gt;.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566160" cy="22860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109728" cy="2286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5800" y="4754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y validación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nuevos tipos de &lt;input&gt;.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pattern, min/max.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nativa sin JS.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66160" cy="22860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4023360"/>
            <a:ext cx="109728" cy="2286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526280" y="4754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y APIs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6280" y="5212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&lt;video&gt;, &lt;audio&gt;, &lt;canvas&gt;,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Geolocation, Web Storage,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66160" cy="22860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023360"/>
            <a:ext cx="109728" cy="2286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8366760" y="4754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y formatos de datos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6760" y="5212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XML.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vs JSON vs YAML.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Quándo usar cada uno.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 aprendizaje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estudiante debe ser capaz de hacer al cierre de esta semana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645920"/>
          </a:xfrm>
          <a:prstGeom prst="rect">
            <a:avLst/>
          </a:prstGeom>
          <a:solidFill>
            <a:srgbClr val="0F2419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documentos HTML5 </a:t>
            </a:r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estructuralmente correctos, semánticamente significativos
</a:t>
            </a:r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validables ante el W3C, </a:t>
            </a:r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integrando formularios con validación nativa,
</a:t>
            </a:r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multimedia accesible, APIs nativas del lenguaje y entendiendo
</a:t>
            </a:r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lugar de XML en el ecosistema de marcado.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Articulación con la asignatura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4630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4023360"/>
            <a:ext cx="9509760" cy="64008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402336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interfaces web semánticas, accesibles y responsivas con HTML5,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y JavaScript siguiendo W3C y WCAG 2.1.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4630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754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03120" y="4754880"/>
            <a:ext cx="9509760" cy="64008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475488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— HTML5 + CSS3 + JavaScript  (Semanas 1–4)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486400"/>
            <a:ext cx="14630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486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SWEBOK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03120" y="5486400"/>
            <a:ext cx="9509760" cy="64008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548640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KA03 Diseño de software  ·  KA04 Construcción de software  ·  KA10 Calidad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SGML a HTML Living Standard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años de evolución del lenguaje de la web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1069848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3547872"/>
            <a:ext cx="219456" cy="219456"/>
          </a:xfrm>
          <a:prstGeom prst="ellipse">
            <a:avLst/>
          </a:prstGeom>
          <a:solidFill>
            <a:srgbClr val="D4A01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etiquetas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3026" y="3547872"/>
            <a:ext cx="219456" cy="219456"/>
          </a:xfrm>
          <a:prstGeom prst="ellipse">
            <a:avLst/>
          </a:prstGeom>
          <a:solidFill>
            <a:srgbClr val="D4A01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4114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02674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2.0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02674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1866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69941" y="3547872"/>
            <a:ext cx="219456" cy="219456"/>
          </a:xfrm>
          <a:prstGeom prst="ellipse">
            <a:avLst/>
          </a:prstGeom>
          <a:solidFill>
            <a:srgbClr val="D4A01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1029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39589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4.01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39589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06855" y="3547872"/>
            <a:ext cx="219456" cy="219456"/>
          </a:xfrm>
          <a:prstGeom prst="ellipse">
            <a:avLst/>
          </a:prstGeom>
          <a:solidFill>
            <a:srgbClr val="D4A01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7943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76503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XHTML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6503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estricta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43769" y="3547872"/>
            <a:ext cx="219456" cy="219456"/>
          </a:xfrm>
          <a:prstGeom prst="ellipse">
            <a:avLst/>
          </a:prstGeom>
          <a:solidFill>
            <a:srgbClr val="D4A01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4857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13417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WHATWG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13417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80683" y="3547872"/>
            <a:ext cx="219456" cy="219456"/>
          </a:xfrm>
          <a:prstGeom prst="ellipse">
            <a:avLst/>
          </a:prstGeom>
          <a:solidFill>
            <a:srgbClr val="D4A01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1771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50331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Rec.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50331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&lt;video&gt; &lt;canvas&gt;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517598" y="3547872"/>
            <a:ext cx="219456" cy="219456"/>
          </a:xfrm>
          <a:prstGeom prst="ellipse">
            <a:avLst/>
          </a:prstGeom>
          <a:solidFill>
            <a:srgbClr val="D4A01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8686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87246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87246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954512" y="3547872"/>
            <a:ext cx="219456" cy="219456"/>
          </a:xfrm>
          <a:prstGeom prst="ellipse">
            <a:avLst/>
          </a:prstGeom>
          <a:solidFill>
            <a:srgbClr val="D4A01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42416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0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+IA 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440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etapas clave:  </a:t>
            </a:r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fundacional 1991–1999  ·  </a:t>
            </a:r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XML 2000–2008 (fracasó)  ·  </a:t>
            </a:r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HTML5 desde 2008.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2019, </a:t>
            </a:r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Standard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lenguaje se actualiza continuamente sin saltos de versión.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fracasó la transición XML (XHTML)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real era demasiado tolerante a errores como para acatar XML estricto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480560"/>
          </a:xfrm>
          <a:prstGeom prst="rect">
            <a:avLst/>
          </a:prstGeom>
          <a:solidFill>
            <a:srgbClr val="FDF4E3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XHTML  (2000–2008)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XML estricta: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etiqueta debe cerrarse.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siempre con comillas.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en minúsculas obligatoriamente.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error de sintaxis hace que el navegador muestre la "Pantalla amarilla de la muerte".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millones de páginas web ya escritas con HTML "sucio" pero funcional.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navegadores tuvieron que seguir tolerándolo.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Living Standard  (desde 2008)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Pragmatismo recuperado: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etiquetas no cerradas (en algunos casos).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Mayúsculas/minúsculas tolerantes.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parsing único y predecible.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retroactiva con HTML 4.01.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histórica: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estándares exitosos no son los más "limpios", sino los que respetan la realidad existente y evolucionan incrementalmente.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mínima de un documento HTML5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elementos imprescindibles que todo documento debe contener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217920" cy="4937760"/>
          </a:xfrm>
          <a:prstGeom prst="rect">
            <a:avLst/>
          </a:prstGeom>
          <a:solidFill>
            <a:srgbClr val="1E2D24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lang="es-EC"&gt;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content="width=device-width,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initial-scale=1"&gt;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&lt;title&gt;Mi primera página&lt;/title&gt;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&lt;h1&gt;Hola UTEQ&lt;/h1&gt;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&lt;p&gt;Contenido visible.&lt;/p&gt;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50876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066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1801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al navegador: "este documento es HTML5". Va siempre en la primera línea.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248716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0664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lang="es-EC"&gt;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06640" y="27797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del documento. Crítico para lectores de pantalla y motores de búsqueda.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3465576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0" y="3419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charset="UTF-8"&gt;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3758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caracteres. Sin esto, las tildes y la "ñ" se rompen.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4443984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4443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4398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viewport&gt;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47365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el diseño responsive. Sin esto, en móvil se ve la página minúscula.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5422392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5422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5376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&lt;title&gt;...&lt;/title&gt;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5715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 la pestaña del navegador. Aparece también en Google.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elemento HTML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pilares: etiquetas (tags), atributos y contenido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1645920"/>
          </a:xfrm>
          <a:prstGeom prst="rect">
            <a:avLst/>
          </a:prstGeom>
          <a:solidFill>
            <a:srgbClr val="1E2D24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</a:t>
            </a:r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href</a:t>
            </a:r>
            <a:pPr algn="ctr" indent="0" marL="0">
              <a:buNone/>
            </a:pPr>
            <a:r>
              <a:rPr lang="en-US" sz="36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pPr algn="ctr" indent="0" marL="0">
              <a:buNone/>
            </a:pPr>
            <a:r>
              <a:rPr lang="en-US" sz="36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https://uteq.edu.ec</a:t>
            </a:r>
            <a:pPr algn="ctr" indent="0" marL="0">
              <a:buNone/>
            </a:pPr>
            <a:r>
              <a:rPr lang="en-US" sz="36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algn="ctr" indent="0" marL="0">
              <a:buNone/>
            </a:pPr>
            <a:r>
              <a:rPr lang="en-US" sz="3600" b="1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ctr" indent="0" marL="0">
              <a:buNone/>
            </a:pPr>
            <a:r>
              <a:rPr lang="en-US" sz="3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UTEQ </a:t>
            </a:r>
            <a:pPr algn="ctr" indent="0" marL="0">
              <a:buNone/>
            </a:pPr>
            <a:r>
              <a:rPr lang="en-US" sz="3600" b="1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657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82C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82C7FF"/>
          </a:solidFill>
          <a:ln w="12700">
            <a:solidFill>
              <a:srgbClr val="82C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840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de apertura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(define el tipo de elemento: enlace)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3657600"/>
            <a:ext cx="3657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3657600"/>
            <a:ext cx="36576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3840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(nombre + valor entre comillas)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3657600"/>
            <a:ext cx="3657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A8E6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3657600"/>
            <a:ext cx="3657600" cy="73152"/>
          </a:xfrm>
          <a:prstGeom prst="rect">
            <a:avLst/>
          </a:prstGeom>
          <a:solidFill>
            <a:srgbClr val="A8E6A1"/>
          </a:solidFill>
          <a:ln w="12700">
            <a:solidFill>
              <a:srgbClr val="A8E6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840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(texto visible para el usuario)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12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especial: elementos VOID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elementos no tienen contenido y no se cierran: </a:t>
            </a:r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&lt;img&gt;, &lt;br&gt;, &lt;hr&gt;, &lt;meta&gt;, &lt;input&gt;, &lt;link&gt;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con sintaxis auto-contenida: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src="logo.png" alt="Logo UTEQ"&gt;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Elementos semánticos de HTML5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semántico vs. layout con &lt;div&gt; genéricos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00" cy="3108960"/>
          </a:xfrm>
          <a:prstGeom prst="rect">
            <a:avLst/>
          </a:prstGeom>
          <a:solidFill>
            <a:srgbClr val="EAF3E0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4206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337560"/>
            <a:ext cx="3840480" cy="82296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4206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1737360" cy="3108960"/>
          </a:xfrm>
          <a:prstGeom prst="rect">
            <a:avLst/>
          </a:prstGeom>
          <a:solidFill>
            <a:srgbClr val="F0E6D2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852160"/>
            <a:ext cx="6400800" cy="457200"/>
          </a:xfrm>
          <a:prstGeom prst="rect">
            <a:avLst/>
          </a:prstGeom>
          <a:solidFill>
            <a:srgbClr val="0F2419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852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de la página o de una sección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navegación principal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 (uno por documento)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autónomo y reutilizable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temática con encabezado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relacionado pero secundario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de página o sección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&lt;figure&gt;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o contenido autocontenido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4800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&lt;time&gt;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u hora legible por máquinas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&lt;article&gt;  vs  &lt;section&gt;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confusión más común — la "prueba RSS" la resuelve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5778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¿Tendría sentido este bloque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publicara solo, fuera de su contexto?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canónicos: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Entrada de blog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Noticia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Comentario en un foro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Tarjeta de producto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Tweet o post de red social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Reseña de un libro o película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mental: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 extraigo y lo pongo en un feed RSS o lo comparto en redes... ¿sigue teniendo sentido por sí mismo? Si la respuesta es SÍ, es un &lt;article&gt;.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577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63040"/>
            <a:ext cx="55778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508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temática que SOLO tiene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como parte del documento mayor.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canónicos: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Sección "Estudios" de un currículum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Capítulo de un libro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Sección "Características" en una landing page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Subdivisiones internas dentro de un &lt;article&gt;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Bloque de "Artículos relacionados"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obligatoria: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&lt;section&gt; debe tener un encabezado &lt;h2&gt;...&lt;h6&gt;. Si no necesita encabezado, probablemente debas usar &lt;div&gt;.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real: estructura de un blog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entrada es un &lt;article&gt;; el bloque "Relacionados" es una &lt;section&gt;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4937760"/>
          </a:xfrm>
          <a:prstGeom prst="rect">
            <a:avLst/>
          </a:prstGeom>
          <a:solidFill>
            <a:srgbClr val="1E2D24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&lt;h1&gt;Blog de Aplicaciones Web - UTEQ&lt;/h1&gt;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ARTICLE: entrada que puede publicarse en RSS independiente --&gt;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&lt;h2&gt;Por qué HTML5 cambió el desarrollo web&lt;/h2&gt;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&lt;p&gt;Por &lt;a href="/autor/jdoe"&gt;Juan Doe&lt;/a&gt;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el &lt;time datetime="2026-05-04"&gt;4 mayo 2026&lt;/time&gt;&lt;/p&gt;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&lt;p&gt;Introducción al artículo...&lt;/p&gt;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SECTION dentro de article: agrupación temática interna --&gt;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&lt;h3&gt;Elementos semánticos nuevos&lt;/h3&gt;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&lt;p&gt;HTML5 introdujo header, nav, main...&lt;/p&gt;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&lt;/section&gt;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&lt;/article&gt;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SECTION: agrupación que NO tendría sentido fuera del blog --&gt;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aria-label="Artículos relacionados"&gt;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&lt;h2&gt;También te puede interesar&lt;/h2&gt;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&lt;ul&gt;&lt;li&gt;&lt;a href="/post/1"&gt;Una guía rápida de Flexbox&lt;/a&gt;&lt;/li&gt;&lt;/ul&gt;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91440" cy="2286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Formularios HTML5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validación nativa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nuevos tipos de &lt;input&gt; · validación sin JavaScript · teclados virtuales optimizados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Nuevos tipos de &lt;input&gt; de HTML5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ventajas: validación automática + interfaces especializadas + teclado móvil correcto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692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/ efecto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69280" cy="411480"/>
          </a:xfrm>
          <a:prstGeom prst="rect">
            <a:avLst/>
          </a:prstGeom>
          <a:solidFill>
            <a:srgbClr val="EAF3E0"/>
          </a:solidFill>
          <a:ln w="12700">
            <a:solidFill>
              <a:srgbClr val="EAF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x@y.z  + teclado con @ en móvil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numérico (use pattern)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5669280" cy="411480"/>
          </a:xfrm>
          <a:prstGeom prst="rect">
            <a:avLst/>
          </a:prstGeom>
          <a:solidFill>
            <a:srgbClr val="EAF3E0"/>
          </a:solidFill>
          <a:ln w="12700">
            <a:solidFill>
              <a:srgbClr val="EAF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completa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URL  + tecla .com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numérico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/ step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474720"/>
            <a:ext cx="5669280" cy="411480"/>
          </a:xfrm>
          <a:prstGeom prst="rect">
            <a:avLst/>
          </a:prstGeom>
          <a:solidFill>
            <a:srgbClr val="EAF3E0"/>
          </a:solidFill>
          <a:ln w="12700">
            <a:solidFill>
              <a:srgbClr val="EAF3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deslizante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 (visual, sin teclado)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886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nativo del navegador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1417320"/>
            <a:ext cx="56692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9264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/ efecto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1828800"/>
            <a:ext cx="5669280" cy="411480"/>
          </a:xfrm>
          <a:prstGeom prst="rect">
            <a:avLst/>
          </a:prstGeom>
          <a:solidFill>
            <a:srgbClr val="EAF3E0"/>
          </a:solidFill>
          <a:ln w="12700">
            <a:solidFill>
              <a:srgbClr val="EAF3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92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horario nativo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datetime-local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local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9264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+ reloj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2651760"/>
            <a:ext cx="5669280" cy="411480"/>
          </a:xfrm>
          <a:prstGeom prst="rect">
            <a:avLst/>
          </a:prstGeom>
          <a:solidFill>
            <a:srgbClr val="EAF3E0"/>
          </a:solidFill>
          <a:ln w="12700">
            <a:solidFill>
              <a:srgbClr val="EAF3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2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y mes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9264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específico de mes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5508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5528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del año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926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específico de semana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63640" y="3474720"/>
            <a:ext cx="5669280" cy="411480"/>
          </a:xfrm>
          <a:prstGeom prst="rect">
            <a:avLst/>
          </a:prstGeom>
          <a:solidFill>
            <a:srgbClr val="EAF3E0"/>
          </a:solidFill>
          <a:ln w="12700">
            <a:solidFill>
              <a:srgbClr val="EAF3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95528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hexadecimal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69264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del sistema operativo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55080" y="3886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5528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69264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Cosmético: botón ✕ para borrar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nativa: atributos clave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= usabilidad, NO seguridad. El servidor debe revalidar SIEMPRE.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669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109728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no puede quedar vacío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669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63040"/>
            <a:ext cx="10972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pattern="[0-9]{10}"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que el valor debe cumplir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5669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51760"/>
            <a:ext cx="109728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min="0" max="100"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numérico o de fechas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651760"/>
            <a:ext cx="5669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651760"/>
            <a:ext cx="10972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minlength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minlength="8"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383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caracteres exigidos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5669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840480"/>
            <a:ext cx="109728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maxlength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4297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maxlength="80"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caracteres permitidos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840480"/>
            <a:ext cx="5669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840480"/>
            <a:ext cx="10972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2240" y="4297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step="0.01"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4572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 de un número o fecha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029200"/>
            <a:ext cx="5669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029200"/>
            <a:ext cx="109728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" y="5486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autocomplete="email"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valores guardados por el navegador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5029200"/>
            <a:ext cx="5669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5029200"/>
            <a:ext cx="10972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92240" y="5486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placeholder="ej: jdoe@..."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visible cuando el campo está vacío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formulario de inscripción UTEQ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sola línea de JavaScript: validaciones del lado cliente listas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0" cy="4937760"/>
          </a:xfrm>
          <a:prstGeom prst="rect">
            <a:avLst/>
          </a:prstGeom>
          <a:solidFill>
            <a:srgbClr val="1E2D24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583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action="/api/inscripcion" method="POST"&gt;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&lt;legend&gt;Datos personales&lt;/legend&gt;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for="cedula"&gt;Cédula:&lt;/label&gt;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id="cedula" name="cedula"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type="text" pattern="[0-9]{10}"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required&gt;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for="email"&gt;Email:&lt;/label&gt;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id="email" name="email"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type="email"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pattern=".+@uteq\.edu\.ec" required&gt;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for="fnac"&gt;Nacimiento:&lt;/label&gt;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id="fnac" name="fnac"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type="date"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min="1980-01-01" max="2010-12-31"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required&gt;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for="prom"&gt;Promedio:&lt;/label&gt;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id="prom" name="prom"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type="number"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min="6.0" max="10.0" step="0.01"&gt;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type="submit"&gt;Inscribirme&lt;/button&gt;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297680" cy="493776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valida solo: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0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 con 10 dígitos exactos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 dominio @uteq.edu.ec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0100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en rango 1980-2010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010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entre 6.0 y 10.0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0100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required no vacíos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4206240"/>
            <a:ext cx="393192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Recuerde: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46634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puede ser manipulado.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validación debe duplicarse en el servidor (semanas 5–9).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91440" cy="2286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Multimedia y APIs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nativas de HTML5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abierto que reemplazó a Flash y Silverlight en 2020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5 APIs nativas que cambiaron la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necesitabas plugins propietarios.  Ahora: vienen integrados en todo navegador.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 y &lt;audio&gt;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multimedia nativa, con controles, subtítulos (&lt;track&gt;) y múltiples formatos.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9728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60320"/>
            <a:ext cx="594360" cy="5943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544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&lt;canvas&gt;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2834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 para gráficos 2D y 3D (con WebGL).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Juegos, visualizaciones, gráficos interactivos.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9728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2044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⌖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Geolocation API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3794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la ubicación geográfica del usuario, previo consentimiento explícito.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9728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80560"/>
            <a:ext cx="594360" cy="5943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80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5448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Storage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4754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y sessionStorage para guardar datos del lado cliente (5–10 MB).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109728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4068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⇲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55448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Drag-and-Drop API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54480" y="5715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y soltar elementos entre componentes de la página, nativamente.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&lt;video&gt; con accesibilidad completa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1.2.2 (subtítulos) y 1.2.5 (audiodescripciones) son exigibles legalmente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132320" cy="4937760"/>
          </a:xfrm>
          <a:prstGeom prst="rect">
            <a:avLst/>
          </a:prstGeom>
          <a:solidFill>
            <a:srgbClr val="1E2D24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&lt;figure&gt;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&lt;video controls width="640"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preload="metadata"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poster="poster-uteq.jpg"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crossorigin="anonymous"&gt;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WebM primero (Chrome/Firefox)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&lt;source src="bienvenida.webm"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type="video/webm"&gt;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MP4 fallback (Safari/Edge)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&lt;source src="bienvenida.mp4"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type="video/mp4"&gt;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Subtítulos para usuarios sordos --&gt;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&lt;track kind="captions"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src="bienvenida.es.vtt"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srclang="es" default&gt;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Audiodescripciones para usuarios ciegos --&gt;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&lt;track kind="descriptions"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src="bienvenida.desc.vtt"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srclang="es"&gt;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&lt;/video&gt;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&lt;figcaption&gt;Video de bienvenida UTEQ.&lt;/figcaption&gt;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&lt;/figure&gt;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463040"/>
            <a:ext cx="4023360" cy="493776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críticos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reproductor nativo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preload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| metadata | auto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previa a reproducir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autoplay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está muted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552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en bucle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Silenciado por defecto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4434840"/>
            <a:ext cx="365760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&lt;track&gt; kind=...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0" y="49377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captions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sordos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subtitles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traducción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descriptions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ciegos
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chapters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marcadores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 del cliente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navegador guarda datos: cuándo elegir cada mecanismo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945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1463040"/>
            <a:ext cx="36576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164592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1000" y="1463040"/>
            <a:ext cx="347472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219456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20240"/>
            <a:ext cx="9144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1920240"/>
            <a:ext cx="365760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920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envían al servidor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920240"/>
            <a:ext cx="164592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920240"/>
            <a:ext cx="347472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920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document.cookie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60604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606040"/>
            <a:ext cx="9144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06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97480" y="2606040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2606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strings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2606040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01000" y="260604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síncrona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291840"/>
            <a:ext cx="219456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291840"/>
            <a:ext cx="9144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sessionStorage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97480" y="3291840"/>
            <a:ext cx="365760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3291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dura mientras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pestaña esté abierta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3291840"/>
            <a:ext cx="164592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01000" y="3291840"/>
            <a:ext cx="347472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síncrona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397764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977640"/>
            <a:ext cx="9144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977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IndexedDB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97480" y="3977640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transaccional, objetos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3977640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977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01000" y="397764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9244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asíncrona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4663440"/>
            <a:ext cx="219456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4663440"/>
            <a:ext cx="9144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663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API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97480" y="4663440"/>
            <a:ext cx="365760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88920" y="46634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 Workers)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55080" y="4663440"/>
            <a:ext cx="164592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4663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01000" y="4663440"/>
            <a:ext cx="3474720" cy="685800"/>
          </a:xfrm>
          <a:prstGeom prst="rect">
            <a:avLst/>
          </a:prstGeom>
          <a:solidFill>
            <a:srgbClr val="EAF3E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92440" y="4663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asíncrona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2920" y="5486400"/>
            <a:ext cx="10972800" cy="868680"/>
          </a:xfrm>
          <a:prstGeom prst="rect">
            <a:avLst/>
          </a:prstGeom>
          <a:solidFill>
            <a:srgbClr val="FDF4E3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" y="5532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REGLA DE ORO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veremos en semana 10):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guarde tokens JWT en localStorage.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ataque XSS puede leerlos.  La solución correcta: cookie </a:t>
            </a:r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 + Secure + SameSite=Strict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y su lugar en el ecosistema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sigue vivo XML hoy — y dónde fue reemplazado por JSON, YAML o TOML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Dialectos XML que siguen vivos: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57600" cy="77724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vectoriales: iconos, diagramas, ilustraciones que escalan.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657600" cy="77724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XHTML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reformulado como XML estricto (correos, sistemas legados).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2011680"/>
            <a:ext cx="3657600" cy="77724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66760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matemática para sitios académicos.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RSS / Atom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Sindicación de contenido entre sitios y agregadores.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926080"/>
            <a:ext cx="3657600" cy="77724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web XML (lo veremos en semana 15).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2926080"/>
            <a:ext cx="3657600" cy="77724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XSLT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XML hacia otros formatos.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10972800" cy="77724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886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XSLT  +  XAML  +  DocBook  ·  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usos especializados (transformaciones, interfaces WPF, documentación técnica) que persisten en industrias específicas.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solidFill>
            <a:srgbClr val="0F2419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86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Moraleja para el desarrollador 2026: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no murió — se especializó. 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ganó las APIs REST y la web,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ganó la configuración DevOps (Docker, Kubernetes), TOML ganó Cargo y pyproject. Pero XML sigue dominando: SVG, SOAP, Maven, AndroidManifest y formatos de oficina.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vs JSON vs YAML — el mismo dato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representar exactamente la misma información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2044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520440" cy="3291840"/>
          </a:xfrm>
          <a:prstGeom prst="rect">
            <a:avLst/>
          </a:prstGeom>
          <a:solidFill>
            <a:srgbClr val="1E2D24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5740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&lt;estudiante&gt;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&lt;cedula&gt;0950123456&lt;/cedula&gt;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&lt;nombre&gt;Ana Pérez&lt;/nombre&gt;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&lt;carrera&gt;SW&lt;/carrera&gt;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&lt;activo&gt;true&lt;/activo&gt;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&lt;materias&gt;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&lt;m&gt;WEB&lt;/m&gt;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&lt;m&gt;BD&lt;/m&gt;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&lt;/materias&gt;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&lt;/estudiante&gt;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5349240"/>
            <a:ext cx="3520440" cy="9144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394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· Maven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52044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463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34840" y="1965960"/>
            <a:ext cx="3520440" cy="3291840"/>
          </a:xfrm>
          <a:prstGeom prst="rect">
            <a:avLst/>
          </a:prstGeom>
          <a:solidFill>
            <a:srgbClr val="1E2D24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5740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"cedula": "0950123456",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"Ana Pérez",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"carrera": "SW",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"activo":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"materias":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"WEB",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5349240"/>
            <a:ext cx="3520440" cy="9144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5394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5669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· NoSQL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0" y="1463040"/>
            <a:ext cx="352044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463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366760" y="1965960"/>
            <a:ext cx="3520440" cy="3291840"/>
          </a:xfrm>
          <a:prstGeom prst="rect">
            <a:avLst/>
          </a:prstGeom>
          <a:solidFill>
            <a:srgbClr val="1E2D24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05740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cedula: 0950123456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nombre: "Ana Pérez"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carrera: SW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activo: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materias: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WEB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BD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comentarios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66760" y="5349240"/>
            <a:ext cx="3520440" cy="9144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5394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5669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buenas prácticas profesionales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oro del HTML profesional — verificadas antes de cada commit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&lt;!DOCTYPE html&gt; en la primera línea.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1728" y="16459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15087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 charset='UTF-8'&gt; dentro de los primeros 1024 bytes.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146304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13648" y="16459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5440" y="15087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 viewport&gt; en toda página mobile-friendly.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432304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615184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247802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todas las etiquetas, incluso las opcionales.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432304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615184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47802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dobles consistentes en los atributos.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2432304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13648" y="2615184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13648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35440" y="247802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abuses de &lt;div&gt;: usa elementos semánticos.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401568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584448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344728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booleanos sin valor (required, disabled).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401568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3584448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344728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SIEMPRE con alt descriptivo.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3401568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13648" y="3584448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13648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35440" y="344728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con width y height (evitan layout shift).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4370832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" y="4553712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371600" y="44165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loading='lazy' en imágenes below the fold.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4370832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81728" y="4553712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03520" y="44165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&lt;label&gt; asociado a cada &lt;input&gt; por for/id.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3920" y="4370832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13648" y="4553712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35440" y="44165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con valores estándares.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" y="5340096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9808" y="5522976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5522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371600" y="538581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h1→h2→h3 sin saltos.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5340096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81728" y="5522976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81728" y="5522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303520" y="538581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validator.w3.org/nu/ antes de commit.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503920" y="5340096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13648" y="5522976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13648" y="5522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235440" y="538581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CSS inline (excepto en correos electrónicos).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práctica en clase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formulario de inscripción UTEQ paso a paso (60 minutos)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1719072"/>
            <a:ext cx="86868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7190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55448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14600" y="19019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proyecto appweb-formularios en IntelliJ. Archivo registro.html con la plantilla mínima de HTML5.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10972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8760" y="2679192"/>
            <a:ext cx="86868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6791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51460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286207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&lt;form&gt; con &lt;fieldset&gt; y &lt;legend&gt;. Cuatro inputs: cédula, email, fecha, promedio.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0972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08760" y="3639312"/>
            <a:ext cx="86868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36393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34747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514600" y="382219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pattern, min, max, step, required. Probar enviando el formulario vacío.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10972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08760" y="4599432"/>
            <a:ext cx="86868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45994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14600" y="443484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514600" y="478231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DevTools, modo dispositivo móvil. Tocar cada campo y verificar el teclado virtual.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303520"/>
            <a:ext cx="10972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54864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08760" y="5559552"/>
            <a:ext cx="86868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55595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14600" y="53949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514600" y="574243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 validator.w3.org/nu/. Cero errores. Auditar con axe DevTools.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 autónoma · Ejercicio 2.2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profesional accesible — entrega individual por GitHub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0972800" cy="914400"/>
          </a:xfrm>
          <a:prstGeom prst="rect">
            <a:avLst/>
          </a:prstGeom>
          <a:solidFill>
            <a:srgbClr val="0F2419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portafolio.html que demuestre dominio integral de HTML5 semántico, validación, multimedia y accesibilidad.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obligatorios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5486400" cy="6858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20040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semántica completa: &lt;header&gt;, &lt;nav&gt;, &lt;main&gt;, &lt;article&gt; (mínimo 3), &lt;aside&gt;, &lt;footer&gt;.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3017520"/>
            <a:ext cx="5486400" cy="6858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20040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30632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&lt;figure&gt;+&lt;figcaption&gt; con &lt;picture&gt; sirviendo múltiples resoluciones.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5486400" cy="6858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97764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&lt;video&gt; con al menos un &lt;track kind="captions"&gt; (incluir el archivo .vtt).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486400" cy="6858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97764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8404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 con 6 tipos distintos: text, email, tel, date, number, url.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572000"/>
            <a:ext cx="5486400" cy="6858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75488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6177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&lt;details&gt;+&lt;summary&gt; para una sección de FAQ.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572000"/>
            <a:ext cx="5486400" cy="68580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75488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46177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&lt;table&gt; con &lt;caption&gt;, &lt;thead&gt;, &lt;tbody&gt; y &lt;th scope&gt;.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440680"/>
            <a:ext cx="10972800" cy="914400"/>
          </a:xfrm>
          <a:prstGeom prst="rect">
            <a:avLst/>
          </a:prstGeom>
          <a:solidFill>
            <a:srgbClr val="FDF4E3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486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errores en W3C Validator  ·  cero violaciones críticas en axe DevTools  ·  navegación 100% por teclado.
</a:t>
            </a:r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HTML + screenshots de ambos validadores, en repositorio Git.
</a:t>
            </a:r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límite: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sesión de la semana 03  ·  Ponderación: TA02 (5%).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validación profesional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puertas que todo HTML profesional debe pasar antes de un commit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137160" cy="150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Markup Validator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9164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validator.w3.org/nu/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16002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tu HTML cumpla la especificación oficial. Detecta: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Etiquetas no cerradas o anidadas 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Atributos inválidos o duplicados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IDs repetidos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DOCTYPE incorrecto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111556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090672"/>
            <a:ext cx="137160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502152"/>
            <a:ext cx="685800" cy="6858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021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3227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DevTools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91640" y="3593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/ Firefox extension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3227832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accesibilidad WCAG 2.1. Detecta: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Imágenes sin alt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Contrastes insuficientes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Formularios sin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Jerarquías de heading rotas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718304"/>
            <a:ext cx="111556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18304"/>
            <a:ext cx="137160" cy="1508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129784"/>
            <a:ext cx="685800" cy="6858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297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48554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91640" y="5221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DevTools (F12)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60920" y="4855464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integral del sitio. Mide: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Accesibilidad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practices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 — qué evitar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penalizamos en los entregables de prácticas anteriores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solidFill>
            <a:srgbClr val="FDF4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&lt;section&gt; sin &lt;h2&gt;...&lt;h6&gt; dentro.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usar &lt;div&gt; o agregar el encabezado.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&lt;main&gt; en una sola página.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1965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solo uno por documento.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11155680" cy="502920"/>
          </a:xfrm>
          <a:prstGeom prst="rect">
            <a:avLst/>
          </a:prstGeom>
          <a:solidFill>
            <a:srgbClr val="FDF4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0604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14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sin atributo alt.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siempre alt descriptivo o alt="" si es decorativa.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063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&lt;input&gt; sin &lt;label for="id"&gt;.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 lectores de pantalla no podrán anunciarlo.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611880"/>
            <a:ext cx="11155680" cy="502920"/>
          </a:xfrm>
          <a:prstGeom prst="rect">
            <a:avLst/>
          </a:prstGeom>
          <a:solidFill>
            <a:srgbClr val="FDF4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611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Saltos de jerarquía: h1 → h3.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respetar la secuencia h1 → h2 → h3.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25196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160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&lt;br&gt; para crear espacios entre párrafos.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usar margin/padding de CSS.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709160"/>
            <a:ext cx="11155680" cy="502920"/>
          </a:xfrm>
          <a:prstGeom prst="rect">
            <a:avLst/>
          </a:prstGeom>
          <a:solidFill>
            <a:srgbClr val="FDF4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80060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" y="4709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elementos con el mismo id="...".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 IDs son únicos por documento.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525780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534924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5257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para maquetar el layout.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5257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usar Flexbox o Grid (semana 3).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solidFill>
            <a:srgbClr val="FDF4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5897880"/>
            <a:ext cx="320040" cy="320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897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97280" y="5806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solo en el cliente con HTML5.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40880" y="5806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revalidar siempre en el servidor.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Mini-quiz de cierre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¿Estás listo para la sesión de la próxima semana?  Responde mentalmente.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etiqueta uso para un comentario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foro publicable en RSS?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512064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459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&lt;meta charset="UTF-8"&gt; debe ir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primeros 1024 bytes?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331720"/>
            <a:ext cx="512064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2377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 corromper las tildes y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ñ durante el parsing.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486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&lt;main&gt; puede haber por página?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886200"/>
            <a:ext cx="512064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uno.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108960"/>
            <a:ext cx="5486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200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pattern="[0-9]{10}"?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3886200"/>
            <a:ext cx="512064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00800" y="3931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que el valor sean 10 dígitos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exactos (ej: cédula ecuatoriana).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5486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548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NO debo guardar un JWT?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440680"/>
            <a:ext cx="512064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40080" y="5486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localStorage: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XSS lo roba.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663440"/>
            <a:ext cx="5486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7548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uso &lt;section&gt; en lugar de &lt;div&gt;?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5440680"/>
            <a:ext cx="512064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0" y="5486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agrupo contenido temático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encabezado.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y recursos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previa a la próxima sesión y referencias para el portafolio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86400" cy="4754880"/>
          </a:xfrm>
          <a:prstGeom prst="rect">
            <a:avLst/>
          </a:prstGeom>
          <a:solidFill>
            <a:srgbClr val="EAF3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recomendados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Robbins, J. N. (2018).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Web Design (5ª ed.). O'Reilly.
</a:t>
            </a:r>
            <a:pPr indent="0" marL="0"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Duckett, J. (2014).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CSS: Design and Build Web Sites. Wiley.
</a:t>
            </a:r>
            <a:pPr indent="0" marL="0"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Lawson, B. &amp; Sharp, R. (2011).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HTML5 (2ª ed.). New Riders.
</a:t>
            </a:r>
            <a:pPr indent="0" marL="0"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Nixon, R. (2021).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PHP, MySQL &amp; JavaScript (6ª ed.). O'Reilly.
</a:t>
            </a:r>
            <a:pPr indent="0" marL="0"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Hickson, I. &amp; Berjon, R. (2014).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Recommendation. W3C.
</a:t>
            </a:r>
            <a:pPr indent="0" marL="0">
              <a:buNone/>
            </a:pPr>
            <a:r>
              <a:rPr lang="en-US" sz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WHATWG (vigente).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Living Standard.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4754880"/>
          </a:xfrm>
          <a:prstGeom prst="rect">
            <a:avLst/>
          </a:prstGeom>
          <a:solidFill>
            <a:srgbClr val="0F2419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en línea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developer.mozilla.org/es/docs/Web/HTML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validator.w3.org/nu/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DevTools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deque.com/axe/devtools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Quick Ref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w3.org/WAI/WCAG21/quickref/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Living Standard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html.spec.whatwg.org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caniuse.com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Doctor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5074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html5doctor.com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WebAIM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5577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webaim.org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91440" cy="3200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la próxima semana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03 — CSS para el diseño y presentación web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36576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0332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llevas hoy: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Construir HTML5 estructuralmente correcto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Aplicar semántica de header / nav / main / article / section / aside / footer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Diseñar formularios con validación nativa sin JS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Integrar multimedia accesible (subtítulos, audiodescripciones)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Conocer el lugar de XML y las alternativas modernas (JSON, YAML)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 ·  Quinto período  ·  UTEQ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Universidad Técnica Estatal de Quevedo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02 - HTML y HTML5</dc:title>
  <dc:subject>PptxGenJS Presentation</dc:subject>
  <dc:creator>UTEQ - Aplicaciones Web</dc:creator>
  <cp:lastModifiedBy>UTEQ - Aplicaciones Web</cp:lastModifiedBy>
  <cp:revision>1</cp:revision>
  <dcterms:created xsi:type="dcterms:W3CDTF">2026-05-11T11:34:09Z</dcterms:created>
  <dcterms:modified xsi:type="dcterms:W3CDTF">2026-05-11T11:34:09Z</dcterms:modified>
</cp:coreProperties>
</file>