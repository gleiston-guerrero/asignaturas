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648" y="6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21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con todos. En la sesión de hoy estudiaremos las arquitecturas distribuidas, pero desde una perspectiva muy concreta: el punto de vista del software, es decir, cómo organizamos el código, los componentes y sus comunicaciones para construir una aplicación distribuida. No hablaremos del hardware ni de la red física, sino de las decisiones de diseño que ustedes, como ingenieros de software, deberán tomar en sus proyectos. Esta sesión corresponde a la Unidad tres de la asignatura Aplicaciones Distribuidas, y es la base conceptual directa del Proyecto Fin de Curso, en particular de su segunda entrega. Al final de la clase, ustedes deberán ser capaces de nombrar los estilos arquitectónicos principales, compararlos con criterio técnico y justificar cuál aplicarán en su propio proyecto.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Leo primero el resultado de aprendizaje oficial de la unidad: aplicar arquitecturas y patrones de diseño distribuido, como los microservicios, las interfaces de programación de aplicaciones bajo el estilo de Transferencia de Estado Representacional, la mensajería asíncrona y la arquitectura en capas, para construir sistemas escalables, disponibles y seguros. La ruta de hoy tiene seis estaciones. Primero definiremos qué entendemos por arquitectura de software en un sistema distribuido. Después recorreremos cronológicamente los estilos arquitectónicos: cliente–servidor, capas, monolito, la Arquitectura Orientada a Servicios y los microservicios. Luego veremos la arquitectura orientada a eventos, los patrones de diseño más usados en la industria, los atributos de calidad que justifican cada decisión, y cerraremos conectando todo con el Proyecto Fin de Curso de cada equipo. Esta sesión es la preparación directa del taller de diseño de contratos y de la práctica de microservicios con contenedores.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Comencemos por la definición. La arquitectura de software de un sistema distribuido es el conjunto de decisiones estructurales sobre el software: qué componentes existen, qué responsabilidad tiene cada componente, y mediante qué conectores o mecanismos se comunican entre sí. Es fundamental distinguir dos vistas complementarias. La vista física, propia del sistema, describe los nodos, las computadoras, las redes y los protocolos de transporte; responde a la pregunta de dónde se ejecuta cada parte. La vista lógica, propia del software, describe los componentes, los servicios, los contratos y las interfaces; responde a la pregunta de cómo se organiza y se comunica el código. En esta sesión trabajamos exclusivamente la vista lógica. Quiero que retengan esta idea: un mismo software puede desplegarse en una sola máquina o en cien máquinas sin que cambie su arquitectura lógica. Por eso decimos que estudiamos las arquitecturas distribuidas desde el punto de vista del software.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estilo, y el más antiguo, es el cliente–servidor. Observen el diagrama: hay dos roles asimétricos. El cliente es quien inicia la conversación enviando una petición; el servidor escucha permanentemente, procesa la solicitud y devuelve una respuesta. Este estilo es la base de toda la web a través del Protocolo de Transferencia de Hipertexto, conocido por sus siglas en inglés como HTTP, y también es la base de cualquier interfaz de programación de aplicaciones, en inglés Application Programming Interface, abreviada API. Su fortaleza es que centraliza los datos y la lógica en un solo lugar, lo que lo hace simple de razonar y de asegurar. Su limitación es la contracara de esa fortaleza: el servidor concentra toda la carga de trabajo y, si no se replica, constituye un punto único de fallo; si ese servidor cae, el sistema completo deja de funcionar. Los estilos que veremos a continuación son, en buena medida, respuestas a esa limitación.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estilo es la arquitectura en capas. El software se organiza en niveles horizontales de responsabilidad: la capa de presentación, que es la interfaz con el usuario; la capa de lógica de negocio, donde viven las reglas y validaciones de la aplicación; la capa de acceso a datos, que traduce entre los objetos del programa y las consultas a la base; y finalmente la capa de datos, que es la base de datos propiamente dicha. La regla de oro de este estilo es que cada capa solo conversa con su capa adyacente: la presentación nunca consulta directamente la base de datos. Así el acoplamiento queda controlado y cada capa puede sustituirse sin afectar a las demás. Cuando cada capa se despliega además en una máquina distinta, hablamos de niveles físicos, en inglés tiers: arquitecturas de dos, tres o ene niveles; ahí es donde este estilo se vuelve distribuido. Y un dato importante: este estilo no es historia antigua. Sigue completamente vigente dentro de cada microservicio moderno: el controlador, el servicio y el repositorio que ustedes programan en Spring Boot son, exactamente, capas.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tercer estilo es el monolito: toda la aplicación, con todos sus módulos, se construye, se empaqueta y se despliega como una sola unidad ejecutable, normalmente sobre una sola base de datos. Quiero ser muy claro: el monolito no es un error ni un anti patrón. Tiene ventajas reales: simplicidad inicial, porque hay un solo proyecto y un solo despliegue; transacciones locales con consistencia inmediata; depuración y pruebas de extremo a extremo sencillas, porque todo corre en un mismo proceso; y latencia mínima, porque los módulos se llaman en memoria, no por la red. Sus desventajas aparecen con el crecimiento. El escalado es en bloque: si solo el módulo de reportes está saturado, hay que replicar la aplicación completa. El acoplamiento crece con el tamaño del equipo, y cada despliegue se vuelve riesgoso porque cualquier cambio, por pequeño que sea, publica todo el sistema. Además existe una atadura tecnológica: todo el sistema queda en un solo lenguaje y una sola versión de plataforma. Existe un punto intermedio muy recomendable llamado monolito modular: un solo despliegue, pero con fronteras internas estrictas entre módulos; es el mejor punto de partida para la mayoría de los proyectos nuevos.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cuarto estilo es la Arquitectura Orientada a Servicios, conocida por sus siglas en inglés como SOA, de Service Oriented Architecture. Surgió en las grandes empresas para resolver un problema concreto: integrar decenas de aplicaciones que no se conocían entre sí. Su idea central es exponer las capacidades de negocio, como clientes, facturación o inventario, en forma de servicios reutilizables con contratos formales. La integración se realiza a través de un componente central llamado Bus de Servicios Empresariales, en inglés Enterprise Service Bus, abreviado ESB, que enruta los mensajes entre servicios, transforma formatos y orquesta procesos completos. Observen el diagrama: todos los servicios y aplicaciones conversan únicamente a través del bus. Esa centralización fue su fortaleza y también su debilidad histórica: con el tiempo, el bus acumula lógica de negocio, se convierte en un cuello de botella de rendimiento y en un punto único de fallo, y cualquier cambio requiere coordinarse con el equipo dueño del bus. Los microservicios, que veremos a continuación, heredan de SOA la idea de servicio con contrato, pero eliminan deliberadamente ese bus inteligente central.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Llegamos al quinto estilo, el protagonista de esta unidad: los microservicios. Sam Newman los define como servicios pequeños y autónomos que trabajan juntos, modelados alrededor de un dominio de negocio. Seis principios los caracterizan. Primero, cada servicio modela una capacidad de negocio completa: pagos, catálogo, envíos; no se dividen por capas técnicas sino por funciones del negocio. Segundo, el despliegue es independiente: puedo publicar una nueva versión del servicio de pagos sin tocar ni detener a los demás; esta es la prueba de fuego de una verdadera arquitectura de microservicios. Tercero, los datos están descentralizados: cada servicio es dueño exclusivo de su base de datos, y ningún otro servicio puede leerla directamente; este principio se conoce como una base de datos por servicio. Cuarto, la comunicación es ligera: contratos sobre el estilo de Transferencia de Estado Representacional o mensajería asíncrona; la inteligencia vive en los servicios, no en un bus central. Quinto, equipos pequeños: un mismo equipo construye y opera su servicio de punta a punta. Y sexto, tolerancia a fallos por diseño: si un servicio cae, el fallo se aísla y el sistema se degrada parcialmente en lugar de morir por completo.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sintetiza los tres estilos que dominan la conversación en la industria. Recorrámosla por criterios. En unidad de despliegue: el monolito es una sola aplicación; la Arquitectura Orientada a Servicios usa servicios grandes integrados por un bus central; los microservicios son muchos servicios pequeños. En escalado: el monolito escala en bloque, todo o nada; los microservicios permiten un escalado fino, replicando únicamente el servicio saturado. En datos: el monolito comparte una base de datos única; los microservicios exigen una base por servicio, lo que da autonomía pero introduce el problema de la consistencia distribuida que estudiaremos con el patrón Saga. En tecnología: el monolito ata a un solo lenguaje; los microservicios permiten elegir la herramienta adecuada por servicio. En fallo parcial: en el monolito un error grave derriba todo; en microservicios el fallo se aísla. Y en complejidad operativa, sean honestos con esta fila: los microservicios son los más costosos de operar, porque añaden red, observabilidad y gestión de datos distribuidos. La conclusión que deben llevarse es que no hay un ganador universal: hay contextos, y la complejidad solo se paga cuando sus beneficios realmente se necesitan.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ahora, toda la comunicación que vimos es síncrona: pregunto y espero la respuesta. La arquitectura orientada a eventos, en inglés Event Driven Architecture, abreviada EDA, invierte ese modelo. Sigamos el diagrama. El productor, por ejemplo el servicio de pedidos, publica un evento, que es un hecho del negocio ya ocurrido: pedido creado. Lo publica en un intermediario de mensajes, llamado en inglés broker, como RabbitMQ o Apache Kafka, y continúa trabajando sin esperar respuesta de nadie; a eso lo llamamos desacoplamiento temporal. Los consumidores, como facturación y notificaciones, están suscritos al evento y reaccionan cada uno a su propio ritmo. Los beneficios son tres: el sistema absorbe picos de carga porque el intermediario hace de amortiguador; podemos agregar nuevos consumidores sin tocar una sola línea del productor; y el sistema tolera caídas temporales, porque los mensajes esperan en cola hasta que el consumidor se recupere. El costo es la consistencia eventual: durante un breve intervalo, distintas partes del sistema pueden ver datos diferentes; los datos convergen, pero no son idénticos en todo instante. Diseñar asumiendo esa realidad es parte del oficio del ingeniero de software distribuido.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los patrones que hacen viable a una arquitectura de microservicios. El primero es la puerta de enlace de interfaces de programación de aplicaciones, conocida en inglés como API Gateway. El problema que resuelve es este: si los clientes web y móviles tuvieran que conocer la dirección de cada microservicio, cualquier cambio interno los rompería, y cada servicio tendría que repetir la autenticación. La solución es un punto único de entrada. Observen el diagrama, que es exactamente la arquitectura de su práctica de la unidad: los clientes solo conocen a la puerta de enlace, implementada con Nginx, y esta enruta cada petición según su ruta hacia el servicio de autenticación, el servicio de recursos o el servicio de notificaciones. Sus responsabilidades típicas son cinco: ser el punto único de entrada, enrutar por ruta, verificar el token de seguridad antes de dejar pasar la petición, limitar la cantidad de peticiones por minuto para protegerse de abusos, y centralizar el registro de accesos. Una advertencia final: la puerta de enlace debe mantenerse delgada. Si empezamos a meterle lógica de negocio, recreamos el problema del bus inteligente de la Arquitectura Orientada a Servicios, con su cuello de botella y su punto único de fallo.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Descentralizar los datos crea problemas nuevos, y estos tres patrones son las soluciones canónicas. El primero es una base de datos por servicio, en inglés Database per Service: cada microservicio es dueño exclusivo de sus datos y ningún otro servicio puede consultarlos directamente; si necesita información ajena, la pide por el contrato del servicio dueño. Esto garantiza autonomía real, pero tiene una consecuencia fuerte: desaparecen las uniones de tablas, las operaciones JOIN, entre servicios. El segundo es la Segregación de Responsabilidad entre Comandos y Consultas, conocida por sus siglas en inglés CQRS, de Command Query Responsibility Segregation: se mantiene un modelo de datos optimizado para escribir y otro distinto, frecuentemente desnormalizado, optimizado para leer. Es útil cuando las lecturas superan masivamente a las escrituras; su costo es mantener ambos modelos sincronizados, normalmente mediante eventos. El tercero es el patrón Saga: como ya no existe la transacción global entre bases independientes, una operación de negocio que cruza varios servicios se modela como una secuencia de transacciones locales; si un paso falla, se ejecutan compensaciones que deshacen los pasos anteriores. Es la respuesta del mundo distribuido a la pregunta: ¿y si algo falla a mitad de camino?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arquitectura distribuida se define tanto por sus componentes como por sus conectores. Comparemos los tres mecanismos de comunicación dominantes. El primero es el estilo de Transferencia de Estado Representacional, en inglés Representational State Transfer, abreviado REST: comunicación síncrona, orientada a recursos, sobre el Protocolo de Transferencia de Hipertexto, con formato de texto legible en Notación de Objetos de JavaScript, conocida como JSON, y contrato documentado en OpenAPI tres punto cero, exactamente lo que ustedes harán en el taller. El segundo es gRPC, una tecnología de llamada a procedimiento remoto creada por Google: también síncrona, pero orientada a funciones, sobre la versión dos del protocolo de hipertexto, con formato binario compacto llamado Protocol Buffers y contrato en archivos punto proto; brilla en la comunicación interna de alta frecuencia entre servicios. El tercero es la mensajería asíncrona a través de un intermediario: el acoplamiento temporal desaparece, porque el emisor y el receptor no necesitan estar vivos al mismo tiempo. La regla práctica de la industria es: estilo REST hacia afuera, para la interfaz pública; gRPC o mensajería hacia adentro; y eventos para todo aquello que pueda esperar unos segundos.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elegir una arquitectura y no otra? La respuesta correcta nunca es la moda: son los atributos de calidad, los requisitos no funcionales que el estándar internacional ISO/IEC veinticinco mil diez, de la Organización Internacional de Normalización y la Comisión Electrotécnica Internacional, organiza y define. Cuatro dominan las decisiones distribuidas. Primero, la escalabilidad: la capacidad del sistema de crecer ante la demanda. El escalado vertical consiste en comprar una máquina más grande; el horizontal, en añadir más réplicas. Los microservicios habilitan el escalado horizontal fino, réplica por servicio. Segundo, la disponibilidad: el porcentaje del tiempo en que el sistema está operativo. Se conquista con redundancia: varias réplicas detrás de un balanceador de carga y la eliminación de todo punto único de fallo. Tercero, la tolerancia a fallos: que el sistema continúe funcionando, aunque degradado, ante fallos parciales. Sus herramientas son los tiempos de espera, los reintentos con retroceso y el patrón cortacircuitos, en inglés circuit breaker, que deja de llamar a un servicio enfermo para no arrastrar al resto. Y cuarto, la desplegabilidad: con qué frecuencia y con qué seguridad podemos publicar software. Despliegues pequeños, independientes y reversibles son el corazón de la entrega continua. Cada estilo que vimos hoy puntúa distinto en estos cuatro atributos: esa es la tabla mental con la que un arquitecto decide.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todos los estilos sobre la mesa, ¿cómo se elige? Propongo cuatro criterios honestos, en este orden. Primero, el tamaño y la madurez del equipo. Con pocos desarrolladores y un dominio de negocio todavía incierto, la respuesta sensata es un monolito modular; los microservicios brillan cuando existen varios equipos que necesitan autonomía real. Segundo, la frecuencia de despliegue. Pregúntense: ¿este sistema necesita publicar partes distintas varias veces al día, sin detener el resto? Solo si la respuesta es sí, el despliegue independiente justifica su costo. Tercero, las fronteras del dominio. Los servicios se cortan por capacidades de negocio bien delimitadas, siguiendo la disciplina del Diseño Guiado por el Dominio, en inglés Domain Driven Design; jamás se cortan por capas técnicas, porque un servicio de pantallas y un servicio de base de datos no son microservicios, son un monolito repartido. Y cuarto, la capacidad operativa del equipo: los microservicios exigen contenedores, observabilidad y automatización del despliegue; sin esa base, lo que se obtiene es un monolito distribuido, que combina lo peor de ambos mundos. Cierro con el consejo de Sam Newman, que será el criterio oficial de este curso: empiecen con un monolito modular y migren a microservicios cuando el dolor sea real y esté localizado.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lo visto hoy aterriza directamente en su Proyecto Fin de Curso. Observen el diagrama: es la arquitectura exacta de la Entrega dos. Los clientes, sean Postman o una aplicación web, solo conocen a la puerta de enlace implementada con Nginx en el puerto ocho mil ochenta: ahí está el patrón puerta de enlace. Detrás viven tres microservicios: el servicio de autenticación, que valida credenciales y emite el Token Web de JSON, en inglés JSON Web Token, abreviado JWT; el servicio de recursos, que implementa el recurso principal del dominio de cada equipo; y el servicio de notificaciones. Ahí está el estilo de microservicios cortados por capacidad de negocio. Cada servicio tiene su propia base de datos, que ningún otro servicio toca: ahí está el patrón de una base por servicio. La comunicación entre cliente y servicios usa el estilo de Transferencia de Estado Representacional con contratos OpenAPI tres punto cero, que ustedes diseñarán en el taller de esta unidad. Y todo el conjunto se levanta con Docker Compose, como practicamos en la guía correspondiente. Quiero que salgan de esta clase con esta conexión clara: no estamos estudiando teoría abstracta; estamos describiendo, pieza por pieza, el sistema que ustedes van a construir y defender.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cerrar, dejo en pantalla el glosario completo de las siglas usadas en la sesión, para que lo incorporen a sus apuntes y, sobre todo, a sus informes escritos, donde la rúbrica exige expandir toda sigla en su primer uso. Repasemos rápidamente: API es la Interfaz de Programación de Aplicaciones. REST es la Transferencia de Estado Representacional. HTTP es el Protocolo de Transferencia de Hipertexto. JSON es la Notación de Objetos de JavaScript. SOA es la Arquitectura Orientada a Servicios, y su pieza histórica central, el ESB, es el Bus de Servicios Empresariales. EDA es la Arquitectura Orientada a Eventos. CQRS es la Segregación de Responsabilidad entre Comandos y Consultas. JWT es el Token Web de JSON. gRPC es la tecnología de llamada a procedimiento remoto creada por Google. PFC es el Proyecto Fin de Curso. E ISO/IEC se refiere a la Organización Internacional de Normalización y la Comisión Electrotécnica Internacional, autoras del estándar veinticinco mil diez de calidad de software. Recomiendo fotografiar o copiar esta tabla: les servirá de lista de control al redactar el informe de la unidad.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seis referencias de la sesión, todas verificadas y citadas en norma del Instituto de Ingenieros Eléctricos y Electrónicos, conocida como norma IEEE, que es la exigida en todos los informes del curso. Para profundizar, recomiendo dos lecturas por encima de las demás: el libro de Sam Newman, Building Microservices en su segunda edición, que es la obra de referencia del estilo de microservicios; y el artículo de Blinowski y colegas publicado en la revista IEEE Access en dos mil veintidós, que compara cuantitativamente el rendimiento y la escalabilidad del monolito frente a los microservicios, con datos experimentales: es exactamente el tipo de evidencia empírica que espero ver citada en sus informes académicos individuales. Recuerden la regla del curso: toda referencia debe ser real y verificable, con su identificador de objeto digital cuando exista; una referencia inventada o que no corresponda al contenido citado se considera una falta de integridad académica.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Cerremos con la síntesis de la sesión en cinco ideas. Primera: la arquitectura de software distribuida es, ante todo, un conjunto de decisiones sobre componentes y conectores, independiente del hardware. Segunda: los estilos arquitectónicos evolucionaron del cliente–servidor a la arquitectura en capas, al monolito, a la Arquitectura Orientada a Servicios y finalmente a los microservicios; y cada salto no elimina el acoplamiento, sino que cambia el lugar donde vive. Tercera: los patrones que estudiamos, la puerta de enlace, una base de datos por servicio, la segregación de comandos y consultas, y el patrón Saga, son las herramientas que hacen operable la descentralización de los datos. Cuarta: la arquitectura se elige con atributos de calidad y con el contexto del equipo, nunca por moda. Y quinta: el Proyecto Fin de Curso de cada equipo implementa, pieza por pieza, exactamente esta arquitectura. La próxima actividad es el taller de diseño y documentación del contrato bajo el estilo de Transferencia de Estado Representacional con OpenAPI tres punto cero, para el cual ya tienen la guía resuelta paso a paso. Quedo atento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85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77240" y="777240"/>
            <a:ext cx="777240" cy="777240"/>
          </a:xfrm>
          <a:prstGeom prst="rect">
            <a:avLst/>
          </a:prstGeom>
        </p:spPr>
      </p:pic>
      <p:sp>
        <p:nvSpPr>
          <p:cNvPr id="3" name="Text 0"/>
          <p:cNvSpPr/>
          <p:nvPr/>
        </p:nvSpPr>
        <p:spPr>
          <a:xfrm>
            <a:off x="777240" y="1828800"/>
            <a:ext cx="10607040" cy="320040"/>
          </a:xfrm>
          <a:prstGeom prst="rect">
            <a:avLst/>
          </a:prstGeom>
          <a:noFill/>
          <a:ln/>
        </p:spPr>
        <p:txBody>
          <a:bodyPr wrap="square" lIns="0" tIns="0" rIns="0" bIns="0" rtlCol="0" anchor="ctr"/>
          <a:lstStyle/>
          <a:p>
            <a:pPr marL="0" indent="0">
              <a:buNone/>
            </a:pPr>
            <a:r>
              <a:rPr lang="en-US" sz="1300" b="1" kern="0" spc="200" dirty="0">
                <a:solidFill>
                  <a:srgbClr val="9FB4D4"/>
                </a:solidFill>
                <a:latin typeface="Calibri" pitchFamily="34" charset="0"/>
                <a:ea typeface="Calibri" pitchFamily="34" charset="-122"/>
                <a:cs typeface="Calibri" pitchFamily="34" charset="-120"/>
              </a:rPr>
              <a:t>UNIVERSIDAD TÉCNICA ESTATAL DE QUEVEDO</a:t>
            </a:r>
            <a:endParaRPr lang="en-US" sz="1300" dirty="0"/>
          </a:p>
        </p:txBody>
      </p:sp>
      <p:sp>
        <p:nvSpPr>
          <p:cNvPr id="4" name="Text 1"/>
          <p:cNvSpPr/>
          <p:nvPr/>
        </p:nvSpPr>
        <p:spPr>
          <a:xfrm>
            <a:off x="777240" y="2194560"/>
            <a:ext cx="10607040" cy="1737360"/>
          </a:xfrm>
          <a:prstGeom prst="rect">
            <a:avLst/>
          </a:prstGeom>
          <a:noFill/>
          <a:ln/>
        </p:spPr>
        <p:txBody>
          <a:bodyPr wrap="square" lIns="0" tIns="0" rIns="0" bIns="0" rtlCol="0" anchor="ctr"/>
          <a:lstStyle/>
          <a:p>
            <a:pPr marL="0" indent="0">
              <a:lnSpc>
                <a:spcPts val="4600"/>
              </a:lnSpc>
              <a:buNone/>
            </a:pPr>
            <a:r>
              <a:rPr lang="en-US" sz="4000" b="1" dirty="0">
                <a:solidFill>
                  <a:srgbClr val="FFFFFF"/>
                </a:solidFill>
                <a:latin typeface="Calibri" pitchFamily="34" charset="0"/>
                <a:ea typeface="Calibri" pitchFamily="34" charset="-122"/>
                <a:cs typeface="Calibri" pitchFamily="34" charset="-120"/>
              </a:rPr>
              <a:t>Arquitecturas Distribuidas</a:t>
            </a:r>
            <a:endParaRPr lang="en-US" sz="4000" dirty="0"/>
          </a:p>
          <a:p>
            <a:pPr marL="0" indent="0">
              <a:lnSpc>
                <a:spcPts val="4600"/>
              </a:lnSpc>
              <a:buNone/>
            </a:pPr>
            <a:r>
              <a:rPr lang="en-US" sz="4000" b="1" dirty="0">
                <a:solidFill>
                  <a:srgbClr val="FFFFFF"/>
                </a:solidFill>
                <a:latin typeface="Calibri" pitchFamily="34" charset="0"/>
                <a:ea typeface="Calibri" pitchFamily="34" charset="-122"/>
                <a:cs typeface="Calibri" pitchFamily="34" charset="-120"/>
              </a:rPr>
              <a:t>desde el punto de vista del Software</a:t>
            </a:r>
            <a:endParaRPr lang="en-US" sz="4000" dirty="0"/>
          </a:p>
        </p:txBody>
      </p:sp>
      <p:sp>
        <p:nvSpPr>
          <p:cNvPr id="5" name="Text 2"/>
          <p:cNvSpPr/>
          <p:nvPr/>
        </p:nvSpPr>
        <p:spPr>
          <a:xfrm>
            <a:off x="777240" y="4114800"/>
            <a:ext cx="10607040" cy="365760"/>
          </a:xfrm>
          <a:prstGeom prst="rect">
            <a:avLst/>
          </a:prstGeom>
          <a:noFill/>
          <a:ln/>
        </p:spPr>
        <p:txBody>
          <a:bodyPr wrap="square" lIns="0" tIns="0" rIns="0" bIns="0" rtlCol="0" anchor="ctr"/>
          <a:lstStyle/>
          <a:p>
            <a:pPr marL="0" indent="0">
              <a:buNone/>
            </a:pPr>
            <a:r>
              <a:rPr lang="en-US" sz="1500" dirty="0">
                <a:solidFill>
                  <a:srgbClr val="CFE0F4"/>
                </a:solidFill>
                <a:latin typeface="Calibri" pitchFamily="34" charset="0"/>
                <a:ea typeface="Calibri" pitchFamily="34" charset="-122"/>
                <a:cs typeface="Calibri" pitchFamily="34" charset="-120"/>
              </a:rPr>
              <a:t>Unidad 3 · Aplicaciones Distribuidas (ISR-701) · Séptimo Semestre · Ingeniería de Software</a:t>
            </a:r>
            <a:endParaRPr lang="en-US" sz="1500" dirty="0"/>
          </a:p>
        </p:txBody>
      </p:sp>
      <p:sp>
        <p:nvSpPr>
          <p:cNvPr id="6" name="Text 3"/>
          <p:cNvSpPr/>
          <p:nvPr/>
        </p:nvSpPr>
        <p:spPr>
          <a:xfrm>
            <a:off x="777240" y="6035040"/>
            <a:ext cx="10607040" cy="320040"/>
          </a:xfrm>
          <a:prstGeom prst="rect">
            <a:avLst/>
          </a:prstGeom>
          <a:noFill/>
          <a:ln/>
        </p:spPr>
        <p:txBody>
          <a:bodyPr wrap="square" lIns="0" tIns="0" rIns="0" bIns="0" rtlCol="0" anchor="ctr"/>
          <a:lstStyle/>
          <a:p>
            <a:pPr marL="0" indent="0">
              <a:buNone/>
            </a:pPr>
            <a:r>
              <a:rPr lang="en-US" sz="1100" dirty="0">
                <a:solidFill>
                  <a:srgbClr val="8FA6C8"/>
                </a:solidFill>
                <a:latin typeface="Calibri" pitchFamily="34" charset="0"/>
                <a:ea typeface="Calibri" pitchFamily="34" charset="-122"/>
                <a:cs typeface="Calibri" pitchFamily="34" charset="-120"/>
              </a:rPr>
              <a:t>Facultad de Ciencias de la Computación y Diseño Digital · Período Regular 2025–2026 SPA</a:t>
            </a:r>
            <a:endParaRPr lang="en-US" sz="1100" dirty="0"/>
          </a:p>
        </p:txBody>
      </p:sp>
      <p:sp>
        <p:nvSpPr>
          <p:cNvPr id="7" name="Shape 4"/>
          <p:cNvSpPr/>
          <p:nvPr/>
        </p:nvSpPr>
        <p:spPr>
          <a:xfrm>
            <a:off x="9509760" y="4480560"/>
            <a:ext cx="3291840" cy="3291840"/>
          </a:xfrm>
          <a:prstGeom prst="ellipse">
            <a:avLst/>
          </a:prstGeom>
          <a:solidFill>
            <a:srgbClr val="1E5096">
              <a:alpha val="22000"/>
            </a:srgbClr>
          </a:solidFill>
          <a:ln/>
        </p:spPr>
      </p:sp>
      <p:sp>
        <p:nvSpPr>
          <p:cNvPr id="8" name="Shape 5"/>
          <p:cNvSpPr/>
          <p:nvPr/>
        </p:nvSpPr>
        <p:spPr>
          <a:xfrm>
            <a:off x="10607040" y="5212080"/>
            <a:ext cx="2194560" cy="2194560"/>
          </a:xfrm>
          <a:prstGeom prst="ellipse">
            <a:avLst/>
          </a:prstGeom>
          <a:solidFill>
            <a:srgbClr val="008080">
              <a:alpha val="30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UNIDAD 3 · ARQUITECTURAS DISTRIBUIDAS</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Resultado de aprendizaje y ruta de la sesión</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sp>
        <p:nvSpPr>
          <p:cNvPr id="5" name="Shape 3"/>
          <p:cNvSpPr/>
          <p:nvPr/>
        </p:nvSpPr>
        <p:spPr>
          <a:xfrm>
            <a:off x="548640" y="1508760"/>
            <a:ext cx="5394960" cy="1920240"/>
          </a:xfrm>
          <a:prstGeom prst="roundRect">
            <a:avLst>
              <a:gd name="adj" fmla="val 3810"/>
            </a:avLst>
          </a:prstGeom>
          <a:solidFill>
            <a:srgbClr val="0F2850"/>
          </a:solidFill>
          <a:ln w="12700">
            <a:solidFill>
              <a:srgbClr val="0F2850"/>
            </a:solidFill>
            <a:prstDash val="solid"/>
          </a:ln>
          <a:effectLst>
            <a:outerShdw blurRad="76200" dist="25400" dir="2700000" algn="bl" rotWithShape="0">
              <a:srgbClr val="000000">
                <a:alpha val="20000"/>
              </a:srgbClr>
            </a:outerShdw>
          </a:effectLst>
        </p:spPr>
      </p:sp>
      <p:pic>
        <p:nvPicPr>
          <p:cNvPr id="6" name="Image 0" descr="preencoded.png"/>
          <p:cNvPicPr>
            <a:picLocks noChangeAspect="1"/>
          </p:cNvPicPr>
          <p:nvPr/>
        </p:nvPicPr>
        <p:blipFill>
          <a:blip r:embed="rId3"/>
          <a:stretch>
            <a:fillRect/>
          </a:stretch>
        </p:blipFill>
        <p:spPr>
          <a:xfrm>
            <a:off x="868680" y="1783080"/>
            <a:ext cx="457200" cy="457200"/>
          </a:xfrm>
          <a:prstGeom prst="rect">
            <a:avLst/>
          </a:prstGeom>
        </p:spPr>
      </p:pic>
      <p:sp>
        <p:nvSpPr>
          <p:cNvPr id="7" name="Text 4"/>
          <p:cNvSpPr/>
          <p:nvPr/>
        </p:nvSpPr>
        <p:spPr>
          <a:xfrm>
            <a:off x="1463040" y="1783080"/>
            <a:ext cx="429768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Resultado de aprendizaje</a:t>
            </a:r>
            <a:endParaRPr lang="en-US" sz="1500" dirty="0"/>
          </a:p>
        </p:txBody>
      </p:sp>
      <p:sp>
        <p:nvSpPr>
          <p:cNvPr id="8" name="Text 5"/>
          <p:cNvSpPr/>
          <p:nvPr/>
        </p:nvSpPr>
        <p:spPr>
          <a:xfrm>
            <a:off x="868680" y="2240280"/>
            <a:ext cx="4800600" cy="1097280"/>
          </a:xfrm>
          <a:prstGeom prst="rect">
            <a:avLst/>
          </a:prstGeom>
          <a:noFill/>
          <a:ln/>
        </p:spPr>
        <p:txBody>
          <a:bodyPr wrap="square" lIns="0" tIns="0" rIns="0" bIns="0" rtlCol="0" anchor="ctr"/>
          <a:lstStyle/>
          <a:p>
            <a:pPr marL="0" indent="0">
              <a:buNone/>
            </a:pPr>
            <a:r>
              <a:rPr lang="en-US" sz="1250" dirty="0">
                <a:solidFill>
                  <a:srgbClr val="DDE7F5"/>
                </a:solidFill>
                <a:latin typeface="Calibri" pitchFamily="34" charset="0"/>
                <a:ea typeface="Calibri" pitchFamily="34" charset="-122"/>
                <a:cs typeface="Calibri" pitchFamily="34" charset="-120"/>
              </a:rPr>
              <a:t>Aplicar arquitecturas y patrones de diseño distribuido —microservicios, interfaces REST, mensajería asíncrona y arquitectura en capas— para construir sistemas escalables, disponibles y seguros.</a:t>
            </a:r>
            <a:endParaRPr lang="en-US" sz="1250" dirty="0"/>
          </a:p>
        </p:txBody>
      </p:sp>
      <p:sp>
        <p:nvSpPr>
          <p:cNvPr id="9" name="Text 6"/>
          <p:cNvSpPr/>
          <p:nvPr/>
        </p:nvSpPr>
        <p:spPr>
          <a:xfrm>
            <a:off x="6400800" y="1600200"/>
            <a:ext cx="5212080" cy="3108960"/>
          </a:xfrm>
          <a:prstGeom prst="rect">
            <a:avLst/>
          </a:prstGeom>
          <a:noFill/>
          <a:ln/>
        </p:spPr>
        <p:txBody>
          <a:bodyPr wrap="square" lIns="0" tIns="0" rIns="0" bIns="0" rtlCol="0" anchor="ctr"/>
          <a:lstStyle/>
          <a:p>
            <a:pPr marL="0" indent="0">
              <a:lnSpc>
                <a:spcPts val="2700"/>
              </a:lnSpc>
              <a:buNone/>
            </a:pPr>
            <a:r>
              <a:rPr lang="en-US" sz="1450" dirty="0">
                <a:solidFill>
                  <a:srgbClr val="2B2B2B"/>
                </a:solidFill>
                <a:latin typeface="Calibri" pitchFamily="34" charset="0"/>
                <a:ea typeface="Calibri" pitchFamily="34" charset="-122"/>
                <a:cs typeface="Calibri" pitchFamily="34" charset="-120"/>
              </a:rPr>
              <a:t>1.  Qué es la arquitectura de software de un sistema distribuido</a:t>
            </a:r>
            <a:endParaRPr lang="en-US" sz="1450" dirty="0"/>
          </a:p>
          <a:p>
            <a:pPr marL="0" indent="0">
              <a:lnSpc>
                <a:spcPts val="2700"/>
              </a:lnSpc>
              <a:buNone/>
            </a:pPr>
            <a:r>
              <a:rPr lang="en-US" sz="1450" dirty="0">
                <a:solidFill>
                  <a:srgbClr val="2B2B2B"/>
                </a:solidFill>
                <a:latin typeface="Calibri" pitchFamily="34" charset="0"/>
                <a:ea typeface="Calibri" pitchFamily="34" charset="-122"/>
                <a:cs typeface="Calibri" pitchFamily="34" charset="-120"/>
              </a:rPr>
              <a:t>2.  Estilos: cliente–servidor, capas, monolito, SOA y microservicios</a:t>
            </a:r>
            <a:endParaRPr lang="en-US" sz="1450" dirty="0"/>
          </a:p>
          <a:p>
            <a:pPr marL="0" indent="0">
              <a:lnSpc>
                <a:spcPts val="2700"/>
              </a:lnSpc>
              <a:buNone/>
            </a:pPr>
            <a:r>
              <a:rPr lang="en-US" sz="1450" dirty="0">
                <a:solidFill>
                  <a:srgbClr val="2B2B2B"/>
                </a:solidFill>
                <a:latin typeface="Calibri" pitchFamily="34" charset="0"/>
                <a:ea typeface="Calibri" pitchFamily="34" charset="-122"/>
                <a:cs typeface="Calibri" pitchFamily="34" charset="-120"/>
              </a:rPr>
              <a:t>3.  Arquitectura orientada a eventos y mensajería asíncrona</a:t>
            </a:r>
            <a:endParaRPr lang="en-US" sz="1450" dirty="0"/>
          </a:p>
          <a:p>
            <a:pPr marL="0" indent="0">
              <a:lnSpc>
                <a:spcPts val="2700"/>
              </a:lnSpc>
              <a:buNone/>
            </a:pPr>
            <a:r>
              <a:rPr lang="en-US" sz="1450" dirty="0">
                <a:solidFill>
                  <a:srgbClr val="2B2B2B"/>
                </a:solidFill>
                <a:latin typeface="Calibri" pitchFamily="34" charset="0"/>
                <a:ea typeface="Calibri" pitchFamily="34" charset="-122"/>
                <a:cs typeface="Calibri" pitchFamily="34" charset="-120"/>
              </a:rPr>
              <a:t>4.  Patrones: puerta de enlace, datos distribuidos y comunicación</a:t>
            </a:r>
            <a:endParaRPr lang="en-US" sz="1450" dirty="0"/>
          </a:p>
          <a:p>
            <a:pPr marL="0" indent="0">
              <a:lnSpc>
                <a:spcPts val="2700"/>
              </a:lnSpc>
              <a:buNone/>
            </a:pPr>
            <a:r>
              <a:rPr lang="en-US" sz="1450" dirty="0">
                <a:solidFill>
                  <a:srgbClr val="2B2B2B"/>
                </a:solidFill>
                <a:latin typeface="Calibri" pitchFamily="34" charset="0"/>
                <a:ea typeface="Calibri" pitchFamily="34" charset="-122"/>
                <a:cs typeface="Calibri" pitchFamily="34" charset="-120"/>
              </a:rPr>
              <a:t>5.  Atributos de calidad y criterios de elección</a:t>
            </a:r>
            <a:endParaRPr lang="en-US" sz="1450" dirty="0"/>
          </a:p>
          <a:p>
            <a:pPr marL="0" indent="0">
              <a:lnSpc>
                <a:spcPts val="2700"/>
              </a:lnSpc>
              <a:buNone/>
            </a:pPr>
            <a:r>
              <a:rPr lang="en-US" sz="1450" dirty="0">
                <a:solidFill>
                  <a:srgbClr val="2B2B2B"/>
                </a:solidFill>
                <a:latin typeface="Calibri" pitchFamily="34" charset="0"/>
                <a:ea typeface="Calibri" pitchFamily="34" charset="-122"/>
                <a:cs typeface="Calibri" pitchFamily="34" charset="-120"/>
              </a:rPr>
              <a:t>6.  Aplicación directa al Proyecto Fin de Curso (PFC)</a:t>
            </a:r>
            <a:endParaRPr lang="en-US" sz="1450" dirty="0"/>
          </a:p>
        </p:txBody>
      </p:sp>
      <p:sp>
        <p:nvSpPr>
          <p:cNvPr id="10" name="Text 7"/>
          <p:cNvSpPr/>
          <p:nvPr/>
        </p:nvSpPr>
        <p:spPr>
          <a:xfrm>
            <a:off x="548640" y="3794760"/>
            <a:ext cx="5394960" cy="822960"/>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Sesión preparatoria del taller FORM-TL-03 (contrato OpenAPI) y de la práctica GA-SUM-02 (microservicios con Docker).</a:t>
            </a:r>
            <a:endParaRPr lang="en-US" sz="115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FUNDAMENTOS</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¿Qué es la arquitectura de software de un sistema distribuido?</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sp>
        <p:nvSpPr>
          <p:cNvPr id="5" name="Text 3"/>
          <p:cNvSpPr/>
          <p:nvPr/>
        </p:nvSpPr>
        <p:spPr>
          <a:xfrm>
            <a:off x="548640" y="1463040"/>
            <a:ext cx="11064240" cy="777240"/>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Es el conjunto de </a:t>
            </a:r>
            <a:r>
              <a:rPr lang="en-US" sz="1500" b="1" dirty="0">
                <a:solidFill>
                  <a:srgbClr val="1E5096"/>
                </a:solidFill>
                <a:latin typeface="Calibri" pitchFamily="34" charset="0"/>
                <a:ea typeface="Calibri" pitchFamily="34" charset="-122"/>
                <a:cs typeface="Calibri" pitchFamily="34" charset="-120"/>
              </a:rPr>
              <a:t>decisiones estructurales</a:t>
            </a:r>
            <a:r>
              <a:rPr lang="en-US" sz="1500" dirty="0">
                <a:solidFill>
                  <a:srgbClr val="2B2B2B"/>
                </a:solidFill>
                <a:latin typeface="Calibri" pitchFamily="34" charset="0"/>
                <a:ea typeface="Calibri" pitchFamily="34" charset="-122"/>
                <a:cs typeface="Calibri" pitchFamily="34" charset="-120"/>
              </a:rPr>
              <a:t> sobre el software: qué componentes existen, qué responsabilidad tiene cada uno y cómo se comunican (conectores), independientemente del hardware donde se ejecuten.</a:t>
            </a:r>
            <a:endParaRPr lang="en-US" sz="1500" dirty="0"/>
          </a:p>
        </p:txBody>
      </p:sp>
      <p:sp>
        <p:nvSpPr>
          <p:cNvPr id="6" name="Shape 4"/>
          <p:cNvSpPr/>
          <p:nvPr/>
        </p:nvSpPr>
        <p:spPr>
          <a:xfrm>
            <a:off x="548640" y="2468880"/>
            <a:ext cx="5394960" cy="3200400"/>
          </a:xfrm>
          <a:prstGeom prst="roundRect">
            <a:avLst>
              <a:gd name="adj" fmla="val 2000"/>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7" name="Shape 5"/>
          <p:cNvSpPr/>
          <p:nvPr/>
        </p:nvSpPr>
        <p:spPr>
          <a:xfrm>
            <a:off x="749808" y="2670048"/>
            <a:ext cx="475488" cy="475488"/>
          </a:xfrm>
          <a:prstGeom prst="ellipse">
            <a:avLst/>
          </a:prstGeom>
          <a:solidFill>
            <a:srgbClr val="1E5096"/>
          </a:solidFill>
          <a:ln/>
        </p:spPr>
      </p:sp>
      <p:pic>
        <p:nvPicPr>
          <p:cNvPr id="8" name="Image 0" descr="preencoded.png"/>
          <p:cNvPicPr>
            <a:picLocks noChangeAspect="1"/>
          </p:cNvPicPr>
          <p:nvPr/>
        </p:nvPicPr>
        <p:blipFill>
          <a:blip r:embed="rId3"/>
          <a:stretch>
            <a:fillRect/>
          </a:stretch>
        </p:blipFill>
        <p:spPr>
          <a:xfrm>
            <a:off x="850392" y="2770632"/>
            <a:ext cx="274320" cy="274320"/>
          </a:xfrm>
          <a:prstGeom prst="rect">
            <a:avLst/>
          </a:prstGeom>
        </p:spPr>
      </p:pic>
      <p:sp>
        <p:nvSpPr>
          <p:cNvPr id="9" name="Text 6"/>
          <p:cNvSpPr/>
          <p:nvPr/>
        </p:nvSpPr>
        <p:spPr>
          <a:xfrm>
            <a:off x="1353312" y="2651760"/>
            <a:ext cx="443484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Vista física (del sistema)</a:t>
            </a:r>
            <a:endParaRPr lang="en-US" sz="1500" dirty="0"/>
          </a:p>
        </p:txBody>
      </p:sp>
      <p:sp>
        <p:nvSpPr>
          <p:cNvPr id="10" name="Text 7"/>
          <p:cNvSpPr/>
          <p:nvPr/>
        </p:nvSpPr>
        <p:spPr>
          <a:xfrm>
            <a:off x="777240" y="3255264"/>
            <a:ext cx="4937760" cy="224028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Nodos, computadoras, redes y protocolos de transporte.</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Responde: ¿dónde se ejecuta cada parte?</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Ejemplo: tres servidores y un balanceador de carga.</a:t>
            </a:r>
            <a:endParaRPr lang="en-US" sz="1200" dirty="0"/>
          </a:p>
        </p:txBody>
      </p:sp>
      <p:sp>
        <p:nvSpPr>
          <p:cNvPr id="11" name="Shape 8"/>
          <p:cNvSpPr/>
          <p:nvPr/>
        </p:nvSpPr>
        <p:spPr>
          <a:xfrm>
            <a:off x="6217920" y="2468880"/>
            <a:ext cx="5394960" cy="3200400"/>
          </a:xfrm>
          <a:prstGeom prst="roundRect">
            <a:avLst>
              <a:gd name="adj" fmla="val 2000"/>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12" name="Shape 9"/>
          <p:cNvSpPr/>
          <p:nvPr/>
        </p:nvSpPr>
        <p:spPr>
          <a:xfrm>
            <a:off x="6419088" y="2670048"/>
            <a:ext cx="475488" cy="475488"/>
          </a:xfrm>
          <a:prstGeom prst="ellipse">
            <a:avLst/>
          </a:prstGeom>
          <a:solidFill>
            <a:srgbClr val="008080"/>
          </a:solidFill>
          <a:ln/>
        </p:spPr>
      </p:sp>
      <p:pic>
        <p:nvPicPr>
          <p:cNvPr id="13" name="Image 1" descr="preencoded.png"/>
          <p:cNvPicPr>
            <a:picLocks noChangeAspect="1"/>
          </p:cNvPicPr>
          <p:nvPr/>
        </p:nvPicPr>
        <p:blipFill>
          <a:blip r:embed="rId4"/>
          <a:stretch>
            <a:fillRect/>
          </a:stretch>
        </p:blipFill>
        <p:spPr>
          <a:xfrm>
            <a:off x="6519672" y="2770632"/>
            <a:ext cx="274320" cy="274320"/>
          </a:xfrm>
          <a:prstGeom prst="rect">
            <a:avLst/>
          </a:prstGeom>
        </p:spPr>
      </p:pic>
      <p:sp>
        <p:nvSpPr>
          <p:cNvPr id="14" name="Text 10"/>
          <p:cNvSpPr/>
          <p:nvPr/>
        </p:nvSpPr>
        <p:spPr>
          <a:xfrm>
            <a:off x="7022592" y="2651760"/>
            <a:ext cx="443484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Vista lógica (del software)</a:t>
            </a:r>
            <a:endParaRPr lang="en-US" sz="1500" dirty="0"/>
          </a:p>
        </p:txBody>
      </p:sp>
      <p:sp>
        <p:nvSpPr>
          <p:cNvPr id="15" name="Text 11"/>
          <p:cNvSpPr/>
          <p:nvPr/>
        </p:nvSpPr>
        <p:spPr>
          <a:xfrm>
            <a:off x="6446520" y="3255264"/>
            <a:ext cx="4937760" cy="224028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Componentes, módulos, servicios, contratos e interfaces.</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Responde: ¿cómo se organiza y se comunica el código?</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Ejemplo: servicio de autenticación, servicio de recursos y sus contratos.</a:t>
            </a:r>
            <a:endParaRPr lang="en-US" sz="1200" dirty="0"/>
          </a:p>
        </p:txBody>
      </p:sp>
      <p:sp>
        <p:nvSpPr>
          <p:cNvPr id="16" name="Text 12"/>
          <p:cNvSpPr/>
          <p:nvPr/>
        </p:nvSpPr>
        <p:spPr>
          <a:xfrm>
            <a:off x="548640" y="5852160"/>
            <a:ext cx="11064240" cy="457200"/>
          </a:xfrm>
          <a:prstGeom prst="rect">
            <a:avLst/>
          </a:prstGeom>
          <a:noFill/>
          <a:ln/>
        </p:spPr>
        <p:txBody>
          <a:bodyPr wrap="square" lIns="0" tIns="0" rIns="0" bIns="0"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Hoy trabajamos la vista lógica: el mismo software puede desplegarse en una o en cien máquinas sin cambiar su arquitectura lógica.</a:t>
            </a:r>
            <a:endParaRPr lang="en-US" sz="125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ESTILOS ARQUITECTÓNICOS · 1 DE 5</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Cliente–Servidor: el punto de partida</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sp>
        <p:nvSpPr>
          <p:cNvPr id="5" name="Shape 3"/>
          <p:cNvSpPr/>
          <p:nvPr/>
        </p:nvSpPr>
        <p:spPr>
          <a:xfrm>
            <a:off x="1005840" y="2103120"/>
            <a:ext cx="2286000" cy="1143000"/>
          </a:xfrm>
          <a:prstGeom prst="roundRect">
            <a:avLst>
              <a:gd name="adj" fmla="val 4800"/>
            </a:avLst>
          </a:prstGeom>
          <a:solidFill>
            <a:srgbClr val="1E5096"/>
          </a:solidFill>
          <a:ln w="12700">
            <a:solidFill>
              <a:srgbClr val="1E5096"/>
            </a:solidFill>
            <a:prstDash val="solid"/>
          </a:ln>
          <a:effectLst>
            <a:outerShdw blurRad="63500" dist="25400" dir="2700000" algn="bl" rotWithShape="0">
              <a:srgbClr val="000000">
                <a:alpha val="18000"/>
              </a:srgbClr>
            </a:outerShdw>
          </a:effectLst>
        </p:spPr>
      </p:sp>
      <p:pic>
        <p:nvPicPr>
          <p:cNvPr id="6" name="Image 0" descr="preencoded.png"/>
          <p:cNvPicPr>
            <a:picLocks noChangeAspect="1"/>
          </p:cNvPicPr>
          <p:nvPr/>
        </p:nvPicPr>
        <p:blipFill>
          <a:blip r:embed="rId3"/>
          <a:stretch>
            <a:fillRect/>
          </a:stretch>
        </p:blipFill>
        <p:spPr>
          <a:xfrm>
            <a:off x="1993392" y="2221992"/>
            <a:ext cx="310896" cy="310896"/>
          </a:xfrm>
          <a:prstGeom prst="rect">
            <a:avLst/>
          </a:prstGeom>
        </p:spPr>
      </p:pic>
      <p:sp>
        <p:nvSpPr>
          <p:cNvPr id="7" name="Text 4"/>
          <p:cNvSpPr/>
          <p:nvPr/>
        </p:nvSpPr>
        <p:spPr>
          <a:xfrm>
            <a:off x="1005840" y="2523744"/>
            <a:ext cx="2286000" cy="68580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Cliente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(consume)</a:t>
            </a:r>
            <a:endParaRPr lang="en-US" sz="1300" dirty="0"/>
          </a:p>
        </p:txBody>
      </p:sp>
      <p:sp>
        <p:nvSpPr>
          <p:cNvPr id="8" name="Shape 5"/>
          <p:cNvSpPr/>
          <p:nvPr/>
        </p:nvSpPr>
        <p:spPr>
          <a:xfrm>
            <a:off x="8869680" y="2103120"/>
            <a:ext cx="2286000" cy="1143000"/>
          </a:xfrm>
          <a:prstGeom prst="roundRect">
            <a:avLst>
              <a:gd name="adj" fmla="val 4800"/>
            </a:avLst>
          </a:prstGeom>
          <a:solidFill>
            <a:srgbClr val="0F2850"/>
          </a:solidFill>
          <a:ln w="12700">
            <a:solidFill>
              <a:srgbClr val="0F2850"/>
            </a:solidFill>
            <a:prstDash val="solid"/>
          </a:ln>
          <a:effectLst>
            <a:outerShdw blurRad="63500" dist="25400" dir="2700000" algn="bl" rotWithShape="0">
              <a:srgbClr val="000000">
                <a:alpha val="18000"/>
              </a:srgbClr>
            </a:outerShdw>
          </a:effectLst>
        </p:spPr>
      </p:sp>
      <p:pic>
        <p:nvPicPr>
          <p:cNvPr id="9" name="Image 1" descr="preencoded.png"/>
          <p:cNvPicPr>
            <a:picLocks noChangeAspect="1"/>
          </p:cNvPicPr>
          <p:nvPr/>
        </p:nvPicPr>
        <p:blipFill>
          <a:blip r:embed="rId4"/>
          <a:stretch>
            <a:fillRect/>
          </a:stretch>
        </p:blipFill>
        <p:spPr>
          <a:xfrm>
            <a:off x="9857232" y="2221992"/>
            <a:ext cx="310896" cy="310896"/>
          </a:xfrm>
          <a:prstGeom prst="rect">
            <a:avLst/>
          </a:prstGeom>
        </p:spPr>
      </p:pic>
      <p:sp>
        <p:nvSpPr>
          <p:cNvPr id="10" name="Text 6"/>
          <p:cNvSpPr/>
          <p:nvPr/>
        </p:nvSpPr>
        <p:spPr>
          <a:xfrm>
            <a:off x="8869680" y="2523744"/>
            <a:ext cx="2286000" cy="68580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Servidor</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(provee)</a:t>
            </a:r>
            <a:endParaRPr lang="en-US" sz="1300" dirty="0"/>
          </a:p>
        </p:txBody>
      </p:sp>
      <p:sp>
        <p:nvSpPr>
          <p:cNvPr id="11" name="Shape 7"/>
          <p:cNvSpPr/>
          <p:nvPr/>
        </p:nvSpPr>
        <p:spPr>
          <a:xfrm>
            <a:off x="3429000" y="2468880"/>
            <a:ext cx="5303520" cy="0"/>
          </a:xfrm>
          <a:prstGeom prst="line">
            <a:avLst/>
          </a:prstGeom>
          <a:noFill/>
          <a:ln w="33020">
            <a:solidFill>
              <a:srgbClr val="008080"/>
            </a:solidFill>
            <a:prstDash val="solid"/>
            <a:tailEnd type="triangle"/>
          </a:ln>
        </p:spPr>
      </p:sp>
      <p:sp>
        <p:nvSpPr>
          <p:cNvPr id="12" name="Shape 8"/>
          <p:cNvSpPr/>
          <p:nvPr/>
        </p:nvSpPr>
        <p:spPr>
          <a:xfrm flipH="1">
            <a:off x="3429000" y="2971800"/>
            <a:ext cx="5303520" cy="0"/>
          </a:xfrm>
          <a:prstGeom prst="line">
            <a:avLst/>
          </a:prstGeom>
          <a:noFill/>
          <a:ln w="33020">
            <a:solidFill>
              <a:srgbClr val="6B7280"/>
            </a:solidFill>
            <a:prstDash val="solid"/>
            <a:tailEnd type="triangle"/>
          </a:ln>
        </p:spPr>
      </p:sp>
      <p:sp>
        <p:nvSpPr>
          <p:cNvPr id="13" name="Text 9"/>
          <p:cNvSpPr/>
          <p:nvPr/>
        </p:nvSpPr>
        <p:spPr>
          <a:xfrm>
            <a:off x="4754880" y="2121408"/>
            <a:ext cx="2743200" cy="274320"/>
          </a:xfrm>
          <a:prstGeom prst="rect">
            <a:avLst/>
          </a:prstGeom>
          <a:noFill/>
          <a:ln/>
        </p:spPr>
        <p:txBody>
          <a:bodyPr wrap="square" lIns="0" tIns="0" rIns="0" bIns="0" rtlCol="0" anchor="ctr"/>
          <a:lstStyle/>
          <a:p>
            <a:pPr marL="0" indent="0" algn="ctr">
              <a:buNone/>
            </a:pPr>
            <a:r>
              <a:rPr lang="en-US" sz="1150" b="1" dirty="0">
                <a:solidFill>
                  <a:srgbClr val="008080"/>
                </a:solidFill>
                <a:latin typeface="Calibri" pitchFamily="34" charset="0"/>
                <a:ea typeface="Calibri" pitchFamily="34" charset="-122"/>
                <a:cs typeface="Calibri" pitchFamily="34" charset="-120"/>
              </a:rPr>
              <a:t>petición (solicitud)</a:t>
            </a:r>
            <a:endParaRPr lang="en-US" sz="1150" dirty="0"/>
          </a:p>
        </p:txBody>
      </p:sp>
      <p:sp>
        <p:nvSpPr>
          <p:cNvPr id="14" name="Text 10"/>
          <p:cNvSpPr/>
          <p:nvPr/>
        </p:nvSpPr>
        <p:spPr>
          <a:xfrm>
            <a:off x="4754880" y="3044952"/>
            <a:ext cx="2743200" cy="274320"/>
          </a:xfrm>
          <a:prstGeom prst="rect">
            <a:avLst/>
          </a:prstGeom>
          <a:noFill/>
          <a:ln/>
        </p:spPr>
        <p:txBody>
          <a:bodyPr wrap="square" lIns="0" tIns="0" rIns="0" bIns="0" rtlCol="0" anchor="ctr"/>
          <a:lstStyle/>
          <a:p>
            <a:pPr marL="0" indent="0" algn="ctr">
              <a:buNone/>
            </a:pPr>
            <a:r>
              <a:rPr lang="en-US" sz="1150" b="1" dirty="0">
                <a:solidFill>
                  <a:srgbClr val="6B7280"/>
                </a:solidFill>
                <a:latin typeface="Calibri" pitchFamily="34" charset="0"/>
                <a:ea typeface="Calibri" pitchFamily="34" charset="-122"/>
                <a:cs typeface="Calibri" pitchFamily="34" charset="-120"/>
              </a:rPr>
              <a:t>respuesta</a:t>
            </a:r>
            <a:endParaRPr lang="en-US" sz="1150" dirty="0"/>
          </a:p>
        </p:txBody>
      </p:sp>
      <p:sp>
        <p:nvSpPr>
          <p:cNvPr id="15" name="Text 11"/>
          <p:cNvSpPr/>
          <p:nvPr/>
        </p:nvSpPr>
        <p:spPr>
          <a:xfrm>
            <a:off x="548640" y="3657600"/>
            <a:ext cx="11064240" cy="777240"/>
          </a:xfrm>
          <a:prstGeom prst="rect">
            <a:avLst/>
          </a:prstGeom>
          <a:noFill/>
          <a:ln/>
        </p:spPr>
        <p:txBody>
          <a:bodyPr wrap="square" lIns="0" tIns="0" rIns="0" bIns="0" rtlCol="0" anchor="ctr"/>
          <a:lstStyle/>
          <a:p>
            <a:pPr marL="0" indent="0">
              <a:buNone/>
            </a:pPr>
            <a:r>
              <a:rPr lang="en-US" sz="1400" b="1" dirty="0">
                <a:solidFill>
                  <a:srgbClr val="0F2850"/>
                </a:solidFill>
                <a:latin typeface="Calibri" pitchFamily="34" charset="0"/>
                <a:ea typeface="Calibri" pitchFamily="34" charset="-122"/>
                <a:cs typeface="Calibri" pitchFamily="34" charset="-120"/>
              </a:rPr>
              <a:t>Roles asimétricos: </a:t>
            </a:r>
            <a:r>
              <a:rPr lang="en-US" sz="1400" dirty="0">
                <a:solidFill>
                  <a:srgbClr val="2B2B2B"/>
                </a:solidFill>
                <a:latin typeface="Calibri" pitchFamily="34" charset="0"/>
                <a:ea typeface="Calibri" pitchFamily="34" charset="-122"/>
                <a:cs typeface="Calibri" pitchFamily="34" charset="-120"/>
              </a:rPr>
              <a:t>el cliente inicia la conversación; el servidor escucha, procesa y responde. Es la base de la web (protocolo HTTP, Protocolo de Transferencia de Hipertexto) y de toda interfaz de programación de aplicaciones (API).</a:t>
            </a:r>
            <a:endParaRPr lang="en-US" sz="1400" dirty="0"/>
          </a:p>
        </p:txBody>
      </p:sp>
      <p:sp>
        <p:nvSpPr>
          <p:cNvPr id="16" name="Text 12"/>
          <p:cNvSpPr/>
          <p:nvPr/>
        </p:nvSpPr>
        <p:spPr>
          <a:xfrm>
            <a:off x="548640" y="4572000"/>
            <a:ext cx="11064240" cy="1005840"/>
          </a:xfrm>
          <a:prstGeom prst="rect">
            <a:avLst/>
          </a:prstGeom>
          <a:noFill/>
          <a:ln/>
        </p:spPr>
        <p:txBody>
          <a:bodyPr wrap="square" lIns="0" tIns="0" rIns="0" bIns="0" rtlCol="0" anchor="ctr"/>
          <a:lstStyle/>
          <a:p>
            <a:pPr marL="0" indent="0">
              <a:lnSpc>
                <a:spcPts val="2400"/>
              </a:lnSpc>
              <a:buNone/>
            </a:pPr>
            <a:r>
              <a:rPr lang="en-US" sz="1400" b="1" dirty="0">
                <a:solidFill>
                  <a:srgbClr val="008080"/>
                </a:solidFill>
                <a:latin typeface="Calibri" pitchFamily="34" charset="0"/>
                <a:ea typeface="Calibri" pitchFamily="34" charset="-122"/>
                <a:cs typeface="Calibri" pitchFamily="34" charset="-120"/>
              </a:rPr>
              <a:t>Fortaleza: </a:t>
            </a:r>
            <a:r>
              <a:rPr lang="en-US" sz="1400" dirty="0">
                <a:solidFill>
                  <a:srgbClr val="2B2B2B"/>
                </a:solidFill>
                <a:latin typeface="Calibri" pitchFamily="34" charset="0"/>
                <a:ea typeface="Calibri" pitchFamily="34" charset="-122"/>
                <a:cs typeface="Calibri" pitchFamily="34" charset="-120"/>
              </a:rPr>
              <a:t>centraliza datos y lógica; simple de razonar.</a:t>
            </a:r>
            <a:endParaRPr lang="en-US" sz="1400" dirty="0"/>
          </a:p>
          <a:p>
            <a:pPr marL="0" indent="0">
              <a:lnSpc>
                <a:spcPts val="2400"/>
              </a:lnSpc>
              <a:buNone/>
            </a:pPr>
            <a:r>
              <a:rPr lang="en-US" sz="1400" b="1" dirty="0">
                <a:solidFill>
                  <a:srgbClr val="B0413E"/>
                </a:solidFill>
                <a:latin typeface="Calibri" pitchFamily="34" charset="0"/>
                <a:ea typeface="Calibri" pitchFamily="34" charset="-122"/>
                <a:cs typeface="Calibri" pitchFamily="34" charset="-120"/>
              </a:rPr>
              <a:t>Limitación: </a:t>
            </a:r>
            <a:r>
              <a:rPr lang="en-US" sz="1400" dirty="0">
                <a:solidFill>
                  <a:srgbClr val="2B2B2B"/>
                </a:solidFill>
                <a:latin typeface="Calibri" pitchFamily="34" charset="0"/>
                <a:ea typeface="Calibri" pitchFamily="34" charset="-122"/>
                <a:cs typeface="Calibri" pitchFamily="34" charset="-120"/>
              </a:rPr>
              <a:t>el servidor concentra la carga y es un punto único de fallo si no se replica.</a:t>
            </a:r>
            <a:endParaRPr lang="en-US" sz="140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ESTILOS ARQUITECTÓNICOS · 2 DE 5</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Arquitectura en capas (niveles)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sp>
        <p:nvSpPr>
          <p:cNvPr id="5" name="Shape 3"/>
          <p:cNvSpPr/>
          <p:nvPr/>
        </p:nvSpPr>
        <p:spPr>
          <a:xfrm>
            <a:off x="822960" y="1600200"/>
            <a:ext cx="5852160" cy="914400"/>
          </a:xfrm>
          <a:prstGeom prst="roundRect">
            <a:avLst>
              <a:gd name="adj" fmla="val 6000"/>
            </a:avLst>
          </a:prstGeom>
          <a:solidFill>
            <a:srgbClr val="1E5096"/>
          </a:solidFill>
          <a:ln w="12700">
            <a:solidFill>
              <a:srgbClr val="1E5096"/>
            </a:solidFill>
            <a:prstDash val="solid"/>
          </a:ln>
          <a:effectLst>
            <a:outerShdw blurRad="50800" dist="25400" dir="2700000" algn="bl" rotWithShape="0">
              <a:srgbClr val="000000">
                <a:alpha val="16000"/>
              </a:srgbClr>
            </a:outerShdw>
          </a:effectLst>
        </p:spPr>
      </p:sp>
      <p:sp>
        <p:nvSpPr>
          <p:cNvPr id="6" name="Text 4"/>
          <p:cNvSpPr/>
          <p:nvPr/>
        </p:nvSpPr>
        <p:spPr>
          <a:xfrm>
            <a:off x="1051560" y="1709928"/>
            <a:ext cx="539496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Capa de presentación</a:t>
            </a:r>
            <a:endParaRPr lang="en-US" sz="1450" dirty="0"/>
          </a:p>
        </p:txBody>
      </p:sp>
      <p:sp>
        <p:nvSpPr>
          <p:cNvPr id="7" name="Text 5"/>
          <p:cNvSpPr/>
          <p:nvPr/>
        </p:nvSpPr>
        <p:spPr>
          <a:xfrm>
            <a:off x="1051560" y="2057400"/>
            <a:ext cx="5394960" cy="365760"/>
          </a:xfrm>
          <a:prstGeom prst="rect">
            <a:avLst/>
          </a:prstGeom>
          <a:noFill/>
          <a:ln/>
        </p:spPr>
        <p:txBody>
          <a:bodyPr wrap="square" lIns="0" tIns="0" rIns="0" bIns="0" rtlCol="0" anchor="ctr"/>
          <a:lstStyle/>
          <a:p>
            <a:pPr marL="0" indent="0">
              <a:buNone/>
            </a:pPr>
            <a:r>
              <a:rPr lang="en-US" sz="1150" dirty="0">
                <a:solidFill>
                  <a:srgbClr val="E2EAF6"/>
                </a:solidFill>
                <a:latin typeface="Calibri" pitchFamily="34" charset="0"/>
                <a:ea typeface="Calibri" pitchFamily="34" charset="-122"/>
                <a:cs typeface="Calibri" pitchFamily="34" charset="-120"/>
              </a:rPr>
              <a:t>Interfaz con el usuario: web, móvil, escritorio</a:t>
            </a:r>
            <a:endParaRPr lang="en-US" sz="1150" dirty="0"/>
          </a:p>
        </p:txBody>
      </p:sp>
      <p:sp>
        <p:nvSpPr>
          <p:cNvPr id="8" name="Shape 6"/>
          <p:cNvSpPr/>
          <p:nvPr/>
        </p:nvSpPr>
        <p:spPr>
          <a:xfrm>
            <a:off x="3749040" y="2514600"/>
            <a:ext cx="0" cy="164592"/>
          </a:xfrm>
          <a:prstGeom prst="line">
            <a:avLst/>
          </a:prstGeom>
          <a:noFill/>
          <a:ln w="25400">
            <a:solidFill>
              <a:srgbClr val="6B7280"/>
            </a:solidFill>
            <a:prstDash val="solid"/>
            <a:tailEnd type="triangle"/>
          </a:ln>
        </p:spPr>
      </p:sp>
      <p:sp>
        <p:nvSpPr>
          <p:cNvPr id="9" name="Shape 7"/>
          <p:cNvSpPr/>
          <p:nvPr/>
        </p:nvSpPr>
        <p:spPr>
          <a:xfrm>
            <a:off x="822960" y="2679192"/>
            <a:ext cx="5852160" cy="914400"/>
          </a:xfrm>
          <a:prstGeom prst="roundRect">
            <a:avLst>
              <a:gd name="adj" fmla="val 6000"/>
            </a:avLst>
          </a:prstGeom>
          <a:solidFill>
            <a:srgbClr val="0F2850"/>
          </a:solidFill>
          <a:ln w="12700">
            <a:solidFill>
              <a:srgbClr val="0F2850"/>
            </a:solidFill>
            <a:prstDash val="solid"/>
          </a:ln>
          <a:effectLst>
            <a:outerShdw blurRad="50800" dist="25400" dir="2700000" algn="bl" rotWithShape="0">
              <a:srgbClr val="000000">
                <a:alpha val="16000"/>
              </a:srgbClr>
            </a:outerShdw>
          </a:effectLst>
        </p:spPr>
      </p:sp>
      <p:sp>
        <p:nvSpPr>
          <p:cNvPr id="10" name="Text 8"/>
          <p:cNvSpPr/>
          <p:nvPr/>
        </p:nvSpPr>
        <p:spPr>
          <a:xfrm>
            <a:off x="1051560" y="2788920"/>
            <a:ext cx="539496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Capa de lógica de negocio</a:t>
            </a:r>
            <a:endParaRPr lang="en-US" sz="1450" dirty="0"/>
          </a:p>
        </p:txBody>
      </p:sp>
      <p:sp>
        <p:nvSpPr>
          <p:cNvPr id="11" name="Text 9"/>
          <p:cNvSpPr/>
          <p:nvPr/>
        </p:nvSpPr>
        <p:spPr>
          <a:xfrm>
            <a:off x="1051560" y="3136392"/>
            <a:ext cx="5394960" cy="365760"/>
          </a:xfrm>
          <a:prstGeom prst="rect">
            <a:avLst/>
          </a:prstGeom>
          <a:noFill/>
          <a:ln/>
        </p:spPr>
        <p:txBody>
          <a:bodyPr wrap="square" lIns="0" tIns="0" rIns="0" bIns="0" rtlCol="0" anchor="ctr"/>
          <a:lstStyle/>
          <a:p>
            <a:pPr marL="0" indent="0">
              <a:buNone/>
            </a:pPr>
            <a:r>
              <a:rPr lang="en-US" sz="1150" dirty="0">
                <a:solidFill>
                  <a:srgbClr val="E2EAF6"/>
                </a:solidFill>
                <a:latin typeface="Calibri" pitchFamily="34" charset="0"/>
                <a:ea typeface="Calibri" pitchFamily="34" charset="-122"/>
                <a:cs typeface="Calibri" pitchFamily="34" charset="-120"/>
              </a:rPr>
              <a:t>Reglas, validaciones y procesos de la aplicación</a:t>
            </a:r>
            <a:endParaRPr lang="en-US" sz="1150" dirty="0"/>
          </a:p>
        </p:txBody>
      </p:sp>
      <p:sp>
        <p:nvSpPr>
          <p:cNvPr id="12" name="Shape 10"/>
          <p:cNvSpPr/>
          <p:nvPr/>
        </p:nvSpPr>
        <p:spPr>
          <a:xfrm>
            <a:off x="3749040" y="3593592"/>
            <a:ext cx="0" cy="164592"/>
          </a:xfrm>
          <a:prstGeom prst="line">
            <a:avLst/>
          </a:prstGeom>
          <a:noFill/>
          <a:ln w="25400">
            <a:solidFill>
              <a:srgbClr val="6B7280"/>
            </a:solidFill>
            <a:prstDash val="solid"/>
            <a:tailEnd type="triangle"/>
          </a:ln>
        </p:spPr>
      </p:sp>
      <p:sp>
        <p:nvSpPr>
          <p:cNvPr id="13" name="Shape 11"/>
          <p:cNvSpPr/>
          <p:nvPr/>
        </p:nvSpPr>
        <p:spPr>
          <a:xfrm>
            <a:off x="822960" y="3758184"/>
            <a:ext cx="5852160" cy="914400"/>
          </a:xfrm>
          <a:prstGeom prst="roundRect">
            <a:avLst>
              <a:gd name="adj" fmla="val 6000"/>
            </a:avLst>
          </a:prstGeom>
          <a:solidFill>
            <a:srgbClr val="008080"/>
          </a:solidFill>
          <a:ln w="12700">
            <a:solidFill>
              <a:srgbClr val="008080"/>
            </a:solidFill>
            <a:prstDash val="solid"/>
          </a:ln>
          <a:effectLst>
            <a:outerShdw blurRad="50800" dist="25400" dir="2700000" algn="bl" rotWithShape="0">
              <a:srgbClr val="000000">
                <a:alpha val="16000"/>
              </a:srgbClr>
            </a:outerShdw>
          </a:effectLst>
        </p:spPr>
      </p:sp>
      <p:sp>
        <p:nvSpPr>
          <p:cNvPr id="14" name="Text 12"/>
          <p:cNvSpPr/>
          <p:nvPr/>
        </p:nvSpPr>
        <p:spPr>
          <a:xfrm>
            <a:off x="1051560" y="3867912"/>
            <a:ext cx="539496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Capa de acceso a datos</a:t>
            </a:r>
            <a:endParaRPr lang="en-US" sz="1450" dirty="0"/>
          </a:p>
        </p:txBody>
      </p:sp>
      <p:sp>
        <p:nvSpPr>
          <p:cNvPr id="15" name="Text 13"/>
          <p:cNvSpPr/>
          <p:nvPr/>
        </p:nvSpPr>
        <p:spPr>
          <a:xfrm>
            <a:off x="1051560" y="4215384"/>
            <a:ext cx="5394960" cy="365760"/>
          </a:xfrm>
          <a:prstGeom prst="rect">
            <a:avLst/>
          </a:prstGeom>
          <a:noFill/>
          <a:ln/>
        </p:spPr>
        <p:txBody>
          <a:bodyPr wrap="square" lIns="0" tIns="0" rIns="0" bIns="0" rtlCol="0" anchor="ctr"/>
          <a:lstStyle/>
          <a:p>
            <a:pPr marL="0" indent="0">
              <a:buNone/>
            </a:pPr>
            <a:r>
              <a:rPr lang="en-US" sz="1150" dirty="0">
                <a:solidFill>
                  <a:srgbClr val="E2EAF6"/>
                </a:solidFill>
                <a:latin typeface="Calibri" pitchFamily="34" charset="0"/>
                <a:ea typeface="Calibri" pitchFamily="34" charset="-122"/>
                <a:cs typeface="Calibri" pitchFamily="34" charset="-120"/>
              </a:rPr>
              <a:t>Traducción entre objetos y consultas (persistencia)</a:t>
            </a:r>
            <a:endParaRPr lang="en-US" sz="1150" dirty="0"/>
          </a:p>
        </p:txBody>
      </p:sp>
      <p:sp>
        <p:nvSpPr>
          <p:cNvPr id="16" name="Shape 14"/>
          <p:cNvSpPr/>
          <p:nvPr/>
        </p:nvSpPr>
        <p:spPr>
          <a:xfrm>
            <a:off x="3749040" y="4672584"/>
            <a:ext cx="0" cy="164592"/>
          </a:xfrm>
          <a:prstGeom prst="line">
            <a:avLst/>
          </a:prstGeom>
          <a:noFill/>
          <a:ln w="25400">
            <a:solidFill>
              <a:srgbClr val="6B7280"/>
            </a:solidFill>
            <a:prstDash val="solid"/>
            <a:tailEnd type="triangle"/>
          </a:ln>
        </p:spPr>
      </p:sp>
      <p:sp>
        <p:nvSpPr>
          <p:cNvPr id="17" name="Shape 15"/>
          <p:cNvSpPr/>
          <p:nvPr/>
        </p:nvSpPr>
        <p:spPr>
          <a:xfrm>
            <a:off x="822960" y="4837176"/>
            <a:ext cx="5852160" cy="914400"/>
          </a:xfrm>
          <a:prstGeom prst="roundRect">
            <a:avLst>
              <a:gd name="adj" fmla="val 6000"/>
            </a:avLst>
          </a:prstGeom>
          <a:solidFill>
            <a:srgbClr val="0B5E5E"/>
          </a:solidFill>
          <a:ln w="12700">
            <a:solidFill>
              <a:srgbClr val="0B5E5E"/>
            </a:solidFill>
            <a:prstDash val="solid"/>
          </a:ln>
          <a:effectLst>
            <a:outerShdw blurRad="50800" dist="25400" dir="2700000" algn="bl" rotWithShape="0">
              <a:srgbClr val="000000">
                <a:alpha val="16000"/>
              </a:srgbClr>
            </a:outerShdw>
          </a:effectLst>
        </p:spPr>
      </p:sp>
      <p:sp>
        <p:nvSpPr>
          <p:cNvPr id="18" name="Text 16"/>
          <p:cNvSpPr/>
          <p:nvPr/>
        </p:nvSpPr>
        <p:spPr>
          <a:xfrm>
            <a:off x="1051560" y="4946904"/>
            <a:ext cx="5394960" cy="3200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Capa de datos</a:t>
            </a:r>
            <a:endParaRPr lang="en-US" sz="1450" dirty="0"/>
          </a:p>
        </p:txBody>
      </p:sp>
      <p:sp>
        <p:nvSpPr>
          <p:cNvPr id="19" name="Text 17"/>
          <p:cNvSpPr/>
          <p:nvPr/>
        </p:nvSpPr>
        <p:spPr>
          <a:xfrm>
            <a:off x="1051560" y="5294376"/>
            <a:ext cx="5394960" cy="365760"/>
          </a:xfrm>
          <a:prstGeom prst="rect">
            <a:avLst/>
          </a:prstGeom>
          <a:noFill/>
          <a:ln/>
        </p:spPr>
        <p:txBody>
          <a:bodyPr wrap="square" lIns="0" tIns="0" rIns="0" bIns="0" rtlCol="0" anchor="ctr"/>
          <a:lstStyle/>
          <a:p>
            <a:pPr marL="0" indent="0">
              <a:buNone/>
            </a:pPr>
            <a:r>
              <a:rPr lang="en-US" sz="1150" dirty="0">
                <a:solidFill>
                  <a:srgbClr val="E2EAF6"/>
                </a:solidFill>
                <a:latin typeface="Calibri" pitchFamily="34" charset="0"/>
                <a:ea typeface="Calibri" pitchFamily="34" charset="-122"/>
                <a:cs typeface="Calibri" pitchFamily="34" charset="-120"/>
              </a:rPr>
              <a:t>Base de datos: almacenamiento y recuperación</a:t>
            </a:r>
            <a:endParaRPr lang="en-US" sz="1150" dirty="0"/>
          </a:p>
        </p:txBody>
      </p:sp>
      <p:sp>
        <p:nvSpPr>
          <p:cNvPr id="20" name="Text 18"/>
          <p:cNvSpPr/>
          <p:nvPr/>
        </p:nvSpPr>
        <p:spPr>
          <a:xfrm>
            <a:off x="7040880" y="1783080"/>
            <a:ext cx="4572000" cy="4206240"/>
          </a:xfrm>
          <a:prstGeom prst="rect">
            <a:avLst/>
          </a:prstGeom>
          <a:noFill/>
          <a:ln/>
        </p:spPr>
        <p:txBody>
          <a:bodyPr wrap="square" lIns="0" tIns="0" rIns="0" bIns="0" rtlCol="0" anchor="ctr"/>
          <a:lstStyle/>
          <a:p>
            <a:pPr marL="0" indent="0">
              <a:lnSpc>
                <a:spcPts val="2100"/>
              </a:lnSpc>
              <a:buNone/>
            </a:pPr>
            <a:r>
              <a:rPr lang="en-US" sz="1350" b="1" dirty="0">
                <a:solidFill>
                  <a:srgbClr val="0F2850"/>
                </a:solidFill>
                <a:latin typeface="Calibri" pitchFamily="34" charset="0"/>
                <a:ea typeface="Calibri" pitchFamily="34" charset="-122"/>
                <a:cs typeface="Calibri" pitchFamily="34" charset="-120"/>
              </a:rPr>
              <a:t>Regla de oro: </a:t>
            </a:r>
            <a:r>
              <a:rPr lang="en-US" sz="1350" dirty="0">
                <a:solidFill>
                  <a:srgbClr val="2B2B2B"/>
                </a:solidFill>
                <a:latin typeface="Calibri" pitchFamily="34" charset="0"/>
                <a:ea typeface="Calibri" pitchFamily="34" charset="-122"/>
                <a:cs typeface="Calibri" pitchFamily="34" charset="-120"/>
              </a:rPr>
              <a:t>cada capa solo conversa con su capa adyacente. El acoplamiento queda controlado y cada capa puede cambiarse sin afectar al resto.</a:t>
            </a:r>
            <a:endParaRPr lang="en-US" sz="1350" dirty="0"/>
          </a:p>
          <a:p>
            <a:pPr marL="0" indent="0">
              <a:lnSpc>
                <a:spcPts val="2100"/>
              </a:lnSpc>
              <a:buNone/>
            </a:pPr>
            <a:r>
              <a:rPr lang="en-US" sz="1350" dirty="0">
                <a:solidFill>
                  <a:srgbClr val="000000"/>
                </a:solidFill>
                <a:latin typeface="Calibri" pitchFamily="34" charset="0"/>
                <a:ea typeface="Calibri" pitchFamily="34" charset="-122"/>
                <a:cs typeface="Calibri" pitchFamily="34" charset="-120"/>
              </a:rPr>
              <a:t> </a:t>
            </a:r>
            <a:endParaRPr lang="en-US" sz="1350" dirty="0"/>
          </a:p>
          <a:p>
            <a:pPr marL="0" indent="0">
              <a:lnSpc>
                <a:spcPts val="2100"/>
              </a:lnSpc>
              <a:buNone/>
            </a:pPr>
            <a:r>
              <a:rPr lang="en-US" sz="1350" b="1" dirty="0">
                <a:solidFill>
                  <a:srgbClr val="008080"/>
                </a:solidFill>
                <a:latin typeface="Calibri" pitchFamily="34" charset="0"/>
                <a:ea typeface="Calibri" pitchFamily="34" charset="-122"/>
                <a:cs typeface="Calibri" pitchFamily="34" charset="-120"/>
              </a:rPr>
              <a:t>Distribución física: </a:t>
            </a:r>
            <a:r>
              <a:rPr lang="en-US" sz="1350" dirty="0">
                <a:solidFill>
                  <a:srgbClr val="2B2B2B"/>
                </a:solidFill>
                <a:latin typeface="Calibri" pitchFamily="34" charset="0"/>
                <a:ea typeface="Calibri" pitchFamily="34" charset="-122"/>
                <a:cs typeface="Calibri" pitchFamily="34" charset="-120"/>
              </a:rPr>
              <a:t>cuando cada capa se despliega en una máquina distinta hablamos de niveles (tiers): dos niveles, tres niveles o n niveles.</a:t>
            </a:r>
            <a:endParaRPr lang="en-US" sz="1350" dirty="0"/>
          </a:p>
          <a:p>
            <a:pPr marL="0" indent="0">
              <a:lnSpc>
                <a:spcPts val="2100"/>
              </a:lnSpc>
              <a:buNone/>
            </a:pPr>
            <a:r>
              <a:rPr lang="en-US" sz="1350" dirty="0">
                <a:solidFill>
                  <a:srgbClr val="000000"/>
                </a:solidFill>
                <a:latin typeface="Calibri" pitchFamily="34" charset="0"/>
                <a:ea typeface="Calibri" pitchFamily="34" charset="-122"/>
                <a:cs typeface="Calibri" pitchFamily="34" charset="-120"/>
              </a:rPr>
              <a:t> </a:t>
            </a:r>
            <a:endParaRPr lang="en-US" sz="1350" dirty="0"/>
          </a:p>
          <a:p>
            <a:pPr marL="0" indent="0">
              <a:lnSpc>
                <a:spcPts val="2100"/>
              </a:lnSpc>
              <a:buNone/>
            </a:pPr>
            <a:r>
              <a:rPr lang="en-US" sz="1350" b="1" dirty="0">
                <a:solidFill>
                  <a:srgbClr val="1E5096"/>
                </a:solidFill>
                <a:latin typeface="Calibri" pitchFamily="34" charset="0"/>
                <a:ea typeface="Calibri" pitchFamily="34" charset="-122"/>
                <a:cs typeface="Calibri" pitchFamily="34" charset="-120"/>
              </a:rPr>
              <a:t>Vigencia: </a:t>
            </a:r>
            <a:r>
              <a:rPr lang="en-US" sz="1350" dirty="0">
                <a:solidFill>
                  <a:srgbClr val="2B2B2B"/>
                </a:solidFill>
                <a:latin typeface="Calibri" pitchFamily="34" charset="0"/>
                <a:ea typeface="Calibri" pitchFamily="34" charset="-122"/>
                <a:cs typeface="Calibri" pitchFamily="34" charset="-120"/>
              </a:rPr>
              <a:t>sigue viva dentro de cada microservicio: controlador, servicio y repositorio son capas.</a:t>
            </a:r>
            <a:endParaRPr lang="en-US" sz="135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ESTILOS ARQUITECTÓNICOS · 3 DE 5</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El monolito: una sola unidad de despliegue</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sp>
        <p:nvSpPr>
          <p:cNvPr id="5" name="Shape 3"/>
          <p:cNvSpPr/>
          <p:nvPr/>
        </p:nvSpPr>
        <p:spPr>
          <a:xfrm>
            <a:off x="822960" y="1737360"/>
            <a:ext cx="3291840" cy="3749040"/>
          </a:xfrm>
          <a:prstGeom prst="roundRect">
            <a:avLst>
              <a:gd name="adj" fmla="val 2222"/>
            </a:avLst>
          </a:prstGeom>
          <a:solidFill>
            <a:srgbClr val="0F2850"/>
          </a:solidFill>
          <a:ln w="12700">
            <a:solidFill>
              <a:srgbClr val="0F2850"/>
            </a:solidFill>
            <a:prstDash val="solid"/>
          </a:ln>
          <a:effectLst>
            <a:outerShdw blurRad="76200" dist="25400" dir="2700000" algn="bl" rotWithShape="0">
              <a:srgbClr val="000000">
                <a:alpha val="20000"/>
              </a:srgbClr>
            </a:outerShdw>
          </a:effectLst>
        </p:spPr>
      </p:sp>
      <p:sp>
        <p:nvSpPr>
          <p:cNvPr id="6" name="Text 4"/>
          <p:cNvSpPr/>
          <p:nvPr/>
        </p:nvSpPr>
        <p:spPr>
          <a:xfrm>
            <a:off x="914400" y="1874520"/>
            <a:ext cx="3108960" cy="3200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Aplicación monolítica</a:t>
            </a:r>
            <a:endParaRPr lang="en-US" sz="1350" dirty="0"/>
          </a:p>
        </p:txBody>
      </p:sp>
      <p:sp>
        <p:nvSpPr>
          <p:cNvPr id="7" name="Shape 5"/>
          <p:cNvSpPr/>
          <p:nvPr/>
        </p:nvSpPr>
        <p:spPr>
          <a:xfrm>
            <a:off x="1143000" y="2331720"/>
            <a:ext cx="2651760" cy="530352"/>
          </a:xfrm>
          <a:prstGeom prst="roundRect">
            <a:avLst>
              <a:gd name="adj" fmla="val 8621"/>
            </a:avLst>
          </a:prstGeom>
          <a:solidFill>
            <a:srgbClr val="1E5096"/>
          </a:solidFill>
          <a:ln w="12700">
            <a:solidFill>
              <a:srgbClr val="1E5096"/>
            </a:solidFill>
            <a:prstDash val="solid"/>
          </a:ln>
        </p:spPr>
      </p:sp>
      <p:sp>
        <p:nvSpPr>
          <p:cNvPr id="8" name="Text 6"/>
          <p:cNvSpPr/>
          <p:nvPr/>
        </p:nvSpPr>
        <p:spPr>
          <a:xfrm>
            <a:off x="1143000" y="2331720"/>
            <a:ext cx="2651760" cy="530352"/>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Módulo ventas</a:t>
            </a:r>
            <a:endParaRPr lang="en-US" sz="1150" dirty="0"/>
          </a:p>
        </p:txBody>
      </p:sp>
      <p:sp>
        <p:nvSpPr>
          <p:cNvPr id="9" name="Shape 7"/>
          <p:cNvSpPr/>
          <p:nvPr/>
        </p:nvSpPr>
        <p:spPr>
          <a:xfrm>
            <a:off x="1143000" y="2990088"/>
            <a:ext cx="2651760" cy="530352"/>
          </a:xfrm>
          <a:prstGeom prst="roundRect">
            <a:avLst>
              <a:gd name="adj" fmla="val 8621"/>
            </a:avLst>
          </a:prstGeom>
          <a:solidFill>
            <a:srgbClr val="1E5096"/>
          </a:solidFill>
          <a:ln w="12700">
            <a:solidFill>
              <a:srgbClr val="1E5096"/>
            </a:solidFill>
            <a:prstDash val="solid"/>
          </a:ln>
        </p:spPr>
      </p:sp>
      <p:sp>
        <p:nvSpPr>
          <p:cNvPr id="10" name="Text 8"/>
          <p:cNvSpPr/>
          <p:nvPr/>
        </p:nvSpPr>
        <p:spPr>
          <a:xfrm>
            <a:off x="1143000" y="2990088"/>
            <a:ext cx="2651760" cy="530352"/>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Módulo inventario</a:t>
            </a:r>
            <a:endParaRPr lang="en-US" sz="1150" dirty="0"/>
          </a:p>
        </p:txBody>
      </p:sp>
      <p:sp>
        <p:nvSpPr>
          <p:cNvPr id="11" name="Shape 9"/>
          <p:cNvSpPr/>
          <p:nvPr/>
        </p:nvSpPr>
        <p:spPr>
          <a:xfrm>
            <a:off x="1143000" y="3648456"/>
            <a:ext cx="2651760" cy="530352"/>
          </a:xfrm>
          <a:prstGeom prst="roundRect">
            <a:avLst>
              <a:gd name="adj" fmla="val 8621"/>
            </a:avLst>
          </a:prstGeom>
          <a:solidFill>
            <a:srgbClr val="1E5096"/>
          </a:solidFill>
          <a:ln w="12700">
            <a:solidFill>
              <a:srgbClr val="1E5096"/>
            </a:solidFill>
            <a:prstDash val="solid"/>
          </a:ln>
        </p:spPr>
      </p:sp>
      <p:sp>
        <p:nvSpPr>
          <p:cNvPr id="12" name="Text 10"/>
          <p:cNvSpPr/>
          <p:nvPr/>
        </p:nvSpPr>
        <p:spPr>
          <a:xfrm>
            <a:off x="1143000" y="3648456"/>
            <a:ext cx="2651760" cy="530352"/>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Módulo usuarios</a:t>
            </a:r>
            <a:endParaRPr lang="en-US" sz="1150" dirty="0"/>
          </a:p>
        </p:txBody>
      </p:sp>
      <p:sp>
        <p:nvSpPr>
          <p:cNvPr id="13" name="Shape 11"/>
          <p:cNvSpPr/>
          <p:nvPr/>
        </p:nvSpPr>
        <p:spPr>
          <a:xfrm>
            <a:off x="1143000" y="4306824"/>
            <a:ext cx="2651760" cy="530352"/>
          </a:xfrm>
          <a:prstGeom prst="roundRect">
            <a:avLst>
              <a:gd name="adj" fmla="val 8621"/>
            </a:avLst>
          </a:prstGeom>
          <a:solidFill>
            <a:srgbClr val="1E5096"/>
          </a:solidFill>
          <a:ln w="12700">
            <a:solidFill>
              <a:srgbClr val="1E5096"/>
            </a:solidFill>
            <a:prstDash val="solid"/>
          </a:ln>
        </p:spPr>
      </p:sp>
      <p:sp>
        <p:nvSpPr>
          <p:cNvPr id="14" name="Text 12"/>
          <p:cNvSpPr/>
          <p:nvPr/>
        </p:nvSpPr>
        <p:spPr>
          <a:xfrm>
            <a:off x="1143000" y="4306824"/>
            <a:ext cx="2651760" cy="530352"/>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Módulo reportes</a:t>
            </a:r>
            <a:endParaRPr lang="en-US" sz="1150" dirty="0"/>
          </a:p>
        </p:txBody>
      </p:sp>
      <p:sp>
        <p:nvSpPr>
          <p:cNvPr id="15" name="Text 13"/>
          <p:cNvSpPr/>
          <p:nvPr/>
        </p:nvSpPr>
        <p:spPr>
          <a:xfrm>
            <a:off x="822960" y="5577840"/>
            <a:ext cx="3291840" cy="54864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Un solo ejecutable · una sola base de datos · un solo despliegue</a:t>
            </a:r>
            <a:endParaRPr lang="en-US" sz="1050" dirty="0"/>
          </a:p>
        </p:txBody>
      </p:sp>
      <p:sp>
        <p:nvSpPr>
          <p:cNvPr id="16" name="Shape 14"/>
          <p:cNvSpPr/>
          <p:nvPr/>
        </p:nvSpPr>
        <p:spPr>
          <a:xfrm>
            <a:off x="4572000" y="1737360"/>
            <a:ext cx="3520440" cy="3977640"/>
          </a:xfrm>
          <a:prstGeom prst="roundRect">
            <a:avLst>
              <a:gd name="adj" fmla="val 1818"/>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17" name="Shape 15"/>
          <p:cNvSpPr/>
          <p:nvPr/>
        </p:nvSpPr>
        <p:spPr>
          <a:xfrm>
            <a:off x="4773168" y="1938528"/>
            <a:ext cx="475488" cy="475488"/>
          </a:xfrm>
          <a:prstGeom prst="ellipse">
            <a:avLst/>
          </a:prstGeom>
          <a:solidFill>
            <a:srgbClr val="008080"/>
          </a:solidFill>
          <a:ln/>
        </p:spPr>
      </p:sp>
      <p:pic>
        <p:nvPicPr>
          <p:cNvPr id="18" name="Image 0" descr="preencoded.png"/>
          <p:cNvPicPr>
            <a:picLocks noChangeAspect="1"/>
          </p:cNvPicPr>
          <p:nvPr/>
        </p:nvPicPr>
        <p:blipFill>
          <a:blip r:embed="rId3"/>
          <a:stretch>
            <a:fillRect/>
          </a:stretch>
        </p:blipFill>
        <p:spPr>
          <a:xfrm>
            <a:off x="4873752" y="2039112"/>
            <a:ext cx="274320" cy="274320"/>
          </a:xfrm>
          <a:prstGeom prst="rect">
            <a:avLst/>
          </a:prstGeom>
        </p:spPr>
      </p:pic>
      <p:sp>
        <p:nvSpPr>
          <p:cNvPr id="19" name="Text 16"/>
          <p:cNvSpPr/>
          <p:nvPr/>
        </p:nvSpPr>
        <p:spPr>
          <a:xfrm>
            <a:off x="5376672" y="1920240"/>
            <a:ext cx="256032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Ventajas</a:t>
            </a:r>
            <a:endParaRPr lang="en-US" sz="1500" dirty="0"/>
          </a:p>
        </p:txBody>
      </p:sp>
      <p:sp>
        <p:nvSpPr>
          <p:cNvPr id="20" name="Text 17"/>
          <p:cNvSpPr/>
          <p:nvPr/>
        </p:nvSpPr>
        <p:spPr>
          <a:xfrm>
            <a:off x="4800600" y="2523744"/>
            <a:ext cx="3063240" cy="301752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Simplicidad inicial: un proyecto, un despliegue.</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Transacciones locales: consistencia inmediata.</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Depuración y pruebas de extremo a extremo sencillas.</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Latencia mínima: llamadas en memoria.</a:t>
            </a:r>
            <a:endParaRPr lang="en-US" sz="1200" dirty="0"/>
          </a:p>
        </p:txBody>
      </p:sp>
      <p:sp>
        <p:nvSpPr>
          <p:cNvPr id="21" name="Shape 18"/>
          <p:cNvSpPr/>
          <p:nvPr/>
        </p:nvSpPr>
        <p:spPr>
          <a:xfrm>
            <a:off x="8229600" y="1737360"/>
            <a:ext cx="3429000" cy="3977640"/>
          </a:xfrm>
          <a:prstGeom prst="roundRect">
            <a:avLst>
              <a:gd name="adj" fmla="val 1867"/>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22" name="Shape 19"/>
          <p:cNvSpPr/>
          <p:nvPr/>
        </p:nvSpPr>
        <p:spPr>
          <a:xfrm>
            <a:off x="8430768" y="1938528"/>
            <a:ext cx="475488" cy="475488"/>
          </a:xfrm>
          <a:prstGeom prst="ellipse">
            <a:avLst/>
          </a:prstGeom>
          <a:solidFill>
            <a:srgbClr val="B0413E"/>
          </a:solidFill>
          <a:ln/>
        </p:spPr>
      </p:sp>
      <p:pic>
        <p:nvPicPr>
          <p:cNvPr id="23" name="Image 1" descr="preencoded.png"/>
          <p:cNvPicPr>
            <a:picLocks noChangeAspect="1"/>
          </p:cNvPicPr>
          <p:nvPr/>
        </p:nvPicPr>
        <p:blipFill>
          <a:blip r:embed="rId4"/>
          <a:stretch>
            <a:fillRect/>
          </a:stretch>
        </p:blipFill>
        <p:spPr>
          <a:xfrm>
            <a:off x="8531352" y="2039112"/>
            <a:ext cx="274320" cy="274320"/>
          </a:xfrm>
          <a:prstGeom prst="rect">
            <a:avLst/>
          </a:prstGeom>
        </p:spPr>
      </p:pic>
      <p:sp>
        <p:nvSpPr>
          <p:cNvPr id="24" name="Text 20"/>
          <p:cNvSpPr/>
          <p:nvPr/>
        </p:nvSpPr>
        <p:spPr>
          <a:xfrm>
            <a:off x="9034272" y="1920240"/>
            <a:ext cx="246888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Desventajas</a:t>
            </a:r>
            <a:endParaRPr lang="en-US" sz="1500" dirty="0"/>
          </a:p>
        </p:txBody>
      </p:sp>
      <p:sp>
        <p:nvSpPr>
          <p:cNvPr id="25" name="Text 21"/>
          <p:cNvSpPr/>
          <p:nvPr/>
        </p:nvSpPr>
        <p:spPr>
          <a:xfrm>
            <a:off x="8458200" y="2523744"/>
            <a:ext cx="2971800" cy="301752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Escalado en bloque: se replica todo, aunque solo un módulo lo necesite.</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Acoplamiento creciente con el tamaño del equipo.</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Un despliegue arriesgado: cualquier cambio publica todo.</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Atadura tecnológica a un solo lenguaje.</a:t>
            </a:r>
            <a:endParaRPr lang="en-US" sz="1200" dirty="0"/>
          </a:p>
        </p:txBody>
      </p:sp>
      <p:sp>
        <p:nvSpPr>
          <p:cNvPr id="26"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ESTILOS ARQUITECTÓNICOS · 4 DE 5</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SOA: Arquitectura Orientada a Servicios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sp>
        <p:nvSpPr>
          <p:cNvPr id="5" name="Shape 3"/>
          <p:cNvSpPr/>
          <p:nvPr/>
        </p:nvSpPr>
        <p:spPr>
          <a:xfrm>
            <a:off x="4023360" y="3017520"/>
            <a:ext cx="4114800" cy="914400"/>
          </a:xfrm>
          <a:prstGeom prst="roundRect">
            <a:avLst>
              <a:gd name="adj" fmla="val 6000"/>
            </a:avLst>
          </a:prstGeom>
          <a:solidFill>
            <a:srgbClr val="0F2850"/>
          </a:solidFill>
          <a:ln w="12700">
            <a:solidFill>
              <a:srgbClr val="0F2850"/>
            </a:solidFill>
            <a:prstDash val="solid"/>
          </a:ln>
          <a:effectLst>
            <a:outerShdw blurRad="63500" dist="25400" dir="2700000" algn="bl" rotWithShape="0">
              <a:srgbClr val="000000">
                <a:alpha val="18000"/>
              </a:srgbClr>
            </a:outerShdw>
          </a:effectLst>
        </p:spPr>
      </p:sp>
      <p:sp>
        <p:nvSpPr>
          <p:cNvPr id="6" name="Text 4"/>
          <p:cNvSpPr/>
          <p:nvPr/>
        </p:nvSpPr>
        <p:spPr>
          <a:xfrm>
            <a:off x="4023360" y="3017520"/>
            <a:ext cx="4114800" cy="914400"/>
          </a:xfrm>
          <a:prstGeom prst="rect">
            <a:avLst/>
          </a:prstGeom>
          <a:noFill/>
          <a:ln/>
        </p:spPr>
        <p:txBody>
          <a:bodyPr wrap="square" lIns="635" tIns="635" rIns="635" bIns="635"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Bus de Servicios Empresariales (ESB)</a:t>
            </a:r>
            <a:endParaRPr lang="en-US" sz="1350" dirty="0"/>
          </a:p>
        </p:txBody>
      </p:sp>
      <p:sp>
        <p:nvSpPr>
          <p:cNvPr id="7" name="Shape 5"/>
          <p:cNvSpPr/>
          <p:nvPr/>
        </p:nvSpPr>
        <p:spPr>
          <a:xfrm>
            <a:off x="1280160" y="1645920"/>
            <a:ext cx="2194560" cy="914400"/>
          </a:xfrm>
          <a:prstGeom prst="roundRect">
            <a:avLst>
              <a:gd name="adj" fmla="val 6000"/>
            </a:avLst>
          </a:prstGeom>
          <a:solidFill>
            <a:srgbClr val="1E5096"/>
          </a:solidFill>
          <a:ln w="12700">
            <a:solidFill>
              <a:srgbClr val="1E5096"/>
            </a:solidFill>
            <a:prstDash val="solid"/>
          </a:ln>
          <a:effectLst>
            <a:outerShdw blurRad="63500" dist="25400" dir="2700000" algn="bl" rotWithShape="0">
              <a:srgbClr val="000000">
                <a:alpha val="18000"/>
              </a:srgbClr>
            </a:outerShdw>
          </a:effectLst>
        </p:spPr>
      </p:sp>
      <p:sp>
        <p:nvSpPr>
          <p:cNvPr id="8" name="Text 6"/>
          <p:cNvSpPr/>
          <p:nvPr/>
        </p:nvSpPr>
        <p:spPr>
          <a:xfrm>
            <a:off x="1280160" y="1645920"/>
            <a:ext cx="2194560" cy="914400"/>
          </a:xfrm>
          <a:prstGeom prst="rect">
            <a:avLst/>
          </a:prstGeom>
          <a:noFill/>
          <a:ln/>
        </p:spPr>
        <p:txBody>
          <a:bodyPr wrap="square" lIns="635" tIns="635" rIns="635" bIns="635"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Servicio</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Clientes</a:t>
            </a:r>
            <a:endParaRPr lang="en-US" sz="1250" dirty="0"/>
          </a:p>
        </p:txBody>
      </p:sp>
      <p:sp>
        <p:nvSpPr>
          <p:cNvPr id="9" name="Shape 7"/>
          <p:cNvSpPr/>
          <p:nvPr/>
        </p:nvSpPr>
        <p:spPr>
          <a:xfrm>
            <a:off x="2377440" y="2560320"/>
            <a:ext cx="3703320" cy="457200"/>
          </a:xfrm>
          <a:prstGeom prst="line">
            <a:avLst/>
          </a:prstGeom>
          <a:noFill/>
          <a:ln w="25400">
            <a:solidFill>
              <a:srgbClr val="6B7280"/>
            </a:solidFill>
            <a:prstDash val="solid"/>
            <a:tailEnd type="triangle"/>
          </a:ln>
        </p:spPr>
      </p:sp>
      <p:sp>
        <p:nvSpPr>
          <p:cNvPr id="10" name="Shape 8"/>
          <p:cNvSpPr/>
          <p:nvPr/>
        </p:nvSpPr>
        <p:spPr>
          <a:xfrm>
            <a:off x="4983480" y="1645920"/>
            <a:ext cx="2194560" cy="914400"/>
          </a:xfrm>
          <a:prstGeom prst="roundRect">
            <a:avLst>
              <a:gd name="adj" fmla="val 6000"/>
            </a:avLst>
          </a:prstGeom>
          <a:solidFill>
            <a:srgbClr val="1E5096"/>
          </a:solidFill>
          <a:ln w="12700">
            <a:solidFill>
              <a:srgbClr val="1E5096"/>
            </a:solidFill>
            <a:prstDash val="solid"/>
          </a:ln>
          <a:effectLst>
            <a:outerShdw blurRad="63500" dist="25400" dir="2700000" algn="bl" rotWithShape="0">
              <a:srgbClr val="000000">
                <a:alpha val="18000"/>
              </a:srgbClr>
            </a:outerShdw>
          </a:effectLst>
        </p:spPr>
      </p:sp>
      <p:sp>
        <p:nvSpPr>
          <p:cNvPr id="11" name="Text 9"/>
          <p:cNvSpPr/>
          <p:nvPr/>
        </p:nvSpPr>
        <p:spPr>
          <a:xfrm>
            <a:off x="4983480" y="1645920"/>
            <a:ext cx="2194560" cy="914400"/>
          </a:xfrm>
          <a:prstGeom prst="rect">
            <a:avLst/>
          </a:prstGeom>
          <a:noFill/>
          <a:ln/>
        </p:spPr>
        <p:txBody>
          <a:bodyPr wrap="square" lIns="635" tIns="635" rIns="635" bIns="635"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Servicio</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Facturación</a:t>
            </a:r>
            <a:endParaRPr lang="en-US" sz="1250" dirty="0"/>
          </a:p>
        </p:txBody>
      </p:sp>
      <p:sp>
        <p:nvSpPr>
          <p:cNvPr id="12" name="Shape 10"/>
          <p:cNvSpPr/>
          <p:nvPr/>
        </p:nvSpPr>
        <p:spPr>
          <a:xfrm>
            <a:off x="6080760" y="2560320"/>
            <a:ext cx="0" cy="457200"/>
          </a:xfrm>
          <a:prstGeom prst="line">
            <a:avLst/>
          </a:prstGeom>
          <a:noFill/>
          <a:ln w="25400">
            <a:solidFill>
              <a:srgbClr val="6B7280"/>
            </a:solidFill>
            <a:prstDash val="solid"/>
            <a:tailEnd type="triangle"/>
          </a:ln>
        </p:spPr>
      </p:sp>
      <p:sp>
        <p:nvSpPr>
          <p:cNvPr id="13" name="Shape 11"/>
          <p:cNvSpPr/>
          <p:nvPr/>
        </p:nvSpPr>
        <p:spPr>
          <a:xfrm>
            <a:off x="8686800" y="1645920"/>
            <a:ext cx="2194560" cy="914400"/>
          </a:xfrm>
          <a:prstGeom prst="roundRect">
            <a:avLst>
              <a:gd name="adj" fmla="val 6000"/>
            </a:avLst>
          </a:prstGeom>
          <a:solidFill>
            <a:srgbClr val="1E5096"/>
          </a:solidFill>
          <a:ln w="12700">
            <a:solidFill>
              <a:srgbClr val="1E5096"/>
            </a:solidFill>
            <a:prstDash val="solid"/>
          </a:ln>
          <a:effectLst>
            <a:outerShdw blurRad="63500" dist="25400" dir="2700000" algn="bl" rotWithShape="0">
              <a:srgbClr val="000000">
                <a:alpha val="18000"/>
              </a:srgbClr>
            </a:outerShdw>
          </a:effectLst>
        </p:spPr>
      </p:sp>
      <p:sp>
        <p:nvSpPr>
          <p:cNvPr id="14" name="Text 12"/>
          <p:cNvSpPr/>
          <p:nvPr/>
        </p:nvSpPr>
        <p:spPr>
          <a:xfrm>
            <a:off x="8686800" y="1645920"/>
            <a:ext cx="2194560" cy="914400"/>
          </a:xfrm>
          <a:prstGeom prst="rect">
            <a:avLst/>
          </a:prstGeom>
          <a:noFill/>
          <a:ln/>
        </p:spPr>
        <p:txBody>
          <a:bodyPr wrap="square" lIns="635" tIns="635" rIns="635" bIns="635"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Servicio</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Inventario</a:t>
            </a:r>
            <a:endParaRPr lang="en-US" sz="1250" dirty="0"/>
          </a:p>
        </p:txBody>
      </p:sp>
      <p:sp>
        <p:nvSpPr>
          <p:cNvPr id="15" name="Shape 13"/>
          <p:cNvSpPr/>
          <p:nvPr/>
        </p:nvSpPr>
        <p:spPr>
          <a:xfrm flipH="1">
            <a:off x="6080760" y="2560320"/>
            <a:ext cx="3703320" cy="457200"/>
          </a:xfrm>
          <a:prstGeom prst="line">
            <a:avLst/>
          </a:prstGeom>
          <a:noFill/>
          <a:ln w="25400">
            <a:solidFill>
              <a:srgbClr val="6B7280"/>
            </a:solidFill>
            <a:prstDash val="solid"/>
            <a:tailEnd type="triangle"/>
          </a:ln>
        </p:spPr>
      </p:sp>
      <p:sp>
        <p:nvSpPr>
          <p:cNvPr id="16" name="Shape 14"/>
          <p:cNvSpPr/>
          <p:nvPr/>
        </p:nvSpPr>
        <p:spPr>
          <a:xfrm>
            <a:off x="2194560" y="4480560"/>
            <a:ext cx="2194560" cy="914400"/>
          </a:xfrm>
          <a:prstGeom prst="roundRect">
            <a:avLst>
              <a:gd name="adj" fmla="val 6000"/>
            </a:avLst>
          </a:prstGeom>
          <a:solidFill>
            <a:srgbClr val="008080"/>
          </a:solidFill>
          <a:ln w="12700">
            <a:solidFill>
              <a:srgbClr val="008080"/>
            </a:solidFill>
            <a:prstDash val="solid"/>
          </a:ln>
          <a:effectLst>
            <a:outerShdw blurRad="63500" dist="25400" dir="2700000" algn="bl" rotWithShape="0">
              <a:srgbClr val="000000">
                <a:alpha val="18000"/>
              </a:srgbClr>
            </a:outerShdw>
          </a:effectLst>
        </p:spPr>
      </p:sp>
      <p:sp>
        <p:nvSpPr>
          <p:cNvPr id="17" name="Text 15"/>
          <p:cNvSpPr/>
          <p:nvPr/>
        </p:nvSpPr>
        <p:spPr>
          <a:xfrm>
            <a:off x="2194560" y="4480560"/>
            <a:ext cx="2194560" cy="914400"/>
          </a:xfrm>
          <a:prstGeom prst="rect">
            <a:avLst/>
          </a:prstGeom>
          <a:noFill/>
          <a:ln/>
        </p:spPr>
        <p:txBody>
          <a:bodyPr wrap="square" lIns="635" tIns="635" rIns="635" bIns="635"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Aplicación</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de RR. HH.</a:t>
            </a:r>
            <a:endParaRPr lang="en-US" sz="1250" dirty="0"/>
          </a:p>
        </p:txBody>
      </p:sp>
      <p:sp>
        <p:nvSpPr>
          <p:cNvPr id="18" name="Shape 16"/>
          <p:cNvSpPr/>
          <p:nvPr/>
        </p:nvSpPr>
        <p:spPr>
          <a:xfrm flipH="1">
            <a:off x="3291840" y="3931920"/>
            <a:ext cx="2788920" cy="548640"/>
          </a:xfrm>
          <a:prstGeom prst="line">
            <a:avLst/>
          </a:prstGeom>
          <a:noFill/>
          <a:ln w="25400">
            <a:solidFill>
              <a:srgbClr val="6B7280"/>
            </a:solidFill>
            <a:prstDash val="solid"/>
            <a:tailEnd type="triangle"/>
          </a:ln>
        </p:spPr>
      </p:sp>
      <p:sp>
        <p:nvSpPr>
          <p:cNvPr id="19" name="Shape 17"/>
          <p:cNvSpPr/>
          <p:nvPr/>
        </p:nvSpPr>
        <p:spPr>
          <a:xfrm>
            <a:off x="7772400" y="4480560"/>
            <a:ext cx="2194560" cy="914400"/>
          </a:xfrm>
          <a:prstGeom prst="roundRect">
            <a:avLst>
              <a:gd name="adj" fmla="val 6000"/>
            </a:avLst>
          </a:prstGeom>
          <a:solidFill>
            <a:srgbClr val="008080"/>
          </a:solidFill>
          <a:ln w="12700">
            <a:solidFill>
              <a:srgbClr val="008080"/>
            </a:solidFill>
            <a:prstDash val="solid"/>
          </a:ln>
          <a:effectLst>
            <a:outerShdw blurRad="63500" dist="25400" dir="2700000" algn="bl" rotWithShape="0">
              <a:srgbClr val="000000">
                <a:alpha val="18000"/>
              </a:srgbClr>
            </a:outerShdw>
          </a:effectLst>
        </p:spPr>
      </p:sp>
      <p:sp>
        <p:nvSpPr>
          <p:cNvPr id="20" name="Text 18"/>
          <p:cNvSpPr/>
          <p:nvPr/>
        </p:nvSpPr>
        <p:spPr>
          <a:xfrm>
            <a:off x="7772400" y="4480560"/>
            <a:ext cx="2194560" cy="914400"/>
          </a:xfrm>
          <a:prstGeom prst="rect">
            <a:avLst/>
          </a:prstGeom>
          <a:noFill/>
          <a:ln/>
        </p:spPr>
        <p:txBody>
          <a:bodyPr wrap="square" lIns="635" tIns="635" rIns="635" bIns="635"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Sistema</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contable</a:t>
            </a:r>
            <a:endParaRPr lang="en-US" sz="1250" dirty="0"/>
          </a:p>
        </p:txBody>
      </p:sp>
      <p:sp>
        <p:nvSpPr>
          <p:cNvPr id="21" name="Shape 19"/>
          <p:cNvSpPr/>
          <p:nvPr/>
        </p:nvSpPr>
        <p:spPr>
          <a:xfrm>
            <a:off x="6080760" y="3931920"/>
            <a:ext cx="2788920" cy="548640"/>
          </a:xfrm>
          <a:prstGeom prst="line">
            <a:avLst/>
          </a:prstGeom>
          <a:noFill/>
          <a:ln w="25400">
            <a:solidFill>
              <a:srgbClr val="6B7280"/>
            </a:solidFill>
            <a:prstDash val="solid"/>
            <a:tailEnd type="triangle"/>
          </a:ln>
        </p:spPr>
      </p:sp>
      <p:sp>
        <p:nvSpPr>
          <p:cNvPr id="22" name="Text 20"/>
          <p:cNvSpPr/>
          <p:nvPr/>
        </p:nvSpPr>
        <p:spPr>
          <a:xfrm>
            <a:off x="548640" y="5623560"/>
            <a:ext cx="11064240" cy="868680"/>
          </a:xfrm>
          <a:prstGeom prst="rect">
            <a:avLst/>
          </a:prstGeom>
          <a:noFill/>
          <a:ln/>
        </p:spPr>
        <p:txBody>
          <a:bodyPr wrap="square" lIns="0" tIns="0" rIns="0" bIns="0" rtlCol="0" anchor="ctr"/>
          <a:lstStyle/>
          <a:p>
            <a:pPr marL="0" indent="0">
              <a:buNone/>
            </a:pPr>
            <a:r>
              <a:rPr lang="en-US" sz="1300" b="1" dirty="0">
                <a:solidFill>
                  <a:srgbClr val="0F2850"/>
                </a:solidFill>
                <a:latin typeface="Calibri" pitchFamily="34" charset="0"/>
                <a:ea typeface="Calibri" pitchFamily="34" charset="-122"/>
                <a:cs typeface="Calibri" pitchFamily="34" charset="-120"/>
              </a:rPr>
              <a:t>Idea central: </a:t>
            </a:r>
            <a:r>
              <a:rPr lang="en-US" sz="1300" dirty="0">
                <a:solidFill>
                  <a:srgbClr val="2B2B2B"/>
                </a:solidFill>
                <a:latin typeface="Calibri" pitchFamily="34" charset="0"/>
                <a:ea typeface="Calibri" pitchFamily="34" charset="-122"/>
                <a:cs typeface="Calibri" pitchFamily="34" charset="-120"/>
              </a:rPr>
              <a:t>exponer las capacidades de negocio como servicios reutilizables con contratos formales, integrados a través de un bus central que enruta, transforma y orquesta los mensajes.  </a:t>
            </a:r>
            <a:r>
              <a:rPr lang="en-US" sz="1300" b="1" dirty="0">
                <a:solidFill>
                  <a:srgbClr val="B0413E"/>
                </a:solidFill>
                <a:latin typeface="Calibri" pitchFamily="34" charset="0"/>
                <a:ea typeface="Calibri" pitchFamily="34" charset="-122"/>
                <a:cs typeface="Calibri" pitchFamily="34" charset="-120"/>
              </a:rPr>
              <a:t>Riesgo histórico: </a:t>
            </a:r>
            <a:r>
              <a:rPr lang="en-US" sz="1300" dirty="0">
                <a:solidFill>
                  <a:srgbClr val="2B2B2B"/>
                </a:solidFill>
                <a:latin typeface="Calibri" pitchFamily="34" charset="0"/>
                <a:ea typeface="Calibri" pitchFamily="34" charset="-122"/>
                <a:cs typeface="Calibri" pitchFamily="34" charset="-120"/>
              </a:rPr>
              <a:t>el bus concentra lógica y se convierte en cuello de botella y punto único de fallo.</a:t>
            </a:r>
            <a:endParaRPr lang="en-US" sz="130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ESTILOS ARQUITECTÓNICOS · 5 DE 5</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Microservicios: autonomía alrededor del negocio</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sp>
        <p:nvSpPr>
          <p:cNvPr id="5" name="Shape 3"/>
          <p:cNvSpPr/>
          <p:nvPr/>
        </p:nvSpPr>
        <p:spPr>
          <a:xfrm>
            <a:off x="548640" y="1600200"/>
            <a:ext cx="3611880" cy="2057400"/>
          </a:xfrm>
          <a:prstGeom prst="roundRect">
            <a:avLst>
              <a:gd name="adj" fmla="val 3111"/>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6" name="Shape 4"/>
          <p:cNvSpPr/>
          <p:nvPr/>
        </p:nvSpPr>
        <p:spPr>
          <a:xfrm>
            <a:off x="749808" y="1801368"/>
            <a:ext cx="475488" cy="475488"/>
          </a:xfrm>
          <a:prstGeom prst="ellipse">
            <a:avLst/>
          </a:prstGeom>
          <a:solidFill>
            <a:srgbClr val="1E5096"/>
          </a:solidFill>
          <a:ln/>
        </p:spPr>
      </p:sp>
      <p:pic>
        <p:nvPicPr>
          <p:cNvPr id="7" name="Image 0" descr="preencoded.png"/>
          <p:cNvPicPr>
            <a:picLocks noChangeAspect="1"/>
          </p:cNvPicPr>
          <p:nvPr/>
        </p:nvPicPr>
        <p:blipFill>
          <a:blip r:embed="rId3"/>
          <a:stretch>
            <a:fillRect/>
          </a:stretch>
        </p:blipFill>
        <p:spPr>
          <a:xfrm>
            <a:off x="850392" y="1901952"/>
            <a:ext cx="274320" cy="274320"/>
          </a:xfrm>
          <a:prstGeom prst="rect">
            <a:avLst/>
          </a:prstGeom>
        </p:spPr>
      </p:pic>
      <p:sp>
        <p:nvSpPr>
          <p:cNvPr id="8" name="Text 5"/>
          <p:cNvSpPr/>
          <p:nvPr/>
        </p:nvSpPr>
        <p:spPr>
          <a:xfrm>
            <a:off x="1353312" y="1783080"/>
            <a:ext cx="265176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Capacidad de negocio</a:t>
            </a:r>
            <a:endParaRPr lang="en-US" sz="1500" dirty="0"/>
          </a:p>
        </p:txBody>
      </p:sp>
      <p:sp>
        <p:nvSpPr>
          <p:cNvPr id="9" name="Text 6"/>
          <p:cNvSpPr/>
          <p:nvPr/>
        </p:nvSpPr>
        <p:spPr>
          <a:xfrm>
            <a:off x="777240" y="2386584"/>
            <a:ext cx="3154680" cy="109728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Cada servicio modela una capacidad: pagos, catálogo, envíos.</a:t>
            </a:r>
            <a:endParaRPr lang="en-US" sz="1200" dirty="0"/>
          </a:p>
        </p:txBody>
      </p:sp>
      <p:sp>
        <p:nvSpPr>
          <p:cNvPr id="10" name="Shape 7"/>
          <p:cNvSpPr/>
          <p:nvPr/>
        </p:nvSpPr>
        <p:spPr>
          <a:xfrm>
            <a:off x="4370832" y="1600200"/>
            <a:ext cx="3611880" cy="2057400"/>
          </a:xfrm>
          <a:prstGeom prst="roundRect">
            <a:avLst>
              <a:gd name="adj" fmla="val 3111"/>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11" name="Shape 8"/>
          <p:cNvSpPr/>
          <p:nvPr/>
        </p:nvSpPr>
        <p:spPr>
          <a:xfrm>
            <a:off x="4572000" y="1801368"/>
            <a:ext cx="475488" cy="475488"/>
          </a:xfrm>
          <a:prstGeom prst="ellipse">
            <a:avLst/>
          </a:prstGeom>
          <a:solidFill>
            <a:srgbClr val="008080"/>
          </a:solidFill>
          <a:ln/>
        </p:spPr>
      </p:sp>
      <p:pic>
        <p:nvPicPr>
          <p:cNvPr id="12" name="Image 1" descr="preencoded.png"/>
          <p:cNvPicPr>
            <a:picLocks noChangeAspect="1"/>
          </p:cNvPicPr>
          <p:nvPr/>
        </p:nvPicPr>
        <p:blipFill>
          <a:blip r:embed="rId4"/>
          <a:stretch>
            <a:fillRect/>
          </a:stretch>
        </p:blipFill>
        <p:spPr>
          <a:xfrm>
            <a:off x="4672584" y="1901952"/>
            <a:ext cx="274320" cy="274320"/>
          </a:xfrm>
          <a:prstGeom prst="rect">
            <a:avLst/>
          </a:prstGeom>
        </p:spPr>
      </p:pic>
      <p:sp>
        <p:nvSpPr>
          <p:cNvPr id="13" name="Text 9"/>
          <p:cNvSpPr/>
          <p:nvPr/>
        </p:nvSpPr>
        <p:spPr>
          <a:xfrm>
            <a:off x="5175504" y="1783080"/>
            <a:ext cx="265176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Despliegue independiente</a:t>
            </a:r>
            <a:endParaRPr lang="en-US" sz="1500" dirty="0"/>
          </a:p>
        </p:txBody>
      </p:sp>
      <p:sp>
        <p:nvSpPr>
          <p:cNvPr id="14" name="Text 10"/>
          <p:cNvSpPr/>
          <p:nvPr/>
        </p:nvSpPr>
        <p:spPr>
          <a:xfrm>
            <a:off x="4599432" y="2386584"/>
            <a:ext cx="3154680" cy="109728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Se publica un servicio sin tocar ni detener a los demás.</a:t>
            </a:r>
            <a:endParaRPr lang="en-US" sz="1200" dirty="0"/>
          </a:p>
        </p:txBody>
      </p:sp>
      <p:sp>
        <p:nvSpPr>
          <p:cNvPr id="15" name="Shape 11"/>
          <p:cNvSpPr/>
          <p:nvPr/>
        </p:nvSpPr>
        <p:spPr>
          <a:xfrm>
            <a:off x="8193024" y="1600200"/>
            <a:ext cx="3611880" cy="2057400"/>
          </a:xfrm>
          <a:prstGeom prst="roundRect">
            <a:avLst>
              <a:gd name="adj" fmla="val 3111"/>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16" name="Shape 12"/>
          <p:cNvSpPr/>
          <p:nvPr/>
        </p:nvSpPr>
        <p:spPr>
          <a:xfrm>
            <a:off x="8394192" y="1801368"/>
            <a:ext cx="475488" cy="475488"/>
          </a:xfrm>
          <a:prstGeom prst="ellipse">
            <a:avLst/>
          </a:prstGeom>
          <a:solidFill>
            <a:srgbClr val="0F2850"/>
          </a:solidFill>
          <a:ln/>
        </p:spPr>
      </p:sp>
      <p:pic>
        <p:nvPicPr>
          <p:cNvPr id="17" name="Image 2" descr="preencoded.png"/>
          <p:cNvPicPr>
            <a:picLocks noChangeAspect="1"/>
          </p:cNvPicPr>
          <p:nvPr/>
        </p:nvPicPr>
        <p:blipFill>
          <a:blip r:embed="rId5"/>
          <a:stretch>
            <a:fillRect/>
          </a:stretch>
        </p:blipFill>
        <p:spPr>
          <a:xfrm>
            <a:off x="8494776" y="1901952"/>
            <a:ext cx="274320" cy="274320"/>
          </a:xfrm>
          <a:prstGeom prst="rect">
            <a:avLst/>
          </a:prstGeom>
        </p:spPr>
      </p:pic>
      <p:sp>
        <p:nvSpPr>
          <p:cNvPr id="18" name="Text 13"/>
          <p:cNvSpPr/>
          <p:nvPr/>
        </p:nvSpPr>
        <p:spPr>
          <a:xfrm>
            <a:off x="8997696" y="1783080"/>
            <a:ext cx="265176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Datos descentralizados</a:t>
            </a:r>
            <a:endParaRPr lang="en-US" sz="1500" dirty="0"/>
          </a:p>
        </p:txBody>
      </p:sp>
      <p:sp>
        <p:nvSpPr>
          <p:cNvPr id="19" name="Text 14"/>
          <p:cNvSpPr/>
          <p:nvPr/>
        </p:nvSpPr>
        <p:spPr>
          <a:xfrm>
            <a:off x="8421624" y="2386584"/>
            <a:ext cx="3154680" cy="109728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Cada servicio es dueño exclusivo de su base de datos.</a:t>
            </a:r>
            <a:endParaRPr lang="en-US" sz="1200" dirty="0"/>
          </a:p>
        </p:txBody>
      </p:sp>
      <p:sp>
        <p:nvSpPr>
          <p:cNvPr id="20" name="Shape 15"/>
          <p:cNvSpPr/>
          <p:nvPr/>
        </p:nvSpPr>
        <p:spPr>
          <a:xfrm>
            <a:off x="548640" y="3840480"/>
            <a:ext cx="3611880" cy="2057400"/>
          </a:xfrm>
          <a:prstGeom prst="roundRect">
            <a:avLst>
              <a:gd name="adj" fmla="val 3111"/>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21" name="Shape 16"/>
          <p:cNvSpPr/>
          <p:nvPr/>
        </p:nvSpPr>
        <p:spPr>
          <a:xfrm>
            <a:off x="749808" y="4041648"/>
            <a:ext cx="475488" cy="475488"/>
          </a:xfrm>
          <a:prstGeom prst="ellipse">
            <a:avLst/>
          </a:prstGeom>
          <a:solidFill>
            <a:srgbClr val="1E5096"/>
          </a:solidFill>
          <a:ln/>
        </p:spPr>
      </p:sp>
      <p:pic>
        <p:nvPicPr>
          <p:cNvPr id="22" name="Image 3" descr="preencoded.png"/>
          <p:cNvPicPr>
            <a:picLocks noChangeAspect="1"/>
          </p:cNvPicPr>
          <p:nvPr/>
        </p:nvPicPr>
        <p:blipFill>
          <a:blip r:embed="rId6"/>
          <a:stretch>
            <a:fillRect/>
          </a:stretch>
        </p:blipFill>
        <p:spPr>
          <a:xfrm>
            <a:off x="850392" y="4142232"/>
            <a:ext cx="274320" cy="274320"/>
          </a:xfrm>
          <a:prstGeom prst="rect">
            <a:avLst/>
          </a:prstGeom>
        </p:spPr>
      </p:pic>
      <p:sp>
        <p:nvSpPr>
          <p:cNvPr id="23" name="Text 17"/>
          <p:cNvSpPr/>
          <p:nvPr/>
        </p:nvSpPr>
        <p:spPr>
          <a:xfrm>
            <a:off x="1353312" y="4023360"/>
            <a:ext cx="265176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Comunicación ligera</a:t>
            </a:r>
            <a:endParaRPr lang="en-US" sz="1500" dirty="0"/>
          </a:p>
        </p:txBody>
      </p:sp>
      <p:sp>
        <p:nvSpPr>
          <p:cNvPr id="24" name="Text 18"/>
          <p:cNvSpPr/>
          <p:nvPr/>
        </p:nvSpPr>
        <p:spPr>
          <a:xfrm>
            <a:off x="777240" y="4626864"/>
            <a:ext cx="3154680" cy="109728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Contratos REST o mensajería; nada de bus inteligente central.</a:t>
            </a:r>
            <a:endParaRPr lang="en-US" sz="1200" dirty="0"/>
          </a:p>
        </p:txBody>
      </p:sp>
      <p:sp>
        <p:nvSpPr>
          <p:cNvPr id="25" name="Shape 19"/>
          <p:cNvSpPr/>
          <p:nvPr/>
        </p:nvSpPr>
        <p:spPr>
          <a:xfrm>
            <a:off x="4370832" y="3840480"/>
            <a:ext cx="3611880" cy="2057400"/>
          </a:xfrm>
          <a:prstGeom prst="roundRect">
            <a:avLst>
              <a:gd name="adj" fmla="val 3111"/>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26" name="Shape 20"/>
          <p:cNvSpPr/>
          <p:nvPr/>
        </p:nvSpPr>
        <p:spPr>
          <a:xfrm>
            <a:off x="4572000" y="4041648"/>
            <a:ext cx="475488" cy="475488"/>
          </a:xfrm>
          <a:prstGeom prst="ellipse">
            <a:avLst/>
          </a:prstGeom>
          <a:solidFill>
            <a:srgbClr val="008080"/>
          </a:solidFill>
          <a:ln/>
        </p:spPr>
      </p:sp>
      <p:pic>
        <p:nvPicPr>
          <p:cNvPr id="27" name="Image 4" descr="preencoded.png"/>
          <p:cNvPicPr>
            <a:picLocks noChangeAspect="1"/>
          </p:cNvPicPr>
          <p:nvPr/>
        </p:nvPicPr>
        <p:blipFill>
          <a:blip r:embed="rId7"/>
          <a:stretch>
            <a:fillRect/>
          </a:stretch>
        </p:blipFill>
        <p:spPr>
          <a:xfrm>
            <a:off x="4672584" y="4142232"/>
            <a:ext cx="274320" cy="274320"/>
          </a:xfrm>
          <a:prstGeom prst="rect">
            <a:avLst/>
          </a:prstGeom>
        </p:spPr>
      </p:pic>
      <p:sp>
        <p:nvSpPr>
          <p:cNvPr id="28" name="Text 21"/>
          <p:cNvSpPr/>
          <p:nvPr/>
        </p:nvSpPr>
        <p:spPr>
          <a:xfrm>
            <a:off x="5175504" y="4023360"/>
            <a:ext cx="265176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Equipos pequeños</a:t>
            </a:r>
            <a:endParaRPr lang="en-US" sz="1500" dirty="0"/>
          </a:p>
        </p:txBody>
      </p:sp>
      <p:sp>
        <p:nvSpPr>
          <p:cNvPr id="29" name="Text 22"/>
          <p:cNvSpPr/>
          <p:nvPr/>
        </p:nvSpPr>
        <p:spPr>
          <a:xfrm>
            <a:off x="4599432" y="4626864"/>
            <a:ext cx="3154680" cy="109728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Un equipo posee el servicio de punta a punta (construye y opera).</a:t>
            </a:r>
            <a:endParaRPr lang="en-US" sz="1200" dirty="0"/>
          </a:p>
        </p:txBody>
      </p:sp>
      <p:sp>
        <p:nvSpPr>
          <p:cNvPr id="30" name="Shape 23"/>
          <p:cNvSpPr/>
          <p:nvPr/>
        </p:nvSpPr>
        <p:spPr>
          <a:xfrm>
            <a:off x="8193024" y="3840480"/>
            <a:ext cx="3611880" cy="2057400"/>
          </a:xfrm>
          <a:prstGeom prst="roundRect">
            <a:avLst>
              <a:gd name="adj" fmla="val 3111"/>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31" name="Shape 24"/>
          <p:cNvSpPr/>
          <p:nvPr/>
        </p:nvSpPr>
        <p:spPr>
          <a:xfrm>
            <a:off x="8394192" y="4041648"/>
            <a:ext cx="475488" cy="475488"/>
          </a:xfrm>
          <a:prstGeom prst="ellipse">
            <a:avLst/>
          </a:prstGeom>
          <a:solidFill>
            <a:srgbClr val="0F2850"/>
          </a:solidFill>
          <a:ln/>
        </p:spPr>
      </p:sp>
      <p:pic>
        <p:nvPicPr>
          <p:cNvPr id="32" name="Image 5" descr="preencoded.png"/>
          <p:cNvPicPr>
            <a:picLocks noChangeAspect="1"/>
          </p:cNvPicPr>
          <p:nvPr/>
        </p:nvPicPr>
        <p:blipFill>
          <a:blip r:embed="rId8"/>
          <a:stretch>
            <a:fillRect/>
          </a:stretch>
        </p:blipFill>
        <p:spPr>
          <a:xfrm>
            <a:off x="8494776" y="4142232"/>
            <a:ext cx="274320" cy="274320"/>
          </a:xfrm>
          <a:prstGeom prst="rect">
            <a:avLst/>
          </a:prstGeom>
        </p:spPr>
      </p:pic>
      <p:sp>
        <p:nvSpPr>
          <p:cNvPr id="33" name="Text 25"/>
          <p:cNvSpPr/>
          <p:nvPr/>
        </p:nvSpPr>
        <p:spPr>
          <a:xfrm>
            <a:off x="8997696" y="4023360"/>
            <a:ext cx="265176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Tolerancia a fallos</a:t>
            </a:r>
            <a:endParaRPr lang="en-US" sz="1500" dirty="0"/>
          </a:p>
        </p:txBody>
      </p:sp>
      <p:sp>
        <p:nvSpPr>
          <p:cNvPr id="34" name="Text 26"/>
          <p:cNvSpPr/>
          <p:nvPr/>
        </p:nvSpPr>
        <p:spPr>
          <a:xfrm>
            <a:off x="8421624" y="4626864"/>
            <a:ext cx="3154680" cy="109728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El fallo de un servicio se aísla; el sistema se degrada, no muere.</a:t>
            </a:r>
            <a:endParaRPr lang="en-US" sz="1200" dirty="0"/>
          </a:p>
        </p:txBody>
      </p:sp>
      <p:sp>
        <p:nvSpPr>
          <p:cNvPr id="35" name="Text 27"/>
          <p:cNvSpPr/>
          <p:nvPr/>
        </p:nvSpPr>
        <p:spPr>
          <a:xfrm>
            <a:off x="548640" y="6035040"/>
            <a:ext cx="11064240" cy="36576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«Servicios pequeños y autónomos que trabajan juntos, modelados alrededor de un dominio de negocio» — S. Newman</a:t>
            </a:r>
            <a:endParaRPr lang="en-US" sz="1200" dirty="0"/>
          </a:p>
        </p:txBody>
      </p:sp>
      <p:sp>
        <p:nvSpPr>
          <p:cNvPr id="36"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SÍNTESIS</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Comparativa: monolito, SOA y microservicios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3968496"/>
        </p:xfrm>
        <a:graphic>
          <a:graphicData uri="http://schemas.openxmlformats.org/drawingml/2006/table">
            <a:tbl>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566928">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Criterio</a:t>
                      </a:r>
                      <a:endParaRPr lang="en-US" sz="12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0F2850"/>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Monolito</a:t>
                      </a:r>
                      <a:endParaRPr lang="en-US" sz="12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0F2850"/>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SOA (Arq. Orientada a Servicios)</a:t>
                      </a:r>
                      <a:endParaRPr lang="en-US" sz="12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0F2850"/>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Microservicios</a:t>
                      </a:r>
                      <a:endParaRPr lang="en-US" sz="12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0F2850"/>
                    </a:solidFill>
                  </a:tcPr>
                </a:tc>
                <a:extLst>
                  <a:ext uri="{0D108BD9-81ED-4DB2-BD59-A6C34878D82A}">
                    <a16:rowId xmlns:a16="http://schemas.microsoft.com/office/drawing/2014/main" val="10000"/>
                  </a:ext>
                </a:extLst>
              </a:tr>
              <a:tr h="566928">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Unidad de despliegue</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Una sola aplicación</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Servicios grandes + bus central</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Muchos servicios pequeños</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Escalado</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En bloque (todo o nada)</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Por servicio, limitado por el bus</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Fino: solo el servicio saturado</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566928">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Datos</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Base de datos única compartida</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Frecuentemente compartidos</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Una base por servicio</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Tecnología</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Un solo lenguaje/plataforma</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Heterogénea vía el bus</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Libre por servicio (políglota)</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566928">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Fallo parcial</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Derriba todo el sistema</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El bus es punto único de fallo</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Aislado por servicio</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Complejidad operativa</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Baja</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Media-alta (gobierno del bus)</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Alta: red, observabilidad, datos</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extLst>
                  <a:ext uri="{0D108BD9-81ED-4DB2-BD59-A6C34878D82A}">
                    <a16:rowId xmlns:a16="http://schemas.microsoft.com/office/drawing/2014/main" val="10006"/>
                  </a:ext>
                </a:extLst>
              </a:tr>
            </a:tbl>
          </a:graphicData>
        </a:graphic>
      </p:graphicFrame>
      <p:sp>
        <p:nvSpPr>
          <p:cNvPr id="6" name="Text 3"/>
          <p:cNvSpPr/>
          <p:nvPr/>
        </p:nvSpPr>
        <p:spPr>
          <a:xfrm>
            <a:off x="548640" y="5897880"/>
            <a:ext cx="11064240" cy="457200"/>
          </a:xfrm>
          <a:prstGeom prst="rect">
            <a:avLst/>
          </a:prstGeom>
          <a:noFill/>
          <a:ln/>
        </p:spPr>
        <p:txBody>
          <a:bodyPr wrap="square" lIns="0" tIns="0" rIns="0" bIns="0"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No hay un ganador universal: hay contextos. La complejidad operativa de los microservicios solo se paga cuando sus beneficios se necesitan.</a:t>
            </a:r>
            <a:endParaRPr lang="en-US" sz="125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COMUNICACIÓN ASÍNCRONA</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Arquitectura orientada a eventos (EDA)</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sp>
        <p:nvSpPr>
          <p:cNvPr id="5" name="Shape 3"/>
          <p:cNvSpPr/>
          <p:nvPr/>
        </p:nvSpPr>
        <p:spPr>
          <a:xfrm>
            <a:off x="822960" y="2377440"/>
            <a:ext cx="2468880" cy="1051560"/>
          </a:xfrm>
          <a:prstGeom prst="roundRect">
            <a:avLst>
              <a:gd name="adj" fmla="val 5217"/>
            </a:avLst>
          </a:prstGeom>
          <a:solidFill>
            <a:srgbClr val="1E5096"/>
          </a:solidFill>
          <a:ln w="12700">
            <a:solidFill>
              <a:srgbClr val="1E5096"/>
            </a:solidFill>
            <a:prstDash val="solid"/>
          </a:ln>
          <a:effectLst>
            <a:outerShdw blurRad="63500" dist="25400" dir="2700000" algn="bl" rotWithShape="0">
              <a:srgbClr val="000000">
                <a:alpha val="18000"/>
              </a:srgbClr>
            </a:outerShdw>
          </a:effectLst>
        </p:spPr>
      </p:sp>
      <p:sp>
        <p:nvSpPr>
          <p:cNvPr id="6" name="Text 4"/>
          <p:cNvSpPr/>
          <p:nvPr/>
        </p:nvSpPr>
        <p:spPr>
          <a:xfrm>
            <a:off x="822960" y="2377440"/>
            <a:ext cx="2468880" cy="1051560"/>
          </a:xfrm>
          <a:prstGeom prst="rect">
            <a:avLst/>
          </a:prstGeom>
          <a:noFill/>
          <a:ln/>
        </p:spPr>
        <p:txBody>
          <a:bodyPr wrap="square" lIns="635" tIns="635" rIns="635" bIns="635"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Productor</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Servicio Pedidos</a:t>
            </a:r>
            <a:endParaRPr lang="en-US" sz="1250" dirty="0"/>
          </a:p>
        </p:txBody>
      </p:sp>
      <p:sp>
        <p:nvSpPr>
          <p:cNvPr id="7" name="Shape 5"/>
          <p:cNvSpPr/>
          <p:nvPr/>
        </p:nvSpPr>
        <p:spPr>
          <a:xfrm>
            <a:off x="4572000" y="2377440"/>
            <a:ext cx="3017520" cy="1051560"/>
          </a:xfrm>
          <a:prstGeom prst="roundRect">
            <a:avLst>
              <a:gd name="adj" fmla="val 5217"/>
            </a:avLst>
          </a:prstGeom>
          <a:solidFill>
            <a:srgbClr val="0F2850"/>
          </a:solidFill>
          <a:ln w="12700">
            <a:solidFill>
              <a:srgbClr val="0F2850"/>
            </a:solidFill>
            <a:prstDash val="solid"/>
          </a:ln>
          <a:effectLst>
            <a:outerShdw blurRad="63500" dist="25400" dir="2700000" algn="bl" rotWithShape="0">
              <a:srgbClr val="000000">
                <a:alpha val="18000"/>
              </a:srgbClr>
            </a:outerShdw>
          </a:effectLst>
        </p:spPr>
      </p:sp>
      <p:sp>
        <p:nvSpPr>
          <p:cNvPr id="8" name="Text 6"/>
          <p:cNvSpPr/>
          <p:nvPr/>
        </p:nvSpPr>
        <p:spPr>
          <a:xfrm>
            <a:off x="4572000" y="2377440"/>
            <a:ext cx="3017520" cy="1051560"/>
          </a:xfrm>
          <a:prstGeom prst="rect">
            <a:avLst/>
          </a:prstGeom>
          <a:no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Intermediario de mensajes</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(broker: RabbitMQ / Kafka)</a:t>
            </a:r>
            <a:endParaRPr lang="en-US" sz="1200" dirty="0"/>
          </a:p>
        </p:txBody>
      </p:sp>
      <p:sp>
        <p:nvSpPr>
          <p:cNvPr id="9" name="Shape 7"/>
          <p:cNvSpPr/>
          <p:nvPr/>
        </p:nvSpPr>
        <p:spPr>
          <a:xfrm>
            <a:off x="9052560" y="1691640"/>
            <a:ext cx="2468880" cy="914400"/>
          </a:xfrm>
          <a:prstGeom prst="roundRect">
            <a:avLst>
              <a:gd name="adj" fmla="val 6000"/>
            </a:avLst>
          </a:prstGeom>
          <a:solidFill>
            <a:srgbClr val="008080"/>
          </a:solidFill>
          <a:ln w="12700">
            <a:solidFill>
              <a:srgbClr val="008080"/>
            </a:solidFill>
            <a:prstDash val="solid"/>
          </a:ln>
          <a:effectLst>
            <a:outerShdw blurRad="63500" dist="25400" dir="2700000" algn="bl" rotWithShape="0">
              <a:srgbClr val="000000">
                <a:alpha val="18000"/>
              </a:srgbClr>
            </a:outerShdw>
          </a:effectLst>
        </p:spPr>
      </p:sp>
      <p:sp>
        <p:nvSpPr>
          <p:cNvPr id="10" name="Text 8"/>
          <p:cNvSpPr/>
          <p:nvPr/>
        </p:nvSpPr>
        <p:spPr>
          <a:xfrm>
            <a:off x="9052560" y="1691640"/>
            <a:ext cx="2468880" cy="914400"/>
          </a:xfrm>
          <a:prstGeom prst="rect">
            <a:avLst/>
          </a:prstGeom>
          <a:no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Consumidor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Facturación</a:t>
            </a:r>
            <a:endParaRPr lang="en-US" sz="1200" dirty="0"/>
          </a:p>
        </p:txBody>
      </p:sp>
      <p:sp>
        <p:nvSpPr>
          <p:cNvPr id="11" name="Shape 9"/>
          <p:cNvSpPr/>
          <p:nvPr/>
        </p:nvSpPr>
        <p:spPr>
          <a:xfrm>
            <a:off x="9052560" y="3063240"/>
            <a:ext cx="2468880" cy="914400"/>
          </a:xfrm>
          <a:prstGeom prst="roundRect">
            <a:avLst>
              <a:gd name="adj" fmla="val 6000"/>
            </a:avLst>
          </a:prstGeom>
          <a:solidFill>
            <a:srgbClr val="008080"/>
          </a:solidFill>
          <a:ln w="12700">
            <a:solidFill>
              <a:srgbClr val="008080"/>
            </a:solidFill>
            <a:prstDash val="solid"/>
          </a:ln>
          <a:effectLst>
            <a:outerShdw blurRad="63500" dist="25400" dir="2700000" algn="bl" rotWithShape="0">
              <a:srgbClr val="000000">
                <a:alpha val="18000"/>
              </a:srgbClr>
            </a:outerShdw>
          </a:effectLst>
        </p:spPr>
      </p:sp>
      <p:sp>
        <p:nvSpPr>
          <p:cNvPr id="12" name="Text 10"/>
          <p:cNvSpPr/>
          <p:nvPr/>
        </p:nvSpPr>
        <p:spPr>
          <a:xfrm>
            <a:off x="9052560" y="3063240"/>
            <a:ext cx="2468880" cy="914400"/>
          </a:xfrm>
          <a:prstGeom prst="rect">
            <a:avLst/>
          </a:prstGeom>
          <a:no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Consumidor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Notificaciones</a:t>
            </a:r>
            <a:endParaRPr lang="en-US" sz="1200" dirty="0"/>
          </a:p>
        </p:txBody>
      </p:sp>
      <p:sp>
        <p:nvSpPr>
          <p:cNvPr id="13" name="Shape 11"/>
          <p:cNvSpPr/>
          <p:nvPr/>
        </p:nvSpPr>
        <p:spPr>
          <a:xfrm>
            <a:off x="3291840" y="2898648"/>
            <a:ext cx="1280160" cy="0"/>
          </a:xfrm>
          <a:prstGeom prst="line">
            <a:avLst/>
          </a:prstGeom>
          <a:noFill/>
          <a:ln w="30480">
            <a:solidFill>
              <a:srgbClr val="008080"/>
            </a:solidFill>
            <a:prstDash val="solid"/>
            <a:tailEnd type="triangle"/>
          </a:ln>
        </p:spPr>
      </p:sp>
      <p:sp>
        <p:nvSpPr>
          <p:cNvPr id="14" name="Shape 12"/>
          <p:cNvSpPr/>
          <p:nvPr/>
        </p:nvSpPr>
        <p:spPr>
          <a:xfrm flipV="1">
            <a:off x="7589520" y="2148840"/>
            <a:ext cx="1463040" cy="548640"/>
          </a:xfrm>
          <a:prstGeom prst="line">
            <a:avLst/>
          </a:prstGeom>
          <a:noFill/>
          <a:ln w="27940">
            <a:solidFill>
              <a:srgbClr val="6B7280"/>
            </a:solidFill>
            <a:prstDash val="solid"/>
            <a:tailEnd type="triangle"/>
          </a:ln>
        </p:spPr>
      </p:sp>
      <p:sp>
        <p:nvSpPr>
          <p:cNvPr id="15" name="Shape 13"/>
          <p:cNvSpPr/>
          <p:nvPr/>
        </p:nvSpPr>
        <p:spPr>
          <a:xfrm>
            <a:off x="7589520" y="3108960"/>
            <a:ext cx="1463040" cy="411480"/>
          </a:xfrm>
          <a:prstGeom prst="line">
            <a:avLst/>
          </a:prstGeom>
          <a:noFill/>
          <a:ln w="27940">
            <a:solidFill>
              <a:srgbClr val="6B7280"/>
            </a:solidFill>
            <a:prstDash val="solid"/>
            <a:tailEnd type="triangle"/>
          </a:ln>
        </p:spPr>
      </p:sp>
      <p:sp>
        <p:nvSpPr>
          <p:cNvPr id="16" name="Text 14"/>
          <p:cNvSpPr/>
          <p:nvPr/>
        </p:nvSpPr>
        <p:spPr>
          <a:xfrm>
            <a:off x="3154680" y="2542032"/>
            <a:ext cx="1600200" cy="502920"/>
          </a:xfrm>
          <a:prstGeom prst="rect">
            <a:avLst/>
          </a:prstGeom>
          <a:noFill/>
          <a:ln/>
        </p:spPr>
        <p:txBody>
          <a:bodyPr wrap="square" lIns="0" tIns="0" rIns="0" bIns="0" rtlCol="0" anchor="ctr"/>
          <a:lstStyle/>
          <a:p>
            <a:pPr marL="0" indent="0" algn="ctr">
              <a:buNone/>
            </a:pPr>
            <a:r>
              <a:rPr lang="en-US" sz="950" b="1" dirty="0">
                <a:solidFill>
                  <a:srgbClr val="008080"/>
                </a:solidFill>
                <a:latin typeface="Calibri" pitchFamily="34" charset="0"/>
                <a:ea typeface="Calibri" pitchFamily="34" charset="-122"/>
                <a:cs typeface="Calibri" pitchFamily="34" charset="-120"/>
              </a:rPr>
              <a:t>evento: «PedidoCreado»</a:t>
            </a:r>
            <a:endParaRPr lang="en-US" sz="950" dirty="0"/>
          </a:p>
        </p:txBody>
      </p:sp>
      <p:sp>
        <p:nvSpPr>
          <p:cNvPr id="17" name="Text 15"/>
          <p:cNvSpPr/>
          <p:nvPr/>
        </p:nvSpPr>
        <p:spPr>
          <a:xfrm>
            <a:off x="548640" y="4434840"/>
            <a:ext cx="11064240" cy="64008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El productor publica un hecho del negocio y sigue trabajando </a:t>
            </a:r>
            <a:r>
              <a:rPr lang="en-US" sz="1400" b="1" dirty="0">
                <a:solidFill>
                  <a:srgbClr val="0F2850"/>
                </a:solidFill>
                <a:latin typeface="Calibri" pitchFamily="34" charset="0"/>
                <a:ea typeface="Calibri" pitchFamily="34" charset="-122"/>
                <a:cs typeface="Calibri" pitchFamily="34" charset="-120"/>
              </a:rPr>
              <a:t>sin esperar respuesta</a:t>
            </a:r>
            <a:r>
              <a:rPr lang="en-US" sz="1400" dirty="0">
                <a:solidFill>
                  <a:srgbClr val="2B2B2B"/>
                </a:solidFill>
                <a:latin typeface="Calibri" pitchFamily="34" charset="0"/>
                <a:ea typeface="Calibri" pitchFamily="34" charset="-122"/>
                <a:cs typeface="Calibri" pitchFamily="34" charset="-120"/>
              </a:rPr>
              <a:t> (desacoplamiento temporal). Los consumidores se suscriben y reaccionan a su propio ritmo.</a:t>
            </a:r>
            <a:endParaRPr lang="en-US" sz="1400" dirty="0"/>
          </a:p>
        </p:txBody>
      </p:sp>
      <p:sp>
        <p:nvSpPr>
          <p:cNvPr id="18" name="Text 16"/>
          <p:cNvSpPr/>
          <p:nvPr/>
        </p:nvSpPr>
        <p:spPr>
          <a:xfrm>
            <a:off x="548640" y="5120640"/>
            <a:ext cx="11064240" cy="914400"/>
          </a:xfrm>
          <a:prstGeom prst="rect">
            <a:avLst/>
          </a:prstGeom>
          <a:noFill/>
          <a:ln/>
        </p:spPr>
        <p:txBody>
          <a:bodyPr wrap="square" lIns="0" tIns="0" rIns="0" bIns="0" rtlCol="0" anchor="ctr"/>
          <a:lstStyle/>
          <a:p>
            <a:pPr marL="0" indent="0">
              <a:lnSpc>
                <a:spcPts val="2300"/>
              </a:lnSpc>
              <a:buNone/>
            </a:pPr>
            <a:r>
              <a:rPr lang="en-US" sz="1350" b="1" dirty="0">
                <a:solidFill>
                  <a:srgbClr val="008080"/>
                </a:solidFill>
                <a:latin typeface="Calibri" pitchFamily="34" charset="0"/>
                <a:ea typeface="Calibri" pitchFamily="34" charset="-122"/>
                <a:cs typeface="Calibri" pitchFamily="34" charset="-120"/>
              </a:rPr>
              <a:t>Beneficios: </a:t>
            </a:r>
            <a:r>
              <a:rPr lang="en-US" sz="1350" dirty="0">
                <a:solidFill>
                  <a:srgbClr val="2B2B2B"/>
                </a:solidFill>
                <a:latin typeface="Calibri" pitchFamily="34" charset="0"/>
                <a:ea typeface="Calibri" pitchFamily="34" charset="-122"/>
                <a:cs typeface="Calibri" pitchFamily="34" charset="-120"/>
              </a:rPr>
              <a:t>absorbe picos de carga, agrega consumidores sin tocar al productor, tolera caídas temporales.</a:t>
            </a:r>
            <a:endParaRPr lang="en-US" sz="1350" dirty="0"/>
          </a:p>
          <a:p>
            <a:pPr marL="0" indent="0">
              <a:lnSpc>
                <a:spcPts val="2300"/>
              </a:lnSpc>
              <a:buNone/>
            </a:pPr>
            <a:r>
              <a:rPr lang="en-US" sz="1350" b="1" dirty="0">
                <a:solidFill>
                  <a:srgbClr val="B0413E"/>
                </a:solidFill>
                <a:latin typeface="Calibri" pitchFamily="34" charset="0"/>
                <a:ea typeface="Calibri" pitchFamily="34" charset="-122"/>
                <a:cs typeface="Calibri" pitchFamily="34" charset="-120"/>
              </a:rPr>
              <a:t>Costo: </a:t>
            </a:r>
            <a:r>
              <a:rPr lang="en-US" sz="1350" dirty="0">
                <a:solidFill>
                  <a:srgbClr val="2B2B2B"/>
                </a:solidFill>
                <a:latin typeface="Calibri" pitchFamily="34" charset="0"/>
                <a:ea typeface="Calibri" pitchFamily="34" charset="-122"/>
                <a:cs typeface="Calibri" pitchFamily="34" charset="-120"/>
              </a:rPr>
              <a:t>consistencia eventual: los datos convergen, pero no son idénticos en todo instante.</a:t>
            </a:r>
            <a:endParaRPr lang="en-US" sz="135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PATRONES DE ARQUITECTURA · 1 DE 2</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Patrón puerta de enlace (API Gateway)</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sp>
        <p:nvSpPr>
          <p:cNvPr id="5" name="Shape 3"/>
          <p:cNvSpPr/>
          <p:nvPr/>
        </p:nvSpPr>
        <p:spPr>
          <a:xfrm>
            <a:off x="822960" y="2697480"/>
            <a:ext cx="2103120" cy="1005840"/>
          </a:xfrm>
          <a:prstGeom prst="roundRect">
            <a:avLst>
              <a:gd name="adj" fmla="val 5455"/>
            </a:avLst>
          </a:prstGeom>
          <a:solidFill>
            <a:srgbClr val="1E5096"/>
          </a:solidFill>
          <a:ln w="12700">
            <a:solidFill>
              <a:srgbClr val="1E5096"/>
            </a:solidFill>
            <a:prstDash val="solid"/>
          </a:ln>
          <a:effectLst>
            <a:outerShdw blurRad="63500" dist="25400" dir="2700000" algn="bl" rotWithShape="0">
              <a:srgbClr val="000000">
                <a:alpha val="18000"/>
              </a:srgbClr>
            </a:outerShdw>
          </a:effectLst>
        </p:spPr>
      </p:sp>
      <p:sp>
        <p:nvSpPr>
          <p:cNvPr id="6" name="Text 4"/>
          <p:cNvSpPr/>
          <p:nvPr/>
        </p:nvSpPr>
        <p:spPr>
          <a:xfrm>
            <a:off x="822960" y="2697480"/>
            <a:ext cx="2103120" cy="1005840"/>
          </a:xfrm>
          <a:prstGeom prst="rect">
            <a:avLst/>
          </a:prstGeom>
          <a:noFill/>
          <a:ln/>
        </p:spPr>
        <p:txBody>
          <a:bodyPr wrap="square" lIns="635" tIns="635" rIns="635" bIns="635"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Clientes</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web y móvil</a:t>
            </a:r>
            <a:endParaRPr lang="en-US" sz="1250" dirty="0"/>
          </a:p>
        </p:txBody>
      </p:sp>
      <p:sp>
        <p:nvSpPr>
          <p:cNvPr id="7" name="Shape 5"/>
          <p:cNvSpPr/>
          <p:nvPr/>
        </p:nvSpPr>
        <p:spPr>
          <a:xfrm>
            <a:off x="3931920" y="2468880"/>
            <a:ext cx="2834640" cy="1463040"/>
          </a:xfrm>
          <a:prstGeom prst="roundRect">
            <a:avLst>
              <a:gd name="adj" fmla="val 3750"/>
            </a:avLst>
          </a:prstGeom>
          <a:solidFill>
            <a:srgbClr val="0F2850"/>
          </a:solidFill>
          <a:ln w="12700">
            <a:solidFill>
              <a:srgbClr val="0F2850"/>
            </a:solidFill>
            <a:prstDash val="solid"/>
          </a:ln>
          <a:effectLst>
            <a:outerShdw blurRad="63500" dist="25400" dir="2700000" algn="bl" rotWithShape="0">
              <a:srgbClr val="000000">
                <a:alpha val="18000"/>
              </a:srgbClr>
            </a:outerShdw>
          </a:effectLst>
        </p:spPr>
      </p:sp>
      <p:pic>
        <p:nvPicPr>
          <p:cNvPr id="8" name="Image 0" descr="preencoded.png"/>
          <p:cNvPicPr>
            <a:picLocks noChangeAspect="1"/>
          </p:cNvPicPr>
          <p:nvPr/>
        </p:nvPicPr>
        <p:blipFill>
          <a:blip r:embed="rId3"/>
          <a:stretch>
            <a:fillRect/>
          </a:stretch>
        </p:blipFill>
        <p:spPr>
          <a:xfrm>
            <a:off x="5193792" y="2587752"/>
            <a:ext cx="310896" cy="310896"/>
          </a:xfrm>
          <a:prstGeom prst="rect">
            <a:avLst/>
          </a:prstGeom>
        </p:spPr>
      </p:pic>
      <p:sp>
        <p:nvSpPr>
          <p:cNvPr id="9" name="Text 6"/>
          <p:cNvSpPr/>
          <p:nvPr/>
        </p:nvSpPr>
        <p:spPr>
          <a:xfrm>
            <a:off x="3931920" y="2889504"/>
            <a:ext cx="2834640" cy="100584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Puerta de enlace</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(API Gateway: Nginx)</a:t>
            </a:r>
            <a:endParaRPr lang="en-US" sz="1250" dirty="0"/>
          </a:p>
        </p:txBody>
      </p:sp>
      <p:sp>
        <p:nvSpPr>
          <p:cNvPr id="10" name="Shape 7"/>
          <p:cNvSpPr/>
          <p:nvPr/>
        </p:nvSpPr>
        <p:spPr>
          <a:xfrm>
            <a:off x="8595360" y="1554480"/>
            <a:ext cx="2743200" cy="777240"/>
          </a:xfrm>
          <a:prstGeom prst="roundRect">
            <a:avLst>
              <a:gd name="adj" fmla="val 7059"/>
            </a:avLst>
          </a:prstGeom>
          <a:solidFill>
            <a:srgbClr val="008080"/>
          </a:solidFill>
          <a:ln w="12700">
            <a:solidFill>
              <a:srgbClr val="008080"/>
            </a:solidFill>
            <a:prstDash val="solid"/>
          </a:ln>
          <a:effectLst>
            <a:outerShdw blurRad="63500" dist="25400" dir="2700000" algn="bl" rotWithShape="0">
              <a:srgbClr val="000000">
                <a:alpha val="18000"/>
              </a:srgbClr>
            </a:outerShdw>
          </a:effectLst>
        </p:spPr>
      </p:sp>
      <p:sp>
        <p:nvSpPr>
          <p:cNvPr id="11" name="Text 8"/>
          <p:cNvSpPr/>
          <p:nvPr/>
        </p:nvSpPr>
        <p:spPr>
          <a:xfrm>
            <a:off x="8595360" y="1554480"/>
            <a:ext cx="2743200" cy="777240"/>
          </a:xfrm>
          <a:prstGeom prst="rect">
            <a:avLst/>
          </a:prstGeom>
          <a:noFill/>
          <a:ln/>
        </p:spPr>
        <p:txBody>
          <a:bodyPr wrap="square" lIns="635" tIns="635" rIns="635" bIns="635"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auth-service :8001</a:t>
            </a:r>
            <a:endParaRPr lang="en-US" sz="1150" dirty="0"/>
          </a:p>
        </p:txBody>
      </p:sp>
      <p:sp>
        <p:nvSpPr>
          <p:cNvPr id="12" name="Shape 9"/>
          <p:cNvSpPr/>
          <p:nvPr/>
        </p:nvSpPr>
        <p:spPr>
          <a:xfrm>
            <a:off x="8595360" y="2697480"/>
            <a:ext cx="2743200" cy="777240"/>
          </a:xfrm>
          <a:prstGeom prst="roundRect">
            <a:avLst>
              <a:gd name="adj" fmla="val 7059"/>
            </a:avLst>
          </a:prstGeom>
          <a:solidFill>
            <a:srgbClr val="008080"/>
          </a:solidFill>
          <a:ln w="12700">
            <a:solidFill>
              <a:srgbClr val="008080"/>
            </a:solidFill>
            <a:prstDash val="solid"/>
          </a:ln>
          <a:effectLst>
            <a:outerShdw blurRad="63500" dist="25400" dir="2700000" algn="bl" rotWithShape="0">
              <a:srgbClr val="000000">
                <a:alpha val="18000"/>
              </a:srgbClr>
            </a:outerShdw>
          </a:effectLst>
        </p:spPr>
      </p:sp>
      <p:sp>
        <p:nvSpPr>
          <p:cNvPr id="13" name="Text 10"/>
          <p:cNvSpPr/>
          <p:nvPr/>
        </p:nvSpPr>
        <p:spPr>
          <a:xfrm>
            <a:off x="8595360" y="2697480"/>
            <a:ext cx="2743200" cy="777240"/>
          </a:xfrm>
          <a:prstGeom prst="rect">
            <a:avLst/>
          </a:prstGeom>
          <a:noFill/>
          <a:ln/>
        </p:spPr>
        <p:txBody>
          <a:bodyPr wrap="square" lIns="635" tIns="635" rIns="635" bIns="635"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resource-service :8002</a:t>
            </a:r>
            <a:endParaRPr lang="en-US" sz="1150" dirty="0"/>
          </a:p>
        </p:txBody>
      </p:sp>
      <p:sp>
        <p:nvSpPr>
          <p:cNvPr id="14" name="Shape 11"/>
          <p:cNvSpPr/>
          <p:nvPr/>
        </p:nvSpPr>
        <p:spPr>
          <a:xfrm>
            <a:off x="8595360" y="3840480"/>
            <a:ext cx="2743200" cy="777240"/>
          </a:xfrm>
          <a:prstGeom prst="roundRect">
            <a:avLst>
              <a:gd name="adj" fmla="val 7059"/>
            </a:avLst>
          </a:prstGeom>
          <a:solidFill>
            <a:srgbClr val="008080"/>
          </a:solidFill>
          <a:ln w="12700">
            <a:solidFill>
              <a:srgbClr val="008080"/>
            </a:solidFill>
            <a:prstDash val="solid"/>
          </a:ln>
          <a:effectLst>
            <a:outerShdw blurRad="63500" dist="25400" dir="2700000" algn="bl" rotWithShape="0">
              <a:srgbClr val="000000">
                <a:alpha val="18000"/>
              </a:srgbClr>
            </a:outerShdw>
          </a:effectLst>
        </p:spPr>
      </p:sp>
      <p:sp>
        <p:nvSpPr>
          <p:cNvPr id="15" name="Text 12"/>
          <p:cNvSpPr/>
          <p:nvPr/>
        </p:nvSpPr>
        <p:spPr>
          <a:xfrm>
            <a:off x="8595360" y="3840480"/>
            <a:ext cx="2743200" cy="777240"/>
          </a:xfrm>
          <a:prstGeom prst="rect">
            <a:avLst/>
          </a:prstGeom>
          <a:noFill/>
          <a:ln/>
        </p:spPr>
        <p:txBody>
          <a:bodyPr wrap="square" lIns="635" tIns="635" rIns="635" bIns="635"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notification-service :8003</a:t>
            </a:r>
            <a:endParaRPr lang="en-US" sz="1150" dirty="0"/>
          </a:p>
        </p:txBody>
      </p:sp>
      <p:sp>
        <p:nvSpPr>
          <p:cNvPr id="16" name="Shape 13"/>
          <p:cNvSpPr/>
          <p:nvPr/>
        </p:nvSpPr>
        <p:spPr>
          <a:xfrm>
            <a:off x="2926080" y="3200400"/>
            <a:ext cx="1005840" cy="0"/>
          </a:xfrm>
          <a:prstGeom prst="line">
            <a:avLst/>
          </a:prstGeom>
          <a:noFill/>
          <a:ln w="30480">
            <a:solidFill>
              <a:srgbClr val="6B7280"/>
            </a:solidFill>
            <a:prstDash val="solid"/>
            <a:tailEnd type="triangle"/>
          </a:ln>
        </p:spPr>
      </p:sp>
      <p:sp>
        <p:nvSpPr>
          <p:cNvPr id="17" name="Shape 14"/>
          <p:cNvSpPr/>
          <p:nvPr/>
        </p:nvSpPr>
        <p:spPr>
          <a:xfrm flipV="1">
            <a:off x="6766560" y="1965960"/>
            <a:ext cx="1828800" cy="868680"/>
          </a:xfrm>
          <a:prstGeom prst="line">
            <a:avLst/>
          </a:prstGeom>
          <a:noFill/>
          <a:ln w="25400">
            <a:solidFill>
              <a:srgbClr val="6B7280"/>
            </a:solidFill>
            <a:prstDash val="solid"/>
            <a:tailEnd type="triangle"/>
          </a:ln>
        </p:spPr>
      </p:sp>
      <p:sp>
        <p:nvSpPr>
          <p:cNvPr id="18" name="Shape 15"/>
          <p:cNvSpPr/>
          <p:nvPr/>
        </p:nvSpPr>
        <p:spPr>
          <a:xfrm flipV="1">
            <a:off x="6766560" y="3081528"/>
            <a:ext cx="1828800" cy="118872"/>
          </a:xfrm>
          <a:prstGeom prst="line">
            <a:avLst/>
          </a:prstGeom>
          <a:noFill/>
          <a:ln w="25400">
            <a:solidFill>
              <a:srgbClr val="6B7280"/>
            </a:solidFill>
            <a:prstDash val="solid"/>
            <a:tailEnd type="triangle"/>
          </a:ln>
        </p:spPr>
      </p:sp>
      <p:sp>
        <p:nvSpPr>
          <p:cNvPr id="19" name="Shape 16"/>
          <p:cNvSpPr/>
          <p:nvPr/>
        </p:nvSpPr>
        <p:spPr>
          <a:xfrm>
            <a:off x="6766560" y="3566160"/>
            <a:ext cx="1828800" cy="640080"/>
          </a:xfrm>
          <a:prstGeom prst="line">
            <a:avLst/>
          </a:prstGeom>
          <a:noFill/>
          <a:ln w="25400">
            <a:solidFill>
              <a:srgbClr val="6B7280"/>
            </a:solidFill>
            <a:prstDash val="solid"/>
            <a:tailEnd type="triangle"/>
          </a:ln>
        </p:spPr>
      </p:sp>
      <p:sp>
        <p:nvSpPr>
          <p:cNvPr id="20" name="Text 17"/>
          <p:cNvSpPr/>
          <p:nvPr/>
        </p:nvSpPr>
        <p:spPr>
          <a:xfrm>
            <a:off x="548640" y="4892040"/>
            <a:ext cx="11064240" cy="59436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Responsabilidades: punto único de entrada · enrutamiento por ruta · verificación del token de seguridad · límite de peticiones por minuto · registro centralizado de accesos</a:t>
            </a:r>
            <a:endParaRPr lang="en-US" sz="1350" dirty="0"/>
          </a:p>
        </p:txBody>
      </p:sp>
      <p:sp>
        <p:nvSpPr>
          <p:cNvPr id="21" name="Text 18"/>
          <p:cNvSpPr/>
          <p:nvPr/>
        </p:nvSpPr>
        <p:spPr>
          <a:xfrm>
            <a:off x="548640" y="5623560"/>
            <a:ext cx="11064240" cy="502920"/>
          </a:xfrm>
          <a:prstGeom prst="rect">
            <a:avLst/>
          </a:prstGeom>
          <a:noFill/>
          <a:ln/>
        </p:spPr>
        <p:txBody>
          <a:bodyPr wrap="square" lIns="0" tIns="0" rIns="0" bIns="0" rtlCol="0" anchor="ctr"/>
          <a:lstStyle/>
          <a:p>
            <a:pPr marL="0" indent="0">
              <a:buNone/>
            </a:pPr>
            <a:r>
              <a:rPr lang="en-US" sz="1300" b="1" dirty="0">
                <a:solidFill>
                  <a:srgbClr val="B0413E"/>
                </a:solidFill>
                <a:latin typeface="Calibri" pitchFamily="34" charset="0"/>
                <a:ea typeface="Calibri" pitchFamily="34" charset="-122"/>
                <a:cs typeface="Calibri" pitchFamily="34" charset="-120"/>
              </a:rPr>
              <a:t>Cuidado: </a:t>
            </a:r>
            <a:r>
              <a:rPr lang="en-US" sz="1300" dirty="0">
                <a:solidFill>
                  <a:srgbClr val="2B2B2B"/>
                </a:solidFill>
                <a:latin typeface="Calibri" pitchFamily="34" charset="0"/>
                <a:ea typeface="Calibri" pitchFamily="34" charset="-122"/>
                <a:cs typeface="Calibri" pitchFamily="34" charset="-120"/>
              </a:rPr>
              <a:t>si concentra lógica de negocio, recrea el problema del bus de SOA; debe mantenerse delgado y replicable.</a:t>
            </a:r>
            <a:endParaRPr lang="en-US" sz="130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PATRONES DE ARQUITECTURA · 2 DE 2</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Patrones de datos distribuidos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sp>
        <p:nvSpPr>
          <p:cNvPr id="5" name="Shape 3"/>
          <p:cNvSpPr/>
          <p:nvPr/>
        </p:nvSpPr>
        <p:spPr>
          <a:xfrm>
            <a:off x="548640" y="1645920"/>
            <a:ext cx="3611880" cy="3931920"/>
          </a:xfrm>
          <a:prstGeom prst="roundRect">
            <a:avLst>
              <a:gd name="adj" fmla="val 1772"/>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6" name="Shape 4"/>
          <p:cNvSpPr/>
          <p:nvPr/>
        </p:nvSpPr>
        <p:spPr>
          <a:xfrm>
            <a:off x="749808" y="1847088"/>
            <a:ext cx="475488" cy="475488"/>
          </a:xfrm>
          <a:prstGeom prst="ellipse">
            <a:avLst/>
          </a:prstGeom>
          <a:solidFill>
            <a:srgbClr val="1E5096"/>
          </a:solidFill>
          <a:ln/>
        </p:spPr>
      </p:sp>
      <p:pic>
        <p:nvPicPr>
          <p:cNvPr id="7" name="Image 0" descr="preencoded.png"/>
          <p:cNvPicPr>
            <a:picLocks noChangeAspect="1"/>
          </p:cNvPicPr>
          <p:nvPr/>
        </p:nvPicPr>
        <p:blipFill>
          <a:blip r:embed="rId3"/>
          <a:stretch>
            <a:fillRect/>
          </a:stretch>
        </p:blipFill>
        <p:spPr>
          <a:xfrm>
            <a:off x="850392" y="1947672"/>
            <a:ext cx="274320" cy="274320"/>
          </a:xfrm>
          <a:prstGeom prst="rect">
            <a:avLst/>
          </a:prstGeom>
        </p:spPr>
      </p:pic>
      <p:sp>
        <p:nvSpPr>
          <p:cNvPr id="8" name="Text 5"/>
          <p:cNvSpPr/>
          <p:nvPr/>
        </p:nvSpPr>
        <p:spPr>
          <a:xfrm>
            <a:off x="1353312" y="1828800"/>
            <a:ext cx="265176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Una base por servicio</a:t>
            </a:r>
            <a:endParaRPr lang="en-US" sz="1500" dirty="0"/>
          </a:p>
        </p:txBody>
      </p:sp>
      <p:sp>
        <p:nvSpPr>
          <p:cNvPr id="9" name="Text 6"/>
          <p:cNvSpPr/>
          <p:nvPr/>
        </p:nvSpPr>
        <p:spPr>
          <a:xfrm>
            <a:off x="777240" y="2432304"/>
            <a:ext cx="3154680" cy="297180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Database per Service: cada microservicio es dueño exclusivo de sus datos; nadie más los consulta directamente.</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Garantiza autonomía y despliegue independiente.</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Consecuencia: ya no existen las uniones (JOIN) entre servicios.</a:t>
            </a:r>
            <a:endParaRPr lang="en-US" sz="1200" dirty="0"/>
          </a:p>
        </p:txBody>
      </p:sp>
      <p:sp>
        <p:nvSpPr>
          <p:cNvPr id="10" name="Shape 7"/>
          <p:cNvSpPr/>
          <p:nvPr/>
        </p:nvSpPr>
        <p:spPr>
          <a:xfrm>
            <a:off x="4370832" y="1645920"/>
            <a:ext cx="3611880" cy="3931920"/>
          </a:xfrm>
          <a:prstGeom prst="roundRect">
            <a:avLst>
              <a:gd name="adj" fmla="val 1772"/>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11" name="Shape 8"/>
          <p:cNvSpPr/>
          <p:nvPr/>
        </p:nvSpPr>
        <p:spPr>
          <a:xfrm>
            <a:off x="4572000" y="1847088"/>
            <a:ext cx="475488" cy="475488"/>
          </a:xfrm>
          <a:prstGeom prst="ellipse">
            <a:avLst/>
          </a:prstGeom>
          <a:solidFill>
            <a:srgbClr val="008080"/>
          </a:solidFill>
          <a:ln/>
        </p:spPr>
      </p:sp>
      <p:pic>
        <p:nvPicPr>
          <p:cNvPr id="12" name="Image 1" descr="preencoded.png"/>
          <p:cNvPicPr>
            <a:picLocks noChangeAspect="1"/>
          </p:cNvPicPr>
          <p:nvPr/>
        </p:nvPicPr>
        <p:blipFill>
          <a:blip r:embed="rId4"/>
          <a:stretch>
            <a:fillRect/>
          </a:stretch>
        </p:blipFill>
        <p:spPr>
          <a:xfrm>
            <a:off x="4672584" y="1947672"/>
            <a:ext cx="274320" cy="274320"/>
          </a:xfrm>
          <a:prstGeom prst="rect">
            <a:avLst/>
          </a:prstGeom>
        </p:spPr>
      </p:pic>
      <p:sp>
        <p:nvSpPr>
          <p:cNvPr id="13" name="Text 9"/>
          <p:cNvSpPr/>
          <p:nvPr/>
        </p:nvSpPr>
        <p:spPr>
          <a:xfrm>
            <a:off x="5175504" y="1828800"/>
            <a:ext cx="265176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CQRS</a:t>
            </a:r>
            <a:endParaRPr lang="en-US" sz="1500" dirty="0"/>
          </a:p>
        </p:txBody>
      </p:sp>
      <p:sp>
        <p:nvSpPr>
          <p:cNvPr id="14" name="Text 10"/>
          <p:cNvSpPr/>
          <p:nvPr/>
        </p:nvSpPr>
        <p:spPr>
          <a:xfrm>
            <a:off x="4599432" y="2432304"/>
            <a:ext cx="3154680" cy="297180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Segregación de Responsabilidad entre Comandos y Consultas: un modelo optimizado para escribir y otro distinto para leer.</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Útil cuando las lecturas superan masivamente a las escrituras.</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Costo: sincronizar ambos modelos (eventos).</a:t>
            </a:r>
            <a:endParaRPr lang="en-US" sz="1200" dirty="0"/>
          </a:p>
        </p:txBody>
      </p:sp>
      <p:sp>
        <p:nvSpPr>
          <p:cNvPr id="15" name="Shape 11"/>
          <p:cNvSpPr/>
          <p:nvPr/>
        </p:nvSpPr>
        <p:spPr>
          <a:xfrm>
            <a:off x="8193024" y="1645920"/>
            <a:ext cx="3611880" cy="3931920"/>
          </a:xfrm>
          <a:prstGeom prst="roundRect">
            <a:avLst>
              <a:gd name="adj" fmla="val 1772"/>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16" name="Shape 12"/>
          <p:cNvSpPr/>
          <p:nvPr/>
        </p:nvSpPr>
        <p:spPr>
          <a:xfrm>
            <a:off x="8394192" y="1847088"/>
            <a:ext cx="475488" cy="475488"/>
          </a:xfrm>
          <a:prstGeom prst="ellipse">
            <a:avLst/>
          </a:prstGeom>
          <a:solidFill>
            <a:srgbClr val="0F2850"/>
          </a:solidFill>
          <a:ln/>
        </p:spPr>
      </p:sp>
      <p:pic>
        <p:nvPicPr>
          <p:cNvPr id="17" name="Image 2" descr="preencoded.png"/>
          <p:cNvPicPr>
            <a:picLocks noChangeAspect="1"/>
          </p:cNvPicPr>
          <p:nvPr/>
        </p:nvPicPr>
        <p:blipFill>
          <a:blip r:embed="rId5"/>
          <a:stretch>
            <a:fillRect/>
          </a:stretch>
        </p:blipFill>
        <p:spPr>
          <a:xfrm>
            <a:off x="8494776" y="1947672"/>
            <a:ext cx="274320" cy="274320"/>
          </a:xfrm>
          <a:prstGeom prst="rect">
            <a:avLst/>
          </a:prstGeom>
        </p:spPr>
      </p:pic>
      <p:sp>
        <p:nvSpPr>
          <p:cNvPr id="18" name="Text 13"/>
          <p:cNvSpPr/>
          <p:nvPr/>
        </p:nvSpPr>
        <p:spPr>
          <a:xfrm>
            <a:off x="8997696" y="1828800"/>
            <a:ext cx="265176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Saga</a:t>
            </a:r>
            <a:endParaRPr lang="en-US" sz="1500" dirty="0"/>
          </a:p>
        </p:txBody>
      </p:sp>
      <p:sp>
        <p:nvSpPr>
          <p:cNvPr id="19" name="Text 14"/>
          <p:cNvSpPr/>
          <p:nvPr/>
        </p:nvSpPr>
        <p:spPr>
          <a:xfrm>
            <a:off x="8421624" y="2432304"/>
            <a:ext cx="3154680" cy="297180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Transacción distribuida como secuencia de transacciones locales.</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Si un paso falla, se ejecutan compensaciones que deshacen los pasos anteriores.</a:t>
            </a:r>
            <a:endParaRPr lang="en-US" sz="1200" dirty="0"/>
          </a:p>
          <a:p>
            <a:pPr marL="0" indent="0">
              <a:buNone/>
            </a:pPr>
            <a:endParaRPr lang="en-US" sz="1200" dirty="0"/>
          </a:p>
          <a:p>
            <a:pPr marL="0" indent="0">
              <a:buNone/>
            </a:pPr>
            <a:r>
              <a:rPr lang="en-US" sz="1200" dirty="0">
                <a:solidFill>
                  <a:srgbClr val="2B2B2B"/>
                </a:solidFill>
                <a:latin typeface="Calibri" pitchFamily="34" charset="0"/>
                <a:ea typeface="Calibri" pitchFamily="34" charset="-122"/>
                <a:cs typeface="Calibri" pitchFamily="34" charset="-120"/>
              </a:rPr>
              <a:t>Reemplaza a la transacción global, imposible entre bases independientes.</a:t>
            </a:r>
            <a:endParaRPr lang="en-US" sz="1200" dirty="0"/>
          </a:p>
        </p:txBody>
      </p:sp>
      <p:sp>
        <p:nvSpPr>
          <p:cNvPr id="20" name="Text 15"/>
          <p:cNvSpPr/>
          <p:nvPr/>
        </p:nvSpPr>
        <p:spPr>
          <a:xfrm>
            <a:off x="548640" y="5897880"/>
            <a:ext cx="11064240" cy="411480"/>
          </a:xfrm>
          <a:prstGeom prst="rect">
            <a:avLst/>
          </a:prstGeom>
          <a:noFill/>
          <a:ln/>
        </p:spPr>
        <p:txBody>
          <a:bodyPr wrap="square" lIns="0" tIns="0" rIns="0" bIns="0"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Los tres patrones responden a la misma decisión raíz: descentralizar los datos para ganar autonomía.</a:t>
            </a:r>
            <a:endParaRPr lang="en-US" sz="125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CONECTORES</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¿Cómo conversan los servicios? REST, gRPC y mensajería</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3621024"/>
        </p:xfrm>
        <a:graphic>
          <a:graphicData uri="http://schemas.openxmlformats.org/drawingml/2006/table">
            <a:tbl>
              <a:tblPr/>
              <a:tblGrid>
                <a:gridCol w="169164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603504">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Criterio</a:t>
                      </a:r>
                      <a:endParaRPr lang="en-US" sz="12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0F2850"/>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REST (Transferencia de Estado Representacional)</a:t>
                      </a:r>
                      <a:endParaRPr lang="en-US" sz="12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0F2850"/>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gRPC (llamada a procedimiento remoto)</a:t>
                      </a:r>
                      <a:endParaRPr lang="en-US" sz="12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0F2850"/>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Mensajería asíncrona</a:t>
                      </a:r>
                      <a:endParaRPr lang="en-US" sz="12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0F2850"/>
                    </a:solidFill>
                  </a:tcPr>
                </a:tc>
                <a:extLst>
                  <a:ext uri="{0D108BD9-81ED-4DB2-BD59-A6C34878D82A}">
                    <a16:rowId xmlns:a16="http://schemas.microsoft.com/office/drawing/2014/main" val="10000"/>
                  </a:ext>
                </a:extLst>
              </a:tr>
              <a:tr h="603504">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Estilo</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Síncrono, recursos sobre HTTP</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Síncrono, funciones sobre HTTP/2</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Asíncrono, eventos vía broker</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Formato</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Texto JSON (legible)</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Binario Protocol Buffers (compacto)</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JSON o binario en colas</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603504">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Contrato</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OpenAPI 3.0</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Archivo .proto</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Esquema del evento</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extLst>
                  <a:ext uri="{0D108BD9-81ED-4DB2-BD59-A6C34878D82A}">
                    <a16:rowId xmlns:a16="http://schemas.microsoft.com/office/drawing/2014/main" val="10003"/>
                  </a:ext>
                </a:extLst>
              </a:tr>
              <a:tr h="603504">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Acoplamiento</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Temporal: ambos deben estar vivos</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Temporal: ambos deben estar vivos</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Mínimo: desacoplados en el tiempo</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603504">
                <a:tc>
                  <a:txBody>
                    <a:bodyPr/>
                    <a:lstStyle/>
                    <a:p>
                      <a:pPr marL="0" indent="0">
                        <a:buNone/>
                      </a:pPr>
                      <a:r>
                        <a:rPr lang="en-US" sz="1150" b="1" dirty="0">
                          <a:solidFill>
                            <a:srgbClr val="2B2B2B"/>
                          </a:solidFill>
                          <a:latin typeface="Calibri" pitchFamily="34" charset="0"/>
                          <a:ea typeface="Calibri" pitchFamily="34" charset="-122"/>
                          <a:cs typeface="Calibri" pitchFamily="34" charset="-120"/>
                        </a:rPr>
                        <a:t>Uso típico</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API pública hacia clientes</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Comunicación interna de alta frecuencia</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150" dirty="0">
                          <a:solidFill>
                            <a:srgbClr val="2B2B2B"/>
                          </a:solidFill>
                          <a:latin typeface="Calibri" pitchFamily="34" charset="0"/>
                          <a:ea typeface="Calibri" pitchFamily="34" charset="-122"/>
                          <a:cs typeface="Calibri" pitchFamily="34" charset="-120"/>
                        </a:rPr>
                        <a:t>Notificaciones, integración, picos</a:t>
                      </a:r>
                      <a:endParaRPr lang="en-US" sz="11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548640" y="5806440"/>
            <a:ext cx="11064240" cy="411480"/>
          </a:xfrm>
          <a:prstGeom prst="rect">
            <a:avLst/>
          </a:prstGeom>
          <a:noFill/>
          <a:ln/>
        </p:spPr>
        <p:txBody>
          <a:bodyPr wrap="square" lIns="0" tIns="0" rIns="0" bIns="0"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Regla práctica: REST hacia afuera, gRPC o mensajería hacia adentro, y eventos para todo lo que pueda esperar.</a:t>
            </a:r>
            <a:endParaRPr lang="en-US" sz="125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EL PORQUÉ DE TODO</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Atributos de calidad que guían la arquitectura (ISO/IEC 25010)</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sp>
        <p:nvSpPr>
          <p:cNvPr id="5" name="Shape 3"/>
          <p:cNvSpPr/>
          <p:nvPr/>
        </p:nvSpPr>
        <p:spPr>
          <a:xfrm>
            <a:off x="548640" y="1627632"/>
            <a:ext cx="5440680" cy="2057400"/>
          </a:xfrm>
          <a:prstGeom prst="roundRect">
            <a:avLst>
              <a:gd name="adj" fmla="val 3111"/>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6" name="Shape 4"/>
          <p:cNvSpPr/>
          <p:nvPr/>
        </p:nvSpPr>
        <p:spPr>
          <a:xfrm>
            <a:off x="749808" y="1828800"/>
            <a:ext cx="475488" cy="475488"/>
          </a:xfrm>
          <a:prstGeom prst="ellipse">
            <a:avLst/>
          </a:prstGeom>
          <a:solidFill>
            <a:srgbClr val="1E5096"/>
          </a:solidFill>
          <a:ln/>
        </p:spPr>
      </p:sp>
      <p:pic>
        <p:nvPicPr>
          <p:cNvPr id="7" name="Image 0" descr="preencoded.png"/>
          <p:cNvPicPr>
            <a:picLocks noChangeAspect="1"/>
          </p:cNvPicPr>
          <p:nvPr/>
        </p:nvPicPr>
        <p:blipFill>
          <a:blip r:embed="rId3"/>
          <a:stretch>
            <a:fillRect/>
          </a:stretch>
        </p:blipFill>
        <p:spPr>
          <a:xfrm>
            <a:off x="850392" y="1929384"/>
            <a:ext cx="274320" cy="274320"/>
          </a:xfrm>
          <a:prstGeom prst="rect">
            <a:avLst/>
          </a:prstGeom>
        </p:spPr>
      </p:pic>
      <p:sp>
        <p:nvSpPr>
          <p:cNvPr id="8" name="Text 5"/>
          <p:cNvSpPr/>
          <p:nvPr/>
        </p:nvSpPr>
        <p:spPr>
          <a:xfrm>
            <a:off x="1353312" y="1810512"/>
            <a:ext cx="448056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Escalabilidad</a:t>
            </a:r>
            <a:endParaRPr lang="en-US" sz="1500" dirty="0"/>
          </a:p>
        </p:txBody>
      </p:sp>
      <p:sp>
        <p:nvSpPr>
          <p:cNvPr id="9" name="Text 6"/>
          <p:cNvSpPr/>
          <p:nvPr/>
        </p:nvSpPr>
        <p:spPr>
          <a:xfrm>
            <a:off x="777240" y="2414016"/>
            <a:ext cx="4983480" cy="109728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Capacidad de crecer ante la demanda. Horizontal: más réplicas. Vertical: máquina más grande. Los microservicios habilitan el escalado fino.</a:t>
            </a:r>
            <a:endParaRPr lang="en-US" sz="1200" dirty="0"/>
          </a:p>
        </p:txBody>
      </p:sp>
      <p:sp>
        <p:nvSpPr>
          <p:cNvPr id="10" name="Shape 7"/>
          <p:cNvSpPr/>
          <p:nvPr/>
        </p:nvSpPr>
        <p:spPr>
          <a:xfrm>
            <a:off x="6217920" y="1627632"/>
            <a:ext cx="5440680" cy="2057400"/>
          </a:xfrm>
          <a:prstGeom prst="roundRect">
            <a:avLst>
              <a:gd name="adj" fmla="val 3111"/>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11" name="Shape 8"/>
          <p:cNvSpPr/>
          <p:nvPr/>
        </p:nvSpPr>
        <p:spPr>
          <a:xfrm>
            <a:off x="6419088" y="1828800"/>
            <a:ext cx="475488" cy="475488"/>
          </a:xfrm>
          <a:prstGeom prst="ellipse">
            <a:avLst/>
          </a:prstGeom>
          <a:solidFill>
            <a:srgbClr val="008080"/>
          </a:solidFill>
          <a:ln/>
        </p:spPr>
      </p:sp>
      <p:pic>
        <p:nvPicPr>
          <p:cNvPr id="12" name="Image 1" descr="preencoded.png"/>
          <p:cNvPicPr>
            <a:picLocks noChangeAspect="1"/>
          </p:cNvPicPr>
          <p:nvPr/>
        </p:nvPicPr>
        <p:blipFill>
          <a:blip r:embed="rId4"/>
          <a:stretch>
            <a:fillRect/>
          </a:stretch>
        </p:blipFill>
        <p:spPr>
          <a:xfrm>
            <a:off x="6519672" y="1929384"/>
            <a:ext cx="274320" cy="274320"/>
          </a:xfrm>
          <a:prstGeom prst="rect">
            <a:avLst/>
          </a:prstGeom>
        </p:spPr>
      </p:pic>
      <p:sp>
        <p:nvSpPr>
          <p:cNvPr id="13" name="Text 9"/>
          <p:cNvSpPr/>
          <p:nvPr/>
        </p:nvSpPr>
        <p:spPr>
          <a:xfrm>
            <a:off x="7022592" y="1810512"/>
            <a:ext cx="448056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Disponibilidad</a:t>
            </a:r>
            <a:endParaRPr lang="en-US" sz="1500" dirty="0"/>
          </a:p>
        </p:txBody>
      </p:sp>
      <p:sp>
        <p:nvSpPr>
          <p:cNvPr id="14" name="Text 10"/>
          <p:cNvSpPr/>
          <p:nvPr/>
        </p:nvSpPr>
        <p:spPr>
          <a:xfrm>
            <a:off x="6446520" y="2414016"/>
            <a:ext cx="4983480" cy="109728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Porcentaje de tiempo operativo. Se logra con redundancia: réplicas detrás de un balanceador; sin punto único de fallo.</a:t>
            </a:r>
            <a:endParaRPr lang="en-US" sz="1200" dirty="0"/>
          </a:p>
        </p:txBody>
      </p:sp>
      <p:sp>
        <p:nvSpPr>
          <p:cNvPr id="15" name="Shape 11"/>
          <p:cNvSpPr/>
          <p:nvPr/>
        </p:nvSpPr>
        <p:spPr>
          <a:xfrm>
            <a:off x="548640" y="3867912"/>
            <a:ext cx="5440680" cy="2057400"/>
          </a:xfrm>
          <a:prstGeom prst="roundRect">
            <a:avLst>
              <a:gd name="adj" fmla="val 3111"/>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16" name="Shape 12"/>
          <p:cNvSpPr/>
          <p:nvPr/>
        </p:nvSpPr>
        <p:spPr>
          <a:xfrm>
            <a:off x="749808" y="4069080"/>
            <a:ext cx="475488" cy="475488"/>
          </a:xfrm>
          <a:prstGeom prst="ellipse">
            <a:avLst/>
          </a:prstGeom>
          <a:solidFill>
            <a:srgbClr val="0F2850"/>
          </a:solidFill>
          <a:ln/>
        </p:spPr>
      </p:sp>
      <p:pic>
        <p:nvPicPr>
          <p:cNvPr id="17" name="Image 2" descr="preencoded.png"/>
          <p:cNvPicPr>
            <a:picLocks noChangeAspect="1"/>
          </p:cNvPicPr>
          <p:nvPr/>
        </p:nvPicPr>
        <p:blipFill>
          <a:blip r:embed="rId5"/>
          <a:stretch>
            <a:fillRect/>
          </a:stretch>
        </p:blipFill>
        <p:spPr>
          <a:xfrm>
            <a:off x="850392" y="4169664"/>
            <a:ext cx="274320" cy="274320"/>
          </a:xfrm>
          <a:prstGeom prst="rect">
            <a:avLst/>
          </a:prstGeom>
        </p:spPr>
      </p:pic>
      <p:sp>
        <p:nvSpPr>
          <p:cNvPr id="18" name="Text 13"/>
          <p:cNvSpPr/>
          <p:nvPr/>
        </p:nvSpPr>
        <p:spPr>
          <a:xfrm>
            <a:off x="1353312" y="4050792"/>
            <a:ext cx="448056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Tolerancia a fallos</a:t>
            </a:r>
            <a:endParaRPr lang="en-US" sz="1500" dirty="0"/>
          </a:p>
        </p:txBody>
      </p:sp>
      <p:sp>
        <p:nvSpPr>
          <p:cNvPr id="19" name="Text 14"/>
          <p:cNvSpPr/>
          <p:nvPr/>
        </p:nvSpPr>
        <p:spPr>
          <a:xfrm>
            <a:off x="777240" y="4654296"/>
            <a:ext cx="4983480" cy="109728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El sistema sigue (degradado) ante fallos parciales: tiempos de espera, reintentos y cortacircuitos (circuit breaker).</a:t>
            </a:r>
            <a:endParaRPr lang="en-US" sz="1200" dirty="0"/>
          </a:p>
        </p:txBody>
      </p:sp>
      <p:sp>
        <p:nvSpPr>
          <p:cNvPr id="20" name="Shape 15"/>
          <p:cNvSpPr/>
          <p:nvPr/>
        </p:nvSpPr>
        <p:spPr>
          <a:xfrm>
            <a:off x="6217920" y="3867912"/>
            <a:ext cx="5440680" cy="2057400"/>
          </a:xfrm>
          <a:prstGeom prst="roundRect">
            <a:avLst>
              <a:gd name="adj" fmla="val 3111"/>
            </a:avLst>
          </a:prstGeom>
          <a:solidFill>
            <a:srgbClr val="F5F6F8"/>
          </a:solidFill>
          <a:ln w="9525">
            <a:solidFill>
              <a:srgbClr val="E3E6EA"/>
            </a:solidFill>
            <a:prstDash val="solid"/>
          </a:ln>
          <a:effectLst>
            <a:outerShdw blurRad="63500" dist="25400" dir="2700000" algn="bl" rotWithShape="0">
              <a:srgbClr val="000000">
                <a:alpha val="12000"/>
              </a:srgbClr>
            </a:outerShdw>
          </a:effectLst>
        </p:spPr>
      </p:sp>
      <p:sp>
        <p:nvSpPr>
          <p:cNvPr id="21" name="Shape 16"/>
          <p:cNvSpPr/>
          <p:nvPr/>
        </p:nvSpPr>
        <p:spPr>
          <a:xfrm>
            <a:off x="6419088" y="4069080"/>
            <a:ext cx="475488" cy="475488"/>
          </a:xfrm>
          <a:prstGeom prst="ellipse">
            <a:avLst/>
          </a:prstGeom>
          <a:solidFill>
            <a:srgbClr val="0B5E5E"/>
          </a:solidFill>
          <a:ln/>
        </p:spPr>
      </p:sp>
      <p:pic>
        <p:nvPicPr>
          <p:cNvPr id="22" name="Image 3" descr="preencoded.png"/>
          <p:cNvPicPr>
            <a:picLocks noChangeAspect="1"/>
          </p:cNvPicPr>
          <p:nvPr/>
        </p:nvPicPr>
        <p:blipFill>
          <a:blip r:embed="rId6"/>
          <a:stretch>
            <a:fillRect/>
          </a:stretch>
        </p:blipFill>
        <p:spPr>
          <a:xfrm>
            <a:off x="6519672" y="4169664"/>
            <a:ext cx="274320" cy="274320"/>
          </a:xfrm>
          <a:prstGeom prst="rect">
            <a:avLst/>
          </a:prstGeom>
        </p:spPr>
      </p:pic>
      <p:sp>
        <p:nvSpPr>
          <p:cNvPr id="23" name="Text 17"/>
          <p:cNvSpPr/>
          <p:nvPr/>
        </p:nvSpPr>
        <p:spPr>
          <a:xfrm>
            <a:off x="7022592" y="4050792"/>
            <a:ext cx="4480560" cy="512064"/>
          </a:xfrm>
          <a:prstGeom prst="rect">
            <a:avLst/>
          </a:prstGeom>
          <a:noFill/>
          <a:ln/>
        </p:spPr>
        <p:txBody>
          <a:bodyPr wrap="square" lIns="0" tIns="0" rIns="0" bIns="0" rtlCol="0" anchor="ctr"/>
          <a:lstStyle/>
          <a:p>
            <a:pPr marL="0" indent="0">
              <a:buNone/>
            </a:pPr>
            <a:r>
              <a:rPr lang="en-US" sz="1500" b="1" dirty="0">
                <a:solidFill>
                  <a:srgbClr val="0F2850"/>
                </a:solidFill>
                <a:latin typeface="Calibri" pitchFamily="34" charset="0"/>
                <a:ea typeface="Calibri" pitchFamily="34" charset="-122"/>
                <a:cs typeface="Calibri" pitchFamily="34" charset="-120"/>
              </a:rPr>
              <a:t>Desplegabilidad</a:t>
            </a:r>
            <a:endParaRPr lang="en-US" sz="1500" dirty="0"/>
          </a:p>
        </p:txBody>
      </p:sp>
      <p:sp>
        <p:nvSpPr>
          <p:cNvPr id="24" name="Text 18"/>
          <p:cNvSpPr/>
          <p:nvPr/>
        </p:nvSpPr>
        <p:spPr>
          <a:xfrm>
            <a:off x="6446520" y="4654296"/>
            <a:ext cx="4983480" cy="1097280"/>
          </a:xfrm>
          <a:prstGeom prst="rect">
            <a:avLst/>
          </a:prstGeom>
          <a:noFill/>
          <a:ln/>
        </p:spPr>
        <p:txBody>
          <a:bodyPr wrap="square" lIns="0" tIns="0" rIns="0" bIns="0" rtlCol="0" anchor="t"/>
          <a:lstStyle/>
          <a:p>
            <a:pPr marL="0" indent="0">
              <a:buNone/>
            </a:pPr>
            <a:r>
              <a:rPr lang="en-US" sz="1200" dirty="0">
                <a:solidFill>
                  <a:srgbClr val="2B2B2B"/>
                </a:solidFill>
                <a:latin typeface="Calibri" pitchFamily="34" charset="0"/>
                <a:ea typeface="Calibri" pitchFamily="34" charset="-122"/>
                <a:cs typeface="Calibri" pitchFamily="34" charset="-120"/>
              </a:rPr>
              <a:t>Frecuencia y seguridad con la que se publica software: despliegues pequeños, independientes y reversibles.</a:t>
            </a:r>
            <a:endParaRPr lang="en-US" sz="120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DECISIÓN DE DISEÑO</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¿Cómo elegir la arquitectura? Criterios honestos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sp>
        <p:nvSpPr>
          <p:cNvPr id="5" name="Shape 3"/>
          <p:cNvSpPr/>
          <p:nvPr/>
        </p:nvSpPr>
        <p:spPr>
          <a:xfrm>
            <a:off x="640080" y="1664208"/>
            <a:ext cx="658368" cy="658368"/>
          </a:xfrm>
          <a:prstGeom prst="ellipse">
            <a:avLst/>
          </a:prstGeom>
          <a:solidFill>
            <a:srgbClr val="1E5096"/>
          </a:solidFill>
          <a:ln/>
        </p:spPr>
      </p:sp>
      <p:sp>
        <p:nvSpPr>
          <p:cNvPr id="6" name="Text 4"/>
          <p:cNvSpPr/>
          <p:nvPr/>
        </p:nvSpPr>
        <p:spPr>
          <a:xfrm>
            <a:off x="640080" y="1664208"/>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1508760" y="1554480"/>
            <a:ext cx="9966960" cy="365760"/>
          </a:xfrm>
          <a:prstGeom prst="rect">
            <a:avLst/>
          </a:prstGeom>
          <a:noFill/>
          <a:ln/>
        </p:spPr>
        <p:txBody>
          <a:bodyPr wrap="square" lIns="0" tIns="0" rIns="0" bIns="0" rtlCol="0" anchor="ctr"/>
          <a:lstStyle/>
          <a:p>
            <a:pPr marL="0" indent="0">
              <a:buNone/>
            </a:pPr>
            <a:r>
              <a:rPr lang="en-US" sz="1550" b="1" dirty="0">
                <a:solidFill>
                  <a:srgbClr val="0F2850"/>
                </a:solidFill>
                <a:latin typeface="Calibri" pitchFamily="34" charset="0"/>
                <a:ea typeface="Calibri" pitchFamily="34" charset="-122"/>
                <a:cs typeface="Calibri" pitchFamily="34" charset="-120"/>
              </a:rPr>
              <a:t>Tamaño y madurez del equipo</a:t>
            </a:r>
            <a:endParaRPr lang="en-US" sz="1550" dirty="0"/>
          </a:p>
        </p:txBody>
      </p:sp>
      <p:sp>
        <p:nvSpPr>
          <p:cNvPr id="8" name="Text 6"/>
          <p:cNvSpPr/>
          <p:nvPr/>
        </p:nvSpPr>
        <p:spPr>
          <a:xfrm>
            <a:off x="1508760" y="1938528"/>
            <a:ext cx="9966960" cy="566928"/>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Pocos desarrolladores y dominio incierto: monolito modular. Varios equipos autónomos: microservicios.</a:t>
            </a:r>
            <a:endParaRPr lang="en-US" sz="1250" dirty="0"/>
          </a:p>
        </p:txBody>
      </p:sp>
      <p:sp>
        <p:nvSpPr>
          <p:cNvPr id="9" name="Shape 7"/>
          <p:cNvSpPr/>
          <p:nvPr/>
        </p:nvSpPr>
        <p:spPr>
          <a:xfrm>
            <a:off x="640080" y="2779776"/>
            <a:ext cx="658368" cy="658368"/>
          </a:xfrm>
          <a:prstGeom prst="ellipse">
            <a:avLst/>
          </a:prstGeom>
          <a:solidFill>
            <a:srgbClr val="008080"/>
          </a:solidFill>
          <a:ln/>
        </p:spPr>
      </p:sp>
      <p:sp>
        <p:nvSpPr>
          <p:cNvPr id="10" name="Text 8"/>
          <p:cNvSpPr/>
          <p:nvPr/>
        </p:nvSpPr>
        <p:spPr>
          <a:xfrm>
            <a:off x="640080" y="2779776"/>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1" name="Text 9"/>
          <p:cNvSpPr/>
          <p:nvPr/>
        </p:nvSpPr>
        <p:spPr>
          <a:xfrm>
            <a:off x="1508760" y="2670048"/>
            <a:ext cx="9966960" cy="365760"/>
          </a:xfrm>
          <a:prstGeom prst="rect">
            <a:avLst/>
          </a:prstGeom>
          <a:noFill/>
          <a:ln/>
        </p:spPr>
        <p:txBody>
          <a:bodyPr wrap="square" lIns="0" tIns="0" rIns="0" bIns="0" rtlCol="0" anchor="ctr"/>
          <a:lstStyle/>
          <a:p>
            <a:pPr marL="0" indent="0">
              <a:buNone/>
            </a:pPr>
            <a:r>
              <a:rPr lang="en-US" sz="1550" b="1" dirty="0">
                <a:solidFill>
                  <a:srgbClr val="0F2850"/>
                </a:solidFill>
                <a:latin typeface="Calibri" pitchFamily="34" charset="0"/>
                <a:ea typeface="Calibri" pitchFamily="34" charset="-122"/>
                <a:cs typeface="Calibri" pitchFamily="34" charset="-120"/>
              </a:rPr>
              <a:t>Frecuencia de despliegue</a:t>
            </a:r>
            <a:endParaRPr lang="en-US" sz="1550" dirty="0"/>
          </a:p>
        </p:txBody>
      </p:sp>
      <p:sp>
        <p:nvSpPr>
          <p:cNvPr id="12" name="Text 10"/>
          <p:cNvSpPr/>
          <p:nvPr/>
        </p:nvSpPr>
        <p:spPr>
          <a:xfrm>
            <a:off x="1508760" y="3054096"/>
            <a:ext cx="9966960" cy="566928"/>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¿Se necesita publicar partes del sistema varias veces al día sin detener el resto? Solo entonces el despliegue independiente paga su costo.</a:t>
            </a:r>
            <a:endParaRPr lang="en-US" sz="1250" dirty="0"/>
          </a:p>
        </p:txBody>
      </p:sp>
      <p:sp>
        <p:nvSpPr>
          <p:cNvPr id="13" name="Shape 11"/>
          <p:cNvSpPr/>
          <p:nvPr/>
        </p:nvSpPr>
        <p:spPr>
          <a:xfrm>
            <a:off x="640080" y="3895344"/>
            <a:ext cx="658368" cy="658368"/>
          </a:xfrm>
          <a:prstGeom prst="ellipse">
            <a:avLst/>
          </a:prstGeom>
          <a:solidFill>
            <a:srgbClr val="0F2850"/>
          </a:solidFill>
          <a:ln/>
        </p:spPr>
      </p:sp>
      <p:sp>
        <p:nvSpPr>
          <p:cNvPr id="14" name="Text 12"/>
          <p:cNvSpPr/>
          <p:nvPr/>
        </p:nvSpPr>
        <p:spPr>
          <a:xfrm>
            <a:off x="640080" y="3895344"/>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5" name="Text 13"/>
          <p:cNvSpPr/>
          <p:nvPr/>
        </p:nvSpPr>
        <p:spPr>
          <a:xfrm>
            <a:off x="1508760" y="3785616"/>
            <a:ext cx="9966960" cy="365760"/>
          </a:xfrm>
          <a:prstGeom prst="rect">
            <a:avLst/>
          </a:prstGeom>
          <a:noFill/>
          <a:ln/>
        </p:spPr>
        <p:txBody>
          <a:bodyPr wrap="square" lIns="0" tIns="0" rIns="0" bIns="0" rtlCol="0" anchor="ctr"/>
          <a:lstStyle/>
          <a:p>
            <a:pPr marL="0" indent="0">
              <a:buNone/>
            </a:pPr>
            <a:r>
              <a:rPr lang="en-US" sz="1550" b="1" dirty="0">
                <a:solidFill>
                  <a:srgbClr val="0F2850"/>
                </a:solidFill>
                <a:latin typeface="Calibri" pitchFamily="34" charset="0"/>
                <a:ea typeface="Calibri" pitchFamily="34" charset="-122"/>
                <a:cs typeface="Calibri" pitchFamily="34" charset="-120"/>
              </a:rPr>
              <a:t>Fronteras del dominio</a:t>
            </a:r>
            <a:endParaRPr lang="en-US" sz="1550" dirty="0"/>
          </a:p>
        </p:txBody>
      </p:sp>
      <p:sp>
        <p:nvSpPr>
          <p:cNvPr id="16" name="Text 14"/>
          <p:cNvSpPr/>
          <p:nvPr/>
        </p:nvSpPr>
        <p:spPr>
          <a:xfrm>
            <a:off x="1508760" y="4169664"/>
            <a:ext cx="9966960" cy="566928"/>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Los servicios se cortan por capacidades de negocio bien delimitadas (Diseño Guiado por el Dominio), nunca por capas técnicas.</a:t>
            </a:r>
            <a:endParaRPr lang="en-US" sz="1250" dirty="0"/>
          </a:p>
        </p:txBody>
      </p:sp>
      <p:sp>
        <p:nvSpPr>
          <p:cNvPr id="17" name="Shape 15"/>
          <p:cNvSpPr/>
          <p:nvPr/>
        </p:nvSpPr>
        <p:spPr>
          <a:xfrm>
            <a:off x="640080" y="5010912"/>
            <a:ext cx="658368" cy="658368"/>
          </a:xfrm>
          <a:prstGeom prst="ellipse">
            <a:avLst/>
          </a:prstGeom>
          <a:solidFill>
            <a:srgbClr val="0B5E5E"/>
          </a:solidFill>
          <a:ln/>
        </p:spPr>
      </p:sp>
      <p:sp>
        <p:nvSpPr>
          <p:cNvPr id="18" name="Text 16"/>
          <p:cNvSpPr/>
          <p:nvPr/>
        </p:nvSpPr>
        <p:spPr>
          <a:xfrm>
            <a:off x="640080" y="5010912"/>
            <a:ext cx="658368"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9" name="Text 17"/>
          <p:cNvSpPr/>
          <p:nvPr/>
        </p:nvSpPr>
        <p:spPr>
          <a:xfrm>
            <a:off x="1508760" y="4901184"/>
            <a:ext cx="9966960" cy="365760"/>
          </a:xfrm>
          <a:prstGeom prst="rect">
            <a:avLst/>
          </a:prstGeom>
          <a:noFill/>
          <a:ln/>
        </p:spPr>
        <p:txBody>
          <a:bodyPr wrap="square" lIns="0" tIns="0" rIns="0" bIns="0" rtlCol="0" anchor="ctr"/>
          <a:lstStyle/>
          <a:p>
            <a:pPr marL="0" indent="0">
              <a:buNone/>
            </a:pPr>
            <a:r>
              <a:rPr lang="en-US" sz="1550" b="1" dirty="0">
                <a:solidFill>
                  <a:srgbClr val="0F2850"/>
                </a:solidFill>
                <a:latin typeface="Calibri" pitchFamily="34" charset="0"/>
                <a:ea typeface="Calibri" pitchFamily="34" charset="-122"/>
                <a:cs typeface="Calibri" pitchFamily="34" charset="-120"/>
              </a:rPr>
              <a:t>Capacidad operativa</a:t>
            </a:r>
            <a:endParaRPr lang="en-US" sz="1550" dirty="0"/>
          </a:p>
        </p:txBody>
      </p:sp>
      <p:sp>
        <p:nvSpPr>
          <p:cNvPr id="20" name="Text 18"/>
          <p:cNvSpPr/>
          <p:nvPr/>
        </p:nvSpPr>
        <p:spPr>
          <a:xfrm>
            <a:off x="1508760" y="5285232"/>
            <a:ext cx="9966960" cy="566928"/>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Microservicios exigen contenedores, observabilidad y automatización; sin esa base, son un monolito distribuido: lo peor de ambos mundos.</a:t>
            </a:r>
            <a:endParaRPr lang="en-US" sz="1250" dirty="0"/>
          </a:p>
        </p:txBody>
      </p:sp>
      <p:sp>
        <p:nvSpPr>
          <p:cNvPr id="21" name="Text 19"/>
          <p:cNvSpPr/>
          <p:nvPr/>
        </p:nvSpPr>
        <p:spPr>
          <a:xfrm>
            <a:off x="548640" y="6035040"/>
            <a:ext cx="11064240" cy="411480"/>
          </a:xfrm>
          <a:prstGeom prst="rect">
            <a:avLst/>
          </a:prstGeom>
          <a:noFill/>
          <a:ln/>
        </p:spPr>
        <p:txBody>
          <a:bodyPr wrap="square" lIns="0" tIns="0" rIns="0" bIns="0"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Consejo de Newman: empezar con un monolito modular y migrar a microservicios cuando el dolor sea real y localizado.</a:t>
            </a:r>
            <a:endParaRPr lang="en-US" sz="125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DE LA TEORÍA A SU PROYECTO</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Esta arquitectura es la de su Proyecto Fin de Curso</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sp>
        <p:nvSpPr>
          <p:cNvPr id="5" name="Shape 3"/>
          <p:cNvSpPr/>
          <p:nvPr/>
        </p:nvSpPr>
        <p:spPr>
          <a:xfrm>
            <a:off x="640080" y="2651760"/>
            <a:ext cx="1920240" cy="1005840"/>
          </a:xfrm>
          <a:prstGeom prst="roundRect">
            <a:avLst>
              <a:gd name="adj" fmla="val 5455"/>
            </a:avLst>
          </a:prstGeom>
          <a:solidFill>
            <a:srgbClr val="1E5096"/>
          </a:solidFill>
          <a:ln w="12700">
            <a:solidFill>
              <a:srgbClr val="1E5096"/>
            </a:solidFill>
            <a:prstDash val="solid"/>
          </a:ln>
          <a:effectLst>
            <a:outerShdw blurRad="63500" dist="25400" dir="2700000" algn="bl" rotWithShape="0">
              <a:srgbClr val="000000">
                <a:alpha val="18000"/>
              </a:srgbClr>
            </a:outerShdw>
          </a:effectLst>
        </p:spPr>
      </p:sp>
      <p:sp>
        <p:nvSpPr>
          <p:cNvPr id="6" name="Text 4"/>
          <p:cNvSpPr/>
          <p:nvPr/>
        </p:nvSpPr>
        <p:spPr>
          <a:xfrm>
            <a:off x="640080" y="2651760"/>
            <a:ext cx="1920240" cy="1005840"/>
          </a:xfrm>
          <a:prstGeom prst="rect">
            <a:avLst/>
          </a:prstGeom>
          <a:noFill/>
          <a:ln/>
        </p:spPr>
        <p:txBody>
          <a:bodyPr wrap="square" lIns="635" tIns="635" rIns="635" bIns="635"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Cliente</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(Postman / web)</a:t>
            </a:r>
            <a:endParaRPr lang="en-US" sz="1150" dirty="0"/>
          </a:p>
        </p:txBody>
      </p:sp>
      <p:sp>
        <p:nvSpPr>
          <p:cNvPr id="7" name="Shape 5"/>
          <p:cNvSpPr/>
          <p:nvPr/>
        </p:nvSpPr>
        <p:spPr>
          <a:xfrm>
            <a:off x="3200400" y="2468880"/>
            <a:ext cx="2468880" cy="1371600"/>
          </a:xfrm>
          <a:prstGeom prst="roundRect">
            <a:avLst>
              <a:gd name="adj" fmla="val 4000"/>
            </a:avLst>
          </a:prstGeom>
          <a:solidFill>
            <a:srgbClr val="0F2850"/>
          </a:solidFill>
          <a:ln w="12700">
            <a:solidFill>
              <a:srgbClr val="0F2850"/>
            </a:solidFill>
            <a:prstDash val="solid"/>
          </a:ln>
          <a:effectLst>
            <a:outerShdw blurRad="63500" dist="25400" dir="2700000" algn="bl" rotWithShape="0">
              <a:srgbClr val="000000">
                <a:alpha val="18000"/>
              </a:srgbClr>
            </a:outerShdw>
          </a:effectLst>
        </p:spPr>
      </p:sp>
      <p:pic>
        <p:nvPicPr>
          <p:cNvPr id="8" name="Image 0" descr="preencoded.png"/>
          <p:cNvPicPr>
            <a:picLocks noChangeAspect="1"/>
          </p:cNvPicPr>
          <p:nvPr/>
        </p:nvPicPr>
        <p:blipFill>
          <a:blip r:embed="rId3"/>
          <a:stretch>
            <a:fillRect/>
          </a:stretch>
        </p:blipFill>
        <p:spPr>
          <a:xfrm>
            <a:off x="4279392" y="2587752"/>
            <a:ext cx="310896" cy="310896"/>
          </a:xfrm>
          <a:prstGeom prst="rect">
            <a:avLst/>
          </a:prstGeom>
        </p:spPr>
      </p:pic>
      <p:sp>
        <p:nvSpPr>
          <p:cNvPr id="9" name="Text 6"/>
          <p:cNvSpPr/>
          <p:nvPr/>
        </p:nvSpPr>
        <p:spPr>
          <a:xfrm>
            <a:off x="3200400" y="2889504"/>
            <a:ext cx="2468880" cy="914400"/>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Puerta de enlace</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Nginx :8080</a:t>
            </a:r>
            <a:endParaRPr lang="en-US" sz="1150" dirty="0"/>
          </a:p>
        </p:txBody>
      </p:sp>
      <p:sp>
        <p:nvSpPr>
          <p:cNvPr id="10" name="Shape 7"/>
          <p:cNvSpPr/>
          <p:nvPr/>
        </p:nvSpPr>
        <p:spPr>
          <a:xfrm>
            <a:off x="6675120" y="1417320"/>
            <a:ext cx="2377440" cy="731520"/>
          </a:xfrm>
          <a:prstGeom prst="roundRect">
            <a:avLst>
              <a:gd name="adj" fmla="val 7500"/>
            </a:avLst>
          </a:prstGeom>
          <a:solidFill>
            <a:srgbClr val="008080"/>
          </a:solidFill>
          <a:ln w="12700">
            <a:solidFill>
              <a:srgbClr val="008080"/>
            </a:solidFill>
            <a:prstDash val="solid"/>
          </a:ln>
          <a:effectLst>
            <a:outerShdw blurRad="63500" dist="25400" dir="2700000" algn="bl" rotWithShape="0">
              <a:srgbClr val="000000">
                <a:alpha val="18000"/>
              </a:srgbClr>
            </a:outerShdw>
          </a:effectLst>
        </p:spPr>
      </p:sp>
      <p:sp>
        <p:nvSpPr>
          <p:cNvPr id="11" name="Text 8"/>
          <p:cNvSpPr/>
          <p:nvPr/>
        </p:nvSpPr>
        <p:spPr>
          <a:xfrm>
            <a:off x="6675120" y="1417320"/>
            <a:ext cx="2377440" cy="731520"/>
          </a:xfrm>
          <a:prstGeom prst="rect">
            <a:avLst/>
          </a:prstGeom>
          <a:noFill/>
          <a:ln/>
        </p:spPr>
        <p:txBody>
          <a:bodyPr wrap="square" lIns="635" tIns="635" rIns="635" bIns="635"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auth-service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(emite JWT)</a:t>
            </a:r>
            <a:endParaRPr lang="en-US" sz="1050" dirty="0"/>
          </a:p>
        </p:txBody>
      </p:sp>
      <p:sp>
        <p:nvSpPr>
          <p:cNvPr id="12" name="Shape 9"/>
          <p:cNvSpPr/>
          <p:nvPr/>
        </p:nvSpPr>
        <p:spPr>
          <a:xfrm>
            <a:off x="6675120" y="2697480"/>
            <a:ext cx="2377440" cy="731520"/>
          </a:xfrm>
          <a:prstGeom prst="roundRect">
            <a:avLst>
              <a:gd name="adj" fmla="val 7500"/>
            </a:avLst>
          </a:prstGeom>
          <a:solidFill>
            <a:srgbClr val="008080"/>
          </a:solidFill>
          <a:ln w="12700">
            <a:solidFill>
              <a:srgbClr val="008080"/>
            </a:solidFill>
            <a:prstDash val="solid"/>
          </a:ln>
          <a:effectLst>
            <a:outerShdw blurRad="63500" dist="25400" dir="2700000" algn="bl" rotWithShape="0">
              <a:srgbClr val="000000">
                <a:alpha val="18000"/>
              </a:srgbClr>
            </a:outerShdw>
          </a:effectLst>
        </p:spPr>
      </p:sp>
      <p:sp>
        <p:nvSpPr>
          <p:cNvPr id="13" name="Text 10"/>
          <p:cNvSpPr/>
          <p:nvPr/>
        </p:nvSpPr>
        <p:spPr>
          <a:xfrm>
            <a:off x="6675120" y="2697480"/>
            <a:ext cx="2377440" cy="731520"/>
          </a:xfrm>
          <a:prstGeom prst="rect">
            <a:avLst/>
          </a:prstGeom>
          <a:noFill/>
          <a:ln/>
        </p:spPr>
        <p:txBody>
          <a:bodyPr wrap="square" lIns="635" tIns="635" rIns="635" bIns="635"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resource-service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(recurso del PFC)</a:t>
            </a:r>
            <a:endParaRPr lang="en-US" sz="1050" dirty="0"/>
          </a:p>
        </p:txBody>
      </p:sp>
      <p:sp>
        <p:nvSpPr>
          <p:cNvPr id="14" name="Shape 11"/>
          <p:cNvSpPr/>
          <p:nvPr/>
        </p:nvSpPr>
        <p:spPr>
          <a:xfrm>
            <a:off x="6675120" y="3977640"/>
            <a:ext cx="2377440" cy="731520"/>
          </a:xfrm>
          <a:prstGeom prst="roundRect">
            <a:avLst>
              <a:gd name="adj" fmla="val 7500"/>
            </a:avLst>
          </a:prstGeom>
          <a:solidFill>
            <a:srgbClr val="008080"/>
          </a:solidFill>
          <a:ln w="12700">
            <a:solidFill>
              <a:srgbClr val="008080"/>
            </a:solidFill>
            <a:prstDash val="solid"/>
          </a:ln>
          <a:effectLst>
            <a:outerShdw blurRad="63500" dist="25400" dir="2700000" algn="bl" rotWithShape="0">
              <a:srgbClr val="000000">
                <a:alpha val="18000"/>
              </a:srgbClr>
            </a:outerShdw>
          </a:effectLst>
        </p:spPr>
      </p:sp>
      <p:sp>
        <p:nvSpPr>
          <p:cNvPr id="15" name="Text 12"/>
          <p:cNvSpPr/>
          <p:nvPr/>
        </p:nvSpPr>
        <p:spPr>
          <a:xfrm>
            <a:off x="6675120" y="3977640"/>
            <a:ext cx="2377440" cy="731520"/>
          </a:xfrm>
          <a:prstGeom prst="rect">
            <a:avLst/>
          </a:prstGeom>
          <a:noFill/>
          <a:ln/>
        </p:spPr>
        <p:txBody>
          <a:bodyPr wrap="square" lIns="635" tIns="635" rIns="635" bIns="635"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notification-service</a:t>
            </a:r>
            <a:endParaRPr lang="en-US" sz="1050" dirty="0"/>
          </a:p>
        </p:txBody>
      </p:sp>
      <p:sp>
        <p:nvSpPr>
          <p:cNvPr id="16" name="Shape 13"/>
          <p:cNvSpPr/>
          <p:nvPr/>
        </p:nvSpPr>
        <p:spPr>
          <a:xfrm>
            <a:off x="9692640" y="1417320"/>
            <a:ext cx="1920240" cy="731520"/>
          </a:xfrm>
          <a:prstGeom prst="roundRect">
            <a:avLst>
              <a:gd name="adj" fmla="val 7500"/>
            </a:avLst>
          </a:prstGeom>
          <a:solidFill>
            <a:srgbClr val="0B5E5E"/>
          </a:solidFill>
          <a:ln w="12700">
            <a:solidFill>
              <a:srgbClr val="0B5E5E"/>
            </a:solidFill>
            <a:prstDash val="solid"/>
          </a:ln>
          <a:effectLst>
            <a:outerShdw blurRad="63500" dist="25400" dir="2700000" algn="bl" rotWithShape="0">
              <a:srgbClr val="000000">
                <a:alpha val="18000"/>
              </a:srgbClr>
            </a:outerShdw>
          </a:effectLst>
        </p:spPr>
      </p:sp>
      <p:sp>
        <p:nvSpPr>
          <p:cNvPr id="17" name="Text 14"/>
          <p:cNvSpPr/>
          <p:nvPr/>
        </p:nvSpPr>
        <p:spPr>
          <a:xfrm>
            <a:off x="9692640" y="1417320"/>
            <a:ext cx="1920240" cy="731520"/>
          </a:xfrm>
          <a:prstGeom prst="rect">
            <a:avLst/>
          </a:prstGeom>
          <a:noFill/>
          <a:ln/>
        </p:spPr>
        <p:txBody>
          <a:bodyPr wrap="square" lIns="635" tIns="635" rIns="635" bIns="635"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BD propia</a:t>
            </a:r>
            <a:endParaRPr lang="en-US" sz="1050" dirty="0"/>
          </a:p>
        </p:txBody>
      </p:sp>
      <p:sp>
        <p:nvSpPr>
          <p:cNvPr id="18" name="Shape 15"/>
          <p:cNvSpPr/>
          <p:nvPr/>
        </p:nvSpPr>
        <p:spPr>
          <a:xfrm>
            <a:off x="9692640" y="2697480"/>
            <a:ext cx="1920240" cy="731520"/>
          </a:xfrm>
          <a:prstGeom prst="roundRect">
            <a:avLst>
              <a:gd name="adj" fmla="val 7500"/>
            </a:avLst>
          </a:prstGeom>
          <a:solidFill>
            <a:srgbClr val="0B5E5E"/>
          </a:solidFill>
          <a:ln w="12700">
            <a:solidFill>
              <a:srgbClr val="0B5E5E"/>
            </a:solidFill>
            <a:prstDash val="solid"/>
          </a:ln>
          <a:effectLst>
            <a:outerShdw blurRad="63500" dist="25400" dir="2700000" algn="bl" rotWithShape="0">
              <a:srgbClr val="000000">
                <a:alpha val="18000"/>
              </a:srgbClr>
            </a:outerShdw>
          </a:effectLst>
        </p:spPr>
      </p:sp>
      <p:sp>
        <p:nvSpPr>
          <p:cNvPr id="19" name="Text 16"/>
          <p:cNvSpPr/>
          <p:nvPr/>
        </p:nvSpPr>
        <p:spPr>
          <a:xfrm>
            <a:off x="9692640" y="2697480"/>
            <a:ext cx="1920240" cy="731520"/>
          </a:xfrm>
          <a:prstGeom prst="rect">
            <a:avLst/>
          </a:prstGeom>
          <a:noFill/>
          <a:ln/>
        </p:spPr>
        <p:txBody>
          <a:bodyPr wrap="square" lIns="635" tIns="635" rIns="635" bIns="635"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BD propia</a:t>
            </a:r>
            <a:endParaRPr lang="en-US" sz="1050" dirty="0"/>
          </a:p>
        </p:txBody>
      </p:sp>
      <p:sp>
        <p:nvSpPr>
          <p:cNvPr id="20" name="Shape 17"/>
          <p:cNvSpPr/>
          <p:nvPr/>
        </p:nvSpPr>
        <p:spPr>
          <a:xfrm>
            <a:off x="9692640" y="3977640"/>
            <a:ext cx="1920240" cy="731520"/>
          </a:xfrm>
          <a:prstGeom prst="roundRect">
            <a:avLst>
              <a:gd name="adj" fmla="val 7500"/>
            </a:avLst>
          </a:prstGeom>
          <a:solidFill>
            <a:srgbClr val="0B5E5E"/>
          </a:solidFill>
          <a:ln w="12700">
            <a:solidFill>
              <a:srgbClr val="0B5E5E"/>
            </a:solidFill>
            <a:prstDash val="solid"/>
          </a:ln>
          <a:effectLst>
            <a:outerShdw blurRad="63500" dist="25400" dir="2700000" algn="bl" rotWithShape="0">
              <a:srgbClr val="000000">
                <a:alpha val="18000"/>
              </a:srgbClr>
            </a:outerShdw>
          </a:effectLst>
        </p:spPr>
      </p:sp>
      <p:sp>
        <p:nvSpPr>
          <p:cNvPr id="21" name="Text 18"/>
          <p:cNvSpPr/>
          <p:nvPr/>
        </p:nvSpPr>
        <p:spPr>
          <a:xfrm>
            <a:off x="9692640" y="3977640"/>
            <a:ext cx="1920240" cy="731520"/>
          </a:xfrm>
          <a:prstGeom prst="rect">
            <a:avLst/>
          </a:prstGeom>
          <a:noFill/>
          <a:ln/>
        </p:spPr>
        <p:txBody>
          <a:bodyPr wrap="square" lIns="635" tIns="635" rIns="635" bIns="635"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BD propia</a:t>
            </a:r>
            <a:endParaRPr lang="en-US" sz="1050" dirty="0"/>
          </a:p>
        </p:txBody>
      </p:sp>
      <p:sp>
        <p:nvSpPr>
          <p:cNvPr id="22" name="Shape 19"/>
          <p:cNvSpPr/>
          <p:nvPr/>
        </p:nvSpPr>
        <p:spPr>
          <a:xfrm>
            <a:off x="2560320" y="3154680"/>
            <a:ext cx="640080" cy="0"/>
          </a:xfrm>
          <a:prstGeom prst="line">
            <a:avLst/>
          </a:prstGeom>
          <a:noFill/>
          <a:ln w="27940">
            <a:solidFill>
              <a:srgbClr val="6B7280"/>
            </a:solidFill>
            <a:prstDash val="solid"/>
            <a:tailEnd type="triangle"/>
          </a:ln>
        </p:spPr>
      </p:sp>
      <p:sp>
        <p:nvSpPr>
          <p:cNvPr id="23" name="Shape 20"/>
          <p:cNvSpPr/>
          <p:nvPr/>
        </p:nvSpPr>
        <p:spPr>
          <a:xfrm flipV="1">
            <a:off x="5669280" y="1783080"/>
            <a:ext cx="1005840" cy="1005840"/>
          </a:xfrm>
          <a:prstGeom prst="line">
            <a:avLst/>
          </a:prstGeom>
          <a:noFill/>
          <a:ln w="25400">
            <a:solidFill>
              <a:srgbClr val="6B7280"/>
            </a:solidFill>
            <a:prstDash val="solid"/>
            <a:tailEnd type="triangle"/>
          </a:ln>
        </p:spPr>
      </p:sp>
      <p:sp>
        <p:nvSpPr>
          <p:cNvPr id="24" name="Shape 21"/>
          <p:cNvSpPr/>
          <p:nvPr/>
        </p:nvSpPr>
        <p:spPr>
          <a:xfrm flipV="1">
            <a:off x="5669280" y="3063240"/>
            <a:ext cx="1005840" cy="91440"/>
          </a:xfrm>
          <a:prstGeom prst="line">
            <a:avLst/>
          </a:prstGeom>
          <a:noFill/>
          <a:ln w="25400">
            <a:solidFill>
              <a:srgbClr val="6B7280"/>
            </a:solidFill>
            <a:prstDash val="solid"/>
            <a:tailEnd type="triangle"/>
          </a:ln>
        </p:spPr>
      </p:sp>
      <p:sp>
        <p:nvSpPr>
          <p:cNvPr id="25" name="Shape 22"/>
          <p:cNvSpPr/>
          <p:nvPr/>
        </p:nvSpPr>
        <p:spPr>
          <a:xfrm>
            <a:off x="5669280" y="3520440"/>
            <a:ext cx="1005840" cy="822960"/>
          </a:xfrm>
          <a:prstGeom prst="line">
            <a:avLst/>
          </a:prstGeom>
          <a:noFill/>
          <a:ln w="25400">
            <a:solidFill>
              <a:srgbClr val="6B7280"/>
            </a:solidFill>
            <a:prstDash val="solid"/>
            <a:tailEnd type="triangle"/>
          </a:ln>
        </p:spPr>
      </p:sp>
      <p:sp>
        <p:nvSpPr>
          <p:cNvPr id="26" name="Shape 23"/>
          <p:cNvSpPr/>
          <p:nvPr/>
        </p:nvSpPr>
        <p:spPr>
          <a:xfrm>
            <a:off x="9052560" y="1783080"/>
            <a:ext cx="640080" cy="0"/>
          </a:xfrm>
          <a:prstGeom prst="line">
            <a:avLst/>
          </a:prstGeom>
          <a:noFill/>
          <a:ln w="22860">
            <a:solidFill>
              <a:srgbClr val="6B7280"/>
            </a:solidFill>
            <a:prstDash val="solid"/>
            <a:tailEnd type="triangle"/>
          </a:ln>
        </p:spPr>
      </p:sp>
      <p:sp>
        <p:nvSpPr>
          <p:cNvPr id="27" name="Shape 24"/>
          <p:cNvSpPr/>
          <p:nvPr/>
        </p:nvSpPr>
        <p:spPr>
          <a:xfrm>
            <a:off x="9052560" y="3063240"/>
            <a:ext cx="640080" cy="0"/>
          </a:xfrm>
          <a:prstGeom prst="line">
            <a:avLst/>
          </a:prstGeom>
          <a:noFill/>
          <a:ln w="22860">
            <a:solidFill>
              <a:srgbClr val="6B7280"/>
            </a:solidFill>
            <a:prstDash val="solid"/>
            <a:tailEnd type="triangle"/>
          </a:ln>
        </p:spPr>
      </p:sp>
      <p:sp>
        <p:nvSpPr>
          <p:cNvPr id="28" name="Shape 25"/>
          <p:cNvSpPr/>
          <p:nvPr/>
        </p:nvSpPr>
        <p:spPr>
          <a:xfrm>
            <a:off x="9052560" y="4343400"/>
            <a:ext cx="640080" cy="0"/>
          </a:xfrm>
          <a:prstGeom prst="line">
            <a:avLst/>
          </a:prstGeom>
          <a:noFill/>
          <a:ln w="22860">
            <a:solidFill>
              <a:srgbClr val="6B7280"/>
            </a:solidFill>
            <a:prstDash val="solid"/>
            <a:tailEnd type="triangle"/>
          </a:ln>
        </p:spPr>
      </p:sp>
      <p:sp>
        <p:nvSpPr>
          <p:cNvPr id="29" name="Text 26"/>
          <p:cNvSpPr/>
          <p:nvPr/>
        </p:nvSpPr>
        <p:spPr>
          <a:xfrm>
            <a:off x="548640" y="5120640"/>
            <a:ext cx="11064240" cy="914400"/>
          </a:xfrm>
          <a:prstGeom prst="rect">
            <a:avLst/>
          </a:prstGeom>
          <a:noFill/>
          <a:ln/>
        </p:spPr>
        <p:txBody>
          <a:bodyPr wrap="square" lIns="0" tIns="0" rIns="0" bIns="0" rtlCol="0" anchor="ctr"/>
          <a:lstStyle/>
          <a:p>
            <a:pPr marL="0" indent="0">
              <a:buNone/>
            </a:pPr>
            <a:r>
              <a:rPr lang="en-US" sz="1350" dirty="0">
                <a:solidFill>
                  <a:srgbClr val="2B2B2B"/>
                </a:solidFill>
                <a:latin typeface="Calibri" pitchFamily="34" charset="0"/>
                <a:ea typeface="Calibri" pitchFamily="34" charset="-122"/>
                <a:cs typeface="Calibri" pitchFamily="34" charset="-120"/>
              </a:rPr>
              <a:t>Microservicios + puerta de enlace + una base por servicio + token JWT + Docker Compose = </a:t>
            </a:r>
            <a:r>
              <a:rPr lang="en-US" sz="1350" b="1" dirty="0">
                <a:solidFill>
                  <a:srgbClr val="0F2850"/>
                </a:solidFill>
                <a:latin typeface="Calibri" pitchFamily="34" charset="0"/>
                <a:ea typeface="Calibri" pitchFamily="34" charset="-122"/>
                <a:cs typeface="Calibri" pitchFamily="34" charset="-120"/>
              </a:rPr>
              <a:t>Entrega 2 del PFC (GA-SUM-02).</a:t>
            </a:r>
            <a:r>
              <a:rPr lang="en-US" sz="1350" dirty="0">
                <a:solidFill>
                  <a:srgbClr val="2B2B2B"/>
                </a:solidFill>
                <a:latin typeface="Calibri" pitchFamily="34" charset="0"/>
                <a:ea typeface="Calibri" pitchFamily="34" charset="-122"/>
                <a:cs typeface="Calibri" pitchFamily="34" charset="-120"/>
              </a:rPr>
              <a:t>  El contrato REST de cada servicio se documenta en OpenAPI 3.0 en el taller FORM-TL-03.</a:t>
            </a:r>
            <a:endParaRPr lang="en-US" sz="1350" dirty="0"/>
          </a:p>
        </p:txBody>
      </p:sp>
      <p:sp>
        <p:nvSpPr>
          <p:cNvPr id="30"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REFERENCIA RÁPIDA</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Glosario de siglas de la sesión</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096512"/>
        </p:xfrm>
        <a:graphic>
          <a:graphicData uri="http://schemas.openxmlformats.org/drawingml/2006/table">
            <a:tbl>
              <a:tblPr/>
              <a:tblGrid>
                <a:gridCol w="914400">
                  <a:extLst>
                    <a:ext uri="{9D8B030D-6E8A-4147-A177-3AD203B41FA5}">
                      <a16:colId xmlns:a16="http://schemas.microsoft.com/office/drawing/2014/main" val="20000"/>
                    </a:ext>
                  </a:extLst>
                </a:gridCol>
                <a:gridCol w="46177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4617720">
                  <a:extLst>
                    <a:ext uri="{9D8B030D-6E8A-4147-A177-3AD203B41FA5}">
                      <a16:colId xmlns:a16="http://schemas.microsoft.com/office/drawing/2014/main" val="20003"/>
                    </a:ext>
                  </a:extLst>
                </a:gridCol>
              </a:tblGrid>
              <a:tr h="585216">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Sigla</a:t>
                      </a:r>
                      <a:endParaRPr lang="en-US" sz="120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0F285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Significado</a:t>
                      </a:r>
                      <a:endParaRPr lang="en-US" sz="120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0F285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Sigla</a:t>
                      </a:r>
                      <a:endParaRPr lang="en-US" sz="120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0F285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Significado</a:t>
                      </a:r>
                      <a:endParaRPr lang="en-US" sz="120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0F2850"/>
                    </a:solidFill>
                  </a:tcPr>
                </a:tc>
                <a:extLst>
                  <a:ext uri="{0D108BD9-81ED-4DB2-BD59-A6C34878D82A}">
                    <a16:rowId xmlns:a16="http://schemas.microsoft.com/office/drawing/2014/main" val="10000"/>
                  </a:ext>
                </a:extLst>
              </a:tr>
              <a:tr h="585216">
                <a:tc>
                  <a:txBody>
                    <a:bodyPr/>
                    <a:lstStyle/>
                    <a:p>
                      <a:pPr marL="0" indent="0">
                        <a:buNone/>
                      </a:pPr>
                      <a:r>
                        <a:rPr lang="en-US" sz="1050" b="1" dirty="0">
                          <a:solidFill>
                            <a:srgbClr val="2B2B2B"/>
                          </a:solidFill>
                          <a:latin typeface="Calibri" pitchFamily="34" charset="0"/>
                          <a:ea typeface="Calibri" pitchFamily="34" charset="-122"/>
                          <a:cs typeface="Calibri" pitchFamily="34" charset="-120"/>
                        </a:rPr>
                        <a:t>API</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050" dirty="0">
                          <a:solidFill>
                            <a:srgbClr val="2B2B2B"/>
                          </a:solidFill>
                          <a:latin typeface="Calibri" pitchFamily="34" charset="0"/>
                          <a:ea typeface="Calibri" pitchFamily="34" charset="-122"/>
                          <a:cs typeface="Calibri" pitchFamily="34" charset="-120"/>
                        </a:rPr>
                        <a:t>Interfaz de Programación de Aplicaciones (Application Programming Interface)</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050" b="1" dirty="0">
                          <a:solidFill>
                            <a:srgbClr val="2B2B2B"/>
                          </a:solidFill>
                          <a:latin typeface="Calibri" pitchFamily="34" charset="0"/>
                          <a:ea typeface="Calibri" pitchFamily="34" charset="-122"/>
                          <a:cs typeface="Calibri" pitchFamily="34" charset="-120"/>
                        </a:rPr>
                        <a:t>ESB</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050" dirty="0">
                          <a:solidFill>
                            <a:srgbClr val="2B2B2B"/>
                          </a:solidFill>
                          <a:latin typeface="Calibri" pitchFamily="34" charset="0"/>
                          <a:ea typeface="Calibri" pitchFamily="34" charset="-122"/>
                          <a:cs typeface="Calibri" pitchFamily="34" charset="-120"/>
                        </a:rPr>
                        <a:t>Bus de Servicios Empresariales (Enterprise Service Bus)</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extLst>
                  <a:ext uri="{0D108BD9-81ED-4DB2-BD59-A6C34878D82A}">
                    <a16:rowId xmlns:a16="http://schemas.microsoft.com/office/drawing/2014/main" val="10001"/>
                  </a:ext>
                </a:extLst>
              </a:tr>
              <a:tr h="585216">
                <a:tc>
                  <a:txBody>
                    <a:bodyPr/>
                    <a:lstStyle/>
                    <a:p>
                      <a:pPr marL="0" indent="0">
                        <a:buNone/>
                      </a:pPr>
                      <a:r>
                        <a:rPr lang="en-US" sz="1050" b="1" dirty="0">
                          <a:solidFill>
                            <a:srgbClr val="2B2B2B"/>
                          </a:solidFill>
                          <a:latin typeface="Calibri" pitchFamily="34" charset="0"/>
                          <a:ea typeface="Calibri" pitchFamily="34" charset="-122"/>
                          <a:cs typeface="Calibri" pitchFamily="34" charset="-120"/>
                        </a:rPr>
                        <a:t>REST</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050" dirty="0">
                          <a:solidFill>
                            <a:srgbClr val="2B2B2B"/>
                          </a:solidFill>
                          <a:latin typeface="Calibri" pitchFamily="34" charset="0"/>
                          <a:ea typeface="Calibri" pitchFamily="34" charset="-122"/>
                          <a:cs typeface="Calibri" pitchFamily="34" charset="-120"/>
                        </a:rPr>
                        <a:t>Transferencia de Estado Representacional (Representational State Transfer)</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050" b="1" dirty="0">
                          <a:solidFill>
                            <a:srgbClr val="2B2B2B"/>
                          </a:solidFill>
                          <a:latin typeface="Calibri" pitchFamily="34" charset="0"/>
                          <a:ea typeface="Calibri" pitchFamily="34" charset="-122"/>
                          <a:cs typeface="Calibri" pitchFamily="34" charset="-120"/>
                        </a:rPr>
                        <a:t>EDA</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050" dirty="0">
                          <a:solidFill>
                            <a:srgbClr val="2B2B2B"/>
                          </a:solidFill>
                          <a:latin typeface="Calibri" pitchFamily="34" charset="0"/>
                          <a:ea typeface="Calibri" pitchFamily="34" charset="-122"/>
                          <a:cs typeface="Calibri" pitchFamily="34" charset="-120"/>
                        </a:rPr>
                        <a:t>Arquitectura Orientada a Eventos (Event Driven Architecture)</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585216">
                <a:tc>
                  <a:txBody>
                    <a:bodyPr/>
                    <a:lstStyle/>
                    <a:p>
                      <a:pPr marL="0" indent="0">
                        <a:buNone/>
                      </a:pPr>
                      <a:r>
                        <a:rPr lang="en-US" sz="1050" b="1" dirty="0">
                          <a:solidFill>
                            <a:srgbClr val="2B2B2B"/>
                          </a:solidFill>
                          <a:latin typeface="Calibri" pitchFamily="34" charset="0"/>
                          <a:ea typeface="Calibri" pitchFamily="34" charset="-122"/>
                          <a:cs typeface="Calibri" pitchFamily="34" charset="-120"/>
                        </a:rPr>
                        <a:t>HTTP</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050" dirty="0">
                          <a:solidFill>
                            <a:srgbClr val="2B2B2B"/>
                          </a:solidFill>
                          <a:latin typeface="Calibri" pitchFamily="34" charset="0"/>
                          <a:ea typeface="Calibri" pitchFamily="34" charset="-122"/>
                          <a:cs typeface="Calibri" pitchFamily="34" charset="-120"/>
                        </a:rPr>
                        <a:t>Protocolo de Transferencia de Hipertexto (HyperText Transfer Protocol)</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050" b="1" dirty="0">
                          <a:solidFill>
                            <a:srgbClr val="2B2B2B"/>
                          </a:solidFill>
                          <a:latin typeface="Calibri" pitchFamily="34" charset="0"/>
                          <a:ea typeface="Calibri" pitchFamily="34" charset="-122"/>
                          <a:cs typeface="Calibri" pitchFamily="34" charset="-120"/>
                        </a:rPr>
                        <a:t>CQRS</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050" dirty="0">
                          <a:solidFill>
                            <a:srgbClr val="2B2B2B"/>
                          </a:solidFill>
                          <a:latin typeface="Calibri" pitchFamily="34" charset="0"/>
                          <a:ea typeface="Calibri" pitchFamily="34" charset="-122"/>
                          <a:cs typeface="Calibri" pitchFamily="34" charset="-120"/>
                        </a:rPr>
                        <a:t>Segregación de Responsabilidad entre Comandos y Consultas</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extLst>
                  <a:ext uri="{0D108BD9-81ED-4DB2-BD59-A6C34878D82A}">
                    <a16:rowId xmlns:a16="http://schemas.microsoft.com/office/drawing/2014/main" val="10003"/>
                  </a:ext>
                </a:extLst>
              </a:tr>
              <a:tr h="585216">
                <a:tc>
                  <a:txBody>
                    <a:bodyPr/>
                    <a:lstStyle/>
                    <a:p>
                      <a:pPr marL="0" indent="0">
                        <a:buNone/>
                      </a:pPr>
                      <a:r>
                        <a:rPr lang="en-US" sz="1050" b="1" dirty="0">
                          <a:solidFill>
                            <a:srgbClr val="2B2B2B"/>
                          </a:solidFill>
                          <a:latin typeface="Calibri" pitchFamily="34" charset="0"/>
                          <a:ea typeface="Calibri" pitchFamily="34" charset="-122"/>
                          <a:cs typeface="Calibri" pitchFamily="34" charset="-120"/>
                        </a:rPr>
                        <a:t>JSON</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050" dirty="0">
                          <a:solidFill>
                            <a:srgbClr val="2B2B2B"/>
                          </a:solidFill>
                          <a:latin typeface="Calibri" pitchFamily="34" charset="0"/>
                          <a:ea typeface="Calibri" pitchFamily="34" charset="-122"/>
                          <a:cs typeface="Calibri" pitchFamily="34" charset="-120"/>
                        </a:rPr>
                        <a:t>Notación de Objetos de JavaScript (JavaScript Object Notation)</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050" b="1" dirty="0">
                          <a:solidFill>
                            <a:srgbClr val="2B2B2B"/>
                          </a:solidFill>
                          <a:latin typeface="Calibri" pitchFamily="34" charset="0"/>
                          <a:ea typeface="Calibri" pitchFamily="34" charset="-122"/>
                          <a:cs typeface="Calibri" pitchFamily="34" charset="-120"/>
                        </a:rPr>
                        <a:t>JWT</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050" dirty="0">
                          <a:solidFill>
                            <a:srgbClr val="2B2B2B"/>
                          </a:solidFill>
                          <a:latin typeface="Calibri" pitchFamily="34" charset="0"/>
                          <a:ea typeface="Calibri" pitchFamily="34" charset="-122"/>
                          <a:cs typeface="Calibri" pitchFamily="34" charset="-120"/>
                        </a:rPr>
                        <a:t>Token Web de JSON (JSON Web Token)</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585216">
                <a:tc>
                  <a:txBody>
                    <a:bodyPr/>
                    <a:lstStyle/>
                    <a:p>
                      <a:pPr marL="0" indent="0">
                        <a:buNone/>
                      </a:pPr>
                      <a:r>
                        <a:rPr lang="en-US" sz="1050" b="1" dirty="0">
                          <a:solidFill>
                            <a:srgbClr val="2B2B2B"/>
                          </a:solidFill>
                          <a:latin typeface="Calibri" pitchFamily="34" charset="0"/>
                          <a:ea typeface="Calibri" pitchFamily="34" charset="-122"/>
                          <a:cs typeface="Calibri" pitchFamily="34" charset="-120"/>
                        </a:rPr>
                        <a:t>SOA</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050" dirty="0">
                          <a:solidFill>
                            <a:srgbClr val="2B2B2B"/>
                          </a:solidFill>
                          <a:latin typeface="Calibri" pitchFamily="34" charset="0"/>
                          <a:ea typeface="Calibri" pitchFamily="34" charset="-122"/>
                          <a:cs typeface="Calibri" pitchFamily="34" charset="-120"/>
                        </a:rPr>
                        <a:t>Arquitectura Orientada a Servicios (Service Oriented Architecture)</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050" b="1" dirty="0">
                          <a:solidFill>
                            <a:srgbClr val="2B2B2B"/>
                          </a:solidFill>
                          <a:latin typeface="Calibri" pitchFamily="34" charset="0"/>
                          <a:ea typeface="Calibri" pitchFamily="34" charset="-122"/>
                          <a:cs typeface="Calibri" pitchFamily="34" charset="-120"/>
                        </a:rPr>
                        <a:t>gRPC</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tc>
                  <a:txBody>
                    <a:bodyPr/>
                    <a:lstStyle/>
                    <a:p>
                      <a:pPr marL="0" indent="0">
                        <a:buNone/>
                      </a:pPr>
                      <a:r>
                        <a:rPr lang="en-US" sz="1050" dirty="0">
                          <a:solidFill>
                            <a:srgbClr val="2B2B2B"/>
                          </a:solidFill>
                          <a:latin typeface="Calibri" pitchFamily="34" charset="0"/>
                          <a:ea typeface="Calibri" pitchFamily="34" charset="-122"/>
                          <a:cs typeface="Calibri" pitchFamily="34" charset="-120"/>
                        </a:rPr>
                        <a:t>Llamada a procedimiento remoto de Google (Google Remote Procedure Call)</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tcPr>
                </a:tc>
                <a:extLst>
                  <a:ext uri="{0D108BD9-81ED-4DB2-BD59-A6C34878D82A}">
                    <a16:rowId xmlns:a16="http://schemas.microsoft.com/office/drawing/2014/main" val="10005"/>
                  </a:ext>
                </a:extLst>
              </a:tr>
              <a:tr h="585216">
                <a:tc>
                  <a:txBody>
                    <a:bodyPr/>
                    <a:lstStyle/>
                    <a:p>
                      <a:pPr marL="0" indent="0">
                        <a:buNone/>
                      </a:pPr>
                      <a:r>
                        <a:rPr lang="en-US" sz="1050" b="1" dirty="0">
                          <a:solidFill>
                            <a:srgbClr val="2B2B2B"/>
                          </a:solidFill>
                          <a:latin typeface="Calibri" pitchFamily="34" charset="0"/>
                          <a:ea typeface="Calibri" pitchFamily="34" charset="-122"/>
                          <a:cs typeface="Calibri" pitchFamily="34" charset="-120"/>
                        </a:rPr>
                        <a:t>PFC</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050" dirty="0">
                          <a:solidFill>
                            <a:srgbClr val="2B2B2B"/>
                          </a:solidFill>
                          <a:latin typeface="Calibri" pitchFamily="34" charset="0"/>
                          <a:ea typeface="Calibri" pitchFamily="34" charset="-122"/>
                          <a:cs typeface="Calibri" pitchFamily="34" charset="-120"/>
                        </a:rPr>
                        <a:t>Proyecto Fin de Curso</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050" b="1" dirty="0">
                          <a:solidFill>
                            <a:srgbClr val="2B2B2B"/>
                          </a:solidFill>
                          <a:latin typeface="Calibri" pitchFamily="34" charset="0"/>
                          <a:ea typeface="Calibri" pitchFamily="34" charset="-122"/>
                          <a:cs typeface="Calibri" pitchFamily="34" charset="-120"/>
                        </a:rPr>
                        <a:t>ISO/IEC</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tc>
                  <a:txBody>
                    <a:bodyPr/>
                    <a:lstStyle/>
                    <a:p>
                      <a:pPr marL="0" indent="0">
                        <a:buNone/>
                      </a:pPr>
                      <a:r>
                        <a:rPr lang="en-US" sz="1050" dirty="0">
                          <a:solidFill>
                            <a:srgbClr val="2B2B2B"/>
                          </a:solidFill>
                          <a:latin typeface="Calibri" pitchFamily="34" charset="0"/>
                          <a:ea typeface="Calibri" pitchFamily="34" charset="-122"/>
                          <a:cs typeface="Calibri" pitchFamily="34" charset="-120"/>
                        </a:rPr>
                        <a:t>Organización Internacional de Normalización / Comisión Electrotécnica Internacional</a:t>
                      </a:r>
                      <a:endParaRPr lang="en-US" sz="1050" dirty="0">
                        <a:latin typeface="Calibri" charset="0"/>
                        <a:ea typeface="Calibri" charset="0"/>
                        <a:cs typeface="Calibri" charset="0"/>
                      </a:endParaRPr>
                    </a:p>
                  </a:txBody>
                  <a:tcPr anchor="ctr">
                    <a:lnL w="9525" cap="flat" cmpd="sng" algn="ctr">
                      <a:solidFill>
                        <a:srgbClr val="D6DAE0"/>
                      </a:solidFill>
                      <a:prstDash val="solid"/>
                      <a:round/>
                      <a:headEnd type="none" w="med" len="med"/>
                      <a:tailEnd type="none" w="med" len="med"/>
                    </a:lnL>
                    <a:lnR w="9525" cap="flat" cmpd="sng" algn="ctr">
                      <a:solidFill>
                        <a:srgbClr val="D6DAE0"/>
                      </a:solidFill>
                      <a:prstDash val="solid"/>
                      <a:round/>
                      <a:headEnd type="none" w="med" len="med"/>
                      <a:tailEnd type="none" w="med" len="med"/>
                    </a:lnR>
                    <a:lnT w="9525" cap="flat" cmpd="sng" algn="ctr">
                      <a:solidFill>
                        <a:srgbClr val="D6DAE0"/>
                      </a:solidFill>
                      <a:prstDash val="solid"/>
                      <a:round/>
                      <a:headEnd type="none" w="med" len="med"/>
                      <a:tailEnd type="none" w="med" len="med"/>
                    </a:lnT>
                    <a:lnB w="9525" cap="flat" cmpd="sng" algn="ctr">
                      <a:solidFill>
                        <a:srgbClr val="D6DAE0"/>
                      </a:solidFill>
                      <a:prstDash val="solid"/>
                      <a:round/>
                      <a:headEnd type="none" w="med" len="med"/>
                      <a:tailEnd type="none" w="med" len="med"/>
                    </a:lnB>
                    <a:solidFill>
                      <a:srgbClr val="F5F6F8"/>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8686800" cy="274320"/>
          </a:xfrm>
          <a:prstGeom prst="rect">
            <a:avLst/>
          </a:prstGeom>
          <a:noFill/>
          <a:ln/>
        </p:spPr>
        <p:txBody>
          <a:bodyPr wrap="square" lIns="0" tIns="0" rIns="0" bIns="0" rtlCol="0" anchor="ctr"/>
          <a:lstStyle/>
          <a:p>
            <a:pPr marL="0" indent="0">
              <a:buNone/>
            </a:pPr>
            <a:r>
              <a:rPr lang="en-US" sz="1100" b="1" kern="0" spc="200" dirty="0">
                <a:solidFill>
                  <a:srgbClr val="008080"/>
                </a:solidFill>
                <a:latin typeface="Calibri" pitchFamily="34" charset="0"/>
                <a:ea typeface="Calibri" pitchFamily="34" charset="-122"/>
                <a:cs typeface="Calibri" pitchFamily="34" charset="-120"/>
              </a:rPr>
              <a:t>BIBLIOGRAFÍA</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0F2850"/>
                </a:solidFill>
                <a:latin typeface="Calibri" pitchFamily="34" charset="0"/>
                <a:ea typeface="Calibri" pitchFamily="34" charset="-122"/>
                <a:cs typeface="Calibri" pitchFamily="34" charset="-120"/>
              </a:rPr>
              <a:t>Referencias (norma IEEE)</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Aplicaciones Distribuidas (ISR-701)  ·  Ingeniería de Software  ·  UTEQ</a:t>
            </a:r>
            <a:endParaRPr lang="en-US" sz="900" dirty="0"/>
          </a:p>
        </p:txBody>
      </p:sp>
      <p:sp>
        <p:nvSpPr>
          <p:cNvPr id="5" name="Text 3"/>
          <p:cNvSpPr/>
          <p:nvPr/>
        </p:nvSpPr>
        <p:spPr>
          <a:xfrm>
            <a:off x="548640" y="1691640"/>
            <a:ext cx="11064240" cy="4297680"/>
          </a:xfrm>
          <a:prstGeom prst="rect">
            <a:avLst/>
          </a:prstGeom>
          <a:noFill/>
          <a:ln/>
        </p:spPr>
        <p:txBody>
          <a:bodyPr wrap="square" lIns="0" tIns="0" rIns="0" bIns="0" rtlCol="0" anchor="ctr"/>
          <a:lstStyle/>
          <a:p>
            <a:pPr marL="0" indent="0">
              <a:lnSpc>
                <a:spcPts val="2400"/>
              </a:lnSpc>
              <a:buNone/>
            </a:pPr>
            <a:r>
              <a:rPr lang="en-US" sz="1300" dirty="0">
                <a:solidFill>
                  <a:srgbClr val="2B2B2B"/>
                </a:solidFill>
                <a:latin typeface="Calibri" pitchFamily="34" charset="0"/>
                <a:ea typeface="Calibri" pitchFamily="34" charset="-122"/>
                <a:cs typeface="Calibri" pitchFamily="34" charset="-120"/>
              </a:rPr>
              <a:t>[1]  S. Newman, Building Microservices: Designing Fine-Grained Systems, 2.ª ed. Sebastopol, CA, EE. UU.: O'Reilly Media, 2021. ISBN: 978-1-4920-3402-5.</a:t>
            </a:r>
            <a:endParaRPr lang="en-US" sz="1300" dirty="0"/>
          </a:p>
          <a:p>
            <a:pPr marL="0" indent="0">
              <a:lnSpc>
                <a:spcPts val="2400"/>
              </a:lnSpc>
              <a:buNone/>
            </a:pPr>
            <a:r>
              <a:rPr lang="en-US" sz="1300" dirty="0">
                <a:solidFill>
                  <a:srgbClr val="2B2B2B"/>
                </a:solidFill>
                <a:latin typeface="Calibri" pitchFamily="34" charset="0"/>
                <a:ea typeface="Calibri" pitchFamily="34" charset="-122"/>
                <a:cs typeface="Calibri" pitchFamily="34" charset="-120"/>
              </a:rPr>
              <a:t>[2]  C. Richardson, Microservices Patterns: With Examples in Java. Shelter Island, NY, EE. UU.: Manning Publications, 2018. ISBN: 978-1-617-29454-1.</a:t>
            </a:r>
            <a:endParaRPr lang="en-US" sz="1300" dirty="0"/>
          </a:p>
          <a:p>
            <a:pPr marL="0" indent="0">
              <a:lnSpc>
                <a:spcPts val="2400"/>
              </a:lnSpc>
              <a:buNone/>
            </a:pPr>
            <a:r>
              <a:rPr lang="en-US" sz="1300" dirty="0">
                <a:solidFill>
                  <a:srgbClr val="2B2B2B"/>
                </a:solidFill>
                <a:latin typeface="Calibri" pitchFamily="34" charset="0"/>
                <a:ea typeface="Calibri" pitchFamily="34" charset="-122"/>
                <a:cs typeface="Calibri" pitchFamily="34" charset="-120"/>
              </a:rPr>
              <a:t>[3]  U. Joshi, Patterns of Distributed Systems. Boston, MA, EE. UU.: Addison-Wesley Professional, 2023. ISBN: 978-0-13-822198-0.</a:t>
            </a:r>
            <a:endParaRPr lang="en-US" sz="1300" dirty="0"/>
          </a:p>
          <a:p>
            <a:pPr marL="0" indent="0">
              <a:lnSpc>
                <a:spcPts val="2400"/>
              </a:lnSpc>
              <a:buNone/>
            </a:pPr>
            <a:r>
              <a:rPr lang="en-US" sz="1300" dirty="0">
                <a:solidFill>
                  <a:srgbClr val="2B2B2B"/>
                </a:solidFill>
                <a:latin typeface="Calibri" pitchFamily="34" charset="0"/>
                <a:ea typeface="Calibri" pitchFamily="34" charset="-122"/>
                <a:cs typeface="Calibri" pitchFamily="34" charset="-120"/>
              </a:rPr>
              <a:t>[4]  G. Blinowski, A. Ojdowska y A. Przybylek, «Monolithic vs. microservice architecture: A performance and scalability evaluation», IEEE Access, vol. 10, pp. 20357–20374, 2022. doi: 10.1109/ACCESS.2022.3152803.</a:t>
            </a:r>
            <a:endParaRPr lang="en-US" sz="1300" dirty="0"/>
          </a:p>
          <a:p>
            <a:pPr marL="0" indent="0">
              <a:lnSpc>
                <a:spcPts val="2400"/>
              </a:lnSpc>
              <a:buNone/>
            </a:pPr>
            <a:r>
              <a:rPr lang="en-US" sz="1300" dirty="0">
                <a:solidFill>
                  <a:srgbClr val="2B2B2B"/>
                </a:solidFill>
                <a:latin typeface="Calibri" pitchFamily="34" charset="0"/>
                <a:ea typeface="Calibri" pitchFamily="34" charset="-122"/>
                <a:cs typeface="Calibri" pitchFamily="34" charset="-120"/>
              </a:rPr>
              <a:t>[5]  I. Karabey Aksakalli, T. Çelik, A. B. Can y B. Tekinerdoğan, «Deployment and communication patterns in microservice architectures: A systematic literature review», Journal of Systems and Software, vol. 180, art. 111014, oct. 2021. doi: 10.1016/j.jss.2021.111014.</a:t>
            </a:r>
            <a:endParaRPr lang="en-US" sz="1300" dirty="0"/>
          </a:p>
          <a:p>
            <a:pPr marL="0" indent="0">
              <a:lnSpc>
                <a:spcPts val="2400"/>
              </a:lnSpc>
              <a:buNone/>
            </a:pPr>
            <a:r>
              <a:rPr lang="en-US" sz="1300" dirty="0">
                <a:solidFill>
                  <a:srgbClr val="2B2B2B"/>
                </a:solidFill>
                <a:latin typeface="Calibri" pitchFamily="34" charset="0"/>
                <a:ea typeface="Calibri" pitchFamily="34" charset="-122"/>
                <a:cs typeface="Calibri" pitchFamily="34" charset="-120"/>
              </a:rPr>
              <a:t>[6]  R. T. Fielding, «Architectural styles and the design of network-based software architectures», tesis doctoral, Univ. de California, Irvine, CA, EE. UU., 2000.</a:t>
            </a:r>
            <a:endParaRPr lang="en-US" sz="1300" dirty="0"/>
          </a:p>
        </p:txBody>
      </p:sp>
      <p:sp>
        <p:nvSpPr>
          <p:cNvPr id="25" name="Slide Number Placeholder 0"/>
          <p:cNvSpPr>
            <a:spLocks noGrp="1"/>
          </p:cNvSpPr>
          <p:nvPr>
            <p:ph type="sldNum" sz="quarter" idx="4294967295"/>
          </p:nvPr>
        </p:nvSpPr>
        <p:spPr>
          <a:xfrm>
            <a:off x="114757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280"/>
                </a:solidFill>
                <a:latin typeface="Calibri"/>
                <a:ea typeface="Calibri"/>
                <a:cs typeface="Calibri"/>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85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77240" y="868680"/>
            <a:ext cx="640080" cy="640080"/>
          </a:xfrm>
          <a:prstGeom prst="rect">
            <a:avLst/>
          </a:prstGeom>
        </p:spPr>
      </p:pic>
      <p:sp>
        <p:nvSpPr>
          <p:cNvPr id="3" name="Text 0"/>
          <p:cNvSpPr/>
          <p:nvPr/>
        </p:nvSpPr>
        <p:spPr>
          <a:xfrm>
            <a:off x="777240" y="1737360"/>
            <a:ext cx="1060704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Síntesis y preguntas</a:t>
            </a:r>
            <a:endParaRPr lang="en-US" sz="3600" dirty="0"/>
          </a:p>
        </p:txBody>
      </p:sp>
      <p:sp>
        <p:nvSpPr>
          <p:cNvPr id="4" name="Text 1"/>
          <p:cNvSpPr/>
          <p:nvPr/>
        </p:nvSpPr>
        <p:spPr>
          <a:xfrm>
            <a:off x="822960" y="2697480"/>
            <a:ext cx="10424160" cy="2651760"/>
          </a:xfrm>
          <a:prstGeom prst="rect">
            <a:avLst/>
          </a:prstGeom>
          <a:noFill/>
          <a:ln/>
        </p:spPr>
        <p:txBody>
          <a:bodyPr wrap="square" lIns="0" tIns="0" rIns="0" bIns="0" rtlCol="0" anchor="ctr"/>
          <a:lstStyle/>
          <a:p>
            <a:pPr marL="342900" indent="-342900">
              <a:lnSpc>
                <a:spcPts val="3000"/>
              </a:lnSpc>
              <a:buSzPct val="100000"/>
              <a:buChar char="•"/>
            </a:pPr>
            <a:r>
              <a:rPr lang="en-US" sz="1600" dirty="0">
                <a:solidFill>
                  <a:srgbClr val="DDE7F5"/>
                </a:solidFill>
                <a:latin typeface="Calibri" pitchFamily="34" charset="0"/>
                <a:ea typeface="Calibri" pitchFamily="34" charset="-122"/>
                <a:cs typeface="Calibri" pitchFamily="34" charset="-120"/>
              </a:rPr>
              <a:t>La arquitectura de software distribuida es un conjunto de decisiones sobre componentes y conectores.</a:t>
            </a:r>
            <a:endParaRPr lang="en-US" sz="1600" dirty="0"/>
          </a:p>
          <a:p>
            <a:pPr marL="342900" indent="-342900">
              <a:lnSpc>
                <a:spcPts val="3000"/>
              </a:lnSpc>
              <a:buSzPct val="100000"/>
              <a:buChar char="•"/>
            </a:pPr>
            <a:r>
              <a:rPr lang="en-US" sz="1600" dirty="0">
                <a:solidFill>
                  <a:srgbClr val="DDE7F5"/>
                </a:solidFill>
                <a:latin typeface="Calibri" pitchFamily="34" charset="0"/>
                <a:ea typeface="Calibri" pitchFamily="34" charset="-122"/>
                <a:cs typeface="Calibri" pitchFamily="34" charset="-120"/>
              </a:rPr>
              <a:t>Los estilos evolucionaron del cliente–servidor al monolito, a SOA y a los microservicios: cada uno cambia dónde vive el acoplamiento.</a:t>
            </a:r>
            <a:endParaRPr lang="en-US" sz="1600" dirty="0"/>
          </a:p>
          <a:p>
            <a:pPr marL="342900" indent="-342900">
              <a:lnSpc>
                <a:spcPts val="3000"/>
              </a:lnSpc>
              <a:buSzPct val="100000"/>
              <a:buChar char="•"/>
            </a:pPr>
            <a:r>
              <a:rPr lang="en-US" sz="1600" dirty="0">
                <a:solidFill>
                  <a:srgbClr val="DDE7F5"/>
                </a:solidFill>
                <a:latin typeface="Calibri" pitchFamily="34" charset="0"/>
                <a:ea typeface="Calibri" pitchFamily="34" charset="-122"/>
                <a:cs typeface="Calibri" pitchFamily="34" charset="-120"/>
              </a:rPr>
              <a:t>Los patrones (puerta de enlace, una base por servicio, CQRS, Saga) hacen operable la descentralización.</a:t>
            </a:r>
            <a:endParaRPr lang="en-US" sz="1600" dirty="0"/>
          </a:p>
          <a:p>
            <a:pPr marL="342900" indent="-342900">
              <a:lnSpc>
                <a:spcPts val="3000"/>
              </a:lnSpc>
              <a:buSzPct val="100000"/>
              <a:buChar char="•"/>
            </a:pPr>
            <a:r>
              <a:rPr lang="en-US" sz="1600" dirty="0">
                <a:solidFill>
                  <a:srgbClr val="DDE7F5"/>
                </a:solidFill>
                <a:latin typeface="Calibri" pitchFamily="34" charset="0"/>
                <a:ea typeface="Calibri" pitchFamily="34" charset="-122"/>
                <a:cs typeface="Calibri" pitchFamily="34" charset="-120"/>
              </a:rPr>
              <a:t>Se elige con atributos de calidad y contexto, no con modas.</a:t>
            </a:r>
            <a:endParaRPr lang="en-US" sz="1600" dirty="0"/>
          </a:p>
          <a:p>
            <a:pPr marL="342900" indent="-342900">
              <a:lnSpc>
                <a:spcPts val="3000"/>
              </a:lnSpc>
              <a:buSzPct val="100000"/>
              <a:buChar char="•"/>
            </a:pPr>
            <a:r>
              <a:rPr lang="en-US" sz="1600" b="1" dirty="0">
                <a:solidFill>
                  <a:srgbClr val="FFFFFF"/>
                </a:solidFill>
                <a:latin typeface="Calibri" pitchFamily="34" charset="0"/>
                <a:ea typeface="Calibri" pitchFamily="34" charset="-122"/>
                <a:cs typeface="Calibri" pitchFamily="34" charset="-120"/>
              </a:rPr>
              <a:t>Su Proyecto Fin de Curso implementa, pieza por pieza, esta arquitectura.</a:t>
            </a:r>
            <a:endParaRPr lang="en-US" sz="1600" dirty="0"/>
          </a:p>
        </p:txBody>
      </p:sp>
      <p:sp>
        <p:nvSpPr>
          <p:cNvPr id="5" name="Text 2"/>
          <p:cNvSpPr/>
          <p:nvPr/>
        </p:nvSpPr>
        <p:spPr>
          <a:xfrm>
            <a:off x="822960" y="5806440"/>
            <a:ext cx="10515600" cy="457200"/>
          </a:xfrm>
          <a:prstGeom prst="rect">
            <a:avLst/>
          </a:prstGeom>
          <a:noFill/>
          <a:ln/>
        </p:spPr>
        <p:txBody>
          <a:bodyPr wrap="square" lIns="0" tIns="0" rIns="0" bIns="0" rtlCol="0" anchor="ctr"/>
          <a:lstStyle/>
          <a:p>
            <a:pPr marL="0" indent="0">
              <a:buNone/>
            </a:pPr>
            <a:r>
              <a:rPr lang="en-US" sz="1300" i="1" dirty="0">
                <a:solidFill>
                  <a:srgbClr val="9FB4D4"/>
                </a:solidFill>
                <a:latin typeface="Calibri" pitchFamily="34" charset="0"/>
                <a:ea typeface="Calibri" pitchFamily="34" charset="-122"/>
                <a:cs typeface="Calibri" pitchFamily="34" charset="-120"/>
              </a:rPr>
              <a:t>Próxima actividad: taller FORM-TL-03 — diseño y documentación del contrato REST con OpenAPI 3.0.</a:t>
            </a:r>
            <a:endParaRPr lang="en-US" sz="1300" dirty="0"/>
          </a:p>
        </p:txBody>
      </p:sp>
      <p:sp>
        <p:nvSpPr>
          <p:cNvPr id="6" name="Shape 3"/>
          <p:cNvSpPr/>
          <p:nvPr/>
        </p:nvSpPr>
        <p:spPr>
          <a:xfrm>
            <a:off x="9692640" y="-1280160"/>
            <a:ext cx="3474720" cy="3474720"/>
          </a:xfrm>
          <a:prstGeom prst="ellipse">
            <a:avLst/>
          </a:prstGeom>
          <a:solidFill>
            <a:srgbClr val="1E5096">
              <a:alpha val="20000"/>
            </a:srgbClr>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6449</Words>
  <Application>Microsoft Office PowerPoint</Application>
  <PresentationFormat>Panorámica</PresentationFormat>
  <Paragraphs>372</Paragraphs>
  <Slides>19</Slides>
  <Notes>19</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19</vt:i4>
      </vt:variant>
    </vt:vector>
  </HeadingPairs>
  <TitlesOfParts>
    <vt:vector size="22"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Arquitecturas Distribuidas desde el punto de vista del Software</dc:title>
  <dc:subject>PptxGenJS Presentation</dc:subject>
  <dc:creator>Aplicaciones Distribuidas - UTEQ</dc:creator>
  <cp:lastModifiedBy>GLEISTON CICERON GUERRERO ULLOA</cp:lastModifiedBy>
  <cp:revision>1</cp:revision>
  <dcterms:created xsi:type="dcterms:W3CDTF">2026-06-11T15:05:34Z</dcterms:created>
  <dcterms:modified xsi:type="dcterms:W3CDTF">2026-06-11T23:03:02Z</dcterms:modified>
</cp:coreProperties>
</file>