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4" autoAdjust="0"/>
    <p:restoredTop sz="75613" autoAdjust="0"/>
  </p:normalViewPr>
  <p:slideViewPr>
    <p:cSldViewPr snapToGrid="0" snapToObjects="1">
      <p:cViewPr varScale="1">
        <p:scale>
          <a:sx n="63" d="100"/>
          <a:sy n="63" d="100"/>
        </p:scale>
        <p:origin x="1454" y="21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429676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dias estimados estudiantes. Bienvenidos a la Unidad 3 de Aplicaciones Distribuidas, dedicada a Bases de Datos Distribuidas. Durante las proximas tres semanas, semanas 9, 10 y 11 del cronograma, vamos a estudiar como los datos pueden almacenarse, gestionarse y consultarse a traves de multiples servidores conectados por una red, manteniendo la ilusion de una unica base de datos logica. Este es uno de los nucleos mas importantes de su formacion como ingenieros de software, porque practicamente todos los sistemas modernos de gran escala -- desde la banca hasta las redes sociales -- estan construidos sobre bases de datos distribuidas. El objetivo de este modulo es que ustedes salgan capaces de disenar, implementar y evaluar una solucion BDD real, no solo de hablar de ella en abstracto.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les muestra el mapa completo del recorrido. La semana 9 esta dedicada a los fundamentos: que es una BDD, sus propiedades teoricas, las arquitecturas y como se posicionan en el triangulo CAP que ya vimos en la Unidad 1. La semana 10 entra en el diseno fisico: como se dividen los datos entre los sitios, como se replican y como un catalogo de metadatos permite que todo siga pareciendo una sola base. La semana 11 cierra con los mecanismos de operacion -- transacciones, bloqueos, recuperacion -- y abre la puerta a los modelos NoSQL como alternativa moderna. Cada bloque termina con un componente practico, y la semana 11 incluye el ejercicio integrador completo con Java, Spring Boot, PostgreSQL y Docker. Quiero que mantengan presente esta hoja de ruta porque cada concepto se encadena con el siguiente.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definicion canonica del libro de referencia de la asignatura, Ozsu y Valduriez en su cuarta edicion de 2020. Quiero que retengan dos palabras clave: interrelacion logica y transparencia. La interrelacion logica significa que no estamos hablando simplemente de varias bases de datos puestas en distintos servidores y que comparten datos por exportacion de archivos. Eso seria un conjunto de bases independientes, no una BDD. La interrelacion implica que hay un esquema global, hay reglas de integridad referencial que cruzan sitios, y hay semantica unificada: una factura en el nodo Cuenca tiene la misma estructura que una factura en el nodo Quito. La transparencia, el segundo requisito, es lo que distingue a un SGBDD de una simple coleccion de servidores. Significa que el desarrollador de aplicaciones no necesita saber donde reside cada fila para escribir una consulta. Esa transparencia es lo que vamos a estudiar en detalle en las proximas semanas.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muy facil confundir una BDD con conceptos cercanos. Vamos a ver tres casos que NO son BDD aunque algunos los llamen asi en la industria. Primero, una base centralizada con acceso remoto. Es lo que tienen muchas empresas pequenas: PostgreSQL en AWS y las sucursales se conectan por VPN. Hay un solo punto fisico de almacenamiento, asi que no es distribuida. Segundo, un conjunto de bases independientes. Esto es muy comun en organizaciones donde cada area tiene su sistema y se sincronizan por ETL nocturno. Las bases existen, los datos se comparten, pero no hay esquema global ni transparencia. Cada sistema vive en su propio mundo. Tercero, una base de datos paralela como Oracle RAC. Aqui si hay varios servidores procesando, pero comparten un mismo storage. Es paralela, no distribuida. La distincion clave es el storage compartido versus el storage local en cada nodo. Si retienen una sola idea de esta diapositiva, que sea esta: BDD significa datos repartidos en sitios distintos con interrelacion logica y transparencia. Sin esas tres caracteristicas juntas, no estamos hablando de una BDD.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profundizar, fijemos vocabulario. Estos cinco terminos van a aparecer en cada diapositiva del resto del modulo, asi que tomense un momento para grabarlos. Sitio o nodo: cualquier unidad logica de almacenamiento y procesamiento. En el laboratorio cuando levanten un contenedor Docker con PostgreSQL, ese contenedor es un sitio. En produccion puede ser un servidor fisico o un pod de Kubernetes. Esquema global versus esquema local: el primero es la abstraccion que ve la aplicacion -- como si todo estuviera en una sola base. El segundo es lo que cada sitio realmente almacena, que es solo una porcion. Fragmento: la porcion concreta de una tabla que vive en un sitio. Si la tabla CUENTAS tiene mil filas y yo divido por ciudad, el fragmento Cuenca son las filas de Cuenca y el fragmento Quito son las de Quito. Replica: una copia identica. La replicacion no es lo mismo que la fragmentacion -- en la fragmentacion el dato esta en un solo sitio; en la replicacion el mismo dato esta en varios. Estos terminos no son opcionales. Si en el examen les pregunto que es un fragmento y me responden de manera vaga, el criterio queda en cero.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Continuamos con cinco terminos mas, todos relativos a operacion, consistencia y red. El catalogo distribuido es la pieza central que permite la transparencia. Cuando ustedes escriben SELECT desde el cliente sin saber donde estan los datos, alguien tiene que saberlo: ese es el catalogo. Volveremos a el mas adelante. Transaccion distribuida: aqui esta el verdadero dolor de cabeza de los SGBDD. Si yo transfiero 100 dolares de una cuenta en Cuenca a una cuenta en Quito, necesito que ambas operaciones se confirmen o ninguna. Garantizar atomicidad cuando los datos viven en dos servidores distintos exige protocolos como el 2PC, que es uno de los temas centrales de la semana 11. Procesamiento distribuido de consultas: el optimizador ya no solo decide si usar un indice o no -- ahora decide en que sitio ejecutar cada parte de la consulta para minimizar el trafico de red, que es el recurso mas caro. Modelo de consistencia: es la promesa que el sistema hace sobre lo que ven las transacciones concurrentes. Veremos que la consistencia es un espectro, no un binario, y que cada nivel tiene su precio en rendimiento. Tolerancia a particiones: esto es lo que el teorema CAP llama la P. Una particion no es la caida de un nodo; es la imposibilidad de comunicacion entre nodos que siguen funcionando. Es un escenario inevitable en la realidad, y todo sistema debe declarar como lo enfrenta.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BDD ofrecen cuatro fortalezas que motivan su adopcion frente a un SGBD centralizado. La distribucion fisica permite que el dato viva cerca del usuario. Una empresa con sucursales en cinco ciudades del Ecuador puede tener datos locales en cada una y reducir la latencia de las consultas locales en un factor de treinta o mas. La autonomia local es lo que les permite seguir trabajando en Cuenca aunque se caiga la red con Quito. Las operaciones que no requieren datos remotos no deberian verse afectadas por fallos externos. Esta caracteristica es la base de la disponibilidad continua exigida por la regla numero uno de Date. El crecimiento incremental es lo que el mundo cloud llama escalabilidad horizontal. En lugar de comprar un servidor mas potente -- escalado vertical, caro y con limite fisico -- ustedes anaden un nodo mas al cluster. Cassandra y CockroachDB ofrecen escalado a centenares de nodos sin reconfiguracion. Mayor disponibilidad: con replicacion 3x y consenso por mayoria, el sistema sigue operando si cae un nodo, porque dos de tres aun forman quorum. Esto se ve en sistemas como Spanner de Google, que reporta disponibilidad de 99.999 por ciento gracias precisamente a esta propiedad.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Cualquier discusion seria sobre BDD debe equilibrar las ventajas con los compromisos. A la izquierda tienen tres ventajas adicionales. La localidad de referencia es el principio de oro del diseno de fragmentacion: ubicar el dato donde se consulta con mas frecuencia. Si el ochenta por ciento de las consultas de Cuenca usan datos de Cuenca, esos datos deben vivir en el nodo Cuenca. La heterogeneidad es lo que permite que una empresa con un Oracle de hace quince anos y un PostgreSQL nuevo los integre sin necesidad de migrar uno al otro. Federacion mediante Foreign Data Wrappers o capas de virtualizacion como Denodo. Ahora bien, a la derecha tienen los compromisos. Y quiero que retengan especialmente uno: la consistencia introduce problemas que un SGBD centralizado simplemente no tiene. En un PostgreSQL centralizado, dos transacciones concurrentes se ordenan trivialmente por su timestamp y los bloqueos las disciplinan. En una BDD esto se vuelve un problema de coordinacion global que requiere protocolos como 2PC o consenso Raft, con su latencia asociada. Por eso, antes de migrar a una arquitectura distribuida, ustedes deben preguntarse si los beneficios compensan estos costos. Para una aplicacion con un millon de usuarios, claramente si. Para un sistema interno de cien usuarios, casi nunca.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J. Date, uno de los grandes teoricos del modelo relacional, propuso en 1987 doce reglas que deberia cumplir un SGBDD ideal. Ninguna implementacion real las cumple todas al cien por ciento, pero son el termometro academico para evaluar cualquier sistema. Las primeras seis se centran en autonomia y transparencia. La R1, autonomia de sitio local, es la base: cada nodo es soberano en su seguridad, sus indices, su gestion de espacio. La R2, sin dependencia de un sitio central, prohibe los puntos unicos de fallo. Esta es la regla que falla MySQL replicado con master unico. La R3 exige que el sistema soporte fallos y mantenimientos sin caer. Las reglas R4, R5 y R6 son los tres niveles de transparencia: ubicacion, fragmentacion y replicacion. Las tres son ejes del trabajo individual TA-IND-02 que les voy a asignar en la semana 10. Quiero que cuando evaluen un sistema en su practica, lo midan contra estas reglas. No para que cumpla todas, sino para que sepan que esta cediendo y por que.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reglas R7 y R8 son las mas dificiles de cumplir. El procesamiento distribuido de consultas exige un optimizador que estime no solo I/O y CPU como en un SGBD centralizado, sino tambien el costo de transferencia de datos por red. Las transacciones distribuidas exigen protocolos de coordinacion como el 2PC que veremos en la semana 11. CockroachDB usa una variante optimizada, MongoDB las soporta desde la version 4.0 con limitaciones, y Cassandra simplemente no las ofrece. Las reglas R9 a R12 son las independencias tecnologicas. Las R9, R10 y R11 -- independencia de hardware, SO y red -- son hoy practicamente triviales gracias a la estandarizacion de TCP/IP, contenedores y plataformas cloud. La R12 es la mas dificil: independencia de SGBD. Significa que ustedes pueden tener Oracle en un sitio, PostgreSQL en otro y SQL Server en un tercero, y el sistema lo gestiona como una sola BDD. Esto solo lo logran arquitecturas federadas con capas de virtualizacion o servicios como Apache Drill y Presto. Los sistemas homogeneos como CockroachDB o Cassandra simplemente no lo intentan, porque su valor esta en otra parte.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literatura clasica identifica tres modelos arquitectonicos para SGBDD. La eleccion no es estetica: cada uno responde a un problema distinto. La arquitectura cliente-servidor es la mas comun en empresas que vienen del mundo centralizado. Tienen un servidor PostgreSQL grande, le anaden replicas para alta disponibilidad y le llaman BDD. Funciona bien para cargas moderadas y para equipos que no quieren la complejidad operativa del modelo P2P. La arquitectura federada es la respuesta para organizaciones con sistemas legados. Un banco con un mainframe DB2 de los anos noventa y un PostgreSQL nuevo no va a migrar todo en un dia. La capa federada les permite consultar ambos como si fueran uno solo. El precio es la complejidad de mantener mappings de esquemas y la imposibilidad de optimizar consultas que cruzan sitios con la misma eficacia. Finalmente, la arquitectura P2P es la del mundo cloud moderno. Cassandra es el ejemplo paradigmatico: cualquier nodo acepta lecturas y escrituras, no hay coordinador, y el cluster escala anadiendo nodos. El precio es que necesitan dominar conceptos como hash consistente, gossip y consenso Raft. No es para principiantes. Para su Proyecto Fin de Curso, los equipos AGLS, BCEL, FUVV y ACC deberan elegir conscientemente cual de estas tres arquitecturas se ajusta a su dominio.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ocho transparencias son el principio rector que organiza todo el diseno de un SGBDD. Las cuatro primeras -- red, ubicacion, fragmentacion y replicacion -- ocultan los aspectos del como esta organizada la distribucion. Las cuatro segundas -- concurrencia, fallos, rendimiento y migracion -- ocultan los aspectos dinamicos: que pasa mientras el sistema esta funcionando. Una transparencia que vale la pena destacar es la de fragmentacion, porque es propia de las BDD y no existe en sistemas distribuidos genericos. Cuando ustedes escriben SELECT desde una aplicacion sin saber que la tabla esta dividida en cuatro nodos, esa magia es la transparencia de fragmentacion. Y una distincion sutil pero importante: las ocho transparencias de la Unidad 1 -- el modelo ANSA con acceso, ubicacion, migracion, reubicacion, replicacion, concurrencia, fallos y persistencia -- son las transparencias genericas de sistemas distribuidos. Las ocho de los SGBDD son una adaptacion al contexto de datos. Coinciden en muchas pero no son identicas. En sus trabajos individuales deben aplicar la lista correcta segun el contexto.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decision entre BDD homogenea y heterogenea es estrategica y suele venir impuesta por el contexto historico de la organizacion. Si estan disenando un sistema desde cero, casi siempre la opcion correcta es una BDD homogenea. CockroachDB, Cassandra o MongoDB ofrecen escalabilidad lista para usar, optimizador distribuido nativo y transacciones distribuidas si aplican. El esfuerzo de integracion es minimo y el sistema rinde mucho mejor. La BDD heterogenea aparece cuando hay restricciones de negocio. Un ministerio con un sistema legacy en Informix de hace veinte anos, una entidad financiera con tres adquisiciones y tres motores distintos. Aqui no se puede migrar todo de golpe; la federacion es la unica via realista. Pero entiendan que el costo es alto: los Foreign Data Wrappers de PostgreSQL pueden hacer milagros, pero la optimizacion de un JOIN entre un PostgreSQL y un Oracle remoto es muy limitada. El sistema casi siempre termina enviando ambas tablas completas y haciendo el JOIN localmente. Cuando evaluen sistemas distribuidos en sus trabajos, identifiquen claramente esta decision y sus consecuencias.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fragmentacion horizontal es la mas comun en la practica, especialmente en aplicaciones donde los datos tienen una clave natural geografica o temporal. Formalmente cada fragmento es el resultado de aplicar el operador sigma -- seleccion del algebra relacional -- con un predicado p_i. Los predicados deben ser disjuntos y cubrir todo el dominio. El ejemplo de la derecha es el clasico: la tabla PEDIDOS dividida por ciudad. Los pedidos de Cuenca viven en el nodo Cuenca, los de Quito en el nodo Quito. Cuando llega una consulta WHERE ciudad igual Cuenca, el optimizador la enruta directamente al nodo Cuenca sin tocar el nodo Quito. Esa es la transparencia de fragmentacion combinada con la localidad de referencia. Una variante importante es la fragmentacion horizontal derivada. Si tienen LINEAS_PEDIDO con clave foranea hacia PEDIDOS, conviene fragmentar LINEAS_PEDIDO siguiendo la misma division que PEDIDOS. Asi las lineas del pedido de Cuenca viven en el mismo nodo que el pedido, y el JOIN se ejecuta localmente, sin red. Esto se conoce como co-particionamiento. CockroachDB lo soporta nativamente con INTERLEAVE IN PARENT. PostgreSQL+Citus lo soporta con CREATE_DISTRIBUTED_TABLE COLOCATE_WITH.</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fragmentacion vertical es menos comun que la horizontal pero muy util en escenarios especificos. El operador formal es pi -- proyeccion -- que toma un subconjunto de atributos. Cada fragmento vertical incluye obligatoriamente la clave primaria, y un subconjunto distinto de los atributos no clave. La reconstruccion se realiza con JOIN natural sobre la clave primaria. El ejemplo clasico es separar datos sensibles de datos operativos. La tabla EMPLEADOS tiene id, nombre, cargo, departamento -- datos organizacionales -- y salario, telefono -- datos sensibles. Si fragmentamos verticalmente, podemos poner los datos organizacionales en el nodo RRHH con acceso amplio, y los sensibles en un nodo Nomina con cifrado y acceso restringido. Cuando se necesita la vista completa de un empleado, se hace JOIN. Hay una pregunta clasica que cae en examenes: en una fragmentacion vertical, donde debe ir la clave primaria? La respuesta es: en TODOS los fragmentos. Sin la clave, no hay JOIN, no hay reconstruccion. Esa es la causa mas comun de error en disenos verticales. Y un comentario sobre el diseno optimo: el algoritmo Hoffer-Severance construye una matriz de afinidad de atributos que mide cuantas consultas usan dos atributos juntos. Los atributos de alta afinidad se agrupan en el mismo fragmento. Es un algoritmo aglomerativo clasico, y aunque pocas empresas lo aplican formalmente, conocerlo ayuda a justificar decisiones de diseno.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fragmentacion mixta es la mas potente y la mas dificil. Combina horizontal y vertical en distintos ordenes. El ejemplo de la izquierda muestra una tabla VENTAS que se fragmenta primero por region -- Sierra y Costa -- y luego el fragmento Sierra se subdivide verticalmente para separar datos comerciales -- el vendedor -- de datos contables -- el monto. El fragmento Costa permanece intacto porque no requiere esa separacion. La reconstruccion requiere primero JOIN para deshacer la vertical y luego UNION para deshacer la horizontal. Es el orden inverso al de fragmentacion. Pero todo esquema de fragmentacion -- horizontal, vertical o mixto -- debe satisfacer las tres reglas de correctitud que ven a la derecha. C1, completitud: ningun dato puede quedar fuera. Si olvidan una ciudad en su predicado horizontal, esos pedidos se pierden. C2, reconstruccion: la tabla original debe poder rearmarse. En vertical esto exige incluir la clave primaria en cada fragmento -- ya lo discutimos. C3, disjuncion: un dato no debe aparecer en dos sitios, salvo la clave en la vertical. Violar esto genera inconsistencias cuando el dato se actualiza en uno solo de los dos lados. En el examen practico EV-PR-U3 voy a darles un esquema de fragmentacion y deberan verificar manualmente las tres reglas. Quienes no recuerden las tres pierden el criterio completo.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decision entre replicacion sincrona y asincrona es uno de los compromisos mas importantes en el diseno de una BDD. La replicacion sincrona ofrece consistencia fuerte: cuando el cliente recibe el OK de la escritura, sabe con certeza que todas las replicas estan actualizadas. Pero esto tiene un costo: la latencia. La transaccion espera la confirmacion de la replica mas lenta. Si una replica esta en otro centro de datos con cien milisegundos de latencia, cada escritura sufre esa demora. PostgreSQL lo soporta con synchronous_commit on y synchronous_standby_names configurado. Es la opcion preferida para banca, inventario critico, sistemas donde un dato perdido es inaceptable. La replicacion asincrona invierte el compromiso. La escritura se confirma de inmediato, lo que da baja latencia, pero introduce un lag durante el cual las replicas pueden devolver datos obsoletos. Si el primario falla antes de propagar los ultimos cambios, esos cambios se pierden. Para una red social esto es aceptable -- un like perdido no es tragedia. Para una transferencia bancaria, es inaceptable. MySQL con replicacion estandar es asincrona por defecto. MongoDB con writeConcern uno tambien. El examen suele preguntar: en un sistema de reservas de asientos de avion, sincrona o asincrona? La respuesta correcta es sincrona, porque dos pasajeros no pueden tener el mismo asiento. La consistencia es no negociable.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Hay tres modelos para gestionar las escrituras en un sistema con replicas. El primario-secundario, tambien llamado single-leader, es el modelo mas simple y el mas usado. Una replica es la primaria y unica que acepta escrituras; las secundarias solo replican y sirven lecturas. Es el modelo de MongoDB Replica Set, PostgreSQL streaming, MySQL clasico. Su debilidad es que el primario es cuello de botella de escritura y punto unico de fallo. Failover automatico mitiga pero no elimina esto. El multi-primario permite escribir en varias replicas simultaneamente. Mejora la disponibilidad de escritura y la latencia para usuarios distribuidos geograficamente. El precio son los conflictos: si dos primarios reciben actualizaciones del mismo registro al mismo tiempo, hay que reconciliar. Estrategias: last-write-wins -- el timestamp mas reciente gana, simple pero pierde datos --, vector clocks -- detecta conflictos pero requiere resolucion manual --, CRDTs -- estructuras matematicas que convergen automaticamente, muy elegantes pero limitadas en operaciones soportadas. El modelo sin lider es lo que Dynamo de Amazon hizo famoso y Cassandra adopto. Todos los nodos son iguales, el cliente decide cuantos contactar para escribir y leer. La formula clave es W + R &gt; N: si la suma de nodos confirmados en escritura y leidos en consulta supera el total, cualquier lectura intersecta con la ultima escritura. Quorum simple. Esto les da consistencia ajustable. Con N igual a cinco y W igual a R igual a tres, toleran la falla de dos nodos. Si quieren optimizar lectura, hacen W cuatro y R dos. Si optimizan escritura, W dos y R cuatro. Es ingenieria de compromisos en tiempo de configuracion.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catalogo distribuido es la pieza menos visible pero la mas critica del SGBDD. Sin catalogo no hay transparencia. Cada vez que ustedes escriben SELECT desde una aplicacion sin saber donde estan los datos, alguien tiene que saberlo. Ese alguien es el catalogo. Y aqui esta la pregunta: si el catalogo es critico, donde lo ponemos? Las tres opciones que ven en la diapositiva tienen ventajas y desventajas. Centralizado es la opcion mas simple: un nodo guarda todo. Pero es un punto unico de fallo critico. Si ese nodo cae, ninguna consulta global se enruta. Solo es viable en despliegues pequenos. Completamente replicado tiene cada nodo con copia del catalogo entero. La consulta enruta localmente sin tocar red. Pero cuando anaden un nodo o redistribuyen rangos, hay que actualizar todas las copias atomicamente. Es muy costoso. La opcion mas comun en sistemas modernos es la parcialmente replicada: cada nodo conoce los metadatos locales y los de sus vecinos frecuentes. Cassandra usa gossip para diseminar el estado, CockroachDB usa un sistema range basado en Raft. Es lo que escalabilidad real demanda. En produccion el catalogo se implementa con tecnologias especializadas: Apache ZooKeeper en clusters de Hadoop, etcd en Kubernetes y CockroachDB, Consul en infraestructuras HashiCorp. Todos son almacenes clave-valor consistentes basados en Raft o Paxos. Para sus PFC, cuando elijan tecnologia, verifiquen como el sistema gestiona su catalogo. Es senal de la madurez del producto.</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Cuando ustedes envian una consulta SQL a un SGBDD, esta pasa por cuatro fases consecutivas. Esto es analogo al optimizador de un SGBD centralizado pero con un actor extra: la red. Fase uno, descomposicion: el SQL se traduce al algebra relacional. Es lo mismo que un PostgreSQL local hace internamente. Fase dos, localizacion: aqui aparece la diferencia. El SGBDD consulta el catalogo para saber donde estan los datos. Si la consulta filtra por ciudad igual Cuenca y el catalogo dice que ese fragmento esta solo en el nodo Cuenca, el sistema evita consultar los demas. Fase tres, optimizacion global: el optimizador estima costos. En un centralizado solo importa I/O y CPU. En un distribuido importa sobre todo la transferencia por red, que es el recurso mas caro. Las tecnicas que ven abajo son las herramientas del optimizador. El semi-join es elegante: si necesitan hacer JOIN entre dos tablas en sitios distintos, en lugar de transferir todas las filas, transfieren solo las claves del filtro, hacen el lookup en el otro sitio, y luego transfieren solo las filas que matcheen. Reduce drasticamente el ancho de banda. El bloom-join mejora esto usando filtros de Bloom -- estructuras probabilisticas que dicen con muy poco overhead si una clave probablemente esta o definitivamente no esta. El partition-wise join es lo que mencionabamos antes con co-particionamiento: si las dos tablas estan fragmentadas con el mismo criterio, el JOIN se ejecuta totalmente en paralelo en cada nodo. Fase cuatro, ejecucion: el plan se despacha, los resultados parciales se combinan. Conocer estas tecnicas les permitira leer planes EXPLAIN ANALYZE en CockroachDB o Citus y entender por que un query es lento.</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ACID en una BDD no es lo mismo que ACID en un SGBD centralizado. Cada una de las cuatro propiedades se vuelve un problema de coordinacion entre nodos. Atomicidad: en un PostgreSQL local, atomicidad significa que la transaccion se hace toda o nada. En una BDD significa que se hace en TODOS los sitios o en NINGUNO. Si transfiero cien dolares de Cuenca a Quito, no puede ser que el debito en Cuenca quede y el credito en Quito falle. Para esto necesitamos el protocolo 2PC, que veremos en la siguiente diapositiva. Consistencia: el estado de la base tras la transaccion debe satisfacer todas las reglas de integridad. En distribuido esto exige acuerdo global sobre lo que es valido. Aislamiento: las transacciones concurrentes no deben verse entre si en estados intermedios. En distribuido esto requiere bloqueos coordinados entre nodos -- 2PL distribuido -- o protocolos MVCC con snapshots consistentes. Durabilidad: los cambios confirmados persisten ante fallos. En distribuido cada nodo participante debe escribir su parte en un log Write-Ahead persistido en disco antes de confirmar. Como ven, ACID en BDD es mucho mas dificil que ACID centralizado. Por eso muchos sistemas NoSQL renuncian a algunas propiedades a cambio de escalabilidad: Cassandra ofrece atomicidad solo por fila, MongoDB hasta version 4 no tenia transacciones multi-documento, DynamoDB tiene transacciones limitadas. Cuando un sistema dice que es ACID-distribuido -- como CockroachDB o Spanner -- esta cumpliendo una hazana de ingenieria. No es trivial.</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Two-Phase Locking, abreviado 2PL, es el mecanismo clasico para garantizar serializabilidad. Es lo que la mayoria de SGBD comerciales usa internamente, aunque MVCC esta ganando terreno. La idea es muy simple: cada transaccion tiene dos fases. En la fase de crecimiento solo adquiere bloqueos; en la fase de decrecimiento solo libera. La regla critica es que una vez que liberaste UNO, no puedes adquirir mas. Por que esto garantiza serializabilidad? Porque establece un orden parcial sobre las operaciones que es equivalente a una ejecucion serial. El 2PL Estricto es la variante mas usada en la practica: mantiene todos los bloqueos hasta el COMMIT o ROLLBACK. Esto previene las lecturas sucias y simplifica la recuperacion. PostgreSQL, MySQL InnoDB y SQL Server usan esta variante. A la derecha tienen los tipos de bloqueo. El compartido S permite lectura concurrente, el exclusivo X es para escritura y bloquea todo. La compatibilidad es lo que determina si dos transacciones pueden coexistir sin esperar. En entornos distribuidos, el 2PL se complica: necesitamos un gestor de bloqueos que puede ser centralizado -- simple pero SPOF -- o distribuido -- complejo porque hay que coordinar deadlocks entre nodos. En la siguiente diapositiva veremos el protocolo de commit en dos fases, que es el complemento del 2PL para atomicidad. No confundan 2PL con 2PC: 2PL es para aislamiento, 2PC es para atomicidad. Ambos tienen dos fases, pero gestionan problemas distintos.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Two-Phase Commit, abreviado 2PC, es EL protocolo estandar para garantizar atomicidad en transacciones distribuidas. Es lo que el estandar XA define y lo que productos como Atomikos, Bitronix o Narayana implementan en Java. El protocolo tiene dos fases dirigidas por un nodo coordinador, que es quien recibe la transaccion del cliente. Los demas nodos son participantes. En la fase uno, llamada preparacion o voting, el coordinador pregunta a cada participante: puedes confirmar tu parte? El participante intenta la operacion local, escribe en su Write-Ahead Log el estado PREPARED, y responde VOTE-COMMIT si pudo o VOTE-ABORT si encontro un problema. Es importante notar que el participante NO confirma todavia. Solo se prepara: mantiene los bloqueos, escribe el log, y queda en espera. En la fase dos, el coordinador decide. Si TODOS los participantes votaron COMMIT, el coordinador escribe COMMIT en su log y manda GLOBAL-COMMIT. Si ALGUNO voto ABORT o no respondio a tiempo, manda GLOBAL-ABORT. El detalle critico es que el coordinador DEBE escribir su decision en disco ANTES de enviarla. Si el coordinador falla, ese log es lo que permite reconstruir la decision al reiniciar. El 2PC garantiza atomicidad pero tiene un problema serio, que vamos a discutir en la siguiente diapositiva. Y vamos a implementarlo manualmente en el ejercicio practico del Banco del Austro, donde veran como en Java con Spring Boot se simula este protocolo coordinando dos PostgreSQL.</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2PC tiene una limitacion fundamental que los autores del protocolo conocian desde el principio: es bloqueante. El escenario problematico es este: el coordinador envia PREPARE, todos los participantes votan COMMIT y escriben PREPARED en su log. Estan esperando la decision final. El coordinador escribe COMMIT en su propio log... y se cae antes de mandar GLOBAL-COMMIT. Los participantes estan en limbo. No pueden abortar porque tal vez el coordinador habia decidido COMMIT. No pueden confirmar porque tal vez decidio ABORT. Y mientras esperan, mantienen todos los bloqueos. Esto puede paralizar el sistema entero. El 3PC intenta resolver esto con una fase intermedia: pre-commit. La idea es que si el coordinador falla, los participantes pueden ponerse de acuerdo entre si y elegir un nuevo coordinador que decida sin ambiguedad. Pero el 3PC asume un modelo de red sincrono -- mensajes con retardo maximo conocido -- que en la practica casi nunca se cumple. Por eso el 3PC es mas un objeto academico que un protocolo de produccion. La solucion moderna es reemplazar 2PC por algoritmos de consenso distribuido. Raft -- propuesto por Ongaro y Ousterhout en USENIX ATC 2014 -- es el mas adoptado. Raft replica el log de decisiones en una mayoria de nodos. Si el lider cae, los demas eligen un nuevo lider y continuan. No hay bloqueo permanente. Esta es la razon por la cual sistemas como CockroachDB, etcd, MongoDB para elecciones, Apache Kafka KRaft, y HashiCorp Consul usan Raft en lugar de 2PC clasico. Es el estado del arte.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deadlock ocurre cuando dos transacciones esperan indefinidamente que la otra libere un recurso. T1 tiene la cuenta A y necesita la cuenta B; T2 tiene la B y necesita la A. Ninguna avanza. En un SGBD centralizado el deadlock es relativamente facil de detectar: el gestor de bloqueos local construye un grafo de espera y busca ciclos. En distribuido se complica porque el ciclo puede atravesar varios nodos. T1 espera un recurso en el nodo Cuenca; ese recurso lo tiene T2 que espera otro en el nodo Quito; y ese lo tiene T3 que espera a T1 en Cuenca. Ningun nodo individual ve el ciclo completo. Hay cuatro estrategias principales. Prevencion por ordenamiento: si todas las transacciones siempre adquieren recursos en el mismo orden global -- alfabetico o por hash, por ejemplo --, no puede haber ciclos. Es la opcion mas segura pero reduce paralelismo. Prevencion por timestamps: Wait-Die y Wound-Wait. Cada transaccion recibe un timestamp; cuando una pide un recurso ocupado, se decide quien gana segun edad. Mas abortos pero sin deadlock. Deteccion por grafo de espera: el sistema mantiene el grafo y periodicamente busca ciclos. Si encuentra uno, elige una transaccion victima -- usualmente la mas joven o la que tenga menos bloqueos -- y la aborta. Es lo que hace PostgreSQL internamente. Deteccion por timeout: la solucion del pobre. Si una transaccion espera mas de N segundos, se asume deadlock y se aborta. Simple, pero genera falsos positivos cuando la carga es alta y simplemente todo va lento. Para sus PFC, no necesitan implementar deteccion manual: PostgreSQL, CockroachDB y MongoDB la hacen por ustedes. Pero deben conocer las estrategias para entender los logs cuando algo sale mal.</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MVCC -- Multi-Version Concurrency Control -- es la alternativa moderna al 2PL clasico. Su idea central es elegante: en lugar de bloquear, mantener varias versiones del mismo dato. Cuando una transaccion escribe, no sobreescribe el valor anterior: crea una nueva version etiquetada con su identificador. Las transacciones que ya estaban leyendo siguen viendo la version vieja. Las nuevas que inicien despues de la confirmacion veran la nueva. La consecuencia practica es enorme: las lecturas nunca bloquean a las escrituras y viceversa. Esto da un throughput mucho mayor que el 2PL en cargas de lectura intensiva. PostgreSQL implementa MVCC desde sus origenes. Cada tupla tiene dos columnas ocultas: xmin -- la transaccion que la creo -- y xmax -- la transaccion que la elimino o reemplazo. La regla de visibilidad para una transaccion T es: xmin menor o igual a T Y (xmax mayor a T O xmax NULL). Si una version satisface esto, T la ve. Si no, ve otra. El precio del MVCC es el mantenimiento de las versiones obsoletas. En PostgreSQL esto lo hace el proceso VACUUM, que periodicamente limpia tuplas que ningun snapshot activo puede ver. Si no se ejecuta VACUUM, la tabla crece indefinidamente. CockroachDB y MongoDB usan variantes de MVCC sobre estructuras LSM-Tree. En la practica, MVCC es lo que les permite tener PostgreSQL con miles de conexiones concurrentes sin que las lecturas se vuelvan inviables. Para sus PFC esto es muy relevante: si su carga tiene muchas lecturas concurrentes con pocas escrituras, MVCC es ideal. Si es lo contrario, el 2PL puede ser mas predecible.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teorema CAP es el marco teorico mas citado en la literatura de sistemas distribuidos. Lo formulo Eric Brewer en una conferencia en el ano 2000 y lo demostraron formalmente Gilbert y Lynch en 2002. El teorema dice que de las tres propiedades -- consistencia, disponibilidad y tolerancia a particiones -- un sistema distribuido solo puede garantizar dos simultaneamente. Como las particiones de red son inevitables en sistemas reales -- los cables se cortan, los switches fallan, los enlaces WAN se degradan --, el verdadero compromiso es siempre entre C y A. Es decir: ante una particion, elijo consistencia o disponibilidad? Los sistemas CP, como MongoDB con writeConcern majority, HBase, Spanner y CockroachDB, prefieren rechazar peticiones antes que servir datos potencialmente obsoletos. Son apropiados para banca, inventario critico, sistemas de pago donde la consistencia es no negociable. Los sistemas AP, como Cassandra, DynamoDB, Riak y CouchDB, prefieren servir peticiones con datos posiblemente desactualizados antes que rechazarlas. Son apropiados para redes sociales, catalogos, logs. La zona CA del triangulo es interesante: representa los sistemas que NO toleran particiones. Un PostgreSQL single-node esta ahi, pero estrictamente no es un sistema distribuido. Cuando le anaden replicacion se vuelve CP o AP segun la configuracion. Es importante que cuando ustedes elijan tecnologia para sus PFC, declaren explicitamente la posicion CAP. En su trabajo individual TA-IND-01 esto era criterio de evaluacion -- el 2.2 -- y en TA-IND-02 lo sera de nuevo. La eleccion CAP debe justificarse con el dominio del problema.</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Daniel Abadi propuso en 2012 el modelo PACELC como extension del CAP. Es importante porque captura algo que el CAP original no: que el compromiso entre consistencia y rendimiento existe TAMBIEN sin particiones. La formulacion es: si hay Particion (P), eliges entre Availability y Consistency. Else (E), eliges entre Latency y Consistency. Es decir: incluso en operacion normal, sin particiones, todo sistema distribuido tiene que decidir si prioriza latencia baja o consistencia estricta. Por que? Porque la consistencia fuerte exige coordinacion entre replicas -- esperar confirmacion del quorum o del primario sincrono. Esa espera anade latencia. Si optan por consistencia eventual, la escritura confirma inmediatamente y el sistema es rapido, pero los lectores pueden ver datos viejos. La tabla les muestra como se clasifican los sistemas reales. Spanner, CockroachDB y MongoDB con writeConcern majority son PC/EC: priorizan consistencia siempre. Pagan latencia tanto en operacion normal como ante particiones. Cassandra, DynamoDB y Riak son PA/EL: priorizan disponibilidad y latencia siempre. Tienen consistencia eventual incluso sin particiones. Y un sistema interesante es MongoDB sin writeConcern majority: en ese modo es PA/EL como Cassandra. Es decir, la configuracion -- no la tecnologia -- es la que define la posicion PACELC. Cuando elijan tecnologia para sus PFC, miren no solo el CAP sino el ELC. Si su aplicacion es de comercio electronico y los usuarios estan en el mismo pais, una latencia de cien milisegundos puede ser inaceptable. PA/EL puede ser mejor opcion que PC/EC.</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NoSQL significa Not Only SQL, no No SQL. Es importante entender esto: las bases NoSQL no son rivales del modelo relacional, son complementos optimizados para patrones de acceso especificos. Las cuatro familias responden a problemas distintos. Las bases documentales como MongoDB son ideales cuando los datos tienen estructura jerarquica natural. Un perfil de usuario con sus direcciones, telefonos y preferencias se modela mejor como un documento JSON que como cinco tablas relacionales con cinco JOINs. Las clave-valor son la opcion mas simple y mas rapida. Redis sirve millones de operaciones por segundo en una sola maquina. Son perfectas para caches, sesiones HTTP, contadores. No esperen consultas complejas; son get y put. Las columnares -- Cassandra, HBase -- son las bestias de la escala masiva. Optimizadas para escribir millones de eventos por segundo y para consultas que escanean rangos grandes. Las usan Netflix para recomendaciones, Apple para mensajeria, Instagram para mensajes. Las de grafos como Neo4j brillan en problemas donde las relaciones son tan importantes como los datos. Deteccion de fraude bancario, recomendaciones de amigos en redes sociales, rutas en mapas. Una consulta de tipo amigos de amigos de amigos en Neo4j es trivial; en SQL son tres JOINs que pueden no escalar. Para sus PFC, la pregunta no es relacional vs NoSQL, sino cual modelo se ajusta mejor a la naturaleza de sus datos. El equipo AGLS que esta haciendo TiendaTech podria perfectamente usar PostgreSQL para los pedidos y MongoDB para el catalogo de hardware, en una arquitectura polyglot persistence.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Vamos a ver seis sistemas reales en estas dos diapositivas. Son los que ustedes deben conocer al graduarse, porque son los lideres del mercado. Google Spanner es la joya de la corona. Resuelve un problema que se consideraba imposible: ACID con SQL en escala global. Su innovacion clave es TrueTime, una API de tiempo que reporta no solo el tiempo actual sino tambien la incertidumbre. Como? Google instala relojes atomicos y receptores GPS en cada centro de datos. La sincronizacion entre datacenters es muy precisa, con incertidumbre tipica de pocos milisegundos. Con TrueTime Spanner puede ordenar transacciones globalmente esperando una pequena ventana de incertidumbre antes de commit. Es brillante. CockroachDB es el clon abierto inspirado en Spanner. No usa TrueTime -- no tienen relojes atomicos --, pero usa Raft para consenso y un protocolo de commit propietario inspirado en 2PC con optimizaciones. Lo bueno es que es compatible con el protocolo PostgreSQL: ustedes pueden conectar pgAdmin, JDBC, psycopg2, lo que sea, y funciona. Para sus PFC es una opcion excelente si quieren escalabilidad sin renunciar a SQL. Cassandra es el contrapunto. Disenado por Facebook en 2008 para escalas masivas, es P2P puro: todos los nodos son iguales, sin coordinador. La replicacion se hace con quorum configurable. Es eventualmente consistente por defecto, pero ofrecen una opcion quorum que da consistencia razonable. Lo usan en sistemas con cargas brutales: Netflix tiene clusters de cientos de nodos para recomendaciones. Cada uno de estos tres responde a un problema distinto. No hay uno mejor; hay uno mas apropiado segun el contexto.</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DynamoDB es la apuesta de AWS por las bases NoSQL gestionadas. El cliente no se preocupa por la infraestructura: AWS gestiona el sharding, la replicacion y el escalado automatico. Cuesta dinero por cada lectura y cada escritura, lo que disciplina a los desarrolladores a disenar bien los patrones de acceso. Es PA/EL por defecto: consistencia eventual y baja latencia. Si necesitan lecturas strongly consistent, las piden explicitamente y pagan el doble. Esta granularidad de control es muy potente. Para sus PFC, si su organizacion tiene credito AWS, DynamoDB es una opcion seria. MongoDB es probablemente la BDD que mas veran en su carrera profesional. Es la documental dominante. Su arquitectura tiene dos modos. Modo Replica Set: tres o cinco nodos con failover automatico, primario unico para escrituras. Modo Sharded Cluster: anaden particionamiento horizontal sobre el modelo Replica Set, coordinado por procesos mongos y un catalogo en config servers. Desde la version 4.0 soporta transacciones ACID multi-documento, lo que les permite migrar a MongoDB sin perder garantias transaccionales. Es un cambio enorme respecto a las versiones tempranas. PostgreSQL solo no es una BDD nativa, pero con extensiones se convierte en una opcion muy seria. Streaming replication para alta disponibilidad. Logical replication para sincronizacion selectiva. Foreign Data Wrappers para federacion heterogenea con Oracle, MySQL, MongoDB. Y Citus, que es la extension de Microsoft para sharding horizontal nativo con co-particionamiento. Para sus PFC el stack PostgreSQL es la apuesta mas segura. Pueden empezar con PostgreSQL single-node, anadir una replica, anadir Citus si necesitan sharding, y en ningun momento cambiar de tecnologia. La curva de adopcion es muy suave.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resume los seis mecanismos que sostienen la durabilidad y la recuperacion en una BDD. No son alternativas: son capas que se complementan. El Write-Ahead Log es la base. Toda operacion se escribe en el log persistido antes de modificar la base. Si el sistema cae, el log permite reaplicar las operaciones confirmadas y deshacer las no confirmadas. El algoritmo de referencia es ARIES, propuesto en IBM en los noventa y todavia vigente. Los checkpoints son fotos periodicas del estado. Sin ellos, el log crece indefinidamente y la recuperacion despues de una caida puede tardar horas. Con checkpoints, la recuperacion solo necesita reaplicar desde el ultimo checkpoint. El logging del coordinador es especifico del 2PC: el coordinador escribe la decision global en su log ANTES de comunicarla. Si el coordinador cae, los participantes pueden consultar su log al reconectar y recuperar la decision. Sin este logging, el 2PC se rompe por completo. La replicacion sincrona habilita el failover: si la replica primaria muere, una secundaria sincrona puede asumir el rol sin perdida de datos. Asincrona puede tambien, pero con riesgo de perder los ultimos cambios. El Point-In-Time Recovery es lo que les salva cuando alguien ejecuta un DELETE FROM cuentas sin WHERE en produccion. Combinan el snapshot mas reciente con el WAL hasta justo antes del error y recuperan el estado anterior. PostgreSQL lo soporta con pg_basebackup mas archive_command. Y finalmente, el consenso. En sistemas modernos como CockroachDB el log replicado por Raft reemplaza al log local. Cualquier nodo con una copia del log puede reconstruir todo el estado. Esto es lo que da la resiliencia extrema de estos sistemas. Para sus PFC, asegurense de que su solucion tenga al menos WAL, replicacion y backup periodico. Es el minimo indispensable.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pasamos del marco teorico al ejercicio practico, que es el corazon de la unidad. Vamos a implementar paso a paso una base de datos distribuida real con el caso del Banco del Austro, una entidad financiera ecuatoriana con oficinas en Cuenca, Quito y otras ciudades. El stack tecnologico que veran arriba es el mismo que han estado usando en las unidades anteriores: Java 21 sobre Spring Boot 3.x, PostgreSQL 16 en contenedores Docker, todo orquestado con Docker Compose y construido con Maven. Lo importante no es solo que funcione, sino que cada decision tecnica este justificada por los conceptos de las semanas 9 y 10. La fragmentacion que vamos a hacer, la replicacion que vamos a configurar, la estrategia de catalogo que vamos a implementar -- todo debe derivar de un analisis previo de requisitos. Los equipos AGLS de TiendaTech, BCEL de SGA Escuela, FUVV de Laboratorios Informaticos y ACC de Soporte Tecnico de Internet: este ejercicio es directamente aplicable a sus PFC. La Entrega 3 de la asignatura se basa en este patron, asi que tomen notas de cada paso. El codigo completo esta disponible en el repositorio que les he compartido. Para esta presentacion vamos a ver las decisiones clave; la implementacion linea por linea esta en el material LaTeX y en el material LaTeX adicional de la guia.</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tocar codigo, hay que entender el problema. Estos son los requisitos no funcionales del Banco del Austro. Cinco lineas que parecen simples pero cada una tiene implicaciones tecnicas grandes. Latencia menor a 200 ms en consultas de saldo desde cualquier oficina. Esto obliga a tener datos locales en cada oficina; viajar a la sede central por cada saldo es inviable. Esto implica fragmentacion. Transferencias ACID estrictas. Esto implica que necesitamos transacciones distribuidas con 2PC o algun mecanismo equivalente. Caida de oficina sin afectar a las demas. Esto implica autonomia local: cada oficina debe poder operar localmente sin depender de las demas. Clientes compartidos. Esto implica replicacion de la tabla CLIENTES. Transacciones locales por oficina. Esto implica fragmentacion horizontal por oficina. A partir de estos cinco requisitos, hago el analisis CAP. Las transferencias deben ser ACID, asi que la consistencia es no negociable. Si ante una particion de red entre Cuenca y Quito el sistema permitiera ambos lados procesar transferencias independientemente, podriamos terminar con saldos negativos o transferencias fantasmas. Inaceptable. Por tanto elegimos CP. Si hay particion, bloqueamos la operacion. Si bloquear es inaceptable, la solucion no es cambiar a AP sino mejorar la red. En el modelo PACELC esto se traduce a PC/EC: priorizamos consistencia tanto ante particion como sin particion. Quiero que entiendan que esta decision NO es opcional ni cosmetica. Es una declaracion ingenieril que determina absolutamente todo el resto del diseno.</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Tenemos tres tablas principales: CLIENTES, CUENTAS y TRANSACCIONES. Para cada una decidimos una estrategia de distribucion derivada de los requisitos. CLIENTES: replicada en todos los nodos. Por que? Porque un cliente del Banco del Austro puede operar desde cualquier sucursal. Si vivo en Cuenca y voy de visita a Quito, esa sucursal debe poder identificarme inmediatamente. Sin replicacion habria que consultar al nodo Cuenca por cada operacion en Quito, anadiendo latencia y dependencia. La replicacion es viable porque la tabla CLIENTES tiene lecturas frecuentes pero escrituras infrecuentes -- el cliente se da de alta una vez y luego ocasionalmente actualiza su perfil. Es el caso perfecto para replicacion. CUENTAS: fragmentada horizontalmente por oficina, con replicacion en la sede central. La fragmentacion da localidad: si el cliente Maria tiene su cuenta principal en Cuenca, esa cuenta vive en el nodo Cuenca. Operaciones diarias son locales y rapidas. La replicacion en la sede central es para auditoria y reportes consolidados. Cuenca puede generar el reporte total sin tener que llamar a cada sucursal. Es un patron clasico de banca. TRANSACCIONES: fragmentada horizontalmente sin replicacion. El log de transacciones de cada oficina es pesado y crece rapido. No vale la pena replicarlo. Si necesitan un reporte global, se hace una union distribuida puntual. Quiero que noten que cada decision tiene justificacion derivada del dominio del problema. No estamos eligiendo por gusto: estamos respondiendo a requisitos. En sus PFC sus disenos deben tener este mismo nivel de articulacion.</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Empezamos por la infraestructura. Docker Compose es la herramienta que nos permite levantar la BDD entera con un solo comando. Definimos dos servicios -- dos nodos PostgreSQL 16 con imagen alpine para minimizar tamano. El nodo Cuenca expone el puerto 5432 al host, el nodo Quito el 5433. Internamente ambos usan el puerto 5432 estandar de PostgreSQL. Las variables de entorno POSTGRES_DB, POSTGRES_USER y POSTGRES_PASSWORD inicializan la base al primer arranque. Los volumes hacen dos cosas: persistir los datos en pg_cuenca_data y pg_quito_data, lo que permite reiniciar contenedores sin perder datos; y montar los scripts SQL iniciales en docker-entrypoint-initdb.d, que PostgreSQL ejecuta automaticamente al inicializar. La red banco_net es un puente Docker que permite a los contenedores comunicarse entre si por nombre de servicio. Aunque en este ejercicio no hay comunicacion contenedor a contenedor, es buena practica aislar la red. El healthcheck con pg_isready verifica que PostgreSQL este aceptando conexiones antes de declarar el contenedor como healthy. Esto es importante porque Spring Boot al iniciar va a intentar conectar; si los contenedores estan iniciando todavia, la aplicacion falla. Con docker compose -f docker-compose-bdd.yml up -d levantan los dos nodos. Con docker compose ps verifican el estado. Esto es lo mismo que veran en la guia GA-SUM-03 de la semana 11, donde lo expanden a un cluster CockroachDB de tres nodos.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componente es el corazon del enrutamiento. Es el catalogo distribuido de nuestro Banco del Austro, implementado como un Component de Spring. Tiene un enum Fragmento que enumera los fragmentos posibles. Cada uno se asocia al bean del DataSource correspondiente -- cuencaDataSource o quitoDataSource -- que veremos en la siguiente diapositiva. El metodo clave es resolverPorNumeroCuenta. Recibe un numero de cuenta y devuelve el Fragmento donde reside. La estrategia de enrutamiento es por prefijo: las cuentas que empiezan en 22 son de Cuenca, las que empiezan en 17 son de Quito. Esto es una convencion del Banco que coincide con los codigos de provincia del Ecuador. Usamos switch expression con flecha -- la sintaxis moderna de Java introducida formalmente en Java 14. Es mas compacta que el switch clasico y, sobre todo, es una expresion que retorna valor, no un statement. El uso de Optional como tipo de retorno es deliberado: si la cuenta no es enrutable -- por ejemplo, el prefijo es 99 que no esta registrado -- el metodo devuelve Optional empty. El llamador debe manejar este caso explicitamente, lo que evita NullPointerExceptions. Esto es un catalogo muy simple en proposito didactico. En produccion el catalogo viviria en una tabla de PostgreSQL replicada, o en etcd o ZooKeeper, y se actualizaria dinamicamente cuando se anaden o quitan fragmentos. Pero el patron es el mismo: el catalogo dice donde esta el dato, y el servicio enruta segun el catalogo.</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codigo mas critico del ejercicio: la transferencia cross-site con 2PC manual. Quiero que sigan la logica paso a paso, porque es exactamente el protocolo Two-Phase Commit traducido a JDBC. Primero ponemos las dos conexiones en setAutoCommit false. Esto es esencial: queremos controlar manualmente cuando se confirma cada cambio. Si dejamos auto-commit on, cada UPDATE se confirma inmediatamente y perdemos atomicidad. Fase 1, preparacion: intentamos debitar el origen. Si falla -- por saldo insuficiente, por ejemplo --, hacemos rollback en ambas conexiones y devolvemos ABORT al cliente. Si el debito funciona, intentamos acreditar el destino. Si falla -- por cuenta inexistente --, rollback en ambas y ABORT. Si ambas operaciones funcionaron, registramos la transaccion en el log de la cuenta origen. Fase 2, commit: ambas conexiones confirman. Aqui hay un detalle importante: en una implementacion real de 2PC con XA o JTA, las dos confirmaciones serian coordinadas por un transaction manager con su propio log. En esta version simplificada, si la primera commit funciona pero la segunda falla -- por crash de red en el ultimo instante --, podriamos tener inconsistencia. Por eso en la diapositiva del documento LaTeX hay una nota didactica explicita: esto es para entender el patron, no para produccion. Para produccion usan JTA con Atomikos, Bitronix o Narayana, que implementan XA correctamente. Lo que SI demuestra correctamente este ejercicio es el flujo conceptual del 2PC: preparar todos, decidir, ejecutar la decision, y rollback ante cualquier falla en la preparacion. Esto es lo que evaluo en el PE-U3.</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paso final es exponer la funcionalidad por una API REST y probarla. A la izquierda los cuatro endpoints. El GET de saldo demuestra el enrutamiento por catalogo: ustedes pasan el numero de cuenta y el sistema dirige la consulta al nodo correcto sin que el cliente sepa nada. Esa es la transparencia de fragmentacion en accion. El GET de clientes muestra la union distribuida: el servicio consulta ambos nodos, combina los resultados y los devuelve ordenados. Esa es la transparencia de ubicacion. El POST de transferencia es donde se ve el 2PC manual que vimos en la diapositiva anterior. A la derecha los comandos para ejecutar todo, en el orden correcto. Paso 1, levantar Docker. Paso 2, verificar que los healthchecks pasen. Paso 3, lanzar Spring Boot con maven wrapper. Paso 4, probar consultas locales. Paso 5, hacer una transferencia. Pero el paso mas instructivo es el 6: detener uno de los contenedores y repetir la transferencia. El sistema debe responder ABORT con un mensaje claro, y los saldos en el nodo superviviente deben permanecer inalterados gracias al rollback. Esto demuestra dos cosas: que el rollback funciona correctamente, y que la autonomia local se preserva -- las operaciones que no cruzan al nodo caido siguen funcionando. En el examen practico EV-PR-U3 voy a pedir exactamente este escenario: levantar el cluster, hacer transferencias, simular fallas, demostrar que el sistema se comporta correctamente. Si su implementacion no maneja la falla, pierden el criterio completo.</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Despues de ejecutar todos los pasos, ustedes pueden validar cuatro comportamientos clave que demuestran los conceptos teoricos de las unidades. Primero, la transparencia de fragmentacion: el cliente no tiene idea de que la BDD esta fragmentada. Hace su GET y recibe respuesta. Segundo, la transparencia de ubicacion: las consultas de clientes piden datos de Cuenca y Quito simultaneamente, los reciben combinados y ordenados. Tercero, la atomicidad: las transferencias o se completan en ambos lados o se cancelan en ambos. Nunca queda media transferencia. Cuarto, la autonomia local: cuando Quito cae, Cuenca sigue funcionando para sus operaciones internas. Solo las transferencias cross-site se bloquean. Estos cuatro comportamientos no son cosmeticos: son las propiedades fundamentales que ofrece un SGBDD bien diseno. Si su implementacion no las exhibe, hay un error de diseno. A la derecha tienen el reto de extension, que es lo que vamos a desarrollar en la Guia GA-SUM-03 de la semana once. La idea es tomar este mismo ejercicio y migrarlo a un cluster CockroachDB de tres nodos. Las diferencias son sustanciales y muy educativas. En PostgreSQL tuvimos que implementar el catalogo manualmente; en CockroachDB es automatico via ranges. En PostgreSQL la replicacion sincrona se configura por separado; en CockroachDB es nativa con Raft. Lo mas interesante es que su codigo Java -- conectores JDBC, queries SQL -- no cambia. La aplicacion no sabe que paso de PostgreSQL a CockroachDB. Esa es la potencia del estandar SQL. Para los equipos AGLS, BCEL, FUVV y ACC, el reto CockroachDB es la base de la entrega PFC Entrega 3. Empiezen a planificar.</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Cerramos con cinco ideas que quiero que se lleven, no solo para el examen sino para su vida profesional. Primera idea: las BDD son cambio de paradigma. Cuando ustedes empiecen a disenar sistemas distribuidos en la industria, deben tener interiorizado que las garantias no son gratuitas y que el teorema CAP esta siempre operando. Segunda idea: tres decisiones estrategicas iniciales. Cualquier sistema distribuido que disenen debe declarar explicitamente su arquitectura, su esquema de distribucion y su modelo de consistencia. Si no lo declaran, lo estan decidiendo por omision y casi siempre mal. Tercera idea: conocer los protocolos. 2PL, 2PC, MVCC, Raft. No son nombres exoticos: son la maquinaria que hace funcionar a sus sistemas. Cuando algo falla en produccion, esos nombres aparecen en los logs y deben saber leerlos. Cuarta idea: la teoria se materializa. El ejercicio del Banco del Austro demostro que con Java, Docker y PostgreSQL se construye una BDD funcional con todas las propiedades teoricas. No es magia ni alquimia: es ingenieria. Quinta idea: eleccion tecnologica con consciencia. No hay sistema universalmente superior. Spanner es brillante para banca global pero exagerado para una startup. Cassandra es perfecta para IoT pero inutil para banca. Conozcan los seis sistemas que vimos y sepan elegir. En sus PFC voy a evaluar precisamente estas cinco capacidades. No solo si su solucion funciona, sino si pueden articular por que decidieron como decidieron.</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Cerramos la sesion con las referencias clave del modulo. Todas estan verificadas y todas tienen DOI o ISBN registrado. Las dos primeras son los textos canonicos: Ozsu y Valduriez para la cobertura formal de los principios, Kleppmann para la perspectiva industrial moderna. Si solo pueden leer un libro de esta lista, es Kleppmann. Es excepcional. Las dos siguientes son los articulos seminales sobre CAP y PACELC. Brevisimos -- siete paginas cada uno -- y absolutamente fundamentales. Leanlos. El articulo de Ongaro y Ousterhout sobre Raft es la base de todos los sistemas modernos de consenso. Es tecnico pero claro; ustedes pueden entenderlo. Y van Steen Tanenbaum es la referencia general de sistemas distribuidos, que ya conocen desde la unidad uno. Para el examen practico EV-PR-U3 voy a evaluar tanto el dominio conceptual de esta unidad como la capacidad de implementacion del Banco del Austro. El material complementario que tienen disponible incluye un documento LaTeX integral de treinta y cuatro paginas con todo lo que vimos en estas diapositivas mas el codigo completo del ejercicio practico, la guia GA-SUM-03 para extender a CockroachDB, y el material adicional que les he subido al LMS. Quedo abierto para preguntas y discusion. Tenemos los temas mas dificiles del semestre adelante, asi que aprovechen este momento para aclarar cualquier duda. Muchas gracias.</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3F7E"/>
        </a:solidFill>
        <a:effectLst/>
      </p:bgPr>
    </p:bg>
    <p:spTree>
      <p:nvGrpSpPr>
        <p:cNvPr id="1" name=""/>
        <p:cNvGrpSpPr/>
        <p:nvPr/>
      </p:nvGrpSpPr>
      <p:grpSpPr>
        <a:xfrm>
          <a:off x="0" y="0"/>
          <a:ext cx="0" cy="0"/>
          <a:chOff x="0" y="0"/>
          <a:chExt cx="0" cy="0"/>
        </a:xfrm>
      </p:grpSpPr>
      <p:sp>
        <p:nvSpPr>
          <p:cNvPr id="2" name="Shape 0"/>
          <p:cNvSpPr/>
          <p:nvPr/>
        </p:nvSpPr>
        <p:spPr>
          <a:xfrm>
            <a:off x="8686800" y="-1828800"/>
            <a:ext cx="5486400" cy="5486400"/>
          </a:xfrm>
          <a:prstGeom prst="ellipse">
            <a:avLst/>
          </a:prstGeom>
          <a:solidFill>
            <a:srgbClr val="1E5AA8">
              <a:alpha val="70000"/>
            </a:srgbClr>
          </a:solidFill>
          <a:ln/>
        </p:spPr>
        <p:txBody>
          <a:bodyPr/>
          <a:lstStyle/>
          <a:p>
            <a:endParaRPr lang="es-US"/>
          </a:p>
        </p:txBody>
      </p:sp>
      <p:sp>
        <p:nvSpPr>
          <p:cNvPr id="3" name="Shape 1"/>
          <p:cNvSpPr/>
          <p:nvPr/>
        </p:nvSpPr>
        <p:spPr>
          <a:xfrm>
            <a:off x="10058400" y="3657600"/>
            <a:ext cx="4114800" cy="4114800"/>
          </a:xfrm>
          <a:prstGeom prst="ellipse">
            <a:avLst/>
          </a:prstGeom>
          <a:solidFill>
            <a:srgbClr val="2E86A1">
              <a:alpha val="60000"/>
            </a:srgbClr>
          </a:solidFill>
          <a:ln/>
        </p:spPr>
        <p:txBody>
          <a:bodyPr/>
          <a:lstStyle/>
          <a:p>
            <a:endParaRPr lang="es-US"/>
          </a:p>
        </p:txBody>
      </p:sp>
      <p:sp>
        <p:nvSpPr>
          <p:cNvPr id="4" name="Text 2"/>
          <p:cNvSpPr/>
          <p:nvPr/>
        </p:nvSpPr>
        <p:spPr>
          <a:xfrm>
            <a:off x="548640" y="548640"/>
            <a:ext cx="7315200" cy="365760"/>
          </a:xfrm>
          <a:prstGeom prst="rect">
            <a:avLst/>
          </a:prstGeom>
          <a:noFill/>
          <a:ln/>
        </p:spPr>
        <p:txBody>
          <a:bodyPr wrap="square" rtlCol="0" anchor="ctr"/>
          <a:lstStyle/>
          <a:p>
            <a:pPr marL="0" indent="0">
              <a:buNone/>
            </a:pPr>
            <a:r>
              <a:rPr lang="en-US" sz="1400" b="1" kern="0" spc="300" dirty="0">
                <a:solidFill>
                  <a:srgbClr val="FFFFFF"/>
                </a:solidFill>
                <a:latin typeface="Calibri" pitchFamily="34" charset="0"/>
                <a:ea typeface="Calibri" pitchFamily="34" charset="-122"/>
                <a:cs typeface="Calibri" pitchFamily="34" charset="-120"/>
              </a:rPr>
              <a:t>UNIVERSIDAD TECNICA ESTATAL DE QUEVEDO</a:t>
            </a:r>
            <a:endParaRPr lang="en-US" sz="1400" dirty="0"/>
          </a:p>
        </p:txBody>
      </p:sp>
      <p:sp>
        <p:nvSpPr>
          <p:cNvPr id="5" name="Text 3"/>
          <p:cNvSpPr/>
          <p:nvPr/>
        </p:nvSpPr>
        <p:spPr>
          <a:xfrm>
            <a:off x="548640" y="914400"/>
            <a:ext cx="7315200" cy="274320"/>
          </a:xfrm>
          <a:prstGeom prst="rect">
            <a:avLst/>
          </a:prstGeom>
          <a:noFill/>
          <a:ln/>
        </p:spPr>
        <p:txBody>
          <a:bodyPr wrap="square" rtlCol="0" anchor="ctr"/>
          <a:lstStyle/>
          <a:p>
            <a:pPr marL="0" indent="0">
              <a:buNone/>
            </a:pPr>
            <a:r>
              <a:rPr lang="en-US" sz="1200" dirty="0">
                <a:solidFill>
                  <a:srgbClr val="EAF1FB"/>
                </a:solidFill>
                <a:latin typeface="Calibri" pitchFamily="34" charset="0"/>
                <a:ea typeface="Calibri" pitchFamily="34" charset="-122"/>
                <a:cs typeface="Calibri" pitchFamily="34" charset="-120"/>
              </a:rPr>
              <a:t>Facultad de Ciencias de la Computacion y Diseno Digital</a:t>
            </a:r>
            <a:endParaRPr lang="en-US" sz="1200" dirty="0"/>
          </a:p>
        </p:txBody>
      </p:sp>
      <p:sp>
        <p:nvSpPr>
          <p:cNvPr id="6" name="Text 4"/>
          <p:cNvSpPr/>
          <p:nvPr/>
        </p:nvSpPr>
        <p:spPr>
          <a:xfrm>
            <a:off x="548640" y="1828800"/>
            <a:ext cx="8229600" cy="2011680"/>
          </a:xfrm>
          <a:prstGeom prst="rect">
            <a:avLst/>
          </a:prstGeom>
          <a:noFill/>
          <a:ln/>
        </p:spPr>
        <p:txBody>
          <a:bodyPr wrap="square" rtlCol="0" anchor="ctr"/>
          <a:lstStyle/>
          <a:p>
            <a:pPr marL="0" indent="0">
              <a:buNone/>
            </a:pPr>
            <a:r>
              <a:rPr lang="en-US" sz="5600" b="1" dirty="0">
                <a:solidFill>
                  <a:srgbClr val="FFFFFF"/>
                </a:solidFill>
                <a:latin typeface="Cambria" pitchFamily="34" charset="0"/>
                <a:ea typeface="Cambria" pitchFamily="34" charset="-122"/>
                <a:cs typeface="Cambria" pitchFamily="34" charset="-120"/>
              </a:rPr>
              <a:t>BASES DE DATOS</a:t>
            </a:r>
            <a:endParaRPr lang="en-US" sz="5600" dirty="0"/>
          </a:p>
          <a:p>
            <a:pPr marL="0" indent="0">
              <a:buNone/>
            </a:pPr>
            <a:r>
              <a:rPr lang="en-US" sz="5600" b="1" dirty="0">
                <a:solidFill>
                  <a:srgbClr val="FFFFFF"/>
                </a:solidFill>
                <a:latin typeface="Cambria" pitchFamily="34" charset="0"/>
                <a:ea typeface="Cambria" pitchFamily="34" charset="-122"/>
                <a:cs typeface="Cambria" pitchFamily="34" charset="-120"/>
              </a:rPr>
              <a:t>DISTRIBUIDAS</a:t>
            </a:r>
            <a:endParaRPr lang="en-US" sz="5600" dirty="0"/>
          </a:p>
        </p:txBody>
      </p:sp>
      <p:sp>
        <p:nvSpPr>
          <p:cNvPr id="7" name="Text 5"/>
          <p:cNvSpPr/>
          <p:nvPr/>
        </p:nvSpPr>
        <p:spPr>
          <a:xfrm>
            <a:off x="548640" y="3931920"/>
            <a:ext cx="8229600" cy="457200"/>
          </a:xfrm>
          <a:prstGeom prst="rect">
            <a:avLst/>
          </a:prstGeom>
          <a:noFill/>
          <a:ln/>
        </p:spPr>
        <p:txBody>
          <a:bodyPr wrap="square" rtlCol="0" anchor="ctr"/>
          <a:lstStyle/>
          <a:p>
            <a:pPr marL="0" indent="0">
              <a:buNone/>
            </a:pPr>
            <a:r>
              <a:rPr lang="en-US" sz="2000" i="1" dirty="0">
                <a:solidFill>
                  <a:srgbClr val="F2A413"/>
                </a:solidFill>
                <a:latin typeface="Calibri" pitchFamily="34" charset="0"/>
                <a:ea typeface="Calibri" pitchFamily="34" charset="-122"/>
                <a:cs typeface="Calibri" pitchFamily="34" charset="-120"/>
              </a:rPr>
              <a:t>Unidad 3 -- Aplicaciones Distribuidas (ISR-701)</a:t>
            </a:r>
            <a:endParaRPr lang="en-US" sz="2000" dirty="0"/>
          </a:p>
        </p:txBody>
      </p:sp>
      <p:sp>
        <p:nvSpPr>
          <p:cNvPr id="8" name="Text 6"/>
          <p:cNvSpPr/>
          <p:nvPr/>
        </p:nvSpPr>
        <p:spPr>
          <a:xfrm>
            <a:off x="548640" y="4754880"/>
            <a:ext cx="8229600" cy="128016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Septimo nivel  |  Carrera de Ingenieria de Software</a:t>
            </a:r>
            <a:endParaRPr lang="en-US" sz="1400" dirty="0"/>
          </a:p>
          <a:p>
            <a:pPr marL="0" indent="0">
              <a:buNone/>
            </a:pPr>
            <a:r>
              <a:rPr lang="en-US" sz="1400" dirty="0">
                <a:solidFill>
                  <a:srgbClr val="FFFFFF"/>
                </a:solidFill>
                <a:latin typeface="Calibri" pitchFamily="34" charset="0"/>
                <a:ea typeface="Calibri" pitchFamily="34" charset="-122"/>
                <a:cs typeface="Calibri" pitchFamily="34" charset="-120"/>
              </a:rPr>
              <a:t>Periodo Academico 2026 - 2027</a:t>
            </a:r>
            <a:endParaRPr lang="en-US" sz="1400" dirty="0"/>
          </a:p>
          <a:p>
            <a:pPr marL="0" indent="0">
              <a:buNone/>
            </a:pPr>
            <a:r>
              <a:rPr lang="en-US" sz="1300" dirty="0">
                <a:solidFill>
                  <a:srgbClr val="EAF1FB"/>
                </a:solidFill>
                <a:latin typeface="Calibri" pitchFamily="34" charset="0"/>
                <a:ea typeface="Calibri" pitchFamily="34" charset="-122"/>
                <a:cs typeface="Calibri" pitchFamily="34" charset="-120"/>
              </a:rPr>
              <a:t>Docente: Ph.D. Gleiston C. Guerrero-Ulloa</a:t>
            </a:r>
            <a:endParaRPr lang="en-US" sz="1400" dirty="0"/>
          </a:p>
        </p:txBody>
      </p:sp>
      <p:sp>
        <p:nvSpPr>
          <p:cNvPr id="9" name="Text 7"/>
          <p:cNvSpPr/>
          <p:nvPr/>
        </p:nvSpPr>
        <p:spPr>
          <a:xfrm>
            <a:off x="548640" y="6400800"/>
            <a:ext cx="8229600" cy="274320"/>
          </a:xfrm>
          <a:prstGeom prst="rect">
            <a:avLst/>
          </a:prstGeom>
          <a:noFill/>
          <a:ln/>
        </p:spPr>
        <p:txBody>
          <a:bodyPr wrap="square" rtlCol="0" anchor="ctr"/>
          <a:lstStyle/>
          <a:p>
            <a:pPr marL="0" indent="0">
              <a:buNone/>
            </a:pPr>
            <a:r>
              <a:rPr lang="en-US" sz="1000" i="1" dirty="0">
                <a:solidFill>
                  <a:srgbClr val="EAF1FB"/>
                </a:solidFill>
                <a:latin typeface="Calibri" pitchFamily="34" charset="0"/>
                <a:ea typeface="Calibri" pitchFamily="34" charset="-122"/>
                <a:cs typeface="Calibri" pitchFamily="34" charset="-120"/>
              </a:rPr>
              <a:t>Quevedo - Ecuador | Junio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marL="0" indent="0">
              <a:buNone/>
            </a:pPr>
            <a:r>
              <a:rPr lang="en-US" sz="2800" b="1" dirty="0">
                <a:solidFill>
                  <a:srgbClr val="0E3F7E"/>
                </a:solidFill>
                <a:latin typeface="Calibri" pitchFamily="34" charset="0"/>
                <a:ea typeface="Calibri" pitchFamily="34" charset="-122"/>
                <a:cs typeface="Calibri" pitchFamily="34" charset="-120"/>
              </a:rPr>
              <a:t>Hoja de ruta de la Unidad 3</a:t>
            </a:r>
            <a:endParaRPr lang="en-US" sz="2800" dirty="0"/>
          </a:p>
        </p:txBody>
      </p:sp>
      <p:sp>
        <p:nvSpPr>
          <p:cNvPr id="3" name="Text 1"/>
          <p:cNvSpPr/>
          <p:nvPr/>
        </p:nvSpPr>
        <p:spPr>
          <a:xfrm>
            <a:off x="457200" y="777240"/>
            <a:ext cx="11247120" cy="320040"/>
          </a:xfrm>
          <a:prstGeom prst="rect">
            <a:avLst/>
          </a:prstGeom>
          <a:noFill/>
          <a:ln/>
        </p:spPr>
        <p:txBody>
          <a:bodyPr wrap="square" lIns="0" tIns="0" rIns="0" bIns="0" rtlCol="0" anchor="ctr"/>
          <a:lstStyle/>
          <a:p>
            <a:pPr marL="0" indent="0">
              <a:buNone/>
            </a:pPr>
            <a:r>
              <a:rPr lang="en-US" sz="1400" i="1" dirty="0">
                <a:solidFill>
                  <a:srgbClr val="2E86A1"/>
                </a:solidFill>
                <a:latin typeface="Calibri" pitchFamily="34" charset="0"/>
                <a:ea typeface="Calibri" pitchFamily="34" charset="-122"/>
                <a:cs typeface="Calibri" pitchFamily="34" charset="-120"/>
              </a:rPr>
              <a:t>Tres semanas, tres bloques tematicos</a:t>
            </a:r>
            <a:endParaRPr lang="en-US" sz="1400" dirty="0"/>
          </a:p>
        </p:txBody>
      </p:sp>
      <p:sp>
        <p:nvSpPr>
          <p:cNvPr id="4" name="Shape 2"/>
          <p:cNvSpPr/>
          <p:nvPr/>
        </p:nvSpPr>
        <p:spPr>
          <a:xfrm>
            <a:off x="365760" y="1371600"/>
            <a:ext cx="3657600" cy="4937760"/>
          </a:xfrm>
          <a:prstGeom prst="roundRect">
            <a:avLst>
              <a:gd name="adj" fmla="val 2000"/>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5" name="Shape 3"/>
          <p:cNvSpPr/>
          <p:nvPr/>
        </p:nvSpPr>
        <p:spPr>
          <a:xfrm>
            <a:off x="365760" y="1371600"/>
            <a:ext cx="3657600" cy="640080"/>
          </a:xfrm>
          <a:prstGeom prst="roundRect">
            <a:avLst>
              <a:gd name="adj" fmla="val 11429"/>
            </a:avLst>
          </a:prstGeom>
          <a:solidFill>
            <a:srgbClr val="0E3F7E"/>
          </a:solidFill>
          <a:ln/>
        </p:spPr>
        <p:txBody>
          <a:bodyPr/>
          <a:lstStyle/>
          <a:p>
            <a:endParaRPr lang="es-US"/>
          </a:p>
        </p:txBody>
      </p:sp>
      <p:sp>
        <p:nvSpPr>
          <p:cNvPr id="6" name="Text 4"/>
          <p:cNvSpPr/>
          <p:nvPr/>
        </p:nvSpPr>
        <p:spPr>
          <a:xfrm>
            <a:off x="365760" y="1417320"/>
            <a:ext cx="36576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Semana 9</a:t>
            </a:r>
            <a:endParaRPr lang="en-US" sz="1400" dirty="0"/>
          </a:p>
        </p:txBody>
      </p:sp>
      <p:sp>
        <p:nvSpPr>
          <p:cNvPr id="7" name="Text 5"/>
          <p:cNvSpPr/>
          <p:nvPr/>
        </p:nvSpPr>
        <p:spPr>
          <a:xfrm>
            <a:off x="365760" y="1755648"/>
            <a:ext cx="3657600" cy="274320"/>
          </a:xfrm>
          <a:prstGeom prst="rect">
            <a:avLst/>
          </a:prstGeom>
          <a:noFill/>
          <a:ln/>
        </p:spPr>
        <p:txBody>
          <a:bodyPr wrap="square" lIns="0" tIns="0" rIns="0" bIns="0" rtlCol="0" anchor="ctr"/>
          <a:lstStyle/>
          <a:p>
            <a:pPr marL="0" indent="0" algn="ctr">
              <a:buNone/>
            </a:pPr>
            <a:r>
              <a:rPr lang="en-US" sz="1100" i="1" dirty="0">
                <a:solidFill>
                  <a:srgbClr val="FFFFFF"/>
                </a:solidFill>
                <a:latin typeface="Calibri" pitchFamily="34" charset="0"/>
                <a:ea typeface="Calibri" pitchFamily="34" charset="-122"/>
                <a:cs typeface="Calibri" pitchFamily="34" charset="-120"/>
              </a:rPr>
              <a:t>Fundamentos</a:t>
            </a:r>
            <a:endParaRPr lang="en-US" sz="1100" dirty="0"/>
          </a:p>
        </p:txBody>
      </p:sp>
      <p:sp>
        <p:nvSpPr>
          <p:cNvPr id="8" name="Text 6"/>
          <p:cNvSpPr/>
          <p:nvPr/>
        </p:nvSpPr>
        <p:spPr>
          <a:xfrm>
            <a:off x="594360" y="2194560"/>
            <a:ext cx="3200400" cy="3931920"/>
          </a:xfrm>
          <a:prstGeom prst="rect">
            <a:avLst/>
          </a:prstGeom>
          <a:noFill/>
          <a:ln/>
        </p:spPr>
        <p:txBody>
          <a:bodyPr wrap="square" rtlCol="0" anchor="ctr"/>
          <a:lstStyle/>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Definicion y conceptos</a:t>
            </a:r>
            <a:endParaRPr lang="en-US" sz="1300" dirty="0"/>
          </a:p>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Caracteristicas</a:t>
            </a:r>
            <a:endParaRPr lang="en-US" sz="1300" dirty="0"/>
          </a:p>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Las 12 reglas de Date</a:t>
            </a:r>
            <a:endParaRPr lang="en-US" sz="1300" dirty="0"/>
          </a:p>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Arquitecturas y transparencias</a:t>
            </a:r>
            <a:endParaRPr lang="en-US" sz="1300" dirty="0"/>
          </a:p>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CAP aplicado a BDD</a:t>
            </a:r>
            <a:endParaRPr lang="en-US" sz="1300" dirty="0"/>
          </a:p>
        </p:txBody>
      </p:sp>
      <p:sp>
        <p:nvSpPr>
          <p:cNvPr id="9" name="Shape 7"/>
          <p:cNvSpPr/>
          <p:nvPr/>
        </p:nvSpPr>
        <p:spPr>
          <a:xfrm>
            <a:off x="4251960" y="1371600"/>
            <a:ext cx="3657600" cy="4937760"/>
          </a:xfrm>
          <a:prstGeom prst="roundRect">
            <a:avLst>
              <a:gd name="adj" fmla="val 2000"/>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10" name="Shape 8"/>
          <p:cNvSpPr/>
          <p:nvPr/>
        </p:nvSpPr>
        <p:spPr>
          <a:xfrm>
            <a:off x="4251960" y="1371600"/>
            <a:ext cx="3657600" cy="640080"/>
          </a:xfrm>
          <a:prstGeom prst="roundRect">
            <a:avLst>
              <a:gd name="adj" fmla="val 11429"/>
            </a:avLst>
          </a:prstGeom>
          <a:solidFill>
            <a:srgbClr val="2E86A1"/>
          </a:solidFill>
          <a:ln/>
        </p:spPr>
        <p:txBody>
          <a:bodyPr/>
          <a:lstStyle/>
          <a:p>
            <a:endParaRPr lang="es-US"/>
          </a:p>
        </p:txBody>
      </p:sp>
      <p:sp>
        <p:nvSpPr>
          <p:cNvPr id="11" name="Text 9"/>
          <p:cNvSpPr/>
          <p:nvPr/>
        </p:nvSpPr>
        <p:spPr>
          <a:xfrm>
            <a:off x="4251960" y="1417320"/>
            <a:ext cx="36576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Semana 10</a:t>
            </a:r>
            <a:endParaRPr lang="en-US" sz="1400" dirty="0"/>
          </a:p>
        </p:txBody>
      </p:sp>
      <p:sp>
        <p:nvSpPr>
          <p:cNvPr id="12" name="Text 10"/>
          <p:cNvSpPr/>
          <p:nvPr/>
        </p:nvSpPr>
        <p:spPr>
          <a:xfrm>
            <a:off x="4251960" y="1755648"/>
            <a:ext cx="3657600" cy="274320"/>
          </a:xfrm>
          <a:prstGeom prst="rect">
            <a:avLst/>
          </a:prstGeom>
          <a:noFill/>
          <a:ln/>
        </p:spPr>
        <p:txBody>
          <a:bodyPr wrap="square" lIns="0" tIns="0" rIns="0" bIns="0" rtlCol="0" anchor="ctr"/>
          <a:lstStyle/>
          <a:p>
            <a:pPr marL="0" indent="0" algn="ctr">
              <a:buNone/>
            </a:pPr>
            <a:r>
              <a:rPr lang="en-US" sz="1100" i="1" dirty="0">
                <a:solidFill>
                  <a:srgbClr val="FFFFFF"/>
                </a:solidFill>
                <a:latin typeface="Calibri" pitchFamily="34" charset="0"/>
                <a:ea typeface="Calibri" pitchFamily="34" charset="-122"/>
                <a:cs typeface="Calibri" pitchFamily="34" charset="-120"/>
              </a:rPr>
              <a:t>Diseno fisico</a:t>
            </a:r>
            <a:endParaRPr lang="en-US" sz="1100" dirty="0"/>
          </a:p>
        </p:txBody>
      </p:sp>
      <p:sp>
        <p:nvSpPr>
          <p:cNvPr id="13" name="Text 11"/>
          <p:cNvSpPr/>
          <p:nvPr/>
        </p:nvSpPr>
        <p:spPr>
          <a:xfrm>
            <a:off x="4480560" y="2194560"/>
            <a:ext cx="3200400" cy="3931920"/>
          </a:xfrm>
          <a:prstGeom prst="rect">
            <a:avLst/>
          </a:prstGeom>
          <a:noFill/>
          <a:ln/>
        </p:spPr>
        <p:txBody>
          <a:bodyPr wrap="square" rtlCol="0" anchor="ctr"/>
          <a:lstStyle/>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Fragmentacion H, V, mixta</a:t>
            </a:r>
            <a:endParaRPr lang="en-US" sz="1300" dirty="0"/>
          </a:p>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Algebra relacional formal</a:t>
            </a:r>
            <a:endParaRPr lang="en-US" sz="1300" dirty="0"/>
          </a:p>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Replicacion sincrona / asincrona</a:t>
            </a:r>
            <a:endParaRPr lang="en-US" sz="1300" dirty="0"/>
          </a:p>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Modelos de escritura</a:t>
            </a:r>
            <a:endParaRPr lang="en-US" sz="1300" dirty="0"/>
          </a:p>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Catalogo distribuido</a:t>
            </a:r>
            <a:endParaRPr lang="en-US" sz="1300" dirty="0"/>
          </a:p>
        </p:txBody>
      </p:sp>
      <p:sp>
        <p:nvSpPr>
          <p:cNvPr id="14" name="Shape 12"/>
          <p:cNvSpPr/>
          <p:nvPr/>
        </p:nvSpPr>
        <p:spPr>
          <a:xfrm>
            <a:off x="8138160" y="1371600"/>
            <a:ext cx="3657600" cy="4937760"/>
          </a:xfrm>
          <a:prstGeom prst="roundRect">
            <a:avLst>
              <a:gd name="adj" fmla="val 2000"/>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15" name="Shape 13"/>
          <p:cNvSpPr/>
          <p:nvPr/>
        </p:nvSpPr>
        <p:spPr>
          <a:xfrm>
            <a:off x="8138160" y="1371600"/>
            <a:ext cx="3657600" cy="640080"/>
          </a:xfrm>
          <a:prstGeom prst="roundRect">
            <a:avLst>
              <a:gd name="adj" fmla="val 11429"/>
            </a:avLst>
          </a:prstGeom>
          <a:solidFill>
            <a:srgbClr val="4FAE60"/>
          </a:solidFill>
          <a:ln/>
        </p:spPr>
        <p:txBody>
          <a:bodyPr/>
          <a:lstStyle/>
          <a:p>
            <a:endParaRPr lang="es-US"/>
          </a:p>
        </p:txBody>
      </p:sp>
      <p:sp>
        <p:nvSpPr>
          <p:cNvPr id="16" name="Text 14"/>
          <p:cNvSpPr/>
          <p:nvPr/>
        </p:nvSpPr>
        <p:spPr>
          <a:xfrm>
            <a:off x="8138160" y="1417320"/>
            <a:ext cx="36576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Semana 11</a:t>
            </a:r>
            <a:endParaRPr lang="en-US" sz="1400" dirty="0"/>
          </a:p>
        </p:txBody>
      </p:sp>
      <p:sp>
        <p:nvSpPr>
          <p:cNvPr id="17" name="Text 15"/>
          <p:cNvSpPr/>
          <p:nvPr/>
        </p:nvSpPr>
        <p:spPr>
          <a:xfrm>
            <a:off x="8138160" y="1755648"/>
            <a:ext cx="3657600" cy="274320"/>
          </a:xfrm>
          <a:prstGeom prst="rect">
            <a:avLst/>
          </a:prstGeom>
          <a:noFill/>
          <a:ln/>
        </p:spPr>
        <p:txBody>
          <a:bodyPr wrap="square" lIns="0" tIns="0" rIns="0" bIns="0" rtlCol="0" anchor="ctr"/>
          <a:lstStyle/>
          <a:p>
            <a:pPr marL="0" indent="0" algn="ctr">
              <a:buNone/>
            </a:pPr>
            <a:r>
              <a:rPr lang="en-US" sz="1100" i="1" dirty="0">
                <a:solidFill>
                  <a:srgbClr val="FFFFFF"/>
                </a:solidFill>
                <a:latin typeface="Calibri" pitchFamily="34" charset="0"/>
                <a:ea typeface="Calibri" pitchFamily="34" charset="-122"/>
                <a:cs typeface="Calibri" pitchFamily="34" charset="-120"/>
              </a:rPr>
              <a:t>Operacion y NoSQL</a:t>
            </a:r>
            <a:endParaRPr lang="en-US" sz="1100" dirty="0"/>
          </a:p>
        </p:txBody>
      </p:sp>
      <p:sp>
        <p:nvSpPr>
          <p:cNvPr id="18" name="Text 16"/>
          <p:cNvSpPr/>
          <p:nvPr/>
        </p:nvSpPr>
        <p:spPr>
          <a:xfrm>
            <a:off x="8366760" y="2194560"/>
            <a:ext cx="3200400" cy="3931920"/>
          </a:xfrm>
          <a:prstGeom prst="rect">
            <a:avLst/>
          </a:prstGeom>
          <a:noFill/>
          <a:ln/>
        </p:spPr>
        <p:txBody>
          <a:bodyPr wrap="square" rtlCol="0" anchor="ctr"/>
          <a:lstStyle/>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Transacciones distribuidas</a:t>
            </a:r>
            <a:endParaRPr lang="en-US" sz="1300" dirty="0"/>
          </a:p>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2PL, 2PC, 3PC</a:t>
            </a:r>
            <a:endParaRPr lang="en-US" sz="1300" dirty="0"/>
          </a:p>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Deadlock distribuido y MVCC</a:t>
            </a:r>
            <a:endParaRPr lang="en-US" sz="1300" dirty="0"/>
          </a:p>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PACELC y NoSQL</a:t>
            </a:r>
            <a:endParaRPr lang="en-US" sz="1300" dirty="0"/>
          </a:p>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Ejercicio practico Banco del Austro</a:t>
            </a:r>
            <a:endParaRPr lang="en-US" sz="1300" dirty="0"/>
          </a:p>
        </p:txBody>
      </p:sp>
      <p:sp>
        <p:nvSpPr>
          <p:cNvPr id="19" name="Text 17"/>
          <p:cNvSpPr/>
          <p:nvPr/>
        </p:nvSpPr>
        <p:spPr>
          <a:xfrm>
            <a:off x="457200" y="6492240"/>
            <a:ext cx="8229600" cy="274320"/>
          </a:xfrm>
          <a:prstGeom prst="rect">
            <a:avLst/>
          </a:prstGeom>
          <a:noFill/>
          <a:ln/>
        </p:spPr>
        <p:txBody>
          <a:bodyPr wrap="square" rtlCol="0" anchor="ctr"/>
          <a:lstStyle/>
          <a:p>
            <a:pPr marL="0" indent="0">
              <a:buNone/>
            </a:pPr>
            <a:r>
              <a:rPr lang="en-US" sz="900" dirty="0">
                <a:solidFill>
                  <a:srgbClr val="4A4A4A"/>
                </a:solidFill>
                <a:latin typeface="Calibri" pitchFamily="34" charset="0"/>
                <a:ea typeface="Calibri" pitchFamily="34" charset="-122"/>
                <a:cs typeface="Calibri" pitchFamily="34" charset="-120"/>
              </a:rPr>
              <a:t>UTEQ - Aplicaciones Distribuidas (ISR-701) - Unidad 3</a:t>
            </a:r>
            <a:endParaRPr lang="en-US" sz="900" dirty="0"/>
          </a:p>
        </p:txBody>
      </p:sp>
      <p:sp>
        <p:nvSpPr>
          <p:cNvPr id="20" name="Text 18"/>
          <p:cNvSpPr/>
          <p:nvPr/>
        </p:nvSpPr>
        <p:spPr>
          <a:xfrm>
            <a:off x="10789920" y="6492240"/>
            <a:ext cx="914400" cy="274320"/>
          </a:xfrm>
          <a:prstGeom prst="rect">
            <a:avLst/>
          </a:prstGeom>
          <a:noFill/>
          <a:ln/>
        </p:spPr>
        <p:txBody>
          <a:bodyPr wrap="square"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2 / 42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marL="0" indent="0">
              <a:buNone/>
            </a:pPr>
            <a:r>
              <a:rPr lang="en-US" sz="2800" b="1" dirty="0">
                <a:solidFill>
                  <a:srgbClr val="0E3F7E"/>
                </a:solidFill>
                <a:latin typeface="Calibri" pitchFamily="34" charset="0"/>
                <a:ea typeface="Calibri" pitchFamily="34" charset="-122"/>
                <a:cs typeface="Calibri" pitchFamily="34" charset="-120"/>
              </a:rPr>
              <a:t>Definicion formal de BDD</a:t>
            </a:r>
            <a:endParaRPr lang="en-US" sz="2800" dirty="0"/>
          </a:p>
        </p:txBody>
      </p:sp>
      <p:sp>
        <p:nvSpPr>
          <p:cNvPr id="3" name="Text 1"/>
          <p:cNvSpPr/>
          <p:nvPr/>
        </p:nvSpPr>
        <p:spPr>
          <a:xfrm>
            <a:off x="457200" y="777240"/>
            <a:ext cx="11247120" cy="320040"/>
          </a:xfrm>
          <a:prstGeom prst="rect">
            <a:avLst/>
          </a:prstGeom>
          <a:noFill/>
          <a:ln/>
        </p:spPr>
        <p:txBody>
          <a:bodyPr wrap="square" lIns="0" tIns="0" rIns="0" bIns="0" rtlCol="0" anchor="ctr"/>
          <a:lstStyle/>
          <a:p>
            <a:pPr marL="0" indent="0">
              <a:buNone/>
            </a:pPr>
            <a:r>
              <a:rPr lang="en-US" sz="1400" i="1" dirty="0">
                <a:solidFill>
                  <a:srgbClr val="2E86A1"/>
                </a:solidFill>
                <a:latin typeface="Calibri" pitchFamily="34" charset="0"/>
                <a:ea typeface="Calibri" pitchFamily="34" charset="-122"/>
                <a:cs typeface="Calibri" pitchFamily="34" charset="-120"/>
              </a:rPr>
              <a:t>Ozsu &amp; Valduriez, 2020</a:t>
            </a:r>
            <a:endParaRPr lang="en-US" sz="1400" dirty="0"/>
          </a:p>
        </p:txBody>
      </p:sp>
      <p:sp>
        <p:nvSpPr>
          <p:cNvPr id="4" name="Shape 2"/>
          <p:cNvSpPr/>
          <p:nvPr/>
        </p:nvSpPr>
        <p:spPr>
          <a:xfrm>
            <a:off x="548640" y="1371600"/>
            <a:ext cx="11064240" cy="2103120"/>
          </a:xfrm>
          <a:prstGeom prst="roundRect">
            <a:avLst>
              <a:gd name="adj" fmla="val 3478"/>
            </a:avLst>
          </a:prstGeom>
          <a:solidFill>
            <a:srgbClr val="EAF1FB"/>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5" name="Text 3"/>
          <p:cNvSpPr/>
          <p:nvPr/>
        </p:nvSpPr>
        <p:spPr>
          <a:xfrm>
            <a:off x="822960" y="1508760"/>
            <a:ext cx="2743200" cy="365760"/>
          </a:xfrm>
          <a:prstGeom prst="rect">
            <a:avLst/>
          </a:prstGeom>
          <a:noFill/>
          <a:ln/>
        </p:spPr>
        <p:txBody>
          <a:bodyPr wrap="square" lIns="0" tIns="0" rIns="0" bIns="0" rtlCol="0" anchor="ctr"/>
          <a:lstStyle/>
          <a:p>
            <a:pPr marL="0" indent="0">
              <a:buNone/>
            </a:pPr>
            <a:r>
              <a:rPr lang="en-US" sz="1400" b="1" dirty="0">
                <a:solidFill>
                  <a:srgbClr val="0E3F7E"/>
                </a:solidFill>
                <a:latin typeface="Calibri" pitchFamily="34" charset="0"/>
                <a:ea typeface="Calibri" pitchFamily="34" charset="-122"/>
                <a:cs typeface="Calibri" pitchFamily="34" charset="-120"/>
              </a:rPr>
              <a:t>Definicion</a:t>
            </a:r>
            <a:endParaRPr lang="en-US" sz="1400" dirty="0"/>
          </a:p>
        </p:txBody>
      </p:sp>
      <p:sp>
        <p:nvSpPr>
          <p:cNvPr id="6" name="Text 4"/>
          <p:cNvSpPr/>
          <p:nvPr/>
        </p:nvSpPr>
        <p:spPr>
          <a:xfrm>
            <a:off x="822960" y="1920240"/>
            <a:ext cx="10515600" cy="1463040"/>
          </a:xfrm>
          <a:prstGeom prst="rect">
            <a:avLst/>
          </a:prstGeom>
          <a:noFill/>
          <a:ln/>
        </p:spPr>
        <p:txBody>
          <a:bodyPr wrap="square" rtlCol="0" anchor="ctr"/>
          <a:lstStyle/>
          <a:p>
            <a:pPr marL="0" indent="0">
              <a:buNone/>
            </a:pPr>
            <a:r>
              <a:rPr lang="en-US" sz="1500" dirty="0">
                <a:solidFill>
                  <a:srgbClr val="1A1A1A"/>
                </a:solidFill>
                <a:latin typeface="Calibri" pitchFamily="34" charset="0"/>
                <a:ea typeface="Calibri" pitchFamily="34" charset="-122"/>
                <a:cs typeface="Calibri" pitchFamily="34" charset="-120"/>
              </a:rPr>
              <a:t>Una base de datos distribuida (BDD) es una coleccion de bases de datos multiples, logicamente interrelacionadas, distribuidas sobre una red de computadores. El Sistema de Gestion de Bases de Datos Distribuidas (SGBDD o DDBMS) es el software que gestiona la BDD y hace que la distribucion sea transparente para los usuarios.</a:t>
            </a:r>
            <a:endParaRPr lang="en-US" sz="1500" dirty="0"/>
          </a:p>
        </p:txBody>
      </p:sp>
      <p:sp>
        <p:nvSpPr>
          <p:cNvPr id="7" name="Shape 5"/>
          <p:cNvSpPr/>
          <p:nvPr/>
        </p:nvSpPr>
        <p:spPr>
          <a:xfrm>
            <a:off x="548640" y="3749040"/>
            <a:ext cx="5440680" cy="2468880"/>
          </a:xfrm>
          <a:prstGeom prst="roundRect">
            <a:avLst>
              <a:gd name="adj" fmla="val 2963"/>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8" name="Text 6"/>
          <p:cNvSpPr/>
          <p:nvPr/>
        </p:nvSpPr>
        <p:spPr>
          <a:xfrm>
            <a:off x="777240" y="3886200"/>
            <a:ext cx="5029200" cy="365760"/>
          </a:xfrm>
          <a:prstGeom prst="rect">
            <a:avLst/>
          </a:prstGeom>
          <a:noFill/>
          <a:ln/>
        </p:spPr>
        <p:txBody>
          <a:bodyPr wrap="square" rtlCol="0" anchor="ctr"/>
          <a:lstStyle/>
          <a:p>
            <a:pPr marL="0" indent="0">
              <a:buNone/>
            </a:pPr>
            <a:r>
              <a:rPr lang="en-US" sz="1600" b="1" dirty="0">
                <a:solidFill>
                  <a:srgbClr val="0E3F7E"/>
                </a:solidFill>
                <a:latin typeface="Calibri" pitchFamily="34" charset="0"/>
                <a:ea typeface="Calibri" pitchFamily="34" charset="-122"/>
                <a:cs typeface="Calibri" pitchFamily="34" charset="-120"/>
              </a:rPr>
              <a:t>Interrelacion logica</a:t>
            </a:r>
            <a:endParaRPr lang="en-US" sz="1600" dirty="0"/>
          </a:p>
        </p:txBody>
      </p:sp>
      <p:sp>
        <p:nvSpPr>
          <p:cNvPr id="9" name="Text 7"/>
          <p:cNvSpPr/>
          <p:nvPr/>
        </p:nvSpPr>
        <p:spPr>
          <a:xfrm>
            <a:off x="777240" y="4343400"/>
            <a:ext cx="5029200" cy="173736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Los datos en distintos sitios no son meramente coexistentes. Conforman un esquema global coherente con relaciones entre tablas, integridad referencial y semantica unificada.</a:t>
            </a:r>
            <a:endParaRPr lang="en-US" sz="1300" dirty="0"/>
          </a:p>
        </p:txBody>
      </p:sp>
      <p:sp>
        <p:nvSpPr>
          <p:cNvPr id="10" name="Shape 8"/>
          <p:cNvSpPr/>
          <p:nvPr/>
        </p:nvSpPr>
        <p:spPr>
          <a:xfrm>
            <a:off x="6172200" y="3749040"/>
            <a:ext cx="5440680" cy="2468880"/>
          </a:xfrm>
          <a:prstGeom prst="roundRect">
            <a:avLst>
              <a:gd name="adj" fmla="val 2963"/>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11" name="Text 9"/>
          <p:cNvSpPr/>
          <p:nvPr/>
        </p:nvSpPr>
        <p:spPr>
          <a:xfrm>
            <a:off x="6400800" y="3886200"/>
            <a:ext cx="5029200" cy="365760"/>
          </a:xfrm>
          <a:prstGeom prst="rect">
            <a:avLst/>
          </a:prstGeom>
          <a:noFill/>
          <a:ln/>
        </p:spPr>
        <p:txBody>
          <a:bodyPr wrap="square" rtlCol="0" anchor="ctr"/>
          <a:lstStyle/>
          <a:p>
            <a:pPr marL="0" indent="0">
              <a:buNone/>
            </a:pPr>
            <a:r>
              <a:rPr lang="en-US" sz="1600" b="1" dirty="0">
                <a:solidFill>
                  <a:srgbClr val="2E86A1"/>
                </a:solidFill>
                <a:latin typeface="Calibri" pitchFamily="34" charset="0"/>
                <a:ea typeface="Calibri" pitchFamily="34" charset="-122"/>
                <a:cs typeface="Calibri" pitchFamily="34" charset="-120"/>
              </a:rPr>
              <a:t>Transparencia de la distribucion</a:t>
            </a:r>
            <a:endParaRPr lang="en-US" sz="1600" dirty="0"/>
          </a:p>
        </p:txBody>
      </p:sp>
      <p:sp>
        <p:nvSpPr>
          <p:cNvPr id="12" name="Text 10"/>
          <p:cNvSpPr/>
          <p:nvPr/>
        </p:nvSpPr>
        <p:spPr>
          <a:xfrm>
            <a:off x="6400800" y="4343400"/>
            <a:ext cx="5029200" cy="173736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La complejidad de la ubicacion fisica, la fragmentacion y la replicacion queda oculta al usuario final y a las aplicaciones cliente. La BDD se percibe como una sola base de datos logica.</a:t>
            </a:r>
            <a:endParaRPr lang="en-US" sz="1300" dirty="0"/>
          </a:p>
        </p:txBody>
      </p:sp>
      <p:sp>
        <p:nvSpPr>
          <p:cNvPr id="13" name="Text 11"/>
          <p:cNvSpPr/>
          <p:nvPr/>
        </p:nvSpPr>
        <p:spPr>
          <a:xfrm>
            <a:off x="457200" y="6492240"/>
            <a:ext cx="8229600" cy="274320"/>
          </a:xfrm>
          <a:prstGeom prst="rect">
            <a:avLst/>
          </a:prstGeom>
          <a:noFill/>
          <a:ln/>
        </p:spPr>
        <p:txBody>
          <a:bodyPr wrap="square" rtlCol="0" anchor="ctr"/>
          <a:lstStyle/>
          <a:p>
            <a:pPr marL="0" indent="0">
              <a:buNone/>
            </a:pPr>
            <a:r>
              <a:rPr lang="en-US" sz="900" dirty="0">
                <a:solidFill>
                  <a:srgbClr val="4A4A4A"/>
                </a:solidFill>
                <a:latin typeface="Calibri" pitchFamily="34" charset="0"/>
                <a:ea typeface="Calibri" pitchFamily="34" charset="-122"/>
                <a:cs typeface="Calibri" pitchFamily="34" charset="-120"/>
              </a:rPr>
              <a:t>UTEQ - Aplicaciones Distribuidas (ISR-701) - Unidad 3</a:t>
            </a:r>
            <a:endParaRPr lang="en-US" sz="900" dirty="0"/>
          </a:p>
        </p:txBody>
      </p:sp>
      <p:sp>
        <p:nvSpPr>
          <p:cNvPr id="14" name="Text 12"/>
          <p:cNvSpPr/>
          <p:nvPr/>
        </p:nvSpPr>
        <p:spPr>
          <a:xfrm>
            <a:off x="10789920" y="6492240"/>
            <a:ext cx="914400" cy="274320"/>
          </a:xfrm>
          <a:prstGeom prst="rect">
            <a:avLst/>
          </a:prstGeom>
          <a:noFill/>
          <a:ln/>
        </p:spPr>
        <p:txBody>
          <a:bodyPr wrap="square"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3 / 42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marL="0" indent="0">
              <a:buNone/>
            </a:pPr>
            <a:r>
              <a:rPr lang="en-US" sz="2800" b="1" dirty="0">
                <a:solidFill>
                  <a:srgbClr val="0E3F7E"/>
                </a:solidFill>
                <a:latin typeface="Calibri" pitchFamily="34" charset="0"/>
                <a:ea typeface="Calibri" pitchFamily="34" charset="-122"/>
                <a:cs typeface="Calibri" pitchFamily="34" charset="-120"/>
              </a:rPr>
              <a:t>Que NO es una base de datos distribuida</a:t>
            </a:r>
            <a:endParaRPr lang="en-US" sz="2800" dirty="0"/>
          </a:p>
        </p:txBody>
      </p:sp>
      <p:sp>
        <p:nvSpPr>
          <p:cNvPr id="3" name="Text 1"/>
          <p:cNvSpPr/>
          <p:nvPr/>
        </p:nvSpPr>
        <p:spPr>
          <a:xfrm>
            <a:off x="457200" y="777240"/>
            <a:ext cx="11247120" cy="320040"/>
          </a:xfrm>
          <a:prstGeom prst="rect">
            <a:avLst/>
          </a:prstGeom>
          <a:noFill/>
          <a:ln/>
        </p:spPr>
        <p:txBody>
          <a:bodyPr wrap="square" lIns="0" tIns="0" rIns="0" bIns="0" rtlCol="0" anchor="ctr"/>
          <a:lstStyle/>
          <a:p>
            <a:pPr marL="0" indent="0">
              <a:buNone/>
            </a:pPr>
            <a:r>
              <a:rPr lang="en-US" sz="1400" i="1" dirty="0">
                <a:solidFill>
                  <a:srgbClr val="2E86A1"/>
                </a:solidFill>
                <a:latin typeface="Calibri" pitchFamily="34" charset="0"/>
                <a:ea typeface="Calibri" pitchFamily="34" charset="-122"/>
                <a:cs typeface="Calibri" pitchFamily="34" charset="-120"/>
              </a:rPr>
              <a:t>Diferenciacion conceptual</a:t>
            </a:r>
            <a:endParaRPr lang="en-US" sz="1400" dirty="0"/>
          </a:p>
        </p:txBody>
      </p:sp>
      <p:sp>
        <p:nvSpPr>
          <p:cNvPr id="4" name="Shape 2"/>
          <p:cNvSpPr/>
          <p:nvPr/>
        </p:nvSpPr>
        <p:spPr>
          <a:xfrm>
            <a:off x="457200" y="1463040"/>
            <a:ext cx="3657600" cy="3657600"/>
          </a:xfrm>
          <a:prstGeom prst="roundRect">
            <a:avLst>
              <a:gd name="adj" fmla="val 2000"/>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5" name="Shape 3"/>
          <p:cNvSpPr/>
          <p:nvPr/>
        </p:nvSpPr>
        <p:spPr>
          <a:xfrm>
            <a:off x="685800" y="1691640"/>
            <a:ext cx="640080" cy="640080"/>
          </a:xfrm>
          <a:prstGeom prst="ellipse">
            <a:avLst/>
          </a:prstGeom>
          <a:solidFill>
            <a:srgbClr val="F2A413"/>
          </a:solidFill>
          <a:ln/>
        </p:spPr>
        <p:txBody>
          <a:bodyPr/>
          <a:lstStyle/>
          <a:p>
            <a:endParaRPr lang="es-US"/>
          </a:p>
        </p:txBody>
      </p:sp>
      <p:sp>
        <p:nvSpPr>
          <p:cNvPr id="6" name="Text 4"/>
          <p:cNvSpPr/>
          <p:nvPr/>
        </p:nvSpPr>
        <p:spPr>
          <a:xfrm>
            <a:off x="685800" y="169164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7" name="Text 5"/>
          <p:cNvSpPr/>
          <p:nvPr/>
        </p:nvSpPr>
        <p:spPr>
          <a:xfrm>
            <a:off x="1463040" y="1691640"/>
            <a:ext cx="2468880" cy="640080"/>
          </a:xfrm>
          <a:prstGeom prst="rect">
            <a:avLst/>
          </a:prstGeom>
          <a:noFill/>
          <a:ln/>
        </p:spPr>
        <p:txBody>
          <a:bodyPr wrap="square" lIns="0" tIns="0" rIns="0" bIns="0" rtlCol="0" anchor="ctr"/>
          <a:lstStyle/>
          <a:p>
            <a:pPr marL="0" indent="0">
              <a:buNone/>
            </a:pPr>
            <a:r>
              <a:rPr lang="en-US" sz="1400" b="1" dirty="0">
                <a:solidFill>
                  <a:srgbClr val="0E3F7E"/>
                </a:solidFill>
                <a:latin typeface="Calibri" pitchFamily="34" charset="0"/>
                <a:ea typeface="Calibri" pitchFamily="34" charset="-122"/>
                <a:cs typeface="Calibri" pitchFamily="34" charset="-120"/>
              </a:rPr>
              <a:t>Base centralizada con acceso remoto</a:t>
            </a:r>
            <a:endParaRPr lang="en-US" sz="1400" dirty="0"/>
          </a:p>
        </p:txBody>
      </p:sp>
      <p:sp>
        <p:nvSpPr>
          <p:cNvPr id="8" name="Text 6"/>
          <p:cNvSpPr/>
          <p:nvPr/>
        </p:nvSpPr>
        <p:spPr>
          <a:xfrm>
            <a:off x="685800" y="2514600"/>
            <a:ext cx="3200400" cy="118872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Un unico servidor recibe consultas via red, pero no hay distribucion de datos.</a:t>
            </a:r>
            <a:endParaRPr lang="en-US" sz="1200" dirty="0"/>
          </a:p>
        </p:txBody>
      </p:sp>
      <p:sp>
        <p:nvSpPr>
          <p:cNvPr id="9" name="Text 7"/>
          <p:cNvSpPr/>
          <p:nvPr/>
        </p:nvSpPr>
        <p:spPr>
          <a:xfrm>
            <a:off x="685800" y="3794760"/>
            <a:ext cx="3200400" cy="1188720"/>
          </a:xfrm>
          <a:prstGeom prst="rect">
            <a:avLst/>
          </a:prstGeom>
          <a:noFill/>
          <a:ln/>
        </p:spPr>
        <p:txBody>
          <a:bodyPr wrap="square" rtlCol="0" anchor="ctr"/>
          <a:lstStyle/>
          <a:p>
            <a:pPr marL="0" indent="0">
              <a:buNone/>
            </a:pPr>
            <a:r>
              <a:rPr lang="en-US" sz="1100" i="1" dirty="0">
                <a:solidFill>
                  <a:srgbClr val="4A4A4A"/>
                </a:solidFill>
                <a:latin typeface="Calibri" pitchFamily="34" charset="0"/>
                <a:ea typeface="Calibri" pitchFamily="34" charset="-122"/>
                <a:cs typeface="Calibri" pitchFamily="34" charset="-120"/>
              </a:rPr>
              <a:t>Ejemplo: PostgreSQL en la nube accedido desde sucursales por VPN.</a:t>
            </a:r>
            <a:endParaRPr lang="en-US" sz="1100" dirty="0"/>
          </a:p>
        </p:txBody>
      </p:sp>
      <p:sp>
        <p:nvSpPr>
          <p:cNvPr id="10" name="Shape 8"/>
          <p:cNvSpPr/>
          <p:nvPr/>
        </p:nvSpPr>
        <p:spPr>
          <a:xfrm>
            <a:off x="4251960" y="1463040"/>
            <a:ext cx="3657600" cy="3657600"/>
          </a:xfrm>
          <a:prstGeom prst="roundRect">
            <a:avLst>
              <a:gd name="adj" fmla="val 2000"/>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11" name="Shape 9"/>
          <p:cNvSpPr/>
          <p:nvPr/>
        </p:nvSpPr>
        <p:spPr>
          <a:xfrm>
            <a:off x="4480560" y="1691640"/>
            <a:ext cx="640080" cy="640080"/>
          </a:xfrm>
          <a:prstGeom prst="ellipse">
            <a:avLst/>
          </a:prstGeom>
          <a:solidFill>
            <a:srgbClr val="F2A413"/>
          </a:solidFill>
          <a:ln/>
        </p:spPr>
        <p:txBody>
          <a:bodyPr/>
          <a:lstStyle/>
          <a:p>
            <a:endParaRPr lang="es-US"/>
          </a:p>
        </p:txBody>
      </p:sp>
      <p:sp>
        <p:nvSpPr>
          <p:cNvPr id="12" name="Text 10"/>
          <p:cNvSpPr/>
          <p:nvPr/>
        </p:nvSpPr>
        <p:spPr>
          <a:xfrm>
            <a:off x="4480560" y="169164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3" name="Text 11"/>
          <p:cNvSpPr/>
          <p:nvPr/>
        </p:nvSpPr>
        <p:spPr>
          <a:xfrm>
            <a:off x="5257800" y="1691640"/>
            <a:ext cx="2468880" cy="640080"/>
          </a:xfrm>
          <a:prstGeom prst="rect">
            <a:avLst/>
          </a:prstGeom>
          <a:noFill/>
          <a:ln/>
        </p:spPr>
        <p:txBody>
          <a:bodyPr wrap="square" lIns="0" tIns="0" rIns="0" bIns="0" rtlCol="0" anchor="ctr"/>
          <a:lstStyle/>
          <a:p>
            <a:pPr marL="0" indent="0">
              <a:buNone/>
            </a:pPr>
            <a:r>
              <a:rPr lang="en-US" sz="1400" b="1" dirty="0">
                <a:solidFill>
                  <a:srgbClr val="0E3F7E"/>
                </a:solidFill>
                <a:latin typeface="Calibri" pitchFamily="34" charset="0"/>
                <a:ea typeface="Calibri" pitchFamily="34" charset="-122"/>
                <a:cs typeface="Calibri" pitchFamily="34" charset="-120"/>
              </a:rPr>
              <a:t>Conjunto de bases independientes</a:t>
            </a:r>
            <a:endParaRPr lang="en-US" sz="1400" dirty="0"/>
          </a:p>
        </p:txBody>
      </p:sp>
      <p:sp>
        <p:nvSpPr>
          <p:cNvPr id="14" name="Text 12"/>
          <p:cNvSpPr/>
          <p:nvPr/>
        </p:nvSpPr>
        <p:spPr>
          <a:xfrm>
            <a:off x="4480560" y="2514600"/>
            <a:ext cx="3200400" cy="118872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Varios servidores que comparten datos por exportacion CSV o procesos batch.</a:t>
            </a:r>
            <a:endParaRPr lang="en-US" sz="1200" dirty="0"/>
          </a:p>
        </p:txBody>
      </p:sp>
      <p:sp>
        <p:nvSpPr>
          <p:cNvPr id="15" name="Text 13"/>
          <p:cNvSpPr/>
          <p:nvPr/>
        </p:nvSpPr>
        <p:spPr>
          <a:xfrm>
            <a:off x="4480560" y="3794760"/>
            <a:ext cx="3200400" cy="1188720"/>
          </a:xfrm>
          <a:prstGeom prst="rect">
            <a:avLst/>
          </a:prstGeom>
          <a:noFill/>
          <a:ln/>
        </p:spPr>
        <p:txBody>
          <a:bodyPr wrap="square" rtlCol="0" anchor="ctr"/>
          <a:lstStyle/>
          <a:p>
            <a:pPr marL="0" indent="0">
              <a:buNone/>
            </a:pPr>
            <a:r>
              <a:rPr lang="en-US" sz="1100" i="1" dirty="0">
                <a:solidFill>
                  <a:srgbClr val="4A4A4A"/>
                </a:solidFill>
                <a:latin typeface="Calibri" pitchFamily="34" charset="0"/>
                <a:ea typeface="Calibri" pitchFamily="34" charset="-122"/>
                <a:cs typeface="Calibri" pitchFamily="34" charset="-120"/>
              </a:rPr>
              <a:t>Ejemplo: ERP departamental que envia archivos al sistema corporativo cada noche.</a:t>
            </a:r>
            <a:endParaRPr lang="en-US" sz="1100" dirty="0"/>
          </a:p>
        </p:txBody>
      </p:sp>
      <p:sp>
        <p:nvSpPr>
          <p:cNvPr id="16" name="Shape 14"/>
          <p:cNvSpPr/>
          <p:nvPr/>
        </p:nvSpPr>
        <p:spPr>
          <a:xfrm>
            <a:off x="8046720" y="1463040"/>
            <a:ext cx="3657600" cy="3657600"/>
          </a:xfrm>
          <a:prstGeom prst="roundRect">
            <a:avLst>
              <a:gd name="adj" fmla="val 2000"/>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17" name="Shape 15"/>
          <p:cNvSpPr/>
          <p:nvPr/>
        </p:nvSpPr>
        <p:spPr>
          <a:xfrm>
            <a:off x="8275320" y="1691640"/>
            <a:ext cx="640080" cy="640080"/>
          </a:xfrm>
          <a:prstGeom prst="ellipse">
            <a:avLst/>
          </a:prstGeom>
          <a:solidFill>
            <a:srgbClr val="F2A413"/>
          </a:solidFill>
          <a:ln/>
        </p:spPr>
        <p:txBody>
          <a:bodyPr/>
          <a:lstStyle/>
          <a:p>
            <a:endParaRPr lang="es-US"/>
          </a:p>
        </p:txBody>
      </p:sp>
      <p:sp>
        <p:nvSpPr>
          <p:cNvPr id="18" name="Text 16"/>
          <p:cNvSpPr/>
          <p:nvPr/>
        </p:nvSpPr>
        <p:spPr>
          <a:xfrm>
            <a:off x="8275320" y="169164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9" name="Text 17"/>
          <p:cNvSpPr/>
          <p:nvPr/>
        </p:nvSpPr>
        <p:spPr>
          <a:xfrm>
            <a:off x="9052560" y="1691640"/>
            <a:ext cx="2468880" cy="640080"/>
          </a:xfrm>
          <a:prstGeom prst="rect">
            <a:avLst/>
          </a:prstGeom>
          <a:noFill/>
          <a:ln/>
        </p:spPr>
        <p:txBody>
          <a:bodyPr wrap="square" lIns="0" tIns="0" rIns="0" bIns="0" rtlCol="0" anchor="ctr"/>
          <a:lstStyle/>
          <a:p>
            <a:pPr marL="0" indent="0">
              <a:buNone/>
            </a:pPr>
            <a:r>
              <a:rPr lang="en-US" sz="1400" b="1" dirty="0">
                <a:solidFill>
                  <a:srgbClr val="0E3F7E"/>
                </a:solidFill>
                <a:latin typeface="Calibri" pitchFamily="34" charset="0"/>
                <a:ea typeface="Calibri" pitchFamily="34" charset="-122"/>
                <a:cs typeface="Calibri" pitchFamily="34" charset="-120"/>
              </a:rPr>
              <a:t>Base de datos paralela</a:t>
            </a:r>
            <a:endParaRPr lang="en-US" sz="1400" dirty="0"/>
          </a:p>
        </p:txBody>
      </p:sp>
      <p:sp>
        <p:nvSpPr>
          <p:cNvPr id="20" name="Text 18"/>
          <p:cNvSpPr/>
          <p:nvPr/>
        </p:nvSpPr>
        <p:spPr>
          <a:xfrm>
            <a:off x="8275320" y="2514600"/>
            <a:ext cx="3200400" cy="118872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Multiples procesadores sobre el MISMO sitio fisico para acelerar consultas.</a:t>
            </a:r>
            <a:endParaRPr lang="en-US" sz="1200" dirty="0"/>
          </a:p>
        </p:txBody>
      </p:sp>
      <p:sp>
        <p:nvSpPr>
          <p:cNvPr id="21" name="Text 19"/>
          <p:cNvSpPr/>
          <p:nvPr/>
        </p:nvSpPr>
        <p:spPr>
          <a:xfrm>
            <a:off x="8275320" y="3794760"/>
            <a:ext cx="3200400" cy="1188720"/>
          </a:xfrm>
          <a:prstGeom prst="rect">
            <a:avLst/>
          </a:prstGeom>
          <a:noFill/>
          <a:ln/>
        </p:spPr>
        <p:txBody>
          <a:bodyPr wrap="square" rtlCol="0" anchor="ctr"/>
          <a:lstStyle/>
          <a:p>
            <a:pPr marL="0" indent="0">
              <a:buNone/>
            </a:pPr>
            <a:r>
              <a:rPr lang="en-US" sz="1100" i="1" dirty="0">
                <a:solidFill>
                  <a:srgbClr val="4A4A4A"/>
                </a:solidFill>
                <a:latin typeface="Calibri" pitchFamily="34" charset="0"/>
                <a:ea typeface="Calibri" pitchFamily="34" charset="-122"/>
                <a:cs typeface="Calibri" pitchFamily="34" charset="-120"/>
              </a:rPr>
              <a:t>Ejemplo: Oracle RAC con varios nodos sobre un mismo storage compartido.</a:t>
            </a:r>
            <a:endParaRPr lang="en-US" sz="1100" dirty="0"/>
          </a:p>
        </p:txBody>
      </p:sp>
      <p:sp>
        <p:nvSpPr>
          <p:cNvPr id="22" name="Shape 20"/>
          <p:cNvSpPr/>
          <p:nvPr/>
        </p:nvSpPr>
        <p:spPr>
          <a:xfrm>
            <a:off x="548640" y="5440680"/>
            <a:ext cx="11064240" cy="960120"/>
          </a:xfrm>
          <a:prstGeom prst="roundRect">
            <a:avLst>
              <a:gd name="adj" fmla="val 7619"/>
            </a:avLst>
          </a:prstGeom>
          <a:solidFill>
            <a:srgbClr val="EAF1FB"/>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23" name="Text 21"/>
          <p:cNvSpPr/>
          <p:nvPr/>
        </p:nvSpPr>
        <p:spPr>
          <a:xfrm>
            <a:off x="777240" y="5532120"/>
            <a:ext cx="2743200" cy="274320"/>
          </a:xfrm>
          <a:prstGeom prst="rect">
            <a:avLst/>
          </a:prstGeom>
          <a:noFill/>
          <a:ln/>
        </p:spPr>
        <p:txBody>
          <a:bodyPr wrap="square" lIns="0" tIns="0" rIns="0" bIns="0" rtlCol="0" anchor="ctr"/>
          <a:lstStyle/>
          <a:p>
            <a:pPr marL="0" indent="0">
              <a:buNone/>
            </a:pPr>
            <a:r>
              <a:rPr lang="en-US" sz="1200" b="1" dirty="0">
                <a:solidFill>
                  <a:srgbClr val="0E3F7E"/>
                </a:solidFill>
                <a:latin typeface="Calibri" pitchFamily="34" charset="0"/>
                <a:ea typeface="Calibri" pitchFamily="34" charset="-122"/>
                <a:cs typeface="Calibri" pitchFamily="34" charset="-120"/>
              </a:rPr>
              <a:t>Diferencia esencial</a:t>
            </a:r>
            <a:endParaRPr lang="en-US" sz="1200" dirty="0"/>
          </a:p>
        </p:txBody>
      </p:sp>
      <p:sp>
        <p:nvSpPr>
          <p:cNvPr id="24" name="Text 22"/>
          <p:cNvSpPr/>
          <p:nvPr/>
        </p:nvSpPr>
        <p:spPr>
          <a:xfrm>
            <a:off x="777240" y="5806440"/>
            <a:ext cx="10698480" cy="548640"/>
          </a:xfrm>
          <a:prstGeom prst="rect">
            <a:avLst/>
          </a:prstGeom>
          <a:noFill/>
          <a:ln/>
        </p:spPr>
        <p:txBody>
          <a:bodyPr wrap="square" rtlCol="0" anchor="ctr"/>
          <a:lstStyle/>
          <a:p>
            <a:pPr marL="0" indent="0">
              <a:buNone/>
            </a:pPr>
            <a:r>
              <a:rPr lang="en-US" sz="1200" i="1" dirty="0">
                <a:solidFill>
                  <a:srgbClr val="1A1A1A"/>
                </a:solidFill>
                <a:latin typeface="Calibri" pitchFamily="34" charset="0"/>
                <a:ea typeface="Calibri" pitchFamily="34" charset="-122"/>
                <a:cs typeface="Calibri" pitchFamily="34" charset="-120"/>
              </a:rPr>
              <a:t>La diferencia no radica en la tecnologia de almacenamiento, sino en la distribucion geografica o logica de los datos y en como el sistema gestiona la transparencia de esa distribucion.</a:t>
            </a:r>
            <a:endParaRPr lang="en-US" sz="1200" dirty="0"/>
          </a:p>
        </p:txBody>
      </p:sp>
      <p:sp>
        <p:nvSpPr>
          <p:cNvPr id="25" name="Text 23"/>
          <p:cNvSpPr/>
          <p:nvPr/>
        </p:nvSpPr>
        <p:spPr>
          <a:xfrm>
            <a:off x="457200" y="6492240"/>
            <a:ext cx="8229600" cy="274320"/>
          </a:xfrm>
          <a:prstGeom prst="rect">
            <a:avLst/>
          </a:prstGeom>
          <a:noFill/>
          <a:ln/>
        </p:spPr>
        <p:txBody>
          <a:bodyPr wrap="square" rtlCol="0" anchor="ctr"/>
          <a:lstStyle/>
          <a:p>
            <a:pPr marL="0" indent="0">
              <a:buNone/>
            </a:pPr>
            <a:r>
              <a:rPr lang="en-US" sz="900" dirty="0">
                <a:solidFill>
                  <a:srgbClr val="4A4A4A"/>
                </a:solidFill>
                <a:latin typeface="Calibri" pitchFamily="34" charset="0"/>
                <a:ea typeface="Calibri" pitchFamily="34" charset="-122"/>
                <a:cs typeface="Calibri" pitchFamily="34" charset="-120"/>
              </a:rPr>
              <a:t>UTEQ - Aplicaciones Distribuidas (ISR-701) - Unidad 3</a:t>
            </a:r>
            <a:endParaRPr lang="en-US" sz="900" dirty="0"/>
          </a:p>
        </p:txBody>
      </p:sp>
      <p:sp>
        <p:nvSpPr>
          <p:cNvPr id="26" name="Text 24"/>
          <p:cNvSpPr/>
          <p:nvPr/>
        </p:nvSpPr>
        <p:spPr>
          <a:xfrm>
            <a:off x="10789920" y="6492240"/>
            <a:ext cx="914400" cy="274320"/>
          </a:xfrm>
          <a:prstGeom prst="rect">
            <a:avLst/>
          </a:prstGeom>
          <a:noFill/>
          <a:ln/>
        </p:spPr>
        <p:txBody>
          <a:bodyPr wrap="square"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4 / 42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marL="0" indent="0">
              <a:buNone/>
            </a:pPr>
            <a:r>
              <a:rPr lang="en-US" sz="2800" b="1" dirty="0">
                <a:solidFill>
                  <a:srgbClr val="0E3F7E"/>
                </a:solidFill>
                <a:latin typeface="Calibri" pitchFamily="34" charset="0"/>
                <a:ea typeface="Calibri" pitchFamily="34" charset="-122"/>
                <a:cs typeface="Calibri" pitchFamily="34" charset="-120"/>
              </a:rPr>
              <a:t>Vocabulario tecnico fundamental (1/2)</a:t>
            </a:r>
            <a:endParaRPr lang="en-US" sz="2800" dirty="0"/>
          </a:p>
        </p:txBody>
      </p:sp>
      <p:sp>
        <p:nvSpPr>
          <p:cNvPr id="3" name="Text 1"/>
          <p:cNvSpPr/>
          <p:nvPr/>
        </p:nvSpPr>
        <p:spPr>
          <a:xfrm>
            <a:off x="457200" y="777240"/>
            <a:ext cx="11247120" cy="320040"/>
          </a:xfrm>
          <a:prstGeom prst="rect">
            <a:avLst/>
          </a:prstGeom>
          <a:noFill/>
          <a:ln/>
        </p:spPr>
        <p:txBody>
          <a:bodyPr wrap="square" lIns="0" tIns="0" rIns="0" bIns="0" rtlCol="0" anchor="ctr"/>
          <a:lstStyle/>
          <a:p>
            <a:pPr marL="0" indent="0">
              <a:buNone/>
            </a:pPr>
            <a:r>
              <a:rPr lang="en-US" sz="1400" i="1" dirty="0">
                <a:solidFill>
                  <a:srgbClr val="2E86A1"/>
                </a:solidFill>
                <a:latin typeface="Calibri" pitchFamily="34" charset="0"/>
                <a:ea typeface="Calibri" pitchFamily="34" charset="-122"/>
                <a:cs typeface="Calibri" pitchFamily="34" charset="-120"/>
              </a:rPr>
              <a:t>Terminos imprescindibles para el resto del modulo</a:t>
            </a:r>
            <a:endParaRPr lang="en-US" sz="1400" dirty="0"/>
          </a:p>
        </p:txBody>
      </p:sp>
      <p:sp>
        <p:nvSpPr>
          <p:cNvPr id="4" name="Shape 2"/>
          <p:cNvSpPr/>
          <p:nvPr/>
        </p:nvSpPr>
        <p:spPr>
          <a:xfrm>
            <a:off x="548640" y="1280160"/>
            <a:ext cx="137160" cy="914400"/>
          </a:xfrm>
          <a:prstGeom prst="roundRect">
            <a:avLst>
              <a:gd name="adj" fmla="val 26667"/>
            </a:avLst>
          </a:prstGeom>
          <a:solidFill>
            <a:srgbClr val="0E3F7E"/>
          </a:solidFill>
          <a:ln/>
        </p:spPr>
        <p:txBody>
          <a:bodyPr/>
          <a:lstStyle/>
          <a:p>
            <a:endParaRPr lang="es-US"/>
          </a:p>
        </p:txBody>
      </p:sp>
      <p:sp>
        <p:nvSpPr>
          <p:cNvPr id="5" name="Shape 3"/>
          <p:cNvSpPr/>
          <p:nvPr/>
        </p:nvSpPr>
        <p:spPr>
          <a:xfrm>
            <a:off x="777240" y="1280160"/>
            <a:ext cx="10835640" cy="914400"/>
          </a:xfrm>
          <a:prstGeom prst="roundRect">
            <a:avLst>
              <a:gd name="adj" fmla="val 8000"/>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6" name="Text 4"/>
          <p:cNvSpPr/>
          <p:nvPr/>
        </p:nvSpPr>
        <p:spPr>
          <a:xfrm>
            <a:off x="960120" y="1371600"/>
            <a:ext cx="3200400" cy="365760"/>
          </a:xfrm>
          <a:prstGeom prst="rect">
            <a:avLst/>
          </a:prstGeom>
          <a:noFill/>
          <a:ln/>
        </p:spPr>
        <p:txBody>
          <a:bodyPr wrap="square" lIns="0" tIns="0" rIns="0" bIns="0" rtlCol="0" anchor="ctr"/>
          <a:lstStyle/>
          <a:p>
            <a:pPr marL="0" indent="0">
              <a:buNone/>
            </a:pPr>
            <a:r>
              <a:rPr lang="en-US" sz="1500" b="1" dirty="0">
                <a:solidFill>
                  <a:srgbClr val="0E3F7E"/>
                </a:solidFill>
                <a:latin typeface="Calibri" pitchFamily="34" charset="0"/>
                <a:ea typeface="Calibri" pitchFamily="34" charset="-122"/>
                <a:cs typeface="Calibri" pitchFamily="34" charset="-120"/>
              </a:rPr>
              <a:t>Sitio o nodo</a:t>
            </a:r>
            <a:endParaRPr lang="en-US" sz="1500" dirty="0"/>
          </a:p>
        </p:txBody>
      </p:sp>
      <p:sp>
        <p:nvSpPr>
          <p:cNvPr id="7" name="Text 5"/>
          <p:cNvSpPr/>
          <p:nvPr/>
        </p:nvSpPr>
        <p:spPr>
          <a:xfrm>
            <a:off x="4114800" y="1371600"/>
            <a:ext cx="7406640" cy="7772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Unidad logica de almacenamiento y procesamiento. Servidor fisico, contenedor Docker, maquina virtual o pod de Kubernetes (K8s).</a:t>
            </a:r>
            <a:endParaRPr lang="en-US" sz="1300" dirty="0"/>
          </a:p>
        </p:txBody>
      </p:sp>
      <p:sp>
        <p:nvSpPr>
          <p:cNvPr id="8" name="Shape 6"/>
          <p:cNvSpPr/>
          <p:nvPr/>
        </p:nvSpPr>
        <p:spPr>
          <a:xfrm>
            <a:off x="548640" y="2286000"/>
            <a:ext cx="137160" cy="914400"/>
          </a:xfrm>
          <a:prstGeom prst="roundRect">
            <a:avLst>
              <a:gd name="adj" fmla="val 26667"/>
            </a:avLst>
          </a:prstGeom>
          <a:solidFill>
            <a:srgbClr val="1E5AA8"/>
          </a:solidFill>
          <a:ln/>
        </p:spPr>
        <p:txBody>
          <a:bodyPr/>
          <a:lstStyle/>
          <a:p>
            <a:endParaRPr lang="es-US"/>
          </a:p>
        </p:txBody>
      </p:sp>
      <p:sp>
        <p:nvSpPr>
          <p:cNvPr id="9" name="Shape 7"/>
          <p:cNvSpPr/>
          <p:nvPr/>
        </p:nvSpPr>
        <p:spPr>
          <a:xfrm>
            <a:off x="777240" y="2286000"/>
            <a:ext cx="10835640" cy="914400"/>
          </a:xfrm>
          <a:prstGeom prst="roundRect">
            <a:avLst>
              <a:gd name="adj" fmla="val 8000"/>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10" name="Text 8"/>
          <p:cNvSpPr/>
          <p:nvPr/>
        </p:nvSpPr>
        <p:spPr>
          <a:xfrm>
            <a:off x="960120" y="2377440"/>
            <a:ext cx="3200400" cy="365760"/>
          </a:xfrm>
          <a:prstGeom prst="rect">
            <a:avLst/>
          </a:prstGeom>
          <a:noFill/>
          <a:ln/>
        </p:spPr>
        <p:txBody>
          <a:bodyPr wrap="square" lIns="0" tIns="0" rIns="0" bIns="0" rtlCol="0" anchor="ctr"/>
          <a:lstStyle/>
          <a:p>
            <a:pPr marL="0" indent="0">
              <a:buNone/>
            </a:pPr>
            <a:r>
              <a:rPr lang="en-US" sz="1500" b="1" dirty="0">
                <a:solidFill>
                  <a:srgbClr val="1E5AA8"/>
                </a:solidFill>
                <a:latin typeface="Calibri" pitchFamily="34" charset="0"/>
                <a:ea typeface="Calibri" pitchFamily="34" charset="-122"/>
                <a:cs typeface="Calibri" pitchFamily="34" charset="-120"/>
              </a:rPr>
              <a:t>Esquema global</a:t>
            </a:r>
            <a:endParaRPr lang="en-US" sz="1500" dirty="0"/>
          </a:p>
        </p:txBody>
      </p:sp>
      <p:sp>
        <p:nvSpPr>
          <p:cNvPr id="11" name="Text 9"/>
          <p:cNvSpPr/>
          <p:nvPr/>
        </p:nvSpPr>
        <p:spPr>
          <a:xfrm>
            <a:off x="4114800" y="2377440"/>
            <a:ext cx="7406640" cy="7772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Descripcion logica completa de la BDD: relaciones, atributos, restricciones de integridad. Es lo que ve la aplicacion.</a:t>
            </a:r>
            <a:endParaRPr lang="en-US" sz="1300" dirty="0"/>
          </a:p>
        </p:txBody>
      </p:sp>
      <p:sp>
        <p:nvSpPr>
          <p:cNvPr id="12" name="Shape 10"/>
          <p:cNvSpPr/>
          <p:nvPr/>
        </p:nvSpPr>
        <p:spPr>
          <a:xfrm>
            <a:off x="548640" y="3291840"/>
            <a:ext cx="137160" cy="914400"/>
          </a:xfrm>
          <a:prstGeom prst="roundRect">
            <a:avLst>
              <a:gd name="adj" fmla="val 26667"/>
            </a:avLst>
          </a:prstGeom>
          <a:solidFill>
            <a:srgbClr val="2E86A1"/>
          </a:solidFill>
          <a:ln/>
        </p:spPr>
        <p:txBody>
          <a:bodyPr/>
          <a:lstStyle/>
          <a:p>
            <a:endParaRPr lang="es-US"/>
          </a:p>
        </p:txBody>
      </p:sp>
      <p:sp>
        <p:nvSpPr>
          <p:cNvPr id="13" name="Shape 11"/>
          <p:cNvSpPr/>
          <p:nvPr/>
        </p:nvSpPr>
        <p:spPr>
          <a:xfrm>
            <a:off x="777240" y="3291840"/>
            <a:ext cx="10835640" cy="914400"/>
          </a:xfrm>
          <a:prstGeom prst="roundRect">
            <a:avLst>
              <a:gd name="adj" fmla="val 8000"/>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14" name="Text 12"/>
          <p:cNvSpPr/>
          <p:nvPr/>
        </p:nvSpPr>
        <p:spPr>
          <a:xfrm>
            <a:off x="960120" y="3383280"/>
            <a:ext cx="3200400" cy="365760"/>
          </a:xfrm>
          <a:prstGeom prst="rect">
            <a:avLst/>
          </a:prstGeom>
          <a:noFill/>
          <a:ln/>
        </p:spPr>
        <p:txBody>
          <a:bodyPr wrap="square" lIns="0" tIns="0" rIns="0" bIns="0" rtlCol="0" anchor="ctr"/>
          <a:lstStyle/>
          <a:p>
            <a:pPr marL="0" indent="0">
              <a:buNone/>
            </a:pPr>
            <a:r>
              <a:rPr lang="en-US" sz="1500" b="1" dirty="0">
                <a:solidFill>
                  <a:srgbClr val="2E86A1"/>
                </a:solidFill>
                <a:latin typeface="Calibri" pitchFamily="34" charset="0"/>
                <a:ea typeface="Calibri" pitchFamily="34" charset="-122"/>
                <a:cs typeface="Calibri" pitchFamily="34" charset="-120"/>
              </a:rPr>
              <a:t>Esquema local</a:t>
            </a:r>
            <a:endParaRPr lang="en-US" sz="1500" dirty="0"/>
          </a:p>
        </p:txBody>
      </p:sp>
      <p:sp>
        <p:nvSpPr>
          <p:cNvPr id="15" name="Text 13"/>
          <p:cNvSpPr/>
          <p:nvPr/>
        </p:nvSpPr>
        <p:spPr>
          <a:xfrm>
            <a:off x="4114800" y="3383280"/>
            <a:ext cx="7406640" cy="7772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Descripcion fisica de cada sitio: los fragmentos o replicas que ese sitio almacena efectivamente.</a:t>
            </a:r>
            <a:endParaRPr lang="en-US" sz="1300" dirty="0"/>
          </a:p>
        </p:txBody>
      </p:sp>
      <p:sp>
        <p:nvSpPr>
          <p:cNvPr id="16" name="Shape 14"/>
          <p:cNvSpPr/>
          <p:nvPr/>
        </p:nvSpPr>
        <p:spPr>
          <a:xfrm>
            <a:off x="548640" y="4297680"/>
            <a:ext cx="137160" cy="914400"/>
          </a:xfrm>
          <a:prstGeom prst="roundRect">
            <a:avLst>
              <a:gd name="adj" fmla="val 26667"/>
            </a:avLst>
          </a:prstGeom>
          <a:solidFill>
            <a:srgbClr val="4FAE60"/>
          </a:solidFill>
          <a:ln/>
        </p:spPr>
        <p:txBody>
          <a:bodyPr/>
          <a:lstStyle/>
          <a:p>
            <a:endParaRPr lang="es-US"/>
          </a:p>
        </p:txBody>
      </p:sp>
      <p:sp>
        <p:nvSpPr>
          <p:cNvPr id="17" name="Shape 15"/>
          <p:cNvSpPr/>
          <p:nvPr/>
        </p:nvSpPr>
        <p:spPr>
          <a:xfrm>
            <a:off x="777240" y="4297680"/>
            <a:ext cx="10835640" cy="914400"/>
          </a:xfrm>
          <a:prstGeom prst="roundRect">
            <a:avLst>
              <a:gd name="adj" fmla="val 8000"/>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18" name="Text 16"/>
          <p:cNvSpPr/>
          <p:nvPr/>
        </p:nvSpPr>
        <p:spPr>
          <a:xfrm>
            <a:off x="960120" y="4389120"/>
            <a:ext cx="3200400" cy="365760"/>
          </a:xfrm>
          <a:prstGeom prst="rect">
            <a:avLst/>
          </a:prstGeom>
          <a:noFill/>
          <a:ln/>
        </p:spPr>
        <p:txBody>
          <a:bodyPr wrap="square" lIns="0" tIns="0" rIns="0" bIns="0" rtlCol="0" anchor="ctr"/>
          <a:lstStyle/>
          <a:p>
            <a:pPr marL="0" indent="0">
              <a:buNone/>
            </a:pPr>
            <a:r>
              <a:rPr lang="en-US" sz="1500" b="1" dirty="0">
                <a:solidFill>
                  <a:srgbClr val="4FAE60"/>
                </a:solidFill>
                <a:latin typeface="Calibri" pitchFamily="34" charset="0"/>
                <a:ea typeface="Calibri" pitchFamily="34" charset="-122"/>
                <a:cs typeface="Calibri" pitchFamily="34" charset="-120"/>
              </a:rPr>
              <a:t>Fragmento</a:t>
            </a:r>
            <a:endParaRPr lang="en-US" sz="1500" dirty="0"/>
          </a:p>
        </p:txBody>
      </p:sp>
      <p:sp>
        <p:nvSpPr>
          <p:cNvPr id="19" name="Text 17"/>
          <p:cNvSpPr/>
          <p:nvPr/>
        </p:nvSpPr>
        <p:spPr>
          <a:xfrm>
            <a:off x="4114800" y="4389120"/>
            <a:ext cx="7406640" cy="7772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Porcion de una relacion del esquema global asignada a un sitio. Puede ser horizontal (filas), vertical (columnas) o mixto.</a:t>
            </a:r>
            <a:endParaRPr lang="en-US" sz="1300" dirty="0"/>
          </a:p>
        </p:txBody>
      </p:sp>
      <p:sp>
        <p:nvSpPr>
          <p:cNvPr id="20" name="Shape 18"/>
          <p:cNvSpPr/>
          <p:nvPr/>
        </p:nvSpPr>
        <p:spPr>
          <a:xfrm>
            <a:off x="548640" y="5303520"/>
            <a:ext cx="137160" cy="914400"/>
          </a:xfrm>
          <a:prstGeom prst="roundRect">
            <a:avLst>
              <a:gd name="adj" fmla="val 26667"/>
            </a:avLst>
          </a:prstGeom>
          <a:solidFill>
            <a:srgbClr val="F2A413"/>
          </a:solidFill>
          <a:ln/>
        </p:spPr>
        <p:txBody>
          <a:bodyPr/>
          <a:lstStyle/>
          <a:p>
            <a:endParaRPr lang="es-US"/>
          </a:p>
        </p:txBody>
      </p:sp>
      <p:sp>
        <p:nvSpPr>
          <p:cNvPr id="21" name="Shape 19"/>
          <p:cNvSpPr/>
          <p:nvPr/>
        </p:nvSpPr>
        <p:spPr>
          <a:xfrm>
            <a:off x="777240" y="5303520"/>
            <a:ext cx="10835640" cy="914400"/>
          </a:xfrm>
          <a:prstGeom prst="roundRect">
            <a:avLst>
              <a:gd name="adj" fmla="val 8000"/>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22" name="Text 20"/>
          <p:cNvSpPr/>
          <p:nvPr/>
        </p:nvSpPr>
        <p:spPr>
          <a:xfrm>
            <a:off x="960120" y="5394960"/>
            <a:ext cx="3200400" cy="365760"/>
          </a:xfrm>
          <a:prstGeom prst="rect">
            <a:avLst/>
          </a:prstGeom>
          <a:noFill/>
          <a:ln/>
        </p:spPr>
        <p:txBody>
          <a:bodyPr wrap="square" lIns="0" tIns="0" rIns="0" bIns="0" rtlCol="0" anchor="ctr"/>
          <a:lstStyle/>
          <a:p>
            <a:pPr marL="0" indent="0">
              <a:buNone/>
            </a:pPr>
            <a:r>
              <a:rPr lang="en-US" sz="1500" b="1" dirty="0">
                <a:solidFill>
                  <a:srgbClr val="F2A413"/>
                </a:solidFill>
                <a:latin typeface="Calibri" pitchFamily="34" charset="0"/>
                <a:ea typeface="Calibri" pitchFamily="34" charset="-122"/>
                <a:cs typeface="Calibri" pitchFamily="34" charset="-120"/>
              </a:rPr>
              <a:t>Replica</a:t>
            </a:r>
            <a:endParaRPr lang="en-US" sz="1500" dirty="0"/>
          </a:p>
        </p:txBody>
      </p:sp>
      <p:sp>
        <p:nvSpPr>
          <p:cNvPr id="23" name="Text 21"/>
          <p:cNvSpPr/>
          <p:nvPr/>
        </p:nvSpPr>
        <p:spPr>
          <a:xfrm>
            <a:off x="4114800" y="5394960"/>
            <a:ext cx="7406640" cy="7772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Copia identica de un fragmento o relacion completa que reside en mas de un sitio. Mejora disponibilidad y latencia de lectura.</a:t>
            </a:r>
            <a:endParaRPr lang="en-US" sz="1300" dirty="0"/>
          </a:p>
        </p:txBody>
      </p:sp>
      <p:sp>
        <p:nvSpPr>
          <p:cNvPr id="24" name="Text 22"/>
          <p:cNvSpPr/>
          <p:nvPr/>
        </p:nvSpPr>
        <p:spPr>
          <a:xfrm>
            <a:off x="457200" y="6492240"/>
            <a:ext cx="8229600" cy="274320"/>
          </a:xfrm>
          <a:prstGeom prst="rect">
            <a:avLst/>
          </a:prstGeom>
          <a:noFill/>
          <a:ln/>
        </p:spPr>
        <p:txBody>
          <a:bodyPr wrap="square" rtlCol="0" anchor="ctr"/>
          <a:lstStyle/>
          <a:p>
            <a:pPr marL="0" indent="0">
              <a:buNone/>
            </a:pPr>
            <a:r>
              <a:rPr lang="en-US" sz="900" dirty="0">
                <a:solidFill>
                  <a:srgbClr val="4A4A4A"/>
                </a:solidFill>
                <a:latin typeface="Calibri" pitchFamily="34" charset="0"/>
                <a:ea typeface="Calibri" pitchFamily="34" charset="-122"/>
                <a:cs typeface="Calibri" pitchFamily="34" charset="-120"/>
              </a:rPr>
              <a:t>UTEQ - Aplicaciones Distribuidas (ISR-701) - Unidad 3</a:t>
            </a:r>
            <a:endParaRPr lang="en-US" sz="900" dirty="0"/>
          </a:p>
        </p:txBody>
      </p:sp>
      <p:sp>
        <p:nvSpPr>
          <p:cNvPr id="25" name="Text 23"/>
          <p:cNvSpPr/>
          <p:nvPr/>
        </p:nvSpPr>
        <p:spPr>
          <a:xfrm>
            <a:off x="10789920" y="6492240"/>
            <a:ext cx="914400" cy="274320"/>
          </a:xfrm>
          <a:prstGeom prst="rect">
            <a:avLst/>
          </a:prstGeom>
          <a:noFill/>
          <a:ln/>
        </p:spPr>
        <p:txBody>
          <a:bodyPr wrap="square"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5 / 42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marL="0" indent="0">
              <a:buNone/>
            </a:pPr>
            <a:r>
              <a:rPr lang="en-US" sz="2800" b="1" dirty="0">
                <a:solidFill>
                  <a:srgbClr val="0E3F7E"/>
                </a:solidFill>
                <a:latin typeface="Calibri" pitchFamily="34" charset="0"/>
                <a:ea typeface="Calibri" pitchFamily="34" charset="-122"/>
                <a:cs typeface="Calibri" pitchFamily="34" charset="-120"/>
              </a:rPr>
              <a:t>Vocabulario tecnico fundamental (2/2)</a:t>
            </a:r>
            <a:endParaRPr lang="en-US" sz="2800" dirty="0"/>
          </a:p>
        </p:txBody>
      </p:sp>
      <p:sp>
        <p:nvSpPr>
          <p:cNvPr id="3" name="Text 1"/>
          <p:cNvSpPr/>
          <p:nvPr/>
        </p:nvSpPr>
        <p:spPr>
          <a:xfrm>
            <a:off x="457200" y="777240"/>
            <a:ext cx="11247120" cy="320040"/>
          </a:xfrm>
          <a:prstGeom prst="rect">
            <a:avLst/>
          </a:prstGeom>
          <a:noFill/>
          <a:ln/>
        </p:spPr>
        <p:txBody>
          <a:bodyPr wrap="square" lIns="0" tIns="0" rIns="0" bIns="0" rtlCol="0" anchor="ctr"/>
          <a:lstStyle/>
          <a:p>
            <a:pPr marL="0" indent="0">
              <a:buNone/>
            </a:pPr>
            <a:r>
              <a:rPr lang="en-US" sz="1400" i="1" dirty="0">
                <a:solidFill>
                  <a:srgbClr val="2E86A1"/>
                </a:solidFill>
                <a:latin typeface="Calibri" pitchFamily="34" charset="0"/>
                <a:ea typeface="Calibri" pitchFamily="34" charset="-122"/>
                <a:cs typeface="Calibri" pitchFamily="34" charset="-120"/>
              </a:rPr>
              <a:t>Operacion, consistencia y red</a:t>
            </a:r>
            <a:endParaRPr lang="en-US" sz="1400" dirty="0"/>
          </a:p>
        </p:txBody>
      </p:sp>
      <p:sp>
        <p:nvSpPr>
          <p:cNvPr id="4" name="Shape 2"/>
          <p:cNvSpPr/>
          <p:nvPr/>
        </p:nvSpPr>
        <p:spPr>
          <a:xfrm>
            <a:off x="548640" y="1280160"/>
            <a:ext cx="137160" cy="914400"/>
          </a:xfrm>
          <a:prstGeom prst="roundRect">
            <a:avLst>
              <a:gd name="adj" fmla="val 26667"/>
            </a:avLst>
          </a:prstGeom>
          <a:solidFill>
            <a:srgbClr val="0E3F7E"/>
          </a:solidFill>
          <a:ln/>
        </p:spPr>
        <p:txBody>
          <a:bodyPr/>
          <a:lstStyle/>
          <a:p>
            <a:endParaRPr lang="es-US"/>
          </a:p>
        </p:txBody>
      </p:sp>
      <p:sp>
        <p:nvSpPr>
          <p:cNvPr id="5" name="Shape 3"/>
          <p:cNvSpPr/>
          <p:nvPr/>
        </p:nvSpPr>
        <p:spPr>
          <a:xfrm>
            <a:off x="777240" y="1280160"/>
            <a:ext cx="10835640" cy="914400"/>
          </a:xfrm>
          <a:prstGeom prst="roundRect">
            <a:avLst>
              <a:gd name="adj" fmla="val 8000"/>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6" name="Text 4"/>
          <p:cNvSpPr/>
          <p:nvPr/>
        </p:nvSpPr>
        <p:spPr>
          <a:xfrm>
            <a:off x="960120" y="1371600"/>
            <a:ext cx="3200400" cy="365760"/>
          </a:xfrm>
          <a:prstGeom prst="rect">
            <a:avLst/>
          </a:prstGeom>
          <a:noFill/>
          <a:ln/>
        </p:spPr>
        <p:txBody>
          <a:bodyPr wrap="square" lIns="0" tIns="0" rIns="0" bIns="0" rtlCol="0" anchor="ctr"/>
          <a:lstStyle/>
          <a:p>
            <a:pPr marL="0" indent="0">
              <a:buNone/>
            </a:pPr>
            <a:r>
              <a:rPr lang="en-US" sz="1400" b="1" dirty="0">
                <a:solidFill>
                  <a:srgbClr val="0E3F7E"/>
                </a:solidFill>
                <a:latin typeface="Calibri" pitchFamily="34" charset="0"/>
                <a:ea typeface="Calibri" pitchFamily="34" charset="-122"/>
                <a:cs typeface="Calibri" pitchFamily="34" charset="-120"/>
              </a:rPr>
              <a:t>Catalogo distribuido</a:t>
            </a:r>
            <a:endParaRPr lang="en-US" sz="1400" dirty="0"/>
          </a:p>
        </p:txBody>
      </p:sp>
      <p:sp>
        <p:nvSpPr>
          <p:cNvPr id="7" name="Text 5"/>
          <p:cNvSpPr/>
          <p:nvPr/>
        </p:nvSpPr>
        <p:spPr>
          <a:xfrm>
            <a:off x="4114800" y="1371600"/>
            <a:ext cx="7406640" cy="77724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Estructura de metadatos que indica donde reside cada fragmento y replica. Habilita la transparencia de fragmentacion y ubicacion.</a:t>
            </a:r>
            <a:endParaRPr lang="en-US" sz="1200" dirty="0"/>
          </a:p>
        </p:txBody>
      </p:sp>
      <p:sp>
        <p:nvSpPr>
          <p:cNvPr id="8" name="Shape 6"/>
          <p:cNvSpPr/>
          <p:nvPr/>
        </p:nvSpPr>
        <p:spPr>
          <a:xfrm>
            <a:off x="548640" y="2286000"/>
            <a:ext cx="137160" cy="914400"/>
          </a:xfrm>
          <a:prstGeom prst="roundRect">
            <a:avLst>
              <a:gd name="adj" fmla="val 26667"/>
            </a:avLst>
          </a:prstGeom>
          <a:solidFill>
            <a:srgbClr val="1E5AA8"/>
          </a:solidFill>
          <a:ln/>
        </p:spPr>
        <p:txBody>
          <a:bodyPr/>
          <a:lstStyle/>
          <a:p>
            <a:endParaRPr lang="es-US"/>
          </a:p>
        </p:txBody>
      </p:sp>
      <p:sp>
        <p:nvSpPr>
          <p:cNvPr id="9" name="Shape 7"/>
          <p:cNvSpPr/>
          <p:nvPr/>
        </p:nvSpPr>
        <p:spPr>
          <a:xfrm>
            <a:off x="777240" y="2286000"/>
            <a:ext cx="10835640" cy="914400"/>
          </a:xfrm>
          <a:prstGeom prst="roundRect">
            <a:avLst>
              <a:gd name="adj" fmla="val 8000"/>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10" name="Text 8"/>
          <p:cNvSpPr/>
          <p:nvPr/>
        </p:nvSpPr>
        <p:spPr>
          <a:xfrm>
            <a:off x="960120" y="2377440"/>
            <a:ext cx="3200400" cy="365760"/>
          </a:xfrm>
          <a:prstGeom prst="rect">
            <a:avLst/>
          </a:prstGeom>
          <a:noFill/>
          <a:ln/>
        </p:spPr>
        <p:txBody>
          <a:bodyPr wrap="square" lIns="0" tIns="0" rIns="0" bIns="0" rtlCol="0" anchor="ctr"/>
          <a:lstStyle/>
          <a:p>
            <a:pPr marL="0" indent="0">
              <a:buNone/>
            </a:pPr>
            <a:r>
              <a:rPr lang="en-US" sz="1400" b="1" dirty="0">
                <a:solidFill>
                  <a:srgbClr val="1E5AA8"/>
                </a:solidFill>
                <a:latin typeface="Calibri" pitchFamily="34" charset="0"/>
                <a:ea typeface="Calibri" pitchFamily="34" charset="-122"/>
                <a:cs typeface="Calibri" pitchFamily="34" charset="-120"/>
              </a:rPr>
              <a:t>Transaccion distribuida</a:t>
            </a:r>
            <a:endParaRPr lang="en-US" sz="1400" dirty="0"/>
          </a:p>
        </p:txBody>
      </p:sp>
      <p:sp>
        <p:nvSpPr>
          <p:cNvPr id="11" name="Text 9"/>
          <p:cNvSpPr/>
          <p:nvPr/>
        </p:nvSpPr>
        <p:spPr>
          <a:xfrm>
            <a:off x="4114800" y="2377440"/>
            <a:ext cx="7406640" cy="77724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Unidad logica de trabajo que accede a datos en varios sitios. Debe cumplir ACID globalmente, lo que exige protocolos como el commit en dos fases (2PC).</a:t>
            </a:r>
            <a:endParaRPr lang="en-US" sz="1200" dirty="0"/>
          </a:p>
        </p:txBody>
      </p:sp>
      <p:sp>
        <p:nvSpPr>
          <p:cNvPr id="12" name="Shape 10"/>
          <p:cNvSpPr/>
          <p:nvPr/>
        </p:nvSpPr>
        <p:spPr>
          <a:xfrm>
            <a:off x="548640" y="3291840"/>
            <a:ext cx="137160" cy="914400"/>
          </a:xfrm>
          <a:prstGeom prst="roundRect">
            <a:avLst>
              <a:gd name="adj" fmla="val 26667"/>
            </a:avLst>
          </a:prstGeom>
          <a:solidFill>
            <a:srgbClr val="2E86A1"/>
          </a:solidFill>
          <a:ln/>
        </p:spPr>
        <p:txBody>
          <a:bodyPr/>
          <a:lstStyle/>
          <a:p>
            <a:endParaRPr lang="es-US"/>
          </a:p>
        </p:txBody>
      </p:sp>
      <p:sp>
        <p:nvSpPr>
          <p:cNvPr id="13" name="Shape 11"/>
          <p:cNvSpPr/>
          <p:nvPr/>
        </p:nvSpPr>
        <p:spPr>
          <a:xfrm>
            <a:off x="777240" y="3291840"/>
            <a:ext cx="10835640" cy="914400"/>
          </a:xfrm>
          <a:prstGeom prst="roundRect">
            <a:avLst>
              <a:gd name="adj" fmla="val 8000"/>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14" name="Text 12"/>
          <p:cNvSpPr/>
          <p:nvPr/>
        </p:nvSpPr>
        <p:spPr>
          <a:xfrm>
            <a:off x="960120" y="3383280"/>
            <a:ext cx="3200400" cy="365760"/>
          </a:xfrm>
          <a:prstGeom prst="rect">
            <a:avLst/>
          </a:prstGeom>
          <a:noFill/>
          <a:ln/>
        </p:spPr>
        <p:txBody>
          <a:bodyPr wrap="square" lIns="0" tIns="0" rIns="0" bIns="0" rtlCol="0" anchor="ctr"/>
          <a:lstStyle/>
          <a:p>
            <a:pPr marL="0" indent="0">
              <a:buNone/>
            </a:pPr>
            <a:r>
              <a:rPr lang="en-US" sz="1400" b="1" dirty="0">
                <a:solidFill>
                  <a:srgbClr val="2E86A1"/>
                </a:solidFill>
                <a:latin typeface="Calibri" pitchFamily="34" charset="0"/>
                <a:ea typeface="Calibri" pitchFamily="34" charset="-122"/>
                <a:cs typeface="Calibri" pitchFamily="34" charset="-120"/>
              </a:rPr>
              <a:t>Procesamiento distribuido de consultas</a:t>
            </a:r>
            <a:endParaRPr lang="en-US" sz="1400" dirty="0"/>
          </a:p>
        </p:txBody>
      </p:sp>
      <p:sp>
        <p:nvSpPr>
          <p:cNvPr id="15" name="Text 13"/>
          <p:cNvSpPr/>
          <p:nvPr/>
        </p:nvSpPr>
        <p:spPr>
          <a:xfrm>
            <a:off x="4114800" y="3383280"/>
            <a:ext cx="7406640" cy="77724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Tecnicas que transforman una consulta global en un plan que combina operaciones locales y transferencias por red, minimizando costo.</a:t>
            </a:r>
            <a:endParaRPr lang="en-US" sz="1200" dirty="0"/>
          </a:p>
        </p:txBody>
      </p:sp>
      <p:sp>
        <p:nvSpPr>
          <p:cNvPr id="16" name="Shape 14"/>
          <p:cNvSpPr/>
          <p:nvPr/>
        </p:nvSpPr>
        <p:spPr>
          <a:xfrm>
            <a:off x="548640" y="4297680"/>
            <a:ext cx="137160" cy="914400"/>
          </a:xfrm>
          <a:prstGeom prst="roundRect">
            <a:avLst>
              <a:gd name="adj" fmla="val 26667"/>
            </a:avLst>
          </a:prstGeom>
          <a:solidFill>
            <a:srgbClr val="4FAE60"/>
          </a:solidFill>
          <a:ln/>
        </p:spPr>
        <p:txBody>
          <a:bodyPr/>
          <a:lstStyle/>
          <a:p>
            <a:endParaRPr lang="es-US"/>
          </a:p>
        </p:txBody>
      </p:sp>
      <p:sp>
        <p:nvSpPr>
          <p:cNvPr id="17" name="Shape 15"/>
          <p:cNvSpPr/>
          <p:nvPr/>
        </p:nvSpPr>
        <p:spPr>
          <a:xfrm>
            <a:off x="777240" y="4297680"/>
            <a:ext cx="10835640" cy="914400"/>
          </a:xfrm>
          <a:prstGeom prst="roundRect">
            <a:avLst>
              <a:gd name="adj" fmla="val 8000"/>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18" name="Text 16"/>
          <p:cNvSpPr/>
          <p:nvPr/>
        </p:nvSpPr>
        <p:spPr>
          <a:xfrm>
            <a:off x="960120" y="4389120"/>
            <a:ext cx="3200400" cy="365760"/>
          </a:xfrm>
          <a:prstGeom prst="rect">
            <a:avLst/>
          </a:prstGeom>
          <a:noFill/>
          <a:ln/>
        </p:spPr>
        <p:txBody>
          <a:bodyPr wrap="square" lIns="0" tIns="0" rIns="0" bIns="0" rtlCol="0" anchor="ctr"/>
          <a:lstStyle/>
          <a:p>
            <a:pPr marL="0" indent="0">
              <a:buNone/>
            </a:pPr>
            <a:r>
              <a:rPr lang="en-US" sz="1400" b="1" dirty="0">
                <a:solidFill>
                  <a:srgbClr val="4FAE60"/>
                </a:solidFill>
                <a:latin typeface="Calibri" pitchFamily="34" charset="0"/>
                <a:ea typeface="Calibri" pitchFamily="34" charset="-122"/>
                <a:cs typeface="Calibri" pitchFamily="34" charset="-120"/>
              </a:rPr>
              <a:t>Modelo de consistencia</a:t>
            </a:r>
            <a:endParaRPr lang="en-US" sz="1400" dirty="0"/>
          </a:p>
        </p:txBody>
      </p:sp>
      <p:sp>
        <p:nvSpPr>
          <p:cNvPr id="19" name="Text 17"/>
          <p:cNvSpPr/>
          <p:nvPr/>
        </p:nvSpPr>
        <p:spPr>
          <a:xfrm>
            <a:off x="4114800" y="4389120"/>
            <a:ext cx="7406640" cy="77724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Garantia formal del sistema sobre el orden y la visibilidad de operaciones concurrentes. Va de serializabilidad estricta a consistencia eventual.</a:t>
            </a:r>
            <a:endParaRPr lang="en-US" sz="1200" dirty="0"/>
          </a:p>
        </p:txBody>
      </p:sp>
      <p:sp>
        <p:nvSpPr>
          <p:cNvPr id="20" name="Shape 18"/>
          <p:cNvSpPr/>
          <p:nvPr/>
        </p:nvSpPr>
        <p:spPr>
          <a:xfrm>
            <a:off x="548640" y="5303520"/>
            <a:ext cx="137160" cy="914400"/>
          </a:xfrm>
          <a:prstGeom prst="roundRect">
            <a:avLst>
              <a:gd name="adj" fmla="val 26667"/>
            </a:avLst>
          </a:prstGeom>
          <a:solidFill>
            <a:srgbClr val="F2A413"/>
          </a:solidFill>
          <a:ln/>
        </p:spPr>
        <p:txBody>
          <a:bodyPr/>
          <a:lstStyle/>
          <a:p>
            <a:endParaRPr lang="es-US"/>
          </a:p>
        </p:txBody>
      </p:sp>
      <p:sp>
        <p:nvSpPr>
          <p:cNvPr id="21" name="Shape 19"/>
          <p:cNvSpPr/>
          <p:nvPr/>
        </p:nvSpPr>
        <p:spPr>
          <a:xfrm>
            <a:off x="777240" y="5303520"/>
            <a:ext cx="10835640" cy="914400"/>
          </a:xfrm>
          <a:prstGeom prst="roundRect">
            <a:avLst>
              <a:gd name="adj" fmla="val 8000"/>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22" name="Text 20"/>
          <p:cNvSpPr/>
          <p:nvPr/>
        </p:nvSpPr>
        <p:spPr>
          <a:xfrm>
            <a:off x="960120" y="5394960"/>
            <a:ext cx="3200400" cy="365760"/>
          </a:xfrm>
          <a:prstGeom prst="rect">
            <a:avLst/>
          </a:prstGeom>
          <a:noFill/>
          <a:ln/>
        </p:spPr>
        <p:txBody>
          <a:bodyPr wrap="square" lIns="0" tIns="0" rIns="0" bIns="0" rtlCol="0" anchor="ctr"/>
          <a:lstStyle/>
          <a:p>
            <a:pPr marL="0" indent="0">
              <a:buNone/>
            </a:pPr>
            <a:r>
              <a:rPr lang="en-US" sz="1400" b="1" dirty="0">
                <a:solidFill>
                  <a:srgbClr val="F2A413"/>
                </a:solidFill>
                <a:latin typeface="Calibri" pitchFamily="34" charset="0"/>
                <a:ea typeface="Calibri" pitchFamily="34" charset="-122"/>
                <a:cs typeface="Calibri" pitchFamily="34" charset="-120"/>
              </a:rPr>
              <a:t>Tolerancia a particiones de red</a:t>
            </a:r>
            <a:endParaRPr lang="en-US" sz="1400" dirty="0"/>
          </a:p>
        </p:txBody>
      </p:sp>
      <p:sp>
        <p:nvSpPr>
          <p:cNvPr id="23" name="Text 21"/>
          <p:cNvSpPr/>
          <p:nvPr/>
        </p:nvSpPr>
        <p:spPr>
          <a:xfrm>
            <a:off x="4114800" y="5394960"/>
            <a:ext cx="7406640" cy="77724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Capacidad del sistema de continuar operando cuando la red impide la comunicacion entre subconjuntos de sitios. Es la P del teorema CAP.</a:t>
            </a:r>
            <a:endParaRPr lang="en-US" sz="1200" dirty="0"/>
          </a:p>
        </p:txBody>
      </p:sp>
      <p:sp>
        <p:nvSpPr>
          <p:cNvPr id="24" name="Text 22"/>
          <p:cNvSpPr/>
          <p:nvPr/>
        </p:nvSpPr>
        <p:spPr>
          <a:xfrm>
            <a:off x="457200" y="6492240"/>
            <a:ext cx="8229600" cy="274320"/>
          </a:xfrm>
          <a:prstGeom prst="rect">
            <a:avLst/>
          </a:prstGeom>
          <a:noFill/>
          <a:ln/>
        </p:spPr>
        <p:txBody>
          <a:bodyPr wrap="square" rtlCol="0" anchor="ctr"/>
          <a:lstStyle/>
          <a:p>
            <a:pPr marL="0" indent="0">
              <a:buNone/>
            </a:pPr>
            <a:r>
              <a:rPr lang="en-US" sz="900" dirty="0">
                <a:solidFill>
                  <a:srgbClr val="4A4A4A"/>
                </a:solidFill>
                <a:latin typeface="Calibri" pitchFamily="34" charset="0"/>
                <a:ea typeface="Calibri" pitchFamily="34" charset="-122"/>
                <a:cs typeface="Calibri" pitchFamily="34" charset="-120"/>
              </a:rPr>
              <a:t>UTEQ - Aplicaciones Distribuidas (ISR-701) - Unidad 3</a:t>
            </a:r>
            <a:endParaRPr lang="en-US" sz="900" dirty="0"/>
          </a:p>
        </p:txBody>
      </p:sp>
      <p:sp>
        <p:nvSpPr>
          <p:cNvPr id="25" name="Text 23"/>
          <p:cNvSpPr/>
          <p:nvPr/>
        </p:nvSpPr>
        <p:spPr>
          <a:xfrm>
            <a:off x="10789920" y="6492240"/>
            <a:ext cx="914400" cy="274320"/>
          </a:xfrm>
          <a:prstGeom prst="rect">
            <a:avLst/>
          </a:prstGeom>
          <a:noFill/>
          <a:ln/>
        </p:spPr>
        <p:txBody>
          <a:bodyPr wrap="square"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6 / 42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marL="0" indent="0">
              <a:buNone/>
            </a:pPr>
            <a:r>
              <a:rPr lang="en-US" sz="2800" b="1" dirty="0">
                <a:solidFill>
                  <a:srgbClr val="0E3F7E"/>
                </a:solidFill>
                <a:latin typeface="Calibri" pitchFamily="34" charset="0"/>
                <a:ea typeface="Calibri" pitchFamily="34" charset="-122"/>
                <a:cs typeface="Calibri" pitchFamily="34" charset="-120"/>
              </a:rPr>
              <a:t>Caracteristicas de las BDD</a:t>
            </a:r>
            <a:endParaRPr lang="en-US" sz="2800" dirty="0"/>
          </a:p>
        </p:txBody>
      </p:sp>
      <p:sp>
        <p:nvSpPr>
          <p:cNvPr id="3" name="Text 1"/>
          <p:cNvSpPr/>
          <p:nvPr/>
        </p:nvSpPr>
        <p:spPr>
          <a:xfrm>
            <a:off x="457200" y="777240"/>
            <a:ext cx="11247120" cy="320040"/>
          </a:xfrm>
          <a:prstGeom prst="rect">
            <a:avLst/>
          </a:prstGeom>
          <a:noFill/>
          <a:ln/>
        </p:spPr>
        <p:txBody>
          <a:bodyPr wrap="square" lIns="0" tIns="0" rIns="0" bIns="0" rtlCol="0" anchor="ctr"/>
          <a:lstStyle/>
          <a:p>
            <a:pPr marL="0" indent="0">
              <a:buNone/>
            </a:pPr>
            <a:r>
              <a:rPr lang="en-US" sz="1400" i="1" dirty="0">
                <a:solidFill>
                  <a:srgbClr val="2E86A1"/>
                </a:solidFill>
                <a:latin typeface="Calibri" pitchFamily="34" charset="0"/>
                <a:ea typeface="Calibri" pitchFamily="34" charset="-122"/>
                <a:cs typeface="Calibri" pitchFamily="34" charset="-120"/>
              </a:rPr>
              <a:t>Cuatro fortalezas estructurales</a:t>
            </a:r>
            <a:endParaRPr lang="en-US" sz="1400" dirty="0"/>
          </a:p>
        </p:txBody>
      </p:sp>
      <p:sp>
        <p:nvSpPr>
          <p:cNvPr id="4" name="Shape 2"/>
          <p:cNvSpPr/>
          <p:nvPr/>
        </p:nvSpPr>
        <p:spPr>
          <a:xfrm>
            <a:off x="548640" y="1371600"/>
            <a:ext cx="5486400" cy="2194560"/>
          </a:xfrm>
          <a:prstGeom prst="roundRect">
            <a:avLst>
              <a:gd name="adj" fmla="val 3333"/>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5" name="Shape 3"/>
          <p:cNvSpPr/>
          <p:nvPr/>
        </p:nvSpPr>
        <p:spPr>
          <a:xfrm>
            <a:off x="822960" y="1645920"/>
            <a:ext cx="640080" cy="640080"/>
          </a:xfrm>
          <a:prstGeom prst="ellipse">
            <a:avLst/>
          </a:prstGeom>
          <a:solidFill>
            <a:srgbClr val="0E3F7E"/>
          </a:solidFill>
          <a:ln/>
        </p:spPr>
        <p:txBody>
          <a:bodyPr/>
          <a:lstStyle/>
          <a:p>
            <a:endParaRPr lang="es-US"/>
          </a:p>
        </p:txBody>
      </p:sp>
      <p:sp>
        <p:nvSpPr>
          <p:cNvPr id="6" name="Text 4"/>
          <p:cNvSpPr/>
          <p:nvPr/>
        </p:nvSpPr>
        <p:spPr>
          <a:xfrm>
            <a:off x="822960" y="164592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7" name="Text 5"/>
          <p:cNvSpPr/>
          <p:nvPr/>
        </p:nvSpPr>
        <p:spPr>
          <a:xfrm>
            <a:off x="1600200" y="1645920"/>
            <a:ext cx="4297680" cy="457200"/>
          </a:xfrm>
          <a:prstGeom prst="rect">
            <a:avLst/>
          </a:prstGeom>
          <a:noFill/>
          <a:ln/>
        </p:spPr>
        <p:txBody>
          <a:bodyPr wrap="square" lIns="0" tIns="0" rIns="0" bIns="0" rtlCol="0" anchor="ctr"/>
          <a:lstStyle/>
          <a:p>
            <a:pPr marL="0" indent="0">
              <a:buNone/>
            </a:pPr>
            <a:r>
              <a:rPr lang="en-US" sz="1500" b="1" dirty="0">
                <a:solidFill>
                  <a:srgbClr val="0E3F7E"/>
                </a:solidFill>
                <a:latin typeface="Calibri" pitchFamily="34" charset="0"/>
                <a:ea typeface="Calibri" pitchFamily="34" charset="-122"/>
                <a:cs typeface="Calibri" pitchFamily="34" charset="-120"/>
              </a:rPr>
              <a:t>Distribucion fisica y logica</a:t>
            </a:r>
            <a:endParaRPr lang="en-US" sz="1500" dirty="0"/>
          </a:p>
        </p:txBody>
      </p:sp>
      <p:sp>
        <p:nvSpPr>
          <p:cNvPr id="8" name="Text 6"/>
          <p:cNvSpPr/>
          <p:nvPr/>
        </p:nvSpPr>
        <p:spPr>
          <a:xfrm>
            <a:off x="822960" y="2286000"/>
            <a:ext cx="4937760" cy="123444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Datos en sitios geografica o logicamente separados. Intraciudad, interurbana o intercontinental. El sistema mantiene la ilusion de un unico almacen.</a:t>
            </a:r>
            <a:endParaRPr lang="en-US" sz="1200" dirty="0"/>
          </a:p>
        </p:txBody>
      </p:sp>
      <p:sp>
        <p:nvSpPr>
          <p:cNvPr id="9" name="Shape 7"/>
          <p:cNvSpPr/>
          <p:nvPr/>
        </p:nvSpPr>
        <p:spPr>
          <a:xfrm>
            <a:off x="6263640" y="1371600"/>
            <a:ext cx="5486400" cy="2194560"/>
          </a:xfrm>
          <a:prstGeom prst="roundRect">
            <a:avLst>
              <a:gd name="adj" fmla="val 3333"/>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10" name="Shape 8"/>
          <p:cNvSpPr/>
          <p:nvPr/>
        </p:nvSpPr>
        <p:spPr>
          <a:xfrm>
            <a:off x="6537960" y="1645920"/>
            <a:ext cx="640080" cy="640080"/>
          </a:xfrm>
          <a:prstGeom prst="ellipse">
            <a:avLst/>
          </a:prstGeom>
          <a:solidFill>
            <a:srgbClr val="0E3F7E"/>
          </a:solidFill>
          <a:ln/>
        </p:spPr>
        <p:txBody>
          <a:bodyPr/>
          <a:lstStyle/>
          <a:p>
            <a:endParaRPr lang="es-US"/>
          </a:p>
        </p:txBody>
      </p:sp>
      <p:sp>
        <p:nvSpPr>
          <p:cNvPr id="11" name="Text 9"/>
          <p:cNvSpPr/>
          <p:nvPr/>
        </p:nvSpPr>
        <p:spPr>
          <a:xfrm>
            <a:off x="6537960" y="164592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2" name="Text 10"/>
          <p:cNvSpPr/>
          <p:nvPr/>
        </p:nvSpPr>
        <p:spPr>
          <a:xfrm>
            <a:off x="7315200" y="1645920"/>
            <a:ext cx="4297680" cy="457200"/>
          </a:xfrm>
          <a:prstGeom prst="rect">
            <a:avLst/>
          </a:prstGeom>
          <a:noFill/>
          <a:ln/>
        </p:spPr>
        <p:txBody>
          <a:bodyPr wrap="square" lIns="0" tIns="0" rIns="0" bIns="0" rtlCol="0" anchor="ctr"/>
          <a:lstStyle/>
          <a:p>
            <a:pPr marL="0" indent="0">
              <a:buNone/>
            </a:pPr>
            <a:r>
              <a:rPr lang="en-US" sz="1500" b="1" dirty="0">
                <a:solidFill>
                  <a:srgbClr val="0E3F7E"/>
                </a:solidFill>
                <a:latin typeface="Calibri" pitchFamily="34" charset="0"/>
                <a:ea typeface="Calibri" pitchFamily="34" charset="-122"/>
                <a:cs typeface="Calibri" pitchFamily="34" charset="-120"/>
              </a:rPr>
              <a:t>Autonomia local</a:t>
            </a:r>
            <a:endParaRPr lang="en-US" sz="1500" dirty="0"/>
          </a:p>
        </p:txBody>
      </p:sp>
      <p:sp>
        <p:nvSpPr>
          <p:cNvPr id="13" name="Text 11"/>
          <p:cNvSpPr/>
          <p:nvPr/>
        </p:nvSpPr>
        <p:spPr>
          <a:xfrm>
            <a:off x="6537960" y="2286000"/>
            <a:ext cx="4937760" cy="123444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Cada sitio opera independientemente cuando la red falla. Las consultas y transacciones locales no se ven afectadas por fallos externos.</a:t>
            </a:r>
            <a:endParaRPr lang="en-US" sz="1200" dirty="0"/>
          </a:p>
        </p:txBody>
      </p:sp>
      <p:sp>
        <p:nvSpPr>
          <p:cNvPr id="14" name="Shape 12"/>
          <p:cNvSpPr/>
          <p:nvPr/>
        </p:nvSpPr>
        <p:spPr>
          <a:xfrm>
            <a:off x="548640" y="3749040"/>
            <a:ext cx="5486400" cy="2194560"/>
          </a:xfrm>
          <a:prstGeom prst="roundRect">
            <a:avLst>
              <a:gd name="adj" fmla="val 3333"/>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15" name="Shape 13"/>
          <p:cNvSpPr/>
          <p:nvPr/>
        </p:nvSpPr>
        <p:spPr>
          <a:xfrm>
            <a:off x="822960" y="4023360"/>
            <a:ext cx="640080" cy="640080"/>
          </a:xfrm>
          <a:prstGeom prst="ellipse">
            <a:avLst/>
          </a:prstGeom>
          <a:solidFill>
            <a:srgbClr val="0E3F7E"/>
          </a:solidFill>
          <a:ln/>
        </p:spPr>
        <p:txBody>
          <a:bodyPr/>
          <a:lstStyle/>
          <a:p>
            <a:endParaRPr lang="es-US"/>
          </a:p>
        </p:txBody>
      </p:sp>
      <p:sp>
        <p:nvSpPr>
          <p:cNvPr id="16" name="Text 14"/>
          <p:cNvSpPr/>
          <p:nvPr/>
        </p:nvSpPr>
        <p:spPr>
          <a:xfrm>
            <a:off x="822960" y="402336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7" name="Text 15"/>
          <p:cNvSpPr/>
          <p:nvPr/>
        </p:nvSpPr>
        <p:spPr>
          <a:xfrm>
            <a:off x="1600200" y="4023360"/>
            <a:ext cx="4297680" cy="457200"/>
          </a:xfrm>
          <a:prstGeom prst="rect">
            <a:avLst/>
          </a:prstGeom>
          <a:noFill/>
          <a:ln/>
        </p:spPr>
        <p:txBody>
          <a:bodyPr wrap="square" lIns="0" tIns="0" rIns="0" bIns="0" rtlCol="0" anchor="ctr"/>
          <a:lstStyle/>
          <a:p>
            <a:pPr marL="0" indent="0">
              <a:buNone/>
            </a:pPr>
            <a:r>
              <a:rPr lang="en-US" sz="1500" b="1" dirty="0">
                <a:solidFill>
                  <a:srgbClr val="0E3F7E"/>
                </a:solidFill>
                <a:latin typeface="Calibri" pitchFamily="34" charset="0"/>
                <a:ea typeface="Calibri" pitchFamily="34" charset="-122"/>
                <a:cs typeface="Calibri" pitchFamily="34" charset="-120"/>
              </a:rPr>
              <a:t>Crecimiento incremental</a:t>
            </a:r>
            <a:endParaRPr lang="en-US" sz="1500" dirty="0"/>
          </a:p>
        </p:txBody>
      </p:sp>
      <p:sp>
        <p:nvSpPr>
          <p:cNvPr id="18" name="Text 16"/>
          <p:cNvSpPr/>
          <p:nvPr/>
        </p:nvSpPr>
        <p:spPr>
          <a:xfrm>
            <a:off x="822960" y="4663440"/>
            <a:ext cx="4937760" cy="123444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Anadir sitios sin reescribir aplicaciones ni reorganizar masivamente. Escalabilidad horizontal: anada nodos en lugar de comprar un servidor mas grande.</a:t>
            </a:r>
            <a:endParaRPr lang="en-US" sz="1200" dirty="0"/>
          </a:p>
        </p:txBody>
      </p:sp>
      <p:sp>
        <p:nvSpPr>
          <p:cNvPr id="19" name="Shape 17"/>
          <p:cNvSpPr/>
          <p:nvPr/>
        </p:nvSpPr>
        <p:spPr>
          <a:xfrm>
            <a:off x="6263640" y="3749040"/>
            <a:ext cx="5486400" cy="2194560"/>
          </a:xfrm>
          <a:prstGeom prst="roundRect">
            <a:avLst>
              <a:gd name="adj" fmla="val 3333"/>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20" name="Shape 18"/>
          <p:cNvSpPr/>
          <p:nvPr/>
        </p:nvSpPr>
        <p:spPr>
          <a:xfrm>
            <a:off x="6537960" y="4023360"/>
            <a:ext cx="640080" cy="640080"/>
          </a:xfrm>
          <a:prstGeom prst="ellipse">
            <a:avLst/>
          </a:prstGeom>
          <a:solidFill>
            <a:srgbClr val="0E3F7E"/>
          </a:solidFill>
          <a:ln/>
        </p:spPr>
        <p:txBody>
          <a:bodyPr/>
          <a:lstStyle/>
          <a:p>
            <a:endParaRPr lang="es-US"/>
          </a:p>
        </p:txBody>
      </p:sp>
      <p:sp>
        <p:nvSpPr>
          <p:cNvPr id="21" name="Text 19"/>
          <p:cNvSpPr/>
          <p:nvPr/>
        </p:nvSpPr>
        <p:spPr>
          <a:xfrm>
            <a:off x="6537960" y="402336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4</a:t>
            </a:r>
            <a:endParaRPr lang="en-US" sz="2400" dirty="0"/>
          </a:p>
        </p:txBody>
      </p:sp>
      <p:sp>
        <p:nvSpPr>
          <p:cNvPr id="22" name="Text 20"/>
          <p:cNvSpPr/>
          <p:nvPr/>
        </p:nvSpPr>
        <p:spPr>
          <a:xfrm>
            <a:off x="7315200" y="4023360"/>
            <a:ext cx="4297680" cy="457200"/>
          </a:xfrm>
          <a:prstGeom prst="rect">
            <a:avLst/>
          </a:prstGeom>
          <a:noFill/>
          <a:ln/>
        </p:spPr>
        <p:txBody>
          <a:bodyPr wrap="square" lIns="0" tIns="0" rIns="0" bIns="0" rtlCol="0" anchor="ctr"/>
          <a:lstStyle/>
          <a:p>
            <a:pPr marL="0" indent="0">
              <a:buNone/>
            </a:pPr>
            <a:r>
              <a:rPr lang="en-US" sz="1500" b="1" dirty="0">
                <a:solidFill>
                  <a:srgbClr val="0E3F7E"/>
                </a:solidFill>
                <a:latin typeface="Calibri" pitchFamily="34" charset="0"/>
                <a:ea typeface="Calibri" pitchFamily="34" charset="-122"/>
                <a:cs typeface="Calibri" pitchFamily="34" charset="-120"/>
              </a:rPr>
              <a:t>Mayor disponibilidad</a:t>
            </a:r>
            <a:endParaRPr lang="en-US" sz="1500" dirty="0"/>
          </a:p>
        </p:txBody>
      </p:sp>
      <p:sp>
        <p:nvSpPr>
          <p:cNvPr id="23" name="Text 21"/>
          <p:cNvSpPr/>
          <p:nvPr/>
        </p:nvSpPr>
        <p:spPr>
          <a:xfrm>
            <a:off x="6537960" y="4663440"/>
            <a:ext cx="4937760" cy="123444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La replicacion permite que la caida de un sitio no implique perdida de servicio. Con consenso por mayoria (Raft, Paxos) se tolera la perdida de un nodo de tres sin interrupcion.</a:t>
            </a:r>
            <a:endParaRPr lang="en-US" sz="1200" dirty="0"/>
          </a:p>
        </p:txBody>
      </p:sp>
      <p:sp>
        <p:nvSpPr>
          <p:cNvPr id="24" name="Text 22"/>
          <p:cNvSpPr/>
          <p:nvPr/>
        </p:nvSpPr>
        <p:spPr>
          <a:xfrm>
            <a:off x="457200" y="6492240"/>
            <a:ext cx="8229600" cy="274320"/>
          </a:xfrm>
          <a:prstGeom prst="rect">
            <a:avLst/>
          </a:prstGeom>
          <a:noFill/>
          <a:ln/>
        </p:spPr>
        <p:txBody>
          <a:bodyPr wrap="square" rtlCol="0" anchor="ctr"/>
          <a:lstStyle/>
          <a:p>
            <a:pPr marL="0" indent="0">
              <a:buNone/>
            </a:pPr>
            <a:r>
              <a:rPr lang="en-US" sz="900" dirty="0">
                <a:solidFill>
                  <a:srgbClr val="4A4A4A"/>
                </a:solidFill>
                <a:latin typeface="Calibri" pitchFamily="34" charset="0"/>
                <a:ea typeface="Calibri" pitchFamily="34" charset="-122"/>
                <a:cs typeface="Calibri" pitchFamily="34" charset="-120"/>
              </a:rPr>
              <a:t>UTEQ - Aplicaciones Distribuidas (ISR-701) - Unidad 3</a:t>
            </a:r>
            <a:endParaRPr lang="en-US" sz="900" dirty="0"/>
          </a:p>
        </p:txBody>
      </p:sp>
      <p:sp>
        <p:nvSpPr>
          <p:cNvPr id="25" name="Text 23"/>
          <p:cNvSpPr/>
          <p:nvPr/>
        </p:nvSpPr>
        <p:spPr>
          <a:xfrm>
            <a:off x="10789920" y="6492240"/>
            <a:ext cx="914400" cy="274320"/>
          </a:xfrm>
          <a:prstGeom prst="rect">
            <a:avLst/>
          </a:prstGeom>
          <a:noFill/>
          <a:ln/>
        </p:spPr>
        <p:txBody>
          <a:bodyPr wrap="square"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7 / 42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marL="0" indent="0">
              <a:buNone/>
            </a:pPr>
            <a:r>
              <a:rPr lang="en-US" sz="2800" b="1" dirty="0">
                <a:solidFill>
                  <a:srgbClr val="0E3F7E"/>
                </a:solidFill>
                <a:latin typeface="Calibri" pitchFamily="34" charset="0"/>
                <a:ea typeface="Calibri" pitchFamily="34" charset="-122"/>
                <a:cs typeface="Calibri" pitchFamily="34" charset="-120"/>
              </a:rPr>
              <a:t>Caracteristicas y compromisos inherentes</a:t>
            </a:r>
            <a:endParaRPr lang="en-US" sz="2800" dirty="0"/>
          </a:p>
        </p:txBody>
      </p:sp>
      <p:sp>
        <p:nvSpPr>
          <p:cNvPr id="3" name="Text 1"/>
          <p:cNvSpPr/>
          <p:nvPr/>
        </p:nvSpPr>
        <p:spPr>
          <a:xfrm>
            <a:off x="457200" y="777240"/>
            <a:ext cx="11247120" cy="320040"/>
          </a:xfrm>
          <a:prstGeom prst="rect">
            <a:avLst/>
          </a:prstGeom>
          <a:noFill/>
          <a:ln/>
        </p:spPr>
        <p:txBody>
          <a:bodyPr wrap="square" lIns="0" tIns="0" rIns="0" bIns="0" rtlCol="0" anchor="ctr"/>
          <a:lstStyle/>
          <a:p>
            <a:pPr marL="0" indent="0">
              <a:buNone/>
            </a:pPr>
            <a:r>
              <a:rPr lang="en-US" sz="1400" i="1" dirty="0">
                <a:solidFill>
                  <a:srgbClr val="2E86A1"/>
                </a:solidFill>
                <a:latin typeface="Calibri" pitchFamily="34" charset="0"/>
                <a:ea typeface="Calibri" pitchFamily="34" charset="-122"/>
                <a:cs typeface="Calibri" pitchFamily="34" charset="-120"/>
              </a:rPr>
              <a:t>Las ventajas no son gratuitas</a:t>
            </a:r>
            <a:endParaRPr lang="en-US" sz="1400" dirty="0"/>
          </a:p>
        </p:txBody>
      </p:sp>
      <p:sp>
        <p:nvSpPr>
          <p:cNvPr id="4" name="Shape 2"/>
          <p:cNvSpPr/>
          <p:nvPr/>
        </p:nvSpPr>
        <p:spPr>
          <a:xfrm>
            <a:off x="548640" y="1371600"/>
            <a:ext cx="5486400" cy="5029200"/>
          </a:xfrm>
          <a:prstGeom prst="roundRect">
            <a:avLst>
              <a:gd name="adj" fmla="val 1455"/>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5" name="Text 3"/>
          <p:cNvSpPr/>
          <p:nvPr/>
        </p:nvSpPr>
        <p:spPr>
          <a:xfrm>
            <a:off x="777240" y="1508760"/>
            <a:ext cx="5029200" cy="365760"/>
          </a:xfrm>
          <a:prstGeom prst="rect">
            <a:avLst/>
          </a:prstGeom>
          <a:noFill/>
          <a:ln/>
        </p:spPr>
        <p:txBody>
          <a:bodyPr wrap="square" lIns="0" tIns="0" rIns="0" bIns="0" rtlCol="0" anchor="ctr"/>
          <a:lstStyle/>
          <a:p>
            <a:pPr marL="0" indent="0">
              <a:buNone/>
            </a:pPr>
            <a:r>
              <a:rPr lang="en-US" sz="1600" b="1" dirty="0">
                <a:solidFill>
                  <a:srgbClr val="4FAE60"/>
                </a:solidFill>
                <a:latin typeface="Calibri" pitchFamily="34" charset="0"/>
                <a:ea typeface="Calibri" pitchFamily="34" charset="-122"/>
                <a:cs typeface="Calibri" pitchFamily="34" charset="-120"/>
              </a:rPr>
              <a:t>Mas ventajas</a:t>
            </a:r>
            <a:endParaRPr lang="en-US" sz="1600" dirty="0"/>
          </a:p>
        </p:txBody>
      </p:sp>
      <p:sp>
        <p:nvSpPr>
          <p:cNvPr id="6" name="Text 4"/>
          <p:cNvSpPr/>
          <p:nvPr/>
        </p:nvSpPr>
        <p:spPr>
          <a:xfrm>
            <a:off x="777240" y="1920240"/>
            <a:ext cx="5029200" cy="320040"/>
          </a:xfrm>
          <a:prstGeom prst="rect">
            <a:avLst/>
          </a:prstGeom>
          <a:noFill/>
          <a:ln/>
        </p:spPr>
        <p:txBody>
          <a:bodyPr wrap="square" lIns="0" tIns="0" rIns="0" bIns="0" rtlCol="0" anchor="ctr"/>
          <a:lstStyle/>
          <a:p>
            <a:pPr marL="0" indent="0">
              <a:buNone/>
            </a:pPr>
            <a:r>
              <a:rPr lang="en-US" sz="1300" b="1" dirty="0">
                <a:solidFill>
                  <a:srgbClr val="0E3F7E"/>
                </a:solidFill>
                <a:latin typeface="Calibri" pitchFamily="34" charset="0"/>
                <a:ea typeface="Calibri" pitchFamily="34" charset="-122"/>
                <a:cs typeface="Calibri" pitchFamily="34" charset="-120"/>
              </a:rPr>
              <a:t>Mejor rendimiento localizado</a:t>
            </a:r>
            <a:endParaRPr lang="en-US" sz="1300" dirty="0"/>
          </a:p>
        </p:txBody>
      </p:sp>
      <p:sp>
        <p:nvSpPr>
          <p:cNvPr id="7" name="Text 5"/>
          <p:cNvSpPr/>
          <p:nvPr/>
        </p:nvSpPr>
        <p:spPr>
          <a:xfrm>
            <a:off x="777240" y="2240280"/>
            <a:ext cx="5029200" cy="91440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Localidad de referencia: los datos se ubican donde se usan con mayor frecuencia.</a:t>
            </a:r>
            <a:endParaRPr lang="en-US" sz="1200" dirty="0"/>
          </a:p>
        </p:txBody>
      </p:sp>
      <p:sp>
        <p:nvSpPr>
          <p:cNvPr id="8" name="Text 6"/>
          <p:cNvSpPr/>
          <p:nvPr/>
        </p:nvSpPr>
        <p:spPr>
          <a:xfrm>
            <a:off x="777240" y="3291840"/>
            <a:ext cx="5029200" cy="320040"/>
          </a:xfrm>
          <a:prstGeom prst="rect">
            <a:avLst/>
          </a:prstGeom>
          <a:noFill/>
          <a:ln/>
        </p:spPr>
        <p:txBody>
          <a:bodyPr wrap="square" lIns="0" tIns="0" rIns="0" bIns="0" rtlCol="0" anchor="ctr"/>
          <a:lstStyle/>
          <a:p>
            <a:pPr marL="0" indent="0">
              <a:buNone/>
            </a:pPr>
            <a:r>
              <a:rPr lang="en-US" sz="1300" b="1" dirty="0">
                <a:solidFill>
                  <a:srgbClr val="0E3F7E"/>
                </a:solidFill>
                <a:latin typeface="Calibri" pitchFamily="34" charset="0"/>
                <a:ea typeface="Calibri" pitchFamily="34" charset="-122"/>
                <a:cs typeface="Calibri" pitchFamily="34" charset="-120"/>
              </a:rPr>
              <a:t>Heterogeneidad potencial</a:t>
            </a:r>
            <a:endParaRPr lang="en-US" sz="1300" dirty="0"/>
          </a:p>
        </p:txBody>
      </p:sp>
      <p:sp>
        <p:nvSpPr>
          <p:cNvPr id="9" name="Text 7"/>
          <p:cNvSpPr/>
          <p:nvPr/>
        </p:nvSpPr>
        <p:spPr>
          <a:xfrm>
            <a:off x="777240" y="3611880"/>
            <a:ext cx="5029200" cy="91440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Distintos sitios pueden ejecutar distintos motores SGBD, integrando sistemas legados sin migrar.</a:t>
            </a:r>
            <a:endParaRPr lang="en-US" sz="1200" dirty="0"/>
          </a:p>
        </p:txBody>
      </p:sp>
      <p:sp>
        <p:nvSpPr>
          <p:cNvPr id="10" name="Text 8"/>
          <p:cNvSpPr/>
          <p:nvPr/>
        </p:nvSpPr>
        <p:spPr>
          <a:xfrm>
            <a:off x="777240" y="4663440"/>
            <a:ext cx="5029200" cy="320040"/>
          </a:xfrm>
          <a:prstGeom prst="rect">
            <a:avLst/>
          </a:prstGeom>
          <a:noFill/>
          <a:ln/>
        </p:spPr>
        <p:txBody>
          <a:bodyPr wrap="square" lIns="0" tIns="0" rIns="0" bIns="0" rtlCol="0" anchor="ctr"/>
          <a:lstStyle/>
          <a:p>
            <a:pPr marL="0" indent="0">
              <a:buNone/>
            </a:pPr>
            <a:r>
              <a:rPr lang="en-US" sz="1300" b="1" dirty="0">
                <a:solidFill>
                  <a:srgbClr val="0E3F7E"/>
                </a:solidFill>
                <a:latin typeface="Calibri" pitchFamily="34" charset="0"/>
                <a:ea typeface="Calibri" pitchFamily="34" charset="-122"/>
                <a:cs typeface="Calibri" pitchFamily="34" charset="-120"/>
              </a:rPr>
              <a:t>Compromiso CAP explicito</a:t>
            </a:r>
            <a:endParaRPr lang="en-US" sz="1300" dirty="0"/>
          </a:p>
        </p:txBody>
      </p:sp>
      <p:sp>
        <p:nvSpPr>
          <p:cNvPr id="11" name="Text 9"/>
          <p:cNvSpPr/>
          <p:nvPr/>
        </p:nvSpPr>
        <p:spPr>
          <a:xfrm>
            <a:off x="777240" y="4983480"/>
            <a:ext cx="5029200" cy="91440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Cualquier BDD declara su posicion: ante particion, sacrifica consistencia (AP) o disponibilidad (CP).</a:t>
            </a:r>
            <a:endParaRPr lang="en-US" sz="1200" dirty="0"/>
          </a:p>
        </p:txBody>
      </p:sp>
      <p:sp>
        <p:nvSpPr>
          <p:cNvPr id="12" name="Shape 10"/>
          <p:cNvSpPr/>
          <p:nvPr/>
        </p:nvSpPr>
        <p:spPr>
          <a:xfrm>
            <a:off x="6126480" y="1371600"/>
            <a:ext cx="5486400" cy="5029200"/>
          </a:xfrm>
          <a:prstGeom prst="roundRect">
            <a:avLst>
              <a:gd name="adj" fmla="val 1455"/>
            </a:avLst>
          </a:prstGeom>
          <a:solidFill>
            <a:srgbClr val="FEF5E6"/>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13" name="Text 11"/>
          <p:cNvSpPr/>
          <p:nvPr/>
        </p:nvSpPr>
        <p:spPr>
          <a:xfrm>
            <a:off x="6355080" y="1508760"/>
            <a:ext cx="5029200" cy="365760"/>
          </a:xfrm>
          <a:prstGeom prst="rect">
            <a:avLst/>
          </a:prstGeom>
          <a:noFill/>
          <a:ln/>
        </p:spPr>
        <p:txBody>
          <a:bodyPr wrap="square" lIns="0" tIns="0" rIns="0" bIns="0" rtlCol="0" anchor="ctr"/>
          <a:lstStyle/>
          <a:p>
            <a:pPr marL="0" indent="0">
              <a:buNone/>
            </a:pPr>
            <a:r>
              <a:rPr lang="en-US" sz="1600" b="1" dirty="0">
                <a:solidFill>
                  <a:srgbClr val="F2A413"/>
                </a:solidFill>
                <a:latin typeface="Calibri" pitchFamily="34" charset="0"/>
                <a:ea typeface="Calibri" pitchFamily="34" charset="-122"/>
                <a:cs typeface="Calibri" pitchFamily="34" charset="-120"/>
              </a:rPr>
              <a:t>Compromisos inherentes</a:t>
            </a:r>
            <a:endParaRPr lang="en-US" sz="1600" dirty="0"/>
          </a:p>
        </p:txBody>
      </p:sp>
      <p:sp>
        <p:nvSpPr>
          <p:cNvPr id="14" name="Text 12"/>
          <p:cNvSpPr/>
          <p:nvPr/>
        </p:nvSpPr>
        <p:spPr>
          <a:xfrm>
            <a:off x="6355080" y="2011680"/>
            <a:ext cx="5029200" cy="4206240"/>
          </a:xfrm>
          <a:prstGeom prst="rect">
            <a:avLst/>
          </a:prstGeom>
          <a:noFill/>
          <a:ln/>
        </p:spPr>
        <p:txBody>
          <a:bodyPr wrap="square" rtlCol="0" anchor="ctr"/>
          <a:lstStyle/>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Complejidad de coordinacion entre sitios</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Latencia de red en operaciones cross-site</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Dificultad para mantener integridad referencial</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Problemas de consistencia ausentes en centralizados</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Despliegue, monitoreo y debugging mas complejos</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Costo operativo mayor (mas hardware, mas personal capacitado)</a:t>
            </a:r>
            <a:endParaRPr lang="en-US" sz="1300" dirty="0"/>
          </a:p>
        </p:txBody>
      </p:sp>
      <p:sp>
        <p:nvSpPr>
          <p:cNvPr id="15" name="Text 13"/>
          <p:cNvSpPr/>
          <p:nvPr/>
        </p:nvSpPr>
        <p:spPr>
          <a:xfrm>
            <a:off x="457200" y="6492240"/>
            <a:ext cx="8229600" cy="274320"/>
          </a:xfrm>
          <a:prstGeom prst="rect">
            <a:avLst/>
          </a:prstGeom>
          <a:noFill/>
          <a:ln/>
        </p:spPr>
        <p:txBody>
          <a:bodyPr wrap="square" rtlCol="0" anchor="ctr"/>
          <a:lstStyle/>
          <a:p>
            <a:pPr marL="0" indent="0">
              <a:buNone/>
            </a:pPr>
            <a:r>
              <a:rPr lang="en-US" sz="900" dirty="0">
                <a:solidFill>
                  <a:srgbClr val="4A4A4A"/>
                </a:solidFill>
                <a:latin typeface="Calibri" pitchFamily="34" charset="0"/>
                <a:ea typeface="Calibri" pitchFamily="34" charset="-122"/>
                <a:cs typeface="Calibri" pitchFamily="34" charset="-120"/>
              </a:rPr>
              <a:t>UTEQ - Aplicaciones Distribuidas (ISR-701) - Unidad 3</a:t>
            </a:r>
            <a:endParaRPr lang="en-US" sz="900" dirty="0"/>
          </a:p>
        </p:txBody>
      </p:sp>
      <p:sp>
        <p:nvSpPr>
          <p:cNvPr id="16" name="Text 14"/>
          <p:cNvSpPr/>
          <p:nvPr/>
        </p:nvSpPr>
        <p:spPr>
          <a:xfrm>
            <a:off x="10789920" y="6492240"/>
            <a:ext cx="914400" cy="274320"/>
          </a:xfrm>
          <a:prstGeom prst="rect">
            <a:avLst/>
          </a:prstGeom>
          <a:noFill/>
          <a:ln/>
        </p:spPr>
        <p:txBody>
          <a:bodyPr wrap="square"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8 / 42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marL="0" indent="0">
              <a:buNone/>
            </a:pPr>
            <a:r>
              <a:rPr lang="en-US" sz="2800" b="1" dirty="0">
                <a:solidFill>
                  <a:srgbClr val="0E3F7E"/>
                </a:solidFill>
                <a:latin typeface="Calibri" pitchFamily="34" charset="0"/>
                <a:ea typeface="Calibri" pitchFamily="34" charset="-122"/>
                <a:cs typeface="Calibri" pitchFamily="34" charset="-120"/>
              </a:rPr>
              <a:t>Las 12 reglas de Date para SGBDD (1/2)</a:t>
            </a:r>
            <a:endParaRPr lang="en-US" sz="2800" dirty="0"/>
          </a:p>
        </p:txBody>
      </p:sp>
      <p:sp>
        <p:nvSpPr>
          <p:cNvPr id="3" name="Text 1"/>
          <p:cNvSpPr/>
          <p:nvPr/>
        </p:nvSpPr>
        <p:spPr>
          <a:xfrm>
            <a:off x="457200" y="777240"/>
            <a:ext cx="11247120" cy="320040"/>
          </a:xfrm>
          <a:prstGeom prst="rect">
            <a:avLst/>
          </a:prstGeom>
          <a:noFill/>
          <a:ln/>
        </p:spPr>
        <p:txBody>
          <a:bodyPr wrap="square" lIns="0" tIns="0" rIns="0" bIns="0" rtlCol="0" anchor="ctr"/>
          <a:lstStyle/>
          <a:p>
            <a:pPr marL="0" indent="0">
              <a:buNone/>
            </a:pPr>
            <a:r>
              <a:rPr lang="en-US" sz="1400" i="1" dirty="0">
                <a:solidFill>
                  <a:srgbClr val="2E86A1"/>
                </a:solidFill>
                <a:latin typeface="Calibri" pitchFamily="34" charset="0"/>
                <a:ea typeface="Calibri" pitchFamily="34" charset="-122"/>
                <a:cs typeface="Calibri" pitchFamily="34" charset="-120"/>
              </a:rPr>
              <a:t>Estandar de referencia desde 1987</a:t>
            </a:r>
            <a:endParaRPr lang="en-US" sz="1400" dirty="0"/>
          </a:p>
        </p:txBody>
      </p:sp>
      <p:sp>
        <p:nvSpPr>
          <p:cNvPr id="4" name="Shape 2"/>
          <p:cNvSpPr/>
          <p:nvPr/>
        </p:nvSpPr>
        <p:spPr>
          <a:xfrm>
            <a:off x="548640" y="1280160"/>
            <a:ext cx="5486400" cy="1554480"/>
          </a:xfrm>
          <a:prstGeom prst="roundRect">
            <a:avLst>
              <a:gd name="adj" fmla="val 4706"/>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5" name="Shape 3"/>
          <p:cNvSpPr/>
          <p:nvPr/>
        </p:nvSpPr>
        <p:spPr>
          <a:xfrm>
            <a:off x="777240" y="1554480"/>
            <a:ext cx="777240" cy="777240"/>
          </a:xfrm>
          <a:prstGeom prst="roundRect">
            <a:avLst>
              <a:gd name="adj" fmla="val 11765"/>
            </a:avLst>
          </a:prstGeom>
          <a:solidFill>
            <a:srgbClr val="0E3F7E"/>
          </a:solidFill>
          <a:ln/>
        </p:spPr>
        <p:txBody>
          <a:bodyPr/>
          <a:lstStyle/>
          <a:p>
            <a:endParaRPr lang="es-US"/>
          </a:p>
        </p:txBody>
      </p:sp>
      <p:sp>
        <p:nvSpPr>
          <p:cNvPr id="6" name="Text 4"/>
          <p:cNvSpPr/>
          <p:nvPr/>
        </p:nvSpPr>
        <p:spPr>
          <a:xfrm>
            <a:off x="777240" y="1554480"/>
            <a:ext cx="777240" cy="7772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R1</a:t>
            </a:r>
            <a:endParaRPr lang="en-US" sz="2200" dirty="0"/>
          </a:p>
        </p:txBody>
      </p:sp>
      <p:sp>
        <p:nvSpPr>
          <p:cNvPr id="7" name="Text 5"/>
          <p:cNvSpPr/>
          <p:nvPr/>
        </p:nvSpPr>
        <p:spPr>
          <a:xfrm>
            <a:off x="1691640" y="1508760"/>
            <a:ext cx="4206240" cy="411480"/>
          </a:xfrm>
          <a:prstGeom prst="rect">
            <a:avLst/>
          </a:prstGeom>
          <a:noFill/>
          <a:ln/>
        </p:spPr>
        <p:txBody>
          <a:bodyPr wrap="square" lIns="0" tIns="0" rIns="0" bIns="0" rtlCol="0" anchor="ctr"/>
          <a:lstStyle/>
          <a:p>
            <a:pPr marL="0" indent="0">
              <a:buNone/>
            </a:pPr>
            <a:r>
              <a:rPr lang="en-US" sz="1400" b="1" dirty="0">
                <a:solidFill>
                  <a:srgbClr val="0E3F7E"/>
                </a:solidFill>
                <a:latin typeface="Calibri" pitchFamily="34" charset="0"/>
                <a:ea typeface="Calibri" pitchFamily="34" charset="-122"/>
                <a:cs typeface="Calibri" pitchFamily="34" charset="-120"/>
              </a:rPr>
              <a:t>Autonomia de sitio local</a:t>
            </a:r>
            <a:endParaRPr lang="en-US" sz="1400" dirty="0"/>
          </a:p>
        </p:txBody>
      </p:sp>
      <p:sp>
        <p:nvSpPr>
          <p:cNvPr id="8" name="Text 6"/>
          <p:cNvSpPr/>
          <p:nvPr/>
        </p:nvSpPr>
        <p:spPr>
          <a:xfrm>
            <a:off x="1691640" y="1920240"/>
            <a:ext cx="4206240" cy="86868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Cada sitio gestiona su seguridad e integridad sin depender de otros.</a:t>
            </a:r>
            <a:endParaRPr lang="en-US" sz="1100" dirty="0"/>
          </a:p>
        </p:txBody>
      </p:sp>
      <p:sp>
        <p:nvSpPr>
          <p:cNvPr id="9" name="Shape 7"/>
          <p:cNvSpPr/>
          <p:nvPr/>
        </p:nvSpPr>
        <p:spPr>
          <a:xfrm>
            <a:off x="6263640" y="1280160"/>
            <a:ext cx="5486400" cy="1554480"/>
          </a:xfrm>
          <a:prstGeom prst="roundRect">
            <a:avLst>
              <a:gd name="adj" fmla="val 4706"/>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10" name="Shape 8"/>
          <p:cNvSpPr/>
          <p:nvPr/>
        </p:nvSpPr>
        <p:spPr>
          <a:xfrm>
            <a:off x="6492240" y="1554480"/>
            <a:ext cx="777240" cy="777240"/>
          </a:xfrm>
          <a:prstGeom prst="roundRect">
            <a:avLst>
              <a:gd name="adj" fmla="val 11765"/>
            </a:avLst>
          </a:prstGeom>
          <a:solidFill>
            <a:srgbClr val="0E3F7E"/>
          </a:solidFill>
          <a:ln/>
        </p:spPr>
        <p:txBody>
          <a:bodyPr/>
          <a:lstStyle/>
          <a:p>
            <a:endParaRPr lang="es-US"/>
          </a:p>
        </p:txBody>
      </p:sp>
      <p:sp>
        <p:nvSpPr>
          <p:cNvPr id="11" name="Text 9"/>
          <p:cNvSpPr/>
          <p:nvPr/>
        </p:nvSpPr>
        <p:spPr>
          <a:xfrm>
            <a:off x="6492240" y="1554480"/>
            <a:ext cx="777240" cy="7772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R2</a:t>
            </a:r>
            <a:endParaRPr lang="en-US" sz="2200" dirty="0"/>
          </a:p>
        </p:txBody>
      </p:sp>
      <p:sp>
        <p:nvSpPr>
          <p:cNvPr id="12" name="Text 10"/>
          <p:cNvSpPr/>
          <p:nvPr/>
        </p:nvSpPr>
        <p:spPr>
          <a:xfrm>
            <a:off x="7406640" y="1508760"/>
            <a:ext cx="4206240" cy="411480"/>
          </a:xfrm>
          <a:prstGeom prst="rect">
            <a:avLst/>
          </a:prstGeom>
          <a:noFill/>
          <a:ln/>
        </p:spPr>
        <p:txBody>
          <a:bodyPr wrap="square" lIns="0" tIns="0" rIns="0" bIns="0" rtlCol="0" anchor="ctr"/>
          <a:lstStyle/>
          <a:p>
            <a:pPr marL="0" indent="0">
              <a:buNone/>
            </a:pPr>
            <a:r>
              <a:rPr lang="en-US" sz="1400" b="1" dirty="0">
                <a:solidFill>
                  <a:srgbClr val="0E3F7E"/>
                </a:solidFill>
                <a:latin typeface="Calibri" pitchFamily="34" charset="0"/>
                <a:ea typeface="Calibri" pitchFamily="34" charset="-122"/>
                <a:cs typeface="Calibri" pitchFamily="34" charset="-120"/>
              </a:rPr>
              <a:t>Sin dependencia de un sitio central</a:t>
            </a:r>
            <a:endParaRPr lang="en-US" sz="1400" dirty="0"/>
          </a:p>
        </p:txBody>
      </p:sp>
      <p:sp>
        <p:nvSpPr>
          <p:cNvPr id="13" name="Text 11"/>
          <p:cNvSpPr/>
          <p:nvPr/>
        </p:nvSpPr>
        <p:spPr>
          <a:xfrm>
            <a:off x="7406640" y="1920240"/>
            <a:ext cx="4206240" cy="86868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Ningun nodo cuya caida paralice el sistema completo.</a:t>
            </a:r>
            <a:endParaRPr lang="en-US" sz="1100" dirty="0"/>
          </a:p>
        </p:txBody>
      </p:sp>
      <p:sp>
        <p:nvSpPr>
          <p:cNvPr id="14" name="Shape 12"/>
          <p:cNvSpPr/>
          <p:nvPr/>
        </p:nvSpPr>
        <p:spPr>
          <a:xfrm>
            <a:off x="548640" y="2971800"/>
            <a:ext cx="5486400" cy="1554480"/>
          </a:xfrm>
          <a:prstGeom prst="roundRect">
            <a:avLst>
              <a:gd name="adj" fmla="val 4706"/>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15" name="Shape 13"/>
          <p:cNvSpPr/>
          <p:nvPr/>
        </p:nvSpPr>
        <p:spPr>
          <a:xfrm>
            <a:off x="777240" y="3246120"/>
            <a:ext cx="777240" cy="777240"/>
          </a:xfrm>
          <a:prstGeom prst="roundRect">
            <a:avLst>
              <a:gd name="adj" fmla="val 11765"/>
            </a:avLst>
          </a:prstGeom>
          <a:solidFill>
            <a:srgbClr val="0E3F7E"/>
          </a:solidFill>
          <a:ln/>
        </p:spPr>
        <p:txBody>
          <a:bodyPr/>
          <a:lstStyle/>
          <a:p>
            <a:endParaRPr lang="es-US"/>
          </a:p>
        </p:txBody>
      </p:sp>
      <p:sp>
        <p:nvSpPr>
          <p:cNvPr id="16" name="Text 14"/>
          <p:cNvSpPr/>
          <p:nvPr/>
        </p:nvSpPr>
        <p:spPr>
          <a:xfrm>
            <a:off x="777240" y="3246120"/>
            <a:ext cx="777240" cy="7772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R3</a:t>
            </a:r>
            <a:endParaRPr lang="en-US" sz="2200" dirty="0"/>
          </a:p>
        </p:txBody>
      </p:sp>
      <p:sp>
        <p:nvSpPr>
          <p:cNvPr id="17" name="Text 15"/>
          <p:cNvSpPr/>
          <p:nvPr/>
        </p:nvSpPr>
        <p:spPr>
          <a:xfrm>
            <a:off x="1691640" y="3200400"/>
            <a:ext cx="4206240" cy="411480"/>
          </a:xfrm>
          <a:prstGeom prst="rect">
            <a:avLst/>
          </a:prstGeom>
          <a:noFill/>
          <a:ln/>
        </p:spPr>
        <p:txBody>
          <a:bodyPr wrap="square" lIns="0" tIns="0" rIns="0" bIns="0" rtlCol="0" anchor="ctr"/>
          <a:lstStyle/>
          <a:p>
            <a:pPr marL="0" indent="0">
              <a:buNone/>
            </a:pPr>
            <a:r>
              <a:rPr lang="en-US" sz="1400" b="1" dirty="0">
                <a:solidFill>
                  <a:srgbClr val="0E3F7E"/>
                </a:solidFill>
                <a:latin typeface="Calibri" pitchFamily="34" charset="0"/>
                <a:ea typeface="Calibri" pitchFamily="34" charset="-122"/>
                <a:cs typeface="Calibri" pitchFamily="34" charset="-120"/>
              </a:rPr>
              <a:t>Operacion continua</a:t>
            </a:r>
            <a:endParaRPr lang="en-US" sz="1400" dirty="0"/>
          </a:p>
        </p:txBody>
      </p:sp>
      <p:sp>
        <p:nvSpPr>
          <p:cNvPr id="18" name="Text 16"/>
          <p:cNvSpPr/>
          <p:nvPr/>
        </p:nvSpPr>
        <p:spPr>
          <a:xfrm>
            <a:off x="1691640" y="3611880"/>
            <a:ext cx="4206240" cy="86868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El sistema sigue disponible aunque fallen nodos o se haga mantenimiento.</a:t>
            </a:r>
            <a:endParaRPr lang="en-US" sz="1100" dirty="0"/>
          </a:p>
        </p:txBody>
      </p:sp>
      <p:sp>
        <p:nvSpPr>
          <p:cNvPr id="19" name="Shape 17"/>
          <p:cNvSpPr/>
          <p:nvPr/>
        </p:nvSpPr>
        <p:spPr>
          <a:xfrm>
            <a:off x="6263640" y="2971800"/>
            <a:ext cx="5486400" cy="1554480"/>
          </a:xfrm>
          <a:prstGeom prst="roundRect">
            <a:avLst>
              <a:gd name="adj" fmla="val 4706"/>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20" name="Shape 18"/>
          <p:cNvSpPr/>
          <p:nvPr/>
        </p:nvSpPr>
        <p:spPr>
          <a:xfrm>
            <a:off x="6492240" y="3246120"/>
            <a:ext cx="777240" cy="777240"/>
          </a:xfrm>
          <a:prstGeom prst="roundRect">
            <a:avLst>
              <a:gd name="adj" fmla="val 11765"/>
            </a:avLst>
          </a:prstGeom>
          <a:solidFill>
            <a:srgbClr val="0E3F7E"/>
          </a:solidFill>
          <a:ln/>
        </p:spPr>
        <p:txBody>
          <a:bodyPr/>
          <a:lstStyle/>
          <a:p>
            <a:endParaRPr lang="es-US"/>
          </a:p>
        </p:txBody>
      </p:sp>
      <p:sp>
        <p:nvSpPr>
          <p:cNvPr id="21" name="Text 19"/>
          <p:cNvSpPr/>
          <p:nvPr/>
        </p:nvSpPr>
        <p:spPr>
          <a:xfrm>
            <a:off x="6492240" y="3246120"/>
            <a:ext cx="777240" cy="7772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R4</a:t>
            </a:r>
            <a:endParaRPr lang="en-US" sz="2200" dirty="0"/>
          </a:p>
        </p:txBody>
      </p:sp>
      <p:sp>
        <p:nvSpPr>
          <p:cNvPr id="22" name="Text 20"/>
          <p:cNvSpPr/>
          <p:nvPr/>
        </p:nvSpPr>
        <p:spPr>
          <a:xfrm>
            <a:off x="7406640" y="3200400"/>
            <a:ext cx="4206240" cy="411480"/>
          </a:xfrm>
          <a:prstGeom prst="rect">
            <a:avLst/>
          </a:prstGeom>
          <a:noFill/>
          <a:ln/>
        </p:spPr>
        <p:txBody>
          <a:bodyPr wrap="square" lIns="0" tIns="0" rIns="0" bIns="0" rtlCol="0" anchor="ctr"/>
          <a:lstStyle/>
          <a:p>
            <a:pPr marL="0" indent="0">
              <a:buNone/>
            </a:pPr>
            <a:r>
              <a:rPr lang="en-US" sz="1400" b="1" dirty="0">
                <a:solidFill>
                  <a:srgbClr val="0E3F7E"/>
                </a:solidFill>
                <a:latin typeface="Calibri" pitchFamily="34" charset="0"/>
                <a:ea typeface="Calibri" pitchFamily="34" charset="-122"/>
                <a:cs typeface="Calibri" pitchFamily="34" charset="-120"/>
              </a:rPr>
              <a:t>Independencia de ubicacion</a:t>
            </a:r>
            <a:endParaRPr lang="en-US" sz="1400" dirty="0"/>
          </a:p>
        </p:txBody>
      </p:sp>
      <p:sp>
        <p:nvSpPr>
          <p:cNvPr id="23" name="Text 21"/>
          <p:cNvSpPr/>
          <p:nvPr/>
        </p:nvSpPr>
        <p:spPr>
          <a:xfrm>
            <a:off x="7406640" y="3611880"/>
            <a:ext cx="4206240" cy="86868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El usuario no necesita conocer en que sitio reside un dato para acceder a el.</a:t>
            </a:r>
            <a:endParaRPr lang="en-US" sz="1100" dirty="0"/>
          </a:p>
        </p:txBody>
      </p:sp>
      <p:sp>
        <p:nvSpPr>
          <p:cNvPr id="24" name="Shape 22"/>
          <p:cNvSpPr/>
          <p:nvPr/>
        </p:nvSpPr>
        <p:spPr>
          <a:xfrm>
            <a:off x="548640" y="4663440"/>
            <a:ext cx="5486400" cy="1554480"/>
          </a:xfrm>
          <a:prstGeom prst="roundRect">
            <a:avLst>
              <a:gd name="adj" fmla="val 4706"/>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25" name="Shape 23"/>
          <p:cNvSpPr/>
          <p:nvPr/>
        </p:nvSpPr>
        <p:spPr>
          <a:xfrm>
            <a:off x="777240" y="4937760"/>
            <a:ext cx="777240" cy="777240"/>
          </a:xfrm>
          <a:prstGeom prst="roundRect">
            <a:avLst>
              <a:gd name="adj" fmla="val 11765"/>
            </a:avLst>
          </a:prstGeom>
          <a:solidFill>
            <a:srgbClr val="0E3F7E"/>
          </a:solidFill>
          <a:ln/>
        </p:spPr>
        <p:txBody>
          <a:bodyPr/>
          <a:lstStyle/>
          <a:p>
            <a:endParaRPr lang="es-US"/>
          </a:p>
        </p:txBody>
      </p:sp>
      <p:sp>
        <p:nvSpPr>
          <p:cNvPr id="26" name="Text 24"/>
          <p:cNvSpPr/>
          <p:nvPr/>
        </p:nvSpPr>
        <p:spPr>
          <a:xfrm>
            <a:off x="777240" y="4937760"/>
            <a:ext cx="777240" cy="7772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R5</a:t>
            </a:r>
            <a:endParaRPr lang="en-US" sz="2200" dirty="0"/>
          </a:p>
        </p:txBody>
      </p:sp>
      <p:sp>
        <p:nvSpPr>
          <p:cNvPr id="27" name="Text 25"/>
          <p:cNvSpPr/>
          <p:nvPr/>
        </p:nvSpPr>
        <p:spPr>
          <a:xfrm>
            <a:off x="1691640" y="4892040"/>
            <a:ext cx="4206240" cy="411480"/>
          </a:xfrm>
          <a:prstGeom prst="rect">
            <a:avLst/>
          </a:prstGeom>
          <a:noFill/>
          <a:ln/>
        </p:spPr>
        <p:txBody>
          <a:bodyPr wrap="square" lIns="0" tIns="0" rIns="0" bIns="0" rtlCol="0" anchor="ctr"/>
          <a:lstStyle/>
          <a:p>
            <a:pPr marL="0" indent="0">
              <a:buNone/>
            </a:pPr>
            <a:r>
              <a:rPr lang="en-US" sz="1400" b="1" dirty="0">
                <a:solidFill>
                  <a:srgbClr val="0E3F7E"/>
                </a:solidFill>
                <a:latin typeface="Calibri" pitchFamily="34" charset="0"/>
                <a:ea typeface="Calibri" pitchFamily="34" charset="-122"/>
                <a:cs typeface="Calibri" pitchFamily="34" charset="-120"/>
              </a:rPr>
              <a:t>Independencia de fragmentacion</a:t>
            </a:r>
            <a:endParaRPr lang="en-US" sz="1400" dirty="0"/>
          </a:p>
        </p:txBody>
      </p:sp>
      <p:sp>
        <p:nvSpPr>
          <p:cNvPr id="28" name="Text 26"/>
          <p:cNvSpPr/>
          <p:nvPr/>
        </p:nvSpPr>
        <p:spPr>
          <a:xfrm>
            <a:off x="1691640" y="5303520"/>
            <a:ext cx="4206240" cy="86868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Consultas escritas contra el esquema global sin importar como esta dividida cada relacion.</a:t>
            </a:r>
            <a:endParaRPr lang="en-US" sz="1100" dirty="0"/>
          </a:p>
        </p:txBody>
      </p:sp>
      <p:sp>
        <p:nvSpPr>
          <p:cNvPr id="29" name="Shape 27"/>
          <p:cNvSpPr/>
          <p:nvPr/>
        </p:nvSpPr>
        <p:spPr>
          <a:xfrm>
            <a:off x="6263640" y="4663440"/>
            <a:ext cx="5486400" cy="1554480"/>
          </a:xfrm>
          <a:prstGeom prst="roundRect">
            <a:avLst>
              <a:gd name="adj" fmla="val 4706"/>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30" name="Shape 28"/>
          <p:cNvSpPr/>
          <p:nvPr/>
        </p:nvSpPr>
        <p:spPr>
          <a:xfrm>
            <a:off x="6492240" y="4937760"/>
            <a:ext cx="777240" cy="777240"/>
          </a:xfrm>
          <a:prstGeom prst="roundRect">
            <a:avLst>
              <a:gd name="adj" fmla="val 11765"/>
            </a:avLst>
          </a:prstGeom>
          <a:solidFill>
            <a:srgbClr val="0E3F7E"/>
          </a:solidFill>
          <a:ln/>
        </p:spPr>
        <p:txBody>
          <a:bodyPr/>
          <a:lstStyle/>
          <a:p>
            <a:endParaRPr lang="es-US"/>
          </a:p>
        </p:txBody>
      </p:sp>
      <p:sp>
        <p:nvSpPr>
          <p:cNvPr id="31" name="Text 29"/>
          <p:cNvSpPr/>
          <p:nvPr/>
        </p:nvSpPr>
        <p:spPr>
          <a:xfrm>
            <a:off x="6492240" y="4937760"/>
            <a:ext cx="777240" cy="7772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R6</a:t>
            </a:r>
            <a:endParaRPr lang="en-US" sz="2200" dirty="0"/>
          </a:p>
        </p:txBody>
      </p:sp>
      <p:sp>
        <p:nvSpPr>
          <p:cNvPr id="32" name="Text 30"/>
          <p:cNvSpPr/>
          <p:nvPr/>
        </p:nvSpPr>
        <p:spPr>
          <a:xfrm>
            <a:off x="7406640" y="4892040"/>
            <a:ext cx="4206240" cy="411480"/>
          </a:xfrm>
          <a:prstGeom prst="rect">
            <a:avLst/>
          </a:prstGeom>
          <a:noFill/>
          <a:ln/>
        </p:spPr>
        <p:txBody>
          <a:bodyPr wrap="square" lIns="0" tIns="0" rIns="0" bIns="0" rtlCol="0" anchor="ctr"/>
          <a:lstStyle/>
          <a:p>
            <a:pPr marL="0" indent="0">
              <a:buNone/>
            </a:pPr>
            <a:r>
              <a:rPr lang="en-US" sz="1400" b="1" dirty="0">
                <a:solidFill>
                  <a:srgbClr val="0E3F7E"/>
                </a:solidFill>
                <a:latin typeface="Calibri" pitchFamily="34" charset="0"/>
                <a:ea typeface="Calibri" pitchFamily="34" charset="-122"/>
                <a:cs typeface="Calibri" pitchFamily="34" charset="-120"/>
              </a:rPr>
              <a:t>Independencia de replicacion</a:t>
            </a:r>
            <a:endParaRPr lang="en-US" sz="1400" dirty="0"/>
          </a:p>
        </p:txBody>
      </p:sp>
      <p:sp>
        <p:nvSpPr>
          <p:cNvPr id="33" name="Text 31"/>
          <p:cNvSpPr/>
          <p:nvPr/>
        </p:nvSpPr>
        <p:spPr>
          <a:xfrm>
            <a:off x="7406640" y="5303520"/>
            <a:ext cx="4206240" cy="86868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Las aplicaciones operan como si existiera una unica copia, aunque internamente haya varias.</a:t>
            </a:r>
            <a:endParaRPr lang="en-US" sz="1100" dirty="0"/>
          </a:p>
        </p:txBody>
      </p:sp>
      <p:sp>
        <p:nvSpPr>
          <p:cNvPr id="34" name="Text 32"/>
          <p:cNvSpPr/>
          <p:nvPr/>
        </p:nvSpPr>
        <p:spPr>
          <a:xfrm>
            <a:off x="457200" y="6492240"/>
            <a:ext cx="8229600" cy="274320"/>
          </a:xfrm>
          <a:prstGeom prst="rect">
            <a:avLst/>
          </a:prstGeom>
          <a:noFill/>
          <a:ln/>
        </p:spPr>
        <p:txBody>
          <a:bodyPr wrap="square" rtlCol="0" anchor="ctr"/>
          <a:lstStyle/>
          <a:p>
            <a:pPr marL="0" indent="0">
              <a:buNone/>
            </a:pPr>
            <a:r>
              <a:rPr lang="en-US" sz="900" dirty="0">
                <a:solidFill>
                  <a:srgbClr val="4A4A4A"/>
                </a:solidFill>
                <a:latin typeface="Calibri" pitchFamily="34" charset="0"/>
                <a:ea typeface="Calibri" pitchFamily="34" charset="-122"/>
                <a:cs typeface="Calibri" pitchFamily="34" charset="-120"/>
              </a:rPr>
              <a:t>UTEQ - Aplicaciones Distribuidas (ISR-701) - Unidad 3</a:t>
            </a:r>
            <a:endParaRPr lang="en-US" sz="900" dirty="0"/>
          </a:p>
        </p:txBody>
      </p:sp>
      <p:sp>
        <p:nvSpPr>
          <p:cNvPr id="35" name="Text 33"/>
          <p:cNvSpPr/>
          <p:nvPr/>
        </p:nvSpPr>
        <p:spPr>
          <a:xfrm>
            <a:off x="10789920" y="6492240"/>
            <a:ext cx="914400" cy="274320"/>
          </a:xfrm>
          <a:prstGeom prst="rect">
            <a:avLst/>
          </a:prstGeom>
          <a:noFill/>
          <a:ln/>
        </p:spPr>
        <p:txBody>
          <a:bodyPr wrap="square"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9 / 42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marL="0" indent="0">
              <a:buNone/>
            </a:pPr>
            <a:r>
              <a:rPr lang="en-US" sz="2800" b="1" dirty="0">
                <a:solidFill>
                  <a:srgbClr val="0E3F7E"/>
                </a:solidFill>
                <a:latin typeface="Calibri" pitchFamily="34" charset="0"/>
                <a:ea typeface="Calibri" pitchFamily="34" charset="-122"/>
                <a:cs typeface="Calibri" pitchFamily="34" charset="-120"/>
              </a:rPr>
              <a:t>Las 12 reglas de Date para SGBDD (2/2)</a:t>
            </a:r>
            <a:endParaRPr lang="en-US" sz="2800" dirty="0"/>
          </a:p>
        </p:txBody>
      </p:sp>
      <p:sp>
        <p:nvSpPr>
          <p:cNvPr id="3" name="Text 1"/>
          <p:cNvSpPr/>
          <p:nvPr/>
        </p:nvSpPr>
        <p:spPr>
          <a:xfrm>
            <a:off x="457200" y="777240"/>
            <a:ext cx="11247120" cy="320040"/>
          </a:xfrm>
          <a:prstGeom prst="rect">
            <a:avLst/>
          </a:prstGeom>
          <a:noFill/>
          <a:ln/>
        </p:spPr>
        <p:txBody>
          <a:bodyPr wrap="square" lIns="0" tIns="0" rIns="0" bIns="0" rtlCol="0" anchor="ctr"/>
          <a:lstStyle/>
          <a:p>
            <a:pPr marL="0" indent="0">
              <a:buNone/>
            </a:pPr>
            <a:r>
              <a:rPr lang="en-US" sz="1400" i="1" dirty="0">
                <a:solidFill>
                  <a:srgbClr val="2E86A1"/>
                </a:solidFill>
                <a:latin typeface="Calibri" pitchFamily="34" charset="0"/>
                <a:ea typeface="Calibri" pitchFamily="34" charset="-122"/>
                <a:cs typeface="Calibri" pitchFamily="34" charset="-120"/>
              </a:rPr>
              <a:t>Independencias y procesamiento distribuido</a:t>
            </a:r>
            <a:endParaRPr lang="en-US" sz="1400" dirty="0"/>
          </a:p>
        </p:txBody>
      </p:sp>
      <p:sp>
        <p:nvSpPr>
          <p:cNvPr id="4" name="Shape 2"/>
          <p:cNvSpPr/>
          <p:nvPr/>
        </p:nvSpPr>
        <p:spPr>
          <a:xfrm>
            <a:off x="548640" y="1280160"/>
            <a:ext cx="5486400" cy="1554480"/>
          </a:xfrm>
          <a:prstGeom prst="roundRect">
            <a:avLst>
              <a:gd name="adj" fmla="val 4706"/>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5" name="Shape 3"/>
          <p:cNvSpPr/>
          <p:nvPr/>
        </p:nvSpPr>
        <p:spPr>
          <a:xfrm>
            <a:off x="777240" y="1554480"/>
            <a:ext cx="777240" cy="777240"/>
          </a:xfrm>
          <a:prstGeom prst="roundRect">
            <a:avLst>
              <a:gd name="adj" fmla="val 11765"/>
            </a:avLst>
          </a:prstGeom>
          <a:solidFill>
            <a:srgbClr val="2E86A1"/>
          </a:solidFill>
          <a:ln/>
        </p:spPr>
        <p:txBody>
          <a:bodyPr/>
          <a:lstStyle/>
          <a:p>
            <a:endParaRPr lang="es-US"/>
          </a:p>
        </p:txBody>
      </p:sp>
      <p:sp>
        <p:nvSpPr>
          <p:cNvPr id="6" name="Text 4"/>
          <p:cNvSpPr/>
          <p:nvPr/>
        </p:nvSpPr>
        <p:spPr>
          <a:xfrm>
            <a:off x="777240" y="1554480"/>
            <a:ext cx="777240" cy="7772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R7</a:t>
            </a:r>
            <a:endParaRPr lang="en-US" sz="2000" dirty="0"/>
          </a:p>
        </p:txBody>
      </p:sp>
      <p:sp>
        <p:nvSpPr>
          <p:cNvPr id="7" name="Text 5"/>
          <p:cNvSpPr/>
          <p:nvPr/>
        </p:nvSpPr>
        <p:spPr>
          <a:xfrm>
            <a:off x="1691640" y="1508760"/>
            <a:ext cx="4206240" cy="411480"/>
          </a:xfrm>
          <a:prstGeom prst="rect">
            <a:avLst/>
          </a:prstGeom>
          <a:noFill/>
          <a:ln/>
        </p:spPr>
        <p:txBody>
          <a:bodyPr wrap="square" lIns="0" tIns="0" rIns="0" bIns="0" rtlCol="0" anchor="ctr"/>
          <a:lstStyle/>
          <a:p>
            <a:pPr marL="0" indent="0">
              <a:buNone/>
            </a:pPr>
            <a:r>
              <a:rPr lang="en-US" sz="1300" b="1" dirty="0">
                <a:solidFill>
                  <a:srgbClr val="2E86A1"/>
                </a:solidFill>
                <a:latin typeface="Calibri" pitchFamily="34" charset="0"/>
                <a:ea typeface="Calibri" pitchFamily="34" charset="-122"/>
                <a:cs typeface="Calibri" pitchFamily="34" charset="-120"/>
              </a:rPr>
              <a:t>Procesamiento de consultas distribuido</a:t>
            </a:r>
            <a:endParaRPr lang="en-US" sz="1300" dirty="0"/>
          </a:p>
        </p:txBody>
      </p:sp>
      <p:sp>
        <p:nvSpPr>
          <p:cNvPr id="8" name="Text 6"/>
          <p:cNvSpPr/>
          <p:nvPr/>
        </p:nvSpPr>
        <p:spPr>
          <a:xfrm>
            <a:off x="1691640" y="1920240"/>
            <a:ext cx="4206240" cy="86868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El optimizador maneja consultas multi-sitio y elige el plan mas eficiente.</a:t>
            </a:r>
            <a:endParaRPr lang="en-US" sz="1100" dirty="0"/>
          </a:p>
        </p:txBody>
      </p:sp>
      <p:sp>
        <p:nvSpPr>
          <p:cNvPr id="9" name="Shape 7"/>
          <p:cNvSpPr/>
          <p:nvPr/>
        </p:nvSpPr>
        <p:spPr>
          <a:xfrm>
            <a:off x="6263640" y="1280160"/>
            <a:ext cx="5486400" cy="1554480"/>
          </a:xfrm>
          <a:prstGeom prst="roundRect">
            <a:avLst>
              <a:gd name="adj" fmla="val 4706"/>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10" name="Shape 8"/>
          <p:cNvSpPr/>
          <p:nvPr/>
        </p:nvSpPr>
        <p:spPr>
          <a:xfrm>
            <a:off x="6492240" y="1554480"/>
            <a:ext cx="777240" cy="777240"/>
          </a:xfrm>
          <a:prstGeom prst="roundRect">
            <a:avLst>
              <a:gd name="adj" fmla="val 11765"/>
            </a:avLst>
          </a:prstGeom>
          <a:solidFill>
            <a:srgbClr val="2E86A1"/>
          </a:solidFill>
          <a:ln/>
        </p:spPr>
        <p:txBody>
          <a:bodyPr/>
          <a:lstStyle/>
          <a:p>
            <a:endParaRPr lang="es-US"/>
          </a:p>
        </p:txBody>
      </p:sp>
      <p:sp>
        <p:nvSpPr>
          <p:cNvPr id="11" name="Text 9"/>
          <p:cNvSpPr/>
          <p:nvPr/>
        </p:nvSpPr>
        <p:spPr>
          <a:xfrm>
            <a:off x="6492240" y="1554480"/>
            <a:ext cx="777240" cy="7772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R8</a:t>
            </a:r>
            <a:endParaRPr lang="en-US" sz="2000" dirty="0"/>
          </a:p>
        </p:txBody>
      </p:sp>
      <p:sp>
        <p:nvSpPr>
          <p:cNvPr id="12" name="Text 10"/>
          <p:cNvSpPr/>
          <p:nvPr/>
        </p:nvSpPr>
        <p:spPr>
          <a:xfrm>
            <a:off x="7406640" y="1508760"/>
            <a:ext cx="4206240" cy="411480"/>
          </a:xfrm>
          <a:prstGeom prst="rect">
            <a:avLst/>
          </a:prstGeom>
          <a:noFill/>
          <a:ln/>
        </p:spPr>
        <p:txBody>
          <a:bodyPr wrap="square" lIns="0" tIns="0" rIns="0" bIns="0" rtlCol="0" anchor="ctr"/>
          <a:lstStyle/>
          <a:p>
            <a:pPr marL="0" indent="0">
              <a:buNone/>
            </a:pPr>
            <a:r>
              <a:rPr lang="en-US" sz="1300" b="1" dirty="0">
                <a:solidFill>
                  <a:srgbClr val="2E86A1"/>
                </a:solidFill>
                <a:latin typeface="Calibri" pitchFamily="34" charset="0"/>
                <a:ea typeface="Calibri" pitchFamily="34" charset="-122"/>
                <a:cs typeface="Calibri" pitchFamily="34" charset="-120"/>
              </a:rPr>
              <a:t>Manejo de transacciones distribuidas</a:t>
            </a:r>
            <a:endParaRPr lang="en-US" sz="1300" dirty="0"/>
          </a:p>
        </p:txBody>
      </p:sp>
      <p:sp>
        <p:nvSpPr>
          <p:cNvPr id="13" name="Text 11"/>
          <p:cNvSpPr/>
          <p:nvPr/>
        </p:nvSpPr>
        <p:spPr>
          <a:xfrm>
            <a:off x="7406640" y="1920240"/>
            <a:ext cx="4206240" cy="86868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Las propiedades ACID se garantizan globalmente con protocolos como 2PC.</a:t>
            </a:r>
            <a:endParaRPr lang="en-US" sz="1100" dirty="0"/>
          </a:p>
        </p:txBody>
      </p:sp>
      <p:sp>
        <p:nvSpPr>
          <p:cNvPr id="14" name="Shape 12"/>
          <p:cNvSpPr/>
          <p:nvPr/>
        </p:nvSpPr>
        <p:spPr>
          <a:xfrm>
            <a:off x="548640" y="2971800"/>
            <a:ext cx="5486400" cy="1554480"/>
          </a:xfrm>
          <a:prstGeom prst="roundRect">
            <a:avLst>
              <a:gd name="adj" fmla="val 4706"/>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15" name="Shape 13"/>
          <p:cNvSpPr/>
          <p:nvPr/>
        </p:nvSpPr>
        <p:spPr>
          <a:xfrm>
            <a:off x="777240" y="3246120"/>
            <a:ext cx="777240" cy="777240"/>
          </a:xfrm>
          <a:prstGeom prst="roundRect">
            <a:avLst>
              <a:gd name="adj" fmla="val 11765"/>
            </a:avLst>
          </a:prstGeom>
          <a:solidFill>
            <a:srgbClr val="2E86A1"/>
          </a:solidFill>
          <a:ln/>
        </p:spPr>
        <p:txBody>
          <a:bodyPr/>
          <a:lstStyle/>
          <a:p>
            <a:endParaRPr lang="es-US"/>
          </a:p>
        </p:txBody>
      </p:sp>
      <p:sp>
        <p:nvSpPr>
          <p:cNvPr id="16" name="Text 14"/>
          <p:cNvSpPr/>
          <p:nvPr/>
        </p:nvSpPr>
        <p:spPr>
          <a:xfrm>
            <a:off x="777240" y="3246120"/>
            <a:ext cx="777240" cy="7772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R9</a:t>
            </a:r>
            <a:endParaRPr lang="en-US" sz="2000" dirty="0"/>
          </a:p>
        </p:txBody>
      </p:sp>
      <p:sp>
        <p:nvSpPr>
          <p:cNvPr id="17" name="Text 15"/>
          <p:cNvSpPr/>
          <p:nvPr/>
        </p:nvSpPr>
        <p:spPr>
          <a:xfrm>
            <a:off x="1691640" y="3200400"/>
            <a:ext cx="4206240" cy="411480"/>
          </a:xfrm>
          <a:prstGeom prst="rect">
            <a:avLst/>
          </a:prstGeom>
          <a:noFill/>
          <a:ln/>
        </p:spPr>
        <p:txBody>
          <a:bodyPr wrap="square" lIns="0" tIns="0" rIns="0" bIns="0" rtlCol="0" anchor="ctr"/>
          <a:lstStyle/>
          <a:p>
            <a:pPr marL="0" indent="0">
              <a:buNone/>
            </a:pPr>
            <a:r>
              <a:rPr lang="en-US" sz="1300" b="1" dirty="0">
                <a:solidFill>
                  <a:srgbClr val="2E86A1"/>
                </a:solidFill>
                <a:latin typeface="Calibri" pitchFamily="34" charset="0"/>
                <a:ea typeface="Calibri" pitchFamily="34" charset="-122"/>
                <a:cs typeface="Calibri" pitchFamily="34" charset="-120"/>
              </a:rPr>
              <a:t>Independencia de hardware</a:t>
            </a:r>
            <a:endParaRPr lang="en-US" sz="1300" dirty="0"/>
          </a:p>
        </p:txBody>
      </p:sp>
      <p:sp>
        <p:nvSpPr>
          <p:cNvPr id="18" name="Text 16"/>
          <p:cNvSpPr/>
          <p:nvPr/>
        </p:nvSpPr>
        <p:spPr>
          <a:xfrm>
            <a:off x="1691640" y="3611880"/>
            <a:ext cx="4206240" cy="86868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El sistema funciona sobre maquinas con distinta arquitectura.</a:t>
            </a:r>
            <a:endParaRPr lang="en-US" sz="1100" dirty="0"/>
          </a:p>
        </p:txBody>
      </p:sp>
      <p:sp>
        <p:nvSpPr>
          <p:cNvPr id="19" name="Shape 17"/>
          <p:cNvSpPr/>
          <p:nvPr/>
        </p:nvSpPr>
        <p:spPr>
          <a:xfrm>
            <a:off x="6263640" y="2971800"/>
            <a:ext cx="5486400" cy="1554480"/>
          </a:xfrm>
          <a:prstGeom prst="roundRect">
            <a:avLst>
              <a:gd name="adj" fmla="val 4706"/>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20" name="Shape 18"/>
          <p:cNvSpPr/>
          <p:nvPr/>
        </p:nvSpPr>
        <p:spPr>
          <a:xfrm>
            <a:off x="6492240" y="3246120"/>
            <a:ext cx="777240" cy="777240"/>
          </a:xfrm>
          <a:prstGeom prst="roundRect">
            <a:avLst>
              <a:gd name="adj" fmla="val 11765"/>
            </a:avLst>
          </a:prstGeom>
          <a:solidFill>
            <a:srgbClr val="2E86A1"/>
          </a:solidFill>
          <a:ln/>
        </p:spPr>
        <p:txBody>
          <a:bodyPr/>
          <a:lstStyle/>
          <a:p>
            <a:endParaRPr lang="es-US"/>
          </a:p>
        </p:txBody>
      </p:sp>
      <p:sp>
        <p:nvSpPr>
          <p:cNvPr id="21" name="Text 19"/>
          <p:cNvSpPr/>
          <p:nvPr/>
        </p:nvSpPr>
        <p:spPr>
          <a:xfrm>
            <a:off x="6492240" y="3246120"/>
            <a:ext cx="777240" cy="7772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R10</a:t>
            </a:r>
            <a:endParaRPr lang="en-US" sz="2000" dirty="0"/>
          </a:p>
        </p:txBody>
      </p:sp>
      <p:sp>
        <p:nvSpPr>
          <p:cNvPr id="22" name="Text 20"/>
          <p:cNvSpPr/>
          <p:nvPr/>
        </p:nvSpPr>
        <p:spPr>
          <a:xfrm>
            <a:off x="7406640" y="3200400"/>
            <a:ext cx="4206240" cy="411480"/>
          </a:xfrm>
          <a:prstGeom prst="rect">
            <a:avLst/>
          </a:prstGeom>
          <a:noFill/>
          <a:ln/>
        </p:spPr>
        <p:txBody>
          <a:bodyPr wrap="square" lIns="0" tIns="0" rIns="0" bIns="0" rtlCol="0" anchor="ctr"/>
          <a:lstStyle/>
          <a:p>
            <a:pPr marL="0" indent="0">
              <a:buNone/>
            </a:pPr>
            <a:r>
              <a:rPr lang="en-US" sz="1300" b="1" dirty="0">
                <a:solidFill>
                  <a:srgbClr val="2E86A1"/>
                </a:solidFill>
                <a:latin typeface="Calibri" pitchFamily="34" charset="0"/>
                <a:ea typeface="Calibri" pitchFamily="34" charset="-122"/>
                <a:cs typeface="Calibri" pitchFamily="34" charset="-120"/>
              </a:rPr>
              <a:t>Independencia de sistema operativo</a:t>
            </a:r>
            <a:endParaRPr lang="en-US" sz="1300" dirty="0"/>
          </a:p>
        </p:txBody>
      </p:sp>
      <p:sp>
        <p:nvSpPr>
          <p:cNvPr id="23" name="Text 21"/>
          <p:cNvSpPr/>
          <p:nvPr/>
        </p:nvSpPr>
        <p:spPr>
          <a:xfrm>
            <a:off x="7406640" y="3611880"/>
            <a:ext cx="4206240" cy="86868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Los sitios pueden correr Linux, Windows o macOS sin afectar el funcionamiento global.</a:t>
            </a:r>
            <a:endParaRPr lang="en-US" sz="1100" dirty="0"/>
          </a:p>
        </p:txBody>
      </p:sp>
      <p:sp>
        <p:nvSpPr>
          <p:cNvPr id="24" name="Shape 22"/>
          <p:cNvSpPr/>
          <p:nvPr/>
        </p:nvSpPr>
        <p:spPr>
          <a:xfrm>
            <a:off x="548640" y="4663440"/>
            <a:ext cx="5486400" cy="1554480"/>
          </a:xfrm>
          <a:prstGeom prst="roundRect">
            <a:avLst>
              <a:gd name="adj" fmla="val 4706"/>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25" name="Shape 23"/>
          <p:cNvSpPr/>
          <p:nvPr/>
        </p:nvSpPr>
        <p:spPr>
          <a:xfrm>
            <a:off x="777240" y="4937760"/>
            <a:ext cx="777240" cy="777240"/>
          </a:xfrm>
          <a:prstGeom prst="roundRect">
            <a:avLst>
              <a:gd name="adj" fmla="val 11765"/>
            </a:avLst>
          </a:prstGeom>
          <a:solidFill>
            <a:srgbClr val="2E86A1"/>
          </a:solidFill>
          <a:ln/>
        </p:spPr>
        <p:txBody>
          <a:bodyPr/>
          <a:lstStyle/>
          <a:p>
            <a:endParaRPr lang="es-US"/>
          </a:p>
        </p:txBody>
      </p:sp>
      <p:sp>
        <p:nvSpPr>
          <p:cNvPr id="26" name="Text 24"/>
          <p:cNvSpPr/>
          <p:nvPr/>
        </p:nvSpPr>
        <p:spPr>
          <a:xfrm>
            <a:off x="777240" y="4937760"/>
            <a:ext cx="777240" cy="7772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R11</a:t>
            </a:r>
            <a:endParaRPr lang="en-US" sz="2000" dirty="0"/>
          </a:p>
        </p:txBody>
      </p:sp>
      <p:sp>
        <p:nvSpPr>
          <p:cNvPr id="27" name="Text 25"/>
          <p:cNvSpPr/>
          <p:nvPr/>
        </p:nvSpPr>
        <p:spPr>
          <a:xfrm>
            <a:off x="1691640" y="4892040"/>
            <a:ext cx="4206240" cy="411480"/>
          </a:xfrm>
          <a:prstGeom prst="rect">
            <a:avLst/>
          </a:prstGeom>
          <a:noFill/>
          <a:ln/>
        </p:spPr>
        <p:txBody>
          <a:bodyPr wrap="square" lIns="0" tIns="0" rIns="0" bIns="0" rtlCol="0" anchor="ctr"/>
          <a:lstStyle/>
          <a:p>
            <a:pPr marL="0" indent="0">
              <a:buNone/>
            </a:pPr>
            <a:r>
              <a:rPr lang="en-US" sz="1300" b="1" dirty="0">
                <a:solidFill>
                  <a:srgbClr val="2E86A1"/>
                </a:solidFill>
                <a:latin typeface="Calibri" pitchFamily="34" charset="0"/>
                <a:ea typeface="Calibri" pitchFamily="34" charset="-122"/>
                <a:cs typeface="Calibri" pitchFamily="34" charset="-120"/>
              </a:rPr>
              <a:t>Independencia de red</a:t>
            </a:r>
            <a:endParaRPr lang="en-US" sz="1300" dirty="0"/>
          </a:p>
        </p:txBody>
      </p:sp>
      <p:sp>
        <p:nvSpPr>
          <p:cNvPr id="28" name="Text 26"/>
          <p:cNvSpPr/>
          <p:nvPr/>
        </p:nvSpPr>
        <p:spPr>
          <a:xfrm>
            <a:off x="1691640" y="5303520"/>
            <a:ext cx="4206240" cy="86868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Protocolos de comunicacion (TCP/IP, RPC, gRPC) transparentes al usuario.</a:t>
            </a:r>
            <a:endParaRPr lang="en-US" sz="1100" dirty="0"/>
          </a:p>
        </p:txBody>
      </p:sp>
      <p:sp>
        <p:nvSpPr>
          <p:cNvPr id="29" name="Shape 27"/>
          <p:cNvSpPr/>
          <p:nvPr/>
        </p:nvSpPr>
        <p:spPr>
          <a:xfrm>
            <a:off x="6263640" y="4663440"/>
            <a:ext cx="5486400" cy="1554480"/>
          </a:xfrm>
          <a:prstGeom prst="roundRect">
            <a:avLst>
              <a:gd name="adj" fmla="val 4706"/>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30" name="Shape 28"/>
          <p:cNvSpPr/>
          <p:nvPr/>
        </p:nvSpPr>
        <p:spPr>
          <a:xfrm>
            <a:off x="6492240" y="4937760"/>
            <a:ext cx="777240" cy="777240"/>
          </a:xfrm>
          <a:prstGeom prst="roundRect">
            <a:avLst>
              <a:gd name="adj" fmla="val 11765"/>
            </a:avLst>
          </a:prstGeom>
          <a:solidFill>
            <a:srgbClr val="2E86A1"/>
          </a:solidFill>
          <a:ln/>
        </p:spPr>
        <p:txBody>
          <a:bodyPr/>
          <a:lstStyle/>
          <a:p>
            <a:endParaRPr lang="es-US"/>
          </a:p>
        </p:txBody>
      </p:sp>
      <p:sp>
        <p:nvSpPr>
          <p:cNvPr id="31" name="Text 29"/>
          <p:cNvSpPr/>
          <p:nvPr/>
        </p:nvSpPr>
        <p:spPr>
          <a:xfrm>
            <a:off x="6492240" y="4937760"/>
            <a:ext cx="777240" cy="7772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R12</a:t>
            </a:r>
            <a:endParaRPr lang="en-US" sz="2000" dirty="0"/>
          </a:p>
        </p:txBody>
      </p:sp>
      <p:sp>
        <p:nvSpPr>
          <p:cNvPr id="32" name="Text 30"/>
          <p:cNvSpPr/>
          <p:nvPr/>
        </p:nvSpPr>
        <p:spPr>
          <a:xfrm>
            <a:off x="7406640" y="4892040"/>
            <a:ext cx="4206240" cy="411480"/>
          </a:xfrm>
          <a:prstGeom prst="rect">
            <a:avLst/>
          </a:prstGeom>
          <a:noFill/>
          <a:ln/>
        </p:spPr>
        <p:txBody>
          <a:bodyPr wrap="square" lIns="0" tIns="0" rIns="0" bIns="0" rtlCol="0" anchor="ctr"/>
          <a:lstStyle/>
          <a:p>
            <a:pPr marL="0" indent="0">
              <a:buNone/>
            </a:pPr>
            <a:r>
              <a:rPr lang="en-US" sz="1300" b="1" dirty="0">
                <a:solidFill>
                  <a:srgbClr val="2E86A1"/>
                </a:solidFill>
                <a:latin typeface="Calibri" pitchFamily="34" charset="0"/>
                <a:ea typeface="Calibri" pitchFamily="34" charset="-122"/>
                <a:cs typeface="Calibri" pitchFamily="34" charset="-120"/>
              </a:rPr>
              <a:t>Independencia de SGBD</a:t>
            </a:r>
            <a:endParaRPr lang="en-US" sz="1300" dirty="0"/>
          </a:p>
        </p:txBody>
      </p:sp>
      <p:sp>
        <p:nvSpPr>
          <p:cNvPr id="33" name="Text 31"/>
          <p:cNvSpPr/>
          <p:nvPr/>
        </p:nvSpPr>
        <p:spPr>
          <a:xfrm>
            <a:off x="7406640" y="5303520"/>
            <a:ext cx="4206240" cy="86868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Distintos sitios pueden usar motores distintos, siempre que se cumpla un estandar comun (SQL, JDBC).</a:t>
            </a:r>
            <a:endParaRPr lang="en-US" sz="1100" dirty="0"/>
          </a:p>
        </p:txBody>
      </p:sp>
      <p:sp>
        <p:nvSpPr>
          <p:cNvPr id="34" name="Text 32"/>
          <p:cNvSpPr/>
          <p:nvPr/>
        </p:nvSpPr>
        <p:spPr>
          <a:xfrm>
            <a:off x="457200" y="6492240"/>
            <a:ext cx="8229600" cy="274320"/>
          </a:xfrm>
          <a:prstGeom prst="rect">
            <a:avLst/>
          </a:prstGeom>
          <a:noFill/>
          <a:ln/>
        </p:spPr>
        <p:txBody>
          <a:bodyPr wrap="square" rtlCol="0" anchor="ctr"/>
          <a:lstStyle/>
          <a:p>
            <a:pPr marL="0" indent="0">
              <a:buNone/>
            </a:pPr>
            <a:r>
              <a:rPr lang="en-US" sz="900" dirty="0">
                <a:solidFill>
                  <a:srgbClr val="4A4A4A"/>
                </a:solidFill>
                <a:latin typeface="Calibri" pitchFamily="34" charset="0"/>
                <a:ea typeface="Calibri" pitchFamily="34" charset="-122"/>
                <a:cs typeface="Calibri" pitchFamily="34" charset="-120"/>
              </a:rPr>
              <a:t>UTEQ - Aplicaciones Distribuidas (ISR-701) - Unidad 3</a:t>
            </a:r>
            <a:endParaRPr lang="en-US" sz="900" dirty="0"/>
          </a:p>
        </p:txBody>
      </p:sp>
      <p:sp>
        <p:nvSpPr>
          <p:cNvPr id="35" name="Text 33"/>
          <p:cNvSpPr/>
          <p:nvPr/>
        </p:nvSpPr>
        <p:spPr>
          <a:xfrm>
            <a:off x="10789920" y="6492240"/>
            <a:ext cx="914400" cy="274320"/>
          </a:xfrm>
          <a:prstGeom prst="rect">
            <a:avLst/>
          </a:prstGeom>
          <a:noFill/>
          <a:ln/>
        </p:spPr>
        <p:txBody>
          <a:bodyPr wrap="square"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10 / 42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marL="0" indent="0">
              <a:buNone/>
            </a:pPr>
            <a:r>
              <a:rPr lang="en-US" sz="2800" b="1" dirty="0">
                <a:solidFill>
                  <a:srgbClr val="0E3F7E"/>
                </a:solidFill>
                <a:latin typeface="Calibri" pitchFamily="34" charset="0"/>
                <a:ea typeface="Calibri" pitchFamily="34" charset="-122"/>
                <a:cs typeface="Calibri" pitchFamily="34" charset="-120"/>
              </a:rPr>
              <a:t>Tres arquitecturas de SGBDD</a:t>
            </a:r>
            <a:endParaRPr lang="en-US" sz="2800" dirty="0"/>
          </a:p>
        </p:txBody>
      </p:sp>
      <p:sp>
        <p:nvSpPr>
          <p:cNvPr id="3" name="Text 1"/>
          <p:cNvSpPr/>
          <p:nvPr/>
        </p:nvSpPr>
        <p:spPr>
          <a:xfrm>
            <a:off x="457200" y="777240"/>
            <a:ext cx="11247120" cy="320040"/>
          </a:xfrm>
          <a:prstGeom prst="rect">
            <a:avLst/>
          </a:prstGeom>
          <a:noFill/>
          <a:ln/>
        </p:spPr>
        <p:txBody>
          <a:bodyPr wrap="square" lIns="0" tIns="0" rIns="0" bIns="0" rtlCol="0" anchor="ctr"/>
          <a:lstStyle/>
          <a:p>
            <a:pPr marL="0" indent="0">
              <a:buNone/>
            </a:pPr>
            <a:r>
              <a:rPr lang="en-US" sz="1400" i="1" dirty="0">
                <a:solidFill>
                  <a:srgbClr val="2E86A1"/>
                </a:solidFill>
                <a:latin typeface="Calibri" pitchFamily="34" charset="0"/>
                <a:ea typeface="Calibri" pitchFamily="34" charset="-122"/>
                <a:cs typeface="Calibri" pitchFamily="34" charset="-120"/>
              </a:rPr>
              <a:t>Diferenciadas por autonomia y coordinacion</a:t>
            </a:r>
            <a:endParaRPr lang="en-US" sz="1400" dirty="0"/>
          </a:p>
        </p:txBody>
      </p:sp>
      <p:sp>
        <p:nvSpPr>
          <p:cNvPr id="4" name="Shape 2"/>
          <p:cNvSpPr/>
          <p:nvPr/>
        </p:nvSpPr>
        <p:spPr>
          <a:xfrm>
            <a:off x="388620" y="1280160"/>
            <a:ext cx="3703320" cy="5120640"/>
          </a:xfrm>
          <a:prstGeom prst="roundRect">
            <a:avLst>
              <a:gd name="adj" fmla="val 1975"/>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5" name="Shape 3"/>
          <p:cNvSpPr/>
          <p:nvPr/>
        </p:nvSpPr>
        <p:spPr>
          <a:xfrm>
            <a:off x="388620" y="1280160"/>
            <a:ext cx="3703320" cy="640080"/>
          </a:xfrm>
          <a:prstGeom prst="roundRect">
            <a:avLst>
              <a:gd name="adj" fmla="val 11429"/>
            </a:avLst>
          </a:prstGeom>
          <a:solidFill>
            <a:srgbClr val="0E3F7E"/>
          </a:solidFill>
          <a:ln/>
        </p:spPr>
        <p:txBody>
          <a:bodyPr/>
          <a:lstStyle/>
          <a:p>
            <a:endParaRPr lang="es-US"/>
          </a:p>
        </p:txBody>
      </p:sp>
      <p:sp>
        <p:nvSpPr>
          <p:cNvPr id="6" name="Text 4"/>
          <p:cNvSpPr/>
          <p:nvPr/>
        </p:nvSpPr>
        <p:spPr>
          <a:xfrm>
            <a:off x="388620" y="1325880"/>
            <a:ext cx="370332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Cliente-Servidor</a:t>
            </a:r>
            <a:endParaRPr lang="en-US" sz="1800" dirty="0"/>
          </a:p>
        </p:txBody>
      </p:sp>
      <p:sp>
        <p:nvSpPr>
          <p:cNvPr id="7" name="Text 5"/>
          <p:cNvSpPr/>
          <p:nvPr/>
        </p:nvSpPr>
        <p:spPr>
          <a:xfrm>
            <a:off x="571500" y="2057400"/>
            <a:ext cx="3337560" cy="164592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Un servidor centralizado gestiona la BDD; los clientes envian solicitudes via red. En la variante distribuida moderna el servidor es un cluster con replicacion primaria-secundaria.</a:t>
            </a:r>
            <a:endParaRPr lang="en-US" sz="1100" dirty="0"/>
          </a:p>
        </p:txBody>
      </p:sp>
      <p:sp>
        <p:nvSpPr>
          <p:cNvPr id="8" name="Text 6"/>
          <p:cNvSpPr/>
          <p:nvPr/>
        </p:nvSpPr>
        <p:spPr>
          <a:xfrm>
            <a:off x="571500" y="3749040"/>
            <a:ext cx="3337560" cy="274320"/>
          </a:xfrm>
          <a:prstGeom prst="rect">
            <a:avLst/>
          </a:prstGeom>
          <a:noFill/>
          <a:ln/>
        </p:spPr>
        <p:txBody>
          <a:bodyPr wrap="square" lIns="0" tIns="0" rIns="0" bIns="0" rtlCol="0" anchor="ctr"/>
          <a:lstStyle/>
          <a:p>
            <a:pPr marL="0" indent="0">
              <a:buNone/>
            </a:pPr>
            <a:r>
              <a:rPr lang="en-US" sz="1100" b="1" dirty="0">
                <a:solidFill>
                  <a:srgbClr val="4FAE60"/>
                </a:solidFill>
                <a:latin typeface="Calibri" pitchFamily="34" charset="0"/>
                <a:ea typeface="Calibri" pitchFamily="34" charset="-122"/>
                <a:cs typeface="Calibri" pitchFamily="34" charset="-120"/>
              </a:rPr>
              <a:t>+ Ventaja</a:t>
            </a:r>
            <a:endParaRPr lang="en-US" sz="1100" dirty="0"/>
          </a:p>
        </p:txBody>
      </p:sp>
      <p:sp>
        <p:nvSpPr>
          <p:cNvPr id="9" name="Text 7"/>
          <p:cNvSpPr/>
          <p:nvPr/>
        </p:nvSpPr>
        <p:spPr>
          <a:xfrm>
            <a:off x="571500" y="3977640"/>
            <a:ext cx="3337560" cy="50292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Simplicidad operativa y facilidad de gestion</a:t>
            </a:r>
            <a:endParaRPr lang="en-US" sz="1100" dirty="0"/>
          </a:p>
        </p:txBody>
      </p:sp>
      <p:sp>
        <p:nvSpPr>
          <p:cNvPr id="10" name="Text 8"/>
          <p:cNvSpPr/>
          <p:nvPr/>
        </p:nvSpPr>
        <p:spPr>
          <a:xfrm>
            <a:off x="571500" y="4526280"/>
            <a:ext cx="3337560" cy="274320"/>
          </a:xfrm>
          <a:prstGeom prst="rect">
            <a:avLst/>
          </a:prstGeom>
          <a:noFill/>
          <a:ln/>
        </p:spPr>
        <p:txBody>
          <a:bodyPr wrap="square" lIns="0" tIns="0" rIns="0" bIns="0" rtlCol="0" anchor="ctr"/>
          <a:lstStyle/>
          <a:p>
            <a:pPr marL="0" indent="0">
              <a:buNone/>
            </a:pPr>
            <a:r>
              <a:rPr lang="en-US" sz="1100" b="1" dirty="0">
                <a:solidFill>
                  <a:srgbClr val="C0392B"/>
                </a:solidFill>
                <a:latin typeface="Calibri" pitchFamily="34" charset="0"/>
                <a:ea typeface="Calibri" pitchFamily="34" charset="-122"/>
                <a:cs typeface="Calibri" pitchFamily="34" charset="-120"/>
              </a:rPr>
              <a:t>- Limitacion</a:t>
            </a:r>
            <a:endParaRPr lang="en-US" sz="1100" dirty="0"/>
          </a:p>
        </p:txBody>
      </p:sp>
      <p:sp>
        <p:nvSpPr>
          <p:cNvPr id="11" name="Text 9"/>
          <p:cNvSpPr/>
          <p:nvPr/>
        </p:nvSpPr>
        <p:spPr>
          <a:xfrm>
            <a:off x="571500" y="4754880"/>
            <a:ext cx="3337560" cy="54864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Cuello de botella y punto unico de fallo (mitigado por replicacion)</a:t>
            </a:r>
            <a:endParaRPr lang="en-US" sz="1100" dirty="0"/>
          </a:p>
        </p:txBody>
      </p:sp>
      <p:sp>
        <p:nvSpPr>
          <p:cNvPr id="12" name="Text 10"/>
          <p:cNvSpPr/>
          <p:nvPr/>
        </p:nvSpPr>
        <p:spPr>
          <a:xfrm>
            <a:off x="571500" y="5349240"/>
            <a:ext cx="3337560" cy="274320"/>
          </a:xfrm>
          <a:prstGeom prst="rect">
            <a:avLst/>
          </a:prstGeom>
          <a:noFill/>
          <a:ln/>
        </p:spPr>
        <p:txBody>
          <a:bodyPr wrap="square" lIns="0" tIns="0" rIns="0" bIns="0" rtlCol="0" anchor="ctr"/>
          <a:lstStyle/>
          <a:p>
            <a:pPr marL="0" indent="0">
              <a:buNone/>
            </a:pPr>
            <a:r>
              <a:rPr lang="en-US" sz="1100" b="1" dirty="0">
                <a:solidFill>
                  <a:srgbClr val="0E3F7E"/>
                </a:solidFill>
                <a:latin typeface="Calibri" pitchFamily="34" charset="0"/>
                <a:ea typeface="Calibri" pitchFamily="34" charset="-122"/>
                <a:cs typeface="Calibri" pitchFamily="34" charset="-120"/>
              </a:rPr>
              <a:t>Ejemplos</a:t>
            </a:r>
            <a:endParaRPr lang="en-US" sz="1100" dirty="0"/>
          </a:p>
        </p:txBody>
      </p:sp>
      <p:sp>
        <p:nvSpPr>
          <p:cNvPr id="13" name="Text 11"/>
          <p:cNvSpPr/>
          <p:nvPr/>
        </p:nvSpPr>
        <p:spPr>
          <a:xfrm>
            <a:off x="571500" y="5577840"/>
            <a:ext cx="3337560" cy="777240"/>
          </a:xfrm>
          <a:prstGeom prst="rect">
            <a:avLst/>
          </a:prstGeom>
          <a:noFill/>
          <a:ln/>
        </p:spPr>
        <p:txBody>
          <a:bodyPr wrap="square" rtlCol="0" anchor="ctr"/>
          <a:lstStyle/>
          <a:p>
            <a:pPr marL="0" indent="0">
              <a:buNone/>
            </a:pPr>
            <a:r>
              <a:rPr lang="en-US" sz="1000" i="1" dirty="0">
                <a:solidFill>
                  <a:srgbClr val="4A4A4A"/>
                </a:solidFill>
                <a:latin typeface="Calibri" pitchFamily="34" charset="0"/>
                <a:ea typeface="Calibri" pitchFamily="34" charset="-122"/>
                <a:cs typeface="Calibri" pitchFamily="34" charset="-120"/>
              </a:rPr>
              <a:t>PostgreSQL con streaming replication, MySQL con replicacion asincrona</a:t>
            </a:r>
            <a:endParaRPr lang="en-US" sz="1000" dirty="0"/>
          </a:p>
        </p:txBody>
      </p:sp>
      <p:sp>
        <p:nvSpPr>
          <p:cNvPr id="14" name="Shape 12"/>
          <p:cNvSpPr/>
          <p:nvPr/>
        </p:nvSpPr>
        <p:spPr>
          <a:xfrm>
            <a:off x="4229100" y="1280160"/>
            <a:ext cx="3703320" cy="5120640"/>
          </a:xfrm>
          <a:prstGeom prst="roundRect">
            <a:avLst>
              <a:gd name="adj" fmla="val 1975"/>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15" name="Shape 13"/>
          <p:cNvSpPr/>
          <p:nvPr/>
        </p:nvSpPr>
        <p:spPr>
          <a:xfrm>
            <a:off x="4229100" y="1280160"/>
            <a:ext cx="3703320" cy="640080"/>
          </a:xfrm>
          <a:prstGeom prst="roundRect">
            <a:avLst>
              <a:gd name="adj" fmla="val 11429"/>
            </a:avLst>
          </a:prstGeom>
          <a:solidFill>
            <a:srgbClr val="2E86A1"/>
          </a:solidFill>
          <a:ln/>
        </p:spPr>
        <p:txBody>
          <a:bodyPr/>
          <a:lstStyle/>
          <a:p>
            <a:endParaRPr lang="es-US"/>
          </a:p>
        </p:txBody>
      </p:sp>
      <p:sp>
        <p:nvSpPr>
          <p:cNvPr id="16" name="Text 14"/>
          <p:cNvSpPr/>
          <p:nvPr/>
        </p:nvSpPr>
        <p:spPr>
          <a:xfrm>
            <a:off x="4229100" y="1325880"/>
            <a:ext cx="370332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Federada</a:t>
            </a:r>
            <a:endParaRPr lang="en-US" sz="1800" dirty="0"/>
          </a:p>
        </p:txBody>
      </p:sp>
      <p:sp>
        <p:nvSpPr>
          <p:cNvPr id="17" name="Text 15"/>
          <p:cNvSpPr/>
          <p:nvPr/>
        </p:nvSpPr>
        <p:spPr>
          <a:xfrm>
            <a:off x="4411980" y="2057400"/>
            <a:ext cx="3337560" cy="164592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Multiples SGBD locales preexistentes se interconectan mediante una capa que ofrece una vista global unificada. Cada sitio conserva autonomia y esquema local.</a:t>
            </a:r>
            <a:endParaRPr lang="en-US" sz="1100" dirty="0"/>
          </a:p>
        </p:txBody>
      </p:sp>
      <p:sp>
        <p:nvSpPr>
          <p:cNvPr id="18" name="Text 16"/>
          <p:cNvSpPr/>
          <p:nvPr/>
        </p:nvSpPr>
        <p:spPr>
          <a:xfrm>
            <a:off x="4411980" y="3749040"/>
            <a:ext cx="3337560" cy="274320"/>
          </a:xfrm>
          <a:prstGeom prst="rect">
            <a:avLst/>
          </a:prstGeom>
          <a:noFill/>
          <a:ln/>
        </p:spPr>
        <p:txBody>
          <a:bodyPr wrap="square" lIns="0" tIns="0" rIns="0" bIns="0" rtlCol="0" anchor="ctr"/>
          <a:lstStyle/>
          <a:p>
            <a:pPr marL="0" indent="0">
              <a:buNone/>
            </a:pPr>
            <a:r>
              <a:rPr lang="en-US" sz="1100" b="1" dirty="0">
                <a:solidFill>
                  <a:srgbClr val="4FAE60"/>
                </a:solidFill>
                <a:latin typeface="Calibri" pitchFamily="34" charset="0"/>
                <a:ea typeface="Calibri" pitchFamily="34" charset="-122"/>
                <a:cs typeface="Calibri" pitchFamily="34" charset="-120"/>
              </a:rPr>
              <a:t>+ Ventaja</a:t>
            </a:r>
            <a:endParaRPr lang="en-US" sz="1100" dirty="0"/>
          </a:p>
        </p:txBody>
      </p:sp>
      <p:sp>
        <p:nvSpPr>
          <p:cNvPr id="19" name="Text 17"/>
          <p:cNvSpPr/>
          <p:nvPr/>
        </p:nvSpPr>
        <p:spPr>
          <a:xfrm>
            <a:off x="4411980" y="3977640"/>
            <a:ext cx="3337560" cy="50292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Integracion de sistemas heterogeneos sin migrarlos</a:t>
            </a:r>
            <a:endParaRPr lang="en-US" sz="1100" dirty="0"/>
          </a:p>
        </p:txBody>
      </p:sp>
      <p:sp>
        <p:nvSpPr>
          <p:cNvPr id="20" name="Text 18"/>
          <p:cNvSpPr/>
          <p:nvPr/>
        </p:nvSpPr>
        <p:spPr>
          <a:xfrm>
            <a:off x="4411980" y="4526280"/>
            <a:ext cx="3337560" cy="274320"/>
          </a:xfrm>
          <a:prstGeom prst="rect">
            <a:avLst/>
          </a:prstGeom>
          <a:noFill/>
          <a:ln/>
        </p:spPr>
        <p:txBody>
          <a:bodyPr wrap="square" lIns="0" tIns="0" rIns="0" bIns="0" rtlCol="0" anchor="ctr"/>
          <a:lstStyle/>
          <a:p>
            <a:pPr marL="0" indent="0">
              <a:buNone/>
            </a:pPr>
            <a:r>
              <a:rPr lang="en-US" sz="1100" b="1" dirty="0">
                <a:solidFill>
                  <a:srgbClr val="C0392B"/>
                </a:solidFill>
                <a:latin typeface="Calibri" pitchFamily="34" charset="0"/>
                <a:ea typeface="Calibri" pitchFamily="34" charset="-122"/>
                <a:cs typeface="Calibri" pitchFamily="34" charset="-120"/>
              </a:rPr>
              <a:t>- Limitacion</a:t>
            </a:r>
            <a:endParaRPr lang="en-US" sz="1100" dirty="0"/>
          </a:p>
        </p:txBody>
      </p:sp>
      <p:sp>
        <p:nvSpPr>
          <p:cNvPr id="21" name="Text 19"/>
          <p:cNvSpPr/>
          <p:nvPr/>
        </p:nvSpPr>
        <p:spPr>
          <a:xfrm>
            <a:off x="4411980" y="4754880"/>
            <a:ext cx="3337560" cy="54864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Complejidad de coherencia semantica y optimizacion limitada</a:t>
            </a:r>
            <a:endParaRPr lang="en-US" sz="1100" dirty="0"/>
          </a:p>
        </p:txBody>
      </p:sp>
      <p:sp>
        <p:nvSpPr>
          <p:cNvPr id="22" name="Text 20"/>
          <p:cNvSpPr/>
          <p:nvPr/>
        </p:nvSpPr>
        <p:spPr>
          <a:xfrm>
            <a:off x="4411980" y="5349240"/>
            <a:ext cx="3337560" cy="274320"/>
          </a:xfrm>
          <a:prstGeom prst="rect">
            <a:avLst/>
          </a:prstGeom>
          <a:noFill/>
          <a:ln/>
        </p:spPr>
        <p:txBody>
          <a:bodyPr wrap="square" lIns="0" tIns="0" rIns="0" bIns="0" rtlCol="0" anchor="ctr"/>
          <a:lstStyle/>
          <a:p>
            <a:pPr marL="0" indent="0">
              <a:buNone/>
            </a:pPr>
            <a:r>
              <a:rPr lang="en-US" sz="1100" b="1" dirty="0">
                <a:solidFill>
                  <a:srgbClr val="0E3F7E"/>
                </a:solidFill>
                <a:latin typeface="Calibri" pitchFamily="34" charset="0"/>
                <a:ea typeface="Calibri" pitchFamily="34" charset="-122"/>
                <a:cs typeface="Calibri" pitchFamily="34" charset="-120"/>
              </a:rPr>
              <a:t>Ejemplos</a:t>
            </a:r>
            <a:endParaRPr lang="en-US" sz="1100" dirty="0"/>
          </a:p>
        </p:txBody>
      </p:sp>
      <p:sp>
        <p:nvSpPr>
          <p:cNvPr id="23" name="Text 21"/>
          <p:cNvSpPr/>
          <p:nvPr/>
        </p:nvSpPr>
        <p:spPr>
          <a:xfrm>
            <a:off x="4411980" y="5577840"/>
            <a:ext cx="3337560" cy="777240"/>
          </a:xfrm>
          <a:prstGeom prst="rect">
            <a:avLst/>
          </a:prstGeom>
          <a:noFill/>
          <a:ln/>
        </p:spPr>
        <p:txBody>
          <a:bodyPr wrap="square" rtlCol="0" anchor="ctr"/>
          <a:lstStyle/>
          <a:p>
            <a:pPr marL="0" indent="0">
              <a:buNone/>
            </a:pPr>
            <a:r>
              <a:rPr lang="en-US" sz="1000" i="1" dirty="0">
                <a:solidFill>
                  <a:srgbClr val="4A4A4A"/>
                </a:solidFill>
                <a:latin typeface="Calibri" pitchFamily="34" charset="0"/>
                <a:ea typeface="Calibri" pitchFamily="34" charset="-122"/>
                <a:cs typeface="Calibri" pitchFamily="34" charset="-120"/>
              </a:rPr>
              <a:t>PostgreSQL con Foreign Data Wrappers (FDW), Oracle Federated, Denodo</a:t>
            </a:r>
            <a:endParaRPr lang="en-US" sz="1000" dirty="0"/>
          </a:p>
        </p:txBody>
      </p:sp>
      <p:sp>
        <p:nvSpPr>
          <p:cNvPr id="24" name="Shape 22"/>
          <p:cNvSpPr/>
          <p:nvPr/>
        </p:nvSpPr>
        <p:spPr>
          <a:xfrm>
            <a:off x="8069580" y="1280160"/>
            <a:ext cx="3703320" cy="5120640"/>
          </a:xfrm>
          <a:prstGeom prst="roundRect">
            <a:avLst>
              <a:gd name="adj" fmla="val 1975"/>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25" name="Shape 23"/>
          <p:cNvSpPr/>
          <p:nvPr/>
        </p:nvSpPr>
        <p:spPr>
          <a:xfrm>
            <a:off x="8069580" y="1280160"/>
            <a:ext cx="3703320" cy="640080"/>
          </a:xfrm>
          <a:prstGeom prst="roundRect">
            <a:avLst>
              <a:gd name="adj" fmla="val 11429"/>
            </a:avLst>
          </a:prstGeom>
          <a:solidFill>
            <a:srgbClr val="4FAE60"/>
          </a:solidFill>
          <a:ln/>
        </p:spPr>
        <p:txBody>
          <a:bodyPr/>
          <a:lstStyle/>
          <a:p>
            <a:endParaRPr lang="es-US"/>
          </a:p>
        </p:txBody>
      </p:sp>
      <p:sp>
        <p:nvSpPr>
          <p:cNvPr id="26" name="Text 24"/>
          <p:cNvSpPr/>
          <p:nvPr/>
        </p:nvSpPr>
        <p:spPr>
          <a:xfrm>
            <a:off x="8069580" y="1325880"/>
            <a:ext cx="370332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Par a Par (P2P)</a:t>
            </a:r>
            <a:endParaRPr lang="en-US" sz="1800" dirty="0"/>
          </a:p>
        </p:txBody>
      </p:sp>
      <p:sp>
        <p:nvSpPr>
          <p:cNvPr id="27" name="Text 25"/>
          <p:cNvSpPr/>
          <p:nvPr/>
        </p:nvSpPr>
        <p:spPr>
          <a:xfrm>
            <a:off x="8252460" y="2057400"/>
            <a:ext cx="3337560" cy="164592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Todos los nodos tienen el mismo rol: pueden recibir consultas, almacenar datos y participar en el consenso. No existe coordinador central. Comunicacion via protocolos gossip.</a:t>
            </a:r>
            <a:endParaRPr lang="en-US" sz="1100" dirty="0"/>
          </a:p>
        </p:txBody>
      </p:sp>
      <p:sp>
        <p:nvSpPr>
          <p:cNvPr id="28" name="Text 26"/>
          <p:cNvSpPr/>
          <p:nvPr/>
        </p:nvSpPr>
        <p:spPr>
          <a:xfrm>
            <a:off x="8252460" y="3749040"/>
            <a:ext cx="3337560" cy="274320"/>
          </a:xfrm>
          <a:prstGeom prst="rect">
            <a:avLst/>
          </a:prstGeom>
          <a:noFill/>
          <a:ln/>
        </p:spPr>
        <p:txBody>
          <a:bodyPr wrap="square" lIns="0" tIns="0" rIns="0" bIns="0" rtlCol="0" anchor="ctr"/>
          <a:lstStyle/>
          <a:p>
            <a:pPr marL="0" indent="0">
              <a:buNone/>
            </a:pPr>
            <a:r>
              <a:rPr lang="en-US" sz="1100" b="1" dirty="0">
                <a:solidFill>
                  <a:srgbClr val="4FAE60"/>
                </a:solidFill>
                <a:latin typeface="Calibri" pitchFamily="34" charset="0"/>
                <a:ea typeface="Calibri" pitchFamily="34" charset="-122"/>
                <a:cs typeface="Calibri" pitchFamily="34" charset="-120"/>
              </a:rPr>
              <a:t>+ Ventaja</a:t>
            </a:r>
            <a:endParaRPr lang="en-US" sz="1100" dirty="0"/>
          </a:p>
        </p:txBody>
      </p:sp>
      <p:sp>
        <p:nvSpPr>
          <p:cNvPr id="29" name="Text 27"/>
          <p:cNvSpPr/>
          <p:nvPr/>
        </p:nvSpPr>
        <p:spPr>
          <a:xfrm>
            <a:off x="8252460" y="3977640"/>
            <a:ext cx="3337560" cy="50292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Escalabilidad horizontal practicamente ilimitada</a:t>
            </a:r>
            <a:endParaRPr lang="en-US" sz="1100" dirty="0"/>
          </a:p>
        </p:txBody>
      </p:sp>
      <p:sp>
        <p:nvSpPr>
          <p:cNvPr id="30" name="Text 28"/>
          <p:cNvSpPr/>
          <p:nvPr/>
        </p:nvSpPr>
        <p:spPr>
          <a:xfrm>
            <a:off x="8252460" y="4526280"/>
            <a:ext cx="3337560" cy="274320"/>
          </a:xfrm>
          <a:prstGeom prst="rect">
            <a:avLst/>
          </a:prstGeom>
          <a:noFill/>
          <a:ln/>
        </p:spPr>
        <p:txBody>
          <a:bodyPr wrap="square" lIns="0" tIns="0" rIns="0" bIns="0" rtlCol="0" anchor="ctr"/>
          <a:lstStyle/>
          <a:p>
            <a:pPr marL="0" indent="0">
              <a:buNone/>
            </a:pPr>
            <a:r>
              <a:rPr lang="en-US" sz="1100" b="1" dirty="0">
                <a:solidFill>
                  <a:srgbClr val="C0392B"/>
                </a:solidFill>
                <a:latin typeface="Calibri" pitchFamily="34" charset="0"/>
                <a:ea typeface="Calibri" pitchFamily="34" charset="-122"/>
                <a:cs typeface="Calibri" pitchFamily="34" charset="-120"/>
              </a:rPr>
              <a:t>- Limitacion</a:t>
            </a:r>
            <a:endParaRPr lang="en-US" sz="1100" dirty="0"/>
          </a:p>
        </p:txBody>
      </p:sp>
      <p:sp>
        <p:nvSpPr>
          <p:cNvPr id="31" name="Text 29"/>
          <p:cNvSpPr/>
          <p:nvPr/>
        </p:nvSpPr>
        <p:spPr>
          <a:xfrm>
            <a:off x="8252460" y="4754880"/>
            <a:ext cx="3337560" cy="54864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Maxima complejidad de coordinacion: consenso (Raft, Paxos) indispensable</a:t>
            </a:r>
            <a:endParaRPr lang="en-US" sz="1100" dirty="0"/>
          </a:p>
        </p:txBody>
      </p:sp>
      <p:sp>
        <p:nvSpPr>
          <p:cNvPr id="32" name="Text 30"/>
          <p:cNvSpPr/>
          <p:nvPr/>
        </p:nvSpPr>
        <p:spPr>
          <a:xfrm>
            <a:off x="8252460" y="5349240"/>
            <a:ext cx="3337560" cy="274320"/>
          </a:xfrm>
          <a:prstGeom prst="rect">
            <a:avLst/>
          </a:prstGeom>
          <a:noFill/>
          <a:ln/>
        </p:spPr>
        <p:txBody>
          <a:bodyPr wrap="square" lIns="0" tIns="0" rIns="0" bIns="0" rtlCol="0" anchor="ctr"/>
          <a:lstStyle/>
          <a:p>
            <a:pPr marL="0" indent="0">
              <a:buNone/>
            </a:pPr>
            <a:r>
              <a:rPr lang="en-US" sz="1100" b="1" dirty="0">
                <a:solidFill>
                  <a:srgbClr val="0E3F7E"/>
                </a:solidFill>
                <a:latin typeface="Calibri" pitchFamily="34" charset="0"/>
                <a:ea typeface="Calibri" pitchFamily="34" charset="-122"/>
                <a:cs typeface="Calibri" pitchFamily="34" charset="-120"/>
              </a:rPr>
              <a:t>Ejemplos</a:t>
            </a:r>
            <a:endParaRPr lang="en-US" sz="1100" dirty="0"/>
          </a:p>
        </p:txBody>
      </p:sp>
      <p:sp>
        <p:nvSpPr>
          <p:cNvPr id="33" name="Text 31"/>
          <p:cNvSpPr/>
          <p:nvPr/>
        </p:nvSpPr>
        <p:spPr>
          <a:xfrm>
            <a:off x="8252460" y="5577840"/>
            <a:ext cx="3337560" cy="777240"/>
          </a:xfrm>
          <a:prstGeom prst="rect">
            <a:avLst/>
          </a:prstGeom>
          <a:noFill/>
          <a:ln/>
        </p:spPr>
        <p:txBody>
          <a:bodyPr wrap="square" rtlCol="0" anchor="ctr"/>
          <a:lstStyle/>
          <a:p>
            <a:pPr marL="0" indent="0">
              <a:buNone/>
            </a:pPr>
            <a:r>
              <a:rPr lang="en-US" sz="1000" i="1" dirty="0">
                <a:solidFill>
                  <a:srgbClr val="4A4A4A"/>
                </a:solidFill>
                <a:latin typeface="Calibri" pitchFamily="34" charset="0"/>
                <a:ea typeface="Calibri" pitchFamily="34" charset="-122"/>
                <a:cs typeface="Calibri" pitchFamily="34" charset="-120"/>
              </a:rPr>
              <a:t>Apache Cassandra, ScyllaDB, Riak, CockroachDB</a:t>
            </a:r>
            <a:endParaRPr lang="en-US" sz="1000" dirty="0"/>
          </a:p>
        </p:txBody>
      </p:sp>
      <p:sp>
        <p:nvSpPr>
          <p:cNvPr id="34" name="Text 32"/>
          <p:cNvSpPr/>
          <p:nvPr/>
        </p:nvSpPr>
        <p:spPr>
          <a:xfrm>
            <a:off x="457200" y="6492240"/>
            <a:ext cx="8229600" cy="274320"/>
          </a:xfrm>
          <a:prstGeom prst="rect">
            <a:avLst/>
          </a:prstGeom>
          <a:noFill/>
          <a:ln/>
        </p:spPr>
        <p:txBody>
          <a:bodyPr wrap="square" rtlCol="0" anchor="ctr"/>
          <a:lstStyle/>
          <a:p>
            <a:pPr marL="0" indent="0">
              <a:buNone/>
            </a:pPr>
            <a:r>
              <a:rPr lang="en-US" sz="900" dirty="0">
                <a:solidFill>
                  <a:srgbClr val="4A4A4A"/>
                </a:solidFill>
                <a:latin typeface="Calibri" pitchFamily="34" charset="0"/>
                <a:ea typeface="Calibri" pitchFamily="34" charset="-122"/>
                <a:cs typeface="Calibri" pitchFamily="34" charset="-120"/>
              </a:rPr>
              <a:t>UTEQ - Aplicaciones Distribuidas (ISR-701) - Unidad 3</a:t>
            </a:r>
            <a:endParaRPr lang="en-US" sz="900" dirty="0"/>
          </a:p>
        </p:txBody>
      </p:sp>
      <p:sp>
        <p:nvSpPr>
          <p:cNvPr id="35" name="Text 33"/>
          <p:cNvSpPr/>
          <p:nvPr/>
        </p:nvSpPr>
        <p:spPr>
          <a:xfrm>
            <a:off x="10789920" y="6492240"/>
            <a:ext cx="914400" cy="274320"/>
          </a:xfrm>
          <a:prstGeom prst="rect">
            <a:avLst/>
          </a:prstGeom>
          <a:noFill/>
          <a:ln/>
        </p:spPr>
        <p:txBody>
          <a:bodyPr wrap="square"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11 / 42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marL="0" indent="0">
              <a:buNone/>
            </a:pPr>
            <a:r>
              <a:rPr lang="en-US" sz="2800" b="1" dirty="0">
                <a:solidFill>
                  <a:srgbClr val="0E3F7E"/>
                </a:solidFill>
                <a:latin typeface="Calibri" pitchFamily="34" charset="0"/>
                <a:ea typeface="Calibri" pitchFamily="34" charset="-122"/>
                <a:cs typeface="Calibri" pitchFamily="34" charset="-120"/>
              </a:rPr>
              <a:t>Las ocho transparencias en SGBDD</a:t>
            </a:r>
            <a:endParaRPr lang="en-US" sz="2800" dirty="0"/>
          </a:p>
        </p:txBody>
      </p:sp>
      <p:sp>
        <p:nvSpPr>
          <p:cNvPr id="3" name="Text 1"/>
          <p:cNvSpPr/>
          <p:nvPr/>
        </p:nvSpPr>
        <p:spPr>
          <a:xfrm>
            <a:off x="457200" y="777240"/>
            <a:ext cx="11247120" cy="320040"/>
          </a:xfrm>
          <a:prstGeom prst="rect">
            <a:avLst/>
          </a:prstGeom>
          <a:noFill/>
          <a:ln/>
        </p:spPr>
        <p:txBody>
          <a:bodyPr wrap="square" lIns="0" tIns="0" rIns="0" bIns="0" rtlCol="0" anchor="ctr"/>
          <a:lstStyle/>
          <a:p>
            <a:pPr marL="0" indent="0">
              <a:buNone/>
            </a:pPr>
            <a:r>
              <a:rPr lang="en-US" sz="1400" i="1" dirty="0">
                <a:solidFill>
                  <a:srgbClr val="2E86A1"/>
                </a:solidFill>
                <a:latin typeface="Calibri" pitchFamily="34" charset="0"/>
                <a:ea typeface="Calibri" pitchFamily="34" charset="-122"/>
                <a:cs typeface="Calibri" pitchFamily="34" charset="-120"/>
              </a:rPr>
              <a:t>El principio rector del diseno</a:t>
            </a:r>
            <a:endParaRPr lang="en-US" sz="1400" dirty="0"/>
          </a:p>
        </p:txBody>
      </p:sp>
      <p:sp>
        <p:nvSpPr>
          <p:cNvPr id="4" name="Shape 2"/>
          <p:cNvSpPr/>
          <p:nvPr/>
        </p:nvSpPr>
        <p:spPr>
          <a:xfrm>
            <a:off x="548640" y="1188720"/>
            <a:ext cx="11064240" cy="640080"/>
          </a:xfrm>
          <a:prstGeom prst="roundRect">
            <a:avLst>
              <a:gd name="adj" fmla="val 11429"/>
            </a:avLst>
          </a:prstGeom>
          <a:solidFill>
            <a:srgbClr val="EAF1FB"/>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5" name="Text 3"/>
          <p:cNvSpPr/>
          <p:nvPr/>
        </p:nvSpPr>
        <p:spPr>
          <a:xfrm>
            <a:off x="777240" y="1280160"/>
            <a:ext cx="10698480" cy="457200"/>
          </a:xfrm>
          <a:prstGeom prst="rect">
            <a:avLst/>
          </a:prstGeom>
          <a:noFill/>
          <a:ln/>
        </p:spPr>
        <p:txBody>
          <a:bodyPr wrap="square" rtlCol="0" anchor="ctr"/>
          <a:lstStyle/>
          <a:p>
            <a:pPr marL="0" indent="0">
              <a:buNone/>
            </a:pPr>
            <a:r>
              <a:rPr lang="en-US" sz="1300" i="1" dirty="0">
                <a:solidFill>
                  <a:srgbClr val="0E3F7E"/>
                </a:solidFill>
                <a:latin typeface="Calibri" pitchFamily="34" charset="0"/>
                <a:ea typeface="Calibri" pitchFamily="34" charset="-122"/>
                <a:cs typeface="Calibri" pitchFamily="34" charset="-120"/>
              </a:rPr>
              <a:t>Transparencia: ocultar al usuario y a la aplicacion la complejidad de la distribucion para que el sistema se perciba como si fuera centralizado.</a:t>
            </a:r>
            <a:endParaRPr lang="en-US" sz="1300" dirty="0"/>
          </a:p>
        </p:txBody>
      </p:sp>
      <p:sp>
        <p:nvSpPr>
          <p:cNvPr id="6" name="Shape 4"/>
          <p:cNvSpPr/>
          <p:nvPr/>
        </p:nvSpPr>
        <p:spPr>
          <a:xfrm>
            <a:off x="548640" y="2011680"/>
            <a:ext cx="2651760" cy="2057400"/>
          </a:xfrm>
          <a:prstGeom prst="roundRect">
            <a:avLst>
              <a:gd name="adj" fmla="val 3556"/>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7" name="Shape 5"/>
          <p:cNvSpPr/>
          <p:nvPr/>
        </p:nvSpPr>
        <p:spPr>
          <a:xfrm>
            <a:off x="1645920" y="2240280"/>
            <a:ext cx="457200" cy="457200"/>
          </a:xfrm>
          <a:prstGeom prst="ellipse">
            <a:avLst/>
          </a:prstGeom>
          <a:solidFill>
            <a:srgbClr val="0E3F7E"/>
          </a:solidFill>
          <a:ln/>
        </p:spPr>
        <p:txBody>
          <a:bodyPr/>
          <a:lstStyle/>
          <a:p>
            <a:endParaRPr lang="es-US"/>
          </a:p>
        </p:txBody>
      </p:sp>
      <p:sp>
        <p:nvSpPr>
          <p:cNvPr id="8" name="Text 6"/>
          <p:cNvSpPr/>
          <p:nvPr/>
        </p:nvSpPr>
        <p:spPr>
          <a:xfrm>
            <a:off x="1645920" y="22402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685800" y="2788920"/>
            <a:ext cx="2377440" cy="411480"/>
          </a:xfrm>
          <a:prstGeom prst="rect">
            <a:avLst/>
          </a:prstGeom>
          <a:noFill/>
          <a:ln/>
        </p:spPr>
        <p:txBody>
          <a:bodyPr wrap="square" lIns="0" tIns="0" rIns="0" bIns="0" rtlCol="0" anchor="ctr"/>
          <a:lstStyle/>
          <a:p>
            <a:pPr marL="0" indent="0" algn="ctr">
              <a:buNone/>
            </a:pPr>
            <a:r>
              <a:rPr lang="en-US" sz="1300" b="1" dirty="0">
                <a:solidFill>
                  <a:srgbClr val="0E3F7E"/>
                </a:solidFill>
                <a:latin typeface="Calibri" pitchFamily="34" charset="0"/>
                <a:ea typeface="Calibri" pitchFamily="34" charset="-122"/>
                <a:cs typeface="Calibri" pitchFamily="34" charset="-120"/>
              </a:rPr>
              <a:t>De red (acceso)</a:t>
            </a:r>
            <a:endParaRPr lang="en-US" sz="1300" dirty="0"/>
          </a:p>
        </p:txBody>
      </p:sp>
      <p:sp>
        <p:nvSpPr>
          <p:cNvPr id="10" name="Text 8"/>
          <p:cNvSpPr/>
          <p:nvPr/>
        </p:nvSpPr>
        <p:spPr>
          <a:xfrm>
            <a:off x="685800" y="3200400"/>
            <a:ext cx="2377440" cy="777240"/>
          </a:xfrm>
          <a:prstGeom prst="rect">
            <a:avLst/>
          </a:prstGeom>
          <a:noFill/>
          <a:ln/>
        </p:spPr>
        <p:txBody>
          <a:bodyPr wrap="square" rtlCol="0" anchor="ctr"/>
          <a:lstStyle/>
          <a:p>
            <a:pPr marL="0" indent="0" algn="ctr">
              <a:buNone/>
            </a:pPr>
            <a:r>
              <a:rPr lang="en-US" sz="1050" dirty="0">
                <a:solidFill>
                  <a:srgbClr val="1A1A1A"/>
                </a:solidFill>
                <a:latin typeface="Calibri" pitchFamily="34" charset="0"/>
                <a:ea typeface="Calibri" pitchFamily="34" charset="-122"/>
                <a:cs typeface="Calibri" pitchFamily="34" charset="-120"/>
              </a:rPr>
              <a:t>El usuario no conoce topologia ni protocolos.</a:t>
            </a:r>
            <a:endParaRPr lang="en-US" sz="1050" dirty="0"/>
          </a:p>
        </p:txBody>
      </p:sp>
      <p:sp>
        <p:nvSpPr>
          <p:cNvPr id="11" name="Shape 9"/>
          <p:cNvSpPr/>
          <p:nvPr/>
        </p:nvSpPr>
        <p:spPr>
          <a:xfrm>
            <a:off x="3337560" y="2011680"/>
            <a:ext cx="2651760" cy="2057400"/>
          </a:xfrm>
          <a:prstGeom prst="roundRect">
            <a:avLst>
              <a:gd name="adj" fmla="val 3556"/>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12" name="Shape 10"/>
          <p:cNvSpPr/>
          <p:nvPr/>
        </p:nvSpPr>
        <p:spPr>
          <a:xfrm>
            <a:off x="4434840" y="2240280"/>
            <a:ext cx="457200" cy="457200"/>
          </a:xfrm>
          <a:prstGeom prst="ellipse">
            <a:avLst/>
          </a:prstGeom>
          <a:solidFill>
            <a:srgbClr val="2E86A1"/>
          </a:solidFill>
          <a:ln/>
        </p:spPr>
        <p:txBody>
          <a:bodyPr/>
          <a:lstStyle/>
          <a:p>
            <a:endParaRPr lang="es-US"/>
          </a:p>
        </p:txBody>
      </p:sp>
      <p:sp>
        <p:nvSpPr>
          <p:cNvPr id="13" name="Text 11"/>
          <p:cNvSpPr/>
          <p:nvPr/>
        </p:nvSpPr>
        <p:spPr>
          <a:xfrm>
            <a:off x="4434840" y="22402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2"/>
          <p:cNvSpPr/>
          <p:nvPr/>
        </p:nvSpPr>
        <p:spPr>
          <a:xfrm>
            <a:off x="3474720" y="2788920"/>
            <a:ext cx="2377440" cy="411480"/>
          </a:xfrm>
          <a:prstGeom prst="rect">
            <a:avLst/>
          </a:prstGeom>
          <a:noFill/>
          <a:ln/>
        </p:spPr>
        <p:txBody>
          <a:bodyPr wrap="square" lIns="0" tIns="0" rIns="0" bIns="0" rtlCol="0" anchor="ctr"/>
          <a:lstStyle/>
          <a:p>
            <a:pPr marL="0" indent="0" algn="ctr">
              <a:buNone/>
            </a:pPr>
            <a:r>
              <a:rPr lang="en-US" sz="1300" b="1" dirty="0">
                <a:solidFill>
                  <a:srgbClr val="0E3F7E"/>
                </a:solidFill>
                <a:latin typeface="Calibri" pitchFamily="34" charset="0"/>
                <a:ea typeface="Calibri" pitchFamily="34" charset="-122"/>
                <a:cs typeface="Calibri" pitchFamily="34" charset="-120"/>
              </a:rPr>
              <a:t>De ubicacion</a:t>
            </a:r>
            <a:endParaRPr lang="en-US" sz="1300" dirty="0"/>
          </a:p>
        </p:txBody>
      </p:sp>
      <p:sp>
        <p:nvSpPr>
          <p:cNvPr id="15" name="Text 13"/>
          <p:cNvSpPr/>
          <p:nvPr/>
        </p:nvSpPr>
        <p:spPr>
          <a:xfrm>
            <a:off x="3474720" y="3200400"/>
            <a:ext cx="2377440" cy="777240"/>
          </a:xfrm>
          <a:prstGeom prst="rect">
            <a:avLst/>
          </a:prstGeom>
          <a:noFill/>
          <a:ln/>
        </p:spPr>
        <p:txBody>
          <a:bodyPr wrap="square" rtlCol="0" anchor="ctr"/>
          <a:lstStyle/>
          <a:p>
            <a:pPr marL="0" indent="0" algn="ctr">
              <a:buNone/>
            </a:pPr>
            <a:r>
              <a:rPr lang="en-US" sz="1050" dirty="0">
                <a:solidFill>
                  <a:srgbClr val="1A1A1A"/>
                </a:solidFill>
                <a:latin typeface="Calibri" pitchFamily="34" charset="0"/>
                <a:ea typeface="Calibri" pitchFamily="34" charset="-122"/>
                <a:cs typeface="Calibri" pitchFamily="34" charset="-120"/>
              </a:rPr>
              <a:t>No sabe en que sitio fisico residen los datos.</a:t>
            </a:r>
            <a:endParaRPr lang="en-US" sz="1050" dirty="0"/>
          </a:p>
        </p:txBody>
      </p:sp>
      <p:sp>
        <p:nvSpPr>
          <p:cNvPr id="16" name="Shape 14"/>
          <p:cNvSpPr/>
          <p:nvPr/>
        </p:nvSpPr>
        <p:spPr>
          <a:xfrm>
            <a:off x="6126480" y="2011680"/>
            <a:ext cx="2651760" cy="2057400"/>
          </a:xfrm>
          <a:prstGeom prst="roundRect">
            <a:avLst>
              <a:gd name="adj" fmla="val 3556"/>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17" name="Shape 15"/>
          <p:cNvSpPr/>
          <p:nvPr/>
        </p:nvSpPr>
        <p:spPr>
          <a:xfrm>
            <a:off x="7223760" y="2240280"/>
            <a:ext cx="457200" cy="457200"/>
          </a:xfrm>
          <a:prstGeom prst="ellipse">
            <a:avLst/>
          </a:prstGeom>
          <a:solidFill>
            <a:srgbClr val="0E3F7E"/>
          </a:solidFill>
          <a:ln/>
        </p:spPr>
        <p:txBody>
          <a:bodyPr/>
          <a:lstStyle/>
          <a:p>
            <a:endParaRPr lang="es-US"/>
          </a:p>
        </p:txBody>
      </p:sp>
      <p:sp>
        <p:nvSpPr>
          <p:cNvPr id="18" name="Text 16"/>
          <p:cNvSpPr/>
          <p:nvPr/>
        </p:nvSpPr>
        <p:spPr>
          <a:xfrm>
            <a:off x="7223760" y="22402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7"/>
          <p:cNvSpPr/>
          <p:nvPr/>
        </p:nvSpPr>
        <p:spPr>
          <a:xfrm>
            <a:off x="6263640" y="2788920"/>
            <a:ext cx="2377440" cy="411480"/>
          </a:xfrm>
          <a:prstGeom prst="rect">
            <a:avLst/>
          </a:prstGeom>
          <a:noFill/>
          <a:ln/>
        </p:spPr>
        <p:txBody>
          <a:bodyPr wrap="square" lIns="0" tIns="0" rIns="0" bIns="0" rtlCol="0" anchor="ctr"/>
          <a:lstStyle/>
          <a:p>
            <a:pPr marL="0" indent="0" algn="ctr">
              <a:buNone/>
            </a:pPr>
            <a:r>
              <a:rPr lang="en-US" sz="1300" b="1" dirty="0">
                <a:solidFill>
                  <a:srgbClr val="0E3F7E"/>
                </a:solidFill>
                <a:latin typeface="Calibri" pitchFamily="34" charset="0"/>
                <a:ea typeface="Calibri" pitchFamily="34" charset="-122"/>
                <a:cs typeface="Calibri" pitchFamily="34" charset="-120"/>
              </a:rPr>
              <a:t>De fragmentacion</a:t>
            </a:r>
            <a:endParaRPr lang="en-US" sz="1300" dirty="0"/>
          </a:p>
        </p:txBody>
      </p:sp>
      <p:sp>
        <p:nvSpPr>
          <p:cNvPr id="20" name="Text 18"/>
          <p:cNvSpPr/>
          <p:nvPr/>
        </p:nvSpPr>
        <p:spPr>
          <a:xfrm>
            <a:off x="6263640" y="3200400"/>
            <a:ext cx="2377440" cy="777240"/>
          </a:xfrm>
          <a:prstGeom prst="rect">
            <a:avLst/>
          </a:prstGeom>
          <a:noFill/>
          <a:ln/>
        </p:spPr>
        <p:txBody>
          <a:bodyPr wrap="square" rtlCol="0" anchor="ctr"/>
          <a:lstStyle/>
          <a:p>
            <a:pPr marL="0" indent="0" algn="ctr">
              <a:buNone/>
            </a:pPr>
            <a:r>
              <a:rPr lang="en-US" sz="1050" dirty="0">
                <a:solidFill>
                  <a:srgbClr val="1A1A1A"/>
                </a:solidFill>
                <a:latin typeface="Calibri" pitchFamily="34" charset="0"/>
                <a:ea typeface="Calibri" pitchFamily="34" charset="-122"/>
                <a:cs typeface="Calibri" pitchFamily="34" charset="-120"/>
              </a:rPr>
              <a:t>No sabe como se dividio cada relacion.</a:t>
            </a:r>
            <a:endParaRPr lang="en-US" sz="1050" dirty="0"/>
          </a:p>
        </p:txBody>
      </p:sp>
      <p:sp>
        <p:nvSpPr>
          <p:cNvPr id="21" name="Shape 19"/>
          <p:cNvSpPr/>
          <p:nvPr/>
        </p:nvSpPr>
        <p:spPr>
          <a:xfrm>
            <a:off x="8915400" y="2011680"/>
            <a:ext cx="2651760" cy="2057400"/>
          </a:xfrm>
          <a:prstGeom prst="roundRect">
            <a:avLst>
              <a:gd name="adj" fmla="val 3556"/>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22" name="Shape 20"/>
          <p:cNvSpPr/>
          <p:nvPr/>
        </p:nvSpPr>
        <p:spPr>
          <a:xfrm>
            <a:off x="10012680" y="2240280"/>
            <a:ext cx="457200" cy="457200"/>
          </a:xfrm>
          <a:prstGeom prst="ellipse">
            <a:avLst/>
          </a:prstGeom>
          <a:solidFill>
            <a:srgbClr val="2E86A1"/>
          </a:solidFill>
          <a:ln/>
        </p:spPr>
        <p:txBody>
          <a:bodyPr/>
          <a:lstStyle/>
          <a:p>
            <a:endParaRPr lang="es-US"/>
          </a:p>
        </p:txBody>
      </p:sp>
      <p:sp>
        <p:nvSpPr>
          <p:cNvPr id="23" name="Text 21"/>
          <p:cNvSpPr/>
          <p:nvPr/>
        </p:nvSpPr>
        <p:spPr>
          <a:xfrm>
            <a:off x="10012680" y="22402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4" name="Text 22"/>
          <p:cNvSpPr/>
          <p:nvPr/>
        </p:nvSpPr>
        <p:spPr>
          <a:xfrm>
            <a:off x="9052560" y="2788920"/>
            <a:ext cx="2377440" cy="411480"/>
          </a:xfrm>
          <a:prstGeom prst="rect">
            <a:avLst/>
          </a:prstGeom>
          <a:noFill/>
          <a:ln/>
        </p:spPr>
        <p:txBody>
          <a:bodyPr wrap="square" lIns="0" tIns="0" rIns="0" bIns="0" rtlCol="0" anchor="ctr"/>
          <a:lstStyle/>
          <a:p>
            <a:pPr marL="0" indent="0" algn="ctr">
              <a:buNone/>
            </a:pPr>
            <a:r>
              <a:rPr lang="en-US" sz="1300" b="1" dirty="0">
                <a:solidFill>
                  <a:srgbClr val="0E3F7E"/>
                </a:solidFill>
                <a:latin typeface="Calibri" pitchFamily="34" charset="0"/>
                <a:ea typeface="Calibri" pitchFamily="34" charset="-122"/>
                <a:cs typeface="Calibri" pitchFamily="34" charset="-120"/>
              </a:rPr>
              <a:t>De replicacion</a:t>
            </a:r>
            <a:endParaRPr lang="en-US" sz="1300" dirty="0"/>
          </a:p>
        </p:txBody>
      </p:sp>
      <p:sp>
        <p:nvSpPr>
          <p:cNvPr id="25" name="Text 23"/>
          <p:cNvSpPr/>
          <p:nvPr/>
        </p:nvSpPr>
        <p:spPr>
          <a:xfrm>
            <a:off x="9052560" y="3200400"/>
            <a:ext cx="2377440" cy="777240"/>
          </a:xfrm>
          <a:prstGeom prst="rect">
            <a:avLst/>
          </a:prstGeom>
          <a:noFill/>
          <a:ln/>
        </p:spPr>
        <p:txBody>
          <a:bodyPr wrap="square" rtlCol="0" anchor="ctr"/>
          <a:lstStyle/>
          <a:p>
            <a:pPr marL="0" indent="0" algn="ctr">
              <a:buNone/>
            </a:pPr>
            <a:r>
              <a:rPr lang="en-US" sz="1050" dirty="0">
                <a:solidFill>
                  <a:srgbClr val="1A1A1A"/>
                </a:solidFill>
                <a:latin typeface="Calibri" pitchFamily="34" charset="0"/>
                <a:ea typeface="Calibri" pitchFamily="34" charset="-122"/>
                <a:cs typeface="Calibri" pitchFamily="34" charset="-120"/>
              </a:rPr>
              <a:t>No sabe cuantas copias del dato existen.</a:t>
            </a:r>
            <a:endParaRPr lang="en-US" sz="1050" dirty="0"/>
          </a:p>
        </p:txBody>
      </p:sp>
      <p:sp>
        <p:nvSpPr>
          <p:cNvPr id="26" name="Shape 24"/>
          <p:cNvSpPr/>
          <p:nvPr/>
        </p:nvSpPr>
        <p:spPr>
          <a:xfrm>
            <a:off x="548640" y="4206240"/>
            <a:ext cx="2651760" cy="2057400"/>
          </a:xfrm>
          <a:prstGeom prst="roundRect">
            <a:avLst>
              <a:gd name="adj" fmla="val 3556"/>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27" name="Shape 25"/>
          <p:cNvSpPr/>
          <p:nvPr/>
        </p:nvSpPr>
        <p:spPr>
          <a:xfrm>
            <a:off x="1645920" y="4434840"/>
            <a:ext cx="457200" cy="457200"/>
          </a:xfrm>
          <a:prstGeom prst="ellipse">
            <a:avLst/>
          </a:prstGeom>
          <a:solidFill>
            <a:srgbClr val="0E3F7E"/>
          </a:solidFill>
          <a:ln/>
        </p:spPr>
        <p:txBody>
          <a:bodyPr/>
          <a:lstStyle/>
          <a:p>
            <a:endParaRPr lang="es-US"/>
          </a:p>
        </p:txBody>
      </p:sp>
      <p:sp>
        <p:nvSpPr>
          <p:cNvPr id="28" name="Text 26"/>
          <p:cNvSpPr/>
          <p:nvPr/>
        </p:nvSpPr>
        <p:spPr>
          <a:xfrm>
            <a:off x="1645920" y="44348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9" name="Text 27"/>
          <p:cNvSpPr/>
          <p:nvPr/>
        </p:nvSpPr>
        <p:spPr>
          <a:xfrm>
            <a:off x="685800" y="4983480"/>
            <a:ext cx="2377440" cy="411480"/>
          </a:xfrm>
          <a:prstGeom prst="rect">
            <a:avLst/>
          </a:prstGeom>
          <a:noFill/>
          <a:ln/>
        </p:spPr>
        <p:txBody>
          <a:bodyPr wrap="square" lIns="0" tIns="0" rIns="0" bIns="0" rtlCol="0" anchor="ctr"/>
          <a:lstStyle/>
          <a:p>
            <a:pPr marL="0" indent="0" algn="ctr">
              <a:buNone/>
            </a:pPr>
            <a:r>
              <a:rPr lang="en-US" sz="1300" b="1" dirty="0">
                <a:solidFill>
                  <a:srgbClr val="0E3F7E"/>
                </a:solidFill>
                <a:latin typeface="Calibri" pitchFamily="34" charset="0"/>
                <a:ea typeface="Calibri" pitchFamily="34" charset="-122"/>
                <a:cs typeface="Calibri" pitchFamily="34" charset="-120"/>
              </a:rPr>
              <a:t>De concurrencia</a:t>
            </a:r>
            <a:endParaRPr lang="en-US" sz="1300" dirty="0"/>
          </a:p>
        </p:txBody>
      </p:sp>
      <p:sp>
        <p:nvSpPr>
          <p:cNvPr id="30" name="Text 28"/>
          <p:cNvSpPr/>
          <p:nvPr/>
        </p:nvSpPr>
        <p:spPr>
          <a:xfrm>
            <a:off x="685800" y="5394960"/>
            <a:ext cx="2377440" cy="777240"/>
          </a:xfrm>
          <a:prstGeom prst="rect">
            <a:avLst/>
          </a:prstGeom>
          <a:noFill/>
          <a:ln/>
        </p:spPr>
        <p:txBody>
          <a:bodyPr wrap="square" rtlCol="0" anchor="ctr"/>
          <a:lstStyle/>
          <a:p>
            <a:pPr marL="0" indent="0" algn="ctr">
              <a:buNone/>
            </a:pPr>
            <a:r>
              <a:rPr lang="en-US" sz="1050" dirty="0">
                <a:solidFill>
                  <a:srgbClr val="1A1A1A"/>
                </a:solidFill>
                <a:latin typeface="Calibri" pitchFamily="34" charset="0"/>
                <a:ea typeface="Calibri" pitchFamily="34" charset="-122"/>
                <a:cs typeface="Calibri" pitchFamily="34" charset="-120"/>
              </a:rPr>
              <a:t>Las transacciones concurrentes lucen seriales.</a:t>
            </a:r>
            <a:endParaRPr lang="en-US" sz="1050" dirty="0"/>
          </a:p>
        </p:txBody>
      </p:sp>
      <p:sp>
        <p:nvSpPr>
          <p:cNvPr id="31" name="Shape 29"/>
          <p:cNvSpPr/>
          <p:nvPr/>
        </p:nvSpPr>
        <p:spPr>
          <a:xfrm>
            <a:off x="3337560" y="4206240"/>
            <a:ext cx="2651760" cy="2057400"/>
          </a:xfrm>
          <a:prstGeom prst="roundRect">
            <a:avLst>
              <a:gd name="adj" fmla="val 3556"/>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32" name="Shape 30"/>
          <p:cNvSpPr/>
          <p:nvPr/>
        </p:nvSpPr>
        <p:spPr>
          <a:xfrm>
            <a:off x="4434840" y="4434840"/>
            <a:ext cx="457200" cy="457200"/>
          </a:xfrm>
          <a:prstGeom prst="ellipse">
            <a:avLst/>
          </a:prstGeom>
          <a:solidFill>
            <a:srgbClr val="2E86A1"/>
          </a:solidFill>
          <a:ln/>
        </p:spPr>
        <p:txBody>
          <a:bodyPr/>
          <a:lstStyle/>
          <a:p>
            <a:endParaRPr lang="es-US"/>
          </a:p>
        </p:txBody>
      </p:sp>
      <p:sp>
        <p:nvSpPr>
          <p:cNvPr id="33" name="Text 31"/>
          <p:cNvSpPr/>
          <p:nvPr/>
        </p:nvSpPr>
        <p:spPr>
          <a:xfrm>
            <a:off x="4434840" y="44348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4" name="Text 32"/>
          <p:cNvSpPr/>
          <p:nvPr/>
        </p:nvSpPr>
        <p:spPr>
          <a:xfrm>
            <a:off x="3474720" y="4983480"/>
            <a:ext cx="2377440" cy="411480"/>
          </a:xfrm>
          <a:prstGeom prst="rect">
            <a:avLst/>
          </a:prstGeom>
          <a:noFill/>
          <a:ln/>
        </p:spPr>
        <p:txBody>
          <a:bodyPr wrap="square" lIns="0" tIns="0" rIns="0" bIns="0" rtlCol="0" anchor="ctr"/>
          <a:lstStyle/>
          <a:p>
            <a:pPr marL="0" indent="0" algn="ctr">
              <a:buNone/>
            </a:pPr>
            <a:r>
              <a:rPr lang="en-US" sz="1300" b="1" dirty="0">
                <a:solidFill>
                  <a:srgbClr val="0E3F7E"/>
                </a:solidFill>
                <a:latin typeface="Calibri" pitchFamily="34" charset="0"/>
                <a:ea typeface="Calibri" pitchFamily="34" charset="-122"/>
                <a:cs typeface="Calibri" pitchFamily="34" charset="-120"/>
              </a:rPr>
              <a:t>De fallos</a:t>
            </a:r>
            <a:endParaRPr lang="en-US" sz="1300" dirty="0"/>
          </a:p>
        </p:txBody>
      </p:sp>
      <p:sp>
        <p:nvSpPr>
          <p:cNvPr id="35" name="Text 33"/>
          <p:cNvSpPr/>
          <p:nvPr/>
        </p:nvSpPr>
        <p:spPr>
          <a:xfrm>
            <a:off x="3474720" y="5394960"/>
            <a:ext cx="2377440" cy="777240"/>
          </a:xfrm>
          <a:prstGeom prst="rect">
            <a:avLst/>
          </a:prstGeom>
          <a:noFill/>
          <a:ln/>
        </p:spPr>
        <p:txBody>
          <a:bodyPr wrap="square" rtlCol="0" anchor="ctr"/>
          <a:lstStyle/>
          <a:p>
            <a:pPr marL="0" indent="0" algn="ctr">
              <a:buNone/>
            </a:pPr>
            <a:r>
              <a:rPr lang="en-US" sz="1050" dirty="0">
                <a:solidFill>
                  <a:srgbClr val="1A1A1A"/>
                </a:solidFill>
                <a:latin typeface="Calibri" pitchFamily="34" charset="0"/>
                <a:ea typeface="Calibri" pitchFamily="34" charset="-122"/>
                <a:cs typeface="Calibri" pitchFamily="34" charset="-120"/>
              </a:rPr>
              <a:t>Los fallos de nodos se manejan internamente.</a:t>
            </a:r>
            <a:endParaRPr lang="en-US" sz="1050" dirty="0"/>
          </a:p>
        </p:txBody>
      </p:sp>
      <p:sp>
        <p:nvSpPr>
          <p:cNvPr id="36" name="Shape 34"/>
          <p:cNvSpPr/>
          <p:nvPr/>
        </p:nvSpPr>
        <p:spPr>
          <a:xfrm>
            <a:off x="6126480" y="4206240"/>
            <a:ext cx="2651760" cy="2057400"/>
          </a:xfrm>
          <a:prstGeom prst="roundRect">
            <a:avLst>
              <a:gd name="adj" fmla="val 3556"/>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37" name="Shape 35"/>
          <p:cNvSpPr/>
          <p:nvPr/>
        </p:nvSpPr>
        <p:spPr>
          <a:xfrm>
            <a:off x="7223760" y="4434840"/>
            <a:ext cx="457200" cy="457200"/>
          </a:xfrm>
          <a:prstGeom prst="ellipse">
            <a:avLst/>
          </a:prstGeom>
          <a:solidFill>
            <a:srgbClr val="0E3F7E"/>
          </a:solidFill>
          <a:ln/>
        </p:spPr>
        <p:txBody>
          <a:bodyPr/>
          <a:lstStyle/>
          <a:p>
            <a:endParaRPr lang="es-US"/>
          </a:p>
        </p:txBody>
      </p:sp>
      <p:sp>
        <p:nvSpPr>
          <p:cNvPr id="38" name="Text 36"/>
          <p:cNvSpPr/>
          <p:nvPr/>
        </p:nvSpPr>
        <p:spPr>
          <a:xfrm>
            <a:off x="7223760" y="44348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39" name="Text 37"/>
          <p:cNvSpPr/>
          <p:nvPr/>
        </p:nvSpPr>
        <p:spPr>
          <a:xfrm>
            <a:off x="6263640" y="4983480"/>
            <a:ext cx="2377440" cy="411480"/>
          </a:xfrm>
          <a:prstGeom prst="rect">
            <a:avLst/>
          </a:prstGeom>
          <a:noFill/>
          <a:ln/>
        </p:spPr>
        <p:txBody>
          <a:bodyPr wrap="square" lIns="0" tIns="0" rIns="0" bIns="0" rtlCol="0" anchor="ctr"/>
          <a:lstStyle/>
          <a:p>
            <a:pPr marL="0" indent="0" algn="ctr">
              <a:buNone/>
            </a:pPr>
            <a:r>
              <a:rPr lang="en-US" sz="1300" b="1" dirty="0">
                <a:solidFill>
                  <a:srgbClr val="0E3F7E"/>
                </a:solidFill>
                <a:latin typeface="Calibri" pitchFamily="34" charset="0"/>
                <a:ea typeface="Calibri" pitchFamily="34" charset="-122"/>
                <a:cs typeface="Calibri" pitchFamily="34" charset="-120"/>
              </a:rPr>
              <a:t>De rendimiento</a:t>
            </a:r>
            <a:endParaRPr lang="en-US" sz="1300" dirty="0"/>
          </a:p>
        </p:txBody>
      </p:sp>
      <p:sp>
        <p:nvSpPr>
          <p:cNvPr id="40" name="Text 38"/>
          <p:cNvSpPr/>
          <p:nvPr/>
        </p:nvSpPr>
        <p:spPr>
          <a:xfrm>
            <a:off x="6263640" y="5394960"/>
            <a:ext cx="2377440" cy="777240"/>
          </a:xfrm>
          <a:prstGeom prst="rect">
            <a:avLst/>
          </a:prstGeom>
          <a:noFill/>
          <a:ln/>
        </p:spPr>
        <p:txBody>
          <a:bodyPr wrap="square" rtlCol="0" anchor="ctr"/>
          <a:lstStyle/>
          <a:p>
            <a:pPr marL="0" indent="0" algn="ctr">
              <a:buNone/>
            </a:pPr>
            <a:r>
              <a:rPr lang="en-US" sz="1050" dirty="0">
                <a:solidFill>
                  <a:srgbClr val="1A1A1A"/>
                </a:solidFill>
                <a:latin typeface="Calibri" pitchFamily="34" charset="0"/>
                <a:ea typeface="Calibri" pitchFamily="34" charset="-122"/>
                <a:cs typeface="Calibri" pitchFamily="34" charset="-120"/>
              </a:rPr>
              <a:t>El optimizador elige el plan mas eficiente.</a:t>
            </a:r>
            <a:endParaRPr lang="en-US" sz="1050" dirty="0"/>
          </a:p>
        </p:txBody>
      </p:sp>
      <p:sp>
        <p:nvSpPr>
          <p:cNvPr id="41" name="Shape 39"/>
          <p:cNvSpPr/>
          <p:nvPr/>
        </p:nvSpPr>
        <p:spPr>
          <a:xfrm>
            <a:off x="8915400" y="4206240"/>
            <a:ext cx="2651760" cy="2057400"/>
          </a:xfrm>
          <a:prstGeom prst="roundRect">
            <a:avLst>
              <a:gd name="adj" fmla="val 3556"/>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42" name="Shape 40"/>
          <p:cNvSpPr/>
          <p:nvPr/>
        </p:nvSpPr>
        <p:spPr>
          <a:xfrm>
            <a:off x="10012680" y="4434840"/>
            <a:ext cx="457200" cy="457200"/>
          </a:xfrm>
          <a:prstGeom prst="ellipse">
            <a:avLst/>
          </a:prstGeom>
          <a:solidFill>
            <a:srgbClr val="2E86A1"/>
          </a:solidFill>
          <a:ln/>
        </p:spPr>
        <p:txBody>
          <a:bodyPr/>
          <a:lstStyle/>
          <a:p>
            <a:endParaRPr lang="es-US"/>
          </a:p>
        </p:txBody>
      </p:sp>
      <p:sp>
        <p:nvSpPr>
          <p:cNvPr id="43" name="Text 41"/>
          <p:cNvSpPr/>
          <p:nvPr/>
        </p:nvSpPr>
        <p:spPr>
          <a:xfrm>
            <a:off x="10012680" y="44348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8</a:t>
            </a:r>
            <a:endParaRPr lang="en-US" sz="1600" dirty="0"/>
          </a:p>
        </p:txBody>
      </p:sp>
      <p:sp>
        <p:nvSpPr>
          <p:cNvPr id="44" name="Text 42"/>
          <p:cNvSpPr/>
          <p:nvPr/>
        </p:nvSpPr>
        <p:spPr>
          <a:xfrm>
            <a:off x="9052560" y="4983480"/>
            <a:ext cx="2377440" cy="411480"/>
          </a:xfrm>
          <a:prstGeom prst="rect">
            <a:avLst/>
          </a:prstGeom>
          <a:noFill/>
          <a:ln/>
        </p:spPr>
        <p:txBody>
          <a:bodyPr wrap="square" lIns="0" tIns="0" rIns="0" bIns="0" rtlCol="0" anchor="ctr"/>
          <a:lstStyle/>
          <a:p>
            <a:pPr marL="0" indent="0" algn="ctr">
              <a:buNone/>
            </a:pPr>
            <a:r>
              <a:rPr lang="en-US" sz="1300" b="1" dirty="0">
                <a:solidFill>
                  <a:srgbClr val="0E3F7E"/>
                </a:solidFill>
                <a:latin typeface="Calibri" pitchFamily="34" charset="0"/>
                <a:ea typeface="Calibri" pitchFamily="34" charset="-122"/>
                <a:cs typeface="Calibri" pitchFamily="34" charset="-120"/>
              </a:rPr>
              <a:t>De migracion</a:t>
            </a:r>
            <a:endParaRPr lang="en-US" sz="1300" dirty="0"/>
          </a:p>
        </p:txBody>
      </p:sp>
      <p:sp>
        <p:nvSpPr>
          <p:cNvPr id="45" name="Text 43"/>
          <p:cNvSpPr/>
          <p:nvPr/>
        </p:nvSpPr>
        <p:spPr>
          <a:xfrm>
            <a:off x="9052560" y="5394960"/>
            <a:ext cx="2377440" cy="777240"/>
          </a:xfrm>
          <a:prstGeom prst="rect">
            <a:avLst/>
          </a:prstGeom>
          <a:noFill/>
          <a:ln/>
        </p:spPr>
        <p:txBody>
          <a:bodyPr wrap="square" rtlCol="0" anchor="ctr"/>
          <a:lstStyle/>
          <a:p>
            <a:pPr marL="0" indent="0" algn="ctr">
              <a:buNone/>
            </a:pPr>
            <a:r>
              <a:rPr lang="en-US" sz="1050" dirty="0">
                <a:solidFill>
                  <a:srgbClr val="1A1A1A"/>
                </a:solidFill>
                <a:latin typeface="Calibri" pitchFamily="34" charset="0"/>
                <a:ea typeface="Calibri" pitchFamily="34" charset="-122"/>
                <a:cs typeface="Calibri" pitchFamily="34" charset="-120"/>
              </a:rPr>
              <a:t>Los datos se mueven sin cambios en aplicaciones.</a:t>
            </a:r>
            <a:endParaRPr lang="en-US" sz="1050" dirty="0"/>
          </a:p>
        </p:txBody>
      </p:sp>
      <p:sp>
        <p:nvSpPr>
          <p:cNvPr id="46" name="Text 44"/>
          <p:cNvSpPr/>
          <p:nvPr/>
        </p:nvSpPr>
        <p:spPr>
          <a:xfrm>
            <a:off x="457200" y="6492240"/>
            <a:ext cx="8229600" cy="274320"/>
          </a:xfrm>
          <a:prstGeom prst="rect">
            <a:avLst/>
          </a:prstGeom>
          <a:noFill/>
          <a:ln/>
        </p:spPr>
        <p:txBody>
          <a:bodyPr wrap="square" rtlCol="0" anchor="ctr"/>
          <a:lstStyle/>
          <a:p>
            <a:pPr marL="0" indent="0">
              <a:buNone/>
            </a:pPr>
            <a:r>
              <a:rPr lang="en-US" sz="900" dirty="0">
                <a:solidFill>
                  <a:srgbClr val="4A4A4A"/>
                </a:solidFill>
                <a:latin typeface="Calibri" pitchFamily="34" charset="0"/>
                <a:ea typeface="Calibri" pitchFamily="34" charset="-122"/>
                <a:cs typeface="Calibri" pitchFamily="34" charset="-120"/>
              </a:rPr>
              <a:t>UTEQ - Aplicaciones Distribuidas (ISR-701) - Unidad 3</a:t>
            </a:r>
            <a:endParaRPr lang="en-US" sz="900" dirty="0"/>
          </a:p>
        </p:txBody>
      </p:sp>
      <p:sp>
        <p:nvSpPr>
          <p:cNvPr id="47" name="Text 45"/>
          <p:cNvSpPr/>
          <p:nvPr/>
        </p:nvSpPr>
        <p:spPr>
          <a:xfrm>
            <a:off x="10789920" y="6492240"/>
            <a:ext cx="914400" cy="274320"/>
          </a:xfrm>
          <a:prstGeom prst="rect">
            <a:avLst/>
          </a:prstGeom>
          <a:noFill/>
          <a:ln/>
        </p:spPr>
        <p:txBody>
          <a:bodyPr wrap="square"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12 / 42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marL="0" indent="0">
              <a:buNone/>
            </a:pPr>
            <a:r>
              <a:rPr lang="en-US" sz="2800" b="1" dirty="0">
                <a:solidFill>
                  <a:srgbClr val="0E3F7E"/>
                </a:solidFill>
                <a:latin typeface="Calibri" pitchFamily="34" charset="0"/>
                <a:ea typeface="Calibri" pitchFamily="34" charset="-122"/>
                <a:cs typeface="Calibri" pitchFamily="34" charset="-120"/>
              </a:rPr>
              <a:t>Homogeneidad versus heterogeneidad</a:t>
            </a:r>
            <a:endParaRPr lang="en-US" sz="2800" dirty="0"/>
          </a:p>
        </p:txBody>
      </p:sp>
      <p:sp>
        <p:nvSpPr>
          <p:cNvPr id="3" name="Text 1"/>
          <p:cNvSpPr/>
          <p:nvPr/>
        </p:nvSpPr>
        <p:spPr>
          <a:xfrm>
            <a:off x="457200" y="777240"/>
            <a:ext cx="11247120" cy="320040"/>
          </a:xfrm>
          <a:prstGeom prst="rect">
            <a:avLst/>
          </a:prstGeom>
          <a:noFill/>
          <a:ln/>
        </p:spPr>
        <p:txBody>
          <a:bodyPr wrap="square" lIns="0" tIns="0" rIns="0" bIns="0" rtlCol="0" anchor="ctr"/>
          <a:lstStyle/>
          <a:p>
            <a:pPr marL="0" indent="0">
              <a:buNone/>
            </a:pPr>
            <a:r>
              <a:rPr lang="en-US" sz="1400" i="1" dirty="0">
                <a:solidFill>
                  <a:srgbClr val="2E86A1"/>
                </a:solidFill>
                <a:latin typeface="Calibri" pitchFamily="34" charset="0"/>
                <a:ea typeface="Calibri" pitchFamily="34" charset="-122"/>
                <a:cs typeface="Calibri" pitchFamily="34" charset="-120"/>
              </a:rPr>
              <a:t>Dos familias segun la uniformidad de los sitios</a:t>
            </a:r>
            <a:endParaRPr lang="en-US" sz="1400" dirty="0"/>
          </a:p>
        </p:txBody>
      </p:sp>
      <p:sp>
        <p:nvSpPr>
          <p:cNvPr id="4" name="Shape 2"/>
          <p:cNvSpPr/>
          <p:nvPr/>
        </p:nvSpPr>
        <p:spPr>
          <a:xfrm>
            <a:off x="548640" y="1371600"/>
            <a:ext cx="5486400" cy="4937760"/>
          </a:xfrm>
          <a:prstGeom prst="roundRect">
            <a:avLst>
              <a:gd name="adj" fmla="val 1481"/>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5" name="Shape 3"/>
          <p:cNvSpPr/>
          <p:nvPr/>
        </p:nvSpPr>
        <p:spPr>
          <a:xfrm>
            <a:off x="548640" y="1371600"/>
            <a:ext cx="5486400" cy="640080"/>
          </a:xfrm>
          <a:prstGeom prst="roundRect">
            <a:avLst>
              <a:gd name="adj" fmla="val 11429"/>
            </a:avLst>
          </a:prstGeom>
          <a:solidFill>
            <a:srgbClr val="0E3F7E"/>
          </a:solidFill>
          <a:ln/>
        </p:spPr>
        <p:txBody>
          <a:bodyPr/>
          <a:lstStyle/>
          <a:p>
            <a:endParaRPr lang="es-US"/>
          </a:p>
        </p:txBody>
      </p:sp>
      <p:sp>
        <p:nvSpPr>
          <p:cNvPr id="6" name="Text 4"/>
          <p:cNvSpPr/>
          <p:nvPr/>
        </p:nvSpPr>
        <p:spPr>
          <a:xfrm>
            <a:off x="548640" y="1417320"/>
            <a:ext cx="548640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BDD Homogenea</a:t>
            </a:r>
            <a:endParaRPr lang="en-US" sz="2000" dirty="0"/>
          </a:p>
        </p:txBody>
      </p:sp>
      <p:sp>
        <p:nvSpPr>
          <p:cNvPr id="7" name="Text 5"/>
          <p:cNvSpPr/>
          <p:nvPr/>
        </p:nvSpPr>
        <p:spPr>
          <a:xfrm>
            <a:off x="777240" y="2148840"/>
            <a:ext cx="5029200" cy="137160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Todos los sitios usan el mismo motor SGBD, el mismo esquema y la misma version de software. Simplifica coordinacion, transacciones distribuidas y optimizador. Todos los sitios hablan el mismo idioma.</a:t>
            </a:r>
            <a:endParaRPr lang="en-US" sz="1200" dirty="0"/>
          </a:p>
        </p:txBody>
      </p:sp>
      <p:sp>
        <p:nvSpPr>
          <p:cNvPr id="8" name="Text 6"/>
          <p:cNvSpPr/>
          <p:nvPr/>
        </p:nvSpPr>
        <p:spPr>
          <a:xfrm>
            <a:off x="777240" y="3611880"/>
            <a:ext cx="5029200" cy="320040"/>
          </a:xfrm>
          <a:prstGeom prst="rect">
            <a:avLst/>
          </a:prstGeom>
          <a:noFill/>
          <a:ln/>
        </p:spPr>
        <p:txBody>
          <a:bodyPr wrap="square" lIns="0" tIns="0" rIns="0" bIns="0" rtlCol="0" anchor="ctr"/>
          <a:lstStyle/>
          <a:p>
            <a:pPr marL="0" indent="0">
              <a:buNone/>
            </a:pPr>
            <a:r>
              <a:rPr lang="en-US" sz="1200" b="1" dirty="0">
                <a:solidFill>
                  <a:srgbClr val="0E3F7E"/>
                </a:solidFill>
                <a:latin typeface="Calibri" pitchFamily="34" charset="0"/>
                <a:ea typeface="Calibri" pitchFamily="34" charset="-122"/>
                <a:cs typeface="Calibri" pitchFamily="34" charset="-120"/>
              </a:rPr>
              <a:t>Ejemplos representativos</a:t>
            </a:r>
            <a:endParaRPr lang="en-US" sz="1200" dirty="0"/>
          </a:p>
        </p:txBody>
      </p:sp>
      <p:sp>
        <p:nvSpPr>
          <p:cNvPr id="9" name="Text 7"/>
          <p:cNvSpPr/>
          <p:nvPr/>
        </p:nvSpPr>
        <p:spPr>
          <a:xfrm>
            <a:off x="914400" y="3931920"/>
            <a:ext cx="4846320" cy="1371600"/>
          </a:xfrm>
          <a:prstGeom prst="rect">
            <a:avLst/>
          </a:prstGeom>
          <a:noFill/>
          <a:ln/>
        </p:spPr>
        <p:txBody>
          <a:bodyPr wrap="square" rtlCol="0" anchor="ctr"/>
          <a:lstStyle/>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CockroachDB cluster</a:t>
            </a:r>
            <a:endParaRPr lang="en-US" sz="1200" dirty="0"/>
          </a:p>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Cassandra cluster</a:t>
            </a:r>
            <a:endParaRPr lang="en-US" sz="1200" dirty="0"/>
          </a:p>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MongoDB Sharded</a:t>
            </a:r>
            <a:endParaRPr lang="en-US" sz="1200" dirty="0"/>
          </a:p>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PostgreSQL + Citus</a:t>
            </a:r>
            <a:endParaRPr lang="en-US" sz="1200" dirty="0"/>
          </a:p>
        </p:txBody>
      </p:sp>
      <p:sp>
        <p:nvSpPr>
          <p:cNvPr id="10" name="Text 8"/>
          <p:cNvSpPr/>
          <p:nvPr/>
        </p:nvSpPr>
        <p:spPr>
          <a:xfrm>
            <a:off x="777240" y="5486400"/>
            <a:ext cx="5029200" cy="731520"/>
          </a:xfrm>
          <a:prstGeom prst="rect">
            <a:avLst/>
          </a:prstGeom>
          <a:noFill/>
          <a:ln/>
        </p:spPr>
        <p:txBody>
          <a:bodyPr wrap="square" rtlCol="0" anchor="ctr"/>
          <a:lstStyle/>
          <a:p>
            <a:pPr marL="0" indent="0">
              <a:buNone/>
            </a:pPr>
            <a:r>
              <a:rPr lang="en-US" sz="1100" i="1" dirty="0">
                <a:solidFill>
                  <a:srgbClr val="4FAE60"/>
                </a:solidFill>
                <a:latin typeface="Calibri" pitchFamily="34" charset="0"/>
                <a:ea typeface="Calibri" pitchFamily="34" charset="-122"/>
                <a:cs typeface="Calibri" pitchFamily="34" charset="-120"/>
              </a:rPr>
              <a:t>Bajo costo de integracion, alta eficiencia en optimizacion distribuida.</a:t>
            </a:r>
            <a:endParaRPr lang="en-US" sz="1100" dirty="0"/>
          </a:p>
        </p:txBody>
      </p:sp>
      <p:sp>
        <p:nvSpPr>
          <p:cNvPr id="11" name="Shape 9"/>
          <p:cNvSpPr/>
          <p:nvPr/>
        </p:nvSpPr>
        <p:spPr>
          <a:xfrm>
            <a:off x="6172200" y="1371600"/>
            <a:ext cx="5486400" cy="4937760"/>
          </a:xfrm>
          <a:prstGeom prst="roundRect">
            <a:avLst>
              <a:gd name="adj" fmla="val 1481"/>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12" name="Shape 10"/>
          <p:cNvSpPr/>
          <p:nvPr/>
        </p:nvSpPr>
        <p:spPr>
          <a:xfrm>
            <a:off x="6172200" y="1371600"/>
            <a:ext cx="5486400" cy="640080"/>
          </a:xfrm>
          <a:prstGeom prst="roundRect">
            <a:avLst>
              <a:gd name="adj" fmla="val 11429"/>
            </a:avLst>
          </a:prstGeom>
          <a:solidFill>
            <a:srgbClr val="2E86A1"/>
          </a:solidFill>
          <a:ln/>
        </p:spPr>
        <p:txBody>
          <a:bodyPr/>
          <a:lstStyle/>
          <a:p>
            <a:endParaRPr lang="es-US"/>
          </a:p>
        </p:txBody>
      </p:sp>
      <p:sp>
        <p:nvSpPr>
          <p:cNvPr id="13" name="Text 11"/>
          <p:cNvSpPr/>
          <p:nvPr/>
        </p:nvSpPr>
        <p:spPr>
          <a:xfrm>
            <a:off x="6172200" y="1417320"/>
            <a:ext cx="548640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BDD Heterogenea</a:t>
            </a:r>
            <a:endParaRPr lang="en-US" sz="2000" dirty="0"/>
          </a:p>
        </p:txBody>
      </p:sp>
      <p:sp>
        <p:nvSpPr>
          <p:cNvPr id="14" name="Text 12"/>
          <p:cNvSpPr/>
          <p:nvPr/>
        </p:nvSpPr>
        <p:spPr>
          <a:xfrm>
            <a:off x="6400800" y="2148840"/>
            <a:ext cx="5029200" cy="137160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Distintos sitios ejecutan motores SGBD distintos: PostgreSQL en un sitio, Oracle en otro, MySQL en un tercero. Requiere capa de federacion que traduzca consultas y reconcilie tipos, semantica y modelos.</a:t>
            </a:r>
            <a:endParaRPr lang="en-US" sz="1200" dirty="0"/>
          </a:p>
        </p:txBody>
      </p:sp>
      <p:sp>
        <p:nvSpPr>
          <p:cNvPr id="15" name="Text 13"/>
          <p:cNvSpPr/>
          <p:nvPr/>
        </p:nvSpPr>
        <p:spPr>
          <a:xfrm>
            <a:off x="6400800" y="3611880"/>
            <a:ext cx="5029200" cy="320040"/>
          </a:xfrm>
          <a:prstGeom prst="rect">
            <a:avLst/>
          </a:prstGeom>
          <a:noFill/>
          <a:ln/>
        </p:spPr>
        <p:txBody>
          <a:bodyPr wrap="square" lIns="0" tIns="0" rIns="0" bIns="0" rtlCol="0" anchor="ctr"/>
          <a:lstStyle/>
          <a:p>
            <a:pPr marL="0" indent="0">
              <a:buNone/>
            </a:pPr>
            <a:r>
              <a:rPr lang="en-US" sz="1200" b="1" dirty="0">
                <a:solidFill>
                  <a:srgbClr val="2E86A1"/>
                </a:solidFill>
                <a:latin typeface="Calibri" pitchFamily="34" charset="0"/>
                <a:ea typeface="Calibri" pitchFamily="34" charset="-122"/>
                <a:cs typeface="Calibri" pitchFamily="34" charset="-120"/>
              </a:rPr>
              <a:t>Ejemplos representativos</a:t>
            </a:r>
            <a:endParaRPr lang="en-US" sz="1200" dirty="0"/>
          </a:p>
        </p:txBody>
      </p:sp>
      <p:sp>
        <p:nvSpPr>
          <p:cNvPr id="16" name="Text 14"/>
          <p:cNvSpPr/>
          <p:nvPr/>
        </p:nvSpPr>
        <p:spPr>
          <a:xfrm>
            <a:off x="6537960" y="3931920"/>
            <a:ext cx="4846320" cy="1371600"/>
          </a:xfrm>
          <a:prstGeom prst="rect">
            <a:avLst/>
          </a:prstGeom>
          <a:noFill/>
          <a:ln/>
        </p:spPr>
        <p:txBody>
          <a:bodyPr wrap="square" rtlCol="0" anchor="ctr"/>
          <a:lstStyle/>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PostgreSQL FDW hacia Oracle</a:t>
            </a:r>
            <a:endParaRPr lang="en-US" sz="1200" dirty="0"/>
          </a:p>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Denodo Data Virtualization</a:t>
            </a:r>
            <a:endParaRPr lang="en-US" sz="1200" dirty="0"/>
          </a:p>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Apache Drill</a:t>
            </a:r>
            <a:endParaRPr lang="en-US" sz="1200" dirty="0"/>
          </a:p>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Presto / Trino</a:t>
            </a:r>
            <a:endParaRPr lang="en-US" sz="1200" dirty="0"/>
          </a:p>
        </p:txBody>
      </p:sp>
      <p:sp>
        <p:nvSpPr>
          <p:cNvPr id="17" name="Text 15"/>
          <p:cNvSpPr/>
          <p:nvPr/>
        </p:nvSpPr>
        <p:spPr>
          <a:xfrm>
            <a:off x="6400800" y="5486400"/>
            <a:ext cx="5029200" cy="731520"/>
          </a:xfrm>
          <a:prstGeom prst="rect">
            <a:avLst/>
          </a:prstGeom>
          <a:noFill/>
          <a:ln/>
        </p:spPr>
        <p:txBody>
          <a:bodyPr wrap="square" rtlCol="0" anchor="ctr"/>
          <a:lstStyle/>
          <a:p>
            <a:pPr marL="0" indent="0">
              <a:buNone/>
            </a:pPr>
            <a:r>
              <a:rPr lang="en-US" sz="1100" i="1" dirty="0">
                <a:solidFill>
                  <a:srgbClr val="F2A413"/>
                </a:solidFill>
                <a:latin typeface="Calibri" pitchFamily="34" charset="0"/>
                <a:ea typeface="Calibri" pitchFamily="34" charset="-122"/>
                <a:cs typeface="Calibri" pitchFamily="34" charset="-120"/>
              </a:rPr>
              <a:t>Permite integrar sistemas legados sin migrarlos; mayor complejidad de mappings.</a:t>
            </a:r>
            <a:endParaRPr lang="en-US" sz="1100" dirty="0"/>
          </a:p>
        </p:txBody>
      </p:sp>
      <p:sp>
        <p:nvSpPr>
          <p:cNvPr id="18" name="Text 16"/>
          <p:cNvSpPr/>
          <p:nvPr/>
        </p:nvSpPr>
        <p:spPr>
          <a:xfrm>
            <a:off x="457200" y="6492240"/>
            <a:ext cx="8229600" cy="274320"/>
          </a:xfrm>
          <a:prstGeom prst="rect">
            <a:avLst/>
          </a:prstGeom>
          <a:noFill/>
          <a:ln/>
        </p:spPr>
        <p:txBody>
          <a:bodyPr wrap="square" rtlCol="0" anchor="ctr"/>
          <a:lstStyle/>
          <a:p>
            <a:pPr marL="0" indent="0">
              <a:buNone/>
            </a:pPr>
            <a:r>
              <a:rPr lang="en-US" sz="900" dirty="0">
                <a:solidFill>
                  <a:srgbClr val="4A4A4A"/>
                </a:solidFill>
                <a:latin typeface="Calibri" pitchFamily="34" charset="0"/>
                <a:ea typeface="Calibri" pitchFamily="34" charset="-122"/>
                <a:cs typeface="Calibri" pitchFamily="34" charset="-120"/>
              </a:rPr>
              <a:t>UTEQ - Aplicaciones Distribuidas (ISR-701) - Unidad 3</a:t>
            </a:r>
            <a:endParaRPr lang="en-US" sz="900" dirty="0"/>
          </a:p>
        </p:txBody>
      </p:sp>
      <p:sp>
        <p:nvSpPr>
          <p:cNvPr id="19" name="Text 17"/>
          <p:cNvSpPr/>
          <p:nvPr/>
        </p:nvSpPr>
        <p:spPr>
          <a:xfrm>
            <a:off x="10789920" y="6492240"/>
            <a:ext cx="914400" cy="274320"/>
          </a:xfrm>
          <a:prstGeom prst="rect">
            <a:avLst/>
          </a:prstGeom>
          <a:noFill/>
          <a:ln/>
        </p:spPr>
        <p:txBody>
          <a:bodyPr wrap="square"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13 / 42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marL="0" indent="0">
              <a:buNone/>
            </a:pPr>
            <a:r>
              <a:rPr lang="en-US" sz="2800" b="1" dirty="0">
                <a:solidFill>
                  <a:srgbClr val="0E3F7E"/>
                </a:solidFill>
                <a:latin typeface="Calibri" pitchFamily="34" charset="0"/>
                <a:ea typeface="Calibri" pitchFamily="34" charset="-122"/>
                <a:cs typeface="Calibri" pitchFamily="34" charset="-120"/>
              </a:rPr>
              <a:t>Fragmentacion horizontal</a:t>
            </a:r>
            <a:endParaRPr lang="en-US" sz="2800" dirty="0"/>
          </a:p>
        </p:txBody>
      </p:sp>
      <p:sp>
        <p:nvSpPr>
          <p:cNvPr id="3" name="Text 1"/>
          <p:cNvSpPr/>
          <p:nvPr/>
        </p:nvSpPr>
        <p:spPr>
          <a:xfrm>
            <a:off x="457200" y="777240"/>
            <a:ext cx="11247120" cy="320040"/>
          </a:xfrm>
          <a:prstGeom prst="rect">
            <a:avLst/>
          </a:prstGeom>
          <a:noFill/>
          <a:ln/>
        </p:spPr>
        <p:txBody>
          <a:bodyPr wrap="square" lIns="0" tIns="0" rIns="0" bIns="0" rtlCol="0" anchor="ctr"/>
          <a:lstStyle/>
          <a:p>
            <a:pPr marL="0" indent="0">
              <a:buNone/>
            </a:pPr>
            <a:r>
              <a:rPr lang="en-US" sz="1400" i="1" dirty="0">
                <a:solidFill>
                  <a:srgbClr val="2E86A1"/>
                </a:solidFill>
                <a:latin typeface="Calibri" pitchFamily="34" charset="0"/>
                <a:ea typeface="Calibri" pitchFamily="34" charset="-122"/>
                <a:cs typeface="Calibri" pitchFamily="34" charset="-120"/>
              </a:rPr>
              <a:t>Division por filas con algebra relacional</a:t>
            </a:r>
            <a:endParaRPr lang="en-US" sz="1400" dirty="0"/>
          </a:p>
        </p:txBody>
      </p:sp>
      <p:sp>
        <p:nvSpPr>
          <p:cNvPr id="4" name="Shape 2"/>
          <p:cNvSpPr/>
          <p:nvPr/>
        </p:nvSpPr>
        <p:spPr>
          <a:xfrm>
            <a:off x="548640" y="1280160"/>
            <a:ext cx="5486400" cy="5120640"/>
          </a:xfrm>
          <a:prstGeom prst="roundRect">
            <a:avLst>
              <a:gd name="adj" fmla="val 1429"/>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5" name="Text 3"/>
          <p:cNvSpPr/>
          <p:nvPr/>
        </p:nvSpPr>
        <p:spPr>
          <a:xfrm>
            <a:off x="777240" y="1417320"/>
            <a:ext cx="5029200" cy="365760"/>
          </a:xfrm>
          <a:prstGeom prst="rect">
            <a:avLst/>
          </a:prstGeom>
          <a:noFill/>
          <a:ln/>
        </p:spPr>
        <p:txBody>
          <a:bodyPr wrap="square" lIns="0" tIns="0" rIns="0" bIns="0" rtlCol="0" anchor="ctr"/>
          <a:lstStyle/>
          <a:p>
            <a:pPr marL="0" indent="0">
              <a:buNone/>
            </a:pPr>
            <a:r>
              <a:rPr lang="en-US" sz="1500" b="1" dirty="0">
                <a:solidFill>
                  <a:srgbClr val="0E3F7E"/>
                </a:solidFill>
                <a:latin typeface="Calibri" pitchFamily="34" charset="0"/>
                <a:ea typeface="Calibri" pitchFamily="34" charset="-122"/>
                <a:cs typeface="Calibri" pitchFamily="34" charset="-120"/>
              </a:rPr>
              <a:t>Definicion formal</a:t>
            </a:r>
            <a:endParaRPr lang="en-US" sz="1500" dirty="0"/>
          </a:p>
        </p:txBody>
      </p:sp>
      <p:sp>
        <p:nvSpPr>
          <p:cNvPr id="6" name="Text 4"/>
          <p:cNvSpPr/>
          <p:nvPr/>
        </p:nvSpPr>
        <p:spPr>
          <a:xfrm>
            <a:off x="777240" y="1828800"/>
            <a:ext cx="5029200" cy="128016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Divide las FILAS (tuplas) de una relacion entre los sitios. Cada fragmento contiene un subconjunto de tuplas que satisfacen un predicado de seleccion.</a:t>
            </a:r>
            <a:endParaRPr lang="en-US" sz="1200" dirty="0"/>
          </a:p>
        </p:txBody>
      </p:sp>
      <p:sp>
        <p:nvSpPr>
          <p:cNvPr id="7" name="Shape 5"/>
          <p:cNvSpPr/>
          <p:nvPr/>
        </p:nvSpPr>
        <p:spPr>
          <a:xfrm>
            <a:off x="777240" y="3154680"/>
            <a:ext cx="5029200" cy="1554480"/>
          </a:xfrm>
          <a:prstGeom prst="roundRect">
            <a:avLst>
              <a:gd name="adj" fmla="val 4706"/>
            </a:avLst>
          </a:prstGeom>
          <a:solidFill>
            <a:srgbClr val="EAF1FB"/>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8" name="Text 6"/>
          <p:cNvSpPr/>
          <p:nvPr/>
        </p:nvSpPr>
        <p:spPr>
          <a:xfrm>
            <a:off x="914400" y="3246120"/>
            <a:ext cx="4800600" cy="1417320"/>
          </a:xfrm>
          <a:prstGeom prst="rect">
            <a:avLst/>
          </a:prstGeom>
          <a:noFill/>
          <a:ln/>
        </p:spPr>
        <p:txBody>
          <a:bodyPr wrap="square" rtlCol="0" anchor="ctr"/>
          <a:lstStyle/>
          <a:p>
            <a:pPr marL="0" indent="0">
              <a:buNone/>
            </a:pPr>
            <a:r>
              <a:rPr lang="en-US" sz="1100" i="1" dirty="0">
                <a:solidFill>
                  <a:srgbClr val="4A4A4A"/>
                </a:solidFill>
                <a:latin typeface="Cambria" pitchFamily="34" charset="0"/>
                <a:ea typeface="Cambria" pitchFamily="34" charset="-122"/>
                <a:cs typeface="Cambria" pitchFamily="34" charset="-120"/>
              </a:rPr>
              <a:t>Operador del algebra relacional:</a:t>
            </a:r>
            <a:endParaRPr lang="en-US" sz="1100" dirty="0"/>
          </a:p>
          <a:p>
            <a:pPr marL="0" indent="0">
              <a:buNone/>
            </a:pPr>
            <a:r>
              <a:rPr lang="en-US" sz="1400" b="1" dirty="0">
                <a:solidFill>
                  <a:srgbClr val="0E3F7E"/>
                </a:solidFill>
                <a:latin typeface="Cambria" pitchFamily="34" charset="0"/>
                <a:ea typeface="Cambria" pitchFamily="34" charset="-122"/>
                <a:cs typeface="Cambria" pitchFamily="34" charset="-120"/>
              </a:rPr>
              <a:t>F_i = sigma_pi (R),  i = 1..n</a:t>
            </a:r>
            <a:endParaRPr lang="en-US" sz="1100" dirty="0"/>
          </a:p>
          <a:p>
            <a:pPr marL="0" indent="0">
              <a:buNone/>
            </a:pPr>
            <a:r>
              <a:rPr lang="en-US" sz="600" dirty="0">
                <a:solidFill>
                  <a:srgbClr val="000000"/>
                </a:solidFill>
                <a:latin typeface="Cambria" pitchFamily="34" charset="0"/>
                <a:ea typeface="Cambria" pitchFamily="34" charset="-122"/>
                <a:cs typeface="Cambria" pitchFamily="34" charset="-120"/>
              </a:rPr>
              <a:t> </a:t>
            </a:r>
            <a:endParaRPr lang="en-US" sz="1100" dirty="0"/>
          </a:p>
          <a:p>
            <a:pPr marL="0" indent="0">
              <a:buNone/>
            </a:pPr>
            <a:r>
              <a:rPr lang="en-US" sz="1100" i="1" dirty="0">
                <a:solidFill>
                  <a:srgbClr val="4A4A4A"/>
                </a:solidFill>
                <a:latin typeface="Cambria" pitchFamily="34" charset="0"/>
                <a:ea typeface="Cambria" pitchFamily="34" charset="-122"/>
                <a:cs typeface="Cambria" pitchFamily="34" charset="-120"/>
              </a:rPr>
              <a:t>Reconstruccion:</a:t>
            </a:r>
            <a:endParaRPr lang="en-US" sz="1100" dirty="0"/>
          </a:p>
          <a:p>
            <a:pPr marL="0" indent="0">
              <a:buNone/>
            </a:pPr>
            <a:r>
              <a:rPr lang="en-US" sz="1400" b="1" dirty="0">
                <a:solidFill>
                  <a:srgbClr val="0E3F7E"/>
                </a:solidFill>
                <a:latin typeface="Cambria" pitchFamily="34" charset="0"/>
                <a:ea typeface="Cambria" pitchFamily="34" charset="-122"/>
                <a:cs typeface="Cambria" pitchFamily="34" charset="-120"/>
              </a:rPr>
              <a:t>R = F_1 UNION F_2 UNION ... UNION F_n</a:t>
            </a:r>
            <a:endParaRPr lang="en-US" sz="1100" dirty="0"/>
          </a:p>
        </p:txBody>
      </p:sp>
      <p:sp>
        <p:nvSpPr>
          <p:cNvPr id="9" name="Text 7"/>
          <p:cNvSpPr/>
          <p:nvPr/>
        </p:nvSpPr>
        <p:spPr>
          <a:xfrm>
            <a:off x="777240" y="4800600"/>
            <a:ext cx="5029200" cy="274320"/>
          </a:xfrm>
          <a:prstGeom prst="rect">
            <a:avLst/>
          </a:prstGeom>
          <a:noFill/>
          <a:ln/>
        </p:spPr>
        <p:txBody>
          <a:bodyPr wrap="square" lIns="0" tIns="0" rIns="0" bIns="0" rtlCol="0" anchor="ctr"/>
          <a:lstStyle/>
          <a:p>
            <a:pPr marL="0" indent="0">
              <a:buNone/>
            </a:pPr>
            <a:r>
              <a:rPr lang="en-US" sz="1200" b="1" dirty="0">
                <a:solidFill>
                  <a:srgbClr val="2E86A1"/>
                </a:solidFill>
                <a:latin typeface="Calibri" pitchFamily="34" charset="0"/>
                <a:ea typeface="Calibri" pitchFamily="34" charset="-122"/>
                <a:cs typeface="Calibri" pitchFamily="34" charset="-120"/>
              </a:rPr>
              <a:t>Variante: fragmentacion horizontal derivada</a:t>
            </a:r>
            <a:endParaRPr lang="en-US" sz="1200" dirty="0"/>
          </a:p>
        </p:txBody>
      </p:sp>
      <p:sp>
        <p:nvSpPr>
          <p:cNvPr id="10" name="Text 8"/>
          <p:cNvSpPr/>
          <p:nvPr/>
        </p:nvSpPr>
        <p:spPr>
          <a:xfrm>
            <a:off x="777240" y="5120640"/>
            <a:ext cx="5029200" cy="118872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Los fragmentos de una relacion R2 se definen segun los de otra R1 con la que esta relacionada por clave foranea. Mantiene la localidad de los JOIN.</a:t>
            </a:r>
            <a:endParaRPr lang="en-US" sz="1100" dirty="0"/>
          </a:p>
        </p:txBody>
      </p:sp>
      <p:sp>
        <p:nvSpPr>
          <p:cNvPr id="11" name="Shape 9"/>
          <p:cNvSpPr/>
          <p:nvPr/>
        </p:nvSpPr>
        <p:spPr>
          <a:xfrm>
            <a:off x="6172200" y="1280160"/>
            <a:ext cx="5486400" cy="5120640"/>
          </a:xfrm>
          <a:prstGeom prst="roundRect">
            <a:avLst>
              <a:gd name="adj" fmla="val 1429"/>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12" name="Text 10"/>
          <p:cNvSpPr/>
          <p:nvPr/>
        </p:nvSpPr>
        <p:spPr>
          <a:xfrm>
            <a:off x="6400800" y="1417320"/>
            <a:ext cx="5029200" cy="365760"/>
          </a:xfrm>
          <a:prstGeom prst="rect">
            <a:avLst/>
          </a:prstGeom>
          <a:noFill/>
          <a:ln/>
        </p:spPr>
        <p:txBody>
          <a:bodyPr wrap="square" lIns="0" tIns="0" rIns="0" bIns="0" rtlCol="0" anchor="ctr"/>
          <a:lstStyle/>
          <a:p>
            <a:pPr marL="0" indent="0">
              <a:buNone/>
            </a:pPr>
            <a:r>
              <a:rPr lang="en-US" sz="1500" b="1" dirty="0">
                <a:solidFill>
                  <a:srgbClr val="4FAE60"/>
                </a:solidFill>
                <a:latin typeface="Calibri" pitchFamily="34" charset="0"/>
                <a:ea typeface="Calibri" pitchFamily="34" charset="-122"/>
                <a:cs typeface="Calibri" pitchFamily="34" charset="-120"/>
              </a:rPr>
              <a:t>Ejemplo: PEDIDOS por ciudad</a:t>
            </a:r>
            <a:endParaRPr lang="en-US" sz="1500" dirty="0"/>
          </a:p>
        </p:txBody>
      </p:sp>
      <p:sp>
        <p:nvSpPr>
          <p:cNvPr id="13" name="Text 11"/>
          <p:cNvSpPr/>
          <p:nvPr/>
        </p:nvSpPr>
        <p:spPr>
          <a:xfrm>
            <a:off x="6400800" y="1828800"/>
            <a:ext cx="5029200" cy="365760"/>
          </a:xfrm>
          <a:prstGeom prst="rect">
            <a:avLst/>
          </a:prstGeom>
          <a:noFill/>
          <a:ln/>
        </p:spPr>
        <p:txBody>
          <a:bodyPr wrap="square" rtlCol="0" anchor="ctr"/>
          <a:lstStyle/>
          <a:p>
            <a:pPr marL="0" indent="0">
              <a:buNone/>
            </a:pPr>
            <a:r>
              <a:rPr lang="en-US" sz="1200" i="1" dirty="0">
                <a:solidFill>
                  <a:srgbClr val="4A4A4A"/>
                </a:solidFill>
                <a:latin typeface="Calibri" pitchFamily="34" charset="0"/>
                <a:ea typeface="Calibri" pitchFamily="34" charset="-122"/>
                <a:cs typeface="Calibri" pitchFamily="34" charset="-120"/>
              </a:rPr>
              <a:t>Relacion original: PEDIDOS(id, cliente, ciudad, monto)</a:t>
            </a:r>
            <a:endParaRPr lang="en-US" sz="1200" dirty="0"/>
          </a:p>
        </p:txBody>
      </p:sp>
      <p:sp>
        <p:nvSpPr>
          <p:cNvPr id="14" name="Shape 12"/>
          <p:cNvSpPr/>
          <p:nvPr/>
        </p:nvSpPr>
        <p:spPr>
          <a:xfrm>
            <a:off x="6400800" y="2286000"/>
            <a:ext cx="5029200" cy="1463040"/>
          </a:xfrm>
          <a:prstGeom prst="roundRect">
            <a:avLst>
              <a:gd name="adj" fmla="val 5000"/>
            </a:avLst>
          </a:prstGeom>
          <a:solidFill>
            <a:srgbClr val="EAF1FB"/>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15" name="Text 13"/>
          <p:cNvSpPr/>
          <p:nvPr/>
        </p:nvSpPr>
        <p:spPr>
          <a:xfrm>
            <a:off x="6537960" y="2377440"/>
            <a:ext cx="4754880" cy="1325880"/>
          </a:xfrm>
          <a:prstGeom prst="rect">
            <a:avLst/>
          </a:prstGeom>
          <a:noFill/>
          <a:ln/>
        </p:spPr>
        <p:txBody>
          <a:bodyPr wrap="square" rtlCol="0" anchor="ctr"/>
          <a:lstStyle/>
          <a:p>
            <a:pPr marL="0" indent="0">
              <a:buNone/>
            </a:pPr>
            <a:r>
              <a:rPr lang="en-US" sz="1300" b="1" dirty="0">
                <a:solidFill>
                  <a:srgbClr val="0E3F7E"/>
                </a:solidFill>
                <a:latin typeface="Cambria" pitchFamily="34" charset="0"/>
                <a:ea typeface="Cambria" pitchFamily="34" charset="-122"/>
                <a:cs typeface="Cambria" pitchFamily="34" charset="-120"/>
              </a:rPr>
              <a:t>F1 = sigma_{ciudad='Cuenca'} (PEDIDOS)</a:t>
            </a:r>
            <a:endParaRPr lang="en-US" sz="1300" dirty="0"/>
          </a:p>
          <a:p>
            <a:pPr marL="0" indent="0">
              <a:buNone/>
            </a:pPr>
            <a:r>
              <a:rPr lang="en-US" sz="1100" dirty="0">
                <a:solidFill>
                  <a:srgbClr val="4A4A4A"/>
                </a:solidFill>
                <a:latin typeface="Cambria" pitchFamily="34" charset="0"/>
                <a:ea typeface="Cambria" pitchFamily="34" charset="-122"/>
                <a:cs typeface="Cambria" pitchFamily="34" charset="-120"/>
              </a:rPr>
              <a:t> -&gt; Nodo Cuenca</a:t>
            </a:r>
            <a:endParaRPr lang="en-US" sz="1300" dirty="0"/>
          </a:p>
          <a:p>
            <a:pPr marL="0" indent="0">
              <a:buNone/>
            </a:pPr>
            <a:r>
              <a:rPr lang="en-US" sz="600" dirty="0">
                <a:solidFill>
                  <a:srgbClr val="000000"/>
                </a:solidFill>
                <a:latin typeface="Cambria" pitchFamily="34" charset="0"/>
                <a:ea typeface="Cambria" pitchFamily="34" charset="-122"/>
                <a:cs typeface="Cambria" pitchFamily="34" charset="-120"/>
              </a:rPr>
              <a:t> </a:t>
            </a:r>
            <a:endParaRPr lang="en-US" sz="1300" dirty="0"/>
          </a:p>
          <a:p>
            <a:pPr marL="0" indent="0">
              <a:buNone/>
            </a:pPr>
            <a:r>
              <a:rPr lang="en-US" sz="1300" b="1" dirty="0">
                <a:solidFill>
                  <a:srgbClr val="2E86A1"/>
                </a:solidFill>
                <a:latin typeface="Cambria" pitchFamily="34" charset="0"/>
                <a:ea typeface="Cambria" pitchFamily="34" charset="-122"/>
                <a:cs typeface="Cambria" pitchFamily="34" charset="-120"/>
              </a:rPr>
              <a:t>F2 = sigma_{ciudad='Quito'} (PEDIDOS)</a:t>
            </a:r>
            <a:endParaRPr lang="en-US" sz="1300" dirty="0"/>
          </a:p>
          <a:p>
            <a:pPr marL="0" indent="0">
              <a:buNone/>
            </a:pPr>
            <a:r>
              <a:rPr lang="en-US" sz="1100" dirty="0">
                <a:solidFill>
                  <a:srgbClr val="4A4A4A"/>
                </a:solidFill>
                <a:latin typeface="Cambria" pitchFamily="34" charset="0"/>
                <a:ea typeface="Cambria" pitchFamily="34" charset="-122"/>
                <a:cs typeface="Cambria" pitchFamily="34" charset="-120"/>
              </a:rPr>
              <a:t> -&gt; Nodo Quito</a:t>
            </a:r>
            <a:endParaRPr lang="en-US" sz="1300" dirty="0"/>
          </a:p>
        </p:txBody>
      </p:sp>
      <p:sp>
        <p:nvSpPr>
          <p:cNvPr id="16" name="Text 14"/>
          <p:cNvSpPr/>
          <p:nvPr/>
        </p:nvSpPr>
        <p:spPr>
          <a:xfrm>
            <a:off x="6400800" y="3886200"/>
            <a:ext cx="5029200" cy="365760"/>
          </a:xfrm>
          <a:prstGeom prst="rect">
            <a:avLst/>
          </a:prstGeom>
          <a:noFill/>
          <a:ln/>
        </p:spPr>
        <p:txBody>
          <a:bodyPr wrap="square" rtlCol="0" anchor="ctr"/>
          <a:lstStyle/>
          <a:p>
            <a:pPr marL="0" indent="0">
              <a:buNone/>
            </a:pPr>
            <a:r>
              <a:rPr lang="en-US" sz="1300" b="1" dirty="0">
                <a:solidFill>
                  <a:srgbClr val="4FAE60"/>
                </a:solidFill>
                <a:latin typeface="Cambria" pitchFamily="34" charset="0"/>
                <a:ea typeface="Cambria" pitchFamily="34" charset="-122"/>
                <a:cs typeface="Cambria" pitchFamily="34" charset="-120"/>
              </a:rPr>
              <a:t>Reconstruccion: PEDIDOS = F1 UNION F2</a:t>
            </a:r>
            <a:endParaRPr lang="en-US" sz="1300" dirty="0"/>
          </a:p>
        </p:txBody>
      </p:sp>
      <p:sp>
        <p:nvSpPr>
          <p:cNvPr id="17" name="Text 15"/>
          <p:cNvSpPr/>
          <p:nvPr/>
        </p:nvSpPr>
        <p:spPr>
          <a:xfrm>
            <a:off x="6400800" y="4526280"/>
            <a:ext cx="5029200" cy="274320"/>
          </a:xfrm>
          <a:prstGeom prst="rect">
            <a:avLst/>
          </a:prstGeom>
          <a:noFill/>
          <a:ln/>
        </p:spPr>
        <p:txBody>
          <a:bodyPr wrap="square" lIns="0" tIns="0" rIns="0" bIns="0" rtlCol="0" anchor="ctr"/>
          <a:lstStyle/>
          <a:p>
            <a:pPr marL="0" indent="0">
              <a:buNone/>
            </a:pPr>
            <a:r>
              <a:rPr lang="en-US" sz="1200" b="1" dirty="0">
                <a:solidFill>
                  <a:srgbClr val="4FAE60"/>
                </a:solidFill>
                <a:latin typeface="Calibri" pitchFamily="34" charset="0"/>
                <a:ea typeface="Calibri" pitchFamily="34" charset="-122"/>
                <a:cs typeface="Calibri" pitchFamily="34" charset="-120"/>
              </a:rPr>
              <a:t>Beneficio clave</a:t>
            </a:r>
            <a:endParaRPr lang="en-US" sz="1200" dirty="0"/>
          </a:p>
        </p:txBody>
      </p:sp>
      <p:sp>
        <p:nvSpPr>
          <p:cNvPr id="18" name="Text 16"/>
          <p:cNvSpPr/>
          <p:nvPr/>
        </p:nvSpPr>
        <p:spPr>
          <a:xfrm>
            <a:off x="6400800" y="4846320"/>
            <a:ext cx="5029200" cy="146304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Los pedidos de clientes de Cuenca se procesan localmente en el nodo Cuenca, reduciendo latencia. Una consulta WHERE ciudad='Cuenca' se redirige solo al nodo Cuenca, evitando red.</a:t>
            </a:r>
            <a:endParaRPr lang="en-US" sz="1100" dirty="0"/>
          </a:p>
        </p:txBody>
      </p:sp>
      <p:sp>
        <p:nvSpPr>
          <p:cNvPr id="19" name="Text 17"/>
          <p:cNvSpPr/>
          <p:nvPr/>
        </p:nvSpPr>
        <p:spPr>
          <a:xfrm>
            <a:off x="457200" y="6492240"/>
            <a:ext cx="8229600" cy="274320"/>
          </a:xfrm>
          <a:prstGeom prst="rect">
            <a:avLst/>
          </a:prstGeom>
          <a:noFill/>
          <a:ln/>
        </p:spPr>
        <p:txBody>
          <a:bodyPr wrap="square" rtlCol="0" anchor="ctr"/>
          <a:lstStyle/>
          <a:p>
            <a:pPr marL="0" indent="0">
              <a:buNone/>
            </a:pPr>
            <a:r>
              <a:rPr lang="en-US" sz="900" dirty="0">
                <a:solidFill>
                  <a:srgbClr val="4A4A4A"/>
                </a:solidFill>
                <a:latin typeface="Calibri" pitchFamily="34" charset="0"/>
                <a:ea typeface="Calibri" pitchFamily="34" charset="-122"/>
                <a:cs typeface="Calibri" pitchFamily="34" charset="-120"/>
              </a:rPr>
              <a:t>UTEQ - Aplicaciones Distribuidas (ISR-701) - Unidad 3</a:t>
            </a:r>
            <a:endParaRPr lang="en-US" sz="900" dirty="0"/>
          </a:p>
        </p:txBody>
      </p:sp>
      <p:sp>
        <p:nvSpPr>
          <p:cNvPr id="20" name="Text 18"/>
          <p:cNvSpPr/>
          <p:nvPr/>
        </p:nvSpPr>
        <p:spPr>
          <a:xfrm>
            <a:off x="10789920" y="6492240"/>
            <a:ext cx="914400" cy="274320"/>
          </a:xfrm>
          <a:prstGeom prst="rect">
            <a:avLst/>
          </a:prstGeom>
          <a:noFill/>
          <a:ln/>
        </p:spPr>
        <p:txBody>
          <a:bodyPr wrap="square"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14 / 42</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marL="0" indent="0">
              <a:buNone/>
            </a:pPr>
            <a:r>
              <a:rPr lang="en-US" sz="2800" b="1" dirty="0">
                <a:solidFill>
                  <a:srgbClr val="0E3F7E"/>
                </a:solidFill>
                <a:latin typeface="Calibri" pitchFamily="34" charset="0"/>
                <a:ea typeface="Calibri" pitchFamily="34" charset="-122"/>
                <a:cs typeface="Calibri" pitchFamily="34" charset="-120"/>
              </a:rPr>
              <a:t>Fragmentacion vertical</a:t>
            </a:r>
            <a:endParaRPr lang="en-US" sz="2800" dirty="0"/>
          </a:p>
        </p:txBody>
      </p:sp>
      <p:sp>
        <p:nvSpPr>
          <p:cNvPr id="3" name="Text 1"/>
          <p:cNvSpPr/>
          <p:nvPr/>
        </p:nvSpPr>
        <p:spPr>
          <a:xfrm>
            <a:off x="457200" y="777240"/>
            <a:ext cx="11247120" cy="320040"/>
          </a:xfrm>
          <a:prstGeom prst="rect">
            <a:avLst/>
          </a:prstGeom>
          <a:noFill/>
          <a:ln/>
        </p:spPr>
        <p:txBody>
          <a:bodyPr wrap="square" lIns="0" tIns="0" rIns="0" bIns="0" rtlCol="0" anchor="ctr"/>
          <a:lstStyle/>
          <a:p>
            <a:pPr marL="0" indent="0">
              <a:buNone/>
            </a:pPr>
            <a:r>
              <a:rPr lang="en-US" sz="1400" i="1" dirty="0">
                <a:solidFill>
                  <a:srgbClr val="2E86A1"/>
                </a:solidFill>
                <a:latin typeface="Calibri" pitchFamily="34" charset="0"/>
                <a:ea typeface="Calibri" pitchFamily="34" charset="-122"/>
                <a:cs typeface="Calibri" pitchFamily="34" charset="-120"/>
              </a:rPr>
              <a:t>Division por columnas con clave en cada fragmento</a:t>
            </a:r>
            <a:endParaRPr lang="en-US" sz="1400" dirty="0"/>
          </a:p>
        </p:txBody>
      </p:sp>
      <p:sp>
        <p:nvSpPr>
          <p:cNvPr id="4" name="Shape 2"/>
          <p:cNvSpPr/>
          <p:nvPr/>
        </p:nvSpPr>
        <p:spPr>
          <a:xfrm>
            <a:off x="548640" y="1280160"/>
            <a:ext cx="5486400" cy="5120640"/>
          </a:xfrm>
          <a:prstGeom prst="roundRect">
            <a:avLst>
              <a:gd name="adj" fmla="val 1429"/>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5" name="Text 3"/>
          <p:cNvSpPr/>
          <p:nvPr/>
        </p:nvSpPr>
        <p:spPr>
          <a:xfrm>
            <a:off x="777240" y="1417320"/>
            <a:ext cx="5029200" cy="365760"/>
          </a:xfrm>
          <a:prstGeom prst="rect">
            <a:avLst/>
          </a:prstGeom>
          <a:noFill/>
          <a:ln/>
        </p:spPr>
        <p:txBody>
          <a:bodyPr wrap="square" lIns="0" tIns="0" rIns="0" bIns="0" rtlCol="0" anchor="ctr"/>
          <a:lstStyle/>
          <a:p>
            <a:pPr marL="0" indent="0">
              <a:buNone/>
            </a:pPr>
            <a:r>
              <a:rPr lang="en-US" sz="1500" b="1" dirty="0">
                <a:solidFill>
                  <a:srgbClr val="0E3F7E"/>
                </a:solidFill>
                <a:latin typeface="Calibri" pitchFamily="34" charset="0"/>
                <a:ea typeface="Calibri" pitchFamily="34" charset="-122"/>
                <a:cs typeface="Calibri" pitchFamily="34" charset="-120"/>
              </a:rPr>
              <a:t>Definicion formal</a:t>
            </a:r>
            <a:endParaRPr lang="en-US" sz="1500" dirty="0"/>
          </a:p>
        </p:txBody>
      </p:sp>
      <p:sp>
        <p:nvSpPr>
          <p:cNvPr id="6" name="Text 4"/>
          <p:cNvSpPr/>
          <p:nvPr/>
        </p:nvSpPr>
        <p:spPr>
          <a:xfrm>
            <a:off x="777240" y="1828800"/>
            <a:ext cx="5029200" cy="128016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Divide las COLUMNAS (atributos) de la relacion. Cada fragmento incluye la clave primaria (para permitir la reconstruccion mediante JOIN) y un subconjunto de los demas atributos.</a:t>
            </a:r>
            <a:endParaRPr lang="en-US" sz="1200" dirty="0"/>
          </a:p>
        </p:txBody>
      </p:sp>
      <p:sp>
        <p:nvSpPr>
          <p:cNvPr id="7" name="Shape 5"/>
          <p:cNvSpPr/>
          <p:nvPr/>
        </p:nvSpPr>
        <p:spPr>
          <a:xfrm>
            <a:off x="777240" y="3154680"/>
            <a:ext cx="5029200" cy="1554480"/>
          </a:xfrm>
          <a:prstGeom prst="roundRect">
            <a:avLst>
              <a:gd name="adj" fmla="val 4706"/>
            </a:avLst>
          </a:prstGeom>
          <a:solidFill>
            <a:srgbClr val="EAF1FB"/>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8" name="Text 6"/>
          <p:cNvSpPr/>
          <p:nvPr/>
        </p:nvSpPr>
        <p:spPr>
          <a:xfrm>
            <a:off x="914400" y="3246120"/>
            <a:ext cx="4800600" cy="1417320"/>
          </a:xfrm>
          <a:prstGeom prst="rect">
            <a:avLst/>
          </a:prstGeom>
          <a:noFill/>
          <a:ln/>
        </p:spPr>
        <p:txBody>
          <a:bodyPr wrap="square" rtlCol="0" anchor="ctr"/>
          <a:lstStyle/>
          <a:p>
            <a:pPr marL="0" indent="0">
              <a:buNone/>
            </a:pPr>
            <a:r>
              <a:rPr lang="en-US" sz="1100" i="1" dirty="0">
                <a:solidFill>
                  <a:srgbClr val="4A4A4A"/>
                </a:solidFill>
                <a:latin typeface="Cambria" pitchFamily="34" charset="0"/>
                <a:ea typeface="Cambria" pitchFamily="34" charset="-122"/>
                <a:cs typeface="Cambria" pitchFamily="34" charset="-120"/>
              </a:rPr>
              <a:t>Operador del algebra relacional:</a:t>
            </a:r>
            <a:endParaRPr lang="en-US" sz="1100" dirty="0"/>
          </a:p>
          <a:p>
            <a:pPr marL="0" indent="0">
              <a:buNone/>
            </a:pPr>
            <a:r>
              <a:rPr lang="en-US" sz="1400" b="1" dirty="0">
                <a:solidFill>
                  <a:srgbClr val="0E3F7E"/>
                </a:solidFill>
                <a:latin typeface="Cambria" pitchFamily="34" charset="0"/>
                <a:ea typeface="Cambria" pitchFamily="34" charset="-122"/>
                <a:cs typeface="Cambria" pitchFamily="34" charset="-120"/>
              </a:rPr>
              <a:t>FV_i = pi_{PK, A_i} (R)</a:t>
            </a:r>
            <a:endParaRPr lang="en-US" sz="1100" dirty="0"/>
          </a:p>
          <a:p>
            <a:pPr marL="0" indent="0">
              <a:buNone/>
            </a:pPr>
            <a:r>
              <a:rPr lang="en-US" sz="600" dirty="0">
                <a:solidFill>
                  <a:srgbClr val="000000"/>
                </a:solidFill>
                <a:latin typeface="Cambria" pitchFamily="34" charset="0"/>
                <a:ea typeface="Cambria" pitchFamily="34" charset="-122"/>
                <a:cs typeface="Cambria" pitchFamily="34" charset="-120"/>
              </a:rPr>
              <a:t> </a:t>
            </a:r>
            <a:endParaRPr lang="en-US" sz="1100" dirty="0"/>
          </a:p>
          <a:p>
            <a:pPr marL="0" indent="0">
              <a:buNone/>
            </a:pPr>
            <a:r>
              <a:rPr lang="en-US" sz="1100" i="1" dirty="0">
                <a:solidFill>
                  <a:srgbClr val="4A4A4A"/>
                </a:solidFill>
                <a:latin typeface="Cambria" pitchFamily="34" charset="0"/>
                <a:ea typeface="Cambria" pitchFamily="34" charset="-122"/>
                <a:cs typeface="Cambria" pitchFamily="34" charset="-120"/>
              </a:rPr>
              <a:t>Reconstruccion:</a:t>
            </a:r>
            <a:endParaRPr lang="en-US" sz="1100" dirty="0"/>
          </a:p>
          <a:p>
            <a:pPr marL="0" indent="0">
              <a:buNone/>
            </a:pPr>
            <a:r>
              <a:rPr lang="en-US" sz="1400" b="1" dirty="0">
                <a:solidFill>
                  <a:srgbClr val="0E3F7E"/>
                </a:solidFill>
                <a:latin typeface="Cambria" pitchFamily="34" charset="0"/>
                <a:ea typeface="Cambria" pitchFamily="34" charset="-122"/>
                <a:cs typeface="Cambria" pitchFamily="34" charset="-120"/>
              </a:rPr>
              <a:t>R = FV_1 JOIN FV_2 JOIN ... JOIN FV_n</a:t>
            </a:r>
            <a:endParaRPr lang="en-US" sz="1100" dirty="0"/>
          </a:p>
        </p:txBody>
      </p:sp>
      <p:sp>
        <p:nvSpPr>
          <p:cNvPr id="9" name="Text 7"/>
          <p:cNvSpPr/>
          <p:nvPr/>
        </p:nvSpPr>
        <p:spPr>
          <a:xfrm>
            <a:off x="777240" y="4800600"/>
            <a:ext cx="5029200" cy="274320"/>
          </a:xfrm>
          <a:prstGeom prst="rect">
            <a:avLst/>
          </a:prstGeom>
          <a:noFill/>
          <a:ln/>
        </p:spPr>
        <p:txBody>
          <a:bodyPr wrap="square" lIns="0" tIns="0" rIns="0" bIns="0" rtlCol="0" anchor="ctr"/>
          <a:lstStyle/>
          <a:p>
            <a:pPr marL="0" indent="0">
              <a:buNone/>
            </a:pPr>
            <a:r>
              <a:rPr lang="en-US" sz="1200" b="1" dirty="0">
                <a:solidFill>
                  <a:srgbClr val="2E86A1"/>
                </a:solidFill>
                <a:latin typeface="Calibri" pitchFamily="34" charset="0"/>
                <a:ea typeface="Calibri" pitchFamily="34" charset="-122"/>
                <a:cs typeface="Calibri" pitchFamily="34" charset="-120"/>
              </a:rPr>
              <a:t>Diseno optimo: analisis de afinidad</a:t>
            </a:r>
            <a:endParaRPr lang="en-US" sz="1200" dirty="0"/>
          </a:p>
        </p:txBody>
      </p:sp>
      <p:sp>
        <p:nvSpPr>
          <p:cNvPr id="10" name="Text 8"/>
          <p:cNvSpPr/>
          <p:nvPr/>
        </p:nvSpPr>
        <p:spPr>
          <a:xfrm>
            <a:off x="777240" y="5120640"/>
            <a:ext cx="5029200" cy="118872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Construir matriz que mide cuantas veces dos atributos se consultan juntos. Algoritmo Hoffer-Severance agrupa los atributos con alta afinidad en el mismo fragmento.</a:t>
            </a:r>
            <a:endParaRPr lang="en-US" sz="1100" dirty="0"/>
          </a:p>
        </p:txBody>
      </p:sp>
      <p:sp>
        <p:nvSpPr>
          <p:cNvPr id="11" name="Shape 9"/>
          <p:cNvSpPr/>
          <p:nvPr/>
        </p:nvSpPr>
        <p:spPr>
          <a:xfrm>
            <a:off x="6172200" y="1280160"/>
            <a:ext cx="5486400" cy="5120640"/>
          </a:xfrm>
          <a:prstGeom prst="roundRect">
            <a:avLst>
              <a:gd name="adj" fmla="val 1429"/>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12" name="Text 10"/>
          <p:cNvSpPr/>
          <p:nvPr/>
        </p:nvSpPr>
        <p:spPr>
          <a:xfrm>
            <a:off x="6400800" y="1417320"/>
            <a:ext cx="5029200" cy="365760"/>
          </a:xfrm>
          <a:prstGeom prst="rect">
            <a:avLst/>
          </a:prstGeom>
          <a:noFill/>
          <a:ln/>
        </p:spPr>
        <p:txBody>
          <a:bodyPr wrap="square" lIns="0" tIns="0" rIns="0" bIns="0" rtlCol="0" anchor="ctr"/>
          <a:lstStyle/>
          <a:p>
            <a:pPr marL="0" indent="0">
              <a:buNone/>
            </a:pPr>
            <a:r>
              <a:rPr lang="en-US" sz="1500" b="1" dirty="0">
                <a:solidFill>
                  <a:srgbClr val="4FAE60"/>
                </a:solidFill>
                <a:latin typeface="Calibri" pitchFamily="34" charset="0"/>
                <a:ea typeface="Calibri" pitchFamily="34" charset="-122"/>
                <a:cs typeface="Calibri" pitchFamily="34" charset="-120"/>
              </a:rPr>
              <a:t>Ejemplo: EMPLEADOS por sensibilidad</a:t>
            </a:r>
            <a:endParaRPr lang="en-US" sz="1500" dirty="0"/>
          </a:p>
        </p:txBody>
      </p:sp>
      <p:sp>
        <p:nvSpPr>
          <p:cNvPr id="13" name="Text 11"/>
          <p:cNvSpPr/>
          <p:nvPr/>
        </p:nvSpPr>
        <p:spPr>
          <a:xfrm>
            <a:off x="6400800" y="1828800"/>
            <a:ext cx="5029200" cy="365760"/>
          </a:xfrm>
          <a:prstGeom prst="rect">
            <a:avLst/>
          </a:prstGeom>
          <a:noFill/>
          <a:ln/>
        </p:spPr>
        <p:txBody>
          <a:bodyPr wrap="square" rtlCol="0" anchor="ctr"/>
          <a:lstStyle/>
          <a:p>
            <a:pPr marL="0" indent="0">
              <a:buNone/>
            </a:pPr>
            <a:r>
              <a:rPr lang="en-US" sz="1100" i="1" dirty="0">
                <a:solidFill>
                  <a:srgbClr val="4A4A4A"/>
                </a:solidFill>
                <a:latin typeface="Calibri" pitchFamily="34" charset="0"/>
                <a:ea typeface="Calibri" pitchFamily="34" charset="-122"/>
                <a:cs typeface="Calibri" pitchFamily="34" charset="-120"/>
              </a:rPr>
              <a:t>EMPLEADOS(id, nombre, cargo, salario, depart, telefono)</a:t>
            </a:r>
            <a:endParaRPr lang="en-US" sz="1100" dirty="0"/>
          </a:p>
        </p:txBody>
      </p:sp>
      <p:sp>
        <p:nvSpPr>
          <p:cNvPr id="14" name="Shape 12"/>
          <p:cNvSpPr/>
          <p:nvPr/>
        </p:nvSpPr>
        <p:spPr>
          <a:xfrm>
            <a:off x="6400800" y="2286000"/>
            <a:ext cx="5029200" cy="1554480"/>
          </a:xfrm>
          <a:prstGeom prst="roundRect">
            <a:avLst>
              <a:gd name="adj" fmla="val 4706"/>
            </a:avLst>
          </a:prstGeom>
          <a:solidFill>
            <a:srgbClr val="EAF1FB"/>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15" name="Text 13"/>
          <p:cNvSpPr/>
          <p:nvPr/>
        </p:nvSpPr>
        <p:spPr>
          <a:xfrm>
            <a:off x="6537960" y="2377440"/>
            <a:ext cx="4754880" cy="1417320"/>
          </a:xfrm>
          <a:prstGeom prst="rect">
            <a:avLst/>
          </a:prstGeom>
          <a:noFill/>
          <a:ln/>
        </p:spPr>
        <p:txBody>
          <a:bodyPr wrap="square" rtlCol="0" anchor="ctr"/>
          <a:lstStyle/>
          <a:p>
            <a:pPr marL="0" indent="0">
              <a:buNone/>
            </a:pPr>
            <a:r>
              <a:rPr lang="en-US" sz="1200" b="1" dirty="0">
                <a:solidFill>
                  <a:srgbClr val="0E3F7E"/>
                </a:solidFill>
                <a:latin typeface="Cambria" pitchFamily="34" charset="0"/>
                <a:ea typeface="Cambria" pitchFamily="34" charset="-122"/>
                <a:cs typeface="Cambria" pitchFamily="34" charset="-120"/>
              </a:rPr>
              <a:t>FV1 = pi_{id, nombre, cargo, depart} (EMP)</a:t>
            </a:r>
            <a:endParaRPr lang="en-US" sz="1200" dirty="0"/>
          </a:p>
          <a:p>
            <a:pPr marL="0" indent="0">
              <a:buNone/>
            </a:pPr>
            <a:r>
              <a:rPr lang="en-US" sz="1100" dirty="0">
                <a:solidFill>
                  <a:srgbClr val="4A4A4A"/>
                </a:solidFill>
                <a:latin typeface="Cambria" pitchFamily="34" charset="0"/>
                <a:ea typeface="Cambria" pitchFamily="34" charset="-122"/>
                <a:cs typeface="Cambria" pitchFamily="34" charset="-120"/>
              </a:rPr>
              <a:t> -&gt; Nodo RRHH</a:t>
            </a:r>
            <a:endParaRPr lang="en-US" sz="1200" dirty="0"/>
          </a:p>
          <a:p>
            <a:pPr marL="0" indent="0">
              <a:buNone/>
            </a:pPr>
            <a:r>
              <a:rPr lang="en-US" sz="600" dirty="0">
                <a:solidFill>
                  <a:srgbClr val="000000"/>
                </a:solidFill>
                <a:latin typeface="Cambria" pitchFamily="34" charset="0"/>
                <a:ea typeface="Cambria" pitchFamily="34" charset="-122"/>
                <a:cs typeface="Cambria" pitchFamily="34" charset="-120"/>
              </a:rPr>
              <a:t> </a:t>
            </a:r>
            <a:endParaRPr lang="en-US" sz="1200" dirty="0"/>
          </a:p>
          <a:p>
            <a:pPr marL="0" indent="0">
              <a:buNone/>
            </a:pPr>
            <a:r>
              <a:rPr lang="en-US" sz="1200" b="1" dirty="0">
                <a:solidFill>
                  <a:srgbClr val="2E86A1"/>
                </a:solidFill>
                <a:latin typeface="Cambria" pitchFamily="34" charset="0"/>
                <a:ea typeface="Cambria" pitchFamily="34" charset="-122"/>
                <a:cs typeface="Cambria" pitchFamily="34" charset="-120"/>
              </a:rPr>
              <a:t>FV2 = pi_{id, salario, telefono} (EMP)</a:t>
            </a:r>
            <a:endParaRPr lang="en-US" sz="1200" dirty="0"/>
          </a:p>
          <a:p>
            <a:pPr marL="0" indent="0">
              <a:buNone/>
            </a:pPr>
            <a:r>
              <a:rPr lang="en-US" sz="1100" dirty="0">
                <a:solidFill>
                  <a:srgbClr val="4A4A4A"/>
                </a:solidFill>
                <a:latin typeface="Cambria" pitchFamily="34" charset="0"/>
                <a:ea typeface="Cambria" pitchFamily="34" charset="-122"/>
                <a:cs typeface="Cambria" pitchFamily="34" charset="-120"/>
              </a:rPr>
              <a:t> -&gt; Nodo Nomina (cifrado)</a:t>
            </a:r>
            <a:endParaRPr lang="en-US" sz="1200" dirty="0"/>
          </a:p>
        </p:txBody>
      </p:sp>
      <p:sp>
        <p:nvSpPr>
          <p:cNvPr id="16" name="Text 14"/>
          <p:cNvSpPr/>
          <p:nvPr/>
        </p:nvSpPr>
        <p:spPr>
          <a:xfrm>
            <a:off x="6400800" y="3977640"/>
            <a:ext cx="5029200" cy="365760"/>
          </a:xfrm>
          <a:prstGeom prst="rect">
            <a:avLst/>
          </a:prstGeom>
          <a:noFill/>
          <a:ln/>
        </p:spPr>
        <p:txBody>
          <a:bodyPr wrap="square" rtlCol="0" anchor="ctr"/>
          <a:lstStyle/>
          <a:p>
            <a:pPr marL="0" indent="0">
              <a:buNone/>
            </a:pPr>
            <a:r>
              <a:rPr lang="en-US" sz="1300" b="1" dirty="0">
                <a:solidFill>
                  <a:srgbClr val="4FAE60"/>
                </a:solidFill>
                <a:latin typeface="Cambria" pitchFamily="34" charset="0"/>
                <a:ea typeface="Cambria" pitchFamily="34" charset="-122"/>
                <a:cs typeface="Cambria" pitchFamily="34" charset="-120"/>
              </a:rPr>
              <a:t>Reconstruccion: EMP = FV1 JOIN_id FV2</a:t>
            </a:r>
            <a:endParaRPr lang="en-US" sz="1300" dirty="0"/>
          </a:p>
        </p:txBody>
      </p:sp>
      <p:sp>
        <p:nvSpPr>
          <p:cNvPr id="17" name="Text 15"/>
          <p:cNvSpPr/>
          <p:nvPr/>
        </p:nvSpPr>
        <p:spPr>
          <a:xfrm>
            <a:off x="6400800" y="4617720"/>
            <a:ext cx="5029200" cy="274320"/>
          </a:xfrm>
          <a:prstGeom prst="rect">
            <a:avLst/>
          </a:prstGeom>
          <a:noFill/>
          <a:ln/>
        </p:spPr>
        <p:txBody>
          <a:bodyPr wrap="square" lIns="0" tIns="0" rIns="0" bIns="0"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Atencion: la clave primaria DEBE</a:t>
            </a:r>
            <a:endParaRPr lang="en-US" sz="1200" dirty="0"/>
          </a:p>
        </p:txBody>
      </p:sp>
      <p:sp>
        <p:nvSpPr>
          <p:cNvPr id="18" name="Text 16"/>
          <p:cNvSpPr/>
          <p:nvPr/>
        </p:nvSpPr>
        <p:spPr>
          <a:xfrm>
            <a:off x="6400800" y="4937760"/>
            <a:ext cx="5029200" cy="137160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estar en TODOS los fragmentos verticales, de lo contrario no es posible reconstruir la tabla. Es la causa mas comun de violacion de la regla de reconstruccion en disenos verticales.</a:t>
            </a:r>
            <a:endParaRPr lang="en-US" sz="1100" dirty="0"/>
          </a:p>
        </p:txBody>
      </p:sp>
      <p:sp>
        <p:nvSpPr>
          <p:cNvPr id="19" name="Text 17"/>
          <p:cNvSpPr/>
          <p:nvPr/>
        </p:nvSpPr>
        <p:spPr>
          <a:xfrm>
            <a:off x="457200" y="6492240"/>
            <a:ext cx="8229600" cy="274320"/>
          </a:xfrm>
          <a:prstGeom prst="rect">
            <a:avLst/>
          </a:prstGeom>
          <a:noFill/>
          <a:ln/>
        </p:spPr>
        <p:txBody>
          <a:bodyPr wrap="square" rtlCol="0" anchor="ctr"/>
          <a:lstStyle/>
          <a:p>
            <a:pPr marL="0" indent="0">
              <a:buNone/>
            </a:pPr>
            <a:r>
              <a:rPr lang="en-US" sz="900" dirty="0">
                <a:solidFill>
                  <a:srgbClr val="4A4A4A"/>
                </a:solidFill>
                <a:latin typeface="Calibri" pitchFamily="34" charset="0"/>
                <a:ea typeface="Calibri" pitchFamily="34" charset="-122"/>
                <a:cs typeface="Calibri" pitchFamily="34" charset="-120"/>
              </a:rPr>
              <a:t>UTEQ - Aplicaciones Distribuidas (ISR-701) - Unidad 3</a:t>
            </a:r>
            <a:endParaRPr lang="en-US" sz="900" dirty="0"/>
          </a:p>
        </p:txBody>
      </p:sp>
      <p:sp>
        <p:nvSpPr>
          <p:cNvPr id="20" name="Text 18"/>
          <p:cNvSpPr/>
          <p:nvPr/>
        </p:nvSpPr>
        <p:spPr>
          <a:xfrm>
            <a:off x="10789920" y="6492240"/>
            <a:ext cx="914400" cy="274320"/>
          </a:xfrm>
          <a:prstGeom prst="rect">
            <a:avLst/>
          </a:prstGeom>
          <a:noFill/>
          <a:ln/>
        </p:spPr>
        <p:txBody>
          <a:bodyPr wrap="square"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15 / 42</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marL="0" indent="0">
              <a:buNone/>
            </a:pPr>
            <a:r>
              <a:rPr lang="en-US" sz="2800" b="1" dirty="0">
                <a:solidFill>
                  <a:srgbClr val="0E3F7E"/>
                </a:solidFill>
                <a:latin typeface="Calibri" pitchFamily="34" charset="0"/>
                <a:ea typeface="Calibri" pitchFamily="34" charset="-122"/>
                <a:cs typeface="Calibri" pitchFamily="34" charset="-120"/>
              </a:rPr>
              <a:t>Fragmentacion mixta y reglas de correctitud</a:t>
            </a:r>
            <a:endParaRPr lang="en-US" sz="2800" dirty="0"/>
          </a:p>
        </p:txBody>
      </p:sp>
      <p:sp>
        <p:nvSpPr>
          <p:cNvPr id="3" name="Text 1"/>
          <p:cNvSpPr/>
          <p:nvPr/>
        </p:nvSpPr>
        <p:spPr>
          <a:xfrm>
            <a:off x="457200" y="777240"/>
            <a:ext cx="11247120" cy="320040"/>
          </a:xfrm>
          <a:prstGeom prst="rect">
            <a:avLst/>
          </a:prstGeom>
          <a:noFill/>
          <a:ln/>
        </p:spPr>
        <p:txBody>
          <a:bodyPr wrap="square" lIns="0" tIns="0" rIns="0" bIns="0" rtlCol="0" anchor="ctr"/>
          <a:lstStyle/>
          <a:p>
            <a:pPr marL="0" indent="0">
              <a:buNone/>
            </a:pPr>
            <a:r>
              <a:rPr lang="en-US" sz="1400" i="1" dirty="0">
                <a:solidFill>
                  <a:srgbClr val="2E86A1"/>
                </a:solidFill>
                <a:latin typeface="Calibri" pitchFamily="34" charset="0"/>
                <a:ea typeface="Calibri" pitchFamily="34" charset="-122"/>
                <a:cs typeface="Calibri" pitchFamily="34" charset="-120"/>
              </a:rPr>
              <a:t>Combinacion y validacion de cualquier esquema</a:t>
            </a:r>
            <a:endParaRPr lang="en-US" sz="1400" dirty="0"/>
          </a:p>
        </p:txBody>
      </p:sp>
      <p:sp>
        <p:nvSpPr>
          <p:cNvPr id="4" name="Shape 2"/>
          <p:cNvSpPr/>
          <p:nvPr/>
        </p:nvSpPr>
        <p:spPr>
          <a:xfrm>
            <a:off x="548640" y="1280160"/>
            <a:ext cx="5486400" cy="5120640"/>
          </a:xfrm>
          <a:prstGeom prst="roundRect">
            <a:avLst>
              <a:gd name="adj" fmla="val 1429"/>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5" name="Text 3"/>
          <p:cNvSpPr/>
          <p:nvPr/>
        </p:nvSpPr>
        <p:spPr>
          <a:xfrm>
            <a:off x="777240" y="1417320"/>
            <a:ext cx="5029200" cy="365760"/>
          </a:xfrm>
          <a:prstGeom prst="rect">
            <a:avLst/>
          </a:prstGeom>
          <a:noFill/>
          <a:ln/>
        </p:spPr>
        <p:txBody>
          <a:bodyPr wrap="square" lIns="0" tIns="0" rIns="0" bIns="0" rtlCol="0" anchor="ctr"/>
          <a:lstStyle/>
          <a:p>
            <a:pPr marL="0" indent="0">
              <a:buNone/>
            </a:pPr>
            <a:r>
              <a:rPr lang="en-US" sz="1500" b="1" dirty="0">
                <a:solidFill>
                  <a:srgbClr val="0E3F7E"/>
                </a:solidFill>
                <a:latin typeface="Calibri" pitchFamily="34" charset="0"/>
                <a:ea typeface="Calibri" pitchFamily="34" charset="-122"/>
                <a:cs typeface="Calibri" pitchFamily="34" charset="-120"/>
              </a:rPr>
              <a:t>Fragmentacion mixta (hibrida)</a:t>
            </a:r>
            <a:endParaRPr lang="en-US" sz="1500" dirty="0"/>
          </a:p>
        </p:txBody>
      </p:sp>
      <p:sp>
        <p:nvSpPr>
          <p:cNvPr id="6" name="Text 4"/>
          <p:cNvSpPr/>
          <p:nvPr/>
        </p:nvSpPr>
        <p:spPr>
          <a:xfrm>
            <a:off x="777240" y="1828800"/>
            <a:ext cx="5029200" cy="91440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Combina horizontal y vertical. Aplicar primero una fragmentacion horizontal y luego sobre cada fragmento horizontal una vertical -- o viceversa.</a:t>
            </a:r>
            <a:endParaRPr lang="en-US" sz="1200" dirty="0"/>
          </a:p>
        </p:txBody>
      </p:sp>
      <p:sp>
        <p:nvSpPr>
          <p:cNvPr id="7" name="Shape 5"/>
          <p:cNvSpPr/>
          <p:nvPr/>
        </p:nvSpPr>
        <p:spPr>
          <a:xfrm>
            <a:off x="777240" y="2834640"/>
            <a:ext cx="5029200" cy="3474720"/>
          </a:xfrm>
          <a:prstGeom prst="roundRect">
            <a:avLst>
              <a:gd name="adj" fmla="val 2105"/>
            </a:avLst>
          </a:prstGeom>
          <a:solidFill>
            <a:srgbClr val="EAF1FB"/>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8" name="Text 6"/>
          <p:cNvSpPr/>
          <p:nvPr/>
        </p:nvSpPr>
        <p:spPr>
          <a:xfrm>
            <a:off x="914400" y="2926080"/>
            <a:ext cx="4754880" cy="274320"/>
          </a:xfrm>
          <a:prstGeom prst="rect">
            <a:avLst/>
          </a:prstGeom>
          <a:noFill/>
          <a:ln/>
        </p:spPr>
        <p:txBody>
          <a:bodyPr wrap="square" lIns="0" tIns="0" rIns="0" bIns="0" rtlCol="0" anchor="ctr"/>
          <a:lstStyle/>
          <a:p>
            <a:pPr marL="0" indent="0">
              <a:buNone/>
            </a:pPr>
            <a:r>
              <a:rPr lang="en-US" sz="1200" b="1" dirty="0">
                <a:solidFill>
                  <a:srgbClr val="0E3F7E"/>
                </a:solidFill>
                <a:latin typeface="Calibri" pitchFamily="34" charset="0"/>
                <a:ea typeface="Calibri" pitchFamily="34" charset="-122"/>
                <a:cs typeface="Calibri" pitchFamily="34" charset="-120"/>
              </a:rPr>
              <a:t>Ejemplo: VENTAS</a:t>
            </a:r>
            <a:endParaRPr lang="en-US" sz="1200" dirty="0"/>
          </a:p>
        </p:txBody>
      </p:sp>
      <p:sp>
        <p:nvSpPr>
          <p:cNvPr id="9" name="Text 7"/>
          <p:cNvSpPr/>
          <p:nvPr/>
        </p:nvSpPr>
        <p:spPr>
          <a:xfrm>
            <a:off x="914400" y="3200400"/>
            <a:ext cx="4754880" cy="274320"/>
          </a:xfrm>
          <a:prstGeom prst="rect">
            <a:avLst/>
          </a:prstGeom>
          <a:noFill/>
          <a:ln/>
        </p:spPr>
        <p:txBody>
          <a:bodyPr wrap="square" rtlCol="0" anchor="ctr"/>
          <a:lstStyle/>
          <a:p>
            <a:pPr marL="0" indent="0">
              <a:buNone/>
            </a:pPr>
            <a:r>
              <a:rPr lang="en-US" sz="1000" i="1" dirty="0">
                <a:solidFill>
                  <a:srgbClr val="4A4A4A"/>
                </a:solidFill>
                <a:latin typeface="Calibri" pitchFamily="34" charset="0"/>
                <a:ea typeface="Calibri" pitchFamily="34" charset="-122"/>
                <a:cs typeface="Calibri" pitchFamily="34" charset="-120"/>
              </a:rPr>
              <a:t>VENTAS(id, vendedor, region, producto, monto)</a:t>
            </a:r>
            <a:endParaRPr lang="en-US" sz="1000" dirty="0"/>
          </a:p>
        </p:txBody>
      </p:sp>
      <p:sp>
        <p:nvSpPr>
          <p:cNvPr id="10" name="Text 8"/>
          <p:cNvSpPr/>
          <p:nvPr/>
        </p:nvSpPr>
        <p:spPr>
          <a:xfrm>
            <a:off x="914400" y="3520440"/>
            <a:ext cx="4754880" cy="2743200"/>
          </a:xfrm>
          <a:prstGeom prst="rect">
            <a:avLst/>
          </a:prstGeom>
          <a:noFill/>
          <a:ln/>
        </p:spPr>
        <p:txBody>
          <a:bodyPr wrap="square" rtlCol="0" anchor="ctr"/>
          <a:lstStyle/>
          <a:p>
            <a:pPr marL="0" indent="0">
              <a:buNone/>
            </a:pPr>
            <a:r>
              <a:rPr lang="en-US" sz="1100" b="1" dirty="0">
                <a:solidFill>
                  <a:srgbClr val="2E86A1"/>
                </a:solidFill>
                <a:latin typeface="Cambria" pitchFamily="34" charset="0"/>
                <a:ea typeface="Cambria" pitchFamily="34" charset="-122"/>
                <a:cs typeface="Cambria" pitchFamily="34" charset="-120"/>
              </a:rPr>
              <a:t>Paso 1 - Horizontal por region:</a:t>
            </a:r>
            <a:endParaRPr lang="en-US" sz="1100" dirty="0"/>
          </a:p>
          <a:p>
            <a:pPr marL="0" indent="0">
              <a:buNone/>
            </a:pPr>
            <a:r>
              <a:rPr lang="en-US" sz="1100" dirty="0">
                <a:solidFill>
                  <a:srgbClr val="1A1A1A"/>
                </a:solidFill>
                <a:latin typeface="Cambria" pitchFamily="34" charset="0"/>
                <a:ea typeface="Cambria" pitchFamily="34" charset="-122"/>
                <a:cs typeface="Cambria" pitchFamily="34" charset="-120"/>
              </a:rPr>
              <a:t>FH1 = sigma_{region='Sierra'} (VENTAS)</a:t>
            </a:r>
            <a:endParaRPr lang="en-US" sz="1100" dirty="0"/>
          </a:p>
          <a:p>
            <a:pPr marL="0" indent="0">
              <a:buNone/>
            </a:pPr>
            <a:r>
              <a:rPr lang="en-US" sz="1100" dirty="0">
                <a:solidFill>
                  <a:srgbClr val="1A1A1A"/>
                </a:solidFill>
                <a:latin typeface="Cambria" pitchFamily="34" charset="0"/>
                <a:ea typeface="Cambria" pitchFamily="34" charset="-122"/>
                <a:cs typeface="Cambria" pitchFamily="34" charset="-120"/>
              </a:rPr>
              <a:t>FH2 = sigma_{region='Costa'} (VENTAS)</a:t>
            </a:r>
            <a:endParaRPr lang="en-US" sz="1100" dirty="0"/>
          </a:p>
          <a:p>
            <a:pPr marL="0" indent="0">
              <a:buNone/>
            </a:pPr>
            <a:r>
              <a:rPr lang="en-US" sz="600" dirty="0">
                <a:solidFill>
                  <a:srgbClr val="000000"/>
                </a:solidFill>
                <a:latin typeface="Cambria" pitchFamily="34" charset="0"/>
                <a:ea typeface="Cambria" pitchFamily="34" charset="-122"/>
                <a:cs typeface="Cambria" pitchFamily="34" charset="-120"/>
              </a:rPr>
              <a:t> </a:t>
            </a:r>
            <a:endParaRPr lang="en-US" sz="1100" dirty="0"/>
          </a:p>
          <a:p>
            <a:pPr marL="0" indent="0">
              <a:buNone/>
            </a:pPr>
            <a:r>
              <a:rPr lang="en-US" sz="1100" b="1" dirty="0">
                <a:solidFill>
                  <a:srgbClr val="2E86A1"/>
                </a:solidFill>
                <a:latin typeface="Cambria" pitchFamily="34" charset="0"/>
                <a:ea typeface="Cambria" pitchFamily="34" charset="-122"/>
                <a:cs typeface="Cambria" pitchFamily="34" charset="-120"/>
              </a:rPr>
              <a:t>Paso 2 - Vertical sobre FH1:</a:t>
            </a:r>
            <a:endParaRPr lang="en-US" sz="1100" dirty="0"/>
          </a:p>
          <a:p>
            <a:pPr marL="0" indent="0">
              <a:buNone/>
            </a:pPr>
            <a:r>
              <a:rPr lang="en-US" sz="1100" dirty="0">
                <a:solidFill>
                  <a:srgbClr val="1A1A1A"/>
                </a:solidFill>
                <a:latin typeface="Cambria" pitchFamily="34" charset="0"/>
                <a:ea typeface="Cambria" pitchFamily="34" charset="-122"/>
                <a:cs typeface="Cambria" pitchFamily="34" charset="-120"/>
              </a:rPr>
              <a:t>FH1V1 = pi_{id, vendedor} (FH1) -&gt; Ventas</a:t>
            </a:r>
            <a:endParaRPr lang="en-US" sz="1100" dirty="0"/>
          </a:p>
          <a:p>
            <a:pPr marL="0" indent="0">
              <a:buNone/>
            </a:pPr>
            <a:r>
              <a:rPr lang="en-US" sz="1100" dirty="0">
                <a:solidFill>
                  <a:srgbClr val="1A1A1A"/>
                </a:solidFill>
                <a:latin typeface="Cambria" pitchFamily="34" charset="0"/>
                <a:ea typeface="Cambria" pitchFamily="34" charset="-122"/>
                <a:cs typeface="Cambria" pitchFamily="34" charset="-120"/>
              </a:rPr>
              <a:t>FH1V2 = pi_{id, producto, monto} (FH1) -&gt; Contabilidad</a:t>
            </a:r>
            <a:endParaRPr lang="en-US" sz="1100" dirty="0"/>
          </a:p>
        </p:txBody>
      </p:sp>
      <p:sp>
        <p:nvSpPr>
          <p:cNvPr id="11" name="Shape 9"/>
          <p:cNvSpPr/>
          <p:nvPr/>
        </p:nvSpPr>
        <p:spPr>
          <a:xfrm>
            <a:off x="6172200" y="1280160"/>
            <a:ext cx="5486400" cy="5120640"/>
          </a:xfrm>
          <a:prstGeom prst="roundRect">
            <a:avLst>
              <a:gd name="adj" fmla="val 1429"/>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12" name="Text 10"/>
          <p:cNvSpPr/>
          <p:nvPr/>
        </p:nvSpPr>
        <p:spPr>
          <a:xfrm>
            <a:off x="6400800" y="1417320"/>
            <a:ext cx="5029200" cy="365760"/>
          </a:xfrm>
          <a:prstGeom prst="rect">
            <a:avLst/>
          </a:prstGeom>
          <a:noFill/>
          <a:ln/>
        </p:spPr>
        <p:txBody>
          <a:bodyPr wrap="square" lIns="0" tIns="0" rIns="0" bIns="0" rtlCol="0" anchor="ctr"/>
          <a:lstStyle/>
          <a:p>
            <a:pPr marL="0" indent="0">
              <a:buNone/>
            </a:pPr>
            <a:r>
              <a:rPr lang="en-US" sz="1500" b="1" dirty="0">
                <a:solidFill>
                  <a:srgbClr val="F2A413"/>
                </a:solidFill>
                <a:latin typeface="Calibri" pitchFamily="34" charset="0"/>
                <a:ea typeface="Calibri" pitchFamily="34" charset="-122"/>
                <a:cs typeface="Calibri" pitchFamily="34" charset="-120"/>
              </a:rPr>
              <a:t>Tres reglas de correctitud</a:t>
            </a:r>
            <a:endParaRPr lang="en-US" sz="1500" dirty="0"/>
          </a:p>
        </p:txBody>
      </p:sp>
      <p:sp>
        <p:nvSpPr>
          <p:cNvPr id="13" name="Shape 11"/>
          <p:cNvSpPr/>
          <p:nvPr/>
        </p:nvSpPr>
        <p:spPr>
          <a:xfrm>
            <a:off x="6400800" y="1874520"/>
            <a:ext cx="640080" cy="640080"/>
          </a:xfrm>
          <a:prstGeom prst="roundRect">
            <a:avLst>
              <a:gd name="adj" fmla="val 11429"/>
            </a:avLst>
          </a:prstGeom>
          <a:solidFill>
            <a:srgbClr val="0E3F7E"/>
          </a:solidFill>
          <a:ln/>
        </p:spPr>
        <p:txBody>
          <a:bodyPr/>
          <a:lstStyle/>
          <a:p>
            <a:endParaRPr lang="es-US"/>
          </a:p>
        </p:txBody>
      </p:sp>
      <p:sp>
        <p:nvSpPr>
          <p:cNvPr id="14" name="Text 12"/>
          <p:cNvSpPr/>
          <p:nvPr/>
        </p:nvSpPr>
        <p:spPr>
          <a:xfrm>
            <a:off x="6400800" y="1874520"/>
            <a:ext cx="64008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C1</a:t>
            </a:r>
            <a:endParaRPr lang="en-US" sz="1800" dirty="0"/>
          </a:p>
        </p:txBody>
      </p:sp>
      <p:sp>
        <p:nvSpPr>
          <p:cNvPr id="15" name="Text 13"/>
          <p:cNvSpPr/>
          <p:nvPr/>
        </p:nvSpPr>
        <p:spPr>
          <a:xfrm>
            <a:off x="7178040" y="1874520"/>
            <a:ext cx="4297680" cy="320040"/>
          </a:xfrm>
          <a:prstGeom prst="rect">
            <a:avLst/>
          </a:prstGeom>
          <a:noFill/>
          <a:ln/>
        </p:spPr>
        <p:txBody>
          <a:bodyPr wrap="square" lIns="0" tIns="0" rIns="0" bIns="0" rtlCol="0" anchor="ctr"/>
          <a:lstStyle/>
          <a:p>
            <a:pPr marL="0" indent="0">
              <a:buNone/>
            </a:pPr>
            <a:r>
              <a:rPr lang="en-US" sz="1400" b="1" dirty="0">
                <a:solidFill>
                  <a:srgbClr val="0E3F7E"/>
                </a:solidFill>
                <a:latin typeface="Calibri" pitchFamily="34" charset="0"/>
                <a:ea typeface="Calibri" pitchFamily="34" charset="-122"/>
                <a:cs typeface="Calibri" pitchFamily="34" charset="-120"/>
              </a:rPr>
              <a:t>Completitud</a:t>
            </a:r>
            <a:endParaRPr lang="en-US" sz="1400" dirty="0"/>
          </a:p>
        </p:txBody>
      </p:sp>
      <p:sp>
        <p:nvSpPr>
          <p:cNvPr id="16" name="Text 14"/>
          <p:cNvSpPr/>
          <p:nvPr/>
        </p:nvSpPr>
        <p:spPr>
          <a:xfrm>
            <a:off x="7178040" y="2194560"/>
            <a:ext cx="4297680" cy="100584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Todo dato de la relacion original esta en al menos un fragmento. Union completa.</a:t>
            </a:r>
            <a:endParaRPr lang="en-US" sz="1100" dirty="0"/>
          </a:p>
        </p:txBody>
      </p:sp>
      <p:sp>
        <p:nvSpPr>
          <p:cNvPr id="17" name="Shape 15"/>
          <p:cNvSpPr/>
          <p:nvPr/>
        </p:nvSpPr>
        <p:spPr>
          <a:xfrm>
            <a:off x="6400800" y="3291840"/>
            <a:ext cx="640080" cy="640080"/>
          </a:xfrm>
          <a:prstGeom prst="roundRect">
            <a:avLst>
              <a:gd name="adj" fmla="val 11429"/>
            </a:avLst>
          </a:prstGeom>
          <a:solidFill>
            <a:srgbClr val="2E86A1"/>
          </a:solidFill>
          <a:ln/>
        </p:spPr>
        <p:txBody>
          <a:bodyPr/>
          <a:lstStyle/>
          <a:p>
            <a:endParaRPr lang="es-US"/>
          </a:p>
        </p:txBody>
      </p:sp>
      <p:sp>
        <p:nvSpPr>
          <p:cNvPr id="18" name="Text 16"/>
          <p:cNvSpPr/>
          <p:nvPr/>
        </p:nvSpPr>
        <p:spPr>
          <a:xfrm>
            <a:off x="6400800" y="3291840"/>
            <a:ext cx="64008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C2</a:t>
            </a:r>
            <a:endParaRPr lang="en-US" sz="1800" dirty="0"/>
          </a:p>
        </p:txBody>
      </p:sp>
      <p:sp>
        <p:nvSpPr>
          <p:cNvPr id="19" name="Text 17"/>
          <p:cNvSpPr/>
          <p:nvPr/>
        </p:nvSpPr>
        <p:spPr>
          <a:xfrm>
            <a:off x="7178040" y="3291840"/>
            <a:ext cx="4297680" cy="320040"/>
          </a:xfrm>
          <a:prstGeom prst="rect">
            <a:avLst/>
          </a:prstGeom>
          <a:noFill/>
          <a:ln/>
        </p:spPr>
        <p:txBody>
          <a:bodyPr wrap="square" lIns="0" tIns="0" rIns="0" bIns="0" rtlCol="0" anchor="ctr"/>
          <a:lstStyle/>
          <a:p>
            <a:pPr marL="0" indent="0">
              <a:buNone/>
            </a:pPr>
            <a:r>
              <a:rPr lang="en-US" sz="1400" b="1" dirty="0">
                <a:solidFill>
                  <a:srgbClr val="2E86A1"/>
                </a:solidFill>
                <a:latin typeface="Calibri" pitchFamily="34" charset="0"/>
                <a:ea typeface="Calibri" pitchFamily="34" charset="-122"/>
                <a:cs typeface="Calibri" pitchFamily="34" charset="-120"/>
              </a:rPr>
              <a:t>Reconstruccion</a:t>
            </a:r>
            <a:endParaRPr lang="en-US" sz="1400" dirty="0"/>
          </a:p>
        </p:txBody>
      </p:sp>
      <p:sp>
        <p:nvSpPr>
          <p:cNvPr id="20" name="Text 18"/>
          <p:cNvSpPr/>
          <p:nvPr/>
        </p:nvSpPr>
        <p:spPr>
          <a:xfrm>
            <a:off x="7178040" y="3611880"/>
            <a:ext cx="4297680" cy="100584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La relacion se reconstruye con operadores del algebra: UNION para H, JOIN para V.</a:t>
            </a:r>
            <a:endParaRPr lang="en-US" sz="1100" dirty="0"/>
          </a:p>
        </p:txBody>
      </p:sp>
      <p:sp>
        <p:nvSpPr>
          <p:cNvPr id="21" name="Shape 19"/>
          <p:cNvSpPr/>
          <p:nvPr/>
        </p:nvSpPr>
        <p:spPr>
          <a:xfrm>
            <a:off x="6400800" y="4709160"/>
            <a:ext cx="640080" cy="640080"/>
          </a:xfrm>
          <a:prstGeom prst="roundRect">
            <a:avLst>
              <a:gd name="adj" fmla="val 11429"/>
            </a:avLst>
          </a:prstGeom>
          <a:solidFill>
            <a:srgbClr val="4FAE60"/>
          </a:solidFill>
          <a:ln/>
        </p:spPr>
        <p:txBody>
          <a:bodyPr/>
          <a:lstStyle/>
          <a:p>
            <a:endParaRPr lang="es-US"/>
          </a:p>
        </p:txBody>
      </p:sp>
      <p:sp>
        <p:nvSpPr>
          <p:cNvPr id="22" name="Text 20"/>
          <p:cNvSpPr/>
          <p:nvPr/>
        </p:nvSpPr>
        <p:spPr>
          <a:xfrm>
            <a:off x="6400800" y="4709160"/>
            <a:ext cx="64008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C3</a:t>
            </a:r>
            <a:endParaRPr lang="en-US" sz="1800" dirty="0"/>
          </a:p>
        </p:txBody>
      </p:sp>
      <p:sp>
        <p:nvSpPr>
          <p:cNvPr id="23" name="Text 21"/>
          <p:cNvSpPr/>
          <p:nvPr/>
        </p:nvSpPr>
        <p:spPr>
          <a:xfrm>
            <a:off x="7178040" y="4709160"/>
            <a:ext cx="4297680" cy="320040"/>
          </a:xfrm>
          <a:prstGeom prst="rect">
            <a:avLst/>
          </a:prstGeom>
          <a:noFill/>
          <a:ln/>
        </p:spPr>
        <p:txBody>
          <a:bodyPr wrap="square" lIns="0" tIns="0" rIns="0" bIns="0" rtlCol="0" anchor="ctr"/>
          <a:lstStyle/>
          <a:p>
            <a:pPr marL="0" indent="0">
              <a:buNone/>
            </a:pPr>
            <a:r>
              <a:rPr lang="en-US" sz="1400" b="1" dirty="0">
                <a:solidFill>
                  <a:srgbClr val="4FAE60"/>
                </a:solidFill>
                <a:latin typeface="Calibri" pitchFamily="34" charset="0"/>
                <a:ea typeface="Calibri" pitchFamily="34" charset="-122"/>
                <a:cs typeface="Calibri" pitchFamily="34" charset="-120"/>
              </a:rPr>
              <a:t>Disjuncion</a:t>
            </a:r>
            <a:endParaRPr lang="en-US" sz="1400" dirty="0"/>
          </a:p>
        </p:txBody>
      </p:sp>
      <p:sp>
        <p:nvSpPr>
          <p:cNvPr id="24" name="Text 22"/>
          <p:cNvSpPr/>
          <p:nvPr/>
        </p:nvSpPr>
        <p:spPr>
          <a:xfrm>
            <a:off x="7178040" y="5029200"/>
            <a:ext cx="4297680" cy="100584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En H: ningun dato aparece en dos fragmentos. En V: solo la clave primaria se repite.</a:t>
            </a:r>
            <a:endParaRPr lang="en-US" sz="1100" dirty="0"/>
          </a:p>
        </p:txBody>
      </p:sp>
      <p:sp>
        <p:nvSpPr>
          <p:cNvPr id="25" name="Text 23"/>
          <p:cNvSpPr/>
          <p:nvPr/>
        </p:nvSpPr>
        <p:spPr>
          <a:xfrm>
            <a:off x="457200" y="6492240"/>
            <a:ext cx="8229600" cy="274320"/>
          </a:xfrm>
          <a:prstGeom prst="rect">
            <a:avLst/>
          </a:prstGeom>
          <a:noFill/>
          <a:ln/>
        </p:spPr>
        <p:txBody>
          <a:bodyPr wrap="square" rtlCol="0" anchor="ctr"/>
          <a:lstStyle/>
          <a:p>
            <a:pPr marL="0" indent="0">
              <a:buNone/>
            </a:pPr>
            <a:r>
              <a:rPr lang="en-US" sz="900" dirty="0">
                <a:solidFill>
                  <a:srgbClr val="4A4A4A"/>
                </a:solidFill>
                <a:latin typeface="Calibri" pitchFamily="34" charset="0"/>
                <a:ea typeface="Calibri" pitchFamily="34" charset="-122"/>
                <a:cs typeface="Calibri" pitchFamily="34" charset="-120"/>
              </a:rPr>
              <a:t>UTEQ - Aplicaciones Distribuidas (ISR-701) - Unidad 3</a:t>
            </a:r>
            <a:endParaRPr lang="en-US" sz="900" dirty="0"/>
          </a:p>
        </p:txBody>
      </p:sp>
      <p:sp>
        <p:nvSpPr>
          <p:cNvPr id="26" name="Text 24"/>
          <p:cNvSpPr/>
          <p:nvPr/>
        </p:nvSpPr>
        <p:spPr>
          <a:xfrm>
            <a:off x="10789920" y="6492240"/>
            <a:ext cx="914400" cy="274320"/>
          </a:xfrm>
          <a:prstGeom prst="rect">
            <a:avLst/>
          </a:prstGeom>
          <a:noFill/>
          <a:ln/>
        </p:spPr>
        <p:txBody>
          <a:bodyPr wrap="square"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16 / 42</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marL="0" indent="0">
              <a:buNone/>
            </a:pPr>
            <a:r>
              <a:rPr lang="en-US" sz="2800" b="1" dirty="0">
                <a:solidFill>
                  <a:srgbClr val="0E3F7E"/>
                </a:solidFill>
                <a:latin typeface="Calibri" pitchFamily="34" charset="0"/>
                <a:ea typeface="Calibri" pitchFamily="34" charset="-122"/>
                <a:cs typeface="Calibri" pitchFamily="34" charset="-120"/>
              </a:rPr>
              <a:t>Replicacion sincrona versus asincrona</a:t>
            </a:r>
            <a:endParaRPr lang="en-US" sz="2800" dirty="0"/>
          </a:p>
        </p:txBody>
      </p:sp>
      <p:sp>
        <p:nvSpPr>
          <p:cNvPr id="3" name="Text 1"/>
          <p:cNvSpPr/>
          <p:nvPr/>
        </p:nvSpPr>
        <p:spPr>
          <a:xfrm>
            <a:off x="457200" y="777240"/>
            <a:ext cx="11247120" cy="320040"/>
          </a:xfrm>
          <a:prstGeom prst="rect">
            <a:avLst/>
          </a:prstGeom>
          <a:noFill/>
          <a:ln/>
        </p:spPr>
        <p:txBody>
          <a:bodyPr wrap="square" lIns="0" tIns="0" rIns="0" bIns="0" rtlCol="0" anchor="ctr"/>
          <a:lstStyle/>
          <a:p>
            <a:pPr marL="0" indent="0">
              <a:buNone/>
            </a:pPr>
            <a:r>
              <a:rPr lang="en-US" sz="1400" i="1" dirty="0">
                <a:solidFill>
                  <a:srgbClr val="2E86A1"/>
                </a:solidFill>
                <a:latin typeface="Calibri" pitchFamily="34" charset="0"/>
                <a:ea typeface="Calibri" pitchFamily="34" charset="-122"/>
                <a:cs typeface="Calibri" pitchFamily="34" charset="-120"/>
              </a:rPr>
              <a:t>Compromiso fundamental entre consistencia y latencia</a:t>
            </a:r>
            <a:endParaRPr lang="en-US" sz="1400" dirty="0"/>
          </a:p>
        </p:txBody>
      </p:sp>
      <p:sp>
        <p:nvSpPr>
          <p:cNvPr id="4" name="Shape 2"/>
          <p:cNvSpPr/>
          <p:nvPr/>
        </p:nvSpPr>
        <p:spPr>
          <a:xfrm>
            <a:off x="548640" y="1280160"/>
            <a:ext cx="5486400" cy="5120640"/>
          </a:xfrm>
          <a:prstGeom prst="roundRect">
            <a:avLst>
              <a:gd name="adj" fmla="val 1429"/>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5" name="Shape 3"/>
          <p:cNvSpPr/>
          <p:nvPr/>
        </p:nvSpPr>
        <p:spPr>
          <a:xfrm>
            <a:off x="548640" y="1280160"/>
            <a:ext cx="5486400" cy="640080"/>
          </a:xfrm>
          <a:prstGeom prst="roundRect">
            <a:avLst>
              <a:gd name="adj" fmla="val 11429"/>
            </a:avLst>
          </a:prstGeom>
          <a:solidFill>
            <a:srgbClr val="0E3F7E"/>
          </a:solidFill>
          <a:ln/>
        </p:spPr>
        <p:txBody>
          <a:bodyPr/>
          <a:lstStyle/>
          <a:p>
            <a:endParaRPr lang="es-US"/>
          </a:p>
        </p:txBody>
      </p:sp>
      <p:sp>
        <p:nvSpPr>
          <p:cNvPr id="6" name="Text 4"/>
          <p:cNvSpPr/>
          <p:nvPr/>
        </p:nvSpPr>
        <p:spPr>
          <a:xfrm>
            <a:off x="548640" y="1325880"/>
            <a:ext cx="5486400" cy="548640"/>
          </a:xfrm>
          <a:prstGeom prst="rect">
            <a:avLst/>
          </a:prstGeom>
          <a:noFill/>
          <a:ln/>
        </p:spPr>
        <p:txBody>
          <a:bodyPr wrap="square" lIns="0" tIns="0" rIns="0" bIns="0" rtlCol="0" anchor="ctr"/>
          <a:lstStyle/>
          <a:p>
            <a:pPr marL="0" indent="0" algn="ctr">
              <a:buNone/>
            </a:pPr>
            <a:r>
              <a:rPr lang="en-US" sz="2200" b="1" kern="0" spc="400" dirty="0">
                <a:solidFill>
                  <a:srgbClr val="FFFFFF"/>
                </a:solidFill>
                <a:latin typeface="Calibri" pitchFamily="34" charset="0"/>
                <a:ea typeface="Calibri" pitchFamily="34" charset="-122"/>
                <a:cs typeface="Calibri" pitchFamily="34" charset="-120"/>
              </a:rPr>
              <a:t>SINCRONA</a:t>
            </a:r>
            <a:endParaRPr lang="en-US" sz="2200" dirty="0"/>
          </a:p>
        </p:txBody>
      </p:sp>
      <p:sp>
        <p:nvSpPr>
          <p:cNvPr id="7" name="Text 5"/>
          <p:cNvSpPr/>
          <p:nvPr/>
        </p:nvSpPr>
        <p:spPr>
          <a:xfrm>
            <a:off x="777240" y="2057400"/>
            <a:ext cx="5029200" cy="100584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La escritura se confirma al cliente solo despues de que todas las replicas -- o un quorum -- hayan persistido el cambio.</a:t>
            </a:r>
            <a:endParaRPr lang="en-US" sz="1200" dirty="0"/>
          </a:p>
        </p:txBody>
      </p:sp>
      <p:sp>
        <p:nvSpPr>
          <p:cNvPr id="8" name="Text 6"/>
          <p:cNvSpPr/>
          <p:nvPr/>
        </p:nvSpPr>
        <p:spPr>
          <a:xfrm>
            <a:off x="777240" y="3200400"/>
            <a:ext cx="2286000" cy="320040"/>
          </a:xfrm>
          <a:prstGeom prst="rect">
            <a:avLst/>
          </a:prstGeom>
          <a:noFill/>
          <a:ln/>
        </p:spPr>
        <p:txBody>
          <a:bodyPr wrap="square" lIns="0" tIns="0" rIns="0" bIns="0"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Consistencia:</a:t>
            </a:r>
            <a:endParaRPr lang="en-US" sz="1100" dirty="0"/>
          </a:p>
        </p:txBody>
      </p:sp>
      <p:sp>
        <p:nvSpPr>
          <p:cNvPr id="9" name="Text 7"/>
          <p:cNvSpPr/>
          <p:nvPr/>
        </p:nvSpPr>
        <p:spPr>
          <a:xfrm>
            <a:off x="3063240" y="3200400"/>
            <a:ext cx="2743200" cy="320040"/>
          </a:xfrm>
          <a:prstGeom prst="rect">
            <a:avLst/>
          </a:prstGeom>
          <a:noFill/>
          <a:ln/>
        </p:spPr>
        <p:txBody>
          <a:bodyPr wrap="square" lIns="0" tIns="0" rIns="0" bIns="0" rtlCol="0" anchor="ctr"/>
          <a:lstStyle/>
          <a:p>
            <a:pPr marL="0" indent="0">
              <a:buNone/>
            </a:pPr>
            <a:r>
              <a:rPr lang="en-US" sz="1100" b="1" dirty="0">
                <a:solidFill>
                  <a:srgbClr val="4FAE60"/>
                </a:solidFill>
                <a:latin typeface="Calibri" pitchFamily="34" charset="0"/>
                <a:ea typeface="Calibri" pitchFamily="34" charset="-122"/>
                <a:cs typeface="Calibri" pitchFamily="34" charset="-120"/>
              </a:rPr>
              <a:t>Fuerte</a:t>
            </a:r>
            <a:endParaRPr lang="en-US" sz="1100" dirty="0"/>
          </a:p>
        </p:txBody>
      </p:sp>
      <p:sp>
        <p:nvSpPr>
          <p:cNvPr id="10" name="Text 8"/>
          <p:cNvSpPr/>
          <p:nvPr/>
        </p:nvSpPr>
        <p:spPr>
          <a:xfrm>
            <a:off x="777240" y="3703320"/>
            <a:ext cx="2286000" cy="320040"/>
          </a:xfrm>
          <a:prstGeom prst="rect">
            <a:avLst/>
          </a:prstGeom>
          <a:noFill/>
          <a:ln/>
        </p:spPr>
        <p:txBody>
          <a:bodyPr wrap="square" lIns="0" tIns="0" rIns="0" bIns="0"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Latencia de escritura:</a:t>
            </a:r>
            <a:endParaRPr lang="en-US" sz="1100" dirty="0"/>
          </a:p>
        </p:txBody>
      </p:sp>
      <p:sp>
        <p:nvSpPr>
          <p:cNvPr id="11" name="Text 9"/>
          <p:cNvSpPr/>
          <p:nvPr/>
        </p:nvSpPr>
        <p:spPr>
          <a:xfrm>
            <a:off x="3063240" y="3703320"/>
            <a:ext cx="2743200" cy="320040"/>
          </a:xfrm>
          <a:prstGeom prst="rect">
            <a:avLst/>
          </a:prstGeom>
          <a:noFill/>
          <a:ln/>
        </p:spPr>
        <p:txBody>
          <a:bodyPr wrap="square" lIns="0" tIns="0" rIns="0" bIns="0" rtlCol="0" anchor="ctr"/>
          <a:lstStyle/>
          <a:p>
            <a:pPr marL="0" indent="0">
              <a:buNone/>
            </a:pPr>
            <a:r>
              <a:rPr lang="en-US" sz="1100" b="1" dirty="0">
                <a:solidFill>
                  <a:srgbClr val="C0392B"/>
                </a:solidFill>
                <a:latin typeface="Calibri" pitchFamily="34" charset="0"/>
                <a:ea typeface="Calibri" pitchFamily="34" charset="-122"/>
                <a:cs typeface="Calibri" pitchFamily="34" charset="-120"/>
              </a:rPr>
              <a:t>Alta</a:t>
            </a:r>
            <a:endParaRPr lang="en-US" sz="1100" dirty="0"/>
          </a:p>
        </p:txBody>
      </p:sp>
      <p:sp>
        <p:nvSpPr>
          <p:cNvPr id="12" name="Text 10"/>
          <p:cNvSpPr/>
          <p:nvPr/>
        </p:nvSpPr>
        <p:spPr>
          <a:xfrm>
            <a:off x="777240" y="4206240"/>
            <a:ext cx="2286000" cy="320040"/>
          </a:xfrm>
          <a:prstGeom prst="rect">
            <a:avLst/>
          </a:prstGeom>
          <a:noFill/>
          <a:ln/>
        </p:spPr>
        <p:txBody>
          <a:bodyPr wrap="square" lIns="0" tIns="0" rIns="0" bIns="0"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Disponibilidad ante fallo:</a:t>
            </a:r>
            <a:endParaRPr lang="en-US" sz="1100" dirty="0"/>
          </a:p>
        </p:txBody>
      </p:sp>
      <p:sp>
        <p:nvSpPr>
          <p:cNvPr id="13" name="Text 11"/>
          <p:cNvSpPr/>
          <p:nvPr/>
        </p:nvSpPr>
        <p:spPr>
          <a:xfrm>
            <a:off x="3063240" y="4206240"/>
            <a:ext cx="2743200" cy="320040"/>
          </a:xfrm>
          <a:prstGeom prst="rect">
            <a:avLst/>
          </a:prstGeom>
          <a:noFill/>
          <a:ln/>
        </p:spPr>
        <p:txBody>
          <a:bodyPr wrap="square" lIns="0" tIns="0" rIns="0" bIns="0" rtlCol="0" anchor="ctr"/>
          <a:lstStyle/>
          <a:p>
            <a:pPr marL="0" indent="0">
              <a:buNone/>
            </a:pPr>
            <a:r>
              <a:rPr lang="en-US" sz="1100" b="1" dirty="0">
                <a:solidFill>
                  <a:srgbClr val="F2A413"/>
                </a:solidFill>
                <a:latin typeface="Calibri" pitchFamily="34" charset="0"/>
                <a:ea typeface="Calibri" pitchFamily="34" charset="-122"/>
                <a:cs typeface="Calibri" pitchFamily="34" charset="-120"/>
              </a:rPr>
              <a:t>Reducida</a:t>
            </a:r>
            <a:endParaRPr lang="en-US" sz="1100" dirty="0"/>
          </a:p>
        </p:txBody>
      </p:sp>
      <p:sp>
        <p:nvSpPr>
          <p:cNvPr id="14" name="Text 12"/>
          <p:cNvSpPr/>
          <p:nvPr/>
        </p:nvSpPr>
        <p:spPr>
          <a:xfrm>
            <a:off x="777240" y="4709160"/>
            <a:ext cx="2286000" cy="320040"/>
          </a:xfrm>
          <a:prstGeom prst="rect">
            <a:avLst/>
          </a:prstGeom>
          <a:noFill/>
          <a:ln/>
        </p:spPr>
        <p:txBody>
          <a:bodyPr wrap="square" lIns="0" tIns="0" rIns="0" bIns="0"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Riesgo de perdida:</a:t>
            </a:r>
            <a:endParaRPr lang="en-US" sz="1100" dirty="0"/>
          </a:p>
        </p:txBody>
      </p:sp>
      <p:sp>
        <p:nvSpPr>
          <p:cNvPr id="15" name="Text 13"/>
          <p:cNvSpPr/>
          <p:nvPr/>
        </p:nvSpPr>
        <p:spPr>
          <a:xfrm>
            <a:off x="3063240" y="4709160"/>
            <a:ext cx="2743200" cy="320040"/>
          </a:xfrm>
          <a:prstGeom prst="rect">
            <a:avLst/>
          </a:prstGeom>
          <a:noFill/>
          <a:ln/>
        </p:spPr>
        <p:txBody>
          <a:bodyPr wrap="square" lIns="0" tIns="0" rIns="0" bIns="0" rtlCol="0" anchor="ctr"/>
          <a:lstStyle/>
          <a:p>
            <a:pPr marL="0" indent="0">
              <a:buNone/>
            </a:pPr>
            <a:r>
              <a:rPr lang="en-US" sz="1100" b="1" dirty="0">
                <a:solidFill>
                  <a:srgbClr val="4FAE60"/>
                </a:solidFill>
                <a:latin typeface="Calibri" pitchFamily="34" charset="0"/>
                <a:ea typeface="Calibri" pitchFamily="34" charset="-122"/>
                <a:cs typeface="Calibri" pitchFamily="34" charset="-120"/>
              </a:rPr>
              <a:t>Ninguno</a:t>
            </a:r>
            <a:endParaRPr lang="en-US" sz="1100" dirty="0"/>
          </a:p>
        </p:txBody>
      </p:sp>
      <p:sp>
        <p:nvSpPr>
          <p:cNvPr id="16" name="Text 14"/>
          <p:cNvSpPr/>
          <p:nvPr/>
        </p:nvSpPr>
        <p:spPr>
          <a:xfrm>
            <a:off x="777240" y="5212080"/>
            <a:ext cx="2286000" cy="320040"/>
          </a:xfrm>
          <a:prstGeom prst="rect">
            <a:avLst/>
          </a:prstGeom>
          <a:noFill/>
          <a:ln/>
        </p:spPr>
        <p:txBody>
          <a:bodyPr wrap="square" lIns="0" tIns="0" rIns="0" bIns="0"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Caso de uso:</a:t>
            </a:r>
            <a:endParaRPr lang="en-US" sz="1100" dirty="0"/>
          </a:p>
        </p:txBody>
      </p:sp>
      <p:sp>
        <p:nvSpPr>
          <p:cNvPr id="17" name="Text 15"/>
          <p:cNvSpPr/>
          <p:nvPr/>
        </p:nvSpPr>
        <p:spPr>
          <a:xfrm>
            <a:off x="3063240" y="5212080"/>
            <a:ext cx="2743200" cy="320040"/>
          </a:xfrm>
          <a:prstGeom prst="rect">
            <a:avLst/>
          </a:prstGeom>
          <a:noFill/>
          <a:ln/>
        </p:spPr>
        <p:txBody>
          <a:bodyPr wrap="square" lIns="0" tIns="0" rIns="0" bIns="0" rtlCol="0" anchor="ctr"/>
          <a:lstStyle/>
          <a:p>
            <a:pPr marL="0" indent="0">
              <a:buNone/>
            </a:pPr>
            <a:r>
              <a:rPr lang="en-US" sz="1100" b="1" dirty="0">
                <a:solidFill>
                  <a:srgbClr val="0E3F7E"/>
                </a:solidFill>
                <a:latin typeface="Calibri" pitchFamily="34" charset="0"/>
                <a:ea typeface="Calibri" pitchFamily="34" charset="-122"/>
                <a:cs typeface="Calibri" pitchFamily="34" charset="-120"/>
              </a:rPr>
              <a:t>Banca, inventario</a:t>
            </a:r>
            <a:endParaRPr lang="en-US" sz="1100" dirty="0"/>
          </a:p>
        </p:txBody>
      </p:sp>
      <p:sp>
        <p:nvSpPr>
          <p:cNvPr id="18" name="Text 16"/>
          <p:cNvSpPr/>
          <p:nvPr/>
        </p:nvSpPr>
        <p:spPr>
          <a:xfrm>
            <a:off x="777240" y="5715000"/>
            <a:ext cx="2286000" cy="320040"/>
          </a:xfrm>
          <a:prstGeom prst="rect">
            <a:avLst/>
          </a:prstGeom>
          <a:noFill/>
          <a:ln/>
        </p:spPr>
        <p:txBody>
          <a:bodyPr wrap="square" lIns="0" tIns="0" rIns="0" bIns="0"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Tecnologia ejemplo:</a:t>
            </a:r>
            <a:endParaRPr lang="en-US" sz="1100" dirty="0"/>
          </a:p>
        </p:txBody>
      </p:sp>
      <p:sp>
        <p:nvSpPr>
          <p:cNvPr id="19" name="Text 17"/>
          <p:cNvSpPr/>
          <p:nvPr/>
        </p:nvSpPr>
        <p:spPr>
          <a:xfrm>
            <a:off x="3063240" y="5715000"/>
            <a:ext cx="2743200" cy="320040"/>
          </a:xfrm>
          <a:prstGeom prst="rect">
            <a:avLst/>
          </a:prstGeom>
          <a:noFill/>
          <a:ln/>
        </p:spPr>
        <p:txBody>
          <a:bodyPr wrap="square" lIns="0" tIns="0" rIns="0" bIns="0" rtlCol="0" anchor="ctr"/>
          <a:lstStyle/>
          <a:p>
            <a:pPr marL="0" indent="0">
              <a:buNone/>
            </a:pPr>
            <a:r>
              <a:rPr lang="en-US" sz="1100" b="1" dirty="0">
                <a:solidFill>
                  <a:srgbClr val="4A4A4A"/>
                </a:solidFill>
                <a:latin typeface="Calibri" pitchFamily="34" charset="0"/>
                <a:ea typeface="Calibri" pitchFamily="34" charset="-122"/>
                <a:cs typeface="Calibri" pitchFamily="34" charset="-120"/>
              </a:rPr>
              <a:t>PostgreSQL synchronous standby</a:t>
            </a:r>
            <a:endParaRPr lang="en-US" sz="1100" dirty="0"/>
          </a:p>
        </p:txBody>
      </p:sp>
      <p:sp>
        <p:nvSpPr>
          <p:cNvPr id="20" name="Shape 18"/>
          <p:cNvSpPr/>
          <p:nvPr/>
        </p:nvSpPr>
        <p:spPr>
          <a:xfrm>
            <a:off x="6172200" y="1280160"/>
            <a:ext cx="5486400" cy="5120640"/>
          </a:xfrm>
          <a:prstGeom prst="roundRect">
            <a:avLst>
              <a:gd name="adj" fmla="val 1429"/>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21" name="Shape 19"/>
          <p:cNvSpPr/>
          <p:nvPr/>
        </p:nvSpPr>
        <p:spPr>
          <a:xfrm>
            <a:off x="6172200" y="1280160"/>
            <a:ext cx="5486400" cy="640080"/>
          </a:xfrm>
          <a:prstGeom prst="roundRect">
            <a:avLst>
              <a:gd name="adj" fmla="val 11429"/>
            </a:avLst>
          </a:prstGeom>
          <a:solidFill>
            <a:srgbClr val="2E86A1"/>
          </a:solidFill>
          <a:ln/>
        </p:spPr>
        <p:txBody>
          <a:bodyPr/>
          <a:lstStyle/>
          <a:p>
            <a:endParaRPr lang="es-US"/>
          </a:p>
        </p:txBody>
      </p:sp>
      <p:sp>
        <p:nvSpPr>
          <p:cNvPr id="22" name="Text 20"/>
          <p:cNvSpPr/>
          <p:nvPr/>
        </p:nvSpPr>
        <p:spPr>
          <a:xfrm>
            <a:off x="6172200" y="1325880"/>
            <a:ext cx="5486400" cy="548640"/>
          </a:xfrm>
          <a:prstGeom prst="rect">
            <a:avLst/>
          </a:prstGeom>
          <a:noFill/>
          <a:ln/>
        </p:spPr>
        <p:txBody>
          <a:bodyPr wrap="square" lIns="0" tIns="0" rIns="0" bIns="0" rtlCol="0" anchor="ctr"/>
          <a:lstStyle/>
          <a:p>
            <a:pPr marL="0" indent="0" algn="ctr">
              <a:buNone/>
            </a:pPr>
            <a:r>
              <a:rPr lang="en-US" sz="2200" b="1" kern="0" spc="400" dirty="0">
                <a:solidFill>
                  <a:srgbClr val="FFFFFF"/>
                </a:solidFill>
                <a:latin typeface="Calibri" pitchFamily="34" charset="0"/>
                <a:ea typeface="Calibri" pitchFamily="34" charset="-122"/>
                <a:cs typeface="Calibri" pitchFamily="34" charset="-120"/>
              </a:rPr>
              <a:t>ASINCRONA</a:t>
            </a:r>
            <a:endParaRPr lang="en-US" sz="2200" dirty="0"/>
          </a:p>
        </p:txBody>
      </p:sp>
      <p:sp>
        <p:nvSpPr>
          <p:cNvPr id="23" name="Text 21"/>
          <p:cNvSpPr/>
          <p:nvPr/>
        </p:nvSpPr>
        <p:spPr>
          <a:xfrm>
            <a:off x="6400800" y="2057400"/>
            <a:ext cx="5029200" cy="100584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La escritura se confirma al cliente inmediatamente despues de persistir en la primaria; las replicas se actualizan despues, en segundo plano.</a:t>
            </a:r>
            <a:endParaRPr lang="en-US" sz="1200" dirty="0"/>
          </a:p>
        </p:txBody>
      </p:sp>
      <p:sp>
        <p:nvSpPr>
          <p:cNvPr id="24" name="Text 22"/>
          <p:cNvSpPr/>
          <p:nvPr/>
        </p:nvSpPr>
        <p:spPr>
          <a:xfrm>
            <a:off x="6400800" y="3200400"/>
            <a:ext cx="2286000" cy="320040"/>
          </a:xfrm>
          <a:prstGeom prst="rect">
            <a:avLst/>
          </a:prstGeom>
          <a:noFill/>
          <a:ln/>
        </p:spPr>
        <p:txBody>
          <a:bodyPr wrap="square" lIns="0" tIns="0" rIns="0" bIns="0"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Consistencia:</a:t>
            </a:r>
            <a:endParaRPr lang="en-US" sz="1100" dirty="0"/>
          </a:p>
        </p:txBody>
      </p:sp>
      <p:sp>
        <p:nvSpPr>
          <p:cNvPr id="25" name="Text 23"/>
          <p:cNvSpPr/>
          <p:nvPr/>
        </p:nvSpPr>
        <p:spPr>
          <a:xfrm>
            <a:off x="8686800" y="3200400"/>
            <a:ext cx="2743200" cy="320040"/>
          </a:xfrm>
          <a:prstGeom prst="rect">
            <a:avLst/>
          </a:prstGeom>
          <a:noFill/>
          <a:ln/>
        </p:spPr>
        <p:txBody>
          <a:bodyPr wrap="square" lIns="0" tIns="0" rIns="0" bIns="0" rtlCol="0" anchor="ctr"/>
          <a:lstStyle/>
          <a:p>
            <a:pPr marL="0" indent="0">
              <a:buNone/>
            </a:pPr>
            <a:r>
              <a:rPr lang="en-US" sz="1100" b="1" dirty="0">
                <a:solidFill>
                  <a:srgbClr val="F2A413"/>
                </a:solidFill>
                <a:latin typeface="Calibri" pitchFamily="34" charset="0"/>
                <a:ea typeface="Calibri" pitchFamily="34" charset="-122"/>
                <a:cs typeface="Calibri" pitchFamily="34" charset="-120"/>
              </a:rPr>
              <a:t>Eventual</a:t>
            </a:r>
            <a:endParaRPr lang="en-US" sz="1100" dirty="0"/>
          </a:p>
        </p:txBody>
      </p:sp>
      <p:sp>
        <p:nvSpPr>
          <p:cNvPr id="26" name="Text 24"/>
          <p:cNvSpPr/>
          <p:nvPr/>
        </p:nvSpPr>
        <p:spPr>
          <a:xfrm>
            <a:off x="6400800" y="3703320"/>
            <a:ext cx="2286000" cy="320040"/>
          </a:xfrm>
          <a:prstGeom prst="rect">
            <a:avLst/>
          </a:prstGeom>
          <a:noFill/>
          <a:ln/>
        </p:spPr>
        <p:txBody>
          <a:bodyPr wrap="square" lIns="0" tIns="0" rIns="0" bIns="0"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Latencia de escritura:</a:t>
            </a:r>
            <a:endParaRPr lang="en-US" sz="1100" dirty="0"/>
          </a:p>
        </p:txBody>
      </p:sp>
      <p:sp>
        <p:nvSpPr>
          <p:cNvPr id="27" name="Text 25"/>
          <p:cNvSpPr/>
          <p:nvPr/>
        </p:nvSpPr>
        <p:spPr>
          <a:xfrm>
            <a:off x="8686800" y="3703320"/>
            <a:ext cx="2743200" cy="320040"/>
          </a:xfrm>
          <a:prstGeom prst="rect">
            <a:avLst/>
          </a:prstGeom>
          <a:noFill/>
          <a:ln/>
        </p:spPr>
        <p:txBody>
          <a:bodyPr wrap="square" lIns="0" tIns="0" rIns="0" bIns="0" rtlCol="0" anchor="ctr"/>
          <a:lstStyle/>
          <a:p>
            <a:pPr marL="0" indent="0">
              <a:buNone/>
            </a:pPr>
            <a:r>
              <a:rPr lang="en-US" sz="1100" b="1" dirty="0">
                <a:solidFill>
                  <a:srgbClr val="4FAE60"/>
                </a:solidFill>
                <a:latin typeface="Calibri" pitchFamily="34" charset="0"/>
                <a:ea typeface="Calibri" pitchFamily="34" charset="-122"/>
                <a:cs typeface="Calibri" pitchFamily="34" charset="-120"/>
              </a:rPr>
              <a:t>Baja</a:t>
            </a:r>
            <a:endParaRPr lang="en-US" sz="1100" dirty="0"/>
          </a:p>
        </p:txBody>
      </p:sp>
      <p:sp>
        <p:nvSpPr>
          <p:cNvPr id="28" name="Text 26"/>
          <p:cNvSpPr/>
          <p:nvPr/>
        </p:nvSpPr>
        <p:spPr>
          <a:xfrm>
            <a:off x="6400800" y="4206240"/>
            <a:ext cx="2286000" cy="320040"/>
          </a:xfrm>
          <a:prstGeom prst="rect">
            <a:avLst/>
          </a:prstGeom>
          <a:noFill/>
          <a:ln/>
        </p:spPr>
        <p:txBody>
          <a:bodyPr wrap="square" lIns="0" tIns="0" rIns="0" bIns="0"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Disponibilidad ante fallo:</a:t>
            </a:r>
            <a:endParaRPr lang="en-US" sz="1100" dirty="0"/>
          </a:p>
        </p:txBody>
      </p:sp>
      <p:sp>
        <p:nvSpPr>
          <p:cNvPr id="29" name="Text 27"/>
          <p:cNvSpPr/>
          <p:nvPr/>
        </p:nvSpPr>
        <p:spPr>
          <a:xfrm>
            <a:off x="8686800" y="4206240"/>
            <a:ext cx="2743200" cy="320040"/>
          </a:xfrm>
          <a:prstGeom prst="rect">
            <a:avLst/>
          </a:prstGeom>
          <a:noFill/>
          <a:ln/>
        </p:spPr>
        <p:txBody>
          <a:bodyPr wrap="square" lIns="0" tIns="0" rIns="0" bIns="0" rtlCol="0" anchor="ctr"/>
          <a:lstStyle/>
          <a:p>
            <a:pPr marL="0" indent="0">
              <a:buNone/>
            </a:pPr>
            <a:r>
              <a:rPr lang="en-US" sz="1100" b="1" dirty="0">
                <a:solidFill>
                  <a:srgbClr val="4FAE60"/>
                </a:solidFill>
                <a:latin typeface="Calibri" pitchFamily="34" charset="0"/>
                <a:ea typeface="Calibri" pitchFamily="34" charset="-122"/>
                <a:cs typeface="Calibri" pitchFamily="34" charset="-120"/>
              </a:rPr>
              <a:t>Alta</a:t>
            </a:r>
            <a:endParaRPr lang="en-US" sz="1100" dirty="0"/>
          </a:p>
        </p:txBody>
      </p:sp>
      <p:sp>
        <p:nvSpPr>
          <p:cNvPr id="30" name="Text 28"/>
          <p:cNvSpPr/>
          <p:nvPr/>
        </p:nvSpPr>
        <p:spPr>
          <a:xfrm>
            <a:off x="6400800" y="4709160"/>
            <a:ext cx="2286000" cy="320040"/>
          </a:xfrm>
          <a:prstGeom prst="rect">
            <a:avLst/>
          </a:prstGeom>
          <a:noFill/>
          <a:ln/>
        </p:spPr>
        <p:txBody>
          <a:bodyPr wrap="square" lIns="0" tIns="0" rIns="0" bIns="0"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Riesgo de perdida:</a:t>
            </a:r>
            <a:endParaRPr lang="en-US" sz="1100" dirty="0"/>
          </a:p>
        </p:txBody>
      </p:sp>
      <p:sp>
        <p:nvSpPr>
          <p:cNvPr id="31" name="Text 29"/>
          <p:cNvSpPr/>
          <p:nvPr/>
        </p:nvSpPr>
        <p:spPr>
          <a:xfrm>
            <a:off x="8686800" y="4709160"/>
            <a:ext cx="2743200" cy="320040"/>
          </a:xfrm>
          <a:prstGeom prst="rect">
            <a:avLst/>
          </a:prstGeom>
          <a:noFill/>
          <a:ln/>
        </p:spPr>
        <p:txBody>
          <a:bodyPr wrap="square" lIns="0" tIns="0" rIns="0" bIns="0" rtlCol="0" anchor="ctr"/>
          <a:lstStyle/>
          <a:p>
            <a:pPr marL="0" indent="0">
              <a:buNone/>
            </a:pPr>
            <a:r>
              <a:rPr lang="en-US" sz="1100" b="1" dirty="0">
                <a:solidFill>
                  <a:srgbClr val="C0392B"/>
                </a:solidFill>
                <a:latin typeface="Calibri" pitchFamily="34" charset="0"/>
                <a:ea typeface="Calibri" pitchFamily="34" charset="-122"/>
                <a:cs typeface="Calibri" pitchFamily="34" charset="-120"/>
              </a:rPr>
              <a:t>Si (lag)</a:t>
            </a:r>
            <a:endParaRPr lang="en-US" sz="1100" dirty="0"/>
          </a:p>
        </p:txBody>
      </p:sp>
      <p:sp>
        <p:nvSpPr>
          <p:cNvPr id="32" name="Text 30"/>
          <p:cNvSpPr/>
          <p:nvPr/>
        </p:nvSpPr>
        <p:spPr>
          <a:xfrm>
            <a:off x="6400800" y="5212080"/>
            <a:ext cx="2286000" cy="320040"/>
          </a:xfrm>
          <a:prstGeom prst="rect">
            <a:avLst/>
          </a:prstGeom>
          <a:noFill/>
          <a:ln/>
        </p:spPr>
        <p:txBody>
          <a:bodyPr wrap="square" lIns="0" tIns="0" rIns="0" bIns="0"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Caso de uso:</a:t>
            </a:r>
            <a:endParaRPr lang="en-US" sz="1100" dirty="0"/>
          </a:p>
        </p:txBody>
      </p:sp>
      <p:sp>
        <p:nvSpPr>
          <p:cNvPr id="33" name="Text 31"/>
          <p:cNvSpPr/>
          <p:nvPr/>
        </p:nvSpPr>
        <p:spPr>
          <a:xfrm>
            <a:off x="8686800" y="5212080"/>
            <a:ext cx="2743200" cy="320040"/>
          </a:xfrm>
          <a:prstGeom prst="rect">
            <a:avLst/>
          </a:prstGeom>
          <a:noFill/>
          <a:ln/>
        </p:spPr>
        <p:txBody>
          <a:bodyPr wrap="square" lIns="0" tIns="0" rIns="0" bIns="0" rtlCol="0" anchor="ctr"/>
          <a:lstStyle/>
          <a:p>
            <a:pPr marL="0" indent="0">
              <a:buNone/>
            </a:pPr>
            <a:r>
              <a:rPr lang="en-US" sz="1100" b="1" dirty="0">
                <a:solidFill>
                  <a:srgbClr val="0E3F7E"/>
                </a:solidFill>
                <a:latin typeface="Calibri" pitchFamily="34" charset="0"/>
                <a:ea typeface="Calibri" pitchFamily="34" charset="-122"/>
                <a:cs typeface="Calibri" pitchFamily="34" charset="-120"/>
              </a:rPr>
              <a:t>Redes sociales, logs</a:t>
            </a:r>
            <a:endParaRPr lang="en-US" sz="1100" dirty="0"/>
          </a:p>
        </p:txBody>
      </p:sp>
      <p:sp>
        <p:nvSpPr>
          <p:cNvPr id="34" name="Text 32"/>
          <p:cNvSpPr/>
          <p:nvPr/>
        </p:nvSpPr>
        <p:spPr>
          <a:xfrm>
            <a:off x="6400800" y="5715000"/>
            <a:ext cx="2286000" cy="320040"/>
          </a:xfrm>
          <a:prstGeom prst="rect">
            <a:avLst/>
          </a:prstGeom>
          <a:noFill/>
          <a:ln/>
        </p:spPr>
        <p:txBody>
          <a:bodyPr wrap="square" lIns="0" tIns="0" rIns="0" bIns="0"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Tecnologia ejemplo:</a:t>
            </a:r>
            <a:endParaRPr lang="en-US" sz="1100" dirty="0"/>
          </a:p>
        </p:txBody>
      </p:sp>
      <p:sp>
        <p:nvSpPr>
          <p:cNvPr id="35" name="Text 33"/>
          <p:cNvSpPr/>
          <p:nvPr/>
        </p:nvSpPr>
        <p:spPr>
          <a:xfrm>
            <a:off x="8686800" y="5715000"/>
            <a:ext cx="2743200" cy="320040"/>
          </a:xfrm>
          <a:prstGeom prst="rect">
            <a:avLst/>
          </a:prstGeom>
          <a:noFill/>
          <a:ln/>
        </p:spPr>
        <p:txBody>
          <a:bodyPr wrap="square" lIns="0" tIns="0" rIns="0" bIns="0" rtlCol="0" anchor="ctr"/>
          <a:lstStyle/>
          <a:p>
            <a:pPr marL="0" indent="0">
              <a:buNone/>
            </a:pPr>
            <a:r>
              <a:rPr lang="en-US" sz="1100" b="1" dirty="0">
                <a:solidFill>
                  <a:srgbClr val="4A4A4A"/>
                </a:solidFill>
                <a:latin typeface="Calibri" pitchFamily="34" charset="0"/>
                <a:ea typeface="Calibri" pitchFamily="34" charset="-122"/>
                <a:cs typeface="Calibri" pitchFamily="34" charset="-120"/>
              </a:rPr>
              <a:t>MySQL async replica</a:t>
            </a:r>
            <a:endParaRPr lang="en-US" sz="1100" dirty="0"/>
          </a:p>
        </p:txBody>
      </p:sp>
      <p:sp>
        <p:nvSpPr>
          <p:cNvPr id="36" name="Text 34"/>
          <p:cNvSpPr/>
          <p:nvPr/>
        </p:nvSpPr>
        <p:spPr>
          <a:xfrm>
            <a:off x="457200" y="6492240"/>
            <a:ext cx="8229600" cy="274320"/>
          </a:xfrm>
          <a:prstGeom prst="rect">
            <a:avLst/>
          </a:prstGeom>
          <a:noFill/>
          <a:ln/>
        </p:spPr>
        <p:txBody>
          <a:bodyPr wrap="square" rtlCol="0" anchor="ctr"/>
          <a:lstStyle/>
          <a:p>
            <a:pPr marL="0" indent="0">
              <a:buNone/>
            </a:pPr>
            <a:r>
              <a:rPr lang="en-US" sz="900" dirty="0">
                <a:solidFill>
                  <a:srgbClr val="4A4A4A"/>
                </a:solidFill>
                <a:latin typeface="Calibri" pitchFamily="34" charset="0"/>
                <a:ea typeface="Calibri" pitchFamily="34" charset="-122"/>
                <a:cs typeface="Calibri" pitchFamily="34" charset="-120"/>
              </a:rPr>
              <a:t>UTEQ - Aplicaciones Distribuidas (ISR-701) - Unidad 3</a:t>
            </a:r>
            <a:endParaRPr lang="en-US" sz="900" dirty="0"/>
          </a:p>
        </p:txBody>
      </p:sp>
      <p:sp>
        <p:nvSpPr>
          <p:cNvPr id="37" name="Text 35"/>
          <p:cNvSpPr/>
          <p:nvPr/>
        </p:nvSpPr>
        <p:spPr>
          <a:xfrm>
            <a:off x="10789920" y="6492240"/>
            <a:ext cx="914400" cy="274320"/>
          </a:xfrm>
          <a:prstGeom prst="rect">
            <a:avLst/>
          </a:prstGeom>
          <a:noFill/>
          <a:ln/>
        </p:spPr>
        <p:txBody>
          <a:bodyPr wrap="square"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17 / 42</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marL="0" indent="0">
              <a:buNone/>
            </a:pPr>
            <a:r>
              <a:rPr lang="en-US" sz="2800" b="1" dirty="0">
                <a:solidFill>
                  <a:srgbClr val="0E3F7E"/>
                </a:solidFill>
                <a:latin typeface="Calibri" pitchFamily="34" charset="0"/>
                <a:ea typeface="Calibri" pitchFamily="34" charset="-122"/>
                <a:cs typeface="Calibri" pitchFamily="34" charset="-120"/>
              </a:rPr>
              <a:t>Modelos de escritura en sistemas replicados</a:t>
            </a:r>
            <a:endParaRPr lang="en-US" sz="2800" dirty="0"/>
          </a:p>
        </p:txBody>
      </p:sp>
      <p:sp>
        <p:nvSpPr>
          <p:cNvPr id="3" name="Text 1"/>
          <p:cNvSpPr/>
          <p:nvPr/>
        </p:nvSpPr>
        <p:spPr>
          <a:xfrm>
            <a:off x="457200" y="777240"/>
            <a:ext cx="11247120" cy="320040"/>
          </a:xfrm>
          <a:prstGeom prst="rect">
            <a:avLst/>
          </a:prstGeom>
          <a:noFill/>
          <a:ln/>
        </p:spPr>
        <p:txBody>
          <a:bodyPr wrap="square" lIns="0" tIns="0" rIns="0" bIns="0" rtlCol="0" anchor="ctr"/>
          <a:lstStyle/>
          <a:p>
            <a:pPr marL="0" indent="0">
              <a:buNone/>
            </a:pPr>
            <a:r>
              <a:rPr lang="en-US" sz="1400" i="1" dirty="0">
                <a:solidFill>
                  <a:srgbClr val="2E86A1"/>
                </a:solidFill>
                <a:latin typeface="Calibri" pitchFamily="34" charset="0"/>
                <a:ea typeface="Calibri" pitchFamily="34" charset="-122"/>
                <a:cs typeface="Calibri" pitchFamily="34" charset="-120"/>
              </a:rPr>
              <a:t>Quien acepta escrituras y como se acuerda</a:t>
            </a:r>
            <a:endParaRPr lang="en-US" sz="1400" dirty="0"/>
          </a:p>
        </p:txBody>
      </p:sp>
      <p:sp>
        <p:nvSpPr>
          <p:cNvPr id="4" name="Shape 2"/>
          <p:cNvSpPr/>
          <p:nvPr/>
        </p:nvSpPr>
        <p:spPr>
          <a:xfrm>
            <a:off x="388620" y="1371600"/>
            <a:ext cx="3703320" cy="4572000"/>
          </a:xfrm>
          <a:prstGeom prst="roundRect">
            <a:avLst>
              <a:gd name="adj" fmla="val 1975"/>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5" name="Shape 3"/>
          <p:cNvSpPr/>
          <p:nvPr/>
        </p:nvSpPr>
        <p:spPr>
          <a:xfrm>
            <a:off x="388620" y="1371600"/>
            <a:ext cx="3703320" cy="594360"/>
          </a:xfrm>
          <a:prstGeom prst="roundRect">
            <a:avLst>
              <a:gd name="adj" fmla="val 12308"/>
            </a:avLst>
          </a:prstGeom>
          <a:solidFill>
            <a:srgbClr val="0E3F7E"/>
          </a:solidFill>
          <a:ln/>
        </p:spPr>
        <p:txBody>
          <a:bodyPr/>
          <a:lstStyle/>
          <a:p>
            <a:endParaRPr lang="es-US"/>
          </a:p>
        </p:txBody>
      </p:sp>
      <p:sp>
        <p:nvSpPr>
          <p:cNvPr id="6" name="Text 4"/>
          <p:cNvSpPr/>
          <p:nvPr/>
        </p:nvSpPr>
        <p:spPr>
          <a:xfrm>
            <a:off x="388620" y="1417320"/>
            <a:ext cx="370332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Primario-Secundario</a:t>
            </a:r>
            <a:endParaRPr lang="en-US" sz="1500" dirty="0"/>
          </a:p>
        </p:txBody>
      </p:sp>
      <p:sp>
        <p:nvSpPr>
          <p:cNvPr id="7" name="Text 5"/>
          <p:cNvSpPr/>
          <p:nvPr/>
        </p:nvSpPr>
        <p:spPr>
          <a:xfrm>
            <a:off x="571500" y="2103120"/>
            <a:ext cx="3337560" cy="164592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Una replica designada como primaria es la unica autorizada para aceptar escrituras. Las secundarias propagan las escrituras y solo sirven lecturas.</a:t>
            </a:r>
            <a:endParaRPr lang="en-US" sz="1100" dirty="0"/>
          </a:p>
        </p:txBody>
      </p:sp>
      <p:sp>
        <p:nvSpPr>
          <p:cNvPr id="8" name="Text 6"/>
          <p:cNvSpPr/>
          <p:nvPr/>
        </p:nvSpPr>
        <p:spPr>
          <a:xfrm>
            <a:off x="571500" y="3794760"/>
            <a:ext cx="457200" cy="274320"/>
          </a:xfrm>
          <a:prstGeom prst="rect">
            <a:avLst/>
          </a:prstGeom>
          <a:noFill/>
          <a:ln/>
        </p:spPr>
        <p:txBody>
          <a:bodyPr wrap="square" lIns="0" tIns="0" rIns="0" bIns="0" rtlCol="0" anchor="ctr"/>
          <a:lstStyle/>
          <a:p>
            <a:pPr marL="0" indent="0">
              <a:buNone/>
            </a:pPr>
            <a:r>
              <a:rPr lang="en-US" sz="1100" b="1" dirty="0">
                <a:solidFill>
                  <a:srgbClr val="4FAE60"/>
                </a:solidFill>
                <a:latin typeface="Calibri" pitchFamily="34" charset="0"/>
                <a:ea typeface="Calibri" pitchFamily="34" charset="-122"/>
                <a:cs typeface="Calibri" pitchFamily="34" charset="-120"/>
              </a:rPr>
              <a:t>Pro:</a:t>
            </a:r>
            <a:endParaRPr lang="en-US" sz="1100" dirty="0"/>
          </a:p>
        </p:txBody>
      </p:sp>
      <p:sp>
        <p:nvSpPr>
          <p:cNvPr id="9" name="Text 7"/>
          <p:cNvSpPr/>
          <p:nvPr/>
        </p:nvSpPr>
        <p:spPr>
          <a:xfrm>
            <a:off x="1028700" y="3794760"/>
            <a:ext cx="2880360" cy="365760"/>
          </a:xfrm>
          <a:prstGeom prst="rect">
            <a:avLst/>
          </a:prstGeom>
          <a:noFill/>
          <a:ln/>
        </p:spPr>
        <p:txBody>
          <a:bodyPr wrap="square" rtlCol="0" anchor="ctr"/>
          <a:lstStyle/>
          <a:p>
            <a:pPr marL="0" indent="0">
              <a:buNone/>
            </a:pPr>
            <a:r>
              <a:rPr lang="en-US" sz="1000" dirty="0">
                <a:solidFill>
                  <a:srgbClr val="1A1A1A"/>
                </a:solidFill>
                <a:latin typeface="Calibri" pitchFamily="34" charset="0"/>
                <a:ea typeface="Calibri" pitchFamily="34" charset="-122"/>
                <a:cs typeface="Calibri" pitchFamily="34" charset="-120"/>
              </a:rPr>
              <a:t>Consistencia fuerte natural</a:t>
            </a:r>
            <a:endParaRPr lang="en-US" sz="1000" dirty="0"/>
          </a:p>
        </p:txBody>
      </p:sp>
      <p:sp>
        <p:nvSpPr>
          <p:cNvPr id="10" name="Text 8"/>
          <p:cNvSpPr/>
          <p:nvPr/>
        </p:nvSpPr>
        <p:spPr>
          <a:xfrm>
            <a:off x="571500" y="4251960"/>
            <a:ext cx="731520" cy="274320"/>
          </a:xfrm>
          <a:prstGeom prst="rect">
            <a:avLst/>
          </a:prstGeom>
          <a:noFill/>
          <a:ln/>
        </p:spPr>
        <p:txBody>
          <a:bodyPr wrap="square" lIns="0" tIns="0" rIns="0" bIns="0" rtlCol="0" anchor="ctr"/>
          <a:lstStyle/>
          <a:p>
            <a:pPr marL="0" indent="0">
              <a:buNone/>
            </a:pPr>
            <a:r>
              <a:rPr lang="en-US" sz="1100" b="1" dirty="0">
                <a:solidFill>
                  <a:srgbClr val="C0392B"/>
                </a:solidFill>
                <a:latin typeface="Calibri" pitchFamily="34" charset="0"/>
                <a:ea typeface="Calibri" pitchFamily="34" charset="-122"/>
                <a:cs typeface="Calibri" pitchFamily="34" charset="-120"/>
              </a:rPr>
              <a:t>Contra:</a:t>
            </a:r>
            <a:endParaRPr lang="en-US" sz="1100" dirty="0"/>
          </a:p>
        </p:txBody>
      </p:sp>
      <p:sp>
        <p:nvSpPr>
          <p:cNvPr id="11" name="Text 9"/>
          <p:cNvSpPr/>
          <p:nvPr/>
        </p:nvSpPr>
        <p:spPr>
          <a:xfrm>
            <a:off x="1303020" y="4251960"/>
            <a:ext cx="2606040" cy="548640"/>
          </a:xfrm>
          <a:prstGeom prst="rect">
            <a:avLst/>
          </a:prstGeom>
          <a:noFill/>
          <a:ln/>
        </p:spPr>
        <p:txBody>
          <a:bodyPr wrap="square" rtlCol="0" anchor="ctr"/>
          <a:lstStyle/>
          <a:p>
            <a:pPr marL="0" indent="0">
              <a:buNone/>
            </a:pPr>
            <a:r>
              <a:rPr lang="en-US" sz="1000" dirty="0">
                <a:solidFill>
                  <a:srgbClr val="1A1A1A"/>
                </a:solidFill>
                <a:latin typeface="Calibri" pitchFamily="34" charset="0"/>
                <a:ea typeface="Calibri" pitchFamily="34" charset="-122"/>
                <a:cs typeface="Calibri" pitchFamily="34" charset="-120"/>
              </a:rPr>
              <a:t>Primario es cuello de botella y SPOF</a:t>
            </a:r>
            <a:endParaRPr lang="en-US" sz="1000" dirty="0"/>
          </a:p>
        </p:txBody>
      </p:sp>
      <p:sp>
        <p:nvSpPr>
          <p:cNvPr id="12" name="Text 10"/>
          <p:cNvSpPr/>
          <p:nvPr/>
        </p:nvSpPr>
        <p:spPr>
          <a:xfrm>
            <a:off x="571500" y="5074920"/>
            <a:ext cx="3337560" cy="777240"/>
          </a:xfrm>
          <a:prstGeom prst="rect">
            <a:avLst/>
          </a:prstGeom>
          <a:noFill/>
          <a:ln/>
        </p:spPr>
        <p:txBody>
          <a:bodyPr wrap="square" rtlCol="0" anchor="ctr"/>
          <a:lstStyle/>
          <a:p>
            <a:pPr marL="0" indent="0">
              <a:buNone/>
            </a:pPr>
            <a:r>
              <a:rPr lang="en-US" sz="1000" i="1" dirty="0">
                <a:solidFill>
                  <a:srgbClr val="4A4A4A"/>
                </a:solidFill>
                <a:latin typeface="Calibri" pitchFamily="34" charset="0"/>
                <a:ea typeface="Calibri" pitchFamily="34" charset="-122"/>
                <a:cs typeface="Calibri" pitchFamily="34" charset="-120"/>
              </a:rPr>
              <a:t>MySQL, MongoDB Replica Set, PostgreSQL streaming</a:t>
            </a:r>
            <a:endParaRPr lang="en-US" sz="1000" dirty="0"/>
          </a:p>
        </p:txBody>
      </p:sp>
      <p:sp>
        <p:nvSpPr>
          <p:cNvPr id="13" name="Shape 11"/>
          <p:cNvSpPr/>
          <p:nvPr/>
        </p:nvSpPr>
        <p:spPr>
          <a:xfrm>
            <a:off x="4229100" y="1371600"/>
            <a:ext cx="3703320" cy="4572000"/>
          </a:xfrm>
          <a:prstGeom prst="roundRect">
            <a:avLst>
              <a:gd name="adj" fmla="val 1975"/>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14" name="Shape 12"/>
          <p:cNvSpPr/>
          <p:nvPr/>
        </p:nvSpPr>
        <p:spPr>
          <a:xfrm>
            <a:off x="4229100" y="1371600"/>
            <a:ext cx="3703320" cy="594360"/>
          </a:xfrm>
          <a:prstGeom prst="roundRect">
            <a:avLst>
              <a:gd name="adj" fmla="val 12308"/>
            </a:avLst>
          </a:prstGeom>
          <a:solidFill>
            <a:srgbClr val="2E86A1"/>
          </a:solidFill>
          <a:ln/>
        </p:spPr>
        <p:txBody>
          <a:bodyPr/>
          <a:lstStyle/>
          <a:p>
            <a:endParaRPr lang="es-US"/>
          </a:p>
        </p:txBody>
      </p:sp>
      <p:sp>
        <p:nvSpPr>
          <p:cNvPr id="15" name="Text 13"/>
          <p:cNvSpPr/>
          <p:nvPr/>
        </p:nvSpPr>
        <p:spPr>
          <a:xfrm>
            <a:off x="4229100" y="1417320"/>
            <a:ext cx="370332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Multi-Primario</a:t>
            </a:r>
            <a:endParaRPr lang="en-US" sz="1500" dirty="0"/>
          </a:p>
        </p:txBody>
      </p:sp>
      <p:sp>
        <p:nvSpPr>
          <p:cNvPr id="16" name="Text 14"/>
          <p:cNvSpPr/>
          <p:nvPr/>
        </p:nvSpPr>
        <p:spPr>
          <a:xfrm>
            <a:off x="4411980" y="2103120"/>
            <a:ext cx="3337560" cy="164592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Varias replicas aceptan escrituras concurrentes. Mejora disponibilidad de escritura, pero introduce conflictos que requieren politicas de resolucion.</a:t>
            </a:r>
            <a:endParaRPr lang="en-US" sz="1100" dirty="0"/>
          </a:p>
        </p:txBody>
      </p:sp>
      <p:sp>
        <p:nvSpPr>
          <p:cNvPr id="17" name="Text 15"/>
          <p:cNvSpPr/>
          <p:nvPr/>
        </p:nvSpPr>
        <p:spPr>
          <a:xfrm>
            <a:off x="4411980" y="3794760"/>
            <a:ext cx="457200" cy="274320"/>
          </a:xfrm>
          <a:prstGeom prst="rect">
            <a:avLst/>
          </a:prstGeom>
          <a:noFill/>
          <a:ln/>
        </p:spPr>
        <p:txBody>
          <a:bodyPr wrap="square" lIns="0" tIns="0" rIns="0" bIns="0" rtlCol="0" anchor="ctr"/>
          <a:lstStyle/>
          <a:p>
            <a:pPr marL="0" indent="0">
              <a:buNone/>
            </a:pPr>
            <a:r>
              <a:rPr lang="en-US" sz="1100" b="1" dirty="0">
                <a:solidFill>
                  <a:srgbClr val="4FAE60"/>
                </a:solidFill>
                <a:latin typeface="Calibri" pitchFamily="34" charset="0"/>
                <a:ea typeface="Calibri" pitchFamily="34" charset="-122"/>
                <a:cs typeface="Calibri" pitchFamily="34" charset="-120"/>
              </a:rPr>
              <a:t>Pro:</a:t>
            </a:r>
            <a:endParaRPr lang="en-US" sz="1100" dirty="0"/>
          </a:p>
        </p:txBody>
      </p:sp>
      <p:sp>
        <p:nvSpPr>
          <p:cNvPr id="18" name="Text 16"/>
          <p:cNvSpPr/>
          <p:nvPr/>
        </p:nvSpPr>
        <p:spPr>
          <a:xfrm>
            <a:off x="4869180" y="3794760"/>
            <a:ext cx="2880360" cy="365760"/>
          </a:xfrm>
          <a:prstGeom prst="rect">
            <a:avLst/>
          </a:prstGeom>
          <a:noFill/>
          <a:ln/>
        </p:spPr>
        <p:txBody>
          <a:bodyPr wrap="square" rtlCol="0" anchor="ctr"/>
          <a:lstStyle/>
          <a:p>
            <a:pPr marL="0" indent="0">
              <a:buNone/>
            </a:pPr>
            <a:r>
              <a:rPr lang="en-US" sz="1000" dirty="0">
                <a:solidFill>
                  <a:srgbClr val="1A1A1A"/>
                </a:solidFill>
                <a:latin typeface="Calibri" pitchFamily="34" charset="0"/>
                <a:ea typeface="Calibri" pitchFamily="34" charset="-122"/>
                <a:cs typeface="Calibri" pitchFamily="34" charset="-120"/>
              </a:rPr>
              <a:t>Alta disponibilidad de escritura</a:t>
            </a:r>
            <a:endParaRPr lang="en-US" sz="1000" dirty="0"/>
          </a:p>
        </p:txBody>
      </p:sp>
      <p:sp>
        <p:nvSpPr>
          <p:cNvPr id="19" name="Text 17"/>
          <p:cNvSpPr/>
          <p:nvPr/>
        </p:nvSpPr>
        <p:spPr>
          <a:xfrm>
            <a:off x="4411980" y="4251960"/>
            <a:ext cx="731520" cy="274320"/>
          </a:xfrm>
          <a:prstGeom prst="rect">
            <a:avLst/>
          </a:prstGeom>
          <a:noFill/>
          <a:ln/>
        </p:spPr>
        <p:txBody>
          <a:bodyPr wrap="square" lIns="0" tIns="0" rIns="0" bIns="0" rtlCol="0" anchor="ctr"/>
          <a:lstStyle/>
          <a:p>
            <a:pPr marL="0" indent="0">
              <a:buNone/>
            </a:pPr>
            <a:r>
              <a:rPr lang="en-US" sz="1100" b="1" dirty="0">
                <a:solidFill>
                  <a:srgbClr val="C0392B"/>
                </a:solidFill>
                <a:latin typeface="Calibri" pitchFamily="34" charset="0"/>
                <a:ea typeface="Calibri" pitchFamily="34" charset="-122"/>
                <a:cs typeface="Calibri" pitchFamily="34" charset="-120"/>
              </a:rPr>
              <a:t>Contra:</a:t>
            </a:r>
            <a:endParaRPr lang="en-US" sz="1100" dirty="0"/>
          </a:p>
        </p:txBody>
      </p:sp>
      <p:sp>
        <p:nvSpPr>
          <p:cNvPr id="20" name="Text 18"/>
          <p:cNvSpPr/>
          <p:nvPr/>
        </p:nvSpPr>
        <p:spPr>
          <a:xfrm>
            <a:off x="5143500" y="4251960"/>
            <a:ext cx="2606040" cy="548640"/>
          </a:xfrm>
          <a:prstGeom prst="rect">
            <a:avLst/>
          </a:prstGeom>
          <a:noFill/>
          <a:ln/>
        </p:spPr>
        <p:txBody>
          <a:bodyPr wrap="square" rtlCol="0" anchor="ctr"/>
          <a:lstStyle/>
          <a:p>
            <a:pPr marL="0" indent="0">
              <a:buNone/>
            </a:pPr>
            <a:r>
              <a:rPr lang="en-US" sz="1000" dirty="0">
                <a:solidFill>
                  <a:srgbClr val="1A1A1A"/>
                </a:solidFill>
                <a:latin typeface="Calibri" pitchFamily="34" charset="0"/>
                <a:ea typeface="Calibri" pitchFamily="34" charset="-122"/>
                <a:cs typeface="Calibri" pitchFamily="34" charset="-120"/>
              </a:rPr>
              <a:t>Conflictos: last-write-wins, vector clocks, CRDTs</a:t>
            </a:r>
            <a:endParaRPr lang="en-US" sz="1000" dirty="0"/>
          </a:p>
        </p:txBody>
      </p:sp>
      <p:sp>
        <p:nvSpPr>
          <p:cNvPr id="21" name="Text 19"/>
          <p:cNvSpPr/>
          <p:nvPr/>
        </p:nvSpPr>
        <p:spPr>
          <a:xfrm>
            <a:off x="4411980" y="5074920"/>
            <a:ext cx="3337560" cy="777240"/>
          </a:xfrm>
          <a:prstGeom prst="rect">
            <a:avLst/>
          </a:prstGeom>
          <a:noFill/>
          <a:ln/>
        </p:spPr>
        <p:txBody>
          <a:bodyPr wrap="square" rtlCol="0" anchor="ctr"/>
          <a:lstStyle/>
          <a:p>
            <a:pPr marL="0" indent="0">
              <a:buNone/>
            </a:pPr>
            <a:r>
              <a:rPr lang="en-US" sz="1000" i="1" dirty="0">
                <a:solidFill>
                  <a:srgbClr val="4A4A4A"/>
                </a:solidFill>
                <a:latin typeface="Calibri" pitchFamily="34" charset="0"/>
                <a:ea typeface="Calibri" pitchFamily="34" charset="-122"/>
                <a:cs typeface="Calibri" pitchFamily="34" charset="-120"/>
              </a:rPr>
              <a:t>MySQL Group Replication, Galera Cluster, Couchbase XDCR</a:t>
            </a:r>
            <a:endParaRPr lang="en-US" sz="1000" dirty="0"/>
          </a:p>
        </p:txBody>
      </p:sp>
      <p:sp>
        <p:nvSpPr>
          <p:cNvPr id="22" name="Shape 20"/>
          <p:cNvSpPr/>
          <p:nvPr/>
        </p:nvSpPr>
        <p:spPr>
          <a:xfrm>
            <a:off x="8069580" y="1371600"/>
            <a:ext cx="3703320" cy="4572000"/>
          </a:xfrm>
          <a:prstGeom prst="roundRect">
            <a:avLst>
              <a:gd name="adj" fmla="val 1975"/>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23" name="Shape 21"/>
          <p:cNvSpPr/>
          <p:nvPr/>
        </p:nvSpPr>
        <p:spPr>
          <a:xfrm>
            <a:off x="8069580" y="1371600"/>
            <a:ext cx="3703320" cy="594360"/>
          </a:xfrm>
          <a:prstGeom prst="roundRect">
            <a:avLst>
              <a:gd name="adj" fmla="val 12308"/>
            </a:avLst>
          </a:prstGeom>
          <a:solidFill>
            <a:srgbClr val="4FAE60"/>
          </a:solidFill>
          <a:ln/>
        </p:spPr>
        <p:txBody>
          <a:bodyPr/>
          <a:lstStyle/>
          <a:p>
            <a:endParaRPr lang="es-US"/>
          </a:p>
        </p:txBody>
      </p:sp>
      <p:sp>
        <p:nvSpPr>
          <p:cNvPr id="24" name="Text 22"/>
          <p:cNvSpPr/>
          <p:nvPr/>
        </p:nvSpPr>
        <p:spPr>
          <a:xfrm>
            <a:off x="8069580" y="1417320"/>
            <a:ext cx="370332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Sin lider (leaderless)</a:t>
            </a:r>
            <a:endParaRPr lang="en-US" sz="1500" dirty="0"/>
          </a:p>
        </p:txBody>
      </p:sp>
      <p:sp>
        <p:nvSpPr>
          <p:cNvPr id="25" name="Text 23"/>
          <p:cNvSpPr/>
          <p:nvPr/>
        </p:nvSpPr>
        <p:spPr>
          <a:xfrm>
            <a:off x="8252460" y="2103120"/>
            <a:ext cx="3337560" cy="164592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Cliente escribe en varios nodos en paralelo; escritura exitosa si W confirman. Lecturas consultan R nodos y comparan. Quorum: W + R &gt; N garantiza consistencia.</a:t>
            </a:r>
            <a:endParaRPr lang="en-US" sz="1100" dirty="0"/>
          </a:p>
        </p:txBody>
      </p:sp>
      <p:sp>
        <p:nvSpPr>
          <p:cNvPr id="26" name="Text 24"/>
          <p:cNvSpPr/>
          <p:nvPr/>
        </p:nvSpPr>
        <p:spPr>
          <a:xfrm>
            <a:off x="8252460" y="3794760"/>
            <a:ext cx="457200" cy="274320"/>
          </a:xfrm>
          <a:prstGeom prst="rect">
            <a:avLst/>
          </a:prstGeom>
          <a:noFill/>
          <a:ln/>
        </p:spPr>
        <p:txBody>
          <a:bodyPr wrap="square" lIns="0" tIns="0" rIns="0" bIns="0" rtlCol="0" anchor="ctr"/>
          <a:lstStyle/>
          <a:p>
            <a:pPr marL="0" indent="0">
              <a:buNone/>
            </a:pPr>
            <a:r>
              <a:rPr lang="en-US" sz="1100" b="1" dirty="0">
                <a:solidFill>
                  <a:srgbClr val="4FAE60"/>
                </a:solidFill>
                <a:latin typeface="Calibri" pitchFamily="34" charset="0"/>
                <a:ea typeface="Calibri" pitchFamily="34" charset="-122"/>
                <a:cs typeface="Calibri" pitchFamily="34" charset="-120"/>
              </a:rPr>
              <a:t>Pro:</a:t>
            </a:r>
            <a:endParaRPr lang="en-US" sz="1100" dirty="0"/>
          </a:p>
        </p:txBody>
      </p:sp>
      <p:sp>
        <p:nvSpPr>
          <p:cNvPr id="27" name="Text 25"/>
          <p:cNvSpPr/>
          <p:nvPr/>
        </p:nvSpPr>
        <p:spPr>
          <a:xfrm>
            <a:off x="8709660" y="3794760"/>
            <a:ext cx="2880360" cy="365760"/>
          </a:xfrm>
          <a:prstGeom prst="rect">
            <a:avLst/>
          </a:prstGeom>
          <a:noFill/>
          <a:ln/>
        </p:spPr>
        <p:txBody>
          <a:bodyPr wrap="square" rtlCol="0" anchor="ctr"/>
          <a:lstStyle/>
          <a:p>
            <a:pPr marL="0" indent="0">
              <a:buNone/>
            </a:pPr>
            <a:r>
              <a:rPr lang="en-US" sz="1000" dirty="0">
                <a:solidFill>
                  <a:srgbClr val="1A1A1A"/>
                </a:solidFill>
                <a:latin typeface="Calibri" pitchFamily="34" charset="0"/>
                <a:ea typeface="Calibri" pitchFamily="34" charset="-122"/>
                <a:cs typeface="Calibri" pitchFamily="34" charset="-120"/>
              </a:rPr>
              <a:t>Maxima disponibilidad y escalabilidad</a:t>
            </a:r>
            <a:endParaRPr lang="en-US" sz="1000" dirty="0"/>
          </a:p>
        </p:txBody>
      </p:sp>
      <p:sp>
        <p:nvSpPr>
          <p:cNvPr id="28" name="Text 26"/>
          <p:cNvSpPr/>
          <p:nvPr/>
        </p:nvSpPr>
        <p:spPr>
          <a:xfrm>
            <a:off x="8252460" y="4251960"/>
            <a:ext cx="731520" cy="274320"/>
          </a:xfrm>
          <a:prstGeom prst="rect">
            <a:avLst/>
          </a:prstGeom>
          <a:noFill/>
          <a:ln/>
        </p:spPr>
        <p:txBody>
          <a:bodyPr wrap="square" lIns="0" tIns="0" rIns="0" bIns="0" rtlCol="0" anchor="ctr"/>
          <a:lstStyle/>
          <a:p>
            <a:pPr marL="0" indent="0">
              <a:buNone/>
            </a:pPr>
            <a:r>
              <a:rPr lang="en-US" sz="1100" b="1" dirty="0">
                <a:solidFill>
                  <a:srgbClr val="C0392B"/>
                </a:solidFill>
                <a:latin typeface="Calibri" pitchFamily="34" charset="0"/>
                <a:ea typeface="Calibri" pitchFamily="34" charset="-122"/>
                <a:cs typeface="Calibri" pitchFamily="34" charset="-120"/>
              </a:rPr>
              <a:t>Contra:</a:t>
            </a:r>
            <a:endParaRPr lang="en-US" sz="1100" dirty="0"/>
          </a:p>
        </p:txBody>
      </p:sp>
      <p:sp>
        <p:nvSpPr>
          <p:cNvPr id="29" name="Text 27"/>
          <p:cNvSpPr/>
          <p:nvPr/>
        </p:nvSpPr>
        <p:spPr>
          <a:xfrm>
            <a:off x="8983980" y="4251960"/>
            <a:ext cx="2606040" cy="548640"/>
          </a:xfrm>
          <a:prstGeom prst="rect">
            <a:avLst/>
          </a:prstGeom>
          <a:noFill/>
          <a:ln/>
        </p:spPr>
        <p:txBody>
          <a:bodyPr wrap="square" rtlCol="0" anchor="ctr"/>
          <a:lstStyle/>
          <a:p>
            <a:pPr marL="0" indent="0">
              <a:buNone/>
            </a:pPr>
            <a:r>
              <a:rPr lang="en-US" sz="1000" dirty="0">
                <a:solidFill>
                  <a:srgbClr val="1A1A1A"/>
                </a:solidFill>
                <a:latin typeface="Calibri" pitchFamily="34" charset="0"/>
                <a:ea typeface="Calibri" pitchFamily="34" charset="-122"/>
                <a:cs typeface="Calibri" pitchFamily="34" charset="-120"/>
              </a:rPr>
              <a:t>Logica de cliente compleja; consistencia ajustable</a:t>
            </a:r>
            <a:endParaRPr lang="en-US" sz="1000" dirty="0"/>
          </a:p>
        </p:txBody>
      </p:sp>
      <p:sp>
        <p:nvSpPr>
          <p:cNvPr id="30" name="Text 28"/>
          <p:cNvSpPr/>
          <p:nvPr/>
        </p:nvSpPr>
        <p:spPr>
          <a:xfrm>
            <a:off x="8252460" y="5074920"/>
            <a:ext cx="3337560" cy="777240"/>
          </a:xfrm>
          <a:prstGeom prst="rect">
            <a:avLst/>
          </a:prstGeom>
          <a:noFill/>
          <a:ln/>
        </p:spPr>
        <p:txBody>
          <a:bodyPr wrap="square" rtlCol="0" anchor="ctr"/>
          <a:lstStyle/>
          <a:p>
            <a:pPr marL="0" indent="0">
              <a:buNone/>
            </a:pPr>
            <a:r>
              <a:rPr lang="en-US" sz="1000" i="1" dirty="0">
                <a:solidFill>
                  <a:srgbClr val="4A4A4A"/>
                </a:solidFill>
                <a:latin typeface="Calibri" pitchFamily="34" charset="0"/>
                <a:ea typeface="Calibri" pitchFamily="34" charset="-122"/>
                <a:cs typeface="Calibri" pitchFamily="34" charset="-120"/>
              </a:rPr>
              <a:t>Apache Cassandra, Riak, Amazon DynamoDB</a:t>
            </a:r>
            <a:endParaRPr lang="en-US" sz="1000" dirty="0"/>
          </a:p>
        </p:txBody>
      </p:sp>
      <p:sp>
        <p:nvSpPr>
          <p:cNvPr id="31" name="Shape 29"/>
          <p:cNvSpPr/>
          <p:nvPr/>
        </p:nvSpPr>
        <p:spPr>
          <a:xfrm>
            <a:off x="548640" y="6080760"/>
            <a:ext cx="11064240" cy="320040"/>
          </a:xfrm>
          <a:prstGeom prst="roundRect">
            <a:avLst>
              <a:gd name="adj" fmla="val 22857"/>
            </a:avLst>
          </a:prstGeom>
          <a:solidFill>
            <a:srgbClr val="EAF1FB"/>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32" name="Text 30"/>
          <p:cNvSpPr/>
          <p:nvPr/>
        </p:nvSpPr>
        <p:spPr>
          <a:xfrm>
            <a:off x="777240" y="6108192"/>
            <a:ext cx="10698480" cy="274320"/>
          </a:xfrm>
          <a:prstGeom prst="rect">
            <a:avLst/>
          </a:prstGeom>
          <a:noFill/>
          <a:ln/>
        </p:spPr>
        <p:txBody>
          <a:bodyPr wrap="square" lIns="0" tIns="0" rIns="0" bIns="0" rtlCol="0" anchor="ctr"/>
          <a:lstStyle/>
          <a:p>
            <a:pPr marL="0" indent="0" algn="ctr">
              <a:buNone/>
            </a:pPr>
            <a:r>
              <a:rPr lang="en-US" sz="1100" b="1" dirty="0">
                <a:solidFill>
                  <a:srgbClr val="0E3F7E"/>
                </a:solidFill>
                <a:latin typeface="Calibri" pitchFamily="34" charset="0"/>
                <a:ea typeface="Calibri" pitchFamily="34" charset="-122"/>
                <a:cs typeface="Calibri" pitchFamily="34" charset="-120"/>
              </a:rPr>
              <a:t>Quorum: con N=5 replicas, una configuracion comun es W=3, R=3 (3+3=6 &gt; 5): tolera la falla de hasta 2 nodos manteniendo consistencia</a:t>
            </a:r>
            <a:endParaRPr lang="en-US" sz="1100" dirty="0"/>
          </a:p>
        </p:txBody>
      </p:sp>
      <p:sp>
        <p:nvSpPr>
          <p:cNvPr id="33" name="Text 31"/>
          <p:cNvSpPr/>
          <p:nvPr/>
        </p:nvSpPr>
        <p:spPr>
          <a:xfrm>
            <a:off x="457200" y="6492240"/>
            <a:ext cx="8229600" cy="274320"/>
          </a:xfrm>
          <a:prstGeom prst="rect">
            <a:avLst/>
          </a:prstGeom>
          <a:noFill/>
          <a:ln/>
        </p:spPr>
        <p:txBody>
          <a:bodyPr wrap="square" rtlCol="0" anchor="ctr"/>
          <a:lstStyle/>
          <a:p>
            <a:pPr marL="0" indent="0">
              <a:buNone/>
            </a:pPr>
            <a:r>
              <a:rPr lang="en-US" sz="900" dirty="0">
                <a:solidFill>
                  <a:srgbClr val="4A4A4A"/>
                </a:solidFill>
                <a:latin typeface="Calibri" pitchFamily="34" charset="0"/>
                <a:ea typeface="Calibri" pitchFamily="34" charset="-122"/>
                <a:cs typeface="Calibri" pitchFamily="34" charset="-120"/>
              </a:rPr>
              <a:t>UTEQ - Aplicaciones Distribuidas (ISR-701) - Unidad 3</a:t>
            </a:r>
            <a:endParaRPr lang="en-US" sz="900" dirty="0"/>
          </a:p>
        </p:txBody>
      </p:sp>
      <p:sp>
        <p:nvSpPr>
          <p:cNvPr id="34" name="Text 32"/>
          <p:cNvSpPr/>
          <p:nvPr/>
        </p:nvSpPr>
        <p:spPr>
          <a:xfrm>
            <a:off x="10789920" y="6492240"/>
            <a:ext cx="914400" cy="274320"/>
          </a:xfrm>
          <a:prstGeom prst="rect">
            <a:avLst/>
          </a:prstGeom>
          <a:noFill/>
          <a:ln/>
        </p:spPr>
        <p:txBody>
          <a:bodyPr wrap="square"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18 / 42</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marL="0" indent="0">
              <a:buNone/>
            </a:pPr>
            <a:r>
              <a:rPr lang="en-US" sz="2800" b="1" dirty="0">
                <a:solidFill>
                  <a:srgbClr val="0E3F7E"/>
                </a:solidFill>
                <a:latin typeface="Calibri" pitchFamily="34" charset="0"/>
                <a:ea typeface="Calibri" pitchFamily="34" charset="-122"/>
                <a:cs typeface="Calibri" pitchFamily="34" charset="-120"/>
              </a:rPr>
              <a:t>Catalogo distribuido</a:t>
            </a:r>
            <a:endParaRPr lang="en-US" sz="2800" dirty="0"/>
          </a:p>
        </p:txBody>
      </p:sp>
      <p:sp>
        <p:nvSpPr>
          <p:cNvPr id="3" name="Text 1"/>
          <p:cNvSpPr/>
          <p:nvPr/>
        </p:nvSpPr>
        <p:spPr>
          <a:xfrm>
            <a:off x="457200" y="777240"/>
            <a:ext cx="11247120" cy="320040"/>
          </a:xfrm>
          <a:prstGeom prst="rect">
            <a:avLst/>
          </a:prstGeom>
          <a:noFill/>
          <a:ln/>
        </p:spPr>
        <p:txBody>
          <a:bodyPr wrap="square" lIns="0" tIns="0" rIns="0" bIns="0" rtlCol="0" anchor="ctr"/>
          <a:lstStyle/>
          <a:p>
            <a:pPr marL="0" indent="0">
              <a:buNone/>
            </a:pPr>
            <a:r>
              <a:rPr lang="en-US" sz="1400" i="1" dirty="0">
                <a:solidFill>
                  <a:srgbClr val="2E86A1"/>
                </a:solidFill>
                <a:latin typeface="Calibri" pitchFamily="34" charset="0"/>
                <a:ea typeface="Calibri" pitchFamily="34" charset="-122"/>
                <a:cs typeface="Calibri" pitchFamily="34" charset="-120"/>
              </a:rPr>
              <a:t>Los metadatos que habilitan la transparencia</a:t>
            </a:r>
            <a:endParaRPr lang="en-US" sz="1400" dirty="0"/>
          </a:p>
        </p:txBody>
      </p:sp>
      <p:sp>
        <p:nvSpPr>
          <p:cNvPr id="4" name="Shape 2"/>
          <p:cNvSpPr/>
          <p:nvPr/>
        </p:nvSpPr>
        <p:spPr>
          <a:xfrm>
            <a:off x="548640" y="1280160"/>
            <a:ext cx="11064240" cy="1188720"/>
          </a:xfrm>
          <a:prstGeom prst="roundRect">
            <a:avLst>
              <a:gd name="adj" fmla="val 6154"/>
            </a:avLst>
          </a:prstGeom>
          <a:solidFill>
            <a:srgbClr val="EAF1FB"/>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5" name="Text 3"/>
          <p:cNvSpPr/>
          <p:nvPr/>
        </p:nvSpPr>
        <p:spPr>
          <a:xfrm>
            <a:off x="777240" y="1371600"/>
            <a:ext cx="2743200" cy="320040"/>
          </a:xfrm>
          <a:prstGeom prst="rect">
            <a:avLst/>
          </a:prstGeom>
          <a:noFill/>
          <a:ln/>
        </p:spPr>
        <p:txBody>
          <a:bodyPr wrap="square" lIns="0" tIns="0" rIns="0" bIns="0" rtlCol="0" anchor="ctr"/>
          <a:lstStyle/>
          <a:p>
            <a:pPr marL="0" indent="0">
              <a:buNone/>
            </a:pPr>
            <a:r>
              <a:rPr lang="en-US" sz="1300" b="1" dirty="0">
                <a:solidFill>
                  <a:srgbClr val="0E3F7E"/>
                </a:solidFill>
                <a:latin typeface="Calibri" pitchFamily="34" charset="0"/>
                <a:ea typeface="Calibri" pitchFamily="34" charset="-122"/>
                <a:cs typeface="Calibri" pitchFamily="34" charset="-120"/>
              </a:rPr>
              <a:t>Definicion</a:t>
            </a:r>
            <a:endParaRPr lang="en-US" sz="1300" dirty="0"/>
          </a:p>
        </p:txBody>
      </p:sp>
      <p:sp>
        <p:nvSpPr>
          <p:cNvPr id="6" name="Text 4"/>
          <p:cNvSpPr/>
          <p:nvPr/>
        </p:nvSpPr>
        <p:spPr>
          <a:xfrm>
            <a:off x="777240" y="1691640"/>
            <a:ext cx="10698480" cy="73152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Estructura de metadatos que describe DONDE residen los fragmentos y replicas de cada relacion del esquema global. Cuando una consulta llega al SGBDD, este consulta primero el catalogo para enrutarla a los sitios correctos.</a:t>
            </a:r>
            <a:endParaRPr lang="en-US" sz="1200" dirty="0"/>
          </a:p>
        </p:txBody>
      </p:sp>
      <p:sp>
        <p:nvSpPr>
          <p:cNvPr id="7" name="Shape 5"/>
          <p:cNvSpPr/>
          <p:nvPr/>
        </p:nvSpPr>
        <p:spPr>
          <a:xfrm>
            <a:off x="388620" y="2651760"/>
            <a:ext cx="3703320" cy="3657600"/>
          </a:xfrm>
          <a:prstGeom prst="roundRect">
            <a:avLst>
              <a:gd name="adj" fmla="val 2000"/>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8" name="Shape 6"/>
          <p:cNvSpPr/>
          <p:nvPr/>
        </p:nvSpPr>
        <p:spPr>
          <a:xfrm>
            <a:off x="1920240" y="2788920"/>
            <a:ext cx="640080" cy="640080"/>
          </a:xfrm>
          <a:prstGeom prst="ellipse">
            <a:avLst/>
          </a:prstGeom>
          <a:solidFill>
            <a:srgbClr val="C0392B"/>
          </a:solidFill>
          <a:ln/>
        </p:spPr>
        <p:txBody>
          <a:bodyPr/>
          <a:lstStyle/>
          <a:p>
            <a:endParaRPr lang="es-US"/>
          </a:p>
        </p:txBody>
      </p:sp>
      <p:sp>
        <p:nvSpPr>
          <p:cNvPr id="9" name="Text 7"/>
          <p:cNvSpPr/>
          <p:nvPr/>
        </p:nvSpPr>
        <p:spPr>
          <a:xfrm>
            <a:off x="1920240" y="278892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10" name="Text 8"/>
          <p:cNvSpPr/>
          <p:nvPr/>
        </p:nvSpPr>
        <p:spPr>
          <a:xfrm>
            <a:off x="388620" y="3520440"/>
            <a:ext cx="3703320" cy="365760"/>
          </a:xfrm>
          <a:prstGeom prst="rect">
            <a:avLst/>
          </a:prstGeom>
          <a:noFill/>
          <a:ln/>
        </p:spPr>
        <p:txBody>
          <a:bodyPr wrap="square" lIns="0" tIns="0" rIns="0" bIns="0" rtlCol="0" anchor="ctr"/>
          <a:lstStyle/>
          <a:p>
            <a:pPr marL="0" indent="0" algn="ctr">
              <a:buNone/>
            </a:pPr>
            <a:r>
              <a:rPr lang="en-US" sz="1600" b="1" dirty="0">
                <a:solidFill>
                  <a:srgbClr val="C0392B"/>
                </a:solidFill>
                <a:latin typeface="Calibri" pitchFamily="34" charset="0"/>
                <a:ea typeface="Calibri" pitchFamily="34" charset="-122"/>
                <a:cs typeface="Calibri" pitchFamily="34" charset="-120"/>
              </a:rPr>
              <a:t>Centralizado</a:t>
            </a:r>
            <a:endParaRPr lang="en-US" sz="1600" dirty="0"/>
          </a:p>
        </p:txBody>
      </p:sp>
      <p:sp>
        <p:nvSpPr>
          <p:cNvPr id="11" name="Text 9"/>
          <p:cNvSpPr/>
          <p:nvPr/>
        </p:nvSpPr>
        <p:spPr>
          <a:xfrm>
            <a:off x="571500" y="3977640"/>
            <a:ext cx="3337560" cy="164592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Un solo nodo guarda todos los metadatos. Simple pero introduce SPOF: si el nodo del catalogo cae, ninguna consulta global se enruta.</a:t>
            </a:r>
            <a:endParaRPr lang="en-US" sz="1100" dirty="0"/>
          </a:p>
        </p:txBody>
      </p:sp>
      <p:sp>
        <p:nvSpPr>
          <p:cNvPr id="12" name="Text 10"/>
          <p:cNvSpPr/>
          <p:nvPr/>
        </p:nvSpPr>
        <p:spPr>
          <a:xfrm>
            <a:off x="571500" y="5669280"/>
            <a:ext cx="3337560" cy="274320"/>
          </a:xfrm>
          <a:prstGeom prst="rect">
            <a:avLst/>
          </a:prstGeom>
          <a:noFill/>
          <a:ln/>
        </p:spPr>
        <p:txBody>
          <a:bodyPr wrap="square" rtlCol="0" anchor="ctr"/>
          <a:lstStyle/>
          <a:p>
            <a:pPr marL="0" indent="0">
              <a:buNone/>
            </a:pPr>
            <a:r>
              <a:rPr lang="en-US" sz="1100" b="1" dirty="0">
                <a:solidFill>
                  <a:srgbClr val="4FAE60"/>
                </a:solidFill>
                <a:latin typeface="Calibri" pitchFamily="34" charset="0"/>
                <a:ea typeface="Calibri" pitchFamily="34" charset="-122"/>
                <a:cs typeface="Calibri" pitchFamily="34" charset="-120"/>
              </a:rPr>
              <a:t>Pro: </a:t>
            </a:r>
            <a:r>
              <a:rPr lang="en-US" sz="1100" dirty="0">
                <a:solidFill>
                  <a:srgbClr val="1A1A1A"/>
                </a:solidFill>
                <a:latin typeface="Calibri" pitchFamily="34" charset="0"/>
                <a:ea typeface="Calibri" pitchFamily="34" charset="-122"/>
                <a:cs typeface="Calibri" pitchFamily="34" charset="-120"/>
              </a:rPr>
              <a:t>Simplicidad</a:t>
            </a:r>
            <a:endParaRPr lang="en-US" sz="1100" dirty="0"/>
          </a:p>
        </p:txBody>
      </p:sp>
      <p:sp>
        <p:nvSpPr>
          <p:cNvPr id="13" name="Text 11"/>
          <p:cNvSpPr/>
          <p:nvPr/>
        </p:nvSpPr>
        <p:spPr>
          <a:xfrm>
            <a:off x="571500" y="5943600"/>
            <a:ext cx="3337560" cy="274320"/>
          </a:xfrm>
          <a:prstGeom prst="rect">
            <a:avLst/>
          </a:prstGeom>
          <a:noFill/>
          <a:ln/>
        </p:spPr>
        <p:txBody>
          <a:bodyPr wrap="square" rtlCol="0" anchor="ctr"/>
          <a:lstStyle/>
          <a:p>
            <a:pPr marL="0" indent="0">
              <a:buNone/>
            </a:pPr>
            <a:r>
              <a:rPr lang="en-US" sz="1100" b="1" dirty="0">
                <a:solidFill>
                  <a:srgbClr val="C0392B"/>
                </a:solidFill>
                <a:latin typeface="Calibri" pitchFamily="34" charset="0"/>
                <a:ea typeface="Calibri" pitchFamily="34" charset="-122"/>
                <a:cs typeface="Calibri" pitchFamily="34" charset="-120"/>
              </a:rPr>
              <a:t>Contra: </a:t>
            </a:r>
            <a:r>
              <a:rPr lang="en-US" sz="1100" dirty="0">
                <a:solidFill>
                  <a:srgbClr val="1A1A1A"/>
                </a:solidFill>
                <a:latin typeface="Calibri" pitchFamily="34" charset="0"/>
                <a:ea typeface="Calibri" pitchFamily="34" charset="-122"/>
                <a:cs typeface="Calibri" pitchFamily="34" charset="-120"/>
              </a:rPr>
              <a:t>SPOF critico</a:t>
            </a:r>
            <a:endParaRPr lang="en-US" sz="1100" dirty="0"/>
          </a:p>
        </p:txBody>
      </p:sp>
      <p:sp>
        <p:nvSpPr>
          <p:cNvPr id="14" name="Shape 12"/>
          <p:cNvSpPr/>
          <p:nvPr/>
        </p:nvSpPr>
        <p:spPr>
          <a:xfrm>
            <a:off x="4229100" y="2651760"/>
            <a:ext cx="3703320" cy="3657600"/>
          </a:xfrm>
          <a:prstGeom prst="roundRect">
            <a:avLst>
              <a:gd name="adj" fmla="val 2000"/>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15" name="Shape 13"/>
          <p:cNvSpPr/>
          <p:nvPr/>
        </p:nvSpPr>
        <p:spPr>
          <a:xfrm>
            <a:off x="5760720" y="2788920"/>
            <a:ext cx="640080" cy="640080"/>
          </a:xfrm>
          <a:prstGeom prst="ellipse">
            <a:avLst/>
          </a:prstGeom>
          <a:solidFill>
            <a:srgbClr val="F2A413"/>
          </a:solidFill>
          <a:ln/>
        </p:spPr>
        <p:txBody>
          <a:bodyPr/>
          <a:lstStyle/>
          <a:p>
            <a:endParaRPr lang="es-US"/>
          </a:p>
        </p:txBody>
      </p:sp>
      <p:sp>
        <p:nvSpPr>
          <p:cNvPr id="16" name="Text 14"/>
          <p:cNvSpPr/>
          <p:nvPr/>
        </p:nvSpPr>
        <p:spPr>
          <a:xfrm>
            <a:off x="5760720" y="278892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7" name="Text 15"/>
          <p:cNvSpPr/>
          <p:nvPr/>
        </p:nvSpPr>
        <p:spPr>
          <a:xfrm>
            <a:off x="4229100" y="3520440"/>
            <a:ext cx="3703320" cy="365760"/>
          </a:xfrm>
          <a:prstGeom prst="rect">
            <a:avLst/>
          </a:prstGeom>
          <a:noFill/>
          <a:ln/>
        </p:spPr>
        <p:txBody>
          <a:bodyPr wrap="square" lIns="0" tIns="0" rIns="0" bIns="0" rtlCol="0" anchor="ctr"/>
          <a:lstStyle/>
          <a:p>
            <a:pPr marL="0" indent="0" algn="ctr">
              <a:buNone/>
            </a:pPr>
            <a:r>
              <a:rPr lang="en-US" sz="1600" b="1" dirty="0">
                <a:solidFill>
                  <a:srgbClr val="F2A413"/>
                </a:solidFill>
                <a:latin typeface="Calibri" pitchFamily="34" charset="0"/>
                <a:ea typeface="Calibri" pitchFamily="34" charset="-122"/>
                <a:cs typeface="Calibri" pitchFamily="34" charset="-120"/>
              </a:rPr>
              <a:t>Completamente replicado</a:t>
            </a:r>
            <a:endParaRPr lang="en-US" sz="1600" dirty="0"/>
          </a:p>
        </p:txBody>
      </p:sp>
      <p:sp>
        <p:nvSpPr>
          <p:cNvPr id="18" name="Text 16"/>
          <p:cNvSpPr/>
          <p:nvPr/>
        </p:nvSpPr>
        <p:spPr>
          <a:xfrm>
            <a:off x="4411980" y="3977640"/>
            <a:ext cx="3337560" cy="164592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Copia identica en cada nodo. Enrutamiento local sin red. Costoso al actualizar: cada cambio requiere transaccion distribuida sobre el catalogo.</a:t>
            </a:r>
            <a:endParaRPr lang="en-US" sz="1100" dirty="0"/>
          </a:p>
        </p:txBody>
      </p:sp>
      <p:sp>
        <p:nvSpPr>
          <p:cNvPr id="19" name="Text 17"/>
          <p:cNvSpPr/>
          <p:nvPr/>
        </p:nvSpPr>
        <p:spPr>
          <a:xfrm>
            <a:off x="4411980" y="5669280"/>
            <a:ext cx="3337560" cy="274320"/>
          </a:xfrm>
          <a:prstGeom prst="rect">
            <a:avLst/>
          </a:prstGeom>
          <a:noFill/>
          <a:ln/>
        </p:spPr>
        <p:txBody>
          <a:bodyPr wrap="square" rtlCol="0" anchor="ctr"/>
          <a:lstStyle/>
          <a:p>
            <a:pPr marL="0" indent="0">
              <a:buNone/>
            </a:pPr>
            <a:r>
              <a:rPr lang="en-US" sz="1100" b="1" dirty="0">
                <a:solidFill>
                  <a:srgbClr val="4FAE60"/>
                </a:solidFill>
                <a:latin typeface="Calibri" pitchFamily="34" charset="0"/>
                <a:ea typeface="Calibri" pitchFamily="34" charset="-122"/>
                <a:cs typeface="Calibri" pitchFamily="34" charset="-120"/>
              </a:rPr>
              <a:t>Pro: </a:t>
            </a:r>
            <a:r>
              <a:rPr lang="en-US" sz="1100" dirty="0">
                <a:solidFill>
                  <a:srgbClr val="1A1A1A"/>
                </a:solidFill>
                <a:latin typeface="Calibri" pitchFamily="34" charset="0"/>
                <a:ea typeface="Calibri" pitchFamily="34" charset="-122"/>
                <a:cs typeface="Calibri" pitchFamily="34" charset="-120"/>
              </a:rPr>
              <a:t>Latencia minima</a:t>
            </a:r>
            <a:endParaRPr lang="en-US" sz="1100" dirty="0"/>
          </a:p>
        </p:txBody>
      </p:sp>
      <p:sp>
        <p:nvSpPr>
          <p:cNvPr id="20" name="Text 18"/>
          <p:cNvSpPr/>
          <p:nvPr/>
        </p:nvSpPr>
        <p:spPr>
          <a:xfrm>
            <a:off x="4411980" y="5943600"/>
            <a:ext cx="3337560" cy="274320"/>
          </a:xfrm>
          <a:prstGeom prst="rect">
            <a:avLst/>
          </a:prstGeom>
          <a:noFill/>
          <a:ln/>
        </p:spPr>
        <p:txBody>
          <a:bodyPr wrap="square" rtlCol="0" anchor="ctr"/>
          <a:lstStyle/>
          <a:p>
            <a:pPr marL="0" indent="0">
              <a:buNone/>
            </a:pPr>
            <a:r>
              <a:rPr lang="en-US" sz="1100" b="1" dirty="0">
                <a:solidFill>
                  <a:srgbClr val="C0392B"/>
                </a:solidFill>
                <a:latin typeface="Calibri" pitchFamily="34" charset="0"/>
                <a:ea typeface="Calibri" pitchFamily="34" charset="-122"/>
                <a:cs typeface="Calibri" pitchFamily="34" charset="-120"/>
              </a:rPr>
              <a:t>Contra: </a:t>
            </a:r>
            <a:r>
              <a:rPr lang="en-US" sz="1100" dirty="0">
                <a:solidFill>
                  <a:srgbClr val="1A1A1A"/>
                </a:solidFill>
                <a:latin typeface="Calibri" pitchFamily="34" charset="0"/>
                <a:ea typeface="Calibri" pitchFamily="34" charset="-122"/>
                <a:cs typeface="Calibri" pitchFamily="34" charset="-120"/>
              </a:rPr>
              <a:t>Costo de actualizacion</a:t>
            </a:r>
            <a:endParaRPr lang="en-US" sz="1100" dirty="0"/>
          </a:p>
        </p:txBody>
      </p:sp>
      <p:sp>
        <p:nvSpPr>
          <p:cNvPr id="21" name="Shape 19"/>
          <p:cNvSpPr/>
          <p:nvPr/>
        </p:nvSpPr>
        <p:spPr>
          <a:xfrm>
            <a:off x="8069580" y="2651760"/>
            <a:ext cx="3703320" cy="3657600"/>
          </a:xfrm>
          <a:prstGeom prst="roundRect">
            <a:avLst>
              <a:gd name="adj" fmla="val 2000"/>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22" name="Shape 20"/>
          <p:cNvSpPr/>
          <p:nvPr/>
        </p:nvSpPr>
        <p:spPr>
          <a:xfrm>
            <a:off x="9601200" y="2788920"/>
            <a:ext cx="640080" cy="640080"/>
          </a:xfrm>
          <a:prstGeom prst="ellipse">
            <a:avLst/>
          </a:prstGeom>
          <a:solidFill>
            <a:srgbClr val="4FAE60"/>
          </a:solidFill>
          <a:ln/>
        </p:spPr>
        <p:txBody>
          <a:bodyPr/>
          <a:lstStyle/>
          <a:p>
            <a:endParaRPr lang="es-US"/>
          </a:p>
        </p:txBody>
      </p:sp>
      <p:sp>
        <p:nvSpPr>
          <p:cNvPr id="23" name="Text 21"/>
          <p:cNvSpPr/>
          <p:nvPr/>
        </p:nvSpPr>
        <p:spPr>
          <a:xfrm>
            <a:off x="9601200" y="278892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24" name="Text 22"/>
          <p:cNvSpPr/>
          <p:nvPr/>
        </p:nvSpPr>
        <p:spPr>
          <a:xfrm>
            <a:off x="8069580" y="3520440"/>
            <a:ext cx="3703320" cy="365760"/>
          </a:xfrm>
          <a:prstGeom prst="rect">
            <a:avLst/>
          </a:prstGeom>
          <a:noFill/>
          <a:ln/>
        </p:spPr>
        <p:txBody>
          <a:bodyPr wrap="square" lIns="0" tIns="0" rIns="0" bIns="0" rtlCol="0" anchor="ctr"/>
          <a:lstStyle/>
          <a:p>
            <a:pPr marL="0" indent="0" algn="ctr">
              <a:buNone/>
            </a:pPr>
            <a:r>
              <a:rPr lang="en-US" sz="1600" b="1" dirty="0">
                <a:solidFill>
                  <a:srgbClr val="4FAE60"/>
                </a:solidFill>
                <a:latin typeface="Calibri" pitchFamily="34" charset="0"/>
                <a:ea typeface="Calibri" pitchFamily="34" charset="-122"/>
                <a:cs typeface="Calibri" pitchFamily="34" charset="-120"/>
              </a:rPr>
              <a:t>Parcialmente replicado</a:t>
            </a:r>
            <a:endParaRPr lang="en-US" sz="1600" dirty="0"/>
          </a:p>
        </p:txBody>
      </p:sp>
      <p:sp>
        <p:nvSpPr>
          <p:cNvPr id="25" name="Text 23"/>
          <p:cNvSpPr/>
          <p:nvPr/>
        </p:nvSpPr>
        <p:spPr>
          <a:xfrm>
            <a:off x="8252460" y="3977640"/>
            <a:ext cx="3337560" cy="164592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Cada nodo guarda metadatos locales mas info de los nodos con los que mas interactua. Balance entre disponibilidad y costo. Cassandra y CockroachDB lo adoptan.</a:t>
            </a:r>
            <a:endParaRPr lang="en-US" sz="1100" dirty="0"/>
          </a:p>
        </p:txBody>
      </p:sp>
      <p:sp>
        <p:nvSpPr>
          <p:cNvPr id="26" name="Text 24"/>
          <p:cNvSpPr/>
          <p:nvPr/>
        </p:nvSpPr>
        <p:spPr>
          <a:xfrm>
            <a:off x="8252460" y="5669280"/>
            <a:ext cx="3337560" cy="274320"/>
          </a:xfrm>
          <a:prstGeom prst="rect">
            <a:avLst/>
          </a:prstGeom>
          <a:noFill/>
          <a:ln/>
        </p:spPr>
        <p:txBody>
          <a:bodyPr wrap="square" rtlCol="0" anchor="ctr"/>
          <a:lstStyle/>
          <a:p>
            <a:pPr marL="0" indent="0">
              <a:buNone/>
            </a:pPr>
            <a:r>
              <a:rPr lang="en-US" sz="1100" b="1" dirty="0">
                <a:solidFill>
                  <a:srgbClr val="4FAE60"/>
                </a:solidFill>
                <a:latin typeface="Calibri" pitchFamily="34" charset="0"/>
                <a:ea typeface="Calibri" pitchFamily="34" charset="-122"/>
                <a:cs typeface="Calibri" pitchFamily="34" charset="-120"/>
              </a:rPr>
              <a:t>Pro: </a:t>
            </a:r>
            <a:r>
              <a:rPr lang="en-US" sz="1100" dirty="0">
                <a:solidFill>
                  <a:srgbClr val="1A1A1A"/>
                </a:solidFill>
                <a:latin typeface="Calibri" pitchFamily="34" charset="0"/>
                <a:ea typeface="Calibri" pitchFamily="34" charset="-122"/>
                <a:cs typeface="Calibri" pitchFamily="34" charset="-120"/>
              </a:rPr>
              <a:t>Balance optimo</a:t>
            </a:r>
            <a:endParaRPr lang="en-US" sz="1100" dirty="0"/>
          </a:p>
        </p:txBody>
      </p:sp>
      <p:sp>
        <p:nvSpPr>
          <p:cNvPr id="27" name="Text 25"/>
          <p:cNvSpPr/>
          <p:nvPr/>
        </p:nvSpPr>
        <p:spPr>
          <a:xfrm>
            <a:off x="8252460" y="5943600"/>
            <a:ext cx="3337560" cy="274320"/>
          </a:xfrm>
          <a:prstGeom prst="rect">
            <a:avLst/>
          </a:prstGeom>
          <a:noFill/>
          <a:ln/>
        </p:spPr>
        <p:txBody>
          <a:bodyPr wrap="square" rtlCol="0" anchor="ctr"/>
          <a:lstStyle/>
          <a:p>
            <a:pPr marL="0" indent="0">
              <a:buNone/>
            </a:pPr>
            <a:r>
              <a:rPr lang="en-US" sz="1100" b="1" dirty="0">
                <a:solidFill>
                  <a:srgbClr val="C0392B"/>
                </a:solidFill>
                <a:latin typeface="Calibri" pitchFamily="34" charset="0"/>
                <a:ea typeface="Calibri" pitchFamily="34" charset="-122"/>
                <a:cs typeface="Calibri" pitchFamily="34" charset="-120"/>
              </a:rPr>
              <a:t>Contra: </a:t>
            </a:r>
            <a:r>
              <a:rPr lang="en-US" sz="1100" dirty="0">
                <a:solidFill>
                  <a:srgbClr val="1A1A1A"/>
                </a:solidFill>
                <a:latin typeface="Calibri" pitchFamily="34" charset="0"/>
                <a:ea typeface="Calibri" pitchFamily="34" charset="-122"/>
                <a:cs typeface="Calibri" pitchFamily="34" charset="-120"/>
              </a:rPr>
              <a:t>Complejidad de gestion</a:t>
            </a:r>
            <a:endParaRPr lang="en-US" sz="1100" dirty="0"/>
          </a:p>
        </p:txBody>
      </p:sp>
      <p:sp>
        <p:nvSpPr>
          <p:cNvPr id="28" name="Text 26"/>
          <p:cNvSpPr/>
          <p:nvPr/>
        </p:nvSpPr>
        <p:spPr>
          <a:xfrm>
            <a:off x="457200" y="6492240"/>
            <a:ext cx="8229600" cy="274320"/>
          </a:xfrm>
          <a:prstGeom prst="rect">
            <a:avLst/>
          </a:prstGeom>
          <a:noFill/>
          <a:ln/>
        </p:spPr>
        <p:txBody>
          <a:bodyPr wrap="square" rtlCol="0" anchor="ctr"/>
          <a:lstStyle/>
          <a:p>
            <a:pPr marL="0" indent="0">
              <a:buNone/>
            </a:pPr>
            <a:r>
              <a:rPr lang="en-US" sz="900" dirty="0">
                <a:solidFill>
                  <a:srgbClr val="4A4A4A"/>
                </a:solidFill>
                <a:latin typeface="Calibri" pitchFamily="34" charset="0"/>
                <a:ea typeface="Calibri" pitchFamily="34" charset="-122"/>
                <a:cs typeface="Calibri" pitchFamily="34" charset="-120"/>
              </a:rPr>
              <a:t>UTEQ - Aplicaciones Distribuidas (ISR-701) - Unidad 3</a:t>
            </a:r>
            <a:endParaRPr lang="en-US" sz="900" dirty="0"/>
          </a:p>
        </p:txBody>
      </p:sp>
      <p:sp>
        <p:nvSpPr>
          <p:cNvPr id="29" name="Text 27"/>
          <p:cNvSpPr/>
          <p:nvPr/>
        </p:nvSpPr>
        <p:spPr>
          <a:xfrm>
            <a:off x="10789920" y="6492240"/>
            <a:ext cx="914400" cy="274320"/>
          </a:xfrm>
          <a:prstGeom prst="rect">
            <a:avLst/>
          </a:prstGeom>
          <a:noFill/>
          <a:ln/>
        </p:spPr>
        <p:txBody>
          <a:bodyPr wrap="square"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19 / 42</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marL="0" indent="0">
              <a:buNone/>
            </a:pPr>
            <a:r>
              <a:rPr lang="en-US" sz="2800" b="1" dirty="0">
                <a:solidFill>
                  <a:srgbClr val="0E3F7E"/>
                </a:solidFill>
                <a:latin typeface="Calibri" pitchFamily="34" charset="0"/>
                <a:ea typeface="Calibri" pitchFamily="34" charset="-122"/>
                <a:cs typeface="Calibri" pitchFamily="34" charset="-120"/>
              </a:rPr>
              <a:t>Procesamiento de consultas distribuidas</a:t>
            </a:r>
            <a:endParaRPr lang="en-US" sz="2800" dirty="0"/>
          </a:p>
        </p:txBody>
      </p:sp>
      <p:sp>
        <p:nvSpPr>
          <p:cNvPr id="3" name="Text 1"/>
          <p:cNvSpPr/>
          <p:nvPr/>
        </p:nvSpPr>
        <p:spPr>
          <a:xfrm>
            <a:off x="457200" y="777240"/>
            <a:ext cx="11247120" cy="320040"/>
          </a:xfrm>
          <a:prstGeom prst="rect">
            <a:avLst/>
          </a:prstGeom>
          <a:noFill/>
          <a:ln/>
        </p:spPr>
        <p:txBody>
          <a:bodyPr wrap="square" lIns="0" tIns="0" rIns="0" bIns="0" rtlCol="0" anchor="ctr"/>
          <a:lstStyle/>
          <a:p>
            <a:pPr marL="0" indent="0">
              <a:buNone/>
            </a:pPr>
            <a:r>
              <a:rPr lang="en-US" sz="1400" i="1" dirty="0">
                <a:solidFill>
                  <a:srgbClr val="2E86A1"/>
                </a:solidFill>
                <a:latin typeface="Calibri" pitchFamily="34" charset="0"/>
                <a:ea typeface="Calibri" pitchFamily="34" charset="-122"/>
                <a:cs typeface="Calibri" pitchFamily="34" charset="-120"/>
              </a:rPr>
              <a:t>Cuatro fases del SGBDD ante una consulta SQL</a:t>
            </a:r>
            <a:endParaRPr lang="en-US" sz="1400" dirty="0"/>
          </a:p>
        </p:txBody>
      </p:sp>
      <p:sp>
        <p:nvSpPr>
          <p:cNvPr id="4" name="Shape 2"/>
          <p:cNvSpPr/>
          <p:nvPr/>
        </p:nvSpPr>
        <p:spPr>
          <a:xfrm>
            <a:off x="548640" y="1371600"/>
            <a:ext cx="2697480" cy="2743200"/>
          </a:xfrm>
          <a:prstGeom prst="roundRect">
            <a:avLst>
              <a:gd name="adj" fmla="val 2712"/>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5" name="Shape 3"/>
          <p:cNvSpPr/>
          <p:nvPr/>
        </p:nvSpPr>
        <p:spPr>
          <a:xfrm>
            <a:off x="1531620" y="1554480"/>
            <a:ext cx="731520" cy="731520"/>
          </a:xfrm>
          <a:prstGeom prst="ellipse">
            <a:avLst/>
          </a:prstGeom>
          <a:solidFill>
            <a:srgbClr val="0E3F7E"/>
          </a:solidFill>
          <a:ln/>
        </p:spPr>
        <p:txBody>
          <a:bodyPr/>
          <a:lstStyle/>
          <a:p>
            <a:endParaRPr lang="es-US"/>
          </a:p>
        </p:txBody>
      </p:sp>
      <p:sp>
        <p:nvSpPr>
          <p:cNvPr id="6" name="Text 4"/>
          <p:cNvSpPr/>
          <p:nvPr/>
        </p:nvSpPr>
        <p:spPr>
          <a:xfrm>
            <a:off x="1531620" y="1554480"/>
            <a:ext cx="73152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1</a:t>
            </a:r>
            <a:endParaRPr lang="en-US" sz="2800" dirty="0"/>
          </a:p>
        </p:txBody>
      </p:sp>
      <p:sp>
        <p:nvSpPr>
          <p:cNvPr id="7" name="Text 5"/>
          <p:cNvSpPr/>
          <p:nvPr/>
        </p:nvSpPr>
        <p:spPr>
          <a:xfrm>
            <a:off x="548640" y="2423160"/>
            <a:ext cx="2697480" cy="411480"/>
          </a:xfrm>
          <a:prstGeom prst="rect">
            <a:avLst/>
          </a:prstGeom>
          <a:noFill/>
          <a:ln/>
        </p:spPr>
        <p:txBody>
          <a:bodyPr wrap="square" lIns="0" tIns="0" rIns="0" bIns="0" rtlCol="0" anchor="ctr"/>
          <a:lstStyle/>
          <a:p>
            <a:pPr marL="0" indent="0" algn="ctr">
              <a:buNone/>
            </a:pPr>
            <a:r>
              <a:rPr lang="en-US" sz="1400" b="1" dirty="0">
                <a:solidFill>
                  <a:srgbClr val="0E3F7E"/>
                </a:solidFill>
                <a:latin typeface="Calibri" pitchFamily="34" charset="0"/>
                <a:ea typeface="Calibri" pitchFamily="34" charset="-122"/>
                <a:cs typeface="Calibri" pitchFamily="34" charset="-120"/>
              </a:rPr>
              <a:t>Descomposicion</a:t>
            </a:r>
            <a:endParaRPr lang="en-US" sz="1400" dirty="0"/>
          </a:p>
        </p:txBody>
      </p:sp>
      <p:sp>
        <p:nvSpPr>
          <p:cNvPr id="8" name="Text 6"/>
          <p:cNvSpPr/>
          <p:nvPr/>
        </p:nvSpPr>
        <p:spPr>
          <a:xfrm>
            <a:off x="685800" y="2880360"/>
            <a:ext cx="2423160" cy="1188720"/>
          </a:xfrm>
          <a:prstGeom prst="rect">
            <a:avLst/>
          </a:prstGeom>
          <a:noFill/>
          <a:ln/>
        </p:spPr>
        <p:txBody>
          <a:bodyPr wrap="square" rtlCol="0" anchor="ctr"/>
          <a:lstStyle/>
          <a:p>
            <a:pPr marL="0" indent="0" algn="ctr">
              <a:buNone/>
            </a:pPr>
            <a:r>
              <a:rPr lang="en-US" sz="1100" dirty="0">
                <a:solidFill>
                  <a:srgbClr val="1A1A1A"/>
                </a:solidFill>
                <a:latin typeface="Calibri" pitchFamily="34" charset="0"/>
                <a:ea typeface="Calibri" pitchFamily="34" charset="-122"/>
                <a:cs typeface="Calibri" pitchFamily="34" charset="-120"/>
              </a:rPr>
              <a:t>Traduce SQL a expresion del algebra relacional sobre el esquema global. Valida sintaxis, semantica y vistas.</a:t>
            </a:r>
            <a:endParaRPr lang="en-US" sz="1100" dirty="0"/>
          </a:p>
        </p:txBody>
      </p:sp>
      <p:sp>
        <p:nvSpPr>
          <p:cNvPr id="9" name="Shape 7"/>
          <p:cNvSpPr/>
          <p:nvPr/>
        </p:nvSpPr>
        <p:spPr>
          <a:xfrm>
            <a:off x="3337560" y="1371600"/>
            <a:ext cx="2697480" cy="2743200"/>
          </a:xfrm>
          <a:prstGeom prst="roundRect">
            <a:avLst>
              <a:gd name="adj" fmla="val 2712"/>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10" name="Shape 8"/>
          <p:cNvSpPr/>
          <p:nvPr/>
        </p:nvSpPr>
        <p:spPr>
          <a:xfrm>
            <a:off x="4320540" y="1554480"/>
            <a:ext cx="731520" cy="731520"/>
          </a:xfrm>
          <a:prstGeom prst="ellipse">
            <a:avLst/>
          </a:prstGeom>
          <a:solidFill>
            <a:srgbClr val="0E3F7E"/>
          </a:solidFill>
          <a:ln/>
        </p:spPr>
        <p:txBody>
          <a:bodyPr/>
          <a:lstStyle/>
          <a:p>
            <a:endParaRPr lang="es-US"/>
          </a:p>
        </p:txBody>
      </p:sp>
      <p:sp>
        <p:nvSpPr>
          <p:cNvPr id="11" name="Text 9"/>
          <p:cNvSpPr/>
          <p:nvPr/>
        </p:nvSpPr>
        <p:spPr>
          <a:xfrm>
            <a:off x="4320540" y="1554480"/>
            <a:ext cx="73152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2</a:t>
            </a:r>
            <a:endParaRPr lang="en-US" sz="2800" dirty="0"/>
          </a:p>
        </p:txBody>
      </p:sp>
      <p:sp>
        <p:nvSpPr>
          <p:cNvPr id="12" name="Text 10"/>
          <p:cNvSpPr/>
          <p:nvPr/>
        </p:nvSpPr>
        <p:spPr>
          <a:xfrm>
            <a:off x="3337560" y="2423160"/>
            <a:ext cx="2697480" cy="411480"/>
          </a:xfrm>
          <a:prstGeom prst="rect">
            <a:avLst/>
          </a:prstGeom>
          <a:noFill/>
          <a:ln/>
        </p:spPr>
        <p:txBody>
          <a:bodyPr wrap="square" lIns="0" tIns="0" rIns="0" bIns="0" rtlCol="0" anchor="ctr"/>
          <a:lstStyle/>
          <a:p>
            <a:pPr marL="0" indent="0" algn="ctr">
              <a:buNone/>
            </a:pPr>
            <a:r>
              <a:rPr lang="en-US" sz="1400" b="1" dirty="0">
                <a:solidFill>
                  <a:srgbClr val="0E3F7E"/>
                </a:solidFill>
                <a:latin typeface="Calibri" pitchFamily="34" charset="0"/>
                <a:ea typeface="Calibri" pitchFamily="34" charset="-122"/>
                <a:cs typeface="Calibri" pitchFamily="34" charset="-120"/>
              </a:rPr>
              <a:t>Localizacion</a:t>
            </a:r>
            <a:endParaRPr lang="en-US" sz="1400" dirty="0"/>
          </a:p>
        </p:txBody>
      </p:sp>
      <p:sp>
        <p:nvSpPr>
          <p:cNvPr id="13" name="Text 11"/>
          <p:cNvSpPr/>
          <p:nvPr/>
        </p:nvSpPr>
        <p:spPr>
          <a:xfrm>
            <a:off x="3474720" y="2880360"/>
            <a:ext cx="2423160" cy="1188720"/>
          </a:xfrm>
          <a:prstGeom prst="rect">
            <a:avLst/>
          </a:prstGeom>
          <a:noFill/>
          <a:ln/>
        </p:spPr>
        <p:txBody>
          <a:bodyPr wrap="square" rtlCol="0" anchor="ctr"/>
          <a:lstStyle/>
          <a:p>
            <a:pPr marL="0" indent="0" algn="ctr">
              <a:buNone/>
            </a:pPr>
            <a:r>
              <a:rPr lang="en-US" sz="1100" dirty="0">
                <a:solidFill>
                  <a:srgbClr val="1A1A1A"/>
                </a:solidFill>
                <a:latin typeface="Calibri" pitchFamily="34" charset="0"/>
                <a:ea typeface="Calibri" pitchFamily="34" charset="-122"/>
                <a:cs typeface="Calibri" pitchFamily="34" charset="-120"/>
              </a:rPr>
              <a:t>Convierte la consulta global en una consulta sobre fragmentos especificos usando el catalogo.</a:t>
            </a:r>
            <a:endParaRPr lang="en-US" sz="1100" dirty="0"/>
          </a:p>
        </p:txBody>
      </p:sp>
      <p:sp>
        <p:nvSpPr>
          <p:cNvPr id="14" name="Shape 12"/>
          <p:cNvSpPr/>
          <p:nvPr/>
        </p:nvSpPr>
        <p:spPr>
          <a:xfrm>
            <a:off x="6126480" y="1371600"/>
            <a:ext cx="2697480" cy="2743200"/>
          </a:xfrm>
          <a:prstGeom prst="roundRect">
            <a:avLst>
              <a:gd name="adj" fmla="val 2712"/>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15" name="Shape 13"/>
          <p:cNvSpPr/>
          <p:nvPr/>
        </p:nvSpPr>
        <p:spPr>
          <a:xfrm>
            <a:off x="7109460" y="1554480"/>
            <a:ext cx="731520" cy="731520"/>
          </a:xfrm>
          <a:prstGeom prst="ellipse">
            <a:avLst/>
          </a:prstGeom>
          <a:solidFill>
            <a:srgbClr val="0E3F7E"/>
          </a:solidFill>
          <a:ln/>
        </p:spPr>
        <p:txBody>
          <a:bodyPr/>
          <a:lstStyle/>
          <a:p>
            <a:endParaRPr lang="es-US"/>
          </a:p>
        </p:txBody>
      </p:sp>
      <p:sp>
        <p:nvSpPr>
          <p:cNvPr id="16" name="Text 14"/>
          <p:cNvSpPr/>
          <p:nvPr/>
        </p:nvSpPr>
        <p:spPr>
          <a:xfrm>
            <a:off x="7109460" y="1554480"/>
            <a:ext cx="73152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3</a:t>
            </a:r>
            <a:endParaRPr lang="en-US" sz="2800" dirty="0"/>
          </a:p>
        </p:txBody>
      </p:sp>
      <p:sp>
        <p:nvSpPr>
          <p:cNvPr id="17" name="Text 15"/>
          <p:cNvSpPr/>
          <p:nvPr/>
        </p:nvSpPr>
        <p:spPr>
          <a:xfrm>
            <a:off x="6126480" y="2423160"/>
            <a:ext cx="2697480" cy="411480"/>
          </a:xfrm>
          <a:prstGeom prst="rect">
            <a:avLst/>
          </a:prstGeom>
          <a:noFill/>
          <a:ln/>
        </p:spPr>
        <p:txBody>
          <a:bodyPr wrap="square" lIns="0" tIns="0" rIns="0" bIns="0" rtlCol="0" anchor="ctr"/>
          <a:lstStyle/>
          <a:p>
            <a:pPr marL="0" indent="0" algn="ctr">
              <a:buNone/>
            </a:pPr>
            <a:r>
              <a:rPr lang="en-US" sz="1400" b="1" dirty="0">
                <a:solidFill>
                  <a:srgbClr val="0E3F7E"/>
                </a:solidFill>
                <a:latin typeface="Calibri" pitchFamily="34" charset="0"/>
                <a:ea typeface="Calibri" pitchFamily="34" charset="-122"/>
                <a:cs typeface="Calibri" pitchFamily="34" charset="-120"/>
              </a:rPr>
              <a:t>Optimizacion global</a:t>
            </a:r>
            <a:endParaRPr lang="en-US" sz="1400" dirty="0"/>
          </a:p>
        </p:txBody>
      </p:sp>
      <p:sp>
        <p:nvSpPr>
          <p:cNvPr id="18" name="Text 16"/>
          <p:cNvSpPr/>
          <p:nvPr/>
        </p:nvSpPr>
        <p:spPr>
          <a:xfrm>
            <a:off x="6263640" y="2880360"/>
            <a:ext cx="2423160" cy="1188720"/>
          </a:xfrm>
          <a:prstGeom prst="rect">
            <a:avLst/>
          </a:prstGeom>
          <a:noFill/>
          <a:ln/>
        </p:spPr>
        <p:txBody>
          <a:bodyPr wrap="square" rtlCol="0" anchor="ctr"/>
          <a:lstStyle/>
          <a:p>
            <a:pPr marL="0" indent="0" algn="ctr">
              <a:buNone/>
            </a:pPr>
            <a:r>
              <a:rPr lang="en-US" sz="1100" dirty="0">
                <a:solidFill>
                  <a:srgbClr val="1A1A1A"/>
                </a:solidFill>
                <a:latin typeface="Calibri" pitchFamily="34" charset="0"/>
                <a:ea typeface="Calibri" pitchFamily="34" charset="-122"/>
                <a:cs typeface="Calibri" pitchFamily="34" charset="-120"/>
              </a:rPr>
              <a:t>Elige el plan mas eficiente: donde hacer JOINs (semi-joins, bloom-joins), si replicar fragmentos, en que orden.</a:t>
            </a:r>
            <a:endParaRPr lang="en-US" sz="1100" dirty="0"/>
          </a:p>
        </p:txBody>
      </p:sp>
      <p:sp>
        <p:nvSpPr>
          <p:cNvPr id="19" name="Shape 17"/>
          <p:cNvSpPr/>
          <p:nvPr/>
        </p:nvSpPr>
        <p:spPr>
          <a:xfrm>
            <a:off x="8915400" y="1371600"/>
            <a:ext cx="2697480" cy="2743200"/>
          </a:xfrm>
          <a:prstGeom prst="roundRect">
            <a:avLst>
              <a:gd name="adj" fmla="val 2712"/>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20" name="Shape 18"/>
          <p:cNvSpPr/>
          <p:nvPr/>
        </p:nvSpPr>
        <p:spPr>
          <a:xfrm>
            <a:off x="9898380" y="1554480"/>
            <a:ext cx="731520" cy="731520"/>
          </a:xfrm>
          <a:prstGeom prst="ellipse">
            <a:avLst/>
          </a:prstGeom>
          <a:solidFill>
            <a:srgbClr val="0E3F7E"/>
          </a:solidFill>
          <a:ln/>
        </p:spPr>
        <p:txBody>
          <a:bodyPr/>
          <a:lstStyle/>
          <a:p>
            <a:endParaRPr lang="es-US"/>
          </a:p>
        </p:txBody>
      </p:sp>
      <p:sp>
        <p:nvSpPr>
          <p:cNvPr id="21" name="Text 19"/>
          <p:cNvSpPr/>
          <p:nvPr/>
        </p:nvSpPr>
        <p:spPr>
          <a:xfrm>
            <a:off x="9898380" y="1554480"/>
            <a:ext cx="73152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4</a:t>
            </a:r>
            <a:endParaRPr lang="en-US" sz="2800" dirty="0"/>
          </a:p>
        </p:txBody>
      </p:sp>
      <p:sp>
        <p:nvSpPr>
          <p:cNvPr id="22" name="Text 20"/>
          <p:cNvSpPr/>
          <p:nvPr/>
        </p:nvSpPr>
        <p:spPr>
          <a:xfrm>
            <a:off x="8915400" y="2423160"/>
            <a:ext cx="2697480" cy="411480"/>
          </a:xfrm>
          <a:prstGeom prst="rect">
            <a:avLst/>
          </a:prstGeom>
          <a:noFill/>
          <a:ln/>
        </p:spPr>
        <p:txBody>
          <a:bodyPr wrap="square" lIns="0" tIns="0" rIns="0" bIns="0" rtlCol="0" anchor="ctr"/>
          <a:lstStyle/>
          <a:p>
            <a:pPr marL="0" indent="0" algn="ctr">
              <a:buNone/>
            </a:pPr>
            <a:r>
              <a:rPr lang="en-US" sz="1400" b="1" dirty="0">
                <a:solidFill>
                  <a:srgbClr val="0E3F7E"/>
                </a:solidFill>
                <a:latin typeface="Calibri" pitchFamily="34" charset="0"/>
                <a:ea typeface="Calibri" pitchFamily="34" charset="-122"/>
                <a:cs typeface="Calibri" pitchFamily="34" charset="-120"/>
              </a:rPr>
              <a:t>Ejecucion</a:t>
            </a:r>
            <a:endParaRPr lang="en-US" sz="1400" dirty="0"/>
          </a:p>
        </p:txBody>
      </p:sp>
      <p:sp>
        <p:nvSpPr>
          <p:cNvPr id="23" name="Text 21"/>
          <p:cNvSpPr/>
          <p:nvPr/>
        </p:nvSpPr>
        <p:spPr>
          <a:xfrm>
            <a:off x="9052560" y="2880360"/>
            <a:ext cx="2423160" cy="1188720"/>
          </a:xfrm>
          <a:prstGeom prst="rect">
            <a:avLst/>
          </a:prstGeom>
          <a:noFill/>
          <a:ln/>
        </p:spPr>
        <p:txBody>
          <a:bodyPr wrap="square" rtlCol="0" anchor="ctr"/>
          <a:lstStyle/>
          <a:p>
            <a:pPr marL="0" indent="0" algn="ctr">
              <a:buNone/>
            </a:pPr>
            <a:r>
              <a:rPr lang="en-US" sz="1100" dirty="0">
                <a:solidFill>
                  <a:srgbClr val="1A1A1A"/>
                </a:solidFill>
                <a:latin typeface="Calibri" pitchFamily="34" charset="0"/>
                <a:ea typeface="Calibri" pitchFamily="34" charset="-122"/>
                <a:cs typeface="Calibri" pitchFamily="34" charset="-120"/>
              </a:rPr>
              <a:t>Despacha sub-consultas, recibe resultados parciales, los combina segun el plan. Coordinador puede ser dinamico.</a:t>
            </a:r>
            <a:endParaRPr lang="en-US" sz="1100" dirty="0"/>
          </a:p>
        </p:txBody>
      </p:sp>
      <p:sp>
        <p:nvSpPr>
          <p:cNvPr id="24" name="Shape 22"/>
          <p:cNvSpPr/>
          <p:nvPr/>
        </p:nvSpPr>
        <p:spPr>
          <a:xfrm>
            <a:off x="548640" y="4434840"/>
            <a:ext cx="11064240" cy="1965960"/>
          </a:xfrm>
          <a:prstGeom prst="roundRect">
            <a:avLst>
              <a:gd name="adj" fmla="val 3721"/>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25" name="Text 23"/>
          <p:cNvSpPr/>
          <p:nvPr/>
        </p:nvSpPr>
        <p:spPr>
          <a:xfrm>
            <a:off x="777240" y="4526280"/>
            <a:ext cx="10698480" cy="365760"/>
          </a:xfrm>
          <a:prstGeom prst="rect">
            <a:avLst/>
          </a:prstGeom>
          <a:noFill/>
          <a:ln/>
        </p:spPr>
        <p:txBody>
          <a:bodyPr wrap="square" lIns="0" tIns="0" rIns="0" bIns="0" rtlCol="0" anchor="ctr"/>
          <a:lstStyle/>
          <a:p>
            <a:pPr marL="0" indent="0">
              <a:buNone/>
            </a:pPr>
            <a:r>
              <a:rPr lang="en-US" sz="1400" b="1" dirty="0">
                <a:solidFill>
                  <a:srgbClr val="2E86A1"/>
                </a:solidFill>
                <a:latin typeface="Calibri" pitchFamily="34" charset="0"/>
                <a:ea typeface="Calibri" pitchFamily="34" charset="-122"/>
                <a:cs typeface="Calibri" pitchFamily="34" charset="-120"/>
              </a:rPr>
              <a:t>Tecnicas de optimizacion clave</a:t>
            </a:r>
            <a:endParaRPr lang="en-US" sz="1400" dirty="0"/>
          </a:p>
        </p:txBody>
      </p:sp>
      <p:sp>
        <p:nvSpPr>
          <p:cNvPr id="26" name="Text 24"/>
          <p:cNvSpPr/>
          <p:nvPr/>
        </p:nvSpPr>
        <p:spPr>
          <a:xfrm>
            <a:off x="777240" y="4937760"/>
            <a:ext cx="1463040" cy="320040"/>
          </a:xfrm>
          <a:prstGeom prst="rect">
            <a:avLst/>
          </a:prstGeom>
          <a:noFill/>
          <a:ln/>
        </p:spPr>
        <p:txBody>
          <a:bodyPr wrap="square" lIns="0" tIns="0" rIns="0" bIns="0" rtlCol="0" anchor="ctr"/>
          <a:lstStyle/>
          <a:p>
            <a:pPr marL="0" indent="0">
              <a:buNone/>
            </a:pPr>
            <a:r>
              <a:rPr lang="en-US" sz="1100" b="1" dirty="0">
                <a:solidFill>
                  <a:srgbClr val="0E3F7E"/>
                </a:solidFill>
                <a:latin typeface="Calibri" pitchFamily="34" charset="0"/>
                <a:ea typeface="Calibri" pitchFamily="34" charset="-122"/>
                <a:cs typeface="Calibri" pitchFamily="34" charset="-120"/>
              </a:rPr>
              <a:t>Filtrado temprano:</a:t>
            </a:r>
            <a:endParaRPr lang="en-US" sz="1100" dirty="0"/>
          </a:p>
        </p:txBody>
      </p:sp>
      <p:sp>
        <p:nvSpPr>
          <p:cNvPr id="27" name="Text 25"/>
          <p:cNvSpPr/>
          <p:nvPr/>
        </p:nvSpPr>
        <p:spPr>
          <a:xfrm>
            <a:off x="2240280" y="4937760"/>
            <a:ext cx="2103120" cy="640080"/>
          </a:xfrm>
          <a:prstGeom prst="rect">
            <a:avLst/>
          </a:prstGeom>
          <a:noFill/>
          <a:ln/>
        </p:spPr>
        <p:txBody>
          <a:bodyPr wrap="square" rtlCol="0" anchor="ctr"/>
          <a:lstStyle/>
          <a:p>
            <a:pPr marL="0" indent="0">
              <a:buNone/>
            </a:pPr>
            <a:r>
              <a:rPr lang="en-US" sz="1000" dirty="0">
                <a:solidFill>
                  <a:srgbClr val="1A1A1A"/>
                </a:solidFill>
                <a:latin typeface="Calibri" pitchFamily="34" charset="0"/>
                <a:ea typeface="Calibri" pitchFamily="34" charset="-122"/>
                <a:cs typeface="Calibri" pitchFamily="34" charset="-120"/>
              </a:rPr>
              <a:t>Selecciones y proyecciones antes de transferir</a:t>
            </a:r>
            <a:endParaRPr lang="en-US" sz="1000" dirty="0"/>
          </a:p>
        </p:txBody>
      </p:sp>
      <p:sp>
        <p:nvSpPr>
          <p:cNvPr id="28" name="Text 26"/>
          <p:cNvSpPr/>
          <p:nvPr/>
        </p:nvSpPr>
        <p:spPr>
          <a:xfrm>
            <a:off x="4434840" y="4937760"/>
            <a:ext cx="1463040" cy="320040"/>
          </a:xfrm>
          <a:prstGeom prst="rect">
            <a:avLst/>
          </a:prstGeom>
          <a:noFill/>
          <a:ln/>
        </p:spPr>
        <p:txBody>
          <a:bodyPr wrap="square" lIns="0" tIns="0" rIns="0" bIns="0" rtlCol="0" anchor="ctr"/>
          <a:lstStyle/>
          <a:p>
            <a:pPr marL="0" indent="0">
              <a:buNone/>
            </a:pPr>
            <a:r>
              <a:rPr lang="en-US" sz="1100" b="1" dirty="0">
                <a:solidFill>
                  <a:srgbClr val="0E3F7E"/>
                </a:solidFill>
                <a:latin typeface="Calibri" pitchFamily="34" charset="0"/>
                <a:ea typeface="Calibri" pitchFamily="34" charset="-122"/>
                <a:cs typeface="Calibri" pitchFamily="34" charset="-120"/>
              </a:rPr>
              <a:t>Semi-join:</a:t>
            </a:r>
            <a:endParaRPr lang="en-US" sz="1100" dirty="0"/>
          </a:p>
        </p:txBody>
      </p:sp>
      <p:sp>
        <p:nvSpPr>
          <p:cNvPr id="29" name="Text 27"/>
          <p:cNvSpPr/>
          <p:nvPr/>
        </p:nvSpPr>
        <p:spPr>
          <a:xfrm>
            <a:off x="5897880" y="4937760"/>
            <a:ext cx="2103120" cy="640080"/>
          </a:xfrm>
          <a:prstGeom prst="rect">
            <a:avLst/>
          </a:prstGeom>
          <a:noFill/>
          <a:ln/>
        </p:spPr>
        <p:txBody>
          <a:bodyPr wrap="square" rtlCol="0" anchor="ctr"/>
          <a:lstStyle/>
          <a:p>
            <a:pPr marL="0" indent="0">
              <a:buNone/>
            </a:pPr>
            <a:r>
              <a:rPr lang="en-US" sz="1000" dirty="0">
                <a:solidFill>
                  <a:srgbClr val="1A1A1A"/>
                </a:solidFill>
                <a:latin typeface="Calibri" pitchFamily="34" charset="0"/>
                <a:ea typeface="Calibri" pitchFamily="34" charset="-122"/>
                <a:cs typeface="Calibri" pitchFamily="34" charset="-120"/>
              </a:rPr>
              <a:t>Transferir solo claves para reducir JOIN</a:t>
            </a:r>
            <a:endParaRPr lang="en-US" sz="1000" dirty="0"/>
          </a:p>
        </p:txBody>
      </p:sp>
      <p:sp>
        <p:nvSpPr>
          <p:cNvPr id="30" name="Text 28"/>
          <p:cNvSpPr/>
          <p:nvPr/>
        </p:nvSpPr>
        <p:spPr>
          <a:xfrm>
            <a:off x="8092440" y="4937760"/>
            <a:ext cx="1463040" cy="320040"/>
          </a:xfrm>
          <a:prstGeom prst="rect">
            <a:avLst/>
          </a:prstGeom>
          <a:noFill/>
          <a:ln/>
        </p:spPr>
        <p:txBody>
          <a:bodyPr wrap="square" lIns="0" tIns="0" rIns="0" bIns="0" rtlCol="0" anchor="ctr"/>
          <a:lstStyle/>
          <a:p>
            <a:pPr marL="0" indent="0">
              <a:buNone/>
            </a:pPr>
            <a:r>
              <a:rPr lang="en-US" sz="1100" b="1" dirty="0">
                <a:solidFill>
                  <a:srgbClr val="0E3F7E"/>
                </a:solidFill>
                <a:latin typeface="Calibri" pitchFamily="34" charset="0"/>
                <a:ea typeface="Calibri" pitchFamily="34" charset="-122"/>
                <a:cs typeface="Calibri" pitchFamily="34" charset="-120"/>
              </a:rPr>
              <a:t>Bloom-join:</a:t>
            </a:r>
            <a:endParaRPr lang="en-US" sz="1100" dirty="0"/>
          </a:p>
        </p:txBody>
      </p:sp>
      <p:sp>
        <p:nvSpPr>
          <p:cNvPr id="31" name="Text 29"/>
          <p:cNvSpPr/>
          <p:nvPr/>
        </p:nvSpPr>
        <p:spPr>
          <a:xfrm>
            <a:off x="9555480" y="4937760"/>
            <a:ext cx="2103120" cy="640080"/>
          </a:xfrm>
          <a:prstGeom prst="rect">
            <a:avLst/>
          </a:prstGeom>
          <a:noFill/>
          <a:ln/>
        </p:spPr>
        <p:txBody>
          <a:bodyPr wrap="square" rtlCol="0" anchor="ctr"/>
          <a:lstStyle/>
          <a:p>
            <a:pPr marL="0" indent="0">
              <a:buNone/>
            </a:pPr>
            <a:r>
              <a:rPr lang="en-US" sz="1000" dirty="0">
                <a:solidFill>
                  <a:srgbClr val="1A1A1A"/>
                </a:solidFill>
                <a:latin typeface="Calibri" pitchFamily="34" charset="0"/>
                <a:ea typeface="Calibri" pitchFamily="34" charset="-122"/>
                <a:cs typeface="Calibri" pitchFamily="34" charset="-120"/>
              </a:rPr>
              <a:t>Filtros de Bloom para reducir semi-join</a:t>
            </a:r>
            <a:endParaRPr lang="en-US" sz="1000" dirty="0"/>
          </a:p>
        </p:txBody>
      </p:sp>
      <p:sp>
        <p:nvSpPr>
          <p:cNvPr id="32" name="Text 30"/>
          <p:cNvSpPr/>
          <p:nvPr/>
        </p:nvSpPr>
        <p:spPr>
          <a:xfrm>
            <a:off x="777240" y="5623560"/>
            <a:ext cx="1463040" cy="320040"/>
          </a:xfrm>
          <a:prstGeom prst="rect">
            <a:avLst/>
          </a:prstGeom>
          <a:noFill/>
          <a:ln/>
        </p:spPr>
        <p:txBody>
          <a:bodyPr wrap="square" lIns="0" tIns="0" rIns="0" bIns="0" rtlCol="0" anchor="ctr"/>
          <a:lstStyle/>
          <a:p>
            <a:pPr marL="0" indent="0">
              <a:buNone/>
            </a:pPr>
            <a:r>
              <a:rPr lang="en-US" sz="1100" b="1" dirty="0">
                <a:solidFill>
                  <a:srgbClr val="0E3F7E"/>
                </a:solidFill>
                <a:latin typeface="Calibri" pitchFamily="34" charset="0"/>
                <a:ea typeface="Calibri" pitchFamily="34" charset="-122"/>
                <a:cs typeface="Calibri" pitchFamily="34" charset="-120"/>
              </a:rPr>
              <a:t>Replicacion temporal:</a:t>
            </a:r>
            <a:endParaRPr lang="en-US" sz="1100" dirty="0"/>
          </a:p>
        </p:txBody>
      </p:sp>
      <p:sp>
        <p:nvSpPr>
          <p:cNvPr id="33" name="Text 31"/>
          <p:cNvSpPr/>
          <p:nvPr/>
        </p:nvSpPr>
        <p:spPr>
          <a:xfrm>
            <a:off x="2240280" y="5623560"/>
            <a:ext cx="2103120" cy="640080"/>
          </a:xfrm>
          <a:prstGeom prst="rect">
            <a:avLst/>
          </a:prstGeom>
          <a:noFill/>
          <a:ln/>
        </p:spPr>
        <p:txBody>
          <a:bodyPr wrap="square" rtlCol="0" anchor="ctr"/>
          <a:lstStyle/>
          <a:p>
            <a:pPr marL="0" indent="0">
              <a:buNone/>
            </a:pPr>
            <a:r>
              <a:rPr lang="en-US" sz="1000" dirty="0">
                <a:solidFill>
                  <a:srgbClr val="1A1A1A"/>
                </a:solidFill>
                <a:latin typeface="Calibri" pitchFamily="34" charset="0"/>
                <a:ea typeface="Calibri" pitchFamily="34" charset="-122"/>
                <a:cs typeface="Calibri" pitchFamily="34" charset="-120"/>
              </a:rPr>
              <a:t>Copiar fragmento pequeno para evitar JOIN</a:t>
            </a:r>
            <a:endParaRPr lang="en-US" sz="1000" dirty="0"/>
          </a:p>
        </p:txBody>
      </p:sp>
      <p:sp>
        <p:nvSpPr>
          <p:cNvPr id="34" name="Text 32"/>
          <p:cNvSpPr/>
          <p:nvPr/>
        </p:nvSpPr>
        <p:spPr>
          <a:xfrm>
            <a:off x="4434840" y="5623560"/>
            <a:ext cx="1463040" cy="320040"/>
          </a:xfrm>
          <a:prstGeom prst="rect">
            <a:avLst/>
          </a:prstGeom>
          <a:noFill/>
          <a:ln/>
        </p:spPr>
        <p:txBody>
          <a:bodyPr wrap="square" lIns="0" tIns="0" rIns="0" bIns="0" rtlCol="0" anchor="ctr"/>
          <a:lstStyle/>
          <a:p>
            <a:pPr marL="0" indent="0">
              <a:buNone/>
            </a:pPr>
            <a:r>
              <a:rPr lang="en-US" sz="1100" b="1" dirty="0">
                <a:solidFill>
                  <a:srgbClr val="0E3F7E"/>
                </a:solidFill>
                <a:latin typeface="Calibri" pitchFamily="34" charset="0"/>
                <a:ea typeface="Calibri" pitchFamily="34" charset="-122"/>
                <a:cs typeface="Calibri" pitchFamily="34" charset="-120"/>
              </a:rPr>
              <a:t>Partition-wise join:</a:t>
            </a:r>
            <a:endParaRPr lang="en-US" sz="1100" dirty="0"/>
          </a:p>
        </p:txBody>
      </p:sp>
      <p:sp>
        <p:nvSpPr>
          <p:cNvPr id="35" name="Text 33"/>
          <p:cNvSpPr/>
          <p:nvPr/>
        </p:nvSpPr>
        <p:spPr>
          <a:xfrm>
            <a:off x="5897880" y="5623560"/>
            <a:ext cx="2103120" cy="640080"/>
          </a:xfrm>
          <a:prstGeom prst="rect">
            <a:avLst/>
          </a:prstGeom>
          <a:noFill/>
          <a:ln/>
        </p:spPr>
        <p:txBody>
          <a:bodyPr wrap="square" rtlCol="0" anchor="ctr"/>
          <a:lstStyle/>
          <a:p>
            <a:pPr marL="0" indent="0">
              <a:buNone/>
            </a:pPr>
            <a:r>
              <a:rPr lang="en-US" sz="1000" dirty="0">
                <a:solidFill>
                  <a:srgbClr val="1A1A1A"/>
                </a:solidFill>
                <a:latin typeface="Calibri" pitchFamily="34" charset="0"/>
                <a:ea typeface="Calibri" pitchFamily="34" charset="-122"/>
                <a:cs typeface="Calibri" pitchFamily="34" charset="-120"/>
              </a:rPr>
              <a:t>JOIN entre co-particionados localmente</a:t>
            </a:r>
            <a:endParaRPr lang="en-US" sz="1000" dirty="0"/>
          </a:p>
        </p:txBody>
      </p:sp>
      <p:sp>
        <p:nvSpPr>
          <p:cNvPr id="36" name="Text 34"/>
          <p:cNvSpPr/>
          <p:nvPr/>
        </p:nvSpPr>
        <p:spPr>
          <a:xfrm>
            <a:off x="8092440" y="5623560"/>
            <a:ext cx="1463040" cy="320040"/>
          </a:xfrm>
          <a:prstGeom prst="rect">
            <a:avLst/>
          </a:prstGeom>
          <a:noFill/>
          <a:ln/>
        </p:spPr>
        <p:txBody>
          <a:bodyPr wrap="square" lIns="0" tIns="0" rIns="0" bIns="0" rtlCol="0" anchor="ctr"/>
          <a:lstStyle/>
          <a:p>
            <a:pPr marL="0" indent="0">
              <a:buNone/>
            </a:pPr>
            <a:r>
              <a:rPr lang="en-US" sz="1100" b="1" dirty="0">
                <a:solidFill>
                  <a:srgbClr val="0E3F7E"/>
                </a:solidFill>
                <a:latin typeface="Calibri" pitchFamily="34" charset="0"/>
                <a:ea typeface="Calibri" pitchFamily="34" charset="-122"/>
                <a:cs typeface="Calibri" pitchFamily="34" charset="-120"/>
              </a:rPr>
              <a:t>Cache de resultados:</a:t>
            </a:r>
            <a:endParaRPr lang="en-US" sz="1100" dirty="0"/>
          </a:p>
        </p:txBody>
      </p:sp>
      <p:sp>
        <p:nvSpPr>
          <p:cNvPr id="37" name="Text 35"/>
          <p:cNvSpPr/>
          <p:nvPr/>
        </p:nvSpPr>
        <p:spPr>
          <a:xfrm>
            <a:off x="9555480" y="5623560"/>
            <a:ext cx="2103120" cy="640080"/>
          </a:xfrm>
          <a:prstGeom prst="rect">
            <a:avLst/>
          </a:prstGeom>
          <a:noFill/>
          <a:ln/>
        </p:spPr>
        <p:txBody>
          <a:bodyPr wrap="square" rtlCol="0" anchor="ctr"/>
          <a:lstStyle/>
          <a:p>
            <a:pPr marL="0" indent="0">
              <a:buNone/>
            </a:pPr>
            <a:r>
              <a:rPr lang="en-US" sz="1000" dirty="0">
                <a:solidFill>
                  <a:srgbClr val="1A1A1A"/>
                </a:solidFill>
                <a:latin typeface="Calibri" pitchFamily="34" charset="0"/>
                <a:ea typeface="Calibri" pitchFamily="34" charset="-122"/>
                <a:cs typeface="Calibri" pitchFamily="34" charset="-120"/>
              </a:rPr>
              <a:t>Reutilizar resultados entre consultas</a:t>
            </a:r>
            <a:endParaRPr lang="en-US" sz="1000" dirty="0"/>
          </a:p>
        </p:txBody>
      </p:sp>
      <p:sp>
        <p:nvSpPr>
          <p:cNvPr id="38" name="Text 36"/>
          <p:cNvSpPr/>
          <p:nvPr/>
        </p:nvSpPr>
        <p:spPr>
          <a:xfrm>
            <a:off x="457200" y="6492240"/>
            <a:ext cx="8229600" cy="274320"/>
          </a:xfrm>
          <a:prstGeom prst="rect">
            <a:avLst/>
          </a:prstGeom>
          <a:noFill/>
          <a:ln/>
        </p:spPr>
        <p:txBody>
          <a:bodyPr wrap="square" rtlCol="0" anchor="ctr"/>
          <a:lstStyle/>
          <a:p>
            <a:pPr marL="0" indent="0">
              <a:buNone/>
            </a:pPr>
            <a:r>
              <a:rPr lang="en-US" sz="900" dirty="0">
                <a:solidFill>
                  <a:srgbClr val="4A4A4A"/>
                </a:solidFill>
                <a:latin typeface="Calibri" pitchFamily="34" charset="0"/>
                <a:ea typeface="Calibri" pitchFamily="34" charset="-122"/>
                <a:cs typeface="Calibri" pitchFamily="34" charset="-120"/>
              </a:rPr>
              <a:t>UTEQ - Aplicaciones Distribuidas (ISR-701) - Unidad 3</a:t>
            </a:r>
            <a:endParaRPr lang="en-US" sz="900" dirty="0"/>
          </a:p>
        </p:txBody>
      </p:sp>
      <p:sp>
        <p:nvSpPr>
          <p:cNvPr id="39" name="Text 37"/>
          <p:cNvSpPr/>
          <p:nvPr/>
        </p:nvSpPr>
        <p:spPr>
          <a:xfrm>
            <a:off x="10789920" y="6492240"/>
            <a:ext cx="914400" cy="274320"/>
          </a:xfrm>
          <a:prstGeom prst="rect">
            <a:avLst/>
          </a:prstGeom>
          <a:noFill/>
          <a:ln/>
        </p:spPr>
        <p:txBody>
          <a:bodyPr wrap="square"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20 / 42</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marL="0" indent="0">
              <a:buNone/>
            </a:pPr>
            <a:r>
              <a:rPr lang="en-US" sz="2800" b="1" dirty="0">
                <a:solidFill>
                  <a:srgbClr val="0E3F7E"/>
                </a:solidFill>
                <a:latin typeface="Calibri" pitchFamily="34" charset="0"/>
                <a:ea typeface="Calibri" pitchFamily="34" charset="-122"/>
                <a:cs typeface="Calibri" pitchFamily="34" charset="-120"/>
              </a:rPr>
              <a:t>Transacciones distribuidas: ACID en escala</a:t>
            </a:r>
            <a:endParaRPr lang="en-US" sz="2800" dirty="0"/>
          </a:p>
        </p:txBody>
      </p:sp>
      <p:sp>
        <p:nvSpPr>
          <p:cNvPr id="3" name="Text 1"/>
          <p:cNvSpPr/>
          <p:nvPr/>
        </p:nvSpPr>
        <p:spPr>
          <a:xfrm>
            <a:off x="457200" y="777240"/>
            <a:ext cx="11247120" cy="320040"/>
          </a:xfrm>
          <a:prstGeom prst="rect">
            <a:avLst/>
          </a:prstGeom>
          <a:noFill/>
          <a:ln/>
        </p:spPr>
        <p:txBody>
          <a:bodyPr wrap="square" lIns="0" tIns="0" rIns="0" bIns="0" rtlCol="0" anchor="ctr"/>
          <a:lstStyle/>
          <a:p>
            <a:pPr marL="0" indent="0">
              <a:buNone/>
            </a:pPr>
            <a:r>
              <a:rPr lang="en-US" sz="1400" i="1" dirty="0">
                <a:solidFill>
                  <a:srgbClr val="2E86A1"/>
                </a:solidFill>
                <a:latin typeface="Calibri" pitchFamily="34" charset="0"/>
                <a:ea typeface="Calibri" pitchFamily="34" charset="-122"/>
                <a:cs typeface="Calibri" pitchFamily="34" charset="-120"/>
              </a:rPr>
              <a:t>Cuatro propiedades, cuatro desafios</a:t>
            </a:r>
            <a:endParaRPr lang="en-US" sz="1400" dirty="0"/>
          </a:p>
        </p:txBody>
      </p:sp>
      <p:sp>
        <p:nvSpPr>
          <p:cNvPr id="4" name="Shape 2"/>
          <p:cNvSpPr/>
          <p:nvPr/>
        </p:nvSpPr>
        <p:spPr>
          <a:xfrm>
            <a:off x="548640" y="1188720"/>
            <a:ext cx="11064240" cy="777240"/>
          </a:xfrm>
          <a:prstGeom prst="roundRect">
            <a:avLst>
              <a:gd name="adj" fmla="val 9412"/>
            </a:avLst>
          </a:prstGeom>
          <a:solidFill>
            <a:srgbClr val="EAF1FB"/>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5" name="Text 3"/>
          <p:cNvSpPr/>
          <p:nvPr/>
        </p:nvSpPr>
        <p:spPr>
          <a:xfrm>
            <a:off x="777240" y="1280160"/>
            <a:ext cx="10698480" cy="640080"/>
          </a:xfrm>
          <a:prstGeom prst="rect">
            <a:avLst/>
          </a:prstGeom>
          <a:noFill/>
          <a:ln/>
        </p:spPr>
        <p:txBody>
          <a:bodyPr wrap="square" rtlCol="0" anchor="ctr"/>
          <a:lstStyle/>
          <a:p>
            <a:pPr marL="0" indent="0">
              <a:buNone/>
            </a:pPr>
            <a:r>
              <a:rPr lang="en-US" sz="1300" i="1" dirty="0">
                <a:solidFill>
                  <a:srgbClr val="0E3F7E"/>
                </a:solidFill>
                <a:latin typeface="Calibri" pitchFamily="34" charset="0"/>
                <a:ea typeface="Calibri" pitchFamily="34" charset="-122"/>
                <a:cs typeface="Calibri" pitchFamily="34" charset="-120"/>
              </a:rPr>
              <a:t>Una transaccion distribuida es una unidad logica de trabajo que accede a datos en multiples sitios y debe cumplir las propiedades ACID de forma GLOBAL.</a:t>
            </a:r>
            <a:endParaRPr lang="en-US" sz="1300" dirty="0"/>
          </a:p>
        </p:txBody>
      </p:sp>
      <p:sp>
        <p:nvSpPr>
          <p:cNvPr id="6" name="Shape 4"/>
          <p:cNvSpPr/>
          <p:nvPr/>
        </p:nvSpPr>
        <p:spPr>
          <a:xfrm>
            <a:off x="548640" y="2148840"/>
            <a:ext cx="2651760" cy="4114800"/>
          </a:xfrm>
          <a:prstGeom prst="roundRect">
            <a:avLst>
              <a:gd name="adj" fmla="val 2759"/>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7" name="Shape 5"/>
          <p:cNvSpPr/>
          <p:nvPr/>
        </p:nvSpPr>
        <p:spPr>
          <a:xfrm>
            <a:off x="1417320" y="2331720"/>
            <a:ext cx="914400" cy="914400"/>
          </a:xfrm>
          <a:prstGeom prst="ellipse">
            <a:avLst/>
          </a:prstGeom>
          <a:solidFill>
            <a:srgbClr val="0E3F7E"/>
          </a:solidFill>
          <a:ln/>
        </p:spPr>
        <p:txBody>
          <a:bodyPr/>
          <a:lstStyle/>
          <a:p>
            <a:endParaRPr lang="es-US"/>
          </a:p>
        </p:txBody>
      </p:sp>
      <p:sp>
        <p:nvSpPr>
          <p:cNvPr id="8" name="Text 6"/>
          <p:cNvSpPr/>
          <p:nvPr/>
        </p:nvSpPr>
        <p:spPr>
          <a:xfrm>
            <a:off x="1417320" y="2331720"/>
            <a:ext cx="914400" cy="914400"/>
          </a:xfrm>
          <a:prstGeom prst="rect">
            <a:avLst/>
          </a:prstGeom>
          <a:noFill/>
          <a:ln/>
        </p:spPr>
        <p:txBody>
          <a:bodyPr wrap="square" lIns="0" tIns="0" rIns="0" bIns="0"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A</a:t>
            </a:r>
            <a:endParaRPr lang="en-US" sz="4000" dirty="0"/>
          </a:p>
        </p:txBody>
      </p:sp>
      <p:sp>
        <p:nvSpPr>
          <p:cNvPr id="9" name="Text 7"/>
          <p:cNvSpPr/>
          <p:nvPr/>
        </p:nvSpPr>
        <p:spPr>
          <a:xfrm>
            <a:off x="548640" y="3383280"/>
            <a:ext cx="2651760" cy="411480"/>
          </a:xfrm>
          <a:prstGeom prst="rect">
            <a:avLst/>
          </a:prstGeom>
          <a:noFill/>
          <a:ln/>
        </p:spPr>
        <p:txBody>
          <a:bodyPr wrap="square" lIns="0" tIns="0" rIns="0" bIns="0" rtlCol="0" anchor="ctr"/>
          <a:lstStyle/>
          <a:p>
            <a:pPr marL="0" indent="0" algn="ctr">
              <a:buNone/>
            </a:pPr>
            <a:r>
              <a:rPr lang="en-US" sz="1600" b="1" dirty="0">
                <a:solidFill>
                  <a:srgbClr val="0E3F7E"/>
                </a:solidFill>
                <a:latin typeface="Calibri" pitchFamily="34" charset="0"/>
                <a:ea typeface="Calibri" pitchFamily="34" charset="-122"/>
                <a:cs typeface="Calibri" pitchFamily="34" charset="-120"/>
              </a:rPr>
              <a:t>Atomicidad</a:t>
            </a:r>
            <a:endParaRPr lang="en-US" sz="1600" dirty="0"/>
          </a:p>
        </p:txBody>
      </p:sp>
      <p:sp>
        <p:nvSpPr>
          <p:cNvPr id="10" name="Text 8"/>
          <p:cNvSpPr/>
          <p:nvPr/>
        </p:nvSpPr>
        <p:spPr>
          <a:xfrm>
            <a:off x="731520" y="3840480"/>
            <a:ext cx="2286000" cy="594360"/>
          </a:xfrm>
          <a:prstGeom prst="rect">
            <a:avLst/>
          </a:prstGeom>
          <a:noFill/>
          <a:ln/>
        </p:spPr>
        <p:txBody>
          <a:bodyPr wrap="square"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Todo o nada en todos los sitios</a:t>
            </a:r>
            <a:endParaRPr lang="en-US" sz="1200" dirty="0"/>
          </a:p>
        </p:txBody>
      </p:sp>
      <p:sp>
        <p:nvSpPr>
          <p:cNvPr id="11" name="Text 9"/>
          <p:cNvSpPr/>
          <p:nvPr/>
        </p:nvSpPr>
        <p:spPr>
          <a:xfrm>
            <a:off x="548640" y="4572000"/>
            <a:ext cx="2651760" cy="274320"/>
          </a:xfrm>
          <a:prstGeom prst="rect">
            <a:avLst/>
          </a:prstGeom>
          <a:noFill/>
          <a:ln/>
        </p:spPr>
        <p:txBody>
          <a:bodyPr wrap="square" lIns="0" tIns="0" rIns="0" bIns="0" rtlCol="0" anchor="ctr"/>
          <a:lstStyle/>
          <a:p>
            <a:pPr marL="0" indent="0" algn="ctr">
              <a:buNone/>
            </a:pPr>
            <a:r>
              <a:rPr lang="en-US" sz="1100" b="1" dirty="0">
                <a:solidFill>
                  <a:srgbClr val="C0392B"/>
                </a:solidFill>
                <a:latin typeface="Calibri" pitchFamily="34" charset="0"/>
                <a:ea typeface="Calibri" pitchFamily="34" charset="-122"/>
                <a:cs typeface="Calibri" pitchFamily="34" charset="-120"/>
              </a:rPr>
              <a:t>Desafio distribuido</a:t>
            </a:r>
            <a:endParaRPr lang="en-US" sz="1100" dirty="0"/>
          </a:p>
        </p:txBody>
      </p:sp>
      <p:sp>
        <p:nvSpPr>
          <p:cNvPr id="12" name="Text 10"/>
          <p:cNvSpPr/>
          <p:nvPr/>
        </p:nvSpPr>
        <p:spPr>
          <a:xfrm>
            <a:off x="731520" y="4846320"/>
            <a:ext cx="2286000" cy="1325880"/>
          </a:xfrm>
          <a:prstGeom prst="rect">
            <a:avLst/>
          </a:prstGeom>
          <a:noFill/>
          <a:ln/>
        </p:spPr>
        <p:txBody>
          <a:bodyPr wrap="square" rtlCol="0" anchor="ctr"/>
          <a:lstStyle/>
          <a:p>
            <a:pPr marL="0" indent="0" algn="ctr">
              <a:buNone/>
            </a:pPr>
            <a:r>
              <a:rPr lang="en-US" sz="1100" dirty="0">
                <a:solidFill>
                  <a:srgbClr val="1A1A1A"/>
                </a:solidFill>
                <a:latin typeface="Calibri" pitchFamily="34" charset="0"/>
                <a:ea typeface="Calibri" pitchFamily="34" charset="-122"/>
                <a:cs typeface="Calibri" pitchFamily="34" charset="-120"/>
              </a:rPr>
              <a:t>Requiere protocolo 2PC para coordinar</a:t>
            </a:r>
            <a:endParaRPr lang="en-US" sz="1100" dirty="0"/>
          </a:p>
        </p:txBody>
      </p:sp>
      <p:sp>
        <p:nvSpPr>
          <p:cNvPr id="13" name="Shape 11"/>
          <p:cNvSpPr/>
          <p:nvPr/>
        </p:nvSpPr>
        <p:spPr>
          <a:xfrm>
            <a:off x="3337560" y="2148840"/>
            <a:ext cx="2651760" cy="4114800"/>
          </a:xfrm>
          <a:prstGeom prst="roundRect">
            <a:avLst>
              <a:gd name="adj" fmla="val 2759"/>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14" name="Shape 12"/>
          <p:cNvSpPr/>
          <p:nvPr/>
        </p:nvSpPr>
        <p:spPr>
          <a:xfrm>
            <a:off x="4206240" y="2331720"/>
            <a:ext cx="914400" cy="914400"/>
          </a:xfrm>
          <a:prstGeom prst="ellipse">
            <a:avLst/>
          </a:prstGeom>
          <a:solidFill>
            <a:srgbClr val="2E86A1"/>
          </a:solidFill>
          <a:ln/>
        </p:spPr>
        <p:txBody>
          <a:bodyPr/>
          <a:lstStyle/>
          <a:p>
            <a:endParaRPr lang="es-US"/>
          </a:p>
        </p:txBody>
      </p:sp>
      <p:sp>
        <p:nvSpPr>
          <p:cNvPr id="15" name="Text 13"/>
          <p:cNvSpPr/>
          <p:nvPr/>
        </p:nvSpPr>
        <p:spPr>
          <a:xfrm>
            <a:off x="4206240" y="2331720"/>
            <a:ext cx="914400" cy="914400"/>
          </a:xfrm>
          <a:prstGeom prst="rect">
            <a:avLst/>
          </a:prstGeom>
          <a:noFill/>
          <a:ln/>
        </p:spPr>
        <p:txBody>
          <a:bodyPr wrap="square" lIns="0" tIns="0" rIns="0" bIns="0"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C</a:t>
            </a:r>
            <a:endParaRPr lang="en-US" sz="4000" dirty="0"/>
          </a:p>
        </p:txBody>
      </p:sp>
      <p:sp>
        <p:nvSpPr>
          <p:cNvPr id="16" name="Text 14"/>
          <p:cNvSpPr/>
          <p:nvPr/>
        </p:nvSpPr>
        <p:spPr>
          <a:xfrm>
            <a:off x="3337560" y="3383280"/>
            <a:ext cx="2651760" cy="411480"/>
          </a:xfrm>
          <a:prstGeom prst="rect">
            <a:avLst/>
          </a:prstGeom>
          <a:noFill/>
          <a:ln/>
        </p:spPr>
        <p:txBody>
          <a:bodyPr wrap="square" lIns="0" tIns="0" rIns="0" bIns="0" rtlCol="0" anchor="ctr"/>
          <a:lstStyle/>
          <a:p>
            <a:pPr marL="0" indent="0" algn="ctr">
              <a:buNone/>
            </a:pPr>
            <a:r>
              <a:rPr lang="en-US" sz="1600" b="1" dirty="0">
                <a:solidFill>
                  <a:srgbClr val="2E86A1"/>
                </a:solidFill>
                <a:latin typeface="Calibri" pitchFamily="34" charset="0"/>
                <a:ea typeface="Calibri" pitchFamily="34" charset="-122"/>
                <a:cs typeface="Calibri" pitchFamily="34" charset="-120"/>
              </a:rPr>
              <a:t>Consistencia</a:t>
            </a:r>
            <a:endParaRPr lang="en-US" sz="1600" dirty="0"/>
          </a:p>
        </p:txBody>
      </p:sp>
      <p:sp>
        <p:nvSpPr>
          <p:cNvPr id="17" name="Text 15"/>
          <p:cNvSpPr/>
          <p:nvPr/>
        </p:nvSpPr>
        <p:spPr>
          <a:xfrm>
            <a:off x="3520440" y="3840480"/>
            <a:ext cx="2286000" cy="594360"/>
          </a:xfrm>
          <a:prstGeom prst="rect">
            <a:avLst/>
          </a:prstGeom>
          <a:noFill/>
          <a:ln/>
        </p:spPr>
        <p:txBody>
          <a:bodyPr wrap="square"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Estado valido tras la transaccion</a:t>
            </a:r>
            <a:endParaRPr lang="en-US" sz="1200" dirty="0"/>
          </a:p>
        </p:txBody>
      </p:sp>
      <p:sp>
        <p:nvSpPr>
          <p:cNvPr id="18" name="Text 16"/>
          <p:cNvSpPr/>
          <p:nvPr/>
        </p:nvSpPr>
        <p:spPr>
          <a:xfrm>
            <a:off x="3337560" y="4572000"/>
            <a:ext cx="2651760" cy="274320"/>
          </a:xfrm>
          <a:prstGeom prst="rect">
            <a:avLst/>
          </a:prstGeom>
          <a:noFill/>
          <a:ln/>
        </p:spPr>
        <p:txBody>
          <a:bodyPr wrap="square" lIns="0" tIns="0" rIns="0" bIns="0" rtlCol="0" anchor="ctr"/>
          <a:lstStyle/>
          <a:p>
            <a:pPr marL="0" indent="0" algn="ctr">
              <a:buNone/>
            </a:pPr>
            <a:r>
              <a:rPr lang="en-US" sz="1100" b="1" dirty="0">
                <a:solidFill>
                  <a:srgbClr val="C0392B"/>
                </a:solidFill>
                <a:latin typeface="Calibri" pitchFamily="34" charset="0"/>
                <a:ea typeface="Calibri" pitchFamily="34" charset="-122"/>
                <a:cs typeface="Calibri" pitchFamily="34" charset="-120"/>
              </a:rPr>
              <a:t>Desafio distribuido</a:t>
            </a:r>
            <a:endParaRPr lang="en-US" sz="1100" dirty="0"/>
          </a:p>
        </p:txBody>
      </p:sp>
      <p:sp>
        <p:nvSpPr>
          <p:cNvPr id="19" name="Text 17"/>
          <p:cNvSpPr/>
          <p:nvPr/>
        </p:nvSpPr>
        <p:spPr>
          <a:xfrm>
            <a:off x="3520440" y="4846320"/>
            <a:ext cx="2286000" cy="1325880"/>
          </a:xfrm>
          <a:prstGeom prst="rect">
            <a:avLst/>
          </a:prstGeom>
          <a:noFill/>
          <a:ln/>
        </p:spPr>
        <p:txBody>
          <a:bodyPr wrap="square" rtlCol="0" anchor="ctr"/>
          <a:lstStyle/>
          <a:p>
            <a:pPr marL="0" indent="0" algn="ctr">
              <a:buNone/>
            </a:pPr>
            <a:r>
              <a:rPr lang="en-US" sz="1100" dirty="0">
                <a:solidFill>
                  <a:srgbClr val="1A1A1A"/>
                </a:solidFill>
                <a:latin typeface="Calibri" pitchFamily="34" charset="0"/>
                <a:ea typeface="Calibri" pitchFamily="34" charset="-122"/>
                <a:cs typeface="Calibri" pitchFamily="34" charset="-120"/>
              </a:rPr>
              <a:t>Requiere acuerdo global de validez</a:t>
            </a:r>
            <a:endParaRPr lang="en-US" sz="1100" dirty="0"/>
          </a:p>
        </p:txBody>
      </p:sp>
      <p:sp>
        <p:nvSpPr>
          <p:cNvPr id="20" name="Shape 18"/>
          <p:cNvSpPr/>
          <p:nvPr/>
        </p:nvSpPr>
        <p:spPr>
          <a:xfrm>
            <a:off x="6126480" y="2148840"/>
            <a:ext cx="2651760" cy="4114800"/>
          </a:xfrm>
          <a:prstGeom prst="roundRect">
            <a:avLst>
              <a:gd name="adj" fmla="val 2759"/>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21" name="Shape 19"/>
          <p:cNvSpPr/>
          <p:nvPr/>
        </p:nvSpPr>
        <p:spPr>
          <a:xfrm>
            <a:off x="6995160" y="2331720"/>
            <a:ext cx="914400" cy="914400"/>
          </a:xfrm>
          <a:prstGeom prst="ellipse">
            <a:avLst/>
          </a:prstGeom>
          <a:solidFill>
            <a:srgbClr val="4FAE60"/>
          </a:solidFill>
          <a:ln/>
        </p:spPr>
        <p:txBody>
          <a:bodyPr/>
          <a:lstStyle/>
          <a:p>
            <a:endParaRPr lang="es-US"/>
          </a:p>
        </p:txBody>
      </p:sp>
      <p:sp>
        <p:nvSpPr>
          <p:cNvPr id="22" name="Text 20"/>
          <p:cNvSpPr/>
          <p:nvPr/>
        </p:nvSpPr>
        <p:spPr>
          <a:xfrm>
            <a:off x="6995160" y="2331720"/>
            <a:ext cx="914400" cy="914400"/>
          </a:xfrm>
          <a:prstGeom prst="rect">
            <a:avLst/>
          </a:prstGeom>
          <a:noFill/>
          <a:ln/>
        </p:spPr>
        <p:txBody>
          <a:bodyPr wrap="square" lIns="0" tIns="0" rIns="0" bIns="0"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I</a:t>
            </a:r>
            <a:endParaRPr lang="en-US" sz="4000" dirty="0"/>
          </a:p>
        </p:txBody>
      </p:sp>
      <p:sp>
        <p:nvSpPr>
          <p:cNvPr id="23" name="Text 21"/>
          <p:cNvSpPr/>
          <p:nvPr/>
        </p:nvSpPr>
        <p:spPr>
          <a:xfrm>
            <a:off x="6126480" y="3383280"/>
            <a:ext cx="2651760" cy="411480"/>
          </a:xfrm>
          <a:prstGeom prst="rect">
            <a:avLst/>
          </a:prstGeom>
          <a:noFill/>
          <a:ln/>
        </p:spPr>
        <p:txBody>
          <a:bodyPr wrap="square" lIns="0" tIns="0" rIns="0" bIns="0" rtlCol="0" anchor="ctr"/>
          <a:lstStyle/>
          <a:p>
            <a:pPr marL="0" indent="0" algn="ctr">
              <a:buNone/>
            </a:pPr>
            <a:r>
              <a:rPr lang="en-US" sz="1600" b="1" dirty="0">
                <a:solidFill>
                  <a:srgbClr val="4FAE60"/>
                </a:solidFill>
                <a:latin typeface="Calibri" pitchFamily="34" charset="0"/>
                <a:ea typeface="Calibri" pitchFamily="34" charset="-122"/>
                <a:cs typeface="Calibri" pitchFamily="34" charset="-120"/>
              </a:rPr>
              <a:t>Aislamiento</a:t>
            </a:r>
            <a:endParaRPr lang="en-US" sz="1600" dirty="0"/>
          </a:p>
        </p:txBody>
      </p:sp>
      <p:sp>
        <p:nvSpPr>
          <p:cNvPr id="24" name="Text 22"/>
          <p:cNvSpPr/>
          <p:nvPr/>
        </p:nvSpPr>
        <p:spPr>
          <a:xfrm>
            <a:off x="6309360" y="3840480"/>
            <a:ext cx="2286000" cy="594360"/>
          </a:xfrm>
          <a:prstGeom prst="rect">
            <a:avLst/>
          </a:prstGeom>
          <a:noFill/>
          <a:ln/>
        </p:spPr>
        <p:txBody>
          <a:bodyPr wrap="square"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Sin efectos laterales visibles</a:t>
            </a:r>
            <a:endParaRPr lang="en-US" sz="1200" dirty="0"/>
          </a:p>
        </p:txBody>
      </p:sp>
      <p:sp>
        <p:nvSpPr>
          <p:cNvPr id="25" name="Text 23"/>
          <p:cNvSpPr/>
          <p:nvPr/>
        </p:nvSpPr>
        <p:spPr>
          <a:xfrm>
            <a:off x="6126480" y="4572000"/>
            <a:ext cx="2651760" cy="274320"/>
          </a:xfrm>
          <a:prstGeom prst="rect">
            <a:avLst/>
          </a:prstGeom>
          <a:noFill/>
          <a:ln/>
        </p:spPr>
        <p:txBody>
          <a:bodyPr wrap="square" lIns="0" tIns="0" rIns="0" bIns="0" rtlCol="0" anchor="ctr"/>
          <a:lstStyle/>
          <a:p>
            <a:pPr marL="0" indent="0" algn="ctr">
              <a:buNone/>
            </a:pPr>
            <a:r>
              <a:rPr lang="en-US" sz="1100" b="1" dirty="0">
                <a:solidFill>
                  <a:srgbClr val="C0392B"/>
                </a:solidFill>
                <a:latin typeface="Calibri" pitchFamily="34" charset="0"/>
                <a:ea typeface="Calibri" pitchFamily="34" charset="-122"/>
                <a:cs typeface="Calibri" pitchFamily="34" charset="-120"/>
              </a:rPr>
              <a:t>Desafio distribuido</a:t>
            </a:r>
            <a:endParaRPr lang="en-US" sz="1100" dirty="0"/>
          </a:p>
        </p:txBody>
      </p:sp>
      <p:sp>
        <p:nvSpPr>
          <p:cNvPr id="26" name="Text 24"/>
          <p:cNvSpPr/>
          <p:nvPr/>
        </p:nvSpPr>
        <p:spPr>
          <a:xfrm>
            <a:off x="6309360" y="4846320"/>
            <a:ext cx="2286000" cy="1325880"/>
          </a:xfrm>
          <a:prstGeom prst="rect">
            <a:avLst/>
          </a:prstGeom>
          <a:noFill/>
          <a:ln/>
        </p:spPr>
        <p:txBody>
          <a:bodyPr wrap="square" rtlCol="0" anchor="ctr"/>
          <a:lstStyle/>
          <a:p>
            <a:pPr marL="0" indent="0" algn="ctr">
              <a:buNone/>
            </a:pPr>
            <a:r>
              <a:rPr lang="en-US" sz="1100" dirty="0">
                <a:solidFill>
                  <a:srgbClr val="1A1A1A"/>
                </a:solidFill>
                <a:latin typeface="Calibri" pitchFamily="34" charset="0"/>
                <a:ea typeface="Calibri" pitchFamily="34" charset="-122"/>
                <a:cs typeface="Calibri" pitchFamily="34" charset="-120"/>
              </a:rPr>
              <a:t>Requiere bloqueos distribuidos (2PL) o MVCC</a:t>
            </a:r>
            <a:endParaRPr lang="en-US" sz="1100" dirty="0"/>
          </a:p>
        </p:txBody>
      </p:sp>
      <p:sp>
        <p:nvSpPr>
          <p:cNvPr id="27" name="Shape 25"/>
          <p:cNvSpPr/>
          <p:nvPr/>
        </p:nvSpPr>
        <p:spPr>
          <a:xfrm>
            <a:off x="8915400" y="2148840"/>
            <a:ext cx="2651760" cy="4114800"/>
          </a:xfrm>
          <a:prstGeom prst="roundRect">
            <a:avLst>
              <a:gd name="adj" fmla="val 2759"/>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28" name="Shape 26"/>
          <p:cNvSpPr/>
          <p:nvPr/>
        </p:nvSpPr>
        <p:spPr>
          <a:xfrm>
            <a:off x="9784080" y="2331720"/>
            <a:ext cx="914400" cy="914400"/>
          </a:xfrm>
          <a:prstGeom prst="ellipse">
            <a:avLst/>
          </a:prstGeom>
          <a:solidFill>
            <a:srgbClr val="F2A413"/>
          </a:solidFill>
          <a:ln/>
        </p:spPr>
        <p:txBody>
          <a:bodyPr/>
          <a:lstStyle/>
          <a:p>
            <a:endParaRPr lang="es-US"/>
          </a:p>
        </p:txBody>
      </p:sp>
      <p:sp>
        <p:nvSpPr>
          <p:cNvPr id="29" name="Text 27"/>
          <p:cNvSpPr/>
          <p:nvPr/>
        </p:nvSpPr>
        <p:spPr>
          <a:xfrm>
            <a:off x="9784080" y="2331720"/>
            <a:ext cx="914400" cy="914400"/>
          </a:xfrm>
          <a:prstGeom prst="rect">
            <a:avLst/>
          </a:prstGeom>
          <a:noFill/>
          <a:ln/>
        </p:spPr>
        <p:txBody>
          <a:bodyPr wrap="square" lIns="0" tIns="0" rIns="0" bIns="0"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D</a:t>
            </a:r>
            <a:endParaRPr lang="en-US" sz="4000" dirty="0"/>
          </a:p>
        </p:txBody>
      </p:sp>
      <p:sp>
        <p:nvSpPr>
          <p:cNvPr id="30" name="Text 28"/>
          <p:cNvSpPr/>
          <p:nvPr/>
        </p:nvSpPr>
        <p:spPr>
          <a:xfrm>
            <a:off x="8915400" y="3383280"/>
            <a:ext cx="2651760" cy="411480"/>
          </a:xfrm>
          <a:prstGeom prst="rect">
            <a:avLst/>
          </a:prstGeom>
          <a:noFill/>
          <a:ln/>
        </p:spPr>
        <p:txBody>
          <a:bodyPr wrap="square" lIns="0" tIns="0" rIns="0" bIns="0" rtlCol="0" anchor="ctr"/>
          <a:lstStyle/>
          <a:p>
            <a:pPr marL="0" indent="0" algn="ctr">
              <a:buNone/>
            </a:pPr>
            <a:r>
              <a:rPr lang="en-US" sz="1600" b="1" dirty="0">
                <a:solidFill>
                  <a:srgbClr val="F2A413"/>
                </a:solidFill>
                <a:latin typeface="Calibri" pitchFamily="34" charset="0"/>
                <a:ea typeface="Calibri" pitchFamily="34" charset="-122"/>
                <a:cs typeface="Calibri" pitchFamily="34" charset="-120"/>
              </a:rPr>
              <a:t>Durabilidad</a:t>
            </a:r>
            <a:endParaRPr lang="en-US" sz="1600" dirty="0"/>
          </a:p>
        </p:txBody>
      </p:sp>
      <p:sp>
        <p:nvSpPr>
          <p:cNvPr id="31" name="Text 29"/>
          <p:cNvSpPr/>
          <p:nvPr/>
        </p:nvSpPr>
        <p:spPr>
          <a:xfrm>
            <a:off x="9098280" y="3840480"/>
            <a:ext cx="2286000" cy="594360"/>
          </a:xfrm>
          <a:prstGeom prst="rect">
            <a:avLst/>
          </a:prstGeom>
          <a:noFill/>
          <a:ln/>
        </p:spPr>
        <p:txBody>
          <a:bodyPr wrap="square"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Cambios persisten ante fallos</a:t>
            </a:r>
            <a:endParaRPr lang="en-US" sz="1200" dirty="0"/>
          </a:p>
        </p:txBody>
      </p:sp>
      <p:sp>
        <p:nvSpPr>
          <p:cNvPr id="32" name="Text 30"/>
          <p:cNvSpPr/>
          <p:nvPr/>
        </p:nvSpPr>
        <p:spPr>
          <a:xfrm>
            <a:off x="8915400" y="4572000"/>
            <a:ext cx="2651760" cy="274320"/>
          </a:xfrm>
          <a:prstGeom prst="rect">
            <a:avLst/>
          </a:prstGeom>
          <a:noFill/>
          <a:ln/>
        </p:spPr>
        <p:txBody>
          <a:bodyPr wrap="square" lIns="0" tIns="0" rIns="0" bIns="0" rtlCol="0" anchor="ctr"/>
          <a:lstStyle/>
          <a:p>
            <a:pPr marL="0" indent="0" algn="ctr">
              <a:buNone/>
            </a:pPr>
            <a:r>
              <a:rPr lang="en-US" sz="1100" b="1" dirty="0">
                <a:solidFill>
                  <a:srgbClr val="C0392B"/>
                </a:solidFill>
                <a:latin typeface="Calibri" pitchFamily="34" charset="0"/>
                <a:ea typeface="Calibri" pitchFamily="34" charset="-122"/>
                <a:cs typeface="Calibri" pitchFamily="34" charset="-120"/>
              </a:rPr>
              <a:t>Desafio distribuido</a:t>
            </a:r>
            <a:endParaRPr lang="en-US" sz="1100" dirty="0"/>
          </a:p>
        </p:txBody>
      </p:sp>
      <p:sp>
        <p:nvSpPr>
          <p:cNvPr id="33" name="Text 31"/>
          <p:cNvSpPr/>
          <p:nvPr/>
        </p:nvSpPr>
        <p:spPr>
          <a:xfrm>
            <a:off x="9098280" y="4846320"/>
            <a:ext cx="2286000" cy="1325880"/>
          </a:xfrm>
          <a:prstGeom prst="rect">
            <a:avLst/>
          </a:prstGeom>
          <a:noFill/>
          <a:ln/>
        </p:spPr>
        <p:txBody>
          <a:bodyPr wrap="square" rtlCol="0" anchor="ctr"/>
          <a:lstStyle/>
          <a:p>
            <a:pPr marL="0" indent="0" algn="ctr">
              <a:buNone/>
            </a:pPr>
            <a:r>
              <a:rPr lang="en-US" sz="1100" dirty="0">
                <a:solidFill>
                  <a:srgbClr val="1A1A1A"/>
                </a:solidFill>
                <a:latin typeface="Calibri" pitchFamily="34" charset="0"/>
                <a:ea typeface="Calibri" pitchFamily="34" charset="-122"/>
                <a:cs typeface="Calibri" pitchFamily="34" charset="-120"/>
              </a:rPr>
              <a:t>Requiere WAL en cada nodo participante</a:t>
            </a:r>
            <a:endParaRPr lang="en-US" sz="1100" dirty="0"/>
          </a:p>
        </p:txBody>
      </p:sp>
      <p:sp>
        <p:nvSpPr>
          <p:cNvPr id="34" name="Text 32"/>
          <p:cNvSpPr/>
          <p:nvPr/>
        </p:nvSpPr>
        <p:spPr>
          <a:xfrm>
            <a:off x="457200" y="6492240"/>
            <a:ext cx="8229600" cy="274320"/>
          </a:xfrm>
          <a:prstGeom prst="rect">
            <a:avLst/>
          </a:prstGeom>
          <a:noFill/>
          <a:ln/>
        </p:spPr>
        <p:txBody>
          <a:bodyPr wrap="square" rtlCol="0" anchor="ctr"/>
          <a:lstStyle/>
          <a:p>
            <a:pPr marL="0" indent="0">
              <a:buNone/>
            </a:pPr>
            <a:r>
              <a:rPr lang="en-US" sz="900" dirty="0">
                <a:solidFill>
                  <a:srgbClr val="4A4A4A"/>
                </a:solidFill>
                <a:latin typeface="Calibri" pitchFamily="34" charset="0"/>
                <a:ea typeface="Calibri" pitchFamily="34" charset="-122"/>
                <a:cs typeface="Calibri" pitchFamily="34" charset="-120"/>
              </a:rPr>
              <a:t>UTEQ - Aplicaciones Distribuidas (ISR-701) - Unidad 3</a:t>
            </a:r>
            <a:endParaRPr lang="en-US" sz="900" dirty="0"/>
          </a:p>
        </p:txBody>
      </p:sp>
      <p:sp>
        <p:nvSpPr>
          <p:cNvPr id="35" name="Text 33"/>
          <p:cNvSpPr/>
          <p:nvPr/>
        </p:nvSpPr>
        <p:spPr>
          <a:xfrm>
            <a:off x="10789920" y="6492240"/>
            <a:ext cx="914400" cy="274320"/>
          </a:xfrm>
          <a:prstGeom prst="rect">
            <a:avLst/>
          </a:prstGeom>
          <a:noFill/>
          <a:ln/>
        </p:spPr>
        <p:txBody>
          <a:bodyPr wrap="square"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21 / 42</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marL="0" indent="0">
              <a:buNone/>
            </a:pPr>
            <a:r>
              <a:rPr lang="en-US" sz="2800" b="1" dirty="0">
                <a:solidFill>
                  <a:srgbClr val="0E3F7E"/>
                </a:solidFill>
                <a:latin typeface="Calibri" pitchFamily="34" charset="0"/>
                <a:ea typeface="Calibri" pitchFamily="34" charset="-122"/>
                <a:cs typeface="Calibri" pitchFamily="34" charset="-120"/>
              </a:rPr>
              <a:t>Two-Phase Locking (2PL)</a:t>
            </a:r>
            <a:endParaRPr lang="en-US" sz="2800" dirty="0"/>
          </a:p>
        </p:txBody>
      </p:sp>
      <p:sp>
        <p:nvSpPr>
          <p:cNvPr id="3" name="Text 1"/>
          <p:cNvSpPr/>
          <p:nvPr/>
        </p:nvSpPr>
        <p:spPr>
          <a:xfrm>
            <a:off x="457200" y="777240"/>
            <a:ext cx="11247120" cy="320040"/>
          </a:xfrm>
          <a:prstGeom prst="rect">
            <a:avLst/>
          </a:prstGeom>
          <a:noFill/>
          <a:ln/>
        </p:spPr>
        <p:txBody>
          <a:bodyPr wrap="square" lIns="0" tIns="0" rIns="0" bIns="0" rtlCol="0" anchor="ctr"/>
          <a:lstStyle/>
          <a:p>
            <a:pPr marL="0" indent="0">
              <a:buNone/>
            </a:pPr>
            <a:r>
              <a:rPr lang="en-US" sz="1400" i="1" dirty="0">
                <a:solidFill>
                  <a:srgbClr val="2E86A1"/>
                </a:solidFill>
                <a:latin typeface="Calibri" pitchFamily="34" charset="0"/>
                <a:ea typeface="Calibri" pitchFamily="34" charset="-122"/>
                <a:cs typeface="Calibri" pitchFamily="34" charset="-120"/>
              </a:rPr>
              <a:t>Protocolo de bloqueo en dos fases para serializabilidad</a:t>
            </a:r>
            <a:endParaRPr lang="en-US" sz="1400" dirty="0"/>
          </a:p>
        </p:txBody>
      </p:sp>
      <p:sp>
        <p:nvSpPr>
          <p:cNvPr id="4" name="Shape 2"/>
          <p:cNvSpPr/>
          <p:nvPr/>
        </p:nvSpPr>
        <p:spPr>
          <a:xfrm>
            <a:off x="548640" y="1280160"/>
            <a:ext cx="5486400" cy="5120640"/>
          </a:xfrm>
          <a:prstGeom prst="roundRect">
            <a:avLst>
              <a:gd name="adj" fmla="val 1429"/>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5" name="Text 3"/>
          <p:cNvSpPr/>
          <p:nvPr/>
        </p:nvSpPr>
        <p:spPr>
          <a:xfrm>
            <a:off x="777240" y="1417320"/>
            <a:ext cx="5029200" cy="365760"/>
          </a:xfrm>
          <a:prstGeom prst="rect">
            <a:avLst/>
          </a:prstGeom>
          <a:noFill/>
          <a:ln/>
        </p:spPr>
        <p:txBody>
          <a:bodyPr wrap="square" lIns="0" tIns="0" rIns="0" bIns="0" rtlCol="0" anchor="ctr"/>
          <a:lstStyle/>
          <a:p>
            <a:pPr marL="0" indent="0">
              <a:buNone/>
            </a:pPr>
            <a:r>
              <a:rPr lang="en-US" sz="1500" b="1" dirty="0">
                <a:solidFill>
                  <a:srgbClr val="0E3F7E"/>
                </a:solidFill>
                <a:latin typeface="Calibri" pitchFamily="34" charset="0"/>
                <a:ea typeface="Calibri" pitchFamily="34" charset="-122"/>
                <a:cs typeface="Calibri" pitchFamily="34" charset="-120"/>
              </a:rPr>
              <a:t>Definicion</a:t>
            </a:r>
            <a:endParaRPr lang="en-US" sz="1500" dirty="0"/>
          </a:p>
        </p:txBody>
      </p:sp>
      <p:sp>
        <p:nvSpPr>
          <p:cNvPr id="6" name="Text 4"/>
          <p:cNvSpPr/>
          <p:nvPr/>
        </p:nvSpPr>
        <p:spPr>
          <a:xfrm>
            <a:off x="777240" y="1783080"/>
            <a:ext cx="5029200" cy="77724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Protocolo clasico para garantizar la SERIALIZABILIDAD de transacciones concurrentes. Cada transaccion atraviesa dos fases.</a:t>
            </a:r>
            <a:endParaRPr lang="en-US" sz="1200" dirty="0"/>
          </a:p>
        </p:txBody>
      </p:sp>
      <p:sp>
        <p:nvSpPr>
          <p:cNvPr id="7" name="Shape 5"/>
          <p:cNvSpPr/>
          <p:nvPr/>
        </p:nvSpPr>
        <p:spPr>
          <a:xfrm>
            <a:off x="777240" y="2651760"/>
            <a:ext cx="5029200" cy="1371600"/>
          </a:xfrm>
          <a:prstGeom prst="roundRect">
            <a:avLst>
              <a:gd name="adj" fmla="val 5333"/>
            </a:avLst>
          </a:prstGeom>
          <a:solidFill>
            <a:srgbClr val="EAF1FB"/>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8" name="Text 6"/>
          <p:cNvSpPr/>
          <p:nvPr/>
        </p:nvSpPr>
        <p:spPr>
          <a:xfrm>
            <a:off x="914400" y="2743200"/>
            <a:ext cx="4754880" cy="320040"/>
          </a:xfrm>
          <a:prstGeom prst="rect">
            <a:avLst/>
          </a:prstGeom>
          <a:noFill/>
          <a:ln/>
        </p:spPr>
        <p:txBody>
          <a:bodyPr wrap="square" lIns="0" tIns="0" rIns="0" bIns="0" rtlCol="0" anchor="ctr"/>
          <a:lstStyle/>
          <a:p>
            <a:pPr marL="0" indent="0">
              <a:buNone/>
            </a:pPr>
            <a:r>
              <a:rPr lang="en-US" sz="1300" b="1" dirty="0">
                <a:solidFill>
                  <a:srgbClr val="4FAE60"/>
                </a:solidFill>
                <a:latin typeface="Calibri" pitchFamily="34" charset="0"/>
                <a:ea typeface="Calibri" pitchFamily="34" charset="-122"/>
                <a:cs typeface="Calibri" pitchFamily="34" charset="-120"/>
              </a:rPr>
              <a:t>Fase 1: Crecimiento</a:t>
            </a:r>
            <a:endParaRPr lang="en-US" sz="1300" dirty="0"/>
          </a:p>
        </p:txBody>
      </p:sp>
      <p:sp>
        <p:nvSpPr>
          <p:cNvPr id="9" name="Text 7"/>
          <p:cNvSpPr/>
          <p:nvPr/>
        </p:nvSpPr>
        <p:spPr>
          <a:xfrm>
            <a:off x="914400" y="3063240"/>
            <a:ext cx="4754880" cy="86868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La transaccion SOLO puede adquirir bloqueos. No puede liberar ninguno todavia.</a:t>
            </a:r>
            <a:endParaRPr lang="en-US" sz="1200" dirty="0"/>
          </a:p>
        </p:txBody>
      </p:sp>
      <p:sp>
        <p:nvSpPr>
          <p:cNvPr id="10" name="Shape 8"/>
          <p:cNvSpPr/>
          <p:nvPr/>
        </p:nvSpPr>
        <p:spPr>
          <a:xfrm>
            <a:off x="777240" y="4114800"/>
            <a:ext cx="5029200" cy="1371600"/>
          </a:xfrm>
          <a:prstGeom prst="roundRect">
            <a:avLst>
              <a:gd name="adj" fmla="val 5333"/>
            </a:avLst>
          </a:prstGeom>
          <a:solidFill>
            <a:srgbClr val="EAF1FB"/>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11" name="Text 9"/>
          <p:cNvSpPr/>
          <p:nvPr/>
        </p:nvSpPr>
        <p:spPr>
          <a:xfrm>
            <a:off x="914400" y="4206240"/>
            <a:ext cx="4754880" cy="320040"/>
          </a:xfrm>
          <a:prstGeom prst="rect">
            <a:avLst/>
          </a:prstGeom>
          <a:noFill/>
          <a:ln/>
        </p:spPr>
        <p:txBody>
          <a:bodyPr wrap="square" lIns="0" tIns="0" rIns="0" bIns="0" rtlCol="0" anchor="ctr"/>
          <a:lstStyle/>
          <a:p>
            <a:pPr marL="0" indent="0">
              <a:buNone/>
            </a:pPr>
            <a:r>
              <a:rPr lang="en-US" sz="1300" b="1" dirty="0">
                <a:solidFill>
                  <a:srgbClr val="F2A413"/>
                </a:solidFill>
                <a:latin typeface="Calibri" pitchFamily="34" charset="0"/>
                <a:ea typeface="Calibri" pitchFamily="34" charset="-122"/>
                <a:cs typeface="Calibri" pitchFamily="34" charset="-120"/>
              </a:rPr>
              <a:t>Fase 2: Decrecimiento</a:t>
            </a:r>
            <a:endParaRPr lang="en-US" sz="1300" dirty="0"/>
          </a:p>
        </p:txBody>
      </p:sp>
      <p:sp>
        <p:nvSpPr>
          <p:cNvPr id="12" name="Text 10"/>
          <p:cNvSpPr/>
          <p:nvPr/>
        </p:nvSpPr>
        <p:spPr>
          <a:xfrm>
            <a:off x="914400" y="4526280"/>
            <a:ext cx="4754880" cy="86868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Tras liberar el primer bloqueo, NO puede adquirir mas. Solo libera los que ya posee.</a:t>
            </a:r>
            <a:endParaRPr lang="en-US" sz="1200" dirty="0"/>
          </a:p>
        </p:txBody>
      </p:sp>
      <p:sp>
        <p:nvSpPr>
          <p:cNvPr id="13" name="Text 11"/>
          <p:cNvSpPr/>
          <p:nvPr/>
        </p:nvSpPr>
        <p:spPr>
          <a:xfrm>
            <a:off x="777240" y="5623560"/>
            <a:ext cx="5029200" cy="731520"/>
          </a:xfrm>
          <a:prstGeom prst="rect">
            <a:avLst/>
          </a:prstGeom>
          <a:noFill/>
          <a:ln/>
        </p:spPr>
        <p:txBody>
          <a:bodyPr wrap="square" rtlCol="0" anchor="ctr"/>
          <a:lstStyle/>
          <a:p>
            <a:pPr marL="0" indent="0">
              <a:buNone/>
            </a:pPr>
            <a:r>
              <a:rPr lang="en-US" sz="1100" i="1" dirty="0">
                <a:solidFill>
                  <a:srgbClr val="2E86A1"/>
                </a:solidFill>
                <a:latin typeface="Calibri" pitchFamily="34" charset="0"/>
                <a:ea typeface="Calibri" pitchFamily="34" charset="-122"/>
                <a:cs typeface="Calibri" pitchFamily="34" charset="-120"/>
              </a:rPr>
              <a:t>Variante 2PL Estricto: mantiene todos los bloqueos hasta COMMIT o ROLLBACK. Evita lecturas sucias.</a:t>
            </a:r>
            <a:endParaRPr lang="en-US" sz="1100" dirty="0"/>
          </a:p>
        </p:txBody>
      </p:sp>
      <p:sp>
        <p:nvSpPr>
          <p:cNvPr id="14" name="Shape 12"/>
          <p:cNvSpPr/>
          <p:nvPr/>
        </p:nvSpPr>
        <p:spPr>
          <a:xfrm>
            <a:off x="6172200" y="1280160"/>
            <a:ext cx="5486400" cy="5120640"/>
          </a:xfrm>
          <a:prstGeom prst="roundRect">
            <a:avLst>
              <a:gd name="adj" fmla="val 1429"/>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15" name="Text 13"/>
          <p:cNvSpPr/>
          <p:nvPr/>
        </p:nvSpPr>
        <p:spPr>
          <a:xfrm>
            <a:off x="6400800" y="1417320"/>
            <a:ext cx="5029200" cy="365760"/>
          </a:xfrm>
          <a:prstGeom prst="rect">
            <a:avLst/>
          </a:prstGeom>
          <a:noFill/>
          <a:ln/>
        </p:spPr>
        <p:txBody>
          <a:bodyPr wrap="square" lIns="0" tIns="0" rIns="0" bIns="0" rtlCol="0" anchor="ctr"/>
          <a:lstStyle/>
          <a:p>
            <a:pPr marL="0" indent="0">
              <a:buNone/>
            </a:pPr>
            <a:r>
              <a:rPr lang="en-US" sz="1500" b="1" dirty="0">
                <a:solidFill>
                  <a:srgbClr val="0E3F7E"/>
                </a:solidFill>
                <a:latin typeface="Calibri" pitchFamily="34" charset="0"/>
                <a:ea typeface="Calibri" pitchFamily="34" charset="-122"/>
                <a:cs typeface="Calibri" pitchFamily="34" charset="-120"/>
              </a:rPr>
              <a:t>Tipos de bloqueos</a:t>
            </a:r>
            <a:endParaRPr lang="en-US" sz="1500" dirty="0"/>
          </a:p>
        </p:txBody>
      </p:sp>
      <p:sp>
        <p:nvSpPr>
          <p:cNvPr id="16" name="Shape 14"/>
          <p:cNvSpPr/>
          <p:nvPr/>
        </p:nvSpPr>
        <p:spPr>
          <a:xfrm>
            <a:off x="6400800" y="1828800"/>
            <a:ext cx="5029200" cy="822960"/>
          </a:xfrm>
          <a:prstGeom prst="roundRect">
            <a:avLst>
              <a:gd name="adj" fmla="val 8889"/>
            </a:avLst>
          </a:prstGeom>
          <a:solidFill>
            <a:srgbClr val="EAF1FB"/>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17" name="Text 15"/>
          <p:cNvSpPr/>
          <p:nvPr/>
        </p:nvSpPr>
        <p:spPr>
          <a:xfrm>
            <a:off x="6537960" y="1874520"/>
            <a:ext cx="2286000" cy="274320"/>
          </a:xfrm>
          <a:prstGeom prst="rect">
            <a:avLst/>
          </a:prstGeom>
          <a:noFill/>
          <a:ln/>
        </p:spPr>
        <p:txBody>
          <a:bodyPr wrap="square" lIns="0" tIns="0" rIns="0" bIns="0" rtlCol="0" anchor="ctr"/>
          <a:lstStyle/>
          <a:p>
            <a:pPr marL="0" indent="0">
              <a:buNone/>
            </a:pPr>
            <a:r>
              <a:rPr lang="en-US" sz="1200" b="1" dirty="0">
                <a:solidFill>
                  <a:srgbClr val="0E3F7E"/>
                </a:solidFill>
                <a:latin typeface="Calibri" pitchFamily="34" charset="0"/>
                <a:ea typeface="Calibri" pitchFamily="34" charset="-122"/>
                <a:cs typeface="Calibri" pitchFamily="34" charset="-120"/>
              </a:rPr>
              <a:t>S (Compartido)</a:t>
            </a:r>
            <a:endParaRPr lang="en-US" sz="1200" dirty="0"/>
          </a:p>
        </p:txBody>
      </p:sp>
      <p:sp>
        <p:nvSpPr>
          <p:cNvPr id="18" name="Text 16"/>
          <p:cNvSpPr/>
          <p:nvPr/>
        </p:nvSpPr>
        <p:spPr>
          <a:xfrm>
            <a:off x="6537960" y="2194560"/>
            <a:ext cx="2286000" cy="365760"/>
          </a:xfrm>
          <a:prstGeom prst="rect">
            <a:avLst/>
          </a:prstGeom>
          <a:noFill/>
          <a:ln/>
        </p:spPr>
        <p:txBody>
          <a:bodyPr wrap="square" rtlCol="0" anchor="ctr"/>
          <a:lstStyle/>
          <a:p>
            <a:pPr marL="0" indent="0">
              <a:buNone/>
            </a:pPr>
            <a:r>
              <a:rPr lang="en-US" sz="1000" dirty="0">
                <a:solidFill>
                  <a:srgbClr val="1A1A1A"/>
                </a:solidFill>
                <a:latin typeface="Calibri" pitchFamily="34" charset="0"/>
                <a:ea typeface="Calibri" pitchFamily="34" charset="-122"/>
                <a:cs typeface="Calibri" pitchFamily="34" charset="-120"/>
              </a:rPr>
              <a:t>Uso: Lectura</a:t>
            </a:r>
            <a:endParaRPr lang="en-US" sz="1000" dirty="0"/>
          </a:p>
        </p:txBody>
      </p:sp>
      <p:sp>
        <p:nvSpPr>
          <p:cNvPr id="19" name="Text 17"/>
          <p:cNvSpPr/>
          <p:nvPr/>
        </p:nvSpPr>
        <p:spPr>
          <a:xfrm>
            <a:off x="8823960" y="1874520"/>
            <a:ext cx="2606040" cy="731520"/>
          </a:xfrm>
          <a:prstGeom prst="rect">
            <a:avLst/>
          </a:prstGeom>
          <a:noFill/>
          <a:ln/>
        </p:spPr>
        <p:txBody>
          <a:bodyPr wrap="square" rtlCol="0" anchor="ctr"/>
          <a:lstStyle/>
          <a:p>
            <a:pPr marL="0" indent="0">
              <a:buNone/>
            </a:pPr>
            <a:r>
              <a:rPr lang="en-US" sz="1000" i="1" dirty="0">
                <a:solidFill>
                  <a:srgbClr val="4A4A4A"/>
                </a:solidFill>
                <a:latin typeface="Calibri" pitchFamily="34" charset="0"/>
                <a:ea typeface="Calibri" pitchFamily="34" charset="-122"/>
                <a:cs typeface="Calibri" pitchFamily="34" charset="-120"/>
              </a:rPr>
              <a:t>Compat: Si con S, No con X</a:t>
            </a:r>
            <a:endParaRPr lang="en-US" sz="1000" dirty="0"/>
          </a:p>
        </p:txBody>
      </p:sp>
      <p:sp>
        <p:nvSpPr>
          <p:cNvPr id="20" name="Shape 18"/>
          <p:cNvSpPr/>
          <p:nvPr/>
        </p:nvSpPr>
        <p:spPr>
          <a:xfrm>
            <a:off x="6400800" y="2743200"/>
            <a:ext cx="5029200" cy="822960"/>
          </a:xfrm>
          <a:prstGeom prst="roundRect">
            <a:avLst>
              <a:gd name="adj" fmla="val 8889"/>
            </a:avLst>
          </a:prstGeom>
          <a:solidFill>
            <a:srgbClr val="EAF1FB"/>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21" name="Text 19"/>
          <p:cNvSpPr/>
          <p:nvPr/>
        </p:nvSpPr>
        <p:spPr>
          <a:xfrm>
            <a:off x="6537960" y="2788920"/>
            <a:ext cx="2286000" cy="274320"/>
          </a:xfrm>
          <a:prstGeom prst="rect">
            <a:avLst/>
          </a:prstGeom>
          <a:noFill/>
          <a:ln/>
        </p:spPr>
        <p:txBody>
          <a:bodyPr wrap="square" lIns="0" tIns="0" rIns="0" bIns="0" rtlCol="0" anchor="ctr"/>
          <a:lstStyle/>
          <a:p>
            <a:pPr marL="0" indent="0">
              <a:buNone/>
            </a:pPr>
            <a:r>
              <a:rPr lang="en-US" sz="1200" b="1" dirty="0">
                <a:solidFill>
                  <a:srgbClr val="0E3F7E"/>
                </a:solidFill>
                <a:latin typeface="Calibri" pitchFamily="34" charset="0"/>
                <a:ea typeface="Calibri" pitchFamily="34" charset="-122"/>
                <a:cs typeface="Calibri" pitchFamily="34" charset="-120"/>
              </a:rPr>
              <a:t>X (Exclusivo)</a:t>
            </a:r>
            <a:endParaRPr lang="en-US" sz="1200" dirty="0"/>
          </a:p>
        </p:txBody>
      </p:sp>
      <p:sp>
        <p:nvSpPr>
          <p:cNvPr id="22" name="Text 20"/>
          <p:cNvSpPr/>
          <p:nvPr/>
        </p:nvSpPr>
        <p:spPr>
          <a:xfrm>
            <a:off x="6537960" y="3108960"/>
            <a:ext cx="2286000" cy="365760"/>
          </a:xfrm>
          <a:prstGeom prst="rect">
            <a:avLst/>
          </a:prstGeom>
          <a:noFill/>
          <a:ln/>
        </p:spPr>
        <p:txBody>
          <a:bodyPr wrap="square" rtlCol="0" anchor="ctr"/>
          <a:lstStyle/>
          <a:p>
            <a:pPr marL="0" indent="0">
              <a:buNone/>
            </a:pPr>
            <a:r>
              <a:rPr lang="en-US" sz="1000" dirty="0">
                <a:solidFill>
                  <a:srgbClr val="1A1A1A"/>
                </a:solidFill>
                <a:latin typeface="Calibri" pitchFamily="34" charset="0"/>
                <a:ea typeface="Calibri" pitchFamily="34" charset="-122"/>
                <a:cs typeface="Calibri" pitchFamily="34" charset="-120"/>
              </a:rPr>
              <a:t>Uso: Escritura</a:t>
            </a:r>
            <a:endParaRPr lang="en-US" sz="1000" dirty="0"/>
          </a:p>
        </p:txBody>
      </p:sp>
      <p:sp>
        <p:nvSpPr>
          <p:cNvPr id="23" name="Text 21"/>
          <p:cNvSpPr/>
          <p:nvPr/>
        </p:nvSpPr>
        <p:spPr>
          <a:xfrm>
            <a:off x="8823960" y="2788920"/>
            <a:ext cx="2606040" cy="731520"/>
          </a:xfrm>
          <a:prstGeom prst="rect">
            <a:avLst/>
          </a:prstGeom>
          <a:noFill/>
          <a:ln/>
        </p:spPr>
        <p:txBody>
          <a:bodyPr wrap="square" rtlCol="0" anchor="ctr"/>
          <a:lstStyle/>
          <a:p>
            <a:pPr marL="0" indent="0">
              <a:buNone/>
            </a:pPr>
            <a:r>
              <a:rPr lang="en-US" sz="1000" i="1" dirty="0">
                <a:solidFill>
                  <a:srgbClr val="4A4A4A"/>
                </a:solidFill>
                <a:latin typeface="Calibri" pitchFamily="34" charset="0"/>
                <a:ea typeface="Calibri" pitchFamily="34" charset="-122"/>
                <a:cs typeface="Calibri" pitchFamily="34" charset="-120"/>
              </a:rPr>
              <a:t>Compat: No con nada</a:t>
            </a:r>
            <a:endParaRPr lang="en-US" sz="1000" dirty="0"/>
          </a:p>
        </p:txBody>
      </p:sp>
      <p:sp>
        <p:nvSpPr>
          <p:cNvPr id="24" name="Shape 22"/>
          <p:cNvSpPr/>
          <p:nvPr/>
        </p:nvSpPr>
        <p:spPr>
          <a:xfrm>
            <a:off x="6400800" y="3657600"/>
            <a:ext cx="5029200" cy="822960"/>
          </a:xfrm>
          <a:prstGeom prst="roundRect">
            <a:avLst>
              <a:gd name="adj" fmla="val 8889"/>
            </a:avLst>
          </a:prstGeom>
          <a:solidFill>
            <a:srgbClr val="EAF1FB"/>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25" name="Text 23"/>
          <p:cNvSpPr/>
          <p:nvPr/>
        </p:nvSpPr>
        <p:spPr>
          <a:xfrm>
            <a:off x="6537960" y="3703320"/>
            <a:ext cx="2286000" cy="274320"/>
          </a:xfrm>
          <a:prstGeom prst="rect">
            <a:avLst/>
          </a:prstGeom>
          <a:noFill/>
          <a:ln/>
        </p:spPr>
        <p:txBody>
          <a:bodyPr wrap="square" lIns="0" tIns="0" rIns="0" bIns="0" rtlCol="0" anchor="ctr"/>
          <a:lstStyle/>
          <a:p>
            <a:pPr marL="0" indent="0">
              <a:buNone/>
            </a:pPr>
            <a:r>
              <a:rPr lang="en-US" sz="1200" b="1" dirty="0">
                <a:solidFill>
                  <a:srgbClr val="0E3F7E"/>
                </a:solidFill>
                <a:latin typeface="Calibri" pitchFamily="34" charset="0"/>
                <a:ea typeface="Calibri" pitchFamily="34" charset="-122"/>
                <a:cs typeface="Calibri" pitchFamily="34" charset="-120"/>
              </a:rPr>
              <a:t>U (Update)</a:t>
            </a:r>
            <a:endParaRPr lang="en-US" sz="1200" dirty="0"/>
          </a:p>
        </p:txBody>
      </p:sp>
      <p:sp>
        <p:nvSpPr>
          <p:cNvPr id="26" name="Text 24"/>
          <p:cNvSpPr/>
          <p:nvPr/>
        </p:nvSpPr>
        <p:spPr>
          <a:xfrm>
            <a:off x="6537960" y="4023360"/>
            <a:ext cx="2286000" cy="365760"/>
          </a:xfrm>
          <a:prstGeom prst="rect">
            <a:avLst/>
          </a:prstGeom>
          <a:noFill/>
          <a:ln/>
        </p:spPr>
        <p:txBody>
          <a:bodyPr wrap="square" rtlCol="0" anchor="ctr"/>
          <a:lstStyle/>
          <a:p>
            <a:pPr marL="0" indent="0">
              <a:buNone/>
            </a:pPr>
            <a:r>
              <a:rPr lang="en-US" sz="1000" dirty="0">
                <a:solidFill>
                  <a:srgbClr val="1A1A1A"/>
                </a:solidFill>
                <a:latin typeface="Calibri" pitchFamily="34" charset="0"/>
                <a:ea typeface="Calibri" pitchFamily="34" charset="-122"/>
                <a:cs typeface="Calibri" pitchFamily="34" charset="-120"/>
              </a:rPr>
              <a:t>Uso: Previo a X</a:t>
            </a:r>
            <a:endParaRPr lang="en-US" sz="1000" dirty="0"/>
          </a:p>
        </p:txBody>
      </p:sp>
      <p:sp>
        <p:nvSpPr>
          <p:cNvPr id="27" name="Text 25"/>
          <p:cNvSpPr/>
          <p:nvPr/>
        </p:nvSpPr>
        <p:spPr>
          <a:xfrm>
            <a:off x="8823960" y="3703320"/>
            <a:ext cx="2606040" cy="731520"/>
          </a:xfrm>
          <a:prstGeom prst="rect">
            <a:avLst/>
          </a:prstGeom>
          <a:noFill/>
          <a:ln/>
        </p:spPr>
        <p:txBody>
          <a:bodyPr wrap="square" rtlCol="0" anchor="ctr"/>
          <a:lstStyle/>
          <a:p>
            <a:pPr marL="0" indent="0">
              <a:buNone/>
            </a:pPr>
            <a:r>
              <a:rPr lang="en-US" sz="1000" i="1" dirty="0">
                <a:solidFill>
                  <a:srgbClr val="4A4A4A"/>
                </a:solidFill>
                <a:latin typeface="Calibri" pitchFamily="34" charset="0"/>
                <a:ea typeface="Calibri" pitchFamily="34" charset="-122"/>
                <a:cs typeface="Calibri" pitchFamily="34" charset="-120"/>
              </a:rPr>
              <a:t>Compat: Si con S, No con X</a:t>
            </a:r>
            <a:endParaRPr lang="en-US" sz="1000" dirty="0"/>
          </a:p>
        </p:txBody>
      </p:sp>
      <p:sp>
        <p:nvSpPr>
          <p:cNvPr id="28" name="Shape 26"/>
          <p:cNvSpPr/>
          <p:nvPr/>
        </p:nvSpPr>
        <p:spPr>
          <a:xfrm>
            <a:off x="6400800" y="4572000"/>
            <a:ext cx="5029200" cy="822960"/>
          </a:xfrm>
          <a:prstGeom prst="roundRect">
            <a:avLst>
              <a:gd name="adj" fmla="val 8889"/>
            </a:avLst>
          </a:prstGeom>
          <a:solidFill>
            <a:srgbClr val="EAF1FB"/>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29" name="Text 27"/>
          <p:cNvSpPr/>
          <p:nvPr/>
        </p:nvSpPr>
        <p:spPr>
          <a:xfrm>
            <a:off x="6537960" y="4617720"/>
            <a:ext cx="2286000" cy="274320"/>
          </a:xfrm>
          <a:prstGeom prst="rect">
            <a:avLst/>
          </a:prstGeom>
          <a:noFill/>
          <a:ln/>
        </p:spPr>
        <p:txBody>
          <a:bodyPr wrap="square" lIns="0" tIns="0" rIns="0" bIns="0" rtlCol="0" anchor="ctr"/>
          <a:lstStyle/>
          <a:p>
            <a:pPr marL="0" indent="0">
              <a:buNone/>
            </a:pPr>
            <a:r>
              <a:rPr lang="en-US" sz="1200" b="1" dirty="0">
                <a:solidFill>
                  <a:srgbClr val="0E3F7E"/>
                </a:solidFill>
                <a:latin typeface="Calibri" pitchFamily="34" charset="0"/>
                <a:ea typeface="Calibri" pitchFamily="34" charset="-122"/>
                <a:cs typeface="Calibri" pitchFamily="34" charset="-120"/>
              </a:rPr>
              <a:t>IS / IX (Intencion)</a:t>
            </a:r>
            <a:endParaRPr lang="en-US" sz="1200" dirty="0"/>
          </a:p>
        </p:txBody>
      </p:sp>
      <p:sp>
        <p:nvSpPr>
          <p:cNvPr id="30" name="Text 28"/>
          <p:cNvSpPr/>
          <p:nvPr/>
        </p:nvSpPr>
        <p:spPr>
          <a:xfrm>
            <a:off x="6537960" y="4937760"/>
            <a:ext cx="2286000" cy="365760"/>
          </a:xfrm>
          <a:prstGeom prst="rect">
            <a:avLst/>
          </a:prstGeom>
          <a:noFill/>
          <a:ln/>
        </p:spPr>
        <p:txBody>
          <a:bodyPr wrap="square" rtlCol="0" anchor="ctr"/>
          <a:lstStyle/>
          <a:p>
            <a:pPr marL="0" indent="0">
              <a:buNone/>
            </a:pPr>
            <a:r>
              <a:rPr lang="en-US" sz="1000" dirty="0">
                <a:solidFill>
                  <a:srgbClr val="1A1A1A"/>
                </a:solidFill>
                <a:latin typeface="Calibri" pitchFamily="34" charset="0"/>
                <a:ea typeface="Calibri" pitchFamily="34" charset="-122"/>
                <a:cs typeface="Calibri" pitchFamily="34" charset="-120"/>
              </a:rPr>
              <a:t>Uso: Jerarquias</a:t>
            </a:r>
            <a:endParaRPr lang="en-US" sz="1000" dirty="0"/>
          </a:p>
        </p:txBody>
      </p:sp>
      <p:sp>
        <p:nvSpPr>
          <p:cNvPr id="31" name="Text 29"/>
          <p:cNvSpPr/>
          <p:nvPr/>
        </p:nvSpPr>
        <p:spPr>
          <a:xfrm>
            <a:off x="8823960" y="4617720"/>
            <a:ext cx="2606040" cy="731520"/>
          </a:xfrm>
          <a:prstGeom prst="rect">
            <a:avLst/>
          </a:prstGeom>
          <a:noFill/>
          <a:ln/>
        </p:spPr>
        <p:txBody>
          <a:bodyPr wrap="square" rtlCol="0" anchor="ctr"/>
          <a:lstStyle/>
          <a:p>
            <a:pPr marL="0" indent="0">
              <a:buNone/>
            </a:pPr>
            <a:r>
              <a:rPr lang="en-US" sz="1000" i="1" dirty="0">
                <a:solidFill>
                  <a:srgbClr val="4A4A4A"/>
                </a:solidFill>
                <a:latin typeface="Calibri" pitchFamily="34" charset="0"/>
                <a:ea typeface="Calibri" pitchFamily="34" charset="-122"/>
                <a:cs typeface="Calibri" pitchFamily="34" charset="-120"/>
              </a:rPr>
              <a:t>Compat: Para anidados</a:t>
            </a:r>
            <a:endParaRPr lang="en-US" sz="1000" dirty="0"/>
          </a:p>
        </p:txBody>
      </p:sp>
      <p:sp>
        <p:nvSpPr>
          <p:cNvPr id="32" name="Text 30"/>
          <p:cNvSpPr/>
          <p:nvPr/>
        </p:nvSpPr>
        <p:spPr>
          <a:xfrm>
            <a:off x="6400800" y="5852160"/>
            <a:ext cx="5029200" cy="365760"/>
          </a:xfrm>
          <a:prstGeom prst="rect">
            <a:avLst/>
          </a:prstGeom>
          <a:noFill/>
          <a:ln/>
        </p:spPr>
        <p:txBody>
          <a:bodyPr wrap="square" rtlCol="0" anchor="ctr"/>
          <a:lstStyle/>
          <a:p>
            <a:pPr marL="0" indent="0">
              <a:buNone/>
            </a:pPr>
            <a:r>
              <a:rPr lang="en-US" sz="1100" i="1" dirty="0">
                <a:solidFill>
                  <a:srgbClr val="2E86A1"/>
                </a:solidFill>
                <a:latin typeface="Calibri" pitchFamily="34" charset="0"/>
                <a:ea typeface="Calibri" pitchFamily="34" charset="-122"/>
                <a:cs typeface="Calibri" pitchFamily="34" charset="-120"/>
              </a:rPr>
              <a:t>En BDD: gestor centralizado o distribuido con coordinacion de deadlocks.</a:t>
            </a:r>
            <a:endParaRPr lang="en-US" sz="1100" dirty="0"/>
          </a:p>
        </p:txBody>
      </p:sp>
      <p:sp>
        <p:nvSpPr>
          <p:cNvPr id="33" name="Text 31"/>
          <p:cNvSpPr/>
          <p:nvPr/>
        </p:nvSpPr>
        <p:spPr>
          <a:xfrm>
            <a:off x="457200" y="6492240"/>
            <a:ext cx="8229600" cy="274320"/>
          </a:xfrm>
          <a:prstGeom prst="rect">
            <a:avLst/>
          </a:prstGeom>
          <a:noFill/>
          <a:ln/>
        </p:spPr>
        <p:txBody>
          <a:bodyPr wrap="square" rtlCol="0" anchor="ctr"/>
          <a:lstStyle/>
          <a:p>
            <a:pPr marL="0" indent="0">
              <a:buNone/>
            </a:pPr>
            <a:r>
              <a:rPr lang="en-US" sz="900" dirty="0">
                <a:solidFill>
                  <a:srgbClr val="4A4A4A"/>
                </a:solidFill>
                <a:latin typeface="Calibri" pitchFamily="34" charset="0"/>
                <a:ea typeface="Calibri" pitchFamily="34" charset="-122"/>
                <a:cs typeface="Calibri" pitchFamily="34" charset="-120"/>
              </a:rPr>
              <a:t>UTEQ - Aplicaciones Distribuidas (ISR-701) - Unidad 3</a:t>
            </a:r>
            <a:endParaRPr lang="en-US" sz="900" dirty="0"/>
          </a:p>
        </p:txBody>
      </p:sp>
      <p:sp>
        <p:nvSpPr>
          <p:cNvPr id="34" name="Text 32"/>
          <p:cNvSpPr/>
          <p:nvPr/>
        </p:nvSpPr>
        <p:spPr>
          <a:xfrm>
            <a:off x="10789920" y="6492240"/>
            <a:ext cx="914400" cy="274320"/>
          </a:xfrm>
          <a:prstGeom prst="rect">
            <a:avLst/>
          </a:prstGeom>
          <a:noFill/>
          <a:ln/>
        </p:spPr>
        <p:txBody>
          <a:bodyPr wrap="square"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22 / 42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marL="0" indent="0">
              <a:buNone/>
            </a:pPr>
            <a:r>
              <a:rPr lang="en-US" sz="2800" b="1" dirty="0">
                <a:solidFill>
                  <a:srgbClr val="0E3F7E"/>
                </a:solidFill>
                <a:latin typeface="Calibri" pitchFamily="34" charset="0"/>
                <a:ea typeface="Calibri" pitchFamily="34" charset="-122"/>
                <a:cs typeface="Calibri" pitchFamily="34" charset="-120"/>
              </a:rPr>
              <a:t>Two-Phase Commit (2PC)</a:t>
            </a:r>
            <a:endParaRPr lang="en-US" sz="2800" dirty="0"/>
          </a:p>
        </p:txBody>
      </p:sp>
      <p:sp>
        <p:nvSpPr>
          <p:cNvPr id="3" name="Text 1"/>
          <p:cNvSpPr/>
          <p:nvPr/>
        </p:nvSpPr>
        <p:spPr>
          <a:xfrm>
            <a:off x="457200" y="777240"/>
            <a:ext cx="11247120" cy="320040"/>
          </a:xfrm>
          <a:prstGeom prst="rect">
            <a:avLst/>
          </a:prstGeom>
          <a:noFill/>
          <a:ln/>
        </p:spPr>
        <p:txBody>
          <a:bodyPr wrap="square" lIns="0" tIns="0" rIns="0" bIns="0" rtlCol="0" anchor="ctr"/>
          <a:lstStyle/>
          <a:p>
            <a:pPr marL="0" indent="0">
              <a:buNone/>
            </a:pPr>
            <a:r>
              <a:rPr lang="en-US" sz="1400" i="1" dirty="0">
                <a:solidFill>
                  <a:srgbClr val="2E86A1"/>
                </a:solidFill>
                <a:latin typeface="Calibri" pitchFamily="34" charset="0"/>
                <a:ea typeface="Calibri" pitchFamily="34" charset="-122"/>
                <a:cs typeface="Calibri" pitchFamily="34" charset="-120"/>
              </a:rPr>
              <a:t>El protocolo estandar de atomicidad distribuida</a:t>
            </a:r>
            <a:endParaRPr lang="en-US" sz="1400" dirty="0"/>
          </a:p>
        </p:txBody>
      </p:sp>
      <p:sp>
        <p:nvSpPr>
          <p:cNvPr id="4" name="Shape 2"/>
          <p:cNvSpPr/>
          <p:nvPr/>
        </p:nvSpPr>
        <p:spPr>
          <a:xfrm>
            <a:off x="548640" y="1188720"/>
            <a:ext cx="11064240" cy="777240"/>
          </a:xfrm>
          <a:prstGeom prst="roundRect">
            <a:avLst>
              <a:gd name="adj" fmla="val 9412"/>
            </a:avLst>
          </a:prstGeom>
          <a:solidFill>
            <a:srgbClr val="EAF1FB"/>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5" name="Text 3"/>
          <p:cNvSpPr/>
          <p:nvPr/>
        </p:nvSpPr>
        <p:spPr>
          <a:xfrm>
            <a:off x="777240" y="1280160"/>
            <a:ext cx="10698480" cy="640080"/>
          </a:xfrm>
          <a:prstGeom prst="rect">
            <a:avLst/>
          </a:prstGeom>
          <a:noFill/>
          <a:ln/>
        </p:spPr>
        <p:txBody>
          <a:bodyPr wrap="square" rtlCol="0" anchor="ctr"/>
          <a:lstStyle/>
          <a:p>
            <a:pPr marL="0" indent="0">
              <a:buNone/>
            </a:pPr>
            <a:r>
              <a:rPr lang="en-US" sz="1300" i="1" dirty="0">
                <a:solidFill>
                  <a:srgbClr val="0E3F7E"/>
                </a:solidFill>
                <a:latin typeface="Calibri" pitchFamily="34" charset="0"/>
                <a:ea typeface="Calibri" pitchFamily="34" charset="-122"/>
                <a:cs typeface="Calibri" pitchFamily="34" charset="-120"/>
              </a:rPr>
              <a:t>Garantiza la ATOMICIDAD: todos los participantes confirman o todos abortan. Coordinado por un nodo coordinador que dirige a varios participantes.</a:t>
            </a:r>
            <a:endParaRPr lang="en-US" sz="1300" dirty="0"/>
          </a:p>
        </p:txBody>
      </p:sp>
      <p:sp>
        <p:nvSpPr>
          <p:cNvPr id="6" name="Shape 4"/>
          <p:cNvSpPr/>
          <p:nvPr/>
        </p:nvSpPr>
        <p:spPr>
          <a:xfrm>
            <a:off x="548640" y="2194560"/>
            <a:ext cx="5486400" cy="4206240"/>
          </a:xfrm>
          <a:prstGeom prst="roundRect">
            <a:avLst>
              <a:gd name="adj" fmla="val 1739"/>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7" name="Shape 5"/>
          <p:cNvSpPr/>
          <p:nvPr/>
        </p:nvSpPr>
        <p:spPr>
          <a:xfrm>
            <a:off x="548640" y="2194560"/>
            <a:ext cx="5486400" cy="640080"/>
          </a:xfrm>
          <a:prstGeom prst="roundRect">
            <a:avLst>
              <a:gd name="adj" fmla="val 11429"/>
            </a:avLst>
          </a:prstGeom>
          <a:solidFill>
            <a:srgbClr val="4FAE60"/>
          </a:solidFill>
          <a:ln/>
        </p:spPr>
        <p:txBody>
          <a:bodyPr/>
          <a:lstStyle/>
          <a:p>
            <a:endParaRPr lang="es-US"/>
          </a:p>
        </p:txBody>
      </p:sp>
      <p:sp>
        <p:nvSpPr>
          <p:cNvPr id="8" name="Text 6"/>
          <p:cNvSpPr/>
          <p:nvPr/>
        </p:nvSpPr>
        <p:spPr>
          <a:xfrm>
            <a:off x="548640" y="2240280"/>
            <a:ext cx="5486400" cy="54864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FASE 1 - Preparacion (Voting)</a:t>
            </a:r>
            <a:endParaRPr lang="en-US" sz="1700" dirty="0"/>
          </a:p>
        </p:txBody>
      </p:sp>
      <p:sp>
        <p:nvSpPr>
          <p:cNvPr id="9" name="Text 7"/>
          <p:cNvSpPr/>
          <p:nvPr/>
        </p:nvSpPr>
        <p:spPr>
          <a:xfrm>
            <a:off x="777240" y="3017520"/>
            <a:ext cx="5029200" cy="3200400"/>
          </a:xfrm>
          <a:prstGeom prst="rect">
            <a:avLst/>
          </a:prstGeom>
          <a:noFill/>
          <a:ln/>
        </p:spPr>
        <p:txBody>
          <a:bodyPr wrap="square" rtlCol="0" anchor="ctr"/>
          <a:lstStyle/>
          <a:p>
            <a:pPr marL="342900" indent="-342900">
              <a:spcAft>
                <a:spcPts val="1000"/>
              </a:spcAft>
              <a:buSzPct val="100000"/>
              <a:buFont typeface="+mj-lt"/>
              <a:buAutoNum type="arabicPeriod"/>
            </a:pPr>
            <a:r>
              <a:rPr lang="en-US" sz="1300" dirty="0">
                <a:solidFill>
                  <a:srgbClr val="1A1A1A"/>
                </a:solidFill>
                <a:latin typeface="Calibri" pitchFamily="34" charset="0"/>
                <a:ea typeface="Calibri" pitchFamily="34" charset="-122"/>
                <a:cs typeface="Calibri" pitchFamily="34" charset="-120"/>
              </a:rPr>
              <a:t>Coordinador envia PREPARE a todos los participantes</a:t>
            </a:r>
            <a:endParaRPr lang="en-US" sz="1300" dirty="0"/>
          </a:p>
          <a:p>
            <a:pPr marL="342900" indent="-342900">
              <a:spcAft>
                <a:spcPts val="1000"/>
              </a:spcAft>
              <a:buSzPct val="100000"/>
              <a:buFont typeface="+mj-lt"/>
              <a:buAutoNum type="arabicPeriod"/>
            </a:pPr>
            <a:r>
              <a:rPr lang="en-US" sz="1300" dirty="0">
                <a:solidFill>
                  <a:srgbClr val="1A1A1A"/>
                </a:solidFill>
                <a:latin typeface="Calibri" pitchFamily="34" charset="0"/>
                <a:ea typeface="Calibri" pitchFamily="34" charset="-122"/>
                <a:cs typeface="Calibri" pitchFamily="34" charset="-120"/>
              </a:rPr>
              <a:t>Cada participante ejecuta la parte local</a:t>
            </a:r>
            <a:endParaRPr lang="en-US" sz="1300" dirty="0"/>
          </a:p>
          <a:p>
            <a:pPr marL="342900" indent="-342900">
              <a:spcAft>
                <a:spcPts val="1000"/>
              </a:spcAft>
              <a:buSzPct val="100000"/>
              <a:buFont typeface="+mj-lt"/>
              <a:buAutoNum type="arabicPeriod"/>
            </a:pPr>
            <a:r>
              <a:rPr lang="en-US" sz="1300" dirty="0">
                <a:solidFill>
                  <a:srgbClr val="1A1A1A"/>
                </a:solidFill>
                <a:latin typeface="Calibri" pitchFamily="34" charset="0"/>
                <a:ea typeface="Calibri" pitchFamily="34" charset="-122"/>
                <a:cs typeface="Calibri" pitchFamily="34" charset="-120"/>
              </a:rPr>
              <a:t>Escribe PREPARED en su log WAL</a:t>
            </a:r>
            <a:endParaRPr lang="en-US" sz="1300" dirty="0"/>
          </a:p>
          <a:p>
            <a:pPr marL="342900" indent="-342900">
              <a:spcAft>
                <a:spcPts val="1000"/>
              </a:spcAft>
              <a:buSzPct val="100000"/>
              <a:buFont typeface="+mj-lt"/>
              <a:buAutoNum type="arabicPeriod"/>
            </a:pPr>
            <a:r>
              <a:rPr lang="en-US" sz="1300" dirty="0">
                <a:solidFill>
                  <a:srgbClr val="1A1A1A"/>
                </a:solidFill>
                <a:latin typeface="Calibri" pitchFamily="34" charset="0"/>
                <a:ea typeface="Calibri" pitchFamily="34" charset="-122"/>
                <a:cs typeface="Calibri" pitchFamily="34" charset="-120"/>
              </a:rPr>
              <a:t>Responde VOTE-COMMIT si pudo, VOTE-ABORT si fallo</a:t>
            </a:r>
            <a:endParaRPr lang="en-US" sz="1300" dirty="0"/>
          </a:p>
        </p:txBody>
      </p:sp>
      <p:sp>
        <p:nvSpPr>
          <p:cNvPr id="10" name="Shape 8"/>
          <p:cNvSpPr/>
          <p:nvPr/>
        </p:nvSpPr>
        <p:spPr>
          <a:xfrm>
            <a:off x="6172200" y="2194560"/>
            <a:ext cx="5486400" cy="4206240"/>
          </a:xfrm>
          <a:prstGeom prst="roundRect">
            <a:avLst>
              <a:gd name="adj" fmla="val 1739"/>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11" name="Shape 9"/>
          <p:cNvSpPr/>
          <p:nvPr/>
        </p:nvSpPr>
        <p:spPr>
          <a:xfrm>
            <a:off x="6172200" y="2194560"/>
            <a:ext cx="5486400" cy="640080"/>
          </a:xfrm>
          <a:prstGeom prst="roundRect">
            <a:avLst>
              <a:gd name="adj" fmla="val 11429"/>
            </a:avLst>
          </a:prstGeom>
          <a:solidFill>
            <a:srgbClr val="F2A413"/>
          </a:solidFill>
          <a:ln/>
        </p:spPr>
        <p:txBody>
          <a:bodyPr/>
          <a:lstStyle/>
          <a:p>
            <a:endParaRPr lang="es-US"/>
          </a:p>
        </p:txBody>
      </p:sp>
      <p:sp>
        <p:nvSpPr>
          <p:cNvPr id="12" name="Text 10"/>
          <p:cNvSpPr/>
          <p:nvPr/>
        </p:nvSpPr>
        <p:spPr>
          <a:xfrm>
            <a:off x="6172200" y="2240280"/>
            <a:ext cx="5486400" cy="54864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FASE 2 - Decision (Commit/Abort)</a:t>
            </a:r>
            <a:endParaRPr lang="en-US" sz="1700" dirty="0"/>
          </a:p>
        </p:txBody>
      </p:sp>
      <p:sp>
        <p:nvSpPr>
          <p:cNvPr id="13" name="Text 11"/>
          <p:cNvSpPr/>
          <p:nvPr/>
        </p:nvSpPr>
        <p:spPr>
          <a:xfrm>
            <a:off x="6400800" y="3017520"/>
            <a:ext cx="5029200" cy="3200400"/>
          </a:xfrm>
          <a:prstGeom prst="rect">
            <a:avLst/>
          </a:prstGeom>
          <a:noFill/>
          <a:ln/>
        </p:spPr>
        <p:txBody>
          <a:bodyPr wrap="square" rtlCol="0" anchor="ctr"/>
          <a:lstStyle/>
          <a:p>
            <a:pPr marL="342900" indent="-342900">
              <a:spcAft>
                <a:spcPts val="1000"/>
              </a:spcAft>
              <a:buSzPct val="100000"/>
              <a:buFont typeface="+mj-lt"/>
              <a:buAutoNum type="arabicPeriod"/>
            </a:pPr>
            <a:r>
              <a:rPr lang="en-US" sz="1300" dirty="0">
                <a:solidFill>
                  <a:srgbClr val="1A1A1A"/>
                </a:solidFill>
                <a:latin typeface="Calibri" pitchFamily="34" charset="0"/>
                <a:ea typeface="Calibri" pitchFamily="34" charset="-122"/>
                <a:cs typeface="Calibri" pitchFamily="34" charset="-120"/>
              </a:rPr>
              <a:t>Si TODOS votaron COMMIT: coordinador escribe COMMIT en su log</a:t>
            </a:r>
            <a:endParaRPr lang="en-US" sz="1300" dirty="0"/>
          </a:p>
          <a:p>
            <a:pPr marL="342900" indent="-342900">
              <a:spcAft>
                <a:spcPts val="1000"/>
              </a:spcAft>
              <a:buSzPct val="100000"/>
              <a:buFont typeface="+mj-lt"/>
              <a:buAutoNum type="arabicPeriod"/>
            </a:pPr>
            <a:r>
              <a:rPr lang="en-US" sz="1300" dirty="0">
                <a:solidFill>
                  <a:srgbClr val="1A1A1A"/>
                </a:solidFill>
                <a:latin typeface="Calibri" pitchFamily="34" charset="0"/>
                <a:ea typeface="Calibri" pitchFamily="34" charset="-122"/>
                <a:cs typeface="Calibri" pitchFamily="34" charset="-120"/>
              </a:rPr>
              <a:t>Envia GLOBAL-COMMIT a todos los participantes</a:t>
            </a:r>
            <a:endParaRPr lang="en-US" sz="1300" dirty="0"/>
          </a:p>
          <a:p>
            <a:pPr marL="342900" indent="-342900">
              <a:spcAft>
                <a:spcPts val="1000"/>
              </a:spcAft>
              <a:buSzPct val="100000"/>
              <a:buFont typeface="+mj-lt"/>
              <a:buAutoNum type="arabicPeriod"/>
            </a:pPr>
            <a:r>
              <a:rPr lang="en-US" sz="1300" dirty="0">
                <a:solidFill>
                  <a:srgbClr val="1A1A1A"/>
                </a:solidFill>
                <a:latin typeface="Calibri" pitchFamily="34" charset="0"/>
                <a:ea typeface="Calibri" pitchFamily="34" charset="-122"/>
                <a:cs typeface="Calibri" pitchFamily="34" charset="-120"/>
              </a:rPr>
              <a:t>Si ALGUNO voto ABORT o no respondio: envia GLOBAL-ABORT</a:t>
            </a:r>
            <a:endParaRPr lang="en-US" sz="1300" dirty="0"/>
          </a:p>
          <a:p>
            <a:pPr marL="342900" indent="-342900">
              <a:spcAft>
                <a:spcPts val="1000"/>
              </a:spcAft>
              <a:buSzPct val="100000"/>
              <a:buFont typeface="+mj-lt"/>
              <a:buAutoNum type="arabicPeriod"/>
            </a:pPr>
            <a:r>
              <a:rPr lang="en-US" sz="1300" dirty="0">
                <a:solidFill>
                  <a:srgbClr val="1A1A1A"/>
                </a:solidFill>
                <a:latin typeface="Calibri" pitchFamily="34" charset="0"/>
                <a:ea typeface="Calibri" pitchFamily="34" charset="-122"/>
                <a:cs typeface="Calibri" pitchFamily="34" charset="-120"/>
              </a:rPr>
              <a:t>Cada participante aplica la decision y libera bloqueos</a:t>
            </a:r>
            <a:endParaRPr lang="en-US" sz="1300" dirty="0"/>
          </a:p>
        </p:txBody>
      </p:sp>
      <p:sp>
        <p:nvSpPr>
          <p:cNvPr id="14" name="Text 12"/>
          <p:cNvSpPr/>
          <p:nvPr/>
        </p:nvSpPr>
        <p:spPr>
          <a:xfrm>
            <a:off x="457200" y="6492240"/>
            <a:ext cx="8229600" cy="274320"/>
          </a:xfrm>
          <a:prstGeom prst="rect">
            <a:avLst/>
          </a:prstGeom>
          <a:noFill/>
          <a:ln/>
        </p:spPr>
        <p:txBody>
          <a:bodyPr wrap="square" rtlCol="0" anchor="ctr"/>
          <a:lstStyle/>
          <a:p>
            <a:pPr marL="0" indent="0">
              <a:buNone/>
            </a:pPr>
            <a:r>
              <a:rPr lang="en-US" sz="900" dirty="0">
                <a:solidFill>
                  <a:srgbClr val="4A4A4A"/>
                </a:solidFill>
                <a:latin typeface="Calibri" pitchFamily="34" charset="0"/>
                <a:ea typeface="Calibri" pitchFamily="34" charset="-122"/>
                <a:cs typeface="Calibri" pitchFamily="34" charset="-120"/>
              </a:rPr>
              <a:t>UTEQ - Aplicaciones Distribuidas (ISR-701) - Unidad 3</a:t>
            </a:r>
            <a:endParaRPr lang="en-US" sz="900" dirty="0"/>
          </a:p>
        </p:txBody>
      </p:sp>
      <p:sp>
        <p:nvSpPr>
          <p:cNvPr id="15" name="Text 13"/>
          <p:cNvSpPr/>
          <p:nvPr/>
        </p:nvSpPr>
        <p:spPr>
          <a:xfrm>
            <a:off x="10789920" y="6492240"/>
            <a:ext cx="914400" cy="274320"/>
          </a:xfrm>
          <a:prstGeom prst="rect">
            <a:avLst/>
          </a:prstGeom>
          <a:noFill/>
          <a:ln/>
        </p:spPr>
        <p:txBody>
          <a:bodyPr wrap="square"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23 / 42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marL="0" indent="0">
              <a:buNone/>
            </a:pPr>
            <a:r>
              <a:rPr lang="en-US" sz="2800" b="1" dirty="0">
                <a:solidFill>
                  <a:srgbClr val="0E3F7E"/>
                </a:solidFill>
                <a:latin typeface="Calibri" pitchFamily="34" charset="0"/>
                <a:ea typeface="Calibri" pitchFamily="34" charset="-122"/>
                <a:cs typeface="Calibri" pitchFamily="34" charset="-120"/>
              </a:rPr>
              <a:t>Limitacion del 2PC: bloqueo y 3PC</a:t>
            </a:r>
            <a:endParaRPr lang="en-US" sz="2800" dirty="0"/>
          </a:p>
        </p:txBody>
      </p:sp>
      <p:sp>
        <p:nvSpPr>
          <p:cNvPr id="3" name="Text 1"/>
          <p:cNvSpPr/>
          <p:nvPr/>
        </p:nvSpPr>
        <p:spPr>
          <a:xfrm>
            <a:off x="457200" y="777240"/>
            <a:ext cx="11247120" cy="320040"/>
          </a:xfrm>
          <a:prstGeom prst="rect">
            <a:avLst/>
          </a:prstGeom>
          <a:noFill/>
          <a:ln/>
        </p:spPr>
        <p:txBody>
          <a:bodyPr wrap="square" lIns="0" tIns="0" rIns="0" bIns="0" rtlCol="0" anchor="ctr"/>
          <a:lstStyle/>
          <a:p>
            <a:pPr marL="0" indent="0">
              <a:buNone/>
            </a:pPr>
            <a:r>
              <a:rPr lang="en-US" sz="1400" i="1" dirty="0">
                <a:solidFill>
                  <a:srgbClr val="2E86A1"/>
                </a:solidFill>
                <a:latin typeface="Calibri" pitchFamily="34" charset="0"/>
                <a:ea typeface="Calibri" pitchFamily="34" charset="-122"/>
                <a:cs typeface="Calibri" pitchFamily="34" charset="-120"/>
              </a:rPr>
              <a:t>Por que los sistemas modernos prefieren consenso</a:t>
            </a:r>
            <a:endParaRPr lang="en-US" sz="1400" dirty="0"/>
          </a:p>
        </p:txBody>
      </p:sp>
      <p:sp>
        <p:nvSpPr>
          <p:cNvPr id="4" name="Shape 2"/>
          <p:cNvSpPr/>
          <p:nvPr/>
        </p:nvSpPr>
        <p:spPr>
          <a:xfrm>
            <a:off x="548640" y="1280160"/>
            <a:ext cx="11064240" cy="1828800"/>
          </a:xfrm>
          <a:prstGeom prst="roundRect">
            <a:avLst>
              <a:gd name="adj" fmla="val 4000"/>
            </a:avLst>
          </a:prstGeom>
          <a:solidFill>
            <a:srgbClr val="FEF5E6"/>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5" name="Shape 3"/>
          <p:cNvSpPr/>
          <p:nvPr/>
        </p:nvSpPr>
        <p:spPr>
          <a:xfrm>
            <a:off x="777240" y="1463040"/>
            <a:ext cx="640080" cy="640080"/>
          </a:xfrm>
          <a:prstGeom prst="ellipse">
            <a:avLst/>
          </a:prstGeom>
          <a:solidFill>
            <a:srgbClr val="F2A413"/>
          </a:solidFill>
          <a:ln/>
        </p:spPr>
        <p:txBody>
          <a:bodyPr/>
          <a:lstStyle/>
          <a:p>
            <a:endParaRPr lang="es-US"/>
          </a:p>
        </p:txBody>
      </p:sp>
      <p:sp>
        <p:nvSpPr>
          <p:cNvPr id="6" name="Text 4"/>
          <p:cNvSpPr/>
          <p:nvPr/>
        </p:nvSpPr>
        <p:spPr>
          <a:xfrm>
            <a:off x="777240" y="1463040"/>
            <a:ext cx="640080" cy="640080"/>
          </a:xfrm>
          <a:prstGeom prst="rect">
            <a:avLst/>
          </a:prstGeom>
          <a:noFill/>
          <a:ln/>
        </p:spPr>
        <p:txBody>
          <a:bodyPr wrap="square" lIns="0" tIns="0" rIns="0" bIns="0"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a:t>
            </a:r>
            <a:endParaRPr lang="en-US" sz="3200" dirty="0"/>
          </a:p>
        </p:txBody>
      </p:sp>
      <p:sp>
        <p:nvSpPr>
          <p:cNvPr id="7" name="Text 5"/>
          <p:cNvSpPr/>
          <p:nvPr/>
        </p:nvSpPr>
        <p:spPr>
          <a:xfrm>
            <a:off x="1554480" y="1417320"/>
            <a:ext cx="9875520" cy="411480"/>
          </a:xfrm>
          <a:prstGeom prst="rect">
            <a:avLst/>
          </a:prstGeom>
          <a:noFill/>
          <a:ln/>
        </p:spPr>
        <p:txBody>
          <a:bodyPr wrap="square" lIns="0" tIns="0" rIns="0" bIns="0" rtlCol="0" anchor="ctr"/>
          <a:lstStyle/>
          <a:p>
            <a:pPr marL="0" indent="0">
              <a:buNone/>
            </a:pPr>
            <a:r>
              <a:rPr lang="en-US" sz="1700" b="1" dirty="0">
                <a:solidFill>
                  <a:srgbClr val="F2A413"/>
                </a:solidFill>
                <a:latin typeface="Calibri" pitchFamily="34" charset="0"/>
                <a:ea typeface="Calibri" pitchFamily="34" charset="-122"/>
                <a:cs typeface="Calibri" pitchFamily="34" charset="-120"/>
              </a:rPr>
              <a:t>El 2PC es un protocolo BLOQUEANTE</a:t>
            </a:r>
            <a:endParaRPr lang="en-US" sz="1700" dirty="0"/>
          </a:p>
        </p:txBody>
      </p:sp>
      <p:sp>
        <p:nvSpPr>
          <p:cNvPr id="8" name="Text 6"/>
          <p:cNvSpPr/>
          <p:nvPr/>
        </p:nvSpPr>
        <p:spPr>
          <a:xfrm>
            <a:off x="1554480" y="1828800"/>
            <a:ext cx="9875520" cy="118872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Si el coordinador falla DESPUES de la fase de preparacion pero ANTES de comunicar la decision, los participantes quedan en estado PREPARED reteniendo bloqueos, sin saber si confirmar o abortar. Pueden quedar bloqueados indefinidamente.</a:t>
            </a:r>
            <a:endParaRPr lang="en-US" sz="1300" dirty="0"/>
          </a:p>
        </p:txBody>
      </p:sp>
      <p:sp>
        <p:nvSpPr>
          <p:cNvPr id="9" name="Shape 7"/>
          <p:cNvSpPr/>
          <p:nvPr/>
        </p:nvSpPr>
        <p:spPr>
          <a:xfrm>
            <a:off x="548640" y="3291840"/>
            <a:ext cx="5486400" cy="3108960"/>
          </a:xfrm>
          <a:prstGeom prst="roundRect">
            <a:avLst>
              <a:gd name="adj" fmla="val 2353"/>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10" name="Shape 8"/>
          <p:cNvSpPr/>
          <p:nvPr/>
        </p:nvSpPr>
        <p:spPr>
          <a:xfrm>
            <a:off x="548640" y="3291840"/>
            <a:ext cx="5486400" cy="548640"/>
          </a:xfrm>
          <a:prstGeom prst="roundRect">
            <a:avLst>
              <a:gd name="adj" fmla="val 13333"/>
            </a:avLst>
          </a:prstGeom>
          <a:solidFill>
            <a:srgbClr val="2E86A1"/>
          </a:solidFill>
          <a:ln/>
        </p:spPr>
        <p:txBody>
          <a:bodyPr/>
          <a:lstStyle/>
          <a:p>
            <a:endParaRPr lang="es-US"/>
          </a:p>
        </p:txBody>
      </p:sp>
      <p:sp>
        <p:nvSpPr>
          <p:cNvPr id="11" name="Text 9"/>
          <p:cNvSpPr/>
          <p:nvPr/>
        </p:nvSpPr>
        <p:spPr>
          <a:xfrm>
            <a:off x="548640" y="3337560"/>
            <a:ext cx="54864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3PC: Three-Phase Commit</a:t>
            </a:r>
            <a:endParaRPr lang="en-US" sz="1600" dirty="0"/>
          </a:p>
        </p:txBody>
      </p:sp>
      <p:sp>
        <p:nvSpPr>
          <p:cNvPr id="12" name="Text 10"/>
          <p:cNvSpPr/>
          <p:nvPr/>
        </p:nvSpPr>
        <p:spPr>
          <a:xfrm>
            <a:off x="777240" y="3931920"/>
            <a:ext cx="5029200" cy="100584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Extiende 2PC con una fase PRE-COMMIT intermedia. Tras votacion exitosa, el coordinador envia PRE-COMMIT; solo despues envia COMMIT final.</a:t>
            </a:r>
            <a:endParaRPr lang="en-US" sz="1200" dirty="0"/>
          </a:p>
        </p:txBody>
      </p:sp>
      <p:sp>
        <p:nvSpPr>
          <p:cNvPr id="13" name="Text 11"/>
          <p:cNvSpPr/>
          <p:nvPr/>
        </p:nvSpPr>
        <p:spPr>
          <a:xfrm>
            <a:off x="777240" y="4983480"/>
            <a:ext cx="5029200" cy="1325880"/>
          </a:xfrm>
          <a:prstGeom prst="rect">
            <a:avLst/>
          </a:prstGeom>
          <a:noFill/>
          <a:ln/>
        </p:spPr>
        <p:txBody>
          <a:bodyPr wrap="square" rtlCol="0" anchor="ctr"/>
          <a:lstStyle/>
          <a:p>
            <a:pPr marL="0" indent="0">
              <a:buNone/>
            </a:pPr>
            <a:r>
              <a:rPr lang="en-US" sz="1100" i="1" dirty="0">
                <a:solidFill>
                  <a:srgbClr val="4A4A4A"/>
                </a:solidFill>
                <a:latin typeface="Calibri" pitchFamily="34" charset="0"/>
                <a:ea typeface="Calibri" pitchFamily="34" charset="-122"/>
                <a:cs typeface="Calibri" pitchFamily="34" charset="-120"/>
              </a:rPr>
              <a:t>Si el coordinador falla durante pre-commit, los participantes pueden elegir nuevo coordinador que decida sin ambiguedad. PERO: asume modelo de red sincrono (mensajes con retardo acotado), rara vez cumplido. Casi no se usa en produccion.</a:t>
            </a:r>
            <a:endParaRPr lang="en-US" sz="1100" dirty="0"/>
          </a:p>
        </p:txBody>
      </p:sp>
      <p:sp>
        <p:nvSpPr>
          <p:cNvPr id="14" name="Shape 12"/>
          <p:cNvSpPr/>
          <p:nvPr/>
        </p:nvSpPr>
        <p:spPr>
          <a:xfrm>
            <a:off x="6172200" y="3291840"/>
            <a:ext cx="5486400" cy="3108960"/>
          </a:xfrm>
          <a:prstGeom prst="roundRect">
            <a:avLst>
              <a:gd name="adj" fmla="val 2353"/>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15" name="Shape 13"/>
          <p:cNvSpPr/>
          <p:nvPr/>
        </p:nvSpPr>
        <p:spPr>
          <a:xfrm>
            <a:off x="6172200" y="3291840"/>
            <a:ext cx="5486400" cy="548640"/>
          </a:xfrm>
          <a:prstGeom prst="roundRect">
            <a:avLst>
              <a:gd name="adj" fmla="val 13333"/>
            </a:avLst>
          </a:prstGeom>
          <a:solidFill>
            <a:srgbClr val="4FAE60"/>
          </a:solidFill>
          <a:ln/>
        </p:spPr>
        <p:txBody>
          <a:bodyPr/>
          <a:lstStyle/>
          <a:p>
            <a:endParaRPr lang="es-US"/>
          </a:p>
        </p:txBody>
      </p:sp>
      <p:sp>
        <p:nvSpPr>
          <p:cNvPr id="16" name="Text 14"/>
          <p:cNvSpPr/>
          <p:nvPr/>
        </p:nvSpPr>
        <p:spPr>
          <a:xfrm>
            <a:off x="6172200" y="3337560"/>
            <a:ext cx="54864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Alternativa moderna: Consenso (Raft / Paxos)</a:t>
            </a:r>
            <a:endParaRPr lang="en-US" sz="1400" dirty="0"/>
          </a:p>
        </p:txBody>
      </p:sp>
      <p:sp>
        <p:nvSpPr>
          <p:cNvPr id="17" name="Text 15"/>
          <p:cNvSpPr/>
          <p:nvPr/>
        </p:nvSpPr>
        <p:spPr>
          <a:xfrm>
            <a:off x="6400800" y="3931920"/>
            <a:ext cx="5029200" cy="100584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Algoritmos de consenso distribuido que toleran fallos sin asumir sincronia. Raft (Ongaro &amp; Ousterhout 2014) es el mas adoptado.</a:t>
            </a:r>
            <a:endParaRPr lang="en-US" sz="1200" dirty="0"/>
          </a:p>
        </p:txBody>
      </p:sp>
      <p:sp>
        <p:nvSpPr>
          <p:cNvPr id="18" name="Text 16"/>
          <p:cNvSpPr/>
          <p:nvPr/>
        </p:nvSpPr>
        <p:spPr>
          <a:xfrm>
            <a:off x="6400800" y="4983480"/>
            <a:ext cx="5029200" cy="1325880"/>
          </a:xfrm>
          <a:prstGeom prst="rect">
            <a:avLst/>
          </a:prstGeom>
          <a:noFill/>
          <a:ln/>
        </p:spPr>
        <p:txBody>
          <a:bodyPr wrap="square" rtlCol="0" anchor="ctr"/>
          <a:lstStyle/>
          <a:p>
            <a:pPr marL="0" indent="0">
              <a:buNone/>
            </a:pPr>
            <a:r>
              <a:rPr lang="en-US" sz="1100" i="1" dirty="0">
                <a:solidFill>
                  <a:srgbClr val="4A4A4A"/>
                </a:solidFill>
                <a:latin typeface="Calibri" pitchFamily="34" charset="0"/>
                <a:ea typeface="Calibri" pitchFamily="34" charset="-122"/>
                <a:cs typeface="Calibri" pitchFamily="34" charset="-120"/>
              </a:rPr>
              <a:t>Usado por etcd (Kubernetes), CockroachDB, MongoDB (Replica Set elections), Apache Kafka KRaft, HashiCorp Consul. Sustituye al 2PC en sistemas modernos al replicar el log de decisiones por mayoria.</a:t>
            </a:r>
            <a:endParaRPr lang="en-US" sz="1100" dirty="0"/>
          </a:p>
        </p:txBody>
      </p:sp>
      <p:sp>
        <p:nvSpPr>
          <p:cNvPr id="19" name="Text 17"/>
          <p:cNvSpPr/>
          <p:nvPr/>
        </p:nvSpPr>
        <p:spPr>
          <a:xfrm>
            <a:off x="457200" y="6492240"/>
            <a:ext cx="8229600" cy="274320"/>
          </a:xfrm>
          <a:prstGeom prst="rect">
            <a:avLst/>
          </a:prstGeom>
          <a:noFill/>
          <a:ln/>
        </p:spPr>
        <p:txBody>
          <a:bodyPr wrap="square" rtlCol="0" anchor="ctr"/>
          <a:lstStyle/>
          <a:p>
            <a:pPr marL="0" indent="0">
              <a:buNone/>
            </a:pPr>
            <a:r>
              <a:rPr lang="en-US" sz="900" dirty="0">
                <a:solidFill>
                  <a:srgbClr val="4A4A4A"/>
                </a:solidFill>
                <a:latin typeface="Calibri" pitchFamily="34" charset="0"/>
                <a:ea typeface="Calibri" pitchFamily="34" charset="-122"/>
                <a:cs typeface="Calibri" pitchFamily="34" charset="-120"/>
              </a:rPr>
              <a:t>UTEQ - Aplicaciones Distribuidas (ISR-701) - Unidad 3</a:t>
            </a:r>
            <a:endParaRPr lang="en-US" sz="900" dirty="0"/>
          </a:p>
        </p:txBody>
      </p:sp>
      <p:sp>
        <p:nvSpPr>
          <p:cNvPr id="20" name="Text 18"/>
          <p:cNvSpPr/>
          <p:nvPr/>
        </p:nvSpPr>
        <p:spPr>
          <a:xfrm>
            <a:off x="10789920" y="6492240"/>
            <a:ext cx="914400" cy="274320"/>
          </a:xfrm>
          <a:prstGeom prst="rect">
            <a:avLst/>
          </a:prstGeom>
          <a:noFill/>
          <a:ln/>
        </p:spPr>
        <p:txBody>
          <a:bodyPr wrap="square"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24 / 42</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marL="0" indent="0">
              <a:buNone/>
            </a:pPr>
            <a:r>
              <a:rPr lang="en-US" sz="4000" b="1" dirty="0">
                <a:solidFill>
                  <a:srgbClr val="0E3F7E"/>
                </a:solidFill>
                <a:latin typeface="Calibri" pitchFamily="34" charset="0"/>
                <a:ea typeface="Calibri" pitchFamily="34" charset="-122"/>
                <a:cs typeface="Calibri" pitchFamily="34" charset="-120"/>
              </a:rPr>
              <a:t>Deadlock distribuido</a:t>
            </a:r>
            <a:endParaRPr lang="en-US" sz="4000" dirty="0"/>
          </a:p>
        </p:txBody>
      </p:sp>
      <p:sp>
        <p:nvSpPr>
          <p:cNvPr id="3" name="Text 1"/>
          <p:cNvSpPr/>
          <p:nvPr/>
        </p:nvSpPr>
        <p:spPr>
          <a:xfrm>
            <a:off x="457200" y="777240"/>
            <a:ext cx="11247120" cy="320040"/>
          </a:xfrm>
          <a:prstGeom prst="rect">
            <a:avLst/>
          </a:prstGeom>
          <a:noFill/>
          <a:ln/>
        </p:spPr>
        <p:txBody>
          <a:bodyPr wrap="square" lIns="0" tIns="0" rIns="0" bIns="0" rtlCol="0" anchor="ctr"/>
          <a:lstStyle/>
          <a:p>
            <a:pPr marL="0" indent="0">
              <a:buNone/>
            </a:pPr>
            <a:r>
              <a:rPr lang="en-US" sz="2000" i="1" dirty="0">
                <a:solidFill>
                  <a:srgbClr val="2E86A1"/>
                </a:solidFill>
                <a:latin typeface="Calibri" pitchFamily="34" charset="0"/>
                <a:ea typeface="Calibri" pitchFamily="34" charset="-122"/>
                <a:cs typeface="Calibri" pitchFamily="34" charset="-120"/>
              </a:rPr>
              <a:t>Deteccion y resolucion en grafos de espera multi-nodo</a:t>
            </a:r>
            <a:endParaRPr lang="en-US" sz="2000" dirty="0"/>
          </a:p>
        </p:txBody>
      </p:sp>
      <p:sp>
        <p:nvSpPr>
          <p:cNvPr id="4" name="Shape 2"/>
          <p:cNvSpPr/>
          <p:nvPr/>
        </p:nvSpPr>
        <p:spPr>
          <a:xfrm>
            <a:off x="548640" y="1280160"/>
            <a:ext cx="11064240" cy="914400"/>
          </a:xfrm>
          <a:prstGeom prst="roundRect">
            <a:avLst>
              <a:gd name="adj" fmla="val 8000"/>
            </a:avLst>
          </a:prstGeom>
          <a:solidFill>
            <a:srgbClr val="EAF1FB"/>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sz="2800"/>
          </a:p>
        </p:txBody>
      </p:sp>
      <p:sp>
        <p:nvSpPr>
          <p:cNvPr id="5" name="Text 3"/>
          <p:cNvSpPr/>
          <p:nvPr/>
        </p:nvSpPr>
        <p:spPr>
          <a:xfrm>
            <a:off x="777240" y="1371600"/>
            <a:ext cx="2743200" cy="274320"/>
          </a:xfrm>
          <a:prstGeom prst="rect">
            <a:avLst/>
          </a:prstGeom>
          <a:noFill/>
          <a:ln/>
        </p:spPr>
        <p:txBody>
          <a:bodyPr wrap="square" lIns="0" tIns="0" rIns="0" bIns="0" rtlCol="0" anchor="ctr"/>
          <a:lstStyle/>
          <a:p>
            <a:pPr marL="0" indent="0">
              <a:buNone/>
            </a:pPr>
            <a:r>
              <a:rPr lang="en-US" b="1" dirty="0">
                <a:solidFill>
                  <a:srgbClr val="0E3F7E"/>
                </a:solidFill>
                <a:latin typeface="Calibri" pitchFamily="34" charset="0"/>
                <a:ea typeface="Calibri" pitchFamily="34" charset="-122"/>
                <a:cs typeface="Calibri" pitchFamily="34" charset="-120"/>
              </a:rPr>
              <a:t>Definicion</a:t>
            </a:r>
            <a:endParaRPr lang="en-US" dirty="0"/>
          </a:p>
        </p:txBody>
      </p:sp>
      <p:sp>
        <p:nvSpPr>
          <p:cNvPr id="6" name="Text 4"/>
          <p:cNvSpPr/>
          <p:nvPr/>
        </p:nvSpPr>
        <p:spPr>
          <a:xfrm>
            <a:off x="777240" y="1645920"/>
            <a:ext cx="10698480" cy="548640"/>
          </a:xfrm>
          <a:prstGeom prst="rect">
            <a:avLst/>
          </a:prstGeom>
          <a:noFill/>
          <a:ln/>
        </p:spPr>
        <p:txBody>
          <a:bodyPr wrap="square" rtlCol="0" anchor="ctr"/>
          <a:lstStyle/>
          <a:p>
            <a:pPr marL="0" indent="0">
              <a:buNone/>
            </a:pPr>
            <a:r>
              <a:rPr lang="en-US" dirty="0">
                <a:solidFill>
                  <a:srgbClr val="1A1A1A"/>
                </a:solidFill>
                <a:latin typeface="Calibri" pitchFamily="34" charset="0"/>
                <a:ea typeface="Calibri" pitchFamily="34" charset="-122"/>
                <a:cs typeface="Calibri" pitchFamily="34" charset="-120"/>
              </a:rPr>
              <a:t>Dos o mas transacciones esperan indefinidamente que la otra libere un recurso. En entornos distribuidos el grafo de espera se extiende entre nodos, dificultando su deteccion.</a:t>
            </a:r>
            <a:endParaRPr lang="en-US" dirty="0"/>
          </a:p>
        </p:txBody>
      </p:sp>
      <p:sp>
        <p:nvSpPr>
          <p:cNvPr id="7" name="Shape 5"/>
          <p:cNvSpPr/>
          <p:nvPr/>
        </p:nvSpPr>
        <p:spPr>
          <a:xfrm>
            <a:off x="548640" y="2423160"/>
            <a:ext cx="5486400" cy="1828800"/>
          </a:xfrm>
          <a:prstGeom prst="roundRect">
            <a:avLst>
              <a:gd name="adj" fmla="val 4000"/>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sz="2800"/>
          </a:p>
        </p:txBody>
      </p:sp>
      <p:sp>
        <p:nvSpPr>
          <p:cNvPr id="8" name="Shape 6"/>
          <p:cNvSpPr/>
          <p:nvPr/>
        </p:nvSpPr>
        <p:spPr>
          <a:xfrm>
            <a:off x="777240" y="2651760"/>
            <a:ext cx="548640" cy="548640"/>
          </a:xfrm>
          <a:prstGeom prst="ellipse">
            <a:avLst/>
          </a:prstGeom>
          <a:solidFill>
            <a:srgbClr val="0E3F7E"/>
          </a:solidFill>
          <a:ln/>
        </p:spPr>
        <p:txBody>
          <a:bodyPr/>
          <a:lstStyle/>
          <a:p>
            <a:endParaRPr lang="es-US" sz="2800"/>
          </a:p>
        </p:txBody>
      </p:sp>
      <p:sp>
        <p:nvSpPr>
          <p:cNvPr id="9" name="Text 7"/>
          <p:cNvSpPr/>
          <p:nvPr/>
        </p:nvSpPr>
        <p:spPr>
          <a:xfrm>
            <a:off x="777240" y="2651760"/>
            <a:ext cx="548640" cy="548640"/>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1</a:t>
            </a:r>
            <a:endParaRPr lang="en-US" sz="3200" dirty="0"/>
          </a:p>
        </p:txBody>
      </p:sp>
      <p:sp>
        <p:nvSpPr>
          <p:cNvPr id="10" name="Text 8"/>
          <p:cNvSpPr/>
          <p:nvPr/>
        </p:nvSpPr>
        <p:spPr>
          <a:xfrm>
            <a:off x="1463040" y="2606040"/>
            <a:ext cx="4389120" cy="411480"/>
          </a:xfrm>
          <a:prstGeom prst="rect">
            <a:avLst/>
          </a:prstGeom>
          <a:noFill/>
          <a:ln/>
        </p:spPr>
        <p:txBody>
          <a:bodyPr wrap="square" lIns="0" tIns="0" rIns="0" bIns="0" rtlCol="0" anchor="ctr"/>
          <a:lstStyle/>
          <a:p>
            <a:pPr marL="0" indent="0">
              <a:buNone/>
            </a:pPr>
            <a:r>
              <a:rPr lang="en-US" sz="2000" b="1" dirty="0">
                <a:solidFill>
                  <a:srgbClr val="0E3F7E"/>
                </a:solidFill>
                <a:latin typeface="Calibri" pitchFamily="34" charset="0"/>
                <a:ea typeface="Calibri" pitchFamily="34" charset="-122"/>
                <a:cs typeface="Calibri" pitchFamily="34" charset="-120"/>
              </a:rPr>
              <a:t>Prevencion por ordenamiento</a:t>
            </a:r>
            <a:endParaRPr lang="en-US" sz="2000" dirty="0"/>
          </a:p>
        </p:txBody>
      </p:sp>
      <p:sp>
        <p:nvSpPr>
          <p:cNvPr id="11" name="Text 9"/>
          <p:cNvSpPr/>
          <p:nvPr/>
        </p:nvSpPr>
        <p:spPr>
          <a:xfrm>
            <a:off x="1463040" y="3017520"/>
            <a:ext cx="4389120" cy="777240"/>
          </a:xfrm>
          <a:prstGeom prst="rect">
            <a:avLst/>
          </a:prstGeom>
          <a:noFill/>
          <a:ln/>
        </p:spPr>
        <p:txBody>
          <a:bodyPr wrap="square" rtlCol="0" anchor="ctr"/>
          <a:lstStyle/>
          <a:p>
            <a:pPr marL="0" indent="0">
              <a:buNone/>
            </a:pPr>
            <a:r>
              <a:rPr lang="en-US" sz="1600" dirty="0">
                <a:solidFill>
                  <a:srgbClr val="1A1A1A"/>
                </a:solidFill>
                <a:latin typeface="Calibri" pitchFamily="34" charset="0"/>
                <a:ea typeface="Calibri" pitchFamily="34" charset="-122"/>
                <a:cs typeface="Calibri" pitchFamily="34" charset="-120"/>
              </a:rPr>
              <a:t>Bloqueos siempre en el mismo orden global (alfabetico por recurso). Elimina deadlocks por construccion.</a:t>
            </a:r>
            <a:endParaRPr lang="en-US" sz="1600" dirty="0"/>
          </a:p>
        </p:txBody>
      </p:sp>
      <p:sp>
        <p:nvSpPr>
          <p:cNvPr id="12" name="Text 10"/>
          <p:cNvSpPr/>
          <p:nvPr/>
        </p:nvSpPr>
        <p:spPr>
          <a:xfrm>
            <a:off x="1463040" y="3840480"/>
            <a:ext cx="4389120" cy="320040"/>
          </a:xfrm>
          <a:prstGeom prst="rect">
            <a:avLst/>
          </a:prstGeom>
          <a:noFill/>
          <a:ln/>
        </p:spPr>
        <p:txBody>
          <a:bodyPr wrap="square" rtlCol="0" anchor="ctr"/>
          <a:lstStyle/>
          <a:p>
            <a:pPr marL="0" indent="0">
              <a:buNone/>
            </a:pPr>
            <a:r>
              <a:rPr lang="en-US" sz="1200" i="1" dirty="0">
                <a:solidFill>
                  <a:srgbClr val="C0392B"/>
                </a:solidFill>
                <a:latin typeface="Calibri" pitchFamily="34" charset="0"/>
                <a:ea typeface="Calibri" pitchFamily="34" charset="-122"/>
                <a:cs typeface="Calibri" pitchFamily="34" charset="-120"/>
              </a:rPr>
              <a:t>Contra: Reduce paralelismo</a:t>
            </a:r>
            <a:endParaRPr lang="en-US" sz="1200" dirty="0"/>
          </a:p>
        </p:txBody>
      </p:sp>
      <p:sp>
        <p:nvSpPr>
          <p:cNvPr id="13" name="Shape 11"/>
          <p:cNvSpPr/>
          <p:nvPr/>
        </p:nvSpPr>
        <p:spPr>
          <a:xfrm>
            <a:off x="6263640" y="2423160"/>
            <a:ext cx="5486400" cy="1828800"/>
          </a:xfrm>
          <a:prstGeom prst="roundRect">
            <a:avLst>
              <a:gd name="adj" fmla="val 4000"/>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sz="2800"/>
          </a:p>
        </p:txBody>
      </p:sp>
      <p:sp>
        <p:nvSpPr>
          <p:cNvPr id="14" name="Shape 12"/>
          <p:cNvSpPr/>
          <p:nvPr/>
        </p:nvSpPr>
        <p:spPr>
          <a:xfrm>
            <a:off x="6492240" y="2651760"/>
            <a:ext cx="548640" cy="548640"/>
          </a:xfrm>
          <a:prstGeom prst="ellipse">
            <a:avLst/>
          </a:prstGeom>
          <a:solidFill>
            <a:srgbClr val="2E86A1"/>
          </a:solidFill>
          <a:ln/>
        </p:spPr>
        <p:txBody>
          <a:bodyPr/>
          <a:lstStyle/>
          <a:p>
            <a:endParaRPr lang="es-US" sz="2800"/>
          </a:p>
        </p:txBody>
      </p:sp>
      <p:sp>
        <p:nvSpPr>
          <p:cNvPr id="15" name="Text 13"/>
          <p:cNvSpPr/>
          <p:nvPr/>
        </p:nvSpPr>
        <p:spPr>
          <a:xfrm>
            <a:off x="6492240" y="2651760"/>
            <a:ext cx="548640" cy="548640"/>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2</a:t>
            </a:r>
            <a:endParaRPr lang="en-US" sz="3200" dirty="0"/>
          </a:p>
        </p:txBody>
      </p:sp>
      <p:sp>
        <p:nvSpPr>
          <p:cNvPr id="16" name="Text 14"/>
          <p:cNvSpPr/>
          <p:nvPr/>
        </p:nvSpPr>
        <p:spPr>
          <a:xfrm>
            <a:off x="7178040" y="2606040"/>
            <a:ext cx="4389120" cy="411480"/>
          </a:xfrm>
          <a:prstGeom prst="rect">
            <a:avLst/>
          </a:prstGeom>
          <a:noFill/>
          <a:ln/>
        </p:spPr>
        <p:txBody>
          <a:bodyPr wrap="square" lIns="0" tIns="0" rIns="0" bIns="0" rtlCol="0" anchor="ctr"/>
          <a:lstStyle/>
          <a:p>
            <a:pPr marL="0" indent="0">
              <a:buNone/>
            </a:pPr>
            <a:r>
              <a:rPr lang="en-US" sz="2000" b="1" dirty="0">
                <a:solidFill>
                  <a:srgbClr val="2E86A1"/>
                </a:solidFill>
                <a:latin typeface="Calibri" pitchFamily="34" charset="0"/>
                <a:ea typeface="Calibri" pitchFamily="34" charset="-122"/>
                <a:cs typeface="Calibri" pitchFamily="34" charset="-120"/>
              </a:rPr>
              <a:t>Prevencion por timestamps</a:t>
            </a:r>
            <a:endParaRPr lang="en-US" sz="2000" dirty="0"/>
          </a:p>
        </p:txBody>
      </p:sp>
      <p:sp>
        <p:nvSpPr>
          <p:cNvPr id="17" name="Text 15"/>
          <p:cNvSpPr/>
          <p:nvPr/>
        </p:nvSpPr>
        <p:spPr>
          <a:xfrm>
            <a:off x="7178040" y="3017520"/>
            <a:ext cx="4389120" cy="777240"/>
          </a:xfrm>
          <a:prstGeom prst="rect">
            <a:avLst/>
          </a:prstGeom>
          <a:noFill/>
          <a:ln/>
        </p:spPr>
        <p:txBody>
          <a:bodyPr wrap="square" rtlCol="0" anchor="ctr"/>
          <a:lstStyle/>
          <a:p>
            <a:pPr marL="0" indent="0">
              <a:buNone/>
            </a:pPr>
            <a:r>
              <a:rPr lang="en-US" sz="1600" dirty="0">
                <a:solidFill>
                  <a:srgbClr val="1A1A1A"/>
                </a:solidFill>
                <a:latin typeface="Calibri" pitchFamily="34" charset="0"/>
                <a:ea typeface="Calibri" pitchFamily="34" charset="-122"/>
                <a:cs typeface="Calibri" pitchFamily="34" charset="-120"/>
              </a:rPr>
              <a:t>Wait-Die: aborta la transaccion mas joven. Wound-Wait: aborta la mas vieja. Ambos previenen deadlock.</a:t>
            </a:r>
            <a:endParaRPr lang="en-US" sz="1600" dirty="0"/>
          </a:p>
        </p:txBody>
      </p:sp>
      <p:sp>
        <p:nvSpPr>
          <p:cNvPr id="18" name="Text 16"/>
          <p:cNvSpPr/>
          <p:nvPr/>
        </p:nvSpPr>
        <p:spPr>
          <a:xfrm>
            <a:off x="7178040" y="3840480"/>
            <a:ext cx="4389120" cy="320040"/>
          </a:xfrm>
          <a:prstGeom prst="rect">
            <a:avLst/>
          </a:prstGeom>
          <a:noFill/>
          <a:ln/>
        </p:spPr>
        <p:txBody>
          <a:bodyPr wrap="square" rtlCol="0" anchor="ctr"/>
          <a:lstStyle/>
          <a:p>
            <a:pPr marL="0" indent="0">
              <a:buNone/>
            </a:pPr>
            <a:r>
              <a:rPr lang="en-US" sz="1200" i="1" dirty="0">
                <a:solidFill>
                  <a:srgbClr val="C0392B"/>
                </a:solidFill>
                <a:latin typeface="Calibri" pitchFamily="34" charset="0"/>
                <a:ea typeface="Calibri" pitchFamily="34" charset="-122"/>
                <a:cs typeface="Calibri" pitchFamily="34" charset="-120"/>
              </a:rPr>
              <a:t>Contra: Mas abortos por contencion</a:t>
            </a:r>
            <a:endParaRPr lang="en-US" sz="1200" dirty="0"/>
          </a:p>
        </p:txBody>
      </p:sp>
      <p:sp>
        <p:nvSpPr>
          <p:cNvPr id="19" name="Shape 17"/>
          <p:cNvSpPr/>
          <p:nvPr/>
        </p:nvSpPr>
        <p:spPr>
          <a:xfrm>
            <a:off x="548640" y="4434840"/>
            <a:ext cx="5486400" cy="1828800"/>
          </a:xfrm>
          <a:prstGeom prst="roundRect">
            <a:avLst>
              <a:gd name="adj" fmla="val 4000"/>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sz="2800"/>
          </a:p>
        </p:txBody>
      </p:sp>
      <p:sp>
        <p:nvSpPr>
          <p:cNvPr id="20" name="Shape 18"/>
          <p:cNvSpPr/>
          <p:nvPr/>
        </p:nvSpPr>
        <p:spPr>
          <a:xfrm>
            <a:off x="777240" y="4663440"/>
            <a:ext cx="548640" cy="548640"/>
          </a:xfrm>
          <a:prstGeom prst="ellipse">
            <a:avLst/>
          </a:prstGeom>
          <a:solidFill>
            <a:srgbClr val="4FAE60"/>
          </a:solidFill>
          <a:ln/>
        </p:spPr>
        <p:txBody>
          <a:bodyPr/>
          <a:lstStyle/>
          <a:p>
            <a:endParaRPr lang="es-US" sz="2800"/>
          </a:p>
        </p:txBody>
      </p:sp>
      <p:sp>
        <p:nvSpPr>
          <p:cNvPr id="21" name="Text 19"/>
          <p:cNvSpPr/>
          <p:nvPr/>
        </p:nvSpPr>
        <p:spPr>
          <a:xfrm>
            <a:off x="777240" y="4663440"/>
            <a:ext cx="548640" cy="548640"/>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3</a:t>
            </a:r>
            <a:endParaRPr lang="en-US" sz="3200" dirty="0"/>
          </a:p>
        </p:txBody>
      </p:sp>
      <p:sp>
        <p:nvSpPr>
          <p:cNvPr id="22" name="Text 20"/>
          <p:cNvSpPr/>
          <p:nvPr/>
        </p:nvSpPr>
        <p:spPr>
          <a:xfrm>
            <a:off x="1463040" y="4617720"/>
            <a:ext cx="4389120" cy="411480"/>
          </a:xfrm>
          <a:prstGeom prst="rect">
            <a:avLst/>
          </a:prstGeom>
          <a:noFill/>
          <a:ln/>
        </p:spPr>
        <p:txBody>
          <a:bodyPr wrap="square" lIns="0" tIns="0" rIns="0" bIns="0" rtlCol="0" anchor="ctr"/>
          <a:lstStyle/>
          <a:p>
            <a:pPr marL="0" indent="0">
              <a:buNone/>
            </a:pPr>
            <a:r>
              <a:rPr lang="en-US" sz="2000" b="1" dirty="0">
                <a:solidFill>
                  <a:srgbClr val="4FAE60"/>
                </a:solidFill>
                <a:latin typeface="Calibri" pitchFamily="34" charset="0"/>
                <a:ea typeface="Calibri" pitchFamily="34" charset="-122"/>
                <a:cs typeface="Calibri" pitchFamily="34" charset="-120"/>
              </a:rPr>
              <a:t>Deteccion por grafo de espera</a:t>
            </a:r>
            <a:endParaRPr lang="en-US" sz="2000" dirty="0"/>
          </a:p>
        </p:txBody>
      </p:sp>
      <p:sp>
        <p:nvSpPr>
          <p:cNvPr id="23" name="Text 21"/>
          <p:cNvSpPr/>
          <p:nvPr/>
        </p:nvSpPr>
        <p:spPr>
          <a:xfrm>
            <a:off x="1463040" y="5029200"/>
            <a:ext cx="4389120" cy="777240"/>
          </a:xfrm>
          <a:prstGeom prst="rect">
            <a:avLst/>
          </a:prstGeom>
          <a:noFill/>
          <a:ln/>
        </p:spPr>
        <p:txBody>
          <a:bodyPr wrap="square" rtlCol="0" anchor="ctr"/>
          <a:lstStyle/>
          <a:p>
            <a:pPr marL="0" indent="0">
              <a:buNone/>
            </a:pPr>
            <a:r>
              <a:rPr lang="en-US" sz="1600" dirty="0">
                <a:solidFill>
                  <a:srgbClr val="1A1A1A"/>
                </a:solidFill>
                <a:latin typeface="Calibri" pitchFamily="34" charset="0"/>
                <a:ea typeface="Calibri" pitchFamily="34" charset="-122"/>
                <a:cs typeface="Calibri" pitchFamily="34" charset="-120"/>
              </a:rPr>
              <a:t>Sistema construye grafo dirigido T_i -&gt; T_j si T_i espera recurso que T_j tiene. Ciclo = deadlock. Algoritmo elige victima.</a:t>
            </a:r>
            <a:endParaRPr lang="en-US" sz="1600" dirty="0"/>
          </a:p>
        </p:txBody>
      </p:sp>
      <p:sp>
        <p:nvSpPr>
          <p:cNvPr id="24" name="Text 22"/>
          <p:cNvSpPr/>
          <p:nvPr/>
        </p:nvSpPr>
        <p:spPr>
          <a:xfrm>
            <a:off x="1463040" y="5852160"/>
            <a:ext cx="4389120" cy="320040"/>
          </a:xfrm>
          <a:prstGeom prst="rect">
            <a:avLst/>
          </a:prstGeom>
          <a:noFill/>
          <a:ln/>
        </p:spPr>
        <p:txBody>
          <a:bodyPr wrap="square" rtlCol="0" anchor="ctr"/>
          <a:lstStyle/>
          <a:p>
            <a:pPr marL="0" indent="0">
              <a:buNone/>
            </a:pPr>
            <a:r>
              <a:rPr lang="en-US" sz="1200" i="1" dirty="0">
                <a:solidFill>
                  <a:srgbClr val="C0392B"/>
                </a:solidFill>
                <a:latin typeface="Calibri" pitchFamily="34" charset="0"/>
                <a:ea typeface="Calibri" pitchFamily="34" charset="-122"/>
                <a:cs typeface="Calibri" pitchFamily="34" charset="-120"/>
              </a:rPr>
              <a:t>Contra: Costo de mantener el grafo</a:t>
            </a:r>
            <a:endParaRPr lang="en-US" sz="1200" dirty="0"/>
          </a:p>
        </p:txBody>
      </p:sp>
      <p:sp>
        <p:nvSpPr>
          <p:cNvPr id="25" name="Shape 23"/>
          <p:cNvSpPr/>
          <p:nvPr/>
        </p:nvSpPr>
        <p:spPr>
          <a:xfrm>
            <a:off x="6263640" y="4434840"/>
            <a:ext cx="5486400" cy="1828800"/>
          </a:xfrm>
          <a:prstGeom prst="roundRect">
            <a:avLst>
              <a:gd name="adj" fmla="val 4000"/>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sz="2800"/>
          </a:p>
        </p:txBody>
      </p:sp>
      <p:sp>
        <p:nvSpPr>
          <p:cNvPr id="26" name="Shape 24"/>
          <p:cNvSpPr/>
          <p:nvPr/>
        </p:nvSpPr>
        <p:spPr>
          <a:xfrm>
            <a:off x="6492240" y="4663440"/>
            <a:ext cx="548640" cy="548640"/>
          </a:xfrm>
          <a:prstGeom prst="ellipse">
            <a:avLst/>
          </a:prstGeom>
          <a:solidFill>
            <a:srgbClr val="F2A413"/>
          </a:solidFill>
          <a:ln/>
        </p:spPr>
        <p:txBody>
          <a:bodyPr/>
          <a:lstStyle/>
          <a:p>
            <a:endParaRPr lang="es-US" sz="2800"/>
          </a:p>
        </p:txBody>
      </p:sp>
      <p:sp>
        <p:nvSpPr>
          <p:cNvPr id="27" name="Text 25"/>
          <p:cNvSpPr/>
          <p:nvPr/>
        </p:nvSpPr>
        <p:spPr>
          <a:xfrm>
            <a:off x="6492240" y="4663440"/>
            <a:ext cx="548640" cy="548640"/>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4</a:t>
            </a:r>
            <a:endParaRPr lang="en-US" sz="3200" dirty="0"/>
          </a:p>
        </p:txBody>
      </p:sp>
      <p:sp>
        <p:nvSpPr>
          <p:cNvPr id="28" name="Text 26"/>
          <p:cNvSpPr/>
          <p:nvPr/>
        </p:nvSpPr>
        <p:spPr>
          <a:xfrm>
            <a:off x="7178040" y="4617720"/>
            <a:ext cx="4389120" cy="411480"/>
          </a:xfrm>
          <a:prstGeom prst="rect">
            <a:avLst/>
          </a:prstGeom>
          <a:noFill/>
          <a:ln/>
        </p:spPr>
        <p:txBody>
          <a:bodyPr wrap="square" lIns="0" tIns="0" rIns="0" bIns="0" rtlCol="0" anchor="ctr"/>
          <a:lstStyle/>
          <a:p>
            <a:pPr marL="0" indent="0">
              <a:buNone/>
            </a:pPr>
            <a:r>
              <a:rPr lang="en-US" sz="2000" b="1" dirty="0">
                <a:solidFill>
                  <a:srgbClr val="F2A413"/>
                </a:solidFill>
                <a:latin typeface="Calibri" pitchFamily="34" charset="0"/>
                <a:ea typeface="Calibri" pitchFamily="34" charset="-122"/>
                <a:cs typeface="Calibri" pitchFamily="34" charset="-120"/>
              </a:rPr>
              <a:t>Deteccion por timeout</a:t>
            </a:r>
            <a:endParaRPr lang="en-US" sz="2000" dirty="0"/>
          </a:p>
        </p:txBody>
      </p:sp>
      <p:sp>
        <p:nvSpPr>
          <p:cNvPr id="29" name="Text 27"/>
          <p:cNvSpPr/>
          <p:nvPr/>
        </p:nvSpPr>
        <p:spPr>
          <a:xfrm>
            <a:off x="7178040" y="5029200"/>
            <a:ext cx="4389120" cy="777240"/>
          </a:xfrm>
          <a:prstGeom prst="rect">
            <a:avLst/>
          </a:prstGeom>
          <a:noFill/>
          <a:ln/>
        </p:spPr>
        <p:txBody>
          <a:bodyPr wrap="square" rtlCol="0" anchor="ctr"/>
          <a:lstStyle/>
          <a:p>
            <a:pPr marL="0" indent="0">
              <a:buNone/>
            </a:pPr>
            <a:r>
              <a:rPr lang="en-US" sz="1600" dirty="0">
                <a:solidFill>
                  <a:srgbClr val="1A1A1A"/>
                </a:solidFill>
                <a:latin typeface="Calibri" pitchFamily="34" charset="0"/>
                <a:ea typeface="Calibri" pitchFamily="34" charset="-122"/>
                <a:cs typeface="Calibri" pitchFamily="34" charset="-120"/>
              </a:rPr>
              <a:t>Si transaccion espera mas de un umbral, se asume deadlock y se aborta. Simple pero genera falsos positivos.</a:t>
            </a:r>
            <a:endParaRPr lang="en-US" sz="1600" dirty="0"/>
          </a:p>
        </p:txBody>
      </p:sp>
      <p:sp>
        <p:nvSpPr>
          <p:cNvPr id="30" name="Text 28"/>
          <p:cNvSpPr/>
          <p:nvPr/>
        </p:nvSpPr>
        <p:spPr>
          <a:xfrm>
            <a:off x="7178040" y="5852160"/>
            <a:ext cx="4389120" cy="320040"/>
          </a:xfrm>
          <a:prstGeom prst="rect">
            <a:avLst/>
          </a:prstGeom>
          <a:noFill/>
          <a:ln/>
        </p:spPr>
        <p:txBody>
          <a:bodyPr wrap="square" rtlCol="0" anchor="ctr"/>
          <a:lstStyle/>
          <a:p>
            <a:pPr marL="0" indent="0">
              <a:buNone/>
            </a:pPr>
            <a:r>
              <a:rPr lang="en-US" sz="1200" i="1" dirty="0">
                <a:solidFill>
                  <a:srgbClr val="C0392B"/>
                </a:solidFill>
                <a:latin typeface="Calibri" pitchFamily="34" charset="0"/>
                <a:ea typeface="Calibri" pitchFamily="34" charset="-122"/>
                <a:cs typeface="Calibri" pitchFamily="34" charset="-120"/>
              </a:rPr>
              <a:t>Contra: Falsos positivos en cargas altas</a:t>
            </a:r>
            <a:endParaRPr lang="en-US" sz="1200" dirty="0"/>
          </a:p>
        </p:txBody>
      </p:sp>
      <p:sp>
        <p:nvSpPr>
          <p:cNvPr id="31" name="Text 29"/>
          <p:cNvSpPr/>
          <p:nvPr/>
        </p:nvSpPr>
        <p:spPr>
          <a:xfrm>
            <a:off x="457200" y="6492240"/>
            <a:ext cx="8229600" cy="274320"/>
          </a:xfrm>
          <a:prstGeom prst="rect">
            <a:avLst/>
          </a:prstGeom>
          <a:noFill/>
          <a:ln/>
        </p:spPr>
        <p:txBody>
          <a:bodyPr wrap="square" rtlCol="0" anchor="ctr"/>
          <a:lstStyle/>
          <a:p>
            <a:pPr marL="0" indent="0">
              <a:buNone/>
            </a:pPr>
            <a:r>
              <a:rPr lang="en-US" sz="900" dirty="0">
                <a:solidFill>
                  <a:srgbClr val="4A4A4A"/>
                </a:solidFill>
                <a:latin typeface="Calibri" pitchFamily="34" charset="0"/>
                <a:ea typeface="Calibri" pitchFamily="34" charset="-122"/>
                <a:cs typeface="Calibri" pitchFamily="34" charset="-120"/>
              </a:rPr>
              <a:t>UTEQ - Aplicaciones Distribuidas (ISR-701) - Unidad 3</a:t>
            </a:r>
            <a:endParaRPr lang="en-US" sz="900" dirty="0"/>
          </a:p>
        </p:txBody>
      </p:sp>
      <p:sp>
        <p:nvSpPr>
          <p:cNvPr id="32" name="Text 30"/>
          <p:cNvSpPr/>
          <p:nvPr/>
        </p:nvSpPr>
        <p:spPr>
          <a:xfrm>
            <a:off x="10789920" y="6492240"/>
            <a:ext cx="914400" cy="274320"/>
          </a:xfrm>
          <a:prstGeom prst="rect">
            <a:avLst/>
          </a:prstGeom>
          <a:noFill/>
          <a:ln/>
        </p:spPr>
        <p:txBody>
          <a:bodyPr wrap="square"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25 / 42</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marL="0" indent="0">
              <a:buNone/>
            </a:pPr>
            <a:r>
              <a:rPr lang="en-US" sz="4000" b="1" dirty="0">
                <a:solidFill>
                  <a:srgbClr val="0E3F7E"/>
                </a:solidFill>
                <a:latin typeface="Calibri" pitchFamily="34" charset="0"/>
                <a:ea typeface="Calibri" pitchFamily="34" charset="-122"/>
                <a:cs typeface="Calibri" pitchFamily="34" charset="-120"/>
              </a:rPr>
              <a:t>MVCC: Multi-Version Concurrency Control</a:t>
            </a:r>
            <a:endParaRPr lang="en-US" sz="4000" dirty="0"/>
          </a:p>
        </p:txBody>
      </p:sp>
      <p:sp>
        <p:nvSpPr>
          <p:cNvPr id="3" name="Text 1"/>
          <p:cNvSpPr/>
          <p:nvPr/>
        </p:nvSpPr>
        <p:spPr>
          <a:xfrm>
            <a:off x="457200" y="777240"/>
            <a:ext cx="11247120" cy="320040"/>
          </a:xfrm>
          <a:prstGeom prst="rect">
            <a:avLst/>
          </a:prstGeom>
          <a:noFill/>
          <a:ln/>
        </p:spPr>
        <p:txBody>
          <a:bodyPr wrap="square" lIns="0" tIns="0" rIns="0" bIns="0" rtlCol="0" anchor="ctr"/>
          <a:lstStyle/>
          <a:p>
            <a:pPr marL="0" indent="0">
              <a:buNone/>
            </a:pPr>
            <a:r>
              <a:rPr lang="en-US" sz="2000" i="1" dirty="0">
                <a:solidFill>
                  <a:srgbClr val="2E86A1"/>
                </a:solidFill>
                <a:latin typeface="Calibri" pitchFamily="34" charset="0"/>
                <a:ea typeface="Calibri" pitchFamily="34" charset="-122"/>
                <a:cs typeface="Calibri" pitchFamily="34" charset="-120"/>
              </a:rPr>
              <a:t>Alternativa moderna al 2PL clasico</a:t>
            </a:r>
            <a:endParaRPr lang="en-US" sz="2000" dirty="0"/>
          </a:p>
        </p:txBody>
      </p:sp>
      <p:sp>
        <p:nvSpPr>
          <p:cNvPr id="4" name="Shape 2"/>
          <p:cNvSpPr/>
          <p:nvPr/>
        </p:nvSpPr>
        <p:spPr>
          <a:xfrm>
            <a:off x="548640" y="1280160"/>
            <a:ext cx="11064240" cy="1371600"/>
          </a:xfrm>
          <a:prstGeom prst="roundRect">
            <a:avLst>
              <a:gd name="adj" fmla="val 5333"/>
            </a:avLst>
          </a:prstGeom>
          <a:solidFill>
            <a:srgbClr val="EAF1FB"/>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sz="2800"/>
          </a:p>
        </p:txBody>
      </p:sp>
      <p:sp>
        <p:nvSpPr>
          <p:cNvPr id="5" name="Text 3"/>
          <p:cNvSpPr/>
          <p:nvPr/>
        </p:nvSpPr>
        <p:spPr>
          <a:xfrm>
            <a:off x="777240" y="1417320"/>
            <a:ext cx="2743200" cy="320040"/>
          </a:xfrm>
          <a:prstGeom prst="rect">
            <a:avLst/>
          </a:prstGeom>
          <a:noFill/>
          <a:ln/>
        </p:spPr>
        <p:txBody>
          <a:bodyPr wrap="square" lIns="0" tIns="0" rIns="0" bIns="0" rtlCol="0" anchor="ctr"/>
          <a:lstStyle/>
          <a:p>
            <a:pPr marL="0" indent="0">
              <a:buNone/>
            </a:pPr>
            <a:r>
              <a:rPr lang="en-US" sz="2000" b="1" dirty="0">
                <a:solidFill>
                  <a:srgbClr val="0E3F7E"/>
                </a:solidFill>
                <a:latin typeface="Calibri" pitchFamily="34" charset="0"/>
                <a:ea typeface="Calibri" pitchFamily="34" charset="-122"/>
                <a:cs typeface="Calibri" pitchFamily="34" charset="-120"/>
              </a:rPr>
              <a:t>Concepto</a:t>
            </a:r>
            <a:endParaRPr lang="en-US" sz="2000" dirty="0"/>
          </a:p>
        </p:txBody>
      </p:sp>
      <p:sp>
        <p:nvSpPr>
          <p:cNvPr id="6" name="Text 4"/>
          <p:cNvSpPr/>
          <p:nvPr/>
        </p:nvSpPr>
        <p:spPr>
          <a:xfrm>
            <a:off x="777240" y="1737360"/>
            <a:ext cx="10698480" cy="868680"/>
          </a:xfrm>
          <a:prstGeom prst="rect">
            <a:avLst/>
          </a:prstGeom>
          <a:noFill/>
          <a:ln/>
        </p:spPr>
        <p:txBody>
          <a:bodyPr wrap="square" rtlCol="0" anchor="ctr"/>
          <a:lstStyle/>
          <a:p>
            <a:pPr marL="0" indent="0">
              <a:buNone/>
            </a:pPr>
            <a:r>
              <a:rPr lang="en-US" dirty="0">
                <a:solidFill>
                  <a:srgbClr val="1A1A1A"/>
                </a:solidFill>
                <a:latin typeface="Calibri" pitchFamily="34" charset="0"/>
                <a:ea typeface="Calibri" pitchFamily="34" charset="-122"/>
                <a:cs typeface="Calibri" pitchFamily="34" charset="-120"/>
              </a:rPr>
              <a:t>Cada escritura crea una NUEVA VERSION del registro etiquetada con el identificador de la transaccion. Cada transaccion ve una SNAPSHOT consistente del estado del sistema al momento en que inicio. Las lecturas NUNCA bloquean escrituras ni viceversa.</a:t>
            </a:r>
            <a:endParaRPr lang="en-US" dirty="0"/>
          </a:p>
        </p:txBody>
      </p:sp>
      <p:sp>
        <p:nvSpPr>
          <p:cNvPr id="7" name="Shape 5"/>
          <p:cNvSpPr/>
          <p:nvPr/>
        </p:nvSpPr>
        <p:spPr>
          <a:xfrm>
            <a:off x="548640" y="2834640"/>
            <a:ext cx="5486400" cy="3566160"/>
          </a:xfrm>
          <a:prstGeom prst="roundRect">
            <a:avLst>
              <a:gd name="adj" fmla="val 2051"/>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8" name="Text 6"/>
          <p:cNvSpPr/>
          <p:nvPr/>
        </p:nvSpPr>
        <p:spPr>
          <a:xfrm>
            <a:off x="777240" y="2971800"/>
            <a:ext cx="5029200" cy="365760"/>
          </a:xfrm>
          <a:prstGeom prst="rect">
            <a:avLst/>
          </a:prstGeom>
          <a:noFill/>
          <a:ln/>
        </p:spPr>
        <p:txBody>
          <a:bodyPr wrap="square" lIns="0" tIns="0" rIns="0" bIns="0" rtlCol="0" anchor="ctr"/>
          <a:lstStyle/>
          <a:p>
            <a:pPr marL="0" indent="0">
              <a:buNone/>
            </a:pPr>
            <a:r>
              <a:rPr lang="en-US" sz="2000" b="1" dirty="0">
                <a:solidFill>
                  <a:srgbClr val="0E3F7E"/>
                </a:solidFill>
                <a:latin typeface="Calibri" pitchFamily="34" charset="0"/>
                <a:ea typeface="Calibri" pitchFamily="34" charset="-122"/>
                <a:cs typeface="Calibri" pitchFamily="34" charset="-120"/>
              </a:rPr>
              <a:t>Implementacion en PostgreSQL</a:t>
            </a:r>
            <a:endParaRPr lang="en-US" sz="2000" dirty="0"/>
          </a:p>
        </p:txBody>
      </p:sp>
      <p:sp>
        <p:nvSpPr>
          <p:cNvPr id="9" name="Text 7"/>
          <p:cNvSpPr/>
          <p:nvPr/>
        </p:nvSpPr>
        <p:spPr>
          <a:xfrm>
            <a:off x="777240" y="3383280"/>
            <a:ext cx="5029200" cy="365760"/>
          </a:xfrm>
          <a:prstGeom prst="rect">
            <a:avLst/>
          </a:prstGeom>
          <a:noFill/>
          <a:ln/>
        </p:spPr>
        <p:txBody>
          <a:bodyPr wrap="square" rtlCol="0" anchor="ctr"/>
          <a:lstStyle/>
          <a:p>
            <a:pPr marL="0" indent="0">
              <a:buNone/>
            </a:pPr>
            <a:r>
              <a:rPr lang="en-US" dirty="0">
                <a:solidFill>
                  <a:srgbClr val="1A1A1A"/>
                </a:solidFill>
                <a:latin typeface="Calibri" pitchFamily="34" charset="0"/>
                <a:ea typeface="Calibri" pitchFamily="34" charset="-122"/>
                <a:cs typeface="Calibri" pitchFamily="34" charset="-120"/>
              </a:rPr>
              <a:t>Cada tupla almacena dos campos:</a:t>
            </a:r>
            <a:endParaRPr lang="en-US" dirty="0"/>
          </a:p>
        </p:txBody>
      </p:sp>
      <p:sp>
        <p:nvSpPr>
          <p:cNvPr id="10" name="Shape 8"/>
          <p:cNvSpPr/>
          <p:nvPr/>
        </p:nvSpPr>
        <p:spPr>
          <a:xfrm>
            <a:off x="777240" y="3794760"/>
            <a:ext cx="5029200" cy="1280160"/>
          </a:xfrm>
          <a:prstGeom prst="roundRect">
            <a:avLst>
              <a:gd name="adj" fmla="val 5714"/>
            </a:avLst>
          </a:prstGeom>
          <a:solidFill>
            <a:srgbClr val="EAF1FB"/>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sz="2800"/>
          </a:p>
        </p:txBody>
      </p:sp>
      <p:sp>
        <p:nvSpPr>
          <p:cNvPr id="11" name="Text 9"/>
          <p:cNvSpPr/>
          <p:nvPr/>
        </p:nvSpPr>
        <p:spPr>
          <a:xfrm>
            <a:off x="914400" y="3886200"/>
            <a:ext cx="4800600" cy="1143000"/>
          </a:xfrm>
          <a:prstGeom prst="rect">
            <a:avLst/>
          </a:prstGeom>
          <a:noFill/>
          <a:ln/>
        </p:spPr>
        <p:txBody>
          <a:bodyPr wrap="square" rtlCol="0" anchor="ctr"/>
          <a:lstStyle/>
          <a:p>
            <a:pPr marL="0" indent="0">
              <a:buNone/>
            </a:pPr>
            <a:r>
              <a:rPr lang="en-US" b="1" dirty="0">
                <a:solidFill>
                  <a:srgbClr val="0E3F7E"/>
                </a:solidFill>
                <a:latin typeface="Calibri" pitchFamily="34" charset="0"/>
                <a:ea typeface="Calibri" pitchFamily="34" charset="-122"/>
                <a:cs typeface="Calibri" pitchFamily="34" charset="-120"/>
              </a:rPr>
              <a:t>xmin</a:t>
            </a:r>
            <a:r>
              <a:rPr lang="en-US" sz="1600" dirty="0">
                <a:solidFill>
                  <a:srgbClr val="1A1A1A"/>
                </a:solidFill>
                <a:latin typeface="Calibri" pitchFamily="34" charset="0"/>
                <a:ea typeface="Calibri" pitchFamily="34" charset="-122"/>
                <a:cs typeface="Calibri" pitchFamily="34" charset="-120"/>
              </a:rPr>
              <a:t>: id de transaccion que la inserto</a:t>
            </a:r>
            <a:endParaRPr lang="en-US" dirty="0"/>
          </a:p>
          <a:p>
            <a:pPr marL="0" indent="0">
              <a:buNone/>
            </a:pPr>
            <a:r>
              <a:rPr lang="en-US" b="1" dirty="0">
                <a:solidFill>
                  <a:srgbClr val="2E86A1"/>
                </a:solidFill>
                <a:latin typeface="Calibri" pitchFamily="34" charset="0"/>
                <a:ea typeface="Calibri" pitchFamily="34" charset="-122"/>
                <a:cs typeface="Calibri" pitchFamily="34" charset="-120"/>
              </a:rPr>
              <a:t>xmax</a:t>
            </a:r>
            <a:r>
              <a:rPr lang="en-US" sz="1600" dirty="0">
                <a:solidFill>
                  <a:srgbClr val="1A1A1A"/>
                </a:solidFill>
                <a:latin typeface="Calibri" pitchFamily="34" charset="0"/>
                <a:ea typeface="Calibri" pitchFamily="34" charset="-122"/>
                <a:cs typeface="Calibri" pitchFamily="34" charset="-120"/>
              </a:rPr>
              <a:t>: id de transaccion que la elimino o reemplazo</a:t>
            </a:r>
            <a:endParaRPr lang="en-US" dirty="0"/>
          </a:p>
        </p:txBody>
      </p:sp>
      <p:sp>
        <p:nvSpPr>
          <p:cNvPr id="12" name="Text 10"/>
          <p:cNvSpPr/>
          <p:nvPr/>
        </p:nvSpPr>
        <p:spPr>
          <a:xfrm>
            <a:off x="777240" y="5212080"/>
            <a:ext cx="5029200" cy="1097280"/>
          </a:xfrm>
          <a:prstGeom prst="rect">
            <a:avLst/>
          </a:prstGeom>
          <a:noFill/>
          <a:ln/>
        </p:spPr>
        <p:txBody>
          <a:bodyPr wrap="square" rtlCol="0" anchor="ctr"/>
          <a:lstStyle/>
          <a:p>
            <a:pPr marL="0" indent="0">
              <a:buNone/>
            </a:pPr>
            <a:r>
              <a:rPr lang="en-US" sz="1600" dirty="0">
                <a:solidFill>
                  <a:srgbClr val="1A1A1A"/>
                </a:solidFill>
                <a:latin typeface="Calibri" pitchFamily="34" charset="0"/>
                <a:ea typeface="Calibri" pitchFamily="34" charset="-122"/>
                <a:cs typeface="Calibri" pitchFamily="34" charset="-120"/>
              </a:rPr>
              <a:t>Una transaccion T ve una version si: xmin &lt;= T  AND  (xmax &gt; T  OR  xmax = NULL). Versiones obsoletas se eliminan con VACUUM.</a:t>
            </a:r>
            <a:endParaRPr lang="en-US" sz="1600" dirty="0"/>
          </a:p>
        </p:txBody>
      </p:sp>
      <p:sp>
        <p:nvSpPr>
          <p:cNvPr id="13" name="Shape 11"/>
          <p:cNvSpPr/>
          <p:nvPr/>
        </p:nvSpPr>
        <p:spPr>
          <a:xfrm>
            <a:off x="6172200" y="2834640"/>
            <a:ext cx="5486400" cy="3566160"/>
          </a:xfrm>
          <a:prstGeom prst="roundRect">
            <a:avLst>
              <a:gd name="adj" fmla="val 2051"/>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14" name="Text 12"/>
          <p:cNvSpPr/>
          <p:nvPr/>
        </p:nvSpPr>
        <p:spPr>
          <a:xfrm>
            <a:off x="6400800" y="2971800"/>
            <a:ext cx="5029200" cy="365760"/>
          </a:xfrm>
          <a:prstGeom prst="rect">
            <a:avLst/>
          </a:prstGeom>
          <a:noFill/>
          <a:ln/>
        </p:spPr>
        <p:txBody>
          <a:bodyPr wrap="square" lIns="0" tIns="0" rIns="0" bIns="0" rtlCol="0" anchor="ctr"/>
          <a:lstStyle/>
          <a:p>
            <a:pPr marL="0" indent="0">
              <a:buNone/>
            </a:pPr>
            <a:r>
              <a:rPr lang="en-US" sz="2000" b="1" dirty="0">
                <a:solidFill>
                  <a:srgbClr val="2E86A1"/>
                </a:solidFill>
                <a:latin typeface="Calibri" pitchFamily="34" charset="0"/>
                <a:ea typeface="Calibri" pitchFamily="34" charset="-122"/>
                <a:cs typeface="Calibri" pitchFamily="34" charset="-120"/>
              </a:rPr>
              <a:t>Comparacion MVCC vs 2PL</a:t>
            </a:r>
            <a:endParaRPr lang="en-US" sz="2000" dirty="0"/>
          </a:p>
        </p:txBody>
      </p:sp>
      <p:sp>
        <p:nvSpPr>
          <p:cNvPr id="15" name="Text 13"/>
          <p:cNvSpPr/>
          <p:nvPr/>
        </p:nvSpPr>
        <p:spPr>
          <a:xfrm>
            <a:off x="6400800" y="3474720"/>
            <a:ext cx="1828800" cy="457200"/>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Bloqueos en lectura</a:t>
            </a:r>
            <a:endParaRPr lang="en-US" sz="1400" dirty="0"/>
          </a:p>
        </p:txBody>
      </p:sp>
      <p:sp>
        <p:nvSpPr>
          <p:cNvPr id="16" name="Text 14"/>
          <p:cNvSpPr/>
          <p:nvPr/>
        </p:nvSpPr>
        <p:spPr>
          <a:xfrm>
            <a:off x="8229600" y="3474720"/>
            <a:ext cx="1645920" cy="457200"/>
          </a:xfrm>
          <a:prstGeom prst="rect">
            <a:avLst/>
          </a:prstGeom>
          <a:noFill/>
          <a:ln/>
        </p:spPr>
        <p:txBody>
          <a:bodyPr wrap="square" lIns="0" tIns="0" rIns="0" bIns="0" rtlCol="0" anchor="ctr"/>
          <a:lstStyle/>
          <a:p>
            <a:pPr marL="0" indent="0">
              <a:buNone/>
            </a:pPr>
            <a:r>
              <a:rPr lang="en-US" sz="1400" dirty="0">
                <a:solidFill>
                  <a:srgbClr val="4FAE60"/>
                </a:solidFill>
                <a:latin typeface="Calibri" pitchFamily="34" charset="0"/>
                <a:ea typeface="Calibri" pitchFamily="34" charset="-122"/>
                <a:cs typeface="Calibri" pitchFamily="34" charset="-120"/>
              </a:rPr>
              <a:t>Ninguno</a:t>
            </a:r>
            <a:endParaRPr lang="en-US" sz="1400" dirty="0"/>
          </a:p>
        </p:txBody>
      </p:sp>
      <p:sp>
        <p:nvSpPr>
          <p:cNvPr id="17" name="Text 15"/>
          <p:cNvSpPr/>
          <p:nvPr/>
        </p:nvSpPr>
        <p:spPr>
          <a:xfrm>
            <a:off x="9875520" y="3474720"/>
            <a:ext cx="1554480" cy="457200"/>
          </a:xfrm>
          <a:prstGeom prst="rect">
            <a:avLst/>
          </a:prstGeom>
          <a:noFill/>
          <a:ln/>
        </p:spPr>
        <p:txBody>
          <a:bodyPr wrap="square" lIns="0" tIns="0" rIns="0" bIns="0" rtlCol="0" anchor="ctr"/>
          <a:lstStyle/>
          <a:p>
            <a:pPr marL="0" indent="0">
              <a:buNone/>
            </a:pPr>
            <a:r>
              <a:rPr lang="en-US" sz="1400" dirty="0">
                <a:solidFill>
                  <a:srgbClr val="F2A413"/>
                </a:solidFill>
                <a:latin typeface="Calibri" pitchFamily="34" charset="0"/>
                <a:ea typeface="Calibri" pitchFamily="34" charset="-122"/>
                <a:cs typeface="Calibri" pitchFamily="34" charset="-120"/>
              </a:rPr>
              <a:t>Si (S lock)</a:t>
            </a:r>
            <a:endParaRPr lang="en-US" sz="1400" dirty="0"/>
          </a:p>
        </p:txBody>
      </p:sp>
      <p:sp>
        <p:nvSpPr>
          <p:cNvPr id="18" name="Text 16"/>
          <p:cNvSpPr/>
          <p:nvPr/>
        </p:nvSpPr>
        <p:spPr>
          <a:xfrm>
            <a:off x="6400800" y="4023360"/>
            <a:ext cx="1828800" cy="457200"/>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Versiones por registro</a:t>
            </a:r>
            <a:endParaRPr lang="en-US" sz="1400" dirty="0"/>
          </a:p>
        </p:txBody>
      </p:sp>
      <p:sp>
        <p:nvSpPr>
          <p:cNvPr id="19" name="Text 17"/>
          <p:cNvSpPr/>
          <p:nvPr/>
        </p:nvSpPr>
        <p:spPr>
          <a:xfrm>
            <a:off x="8229600" y="4023360"/>
            <a:ext cx="1645920" cy="457200"/>
          </a:xfrm>
          <a:prstGeom prst="rect">
            <a:avLst/>
          </a:prstGeom>
          <a:noFill/>
          <a:ln/>
        </p:spPr>
        <p:txBody>
          <a:bodyPr wrap="square" lIns="0" tIns="0" rIns="0" bIns="0" rtlCol="0" anchor="ctr"/>
          <a:lstStyle/>
          <a:p>
            <a:pPr marL="0" indent="0">
              <a:buNone/>
            </a:pPr>
            <a:r>
              <a:rPr lang="en-US" sz="1400" dirty="0">
                <a:solidFill>
                  <a:srgbClr val="4FAE60"/>
                </a:solidFill>
                <a:latin typeface="Calibri" pitchFamily="34" charset="0"/>
                <a:ea typeface="Calibri" pitchFamily="34" charset="-122"/>
                <a:cs typeface="Calibri" pitchFamily="34" charset="-120"/>
              </a:rPr>
              <a:t>Multiples</a:t>
            </a:r>
            <a:endParaRPr lang="en-US" sz="1400" dirty="0"/>
          </a:p>
        </p:txBody>
      </p:sp>
      <p:sp>
        <p:nvSpPr>
          <p:cNvPr id="20" name="Text 18"/>
          <p:cNvSpPr/>
          <p:nvPr/>
        </p:nvSpPr>
        <p:spPr>
          <a:xfrm>
            <a:off x="9875520" y="4023360"/>
            <a:ext cx="1554480" cy="457200"/>
          </a:xfrm>
          <a:prstGeom prst="rect">
            <a:avLst/>
          </a:prstGeom>
          <a:noFill/>
          <a:ln/>
        </p:spPr>
        <p:txBody>
          <a:bodyPr wrap="square" lIns="0" tIns="0" rIns="0" bIns="0" rtlCol="0" anchor="ctr"/>
          <a:lstStyle/>
          <a:p>
            <a:pPr marL="0" indent="0">
              <a:buNone/>
            </a:pPr>
            <a:r>
              <a:rPr lang="en-US" sz="1400" dirty="0">
                <a:solidFill>
                  <a:srgbClr val="F2A413"/>
                </a:solidFill>
                <a:latin typeface="Calibri" pitchFamily="34" charset="0"/>
                <a:ea typeface="Calibri" pitchFamily="34" charset="-122"/>
                <a:cs typeface="Calibri" pitchFamily="34" charset="-120"/>
              </a:rPr>
              <a:t>Una sola</a:t>
            </a:r>
            <a:endParaRPr lang="en-US" sz="1400" dirty="0"/>
          </a:p>
        </p:txBody>
      </p:sp>
      <p:sp>
        <p:nvSpPr>
          <p:cNvPr id="21" name="Text 19"/>
          <p:cNvSpPr/>
          <p:nvPr/>
        </p:nvSpPr>
        <p:spPr>
          <a:xfrm>
            <a:off x="6400800" y="4572000"/>
            <a:ext cx="1828800" cy="457200"/>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Lectura sin bloqueo</a:t>
            </a:r>
            <a:endParaRPr lang="en-US" sz="1400" dirty="0"/>
          </a:p>
        </p:txBody>
      </p:sp>
      <p:sp>
        <p:nvSpPr>
          <p:cNvPr id="22" name="Text 20"/>
          <p:cNvSpPr/>
          <p:nvPr/>
        </p:nvSpPr>
        <p:spPr>
          <a:xfrm>
            <a:off x="8229600" y="4572000"/>
            <a:ext cx="1645920" cy="457200"/>
          </a:xfrm>
          <a:prstGeom prst="rect">
            <a:avLst/>
          </a:prstGeom>
          <a:noFill/>
          <a:ln/>
        </p:spPr>
        <p:txBody>
          <a:bodyPr wrap="square" lIns="0" tIns="0" rIns="0" bIns="0" rtlCol="0" anchor="ctr"/>
          <a:lstStyle/>
          <a:p>
            <a:pPr marL="0" indent="0">
              <a:buNone/>
            </a:pPr>
            <a:r>
              <a:rPr lang="en-US" sz="1400" dirty="0">
                <a:solidFill>
                  <a:srgbClr val="4FAE60"/>
                </a:solidFill>
                <a:latin typeface="Calibri" pitchFamily="34" charset="0"/>
                <a:ea typeface="Calibri" pitchFamily="34" charset="-122"/>
                <a:cs typeface="Calibri" pitchFamily="34" charset="-120"/>
              </a:rPr>
              <a:t>Si</a:t>
            </a:r>
            <a:endParaRPr lang="en-US" sz="1400" dirty="0"/>
          </a:p>
        </p:txBody>
      </p:sp>
      <p:sp>
        <p:nvSpPr>
          <p:cNvPr id="23" name="Text 21"/>
          <p:cNvSpPr/>
          <p:nvPr/>
        </p:nvSpPr>
        <p:spPr>
          <a:xfrm>
            <a:off x="9875520" y="4572000"/>
            <a:ext cx="1554480" cy="457200"/>
          </a:xfrm>
          <a:prstGeom prst="rect">
            <a:avLst/>
          </a:prstGeom>
          <a:noFill/>
          <a:ln/>
        </p:spPr>
        <p:txBody>
          <a:bodyPr wrap="square" lIns="0" tIns="0" rIns="0" bIns="0" rtlCol="0" anchor="ctr"/>
          <a:lstStyle/>
          <a:p>
            <a:pPr marL="0" indent="0">
              <a:buNone/>
            </a:pPr>
            <a:r>
              <a:rPr lang="en-US" sz="1400" dirty="0">
                <a:solidFill>
                  <a:srgbClr val="F2A413"/>
                </a:solidFill>
                <a:latin typeface="Calibri" pitchFamily="34" charset="0"/>
                <a:ea typeface="Calibri" pitchFamily="34" charset="-122"/>
                <a:cs typeface="Calibri" pitchFamily="34" charset="-120"/>
              </a:rPr>
              <a:t>Bloqueada si X</a:t>
            </a:r>
            <a:endParaRPr lang="en-US" sz="1400" dirty="0"/>
          </a:p>
        </p:txBody>
      </p:sp>
      <p:sp>
        <p:nvSpPr>
          <p:cNvPr id="24" name="Text 22"/>
          <p:cNvSpPr/>
          <p:nvPr/>
        </p:nvSpPr>
        <p:spPr>
          <a:xfrm>
            <a:off x="6400800" y="5120640"/>
            <a:ext cx="1828800" cy="457200"/>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Mantenimiento</a:t>
            </a:r>
            <a:endParaRPr lang="en-US" sz="1400" dirty="0"/>
          </a:p>
        </p:txBody>
      </p:sp>
      <p:sp>
        <p:nvSpPr>
          <p:cNvPr id="25" name="Text 23"/>
          <p:cNvSpPr/>
          <p:nvPr/>
        </p:nvSpPr>
        <p:spPr>
          <a:xfrm>
            <a:off x="8229600" y="5120640"/>
            <a:ext cx="1645920" cy="457200"/>
          </a:xfrm>
          <a:prstGeom prst="rect">
            <a:avLst/>
          </a:prstGeom>
          <a:noFill/>
          <a:ln/>
        </p:spPr>
        <p:txBody>
          <a:bodyPr wrap="square" lIns="0" tIns="0" rIns="0" bIns="0" rtlCol="0" anchor="ctr"/>
          <a:lstStyle/>
          <a:p>
            <a:pPr marL="0" indent="0">
              <a:buNone/>
            </a:pPr>
            <a:r>
              <a:rPr lang="en-US" sz="1400" dirty="0">
                <a:solidFill>
                  <a:srgbClr val="4FAE60"/>
                </a:solidFill>
                <a:latin typeface="Calibri" pitchFamily="34" charset="0"/>
                <a:ea typeface="Calibri" pitchFamily="34" charset="-122"/>
                <a:cs typeface="Calibri" pitchFamily="34" charset="-120"/>
              </a:rPr>
              <a:t>VACUUM/cleanup</a:t>
            </a:r>
            <a:endParaRPr lang="en-US" sz="1400" dirty="0"/>
          </a:p>
        </p:txBody>
      </p:sp>
      <p:sp>
        <p:nvSpPr>
          <p:cNvPr id="26" name="Text 24"/>
          <p:cNvSpPr/>
          <p:nvPr/>
        </p:nvSpPr>
        <p:spPr>
          <a:xfrm>
            <a:off x="9875520" y="5120640"/>
            <a:ext cx="1554480" cy="457200"/>
          </a:xfrm>
          <a:prstGeom prst="rect">
            <a:avLst/>
          </a:prstGeom>
          <a:noFill/>
          <a:ln/>
        </p:spPr>
        <p:txBody>
          <a:bodyPr wrap="square" lIns="0" tIns="0" rIns="0" bIns="0" rtlCol="0" anchor="ctr"/>
          <a:lstStyle/>
          <a:p>
            <a:pPr marL="0" indent="0">
              <a:buNone/>
            </a:pPr>
            <a:r>
              <a:rPr lang="en-US" sz="1400" dirty="0">
                <a:solidFill>
                  <a:srgbClr val="F2A413"/>
                </a:solidFill>
                <a:latin typeface="Calibri" pitchFamily="34" charset="0"/>
                <a:ea typeface="Calibri" pitchFamily="34" charset="-122"/>
                <a:cs typeface="Calibri" pitchFamily="34" charset="-120"/>
              </a:rPr>
              <a:t>Liberacion de bloqueos</a:t>
            </a:r>
            <a:endParaRPr lang="en-US" sz="1400" dirty="0"/>
          </a:p>
        </p:txBody>
      </p:sp>
      <p:sp>
        <p:nvSpPr>
          <p:cNvPr id="27" name="Text 25"/>
          <p:cNvSpPr/>
          <p:nvPr/>
        </p:nvSpPr>
        <p:spPr>
          <a:xfrm>
            <a:off x="6400800" y="5669280"/>
            <a:ext cx="1828800" cy="457200"/>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Usado por</a:t>
            </a:r>
            <a:endParaRPr lang="en-US" sz="1400" dirty="0"/>
          </a:p>
        </p:txBody>
      </p:sp>
      <p:sp>
        <p:nvSpPr>
          <p:cNvPr id="28" name="Text 26"/>
          <p:cNvSpPr/>
          <p:nvPr/>
        </p:nvSpPr>
        <p:spPr>
          <a:xfrm>
            <a:off x="8229600" y="5669280"/>
            <a:ext cx="1645920" cy="457200"/>
          </a:xfrm>
          <a:prstGeom prst="rect">
            <a:avLst/>
          </a:prstGeom>
          <a:noFill/>
          <a:ln/>
        </p:spPr>
        <p:txBody>
          <a:bodyPr wrap="square" lIns="0" tIns="0" rIns="0" bIns="0" rtlCol="0" anchor="ctr"/>
          <a:lstStyle/>
          <a:p>
            <a:pPr marL="0" indent="0">
              <a:buNone/>
            </a:pPr>
            <a:r>
              <a:rPr lang="en-US" sz="1400" dirty="0">
                <a:solidFill>
                  <a:srgbClr val="4FAE60"/>
                </a:solidFill>
                <a:latin typeface="Calibri" pitchFamily="34" charset="0"/>
                <a:ea typeface="Calibri" pitchFamily="34" charset="-122"/>
                <a:cs typeface="Calibri" pitchFamily="34" charset="-120"/>
              </a:rPr>
              <a:t>PostgreSQL, Cockroach</a:t>
            </a:r>
            <a:endParaRPr lang="en-US" sz="1400" dirty="0"/>
          </a:p>
        </p:txBody>
      </p:sp>
      <p:sp>
        <p:nvSpPr>
          <p:cNvPr id="29" name="Text 27"/>
          <p:cNvSpPr/>
          <p:nvPr/>
        </p:nvSpPr>
        <p:spPr>
          <a:xfrm>
            <a:off x="9875520" y="5669280"/>
            <a:ext cx="1554480" cy="457200"/>
          </a:xfrm>
          <a:prstGeom prst="rect">
            <a:avLst/>
          </a:prstGeom>
          <a:noFill/>
          <a:ln/>
        </p:spPr>
        <p:txBody>
          <a:bodyPr wrap="square" lIns="0" tIns="0" rIns="0" bIns="0" rtlCol="0" anchor="ctr"/>
          <a:lstStyle/>
          <a:p>
            <a:pPr marL="0" indent="0">
              <a:buNone/>
            </a:pPr>
            <a:r>
              <a:rPr lang="en-US" sz="1400" dirty="0">
                <a:solidFill>
                  <a:srgbClr val="F2A413"/>
                </a:solidFill>
                <a:latin typeface="Calibri" pitchFamily="34" charset="0"/>
                <a:ea typeface="Calibri" pitchFamily="34" charset="-122"/>
                <a:cs typeface="Calibri" pitchFamily="34" charset="-120"/>
              </a:rPr>
              <a:t>MySQL clasico, SQL Srv</a:t>
            </a:r>
            <a:endParaRPr lang="en-US" sz="1400" dirty="0"/>
          </a:p>
        </p:txBody>
      </p:sp>
      <p:sp>
        <p:nvSpPr>
          <p:cNvPr id="30" name="Text 28"/>
          <p:cNvSpPr/>
          <p:nvPr/>
        </p:nvSpPr>
        <p:spPr>
          <a:xfrm>
            <a:off x="457200" y="6492240"/>
            <a:ext cx="8229600" cy="274320"/>
          </a:xfrm>
          <a:prstGeom prst="rect">
            <a:avLst/>
          </a:prstGeom>
          <a:noFill/>
          <a:ln/>
        </p:spPr>
        <p:txBody>
          <a:bodyPr wrap="square" rtlCol="0" anchor="ctr"/>
          <a:lstStyle/>
          <a:p>
            <a:pPr marL="0" indent="0">
              <a:buNone/>
            </a:pPr>
            <a:r>
              <a:rPr lang="en-US" sz="900" dirty="0">
                <a:solidFill>
                  <a:srgbClr val="4A4A4A"/>
                </a:solidFill>
                <a:latin typeface="Calibri" pitchFamily="34" charset="0"/>
                <a:ea typeface="Calibri" pitchFamily="34" charset="-122"/>
                <a:cs typeface="Calibri" pitchFamily="34" charset="-120"/>
              </a:rPr>
              <a:t>UTEQ - Aplicaciones Distribuidas (ISR-701) - Unidad 3</a:t>
            </a:r>
            <a:endParaRPr lang="en-US" sz="900" dirty="0"/>
          </a:p>
        </p:txBody>
      </p:sp>
      <p:sp>
        <p:nvSpPr>
          <p:cNvPr id="31" name="Text 29"/>
          <p:cNvSpPr/>
          <p:nvPr/>
        </p:nvSpPr>
        <p:spPr>
          <a:xfrm>
            <a:off x="10789920" y="6492240"/>
            <a:ext cx="914400" cy="274320"/>
          </a:xfrm>
          <a:prstGeom prst="rect">
            <a:avLst/>
          </a:prstGeom>
          <a:noFill/>
          <a:ln/>
        </p:spPr>
        <p:txBody>
          <a:bodyPr wrap="square"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26 / 42</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marL="0" indent="0">
              <a:buNone/>
            </a:pPr>
            <a:r>
              <a:rPr lang="en-US" sz="4400" b="1" dirty="0">
                <a:solidFill>
                  <a:srgbClr val="0E3F7E"/>
                </a:solidFill>
                <a:latin typeface="Calibri" pitchFamily="34" charset="0"/>
                <a:ea typeface="Calibri" pitchFamily="34" charset="-122"/>
                <a:cs typeface="Calibri" pitchFamily="34" charset="-120"/>
              </a:rPr>
              <a:t>Teorema CAP aplicado a BDD</a:t>
            </a:r>
            <a:endParaRPr lang="en-US" sz="4400" dirty="0"/>
          </a:p>
        </p:txBody>
      </p:sp>
      <p:sp>
        <p:nvSpPr>
          <p:cNvPr id="3" name="Text 1"/>
          <p:cNvSpPr/>
          <p:nvPr/>
        </p:nvSpPr>
        <p:spPr>
          <a:xfrm>
            <a:off x="457200" y="777240"/>
            <a:ext cx="11247120" cy="320040"/>
          </a:xfrm>
          <a:prstGeom prst="rect">
            <a:avLst/>
          </a:prstGeom>
          <a:noFill/>
          <a:ln/>
        </p:spPr>
        <p:txBody>
          <a:bodyPr wrap="square" lIns="0" tIns="0" rIns="0" bIns="0" rtlCol="0" anchor="ctr"/>
          <a:lstStyle/>
          <a:p>
            <a:pPr marL="0" indent="0">
              <a:buNone/>
            </a:pPr>
            <a:r>
              <a:rPr lang="en-US" sz="2400" i="1" dirty="0">
                <a:solidFill>
                  <a:srgbClr val="2E86A1"/>
                </a:solidFill>
                <a:latin typeface="Calibri" pitchFamily="34" charset="0"/>
                <a:ea typeface="Calibri" pitchFamily="34" charset="-122"/>
                <a:cs typeface="Calibri" pitchFamily="34" charset="-120"/>
              </a:rPr>
              <a:t>Eleccion explicita entre Consistencia y Disponibilidad</a:t>
            </a:r>
            <a:endParaRPr lang="en-US" sz="2400" dirty="0"/>
          </a:p>
        </p:txBody>
      </p:sp>
      <p:sp>
        <p:nvSpPr>
          <p:cNvPr id="4" name="Shape 2"/>
          <p:cNvSpPr/>
          <p:nvPr/>
        </p:nvSpPr>
        <p:spPr>
          <a:xfrm>
            <a:off x="533400" y="1097280"/>
            <a:ext cx="5486400" cy="5303520"/>
          </a:xfrm>
          <a:prstGeom prst="roundRect">
            <a:avLst>
              <a:gd name="adj" fmla="val 1429"/>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sz="3200"/>
          </a:p>
        </p:txBody>
      </p:sp>
      <p:sp>
        <p:nvSpPr>
          <p:cNvPr id="5" name="Text 3"/>
          <p:cNvSpPr/>
          <p:nvPr/>
        </p:nvSpPr>
        <p:spPr>
          <a:xfrm>
            <a:off x="777240" y="1188720"/>
            <a:ext cx="5029200" cy="594360"/>
          </a:xfrm>
          <a:prstGeom prst="rect">
            <a:avLst/>
          </a:prstGeom>
          <a:noFill/>
          <a:ln/>
        </p:spPr>
        <p:txBody>
          <a:bodyPr wrap="square" lIns="0" tIns="0" rIns="0" bIns="0" rtlCol="0" anchor="ctr"/>
          <a:lstStyle/>
          <a:p>
            <a:pPr marL="0" indent="0">
              <a:buNone/>
            </a:pPr>
            <a:r>
              <a:rPr lang="en-US" sz="2400" b="1" dirty="0">
                <a:solidFill>
                  <a:srgbClr val="0E3F7E"/>
                </a:solidFill>
                <a:latin typeface="Calibri" pitchFamily="34" charset="0"/>
                <a:ea typeface="Calibri" pitchFamily="34" charset="-122"/>
                <a:cs typeface="Calibri" pitchFamily="34" charset="-120"/>
              </a:rPr>
              <a:t>Teorema CAP (Brewer 2000, formalizado 2002)</a:t>
            </a:r>
            <a:endParaRPr lang="en-US" sz="2400" dirty="0"/>
          </a:p>
        </p:txBody>
      </p:sp>
      <p:sp>
        <p:nvSpPr>
          <p:cNvPr id="6" name="Text 4"/>
          <p:cNvSpPr/>
          <p:nvPr/>
        </p:nvSpPr>
        <p:spPr>
          <a:xfrm>
            <a:off x="777240" y="1929384"/>
            <a:ext cx="5029200" cy="548640"/>
          </a:xfrm>
          <a:prstGeom prst="rect">
            <a:avLst/>
          </a:prstGeom>
          <a:noFill/>
          <a:ln/>
        </p:spPr>
        <p:txBody>
          <a:bodyPr wrap="square" rtlCol="0" anchor="ctr"/>
          <a:lstStyle/>
          <a:p>
            <a:pPr marL="0" indent="0">
              <a:buNone/>
            </a:pPr>
            <a:r>
              <a:rPr lang="en-US" sz="2000" dirty="0">
                <a:solidFill>
                  <a:srgbClr val="1A1A1A"/>
                </a:solidFill>
                <a:latin typeface="Calibri" pitchFamily="34" charset="0"/>
                <a:ea typeface="Calibri" pitchFamily="34" charset="-122"/>
                <a:cs typeface="Calibri" pitchFamily="34" charset="-120"/>
              </a:rPr>
              <a:t>Un sistema distribuido no puede garantizar simultaneamente las tres propiedades:</a:t>
            </a:r>
            <a:endParaRPr lang="en-US" sz="2000" dirty="0"/>
          </a:p>
        </p:txBody>
      </p:sp>
      <p:sp>
        <p:nvSpPr>
          <p:cNvPr id="7" name="Shape 5"/>
          <p:cNvSpPr/>
          <p:nvPr/>
        </p:nvSpPr>
        <p:spPr>
          <a:xfrm>
            <a:off x="728472" y="2618232"/>
            <a:ext cx="594360" cy="594360"/>
          </a:xfrm>
          <a:prstGeom prst="ellipse">
            <a:avLst/>
          </a:prstGeom>
          <a:solidFill>
            <a:srgbClr val="0E3F7E"/>
          </a:solidFill>
          <a:ln/>
        </p:spPr>
        <p:txBody>
          <a:bodyPr/>
          <a:lstStyle/>
          <a:p>
            <a:endParaRPr lang="es-US" sz="3200"/>
          </a:p>
        </p:txBody>
      </p:sp>
      <p:sp>
        <p:nvSpPr>
          <p:cNvPr id="8" name="Text 6"/>
          <p:cNvSpPr/>
          <p:nvPr/>
        </p:nvSpPr>
        <p:spPr>
          <a:xfrm>
            <a:off x="728472" y="2618232"/>
            <a:ext cx="594360" cy="594360"/>
          </a:xfrm>
          <a:prstGeom prst="rect">
            <a:avLst/>
          </a:prstGeom>
          <a:noFill/>
          <a:ln/>
        </p:spPr>
        <p:txBody>
          <a:bodyPr wrap="square" lIns="0" tIns="0" rIns="0" bIns="0"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C</a:t>
            </a:r>
            <a:endParaRPr lang="en-US" sz="3600" dirty="0"/>
          </a:p>
        </p:txBody>
      </p:sp>
      <p:sp>
        <p:nvSpPr>
          <p:cNvPr id="9" name="Text 7"/>
          <p:cNvSpPr/>
          <p:nvPr/>
        </p:nvSpPr>
        <p:spPr>
          <a:xfrm>
            <a:off x="1459992" y="2618232"/>
            <a:ext cx="4114800" cy="274320"/>
          </a:xfrm>
          <a:prstGeom prst="rect">
            <a:avLst/>
          </a:prstGeom>
          <a:noFill/>
          <a:ln/>
        </p:spPr>
        <p:txBody>
          <a:bodyPr wrap="square" lIns="0" tIns="0" rIns="0" bIns="0" rtlCol="0" anchor="ctr"/>
          <a:lstStyle/>
          <a:p>
            <a:pPr marL="0" indent="0">
              <a:buNone/>
            </a:pPr>
            <a:r>
              <a:rPr lang="en-US" sz="2000" b="1" dirty="0">
                <a:solidFill>
                  <a:srgbClr val="0E3F7E"/>
                </a:solidFill>
                <a:latin typeface="Calibri" pitchFamily="34" charset="0"/>
                <a:ea typeface="Calibri" pitchFamily="34" charset="-122"/>
                <a:cs typeface="Calibri" pitchFamily="34" charset="-120"/>
              </a:rPr>
              <a:t>Consistency</a:t>
            </a:r>
            <a:endParaRPr lang="en-US" sz="2000" dirty="0"/>
          </a:p>
        </p:txBody>
      </p:sp>
      <p:sp>
        <p:nvSpPr>
          <p:cNvPr id="10" name="Text 8"/>
          <p:cNvSpPr/>
          <p:nvPr/>
        </p:nvSpPr>
        <p:spPr>
          <a:xfrm>
            <a:off x="1459992" y="2892552"/>
            <a:ext cx="4114800" cy="548640"/>
          </a:xfrm>
          <a:prstGeom prst="rect">
            <a:avLst/>
          </a:prstGeom>
          <a:noFill/>
          <a:ln/>
        </p:spPr>
        <p:txBody>
          <a:bodyPr wrap="square" rtlCol="0" anchor="ctr"/>
          <a:lstStyle/>
          <a:p>
            <a:pPr marL="0" indent="0">
              <a:buNone/>
            </a:pPr>
            <a:r>
              <a:rPr lang="en-US" dirty="0">
                <a:solidFill>
                  <a:srgbClr val="1A1A1A"/>
                </a:solidFill>
                <a:latin typeface="Calibri" pitchFamily="34" charset="0"/>
                <a:ea typeface="Calibri" pitchFamily="34" charset="-122"/>
                <a:cs typeface="Calibri" pitchFamily="34" charset="-120"/>
              </a:rPr>
              <a:t>Toda lectura recibe el dato mas reciente o un error</a:t>
            </a:r>
            <a:endParaRPr lang="en-US" dirty="0"/>
          </a:p>
        </p:txBody>
      </p:sp>
      <p:sp>
        <p:nvSpPr>
          <p:cNvPr id="11" name="Shape 9"/>
          <p:cNvSpPr/>
          <p:nvPr/>
        </p:nvSpPr>
        <p:spPr>
          <a:xfrm>
            <a:off x="728472" y="3532632"/>
            <a:ext cx="594360" cy="594360"/>
          </a:xfrm>
          <a:prstGeom prst="ellipse">
            <a:avLst/>
          </a:prstGeom>
          <a:solidFill>
            <a:srgbClr val="4FAE60"/>
          </a:solidFill>
          <a:ln/>
        </p:spPr>
        <p:txBody>
          <a:bodyPr/>
          <a:lstStyle/>
          <a:p>
            <a:endParaRPr lang="es-US" sz="3200"/>
          </a:p>
        </p:txBody>
      </p:sp>
      <p:sp>
        <p:nvSpPr>
          <p:cNvPr id="12" name="Text 10"/>
          <p:cNvSpPr/>
          <p:nvPr/>
        </p:nvSpPr>
        <p:spPr>
          <a:xfrm>
            <a:off x="728472" y="3532632"/>
            <a:ext cx="594360" cy="594360"/>
          </a:xfrm>
          <a:prstGeom prst="rect">
            <a:avLst/>
          </a:prstGeom>
          <a:noFill/>
          <a:ln/>
        </p:spPr>
        <p:txBody>
          <a:bodyPr wrap="square" lIns="0" tIns="0" rIns="0" bIns="0"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A</a:t>
            </a:r>
            <a:endParaRPr lang="en-US" sz="3600" dirty="0"/>
          </a:p>
        </p:txBody>
      </p:sp>
      <p:sp>
        <p:nvSpPr>
          <p:cNvPr id="13" name="Text 11"/>
          <p:cNvSpPr/>
          <p:nvPr/>
        </p:nvSpPr>
        <p:spPr>
          <a:xfrm>
            <a:off x="1459992" y="3532632"/>
            <a:ext cx="4114800" cy="274320"/>
          </a:xfrm>
          <a:prstGeom prst="rect">
            <a:avLst/>
          </a:prstGeom>
          <a:noFill/>
          <a:ln/>
        </p:spPr>
        <p:txBody>
          <a:bodyPr wrap="square" lIns="0" tIns="0" rIns="0" bIns="0" rtlCol="0" anchor="ctr"/>
          <a:lstStyle/>
          <a:p>
            <a:pPr marL="0" indent="0">
              <a:buNone/>
            </a:pPr>
            <a:r>
              <a:rPr lang="en-US" sz="2000" b="1" dirty="0">
                <a:solidFill>
                  <a:srgbClr val="4FAE60"/>
                </a:solidFill>
                <a:latin typeface="Calibri" pitchFamily="34" charset="0"/>
                <a:ea typeface="Calibri" pitchFamily="34" charset="-122"/>
                <a:cs typeface="Calibri" pitchFamily="34" charset="-120"/>
              </a:rPr>
              <a:t>Availability</a:t>
            </a:r>
            <a:endParaRPr lang="en-US" sz="2000" dirty="0"/>
          </a:p>
        </p:txBody>
      </p:sp>
      <p:sp>
        <p:nvSpPr>
          <p:cNvPr id="14" name="Text 12"/>
          <p:cNvSpPr/>
          <p:nvPr/>
        </p:nvSpPr>
        <p:spPr>
          <a:xfrm>
            <a:off x="1459992" y="3806952"/>
            <a:ext cx="4114800" cy="548640"/>
          </a:xfrm>
          <a:prstGeom prst="rect">
            <a:avLst/>
          </a:prstGeom>
          <a:noFill/>
          <a:ln/>
        </p:spPr>
        <p:txBody>
          <a:bodyPr wrap="square" rtlCol="0" anchor="ctr"/>
          <a:lstStyle/>
          <a:p>
            <a:pPr marL="0" indent="0">
              <a:buNone/>
            </a:pPr>
            <a:r>
              <a:rPr lang="en-US" dirty="0">
                <a:solidFill>
                  <a:srgbClr val="1A1A1A"/>
                </a:solidFill>
                <a:latin typeface="Calibri" pitchFamily="34" charset="0"/>
                <a:ea typeface="Calibri" pitchFamily="34" charset="-122"/>
                <a:cs typeface="Calibri" pitchFamily="34" charset="-120"/>
              </a:rPr>
              <a:t>Toda peticion recibe respuesta (no error), aunque no sea la mas reciente</a:t>
            </a:r>
            <a:endParaRPr lang="en-US" dirty="0"/>
          </a:p>
        </p:txBody>
      </p:sp>
      <p:sp>
        <p:nvSpPr>
          <p:cNvPr id="15" name="Shape 13"/>
          <p:cNvSpPr/>
          <p:nvPr/>
        </p:nvSpPr>
        <p:spPr>
          <a:xfrm>
            <a:off x="728472" y="4447032"/>
            <a:ext cx="594360" cy="594360"/>
          </a:xfrm>
          <a:prstGeom prst="ellipse">
            <a:avLst/>
          </a:prstGeom>
          <a:solidFill>
            <a:srgbClr val="F2A413"/>
          </a:solidFill>
          <a:ln/>
        </p:spPr>
        <p:txBody>
          <a:bodyPr/>
          <a:lstStyle/>
          <a:p>
            <a:endParaRPr lang="es-US" sz="3200"/>
          </a:p>
        </p:txBody>
      </p:sp>
      <p:sp>
        <p:nvSpPr>
          <p:cNvPr id="16" name="Text 14"/>
          <p:cNvSpPr/>
          <p:nvPr/>
        </p:nvSpPr>
        <p:spPr>
          <a:xfrm>
            <a:off x="728472" y="4447032"/>
            <a:ext cx="594360" cy="594360"/>
          </a:xfrm>
          <a:prstGeom prst="rect">
            <a:avLst/>
          </a:prstGeom>
          <a:noFill/>
          <a:ln/>
        </p:spPr>
        <p:txBody>
          <a:bodyPr wrap="square" lIns="0" tIns="0" rIns="0" bIns="0"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P</a:t>
            </a:r>
            <a:endParaRPr lang="en-US" sz="3600" dirty="0"/>
          </a:p>
        </p:txBody>
      </p:sp>
      <p:sp>
        <p:nvSpPr>
          <p:cNvPr id="17" name="Text 15"/>
          <p:cNvSpPr/>
          <p:nvPr/>
        </p:nvSpPr>
        <p:spPr>
          <a:xfrm>
            <a:off x="1459992" y="4447032"/>
            <a:ext cx="4114800" cy="274320"/>
          </a:xfrm>
          <a:prstGeom prst="rect">
            <a:avLst/>
          </a:prstGeom>
          <a:noFill/>
          <a:ln/>
        </p:spPr>
        <p:txBody>
          <a:bodyPr wrap="square" lIns="0" tIns="0" rIns="0" bIns="0" rtlCol="0" anchor="ctr"/>
          <a:lstStyle/>
          <a:p>
            <a:pPr marL="0" indent="0">
              <a:buNone/>
            </a:pPr>
            <a:r>
              <a:rPr lang="en-US" sz="2000" b="1" dirty="0">
                <a:solidFill>
                  <a:srgbClr val="F2A413"/>
                </a:solidFill>
                <a:latin typeface="Calibri" pitchFamily="34" charset="0"/>
                <a:ea typeface="Calibri" pitchFamily="34" charset="-122"/>
                <a:cs typeface="Calibri" pitchFamily="34" charset="-120"/>
              </a:rPr>
              <a:t>Partition tolerance</a:t>
            </a:r>
            <a:endParaRPr lang="en-US" sz="2000" dirty="0"/>
          </a:p>
        </p:txBody>
      </p:sp>
      <p:sp>
        <p:nvSpPr>
          <p:cNvPr id="18" name="Text 16"/>
          <p:cNvSpPr/>
          <p:nvPr/>
        </p:nvSpPr>
        <p:spPr>
          <a:xfrm>
            <a:off x="1459992" y="4721352"/>
            <a:ext cx="4114800" cy="548640"/>
          </a:xfrm>
          <a:prstGeom prst="rect">
            <a:avLst/>
          </a:prstGeom>
          <a:noFill/>
          <a:ln/>
        </p:spPr>
        <p:txBody>
          <a:bodyPr wrap="square" rtlCol="0" anchor="ctr"/>
          <a:lstStyle/>
          <a:p>
            <a:pPr marL="0" indent="0">
              <a:buNone/>
            </a:pPr>
            <a:r>
              <a:rPr lang="en-US" dirty="0">
                <a:solidFill>
                  <a:srgbClr val="1A1A1A"/>
                </a:solidFill>
                <a:latin typeface="Calibri" pitchFamily="34" charset="0"/>
                <a:ea typeface="Calibri" pitchFamily="34" charset="-122"/>
                <a:cs typeface="Calibri" pitchFamily="34" charset="-120"/>
              </a:rPr>
              <a:t>El sistema sigue operando cuando la red presenta particiones</a:t>
            </a:r>
            <a:endParaRPr lang="en-US" dirty="0"/>
          </a:p>
        </p:txBody>
      </p:sp>
      <p:sp>
        <p:nvSpPr>
          <p:cNvPr id="19" name="Text 17"/>
          <p:cNvSpPr/>
          <p:nvPr/>
        </p:nvSpPr>
        <p:spPr>
          <a:xfrm>
            <a:off x="777240" y="5349240"/>
            <a:ext cx="5029200" cy="914400"/>
          </a:xfrm>
          <a:prstGeom prst="rect">
            <a:avLst/>
          </a:prstGeom>
          <a:noFill/>
          <a:ln/>
        </p:spPr>
        <p:txBody>
          <a:bodyPr wrap="square" rtlCol="0" anchor="ctr"/>
          <a:lstStyle/>
          <a:p>
            <a:pPr marL="0" indent="0">
              <a:buNone/>
            </a:pPr>
            <a:r>
              <a:rPr lang="en-US" i="1" dirty="0">
                <a:solidFill>
                  <a:srgbClr val="2E86A1"/>
                </a:solidFill>
                <a:latin typeface="Calibri" pitchFamily="34" charset="0"/>
                <a:ea typeface="Calibri" pitchFamily="34" charset="-122"/>
                <a:cs typeface="Calibri" pitchFamily="34" charset="-120"/>
              </a:rPr>
              <a:t>Como las particiones son inevitables, el verdadero compromiso es CP vs AP: ante una particion, sacrificar consistencia o disponibilidad.</a:t>
            </a:r>
            <a:endParaRPr lang="en-US" dirty="0"/>
          </a:p>
        </p:txBody>
      </p:sp>
      <p:sp>
        <p:nvSpPr>
          <p:cNvPr id="20" name="Shape 18"/>
          <p:cNvSpPr/>
          <p:nvPr/>
        </p:nvSpPr>
        <p:spPr>
          <a:xfrm>
            <a:off x="6172200" y="1280160"/>
            <a:ext cx="5486400" cy="5120640"/>
          </a:xfrm>
          <a:prstGeom prst="roundRect">
            <a:avLst>
              <a:gd name="adj" fmla="val 1429"/>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sz="3200"/>
          </a:p>
        </p:txBody>
      </p:sp>
      <p:sp>
        <p:nvSpPr>
          <p:cNvPr id="21" name="Text 19"/>
          <p:cNvSpPr/>
          <p:nvPr/>
        </p:nvSpPr>
        <p:spPr>
          <a:xfrm>
            <a:off x="6400800" y="1417320"/>
            <a:ext cx="5029200" cy="365760"/>
          </a:xfrm>
          <a:prstGeom prst="rect">
            <a:avLst/>
          </a:prstGeom>
          <a:noFill/>
          <a:ln/>
        </p:spPr>
        <p:txBody>
          <a:bodyPr wrap="square" lIns="0" tIns="0" rIns="0" bIns="0" rtlCol="0" anchor="ctr"/>
          <a:lstStyle/>
          <a:p>
            <a:pPr marL="0" indent="0">
              <a:buNone/>
            </a:pPr>
            <a:r>
              <a:rPr lang="en-US" sz="2400" b="1" dirty="0">
                <a:solidFill>
                  <a:srgbClr val="2E86A1"/>
                </a:solidFill>
                <a:latin typeface="Calibri" pitchFamily="34" charset="0"/>
                <a:ea typeface="Calibri" pitchFamily="34" charset="-122"/>
                <a:cs typeface="Calibri" pitchFamily="34" charset="-120"/>
              </a:rPr>
              <a:t>Posicionamiento de SGBDD</a:t>
            </a:r>
            <a:endParaRPr lang="en-US" sz="2400" dirty="0"/>
          </a:p>
        </p:txBody>
      </p:sp>
      <p:sp>
        <p:nvSpPr>
          <p:cNvPr id="22" name="Shape 20"/>
          <p:cNvSpPr/>
          <p:nvPr/>
        </p:nvSpPr>
        <p:spPr>
          <a:xfrm>
            <a:off x="8915400" y="2103120"/>
            <a:ext cx="2103120" cy="3108960"/>
          </a:xfrm>
          <a:prstGeom prst="line">
            <a:avLst/>
          </a:prstGeom>
          <a:noFill/>
          <a:ln w="25400">
            <a:solidFill>
              <a:srgbClr val="0E3F7E"/>
            </a:solidFill>
            <a:prstDash val="solid"/>
          </a:ln>
        </p:spPr>
        <p:txBody>
          <a:bodyPr/>
          <a:lstStyle/>
          <a:p>
            <a:endParaRPr lang="es-US" sz="3200"/>
          </a:p>
        </p:txBody>
      </p:sp>
      <p:sp>
        <p:nvSpPr>
          <p:cNvPr id="23" name="Shape 21"/>
          <p:cNvSpPr/>
          <p:nvPr/>
        </p:nvSpPr>
        <p:spPr>
          <a:xfrm>
            <a:off x="6812280" y="5212080"/>
            <a:ext cx="4206240" cy="0"/>
          </a:xfrm>
          <a:prstGeom prst="line">
            <a:avLst/>
          </a:prstGeom>
          <a:noFill/>
          <a:ln w="25400">
            <a:solidFill>
              <a:srgbClr val="0E3F7E"/>
            </a:solidFill>
            <a:prstDash val="solid"/>
          </a:ln>
        </p:spPr>
        <p:txBody>
          <a:bodyPr/>
          <a:lstStyle/>
          <a:p>
            <a:endParaRPr lang="es-US" sz="3200"/>
          </a:p>
        </p:txBody>
      </p:sp>
      <p:sp>
        <p:nvSpPr>
          <p:cNvPr id="24" name="Shape 22"/>
          <p:cNvSpPr/>
          <p:nvPr/>
        </p:nvSpPr>
        <p:spPr>
          <a:xfrm>
            <a:off x="6812280" y="5212080"/>
            <a:ext cx="2103120" cy="0"/>
          </a:xfrm>
          <a:prstGeom prst="line">
            <a:avLst/>
          </a:prstGeom>
          <a:noFill/>
          <a:ln w="25400">
            <a:solidFill>
              <a:srgbClr val="0E3F7E"/>
            </a:solidFill>
            <a:prstDash val="solid"/>
          </a:ln>
        </p:spPr>
        <p:txBody>
          <a:bodyPr/>
          <a:lstStyle/>
          <a:p>
            <a:endParaRPr lang="es-US" sz="3200"/>
          </a:p>
        </p:txBody>
      </p:sp>
      <p:sp>
        <p:nvSpPr>
          <p:cNvPr id="25" name="Text 23"/>
          <p:cNvSpPr/>
          <p:nvPr/>
        </p:nvSpPr>
        <p:spPr>
          <a:xfrm>
            <a:off x="8732520" y="1783080"/>
            <a:ext cx="365760" cy="365760"/>
          </a:xfrm>
          <a:prstGeom prst="rect">
            <a:avLst/>
          </a:prstGeom>
          <a:noFill/>
          <a:ln/>
        </p:spPr>
        <p:txBody>
          <a:bodyPr wrap="square" lIns="0" tIns="0" rIns="0" bIns="0" rtlCol="0" anchor="ctr"/>
          <a:lstStyle/>
          <a:p>
            <a:pPr marL="0" indent="0" algn="ctr">
              <a:buNone/>
            </a:pPr>
            <a:r>
              <a:rPr lang="en-US" sz="3200" b="1" dirty="0">
                <a:solidFill>
                  <a:srgbClr val="0E3F7E"/>
                </a:solidFill>
                <a:latin typeface="Calibri" pitchFamily="34" charset="0"/>
                <a:ea typeface="Calibri" pitchFamily="34" charset="-122"/>
                <a:cs typeface="Calibri" pitchFamily="34" charset="-120"/>
              </a:rPr>
              <a:t>C</a:t>
            </a:r>
            <a:endParaRPr lang="en-US" sz="3200" dirty="0"/>
          </a:p>
        </p:txBody>
      </p:sp>
      <p:sp>
        <p:nvSpPr>
          <p:cNvPr id="26" name="Text 24"/>
          <p:cNvSpPr/>
          <p:nvPr/>
        </p:nvSpPr>
        <p:spPr>
          <a:xfrm>
            <a:off x="6446520" y="5257800"/>
            <a:ext cx="365760" cy="365760"/>
          </a:xfrm>
          <a:prstGeom prst="rect">
            <a:avLst/>
          </a:prstGeom>
          <a:noFill/>
          <a:ln/>
        </p:spPr>
        <p:txBody>
          <a:bodyPr wrap="square" lIns="0" tIns="0" rIns="0" bIns="0" rtlCol="0" anchor="ctr"/>
          <a:lstStyle/>
          <a:p>
            <a:pPr marL="0" indent="0" algn="ctr">
              <a:buNone/>
            </a:pPr>
            <a:r>
              <a:rPr lang="en-US" sz="3200" b="1" dirty="0">
                <a:solidFill>
                  <a:srgbClr val="4FAE60"/>
                </a:solidFill>
                <a:latin typeface="Calibri" pitchFamily="34" charset="0"/>
                <a:ea typeface="Calibri" pitchFamily="34" charset="-122"/>
                <a:cs typeface="Calibri" pitchFamily="34" charset="-120"/>
              </a:rPr>
              <a:t>A</a:t>
            </a:r>
            <a:endParaRPr lang="en-US" sz="3200" dirty="0"/>
          </a:p>
        </p:txBody>
      </p:sp>
      <p:sp>
        <p:nvSpPr>
          <p:cNvPr id="27" name="Text 25"/>
          <p:cNvSpPr/>
          <p:nvPr/>
        </p:nvSpPr>
        <p:spPr>
          <a:xfrm>
            <a:off x="11064240" y="5257800"/>
            <a:ext cx="365760" cy="365760"/>
          </a:xfrm>
          <a:prstGeom prst="rect">
            <a:avLst/>
          </a:prstGeom>
          <a:noFill/>
          <a:ln/>
        </p:spPr>
        <p:txBody>
          <a:bodyPr wrap="square" lIns="0" tIns="0" rIns="0" bIns="0" rtlCol="0" anchor="ctr"/>
          <a:lstStyle/>
          <a:p>
            <a:pPr marL="0" indent="0" algn="ctr">
              <a:buNone/>
            </a:pPr>
            <a:r>
              <a:rPr lang="en-US" sz="3200" b="1" dirty="0">
                <a:solidFill>
                  <a:srgbClr val="F2A413"/>
                </a:solidFill>
                <a:latin typeface="Calibri" pitchFamily="34" charset="0"/>
                <a:ea typeface="Calibri" pitchFamily="34" charset="-122"/>
                <a:cs typeface="Calibri" pitchFamily="34" charset="-120"/>
              </a:rPr>
              <a:t>P</a:t>
            </a:r>
            <a:endParaRPr lang="en-US" sz="3200" dirty="0"/>
          </a:p>
        </p:txBody>
      </p:sp>
      <p:sp>
        <p:nvSpPr>
          <p:cNvPr id="28" name="Shape 26"/>
          <p:cNvSpPr/>
          <p:nvPr/>
        </p:nvSpPr>
        <p:spPr>
          <a:xfrm>
            <a:off x="8229600" y="2651760"/>
            <a:ext cx="1371600" cy="365760"/>
          </a:xfrm>
          <a:prstGeom prst="ellipse">
            <a:avLst/>
          </a:prstGeom>
          <a:solidFill>
            <a:srgbClr val="0E3F7E"/>
          </a:solidFill>
          <a:ln/>
        </p:spPr>
        <p:txBody>
          <a:bodyPr/>
          <a:lstStyle/>
          <a:p>
            <a:endParaRPr lang="es-US" sz="3200"/>
          </a:p>
        </p:txBody>
      </p:sp>
      <p:sp>
        <p:nvSpPr>
          <p:cNvPr id="29" name="Text 27"/>
          <p:cNvSpPr/>
          <p:nvPr/>
        </p:nvSpPr>
        <p:spPr>
          <a:xfrm>
            <a:off x="8229600" y="2651760"/>
            <a:ext cx="13716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CP</a:t>
            </a:r>
            <a:endParaRPr lang="en-US" sz="1400" dirty="0"/>
          </a:p>
        </p:txBody>
      </p:sp>
      <p:sp>
        <p:nvSpPr>
          <p:cNvPr id="30" name="Text 28"/>
          <p:cNvSpPr/>
          <p:nvPr/>
        </p:nvSpPr>
        <p:spPr>
          <a:xfrm>
            <a:off x="7040880" y="3063239"/>
            <a:ext cx="3840480" cy="502917"/>
          </a:xfrm>
          <a:prstGeom prst="rect">
            <a:avLst/>
          </a:prstGeom>
          <a:noFill/>
          <a:ln/>
        </p:spPr>
        <p:txBody>
          <a:bodyPr wrap="square" rtlCol="0" anchor="ctr"/>
          <a:lstStyle/>
          <a:p>
            <a:pPr marL="0" indent="0" algn="ctr">
              <a:buNone/>
            </a:pPr>
            <a:r>
              <a:rPr lang="en-US" sz="1600" dirty="0">
                <a:solidFill>
                  <a:srgbClr val="4A4A4A"/>
                </a:solidFill>
                <a:latin typeface="Calibri" pitchFamily="34" charset="0"/>
                <a:ea typeface="Calibri" pitchFamily="34" charset="-122"/>
                <a:cs typeface="Calibri" pitchFamily="34" charset="-120"/>
              </a:rPr>
              <a:t>MongoDB, HBase, Spanner, CockroachDB</a:t>
            </a:r>
            <a:endParaRPr lang="en-US" sz="1600" dirty="0"/>
          </a:p>
        </p:txBody>
      </p:sp>
      <p:sp>
        <p:nvSpPr>
          <p:cNvPr id="31" name="Shape 29"/>
          <p:cNvSpPr/>
          <p:nvPr/>
        </p:nvSpPr>
        <p:spPr>
          <a:xfrm>
            <a:off x="9601200" y="4206240"/>
            <a:ext cx="1371600" cy="365760"/>
          </a:xfrm>
          <a:prstGeom prst="ellipse">
            <a:avLst/>
          </a:prstGeom>
          <a:solidFill>
            <a:srgbClr val="F2A413"/>
          </a:solidFill>
          <a:ln/>
        </p:spPr>
        <p:txBody>
          <a:bodyPr/>
          <a:lstStyle/>
          <a:p>
            <a:endParaRPr lang="es-US" sz="3200"/>
          </a:p>
        </p:txBody>
      </p:sp>
      <p:sp>
        <p:nvSpPr>
          <p:cNvPr id="32" name="Text 30"/>
          <p:cNvSpPr/>
          <p:nvPr/>
        </p:nvSpPr>
        <p:spPr>
          <a:xfrm>
            <a:off x="9601200" y="4206240"/>
            <a:ext cx="13716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AP</a:t>
            </a:r>
            <a:endParaRPr lang="en-US" sz="1400" dirty="0"/>
          </a:p>
        </p:txBody>
      </p:sp>
      <p:sp>
        <p:nvSpPr>
          <p:cNvPr id="33" name="Text 31"/>
          <p:cNvSpPr/>
          <p:nvPr/>
        </p:nvSpPr>
        <p:spPr>
          <a:xfrm>
            <a:off x="7863840" y="4617720"/>
            <a:ext cx="3657600" cy="320040"/>
          </a:xfrm>
          <a:prstGeom prst="rect">
            <a:avLst/>
          </a:prstGeom>
          <a:noFill/>
          <a:ln/>
        </p:spPr>
        <p:txBody>
          <a:bodyPr wrap="square" rtlCol="0" anchor="ctr"/>
          <a:lstStyle/>
          <a:p>
            <a:pPr marL="0" indent="0" algn="ctr">
              <a:buNone/>
            </a:pPr>
            <a:r>
              <a:rPr lang="en-US" sz="1600" dirty="0">
                <a:solidFill>
                  <a:srgbClr val="4A4A4A"/>
                </a:solidFill>
                <a:latin typeface="Calibri" pitchFamily="34" charset="0"/>
                <a:ea typeface="Calibri" pitchFamily="34" charset="-122"/>
                <a:cs typeface="Calibri" pitchFamily="34" charset="-120"/>
              </a:rPr>
              <a:t>Cassandra, DynamoDB, Riak, CouchDB</a:t>
            </a:r>
            <a:endParaRPr lang="en-US" sz="1600" dirty="0"/>
          </a:p>
        </p:txBody>
      </p:sp>
      <p:sp>
        <p:nvSpPr>
          <p:cNvPr id="34" name="Shape 32"/>
          <p:cNvSpPr/>
          <p:nvPr/>
        </p:nvSpPr>
        <p:spPr>
          <a:xfrm>
            <a:off x="7315200" y="4206240"/>
            <a:ext cx="1371600" cy="365760"/>
          </a:xfrm>
          <a:prstGeom prst="ellipse">
            <a:avLst/>
          </a:prstGeom>
          <a:solidFill>
            <a:srgbClr val="4FAE60"/>
          </a:solidFill>
          <a:ln/>
        </p:spPr>
        <p:txBody>
          <a:bodyPr/>
          <a:lstStyle/>
          <a:p>
            <a:endParaRPr lang="es-US" sz="3200"/>
          </a:p>
        </p:txBody>
      </p:sp>
      <p:sp>
        <p:nvSpPr>
          <p:cNvPr id="35" name="Text 33"/>
          <p:cNvSpPr/>
          <p:nvPr/>
        </p:nvSpPr>
        <p:spPr>
          <a:xfrm>
            <a:off x="7315200" y="4206240"/>
            <a:ext cx="13716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CA</a:t>
            </a:r>
            <a:endParaRPr lang="en-US" sz="1400" dirty="0"/>
          </a:p>
        </p:txBody>
      </p:sp>
      <p:sp>
        <p:nvSpPr>
          <p:cNvPr id="36" name="Text 34"/>
          <p:cNvSpPr/>
          <p:nvPr/>
        </p:nvSpPr>
        <p:spPr>
          <a:xfrm>
            <a:off x="6492240" y="5852160"/>
            <a:ext cx="3657600" cy="320040"/>
          </a:xfrm>
          <a:prstGeom prst="rect">
            <a:avLst/>
          </a:prstGeom>
          <a:noFill/>
          <a:ln/>
        </p:spPr>
        <p:txBody>
          <a:bodyPr wrap="square" rtlCol="0" anchor="ctr"/>
          <a:lstStyle/>
          <a:p>
            <a:pPr marL="0" indent="0" algn="ctr">
              <a:buNone/>
            </a:pPr>
            <a:r>
              <a:rPr lang="en-US" sz="1600" i="1" dirty="0">
                <a:solidFill>
                  <a:srgbClr val="4A4A4A"/>
                </a:solidFill>
                <a:latin typeface="Calibri" pitchFamily="34" charset="0"/>
                <a:ea typeface="Calibri" pitchFamily="34" charset="-122"/>
                <a:cs typeface="Calibri" pitchFamily="34" charset="-120"/>
              </a:rPr>
              <a:t>PostgreSQL single-node (no tolera P)</a:t>
            </a:r>
            <a:endParaRPr lang="en-US" sz="1600" dirty="0"/>
          </a:p>
        </p:txBody>
      </p:sp>
      <p:sp>
        <p:nvSpPr>
          <p:cNvPr id="37" name="Text 35"/>
          <p:cNvSpPr/>
          <p:nvPr/>
        </p:nvSpPr>
        <p:spPr>
          <a:xfrm>
            <a:off x="457200" y="6492240"/>
            <a:ext cx="8229600" cy="274320"/>
          </a:xfrm>
          <a:prstGeom prst="rect">
            <a:avLst/>
          </a:prstGeom>
          <a:noFill/>
          <a:ln/>
        </p:spPr>
        <p:txBody>
          <a:bodyPr wrap="square" rtlCol="0" anchor="ctr"/>
          <a:lstStyle/>
          <a:p>
            <a:pPr marL="0" indent="0">
              <a:buNone/>
            </a:pPr>
            <a:r>
              <a:rPr lang="en-US" sz="900" dirty="0">
                <a:solidFill>
                  <a:srgbClr val="4A4A4A"/>
                </a:solidFill>
                <a:latin typeface="Calibri" pitchFamily="34" charset="0"/>
                <a:ea typeface="Calibri" pitchFamily="34" charset="-122"/>
                <a:cs typeface="Calibri" pitchFamily="34" charset="-120"/>
              </a:rPr>
              <a:t>UTEQ - Aplicaciones Distribuidas (ISR-701) - Unidad 3</a:t>
            </a:r>
            <a:endParaRPr lang="en-US" sz="900" dirty="0"/>
          </a:p>
        </p:txBody>
      </p:sp>
      <p:sp>
        <p:nvSpPr>
          <p:cNvPr id="38" name="Text 36"/>
          <p:cNvSpPr/>
          <p:nvPr/>
        </p:nvSpPr>
        <p:spPr>
          <a:xfrm>
            <a:off x="10789920" y="6492240"/>
            <a:ext cx="914400" cy="274320"/>
          </a:xfrm>
          <a:prstGeom prst="rect">
            <a:avLst/>
          </a:prstGeom>
          <a:noFill/>
          <a:ln/>
        </p:spPr>
        <p:txBody>
          <a:bodyPr wrap="square"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27 / 42</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marL="0" indent="0">
              <a:buNone/>
            </a:pPr>
            <a:r>
              <a:rPr lang="en-US" sz="4000" b="1" dirty="0">
                <a:solidFill>
                  <a:srgbClr val="0E3F7E"/>
                </a:solidFill>
                <a:latin typeface="Calibri" pitchFamily="34" charset="0"/>
                <a:ea typeface="Calibri" pitchFamily="34" charset="-122"/>
                <a:cs typeface="Calibri" pitchFamily="34" charset="-120"/>
              </a:rPr>
              <a:t>Modelo PACELC</a:t>
            </a:r>
            <a:endParaRPr lang="en-US" sz="4000" dirty="0"/>
          </a:p>
        </p:txBody>
      </p:sp>
      <p:sp>
        <p:nvSpPr>
          <p:cNvPr id="3" name="Text 1"/>
          <p:cNvSpPr/>
          <p:nvPr/>
        </p:nvSpPr>
        <p:spPr>
          <a:xfrm>
            <a:off x="457200" y="777240"/>
            <a:ext cx="11247120" cy="320040"/>
          </a:xfrm>
          <a:prstGeom prst="rect">
            <a:avLst/>
          </a:prstGeom>
          <a:noFill/>
          <a:ln/>
        </p:spPr>
        <p:txBody>
          <a:bodyPr wrap="square" lIns="0" tIns="0" rIns="0" bIns="0" rtlCol="0" anchor="ctr"/>
          <a:lstStyle/>
          <a:p>
            <a:pPr marL="0" indent="0">
              <a:buNone/>
            </a:pPr>
            <a:r>
              <a:rPr lang="en-US" sz="2000" i="1" dirty="0">
                <a:solidFill>
                  <a:srgbClr val="2E86A1"/>
                </a:solidFill>
                <a:latin typeface="Calibri" pitchFamily="34" charset="0"/>
                <a:ea typeface="Calibri" pitchFamily="34" charset="-122"/>
                <a:cs typeface="Calibri" pitchFamily="34" charset="-120"/>
              </a:rPr>
              <a:t>Refinamiento moderno del teorema CAP</a:t>
            </a:r>
            <a:endParaRPr lang="en-US" sz="2000" dirty="0"/>
          </a:p>
        </p:txBody>
      </p:sp>
      <p:sp>
        <p:nvSpPr>
          <p:cNvPr id="4" name="Shape 2"/>
          <p:cNvSpPr/>
          <p:nvPr/>
        </p:nvSpPr>
        <p:spPr>
          <a:xfrm>
            <a:off x="548640" y="1188720"/>
            <a:ext cx="11064240" cy="1645920"/>
          </a:xfrm>
          <a:prstGeom prst="roundRect">
            <a:avLst>
              <a:gd name="adj" fmla="val 4444"/>
            </a:avLst>
          </a:prstGeom>
          <a:solidFill>
            <a:srgbClr val="EAF1FB"/>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sz="2800"/>
          </a:p>
        </p:txBody>
      </p:sp>
      <p:sp>
        <p:nvSpPr>
          <p:cNvPr id="5" name="Text 3"/>
          <p:cNvSpPr/>
          <p:nvPr/>
        </p:nvSpPr>
        <p:spPr>
          <a:xfrm>
            <a:off x="777240" y="1325880"/>
            <a:ext cx="3657600" cy="365760"/>
          </a:xfrm>
          <a:prstGeom prst="rect">
            <a:avLst/>
          </a:prstGeom>
          <a:noFill/>
          <a:ln/>
        </p:spPr>
        <p:txBody>
          <a:bodyPr wrap="square" lIns="0" tIns="0" rIns="0" bIns="0" rtlCol="0" anchor="ctr"/>
          <a:lstStyle/>
          <a:p>
            <a:pPr marL="0" indent="0">
              <a:buNone/>
            </a:pPr>
            <a:r>
              <a:rPr lang="en-US" sz="2400" b="1" dirty="0">
                <a:solidFill>
                  <a:srgbClr val="0E3F7E"/>
                </a:solidFill>
                <a:latin typeface="Calibri" pitchFamily="34" charset="0"/>
                <a:ea typeface="Calibri" pitchFamily="34" charset="-122"/>
                <a:cs typeface="Calibri" pitchFamily="34" charset="-120"/>
              </a:rPr>
              <a:t>PACELC (Abadi 2012)</a:t>
            </a:r>
            <a:endParaRPr lang="en-US" sz="2400" dirty="0"/>
          </a:p>
        </p:txBody>
      </p:sp>
      <p:sp>
        <p:nvSpPr>
          <p:cNvPr id="6" name="Text 4"/>
          <p:cNvSpPr/>
          <p:nvPr/>
        </p:nvSpPr>
        <p:spPr>
          <a:xfrm>
            <a:off x="777240" y="1737360"/>
            <a:ext cx="10698480" cy="1005840"/>
          </a:xfrm>
          <a:prstGeom prst="rect">
            <a:avLst/>
          </a:prstGeom>
          <a:noFill/>
          <a:ln/>
        </p:spPr>
        <p:txBody>
          <a:bodyPr wrap="square" rtlCol="0" anchor="ctr"/>
          <a:lstStyle/>
          <a:p>
            <a:pPr marL="0" indent="0">
              <a:buNone/>
            </a:pPr>
            <a:r>
              <a:rPr lang="en-US" dirty="0">
                <a:solidFill>
                  <a:srgbClr val="1A1A1A"/>
                </a:solidFill>
                <a:latin typeface="Calibri" pitchFamily="34" charset="0"/>
                <a:ea typeface="Calibri" pitchFamily="34" charset="-122"/>
                <a:cs typeface="Calibri" pitchFamily="34" charset="-120"/>
              </a:rPr>
              <a:t>Si hay </a:t>
            </a:r>
            <a:r>
              <a:rPr lang="en-US" sz="2000" b="1" dirty="0">
                <a:solidFill>
                  <a:srgbClr val="F2A413"/>
                </a:solidFill>
                <a:latin typeface="Calibri" pitchFamily="34" charset="0"/>
                <a:ea typeface="Calibri" pitchFamily="34" charset="-122"/>
                <a:cs typeface="Calibri" pitchFamily="34" charset="-120"/>
              </a:rPr>
              <a:t>P</a:t>
            </a:r>
            <a:r>
              <a:rPr lang="en-US" dirty="0">
                <a:solidFill>
                  <a:srgbClr val="1A1A1A"/>
                </a:solidFill>
                <a:latin typeface="Calibri" pitchFamily="34" charset="0"/>
                <a:ea typeface="Calibri" pitchFamily="34" charset="-122"/>
                <a:cs typeface="Calibri" pitchFamily="34" charset="-120"/>
              </a:rPr>
              <a:t>articion: elegir entre </a:t>
            </a:r>
            <a:r>
              <a:rPr lang="en-US" sz="2000" b="1" dirty="0">
                <a:solidFill>
                  <a:srgbClr val="4FAE60"/>
                </a:solidFill>
                <a:latin typeface="Calibri" pitchFamily="34" charset="0"/>
                <a:ea typeface="Calibri" pitchFamily="34" charset="-122"/>
                <a:cs typeface="Calibri" pitchFamily="34" charset="-120"/>
              </a:rPr>
              <a:t>A</a:t>
            </a:r>
            <a:r>
              <a:rPr lang="en-US" dirty="0">
                <a:solidFill>
                  <a:srgbClr val="1A1A1A"/>
                </a:solidFill>
                <a:latin typeface="Calibri" pitchFamily="34" charset="0"/>
                <a:ea typeface="Calibri" pitchFamily="34" charset="-122"/>
                <a:cs typeface="Calibri" pitchFamily="34" charset="-120"/>
              </a:rPr>
              <a:t>vailability y </a:t>
            </a:r>
            <a:r>
              <a:rPr lang="en-US" sz="2000" b="1" dirty="0">
                <a:solidFill>
                  <a:srgbClr val="0E3F7E"/>
                </a:solidFill>
                <a:latin typeface="Calibri" pitchFamily="34" charset="0"/>
                <a:ea typeface="Calibri" pitchFamily="34" charset="-122"/>
                <a:cs typeface="Calibri" pitchFamily="34" charset="-120"/>
              </a:rPr>
              <a:t>C</a:t>
            </a:r>
            <a:r>
              <a:rPr lang="en-US" dirty="0">
                <a:solidFill>
                  <a:srgbClr val="1A1A1A"/>
                </a:solidFill>
                <a:latin typeface="Calibri" pitchFamily="34" charset="0"/>
                <a:ea typeface="Calibri" pitchFamily="34" charset="-122"/>
                <a:cs typeface="Calibri" pitchFamily="34" charset="-120"/>
              </a:rPr>
              <a:t>onsistency.  </a:t>
            </a:r>
            <a:r>
              <a:rPr lang="en-US" sz="2000" b="1" dirty="0">
                <a:solidFill>
                  <a:srgbClr val="2E86A1"/>
                </a:solidFill>
                <a:latin typeface="Calibri" pitchFamily="34" charset="0"/>
                <a:ea typeface="Calibri" pitchFamily="34" charset="-122"/>
                <a:cs typeface="Calibri" pitchFamily="34" charset="-120"/>
              </a:rPr>
              <a:t>E</a:t>
            </a:r>
            <a:r>
              <a:rPr lang="en-US" dirty="0">
                <a:solidFill>
                  <a:srgbClr val="1A1A1A"/>
                </a:solidFill>
                <a:latin typeface="Calibri" pitchFamily="34" charset="0"/>
                <a:ea typeface="Calibri" pitchFamily="34" charset="-122"/>
                <a:cs typeface="Calibri" pitchFamily="34" charset="-120"/>
              </a:rPr>
              <a:t>lse (sin particion): elegir entre </a:t>
            </a:r>
            <a:r>
              <a:rPr lang="en-US" sz="2000" b="1" dirty="0">
                <a:solidFill>
                  <a:srgbClr val="C0392B"/>
                </a:solidFill>
                <a:latin typeface="Calibri" pitchFamily="34" charset="0"/>
                <a:ea typeface="Calibri" pitchFamily="34" charset="-122"/>
                <a:cs typeface="Calibri" pitchFamily="34" charset="-120"/>
              </a:rPr>
              <a:t>L</a:t>
            </a:r>
            <a:r>
              <a:rPr lang="en-US" dirty="0">
                <a:solidFill>
                  <a:srgbClr val="1A1A1A"/>
                </a:solidFill>
                <a:latin typeface="Calibri" pitchFamily="34" charset="0"/>
                <a:ea typeface="Calibri" pitchFamily="34" charset="-122"/>
                <a:cs typeface="Calibri" pitchFamily="34" charset="-120"/>
              </a:rPr>
              <a:t>atency y </a:t>
            </a:r>
            <a:r>
              <a:rPr lang="en-US" sz="2000" b="1" dirty="0">
                <a:solidFill>
                  <a:srgbClr val="0E3F7E"/>
                </a:solidFill>
                <a:latin typeface="Calibri" pitchFamily="34" charset="0"/>
                <a:ea typeface="Calibri" pitchFamily="34" charset="-122"/>
                <a:cs typeface="Calibri" pitchFamily="34" charset="-120"/>
              </a:rPr>
              <a:t>C</a:t>
            </a:r>
            <a:r>
              <a:rPr lang="en-US" dirty="0">
                <a:solidFill>
                  <a:srgbClr val="1A1A1A"/>
                </a:solidFill>
                <a:latin typeface="Calibri" pitchFamily="34" charset="0"/>
                <a:ea typeface="Calibri" pitchFamily="34" charset="-122"/>
                <a:cs typeface="Calibri" pitchFamily="34" charset="-120"/>
              </a:rPr>
              <a:t>onsistency.</a:t>
            </a:r>
            <a:endParaRPr lang="en-US" dirty="0"/>
          </a:p>
        </p:txBody>
      </p:sp>
      <p:sp>
        <p:nvSpPr>
          <p:cNvPr id="7" name="Shape 5"/>
          <p:cNvSpPr/>
          <p:nvPr/>
        </p:nvSpPr>
        <p:spPr>
          <a:xfrm>
            <a:off x="548640" y="2971800"/>
            <a:ext cx="11064240" cy="3429000"/>
          </a:xfrm>
          <a:prstGeom prst="roundRect">
            <a:avLst>
              <a:gd name="adj" fmla="val 2133"/>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sz="2800"/>
          </a:p>
        </p:txBody>
      </p:sp>
      <p:sp>
        <p:nvSpPr>
          <p:cNvPr id="8" name="Text 6"/>
          <p:cNvSpPr/>
          <p:nvPr/>
        </p:nvSpPr>
        <p:spPr>
          <a:xfrm>
            <a:off x="777240" y="3063240"/>
            <a:ext cx="10698480" cy="365760"/>
          </a:xfrm>
          <a:prstGeom prst="rect">
            <a:avLst/>
          </a:prstGeom>
          <a:noFill/>
          <a:ln/>
        </p:spPr>
        <p:txBody>
          <a:bodyPr wrap="square" lIns="0" tIns="0" rIns="0" bIns="0" rtlCol="0" anchor="ctr"/>
          <a:lstStyle/>
          <a:p>
            <a:pPr marL="0" indent="0">
              <a:buNone/>
            </a:pPr>
            <a:r>
              <a:rPr lang="en-US" sz="2000" b="1" dirty="0">
                <a:solidFill>
                  <a:srgbClr val="2E86A1"/>
                </a:solidFill>
                <a:latin typeface="Calibri" pitchFamily="34" charset="0"/>
                <a:ea typeface="Calibri" pitchFamily="34" charset="-122"/>
                <a:cs typeface="Calibri" pitchFamily="34" charset="-120"/>
              </a:rPr>
              <a:t>Clasificacion PACELC de sistemas reales</a:t>
            </a:r>
            <a:endParaRPr lang="en-US" sz="2000" dirty="0"/>
          </a:p>
        </p:txBody>
      </p:sp>
      <p:sp>
        <p:nvSpPr>
          <p:cNvPr id="9" name="Shape 7"/>
          <p:cNvSpPr/>
          <p:nvPr/>
        </p:nvSpPr>
        <p:spPr>
          <a:xfrm>
            <a:off x="777240" y="3474720"/>
            <a:ext cx="10698480" cy="365760"/>
          </a:xfrm>
          <a:prstGeom prst="rect">
            <a:avLst/>
          </a:prstGeom>
          <a:solidFill>
            <a:srgbClr val="0E3F7E"/>
          </a:solidFill>
          <a:ln/>
        </p:spPr>
        <p:txBody>
          <a:bodyPr/>
          <a:lstStyle/>
          <a:p>
            <a:endParaRPr lang="es-US" sz="2800"/>
          </a:p>
        </p:txBody>
      </p:sp>
      <p:sp>
        <p:nvSpPr>
          <p:cNvPr id="10" name="Text 8"/>
          <p:cNvSpPr/>
          <p:nvPr/>
        </p:nvSpPr>
        <p:spPr>
          <a:xfrm>
            <a:off x="777240" y="3474720"/>
            <a:ext cx="411480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Sistema</a:t>
            </a:r>
            <a:endParaRPr lang="en-US" sz="1600" dirty="0"/>
          </a:p>
        </p:txBody>
      </p:sp>
      <p:sp>
        <p:nvSpPr>
          <p:cNvPr id="11" name="Text 9"/>
          <p:cNvSpPr/>
          <p:nvPr/>
        </p:nvSpPr>
        <p:spPr>
          <a:xfrm>
            <a:off x="5029200" y="3474720"/>
            <a:ext cx="12801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Particion</a:t>
            </a:r>
            <a:endParaRPr lang="en-US" sz="1600" dirty="0"/>
          </a:p>
        </p:txBody>
      </p:sp>
      <p:sp>
        <p:nvSpPr>
          <p:cNvPr id="12" name="Text 10"/>
          <p:cNvSpPr/>
          <p:nvPr/>
        </p:nvSpPr>
        <p:spPr>
          <a:xfrm>
            <a:off x="6400800" y="3474720"/>
            <a:ext cx="12801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Sin part.</a:t>
            </a:r>
            <a:endParaRPr lang="en-US" sz="1600" dirty="0"/>
          </a:p>
        </p:txBody>
      </p:sp>
      <p:sp>
        <p:nvSpPr>
          <p:cNvPr id="13" name="Text 11"/>
          <p:cNvSpPr/>
          <p:nvPr/>
        </p:nvSpPr>
        <p:spPr>
          <a:xfrm>
            <a:off x="7772400" y="3474720"/>
            <a:ext cx="365760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Caso de uso tipico</a:t>
            </a:r>
            <a:endParaRPr lang="en-US" sz="1600" dirty="0"/>
          </a:p>
        </p:txBody>
      </p:sp>
      <p:sp>
        <p:nvSpPr>
          <p:cNvPr id="14" name="Text 12"/>
          <p:cNvSpPr/>
          <p:nvPr/>
        </p:nvSpPr>
        <p:spPr>
          <a:xfrm>
            <a:off x="777240" y="3886200"/>
            <a:ext cx="4114800" cy="365760"/>
          </a:xfrm>
          <a:prstGeom prst="rect">
            <a:avLst/>
          </a:prstGeom>
          <a:noFill/>
          <a:ln/>
        </p:spPr>
        <p:txBody>
          <a:bodyPr wrap="square" lIns="0" tIns="0" rIns="0" bIns="0" rtlCol="0" anchor="ctr"/>
          <a:lstStyle/>
          <a:p>
            <a:pPr marL="0" indent="0">
              <a:buNone/>
            </a:pPr>
            <a:r>
              <a:rPr lang="en-US" sz="1600" dirty="0">
                <a:solidFill>
                  <a:srgbClr val="1A1A1A"/>
                </a:solidFill>
                <a:latin typeface="Calibri" pitchFamily="34" charset="0"/>
                <a:ea typeface="Calibri" pitchFamily="34" charset="-122"/>
                <a:cs typeface="Calibri" pitchFamily="34" charset="-120"/>
              </a:rPr>
              <a:t>Google Spanner</a:t>
            </a:r>
            <a:endParaRPr lang="en-US" sz="1600" dirty="0"/>
          </a:p>
        </p:txBody>
      </p:sp>
      <p:sp>
        <p:nvSpPr>
          <p:cNvPr id="15" name="Text 13"/>
          <p:cNvSpPr/>
          <p:nvPr/>
        </p:nvSpPr>
        <p:spPr>
          <a:xfrm>
            <a:off x="5029200" y="3886200"/>
            <a:ext cx="1280160" cy="365760"/>
          </a:xfrm>
          <a:prstGeom prst="rect">
            <a:avLst/>
          </a:prstGeom>
          <a:noFill/>
          <a:ln/>
        </p:spPr>
        <p:txBody>
          <a:bodyPr wrap="square" lIns="0" tIns="0" rIns="0" bIns="0" rtlCol="0" anchor="ctr"/>
          <a:lstStyle/>
          <a:p>
            <a:pPr marL="0" indent="0" algn="ctr">
              <a:buNone/>
            </a:pPr>
            <a:r>
              <a:rPr lang="en-US" sz="1600" b="1" dirty="0">
                <a:solidFill>
                  <a:srgbClr val="0E3F7E"/>
                </a:solidFill>
                <a:latin typeface="Calibri" pitchFamily="34" charset="0"/>
                <a:ea typeface="Calibri" pitchFamily="34" charset="-122"/>
                <a:cs typeface="Calibri" pitchFamily="34" charset="-120"/>
              </a:rPr>
              <a:t>PC</a:t>
            </a:r>
            <a:endParaRPr lang="en-US" sz="1600" dirty="0"/>
          </a:p>
        </p:txBody>
      </p:sp>
      <p:sp>
        <p:nvSpPr>
          <p:cNvPr id="16" name="Text 14"/>
          <p:cNvSpPr/>
          <p:nvPr/>
        </p:nvSpPr>
        <p:spPr>
          <a:xfrm>
            <a:off x="6400800" y="3886200"/>
            <a:ext cx="1280160" cy="365760"/>
          </a:xfrm>
          <a:prstGeom prst="rect">
            <a:avLst/>
          </a:prstGeom>
          <a:noFill/>
          <a:ln/>
        </p:spPr>
        <p:txBody>
          <a:bodyPr wrap="square" lIns="0" tIns="0" rIns="0" bIns="0" rtlCol="0" anchor="ctr"/>
          <a:lstStyle/>
          <a:p>
            <a:pPr marL="0" indent="0" algn="ctr">
              <a:buNone/>
            </a:pPr>
            <a:r>
              <a:rPr lang="en-US" sz="1600" b="1" dirty="0">
                <a:solidFill>
                  <a:srgbClr val="0E3F7E"/>
                </a:solidFill>
                <a:latin typeface="Calibri" pitchFamily="34" charset="0"/>
                <a:ea typeface="Calibri" pitchFamily="34" charset="-122"/>
                <a:cs typeface="Calibri" pitchFamily="34" charset="-120"/>
              </a:rPr>
              <a:t>EC</a:t>
            </a:r>
            <a:endParaRPr lang="en-US" sz="1600" dirty="0"/>
          </a:p>
        </p:txBody>
      </p:sp>
      <p:sp>
        <p:nvSpPr>
          <p:cNvPr id="17" name="Text 15"/>
          <p:cNvSpPr/>
          <p:nvPr/>
        </p:nvSpPr>
        <p:spPr>
          <a:xfrm>
            <a:off x="7772400" y="3886200"/>
            <a:ext cx="3657600" cy="365760"/>
          </a:xfrm>
          <a:prstGeom prst="rect">
            <a:avLst/>
          </a:prstGeom>
          <a:noFill/>
          <a:ln/>
        </p:spPr>
        <p:txBody>
          <a:bodyPr wrap="square" lIns="0" tIns="0" rIns="0" bIns="0" rtlCol="0" anchor="ctr"/>
          <a:lstStyle/>
          <a:p>
            <a:pPr marL="0" indent="0">
              <a:buNone/>
            </a:pPr>
            <a:r>
              <a:rPr lang="en-US" sz="1600" dirty="0">
                <a:solidFill>
                  <a:srgbClr val="1A1A1A"/>
                </a:solidFill>
                <a:latin typeface="Calibri" pitchFamily="34" charset="0"/>
                <a:ea typeface="Calibri" pitchFamily="34" charset="-122"/>
                <a:cs typeface="Calibri" pitchFamily="34" charset="-120"/>
              </a:rPr>
              <a:t>Banca global, Google Ads</a:t>
            </a:r>
            <a:endParaRPr lang="en-US" sz="1600" dirty="0"/>
          </a:p>
        </p:txBody>
      </p:sp>
      <p:sp>
        <p:nvSpPr>
          <p:cNvPr id="18" name="Shape 16"/>
          <p:cNvSpPr/>
          <p:nvPr/>
        </p:nvSpPr>
        <p:spPr>
          <a:xfrm>
            <a:off x="777240" y="4251960"/>
            <a:ext cx="10698480" cy="365760"/>
          </a:xfrm>
          <a:prstGeom prst="rect">
            <a:avLst/>
          </a:prstGeom>
          <a:solidFill>
            <a:srgbClr val="EAF1FB"/>
          </a:solidFill>
          <a:ln/>
        </p:spPr>
        <p:txBody>
          <a:bodyPr/>
          <a:lstStyle/>
          <a:p>
            <a:endParaRPr lang="es-US" sz="2800"/>
          </a:p>
        </p:txBody>
      </p:sp>
      <p:sp>
        <p:nvSpPr>
          <p:cNvPr id="19" name="Text 17"/>
          <p:cNvSpPr/>
          <p:nvPr/>
        </p:nvSpPr>
        <p:spPr>
          <a:xfrm>
            <a:off x="777240" y="4251960"/>
            <a:ext cx="4114800" cy="365760"/>
          </a:xfrm>
          <a:prstGeom prst="rect">
            <a:avLst/>
          </a:prstGeom>
          <a:noFill/>
          <a:ln/>
        </p:spPr>
        <p:txBody>
          <a:bodyPr wrap="square" lIns="0" tIns="0" rIns="0" bIns="0" rtlCol="0" anchor="ctr"/>
          <a:lstStyle/>
          <a:p>
            <a:pPr marL="0" indent="0">
              <a:buNone/>
            </a:pPr>
            <a:r>
              <a:rPr lang="en-US" sz="1600" dirty="0">
                <a:solidFill>
                  <a:srgbClr val="1A1A1A"/>
                </a:solidFill>
                <a:latin typeface="Calibri" pitchFamily="34" charset="0"/>
                <a:ea typeface="Calibri" pitchFamily="34" charset="-122"/>
                <a:cs typeface="Calibri" pitchFamily="34" charset="-120"/>
              </a:rPr>
              <a:t>CockroachDB</a:t>
            </a:r>
            <a:endParaRPr lang="en-US" sz="1600" dirty="0"/>
          </a:p>
        </p:txBody>
      </p:sp>
      <p:sp>
        <p:nvSpPr>
          <p:cNvPr id="20" name="Text 18"/>
          <p:cNvSpPr/>
          <p:nvPr/>
        </p:nvSpPr>
        <p:spPr>
          <a:xfrm>
            <a:off x="5029200" y="4251960"/>
            <a:ext cx="1280160" cy="365760"/>
          </a:xfrm>
          <a:prstGeom prst="rect">
            <a:avLst/>
          </a:prstGeom>
          <a:noFill/>
          <a:ln/>
        </p:spPr>
        <p:txBody>
          <a:bodyPr wrap="square" lIns="0" tIns="0" rIns="0" bIns="0" rtlCol="0" anchor="ctr"/>
          <a:lstStyle/>
          <a:p>
            <a:pPr marL="0" indent="0" algn="ctr">
              <a:buNone/>
            </a:pPr>
            <a:r>
              <a:rPr lang="en-US" sz="1600" b="1" dirty="0">
                <a:solidFill>
                  <a:srgbClr val="0E3F7E"/>
                </a:solidFill>
                <a:latin typeface="Calibri" pitchFamily="34" charset="0"/>
                <a:ea typeface="Calibri" pitchFamily="34" charset="-122"/>
                <a:cs typeface="Calibri" pitchFamily="34" charset="-120"/>
              </a:rPr>
              <a:t>PC</a:t>
            </a:r>
            <a:endParaRPr lang="en-US" sz="1600" dirty="0"/>
          </a:p>
        </p:txBody>
      </p:sp>
      <p:sp>
        <p:nvSpPr>
          <p:cNvPr id="21" name="Text 19"/>
          <p:cNvSpPr/>
          <p:nvPr/>
        </p:nvSpPr>
        <p:spPr>
          <a:xfrm>
            <a:off x="6400800" y="4251960"/>
            <a:ext cx="1280160" cy="365760"/>
          </a:xfrm>
          <a:prstGeom prst="rect">
            <a:avLst/>
          </a:prstGeom>
          <a:noFill/>
          <a:ln/>
        </p:spPr>
        <p:txBody>
          <a:bodyPr wrap="square" lIns="0" tIns="0" rIns="0" bIns="0" rtlCol="0" anchor="ctr"/>
          <a:lstStyle/>
          <a:p>
            <a:pPr marL="0" indent="0" algn="ctr">
              <a:buNone/>
            </a:pPr>
            <a:r>
              <a:rPr lang="en-US" sz="1600" b="1" dirty="0">
                <a:solidFill>
                  <a:srgbClr val="0E3F7E"/>
                </a:solidFill>
                <a:latin typeface="Calibri" pitchFamily="34" charset="0"/>
                <a:ea typeface="Calibri" pitchFamily="34" charset="-122"/>
                <a:cs typeface="Calibri" pitchFamily="34" charset="-120"/>
              </a:rPr>
              <a:t>EC</a:t>
            </a:r>
            <a:endParaRPr lang="en-US" sz="1600" dirty="0"/>
          </a:p>
        </p:txBody>
      </p:sp>
      <p:sp>
        <p:nvSpPr>
          <p:cNvPr id="22" name="Text 20"/>
          <p:cNvSpPr/>
          <p:nvPr/>
        </p:nvSpPr>
        <p:spPr>
          <a:xfrm>
            <a:off x="7772400" y="4251960"/>
            <a:ext cx="3657600" cy="365760"/>
          </a:xfrm>
          <a:prstGeom prst="rect">
            <a:avLst/>
          </a:prstGeom>
          <a:noFill/>
          <a:ln/>
        </p:spPr>
        <p:txBody>
          <a:bodyPr wrap="square" lIns="0" tIns="0" rIns="0" bIns="0" rtlCol="0" anchor="ctr"/>
          <a:lstStyle/>
          <a:p>
            <a:pPr marL="0" indent="0">
              <a:buNone/>
            </a:pPr>
            <a:r>
              <a:rPr lang="en-US" sz="1600" dirty="0">
                <a:solidFill>
                  <a:srgbClr val="1A1A1A"/>
                </a:solidFill>
                <a:latin typeface="Calibri" pitchFamily="34" charset="0"/>
                <a:ea typeface="Calibri" pitchFamily="34" charset="-122"/>
                <a:cs typeface="Calibri" pitchFamily="34" charset="-120"/>
              </a:rPr>
              <a:t>Banca, retail multi-region</a:t>
            </a:r>
            <a:endParaRPr lang="en-US" sz="1600" dirty="0"/>
          </a:p>
        </p:txBody>
      </p:sp>
      <p:sp>
        <p:nvSpPr>
          <p:cNvPr id="23" name="Text 21"/>
          <p:cNvSpPr/>
          <p:nvPr/>
        </p:nvSpPr>
        <p:spPr>
          <a:xfrm>
            <a:off x="777240" y="4617720"/>
            <a:ext cx="4114800" cy="365760"/>
          </a:xfrm>
          <a:prstGeom prst="rect">
            <a:avLst/>
          </a:prstGeom>
          <a:noFill/>
          <a:ln/>
        </p:spPr>
        <p:txBody>
          <a:bodyPr wrap="square" lIns="0" tIns="0" rIns="0" bIns="0" rtlCol="0" anchor="ctr"/>
          <a:lstStyle/>
          <a:p>
            <a:pPr marL="0" indent="0">
              <a:buNone/>
            </a:pPr>
            <a:r>
              <a:rPr lang="en-US" sz="1600" dirty="0">
                <a:solidFill>
                  <a:srgbClr val="1A1A1A"/>
                </a:solidFill>
                <a:latin typeface="Calibri" pitchFamily="34" charset="0"/>
                <a:ea typeface="Calibri" pitchFamily="34" charset="-122"/>
                <a:cs typeface="Calibri" pitchFamily="34" charset="-120"/>
              </a:rPr>
              <a:t>MongoDB (writeConcern majority)</a:t>
            </a:r>
            <a:endParaRPr lang="en-US" sz="1600" dirty="0"/>
          </a:p>
        </p:txBody>
      </p:sp>
      <p:sp>
        <p:nvSpPr>
          <p:cNvPr id="24" name="Text 22"/>
          <p:cNvSpPr/>
          <p:nvPr/>
        </p:nvSpPr>
        <p:spPr>
          <a:xfrm>
            <a:off x="5029200" y="4617720"/>
            <a:ext cx="1280160" cy="365760"/>
          </a:xfrm>
          <a:prstGeom prst="rect">
            <a:avLst/>
          </a:prstGeom>
          <a:noFill/>
          <a:ln/>
        </p:spPr>
        <p:txBody>
          <a:bodyPr wrap="square" lIns="0" tIns="0" rIns="0" bIns="0" rtlCol="0" anchor="ctr"/>
          <a:lstStyle/>
          <a:p>
            <a:pPr marL="0" indent="0" algn="ctr">
              <a:buNone/>
            </a:pPr>
            <a:r>
              <a:rPr lang="en-US" sz="1600" b="1" dirty="0">
                <a:solidFill>
                  <a:srgbClr val="0E3F7E"/>
                </a:solidFill>
                <a:latin typeface="Calibri" pitchFamily="34" charset="0"/>
                <a:ea typeface="Calibri" pitchFamily="34" charset="-122"/>
                <a:cs typeface="Calibri" pitchFamily="34" charset="-120"/>
              </a:rPr>
              <a:t>PC</a:t>
            </a:r>
            <a:endParaRPr lang="en-US" sz="1600" dirty="0"/>
          </a:p>
        </p:txBody>
      </p:sp>
      <p:sp>
        <p:nvSpPr>
          <p:cNvPr id="25" name="Text 23"/>
          <p:cNvSpPr/>
          <p:nvPr/>
        </p:nvSpPr>
        <p:spPr>
          <a:xfrm>
            <a:off x="6400800" y="4617720"/>
            <a:ext cx="1280160" cy="365760"/>
          </a:xfrm>
          <a:prstGeom prst="rect">
            <a:avLst/>
          </a:prstGeom>
          <a:noFill/>
          <a:ln/>
        </p:spPr>
        <p:txBody>
          <a:bodyPr wrap="square" lIns="0" tIns="0" rIns="0" bIns="0" rtlCol="0" anchor="ctr"/>
          <a:lstStyle/>
          <a:p>
            <a:pPr marL="0" indent="0" algn="ctr">
              <a:buNone/>
            </a:pPr>
            <a:r>
              <a:rPr lang="en-US" sz="1600" b="1" dirty="0">
                <a:solidFill>
                  <a:srgbClr val="0E3F7E"/>
                </a:solidFill>
                <a:latin typeface="Calibri" pitchFamily="34" charset="0"/>
                <a:ea typeface="Calibri" pitchFamily="34" charset="-122"/>
                <a:cs typeface="Calibri" pitchFamily="34" charset="-120"/>
              </a:rPr>
              <a:t>EC</a:t>
            </a:r>
            <a:endParaRPr lang="en-US" sz="1600" dirty="0"/>
          </a:p>
        </p:txBody>
      </p:sp>
      <p:sp>
        <p:nvSpPr>
          <p:cNvPr id="26" name="Text 24"/>
          <p:cNvSpPr/>
          <p:nvPr/>
        </p:nvSpPr>
        <p:spPr>
          <a:xfrm>
            <a:off x="7772400" y="4617720"/>
            <a:ext cx="3657600" cy="365760"/>
          </a:xfrm>
          <a:prstGeom prst="rect">
            <a:avLst/>
          </a:prstGeom>
          <a:noFill/>
          <a:ln/>
        </p:spPr>
        <p:txBody>
          <a:bodyPr wrap="square" lIns="0" tIns="0" rIns="0" bIns="0" rtlCol="0" anchor="ctr"/>
          <a:lstStyle/>
          <a:p>
            <a:pPr marL="0" indent="0">
              <a:buNone/>
            </a:pPr>
            <a:r>
              <a:rPr lang="en-US" sz="1600" dirty="0">
                <a:solidFill>
                  <a:srgbClr val="1A1A1A"/>
                </a:solidFill>
                <a:latin typeface="Calibri" pitchFamily="34" charset="0"/>
                <a:ea typeface="Calibri" pitchFamily="34" charset="-122"/>
                <a:cs typeface="Calibri" pitchFamily="34" charset="-120"/>
              </a:rPr>
              <a:t>Catalogos con consistencia</a:t>
            </a:r>
            <a:endParaRPr lang="en-US" sz="1600" dirty="0"/>
          </a:p>
        </p:txBody>
      </p:sp>
      <p:sp>
        <p:nvSpPr>
          <p:cNvPr id="27" name="Shape 25"/>
          <p:cNvSpPr/>
          <p:nvPr/>
        </p:nvSpPr>
        <p:spPr>
          <a:xfrm>
            <a:off x="777240" y="4983480"/>
            <a:ext cx="10698480" cy="365760"/>
          </a:xfrm>
          <a:prstGeom prst="rect">
            <a:avLst/>
          </a:prstGeom>
          <a:solidFill>
            <a:srgbClr val="EAF1FB"/>
          </a:solidFill>
          <a:ln/>
        </p:spPr>
        <p:txBody>
          <a:bodyPr/>
          <a:lstStyle/>
          <a:p>
            <a:endParaRPr lang="es-US" sz="2800"/>
          </a:p>
        </p:txBody>
      </p:sp>
      <p:sp>
        <p:nvSpPr>
          <p:cNvPr id="28" name="Text 26"/>
          <p:cNvSpPr/>
          <p:nvPr/>
        </p:nvSpPr>
        <p:spPr>
          <a:xfrm>
            <a:off x="777240" y="4983480"/>
            <a:ext cx="4114800" cy="365760"/>
          </a:xfrm>
          <a:prstGeom prst="rect">
            <a:avLst/>
          </a:prstGeom>
          <a:noFill/>
          <a:ln/>
        </p:spPr>
        <p:txBody>
          <a:bodyPr wrap="square" lIns="0" tIns="0" rIns="0" bIns="0" rtlCol="0" anchor="ctr"/>
          <a:lstStyle/>
          <a:p>
            <a:pPr marL="0" indent="0">
              <a:buNone/>
            </a:pPr>
            <a:r>
              <a:rPr lang="en-US" sz="1600" dirty="0">
                <a:solidFill>
                  <a:srgbClr val="1A1A1A"/>
                </a:solidFill>
                <a:latin typeface="Calibri" pitchFamily="34" charset="0"/>
                <a:ea typeface="Calibri" pitchFamily="34" charset="-122"/>
                <a:cs typeface="Calibri" pitchFamily="34" charset="-120"/>
              </a:rPr>
              <a:t>HBase</a:t>
            </a:r>
            <a:endParaRPr lang="en-US" sz="1600" dirty="0"/>
          </a:p>
        </p:txBody>
      </p:sp>
      <p:sp>
        <p:nvSpPr>
          <p:cNvPr id="29" name="Text 27"/>
          <p:cNvSpPr/>
          <p:nvPr/>
        </p:nvSpPr>
        <p:spPr>
          <a:xfrm>
            <a:off x="5029200" y="4983480"/>
            <a:ext cx="1280160" cy="365760"/>
          </a:xfrm>
          <a:prstGeom prst="rect">
            <a:avLst/>
          </a:prstGeom>
          <a:noFill/>
          <a:ln/>
        </p:spPr>
        <p:txBody>
          <a:bodyPr wrap="square" lIns="0" tIns="0" rIns="0" bIns="0" rtlCol="0" anchor="ctr"/>
          <a:lstStyle/>
          <a:p>
            <a:pPr marL="0" indent="0" algn="ctr">
              <a:buNone/>
            </a:pPr>
            <a:r>
              <a:rPr lang="en-US" sz="1600" b="1" dirty="0">
                <a:solidFill>
                  <a:srgbClr val="0E3F7E"/>
                </a:solidFill>
                <a:latin typeface="Calibri" pitchFamily="34" charset="0"/>
                <a:ea typeface="Calibri" pitchFamily="34" charset="-122"/>
                <a:cs typeface="Calibri" pitchFamily="34" charset="-120"/>
              </a:rPr>
              <a:t>PC</a:t>
            </a:r>
            <a:endParaRPr lang="en-US" sz="1600" dirty="0"/>
          </a:p>
        </p:txBody>
      </p:sp>
      <p:sp>
        <p:nvSpPr>
          <p:cNvPr id="30" name="Text 28"/>
          <p:cNvSpPr/>
          <p:nvPr/>
        </p:nvSpPr>
        <p:spPr>
          <a:xfrm>
            <a:off x="6400800" y="4983480"/>
            <a:ext cx="1280160" cy="365760"/>
          </a:xfrm>
          <a:prstGeom prst="rect">
            <a:avLst/>
          </a:prstGeom>
          <a:noFill/>
          <a:ln/>
        </p:spPr>
        <p:txBody>
          <a:bodyPr wrap="square" lIns="0" tIns="0" rIns="0" bIns="0" rtlCol="0" anchor="ctr"/>
          <a:lstStyle/>
          <a:p>
            <a:pPr marL="0" indent="0" algn="ctr">
              <a:buNone/>
            </a:pPr>
            <a:r>
              <a:rPr lang="en-US" sz="1600" b="1" dirty="0">
                <a:solidFill>
                  <a:srgbClr val="0E3F7E"/>
                </a:solidFill>
                <a:latin typeface="Calibri" pitchFamily="34" charset="0"/>
                <a:ea typeface="Calibri" pitchFamily="34" charset="-122"/>
                <a:cs typeface="Calibri" pitchFamily="34" charset="-120"/>
              </a:rPr>
              <a:t>EC</a:t>
            </a:r>
            <a:endParaRPr lang="en-US" sz="1600" dirty="0"/>
          </a:p>
        </p:txBody>
      </p:sp>
      <p:sp>
        <p:nvSpPr>
          <p:cNvPr id="31" name="Text 29"/>
          <p:cNvSpPr/>
          <p:nvPr/>
        </p:nvSpPr>
        <p:spPr>
          <a:xfrm>
            <a:off x="7772400" y="4983480"/>
            <a:ext cx="3657600" cy="365760"/>
          </a:xfrm>
          <a:prstGeom prst="rect">
            <a:avLst/>
          </a:prstGeom>
          <a:noFill/>
          <a:ln/>
        </p:spPr>
        <p:txBody>
          <a:bodyPr wrap="square" lIns="0" tIns="0" rIns="0" bIns="0" rtlCol="0" anchor="ctr"/>
          <a:lstStyle/>
          <a:p>
            <a:pPr marL="0" indent="0">
              <a:buNone/>
            </a:pPr>
            <a:r>
              <a:rPr lang="en-US" sz="1600" dirty="0">
                <a:solidFill>
                  <a:srgbClr val="1A1A1A"/>
                </a:solidFill>
                <a:latin typeface="Calibri" pitchFamily="34" charset="0"/>
                <a:ea typeface="Calibri" pitchFamily="34" charset="-122"/>
                <a:cs typeface="Calibri" pitchFamily="34" charset="-120"/>
              </a:rPr>
              <a:t>Big Data Hadoop</a:t>
            </a:r>
            <a:endParaRPr lang="en-US" sz="1600" dirty="0"/>
          </a:p>
        </p:txBody>
      </p:sp>
      <p:sp>
        <p:nvSpPr>
          <p:cNvPr id="32" name="Text 30"/>
          <p:cNvSpPr/>
          <p:nvPr/>
        </p:nvSpPr>
        <p:spPr>
          <a:xfrm>
            <a:off x="777240" y="5349240"/>
            <a:ext cx="4114800" cy="365760"/>
          </a:xfrm>
          <a:prstGeom prst="rect">
            <a:avLst/>
          </a:prstGeom>
          <a:noFill/>
          <a:ln/>
        </p:spPr>
        <p:txBody>
          <a:bodyPr wrap="square" lIns="0" tIns="0" rIns="0" bIns="0" rtlCol="0" anchor="ctr"/>
          <a:lstStyle/>
          <a:p>
            <a:pPr marL="0" indent="0">
              <a:buNone/>
            </a:pPr>
            <a:r>
              <a:rPr lang="en-US" sz="1600" dirty="0">
                <a:solidFill>
                  <a:srgbClr val="1A1A1A"/>
                </a:solidFill>
                <a:latin typeface="Calibri" pitchFamily="34" charset="0"/>
                <a:ea typeface="Calibri" pitchFamily="34" charset="-122"/>
                <a:cs typeface="Calibri" pitchFamily="34" charset="-120"/>
              </a:rPr>
              <a:t>Apache Cassandra</a:t>
            </a:r>
            <a:endParaRPr lang="en-US" sz="1600" dirty="0"/>
          </a:p>
        </p:txBody>
      </p:sp>
      <p:sp>
        <p:nvSpPr>
          <p:cNvPr id="33" name="Text 31"/>
          <p:cNvSpPr/>
          <p:nvPr/>
        </p:nvSpPr>
        <p:spPr>
          <a:xfrm>
            <a:off x="5029200" y="5349240"/>
            <a:ext cx="1280160" cy="365760"/>
          </a:xfrm>
          <a:prstGeom prst="rect">
            <a:avLst/>
          </a:prstGeom>
          <a:noFill/>
          <a:ln/>
        </p:spPr>
        <p:txBody>
          <a:bodyPr wrap="square" lIns="0" tIns="0" rIns="0" bIns="0" rtlCol="0" anchor="ctr"/>
          <a:lstStyle/>
          <a:p>
            <a:pPr marL="0" indent="0" algn="ctr">
              <a:buNone/>
            </a:pPr>
            <a:r>
              <a:rPr lang="en-US" sz="1600" b="1" dirty="0">
                <a:solidFill>
                  <a:srgbClr val="F2A413"/>
                </a:solidFill>
                <a:latin typeface="Calibri" pitchFamily="34" charset="0"/>
                <a:ea typeface="Calibri" pitchFamily="34" charset="-122"/>
                <a:cs typeface="Calibri" pitchFamily="34" charset="-120"/>
              </a:rPr>
              <a:t>PA</a:t>
            </a:r>
            <a:endParaRPr lang="en-US" sz="1600" dirty="0"/>
          </a:p>
        </p:txBody>
      </p:sp>
      <p:sp>
        <p:nvSpPr>
          <p:cNvPr id="34" name="Text 32"/>
          <p:cNvSpPr/>
          <p:nvPr/>
        </p:nvSpPr>
        <p:spPr>
          <a:xfrm>
            <a:off x="6400800" y="5349240"/>
            <a:ext cx="1280160" cy="365760"/>
          </a:xfrm>
          <a:prstGeom prst="rect">
            <a:avLst/>
          </a:prstGeom>
          <a:noFill/>
          <a:ln/>
        </p:spPr>
        <p:txBody>
          <a:bodyPr wrap="square" lIns="0" tIns="0" rIns="0" bIns="0" rtlCol="0" anchor="ctr"/>
          <a:lstStyle/>
          <a:p>
            <a:pPr marL="0" indent="0" algn="ctr">
              <a:buNone/>
            </a:pPr>
            <a:r>
              <a:rPr lang="en-US" sz="1600" b="1" dirty="0">
                <a:solidFill>
                  <a:srgbClr val="C0392B"/>
                </a:solidFill>
                <a:latin typeface="Calibri" pitchFamily="34" charset="0"/>
                <a:ea typeface="Calibri" pitchFamily="34" charset="-122"/>
                <a:cs typeface="Calibri" pitchFamily="34" charset="-120"/>
              </a:rPr>
              <a:t>EL</a:t>
            </a:r>
            <a:endParaRPr lang="en-US" sz="1600" dirty="0"/>
          </a:p>
        </p:txBody>
      </p:sp>
      <p:sp>
        <p:nvSpPr>
          <p:cNvPr id="35" name="Text 33"/>
          <p:cNvSpPr/>
          <p:nvPr/>
        </p:nvSpPr>
        <p:spPr>
          <a:xfrm>
            <a:off x="7772400" y="5349240"/>
            <a:ext cx="3657600" cy="365760"/>
          </a:xfrm>
          <a:prstGeom prst="rect">
            <a:avLst/>
          </a:prstGeom>
          <a:noFill/>
          <a:ln/>
        </p:spPr>
        <p:txBody>
          <a:bodyPr wrap="square" lIns="0" tIns="0" rIns="0" bIns="0" rtlCol="0" anchor="ctr"/>
          <a:lstStyle/>
          <a:p>
            <a:pPr marL="0" indent="0">
              <a:buNone/>
            </a:pPr>
            <a:r>
              <a:rPr lang="en-US" sz="1600" dirty="0">
                <a:solidFill>
                  <a:srgbClr val="1A1A1A"/>
                </a:solidFill>
                <a:latin typeface="Calibri" pitchFamily="34" charset="0"/>
                <a:ea typeface="Calibri" pitchFamily="34" charset="-122"/>
                <a:cs typeface="Calibri" pitchFamily="34" charset="-120"/>
              </a:rPr>
              <a:t>IoT, logs, recomendaciones</a:t>
            </a:r>
            <a:endParaRPr lang="en-US" sz="1600" dirty="0"/>
          </a:p>
        </p:txBody>
      </p:sp>
      <p:sp>
        <p:nvSpPr>
          <p:cNvPr id="36" name="Shape 34"/>
          <p:cNvSpPr/>
          <p:nvPr/>
        </p:nvSpPr>
        <p:spPr>
          <a:xfrm>
            <a:off x="777240" y="5715000"/>
            <a:ext cx="10698480" cy="365760"/>
          </a:xfrm>
          <a:prstGeom prst="rect">
            <a:avLst/>
          </a:prstGeom>
          <a:solidFill>
            <a:srgbClr val="EAF1FB"/>
          </a:solidFill>
          <a:ln/>
        </p:spPr>
        <p:txBody>
          <a:bodyPr/>
          <a:lstStyle/>
          <a:p>
            <a:endParaRPr lang="es-US" sz="2800"/>
          </a:p>
        </p:txBody>
      </p:sp>
      <p:sp>
        <p:nvSpPr>
          <p:cNvPr id="37" name="Text 35"/>
          <p:cNvSpPr/>
          <p:nvPr/>
        </p:nvSpPr>
        <p:spPr>
          <a:xfrm>
            <a:off x="777240" y="5715000"/>
            <a:ext cx="4114800" cy="365760"/>
          </a:xfrm>
          <a:prstGeom prst="rect">
            <a:avLst/>
          </a:prstGeom>
          <a:noFill/>
          <a:ln/>
        </p:spPr>
        <p:txBody>
          <a:bodyPr wrap="square" lIns="0" tIns="0" rIns="0" bIns="0" rtlCol="0" anchor="ctr"/>
          <a:lstStyle/>
          <a:p>
            <a:pPr marL="0" indent="0">
              <a:buNone/>
            </a:pPr>
            <a:r>
              <a:rPr lang="en-US" sz="1600" dirty="0">
                <a:solidFill>
                  <a:srgbClr val="1A1A1A"/>
                </a:solidFill>
                <a:latin typeface="Calibri" pitchFamily="34" charset="0"/>
                <a:ea typeface="Calibri" pitchFamily="34" charset="-122"/>
                <a:cs typeface="Calibri" pitchFamily="34" charset="-120"/>
              </a:rPr>
              <a:t>Amazon DynamoDB</a:t>
            </a:r>
            <a:endParaRPr lang="en-US" sz="1600" dirty="0"/>
          </a:p>
        </p:txBody>
      </p:sp>
      <p:sp>
        <p:nvSpPr>
          <p:cNvPr id="38" name="Text 36"/>
          <p:cNvSpPr/>
          <p:nvPr/>
        </p:nvSpPr>
        <p:spPr>
          <a:xfrm>
            <a:off x="5029200" y="5715000"/>
            <a:ext cx="1280160" cy="365760"/>
          </a:xfrm>
          <a:prstGeom prst="rect">
            <a:avLst/>
          </a:prstGeom>
          <a:noFill/>
          <a:ln/>
        </p:spPr>
        <p:txBody>
          <a:bodyPr wrap="square" lIns="0" tIns="0" rIns="0" bIns="0" rtlCol="0" anchor="ctr"/>
          <a:lstStyle/>
          <a:p>
            <a:pPr marL="0" indent="0" algn="ctr">
              <a:buNone/>
            </a:pPr>
            <a:r>
              <a:rPr lang="en-US" sz="1600" b="1" dirty="0">
                <a:solidFill>
                  <a:srgbClr val="F2A413"/>
                </a:solidFill>
                <a:latin typeface="Calibri" pitchFamily="34" charset="0"/>
                <a:ea typeface="Calibri" pitchFamily="34" charset="-122"/>
                <a:cs typeface="Calibri" pitchFamily="34" charset="-120"/>
              </a:rPr>
              <a:t>PA</a:t>
            </a:r>
            <a:endParaRPr lang="en-US" sz="1600" dirty="0"/>
          </a:p>
        </p:txBody>
      </p:sp>
      <p:sp>
        <p:nvSpPr>
          <p:cNvPr id="39" name="Text 37"/>
          <p:cNvSpPr/>
          <p:nvPr/>
        </p:nvSpPr>
        <p:spPr>
          <a:xfrm>
            <a:off x="6400800" y="5715000"/>
            <a:ext cx="1280160" cy="365760"/>
          </a:xfrm>
          <a:prstGeom prst="rect">
            <a:avLst/>
          </a:prstGeom>
          <a:noFill/>
          <a:ln/>
        </p:spPr>
        <p:txBody>
          <a:bodyPr wrap="square" lIns="0" tIns="0" rIns="0" bIns="0" rtlCol="0" anchor="ctr"/>
          <a:lstStyle/>
          <a:p>
            <a:pPr marL="0" indent="0" algn="ctr">
              <a:buNone/>
            </a:pPr>
            <a:r>
              <a:rPr lang="en-US" sz="1600" b="1" dirty="0">
                <a:solidFill>
                  <a:srgbClr val="C0392B"/>
                </a:solidFill>
                <a:latin typeface="Calibri" pitchFamily="34" charset="0"/>
                <a:ea typeface="Calibri" pitchFamily="34" charset="-122"/>
                <a:cs typeface="Calibri" pitchFamily="34" charset="-120"/>
              </a:rPr>
              <a:t>EL</a:t>
            </a:r>
            <a:endParaRPr lang="en-US" sz="1600" dirty="0"/>
          </a:p>
        </p:txBody>
      </p:sp>
      <p:sp>
        <p:nvSpPr>
          <p:cNvPr id="40" name="Text 38"/>
          <p:cNvSpPr/>
          <p:nvPr/>
        </p:nvSpPr>
        <p:spPr>
          <a:xfrm>
            <a:off x="7772400" y="5715000"/>
            <a:ext cx="3657600" cy="365760"/>
          </a:xfrm>
          <a:prstGeom prst="rect">
            <a:avLst/>
          </a:prstGeom>
          <a:noFill/>
          <a:ln/>
        </p:spPr>
        <p:txBody>
          <a:bodyPr wrap="square" lIns="0" tIns="0" rIns="0" bIns="0" rtlCol="0" anchor="ctr"/>
          <a:lstStyle/>
          <a:p>
            <a:pPr marL="0" indent="0">
              <a:buNone/>
            </a:pPr>
            <a:r>
              <a:rPr lang="en-US" sz="1600" dirty="0">
                <a:solidFill>
                  <a:srgbClr val="1A1A1A"/>
                </a:solidFill>
                <a:latin typeface="Calibri" pitchFamily="34" charset="0"/>
                <a:ea typeface="Calibri" pitchFamily="34" charset="-122"/>
                <a:cs typeface="Calibri" pitchFamily="34" charset="-120"/>
              </a:rPr>
              <a:t>Sesiones, carritos AWS</a:t>
            </a:r>
            <a:endParaRPr lang="en-US" sz="1600" dirty="0"/>
          </a:p>
        </p:txBody>
      </p:sp>
      <p:sp>
        <p:nvSpPr>
          <p:cNvPr id="41" name="Text 39"/>
          <p:cNvSpPr/>
          <p:nvPr/>
        </p:nvSpPr>
        <p:spPr>
          <a:xfrm>
            <a:off x="777240" y="6080760"/>
            <a:ext cx="4114800" cy="365760"/>
          </a:xfrm>
          <a:prstGeom prst="rect">
            <a:avLst/>
          </a:prstGeom>
          <a:noFill/>
          <a:ln/>
        </p:spPr>
        <p:txBody>
          <a:bodyPr wrap="square" lIns="0" tIns="0" rIns="0" bIns="0" rtlCol="0" anchor="ctr"/>
          <a:lstStyle/>
          <a:p>
            <a:pPr marL="0" indent="0">
              <a:buNone/>
            </a:pPr>
            <a:r>
              <a:rPr lang="en-US" sz="1600" dirty="0">
                <a:solidFill>
                  <a:srgbClr val="1A1A1A"/>
                </a:solidFill>
                <a:latin typeface="Calibri" pitchFamily="34" charset="0"/>
                <a:ea typeface="Calibri" pitchFamily="34" charset="-122"/>
                <a:cs typeface="Calibri" pitchFamily="34" charset="-120"/>
              </a:rPr>
              <a:t>Riak</a:t>
            </a:r>
            <a:endParaRPr lang="en-US" sz="1600" dirty="0"/>
          </a:p>
        </p:txBody>
      </p:sp>
      <p:sp>
        <p:nvSpPr>
          <p:cNvPr id="42" name="Text 40"/>
          <p:cNvSpPr/>
          <p:nvPr/>
        </p:nvSpPr>
        <p:spPr>
          <a:xfrm>
            <a:off x="5029200" y="6080760"/>
            <a:ext cx="1280160" cy="365760"/>
          </a:xfrm>
          <a:prstGeom prst="rect">
            <a:avLst/>
          </a:prstGeom>
          <a:noFill/>
          <a:ln/>
        </p:spPr>
        <p:txBody>
          <a:bodyPr wrap="square" lIns="0" tIns="0" rIns="0" bIns="0" rtlCol="0" anchor="ctr"/>
          <a:lstStyle/>
          <a:p>
            <a:pPr marL="0" indent="0" algn="ctr">
              <a:buNone/>
            </a:pPr>
            <a:r>
              <a:rPr lang="en-US" sz="1600" b="1" dirty="0">
                <a:solidFill>
                  <a:srgbClr val="F2A413"/>
                </a:solidFill>
                <a:latin typeface="Calibri" pitchFamily="34" charset="0"/>
                <a:ea typeface="Calibri" pitchFamily="34" charset="-122"/>
                <a:cs typeface="Calibri" pitchFamily="34" charset="-120"/>
              </a:rPr>
              <a:t>PA</a:t>
            </a:r>
            <a:endParaRPr lang="en-US" sz="1600" dirty="0"/>
          </a:p>
        </p:txBody>
      </p:sp>
      <p:sp>
        <p:nvSpPr>
          <p:cNvPr id="43" name="Text 41"/>
          <p:cNvSpPr/>
          <p:nvPr/>
        </p:nvSpPr>
        <p:spPr>
          <a:xfrm>
            <a:off x="6400800" y="6080760"/>
            <a:ext cx="1280160" cy="365760"/>
          </a:xfrm>
          <a:prstGeom prst="rect">
            <a:avLst/>
          </a:prstGeom>
          <a:noFill/>
          <a:ln/>
        </p:spPr>
        <p:txBody>
          <a:bodyPr wrap="square" lIns="0" tIns="0" rIns="0" bIns="0" rtlCol="0" anchor="ctr"/>
          <a:lstStyle/>
          <a:p>
            <a:pPr marL="0" indent="0" algn="ctr">
              <a:buNone/>
            </a:pPr>
            <a:r>
              <a:rPr lang="en-US" sz="1600" b="1" dirty="0">
                <a:solidFill>
                  <a:srgbClr val="C0392B"/>
                </a:solidFill>
                <a:latin typeface="Calibri" pitchFamily="34" charset="0"/>
                <a:ea typeface="Calibri" pitchFamily="34" charset="-122"/>
                <a:cs typeface="Calibri" pitchFamily="34" charset="-120"/>
              </a:rPr>
              <a:t>EL</a:t>
            </a:r>
            <a:endParaRPr lang="en-US" sz="1600" dirty="0"/>
          </a:p>
        </p:txBody>
      </p:sp>
      <p:sp>
        <p:nvSpPr>
          <p:cNvPr id="44" name="Text 42"/>
          <p:cNvSpPr/>
          <p:nvPr/>
        </p:nvSpPr>
        <p:spPr>
          <a:xfrm>
            <a:off x="7772400" y="6080760"/>
            <a:ext cx="3657600" cy="365760"/>
          </a:xfrm>
          <a:prstGeom prst="rect">
            <a:avLst/>
          </a:prstGeom>
          <a:noFill/>
          <a:ln/>
        </p:spPr>
        <p:txBody>
          <a:bodyPr wrap="square" lIns="0" tIns="0" rIns="0" bIns="0" rtlCol="0" anchor="ctr"/>
          <a:lstStyle/>
          <a:p>
            <a:pPr marL="0" indent="0">
              <a:buNone/>
            </a:pPr>
            <a:r>
              <a:rPr lang="en-US" sz="1600" dirty="0">
                <a:solidFill>
                  <a:srgbClr val="1A1A1A"/>
                </a:solidFill>
                <a:latin typeface="Calibri" pitchFamily="34" charset="0"/>
                <a:ea typeface="Calibri" pitchFamily="34" charset="-122"/>
                <a:cs typeface="Calibri" pitchFamily="34" charset="-120"/>
              </a:rPr>
              <a:t>Bases clave-valor distribuidas</a:t>
            </a:r>
            <a:endParaRPr lang="en-US" sz="1600" dirty="0"/>
          </a:p>
        </p:txBody>
      </p:sp>
      <p:sp>
        <p:nvSpPr>
          <p:cNvPr id="45" name="Text 43"/>
          <p:cNvSpPr/>
          <p:nvPr/>
        </p:nvSpPr>
        <p:spPr>
          <a:xfrm>
            <a:off x="457200" y="6492240"/>
            <a:ext cx="8229600" cy="274320"/>
          </a:xfrm>
          <a:prstGeom prst="rect">
            <a:avLst/>
          </a:prstGeom>
          <a:noFill/>
          <a:ln/>
        </p:spPr>
        <p:txBody>
          <a:bodyPr wrap="square" rtlCol="0" anchor="ctr"/>
          <a:lstStyle/>
          <a:p>
            <a:pPr marL="0" indent="0">
              <a:buNone/>
            </a:pPr>
            <a:r>
              <a:rPr lang="en-US" sz="900" dirty="0">
                <a:solidFill>
                  <a:srgbClr val="4A4A4A"/>
                </a:solidFill>
                <a:latin typeface="Calibri" pitchFamily="34" charset="0"/>
                <a:ea typeface="Calibri" pitchFamily="34" charset="-122"/>
                <a:cs typeface="Calibri" pitchFamily="34" charset="-120"/>
              </a:rPr>
              <a:t>UTEQ - Aplicaciones Distribuidas (ISR-701) - Unidad 3</a:t>
            </a:r>
            <a:endParaRPr lang="en-US" sz="900" dirty="0"/>
          </a:p>
        </p:txBody>
      </p:sp>
      <p:sp>
        <p:nvSpPr>
          <p:cNvPr id="46" name="Text 44"/>
          <p:cNvSpPr/>
          <p:nvPr/>
        </p:nvSpPr>
        <p:spPr>
          <a:xfrm>
            <a:off x="10789920" y="6492240"/>
            <a:ext cx="914400" cy="274320"/>
          </a:xfrm>
          <a:prstGeom prst="rect">
            <a:avLst/>
          </a:prstGeom>
          <a:noFill/>
          <a:ln/>
        </p:spPr>
        <p:txBody>
          <a:bodyPr wrap="square"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28 / 42</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marL="0" indent="0">
              <a:buNone/>
            </a:pPr>
            <a:r>
              <a:rPr lang="en-US" sz="4000" b="1" dirty="0">
                <a:solidFill>
                  <a:srgbClr val="0E3F7E"/>
                </a:solidFill>
                <a:latin typeface="Calibri" pitchFamily="34" charset="0"/>
                <a:ea typeface="Calibri" pitchFamily="34" charset="-122"/>
                <a:cs typeface="Calibri" pitchFamily="34" charset="-120"/>
              </a:rPr>
              <a:t>Las cuatro familias NoSQL</a:t>
            </a:r>
            <a:endParaRPr lang="en-US" sz="4000" dirty="0"/>
          </a:p>
        </p:txBody>
      </p:sp>
      <p:sp>
        <p:nvSpPr>
          <p:cNvPr id="3" name="Text 1"/>
          <p:cNvSpPr/>
          <p:nvPr/>
        </p:nvSpPr>
        <p:spPr>
          <a:xfrm>
            <a:off x="457200" y="777240"/>
            <a:ext cx="11247120" cy="320040"/>
          </a:xfrm>
          <a:prstGeom prst="rect">
            <a:avLst/>
          </a:prstGeom>
          <a:noFill/>
          <a:ln/>
        </p:spPr>
        <p:txBody>
          <a:bodyPr wrap="square" lIns="0" tIns="0" rIns="0" bIns="0" rtlCol="0" anchor="ctr"/>
          <a:lstStyle/>
          <a:p>
            <a:pPr marL="0" indent="0">
              <a:buNone/>
            </a:pPr>
            <a:r>
              <a:rPr lang="en-US" sz="2000" i="1" dirty="0">
                <a:solidFill>
                  <a:srgbClr val="2E86A1"/>
                </a:solidFill>
                <a:latin typeface="Calibri" pitchFamily="34" charset="0"/>
                <a:ea typeface="Calibri" pitchFamily="34" charset="-122"/>
                <a:cs typeface="Calibri" pitchFamily="34" charset="-120"/>
              </a:rPr>
              <a:t>Modelos alternativos al relacional</a:t>
            </a:r>
            <a:endParaRPr lang="en-US" sz="2000" dirty="0"/>
          </a:p>
        </p:txBody>
      </p:sp>
      <p:sp>
        <p:nvSpPr>
          <p:cNvPr id="4" name="Shape 2"/>
          <p:cNvSpPr/>
          <p:nvPr/>
        </p:nvSpPr>
        <p:spPr>
          <a:xfrm>
            <a:off x="548640" y="1280160"/>
            <a:ext cx="5486400" cy="2468880"/>
          </a:xfrm>
          <a:prstGeom prst="roundRect">
            <a:avLst>
              <a:gd name="adj" fmla="val 2963"/>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sz="2800"/>
          </a:p>
        </p:txBody>
      </p:sp>
      <p:sp>
        <p:nvSpPr>
          <p:cNvPr id="5" name="Shape 3"/>
          <p:cNvSpPr/>
          <p:nvPr/>
        </p:nvSpPr>
        <p:spPr>
          <a:xfrm>
            <a:off x="548640" y="1280160"/>
            <a:ext cx="5486400" cy="502920"/>
          </a:xfrm>
          <a:prstGeom prst="roundRect">
            <a:avLst>
              <a:gd name="adj" fmla="val 14545"/>
            </a:avLst>
          </a:prstGeom>
          <a:solidFill>
            <a:srgbClr val="0E3F7E"/>
          </a:solidFill>
          <a:ln/>
        </p:spPr>
        <p:txBody>
          <a:bodyPr/>
          <a:lstStyle/>
          <a:p>
            <a:endParaRPr lang="es-US" sz="2800"/>
          </a:p>
        </p:txBody>
      </p:sp>
      <p:sp>
        <p:nvSpPr>
          <p:cNvPr id="6" name="Text 4"/>
          <p:cNvSpPr/>
          <p:nvPr/>
        </p:nvSpPr>
        <p:spPr>
          <a:xfrm>
            <a:off x="548640" y="1316736"/>
            <a:ext cx="5486400"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Documentales</a:t>
            </a:r>
            <a:endParaRPr lang="en-US" sz="2400" dirty="0"/>
          </a:p>
        </p:txBody>
      </p:sp>
      <p:sp>
        <p:nvSpPr>
          <p:cNvPr id="7" name="Text 5"/>
          <p:cNvSpPr/>
          <p:nvPr/>
        </p:nvSpPr>
        <p:spPr>
          <a:xfrm>
            <a:off x="731520" y="1920240"/>
            <a:ext cx="5120640" cy="1005840"/>
          </a:xfrm>
          <a:prstGeom prst="rect">
            <a:avLst/>
          </a:prstGeom>
          <a:noFill/>
          <a:ln/>
        </p:spPr>
        <p:txBody>
          <a:bodyPr wrap="square" rtlCol="0" anchor="ctr"/>
          <a:lstStyle/>
          <a:p>
            <a:pPr marL="0" indent="0">
              <a:buNone/>
            </a:pPr>
            <a:r>
              <a:rPr lang="en-US" sz="1600" dirty="0">
                <a:solidFill>
                  <a:srgbClr val="1A1A1A"/>
                </a:solidFill>
                <a:latin typeface="Calibri" pitchFamily="34" charset="0"/>
                <a:ea typeface="Calibri" pitchFamily="34" charset="-122"/>
                <a:cs typeface="Calibri" pitchFamily="34" charset="-120"/>
              </a:rPr>
              <a:t>Documentos JSON / BSON en colecciones. Cada documento puede tener esquema distinto. Anidacion natural elimina muchos JOIN.</a:t>
            </a:r>
            <a:endParaRPr lang="en-US" sz="1600" dirty="0"/>
          </a:p>
        </p:txBody>
      </p:sp>
      <p:sp>
        <p:nvSpPr>
          <p:cNvPr id="8" name="Text 6"/>
          <p:cNvSpPr/>
          <p:nvPr/>
        </p:nvSpPr>
        <p:spPr>
          <a:xfrm>
            <a:off x="731520" y="2971800"/>
            <a:ext cx="5120640" cy="365760"/>
          </a:xfrm>
          <a:prstGeom prst="rect">
            <a:avLst/>
          </a:prstGeom>
          <a:noFill/>
          <a:ln/>
        </p:spPr>
        <p:txBody>
          <a:bodyPr wrap="square" rtlCol="0" anchor="ctr"/>
          <a:lstStyle/>
          <a:p>
            <a:pPr marL="0" indent="0">
              <a:buNone/>
            </a:pPr>
            <a:r>
              <a:rPr lang="en-US" sz="1600" b="1" dirty="0">
                <a:solidFill>
                  <a:srgbClr val="0E3F7E"/>
                </a:solidFill>
                <a:latin typeface="Calibri" pitchFamily="34" charset="0"/>
                <a:ea typeface="Calibri" pitchFamily="34" charset="-122"/>
                <a:cs typeface="Calibri" pitchFamily="34" charset="-120"/>
              </a:rPr>
              <a:t>Ejemplos: MongoDB, CouchDB, DocumentDB</a:t>
            </a:r>
            <a:endParaRPr lang="en-US" sz="1600" dirty="0"/>
          </a:p>
        </p:txBody>
      </p:sp>
      <p:sp>
        <p:nvSpPr>
          <p:cNvPr id="9" name="Text 7"/>
          <p:cNvSpPr/>
          <p:nvPr/>
        </p:nvSpPr>
        <p:spPr>
          <a:xfrm>
            <a:off x="731520" y="3337560"/>
            <a:ext cx="5120640" cy="365760"/>
          </a:xfrm>
          <a:prstGeom prst="rect">
            <a:avLst/>
          </a:prstGeom>
          <a:noFill/>
          <a:ln/>
        </p:spPr>
        <p:txBody>
          <a:bodyPr wrap="square" rtlCol="0" anchor="ctr"/>
          <a:lstStyle/>
          <a:p>
            <a:pPr marL="0" indent="0">
              <a:buNone/>
            </a:pPr>
            <a:r>
              <a:rPr lang="en-US" sz="1600" i="1" dirty="0">
                <a:solidFill>
                  <a:srgbClr val="4A4A4A"/>
                </a:solidFill>
                <a:latin typeface="Calibri" pitchFamily="34" charset="0"/>
                <a:ea typeface="Calibri" pitchFamily="34" charset="-122"/>
                <a:cs typeface="Calibri" pitchFamily="34" charset="-120"/>
              </a:rPr>
              <a:t>Caso de uso: Catalogos, perfiles, configuraciones</a:t>
            </a:r>
            <a:endParaRPr lang="en-US" sz="1600" dirty="0"/>
          </a:p>
        </p:txBody>
      </p:sp>
      <p:sp>
        <p:nvSpPr>
          <p:cNvPr id="10" name="Shape 8"/>
          <p:cNvSpPr/>
          <p:nvPr/>
        </p:nvSpPr>
        <p:spPr>
          <a:xfrm>
            <a:off x="6263640" y="1280160"/>
            <a:ext cx="5486400" cy="2468880"/>
          </a:xfrm>
          <a:prstGeom prst="roundRect">
            <a:avLst>
              <a:gd name="adj" fmla="val 2963"/>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sz="2800"/>
          </a:p>
        </p:txBody>
      </p:sp>
      <p:sp>
        <p:nvSpPr>
          <p:cNvPr id="11" name="Shape 9"/>
          <p:cNvSpPr/>
          <p:nvPr/>
        </p:nvSpPr>
        <p:spPr>
          <a:xfrm>
            <a:off x="6263640" y="1280160"/>
            <a:ext cx="5486400" cy="502920"/>
          </a:xfrm>
          <a:prstGeom prst="roundRect">
            <a:avLst>
              <a:gd name="adj" fmla="val 14545"/>
            </a:avLst>
          </a:prstGeom>
          <a:solidFill>
            <a:srgbClr val="2E86A1"/>
          </a:solidFill>
          <a:ln/>
        </p:spPr>
        <p:txBody>
          <a:bodyPr/>
          <a:lstStyle/>
          <a:p>
            <a:endParaRPr lang="es-US" sz="2800"/>
          </a:p>
        </p:txBody>
      </p:sp>
      <p:sp>
        <p:nvSpPr>
          <p:cNvPr id="12" name="Text 10"/>
          <p:cNvSpPr/>
          <p:nvPr/>
        </p:nvSpPr>
        <p:spPr>
          <a:xfrm>
            <a:off x="6263640" y="1316736"/>
            <a:ext cx="5486400"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Clave-Valor</a:t>
            </a:r>
            <a:endParaRPr lang="en-US" sz="2400" dirty="0"/>
          </a:p>
        </p:txBody>
      </p:sp>
      <p:sp>
        <p:nvSpPr>
          <p:cNvPr id="13" name="Text 11"/>
          <p:cNvSpPr/>
          <p:nvPr/>
        </p:nvSpPr>
        <p:spPr>
          <a:xfrm>
            <a:off x="6446520" y="1920240"/>
            <a:ext cx="5120640" cy="1005840"/>
          </a:xfrm>
          <a:prstGeom prst="rect">
            <a:avLst/>
          </a:prstGeom>
          <a:noFill/>
          <a:ln/>
        </p:spPr>
        <p:txBody>
          <a:bodyPr wrap="square" rtlCol="0" anchor="ctr"/>
          <a:lstStyle/>
          <a:p>
            <a:pPr marL="0" indent="0">
              <a:buNone/>
            </a:pPr>
            <a:r>
              <a:rPr lang="en-US" sz="1600" dirty="0">
                <a:solidFill>
                  <a:srgbClr val="1A1A1A"/>
                </a:solidFill>
                <a:latin typeface="Calibri" pitchFamily="34" charset="0"/>
                <a:ea typeface="Calibri" pitchFamily="34" charset="-122"/>
                <a:cs typeface="Calibri" pitchFamily="34" charset="-120"/>
              </a:rPr>
              <a:t>Asociacion clave-valor (string o blob). Latencias submilisegundo, enorme rendimiento. Operaciones limitadas a get/put/delete.</a:t>
            </a:r>
            <a:endParaRPr lang="en-US" sz="1600" dirty="0"/>
          </a:p>
        </p:txBody>
      </p:sp>
      <p:sp>
        <p:nvSpPr>
          <p:cNvPr id="14" name="Text 12"/>
          <p:cNvSpPr/>
          <p:nvPr/>
        </p:nvSpPr>
        <p:spPr>
          <a:xfrm>
            <a:off x="6446520" y="2971800"/>
            <a:ext cx="5120640" cy="365760"/>
          </a:xfrm>
          <a:prstGeom prst="rect">
            <a:avLst/>
          </a:prstGeom>
          <a:noFill/>
          <a:ln/>
        </p:spPr>
        <p:txBody>
          <a:bodyPr wrap="square" rtlCol="0" anchor="ctr"/>
          <a:lstStyle/>
          <a:p>
            <a:pPr marL="0" indent="0">
              <a:buNone/>
            </a:pPr>
            <a:r>
              <a:rPr lang="en-US" sz="1600" b="1" dirty="0">
                <a:solidFill>
                  <a:srgbClr val="2E86A1"/>
                </a:solidFill>
                <a:latin typeface="Calibri" pitchFamily="34" charset="0"/>
                <a:ea typeface="Calibri" pitchFamily="34" charset="-122"/>
                <a:cs typeface="Calibri" pitchFamily="34" charset="-120"/>
              </a:rPr>
              <a:t>Ejemplos: Redis, Memcached, DynamoDB, Riak</a:t>
            </a:r>
            <a:endParaRPr lang="en-US" sz="1600" dirty="0"/>
          </a:p>
        </p:txBody>
      </p:sp>
      <p:sp>
        <p:nvSpPr>
          <p:cNvPr id="15" name="Text 13"/>
          <p:cNvSpPr/>
          <p:nvPr/>
        </p:nvSpPr>
        <p:spPr>
          <a:xfrm>
            <a:off x="6446520" y="3337560"/>
            <a:ext cx="5120640" cy="365760"/>
          </a:xfrm>
          <a:prstGeom prst="rect">
            <a:avLst/>
          </a:prstGeom>
          <a:noFill/>
          <a:ln/>
        </p:spPr>
        <p:txBody>
          <a:bodyPr wrap="square" rtlCol="0" anchor="ctr"/>
          <a:lstStyle/>
          <a:p>
            <a:pPr marL="0" indent="0">
              <a:buNone/>
            </a:pPr>
            <a:r>
              <a:rPr lang="en-US" sz="1600" i="1" dirty="0">
                <a:solidFill>
                  <a:srgbClr val="4A4A4A"/>
                </a:solidFill>
                <a:latin typeface="Calibri" pitchFamily="34" charset="0"/>
                <a:ea typeface="Calibri" pitchFamily="34" charset="-122"/>
                <a:cs typeface="Calibri" pitchFamily="34" charset="-120"/>
              </a:rPr>
              <a:t>Caso de uso: Caches, sesiones, carritos</a:t>
            </a:r>
            <a:endParaRPr lang="en-US" sz="1600" dirty="0"/>
          </a:p>
        </p:txBody>
      </p:sp>
      <p:sp>
        <p:nvSpPr>
          <p:cNvPr id="16" name="Shape 14"/>
          <p:cNvSpPr/>
          <p:nvPr/>
        </p:nvSpPr>
        <p:spPr>
          <a:xfrm>
            <a:off x="548640" y="3931920"/>
            <a:ext cx="5486400" cy="2468880"/>
          </a:xfrm>
          <a:prstGeom prst="roundRect">
            <a:avLst>
              <a:gd name="adj" fmla="val 2963"/>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sz="2800"/>
          </a:p>
        </p:txBody>
      </p:sp>
      <p:sp>
        <p:nvSpPr>
          <p:cNvPr id="17" name="Shape 15"/>
          <p:cNvSpPr/>
          <p:nvPr/>
        </p:nvSpPr>
        <p:spPr>
          <a:xfrm>
            <a:off x="548640" y="3931920"/>
            <a:ext cx="5486400" cy="502920"/>
          </a:xfrm>
          <a:prstGeom prst="roundRect">
            <a:avLst>
              <a:gd name="adj" fmla="val 14545"/>
            </a:avLst>
          </a:prstGeom>
          <a:solidFill>
            <a:srgbClr val="4FAE60"/>
          </a:solidFill>
          <a:ln/>
        </p:spPr>
        <p:txBody>
          <a:bodyPr/>
          <a:lstStyle/>
          <a:p>
            <a:endParaRPr lang="es-US" sz="2800"/>
          </a:p>
        </p:txBody>
      </p:sp>
      <p:sp>
        <p:nvSpPr>
          <p:cNvPr id="18" name="Text 16"/>
          <p:cNvSpPr/>
          <p:nvPr/>
        </p:nvSpPr>
        <p:spPr>
          <a:xfrm>
            <a:off x="548640" y="3968496"/>
            <a:ext cx="5486400"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Columnares (Wide Column)</a:t>
            </a:r>
            <a:endParaRPr lang="en-US" sz="2400" dirty="0"/>
          </a:p>
        </p:txBody>
      </p:sp>
      <p:sp>
        <p:nvSpPr>
          <p:cNvPr id="19" name="Text 17"/>
          <p:cNvSpPr/>
          <p:nvPr/>
        </p:nvSpPr>
        <p:spPr>
          <a:xfrm>
            <a:off x="731520" y="4572000"/>
            <a:ext cx="5120640" cy="1005840"/>
          </a:xfrm>
          <a:prstGeom prst="rect">
            <a:avLst/>
          </a:prstGeom>
          <a:noFill/>
          <a:ln/>
        </p:spPr>
        <p:txBody>
          <a:bodyPr wrap="square" rtlCol="0" anchor="ctr"/>
          <a:lstStyle/>
          <a:p>
            <a:pPr marL="0" indent="0">
              <a:buNone/>
            </a:pPr>
            <a:r>
              <a:rPr lang="en-US" sz="1600" dirty="0">
                <a:solidFill>
                  <a:srgbClr val="1A1A1A"/>
                </a:solidFill>
                <a:latin typeface="Calibri" pitchFamily="34" charset="0"/>
                <a:ea typeface="Calibri" pitchFamily="34" charset="-122"/>
                <a:cs typeface="Calibri" pitchFamily="34" charset="-120"/>
              </a:rPr>
              <a:t>Almacenamiento por columnas. Cada fila puede tener columnas distintas. Compresion y consultas analiticas optimizadas.</a:t>
            </a:r>
            <a:endParaRPr lang="en-US" sz="1600" dirty="0"/>
          </a:p>
        </p:txBody>
      </p:sp>
      <p:sp>
        <p:nvSpPr>
          <p:cNvPr id="20" name="Text 18"/>
          <p:cNvSpPr/>
          <p:nvPr/>
        </p:nvSpPr>
        <p:spPr>
          <a:xfrm>
            <a:off x="731520" y="5623560"/>
            <a:ext cx="5120640" cy="365760"/>
          </a:xfrm>
          <a:prstGeom prst="rect">
            <a:avLst/>
          </a:prstGeom>
          <a:noFill/>
          <a:ln/>
        </p:spPr>
        <p:txBody>
          <a:bodyPr wrap="square" rtlCol="0" anchor="ctr"/>
          <a:lstStyle/>
          <a:p>
            <a:pPr marL="0" indent="0">
              <a:buNone/>
            </a:pPr>
            <a:r>
              <a:rPr lang="en-US" sz="1600" b="1" dirty="0">
                <a:solidFill>
                  <a:srgbClr val="4FAE60"/>
                </a:solidFill>
                <a:latin typeface="Calibri" pitchFamily="34" charset="0"/>
                <a:ea typeface="Calibri" pitchFamily="34" charset="-122"/>
                <a:cs typeface="Calibri" pitchFamily="34" charset="-120"/>
              </a:rPr>
              <a:t>Ejemplos: Cassandra, HBase, Bigtable, ScyllaDB</a:t>
            </a:r>
            <a:endParaRPr lang="en-US" sz="1600" dirty="0"/>
          </a:p>
        </p:txBody>
      </p:sp>
      <p:sp>
        <p:nvSpPr>
          <p:cNvPr id="21" name="Text 19"/>
          <p:cNvSpPr/>
          <p:nvPr/>
        </p:nvSpPr>
        <p:spPr>
          <a:xfrm>
            <a:off x="731520" y="5989320"/>
            <a:ext cx="5120640" cy="365760"/>
          </a:xfrm>
          <a:prstGeom prst="rect">
            <a:avLst/>
          </a:prstGeom>
          <a:noFill/>
          <a:ln/>
        </p:spPr>
        <p:txBody>
          <a:bodyPr wrap="square" rtlCol="0" anchor="ctr"/>
          <a:lstStyle/>
          <a:p>
            <a:pPr marL="0" indent="0">
              <a:buNone/>
            </a:pPr>
            <a:r>
              <a:rPr lang="en-US" sz="1600" i="1" dirty="0">
                <a:solidFill>
                  <a:srgbClr val="4A4A4A"/>
                </a:solidFill>
                <a:latin typeface="Calibri" pitchFamily="34" charset="0"/>
                <a:ea typeface="Calibri" pitchFamily="34" charset="-122"/>
                <a:cs typeface="Calibri" pitchFamily="34" charset="-120"/>
              </a:rPr>
              <a:t>Caso de uso: Series de tiempo, IoT, logs</a:t>
            </a:r>
            <a:endParaRPr lang="en-US" sz="1600" dirty="0"/>
          </a:p>
        </p:txBody>
      </p:sp>
      <p:sp>
        <p:nvSpPr>
          <p:cNvPr id="22" name="Shape 20"/>
          <p:cNvSpPr/>
          <p:nvPr/>
        </p:nvSpPr>
        <p:spPr>
          <a:xfrm>
            <a:off x="6263640" y="3931920"/>
            <a:ext cx="5486400" cy="2468880"/>
          </a:xfrm>
          <a:prstGeom prst="roundRect">
            <a:avLst>
              <a:gd name="adj" fmla="val 2963"/>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sz="2800"/>
          </a:p>
        </p:txBody>
      </p:sp>
      <p:sp>
        <p:nvSpPr>
          <p:cNvPr id="23" name="Shape 21"/>
          <p:cNvSpPr/>
          <p:nvPr/>
        </p:nvSpPr>
        <p:spPr>
          <a:xfrm>
            <a:off x="6263640" y="3931920"/>
            <a:ext cx="5486400" cy="502920"/>
          </a:xfrm>
          <a:prstGeom prst="roundRect">
            <a:avLst>
              <a:gd name="adj" fmla="val 14545"/>
            </a:avLst>
          </a:prstGeom>
          <a:solidFill>
            <a:srgbClr val="F2A413"/>
          </a:solidFill>
          <a:ln/>
        </p:spPr>
        <p:txBody>
          <a:bodyPr/>
          <a:lstStyle/>
          <a:p>
            <a:endParaRPr lang="es-US" sz="2800"/>
          </a:p>
        </p:txBody>
      </p:sp>
      <p:sp>
        <p:nvSpPr>
          <p:cNvPr id="24" name="Text 22"/>
          <p:cNvSpPr/>
          <p:nvPr/>
        </p:nvSpPr>
        <p:spPr>
          <a:xfrm>
            <a:off x="6263640" y="3968496"/>
            <a:ext cx="5486400"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Grafos</a:t>
            </a:r>
            <a:endParaRPr lang="en-US" sz="2400" dirty="0"/>
          </a:p>
        </p:txBody>
      </p:sp>
      <p:sp>
        <p:nvSpPr>
          <p:cNvPr id="25" name="Text 23"/>
          <p:cNvSpPr/>
          <p:nvPr/>
        </p:nvSpPr>
        <p:spPr>
          <a:xfrm>
            <a:off x="6446520" y="4572000"/>
            <a:ext cx="5120640" cy="1005840"/>
          </a:xfrm>
          <a:prstGeom prst="rect">
            <a:avLst/>
          </a:prstGeom>
          <a:noFill/>
          <a:ln/>
        </p:spPr>
        <p:txBody>
          <a:bodyPr wrap="square" rtlCol="0" anchor="ctr"/>
          <a:lstStyle/>
          <a:p>
            <a:pPr marL="0" indent="0">
              <a:buNone/>
            </a:pPr>
            <a:r>
              <a:rPr lang="en-US" sz="1600" dirty="0">
                <a:solidFill>
                  <a:srgbClr val="1A1A1A"/>
                </a:solidFill>
                <a:latin typeface="Calibri" pitchFamily="34" charset="0"/>
                <a:ea typeface="Calibri" pitchFamily="34" charset="-122"/>
                <a:cs typeface="Calibri" pitchFamily="34" charset="-120"/>
              </a:rPr>
              <a:t>Nodos y aristas con propiedades. Optimizan consultas que recorren relaciones de varios saltos. Lenguajes Cypher, Gremlin.</a:t>
            </a:r>
            <a:endParaRPr lang="en-US" sz="1600" dirty="0"/>
          </a:p>
        </p:txBody>
      </p:sp>
      <p:sp>
        <p:nvSpPr>
          <p:cNvPr id="26" name="Text 24"/>
          <p:cNvSpPr/>
          <p:nvPr/>
        </p:nvSpPr>
        <p:spPr>
          <a:xfrm>
            <a:off x="6446520" y="5623560"/>
            <a:ext cx="5120640" cy="365760"/>
          </a:xfrm>
          <a:prstGeom prst="rect">
            <a:avLst/>
          </a:prstGeom>
          <a:noFill/>
          <a:ln/>
        </p:spPr>
        <p:txBody>
          <a:bodyPr wrap="square" rtlCol="0" anchor="ctr"/>
          <a:lstStyle/>
          <a:p>
            <a:pPr marL="0" indent="0">
              <a:buNone/>
            </a:pPr>
            <a:r>
              <a:rPr lang="en-US" sz="1600" b="1" dirty="0">
                <a:solidFill>
                  <a:srgbClr val="F2A413"/>
                </a:solidFill>
                <a:latin typeface="Calibri" pitchFamily="34" charset="0"/>
                <a:ea typeface="Calibri" pitchFamily="34" charset="-122"/>
                <a:cs typeface="Calibri" pitchFamily="34" charset="-120"/>
              </a:rPr>
              <a:t>Ejemplos: Neo4j, JanusGraph, Neptune, TigerGraph</a:t>
            </a:r>
            <a:endParaRPr lang="en-US" sz="1600" dirty="0"/>
          </a:p>
        </p:txBody>
      </p:sp>
      <p:sp>
        <p:nvSpPr>
          <p:cNvPr id="27" name="Text 25"/>
          <p:cNvSpPr/>
          <p:nvPr/>
        </p:nvSpPr>
        <p:spPr>
          <a:xfrm>
            <a:off x="6446520" y="5989320"/>
            <a:ext cx="5120640" cy="365760"/>
          </a:xfrm>
          <a:prstGeom prst="rect">
            <a:avLst/>
          </a:prstGeom>
          <a:noFill/>
          <a:ln/>
        </p:spPr>
        <p:txBody>
          <a:bodyPr wrap="square" rtlCol="0" anchor="ctr"/>
          <a:lstStyle/>
          <a:p>
            <a:pPr marL="0" indent="0">
              <a:buNone/>
            </a:pPr>
            <a:r>
              <a:rPr lang="en-US" sz="1600" i="1" dirty="0">
                <a:solidFill>
                  <a:srgbClr val="4A4A4A"/>
                </a:solidFill>
                <a:latin typeface="Calibri" pitchFamily="34" charset="0"/>
                <a:ea typeface="Calibri" pitchFamily="34" charset="-122"/>
                <a:cs typeface="Calibri" pitchFamily="34" charset="-120"/>
              </a:rPr>
              <a:t>Caso de uso: Redes sociales, fraude, rutas</a:t>
            </a:r>
            <a:endParaRPr lang="en-US" sz="1600" dirty="0"/>
          </a:p>
        </p:txBody>
      </p:sp>
      <p:sp>
        <p:nvSpPr>
          <p:cNvPr id="28" name="Text 26"/>
          <p:cNvSpPr/>
          <p:nvPr/>
        </p:nvSpPr>
        <p:spPr>
          <a:xfrm>
            <a:off x="457200" y="6492240"/>
            <a:ext cx="8229600" cy="274320"/>
          </a:xfrm>
          <a:prstGeom prst="rect">
            <a:avLst/>
          </a:prstGeom>
          <a:noFill/>
          <a:ln/>
        </p:spPr>
        <p:txBody>
          <a:bodyPr wrap="square" rtlCol="0" anchor="ctr"/>
          <a:lstStyle/>
          <a:p>
            <a:pPr marL="0" indent="0">
              <a:buNone/>
            </a:pPr>
            <a:r>
              <a:rPr lang="en-US" sz="900" dirty="0">
                <a:solidFill>
                  <a:srgbClr val="4A4A4A"/>
                </a:solidFill>
                <a:latin typeface="Calibri" pitchFamily="34" charset="0"/>
                <a:ea typeface="Calibri" pitchFamily="34" charset="-122"/>
                <a:cs typeface="Calibri" pitchFamily="34" charset="-120"/>
              </a:rPr>
              <a:t>UTEQ - Aplicaciones Distribuidas (ISR-701) - Unidad 3</a:t>
            </a:r>
            <a:endParaRPr lang="en-US" sz="900" dirty="0"/>
          </a:p>
        </p:txBody>
      </p:sp>
      <p:sp>
        <p:nvSpPr>
          <p:cNvPr id="29" name="Text 27"/>
          <p:cNvSpPr/>
          <p:nvPr/>
        </p:nvSpPr>
        <p:spPr>
          <a:xfrm>
            <a:off x="10789920" y="6492240"/>
            <a:ext cx="914400" cy="274320"/>
          </a:xfrm>
          <a:prstGeom prst="rect">
            <a:avLst/>
          </a:prstGeom>
          <a:noFill/>
          <a:ln/>
        </p:spPr>
        <p:txBody>
          <a:bodyPr wrap="square"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29 / 42</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marL="0" indent="0">
              <a:buNone/>
            </a:pPr>
            <a:r>
              <a:rPr lang="en-US" sz="3600" b="1" dirty="0">
                <a:solidFill>
                  <a:srgbClr val="0E3F7E"/>
                </a:solidFill>
                <a:latin typeface="Calibri" pitchFamily="34" charset="0"/>
                <a:ea typeface="Calibri" pitchFamily="34" charset="-122"/>
                <a:cs typeface="Calibri" pitchFamily="34" charset="-120"/>
              </a:rPr>
              <a:t>Sistemas reales (1/2): Spanner, CockroachDB, Cassandra</a:t>
            </a:r>
            <a:endParaRPr lang="en-US" sz="3600" dirty="0"/>
          </a:p>
        </p:txBody>
      </p:sp>
      <p:sp>
        <p:nvSpPr>
          <p:cNvPr id="3" name="Text 1"/>
          <p:cNvSpPr/>
          <p:nvPr/>
        </p:nvSpPr>
        <p:spPr>
          <a:xfrm>
            <a:off x="457200" y="838200"/>
            <a:ext cx="11247120" cy="320040"/>
          </a:xfrm>
          <a:prstGeom prst="rect">
            <a:avLst/>
          </a:prstGeom>
          <a:noFill/>
          <a:ln/>
        </p:spPr>
        <p:txBody>
          <a:bodyPr wrap="square" lIns="0" tIns="0" rIns="0" bIns="0" rtlCol="0" anchor="ctr"/>
          <a:lstStyle/>
          <a:p>
            <a:pPr marL="0" indent="0">
              <a:buNone/>
            </a:pPr>
            <a:r>
              <a:rPr lang="en-US" sz="2000" i="1" dirty="0">
                <a:solidFill>
                  <a:srgbClr val="2E86A1"/>
                </a:solidFill>
                <a:latin typeface="Calibri" pitchFamily="34" charset="0"/>
                <a:ea typeface="Calibri" pitchFamily="34" charset="-122"/>
                <a:cs typeface="Calibri" pitchFamily="34" charset="-120"/>
              </a:rPr>
              <a:t>Tres BDD insignia del estado del arte</a:t>
            </a:r>
            <a:endParaRPr lang="en-US" sz="2000" dirty="0"/>
          </a:p>
        </p:txBody>
      </p:sp>
      <p:sp>
        <p:nvSpPr>
          <p:cNvPr id="4" name="Shape 2"/>
          <p:cNvSpPr/>
          <p:nvPr/>
        </p:nvSpPr>
        <p:spPr>
          <a:xfrm>
            <a:off x="388620" y="1371600"/>
            <a:ext cx="3703320" cy="4983480"/>
          </a:xfrm>
          <a:prstGeom prst="roundRect">
            <a:avLst>
              <a:gd name="adj" fmla="val 1975"/>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5" name="Shape 3"/>
          <p:cNvSpPr/>
          <p:nvPr/>
        </p:nvSpPr>
        <p:spPr>
          <a:xfrm>
            <a:off x="388620" y="1371600"/>
            <a:ext cx="3703320" cy="594360"/>
          </a:xfrm>
          <a:prstGeom prst="roundRect">
            <a:avLst>
              <a:gd name="adj" fmla="val 12308"/>
            </a:avLst>
          </a:prstGeom>
          <a:solidFill>
            <a:srgbClr val="0E3F7E"/>
          </a:solidFill>
          <a:ln/>
        </p:spPr>
        <p:txBody>
          <a:bodyPr/>
          <a:lstStyle/>
          <a:p>
            <a:endParaRPr lang="es-US" sz="2800"/>
          </a:p>
        </p:txBody>
      </p:sp>
      <p:sp>
        <p:nvSpPr>
          <p:cNvPr id="6" name="Text 4"/>
          <p:cNvSpPr/>
          <p:nvPr/>
        </p:nvSpPr>
        <p:spPr>
          <a:xfrm>
            <a:off x="388620" y="1417320"/>
            <a:ext cx="370332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Google Spanner</a:t>
            </a:r>
            <a:endParaRPr lang="en-US" sz="2400" dirty="0"/>
          </a:p>
        </p:txBody>
      </p:sp>
      <p:sp>
        <p:nvSpPr>
          <p:cNvPr id="7" name="Text 5"/>
          <p:cNvSpPr/>
          <p:nvPr/>
        </p:nvSpPr>
        <p:spPr>
          <a:xfrm>
            <a:off x="571500" y="2103120"/>
            <a:ext cx="3337560" cy="320040"/>
          </a:xfrm>
          <a:prstGeom prst="rect">
            <a:avLst/>
          </a:prstGeom>
          <a:noFill/>
          <a:ln/>
        </p:spPr>
        <p:txBody>
          <a:bodyPr wrap="square" lIns="0" tIns="0" rIns="0" bIns="0" rtlCol="0" anchor="ctr"/>
          <a:lstStyle/>
          <a:p>
            <a:pPr marL="0" indent="0">
              <a:buNone/>
            </a:pPr>
            <a:r>
              <a:rPr lang="en-US" sz="1600" i="1" dirty="0">
                <a:solidFill>
                  <a:srgbClr val="4A4A4A"/>
                </a:solidFill>
                <a:latin typeface="Calibri" pitchFamily="34" charset="0"/>
                <a:ea typeface="Calibri" pitchFamily="34" charset="-122"/>
                <a:cs typeface="Calibri" pitchFamily="34" charset="-120"/>
              </a:rPr>
              <a:t>Familia: Relacional global</a:t>
            </a:r>
            <a:endParaRPr lang="en-US" sz="1600" dirty="0"/>
          </a:p>
        </p:txBody>
      </p:sp>
      <p:sp>
        <p:nvSpPr>
          <p:cNvPr id="8" name="Text 6"/>
          <p:cNvSpPr/>
          <p:nvPr/>
        </p:nvSpPr>
        <p:spPr>
          <a:xfrm>
            <a:off x="571500" y="2423160"/>
            <a:ext cx="3337560" cy="320040"/>
          </a:xfrm>
          <a:prstGeom prst="rect">
            <a:avLst/>
          </a:prstGeom>
          <a:noFill/>
          <a:ln/>
        </p:spPr>
        <p:txBody>
          <a:bodyPr wrap="square" lIns="0" tIns="0" rIns="0" bIns="0" rtlCol="0" anchor="ctr"/>
          <a:lstStyle/>
          <a:p>
            <a:pPr marL="0" indent="0">
              <a:buNone/>
            </a:pPr>
            <a:r>
              <a:rPr lang="en-US" sz="1600" b="1" dirty="0">
                <a:solidFill>
                  <a:srgbClr val="0E3F7E"/>
                </a:solidFill>
                <a:latin typeface="Calibri" pitchFamily="34" charset="0"/>
                <a:ea typeface="Calibri" pitchFamily="34" charset="-122"/>
                <a:cs typeface="Calibri" pitchFamily="34" charset="-120"/>
              </a:rPr>
              <a:t>PACELC: PC/EC</a:t>
            </a:r>
            <a:endParaRPr lang="en-US" sz="1600" dirty="0"/>
          </a:p>
        </p:txBody>
      </p:sp>
      <p:sp>
        <p:nvSpPr>
          <p:cNvPr id="9" name="Text 7"/>
          <p:cNvSpPr/>
          <p:nvPr/>
        </p:nvSpPr>
        <p:spPr>
          <a:xfrm>
            <a:off x="571500" y="2743200"/>
            <a:ext cx="3337560" cy="320040"/>
          </a:xfrm>
          <a:prstGeom prst="rect">
            <a:avLst/>
          </a:prstGeom>
          <a:noFill/>
          <a:ln/>
        </p:spPr>
        <p:txBody>
          <a:bodyPr wrap="square" lIns="0" tIns="0" rIns="0" bIns="0" rtlCol="0" anchor="ctr"/>
          <a:lstStyle/>
          <a:p>
            <a:pPr marL="0" indent="0">
              <a:buNone/>
            </a:pPr>
            <a:r>
              <a:rPr lang="en-US" sz="1600" i="1" dirty="0">
                <a:solidFill>
                  <a:srgbClr val="1A1A1A"/>
                </a:solidFill>
                <a:latin typeface="Calibri" pitchFamily="34" charset="0"/>
                <a:ea typeface="Calibri" pitchFamily="34" charset="-122"/>
                <a:cs typeface="Calibri" pitchFamily="34" charset="-120"/>
              </a:rPr>
              <a:t>Consenso: Paxos + TrueTime</a:t>
            </a:r>
            <a:endParaRPr lang="en-US" sz="1600" dirty="0"/>
          </a:p>
        </p:txBody>
      </p:sp>
      <p:sp>
        <p:nvSpPr>
          <p:cNvPr id="10" name="Text 8"/>
          <p:cNvSpPr/>
          <p:nvPr/>
        </p:nvSpPr>
        <p:spPr>
          <a:xfrm>
            <a:off x="571500" y="3200400"/>
            <a:ext cx="3337560" cy="3017520"/>
          </a:xfrm>
          <a:prstGeom prst="rect">
            <a:avLst/>
          </a:prstGeom>
          <a:noFill/>
          <a:ln/>
        </p:spPr>
        <p:txBody>
          <a:bodyPr wrap="square" rtlCol="0" anchor="ctr"/>
          <a:lstStyle/>
          <a:p>
            <a:pPr marL="0" indent="0">
              <a:buNone/>
            </a:pPr>
            <a:r>
              <a:rPr lang="en-US" sz="1600" dirty="0">
                <a:solidFill>
                  <a:srgbClr val="1A1A1A"/>
                </a:solidFill>
                <a:latin typeface="Calibri" pitchFamily="34" charset="0"/>
                <a:ea typeface="Calibri" pitchFamily="34" charset="-122"/>
                <a:cs typeface="Calibri" pitchFamily="34" charset="-120"/>
              </a:rPr>
              <a:t>Combina escalabilidad NoSQL con ACID y SQL del mundo relacional. Innovacion clave: TrueTime, API de tiempo con incertidumbre garantizada gracias a relojes atomicos y GPS en cada centro de datos.</a:t>
            </a:r>
            <a:endParaRPr lang="en-US" sz="1600" dirty="0"/>
          </a:p>
        </p:txBody>
      </p:sp>
      <p:sp>
        <p:nvSpPr>
          <p:cNvPr id="11" name="Shape 9"/>
          <p:cNvSpPr/>
          <p:nvPr/>
        </p:nvSpPr>
        <p:spPr>
          <a:xfrm>
            <a:off x="4229100" y="1371600"/>
            <a:ext cx="3703320" cy="4983480"/>
          </a:xfrm>
          <a:prstGeom prst="roundRect">
            <a:avLst>
              <a:gd name="adj" fmla="val 1975"/>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12" name="Shape 10"/>
          <p:cNvSpPr/>
          <p:nvPr/>
        </p:nvSpPr>
        <p:spPr>
          <a:xfrm>
            <a:off x="4229100" y="1371600"/>
            <a:ext cx="3703320" cy="594360"/>
          </a:xfrm>
          <a:prstGeom prst="roundRect">
            <a:avLst>
              <a:gd name="adj" fmla="val 12308"/>
            </a:avLst>
          </a:prstGeom>
          <a:solidFill>
            <a:srgbClr val="2E86A1"/>
          </a:solidFill>
          <a:ln/>
        </p:spPr>
        <p:txBody>
          <a:bodyPr/>
          <a:lstStyle/>
          <a:p>
            <a:endParaRPr lang="es-US" sz="2800"/>
          </a:p>
        </p:txBody>
      </p:sp>
      <p:sp>
        <p:nvSpPr>
          <p:cNvPr id="13" name="Text 11"/>
          <p:cNvSpPr/>
          <p:nvPr/>
        </p:nvSpPr>
        <p:spPr>
          <a:xfrm>
            <a:off x="4229100" y="1417320"/>
            <a:ext cx="370332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CockroachDB</a:t>
            </a:r>
            <a:endParaRPr lang="en-US" sz="2400" dirty="0"/>
          </a:p>
        </p:txBody>
      </p:sp>
      <p:sp>
        <p:nvSpPr>
          <p:cNvPr id="14" name="Text 12"/>
          <p:cNvSpPr/>
          <p:nvPr/>
        </p:nvSpPr>
        <p:spPr>
          <a:xfrm>
            <a:off x="4411980" y="2103120"/>
            <a:ext cx="3337560" cy="320040"/>
          </a:xfrm>
          <a:prstGeom prst="rect">
            <a:avLst/>
          </a:prstGeom>
          <a:noFill/>
          <a:ln/>
        </p:spPr>
        <p:txBody>
          <a:bodyPr wrap="square" lIns="0" tIns="0" rIns="0" bIns="0" rtlCol="0" anchor="ctr"/>
          <a:lstStyle/>
          <a:p>
            <a:pPr marL="0" indent="0">
              <a:buNone/>
            </a:pPr>
            <a:r>
              <a:rPr lang="en-US" sz="1600" i="1" dirty="0">
                <a:solidFill>
                  <a:srgbClr val="4A4A4A"/>
                </a:solidFill>
                <a:latin typeface="Calibri" pitchFamily="34" charset="0"/>
                <a:ea typeface="Calibri" pitchFamily="34" charset="-122"/>
                <a:cs typeface="Calibri" pitchFamily="34" charset="-120"/>
              </a:rPr>
              <a:t>Familia: Relacional distribuida</a:t>
            </a:r>
            <a:endParaRPr lang="en-US" sz="1600" dirty="0"/>
          </a:p>
        </p:txBody>
      </p:sp>
      <p:sp>
        <p:nvSpPr>
          <p:cNvPr id="15" name="Text 13"/>
          <p:cNvSpPr/>
          <p:nvPr/>
        </p:nvSpPr>
        <p:spPr>
          <a:xfrm>
            <a:off x="4411980" y="2423160"/>
            <a:ext cx="3337560" cy="320040"/>
          </a:xfrm>
          <a:prstGeom prst="rect">
            <a:avLst/>
          </a:prstGeom>
          <a:noFill/>
          <a:ln/>
        </p:spPr>
        <p:txBody>
          <a:bodyPr wrap="square" lIns="0" tIns="0" rIns="0" bIns="0" rtlCol="0" anchor="ctr"/>
          <a:lstStyle/>
          <a:p>
            <a:pPr marL="0" indent="0">
              <a:buNone/>
            </a:pPr>
            <a:r>
              <a:rPr lang="en-US" sz="1600" b="1" dirty="0">
                <a:solidFill>
                  <a:srgbClr val="2E86A1"/>
                </a:solidFill>
                <a:latin typeface="Calibri" pitchFamily="34" charset="0"/>
                <a:ea typeface="Calibri" pitchFamily="34" charset="-122"/>
                <a:cs typeface="Calibri" pitchFamily="34" charset="-120"/>
              </a:rPr>
              <a:t>PACELC: PC/EC</a:t>
            </a:r>
            <a:endParaRPr lang="en-US" sz="1600" dirty="0"/>
          </a:p>
        </p:txBody>
      </p:sp>
      <p:sp>
        <p:nvSpPr>
          <p:cNvPr id="16" name="Text 14"/>
          <p:cNvSpPr/>
          <p:nvPr/>
        </p:nvSpPr>
        <p:spPr>
          <a:xfrm>
            <a:off x="4411980" y="2743200"/>
            <a:ext cx="3337560" cy="320040"/>
          </a:xfrm>
          <a:prstGeom prst="rect">
            <a:avLst/>
          </a:prstGeom>
          <a:noFill/>
          <a:ln/>
        </p:spPr>
        <p:txBody>
          <a:bodyPr wrap="square" lIns="0" tIns="0" rIns="0" bIns="0" rtlCol="0" anchor="ctr"/>
          <a:lstStyle/>
          <a:p>
            <a:pPr marL="0" indent="0">
              <a:buNone/>
            </a:pPr>
            <a:r>
              <a:rPr lang="en-US" sz="1600" i="1" dirty="0">
                <a:solidFill>
                  <a:srgbClr val="1A1A1A"/>
                </a:solidFill>
                <a:latin typeface="Calibri" pitchFamily="34" charset="0"/>
                <a:ea typeface="Calibri" pitchFamily="34" charset="-122"/>
                <a:cs typeface="Calibri" pitchFamily="34" charset="-120"/>
              </a:rPr>
              <a:t>Consenso: Raft</a:t>
            </a:r>
            <a:endParaRPr lang="en-US" sz="1600" dirty="0"/>
          </a:p>
        </p:txBody>
      </p:sp>
      <p:sp>
        <p:nvSpPr>
          <p:cNvPr id="17" name="Text 15"/>
          <p:cNvSpPr/>
          <p:nvPr/>
        </p:nvSpPr>
        <p:spPr>
          <a:xfrm>
            <a:off x="4411980" y="3200400"/>
            <a:ext cx="3337560" cy="3017520"/>
          </a:xfrm>
          <a:prstGeom prst="rect">
            <a:avLst/>
          </a:prstGeom>
          <a:noFill/>
          <a:ln/>
        </p:spPr>
        <p:txBody>
          <a:bodyPr wrap="square" rtlCol="0" anchor="ctr"/>
          <a:lstStyle/>
          <a:p>
            <a:pPr marL="0" indent="0">
              <a:buNone/>
            </a:pPr>
            <a:r>
              <a:rPr lang="en-US" sz="1600" dirty="0">
                <a:solidFill>
                  <a:srgbClr val="1A1A1A"/>
                </a:solidFill>
                <a:latin typeface="Calibri" pitchFamily="34" charset="0"/>
                <a:ea typeface="Calibri" pitchFamily="34" charset="-122"/>
                <a:cs typeface="Calibri" pitchFamily="34" charset="-120"/>
              </a:rPr>
              <a:t>SGBDD relacional open source para escalabilidad horizontal y resistencia. Compatible con protocolo PostgreSQL. Fragmenta automaticamente en ranges de 64MB replicados con Raft. Serializabilidad estricta global.</a:t>
            </a:r>
            <a:endParaRPr lang="en-US" sz="1600" dirty="0"/>
          </a:p>
        </p:txBody>
      </p:sp>
      <p:sp>
        <p:nvSpPr>
          <p:cNvPr id="18" name="Shape 16"/>
          <p:cNvSpPr/>
          <p:nvPr/>
        </p:nvSpPr>
        <p:spPr>
          <a:xfrm>
            <a:off x="8069580" y="1371600"/>
            <a:ext cx="3703320" cy="4983480"/>
          </a:xfrm>
          <a:prstGeom prst="roundRect">
            <a:avLst>
              <a:gd name="adj" fmla="val 1975"/>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19" name="Shape 17"/>
          <p:cNvSpPr/>
          <p:nvPr/>
        </p:nvSpPr>
        <p:spPr>
          <a:xfrm>
            <a:off x="8069580" y="1371600"/>
            <a:ext cx="3703320" cy="594360"/>
          </a:xfrm>
          <a:prstGeom prst="roundRect">
            <a:avLst>
              <a:gd name="adj" fmla="val 12308"/>
            </a:avLst>
          </a:prstGeom>
          <a:solidFill>
            <a:srgbClr val="4FAE60"/>
          </a:solidFill>
          <a:ln/>
        </p:spPr>
        <p:txBody>
          <a:bodyPr/>
          <a:lstStyle/>
          <a:p>
            <a:endParaRPr lang="es-US" sz="2800"/>
          </a:p>
        </p:txBody>
      </p:sp>
      <p:sp>
        <p:nvSpPr>
          <p:cNvPr id="20" name="Text 18"/>
          <p:cNvSpPr/>
          <p:nvPr/>
        </p:nvSpPr>
        <p:spPr>
          <a:xfrm>
            <a:off x="8069580" y="1417320"/>
            <a:ext cx="370332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Apache Cassandra</a:t>
            </a:r>
            <a:endParaRPr lang="en-US" sz="2400" dirty="0"/>
          </a:p>
        </p:txBody>
      </p:sp>
      <p:sp>
        <p:nvSpPr>
          <p:cNvPr id="21" name="Text 19"/>
          <p:cNvSpPr/>
          <p:nvPr/>
        </p:nvSpPr>
        <p:spPr>
          <a:xfrm>
            <a:off x="8252460" y="2103120"/>
            <a:ext cx="3337560" cy="320040"/>
          </a:xfrm>
          <a:prstGeom prst="rect">
            <a:avLst/>
          </a:prstGeom>
          <a:noFill/>
          <a:ln/>
        </p:spPr>
        <p:txBody>
          <a:bodyPr wrap="square" lIns="0" tIns="0" rIns="0" bIns="0" rtlCol="0" anchor="ctr"/>
          <a:lstStyle/>
          <a:p>
            <a:pPr marL="0" indent="0">
              <a:buNone/>
            </a:pPr>
            <a:r>
              <a:rPr lang="en-US" sz="1600" i="1" dirty="0">
                <a:solidFill>
                  <a:srgbClr val="4A4A4A"/>
                </a:solidFill>
                <a:latin typeface="Calibri" pitchFamily="34" charset="0"/>
                <a:ea typeface="Calibri" pitchFamily="34" charset="-122"/>
                <a:cs typeface="Calibri" pitchFamily="34" charset="-120"/>
              </a:rPr>
              <a:t>Familia: NoSQL columnar</a:t>
            </a:r>
            <a:endParaRPr lang="en-US" sz="1600" dirty="0"/>
          </a:p>
        </p:txBody>
      </p:sp>
      <p:sp>
        <p:nvSpPr>
          <p:cNvPr id="22" name="Text 20"/>
          <p:cNvSpPr/>
          <p:nvPr/>
        </p:nvSpPr>
        <p:spPr>
          <a:xfrm>
            <a:off x="8252460" y="2423160"/>
            <a:ext cx="3337560" cy="320040"/>
          </a:xfrm>
          <a:prstGeom prst="rect">
            <a:avLst/>
          </a:prstGeom>
          <a:noFill/>
          <a:ln/>
        </p:spPr>
        <p:txBody>
          <a:bodyPr wrap="square" lIns="0" tIns="0" rIns="0" bIns="0" rtlCol="0" anchor="ctr"/>
          <a:lstStyle/>
          <a:p>
            <a:pPr marL="0" indent="0">
              <a:buNone/>
            </a:pPr>
            <a:r>
              <a:rPr lang="en-US" sz="1600" b="1" dirty="0">
                <a:solidFill>
                  <a:srgbClr val="4FAE60"/>
                </a:solidFill>
                <a:latin typeface="Calibri" pitchFamily="34" charset="0"/>
                <a:ea typeface="Calibri" pitchFamily="34" charset="-122"/>
                <a:cs typeface="Calibri" pitchFamily="34" charset="-120"/>
              </a:rPr>
              <a:t>PACELC: PA/EL</a:t>
            </a:r>
            <a:endParaRPr lang="en-US" sz="1600" dirty="0"/>
          </a:p>
        </p:txBody>
      </p:sp>
      <p:sp>
        <p:nvSpPr>
          <p:cNvPr id="23" name="Text 21"/>
          <p:cNvSpPr/>
          <p:nvPr/>
        </p:nvSpPr>
        <p:spPr>
          <a:xfrm>
            <a:off x="8252460" y="2743200"/>
            <a:ext cx="3337560" cy="320040"/>
          </a:xfrm>
          <a:prstGeom prst="rect">
            <a:avLst/>
          </a:prstGeom>
          <a:noFill/>
          <a:ln/>
        </p:spPr>
        <p:txBody>
          <a:bodyPr wrap="square" lIns="0" tIns="0" rIns="0" bIns="0" rtlCol="0" anchor="ctr"/>
          <a:lstStyle/>
          <a:p>
            <a:pPr marL="0" indent="0">
              <a:buNone/>
            </a:pPr>
            <a:r>
              <a:rPr lang="en-US" sz="1600" i="1" dirty="0">
                <a:solidFill>
                  <a:srgbClr val="1A1A1A"/>
                </a:solidFill>
                <a:latin typeface="Calibri" pitchFamily="34" charset="0"/>
                <a:ea typeface="Calibri" pitchFamily="34" charset="-122"/>
                <a:cs typeface="Calibri" pitchFamily="34" charset="-120"/>
              </a:rPr>
              <a:t>Consenso: Gossip + Hinted Handoff</a:t>
            </a:r>
            <a:endParaRPr lang="en-US" sz="1600" dirty="0"/>
          </a:p>
        </p:txBody>
      </p:sp>
      <p:sp>
        <p:nvSpPr>
          <p:cNvPr id="24" name="Text 22"/>
          <p:cNvSpPr/>
          <p:nvPr/>
        </p:nvSpPr>
        <p:spPr>
          <a:xfrm>
            <a:off x="8252460" y="3200400"/>
            <a:ext cx="3337560" cy="3017520"/>
          </a:xfrm>
          <a:prstGeom prst="rect">
            <a:avLst/>
          </a:prstGeom>
          <a:noFill/>
          <a:ln/>
        </p:spPr>
        <p:txBody>
          <a:bodyPr wrap="square" rtlCol="0" anchor="ctr"/>
          <a:lstStyle/>
          <a:p>
            <a:pPr marL="0" indent="0">
              <a:buNone/>
            </a:pPr>
            <a:r>
              <a:rPr lang="en-US" sz="1600" dirty="0">
                <a:solidFill>
                  <a:srgbClr val="1A1A1A"/>
                </a:solidFill>
                <a:latin typeface="Calibri" pitchFamily="34" charset="0"/>
                <a:ea typeface="Calibri" pitchFamily="34" charset="-122"/>
                <a:cs typeface="Calibri" pitchFamily="34" charset="-120"/>
              </a:rPr>
              <a:t>NoSQL columnar P2P sin lider para escalabilidad masiva y alta disponibilidad. Replicacion con quorum configurable (N, W, R). Usado por Netflix (recomendaciones), Apple (mensajeria), Instagram (mensajes).</a:t>
            </a:r>
            <a:endParaRPr lang="en-US" sz="1600" dirty="0"/>
          </a:p>
        </p:txBody>
      </p:sp>
      <p:sp>
        <p:nvSpPr>
          <p:cNvPr id="25" name="Text 23"/>
          <p:cNvSpPr/>
          <p:nvPr/>
        </p:nvSpPr>
        <p:spPr>
          <a:xfrm>
            <a:off x="457200" y="6492240"/>
            <a:ext cx="8229600" cy="274320"/>
          </a:xfrm>
          <a:prstGeom prst="rect">
            <a:avLst/>
          </a:prstGeom>
          <a:noFill/>
          <a:ln/>
        </p:spPr>
        <p:txBody>
          <a:bodyPr wrap="square" rtlCol="0" anchor="ctr"/>
          <a:lstStyle/>
          <a:p>
            <a:pPr marL="0" indent="0">
              <a:buNone/>
            </a:pPr>
            <a:r>
              <a:rPr lang="en-US" sz="900" dirty="0">
                <a:solidFill>
                  <a:srgbClr val="4A4A4A"/>
                </a:solidFill>
                <a:latin typeface="Calibri" pitchFamily="34" charset="0"/>
                <a:ea typeface="Calibri" pitchFamily="34" charset="-122"/>
                <a:cs typeface="Calibri" pitchFamily="34" charset="-120"/>
              </a:rPr>
              <a:t>UTEQ - Aplicaciones Distribuidas (ISR-701) - Unidad 3</a:t>
            </a:r>
            <a:endParaRPr lang="en-US" sz="900" dirty="0"/>
          </a:p>
        </p:txBody>
      </p:sp>
      <p:sp>
        <p:nvSpPr>
          <p:cNvPr id="26" name="Text 24"/>
          <p:cNvSpPr/>
          <p:nvPr/>
        </p:nvSpPr>
        <p:spPr>
          <a:xfrm>
            <a:off x="10789920" y="6492240"/>
            <a:ext cx="914400" cy="274320"/>
          </a:xfrm>
          <a:prstGeom prst="rect">
            <a:avLst/>
          </a:prstGeom>
          <a:noFill/>
          <a:ln/>
        </p:spPr>
        <p:txBody>
          <a:bodyPr wrap="square"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30 / 42</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marL="0" indent="0">
              <a:buNone/>
            </a:pPr>
            <a:r>
              <a:rPr lang="en-US" sz="3600" b="1" dirty="0">
                <a:solidFill>
                  <a:srgbClr val="0E3F7E"/>
                </a:solidFill>
                <a:latin typeface="Calibri" pitchFamily="34" charset="0"/>
                <a:ea typeface="Calibri" pitchFamily="34" charset="-122"/>
                <a:cs typeface="Calibri" pitchFamily="34" charset="-120"/>
              </a:rPr>
              <a:t>Sistemas reales (2/2): DynamoDB, MongoDB, PostgreSQL</a:t>
            </a:r>
            <a:endParaRPr lang="en-US" sz="3600" dirty="0"/>
          </a:p>
        </p:txBody>
      </p:sp>
      <p:sp>
        <p:nvSpPr>
          <p:cNvPr id="3" name="Text 1"/>
          <p:cNvSpPr/>
          <p:nvPr/>
        </p:nvSpPr>
        <p:spPr>
          <a:xfrm>
            <a:off x="457200" y="777240"/>
            <a:ext cx="11247120" cy="320040"/>
          </a:xfrm>
          <a:prstGeom prst="rect">
            <a:avLst/>
          </a:prstGeom>
          <a:noFill/>
          <a:ln/>
        </p:spPr>
        <p:txBody>
          <a:bodyPr wrap="square" lIns="0" tIns="0" rIns="0" bIns="0" rtlCol="0" anchor="ctr"/>
          <a:lstStyle/>
          <a:p>
            <a:pPr marL="0" indent="0">
              <a:buNone/>
            </a:pPr>
            <a:r>
              <a:rPr lang="en-US" sz="2400" i="1" dirty="0">
                <a:solidFill>
                  <a:srgbClr val="2E86A1"/>
                </a:solidFill>
                <a:latin typeface="Calibri" pitchFamily="34" charset="0"/>
                <a:ea typeface="Calibri" pitchFamily="34" charset="-122"/>
                <a:cs typeface="Calibri" pitchFamily="34" charset="-120"/>
              </a:rPr>
              <a:t>Tres protagonistas del ecosistema actual</a:t>
            </a:r>
            <a:endParaRPr lang="en-US" sz="2400" dirty="0"/>
          </a:p>
        </p:txBody>
      </p:sp>
      <p:sp>
        <p:nvSpPr>
          <p:cNvPr id="4" name="Shape 2"/>
          <p:cNvSpPr/>
          <p:nvPr/>
        </p:nvSpPr>
        <p:spPr>
          <a:xfrm>
            <a:off x="388620" y="1371600"/>
            <a:ext cx="3703320" cy="4983480"/>
          </a:xfrm>
          <a:prstGeom prst="roundRect">
            <a:avLst>
              <a:gd name="adj" fmla="val 1975"/>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sz="3200"/>
          </a:p>
        </p:txBody>
      </p:sp>
      <p:sp>
        <p:nvSpPr>
          <p:cNvPr id="5" name="Shape 3"/>
          <p:cNvSpPr/>
          <p:nvPr/>
        </p:nvSpPr>
        <p:spPr>
          <a:xfrm>
            <a:off x="388620" y="1371600"/>
            <a:ext cx="3703320" cy="594360"/>
          </a:xfrm>
          <a:prstGeom prst="roundRect">
            <a:avLst>
              <a:gd name="adj" fmla="val 12308"/>
            </a:avLst>
          </a:prstGeom>
          <a:solidFill>
            <a:srgbClr val="F2A413"/>
          </a:solidFill>
          <a:ln/>
        </p:spPr>
        <p:txBody>
          <a:bodyPr/>
          <a:lstStyle/>
          <a:p>
            <a:endParaRPr lang="es-US" sz="3200"/>
          </a:p>
        </p:txBody>
      </p:sp>
      <p:sp>
        <p:nvSpPr>
          <p:cNvPr id="6" name="Text 4"/>
          <p:cNvSpPr/>
          <p:nvPr/>
        </p:nvSpPr>
        <p:spPr>
          <a:xfrm>
            <a:off x="388620" y="1417320"/>
            <a:ext cx="3703320" cy="502920"/>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Amazon DynamoDB</a:t>
            </a:r>
            <a:endParaRPr lang="en-US" sz="2800" dirty="0"/>
          </a:p>
        </p:txBody>
      </p:sp>
      <p:sp>
        <p:nvSpPr>
          <p:cNvPr id="7" name="Text 5"/>
          <p:cNvSpPr/>
          <p:nvPr/>
        </p:nvSpPr>
        <p:spPr>
          <a:xfrm>
            <a:off x="571500" y="2103120"/>
            <a:ext cx="3337560" cy="320040"/>
          </a:xfrm>
          <a:prstGeom prst="rect">
            <a:avLst/>
          </a:prstGeom>
          <a:noFill/>
          <a:ln/>
        </p:spPr>
        <p:txBody>
          <a:bodyPr wrap="square" lIns="0" tIns="0" rIns="0" bIns="0" rtlCol="0" anchor="ctr"/>
          <a:lstStyle/>
          <a:p>
            <a:pPr marL="0" indent="0">
              <a:buNone/>
            </a:pPr>
            <a:r>
              <a:rPr lang="en-US" i="1" dirty="0">
                <a:solidFill>
                  <a:srgbClr val="4A4A4A"/>
                </a:solidFill>
                <a:latin typeface="Calibri" pitchFamily="34" charset="0"/>
                <a:ea typeface="Calibri" pitchFamily="34" charset="-122"/>
                <a:cs typeface="Calibri" pitchFamily="34" charset="-120"/>
              </a:rPr>
              <a:t>Familia: NoSQL clave-valor</a:t>
            </a:r>
            <a:endParaRPr lang="en-US" dirty="0"/>
          </a:p>
        </p:txBody>
      </p:sp>
      <p:sp>
        <p:nvSpPr>
          <p:cNvPr id="8" name="Text 6"/>
          <p:cNvSpPr/>
          <p:nvPr/>
        </p:nvSpPr>
        <p:spPr>
          <a:xfrm>
            <a:off x="571500" y="2423160"/>
            <a:ext cx="3337560" cy="320040"/>
          </a:xfrm>
          <a:prstGeom prst="rect">
            <a:avLst/>
          </a:prstGeom>
          <a:noFill/>
          <a:ln/>
        </p:spPr>
        <p:txBody>
          <a:bodyPr wrap="square" lIns="0" tIns="0" rIns="0" bIns="0" rtlCol="0" anchor="ctr"/>
          <a:lstStyle/>
          <a:p>
            <a:pPr marL="0" indent="0">
              <a:buNone/>
            </a:pPr>
            <a:r>
              <a:rPr lang="en-US" b="1" dirty="0">
                <a:solidFill>
                  <a:srgbClr val="F2A413"/>
                </a:solidFill>
                <a:latin typeface="Calibri" pitchFamily="34" charset="0"/>
                <a:ea typeface="Calibri" pitchFamily="34" charset="-122"/>
                <a:cs typeface="Calibri" pitchFamily="34" charset="-120"/>
              </a:rPr>
              <a:t>PACELC: PA/EL</a:t>
            </a:r>
            <a:endParaRPr lang="en-US" dirty="0"/>
          </a:p>
        </p:txBody>
      </p:sp>
      <p:sp>
        <p:nvSpPr>
          <p:cNvPr id="9" name="Text 7"/>
          <p:cNvSpPr/>
          <p:nvPr/>
        </p:nvSpPr>
        <p:spPr>
          <a:xfrm>
            <a:off x="571500" y="2743200"/>
            <a:ext cx="3337560" cy="320040"/>
          </a:xfrm>
          <a:prstGeom prst="rect">
            <a:avLst/>
          </a:prstGeom>
          <a:noFill/>
          <a:ln/>
        </p:spPr>
        <p:txBody>
          <a:bodyPr wrap="square" lIns="0" tIns="0" rIns="0" bIns="0" rtlCol="0" anchor="ctr"/>
          <a:lstStyle/>
          <a:p>
            <a:pPr marL="0" indent="0">
              <a:buNone/>
            </a:pPr>
            <a:r>
              <a:rPr lang="en-US" i="1" dirty="0">
                <a:solidFill>
                  <a:srgbClr val="1A1A1A"/>
                </a:solidFill>
                <a:latin typeface="Calibri" pitchFamily="34" charset="0"/>
                <a:ea typeface="Calibri" pitchFamily="34" charset="-122"/>
                <a:cs typeface="Calibri" pitchFamily="34" charset="-120"/>
              </a:rPr>
              <a:t>Consenso: Quorum</a:t>
            </a:r>
            <a:endParaRPr lang="en-US" dirty="0"/>
          </a:p>
        </p:txBody>
      </p:sp>
      <p:sp>
        <p:nvSpPr>
          <p:cNvPr id="10" name="Text 8"/>
          <p:cNvSpPr/>
          <p:nvPr/>
        </p:nvSpPr>
        <p:spPr>
          <a:xfrm>
            <a:off x="571500" y="3200400"/>
            <a:ext cx="3337560" cy="3017520"/>
          </a:xfrm>
          <a:prstGeom prst="rect">
            <a:avLst/>
          </a:prstGeom>
          <a:noFill/>
          <a:ln/>
        </p:spPr>
        <p:txBody>
          <a:bodyPr wrap="square" rtlCol="0" anchor="ctr"/>
          <a:lstStyle/>
          <a:p>
            <a:pPr marL="0" indent="0">
              <a:buNone/>
            </a:pPr>
            <a:r>
              <a:rPr lang="en-US" sz="1600" dirty="0">
                <a:solidFill>
                  <a:srgbClr val="1A1A1A"/>
                </a:solidFill>
                <a:latin typeface="Calibri" pitchFamily="34" charset="0"/>
                <a:ea typeface="Calibri" pitchFamily="34" charset="-122"/>
                <a:cs typeface="Calibri" pitchFamily="34" charset="-120"/>
              </a:rPr>
              <a:t>Servicio gestionado de AWS con escalado automatico, latencias submilisegundo y replicacion multi-region opcional (Global Tables). Hash consistente y sharding automatico transparente.</a:t>
            </a:r>
            <a:endParaRPr lang="en-US" sz="1600" dirty="0"/>
          </a:p>
        </p:txBody>
      </p:sp>
      <p:sp>
        <p:nvSpPr>
          <p:cNvPr id="11" name="Shape 9"/>
          <p:cNvSpPr/>
          <p:nvPr/>
        </p:nvSpPr>
        <p:spPr>
          <a:xfrm>
            <a:off x="4229100" y="1371600"/>
            <a:ext cx="3703320" cy="4983480"/>
          </a:xfrm>
          <a:prstGeom prst="roundRect">
            <a:avLst>
              <a:gd name="adj" fmla="val 1975"/>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sz="3200"/>
          </a:p>
        </p:txBody>
      </p:sp>
      <p:sp>
        <p:nvSpPr>
          <p:cNvPr id="12" name="Shape 10"/>
          <p:cNvSpPr/>
          <p:nvPr/>
        </p:nvSpPr>
        <p:spPr>
          <a:xfrm>
            <a:off x="4229100" y="1371600"/>
            <a:ext cx="3703320" cy="594360"/>
          </a:xfrm>
          <a:prstGeom prst="roundRect">
            <a:avLst>
              <a:gd name="adj" fmla="val 12308"/>
            </a:avLst>
          </a:prstGeom>
          <a:solidFill>
            <a:srgbClr val="4FAE60"/>
          </a:solidFill>
          <a:ln/>
        </p:spPr>
        <p:txBody>
          <a:bodyPr/>
          <a:lstStyle/>
          <a:p>
            <a:endParaRPr lang="es-US" sz="3200"/>
          </a:p>
        </p:txBody>
      </p:sp>
      <p:sp>
        <p:nvSpPr>
          <p:cNvPr id="13" name="Text 11"/>
          <p:cNvSpPr/>
          <p:nvPr/>
        </p:nvSpPr>
        <p:spPr>
          <a:xfrm>
            <a:off x="4229100" y="1417320"/>
            <a:ext cx="3703320" cy="502920"/>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MongoDB</a:t>
            </a:r>
            <a:endParaRPr lang="en-US" sz="2800" dirty="0"/>
          </a:p>
        </p:txBody>
      </p:sp>
      <p:sp>
        <p:nvSpPr>
          <p:cNvPr id="14" name="Text 12"/>
          <p:cNvSpPr/>
          <p:nvPr/>
        </p:nvSpPr>
        <p:spPr>
          <a:xfrm>
            <a:off x="4411980" y="2103120"/>
            <a:ext cx="3337560" cy="320040"/>
          </a:xfrm>
          <a:prstGeom prst="rect">
            <a:avLst/>
          </a:prstGeom>
          <a:noFill/>
          <a:ln/>
        </p:spPr>
        <p:txBody>
          <a:bodyPr wrap="square" lIns="0" tIns="0" rIns="0" bIns="0" rtlCol="0" anchor="ctr"/>
          <a:lstStyle/>
          <a:p>
            <a:pPr marL="0" indent="0">
              <a:buNone/>
            </a:pPr>
            <a:r>
              <a:rPr lang="en-US" i="1" dirty="0">
                <a:solidFill>
                  <a:srgbClr val="4A4A4A"/>
                </a:solidFill>
                <a:latin typeface="Calibri" pitchFamily="34" charset="0"/>
                <a:ea typeface="Calibri" pitchFamily="34" charset="-122"/>
                <a:cs typeface="Calibri" pitchFamily="34" charset="-120"/>
              </a:rPr>
              <a:t>Familia: Documental</a:t>
            </a:r>
            <a:endParaRPr lang="en-US" dirty="0"/>
          </a:p>
        </p:txBody>
      </p:sp>
      <p:sp>
        <p:nvSpPr>
          <p:cNvPr id="15" name="Text 13"/>
          <p:cNvSpPr/>
          <p:nvPr/>
        </p:nvSpPr>
        <p:spPr>
          <a:xfrm>
            <a:off x="4411980" y="2423160"/>
            <a:ext cx="3337560" cy="320040"/>
          </a:xfrm>
          <a:prstGeom prst="rect">
            <a:avLst/>
          </a:prstGeom>
          <a:noFill/>
          <a:ln/>
        </p:spPr>
        <p:txBody>
          <a:bodyPr wrap="square" lIns="0" tIns="0" rIns="0" bIns="0" rtlCol="0" anchor="ctr"/>
          <a:lstStyle/>
          <a:p>
            <a:pPr marL="0" indent="0">
              <a:buNone/>
            </a:pPr>
            <a:r>
              <a:rPr lang="en-US" b="1" dirty="0">
                <a:solidFill>
                  <a:srgbClr val="4FAE60"/>
                </a:solidFill>
                <a:latin typeface="Calibri" pitchFamily="34" charset="0"/>
                <a:ea typeface="Calibri" pitchFamily="34" charset="-122"/>
                <a:cs typeface="Calibri" pitchFamily="34" charset="-120"/>
              </a:rPr>
              <a:t>PACELC: PC/EC o PA/EL (config.)</a:t>
            </a:r>
            <a:endParaRPr lang="en-US" dirty="0"/>
          </a:p>
        </p:txBody>
      </p:sp>
      <p:sp>
        <p:nvSpPr>
          <p:cNvPr id="16" name="Text 14"/>
          <p:cNvSpPr/>
          <p:nvPr/>
        </p:nvSpPr>
        <p:spPr>
          <a:xfrm>
            <a:off x="4411980" y="2743200"/>
            <a:ext cx="3337560" cy="320040"/>
          </a:xfrm>
          <a:prstGeom prst="rect">
            <a:avLst/>
          </a:prstGeom>
          <a:noFill/>
          <a:ln/>
        </p:spPr>
        <p:txBody>
          <a:bodyPr wrap="square" lIns="0" tIns="0" rIns="0" bIns="0" rtlCol="0" anchor="ctr"/>
          <a:lstStyle/>
          <a:p>
            <a:pPr marL="0" indent="0">
              <a:buNone/>
            </a:pPr>
            <a:r>
              <a:rPr lang="en-US" i="1" dirty="0">
                <a:solidFill>
                  <a:srgbClr val="1A1A1A"/>
                </a:solidFill>
                <a:latin typeface="Calibri" pitchFamily="34" charset="0"/>
                <a:ea typeface="Calibri" pitchFamily="34" charset="-122"/>
                <a:cs typeface="Calibri" pitchFamily="34" charset="-120"/>
              </a:rPr>
              <a:t>Consenso: Raft (oplog)</a:t>
            </a:r>
            <a:endParaRPr lang="en-US" dirty="0"/>
          </a:p>
        </p:txBody>
      </p:sp>
      <p:sp>
        <p:nvSpPr>
          <p:cNvPr id="17" name="Text 15"/>
          <p:cNvSpPr/>
          <p:nvPr/>
        </p:nvSpPr>
        <p:spPr>
          <a:xfrm>
            <a:off x="4411980" y="3200400"/>
            <a:ext cx="3337560" cy="3017520"/>
          </a:xfrm>
          <a:prstGeom prst="rect">
            <a:avLst/>
          </a:prstGeom>
          <a:noFill/>
          <a:ln/>
        </p:spPr>
        <p:txBody>
          <a:bodyPr wrap="square" rtlCol="0" anchor="ctr"/>
          <a:lstStyle/>
          <a:p>
            <a:pPr marL="0" indent="0">
              <a:buNone/>
            </a:pPr>
            <a:r>
              <a:rPr lang="en-US" sz="1600" dirty="0">
                <a:solidFill>
                  <a:srgbClr val="1A1A1A"/>
                </a:solidFill>
                <a:latin typeface="Calibri" pitchFamily="34" charset="0"/>
                <a:ea typeface="Calibri" pitchFamily="34" charset="-122"/>
                <a:cs typeface="Calibri" pitchFamily="34" charset="-120"/>
              </a:rPr>
              <a:t>Replica Sets con failover automatico y Sharded Clusters coordinados por mongos y config servers. Soporta ACID multi-documento desde 4.0. Consistencia ajustable via writeConcern y readConcern.</a:t>
            </a:r>
            <a:endParaRPr lang="en-US" sz="1600" dirty="0"/>
          </a:p>
        </p:txBody>
      </p:sp>
      <p:sp>
        <p:nvSpPr>
          <p:cNvPr id="18" name="Shape 16"/>
          <p:cNvSpPr/>
          <p:nvPr/>
        </p:nvSpPr>
        <p:spPr>
          <a:xfrm>
            <a:off x="8069580" y="1371600"/>
            <a:ext cx="3703320" cy="4983480"/>
          </a:xfrm>
          <a:prstGeom prst="roundRect">
            <a:avLst>
              <a:gd name="adj" fmla="val 1975"/>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19" name="Shape 17"/>
          <p:cNvSpPr/>
          <p:nvPr/>
        </p:nvSpPr>
        <p:spPr>
          <a:xfrm>
            <a:off x="8069580" y="1371600"/>
            <a:ext cx="3703320" cy="594360"/>
          </a:xfrm>
          <a:prstGeom prst="roundRect">
            <a:avLst>
              <a:gd name="adj" fmla="val 12308"/>
            </a:avLst>
          </a:prstGeom>
          <a:solidFill>
            <a:srgbClr val="0E3F7E"/>
          </a:solidFill>
          <a:ln/>
        </p:spPr>
        <p:txBody>
          <a:bodyPr/>
          <a:lstStyle/>
          <a:p>
            <a:endParaRPr lang="es-US" sz="3200"/>
          </a:p>
        </p:txBody>
      </p:sp>
      <p:sp>
        <p:nvSpPr>
          <p:cNvPr id="20" name="Text 18"/>
          <p:cNvSpPr/>
          <p:nvPr/>
        </p:nvSpPr>
        <p:spPr>
          <a:xfrm>
            <a:off x="8069580" y="1417320"/>
            <a:ext cx="3703320" cy="502920"/>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PostgreSQL + Citus</a:t>
            </a:r>
            <a:endParaRPr lang="en-US" sz="2800" dirty="0"/>
          </a:p>
        </p:txBody>
      </p:sp>
      <p:sp>
        <p:nvSpPr>
          <p:cNvPr id="21" name="Text 19"/>
          <p:cNvSpPr/>
          <p:nvPr/>
        </p:nvSpPr>
        <p:spPr>
          <a:xfrm>
            <a:off x="8252460" y="2103120"/>
            <a:ext cx="3337560" cy="320040"/>
          </a:xfrm>
          <a:prstGeom prst="rect">
            <a:avLst/>
          </a:prstGeom>
          <a:noFill/>
          <a:ln/>
        </p:spPr>
        <p:txBody>
          <a:bodyPr wrap="square" lIns="0" tIns="0" rIns="0" bIns="0" rtlCol="0" anchor="ctr"/>
          <a:lstStyle/>
          <a:p>
            <a:pPr marL="0" indent="0">
              <a:buNone/>
            </a:pPr>
            <a:r>
              <a:rPr lang="en-US" i="1" dirty="0">
                <a:solidFill>
                  <a:srgbClr val="4A4A4A"/>
                </a:solidFill>
                <a:latin typeface="Calibri" pitchFamily="34" charset="0"/>
                <a:ea typeface="Calibri" pitchFamily="34" charset="-122"/>
                <a:cs typeface="Calibri" pitchFamily="34" charset="-120"/>
              </a:rPr>
              <a:t>Familia: Relacional + sharding</a:t>
            </a:r>
            <a:endParaRPr lang="en-US" dirty="0"/>
          </a:p>
        </p:txBody>
      </p:sp>
      <p:sp>
        <p:nvSpPr>
          <p:cNvPr id="22" name="Text 20"/>
          <p:cNvSpPr/>
          <p:nvPr/>
        </p:nvSpPr>
        <p:spPr>
          <a:xfrm>
            <a:off x="8252460" y="2423160"/>
            <a:ext cx="3337560" cy="320040"/>
          </a:xfrm>
          <a:prstGeom prst="rect">
            <a:avLst/>
          </a:prstGeom>
          <a:noFill/>
          <a:ln/>
        </p:spPr>
        <p:txBody>
          <a:bodyPr wrap="square" lIns="0" tIns="0" rIns="0" bIns="0" rtlCol="0" anchor="ctr"/>
          <a:lstStyle/>
          <a:p>
            <a:pPr marL="0" indent="0">
              <a:buNone/>
            </a:pPr>
            <a:r>
              <a:rPr lang="en-US" b="1" dirty="0">
                <a:solidFill>
                  <a:srgbClr val="0E3F7E"/>
                </a:solidFill>
                <a:latin typeface="Calibri" pitchFamily="34" charset="0"/>
                <a:ea typeface="Calibri" pitchFamily="34" charset="-122"/>
                <a:cs typeface="Calibri" pitchFamily="34" charset="-120"/>
              </a:rPr>
              <a:t>PACELC: PC/EC</a:t>
            </a:r>
            <a:endParaRPr lang="en-US" dirty="0"/>
          </a:p>
        </p:txBody>
      </p:sp>
      <p:sp>
        <p:nvSpPr>
          <p:cNvPr id="23" name="Text 21"/>
          <p:cNvSpPr/>
          <p:nvPr/>
        </p:nvSpPr>
        <p:spPr>
          <a:xfrm>
            <a:off x="8252460" y="2743200"/>
            <a:ext cx="3337560" cy="320040"/>
          </a:xfrm>
          <a:prstGeom prst="rect">
            <a:avLst/>
          </a:prstGeom>
          <a:noFill/>
          <a:ln/>
        </p:spPr>
        <p:txBody>
          <a:bodyPr wrap="square" lIns="0" tIns="0" rIns="0" bIns="0" rtlCol="0" anchor="ctr"/>
          <a:lstStyle/>
          <a:p>
            <a:pPr marL="0" indent="0">
              <a:buNone/>
            </a:pPr>
            <a:r>
              <a:rPr lang="en-US" i="1" dirty="0">
                <a:solidFill>
                  <a:srgbClr val="1A1A1A"/>
                </a:solidFill>
                <a:latin typeface="Calibri" pitchFamily="34" charset="0"/>
                <a:ea typeface="Calibri" pitchFamily="34" charset="-122"/>
                <a:cs typeface="Calibri" pitchFamily="34" charset="-120"/>
              </a:rPr>
              <a:t>Consenso: 2PC + WAL</a:t>
            </a:r>
            <a:endParaRPr lang="en-US" dirty="0"/>
          </a:p>
        </p:txBody>
      </p:sp>
      <p:sp>
        <p:nvSpPr>
          <p:cNvPr id="24" name="Text 22"/>
          <p:cNvSpPr/>
          <p:nvPr/>
        </p:nvSpPr>
        <p:spPr>
          <a:xfrm>
            <a:off x="8252460" y="3200400"/>
            <a:ext cx="3337560" cy="3017520"/>
          </a:xfrm>
          <a:prstGeom prst="rect">
            <a:avLst/>
          </a:prstGeom>
          <a:noFill/>
          <a:ln/>
        </p:spPr>
        <p:txBody>
          <a:bodyPr wrap="square" rtlCol="0" anchor="ctr"/>
          <a:lstStyle/>
          <a:p>
            <a:pPr marL="0" indent="0">
              <a:buNone/>
            </a:pPr>
            <a:r>
              <a:rPr lang="en-US" sz="1600" dirty="0">
                <a:solidFill>
                  <a:srgbClr val="1A1A1A"/>
                </a:solidFill>
                <a:latin typeface="Calibri" pitchFamily="34" charset="0"/>
                <a:ea typeface="Calibri" pitchFamily="34" charset="-122"/>
                <a:cs typeface="Calibri" pitchFamily="34" charset="-120"/>
              </a:rPr>
              <a:t>No nativamente distribuido pero soporta streaming replication, logical replication, Foreign Data Wrappers para federacion, y Citus para sharding horizontal. Base preferida para BDD heterogeneas y ecosistemas SQL maduros.</a:t>
            </a:r>
            <a:endParaRPr lang="en-US" sz="1600" dirty="0"/>
          </a:p>
        </p:txBody>
      </p:sp>
      <p:sp>
        <p:nvSpPr>
          <p:cNvPr id="25" name="Text 23"/>
          <p:cNvSpPr/>
          <p:nvPr/>
        </p:nvSpPr>
        <p:spPr>
          <a:xfrm>
            <a:off x="457200" y="6492240"/>
            <a:ext cx="8229600" cy="274320"/>
          </a:xfrm>
          <a:prstGeom prst="rect">
            <a:avLst/>
          </a:prstGeom>
          <a:noFill/>
          <a:ln/>
        </p:spPr>
        <p:txBody>
          <a:bodyPr wrap="square" rtlCol="0" anchor="ctr"/>
          <a:lstStyle/>
          <a:p>
            <a:pPr marL="0" indent="0">
              <a:buNone/>
            </a:pPr>
            <a:r>
              <a:rPr lang="en-US" sz="900" dirty="0">
                <a:solidFill>
                  <a:srgbClr val="4A4A4A"/>
                </a:solidFill>
                <a:latin typeface="Calibri" pitchFamily="34" charset="0"/>
                <a:ea typeface="Calibri" pitchFamily="34" charset="-122"/>
                <a:cs typeface="Calibri" pitchFamily="34" charset="-120"/>
              </a:rPr>
              <a:t>UTEQ - Aplicaciones Distribuidas (ISR-701) - Unidad 3</a:t>
            </a:r>
            <a:endParaRPr lang="en-US" sz="900" dirty="0"/>
          </a:p>
        </p:txBody>
      </p:sp>
      <p:sp>
        <p:nvSpPr>
          <p:cNvPr id="26" name="Text 24"/>
          <p:cNvSpPr/>
          <p:nvPr/>
        </p:nvSpPr>
        <p:spPr>
          <a:xfrm>
            <a:off x="10789920" y="6492240"/>
            <a:ext cx="914400" cy="274320"/>
          </a:xfrm>
          <a:prstGeom prst="rect">
            <a:avLst/>
          </a:prstGeom>
          <a:noFill/>
          <a:ln/>
        </p:spPr>
        <p:txBody>
          <a:bodyPr wrap="square"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31 / 42</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marL="0" indent="0">
              <a:buNone/>
            </a:pPr>
            <a:r>
              <a:rPr lang="en-US" sz="4000" b="1" dirty="0">
                <a:solidFill>
                  <a:srgbClr val="0E3F7E"/>
                </a:solidFill>
                <a:latin typeface="Calibri" pitchFamily="34" charset="0"/>
                <a:ea typeface="Calibri" pitchFamily="34" charset="-122"/>
                <a:cs typeface="Calibri" pitchFamily="34" charset="-120"/>
              </a:rPr>
              <a:t>Recuperacion ante fallos</a:t>
            </a:r>
            <a:endParaRPr lang="en-US" sz="4000" dirty="0"/>
          </a:p>
        </p:txBody>
      </p:sp>
      <p:sp>
        <p:nvSpPr>
          <p:cNvPr id="3" name="Text 1"/>
          <p:cNvSpPr/>
          <p:nvPr/>
        </p:nvSpPr>
        <p:spPr>
          <a:xfrm>
            <a:off x="457200" y="777240"/>
            <a:ext cx="11247120" cy="320040"/>
          </a:xfrm>
          <a:prstGeom prst="rect">
            <a:avLst/>
          </a:prstGeom>
          <a:noFill/>
          <a:ln/>
        </p:spPr>
        <p:txBody>
          <a:bodyPr wrap="square" lIns="0" tIns="0" rIns="0" bIns="0" rtlCol="0" anchor="ctr"/>
          <a:lstStyle/>
          <a:p>
            <a:pPr marL="0" indent="0">
              <a:buNone/>
            </a:pPr>
            <a:r>
              <a:rPr lang="en-US" sz="2000" i="1" dirty="0">
                <a:solidFill>
                  <a:srgbClr val="2E86A1"/>
                </a:solidFill>
                <a:latin typeface="Calibri" pitchFamily="34" charset="0"/>
                <a:ea typeface="Calibri" pitchFamily="34" charset="-122"/>
                <a:cs typeface="Calibri" pitchFamily="34" charset="-120"/>
              </a:rPr>
              <a:t>Seis mecanismos que sostienen la durabilidad</a:t>
            </a:r>
            <a:endParaRPr lang="en-US" sz="2000" dirty="0"/>
          </a:p>
        </p:txBody>
      </p:sp>
      <p:sp>
        <p:nvSpPr>
          <p:cNvPr id="4" name="Shape 2"/>
          <p:cNvSpPr/>
          <p:nvPr/>
        </p:nvSpPr>
        <p:spPr>
          <a:xfrm>
            <a:off x="548640" y="1371600"/>
            <a:ext cx="3611880" cy="2286000"/>
          </a:xfrm>
          <a:prstGeom prst="roundRect">
            <a:avLst>
              <a:gd name="adj" fmla="val 3200"/>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sz="2800"/>
          </a:p>
        </p:txBody>
      </p:sp>
      <p:sp>
        <p:nvSpPr>
          <p:cNvPr id="5" name="Shape 3"/>
          <p:cNvSpPr/>
          <p:nvPr/>
        </p:nvSpPr>
        <p:spPr>
          <a:xfrm>
            <a:off x="731520" y="1554480"/>
            <a:ext cx="548640" cy="548640"/>
          </a:xfrm>
          <a:prstGeom prst="ellipse">
            <a:avLst/>
          </a:prstGeom>
          <a:solidFill>
            <a:srgbClr val="0E3F7E"/>
          </a:solidFill>
          <a:ln/>
        </p:spPr>
        <p:txBody>
          <a:bodyPr/>
          <a:lstStyle/>
          <a:p>
            <a:endParaRPr lang="es-US" sz="2800"/>
          </a:p>
        </p:txBody>
      </p:sp>
      <p:sp>
        <p:nvSpPr>
          <p:cNvPr id="6" name="Text 4"/>
          <p:cNvSpPr/>
          <p:nvPr/>
        </p:nvSpPr>
        <p:spPr>
          <a:xfrm>
            <a:off x="731520" y="1554480"/>
            <a:ext cx="548640" cy="548640"/>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1</a:t>
            </a:r>
            <a:endParaRPr lang="en-US" sz="3200" dirty="0"/>
          </a:p>
        </p:txBody>
      </p:sp>
      <p:sp>
        <p:nvSpPr>
          <p:cNvPr id="7" name="Text 5"/>
          <p:cNvSpPr/>
          <p:nvPr/>
        </p:nvSpPr>
        <p:spPr>
          <a:xfrm>
            <a:off x="1371600" y="1554480"/>
            <a:ext cx="2651760" cy="548640"/>
          </a:xfrm>
          <a:prstGeom prst="rect">
            <a:avLst/>
          </a:prstGeom>
          <a:noFill/>
          <a:ln/>
        </p:spPr>
        <p:txBody>
          <a:bodyPr wrap="square" lIns="0" tIns="0" rIns="0" bIns="0" rtlCol="0" anchor="ctr"/>
          <a:lstStyle/>
          <a:p>
            <a:pPr marL="0" indent="0">
              <a:buNone/>
            </a:pPr>
            <a:r>
              <a:rPr lang="en-US" b="1" dirty="0">
                <a:solidFill>
                  <a:srgbClr val="0E3F7E"/>
                </a:solidFill>
                <a:latin typeface="Calibri" pitchFamily="34" charset="0"/>
                <a:ea typeface="Calibri" pitchFamily="34" charset="-122"/>
                <a:cs typeface="Calibri" pitchFamily="34" charset="-120"/>
              </a:rPr>
              <a:t>Write-Ahead Log (WAL)</a:t>
            </a:r>
            <a:endParaRPr lang="en-US" dirty="0"/>
          </a:p>
        </p:txBody>
      </p:sp>
      <p:sp>
        <p:nvSpPr>
          <p:cNvPr id="8" name="Text 6"/>
          <p:cNvSpPr/>
          <p:nvPr/>
        </p:nvSpPr>
        <p:spPr>
          <a:xfrm>
            <a:off x="731520" y="2194560"/>
            <a:ext cx="3246120" cy="1371600"/>
          </a:xfrm>
          <a:prstGeom prst="rect">
            <a:avLst/>
          </a:prstGeom>
          <a:noFill/>
          <a:ln/>
        </p:spPr>
        <p:txBody>
          <a:bodyPr wrap="square" rtlCol="0" anchor="ctr"/>
          <a:lstStyle/>
          <a:p>
            <a:pPr marL="0" indent="0">
              <a:buNone/>
            </a:pPr>
            <a:r>
              <a:rPr lang="en-US" sz="1600" dirty="0">
                <a:solidFill>
                  <a:srgbClr val="1A1A1A"/>
                </a:solidFill>
                <a:latin typeface="Calibri" pitchFamily="34" charset="0"/>
                <a:ea typeface="Calibri" pitchFamily="34" charset="-122"/>
                <a:cs typeface="Calibri" pitchFamily="34" charset="-120"/>
              </a:rPr>
              <a:t>Cada sitio mantiene log local de todas las operaciones, persistido en disco antes de aplicar cambios. ARIES como algoritmo de referencia.</a:t>
            </a:r>
            <a:endParaRPr lang="en-US" sz="1600" dirty="0"/>
          </a:p>
        </p:txBody>
      </p:sp>
      <p:sp>
        <p:nvSpPr>
          <p:cNvPr id="9" name="Shape 7"/>
          <p:cNvSpPr/>
          <p:nvPr/>
        </p:nvSpPr>
        <p:spPr>
          <a:xfrm>
            <a:off x="4297680" y="1371600"/>
            <a:ext cx="3611880" cy="2286000"/>
          </a:xfrm>
          <a:prstGeom prst="roundRect">
            <a:avLst>
              <a:gd name="adj" fmla="val 3200"/>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sz="2800"/>
          </a:p>
        </p:txBody>
      </p:sp>
      <p:sp>
        <p:nvSpPr>
          <p:cNvPr id="10" name="Shape 8"/>
          <p:cNvSpPr/>
          <p:nvPr/>
        </p:nvSpPr>
        <p:spPr>
          <a:xfrm>
            <a:off x="4480560" y="1554480"/>
            <a:ext cx="548640" cy="548640"/>
          </a:xfrm>
          <a:prstGeom prst="ellipse">
            <a:avLst/>
          </a:prstGeom>
          <a:solidFill>
            <a:srgbClr val="2E86A1"/>
          </a:solidFill>
          <a:ln/>
        </p:spPr>
        <p:txBody>
          <a:bodyPr/>
          <a:lstStyle/>
          <a:p>
            <a:endParaRPr lang="es-US" sz="2800"/>
          </a:p>
        </p:txBody>
      </p:sp>
      <p:sp>
        <p:nvSpPr>
          <p:cNvPr id="11" name="Text 9"/>
          <p:cNvSpPr/>
          <p:nvPr/>
        </p:nvSpPr>
        <p:spPr>
          <a:xfrm>
            <a:off x="4480560" y="1554480"/>
            <a:ext cx="548640" cy="548640"/>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2</a:t>
            </a:r>
            <a:endParaRPr lang="en-US" sz="3200" dirty="0"/>
          </a:p>
        </p:txBody>
      </p:sp>
      <p:sp>
        <p:nvSpPr>
          <p:cNvPr id="12" name="Text 10"/>
          <p:cNvSpPr/>
          <p:nvPr/>
        </p:nvSpPr>
        <p:spPr>
          <a:xfrm>
            <a:off x="5120640" y="1554480"/>
            <a:ext cx="2651760" cy="548640"/>
          </a:xfrm>
          <a:prstGeom prst="rect">
            <a:avLst/>
          </a:prstGeom>
          <a:noFill/>
          <a:ln/>
        </p:spPr>
        <p:txBody>
          <a:bodyPr wrap="square" lIns="0" tIns="0" rIns="0" bIns="0" rtlCol="0" anchor="ctr"/>
          <a:lstStyle/>
          <a:p>
            <a:pPr marL="0" indent="0">
              <a:buNone/>
            </a:pPr>
            <a:r>
              <a:rPr lang="en-US" b="1" dirty="0">
                <a:solidFill>
                  <a:srgbClr val="2E86A1"/>
                </a:solidFill>
                <a:latin typeface="Calibri" pitchFamily="34" charset="0"/>
                <a:ea typeface="Calibri" pitchFamily="34" charset="-122"/>
                <a:cs typeface="Calibri" pitchFamily="34" charset="-120"/>
              </a:rPr>
              <a:t>Checkpoints</a:t>
            </a:r>
            <a:endParaRPr lang="en-US" dirty="0"/>
          </a:p>
        </p:txBody>
      </p:sp>
      <p:sp>
        <p:nvSpPr>
          <p:cNvPr id="13" name="Text 11"/>
          <p:cNvSpPr/>
          <p:nvPr/>
        </p:nvSpPr>
        <p:spPr>
          <a:xfrm>
            <a:off x="4480560" y="2194560"/>
            <a:ext cx="3246120" cy="1371600"/>
          </a:xfrm>
          <a:prstGeom prst="rect">
            <a:avLst/>
          </a:prstGeom>
          <a:noFill/>
          <a:ln/>
        </p:spPr>
        <p:txBody>
          <a:bodyPr wrap="square" rtlCol="0" anchor="ctr"/>
          <a:lstStyle/>
          <a:p>
            <a:pPr marL="0" indent="0">
              <a:buNone/>
            </a:pPr>
            <a:r>
              <a:rPr lang="en-US" sz="1600" dirty="0">
                <a:solidFill>
                  <a:srgbClr val="1A1A1A"/>
                </a:solidFill>
                <a:latin typeface="Calibri" pitchFamily="34" charset="0"/>
                <a:ea typeface="Calibri" pitchFamily="34" charset="-122"/>
                <a:cs typeface="Calibri" pitchFamily="34" charset="-120"/>
              </a:rPr>
              <a:t>Cada sitio escribe periodicamente el estado de transacciones activas, reduciendo el tiempo de recuperacion al limitar log replicable.</a:t>
            </a:r>
            <a:endParaRPr lang="en-US" sz="1600" dirty="0"/>
          </a:p>
        </p:txBody>
      </p:sp>
      <p:sp>
        <p:nvSpPr>
          <p:cNvPr id="14" name="Shape 12"/>
          <p:cNvSpPr/>
          <p:nvPr/>
        </p:nvSpPr>
        <p:spPr>
          <a:xfrm>
            <a:off x="8046720" y="1371600"/>
            <a:ext cx="3611880" cy="2286000"/>
          </a:xfrm>
          <a:prstGeom prst="roundRect">
            <a:avLst>
              <a:gd name="adj" fmla="val 3200"/>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sz="2800"/>
          </a:p>
        </p:txBody>
      </p:sp>
      <p:sp>
        <p:nvSpPr>
          <p:cNvPr id="15" name="Shape 13"/>
          <p:cNvSpPr/>
          <p:nvPr/>
        </p:nvSpPr>
        <p:spPr>
          <a:xfrm>
            <a:off x="8229600" y="1554480"/>
            <a:ext cx="548640" cy="548640"/>
          </a:xfrm>
          <a:prstGeom prst="ellipse">
            <a:avLst/>
          </a:prstGeom>
          <a:solidFill>
            <a:srgbClr val="4FAE60"/>
          </a:solidFill>
          <a:ln/>
        </p:spPr>
        <p:txBody>
          <a:bodyPr/>
          <a:lstStyle/>
          <a:p>
            <a:endParaRPr lang="es-US" sz="2800"/>
          </a:p>
        </p:txBody>
      </p:sp>
      <p:sp>
        <p:nvSpPr>
          <p:cNvPr id="16" name="Text 14"/>
          <p:cNvSpPr/>
          <p:nvPr/>
        </p:nvSpPr>
        <p:spPr>
          <a:xfrm>
            <a:off x="8229600" y="1554480"/>
            <a:ext cx="548640" cy="548640"/>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3</a:t>
            </a:r>
            <a:endParaRPr lang="en-US" sz="3200" dirty="0"/>
          </a:p>
        </p:txBody>
      </p:sp>
      <p:sp>
        <p:nvSpPr>
          <p:cNvPr id="17" name="Text 15"/>
          <p:cNvSpPr/>
          <p:nvPr/>
        </p:nvSpPr>
        <p:spPr>
          <a:xfrm>
            <a:off x="8869680" y="1554480"/>
            <a:ext cx="2651760" cy="548640"/>
          </a:xfrm>
          <a:prstGeom prst="rect">
            <a:avLst/>
          </a:prstGeom>
          <a:noFill/>
          <a:ln/>
        </p:spPr>
        <p:txBody>
          <a:bodyPr wrap="square" lIns="0" tIns="0" rIns="0" bIns="0" rtlCol="0" anchor="ctr"/>
          <a:lstStyle/>
          <a:p>
            <a:pPr marL="0" indent="0">
              <a:buNone/>
            </a:pPr>
            <a:r>
              <a:rPr lang="en-US" b="1" dirty="0">
                <a:solidFill>
                  <a:srgbClr val="4FAE60"/>
                </a:solidFill>
                <a:latin typeface="Calibri" pitchFamily="34" charset="0"/>
                <a:ea typeface="Calibri" pitchFamily="34" charset="-122"/>
                <a:cs typeface="Calibri" pitchFamily="34" charset="-120"/>
              </a:rPr>
              <a:t>Logging del coordinador (2PC)</a:t>
            </a:r>
            <a:endParaRPr lang="en-US" dirty="0"/>
          </a:p>
        </p:txBody>
      </p:sp>
      <p:sp>
        <p:nvSpPr>
          <p:cNvPr id="18" name="Text 16"/>
          <p:cNvSpPr/>
          <p:nvPr/>
        </p:nvSpPr>
        <p:spPr>
          <a:xfrm>
            <a:off x="8229600" y="2194560"/>
            <a:ext cx="3246120" cy="1371600"/>
          </a:xfrm>
          <a:prstGeom prst="rect">
            <a:avLst/>
          </a:prstGeom>
          <a:noFill/>
          <a:ln/>
        </p:spPr>
        <p:txBody>
          <a:bodyPr wrap="square" rtlCol="0" anchor="ctr"/>
          <a:lstStyle/>
          <a:p>
            <a:pPr marL="0" indent="0">
              <a:buNone/>
            </a:pPr>
            <a:r>
              <a:rPr lang="en-US" sz="1600" dirty="0">
                <a:solidFill>
                  <a:srgbClr val="1A1A1A"/>
                </a:solidFill>
                <a:latin typeface="Calibri" pitchFamily="34" charset="0"/>
                <a:ea typeface="Calibri" pitchFamily="34" charset="-122"/>
                <a:cs typeface="Calibri" pitchFamily="34" charset="-120"/>
              </a:rPr>
              <a:t>El coordinador escribe COMMIT o ABORT global ANTES de comunicarlo. Si falla, los participantes recuperan la decision del log.</a:t>
            </a:r>
            <a:endParaRPr lang="en-US" sz="1600" dirty="0"/>
          </a:p>
        </p:txBody>
      </p:sp>
      <p:sp>
        <p:nvSpPr>
          <p:cNvPr id="19" name="Shape 17"/>
          <p:cNvSpPr/>
          <p:nvPr/>
        </p:nvSpPr>
        <p:spPr>
          <a:xfrm>
            <a:off x="548640" y="3840480"/>
            <a:ext cx="3611880" cy="2286000"/>
          </a:xfrm>
          <a:prstGeom prst="roundRect">
            <a:avLst>
              <a:gd name="adj" fmla="val 3200"/>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sz="2800"/>
          </a:p>
        </p:txBody>
      </p:sp>
      <p:sp>
        <p:nvSpPr>
          <p:cNvPr id="20" name="Shape 18"/>
          <p:cNvSpPr/>
          <p:nvPr/>
        </p:nvSpPr>
        <p:spPr>
          <a:xfrm>
            <a:off x="731520" y="4023360"/>
            <a:ext cx="548640" cy="548640"/>
          </a:xfrm>
          <a:prstGeom prst="ellipse">
            <a:avLst/>
          </a:prstGeom>
          <a:solidFill>
            <a:srgbClr val="F2A413"/>
          </a:solidFill>
          <a:ln/>
        </p:spPr>
        <p:txBody>
          <a:bodyPr/>
          <a:lstStyle/>
          <a:p>
            <a:endParaRPr lang="es-US" sz="2800"/>
          </a:p>
        </p:txBody>
      </p:sp>
      <p:sp>
        <p:nvSpPr>
          <p:cNvPr id="21" name="Text 19"/>
          <p:cNvSpPr/>
          <p:nvPr/>
        </p:nvSpPr>
        <p:spPr>
          <a:xfrm>
            <a:off x="731520" y="4023360"/>
            <a:ext cx="548640" cy="548640"/>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4</a:t>
            </a:r>
            <a:endParaRPr lang="en-US" sz="3200" dirty="0"/>
          </a:p>
        </p:txBody>
      </p:sp>
      <p:sp>
        <p:nvSpPr>
          <p:cNvPr id="22" name="Text 20"/>
          <p:cNvSpPr/>
          <p:nvPr/>
        </p:nvSpPr>
        <p:spPr>
          <a:xfrm>
            <a:off x="1371600" y="4023360"/>
            <a:ext cx="2651760" cy="548640"/>
          </a:xfrm>
          <a:prstGeom prst="rect">
            <a:avLst/>
          </a:prstGeom>
          <a:noFill/>
          <a:ln/>
        </p:spPr>
        <p:txBody>
          <a:bodyPr wrap="square" lIns="0" tIns="0" rIns="0" bIns="0" rtlCol="0" anchor="ctr"/>
          <a:lstStyle/>
          <a:p>
            <a:pPr marL="0" indent="0">
              <a:buNone/>
            </a:pPr>
            <a:r>
              <a:rPr lang="en-US" b="1" dirty="0">
                <a:solidFill>
                  <a:srgbClr val="F2A413"/>
                </a:solidFill>
                <a:latin typeface="Calibri" pitchFamily="34" charset="0"/>
                <a:ea typeface="Calibri" pitchFamily="34" charset="-122"/>
                <a:cs typeface="Calibri" pitchFamily="34" charset="-120"/>
              </a:rPr>
              <a:t>Replicacion sincrona como failover</a:t>
            </a:r>
            <a:endParaRPr lang="en-US" dirty="0"/>
          </a:p>
        </p:txBody>
      </p:sp>
      <p:sp>
        <p:nvSpPr>
          <p:cNvPr id="23" name="Text 21"/>
          <p:cNvSpPr/>
          <p:nvPr/>
        </p:nvSpPr>
        <p:spPr>
          <a:xfrm>
            <a:off x="731520" y="4663440"/>
            <a:ext cx="3246120" cy="1371600"/>
          </a:xfrm>
          <a:prstGeom prst="rect">
            <a:avLst/>
          </a:prstGeom>
          <a:noFill/>
          <a:ln/>
        </p:spPr>
        <p:txBody>
          <a:bodyPr wrap="square" rtlCol="0" anchor="ctr"/>
          <a:lstStyle/>
          <a:p>
            <a:pPr marL="0" indent="0">
              <a:buNone/>
            </a:pPr>
            <a:r>
              <a:rPr lang="en-US" sz="1600" dirty="0">
                <a:solidFill>
                  <a:srgbClr val="1A1A1A"/>
                </a:solidFill>
                <a:latin typeface="Calibri" pitchFamily="34" charset="0"/>
                <a:ea typeface="Calibri" pitchFamily="34" charset="-122"/>
                <a:cs typeface="Calibri" pitchFamily="34" charset="-120"/>
              </a:rPr>
              <a:t>Si una replica falla, otra toma su lugar sin perdida si la replicacion fue sincrona o casi sincrona.</a:t>
            </a:r>
            <a:endParaRPr lang="en-US" sz="1600" dirty="0"/>
          </a:p>
        </p:txBody>
      </p:sp>
      <p:sp>
        <p:nvSpPr>
          <p:cNvPr id="24" name="Shape 22"/>
          <p:cNvSpPr/>
          <p:nvPr/>
        </p:nvSpPr>
        <p:spPr>
          <a:xfrm>
            <a:off x="4297680" y="3840480"/>
            <a:ext cx="3611880" cy="2286000"/>
          </a:xfrm>
          <a:prstGeom prst="roundRect">
            <a:avLst>
              <a:gd name="adj" fmla="val 3200"/>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sz="2800"/>
          </a:p>
        </p:txBody>
      </p:sp>
      <p:sp>
        <p:nvSpPr>
          <p:cNvPr id="25" name="Shape 23"/>
          <p:cNvSpPr/>
          <p:nvPr/>
        </p:nvSpPr>
        <p:spPr>
          <a:xfrm>
            <a:off x="4480560" y="4023360"/>
            <a:ext cx="548640" cy="548640"/>
          </a:xfrm>
          <a:prstGeom prst="ellipse">
            <a:avLst/>
          </a:prstGeom>
          <a:solidFill>
            <a:srgbClr val="1E5AA8"/>
          </a:solidFill>
          <a:ln/>
        </p:spPr>
        <p:txBody>
          <a:bodyPr/>
          <a:lstStyle/>
          <a:p>
            <a:endParaRPr lang="es-US" sz="2800"/>
          </a:p>
        </p:txBody>
      </p:sp>
      <p:sp>
        <p:nvSpPr>
          <p:cNvPr id="26" name="Text 24"/>
          <p:cNvSpPr/>
          <p:nvPr/>
        </p:nvSpPr>
        <p:spPr>
          <a:xfrm>
            <a:off x="4480560" y="4023360"/>
            <a:ext cx="548640" cy="548640"/>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5</a:t>
            </a:r>
            <a:endParaRPr lang="en-US" sz="3200" dirty="0"/>
          </a:p>
        </p:txBody>
      </p:sp>
      <p:sp>
        <p:nvSpPr>
          <p:cNvPr id="27" name="Text 25"/>
          <p:cNvSpPr/>
          <p:nvPr/>
        </p:nvSpPr>
        <p:spPr>
          <a:xfrm>
            <a:off x="5120640" y="4023360"/>
            <a:ext cx="2651760" cy="548640"/>
          </a:xfrm>
          <a:prstGeom prst="rect">
            <a:avLst/>
          </a:prstGeom>
          <a:noFill/>
          <a:ln/>
        </p:spPr>
        <p:txBody>
          <a:bodyPr wrap="square" lIns="0" tIns="0" rIns="0" bIns="0" rtlCol="0" anchor="ctr"/>
          <a:lstStyle/>
          <a:p>
            <a:pPr marL="0" indent="0">
              <a:buNone/>
            </a:pPr>
            <a:r>
              <a:rPr lang="en-US" b="1" dirty="0">
                <a:solidFill>
                  <a:srgbClr val="1E5AA8"/>
                </a:solidFill>
                <a:latin typeface="Calibri" pitchFamily="34" charset="0"/>
                <a:ea typeface="Calibri" pitchFamily="34" charset="-122"/>
                <a:cs typeface="Calibri" pitchFamily="34" charset="-120"/>
              </a:rPr>
              <a:t>Snapshot + Point-In-Time Recovery</a:t>
            </a:r>
            <a:endParaRPr lang="en-US" dirty="0"/>
          </a:p>
        </p:txBody>
      </p:sp>
      <p:sp>
        <p:nvSpPr>
          <p:cNvPr id="28" name="Text 26"/>
          <p:cNvSpPr/>
          <p:nvPr/>
        </p:nvSpPr>
        <p:spPr>
          <a:xfrm>
            <a:off x="4480560" y="4663440"/>
            <a:ext cx="3246120" cy="1371600"/>
          </a:xfrm>
          <a:prstGeom prst="rect">
            <a:avLst/>
          </a:prstGeom>
          <a:noFill/>
          <a:ln/>
        </p:spPr>
        <p:txBody>
          <a:bodyPr wrap="square" rtlCol="0" anchor="ctr"/>
          <a:lstStyle/>
          <a:p>
            <a:pPr marL="0" indent="0">
              <a:buNone/>
            </a:pPr>
            <a:r>
              <a:rPr lang="en-US" sz="1600" dirty="0">
                <a:solidFill>
                  <a:srgbClr val="1A1A1A"/>
                </a:solidFill>
                <a:latin typeface="Calibri" pitchFamily="34" charset="0"/>
                <a:ea typeface="Calibri" pitchFamily="34" charset="-122"/>
                <a:cs typeface="Calibri" pitchFamily="34" charset="-120"/>
              </a:rPr>
              <a:t>Restaurar el sistema a un instante exacto del pasado combinando snapshot completo con WAL posterior. Critico para errores logicos.</a:t>
            </a:r>
            <a:endParaRPr lang="en-US" sz="1600" dirty="0"/>
          </a:p>
        </p:txBody>
      </p:sp>
      <p:sp>
        <p:nvSpPr>
          <p:cNvPr id="29" name="Shape 27"/>
          <p:cNvSpPr/>
          <p:nvPr/>
        </p:nvSpPr>
        <p:spPr>
          <a:xfrm>
            <a:off x="8046720" y="3840480"/>
            <a:ext cx="3611880" cy="2286000"/>
          </a:xfrm>
          <a:prstGeom prst="roundRect">
            <a:avLst>
              <a:gd name="adj" fmla="val 3200"/>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sz="2800"/>
          </a:p>
        </p:txBody>
      </p:sp>
      <p:sp>
        <p:nvSpPr>
          <p:cNvPr id="30" name="Shape 28"/>
          <p:cNvSpPr/>
          <p:nvPr/>
        </p:nvSpPr>
        <p:spPr>
          <a:xfrm>
            <a:off x="8229600" y="4023360"/>
            <a:ext cx="548640" cy="548640"/>
          </a:xfrm>
          <a:prstGeom prst="ellipse">
            <a:avLst/>
          </a:prstGeom>
          <a:solidFill>
            <a:srgbClr val="C0392B"/>
          </a:solidFill>
          <a:ln/>
        </p:spPr>
        <p:txBody>
          <a:bodyPr/>
          <a:lstStyle/>
          <a:p>
            <a:endParaRPr lang="es-US" sz="2800"/>
          </a:p>
        </p:txBody>
      </p:sp>
      <p:sp>
        <p:nvSpPr>
          <p:cNvPr id="31" name="Text 29"/>
          <p:cNvSpPr/>
          <p:nvPr/>
        </p:nvSpPr>
        <p:spPr>
          <a:xfrm>
            <a:off x="8229600" y="4023360"/>
            <a:ext cx="548640" cy="548640"/>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6</a:t>
            </a:r>
            <a:endParaRPr lang="en-US" sz="3200" dirty="0"/>
          </a:p>
        </p:txBody>
      </p:sp>
      <p:sp>
        <p:nvSpPr>
          <p:cNvPr id="32" name="Text 30"/>
          <p:cNvSpPr/>
          <p:nvPr/>
        </p:nvSpPr>
        <p:spPr>
          <a:xfrm>
            <a:off x="8869680" y="4023360"/>
            <a:ext cx="2651760" cy="548640"/>
          </a:xfrm>
          <a:prstGeom prst="rect">
            <a:avLst/>
          </a:prstGeom>
          <a:noFill/>
          <a:ln/>
        </p:spPr>
        <p:txBody>
          <a:bodyPr wrap="square" lIns="0" tIns="0" rIns="0" bIns="0" rtlCol="0" anchor="ctr"/>
          <a:lstStyle/>
          <a:p>
            <a:pPr marL="0" indent="0">
              <a:buNone/>
            </a:pPr>
            <a:r>
              <a:rPr lang="en-US" b="1" dirty="0">
                <a:solidFill>
                  <a:srgbClr val="C0392B"/>
                </a:solidFill>
                <a:latin typeface="Calibri" pitchFamily="34" charset="0"/>
                <a:ea typeface="Calibri" pitchFamily="34" charset="-122"/>
                <a:cs typeface="Calibri" pitchFamily="34" charset="-120"/>
              </a:rPr>
              <a:t>Consenso (Raft, Paxos)</a:t>
            </a:r>
            <a:endParaRPr lang="en-US" dirty="0"/>
          </a:p>
        </p:txBody>
      </p:sp>
      <p:sp>
        <p:nvSpPr>
          <p:cNvPr id="33" name="Text 31"/>
          <p:cNvSpPr/>
          <p:nvPr/>
        </p:nvSpPr>
        <p:spPr>
          <a:xfrm>
            <a:off x="8229600" y="4663440"/>
            <a:ext cx="3246120" cy="1371600"/>
          </a:xfrm>
          <a:prstGeom prst="rect">
            <a:avLst/>
          </a:prstGeom>
          <a:noFill/>
          <a:ln/>
        </p:spPr>
        <p:txBody>
          <a:bodyPr wrap="square" rtlCol="0" anchor="ctr"/>
          <a:lstStyle/>
          <a:p>
            <a:pPr marL="0" indent="0">
              <a:buNone/>
            </a:pPr>
            <a:r>
              <a:rPr lang="en-US" sz="1600" dirty="0">
                <a:solidFill>
                  <a:srgbClr val="1A1A1A"/>
                </a:solidFill>
                <a:latin typeface="Calibri" pitchFamily="34" charset="0"/>
                <a:ea typeface="Calibri" pitchFamily="34" charset="-122"/>
                <a:cs typeface="Calibri" pitchFamily="34" charset="-120"/>
              </a:rPr>
              <a:t>El log replicado por consenso reemplaza al log local: cualquier nodo con el log puede reconstruir el estado. CockroachDB y etcd lo usan.</a:t>
            </a:r>
            <a:endParaRPr lang="en-US" sz="1600" dirty="0"/>
          </a:p>
        </p:txBody>
      </p:sp>
      <p:sp>
        <p:nvSpPr>
          <p:cNvPr id="34" name="Text 32"/>
          <p:cNvSpPr/>
          <p:nvPr/>
        </p:nvSpPr>
        <p:spPr>
          <a:xfrm>
            <a:off x="457200" y="6492240"/>
            <a:ext cx="8229600" cy="274320"/>
          </a:xfrm>
          <a:prstGeom prst="rect">
            <a:avLst/>
          </a:prstGeom>
          <a:noFill/>
          <a:ln/>
        </p:spPr>
        <p:txBody>
          <a:bodyPr wrap="square" rtlCol="0" anchor="ctr"/>
          <a:lstStyle/>
          <a:p>
            <a:pPr marL="0" indent="0">
              <a:buNone/>
            </a:pPr>
            <a:r>
              <a:rPr lang="en-US" sz="900" dirty="0">
                <a:solidFill>
                  <a:srgbClr val="4A4A4A"/>
                </a:solidFill>
                <a:latin typeface="Calibri" pitchFamily="34" charset="0"/>
                <a:ea typeface="Calibri" pitchFamily="34" charset="-122"/>
                <a:cs typeface="Calibri" pitchFamily="34" charset="-120"/>
              </a:rPr>
              <a:t>UTEQ - Aplicaciones Distribuidas (ISR-701) - Unidad 3</a:t>
            </a:r>
            <a:endParaRPr lang="en-US" sz="900" dirty="0"/>
          </a:p>
        </p:txBody>
      </p:sp>
      <p:sp>
        <p:nvSpPr>
          <p:cNvPr id="35" name="Text 33"/>
          <p:cNvSpPr/>
          <p:nvPr/>
        </p:nvSpPr>
        <p:spPr>
          <a:xfrm>
            <a:off x="10789920" y="6492240"/>
            <a:ext cx="914400" cy="274320"/>
          </a:xfrm>
          <a:prstGeom prst="rect">
            <a:avLst/>
          </a:prstGeom>
          <a:noFill/>
          <a:ln/>
        </p:spPr>
        <p:txBody>
          <a:bodyPr wrap="square"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32 / 42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E3F7E"/>
        </a:solidFill>
        <a:effectLst/>
      </p:bgPr>
    </p:bg>
    <p:spTree>
      <p:nvGrpSpPr>
        <p:cNvPr id="1" name=""/>
        <p:cNvGrpSpPr/>
        <p:nvPr/>
      </p:nvGrpSpPr>
      <p:grpSpPr>
        <a:xfrm>
          <a:off x="0" y="0"/>
          <a:ext cx="0" cy="0"/>
          <a:chOff x="0" y="0"/>
          <a:chExt cx="0" cy="0"/>
        </a:xfrm>
      </p:grpSpPr>
      <p:sp>
        <p:nvSpPr>
          <p:cNvPr id="2" name="Shape 0"/>
          <p:cNvSpPr/>
          <p:nvPr/>
        </p:nvSpPr>
        <p:spPr>
          <a:xfrm>
            <a:off x="9601200" y="4572000"/>
            <a:ext cx="3657600" cy="3657600"/>
          </a:xfrm>
          <a:prstGeom prst="ellipse">
            <a:avLst/>
          </a:prstGeom>
          <a:solidFill>
            <a:srgbClr val="2E86A1">
              <a:alpha val="50000"/>
            </a:srgbClr>
          </a:solidFill>
          <a:ln/>
        </p:spPr>
        <p:txBody>
          <a:bodyPr/>
          <a:lstStyle/>
          <a:p>
            <a:endParaRPr lang="es-US"/>
          </a:p>
        </p:txBody>
      </p:sp>
      <p:sp>
        <p:nvSpPr>
          <p:cNvPr id="3" name="Shape 1"/>
          <p:cNvSpPr/>
          <p:nvPr/>
        </p:nvSpPr>
        <p:spPr>
          <a:xfrm>
            <a:off x="-914400" y="4114800"/>
            <a:ext cx="3200400" cy="3200400"/>
          </a:xfrm>
          <a:prstGeom prst="ellipse">
            <a:avLst/>
          </a:prstGeom>
          <a:solidFill>
            <a:srgbClr val="1E5AA8">
              <a:alpha val="50000"/>
            </a:srgbClr>
          </a:solidFill>
          <a:ln/>
        </p:spPr>
        <p:txBody>
          <a:bodyPr/>
          <a:lstStyle/>
          <a:p>
            <a:endParaRPr lang="es-US"/>
          </a:p>
        </p:txBody>
      </p:sp>
      <p:sp>
        <p:nvSpPr>
          <p:cNvPr id="4" name="Text 2"/>
          <p:cNvSpPr/>
          <p:nvPr/>
        </p:nvSpPr>
        <p:spPr>
          <a:xfrm>
            <a:off x="548640" y="1548384"/>
            <a:ext cx="10972800" cy="548640"/>
          </a:xfrm>
          <a:prstGeom prst="rect">
            <a:avLst/>
          </a:prstGeom>
          <a:noFill/>
          <a:ln/>
        </p:spPr>
        <p:txBody>
          <a:bodyPr wrap="square" rtlCol="0" anchor="ctr"/>
          <a:lstStyle/>
          <a:p>
            <a:pPr marL="0" indent="0">
              <a:buNone/>
            </a:pPr>
            <a:r>
              <a:rPr lang="en-US" sz="3200" i="1" dirty="0">
                <a:solidFill>
                  <a:srgbClr val="F2A413"/>
                </a:solidFill>
                <a:latin typeface="Calibri" pitchFamily="34" charset="0"/>
                <a:ea typeface="Calibri" pitchFamily="34" charset="-122"/>
                <a:cs typeface="Calibri" pitchFamily="34" charset="-120"/>
              </a:rPr>
              <a:t>Ejercicio Practico</a:t>
            </a:r>
            <a:endParaRPr lang="en-US" sz="3200" dirty="0"/>
          </a:p>
        </p:txBody>
      </p:sp>
      <p:sp>
        <p:nvSpPr>
          <p:cNvPr id="5" name="Text 3"/>
          <p:cNvSpPr/>
          <p:nvPr/>
        </p:nvSpPr>
        <p:spPr>
          <a:xfrm>
            <a:off x="548640" y="2286000"/>
            <a:ext cx="10972800" cy="1371600"/>
          </a:xfrm>
          <a:prstGeom prst="rect">
            <a:avLst/>
          </a:prstGeom>
          <a:noFill/>
          <a:ln/>
        </p:spPr>
        <p:txBody>
          <a:bodyPr wrap="square" rtlCol="0" anchor="ctr"/>
          <a:lstStyle/>
          <a:p>
            <a:pPr marL="0" indent="0">
              <a:buNone/>
            </a:pPr>
            <a:r>
              <a:rPr lang="en-US" sz="6000" b="1" kern="0" spc="300" dirty="0">
                <a:solidFill>
                  <a:srgbClr val="FFFFFF"/>
                </a:solidFill>
                <a:latin typeface="Cambria" pitchFamily="34" charset="0"/>
                <a:ea typeface="Cambria" pitchFamily="34" charset="-122"/>
                <a:cs typeface="Cambria" pitchFamily="34" charset="-120"/>
              </a:rPr>
              <a:t>CASO BANCO DEL AUSTRO</a:t>
            </a:r>
            <a:endParaRPr lang="en-US" sz="6000" dirty="0"/>
          </a:p>
        </p:txBody>
      </p:sp>
      <p:sp>
        <p:nvSpPr>
          <p:cNvPr id="6" name="Text 4"/>
          <p:cNvSpPr/>
          <p:nvPr/>
        </p:nvSpPr>
        <p:spPr>
          <a:xfrm>
            <a:off x="548640" y="3840480"/>
            <a:ext cx="10972800" cy="731520"/>
          </a:xfrm>
          <a:prstGeom prst="rect">
            <a:avLst/>
          </a:prstGeom>
          <a:noFill/>
          <a:ln/>
        </p:spPr>
        <p:txBody>
          <a:bodyPr wrap="square" rtlCol="0" anchor="ctr"/>
          <a:lstStyle/>
          <a:p>
            <a:pPr marL="0" indent="0">
              <a:buNone/>
            </a:pPr>
            <a:r>
              <a:rPr lang="en-US" sz="2400" i="1" dirty="0">
                <a:solidFill>
                  <a:srgbClr val="EAF1FB"/>
                </a:solidFill>
                <a:latin typeface="Calibri" pitchFamily="34" charset="0"/>
                <a:ea typeface="Calibri" pitchFamily="34" charset="-122"/>
                <a:cs typeface="Calibri" pitchFamily="34" charset="-120"/>
              </a:rPr>
              <a:t>BDD homogenea federada con PostgreSQL 16, Docker Compose, Spring Boot 3.x y Java 21</a:t>
            </a:r>
            <a:endParaRPr lang="en-US" sz="2400" dirty="0"/>
          </a:p>
        </p:txBody>
      </p:sp>
      <p:sp>
        <p:nvSpPr>
          <p:cNvPr id="7" name="Shape 5"/>
          <p:cNvSpPr/>
          <p:nvPr/>
        </p:nvSpPr>
        <p:spPr>
          <a:xfrm>
            <a:off x="548640" y="5029200"/>
            <a:ext cx="1920240" cy="640080"/>
          </a:xfrm>
          <a:prstGeom prst="roundRect">
            <a:avLst>
              <a:gd name="adj" fmla="val 21429"/>
            </a:avLst>
          </a:prstGeom>
          <a:solidFill>
            <a:srgbClr val="F2A413"/>
          </a:solidFill>
          <a:ln/>
        </p:spPr>
        <p:txBody>
          <a:bodyPr/>
          <a:lstStyle/>
          <a:p>
            <a:endParaRPr lang="es-US" sz="2400"/>
          </a:p>
        </p:txBody>
      </p:sp>
      <p:sp>
        <p:nvSpPr>
          <p:cNvPr id="8" name="Text 6"/>
          <p:cNvSpPr/>
          <p:nvPr/>
        </p:nvSpPr>
        <p:spPr>
          <a:xfrm>
            <a:off x="548640" y="5074920"/>
            <a:ext cx="19202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Java 21</a:t>
            </a:r>
            <a:endParaRPr lang="en-US" sz="1600" dirty="0"/>
          </a:p>
        </p:txBody>
      </p:sp>
      <p:sp>
        <p:nvSpPr>
          <p:cNvPr id="9" name="Shape 7"/>
          <p:cNvSpPr/>
          <p:nvPr/>
        </p:nvSpPr>
        <p:spPr>
          <a:xfrm>
            <a:off x="2651760" y="5029200"/>
            <a:ext cx="1920240" cy="640080"/>
          </a:xfrm>
          <a:prstGeom prst="roundRect">
            <a:avLst>
              <a:gd name="adj" fmla="val 21429"/>
            </a:avLst>
          </a:prstGeom>
          <a:solidFill>
            <a:srgbClr val="4FAE60"/>
          </a:solidFill>
          <a:ln/>
        </p:spPr>
        <p:txBody>
          <a:bodyPr/>
          <a:lstStyle/>
          <a:p>
            <a:endParaRPr lang="es-US" sz="2400"/>
          </a:p>
        </p:txBody>
      </p:sp>
      <p:sp>
        <p:nvSpPr>
          <p:cNvPr id="10" name="Text 8"/>
          <p:cNvSpPr/>
          <p:nvPr/>
        </p:nvSpPr>
        <p:spPr>
          <a:xfrm>
            <a:off x="2651760" y="5074920"/>
            <a:ext cx="19202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Spring Boot 3.x</a:t>
            </a:r>
            <a:endParaRPr lang="en-US" sz="1600" dirty="0"/>
          </a:p>
        </p:txBody>
      </p:sp>
      <p:sp>
        <p:nvSpPr>
          <p:cNvPr id="11" name="Shape 9"/>
          <p:cNvSpPr/>
          <p:nvPr/>
        </p:nvSpPr>
        <p:spPr>
          <a:xfrm>
            <a:off x="4754880" y="5029200"/>
            <a:ext cx="1920240" cy="640080"/>
          </a:xfrm>
          <a:prstGeom prst="roundRect">
            <a:avLst>
              <a:gd name="adj" fmla="val 21429"/>
            </a:avLst>
          </a:prstGeom>
          <a:solidFill>
            <a:srgbClr val="2E86A1"/>
          </a:solidFill>
          <a:ln/>
        </p:spPr>
        <p:txBody>
          <a:bodyPr/>
          <a:lstStyle/>
          <a:p>
            <a:endParaRPr lang="es-US" sz="2400"/>
          </a:p>
        </p:txBody>
      </p:sp>
      <p:sp>
        <p:nvSpPr>
          <p:cNvPr id="12" name="Text 10"/>
          <p:cNvSpPr/>
          <p:nvPr/>
        </p:nvSpPr>
        <p:spPr>
          <a:xfrm>
            <a:off x="4754880" y="5074920"/>
            <a:ext cx="19202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PostgreSQL 16</a:t>
            </a:r>
            <a:endParaRPr lang="en-US" sz="1600" dirty="0"/>
          </a:p>
        </p:txBody>
      </p:sp>
      <p:sp>
        <p:nvSpPr>
          <p:cNvPr id="13" name="Shape 11"/>
          <p:cNvSpPr/>
          <p:nvPr/>
        </p:nvSpPr>
        <p:spPr>
          <a:xfrm>
            <a:off x="6858000" y="5029200"/>
            <a:ext cx="1920240" cy="640080"/>
          </a:xfrm>
          <a:prstGeom prst="roundRect">
            <a:avLst>
              <a:gd name="adj" fmla="val 21429"/>
            </a:avLst>
          </a:prstGeom>
          <a:solidFill>
            <a:srgbClr val="1E5AA8"/>
          </a:solidFill>
          <a:ln/>
        </p:spPr>
        <p:txBody>
          <a:bodyPr/>
          <a:lstStyle/>
          <a:p>
            <a:endParaRPr lang="es-US" sz="2400"/>
          </a:p>
        </p:txBody>
      </p:sp>
      <p:sp>
        <p:nvSpPr>
          <p:cNvPr id="14" name="Text 12"/>
          <p:cNvSpPr/>
          <p:nvPr/>
        </p:nvSpPr>
        <p:spPr>
          <a:xfrm>
            <a:off x="6858000" y="5074920"/>
            <a:ext cx="19202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Docker Compose</a:t>
            </a:r>
            <a:endParaRPr lang="en-US" sz="1600" dirty="0"/>
          </a:p>
        </p:txBody>
      </p:sp>
      <p:sp>
        <p:nvSpPr>
          <p:cNvPr id="15" name="Shape 13"/>
          <p:cNvSpPr/>
          <p:nvPr/>
        </p:nvSpPr>
        <p:spPr>
          <a:xfrm>
            <a:off x="8961120" y="5029200"/>
            <a:ext cx="1920240" cy="640080"/>
          </a:xfrm>
          <a:prstGeom prst="roundRect">
            <a:avLst>
              <a:gd name="adj" fmla="val 21429"/>
            </a:avLst>
          </a:prstGeom>
          <a:solidFill>
            <a:srgbClr val="F2A413"/>
          </a:solidFill>
          <a:ln/>
        </p:spPr>
        <p:txBody>
          <a:bodyPr/>
          <a:lstStyle/>
          <a:p>
            <a:endParaRPr lang="es-US" sz="2400"/>
          </a:p>
        </p:txBody>
      </p:sp>
      <p:sp>
        <p:nvSpPr>
          <p:cNvPr id="16" name="Text 14"/>
          <p:cNvSpPr/>
          <p:nvPr/>
        </p:nvSpPr>
        <p:spPr>
          <a:xfrm>
            <a:off x="8961120" y="5074920"/>
            <a:ext cx="19202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Maven</a:t>
            </a:r>
            <a:endParaRPr lang="en-US" sz="1600" dirty="0"/>
          </a:p>
        </p:txBody>
      </p:sp>
      <p:sp>
        <p:nvSpPr>
          <p:cNvPr id="17" name="Text 15"/>
          <p:cNvSpPr/>
          <p:nvPr/>
        </p:nvSpPr>
        <p:spPr>
          <a:xfrm>
            <a:off x="548640" y="6035040"/>
            <a:ext cx="10972800" cy="457200"/>
          </a:xfrm>
          <a:prstGeom prst="rect">
            <a:avLst/>
          </a:prstGeom>
          <a:noFill/>
          <a:ln/>
        </p:spPr>
        <p:txBody>
          <a:bodyPr wrap="square" rtlCol="0" anchor="ctr"/>
          <a:lstStyle/>
          <a:p>
            <a:pPr marL="0" indent="0">
              <a:buNone/>
            </a:pPr>
            <a:r>
              <a:rPr lang="en-US" i="1" dirty="0">
                <a:solidFill>
                  <a:srgbClr val="F2A413"/>
                </a:solidFill>
                <a:latin typeface="Calibri" pitchFamily="34" charset="0"/>
                <a:ea typeface="Calibri" pitchFamily="34" charset="-122"/>
                <a:cs typeface="Calibri" pitchFamily="34" charset="-120"/>
              </a:rPr>
              <a:t>Equipos AGLS, BCEL, FUVV y ACC: este ejercicio es la base de su entrega PFC E3</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marL="0" indent="0">
              <a:buNone/>
            </a:pPr>
            <a:r>
              <a:rPr lang="en-US" sz="4000" b="1" dirty="0">
                <a:solidFill>
                  <a:srgbClr val="0E3F7E"/>
                </a:solidFill>
                <a:latin typeface="Calibri" pitchFamily="34" charset="0"/>
                <a:ea typeface="Calibri" pitchFamily="34" charset="-122"/>
                <a:cs typeface="Calibri" pitchFamily="34" charset="-120"/>
              </a:rPr>
              <a:t>Banco del Austro: requisitos y analisis CAP</a:t>
            </a:r>
            <a:endParaRPr lang="en-US" sz="4000" dirty="0"/>
          </a:p>
        </p:txBody>
      </p:sp>
      <p:sp>
        <p:nvSpPr>
          <p:cNvPr id="3" name="Text 1"/>
          <p:cNvSpPr/>
          <p:nvPr/>
        </p:nvSpPr>
        <p:spPr>
          <a:xfrm>
            <a:off x="457200" y="777240"/>
            <a:ext cx="11247120" cy="320040"/>
          </a:xfrm>
          <a:prstGeom prst="rect">
            <a:avLst/>
          </a:prstGeom>
          <a:noFill/>
          <a:ln/>
        </p:spPr>
        <p:txBody>
          <a:bodyPr wrap="square" lIns="0" tIns="0" rIns="0" bIns="0" rtlCol="0" anchor="ctr"/>
          <a:lstStyle/>
          <a:p>
            <a:pPr marL="0" indent="0">
              <a:buNone/>
            </a:pPr>
            <a:r>
              <a:rPr lang="en-US" sz="2000" i="1" dirty="0">
                <a:solidFill>
                  <a:srgbClr val="2E86A1"/>
                </a:solidFill>
                <a:latin typeface="Calibri" pitchFamily="34" charset="0"/>
                <a:ea typeface="Calibri" pitchFamily="34" charset="-122"/>
                <a:cs typeface="Calibri" pitchFamily="34" charset="-120"/>
              </a:rPr>
              <a:t>Del problema de negocio a la decision tecnica</a:t>
            </a:r>
            <a:endParaRPr lang="en-US" sz="2000" dirty="0"/>
          </a:p>
        </p:txBody>
      </p:sp>
      <p:sp>
        <p:nvSpPr>
          <p:cNvPr id="4" name="Shape 2"/>
          <p:cNvSpPr/>
          <p:nvPr/>
        </p:nvSpPr>
        <p:spPr>
          <a:xfrm>
            <a:off x="548640" y="1280160"/>
            <a:ext cx="6858000" cy="5120640"/>
          </a:xfrm>
          <a:prstGeom prst="roundRect">
            <a:avLst>
              <a:gd name="adj" fmla="val 1429"/>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sz="2800"/>
          </a:p>
        </p:txBody>
      </p:sp>
      <p:sp>
        <p:nvSpPr>
          <p:cNvPr id="5" name="Text 3"/>
          <p:cNvSpPr/>
          <p:nvPr/>
        </p:nvSpPr>
        <p:spPr>
          <a:xfrm>
            <a:off x="777240" y="1417320"/>
            <a:ext cx="6400800" cy="365760"/>
          </a:xfrm>
          <a:prstGeom prst="rect">
            <a:avLst/>
          </a:prstGeom>
          <a:noFill/>
          <a:ln/>
        </p:spPr>
        <p:txBody>
          <a:bodyPr wrap="square" lIns="0" tIns="0" rIns="0" bIns="0" rtlCol="0" anchor="ctr"/>
          <a:lstStyle/>
          <a:p>
            <a:pPr marL="0" indent="0">
              <a:buNone/>
            </a:pPr>
            <a:r>
              <a:rPr lang="en-US" sz="2400" b="1" dirty="0">
                <a:solidFill>
                  <a:srgbClr val="0E3F7E"/>
                </a:solidFill>
                <a:latin typeface="Calibri" pitchFamily="34" charset="0"/>
                <a:ea typeface="Calibri" pitchFamily="34" charset="-122"/>
                <a:cs typeface="Calibri" pitchFamily="34" charset="-120"/>
              </a:rPr>
              <a:t>Requisitos no funcionales</a:t>
            </a:r>
            <a:endParaRPr lang="en-US" sz="2400" dirty="0"/>
          </a:p>
        </p:txBody>
      </p:sp>
      <p:sp>
        <p:nvSpPr>
          <p:cNvPr id="6" name="Text 4"/>
          <p:cNvSpPr/>
          <p:nvPr/>
        </p:nvSpPr>
        <p:spPr>
          <a:xfrm>
            <a:off x="914400" y="1874520"/>
            <a:ext cx="6400800" cy="4572000"/>
          </a:xfrm>
          <a:prstGeom prst="rect">
            <a:avLst/>
          </a:prstGeom>
          <a:noFill/>
          <a:ln/>
        </p:spPr>
        <p:txBody>
          <a:bodyPr wrap="square" rtlCol="0" anchor="ctr"/>
          <a:lstStyle/>
          <a:p>
            <a:pPr marL="342900" indent="-342900">
              <a:spcAft>
                <a:spcPts val="1000"/>
              </a:spcAft>
              <a:buSzPct val="100000"/>
              <a:buChar char="•"/>
            </a:pPr>
            <a:r>
              <a:rPr lang="en-US" sz="2400" dirty="0">
                <a:solidFill>
                  <a:srgbClr val="1A1A1A"/>
                </a:solidFill>
                <a:latin typeface="Calibri" pitchFamily="34" charset="0"/>
                <a:ea typeface="Calibri" pitchFamily="34" charset="-122"/>
                <a:cs typeface="Calibri" pitchFamily="34" charset="-120"/>
              </a:rPr>
              <a:t>Consultas de saldo deben responder en menos de 200 ms desde cualquier oficina</a:t>
            </a:r>
            <a:endParaRPr lang="en-US" sz="2400" dirty="0"/>
          </a:p>
          <a:p>
            <a:pPr marL="342900" indent="-342900">
              <a:spcAft>
                <a:spcPts val="1000"/>
              </a:spcAft>
              <a:buSzPct val="100000"/>
              <a:buChar char="•"/>
            </a:pPr>
            <a:r>
              <a:rPr lang="en-US" sz="2400" dirty="0">
                <a:solidFill>
                  <a:srgbClr val="1A1A1A"/>
                </a:solidFill>
                <a:latin typeface="Calibri" pitchFamily="34" charset="0"/>
                <a:ea typeface="Calibri" pitchFamily="34" charset="-122"/>
                <a:cs typeface="Calibri" pitchFamily="34" charset="-120"/>
              </a:rPr>
              <a:t>Transferencias bancarias deben cumplir ACID estricto</a:t>
            </a:r>
            <a:endParaRPr lang="en-US" sz="2400" dirty="0"/>
          </a:p>
          <a:p>
            <a:pPr marL="342900" indent="-342900">
              <a:spcAft>
                <a:spcPts val="1000"/>
              </a:spcAft>
              <a:buSzPct val="100000"/>
              <a:buChar char="•"/>
            </a:pPr>
            <a:r>
              <a:rPr lang="en-US" sz="2400" dirty="0">
                <a:solidFill>
                  <a:srgbClr val="1A1A1A"/>
                </a:solidFill>
                <a:latin typeface="Calibri" pitchFamily="34" charset="0"/>
                <a:ea typeface="Calibri" pitchFamily="34" charset="-122"/>
                <a:cs typeface="Calibri" pitchFamily="34" charset="-120"/>
              </a:rPr>
              <a:t>La caida de una oficina no debe afectar la operacion de las demas</a:t>
            </a:r>
            <a:endParaRPr lang="en-US" sz="2400" dirty="0"/>
          </a:p>
          <a:p>
            <a:pPr marL="342900" indent="-342900">
              <a:spcAft>
                <a:spcPts val="1000"/>
              </a:spcAft>
              <a:buSzPct val="100000"/>
              <a:buChar char="•"/>
            </a:pPr>
            <a:r>
              <a:rPr lang="en-US" sz="2400" dirty="0">
                <a:solidFill>
                  <a:srgbClr val="1A1A1A"/>
                </a:solidFill>
                <a:latin typeface="Calibri" pitchFamily="34" charset="0"/>
                <a:ea typeface="Calibri" pitchFamily="34" charset="-122"/>
                <a:cs typeface="Calibri" pitchFamily="34" charset="-120"/>
              </a:rPr>
              <a:t>Datos de clientes compartidos entre oficinas (acceso multi-sucursal)</a:t>
            </a:r>
            <a:endParaRPr lang="en-US" sz="2400" dirty="0"/>
          </a:p>
          <a:p>
            <a:pPr marL="342900" indent="-342900">
              <a:spcAft>
                <a:spcPts val="1000"/>
              </a:spcAft>
              <a:buSzPct val="100000"/>
              <a:buChar char="•"/>
            </a:pPr>
            <a:r>
              <a:rPr lang="en-US" sz="2400" dirty="0">
                <a:solidFill>
                  <a:srgbClr val="1A1A1A"/>
                </a:solidFill>
                <a:latin typeface="Calibri" pitchFamily="34" charset="0"/>
                <a:ea typeface="Calibri" pitchFamily="34" charset="-122"/>
                <a:cs typeface="Calibri" pitchFamily="34" charset="-120"/>
              </a:rPr>
              <a:t>Datos de transacciones locales son propios de cada oficina</a:t>
            </a:r>
            <a:endParaRPr lang="en-US" sz="2400" dirty="0"/>
          </a:p>
        </p:txBody>
      </p:sp>
      <p:sp>
        <p:nvSpPr>
          <p:cNvPr id="7" name="Shape 5"/>
          <p:cNvSpPr/>
          <p:nvPr/>
        </p:nvSpPr>
        <p:spPr>
          <a:xfrm>
            <a:off x="7543800" y="1280160"/>
            <a:ext cx="4069080" cy="5120640"/>
          </a:xfrm>
          <a:prstGeom prst="roundRect">
            <a:avLst>
              <a:gd name="adj" fmla="val 1798"/>
            </a:avLst>
          </a:prstGeom>
          <a:solidFill>
            <a:srgbClr val="FEF5E6"/>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sz="2800"/>
          </a:p>
        </p:txBody>
      </p:sp>
      <p:sp>
        <p:nvSpPr>
          <p:cNvPr id="8" name="Text 6"/>
          <p:cNvSpPr/>
          <p:nvPr/>
        </p:nvSpPr>
        <p:spPr>
          <a:xfrm>
            <a:off x="7772400" y="1417320"/>
            <a:ext cx="3657600" cy="365760"/>
          </a:xfrm>
          <a:prstGeom prst="rect">
            <a:avLst/>
          </a:prstGeom>
          <a:noFill/>
          <a:ln/>
        </p:spPr>
        <p:txBody>
          <a:bodyPr wrap="square" lIns="0" tIns="0" rIns="0" bIns="0" rtlCol="0" anchor="ctr"/>
          <a:lstStyle/>
          <a:p>
            <a:pPr marL="0" indent="0">
              <a:buNone/>
            </a:pPr>
            <a:r>
              <a:rPr lang="en-US" sz="2400" b="1" dirty="0">
                <a:solidFill>
                  <a:srgbClr val="F2A413"/>
                </a:solidFill>
                <a:latin typeface="Calibri" pitchFamily="34" charset="0"/>
                <a:ea typeface="Calibri" pitchFamily="34" charset="-122"/>
                <a:cs typeface="Calibri" pitchFamily="34" charset="-120"/>
              </a:rPr>
              <a:t>Decision CAP</a:t>
            </a:r>
            <a:endParaRPr lang="en-US" sz="2400" dirty="0"/>
          </a:p>
        </p:txBody>
      </p:sp>
      <p:sp>
        <p:nvSpPr>
          <p:cNvPr id="9" name="Shape 7"/>
          <p:cNvSpPr/>
          <p:nvPr/>
        </p:nvSpPr>
        <p:spPr>
          <a:xfrm>
            <a:off x="8686800" y="2011680"/>
            <a:ext cx="1783080" cy="1783080"/>
          </a:xfrm>
          <a:prstGeom prst="ellipse">
            <a:avLst/>
          </a:prstGeom>
          <a:solidFill>
            <a:srgbClr val="0E3F7E"/>
          </a:solidFill>
          <a:ln/>
        </p:spPr>
        <p:txBody>
          <a:bodyPr/>
          <a:lstStyle/>
          <a:p>
            <a:endParaRPr lang="es-US" sz="2800"/>
          </a:p>
        </p:txBody>
      </p:sp>
      <p:sp>
        <p:nvSpPr>
          <p:cNvPr id="10" name="Text 8"/>
          <p:cNvSpPr/>
          <p:nvPr/>
        </p:nvSpPr>
        <p:spPr>
          <a:xfrm>
            <a:off x="8686800" y="2011680"/>
            <a:ext cx="1783080" cy="1783080"/>
          </a:xfrm>
          <a:prstGeom prst="rect">
            <a:avLst/>
          </a:prstGeom>
          <a:noFill/>
          <a:ln/>
        </p:spPr>
        <p:txBody>
          <a:bodyPr wrap="square" lIns="0" tIns="0" rIns="0" bIns="0" rtlCol="0" anchor="ctr"/>
          <a:lstStyle/>
          <a:p>
            <a:pPr marL="0" indent="0" algn="ctr">
              <a:buNone/>
            </a:pPr>
            <a:r>
              <a:rPr lang="en-US" sz="6600" b="1" dirty="0">
                <a:solidFill>
                  <a:srgbClr val="FFFFFF"/>
                </a:solidFill>
                <a:latin typeface="Cambria" pitchFamily="34" charset="0"/>
                <a:ea typeface="Cambria" pitchFamily="34" charset="-122"/>
                <a:cs typeface="Cambria" pitchFamily="34" charset="-120"/>
              </a:rPr>
              <a:t>CP</a:t>
            </a:r>
            <a:endParaRPr lang="en-US" sz="6600" dirty="0"/>
          </a:p>
        </p:txBody>
      </p:sp>
      <p:sp>
        <p:nvSpPr>
          <p:cNvPr id="11" name="Text 9"/>
          <p:cNvSpPr/>
          <p:nvPr/>
        </p:nvSpPr>
        <p:spPr>
          <a:xfrm>
            <a:off x="7772400" y="4023360"/>
            <a:ext cx="3657600" cy="548640"/>
          </a:xfrm>
          <a:prstGeom prst="rect">
            <a:avLst/>
          </a:prstGeom>
          <a:noFill/>
          <a:ln/>
        </p:spPr>
        <p:txBody>
          <a:bodyPr wrap="square" rtlCol="0" anchor="ctr"/>
          <a:lstStyle/>
          <a:p>
            <a:pPr marL="0" indent="0" algn="ctr">
              <a:buNone/>
            </a:pPr>
            <a:r>
              <a:rPr lang="en-US" dirty="0">
                <a:solidFill>
                  <a:srgbClr val="1A1A1A"/>
                </a:solidFill>
                <a:latin typeface="Calibri" pitchFamily="34" charset="0"/>
                <a:ea typeface="Calibri" pitchFamily="34" charset="-122"/>
                <a:cs typeface="Calibri" pitchFamily="34" charset="-120"/>
              </a:rPr>
              <a:t>Las transferencias requieren consistencia fuerte (ACID).</a:t>
            </a:r>
            <a:endParaRPr lang="en-US" dirty="0"/>
          </a:p>
        </p:txBody>
      </p:sp>
      <p:sp>
        <p:nvSpPr>
          <p:cNvPr id="12" name="Text 10"/>
          <p:cNvSpPr/>
          <p:nvPr/>
        </p:nvSpPr>
        <p:spPr>
          <a:xfrm>
            <a:off x="7772400" y="4617720"/>
            <a:ext cx="3657600" cy="914400"/>
          </a:xfrm>
          <a:prstGeom prst="rect">
            <a:avLst/>
          </a:prstGeom>
          <a:noFill/>
          <a:ln/>
        </p:spPr>
        <p:txBody>
          <a:bodyPr wrap="square" rtlCol="0" anchor="ctr"/>
          <a:lstStyle/>
          <a:p>
            <a:pPr marL="0" indent="0" algn="ctr">
              <a:buNone/>
            </a:pPr>
            <a:r>
              <a:rPr lang="en-US" i="1" dirty="0">
                <a:solidFill>
                  <a:srgbClr val="0E3F7E"/>
                </a:solidFill>
                <a:latin typeface="Calibri" pitchFamily="34" charset="0"/>
                <a:ea typeface="Calibri" pitchFamily="34" charset="-122"/>
                <a:cs typeface="Calibri" pitchFamily="34" charset="-120"/>
              </a:rPr>
              <a:t>Ante una particion de red, preferimos BLOQUEAR antes que transferir dinero incorrectamente.</a:t>
            </a:r>
            <a:endParaRPr lang="en-US" dirty="0"/>
          </a:p>
        </p:txBody>
      </p:sp>
      <p:sp>
        <p:nvSpPr>
          <p:cNvPr id="13" name="Text 11"/>
          <p:cNvSpPr/>
          <p:nvPr/>
        </p:nvSpPr>
        <p:spPr>
          <a:xfrm>
            <a:off x="7772400" y="5760720"/>
            <a:ext cx="3657600" cy="365760"/>
          </a:xfrm>
          <a:prstGeom prst="rect">
            <a:avLst/>
          </a:prstGeom>
          <a:noFill/>
          <a:ln/>
        </p:spPr>
        <p:txBody>
          <a:bodyPr wrap="square" rtlCol="0" anchor="ctr"/>
          <a:lstStyle/>
          <a:p>
            <a:pPr marL="0" indent="0" algn="ctr">
              <a:buNone/>
            </a:pPr>
            <a:r>
              <a:rPr lang="en-US" b="1" dirty="0">
                <a:solidFill>
                  <a:srgbClr val="F2A413"/>
                </a:solidFill>
                <a:latin typeface="Calibri" pitchFamily="34" charset="0"/>
                <a:ea typeface="Calibri" pitchFamily="34" charset="-122"/>
                <a:cs typeface="Calibri" pitchFamily="34" charset="-120"/>
              </a:rPr>
              <a:t>PACELC: PC / EC</a:t>
            </a:r>
            <a:endParaRPr lang="en-US" dirty="0"/>
          </a:p>
        </p:txBody>
      </p:sp>
      <p:sp>
        <p:nvSpPr>
          <p:cNvPr id="14" name="Text 12"/>
          <p:cNvSpPr/>
          <p:nvPr/>
        </p:nvSpPr>
        <p:spPr>
          <a:xfrm>
            <a:off x="457200" y="6492240"/>
            <a:ext cx="8229600" cy="274320"/>
          </a:xfrm>
          <a:prstGeom prst="rect">
            <a:avLst/>
          </a:prstGeom>
          <a:noFill/>
          <a:ln/>
        </p:spPr>
        <p:txBody>
          <a:bodyPr wrap="square" rtlCol="0" anchor="ctr"/>
          <a:lstStyle/>
          <a:p>
            <a:pPr marL="0" indent="0">
              <a:buNone/>
            </a:pPr>
            <a:r>
              <a:rPr lang="en-US" sz="900" dirty="0">
                <a:solidFill>
                  <a:srgbClr val="4A4A4A"/>
                </a:solidFill>
                <a:latin typeface="Calibri" pitchFamily="34" charset="0"/>
                <a:ea typeface="Calibri" pitchFamily="34" charset="-122"/>
                <a:cs typeface="Calibri" pitchFamily="34" charset="-120"/>
              </a:rPr>
              <a:t>UTEQ - Aplicaciones Distribuidas (ISR-701) - Unidad 3</a:t>
            </a:r>
            <a:endParaRPr lang="en-US" sz="900" dirty="0"/>
          </a:p>
        </p:txBody>
      </p:sp>
      <p:sp>
        <p:nvSpPr>
          <p:cNvPr id="15" name="Text 13"/>
          <p:cNvSpPr/>
          <p:nvPr/>
        </p:nvSpPr>
        <p:spPr>
          <a:xfrm>
            <a:off x="10789920" y="6492240"/>
            <a:ext cx="914400" cy="274320"/>
          </a:xfrm>
          <a:prstGeom prst="rect">
            <a:avLst/>
          </a:prstGeom>
          <a:noFill/>
          <a:ln/>
        </p:spPr>
        <p:txBody>
          <a:bodyPr wrap="square"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34 / 42</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marL="0" indent="0">
              <a:buNone/>
            </a:pPr>
            <a:r>
              <a:rPr lang="en-US" sz="4400" b="1" dirty="0">
                <a:solidFill>
                  <a:srgbClr val="0E3F7E"/>
                </a:solidFill>
                <a:latin typeface="Calibri" pitchFamily="34" charset="0"/>
                <a:ea typeface="Calibri" pitchFamily="34" charset="-122"/>
                <a:cs typeface="Calibri" pitchFamily="34" charset="-120"/>
              </a:rPr>
              <a:t>Diseno de la distribucion</a:t>
            </a:r>
            <a:endParaRPr lang="en-US" sz="4400" dirty="0"/>
          </a:p>
        </p:txBody>
      </p:sp>
      <p:sp>
        <p:nvSpPr>
          <p:cNvPr id="3" name="Text 1"/>
          <p:cNvSpPr/>
          <p:nvPr/>
        </p:nvSpPr>
        <p:spPr>
          <a:xfrm>
            <a:off x="457200" y="777240"/>
            <a:ext cx="11247120" cy="320040"/>
          </a:xfrm>
          <a:prstGeom prst="rect">
            <a:avLst/>
          </a:prstGeom>
          <a:noFill/>
          <a:ln/>
        </p:spPr>
        <p:txBody>
          <a:bodyPr wrap="square" lIns="0" tIns="0" rIns="0" bIns="0" rtlCol="0" anchor="ctr"/>
          <a:lstStyle/>
          <a:p>
            <a:pPr marL="0" indent="0">
              <a:buNone/>
            </a:pPr>
            <a:r>
              <a:rPr lang="en-US" sz="2400" i="1" dirty="0">
                <a:solidFill>
                  <a:srgbClr val="2E86A1"/>
                </a:solidFill>
                <a:latin typeface="Calibri" pitchFamily="34" charset="0"/>
                <a:ea typeface="Calibri" pitchFamily="34" charset="-122"/>
                <a:cs typeface="Calibri" pitchFamily="34" charset="-120"/>
              </a:rPr>
              <a:t>Tres tablas, tres estrategias</a:t>
            </a:r>
            <a:endParaRPr lang="en-US" sz="2400" dirty="0"/>
          </a:p>
        </p:txBody>
      </p:sp>
      <p:sp>
        <p:nvSpPr>
          <p:cNvPr id="4" name="Shape 2"/>
          <p:cNvSpPr/>
          <p:nvPr/>
        </p:nvSpPr>
        <p:spPr>
          <a:xfrm>
            <a:off x="548640" y="1280160"/>
            <a:ext cx="11064240" cy="1554480"/>
          </a:xfrm>
          <a:prstGeom prst="roundRect">
            <a:avLst>
              <a:gd name="adj" fmla="val 4706"/>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sz="3200"/>
          </a:p>
        </p:txBody>
      </p:sp>
      <p:sp>
        <p:nvSpPr>
          <p:cNvPr id="5" name="Shape 3"/>
          <p:cNvSpPr/>
          <p:nvPr/>
        </p:nvSpPr>
        <p:spPr>
          <a:xfrm>
            <a:off x="548640" y="1280160"/>
            <a:ext cx="2286000" cy="1554480"/>
          </a:xfrm>
          <a:prstGeom prst="roundRect">
            <a:avLst>
              <a:gd name="adj" fmla="val 4706"/>
            </a:avLst>
          </a:prstGeom>
          <a:solidFill>
            <a:srgbClr val="0E3F7E"/>
          </a:solidFill>
          <a:ln/>
        </p:spPr>
        <p:txBody>
          <a:bodyPr/>
          <a:lstStyle/>
          <a:p>
            <a:endParaRPr lang="es-US" sz="3200"/>
          </a:p>
        </p:txBody>
      </p:sp>
      <p:sp>
        <p:nvSpPr>
          <p:cNvPr id="6" name="Text 4"/>
          <p:cNvSpPr/>
          <p:nvPr/>
        </p:nvSpPr>
        <p:spPr>
          <a:xfrm>
            <a:off x="548640" y="1280160"/>
            <a:ext cx="2286000" cy="82296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CLIENTES</a:t>
            </a:r>
            <a:endParaRPr lang="en-US" sz="2400" dirty="0"/>
          </a:p>
        </p:txBody>
      </p:sp>
      <p:sp>
        <p:nvSpPr>
          <p:cNvPr id="7" name="Text 5"/>
          <p:cNvSpPr/>
          <p:nvPr/>
        </p:nvSpPr>
        <p:spPr>
          <a:xfrm>
            <a:off x="548640" y="2057400"/>
            <a:ext cx="2286000" cy="731520"/>
          </a:xfrm>
          <a:prstGeom prst="rect">
            <a:avLst/>
          </a:prstGeom>
          <a:noFill/>
          <a:ln/>
        </p:spPr>
        <p:txBody>
          <a:bodyPr wrap="square" lIns="0" tIns="0" rIns="0" bIns="0" rtlCol="0" anchor="ctr"/>
          <a:lstStyle/>
          <a:p>
            <a:pPr marL="0" indent="0" algn="ctr">
              <a:buNone/>
            </a:pPr>
            <a:r>
              <a:rPr lang="en-US" sz="1600" i="1" dirty="0">
                <a:solidFill>
                  <a:srgbClr val="FFFFFF"/>
                </a:solidFill>
                <a:latin typeface="Calibri" pitchFamily="34" charset="0"/>
                <a:ea typeface="Calibri" pitchFamily="34" charset="-122"/>
                <a:cs typeface="Calibri" pitchFamily="34" charset="-120"/>
              </a:rPr>
              <a:t>REPLICADA</a:t>
            </a:r>
            <a:endParaRPr lang="en-US" sz="1600" dirty="0"/>
          </a:p>
        </p:txBody>
      </p:sp>
      <p:sp>
        <p:nvSpPr>
          <p:cNvPr id="8" name="Text 6"/>
          <p:cNvSpPr/>
          <p:nvPr/>
        </p:nvSpPr>
        <p:spPr>
          <a:xfrm>
            <a:off x="3017520" y="1417320"/>
            <a:ext cx="5029200" cy="274320"/>
          </a:xfrm>
          <a:prstGeom prst="rect">
            <a:avLst/>
          </a:prstGeom>
          <a:noFill/>
          <a:ln/>
        </p:spPr>
        <p:txBody>
          <a:bodyPr wrap="square" lIns="0" tIns="0" rIns="0" bIns="0" rtlCol="0" anchor="ctr"/>
          <a:lstStyle/>
          <a:p>
            <a:pPr marL="0" indent="0">
              <a:buNone/>
            </a:pPr>
            <a:r>
              <a:rPr lang="en-US" b="1" dirty="0">
                <a:solidFill>
                  <a:srgbClr val="0E3F7E"/>
                </a:solidFill>
                <a:latin typeface="Calibri" pitchFamily="34" charset="0"/>
                <a:ea typeface="Calibri" pitchFamily="34" charset="-122"/>
                <a:cs typeface="Calibri" pitchFamily="34" charset="-120"/>
              </a:rPr>
              <a:t>Estrategia</a:t>
            </a:r>
            <a:endParaRPr lang="en-US" dirty="0"/>
          </a:p>
        </p:txBody>
      </p:sp>
      <p:sp>
        <p:nvSpPr>
          <p:cNvPr id="9" name="Text 7"/>
          <p:cNvSpPr/>
          <p:nvPr/>
        </p:nvSpPr>
        <p:spPr>
          <a:xfrm>
            <a:off x="3017520" y="1645920"/>
            <a:ext cx="5029200" cy="1097280"/>
          </a:xfrm>
          <a:prstGeom prst="rect">
            <a:avLst/>
          </a:prstGeom>
          <a:noFill/>
          <a:ln/>
        </p:spPr>
        <p:txBody>
          <a:bodyPr wrap="square" rtlCol="0" anchor="ctr"/>
          <a:lstStyle/>
          <a:p>
            <a:pPr marL="0" indent="0">
              <a:buNone/>
            </a:pPr>
            <a:r>
              <a:rPr lang="en-US" dirty="0">
                <a:solidFill>
                  <a:srgbClr val="1A1A1A"/>
                </a:solidFill>
                <a:latin typeface="Calibri" pitchFamily="34" charset="0"/>
                <a:ea typeface="Calibri" pitchFamily="34" charset="-122"/>
                <a:cs typeface="Calibri" pitchFamily="34" charset="-120"/>
              </a:rPr>
              <a:t>Tabla compartida entre todos los nodos. Lectura frecuente desde cualquier oficina; escritura infrecuente.</a:t>
            </a:r>
            <a:endParaRPr lang="en-US" dirty="0"/>
          </a:p>
        </p:txBody>
      </p:sp>
      <p:sp>
        <p:nvSpPr>
          <p:cNvPr id="10" name="Text 8"/>
          <p:cNvSpPr/>
          <p:nvPr/>
        </p:nvSpPr>
        <p:spPr>
          <a:xfrm>
            <a:off x="8229600" y="1417320"/>
            <a:ext cx="3337560" cy="274320"/>
          </a:xfrm>
          <a:prstGeom prst="rect">
            <a:avLst/>
          </a:prstGeom>
          <a:noFill/>
          <a:ln/>
        </p:spPr>
        <p:txBody>
          <a:bodyPr wrap="square" lIns="0" tIns="0" rIns="0" bIns="0" rtlCol="0" anchor="ctr"/>
          <a:lstStyle/>
          <a:p>
            <a:pPr marL="0" indent="0">
              <a:buNone/>
            </a:pPr>
            <a:r>
              <a:rPr lang="en-US" b="1" dirty="0">
                <a:solidFill>
                  <a:srgbClr val="4FAE60"/>
                </a:solidFill>
                <a:latin typeface="Calibri" pitchFamily="34" charset="0"/>
                <a:ea typeface="Calibri" pitchFamily="34" charset="-122"/>
                <a:cs typeface="Calibri" pitchFamily="34" charset="-120"/>
              </a:rPr>
              <a:t>Justificacion</a:t>
            </a:r>
            <a:endParaRPr lang="en-US" dirty="0"/>
          </a:p>
        </p:txBody>
      </p:sp>
      <p:sp>
        <p:nvSpPr>
          <p:cNvPr id="11" name="Text 9"/>
          <p:cNvSpPr/>
          <p:nvPr/>
        </p:nvSpPr>
        <p:spPr>
          <a:xfrm>
            <a:off x="8229600" y="1645920"/>
            <a:ext cx="3337560" cy="1097280"/>
          </a:xfrm>
          <a:prstGeom prst="rect">
            <a:avLst/>
          </a:prstGeom>
          <a:noFill/>
          <a:ln/>
        </p:spPr>
        <p:txBody>
          <a:bodyPr wrap="square" rtlCol="0" anchor="ctr"/>
          <a:lstStyle/>
          <a:p>
            <a:pPr marL="0" indent="0">
              <a:buNone/>
            </a:pPr>
            <a:r>
              <a:rPr lang="en-US" i="1" dirty="0">
                <a:solidFill>
                  <a:srgbClr val="1A1A1A"/>
                </a:solidFill>
                <a:latin typeface="Calibri" pitchFamily="34" charset="0"/>
                <a:ea typeface="Calibri" pitchFamily="34" charset="-122"/>
                <a:cs typeface="Calibri" pitchFamily="34" charset="-120"/>
              </a:rPr>
              <a:t>El cliente del Banco del Austro puede operar desde cualquier sucursal. Localmente leer al cliente debe ser inmediato.</a:t>
            </a:r>
            <a:endParaRPr lang="en-US" dirty="0"/>
          </a:p>
        </p:txBody>
      </p:sp>
      <p:sp>
        <p:nvSpPr>
          <p:cNvPr id="12" name="Shape 10"/>
          <p:cNvSpPr/>
          <p:nvPr/>
        </p:nvSpPr>
        <p:spPr>
          <a:xfrm>
            <a:off x="548640" y="2971800"/>
            <a:ext cx="11064240" cy="1554480"/>
          </a:xfrm>
          <a:prstGeom prst="roundRect">
            <a:avLst>
              <a:gd name="adj" fmla="val 4706"/>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sz="3200"/>
          </a:p>
        </p:txBody>
      </p:sp>
      <p:sp>
        <p:nvSpPr>
          <p:cNvPr id="13" name="Shape 11"/>
          <p:cNvSpPr/>
          <p:nvPr/>
        </p:nvSpPr>
        <p:spPr>
          <a:xfrm>
            <a:off x="548640" y="2971800"/>
            <a:ext cx="2286000" cy="1554480"/>
          </a:xfrm>
          <a:prstGeom prst="roundRect">
            <a:avLst>
              <a:gd name="adj" fmla="val 4706"/>
            </a:avLst>
          </a:prstGeom>
          <a:solidFill>
            <a:srgbClr val="2E86A1"/>
          </a:solidFill>
          <a:ln/>
        </p:spPr>
        <p:txBody>
          <a:bodyPr/>
          <a:lstStyle/>
          <a:p>
            <a:endParaRPr lang="es-US" sz="3200"/>
          </a:p>
        </p:txBody>
      </p:sp>
      <p:sp>
        <p:nvSpPr>
          <p:cNvPr id="14" name="Text 12"/>
          <p:cNvSpPr/>
          <p:nvPr/>
        </p:nvSpPr>
        <p:spPr>
          <a:xfrm>
            <a:off x="548640" y="2971800"/>
            <a:ext cx="2286000" cy="82296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CUENTAS</a:t>
            </a:r>
            <a:endParaRPr lang="en-US" sz="2400" dirty="0"/>
          </a:p>
        </p:txBody>
      </p:sp>
      <p:sp>
        <p:nvSpPr>
          <p:cNvPr id="15" name="Text 13"/>
          <p:cNvSpPr/>
          <p:nvPr/>
        </p:nvSpPr>
        <p:spPr>
          <a:xfrm>
            <a:off x="548640" y="3749040"/>
            <a:ext cx="2286000" cy="731520"/>
          </a:xfrm>
          <a:prstGeom prst="rect">
            <a:avLst/>
          </a:prstGeom>
          <a:noFill/>
          <a:ln/>
        </p:spPr>
        <p:txBody>
          <a:bodyPr wrap="square" lIns="0" tIns="0" rIns="0" bIns="0" rtlCol="0" anchor="ctr"/>
          <a:lstStyle/>
          <a:p>
            <a:pPr marL="0" indent="0" algn="ctr">
              <a:buNone/>
            </a:pPr>
            <a:r>
              <a:rPr lang="en-US" sz="1600" i="1" dirty="0">
                <a:solidFill>
                  <a:srgbClr val="FFFFFF"/>
                </a:solidFill>
                <a:latin typeface="Calibri" pitchFamily="34" charset="0"/>
                <a:ea typeface="Calibri" pitchFamily="34" charset="-122"/>
                <a:cs typeface="Calibri" pitchFamily="34" charset="-120"/>
              </a:rPr>
              <a:t>FRAGMENTADA HORIZONTAL + REPLICADA</a:t>
            </a:r>
            <a:endParaRPr lang="en-US" sz="1600" dirty="0"/>
          </a:p>
        </p:txBody>
      </p:sp>
      <p:sp>
        <p:nvSpPr>
          <p:cNvPr id="16" name="Text 14"/>
          <p:cNvSpPr/>
          <p:nvPr/>
        </p:nvSpPr>
        <p:spPr>
          <a:xfrm>
            <a:off x="3017520" y="3108960"/>
            <a:ext cx="5029200" cy="274320"/>
          </a:xfrm>
          <a:prstGeom prst="rect">
            <a:avLst/>
          </a:prstGeom>
          <a:noFill/>
          <a:ln/>
        </p:spPr>
        <p:txBody>
          <a:bodyPr wrap="square" lIns="0" tIns="0" rIns="0" bIns="0" rtlCol="0" anchor="ctr"/>
          <a:lstStyle/>
          <a:p>
            <a:pPr marL="0" indent="0">
              <a:buNone/>
            </a:pPr>
            <a:r>
              <a:rPr lang="en-US" b="1" dirty="0">
                <a:solidFill>
                  <a:srgbClr val="2E86A1"/>
                </a:solidFill>
                <a:latin typeface="Calibri" pitchFamily="34" charset="0"/>
                <a:ea typeface="Calibri" pitchFamily="34" charset="-122"/>
                <a:cs typeface="Calibri" pitchFamily="34" charset="-120"/>
              </a:rPr>
              <a:t>Estrategia</a:t>
            </a:r>
            <a:endParaRPr lang="en-US" dirty="0"/>
          </a:p>
        </p:txBody>
      </p:sp>
      <p:sp>
        <p:nvSpPr>
          <p:cNvPr id="17" name="Text 15"/>
          <p:cNvSpPr/>
          <p:nvPr/>
        </p:nvSpPr>
        <p:spPr>
          <a:xfrm>
            <a:off x="3017520" y="3337560"/>
            <a:ext cx="5029200" cy="1097280"/>
          </a:xfrm>
          <a:prstGeom prst="rect">
            <a:avLst/>
          </a:prstGeom>
          <a:noFill/>
          <a:ln/>
        </p:spPr>
        <p:txBody>
          <a:bodyPr wrap="square" rtlCol="0" anchor="ctr"/>
          <a:lstStyle/>
          <a:p>
            <a:pPr marL="0" indent="0">
              <a:buNone/>
            </a:pPr>
            <a:r>
              <a:rPr lang="en-US" dirty="0">
                <a:solidFill>
                  <a:srgbClr val="1A1A1A"/>
                </a:solidFill>
                <a:latin typeface="Calibri" pitchFamily="34" charset="0"/>
                <a:ea typeface="Calibri" pitchFamily="34" charset="-122"/>
                <a:cs typeface="Calibri" pitchFamily="34" charset="-120"/>
              </a:rPr>
              <a:t>Fragmentos por oficina (F_Cuenca, F_Quito) con replicacion en la sede central.</a:t>
            </a:r>
            <a:endParaRPr lang="en-US" dirty="0"/>
          </a:p>
        </p:txBody>
      </p:sp>
      <p:sp>
        <p:nvSpPr>
          <p:cNvPr id="18" name="Text 16"/>
          <p:cNvSpPr/>
          <p:nvPr/>
        </p:nvSpPr>
        <p:spPr>
          <a:xfrm>
            <a:off x="8229600" y="3108960"/>
            <a:ext cx="3337560" cy="274320"/>
          </a:xfrm>
          <a:prstGeom prst="rect">
            <a:avLst/>
          </a:prstGeom>
          <a:noFill/>
          <a:ln/>
        </p:spPr>
        <p:txBody>
          <a:bodyPr wrap="square" lIns="0" tIns="0" rIns="0" bIns="0" rtlCol="0" anchor="ctr"/>
          <a:lstStyle/>
          <a:p>
            <a:pPr marL="0" indent="0">
              <a:buNone/>
            </a:pPr>
            <a:r>
              <a:rPr lang="en-US" b="1" dirty="0">
                <a:solidFill>
                  <a:srgbClr val="4FAE60"/>
                </a:solidFill>
                <a:latin typeface="Calibri" pitchFamily="34" charset="0"/>
                <a:ea typeface="Calibri" pitchFamily="34" charset="-122"/>
                <a:cs typeface="Calibri" pitchFamily="34" charset="-120"/>
              </a:rPr>
              <a:t>Justificacion</a:t>
            </a:r>
            <a:endParaRPr lang="en-US" dirty="0"/>
          </a:p>
        </p:txBody>
      </p:sp>
      <p:sp>
        <p:nvSpPr>
          <p:cNvPr id="19" name="Text 17"/>
          <p:cNvSpPr/>
          <p:nvPr/>
        </p:nvSpPr>
        <p:spPr>
          <a:xfrm>
            <a:off x="8229600" y="3337560"/>
            <a:ext cx="3337560" cy="1097280"/>
          </a:xfrm>
          <a:prstGeom prst="rect">
            <a:avLst/>
          </a:prstGeom>
          <a:noFill/>
          <a:ln/>
        </p:spPr>
        <p:txBody>
          <a:bodyPr wrap="square" rtlCol="0" anchor="ctr"/>
          <a:lstStyle/>
          <a:p>
            <a:pPr marL="0" indent="0">
              <a:buNone/>
            </a:pPr>
            <a:r>
              <a:rPr lang="en-US" i="1" dirty="0">
                <a:solidFill>
                  <a:srgbClr val="1A1A1A"/>
                </a:solidFill>
                <a:latin typeface="Calibri" pitchFamily="34" charset="0"/>
                <a:ea typeface="Calibri" pitchFamily="34" charset="-122"/>
                <a:cs typeface="Calibri" pitchFamily="34" charset="-120"/>
              </a:rPr>
              <a:t>Localidad para operaciones del titular en su oficina principal, pero la sede puede auditar todo.</a:t>
            </a:r>
            <a:endParaRPr lang="en-US" dirty="0"/>
          </a:p>
        </p:txBody>
      </p:sp>
      <p:sp>
        <p:nvSpPr>
          <p:cNvPr id="20" name="Shape 18"/>
          <p:cNvSpPr/>
          <p:nvPr/>
        </p:nvSpPr>
        <p:spPr>
          <a:xfrm>
            <a:off x="548640" y="4663440"/>
            <a:ext cx="11064240" cy="1554480"/>
          </a:xfrm>
          <a:prstGeom prst="roundRect">
            <a:avLst>
              <a:gd name="adj" fmla="val 4706"/>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sz="3200"/>
          </a:p>
        </p:txBody>
      </p:sp>
      <p:sp>
        <p:nvSpPr>
          <p:cNvPr id="21" name="Shape 19"/>
          <p:cNvSpPr/>
          <p:nvPr/>
        </p:nvSpPr>
        <p:spPr>
          <a:xfrm>
            <a:off x="548640" y="4663440"/>
            <a:ext cx="2286000" cy="1554480"/>
          </a:xfrm>
          <a:prstGeom prst="roundRect">
            <a:avLst>
              <a:gd name="adj" fmla="val 4706"/>
            </a:avLst>
          </a:prstGeom>
          <a:solidFill>
            <a:srgbClr val="4FAE60"/>
          </a:solidFill>
          <a:ln/>
        </p:spPr>
        <p:txBody>
          <a:bodyPr/>
          <a:lstStyle/>
          <a:p>
            <a:endParaRPr lang="es-US" sz="3200"/>
          </a:p>
        </p:txBody>
      </p:sp>
      <p:sp>
        <p:nvSpPr>
          <p:cNvPr id="22" name="Text 20"/>
          <p:cNvSpPr/>
          <p:nvPr/>
        </p:nvSpPr>
        <p:spPr>
          <a:xfrm>
            <a:off x="548640" y="4663440"/>
            <a:ext cx="2286000" cy="82296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TRANSACCIONES</a:t>
            </a:r>
            <a:endParaRPr lang="en-US" sz="2400" dirty="0"/>
          </a:p>
        </p:txBody>
      </p:sp>
      <p:sp>
        <p:nvSpPr>
          <p:cNvPr id="23" name="Text 21"/>
          <p:cNvSpPr/>
          <p:nvPr/>
        </p:nvSpPr>
        <p:spPr>
          <a:xfrm>
            <a:off x="548640" y="5440680"/>
            <a:ext cx="2286000" cy="731520"/>
          </a:xfrm>
          <a:prstGeom prst="rect">
            <a:avLst/>
          </a:prstGeom>
          <a:noFill/>
          <a:ln/>
        </p:spPr>
        <p:txBody>
          <a:bodyPr wrap="square" lIns="0" tIns="0" rIns="0" bIns="0" rtlCol="0" anchor="ctr"/>
          <a:lstStyle/>
          <a:p>
            <a:pPr marL="0" indent="0" algn="ctr">
              <a:buNone/>
            </a:pPr>
            <a:r>
              <a:rPr lang="en-US" sz="1600" i="1" dirty="0">
                <a:solidFill>
                  <a:srgbClr val="FFFFFF"/>
                </a:solidFill>
                <a:latin typeface="Calibri" pitchFamily="34" charset="0"/>
                <a:ea typeface="Calibri" pitchFamily="34" charset="-122"/>
                <a:cs typeface="Calibri" pitchFamily="34" charset="-120"/>
              </a:rPr>
              <a:t>FRAGMENTADA HORIZONTAL</a:t>
            </a:r>
            <a:endParaRPr lang="en-US" sz="1600" dirty="0"/>
          </a:p>
        </p:txBody>
      </p:sp>
      <p:sp>
        <p:nvSpPr>
          <p:cNvPr id="24" name="Text 22"/>
          <p:cNvSpPr/>
          <p:nvPr/>
        </p:nvSpPr>
        <p:spPr>
          <a:xfrm>
            <a:off x="3017520" y="4800600"/>
            <a:ext cx="5029200" cy="274320"/>
          </a:xfrm>
          <a:prstGeom prst="rect">
            <a:avLst/>
          </a:prstGeom>
          <a:noFill/>
          <a:ln/>
        </p:spPr>
        <p:txBody>
          <a:bodyPr wrap="square" lIns="0" tIns="0" rIns="0" bIns="0" rtlCol="0" anchor="ctr"/>
          <a:lstStyle/>
          <a:p>
            <a:pPr marL="0" indent="0">
              <a:buNone/>
            </a:pPr>
            <a:r>
              <a:rPr lang="en-US" b="1" dirty="0">
                <a:solidFill>
                  <a:srgbClr val="4FAE60"/>
                </a:solidFill>
                <a:latin typeface="Calibri" pitchFamily="34" charset="0"/>
                <a:ea typeface="Calibri" pitchFamily="34" charset="-122"/>
                <a:cs typeface="Calibri" pitchFamily="34" charset="-120"/>
              </a:rPr>
              <a:t>Estrategia</a:t>
            </a:r>
            <a:endParaRPr lang="en-US" dirty="0"/>
          </a:p>
        </p:txBody>
      </p:sp>
      <p:sp>
        <p:nvSpPr>
          <p:cNvPr id="25" name="Text 23"/>
          <p:cNvSpPr/>
          <p:nvPr/>
        </p:nvSpPr>
        <p:spPr>
          <a:xfrm>
            <a:off x="3017520" y="5029200"/>
            <a:ext cx="5029200" cy="1097280"/>
          </a:xfrm>
          <a:prstGeom prst="rect">
            <a:avLst/>
          </a:prstGeom>
          <a:noFill/>
          <a:ln/>
        </p:spPr>
        <p:txBody>
          <a:bodyPr wrap="square" rtlCol="0" anchor="ctr"/>
          <a:lstStyle/>
          <a:p>
            <a:pPr marL="0" indent="0">
              <a:buNone/>
            </a:pPr>
            <a:r>
              <a:rPr lang="en-US" dirty="0">
                <a:solidFill>
                  <a:srgbClr val="1A1A1A"/>
                </a:solidFill>
                <a:latin typeface="Calibri" pitchFamily="34" charset="0"/>
                <a:ea typeface="Calibri" pitchFamily="34" charset="-122"/>
                <a:cs typeface="Calibri" pitchFamily="34" charset="-120"/>
              </a:rPr>
              <a:t>Fragmentos por oficina, sin replicacion. Log de operaciones locales.</a:t>
            </a:r>
            <a:endParaRPr lang="en-US" dirty="0"/>
          </a:p>
        </p:txBody>
      </p:sp>
      <p:sp>
        <p:nvSpPr>
          <p:cNvPr id="26" name="Text 24"/>
          <p:cNvSpPr/>
          <p:nvPr/>
        </p:nvSpPr>
        <p:spPr>
          <a:xfrm>
            <a:off x="8229600" y="4800600"/>
            <a:ext cx="3337560" cy="274320"/>
          </a:xfrm>
          <a:prstGeom prst="rect">
            <a:avLst/>
          </a:prstGeom>
          <a:noFill/>
          <a:ln/>
        </p:spPr>
        <p:txBody>
          <a:bodyPr wrap="square" lIns="0" tIns="0" rIns="0" bIns="0" rtlCol="0" anchor="ctr"/>
          <a:lstStyle/>
          <a:p>
            <a:pPr marL="0" indent="0">
              <a:buNone/>
            </a:pPr>
            <a:r>
              <a:rPr lang="en-US" b="1" dirty="0">
                <a:solidFill>
                  <a:srgbClr val="4FAE60"/>
                </a:solidFill>
                <a:latin typeface="Calibri" pitchFamily="34" charset="0"/>
                <a:ea typeface="Calibri" pitchFamily="34" charset="-122"/>
                <a:cs typeface="Calibri" pitchFamily="34" charset="-120"/>
              </a:rPr>
              <a:t>Justificacion</a:t>
            </a:r>
            <a:endParaRPr lang="en-US" dirty="0"/>
          </a:p>
        </p:txBody>
      </p:sp>
      <p:sp>
        <p:nvSpPr>
          <p:cNvPr id="27" name="Text 25"/>
          <p:cNvSpPr/>
          <p:nvPr/>
        </p:nvSpPr>
        <p:spPr>
          <a:xfrm>
            <a:off x="8229600" y="5029200"/>
            <a:ext cx="3337560" cy="1097280"/>
          </a:xfrm>
          <a:prstGeom prst="rect">
            <a:avLst/>
          </a:prstGeom>
          <a:noFill/>
          <a:ln/>
        </p:spPr>
        <p:txBody>
          <a:bodyPr wrap="square" rtlCol="0" anchor="ctr"/>
          <a:lstStyle/>
          <a:p>
            <a:pPr marL="0" indent="0">
              <a:buNone/>
            </a:pPr>
            <a:r>
              <a:rPr lang="en-US" i="1" dirty="0">
                <a:solidFill>
                  <a:srgbClr val="1A1A1A"/>
                </a:solidFill>
                <a:latin typeface="Calibri" pitchFamily="34" charset="0"/>
                <a:ea typeface="Calibri" pitchFamily="34" charset="-122"/>
                <a:cs typeface="Calibri" pitchFamily="34" charset="-120"/>
              </a:rPr>
              <a:t>Cada oficina mantiene su historial. Si se necesita reporte global, se hace via union distribuida.</a:t>
            </a:r>
            <a:endParaRPr lang="en-US" dirty="0"/>
          </a:p>
        </p:txBody>
      </p:sp>
      <p:sp>
        <p:nvSpPr>
          <p:cNvPr id="28" name="Text 26"/>
          <p:cNvSpPr/>
          <p:nvPr/>
        </p:nvSpPr>
        <p:spPr>
          <a:xfrm>
            <a:off x="457200" y="6492240"/>
            <a:ext cx="8229600" cy="274320"/>
          </a:xfrm>
          <a:prstGeom prst="rect">
            <a:avLst/>
          </a:prstGeom>
          <a:noFill/>
          <a:ln/>
        </p:spPr>
        <p:txBody>
          <a:bodyPr wrap="square" rtlCol="0" anchor="ctr"/>
          <a:lstStyle/>
          <a:p>
            <a:pPr marL="0" indent="0">
              <a:buNone/>
            </a:pPr>
            <a:r>
              <a:rPr lang="en-US" sz="900" dirty="0">
                <a:solidFill>
                  <a:srgbClr val="4A4A4A"/>
                </a:solidFill>
                <a:latin typeface="Calibri" pitchFamily="34" charset="0"/>
                <a:ea typeface="Calibri" pitchFamily="34" charset="-122"/>
                <a:cs typeface="Calibri" pitchFamily="34" charset="-120"/>
              </a:rPr>
              <a:t>UTEQ - Aplicaciones Distribuidas (ISR-701) - Unidad 3</a:t>
            </a:r>
            <a:endParaRPr lang="en-US" sz="900" dirty="0"/>
          </a:p>
        </p:txBody>
      </p:sp>
      <p:sp>
        <p:nvSpPr>
          <p:cNvPr id="29" name="Text 27"/>
          <p:cNvSpPr/>
          <p:nvPr/>
        </p:nvSpPr>
        <p:spPr>
          <a:xfrm>
            <a:off x="10789920" y="6492240"/>
            <a:ext cx="914400" cy="274320"/>
          </a:xfrm>
          <a:prstGeom prst="rect">
            <a:avLst/>
          </a:prstGeom>
          <a:noFill/>
          <a:ln/>
        </p:spPr>
        <p:txBody>
          <a:bodyPr wrap="square"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35 / 42</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marL="0" indent="0">
              <a:buNone/>
            </a:pPr>
            <a:r>
              <a:rPr lang="en-US" sz="3600" b="1" dirty="0">
                <a:solidFill>
                  <a:srgbClr val="0E3F7E"/>
                </a:solidFill>
                <a:latin typeface="Calibri" pitchFamily="34" charset="0"/>
                <a:ea typeface="Calibri" pitchFamily="34" charset="-122"/>
                <a:cs typeface="Calibri" pitchFamily="34" charset="-120"/>
              </a:rPr>
              <a:t>Paso 1: levantamiento del cluster con Docker Compose</a:t>
            </a:r>
            <a:endParaRPr lang="en-US" sz="3600" dirty="0"/>
          </a:p>
        </p:txBody>
      </p:sp>
      <p:sp>
        <p:nvSpPr>
          <p:cNvPr id="3" name="Text 1"/>
          <p:cNvSpPr/>
          <p:nvPr/>
        </p:nvSpPr>
        <p:spPr>
          <a:xfrm>
            <a:off x="457200" y="777240"/>
            <a:ext cx="11247120" cy="320040"/>
          </a:xfrm>
          <a:prstGeom prst="rect">
            <a:avLst/>
          </a:prstGeom>
          <a:noFill/>
          <a:ln/>
        </p:spPr>
        <p:txBody>
          <a:bodyPr wrap="square" lIns="0" tIns="0" rIns="0" bIns="0" rtlCol="0" anchor="ctr"/>
          <a:lstStyle/>
          <a:p>
            <a:pPr marL="0" indent="0">
              <a:buNone/>
            </a:pPr>
            <a:r>
              <a:rPr lang="en-US" sz="2400" i="1" dirty="0">
                <a:solidFill>
                  <a:srgbClr val="2E86A1"/>
                </a:solidFill>
                <a:latin typeface="Calibri" pitchFamily="34" charset="0"/>
                <a:ea typeface="Calibri" pitchFamily="34" charset="-122"/>
                <a:cs typeface="Calibri" pitchFamily="34" charset="-120"/>
              </a:rPr>
              <a:t>Dos nodos PostgreSQL 16 en contenedores</a:t>
            </a:r>
            <a:endParaRPr lang="en-US" sz="2400" dirty="0"/>
          </a:p>
        </p:txBody>
      </p:sp>
      <p:sp>
        <p:nvSpPr>
          <p:cNvPr id="4" name="Shape 2"/>
          <p:cNvSpPr/>
          <p:nvPr/>
        </p:nvSpPr>
        <p:spPr>
          <a:xfrm>
            <a:off x="548640" y="1280160"/>
            <a:ext cx="5029200" cy="5120640"/>
          </a:xfrm>
          <a:prstGeom prst="roundRect">
            <a:avLst>
              <a:gd name="adj" fmla="val 1455"/>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sz="3200"/>
          </a:p>
        </p:txBody>
      </p:sp>
      <p:sp>
        <p:nvSpPr>
          <p:cNvPr id="5" name="Text 3"/>
          <p:cNvSpPr/>
          <p:nvPr/>
        </p:nvSpPr>
        <p:spPr>
          <a:xfrm>
            <a:off x="777240" y="1417320"/>
            <a:ext cx="4572000" cy="365760"/>
          </a:xfrm>
          <a:prstGeom prst="rect">
            <a:avLst/>
          </a:prstGeom>
          <a:noFill/>
          <a:ln/>
        </p:spPr>
        <p:txBody>
          <a:bodyPr wrap="square" lIns="0" tIns="0" rIns="0" bIns="0" rtlCol="0" anchor="ctr"/>
          <a:lstStyle/>
          <a:p>
            <a:pPr marL="0" indent="0">
              <a:buNone/>
            </a:pPr>
            <a:r>
              <a:rPr lang="en-US" sz="2400" b="1" dirty="0">
                <a:solidFill>
                  <a:srgbClr val="0E3F7E"/>
                </a:solidFill>
                <a:latin typeface="Calibri" pitchFamily="34" charset="0"/>
                <a:ea typeface="Calibri" pitchFamily="34" charset="-122"/>
                <a:cs typeface="Calibri" pitchFamily="34" charset="-120"/>
              </a:rPr>
              <a:t>Arquitectura del cluster</a:t>
            </a:r>
            <a:endParaRPr lang="en-US" sz="2400" dirty="0"/>
          </a:p>
        </p:txBody>
      </p:sp>
      <p:sp>
        <p:nvSpPr>
          <p:cNvPr id="6" name="Shape 4"/>
          <p:cNvSpPr/>
          <p:nvPr/>
        </p:nvSpPr>
        <p:spPr>
          <a:xfrm>
            <a:off x="914400" y="2011680"/>
            <a:ext cx="4297680" cy="4114800"/>
          </a:xfrm>
          <a:prstGeom prst="rect">
            <a:avLst/>
          </a:prstGeom>
          <a:solidFill>
            <a:srgbClr val="EAF1FB"/>
          </a:solidFill>
          <a:ln w="19050">
            <a:solidFill>
              <a:srgbClr val="0E3F7E"/>
            </a:solidFill>
            <a:prstDash val="dash"/>
          </a:ln>
        </p:spPr>
        <p:txBody>
          <a:bodyPr/>
          <a:lstStyle/>
          <a:p>
            <a:endParaRPr lang="es-US" sz="3200"/>
          </a:p>
        </p:txBody>
      </p:sp>
      <p:sp>
        <p:nvSpPr>
          <p:cNvPr id="7" name="Text 5"/>
          <p:cNvSpPr/>
          <p:nvPr/>
        </p:nvSpPr>
        <p:spPr>
          <a:xfrm>
            <a:off x="914400" y="2057400"/>
            <a:ext cx="4297680" cy="274320"/>
          </a:xfrm>
          <a:prstGeom prst="rect">
            <a:avLst/>
          </a:prstGeom>
          <a:noFill/>
          <a:ln/>
        </p:spPr>
        <p:txBody>
          <a:bodyPr wrap="square" lIns="0" tIns="0" rIns="0" bIns="0" rtlCol="0" anchor="ctr"/>
          <a:lstStyle/>
          <a:p>
            <a:pPr marL="0" indent="0" algn="ctr">
              <a:buNone/>
            </a:pPr>
            <a:r>
              <a:rPr lang="en-US" i="1" dirty="0">
                <a:solidFill>
                  <a:srgbClr val="0E3F7E"/>
                </a:solidFill>
                <a:latin typeface="Calibri" pitchFamily="34" charset="0"/>
                <a:ea typeface="Calibri" pitchFamily="34" charset="-122"/>
                <a:cs typeface="Calibri" pitchFamily="34" charset="-120"/>
              </a:rPr>
              <a:t>banco_net (bridge)</a:t>
            </a:r>
            <a:endParaRPr lang="en-US" dirty="0"/>
          </a:p>
        </p:txBody>
      </p:sp>
      <p:sp>
        <p:nvSpPr>
          <p:cNvPr id="8" name="Shape 6"/>
          <p:cNvSpPr/>
          <p:nvPr/>
        </p:nvSpPr>
        <p:spPr>
          <a:xfrm>
            <a:off x="1188720" y="2560320"/>
            <a:ext cx="3749040" cy="1554480"/>
          </a:xfrm>
          <a:prstGeom prst="roundRect">
            <a:avLst>
              <a:gd name="adj" fmla="val 5882"/>
            </a:avLst>
          </a:prstGeom>
          <a:solidFill>
            <a:srgbClr val="FFFFFF"/>
          </a:solidFill>
          <a:ln w="25400">
            <a:solidFill>
              <a:srgbClr val="2E86A1"/>
            </a:solidFill>
            <a:prstDash val="solid"/>
          </a:ln>
        </p:spPr>
        <p:txBody>
          <a:bodyPr/>
          <a:lstStyle/>
          <a:p>
            <a:endParaRPr lang="es-US" sz="3200"/>
          </a:p>
        </p:txBody>
      </p:sp>
      <p:sp>
        <p:nvSpPr>
          <p:cNvPr id="9" name="Text 7"/>
          <p:cNvSpPr/>
          <p:nvPr/>
        </p:nvSpPr>
        <p:spPr>
          <a:xfrm>
            <a:off x="1188720" y="2606040"/>
            <a:ext cx="3749040" cy="365760"/>
          </a:xfrm>
          <a:prstGeom prst="rect">
            <a:avLst/>
          </a:prstGeom>
          <a:noFill/>
          <a:ln/>
        </p:spPr>
        <p:txBody>
          <a:bodyPr wrap="square" lIns="0" tIns="0" rIns="0" bIns="0" rtlCol="0" anchor="ctr"/>
          <a:lstStyle/>
          <a:p>
            <a:pPr marL="0" indent="0" algn="ctr">
              <a:buNone/>
            </a:pPr>
            <a:r>
              <a:rPr lang="en-US" sz="2000" b="1" dirty="0">
                <a:solidFill>
                  <a:srgbClr val="2E86A1"/>
                </a:solidFill>
                <a:latin typeface="Calibri" pitchFamily="34" charset="0"/>
                <a:ea typeface="Calibri" pitchFamily="34" charset="-122"/>
                <a:cs typeface="Calibri" pitchFamily="34" charset="-120"/>
              </a:rPr>
              <a:t>pg-cuenca</a:t>
            </a:r>
            <a:endParaRPr lang="en-US" sz="2000" dirty="0"/>
          </a:p>
        </p:txBody>
      </p:sp>
      <p:sp>
        <p:nvSpPr>
          <p:cNvPr id="10" name="Text 8"/>
          <p:cNvSpPr/>
          <p:nvPr/>
        </p:nvSpPr>
        <p:spPr>
          <a:xfrm>
            <a:off x="1280160" y="3017520"/>
            <a:ext cx="3566160" cy="1005840"/>
          </a:xfrm>
          <a:prstGeom prst="rect">
            <a:avLst/>
          </a:prstGeom>
          <a:noFill/>
          <a:ln/>
        </p:spPr>
        <p:txBody>
          <a:bodyPr wrap="square" rtlCol="0" anchor="ctr"/>
          <a:lstStyle/>
          <a:p>
            <a:pPr marL="0" indent="0">
              <a:buNone/>
            </a:pPr>
            <a:r>
              <a:rPr lang="en-US" dirty="0">
                <a:solidFill>
                  <a:srgbClr val="4A4A4A"/>
                </a:solidFill>
                <a:latin typeface="Calibri" pitchFamily="34" charset="0"/>
                <a:ea typeface="Calibri" pitchFamily="34" charset="-122"/>
                <a:cs typeface="Calibri" pitchFamily="34" charset="-120"/>
              </a:rPr>
              <a:t>postgres:16-alpine</a:t>
            </a:r>
            <a:endParaRPr lang="en-US" dirty="0"/>
          </a:p>
          <a:p>
            <a:pPr marL="0" indent="0">
              <a:buNone/>
            </a:pPr>
            <a:r>
              <a:rPr lang="en-US" dirty="0">
                <a:solidFill>
                  <a:srgbClr val="1A1A1A"/>
                </a:solidFill>
                <a:latin typeface="Calibri" pitchFamily="34" charset="0"/>
                <a:ea typeface="Calibri" pitchFamily="34" charset="-122"/>
                <a:cs typeface="Calibri" pitchFamily="34" charset="-120"/>
              </a:rPr>
              <a:t>Puerto: 5432:5432</a:t>
            </a:r>
            <a:endParaRPr lang="en-US" dirty="0"/>
          </a:p>
          <a:p>
            <a:pPr marL="0" indent="0">
              <a:buNone/>
            </a:pPr>
            <a:r>
              <a:rPr lang="en-US" dirty="0">
                <a:solidFill>
                  <a:srgbClr val="1A1A1A"/>
                </a:solidFill>
                <a:latin typeface="Calibri" pitchFamily="34" charset="0"/>
                <a:ea typeface="Calibri" pitchFamily="34" charset="-122"/>
                <a:cs typeface="Calibri" pitchFamily="34" charset="-120"/>
              </a:rPr>
              <a:t>BD: banco_cuenca</a:t>
            </a:r>
            <a:endParaRPr lang="en-US" dirty="0"/>
          </a:p>
        </p:txBody>
      </p:sp>
      <p:sp>
        <p:nvSpPr>
          <p:cNvPr id="11" name="Shape 9"/>
          <p:cNvSpPr/>
          <p:nvPr/>
        </p:nvSpPr>
        <p:spPr>
          <a:xfrm>
            <a:off x="1188720" y="4297680"/>
            <a:ext cx="3749040" cy="1554480"/>
          </a:xfrm>
          <a:prstGeom prst="roundRect">
            <a:avLst>
              <a:gd name="adj" fmla="val 5882"/>
            </a:avLst>
          </a:prstGeom>
          <a:solidFill>
            <a:srgbClr val="FFFFFF"/>
          </a:solidFill>
          <a:ln w="25400">
            <a:solidFill>
              <a:srgbClr val="4FAE60"/>
            </a:solidFill>
            <a:prstDash val="solid"/>
          </a:ln>
        </p:spPr>
        <p:txBody>
          <a:bodyPr/>
          <a:lstStyle/>
          <a:p>
            <a:endParaRPr lang="es-US" sz="3200"/>
          </a:p>
        </p:txBody>
      </p:sp>
      <p:sp>
        <p:nvSpPr>
          <p:cNvPr id="12" name="Text 10"/>
          <p:cNvSpPr/>
          <p:nvPr/>
        </p:nvSpPr>
        <p:spPr>
          <a:xfrm>
            <a:off x="1188720" y="4343400"/>
            <a:ext cx="3749040" cy="365760"/>
          </a:xfrm>
          <a:prstGeom prst="rect">
            <a:avLst/>
          </a:prstGeom>
          <a:noFill/>
          <a:ln/>
        </p:spPr>
        <p:txBody>
          <a:bodyPr wrap="square" lIns="0" tIns="0" rIns="0" bIns="0" rtlCol="0" anchor="ctr"/>
          <a:lstStyle/>
          <a:p>
            <a:pPr marL="0" indent="0" algn="ctr">
              <a:buNone/>
            </a:pPr>
            <a:r>
              <a:rPr lang="en-US" sz="2000" b="1" dirty="0">
                <a:solidFill>
                  <a:srgbClr val="4FAE60"/>
                </a:solidFill>
                <a:latin typeface="Calibri" pitchFamily="34" charset="0"/>
                <a:ea typeface="Calibri" pitchFamily="34" charset="-122"/>
                <a:cs typeface="Calibri" pitchFamily="34" charset="-120"/>
              </a:rPr>
              <a:t>pg-quito</a:t>
            </a:r>
            <a:endParaRPr lang="en-US" sz="2000" dirty="0"/>
          </a:p>
        </p:txBody>
      </p:sp>
      <p:sp>
        <p:nvSpPr>
          <p:cNvPr id="13" name="Text 11"/>
          <p:cNvSpPr/>
          <p:nvPr/>
        </p:nvSpPr>
        <p:spPr>
          <a:xfrm>
            <a:off x="1280160" y="4754880"/>
            <a:ext cx="3566160" cy="1005840"/>
          </a:xfrm>
          <a:prstGeom prst="rect">
            <a:avLst/>
          </a:prstGeom>
          <a:noFill/>
          <a:ln/>
        </p:spPr>
        <p:txBody>
          <a:bodyPr wrap="square" rtlCol="0" anchor="ctr"/>
          <a:lstStyle/>
          <a:p>
            <a:pPr marL="0" indent="0">
              <a:buNone/>
            </a:pPr>
            <a:r>
              <a:rPr lang="en-US" dirty="0">
                <a:solidFill>
                  <a:srgbClr val="4A4A4A"/>
                </a:solidFill>
                <a:latin typeface="Calibri" pitchFamily="34" charset="0"/>
                <a:ea typeface="Calibri" pitchFamily="34" charset="-122"/>
                <a:cs typeface="Calibri" pitchFamily="34" charset="-120"/>
              </a:rPr>
              <a:t>postgres:16-alpine</a:t>
            </a:r>
            <a:endParaRPr lang="en-US" dirty="0"/>
          </a:p>
          <a:p>
            <a:pPr marL="0" indent="0">
              <a:buNone/>
            </a:pPr>
            <a:r>
              <a:rPr lang="en-US" dirty="0">
                <a:solidFill>
                  <a:srgbClr val="1A1A1A"/>
                </a:solidFill>
                <a:latin typeface="Calibri" pitchFamily="34" charset="0"/>
                <a:ea typeface="Calibri" pitchFamily="34" charset="-122"/>
                <a:cs typeface="Calibri" pitchFamily="34" charset="-120"/>
              </a:rPr>
              <a:t>Puerto: 5433:5432</a:t>
            </a:r>
            <a:endParaRPr lang="en-US" dirty="0"/>
          </a:p>
          <a:p>
            <a:pPr marL="0" indent="0">
              <a:buNone/>
            </a:pPr>
            <a:r>
              <a:rPr lang="en-US" dirty="0">
                <a:solidFill>
                  <a:srgbClr val="1A1A1A"/>
                </a:solidFill>
                <a:latin typeface="Calibri" pitchFamily="34" charset="0"/>
                <a:ea typeface="Calibri" pitchFamily="34" charset="-122"/>
                <a:cs typeface="Calibri" pitchFamily="34" charset="-120"/>
              </a:rPr>
              <a:t>BD: banco_quito</a:t>
            </a:r>
            <a:endParaRPr lang="en-US" dirty="0"/>
          </a:p>
        </p:txBody>
      </p:sp>
      <p:sp>
        <p:nvSpPr>
          <p:cNvPr id="14" name="Shape 12"/>
          <p:cNvSpPr/>
          <p:nvPr/>
        </p:nvSpPr>
        <p:spPr>
          <a:xfrm>
            <a:off x="5715000" y="1280160"/>
            <a:ext cx="5897880" cy="5120640"/>
          </a:xfrm>
          <a:prstGeom prst="roundRect">
            <a:avLst>
              <a:gd name="adj" fmla="val 1429"/>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sz="3200"/>
          </a:p>
        </p:txBody>
      </p:sp>
      <p:sp>
        <p:nvSpPr>
          <p:cNvPr id="15" name="Text 13"/>
          <p:cNvSpPr/>
          <p:nvPr/>
        </p:nvSpPr>
        <p:spPr>
          <a:xfrm>
            <a:off x="5943600" y="1417320"/>
            <a:ext cx="5486400" cy="365760"/>
          </a:xfrm>
          <a:prstGeom prst="rect">
            <a:avLst/>
          </a:prstGeom>
          <a:noFill/>
          <a:ln/>
        </p:spPr>
        <p:txBody>
          <a:bodyPr wrap="square" lIns="0" tIns="0" rIns="0" bIns="0" rtlCol="0" anchor="ctr"/>
          <a:lstStyle/>
          <a:p>
            <a:pPr marL="0" indent="0">
              <a:buNone/>
            </a:pPr>
            <a:r>
              <a:rPr lang="en-US" sz="2000" b="1" dirty="0">
                <a:solidFill>
                  <a:srgbClr val="4A4A4A"/>
                </a:solidFill>
                <a:latin typeface="Calibri" pitchFamily="34" charset="0"/>
                <a:ea typeface="Calibri" pitchFamily="34" charset="-122"/>
                <a:cs typeface="Calibri" pitchFamily="34" charset="-120"/>
              </a:rPr>
              <a:t>docker-compose-bdd.yml (extracto)</a:t>
            </a:r>
            <a:endParaRPr lang="en-US" sz="2000" dirty="0"/>
          </a:p>
        </p:txBody>
      </p:sp>
      <p:sp>
        <p:nvSpPr>
          <p:cNvPr id="16" name="Text 14"/>
          <p:cNvSpPr/>
          <p:nvPr/>
        </p:nvSpPr>
        <p:spPr>
          <a:xfrm>
            <a:off x="5943600" y="1783080"/>
            <a:ext cx="5486400" cy="4572000"/>
          </a:xfrm>
          <a:prstGeom prst="rect">
            <a:avLst/>
          </a:prstGeom>
          <a:noFill/>
          <a:ln/>
        </p:spPr>
        <p:txBody>
          <a:bodyPr wrap="square" rtlCol="0" anchor="ctr"/>
          <a:lstStyle/>
          <a:p>
            <a:pPr marL="0" indent="0">
              <a:buNone/>
            </a:pPr>
            <a:r>
              <a:rPr lang="en-US" b="1" dirty="0">
                <a:solidFill>
                  <a:srgbClr val="0E3F7E"/>
                </a:solidFill>
                <a:latin typeface="Courier New" pitchFamily="34" charset="0"/>
                <a:ea typeface="Courier New" pitchFamily="34" charset="-122"/>
                <a:cs typeface="Courier New" pitchFamily="34" charset="-120"/>
              </a:rPr>
              <a:t>services:</a:t>
            </a:r>
            <a:endParaRPr lang="en-US" dirty="0"/>
          </a:p>
          <a:p>
            <a:pPr marL="0" indent="0">
              <a:buNone/>
            </a:pPr>
            <a:r>
              <a:rPr lang="en-US" b="1" dirty="0">
                <a:solidFill>
                  <a:srgbClr val="2E86A1"/>
                </a:solidFill>
                <a:latin typeface="Courier New" pitchFamily="34" charset="0"/>
                <a:ea typeface="Courier New" pitchFamily="34" charset="-122"/>
                <a:cs typeface="Courier New" pitchFamily="34" charset="-120"/>
              </a:rPr>
              <a:t>  pg-cuenca:</a:t>
            </a:r>
            <a:endParaRPr lang="en-US" dirty="0"/>
          </a:p>
          <a:p>
            <a:pPr marL="0" indent="0">
              <a:buNone/>
            </a:pPr>
            <a:r>
              <a:rPr lang="en-US" dirty="0">
                <a:solidFill>
                  <a:srgbClr val="1A1A1A"/>
                </a:solidFill>
                <a:latin typeface="Courier New" pitchFamily="34" charset="0"/>
                <a:ea typeface="Courier New" pitchFamily="34" charset="-122"/>
                <a:cs typeface="Courier New" pitchFamily="34" charset="-120"/>
              </a:rPr>
              <a:t>    image: postgres:16-alpine</a:t>
            </a:r>
            <a:endParaRPr lang="en-US" dirty="0"/>
          </a:p>
          <a:p>
            <a:pPr marL="0" indent="0">
              <a:buNone/>
            </a:pPr>
            <a:r>
              <a:rPr lang="en-US" dirty="0">
                <a:solidFill>
                  <a:srgbClr val="1A1A1A"/>
                </a:solidFill>
                <a:latin typeface="Courier New" pitchFamily="34" charset="0"/>
                <a:ea typeface="Courier New" pitchFamily="34" charset="-122"/>
                <a:cs typeface="Courier New" pitchFamily="34" charset="-120"/>
              </a:rPr>
              <a:t>    container_name: pg_cuenca</a:t>
            </a:r>
            <a:endParaRPr lang="en-US" dirty="0"/>
          </a:p>
          <a:p>
            <a:pPr marL="0" indent="0">
              <a:buNone/>
            </a:pPr>
            <a:r>
              <a:rPr lang="en-US" dirty="0">
                <a:solidFill>
                  <a:srgbClr val="1A1A1A"/>
                </a:solidFill>
                <a:latin typeface="Courier New" pitchFamily="34" charset="0"/>
                <a:ea typeface="Courier New" pitchFamily="34" charset="-122"/>
                <a:cs typeface="Courier New" pitchFamily="34" charset="-120"/>
              </a:rPr>
              <a:t>    environment:</a:t>
            </a:r>
            <a:endParaRPr lang="en-US" dirty="0"/>
          </a:p>
          <a:p>
            <a:pPr marL="0" indent="0">
              <a:buNone/>
            </a:pPr>
            <a:r>
              <a:rPr lang="en-US" dirty="0">
                <a:solidFill>
                  <a:srgbClr val="1A1A1A"/>
                </a:solidFill>
                <a:latin typeface="Courier New" pitchFamily="34" charset="0"/>
                <a:ea typeface="Courier New" pitchFamily="34" charset="-122"/>
                <a:cs typeface="Courier New" pitchFamily="34" charset="-120"/>
              </a:rPr>
              <a:t>      POSTGRES_DB: banco_cuenca</a:t>
            </a:r>
            <a:endParaRPr lang="en-US" dirty="0"/>
          </a:p>
          <a:p>
            <a:pPr marL="0" indent="0">
              <a:buNone/>
            </a:pPr>
            <a:r>
              <a:rPr lang="en-US" dirty="0">
                <a:solidFill>
                  <a:srgbClr val="1A1A1A"/>
                </a:solidFill>
                <a:latin typeface="Courier New" pitchFamily="34" charset="0"/>
                <a:ea typeface="Courier New" pitchFamily="34" charset="-122"/>
                <a:cs typeface="Courier New" pitchFamily="34" charset="-120"/>
              </a:rPr>
              <a:t>      POSTGRES_USER: banco</a:t>
            </a:r>
            <a:endParaRPr lang="en-US" dirty="0"/>
          </a:p>
          <a:p>
            <a:pPr marL="0" indent="0">
              <a:buNone/>
            </a:pPr>
            <a:r>
              <a:rPr lang="en-US" dirty="0">
                <a:solidFill>
                  <a:srgbClr val="1A1A1A"/>
                </a:solidFill>
                <a:latin typeface="Courier New" pitchFamily="34" charset="0"/>
                <a:ea typeface="Courier New" pitchFamily="34" charset="-122"/>
                <a:cs typeface="Courier New" pitchFamily="34" charset="-120"/>
              </a:rPr>
              <a:t>      POSTGRES_PASSWORD: banco123</a:t>
            </a:r>
            <a:endParaRPr lang="en-US" dirty="0"/>
          </a:p>
          <a:p>
            <a:pPr marL="0" indent="0">
              <a:buNone/>
            </a:pPr>
            <a:r>
              <a:rPr lang="en-US" dirty="0">
                <a:solidFill>
                  <a:srgbClr val="1A1A1A"/>
                </a:solidFill>
                <a:latin typeface="Courier New" pitchFamily="34" charset="0"/>
                <a:ea typeface="Courier New" pitchFamily="34" charset="-122"/>
                <a:cs typeface="Courier New" pitchFamily="34" charset="-120"/>
              </a:rPr>
              <a:t>    ports:</a:t>
            </a:r>
            <a:endParaRPr lang="en-US" dirty="0"/>
          </a:p>
          <a:p>
            <a:pPr marL="0" indent="0">
              <a:buNone/>
            </a:pPr>
            <a:r>
              <a:rPr lang="en-US" dirty="0">
                <a:solidFill>
                  <a:srgbClr val="4FAE60"/>
                </a:solidFill>
                <a:latin typeface="Courier New" pitchFamily="34" charset="0"/>
                <a:ea typeface="Courier New" pitchFamily="34" charset="-122"/>
                <a:cs typeface="Courier New" pitchFamily="34" charset="-120"/>
              </a:rPr>
              <a:t>      - "5432:5432"</a:t>
            </a:r>
            <a:endParaRPr lang="en-US" dirty="0"/>
          </a:p>
          <a:p>
            <a:pPr marL="0" indent="0">
              <a:buNone/>
            </a:pPr>
            <a:r>
              <a:rPr lang="en-US" dirty="0">
                <a:solidFill>
                  <a:srgbClr val="1A1A1A"/>
                </a:solidFill>
                <a:latin typeface="Courier New" pitchFamily="34" charset="0"/>
                <a:ea typeface="Courier New" pitchFamily="34" charset="-122"/>
                <a:cs typeface="Courier New" pitchFamily="34" charset="-120"/>
              </a:rPr>
              <a:t>    volumes:</a:t>
            </a:r>
            <a:endParaRPr lang="en-US" dirty="0"/>
          </a:p>
          <a:p>
            <a:pPr marL="0" indent="0">
              <a:buNone/>
            </a:pPr>
            <a:r>
              <a:rPr lang="en-US" sz="1400" dirty="0">
                <a:solidFill>
                  <a:srgbClr val="1A1A1A"/>
                </a:solidFill>
                <a:latin typeface="Courier New" pitchFamily="34" charset="0"/>
                <a:ea typeface="Courier New" pitchFamily="34" charset="-122"/>
                <a:cs typeface="Courier New" pitchFamily="34" charset="-120"/>
              </a:rPr>
              <a:t>      - pg_cuenca_data:/var/lib/postgresql/data</a:t>
            </a:r>
            <a:endParaRPr lang="en-US" dirty="0"/>
          </a:p>
          <a:p>
            <a:pPr marL="0" indent="0">
              <a:buNone/>
            </a:pPr>
            <a:r>
              <a:rPr lang="en-US" sz="1400" dirty="0">
                <a:solidFill>
                  <a:srgbClr val="1A1A1A"/>
                </a:solidFill>
                <a:latin typeface="Courier New" pitchFamily="34" charset="0"/>
                <a:ea typeface="Courier New" pitchFamily="34" charset="-122"/>
                <a:cs typeface="Courier New" pitchFamily="34" charset="-120"/>
              </a:rPr>
              <a:t>      - ./sql/init_cuenca.sql:...</a:t>
            </a:r>
            <a:endParaRPr lang="en-US" dirty="0"/>
          </a:p>
          <a:p>
            <a:pPr marL="0" indent="0">
              <a:buNone/>
            </a:pPr>
            <a:r>
              <a:rPr lang="en-US" dirty="0">
                <a:solidFill>
                  <a:srgbClr val="1A1A1A"/>
                </a:solidFill>
                <a:latin typeface="Courier New" pitchFamily="34" charset="0"/>
                <a:ea typeface="Courier New" pitchFamily="34" charset="-122"/>
                <a:cs typeface="Courier New" pitchFamily="34" charset="-120"/>
              </a:rPr>
              <a:t>    networks: [banco_net]</a:t>
            </a:r>
            <a:endParaRPr lang="en-US" dirty="0"/>
          </a:p>
          <a:p>
            <a:pPr marL="0" indent="0">
              <a:buNone/>
            </a:pPr>
            <a:r>
              <a:rPr lang="en-US" b="1" dirty="0">
                <a:solidFill>
                  <a:srgbClr val="F2A413"/>
                </a:solidFill>
                <a:latin typeface="Courier New" pitchFamily="34" charset="0"/>
                <a:ea typeface="Courier New" pitchFamily="34" charset="-122"/>
                <a:cs typeface="Courier New" pitchFamily="34" charset="-120"/>
              </a:rPr>
              <a:t>    healthcheck:</a:t>
            </a:r>
            <a:endParaRPr lang="en-US" dirty="0"/>
          </a:p>
          <a:p>
            <a:pPr marL="0" indent="0">
              <a:buNone/>
            </a:pPr>
            <a:r>
              <a:rPr lang="en-US" sz="1400" dirty="0">
                <a:solidFill>
                  <a:srgbClr val="1A1A1A"/>
                </a:solidFill>
                <a:latin typeface="Courier New" pitchFamily="34" charset="0"/>
                <a:ea typeface="Courier New" pitchFamily="34" charset="-122"/>
                <a:cs typeface="Courier New" pitchFamily="34" charset="-120"/>
              </a:rPr>
              <a:t>      test: ["CMD-SHELL", "pg_isready -U banco"]</a:t>
            </a:r>
            <a:endParaRPr lang="en-US" dirty="0"/>
          </a:p>
        </p:txBody>
      </p:sp>
      <p:sp>
        <p:nvSpPr>
          <p:cNvPr id="17" name="Text 15"/>
          <p:cNvSpPr/>
          <p:nvPr/>
        </p:nvSpPr>
        <p:spPr>
          <a:xfrm>
            <a:off x="457200" y="6492240"/>
            <a:ext cx="8229600" cy="274320"/>
          </a:xfrm>
          <a:prstGeom prst="rect">
            <a:avLst/>
          </a:prstGeom>
          <a:noFill/>
          <a:ln/>
        </p:spPr>
        <p:txBody>
          <a:bodyPr wrap="square" rtlCol="0" anchor="ctr"/>
          <a:lstStyle/>
          <a:p>
            <a:pPr marL="0" indent="0">
              <a:buNone/>
            </a:pPr>
            <a:r>
              <a:rPr lang="en-US" sz="900" dirty="0">
                <a:solidFill>
                  <a:srgbClr val="4A4A4A"/>
                </a:solidFill>
                <a:latin typeface="Calibri" pitchFamily="34" charset="0"/>
                <a:ea typeface="Calibri" pitchFamily="34" charset="-122"/>
                <a:cs typeface="Calibri" pitchFamily="34" charset="-120"/>
              </a:rPr>
              <a:t>UTEQ - Aplicaciones Distribuidas (ISR-701) - Unidad 3</a:t>
            </a:r>
            <a:endParaRPr lang="en-US" sz="900" dirty="0"/>
          </a:p>
        </p:txBody>
      </p:sp>
      <p:sp>
        <p:nvSpPr>
          <p:cNvPr id="18" name="Text 16"/>
          <p:cNvSpPr/>
          <p:nvPr/>
        </p:nvSpPr>
        <p:spPr>
          <a:xfrm>
            <a:off x="10789920" y="6492240"/>
            <a:ext cx="914400" cy="274320"/>
          </a:xfrm>
          <a:prstGeom prst="rect">
            <a:avLst/>
          </a:prstGeom>
          <a:noFill/>
          <a:ln/>
        </p:spPr>
        <p:txBody>
          <a:bodyPr wrap="square"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36 / 42</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marL="0" indent="0">
              <a:buNone/>
            </a:pPr>
            <a:r>
              <a:rPr lang="en-US" sz="2800" b="1" dirty="0">
                <a:solidFill>
                  <a:srgbClr val="0E3F7E"/>
                </a:solidFill>
                <a:latin typeface="Calibri" pitchFamily="34" charset="0"/>
                <a:ea typeface="Calibri" pitchFamily="34" charset="-122"/>
                <a:cs typeface="Calibri" pitchFamily="34" charset="-120"/>
              </a:rPr>
              <a:t>Paso 2: catalogo distribuido en Java</a:t>
            </a:r>
            <a:endParaRPr lang="en-US" sz="2800" dirty="0"/>
          </a:p>
        </p:txBody>
      </p:sp>
      <p:sp>
        <p:nvSpPr>
          <p:cNvPr id="3" name="Text 1"/>
          <p:cNvSpPr/>
          <p:nvPr/>
        </p:nvSpPr>
        <p:spPr>
          <a:xfrm>
            <a:off x="457200" y="777240"/>
            <a:ext cx="11247120" cy="320040"/>
          </a:xfrm>
          <a:prstGeom prst="rect">
            <a:avLst/>
          </a:prstGeom>
          <a:noFill/>
          <a:ln/>
        </p:spPr>
        <p:txBody>
          <a:bodyPr wrap="square" lIns="0" tIns="0" rIns="0" bIns="0" rtlCol="0" anchor="ctr"/>
          <a:lstStyle/>
          <a:p>
            <a:pPr marL="0" indent="0">
              <a:buNone/>
            </a:pPr>
            <a:r>
              <a:rPr lang="en-US" i="1" dirty="0">
                <a:solidFill>
                  <a:srgbClr val="2E86A1"/>
                </a:solidFill>
                <a:latin typeface="Calibri" pitchFamily="34" charset="0"/>
                <a:ea typeface="Calibri" pitchFamily="34" charset="-122"/>
                <a:cs typeface="Calibri" pitchFamily="34" charset="-120"/>
              </a:rPr>
              <a:t>Componente Spring que enruta segun la distribucion</a:t>
            </a:r>
            <a:endParaRPr lang="en-US" dirty="0"/>
          </a:p>
        </p:txBody>
      </p:sp>
      <p:sp>
        <p:nvSpPr>
          <p:cNvPr id="4" name="Shape 2"/>
          <p:cNvSpPr/>
          <p:nvPr/>
        </p:nvSpPr>
        <p:spPr>
          <a:xfrm>
            <a:off x="548640" y="1280160"/>
            <a:ext cx="11064240" cy="5120640"/>
          </a:xfrm>
          <a:prstGeom prst="roundRect">
            <a:avLst>
              <a:gd name="adj" fmla="val 1429"/>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sz="2800"/>
          </a:p>
        </p:txBody>
      </p:sp>
      <p:sp>
        <p:nvSpPr>
          <p:cNvPr id="5" name="Text 3"/>
          <p:cNvSpPr/>
          <p:nvPr/>
        </p:nvSpPr>
        <p:spPr>
          <a:xfrm>
            <a:off x="777240" y="1271016"/>
            <a:ext cx="10515600" cy="365760"/>
          </a:xfrm>
          <a:prstGeom prst="rect">
            <a:avLst/>
          </a:prstGeom>
          <a:noFill/>
          <a:ln/>
        </p:spPr>
        <p:txBody>
          <a:bodyPr wrap="square" lIns="0" tIns="0" rIns="0" bIns="0" rtlCol="0" anchor="ctr"/>
          <a:lstStyle/>
          <a:p>
            <a:pPr marL="0" indent="0">
              <a:buNone/>
            </a:pPr>
            <a:r>
              <a:rPr lang="en-US" b="1" dirty="0">
                <a:solidFill>
                  <a:srgbClr val="0E3F7E"/>
                </a:solidFill>
                <a:latin typeface="Calibri" pitchFamily="34" charset="0"/>
                <a:ea typeface="Calibri" pitchFamily="34" charset="-122"/>
                <a:cs typeface="Calibri" pitchFamily="34" charset="-120"/>
              </a:rPr>
              <a:t>CatalogoDistribuido.java</a:t>
            </a:r>
            <a:endParaRPr lang="en-US" dirty="0"/>
          </a:p>
        </p:txBody>
      </p:sp>
      <p:sp>
        <p:nvSpPr>
          <p:cNvPr id="6" name="Text 4"/>
          <p:cNvSpPr/>
          <p:nvPr/>
        </p:nvSpPr>
        <p:spPr>
          <a:xfrm>
            <a:off x="777240" y="1600200"/>
            <a:ext cx="10515600" cy="4983480"/>
          </a:xfrm>
          <a:prstGeom prst="rect">
            <a:avLst/>
          </a:prstGeom>
          <a:noFill/>
          <a:ln/>
        </p:spPr>
        <p:txBody>
          <a:bodyPr wrap="square" rtlCol="0" anchor="ctr"/>
          <a:lstStyle/>
          <a:p>
            <a:pPr marL="0" indent="0">
              <a:buNone/>
            </a:pPr>
            <a:r>
              <a:rPr lang="en-US" sz="1200" dirty="0">
                <a:solidFill>
                  <a:srgbClr val="4A4A4A"/>
                </a:solidFill>
                <a:latin typeface="Courier New" pitchFamily="34" charset="0"/>
                <a:ea typeface="Courier New" pitchFamily="34" charset="-122"/>
                <a:cs typeface="Courier New" pitchFamily="34" charset="-120"/>
              </a:rPr>
              <a:t>package ec.uteq.banco.catalogo;</a:t>
            </a:r>
            <a:endParaRPr lang="en-US" sz="1200" dirty="0"/>
          </a:p>
          <a:p>
            <a:pPr marL="0" indent="0">
              <a:buNone/>
            </a:pPr>
            <a:r>
              <a:rPr lang="en-US" sz="700" dirty="0">
                <a:solidFill>
                  <a:srgbClr val="000000"/>
                </a:solidFill>
                <a:latin typeface="Courier New" pitchFamily="34" charset="0"/>
                <a:ea typeface="Courier New" pitchFamily="34" charset="-122"/>
                <a:cs typeface="Courier New" pitchFamily="34" charset="-120"/>
              </a:rPr>
              <a:t> </a:t>
            </a:r>
            <a:endParaRPr lang="en-US" sz="1200" dirty="0"/>
          </a:p>
          <a:p>
            <a:pPr marL="0" indent="0">
              <a:buNone/>
            </a:pPr>
            <a:r>
              <a:rPr lang="en-US" sz="1200" dirty="0">
                <a:solidFill>
                  <a:srgbClr val="1A1A1A"/>
                </a:solidFill>
                <a:latin typeface="Courier New" pitchFamily="34" charset="0"/>
                <a:ea typeface="Courier New" pitchFamily="34" charset="-122"/>
                <a:cs typeface="Courier New" pitchFamily="34" charset="-120"/>
              </a:rPr>
              <a:t>import org.springframework.stereotype.Component;</a:t>
            </a:r>
            <a:endParaRPr lang="en-US" sz="1200" dirty="0"/>
          </a:p>
          <a:p>
            <a:pPr marL="0" indent="0">
              <a:buNone/>
            </a:pPr>
            <a:r>
              <a:rPr lang="en-US" sz="1200" dirty="0">
                <a:solidFill>
                  <a:srgbClr val="1A1A1A"/>
                </a:solidFill>
                <a:latin typeface="Courier New" pitchFamily="34" charset="0"/>
                <a:ea typeface="Courier New" pitchFamily="34" charset="-122"/>
                <a:cs typeface="Courier New" pitchFamily="34" charset="-120"/>
              </a:rPr>
              <a:t>import java.util.*;</a:t>
            </a:r>
            <a:endParaRPr lang="en-US" sz="1200" dirty="0"/>
          </a:p>
          <a:p>
            <a:pPr marL="0" indent="0">
              <a:buNone/>
            </a:pPr>
            <a:r>
              <a:rPr lang="en-US" sz="700" dirty="0">
                <a:solidFill>
                  <a:srgbClr val="000000"/>
                </a:solidFill>
                <a:latin typeface="Courier New" pitchFamily="34" charset="0"/>
                <a:ea typeface="Courier New" pitchFamily="34" charset="-122"/>
                <a:cs typeface="Courier New" pitchFamily="34" charset="-120"/>
              </a:rPr>
              <a:t> </a:t>
            </a:r>
            <a:endParaRPr lang="en-US" sz="1200" dirty="0"/>
          </a:p>
          <a:p>
            <a:pPr marL="0" indent="0">
              <a:buNone/>
            </a:pPr>
            <a:r>
              <a:rPr lang="en-US" sz="1600" b="1" dirty="0">
                <a:solidFill>
                  <a:srgbClr val="F2A413"/>
                </a:solidFill>
                <a:latin typeface="Courier New" pitchFamily="34" charset="0"/>
                <a:ea typeface="Courier New" pitchFamily="34" charset="-122"/>
                <a:cs typeface="Courier New" pitchFamily="34" charset="-120"/>
              </a:rPr>
              <a:t>@Component</a:t>
            </a:r>
            <a:endParaRPr lang="en-US" sz="1200" dirty="0"/>
          </a:p>
          <a:p>
            <a:pPr marL="0" indent="0">
              <a:buNone/>
            </a:pPr>
            <a:r>
              <a:rPr lang="en-US" sz="1600" b="1" dirty="0">
                <a:solidFill>
                  <a:srgbClr val="0E3F7E"/>
                </a:solidFill>
                <a:latin typeface="Courier New" pitchFamily="34" charset="0"/>
                <a:ea typeface="Courier New" pitchFamily="34" charset="-122"/>
                <a:cs typeface="Courier New" pitchFamily="34" charset="-120"/>
              </a:rPr>
              <a:t>public class CatalogoDistribuido {</a:t>
            </a:r>
            <a:endParaRPr lang="en-US" sz="1200" dirty="0"/>
          </a:p>
          <a:p>
            <a:pPr marL="0" indent="0">
              <a:buNone/>
            </a:pPr>
            <a:r>
              <a:rPr lang="en-US" sz="700" dirty="0">
                <a:solidFill>
                  <a:srgbClr val="000000"/>
                </a:solidFill>
                <a:latin typeface="Courier New" pitchFamily="34" charset="0"/>
                <a:ea typeface="Courier New" pitchFamily="34" charset="-122"/>
                <a:cs typeface="Courier New" pitchFamily="34" charset="-120"/>
              </a:rPr>
              <a:t> </a:t>
            </a:r>
            <a:endParaRPr lang="en-US" sz="1200" dirty="0"/>
          </a:p>
          <a:p>
            <a:pPr marL="0" indent="0">
              <a:buNone/>
            </a:pPr>
            <a:r>
              <a:rPr lang="en-US" sz="1600" dirty="0">
                <a:solidFill>
                  <a:srgbClr val="1A1A1A"/>
                </a:solidFill>
                <a:latin typeface="Courier New" pitchFamily="34" charset="0"/>
                <a:ea typeface="Courier New" pitchFamily="34" charset="-122"/>
                <a:cs typeface="Courier New" pitchFamily="34" charset="-120"/>
              </a:rPr>
              <a:t>    public enum Fragmento {</a:t>
            </a:r>
            <a:endParaRPr lang="en-US" sz="1200" dirty="0"/>
          </a:p>
          <a:p>
            <a:pPr marL="0" indent="0">
              <a:buNone/>
            </a:pPr>
            <a:r>
              <a:rPr lang="en-US" sz="1600" dirty="0">
                <a:solidFill>
                  <a:srgbClr val="2E86A1"/>
                </a:solidFill>
                <a:latin typeface="Courier New" pitchFamily="34" charset="0"/>
                <a:ea typeface="Courier New" pitchFamily="34" charset="-122"/>
                <a:cs typeface="Courier New" pitchFamily="34" charset="-120"/>
              </a:rPr>
              <a:t>        CUENTAS_CUENCA("cuencaDataSource", "Cuenca"),</a:t>
            </a:r>
            <a:endParaRPr lang="en-US" sz="1200" dirty="0"/>
          </a:p>
          <a:p>
            <a:pPr marL="0" indent="0">
              <a:buNone/>
            </a:pPr>
            <a:r>
              <a:rPr lang="en-US" sz="1600" dirty="0">
                <a:solidFill>
                  <a:srgbClr val="4FAE60"/>
                </a:solidFill>
                <a:latin typeface="Courier New" pitchFamily="34" charset="0"/>
                <a:ea typeface="Courier New" pitchFamily="34" charset="-122"/>
                <a:cs typeface="Courier New" pitchFamily="34" charset="-120"/>
              </a:rPr>
              <a:t>        CUENTAS_QUITO("quitoDataSource",   "Quito");</a:t>
            </a:r>
            <a:endParaRPr lang="en-US" sz="1200" dirty="0"/>
          </a:p>
          <a:p>
            <a:pPr marL="0" indent="0">
              <a:buNone/>
            </a:pPr>
            <a:r>
              <a:rPr lang="en-US" sz="1600" dirty="0">
                <a:solidFill>
                  <a:srgbClr val="4A4A4A"/>
                </a:solidFill>
                <a:latin typeface="Courier New" pitchFamily="34" charset="0"/>
                <a:ea typeface="Courier New" pitchFamily="34" charset="-122"/>
                <a:cs typeface="Courier New" pitchFamily="34" charset="-120"/>
              </a:rPr>
              <a:t>        ...</a:t>
            </a:r>
            <a:endParaRPr lang="en-US" sz="1200" dirty="0"/>
          </a:p>
          <a:p>
            <a:pPr marL="0" indent="0">
              <a:buNone/>
            </a:pPr>
            <a:r>
              <a:rPr lang="en-US" sz="1600" dirty="0">
                <a:solidFill>
                  <a:srgbClr val="1A1A1A"/>
                </a:solidFill>
                <a:latin typeface="Courier New" pitchFamily="34" charset="0"/>
                <a:ea typeface="Courier New" pitchFamily="34" charset="-122"/>
                <a:cs typeface="Courier New" pitchFamily="34" charset="-120"/>
              </a:rPr>
              <a:t>    }</a:t>
            </a:r>
            <a:endParaRPr lang="en-US" sz="1200" dirty="0"/>
          </a:p>
          <a:p>
            <a:pPr marL="0" indent="0">
              <a:buNone/>
            </a:pPr>
            <a:r>
              <a:rPr lang="en-US" sz="700" dirty="0">
                <a:solidFill>
                  <a:srgbClr val="000000"/>
                </a:solidFill>
                <a:latin typeface="Courier New" pitchFamily="34" charset="0"/>
                <a:ea typeface="Courier New" pitchFamily="34" charset="-122"/>
                <a:cs typeface="Courier New" pitchFamily="34" charset="-120"/>
              </a:rPr>
              <a:t> </a:t>
            </a:r>
            <a:endParaRPr lang="en-US" sz="1200" dirty="0"/>
          </a:p>
          <a:p>
            <a:pPr marL="0" indent="0">
              <a:buNone/>
            </a:pPr>
            <a:r>
              <a:rPr lang="en-US" sz="1600" b="1" dirty="0">
                <a:solidFill>
                  <a:srgbClr val="0E3F7E"/>
                </a:solidFill>
                <a:latin typeface="Courier New" pitchFamily="34" charset="0"/>
                <a:ea typeface="Courier New" pitchFamily="34" charset="-122"/>
                <a:cs typeface="Courier New" pitchFamily="34" charset="-120"/>
              </a:rPr>
              <a:t>    public Optional&lt;Fragmento&gt; resolverPorNumeroCuenta(String n) {</a:t>
            </a:r>
            <a:endParaRPr lang="en-US" sz="1200" dirty="0"/>
          </a:p>
          <a:p>
            <a:pPr marL="0" indent="0">
              <a:buNone/>
            </a:pPr>
            <a:r>
              <a:rPr lang="en-US" sz="1600" dirty="0">
                <a:solidFill>
                  <a:srgbClr val="1A1A1A"/>
                </a:solidFill>
                <a:latin typeface="Courier New" pitchFamily="34" charset="0"/>
                <a:ea typeface="Courier New" pitchFamily="34" charset="-122"/>
                <a:cs typeface="Courier New" pitchFamily="34" charset="-120"/>
              </a:rPr>
              <a:t>        String prefijo = n.substring(0, 2);</a:t>
            </a:r>
            <a:endParaRPr lang="en-US" sz="1200" dirty="0"/>
          </a:p>
          <a:p>
            <a:pPr marL="0" indent="0">
              <a:buNone/>
            </a:pPr>
            <a:r>
              <a:rPr lang="en-US" sz="1600" dirty="0">
                <a:solidFill>
                  <a:srgbClr val="1A1A1A"/>
                </a:solidFill>
                <a:latin typeface="Courier New" pitchFamily="34" charset="0"/>
                <a:ea typeface="Courier New" pitchFamily="34" charset="-122"/>
                <a:cs typeface="Courier New" pitchFamily="34" charset="-120"/>
              </a:rPr>
              <a:t>        return switch (prefijo) {</a:t>
            </a:r>
            <a:endParaRPr lang="en-US" sz="1200" dirty="0"/>
          </a:p>
          <a:p>
            <a:pPr marL="0" indent="0">
              <a:buNone/>
            </a:pPr>
            <a:r>
              <a:rPr lang="en-US" sz="1600" dirty="0">
                <a:solidFill>
                  <a:srgbClr val="2E86A1"/>
                </a:solidFill>
                <a:latin typeface="Courier New" pitchFamily="34" charset="0"/>
                <a:ea typeface="Courier New" pitchFamily="34" charset="-122"/>
                <a:cs typeface="Courier New" pitchFamily="34" charset="-120"/>
              </a:rPr>
              <a:t>            case "22" -&gt; Optional.of(Fragmento.CUENTAS_CUENCA);</a:t>
            </a:r>
            <a:endParaRPr lang="en-US" sz="1200" dirty="0"/>
          </a:p>
          <a:p>
            <a:pPr marL="0" indent="0">
              <a:buNone/>
            </a:pPr>
            <a:r>
              <a:rPr lang="en-US" sz="1600" dirty="0">
                <a:solidFill>
                  <a:srgbClr val="4FAE60"/>
                </a:solidFill>
                <a:latin typeface="Courier New" pitchFamily="34" charset="0"/>
                <a:ea typeface="Courier New" pitchFamily="34" charset="-122"/>
                <a:cs typeface="Courier New" pitchFamily="34" charset="-120"/>
              </a:rPr>
              <a:t>            case "17" -&gt; Optional.of(Fragmento.CUENTAS_QUITO);</a:t>
            </a:r>
            <a:endParaRPr lang="en-US" sz="1200" dirty="0"/>
          </a:p>
          <a:p>
            <a:pPr marL="0" indent="0">
              <a:buNone/>
            </a:pPr>
            <a:r>
              <a:rPr lang="en-US" sz="1600" dirty="0">
                <a:solidFill>
                  <a:srgbClr val="C0392B"/>
                </a:solidFill>
                <a:latin typeface="Courier New" pitchFamily="34" charset="0"/>
                <a:ea typeface="Courier New" pitchFamily="34" charset="-122"/>
                <a:cs typeface="Courier New" pitchFamily="34" charset="-120"/>
              </a:rPr>
              <a:t>            default   -&gt; Optional.empty();</a:t>
            </a:r>
            <a:endParaRPr lang="en-US" sz="1200" dirty="0"/>
          </a:p>
          <a:p>
            <a:pPr marL="0" indent="0">
              <a:buNone/>
            </a:pPr>
            <a:r>
              <a:rPr lang="en-US" sz="1600" dirty="0">
                <a:solidFill>
                  <a:srgbClr val="1A1A1A"/>
                </a:solidFill>
                <a:latin typeface="Courier New" pitchFamily="34" charset="0"/>
                <a:ea typeface="Courier New" pitchFamily="34" charset="-122"/>
                <a:cs typeface="Courier New" pitchFamily="34" charset="-120"/>
              </a:rPr>
              <a:t>        };</a:t>
            </a:r>
            <a:endParaRPr lang="en-US" sz="1200" dirty="0"/>
          </a:p>
          <a:p>
            <a:pPr marL="0" indent="0">
              <a:buNone/>
            </a:pPr>
            <a:r>
              <a:rPr lang="en-US" sz="1600" dirty="0">
                <a:solidFill>
                  <a:srgbClr val="1A1A1A"/>
                </a:solidFill>
                <a:latin typeface="Courier New" pitchFamily="34" charset="0"/>
                <a:ea typeface="Courier New" pitchFamily="34" charset="-122"/>
                <a:cs typeface="Courier New" pitchFamily="34" charset="-120"/>
              </a:rPr>
              <a:t>    }</a:t>
            </a:r>
            <a:endParaRPr lang="en-US" sz="1200" dirty="0"/>
          </a:p>
          <a:p>
            <a:pPr marL="0" indent="0">
              <a:buNone/>
            </a:pPr>
            <a:r>
              <a:rPr lang="en-US" sz="1600" b="1" dirty="0">
                <a:solidFill>
                  <a:srgbClr val="0E3F7E"/>
                </a:solidFill>
                <a:latin typeface="Courier New" pitchFamily="34" charset="0"/>
                <a:ea typeface="Courier New" pitchFamily="34" charset="-122"/>
                <a:cs typeface="Courier New" pitchFamily="34" charset="-120"/>
              </a:rPr>
              <a:t>}</a:t>
            </a:r>
            <a:endParaRPr lang="en-US" sz="1200" dirty="0"/>
          </a:p>
        </p:txBody>
      </p:sp>
      <p:sp>
        <p:nvSpPr>
          <p:cNvPr id="7" name="Text 5"/>
          <p:cNvSpPr/>
          <p:nvPr/>
        </p:nvSpPr>
        <p:spPr>
          <a:xfrm>
            <a:off x="457200" y="6492240"/>
            <a:ext cx="8229600" cy="274320"/>
          </a:xfrm>
          <a:prstGeom prst="rect">
            <a:avLst/>
          </a:prstGeom>
          <a:noFill/>
          <a:ln/>
        </p:spPr>
        <p:txBody>
          <a:bodyPr wrap="square" rtlCol="0" anchor="ctr"/>
          <a:lstStyle/>
          <a:p>
            <a:pPr marL="0" indent="0">
              <a:buNone/>
            </a:pPr>
            <a:r>
              <a:rPr lang="en-US" sz="900" dirty="0">
                <a:solidFill>
                  <a:srgbClr val="4A4A4A"/>
                </a:solidFill>
                <a:latin typeface="Calibri" pitchFamily="34" charset="0"/>
                <a:ea typeface="Calibri" pitchFamily="34" charset="-122"/>
                <a:cs typeface="Calibri" pitchFamily="34" charset="-120"/>
              </a:rPr>
              <a:t>UTEQ - Aplicaciones Distribuidas (ISR-701) - Unidad 3</a:t>
            </a:r>
            <a:endParaRPr lang="en-US" sz="900" dirty="0"/>
          </a:p>
        </p:txBody>
      </p:sp>
      <p:sp>
        <p:nvSpPr>
          <p:cNvPr id="8" name="Text 6"/>
          <p:cNvSpPr/>
          <p:nvPr/>
        </p:nvSpPr>
        <p:spPr>
          <a:xfrm>
            <a:off x="10789920" y="6492240"/>
            <a:ext cx="914400" cy="274320"/>
          </a:xfrm>
          <a:prstGeom prst="rect">
            <a:avLst/>
          </a:prstGeom>
          <a:noFill/>
          <a:ln/>
        </p:spPr>
        <p:txBody>
          <a:bodyPr wrap="square"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37 / 42</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marL="0" indent="0">
              <a:buNone/>
            </a:pPr>
            <a:r>
              <a:rPr lang="en-US" sz="3600" b="1" dirty="0">
                <a:solidFill>
                  <a:srgbClr val="0E3F7E"/>
                </a:solidFill>
                <a:latin typeface="Calibri" pitchFamily="34" charset="0"/>
                <a:ea typeface="Calibri" pitchFamily="34" charset="-122"/>
                <a:cs typeface="Calibri" pitchFamily="34" charset="-120"/>
              </a:rPr>
              <a:t>Paso 3: transferencia cross-site con 2PC manual</a:t>
            </a:r>
            <a:endParaRPr lang="en-US" sz="3600" dirty="0"/>
          </a:p>
        </p:txBody>
      </p:sp>
      <p:sp>
        <p:nvSpPr>
          <p:cNvPr id="3" name="Text 1"/>
          <p:cNvSpPr/>
          <p:nvPr/>
        </p:nvSpPr>
        <p:spPr>
          <a:xfrm>
            <a:off x="457200" y="777240"/>
            <a:ext cx="11247120" cy="320040"/>
          </a:xfrm>
          <a:prstGeom prst="rect">
            <a:avLst/>
          </a:prstGeom>
          <a:noFill/>
          <a:ln/>
        </p:spPr>
        <p:txBody>
          <a:bodyPr wrap="square" lIns="0" tIns="0" rIns="0" bIns="0" rtlCol="0" anchor="ctr"/>
          <a:lstStyle/>
          <a:p>
            <a:pPr marL="0" indent="0">
              <a:buNone/>
            </a:pPr>
            <a:r>
              <a:rPr lang="en-US" sz="2000" i="1" dirty="0">
                <a:solidFill>
                  <a:srgbClr val="2E86A1"/>
                </a:solidFill>
                <a:latin typeface="Calibri" pitchFamily="34" charset="0"/>
                <a:ea typeface="Calibri" pitchFamily="34" charset="-122"/>
                <a:cs typeface="Calibri" pitchFamily="34" charset="-120"/>
              </a:rPr>
              <a:t>El nucleo operativo del Banco del Austro</a:t>
            </a:r>
            <a:endParaRPr lang="en-US" sz="2000" dirty="0"/>
          </a:p>
        </p:txBody>
      </p:sp>
      <p:sp>
        <p:nvSpPr>
          <p:cNvPr id="4" name="Shape 2"/>
          <p:cNvSpPr/>
          <p:nvPr/>
        </p:nvSpPr>
        <p:spPr>
          <a:xfrm>
            <a:off x="548640" y="1280160"/>
            <a:ext cx="11064240" cy="5120640"/>
          </a:xfrm>
          <a:prstGeom prst="roundRect">
            <a:avLst>
              <a:gd name="adj" fmla="val 1429"/>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5" name="Text 3"/>
          <p:cNvSpPr/>
          <p:nvPr/>
        </p:nvSpPr>
        <p:spPr>
          <a:xfrm>
            <a:off x="777240" y="1417320"/>
            <a:ext cx="10515600" cy="365760"/>
          </a:xfrm>
          <a:prstGeom prst="rect">
            <a:avLst/>
          </a:prstGeom>
          <a:noFill/>
          <a:ln/>
        </p:spPr>
        <p:txBody>
          <a:bodyPr wrap="square" lIns="0" tIns="0" rIns="0" bIns="0" rtlCol="0" anchor="ctr"/>
          <a:lstStyle/>
          <a:p>
            <a:pPr marL="0" indent="0">
              <a:buNone/>
            </a:pPr>
            <a:r>
              <a:rPr lang="en-US" b="1" dirty="0">
                <a:solidFill>
                  <a:srgbClr val="0E3F7E"/>
                </a:solidFill>
                <a:latin typeface="Calibri" pitchFamily="34" charset="0"/>
                <a:ea typeface="Calibri" pitchFamily="34" charset="-122"/>
                <a:cs typeface="Calibri" pitchFamily="34" charset="-120"/>
              </a:rPr>
              <a:t>TransferenciaService.transferir() -- extracto clave</a:t>
            </a:r>
            <a:endParaRPr lang="en-US" dirty="0"/>
          </a:p>
        </p:txBody>
      </p:sp>
      <p:sp>
        <p:nvSpPr>
          <p:cNvPr id="6" name="Text 4"/>
          <p:cNvSpPr/>
          <p:nvPr/>
        </p:nvSpPr>
        <p:spPr>
          <a:xfrm>
            <a:off x="777240" y="1828800"/>
            <a:ext cx="10515600" cy="4480560"/>
          </a:xfrm>
          <a:prstGeom prst="rect">
            <a:avLst/>
          </a:prstGeom>
          <a:noFill/>
          <a:ln/>
        </p:spPr>
        <p:txBody>
          <a:bodyPr wrap="square" rtlCol="0" anchor="ctr"/>
          <a:lstStyle/>
          <a:p>
            <a:pPr marL="0" indent="0">
              <a:buNone/>
            </a:pPr>
            <a:r>
              <a:rPr lang="en-US" sz="1600" i="1" dirty="0">
                <a:solidFill>
                  <a:srgbClr val="4A4A4A"/>
                </a:solidFill>
                <a:latin typeface="Courier New" pitchFamily="34" charset="0"/>
                <a:ea typeface="Courier New" pitchFamily="34" charset="-122"/>
                <a:cs typeface="Courier New" pitchFamily="34" charset="-120"/>
              </a:rPr>
              <a:t>// FASE 1 - PREPARACION: debitar origen, acreditar destino</a:t>
            </a:r>
            <a:endParaRPr lang="en-US" sz="1600" dirty="0"/>
          </a:p>
          <a:p>
            <a:pPr marL="0" indent="0">
              <a:buNone/>
            </a:pPr>
            <a:r>
              <a:rPr lang="en-US" sz="1600" dirty="0">
                <a:solidFill>
                  <a:srgbClr val="1A1A1A"/>
                </a:solidFill>
                <a:latin typeface="Courier New" pitchFamily="34" charset="0"/>
                <a:ea typeface="Courier New" pitchFamily="34" charset="-122"/>
                <a:cs typeface="Courier New" pitchFamily="34" charset="-120"/>
              </a:rPr>
              <a:t>cOrig.setAutoCommit(false);  cDest.setAutoCommit(false);</a:t>
            </a:r>
            <a:endParaRPr lang="en-US" sz="1600" dirty="0"/>
          </a:p>
          <a:p>
            <a:pPr marL="0" indent="0">
              <a:buNone/>
            </a:pPr>
            <a:r>
              <a:rPr lang="en-US" sz="700" dirty="0">
                <a:solidFill>
                  <a:srgbClr val="000000"/>
                </a:solidFill>
                <a:latin typeface="Courier New" pitchFamily="34" charset="0"/>
                <a:ea typeface="Courier New" pitchFamily="34" charset="-122"/>
                <a:cs typeface="Courier New" pitchFamily="34" charset="-120"/>
              </a:rPr>
              <a:t> </a:t>
            </a:r>
            <a:endParaRPr lang="en-US" sz="1600" dirty="0"/>
          </a:p>
          <a:p>
            <a:pPr marL="0" indent="0">
              <a:buNone/>
            </a:pPr>
            <a:r>
              <a:rPr lang="en-US" sz="1600" b="1" dirty="0">
                <a:solidFill>
                  <a:srgbClr val="F2A413"/>
                </a:solidFill>
                <a:latin typeface="Courier New" pitchFamily="34" charset="0"/>
                <a:ea typeface="Courier New" pitchFamily="34" charset="-122"/>
                <a:cs typeface="Courier New" pitchFamily="34" charset="-120"/>
              </a:rPr>
              <a:t>if (!debitar(cOrig, cuentaOrigen, monto)) {</a:t>
            </a:r>
            <a:endParaRPr lang="en-US" sz="1600" dirty="0"/>
          </a:p>
          <a:p>
            <a:pPr marL="0" indent="0">
              <a:buNone/>
            </a:pPr>
            <a:r>
              <a:rPr lang="en-US" sz="1600" dirty="0">
                <a:solidFill>
                  <a:srgbClr val="C0392B"/>
                </a:solidFill>
                <a:latin typeface="Courier New" pitchFamily="34" charset="0"/>
                <a:ea typeface="Courier New" pitchFamily="34" charset="-122"/>
                <a:cs typeface="Courier New" pitchFamily="34" charset="-120"/>
              </a:rPr>
              <a:t>    rollbackAmbos(cOrig, cDest);</a:t>
            </a:r>
            <a:endParaRPr lang="en-US" sz="1600" dirty="0"/>
          </a:p>
          <a:p>
            <a:pPr marL="0" indent="0">
              <a:buNone/>
            </a:pPr>
            <a:r>
              <a:rPr lang="en-US" sz="1600" dirty="0">
                <a:solidFill>
                  <a:srgbClr val="1A1A1A"/>
                </a:solidFill>
                <a:latin typeface="Courier New" pitchFamily="34" charset="0"/>
                <a:ea typeface="Courier New" pitchFamily="34" charset="-122"/>
                <a:cs typeface="Courier New" pitchFamily="34" charset="-120"/>
              </a:rPr>
              <a:t>    return Map.of("status", "ABORT", "mensaje", "Saldo insuficiente");</a:t>
            </a:r>
            <a:endParaRPr lang="en-US" sz="1600" dirty="0"/>
          </a:p>
          <a:p>
            <a:pPr marL="0" indent="0">
              <a:buNone/>
            </a:pPr>
            <a:r>
              <a:rPr lang="en-US" sz="1600" dirty="0">
                <a:solidFill>
                  <a:srgbClr val="1A1A1A"/>
                </a:solidFill>
                <a:latin typeface="Courier New" pitchFamily="34" charset="0"/>
                <a:ea typeface="Courier New" pitchFamily="34" charset="-122"/>
                <a:cs typeface="Courier New" pitchFamily="34" charset="-120"/>
              </a:rPr>
              <a:t>}</a:t>
            </a:r>
            <a:endParaRPr lang="en-US" sz="1600" dirty="0"/>
          </a:p>
          <a:p>
            <a:pPr marL="0" indent="0">
              <a:buNone/>
            </a:pPr>
            <a:r>
              <a:rPr lang="en-US" sz="1600" b="1" dirty="0">
                <a:solidFill>
                  <a:srgbClr val="F2A413"/>
                </a:solidFill>
                <a:latin typeface="Courier New" pitchFamily="34" charset="0"/>
                <a:ea typeface="Courier New" pitchFamily="34" charset="-122"/>
                <a:cs typeface="Courier New" pitchFamily="34" charset="-120"/>
              </a:rPr>
              <a:t>if (!acreditar(cDest, cuentaDestino, monto)) {</a:t>
            </a:r>
            <a:endParaRPr lang="en-US" sz="1600" dirty="0"/>
          </a:p>
          <a:p>
            <a:pPr marL="0" indent="0">
              <a:buNone/>
            </a:pPr>
            <a:r>
              <a:rPr lang="en-US" sz="1600" dirty="0">
                <a:solidFill>
                  <a:srgbClr val="C0392B"/>
                </a:solidFill>
                <a:latin typeface="Courier New" pitchFamily="34" charset="0"/>
                <a:ea typeface="Courier New" pitchFamily="34" charset="-122"/>
                <a:cs typeface="Courier New" pitchFamily="34" charset="-120"/>
              </a:rPr>
              <a:t>    rollbackAmbos(cOrig, cDest);</a:t>
            </a:r>
            <a:endParaRPr lang="en-US" sz="1600" dirty="0"/>
          </a:p>
          <a:p>
            <a:pPr marL="0" indent="0">
              <a:buNone/>
            </a:pPr>
            <a:r>
              <a:rPr lang="en-US" sz="1600" dirty="0">
                <a:solidFill>
                  <a:srgbClr val="1A1A1A"/>
                </a:solidFill>
                <a:latin typeface="Courier New" pitchFamily="34" charset="0"/>
                <a:ea typeface="Courier New" pitchFamily="34" charset="-122"/>
                <a:cs typeface="Courier New" pitchFamily="34" charset="-120"/>
              </a:rPr>
              <a:t>    return Map.of("status", "ABORT", "mensaje", "Cuenta destino inexistente");</a:t>
            </a:r>
            <a:endParaRPr lang="en-US" sz="1600" dirty="0"/>
          </a:p>
          <a:p>
            <a:pPr marL="0" indent="0">
              <a:buNone/>
            </a:pPr>
            <a:r>
              <a:rPr lang="en-US" sz="1600" dirty="0">
                <a:solidFill>
                  <a:srgbClr val="1A1A1A"/>
                </a:solidFill>
                <a:latin typeface="Courier New" pitchFamily="34" charset="0"/>
                <a:ea typeface="Courier New" pitchFamily="34" charset="-122"/>
                <a:cs typeface="Courier New" pitchFamily="34" charset="-120"/>
              </a:rPr>
              <a:t>}</a:t>
            </a:r>
            <a:endParaRPr lang="en-US" sz="1600" dirty="0"/>
          </a:p>
          <a:p>
            <a:pPr marL="0" indent="0">
              <a:buNone/>
            </a:pPr>
            <a:r>
              <a:rPr lang="en-US" sz="1600" dirty="0">
                <a:solidFill>
                  <a:srgbClr val="1A1A1A"/>
                </a:solidFill>
                <a:latin typeface="Courier New" pitchFamily="34" charset="0"/>
                <a:ea typeface="Courier New" pitchFamily="34" charset="-122"/>
                <a:cs typeface="Courier New" pitchFamily="34" charset="-120"/>
              </a:rPr>
              <a:t>registrarTransaccion(cOrig, cuentaOrigen, cuentaDestino, monto);</a:t>
            </a:r>
            <a:endParaRPr lang="en-US" sz="1600" dirty="0"/>
          </a:p>
          <a:p>
            <a:pPr marL="0" indent="0">
              <a:buNone/>
            </a:pPr>
            <a:r>
              <a:rPr lang="en-US" sz="700" dirty="0">
                <a:solidFill>
                  <a:srgbClr val="000000"/>
                </a:solidFill>
                <a:latin typeface="Courier New" pitchFamily="34" charset="0"/>
                <a:ea typeface="Courier New" pitchFamily="34" charset="-122"/>
                <a:cs typeface="Courier New" pitchFamily="34" charset="-120"/>
              </a:rPr>
              <a:t> </a:t>
            </a:r>
            <a:endParaRPr lang="en-US" sz="1600" dirty="0"/>
          </a:p>
          <a:p>
            <a:pPr marL="0" indent="0">
              <a:buNone/>
            </a:pPr>
            <a:r>
              <a:rPr lang="en-US" sz="1600" i="1" dirty="0">
                <a:solidFill>
                  <a:srgbClr val="4A4A4A"/>
                </a:solidFill>
                <a:latin typeface="Courier New" pitchFamily="34" charset="0"/>
                <a:ea typeface="Courier New" pitchFamily="34" charset="-122"/>
                <a:cs typeface="Courier New" pitchFamily="34" charset="-120"/>
              </a:rPr>
              <a:t>// FASE 2 - COMMIT: ambos confirman atomicamente</a:t>
            </a:r>
            <a:endParaRPr lang="en-US" sz="1600" dirty="0"/>
          </a:p>
          <a:p>
            <a:pPr marL="0" indent="0">
              <a:buNone/>
            </a:pPr>
            <a:r>
              <a:rPr lang="en-US" sz="1600" b="1" dirty="0">
                <a:solidFill>
                  <a:srgbClr val="4FAE60"/>
                </a:solidFill>
                <a:latin typeface="Courier New" pitchFamily="34" charset="0"/>
                <a:ea typeface="Courier New" pitchFamily="34" charset="-122"/>
                <a:cs typeface="Courier New" pitchFamily="34" charset="-120"/>
              </a:rPr>
              <a:t>cOrig.commit();</a:t>
            </a:r>
            <a:endParaRPr lang="en-US" sz="1600" dirty="0"/>
          </a:p>
          <a:p>
            <a:pPr marL="0" indent="0">
              <a:buNone/>
            </a:pPr>
            <a:r>
              <a:rPr lang="en-US" sz="1600" b="1" dirty="0">
                <a:solidFill>
                  <a:srgbClr val="4FAE60"/>
                </a:solidFill>
                <a:latin typeface="Courier New" pitchFamily="34" charset="0"/>
                <a:ea typeface="Courier New" pitchFamily="34" charset="-122"/>
                <a:cs typeface="Courier New" pitchFamily="34" charset="-120"/>
              </a:rPr>
              <a:t>cDest.commit();</a:t>
            </a:r>
            <a:endParaRPr lang="en-US" sz="1600" dirty="0"/>
          </a:p>
          <a:p>
            <a:pPr marL="0" indent="0">
              <a:buNone/>
            </a:pPr>
            <a:r>
              <a:rPr lang="en-US" sz="700" dirty="0">
                <a:solidFill>
                  <a:srgbClr val="000000"/>
                </a:solidFill>
                <a:latin typeface="Courier New" pitchFamily="34" charset="0"/>
                <a:ea typeface="Courier New" pitchFamily="34" charset="-122"/>
                <a:cs typeface="Courier New" pitchFamily="34" charset="-120"/>
              </a:rPr>
              <a:t> </a:t>
            </a:r>
            <a:endParaRPr lang="en-US" sz="1600" dirty="0"/>
          </a:p>
          <a:p>
            <a:pPr marL="0" indent="0">
              <a:buNone/>
            </a:pPr>
            <a:r>
              <a:rPr lang="en-US" sz="1200" dirty="0">
                <a:solidFill>
                  <a:srgbClr val="0E3F7E"/>
                </a:solidFill>
                <a:latin typeface="Courier New" pitchFamily="34" charset="0"/>
                <a:ea typeface="Courier New" pitchFamily="34" charset="-122"/>
                <a:cs typeface="Courier New" pitchFamily="34" charset="-120"/>
              </a:rPr>
              <a:t>log.info("[2PC] Transferencia OK: {} -&gt; {} por {}", cuentaOrigen, cuentaDestino, monto);</a:t>
            </a:r>
            <a:endParaRPr lang="en-US" sz="1600" dirty="0"/>
          </a:p>
          <a:p>
            <a:pPr marL="0" indent="0">
              <a:buNone/>
            </a:pPr>
            <a:r>
              <a:rPr lang="en-US" sz="1600" b="1" dirty="0">
                <a:solidFill>
                  <a:srgbClr val="4FAE60"/>
                </a:solidFill>
                <a:latin typeface="Courier New" pitchFamily="34" charset="0"/>
                <a:ea typeface="Courier New" pitchFamily="34" charset="-122"/>
                <a:cs typeface="Courier New" pitchFamily="34" charset="-120"/>
              </a:rPr>
              <a:t>return Map.of("status", "COMMIT", ...);</a:t>
            </a:r>
            <a:endParaRPr lang="en-US" sz="1600" dirty="0"/>
          </a:p>
        </p:txBody>
      </p:sp>
      <p:sp>
        <p:nvSpPr>
          <p:cNvPr id="7" name="Text 5"/>
          <p:cNvSpPr/>
          <p:nvPr/>
        </p:nvSpPr>
        <p:spPr>
          <a:xfrm>
            <a:off x="457200" y="6492240"/>
            <a:ext cx="8229600" cy="274320"/>
          </a:xfrm>
          <a:prstGeom prst="rect">
            <a:avLst/>
          </a:prstGeom>
          <a:noFill/>
          <a:ln/>
        </p:spPr>
        <p:txBody>
          <a:bodyPr wrap="square" rtlCol="0" anchor="ctr"/>
          <a:lstStyle/>
          <a:p>
            <a:pPr marL="0" indent="0">
              <a:buNone/>
            </a:pPr>
            <a:r>
              <a:rPr lang="en-US" sz="900" dirty="0">
                <a:solidFill>
                  <a:srgbClr val="4A4A4A"/>
                </a:solidFill>
                <a:latin typeface="Calibri" pitchFamily="34" charset="0"/>
                <a:ea typeface="Calibri" pitchFamily="34" charset="-122"/>
                <a:cs typeface="Calibri" pitchFamily="34" charset="-120"/>
              </a:rPr>
              <a:t>UTEQ - Aplicaciones Distribuidas (ISR-701) - Unidad 3</a:t>
            </a:r>
            <a:endParaRPr lang="en-US" sz="900" dirty="0"/>
          </a:p>
        </p:txBody>
      </p:sp>
      <p:sp>
        <p:nvSpPr>
          <p:cNvPr id="8" name="Text 6"/>
          <p:cNvSpPr/>
          <p:nvPr/>
        </p:nvSpPr>
        <p:spPr>
          <a:xfrm>
            <a:off x="10789920" y="6492240"/>
            <a:ext cx="914400" cy="274320"/>
          </a:xfrm>
          <a:prstGeom prst="rect">
            <a:avLst/>
          </a:prstGeom>
          <a:noFill/>
          <a:ln/>
        </p:spPr>
        <p:txBody>
          <a:bodyPr wrap="square"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38 / 42</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13360"/>
            <a:ext cx="11247120" cy="548640"/>
          </a:xfrm>
          <a:prstGeom prst="rect">
            <a:avLst/>
          </a:prstGeom>
          <a:noFill/>
          <a:ln/>
        </p:spPr>
        <p:txBody>
          <a:bodyPr wrap="square" lIns="0" tIns="0" rIns="0" bIns="0" rtlCol="0" anchor="ctr"/>
          <a:lstStyle/>
          <a:p>
            <a:pPr marL="0" indent="0">
              <a:buNone/>
            </a:pPr>
            <a:r>
              <a:rPr lang="en-US" sz="3600" b="1" dirty="0">
                <a:solidFill>
                  <a:srgbClr val="0E3F7E"/>
                </a:solidFill>
                <a:latin typeface="Calibri" pitchFamily="34" charset="0"/>
                <a:ea typeface="Calibri" pitchFamily="34" charset="-122"/>
                <a:cs typeface="Calibri" pitchFamily="34" charset="-120"/>
              </a:rPr>
              <a:t>Paso 4: API REST y ejecucion completa</a:t>
            </a:r>
            <a:endParaRPr lang="en-US" sz="3600" dirty="0"/>
          </a:p>
        </p:txBody>
      </p:sp>
      <p:sp>
        <p:nvSpPr>
          <p:cNvPr id="3" name="Text 1"/>
          <p:cNvSpPr/>
          <p:nvPr/>
        </p:nvSpPr>
        <p:spPr>
          <a:xfrm>
            <a:off x="457200" y="813816"/>
            <a:ext cx="11247120" cy="320040"/>
          </a:xfrm>
          <a:prstGeom prst="rect">
            <a:avLst/>
          </a:prstGeom>
          <a:noFill/>
          <a:ln/>
        </p:spPr>
        <p:txBody>
          <a:bodyPr wrap="square" lIns="0" tIns="0" rIns="0" bIns="0" rtlCol="0" anchor="ctr"/>
          <a:lstStyle/>
          <a:p>
            <a:pPr marL="0" indent="0">
              <a:buNone/>
            </a:pPr>
            <a:r>
              <a:rPr lang="en-US" sz="2400" i="1" dirty="0">
                <a:solidFill>
                  <a:srgbClr val="2E86A1"/>
                </a:solidFill>
                <a:latin typeface="Calibri" pitchFamily="34" charset="0"/>
                <a:ea typeface="Calibri" pitchFamily="34" charset="-122"/>
                <a:cs typeface="Calibri" pitchFamily="34" charset="-120"/>
              </a:rPr>
              <a:t>Endpoints expuestos y pruebas con curl</a:t>
            </a:r>
            <a:endParaRPr lang="en-US" sz="2400" dirty="0"/>
          </a:p>
        </p:txBody>
      </p:sp>
      <p:sp>
        <p:nvSpPr>
          <p:cNvPr id="4" name="Shape 2"/>
          <p:cNvSpPr/>
          <p:nvPr/>
        </p:nvSpPr>
        <p:spPr>
          <a:xfrm>
            <a:off x="548640" y="1280160"/>
            <a:ext cx="5486400" cy="5120640"/>
          </a:xfrm>
          <a:prstGeom prst="roundRect">
            <a:avLst>
              <a:gd name="adj" fmla="val 1429"/>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5" name="Text 3"/>
          <p:cNvSpPr/>
          <p:nvPr/>
        </p:nvSpPr>
        <p:spPr>
          <a:xfrm>
            <a:off x="777240" y="1417320"/>
            <a:ext cx="5029200" cy="365760"/>
          </a:xfrm>
          <a:prstGeom prst="rect">
            <a:avLst/>
          </a:prstGeom>
          <a:noFill/>
          <a:ln/>
        </p:spPr>
        <p:txBody>
          <a:bodyPr wrap="square" lIns="0" tIns="0" rIns="0" bIns="0" rtlCol="0" anchor="ctr"/>
          <a:lstStyle/>
          <a:p>
            <a:pPr marL="0" indent="0">
              <a:buNone/>
            </a:pPr>
            <a:r>
              <a:rPr lang="en-US" sz="2400" b="1" dirty="0">
                <a:solidFill>
                  <a:srgbClr val="0E3F7E"/>
                </a:solidFill>
                <a:latin typeface="Calibri" pitchFamily="34" charset="0"/>
                <a:ea typeface="Calibri" pitchFamily="34" charset="-122"/>
                <a:cs typeface="Calibri" pitchFamily="34" charset="-120"/>
              </a:rPr>
              <a:t>Endpoints expuestos</a:t>
            </a:r>
            <a:endParaRPr lang="en-US" sz="2400" dirty="0"/>
          </a:p>
        </p:txBody>
      </p:sp>
      <p:sp>
        <p:nvSpPr>
          <p:cNvPr id="6" name="Shape 4"/>
          <p:cNvSpPr/>
          <p:nvPr/>
        </p:nvSpPr>
        <p:spPr>
          <a:xfrm>
            <a:off x="777240" y="1828800"/>
            <a:ext cx="5029200" cy="960120"/>
          </a:xfrm>
          <a:prstGeom prst="roundRect">
            <a:avLst>
              <a:gd name="adj" fmla="val 7619"/>
            </a:avLst>
          </a:prstGeom>
          <a:solidFill>
            <a:srgbClr val="EAF1FB"/>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sz="3200"/>
          </a:p>
        </p:txBody>
      </p:sp>
      <p:sp>
        <p:nvSpPr>
          <p:cNvPr id="7" name="Text 5"/>
          <p:cNvSpPr/>
          <p:nvPr/>
        </p:nvSpPr>
        <p:spPr>
          <a:xfrm>
            <a:off x="914400" y="1920240"/>
            <a:ext cx="640080" cy="365760"/>
          </a:xfrm>
          <a:prstGeom prst="rect">
            <a:avLst/>
          </a:prstGeom>
          <a:noFill/>
          <a:ln/>
        </p:spPr>
        <p:txBody>
          <a:bodyPr wrap="square" lIns="0" tIns="0" rIns="0" bIns="0" rtlCol="0" anchor="ctr"/>
          <a:lstStyle/>
          <a:p>
            <a:pPr marL="0" indent="0">
              <a:buNone/>
            </a:pPr>
            <a:r>
              <a:rPr lang="en-US" sz="1200" b="1" dirty="0">
                <a:solidFill>
                  <a:srgbClr val="0E3F7E"/>
                </a:solidFill>
                <a:latin typeface="Courier New" pitchFamily="34" charset="0"/>
                <a:ea typeface="Courier New" pitchFamily="34" charset="-122"/>
                <a:cs typeface="Courier New" pitchFamily="34" charset="-120"/>
              </a:rPr>
              <a:t>GET</a:t>
            </a:r>
            <a:endParaRPr lang="en-US" sz="1200" dirty="0"/>
          </a:p>
        </p:txBody>
      </p:sp>
      <p:sp>
        <p:nvSpPr>
          <p:cNvPr id="8" name="Text 6"/>
          <p:cNvSpPr/>
          <p:nvPr/>
        </p:nvSpPr>
        <p:spPr>
          <a:xfrm>
            <a:off x="1554480" y="1920240"/>
            <a:ext cx="4114800" cy="365760"/>
          </a:xfrm>
          <a:prstGeom prst="rect">
            <a:avLst/>
          </a:prstGeom>
          <a:noFill/>
          <a:ln/>
        </p:spPr>
        <p:txBody>
          <a:bodyPr wrap="square" lIns="0" tIns="0" rIns="0" bIns="0" rtlCol="0" anchor="ctr"/>
          <a:lstStyle/>
          <a:p>
            <a:pPr marL="0" indent="0">
              <a:buNone/>
            </a:pPr>
            <a:r>
              <a:rPr lang="en-US" sz="1100" dirty="0">
                <a:solidFill>
                  <a:srgbClr val="1A1A1A"/>
                </a:solidFill>
                <a:latin typeface="Courier New" pitchFamily="34" charset="0"/>
                <a:ea typeface="Courier New" pitchFamily="34" charset="-122"/>
                <a:cs typeface="Courier New" pitchFamily="34" charset="-120"/>
              </a:rPr>
              <a:t>/api/banco/saldo/{numero}</a:t>
            </a:r>
            <a:endParaRPr lang="en-US" sz="1100" dirty="0"/>
          </a:p>
        </p:txBody>
      </p:sp>
      <p:sp>
        <p:nvSpPr>
          <p:cNvPr id="9" name="Text 7"/>
          <p:cNvSpPr/>
          <p:nvPr/>
        </p:nvSpPr>
        <p:spPr>
          <a:xfrm>
            <a:off x="914400" y="2331720"/>
            <a:ext cx="4754880" cy="411480"/>
          </a:xfrm>
          <a:prstGeom prst="rect">
            <a:avLst/>
          </a:prstGeom>
          <a:noFill/>
          <a:ln/>
        </p:spPr>
        <p:txBody>
          <a:bodyPr wrap="square" rtlCol="0" anchor="ctr"/>
          <a:lstStyle/>
          <a:p>
            <a:pPr marL="0" indent="0">
              <a:buNone/>
            </a:pPr>
            <a:r>
              <a:rPr lang="en-US" sz="1400" i="1" dirty="0">
                <a:solidFill>
                  <a:srgbClr val="4A4A4A"/>
                </a:solidFill>
                <a:latin typeface="Calibri" pitchFamily="34" charset="0"/>
                <a:ea typeface="Calibri" pitchFamily="34" charset="-122"/>
                <a:cs typeface="Calibri" pitchFamily="34" charset="-120"/>
              </a:rPr>
              <a:t>Consulta saldo (enrutado por catalogo)</a:t>
            </a:r>
            <a:endParaRPr lang="en-US" sz="1400" dirty="0"/>
          </a:p>
        </p:txBody>
      </p:sp>
      <p:sp>
        <p:nvSpPr>
          <p:cNvPr id="10" name="Shape 8"/>
          <p:cNvSpPr/>
          <p:nvPr/>
        </p:nvSpPr>
        <p:spPr>
          <a:xfrm>
            <a:off x="777240" y="2880360"/>
            <a:ext cx="5029200" cy="960120"/>
          </a:xfrm>
          <a:prstGeom prst="roundRect">
            <a:avLst>
              <a:gd name="adj" fmla="val 7619"/>
            </a:avLst>
          </a:prstGeom>
          <a:solidFill>
            <a:srgbClr val="EAF1FB"/>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11" name="Text 9"/>
          <p:cNvSpPr/>
          <p:nvPr/>
        </p:nvSpPr>
        <p:spPr>
          <a:xfrm>
            <a:off x="914400" y="2971800"/>
            <a:ext cx="640080" cy="365760"/>
          </a:xfrm>
          <a:prstGeom prst="rect">
            <a:avLst/>
          </a:prstGeom>
          <a:noFill/>
          <a:ln/>
        </p:spPr>
        <p:txBody>
          <a:bodyPr wrap="square" lIns="0" tIns="0" rIns="0" bIns="0" rtlCol="0" anchor="ctr"/>
          <a:lstStyle/>
          <a:p>
            <a:pPr marL="0" indent="0">
              <a:buNone/>
            </a:pPr>
            <a:r>
              <a:rPr lang="en-US" sz="2000" b="1" dirty="0">
                <a:solidFill>
                  <a:srgbClr val="0E3F7E"/>
                </a:solidFill>
                <a:latin typeface="Courier New" pitchFamily="34" charset="0"/>
                <a:ea typeface="Courier New" pitchFamily="34" charset="-122"/>
                <a:cs typeface="Courier New" pitchFamily="34" charset="-120"/>
              </a:rPr>
              <a:t>GET</a:t>
            </a:r>
            <a:endParaRPr lang="en-US" sz="2000" dirty="0"/>
          </a:p>
        </p:txBody>
      </p:sp>
      <p:sp>
        <p:nvSpPr>
          <p:cNvPr id="12" name="Text 10"/>
          <p:cNvSpPr/>
          <p:nvPr/>
        </p:nvSpPr>
        <p:spPr>
          <a:xfrm>
            <a:off x="1554480" y="2971800"/>
            <a:ext cx="4114800" cy="365760"/>
          </a:xfrm>
          <a:prstGeom prst="rect">
            <a:avLst/>
          </a:prstGeom>
          <a:noFill/>
          <a:ln/>
        </p:spPr>
        <p:txBody>
          <a:bodyPr wrap="square" lIns="0" tIns="0" rIns="0" bIns="0" rtlCol="0" anchor="ctr"/>
          <a:lstStyle/>
          <a:p>
            <a:pPr marL="0" indent="0">
              <a:buNone/>
            </a:pPr>
            <a:r>
              <a:rPr lang="en-US" dirty="0">
                <a:solidFill>
                  <a:srgbClr val="1A1A1A"/>
                </a:solidFill>
                <a:latin typeface="Courier New" pitchFamily="34" charset="0"/>
                <a:ea typeface="Courier New" pitchFamily="34" charset="-122"/>
                <a:cs typeface="Courier New" pitchFamily="34" charset="-120"/>
              </a:rPr>
              <a:t>/api/banco/clientes</a:t>
            </a:r>
            <a:endParaRPr lang="en-US" dirty="0"/>
          </a:p>
        </p:txBody>
      </p:sp>
      <p:sp>
        <p:nvSpPr>
          <p:cNvPr id="13" name="Text 11"/>
          <p:cNvSpPr/>
          <p:nvPr/>
        </p:nvSpPr>
        <p:spPr>
          <a:xfrm>
            <a:off x="914400" y="3383280"/>
            <a:ext cx="4754880" cy="411480"/>
          </a:xfrm>
          <a:prstGeom prst="rect">
            <a:avLst/>
          </a:prstGeom>
          <a:noFill/>
          <a:ln/>
        </p:spPr>
        <p:txBody>
          <a:bodyPr wrap="square" rtlCol="0" anchor="ctr"/>
          <a:lstStyle/>
          <a:p>
            <a:pPr marL="0" indent="0">
              <a:buNone/>
            </a:pPr>
            <a:r>
              <a:rPr lang="en-US" sz="1400" i="1" dirty="0">
                <a:solidFill>
                  <a:srgbClr val="4A4A4A"/>
                </a:solidFill>
                <a:latin typeface="Calibri" pitchFamily="34" charset="0"/>
                <a:ea typeface="Calibri" pitchFamily="34" charset="-122"/>
                <a:cs typeface="Calibri" pitchFamily="34" charset="-120"/>
              </a:rPr>
              <a:t>Union distribuida de clientes</a:t>
            </a:r>
            <a:endParaRPr lang="en-US" sz="1400" dirty="0"/>
          </a:p>
        </p:txBody>
      </p:sp>
      <p:sp>
        <p:nvSpPr>
          <p:cNvPr id="14" name="Shape 12"/>
          <p:cNvSpPr/>
          <p:nvPr/>
        </p:nvSpPr>
        <p:spPr>
          <a:xfrm>
            <a:off x="777240" y="3931920"/>
            <a:ext cx="5029200" cy="960120"/>
          </a:xfrm>
          <a:prstGeom prst="roundRect">
            <a:avLst>
              <a:gd name="adj" fmla="val 7619"/>
            </a:avLst>
          </a:prstGeom>
          <a:solidFill>
            <a:srgbClr val="EAF1FB"/>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15" name="Text 13"/>
          <p:cNvSpPr/>
          <p:nvPr/>
        </p:nvSpPr>
        <p:spPr>
          <a:xfrm>
            <a:off x="914400" y="4023360"/>
            <a:ext cx="640080" cy="365760"/>
          </a:xfrm>
          <a:prstGeom prst="rect">
            <a:avLst/>
          </a:prstGeom>
          <a:noFill/>
          <a:ln/>
        </p:spPr>
        <p:txBody>
          <a:bodyPr wrap="square" lIns="0" tIns="0" rIns="0" bIns="0" rtlCol="0" anchor="ctr"/>
          <a:lstStyle/>
          <a:p>
            <a:pPr marL="0" indent="0">
              <a:buNone/>
            </a:pPr>
            <a:r>
              <a:rPr lang="en-US" sz="2000" b="1" dirty="0">
                <a:solidFill>
                  <a:srgbClr val="0E3F7E"/>
                </a:solidFill>
                <a:latin typeface="Courier New" pitchFamily="34" charset="0"/>
                <a:ea typeface="Courier New" pitchFamily="34" charset="-122"/>
                <a:cs typeface="Courier New" pitchFamily="34" charset="-120"/>
              </a:rPr>
              <a:t>GET</a:t>
            </a:r>
            <a:endParaRPr lang="en-US" sz="2000" dirty="0"/>
          </a:p>
        </p:txBody>
      </p:sp>
      <p:sp>
        <p:nvSpPr>
          <p:cNvPr id="16" name="Text 14"/>
          <p:cNvSpPr/>
          <p:nvPr/>
        </p:nvSpPr>
        <p:spPr>
          <a:xfrm>
            <a:off x="1554480" y="4023360"/>
            <a:ext cx="4114800" cy="365760"/>
          </a:xfrm>
          <a:prstGeom prst="rect">
            <a:avLst/>
          </a:prstGeom>
          <a:noFill/>
          <a:ln/>
        </p:spPr>
        <p:txBody>
          <a:bodyPr wrap="square" lIns="0" tIns="0" rIns="0" bIns="0" rtlCol="0" anchor="ctr"/>
          <a:lstStyle/>
          <a:p>
            <a:pPr marL="0" indent="0">
              <a:buNone/>
            </a:pPr>
            <a:r>
              <a:rPr lang="en-US" dirty="0">
                <a:solidFill>
                  <a:srgbClr val="1A1A1A"/>
                </a:solidFill>
                <a:latin typeface="Courier New" pitchFamily="34" charset="0"/>
                <a:ea typeface="Courier New" pitchFamily="34" charset="-122"/>
                <a:cs typeface="Courier New" pitchFamily="34" charset="-120"/>
              </a:rPr>
              <a:t>/api/banco/cuentas/{oficina}</a:t>
            </a:r>
            <a:endParaRPr lang="en-US" dirty="0"/>
          </a:p>
        </p:txBody>
      </p:sp>
      <p:sp>
        <p:nvSpPr>
          <p:cNvPr id="17" name="Text 15"/>
          <p:cNvSpPr/>
          <p:nvPr/>
        </p:nvSpPr>
        <p:spPr>
          <a:xfrm>
            <a:off x="914400" y="4434840"/>
            <a:ext cx="4754880" cy="411480"/>
          </a:xfrm>
          <a:prstGeom prst="rect">
            <a:avLst/>
          </a:prstGeom>
          <a:noFill/>
          <a:ln/>
        </p:spPr>
        <p:txBody>
          <a:bodyPr wrap="square" rtlCol="0" anchor="ctr"/>
          <a:lstStyle/>
          <a:p>
            <a:pPr marL="0" indent="0">
              <a:buNone/>
            </a:pPr>
            <a:r>
              <a:rPr lang="en-US" sz="1400" i="1" dirty="0">
                <a:solidFill>
                  <a:srgbClr val="4A4A4A"/>
                </a:solidFill>
                <a:latin typeface="Calibri" pitchFamily="34" charset="0"/>
                <a:ea typeface="Calibri" pitchFamily="34" charset="-122"/>
                <a:cs typeface="Calibri" pitchFamily="34" charset="-120"/>
              </a:rPr>
              <a:t>Cuentas por oficina (fragmento local)</a:t>
            </a:r>
            <a:endParaRPr lang="en-US" sz="1400" dirty="0"/>
          </a:p>
        </p:txBody>
      </p:sp>
      <p:sp>
        <p:nvSpPr>
          <p:cNvPr id="18" name="Shape 16"/>
          <p:cNvSpPr/>
          <p:nvPr/>
        </p:nvSpPr>
        <p:spPr>
          <a:xfrm>
            <a:off x="777240" y="4983480"/>
            <a:ext cx="5029200" cy="960120"/>
          </a:xfrm>
          <a:prstGeom prst="roundRect">
            <a:avLst>
              <a:gd name="adj" fmla="val 7619"/>
            </a:avLst>
          </a:prstGeom>
          <a:solidFill>
            <a:srgbClr val="EAF1FB"/>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a:p>
        </p:txBody>
      </p:sp>
      <p:sp>
        <p:nvSpPr>
          <p:cNvPr id="19" name="Text 17"/>
          <p:cNvSpPr/>
          <p:nvPr/>
        </p:nvSpPr>
        <p:spPr>
          <a:xfrm>
            <a:off x="914400" y="5074920"/>
            <a:ext cx="640080" cy="365760"/>
          </a:xfrm>
          <a:prstGeom prst="rect">
            <a:avLst/>
          </a:prstGeom>
          <a:noFill/>
          <a:ln/>
        </p:spPr>
        <p:txBody>
          <a:bodyPr wrap="square" lIns="0" tIns="0" rIns="0" bIns="0" rtlCol="0" anchor="ctr"/>
          <a:lstStyle/>
          <a:p>
            <a:pPr marL="0" indent="0">
              <a:buNone/>
            </a:pPr>
            <a:r>
              <a:rPr lang="en-US" sz="2000" b="1" dirty="0">
                <a:solidFill>
                  <a:srgbClr val="4FAE60"/>
                </a:solidFill>
                <a:latin typeface="Courier New" pitchFamily="34" charset="0"/>
                <a:ea typeface="Courier New" pitchFamily="34" charset="-122"/>
                <a:cs typeface="Courier New" pitchFamily="34" charset="-120"/>
              </a:rPr>
              <a:t>POST</a:t>
            </a:r>
            <a:endParaRPr lang="en-US" sz="2000" dirty="0"/>
          </a:p>
        </p:txBody>
      </p:sp>
      <p:sp>
        <p:nvSpPr>
          <p:cNvPr id="20" name="Text 18"/>
          <p:cNvSpPr/>
          <p:nvPr/>
        </p:nvSpPr>
        <p:spPr>
          <a:xfrm>
            <a:off x="1554480" y="5074920"/>
            <a:ext cx="4114800" cy="365760"/>
          </a:xfrm>
          <a:prstGeom prst="rect">
            <a:avLst/>
          </a:prstGeom>
          <a:noFill/>
          <a:ln/>
        </p:spPr>
        <p:txBody>
          <a:bodyPr wrap="square" lIns="0" tIns="0" rIns="0" bIns="0" rtlCol="0" anchor="ctr"/>
          <a:lstStyle/>
          <a:p>
            <a:pPr marL="0" indent="0">
              <a:buNone/>
            </a:pPr>
            <a:r>
              <a:rPr lang="en-US" dirty="0">
                <a:solidFill>
                  <a:srgbClr val="1A1A1A"/>
                </a:solidFill>
                <a:latin typeface="Courier New" pitchFamily="34" charset="0"/>
                <a:ea typeface="Courier New" pitchFamily="34" charset="-122"/>
                <a:cs typeface="Courier New" pitchFamily="34" charset="-120"/>
              </a:rPr>
              <a:t>/api/banco/transferencia</a:t>
            </a:r>
            <a:endParaRPr lang="en-US" dirty="0"/>
          </a:p>
        </p:txBody>
      </p:sp>
      <p:sp>
        <p:nvSpPr>
          <p:cNvPr id="21" name="Text 19"/>
          <p:cNvSpPr/>
          <p:nvPr/>
        </p:nvSpPr>
        <p:spPr>
          <a:xfrm>
            <a:off x="914400" y="5486400"/>
            <a:ext cx="4754880" cy="411480"/>
          </a:xfrm>
          <a:prstGeom prst="rect">
            <a:avLst/>
          </a:prstGeom>
          <a:noFill/>
          <a:ln/>
        </p:spPr>
        <p:txBody>
          <a:bodyPr wrap="square" rtlCol="0" anchor="ctr"/>
          <a:lstStyle/>
          <a:p>
            <a:pPr marL="0" indent="0">
              <a:buNone/>
            </a:pPr>
            <a:r>
              <a:rPr lang="en-US" sz="1400" i="1" dirty="0">
                <a:solidFill>
                  <a:srgbClr val="4A4A4A"/>
                </a:solidFill>
                <a:latin typeface="Calibri" pitchFamily="34" charset="0"/>
                <a:ea typeface="Calibri" pitchFamily="34" charset="-122"/>
                <a:cs typeface="Calibri" pitchFamily="34" charset="-120"/>
              </a:rPr>
              <a:t>Transferencia cross-site con 2PC</a:t>
            </a:r>
            <a:endParaRPr lang="en-US" sz="1400" dirty="0"/>
          </a:p>
        </p:txBody>
      </p:sp>
      <p:sp>
        <p:nvSpPr>
          <p:cNvPr id="22" name="Shape 20"/>
          <p:cNvSpPr/>
          <p:nvPr/>
        </p:nvSpPr>
        <p:spPr>
          <a:xfrm>
            <a:off x="6172200" y="1280160"/>
            <a:ext cx="5486400" cy="5120640"/>
          </a:xfrm>
          <a:prstGeom prst="roundRect">
            <a:avLst>
              <a:gd name="adj" fmla="val 1429"/>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sz="3200"/>
          </a:p>
        </p:txBody>
      </p:sp>
      <p:sp>
        <p:nvSpPr>
          <p:cNvPr id="23" name="Text 21"/>
          <p:cNvSpPr/>
          <p:nvPr/>
        </p:nvSpPr>
        <p:spPr>
          <a:xfrm>
            <a:off x="6400800" y="1417320"/>
            <a:ext cx="5029200" cy="365760"/>
          </a:xfrm>
          <a:prstGeom prst="rect">
            <a:avLst/>
          </a:prstGeom>
          <a:noFill/>
          <a:ln/>
        </p:spPr>
        <p:txBody>
          <a:bodyPr wrap="square" lIns="0" tIns="0" rIns="0" bIns="0" rtlCol="0" anchor="ctr"/>
          <a:lstStyle/>
          <a:p>
            <a:pPr marL="0" indent="0">
              <a:buNone/>
            </a:pPr>
            <a:r>
              <a:rPr lang="en-US" sz="2400" b="1" dirty="0">
                <a:solidFill>
                  <a:srgbClr val="0E3F7E"/>
                </a:solidFill>
                <a:latin typeface="Calibri" pitchFamily="34" charset="0"/>
                <a:ea typeface="Calibri" pitchFamily="34" charset="-122"/>
                <a:cs typeface="Calibri" pitchFamily="34" charset="-120"/>
              </a:rPr>
              <a:t>Ejecucion paso a paso</a:t>
            </a:r>
            <a:endParaRPr lang="en-US" sz="2400" dirty="0"/>
          </a:p>
        </p:txBody>
      </p:sp>
      <p:sp>
        <p:nvSpPr>
          <p:cNvPr id="24" name="Text 22"/>
          <p:cNvSpPr/>
          <p:nvPr/>
        </p:nvSpPr>
        <p:spPr>
          <a:xfrm>
            <a:off x="6400800" y="1783080"/>
            <a:ext cx="5486400" cy="4572000"/>
          </a:xfrm>
          <a:prstGeom prst="rect">
            <a:avLst/>
          </a:prstGeom>
          <a:noFill/>
          <a:ln/>
        </p:spPr>
        <p:txBody>
          <a:bodyPr wrap="square" rtlCol="0" anchor="ctr"/>
          <a:lstStyle/>
          <a:p>
            <a:pPr marL="0" indent="0">
              <a:buNone/>
            </a:pPr>
            <a:r>
              <a:rPr lang="en-US" sz="1400" i="1" dirty="0">
                <a:solidFill>
                  <a:srgbClr val="4A4A4A"/>
                </a:solidFill>
                <a:latin typeface="Courier New" pitchFamily="34" charset="0"/>
                <a:ea typeface="Courier New" pitchFamily="34" charset="-122"/>
                <a:cs typeface="Courier New" pitchFamily="34" charset="-120"/>
              </a:rPr>
              <a:t># 1. Levantar contenedores</a:t>
            </a:r>
            <a:endParaRPr lang="en-US" sz="1400" dirty="0"/>
          </a:p>
          <a:p>
            <a:pPr marL="0" indent="0">
              <a:buNone/>
            </a:pPr>
            <a:r>
              <a:rPr lang="en-US" sz="1400" dirty="0">
                <a:solidFill>
                  <a:srgbClr val="1A1A1A"/>
                </a:solidFill>
                <a:latin typeface="Courier New" pitchFamily="34" charset="0"/>
                <a:ea typeface="Courier New" pitchFamily="34" charset="-122"/>
                <a:cs typeface="Courier New" pitchFamily="34" charset="-120"/>
              </a:rPr>
              <a:t>docker compose -f docker-compose-bdd.yml up -d</a:t>
            </a:r>
            <a:endParaRPr lang="en-US" sz="1400" dirty="0"/>
          </a:p>
          <a:p>
            <a:pPr marL="0" indent="0">
              <a:buNone/>
            </a:pPr>
            <a:r>
              <a:rPr lang="en-US" sz="1000" dirty="0">
                <a:solidFill>
                  <a:srgbClr val="000000"/>
                </a:solidFill>
                <a:latin typeface="Courier New" pitchFamily="34" charset="0"/>
                <a:ea typeface="Courier New" pitchFamily="34" charset="-122"/>
                <a:cs typeface="Courier New" pitchFamily="34" charset="-120"/>
              </a:rPr>
              <a:t> </a:t>
            </a:r>
            <a:endParaRPr lang="en-US" sz="1400" dirty="0"/>
          </a:p>
          <a:p>
            <a:pPr marL="0" indent="0">
              <a:buNone/>
            </a:pPr>
            <a:r>
              <a:rPr lang="en-US" sz="1400" i="1" dirty="0">
                <a:solidFill>
                  <a:srgbClr val="4A4A4A"/>
                </a:solidFill>
                <a:latin typeface="Courier New" pitchFamily="34" charset="0"/>
                <a:ea typeface="Courier New" pitchFamily="34" charset="-122"/>
                <a:cs typeface="Courier New" pitchFamily="34" charset="-120"/>
              </a:rPr>
              <a:t># 2. Verificar estado healthy</a:t>
            </a:r>
            <a:endParaRPr lang="en-US" sz="1400" dirty="0"/>
          </a:p>
          <a:p>
            <a:pPr marL="0" indent="0">
              <a:buNone/>
            </a:pPr>
            <a:r>
              <a:rPr lang="en-US" sz="1400" dirty="0">
                <a:solidFill>
                  <a:srgbClr val="1A1A1A"/>
                </a:solidFill>
                <a:latin typeface="Courier New" pitchFamily="34" charset="0"/>
                <a:ea typeface="Courier New" pitchFamily="34" charset="-122"/>
                <a:cs typeface="Courier New" pitchFamily="34" charset="-120"/>
              </a:rPr>
              <a:t>docker compose ps</a:t>
            </a:r>
            <a:endParaRPr lang="en-US" sz="1400" dirty="0"/>
          </a:p>
          <a:p>
            <a:pPr marL="0" indent="0">
              <a:buNone/>
            </a:pPr>
            <a:r>
              <a:rPr lang="en-US" sz="1000" dirty="0">
                <a:solidFill>
                  <a:srgbClr val="000000"/>
                </a:solidFill>
                <a:latin typeface="Courier New" pitchFamily="34" charset="0"/>
                <a:ea typeface="Courier New" pitchFamily="34" charset="-122"/>
                <a:cs typeface="Courier New" pitchFamily="34" charset="-120"/>
              </a:rPr>
              <a:t> </a:t>
            </a:r>
            <a:endParaRPr lang="en-US" sz="1400" dirty="0"/>
          </a:p>
          <a:p>
            <a:pPr marL="0" indent="0">
              <a:buNone/>
            </a:pPr>
            <a:r>
              <a:rPr lang="en-US" sz="1400" i="1" dirty="0">
                <a:solidFill>
                  <a:srgbClr val="4A4A4A"/>
                </a:solidFill>
                <a:latin typeface="Courier New" pitchFamily="34" charset="0"/>
                <a:ea typeface="Courier New" pitchFamily="34" charset="-122"/>
                <a:cs typeface="Courier New" pitchFamily="34" charset="-120"/>
              </a:rPr>
              <a:t># 3. Ejecutar la aplicacion Spring Boot</a:t>
            </a:r>
            <a:endParaRPr lang="en-US" sz="1400" dirty="0"/>
          </a:p>
          <a:p>
            <a:pPr marL="0" indent="0">
              <a:buNone/>
            </a:pPr>
            <a:r>
              <a:rPr lang="en-US" sz="1400" dirty="0">
                <a:solidFill>
                  <a:srgbClr val="1A1A1A"/>
                </a:solidFill>
                <a:latin typeface="Courier New" pitchFamily="34" charset="0"/>
                <a:ea typeface="Courier New" pitchFamily="34" charset="-122"/>
                <a:cs typeface="Courier New" pitchFamily="34" charset="-120"/>
              </a:rPr>
              <a:t>./mvnw spring-boot:run</a:t>
            </a:r>
            <a:endParaRPr lang="en-US" sz="1400" dirty="0"/>
          </a:p>
          <a:p>
            <a:pPr marL="0" indent="0">
              <a:buNone/>
            </a:pPr>
            <a:r>
              <a:rPr lang="en-US" sz="1000" dirty="0">
                <a:solidFill>
                  <a:srgbClr val="000000"/>
                </a:solidFill>
                <a:latin typeface="Courier New" pitchFamily="34" charset="0"/>
                <a:ea typeface="Courier New" pitchFamily="34" charset="-122"/>
                <a:cs typeface="Courier New" pitchFamily="34" charset="-120"/>
              </a:rPr>
              <a:t> </a:t>
            </a:r>
            <a:endParaRPr lang="en-US" sz="1400" dirty="0"/>
          </a:p>
          <a:p>
            <a:pPr marL="0" indent="0">
              <a:buNone/>
            </a:pPr>
            <a:r>
              <a:rPr lang="en-US" sz="1400" i="1" dirty="0">
                <a:solidFill>
                  <a:srgbClr val="4A4A4A"/>
                </a:solidFill>
                <a:latin typeface="Courier New" pitchFamily="34" charset="0"/>
                <a:ea typeface="Courier New" pitchFamily="34" charset="-122"/>
                <a:cs typeface="Courier New" pitchFamily="34" charset="-120"/>
              </a:rPr>
              <a:t># 4. Probar saldo (enrutamiento por catalogo)</a:t>
            </a:r>
            <a:endParaRPr lang="en-US" sz="1400" dirty="0"/>
          </a:p>
          <a:p>
            <a:pPr marL="0" indent="0">
              <a:buNone/>
            </a:pPr>
            <a:r>
              <a:rPr lang="en-US" sz="1200" dirty="0">
                <a:solidFill>
                  <a:srgbClr val="2E86A1"/>
                </a:solidFill>
                <a:latin typeface="Courier New" pitchFamily="34" charset="0"/>
                <a:ea typeface="Courier New" pitchFamily="34" charset="-122"/>
                <a:cs typeface="Courier New" pitchFamily="34" charset="-120"/>
              </a:rPr>
              <a:t>curl http://localhost:8080/api/banco/saldo/2201000001</a:t>
            </a:r>
            <a:endParaRPr lang="en-US" sz="1400" dirty="0"/>
          </a:p>
          <a:p>
            <a:pPr marL="0" indent="0">
              <a:buNone/>
            </a:pPr>
            <a:r>
              <a:rPr lang="en-US" sz="1200" dirty="0">
                <a:solidFill>
                  <a:srgbClr val="4FAE60"/>
                </a:solidFill>
                <a:latin typeface="Courier New" pitchFamily="34" charset="0"/>
                <a:ea typeface="Courier New" pitchFamily="34" charset="-122"/>
                <a:cs typeface="Courier New" pitchFamily="34" charset="-120"/>
              </a:rPr>
              <a:t>curl http://localhost:8080/api/banco/saldo/1701000001</a:t>
            </a:r>
            <a:endParaRPr lang="en-US" sz="1400" dirty="0"/>
          </a:p>
          <a:p>
            <a:pPr marL="0" indent="0">
              <a:buNone/>
            </a:pPr>
            <a:r>
              <a:rPr lang="en-US" sz="1000" dirty="0">
                <a:solidFill>
                  <a:srgbClr val="000000"/>
                </a:solidFill>
                <a:latin typeface="Courier New" pitchFamily="34" charset="0"/>
                <a:ea typeface="Courier New" pitchFamily="34" charset="-122"/>
                <a:cs typeface="Courier New" pitchFamily="34" charset="-120"/>
              </a:rPr>
              <a:t> </a:t>
            </a:r>
            <a:endParaRPr lang="en-US" sz="1400" dirty="0"/>
          </a:p>
          <a:p>
            <a:pPr marL="0" indent="0">
              <a:buNone/>
            </a:pPr>
            <a:r>
              <a:rPr lang="en-US" sz="1400" i="1" dirty="0">
                <a:solidFill>
                  <a:srgbClr val="4A4A4A"/>
                </a:solidFill>
                <a:latin typeface="Courier New" pitchFamily="34" charset="0"/>
                <a:ea typeface="Courier New" pitchFamily="34" charset="-122"/>
                <a:cs typeface="Courier New" pitchFamily="34" charset="-120"/>
              </a:rPr>
              <a:t># 5. Transferencia cross-site con 2PC</a:t>
            </a:r>
            <a:endParaRPr lang="en-US" sz="1400" dirty="0"/>
          </a:p>
          <a:p>
            <a:pPr marL="0" indent="0">
              <a:buNone/>
            </a:pPr>
            <a:r>
              <a:rPr lang="en-US" sz="1200" dirty="0">
                <a:solidFill>
                  <a:srgbClr val="F2A413"/>
                </a:solidFill>
                <a:latin typeface="Courier New" pitchFamily="34" charset="0"/>
                <a:ea typeface="Courier New" pitchFamily="34" charset="-122"/>
                <a:cs typeface="Courier New" pitchFamily="34" charset="-120"/>
              </a:rPr>
              <a:t>curl -X POST "http://localhost:8080/api/banco/</a:t>
            </a:r>
            <a:endParaRPr lang="en-US" sz="1400" dirty="0"/>
          </a:p>
          <a:p>
            <a:pPr marL="0" indent="0">
              <a:buNone/>
            </a:pPr>
            <a:r>
              <a:rPr lang="en-US" sz="1200" dirty="0">
                <a:solidFill>
                  <a:srgbClr val="F2A413"/>
                </a:solidFill>
                <a:latin typeface="Courier New" pitchFamily="34" charset="0"/>
                <a:ea typeface="Courier New" pitchFamily="34" charset="-122"/>
                <a:cs typeface="Courier New" pitchFamily="34" charset="-120"/>
              </a:rPr>
              <a:t> transferencia?origen=2201000001&amp;destino=</a:t>
            </a:r>
            <a:endParaRPr lang="en-US" sz="1400" dirty="0"/>
          </a:p>
          <a:p>
            <a:pPr marL="0" indent="0">
              <a:buNone/>
            </a:pPr>
            <a:r>
              <a:rPr lang="en-US" sz="1200" dirty="0">
                <a:solidFill>
                  <a:srgbClr val="F2A413"/>
                </a:solidFill>
                <a:latin typeface="Courier New" pitchFamily="34" charset="0"/>
                <a:ea typeface="Courier New" pitchFamily="34" charset="-122"/>
                <a:cs typeface="Courier New" pitchFamily="34" charset="-120"/>
              </a:rPr>
              <a:t> 1701000001&amp;monto=100"</a:t>
            </a:r>
            <a:endParaRPr lang="en-US" sz="1400" dirty="0"/>
          </a:p>
          <a:p>
            <a:pPr marL="0" indent="0">
              <a:buNone/>
            </a:pPr>
            <a:r>
              <a:rPr lang="en-US" sz="1000" dirty="0">
                <a:solidFill>
                  <a:srgbClr val="000000"/>
                </a:solidFill>
                <a:latin typeface="Courier New" pitchFamily="34" charset="0"/>
                <a:ea typeface="Courier New" pitchFamily="34" charset="-122"/>
                <a:cs typeface="Courier New" pitchFamily="34" charset="-120"/>
              </a:rPr>
              <a:t> </a:t>
            </a:r>
            <a:endParaRPr lang="en-US" sz="1400" dirty="0"/>
          </a:p>
          <a:p>
            <a:pPr marL="0" indent="0">
              <a:buNone/>
            </a:pPr>
            <a:r>
              <a:rPr lang="en-US" sz="1400" i="1" dirty="0">
                <a:solidFill>
                  <a:srgbClr val="4A4A4A"/>
                </a:solidFill>
                <a:latin typeface="Courier New" pitchFamily="34" charset="0"/>
                <a:ea typeface="Courier New" pitchFamily="34" charset="-122"/>
                <a:cs typeface="Courier New" pitchFamily="34" charset="-120"/>
              </a:rPr>
              <a:t># 6. Probar falla: detener nodo Quito</a:t>
            </a:r>
            <a:endParaRPr lang="en-US" sz="1400" dirty="0"/>
          </a:p>
          <a:p>
            <a:pPr marL="0" indent="0">
              <a:buNone/>
            </a:pPr>
            <a:r>
              <a:rPr lang="en-US" sz="1400" dirty="0">
                <a:solidFill>
                  <a:srgbClr val="C0392B"/>
                </a:solidFill>
                <a:latin typeface="Courier New" pitchFamily="34" charset="0"/>
                <a:ea typeface="Courier New" pitchFamily="34" charset="-122"/>
                <a:cs typeface="Courier New" pitchFamily="34" charset="-120"/>
              </a:rPr>
              <a:t>docker stop pg_quito</a:t>
            </a:r>
            <a:endParaRPr lang="en-US" sz="1400" dirty="0"/>
          </a:p>
          <a:p>
            <a:pPr marL="0" indent="0">
              <a:buNone/>
            </a:pPr>
            <a:r>
              <a:rPr lang="en-US" sz="1400" i="1" dirty="0">
                <a:solidFill>
                  <a:srgbClr val="4A4A4A"/>
                </a:solidFill>
                <a:latin typeface="Courier New" pitchFamily="34" charset="0"/>
                <a:ea typeface="Courier New" pitchFamily="34" charset="-122"/>
                <a:cs typeface="Courier New" pitchFamily="34" charset="-120"/>
              </a:rPr>
              <a:t># Repetir transferencia =&gt; debe responder ABORT</a:t>
            </a:r>
            <a:endParaRPr lang="en-US" sz="1400" dirty="0"/>
          </a:p>
        </p:txBody>
      </p:sp>
      <p:sp>
        <p:nvSpPr>
          <p:cNvPr id="25" name="Text 23"/>
          <p:cNvSpPr/>
          <p:nvPr/>
        </p:nvSpPr>
        <p:spPr>
          <a:xfrm>
            <a:off x="457200" y="6492240"/>
            <a:ext cx="8229600" cy="274320"/>
          </a:xfrm>
          <a:prstGeom prst="rect">
            <a:avLst/>
          </a:prstGeom>
          <a:noFill/>
          <a:ln/>
        </p:spPr>
        <p:txBody>
          <a:bodyPr wrap="square" rtlCol="0" anchor="ctr"/>
          <a:lstStyle/>
          <a:p>
            <a:pPr marL="0" indent="0">
              <a:buNone/>
            </a:pPr>
            <a:r>
              <a:rPr lang="en-US" sz="900" dirty="0">
                <a:solidFill>
                  <a:srgbClr val="4A4A4A"/>
                </a:solidFill>
                <a:latin typeface="Calibri" pitchFamily="34" charset="0"/>
                <a:ea typeface="Calibri" pitchFamily="34" charset="-122"/>
                <a:cs typeface="Calibri" pitchFamily="34" charset="-120"/>
              </a:rPr>
              <a:t>UTEQ - Aplicaciones Distribuidas (ISR-701) - Unidad 3</a:t>
            </a:r>
            <a:endParaRPr lang="en-US" sz="900" dirty="0"/>
          </a:p>
        </p:txBody>
      </p:sp>
      <p:sp>
        <p:nvSpPr>
          <p:cNvPr id="26" name="Text 24"/>
          <p:cNvSpPr/>
          <p:nvPr/>
        </p:nvSpPr>
        <p:spPr>
          <a:xfrm>
            <a:off x="10789920" y="6492240"/>
            <a:ext cx="914400" cy="274320"/>
          </a:xfrm>
          <a:prstGeom prst="rect">
            <a:avLst/>
          </a:prstGeom>
          <a:noFill/>
          <a:ln/>
        </p:spPr>
        <p:txBody>
          <a:bodyPr wrap="square"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39 / 42</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marL="0" indent="0">
              <a:buNone/>
            </a:pPr>
            <a:r>
              <a:rPr lang="en-US" sz="4000" b="1" dirty="0">
                <a:solidFill>
                  <a:srgbClr val="0E3F7E"/>
                </a:solidFill>
                <a:latin typeface="Calibri" pitchFamily="34" charset="0"/>
                <a:ea typeface="Calibri" pitchFamily="34" charset="-122"/>
                <a:cs typeface="Calibri" pitchFamily="34" charset="-120"/>
              </a:rPr>
              <a:t>Resultados esperados y extension</a:t>
            </a:r>
            <a:endParaRPr lang="en-US" sz="4000" dirty="0"/>
          </a:p>
        </p:txBody>
      </p:sp>
      <p:sp>
        <p:nvSpPr>
          <p:cNvPr id="3" name="Text 1"/>
          <p:cNvSpPr/>
          <p:nvPr/>
        </p:nvSpPr>
        <p:spPr>
          <a:xfrm>
            <a:off x="457200" y="777240"/>
            <a:ext cx="11247120" cy="320040"/>
          </a:xfrm>
          <a:prstGeom prst="rect">
            <a:avLst/>
          </a:prstGeom>
          <a:noFill/>
          <a:ln/>
        </p:spPr>
        <p:txBody>
          <a:bodyPr wrap="square" lIns="0" tIns="0" rIns="0" bIns="0" rtlCol="0" anchor="ctr"/>
          <a:lstStyle/>
          <a:p>
            <a:pPr marL="0" indent="0">
              <a:buNone/>
            </a:pPr>
            <a:r>
              <a:rPr lang="en-US" sz="2000" i="1" dirty="0">
                <a:solidFill>
                  <a:srgbClr val="2E86A1"/>
                </a:solidFill>
                <a:latin typeface="Calibri" pitchFamily="34" charset="0"/>
                <a:ea typeface="Calibri" pitchFamily="34" charset="-122"/>
                <a:cs typeface="Calibri" pitchFamily="34" charset="-120"/>
              </a:rPr>
              <a:t>Validacion conceptual y reto adicional</a:t>
            </a:r>
            <a:endParaRPr lang="en-US" sz="2000" dirty="0"/>
          </a:p>
        </p:txBody>
      </p:sp>
      <p:sp>
        <p:nvSpPr>
          <p:cNvPr id="4" name="Shape 2"/>
          <p:cNvSpPr/>
          <p:nvPr/>
        </p:nvSpPr>
        <p:spPr>
          <a:xfrm>
            <a:off x="548640" y="1280160"/>
            <a:ext cx="5486400" cy="5120640"/>
          </a:xfrm>
          <a:prstGeom prst="roundRect">
            <a:avLst>
              <a:gd name="adj" fmla="val 1429"/>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sz="2800"/>
          </a:p>
        </p:txBody>
      </p:sp>
      <p:sp>
        <p:nvSpPr>
          <p:cNvPr id="5" name="Text 3"/>
          <p:cNvSpPr/>
          <p:nvPr/>
        </p:nvSpPr>
        <p:spPr>
          <a:xfrm>
            <a:off x="777240" y="1417320"/>
            <a:ext cx="5029200" cy="365760"/>
          </a:xfrm>
          <a:prstGeom prst="rect">
            <a:avLst/>
          </a:prstGeom>
          <a:noFill/>
          <a:ln/>
        </p:spPr>
        <p:txBody>
          <a:bodyPr wrap="square" lIns="0" tIns="0" rIns="0" bIns="0" rtlCol="0" anchor="ctr"/>
          <a:lstStyle/>
          <a:p>
            <a:pPr marL="0" indent="0">
              <a:buNone/>
            </a:pPr>
            <a:r>
              <a:rPr lang="en-US" sz="2000" b="1" dirty="0">
                <a:solidFill>
                  <a:srgbClr val="4FAE60"/>
                </a:solidFill>
                <a:latin typeface="Calibri" pitchFamily="34" charset="0"/>
                <a:ea typeface="Calibri" pitchFamily="34" charset="-122"/>
                <a:cs typeface="Calibri" pitchFamily="34" charset="-120"/>
              </a:rPr>
              <a:t>Comportamientos validados</a:t>
            </a:r>
            <a:endParaRPr lang="en-US" sz="2000" dirty="0"/>
          </a:p>
        </p:txBody>
      </p:sp>
      <p:sp>
        <p:nvSpPr>
          <p:cNvPr id="6" name="Shape 4"/>
          <p:cNvSpPr/>
          <p:nvPr/>
        </p:nvSpPr>
        <p:spPr>
          <a:xfrm>
            <a:off x="777240" y="1874520"/>
            <a:ext cx="365760" cy="365760"/>
          </a:xfrm>
          <a:prstGeom prst="ellipse">
            <a:avLst/>
          </a:prstGeom>
          <a:solidFill>
            <a:srgbClr val="4FAE60"/>
          </a:solidFill>
          <a:ln/>
        </p:spPr>
        <p:txBody>
          <a:bodyPr/>
          <a:lstStyle/>
          <a:p>
            <a:endParaRPr lang="es-US" sz="2800"/>
          </a:p>
        </p:txBody>
      </p:sp>
      <p:sp>
        <p:nvSpPr>
          <p:cNvPr id="7" name="Text 5"/>
          <p:cNvSpPr/>
          <p:nvPr/>
        </p:nvSpPr>
        <p:spPr>
          <a:xfrm>
            <a:off x="777240" y="1874520"/>
            <a:ext cx="365760" cy="36576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v</a:t>
            </a:r>
            <a:endParaRPr lang="en-US" sz="2400" dirty="0"/>
          </a:p>
        </p:txBody>
      </p:sp>
      <p:sp>
        <p:nvSpPr>
          <p:cNvPr id="8" name="Text 6"/>
          <p:cNvSpPr/>
          <p:nvPr/>
        </p:nvSpPr>
        <p:spPr>
          <a:xfrm>
            <a:off x="1280160" y="1828800"/>
            <a:ext cx="4480560" cy="365760"/>
          </a:xfrm>
          <a:prstGeom prst="rect">
            <a:avLst/>
          </a:prstGeom>
          <a:noFill/>
          <a:ln/>
        </p:spPr>
        <p:txBody>
          <a:bodyPr wrap="square" lIns="0" tIns="0" rIns="0" bIns="0" rtlCol="0" anchor="ctr"/>
          <a:lstStyle/>
          <a:p>
            <a:pPr marL="0" indent="0">
              <a:buNone/>
            </a:pPr>
            <a:r>
              <a:rPr lang="en-US" b="1" dirty="0">
                <a:solidFill>
                  <a:srgbClr val="0E3F7E"/>
                </a:solidFill>
                <a:latin typeface="Calibri" pitchFamily="34" charset="0"/>
                <a:ea typeface="Calibri" pitchFamily="34" charset="-122"/>
                <a:cs typeface="Calibri" pitchFamily="34" charset="-120"/>
              </a:rPr>
              <a:t>Transparencia de fragmentacion</a:t>
            </a:r>
            <a:endParaRPr lang="en-US" dirty="0"/>
          </a:p>
        </p:txBody>
      </p:sp>
      <p:sp>
        <p:nvSpPr>
          <p:cNvPr id="9" name="Text 7"/>
          <p:cNvSpPr/>
          <p:nvPr/>
        </p:nvSpPr>
        <p:spPr>
          <a:xfrm>
            <a:off x="1280160" y="2194560"/>
            <a:ext cx="4480560" cy="640080"/>
          </a:xfrm>
          <a:prstGeom prst="rect">
            <a:avLst/>
          </a:prstGeom>
          <a:noFill/>
          <a:ln/>
        </p:spPr>
        <p:txBody>
          <a:bodyPr wrap="square" rtlCol="0" anchor="ctr"/>
          <a:lstStyle/>
          <a:p>
            <a:pPr marL="0" indent="0">
              <a:buNone/>
            </a:pPr>
            <a:r>
              <a:rPr lang="en-US" sz="1600" dirty="0">
                <a:solidFill>
                  <a:srgbClr val="1A1A1A"/>
                </a:solidFill>
                <a:latin typeface="Calibri" pitchFamily="34" charset="0"/>
                <a:ea typeface="Calibri" pitchFamily="34" charset="-122"/>
                <a:cs typeface="Calibri" pitchFamily="34" charset="-120"/>
              </a:rPr>
              <a:t>Las consultas se enrutan al nodo correcto segun el prefijo.</a:t>
            </a:r>
            <a:endParaRPr lang="en-US" sz="1600" dirty="0"/>
          </a:p>
        </p:txBody>
      </p:sp>
      <p:sp>
        <p:nvSpPr>
          <p:cNvPr id="10" name="Shape 8"/>
          <p:cNvSpPr/>
          <p:nvPr/>
        </p:nvSpPr>
        <p:spPr>
          <a:xfrm>
            <a:off x="777240" y="2971800"/>
            <a:ext cx="365760" cy="365760"/>
          </a:xfrm>
          <a:prstGeom prst="ellipse">
            <a:avLst/>
          </a:prstGeom>
          <a:solidFill>
            <a:srgbClr val="4FAE60"/>
          </a:solidFill>
          <a:ln/>
        </p:spPr>
        <p:txBody>
          <a:bodyPr/>
          <a:lstStyle/>
          <a:p>
            <a:endParaRPr lang="es-US" sz="2800"/>
          </a:p>
        </p:txBody>
      </p:sp>
      <p:sp>
        <p:nvSpPr>
          <p:cNvPr id="11" name="Text 9"/>
          <p:cNvSpPr/>
          <p:nvPr/>
        </p:nvSpPr>
        <p:spPr>
          <a:xfrm>
            <a:off x="777240" y="2971800"/>
            <a:ext cx="365760" cy="36576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v</a:t>
            </a:r>
            <a:endParaRPr lang="en-US" sz="2400" dirty="0"/>
          </a:p>
        </p:txBody>
      </p:sp>
      <p:sp>
        <p:nvSpPr>
          <p:cNvPr id="12" name="Text 10"/>
          <p:cNvSpPr/>
          <p:nvPr/>
        </p:nvSpPr>
        <p:spPr>
          <a:xfrm>
            <a:off x="1280160" y="2926080"/>
            <a:ext cx="4480560" cy="365760"/>
          </a:xfrm>
          <a:prstGeom prst="rect">
            <a:avLst/>
          </a:prstGeom>
          <a:noFill/>
          <a:ln/>
        </p:spPr>
        <p:txBody>
          <a:bodyPr wrap="square" lIns="0" tIns="0" rIns="0" bIns="0" rtlCol="0" anchor="ctr"/>
          <a:lstStyle/>
          <a:p>
            <a:pPr marL="0" indent="0">
              <a:buNone/>
            </a:pPr>
            <a:r>
              <a:rPr lang="en-US" b="1" dirty="0">
                <a:solidFill>
                  <a:srgbClr val="0E3F7E"/>
                </a:solidFill>
                <a:latin typeface="Calibri" pitchFamily="34" charset="0"/>
                <a:ea typeface="Calibri" pitchFamily="34" charset="-122"/>
                <a:cs typeface="Calibri" pitchFamily="34" charset="-120"/>
              </a:rPr>
              <a:t>Transparencia de ubicacion</a:t>
            </a:r>
            <a:endParaRPr lang="en-US" dirty="0"/>
          </a:p>
        </p:txBody>
      </p:sp>
      <p:sp>
        <p:nvSpPr>
          <p:cNvPr id="13" name="Text 11"/>
          <p:cNvSpPr/>
          <p:nvPr/>
        </p:nvSpPr>
        <p:spPr>
          <a:xfrm>
            <a:off x="1280160" y="3291840"/>
            <a:ext cx="4480560" cy="640080"/>
          </a:xfrm>
          <a:prstGeom prst="rect">
            <a:avLst/>
          </a:prstGeom>
          <a:noFill/>
          <a:ln/>
        </p:spPr>
        <p:txBody>
          <a:bodyPr wrap="square" rtlCol="0" anchor="ctr"/>
          <a:lstStyle/>
          <a:p>
            <a:pPr marL="0" indent="0">
              <a:buNone/>
            </a:pPr>
            <a:r>
              <a:rPr lang="en-US" sz="1600" dirty="0">
                <a:solidFill>
                  <a:srgbClr val="1A1A1A"/>
                </a:solidFill>
                <a:latin typeface="Calibri" pitchFamily="34" charset="0"/>
                <a:ea typeface="Calibri" pitchFamily="34" charset="-122"/>
                <a:cs typeface="Calibri" pitchFamily="34" charset="-120"/>
              </a:rPr>
              <a:t>Las uniones distribuidas devuelven datos sin que el cliente sepa de varios nodos.</a:t>
            </a:r>
            <a:endParaRPr lang="en-US" sz="1600" dirty="0"/>
          </a:p>
        </p:txBody>
      </p:sp>
      <p:sp>
        <p:nvSpPr>
          <p:cNvPr id="14" name="Shape 12"/>
          <p:cNvSpPr/>
          <p:nvPr/>
        </p:nvSpPr>
        <p:spPr>
          <a:xfrm>
            <a:off x="777240" y="4069080"/>
            <a:ext cx="365760" cy="365760"/>
          </a:xfrm>
          <a:prstGeom prst="ellipse">
            <a:avLst/>
          </a:prstGeom>
          <a:solidFill>
            <a:srgbClr val="4FAE60"/>
          </a:solidFill>
          <a:ln/>
        </p:spPr>
        <p:txBody>
          <a:bodyPr/>
          <a:lstStyle/>
          <a:p>
            <a:endParaRPr lang="es-US" sz="2800"/>
          </a:p>
        </p:txBody>
      </p:sp>
      <p:sp>
        <p:nvSpPr>
          <p:cNvPr id="15" name="Text 13"/>
          <p:cNvSpPr/>
          <p:nvPr/>
        </p:nvSpPr>
        <p:spPr>
          <a:xfrm>
            <a:off x="777240" y="4069080"/>
            <a:ext cx="365760" cy="36576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v</a:t>
            </a:r>
            <a:endParaRPr lang="en-US" sz="2400" dirty="0"/>
          </a:p>
        </p:txBody>
      </p:sp>
      <p:sp>
        <p:nvSpPr>
          <p:cNvPr id="16" name="Text 14"/>
          <p:cNvSpPr/>
          <p:nvPr/>
        </p:nvSpPr>
        <p:spPr>
          <a:xfrm>
            <a:off x="1280160" y="4023360"/>
            <a:ext cx="4480560" cy="365760"/>
          </a:xfrm>
          <a:prstGeom prst="rect">
            <a:avLst/>
          </a:prstGeom>
          <a:noFill/>
          <a:ln/>
        </p:spPr>
        <p:txBody>
          <a:bodyPr wrap="square" lIns="0" tIns="0" rIns="0" bIns="0" rtlCol="0" anchor="ctr"/>
          <a:lstStyle/>
          <a:p>
            <a:pPr marL="0" indent="0">
              <a:buNone/>
            </a:pPr>
            <a:r>
              <a:rPr lang="en-US" b="1" dirty="0">
                <a:solidFill>
                  <a:srgbClr val="0E3F7E"/>
                </a:solidFill>
                <a:latin typeface="Calibri" pitchFamily="34" charset="0"/>
                <a:ea typeface="Calibri" pitchFamily="34" charset="-122"/>
                <a:cs typeface="Calibri" pitchFamily="34" charset="-120"/>
              </a:rPr>
              <a:t>Atomicidad cross-site</a:t>
            </a:r>
            <a:endParaRPr lang="en-US" dirty="0"/>
          </a:p>
        </p:txBody>
      </p:sp>
      <p:sp>
        <p:nvSpPr>
          <p:cNvPr id="17" name="Text 15"/>
          <p:cNvSpPr/>
          <p:nvPr/>
        </p:nvSpPr>
        <p:spPr>
          <a:xfrm>
            <a:off x="1280160" y="4389120"/>
            <a:ext cx="4480560" cy="640080"/>
          </a:xfrm>
          <a:prstGeom prst="rect">
            <a:avLst/>
          </a:prstGeom>
          <a:noFill/>
          <a:ln/>
        </p:spPr>
        <p:txBody>
          <a:bodyPr wrap="square" rtlCol="0" anchor="ctr"/>
          <a:lstStyle/>
          <a:p>
            <a:pPr marL="0" indent="0">
              <a:buNone/>
            </a:pPr>
            <a:r>
              <a:rPr lang="en-US" sz="1600" dirty="0">
                <a:solidFill>
                  <a:srgbClr val="1A1A1A"/>
                </a:solidFill>
                <a:latin typeface="Calibri" pitchFamily="34" charset="0"/>
                <a:ea typeface="Calibri" pitchFamily="34" charset="-122"/>
                <a:cs typeface="Calibri" pitchFamily="34" charset="-120"/>
              </a:rPr>
              <a:t>Las transferencias confirman ambos saldos o ninguno.</a:t>
            </a:r>
            <a:endParaRPr lang="en-US" sz="1600" dirty="0"/>
          </a:p>
        </p:txBody>
      </p:sp>
      <p:sp>
        <p:nvSpPr>
          <p:cNvPr id="18" name="Shape 16"/>
          <p:cNvSpPr/>
          <p:nvPr/>
        </p:nvSpPr>
        <p:spPr>
          <a:xfrm>
            <a:off x="777240" y="5166360"/>
            <a:ext cx="365760" cy="365760"/>
          </a:xfrm>
          <a:prstGeom prst="ellipse">
            <a:avLst/>
          </a:prstGeom>
          <a:solidFill>
            <a:srgbClr val="4FAE60"/>
          </a:solidFill>
          <a:ln/>
        </p:spPr>
        <p:txBody>
          <a:bodyPr/>
          <a:lstStyle/>
          <a:p>
            <a:endParaRPr lang="es-US" sz="2800"/>
          </a:p>
        </p:txBody>
      </p:sp>
      <p:sp>
        <p:nvSpPr>
          <p:cNvPr id="19" name="Text 17"/>
          <p:cNvSpPr/>
          <p:nvPr/>
        </p:nvSpPr>
        <p:spPr>
          <a:xfrm>
            <a:off x="777240" y="5166360"/>
            <a:ext cx="365760" cy="36576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v</a:t>
            </a:r>
            <a:endParaRPr lang="en-US" sz="2400" dirty="0"/>
          </a:p>
        </p:txBody>
      </p:sp>
      <p:sp>
        <p:nvSpPr>
          <p:cNvPr id="20" name="Text 18"/>
          <p:cNvSpPr/>
          <p:nvPr/>
        </p:nvSpPr>
        <p:spPr>
          <a:xfrm>
            <a:off x="1280160" y="5120640"/>
            <a:ext cx="4480560" cy="365760"/>
          </a:xfrm>
          <a:prstGeom prst="rect">
            <a:avLst/>
          </a:prstGeom>
          <a:noFill/>
          <a:ln/>
        </p:spPr>
        <p:txBody>
          <a:bodyPr wrap="square" lIns="0" tIns="0" rIns="0" bIns="0" rtlCol="0" anchor="ctr"/>
          <a:lstStyle/>
          <a:p>
            <a:pPr marL="0" indent="0">
              <a:buNone/>
            </a:pPr>
            <a:r>
              <a:rPr lang="en-US" b="1" dirty="0">
                <a:solidFill>
                  <a:srgbClr val="0E3F7E"/>
                </a:solidFill>
                <a:latin typeface="Calibri" pitchFamily="34" charset="0"/>
                <a:ea typeface="Calibri" pitchFamily="34" charset="-122"/>
                <a:cs typeface="Calibri" pitchFamily="34" charset="-120"/>
              </a:rPr>
              <a:t>Autonomia local</a:t>
            </a:r>
            <a:endParaRPr lang="en-US" dirty="0"/>
          </a:p>
        </p:txBody>
      </p:sp>
      <p:sp>
        <p:nvSpPr>
          <p:cNvPr id="21" name="Text 19"/>
          <p:cNvSpPr/>
          <p:nvPr/>
        </p:nvSpPr>
        <p:spPr>
          <a:xfrm>
            <a:off x="1280160" y="5486400"/>
            <a:ext cx="4480560" cy="640080"/>
          </a:xfrm>
          <a:prstGeom prst="rect">
            <a:avLst/>
          </a:prstGeom>
          <a:noFill/>
          <a:ln/>
        </p:spPr>
        <p:txBody>
          <a:bodyPr wrap="square" rtlCol="0" anchor="ctr"/>
          <a:lstStyle/>
          <a:p>
            <a:pPr marL="0" indent="0">
              <a:buNone/>
            </a:pPr>
            <a:r>
              <a:rPr lang="en-US" sz="1600" dirty="0">
                <a:solidFill>
                  <a:srgbClr val="1A1A1A"/>
                </a:solidFill>
                <a:latin typeface="Calibri" pitchFamily="34" charset="0"/>
                <a:ea typeface="Calibri" pitchFamily="34" charset="-122"/>
                <a:cs typeface="Calibri" pitchFamily="34" charset="-120"/>
              </a:rPr>
              <a:t>Ante caida de un nodo, las operaciones locales del otro siguen funcionando.</a:t>
            </a:r>
            <a:endParaRPr lang="en-US" sz="1600" dirty="0"/>
          </a:p>
        </p:txBody>
      </p:sp>
      <p:sp>
        <p:nvSpPr>
          <p:cNvPr id="22" name="Shape 20"/>
          <p:cNvSpPr/>
          <p:nvPr/>
        </p:nvSpPr>
        <p:spPr>
          <a:xfrm>
            <a:off x="6172200" y="1280160"/>
            <a:ext cx="5486400" cy="5120640"/>
          </a:xfrm>
          <a:prstGeom prst="roundRect">
            <a:avLst>
              <a:gd name="adj" fmla="val 1429"/>
            </a:avLst>
          </a:prstGeom>
          <a:solidFill>
            <a:srgbClr val="FEF5E6"/>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sz="2800"/>
          </a:p>
        </p:txBody>
      </p:sp>
      <p:sp>
        <p:nvSpPr>
          <p:cNvPr id="23" name="Text 21"/>
          <p:cNvSpPr/>
          <p:nvPr/>
        </p:nvSpPr>
        <p:spPr>
          <a:xfrm>
            <a:off x="6400800" y="1417320"/>
            <a:ext cx="5029200" cy="365760"/>
          </a:xfrm>
          <a:prstGeom prst="rect">
            <a:avLst/>
          </a:prstGeom>
          <a:noFill/>
          <a:ln/>
        </p:spPr>
        <p:txBody>
          <a:bodyPr wrap="square" lIns="0" tIns="0" rIns="0" bIns="0" rtlCol="0" anchor="ctr"/>
          <a:lstStyle/>
          <a:p>
            <a:pPr marL="0" indent="0">
              <a:buNone/>
            </a:pPr>
            <a:r>
              <a:rPr lang="en-US" sz="2000" b="1" dirty="0">
                <a:solidFill>
                  <a:srgbClr val="F2A413"/>
                </a:solidFill>
                <a:latin typeface="Calibri" pitchFamily="34" charset="0"/>
                <a:ea typeface="Calibri" pitchFamily="34" charset="-122"/>
                <a:cs typeface="Calibri" pitchFamily="34" charset="-120"/>
              </a:rPr>
              <a:t>Extension: migracion a CockroachDB</a:t>
            </a:r>
            <a:endParaRPr lang="en-US" sz="2000" dirty="0"/>
          </a:p>
        </p:txBody>
      </p:sp>
      <p:sp>
        <p:nvSpPr>
          <p:cNvPr id="24" name="Text 22"/>
          <p:cNvSpPr/>
          <p:nvPr/>
        </p:nvSpPr>
        <p:spPr>
          <a:xfrm>
            <a:off x="6400800" y="1828800"/>
            <a:ext cx="5029200" cy="731520"/>
          </a:xfrm>
          <a:prstGeom prst="rect">
            <a:avLst/>
          </a:prstGeom>
          <a:noFill/>
          <a:ln/>
        </p:spPr>
        <p:txBody>
          <a:bodyPr wrap="square" rtlCol="0" anchor="ctr"/>
          <a:lstStyle/>
          <a:p>
            <a:pPr marL="0" indent="0">
              <a:buNone/>
            </a:pPr>
            <a:r>
              <a:rPr lang="en-US" dirty="0">
                <a:solidFill>
                  <a:srgbClr val="1A1A1A"/>
                </a:solidFill>
                <a:latin typeface="Calibri" pitchFamily="34" charset="0"/>
                <a:ea typeface="Calibri" pitchFamily="34" charset="-122"/>
                <a:cs typeface="Calibri" pitchFamily="34" charset="-120"/>
              </a:rPr>
              <a:t>Reto adicional para los equipos PFC: migrar el mismo esquema a un cluster CockroachDB de tres nodos.</a:t>
            </a:r>
            <a:endParaRPr lang="en-US" dirty="0"/>
          </a:p>
        </p:txBody>
      </p:sp>
      <p:sp>
        <p:nvSpPr>
          <p:cNvPr id="25" name="Text 23"/>
          <p:cNvSpPr/>
          <p:nvPr/>
        </p:nvSpPr>
        <p:spPr>
          <a:xfrm>
            <a:off x="6400800" y="2606040"/>
            <a:ext cx="5029200" cy="3200400"/>
          </a:xfrm>
          <a:prstGeom prst="rect">
            <a:avLst/>
          </a:prstGeom>
          <a:noFill/>
          <a:ln/>
        </p:spPr>
        <p:txBody>
          <a:bodyPr wrap="square" rtlCol="0" anchor="ctr"/>
          <a:lstStyle/>
          <a:p>
            <a:pPr marL="342900" indent="-342900">
              <a:spcAft>
                <a:spcPts val="800"/>
              </a:spcAft>
              <a:buSzPct val="100000"/>
              <a:buChar char="•"/>
            </a:pPr>
            <a:r>
              <a:rPr lang="en-US" sz="1600" dirty="0">
                <a:solidFill>
                  <a:srgbClr val="1A1A1A"/>
                </a:solidFill>
                <a:latin typeface="Calibri" pitchFamily="34" charset="0"/>
                <a:ea typeface="Calibri" pitchFamily="34" charset="-122"/>
                <a:cs typeface="Calibri" pitchFamily="34" charset="-120"/>
              </a:rPr>
              <a:t>Complejidad del despliegue: docker-compose con 3 nodos versus 2 PostgreSQL</a:t>
            </a:r>
            <a:endParaRPr lang="en-US" sz="1600" dirty="0"/>
          </a:p>
          <a:p>
            <a:pPr marL="342900" indent="-342900">
              <a:spcAft>
                <a:spcPts val="800"/>
              </a:spcAft>
              <a:buSzPct val="100000"/>
              <a:buChar char="•"/>
            </a:pPr>
            <a:r>
              <a:rPr lang="en-US" sz="1600" dirty="0">
                <a:solidFill>
                  <a:srgbClr val="1A1A1A"/>
                </a:solidFill>
                <a:latin typeface="Calibri" pitchFamily="34" charset="0"/>
                <a:ea typeface="Calibri" pitchFamily="34" charset="-122"/>
                <a:cs typeface="Calibri" pitchFamily="34" charset="-120"/>
              </a:rPr>
              <a:t>Comportamiento ante caida: Raft sigue operando con 2 de 3 nodos</a:t>
            </a:r>
            <a:endParaRPr lang="en-US" sz="1600" dirty="0"/>
          </a:p>
          <a:p>
            <a:pPr marL="342900" indent="-342900">
              <a:spcAft>
                <a:spcPts val="800"/>
              </a:spcAft>
              <a:buSzPct val="100000"/>
              <a:buChar char="•"/>
            </a:pPr>
            <a:r>
              <a:rPr lang="en-US" sz="1600" dirty="0">
                <a:solidFill>
                  <a:srgbClr val="1A1A1A"/>
                </a:solidFill>
                <a:latin typeface="Calibri" pitchFamily="34" charset="0"/>
                <a:ea typeface="Calibri" pitchFamily="34" charset="-122"/>
                <a:cs typeface="Calibri" pitchFamily="34" charset="-120"/>
              </a:rPr>
              <a:t>Transparencia de fragmentacion: automatica via ranges, sin catalogo manual</a:t>
            </a:r>
            <a:endParaRPr lang="en-US" sz="1600" dirty="0"/>
          </a:p>
          <a:p>
            <a:pPr marL="342900" indent="-342900">
              <a:spcAft>
                <a:spcPts val="800"/>
              </a:spcAft>
              <a:buSzPct val="100000"/>
              <a:buChar char="•"/>
            </a:pPr>
            <a:r>
              <a:rPr lang="en-US" sz="1600" dirty="0">
                <a:solidFill>
                  <a:srgbClr val="1A1A1A"/>
                </a:solidFill>
                <a:latin typeface="Calibri" pitchFamily="34" charset="0"/>
                <a:ea typeface="Calibri" pitchFamily="34" charset="-122"/>
                <a:cs typeface="Calibri" pitchFamily="34" charset="-120"/>
              </a:rPr>
              <a:t>Serializabilidad estricta de CockroachDB vs aislamiento de PostgreSQL local</a:t>
            </a:r>
            <a:endParaRPr lang="en-US" sz="1600" dirty="0"/>
          </a:p>
          <a:p>
            <a:pPr marL="342900" indent="-342900">
              <a:spcAft>
                <a:spcPts val="800"/>
              </a:spcAft>
              <a:buSzPct val="100000"/>
              <a:buChar char="•"/>
            </a:pPr>
            <a:r>
              <a:rPr lang="en-US" sz="1600" dirty="0">
                <a:solidFill>
                  <a:srgbClr val="1A1A1A"/>
                </a:solidFill>
                <a:latin typeface="Calibri" pitchFamily="34" charset="0"/>
                <a:ea typeface="Calibri" pitchFamily="34" charset="-122"/>
                <a:cs typeface="Calibri" pitchFamily="34" charset="-120"/>
              </a:rPr>
              <a:t>Programar con JDBC: 100% compatible, sin cambios de codigo de aplicacion</a:t>
            </a:r>
            <a:endParaRPr lang="en-US" sz="1600" dirty="0"/>
          </a:p>
        </p:txBody>
      </p:sp>
      <p:sp>
        <p:nvSpPr>
          <p:cNvPr id="26" name="Text 24"/>
          <p:cNvSpPr/>
          <p:nvPr/>
        </p:nvSpPr>
        <p:spPr>
          <a:xfrm>
            <a:off x="6400800" y="5897880"/>
            <a:ext cx="5029200" cy="365760"/>
          </a:xfrm>
          <a:prstGeom prst="rect">
            <a:avLst/>
          </a:prstGeom>
          <a:noFill/>
          <a:ln/>
        </p:spPr>
        <p:txBody>
          <a:bodyPr wrap="square" rtlCol="0" anchor="ctr"/>
          <a:lstStyle/>
          <a:p>
            <a:pPr marL="0" indent="0">
              <a:buNone/>
            </a:pPr>
            <a:r>
              <a:rPr lang="en-US" sz="1600" b="1" i="1" dirty="0">
                <a:solidFill>
                  <a:srgbClr val="F2A413"/>
                </a:solidFill>
                <a:latin typeface="Calibri" pitchFamily="34" charset="0"/>
                <a:ea typeface="Calibri" pitchFamily="34" charset="-122"/>
                <a:cs typeface="Calibri" pitchFamily="34" charset="-120"/>
              </a:rPr>
              <a:t>Este reto es la base de la Guia GA-SUM-03 de la semana 11</a:t>
            </a:r>
            <a:endParaRPr lang="en-US" sz="1600" dirty="0"/>
          </a:p>
        </p:txBody>
      </p:sp>
      <p:sp>
        <p:nvSpPr>
          <p:cNvPr id="27" name="Text 25"/>
          <p:cNvSpPr/>
          <p:nvPr/>
        </p:nvSpPr>
        <p:spPr>
          <a:xfrm>
            <a:off x="457200" y="6492240"/>
            <a:ext cx="8229600" cy="274320"/>
          </a:xfrm>
          <a:prstGeom prst="rect">
            <a:avLst/>
          </a:prstGeom>
          <a:noFill/>
          <a:ln/>
        </p:spPr>
        <p:txBody>
          <a:bodyPr wrap="square" rtlCol="0" anchor="ctr"/>
          <a:lstStyle/>
          <a:p>
            <a:pPr marL="0" indent="0">
              <a:buNone/>
            </a:pPr>
            <a:r>
              <a:rPr lang="en-US" sz="900" dirty="0">
                <a:solidFill>
                  <a:srgbClr val="4A4A4A"/>
                </a:solidFill>
                <a:latin typeface="Calibri" pitchFamily="34" charset="0"/>
                <a:ea typeface="Calibri" pitchFamily="34" charset="-122"/>
                <a:cs typeface="Calibri" pitchFamily="34" charset="-120"/>
              </a:rPr>
              <a:t>UTEQ - Aplicaciones Distribuidas (ISR-701) - Unidad 3</a:t>
            </a:r>
            <a:endParaRPr lang="en-US" sz="900" dirty="0"/>
          </a:p>
        </p:txBody>
      </p:sp>
      <p:sp>
        <p:nvSpPr>
          <p:cNvPr id="28" name="Text 26"/>
          <p:cNvSpPr/>
          <p:nvPr/>
        </p:nvSpPr>
        <p:spPr>
          <a:xfrm>
            <a:off x="10789920" y="6492240"/>
            <a:ext cx="914400" cy="274320"/>
          </a:xfrm>
          <a:prstGeom prst="rect">
            <a:avLst/>
          </a:prstGeom>
          <a:noFill/>
          <a:ln/>
        </p:spPr>
        <p:txBody>
          <a:bodyPr wrap="square"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40 / 42</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marL="0" indent="0">
              <a:buNone/>
            </a:pPr>
            <a:r>
              <a:rPr lang="en-US" sz="3600" b="1" dirty="0">
                <a:solidFill>
                  <a:srgbClr val="0E3F7E"/>
                </a:solidFill>
                <a:latin typeface="Calibri" pitchFamily="34" charset="0"/>
                <a:ea typeface="Calibri" pitchFamily="34" charset="-122"/>
                <a:cs typeface="Calibri" pitchFamily="34" charset="-120"/>
              </a:rPr>
              <a:t>Conclusiones</a:t>
            </a:r>
            <a:endParaRPr lang="en-US" sz="3600" dirty="0"/>
          </a:p>
        </p:txBody>
      </p:sp>
      <p:sp>
        <p:nvSpPr>
          <p:cNvPr id="3" name="Text 1"/>
          <p:cNvSpPr/>
          <p:nvPr/>
        </p:nvSpPr>
        <p:spPr>
          <a:xfrm>
            <a:off x="457200" y="777240"/>
            <a:ext cx="11247120" cy="320040"/>
          </a:xfrm>
          <a:prstGeom prst="rect">
            <a:avLst/>
          </a:prstGeom>
          <a:noFill/>
          <a:ln/>
        </p:spPr>
        <p:txBody>
          <a:bodyPr wrap="square" lIns="0" tIns="0" rIns="0" bIns="0" rtlCol="0" anchor="ctr"/>
          <a:lstStyle/>
          <a:p>
            <a:pPr marL="0" indent="0">
              <a:buNone/>
            </a:pPr>
            <a:r>
              <a:rPr lang="en-US" i="1" dirty="0">
                <a:solidFill>
                  <a:srgbClr val="2E86A1"/>
                </a:solidFill>
                <a:latin typeface="Calibri" pitchFamily="34" charset="0"/>
                <a:ea typeface="Calibri" pitchFamily="34" charset="-122"/>
                <a:cs typeface="Calibri" pitchFamily="34" charset="-120"/>
              </a:rPr>
              <a:t>Cinco ideas para llevar a la vida profesional</a:t>
            </a:r>
            <a:endParaRPr lang="en-US" dirty="0"/>
          </a:p>
        </p:txBody>
      </p:sp>
      <p:sp>
        <p:nvSpPr>
          <p:cNvPr id="4" name="Shape 2"/>
          <p:cNvSpPr/>
          <p:nvPr/>
        </p:nvSpPr>
        <p:spPr>
          <a:xfrm>
            <a:off x="548640" y="1280160"/>
            <a:ext cx="11064240" cy="914400"/>
          </a:xfrm>
          <a:prstGeom prst="roundRect">
            <a:avLst>
              <a:gd name="adj" fmla="val 8000"/>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sz="2400"/>
          </a:p>
        </p:txBody>
      </p:sp>
      <p:sp>
        <p:nvSpPr>
          <p:cNvPr id="5" name="Shape 3"/>
          <p:cNvSpPr/>
          <p:nvPr/>
        </p:nvSpPr>
        <p:spPr>
          <a:xfrm>
            <a:off x="777240" y="1417320"/>
            <a:ext cx="640080" cy="640080"/>
          </a:xfrm>
          <a:prstGeom prst="ellipse">
            <a:avLst/>
          </a:prstGeom>
          <a:solidFill>
            <a:srgbClr val="0E3F7E"/>
          </a:solidFill>
          <a:ln/>
        </p:spPr>
        <p:txBody>
          <a:bodyPr/>
          <a:lstStyle/>
          <a:p>
            <a:endParaRPr lang="es-US" sz="2400"/>
          </a:p>
        </p:txBody>
      </p:sp>
      <p:sp>
        <p:nvSpPr>
          <p:cNvPr id="6" name="Text 4"/>
          <p:cNvSpPr/>
          <p:nvPr/>
        </p:nvSpPr>
        <p:spPr>
          <a:xfrm>
            <a:off x="777240" y="1417320"/>
            <a:ext cx="640080" cy="640080"/>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1</a:t>
            </a:r>
            <a:endParaRPr lang="en-US" sz="3200" dirty="0"/>
          </a:p>
        </p:txBody>
      </p:sp>
      <p:sp>
        <p:nvSpPr>
          <p:cNvPr id="7" name="Text 5"/>
          <p:cNvSpPr/>
          <p:nvPr/>
        </p:nvSpPr>
        <p:spPr>
          <a:xfrm>
            <a:off x="1554480" y="1371600"/>
            <a:ext cx="10058400" cy="365760"/>
          </a:xfrm>
          <a:prstGeom prst="rect">
            <a:avLst/>
          </a:prstGeom>
          <a:noFill/>
          <a:ln/>
        </p:spPr>
        <p:txBody>
          <a:bodyPr wrap="square" lIns="0" tIns="0" rIns="0" bIns="0" rtlCol="0" anchor="ctr"/>
          <a:lstStyle/>
          <a:p>
            <a:pPr marL="0" indent="0">
              <a:buNone/>
            </a:pPr>
            <a:r>
              <a:rPr lang="en-US" b="1" dirty="0">
                <a:solidFill>
                  <a:srgbClr val="0E3F7E"/>
                </a:solidFill>
                <a:latin typeface="Calibri" pitchFamily="34" charset="0"/>
                <a:ea typeface="Calibri" pitchFamily="34" charset="-122"/>
                <a:cs typeface="Calibri" pitchFamily="34" charset="-120"/>
              </a:rPr>
              <a:t>BDD es cambio de paradigma, no evolucion</a:t>
            </a:r>
            <a:endParaRPr lang="en-US" dirty="0"/>
          </a:p>
        </p:txBody>
      </p:sp>
      <p:sp>
        <p:nvSpPr>
          <p:cNvPr id="8" name="Text 6"/>
          <p:cNvSpPr/>
          <p:nvPr/>
        </p:nvSpPr>
        <p:spPr>
          <a:xfrm>
            <a:off x="1554480" y="1737360"/>
            <a:ext cx="10058400" cy="457200"/>
          </a:xfrm>
          <a:prstGeom prst="rect">
            <a:avLst/>
          </a:prstGeom>
          <a:noFill/>
          <a:ln/>
        </p:spPr>
        <p:txBody>
          <a:bodyPr wrap="square" rtlCol="0" anchor="ctr"/>
          <a:lstStyle/>
          <a:p>
            <a:pPr marL="0" indent="0">
              <a:buNone/>
            </a:pPr>
            <a:r>
              <a:rPr lang="en-US" sz="1400" dirty="0">
                <a:solidFill>
                  <a:srgbClr val="1A1A1A"/>
                </a:solidFill>
                <a:latin typeface="Calibri" pitchFamily="34" charset="0"/>
                <a:ea typeface="Calibri" pitchFamily="34" charset="-122"/>
                <a:cs typeface="Calibri" pitchFamily="34" charset="-120"/>
              </a:rPr>
              <a:t>Introduce trade-offs ineludibles entre consistencia, disponibilidad y tolerancia a particiones. No es solo SQL en varios servidores.</a:t>
            </a:r>
            <a:endParaRPr lang="en-US" sz="1400" dirty="0"/>
          </a:p>
        </p:txBody>
      </p:sp>
      <p:sp>
        <p:nvSpPr>
          <p:cNvPr id="9" name="Shape 7"/>
          <p:cNvSpPr/>
          <p:nvPr/>
        </p:nvSpPr>
        <p:spPr>
          <a:xfrm>
            <a:off x="548640" y="2286000"/>
            <a:ext cx="11064240" cy="914400"/>
          </a:xfrm>
          <a:prstGeom prst="roundRect">
            <a:avLst>
              <a:gd name="adj" fmla="val 8000"/>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sz="2400"/>
          </a:p>
        </p:txBody>
      </p:sp>
      <p:sp>
        <p:nvSpPr>
          <p:cNvPr id="10" name="Shape 8"/>
          <p:cNvSpPr/>
          <p:nvPr/>
        </p:nvSpPr>
        <p:spPr>
          <a:xfrm>
            <a:off x="777240" y="2423160"/>
            <a:ext cx="640080" cy="640080"/>
          </a:xfrm>
          <a:prstGeom prst="ellipse">
            <a:avLst/>
          </a:prstGeom>
          <a:solidFill>
            <a:srgbClr val="0E3F7E"/>
          </a:solidFill>
          <a:ln/>
        </p:spPr>
        <p:txBody>
          <a:bodyPr/>
          <a:lstStyle/>
          <a:p>
            <a:endParaRPr lang="es-US" sz="2400"/>
          </a:p>
        </p:txBody>
      </p:sp>
      <p:sp>
        <p:nvSpPr>
          <p:cNvPr id="11" name="Text 9"/>
          <p:cNvSpPr/>
          <p:nvPr/>
        </p:nvSpPr>
        <p:spPr>
          <a:xfrm>
            <a:off x="777240" y="2423160"/>
            <a:ext cx="640080" cy="640080"/>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2</a:t>
            </a:r>
            <a:endParaRPr lang="en-US" sz="3200" dirty="0"/>
          </a:p>
        </p:txBody>
      </p:sp>
      <p:sp>
        <p:nvSpPr>
          <p:cNvPr id="12" name="Text 10"/>
          <p:cNvSpPr/>
          <p:nvPr/>
        </p:nvSpPr>
        <p:spPr>
          <a:xfrm>
            <a:off x="1554480" y="2377440"/>
            <a:ext cx="10058400" cy="365760"/>
          </a:xfrm>
          <a:prstGeom prst="rect">
            <a:avLst/>
          </a:prstGeom>
          <a:noFill/>
          <a:ln/>
        </p:spPr>
        <p:txBody>
          <a:bodyPr wrap="square" lIns="0" tIns="0" rIns="0" bIns="0" rtlCol="0" anchor="ctr"/>
          <a:lstStyle/>
          <a:p>
            <a:pPr marL="0" indent="0">
              <a:buNone/>
            </a:pPr>
            <a:r>
              <a:rPr lang="en-US" b="1" dirty="0">
                <a:solidFill>
                  <a:srgbClr val="0E3F7E"/>
                </a:solidFill>
                <a:latin typeface="Calibri" pitchFamily="34" charset="0"/>
                <a:ea typeface="Calibri" pitchFamily="34" charset="-122"/>
                <a:cs typeface="Calibri" pitchFamily="34" charset="-120"/>
              </a:rPr>
              <a:t>Tres decisiones estrategicas iniciales</a:t>
            </a:r>
            <a:endParaRPr lang="en-US" dirty="0"/>
          </a:p>
        </p:txBody>
      </p:sp>
      <p:sp>
        <p:nvSpPr>
          <p:cNvPr id="13" name="Text 11"/>
          <p:cNvSpPr/>
          <p:nvPr/>
        </p:nvSpPr>
        <p:spPr>
          <a:xfrm>
            <a:off x="1554480" y="2743200"/>
            <a:ext cx="10058400" cy="457200"/>
          </a:xfrm>
          <a:prstGeom prst="rect">
            <a:avLst/>
          </a:prstGeom>
          <a:noFill/>
          <a:ln/>
        </p:spPr>
        <p:txBody>
          <a:bodyPr wrap="square" rtlCol="0" anchor="ctr"/>
          <a:lstStyle/>
          <a:p>
            <a:pPr marL="0" indent="0">
              <a:buNone/>
            </a:pPr>
            <a:r>
              <a:rPr lang="en-US" sz="1400" dirty="0">
                <a:solidFill>
                  <a:srgbClr val="1A1A1A"/>
                </a:solidFill>
                <a:latin typeface="Calibri" pitchFamily="34" charset="0"/>
                <a:ea typeface="Calibri" pitchFamily="34" charset="-122"/>
                <a:cs typeface="Calibri" pitchFamily="34" charset="-120"/>
              </a:rPr>
              <a:t>Arquitectura (cliente-servidor / federada / P2P), esquema de distribucion (fragmentacion + replicacion) y modelo de consistencia (CP / AP, fuerte / eventual).</a:t>
            </a:r>
            <a:endParaRPr lang="en-US" sz="1400" dirty="0"/>
          </a:p>
        </p:txBody>
      </p:sp>
      <p:sp>
        <p:nvSpPr>
          <p:cNvPr id="14" name="Shape 12"/>
          <p:cNvSpPr/>
          <p:nvPr/>
        </p:nvSpPr>
        <p:spPr>
          <a:xfrm>
            <a:off x="548640" y="3291840"/>
            <a:ext cx="11064240" cy="914400"/>
          </a:xfrm>
          <a:prstGeom prst="roundRect">
            <a:avLst>
              <a:gd name="adj" fmla="val 8000"/>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sz="2400"/>
          </a:p>
        </p:txBody>
      </p:sp>
      <p:sp>
        <p:nvSpPr>
          <p:cNvPr id="15" name="Shape 13"/>
          <p:cNvSpPr/>
          <p:nvPr/>
        </p:nvSpPr>
        <p:spPr>
          <a:xfrm>
            <a:off x="777240" y="3429000"/>
            <a:ext cx="640080" cy="640080"/>
          </a:xfrm>
          <a:prstGeom prst="ellipse">
            <a:avLst/>
          </a:prstGeom>
          <a:solidFill>
            <a:srgbClr val="0E3F7E"/>
          </a:solidFill>
          <a:ln/>
        </p:spPr>
        <p:txBody>
          <a:bodyPr/>
          <a:lstStyle/>
          <a:p>
            <a:endParaRPr lang="es-US" sz="2400"/>
          </a:p>
        </p:txBody>
      </p:sp>
      <p:sp>
        <p:nvSpPr>
          <p:cNvPr id="16" name="Text 14"/>
          <p:cNvSpPr/>
          <p:nvPr/>
        </p:nvSpPr>
        <p:spPr>
          <a:xfrm>
            <a:off x="777240" y="3429000"/>
            <a:ext cx="640080" cy="640080"/>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3</a:t>
            </a:r>
            <a:endParaRPr lang="en-US" sz="3200" dirty="0"/>
          </a:p>
        </p:txBody>
      </p:sp>
      <p:sp>
        <p:nvSpPr>
          <p:cNvPr id="17" name="Text 15"/>
          <p:cNvSpPr/>
          <p:nvPr/>
        </p:nvSpPr>
        <p:spPr>
          <a:xfrm>
            <a:off x="1554480" y="3383280"/>
            <a:ext cx="10058400" cy="365760"/>
          </a:xfrm>
          <a:prstGeom prst="rect">
            <a:avLst/>
          </a:prstGeom>
          <a:noFill/>
          <a:ln/>
        </p:spPr>
        <p:txBody>
          <a:bodyPr wrap="square" lIns="0" tIns="0" rIns="0" bIns="0" rtlCol="0" anchor="ctr"/>
          <a:lstStyle/>
          <a:p>
            <a:pPr marL="0" indent="0">
              <a:buNone/>
            </a:pPr>
            <a:r>
              <a:rPr lang="en-US" b="1" dirty="0">
                <a:solidFill>
                  <a:srgbClr val="0E3F7E"/>
                </a:solidFill>
                <a:latin typeface="Calibri" pitchFamily="34" charset="0"/>
                <a:ea typeface="Calibri" pitchFamily="34" charset="-122"/>
                <a:cs typeface="Calibri" pitchFamily="34" charset="-120"/>
              </a:rPr>
              <a:t>Los protocolos sostienen las garantias</a:t>
            </a:r>
            <a:endParaRPr lang="en-US" dirty="0"/>
          </a:p>
        </p:txBody>
      </p:sp>
      <p:sp>
        <p:nvSpPr>
          <p:cNvPr id="18" name="Text 16"/>
          <p:cNvSpPr/>
          <p:nvPr/>
        </p:nvSpPr>
        <p:spPr>
          <a:xfrm>
            <a:off x="1554480" y="3749040"/>
            <a:ext cx="10058400" cy="457200"/>
          </a:xfrm>
          <a:prstGeom prst="rect">
            <a:avLst/>
          </a:prstGeom>
          <a:noFill/>
          <a:ln/>
        </p:spPr>
        <p:txBody>
          <a:bodyPr wrap="square" rtlCol="0" anchor="ctr"/>
          <a:lstStyle/>
          <a:p>
            <a:pPr marL="0" indent="0">
              <a:buNone/>
            </a:pPr>
            <a:r>
              <a:rPr lang="en-US" sz="1400" dirty="0">
                <a:solidFill>
                  <a:srgbClr val="1A1A1A"/>
                </a:solidFill>
                <a:latin typeface="Calibri" pitchFamily="34" charset="0"/>
                <a:ea typeface="Calibri" pitchFamily="34" charset="-122"/>
                <a:cs typeface="Calibri" pitchFamily="34" charset="-120"/>
              </a:rPr>
              <a:t>2PL, 2PC, 3PC, MVCC y consenso (Raft, Paxos) son la maquinaria que hace posible ACID en distribuido. Conocer sus limites es indispensable.</a:t>
            </a:r>
            <a:endParaRPr lang="en-US" sz="1400" dirty="0"/>
          </a:p>
        </p:txBody>
      </p:sp>
      <p:sp>
        <p:nvSpPr>
          <p:cNvPr id="19" name="Shape 17"/>
          <p:cNvSpPr/>
          <p:nvPr/>
        </p:nvSpPr>
        <p:spPr>
          <a:xfrm>
            <a:off x="548640" y="4297680"/>
            <a:ext cx="11064240" cy="914400"/>
          </a:xfrm>
          <a:prstGeom prst="roundRect">
            <a:avLst>
              <a:gd name="adj" fmla="val 8000"/>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sz="2400"/>
          </a:p>
        </p:txBody>
      </p:sp>
      <p:sp>
        <p:nvSpPr>
          <p:cNvPr id="20" name="Shape 18"/>
          <p:cNvSpPr/>
          <p:nvPr/>
        </p:nvSpPr>
        <p:spPr>
          <a:xfrm>
            <a:off x="777240" y="4434840"/>
            <a:ext cx="640080" cy="640080"/>
          </a:xfrm>
          <a:prstGeom prst="ellipse">
            <a:avLst/>
          </a:prstGeom>
          <a:solidFill>
            <a:srgbClr val="0E3F7E"/>
          </a:solidFill>
          <a:ln/>
        </p:spPr>
        <p:txBody>
          <a:bodyPr/>
          <a:lstStyle/>
          <a:p>
            <a:endParaRPr lang="es-US" sz="2400"/>
          </a:p>
        </p:txBody>
      </p:sp>
      <p:sp>
        <p:nvSpPr>
          <p:cNvPr id="21" name="Text 19"/>
          <p:cNvSpPr/>
          <p:nvPr/>
        </p:nvSpPr>
        <p:spPr>
          <a:xfrm>
            <a:off x="777240" y="4434840"/>
            <a:ext cx="640080" cy="640080"/>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4</a:t>
            </a:r>
            <a:endParaRPr lang="en-US" sz="3200" dirty="0"/>
          </a:p>
        </p:txBody>
      </p:sp>
      <p:sp>
        <p:nvSpPr>
          <p:cNvPr id="22" name="Text 20"/>
          <p:cNvSpPr/>
          <p:nvPr/>
        </p:nvSpPr>
        <p:spPr>
          <a:xfrm>
            <a:off x="1554480" y="4389120"/>
            <a:ext cx="10058400" cy="365760"/>
          </a:xfrm>
          <a:prstGeom prst="rect">
            <a:avLst/>
          </a:prstGeom>
          <a:noFill/>
          <a:ln/>
        </p:spPr>
        <p:txBody>
          <a:bodyPr wrap="square" lIns="0" tIns="0" rIns="0" bIns="0" rtlCol="0" anchor="ctr"/>
          <a:lstStyle/>
          <a:p>
            <a:pPr marL="0" indent="0">
              <a:buNone/>
            </a:pPr>
            <a:r>
              <a:rPr lang="en-US" b="1" dirty="0">
                <a:solidFill>
                  <a:srgbClr val="0E3F7E"/>
                </a:solidFill>
                <a:latin typeface="Calibri" pitchFamily="34" charset="0"/>
                <a:ea typeface="Calibri" pitchFamily="34" charset="-122"/>
                <a:cs typeface="Calibri" pitchFamily="34" charset="-120"/>
              </a:rPr>
              <a:t>La teoria se materializa en codigo</a:t>
            </a:r>
            <a:endParaRPr lang="en-US" dirty="0"/>
          </a:p>
        </p:txBody>
      </p:sp>
      <p:sp>
        <p:nvSpPr>
          <p:cNvPr id="23" name="Text 21"/>
          <p:cNvSpPr/>
          <p:nvPr/>
        </p:nvSpPr>
        <p:spPr>
          <a:xfrm>
            <a:off x="1554480" y="4754880"/>
            <a:ext cx="10058400" cy="457200"/>
          </a:xfrm>
          <a:prstGeom prst="rect">
            <a:avLst/>
          </a:prstGeom>
          <a:noFill/>
          <a:ln/>
        </p:spPr>
        <p:txBody>
          <a:bodyPr wrap="square" rtlCol="0" anchor="ctr"/>
          <a:lstStyle/>
          <a:p>
            <a:pPr marL="0" indent="0">
              <a:buNone/>
            </a:pPr>
            <a:r>
              <a:rPr lang="en-US" sz="1400" dirty="0">
                <a:solidFill>
                  <a:srgbClr val="1A1A1A"/>
                </a:solidFill>
                <a:latin typeface="Calibri" pitchFamily="34" charset="0"/>
                <a:ea typeface="Calibri" pitchFamily="34" charset="-122"/>
                <a:cs typeface="Calibri" pitchFamily="34" charset="-120"/>
              </a:rPr>
              <a:t>Codigo Java compilable, contenedores Docker funcionales, comportamientos verificables. La distancia entre pizarra y produccion es corta pero exige rigor.</a:t>
            </a:r>
            <a:endParaRPr lang="en-US" sz="1400" dirty="0"/>
          </a:p>
        </p:txBody>
      </p:sp>
      <p:sp>
        <p:nvSpPr>
          <p:cNvPr id="24" name="Shape 22"/>
          <p:cNvSpPr/>
          <p:nvPr/>
        </p:nvSpPr>
        <p:spPr>
          <a:xfrm>
            <a:off x="548640" y="5303520"/>
            <a:ext cx="11064240" cy="914400"/>
          </a:xfrm>
          <a:prstGeom prst="roundRect">
            <a:avLst>
              <a:gd name="adj" fmla="val 8000"/>
            </a:avLst>
          </a:prstGeom>
          <a:solidFill>
            <a:srgbClr val="F7F8FA"/>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sz="2400"/>
          </a:p>
        </p:txBody>
      </p:sp>
      <p:sp>
        <p:nvSpPr>
          <p:cNvPr id="25" name="Shape 23"/>
          <p:cNvSpPr/>
          <p:nvPr/>
        </p:nvSpPr>
        <p:spPr>
          <a:xfrm>
            <a:off x="777240" y="5440680"/>
            <a:ext cx="640080" cy="640080"/>
          </a:xfrm>
          <a:prstGeom prst="ellipse">
            <a:avLst/>
          </a:prstGeom>
          <a:solidFill>
            <a:srgbClr val="0E3F7E"/>
          </a:solidFill>
          <a:ln/>
        </p:spPr>
        <p:txBody>
          <a:bodyPr/>
          <a:lstStyle/>
          <a:p>
            <a:endParaRPr lang="es-US" sz="2400"/>
          </a:p>
        </p:txBody>
      </p:sp>
      <p:sp>
        <p:nvSpPr>
          <p:cNvPr id="26" name="Text 24"/>
          <p:cNvSpPr/>
          <p:nvPr/>
        </p:nvSpPr>
        <p:spPr>
          <a:xfrm>
            <a:off x="777240" y="5440680"/>
            <a:ext cx="640080" cy="640080"/>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5</a:t>
            </a:r>
            <a:endParaRPr lang="en-US" sz="3200" dirty="0"/>
          </a:p>
        </p:txBody>
      </p:sp>
      <p:sp>
        <p:nvSpPr>
          <p:cNvPr id="27" name="Text 25"/>
          <p:cNvSpPr/>
          <p:nvPr/>
        </p:nvSpPr>
        <p:spPr>
          <a:xfrm>
            <a:off x="1554480" y="5394960"/>
            <a:ext cx="10058400" cy="365760"/>
          </a:xfrm>
          <a:prstGeom prst="rect">
            <a:avLst/>
          </a:prstGeom>
          <a:noFill/>
          <a:ln/>
        </p:spPr>
        <p:txBody>
          <a:bodyPr wrap="square" lIns="0" tIns="0" rIns="0" bIns="0" rtlCol="0" anchor="ctr"/>
          <a:lstStyle/>
          <a:p>
            <a:pPr marL="0" indent="0">
              <a:buNone/>
            </a:pPr>
            <a:r>
              <a:rPr lang="en-US" b="1" dirty="0">
                <a:solidFill>
                  <a:srgbClr val="0E3F7E"/>
                </a:solidFill>
                <a:latin typeface="Calibri" pitchFamily="34" charset="0"/>
                <a:ea typeface="Calibri" pitchFamily="34" charset="-122"/>
                <a:cs typeface="Calibri" pitchFamily="34" charset="-120"/>
              </a:rPr>
              <a:t>Eleccion tecnologica con consciencia</a:t>
            </a:r>
            <a:endParaRPr lang="en-US" dirty="0"/>
          </a:p>
        </p:txBody>
      </p:sp>
      <p:sp>
        <p:nvSpPr>
          <p:cNvPr id="28" name="Text 26"/>
          <p:cNvSpPr/>
          <p:nvPr/>
        </p:nvSpPr>
        <p:spPr>
          <a:xfrm>
            <a:off x="1554480" y="5760720"/>
            <a:ext cx="10058400" cy="457200"/>
          </a:xfrm>
          <a:prstGeom prst="rect">
            <a:avLst/>
          </a:prstGeom>
          <a:noFill/>
          <a:ln/>
        </p:spPr>
        <p:txBody>
          <a:bodyPr wrap="square" rtlCol="0" anchor="ctr"/>
          <a:lstStyle/>
          <a:p>
            <a:pPr marL="0" indent="0">
              <a:buNone/>
            </a:pPr>
            <a:r>
              <a:rPr lang="en-US" sz="1400" dirty="0">
                <a:solidFill>
                  <a:srgbClr val="1A1A1A"/>
                </a:solidFill>
                <a:latin typeface="Calibri" pitchFamily="34" charset="0"/>
                <a:ea typeface="Calibri" pitchFamily="34" charset="-122"/>
                <a:cs typeface="Calibri" pitchFamily="34" charset="-120"/>
              </a:rPr>
              <a:t>Spanner, CockroachDB, Cassandra, DynamoDB, MongoDB, PostgreSQL distribuido: cada uno resuelve un problema distinto. No hay sistema universalmente superior.</a:t>
            </a:r>
            <a:endParaRPr lang="en-US" sz="1400" dirty="0"/>
          </a:p>
        </p:txBody>
      </p:sp>
      <p:sp>
        <p:nvSpPr>
          <p:cNvPr id="29" name="Text 27"/>
          <p:cNvSpPr/>
          <p:nvPr/>
        </p:nvSpPr>
        <p:spPr>
          <a:xfrm>
            <a:off x="457200" y="6492240"/>
            <a:ext cx="8229600" cy="274320"/>
          </a:xfrm>
          <a:prstGeom prst="rect">
            <a:avLst/>
          </a:prstGeom>
          <a:noFill/>
          <a:ln/>
        </p:spPr>
        <p:txBody>
          <a:bodyPr wrap="square" rtlCol="0" anchor="ctr"/>
          <a:lstStyle/>
          <a:p>
            <a:pPr marL="0" indent="0">
              <a:buNone/>
            </a:pPr>
            <a:r>
              <a:rPr lang="en-US" sz="900" dirty="0">
                <a:solidFill>
                  <a:srgbClr val="4A4A4A"/>
                </a:solidFill>
                <a:latin typeface="Calibri" pitchFamily="34" charset="0"/>
                <a:ea typeface="Calibri" pitchFamily="34" charset="-122"/>
                <a:cs typeface="Calibri" pitchFamily="34" charset="-120"/>
              </a:rPr>
              <a:t>UTEQ - Aplicaciones Distribuidas (ISR-701) - Unidad 3</a:t>
            </a:r>
            <a:endParaRPr lang="en-US" sz="900" dirty="0"/>
          </a:p>
        </p:txBody>
      </p:sp>
      <p:sp>
        <p:nvSpPr>
          <p:cNvPr id="30" name="Text 28"/>
          <p:cNvSpPr/>
          <p:nvPr/>
        </p:nvSpPr>
        <p:spPr>
          <a:xfrm>
            <a:off x="10789920" y="6492240"/>
            <a:ext cx="914400" cy="274320"/>
          </a:xfrm>
          <a:prstGeom prst="rect">
            <a:avLst/>
          </a:prstGeom>
          <a:noFill/>
          <a:ln/>
        </p:spPr>
        <p:txBody>
          <a:bodyPr wrap="square"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41 / 42</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E3F7E"/>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572000" cy="4572000"/>
          </a:xfrm>
          <a:prstGeom prst="ellipse">
            <a:avLst/>
          </a:prstGeom>
          <a:solidFill>
            <a:srgbClr val="1E5AA8">
              <a:alpha val="60000"/>
            </a:srgbClr>
          </a:solidFill>
          <a:ln/>
        </p:spPr>
        <p:txBody>
          <a:bodyPr/>
          <a:lstStyle/>
          <a:p>
            <a:endParaRPr lang="es-US"/>
          </a:p>
        </p:txBody>
      </p:sp>
      <p:sp>
        <p:nvSpPr>
          <p:cNvPr id="3" name="Shape 1"/>
          <p:cNvSpPr/>
          <p:nvPr/>
        </p:nvSpPr>
        <p:spPr>
          <a:xfrm>
            <a:off x="9144000" y="3657600"/>
            <a:ext cx="4572000" cy="4572000"/>
          </a:xfrm>
          <a:prstGeom prst="ellipse">
            <a:avLst/>
          </a:prstGeom>
          <a:solidFill>
            <a:srgbClr val="2E86A1">
              <a:alpha val="50000"/>
            </a:srgbClr>
          </a:solidFill>
          <a:ln/>
        </p:spPr>
        <p:txBody>
          <a:bodyPr/>
          <a:lstStyle/>
          <a:p>
            <a:endParaRPr lang="es-US"/>
          </a:p>
        </p:txBody>
      </p:sp>
      <p:sp>
        <p:nvSpPr>
          <p:cNvPr id="4" name="Text 2"/>
          <p:cNvSpPr/>
          <p:nvPr/>
        </p:nvSpPr>
        <p:spPr>
          <a:xfrm>
            <a:off x="548640" y="457200"/>
            <a:ext cx="10972800" cy="54864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Referencias clave</a:t>
            </a:r>
            <a:endParaRPr lang="en-US" sz="3200" dirty="0"/>
          </a:p>
        </p:txBody>
      </p:sp>
      <p:sp>
        <p:nvSpPr>
          <p:cNvPr id="5" name="Text 3"/>
          <p:cNvSpPr/>
          <p:nvPr/>
        </p:nvSpPr>
        <p:spPr>
          <a:xfrm>
            <a:off x="548640" y="1005840"/>
            <a:ext cx="10972800" cy="365760"/>
          </a:xfrm>
          <a:prstGeom prst="rect">
            <a:avLst/>
          </a:prstGeom>
          <a:noFill/>
          <a:ln/>
        </p:spPr>
        <p:txBody>
          <a:bodyPr wrap="square" rtlCol="0" anchor="ctr"/>
          <a:lstStyle/>
          <a:p>
            <a:pPr marL="0" indent="0">
              <a:buNone/>
            </a:pPr>
            <a:r>
              <a:rPr lang="en-US" sz="1600" i="1" dirty="0">
                <a:solidFill>
                  <a:srgbClr val="F2A413"/>
                </a:solidFill>
                <a:latin typeface="Calibri" pitchFamily="34" charset="0"/>
                <a:ea typeface="Calibri" pitchFamily="34" charset="-122"/>
                <a:cs typeface="Calibri" pitchFamily="34" charset="-120"/>
              </a:rPr>
              <a:t>Todas con DOI o ISBN verificado</a:t>
            </a:r>
            <a:endParaRPr lang="en-US" sz="1600" dirty="0"/>
          </a:p>
        </p:txBody>
      </p:sp>
      <p:sp>
        <p:nvSpPr>
          <p:cNvPr id="6" name="Text 4"/>
          <p:cNvSpPr/>
          <p:nvPr/>
        </p:nvSpPr>
        <p:spPr>
          <a:xfrm>
            <a:off x="548640" y="1645920"/>
            <a:ext cx="10972800" cy="3474720"/>
          </a:xfrm>
          <a:prstGeom prst="rect">
            <a:avLst/>
          </a:prstGeom>
          <a:noFill/>
          <a:ln/>
        </p:spPr>
        <p:txBody>
          <a:bodyPr wrap="square" rtlCol="0" anchor="ctr"/>
          <a:lstStyle/>
          <a:p>
            <a:pPr marL="0" indent="0">
              <a:spcAft>
                <a:spcPts val="1000"/>
              </a:spcAft>
              <a:buNone/>
            </a:pPr>
            <a:r>
              <a:rPr lang="en-US" sz="1400" dirty="0">
                <a:solidFill>
                  <a:srgbClr val="FFFFFF"/>
                </a:solidFill>
                <a:latin typeface="Calibri" pitchFamily="34" charset="0"/>
                <a:ea typeface="Calibri" pitchFamily="34" charset="-122"/>
                <a:cs typeface="Calibri" pitchFamily="34" charset="-120"/>
              </a:rPr>
              <a:t>[1] M. T. Ozsu and P. Valduriez, Principles of Distributed Database Systems, 4th ed. Cham: Springer, 2020. doi: 10.1007/978-3-030-26253-2</a:t>
            </a:r>
            <a:endParaRPr lang="en-US" sz="1400" dirty="0"/>
          </a:p>
          <a:p>
            <a:pPr marL="0" indent="0">
              <a:spcAft>
                <a:spcPts val="1000"/>
              </a:spcAft>
              <a:buNone/>
            </a:pPr>
            <a:r>
              <a:rPr lang="en-US" sz="1400" dirty="0">
                <a:solidFill>
                  <a:srgbClr val="FFFFFF"/>
                </a:solidFill>
                <a:latin typeface="Calibri" pitchFamily="34" charset="0"/>
                <a:ea typeface="Calibri" pitchFamily="34" charset="-122"/>
                <a:cs typeface="Calibri" pitchFamily="34" charset="-120"/>
              </a:rPr>
              <a:t>[2] M. Kleppmann, Designing Data-Intensive Applications. Sebastopol, CA: O'Reilly Media, 2017. ISBN: 978-1-4493-7332-0</a:t>
            </a:r>
            <a:endParaRPr lang="en-US" sz="1400" dirty="0"/>
          </a:p>
          <a:p>
            <a:pPr marL="0" indent="0">
              <a:spcAft>
                <a:spcPts val="1000"/>
              </a:spcAft>
              <a:buNone/>
            </a:pPr>
            <a:r>
              <a:rPr lang="en-US" sz="1400" dirty="0">
                <a:solidFill>
                  <a:srgbClr val="FFFFFF"/>
                </a:solidFill>
                <a:latin typeface="Calibri" pitchFamily="34" charset="0"/>
                <a:ea typeface="Calibri" pitchFamily="34" charset="-122"/>
                <a:cs typeface="Calibri" pitchFamily="34" charset="-120"/>
              </a:rPr>
              <a:t>[3] E. Brewer, "CAP twelve years later," IEEE Computer, vol. 45, no. 2, pp. 23-29, Feb. 2012. doi: 10.1109/MC.2012.37</a:t>
            </a:r>
            <a:endParaRPr lang="en-US" sz="1400" dirty="0"/>
          </a:p>
          <a:p>
            <a:pPr marL="0" indent="0">
              <a:spcAft>
                <a:spcPts val="1000"/>
              </a:spcAft>
              <a:buNone/>
            </a:pPr>
            <a:r>
              <a:rPr lang="en-US" sz="1400" dirty="0">
                <a:solidFill>
                  <a:srgbClr val="FFFFFF"/>
                </a:solidFill>
                <a:latin typeface="Calibri" pitchFamily="34" charset="0"/>
                <a:ea typeface="Calibri" pitchFamily="34" charset="-122"/>
                <a:cs typeface="Calibri" pitchFamily="34" charset="-120"/>
              </a:rPr>
              <a:t>[4] D. J. Abadi, "Consistency tradeoffs in modern distributed database system design," IEEE Computer, vol. 45, no. 2, pp. 37-42, Feb. 2012. doi: 10.1109/MC.2012.33</a:t>
            </a:r>
            <a:endParaRPr lang="en-US" sz="1400" dirty="0"/>
          </a:p>
          <a:p>
            <a:pPr marL="0" indent="0">
              <a:spcAft>
                <a:spcPts val="1000"/>
              </a:spcAft>
              <a:buNone/>
            </a:pPr>
            <a:r>
              <a:rPr lang="en-US" sz="1400" dirty="0">
                <a:solidFill>
                  <a:srgbClr val="FFFFFF"/>
                </a:solidFill>
                <a:latin typeface="Calibri" pitchFamily="34" charset="0"/>
                <a:ea typeface="Calibri" pitchFamily="34" charset="-122"/>
                <a:cs typeface="Calibri" pitchFamily="34" charset="-120"/>
              </a:rPr>
              <a:t>[5] D. Ongaro and J. Ousterhout, "In search of an understandable consensus algorithm," in Proc. USENIX ATC, 2014, pp. 305-319. ISBN: 978-1-931971-10-2</a:t>
            </a:r>
            <a:endParaRPr lang="en-US" sz="1400" dirty="0"/>
          </a:p>
          <a:p>
            <a:pPr marL="0" indent="0">
              <a:spcAft>
                <a:spcPts val="1000"/>
              </a:spcAft>
              <a:buNone/>
            </a:pPr>
            <a:r>
              <a:rPr lang="en-US" sz="1400" dirty="0">
                <a:solidFill>
                  <a:srgbClr val="FFFFFF"/>
                </a:solidFill>
                <a:latin typeface="Calibri" pitchFamily="34" charset="0"/>
                <a:ea typeface="Calibri" pitchFamily="34" charset="-122"/>
                <a:cs typeface="Calibri" pitchFamily="34" charset="-120"/>
              </a:rPr>
              <a:t>[6] M. van Steen and A. S. Tanenbaum, Distributed Systems, 4th ed. Maarten van Steen, 2025. ISBN: 978-90-815406-3-6</a:t>
            </a:r>
            <a:endParaRPr lang="en-US" sz="1400" dirty="0"/>
          </a:p>
        </p:txBody>
      </p:sp>
      <p:sp>
        <p:nvSpPr>
          <p:cNvPr id="7" name="Shape 5"/>
          <p:cNvSpPr/>
          <p:nvPr/>
        </p:nvSpPr>
        <p:spPr>
          <a:xfrm>
            <a:off x="548640" y="5394960"/>
            <a:ext cx="11064240" cy="914400"/>
          </a:xfrm>
          <a:prstGeom prst="roundRect">
            <a:avLst>
              <a:gd name="adj" fmla="val 8000"/>
            </a:avLst>
          </a:prstGeom>
          <a:solidFill>
            <a:srgbClr val="F2A413"/>
          </a:solidFill>
          <a:ln w="6350">
            <a:solidFill>
              <a:srgbClr val="EAF1FB"/>
            </a:solidFill>
            <a:prstDash val="solid"/>
          </a:ln>
          <a:effectLst>
            <a:outerShdw blurRad="76200" dist="25400" dir="2700000" algn="bl" rotWithShape="0">
              <a:srgbClr val="000000">
                <a:alpha val="12000"/>
              </a:srgbClr>
            </a:outerShdw>
          </a:effectLst>
        </p:spPr>
        <p:txBody>
          <a:bodyPr/>
          <a:lstStyle/>
          <a:p>
            <a:endParaRPr lang="es-US" sz="2000"/>
          </a:p>
        </p:txBody>
      </p:sp>
      <p:sp>
        <p:nvSpPr>
          <p:cNvPr id="8" name="Text 6"/>
          <p:cNvSpPr/>
          <p:nvPr/>
        </p:nvSpPr>
        <p:spPr>
          <a:xfrm>
            <a:off x="777240" y="5486400"/>
            <a:ext cx="10698480" cy="274320"/>
          </a:xfrm>
          <a:prstGeom prst="rect">
            <a:avLst/>
          </a:prstGeom>
          <a:noFill/>
          <a:ln/>
        </p:spPr>
        <p:txBody>
          <a:bodyPr wrap="square" lIns="0" tIns="0" rIns="0" bIns="0" rtlCol="0" anchor="ctr"/>
          <a:lstStyle/>
          <a:p>
            <a:pPr marL="0" indent="0">
              <a:buNone/>
            </a:pPr>
            <a:r>
              <a:rPr lang="en-US" sz="1600" b="1" dirty="0">
                <a:solidFill>
                  <a:srgbClr val="0E3F7E"/>
                </a:solidFill>
                <a:latin typeface="Calibri" pitchFamily="34" charset="0"/>
                <a:ea typeface="Calibri" pitchFamily="34" charset="-122"/>
                <a:cs typeface="Calibri" pitchFamily="34" charset="-120"/>
              </a:rPr>
              <a:t>Material complementario disponible</a:t>
            </a:r>
            <a:endParaRPr lang="en-US" sz="1600" dirty="0"/>
          </a:p>
        </p:txBody>
      </p:sp>
      <p:sp>
        <p:nvSpPr>
          <p:cNvPr id="9" name="Text 7"/>
          <p:cNvSpPr/>
          <p:nvPr/>
        </p:nvSpPr>
        <p:spPr>
          <a:xfrm>
            <a:off x="777240" y="5760720"/>
            <a:ext cx="10698480" cy="502920"/>
          </a:xfrm>
          <a:prstGeom prst="rect">
            <a:avLst/>
          </a:prstGeom>
          <a:noFill/>
          <a:ln/>
        </p:spPr>
        <p:txBody>
          <a:bodyPr wrap="square" rtlCol="0" anchor="ctr"/>
          <a:lstStyle/>
          <a:p>
            <a:pPr marL="0" indent="0">
              <a:buNone/>
            </a:pPr>
            <a:r>
              <a:rPr lang="en-US" sz="1400" dirty="0">
                <a:solidFill>
                  <a:srgbClr val="1A1A1A"/>
                </a:solidFill>
                <a:latin typeface="Calibri" pitchFamily="34" charset="0"/>
                <a:ea typeface="Calibri" pitchFamily="34" charset="-122"/>
                <a:cs typeface="Calibri" pitchFamily="34" charset="-120"/>
              </a:rPr>
              <a:t>Documento LaTeX integral (34 paginas) + Guia GA-SUM-03 + Codigo Java completo del Banco del Austro</a:t>
            </a:r>
            <a:endParaRPr lang="en-US" sz="1400" dirty="0"/>
          </a:p>
        </p:txBody>
      </p:sp>
      <p:sp>
        <p:nvSpPr>
          <p:cNvPr id="10" name="Text 8"/>
          <p:cNvSpPr/>
          <p:nvPr/>
        </p:nvSpPr>
        <p:spPr>
          <a:xfrm>
            <a:off x="548640" y="6446520"/>
            <a:ext cx="10972800" cy="365760"/>
          </a:xfrm>
          <a:prstGeom prst="rect">
            <a:avLst/>
          </a:prstGeom>
          <a:noFill/>
          <a:ln/>
        </p:spPr>
        <p:txBody>
          <a:bodyPr wrap="square" rtlCol="0" anchor="ctr"/>
          <a:lstStyle/>
          <a:p>
            <a:pPr marL="0" indent="0" algn="ctr">
              <a:buNone/>
            </a:pPr>
            <a:r>
              <a:rPr lang="en-US" sz="1400" i="1" dirty="0">
                <a:solidFill>
                  <a:srgbClr val="EAF1FB"/>
                </a:solidFill>
                <a:latin typeface="Calibri" pitchFamily="34" charset="0"/>
                <a:ea typeface="Calibri" pitchFamily="34" charset="-122"/>
                <a:cs typeface="Calibri" pitchFamily="34" charset="-120"/>
              </a:rPr>
              <a:t>Gracias por su atencion -- preguntas y discusion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TotalTime>
  <Words>17383</Words>
  <Application>Microsoft Office PowerPoint</Application>
  <PresentationFormat>Panorámica</PresentationFormat>
  <Paragraphs>1003</Paragraphs>
  <Slides>42</Slides>
  <Notes>42</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42</vt:i4>
      </vt:variant>
    </vt:vector>
  </HeadingPairs>
  <TitlesOfParts>
    <vt:vector size="47" baseType="lpstr">
      <vt:lpstr>Arial</vt:lpstr>
      <vt:lpstr>Calibri</vt:lpstr>
      <vt:lpstr>Cambria</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Bases de Datos Distribuidas</dc:title>
  <dc:subject>Aplicaciones Distribuidas (ISR-701) - Unidad 3</dc:subject>
  <dc:creator>Ph.D. Gleiston C. Guerrero-Ulloa</dc:creator>
  <cp:lastModifiedBy>GLEISTON CICERÓN GUERRERO ULLOA</cp:lastModifiedBy>
  <cp:revision>3</cp:revision>
  <dcterms:created xsi:type="dcterms:W3CDTF">2026-06-30T13:38:52Z</dcterms:created>
  <dcterms:modified xsi:type="dcterms:W3CDTF">2026-07-09T13:49:43Z</dcterms:modified>
</cp:coreProperties>
</file>