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478" autoAdjust="0"/>
  </p:normalViewPr>
  <p:slideViewPr>
    <p:cSldViewPr snapToGrid="0" snapToObjects="1">
      <p:cViewPr varScale="1">
        <p:scale>
          <a:sx n="68" d="100"/>
          <a:sy n="68" d="100"/>
        </p:scale>
        <p:origin x="11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0080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la </a:t>
            </a:r>
            <a:r>
              <a:rPr lang="en-US" dirty="0" err="1"/>
              <a:t>Semana</a:t>
            </a:r>
            <a:r>
              <a:rPr lang="en-US"/>
              <a:t> 7. </a:t>
            </a:r>
            <a:r>
              <a:rPr lang="en-US" dirty="0"/>
              <a:t>Hoy abordamos el Tema 3 de la Unidad 2: Contenedores y Orquestacion de Servicios. Presentar el recorrido: empezamos por que es un contenedor con Docker, luego como se componen varios servicios con Docker Compose, despues damos el salto a la orquestacion con Kubernetes, y cerramos con patrones de despliegue distribuido como blue-green y canary. Recordar que seguimos trabajando sobre el microservicio svc-estudiantes de semanas anteriores, asi que todo lo que veamos hoy lo aplicaremos sobre ese mismo proyecto. Anunciar que el material expandido en PDF ya esta disponible en el aula virtual.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objetivo de la sesion conectandolo con el resultado de aprendizaje de la unidad, que aparece a la izquierda. Enfatizar las cuatro capacidades concretas que esperamos al final de la clase. A la derecha esta la agenda, que sigue exactamente los cuatro subtemas del tema. Indicar que avanzaremos de lo mas concreto (un contenedor) a lo mas abstracto (orquestacion y estrategias de despliegue). Cada subtema tendra una parte conceptual y una parte practica en IntelliJ IDEA.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el vocabulario antes de entrar en materia para que nadie se pierda. Recalcar la diferencia entre JDK y JRE, porque la usaremos en la construccion multi-etapa de la imagen Docker. Aclarar el origen del nombre K8s. Mencionar que YAML sera el formato de todos los manifiestos que veremos hoy, tanto en Compose como en Kubernetes. Si algun termino aparece despues en la clase, podemos volver a esta diapositiva.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Entramos al primer subtema. La idea central es entender que un contenedor no es una maquina virtual ligera, sino un proceso aislado que comparte el kernel del anfitrion. Vamos a ver el contraste con las maquinas virtuales, la arquitectura de Docker, y como se construye una imagen para nuestro microservicio svc-estudiantes usando un Dockerfile multi-etapa.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clave del subtema. A la izquierda, la maquina virtual: cada aplicacion arrastra un sistema operativo invitado completo sobre un hipervisor; es pesada y lenta de arrancar. A la derecha, el contenedor: las aplicaciones comparten el kernel del sistema operativo anfitrion a traves del motor de contenedores, por lo que solo empaquetan sus binarios y librerias. Resultado: arranque en segundos en lugar de minutos, menor consumo de memoria y mayor densidad de servicios por servidor. Aclarar que no es que el contenedor sea siempre mejor: la VM ofrece mayor aislamiento. Pero para microservicios, el contenedor es la unidad natural.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conceptos que no deben confundirse. La imagen es la plantilla inmutable, construida por capas a partir del Dockerfile. El contenedor es la instancia viva de esa imagen; puedo levantar diez contenedores identicos de una misma imagen. El registro es donde guardamos y compartimos imagenes, como Docker Hub. Abajo, el flujo completo: escribo un Dockerfile, ejecuto docker build para obtener la imagen, y docker run para levantar el contenedor. Para compartir, uso push y pull contra el registro. Este flujo es identico en la maquina del estudiante y en el servidor de produccion: esa reproducibilidad es justamente el valor de Docker.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Dockerfile real de nuestro microservicio. Lo importante pedagogicamente es la construccion multi-etapa. En la primera etapa usamos la imagen con el JDK completo para compilar con Maven; descargamos dependencias primero para aprovechar la cache de capas. En la segunda etapa partimos de una imagen ligera con solo el JRE sobre Alpine, creamos un usuario sin privilegios y copiamos unicamente el jar resultante de la etapa anterior con COPY --from=build. El resultado es una imagen final pequena, rapida de distribuir y mas segura. A la derecha, los pasos para hacerlo desde IntelliJ IDEA con el plugin Docker, sin salir del IDE. Recordarles que las versiones (Java 25, Temurin) estan verificadas y coinciden con el proyecto del curso.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comandos en el orden natural del ciclo de vida: construir, ejecutar publicando el puerto, listar, ver logs, probar el endpoint y finalmente detener y limpiar. Insistir en el detalle de PowerShell: el alias curl no es el curl real, por eso usamos curl.exe; para los estudiantes en Linux o macOS el comando es simplemente curl. Explicar el mapeo de puertos -p 8080:8080: el primero es el puerto del anfitrion y el segundo el del contenedor. Recomendar etiquetar versiones explicitas en vez de latest para garantizar reproducibilidad. Sugerir ejecutar todo esto desde la terminal integrada de IntelliJ para no cambiar de ventana.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al segundo subtema. Hasta ahora levantabamos un contenedor a mano. Pero un sistema distribuido real combina varios: la aplicacion, su base de datos, una puerta de enlace. Docker Compose nos permite describir todo ese conjunto de forma declarativa en un archivo y levantarlo o derribarlo con un solo comando. Veremos la anatomia del archivo compose.yaml sobre nuestro mismo microservicio.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Plantear el problema antes de la solucion. Sin Compose, levantar un sistema de tres servicios significa recordar tres comandos docker run largos, en el orden correcto, ademas de crear redes y volumenes manualmente; es fragil y dificil de compartir. Con Docker Compose describimos todo el sistema en un solo archivo YAML que se versiona en Git. Un comando lo levanta y otro lo derriba. La palabra clave es declarativo: describimos el estado deseado, no la secuencia de pasos. Esta idea declarativa es la misma que despues llevaremos a Kubernetes.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archivo de arriba hacia abajo. Bajo services definimos tres contenedores: la base de datos db usando una imagen de Postgres, la aplicacion app que se construye desde nuestro Dockerfile local con build punto, y una puerta de enlace gateway con Nginx. Resaltar dos mecanismos clave. Primero, el healthcheck combinado con depends_on con condicion service_healthy: la aplicacion no arranca hasta que la base de datos responde, evitando errores de conexion al inicio. Segundo, la red backend: dentro de ella los servicios se descubren por su nombre gracias al DNS interno de Compose, por eso la app puede conectarse a db sin conocer ninguna direccion IP. Solo el gateway publica un puerto al exterior. Este es exactamente el patron que escalaremos en Kubernetes.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como se levanta y opera el stack. Con docker compose up guion d guion guion build construimos y levantamos los tres servicios en segundo plano. Con ps vemos su estado. El comando de escalado es el momento aha del subtema: con guion guion scale app igual a 3 obtenemos tres replicas de la aplicacion detras del gateway, repartiendo carga, sin tocar el codigo. Finalmente down derriba todo limpiamente. A la izquierda esta la topologia: el gateway recibe el trafico externo en el 8080 y lo reparte a las replicas de app, que a su vez hablan con la base de datos por la red interna. Abajo, como hacer todo esto desde IntelliJ con el icono de play en compose.yaml y la pestana Services. Mencionar que el escalado manual de Compose es la antesala del escalado automatico de Kubernetes.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subtema y salto conceptual mas importante del dia. Docker Compose es perfecto para una maquina, pero cuando necesitamos alta disponibilidad, autorreparacion y escalado automatico a traves de varios servidores, necesitamos un orquestador. Kubernetes es ese orquestador. Vamos a ver su arquitectura general y sus tres objetos fundamentales: pods, deployments y services. No buscamos dominar Kubernetes hoy, sino entender el modelo mental.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division de roles. Kubernetes tiene un plano de control, que es el cerebro, y nodos de trabajo, que son los musculos. En el plano de control, el API Server es la unica puerta de entrada: todo, incluido kubectl, pasa por el. El Scheduler decide en que nodo colocar cada pod, el Controller Manager se encarga de reconciliar continuamente el estado real con el deseado, y etcd guarda el estado del cluster. En los nodos de trabajo se ejecutan los pods dentro de los cuales corren los contenedores; el kubelet de cada nodo recibe las ordenes y las cumple. La idea central de Kubernetes es la reconciliacion: yo declaro lo que quiero y el sistema trabaja sin descanso para que la realidad coincida con esa declaracion. Por eso si un pod muere, Kubernetes crea otro automaticamente.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objetos que hay que memorizar. El Pod es la unidad minima: envuelve uno o varios contenedores que comparten red y disco; es efimero por diseno. El Deployment es el objeto que usaremos casi siempre: declara cuantas replicas queremos y se encarga del escalado, la autorreparacion y las actualizaciones; si un pod cae, el Deployment crea otro. El Service resuelve un problema practico: como los pods nacen y mueren con direcciones cambiantes, el Service ofrece un nombre y una direccion estables, y reparte el trafico entre los pods vivos. La frase de abajo resume la relacion: el Deployment mantiene los pods, el Service los expone. Con estos tres objetos ya se puede desplegar un microservicio con alta disponibilidad.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manifiestos reales. El Deployment declara tres replicas y, muy importante, conecta con los pods mediante etiquetas: el selector matchLabels debe coincidir con las labels de la plantilla del pod; este emparejamiento por etiquetas es el mecanismo central de Kubernetes. Incluimos un readinessProbe para que el Service solo envie trafico a los pods que ya estan listos. El Service de la derecha usa ese mismo selector de etiquetas para encontrar los pods y los expone internamente con tipo ClusterIP. Abajo, los comandos de kubectl: apply aplica todos los manifiestos de la carpeta, get permite inspeccionar, y rollout status sigue el progreso de un despliegue. Para practicar, recomendamos minikube como cluster local y el plugin de Kubernetes de IntelliJ, que valida los YAML y permite aplicarlos desde el editor.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subtema. Ya sabemos desplegar; ahora la pregunta es como actualizar una version en produccion sin que los usuarios sufran cortes y pudiendo revertir si algo sale mal. Veremos tres estrategias: la actualizacion progresiva que trae Kubernetes por defecto, el despliegue blue-green y el despliegue canary. Cada una equilibra de forma distinta el riesgo, el costo y la velocidad.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Blue-green mantiene dos entornos identicos. El azul tiene la version actual y recibe todo el trafico; el verde tiene la version nueva, ya desplegada y probada, pero sin trafico. La actualizacion consiste simplemente en reapuntar el selector del Service de azul a verde: el cambio es practicamente instantaneo y, lo mejor, revertir es igual de rapido si algo falla. La gran ventaja es cero tiempo de inactividad y reversion inmediata. El costo es que durante la transicion necesitamos el doble de recursos, porque ambos entornos estan vivos. Mostrar el comando kubectl patch que cambia el selector. Esta estrategia es ideal cuando la reversion rapida es critica y podemos permitirnos duplicar recursos temporalmente.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Canary toma su nombre de los canarios que alertaban del peligro en las minas. La idea es liberar la version nueva solo a una pequena fraccion de usuarios, por ejemplo el 10%, mientras el resto sigue en la version estable. Si las metricas de errores y latencia se mantienen sanas, subimos progresivamente al 50% y luego al 100%. Si se degradan, detenemos y revertimos habiendo afectado solo a una minoria. La gran ventaja es el riesgo minimo y la posibilidad de validar con trafico real. El costo es que es mas lento y exige buena observabilidad, es decir, metricas confiables para decidir. La forma sencilla de lograr el reparto es por proporcion de replicas; para control fino de porcentajes se usan herramientas como Argo Rollouts o reglas de Ingress. Contrastar con blue-green: canary cambia gradualmente; blue-green cambia de golpe.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sintesis del subtema. Las tres estrategias logran cero tiempo de inactividad, esa no es la diferencia. Donde difieren es en la velocidad de reversion, el costo y la exposicion al riesgo. Rolling es la opcion por defecto de Kubernetes, barata y gradual, pero su reversion es mas lenta. Blue-green ofrece reversion instantanea a cambio de duplicar recursos. Canary minimiza el riesgo exponiendo solo a una fraccion, pero exige buena observabilidad y es mas lento. No hay una mejor en absoluto: se elige segun el contexto. Cerrar con la regla practica de abajo, que es un error frecuente en los proyectos: durante cualquier transicion conviven la version vieja y la nueva, por lo que los cambios en la base de datos y en la API deben ser compatibles hacia atras. Si no, ninguna estrategia funciona.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actividad practica que integra los cuatro subtemas sobre el mismo microservicio: construir la imagen, componer con Compose, escalar, escribir los manifiestos de Kubernetes y justificar una estrategia de despliegue. La entrega combina capturas y una breve justificacion escrita. A la derecha, las preguntas de defensa que usaremos para verificar comprension; conviene que las repasen porque son del tipo que aparecera en la evaluacion de la unidad. Recordar que el material expandido en PDF tiene el detalle paso a paso y todo el codigo por archivo, y que pueden apoyarse en IntelliJ IDEA para cada parte. Agradecer la participacion y abrir turno de preguntas.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indicando las fuentes. Las referencias estan en formato IEEE y verificadas, incluyendo los DOI de los articulos academicos. Destacar el articulo original de Merkel sobre Docker, el de Bernstein que conecta LXC, Docker y Kubernetes, y el de Burns y colegas sobre Borg, Omega y Kubernetes, que cuenta la historia desde Google. Los libros de O'Reilly y Manning son referencias practicas excelentes para profundizar. La referencia ocho es el capitulo del texto del curso. Invitar a los estudiantes a consultar al menos una de estas fuentes antes de la siguiente sesion.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9692640" y="-1280160"/>
            <a:ext cx="3840480" cy="3840480"/>
          </a:xfrm>
          <a:prstGeom prst="ellipse">
            <a:avLst/>
          </a:prstGeom>
          <a:solidFill>
            <a:srgbClr val="FFFFFF">
              <a:alpha val="8000"/>
            </a:srgbClr>
          </a:solidFill>
          <a:ln/>
        </p:spPr>
      </p:sp>
      <p:sp>
        <p:nvSpPr>
          <p:cNvPr id="3" name="Shape 1"/>
          <p:cNvSpPr/>
          <p:nvPr/>
        </p:nvSpPr>
        <p:spPr>
          <a:xfrm>
            <a:off x="10607040" y="4480560"/>
            <a:ext cx="3108960" cy="3108960"/>
          </a:xfrm>
          <a:prstGeom prst="ellipse">
            <a:avLst/>
          </a:prstGeom>
          <a:solidFill>
            <a:srgbClr val="FFFFFF">
              <a:alpha val="6000"/>
            </a:srgbClr>
          </a:solidFill>
          <a:ln/>
        </p:spPr>
      </p:sp>
      <p:sp>
        <p:nvSpPr>
          <p:cNvPr id="4" name="Text 2"/>
          <p:cNvSpPr/>
          <p:nvPr/>
        </p:nvSpPr>
        <p:spPr>
          <a:xfrm>
            <a:off x="822960" y="640080"/>
            <a:ext cx="10058400" cy="274320"/>
          </a:xfrm>
          <a:prstGeom prst="rect">
            <a:avLst/>
          </a:prstGeom>
          <a:noFill/>
          <a:ln/>
        </p:spPr>
        <p:txBody>
          <a:bodyPr wrap="square" lIns="0" tIns="0" rIns="0" bIns="0" rtlCol="0" anchor="ctr"/>
          <a:lstStyle/>
          <a:p>
            <a:pPr marL="0" indent="0">
              <a:buNone/>
            </a:pPr>
            <a:r>
              <a:rPr lang="en-US" sz="1300" b="1" kern="0" spc="200" dirty="0">
                <a:solidFill>
                  <a:srgbClr val="AFC3E6"/>
                </a:solidFill>
                <a:latin typeface="Calibri" pitchFamily="34" charset="0"/>
                <a:ea typeface="Calibri" pitchFamily="34" charset="-122"/>
                <a:cs typeface="Calibri" pitchFamily="34" charset="-120"/>
              </a:rPr>
              <a:t>UNIVERSIDAD TECNICA ESTATAL DE QUEVEDO</a:t>
            </a:r>
            <a:endParaRPr lang="en-US" sz="1300" dirty="0"/>
          </a:p>
        </p:txBody>
      </p:sp>
      <p:sp>
        <p:nvSpPr>
          <p:cNvPr id="5" name="Text 3"/>
          <p:cNvSpPr/>
          <p:nvPr/>
        </p:nvSpPr>
        <p:spPr>
          <a:xfrm>
            <a:off x="822960" y="932688"/>
            <a:ext cx="10058400" cy="274320"/>
          </a:xfrm>
          <a:prstGeom prst="rect">
            <a:avLst/>
          </a:prstGeom>
          <a:noFill/>
          <a:ln/>
        </p:spPr>
        <p:txBody>
          <a:bodyPr wrap="square" lIns="0" tIns="0" rIns="0" bIns="0" rtlCol="0" anchor="ctr"/>
          <a:lstStyle/>
          <a:p>
            <a:pPr marL="0" indent="0">
              <a:buNone/>
            </a:pPr>
            <a:r>
              <a:rPr lang="en-US" sz="1200" dirty="0">
                <a:solidFill>
                  <a:srgbClr val="8FA9D4"/>
                </a:solidFill>
                <a:latin typeface="Calibri" pitchFamily="34" charset="0"/>
                <a:ea typeface="Calibri" pitchFamily="34" charset="-122"/>
                <a:cs typeface="Calibri" pitchFamily="34" charset="-120"/>
              </a:rPr>
              <a:t>Facultad de Ciencias de la Computacion y Diseno Digital</a:t>
            </a:r>
            <a:endParaRPr lang="en-US" sz="1200" dirty="0"/>
          </a:p>
        </p:txBody>
      </p:sp>
      <p:sp>
        <p:nvSpPr>
          <p:cNvPr id="6" name="Shape 4"/>
          <p:cNvSpPr/>
          <p:nvPr/>
        </p:nvSpPr>
        <p:spPr>
          <a:xfrm>
            <a:off x="822960" y="1874520"/>
            <a:ext cx="914400" cy="914400"/>
          </a:xfrm>
          <a:prstGeom prst="ellipse">
            <a:avLst/>
          </a:prstGeom>
          <a:solidFill>
            <a:srgbClr val="0F8C8C"/>
          </a:solidFill>
          <a:ln/>
        </p:spPr>
      </p:sp>
      <p:pic>
        <p:nvPicPr>
          <p:cNvPr id="7" name="Image 0" descr="preencoded.png"/>
          <p:cNvPicPr>
            <a:picLocks noChangeAspect="1"/>
          </p:cNvPicPr>
          <p:nvPr/>
        </p:nvPicPr>
        <p:blipFill>
          <a:blip r:embed="rId3"/>
          <a:stretch>
            <a:fillRect/>
          </a:stretch>
        </p:blipFill>
        <p:spPr>
          <a:xfrm>
            <a:off x="1060704" y="2112264"/>
            <a:ext cx="438912" cy="438912"/>
          </a:xfrm>
          <a:prstGeom prst="rect">
            <a:avLst/>
          </a:prstGeom>
        </p:spPr>
      </p:pic>
      <p:sp>
        <p:nvSpPr>
          <p:cNvPr id="8" name="Text 5"/>
          <p:cNvSpPr/>
          <p:nvPr/>
        </p:nvSpPr>
        <p:spPr>
          <a:xfrm>
            <a:off x="841248" y="2971800"/>
            <a:ext cx="10058400" cy="320040"/>
          </a:xfrm>
          <a:prstGeom prst="rect">
            <a:avLst/>
          </a:prstGeom>
          <a:noFill/>
          <a:ln/>
        </p:spPr>
        <p:txBody>
          <a:bodyPr wrap="square" lIns="0" tIns="0" rIns="0" bIns="0" rtlCol="0" anchor="ctr"/>
          <a:lstStyle/>
          <a:p>
            <a:pPr marL="0" indent="0">
              <a:buNone/>
            </a:pPr>
            <a:r>
              <a:rPr lang="en-US" sz="1400" b="1" kern="0" spc="300" dirty="0">
                <a:solidFill>
                  <a:srgbClr val="7FE3E3"/>
                </a:solidFill>
                <a:latin typeface="Calibri" pitchFamily="34" charset="0"/>
                <a:ea typeface="Calibri" pitchFamily="34" charset="-122"/>
                <a:cs typeface="Calibri" pitchFamily="34" charset="-120"/>
              </a:rPr>
              <a:t>UNIDAD 2 - TEMA 3</a:t>
            </a:r>
            <a:endParaRPr lang="en-US" sz="1400" dirty="0"/>
          </a:p>
        </p:txBody>
      </p:sp>
      <p:sp>
        <p:nvSpPr>
          <p:cNvPr id="9" name="Text 6"/>
          <p:cNvSpPr/>
          <p:nvPr/>
        </p:nvSpPr>
        <p:spPr>
          <a:xfrm>
            <a:off x="822960" y="3291840"/>
            <a:ext cx="1042416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Contenedores y Orquestacion de Servicios</a:t>
            </a:r>
            <a:endParaRPr lang="en-US" sz="4000" dirty="0"/>
          </a:p>
        </p:txBody>
      </p:sp>
      <p:sp>
        <p:nvSpPr>
          <p:cNvPr id="10" name="Text 7"/>
          <p:cNvSpPr/>
          <p:nvPr/>
        </p:nvSpPr>
        <p:spPr>
          <a:xfrm>
            <a:off x="841248" y="4343400"/>
            <a:ext cx="1042416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Docker  -  Docker Compose  -  Kubernetes  -  Despliegue (blue-green, canary)</a:t>
            </a:r>
            <a:endParaRPr lang="en-US" sz="1500" dirty="0"/>
          </a:p>
        </p:txBody>
      </p:sp>
      <p:sp>
        <p:nvSpPr>
          <p:cNvPr id="11" name="Shape 8"/>
          <p:cNvSpPr/>
          <p:nvPr/>
        </p:nvSpPr>
        <p:spPr>
          <a:xfrm>
            <a:off x="868680" y="5029200"/>
            <a:ext cx="4754880" cy="0"/>
          </a:xfrm>
          <a:prstGeom prst="line">
            <a:avLst/>
          </a:prstGeom>
          <a:noFill/>
          <a:ln w="19050">
            <a:solidFill>
              <a:srgbClr val="0F8C8C"/>
            </a:solidFill>
            <a:prstDash val="solid"/>
          </a:ln>
        </p:spPr>
      </p:sp>
      <p:sp>
        <p:nvSpPr>
          <p:cNvPr id="12" name="Text 9"/>
          <p:cNvSpPr/>
          <p:nvPr/>
        </p:nvSpPr>
        <p:spPr>
          <a:xfrm>
            <a:off x="841248" y="5166360"/>
            <a:ext cx="10424160" cy="320040"/>
          </a:xfrm>
          <a:prstGeom prst="rect">
            <a:avLst/>
          </a:prstGeom>
          <a:noFill/>
          <a:ln/>
        </p:spPr>
        <p:txBody>
          <a:bodyPr wrap="square" lIns="0" tIns="0" rIns="0" bIns="0" rtlCol="0" anchor="ctr"/>
          <a:lstStyle/>
          <a:p>
            <a:pPr marL="0" indent="0">
              <a:buNone/>
            </a:pPr>
            <a:r>
              <a:rPr lang="en-US" sz="1300" b="1" dirty="0">
                <a:solidFill>
                  <a:srgbClr val="AFC3E6"/>
                </a:solidFill>
                <a:latin typeface="Calibri" pitchFamily="34" charset="0"/>
                <a:ea typeface="Calibri" pitchFamily="34" charset="-122"/>
                <a:cs typeface="Calibri" pitchFamily="34" charset="-120"/>
              </a:rPr>
              <a:t>Asignatura:  </a:t>
            </a:r>
            <a:r>
              <a:rPr lang="en-US" sz="1300" dirty="0">
                <a:solidFill>
                  <a:srgbClr val="E8EEF8"/>
                </a:solidFill>
                <a:latin typeface="Calibri" pitchFamily="34" charset="0"/>
                <a:ea typeface="Calibri" pitchFamily="34" charset="-122"/>
                <a:cs typeface="Calibri" pitchFamily="34" charset="-120"/>
              </a:rPr>
              <a:t>Aplicaciones Distribuidas (ISR-701)   |   </a:t>
            </a:r>
            <a:r>
              <a:rPr lang="en-US" sz="1300" b="1" dirty="0">
                <a:solidFill>
                  <a:srgbClr val="AFC3E6"/>
                </a:solidFill>
                <a:latin typeface="Calibri" pitchFamily="34" charset="0"/>
                <a:ea typeface="Calibri" pitchFamily="34" charset="-122"/>
                <a:cs typeface="Calibri" pitchFamily="34" charset="-120"/>
              </a:rPr>
              <a:t>Semana:  </a:t>
            </a:r>
            <a:r>
              <a:rPr lang="en-US" sz="1300" dirty="0">
                <a:solidFill>
                  <a:srgbClr val="E8EEF8"/>
                </a:solidFill>
                <a:latin typeface="Calibri" pitchFamily="34" charset="0"/>
                <a:ea typeface="Calibri" pitchFamily="34" charset="-122"/>
                <a:cs typeface="Calibri" pitchFamily="34" charset="-120"/>
              </a:rPr>
              <a:t>5  (01 - 07 de junio de 2026)</a:t>
            </a:r>
            <a:endParaRPr lang="en-US" sz="1300" dirty="0"/>
          </a:p>
        </p:txBody>
      </p:sp>
      <p:sp>
        <p:nvSpPr>
          <p:cNvPr id="13" name="Text 10"/>
          <p:cNvSpPr/>
          <p:nvPr/>
        </p:nvSpPr>
        <p:spPr>
          <a:xfrm>
            <a:off x="841248" y="5486400"/>
            <a:ext cx="10424160" cy="320040"/>
          </a:xfrm>
          <a:prstGeom prst="rect">
            <a:avLst/>
          </a:prstGeom>
          <a:noFill/>
          <a:ln/>
        </p:spPr>
        <p:txBody>
          <a:bodyPr wrap="square" lIns="0" tIns="0" rIns="0" bIns="0" rtlCol="0" anchor="ctr"/>
          <a:lstStyle/>
          <a:p>
            <a:pPr marL="0" indent="0">
              <a:buNone/>
            </a:pPr>
            <a:r>
              <a:rPr lang="en-US" sz="1300" b="1" dirty="0">
                <a:solidFill>
                  <a:srgbClr val="AFC3E6"/>
                </a:solidFill>
                <a:latin typeface="Calibri" pitchFamily="34" charset="0"/>
                <a:ea typeface="Calibri" pitchFamily="34" charset="-122"/>
                <a:cs typeface="Calibri" pitchFamily="34" charset="-120"/>
              </a:rPr>
              <a:t>Docente:  </a:t>
            </a:r>
            <a:r>
              <a:rPr lang="en-US" sz="1300" dirty="0">
                <a:solidFill>
                  <a:srgbClr val="E8EEF8"/>
                </a:solidFill>
                <a:latin typeface="Calibri" pitchFamily="34" charset="0"/>
                <a:ea typeface="Calibri" pitchFamily="34" charset="-122"/>
                <a:cs typeface="Calibri" pitchFamily="34" charset="-120"/>
              </a:rPr>
              <a:t>Ing. Gleiston Guerrero Ulloa, Ph.D.   |   Septimo semestre - Ingenieria de Software</a:t>
            </a:r>
            <a:endParaRPr lang="en-US" sz="1300" dirty="0"/>
          </a:p>
        </p:txBody>
      </p:sp>
      <p:sp>
        <p:nvSpPr>
          <p:cNvPr id="15" name="Text 11"/>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6"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2E5EAA"/>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2E5EAA"/>
                </a:solidFill>
                <a:latin typeface="Calibri" pitchFamily="34" charset="0"/>
                <a:ea typeface="Calibri" pitchFamily="34" charset="-122"/>
                <a:cs typeface="Calibri" pitchFamily="34" charset="-120"/>
              </a:rPr>
              <a:t>HOJA DE RUTA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Objetivos y agenda de la sesion</a:t>
            </a:r>
            <a:endParaRPr lang="en-US" sz="2600" dirty="0"/>
          </a:p>
        </p:txBody>
      </p:sp>
      <p:sp>
        <p:nvSpPr>
          <p:cNvPr id="6" name="Shape 3"/>
          <p:cNvSpPr/>
          <p:nvPr/>
        </p:nvSpPr>
        <p:spPr>
          <a:xfrm>
            <a:off x="457200" y="1417320"/>
            <a:ext cx="5486400" cy="4663440"/>
          </a:xfrm>
          <a:prstGeom prst="roundRect">
            <a:avLst>
              <a:gd name="adj" fmla="val 1765"/>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Shape 4"/>
          <p:cNvSpPr/>
          <p:nvPr/>
        </p:nvSpPr>
        <p:spPr>
          <a:xfrm>
            <a:off x="713232" y="1691640"/>
            <a:ext cx="566928" cy="566928"/>
          </a:xfrm>
          <a:prstGeom prst="ellipse">
            <a:avLst/>
          </a:prstGeom>
          <a:solidFill>
            <a:srgbClr val="007F47"/>
          </a:solidFill>
          <a:ln/>
        </p:spPr>
      </p:sp>
      <p:pic>
        <p:nvPicPr>
          <p:cNvPr id="8" name="Image 1" descr="preencoded.png"/>
          <p:cNvPicPr>
            <a:picLocks noChangeAspect="1"/>
          </p:cNvPicPr>
          <p:nvPr/>
        </p:nvPicPr>
        <p:blipFill>
          <a:blip r:embed="rId4"/>
          <a:stretch>
            <a:fillRect/>
          </a:stretch>
        </p:blipFill>
        <p:spPr>
          <a:xfrm>
            <a:off x="860633" y="1839041"/>
            <a:ext cx="272125" cy="272125"/>
          </a:xfrm>
          <a:prstGeom prst="rect">
            <a:avLst/>
          </a:prstGeom>
        </p:spPr>
      </p:pic>
      <p:sp>
        <p:nvSpPr>
          <p:cNvPr id="9" name="Text 5"/>
          <p:cNvSpPr/>
          <p:nvPr/>
        </p:nvSpPr>
        <p:spPr>
          <a:xfrm>
            <a:off x="1417320" y="1737360"/>
            <a:ext cx="4297680" cy="457200"/>
          </a:xfrm>
          <a:prstGeom prst="rect">
            <a:avLst/>
          </a:prstGeom>
          <a:noFill/>
          <a:ln/>
        </p:spPr>
        <p:txBody>
          <a:bodyPr wrap="square" lIns="0" tIns="0" rIns="0" bIns="0" rtlCol="0" anchor="ctr"/>
          <a:lstStyle/>
          <a:p>
            <a:pPr marL="0" indent="0">
              <a:buNone/>
            </a:pPr>
            <a:r>
              <a:rPr lang="en-US" sz="1600" b="1" dirty="0">
                <a:solidFill>
                  <a:srgbClr val="1F3864"/>
                </a:solidFill>
                <a:latin typeface="Cambria" pitchFamily="34" charset="0"/>
                <a:ea typeface="Cambria" pitchFamily="34" charset="-122"/>
                <a:cs typeface="Cambria" pitchFamily="34" charset="-120"/>
              </a:rPr>
              <a:t>Resultado de aprendizaje</a:t>
            </a:r>
            <a:endParaRPr lang="en-US" sz="1600" dirty="0"/>
          </a:p>
        </p:txBody>
      </p:sp>
      <p:sp>
        <p:nvSpPr>
          <p:cNvPr id="10" name="Text 6"/>
          <p:cNvSpPr/>
          <p:nvPr/>
        </p:nvSpPr>
        <p:spPr>
          <a:xfrm>
            <a:off x="713232" y="2395728"/>
            <a:ext cx="5029200" cy="1097280"/>
          </a:xfrm>
          <a:prstGeom prst="rect">
            <a:avLst/>
          </a:prstGeom>
          <a:noFill/>
          <a:ln/>
        </p:spPr>
        <p:txBody>
          <a:bodyPr wrap="square" lIns="0" tIns="0" rIns="0" bIns="0" rtlCol="0" anchor="ctr"/>
          <a:lstStyle/>
          <a:p>
            <a:pPr marL="0" indent="0">
              <a:lnSpc>
                <a:spcPct val="105000"/>
              </a:lnSpc>
              <a:buNone/>
            </a:pPr>
            <a:r>
              <a:rPr lang="en-US" sz="1350" dirty="0">
                <a:solidFill>
                  <a:srgbClr val="1B2430"/>
                </a:solidFill>
                <a:latin typeface="Calibri" pitchFamily="34" charset="0"/>
                <a:ea typeface="Calibri" pitchFamily="34" charset="-122"/>
                <a:cs typeface="Calibri" pitchFamily="34" charset="-120"/>
              </a:rPr>
              <a:t>Aplica arquitecturas y patrones de diseno distribuido (microservicios, API REST, mensajeria asincrona, arquitectura en capas) para construir sistemas escalables, disponibles y seguros.</a:t>
            </a:r>
            <a:endParaRPr lang="en-US" sz="1350" dirty="0"/>
          </a:p>
        </p:txBody>
      </p:sp>
      <p:sp>
        <p:nvSpPr>
          <p:cNvPr id="11" name="Shape 7"/>
          <p:cNvSpPr/>
          <p:nvPr/>
        </p:nvSpPr>
        <p:spPr>
          <a:xfrm>
            <a:off x="713232" y="3611880"/>
            <a:ext cx="4983480" cy="0"/>
          </a:xfrm>
          <a:prstGeom prst="line">
            <a:avLst/>
          </a:prstGeom>
          <a:noFill/>
          <a:ln w="12700">
            <a:solidFill>
              <a:srgbClr val="D7DEE8"/>
            </a:solidFill>
            <a:prstDash val="solid"/>
          </a:ln>
        </p:spPr>
      </p:sp>
      <p:sp>
        <p:nvSpPr>
          <p:cNvPr id="12" name="Text 8"/>
          <p:cNvSpPr/>
          <p:nvPr/>
        </p:nvSpPr>
        <p:spPr>
          <a:xfrm>
            <a:off x="713232" y="3703320"/>
            <a:ext cx="5029200" cy="274320"/>
          </a:xfrm>
          <a:prstGeom prst="rect">
            <a:avLst/>
          </a:prstGeom>
          <a:noFill/>
          <a:ln/>
        </p:spPr>
        <p:txBody>
          <a:bodyPr wrap="square" lIns="0" tIns="0" rIns="0" bIns="0" rtlCol="0" anchor="ctr"/>
          <a:lstStyle/>
          <a:p>
            <a:pPr marL="0" indent="0">
              <a:buNone/>
            </a:pPr>
            <a:r>
              <a:rPr lang="en-US" sz="1250" b="1" i="1" dirty="0">
                <a:solidFill>
                  <a:srgbClr val="5B6B7B"/>
                </a:solidFill>
                <a:latin typeface="Calibri" pitchFamily="34" charset="0"/>
                <a:ea typeface="Calibri" pitchFamily="34" charset="-122"/>
                <a:cs typeface="Calibri" pitchFamily="34" charset="-120"/>
              </a:rPr>
              <a:t>Al finalizar, el estudiante sera capaz de:</a:t>
            </a:r>
            <a:endParaRPr lang="en-US" sz="1250" dirty="0"/>
          </a:p>
        </p:txBody>
      </p:sp>
      <p:sp>
        <p:nvSpPr>
          <p:cNvPr id="13" name="Text 9"/>
          <p:cNvSpPr/>
          <p:nvPr/>
        </p:nvSpPr>
        <p:spPr>
          <a:xfrm>
            <a:off x="713232" y="4041648"/>
            <a:ext cx="5029200" cy="1920240"/>
          </a:xfrm>
          <a:prstGeom prst="rect">
            <a:avLst/>
          </a:prstGeom>
          <a:noFill/>
          <a:ln/>
        </p:spPr>
        <p:txBody>
          <a:bodyPr wrap="square" lIns="0" tIns="0" rIns="0" bIns="0" rtlCol="0" anchor="t"/>
          <a:lstStyle/>
          <a:p>
            <a:pPr marL="177800" indent="-177800" algn="l">
              <a:spcAft>
                <a:spcPts val="700"/>
              </a:spcAft>
              <a:buSzPct val="100000"/>
              <a:buChar char="•"/>
            </a:pPr>
            <a:r>
              <a:rPr lang="en-US" sz="1250" dirty="0">
                <a:solidFill>
                  <a:srgbClr val="1B2430"/>
                </a:solidFill>
                <a:latin typeface="Calibri" pitchFamily="34" charset="0"/>
                <a:ea typeface="Calibri" pitchFamily="34" charset="-122"/>
                <a:cs typeface="Calibri" pitchFamily="34" charset="-120"/>
              </a:rPr>
              <a:t>Empaquetar un microservicio en una imagen reproducible con Docker.</a:t>
            </a:r>
            <a:endParaRPr lang="en-US" sz="1250" dirty="0"/>
          </a:p>
          <a:p>
            <a:pPr marL="177800" indent="-177800" algn="l">
              <a:spcAft>
                <a:spcPts val="700"/>
              </a:spcAft>
              <a:buSzPct val="100000"/>
              <a:buChar char="•"/>
            </a:pPr>
            <a:r>
              <a:rPr lang="en-US" sz="1250" dirty="0">
                <a:solidFill>
                  <a:srgbClr val="1B2430"/>
                </a:solidFill>
                <a:latin typeface="Calibri" pitchFamily="34" charset="0"/>
                <a:ea typeface="Calibri" pitchFamily="34" charset="-122"/>
                <a:cs typeface="Calibri" pitchFamily="34" charset="-120"/>
              </a:rPr>
              <a:t>Componer varios servicios con Docker Compose.</a:t>
            </a:r>
            <a:endParaRPr lang="en-US" sz="1250" dirty="0"/>
          </a:p>
          <a:p>
            <a:pPr marL="177800" indent="-177800" algn="l">
              <a:spcAft>
                <a:spcPts val="700"/>
              </a:spcAft>
              <a:buSzPct val="100000"/>
              <a:buChar char="•"/>
            </a:pPr>
            <a:r>
              <a:rPr lang="en-US" sz="1250" dirty="0">
                <a:solidFill>
                  <a:srgbClr val="1B2430"/>
                </a:solidFill>
                <a:latin typeface="Calibri" pitchFamily="34" charset="0"/>
                <a:ea typeface="Calibri" pitchFamily="34" charset="-122"/>
                <a:cs typeface="Calibri" pitchFamily="34" charset="-120"/>
              </a:rPr>
              <a:t>Explicar pods, deployments y services de Kubernetes.</a:t>
            </a:r>
            <a:endParaRPr lang="en-US" sz="1250" dirty="0"/>
          </a:p>
          <a:p>
            <a:pPr marL="177800" indent="-177800" algn="l">
              <a:spcAft>
                <a:spcPts val="700"/>
              </a:spcAft>
              <a:buSzPct val="100000"/>
              <a:buChar char="•"/>
            </a:pPr>
            <a:r>
              <a:rPr lang="en-US" sz="1250" dirty="0">
                <a:solidFill>
                  <a:srgbClr val="1B2430"/>
                </a:solidFill>
                <a:latin typeface="Calibri" pitchFamily="34" charset="0"/>
                <a:ea typeface="Calibri" pitchFamily="34" charset="-122"/>
                <a:cs typeface="Calibri" pitchFamily="34" charset="-120"/>
              </a:rPr>
              <a:t>Comparar estrategias de despliegue: rolling, blue-green y canary.</a:t>
            </a:r>
            <a:endParaRPr lang="en-US" sz="1250" dirty="0"/>
          </a:p>
        </p:txBody>
      </p:sp>
      <p:sp>
        <p:nvSpPr>
          <p:cNvPr id="14" name="Shape 10"/>
          <p:cNvSpPr/>
          <p:nvPr/>
        </p:nvSpPr>
        <p:spPr>
          <a:xfrm>
            <a:off x="6263640" y="1417320"/>
            <a:ext cx="5440680" cy="1078992"/>
          </a:xfrm>
          <a:prstGeom prst="roundRect">
            <a:avLst>
              <a:gd name="adj" fmla="val 7627"/>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15" name="Shape 11"/>
          <p:cNvSpPr/>
          <p:nvPr/>
        </p:nvSpPr>
        <p:spPr>
          <a:xfrm>
            <a:off x="6510528" y="1655064"/>
            <a:ext cx="603504" cy="603504"/>
          </a:xfrm>
          <a:prstGeom prst="ellipse">
            <a:avLst/>
          </a:prstGeom>
          <a:solidFill>
            <a:srgbClr val="0F8C8C"/>
          </a:solidFill>
          <a:ln/>
        </p:spPr>
      </p:sp>
      <p:pic>
        <p:nvPicPr>
          <p:cNvPr id="16" name="Image 2" descr="preencoded.png"/>
          <p:cNvPicPr>
            <a:picLocks noChangeAspect="1"/>
          </p:cNvPicPr>
          <p:nvPr/>
        </p:nvPicPr>
        <p:blipFill>
          <a:blip r:embed="rId5"/>
          <a:stretch>
            <a:fillRect/>
          </a:stretch>
        </p:blipFill>
        <p:spPr>
          <a:xfrm>
            <a:off x="6667439" y="1811975"/>
            <a:ext cx="289682" cy="289682"/>
          </a:xfrm>
          <a:prstGeom prst="rect">
            <a:avLst/>
          </a:prstGeom>
        </p:spPr>
      </p:pic>
      <p:sp>
        <p:nvSpPr>
          <p:cNvPr id="17" name="Text 12"/>
          <p:cNvSpPr/>
          <p:nvPr/>
        </p:nvSpPr>
        <p:spPr>
          <a:xfrm>
            <a:off x="7269480" y="1600200"/>
            <a:ext cx="4297680" cy="256032"/>
          </a:xfrm>
          <a:prstGeom prst="rect">
            <a:avLst/>
          </a:prstGeom>
          <a:noFill/>
          <a:ln/>
        </p:spPr>
        <p:txBody>
          <a:bodyPr wrap="square" lIns="0" tIns="0" rIns="0" bIns="0" rtlCol="0" anchor="ctr"/>
          <a:lstStyle/>
          <a:p>
            <a:pPr marL="0" indent="0">
              <a:buNone/>
            </a:pPr>
            <a:r>
              <a:rPr lang="en-US" sz="1050" b="1" kern="0" spc="150" dirty="0">
                <a:solidFill>
                  <a:srgbClr val="0F8C8C"/>
                </a:solidFill>
                <a:latin typeface="Calibri" pitchFamily="34" charset="0"/>
                <a:ea typeface="Calibri" pitchFamily="34" charset="-122"/>
                <a:cs typeface="Calibri" pitchFamily="34" charset="-120"/>
              </a:rPr>
              <a:t>SUBTEMA 1</a:t>
            </a:r>
            <a:endParaRPr lang="en-US" sz="1050" dirty="0"/>
          </a:p>
        </p:txBody>
      </p:sp>
      <p:sp>
        <p:nvSpPr>
          <p:cNvPr id="18" name="Text 13"/>
          <p:cNvSpPr/>
          <p:nvPr/>
        </p:nvSpPr>
        <p:spPr>
          <a:xfrm>
            <a:off x="7269480" y="1837944"/>
            <a:ext cx="4343400" cy="548640"/>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Virtualizacion y contenerizacion: Docker</a:t>
            </a:r>
            <a:endParaRPr lang="en-US" sz="1350" dirty="0"/>
          </a:p>
        </p:txBody>
      </p:sp>
      <p:sp>
        <p:nvSpPr>
          <p:cNvPr id="19" name="Shape 14"/>
          <p:cNvSpPr/>
          <p:nvPr/>
        </p:nvSpPr>
        <p:spPr>
          <a:xfrm>
            <a:off x="6263640" y="2615184"/>
            <a:ext cx="5440680" cy="1078992"/>
          </a:xfrm>
          <a:prstGeom prst="roundRect">
            <a:avLst>
              <a:gd name="adj" fmla="val 7627"/>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20" name="Shape 15"/>
          <p:cNvSpPr/>
          <p:nvPr/>
        </p:nvSpPr>
        <p:spPr>
          <a:xfrm>
            <a:off x="6510528" y="2852928"/>
            <a:ext cx="603504" cy="603504"/>
          </a:xfrm>
          <a:prstGeom prst="ellipse">
            <a:avLst/>
          </a:prstGeom>
          <a:solidFill>
            <a:srgbClr val="2E5EAA"/>
          </a:solidFill>
          <a:ln/>
        </p:spPr>
      </p:sp>
      <p:pic>
        <p:nvPicPr>
          <p:cNvPr id="21" name="Image 3" descr="preencoded.png"/>
          <p:cNvPicPr>
            <a:picLocks noChangeAspect="1"/>
          </p:cNvPicPr>
          <p:nvPr/>
        </p:nvPicPr>
        <p:blipFill>
          <a:blip r:embed="rId6"/>
          <a:stretch>
            <a:fillRect/>
          </a:stretch>
        </p:blipFill>
        <p:spPr>
          <a:xfrm>
            <a:off x="6667439" y="3009839"/>
            <a:ext cx="289682" cy="289682"/>
          </a:xfrm>
          <a:prstGeom prst="rect">
            <a:avLst/>
          </a:prstGeom>
        </p:spPr>
      </p:pic>
      <p:sp>
        <p:nvSpPr>
          <p:cNvPr id="22" name="Text 16"/>
          <p:cNvSpPr/>
          <p:nvPr/>
        </p:nvSpPr>
        <p:spPr>
          <a:xfrm>
            <a:off x="7269480" y="2798064"/>
            <a:ext cx="4297680" cy="256032"/>
          </a:xfrm>
          <a:prstGeom prst="rect">
            <a:avLst/>
          </a:prstGeom>
          <a:noFill/>
          <a:ln/>
        </p:spPr>
        <p:txBody>
          <a:bodyPr wrap="square" lIns="0" tIns="0" rIns="0" bIns="0" rtlCol="0" anchor="ctr"/>
          <a:lstStyle/>
          <a:p>
            <a:pPr marL="0" indent="0">
              <a:buNone/>
            </a:pPr>
            <a:r>
              <a:rPr lang="en-US" sz="1050" b="1" kern="0" spc="150" dirty="0">
                <a:solidFill>
                  <a:srgbClr val="2E5EAA"/>
                </a:solidFill>
                <a:latin typeface="Calibri" pitchFamily="34" charset="0"/>
                <a:ea typeface="Calibri" pitchFamily="34" charset="-122"/>
                <a:cs typeface="Calibri" pitchFamily="34" charset="-120"/>
              </a:rPr>
              <a:t>SUBTEMA 2</a:t>
            </a:r>
            <a:endParaRPr lang="en-US" sz="1050" dirty="0"/>
          </a:p>
        </p:txBody>
      </p:sp>
      <p:sp>
        <p:nvSpPr>
          <p:cNvPr id="23" name="Text 17"/>
          <p:cNvSpPr/>
          <p:nvPr/>
        </p:nvSpPr>
        <p:spPr>
          <a:xfrm>
            <a:off x="7269480" y="3035808"/>
            <a:ext cx="4343400" cy="548640"/>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Composicion de servicios: Docker Compose</a:t>
            </a:r>
            <a:endParaRPr lang="en-US" sz="1350" dirty="0"/>
          </a:p>
        </p:txBody>
      </p:sp>
      <p:sp>
        <p:nvSpPr>
          <p:cNvPr id="24" name="Shape 18"/>
          <p:cNvSpPr/>
          <p:nvPr/>
        </p:nvSpPr>
        <p:spPr>
          <a:xfrm>
            <a:off x="6263640" y="3813048"/>
            <a:ext cx="5440680" cy="1078992"/>
          </a:xfrm>
          <a:prstGeom prst="roundRect">
            <a:avLst>
              <a:gd name="adj" fmla="val 7627"/>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25" name="Shape 19"/>
          <p:cNvSpPr/>
          <p:nvPr/>
        </p:nvSpPr>
        <p:spPr>
          <a:xfrm>
            <a:off x="6510528" y="4050792"/>
            <a:ext cx="603504" cy="603504"/>
          </a:xfrm>
          <a:prstGeom prst="ellipse">
            <a:avLst/>
          </a:prstGeom>
          <a:solidFill>
            <a:srgbClr val="007F47"/>
          </a:solidFill>
          <a:ln/>
        </p:spPr>
      </p:sp>
      <p:pic>
        <p:nvPicPr>
          <p:cNvPr id="26" name="Image 4" descr="preencoded.png"/>
          <p:cNvPicPr>
            <a:picLocks noChangeAspect="1"/>
          </p:cNvPicPr>
          <p:nvPr/>
        </p:nvPicPr>
        <p:blipFill>
          <a:blip r:embed="rId7"/>
          <a:stretch>
            <a:fillRect/>
          </a:stretch>
        </p:blipFill>
        <p:spPr>
          <a:xfrm>
            <a:off x="6667439" y="4207703"/>
            <a:ext cx="289682" cy="289682"/>
          </a:xfrm>
          <a:prstGeom prst="rect">
            <a:avLst/>
          </a:prstGeom>
        </p:spPr>
      </p:pic>
      <p:sp>
        <p:nvSpPr>
          <p:cNvPr id="27" name="Text 20"/>
          <p:cNvSpPr/>
          <p:nvPr/>
        </p:nvSpPr>
        <p:spPr>
          <a:xfrm>
            <a:off x="7269480" y="3995928"/>
            <a:ext cx="4297680" cy="256032"/>
          </a:xfrm>
          <a:prstGeom prst="rect">
            <a:avLst/>
          </a:prstGeom>
          <a:noFill/>
          <a:ln/>
        </p:spPr>
        <p:txBody>
          <a:bodyPr wrap="square" lIns="0" tIns="0" rIns="0" bIns="0" rtlCol="0" anchor="ctr"/>
          <a:lstStyle/>
          <a:p>
            <a:pPr marL="0" indent="0">
              <a:buNone/>
            </a:pPr>
            <a:r>
              <a:rPr lang="en-US" sz="1050" b="1" kern="0" spc="150" dirty="0">
                <a:solidFill>
                  <a:srgbClr val="007F47"/>
                </a:solidFill>
                <a:latin typeface="Calibri" pitchFamily="34" charset="0"/>
                <a:ea typeface="Calibri" pitchFamily="34" charset="-122"/>
                <a:cs typeface="Calibri" pitchFamily="34" charset="-120"/>
              </a:rPr>
              <a:t>SUBTEMA 3</a:t>
            </a:r>
            <a:endParaRPr lang="en-US" sz="1050" dirty="0"/>
          </a:p>
        </p:txBody>
      </p:sp>
      <p:sp>
        <p:nvSpPr>
          <p:cNvPr id="28" name="Text 21"/>
          <p:cNvSpPr/>
          <p:nvPr/>
        </p:nvSpPr>
        <p:spPr>
          <a:xfrm>
            <a:off x="7269480" y="4233672"/>
            <a:ext cx="4343400" cy="548640"/>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Introduccion a Kubernetes: pods, deployments y services</a:t>
            </a:r>
            <a:endParaRPr lang="en-US" sz="1350" dirty="0"/>
          </a:p>
        </p:txBody>
      </p:sp>
      <p:sp>
        <p:nvSpPr>
          <p:cNvPr id="29" name="Shape 22"/>
          <p:cNvSpPr/>
          <p:nvPr/>
        </p:nvSpPr>
        <p:spPr>
          <a:xfrm>
            <a:off x="6263640" y="5010912"/>
            <a:ext cx="5440680" cy="1078992"/>
          </a:xfrm>
          <a:prstGeom prst="roundRect">
            <a:avLst>
              <a:gd name="adj" fmla="val 7627"/>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30" name="Shape 23"/>
          <p:cNvSpPr/>
          <p:nvPr/>
        </p:nvSpPr>
        <p:spPr>
          <a:xfrm>
            <a:off x="6510528" y="5248656"/>
            <a:ext cx="603504" cy="603504"/>
          </a:xfrm>
          <a:prstGeom prst="ellipse">
            <a:avLst/>
          </a:prstGeom>
          <a:solidFill>
            <a:srgbClr val="C87800"/>
          </a:solidFill>
          <a:ln/>
        </p:spPr>
      </p:sp>
      <p:pic>
        <p:nvPicPr>
          <p:cNvPr id="31" name="Image 5" descr="preencoded.png"/>
          <p:cNvPicPr>
            <a:picLocks noChangeAspect="1"/>
          </p:cNvPicPr>
          <p:nvPr/>
        </p:nvPicPr>
        <p:blipFill>
          <a:blip r:embed="rId8"/>
          <a:stretch>
            <a:fillRect/>
          </a:stretch>
        </p:blipFill>
        <p:spPr>
          <a:xfrm>
            <a:off x="6667439" y="5405567"/>
            <a:ext cx="289682" cy="289682"/>
          </a:xfrm>
          <a:prstGeom prst="rect">
            <a:avLst/>
          </a:prstGeom>
        </p:spPr>
      </p:pic>
      <p:sp>
        <p:nvSpPr>
          <p:cNvPr id="32" name="Text 24"/>
          <p:cNvSpPr/>
          <p:nvPr/>
        </p:nvSpPr>
        <p:spPr>
          <a:xfrm>
            <a:off x="7269480" y="5193792"/>
            <a:ext cx="4297680" cy="256032"/>
          </a:xfrm>
          <a:prstGeom prst="rect">
            <a:avLst/>
          </a:prstGeom>
          <a:noFill/>
          <a:ln/>
        </p:spPr>
        <p:txBody>
          <a:bodyPr wrap="square" lIns="0" tIns="0" rIns="0" bIns="0" rtlCol="0" anchor="ctr"/>
          <a:lstStyle/>
          <a:p>
            <a:pPr marL="0" indent="0">
              <a:buNone/>
            </a:pPr>
            <a:r>
              <a:rPr lang="en-US" sz="1050" b="1" kern="0" spc="150" dirty="0">
                <a:solidFill>
                  <a:srgbClr val="C87800"/>
                </a:solidFill>
                <a:latin typeface="Calibri" pitchFamily="34" charset="0"/>
                <a:ea typeface="Calibri" pitchFamily="34" charset="-122"/>
                <a:cs typeface="Calibri" pitchFamily="34" charset="-120"/>
              </a:rPr>
              <a:t>SUBTEMA 4</a:t>
            </a:r>
            <a:endParaRPr lang="en-US" sz="1050" dirty="0"/>
          </a:p>
        </p:txBody>
      </p:sp>
      <p:sp>
        <p:nvSpPr>
          <p:cNvPr id="33" name="Text 25"/>
          <p:cNvSpPr/>
          <p:nvPr/>
        </p:nvSpPr>
        <p:spPr>
          <a:xfrm>
            <a:off x="7269480" y="5431536"/>
            <a:ext cx="4343400" cy="548640"/>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Patrones de despliegue distribuido: blue-green y canary</a:t>
            </a:r>
            <a:endParaRPr lang="en-US" sz="1350" dirty="0"/>
          </a:p>
        </p:txBody>
      </p:sp>
      <p:sp>
        <p:nvSpPr>
          <p:cNvPr id="35" name="Text 26"/>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36" name="Text 2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1F3864"/>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1F3864"/>
                </a:solidFill>
                <a:latin typeface="Calibri" pitchFamily="34" charset="0"/>
                <a:ea typeface="Calibri" pitchFamily="34" charset="-122"/>
                <a:cs typeface="Calibri" pitchFamily="34" charset="-120"/>
              </a:rPr>
              <a:t>LENGUAJE COMUN</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Glosario de acronimos y terminos</a:t>
            </a:r>
            <a:endParaRPr lang="en-US" sz="2600" dirty="0"/>
          </a:p>
        </p:txBody>
      </p:sp>
      <p:sp>
        <p:nvSpPr>
          <p:cNvPr id="6" name="Shape 3"/>
          <p:cNvSpPr/>
          <p:nvPr/>
        </p:nvSpPr>
        <p:spPr>
          <a:xfrm>
            <a:off x="457200" y="1481328"/>
            <a:ext cx="5623560" cy="877824"/>
          </a:xfrm>
          <a:prstGeom prst="roundRect">
            <a:avLst>
              <a:gd name="adj" fmla="val 9375"/>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Shape 4"/>
          <p:cNvSpPr/>
          <p:nvPr/>
        </p:nvSpPr>
        <p:spPr>
          <a:xfrm>
            <a:off x="603504" y="1645920"/>
            <a:ext cx="1097280" cy="548640"/>
          </a:xfrm>
          <a:prstGeom prst="roundRect">
            <a:avLst>
              <a:gd name="adj" fmla="val 10000"/>
            </a:avLst>
          </a:prstGeom>
          <a:solidFill>
            <a:srgbClr val="0F8C8C"/>
          </a:solidFill>
          <a:ln/>
        </p:spPr>
      </p:sp>
      <p:sp>
        <p:nvSpPr>
          <p:cNvPr id="8" name="Text 5"/>
          <p:cNvSpPr/>
          <p:nvPr/>
        </p:nvSpPr>
        <p:spPr>
          <a:xfrm>
            <a:off x="603504" y="1645920"/>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VM</a:t>
            </a:r>
            <a:endParaRPr lang="en-US" sz="1350" dirty="0"/>
          </a:p>
        </p:txBody>
      </p:sp>
      <p:sp>
        <p:nvSpPr>
          <p:cNvPr id="9" name="Text 6"/>
          <p:cNvSpPr/>
          <p:nvPr/>
        </p:nvSpPr>
        <p:spPr>
          <a:xfrm>
            <a:off x="1828800" y="1572768"/>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Virtual Machine (maquina virtual): virtualiza hardware completo con su propio sistema operativo.</a:t>
            </a:r>
            <a:endParaRPr lang="en-US" sz="1150" dirty="0"/>
          </a:p>
        </p:txBody>
      </p:sp>
      <p:sp>
        <p:nvSpPr>
          <p:cNvPr id="10" name="Shape 7"/>
          <p:cNvSpPr/>
          <p:nvPr/>
        </p:nvSpPr>
        <p:spPr>
          <a:xfrm>
            <a:off x="6263640" y="1481328"/>
            <a:ext cx="5623560" cy="877824"/>
          </a:xfrm>
          <a:prstGeom prst="roundRect">
            <a:avLst>
              <a:gd name="adj" fmla="val 9375"/>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11" name="Shape 8"/>
          <p:cNvSpPr/>
          <p:nvPr/>
        </p:nvSpPr>
        <p:spPr>
          <a:xfrm>
            <a:off x="6409944" y="1645920"/>
            <a:ext cx="1097280" cy="548640"/>
          </a:xfrm>
          <a:prstGeom prst="roundRect">
            <a:avLst>
              <a:gd name="adj" fmla="val 10000"/>
            </a:avLst>
          </a:prstGeom>
          <a:solidFill>
            <a:srgbClr val="2E5EAA"/>
          </a:solidFill>
          <a:ln/>
        </p:spPr>
      </p:sp>
      <p:sp>
        <p:nvSpPr>
          <p:cNvPr id="12" name="Text 9"/>
          <p:cNvSpPr/>
          <p:nvPr/>
        </p:nvSpPr>
        <p:spPr>
          <a:xfrm>
            <a:off x="6409944" y="1645920"/>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OCI</a:t>
            </a:r>
            <a:endParaRPr lang="en-US" sz="1350" dirty="0"/>
          </a:p>
        </p:txBody>
      </p:sp>
      <p:sp>
        <p:nvSpPr>
          <p:cNvPr id="13" name="Text 10"/>
          <p:cNvSpPr/>
          <p:nvPr/>
        </p:nvSpPr>
        <p:spPr>
          <a:xfrm>
            <a:off x="7635240" y="1572768"/>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Open Container Initiative: estandar de formato de imagenes y runtime de contenedores.</a:t>
            </a:r>
            <a:endParaRPr lang="en-US" sz="1150" dirty="0"/>
          </a:p>
        </p:txBody>
      </p:sp>
      <p:sp>
        <p:nvSpPr>
          <p:cNvPr id="14" name="Shape 11"/>
          <p:cNvSpPr/>
          <p:nvPr/>
        </p:nvSpPr>
        <p:spPr>
          <a:xfrm>
            <a:off x="457200" y="2414016"/>
            <a:ext cx="5623560" cy="877824"/>
          </a:xfrm>
          <a:prstGeom prst="roundRect">
            <a:avLst>
              <a:gd name="adj" fmla="val 9375"/>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15" name="Shape 12"/>
          <p:cNvSpPr/>
          <p:nvPr/>
        </p:nvSpPr>
        <p:spPr>
          <a:xfrm>
            <a:off x="603504" y="2578608"/>
            <a:ext cx="1097280" cy="548640"/>
          </a:xfrm>
          <a:prstGeom prst="roundRect">
            <a:avLst>
              <a:gd name="adj" fmla="val 10000"/>
            </a:avLst>
          </a:prstGeom>
          <a:solidFill>
            <a:srgbClr val="0F8C8C"/>
          </a:solidFill>
          <a:ln/>
        </p:spPr>
      </p:sp>
      <p:sp>
        <p:nvSpPr>
          <p:cNvPr id="16" name="Text 13"/>
          <p:cNvSpPr/>
          <p:nvPr/>
        </p:nvSpPr>
        <p:spPr>
          <a:xfrm>
            <a:off x="603504" y="2578608"/>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YAML</a:t>
            </a:r>
            <a:endParaRPr lang="en-US" sz="1350" dirty="0"/>
          </a:p>
        </p:txBody>
      </p:sp>
      <p:sp>
        <p:nvSpPr>
          <p:cNvPr id="17" name="Text 14"/>
          <p:cNvSpPr/>
          <p:nvPr/>
        </p:nvSpPr>
        <p:spPr>
          <a:xfrm>
            <a:off x="1828800" y="2505456"/>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YAML Ain't Markup Language: formato de configuracion legible usado por Compose y Kubernetes.</a:t>
            </a:r>
            <a:endParaRPr lang="en-US" sz="1150" dirty="0"/>
          </a:p>
        </p:txBody>
      </p:sp>
      <p:sp>
        <p:nvSpPr>
          <p:cNvPr id="18" name="Shape 15"/>
          <p:cNvSpPr/>
          <p:nvPr/>
        </p:nvSpPr>
        <p:spPr>
          <a:xfrm>
            <a:off x="6263640" y="2414016"/>
            <a:ext cx="5623560" cy="877824"/>
          </a:xfrm>
          <a:prstGeom prst="roundRect">
            <a:avLst>
              <a:gd name="adj" fmla="val 9375"/>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19" name="Shape 16"/>
          <p:cNvSpPr/>
          <p:nvPr/>
        </p:nvSpPr>
        <p:spPr>
          <a:xfrm>
            <a:off x="6409944" y="2578608"/>
            <a:ext cx="1097280" cy="548640"/>
          </a:xfrm>
          <a:prstGeom prst="roundRect">
            <a:avLst>
              <a:gd name="adj" fmla="val 10000"/>
            </a:avLst>
          </a:prstGeom>
          <a:solidFill>
            <a:srgbClr val="2E5EAA"/>
          </a:solidFill>
          <a:ln/>
        </p:spPr>
      </p:sp>
      <p:sp>
        <p:nvSpPr>
          <p:cNvPr id="20" name="Text 17"/>
          <p:cNvSpPr/>
          <p:nvPr/>
        </p:nvSpPr>
        <p:spPr>
          <a:xfrm>
            <a:off x="6409944" y="2578608"/>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K8s</a:t>
            </a:r>
            <a:endParaRPr lang="en-US" sz="1350" dirty="0"/>
          </a:p>
        </p:txBody>
      </p:sp>
      <p:sp>
        <p:nvSpPr>
          <p:cNvPr id="21" name="Text 18"/>
          <p:cNvSpPr/>
          <p:nvPr/>
        </p:nvSpPr>
        <p:spPr>
          <a:xfrm>
            <a:off x="7635240" y="2505456"/>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Kubernetes: plataforma de orquestacion de contenedores (k + 8 letras + s).</a:t>
            </a:r>
            <a:endParaRPr lang="en-US" sz="1150" dirty="0"/>
          </a:p>
        </p:txBody>
      </p:sp>
      <p:sp>
        <p:nvSpPr>
          <p:cNvPr id="22" name="Shape 19"/>
          <p:cNvSpPr/>
          <p:nvPr/>
        </p:nvSpPr>
        <p:spPr>
          <a:xfrm>
            <a:off x="457200" y="3346704"/>
            <a:ext cx="5623560" cy="877824"/>
          </a:xfrm>
          <a:prstGeom prst="roundRect">
            <a:avLst>
              <a:gd name="adj" fmla="val 9375"/>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23" name="Shape 20"/>
          <p:cNvSpPr/>
          <p:nvPr/>
        </p:nvSpPr>
        <p:spPr>
          <a:xfrm>
            <a:off x="603504" y="3511296"/>
            <a:ext cx="1097280" cy="548640"/>
          </a:xfrm>
          <a:prstGeom prst="roundRect">
            <a:avLst>
              <a:gd name="adj" fmla="val 10000"/>
            </a:avLst>
          </a:prstGeom>
          <a:solidFill>
            <a:srgbClr val="0F8C8C"/>
          </a:solidFill>
          <a:ln/>
        </p:spPr>
      </p:sp>
      <p:sp>
        <p:nvSpPr>
          <p:cNvPr id="24" name="Text 21"/>
          <p:cNvSpPr/>
          <p:nvPr/>
        </p:nvSpPr>
        <p:spPr>
          <a:xfrm>
            <a:off x="603504" y="3511296"/>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Pod</a:t>
            </a:r>
            <a:endParaRPr lang="en-US" sz="1350" dirty="0"/>
          </a:p>
        </p:txBody>
      </p:sp>
      <p:sp>
        <p:nvSpPr>
          <p:cNvPr id="25" name="Text 22"/>
          <p:cNvSpPr/>
          <p:nvPr/>
        </p:nvSpPr>
        <p:spPr>
          <a:xfrm>
            <a:off x="1828800" y="3438144"/>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Unidad minima de despliegue en Kubernetes; agrupa uno o mas contenedores.</a:t>
            </a:r>
            <a:endParaRPr lang="en-US" sz="1150" dirty="0"/>
          </a:p>
        </p:txBody>
      </p:sp>
      <p:sp>
        <p:nvSpPr>
          <p:cNvPr id="26" name="Shape 23"/>
          <p:cNvSpPr/>
          <p:nvPr/>
        </p:nvSpPr>
        <p:spPr>
          <a:xfrm>
            <a:off x="6263640" y="3346704"/>
            <a:ext cx="5623560" cy="877824"/>
          </a:xfrm>
          <a:prstGeom prst="roundRect">
            <a:avLst>
              <a:gd name="adj" fmla="val 9375"/>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27" name="Shape 24"/>
          <p:cNvSpPr/>
          <p:nvPr/>
        </p:nvSpPr>
        <p:spPr>
          <a:xfrm>
            <a:off x="6409944" y="3511296"/>
            <a:ext cx="1097280" cy="548640"/>
          </a:xfrm>
          <a:prstGeom prst="roundRect">
            <a:avLst>
              <a:gd name="adj" fmla="val 10000"/>
            </a:avLst>
          </a:prstGeom>
          <a:solidFill>
            <a:srgbClr val="2E5EAA"/>
          </a:solidFill>
          <a:ln/>
        </p:spPr>
      </p:sp>
      <p:sp>
        <p:nvSpPr>
          <p:cNvPr id="28" name="Text 25"/>
          <p:cNvSpPr/>
          <p:nvPr/>
        </p:nvSpPr>
        <p:spPr>
          <a:xfrm>
            <a:off x="6409944" y="3511296"/>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JRE</a:t>
            </a:r>
            <a:endParaRPr lang="en-US" sz="1350" dirty="0"/>
          </a:p>
        </p:txBody>
      </p:sp>
      <p:sp>
        <p:nvSpPr>
          <p:cNvPr id="29" name="Text 26"/>
          <p:cNvSpPr/>
          <p:nvPr/>
        </p:nvSpPr>
        <p:spPr>
          <a:xfrm>
            <a:off x="7635240" y="3438144"/>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Java Runtime Environment: entorno de ejecucion de Java (sin compilador).</a:t>
            </a:r>
            <a:endParaRPr lang="en-US" sz="1150" dirty="0"/>
          </a:p>
        </p:txBody>
      </p:sp>
      <p:sp>
        <p:nvSpPr>
          <p:cNvPr id="30" name="Shape 27"/>
          <p:cNvSpPr/>
          <p:nvPr/>
        </p:nvSpPr>
        <p:spPr>
          <a:xfrm>
            <a:off x="457200" y="4279392"/>
            <a:ext cx="5623560" cy="877824"/>
          </a:xfrm>
          <a:prstGeom prst="roundRect">
            <a:avLst>
              <a:gd name="adj" fmla="val 9375"/>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31" name="Shape 28"/>
          <p:cNvSpPr/>
          <p:nvPr/>
        </p:nvSpPr>
        <p:spPr>
          <a:xfrm>
            <a:off x="603504" y="4443984"/>
            <a:ext cx="1097280" cy="548640"/>
          </a:xfrm>
          <a:prstGeom prst="roundRect">
            <a:avLst>
              <a:gd name="adj" fmla="val 10000"/>
            </a:avLst>
          </a:prstGeom>
          <a:solidFill>
            <a:srgbClr val="0F8C8C"/>
          </a:solidFill>
          <a:ln/>
        </p:spPr>
      </p:sp>
      <p:sp>
        <p:nvSpPr>
          <p:cNvPr id="32" name="Text 29"/>
          <p:cNvSpPr/>
          <p:nvPr/>
        </p:nvSpPr>
        <p:spPr>
          <a:xfrm>
            <a:off x="603504" y="4443984"/>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JDK</a:t>
            </a:r>
            <a:endParaRPr lang="en-US" sz="1350" dirty="0"/>
          </a:p>
        </p:txBody>
      </p:sp>
      <p:sp>
        <p:nvSpPr>
          <p:cNvPr id="33" name="Text 30"/>
          <p:cNvSpPr/>
          <p:nvPr/>
        </p:nvSpPr>
        <p:spPr>
          <a:xfrm>
            <a:off x="1828800" y="4370832"/>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Java Development Kit: kit de desarrollo (incluye compilador y JRE).</a:t>
            </a:r>
            <a:endParaRPr lang="en-US" sz="1150" dirty="0"/>
          </a:p>
        </p:txBody>
      </p:sp>
      <p:sp>
        <p:nvSpPr>
          <p:cNvPr id="34" name="Shape 31"/>
          <p:cNvSpPr/>
          <p:nvPr/>
        </p:nvSpPr>
        <p:spPr>
          <a:xfrm>
            <a:off x="6263640" y="4279392"/>
            <a:ext cx="5623560" cy="877824"/>
          </a:xfrm>
          <a:prstGeom prst="roundRect">
            <a:avLst>
              <a:gd name="adj" fmla="val 9375"/>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35" name="Shape 32"/>
          <p:cNvSpPr/>
          <p:nvPr/>
        </p:nvSpPr>
        <p:spPr>
          <a:xfrm>
            <a:off x="6409944" y="4443984"/>
            <a:ext cx="1097280" cy="548640"/>
          </a:xfrm>
          <a:prstGeom prst="roundRect">
            <a:avLst>
              <a:gd name="adj" fmla="val 10000"/>
            </a:avLst>
          </a:prstGeom>
          <a:solidFill>
            <a:srgbClr val="2E5EAA"/>
          </a:solidFill>
          <a:ln/>
        </p:spPr>
      </p:sp>
      <p:sp>
        <p:nvSpPr>
          <p:cNvPr id="36" name="Text 33"/>
          <p:cNvSpPr/>
          <p:nvPr/>
        </p:nvSpPr>
        <p:spPr>
          <a:xfrm>
            <a:off x="6409944" y="4443984"/>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DNS</a:t>
            </a:r>
            <a:endParaRPr lang="en-US" sz="1350" dirty="0"/>
          </a:p>
        </p:txBody>
      </p:sp>
      <p:sp>
        <p:nvSpPr>
          <p:cNvPr id="37" name="Text 34"/>
          <p:cNvSpPr/>
          <p:nvPr/>
        </p:nvSpPr>
        <p:spPr>
          <a:xfrm>
            <a:off x="7635240" y="4370832"/>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Domain Name System: resuelve nombres de servicio a direcciones de red.</a:t>
            </a:r>
            <a:endParaRPr lang="en-US" sz="1150" dirty="0"/>
          </a:p>
        </p:txBody>
      </p:sp>
      <p:sp>
        <p:nvSpPr>
          <p:cNvPr id="38" name="Shape 35"/>
          <p:cNvSpPr/>
          <p:nvPr/>
        </p:nvSpPr>
        <p:spPr>
          <a:xfrm>
            <a:off x="457200" y="5212080"/>
            <a:ext cx="5623560" cy="877824"/>
          </a:xfrm>
          <a:prstGeom prst="roundRect">
            <a:avLst>
              <a:gd name="adj" fmla="val 9375"/>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39" name="Shape 36"/>
          <p:cNvSpPr/>
          <p:nvPr/>
        </p:nvSpPr>
        <p:spPr>
          <a:xfrm>
            <a:off x="603504" y="5376672"/>
            <a:ext cx="1097280" cy="548640"/>
          </a:xfrm>
          <a:prstGeom prst="roundRect">
            <a:avLst>
              <a:gd name="adj" fmla="val 10000"/>
            </a:avLst>
          </a:prstGeom>
          <a:solidFill>
            <a:srgbClr val="0F8C8C"/>
          </a:solidFill>
          <a:ln/>
        </p:spPr>
      </p:sp>
      <p:sp>
        <p:nvSpPr>
          <p:cNvPr id="40" name="Text 37"/>
          <p:cNvSpPr/>
          <p:nvPr/>
        </p:nvSpPr>
        <p:spPr>
          <a:xfrm>
            <a:off x="603504" y="5376672"/>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CI/CD</a:t>
            </a:r>
            <a:endParaRPr lang="en-US" sz="1350" dirty="0"/>
          </a:p>
        </p:txBody>
      </p:sp>
      <p:sp>
        <p:nvSpPr>
          <p:cNvPr id="41" name="Text 38"/>
          <p:cNvSpPr/>
          <p:nvPr/>
        </p:nvSpPr>
        <p:spPr>
          <a:xfrm>
            <a:off x="1828800" y="5303520"/>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Integracion y Entrega/Despliegue Continuos (Continuous Integration / Delivery).</a:t>
            </a:r>
            <a:endParaRPr lang="en-US" sz="1150" dirty="0"/>
          </a:p>
        </p:txBody>
      </p:sp>
      <p:sp>
        <p:nvSpPr>
          <p:cNvPr id="42" name="Shape 39"/>
          <p:cNvSpPr/>
          <p:nvPr/>
        </p:nvSpPr>
        <p:spPr>
          <a:xfrm>
            <a:off x="6263640" y="5212080"/>
            <a:ext cx="5623560" cy="877824"/>
          </a:xfrm>
          <a:prstGeom prst="roundRect">
            <a:avLst>
              <a:gd name="adj" fmla="val 9375"/>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43" name="Shape 40"/>
          <p:cNvSpPr/>
          <p:nvPr/>
        </p:nvSpPr>
        <p:spPr>
          <a:xfrm>
            <a:off x="6409944" y="5376672"/>
            <a:ext cx="1097280" cy="548640"/>
          </a:xfrm>
          <a:prstGeom prst="roundRect">
            <a:avLst>
              <a:gd name="adj" fmla="val 10000"/>
            </a:avLst>
          </a:prstGeom>
          <a:solidFill>
            <a:srgbClr val="2E5EAA"/>
          </a:solidFill>
          <a:ln/>
        </p:spPr>
      </p:sp>
      <p:sp>
        <p:nvSpPr>
          <p:cNvPr id="44" name="Text 41"/>
          <p:cNvSpPr/>
          <p:nvPr/>
        </p:nvSpPr>
        <p:spPr>
          <a:xfrm>
            <a:off x="6409944" y="5376672"/>
            <a:ext cx="1097280"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API REST</a:t>
            </a:r>
            <a:endParaRPr lang="en-US" sz="1350" dirty="0"/>
          </a:p>
        </p:txBody>
      </p:sp>
      <p:sp>
        <p:nvSpPr>
          <p:cNvPr id="45" name="Text 42"/>
          <p:cNvSpPr/>
          <p:nvPr/>
        </p:nvSpPr>
        <p:spPr>
          <a:xfrm>
            <a:off x="7635240" y="5303520"/>
            <a:ext cx="4114800" cy="694944"/>
          </a:xfrm>
          <a:prstGeom prst="rect">
            <a:avLst/>
          </a:prstGeom>
          <a:noFill/>
          <a:ln/>
        </p:spPr>
        <p:txBody>
          <a:bodyPr wrap="square" lIns="0" tIns="0" rIns="0" bIns="0" rtlCol="0" anchor="ctr"/>
          <a:lstStyle/>
          <a:p>
            <a:pPr marL="0" indent="0">
              <a:lnSpc>
                <a:spcPct val="98000"/>
              </a:lnSpc>
              <a:buNone/>
            </a:pPr>
            <a:r>
              <a:rPr lang="en-US" sz="1150" dirty="0">
                <a:solidFill>
                  <a:srgbClr val="1B2430"/>
                </a:solidFill>
                <a:latin typeface="Calibri" pitchFamily="34" charset="0"/>
                <a:ea typeface="Calibri" pitchFamily="34" charset="-122"/>
                <a:cs typeface="Calibri" pitchFamily="34" charset="-120"/>
              </a:rPr>
              <a:t>Interfaz basada en HTTP y recursos (Representational State Transfer).</a:t>
            </a:r>
            <a:endParaRPr lang="en-US" sz="1150" dirty="0"/>
          </a:p>
        </p:txBody>
      </p:sp>
      <p:sp>
        <p:nvSpPr>
          <p:cNvPr id="47" name="Text 43"/>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48" name="Text 4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1188720" y="4023360"/>
            <a:ext cx="4206240" cy="4206240"/>
          </a:xfrm>
          <a:prstGeom prst="ellipse">
            <a:avLst/>
          </a:prstGeom>
          <a:solidFill>
            <a:srgbClr val="FFFFFF">
              <a:alpha val="7000"/>
            </a:srgbClr>
          </a:solidFill>
          <a:ln/>
        </p:spPr>
      </p:sp>
      <p:sp>
        <p:nvSpPr>
          <p:cNvPr id="3" name="Shape 1"/>
          <p:cNvSpPr/>
          <p:nvPr/>
        </p:nvSpPr>
        <p:spPr>
          <a:xfrm>
            <a:off x="10058400" y="-1371600"/>
            <a:ext cx="3840480" cy="3840480"/>
          </a:xfrm>
          <a:prstGeom prst="ellipse">
            <a:avLst/>
          </a:prstGeom>
          <a:solidFill>
            <a:srgbClr val="0F8C8C">
              <a:alpha val="18000"/>
            </a:srgbClr>
          </a:solidFill>
          <a:ln/>
        </p:spPr>
      </p:sp>
      <p:sp>
        <p:nvSpPr>
          <p:cNvPr id="4" name="Shape 2"/>
          <p:cNvSpPr/>
          <p:nvPr/>
        </p:nvSpPr>
        <p:spPr>
          <a:xfrm>
            <a:off x="914400" y="2240280"/>
            <a:ext cx="1371600" cy="1371600"/>
          </a:xfrm>
          <a:prstGeom prst="ellipse">
            <a:avLst/>
          </a:prstGeom>
          <a:solidFill>
            <a:srgbClr val="0F8C8C"/>
          </a:solidFill>
          <a:ln/>
        </p:spPr>
      </p:sp>
      <p:pic>
        <p:nvPicPr>
          <p:cNvPr id="5" name="Image 0" descr="preencoded.png"/>
          <p:cNvPicPr>
            <a:picLocks noChangeAspect="1"/>
          </p:cNvPicPr>
          <p:nvPr/>
        </p:nvPicPr>
        <p:blipFill>
          <a:blip r:embed="rId3"/>
          <a:stretch>
            <a:fillRect/>
          </a:stretch>
        </p:blipFill>
        <p:spPr>
          <a:xfrm>
            <a:off x="1271016" y="2596896"/>
            <a:ext cx="658368" cy="658368"/>
          </a:xfrm>
          <a:prstGeom prst="rect">
            <a:avLst/>
          </a:prstGeom>
        </p:spPr>
      </p:pic>
      <p:sp>
        <p:nvSpPr>
          <p:cNvPr id="6" name="Text 3"/>
          <p:cNvSpPr/>
          <p:nvPr/>
        </p:nvSpPr>
        <p:spPr>
          <a:xfrm>
            <a:off x="2743200" y="2240280"/>
            <a:ext cx="8229600" cy="457200"/>
          </a:xfrm>
          <a:prstGeom prst="rect">
            <a:avLst/>
          </a:prstGeom>
          <a:noFill/>
          <a:ln/>
        </p:spPr>
        <p:txBody>
          <a:bodyPr wrap="square" lIns="0" tIns="0" rIns="0" bIns="0" rtlCol="0" anchor="ctr"/>
          <a:lstStyle/>
          <a:p>
            <a:pPr marL="0" indent="0">
              <a:buNone/>
            </a:pPr>
            <a:r>
              <a:rPr lang="en-US" sz="1600" b="1" kern="0" spc="300" dirty="0">
                <a:solidFill>
                  <a:srgbClr val="7FE3E3"/>
                </a:solidFill>
                <a:latin typeface="Calibri" pitchFamily="34" charset="0"/>
                <a:ea typeface="Calibri" pitchFamily="34" charset="-122"/>
                <a:cs typeface="Calibri" pitchFamily="34" charset="-120"/>
              </a:rPr>
              <a:t>SUBTEMA 1</a:t>
            </a:r>
            <a:endParaRPr lang="en-US" sz="1600" dirty="0"/>
          </a:p>
        </p:txBody>
      </p:sp>
      <p:sp>
        <p:nvSpPr>
          <p:cNvPr id="7" name="Text 4"/>
          <p:cNvSpPr/>
          <p:nvPr/>
        </p:nvSpPr>
        <p:spPr>
          <a:xfrm>
            <a:off x="2697480" y="2651760"/>
            <a:ext cx="8778240" cy="12801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Virtualizacion y contenerizacion: Docker</a:t>
            </a:r>
            <a:endParaRPr lang="en-US" sz="3400" dirty="0"/>
          </a:p>
        </p:txBody>
      </p:sp>
      <p:sp>
        <p:nvSpPr>
          <p:cNvPr id="8" name="Text 5"/>
          <p:cNvSpPr/>
          <p:nvPr/>
        </p:nvSpPr>
        <p:spPr>
          <a:xfrm>
            <a:off x="2743200" y="3977640"/>
            <a:ext cx="8503920" cy="731520"/>
          </a:xfrm>
          <a:prstGeom prst="rect">
            <a:avLst/>
          </a:prstGeom>
          <a:noFill/>
          <a:ln/>
        </p:spPr>
        <p:txBody>
          <a:bodyPr wrap="square" lIns="0" tIns="0" rIns="0" bIns="0" rtlCol="0" anchor="ctr"/>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De la maquina virtual al contenedor: por que Docker se volvio el estandar para empaquetar y ejecutar aplicaciones distribuidas de forma reproducible.</a:t>
            </a:r>
            <a:endParaRPr lang="en-US" sz="15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1" name="Text 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0F8C8C"/>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0F8C8C"/>
                </a:solidFill>
                <a:latin typeface="Calibri" pitchFamily="34" charset="0"/>
                <a:ea typeface="Calibri" pitchFamily="34" charset="-122"/>
                <a:cs typeface="Calibri" pitchFamily="34" charset="-120"/>
              </a:rPr>
              <a:t>SUBTEMA 1 - CONCEPTO</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Maquina virtual (VM) frente a contenedor</a:t>
            </a:r>
            <a:endParaRPr lang="en-US" sz="2600" dirty="0"/>
          </a:p>
        </p:txBody>
      </p:sp>
      <p:sp>
        <p:nvSpPr>
          <p:cNvPr id="6" name="Shape 3"/>
          <p:cNvSpPr/>
          <p:nvPr/>
        </p:nvSpPr>
        <p:spPr>
          <a:xfrm>
            <a:off x="640080" y="1463040"/>
            <a:ext cx="5120640" cy="4617720"/>
          </a:xfrm>
          <a:prstGeom prst="roundRect">
            <a:avLst>
              <a:gd name="adj" fmla="val 1782"/>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Text 4"/>
          <p:cNvSpPr/>
          <p:nvPr/>
        </p:nvSpPr>
        <p:spPr>
          <a:xfrm>
            <a:off x="868680" y="1627632"/>
            <a:ext cx="4663440" cy="365760"/>
          </a:xfrm>
          <a:prstGeom prst="rect">
            <a:avLst/>
          </a:prstGeom>
          <a:noFill/>
          <a:ln/>
        </p:spPr>
        <p:txBody>
          <a:bodyPr wrap="square" lIns="0" tIns="0" rIns="0" bIns="0" rtlCol="0" anchor="ctr"/>
          <a:lstStyle/>
          <a:p>
            <a:pPr marL="0" indent="0">
              <a:buNone/>
            </a:pPr>
            <a:r>
              <a:rPr lang="en-US" sz="1700" b="1" dirty="0">
                <a:solidFill>
                  <a:srgbClr val="1F3864"/>
                </a:solidFill>
                <a:latin typeface="Cambria" pitchFamily="34" charset="0"/>
                <a:ea typeface="Cambria" pitchFamily="34" charset="-122"/>
                <a:cs typeface="Cambria" pitchFamily="34" charset="-120"/>
              </a:rPr>
              <a:t>Maquina virtual (VM)</a:t>
            </a:r>
            <a:endParaRPr lang="en-US" sz="1700" dirty="0"/>
          </a:p>
        </p:txBody>
      </p:sp>
      <p:sp>
        <p:nvSpPr>
          <p:cNvPr id="8" name="Text 5"/>
          <p:cNvSpPr/>
          <p:nvPr/>
        </p:nvSpPr>
        <p:spPr>
          <a:xfrm>
            <a:off x="868680" y="1993392"/>
            <a:ext cx="4663440" cy="274320"/>
          </a:xfrm>
          <a:prstGeom prst="rect">
            <a:avLst/>
          </a:prstGeom>
          <a:noFill/>
          <a:ln/>
        </p:spPr>
        <p:txBody>
          <a:bodyPr wrap="square" lIns="0" tIns="0" rIns="0" bIns="0" rtlCol="0" anchor="ctr"/>
          <a:lstStyle/>
          <a:p>
            <a:pPr marL="0" indent="0">
              <a:buNone/>
            </a:pPr>
            <a:r>
              <a:rPr lang="en-US" sz="1200" i="1" dirty="0">
                <a:solidFill>
                  <a:srgbClr val="5B6B7B"/>
                </a:solidFill>
                <a:latin typeface="Calibri" pitchFamily="34" charset="0"/>
                <a:ea typeface="Calibri" pitchFamily="34" charset="-122"/>
                <a:cs typeface="Calibri" pitchFamily="34" charset="-120"/>
              </a:rPr>
              <a:t>Virtualiza el hardware completo</a:t>
            </a:r>
            <a:endParaRPr lang="en-US" sz="1200" dirty="0"/>
          </a:p>
        </p:txBody>
      </p:sp>
      <p:sp>
        <p:nvSpPr>
          <p:cNvPr id="9" name="Shape 6"/>
          <p:cNvSpPr/>
          <p:nvPr/>
        </p:nvSpPr>
        <p:spPr>
          <a:xfrm>
            <a:off x="6400800" y="1463040"/>
            <a:ext cx="5120640" cy="4617720"/>
          </a:xfrm>
          <a:prstGeom prst="roundRect">
            <a:avLst>
              <a:gd name="adj" fmla="val 1782"/>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10" name="Text 7"/>
          <p:cNvSpPr/>
          <p:nvPr/>
        </p:nvSpPr>
        <p:spPr>
          <a:xfrm>
            <a:off x="6629400" y="1627632"/>
            <a:ext cx="4663440" cy="365760"/>
          </a:xfrm>
          <a:prstGeom prst="rect">
            <a:avLst/>
          </a:prstGeom>
          <a:noFill/>
          <a:ln/>
        </p:spPr>
        <p:txBody>
          <a:bodyPr wrap="square" lIns="0" tIns="0" rIns="0" bIns="0" rtlCol="0" anchor="ctr"/>
          <a:lstStyle/>
          <a:p>
            <a:pPr marL="0" indent="0">
              <a:buNone/>
            </a:pPr>
            <a:r>
              <a:rPr lang="en-US" sz="1700" b="1" dirty="0">
                <a:solidFill>
                  <a:srgbClr val="0F8C8C"/>
                </a:solidFill>
                <a:latin typeface="Cambria" pitchFamily="34" charset="0"/>
                <a:ea typeface="Cambria" pitchFamily="34" charset="-122"/>
                <a:cs typeface="Cambria" pitchFamily="34" charset="-120"/>
              </a:rPr>
              <a:t>Contenedor</a:t>
            </a:r>
            <a:endParaRPr lang="en-US" sz="1700" dirty="0"/>
          </a:p>
        </p:txBody>
      </p:sp>
      <p:sp>
        <p:nvSpPr>
          <p:cNvPr id="11" name="Text 8"/>
          <p:cNvSpPr/>
          <p:nvPr/>
        </p:nvSpPr>
        <p:spPr>
          <a:xfrm>
            <a:off x="6629400" y="1993392"/>
            <a:ext cx="4663440" cy="274320"/>
          </a:xfrm>
          <a:prstGeom prst="rect">
            <a:avLst/>
          </a:prstGeom>
          <a:noFill/>
          <a:ln/>
        </p:spPr>
        <p:txBody>
          <a:bodyPr wrap="square" lIns="0" tIns="0" rIns="0" bIns="0" rtlCol="0" anchor="ctr"/>
          <a:lstStyle/>
          <a:p>
            <a:pPr marL="0" indent="0">
              <a:buNone/>
            </a:pPr>
            <a:r>
              <a:rPr lang="en-US" sz="1200" i="1" dirty="0">
                <a:solidFill>
                  <a:srgbClr val="5B6B7B"/>
                </a:solidFill>
                <a:latin typeface="Calibri" pitchFamily="34" charset="0"/>
                <a:ea typeface="Calibri" pitchFamily="34" charset="-122"/>
                <a:cs typeface="Calibri" pitchFamily="34" charset="-120"/>
              </a:rPr>
              <a:t>Aisla procesos sobre el mismo kernel</a:t>
            </a:r>
            <a:endParaRPr lang="en-US" sz="1200" dirty="0"/>
          </a:p>
        </p:txBody>
      </p:sp>
      <p:sp>
        <p:nvSpPr>
          <p:cNvPr id="12" name="Shape 9"/>
          <p:cNvSpPr/>
          <p:nvPr/>
        </p:nvSpPr>
        <p:spPr>
          <a:xfrm>
            <a:off x="868680" y="2377440"/>
            <a:ext cx="4663440" cy="457200"/>
          </a:xfrm>
          <a:prstGeom prst="rect">
            <a:avLst/>
          </a:prstGeom>
          <a:solidFill>
            <a:srgbClr val="DCE6F4"/>
          </a:solidFill>
          <a:ln w="19050">
            <a:solidFill>
              <a:srgbClr val="FFFFFF"/>
            </a:solidFill>
            <a:prstDash val="solid"/>
          </a:ln>
        </p:spPr>
      </p:sp>
      <p:sp>
        <p:nvSpPr>
          <p:cNvPr id="13" name="Text 10"/>
          <p:cNvSpPr/>
          <p:nvPr/>
        </p:nvSpPr>
        <p:spPr>
          <a:xfrm>
            <a:off x="960120" y="2377440"/>
            <a:ext cx="4480560" cy="457200"/>
          </a:xfrm>
          <a:prstGeom prst="rect">
            <a:avLst/>
          </a:prstGeom>
          <a:noFill/>
          <a:ln/>
        </p:spPr>
        <p:txBody>
          <a:bodyPr wrap="square" lIns="0" tIns="0" rIns="0" bIns="0"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App A      App B      App C</a:t>
            </a:r>
            <a:endParaRPr lang="en-US" sz="1100" dirty="0"/>
          </a:p>
        </p:txBody>
      </p:sp>
      <p:sp>
        <p:nvSpPr>
          <p:cNvPr id="14" name="Shape 11"/>
          <p:cNvSpPr/>
          <p:nvPr/>
        </p:nvSpPr>
        <p:spPr>
          <a:xfrm>
            <a:off x="868680" y="2852928"/>
            <a:ext cx="4663440" cy="420624"/>
          </a:xfrm>
          <a:prstGeom prst="rect">
            <a:avLst/>
          </a:prstGeom>
          <a:solidFill>
            <a:srgbClr val="E7EEF7"/>
          </a:solidFill>
          <a:ln w="19050">
            <a:solidFill>
              <a:srgbClr val="FFFFFF"/>
            </a:solidFill>
            <a:prstDash val="solid"/>
          </a:ln>
        </p:spPr>
      </p:sp>
      <p:sp>
        <p:nvSpPr>
          <p:cNvPr id="15" name="Text 12"/>
          <p:cNvSpPr/>
          <p:nvPr/>
        </p:nvSpPr>
        <p:spPr>
          <a:xfrm>
            <a:off x="960120" y="2852928"/>
            <a:ext cx="4480560" cy="420624"/>
          </a:xfrm>
          <a:prstGeom prst="rect">
            <a:avLst/>
          </a:prstGeom>
          <a:noFill/>
          <a:ln/>
        </p:spPr>
        <p:txBody>
          <a:bodyPr wrap="square" lIns="0" tIns="0" rIns="0" bIns="0" rtlCol="0" anchor="ctr"/>
          <a:lstStyle/>
          <a:p>
            <a:pPr marL="0" indent="0" algn="ctr">
              <a:buNone/>
            </a:pPr>
            <a:r>
              <a:rPr lang="en-US" sz="1100" b="1" dirty="0">
                <a:solidFill>
                  <a:srgbClr val="1B2430"/>
                </a:solidFill>
                <a:latin typeface="Calibri" pitchFamily="34" charset="0"/>
                <a:ea typeface="Calibri" pitchFamily="34" charset="-122"/>
                <a:cs typeface="Calibri" pitchFamily="34" charset="-120"/>
              </a:rPr>
              <a:t>Bins / Libs  (x3)</a:t>
            </a:r>
            <a:endParaRPr lang="en-US" sz="1100" dirty="0"/>
          </a:p>
        </p:txBody>
      </p:sp>
      <p:sp>
        <p:nvSpPr>
          <p:cNvPr id="16" name="Shape 13"/>
          <p:cNvSpPr/>
          <p:nvPr/>
        </p:nvSpPr>
        <p:spPr>
          <a:xfrm>
            <a:off x="868680" y="3291840"/>
            <a:ext cx="4663440" cy="548640"/>
          </a:xfrm>
          <a:prstGeom prst="rect">
            <a:avLst/>
          </a:prstGeom>
          <a:solidFill>
            <a:srgbClr val="F6C9A8"/>
          </a:solidFill>
          <a:ln w="19050">
            <a:solidFill>
              <a:srgbClr val="FFFFFF"/>
            </a:solidFill>
            <a:prstDash val="solid"/>
          </a:ln>
        </p:spPr>
      </p:sp>
      <p:sp>
        <p:nvSpPr>
          <p:cNvPr id="17" name="Text 14"/>
          <p:cNvSpPr/>
          <p:nvPr/>
        </p:nvSpPr>
        <p:spPr>
          <a:xfrm>
            <a:off x="960120" y="3291840"/>
            <a:ext cx="4480560" cy="548640"/>
          </a:xfrm>
          <a:prstGeom prst="rect">
            <a:avLst/>
          </a:prstGeom>
          <a:noFill/>
          <a:ln/>
        </p:spPr>
        <p:txBody>
          <a:bodyPr wrap="square" lIns="0" tIns="0" rIns="0" bIns="0" rtlCol="0" anchor="ctr"/>
          <a:lstStyle/>
          <a:p>
            <a:pPr marL="0" indent="0" algn="ctr">
              <a:buNone/>
            </a:pPr>
            <a:r>
              <a:rPr lang="en-US" sz="1100" b="1" dirty="0">
                <a:solidFill>
                  <a:srgbClr val="5A3210"/>
                </a:solidFill>
                <a:latin typeface="Calibri" pitchFamily="34" charset="0"/>
                <a:ea typeface="Calibri" pitchFamily="34" charset="-122"/>
                <a:cs typeface="Calibri" pitchFamily="34" charset="-120"/>
              </a:rPr>
              <a:t>S.O. invitado   S.O. invitado   S.O. invitado</a:t>
            </a:r>
            <a:endParaRPr lang="en-US" sz="1100" dirty="0"/>
          </a:p>
        </p:txBody>
      </p:sp>
      <p:sp>
        <p:nvSpPr>
          <p:cNvPr id="18" name="Shape 15"/>
          <p:cNvSpPr/>
          <p:nvPr/>
        </p:nvSpPr>
        <p:spPr>
          <a:xfrm>
            <a:off x="868680" y="3858768"/>
            <a:ext cx="4663440" cy="457200"/>
          </a:xfrm>
          <a:prstGeom prst="rect">
            <a:avLst/>
          </a:prstGeom>
          <a:solidFill>
            <a:srgbClr val="BFD2EA"/>
          </a:solidFill>
          <a:ln w="19050">
            <a:solidFill>
              <a:srgbClr val="FFFFFF"/>
            </a:solidFill>
            <a:prstDash val="solid"/>
          </a:ln>
        </p:spPr>
      </p:sp>
      <p:sp>
        <p:nvSpPr>
          <p:cNvPr id="19" name="Text 16"/>
          <p:cNvSpPr/>
          <p:nvPr/>
        </p:nvSpPr>
        <p:spPr>
          <a:xfrm>
            <a:off x="960120" y="3858768"/>
            <a:ext cx="4480560" cy="457200"/>
          </a:xfrm>
          <a:prstGeom prst="rect">
            <a:avLst/>
          </a:prstGeom>
          <a:noFill/>
          <a:ln/>
        </p:spPr>
        <p:txBody>
          <a:bodyPr wrap="square" lIns="0" tIns="0" rIns="0" bIns="0"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Hipervisor (Hypervisor)</a:t>
            </a:r>
            <a:endParaRPr lang="en-US" sz="1100" dirty="0"/>
          </a:p>
        </p:txBody>
      </p:sp>
      <p:sp>
        <p:nvSpPr>
          <p:cNvPr id="20" name="Shape 17"/>
          <p:cNvSpPr/>
          <p:nvPr/>
        </p:nvSpPr>
        <p:spPr>
          <a:xfrm>
            <a:off x="868680" y="4334256"/>
            <a:ext cx="4663440" cy="420624"/>
          </a:xfrm>
          <a:prstGeom prst="rect">
            <a:avLst/>
          </a:prstGeom>
          <a:solidFill>
            <a:srgbClr val="9FB6D6"/>
          </a:solidFill>
          <a:ln w="19050">
            <a:solidFill>
              <a:srgbClr val="FFFFFF"/>
            </a:solidFill>
            <a:prstDash val="solid"/>
          </a:ln>
        </p:spPr>
      </p:sp>
      <p:sp>
        <p:nvSpPr>
          <p:cNvPr id="21" name="Text 18"/>
          <p:cNvSpPr/>
          <p:nvPr/>
        </p:nvSpPr>
        <p:spPr>
          <a:xfrm>
            <a:off x="960120" y="4334256"/>
            <a:ext cx="448056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Sistema operativo anfitrion</a:t>
            </a:r>
            <a:endParaRPr lang="en-US" sz="1100" dirty="0"/>
          </a:p>
        </p:txBody>
      </p:sp>
      <p:sp>
        <p:nvSpPr>
          <p:cNvPr id="22" name="Shape 19"/>
          <p:cNvSpPr/>
          <p:nvPr/>
        </p:nvSpPr>
        <p:spPr>
          <a:xfrm>
            <a:off x="868680" y="4773168"/>
            <a:ext cx="4663440" cy="402336"/>
          </a:xfrm>
          <a:prstGeom prst="rect">
            <a:avLst/>
          </a:prstGeom>
          <a:solidFill>
            <a:srgbClr val="1F3864"/>
          </a:solidFill>
          <a:ln w="19050">
            <a:solidFill>
              <a:srgbClr val="FFFFFF"/>
            </a:solidFill>
            <a:prstDash val="solid"/>
          </a:ln>
        </p:spPr>
      </p:sp>
      <p:sp>
        <p:nvSpPr>
          <p:cNvPr id="23" name="Text 20"/>
          <p:cNvSpPr/>
          <p:nvPr/>
        </p:nvSpPr>
        <p:spPr>
          <a:xfrm>
            <a:off x="960120" y="4773168"/>
            <a:ext cx="448056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Infraestructura / Hardware</a:t>
            </a:r>
            <a:endParaRPr lang="en-US" sz="1100" dirty="0"/>
          </a:p>
        </p:txBody>
      </p:sp>
      <p:sp>
        <p:nvSpPr>
          <p:cNvPr id="24" name="Shape 21"/>
          <p:cNvSpPr/>
          <p:nvPr/>
        </p:nvSpPr>
        <p:spPr>
          <a:xfrm>
            <a:off x="6629400" y="2377440"/>
            <a:ext cx="4663440" cy="457200"/>
          </a:xfrm>
          <a:prstGeom prst="rect">
            <a:avLst/>
          </a:prstGeom>
          <a:solidFill>
            <a:srgbClr val="CFE9E5"/>
          </a:solidFill>
          <a:ln w="19050">
            <a:solidFill>
              <a:srgbClr val="FFFFFF"/>
            </a:solidFill>
            <a:prstDash val="solid"/>
          </a:ln>
        </p:spPr>
      </p:sp>
      <p:sp>
        <p:nvSpPr>
          <p:cNvPr id="25" name="Text 22"/>
          <p:cNvSpPr/>
          <p:nvPr/>
        </p:nvSpPr>
        <p:spPr>
          <a:xfrm>
            <a:off x="6720840" y="2377440"/>
            <a:ext cx="4480560" cy="457200"/>
          </a:xfrm>
          <a:prstGeom prst="rect">
            <a:avLst/>
          </a:prstGeom>
          <a:noFill/>
          <a:ln/>
        </p:spPr>
        <p:txBody>
          <a:bodyPr wrap="square" lIns="0" tIns="0" rIns="0" bIns="0" rtlCol="0" anchor="ctr"/>
          <a:lstStyle/>
          <a:p>
            <a:pPr marL="0" indent="0" algn="ctr">
              <a:buNone/>
            </a:pPr>
            <a:r>
              <a:rPr lang="en-US" sz="1100" b="1" dirty="0">
                <a:solidFill>
                  <a:srgbClr val="007F47"/>
                </a:solidFill>
                <a:latin typeface="Calibri" pitchFamily="34" charset="0"/>
                <a:ea typeface="Calibri" pitchFamily="34" charset="-122"/>
                <a:cs typeface="Calibri" pitchFamily="34" charset="-120"/>
              </a:rPr>
              <a:t>App A      App B      App C</a:t>
            </a:r>
            <a:endParaRPr lang="en-US" sz="1100" dirty="0"/>
          </a:p>
        </p:txBody>
      </p:sp>
      <p:sp>
        <p:nvSpPr>
          <p:cNvPr id="26" name="Shape 23"/>
          <p:cNvSpPr/>
          <p:nvPr/>
        </p:nvSpPr>
        <p:spPr>
          <a:xfrm>
            <a:off x="6629400" y="2852928"/>
            <a:ext cx="4663440" cy="420624"/>
          </a:xfrm>
          <a:prstGeom prst="rect">
            <a:avLst/>
          </a:prstGeom>
          <a:solidFill>
            <a:srgbClr val="DDEFEC"/>
          </a:solidFill>
          <a:ln w="19050">
            <a:solidFill>
              <a:srgbClr val="FFFFFF"/>
            </a:solidFill>
            <a:prstDash val="solid"/>
          </a:ln>
        </p:spPr>
      </p:sp>
      <p:sp>
        <p:nvSpPr>
          <p:cNvPr id="27" name="Text 24"/>
          <p:cNvSpPr/>
          <p:nvPr/>
        </p:nvSpPr>
        <p:spPr>
          <a:xfrm>
            <a:off x="6720840" y="2852928"/>
            <a:ext cx="4480560" cy="420624"/>
          </a:xfrm>
          <a:prstGeom prst="rect">
            <a:avLst/>
          </a:prstGeom>
          <a:noFill/>
          <a:ln/>
        </p:spPr>
        <p:txBody>
          <a:bodyPr wrap="square" lIns="0" tIns="0" rIns="0" bIns="0" rtlCol="0" anchor="ctr"/>
          <a:lstStyle/>
          <a:p>
            <a:pPr marL="0" indent="0" algn="ctr">
              <a:buNone/>
            </a:pPr>
            <a:r>
              <a:rPr lang="en-US" sz="1100" b="1" dirty="0">
                <a:solidFill>
                  <a:srgbClr val="1B2430"/>
                </a:solidFill>
                <a:latin typeface="Calibri" pitchFamily="34" charset="0"/>
                <a:ea typeface="Calibri" pitchFamily="34" charset="-122"/>
                <a:cs typeface="Calibri" pitchFamily="34" charset="-120"/>
              </a:rPr>
              <a:t>Bins / Libs (por contenedor)</a:t>
            </a:r>
            <a:endParaRPr lang="en-US" sz="1100" dirty="0"/>
          </a:p>
        </p:txBody>
      </p:sp>
      <p:sp>
        <p:nvSpPr>
          <p:cNvPr id="28" name="Shape 25"/>
          <p:cNvSpPr/>
          <p:nvPr/>
        </p:nvSpPr>
        <p:spPr>
          <a:xfrm>
            <a:off x="6629400" y="3291840"/>
            <a:ext cx="4663440" cy="548640"/>
          </a:xfrm>
          <a:prstGeom prst="rect">
            <a:avLst/>
          </a:prstGeom>
          <a:solidFill>
            <a:srgbClr val="8FCFC8"/>
          </a:solidFill>
          <a:ln w="19050">
            <a:solidFill>
              <a:srgbClr val="FFFFFF"/>
            </a:solidFill>
            <a:prstDash val="solid"/>
          </a:ln>
        </p:spPr>
      </p:sp>
      <p:sp>
        <p:nvSpPr>
          <p:cNvPr id="29" name="Text 26"/>
          <p:cNvSpPr/>
          <p:nvPr/>
        </p:nvSpPr>
        <p:spPr>
          <a:xfrm>
            <a:off x="6720840" y="3291840"/>
            <a:ext cx="4480560" cy="548640"/>
          </a:xfrm>
          <a:prstGeom prst="rect">
            <a:avLst/>
          </a:prstGeom>
          <a:noFill/>
          <a:ln/>
        </p:spPr>
        <p:txBody>
          <a:bodyPr wrap="square" lIns="0" tIns="0" rIns="0" bIns="0" rtlCol="0" anchor="ctr"/>
          <a:lstStyle/>
          <a:p>
            <a:pPr marL="0" indent="0" algn="ctr">
              <a:buNone/>
            </a:pPr>
            <a:r>
              <a:rPr lang="en-US" sz="1100" b="1" dirty="0">
                <a:solidFill>
                  <a:srgbClr val="0A3B38"/>
                </a:solidFill>
                <a:latin typeface="Calibri" pitchFamily="34" charset="0"/>
                <a:ea typeface="Calibri" pitchFamily="34" charset="-122"/>
                <a:cs typeface="Calibri" pitchFamily="34" charset="-120"/>
              </a:rPr>
              <a:t>Motor de contenedores (Docker Engine)</a:t>
            </a:r>
            <a:endParaRPr lang="en-US" sz="1100" dirty="0"/>
          </a:p>
        </p:txBody>
      </p:sp>
      <p:sp>
        <p:nvSpPr>
          <p:cNvPr id="30" name="Shape 27"/>
          <p:cNvSpPr/>
          <p:nvPr/>
        </p:nvSpPr>
        <p:spPr>
          <a:xfrm>
            <a:off x="6629400" y="3858768"/>
            <a:ext cx="4663440" cy="457200"/>
          </a:xfrm>
          <a:prstGeom prst="rect">
            <a:avLst/>
          </a:prstGeom>
          <a:solidFill>
            <a:srgbClr val="6FBFB7"/>
          </a:solidFill>
          <a:ln w="19050">
            <a:solidFill>
              <a:srgbClr val="FFFFFF"/>
            </a:solidFill>
            <a:prstDash val="solid"/>
          </a:ln>
        </p:spPr>
      </p:sp>
      <p:sp>
        <p:nvSpPr>
          <p:cNvPr id="31" name="Text 28"/>
          <p:cNvSpPr/>
          <p:nvPr/>
        </p:nvSpPr>
        <p:spPr>
          <a:xfrm>
            <a:off x="6720840" y="3858768"/>
            <a:ext cx="44805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Sistema operativo anfitrion (kernel compartido)</a:t>
            </a:r>
            <a:endParaRPr lang="en-US" sz="1100" dirty="0"/>
          </a:p>
        </p:txBody>
      </p:sp>
      <p:sp>
        <p:nvSpPr>
          <p:cNvPr id="32" name="Shape 29"/>
          <p:cNvSpPr/>
          <p:nvPr/>
        </p:nvSpPr>
        <p:spPr>
          <a:xfrm>
            <a:off x="6629400" y="4334256"/>
            <a:ext cx="4663440" cy="402336"/>
          </a:xfrm>
          <a:prstGeom prst="rect">
            <a:avLst/>
          </a:prstGeom>
          <a:solidFill>
            <a:srgbClr val="0F8C8C"/>
          </a:solidFill>
          <a:ln w="19050">
            <a:solidFill>
              <a:srgbClr val="FFFFFF"/>
            </a:solidFill>
            <a:prstDash val="solid"/>
          </a:ln>
        </p:spPr>
      </p:sp>
      <p:sp>
        <p:nvSpPr>
          <p:cNvPr id="33" name="Text 30"/>
          <p:cNvSpPr/>
          <p:nvPr/>
        </p:nvSpPr>
        <p:spPr>
          <a:xfrm>
            <a:off x="6720840" y="4334256"/>
            <a:ext cx="448056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Infraestructura / Hardware</a:t>
            </a:r>
            <a:endParaRPr lang="en-US" sz="1100" dirty="0"/>
          </a:p>
        </p:txBody>
      </p:sp>
      <p:sp>
        <p:nvSpPr>
          <p:cNvPr id="34" name="Text 31"/>
          <p:cNvSpPr/>
          <p:nvPr/>
        </p:nvSpPr>
        <p:spPr>
          <a:xfrm>
            <a:off x="6629400" y="4791456"/>
            <a:ext cx="4663440" cy="457200"/>
          </a:xfrm>
          <a:prstGeom prst="rect">
            <a:avLst/>
          </a:prstGeom>
          <a:noFill/>
          <a:ln/>
        </p:spPr>
        <p:txBody>
          <a:bodyPr wrap="square" lIns="0" tIns="0" rIns="0" bIns="0" rtlCol="0" anchor="ctr"/>
          <a:lstStyle/>
          <a:p>
            <a:pPr marL="0" indent="0" algn="ctr">
              <a:buNone/>
            </a:pPr>
            <a:r>
              <a:rPr lang="en-US" sz="1100" b="1" i="1" dirty="0">
                <a:solidFill>
                  <a:srgbClr val="007F47"/>
                </a:solidFill>
                <a:latin typeface="Calibri" pitchFamily="34" charset="0"/>
                <a:ea typeface="Calibri" pitchFamily="34" charset="-122"/>
                <a:cs typeface="Calibri" pitchFamily="34" charset="-120"/>
              </a:rPr>
              <a:t>Sin S.O. invitado por app: arranque en segundos, menor consumo, mayor densidad.</a:t>
            </a:r>
            <a:endParaRPr lang="en-US" sz="1100" dirty="0"/>
          </a:p>
        </p:txBody>
      </p:sp>
      <p:sp>
        <p:nvSpPr>
          <p:cNvPr id="36" name="Text 32"/>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37" name="Text 3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0F8C8C"/>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0F8C8C"/>
                </a:solidFill>
                <a:latin typeface="Calibri" pitchFamily="34" charset="0"/>
                <a:ea typeface="Calibri" pitchFamily="34" charset="-122"/>
                <a:cs typeface="Calibri" pitchFamily="34" charset="-120"/>
              </a:rPr>
              <a:t>SUBTEMA 1 - ARQUITECTURA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Como funciona Docker</a:t>
            </a:r>
            <a:endParaRPr lang="en-US" sz="2600" dirty="0"/>
          </a:p>
        </p:txBody>
      </p:sp>
      <p:sp>
        <p:nvSpPr>
          <p:cNvPr id="6" name="Shape 3"/>
          <p:cNvSpPr/>
          <p:nvPr/>
        </p:nvSpPr>
        <p:spPr>
          <a:xfrm>
            <a:off x="548640" y="1481328"/>
            <a:ext cx="3657600" cy="2286000"/>
          </a:xfrm>
          <a:prstGeom prst="roundRect">
            <a:avLst>
              <a:gd name="adj" fmla="val 3600"/>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7" name="Shape 4"/>
          <p:cNvSpPr/>
          <p:nvPr/>
        </p:nvSpPr>
        <p:spPr>
          <a:xfrm>
            <a:off x="2057400" y="1664208"/>
            <a:ext cx="640080" cy="640080"/>
          </a:xfrm>
          <a:prstGeom prst="ellipse">
            <a:avLst/>
          </a:prstGeom>
          <a:solidFill>
            <a:srgbClr val="0F8C8C"/>
          </a:solidFill>
          <a:ln/>
        </p:spPr>
      </p:sp>
      <p:pic>
        <p:nvPicPr>
          <p:cNvPr id="8" name="Image 1" descr="preencoded.png"/>
          <p:cNvPicPr>
            <a:picLocks noChangeAspect="1"/>
          </p:cNvPicPr>
          <p:nvPr/>
        </p:nvPicPr>
        <p:blipFill>
          <a:blip r:embed="rId4"/>
          <a:stretch>
            <a:fillRect/>
          </a:stretch>
        </p:blipFill>
        <p:spPr>
          <a:xfrm>
            <a:off x="2223821" y="1830629"/>
            <a:ext cx="307238" cy="307238"/>
          </a:xfrm>
          <a:prstGeom prst="rect">
            <a:avLst/>
          </a:prstGeom>
        </p:spPr>
      </p:pic>
      <p:sp>
        <p:nvSpPr>
          <p:cNvPr id="9" name="Text 5"/>
          <p:cNvSpPr/>
          <p:nvPr/>
        </p:nvSpPr>
        <p:spPr>
          <a:xfrm>
            <a:off x="731520" y="2395728"/>
            <a:ext cx="3291840" cy="365760"/>
          </a:xfrm>
          <a:prstGeom prst="rect">
            <a:avLst/>
          </a:prstGeom>
          <a:noFill/>
          <a:ln/>
        </p:spPr>
        <p:txBody>
          <a:bodyPr wrap="square" lIns="0" tIns="0" rIns="0" bIns="0" rtlCol="0" anchor="ctr"/>
          <a:lstStyle/>
          <a:p>
            <a:pPr marL="0" indent="0" algn="ctr">
              <a:buNone/>
            </a:pPr>
            <a:r>
              <a:rPr lang="en-US" sz="1500" b="1" dirty="0">
                <a:solidFill>
                  <a:srgbClr val="1F3864"/>
                </a:solidFill>
                <a:latin typeface="Cambria" pitchFamily="34" charset="0"/>
                <a:ea typeface="Cambria" pitchFamily="34" charset="-122"/>
                <a:cs typeface="Cambria" pitchFamily="34" charset="-120"/>
              </a:rPr>
              <a:t>Imagen (Image)</a:t>
            </a:r>
            <a:endParaRPr lang="en-US" sz="1500" dirty="0"/>
          </a:p>
        </p:txBody>
      </p:sp>
      <p:sp>
        <p:nvSpPr>
          <p:cNvPr id="10" name="Text 6"/>
          <p:cNvSpPr/>
          <p:nvPr/>
        </p:nvSpPr>
        <p:spPr>
          <a:xfrm>
            <a:off x="777240" y="2779776"/>
            <a:ext cx="3200400" cy="914400"/>
          </a:xfrm>
          <a:prstGeom prst="rect">
            <a:avLst/>
          </a:prstGeom>
          <a:noFill/>
          <a:ln/>
        </p:spPr>
        <p:txBody>
          <a:bodyPr wrap="square" lIns="0" tIns="0" rIns="0" bIns="0" rtlCol="0" anchor="ctr"/>
          <a:lstStyle/>
          <a:p>
            <a:pPr marL="0" indent="0" algn="ctr">
              <a:lnSpc>
                <a:spcPct val="100000"/>
              </a:lnSpc>
              <a:buNone/>
            </a:pPr>
            <a:r>
              <a:rPr lang="en-US" sz="1150" dirty="0">
                <a:solidFill>
                  <a:srgbClr val="1B2430"/>
                </a:solidFill>
                <a:latin typeface="Calibri" pitchFamily="34" charset="0"/>
                <a:ea typeface="Calibri" pitchFamily="34" charset="-122"/>
                <a:cs typeface="Calibri" pitchFamily="34" charset="-120"/>
              </a:rPr>
              <a:t>Plantilla inmutable y por capas. Se construye desde un Dockerfile y contiene la app, sus dependencias y la configuracion.</a:t>
            </a:r>
            <a:endParaRPr lang="en-US" sz="1150" dirty="0"/>
          </a:p>
        </p:txBody>
      </p:sp>
      <p:sp>
        <p:nvSpPr>
          <p:cNvPr id="11" name="Shape 7"/>
          <p:cNvSpPr/>
          <p:nvPr/>
        </p:nvSpPr>
        <p:spPr>
          <a:xfrm>
            <a:off x="4370832" y="1481328"/>
            <a:ext cx="3657600" cy="2286000"/>
          </a:xfrm>
          <a:prstGeom prst="roundRect">
            <a:avLst>
              <a:gd name="adj" fmla="val 3600"/>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12" name="Shape 8"/>
          <p:cNvSpPr/>
          <p:nvPr/>
        </p:nvSpPr>
        <p:spPr>
          <a:xfrm>
            <a:off x="5879592" y="1664208"/>
            <a:ext cx="640080" cy="640080"/>
          </a:xfrm>
          <a:prstGeom prst="ellipse">
            <a:avLst/>
          </a:prstGeom>
          <a:solidFill>
            <a:srgbClr val="2E5EAA"/>
          </a:solidFill>
          <a:ln/>
        </p:spPr>
      </p:sp>
      <p:pic>
        <p:nvPicPr>
          <p:cNvPr id="13" name="Image 2" descr="preencoded.png"/>
          <p:cNvPicPr>
            <a:picLocks noChangeAspect="1"/>
          </p:cNvPicPr>
          <p:nvPr/>
        </p:nvPicPr>
        <p:blipFill>
          <a:blip r:embed="rId5"/>
          <a:stretch>
            <a:fillRect/>
          </a:stretch>
        </p:blipFill>
        <p:spPr>
          <a:xfrm>
            <a:off x="6046013" y="1830629"/>
            <a:ext cx="307238" cy="307238"/>
          </a:xfrm>
          <a:prstGeom prst="rect">
            <a:avLst/>
          </a:prstGeom>
        </p:spPr>
      </p:pic>
      <p:sp>
        <p:nvSpPr>
          <p:cNvPr id="14" name="Text 9"/>
          <p:cNvSpPr/>
          <p:nvPr/>
        </p:nvSpPr>
        <p:spPr>
          <a:xfrm>
            <a:off x="4553712" y="2395728"/>
            <a:ext cx="3291840" cy="365760"/>
          </a:xfrm>
          <a:prstGeom prst="rect">
            <a:avLst/>
          </a:prstGeom>
          <a:noFill/>
          <a:ln/>
        </p:spPr>
        <p:txBody>
          <a:bodyPr wrap="square" lIns="0" tIns="0" rIns="0" bIns="0" rtlCol="0" anchor="ctr"/>
          <a:lstStyle/>
          <a:p>
            <a:pPr marL="0" indent="0" algn="ctr">
              <a:buNone/>
            </a:pPr>
            <a:r>
              <a:rPr lang="en-US" sz="1500" b="1" dirty="0">
                <a:solidFill>
                  <a:srgbClr val="1F3864"/>
                </a:solidFill>
                <a:latin typeface="Cambria" pitchFamily="34" charset="0"/>
                <a:ea typeface="Cambria" pitchFamily="34" charset="-122"/>
                <a:cs typeface="Cambria" pitchFamily="34" charset="-120"/>
              </a:rPr>
              <a:t>Contenedor (Container)</a:t>
            </a:r>
            <a:endParaRPr lang="en-US" sz="1500" dirty="0"/>
          </a:p>
        </p:txBody>
      </p:sp>
      <p:sp>
        <p:nvSpPr>
          <p:cNvPr id="15" name="Text 10"/>
          <p:cNvSpPr/>
          <p:nvPr/>
        </p:nvSpPr>
        <p:spPr>
          <a:xfrm>
            <a:off x="4599432" y="2779776"/>
            <a:ext cx="3200400" cy="914400"/>
          </a:xfrm>
          <a:prstGeom prst="rect">
            <a:avLst/>
          </a:prstGeom>
          <a:noFill/>
          <a:ln/>
        </p:spPr>
        <p:txBody>
          <a:bodyPr wrap="square" lIns="0" tIns="0" rIns="0" bIns="0" rtlCol="0" anchor="ctr"/>
          <a:lstStyle/>
          <a:p>
            <a:pPr marL="0" indent="0" algn="ctr">
              <a:lnSpc>
                <a:spcPct val="100000"/>
              </a:lnSpc>
              <a:buNone/>
            </a:pPr>
            <a:r>
              <a:rPr lang="en-US" sz="1150" dirty="0">
                <a:solidFill>
                  <a:srgbClr val="1B2430"/>
                </a:solidFill>
                <a:latin typeface="Calibri" pitchFamily="34" charset="0"/>
                <a:ea typeface="Calibri" pitchFamily="34" charset="-122"/>
                <a:cs typeface="Calibri" pitchFamily="34" charset="-120"/>
              </a:rPr>
              <a:t>Instancia en ejecucion de una imagen. Es un proceso aislado; se crea, detiene y elimina sin afectar a la imagen.</a:t>
            </a:r>
            <a:endParaRPr lang="en-US" sz="1150" dirty="0"/>
          </a:p>
        </p:txBody>
      </p:sp>
      <p:sp>
        <p:nvSpPr>
          <p:cNvPr id="16" name="Shape 11"/>
          <p:cNvSpPr/>
          <p:nvPr/>
        </p:nvSpPr>
        <p:spPr>
          <a:xfrm>
            <a:off x="8193024" y="1481328"/>
            <a:ext cx="3657600" cy="2286000"/>
          </a:xfrm>
          <a:prstGeom prst="roundRect">
            <a:avLst>
              <a:gd name="adj" fmla="val 3600"/>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17" name="Shape 12"/>
          <p:cNvSpPr/>
          <p:nvPr/>
        </p:nvSpPr>
        <p:spPr>
          <a:xfrm>
            <a:off x="9701784" y="1664208"/>
            <a:ext cx="640080" cy="640080"/>
          </a:xfrm>
          <a:prstGeom prst="ellipse">
            <a:avLst/>
          </a:prstGeom>
          <a:solidFill>
            <a:srgbClr val="007F47"/>
          </a:solidFill>
          <a:ln/>
        </p:spPr>
      </p:sp>
      <p:pic>
        <p:nvPicPr>
          <p:cNvPr id="18" name="Image 3" descr="preencoded.png"/>
          <p:cNvPicPr>
            <a:picLocks noChangeAspect="1"/>
          </p:cNvPicPr>
          <p:nvPr/>
        </p:nvPicPr>
        <p:blipFill>
          <a:blip r:embed="rId6"/>
          <a:stretch>
            <a:fillRect/>
          </a:stretch>
        </p:blipFill>
        <p:spPr>
          <a:xfrm>
            <a:off x="9868205" y="1830629"/>
            <a:ext cx="307238" cy="307238"/>
          </a:xfrm>
          <a:prstGeom prst="rect">
            <a:avLst/>
          </a:prstGeom>
        </p:spPr>
      </p:pic>
      <p:sp>
        <p:nvSpPr>
          <p:cNvPr id="19" name="Text 13"/>
          <p:cNvSpPr/>
          <p:nvPr/>
        </p:nvSpPr>
        <p:spPr>
          <a:xfrm>
            <a:off x="8375904" y="2395728"/>
            <a:ext cx="3291840" cy="365760"/>
          </a:xfrm>
          <a:prstGeom prst="rect">
            <a:avLst/>
          </a:prstGeom>
          <a:noFill/>
          <a:ln/>
        </p:spPr>
        <p:txBody>
          <a:bodyPr wrap="square" lIns="0" tIns="0" rIns="0" bIns="0" rtlCol="0" anchor="ctr"/>
          <a:lstStyle/>
          <a:p>
            <a:pPr marL="0" indent="0" algn="ctr">
              <a:buNone/>
            </a:pPr>
            <a:r>
              <a:rPr lang="en-US" sz="1500" b="1" dirty="0">
                <a:solidFill>
                  <a:srgbClr val="1F3864"/>
                </a:solidFill>
                <a:latin typeface="Cambria" pitchFamily="34" charset="0"/>
                <a:ea typeface="Cambria" pitchFamily="34" charset="-122"/>
                <a:cs typeface="Cambria" pitchFamily="34" charset="-120"/>
              </a:rPr>
              <a:t>Registro (Registry)</a:t>
            </a:r>
            <a:endParaRPr lang="en-US" sz="1500" dirty="0"/>
          </a:p>
        </p:txBody>
      </p:sp>
      <p:sp>
        <p:nvSpPr>
          <p:cNvPr id="20" name="Text 14"/>
          <p:cNvSpPr/>
          <p:nvPr/>
        </p:nvSpPr>
        <p:spPr>
          <a:xfrm>
            <a:off x="8421624" y="2779776"/>
            <a:ext cx="3200400" cy="914400"/>
          </a:xfrm>
          <a:prstGeom prst="rect">
            <a:avLst/>
          </a:prstGeom>
          <a:noFill/>
          <a:ln/>
        </p:spPr>
        <p:txBody>
          <a:bodyPr wrap="square" lIns="0" tIns="0" rIns="0" bIns="0" rtlCol="0" anchor="ctr"/>
          <a:lstStyle/>
          <a:p>
            <a:pPr marL="0" indent="0" algn="ctr">
              <a:lnSpc>
                <a:spcPct val="100000"/>
              </a:lnSpc>
              <a:buNone/>
            </a:pPr>
            <a:r>
              <a:rPr lang="en-US" sz="1150" dirty="0">
                <a:solidFill>
                  <a:srgbClr val="1B2430"/>
                </a:solidFill>
                <a:latin typeface="Calibri" pitchFamily="34" charset="0"/>
                <a:ea typeface="Calibri" pitchFamily="34" charset="-122"/>
                <a:cs typeface="Calibri" pitchFamily="34" charset="-120"/>
              </a:rPr>
              <a:t>Almacen de imagenes (p. ej. Docker Hub). Se publican con push y se descargan con pull para compartirlas.</a:t>
            </a:r>
            <a:endParaRPr lang="en-US" sz="1150" dirty="0"/>
          </a:p>
        </p:txBody>
      </p:sp>
      <p:sp>
        <p:nvSpPr>
          <p:cNvPr id="21" name="Shape 15"/>
          <p:cNvSpPr/>
          <p:nvPr/>
        </p:nvSpPr>
        <p:spPr>
          <a:xfrm>
            <a:off x="548640" y="4114800"/>
            <a:ext cx="11155680" cy="1828800"/>
          </a:xfrm>
          <a:prstGeom prst="roundRect">
            <a:avLst>
              <a:gd name="adj" fmla="val 4500"/>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22" name="Text 16"/>
          <p:cNvSpPr/>
          <p:nvPr/>
        </p:nvSpPr>
        <p:spPr>
          <a:xfrm>
            <a:off x="731520" y="4206240"/>
            <a:ext cx="5486400" cy="274320"/>
          </a:xfrm>
          <a:prstGeom prst="rect">
            <a:avLst/>
          </a:prstGeom>
          <a:noFill/>
          <a:ln/>
        </p:spPr>
        <p:txBody>
          <a:bodyPr wrap="square" lIns="0" tIns="0" rIns="0" bIns="0" rtlCol="0" anchor="ctr"/>
          <a:lstStyle/>
          <a:p>
            <a:pPr marL="0" indent="0">
              <a:buNone/>
            </a:pPr>
            <a:r>
              <a:rPr lang="en-US" sz="1200" b="1" kern="0" spc="150" dirty="0">
                <a:solidFill>
                  <a:srgbClr val="5B6B7B"/>
                </a:solidFill>
                <a:latin typeface="Calibri" pitchFamily="34" charset="0"/>
                <a:ea typeface="Calibri" pitchFamily="34" charset="-122"/>
                <a:cs typeface="Calibri" pitchFamily="34" charset="-120"/>
              </a:rPr>
              <a:t>Flujo de trabajo tipico</a:t>
            </a:r>
            <a:endParaRPr lang="en-US" sz="1200" dirty="0"/>
          </a:p>
        </p:txBody>
      </p:sp>
      <p:sp>
        <p:nvSpPr>
          <p:cNvPr id="23" name="Shape 17"/>
          <p:cNvSpPr/>
          <p:nvPr/>
        </p:nvSpPr>
        <p:spPr>
          <a:xfrm>
            <a:off x="868680" y="4892040"/>
            <a:ext cx="1783080" cy="640080"/>
          </a:xfrm>
          <a:prstGeom prst="rect">
            <a:avLst/>
          </a:prstGeom>
          <a:solidFill>
            <a:srgbClr val="1F3864"/>
          </a:solidFill>
          <a:ln w="19050">
            <a:solidFill>
              <a:srgbClr val="1F3864"/>
            </a:solidFill>
            <a:prstDash val="solid"/>
          </a:ln>
        </p:spPr>
      </p:sp>
      <p:sp>
        <p:nvSpPr>
          <p:cNvPr id="24" name="Text 18"/>
          <p:cNvSpPr/>
          <p:nvPr/>
        </p:nvSpPr>
        <p:spPr>
          <a:xfrm>
            <a:off x="868680" y="4892040"/>
            <a:ext cx="178308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Dockerfile</a:t>
            </a:r>
            <a:endParaRPr lang="en-US" sz="1250" dirty="0"/>
          </a:p>
        </p:txBody>
      </p:sp>
      <p:sp>
        <p:nvSpPr>
          <p:cNvPr id="25" name="Shape 19"/>
          <p:cNvSpPr/>
          <p:nvPr/>
        </p:nvSpPr>
        <p:spPr>
          <a:xfrm>
            <a:off x="2688336" y="5212080"/>
            <a:ext cx="338328" cy="0"/>
          </a:xfrm>
          <a:prstGeom prst="line">
            <a:avLst/>
          </a:prstGeom>
          <a:noFill/>
          <a:ln w="28575">
            <a:solidFill>
              <a:srgbClr val="5B6B7B"/>
            </a:solidFill>
            <a:prstDash val="solid"/>
            <a:tailEnd type="triangle"/>
          </a:ln>
        </p:spPr>
      </p:sp>
      <p:sp>
        <p:nvSpPr>
          <p:cNvPr id="26" name="Shape 20"/>
          <p:cNvSpPr/>
          <p:nvPr/>
        </p:nvSpPr>
        <p:spPr>
          <a:xfrm>
            <a:off x="3063240" y="4892040"/>
            <a:ext cx="1783080" cy="640080"/>
          </a:xfrm>
          <a:prstGeom prst="roundRect">
            <a:avLst>
              <a:gd name="adj" fmla="val 11429"/>
            </a:avLst>
          </a:prstGeom>
          <a:solidFill>
            <a:srgbClr val="FFFFFF"/>
          </a:solidFill>
          <a:ln w="19050">
            <a:solidFill>
              <a:srgbClr val="C87800"/>
            </a:solidFill>
            <a:prstDash val="solid"/>
          </a:ln>
        </p:spPr>
      </p:sp>
      <p:sp>
        <p:nvSpPr>
          <p:cNvPr id="27" name="Text 21"/>
          <p:cNvSpPr/>
          <p:nvPr/>
        </p:nvSpPr>
        <p:spPr>
          <a:xfrm>
            <a:off x="3063240" y="4892040"/>
            <a:ext cx="1783080" cy="640080"/>
          </a:xfrm>
          <a:prstGeom prst="rect">
            <a:avLst/>
          </a:prstGeom>
          <a:noFill/>
          <a:ln/>
        </p:spPr>
        <p:txBody>
          <a:bodyPr wrap="square" lIns="0" tIns="0" rIns="0" bIns="0" rtlCol="0" anchor="ctr"/>
          <a:lstStyle/>
          <a:p>
            <a:pPr marL="0" indent="0" algn="ctr">
              <a:buNone/>
            </a:pPr>
            <a:r>
              <a:rPr lang="en-US" sz="1100" b="1" dirty="0">
                <a:solidFill>
                  <a:srgbClr val="C87800"/>
                </a:solidFill>
                <a:latin typeface="Consolas" pitchFamily="34" charset="0"/>
                <a:ea typeface="Consolas" pitchFamily="34" charset="-122"/>
                <a:cs typeface="Consolas" pitchFamily="34" charset="-120"/>
              </a:rPr>
              <a:t>docker build</a:t>
            </a:r>
            <a:endParaRPr lang="en-US" sz="1100" dirty="0"/>
          </a:p>
        </p:txBody>
      </p:sp>
      <p:sp>
        <p:nvSpPr>
          <p:cNvPr id="28" name="Shape 22"/>
          <p:cNvSpPr/>
          <p:nvPr/>
        </p:nvSpPr>
        <p:spPr>
          <a:xfrm>
            <a:off x="4882896" y="5212080"/>
            <a:ext cx="338328" cy="0"/>
          </a:xfrm>
          <a:prstGeom prst="line">
            <a:avLst/>
          </a:prstGeom>
          <a:noFill/>
          <a:ln w="28575">
            <a:solidFill>
              <a:srgbClr val="5B6B7B"/>
            </a:solidFill>
            <a:prstDash val="solid"/>
            <a:tailEnd type="triangle"/>
          </a:ln>
        </p:spPr>
      </p:sp>
      <p:sp>
        <p:nvSpPr>
          <p:cNvPr id="29" name="Shape 23"/>
          <p:cNvSpPr/>
          <p:nvPr/>
        </p:nvSpPr>
        <p:spPr>
          <a:xfrm>
            <a:off x="5257800" y="4892040"/>
            <a:ext cx="1783080" cy="640080"/>
          </a:xfrm>
          <a:prstGeom prst="rect">
            <a:avLst/>
          </a:prstGeom>
          <a:solidFill>
            <a:srgbClr val="0F8C8C"/>
          </a:solidFill>
          <a:ln w="19050">
            <a:solidFill>
              <a:srgbClr val="0F8C8C"/>
            </a:solidFill>
            <a:prstDash val="solid"/>
          </a:ln>
        </p:spPr>
      </p:sp>
      <p:sp>
        <p:nvSpPr>
          <p:cNvPr id="30" name="Text 24"/>
          <p:cNvSpPr/>
          <p:nvPr/>
        </p:nvSpPr>
        <p:spPr>
          <a:xfrm>
            <a:off x="5257800" y="4892040"/>
            <a:ext cx="178308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Imagen</a:t>
            </a:r>
            <a:endParaRPr lang="en-US" sz="1250" dirty="0"/>
          </a:p>
        </p:txBody>
      </p:sp>
      <p:sp>
        <p:nvSpPr>
          <p:cNvPr id="31" name="Shape 25"/>
          <p:cNvSpPr/>
          <p:nvPr/>
        </p:nvSpPr>
        <p:spPr>
          <a:xfrm>
            <a:off x="7077456" y="5212080"/>
            <a:ext cx="338328" cy="0"/>
          </a:xfrm>
          <a:prstGeom prst="line">
            <a:avLst/>
          </a:prstGeom>
          <a:noFill/>
          <a:ln w="28575">
            <a:solidFill>
              <a:srgbClr val="5B6B7B"/>
            </a:solidFill>
            <a:prstDash val="solid"/>
            <a:tailEnd type="triangle"/>
          </a:ln>
        </p:spPr>
      </p:sp>
      <p:sp>
        <p:nvSpPr>
          <p:cNvPr id="32" name="Shape 26"/>
          <p:cNvSpPr/>
          <p:nvPr/>
        </p:nvSpPr>
        <p:spPr>
          <a:xfrm>
            <a:off x="7452360" y="4892040"/>
            <a:ext cx="1783080" cy="640080"/>
          </a:xfrm>
          <a:prstGeom prst="roundRect">
            <a:avLst>
              <a:gd name="adj" fmla="val 11429"/>
            </a:avLst>
          </a:prstGeom>
          <a:solidFill>
            <a:srgbClr val="FFFFFF"/>
          </a:solidFill>
          <a:ln w="19050">
            <a:solidFill>
              <a:srgbClr val="C87800"/>
            </a:solidFill>
            <a:prstDash val="solid"/>
          </a:ln>
        </p:spPr>
      </p:sp>
      <p:sp>
        <p:nvSpPr>
          <p:cNvPr id="33" name="Text 27"/>
          <p:cNvSpPr/>
          <p:nvPr/>
        </p:nvSpPr>
        <p:spPr>
          <a:xfrm>
            <a:off x="7452360" y="4892040"/>
            <a:ext cx="1783080" cy="640080"/>
          </a:xfrm>
          <a:prstGeom prst="rect">
            <a:avLst/>
          </a:prstGeom>
          <a:noFill/>
          <a:ln/>
        </p:spPr>
        <p:txBody>
          <a:bodyPr wrap="square" lIns="0" tIns="0" rIns="0" bIns="0" rtlCol="0" anchor="ctr"/>
          <a:lstStyle/>
          <a:p>
            <a:pPr marL="0" indent="0" algn="ctr">
              <a:buNone/>
            </a:pPr>
            <a:r>
              <a:rPr lang="en-US" sz="1100" b="1" dirty="0">
                <a:solidFill>
                  <a:srgbClr val="C87800"/>
                </a:solidFill>
                <a:latin typeface="Consolas" pitchFamily="34" charset="0"/>
                <a:ea typeface="Consolas" pitchFamily="34" charset="-122"/>
                <a:cs typeface="Consolas" pitchFamily="34" charset="-120"/>
              </a:rPr>
              <a:t>docker run</a:t>
            </a:r>
            <a:endParaRPr lang="en-US" sz="1100" dirty="0"/>
          </a:p>
        </p:txBody>
      </p:sp>
      <p:sp>
        <p:nvSpPr>
          <p:cNvPr id="34" name="Shape 28"/>
          <p:cNvSpPr/>
          <p:nvPr/>
        </p:nvSpPr>
        <p:spPr>
          <a:xfrm>
            <a:off x="9272016" y="5212080"/>
            <a:ext cx="338328" cy="0"/>
          </a:xfrm>
          <a:prstGeom prst="line">
            <a:avLst/>
          </a:prstGeom>
          <a:noFill/>
          <a:ln w="28575">
            <a:solidFill>
              <a:srgbClr val="5B6B7B"/>
            </a:solidFill>
            <a:prstDash val="solid"/>
            <a:tailEnd type="triangle"/>
          </a:ln>
        </p:spPr>
      </p:sp>
      <p:sp>
        <p:nvSpPr>
          <p:cNvPr id="35" name="Shape 29"/>
          <p:cNvSpPr/>
          <p:nvPr/>
        </p:nvSpPr>
        <p:spPr>
          <a:xfrm>
            <a:off x="9646920" y="4892040"/>
            <a:ext cx="1783080" cy="640080"/>
          </a:xfrm>
          <a:prstGeom prst="rect">
            <a:avLst/>
          </a:prstGeom>
          <a:solidFill>
            <a:srgbClr val="007F47"/>
          </a:solidFill>
          <a:ln w="19050">
            <a:solidFill>
              <a:srgbClr val="007F47"/>
            </a:solidFill>
            <a:prstDash val="solid"/>
          </a:ln>
        </p:spPr>
      </p:sp>
      <p:sp>
        <p:nvSpPr>
          <p:cNvPr id="36" name="Text 30"/>
          <p:cNvSpPr/>
          <p:nvPr/>
        </p:nvSpPr>
        <p:spPr>
          <a:xfrm>
            <a:off x="9646920" y="4892040"/>
            <a:ext cx="178308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Contenedor</a:t>
            </a:r>
            <a:endParaRPr lang="en-US" sz="1250" dirty="0"/>
          </a:p>
        </p:txBody>
      </p:sp>
      <p:sp>
        <p:nvSpPr>
          <p:cNvPr id="37" name="Text 31"/>
          <p:cNvSpPr/>
          <p:nvPr/>
        </p:nvSpPr>
        <p:spPr>
          <a:xfrm>
            <a:off x="868680" y="5623560"/>
            <a:ext cx="10607040" cy="274320"/>
          </a:xfrm>
          <a:prstGeom prst="rect">
            <a:avLst/>
          </a:prstGeom>
          <a:noFill/>
          <a:ln/>
        </p:spPr>
        <p:txBody>
          <a:bodyPr wrap="square" lIns="0" tIns="0" rIns="0" bIns="0" rtlCol="0" anchor="ctr"/>
          <a:lstStyle/>
          <a:p>
            <a:pPr marL="0" indent="0">
              <a:buNone/>
            </a:pPr>
            <a:r>
              <a:rPr lang="en-US" sz="1150" i="1" dirty="0">
                <a:solidFill>
                  <a:srgbClr val="007F47"/>
                </a:solidFill>
                <a:latin typeface="Calibri" pitchFamily="34" charset="0"/>
                <a:ea typeface="Calibri" pitchFamily="34" charset="-122"/>
                <a:cs typeface="Calibri" pitchFamily="34" charset="-120"/>
              </a:rPr>
              <a:t>El Registro (Registry) recibe la imagen con  docker push  y la entrega con  docker pull  a cualquier entorno.</a:t>
            </a:r>
            <a:endParaRPr lang="en-US" sz="1150" dirty="0"/>
          </a:p>
        </p:txBody>
      </p:sp>
      <p:sp>
        <p:nvSpPr>
          <p:cNvPr id="39" name="Text 32"/>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40" name="Text 3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0F8C8C"/>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0F8C8C"/>
                </a:solidFill>
                <a:latin typeface="Calibri" pitchFamily="34" charset="0"/>
                <a:ea typeface="Calibri" pitchFamily="34" charset="-122"/>
                <a:cs typeface="Calibri" pitchFamily="34" charset="-120"/>
              </a:rPr>
              <a:t>SUBTEMA 1 - PRACTICA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Dockerfile multi-etapa para svc-estudiantes</a:t>
            </a:r>
            <a:endParaRPr lang="en-US" sz="2600" dirty="0"/>
          </a:p>
        </p:txBody>
      </p:sp>
      <p:sp>
        <p:nvSpPr>
          <p:cNvPr id="6" name="Shape 3"/>
          <p:cNvSpPr/>
          <p:nvPr/>
        </p:nvSpPr>
        <p:spPr>
          <a:xfrm>
            <a:off x="502920" y="1417320"/>
            <a:ext cx="6583680" cy="4572000"/>
          </a:xfrm>
          <a:prstGeom prst="roundRect">
            <a:avLst>
              <a:gd name="adj" fmla="val 1200"/>
            </a:avLst>
          </a:prstGeom>
          <a:solidFill>
            <a:srgbClr val="0E1726"/>
          </a:solidFill>
          <a:ln/>
          <a:effectLst>
            <a:outerShdw blurRad="88900" dist="38100" dir="5400000" algn="bl" rotWithShape="0">
              <a:srgbClr val="000000">
                <a:alpha val="16000"/>
              </a:srgbClr>
            </a:outerShdw>
          </a:effectLst>
        </p:spPr>
      </p:sp>
      <p:sp>
        <p:nvSpPr>
          <p:cNvPr id="7" name="Shape 4"/>
          <p:cNvSpPr/>
          <p:nvPr/>
        </p:nvSpPr>
        <p:spPr>
          <a:xfrm>
            <a:off x="502920" y="1417320"/>
            <a:ext cx="6583680" cy="310896"/>
          </a:xfrm>
          <a:prstGeom prst="roundRect">
            <a:avLst>
              <a:gd name="adj" fmla="val 17647"/>
            </a:avLst>
          </a:prstGeom>
          <a:solidFill>
            <a:srgbClr val="0F8C8C"/>
          </a:solidFill>
          <a:ln/>
        </p:spPr>
      </p:sp>
      <p:sp>
        <p:nvSpPr>
          <p:cNvPr id="8" name="Text 5"/>
          <p:cNvSpPr/>
          <p:nvPr/>
        </p:nvSpPr>
        <p:spPr>
          <a:xfrm>
            <a:off x="649224" y="1435608"/>
            <a:ext cx="630936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svc-estudiantes/Dockerfile</a:t>
            </a:r>
            <a:endParaRPr lang="en-US" sz="1050" dirty="0"/>
          </a:p>
        </p:txBody>
      </p:sp>
      <p:sp>
        <p:nvSpPr>
          <p:cNvPr id="9" name="Text 6"/>
          <p:cNvSpPr/>
          <p:nvPr/>
        </p:nvSpPr>
        <p:spPr>
          <a:xfrm>
            <a:off x="649224" y="1819656"/>
            <a:ext cx="6309360" cy="4078224"/>
          </a:xfrm>
          <a:prstGeom prst="rect">
            <a:avLst/>
          </a:prstGeom>
          <a:noFill/>
          <a:ln/>
        </p:spPr>
        <p:txBody>
          <a:bodyPr wrap="square" lIns="0" tIns="0" rIns="0" bIns="0" rtlCol="0" anchor="t"/>
          <a:lstStyle/>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 Etapa 1: construccion (build) ---</a:t>
            </a:r>
            <a:endParaRPr lang="en-US" sz="1050" dirty="0"/>
          </a:p>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FROM eclipse-temurin:25-jdk AS build</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WORKDIR /app</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COPY .mvn/ .mvn/</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COPY mvnw pom.xml ./</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RUN ./mvnw -q dependency:go-offline</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COPY src/ src/</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RUN ./mvnw -q clean package -DskipTests</a:t>
            </a:r>
            <a:endParaRPr lang="en-US" sz="1050" dirty="0"/>
          </a:p>
          <a:p>
            <a:pPr marL="0" indent="0" algn="l">
              <a:lnSpc>
                <a:spcPct val="104000"/>
              </a:lnSpc>
              <a:buNone/>
            </a:pP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 Etapa 2: ejecucion (runtime) ---</a:t>
            </a:r>
            <a:endParaRPr lang="en-US" sz="1050" dirty="0"/>
          </a:p>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FROM eclipse-temurin:25-jre-alpine</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WORKDIR /app</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RUN addgroup -S app &amp;&amp; adduser -S app -G app</a:t>
            </a:r>
            <a:endParaRPr lang="en-US" sz="1050" dirty="0"/>
          </a:p>
          <a:p>
            <a:pPr marL="0" indent="0" algn="l">
              <a:lnSpc>
                <a:spcPct val="104000"/>
              </a:lnSpc>
              <a:buNone/>
            </a:pPr>
            <a:r>
              <a:rPr lang="en-US" sz="1050" dirty="0">
                <a:solidFill>
                  <a:srgbClr val="DCB67A"/>
                </a:solidFill>
                <a:latin typeface="Consolas" pitchFamily="34" charset="0"/>
                <a:ea typeface="Consolas" pitchFamily="34" charset="-122"/>
                <a:cs typeface="Consolas" pitchFamily="34" charset="-120"/>
              </a:rPr>
              <a:t>USER app</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COPY --from=build /app/target/*.jar app.jar</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EXPOSE 8080</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ENTRYPOINT ["java","-jar","app.jar"]</a:t>
            </a:r>
            <a:endParaRPr lang="en-US" sz="1050" dirty="0"/>
          </a:p>
        </p:txBody>
      </p:sp>
      <p:sp>
        <p:nvSpPr>
          <p:cNvPr id="10" name="Shape 7"/>
          <p:cNvSpPr/>
          <p:nvPr/>
        </p:nvSpPr>
        <p:spPr>
          <a:xfrm>
            <a:off x="7269480" y="1417320"/>
            <a:ext cx="4434840" cy="4572000"/>
          </a:xfrm>
          <a:prstGeom prst="roundRect">
            <a:avLst>
              <a:gd name="adj" fmla="val 1856"/>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11" name="Text 8"/>
          <p:cNvSpPr/>
          <p:nvPr/>
        </p:nvSpPr>
        <p:spPr>
          <a:xfrm>
            <a:off x="7498080" y="1572768"/>
            <a:ext cx="4023360" cy="320040"/>
          </a:xfrm>
          <a:prstGeom prst="rect">
            <a:avLst/>
          </a:prstGeom>
          <a:noFill/>
          <a:ln/>
        </p:spPr>
        <p:txBody>
          <a:bodyPr wrap="square" lIns="0" tIns="0" rIns="0" bIns="0" rtlCol="0" anchor="ctr"/>
          <a:lstStyle/>
          <a:p>
            <a:pPr marL="0" indent="0">
              <a:buNone/>
            </a:pPr>
            <a:r>
              <a:rPr lang="en-US" sz="1500" b="1" dirty="0">
                <a:solidFill>
                  <a:srgbClr val="1F3864"/>
                </a:solidFill>
                <a:latin typeface="Cambria" pitchFamily="34" charset="0"/>
                <a:ea typeface="Cambria" pitchFamily="34" charset="-122"/>
                <a:cs typeface="Cambria" pitchFamily="34" charset="-120"/>
              </a:rPr>
              <a:t>Por que multi-etapa</a:t>
            </a:r>
            <a:endParaRPr lang="en-US" sz="1500" dirty="0"/>
          </a:p>
        </p:txBody>
      </p:sp>
      <p:sp>
        <p:nvSpPr>
          <p:cNvPr id="12" name="Text 9"/>
          <p:cNvSpPr/>
          <p:nvPr/>
        </p:nvSpPr>
        <p:spPr>
          <a:xfrm>
            <a:off x="7498080" y="1938528"/>
            <a:ext cx="4023360" cy="1554480"/>
          </a:xfrm>
          <a:prstGeom prst="rect">
            <a:avLst/>
          </a:prstGeom>
          <a:noFill/>
          <a:ln/>
        </p:spPr>
        <p:txBody>
          <a:bodyPr wrap="square" lIns="0" tIns="0" rIns="0" bIns="0" rtlCol="0" anchor="t"/>
          <a:lstStyle/>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La etapa build usa el JDK (Java Development Kit) para compilar.</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La etapa runtime usa solo el JRE: imagen final mas pequena y segura.</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Usuario no-root (app): reduce la superficie de ataque.</a:t>
            </a:r>
            <a:endParaRPr lang="en-US" sz="1150" dirty="0"/>
          </a:p>
        </p:txBody>
      </p:sp>
      <p:sp>
        <p:nvSpPr>
          <p:cNvPr id="13" name="Shape 10"/>
          <p:cNvSpPr/>
          <p:nvPr/>
        </p:nvSpPr>
        <p:spPr>
          <a:xfrm>
            <a:off x="7498080" y="3611880"/>
            <a:ext cx="3977640" cy="0"/>
          </a:xfrm>
          <a:prstGeom prst="line">
            <a:avLst/>
          </a:prstGeom>
          <a:noFill/>
          <a:ln w="12700">
            <a:solidFill>
              <a:srgbClr val="D7DEE8"/>
            </a:solidFill>
            <a:prstDash val="solid"/>
          </a:ln>
        </p:spPr>
      </p:sp>
      <p:sp>
        <p:nvSpPr>
          <p:cNvPr id="14" name="Text 11"/>
          <p:cNvSpPr/>
          <p:nvPr/>
        </p:nvSpPr>
        <p:spPr>
          <a:xfrm>
            <a:off x="7498080" y="3703320"/>
            <a:ext cx="4023360" cy="320040"/>
          </a:xfrm>
          <a:prstGeom prst="rect">
            <a:avLst/>
          </a:prstGeom>
          <a:noFill/>
          <a:ln/>
        </p:spPr>
        <p:txBody>
          <a:bodyPr wrap="square" lIns="0" tIns="0" rIns="0" bIns="0" rtlCol="0" anchor="ctr"/>
          <a:lstStyle/>
          <a:p>
            <a:pPr marL="0" indent="0">
              <a:buNone/>
            </a:pPr>
            <a:r>
              <a:rPr lang="en-US" sz="1400" b="1" dirty="0">
                <a:solidFill>
                  <a:srgbClr val="0F8C8C"/>
                </a:solidFill>
                <a:latin typeface="Cambria" pitchFamily="34" charset="0"/>
                <a:ea typeface="Cambria" pitchFamily="34" charset="-122"/>
                <a:cs typeface="Cambria" pitchFamily="34" charset="-120"/>
              </a:rPr>
              <a:t>Pasos en IntelliJ IDEA</a:t>
            </a:r>
            <a:endParaRPr lang="en-US" sz="1400" dirty="0"/>
          </a:p>
        </p:txBody>
      </p:sp>
      <p:sp>
        <p:nvSpPr>
          <p:cNvPr id="15" name="Text 12"/>
          <p:cNvSpPr/>
          <p:nvPr/>
        </p:nvSpPr>
        <p:spPr>
          <a:xfrm>
            <a:off x="7498080" y="4041648"/>
            <a:ext cx="4023360" cy="1828800"/>
          </a:xfrm>
          <a:prstGeom prst="rect">
            <a:avLst/>
          </a:prstGeom>
          <a:noFill/>
          <a:ln/>
        </p:spPr>
        <p:txBody>
          <a:bodyPr wrap="square" lIns="0" tIns="0" rIns="0" bIns="0" rtlCol="0" anchor="t"/>
          <a:lstStyle/>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Instalar el plugin Docker (Settings &gt; Plugins).</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Conectar el daemon en Settings &gt; Build &gt; Docker.</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Clic en el icono junto a FROM para construir, o usar la terminal integrada.</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Ver imagenes y contenedores en la pestana Services.</a:t>
            </a:r>
            <a:endParaRPr lang="en-US" sz="1150" dirty="0"/>
          </a:p>
        </p:txBody>
      </p:sp>
      <p:sp>
        <p:nvSpPr>
          <p:cNvPr id="17" name="Text 13"/>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8" name="Text 1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0F8C8C"/>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0F8C8C"/>
                </a:solidFill>
                <a:latin typeface="Calibri" pitchFamily="34" charset="0"/>
                <a:ea typeface="Calibri" pitchFamily="34" charset="-122"/>
                <a:cs typeface="Calibri" pitchFamily="34" charset="-120"/>
              </a:rPr>
              <a:t>SUBTEMA 1 - PRACTICA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Comandos esenciales (Windows PowerShell)</a:t>
            </a:r>
            <a:endParaRPr lang="en-US" sz="2600" dirty="0"/>
          </a:p>
        </p:txBody>
      </p:sp>
      <p:sp>
        <p:nvSpPr>
          <p:cNvPr id="6" name="Shape 3"/>
          <p:cNvSpPr/>
          <p:nvPr/>
        </p:nvSpPr>
        <p:spPr>
          <a:xfrm>
            <a:off x="502920" y="1463040"/>
            <a:ext cx="6766560" cy="4526280"/>
          </a:xfrm>
          <a:prstGeom prst="roundRect">
            <a:avLst>
              <a:gd name="adj" fmla="val 1212"/>
            </a:avLst>
          </a:prstGeom>
          <a:solidFill>
            <a:srgbClr val="0E1726"/>
          </a:solidFill>
          <a:ln/>
          <a:effectLst>
            <a:outerShdw blurRad="88900" dist="38100" dir="5400000" algn="bl" rotWithShape="0">
              <a:srgbClr val="000000">
                <a:alpha val="16000"/>
              </a:srgbClr>
            </a:outerShdw>
          </a:effectLst>
        </p:spPr>
      </p:sp>
      <p:sp>
        <p:nvSpPr>
          <p:cNvPr id="7" name="Shape 4"/>
          <p:cNvSpPr/>
          <p:nvPr/>
        </p:nvSpPr>
        <p:spPr>
          <a:xfrm>
            <a:off x="502920" y="1463040"/>
            <a:ext cx="6766560" cy="310896"/>
          </a:xfrm>
          <a:prstGeom prst="roundRect">
            <a:avLst>
              <a:gd name="adj" fmla="val 17647"/>
            </a:avLst>
          </a:prstGeom>
          <a:solidFill>
            <a:srgbClr val="0F8C8C"/>
          </a:solidFill>
          <a:ln/>
        </p:spPr>
      </p:sp>
      <p:sp>
        <p:nvSpPr>
          <p:cNvPr id="8" name="Text 5"/>
          <p:cNvSpPr/>
          <p:nvPr/>
        </p:nvSpPr>
        <p:spPr>
          <a:xfrm>
            <a:off x="649224" y="1481328"/>
            <a:ext cx="649224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PowerShell</a:t>
            </a:r>
            <a:endParaRPr lang="en-US" sz="1050" dirty="0"/>
          </a:p>
        </p:txBody>
      </p:sp>
      <p:sp>
        <p:nvSpPr>
          <p:cNvPr id="9" name="Text 6"/>
          <p:cNvSpPr/>
          <p:nvPr/>
        </p:nvSpPr>
        <p:spPr>
          <a:xfrm>
            <a:off x="649224" y="1865376"/>
            <a:ext cx="6492240" cy="4032504"/>
          </a:xfrm>
          <a:prstGeom prst="rect">
            <a:avLst/>
          </a:prstGeom>
          <a:noFill/>
          <a:ln/>
        </p:spPr>
        <p:txBody>
          <a:bodyPr wrap="square" lIns="0" tIns="0" rIns="0" bIns="0" rtlCol="0" anchor="t"/>
          <a:lstStyle/>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Construir la imagen (etiqueta svc-estudiantes:1.0)</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build -t svc-estudiantes:1.0 .</a:t>
            </a:r>
            <a:endParaRPr lang="en-US" sz="1050" dirty="0"/>
          </a:p>
          <a:p>
            <a:pPr marL="0" indent="0" algn="l">
              <a:lnSpc>
                <a:spcPct val="104000"/>
              </a:lnSpc>
              <a:buNone/>
            </a:pP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Ejecutar el contenedor, publicar el puerto 8080</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run --name svc -p 8080:8080 svc-estudiantes:1.0</a:t>
            </a:r>
            <a:endParaRPr lang="en-US" sz="1050" dirty="0"/>
          </a:p>
          <a:p>
            <a:pPr marL="0" indent="0" algn="l">
              <a:lnSpc>
                <a:spcPct val="104000"/>
              </a:lnSpc>
              <a:buNone/>
            </a:pP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Listar contenedores en ejecucion</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ps</a:t>
            </a:r>
            <a:endParaRPr lang="en-US" sz="1050" dirty="0"/>
          </a:p>
          <a:p>
            <a:pPr marL="0" indent="0" algn="l">
              <a:lnSpc>
                <a:spcPct val="104000"/>
              </a:lnSpc>
              <a:buNone/>
            </a:pP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Ver registros (logs) del contenedor</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logs -f svc</a:t>
            </a:r>
            <a:endParaRPr lang="en-US" sz="1050" dirty="0"/>
          </a:p>
          <a:p>
            <a:pPr marL="0" indent="0" algn="l">
              <a:lnSpc>
                <a:spcPct val="104000"/>
              </a:lnSpc>
              <a:buNone/>
            </a:pP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Probar el endpoint (curl.exe en PowerShell)</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curl.exe http://localhost:8080/api/estudiantes</a:t>
            </a:r>
            <a:endParaRPr lang="en-US" sz="1050" dirty="0"/>
          </a:p>
          <a:p>
            <a:pPr marL="0" indent="0" algn="l">
              <a:lnSpc>
                <a:spcPct val="104000"/>
              </a:lnSpc>
              <a:buNone/>
            </a:pP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Detener y eliminar</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stop svc ; docker rm svc</a:t>
            </a:r>
            <a:endParaRPr lang="en-US" sz="1050" dirty="0"/>
          </a:p>
        </p:txBody>
      </p:sp>
      <p:sp>
        <p:nvSpPr>
          <p:cNvPr id="10" name="Shape 7"/>
          <p:cNvSpPr/>
          <p:nvPr/>
        </p:nvSpPr>
        <p:spPr>
          <a:xfrm>
            <a:off x="7452360" y="1463040"/>
            <a:ext cx="4251960" cy="4526280"/>
          </a:xfrm>
          <a:prstGeom prst="roundRect">
            <a:avLst>
              <a:gd name="adj" fmla="val 1935"/>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11" name="Shape 8"/>
          <p:cNvSpPr/>
          <p:nvPr/>
        </p:nvSpPr>
        <p:spPr>
          <a:xfrm>
            <a:off x="7699248" y="1691640"/>
            <a:ext cx="548640" cy="548640"/>
          </a:xfrm>
          <a:prstGeom prst="ellipse">
            <a:avLst/>
          </a:prstGeom>
          <a:solidFill>
            <a:srgbClr val="C87800"/>
          </a:solidFill>
          <a:ln/>
        </p:spPr>
      </p:sp>
      <p:pic>
        <p:nvPicPr>
          <p:cNvPr id="12" name="Image 1" descr="preencoded.png"/>
          <p:cNvPicPr>
            <a:picLocks noChangeAspect="1"/>
          </p:cNvPicPr>
          <p:nvPr/>
        </p:nvPicPr>
        <p:blipFill>
          <a:blip r:embed="rId4"/>
          <a:stretch>
            <a:fillRect/>
          </a:stretch>
        </p:blipFill>
        <p:spPr>
          <a:xfrm>
            <a:off x="7841894" y="1834286"/>
            <a:ext cx="263347" cy="263347"/>
          </a:xfrm>
          <a:prstGeom prst="rect">
            <a:avLst/>
          </a:prstGeom>
        </p:spPr>
      </p:pic>
      <p:sp>
        <p:nvSpPr>
          <p:cNvPr id="13" name="Text 9"/>
          <p:cNvSpPr/>
          <p:nvPr/>
        </p:nvSpPr>
        <p:spPr>
          <a:xfrm>
            <a:off x="8366760" y="1737360"/>
            <a:ext cx="3200400" cy="457200"/>
          </a:xfrm>
          <a:prstGeom prst="rect">
            <a:avLst/>
          </a:prstGeom>
          <a:noFill/>
          <a:ln/>
        </p:spPr>
        <p:txBody>
          <a:bodyPr wrap="square" lIns="0" tIns="0" rIns="0" bIns="0" rtlCol="0" anchor="ctr"/>
          <a:lstStyle/>
          <a:p>
            <a:pPr marL="0" indent="0">
              <a:buNone/>
            </a:pPr>
            <a:r>
              <a:rPr lang="en-US" sz="1500" b="1" dirty="0">
                <a:solidFill>
                  <a:srgbClr val="C87800"/>
                </a:solidFill>
                <a:latin typeface="Cambria" pitchFamily="34" charset="0"/>
                <a:ea typeface="Cambria" pitchFamily="34" charset="-122"/>
                <a:cs typeface="Cambria" pitchFamily="34" charset="-120"/>
              </a:rPr>
              <a:t>Notas importantes</a:t>
            </a:r>
            <a:endParaRPr lang="en-US" sz="1500" dirty="0"/>
          </a:p>
        </p:txBody>
      </p:sp>
      <p:sp>
        <p:nvSpPr>
          <p:cNvPr id="14" name="Text 10"/>
          <p:cNvSpPr/>
          <p:nvPr/>
        </p:nvSpPr>
        <p:spPr>
          <a:xfrm>
            <a:off x="7699248" y="2423160"/>
            <a:ext cx="3794760" cy="3383280"/>
          </a:xfrm>
          <a:prstGeom prst="rect">
            <a:avLst/>
          </a:prstGeom>
          <a:noFill/>
          <a:ln/>
        </p:spPr>
        <p:txBody>
          <a:bodyPr wrap="square" lIns="0" tIns="0" rIns="0" bIns="0" rtlCol="0" anchor="t"/>
          <a:lstStyle/>
          <a:p>
            <a:pPr marL="177800" indent="-177800" algn="l">
              <a:spcAft>
                <a:spcPts val="700"/>
              </a:spcAft>
              <a:buSzPct val="100000"/>
              <a:buChar char="•"/>
            </a:pPr>
            <a:r>
              <a:rPr lang="en-US" sz="1200" b="1" dirty="0">
                <a:solidFill>
                  <a:srgbClr val="1B2430"/>
                </a:solidFill>
                <a:latin typeface="Calibri" pitchFamily="34" charset="0"/>
                <a:ea typeface="Calibri" pitchFamily="34" charset="-122"/>
                <a:cs typeface="Calibri" pitchFamily="34" charset="-120"/>
              </a:rPr>
              <a:t>En PowerShell use curl.exe; el alias curl apunta a Invoke-WebRequest.</a:t>
            </a:r>
            <a:endParaRPr lang="en-US" sz="1200" dirty="0"/>
          </a:p>
          <a:p>
            <a:pPr marL="177800" indent="-177800" algn="l">
              <a:spcAft>
                <a:spcPts val="700"/>
              </a:spcAft>
              <a:buSzPct val="100000"/>
              <a:buChar char="•"/>
            </a:pPr>
            <a:r>
              <a:rPr lang="en-US" sz="1200" dirty="0">
                <a:solidFill>
                  <a:srgbClr val="1B2430"/>
                </a:solidFill>
                <a:latin typeface="Calibri" pitchFamily="34" charset="0"/>
                <a:ea typeface="Calibri" pitchFamily="34" charset="-122"/>
                <a:cs typeface="Calibri" pitchFamily="34" charset="-120"/>
              </a:rPr>
              <a:t>En Linux/macOS el comando es curl (sin .exe).</a:t>
            </a:r>
            <a:endParaRPr lang="en-US" sz="1200" dirty="0"/>
          </a:p>
          <a:p>
            <a:pPr marL="177800" indent="-177800" algn="l">
              <a:spcAft>
                <a:spcPts val="700"/>
              </a:spcAft>
              <a:buSzPct val="100000"/>
              <a:buChar char="•"/>
            </a:pPr>
            <a:r>
              <a:rPr lang="en-US" sz="1200" dirty="0">
                <a:solidFill>
                  <a:srgbClr val="1B2430"/>
                </a:solidFill>
                <a:latin typeface="Calibri" pitchFamily="34" charset="0"/>
                <a:ea typeface="Calibri" pitchFamily="34" charset="-122"/>
                <a:cs typeface="Calibri" pitchFamily="34" charset="-120"/>
              </a:rPr>
              <a:t>El mapeo -p anfitrion:contenedor publica el puerto hacia el exterior.</a:t>
            </a:r>
            <a:endParaRPr lang="en-US" sz="1200" dirty="0"/>
          </a:p>
          <a:p>
            <a:pPr marL="177800" indent="-177800" algn="l">
              <a:spcAft>
                <a:spcPts val="700"/>
              </a:spcAft>
              <a:buSzPct val="100000"/>
              <a:buChar char="•"/>
            </a:pPr>
            <a:r>
              <a:rPr lang="en-US" sz="1200" dirty="0">
                <a:solidFill>
                  <a:srgbClr val="1B2430"/>
                </a:solidFill>
                <a:latin typeface="Calibri" pitchFamily="34" charset="0"/>
                <a:ea typeface="Calibri" pitchFamily="34" charset="-122"/>
                <a:cs typeface="Calibri" pitchFamily="34" charset="-120"/>
              </a:rPr>
              <a:t>Use etiquetas de version (1.0) en lugar de latest para builds reproducibles.</a:t>
            </a:r>
            <a:endParaRPr lang="en-US" sz="1200" dirty="0"/>
          </a:p>
          <a:p>
            <a:pPr marL="177800" indent="-177800" algn="l">
              <a:spcAft>
                <a:spcPts val="700"/>
              </a:spcAft>
              <a:buSzPct val="100000"/>
              <a:buChar char="•"/>
            </a:pPr>
            <a:r>
              <a:rPr lang="en-US" sz="1200" dirty="0">
                <a:solidFill>
                  <a:srgbClr val="1B2430"/>
                </a:solidFill>
                <a:latin typeface="Calibri" pitchFamily="34" charset="0"/>
                <a:ea typeface="Calibri" pitchFamily="34" charset="-122"/>
                <a:cs typeface="Calibri" pitchFamily="34" charset="-120"/>
              </a:rPr>
              <a:t>docker logs -f sigue la salida en tiempo real (como tail -f).</a:t>
            </a:r>
            <a:endParaRPr lang="en-US" sz="1200" dirty="0"/>
          </a:p>
        </p:txBody>
      </p:sp>
      <p:sp>
        <p:nvSpPr>
          <p:cNvPr id="16" name="Text 11"/>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7"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1188720" y="4023360"/>
            <a:ext cx="4206240" cy="4206240"/>
          </a:xfrm>
          <a:prstGeom prst="ellipse">
            <a:avLst/>
          </a:prstGeom>
          <a:solidFill>
            <a:srgbClr val="FFFFFF">
              <a:alpha val="7000"/>
            </a:srgbClr>
          </a:solidFill>
          <a:ln/>
        </p:spPr>
      </p:sp>
      <p:sp>
        <p:nvSpPr>
          <p:cNvPr id="3" name="Shape 1"/>
          <p:cNvSpPr/>
          <p:nvPr/>
        </p:nvSpPr>
        <p:spPr>
          <a:xfrm>
            <a:off x="10058400" y="-1371600"/>
            <a:ext cx="3840480" cy="3840480"/>
          </a:xfrm>
          <a:prstGeom prst="ellipse">
            <a:avLst/>
          </a:prstGeom>
          <a:solidFill>
            <a:srgbClr val="2E5EAA">
              <a:alpha val="18000"/>
            </a:srgbClr>
          </a:solidFill>
          <a:ln/>
        </p:spPr>
      </p:sp>
      <p:sp>
        <p:nvSpPr>
          <p:cNvPr id="4" name="Shape 2"/>
          <p:cNvSpPr/>
          <p:nvPr/>
        </p:nvSpPr>
        <p:spPr>
          <a:xfrm>
            <a:off x="914400" y="2240280"/>
            <a:ext cx="1371600" cy="1371600"/>
          </a:xfrm>
          <a:prstGeom prst="ellipse">
            <a:avLst/>
          </a:prstGeom>
          <a:solidFill>
            <a:srgbClr val="2E5EAA"/>
          </a:solidFill>
          <a:ln/>
        </p:spPr>
      </p:sp>
      <p:pic>
        <p:nvPicPr>
          <p:cNvPr id="5" name="Image 0" descr="preencoded.png"/>
          <p:cNvPicPr>
            <a:picLocks noChangeAspect="1"/>
          </p:cNvPicPr>
          <p:nvPr/>
        </p:nvPicPr>
        <p:blipFill>
          <a:blip r:embed="rId3"/>
          <a:stretch>
            <a:fillRect/>
          </a:stretch>
        </p:blipFill>
        <p:spPr>
          <a:xfrm>
            <a:off x="1271016" y="2596896"/>
            <a:ext cx="658368" cy="658368"/>
          </a:xfrm>
          <a:prstGeom prst="rect">
            <a:avLst/>
          </a:prstGeom>
        </p:spPr>
      </p:pic>
      <p:sp>
        <p:nvSpPr>
          <p:cNvPr id="6" name="Text 3"/>
          <p:cNvSpPr/>
          <p:nvPr/>
        </p:nvSpPr>
        <p:spPr>
          <a:xfrm>
            <a:off x="2743200" y="2240280"/>
            <a:ext cx="8229600" cy="457200"/>
          </a:xfrm>
          <a:prstGeom prst="rect">
            <a:avLst/>
          </a:prstGeom>
          <a:noFill/>
          <a:ln/>
        </p:spPr>
        <p:txBody>
          <a:bodyPr wrap="square" lIns="0" tIns="0" rIns="0" bIns="0" rtlCol="0" anchor="ctr"/>
          <a:lstStyle/>
          <a:p>
            <a:pPr marL="0" indent="0">
              <a:buNone/>
            </a:pPr>
            <a:r>
              <a:rPr lang="en-US" sz="1600" b="1" kern="0" spc="300" dirty="0">
                <a:solidFill>
                  <a:srgbClr val="7FE3E3"/>
                </a:solidFill>
                <a:latin typeface="Calibri" pitchFamily="34" charset="0"/>
                <a:ea typeface="Calibri" pitchFamily="34" charset="-122"/>
                <a:cs typeface="Calibri" pitchFamily="34" charset="-120"/>
              </a:rPr>
              <a:t>SUBTEMA 2</a:t>
            </a:r>
            <a:endParaRPr lang="en-US" sz="1600" dirty="0"/>
          </a:p>
        </p:txBody>
      </p:sp>
      <p:sp>
        <p:nvSpPr>
          <p:cNvPr id="7" name="Text 4"/>
          <p:cNvSpPr/>
          <p:nvPr/>
        </p:nvSpPr>
        <p:spPr>
          <a:xfrm>
            <a:off x="2697480" y="2651760"/>
            <a:ext cx="8778240" cy="12801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Composicion de servicios: Docker Compose</a:t>
            </a:r>
            <a:endParaRPr lang="en-US" sz="3400" dirty="0"/>
          </a:p>
        </p:txBody>
      </p:sp>
      <p:sp>
        <p:nvSpPr>
          <p:cNvPr id="8" name="Text 5"/>
          <p:cNvSpPr/>
          <p:nvPr/>
        </p:nvSpPr>
        <p:spPr>
          <a:xfrm>
            <a:off x="2743200" y="3977640"/>
            <a:ext cx="8503920" cy="731520"/>
          </a:xfrm>
          <a:prstGeom prst="rect">
            <a:avLst/>
          </a:prstGeom>
          <a:noFill/>
          <a:ln/>
        </p:spPr>
        <p:txBody>
          <a:bodyPr wrap="square" lIns="0" tIns="0" rIns="0" bIns="0" rtlCol="0" anchor="ctr"/>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Un microservicio rara vez vive solo. Docker Compose declara, en un unico archivo YAML, el conjunto de servicios, sus redes y su almacenamiento, y los levanta con un solo comando.</a:t>
            </a:r>
            <a:endParaRPr lang="en-US" sz="15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1" name="Text 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2E5EAA"/>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2E5EAA"/>
                </a:solidFill>
                <a:latin typeface="Calibri" pitchFamily="34" charset="0"/>
                <a:ea typeface="Calibri" pitchFamily="34" charset="-122"/>
                <a:cs typeface="Calibri" pitchFamily="34" charset="-120"/>
              </a:rPr>
              <a:t>SUBTEMA 2 - CONCEPTO</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Que resuelve Docker Compose</a:t>
            </a:r>
            <a:endParaRPr lang="en-US" sz="2600" dirty="0"/>
          </a:p>
        </p:txBody>
      </p:sp>
      <p:sp>
        <p:nvSpPr>
          <p:cNvPr id="6" name="Shape 3"/>
          <p:cNvSpPr/>
          <p:nvPr/>
        </p:nvSpPr>
        <p:spPr>
          <a:xfrm>
            <a:off x="548640" y="1481328"/>
            <a:ext cx="5394960" cy="4526280"/>
          </a:xfrm>
          <a:prstGeom prst="roundRect">
            <a:avLst>
              <a:gd name="adj" fmla="val 1818"/>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Shape 4"/>
          <p:cNvSpPr/>
          <p:nvPr/>
        </p:nvSpPr>
        <p:spPr>
          <a:xfrm>
            <a:off x="777240" y="1737360"/>
            <a:ext cx="548640" cy="548640"/>
          </a:xfrm>
          <a:prstGeom prst="ellipse">
            <a:avLst/>
          </a:prstGeom>
          <a:solidFill>
            <a:srgbClr val="C87800"/>
          </a:solidFill>
          <a:ln/>
        </p:spPr>
      </p:sp>
      <p:pic>
        <p:nvPicPr>
          <p:cNvPr id="8" name="Image 1" descr="preencoded.png"/>
          <p:cNvPicPr>
            <a:picLocks noChangeAspect="1"/>
          </p:cNvPicPr>
          <p:nvPr/>
        </p:nvPicPr>
        <p:blipFill>
          <a:blip r:embed="rId4"/>
          <a:stretch>
            <a:fillRect/>
          </a:stretch>
        </p:blipFill>
        <p:spPr>
          <a:xfrm>
            <a:off x="919886" y="1880006"/>
            <a:ext cx="263347" cy="263347"/>
          </a:xfrm>
          <a:prstGeom prst="rect">
            <a:avLst/>
          </a:prstGeom>
        </p:spPr>
      </p:pic>
      <p:sp>
        <p:nvSpPr>
          <p:cNvPr id="9" name="Text 5"/>
          <p:cNvSpPr/>
          <p:nvPr/>
        </p:nvSpPr>
        <p:spPr>
          <a:xfrm>
            <a:off x="1463040" y="1783080"/>
            <a:ext cx="4114800" cy="457200"/>
          </a:xfrm>
          <a:prstGeom prst="rect">
            <a:avLst/>
          </a:prstGeom>
          <a:noFill/>
          <a:ln/>
        </p:spPr>
        <p:txBody>
          <a:bodyPr wrap="square" lIns="0" tIns="0" rIns="0" bIns="0" rtlCol="0" anchor="ctr"/>
          <a:lstStyle/>
          <a:p>
            <a:pPr marL="0" indent="0">
              <a:buNone/>
            </a:pPr>
            <a:r>
              <a:rPr lang="en-US" sz="1700" b="1" dirty="0">
                <a:solidFill>
                  <a:srgbClr val="1F3864"/>
                </a:solidFill>
                <a:latin typeface="Cambria" pitchFamily="34" charset="0"/>
                <a:ea typeface="Cambria" pitchFamily="34" charset="-122"/>
                <a:cs typeface="Cambria" pitchFamily="34" charset="-120"/>
              </a:rPr>
              <a:t>Sin Compose</a:t>
            </a:r>
            <a:endParaRPr lang="en-US" sz="1700" dirty="0"/>
          </a:p>
        </p:txBody>
      </p:sp>
      <p:sp>
        <p:nvSpPr>
          <p:cNvPr id="10" name="Text 6"/>
          <p:cNvSpPr/>
          <p:nvPr/>
        </p:nvSpPr>
        <p:spPr>
          <a:xfrm>
            <a:off x="822960" y="2468880"/>
            <a:ext cx="4846320" cy="3383280"/>
          </a:xfrm>
          <a:prstGeom prst="rect">
            <a:avLst/>
          </a:prstGeom>
          <a:noFill/>
          <a:ln/>
        </p:spPr>
        <p:txBody>
          <a:bodyPr wrap="square" lIns="0" tIns="0" rIns="0" bIns="0" rtlCol="0" anchor="t"/>
          <a:lstStyle/>
          <a:p>
            <a:pPr marL="177800" indent="-177800" algn="l">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Varios docker run largos, uno por servicio, en el orden correcto.</a:t>
            </a:r>
            <a:endParaRPr lang="en-US" sz="1350" dirty="0"/>
          </a:p>
          <a:p>
            <a:pPr marL="177800" indent="-177800" algn="l">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Redes y volumenes creados a mano con comandos separados.</a:t>
            </a:r>
            <a:endParaRPr lang="en-US" sz="1350" dirty="0"/>
          </a:p>
          <a:p>
            <a:pPr marL="177800" indent="-177800" algn="l">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Dificil de versionar, compartir y reproducir en otra maquina.</a:t>
            </a:r>
            <a:endParaRPr lang="en-US" sz="1350" dirty="0"/>
          </a:p>
          <a:p>
            <a:pPr marL="177800" indent="-177800" algn="l">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Errores frecuentes al recordar puertos, variables y dependencias.</a:t>
            </a:r>
            <a:endParaRPr lang="en-US" sz="1350" dirty="0"/>
          </a:p>
        </p:txBody>
      </p:sp>
      <p:sp>
        <p:nvSpPr>
          <p:cNvPr id="11" name="Shape 7"/>
          <p:cNvSpPr/>
          <p:nvPr/>
        </p:nvSpPr>
        <p:spPr>
          <a:xfrm>
            <a:off x="6263640" y="1481328"/>
            <a:ext cx="5440680" cy="4526280"/>
          </a:xfrm>
          <a:prstGeom prst="roundRect">
            <a:avLst>
              <a:gd name="adj" fmla="val 1818"/>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12" name="Shape 8"/>
          <p:cNvSpPr/>
          <p:nvPr/>
        </p:nvSpPr>
        <p:spPr>
          <a:xfrm>
            <a:off x="6492240" y="1737360"/>
            <a:ext cx="548640" cy="548640"/>
          </a:xfrm>
          <a:prstGeom prst="ellipse">
            <a:avLst/>
          </a:prstGeom>
          <a:solidFill>
            <a:srgbClr val="007F47"/>
          </a:solidFill>
          <a:ln/>
        </p:spPr>
      </p:sp>
      <p:pic>
        <p:nvPicPr>
          <p:cNvPr id="13" name="Image 2" descr="preencoded.png"/>
          <p:cNvPicPr>
            <a:picLocks noChangeAspect="1"/>
          </p:cNvPicPr>
          <p:nvPr/>
        </p:nvPicPr>
        <p:blipFill>
          <a:blip r:embed="rId5"/>
          <a:stretch>
            <a:fillRect/>
          </a:stretch>
        </p:blipFill>
        <p:spPr>
          <a:xfrm>
            <a:off x="6634886" y="1880006"/>
            <a:ext cx="263347" cy="263347"/>
          </a:xfrm>
          <a:prstGeom prst="rect">
            <a:avLst/>
          </a:prstGeom>
        </p:spPr>
      </p:pic>
      <p:sp>
        <p:nvSpPr>
          <p:cNvPr id="14" name="Text 9"/>
          <p:cNvSpPr/>
          <p:nvPr/>
        </p:nvSpPr>
        <p:spPr>
          <a:xfrm>
            <a:off x="7178040" y="1783080"/>
            <a:ext cx="4297680" cy="457200"/>
          </a:xfrm>
          <a:prstGeom prst="rect">
            <a:avLst/>
          </a:prstGeom>
          <a:noFill/>
          <a:ln/>
        </p:spPr>
        <p:txBody>
          <a:bodyPr wrap="square" lIns="0" tIns="0" rIns="0" bIns="0" rtlCol="0" anchor="ctr"/>
          <a:lstStyle/>
          <a:p>
            <a:pPr marL="0" indent="0">
              <a:buNone/>
            </a:pPr>
            <a:r>
              <a:rPr lang="en-US" sz="1700" b="1" dirty="0">
                <a:solidFill>
                  <a:srgbClr val="007F47"/>
                </a:solidFill>
                <a:latin typeface="Cambria" pitchFamily="34" charset="0"/>
                <a:ea typeface="Cambria" pitchFamily="34" charset="-122"/>
                <a:cs typeface="Cambria" pitchFamily="34" charset="-120"/>
              </a:rPr>
              <a:t>Con Docker Compose</a:t>
            </a:r>
            <a:endParaRPr lang="en-US" sz="1700" dirty="0"/>
          </a:p>
        </p:txBody>
      </p:sp>
      <p:sp>
        <p:nvSpPr>
          <p:cNvPr id="15" name="Text 10"/>
          <p:cNvSpPr/>
          <p:nvPr/>
        </p:nvSpPr>
        <p:spPr>
          <a:xfrm>
            <a:off x="6537960" y="2468880"/>
            <a:ext cx="4937760" cy="3383280"/>
          </a:xfrm>
          <a:prstGeom prst="rect">
            <a:avLst/>
          </a:prstGeom>
          <a:noFill/>
          <a:ln/>
        </p:spPr>
        <p:txBody>
          <a:bodyPr wrap="square" lIns="0" tIns="0" rIns="0" bIns="0" rtlCol="0" anchor="t"/>
          <a:lstStyle/>
          <a:p>
            <a:pPr marL="177800" indent="-177800" algn="l">
              <a:spcAft>
                <a:spcPts val="700"/>
              </a:spcAft>
              <a:buSzPct val="100000"/>
              <a:buChar char="•"/>
            </a:pPr>
            <a:r>
              <a:rPr lang="en-US" sz="1350" b="1" dirty="0">
                <a:solidFill>
                  <a:srgbClr val="1B2430"/>
                </a:solidFill>
                <a:latin typeface="Calibri" pitchFamily="34" charset="0"/>
                <a:ea typeface="Calibri" pitchFamily="34" charset="-122"/>
                <a:cs typeface="Calibri" pitchFamily="34" charset="-120"/>
              </a:rPr>
              <a:t>Un unico archivo compose.yaml describe todos los servicios.</a:t>
            </a:r>
            <a:endParaRPr lang="en-US" sz="1350" dirty="0"/>
          </a:p>
          <a:p>
            <a:pPr marL="177800" indent="-177800" algn="l">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Redes y dependencias declaradas, no improvisadas.</a:t>
            </a:r>
            <a:endParaRPr lang="en-US" sz="1350" dirty="0"/>
          </a:p>
          <a:p>
            <a:pPr marL="177800" indent="-177800" algn="l">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docker compose up levanta todo; docker compose down lo derriba.</a:t>
            </a:r>
            <a:endParaRPr lang="en-US" sz="1350" dirty="0"/>
          </a:p>
          <a:p>
            <a:pPr marL="177800" indent="-177800" algn="l">
              <a:spcAft>
                <a:spcPts val="700"/>
              </a:spcAft>
              <a:buSzPct val="100000"/>
              <a:buChar char="•"/>
            </a:pPr>
            <a:r>
              <a:rPr lang="en-US" sz="1350" dirty="0">
                <a:solidFill>
                  <a:srgbClr val="1B2430"/>
                </a:solidFill>
                <a:latin typeface="Calibri" pitchFamily="34" charset="0"/>
                <a:ea typeface="Calibri" pitchFamily="34" charset="-122"/>
                <a:cs typeface="Calibri" pitchFamily="34" charset="-120"/>
              </a:rPr>
              <a:t>El archivo se versiona en Git: el entorno es reproducible y compartible.</a:t>
            </a:r>
            <a:endParaRPr lang="en-US" sz="1350" dirty="0"/>
          </a:p>
        </p:txBody>
      </p:sp>
      <p:sp>
        <p:nvSpPr>
          <p:cNvPr id="17" name="Text 11"/>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8"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2E5EAA"/>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2E5EAA"/>
                </a:solidFill>
                <a:latin typeface="Calibri" pitchFamily="34" charset="0"/>
                <a:ea typeface="Calibri" pitchFamily="34" charset="-122"/>
                <a:cs typeface="Calibri" pitchFamily="34" charset="-120"/>
              </a:rPr>
              <a:t>SUBTEMA 2 - PRACTICA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Anatomia de compose.yaml</a:t>
            </a:r>
            <a:endParaRPr lang="en-US" sz="2600" dirty="0"/>
          </a:p>
        </p:txBody>
      </p:sp>
      <p:sp>
        <p:nvSpPr>
          <p:cNvPr id="6" name="Shape 3"/>
          <p:cNvSpPr/>
          <p:nvPr/>
        </p:nvSpPr>
        <p:spPr>
          <a:xfrm>
            <a:off x="502920" y="1417320"/>
            <a:ext cx="6903720" cy="4617720"/>
          </a:xfrm>
          <a:prstGeom prst="roundRect">
            <a:avLst>
              <a:gd name="adj" fmla="val 1188"/>
            </a:avLst>
          </a:prstGeom>
          <a:solidFill>
            <a:srgbClr val="0E1726"/>
          </a:solidFill>
          <a:ln/>
          <a:effectLst>
            <a:outerShdw blurRad="88900" dist="38100" dir="5400000" algn="bl" rotWithShape="0">
              <a:srgbClr val="000000">
                <a:alpha val="16000"/>
              </a:srgbClr>
            </a:outerShdw>
          </a:effectLst>
        </p:spPr>
      </p:sp>
      <p:sp>
        <p:nvSpPr>
          <p:cNvPr id="7" name="Shape 4"/>
          <p:cNvSpPr/>
          <p:nvPr/>
        </p:nvSpPr>
        <p:spPr>
          <a:xfrm>
            <a:off x="502920" y="1417320"/>
            <a:ext cx="6903720" cy="310896"/>
          </a:xfrm>
          <a:prstGeom prst="roundRect">
            <a:avLst>
              <a:gd name="adj" fmla="val 17647"/>
            </a:avLst>
          </a:prstGeom>
          <a:solidFill>
            <a:srgbClr val="2E5EAA"/>
          </a:solidFill>
          <a:ln/>
        </p:spPr>
      </p:sp>
      <p:sp>
        <p:nvSpPr>
          <p:cNvPr id="8" name="Text 5"/>
          <p:cNvSpPr/>
          <p:nvPr/>
        </p:nvSpPr>
        <p:spPr>
          <a:xfrm>
            <a:off x="649224" y="1435608"/>
            <a:ext cx="662940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compose.yaml</a:t>
            </a:r>
            <a:endParaRPr lang="en-US" sz="1050" dirty="0"/>
          </a:p>
        </p:txBody>
      </p:sp>
      <p:sp>
        <p:nvSpPr>
          <p:cNvPr id="9" name="Text 6"/>
          <p:cNvSpPr/>
          <p:nvPr/>
        </p:nvSpPr>
        <p:spPr>
          <a:xfrm>
            <a:off x="649224" y="1819656"/>
            <a:ext cx="6629400" cy="4123944"/>
          </a:xfrm>
          <a:prstGeom prst="rect">
            <a:avLst/>
          </a:prstGeom>
          <a:noFill/>
          <a:ln/>
        </p:spPr>
        <p:txBody>
          <a:bodyPr wrap="square" lIns="0" tIns="0" rIns="0" bIns="0" rtlCol="0" anchor="t"/>
          <a:lstStyle/>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services:</a:t>
            </a:r>
            <a:endParaRPr lang="en-US" sz="1050" dirty="0"/>
          </a:p>
          <a:p>
            <a:pPr marL="0" indent="0" algn="l">
              <a:lnSpc>
                <a:spcPct val="104000"/>
              </a:lnSpc>
              <a:buNone/>
            </a:pPr>
            <a:r>
              <a:rPr lang="en-US" sz="1050" dirty="0">
                <a:solidFill>
                  <a:srgbClr val="DCB67A"/>
                </a:solidFill>
                <a:latin typeface="Consolas" pitchFamily="34" charset="0"/>
                <a:ea typeface="Consolas" pitchFamily="34" charset="-122"/>
                <a:cs typeface="Consolas" pitchFamily="34" charset="-120"/>
              </a:rPr>
              <a:t>  db:</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image: postgres:17-alpine</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environment:</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POSTGRES_DB: estudiantes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healthcheck:</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test: ["CMD-SHELL","pg_isready -U postgres"]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networks: [backend]</a:t>
            </a:r>
            <a:endParaRPr lang="en-US" sz="1050" dirty="0"/>
          </a:p>
          <a:p>
            <a:pPr marL="0" indent="0" algn="l">
              <a:lnSpc>
                <a:spcPct val="104000"/>
              </a:lnSpc>
              <a:buNone/>
            </a:pPr>
            <a:r>
              <a:rPr lang="en-US" sz="1050" dirty="0">
                <a:solidFill>
                  <a:srgbClr val="DCB67A"/>
                </a:solidFill>
                <a:latin typeface="Consolas" pitchFamily="34" charset="0"/>
                <a:ea typeface="Consolas" pitchFamily="34" charset="-122"/>
                <a:cs typeface="Consolas" pitchFamily="34" charset="-120"/>
              </a:rPr>
              <a:t>  app:</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build: .</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depends_on:</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db: { condition: service_healthy }</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networks: [backend]</a:t>
            </a:r>
            <a:endParaRPr lang="en-US" sz="1050" dirty="0"/>
          </a:p>
          <a:p>
            <a:pPr marL="0" indent="0" algn="l">
              <a:lnSpc>
                <a:spcPct val="104000"/>
              </a:lnSpc>
              <a:buNone/>
            </a:pPr>
            <a:r>
              <a:rPr lang="en-US" sz="1050" dirty="0">
                <a:solidFill>
                  <a:srgbClr val="DCB67A"/>
                </a:solidFill>
                <a:latin typeface="Consolas" pitchFamily="34" charset="0"/>
                <a:ea typeface="Consolas" pitchFamily="34" charset="-122"/>
                <a:cs typeface="Consolas" pitchFamily="34" charset="-120"/>
              </a:rPr>
              <a:t>  gateway:</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image: nginx:1.27-alpine</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ports: ["8080:80"]</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networks: [backend]</a:t>
            </a:r>
            <a:endParaRPr lang="en-US" sz="1050" dirty="0"/>
          </a:p>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networks: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backend: {}</a:t>
            </a:r>
            <a:endParaRPr lang="en-US" sz="1050" dirty="0"/>
          </a:p>
        </p:txBody>
      </p:sp>
      <p:sp>
        <p:nvSpPr>
          <p:cNvPr id="10" name="Shape 7"/>
          <p:cNvSpPr/>
          <p:nvPr/>
        </p:nvSpPr>
        <p:spPr>
          <a:xfrm>
            <a:off x="7589520" y="1417320"/>
            <a:ext cx="4114800" cy="4617720"/>
          </a:xfrm>
          <a:prstGeom prst="roundRect">
            <a:avLst>
              <a:gd name="adj" fmla="val 2000"/>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11" name="Text 8"/>
          <p:cNvSpPr/>
          <p:nvPr/>
        </p:nvSpPr>
        <p:spPr>
          <a:xfrm>
            <a:off x="7818120" y="1572768"/>
            <a:ext cx="3657600" cy="320040"/>
          </a:xfrm>
          <a:prstGeom prst="rect">
            <a:avLst/>
          </a:prstGeom>
          <a:noFill/>
          <a:ln/>
        </p:spPr>
        <p:txBody>
          <a:bodyPr wrap="square" lIns="0" tIns="0" rIns="0" bIns="0" rtlCol="0" anchor="ctr"/>
          <a:lstStyle/>
          <a:p>
            <a:pPr marL="0" indent="0">
              <a:buNone/>
            </a:pPr>
            <a:r>
              <a:rPr lang="en-US" sz="1500" b="1" dirty="0">
                <a:solidFill>
                  <a:srgbClr val="1F3864"/>
                </a:solidFill>
                <a:latin typeface="Cambria" pitchFamily="34" charset="0"/>
                <a:ea typeface="Cambria" pitchFamily="34" charset="-122"/>
                <a:cs typeface="Cambria" pitchFamily="34" charset="-120"/>
              </a:rPr>
              <a:t>Claves a destacar</a:t>
            </a:r>
            <a:endParaRPr lang="en-US" sz="1500" dirty="0"/>
          </a:p>
        </p:txBody>
      </p:sp>
      <p:sp>
        <p:nvSpPr>
          <p:cNvPr id="12" name="Text 9"/>
          <p:cNvSpPr/>
          <p:nvPr/>
        </p:nvSpPr>
        <p:spPr>
          <a:xfrm>
            <a:off x="7818120" y="1938528"/>
            <a:ext cx="3703320" cy="3931920"/>
          </a:xfrm>
          <a:prstGeom prst="rect">
            <a:avLst/>
          </a:prstGeom>
          <a:noFill/>
          <a:ln/>
        </p:spPr>
        <p:txBody>
          <a:bodyPr wrap="square" lIns="0" tIns="0" rIns="0" bIns="0" rtlCol="0" anchor="t"/>
          <a:lstStyle/>
          <a:p>
            <a:pPr marL="177800" indent="-177800" algn="l">
              <a:spcAft>
                <a:spcPts val="700"/>
              </a:spcAft>
              <a:buSzPct val="100000"/>
              <a:buChar char="•"/>
            </a:pPr>
            <a:r>
              <a:rPr lang="en-US" sz="1150" b="1" dirty="0">
                <a:solidFill>
                  <a:srgbClr val="1B2430"/>
                </a:solidFill>
                <a:latin typeface="Calibri" pitchFamily="34" charset="0"/>
                <a:ea typeface="Calibri" pitchFamily="34" charset="-122"/>
                <a:cs typeface="Calibri" pitchFamily="34" charset="-120"/>
              </a:rPr>
              <a:t>services: cada bloque es un contenedor del sistema.</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build: . construye la imagen de app desde el Dockerfile local.</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image: usa una imagen ya publicada (db y gateway).</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healthcheck + depends_on: app espera a que db este sana.</a:t>
            </a:r>
            <a:endParaRPr lang="en-US" sz="1150" dirty="0"/>
          </a:p>
          <a:p>
            <a:pPr marL="177800" indent="-177800" algn="l">
              <a:spcAft>
                <a:spcPts val="700"/>
              </a:spcAft>
              <a:buSzPct val="100000"/>
              <a:buChar char="•"/>
            </a:pPr>
            <a:r>
              <a:rPr lang="en-US" sz="1150" b="1" dirty="0">
                <a:solidFill>
                  <a:srgbClr val="2E5EAA"/>
                </a:solidFill>
                <a:latin typeface="Calibri" pitchFamily="34" charset="0"/>
                <a:ea typeface="Calibri" pitchFamily="34" charset="-122"/>
                <a:cs typeface="Calibri" pitchFamily="34" charset="-120"/>
              </a:rPr>
              <a:t>networks: red interna; los servicios se ven por su nombre (DNS interno).</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ports: solo el gateway se publica al exterior (8080).</a:t>
            </a:r>
            <a:endParaRPr lang="en-US" sz="1150" dirty="0"/>
          </a:p>
        </p:txBody>
      </p:sp>
      <p:sp>
        <p:nvSpPr>
          <p:cNvPr id="14" name="Text 10"/>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5" name="Text 1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2E5EAA"/>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2E5EAA"/>
                </a:solidFill>
                <a:latin typeface="Calibri" pitchFamily="34" charset="0"/>
                <a:ea typeface="Calibri" pitchFamily="34" charset="-122"/>
                <a:cs typeface="Calibri" pitchFamily="34" charset="-120"/>
              </a:rPr>
              <a:t>SUBTEMA 2 - PRACTICA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Levantar el stack y escalarlo</a:t>
            </a:r>
            <a:endParaRPr lang="en-US" sz="2600" dirty="0"/>
          </a:p>
        </p:txBody>
      </p:sp>
      <p:sp>
        <p:nvSpPr>
          <p:cNvPr id="6" name="Shape 3"/>
          <p:cNvSpPr/>
          <p:nvPr/>
        </p:nvSpPr>
        <p:spPr>
          <a:xfrm>
            <a:off x="548640" y="1481328"/>
            <a:ext cx="5486400" cy="2788920"/>
          </a:xfrm>
          <a:prstGeom prst="roundRect">
            <a:avLst>
              <a:gd name="adj" fmla="val 2951"/>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Text 4"/>
          <p:cNvSpPr/>
          <p:nvPr/>
        </p:nvSpPr>
        <p:spPr>
          <a:xfrm>
            <a:off x="731520" y="1591056"/>
            <a:ext cx="4572000" cy="274320"/>
          </a:xfrm>
          <a:prstGeom prst="rect">
            <a:avLst/>
          </a:prstGeom>
          <a:noFill/>
          <a:ln/>
        </p:spPr>
        <p:txBody>
          <a:bodyPr wrap="square" lIns="0" tIns="0" rIns="0" bIns="0" rtlCol="0" anchor="ctr"/>
          <a:lstStyle/>
          <a:p>
            <a:pPr marL="0" indent="0">
              <a:buNone/>
            </a:pPr>
            <a:r>
              <a:rPr lang="en-US" sz="1200" b="1" kern="0" spc="100" dirty="0">
                <a:solidFill>
                  <a:srgbClr val="5B6B7B"/>
                </a:solidFill>
                <a:latin typeface="Calibri" pitchFamily="34" charset="0"/>
                <a:ea typeface="Calibri" pitchFamily="34" charset="-122"/>
                <a:cs typeface="Calibri" pitchFamily="34" charset="-120"/>
              </a:rPr>
              <a:t>Topologia del stack</a:t>
            </a:r>
            <a:endParaRPr lang="en-US" sz="1200" dirty="0"/>
          </a:p>
        </p:txBody>
      </p:sp>
      <p:sp>
        <p:nvSpPr>
          <p:cNvPr id="8" name="Shape 5"/>
          <p:cNvSpPr/>
          <p:nvPr/>
        </p:nvSpPr>
        <p:spPr>
          <a:xfrm>
            <a:off x="2331720" y="1965960"/>
            <a:ext cx="1828800" cy="566928"/>
          </a:xfrm>
          <a:prstGeom prst="roundRect">
            <a:avLst>
              <a:gd name="adj" fmla="val 12903"/>
            </a:avLst>
          </a:prstGeom>
          <a:solidFill>
            <a:srgbClr val="1F3864"/>
          </a:solidFill>
          <a:ln/>
          <a:effectLst>
            <a:outerShdw blurRad="88900" dist="38100" dir="5400000" algn="bl" rotWithShape="0">
              <a:srgbClr val="000000">
                <a:alpha val="16000"/>
              </a:srgbClr>
            </a:outerShdw>
          </a:effectLst>
        </p:spPr>
      </p:sp>
      <p:sp>
        <p:nvSpPr>
          <p:cNvPr id="9" name="Text 6"/>
          <p:cNvSpPr/>
          <p:nvPr/>
        </p:nvSpPr>
        <p:spPr>
          <a:xfrm>
            <a:off x="2377440" y="1965960"/>
            <a:ext cx="1737360"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gateway (Nginx)</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8080:80</a:t>
            </a:r>
            <a:endParaRPr lang="en-US" sz="1150" dirty="0"/>
          </a:p>
        </p:txBody>
      </p:sp>
      <p:sp>
        <p:nvSpPr>
          <p:cNvPr id="10" name="Shape 7"/>
          <p:cNvSpPr/>
          <p:nvPr/>
        </p:nvSpPr>
        <p:spPr>
          <a:xfrm>
            <a:off x="3246120" y="2542032"/>
            <a:ext cx="0" cy="292608"/>
          </a:xfrm>
          <a:prstGeom prst="line">
            <a:avLst/>
          </a:prstGeom>
          <a:noFill/>
          <a:ln w="25400">
            <a:solidFill>
              <a:srgbClr val="5B6B7B"/>
            </a:solidFill>
            <a:prstDash val="solid"/>
            <a:tailEnd type="triangle"/>
          </a:ln>
        </p:spPr>
      </p:sp>
      <p:sp>
        <p:nvSpPr>
          <p:cNvPr id="11" name="Shape 8"/>
          <p:cNvSpPr/>
          <p:nvPr/>
        </p:nvSpPr>
        <p:spPr>
          <a:xfrm>
            <a:off x="2331720" y="2852928"/>
            <a:ext cx="1828800" cy="566928"/>
          </a:xfrm>
          <a:prstGeom prst="roundRect">
            <a:avLst>
              <a:gd name="adj" fmla="val 12903"/>
            </a:avLst>
          </a:prstGeom>
          <a:solidFill>
            <a:srgbClr val="0F8C8C"/>
          </a:solidFill>
          <a:ln/>
          <a:effectLst>
            <a:outerShdw blurRad="88900" dist="38100" dir="5400000" algn="bl" rotWithShape="0">
              <a:srgbClr val="000000">
                <a:alpha val="16000"/>
              </a:srgbClr>
            </a:outerShdw>
          </a:effectLst>
        </p:spPr>
      </p:sp>
      <p:sp>
        <p:nvSpPr>
          <p:cNvPr id="12" name="Text 9"/>
          <p:cNvSpPr/>
          <p:nvPr/>
        </p:nvSpPr>
        <p:spPr>
          <a:xfrm>
            <a:off x="2377440" y="2852928"/>
            <a:ext cx="1737360"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app (svc-estudiantes)</a:t>
            </a:r>
            <a:endParaRPr lang="en-US" sz="1150" dirty="0"/>
          </a:p>
        </p:txBody>
      </p:sp>
      <p:sp>
        <p:nvSpPr>
          <p:cNvPr id="13" name="Shape 10"/>
          <p:cNvSpPr/>
          <p:nvPr/>
        </p:nvSpPr>
        <p:spPr>
          <a:xfrm>
            <a:off x="3246120" y="3438144"/>
            <a:ext cx="0" cy="292608"/>
          </a:xfrm>
          <a:prstGeom prst="line">
            <a:avLst/>
          </a:prstGeom>
          <a:noFill/>
          <a:ln w="25400">
            <a:solidFill>
              <a:srgbClr val="5B6B7B"/>
            </a:solidFill>
            <a:prstDash val="solid"/>
            <a:tailEnd type="triangle"/>
          </a:ln>
        </p:spPr>
      </p:sp>
      <p:sp>
        <p:nvSpPr>
          <p:cNvPr id="14" name="Shape 11"/>
          <p:cNvSpPr/>
          <p:nvPr/>
        </p:nvSpPr>
        <p:spPr>
          <a:xfrm>
            <a:off x="2331720" y="3730752"/>
            <a:ext cx="1828800" cy="457200"/>
          </a:xfrm>
          <a:prstGeom prst="roundRect">
            <a:avLst>
              <a:gd name="adj" fmla="val 16000"/>
            </a:avLst>
          </a:prstGeom>
          <a:solidFill>
            <a:srgbClr val="007F47"/>
          </a:solidFill>
          <a:ln/>
          <a:effectLst>
            <a:outerShdw blurRad="88900" dist="38100" dir="5400000" algn="bl" rotWithShape="0">
              <a:srgbClr val="000000">
                <a:alpha val="16000"/>
              </a:srgbClr>
            </a:outerShdw>
          </a:effectLst>
        </p:spPr>
      </p:sp>
      <p:sp>
        <p:nvSpPr>
          <p:cNvPr id="15" name="Text 12"/>
          <p:cNvSpPr/>
          <p:nvPr/>
        </p:nvSpPr>
        <p:spPr>
          <a:xfrm>
            <a:off x="2377440" y="3730752"/>
            <a:ext cx="173736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db (Postgres)</a:t>
            </a:r>
            <a:endParaRPr lang="en-US" sz="1150" dirty="0"/>
          </a:p>
        </p:txBody>
      </p:sp>
      <p:sp>
        <p:nvSpPr>
          <p:cNvPr id="16" name="Text 13"/>
          <p:cNvSpPr/>
          <p:nvPr/>
        </p:nvSpPr>
        <p:spPr>
          <a:xfrm>
            <a:off x="731520" y="4114800"/>
            <a:ext cx="5120640" cy="274320"/>
          </a:xfrm>
          <a:prstGeom prst="rect">
            <a:avLst/>
          </a:prstGeom>
          <a:noFill/>
          <a:ln/>
        </p:spPr>
        <p:txBody>
          <a:bodyPr wrap="square" lIns="0" tIns="0" rIns="0" bIns="0" rtlCol="0" anchor="ctr"/>
          <a:lstStyle/>
          <a:p>
            <a:pPr marL="0" indent="0" algn="ctr">
              <a:buNone/>
            </a:pPr>
            <a:r>
              <a:rPr lang="en-US" sz="1050" i="1" dirty="0">
                <a:solidFill>
                  <a:srgbClr val="2E5EAA"/>
                </a:solidFill>
                <a:latin typeface="Calibri" pitchFamily="34" charset="0"/>
                <a:ea typeface="Calibri" pitchFamily="34" charset="-122"/>
                <a:cs typeface="Calibri" pitchFamily="34" charset="-120"/>
              </a:rPr>
              <a:t>Red interna: backend</a:t>
            </a:r>
            <a:endParaRPr lang="en-US" sz="1050" dirty="0"/>
          </a:p>
        </p:txBody>
      </p:sp>
      <p:sp>
        <p:nvSpPr>
          <p:cNvPr id="17" name="Shape 14"/>
          <p:cNvSpPr/>
          <p:nvPr/>
        </p:nvSpPr>
        <p:spPr>
          <a:xfrm>
            <a:off x="6263640" y="1481328"/>
            <a:ext cx="5440680" cy="2788920"/>
          </a:xfrm>
          <a:prstGeom prst="roundRect">
            <a:avLst>
              <a:gd name="adj" fmla="val 1967"/>
            </a:avLst>
          </a:prstGeom>
          <a:solidFill>
            <a:srgbClr val="0E1726"/>
          </a:solidFill>
          <a:ln/>
          <a:effectLst>
            <a:outerShdw blurRad="88900" dist="38100" dir="5400000" algn="bl" rotWithShape="0">
              <a:srgbClr val="000000">
                <a:alpha val="16000"/>
              </a:srgbClr>
            </a:outerShdw>
          </a:effectLst>
        </p:spPr>
      </p:sp>
      <p:sp>
        <p:nvSpPr>
          <p:cNvPr id="18" name="Shape 15"/>
          <p:cNvSpPr/>
          <p:nvPr/>
        </p:nvSpPr>
        <p:spPr>
          <a:xfrm>
            <a:off x="6263640" y="1481328"/>
            <a:ext cx="5440680" cy="310896"/>
          </a:xfrm>
          <a:prstGeom prst="roundRect">
            <a:avLst>
              <a:gd name="adj" fmla="val 17647"/>
            </a:avLst>
          </a:prstGeom>
          <a:solidFill>
            <a:srgbClr val="2E5EAA"/>
          </a:solidFill>
          <a:ln/>
        </p:spPr>
      </p:sp>
      <p:sp>
        <p:nvSpPr>
          <p:cNvPr id="19" name="Text 16"/>
          <p:cNvSpPr/>
          <p:nvPr/>
        </p:nvSpPr>
        <p:spPr>
          <a:xfrm>
            <a:off x="6409944" y="1499616"/>
            <a:ext cx="516636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PowerShell</a:t>
            </a:r>
            <a:endParaRPr lang="en-US" sz="1050" dirty="0"/>
          </a:p>
        </p:txBody>
      </p:sp>
      <p:sp>
        <p:nvSpPr>
          <p:cNvPr id="20" name="Text 17"/>
          <p:cNvSpPr/>
          <p:nvPr/>
        </p:nvSpPr>
        <p:spPr>
          <a:xfrm>
            <a:off x="6409944" y="1883664"/>
            <a:ext cx="5166360" cy="2295144"/>
          </a:xfrm>
          <a:prstGeom prst="rect">
            <a:avLst/>
          </a:prstGeom>
          <a:noFill/>
          <a:ln/>
        </p:spPr>
        <p:txBody>
          <a:bodyPr wrap="square" lIns="0" tIns="0" rIns="0" bIns="0" rtlCol="0" anchor="t"/>
          <a:lstStyle/>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Levantar todo el stack en segundo plano</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compose up -d --build</a:t>
            </a: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Ver el estado de los servicios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compose ps</a:t>
            </a: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Escalar la aplicacion a 3 replicas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compose up -d --scale app=3</a:t>
            </a: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Derribar todo (contenedores y red)</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docker compose down</a:t>
            </a:r>
            <a:endParaRPr lang="en-US" sz="1050" dirty="0"/>
          </a:p>
        </p:txBody>
      </p:sp>
      <p:sp>
        <p:nvSpPr>
          <p:cNvPr id="21" name="Shape 18"/>
          <p:cNvSpPr/>
          <p:nvPr/>
        </p:nvSpPr>
        <p:spPr>
          <a:xfrm>
            <a:off x="548640" y="4480560"/>
            <a:ext cx="11155680" cy="1554480"/>
          </a:xfrm>
          <a:prstGeom prst="roundRect">
            <a:avLst>
              <a:gd name="adj" fmla="val 5294"/>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22" name="Shape 19"/>
          <p:cNvSpPr/>
          <p:nvPr/>
        </p:nvSpPr>
        <p:spPr>
          <a:xfrm>
            <a:off x="777240" y="4709160"/>
            <a:ext cx="530352" cy="530352"/>
          </a:xfrm>
          <a:prstGeom prst="ellipse">
            <a:avLst/>
          </a:prstGeom>
          <a:solidFill>
            <a:srgbClr val="2E5EAA"/>
          </a:solidFill>
          <a:ln/>
        </p:spPr>
      </p:sp>
      <p:pic>
        <p:nvPicPr>
          <p:cNvPr id="23" name="Image 1" descr="preencoded.png"/>
          <p:cNvPicPr>
            <a:picLocks noChangeAspect="1"/>
          </p:cNvPicPr>
          <p:nvPr/>
        </p:nvPicPr>
        <p:blipFill>
          <a:blip r:embed="rId4"/>
          <a:stretch>
            <a:fillRect/>
          </a:stretch>
        </p:blipFill>
        <p:spPr>
          <a:xfrm>
            <a:off x="915132" y="4847052"/>
            <a:ext cx="254569" cy="254569"/>
          </a:xfrm>
          <a:prstGeom prst="rect">
            <a:avLst/>
          </a:prstGeom>
        </p:spPr>
      </p:pic>
      <p:sp>
        <p:nvSpPr>
          <p:cNvPr id="24" name="Text 20"/>
          <p:cNvSpPr/>
          <p:nvPr/>
        </p:nvSpPr>
        <p:spPr>
          <a:xfrm>
            <a:off x="1417320" y="4681728"/>
            <a:ext cx="3657600" cy="411480"/>
          </a:xfrm>
          <a:prstGeom prst="rect">
            <a:avLst/>
          </a:prstGeom>
          <a:noFill/>
          <a:ln/>
        </p:spPr>
        <p:txBody>
          <a:bodyPr wrap="square" lIns="0" tIns="0" rIns="0" bIns="0" rtlCol="0" anchor="ctr"/>
          <a:lstStyle/>
          <a:p>
            <a:pPr marL="0" indent="0">
              <a:buNone/>
            </a:pPr>
            <a:r>
              <a:rPr lang="en-US" sz="1400" b="1" dirty="0">
                <a:solidFill>
                  <a:srgbClr val="2E5EAA"/>
                </a:solidFill>
                <a:latin typeface="Cambria" pitchFamily="34" charset="0"/>
                <a:ea typeface="Cambria" pitchFamily="34" charset="-122"/>
                <a:cs typeface="Cambria" pitchFamily="34" charset="-120"/>
              </a:rPr>
              <a:t>En IntelliJ IDEA</a:t>
            </a:r>
            <a:endParaRPr lang="en-US" sz="1400" dirty="0"/>
          </a:p>
        </p:txBody>
      </p:sp>
      <p:sp>
        <p:nvSpPr>
          <p:cNvPr id="25" name="Text 21"/>
          <p:cNvSpPr/>
          <p:nvPr/>
        </p:nvSpPr>
        <p:spPr>
          <a:xfrm>
            <a:off x="1417320" y="5120640"/>
            <a:ext cx="4937760" cy="868680"/>
          </a:xfrm>
          <a:prstGeom prst="rect">
            <a:avLst/>
          </a:prstGeom>
          <a:noFill/>
          <a:ln/>
        </p:spPr>
        <p:txBody>
          <a:bodyPr wrap="square" lIns="0" tIns="0" rIns="0" bIns="0" rtlCol="0" anchor="t"/>
          <a:lstStyle/>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Abrir compose.yaml: aparece el icono de play en el margen (gutter).</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Ejecutar levanta el stack y abre la pestana Services.</a:t>
            </a:r>
            <a:endParaRPr lang="en-US" sz="1150" dirty="0"/>
          </a:p>
        </p:txBody>
      </p:sp>
      <p:sp>
        <p:nvSpPr>
          <p:cNvPr id="26" name="Text 22"/>
          <p:cNvSpPr/>
          <p:nvPr/>
        </p:nvSpPr>
        <p:spPr>
          <a:xfrm>
            <a:off x="6492240" y="5120640"/>
            <a:ext cx="5029200" cy="868680"/>
          </a:xfrm>
          <a:prstGeom prst="rect">
            <a:avLst/>
          </a:prstGeom>
          <a:noFill/>
          <a:ln/>
        </p:spPr>
        <p:txBody>
          <a:bodyPr wrap="square" lIns="0" tIns="0" rIns="0" bIns="0" rtlCol="0" anchor="t"/>
          <a:lstStyle/>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Desde Services: ver logs por servicio, reiniciar o detener cada uno.</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Botones de escalado y acceso directo a la terminal del contenedor.</a:t>
            </a:r>
            <a:endParaRPr lang="en-US" sz="1150" dirty="0"/>
          </a:p>
        </p:txBody>
      </p:sp>
      <p:sp>
        <p:nvSpPr>
          <p:cNvPr id="28" name="Text 23"/>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29" name="Text 2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1188720" y="4023360"/>
            <a:ext cx="4206240" cy="4206240"/>
          </a:xfrm>
          <a:prstGeom prst="ellipse">
            <a:avLst/>
          </a:prstGeom>
          <a:solidFill>
            <a:srgbClr val="FFFFFF">
              <a:alpha val="7000"/>
            </a:srgbClr>
          </a:solidFill>
          <a:ln/>
        </p:spPr>
      </p:sp>
      <p:sp>
        <p:nvSpPr>
          <p:cNvPr id="3" name="Shape 1"/>
          <p:cNvSpPr/>
          <p:nvPr/>
        </p:nvSpPr>
        <p:spPr>
          <a:xfrm>
            <a:off x="10058400" y="-1371600"/>
            <a:ext cx="3840480" cy="3840480"/>
          </a:xfrm>
          <a:prstGeom prst="ellipse">
            <a:avLst/>
          </a:prstGeom>
          <a:solidFill>
            <a:srgbClr val="007F47">
              <a:alpha val="18000"/>
            </a:srgbClr>
          </a:solidFill>
          <a:ln/>
        </p:spPr>
      </p:sp>
      <p:sp>
        <p:nvSpPr>
          <p:cNvPr id="4" name="Shape 2"/>
          <p:cNvSpPr/>
          <p:nvPr/>
        </p:nvSpPr>
        <p:spPr>
          <a:xfrm>
            <a:off x="914400" y="2240280"/>
            <a:ext cx="1371600" cy="1371600"/>
          </a:xfrm>
          <a:prstGeom prst="ellipse">
            <a:avLst/>
          </a:prstGeom>
          <a:solidFill>
            <a:srgbClr val="007F47"/>
          </a:solidFill>
          <a:ln/>
        </p:spPr>
      </p:sp>
      <p:pic>
        <p:nvPicPr>
          <p:cNvPr id="5" name="Image 0" descr="preencoded.png"/>
          <p:cNvPicPr>
            <a:picLocks noChangeAspect="1"/>
          </p:cNvPicPr>
          <p:nvPr/>
        </p:nvPicPr>
        <p:blipFill>
          <a:blip r:embed="rId3"/>
          <a:stretch>
            <a:fillRect/>
          </a:stretch>
        </p:blipFill>
        <p:spPr>
          <a:xfrm>
            <a:off x="1271016" y="2596896"/>
            <a:ext cx="658368" cy="658368"/>
          </a:xfrm>
          <a:prstGeom prst="rect">
            <a:avLst/>
          </a:prstGeom>
        </p:spPr>
      </p:pic>
      <p:sp>
        <p:nvSpPr>
          <p:cNvPr id="6" name="Text 3"/>
          <p:cNvSpPr/>
          <p:nvPr/>
        </p:nvSpPr>
        <p:spPr>
          <a:xfrm>
            <a:off x="2743200" y="2240280"/>
            <a:ext cx="8229600" cy="457200"/>
          </a:xfrm>
          <a:prstGeom prst="rect">
            <a:avLst/>
          </a:prstGeom>
          <a:noFill/>
          <a:ln/>
        </p:spPr>
        <p:txBody>
          <a:bodyPr wrap="square" lIns="0" tIns="0" rIns="0" bIns="0" rtlCol="0" anchor="ctr"/>
          <a:lstStyle/>
          <a:p>
            <a:pPr marL="0" indent="0">
              <a:buNone/>
            </a:pPr>
            <a:r>
              <a:rPr lang="en-US" sz="1600" b="1" kern="0" spc="300" dirty="0">
                <a:solidFill>
                  <a:srgbClr val="7FE3E3"/>
                </a:solidFill>
                <a:latin typeface="Calibri" pitchFamily="34" charset="0"/>
                <a:ea typeface="Calibri" pitchFamily="34" charset="-122"/>
                <a:cs typeface="Calibri" pitchFamily="34" charset="-120"/>
              </a:rPr>
              <a:t>SUBTEMA 3</a:t>
            </a:r>
            <a:endParaRPr lang="en-US" sz="1600" dirty="0"/>
          </a:p>
        </p:txBody>
      </p:sp>
      <p:sp>
        <p:nvSpPr>
          <p:cNvPr id="7" name="Text 4"/>
          <p:cNvSpPr/>
          <p:nvPr/>
        </p:nvSpPr>
        <p:spPr>
          <a:xfrm>
            <a:off x="2697480" y="2651760"/>
            <a:ext cx="8778240" cy="12801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Introduccion a Kubernetes: pods, deployments y services</a:t>
            </a:r>
            <a:endParaRPr lang="en-US" sz="3400" dirty="0"/>
          </a:p>
        </p:txBody>
      </p:sp>
      <p:sp>
        <p:nvSpPr>
          <p:cNvPr id="8" name="Text 5"/>
          <p:cNvSpPr/>
          <p:nvPr/>
        </p:nvSpPr>
        <p:spPr>
          <a:xfrm>
            <a:off x="2743200" y="3977640"/>
            <a:ext cx="8503920" cy="731520"/>
          </a:xfrm>
          <a:prstGeom prst="rect">
            <a:avLst/>
          </a:prstGeom>
          <a:noFill/>
          <a:ln/>
        </p:spPr>
        <p:txBody>
          <a:bodyPr wrap="square" lIns="0" tIns="0" rIns="0" bIns="0" rtlCol="0" anchor="ctr"/>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Cuando los contenedores se cuentan por decenas y deben sobrevivir a fallos, escalarse solos y actualizarse sin caidas, hace falta un orquestador. Kubernetes (K8s) es el estandar de facto.</a:t>
            </a:r>
            <a:endParaRPr lang="en-US" sz="15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1" name="Text 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007F47"/>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007F47"/>
                </a:solidFill>
                <a:latin typeface="Calibri" pitchFamily="34" charset="0"/>
                <a:ea typeface="Calibri" pitchFamily="34" charset="-122"/>
                <a:cs typeface="Calibri" pitchFamily="34" charset="-120"/>
              </a:rPr>
              <a:t>SUBTEMA 3 - ARQUITECTURA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Plano de control y nodos de trabajo</a:t>
            </a:r>
            <a:endParaRPr lang="en-US" sz="2600" dirty="0"/>
          </a:p>
        </p:txBody>
      </p:sp>
      <p:sp>
        <p:nvSpPr>
          <p:cNvPr id="6" name="Shape 3"/>
          <p:cNvSpPr/>
          <p:nvPr/>
        </p:nvSpPr>
        <p:spPr>
          <a:xfrm>
            <a:off x="548640" y="1481328"/>
            <a:ext cx="5349240" cy="4526280"/>
          </a:xfrm>
          <a:prstGeom prst="roundRect">
            <a:avLst>
              <a:gd name="adj" fmla="val 1818"/>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7" name="Text 4"/>
          <p:cNvSpPr/>
          <p:nvPr/>
        </p:nvSpPr>
        <p:spPr>
          <a:xfrm>
            <a:off x="777240" y="1645920"/>
            <a:ext cx="4937760" cy="365760"/>
          </a:xfrm>
          <a:prstGeom prst="rect">
            <a:avLst/>
          </a:prstGeom>
          <a:noFill/>
          <a:ln/>
        </p:spPr>
        <p:txBody>
          <a:bodyPr wrap="square" lIns="0" tIns="0" rIns="0" bIns="0" rtlCol="0" anchor="ctr"/>
          <a:lstStyle/>
          <a:p>
            <a:pPr marL="0" indent="0">
              <a:buNone/>
            </a:pPr>
            <a:r>
              <a:rPr lang="en-US" sz="1550" b="1" dirty="0">
                <a:solidFill>
                  <a:srgbClr val="007F47"/>
                </a:solidFill>
                <a:latin typeface="Cambria" pitchFamily="34" charset="0"/>
                <a:ea typeface="Cambria" pitchFamily="34" charset="-122"/>
                <a:cs typeface="Cambria" pitchFamily="34" charset="-120"/>
              </a:rPr>
              <a:t>Plano de control (Control Plane)</a:t>
            </a:r>
            <a:endParaRPr lang="en-US" sz="1550" dirty="0"/>
          </a:p>
        </p:txBody>
      </p:sp>
      <p:sp>
        <p:nvSpPr>
          <p:cNvPr id="8" name="Text 5"/>
          <p:cNvSpPr/>
          <p:nvPr/>
        </p:nvSpPr>
        <p:spPr>
          <a:xfrm>
            <a:off x="777240" y="2011680"/>
            <a:ext cx="4937760" cy="274320"/>
          </a:xfrm>
          <a:prstGeom prst="rect">
            <a:avLst/>
          </a:prstGeom>
          <a:noFill/>
          <a:ln/>
        </p:spPr>
        <p:txBody>
          <a:bodyPr wrap="square" lIns="0" tIns="0" rIns="0" bIns="0" rtlCol="0" anchor="ctr"/>
          <a:lstStyle/>
          <a:p>
            <a:pPr marL="0" indent="0">
              <a:buNone/>
            </a:pPr>
            <a:r>
              <a:rPr lang="en-US" sz="1150" i="1" dirty="0">
                <a:solidFill>
                  <a:srgbClr val="5B6B7B"/>
                </a:solidFill>
                <a:latin typeface="Calibri" pitchFamily="34" charset="0"/>
                <a:ea typeface="Calibri" pitchFamily="34" charset="-122"/>
                <a:cs typeface="Calibri" pitchFamily="34" charset="-120"/>
              </a:rPr>
              <a:t>El cerebro: decide que debe ejecutarse y donde.</a:t>
            </a:r>
            <a:endParaRPr lang="en-US" sz="1150" dirty="0"/>
          </a:p>
        </p:txBody>
      </p:sp>
      <p:sp>
        <p:nvSpPr>
          <p:cNvPr id="9" name="Shape 6"/>
          <p:cNvSpPr/>
          <p:nvPr/>
        </p:nvSpPr>
        <p:spPr>
          <a:xfrm>
            <a:off x="777240" y="2377440"/>
            <a:ext cx="4892040" cy="804672"/>
          </a:xfrm>
          <a:prstGeom prst="roundRect">
            <a:avLst>
              <a:gd name="adj" fmla="val 6818"/>
            </a:avLst>
          </a:prstGeom>
          <a:solidFill>
            <a:srgbClr val="FFFFFF"/>
          </a:solidFill>
          <a:ln w="12700">
            <a:solidFill>
              <a:srgbClr val="D7DEE8"/>
            </a:solidFill>
            <a:prstDash val="solid"/>
          </a:ln>
        </p:spPr>
      </p:sp>
      <p:sp>
        <p:nvSpPr>
          <p:cNvPr id="10" name="Text 7"/>
          <p:cNvSpPr/>
          <p:nvPr/>
        </p:nvSpPr>
        <p:spPr>
          <a:xfrm>
            <a:off x="914400" y="2450592"/>
            <a:ext cx="4572000" cy="292608"/>
          </a:xfrm>
          <a:prstGeom prst="rect">
            <a:avLst/>
          </a:prstGeom>
          <a:noFill/>
          <a:ln/>
        </p:spPr>
        <p:txBody>
          <a:bodyPr wrap="square" lIns="0" tIns="0" rIns="0" bIns="0" rtlCol="0" anchor="ctr"/>
          <a:lstStyle/>
          <a:p>
            <a:pPr marL="0" indent="0">
              <a:buNone/>
            </a:pPr>
            <a:r>
              <a:rPr lang="en-US" sz="1250" b="1" dirty="0">
                <a:solidFill>
                  <a:srgbClr val="1F3864"/>
                </a:solidFill>
                <a:latin typeface="Cambria" pitchFamily="34" charset="0"/>
                <a:ea typeface="Cambria" pitchFamily="34" charset="-122"/>
                <a:cs typeface="Cambria" pitchFamily="34" charset="-120"/>
              </a:rPr>
              <a:t>API Server</a:t>
            </a:r>
            <a:endParaRPr lang="en-US" sz="1250" dirty="0"/>
          </a:p>
        </p:txBody>
      </p:sp>
      <p:sp>
        <p:nvSpPr>
          <p:cNvPr id="11" name="Text 8"/>
          <p:cNvSpPr/>
          <p:nvPr/>
        </p:nvSpPr>
        <p:spPr>
          <a:xfrm>
            <a:off x="914400" y="2743200"/>
            <a:ext cx="4617720" cy="384048"/>
          </a:xfrm>
          <a:prstGeom prst="rect">
            <a:avLst/>
          </a:prstGeom>
          <a:noFill/>
          <a:ln/>
        </p:spPr>
        <p:txBody>
          <a:bodyPr wrap="square" lIns="0" tIns="0" rIns="0" bIns="0" rtlCol="0" anchor="ctr"/>
          <a:lstStyle/>
          <a:p>
            <a:pPr marL="0" indent="0">
              <a:lnSpc>
                <a:spcPct val="95000"/>
              </a:lnSpc>
              <a:buNone/>
            </a:pPr>
            <a:r>
              <a:rPr lang="en-US" sz="1050" dirty="0">
                <a:solidFill>
                  <a:srgbClr val="1B2430"/>
                </a:solidFill>
                <a:latin typeface="Calibri" pitchFamily="34" charset="0"/>
                <a:ea typeface="Calibri" pitchFamily="34" charset="-122"/>
                <a:cs typeface="Calibri" pitchFamily="34" charset="-120"/>
              </a:rPr>
              <a:t>Punto de entrada; recibe todas las ordenes (kubectl).</a:t>
            </a:r>
            <a:endParaRPr lang="en-US" sz="1050" dirty="0"/>
          </a:p>
        </p:txBody>
      </p:sp>
      <p:sp>
        <p:nvSpPr>
          <p:cNvPr id="12" name="Shape 9"/>
          <p:cNvSpPr/>
          <p:nvPr/>
        </p:nvSpPr>
        <p:spPr>
          <a:xfrm>
            <a:off x="777240" y="3264408"/>
            <a:ext cx="4892040" cy="804672"/>
          </a:xfrm>
          <a:prstGeom prst="roundRect">
            <a:avLst>
              <a:gd name="adj" fmla="val 6818"/>
            </a:avLst>
          </a:prstGeom>
          <a:solidFill>
            <a:srgbClr val="FFFFFF"/>
          </a:solidFill>
          <a:ln w="12700">
            <a:solidFill>
              <a:srgbClr val="D7DEE8"/>
            </a:solidFill>
            <a:prstDash val="solid"/>
          </a:ln>
        </p:spPr>
      </p:sp>
      <p:sp>
        <p:nvSpPr>
          <p:cNvPr id="13" name="Text 10"/>
          <p:cNvSpPr/>
          <p:nvPr/>
        </p:nvSpPr>
        <p:spPr>
          <a:xfrm>
            <a:off x="914400" y="3337560"/>
            <a:ext cx="4572000" cy="292608"/>
          </a:xfrm>
          <a:prstGeom prst="rect">
            <a:avLst/>
          </a:prstGeom>
          <a:noFill/>
          <a:ln/>
        </p:spPr>
        <p:txBody>
          <a:bodyPr wrap="square" lIns="0" tIns="0" rIns="0" bIns="0" rtlCol="0" anchor="ctr"/>
          <a:lstStyle/>
          <a:p>
            <a:pPr marL="0" indent="0">
              <a:buNone/>
            </a:pPr>
            <a:r>
              <a:rPr lang="en-US" sz="1250" b="1" dirty="0">
                <a:solidFill>
                  <a:srgbClr val="1F3864"/>
                </a:solidFill>
                <a:latin typeface="Cambria" pitchFamily="34" charset="0"/>
                <a:ea typeface="Cambria" pitchFamily="34" charset="-122"/>
                <a:cs typeface="Cambria" pitchFamily="34" charset="-120"/>
              </a:rPr>
              <a:t>Scheduler</a:t>
            </a:r>
            <a:endParaRPr lang="en-US" sz="1250" dirty="0"/>
          </a:p>
        </p:txBody>
      </p:sp>
      <p:sp>
        <p:nvSpPr>
          <p:cNvPr id="14" name="Text 11"/>
          <p:cNvSpPr/>
          <p:nvPr/>
        </p:nvSpPr>
        <p:spPr>
          <a:xfrm>
            <a:off x="914400" y="3630168"/>
            <a:ext cx="4617720" cy="384048"/>
          </a:xfrm>
          <a:prstGeom prst="rect">
            <a:avLst/>
          </a:prstGeom>
          <a:noFill/>
          <a:ln/>
        </p:spPr>
        <p:txBody>
          <a:bodyPr wrap="square" lIns="0" tIns="0" rIns="0" bIns="0" rtlCol="0" anchor="ctr"/>
          <a:lstStyle/>
          <a:p>
            <a:pPr marL="0" indent="0">
              <a:lnSpc>
                <a:spcPct val="95000"/>
              </a:lnSpc>
              <a:buNone/>
            </a:pPr>
            <a:r>
              <a:rPr lang="en-US" sz="1050" dirty="0">
                <a:solidFill>
                  <a:srgbClr val="1B2430"/>
                </a:solidFill>
                <a:latin typeface="Calibri" pitchFamily="34" charset="0"/>
                <a:ea typeface="Calibri" pitchFamily="34" charset="-122"/>
                <a:cs typeface="Calibri" pitchFamily="34" charset="-120"/>
              </a:rPr>
              <a:t>Decide en que nodo colocar cada pod.</a:t>
            </a:r>
            <a:endParaRPr lang="en-US" sz="1050" dirty="0"/>
          </a:p>
        </p:txBody>
      </p:sp>
      <p:sp>
        <p:nvSpPr>
          <p:cNvPr id="15" name="Shape 12"/>
          <p:cNvSpPr/>
          <p:nvPr/>
        </p:nvSpPr>
        <p:spPr>
          <a:xfrm>
            <a:off x="777240" y="4151376"/>
            <a:ext cx="4892040" cy="804672"/>
          </a:xfrm>
          <a:prstGeom prst="roundRect">
            <a:avLst>
              <a:gd name="adj" fmla="val 6818"/>
            </a:avLst>
          </a:prstGeom>
          <a:solidFill>
            <a:srgbClr val="FFFFFF"/>
          </a:solidFill>
          <a:ln w="12700">
            <a:solidFill>
              <a:srgbClr val="D7DEE8"/>
            </a:solidFill>
            <a:prstDash val="solid"/>
          </a:ln>
        </p:spPr>
      </p:sp>
      <p:sp>
        <p:nvSpPr>
          <p:cNvPr id="16" name="Text 13"/>
          <p:cNvSpPr/>
          <p:nvPr/>
        </p:nvSpPr>
        <p:spPr>
          <a:xfrm>
            <a:off x="914400" y="4224528"/>
            <a:ext cx="4572000" cy="292608"/>
          </a:xfrm>
          <a:prstGeom prst="rect">
            <a:avLst/>
          </a:prstGeom>
          <a:noFill/>
          <a:ln/>
        </p:spPr>
        <p:txBody>
          <a:bodyPr wrap="square" lIns="0" tIns="0" rIns="0" bIns="0" rtlCol="0" anchor="ctr"/>
          <a:lstStyle/>
          <a:p>
            <a:pPr marL="0" indent="0">
              <a:buNone/>
            </a:pPr>
            <a:r>
              <a:rPr lang="en-US" sz="1250" b="1" dirty="0">
                <a:solidFill>
                  <a:srgbClr val="1F3864"/>
                </a:solidFill>
                <a:latin typeface="Cambria" pitchFamily="34" charset="0"/>
                <a:ea typeface="Cambria" pitchFamily="34" charset="-122"/>
                <a:cs typeface="Cambria" pitchFamily="34" charset="-120"/>
              </a:rPr>
              <a:t>Controller Manager</a:t>
            </a:r>
            <a:endParaRPr lang="en-US" sz="1250" dirty="0"/>
          </a:p>
        </p:txBody>
      </p:sp>
      <p:sp>
        <p:nvSpPr>
          <p:cNvPr id="17" name="Text 14"/>
          <p:cNvSpPr/>
          <p:nvPr/>
        </p:nvSpPr>
        <p:spPr>
          <a:xfrm>
            <a:off x="914400" y="4517136"/>
            <a:ext cx="4617720" cy="384048"/>
          </a:xfrm>
          <a:prstGeom prst="rect">
            <a:avLst/>
          </a:prstGeom>
          <a:noFill/>
          <a:ln/>
        </p:spPr>
        <p:txBody>
          <a:bodyPr wrap="square" lIns="0" tIns="0" rIns="0" bIns="0" rtlCol="0" anchor="ctr"/>
          <a:lstStyle/>
          <a:p>
            <a:pPr marL="0" indent="0">
              <a:lnSpc>
                <a:spcPct val="95000"/>
              </a:lnSpc>
              <a:buNone/>
            </a:pPr>
            <a:r>
              <a:rPr lang="en-US" sz="1050" dirty="0">
                <a:solidFill>
                  <a:srgbClr val="1B2430"/>
                </a:solidFill>
                <a:latin typeface="Calibri" pitchFamily="34" charset="0"/>
                <a:ea typeface="Calibri" pitchFamily="34" charset="-122"/>
                <a:cs typeface="Calibri" pitchFamily="34" charset="-120"/>
              </a:rPr>
              <a:t>Reconcilia el estado real con el deseado.</a:t>
            </a:r>
            <a:endParaRPr lang="en-US" sz="1050" dirty="0"/>
          </a:p>
        </p:txBody>
      </p:sp>
      <p:sp>
        <p:nvSpPr>
          <p:cNvPr id="18" name="Shape 15"/>
          <p:cNvSpPr/>
          <p:nvPr/>
        </p:nvSpPr>
        <p:spPr>
          <a:xfrm>
            <a:off x="777240" y="5038344"/>
            <a:ext cx="4892040" cy="804672"/>
          </a:xfrm>
          <a:prstGeom prst="roundRect">
            <a:avLst>
              <a:gd name="adj" fmla="val 6818"/>
            </a:avLst>
          </a:prstGeom>
          <a:solidFill>
            <a:srgbClr val="FFFFFF"/>
          </a:solidFill>
          <a:ln w="12700">
            <a:solidFill>
              <a:srgbClr val="D7DEE8"/>
            </a:solidFill>
            <a:prstDash val="solid"/>
          </a:ln>
        </p:spPr>
      </p:sp>
      <p:sp>
        <p:nvSpPr>
          <p:cNvPr id="19" name="Text 16"/>
          <p:cNvSpPr/>
          <p:nvPr/>
        </p:nvSpPr>
        <p:spPr>
          <a:xfrm>
            <a:off x="914400" y="5111496"/>
            <a:ext cx="4572000" cy="292608"/>
          </a:xfrm>
          <a:prstGeom prst="rect">
            <a:avLst/>
          </a:prstGeom>
          <a:noFill/>
          <a:ln/>
        </p:spPr>
        <p:txBody>
          <a:bodyPr wrap="square" lIns="0" tIns="0" rIns="0" bIns="0" rtlCol="0" anchor="ctr"/>
          <a:lstStyle/>
          <a:p>
            <a:pPr marL="0" indent="0">
              <a:buNone/>
            </a:pPr>
            <a:r>
              <a:rPr lang="en-US" sz="1250" b="1" dirty="0">
                <a:solidFill>
                  <a:srgbClr val="1F3864"/>
                </a:solidFill>
                <a:latin typeface="Cambria" pitchFamily="34" charset="0"/>
                <a:ea typeface="Cambria" pitchFamily="34" charset="-122"/>
                <a:cs typeface="Cambria" pitchFamily="34" charset="-120"/>
              </a:rPr>
              <a:t>etcd</a:t>
            </a:r>
            <a:endParaRPr lang="en-US" sz="1250" dirty="0"/>
          </a:p>
        </p:txBody>
      </p:sp>
      <p:sp>
        <p:nvSpPr>
          <p:cNvPr id="20" name="Text 17"/>
          <p:cNvSpPr/>
          <p:nvPr/>
        </p:nvSpPr>
        <p:spPr>
          <a:xfrm>
            <a:off x="914400" y="5404104"/>
            <a:ext cx="4617720" cy="384048"/>
          </a:xfrm>
          <a:prstGeom prst="rect">
            <a:avLst/>
          </a:prstGeom>
          <a:noFill/>
          <a:ln/>
        </p:spPr>
        <p:txBody>
          <a:bodyPr wrap="square" lIns="0" tIns="0" rIns="0" bIns="0" rtlCol="0" anchor="ctr"/>
          <a:lstStyle/>
          <a:p>
            <a:pPr marL="0" indent="0">
              <a:lnSpc>
                <a:spcPct val="95000"/>
              </a:lnSpc>
              <a:buNone/>
            </a:pPr>
            <a:r>
              <a:rPr lang="en-US" sz="1050" dirty="0">
                <a:solidFill>
                  <a:srgbClr val="1B2430"/>
                </a:solidFill>
                <a:latin typeface="Calibri" pitchFamily="34" charset="0"/>
                <a:ea typeface="Calibri" pitchFamily="34" charset="-122"/>
                <a:cs typeface="Calibri" pitchFamily="34" charset="-120"/>
              </a:rPr>
              <a:t>Almacen clave-valor con el estado del cluster.</a:t>
            </a:r>
            <a:endParaRPr lang="en-US" sz="1050" dirty="0"/>
          </a:p>
        </p:txBody>
      </p:sp>
      <p:sp>
        <p:nvSpPr>
          <p:cNvPr id="21" name="Shape 18"/>
          <p:cNvSpPr/>
          <p:nvPr/>
        </p:nvSpPr>
        <p:spPr>
          <a:xfrm>
            <a:off x="6172200" y="1481328"/>
            <a:ext cx="5532120" cy="4526280"/>
          </a:xfrm>
          <a:prstGeom prst="roundRect">
            <a:avLst>
              <a:gd name="adj" fmla="val 1818"/>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22" name="Text 19"/>
          <p:cNvSpPr/>
          <p:nvPr/>
        </p:nvSpPr>
        <p:spPr>
          <a:xfrm>
            <a:off x="6400800" y="1645920"/>
            <a:ext cx="5120640" cy="365760"/>
          </a:xfrm>
          <a:prstGeom prst="rect">
            <a:avLst/>
          </a:prstGeom>
          <a:noFill/>
          <a:ln/>
        </p:spPr>
        <p:txBody>
          <a:bodyPr wrap="square" lIns="0" tIns="0" rIns="0" bIns="0" rtlCol="0" anchor="ctr"/>
          <a:lstStyle/>
          <a:p>
            <a:pPr marL="0" indent="0">
              <a:buNone/>
            </a:pPr>
            <a:r>
              <a:rPr lang="en-US" sz="1550" b="1" dirty="0">
                <a:solidFill>
                  <a:srgbClr val="2E5EAA"/>
                </a:solidFill>
                <a:latin typeface="Cambria" pitchFamily="34" charset="0"/>
                <a:ea typeface="Cambria" pitchFamily="34" charset="-122"/>
                <a:cs typeface="Cambria" pitchFamily="34" charset="-120"/>
              </a:rPr>
              <a:t>Nodos de trabajo (Worker Nodes)</a:t>
            </a:r>
            <a:endParaRPr lang="en-US" sz="1550" dirty="0"/>
          </a:p>
        </p:txBody>
      </p:sp>
      <p:sp>
        <p:nvSpPr>
          <p:cNvPr id="23" name="Text 20"/>
          <p:cNvSpPr/>
          <p:nvPr/>
        </p:nvSpPr>
        <p:spPr>
          <a:xfrm>
            <a:off x="6400800" y="2011680"/>
            <a:ext cx="5120640" cy="274320"/>
          </a:xfrm>
          <a:prstGeom prst="rect">
            <a:avLst/>
          </a:prstGeom>
          <a:noFill/>
          <a:ln/>
        </p:spPr>
        <p:txBody>
          <a:bodyPr wrap="square" lIns="0" tIns="0" rIns="0" bIns="0" rtlCol="0" anchor="ctr"/>
          <a:lstStyle/>
          <a:p>
            <a:pPr marL="0" indent="0">
              <a:buNone/>
            </a:pPr>
            <a:r>
              <a:rPr lang="en-US" sz="1150" i="1" dirty="0">
                <a:solidFill>
                  <a:srgbClr val="5B6B7B"/>
                </a:solidFill>
                <a:latin typeface="Calibri" pitchFamily="34" charset="0"/>
                <a:ea typeface="Calibri" pitchFamily="34" charset="-122"/>
                <a:cs typeface="Calibri" pitchFamily="34" charset="-120"/>
              </a:rPr>
              <a:t>Los musculos: aqui se ejecutan los contenedores.</a:t>
            </a:r>
            <a:endParaRPr lang="en-US" sz="1150" dirty="0"/>
          </a:p>
        </p:txBody>
      </p:sp>
      <p:sp>
        <p:nvSpPr>
          <p:cNvPr id="24" name="Shape 21"/>
          <p:cNvSpPr/>
          <p:nvPr/>
        </p:nvSpPr>
        <p:spPr>
          <a:xfrm>
            <a:off x="6400800" y="2395728"/>
            <a:ext cx="2377440" cy="2377440"/>
          </a:xfrm>
          <a:prstGeom prst="roundRect">
            <a:avLst>
              <a:gd name="adj" fmla="val 2308"/>
            </a:avLst>
          </a:prstGeom>
          <a:solidFill>
            <a:srgbClr val="FFFFFF"/>
          </a:solidFill>
          <a:ln w="15875">
            <a:solidFill>
              <a:srgbClr val="2E5EAA"/>
            </a:solidFill>
            <a:prstDash val="solid"/>
          </a:ln>
        </p:spPr>
      </p:sp>
      <p:sp>
        <p:nvSpPr>
          <p:cNvPr id="25" name="Text 22"/>
          <p:cNvSpPr/>
          <p:nvPr/>
        </p:nvSpPr>
        <p:spPr>
          <a:xfrm>
            <a:off x="6510528" y="2468880"/>
            <a:ext cx="2103120" cy="274320"/>
          </a:xfrm>
          <a:prstGeom prst="rect">
            <a:avLst/>
          </a:prstGeom>
          <a:noFill/>
          <a:ln/>
        </p:spPr>
        <p:txBody>
          <a:bodyPr wrap="square" lIns="0" tIns="0" rIns="0" bIns="0" rtlCol="0" anchor="ctr"/>
          <a:lstStyle/>
          <a:p>
            <a:pPr marL="0" indent="0">
              <a:buNone/>
            </a:pPr>
            <a:r>
              <a:rPr lang="en-US" sz="1100" b="1" dirty="0">
                <a:solidFill>
                  <a:srgbClr val="2E5EAA"/>
                </a:solidFill>
                <a:latin typeface="Calibri" pitchFamily="34" charset="0"/>
                <a:ea typeface="Calibri" pitchFamily="34" charset="-122"/>
                <a:cs typeface="Calibri" pitchFamily="34" charset="-120"/>
              </a:rPr>
              <a:t>Nodo</a:t>
            </a:r>
            <a:endParaRPr lang="en-US" sz="1100" dirty="0"/>
          </a:p>
        </p:txBody>
      </p:sp>
      <p:sp>
        <p:nvSpPr>
          <p:cNvPr id="26" name="Text 23"/>
          <p:cNvSpPr/>
          <p:nvPr/>
        </p:nvSpPr>
        <p:spPr>
          <a:xfrm>
            <a:off x="6510528" y="2724912"/>
            <a:ext cx="2157984" cy="237744"/>
          </a:xfrm>
          <a:prstGeom prst="rect">
            <a:avLst/>
          </a:prstGeom>
          <a:noFill/>
          <a:ln/>
        </p:spPr>
        <p:txBody>
          <a:bodyPr wrap="square" lIns="0" tIns="0" rIns="0" bIns="0" rtlCol="0" anchor="ctr"/>
          <a:lstStyle/>
          <a:p>
            <a:pPr marL="0" indent="0">
              <a:buNone/>
            </a:pPr>
            <a:r>
              <a:rPr lang="en-US" sz="850" dirty="0">
                <a:solidFill>
                  <a:srgbClr val="5B6B7B"/>
                </a:solidFill>
                <a:latin typeface="Consolas" pitchFamily="34" charset="0"/>
                <a:ea typeface="Consolas" pitchFamily="34" charset="-122"/>
                <a:cs typeface="Consolas" pitchFamily="34" charset="-120"/>
              </a:rPr>
              <a:t>kubelet  -  kube-proxy</a:t>
            </a:r>
            <a:endParaRPr lang="en-US" sz="850" dirty="0"/>
          </a:p>
        </p:txBody>
      </p:sp>
      <p:sp>
        <p:nvSpPr>
          <p:cNvPr id="27" name="Shape 24"/>
          <p:cNvSpPr/>
          <p:nvPr/>
        </p:nvSpPr>
        <p:spPr>
          <a:xfrm>
            <a:off x="6583680" y="3063240"/>
            <a:ext cx="914400" cy="1463040"/>
          </a:xfrm>
          <a:prstGeom prst="roundRect">
            <a:avLst>
              <a:gd name="adj" fmla="val 6000"/>
            </a:avLst>
          </a:prstGeom>
          <a:solidFill>
            <a:srgbClr val="E3EEFB"/>
          </a:solidFill>
          <a:ln w="12700">
            <a:solidFill>
              <a:srgbClr val="2E5EAA"/>
            </a:solidFill>
            <a:prstDash val="solid"/>
          </a:ln>
        </p:spPr>
      </p:sp>
      <p:sp>
        <p:nvSpPr>
          <p:cNvPr id="28" name="Text 25"/>
          <p:cNvSpPr/>
          <p:nvPr/>
        </p:nvSpPr>
        <p:spPr>
          <a:xfrm>
            <a:off x="6583680" y="3127248"/>
            <a:ext cx="914400" cy="256032"/>
          </a:xfrm>
          <a:prstGeom prst="rect">
            <a:avLst/>
          </a:prstGeom>
          <a:noFill/>
          <a:ln/>
        </p:spPr>
        <p:txBody>
          <a:bodyPr wrap="square" lIns="0" tIns="0" rIns="0" bIns="0" rtlCol="0" anchor="ctr"/>
          <a:lstStyle/>
          <a:p>
            <a:pPr marL="0" indent="0" algn="ctr">
              <a:buNone/>
            </a:pPr>
            <a:r>
              <a:rPr lang="en-US" sz="950" b="1" dirty="0">
                <a:solidFill>
                  <a:srgbClr val="2E5EAA"/>
                </a:solidFill>
                <a:latin typeface="Calibri" pitchFamily="34" charset="0"/>
                <a:ea typeface="Calibri" pitchFamily="34" charset="-122"/>
                <a:cs typeface="Calibri" pitchFamily="34" charset="-120"/>
              </a:rPr>
              <a:t>Pod</a:t>
            </a:r>
            <a:endParaRPr lang="en-US" sz="950" dirty="0"/>
          </a:p>
        </p:txBody>
      </p:sp>
      <p:sp>
        <p:nvSpPr>
          <p:cNvPr id="29" name="Shape 26"/>
          <p:cNvSpPr/>
          <p:nvPr/>
        </p:nvSpPr>
        <p:spPr>
          <a:xfrm>
            <a:off x="6748272" y="3456432"/>
            <a:ext cx="585216" cy="914400"/>
          </a:xfrm>
          <a:prstGeom prst="roundRect">
            <a:avLst>
              <a:gd name="adj" fmla="val 7813"/>
            </a:avLst>
          </a:prstGeom>
          <a:solidFill>
            <a:srgbClr val="0F8C8C"/>
          </a:solidFill>
          <a:ln/>
        </p:spPr>
      </p:sp>
      <p:sp>
        <p:nvSpPr>
          <p:cNvPr id="30" name="Text 27"/>
          <p:cNvSpPr/>
          <p:nvPr/>
        </p:nvSpPr>
        <p:spPr>
          <a:xfrm>
            <a:off x="6748272" y="3456432"/>
            <a:ext cx="585216" cy="91440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ctr</a:t>
            </a:r>
            <a:endParaRPr lang="en-US" sz="850" dirty="0"/>
          </a:p>
        </p:txBody>
      </p:sp>
      <p:sp>
        <p:nvSpPr>
          <p:cNvPr id="31" name="Shape 28"/>
          <p:cNvSpPr/>
          <p:nvPr/>
        </p:nvSpPr>
        <p:spPr>
          <a:xfrm>
            <a:off x="7662672" y="3063240"/>
            <a:ext cx="914400" cy="1463040"/>
          </a:xfrm>
          <a:prstGeom prst="roundRect">
            <a:avLst>
              <a:gd name="adj" fmla="val 6000"/>
            </a:avLst>
          </a:prstGeom>
          <a:solidFill>
            <a:srgbClr val="E3EEFB"/>
          </a:solidFill>
          <a:ln w="12700">
            <a:solidFill>
              <a:srgbClr val="2E5EAA"/>
            </a:solidFill>
            <a:prstDash val="solid"/>
          </a:ln>
        </p:spPr>
      </p:sp>
      <p:sp>
        <p:nvSpPr>
          <p:cNvPr id="32" name="Text 29"/>
          <p:cNvSpPr/>
          <p:nvPr/>
        </p:nvSpPr>
        <p:spPr>
          <a:xfrm>
            <a:off x="7662672" y="3127248"/>
            <a:ext cx="914400" cy="256032"/>
          </a:xfrm>
          <a:prstGeom prst="rect">
            <a:avLst/>
          </a:prstGeom>
          <a:noFill/>
          <a:ln/>
        </p:spPr>
        <p:txBody>
          <a:bodyPr wrap="square" lIns="0" tIns="0" rIns="0" bIns="0" rtlCol="0" anchor="ctr"/>
          <a:lstStyle/>
          <a:p>
            <a:pPr marL="0" indent="0" algn="ctr">
              <a:buNone/>
            </a:pPr>
            <a:r>
              <a:rPr lang="en-US" sz="950" b="1" dirty="0">
                <a:solidFill>
                  <a:srgbClr val="2E5EAA"/>
                </a:solidFill>
                <a:latin typeface="Calibri" pitchFamily="34" charset="0"/>
                <a:ea typeface="Calibri" pitchFamily="34" charset="-122"/>
                <a:cs typeface="Calibri" pitchFamily="34" charset="-120"/>
              </a:rPr>
              <a:t>Pod</a:t>
            </a:r>
            <a:endParaRPr lang="en-US" sz="950" dirty="0"/>
          </a:p>
        </p:txBody>
      </p:sp>
      <p:sp>
        <p:nvSpPr>
          <p:cNvPr id="33" name="Shape 30"/>
          <p:cNvSpPr/>
          <p:nvPr/>
        </p:nvSpPr>
        <p:spPr>
          <a:xfrm>
            <a:off x="7827264" y="3456432"/>
            <a:ext cx="585216" cy="914400"/>
          </a:xfrm>
          <a:prstGeom prst="roundRect">
            <a:avLst>
              <a:gd name="adj" fmla="val 7813"/>
            </a:avLst>
          </a:prstGeom>
          <a:solidFill>
            <a:srgbClr val="0F8C8C"/>
          </a:solidFill>
          <a:ln/>
        </p:spPr>
      </p:sp>
      <p:sp>
        <p:nvSpPr>
          <p:cNvPr id="34" name="Text 31"/>
          <p:cNvSpPr/>
          <p:nvPr/>
        </p:nvSpPr>
        <p:spPr>
          <a:xfrm>
            <a:off x="7827264" y="3456432"/>
            <a:ext cx="585216" cy="91440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ctr</a:t>
            </a:r>
            <a:endParaRPr lang="en-US" sz="850" dirty="0"/>
          </a:p>
        </p:txBody>
      </p:sp>
      <p:sp>
        <p:nvSpPr>
          <p:cNvPr id="35" name="Shape 32"/>
          <p:cNvSpPr/>
          <p:nvPr/>
        </p:nvSpPr>
        <p:spPr>
          <a:xfrm>
            <a:off x="9098280" y="2395728"/>
            <a:ext cx="2377440" cy="2377440"/>
          </a:xfrm>
          <a:prstGeom prst="roundRect">
            <a:avLst>
              <a:gd name="adj" fmla="val 2308"/>
            </a:avLst>
          </a:prstGeom>
          <a:solidFill>
            <a:srgbClr val="FFFFFF"/>
          </a:solidFill>
          <a:ln w="15875">
            <a:solidFill>
              <a:srgbClr val="2E5EAA"/>
            </a:solidFill>
            <a:prstDash val="solid"/>
          </a:ln>
        </p:spPr>
      </p:sp>
      <p:sp>
        <p:nvSpPr>
          <p:cNvPr id="36" name="Text 33"/>
          <p:cNvSpPr/>
          <p:nvPr/>
        </p:nvSpPr>
        <p:spPr>
          <a:xfrm>
            <a:off x="9208008" y="2468880"/>
            <a:ext cx="2103120" cy="274320"/>
          </a:xfrm>
          <a:prstGeom prst="rect">
            <a:avLst/>
          </a:prstGeom>
          <a:noFill/>
          <a:ln/>
        </p:spPr>
        <p:txBody>
          <a:bodyPr wrap="square" lIns="0" tIns="0" rIns="0" bIns="0" rtlCol="0" anchor="ctr"/>
          <a:lstStyle/>
          <a:p>
            <a:pPr marL="0" indent="0">
              <a:buNone/>
            </a:pPr>
            <a:r>
              <a:rPr lang="en-US" sz="1100" b="1" dirty="0">
                <a:solidFill>
                  <a:srgbClr val="2E5EAA"/>
                </a:solidFill>
                <a:latin typeface="Calibri" pitchFamily="34" charset="0"/>
                <a:ea typeface="Calibri" pitchFamily="34" charset="-122"/>
                <a:cs typeface="Calibri" pitchFamily="34" charset="-120"/>
              </a:rPr>
              <a:t>Nodo</a:t>
            </a:r>
            <a:endParaRPr lang="en-US" sz="1100" dirty="0"/>
          </a:p>
        </p:txBody>
      </p:sp>
      <p:sp>
        <p:nvSpPr>
          <p:cNvPr id="37" name="Text 34"/>
          <p:cNvSpPr/>
          <p:nvPr/>
        </p:nvSpPr>
        <p:spPr>
          <a:xfrm>
            <a:off x="9208008" y="2724912"/>
            <a:ext cx="2157984" cy="237744"/>
          </a:xfrm>
          <a:prstGeom prst="rect">
            <a:avLst/>
          </a:prstGeom>
          <a:noFill/>
          <a:ln/>
        </p:spPr>
        <p:txBody>
          <a:bodyPr wrap="square" lIns="0" tIns="0" rIns="0" bIns="0" rtlCol="0" anchor="ctr"/>
          <a:lstStyle/>
          <a:p>
            <a:pPr marL="0" indent="0">
              <a:buNone/>
            </a:pPr>
            <a:r>
              <a:rPr lang="en-US" sz="850" dirty="0">
                <a:solidFill>
                  <a:srgbClr val="5B6B7B"/>
                </a:solidFill>
                <a:latin typeface="Consolas" pitchFamily="34" charset="0"/>
                <a:ea typeface="Consolas" pitchFamily="34" charset="-122"/>
                <a:cs typeface="Consolas" pitchFamily="34" charset="-120"/>
              </a:rPr>
              <a:t>kubelet  -  kube-proxy</a:t>
            </a:r>
            <a:endParaRPr lang="en-US" sz="850" dirty="0"/>
          </a:p>
        </p:txBody>
      </p:sp>
      <p:sp>
        <p:nvSpPr>
          <p:cNvPr id="38" name="Shape 35"/>
          <p:cNvSpPr/>
          <p:nvPr/>
        </p:nvSpPr>
        <p:spPr>
          <a:xfrm>
            <a:off x="9281160" y="3063240"/>
            <a:ext cx="914400" cy="1463040"/>
          </a:xfrm>
          <a:prstGeom prst="roundRect">
            <a:avLst>
              <a:gd name="adj" fmla="val 6000"/>
            </a:avLst>
          </a:prstGeom>
          <a:solidFill>
            <a:srgbClr val="E3EEFB"/>
          </a:solidFill>
          <a:ln w="12700">
            <a:solidFill>
              <a:srgbClr val="2E5EAA"/>
            </a:solidFill>
            <a:prstDash val="solid"/>
          </a:ln>
        </p:spPr>
      </p:sp>
      <p:sp>
        <p:nvSpPr>
          <p:cNvPr id="39" name="Text 36"/>
          <p:cNvSpPr/>
          <p:nvPr/>
        </p:nvSpPr>
        <p:spPr>
          <a:xfrm>
            <a:off x="9281160" y="3127248"/>
            <a:ext cx="914400" cy="256032"/>
          </a:xfrm>
          <a:prstGeom prst="rect">
            <a:avLst/>
          </a:prstGeom>
          <a:noFill/>
          <a:ln/>
        </p:spPr>
        <p:txBody>
          <a:bodyPr wrap="square" lIns="0" tIns="0" rIns="0" bIns="0" rtlCol="0" anchor="ctr"/>
          <a:lstStyle/>
          <a:p>
            <a:pPr marL="0" indent="0" algn="ctr">
              <a:buNone/>
            </a:pPr>
            <a:r>
              <a:rPr lang="en-US" sz="950" b="1" dirty="0">
                <a:solidFill>
                  <a:srgbClr val="2E5EAA"/>
                </a:solidFill>
                <a:latin typeface="Calibri" pitchFamily="34" charset="0"/>
                <a:ea typeface="Calibri" pitchFamily="34" charset="-122"/>
                <a:cs typeface="Calibri" pitchFamily="34" charset="-120"/>
              </a:rPr>
              <a:t>Pod</a:t>
            </a:r>
            <a:endParaRPr lang="en-US" sz="950" dirty="0"/>
          </a:p>
        </p:txBody>
      </p:sp>
      <p:sp>
        <p:nvSpPr>
          <p:cNvPr id="40" name="Shape 37"/>
          <p:cNvSpPr/>
          <p:nvPr/>
        </p:nvSpPr>
        <p:spPr>
          <a:xfrm>
            <a:off x="9445752" y="3456432"/>
            <a:ext cx="585216" cy="914400"/>
          </a:xfrm>
          <a:prstGeom prst="roundRect">
            <a:avLst>
              <a:gd name="adj" fmla="val 7813"/>
            </a:avLst>
          </a:prstGeom>
          <a:solidFill>
            <a:srgbClr val="0F8C8C"/>
          </a:solidFill>
          <a:ln/>
        </p:spPr>
      </p:sp>
      <p:sp>
        <p:nvSpPr>
          <p:cNvPr id="41" name="Text 38"/>
          <p:cNvSpPr/>
          <p:nvPr/>
        </p:nvSpPr>
        <p:spPr>
          <a:xfrm>
            <a:off x="9445752" y="3456432"/>
            <a:ext cx="585216" cy="91440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ctr</a:t>
            </a:r>
            <a:endParaRPr lang="en-US" sz="850" dirty="0"/>
          </a:p>
        </p:txBody>
      </p:sp>
      <p:sp>
        <p:nvSpPr>
          <p:cNvPr id="42" name="Shape 39"/>
          <p:cNvSpPr/>
          <p:nvPr/>
        </p:nvSpPr>
        <p:spPr>
          <a:xfrm>
            <a:off x="10360152" y="3063240"/>
            <a:ext cx="914400" cy="1463040"/>
          </a:xfrm>
          <a:prstGeom prst="roundRect">
            <a:avLst>
              <a:gd name="adj" fmla="val 6000"/>
            </a:avLst>
          </a:prstGeom>
          <a:solidFill>
            <a:srgbClr val="E3EEFB"/>
          </a:solidFill>
          <a:ln w="12700">
            <a:solidFill>
              <a:srgbClr val="2E5EAA"/>
            </a:solidFill>
            <a:prstDash val="solid"/>
          </a:ln>
        </p:spPr>
      </p:sp>
      <p:sp>
        <p:nvSpPr>
          <p:cNvPr id="43" name="Text 40"/>
          <p:cNvSpPr/>
          <p:nvPr/>
        </p:nvSpPr>
        <p:spPr>
          <a:xfrm>
            <a:off x="10360152" y="3127248"/>
            <a:ext cx="914400" cy="256032"/>
          </a:xfrm>
          <a:prstGeom prst="rect">
            <a:avLst/>
          </a:prstGeom>
          <a:noFill/>
          <a:ln/>
        </p:spPr>
        <p:txBody>
          <a:bodyPr wrap="square" lIns="0" tIns="0" rIns="0" bIns="0" rtlCol="0" anchor="ctr"/>
          <a:lstStyle/>
          <a:p>
            <a:pPr marL="0" indent="0" algn="ctr">
              <a:buNone/>
            </a:pPr>
            <a:r>
              <a:rPr lang="en-US" sz="950" b="1" dirty="0">
                <a:solidFill>
                  <a:srgbClr val="2E5EAA"/>
                </a:solidFill>
                <a:latin typeface="Calibri" pitchFamily="34" charset="0"/>
                <a:ea typeface="Calibri" pitchFamily="34" charset="-122"/>
                <a:cs typeface="Calibri" pitchFamily="34" charset="-120"/>
              </a:rPr>
              <a:t>Pod</a:t>
            </a:r>
            <a:endParaRPr lang="en-US" sz="950" dirty="0"/>
          </a:p>
        </p:txBody>
      </p:sp>
      <p:sp>
        <p:nvSpPr>
          <p:cNvPr id="44" name="Shape 41"/>
          <p:cNvSpPr/>
          <p:nvPr/>
        </p:nvSpPr>
        <p:spPr>
          <a:xfrm>
            <a:off x="10524744" y="3456432"/>
            <a:ext cx="585216" cy="914400"/>
          </a:xfrm>
          <a:prstGeom prst="roundRect">
            <a:avLst>
              <a:gd name="adj" fmla="val 7813"/>
            </a:avLst>
          </a:prstGeom>
          <a:solidFill>
            <a:srgbClr val="0F8C8C"/>
          </a:solidFill>
          <a:ln/>
        </p:spPr>
      </p:sp>
      <p:sp>
        <p:nvSpPr>
          <p:cNvPr id="45" name="Text 42"/>
          <p:cNvSpPr/>
          <p:nvPr/>
        </p:nvSpPr>
        <p:spPr>
          <a:xfrm>
            <a:off x="10524744" y="3456432"/>
            <a:ext cx="585216" cy="91440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ctr</a:t>
            </a:r>
            <a:endParaRPr lang="en-US" sz="850" dirty="0"/>
          </a:p>
        </p:txBody>
      </p:sp>
      <p:sp>
        <p:nvSpPr>
          <p:cNvPr id="46" name="Text 43"/>
          <p:cNvSpPr/>
          <p:nvPr/>
        </p:nvSpPr>
        <p:spPr>
          <a:xfrm>
            <a:off x="6400800" y="4919472"/>
            <a:ext cx="5166360" cy="457200"/>
          </a:xfrm>
          <a:prstGeom prst="rect">
            <a:avLst/>
          </a:prstGeom>
          <a:noFill/>
          <a:ln/>
        </p:spPr>
        <p:txBody>
          <a:bodyPr wrap="square" lIns="0" tIns="0" rIns="0" bIns="0" rtlCol="0" anchor="ctr"/>
          <a:lstStyle/>
          <a:p>
            <a:pPr marL="0" indent="0">
              <a:lnSpc>
                <a:spcPct val="95000"/>
              </a:lnSpc>
              <a:buNone/>
            </a:pPr>
            <a:r>
              <a:rPr lang="en-US" sz="1050" i="1" dirty="0">
                <a:solidFill>
                  <a:srgbClr val="007F47"/>
                </a:solidFill>
                <a:latin typeface="Calibri" pitchFamily="34" charset="0"/>
                <a:ea typeface="Calibri" pitchFamily="34" charset="-122"/>
                <a:cs typeface="Calibri" pitchFamily="34" charset="-120"/>
              </a:rPr>
              <a:t>El plano de control da ordenes (vinculo punteado) a los nodos; el kubelet de cada nodo las ejecuta.</a:t>
            </a:r>
            <a:endParaRPr lang="en-US" sz="1050" dirty="0"/>
          </a:p>
        </p:txBody>
      </p:sp>
      <p:sp>
        <p:nvSpPr>
          <p:cNvPr id="47" name="Shape 44"/>
          <p:cNvSpPr/>
          <p:nvPr/>
        </p:nvSpPr>
        <p:spPr>
          <a:xfrm>
            <a:off x="5897880" y="3657600"/>
            <a:ext cx="274320" cy="0"/>
          </a:xfrm>
          <a:prstGeom prst="line">
            <a:avLst/>
          </a:prstGeom>
          <a:noFill/>
          <a:ln w="25400">
            <a:solidFill>
              <a:srgbClr val="5B6B7B"/>
            </a:solidFill>
            <a:prstDash val="dash"/>
            <a:tailEnd type="triangle"/>
          </a:ln>
        </p:spPr>
      </p:sp>
      <p:sp>
        <p:nvSpPr>
          <p:cNvPr id="49" name="Text 45"/>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50" name="Text 4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007F47"/>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007F47"/>
                </a:solidFill>
                <a:latin typeface="Calibri" pitchFamily="34" charset="0"/>
                <a:ea typeface="Calibri" pitchFamily="34" charset="-122"/>
                <a:cs typeface="Calibri" pitchFamily="34" charset="-120"/>
              </a:rPr>
              <a:t>SUBTEMA 3 - OBJETOS</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Pod, Deployment y Service</a:t>
            </a:r>
            <a:endParaRPr lang="en-US" sz="2600" dirty="0"/>
          </a:p>
        </p:txBody>
      </p:sp>
      <p:sp>
        <p:nvSpPr>
          <p:cNvPr id="6" name="Shape 3"/>
          <p:cNvSpPr/>
          <p:nvPr/>
        </p:nvSpPr>
        <p:spPr>
          <a:xfrm>
            <a:off x="548640" y="1508760"/>
            <a:ext cx="3657600" cy="3703320"/>
          </a:xfrm>
          <a:prstGeom prst="roundRect">
            <a:avLst>
              <a:gd name="adj" fmla="val 2250"/>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7" name="Shape 4"/>
          <p:cNvSpPr/>
          <p:nvPr/>
        </p:nvSpPr>
        <p:spPr>
          <a:xfrm>
            <a:off x="1943100" y="1783080"/>
            <a:ext cx="868680" cy="868680"/>
          </a:xfrm>
          <a:prstGeom prst="ellipse">
            <a:avLst/>
          </a:prstGeom>
          <a:solidFill>
            <a:srgbClr val="0F8C8C"/>
          </a:solidFill>
          <a:ln/>
        </p:spPr>
      </p:sp>
      <p:pic>
        <p:nvPicPr>
          <p:cNvPr id="8" name="Image 1" descr="preencoded.png"/>
          <p:cNvPicPr>
            <a:picLocks noChangeAspect="1"/>
          </p:cNvPicPr>
          <p:nvPr/>
        </p:nvPicPr>
        <p:blipFill>
          <a:blip r:embed="rId4"/>
          <a:stretch>
            <a:fillRect/>
          </a:stretch>
        </p:blipFill>
        <p:spPr>
          <a:xfrm>
            <a:off x="2168957" y="2008937"/>
            <a:ext cx="416966" cy="416966"/>
          </a:xfrm>
          <a:prstGeom prst="rect">
            <a:avLst/>
          </a:prstGeom>
        </p:spPr>
      </p:pic>
      <p:sp>
        <p:nvSpPr>
          <p:cNvPr id="9" name="Text 5"/>
          <p:cNvSpPr/>
          <p:nvPr/>
        </p:nvSpPr>
        <p:spPr>
          <a:xfrm>
            <a:off x="731520" y="2788920"/>
            <a:ext cx="3291840" cy="411480"/>
          </a:xfrm>
          <a:prstGeom prst="rect">
            <a:avLst/>
          </a:prstGeom>
          <a:noFill/>
          <a:ln/>
        </p:spPr>
        <p:txBody>
          <a:bodyPr wrap="square" lIns="0" tIns="0" rIns="0" bIns="0" rtlCol="0" anchor="ctr"/>
          <a:lstStyle/>
          <a:p>
            <a:pPr marL="0" indent="0" algn="ctr">
              <a:buNone/>
            </a:pPr>
            <a:r>
              <a:rPr lang="en-US" sz="1900" b="1" dirty="0">
                <a:solidFill>
                  <a:srgbClr val="1F3864"/>
                </a:solidFill>
                <a:latin typeface="Cambria" pitchFamily="34" charset="0"/>
                <a:ea typeface="Cambria" pitchFamily="34" charset="-122"/>
                <a:cs typeface="Cambria" pitchFamily="34" charset="-120"/>
              </a:rPr>
              <a:t>Pod</a:t>
            </a:r>
            <a:endParaRPr lang="en-US" sz="1900" dirty="0"/>
          </a:p>
        </p:txBody>
      </p:sp>
      <p:sp>
        <p:nvSpPr>
          <p:cNvPr id="10" name="Text 6"/>
          <p:cNvSpPr/>
          <p:nvPr/>
        </p:nvSpPr>
        <p:spPr>
          <a:xfrm>
            <a:off x="822960" y="3246120"/>
            <a:ext cx="3108960" cy="1554480"/>
          </a:xfrm>
          <a:prstGeom prst="rect">
            <a:avLst/>
          </a:prstGeom>
          <a:noFill/>
          <a:ln/>
        </p:spPr>
        <p:txBody>
          <a:bodyPr wrap="square" lIns="0" tIns="0" rIns="0" bIns="0" rtlCol="0" anchor="ctr"/>
          <a:lstStyle/>
          <a:p>
            <a:pPr marL="0" indent="0" algn="ctr">
              <a:lnSpc>
                <a:spcPct val="105000"/>
              </a:lnSpc>
              <a:buNone/>
            </a:pPr>
            <a:r>
              <a:rPr lang="en-US" sz="1250" dirty="0">
                <a:solidFill>
                  <a:srgbClr val="1B2430"/>
                </a:solidFill>
                <a:latin typeface="Calibri" pitchFamily="34" charset="0"/>
                <a:ea typeface="Calibri" pitchFamily="34" charset="-122"/>
                <a:cs typeface="Calibri" pitchFamily="34" charset="-120"/>
              </a:rPr>
              <a:t>Unidad minima desplegable. Envuelve uno o mas contenedores que comparten red y almacenamiento. Es efimero: puede morir y ser reemplazado.</a:t>
            </a:r>
            <a:endParaRPr lang="en-US" sz="1250" dirty="0"/>
          </a:p>
        </p:txBody>
      </p:sp>
      <p:sp>
        <p:nvSpPr>
          <p:cNvPr id="11" name="Shape 7"/>
          <p:cNvSpPr/>
          <p:nvPr/>
        </p:nvSpPr>
        <p:spPr>
          <a:xfrm>
            <a:off x="4370832" y="1508760"/>
            <a:ext cx="3657600" cy="3703320"/>
          </a:xfrm>
          <a:prstGeom prst="roundRect">
            <a:avLst>
              <a:gd name="adj" fmla="val 2250"/>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12" name="Shape 8"/>
          <p:cNvSpPr/>
          <p:nvPr/>
        </p:nvSpPr>
        <p:spPr>
          <a:xfrm>
            <a:off x="5765292" y="1783080"/>
            <a:ext cx="868680" cy="868680"/>
          </a:xfrm>
          <a:prstGeom prst="ellipse">
            <a:avLst/>
          </a:prstGeom>
          <a:solidFill>
            <a:srgbClr val="2E5EAA"/>
          </a:solidFill>
          <a:ln/>
        </p:spPr>
      </p:sp>
      <p:pic>
        <p:nvPicPr>
          <p:cNvPr id="13" name="Image 2" descr="preencoded.png"/>
          <p:cNvPicPr>
            <a:picLocks noChangeAspect="1"/>
          </p:cNvPicPr>
          <p:nvPr/>
        </p:nvPicPr>
        <p:blipFill>
          <a:blip r:embed="rId5"/>
          <a:stretch>
            <a:fillRect/>
          </a:stretch>
        </p:blipFill>
        <p:spPr>
          <a:xfrm>
            <a:off x="5991149" y="2008937"/>
            <a:ext cx="416966" cy="416966"/>
          </a:xfrm>
          <a:prstGeom prst="rect">
            <a:avLst/>
          </a:prstGeom>
        </p:spPr>
      </p:pic>
      <p:sp>
        <p:nvSpPr>
          <p:cNvPr id="14" name="Text 9"/>
          <p:cNvSpPr/>
          <p:nvPr/>
        </p:nvSpPr>
        <p:spPr>
          <a:xfrm>
            <a:off x="4553712" y="2788920"/>
            <a:ext cx="3291840" cy="411480"/>
          </a:xfrm>
          <a:prstGeom prst="rect">
            <a:avLst/>
          </a:prstGeom>
          <a:noFill/>
          <a:ln/>
        </p:spPr>
        <p:txBody>
          <a:bodyPr wrap="square" lIns="0" tIns="0" rIns="0" bIns="0" rtlCol="0" anchor="ctr"/>
          <a:lstStyle/>
          <a:p>
            <a:pPr marL="0" indent="0" algn="ctr">
              <a:buNone/>
            </a:pPr>
            <a:r>
              <a:rPr lang="en-US" sz="1900" b="1" dirty="0">
                <a:solidFill>
                  <a:srgbClr val="1F3864"/>
                </a:solidFill>
                <a:latin typeface="Cambria" pitchFamily="34" charset="0"/>
                <a:ea typeface="Cambria" pitchFamily="34" charset="-122"/>
                <a:cs typeface="Cambria" pitchFamily="34" charset="-120"/>
              </a:rPr>
              <a:t>Deployment</a:t>
            </a:r>
            <a:endParaRPr lang="en-US" sz="1900" dirty="0"/>
          </a:p>
        </p:txBody>
      </p:sp>
      <p:sp>
        <p:nvSpPr>
          <p:cNvPr id="15" name="Text 10"/>
          <p:cNvSpPr/>
          <p:nvPr/>
        </p:nvSpPr>
        <p:spPr>
          <a:xfrm>
            <a:off x="4645152" y="3246120"/>
            <a:ext cx="3108960" cy="1554480"/>
          </a:xfrm>
          <a:prstGeom prst="rect">
            <a:avLst/>
          </a:prstGeom>
          <a:noFill/>
          <a:ln/>
        </p:spPr>
        <p:txBody>
          <a:bodyPr wrap="square" lIns="0" tIns="0" rIns="0" bIns="0" rtlCol="0" anchor="ctr"/>
          <a:lstStyle/>
          <a:p>
            <a:pPr marL="0" indent="0" algn="ctr">
              <a:lnSpc>
                <a:spcPct val="105000"/>
              </a:lnSpc>
              <a:buNone/>
            </a:pPr>
            <a:r>
              <a:rPr lang="en-US" sz="1250" dirty="0">
                <a:solidFill>
                  <a:srgbClr val="1B2430"/>
                </a:solidFill>
                <a:latin typeface="Calibri" pitchFamily="34" charset="0"/>
                <a:ea typeface="Calibri" pitchFamily="34" charset="-122"/>
                <a:cs typeface="Calibri" pitchFamily="34" charset="-120"/>
              </a:rPr>
              <a:t>Declara cuantas replicas de un pod deben existir y gestiona su ciclo de vida: escalado, autorreparacion y actualizaciones controladas.</a:t>
            </a:r>
            <a:endParaRPr lang="en-US" sz="1250" dirty="0"/>
          </a:p>
        </p:txBody>
      </p:sp>
      <p:sp>
        <p:nvSpPr>
          <p:cNvPr id="16" name="Shape 11"/>
          <p:cNvSpPr/>
          <p:nvPr/>
        </p:nvSpPr>
        <p:spPr>
          <a:xfrm>
            <a:off x="8193024" y="1508760"/>
            <a:ext cx="3657600" cy="3703320"/>
          </a:xfrm>
          <a:prstGeom prst="roundRect">
            <a:avLst>
              <a:gd name="adj" fmla="val 2250"/>
            </a:avLst>
          </a:prstGeom>
          <a:solidFill>
            <a:srgbClr val="FFFFFF"/>
          </a:solidFill>
          <a:ln w="12700">
            <a:solidFill>
              <a:srgbClr val="D7DEE8"/>
            </a:solidFill>
            <a:prstDash val="solid"/>
          </a:ln>
          <a:effectLst>
            <a:outerShdw blurRad="88900" dist="38100" dir="5400000" algn="bl" rotWithShape="0">
              <a:srgbClr val="000000">
                <a:alpha val="16000"/>
              </a:srgbClr>
            </a:outerShdw>
          </a:effectLst>
        </p:spPr>
      </p:sp>
      <p:sp>
        <p:nvSpPr>
          <p:cNvPr id="17" name="Shape 12"/>
          <p:cNvSpPr/>
          <p:nvPr/>
        </p:nvSpPr>
        <p:spPr>
          <a:xfrm>
            <a:off x="9587484" y="1783080"/>
            <a:ext cx="868680" cy="868680"/>
          </a:xfrm>
          <a:prstGeom prst="ellipse">
            <a:avLst/>
          </a:prstGeom>
          <a:solidFill>
            <a:srgbClr val="007F47"/>
          </a:solidFill>
          <a:ln/>
        </p:spPr>
      </p:sp>
      <p:pic>
        <p:nvPicPr>
          <p:cNvPr id="18" name="Image 3" descr="preencoded.png"/>
          <p:cNvPicPr>
            <a:picLocks noChangeAspect="1"/>
          </p:cNvPicPr>
          <p:nvPr/>
        </p:nvPicPr>
        <p:blipFill>
          <a:blip r:embed="rId6"/>
          <a:stretch>
            <a:fillRect/>
          </a:stretch>
        </p:blipFill>
        <p:spPr>
          <a:xfrm>
            <a:off x="9813341" y="2008937"/>
            <a:ext cx="416966" cy="416966"/>
          </a:xfrm>
          <a:prstGeom prst="rect">
            <a:avLst/>
          </a:prstGeom>
        </p:spPr>
      </p:pic>
      <p:sp>
        <p:nvSpPr>
          <p:cNvPr id="19" name="Text 13"/>
          <p:cNvSpPr/>
          <p:nvPr/>
        </p:nvSpPr>
        <p:spPr>
          <a:xfrm>
            <a:off x="8375904" y="2788920"/>
            <a:ext cx="3291840" cy="411480"/>
          </a:xfrm>
          <a:prstGeom prst="rect">
            <a:avLst/>
          </a:prstGeom>
          <a:noFill/>
          <a:ln/>
        </p:spPr>
        <p:txBody>
          <a:bodyPr wrap="square" lIns="0" tIns="0" rIns="0" bIns="0" rtlCol="0" anchor="ctr"/>
          <a:lstStyle/>
          <a:p>
            <a:pPr marL="0" indent="0" algn="ctr">
              <a:buNone/>
            </a:pPr>
            <a:r>
              <a:rPr lang="en-US" sz="1900" b="1" dirty="0">
                <a:solidFill>
                  <a:srgbClr val="1F3864"/>
                </a:solidFill>
                <a:latin typeface="Cambria" pitchFamily="34" charset="0"/>
                <a:ea typeface="Cambria" pitchFamily="34" charset="-122"/>
                <a:cs typeface="Cambria" pitchFamily="34" charset="-120"/>
              </a:rPr>
              <a:t>Service</a:t>
            </a:r>
            <a:endParaRPr lang="en-US" sz="1900" dirty="0"/>
          </a:p>
        </p:txBody>
      </p:sp>
      <p:sp>
        <p:nvSpPr>
          <p:cNvPr id="20" name="Text 14"/>
          <p:cNvSpPr/>
          <p:nvPr/>
        </p:nvSpPr>
        <p:spPr>
          <a:xfrm>
            <a:off x="8467344" y="3246120"/>
            <a:ext cx="3108960" cy="1554480"/>
          </a:xfrm>
          <a:prstGeom prst="rect">
            <a:avLst/>
          </a:prstGeom>
          <a:noFill/>
          <a:ln/>
        </p:spPr>
        <p:txBody>
          <a:bodyPr wrap="square" lIns="0" tIns="0" rIns="0" bIns="0" rtlCol="0" anchor="ctr"/>
          <a:lstStyle/>
          <a:p>
            <a:pPr marL="0" indent="0" algn="ctr">
              <a:lnSpc>
                <a:spcPct val="105000"/>
              </a:lnSpc>
              <a:buNone/>
            </a:pPr>
            <a:r>
              <a:rPr lang="en-US" sz="1250" dirty="0">
                <a:solidFill>
                  <a:srgbClr val="1B2430"/>
                </a:solidFill>
                <a:latin typeface="Calibri" pitchFamily="34" charset="0"/>
                <a:ea typeface="Calibri" pitchFamily="34" charset="-122"/>
                <a:cs typeface="Calibri" pitchFamily="34" charset="-120"/>
              </a:rPr>
              <a:t>Punto de acceso estable. Da una direccion y nombre fijos a un conjunto de pods cambiantes y reparte el trafico entre ellos.</a:t>
            </a:r>
            <a:endParaRPr lang="en-US" sz="1250" dirty="0"/>
          </a:p>
        </p:txBody>
      </p:sp>
      <p:sp>
        <p:nvSpPr>
          <p:cNvPr id="21" name="Shape 15"/>
          <p:cNvSpPr/>
          <p:nvPr/>
        </p:nvSpPr>
        <p:spPr>
          <a:xfrm>
            <a:off x="548640" y="5440680"/>
            <a:ext cx="11155680" cy="566928"/>
          </a:xfrm>
          <a:prstGeom prst="roundRect">
            <a:avLst>
              <a:gd name="adj" fmla="val 14516"/>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22" name="Text 16"/>
          <p:cNvSpPr/>
          <p:nvPr/>
        </p:nvSpPr>
        <p:spPr>
          <a:xfrm>
            <a:off x="731520" y="5440680"/>
            <a:ext cx="10789920" cy="566928"/>
          </a:xfrm>
          <a:prstGeom prst="rect">
            <a:avLst/>
          </a:prstGeom>
          <a:noFill/>
          <a:ln/>
        </p:spPr>
        <p:txBody>
          <a:bodyPr wrap="square" lIns="0" tIns="0" rIns="0" bIns="0" rtlCol="0" anchor="ctr"/>
          <a:lstStyle/>
          <a:p>
            <a:pPr marL="0" indent="0">
              <a:buNone/>
            </a:pPr>
            <a:r>
              <a:rPr lang="en-US" sz="1300" b="1" dirty="0">
                <a:solidFill>
                  <a:srgbClr val="007F47"/>
                </a:solidFill>
                <a:latin typeface="Calibri" pitchFamily="34" charset="0"/>
                <a:ea typeface="Calibri" pitchFamily="34" charset="-122"/>
                <a:cs typeface="Calibri" pitchFamily="34" charset="-120"/>
              </a:rPr>
              <a:t>Relacion:   </a:t>
            </a:r>
            <a:r>
              <a:rPr lang="en-US" sz="1300" dirty="0">
                <a:solidFill>
                  <a:srgbClr val="1B2430"/>
                </a:solidFill>
                <a:latin typeface="Calibri" pitchFamily="34" charset="0"/>
                <a:ea typeface="Calibri" pitchFamily="34" charset="-122"/>
                <a:cs typeface="Calibri" pitchFamily="34" charset="-120"/>
              </a:rPr>
              <a:t>un </a:t>
            </a:r>
            <a:r>
              <a:rPr lang="en-US" sz="1300" b="1" dirty="0">
                <a:solidFill>
                  <a:srgbClr val="2E5EAA"/>
                </a:solidFill>
                <a:latin typeface="Calibri" pitchFamily="34" charset="0"/>
                <a:ea typeface="Calibri" pitchFamily="34" charset="-122"/>
                <a:cs typeface="Calibri" pitchFamily="34" charset="-120"/>
              </a:rPr>
              <a:t>Deployment</a:t>
            </a:r>
            <a:r>
              <a:rPr lang="en-US" sz="1300" dirty="0">
                <a:solidFill>
                  <a:srgbClr val="1B2430"/>
                </a:solidFill>
                <a:latin typeface="Calibri" pitchFamily="34" charset="0"/>
                <a:ea typeface="Calibri" pitchFamily="34" charset="-122"/>
                <a:cs typeface="Calibri" pitchFamily="34" charset="-120"/>
              </a:rPr>
              <a:t> mantiene N </a:t>
            </a:r>
            <a:r>
              <a:rPr lang="en-US" sz="1300" b="1" dirty="0">
                <a:solidFill>
                  <a:srgbClr val="0F8C8C"/>
                </a:solidFill>
                <a:latin typeface="Calibri" pitchFamily="34" charset="0"/>
                <a:ea typeface="Calibri" pitchFamily="34" charset="-122"/>
                <a:cs typeface="Calibri" pitchFamily="34" charset="-120"/>
              </a:rPr>
              <a:t>Pods</a:t>
            </a:r>
            <a:r>
              <a:rPr lang="en-US" sz="1300" dirty="0">
                <a:solidFill>
                  <a:srgbClr val="1B2430"/>
                </a:solidFill>
                <a:latin typeface="Calibri" pitchFamily="34" charset="0"/>
                <a:ea typeface="Calibri" pitchFamily="34" charset="-122"/>
                <a:cs typeface="Calibri" pitchFamily="34" charset="-120"/>
              </a:rPr>
              <a:t>  y un </a:t>
            </a:r>
            <a:r>
              <a:rPr lang="en-US" sz="1300" b="1" dirty="0">
                <a:solidFill>
                  <a:srgbClr val="007F47"/>
                </a:solidFill>
                <a:latin typeface="Calibri" pitchFamily="34" charset="0"/>
                <a:ea typeface="Calibri" pitchFamily="34" charset="-122"/>
                <a:cs typeface="Calibri" pitchFamily="34" charset="-120"/>
              </a:rPr>
              <a:t>Service</a:t>
            </a:r>
            <a:r>
              <a:rPr lang="en-US" sz="1300" dirty="0">
                <a:solidFill>
                  <a:srgbClr val="1B2430"/>
                </a:solidFill>
                <a:latin typeface="Calibri" pitchFamily="34" charset="0"/>
                <a:ea typeface="Calibri" pitchFamily="34" charset="-122"/>
                <a:cs typeface="Calibri" pitchFamily="34" charset="-120"/>
              </a:rPr>
              <a:t> los expone con una direccion estable y balanceo de carga.</a:t>
            </a:r>
            <a:endParaRPr lang="en-US" sz="1300" dirty="0"/>
          </a:p>
        </p:txBody>
      </p:sp>
      <p:sp>
        <p:nvSpPr>
          <p:cNvPr id="24" name="Text 17"/>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25" name="Text 1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007F47"/>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007F47"/>
                </a:solidFill>
                <a:latin typeface="Calibri" pitchFamily="34" charset="0"/>
                <a:ea typeface="Calibri" pitchFamily="34" charset="-122"/>
                <a:cs typeface="Calibri" pitchFamily="34" charset="-120"/>
              </a:rPr>
              <a:t>SUBTEMA 3 - PRACTICA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Manifiestos y kubectl</a:t>
            </a:r>
            <a:endParaRPr lang="en-US" sz="2600" dirty="0"/>
          </a:p>
        </p:txBody>
      </p:sp>
      <p:sp>
        <p:nvSpPr>
          <p:cNvPr id="6" name="Shape 3"/>
          <p:cNvSpPr/>
          <p:nvPr/>
        </p:nvSpPr>
        <p:spPr>
          <a:xfrm>
            <a:off x="502920" y="1417320"/>
            <a:ext cx="6035040" cy="4617720"/>
          </a:xfrm>
          <a:prstGeom prst="roundRect">
            <a:avLst>
              <a:gd name="adj" fmla="val 1188"/>
            </a:avLst>
          </a:prstGeom>
          <a:solidFill>
            <a:srgbClr val="0E1726"/>
          </a:solidFill>
          <a:ln/>
          <a:effectLst>
            <a:outerShdw blurRad="88900" dist="38100" dir="5400000" algn="bl" rotWithShape="0">
              <a:srgbClr val="000000">
                <a:alpha val="16000"/>
              </a:srgbClr>
            </a:outerShdw>
          </a:effectLst>
        </p:spPr>
      </p:sp>
      <p:sp>
        <p:nvSpPr>
          <p:cNvPr id="7" name="Shape 4"/>
          <p:cNvSpPr/>
          <p:nvPr/>
        </p:nvSpPr>
        <p:spPr>
          <a:xfrm>
            <a:off x="502920" y="1417320"/>
            <a:ext cx="6035040" cy="310896"/>
          </a:xfrm>
          <a:prstGeom prst="roundRect">
            <a:avLst>
              <a:gd name="adj" fmla="val 17647"/>
            </a:avLst>
          </a:prstGeom>
          <a:solidFill>
            <a:srgbClr val="007F47"/>
          </a:solidFill>
          <a:ln/>
        </p:spPr>
      </p:sp>
      <p:sp>
        <p:nvSpPr>
          <p:cNvPr id="8" name="Text 5"/>
          <p:cNvSpPr/>
          <p:nvPr/>
        </p:nvSpPr>
        <p:spPr>
          <a:xfrm>
            <a:off x="649224" y="1435608"/>
            <a:ext cx="576072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k8s/deployment.yaml</a:t>
            </a:r>
            <a:endParaRPr lang="en-US" sz="1050" dirty="0"/>
          </a:p>
        </p:txBody>
      </p:sp>
      <p:sp>
        <p:nvSpPr>
          <p:cNvPr id="9" name="Text 6"/>
          <p:cNvSpPr/>
          <p:nvPr/>
        </p:nvSpPr>
        <p:spPr>
          <a:xfrm>
            <a:off x="649224" y="1819656"/>
            <a:ext cx="5760720" cy="4123944"/>
          </a:xfrm>
          <a:prstGeom prst="rect">
            <a:avLst/>
          </a:prstGeom>
          <a:noFill/>
          <a:ln/>
        </p:spPr>
        <p:txBody>
          <a:bodyPr wrap="square" lIns="0" tIns="0" rIns="0" bIns="0" rtlCol="0" anchor="t"/>
          <a:lstStyle/>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apiVersion: apps/v1</a:t>
            </a:r>
            <a:endParaRPr lang="en-US" sz="1050" dirty="0"/>
          </a:p>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kind: Deployment</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metadata:</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name: svc-estudiantes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spec:</a:t>
            </a:r>
            <a:endParaRPr lang="en-US" sz="1050" dirty="0"/>
          </a:p>
          <a:p>
            <a:pPr marL="0" indent="0" algn="l">
              <a:lnSpc>
                <a:spcPct val="104000"/>
              </a:lnSpc>
              <a:buNone/>
            </a:pPr>
            <a:r>
              <a:rPr lang="en-US" sz="1050" dirty="0">
                <a:solidFill>
                  <a:srgbClr val="DCB67A"/>
                </a:solidFill>
                <a:latin typeface="Consolas" pitchFamily="34" charset="0"/>
                <a:ea typeface="Consolas" pitchFamily="34" charset="-122"/>
                <a:cs typeface="Consolas" pitchFamily="34" charset="-120"/>
              </a:rPr>
              <a:t>  replicas: 3</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selector:</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matchLabels: { app: svc-estudiantes }</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template:</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metadata:</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labels: { app: svc-estudiantes }</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spec:</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containers: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 name: app</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        image: svc-estudiantes:1.0</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ports: [{ containerPort: 8080 }]</a:t>
            </a: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readinessProbe:</a:t>
            </a:r>
            <a:endParaRPr lang="en-US" sz="1050" dirty="0"/>
          </a:p>
          <a:p>
            <a:pPr marL="0" indent="0" algn="l">
              <a:lnSpc>
                <a:spcPct val="104000"/>
              </a:lnSpc>
              <a:buNone/>
            </a:pPr>
            <a:r>
              <a:rPr lang="en-US" sz="900" dirty="0">
                <a:solidFill>
                  <a:srgbClr val="CFE3F2"/>
                </a:solidFill>
                <a:latin typeface="Consolas" pitchFamily="34" charset="0"/>
                <a:ea typeface="Consolas" pitchFamily="34" charset="-122"/>
                <a:cs typeface="Consolas" pitchFamily="34" charset="-120"/>
              </a:rPr>
              <a:t>          httpGet: { path: /health, port: 8080 }</a:t>
            </a:r>
            <a:endParaRPr lang="en-US" sz="1050" dirty="0"/>
          </a:p>
        </p:txBody>
      </p:sp>
      <p:sp>
        <p:nvSpPr>
          <p:cNvPr id="10" name="Shape 7"/>
          <p:cNvSpPr/>
          <p:nvPr/>
        </p:nvSpPr>
        <p:spPr>
          <a:xfrm>
            <a:off x="6766560" y="1417320"/>
            <a:ext cx="4937760" cy="2148840"/>
          </a:xfrm>
          <a:prstGeom prst="roundRect">
            <a:avLst>
              <a:gd name="adj" fmla="val 2553"/>
            </a:avLst>
          </a:prstGeom>
          <a:solidFill>
            <a:srgbClr val="0E1726"/>
          </a:solidFill>
          <a:ln/>
          <a:effectLst>
            <a:outerShdw blurRad="88900" dist="38100" dir="5400000" algn="bl" rotWithShape="0">
              <a:srgbClr val="000000">
                <a:alpha val="16000"/>
              </a:srgbClr>
            </a:outerShdw>
          </a:effectLst>
        </p:spPr>
      </p:sp>
      <p:sp>
        <p:nvSpPr>
          <p:cNvPr id="11" name="Shape 8"/>
          <p:cNvSpPr/>
          <p:nvPr/>
        </p:nvSpPr>
        <p:spPr>
          <a:xfrm>
            <a:off x="6766560" y="1417320"/>
            <a:ext cx="4937760" cy="310896"/>
          </a:xfrm>
          <a:prstGeom prst="roundRect">
            <a:avLst>
              <a:gd name="adj" fmla="val 17647"/>
            </a:avLst>
          </a:prstGeom>
          <a:solidFill>
            <a:srgbClr val="2E5EAA"/>
          </a:solidFill>
          <a:ln/>
        </p:spPr>
      </p:sp>
      <p:sp>
        <p:nvSpPr>
          <p:cNvPr id="12" name="Text 9"/>
          <p:cNvSpPr/>
          <p:nvPr/>
        </p:nvSpPr>
        <p:spPr>
          <a:xfrm>
            <a:off x="6912864" y="1435608"/>
            <a:ext cx="466344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k8s/service.yaml</a:t>
            </a:r>
            <a:endParaRPr lang="en-US" sz="1050" dirty="0"/>
          </a:p>
        </p:txBody>
      </p:sp>
      <p:sp>
        <p:nvSpPr>
          <p:cNvPr id="13" name="Text 10"/>
          <p:cNvSpPr/>
          <p:nvPr/>
        </p:nvSpPr>
        <p:spPr>
          <a:xfrm>
            <a:off x="6912864" y="1819656"/>
            <a:ext cx="4663440" cy="1655064"/>
          </a:xfrm>
          <a:prstGeom prst="rect">
            <a:avLst/>
          </a:prstGeom>
          <a:noFill/>
          <a:ln/>
        </p:spPr>
        <p:txBody>
          <a:bodyPr wrap="square" lIns="0" tIns="0" rIns="0" bIns="0" rtlCol="0" anchor="t"/>
          <a:lstStyle/>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apiVersion: v1</a:t>
            </a:r>
            <a:endParaRPr lang="en-US" sz="1050" dirty="0"/>
          </a:p>
          <a:p>
            <a:pPr marL="0" indent="0" algn="l">
              <a:lnSpc>
                <a:spcPct val="104000"/>
              </a:lnSpc>
              <a:buNone/>
            </a:pPr>
            <a:r>
              <a:rPr lang="en-US" sz="1050" dirty="0">
                <a:solidFill>
                  <a:srgbClr val="9CDCFE"/>
                </a:solidFill>
                <a:latin typeface="Consolas" pitchFamily="34" charset="0"/>
                <a:ea typeface="Consolas" pitchFamily="34" charset="-122"/>
                <a:cs typeface="Consolas" pitchFamily="34" charset="-120"/>
              </a:rPr>
              <a:t>kind: Service</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metadata: { name: svc-estudiantes }</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spec:</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selector: { app: svc-estudiantes }</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ports: [{ port: 80, targetPort: 8080 }]</a:t>
            </a:r>
            <a:endParaRPr lang="en-US" sz="1050" dirty="0"/>
          </a:p>
          <a:p>
            <a:pPr marL="0" indent="0" algn="l">
              <a:lnSpc>
                <a:spcPct val="104000"/>
              </a:lnSpc>
              <a:buNone/>
            </a:pPr>
            <a:r>
              <a:rPr lang="en-US" sz="1050" dirty="0">
                <a:solidFill>
                  <a:srgbClr val="DCB67A"/>
                </a:solidFill>
                <a:latin typeface="Consolas" pitchFamily="34" charset="0"/>
                <a:ea typeface="Consolas" pitchFamily="34" charset="-122"/>
                <a:cs typeface="Consolas" pitchFamily="34" charset="-120"/>
              </a:rPr>
              <a:t>  type: ClusterIP</a:t>
            </a:r>
            <a:endParaRPr lang="en-US" sz="1050" dirty="0"/>
          </a:p>
        </p:txBody>
      </p:sp>
      <p:sp>
        <p:nvSpPr>
          <p:cNvPr id="14" name="Shape 11"/>
          <p:cNvSpPr/>
          <p:nvPr/>
        </p:nvSpPr>
        <p:spPr>
          <a:xfrm>
            <a:off x="6766560" y="3703320"/>
            <a:ext cx="4937760" cy="1417320"/>
          </a:xfrm>
          <a:prstGeom prst="roundRect">
            <a:avLst>
              <a:gd name="adj" fmla="val 3871"/>
            </a:avLst>
          </a:prstGeom>
          <a:solidFill>
            <a:srgbClr val="0E1726"/>
          </a:solidFill>
          <a:ln/>
          <a:effectLst>
            <a:outerShdw blurRad="88900" dist="38100" dir="5400000" algn="bl" rotWithShape="0">
              <a:srgbClr val="000000">
                <a:alpha val="16000"/>
              </a:srgbClr>
            </a:outerShdw>
          </a:effectLst>
        </p:spPr>
      </p:sp>
      <p:sp>
        <p:nvSpPr>
          <p:cNvPr id="15" name="Shape 12"/>
          <p:cNvSpPr/>
          <p:nvPr/>
        </p:nvSpPr>
        <p:spPr>
          <a:xfrm>
            <a:off x="6766560" y="3703320"/>
            <a:ext cx="4937760" cy="310896"/>
          </a:xfrm>
          <a:prstGeom prst="roundRect">
            <a:avLst>
              <a:gd name="adj" fmla="val 17647"/>
            </a:avLst>
          </a:prstGeom>
          <a:solidFill>
            <a:srgbClr val="007F47"/>
          </a:solidFill>
          <a:ln/>
        </p:spPr>
      </p:sp>
      <p:sp>
        <p:nvSpPr>
          <p:cNvPr id="16" name="Text 13"/>
          <p:cNvSpPr/>
          <p:nvPr/>
        </p:nvSpPr>
        <p:spPr>
          <a:xfrm>
            <a:off x="6912864" y="3721608"/>
            <a:ext cx="466344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PowerShell - kubectl</a:t>
            </a:r>
            <a:endParaRPr lang="en-US" sz="1050" dirty="0"/>
          </a:p>
        </p:txBody>
      </p:sp>
      <p:sp>
        <p:nvSpPr>
          <p:cNvPr id="17" name="Text 14"/>
          <p:cNvSpPr/>
          <p:nvPr/>
        </p:nvSpPr>
        <p:spPr>
          <a:xfrm>
            <a:off x="6912864" y="4105656"/>
            <a:ext cx="4663440" cy="923544"/>
          </a:xfrm>
          <a:prstGeom prst="rect">
            <a:avLst/>
          </a:prstGeom>
          <a:noFill/>
          <a:ln/>
        </p:spPr>
        <p:txBody>
          <a:bodyPr wrap="square" lIns="0" tIns="0" rIns="0" bIns="0" rtlCol="0" anchor="t"/>
          <a:lstStyle/>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kubectl apply -f k8s/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kubectl get pods</a:t>
            </a:r>
            <a:endParaRPr lang="en-US" sz="1050" dirty="0"/>
          </a:p>
          <a:p>
            <a:pPr marL="0" indent="0" algn="l">
              <a:lnSpc>
                <a:spcPct val="104000"/>
              </a:lnSpc>
              <a:buNone/>
            </a:pPr>
            <a:r>
              <a:rPr lang="en-US" sz="1050" dirty="0">
                <a:solidFill>
                  <a:srgbClr val="CFE3F2"/>
                </a:solidFill>
                <a:latin typeface="Consolas" pitchFamily="34" charset="0"/>
                <a:ea typeface="Consolas" pitchFamily="34" charset="-122"/>
                <a:cs typeface="Consolas" pitchFamily="34" charset="-120"/>
              </a:rPr>
              <a:t>kubectl get deployments,services</a:t>
            </a:r>
            <a:endParaRPr lang="en-US" sz="1050" dirty="0"/>
          </a:p>
          <a:p>
            <a:pPr marL="0" indent="0" algn="l">
              <a:lnSpc>
                <a:spcPct val="104000"/>
              </a:lnSpc>
              <a:buNone/>
            </a:pPr>
            <a:r>
              <a:rPr lang="en-US" sz="900" dirty="0">
                <a:solidFill>
                  <a:srgbClr val="CFE3F2"/>
                </a:solidFill>
                <a:latin typeface="Consolas" pitchFamily="34" charset="0"/>
                <a:ea typeface="Consolas" pitchFamily="34" charset="-122"/>
                <a:cs typeface="Consolas" pitchFamily="34" charset="-120"/>
              </a:rPr>
              <a:t>kubectl rollout status deploy/svc-estudiantes</a:t>
            </a:r>
            <a:endParaRPr lang="en-US" sz="1050" dirty="0"/>
          </a:p>
        </p:txBody>
      </p:sp>
      <p:sp>
        <p:nvSpPr>
          <p:cNvPr id="18" name="Shape 15"/>
          <p:cNvSpPr/>
          <p:nvPr/>
        </p:nvSpPr>
        <p:spPr>
          <a:xfrm>
            <a:off x="6766560" y="5230368"/>
            <a:ext cx="4937760" cy="777240"/>
          </a:xfrm>
          <a:prstGeom prst="roundRect">
            <a:avLst>
              <a:gd name="adj" fmla="val 10588"/>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19" name="Text 16"/>
          <p:cNvSpPr/>
          <p:nvPr/>
        </p:nvSpPr>
        <p:spPr>
          <a:xfrm>
            <a:off x="6949440" y="5285232"/>
            <a:ext cx="4663440" cy="685800"/>
          </a:xfrm>
          <a:prstGeom prst="rect">
            <a:avLst/>
          </a:prstGeom>
          <a:noFill/>
          <a:ln/>
        </p:spPr>
        <p:txBody>
          <a:bodyPr wrap="square" lIns="0" tIns="0" rIns="0" bIns="0" rtlCol="0" anchor="ctr"/>
          <a:lstStyle/>
          <a:p>
            <a:pPr marL="0" indent="0">
              <a:lnSpc>
                <a:spcPct val="97000"/>
              </a:lnSpc>
              <a:buNone/>
            </a:pPr>
            <a:r>
              <a:rPr lang="en-US" sz="1050" b="1" dirty="0">
                <a:solidFill>
                  <a:srgbClr val="007F47"/>
                </a:solidFill>
                <a:latin typeface="Calibri" pitchFamily="34" charset="0"/>
                <a:ea typeface="Calibri" pitchFamily="34" charset="-122"/>
                <a:cs typeface="Calibri" pitchFamily="34" charset="-120"/>
              </a:rPr>
              <a:t>IntelliJ IDEA:  </a:t>
            </a:r>
            <a:r>
              <a:rPr lang="en-US" sz="1050" dirty="0">
                <a:solidFill>
                  <a:srgbClr val="1B2430"/>
                </a:solidFill>
                <a:latin typeface="Calibri" pitchFamily="34" charset="0"/>
                <a:ea typeface="Calibri" pitchFamily="34" charset="-122"/>
                <a:cs typeface="Calibri" pitchFamily="34" charset="-120"/>
              </a:rPr>
              <a:t>plugin Kubernetes + minikube para un cluster local; resaltado y validacion de manifiestos, y aplicacion directa desde el editor.</a:t>
            </a:r>
            <a:endParaRPr lang="en-US" sz="1050" dirty="0"/>
          </a:p>
        </p:txBody>
      </p:sp>
      <p:sp>
        <p:nvSpPr>
          <p:cNvPr id="21" name="Text 17"/>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22" name="Text 1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1188720" y="4023360"/>
            <a:ext cx="4206240" cy="4206240"/>
          </a:xfrm>
          <a:prstGeom prst="ellipse">
            <a:avLst/>
          </a:prstGeom>
          <a:solidFill>
            <a:srgbClr val="FFFFFF">
              <a:alpha val="7000"/>
            </a:srgbClr>
          </a:solidFill>
          <a:ln/>
        </p:spPr>
      </p:sp>
      <p:sp>
        <p:nvSpPr>
          <p:cNvPr id="3" name="Shape 1"/>
          <p:cNvSpPr/>
          <p:nvPr/>
        </p:nvSpPr>
        <p:spPr>
          <a:xfrm>
            <a:off x="10058400" y="-1371600"/>
            <a:ext cx="3840480" cy="3840480"/>
          </a:xfrm>
          <a:prstGeom prst="ellipse">
            <a:avLst/>
          </a:prstGeom>
          <a:solidFill>
            <a:srgbClr val="C87800">
              <a:alpha val="18000"/>
            </a:srgbClr>
          </a:solidFill>
          <a:ln/>
        </p:spPr>
      </p:sp>
      <p:sp>
        <p:nvSpPr>
          <p:cNvPr id="4" name="Shape 2"/>
          <p:cNvSpPr/>
          <p:nvPr/>
        </p:nvSpPr>
        <p:spPr>
          <a:xfrm>
            <a:off x="914400" y="2240280"/>
            <a:ext cx="1371600" cy="1371600"/>
          </a:xfrm>
          <a:prstGeom prst="ellipse">
            <a:avLst/>
          </a:prstGeom>
          <a:solidFill>
            <a:srgbClr val="C87800"/>
          </a:solidFill>
          <a:ln/>
        </p:spPr>
      </p:sp>
      <p:pic>
        <p:nvPicPr>
          <p:cNvPr id="5" name="Image 0" descr="preencoded.png"/>
          <p:cNvPicPr>
            <a:picLocks noChangeAspect="1"/>
          </p:cNvPicPr>
          <p:nvPr/>
        </p:nvPicPr>
        <p:blipFill>
          <a:blip r:embed="rId3"/>
          <a:stretch>
            <a:fillRect/>
          </a:stretch>
        </p:blipFill>
        <p:spPr>
          <a:xfrm>
            <a:off x="1271016" y="2596896"/>
            <a:ext cx="658368" cy="658368"/>
          </a:xfrm>
          <a:prstGeom prst="rect">
            <a:avLst/>
          </a:prstGeom>
        </p:spPr>
      </p:pic>
      <p:sp>
        <p:nvSpPr>
          <p:cNvPr id="6" name="Text 3"/>
          <p:cNvSpPr/>
          <p:nvPr/>
        </p:nvSpPr>
        <p:spPr>
          <a:xfrm>
            <a:off x="2743200" y="2240280"/>
            <a:ext cx="8229600" cy="457200"/>
          </a:xfrm>
          <a:prstGeom prst="rect">
            <a:avLst/>
          </a:prstGeom>
          <a:noFill/>
          <a:ln/>
        </p:spPr>
        <p:txBody>
          <a:bodyPr wrap="square" lIns="0" tIns="0" rIns="0" bIns="0" rtlCol="0" anchor="ctr"/>
          <a:lstStyle/>
          <a:p>
            <a:pPr marL="0" indent="0">
              <a:buNone/>
            </a:pPr>
            <a:r>
              <a:rPr lang="en-US" sz="1600" b="1" kern="0" spc="300" dirty="0">
                <a:solidFill>
                  <a:srgbClr val="7FE3E3"/>
                </a:solidFill>
                <a:latin typeface="Calibri" pitchFamily="34" charset="0"/>
                <a:ea typeface="Calibri" pitchFamily="34" charset="-122"/>
                <a:cs typeface="Calibri" pitchFamily="34" charset="-120"/>
              </a:rPr>
              <a:t>SUBTEMA 4</a:t>
            </a:r>
            <a:endParaRPr lang="en-US" sz="1600" dirty="0"/>
          </a:p>
        </p:txBody>
      </p:sp>
      <p:sp>
        <p:nvSpPr>
          <p:cNvPr id="7" name="Text 4"/>
          <p:cNvSpPr/>
          <p:nvPr/>
        </p:nvSpPr>
        <p:spPr>
          <a:xfrm>
            <a:off x="2697480" y="2651760"/>
            <a:ext cx="8778240" cy="12801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Patrones de despliegue distribuido</a:t>
            </a:r>
            <a:endParaRPr lang="en-US" sz="3400" dirty="0"/>
          </a:p>
        </p:txBody>
      </p:sp>
      <p:sp>
        <p:nvSpPr>
          <p:cNvPr id="8" name="Text 5"/>
          <p:cNvSpPr/>
          <p:nvPr/>
        </p:nvSpPr>
        <p:spPr>
          <a:xfrm>
            <a:off x="2743200" y="3977640"/>
            <a:ext cx="8503920" cy="731520"/>
          </a:xfrm>
          <a:prstGeom prst="rect">
            <a:avLst/>
          </a:prstGeom>
          <a:noFill/>
          <a:ln/>
        </p:spPr>
        <p:txBody>
          <a:bodyPr wrap="square" lIns="0" tIns="0" rIns="0" bIns="0" rtlCol="0" anchor="ctr"/>
          <a:lstStyle/>
          <a:p>
            <a:pPr marL="0" indent="0">
              <a:lnSpc>
                <a:spcPct val="105000"/>
              </a:lnSpc>
              <a:buNone/>
            </a:pPr>
            <a:r>
              <a:rPr lang="en-US" sz="1500" dirty="0">
                <a:solidFill>
                  <a:srgbClr val="CADCFC"/>
                </a:solidFill>
                <a:latin typeface="Calibri" pitchFamily="34" charset="0"/>
                <a:ea typeface="Calibri" pitchFamily="34" charset="-122"/>
                <a:cs typeface="Calibri" pitchFamily="34" charset="-120"/>
              </a:rPr>
              <a:t>Actualizar un sistema en produccion sin interrumpir el servicio y con un plan de retorno seguro. Estrategias: actualizacion progresiva (rolling), blue-green y canary.</a:t>
            </a:r>
            <a:endParaRPr lang="en-US" sz="1500" dirty="0"/>
          </a:p>
        </p:txBody>
      </p:sp>
      <p:sp>
        <p:nvSpPr>
          <p:cNvPr id="10" name="Text 6"/>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1" name="Text 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C87800"/>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C87800"/>
                </a:solidFill>
                <a:latin typeface="Calibri" pitchFamily="34" charset="0"/>
                <a:ea typeface="Calibri" pitchFamily="34" charset="-122"/>
                <a:cs typeface="Calibri" pitchFamily="34" charset="-120"/>
              </a:rPr>
              <a:t>SUBTEMA 4 - ESTRATEGIA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Despliegue Blue-Green</a:t>
            </a:r>
            <a:endParaRPr lang="en-US" sz="2600" dirty="0"/>
          </a:p>
        </p:txBody>
      </p:sp>
      <p:sp>
        <p:nvSpPr>
          <p:cNvPr id="6" name="Shape 3"/>
          <p:cNvSpPr/>
          <p:nvPr/>
        </p:nvSpPr>
        <p:spPr>
          <a:xfrm>
            <a:off x="548640" y="1481328"/>
            <a:ext cx="6583680" cy="4526280"/>
          </a:xfrm>
          <a:prstGeom prst="roundRect">
            <a:avLst>
              <a:gd name="adj" fmla="val 1818"/>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Text 4"/>
          <p:cNvSpPr/>
          <p:nvPr/>
        </p:nvSpPr>
        <p:spPr>
          <a:xfrm>
            <a:off x="777240" y="1627632"/>
            <a:ext cx="6126480" cy="274320"/>
          </a:xfrm>
          <a:prstGeom prst="rect">
            <a:avLst/>
          </a:prstGeom>
          <a:noFill/>
          <a:ln/>
        </p:spPr>
        <p:txBody>
          <a:bodyPr wrap="square" lIns="0" tIns="0" rIns="0" bIns="0" rtlCol="0" anchor="ctr"/>
          <a:lstStyle/>
          <a:p>
            <a:pPr marL="0" indent="0">
              <a:buNone/>
            </a:pPr>
            <a:r>
              <a:rPr lang="en-US" sz="1200" b="1" dirty="0">
                <a:solidFill>
                  <a:srgbClr val="5B6B7B"/>
                </a:solidFill>
                <a:latin typeface="Calibri" pitchFamily="34" charset="0"/>
                <a:ea typeface="Calibri" pitchFamily="34" charset="-122"/>
                <a:cs typeface="Calibri" pitchFamily="34" charset="-120"/>
              </a:rPr>
              <a:t>Dos entornos identicos; el trafico apunta a uno a la vez</a:t>
            </a:r>
            <a:endParaRPr lang="en-US" sz="1200" dirty="0"/>
          </a:p>
        </p:txBody>
      </p:sp>
      <p:sp>
        <p:nvSpPr>
          <p:cNvPr id="8" name="Shape 5"/>
          <p:cNvSpPr/>
          <p:nvPr/>
        </p:nvSpPr>
        <p:spPr>
          <a:xfrm>
            <a:off x="3108960" y="2103120"/>
            <a:ext cx="1463040" cy="548640"/>
          </a:xfrm>
          <a:prstGeom prst="roundRect">
            <a:avLst>
              <a:gd name="adj" fmla="val 13333"/>
            </a:avLst>
          </a:prstGeom>
          <a:solidFill>
            <a:srgbClr val="1F3864"/>
          </a:solidFill>
          <a:ln/>
          <a:effectLst>
            <a:outerShdw blurRad="88900" dist="38100" dir="5400000" algn="bl" rotWithShape="0">
              <a:srgbClr val="000000">
                <a:alpha val="16000"/>
              </a:srgbClr>
            </a:outerShdw>
          </a:effectLst>
        </p:spPr>
      </p:sp>
      <p:sp>
        <p:nvSpPr>
          <p:cNvPr id="9" name="Text 6"/>
          <p:cNvSpPr/>
          <p:nvPr/>
        </p:nvSpPr>
        <p:spPr>
          <a:xfrm>
            <a:off x="3108960" y="2103120"/>
            <a:ext cx="1463040" cy="5486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Service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(router)</a:t>
            </a:r>
            <a:endParaRPr lang="en-US" sz="1050" dirty="0"/>
          </a:p>
        </p:txBody>
      </p:sp>
      <p:sp>
        <p:nvSpPr>
          <p:cNvPr id="10" name="Shape 7"/>
          <p:cNvSpPr/>
          <p:nvPr/>
        </p:nvSpPr>
        <p:spPr>
          <a:xfrm>
            <a:off x="914400" y="3200400"/>
            <a:ext cx="2377440" cy="1371600"/>
          </a:xfrm>
          <a:prstGeom prst="roundRect">
            <a:avLst>
              <a:gd name="adj" fmla="val 5333"/>
            </a:avLst>
          </a:prstGeom>
          <a:solidFill>
            <a:srgbClr val="1E63B0"/>
          </a:solidFill>
          <a:ln/>
          <a:effectLst>
            <a:outerShdw blurRad="88900" dist="38100" dir="5400000" algn="bl" rotWithShape="0">
              <a:srgbClr val="000000">
                <a:alpha val="16000"/>
              </a:srgbClr>
            </a:outerShdw>
          </a:effectLst>
        </p:spPr>
      </p:sp>
      <p:sp>
        <p:nvSpPr>
          <p:cNvPr id="11" name="Text 8"/>
          <p:cNvSpPr/>
          <p:nvPr/>
        </p:nvSpPr>
        <p:spPr>
          <a:xfrm>
            <a:off x="914400" y="3310128"/>
            <a:ext cx="23774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BLUE  (v1)</a:t>
            </a:r>
            <a:endParaRPr lang="en-US" sz="1400" dirty="0"/>
          </a:p>
        </p:txBody>
      </p:sp>
      <p:sp>
        <p:nvSpPr>
          <p:cNvPr id="12" name="Text 9"/>
          <p:cNvSpPr/>
          <p:nvPr/>
        </p:nvSpPr>
        <p:spPr>
          <a:xfrm>
            <a:off x="914400" y="3657600"/>
            <a:ext cx="2377440" cy="822960"/>
          </a:xfrm>
          <a:prstGeom prst="rect">
            <a:avLst/>
          </a:prstGeom>
          <a:noFill/>
          <a:ln/>
        </p:spPr>
        <p:txBody>
          <a:bodyPr wrap="square" lIns="0" tIns="0" rIns="0" bIns="0" rtlCol="0" anchor="ctr"/>
          <a:lstStyle/>
          <a:p>
            <a:pPr marL="0" indent="0" algn="ctr">
              <a:buNone/>
            </a:pPr>
            <a:r>
              <a:rPr lang="en-US" sz="1050" dirty="0">
                <a:solidFill>
                  <a:srgbClr val="DCE9F8"/>
                </a:solidFill>
                <a:latin typeface="Calibri" pitchFamily="34" charset="0"/>
                <a:ea typeface="Calibri" pitchFamily="34" charset="-122"/>
                <a:cs typeface="Calibri" pitchFamily="34" charset="-120"/>
              </a:rPr>
              <a:t>Version actual</a:t>
            </a:r>
            <a:endParaRPr lang="en-US" sz="1050" dirty="0"/>
          </a:p>
          <a:p>
            <a:pPr marL="0" indent="0" algn="ctr">
              <a:buNone/>
            </a:pPr>
            <a:r>
              <a:rPr lang="en-US" sz="1050" dirty="0">
                <a:solidFill>
                  <a:srgbClr val="DCE9F8"/>
                </a:solidFill>
                <a:latin typeface="Calibri" pitchFamily="34" charset="0"/>
                <a:ea typeface="Calibri" pitchFamily="34" charset="-122"/>
                <a:cs typeface="Calibri" pitchFamily="34" charset="-120"/>
              </a:rPr>
              <a:t>recibe el 100% del trafico</a:t>
            </a:r>
            <a:endParaRPr lang="en-US" sz="1050" dirty="0"/>
          </a:p>
        </p:txBody>
      </p:sp>
      <p:sp>
        <p:nvSpPr>
          <p:cNvPr id="13" name="Shape 10"/>
          <p:cNvSpPr/>
          <p:nvPr/>
        </p:nvSpPr>
        <p:spPr>
          <a:xfrm>
            <a:off x="3840480" y="3200400"/>
            <a:ext cx="2377440" cy="1371600"/>
          </a:xfrm>
          <a:prstGeom prst="roundRect">
            <a:avLst>
              <a:gd name="adj" fmla="val 5333"/>
            </a:avLst>
          </a:prstGeom>
          <a:solidFill>
            <a:srgbClr val="007F47"/>
          </a:solidFill>
          <a:ln/>
          <a:effectLst>
            <a:outerShdw blurRad="88900" dist="38100" dir="5400000" algn="bl" rotWithShape="0">
              <a:srgbClr val="000000">
                <a:alpha val="16000"/>
              </a:srgbClr>
            </a:outerShdw>
          </a:effectLst>
        </p:spPr>
      </p:sp>
      <p:sp>
        <p:nvSpPr>
          <p:cNvPr id="14" name="Text 11"/>
          <p:cNvSpPr/>
          <p:nvPr/>
        </p:nvSpPr>
        <p:spPr>
          <a:xfrm>
            <a:off x="3840480" y="3310128"/>
            <a:ext cx="23774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GREEN  (v2)</a:t>
            </a:r>
            <a:endParaRPr lang="en-US" sz="1400" dirty="0"/>
          </a:p>
        </p:txBody>
      </p:sp>
      <p:sp>
        <p:nvSpPr>
          <p:cNvPr id="15" name="Text 12"/>
          <p:cNvSpPr/>
          <p:nvPr/>
        </p:nvSpPr>
        <p:spPr>
          <a:xfrm>
            <a:off x="3840480" y="3657600"/>
            <a:ext cx="2377440" cy="822960"/>
          </a:xfrm>
          <a:prstGeom prst="rect">
            <a:avLst/>
          </a:prstGeom>
          <a:noFill/>
          <a:ln/>
        </p:spPr>
        <p:txBody>
          <a:bodyPr wrap="square" lIns="0" tIns="0" rIns="0" bIns="0" rtlCol="0" anchor="ctr"/>
          <a:lstStyle/>
          <a:p>
            <a:pPr marL="0" indent="0" algn="ctr">
              <a:buNone/>
            </a:pPr>
            <a:r>
              <a:rPr lang="en-US" sz="1050" dirty="0">
                <a:solidFill>
                  <a:srgbClr val="D9EFE4"/>
                </a:solidFill>
                <a:latin typeface="Calibri" pitchFamily="34" charset="0"/>
                <a:ea typeface="Calibri" pitchFamily="34" charset="-122"/>
                <a:cs typeface="Calibri" pitchFamily="34" charset="-120"/>
              </a:rPr>
              <a:t>Version nueva</a:t>
            </a:r>
            <a:endParaRPr lang="en-US" sz="1050" dirty="0"/>
          </a:p>
          <a:p>
            <a:pPr marL="0" indent="0" algn="ctr">
              <a:buNone/>
            </a:pPr>
            <a:r>
              <a:rPr lang="en-US" sz="1050" dirty="0">
                <a:solidFill>
                  <a:srgbClr val="D9EFE4"/>
                </a:solidFill>
                <a:latin typeface="Calibri" pitchFamily="34" charset="0"/>
                <a:ea typeface="Calibri" pitchFamily="34" charset="-122"/>
                <a:cs typeface="Calibri" pitchFamily="34" charset="-120"/>
              </a:rPr>
              <a:t>lista y probada, en espera</a:t>
            </a:r>
            <a:endParaRPr lang="en-US" sz="1050" dirty="0"/>
          </a:p>
        </p:txBody>
      </p:sp>
      <p:sp>
        <p:nvSpPr>
          <p:cNvPr id="16" name="Shape 13"/>
          <p:cNvSpPr/>
          <p:nvPr/>
        </p:nvSpPr>
        <p:spPr>
          <a:xfrm flipH="1">
            <a:off x="3566160" y="2651760"/>
            <a:ext cx="1463040" cy="548640"/>
          </a:xfrm>
          <a:prstGeom prst="line">
            <a:avLst/>
          </a:prstGeom>
          <a:noFill/>
          <a:ln w="31750">
            <a:solidFill>
              <a:srgbClr val="1E63B0"/>
            </a:solidFill>
            <a:prstDash val="solid"/>
            <a:tailEnd type="triangle"/>
          </a:ln>
        </p:spPr>
      </p:sp>
      <p:sp>
        <p:nvSpPr>
          <p:cNvPr id="17" name="Shape 14"/>
          <p:cNvSpPr/>
          <p:nvPr/>
        </p:nvSpPr>
        <p:spPr>
          <a:xfrm>
            <a:off x="4114800" y="2651760"/>
            <a:ext cx="914400" cy="548640"/>
          </a:xfrm>
          <a:prstGeom prst="line">
            <a:avLst/>
          </a:prstGeom>
          <a:noFill/>
          <a:ln w="31750">
            <a:solidFill>
              <a:srgbClr val="007F47"/>
            </a:solidFill>
            <a:prstDash val="dash"/>
            <a:tailEnd type="triangle"/>
          </a:ln>
        </p:spPr>
      </p:sp>
      <p:sp>
        <p:nvSpPr>
          <p:cNvPr id="18" name="Text 15"/>
          <p:cNvSpPr/>
          <p:nvPr/>
        </p:nvSpPr>
        <p:spPr>
          <a:xfrm>
            <a:off x="777240" y="5074920"/>
            <a:ext cx="6126480" cy="731520"/>
          </a:xfrm>
          <a:prstGeom prst="rect">
            <a:avLst/>
          </a:prstGeom>
          <a:noFill/>
          <a:ln/>
        </p:spPr>
        <p:txBody>
          <a:bodyPr wrap="square" lIns="0" tIns="0" rIns="0" bIns="0" rtlCol="0" anchor="ctr"/>
          <a:lstStyle/>
          <a:p>
            <a:pPr marL="0" indent="0" algn="ctr">
              <a:lnSpc>
                <a:spcPct val="100000"/>
              </a:lnSpc>
              <a:buNone/>
            </a:pPr>
            <a:r>
              <a:rPr lang="en-US" sz="1150" b="1" i="1" dirty="0">
                <a:solidFill>
                  <a:srgbClr val="C87800"/>
                </a:solidFill>
                <a:latin typeface="Calibri" pitchFamily="34" charset="0"/>
                <a:ea typeface="Calibri" pitchFamily="34" charset="-122"/>
                <a:cs typeface="Calibri" pitchFamily="34" charset="-120"/>
              </a:rPr>
              <a:t>Cambio = repointar el selector del Service de blue a green (y revertir es instantaneo).</a:t>
            </a:r>
            <a:endParaRPr lang="en-US" sz="1150" dirty="0"/>
          </a:p>
        </p:txBody>
      </p:sp>
      <p:sp>
        <p:nvSpPr>
          <p:cNvPr id="19" name="Shape 16"/>
          <p:cNvSpPr/>
          <p:nvPr/>
        </p:nvSpPr>
        <p:spPr>
          <a:xfrm>
            <a:off x="7360920" y="1481328"/>
            <a:ext cx="4343400" cy="2423160"/>
          </a:xfrm>
          <a:prstGeom prst="roundRect">
            <a:avLst>
              <a:gd name="adj" fmla="val 3396"/>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20" name="Text 17"/>
          <p:cNvSpPr/>
          <p:nvPr/>
        </p:nvSpPr>
        <p:spPr>
          <a:xfrm>
            <a:off x="7589520" y="1627632"/>
            <a:ext cx="3840480" cy="274320"/>
          </a:xfrm>
          <a:prstGeom prst="rect">
            <a:avLst/>
          </a:prstGeom>
          <a:noFill/>
          <a:ln/>
        </p:spPr>
        <p:txBody>
          <a:bodyPr wrap="square" lIns="0" tIns="0" rIns="0" bIns="0" rtlCol="0" anchor="ctr"/>
          <a:lstStyle/>
          <a:p>
            <a:pPr marL="0" indent="0">
              <a:buNone/>
            </a:pPr>
            <a:r>
              <a:rPr lang="en-US" sz="1400" b="1" dirty="0">
                <a:solidFill>
                  <a:srgbClr val="1F3864"/>
                </a:solidFill>
                <a:latin typeface="Cambria" pitchFamily="34" charset="0"/>
                <a:ea typeface="Cambria" pitchFamily="34" charset="-122"/>
                <a:cs typeface="Cambria" pitchFamily="34" charset="-120"/>
              </a:rPr>
              <a:t>Ventajas y costo</a:t>
            </a:r>
            <a:endParaRPr lang="en-US" sz="1400" dirty="0"/>
          </a:p>
        </p:txBody>
      </p:sp>
      <p:sp>
        <p:nvSpPr>
          <p:cNvPr id="21" name="Text 18"/>
          <p:cNvSpPr/>
          <p:nvPr/>
        </p:nvSpPr>
        <p:spPr>
          <a:xfrm>
            <a:off x="7589520" y="1965960"/>
            <a:ext cx="3886200" cy="1874520"/>
          </a:xfrm>
          <a:prstGeom prst="rect">
            <a:avLst/>
          </a:prstGeom>
          <a:noFill/>
          <a:ln/>
        </p:spPr>
        <p:txBody>
          <a:bodyPr wrap="square" lIns="0" tIns="0" rIns="0" bIns="0" rtlCol="0" anchor="t"/>
          <a:lstStyle/>
          <a:p>
            <a:pPr marL="177800" indent="-177800" algn="l">
              <a:spcAft>
                <a:spcPts val="700"/>
              </a:spcAft>
              <a:buSzPct val="100000"/>
              <a:buChar char="•"/>
            </a:pPr>
            <a:r>
              <a:rPr lang="en-US" sz="1150" dirty="0">
                <a:solidFill>
                  <a:srgbClr val="007F47"/>
                </a:solidFill>
                <a:latin typeface="Calibri" pitchFamily="34" charset="0"/>
                <a:ea typeface="Calibri" pitchFamily="34" charset="-122"/>
                <a:cs typeface="Calibri" pitchFamily="34" charset="-120"/>
              </a:rPr>
              <a:t>Cambio y reversion casi instantaneos.</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Cero tiempo de inactividad si v2 ya esta caliente.</a:t>
            </a:r>
            <a:endParaRPr lang="en-US" sz="1150" dirty="0"/>
          </a:p>
          <a:p>
            <a:pPr marL="177800" indent="-177800" algn="l">
              <a:spcAft>
                <a:spcPts val="700"/>
              </a:spcAft>
              <a:buSzPct val="100000"/>
              <a:buChar char="•"/>
            </a:pPr>
            <a:r>
              <a:rPr lang="en-US" sz="1150" dirty="0">
                <a:solidFill>
                  <a:srgbClr val="C87800"/>
                </a:solidFill>
                <a:latin typeface="Calibri" pitchFamily="34" charset="0"/>
                <a:ea typeface="Calibri" pitchFamily="34" charset="-122"/>
                <a:cs typeface="Calibri" pitchFamily="34" charset="-120"/>
              </a:rPr>
              <a:t>Costo: se duplican los recursos durante la transicion.</a:t>
            </a:r>
            <a:endParaRPr lang="en-US" sz="1150" dirty="0"/>
          </a:p>
        </p:txBody>
      </p:sp>
      <p:sp>
        <p:nvSpPr>
          <p:cNvPr id="22" name="Shape 19"/>
          <p:cNvSpPr/>
          <p:nvPr/>
        </p:nvSpPr>
        <p:spPr>
          <a:xfrm>
            <a:off x="7360920" y="4069080"/>
            <a:ext cx="4343400" cy="1938528"/>
          </a:xfrm>
          <a:prstGeom prst="roundRect">
            <a:avLst>
              <a:gd name="adj" fmla="val 2830"/>
            </a:avLst>
          </a:prstGeom>
          <a:solidFill>
            <a:srgbClr val="0E1726"/>
          </a:solidFill>
          <a:ln/>
          <a:effectLst>
            <a:outerShdw blurRad="88900" dist="38100" dir="5400000" algn="bl" rotWithShape="0">
              <a:srgbClr val="000000">
                <a:alpha val="16000"/>
              </a:srgbClr>
            </a:outerShdw>
          </a:effectLst>
        </p:spPr>
      </p:sp>
      <p:sp>
        <p:nvSpPr>
          <p:cNvPr id="23" name="Shape 20"/>
          <p:cNvSpPr/>
          <p:nvPr/>
        </p:nvSpPr>
        <p:spPr>
          <a:xfrm>
            <a:off x="7360920" y="4069080"/>
            <a:ext cx="4343400" cy="310896"/>
          </a:xfrm>
          <a:prstGeom prst="roundRect">
            <a:avLst>
              <a:gd name="adj" fmla="val 17647"/>
            </a:avLst>
          </a:prstGeom>
          <a:solidFill>
            <a:srgbClr val="C87800"/>
          </a:solidFill>
          <a:ln/>
        </p:spPr>
      </p:sp>
      <p:sp>
        <p:nvSpPr>
          <p:cNvPr id="24" name="Text 21"/>
          <p:cNvSpPr/>
          <p:nvPr/>
        </p:nvSpPr>
        <p:spPr>
          <a:xfrm>
            <a:off x="7507224" y="4087368"/>
            <a:ext cx="406908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PowerShell - conmutar</a:t>
            </a:r>
            <a:endParaRPr lang="en-US" sz="1050" dirty="0"/>
          </a:p>
        </p:txBody>
      </p:sp>
      <p:sp>
        <p:nvSpPr>
          <p:cNvPr id="25" name="Text 22"/>
          <p:cNvSpPr/>
          <p:nvPr/>
        </p:nvSpPr>
        <p:spPr>
          <a:xfrm>
            <a:off x="7507224" y="4471416"/>
            <a:ext cx="4069080" cy="1444752"/>
          </a:xfrm>
          <a:prstGeom prst="rect">
            <a:avLst/>
          </a:prstGeom>
          <a:noFill/>
          <a:ln/>
        </p:spPr>
        <p:txBody>
          <a:bodyPr wrap="square" lIns="0" tIns="0" rIns="0" bIns="0" rtlCol="0" anchor="t"/>
          <a:lstStyle/>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Apuntar el Service a green (v2)</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kubectl patch service svc-estudiantes `</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-p '{"spec":{"selector":</a:t>
            </a:r>
            <a:endParaRPr lang="en-US" sz="10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{"version":"green"}}}'</a:t>
            </a:r>
            <a:endParaRPr lang="en-US" sz="1050" dirty="0"/>
          </a:p>
          <a:p>
            <a:pPr marL="0" indent="0" algn="l">
              <a:lnSpc>
                <a:spcPct val="104000"/>
              </a:lnSpc>
              <a:buNone/>
            </a:pPr>
            <a:r>
              <a:rPr lang="en-US" sz="1050" dirty="0">
                <a:solidFill>
                  <a:srgbClr val="7FB089"/>
                </a:solidFill>
                <a:latin typeface="Consolas" pitchFamily="34" charset="0"/>
                <a:ea typeface="Consolas" pitchFamily="34" charset="-122"/>
                <a:cs typeface="Consolas" pitchFamily="34" charset="-120"/>
              </a:rPr>
              <a:t># Revertir: volver a "blue"</a:t>
            </a:r>
            <a:endParaRPr lang="en-US" sz="1050" dirty="0"/>
          </a:p>
        </p:txBody>
      </p:sp>
      <p:sp>
        <p:nvSpPr>
          <p:cNvPr id="27" name="Text 23"/>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28" name="Text 2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C87800"/>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C87800"/>
                </a:solidFill>
                <a:latin typeface="Calibri" pitchFamily="34" charset="0"/>
                <a:ea typeface="Calibri" pitchFamily="34" charset="-122"/>
                <a:cs typeface="Calibri" pitchFamily="34" charset="-120"/>
              </a:rPr>
              <a:t>SUBTEMA 4 - ESTRATEGIA</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Despliegue Canary</a:t>
            </a:r>
            <a:endParaRPr lang="en-US" sz="2600" dirty="0"/>
          </a:p>
        </p:txBody>
      </p:sp>
      <p:sp>
        <p:nvSpPr>
          <p:cNvPr id="6" name="Shape 3"/>
          <p:cNvSpPr/>
          <p:nvPr/>
        </p:nvSpPr>
        <p:spPr>
          <a:xfrm>
            <a:off x="548640" y="1481328"/>
            <a:ext cx="6583680" cy="4526280"/>
          </a:xfrm>
          <a:prstGeom prst="roundRect">
            <a:avLst>
              <a:gd name="adj" fmla="val 1818"/>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Text 4"/>
          <p:cNvSpPr/>
          <p:nvPr/>
        </p:nvSpPr>
        <p:spPr>
          <a:xfrm>
            <a:off x="777240" y="1627632"/>
            <a:ext cx="6126480" cy="274320"/>
          </a:xfrm>
          <a:prstGeom prst="rect">
            <a:avLst/>
          </a:prstGeom>
          <a:noFill/>
          <a:ln/>
        </p:spPr>
        <p:txBody>
          <a:bodyPr wrap="square" lIns="0" tIns="0" rIns="0" bIns="0" rtlCol="0" anchor="ctr"/>
          <a:lstStyle/>
          <a:p>
            <a:pPr marL="0" indent="0">
              <a:buNone/>
            </a:pPr>
            <a:r>
              <a:rPr lang="en-US" sz="1200" b="1" dirty="0">
                <a:solidFill>
                  <a:srgbClr val="5B6B7B"/>
                </a:solidFill>
                <a:latin typeface="Calibri" pitchFamily="34" charset="0"/>
                <a:ea typeface="Calibri" pitchFamily="34" charset="-122"/>
                <a:cs typeface="Calibri" pitchFamily="34" charset="-120"/>
              </a:rPr>
              <a:t>La version nueva recibe un porcentaje creciente de trafico</a:t>
            </a:r>
            <a:endParaRPr lang="en-US" sz="1200" dirty="0"/>
          </a:p>
        </p:txBody>
      </p:sp>
      <p:sp>
        <p:nvSpPr>
          <p:cNvPr id="8" name="Text 5"/>
          <p:cNvSpPr/>
          <p:nvPr/>
        </p:nvSpPr>
        <p:spPr>
          <a:xfrm>
            <a:off x="868680" y="2039112"/>
            <a:ext cx="5943600" cy="237744"/>
          </a:xfrm>
          <a:prstGeom prst="rect">
            <a:avLst/>
          </a:prstGeom>
          <a:noFill/>
          <a:ln/>
        </p:spPr>
        <p:txBody>
          <a:bodyPr wrap="square" lIns="0" tIns="0" rIns="0" bIns="0" rtlCol="0" anchor="ctr"/>
          <a:lstStyle/>
          <a:p>
            <a:pPr marL="0" indent="0">
              <a:buNone/>
            </a:pPr>
            <a:r>
              <a:rPr lang="en-US" sz="1050" b="1" dirty="0">
                <a:solidFill>
                  <a:srgbClr val="1B2430"/>
                </a:solidFill>
                <a:latin typeface="Calibri" pitchFamily="34" charset="0"/>
                <a:ea typeface="Calibri" pitchFamily="34" charset="-122"/>
                <a:cs typeface="Calibri" pitchFamily="34" charset="-120"/>
              </a:rPr>
              <a:t>Fase 1  -  canario al 10%</a:t>
            </a:r>
            <a:endParaRPr lang="en-US" sz="1050" dirty="0"/>
          </a:p>
        </p:txBody>
      </p:sp>
      <p:sp>
        <p:nvSpPr>
          <p:cNvPr id="9" name="Shape 6"/>
          <p:cNvSpPr/>
          <p:nvPr/>
        </p:nvSpPr>
        <p:spPr>
          <a:xfrm>
            <a:off x="868680" y="2313432"/>
            <a:ext cx="5349240" cy="457200"/>
          </a:xfrm>
          <a:prstGeom prst="rect">
            <a:avLst/>
          </a:prstGeom>
          <a:solidFill>
            <a:srgbClr val="1E63B0"/>
          </a:solidFill>
          <a:ln/>
        </p:spPr>
      </p:sp>
      <p:sp>
        <p:nvSpPr>
          <p:cNvPr id="10" name="Shape 7"/>
          <p:cNvSpPr/>
          <p:nvPr/>
        </p:nvSpPr>
        <p:spPr>
          <a:xfrm>
            <a:off x="6217920" y="2313432"/>
            <a:ext cx="594360" cy="457200"/>
          </a:xfrm>
          <a:prstGeom prst="rect">
            <a:avLst/>
          </a:prstGeom>
          <a:solidFill>
            <a:srgbClr val="C87800"/>
          </a:solidFill>
          <a:ln/>
        </p:spPr>
      </p:sp>
      <p:sp>
        <p:nvSpPr>
          <p:cNvPr id="11" name="Text 8"/>
          <p:cNvSpPr/>
          <p:nvPr/>
        </p:nvSpPr>
        <p:spPr>
          <a:xfrm>
            <a:off x="868680" y="2313432"/>
            <a:ext cx="53492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v1  90%</a:t>
            </a:r>
            <a:endParaRPr lang="en-US" sz="1000" dirty="0"/>
          </a:p>
        </p:txBody>
      </p:sp>
      <p:sp>
        <p:nvSpPr>
          <p:cNvPr id="12" name="Text 9"/>
          <p:cNvSpPr/>
          <p:nvPr/>
        </p:nvSpPr>
        <p:spPr>
          <a:xfrm>
            <a:off x="6217920" y="2313432"/>
            <a:ext cx="59436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v2 10%</a:t>
            </a:r>
            <a:endParaRPr lang="en-US" sz="900" dirty="0"/>
          </a:p>
        </p:txBody>
      </p:sp>
      <p:sp>
        <p:nvSpPr>
          <p:cNvPr id="13" name="Text 10"/>
          <p:cNvSpPr/>
          <p:nvPr/>
        </p:nvSpPr>
        <p:spPr>
          <a:xfrm>
            <a:off x="868680" y="2953512"/>
            <a:ext cx="5943600" cy="237744"/>
          </a:xfrm>
          <a:prstGeom prst="rect">
            <a:avLst/>
          </a:prstGeom>
          <a:noFill/>
          <a:ln/>
        </p:spPr>
        <p:txBody>
          <a:bodyPr wrap="square" lIns="0" tIns="0" rIns="0" bIns="0" rtlCol="0" anchor="ctr"/>
          <a:lstStyle/>
          <a:p>
            <a:pPr marL="0" indent="0">
              <a:buNone/>
            </a:pPr>
            <a:r>
              <a:rPr lang="en-US" sz="1050" b="1" dirty="0">
                <a:solidFill>
                  <a:srgbClr val="1B2430"/>
                </a:solidFill>
                <a:latin typeface="Calibri" pitchFamily="34" charset="0"/>
                <a:ea typeface="Calibri" pitchFamily="34" charset="-122"/>
                <a:cs typeface="Calibri" pitchFamily="34" charset="-120"/>
              </a:rPr>
              <a:t>Fase 2  -  50% (si las metricas son sanas)</a:t>
            </a:r>
            <a:endParaRPr lang="en-US" sz="1050" dirty="0"/>
          </a:p>
        </p:txBody>
      </p:sp>
      <p:sp>
        <p:nvSpPr>
          <p:cNvPr id="14" name="Shape 11"/>
          <p:cNvSpPr/>
          <p:nvPr/>
        </p:nvSpPr>
        <p:spPr>
          <a:xfrm>
            <a:off x="868680" y="3227832"/>
            <a:ext cx="2971800" cy="457200"/>
          </a:xfrm>
          <a:prstGeom prst="rect">
            <a:avLst/>
          </a:prstGeom>
          <a:solidFill>
            <a:srgbClr val="1E63B0"/>
          </a:solidFill>
          <a:ln/>
        </p:spPr>
      </p:sp>
      <p:sp>
        <p:nvSpPr>
          <p:cNvPr id="15" name="Shape 12"/>
          <p:cNvSpPr/>
          <p:nvPr/>
        </p:nvSpPr>
        <p:spPr>
          <a:xfrm>
            <a:off x="3840480" y="3227832"/>
            <a:ext cx="2971800" cy="457200"/>
          </a:xfrm>
          <a:prstGeom prst="rect">
            <a:avLst/>
          </a:prstGeom>
          <a:solidFill>
            <a:srgbClr val="C87800"/>
          </a:solidFill>
          <a:ln/>
        </p:spPr>
      </p:sp>
      <p:sp>
        <p:nvSpPr>
          <p:cNvPr id="16" name="Text 13"/>
          <p:cNvSpPr/>
          <p:nvPr/>
        </p:nvSpPr>
        <p:spPr>
          <a:xfrm>
            <a:off x="868680" y="3227832"/>
            <a:ext cx="2971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v1  50%</a:t>
            </a:r>
            <a:endParaRPr lang="en-US" sz="1000" dirty="0"/>
          </a:p>
        </p:txBody>
      </p:sp>
      <p:sp>
        <p:nvSpPr>
          <p:cNvPr id="17" name="Text 14"/>
          <p:cNvSpPr/>
          <p:nvPr/>
        </p:nvSpPr>
        <p:spPr>
          <a:xfrm>
            <a:off x="3840480" y="3227832"/>
            <a:ext cx="29718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v2 50%</a:t>
            </a:r>
            <a:endParaRPr lang="en-US" sz="900" dirty="0"/>
          </a:p>
        </p:txBody>
      </p:sp>
      <p:sp>
        <p:nvSpPr>
          <p:cNvPr id="18" name="Text 15"/>
          <p:cNvSpPr/>
          <p:nvPr/>
        </p:nvSpPr>
        <p:spPr>
          <a:xfrm>
            <a:off x="868680" y="3867912"/>
            <a:ext cx="5943600" cy="237744"/>
          </a:xfrm>
          <a:prstGeom prst="rect">
            <a:avLst/>
          </a:prstGeom>
          <a:noFill/>
          <a:ln/>
        </p:spPr>
        <p:txBody>
          <a:bodyPr wrap="square" lIns="0" tIns="0" rIns="0" bIns="0" rtlCol="0" anchor="ctr"/>
          <a:lstStyle/>
          <a:p>
            <a:pPr marL="0" indent="0">
              <a:buNone/>
            </a:pPr>
            <a:r>
              <a:rPr lang="en-US" sz="1050" b="1" dirty="0">
                <a:solidFill>
                  <a:srgbClr val="1B2430"/>
                </a:solidFill>
                <a:latin typeface="Calibri" pitchFamily="34" charset="0"/>
                <a:ea typeface="Calibri" pitchFamily="34" charset="-122"/>
                <a:cs typeface="Calibri" pitchFamily="34" charset="-120"/>
              </a:rPr>
              <a:t>Fase 3  -  100%  (promocion completa)</a:t>
            </a:r>
            <a:endParaRPr lang="en-US" sz="1050" dirty="0"/>
          </a:p>
        </p:txBody>
      </p:sp>
      <p:sp>
        <p:nvSpPr>
          <p:cNvPr id="19" name="Shape 16"/>
          <p:cNvSpPr/>
          <p:nvPr/>
        </p:nvSpPr>
        <p:spPr>
          <a:xfrm>
            <a:off x="868680" y="4142232"/>
            <a:ext cx="0" cy="457200"/>
          </a:xfrm>
          <a:prstGeom prst="rect">
            <a:avLst/>
          </a:prstGeom>
          <a:solidFill>
            <a:srgbClr val="1E63B0"/>
          </a:solidFill>
          <a:ln/>
        </p:spPr>
      </p:sp>
      <p:sp>
        <p:nvSpPr>
          <p:cNvPr id="20" name="Shape 17"/>
          <p:cNvSpPr/>
          <p:nvPr/>
        </p:nvSpPr>
        <p:spPr>
          <a:xfrm>
            <a:off x="868680" y="4142232"/>
            <a:ext cx="5943600" cy="457200"/>
          </a:xfrm>
          <a:prstGeom prst="rect">
            <a:avLst/>
          </a:prstGeom>
          <a:solidFill>
            <a:srgbClr val="C87800"/>
          </a:solidFill>
          <a:ln/>
        </p:spPr>
      </p:sp>
      <p:sp>
        <p:nvSpPr>
          <p:cNvPr id="21" name="Text 18"/>
          <p:cNvSpPr/>
          <p:nvPr/>
        </p:nvSpPr>
        <p:spPr>
          <a:xfrm>
            <a:off x="868680" y="4142232"/>
            <a:ext cx="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v1  0%</a:t>
            </a:r>
            <a:endParaRPr lang="en-US" sz="1000" dirty="0"/>
          </a:p>
        </p:txBody>
      </p:sp>
      <p:sp>
        <p:nvSpPr>
          <p:cNvPr id="22" name="Text 19"/>
          <p:cNvSpPr/>
          <p:nvPr/>
        </p:nvSpPr>
        <p:spPr>
          <a:xfrm>
            <a:off x="868680" y="4142232"/>
            <a:ext cx="59436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v2 100%</a:t>
            </a:r>
            <a:endParaRPr lang="en-US" sz="900" dirty="0"/>
          </a:p>
        </p:txBody>
      </p:sp>
      <p:sp>
        <p:nvSpPr>
          <p:cNvPr id="23" name="Text 20"/>
          <p:cNvSpPr/>
          <p:nvPr/>
        </p:nvSpPr>
        <p:spPr>
          <a:xfrm>
            <a:off x="868680" y="4663440"/>
            <a:ext cx="5943600" cy="274320"/>
          </a:xfrm>
          <a:prstGeom prst="rect">
            <a:avLst/>
          </a:prstGeom>
          <a:noFill/>
          <a:ln/>
        </p:spPr>
        <p:txBody>
          <a:bodyPr wrap="square" lIns="0" tIns="0" rIns="0" bIns="0" rtlCol="0" anchor="ctr"/>
          <a:lstStyle/>
          <a:p>
            <a:pPr marL="0" indent="0">
              <a:buNone/>
            </a:pPr>
            <a:r>
              <a:rPr lang="en-US" sz="1000" i="1" dirty="0">
                <a:solidFill>
                  <a:srgbClr val="5B6B7B"/>
                </a:solidFill>
                <a:latin typeface="Calibri" pitchFamily="34" charset="0"/>
                <a:ea typeface="Calibri" pitchFamily="34" charset="-122"/>
                <a:cs typeface="Calibri" pitchFamily="34" charset="-120"/>
              </a:rPr>
              <a:t>Azul = version estable (v1)      Ambar = version nueva / canario (v2)</a:t>
            </a:r>
            <a:endParaRPr lang="en-US" sz="1000" dirty="0"/>
          </a:p>
        </p:txBody>
      </p:sp>
      <p:sp>
        <p:nvSpPr>
          <p:cNvPr id="24" name="Text 21"/>
          <p:cNvSpPr/>
          <p:nvPr/>
        </p:nvSpPr>
        <p:spPr>
          <a:xfrm>
            <a:off x="868680" y="4983480"/>
            <a:ext cx="6035040" cy="822960"/>
          </a:xfrm>
          <a:prstGeom prst="rect">
            <a:avLst/>
          </a:prstGeom>
          <a:noFill/>
          <a:ln/>
        </p:spPr>
        <p:txBody>
          <a:bodyPr wrap="square" lIns="0" tIns="0" rIns="0" bIns="0" rtlCol="0" anchor="ctr"/>
          <a:lstStyle/>
          <a:p>
            <a:pPr marL="0" indent="0">
              <a:lnSpc>
                <a:spcPct val="100000"/>
              </a:lnSpc>
              <a:buNone/>
            </a:pPr>
            <a:r>
              <a:rPr lang="en-US" sz="1150" b="1" i="1" dirty="0">
                <a:solidFill>
                  <a:srgbClr val="C87800"/>
                </a:solidFill>
                <a:latin typeface="Calibri" pitchFamily="34" charset="0"/>
                <a:ea typeface="Calibri" pitchFamily="34" charset="-122"/>
                <a:cs typeface="Calibri" pitchFamily="34" charset="-120"/>
              </a:rPr>
              <a:t>Si las metricas (errores, latencia) se degradan, se detiene y revierte antes de afectar a todos.</a:t>
            </a:r>
            <a:endParaRPr lang="en-US" sz="1150" dirty="0"/>
          </a:p>
        </p:txBody>
      </p:sp>
      <p:sp>
        <p:nvSpPr>
          <p:cNvPr id="25" name="Shape 22"/>
          <p:cNvSpPr/>
          <p:nvPr/>
        </p:nvSpPr>
        <p:spPr>
          <a:xfrm>
            <a:off x="7360920" y="1481328"/>
            <a:ext cx="4343400" cy="2331720"/>
          </a:xfrm>
          <a:prstGeom prst="roundRect">
            <a:avLst>
              <a:gd name="adj" fmla="val 3529"/>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26" name="Text 23"/>
          <p:cNvSpPr/>
          <p:nvPr/>
        </p:nvSpPr>
        <p:spPr>
          <a:xfrm>
            <a:off x="7589520" y="1627632"/>
            <a:ext cx="3840480" cy="274320"/>
          </a:xfrm>
          <a:prstGeom prst="rect">
            <a:avLst/>
          </a:prstGeom>
          <a:noFill/>
          <a:ln/>
        </p:spPr>
        <p:txBody>
          <a:bodyPr wrap="square" lIns="0" tIns="0" rIns="0" bIns="0" rtlCol="0" anchor="ctr"/>
          <a:lstStyle/>
          <a:p>
            <a:pPr marL="0" indent="0">
              <a:buNone/>
            </a:pPr>
            <a:r>
              <a:rPr lang="en-US" sz="1400" b="1" dirty="0">
                <a:solidFill>
                  <a:srgbClr val="1F3864"/>
                </a:solidFill>
                <a:latin typeface="Cambria" pitchFamily="34" charset="0"/>
                <a:ea typeface="Cambria" pitchFamily="34" charset="-122"/>
                <a:cs typeface="Cambria" pitchFamily="34" charset="-120"/>
              </a:rPr>
              <a:t>Ventajas y costo</a:t>
            </a:r>
            <a:endParaRPr lang="en-US" sz="1400" dirty="0"/>
          </a:p>
        </p:txBody>
      </p:sp>
      <p:sp>
        <p:nvSpPr>
          <p:cNvPr id="27" name="Text 24"/>
          <p:cNvSpPr/>
          <p:nvPr/>
        </p:nvSpPr>
        <p:spPr>
          <a:xfrm>
            <a:off x="7589520" y="1965960"/>
            <a:ext cx="3886200" cy="1783080"/>
          </a:xfrm>
          <a:prstGeom prst="rect">
            <a:avLst/>
          </a:prstGeom>
          <a:noFill/>
          <a:ln/>
        </p:spPr>
        <p:txBody>
          <a:bodyPr wrap="square" lIns="0" tIns="0" rIns="0" bIns="0" rtlCol="0" anchor="t"/>
          <a:lstStyle/>
          <a:p>
            <a:pPr marL="177800" indent="-177800" algn="l">
              <a:spcAft>
                <a:spcPts val="700"/>
              </a:spcAft>
              <a:buSzPct val="100000"/>
              <a:buChar char="•"/>
            </a:pPr>
            <a:r>
              <a:rPr lang="en-US" sz="1150" dirty="0">
                <a:solidFill>
                  <a:srgbClr val="007F47"/>
                </a:solidFill>
                <a:latin typeface="Calibri" pitchFamily="34" charset="0"/>
                <a:ea typeface="Calibri" pitchFamily="34" charset="-122"/>
                <a:cs typeface="Calibri" pitchFamily="34" charset="-120"/>
              </a:rPr>
              <a:t>Riesgo minimo: el fallo afecta solo a una fraccion de usuarios.</a:t>
            </a:r>
            <a:endParaRPr lang="en-US" sz="1150" dirty="0"/>
          </a:p>
          <a:p>
            <a:pPr marL="177800" indent="-177800" algn="l">
              <a:spcAft>
                <a:spcPts val="700"/>
              </a:spcAft>
              <a:buSzPct val="100000"/>
              <a:buChar char="•"/>
            </a:pPr>
            <a:r>
              <a:rPr lang="en-US" sz="1150" dirty="0">
                <a:solidFill>
                  <a:srgbClr val="1B2430"/>
                </a:solidFill>
                <a:latin typeface="Calibri" pitchFamily="34" charset="0"/>
                <a:ea typeface="Calibri" pitchFamily="34" charset="-122"/>
                <a:cs typeface="Calibri" pitchFamily="34" charset="-120"/>
              </a:rPr>
              <a:t>Permite validar con trafico real y metricas.</a:t>
            </a:r>
            <a:endParaRPr lang="en-US" sz="1150" dirty="0"/>
          </a:p>
          <a:p>
            <a:pPr marL="177800" indent="-177800" algn="l">
              <a:spcAft>
                <a:spcPts val="700"/>
              </a:spcAft>
              <a:buSzPct val="100000"/>
              <a:buChar char="•"/>
            </a:pPr>
            <a:r>
              <a:rPr lang="en-US" sz="1150" dirty="0">
                <a:solidFill>
                  <a:srgbClr val="C87800"/>
                </a:solidFill>
                <a:latin typeface="Calibri" pitchFamily="34" charset="0"/>
                <a:ea typeface="Calibri" pitchFamily="34" charset="-122"/>
                <a:cs typeface="Calibri" pitchFamily="34" charset="-120"/>
              </a:rPr>
              <a:t>Mas lento y requiere buena observabilidad.</a:t>
            </a:r>
            <a:endParaRPr lang="en-US" sz="1150" dirty="0"/>
          </a:p>
        </p:txBody>
      </p:sp>
      <p:sp>
        <p:nvSpPr>
          <p:cNvPr id="28" name="Shape 25"/>
          <p:cNvSpPr/>
          <p:nvPr/>
        </p:nvSpPr>
        <p:spPr>
          <a:xfrm>
            <a:off x="7360920" y="3977640"/>
            <a:ext cx="4343400" cy="2029968"/>
          </a:xfrm>
          <a:prstGeom prst="roundRect">
            <a:avLst>
              <a:gd name="adj" fmla="val 2703"/>
            </a:avLst>
          </a:prstGeom>
          <a:solidFill>
            <a:srgbClr val="0E1726"/>
          </a:solidFill>
          <a:ln/>
          <a:effectLst>
            <a:outerShdw blurRad="88900" dist="38100" dir="5400000" algn="bl" rotWithShape="0">
              <a:srgbClr val="000000">
                <a:alpha val="16000"/>
              </a:srgbClr>
            </a:outerShdw>
          </a:effectLst>
        </p:spPr>
      </p:sp>
      <p:sp>
        <p:nvSpPr>
          <p:cNvPr id="29" name="Shape 26"/>
          <p:cNvSpPr/>
          <p:nvPr/>
        </p:nvSpPr>
        <p:spPr>
          <a:xfrm>
            <a:off x="7360920" y="3977640"/>
            <a:ext cx="4343400" cy="310896"/>
          </a:xfrm>
          <a:prstGeom prst="roundRect">
            <a:avLst>
              <a:gd name="adj" fmla="val 17647"/>
            </a:avLst>
          </a:prstGeom>
          <a:solidFill>
            <a:srgbClr val="C87800"/>
          </a:solidFill>
          <a:ln/>
        </p:spPr>
      </p:sp>
      <p:sp>
        <p:nvSpPr>
          <p:cNvPr id="30" name="Text 27"/>
          <p:cNvSpPr/>
          <p:nvPr/>
        </p:nvSpPr>
        <p:spPr>
          <a:xfrm>
            <a:off x="7507224" y="3995928"/>
            <a:ext cx="4069080" cy="274320"/>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k8s/deployment-canary.yaml</a:t>
            </a:r>
            <a:endParaRPr lang="en-US" sz="1050" dirty="0"/>
          </a:p>
        </p:txBody>
      </p:sp>
      <p:sp>
        <p:nvSpPr>
          <p:cNvPr id="31" name="Text 28"/>
          <p:cNvSpPr/>
          <p:nvPr/>
        </p:nvSpPr>
        <p:spPr>
          <a:xfrm>
            <a:off x="7507224" y="4379976"/>
            <a:ext cx="4069080" cy="1536192"/>
          </a:xfrm>
          <a:prstGeom prst="rect">
            <a:avLst/>
          </a:prstGeom>
          <a:noFill/>
          <a:ln/>
        </p:spPr>
        <p:txBody>
          <a:bodyPr wrap="square" lIns="0" tIns="0" rIns="0" bIns="0" rtlCol="0" anchor="t"/>
          <a:lstStyle/>
          <a:p>
            <a:pPr marL="0" indent="0" algn="l">
              <a:lnSpc>
                <a:spcPct val="104000"/>
              </a:lnSpc>
              <a:buNone/>
            </a:pPr>
            <a:r>
              <a:rPr lang="en-US" sz="950" dirty="0">
                <a:solidFill>
                  <a:srgbClr val="9CDCFE"/>
                </a:solidFill>
                <a:latin typeface="Consolas" pitchFamily="34" charset="0"/>
                <a:ea typeface="Consolas" pitchFamily="34" charset="-122"/>
                <a:cs typeface="Consolas" pitchFamily="34" charset="-120"/>
              </a:rPr>
              <a:t>kind: Deployment</a:t>
            </a:r>
            <a:endParaRPr lang="en-US" sz="9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metadata: { name: svc-canary }</a:t>
            </a:r>
            <a:endParaRPr lang="en-US" sz="9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spec:</a:t>
            </a:r>
            <a:endParaRPr lang="en-US" sz="950" dirty="0"/>
          </a:p>
          <a:p>
            <a:pPr marL="0" indent="0" algn="l">
              <a:lnSpc>
                <a:spcPct val="104000"/>
              </a:lnSpc>
              <a:buNone/>
            </a:pPr>
            <a:r>
              <a:rPr lang="en-US" sz="950" dirty="0">
                <a:solidFill>
                  <a:srgbClr val="DCB67A"/>
                </a:solidFill>
                <a:latin typeface="Consolas" pitchFamily="34" charset="0"/>
                <a:ea typeface="Consolas" pitchFamily="34" charset="-122"/>
                <a:cs typeface="Consolas" pitchFamily="34" charset="-120"/>
              </a:rPr>
              <a:t>  replicas: 1   # 1 de 10 = ~10%</a:t>
            </a:r>
            <a:endParaRPr lang="en-US" sz="950" dirty="0"/>
          </a:p>
          <a:p>
            <a:pPr marL="0" indent="0" algn="l">
              <a:lnSpc>
                <a:spcPct val="104000"/>
              </a:lnSpc>
              <a:buNone/>
            </a:pPr>
            <a:r>
              <a:rPr lang="en-US" sz="950" dirty="0">
                <a:solidFill>
                  <a:srgbClr val="CFE3F2"/>
                </a:solidFill>
                <a:latin typeface="Consolas" pitchFamily="34" charset="0"/>
                <a:ea typeface="Consolas" pitchFamily="34" charset="-122"/>
                <a:cs typeface="Consolas" pitchFamily="34" charset="-120"/>
              </a:rPr>
              <a:t>  template:</a:t>
            </a:r>
            <a:endParaRPr lang="en-US" sz="950" dirty="0"/>
          </a:p>
          <a:p>
            <a:pPr marL="0" indent="0" algn="l">
              <a:lnSpc>
                <a:spcPct val="104000"/>
              </a:lnSpc>
              <a:buNone/>
            </a:pPr>
            <a:r>
              <a:rPr lang="en-US" sz="900" dirty="0">
                <a:solidFill>
                  <a:srgbClr val="CFE3F2"/>
                </a:solidFill>
                <a:latin typeface="Consolas" pitchFamily="34" charset="0"/>
                <a:ea typeface="Consolas" pitchFamily="34" charset="-122"/>
                <a:cs typeface="Consolas" pitchFamily="34" charset="-120"/>
              </a:rPr>
              <a:t>    labels: { app: svc, version: v2 }</a:t>
            </a:r>
            <a:endParaRPr lang="en-US" sz="950" dirty="0"/>
          </a:p>
          <a:p>
            <a:pPr marL="0" indent="0" algn="l">
              <a:lnSpc>
                <a:spcPct val="104000"/>
              </a:lnSpc>
              <a:buNone/>
            </a:pPr>
            <a:r>
              <a:rPr lang="en-US" sz="900" dirty="0">
                <a:solidFill>
                  <a:srgbClr val="7FB089"/>
                </a:solidFill>
                <a:latin typeface="Consolas" pitchFamily="34" charset="0"/>
                <a:ea typeface="Consolas" pitchFamily="34" charset="-122"/>
                <a:cs typeface="Consolas" pitchFamily="34" charset="-120"/>
              </a:rPr>
              <a:t># Avanzado: Argo Rollouts / Ingress</a:t>
            </a:r>
            <a:endParaRPr lang="en-US" sz="950" dirty="0"/>
          </a:p>
        </p:txBody>
      </p:sp>
      <p:sp>
        <p:nvSpPr>
          <p:cNvPr id="33" name="Text 29"/>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34" name="Text 30"/>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C87800"/>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C87800"/>
                </a:solidFill>
                <a:latin typeface="Calibri" pitchFamily="34" charset="0"/>
                <a:ea typeface="Calibri" pitchFamily="34" charset="-122"/>
                <a:cs typeface="Calibri" pitchFamily="34" charset="-120"/>
              </a:rPr>
              <a:t>SUBTEMA 4 - SINTESIS</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Comparacion de estrategias</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5568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57200">
                <a:tc>
                  <a:txBody>
                    <a:bodyPr/>
                    <a:lstStyle/>
                    <a:p>
                      <a:pPr marL="0" indent="0" algn="l">
                        <a:buNone/>
                      </a:pPr>
                      <a:r>
                        <a:rPr lang="en-US" sz="1300" b="1" dirty="0">
                          <a:solidFill>
                            <a:srgbClr val="FFFFFF"/>
                          </a:solidFill>
                          <a:latin typeface="Cambria" pitchFamily="34" charset="0"/>
                          <a:ea typeface="Cambria" pitchFamily="34" charset="-122"/>
                          <a:cs typeface="Cambria" pitchFamily="34" charset="-120"/>
                        </a:rPr>
                        <a:t>Criterio</a:t>
                      </a:r>
                      <a:endParaRPr lang="en-US" sz="1300" dirty="0">
                        <a:latin typeface="Cambria" charset="0"/>
                        <a:ea typeface="Cambria" charset="0"/>
                        <a:cs typeface="Cambria"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F3864"/>
                    </a:solidFill>
                  </a:tcPr>
                </a:tc>
                <a:tc>
                  <a:txBody>
                    <a:bodyPr/>
                    <a:lstStyle/>
                    <a:p>
                      <a:pPr marL="0" indent="0" algn="l">
                        <a:buNone/>
                      </a:pPr>
                      <a:r>
                        <a:rPr lang="en-US" sz="1300" b="1" dirty="0">
                          <a:solidFill>
                            <a:srgbClr val="FFFFFF"/>
                          </a:solidFill>
                          <a:latin typeface="Cambria" pitchFamily="34" charset="0"/>
                          <a:ea typeface="Cambria" pitchFamily="34" charset="-122"/>
                          <a:cs typeface="Cambria" pitchFamily="34" charset="-120"/>
                        </a:rPr>
                        <a:t>Rolling (progresiva)</a:t>
                      </a:r>
                      <a:endParaRPr lang="en-US" sz="1300" dirty="0">
                        <a:latin typeface="Cambria" charset="0"/>
                        <a:ea typeface="Cambria" charset="0"/>
                        <a:cs typeface="Cambria"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F3864"/>
                    </a:solidFill>
                  </a:tcPr>
                </a:tc>
                <a:tc>
                  <a:txBody>
                    <a:bodyPr/>
                    <a:lstStyle/>
                    <a:p>
                      <a:pPr marL="0" indent="0" algn="l">
                        <a:buNone/>
                      </a:pPr>
                      <a:r>
                        <a:rPr lang="en-US" sz="1300" b="1" dirty="0">
                          <a:solidFill>
                            <a:srgbClr val="FFFFFF"/>
                          </a:solidFill>
                          <a:latin typeface="Cambria" pitchFamily="34" charset="0"/>
                          <a:ea typeface="Cambria" pitchFamily="34" charset="-122"/>
                          <a:cs typeface="Cambria" pitchFamily="34" charset="-120"/>
                        </a:rPr>
                        <a:t>Blue-Green</a:t>
                      </a:r>
                      <a:endParaRPr lang="en-US" sz="1300" dirty="0">
                        <a:latin typeface="Cambria" charset="0"/>
                        <a:ea typeface="Cambria" charset="0"/>
                        <a:cs typeface="Cambria"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F3864"/>
                    </a:solidFill>
                  </a:tcPr>
                </a:tc>
                <a:tc>
                  <a:txBody>
                    <a:bodyPr/>
                    <a:lstStyle/>
                    <a:p>
                      <a:pPr marL="0" indent="0" algn="l">
                        <a:buNone/>
                      </a:pPr>
                      <a:r>
                        <a:rPr lang="en-US" sz="1300" b="1" dirty="0">
                          <a:solidFill>
                            <a:srgbClr val="FFFFFF"/>
                          </a:solidFill>
                          <a:latin typeface="Cambria" pitchFamily="34" charset="0"/>
                          <a:ea typeface="Cambria" pitchFamily="34" charset="-122"/>
                          <a:cs typeface="Cambria" pitchFamily="34" charset="-120"/>
                        </a:rPr>
                        <a:t>Canary</a:t>
                      </a:r>
                      <a:endParaRPr lang="en-US" sz="1300" dirty="0">
                        <a:latin typeface="Cambria" charset="0"/>
                        <a:ea typeface="Cambria" charset="0"/>
                        <a:cs typeface="Cambria"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566928">
                <a:tc>
                  <a:txBody>
                    <a:bodyPr/>
                    <a:lstStyle/>
                    <a:p>
                      <a:pPr marL="0" indent="0" algn="l">
                        <a:buNone/>
                      </a:pPr>
                      <a:r>
                        <a:rPr lang="en-US" sz="1200" b="1" dirty="0">
                          <a:solidFill>
                            <a:srgbClr val="1F3864"/>
                          </a:solidFill>
                          <a:latin typeface="Calibri" pitchFamily="34" charset="0"/>
                          <a:ea typeface="Calibri" pitchFamily="34" charset="-122"/>
                          <a:cs typeface="Calibri" pitchFamily="34" charset="-120"/>
                        </a:rPr>
                        <a:t>Tiempo de inactividad</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Cero</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Cero</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Cero</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00" b="1" dirty="0">
                          <a:solidFill>
                            <a:srgbClr val="1F3864"/>
                          </a:solidFill>
                          <a:latin typeface="Calibri" pitchFamily="34" charset="0"/>
                          <a:ea typeface="Calibri" pitchFamily="34" charset="-122"/>
                          <a:cs typeface="Calibri" pitchFamily="34" charset="-120"/>
                        </a:rPr>
                        <a:t>Velocidad de reversion</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Media</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Instantanea</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Rapida</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566928">
                <a:tc>
                  <a:txBody>
                    <a:bodyPr/>
                    <a:lstStyle/>
                    <a:p>
                      <a:pPr marL="0" indent="0" algn="l">
                        <a:buNone/>
                      </a:pPr>
                      <a:r>
                        <a:rPr lang="en-US" sz="1200" b="1" dirty="0">
                          <a:solidFill>
                            <a:srgbClr val="1F3864"/>
                          </a:solidFill>
                          <a:latin typeface="Calibri" pitchFamily="34" charset="0"/>
                          <a:ea typeface="Calibri" pitchFamily="34" charset="-122"/>
                          <a:cs typeface="Calibri" pitchFamily="34" charset="-120"/>
                        </a:rPr>
                        <a:t>Costo de recursos</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Alto (x2)</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Bajo / medio</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00" b="1" dirty="0">
                          <a:solidFill>
                            <a:srgbClr val="1F3864"/>
                          </a:solidFill>
                          <a:latin typeface="Calibri" pitchFamily="34" charset="0"/>
                          <a:ea typeface="Calibri" pitchFamily="34" charset="-122"/>
                          <a:cs typeface="Calibri" pitchFamily="34" charset="-120"/>
                        </a:rPr>
                        <a:t>Exposicion al riesgo</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Gradual (por pods)</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Total al conmutar</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Minima (fraccion)</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566928">
                <a:tc>
                  <a:txBody>
                    <a:bodyPr/>
                    <a:lstStyle/>
                    <a:p>
                      <a:pPr marL="0" indent="0" algn="l">
                        <a:buNone/>
                      </a:pPr>
                      <a:r>
                        <a:rPr lang="en-US" sz="1200" b="1" dirty="0">
                          <a:solidFill>
                            <a:srgbClr val="1F3864"/>
                          </a:solidFill>
                          <a:latin typeface="Calibri" pitchFamily="34" charset="0"/>
                          <a:ea typeface="Calibri" pitchFamily="34" charset="-122"/>
                          <a:cs typeface="Calibri" pitchFamily="34" charset="-120"/>
                        </a:rPr>
                        <a:t>Necesita observabilidad</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Baja</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Media</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Alta</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200" b="1" dirty="0">
                          <a:solidFill>
                            <a:srgbClr val="1F3864"/>
                          </a:solidFill>
                          <a:latin typeface="Calibri" pitchFamily="34" charset="0"/>
                          <a:ea typeface="Calibri" pitchFamily="34" charset="-122"/>
                          <a:cs typeface="Calibri" pitchFamily="34" charset="-120"/>
                        </a:rPr>
                        <a:t>En Kubernetes</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Por defecto</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Selector del Service</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tc>
                  <a:txBody>
                    <a:bodyPr/>
                    <a:lstStyle/>
                    <a:p>
                      <a:pPr marL="0" indent="0" algn="l">
                        <a:buNone/>
                      </a:pPr>
                      <a:r>
                        <a:rPr lang="en-US" sz="1200" dirty="0">
                          <a:solidFill>
                            <a:srgbClr val="1B2430"/>
                          </a:solidFill>
                          <a:latin typeface="Calibri" pitchFamily="34" charset="0"/>
                          <a:ea typeface="Calibri" pitchFamily="34" charset="-122"/>
                          <a:cs typeface="Calibri" pitchFamily="34" charset="-120"/>
                        </a:rPr>
                        <a:t>Replicas / Argo Rollouts</a:t>
                      </a:r>
                      <a:endParaRPr lang="en-US" sz="1200" dirty="0">
                        <a:latin typeface="Calibri" charset="0"/>
                        <a:ea typeface="Calibri" charset="0"/>
                        <a:cs typeface="Calibri" charset="0"/>
                      </a:endParaRPr>
                    </a:p>
                  </a:txBody>
                  <a:tcPr marL="101600" marR="101600" marT="50800" marB="50800" anchor="ctr">
                    <a:lnL w="12700" cap="flat" cmpd="sng" algn="ctr">
                      <a:solidFill>
                        <a:srgbClr val="D7DEE8"/>
                      </a:solidFill>
                      <a:prstDash val="solid"/>
                      <a:round/>
                      <a:headEnd type="none" w="med" len="med"/>
                      <a:tailEnd type="none" w="med" len="med"/>
                    </a:lnL>
                    <a:lnR w="12700" cap="flat" cmpd="sng" algn="ctr">
                      <a:solidFill>
                        <a:srgbClr val="D7DEE8"/>
                      </a:solidFill>
                      <a:prstDash val="solid"/>
                      <a:round/>
                      <a:headEnd type="none" w="med" len="med"/>
                      <a:tailEnd type="none" w="med" len="med"/>
                    </a:lnR>
                    <a:lnT w="12700" cap="flat" cmpd="sng" algn="ctr">
                      <a:solidFill>
                        <a:srgbClr val="D7DEE8"/>
                      </a:solidFill>
                      <a:prstDash val="solid"/>
                      <a:round/>
                      <a:headEnd type="none" w="med" len="med"/>
                      <a:tailEnd type="none" w="med" len="med"/>
                    </a:lnT>
                    <a:lnB w="12700" cap="flat" cmpd="sng" algn="ctr">
                      <a:solidFill>
                        <a:srgbClr val="D7DEE8"/>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bl>
          </a:graphicData>
        </a:graphic>
      </p:graphicFrame>
      <p:sp>
        <p:nvSpPr>
          <p:cNvPr id="7" name="Shape 3"/>
          <p:cNvSpPr/>
          <p:nvPr/>
        </p:nvSpPr>
        <p:spPr>
          <a:xfrm>
            <a:off x="548640" y="5806440"/>
            <a:ext cx="11155680" cy="658368"/>
          </a:xfrm>
          <a:prstGeom prst="roundRect">
            <a:avLst>
              <a:gd name="adj" fmla="val 12500"/>
            </a:avLst>
          </a:prstGeom>
          <a:solidFill>
            <a:srgbClr val="EAF2F1"/>
          </a:solidFill>
          <a:ln w="12700">
            <a:solidFill>
              <a:srgbClr val="D7DEE8"/>
            </a:solidFill>
            <a:prstDash val="solid"/>
          </a:ln>
          <a:effectLst>
            <a:outerShdw blurRad="88900" dist="38100" dir="5400000" algn="bl" rotWithShape="0">
              <a:srgbClr val="000000">
                <a:alpha val="16000"/>
              </a:srgbClr>
            </a:outerShdw>
          </a:effectLst>
        </p:spPr>
      </p:sp>
      <p:sp>
        <p:nvSpPr>
          <p:cNvPr id="8" name="Text 4"/>
          <p:cNvSpPr/>
          <p:nvPr/>
        </p:nvSpPr>
        <p:spPr>
          <a:xfrm>
            <a:off x="731520" y="5806440"/>
            <a:ext cx="10789920" cy="658368"/>
          </a:xfrm>
          <a:prstGeom prst="rect">
            <a:avLst/>
          </a:prstGeom>
          <a:noFill/>
          <a:ln/>
        </p:spPr>
        <p:txBody>
          <a:bodyPr wrap="square" lIns="0" tIns="0" rIns="0" bIns="0" rtlCol="0" anchor="ctr"/>
          <a:lstStyle/>
          <a:p>
            <a:pPr marL="0" indent="0">
              <a:buNone/>
            </a:pPr>
            <a:r>
              <a:rPr lang="en-US" sz="1250" b="1" dirty="0">
                <a:solidFill>
                  <a:srgbClr val="C87800"/>
                </a:solidFill>
                <a:latin typeface="Calibri" pitchFamily="34" charset="0"/>
                <a:ea typeface="Calibri" pitchFamily="34" charset="-122"/>
                <a:cs typeface="Calibri" pitchFamily="34" charset="-120"/>
              </a:rPr>
              <a:t>Regla practica:  </a:t>
            </a:r>
            <a:r>
              <a:rPr lang="en-US" sz="1250" dirty="0">
                <a:solidFill>
                  <a:srgbClr val="1B2430"/>
                </a:solidFill>
                <a:latin typeface="Calibri" pitchFamily="34" charset="0"/>
                <a:ea typeface="Calibri" pitchFamily="34" charset="-122"/>
                <a:cs typeface="Calibri" pitchFamily="34" charset="-120"/>
              </a:rPr>
              <a:t>compatibilidad hacia atras en la base de datos y la API es condicion previa para cualquier estrategia: durante la transicion conviven v1 y v2.</a:t>
            </a:r>
            <a:endParaRPr lang="en-US" sz="1250" dirty="0"/>
          </a:p>
        </p:txBody>
      </p:sp>
      <p:sp>
        <p:nvSpPr>
          <p:cNvPr id="10" name="Text 5"/>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1" name="Text 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9692640" y="4206240"/>
            <a:ext cx="4023360" cy="4023360"/>
          </a:xfrm>
          <a:prstGeom prst="ellipse">
            <a:avLst/>
          </a:prstGeom>
          <a:solidFill>
            <a:srgbClr val="0F8C8C">
              <a:alpha val="16000"/>
            </a:srgbClr>
          </a:solidFill>
          <a:ln/>
        </p:spPr>
      </p:sp>
      <p:sp>
        <p:nvSpPr>
          <p:cNvPr id="3" name="Shape 1"/>
          <p:cNvSpPr/>
          <p:nvPr/>
        </p:nvSpPr>
        <p:spPr>
          <a:xfrm>
            <a:off x="-1280160" y="-1463040"/>
            <a:ext cx="3840480" cy="3840480"/>
          </a:xfrm>
          <a:prstGeom prst="ellipse">
            <a:avLst/>
          </a:prstGeom>
          <a:solidFill>
            <a:srgbClr val="FFFFFF">
              <a:alpha val="7000"/>
            </a:srgbClr>
          </a:solidFill>
          <a:ln/>
        </p:spPr>
      </p:sp>
      <p:sp>
        <p:nvSpPr>
          <p:cNvPr id="4" name="Shape 2"/>
          <p:cNvSpPr/>
          <p:nvPr/>
        </p:nvSpPr>
        <p:spPr>
          <a:xfrm>
            <a:off x="822960" y="640080"/>
            <a:ext cx="914400" cy="914400"/>
          </a:xfrm>
          <a:prstGeom prst="ellipse">
            <a:avLst/>
          </a:prstGeom>
          <a:solidFill>
            <a:srgbClr val="C87800"/>
          </a:solidFill>
          <a:ln/>
        </p:spPr>
      </p:sp>
      <p:pic>
        <p:nvPicPr>
          <p:cNvPr id="5" name="Image 0" descr="preencoded.png"/>
          <p:cNvPicPr>
            <a:picLocks noChangeAspect="1"/>
          </p:cNvPicPr>
          <p:nvPr/>
        </p:nvPicPr>
        <p:blipFill>
          <a:blip r:embed="rId3"/>
          <a:stretch>
            <a:fillRect/>
          </a:stretch>
        </p:blipFill>
        <p:spPr>
          <a:xfrm>
            <a:off x="1060704" y="877824"/>
            <a:ext cx="438912" cy="438912"/>
          </a:xfrm>
          <a:prstGeom prst="rect">
            <a:avLst/>
          </a:prstGeom>
        </p:spPr>
      </p:pic>
      <p:sp>
        <p:nvSpPr>
          <p:cNvPr id="6" name="Text 3"/>
          <p:cNvSpPr/>
          <p:nvPr/>
        </p:nvSpPr>
        <p:spPr>
          <a:xfrm>
            <a:off x="1965960" y="7772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Actividad de clase y cierre</a:t>
            </a:r>
            <a:endParaRPr lang="en-US" sz="2800" dirty="0"/>
          </a:p>
        </p:txBody>
      </p:sp>
      <p:sp>
        <p:nvSpPr>
          <p:cNvPr id="7" name="Shape 4"/>
          <p:cNvSpPr/>
          <p:nvPr/>
        </p:nvSpPr>
        <p:spPr>
          <a:xfrm>
            <a:off x="822960" y="1783080"/>
            <a:ext cx="5486400" cy="4160520"/>
          </a:xfrm>
          <a:prstGeom prst="roundRect">
            <a:avLst>
              <a:gd name="adj" fmla="val 2198"/>
            </a:avLst>
          </a:prstGeom>
          <a:solidFill>
            <a:srgbClr val="0E1B38"/>
          </a:solidFill>
          <a:ln w="12700">
            <a:solidFill>
              <a:srgbClr val="2E5EAA"/>
            </a:solidFill>
            <a:prstDash val="solid"/>
          </a:ln>
        </p:spPr>
      </p:sp>
      <p:sp>
        <p:nvSpPr>
          <p:cNvPr id="8" name="Text 5"/>
          <p:cNvSpPr/>
          <p:nvPr/>
        </p:nvSpPr>
        <p:spPr>
          <a:xfrm>
            <a:off x="1097280" y="1938528"/>
            <a:ext cx="4937760" cy="365760"/>
          </a:xfrm>
          <a:prstGeom prst="rect">
            <a:avLst/>
          </a:prstGeom>
          <a:noFill/>
          <a:ln/>
        </p:spPr>
        <p:txBody>
          <a:bodyPr wrap="square" lIns="0" tIns="0" rIns="0" bIns="0" rtlCol="0" anchor="ctr"/>
          <a:lstStyle/>
          <a:p>
            <a:pPr marL="0" indent="0">
              <a:buNone/>
            </a:pPr>
            <a:r>
              <a:rPr lang="en-US" sz="1600" b="1" dirty="0">
                <a:solidFill>
                  <a:srgbClr val="7FE3E3"/>
                </a:solidFill>
                <a:latin typeface="Cambria" pitchFamily="34" charset="0"/>
                <a:ea typeface="Cambria" pitchFamily="34" charset="-122"/>
                <a:cs typeface="Cambria" pitchFamily="34" charset="-120"/>
              </a:rPr>
              <a:t>Actividad (en parejas)</a:t>
            </a:r>
            <a:endParaRPr lang="en-US" sz="1600" dirty="0"/>
          </a:p>
        </p:txBody>
      </p:sp>
      <p:sp>
        <p:nvSpPr>
          <p:cNvPr id="9" name="Text 6"/>
          <p:cNvSpPr/>
          <p:nvPr/>
        </p:nvSpPr>
        <p:spPr>
          <a:xfrm>
            <a:off x="1097280" y="2377440"/>
            <a:ext cx="5029200" cy="3474720"/>
          </a:xfrm>
          <a:prstGeom prst="rect">
            <a:avLst/>
          </a:prstGeom>
          <a:noFill/>
          <a:ln/>
        </p:spPr>
        <p:txBody>
          <a:bodyPr wrap="square" lIns="0" tIns="0" rIns="0" bIns="0" rtlCol="0" anchor="t"/>
          <a:lstStyle/>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Sobre svc-estudiantes, escribir el Dockerfile multi-etapa y construir la imagen.</a:t>
            </a:r>
            <a:endParaRPr lang="en-US" sz="1250" dirty="0"/>
          </a:p>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Crear compose.yaml con app + db (Postgres) y levantar el stack.</a:t>
            </a:r>
            <a:endParaRPr lang="en-US" sz="1250" dirty="0"/>
          </a:p>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Escalar app a 3 replicas y verificar con docker compose ps.</a:t>
            </a:r>
            <a:endParaRPr lang="en-US" sz="1250" dirty="0"/>
          </a:p>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Redactar los manifiestos deployment.yaml y service.yaml.</a:t>
            </a:r>
            <a:endParaRPr lang="en-US" sz="1250" dirty="0"/>
          </a:p>
          <a:p>
            <a:pPr marL="177800" indent="-177800" algn="l">
              <a:spcAft>
                <a:spcPts val="700"/>
              </a:spcAft>
              <a:buSzPct val="100000"/>
              <a:buChar char="•"/>
            </a:pPr>
            <a:r>
              <a:rPr lang="en-US" sz="1250" b="1" dirty="0">
                <a:solidFill>
                  <a:srgbClr val="EAF1FB"/>
                </a:solidFill>
                <a:latin typeface="Calibri" pitchFamily="34" charset="0"/>
                <a:ea typeface="Calibri" pitchFamily="34" charset="-122"/>
                <a:cs typeface="Calibri" pitchFamily="34" charset="-120"/>
              </a:rPr>
              <a:t>Entregar: capturas + un parrafo eligiendo blue-green o canary y por que.</a:t>
            </a:r>
            <a:endParaRPr lang="en-US" sz="1250" dirty="0"/>
          </a:p>
        </p:txBody>
      </p:sp>
      <p:sp>
        <p:nvSpPr>
          <p:cNvPr id="10" name="Shape 7"/>
          <p:cNvSpPr/>
          <p:nvPr/>
        </p:nvSpPr>
        <p:spPr>
          <a:xfrm>
            <a:off x="6492240" y="1783080"/>
            <a:ext cx="4846320" cy="4160520"/>
          </a:xfrm>
          <a:prstGeom prst="roundRect">
            <a:avLst>
              <a:gd name="adj" fmla="val 2198"/>
            </a:avLst>
          </a:prstGeom>
          <a:solidFill>
            <a:srgbClr val="0E1B38"/>
          </a:solidFill>
          <a:ln w="12700">
            <a:solidFill>
              <a:srgbClr val="2E5EAA"/>
            </a:solidFill>
            <a:prstDash val="solid"/>
          </a:ln>
        </p:spPr>
      </p:sp>
      <p:sp>
        <p:nvSpPr>
          <p:cNvPr id="11" name="Text 8"/>
          <p:cNvSpPr/>
          <p:nvPr/>
        </p:nvSpPr>
        <p:spPr>
          <a:xfrm>
            <a:off x="6766560" y="1938528"/>
            <a:ext cx="4297680" cy="365760"/>
          </a:xfrm>
          <a:prstGeom prst="rect">
            <a:avLst/>
          </a:prstGeom>
          <a:noFill/>
          <a:ln/>
        </p:spPr>
        <p:txBody>
          <a:bodyPr wrap="square" lIns="0" tIns="0" rIns="0" bIns="0" rtlCol="0" anchor="ctr"/>
          <a:lstStyle/>
          <a:p>
            <a:pPr marL="0" indent="0">
              <a:buNone/>
            </a:pPr>
            <a:r>
              <a:rPr lang="en-US" sz="1600" b="1" dirty="0">
                <a:solidFill>
                  <a:srgbClr val="7FE3E3"/>
                </a:solidFill>
                <a:latin typeface="Cambria" pitchFamily="34" charset="0"/>
                <a:ea typeface="Cambria" pitchFamily="34" charset="-122"/>
                <a:cs typeface="Cambria" pitchFamily="34" charset="-120"/>
              </a:rPr>
              <a:t>Preguntas de defensa</a:t>
            </a:r>
            <a:endParaRPr lang="en-US" sz="1600" dirty="0"/>
          </a:p>
        </p:txBody>
      </p:sp>
      <p:sp>
        <p:nvSpPr>
          <p:cNvPr id="12" name="Text 9"/>
          <p:cNvSpPr/>
          <p:nvPr/>
        </p:nvSpPr>
        <p:spPr>
          <a:xfrm>
            <a:off x="6766560" y="2377440"/>
            <a:ext cx="4389120" cy="3474720"/>
          </a:xfrm>
          <a:prstGeom prst="rect">
            <a:avLst/>
          </a:prstGeom>
          <a:noFill/>
          <a:ln/>
        </p:spPr>
        <p:txBody>
          <a:bodyPr wrap="square" lIns="0" tIns="0" rIns="0" bIns="0" rtlCol="0" anchor="t"/>
          <a:lstStyle/>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Diferencia esencial entre una VM y un contenedor.</a:t>
            </a:r>
            <a:endParaRPr lang="en-US" sz="1250" dirty="0"/>
          </a:p>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Por que conviene una construccion multi-etapa en el Dockerfile.</a:t>
            </a:r>
            <a:endParaRPr lang="en-US" sz="1250" dirty="0"/>
          </a:p>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Como se descubren los servicios dentro de una red de Compose.</a:t>
            </a:r>
            <a:endParaRPr lang="en-US" sz="1250" dirty="0"/>
          </a:p>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Que hace un Deployment si un pod falla, y por que.</a:t>
            </a:r>
            <a:endParaRPr lang="en-US" sz="1250" dirty="0"/>
          </a:p>
          <a:p>
            <a:pPr marL="177800" indent="-177800" algn="l">
              <a:spcAft>
                <a:spcPts val="700"/>
              </a:spcAft>
              <a:buSzPct val="100000"/>
              <a:buChar char="•"/>
            </a:pPr>
            <a:r>
              <a:rPr lang="en-US" sz="1250" dirty="0">
                <a:solidFill>
                  <a:srgbClr val="EAF1FB"/>
                </a:solidFill>
                <a:latin typeface="Calibri" pitchFamily="34" charset="0"/>
                <a:ea typeface="Calibri" pitchFamily="34" charset="-122"/>
                <a:cs typeface="Calibri" pitchFamily="34" charset="-120"/>
              </a:rPr>
              <a:t>Cuando elegiria blue-green en vez de canary.</a:t>
            </a:r>
            <a:endParaRPr lang="en-US" sz="1250" dirty="0"/>
          </a:p>
        </p:txBody>
      </p:sp>
      <p:sp>
        <p:nvSpPr>
          <p:cNvPr id="14" name="Text 10"/>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5" name="Text 1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786384" cy="786384"/>
          </a:xfrm>
          <a:prstGeom prst="ellipse">
            <a:avLst/>
          </a:prstGeom>
          <a:solidFill>
            <a:srgbClr val="1F3864"/>
          </a:solidFill>
          <a:ln/>
        </p:spPr>
      </p:sp>
      <p:pic>
        <p:nvPicPr>
          <p:cNvPr id="3" name="Image 0" descr="preencoded.png"/>
          <p:cNvPicPr>
            <a:picLocks noChangeAspect="1"/>
          </p:cNvPicPr>
          <p:nvPr/>
        </p:nvPicPr>
        <p:blipFill>
          <a:blip r:embed="rId3"/>
          <a:stretch>
            <a:fillRect/>
          </a:stretch>
        </p:blipFill>
        <p:spPr>
          <a:xfrm>
            <a:off x="669524" y="596372"/>
            <a:ext cx="361737" cy="361737"/>
          </a:xfrm>
          <a:prstGeom prst="rect">
            <a:avLst/>
          </a:prstGeom>
        </p:spPr>
      </p:pic>
      <p:sp>
        <p:nvSpPr>
          <p:cNvPr id="4" name="Text 1"/>
          <p:cNvSpPr/>
          <p:nvPr/>
        </p:nvSpPr>
        <p:spPr>
          <a:xfrm>
            <a:off x="1417320" y="402336"/>
            <a:ext cx="10058400" cy="274320"/>
          </a:xfrm>
          <a:prstGeom prst="rect">
            <a:avLst/>
          </a:prstGeom>
          <a:noFill/>
          <a:ln/>
        </p:spPr>
        <p:txBody>
          <a:bodyPr wrap="square" lIns="0" tIns="0" rIns="0" bIns="0" rtlCol="0" anchor="ctr"/>
          <a:lstStyle/>
          <a:p>
            <a:pPr marL="0" indent="0">
              <a:buNone/>
            </a:pPr>
            <a:r>
              <a:rPr lang="en-US" sz="1150" b="1" kern="0" spc="200" dirty="0">
                <a:solidFill>
                  <a:srgbClr val="1F3864"/>
                </a:solidFill>
                <a:latin typeface="Calibri" pitchFamily="34" charset="0"/>
                <a:ea typeface="Calibri" pitchFamily="34" charset="-122"/>
                <a:cs typeface="Calibri" pitchFamily="34" charset="-120"/>
              </a:rPr>
              <a:t>MATERIAL DE APOYO</a:t>
            </a:r>
            <a:endParaRPr lang="en-US" sz="1150" dirty="0"/>
          </a:p>
        </p:txBody>
      </p:sp>
      <p:sp>
        <p:nvSpPr>
          <p:cNvPr id="5" name="Text 2"/>
          <p:cNvSpPr/>
          <p:nvPr/>
        </p:nvSpPr>
        <p:spPr>
          <a:xfrm>
            <a:off x="1417320" y="640080"/>
            <a:ext cx="10332720" cy="566928"/>
          </a:xfrm>
          <a:prstGeom prst="rect">
            <a:avLst/>
          </a:prstGeom>
          <a:noFill/>
          <a:ln/>
        </p:spPr>
        <p:txBody>
          <a:bodyPr wrap="square" lIns="0" tIns="0" rIns="0" bIns="0" rtlCol="0" anchor="ctr"/>
          <a:lstStyle/>
          <a:p>
            <a:pPr marL="0" indent="0">
              <a:buNone/>
            </a:pPr>
            <a:r>
              <a:rPr lang="en-US" sz="2600" b="1" dirty="0">
                <a:solidFill>
                  <a:srgbClr val="1F3864"/>
                </a:solidFill>
                <a:latin typeface="Cambria" pitchFamily="34" charset="0"/>
                <a:ea typeface="Cambria" pitchFamily="34" charset="-122"/>
                <a:cs typeface="Cambria" pitchFamily="34" charset="-120"/>
              </a:rPr>
              <a:t>Referencias (formato IEEE)</a:t>
            </a:r>
            <a:endParaRPr lang="en-US" sz="2600" dirty="0"/>
          </a:p>
        </p:txBody>
      </p:sp>
      <p:sp>
        <p:nvSpPr>
          <p:cNvPr id="6" name="Shape 3"/>
          <p:cNvSpPr/>
          <p:nvPr/>
        </p:nvSpPr>
        <p:spPr>
          <a:xfrm>
            <a:off x="548640" y="1508760"/>
            <a:ext cx="11155680" cy="4526280"/>
          </a:xfrm>
          <a:prstGeom prst="roundRect">
            <a:avLst>
              <a:gd name="adj" fmla="val 1818"/>
            </a:avLst>
          </a:prstGeom>
          <a:solidFill>
            <a:srgbClr val="F2F6FB"/>
          </a:solidFill>
          <a:ln w="12700">
            <a:solidFill>
              <a:srgbClr val="D7DEE8"/>
            </a:solidFill>
            <a:prstDash val="solid"/>
          </a:ln>
          <a:effectLst>
            <a:outerShdw blurRad="88900" dist="38100" dir="5400000" algn="bl" rotWithShape="0">
              <a:srgbClr val="000000">
                <a:alpha val="16000"/>
              </a:srgbClr>
            </a:outerShdw>
          </a:effectLst>
        </p:spPr>
      </p:sp>
      <p:sp>
        <p:nvSpPr>
          <p:cNvPr id="7" name="Text 4"/>
          <p:cNvSpPr/>
          <p:nvPr/>
        </p:nvSpPr>
        <p:spPr>
          <a:xfrm>
            <a:off x="868680" y="1783080"/>
            <a:ext cx="10515600" cy="4023360"/>
          </a:xfrm>
          <a:prstGeom prst="rect">
            <a:avLst/>
          </a:prstGeom>
          <a:noFill/>
          <a:ln/>
        </p:spPr>
        <p:txBody>
          <a:bodyPr wrap="square" lIns="0" tIns="0" rIns="0" bIns="0" rtlCol="0" anchor="t"/>
          <a:lstStyle/>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[1] D. Merkel, "Docker: lightweight Linux containers for consistent development and deployment," Linux Journal, vol. 2014, no. 239, art. 2, mar. 2014.</a:t>
            </a:r>
            <a:endParaRPr lang="en-US" sz="1200" dirty="0"/>
          </a:p>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[2] D. Bernstein, "Containers and cloud: From LXC to Docker to Kubernetes," IEEE Cloud Computing, vol. 1, no. 3, pp. 81-84, sep. 2014, doi: 10.1109/MCC.2014.51.</a:t>
            </a:r>
            <a:endParaRPr lang="en-US" sz="1200" dirty="0"/>
          </a:p>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[3] C. Pahl, A. Brogi, J. Soldani y P. Jamshidi, "Cloud container technologies: A state-of-the-art review," IEEE Trans. Cloud Computing, vol. 7, no. 3, pp. 677-692, 2019, doi: 10.1109/TCC.2017.2702586.</a:t>
            </a:r>
            <a:endParaRPr lang="en-US" sz="1200" dirty="0"/>
          </a:p>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[4] B. Burns, B. Grant, D. Oppenheimer, E. Brewer y J. Wilkes, "Borg, Omega, and Kubernetes," Commun. ACM, vol. 59, no. 5, pp. 50-57, may. 2016, doi: 10.1145/2890784.</a:t>
            </a:r>
            <a:endParaRPr lang="en-US" sz="1200" dirty="0"/>
          </a:p>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[5] B. Burns, J. Beda, K. Hightower y L. Evenson, Kubernetes: Up and Running, 3.a ed. Sebastopol, CA, EE. UU.: O'Reilly Media, 2022.</a:t>
            </a:r>
            <a:endParaRPr lang="en-US" sz="1200" dirty="0"/>
          </a:p>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[6] C. Richardson, Microservices Patterns. Shelter Island, NY, EE. UU.: Manning, 2018.</a:t>
            </a:r>
            <a:endParaRPr lang="en-US" sz="1200" dirty="0"/>
          </a:p>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[7] S. Newman, Building Microservices, 2.a ed. Sebastopol, CA, EE. UU.: O'Reilly Media, 2021.</a:t>
            </a:r>
            <a:endParaRPr lang="en-US" sz="1200" dirty="0"/>
          </a:p>
          <a:p>
            <a:pPr marL="0" indent="0" algn="l">
              <a:lnSpc>
                <a:spcPct val="102000"/>
              </a:lnSpc>
              <a:spcAft>
                <a:spcPts val="900"/>
              </a:spcAft>
              <a:buNone/>
            </a:pPr>
            <a:r>
              <a:rPr lang="en-US" sz="1200" dirty="0">
                <a:solidFill>
                  <a:srgbClr val="1B2430"/>
                </a:solidFill>
                <a:latin typeface="Calibri" pitchFamily="34" charset="0"/>
                <a:ea typeface="Calibri" pitchFamily="34" charset="-122"/>
                <a:cs typeface="Calibri" pitchFamily="34" charset="-120"/>
              </a:rPr>
              <a:t>[8] G. C. Guerrero Ulloa, Aplicaciones Distribuidas: contenedores y orquestacion (cap. 7). Quevedo, Ecuador: UTEQ, 2026.</a:t>
            </a:r>
            <a:endParaRPr lang="en-US" sz="1200" dirty="0"/>
          </a:p>
        </p:txBody>
      </p:sp>
      <p:sp>
        <p:nvSpPr>
          <p:cNvPr id="9" name="Text 5"/>
          <p:cNvSpPr/>
          <p:nvPr/>
        </p:nvSpPr>
        <p:spPr>
          <a:xfrm>
            <a:off x="457200" y="6473952"/>
            <a:ext cx="8229600" cy="274320"/>
          </a:xfrm>
          <a:prstGeom prst="rect">
            <a:avLst/>
          </a:prstGeom>
          <a:noFill/>
          <a:ln/>
        </p:spPr>
        <p:txBody>
          <a:bodyPr wrap="square" lIns="0" tIns="0" rIns="0" bIns="0" rtlCol="0" anchor="ctr"/>
          <a:lstStyle/>
          <a:p>
            <a:pPr marL="0" indent="0" algn="l">
              <a:buNone/>
            </a:pPr>
            <a:r>
              <a:rPr lang="en-US" sz="900" dirty="0">
                <a:solidFill>
                  <a:srgbClr val="5B6B7B"/>
                </a:solidFill>
                <a:latin typeface="Calibri" pitchFamily="34" charset="0"/>
                <a:ea typeface="Calibri" pitchFamily="34" charset="-122"/>
                <a:cs typeface="Calibri" pitchFamily="34" charset="-120"/>
              </a:rPr>
              <a:t>Aplicaciones Distribuidas (ISR-701)  -  UTEQ  -  Semana 5</a:t>
            </a:r>
            <a:endParaRPr lang="en-US" sz="900" dirty="0"/>
          </a:p>
        </p:txBody>
      </p:sp>
      <p:sp>
        <p:nvSpPr>
          <p:cNvPr id="10" name="Text 6"/>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5B6B7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5639</Words>
  <Application>Microsoft Office PowerPoint</Application>
  <PresentationFormat>Panorámica</PresentationFormat>
  <Paragraphs>470</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Tecnica Estatal de Quevedo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Contenedores y Orquestacion de Servicios</dc:title>
  <dc:subject>PptxGenJS Presentation</dc:subject>
  <dc:creator>Gleiston Guerrero - UTEQ</dc:creator>
  <cp:lastModifiedBy>GLEISTON CICERON GUERRERO ULLOA</cp:lastModifiedBy>
  <cp:revision>2</cp:revision>
  <dcterms:created xsi:type="dcterms:W3CDTF">2026-06-16T11:48:09Z</dcterms:created>
  <dcterms:modified xsi:type="dcterms:W3CDTF">2026-06-16T12:43:13Z</dcterms:modified>
</cp:coreProperties>
</file>