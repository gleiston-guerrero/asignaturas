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130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 Buenas tardes. Bienvenidos a la Semana 3 de Aplicaciones Distribuidas — les recuerdo las siglas: AD para Aplicaciones Distribuidas y SD para Sistemas Distribuidos.
Esta semana es un hito importante: pasamos de preguntarnos QUÉ es un Sistema Distribuido, a preguntarnos CÓMO se comunican sus partes. Esta pregunta es el corazón de la ingeniería de sistemas distribuidos.
Hoy veremos cuatro subtemas que están muy relacionados entre sí. Los subtemas siguen la misma sigla por su nombre en inglés que deben memorizar: RPC son las siglas de Remote Procedure Call — Llamada a Procedimiento Remoto — y RMI son las siglas de Remote Method Invocation — Invocación de Método Remoto. Las explicaré con detalle cuando lleguemos a cada una.
La semana pasada vieron los fundamentos. Esta semana entran en contacto con la tecnología concreta que usarán en la Práctica 1 — que está programada para la Semana 4.
¿Listos? Empecemos.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hoja de ruta de la sesión de hoy.
Lean el Resultado de Aprendizaje — RA. Esta semana el foco está en los modelos arquitectónicos y los mecanismos de comunicación entre procesos.
¿Por qué es tan importante la comunicación? Porque en un Sistema Distribuido los nodos no comparten memoria — cada uno tiene su propia RAM. La única manera de que dos nodos colaboren es a través de mensajes por la red. Cómo se estructuran y se intercambian esos mensajes es exactamente lo que vemos hoy.
La sesión tiene 6 bloques. Los bloques 1 a 5 son exposición con preguntas. El bloque 6 es práctica en clase donde simularán comunicación entre procesos. Tiempo aproximado: 15 minutos por bloque de teoría, 25 minutos de práctica.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modelos arquitectónicos son la base de TODA la ingeniería de sistemas distribuidos. Cuando diseñan un sistema, la primera pregunta es: ¿qué modelo uso?
CLIENTE-SERVIDOR — el más clásico. Cuando abren una página web, su navegador es el cliente. El servidor web es el servidor. El cliente siempre inicia la comunicación. El servidor espera. Esta arquitectura es sencilla de implementar pero tiene un talón de Aquiles: si el servidor cae, todo se cae.
P2P — Peer-to-Peer — en español "par a par". Aquí no hay jerarquía. Todos los nodos son iguales. El ejemplo más conocido es BitTorrent: cuando descargan un archivo torrent, están descargando trozos de diferentes computadoras al mismo tiempo, y también están compartiendo lo que ya tienen. No hay un servidor central de archivos. El P2P es extremadamente resiliente — para detenerlo tendrías que apagar TODOS los nodos.
HÍBRIDO — el más usado en aplicaciones reales. Skype en sus inicios lo usaba así: un servidor central guardaba los datos de tu cuenta y te ayudaba a encontrar a tus contactos, pero la llamada de voz iba directamente de dispositivo a dispositivo sin pasar por Skype. Spotify usa algo similar para los metadatos de canciones. CDN son las siglas de Content Delivery Network — Red de Distribución de Contenido.
Pregunta: ¿Cuál modelo usaría un banco? [Esperar]. Cliente-servidor, con múltiples servidores replicados para alta disponibilidad. ¿Y Bitcoin? P2P — esa es su fortaleza: nadie puede apagarlo.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sockets son el mecanismo más fundamental de comunicación en red. Todo lo que existe por encima — HTTP, gRPC, WebSockets, cualquier protocolo — usa sockets por debajo.
Un socket es conceptualmente simple: es un punto de comunicación. Imagínenlo como un enchufe eléctrico: hay uno en el servidor, uno en el cliente, y cuando se conectan pueden intercambiar datos.
Tipos de sockets:
TCP — Transmission Control Protocol — es el tipo más usado en aplicaciones que necesitan fiabilidad. Cuando mandan un correo, cuando cargan una página web, cuando hacen una transferencia bancaria — todo usa TCP. TCP garantiza que los datos lleguen, que lleguen en orden, y que no haya duplicados. El precio es un poco más de tiempo.
UDP — User Datagram Protocol — no garantiza nada. Un paquete puede llegar, puede no llegar, puede llegar dos veces, puede llegar desordenado. ¿Para qué sirve entonces? Para cosas donde la velocidad importa más que la exactitud: videollamadas, juegos en línea, streaming de música. En una videollamada, si un frame llega tarde, es mejor saltarlo que detener todo el video.
El ciclo de vida del lado derecho es fundamental para la Práctica 1. Memorícenlo:
Servidor: crea socket → asocia IP y puerto → escucha → acepta conexión.
Cliente: crea socket → se conecta.
Ambos: intercambian datos con send y recv.
Ambos cierran con close.
Este es exactamente el código que van a escribir en Python la próxima semana.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RPC y RMI resuelven el mismo problema fundamental: hacer que la comunicación en red parezca una llamada de función local.
Imaginen esto: sin RPC, para llamar a una función en un servidor remoto tendrían que: abrir un socket, serializar los argumentos a bytes, enviarlos, esperar la respuesta, deserializar los bytes de vuelta, y manejar todos los posibles errores de red. Es decir, muchas líneas de código de red solo para llamar una función.
RPC — Remote Procedure Call — automatiza todo eso. El programador simplemente escribe:
resultado = calcularTotal(lista_productos)
Y por detrás, un componente llamado Stub — que en español podría traducirse como "talón" o "intermediario" — hace todo el trabajo sucio. Marshalling significa convertir los datos a un formato que viaje por la red. Unmarshalling es el proceso inverso.
gRPC — donde la g es de Google — es la implementación moderna y más usada de RPC. Es lo que van a usar en la Práctica 1. gRPC usa Protocol Buffers para la serialización, que es mucho más eficiente que JSON.
RMI — Remote Method Invocation — es básicamente RPC pero para programación orientada a objetos. En lugar de llamar funciones, llaman métodos de objetos que viven en otro servidor. Java RMI es la implementación más conocida.
La diferencia clave: RPC es procedural — para funciones. RMI es orientado a objetos — para métodos de objetos. En la práctica, gRPC moderno puede usarse con ambos estilos.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middleware es uno de los conceptos más importantes — y menos "glamorosos" — de los sistemas distribuidos. Nadie habla de él, pero sin él ningún sistema distribuido funcionaría.
La analogía clave es esta: piensen en el sistema operativo — SO. Sin el SO, para leer un archivo tendrían que programar directamente los controladores del disco duro. El SO oculta esa complejidad y les da una función simple: readFile(). El middleware hace lo mismo, pero para la red.
Sin middleware, para enviar un mensaje a otro servicio tendrían que manejar conexiones TCP, serialización, errores de red, reintentos, descubrimiento de servicios, autenticación... Con middleware, simplemente llaman a un método y el middleware maneja todo lo demás.
Los cuatro tipos más importantes:
MOM — Message-Oriented Middleware: comunicación por colas de mensajes. Kafka y RabbitMQ son los más usados en la industria. El emisor manda el mensaje a la cola y se olvida. El receptor lo lee cuando puede. Son asíncronos.
ORB — Object Request Broker: el más académico. CORBA fue el gran estándar de los años 90. Hoy ha sido reemplazado por REST y gRPC.
TP-Monitor: garantiza transacciones distribuidas. Piensen en una transferencia bancaria entre dos bancos — el dinero debe salir de un lado y llegar al otro, o no ocurrir nada. Eso es ACID — Atomicity, Consistency, Isolation, Durability — distribuido.
API Gateway — el más usado hoy en microservicios. Es el punto de entrada único a todos los servicios. Lo verán en profundidad en la Práctica 2 de la Semana 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de Lamport es un resultado fundamental en la teoría de los sistemas distribuidos. Fue publicado por Leslie Lamport en 1978 — hace casi 50 años — y sigue siendo la base de la sincronización distribuida hoy.
El problema: en un SD, cada servidor tiene su propio reloj de hardware. Pero los relojes físicos se desincroninizan — un servidor puede ir adelantado o atrasado respecto a otro. Entonces, si el evento A ocurrió a las 10:00:01 en el Servidor 1 y el evento B ocurrió a las 10:00:00 en el Servidor 2, ¿cuál ocurrió primero? No podemos saberlo con certeza.
La genialidad de Lamport: si no podemos confiar en el tiempo físico, usamos tiempo LÓGICO. Un contador que incrementa con cada evento. Lo que nos importa no es la hora exacta, sino el orden causal — qué evento causó a qué otro.
Las tres reglas son simples — lean conmigo:
R1: Si haces algo localmente, aumenta tu contador en 1.
R2: Cuando envías un mensaje, aumenta tu contador e incluye el número en el mensaje.
R3: Cuando recibes un mensaje, tu nuevo contador es el máximo entre tu contador actual y el número del mensaje, más 1.
La regla 3 es la más importante: garantiza que si recibes un mensaje, tu contador siempre sea mayor que el del remitente. Esto preserva la causalidad.
En el ejemplo de la derecha, fíjense en P2 al recibir el mensaje de P1: tenía contador 1 localmente, recibió un mensaje con contador 1, entonces aplica max(1,1)+1 = 3. Su contador salta a 3 para reflejar que "sabe" lo que pasó en P1.
Esto lo van a implementar en la Práctica 1 de la Semana 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es el puente entre la teoría de hoy y la práctica de la próxima semana.
En la Práctica 1 — código GA-SUM-01, que van a entregar en la Semana 4 — van a implementar el MISMO sistema de mensajería dos veces: primero con sockets TCP puros en Python, y luego con gRPC. Luego van a medir y comparar la latencia de ambos con 100 envíos.
¿Por qué comparar los dos? Porque así entienden los trade-offs reales — compromisos entre opciones — no solo en teoría.
Sockets TCP puros: tienen control total. Cada bit que viaja por la red es exactamente lo que ustedes decidieron. Pero también tienen que escribir todo el código de serialización — convertir sus datos a bytes — y de protocolo. Si quieren que el servidor entienda que les están mandando "nombre" y "edad", tienen que decidir el formato ustedes mismos.
gRPC: definen el formato en un archivo .proto — un archivo de definición de protocolo — y gRPC genera automáticamente el código del cliente y del servidor en el lenguaje que elijan. Menos código, más productividad, tipado fuerte. El precio es que dependen del ecosistema gRPC.
¿Cuándo usar cada uno? Si están construyendo el firmware de un router o un sistema embebido, usen sockets directos. Si están construyendo microservicios en una empresa, usen gRPC — es lo que usan Google, Netflix, Square, Lyft.
Esta tabla va a estar en el fundamento teórico de su Práctica 1 en LaTeX.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práctica conecta directamente la teoría de hoy con el trabajo del PFC — Proyecto Fin de Curso.
Paso 1: Recuperen el diagrama de la Semana 1. Si no lo tienen, redibújenlo rápidamente. Ese diagrama era una vista estática — mostraba los nodos. Hoy le vamos a añadir la dimensión dinámica: cómo se comunican.
Paso 2: Identifiquen el modelo. Miren su sistema y respondan: ¿hay jerarquía entre los nodos? Si el usuario siempre inicia la comunicación y hay un servidor que espera, es cliente-servidor. Si todos los nodos pueden iniciar comunicación entre sí, es P2P. Si hay ambas cosas, es híbrido.
Paso 3: Este es el más técnico y el más valioso. Para cada flecha de su diagrama, deben responder: ¿qué protocolo real usa esta comunicación? WhatsApp usa una variante de XMPP — un protocolo de mensajería. YouTube usa HTTP/2. Spotify usa tanto HTTP como su propio protocolo para streaming. Si no saben el protocolo exacto, busquen rápido o hagan una suposición justificada.
Paso 4: Elijan 3 eventos en secuencia. Por ejemplo, en WhatsApp: 1 — el usuario toca "Enviar". 2 — el cliente envía el mensaje al servidor. 3 — el servidor lo reenvía al destinatario. Ahora asignen timestamps de Lamport usando las 3 reglas. El resultado no tiene que ser perfecto — el objetivo es que entiendan el mecanismo.
Paso 5: La exposición dura máximo 1 minuto por grupo.
El diagrama enriquecido de hoy es el insumo directo para la sección de fundamento teórico de la Práctica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Semana 3. Esta semana fue densa en conceptos — recapitulemos.
Cinco conceptos que deben poder explicar sin notas:
Uno: Los tres modelos de SD. Cliente-servidor: un nodo manda, otro obedece. P2P — Peer-to-Peer: todos iguales. Híbrido: lo mejor de ambos. La mayoría de aplicaciones reales son híbridas.
Dos: Sockets. La base de toda comunicación en red. TCP garantiza entrega y orden. UDP es más rápido pero sin garantías. Van a escribir código de sockets TCP en Python la próxima semana.
Tres: RPC y RMI. Hacen que una llamada a una función remota parezca local. El stub serializa los datos — marshalling — los envía, y deserializa la respuesta — unmarshalling. gRPC es la implementación moderna que van a usar.
Cuatro: Middleware. La capa que oculta la complejidad de red. Kafka, RabbitMQ, API Gateway — todos son middleware. Sin middleware, la programación distribuida sería muchísimo más difícil.
Cinco: Relojes de Lamport. Tres reglas simples que resuelven el problema fundamental del tiempo en SD. No miden tiempo real — miden causalidad.
TAREAS PARA LA SEMANA 4:
Lo más urgente es instalar Python y gRPC. La próxima clase ES la práctica de laboratorio — deben llegar con el entorno listo.
El FORM-TL-01 — Taller de Modelado — es el insumo de la exposición de la Semana 4.
Y recuerden que la Semana 4 también tienen que entregar el TA-PFC-E1 — la propuesta de su Proyecto Fin de Curso.
¿Preguntas? [Pausa]. Hasta la próxima semana.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BFA5"/>
          </a:solidFill>
          <a:ln w="12700">
            <a:solidFill>
              <a:srgbClr val="00BFA5"/>
            </a:solidFill>
            <a:prstDash val="solid"/>
          </a:ln>
        </p:spPr>
      </p:sp>
      <p:sp>
        <p:nvSpPr>
          <p:cNvPr id="3" name="Shape 1"/>
          <p:cNvSpPr/>
          <p:nvPr/>
        </p:nvSpPr>
        <p:spPr>
          <a:xfrm>
            <a:off x="457200" y="0"/>
            <a:ext cx="109728" cy="5143500"/>
          </a:xfrm>
          <a:prstGeom prst="rect">
            <a:avLst/>
          </a:prstGeom>
          <a:solidFill>
            <a:srgbClr val="1565C0"/>
          </a:solidFill>
          <a:ln w="12700">
            <a:solidFill>
              <a:srgbClr val="1565C0"/>
            </a:solidFill>
            <a:prstDash val="solid"/>
          </a:ln>
        </p:spPr>
      </p:sp>
      <p:sp>
        <p:nvSpPr>
          <p:cNvPr id="4" name="Text 2"/>
          <p:cNvSpPr/>
          <p:nvPr/>
        </p:nvSpPr>
        <p:spPr>
          <a:xfrm>
            <a:off x="749808" y="256032"/>
            <a:ext cx="8229600" cy="365760"/>
          </a:xfrm>
          <a:prstGeom prst="rect">
            <a:avLst/>
          </a:prstGeom>
          <a:noFill/>
          <a:ln/>
        </p:spPr>
        <p:txBody>
          <a:bodyPr wrap="square" rtlCol="0" anchor="ctr"/>
          <a:lstStyle/>
          <a:p>
            <a:pPr marL="0" indent="0">
              <a:buNone/>
            </a:pPr>
            <a:r>
              <a:rPr lang="en-US" sz="1200" b="1" kern="0" spc="200" dirty="0">
                <a:solidFill>
                  <a:srgbClr val="00BFA5"/>
                </a:solidFill>
                <a:latin typeface="Calibri" pitchFamily="34" charset="0"/>
                <a:ea typeface="Calibri" pitchFamily="34" charset="-122"/>
                <a:cs typeface="Calibri" pitchFamily="34" charset="-120"/>
              </a:rPr>
              <a:t>UNIVERSIDAD TÉCNICA ESTATAL DE QUEVEDO</a:t>
            </a:r>
            <a:endParaRPr lang="en-US" sz="1200" dirty="0"/>
          </a:p>
        </p:txBody>
      </p:sp>
      <p:sp>
        <p:nvSpPr>
          <p:cNvPr id="5" name="Text 3"/>
          <p:cNvSpPr/>
          <p:nvPr/>
        </p:nvSpPr>
        <p:spPr>
          <a:xfrm>
            <a:off x="749808" y="594360"/>
            <a:ext cx="8229600" cy="274320"/>
          </a:xfrm>
          <a:prstGeom prst="rect">
            <a:avLst/>
          </a:prstGeom>
          <a:noFill/>
          <a:ln/>
        </p:spPr>
        <p:txBody>
          <a:bodyPr wrap="square" rtlCol="0" anchor="ctr"/>
          <a:lstStyle/>
          <a:p>
            <a:pPr marL="0" indent="0">
              <a:buNone/>
            </a:pPr>
            <a:r>
              <a:rPr lang="en-US" sz="1100" i="1" dirty="0">
                <a:solidFill>
                  <a:srgbClr val="AAAAAA"/>
                </a:solidFill>
                <a:latin typeface="Calibri" pitchFamily="34" charset="0"/>
                <a:ea typeface="Calibri" pitchFamily="34" charset="-122"/>
                <a:cs typeface="Calibri" pitchFamily="34" charset="-120"/>
              </a:rPr>
              <a:t>Facultad de Ciencias de la Computación y Diseño Digital</a:t>
            </a:r>
            <a:endParaRPr lang="en-US" sz="1100" dirty="0"/>
          </a:p>
        </p:txBody>
      </p:sp>
      <p:sp>
        <p:nvSpPr>
          <p:cNvPr id="6" name="Shape 4"/>
          <p:cNvSpPr/>
          <p:nvPr/>
        </p:nvSpPr>
        <p:spPr>
          <a:xfrm>
            <a:off x="749808" y="969264"/>
            <a:ext cx="8138160" cy="0"/>
          </a:xfrm>
          <a:prstGeom prst="line">
            <a:avLst/>
          </a:prstGeom>
          <a:noFill/>
          <a:ln w="15240">
            <a:solidFill>
              <a:srgbClr val="00BFA5"/>
            </a:solidFill>
            <a:prstDash val="solid"/>
          </a:ln>
        </p:spPr>
      </p:sp>
      <p:sp>
        <p:nvSpPr>
          <p:cNvPr id="7" name="Text 5"/>
          <p:cNvSpPr/>
          <p:nvPr/>
        </p:nvSpPr>
        <p:spPr>
          <a:xfrm>
            <a:off x="749808" y="1042416"/>
            <a:ext cx="8229600" cy="621792"/>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Aplicaciones Distribuidas</a:t>
            </a:r>
            <a:endParaRPr lang="en-US" sz="3400" dirty="0"/>
          </a:p>
        </p:txBody>
      </p:sp>
      <p:sp>
        <p:nvSpPr>
          <p:cNvPr id="8" name="Text 6"/>
          <p:cNvSpPr/>
          <p:nvPr/>
        </p:nvSpPr>
        <p:spPr>
          <a:xfrm>
            <a:off x="749808" y="1645920"/>
            <a:ext cx="8229600" cy="411480"/>
          </a:xfrm>
          <a:prstGeom prst="rect">
            <a:avLst/>
          </a:prstGeom>
          <a:noFill/>
          <a:ln/>
        </p:spPr>
        <p:txBody>
          <a:bodyPr wrap="square" rtlCol="0" anchor="ctr"/>
          <a:lstStyle/>
          <a:p>
            <a:pPr marL="0" indent="0">
              <a:buNone/>
            </a:pPr>
            <a:r>
              <a:rPr lang="en-US" sz="1800" b="1" kern="0" spc="300" dirty="0">
                <a:solidFill>
                  <a:srgbClr val="00BFA5"/>
                </a:solidFill>
                <a:latin typeface="Calibri" pitchFamily="34" charset="0"/>
                <a:ea typeface="Calibri" pitchFamily="34" charset="-122"/>
                <a:cs typeface="Calibri" pitchFamily="34" charset="-120"/>
              </a:rPr>
              <a:t>SEMANA 3 · UNIDAD 1  ·  TEMA 3</a:t>
            </a:r>
            <a:endParaRPr lang="en-US" sz="1800" dirty="0"/>
          </a:p>
        </p:txBody>
      </p:sp>
      <p:sp>
        <p:nvSpPr>
          <p:cNvPr id="9" name="Text 7"/>
          <p:cNvSpPr/>
          <p:nvPr/>
        </p:nvSpPr>
        <p:spPr>
          <a:xfrm>
            <a:off x="749808" y="2084832"/>
            <a:ext cx="8229600" cy="438912"/>
          </a:xfrm>
          <a:prstGeom prst="rect">
            <a:avLst/>
          </a:prstGeom>
          <a:noFill/>
          <a:ln/>
        </p:spPr>
        <p:txBody>
          <a:bodyPr wrap="square" rtlCol="0" anchor="ctr"/>
          <a:lstStyle/>
          <a:p>
            <a:pPr marL="0" indent="0">
              <a:buNone/>
            </a:pPr>
            <a:r>
              <a:rPr lang="en-US" sz="2100" dirty="0">
                <a:solidFill>
                  <a:srgbClr val="DDDDDD"/>
                </a:solidFill>
                <a:latin typeface="Calibri" pitchFamily="34" charset="0"/>
                <a:ea typeface="Calibri" pitchFamily="34" charset="-122"/>
                <a:cs typeface="Calibri" pitchFamily="34" charset="-120"/>
              </a:rPr>
              <a:t>Modelos y Comunicación en Sistemas Distribuidos (SD)</a:t>
            </a:r>
            <a:endParaRPr lang="en-US" sz="2100" dirty="0"/>
          </a:p>
        </p:txBody>
      </p:sp>
      <p:sp>
        <p:nvSpPr>
          <p:cNvPr id="10" name="Shape 8"/>
          <p:cNvSpPr/>
          <p:nvPr/>
        </p:nvSpPr>
        <p:spPr>
          <a:xfrm>
            <a:off x="749808" y="2615184"/>
            <a:ext cx="8138160" cy="0"/>
          </a:xfrm>
          <a:prstGeom prst="line">
            <a:avLst/>
          </a:prstGeom>
          <a:noFill/>
          <a:ln w="12700">
            <a:solidFill>
              <a:srgbClr val="334455"/>
            </a:solidFill>
            <a:prstDash val="solid"/>
          </a:ln>
        </p:spPr>
      </p:sp>
      <p:sp>
        <p:nvSpPr>
          <p:cNvPr id="11" name="Text 9"/>
          <p:cNvSpPr/>
          <p:nvPr/>
        </p:nvSpPr>
        <p:spPr>
          <a:xfrm>
            <a:off x="841248" y="2743200"/>
            <a:ext cx="8229600" cy="329184"/>
          </a:xfrm>
          <a:prstGeom prst="rect">
            <a:avLst/>
          </a:prstGeom>
          <a:noFill/>
          <a:ln/>
        </p:spPr>
        <p:txBody>
          <a:bodyPr wrap="square" rtlCol="0" anchor="ctr"/>
          <a:lstStyle/>
          <a:p>
            <a:pPr marL="0" indent="0">
              <a:buNone/>
            </a:pPr>
            <a:r>
              <a:rPr lang="en-US" sz="1300" b="1" dirty="0">
                <a:solidFill>
                  <a:srgbClr val="00BFA5"/>
                </a:solidFill>
                <a:latin typeface="Calibri" pitchFamily="34" charset="0"/>
                <a:ea typeface="Calibri" pitchFamily="34" charset="-122"/>
                <a:cs typeface="Calibri" pitchFamily="34" charset="-120"/>
              </a:rPr>
              <a:t>▸ </a:t>
            </a:r>
            <a:r>
              <a:rPr lang="en-US" sz="1300" dirty="0">
                <a:solidFill>
                  <a:srgbClr val="CCCCCC"/>
                </a:solidFill>
                <a:latin typeface="Calibri" pitchFamily="34" charset="0"/>
                <a:ea typeface="Calibri" pitchFamily="34" charset="-122"/>
                <a:cs typeface="Calibri" pitchFamily="34" charset="-120"/>
              </a:rPr>
              <a:t>Subtema 1 — Modelos de SD: cliente-servidor, P2P (Peer-to-Peer) e híbrido</a:t>
            </a:r>
            <a:endParaRPr lang="en-US" sz="1300" dirty="0"/>
          </a:p>
        </p:txBody>
      </p:sp>
      <p:sp>
        <p:nvSpPr>
          <p:cNvPr id="12" name="Text 10"/>
          <p:cNvSpPr/>
          <p:nvPr/>
        </p:nvSpPr>
        <p:spPr>
          <a:xfrm>
            <a:off x="841248" y="3108960"/>
            <a:ext cx="8229600" cy="329184"/>
          </a:xfrm>
          <a:prstGeom prst="rect">
            <a:avLst/>
          </a:prstGeom>
          <a:noFill/>
          <a:ln/>
        </p:spPr>
        <p:txBody>
          <a:bodyPr wrap="square" rtlCol="0" anchor="ctr"/>
          <a:lstStyle/>
          <a:p>
            <a:pPr marL="0" indent="0">
              <a:buNone/>
            </a:pPr>
            <a:r>
              <a:rPr lang="en-US" sz="1300" b="1" dirty="0">
                <a:solidFill>
                  <a:srgbClr val="00BFA5"/>
                </a:solidFill>
                <a:latin typeface="Calibri" pitchFamily="34" charset="0"/>
                <a:ea typeface="Calibri" pitchFamily="34" charset="-122"/>
                <a:cs typeface="Calibri" pitchFamily="34" charset="-120"/>
              </a:rPr>
              <a:t>▸ </a:t>
            </a:r>
            <a:r>
              <a:rPr lang="en-US" sz="1300" dirty="0">
                <a:solidFill>
                  <a:srgbClr val="CCCCCC"/>
                </a:solidFill>
                <a:latin typeface="Calibri" pitchFamily="34" charset="0"/>
                <a:ea typeface="Calibri" pitchFamily="34" charset="-122"/>
                <a:cs typeface="Calibri" pitchFamily="34" charset="-120"/>
              </a:rPr>
              <a:t>Subtema 2 — Comunicación entre procesos: sockets, RPC (Llamada a Procedimiento Remoto) y RMI (Invocación de Método Remoto)</a:t>
            </a:r>
            <a:endParaRPr lang="en-US" sz="1300" dirty="0"/>
          </a:p>
        </p:txBody>
      </p:sp>
      <p:sp>
        <p:nvSpPr>
          <p:cNvPr id="13" name="Text 11"/>
          <p:cNvSpPr/>
          <p:nvPr/>
        </p:nvSpPr>
        <p:spPr>
          <a:xfrm>
            <a:off x="841248" y="3474720"/>
            <a:ext cx="8229600" cy="329184"/>
          </a:xfrm>
          <a:prstGeom prst="rect">
            <a:avLst/>
          </a:prstGeom>
          <a:noFill/>
          <a:ln/>
        </p:spPr>
        <p:txBody>
          <a:bodyPr wrap="square" rtlCol="0" anchor="ctr"/>
          <a:lstStyle/>
          <a:p>
            <a:pPr marL="0" indent="0">
              <a:buNone/>
            </a:pPr>
            <a:r>
              <a:rPr lang="en-US" sz="1300" b="1" dirty="0">
                <a:solidFill>
                  <a:srgbClr val="00BFA5"/>
                </a:solidFill>
                <a:latin typeface="Calibri" pitchFamily="34" charset="0"/>
                <a:ea typeface="Calibri" pitchFamily="34" charset="-122"/>
                <a:cs typeface="Calibri" pitchFamily="34" charset="-120"/>
              </a:rPr>
              <a:t>▸ </a:t>
            </a:r>
            <a:r>
              <a:rPr lang="en-US" sz="1300" dirty="0">
                <a:solidFill>
                  <a:srgbClr val="CCCCCC"/>
                </a:solidFill>
                <a:latin typeface="Calibri" pitchFamily="34" charset="0"/>
                <a:ea typeface="Calibri" pitchFamily="34" charset="-122"/>
                <a:cs typeface="Calibri" pitchFamily="34" charset="-120"/>
              </a:rPr>
              <a:t>Subtema 3 — Middleware y su rol en la distribución</a:t>
            </a:r>
            <a:endParaRPr lang="en-US" sz="1300" dirty="0"/>
          </a:p>
        </p:txBody>
      </p:sp>
      <p:sp>
        <p:nvSpPr>
          <p:cNvPr id="14" name="Text 12"/>
          <p:cNvSpPr/>
          <p:nvPr/>
        </p:nvSpPr>
        <p:spPr>
          <a:xfrm>
            <a:off x="841248" y="3840480"/>
            <a:ext cx="8229600" cy="329184"/>
          </a:xfrm>
          <a:prstGeom prst="rect">
            <a:avLst/>
          </a:prstGeom>
          <a:noFill/>
          <a:ln/>
        </p:spPr>
        <p:txBody>
          <a:bodyPr wrap="square" rtlCol="0" anchor="ctr"/>
          <a:lstStyle/>
          <a:p>
            <a:pPr marL="0" indent="0">
              <a:buNone/>
            </a:pPr>
            <a:r>
              <a:rPr lang="en-US" sz="1300" b="1" dirty="0">
                <a:solidFill>
                  <a:srgbClr val="00BFA5"/>
                </a:solidFill>
                <a:latin typeface="Calibri" pitchFamily="34" charset="0"/>
                <a:ea typeface="Calibri" pitchFamily="34" charset="-122"/>
                <a:cs typeface="Calibri" pitchFamily="34" charset="-120"/>
              </a:rPr>
              <a:t>▸ </a:t>
            </a:r>
            <a:r>
              <a:rPr lang="en-US" sz="1300" dirty="0">
                <a:solidFill>
                  <a:srgbClr val="CCCCCC"/>
                </a:solidFill>
                <a:latin typeface="Calibri" pitchFamily="34" charset="0"/>
                <a:ea typeface="Calibri" pitchFamily="34" charset="-122"/>
                <a:cs typeface="Calibri" pitchFamily="34" charset="-120"/>
              </a:rPr>
              <a:t>Subtema 4 — Sincronización: relojes distribuidos y algoritmo de Lamport</a:t>
            </a:r>
            <a:endParaRPr lang="en-US" sz="1300" dirty="0"/>
          </a:p>
        </p:txBody>
      </p:sp>
      <p:sp>
        <p:nvSpPr>
          <p:cNvPr id="15" name="Text 13"/>
          <p:cNvSpPr/>
          <p:nvPr/>
        </p:nvSpPr>
        <p:spPr>
          <a:xfrm>
            <a:off x="749808" y="4754880"/>
            <a:ext cx="8229600" cy="219456"/>
          </a:xfrm>
          <a:prstGeom prst="rect">
            <a:avLst/>
          </a:prstGeom>
          <a:noFill/>
          <a:ln/>
        </p:spPr>
        <p:txBody>
          <a:bodyPr wrap="square"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Período Académico: Regular 2025-2026 SPA  ·  Carrera de Ingeniería de Software — 7º Semestre  ·  18-24 May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Semana 3 · Hoja de Ruta</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¿Qué aprenderemos hoy?</a:t>
            </a:r>
            <a:endParaRPr lang="en-US" sz="2200" dirty="0"/>
          </a:p>
        </p:txBody>
      </p:sp>
      <p:sp>
        <p:nvSpPr>
          <p:cNvPr id="8" name="Shape 6"/>
          <p:cNvSpPr/>
          <p:nvPr/>
        </p:nvSpPr>
        <p:spPr>
          <a:xfrm>
            <a:off x="365760" y="1024128"/>
            <a:ext cx="8412480" cy="804672"/>
          </a:xfrm>
          <a:prstGeom prst="rect">
            <a:avLst/>
          </a:prstGeom>
          <a:solidFill>
            <a:srgbClr val="1565C0"/>
          </a:solidFill>
          <a:ln w="12700">
            <a:solidFill>
              <a:srgbClr val="1565C0"/>
            </a:solidFill>
            <a:prstDash val="solid"/>
          </a:ln>
          <a:effectLst>
            <a:outerShdw blurRad="63500" dist="25400" dir="8100000" algn="bl" rotWithShape="0">
              <a:srgbClr val="000000">
                <a:alpha val="12000"/>
              </a:srgbClr>
            </a:outerShdw>
          </a:effectLst>
        </p:spPr>
      </p:sp>
      <p:sp>
        <p:nvSpPr>
          <p:cNvPr id="9" name="Text 7"/>
          <p:cNvSpPr/>
          <p:nvPr/>
        </p:nvSpPr>
        <p:spPr>
          <a:xfrm>
            <a:off x="548640" y="1042416"/>
            <a:ext cx="8046720" cy="749808"/>
          </a:xfrm>
          <a:prstGeom prst="rect">
            <a:avLst/>
          </a:prstGeom>
          <a:noFill/>
          <a:ln/>
        </p:spPr>
        <p:txBody>
          <a:bodyPr wrap="square" rtlCol="0" anchor="ctr"/>
          <a:lstStyle/>
          <a:p>
            <a:pPr marL="0" indent="0">
              <a:buNone/>
            </a:pPr>
            <a:r>
              <a:rPr lang="en-US" sz="1350" b="1" dirty="0">
                <a:solidFill>
                  <a:srgbClr val="00BFA5"/>
                </a:solidFill>
                <a:latin typeface="Calibri" pitchFamily="34" charset="0"/>
                <a:ea typeface="Calibri" pitchFamily="34" charset="-122"/>
                <a:cs typeface="Calibri" pitchFamily="34" charset="-120"/>
              </a:rPr>
              <a:t>Resultado de Aprendizaje (RA): </a:t>
            </a:r>
            <a:r>
              <a:rPr lang="en-US" sz="1350" dirty="0">
                <a:solidFill>
                  <a:srgbClr val="FFFFFF"/>
                </a:solidFill>
                <a:latin typeface="Calibri" pitchFamily="34" charset="0"/>
                <a:ea typeface="Calibri" pitchFamily="34" charset="-122"/>
                <a:cs typeface="Calibri" pitchFamily="34" charset="-120"/>
              </a:rPr>
              <a:t>Analiza las características y principios de los SD, evaluando sus ventajas, limitaciones y retos desde una perspectiva crítica e interdisciplinaria. Foco semana 3: modelos arquitectónicos y mecanismos de comunicación entre procesos.</a:t>
            </a:r>
            <a:endParaRPr lang="en-US" sz="1350" dirty="0"/>
          </a:p>
        </p:txBody>
      </p:sp>
      <p:sp>
        <p:nvSpPr>
          <p:cNvPr id="10" name="Shape 8"/>
          <p:cNvSpPr/>
          <p:nvPr/>
        </p:nvSpPr>
        <p:spPr>
          <a:xfrm>
            <a:off x="365760" y="194767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11" name="Shape 9"/>
          <p:cNvSpPr/>
          <p:nvPr/>
        </p:nvSpPr>
        <p:spPr>
          <a:xfrm>
            <a:off x="365760" y="1947672"/>
            <a:ext cx="420624" cy="640080"/>
          </a:xfrm>
          <a:prstGeom prst="rect">
            <a:avLst/>
          </a:prstGeom>
          <a:solidFill>
            <a:srgbClr val="1565C0"/>
          </a:solidFill>
          <a:ln w="12700">
            <a:solidFill>
              <a:srgbClr val="1565C0"/>
            </a:solidFill>
            <a:prstDash val="solid"/>
          </a:ln>
        </p:spPr>
      </p:sp>
      <p:sp>
        <p:nvSpPr>
          <p:cNvPr id="12" name="Text 10"/>
          <p:cNvSpPr/>
          <p:nvPr/>
        </p:nvSpPr>
        <p:spPr>
          <a:xfrm>
            <a:off x="365760" y="194767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Text 11"/>
          <p:cNvSpPr/>
          <p:nvPr/>
        </p:nvSpPr>
        <p:spPr>
          <a:xfrm>
            <a:off x="859536" y="200253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Modelos de SD</a:t>
            </a:r>
            <a:endParaRPr lang="en-US" sz="1350" dirty="0"/>
          </a:p>
        </p:txBody>
      </p:sp>
      <p:sp>
        <p:nvSpPr>
          <p:cNvPr id="14" name="Text 12"/>
          <p:cNvSpPr/>
          <p:nvPr/>
        </p:nvSpPr>
        <p:spPr>
          <a:xfrm>
            <a:off x="859536" y="227685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Cliente-servidor, P2P e Híbrido</a:t>
            </a:r>
            <a:endParaRPr lang="en-US" sz="1150" dirty="0"/>
          </a:p>
        </p:txBody>
      </p:sp>
      <p:sp>
        <p:nvSpPr>
          <p:cNvPr id="15" name="Shape 13"/>
          <p:cNvSpPr/>
          <p:nvPr/>
        </p:nvSpPr>
        <p:spPr>
          <a:xfrm>
            <a:off x="365760" y="267919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16" name="Shape 14"/>
          <p:cNvSpPr/>
          <p:nvPr/>
        </p:nvSpPr>
        <p:spPr>
          <a:xfrm>
            <a:off x="365760" y="2679192"/>
            <a:ext cx="420624" cy="640080"/>
          </a:xfrm>
          <a:prstGeom prst="rect">
            <a:avLst/>
          </a:prstGeom>
          <a:solidFill>
            <a:srgbClr val="2E7D32"/>
          </a:solidFill>
          <a:ln w="12700">
            <a:solidFill>
              <a:srgbClr val="2E7D32"/>
            </a:solidFill>
            <a:prstDash val="solid"/>
          </a:ln>
        </p:spPr>
      </p:sp>
      <p:sp>
        <p:nvSpPr>
          <p:cNvPr id="17" name="Text 15"/>
          <p:cNvSpPr/>
          <p:nvPr/>
        </p:nvSpPr>
        <p:spPr>
          <a:xfrm>
            <a:off x="365760" y="267919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6"/>
          <p:cNvSpPr/>
          <p:nvPr/>
        </p:nvSpPr>
        <p:spPr>
          <a:xfrm>
            <a:off x="859536" y="273405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Sockets</a:t>
            </a:r>
            <a:endParaRPr lang="en-US" sz="1350" dirty="0"/>
          </a:p>
        </p:txBody>
      </p:sp>
      <p:sp>
        <p:nvSpPr>
          <p:cNvPr id="19" name="Text 17"/>
          <p:cNvSpPr/>
          <p:nvPr/>
        </p:nvSpPr>
        <p:spPr>
          <a:xfrm>
            <a:off x="859536" y="300837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TCP/UDP — la base de toda comunicación</a:t>
            </a:r>
            <a:endParaRPr lang="en-US" sz="1150" dirty="0"/>
          </a:p>
        </p:txBody>
      </p:sp>
      <p:sp>
        <p:nvSpPr>
          <p:cNvPr id="20" name="Shape 18"/>
          <p:cNvSpPr/>
          <p:nvPr/>
        </p:nvSpPr>
        <p:spPr>
          <a:xfrm>
            <a:off x="365760" y="341071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21" name="Shape 19"/>
          <p:cNvSpPr/>
          <p:nvPr/>
        </p:nvSpPr>
        <p:spPr>
          <a:xfrm>
            <a:off x="365760" y="3410712"/>
            <a:ext cx="420624" cy="640080"/>
          </a:xfrm>
          <a:prstGeom prst="rect">
            <a:avLst/>
          </a:prstGeom>
          <a:solidFill>
            <a:srgbClr val="6A1B9A"/>
          </a:solidFill>
          <a:ln w="12700">
            <a:solidFill>
              <a:srgbClr val="6A1B9A"/>
            </a:solidFill>
            <a:prstDash val="solid"/>
          </a:ln>
        </p:spPr>
      </p:sp>
      <p:sp>
        <p:nvSpPr>
          <p:cNvPr id="22" name="Text 20"/>
          <p:cNvSpPr/>
          <p:nvPr/>
        </p:nvSpPr>
        <p:spPr>
          <a:xfrm>
            <a:off x="365760" y="341071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859536" y="346557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RPC y RMI</a:t>
            </a:r>
            <a:endParaRPr lang="en-US" sz="1350" dirty="0"/>
          </a:p>
        </p:txBody>
      </p:sp>
      <p:sp>
        <p:nvSpPr>
          <p:cNvPr id="24" name="Text 22"/>
          <p:cNvSpPr/>
          <p:nvPr/>
        </p:nvSpPr>
        <p:spPr>
          <a:xfrm>
            <a:off x="859536" y="373989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Llamadas remotas: procedimientos y métodos</a:t>
            </a:r>
            <a:endParaRPr lang="en-US" sz="1150" dirty="0"/>
          </a:p>
        </p:txBody>
      </p:sp>
      <p:sp>
        <p:nvSpPr>
          <p:cNvPr id="25" name="Shape 23"/>
          <p:cNvSpPr/>
          <p:nvPr/>
        </p:nvSpPr>
        <p:spPr>
          <a:xfrm>
            <a:off x="4709160" y="194767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26" name="Shape 24"/>
          <p:cNvSpPr/>
          <p:nvPr/>
        </p:nvSpPr>
        <p:spPr>
          <a:xfrm>
            <a:off x="4709160" y="1947672"/>
            <a:ext cx="420624" cy="640080"/>
          </a:xfrm>
          <a:prstGeom prst="rect">
            <a:avLst/>
          </a:prstGeom>
          <a:solidFill>
            <a:srgbClr val="E65100"/>
          </a:solidFill>
          <a:ln w="12700">
            <a:solidFill>
              <a:srgbClr val="E65100"/>
            </a:solidFill>
            <a:prstDash val="solid"/>
          </a:ln>
        </p:spPr>
      </p:sp>
      <p:sp>
        <p:nvSpPr>
          <p:cNvPr id="27" name="Text 25"/>
          <p:cNvSpPr/>
          <p:nvPr/>
        </p:nvSpPr>
        <p:spPr>
          <a:xfrm>
            <a:off x="4709160" y="194767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5202936" y="200253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Middleware</a:t>
            </a:r>
            <a:endParaRPr lang="en-US" sz="1350" dirty="0"/>
          </a:p>
        </p:txBody>
      </p:sp>
      <p:sp>
        <p:nvSpPr>
          <p:cNvPr id="29" name="Text 27"/>
          <p:cNvSpPr/>
          <p:nvPr/>
        </p:nvSpPr>
        <p:spPr>
          <a:xfrm>
            <a:off x="5202936" y="227685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La capa que une todo el sistema</a:t>
            </a:r>
            <a:endParaRPr lang="en-US" sz="1150" dirty="0"/>
          </a:p>
        </p:txBody>
      </p:sp>
      <p:sp>
        <p:nvSpPr>
          <p:cNvPr id="30" name="Shape 28"/>
          <p:cNvSpPr/>
          <p:nvPr/>
        </p:nvSpPr>
        <p:spPr>
          <a:xfrm>
            <a:off x="4709160" y="267919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31" name="Shape 29"/>
          <p:cNvSpPr/>
          <p:nvPr/>
        </p:nvSpPr>
        <p:spPr>
          <a:xfrm>
            <a:off x="4709160" y="2679192"/>
            <a:ext cx="420624" cy="640080"/>
          </a:xfrm>
          <a:prstGeom prst="rect">
            <a:avLst/>
          </a:prstGeom>
          <a:solidFill>
            <a:srgbClr val="C62828"/>
          </a:solidFill>
          <a:ln w="12700">
            <a:solidFill>
              <a:srgbClr val="C62828"/>
            </a:solidFill>
            <a:prstDash val="solid"/>
          </a:ln>
        </p:spPr>
      </p:sp>
      <p:sp>
        <p:nvSpPr>
          <p:cNvPr id="32" name="Text 30"/>
          <p:cNvSpPr/>
          <p:nvPr/>
        </p:nvSpPr>
        <p:spPr>
          <a:xfrm>
            <a:off x="4709160" y="267919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3" name="Text 31"/>
          <p:cNvSpPr/>
          <p:nvPr/>
        </p:nvSpPr>
        <p:spPr>
          <a:xfrm>
            <a:off x="5202936" y="273405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Relojes de Lamport</a:t>
            </a:r>
            <a:endParaRPr lang="en-US" sz="1350" dirty="0"/>
          </a:p>
        </p:txBody>
      </p:sp>
      <p:sp>
        <p:nvSpPr>
          <p:cNvPr id="34" name="Text 32"/>
          <p:cNvSpPr/>
          <p:nvPr/>
        </p:nvSpPr>
        <p:spPr>
          <a:xfrm>
            <a:off x="5202936" y="300837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Sincronización y ordenamiento de eventos</a:t>
            </a:r>
            <a:endParaRPr lang="en-US" sz="1150" dirty="0"/>
          </a:p>
        </p:txBody>
      </p:sp>
      <p:sp>
        <p:nvSpPr>
          <p:cNvPr id="35" name="Shape 33"/>
          <p:cNvSpPr/>
          <p:nvPr/>
        </p:nvSpPr>
        <p:spPr>
          <a:xfrm>
            <a:off x="4709160" y="3410712"/>
            <a:ext cx="4160520" cy="640080"/>
          </a:xfrm>
          <a:prstGeom prst="rect">
            <a:avLst/>
          </a:prstGeom>
          <a:solidFill>
            <a:srgbClr val="FFFFFF"/>
          </a:solidFill>
          <a:ln w="12700">
            <a:solidFill>
              <a:srgbClr val="DDDDDD"/>
            </a:solidFill>
            <a:prstDash val="solid"/>
          </a:ln>
          <a:effectLst>
            <a:outerShdw blurRad="38100" dist="12700" dir="8100000" algn="bl" rotWithShape="0">
              <a:srgbClr val="000000">
                <a:alpha val="7000"/>
              </a:srgbClr>
            </a:outerShdw>
          </a:effectLst>
        </p:spPr>
      </p:sp>
      <p:sp>
        <p:nvSpPr>
          <p:cNvPr id="36" name="Shape 34"/>
          <p:cNvSpPr/>
          <p:nvPr/>
        </p:nvSpPr>
        <p:spPr>
          <a:xfrm>
            <a:off x="4709160" y="3410712"/>
            <a:ext cx="420624" cy="640080"/>
          </a:xfrm>
          <a:prstGeom prst="rect">
            <a:avLst/>
          </a:prstGeom>
          <a:solidFill>
            <a:srgbClr val="0D2137"/>
          </a:solidFill>
          <a:ln w="12700">
            <a:solidFill>
              <a:srgbClr val="0D2137"/>
            </a:solidFill>
            <a:prstDash val="solid"/>
          </a:ln>
        </p:spPr>
      </p:sp>
      <p:sp>
        <p:nvSpPr>
          <p:cNvPr id="37" name="Text 35"/>
          <p:cNvSpPr/>
          <p:nvPr/>
        </p:nvSpPr>
        <p:spPr>
          <a:xfrm>
            <a:off x="4709160" y="3410712"/>
            <a:ext cx="420624"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8" name="Text 36"/>
          <p:cNvSpPr/>
          <p:nvPr/>
        </p:nvSpPr>
        <p:spPr>
          <a:xfrm>
            <a:off x="5202936" y="3465576"/>
            <a:ext cx="3566160" cy="274320"/>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Práctica en clase</a:t>
            </a:r>
            <a:endParaRPr lang="en-US" sz="1350" dirty="0"/>
          </a:p>
        </p:txBody>
      </p:sp>
      <p:sp>
        <p:nvSpPr>
          <p:cNvPr id="39" name="Text 37"/>
          <p:cNvSpPr/>
          <p:nvPr/>
        </p:nvSpPr>
        <p:spPr>
          <a:xfrm>
            <a:off x="5202936" y="3739896"/>
            <a:ext cx="3566160" cy="256032"/>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Simulación de comunicación entre procesos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1 · Modelos de SD</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Modelos Arquitectónicos de los SD</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Todo SD adopta uno de estos tres modelos — o una combinación de ellos</a:t>
            </a:r>
            <a:endParaRPr lang="en-US" sz="1150" dirty="0"/>
          </a:p>
        </p:txBody>
      </p:sp>
      <p:sp>
        <p:nvSpPr>
          <p:cNvPr id="9" name="Shape 7"/>
          <p:cNvSpPr/>
          <p:nvPr/>
        </p:nvSpPr>
        <p:spPr>
          <a:xfrm>
            <a:off x="274320" y="1188720"/>
            <a:ext cx="2798064" cy="370332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0" name="Shape 8"/>
          <p:cNvSpPr/>
          <p:nvPr/>
        </p:nvSpPr>
        <p:spPr>
          <a:xfrm>
            <a:off x="274320" y="1188720"/>
            <a:ext cx="2798064" cy="457200"/>
          </a:xfrm>
          <a:prstGeom prst="rect">
            <a:avLst/>
          </a:prstGeom>
          <a:solidFill>
            <a:srgbClr val="1565C0"/>
          </a:solidFill>
          <a:ln w="12700">
            <a:solidFill>
              <a:srgbClr val="1565C0"/>
            </a:solidFill>
            <a:prstDash val="solid"/>
          </a:ln>
        </p:spPr>
      </p:sp>
      <p:sp>
        <p:nvSpPr>
          <p:cNvPr id="11" name="Text 9"/>
          <p:cNvSpPr/>
          <p:nvPr/>
        </p:nvSpPr>
        <p:spPr>
          <a:xfrm>
            <a:off x="365760" y="1188720"/>
            <a:ext cx="2660904" cy="4572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  Cliente-Servidor</a:t>
            </a:r>
            <a:endParaRPr lang="en-US" sz="1450" dirty="0"/>
          </a:p>
        </p:txBody>
      </p:sp>
      <p:sp>
        <p:nvSpPr>
          <p:cNvPr id="12" name="Text 10"/>
          <p:cNvSpPr/>
          <p:nvPr/>
        </p:nvSpPr>
        <p:spPr>
          <a:xfrm>
            <a:off x="384048" y="1719072"/>
            <a:ext cx="2596896" cy="804672"/>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Un servidor central provee servicios. Los clientes los solicitan. El servidor siempre está activo esperando peticiones.</a:t>
            </a:r>
            <a:endParaRPr lang="en-US" sz="1200" dirty="0"/>
          </a:p>
        </p:txBody>
      </p:sp>
      <p:sp>
        <p:nvSpPr>
          <p:cNvPr id="13" name="Shape 11"/>
          <p:cNvSpPr/>
          <p:nvPr/>
        </p:nvSpPr>
        <p:spPr>
          <a:xfrm>
            <a:off x="384048" y="2587752"/>
            <a:ext cx="2542032" cy="0"/>
          </a:xfrm>
          <a:prstGeom prst="line">
            <a:avLst/>
          </a:prstGeom>
          <a:noFill/>
          <a:ln w="12700">
            <a:solidFill>
              <a:srgbClr val="EEEEEE"/>
            </a:solidFill>
            <a:prstDash val="solid"/>
          </a:ln>
        </p:spPr>
      </p:sp>
      <p:sp>
        <p:nvSpPr>
          <p:cNvPr id="14" name="Text 12"/>
          <p:cNvSpPr/>
          <p:nvPr/>
        </p:nvSpPr>
        <p:spPr>
          <a:xfrm>
            <a:off x="384048" y="2660904"/>
            <a:ext cx="2596896" cy="566928"/>
          </a:xfrm>
          <a:prstGeom prst="rect">
            <a:avLst/>
          </a:prstGeom>
          <a:noFill/>
          <a:ln/>
        </p:spPr>
        <p:txBody>
          <a:bodyPr wrap="square"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Simple, centralizado, fácil de administrar y asegurar.</a:t>
            </a:r>
            <a:endParaRPr lang="en-US" sz="1150" dirty="0"/>
          </a:p>
        </p:txBody>
      </p:sp>
      <p:sp>
        <p:nvSpPr>
          <p:cNvPr id="15" name="Text 13"/>
          <p:cNvSpPr/>
          <p:nvPr/>
        </p:nvSpPr>
        <p:spPr>
          <a:xfrm>
            <a:off x="384048" y="3282696"/>
            <a:ext cx="2596896" cy="566928"/>
          </a:xfrm>
          <a:prstGeom prst="rect">
            <a:avLst/>
          </a:prstGeom>
          <a:noFill/>
          <a:ln/>
        </p:spPr>
        <p:txBody>
          <a:bodyPr wrap="square"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El servidor es punto único de fallo. Escala con dificultad.</a:t>
            </a:r>
            <a:endParaRPr lang="en-US" sz="1150" dirty="0"/>
          </a:p>
        </p:txBody>
      </p:sp>
      <p:sp>
        <p:nvSpPr>
          <p:cNvPr id="16" name="Shape 14"/>
          <p:cNvSpPr/>
          <p:nvPr/>
        </p:nvSpPr>
        <p:spPr>
          <a:xfrm>
            <a:off x="384048" y="3904488"/>
            <a:ext cx="2542032" cy="0"/>
          </a:xfrm>
          <a:prstGeom prst="line">
            <a:avLst/>
          </a:prstGeom>
          <a:noFill/>
          <a:ln w="12700">
            <a:solidFill>
              <a:srgbClr val="EEEEEE"/>
            </a:solidFill>
            <a:prstDash val="solid"/>
          </a:ln>
        </p:spPr>
      </p:sp>
      <p:sp>
        <p:nvSpPr>
          <p:cNvPr id="17" name="Text 15"/>
          <p:cNvSpPr/>
          <p:nvPr/>
        </p:nvSpPr>
        <p:spPr>
          <a:xfrm>
            <a:off x="384048" y="3977640"/>
            <a:ext cx="2596896" cy="82296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Ejemplos: Web (HTTP), correo (SMTP/IMAP), DNS, bases de datos relacionales.</a:t>
            </a:r>
            <a:endParaRPr lang="en-US" sz="1100" dirty="0"/>
          </a:p>
        </p:txBody>
      </p:sp>
      <p:sp>
        <p:nvSpPr>
          <p:cNvPr id="18" name="Shape 16"/>
          <p:cNvSpPr/>
          <p:nvPr/>
        </p:nvSpPr>
        <p:spPr>
          <a:xfrm>
            <a:off x="3218688" y="1188720"/>
            <a:ext cx="2798064" cy="370332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9" name="Shape 17"/>
          <p:cNvSpPr/>
          <p:nvPr/>
        </p:nvSpPr>
        <p:spPr>
          <a:xfrm>
            <a:off x="3218688" y="1188720"/>
            <a:ext cx="2798064" cy="457200"/>
          </a:xfrm>
          <a:prstGeom prst="rect">
            <a:avLst/>
          </a:prstGeom>
          <a:solidFill>
            <a:srgbClr val="6A1B9A"/>
          </a:solidFill>
          <a:ln w="12700">
            <a:solidFill>
              <a:srgbClr val="6A1B9A"/>
            </a:solidFill>
            <a:prstDash val="solid"/>
          </a:ln>
        </p:spPr>
      </p:sp>
      <p:sp>
        <p:nvSpPr>
          <p:cNvPr id="20" name="Text 18"/>
          <p:cNvSpPr/>
          <p:nvPr/>
        </p:nvSpPr>
        <p:spPr>
          <a:xfrm>
            <a:off x="3310128" y="1188720"/>
            <a:ext cx="2660904" cy="4572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  Peer-to-Peer (P2P)</a:t>
            </a:r>
            <a:endParaRPr lang="en-US" sz="1450" dirty="0"/>
          </a:p>
        </p:txBody>
      </p:sp>
      <p:sp>
        <p:nvSpPr>
          <p:cNvPr id="21" name="Text 19"/>
          <p:cNvSpPr/>
          <p:nvPr/>
        </p:nvSpPr>
        <p:spPr>
          <a:xfrm>
            <a:off x="3328416" y="1719072"/>
            <a:ext cx="2596896" cy="804672"/>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Todos los nodos son iguales: cada uno puede actuar como cliente Y como servidor simultáneamente.</a:t>
            </a:r>
            <a:endParaRPr lang="en-US" sz="1200" dirty="0"/>
          </a:p>
        </p:txBody>
      </p:sp>
      <p:sp>
        <p:nvSpPr>
          <p:cNvPr id="22" name="Shape 20"/>
          <p:cNvSpPr/>
          <p:nvPr/>
        </p:nvSpPr>
        <p:spPr>
          <a:xfrm>
            <a:off x="3328416" y="2587752"/>
            <a:ext cx="2542032" cy="0"/>
          </a:xfrm>
          <a:prstGeom prst="line">
            <a:avLst/>
          </a:prstGeom>
          <a:noFill/>
          <a:ln w="12700">
            <a:solidFill>
              <a:srgbClr val="EEEEEE"/>
            </a:solidFill>
            <a:prstDash val="solid"/>
          </a:ln>
        </p:spPr>
      </p:sp>
      <p:sp>
        <p:nvSpPr>
          <p:cNvPr id="23" name="Text 21"/>
          <p:cNvSpPr/>
          <p:nvPr/>
        </p:nvSpPr>
        <p:spPr>
          <a:xfrm>
            <a:off x="3328416" y="2660904"/>
            <a:ext cx="2596896" cy="566928"/>
          </a:xfrm>
          <a:prstGeom prst="rect">
            <a:avLst/>
          </a:prstGeom>
          <a:noFill/>
          <a:ln/>
        </p:spPr>
        <p:txBody>
          <a:bodyPr wrap="square"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Sin punto único de fallo. Escala naturalmente. Sin servidor central.</a:t>
            </a:r>
            <a:endParaRPr lang="en-US" sz="1150" dirty="0"/>
          </a:p>
        </p:txBody>
      </p:sp>
      <p:sp>
        <p:nvSpPr>
          <p:cNvPr id="24" name="Text 22"/>
          <p:cNvSpPr/>
          <p:nvPr/>
        </p:nvSpPr>
        <p:spPr>
          <a:xfrm>
            <a:off x="3328416" y="3282696"/>
            <a:ext cx="2596896" cy="566928"/>
          </a:xfrm>
          <a:prstGeom prst="rect">
            <a:avLst/>
          </a:prstGeom>
          <a:noFill/>
          <a:ln/>
        </p:spPr>
        <p:txBody>
          <a:bodyPr wrap="square"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Difícil de asegurar. Consistencia compleja. Descubrimiento de nodos costoso.</a:t>
            </a:r>
            <a:endParaRPr lang="en-US" sz="1150" dirty="0"/>
          </a:p>
        </p:txBody>
      </p:sp>
      <p:sp>
        <p:nvSpPr>
          <p:cNvPr id="25" name="Shape 23"/>
          <p:cNvSpPr/>
          <p:nvPr/>
        </p:nvSpPr>
        <p:spPr>
          <a:xfrm>
            <a:off x="3328416" y="3904488"/>
            <a:ext cx="2542032" cy="0"/>
          </a:xfrm>
          <a:prstGeom prst="line">
            <a:avLst/>
          </a:prstGeom>
          <a:noFill/>
          <a:ln w="12700">
            <a:solidFill>
              <a:srgbClr val="EEEEEE"/>
            </a:solidFill>
            <a:prstDash val="solid"/>
          </a:ln>
        </p:spPr>
      </p:sp>
      <p:sp>
        <p:nvSpPr>
          <p:cNvPr id="26" name="Text 24"/>
          <p:cNvSpPr/>
          <p:nvPr/>
        </p:nvSpPr>
        <p:spPr>
          <a:xfrm>
            <a:off x="3328416" y="3977640"/>
            <a:ext cx="2596896" cy="82296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Ejemplos: BitTorrent, Bitcoin/Blockchain, Gnutella, IPFS.</a:t>
            </a:r>
            <a:endParaRPr lang="en-US" sz="1100" dirty="0"/>
          </a:p>
        </p:txBody>
      </p:sp>
      <p:sp>
        <p:nvSpPr>
          <p:cNvPr id="27" name="Shape 25"/>
          <p:cNvSpPr/>
          <p:nvPr/>
        </p:nvSpPr>
        <p:spPr>
          <a:xfrm>
            <a:off x="6163056" y="1188720"/>
            <a:ext cx="2798064" cy="370332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28" name="Shape 26"/>
          <p:cNvSpPr/>
          <p:nvPr/>
        </p:nvSpPr>
        <p:spPr>
          <a:xfrm>
            <a:off x="6163056" y="1188720"/>
            <a:ext cx="2798064" cy="457200"/>
          </a:xfrm>
          <a:prstGeom prst="rect">
            <a:avLst/>
          </a:prstGeom>
          <a:solidFill>
            <a:srgbClr val="E65100"/>
          </a:solidFill>
          <a:ln w="12700">
            <a:solidFill>
              <a:srgbClr val="E65100"/>
            </a:solidFill>
            <a:prstDash val="solid"/>
          </a:ln>
        </p:spPr>
      </p:sp>
      <p:sp>
        <p:nvSpPr>
          <p:cNvPr id="29" name="Text 27"/>
          <p:cNvSpPr/>
          <p:nvPr/>
        </p:nvSpPr>
        <p:spPr>
          <a:xfrm>
            <a:off x="6254496" y="1188720"/>
            <a:ext cx="2660904" cy="45720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  Híbrido</a:t>
            </a:r>
            <a:endParaRPr lang="en-US" sz="1450" dirty="0"/>
          </a:p>
        </p:txBody>
      </p:sp>
      <p:sp>
        <p:nvSpPr>
          <p:cNvPr id="30" name="Text 28"/>
          <p:cNvSpPr/>
          <p:nvPr/>
        </p:nvSpPr>
        <p:spPr>
          <a:xfrm>
            <a:off x="6272784" y="1719072"/>
            <a:ext cx="2596896" cy="804672"/>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Combina cliente-servidor y P2P. Un servidor central gestiona metadatos o descubrimiento; la transferencia real ocurre P2P.</a:t>
            </a:r>
            <a:endParaRPr lang="en-US" sz="1200" dirty="0"/>
          </a:p>
        </p:txBody>
      </p:sp>
      <p:sp>
        <p:nvSpPr>
          <p:cNvPr id="31" name="Shape 29"/>
          <p:cNvSpPr/>
          <p:nvPr/>
        </p:nvSpPr>
        <p:spPr>
          <a:xfrm>
            <a:off x="6272784" y="2587752"/>
            <a:ext cx="2542032" cy="0"/>
          </a:xfrm>
          <a:prstGeom prst="line">
            <a:avLst/>
          </a:prstGeom>
          <a:noFill/>
          <a:ln w="12700">
            <a:solidFill>
              <a:srgbClr val="EEEEEE"/>
            </a:solidFill>
            <a:prstDash val="solid"/>
          </a:ln>
        </p:spPr>
      </p:sp>
      <p:sp>
        <p:nvSpPr>
          <p:cNvPr id="32" name="Text 30"/>
          <p:cNvSpPr/>
          <p:nvPr/>
        </p:nvSpPr>
        <p:spPr>
          <a:xfrm>
            <a:off x="6272784" y="2660904"/>
            <a:ext cx="2596896" cy="566928"/>
          </a:xfrm>
          <a:prstGeom prst="rect">
            <a:avLst/>
          </a:prstGeom>
          <a:noFill/>
          <a:ln/>
        </p:spPr>
        <p:txBody>
          <a:bodyPr wrap="square" rtlCol="0" anchor="ctr"/>
          <a:lstStyle/>
          <a:p>
            <a:pPr marL="0" indent="0">
              <a:buNone/>
            </a:pPr>
            <a:r>
              <a:rPr lang="en-US" sz="1150" dirty="0">
                <a:solidFill>
                  <a:srgbClr val="2E7D32"/>
                </a:solidFill>
                <a:latin typeface="Calibri" pitchFamily="34" charset="0"/>
                <a:ea typeface="Calibri" pitchFamily="34" charset="-122"/>
                <a:cs typeface="Calibri" pitchFamily="34" charset="-120"/>
              </a:rPr>
              <a:t>✅ Aprovecha lo mejor de ambos modelos. Muy escalable.</a:t>
            </a:r>
            <a:endParaRPr lang="en-US" sz="1150" dirty="0"/>
          </a:p>
        </p:txBody>
      </p:sp>
      <p:sp>
        <p:nvSpPr>
          <p:cNvPr id="33" name="Text 31"/>
          <p:cNvSpPr/>
          <p:nvPr/>
        </p:nvSpPr>
        <p:spPr>
          <a:xfrm>
            <a:off x="6272784" y="3282696"/>
            <a:ext cx="2596896" cy="566928"/>
          </a:xfrm>
          <a:prstGeom prst="rect">
            <a:avLst/>
          </a:prstGeom>
          <a:noFill/>
          <a:ln/>
        </p:spPr>
        <p:txBody>
          <a:bodyPr wrap="square" rtlCol="0" anchor="ctr"/>
          <a:lstStyle/>
          <a:p>
            <a:pPr marL="0" indent="0">
              <a:buNone/>
            </a:pPr>
            <a:r>
              <a:rPr lang="en-US" sz="1150" dirty="0">
                <a:solidFill>
                  <a:srgbClr val="C62828"/>
                </a:solidFill>
                <a:latin typeface="Calibri" pitchFamily="34" charset="0"/>
                <a:ea typeface="Calibri" pitchFamily="34" charset="-122"/>
                <a:cs typeface="Calibri" pitchFamily="34" charset="-120"/>
              </a:rPr>
              <a:t>❌ Mayor complejidad de diseño e implementación.</a:t>
            </a:r>
            <a:endParaRPr lang="en-US" sz="1150" dirty="0"/>
          </a:p>
        </p:txBody>
      </p:sp>
      <p:sp>
        <p:nvSpPr>
          <p:cNvPr id="34" name="Shape 32"/>
          <p:cNvSpPr/>
          <p:nvPr/>
        </p:nvSpPr>
        <p:spPr>
          <a:xfrm>
            <a:off x="6272784" y="3904488"/>
            <a:ext cx="2542032" cy="0"/>
          </a:xfrm>
          <a:prstGeom prst="line">
            <a:avLst/>
          </a:prstGeom>
          <a:noFill/>
          <a:ln w="12700">
            <a:solidFill>
              <a:srgbClr val="EEEEEE"/>
            </a:solidFill>
            <a:prstDash val="solid"/>
          </a:ln>
        </p:spPr>
      </p:sp>
      <p:sp>
        <p:nvSpPr>
          <p:cNvPr id="35" name="Text 33"/>
          <p:cNvSpPr/>
          <p:nvPr/>
        </p:nvSpPr>
        <p:spPr>
          <a:xfrm>
            <a:off x="6272784" y="3977640"/>
            <a:ext cx="2596896" cy="82296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Ejemplos: Skype (original), Spotify, WhatsApp, CDN (Content Delivery Network) modernas.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2E7D32"/>
          </a:solidFill>
          <a:ln w="12700">
            <a:solidFill>
              <a:srgbClr val="2E7D32"/>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2 · Comunicación: Sockets</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Sockets — La Base de Toda Comunicación en Red</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Un socket es el punto extremo de una comunicación bidireccional entre dos procesos a través de una red</a:t>
            </a:r>
            <a:endParaRPr lang="en-US" sz="1150" dirty="0"/>
          </a:p>
        </p:txBody>
      </p:sp>
      <p:sp>
        <p:nvSpPr>
          <p:cNvPr id="9" name="Shape 7"/>
          <p:cNvSpPr/>
          <p:nvPr/>
        </p:nvSpPr>
        <p:spPr>
          <a:xfrm>
            <a:off x="274320" y="1188720"/>
            <a:ext cx="4023360" cy="370332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0" name="Shape 8"/>
          <p:cNvSpPr/>
          <p:nvPr/>
        </p:nvSpPr>
        <p:spPr>
          <a:xfrm>
            <a:off x="274320" y="1188720"/>
            <a:ext cx="4023360" cy="420624"/>
          </a:xfrm>
          <a:prstGeom prst="rect">
            <a:avLst/>
          </a:prstGeom>
          <a:solidFill>
            <a:srgbClr val="2E7D32"/>
          </a:solidFill>
          <a:ln w="12700">
            <a:solidFill>
              <a:srgbClr val="2E7D32"/>
            </a:solidFill>
            <a:prstDash val="solid"/>
          </a:ln>
        </p:spPr>
      </p:sp>
      <p:sp>
        <p:nvSpPr>
          <p:cNvPr id="11" name="Text 9"/>
          <p:cNvSpPr/>
          <p:nvPr/>
        </p:nvSpPr>
        <p:spPr>
          <a:xfrm>
            <a:off x="420624" y="1188720"/>
            <a:ext cx="3840480" cy="420624"/>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  Tipos de Sockets</a:t>
            </a:r>
            <a:endParaRPr lang="en-US" sz="1450" dirty="0"/>
          </a:p>
        </p:txBody>
      </p:sp>
      <p:sp>
        <p:nvSpPr>
          <p:cNvPr id="12" name="Shape 10"/>
          <p:cNvSpPr/>
          <p:nvPr/>
        </p:nvSpPr>
        <p:spPr>
          <a:xfrm>
            <a:off x="347472" y="1737360"/>
            <a:ext cx="109728" cy="911352"/>
          </a:xfrm>
          <a:prstGeom prst="rect">
            <a:avLst/>
          </a:prstGeom>
          <a:solidFill>
            <a:srgbClr val="1565C0"/>
          </a:solidFill>
          <a:ln w="12700">
            <a:solidFill>
              <a:srgbClr val="1565C0"/>
            </a:solidFill>
            <a:prstDash val="solid"/>
          </a:ln>
        </p:spPr>
      </p:sp>
      <p:sp>
        <p:nvSpPr>
          <p:cNvPr id="13" name="Text 11"/>
          <p:cNvSpPr/>
          <p:nvPr/>
        </p:nvSpPr>
        <p:spPr>
          <a:xfrm>
            <a:off x="530352" y="1737360"/>
            <a:ext cx="3675888" cy="45189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TCP (Stream Socket)</a:t>
            </a:r>
            <a:endParaRPr lang="en-US" sz="1300" dirty="0"/>
          </a:p>
        </p:txBody>
      </p:sp>
      <p:sp>
        <p:nvSpPr>
          <p:cNvPr id="14" name="Text 12"/>
          <p:cNvSpPr/>
          <p:nvPr/>
        </p:nvSpPr>
        <p:spPr>
          <a:xfrm>
            <a:off x="530352" y="2134392"/>
            <a:ext cx="3675888" cy="53797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Orientado a conexión. Garantiza entrega en orden. Sin pérdidas. Más lento.</a:t>
            </a:r>
            <a:endParaRPr lang="en-US" sz="1200" dirty="0"/>
          </a:p>
        </p:txBody>
      </p:sp>
      <p:sp>
        <p:nvSpPr>
          <p:cNvPr id="15" name="Shape 13"/>
          <p:cNvSpPr/>
          <p:nvPr/>
        </p:nvSpPr>
        <p:spPr>
          <a:xfrm>
            <a:off x="347472" y="2813304"/>
            <a:ext cx="109728" cy="911352"/>
          </a:xfrm>
          <a:prstGeom prst="rect">
            <a:avLst/>
          </a:prstGeom>
          <a:solidFill>
            <a:srgbClr val="E65100"/>
          </a:solidFill>
          <a:ln w="12700">
            <a:solidFill>
              <a:srgbClr val="E65100"/>
            </a:solidFill>
            <a:prstDash val="solid"/>
          </a:ln>
        </p:spPr>
      </p:sp>
      <p:sp>
        <p:nvSpPr>
          <p:cNvPr id="16" name="Text 14"/>
          <p:cNvSpPr/>
          <p:nvPr/>
        </p:nvSpPr>
        <p:spPr>
          <a:xfrm>
            <a:off x="530352" y="2813304"/>
            <a:ext cx="3675888" cy="451896"/>
          </a:xfrm>
          <a:prstGeom prst="rect">
            <a:avLst/>
          </a:prstGeom>
          <a:noFill/>
          <a:ln/>
        </p:spPr>
        <p:txBody>
          <a:bodyPr wrap="square" rtlCol="0" anchor="ctr"/>
          <a:lstStyle/>
          <a:p>
            <a:pPr marL="0" indent="0">
              <a:buNone/>
            </a:pPr>
            <a:r>
              <a:rPr lang="en-US" sz="1300" b="1" dirty="0">
                <a:solidFill>
                  <a:srgbClr val="E65100"/>
                </a:solidFill>
                <a:latin typeface="Calibri" pitchFamily="34" charset="0"/>
                <a:ea typeface="Calibri" pitchFamily="34" charset="-122"/>
                <a:cs typeface="Calibri" pitchFamily="34" charset="-120"/>
              </a:rPr>
              <a:t>UDP (Datagram Socket)</a:t>
            </a:r>
            <a:endParaRPr lang="en-US" sz="1300" dirty="0"/>
          </a:p>
        </p:txBody>
      </p:sp>
      <p:sp>
        <p:nvSpPr>
          <p:cNvPr id="17" name="Text 15"/>
          <p:cNvSpPr/>
          <p:nvPr/>
        </p:nvSpPr>
        <p:spPr>
          <a:xfrm>
            <a:off x="530352" y="3210336"/>
            <a:ext cx="3675888" cy="53797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Sin conexión. No garantiza entrega ni orden. Más rápido. Ideal para streaming.</a:t>
            </a:r>
            <a:endParaRPr lang="en-US" sz="1200" dirty="0"/>
          </a:p>
        </p:txBody>
      </p:sp>
      <p:sp>
        <p:nvSpPr>
          <p:cNvPr id="18" name="Shape 16"/>
          <p:cNvSpPr/>
          <p:nvPr/>
        </p:nvSpPr>
        <p:spPr>
          <a:xfrm>
            <a:off x="347472" y="3889248"/>
            <a:ext cx="109728" cy="911352"/>
          </a:xfrm>
          <a:prstGeom prst="rect">
            <a:avLst/>
          </a:prstGeom>
          <a:solidFill>
            <a:srgbClr val="546E7A"/>
          </a:solidFill>
          <a:ln w="12700">
            <a:solidFill>
              <a:srgbClr val="546E7A"/>
            </a:solidFill>
            <a:prstDash val="solid"/>
          </a:ln>
        </p:spPr>
      </p:sp>
      <p:sp>
        <p:nvSpPr>
          <p:cNvPr id="19" name="Text 17"/>
          <p:cNvSpPr/>
          <p:nvPr/>
        </p:nvSpPr>
        <p:spPr>
          <a:xfrm>
            <a:off x="530352" y="3889248"/>
            <a:ext cx="3675888" cy="451896"/>
          </a:xfrm>
          <a:prstGeom prst="rect">
            <a:avLst/>
          </a:prstGeom>
          <a:noFill/>
          <a:ln/>
        </p:spPr>
        <p:txBody>
          <a:bodyPr wrap="square" rtlCol="0" anchor="ctr"/>
          <a:lstStyle/>
          <a:p>
            <a:pPr marL="0" indent="0">
              <a:buNone/>
            </a:pPr>
            <a:r>
              <a:rPr lang="en-US" sz="1300" b="1" dirty="0">
                <a:solidFill>
                  <a:srgbClr val="546E7A"/>
                </a:solidFill>
                <a:latin typeface="Calibri" pitchFamily="34" charset="0"/>
                <a:ea typeface="Calibri" pitchFamily="34" charset="-122"/>
                <a:cs typeface="Calibri" pitchFamily="34" charset="-120"/>
              </a:rPr>
              <a:t>Raw Socket</a:t>
            </a:r>
            <a:endParaRPr lang="en-US" sz="1300" dirty="0"/>
          </a:p>
        </p:txBody>
      </p:sp>
      <p:sp>
        <p:nvSpPr>
          <p:cNvPr id="20" name="Text 18"/>
          <p:cNvSpPr/>
          <p:nvPr/>
        </p:nvSpPr>
        <p:spPr>
          <a:xfrm>
            <a:off x="530352" y="4286280"/>
            <a:ext cx="3675888" cy="537972"/>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Acceso directo al protocolo IP. Solo para herramientas de red de bajo nivel.</a:t>
            </a:r>
            <a:endParaRPr lang="en-US" sz="1200" dirty="0"/>
          </a:p>
        </p:txBody>
      </p:sp>
      <p:sp>
        <p:nvSpPr>
          <p:cNvPr id="21" name="Shape 19"/>
          <p:cNvSpPr/>
          <p:nvPr/>
        </p:nvSpPr>
        <p:spPr>
          <a:xfrm>
            <a:off x="4572000" y="1188720"/>
            <a:ext cx="4297680" cy="370332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22" name="Shape 20"/>
          <p:cNvSpPr/>
          <p:nvPr/>
        </p:nvSpPr>
        <p:spPr>
          <a:xfrm>
            <a:off x="4572000" y="1188720"/>
            <a:ext cx="4297680" cy="420624"/>
          </a:xfrm>
          <a:prstGeom prst="rect">
            <a:avLst/>
          </a:prstGeom>
          <a:solidFill>
            <a:srgbClr val="1565C0"/>
          </a:solidFill>
          <a:ln w="12700">
            <a:solidFill>
              <a:srgbClr val="1565C0"/>
            </a:solidFill>
            <a:prstDash val="solid"/>
          </a:ln>
        </p:spPr>
      </p:sp>
      <p:sp>
        <p:nvSpPr>
          <p:cNvPr id="23" name="Text 21"/>
          <p:cNvSpPr/>
          <p:nvPr/>
        </p:nvSpPr>
        <p:spPr>
          <a:xfrm>
            <a:off x="4681728" y="1188720"/>
            <a:ext cx="4114800" cy="420624"/>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Ciclo de vida de un Socket TCP</a:t>
            </a:r>
            <a:endParaRPr lang="en-US" sz="1350" dirty="0"/>
          </a:p>
        </p:txBody>
      </p:sp>
      <p:sp>
        <p:nvSpPr>
          <p:cNvPr id="24" name="Shape 22"/>
          <p:cNvSpPr/>
          <p:nvPr/>
        </p:nvSpPr>
        <p:spPr>
          <a:xfrm>
            <a:off x="4681728" y="1719072"/>
            <a:ext cx="822960" cy="367066"/>
          </a:xfrm>
          <a:prstGeom prst="rect">
            <a:avLst/>
          </a:prstGeom>
          <a:solidFill>
            <a:srgbClr val="1565C0"/>
          </a:solidFill>
          <a:ln w="12700">
            <a:solidFill>
              <a:srgbClr val="1565C0"/>
            </a:solidFill>
            <a:prstDash val="solid"/>
          </a:ln>
        </p:spPr>
      </p:sp>
      <p:sp>
        <p:nvSpPr>
          <p:cNvPr id="25" name="Text 23"/>
          <p:cNvSpPr/>
          <p:nvPr/>
        </p:nvSpPr>
        <p:spPr>
          <a:xfrm>
            <a:off x="4681728" y="1719072"/>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SERVIDOR</a:t>
            </a:r>
            <a:endParaRPr lang="en-US" sz="800" dirty="0"/>
          </a:p>
        </p:txBody>
      </p:sp>
      <p:sp>
        <p:nvSpPr>
          <p:cNvPr id="26" name="Text 24"/>
          <p:cNvSpPr/>
          <p:nvPr/>
        </p:nvSpPr>
        <p:spPr>
          <a:xfrm>
            <a:off x="5577840" y="1719072"/>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socket() → Crear socket</a:t>
            </a:r>
            <a:endParaRPr lang="en-US" sz="1250" dirty="0"/>
          </a:p>
        </p:txBody>
      </p:sp>
      <p:sp>
        <p:nvSpPr>
          <p:cNvPr id="27" name="Shape 25"/>
          <p:cNvSpPr/>
          <p:nvPr/>
        </p:nvSpPr>
        <p:spPr>
          <a:xfrm>
            <a:off x="4681728" y="2177578"/>
            <a:ext cx="822960" cy="367066"/>
          </a:xfrm>
          <a:prstGeom prst="rect">
            <a:avLst/>
          </a:prstGeom>
          <a:solidFill>
            <a:srgbClr val="1565C0"/>
          </a:solidFill>
          <a:ln w="12700">
            <a:solidFill>
              <a:srgbClr val="1565C0"/>
            </a:solidFill>
            <a:prstDash val="solid"/>
          </a:ln>
        </p:spPr>
      </p:sp>
      <p:sp>
        <p:nvSpPr>
          <p:cNvPr id="28" name="Text 26"/>
          <p:cNvSpPr/>
          <p:nvPr/>
        </p:nvSpPr>
        <p:spPr>
          <a:xfrm>
            <a:off x="4681728" y="2177578"/>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SERVIDOR</a:t>
            </a:r>
            <a:endParaRPr lang="en-US" sz="800" dirty="0"/>
          </a:p>
        </p:txBody>
      </p:sp>
      <p:sp>
        <p:nvSpPr>
          <p:cNvPr id="29" name="Text 27"/>
          <p:cNvSpPr/>
          <p:nvPr/>
        </p:nvSpPr>
        <p:spPr>
          <a:xfrm>
            <a:off x="5577840" y="2177578"/>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bind() → Asociar IP y puerto</a:t>
            </a:r>
            <a:endParaRPr lang="en-US" sz="1250" dirty="0"/>
          </a:p>
        </p:txBody>
      </p:sp>
      <p:sp>
        <p:nvSpPr>
          <p:cNvPr id="30" name="Shape 28"/>
          <p:cNvSpPr/>
          <p:nvPr/>
        </p:nvSpPr>
        <p:spPr>
          <a:xfrm>
            <a:off x="4681728" y="2636085"/>
            <a:ext cx="822960" cy="367066"/>
          </a:xfrm>
          <a:prstGeom prst="rect">
            <a:avLst/>
          </a:prstGeom>
          <a:solidFill>
            <a:srgbClr val="1565C0"/>
          </a:solidFill>
          <a:ln w="12700">
            <a:solidFill>
              <a:srgbClr val="1565C0"/>
            </a:solidFill>
            <a:prstDash val="solid"/>
          </a:ln>
        </p:spPr>
      </p:sp>
      <p:sp>
        <p:nvSpPr>
          <p:cNvPr id="31" name="Text 29"/>
          <p:cNvSpPr/>
          <p:nvPr/>
        </p:nvSpPr>
        <p:spPr>
          <a:xfrm>
            <a:off x="4681728" y="2636085"/>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SERVIDOR</a:t>
            </a:r>
            <a:endParaRPr lang="en-US" sz="800" dirty="0"/>
          </a:p>
        </p:txBody>
      </p:sp>
      <p:sp>
        <p:nvSpPr>
          <p:cNvPr id="32" name="Text 30"/>
          <p:cNvSpPr/>
          <p:nvPr/>
        </p:nvSpPr>
        <p:spPr>
          <a:xfrm>
            <a:off x="5577840" y="2636085"/>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listen() → Esperar conexiones</a:t>
            </a:r>
            <a:endParaRPr lang="en-US" sz="1250" dirty="0"/>
          </a:p>
        </p:txBody>
      </p:sp>
      <p:sp>
        <p:nvSpPr>
          <p:cNvPr id="33" name="Shape 31"/>
          <p:cNvSpPr/>
          <p:nvPr/>
        </p:nvSpPr>
        <p:spPr>
          <a:xfrm>
            <a:off x="4681728" y="3094591"/>
            <a:ext cx="822960" cy="367066"/>
          </a:xfrm>
          <a:prstGeom prst="rect">
            <a:avLst/>
          </a:prstGeom>
          <a:solidFill>
            <a:srgbClr val="2E7D32"/>
          </a:solidFill>
          <a:ln w="12700">
            <a:solidFill>
              <a:srgbClr val="2E7D32"/>
            </a:solidFill>
            <a:prstDash val="solid"/>
          </a:ln>
        </p:spPr>
      </p:sp>
      <p:sp>
        <p:nvSpPr>
          <p:cNvPr id="34" name="Text 32"/>
          <p:cNvSpPr/>
          <p:nvPr/>
        </p:nvSpPr>
        <p:spPr>
          <a:xfrm>
            <a:off x="4681728" y="3094591"/>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CLIENTE</a:t>
            </a:r>
            <a:endParaRPr lang="en-US" sz="800" dirty="0"/>
          </a:p>
        </p:txBody>
      </p:sp>
      <p:sp>
        <p:nvSpPr>
          <p:cNvPr id="35" name="Text 33"/>
          <p:cNvSpPr/>
          <p:nvPr/>
        </p:nvSpPr>
        <p:spPr>
          <a:xfrm>
            <a:off x="5577840" y="3094591"/>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socket() → Crear socket</a:t>
            </a:r>
            <a:endParaRPr lang="en-US" sz="1250" dirty="0"/>
          </a:p>
        </p:txBody>
      </p:sp>
      <p:sp>
        <p:nvSpPr>
          <p:cNvPr id="36" name="Shape 34"/>
          <p:cNvSpPr/>
          <p:nvPr/>
        </p:nvSpPr>
        <p:spPr>
          <a:xfrm>
            <a:off x="4681728" y="3553097"/>
            <a:ext cx="822960" cy="367066"/>
          </a:xfrm>
          <a:prstGeom prst="rect">
            <a:avLst/>
          </a:prstGeom>
          <a:solidFill>
            <a:srgbClr val="2E7D32"/>
          </a:solidFill>
          <a:ln w="12700">
            <a:solidFill>
              <a:srgbClr val="2E7D32"/>
            </a:solidFill>
            <a:prstDash val="solid"/>
          </a:ln>
        </p:spPr>
      </p:sp>
      <p:sp>
        <p:nvSpPr>
          <p:cNvPr id="37" name="Text 35"/>
          <p:cNvSpPr/>
          <p:nvPr/>
        </p:nvSpPr>
        <p:spPr>
          <a:xfrm>
            <a:off x="4681728" y="3553097"/>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CLIENTE</a:t>
            </a:r>
            <a:endParaRPr lang="en-US" sz="800" dirty="0"/>
          </a:p>
        </p:txBody>
      </p:sp>
      <p:sp>
        <p:nvSpPr>
          <p:cNvPr id="38" name="Text 36"/>
          <p:cNvSpPr/>
          <p:nvPr/>
        </p:nvSpPr>
        <p:spPr>
          <a:xfrm>
            <a:off x="5577840" y="3553097"/>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connect() → Conectar al servidor</a:t>
            </a:r>
            <a:endParaRPr lang="en-US" sz="1250" dirty="0"/>
          </a:p>
        </p:txBody>
      </p:sp>
      <p:sp>
        <p:nvSpPr>
          <p:cNvPr id="39" name="Shape 37"/>
          <p:cNvSpPr/>
          <p:nvPr/>
        </p:nvSpPr>
        <p:spPr>
          <a:xfrm>
            <a:off x="4681728" y="4011603"/>
            <a:ext cx="822960" cy="367066"/>
          </a:xfrm>
          <a:prstGeom prst="rect">
            <a:avLst/>
          </a:prstGeom>
          <a:solidFill>
            <a:srgbClr val="E65100"/>
          </a:solidFill>
          <a:ln w="12700">
            <a:solidFill>
              <a:srgbClr val="E65100"/>
            </a:solidFill>
            <a:prstDash val="solid"/>
          </a:ln>
        </p:spPr>
      </p:sp>
      <p:sp>
        <p:nvSpPr>
          <p:cNvPr id="40" name="Text 38"/>
          <p:cNvSpPr/>
          <p:nvPr/>
        </p:nvSpPr>
        <p:spPr>
          <a:xfrm>
            <a:off x="4681728" y="4011603"/>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AMBOS</a:t>
            </a:r>
            <a:endParaRPr lang="en-US" sz="800" dirty="0"/>
          </a:p>
        </p:txBody>
      </p:sp>
      <p:sp>
        <p:nvSpPr>
          <p:cNvPr id="41" name="Text 39"/>
          <p:cNvSpPr/>
          <p:nvPr/>
        </p:nvSpPr>
        <p:spPr>
          <a:xfrm>
            <a:off x="5577840" y="4011603"/>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send() / recv() → Intercambiar datos</a:t>
            </a:r>
            <a:endParaRPr lang="en-US" sz="1250" dirty="0"/>
          </a:p>
        </p:txBody>
      </p:sp>
      <p:sp>
        <p:nvSpPr>
          <p:cNvPr id="42" name="Shape 40"/>
          <p:cNvSpPr/>
          <p:nvPr/>
        </p:nvSpPr>
        <p:spPr>
          <a:xfrm>
            <a:off x="4681728" y="4470110"/>
            <a:ext cx="822960" cy="367066"/>
          </a:xfrm>
          <a:prstGeom prst="rect">
            <a:avLst/>
          </a:prstGeom>
          <a:solidFill>
            <a:srgbClr val="C62828"/>
          </a:solidFill>
          <a:ln w="12700">
            <a:solidFill>
              <a:srgbClr val="C62828"/>
            </a:solidFill>
            <a:prstDash val="solid"/>
          </a:ln>
        </p:spPr>
      </p:sp>
      <p:sp>
        <p:nvSpPr>
          <p:cNvPr id="43" name="Text 41"/>
          <p:cNvSpPr/>
          <p:nvPr/>
        </p:nvSpPr>
        <p:spPr>
          <a:xfrm>
            <a:off x="4681728" y="4470110"/>
            <a:ext cx="822960" cy="36706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AMBOS</a:t>
            </a:r>
            <a:endParaRPr lang="en-US" sz="800" dirty="0"/>
          </a:p>
        </p:txBody>
      </p:sp>
      <p:sp>
        <p:nvSpPr>
          <p:cNvPr id="44" name="Text 42"/>
          <p:cNvSpPr/>
          <p:nvPr/>
        </p:nvSpPr>
        <p:spPr>
          <a:xfrm>
            <a:off x="5577840" y="4470110"/>
            <a:ext cx="3182112" cy="367066"/>
          </a:xfrm>
          <a:prstGeom prst="rect">
            <a:avLst/>
          </a:prstGeom>
          <a:noFill/>
          <a:ln/>
        </p:spPr>
        <p:txBody>
          <a:bodyPr wrap="square" rtlCol="0" anchor="ctr"/>
          <a:lstStyle/>
          <a:p>
            <a:pPr marL="0" indent="0">
              <a:buNone/>
            </a:pPr>
            <a:r>
              <a:rPr lang="en-US" sz="1250" dirty="0">
                <a:solidFill>
                  <a:srgbClr val="1A237E"/>
                </a:solidFill>
                <a:latin typeface="Calibri" pitchFamily="34" charset="0"/>
                <a:ea typeface="Calibri" pitchFamily="34" charset="-122"/>
                <a:cs typeface="Calibri" pitchFamily="34" charset="-120"/>
              </a:rPr>
              <a:t>close() → Cerrar conexión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6A1B9A"/>
          </a:solidFill>
          <a:ln w="12700">
            <a:solidFill>
              <a:srgbClr val="6A1B9A"/>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3 · RPC y RMI</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RPC y RMI — Llamadas Remotas Transparentes</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RPC = Remote Procedure Call (Llamada a Procedimiento Remoto)  ·  RMI = Remote Method Invocation (Invocación de Método Remoto)</a:t>
            </a:r>
            <a:endParaRPr lang="en-US" sz="1150" dirty="0"/>
          </a:p>
        </p:txBody>
      </p:sp>
      <p:sp>
        <p:nvSpPr>
          <p:cNvPr id="9" name="Shape 7"/>
          <p:cNvSpPr/>
          <p:nvPr/>
        </p:nvSpPr>
        <p:spPr>
          <a:xfrm>
            <a:off x="274320" y="1170432"/>
            <a:ext cx="8595360" cy="640080"/>
          </a:xfrm>
          <a:prstGeom prst="rect">
            <a:avLst/>
          </a:prstGeom>
          <a:solidFill>
            <a:srgbClr val="6A1B9A"/>
          </a:solidFill>
          <a:ln w="12700">
            <a:solidFill>
              <a:srgbClr val="6A1B9A"/>
            </a:solidFill>
            <a:prstDash val="solid"/>
          </a:ln>
          <a:effectLst>
            <a:outerShdw blurRad="63500" dist="25400" dir="8100000" algn="bl" rotWithShape="0">
              <a:srgbClr val="000000">
                <a:alpha val="12000"/>
              </a:srgbClr>
            </a:outerShdw>
          </a:effectLst>
        </p:spPr>
      </p:sp>
      <p:sp>
        <p:nvSpPr>
          <p:cNvPr id="10" name="Text 8"/>
          <p:cNvSpPr/>
          <p:nvPr/>
        </p:nvSpPr>
        <p:spPr>
          <a:xfrm>
            <a:off x="457200" y="1188720"/>
            <a:ext cx="83210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Idea central: hacer que llamar a una función en un servidor REMOTO se vea exactamente igual que llamarla en LOCAL. El programador no necesita escribir código de red.</a:t>
            </a:r>
            <a:endParaRPr lang="en-US" sz="1300" dirty="0"/>
          </a:p>
        </p:txBody>
      </p:sp>
      <p:sp>
        <p:nvSpPr>
          <p:cNvPr id="11" name="Shape 9"/>
          <p:cNvSpPr/>
          <p:nvPr/>
        </p:nvSpPr>
        <p:spPr>
          <a:xfrm>
            <a:off x="274320" y="1901952"/>
            <a:ext cx="4160520" cy="299008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2" name="Shape 10"/>
          <p:cNvSpPr/>
          <p:nvPr/>
        </p:nvSpPr>
        <p:spPr>
          <a:xfrm>
            <a:off x="274320" y="1901952"/>
            <a:ext cx="4160520" cy="420624"/>
          </a:xfrm>
          <a:prstGeom prst="rect">
            <a:avLst/>
          </a:prstGeom>
          <a:solidFill>
            <a:srgbClr val="1565C0"/>
          </a:solidFill>
          <a:ln w="12700">
            <a:solidFill>
              <a:srgbClr val="1565C0"/>
            </a:solidFill>
            <a:prstDash val="solid"/>
          </a:ln>
        </p:spPr>
      </p:sp>
      <p:sp>
        <p:nvSpPr>
          <p:cNvPr id="13" name="Text 11"/>
          <p:cNvSpPr/>
          <p:nvPr/>
        </p:nvSpPr>
        <p:spPr>
          <a:xfrm>
            <a:off x="365760" y="1901952"/>
            <a:ext cx="4023360" cy="420624"/>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RPC — Remote Procedure Call</a:t>
            </a:r>
            <a:endParaRPr lang="en-US" sz="1350" dirty="0"/>
          </a:p>
        </p:txBody>
      </p:sp>
      <p:sp>
        <p:nvSpPr>
          <p:cNvPr id="14" name="Text 12"/>
          <p:cNvSpPr/>
          <p:nvPr/>
        </p:nvSpPr>
        <p:spPr>
          <a:xfrm>
            <a:off x="384048" y="2377440"/>
            <a:ext cx="3959352" cy="658368"/>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Permite llamar funciones en otro proceso/máquina como si fueran locales. Paradigma procedural (lenguajes C, Go).</a:t>
            </a:r>
            <a:endParaRPr lang="en-US" sz="1200" dirty="0"/>
          </a:p>
        </p:txBody>
      </p:sp>
      <p:sp>
        <p:nvSpPr>
          <p:cNvPr id="15" name="Text 13"/>
          <p:cNvSpPr/>
          <p:nvPr/>
        </p:nvSpPr>
        <p:spPr>
          <a:xfrm>
            <a:off x="384048" y="3072384"/>
            <a:ext cx="3959352" cy="237744"/>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¿Cómo funciona?</a:t>
            </a:r>
            <a:endParaRPr lang="en-US" sz="1200" dirty="0"/>
          </a:p>
        </p:txBody>
      </p:sp>
      <p:sp>
        <p:nvSpPr>
          <p:cNvPr id="16" name="Shape 14"/>
          <p:cNvSpPr/>
          <p:nvPr/>
        </p:nvSpPr>
        <p:spPr>
          <a:xfrm>
            <a:off x="384048" y="3364992"/>
            <a:ext cx="256032" cy="166878"/>
          </a:xfrm>
          <a:prstGeom prst="rect">
            <a:avLst/>
          </a:prstGeom>
          <a:solidFill>
            <a:srgbClr val="1565C0"/>
          </a:solidFill>
          <a:ln w="12700">
            <a:solidFill>
              <a:srgbClr val="1565C0"/>
            </a:solidFill>
            <a:prstDash val="solid"/>
          </a:ln>
        </p:spPr>
      </p:sp>
      <p:sp>
        <p:nvSpPr>
          <p:cNvPr id="17" name="Text 15"/>
          <p:cNvSpPr/>
          <p:nvPr/>
        </p:nvSpPr>
        <p:spPr>
          <a:xfrm>
            <a:off x="384048" y="3364992"/>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16"/>
          <p:cNvSpPr/>
          <p:nvPr/>
        </p:nvSpPr>
        <p:spPr>
          <a:xfrm>
            <a:off x="713232" y="3364992"/>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Cliente llama función → Stub cliente serializa argumentos (marshalling)</a:t>
            </a:r>
            <a:endParaRPr lang="en-US" sz="1150" dirty="0"/>
          </a:p>
        </p:txBody>
      </p:sp>
      <p:sp>
        <p:nvSpPr>
          <p:cNvPr id="19" name="Shape 17"/>
          <p:cNvSpPr/>
          <p:nvPr/>
        </p:nvSpPr>
        <p:spPr>
          <a:xfrm>
            <a:off x="384048" y="3623310"/>
            <a:ext cx="256032" cy="166878"/>
          </a:xfrm>
          <a:prstGeom prst="rect">
            <a:avLst/>
          </a:prstGeom>
          <a:solidFill>
            <a:srgbClr val="1565C0"/>
          </a:solidFill>
          <a:ln w="12700">
            <a:solidFill>
              <a:srgbClr val="1565C0"/>
            </a:solidFill>
            <a:prstDash val="solid"/>
          </a:ln>
        </p:spPr>
      </p:sp>
      <p:sp>
        <p:nvSpPr>
          <p:cNvPr id="20" name="Text 18"/>
          <p:cNvSpPr/>
          <p:nvPr/>
        </p:nvSpPr>
        <p:spPr>
          <a:xfrm>
            <a:off x="384048" y="3623310"/>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9"/>
          <p:cNvSpPr/>
          <p:nvPr/>
        </p:nvSpPr>
        <p:spPr>
          <a:xfrm>
            <a:off x="713232" y="3623310"/>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Datos viajan por la red al servidor</a:t>
            </a:r>
            <a:endParaRPr lang="en-US" sz="1150" dirty="0"/>
          </a:p>
        </p:txBody>
      </p:sp>
      <p:sp>
        <p:nvSpPr>
          <p:cNvPr id="22" name="Shape 20"/>
          <p:cNvSpPr/>
          <p:nvPr/>
        </p:nvSpPr>
        <p:spPr>
          <a:xfrm>
            <a:off x="384048" y="3881628"/>
            <a:ext cx="256032" cy="166878"/>
          </a:xfrm>
          <a:prstGeom prst="rect">
            <a:avLst/>
          </a:prstGeom>
          <a:solidFill>
            <a:srgbClr val="1565C0"/>
          </a:solidFill>
          <a:ln w="12700">
            <a:solidFill>
              <a:srgbClr val="1565C0"/>
            </a:solidFill>
            <a:prstDash val="solid"/>
          </a:ln>
        </p:spPr>
      </p:sp>
      <p:sp>
        <p:nvSpPr>
          <p:cNvPr id="23" name="Text 21"/>
          <p:cNvSpPr/>
          <p:nvPr/>
        </p:nvSpPr>
        <p:spPr>
          <a:xfrm>
            <a:off x="384048" y="3881628"/>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4" name="Text 22"/>
          <p:cNvSpPr/>
          <p:nvPr/>
        </p:nvSpPr>
        <p:spPr>
          <a:xfrm>
            <a:off x="713232" y="3881628"/>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Stub servidor deserializa y ejecuta la función real</a:t>
            </a:r>
            <a:endParaRPr lang="en-US" sz="1150" dirty="0"/>
          </a:p>
        </p:txBody>
      </p:sp>
      <p:sp>
        <p:nvSpPr>
          <p:cNvPr id="25" name="Shape 23"/>
          <p:cNvSpPr/>
          <p:nvPr/>
        </p:nvSpPr>
        <p:spPr>
          <a:xfrm>
            <a:off x="384048" y="4139946"/>
            <a:ext cx="256032" cy="166878"/>
          </a:xfrm>
          <a:prstGeom prst="rect">
            <a:avLst/>
          </a:prstGeom>
          <a:solidFill>
            <a:srgbClr val="1565C0"/>
          </a:solidFill>
          <a:ln w="12700">
            <a:solidFill>
              <a:srgbClr val="1565C0"/>
            </a:solidFill>
            <a:prstDash val="solid"/>
          </a:ln>
        </p:spPr>
      </p:sp>
      <p:sp>
        <p:nvSpPr>
          <p:cNvPr id="26" name="Text 24"/>
          <p:cNvSpPr/>
          <p:nvPr/>
        </p:nvSpPr>
        <p:spPr>
          <a:xfrm>
            <a:off x="384048" y="4139946"/>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7" name="Text 25"/>
          <p:cNvSpPr/>
          <p:nvPr/>
        </p:nvSpPr>
        <p:spPr>
          <a:xfrm>
            <a:off x="713232" y="4139946"/>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Resultado regresa por la misma ruta (unmarshalling)</a:t>
            </a:r>
            <a:endParaRPr lang="en-US" sz="1150" dirty="0"/>
          </a:p>
        </p:txBody>
      </p:sp>
      <p:sp>
        <p:nvSpPr>
          <p:cNvPr id="28" name="Shape 26"/>
          <p:cNvSpPr/>
          <p:nvPr/>
        </p:nvSpPr>
        <p:spPr>
          <a:xfrm>
            <a:off x="384048" y="4489704"/>
            <a:ext cx="3941064" cy="36576"/>
          </a:xfrm>
          <a:prstGeom prst="rect">
            <a:avLst/>
          </a:prstGeom>
          <a:solidFill>
            <a:srgbClr val="EEEEEE"/>
          </a:solidFill>
          <a:ln w="12700">
            <a:solidFill>
              <a:srgbClr val="EEEEEE"/>
            </a:solidFill>
            <a:prstDash val="solid"/>
          </a:ln>
        </p:spPr>
      </p:sp>
      <p:sp>
        <p:nvSpPr>
          <p:cNvPr id="29" name="Text 27"/>
          <p:cNvSpPr/>
          <p:nvPr/>
        </p:nvSpPr>
        <p:spPr>
          <a:xfrm>
            <a:off x="384048" y="4562856"/>
            <a:ext cx="3941064" cy="310896"/>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 Implementaciones: gRPC (Google), XML-RPC, JSON-RPC, Apache Thrift.</a:t>
            </a:r>
            <a:endParaRPr lang="en-US" sz="1100" dirty="0"/>
          </a:p>
        </p:txBody>
      </p:sp>
      <p:sp>
        <p:nvSpPr>
          <p:cNvPr id="30" name="Shape 28"/>
          <p:cNvSpPr/>
          <p:nvPr/>
        </p:nvSpPr>
        <p:spPr>
          <a:xfrm>
            <a:off x="4617720" y="1901952"/>
            <a:ext cx="4160520" cy="299008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31" name="Shape 29"/>
          <p:cNvSpPr/>
          <p:nvPr/>
        </p:nvSpPr>
        <p:spPr>
          <a:xfrm>
            <a:off x="4617720" y="1901952"/>
            <a:ext cx="4160520" cy="420624"/>
          </a:xfrm>
          <a:prstGeom prst="rect">
            <a:avLst/>
          </a:prstGeom>
          <a:solidFill>
            <a:srgbClr val="6A1B9A"/>
          </a:solidFill>
          <a:ln w="12700">
            <a:solidFill>
              <a:srgbClr val="6A1B9A"/>
            </a:solidFill>
            <a:prstDash val="solid"/>
          </a:ln>
        </p:spPr>
      </p:sp>
      <p:sp>
        <p:nvSpPr>
          <p:cNvPr id="32" name="Text 30"/>
          <p:cNvSpPr/>
          <p:nvPr/>
        </p:nvSpPr>
        <p:spPr>
          <a:xfrm>
            <a:off x="4709160" y="1901952"/>
            <a:ext cx="4023360" cy="420624"/>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RMI — Remote Method Invocation</a:t>
            </a:r>
            <a:endParaRPr lang="en-US" sz="1350" dirty="0"/>
          </a:p>
        </p:txBody>
      </p:sp>
      <p:sp>
        <p:nvSpPr>
          <p:cNvPr id="33" name="Text 31"/>
          <p:cNvSpPr/>
          <p:nvPr/>
        </p:nvSpPr>
        <p:spPr>
          <a:xfrm>
            <a:off x="4727448" y="2377440"/>
            <a:ext cx="3959352" cy="658368"/>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Extensión OO (Orientada a Objetos) de RPC. Permite invocar métodos de objetos remotos. Paradigma orientado a objetos (Java).</a:t>
            </a:r>
            <a:endParaRPr lang="en-US" sz="1200" dirty="0"/>
          </a:p>
        </p:txBody>
      </p:sp>
      <p:sp>
        <p:nvSpPr>
          <p:cNvPr id="34" name="Text 32"/>
          <p:cNvSpPr/>
          <p:nvPr/>
        </p:nvSpPr>
        <p:spPr>
          <a:xfrm>
            <a:off x="4727448" y="3072384"/>
            <a:ext cx="3959352" cy="237744"/>
          </a:xfrm>
          <a:prstGeom prst="rect">
            <a:avLst/>
          </a:prstGeom>
          <a:noFill/>
          <a:ln/>
        </p:spPr>
        <p:txBody>
          <a:bodyPr wrap="square" rtlCol="0" anchor="ctr"/>
          <a:lstStyle/>
          <a:p>
            <a:pPr marL="0" indent="0">
              <a:buNone/>
            </a:pPr>
            <a:r>
              <a:rPr lang="en-US" sz="1200" b="1" dirty="0">
                <a:solidFill>
                  <a:srgbClr val="6A1B9A"/>
                </a:solidFill>
                <a:latin typeface="Calibri" pitchFamily="34" charset="0"/>
                <a:ea typeface="Calibri" pitchFamily="34" charset="-122"/>
                <a:cs typeface="Calibri" pitchFamily="34" charset="-120"/>
              </a:rPr>
              <a:t>¿Cómo funciona?</a:t>
            </a:r>
            <a:endParaRPr lang="en-US" sz="1200" dirty="0"/>
          </a:p>
        </p:txBody>
      </p:sp>
      <p:sp>
        <p:nvSpPr>
          <p:cNvPr id="35" name="Shape 33"/>
          <p:cNvSpPr/>
          <p:nvPr/>
        </p:nvSpPr>
        <p:spPr>
          <a:xfrm>
            <a:off x="4727448" y="3364992"/>
            <a:ext cx="256032" cy="166878"/>
          </a:xfrm>
          <a:prstGeom prst="rect">
            <a:avLst/>
          </a:prstGeom>
          <a:solidFill>
            <a:srgbClr val="6A1B9A"/>
          </a:solidFill>
          <a:ln w="12700">
            <a:solidFill>
              <a:srgbClr val="6A1B9A"/>
            </a:solidFill>
            <a:prstDash val="solid"/>
          </a:ln>
        </p:spPr>
      </p:sp>
      <p:sp>
        <p:nvSpPr>
          <p:cNvPr id="36" name="Text 34"/>
          <p:cNvSpPr/>
          <p:nvPr/>
        </p:nvSpPr>
        <p:spPr>
          <a:xfrm>
            <a:off x="4727448" y="3364992"/>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5"/>
          <p:cNvSpPr/>
          <p:nvPr/>
        </p:nvSpPr>
        <p:spPr>
          <a:xfrm>
            <a:off x="5056632" y="3364992"/>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Cliente obtiene referencia al objeto remoto (stub/proxy)</a:t>
            </a:r>
            <a:endParaRPr lang="en-US" sz="1150" dirty="0"/>
          </a:p>
        </p:txBody>
      </p:sp>
      <p:sp>
        <p:nvSpPr>
          <p:cNvPr id="38" name="Shape 36"/>
          <p:cNvSpPr/>
          <p:nvPr/>
        </p:nvSpPr>
        <p:spPr>
          <a:xfrm>
            <a:off x="4727448" y="3623310"/>
            <a:ext cx="256032" cy="166878"/>
          </a:xfrm>
          <a:prstGeom prst="rect">
            <a:avLst/>
          </a:prstGeom>
          <a:solidFill>
            <a:srgbClr val="6A1B9A"/>
          </a:solidFill>
          <a:ln w="12700">
            <a:solidFill>
              <a:srgbClr val="6A1B9A"/>
            </a:solidFill>
            <a:prstDash val="solid"/>
          </a:ln>
        </p:spPr>
      </p:sp>
      <p:sp>
        <p:nvSpPr>
          <p:cNvPr id="39" name="Text 37"/>
          <p:cNvSpPr/>
          <p:nvPr/>
        </p:nvSpPr>
        <p:spPr>
          <a:xfrm>
            <a:off x="4727448" y="3623310"/>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8"/>
          <p:cNvSpPr/>
          <p:nvPr/>
        </p:nvSpPr>
        <p:spPr>
          <a:xfrm>
            <a:off x="5056632" y="3623310"/>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Invoca el método como si el objeto fuera local</a:t>
            </a:r>
            <a:endParaRPr lang="en-US" sz="1150" dirty="0"/>
          </a:p>
        </p:txBody>
      </p:sp>
      <p:sp>
        <p:nvSpPr>
          <p:cNvPr id="41" name="Shape 39"/>
          <p:cNvSpPr/>
          <p:nvPr/>
        </p:nvSpPr>
        <p:spPr>
          <a:xfrm>
            <a:off x="4727448" y="3881628"/>
            <a:ext cx="256032" cy="166878"/>
          </a:xfrm>
          <a:prstGeom prst="rect">
            <a:avLst/>
          </a:prstGeom>
          <a:solidFill>
            <a:srgbClr val="6A1B9A"/>
          </a:solidFill>
          <a:ln w="12700">
            <a:solidFill>
              <a:srgbClr val="6A1B9A"/>
            </a:solidFill>
            <a:prstDash val="solid"/>
          </a:ln>
        </p:spPr>
      </p:sp>
      <p:sp>
        <p:nvSpPr>
          <p:cNvPr id="42" name="Text 40"/>
          <p:cNvSpPr/>
          <p:nvPr/>
        </p:nvSpPr>
        <p:spPr>
          <a:xfrm>
            <a:off x="4727448" y="3881628"/>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41"/>
          <p:cNvSpPr/>
          <p:nvPr/>
        </p:nvSpPr>
        <p:spPr>
          <a:xfrm>
            <a:off x="5056632" y="3881628"/>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El skeleton en el servidor recibe y ejecuta el método</a:t>
            </a:r>
            <a:endParaRPr lang="en-US" sz="1150" dirty="0"/>
          </a:p>
        </p:txBody>
      </p:sp>
      <p:sp>
        <p:nvSpPr>
          <p:cNvPr id="44" name="Shape 42"/>
          <p:cNvSpPr/>
          <p:nvPr/>
        </p:nvSpPr>
        <p:spPr>
          <a:xfrm>
            <a:off x="4727448" y="4139946"/>
            <a:ext cx="256032" cy="166878"/>
          </a:xfrm>
          <a:prstGeom prst="rect">
            <a:avLst/>
          </a:prstGeom>
          <a:solidFill>
            <a:srgbClr val="6A1B9A"/>
          </a:solidFill>
          <a:ln w="12700">
            <a:solidFill>
              <a:srgbClr val="6A1B9A"/>
            </a:solidFill>
            <a:prstDash val="solid"/>
          </a:ln>
        </p:spPr>
      </p:sp>
      <p:sp>
        <p:nvSpPr>
          <p:cNvPr id="45" name="Text 43"/>
          <p:cNvSpPr/>
          <p:nvPr/>
        </p:nvSpPr>
        <p:spPr>
          <a:xfrm>
            <a:off x="4727448" y="4139946"/>
            <a:ext cx="256032" cy="16687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44"/>
          <p:cNvSpPr/>
          <p:nvPr/>
        </p:nvSpPr>
        <p:spPr>
          <a:xfrm>
            <a:off x="5056632" y="4139946"/>
            <a:ext cx="3611880" cy="166878"/>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Resultado regresa serializado al cliente</a:t>
            </a:r>
            <a:endParaRPr lang="en-US" sz="1150" dirty="0"/>
          </a:p>
        </p:txBody>
      </p:sp>
      <p:sp>
        <p:nvSpPr>
          <p:cNvPr id="47" name="Shape 45"/>
          <p:cNvSpPr/>
          <p:nvPr/>
        </p:nvSpPr>
        <p:spPr>
          <a:xfrm>
            <a:off x="4727448" y="4489704"/>
            <a:ext cx="3941064" cy="36576"/>
          </a:xfrm>
          <a:prstGeom prst="rect">
            <a:avLst/>
          </a:prstGeom>
          <a:solidFill>
            <a:srgbClr val="EEEEEE"/>
          </a:solidFill>
          <a:ln w="12700">
            <a:solidFill>
              <a:srgbClr val="EEEEEE"/>
            </a:solidFill>
            <a:prstDash val="solid"/>
          </a:ln>
        </p:spPr>
      </p:sp>
      <p:sp>
        <p:nvSpPr>
          <p:cNvPr id="48" name="Text 46"/>
          <p:cNvSpPr/>
          <p:nvPr/>
        </p:nvSpPr>
        <p:spPr>
          <a:xfrm>
            <a:off x="4727448" y="4562856"/>
            <a:ext cx="3941064" cy="310896"/>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 Implementaciones: Java RMI, .NET Remoting, CORBA.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E65100"/>
          </a:solidFill>
          <a:ln w="12700">
            <a:solidFill>
              <a:srgbClr val="E6510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1" y="182880"/>
            <a:ext cx="3225209"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 Middleware</a:t>
            </a:r>
            <a:endParaRPr lang="en-US" sz="120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Middleware — El Pegamento del Sistema Distribuido</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Middleware es la capa de software entre el sistema operativo (SO) y las aplicaciones que facilita la comunicación distribuida</a:t>
            </a:r>
            <a:endParaRPr lang="en-US" sz="1150" dirty="0"/>
          </a:p>
        </p:txBody>
      </p:sp>
      <p:sp>
        <p:nvSpPr>
          <p:cNvPr id="9" name="Shape 7"/>
          <p:cNvSpPr/>
          <p:nvPr/>
        </p:nvSpPr>
        <p:spPr>
          <a:xfrm>
            <a:off x="274320" y="1170432"/>
            <a:ext cx="8595360" cy="621792"/>
          </a:xfrm>
          <a:prstGeom prst="rect">
            <a:avLst/>
          </a:prstGeom>
          <a:solidFill>
            <a:srgbClr val="E65100"/>
          </a:solidFill>
          <a:ln w="12700">
            <a:solidFill>
              <a:srgbClr val="E65100"/>
            </a:solidFill>
            <a:prstDash val="solid"/>
          </a:ln>
          <a:effectLst>
            <a:outerShdw blurRad="63500" dist="25400" dir="8100000" algn="bl" rotWithShape="0">
              <a:srgbClr val="000000">
                <a:alpha val="12000"/>
              </a:srgbClr>
            </a:outerShdw>
          </a:effectLst>
        </p:spPr>
      </p:sp>
      <p:sp>
        <p:nvSpPr>
          <p:cNvPr id="10" name="Text 8"/>
          <p:cNvSpPr/>
          <p:nvPr/>
        </p:nvSpPr>
        <p:spPr>
          <a:xfrm>
            <a:off x="457200" y="1188720"/>
            <a:ext cx="8321040" cy="566928"/>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Analogía: el middleware es como el sistema operativo de la red. Así como el SO oculta la complejidad del hardware al programador, el middleware oculta la complejidad de la red y la distribución.</a:t>
            </a:r>
            <a:endParaRPr lang="en-US" sz="1300" dirty="0"/>
          </a:p>
        </p:txBody>
      </p:sp>
      <p:sp>
        <p:nvSpPr>
          <p:cNvPr id="11" name="Shape 9"/>
          <p:cNvSpPr/>
          <p:nvPr/>
        </p:nvSpPr>
        <p:spPr>
          <a:xfrm>
            <a:off x="274320" y="1901952"/>
            <a:ext cx="4160520" cy="1495044"/>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2" name="Shape 10"/>
          <p:cNvSpPr/>
          <p:nvPr/>
        </p:nvSpPr>
        <p:spPr>
          <a:xfrm>
            <a:off x="274320" y="1901952"/>
            <a:ext cx="4160520" cy="365760"/>
          </a:xfrm>
          <a:prstGeom prst="rect">
            <a:avLst/>
          </a:prstGeom>
          <a:solidFill>
            <a:srgbClr val="1565C0"/>
          </a:solidFill>
          <a:ln w="12700">
            <a:solidFill>
              <a:srgbClr val="1565C0"/>
            </a:solidFill>
            <a:prstDash val="solid"/>
          </a:ln>
        </p:spPr>
      </p:sp>
      <p:sp>
        <p:nvSpPr>
          <p:cNvPr id="13" name="Text 11"/>
          <p:cNvSpPr/>
          <p:nvPr/>
        </p:nvSpPr>
        <p:spPr>
          <a:xfrm>
            <a:off x="365760" y="1901952"/>
            <a:ext cx="40233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Message-Oriented Middleware (MOM)</a:t>
            </a:r>
            <a:endParaRPr lang="en-US" sz="1250" dirty="0"/>
          </a:p>
        </p:txBody>
      </p:sp>
      <p:sp>
        <p:nvSpPr>
          <p:cNvPr id="14" name="Text 12"/>
          <p:cNvSpPr/>
          <p:nvPr/>
        </p:nvSpPr>
        <p:spPr>
          <a:xfrm>
            <a:off x="384048" y="2322576"/>
            <a:ext cx="3959352" cy="708660"/>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Comunicación asíncrona mediante colas de mensajes. Los procesos no necesitan estar activos al mismo tiempo.</a:t>
            </a:r>
            <a:endParaRPr lang="en-US" sz="1200" dirty="0"/>
          </a:p>
        </p:txBody>
      </p:sp>
      <p:sp>
        <p:nvSpPr>
          <p:cNvPr id="15" name="Text 13"/>
          <p:cNvSpPr/>
          <p:nvPr/>
        </p:nvSpPr>
        <p:spPr>
          <a:xfrm>
            <a:off x="384048" y="3067812"/>
            <a:ext cx="3959352" cy="27432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 RabbitMQ, Apache Kafka, Amazon SQS.</a:t>
            </a:r>
            <a:endParaRPr lang="en-US" sz="1100" dirty="0"/>
          </a:p>
        </p:txBody>
      </p:sp>
      <p:sp>
        <p:nvSpPr>
          <p:cNvPr id="16" name="Shape 14"/>
          <p:cNvSpPr/>
          <p:nvPr/>
        </p:nvSpPr>
        <p:spPr>
          <a:xfrm>
            <a:off x="4709160" y="1901952"/>
            <a:ext cx="4160520" cy="1495044"/>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7" name="Shape 15"/>
          <p:cNvSpPr/>
          <p:nvPr/>
        </p:nvSpPr>
        <p:spPr>
          <a:xfrm>
            <a:off x="4709160" y="1901952"/>
            <a:ext cx="4160520" cy="365760"/>
          </a:xfrm>
          <a:prstGeom prst="rect">
            <a:avLst/>
          </a:prstGeom>
          <a:solidFill>
            <a:srgbClr val="6A1B9A"/>
          </a:solidFill>
          <a:ln w="12700">
            <a:solidFill>
              <a:srgbClr val="6A1B9A"/>
            </a:solidFill>
            <a:prstDash val="solid"/>
          </a:ln>
        </p:spPr>
      </p:sp>
      <p:sp>
        <p:nvSpPr>
          <p:cNvPr id="18" name="Text 16"/>
          <p:cNvSpPr/>
          <p:nvPr/>
        </p:nvSpPr>
        <p:spPr>
          <a:xfrm>
            <a:off x="4800600" y="1901952"/>
            <a:ext cx="40233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Object Request Broker (ORB)</a:t>
            </a:r>
            <a:endParaRPr lang="en-US" sz="1250" dirty="0"/>
          </a:p>
        </p:txBody>
      </p:sp>
      <p:sp>
        <p:nvSpPr>
          <p:cNvPr id="19" name="Text 17"/>
          <p:cNvSpPr/>
          <p:nvPr/>
        </p:nvSpPr>
        <p:spPr>
          <a:xfrm>
            <a:off x="4818888" y="2322576"/>
            <a:ext cx="3959352" cy="708660"/>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Permite invocar objetos distribuidos sin conocer su ubicación. El ORB localiza y conecta automáticamente.</a:t>
            </a:r>
            <a:endParaRPr lang="en-US" sz="1200" dirty="0"/>
          </a:p>
        </p:txBody>
      </p:sp>
      <p:sp>
        <p:nvSpPr>
          <p:cNvPr id="20" name="Text 18"/>
          <p:cNvSpPr/>
          <p:nvPr/>
        </p:nvSpPr>
        <p:spPr>
          <a:xfrm>
            <a:off x="4818888" y="3067812"/>
            <a:ext cx="3959352" cy="27432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 CORBA, Java EE, Microsoft COM+.</a:t>
            </a:r>
            <a:endParaRPr lang="en-US" sz="1100" dirty="0"/>
          </a:p>
        </p:txBody>
      </p:sp>
      <p:sp>
        <p:nvSpPr>
          <p:cNvPr id="21" name="Shape 19"/>
          <p:cNvSpPr/>
          <p:nvPr/>
        </p:nvSpPr>
        <p:spPr>
          <a:xfrm>
            <a:off x="274320" y="3470148"/>
            <a:ext cx="4160520" cy="1495044"/>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22" name="Shape 20"/>
          <p:cNvSpPr/>
          <p:nvPr/>
        </p:nvSpPr>
        <p:spPr>
          <a:xfrm>
            <a:off x="274320" y="3470148"/>
            <a:ext cx="4160520" cy="365760"/>
          </a:xfrm>
          <a:prstGeom prst="rect">
            <a:avLst/>
          </a:prstGeom>
          <a:solidFill>
            <a:srgbClr val="2E7D32"/>
          </a:solidFill>
          <a:ln w="12700">
            <a:solidFill>
              <a:srgbClr val="2E7D32"/>
            </a:solidFill>
            <a:prstDash val="solid"/>
          </a:ln>
        </p:spPr>
      </p:sp>
      <p:sp>
        <p:nvSpPr>
          <p:cNvPr id="23" name="Text 21"/>
          <p:cNvSpPr/>
          <p:nvPr/>
        </p:nvSpPr>
        <p:spPr>
          <a:xfrm>
            <a:off x="365760" y="3470148"/>
            <a:ext cx="40233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Transaction Processing Monitor (TP-Monitor)</a:t>
            </a:r>
            <a:endParaRPr lang="en-US" sz="1250" dirty="0"/>
          </a:p>
        </p:txBody>
      </p:sp>
      <p:sp>
        <p:nvSpPr>
          <p:cNvPr id="24" name="Text 22"/>
          <p:cNvSpPr/>
          <p:nvPr/>
        </p:nvSpPr>
        <p:spPr>
          <a:xfrm>
            <a:off x="384048" y="3890772"/>
            <a:ext cx="3959352" cy="708660"/>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Garantiza que las transacciones distribuidas se completan o se deshacen totalmente (ACID en SD).</a:t>
            </a:r>
            <a:endParaRPr lang="en-US" sz="1200" dirty="0"/>
          </a:p>
        </p:txBody>
      </p:sp>
      <p:sp>
        <p:nvSpPr>
          <p:cNvPr id="25" name="Text 23"/>
          <p:cNvSpPr/>
          <p:nvPr/>
        </p:nvSpPr>
        <p:spPr>
          <a:xfrm>
            <a:off x="384048" y="4636008"/>
            <a:ext cx="3959352" cy="27432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 IBM CICS, Tuxedo, JTA (Java Transaction API).</a:t>
            </a:r>
            <a:endParaRPr lang="en-US" sz="1100" dirty="0"/>
          </a:p>
        </p:txBody>
      </p:sp>
      <p:sp>
        <p:nvSpPr>
          <p:cNvPr id="26" name="Shape 24"/>
          <p:cNvSpPr/>
          <p:nvPr/>
        </p:nvSpPr>
        <p:spPr>
          <a:xfrm>
            <a:off x="4709160" y="3470148"/>
            <a:ext cx="4160520" cy="1495044"/>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27" name="Shape 25"/>
          <p:cNvSpPr/>
          <p:nvPr/>
        </p:nvSpPr>
        <p:spPr>
          <a:xfrm>
            <a:off x="4709160" y="3470148"/>
            <a:ext cx="4160520" cy="365760"/>
          </a:xfrm>
          <a:prstGeom prst="rect">
            <a:avLst/>
          </a:prstGeom>
          <a:solidFill>
            <a:srgbClr val="E65100"/>
          </a:solidFill>
          <a:ln w="12700">
            <a:solidFill>
              <a:srgbClr val="E65100"/>
            </a:solidFill>
            <a:prstDash val="solid"/>
          </a:ln>
        </p:spPr>
      </p:sp>
      <p:sp>
        <p:nvSpPr>
          <p:cNvPr id="28" name="Text 26"/>
          <p:cNvSpPr/>
          <p:nvPr/>
        </p:nvSpPr>
        <p:spPr>
          <a:xfrm>
            <a:off x="4800600" y="3470148"/>
            <a:ext cx="4023360" cy="36576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Web Services / API Gateway</a:t>
            </a:r>
            <a:endParaRPr lang="en-US" sz="1250" dirty="0"/>
          </a:p>
        </p:txBody>
      </p:sp>
      <p:sp>
        <p:nvSpPr>
          <p:cNvPr id="29" name="Text 27"/>
          <p:cNvSpPr/>
          <p:nvPr/>
        </p:nvSpPr>
        <p:spPr>
          <a:xfrm>
            <a:off x="4818888" y="3890772"/>
            <a:ext cx="3959352" cy="708660"/>
          </a:xfrm>
          <a:prstGeom prst="rect">
            <a:avLst/>
          </a:prstGeom>
          <a:noFill/>
          <a:ln/>
        </p:spPr>
        <p:txBody>
          <a:bodyPr wrap="square" rtlCol="0" anchor="ctr"/>
          <a:lstStyle/>
          <a:p>
            <a:pPr marL="0" indent="0">
              <a:buNone/>
            </a:pPr>
            <a:r>
              <a:rPr lang="en-US" sz="1200" dirty="0">
                <a:solidFill>
                  <a:srgbClr val="1A237E"/>
                </a:solidFill>
                <a:latin typeface="Calibri" pitchFamily="34" charset="0"/>
                <a:ea typeface="Calibri" pitchFamily="34" charset="-122"/>
                <a:cs typeface="Calibri" pitchFamily="34" charset="-120"/>
              </a:rPr>
              <a:t>Comunicación entre servicios usando estándares web. HTTP/REST o SOAP. Incluye autenticación y enrutamiento.</a:t>
            </a:r>
            <a:endParaRPr lang="en-US" sz="1200" dirty="0"/>
          </a:p>
        </p:txBody>
      </p:sp>
      <p:sp>
        <p:nvSpPr>
          <p:cNvPr id="30" name="Text 28"/>
          <p:cNvSpPr/>
          <p:nvPr/>
        </p:nvSpPr>
        <p:spPr>
          <a:xfrm>
            <a:off x="4818888" y="4636008"/>
            <a:ext cx="3959352" cy="274320"/>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Ej: Kong, AWS API Gateway, Nginx, Zuul.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C62828"/>
          </a:solidFill>
          <a:ln w="12700">
            <a:solidFill>
              <a:srgbClr val="C62828"/>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5 · Sincronización y Lamport</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Relojes Lógicos de Lamport</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Leslie Lamport, 1978 — 'Time, Clocks, and the Ordering of Events in a Distributed System'</a:t>
            </a:r>
            <a:endParaRPr lang="en-US" sz="1150" dirty="0"/>
          </a:p>
        </p:txBody>
      </p:sp>
      <p:sp>
        <p:nvSpPr>
          <p:cNvPr id="9" name="Shape 7"/>
          <p:cNvSpPr/>
          <p:nvPr/>
        </p:nvSpPr>
        <p:spPr>
          <a:xfrm>
            <a:off x="274320" y="1170432"/>
            <a:ext cx="4023360" cy="1005840"/>
          </a:xfrm>
          <a:prstGeom prst="rect">
            <a:avLst/>
          </a:prstGeom>
          <a:solidFill>
            <a:srgbClr val="C62828"/>
          </a:solidFill>
          <a:ln w="12700">
            <a:solidFill>
              <a:srgbClr val="C62828"/>
            </a:solidFill>
            <a:prstDash val="solid"/>
          </a:ln>
          <a:effectLst>
            <a:outerShdw blurRad="63500" dist="25400" dir="8100000" algn="bl" rotWithShape="0">
              <a:srgbClr val="000000">
                <a:alpha val="12000"/>
              </a:srgbClr>
            </a:outerShdw>
          </a:effectLst>
        </p:spPr>
      </p:sp>
      <p:sp>
        <p:nvSpPr>
          <p:cNvPr id="10" name="Text 8"/>
          <p:cNvSpPr/>
          <p:nvPr/>
        </p:nvSpPr>
        <p:spPr>
          <a:xfrm>
            <a:off x="438912" y="1188720"/>
            <a:ext cx="3794760" cy="9326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El problema: en un SD, cada nodo tiene su propio reloj físico. Los relojes se desincroninizan. ¿Cómo ordenamos eventos si no sabemos cuál ocurrió primero?</a:t>
            </a:r>
            <a:endParaRPr lang="en-US" sz="1200" dirty="0"/>
          </a:p>
        </p:txBody>
      </p:sp>
      <p:sp>
        <p:nvSpPr>
          <p:cNvPr id="11" name="Shape 9"/>
          <p:cNvSpPr/>
          <p:nvPr/>
        </p:nvSpPr>
        <p:spPr>
          <a:xfrm>
            <a:off x="4572000" y="1170432"/>
            <a:ext cx="4297680" cy="1005840"/>
          </a:xfrm>
          <a:prstGeom prst="rect">
            <a:avLst/>
          </a:prstGeom>
          <a:solidFill>
            <a:srgbClr val="2E7D32"/>
          </a:solidFill>
          <a:ln w="12700">
            <a:solidFill>
              <a:srgbClr val="2E7D32"/>
            </a:solidFill>
            <a:prstDash val="solid"/>
          </a:ln>
          <a:effectLst>
            <a:outerShdw blurRad="63500" dist="25400" dir="8100000" algn="bl" rotWithShape="0">
              <a:srgbClr val="000000">
                <a:alpha val="12000"/>
              </a:srgbClr>
            </a:outerShdw>
          </a:effectLst>
        </p:spPr>
      </p:sp>
      <p:sp>
        <p:nvSpPr>
          <p:cNvPr id="12" name="Text 10"/>
          <p:cNvSpPr/>
          <p:nvPr/>
        </p:nvSpPr>
        <p:spPr>
          <a:xfrm>
            <a:off x="4736592" y="1188720"/>
            <a:ext cx="4069080" cy="9326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Solución de Lamport: usar un reloj LÓGICO (un contador) en lugar del reloj físico. No mide tiempo real — mide la causa y efecto entre eventos.</a:t>
            </a:r>
            <a:endParaRPr lang="en-US" sz="1200" dirty="0"/>
          </a:p>
        </p:txBody>
      </p:sp>
      <p:sp>
        <p:nvSpPr>
          <p:cNvPr id="13" name="Shape 11"/>
          <p:cNvSpPr/>
          <p:nvPr/>
        </p:nvSpPr>
        <p:spPr>
          <a:xfrm>
            <a:off x="274320" y="2267712"/>
            <a:ext cx="3291840" cy="262432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14" name="Shape 12"/>
          <p:cNvSpPr/>
          <p:nvPr/>
        </p:nvSpPr>
        <p:spPr>
          <a:xfrm>
            <a:off x="274320" y="2267712"/>
            <a:ext cx="3291840" cy="402336"/>
          </a:xfrm>
          <a:prstGeom prst="rect">
            <a:avLst/>
          </a:prstGeom>
          <a:solidFill>
            <a:srgbClr val="1565C0"/>
          </a:solidFill>
          <a:ln w="12700">
            <a:solidFill>
              <a:srgbClr val="1565C0"/>
            </a:solidFill>
            <a:prstDash val="solid"/>
          </a:ln>
        </p:spPr>
      </p:sp>
      <p:sp>
        <p:nvSpPr>
          <p:cNvPr id="15" name="Text 13"/>
          <p:cNvSpPr/>
          <p:nvPr/>
        </p:nvSpPr>
        <p:spPr>
          <a:xfrm>
            <a:off x="365760" y="2267712"/>
            <a:ext cx="3154680" cy="402336"/>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Las 3 Reglas de Lamport</a:t>
            </a:r>
            <a:endParaRPr lang="en-US" sz="1350" dirty="0"/>
          </a:p>
        </p:txBody>
      </p:sp>
      <p:sp>
        <p:nvSpPr>
          <p:cNvPr id="16" name="Shape 14"/>
          <p:cNvSpPr/>
          <p:nvPr/>
        </p:nvSpPr>
        <p:spPr>
          <a:xfrm>
            <a:off x="384048" y="2779776"/>
            <a:ext cx="438912" cy="557784"/>
          </a:xfrm>
          <a:prstGeom prst="rect">
            <a:avLst/>
          </a:prstGeom>
          <a:solidFill>
            <a:srgbClr val="1565C0"/>
          </a:solidFill>
          <a:ln w="12700">
            <a:solidFill>
              <a:srgbClr val="1565C0"/>
            </a:solidFill>
            <a:prstDash val="solid"/>
          </a:ln>
        </p:spPr>
      </p:sp>
      <p:sp>
        <p:nvSpPr>
          <p:cNvPr id="17" name="Text 15"/>
          <p:cNvSpPr/>
          <p:nvPr/>
        </p:nvSpPr>
        <p:spPr>
          <a:xfrm>
            <a:off x="384048" y="2779776"/>
            <a:ext cx="438912" cy="557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R1</a:t>
            </a:r>
            <a:endParaRPr lang="en-US" sz="1100" dirty="0"/>
          </a:p>
        </p:txBody>
      </p:sp>
      <p:sp>
        <p:nvSpPr>
          <p:cNvPr id="18" name="Text 16"/>
          <p:cNvSpPr/>
          <p:nvPr/>
        </p:nvSpPr>
        <p:spPr>
          <a:xfrm>
            <a:off x="914400" y="2779776"/>
            <a:ext cx="2505456" cy="594360"/>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Evento local: incrementa el contador del nodo en 1.</a:t>
            </a:r>
            <a:endParaRPr lang="en-US" sz="1150" dirty="0"/>
          </a:p>
          <a:p>
            <a:pPr marL="0" indent="0">
              <a:buNone/>
            </a:pPr>
            <a:r>
              <a:rPr lang="en-US" sz="1150" dirty="0">
                <a:solidFill>
                  <a:srgbClr val="1A237E"/>
                </a:solidFill>
                <a:latin typeface="Calibri" pitchFamily="34" charset="0"/>
                <a:ea typeface="Calibri" pitchFamily="34" charset="-122"/>
                <a:cs typeface="Calibri" pitchFamily="34" charset="-120"/>
              </a:rPr>
              <a:t>LCounter = LCounter + 1</a:t>
            </a:r>
            <a:endParaRPr lang="en-US" sz="1150" dirty="0"/>
          </a:p>
        </p:txBody>
      </p:sp>
      <p:sp>
        <p:nvSpPr>
          <p:cNvPr id="19" name="Shape 17"/>
          <p:cNvSpPr/>
          <p:nvPr/>
        </p:nvSpPr>
        <p:spPr>
          <a:xfrm>
            <a:off x="384048" y="3502152"/>
            <a:ext cx="438912" cy="557784"/>
          </a:xfrm>
          <a:prstGeom prst="rect">
            <a:avLst/>
          </a:prstGeom>
          <a:solidFill>
            <a:srgbClr val="1565C0"/>
          </a:solidFill>
          <a:ln w="12700">
            <a:solidFill>
              <a:srgbClr val="1565C0"/>
            </a:solidFill>
            <a:prstDash val="solid"/>
          </a:ln>
        </p:spPr>
      </p:sp>
      <p:sp>
        <p:nvSpPr>
          <p:cNvPr id="20" name="Text 18"/>
          <p:cNvSpPr/>
          <p:nvPr/>
        </p:nvSpPr>
        <p:spPr>
          <a:xfrm>
            <a:off x="384048" y="3502152"/>
            <a:ext cx="438912" cy="557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R2</a:t>
            </a:r>
            <a:endParaRPr lang="en-US" sz="1100" dirty="0"/>
          </a:p>
        </p:txBody>
      </p:sp>
      <p:sp>
        <p:nvSpPr>
          <p:cNvPr id="21" name="Text 19"/>
          <p:cNvSpPr/>
          <p:nvPr/>
        </p:nvSpPr>
        <p:spPr>
          <a:xfrm>
            <a:off x="914400" y="3502152"/>
            <a:ext cx="2505456" cy="594360"/>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Al enviar un mensaje: incrementa el contador e incluye el valor en el mensaje.</a:t>
            </a:r>
            <a:endParaRPr lang="en-US" sz="1150" dirty="0"/>
          </a:p>
          <a:p>
            <a:pPr marL="0" indent="0">
              <a:buNone/>
            </a:pPr>
            <a:r>
              <a:rPr lang="en-US" sz="1150" dirty="0">
                <a:solidFill>
                  <a:srgbClr val="1A237E"/>
                </a:solidFill>
                <a:latin typeface="Calibri" pitchFamily="34" charset="0"/>
                <a:ea typeface="Calibri" pitchFamily="34" charset="-122"/>
                <a:cs typeface="Calibri" pitchFamily="34" charset="-120"/>
              </a:rPr>
              <a:t>LCounter++; enviar(LCounter)</a:t>
            </a:r>
            <a:endParaRPr lang="en-US" sz="1150" dirty="0"/>
          </a:p>
        </p:txBody>
      </p:sp>
      <p:sp>
        <p:nvSpPr>
          <p:cNvPr id="22" name="Shape 20"/>
          <p:cNvSpPr/>
          <p:nvPr/>
        </p:nvSpPr>
        <p:spPr>
          <a:xfrm>
            <a:off x="384048" y="4224528"/>
            <a:ext cx="438912" cy="557784"/>
          </a:xfrm>
          <a:prstGeom prst="rect">
            <a:avLst/>
          </a:prstGeom>
          <a:solidFill>
            <a:srgbClr val="1565C0"/>
          </a:solidFill>
          <a:ln w="12700">
            <a:solidFill>
              <a:srgbClr val="1565C0"/>
            </a:solidFill>
            <a:prstDash val="solid"/>
          </a:ln>
        </p:spPr>
      </p:sp>
      <p:sp>
        <p:nvSpPr>
          <p:cNvPr id="23" name="Text 21"/>
          <p:cNvSpPr/>
          <p:nvPr/>
        </p:nvSpPr>
        <p:spPr>
          <a:xfrm>
            <a:off x="384048" y="4224528"/>
            <a:ext cx="438912" cy="557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R3</a:t>
            </a:r>
            <a:endParaRPr lang="en-US" sz="1100" dirty="0"/>
          </a:p>
        </p:txBody>
      </p:sp>
      <p:sp>
        <p:nvSpPr>
          <p:cNvPr id="24" name="Text 22"/>
          <p:cNvSpPr/>
          <p:nvPr/>
        </p:nvSpPr>
        <p:spPr>
          <a:xfrm>
            <a:off x="914400" y="4224528"/>
            <a:ext cx="2505456" cy="594360"/>
          </a:xfrm>
          <a:prstGeom prst="rect">
            <a:avLst/>
          </a:prstGeom>
          <a:noFill/>
          <a:ln/>
        </p:spPr>
        <p:txBody>
          <a:bodyPr wrap="square" rtlCol="0" anchor="ctr"/>
          <a:lstStyle/>
          <a:p>
            <a:pPr marL="0" indent="0">
              <a:buNone/>
            </a:pPr>
            <a:r>
              <a:rPr lang="en-US" sz="1150" dirty="0">
                <a:solidFill>
                  <a:srgbClr val="1A237E"/>
                </a:solidFill>
                <a:latin typeface="Calibri" pitchFamily="34" charset="0"/>
                <a:ea typeface="Calibri" pitchFamily="34" charset="-122"/>
                <a:cs typeface="Calibri" pitchFamily="34" charset="-120"/>
              </a:rPr>
              <a:t>Al recibir un mensaje: LCounter = max(LCounter_local, LCounter_mensaje) + 1</a:t>
            </a:r>
            <a:endParaRPr lang="en-US" sz="1150" dirty="0"/>
          </a:p>
        </p:txBody>
      </p:sp>
      <p:sp>
        <p:nvSpPr>
          <p:cNvPr id="25" name="Shape 23"/>
          <p:cNvSpPr/>
          <p:nvPr/>
        </p:nvSpPr>
        <p:spPr>
          <a:xfrm>
            <a:off x="3749040" y="2267712"/>
            <a:ext cx="5120640" cy="2624328"/>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sp>
      <p:sp>
        <p:nvSpPr>
          <p:cNvPr id="26" name="Shape 24"/>
          <p:cNvSpPr/>
          <p:nvPr/>
        </p:nvSpPr>
        <p:spPr>
          <a:xfrm>
            <a:off x="3749040" y="2267712"/>
            <a:ext cx="5120640" cy="402336"/>
          </a:xfrm>
          <a:prstGeom prst="rect">
            <a:avLst/>
          </a:prstGeom>
          <a:solidFill>
            <a:srgbClr val="C62828"/>
          </a:solidFill>
          <a:ln w="12700">
            <a:solidFill>
              <a:srgbClr val="C62828"/>
            </a:solidFill>
            <a:prstDash val="solid"/>
          </a:ln>
        </p:spPr>
      </p:sp>
      <p:sp>
        <p:nvSpPr>
          <p:cNvPr id="27" name="Text 25"/>
          <p:cNvSpPr/>
          <p:nvPr/>
        </p:nvSpPr>
        <p:spPr>
          <a:xfrm>
            <a:off x="3840480" y="2267712"/>
            <a:ext cx="4983480" cy="402336"/>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Ejemplo de traza — 3 procesos (P1, P2, P3)</a:t>
            </a:r>
            <a:endParaRPr lang="en-US" sz="1300" dirty="0"/>
          </a:p>
        </p:txBody>
      </p:sp>
      <p:sp>
        <p:nvSpPr>
          <p:cNvPr id="28" name="Shape 26"/>
          <p:cNvSpPr/>
          <p:nvPr/>
        </p:nvSpPr>
        <p:spPr>
          <a:xfrm>
            <a:off x="3858768" y="2761488"/>
            <a:ext cx="384048" cy="269748"/>
          </a:xfrm>
          <a:prstGeom prst="rect">
            <a:avLst/>
          </a:prstGeom>
          <a:solidFill>
            <a:srgbClr val="1565C0"/>
          </a:solidFill>
          <a:ln w="12700">
            <a:solidFill>
              <a:srgbClr val="1565C0"/>
            </a:solidFill>
            <a:prstDash val="solid"/>
          </a:ln>
        </p:spPr>
      </p:sp>
      <p:sp>
        <p:nvSpPr>
          <p:cNvPr id="29" name="Text 27"/>
          <p:cNvSpPr/>
          <p:nvPr/>
        </p:nvSpPr>
        <p:spPr>
          <a:xfrm>
            <a:off x="3858768" y="2761488"/>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30" name="Text 28"/>
          <p:cNvSpPr/>
          <p:nvPr/>
        </p:nvSpPr>
        <p:spPr>
          <a:xfrm>
            <a:off x="4315968" y="2761488"/>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Evento a  →  LC=1</a:t>
            </a:r>
            <a:endParaRPr lang="en-US" sz="1150" dirty="0"/>
          </a:p>
        </p:txBody>
      </p:sp>
      <p:sp>
        <p:nvSpPr>
          <p:cNvPr id="31" name="Text 29"/>
          <p:cNvSpPr/>
          <p:nvPr/>
        </p:nvSpPr>
        <p:spPr>
          <a:xfrm>
            <a:off x="6675120" y="2761488"/>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Evento local: LC++ → 1</a:t>
            </a:r>
            <a:endParaRPr lang="en-US" sz="1050" dirty="0"/>
          </a:p>
        </p:txBody>
      </p:sp>
      <p:sp>
        <p:nvSpPr>
          <p:cNvPr id="32" name="Shape 30"/>
          <p:cNvSpPr/>
          <p:nvPr/>
        </p:nvSpPr>
        <p:spPr>
          <a:xfrm>
            <a:off x="3858768" y="3122676"/>
            <a:ext cx="384048" cy="269748"/>
          </a:xfrm>
          <a:prstGeom prst="rect">
            <a:avLst/>
          </a:prstGeom>
          <a:solidFill>
            <a:srgbClr val="1565C0"/>
          </a:solidFill>
          <a:ln w="12700">
            <a:solidFill>
              <a:srgbClr val="1565C0"/>
            </a:solidFill>
            <a:prstDash val="solid"/>
          </a:ln>
        </p:spPr>
      </p:sp>
      <p:sp>
        <p:nvSpPr>
          <p:cNvPr id="33" name="Text 31"/>
          <p:cNvSpPr/>
          <p:nvPr/>
        </p:nvSpPr>
        <p:spPr>
          <a:xfrm>
            <a:off x="3858768" y="3122676"/>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P1</a:t>
            </a:r>
            <a:endParaRPr lang="en-US" sz="1000" dirty="0"/>
          </a:p>
        </p:txBody>
      </p:sp>
      <p:sp>
        <p:nvSpPr>
          <p:cNvPr id="34" name="Text 32"/>
          <p:cNvSpPr/>
          <p:nvPr/>
        </p:nvSpPr>
        <p:spPr>
          <a:xfrm>
            <a:off x="4315968" y="3122676"/>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Envía msg(1) a P2</a:t>
            </a:r>
            <a:endParaRPr lang="en-US" sz="1150" dirty="0"/>
          </a:p>
        </p:txBody>
      </p:sp>
      <p:sp>
        <p:nvSpPr>
          <p:cNvPr id="35" name="Text 33"/>
          <p:cNvSpPr/>
          <p:nvPr/>
        </p:nvSpPr>
        <p:spPr>
          <a:xfrm>
            <a:off x="6675120" y="3122676"/>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R2: LC++ → incluye LC=1</a:t>
            </a:r>
            <a:endParaRPr lang="en-US" sz="1050" dirty="0"/>
          </a:p>
        </p:txBody>
      </p:sp>
      <p:sp>
        <p:nvSpPr>
          <p:cNvPr id="36" name="Shape 34"/>
          <p:cNvSpPr/>
          <p:nvPr/>
        </p:nvSpPr>
        <p:spPr>
          <a:xfrm>
            <a:off x="3858768" y="3483864"/>
            <a:ext cx="384048" cy="269748"/>
          </a:xfrm>
          <a:prstGeom prst="rect">
            <a:avLst/>
          </a:prstGeom>
          <a:solidFill>
            <a:srgbClr val="2E7D32"/>
          </a:solidFill>
          <a:ln w="12700">
            <a:solidFill>
              <a:srgbClr val="2E7D32"/>
            </a:solidFill>
            <a:prstDash val="solid"/>
          </a:ln>
        </p:spPr>
      </p:sp>
      <p:sp>
        <p:nvSpPr>
          <p:cNvPr id="37" name="Text 35"/>
          <p:cNvSpPr/>
          <p:nvPr/>
        </p:nvSpPr>
        <p:spPr>
          <a:xfrm>
            <a:off x="3858768" y="3483864"/>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38" name="Text 36"/>
          <p:cNvSpPr/>
          <p:nvPr/>
        </p:nvSpPr>
        <p:spPr>
          <a:xfrm>
            <a:off x="4315968" y="3483864"/>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Evento b  →  LC=1</a:t>
            </a:r>
            <a:endParaRPr lang="en-US" sz="1150" dirty="0"/>
          </a:p>
        </p:txBody>
      </p:sp>
      <p:sp>
        <p:nvSpPr>
          <p:cNvPr id="39" name="Text 37"/>
          <p:cNvSpPr/>
          <p:nvPr/>
        </p:nvSpPr>
        <p:spPr>
          <a:xfrm>
            <a:off x="6675120" y="3483864"/>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Evento local antes de recibir</a:t>
            </a:r>
            <a:endParaRPr lang="en-US" sz="1050" dirty="0"/>
          </a:p>
        </p:txBody>
      </p:sp>
      <p:sp>
        <p:nvSpPr>
          <p:cNvPr id="40" name="Shape 38"/>
          <p:cNvSpPr/>
          <p:nvPr/>
        </p:nvSpPr>
        <p:spPr>
          <a:xfrm>
            <a:off x="3858768" y="3845052"/>
            <a:ext cx="384048" cy="269748"/>
          </a:xfrm>
          <a:prstGeom prst="rect">
            <a:avLst/>
          </a:prstGeom>
          <a:solidFill>
            <a:srgbClr val="2E7D32"/>
          </a:solidFill>
          <a:ln w="12700">
            <a:solidFill>
              <a:srgbClr val="2E7D32"/>
            </a:solidFill>
            <a:prstDash val="solid"/>
          </a:ln>
        </p:spPr>
      </p:sp>
      <p:sp>
        <p:nvSpPr>
          <p:cNvPr id="41" name="Text 39"/>
          <p:cNvSpPr/>
          <p:nvPr/>
        </p:nvSpPr>
        <p:spPr>
          <a:xfrm>
            <a:off x="3858768" y="3845052"/>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42" name="Text 40"/>
          <p:cNvSpPr/>
          <p:nvPr/>
        </p:nvSpPr>
        <p:spPr>
          <a:xfrm>
            <a:off x="4315968" y="3845052"/>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Recibe msg(1)  →  LC=3</a:t>
            </a:r>
            <a:endParaRPr lang="en-US" sz="1150" dirty="0"/>
          </a:p>
        </p:txBody>
      </p:sp>
      <p:sp>
        <p:nvSpPr>
          <p:cNvPr id="43" name="Text 41"/>
          <p:cNvSpPr/>
          <p:nvPr/>
        </p:nvSpPr>
        <p:spPr>
          <a:xfrm>
            <a:off x="6675120" y="3845052"/>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R3: max(1,1)+1 = 3</a:t>
            </a:r>
            <a:endParaRPr lang="en-US" sz="1050" dirty="0"/>
          </a:p>
        </p:txBody>
      </p:sp>
      <p:sp>
        <p:nvSpPr>
          <p:cNvPr id="44" name="Shape 42"/>
          <p:cNvSpPr/>
          <p:nvPr/>
        </p:nvSpPr>
        <p:spPr>
          <a:xfrm>
            <a:off x="3858768" y="4206240"/>
            <a:ext cx="384048" cy="269748"/>
          </a:xfrm>
          <a:prstGeom prst="rect">
            <a:avLst/>
          </a:prstGeom>
          <a:solidFill>
            <a:srgbClr val="2E7D32"/>
          </a:solidFill>
          <a:ln w="12700">
            <a:solidFill>
              <a:srgbClr val="2E7D32"/>
            </a:solidFill>
            <a:prstDash val="solid"/>
          </a:ln>
        </p:spPr>
      </p:sp>
      <p:sp>
        <p:nvSpPr>
          <p:cNvPr id="45" name="Text 43"/>
          <p:cNvSpPr/>
          <p:nvPr/>
        </p:nvSpPr>
        <p:spPr>
          <a:xfrm>
            <a:off x="3858768" y="4206240"/>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P2</a:t>
            </a:r>
            <a:endParaRPr lang="en-US" sz="1000" dirty="0"/>
          </a:p>
        </p:txBody>
      </p:sp>
      <p:sp>
        <p:nvSpPr>
          <p:cNvPr id="46" name="Text 44"/>
          <p:cNvSpPr/>
          <p:nvPr/>
        </p:nvSpPr>
        <p:spPr>
          <a:xfrm>
            <a:off x="4315968" y="4206240"/>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Envía msg(3) a P3</a:t>
            </a:r>
            <a:endParaRPr lang="en-US" sz="1150" dirty="0"/>
          </a:p>
        </p:txBody>
      </p:sp>
      <p:sp>
        <p:nvSpPr>
          <p:cNvPr id="47" name="Text 45"/>
          <p:cNvSpPr/>
          <p:nvPr/>
        </p:nvSpPr>
        <p:spPr>
          <a:xfrm>
            <a:off x="6675120" y="4206240"/>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R2: LC++ → incluye LC=3</a:t>
            </a:r>
            <a:endParaRPr lang="en-US" sz="1050" dirty="0"/>
          </a:p>
        </p:txBody>
      </p:sp>
      <p:sp>
        <p:nvSpPr>
          <p:cNvPr id="48" name="Shape 46"/>
          <p:cNvSpPr/>
          <p:nvPr/>
        </p:nvSpPr>
        <p:spPr>
          <a:xfrm>
            <a:off x="3858768" y="4567428"/>
            <a:ext cx="384048" cy="269748"/>
          </a:xfrm>
          <a:prstGeom prst="rect">
            <a:avLst/>
          </a:prstGeom>
          <a:solidFill>
            <a:srgbClr val="E65100"/>
          </a:solidFill>
          <a:ln w="12700">
            <a:solidFill>
              <a:srgbClr val="E65100"/>
            </a:solidFill>
            <a:prstDash val="solid"/>
          </a:ln>
        </p:spPr>
      </p:sp>
      <p:sp>
        <p:nvSpPr>
          <p:cNvPr id="49" name="Text 47"/>
          <p:cNvSpPr/>
          <p:nvPr/>
        </p:nvSpPr>
        <p:spPr>
          <a:xfrm>
            <a:off x="3858768" y="4567428"/>
            <a:ext cx="384048" cy="2697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P3</a:t>
            </a:r>
            <a:endParaRPr lang="en-US" sz="1000" dirty="0"/>
          </a:p>
        </p:txBody>
      </p:sp>
      <p:sp>
        <p:nvSpPr>
          <p:cNvPr id="50" name="Text 48"/>
          <p:cNvSpPr/>
          <p:nvPr/>
        </p:nvSpPr>
        <p:spPr>
          <a:xfrm>
            <a:off x="4315968" y="4567428"/>
            <a:ext cx="2286000" cy="269748"/>
          </a:xfrm>
          <a:prstGeom prst="rect">
            <a:avLst/>
          </a:prstGeom>
          <a:noFill/>
          <a:ln/>
        </p:spPr>
        <p:txBody>
          <a:bodyPr wrap="square" rtlCol="0" anchor="ctr"/>
          <a:lstStyle/>
          <a:p>
            <a:pPr marL="0" indent="0">
              <a:buNone/>
            </a:pPr>
            <a:r>
              <a:rPr lang="en-US" sz="1150" b="1" dirty="0">
                <a:solidFill>
                  <a:srgbClr val="1A237E"/>
                </a:solidFill>
                <a:latin typeface="Calibri" pitchFamily="34" charset="0"/>
                <a:ea typeface="Calibri" pitchFamily="34" charset="-122"/>
                <a:cs typeface="Calibri" pitchFamily="34" charset="-120"/>
              </a:rPr>
              <a:t>Recibe msg(3)  →  LC=4</a:t>
            </a:r>
            <a:endParaRPr lang="en-US" sz="1150" dirty="0"/>
          </a:p>
        </p:txBody>
      </p:sp>
      <p:sp>
        <p:nvSpPr>
          <p:cNvPr id="51" name="Text 49"/>
          <p:cNvSpPr/>
          <p:nvPr/>
        </p:nvSpPr>
        <p:spPr>
          <a:xfrm>
            <a:off x="6675120" y="4567428"/>
            <a:ext cx="2103120" cy="269748"/>
          </a:xfrm>
          <a:prstGeom prst="rect">
            <a:avLst/>
          </a:prstGeom>
          <a:noFill/>
          <a:ln/>
        </p:spPr>
        <p:txBody>
          <a:bodyPr wrap="square" rtlCol="0" anchor="ctr"/>
          <a:lstStyle/>
          <a:p>
            <a:pPr marL="0" indent="0">
              <a:buNone/>
            </a:pPr>
            <a:r>
              <a:rPr lang="en-US" sz="1050" i="1" dirty="0">
                <a:solidFill>
                  <a:srgbClr val="546E7A"/>
                </a:solidFill>
                <a:latin typeface="Calibri" pitchFamily="34" charset="0"/>
                <a:ea typeface="Calibri" pitchFamily="34" charset="-122"/>
                <a:cs typeface="Calibri" pitchFamily="34" charset="-120"/>
              </a:rPr>
              <a:t>R3: max(0,3)+1 = 4</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1565C0"/>
          </a:solidFill>
          <a:ln w="12700">
            <a:solidFill>
              <a:srgbClr val="1565C0"/>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Conexión con Práctica 1</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Sockets TCP vs. gRPC — ¿Cuándo usar cada uno?</a:t>
            </a:r>
            <a:endParaRPr lang="en-US" sz="2200" dirty="0"/>
          </a:p>
        </p:txBody>
      </p:sp>
      <p:sp>
        <p:nvSpPr>
          <p:cNvPr id="8" name="Text 6"/>
          <p:cNvSpPr/>
          <p:nvPr/>
        </p:nvSpPr>
        <p:spPr>
          <a:xfrm>
            <a:off x="365760" y="914400"/>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Esta comparación es el núcleo de la Práctica Experimental 1 (GA-SUM-01) — Semana 4</a:t>
            </a:r>
            <a:endParaRPr lang="en-US" sz="1150" dirty="0"/>
          </a:p>
        </p:txBody>
      </p:sp>
      <p:sp>
        <p:nvSpPr>
          <p:cNvPr id="9" name="Shape 7"/>
          <p:cNvSpPr/>
          <p:nvPr/>
        </p:nvSpPr>
        <p:spPr>
          <a:xfrm>
            <a:off x="274320" y="1170432"/>
            <a:ext cx="2194560" cy="420624"/>
          </a:xfrm>
          <a:prstGeom prst="rect">
            <a:avLst/>
          </a:prstGeom>
          <a:solidFill>
            <a:srgbClr val="0D2137"/>
          </a:solidFill>
          <a:ln w="12700">
            <a:solidFill>
              <a:srgbClr val="0D2137"/>
            </a:solidFill>
            <a:prstDash val="solid"/>
          </a:ln>
        </p:spPr>
      </p:sp>
      <p:sp>
        <p:nvSpPr>
          <p:cNvPr id="10" name="Text 8"/>
          <p:cNvSpPr/>
          <p:nvPr/>
        </p:nvSpPr>
        <p:spPr>
          <a:xfrm>
            <a:off x="347472" y="1170432"/>
            <a:ext cx="2084832" cy="42062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Criterio</a:t>
            </a:r>
            <a:endParaRPr lang="en-US" sz="1400" dirty="0"/>
          </a:p>
        </p:txBody>
      </p:sp>
      <p:sp>
        <p:nvSpPr>
          <p:cNvPr id="11" name="Shape 9"/>
          <p:cNvSpPr/>
          <p:nvPr/>
        </p:nvSpPr>
        <p:spPr>
          <a:xfrm>
            <a:off x="2514600" y="1170432"/>
            <a:ext cx="3017520" cy="420624"/>
          </a:xfrm>
          <a:prstGeom prst="rect">
            <a:avLst/>
          </a:prstGeom>
          <a:solidFill>
            <a:srgbClr val="1565C0"/>
          </a:solidFill>
          <a:ln w="12700">
            <a:solidFill>
              <a:srgbClr val="1565C0"/>
            </a:solidFill>
            <a:prstDash val="solid"/>
          </a:ln>
        </p:spPr>
      </p:sp>
      <p:sp>
        <p:nvSpPr>
          <p:cNvPr id="12" name="Text 10"/>
          <p:cNvSpPr/>
          <p:nvPr/>
        </p:nvSpPr>
        <p:spPr>
          <a:xfrm>
            <a:off x="2587752" y="1170432"/>
            <a:ext cx="2907792" cy="42062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Socket TCP puro</a:t>
            </a:r>
            <a:endParaRPr lang="en-US" sz="1400" dirty="0"/>
          </a:p>
        </p:txBody>
      </p:sp>
      <p:sp>
        <p:nvSpPr>
          <p:cNvPr id="13" name="Shape 11"/>
          <p:cNvSpPr/>
          <p:nvPr/>
        </p:nvSpPr>
        <p:spPr>
          <a:xfrm>
            <a:off x="5577840" y="1170432"/>
            <a:ext cx="3017520" cy="420624"/>
          </a:xfrm>
          <a:prstGeom prst="rect">
            <a:avLst/>
          </a:prstGeom>
          <a:solidFill>
            <a:srgbClr val="6A1B9A"/>
          </a:solidFill>
          <a:ln w="12700">
            <a:solidFill>
              <a:srgbClr val="6A1B9A"/>
            </a:solidFill>
            <a:prstDash val="solid"/>
          </a:ln>
        </p:spPr>
      </p:sp>
      <p:sp>
        <p:nvSpPr>
          <p:cNvPr id="14" name="Text 12"/>
          <p:cNvSpPr/>
          <p:nvPr/>
        </p:nvSpPr>
        <p:spPr>
          <a:xfrm>
            <a:off x="5650992" y="1170432"/>
            <a:ext cx="2907792" cy="420624"/>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gRPC</a:t>
            </a:r>
            <a:endParaRPr lang="en-US" sz="1400" dirty="0"/>
          </a:p>
        </p:txBody>
      </p:sp>
      <p:sp>
        <p:nvSpPr>
          <p:cNvPr id="15" name="Shape 13"/>
          <p:cNvSpPr/>
          <p:nvPr/>
        </p:nvSpPr>
        <p:spPr>
          <a:xfrm>
            <a:off x="274320" y="1591056"/>
            <a:ext cx="2194560" cy="461119"/>
          </a:xfrm>
          <a:prstGeom prst="rect">
            <a:avLst/>
          </a:prstGeom>
          <a:solidFill>
            <a:srgbClr val="FFFFFF"/>
          </a:solidFill>
          <a:ln w="6350">
            <a:solidFill>
              <a:srgbClr val="DDDDDD"/>
            </a:solidFill>
            <a:prstDash val="solid"/>
          </a:ln>
        </p:spPr>
      </p:sp>
      <p:sp>
        <p:nvSpPr>
          <p:cNvPr id="16" name="Text 14"/>
          <p:cNvSpPr/>
          <p:nvPr/>
        </p:nvSpPr>
        <p:spPr>
          <a:xfrm>
            <a:off x="365760" y="1591056"/>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Nivel de abstracción</a:t>
            </a:r>
            <a:endParaRPr lang="en-US" sz="1200" dirty="0"/>
          </a:p>
        </p:txBody>
      </p:sp>
      <p:sp>
        <p:nvSpPr>
          <p:cNvPr id="17" name="Shape 15"/>
          <p:cNvSpPr/>
          <p:nvPr/>
        </p:nvSpPr>
        <p:spPr>
          <a:xfrm>
            <a:off x="2514600" y="1591056"/>
            <a:ext cx="3017520" cy="461119"/>
          </a:xfrm>
          <a:prstGeom prst="rect">
            <a:avLst/>
          </a:prstGeom>
          <a:solidFill>
            <a:srgbClr val="FFFFFF"/>
          </a:solidFill>
          <a:ln w="6350">
            <a:solidFill>
              <a:srgbClr val="DDDDDD"/>
            </a:solidFill>
            <a:prstDash val="solid"/>
          </a:ln>
        </p:spPr>
      </p:sp>
      <p:sp>
        <p:nvSpPr>
          <p:cNvPr id="18" name="Text 16"/>
          <p:cNvSpPr/>
          <p:nvPr/>
        </p:nvSpPr>
        <p:spPr>
          <a:xfrm>
            <a:off x="2606040" y="1591056"/>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Bajo — control total del byte</a:t>
            </a:r>
            <a:endParaRPr lang="en-US" sz="1200" dirty="0"/>
          </a:p>
        </p:txBody>
      </p:sp>
      <p:sp>
        <p:nvSpPr>
          <p:cNvPr id="19" name="Shape 17"/>
          <p:cNvSpPr/>
          <p:nvPr/>
        </p:nvSpPr>
        <p:spPr>
          <a:xfrm>
            <a:off x="5577840" y="1591056"/>
            <a:ext cx="3017520" cy="461119"/>
          </a:xfrm>
          <a:prstGeom prst="rect">
            <a:avLst/>
          </a:prstGeom>
          <a:solidFill>
            <a:srgbClr val="FFFFFF"/>
          </a:solidFill>
          <a:ln w="6350">
            <a:solidFill>
              <a:srgbClr val="DDDDDD"/>
            </a:solidFill>
            <a:prstDash val="solid"/>
          </a:ln>
        </p:spPr>
      </p:sp>
      <p:sp>
        <p:nvSpPr>
          <p:cNvPr id="20" name="Text 18"/>
          <p:cNvSpPr/>
          <p:nvPr/>
        </p:nvSpPr>
        <p:spPr>
          <a:xfrm>
            <a:off x="5669280" y="1591056"/>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Alto — funciones y métodos</a:t>
            </a:r>
            <a:endParaRPr lang="en-US" sz="1200" dirty="0"/>
          </a:p>
        </p:txBody>
      </p:sp>
      <p:sp>
        <p:nvSpPr>
          <p:cNvPr id="21" name="Shape 19"/>
          <p:cNvSpPr/>
          <p:nvPr/>
        </p:nvSpPr>
        <p:spPr>
          <a:xfrm>
            <a:off x="274320" y="2052175"/>
            <a:ext cx="2194560" cy="461119"/>
          </a:xfrm>
          <a:prstGeom prst="rect">
            <a:avLst/>
          </a:prstGeom>
          <a:solidFill>
            <a:srgbClr val="F0F4FF"/>
          </a:solidFill>
          <a:ln w="6350">
            <a:solidFill>
              <a:srgbClr val="DDDDDD"/>
            </a:solidFill>
            <a:prstDash val="solid"/>
          </a:ln>
        </p:spPr>
      </p:sp>
      <p:sp>
        <p:nvSpPr>
          <p:cNvPr id="22" name="Text 20"/>
          <p:cNvSpPr/>
          <p:nvPr/>
        </p:nvSpPr>
        <p:spPr>
          <a:xfrm>
            <a:off x="365760" y="2052175"/>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Serialización</a:t>
            </a:r>
            <a:endParaRPr lang="en-US" sz="1200" dirty="0"/>
          </a:p>
        </p:txBody>
      </p:sp>
      <p:sp>
        <p:nvSpPr>
          <p:cNvPr id="23" name="Shape 21"/>
          <p:cNvSpPr/>
          <p:nvPr/>
        </p:nvSpPr>
        <p:spPr>
          <a:xfrm>
            <a:off x="2514600" y="2052175"/>
            <a:ext cx="3017520" cy="461119"/>
          </a:xfrm>
          <a:prstGeom prst="rect">
            <a:avLst/>
          </a:prstGeom>
          <a:solidFill>
            <a:srgbClr val="F0F4FF"/>
          </a:solidFill>
          <a:ln w="6350">
            <a:solidFill>
              <a:srgbClr val="DDDDDD"/>
            </a:solidFill>
            <a:prstDash val="solid"/>
          </a:ln>
        </p:spPr>
      </p:sp>
      <p:sp>
        <p:nvSpPr>
          <p:cNvPr id="24" name="Text 22"/>
          <p:cNvSpPr/>
          <p:nvPr/>
        </p:nvSpPr>
        <p:spPr>
          <a:xfrm>
            <a:off x="2606040" y="2052175"/>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Manual — el programador decide el formato</a:t>
            </a:r>
            <a:endParaRPr lang="en-US" sz="1200" dirty="0"/>
          </a:p>
        </p:txBody>
      </p:sp>
      <p:sp>
        <p:nvSpPr>
          <p:cNvPr id="25" name="Shape 23"/>
          <p:cNvSpPr/>
          <p:nvPr/>
        </p:nvSpPr>
        <p:spPr>
          <a:xfrm>
            <a:off x="5577840" y="2052175"/>
            <a:ext cx="3017520" cy="461119"/>
          </a:xfrm>
          <a:prstGeom prst="rect">
            <a:avLst/>
          </a:prstGeom>
          <a:solidFill>
            <a:srgbClr val="F0F4FF"/>
          </a:solidFill>
          <a:ln w="6350">
            <a:solidFill>
              <a:srgbClr val="DDDDDD"/>
            </a:solidFill>
            <a:prstDash val="solid"/>
          </a:ln>
        </p:spPr>
      </p:sp>
      <p:sp>
        <p:nvSpPr>
          <p:cNvPr id="26" name="Text 24"/>
          <p:cNvSpPr/>
          <p:nvPr/>
        </p:nvSpPr>
        <p:spPr>
          <a:xfrm>
            <a:off x="5669280" y="2052175"/>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Automática — Protocol Buffers (binario)</a:t>
            </a:r>
            <a:endParaRPr lang="en-US" sz="1200" dirty="0"/>
          </a:p>
        </p:txBody>
      </p:sp>
      <p:sp>
        <p:nvSpPr>
          <p:cNvPr id="27" name="Shape 25"/>
          <p:cNvSpPr/>
          <p:nvPr/>
        </p:nvSpPr>
        <p:spPr>
          <a:xfrm>
            <a:off x="274320" y="2513294"/>
            <a:ext cx="2194560" cy="461119"/>
          </a:xfrm>
          <a:prstGeom prst="rect">
            <a:avLst/>
          </a:prstGeom>
          <a:solidFill>
            <a:srgbClr val="FFFFFF"/>
          </a:solidFill>
          <a:ln w="6350">
            <a:solidFill>
              <a:srgbClr val="DDDDDD"/>
            </a:solidFill>
            <a:prstDash val="solid"/>
          </a:ln>
        </p:spPr>
      </p:sp>
      <p:sp>
        <p:nvSpPr>
          <p:cNvPr id="28" name="Text 26"/>
          <p:cNvSpPr/>
          <p:nvPr/>
        </p:nvSpPr>
        <p:spPr>
          <a:xfrm>
            <a:off x="365760" y="2513294"/>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Rendimiento</a:t>
            </a:r>
            <a:endParaRPr lang="en-US" sz="1200" dirty="0"/>
          </a:p>
        </p:txBody>
      </p:sp>
      <p:sp>
        <p:nvSpPr>
          <p:cNvPr id="29" name="Shape 27"/>
          <p:cNvSpPr/>
          <p:nvPr/>
        </p:nvSpPr>
        <p:spPr>
          <a:xfrm>
            <a:off x="2514600" y="2513294"/>
            <a:ext cx="3017520" cy="461119"/>
          </a:xfrm>
          <a:prstGeom prst="rect">
            <a:avLst/>
          </a:prstGeom>
          <a:solidFill>
            <a:srgbClr val="FFFFFF"/>
          </a:solidFill>
          <a:ln w="6350">
            <a:solidFill>
              <a:srgbClr val="DDDDDD"/>
            </a:solidFill>
            <a:prstDash val="solid"/>
          </a:ln>
        </p:spPr>
      </p:sp>
      <p:sp>
        <p:nvSpPr>
          <p:cNvPr id="30" name="Text 28"/>
          <p:cNvSpPr/>
          <p:nvPr/>
        </p:nvSpPr>
        <p:spPr>
          <a:xfrm>
            <a:off x="2606040" y="2513294"/>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Muy alto (sin overhead)</a:t>
            </a:r>
            <a:endParaRPr lang="en-US" sz="1200" dirty="0"/>
          </a:p>
        </p:txBody>
      </p:sp>
      <p:sp>
        <p:nvSpPr>
          <p:cNvPr id="31" name="Shape 29"/>
          <p:cNvSpPr/>
          <p:nvPr/>
        </p:nvSpPr>
        <p:spPr>
          <a:xfrm>
            <a:off x="5577840" y="2513294"/>
            <a:ext cx="3017520" cy="461119"/>
          </a:xfrm>
          <a:prstGeom prst="rect">
            <a:avLst/>
          </a:prstGeom>
          <a:solidFill>
            <a:srgbClr val="FFFFFF"/>
          </a:solidFill>
          <a:ln w="6350">
            <a:solidFill>
              <a:srgbClr val="DDDDDD"/>
            </a:solidFill>
            <a:prstDash val="solid"/>
          </a:ln>
        </p:spPr>
      </p:sp>
      <p:sp>
        <p:nvSpPr>
          <p:cNvPr id="32" name="Text 30"/>
          <p:cNvSpPr/>
          <p:nvPr/>
        </p:nvSpPr>
        <p:spPr>
          <a:xfrm>
            <a:off x="5669280" y="2513294"/>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Alto — Protocol Buffers muy eficiente</a:t>
            </a:r>
            <a:endParaRPr lang="en-US" sz="1200" dirty="0"/>
          </a:p>
        </p:txBody>
      </p:sp>
      <p:sp>
        <p:nvSpPr>
          <p:cNvPr id="33" name="Shape 31"/>
          <p:cNvSpPr/>
          <p:nvPr/>
        </p:nvSpPr>
        <p:spPr>
          <a:xfrm>
            <a:off x="274320" y="2974413"/>
            <a:ext cx="2194560" cy="461119"/>
          </a:xfrm>
          <a:prstGeom prst="rect">
            <a:avLst/>
          </a:prstGeom>
          <a:solidFill>
            <a:srgbClr val="F0F4FF"/>
          </a:solidFill>
          <a:ln w="6350">
            <a:solidFill>
              <a:srgbClr val="DDDDDD"/>
            </a:solidFill>
            <a:prstDash val="solid"/>
          </a:ln>
        </p:spPr>
      </p:sp>
      <p:sp>
        <p:nvSpPr>
          <p:cNvPr id="34" name="Text 32"/>
          <p:cNvSpPr/>
          <p:nvPr/>
        </p:nvSpPr>
        <p:spPr>
          <a:xfrm>
            <a:off x="365760" y="2974413"/>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Facilidad de uso</a:t>
            </a:r>
            <a:endParaRPr lang="en-US" sz="1200" dirty="0"/>
          </a:p>
        </p:txBody>
      </p:sp>
      <p:sp>
        <p:nvSpPr>
          <p:cNvPr id="35" name="Shape 33"/>
          <p:cNvSpPr/>
          <p:nvPr/>
        </p:nvSpPr>
        <p:spPr>
          <a:xfrm>
            <a:off x="2514600" y="2974413"/>
            <a:ext cx="3017520" cy="461119"/>
          </a:xfrm>
          <a:prstGeom prst="rect">
            <a:avLst/>
          </a:prstGeom>
          <a:solidFill>
            <a:srgbClr val="F0F4FF"/>
          </a:solidFill>
          <a:ln w="6350">
            <a:solidFill>
              <a:srgbClr val="DDDDDD"/>
            </a:solidFill>
            <a:prstDash val="solid"/>
          </a:ln>
        </p:spPr>
      </p:sp>
      <p:sp>
        <p:nvSpPr>
          <p:cNvPr id="36" name="Text 34"/>
          <p:cNvSpPr/>
          <p:nvPr/>
        </p:nvSpPr>
        <p:spPr>
          <a:xfrm>
            <a:off x="2606040" y="2974413"/>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Complejo — mucho código de red</a:t>
            </a:r>
            <a:endParaRPr lang="en-US" sz="1200" dirty="0"/>
          </a:p>
        </p:txBody>
      </p:sp>
      <p:sp>
        <p:nvSpPr>
          <p:cNvPr id="37" name="Shape 35"/>
          <p:cNvSpPr/>
          <p:nvPr/>
        </p:nvSpPr>
        <p:spPr>
          <a:xfrm>
            <a:off x="5577840" y="2974413"/>
            <a:ext cx="3017520" cy="461119"/>
          </a:xfrm>
          <a:prstGeom prst="rect">
            <a:avLst/>
          </a:prstGeom>
          <a:solidFill>
            <a:srgbClr val="F0F4FF"/>
          </a:solidFill>
          <a:ln w="6350">
            <a:solidFill>
              <a:srgbClr val="DDDDDD"/>
            </a:solidFill>
            <a:prstDash val="solid"/>
          </a:ln>
        </p:spPr>
      </p:sp>
      <p:sp>
        <p:nvSpPr>
          <p:cNvPr id="38" name="Text 36"/>
          <p:cNvSpPr/>
          <p:nvPr/>
        </p:nvSpPr>
        <p:spPr>
          <a:xfrm>
            <a:off x="5669280" y="2974413"/>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Simple — el stub genera el código</a:t>
            </a:r>
            <a:endParaRPr lang="en-US" sz="1200" dirty="0"/>
          </a:p>
        </p:txBody>
      </p:sp>
      <p:sp>
        <p:nvSpPr>
          <p:cNvPr id="39" name="Shape 37"/>
          <p:cNvSpPr/>
          <p:nvPr/>
        </p:nvSpPr>
        <p:spPr>
          <a:xfrm>
            <a:off x="274320" y="3435531"/>
            <a:ext cx="2194560" cy="461119"/>
          </a:xfrm>
          <a:prstGeom prst="rect">
            <a:avLst/>
          </a:prstGeom>
          <a:solidFill>
            <a:srgbClr val="FFFFFF"/>
          </a:solidFill>
          <a:ln w="6350">
            <a:solidFill>
              <a:srgbClr val="DDDDDD"/>
            </a:solidFill>
            <a:prstDash val="solid"/>
          </a:ln>
        </p:spPr>
      </p:sp>
      <p:sp>
        <p:nvSpPr>
          <p:cNvPr id="40" name="Text 38"/>
          <p:cNvSpPr/>
          <p:nvPr/>
        </p:nvSpPr>
        <p:spPr>
          <a:xfrm>
            <a:off x="365760" y="3435531"/>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Bidireccional</a:t>
            </a:r>
            <a:endParaRPr lang="en-US" sz="1200" dirty="0"/>
          </a:p>
        </p:txBody>
      </p:sp>
      <p:sp>
        <p:nvSpPr>
          <p:cNvPr id="41" name="Shape 39"/>
          <p:cNvSpPr/>
          <p:nvPr/>
        </p:nvSpPr>
        <p:spPr>
          <a:xfrm>
            <a:off x="2514600" y="3435531"/>
            <a:ext cx="3017520" cy="461119"/>
          </a:xfrm>
          <a:prstGeom prst="rect">
            <a:avLst/>
          </a:prstGeom>
          <a:solidFill>
            <a:srgbClr val="FFFFFF"/>
          </a:solidFill>
          <a:ln w="6350">
            <a:solidFill>
              <a:srgbClr val="DDDDDD"/>
            </a:solidFill>
            <a:prstDash val="solid"/>
          </a:ln>
        </p:spPr>
      </p:sp>
      <p:sp>
        <p:nvSpPr>
          <p:cNvPr id="42" name="Text 40"/>
          <p:cNvSpPr/>
          <p:nvPr/>
        </p:nvSpPr>
        <p:spPr>
          <a:xfrm>
            <a:off x="2606040" y="3435531"/>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Sí, pero manual</a:t>
            </a:r>
            <a:endParaRPr lang="en-US" sz="1200" dirty="0"/>
          </a:p>
        </p:txBody>
      </p:sp>
      <p:sp>
        <p:nvSpPr>
          <p:cNvPr id="43" name="Shape 41"/>
          <p:cNvSpPr/>
          <p:nvPr/>
        </p:nvSpPr>
        <p:spPr>
          <a:xfrm>
            <a:off x="5577840" y="3435531"/>
            <a:ext cx="3017520" cy="461119"/>
          </a:xfrm>
          <a:prstGeom prst="rect">
            <a:avLst/>
          </a:prstGeom>
          <a:solidFill>
            <a:srgbClr val="FFFFFF"/>
          </a:solidFill>
          <a:ln w="6350">
            <a:solidFill>
              <a:srgbClr val="DDDDDD"/>
            </a:solidFill>
            <a:prstDash val="solid"/>
          </a:ln>
        </p:spPr>
      </p:sp>
      <p:sp>
        <p:nvSpPr>
          <p:cNvPr id="44" name="Text 42"/>
          <p:cNvSpPr/>
          <p:nvPr/>
        </p:nvSpPr>
        <p:spPr>
          <a:xfrm>
            <a:off x="5669280" y="3435531"/>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Sí, con streams nativos</a:t>
            </a:r>
            <a:endParaRPr lang="en-US" sz="1200" dirty="0"/>
          </a:p>
        </p:txBody>
      </p:sp>
      <p:sp>
        <p:nvSpPr>
          <p:cNvPr id="45" name="Shape 43"/>
          <p:cNvSpPr/>
          <p:nvPr/>
        </p:nvSpPr>
        <p:spPr>
          <a:xfrm>
            <a:off x="274320" y="3896650"/>
            <a:ext cx="2194560" cy="461119"/>
          </a:xfrm>
          <a:prstGeom prst="rect">
            <a:avLst/>
          </a:prstGeom>
          <a:solidFill>
            <a:srgbClr val="F0F4FF"/>
          </a:solidFill>
          <a:ln w="6350">
            <a:solidFill>
              <a:srgbClr val="DDDDDD"/>
            </a:solidFill>
            <a:prstDash val="solid"/>
          </a:ln>
        </p:spPr>
      </p:sp>
      <p:sp>
        <p:nvSpPr>
          <p:cNvPr id="46" name="Text 44"/>
          <p:cNvSpPr/>
          <p:nvPr/>
        </p:nvSpPr>
        <p:spPr>
          <a:xfrm>
            <a:off x="365760" y="3896650"/>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Tipado</a:t>
            </a:r>
            <a:endParaRPr lang="en-US" sz="1200" dirty="0"/>
          </a:p>
        </p:txBody>
      </p:sp>
      <p:sp>
        <p:nvSpPr>
          <p:cNvPr id="47" name="Shape 45"/>
          <p:cNvSpPr/>
          <p:nvPr/>
        </p:nvSpPr>
        <p:spPr>
          <a:xfrm>
            <a:off x="2514600" y="3896650"/>
            <a:ext cx="3017520" cy="461119"/>
          </a:xfrm>
          <a:prstGeom prst="rect">
            <a:avLst/>
          </a:prstGeom>
          <a:solidFill>
            <a:srgbClr val="F0F4FF"/>
          </a:solidFill>
          <a:ln w="6350">
            <a:solidFill>
              <a:srgbClr val="DDDDDD"/>
            </a:solidFill>
            <a:prstDash val="solid"/>
          </a:ln>
        </p:spPr>
      </p:sp>
      <p:sp>
        <p:nvSpPr>
          <p:cNvPr id="48" name="Text 46"/>
          <p:cNvSpPr/>
          <p:nvPr/>
        </p:nvSpPr>
        <p:spPr>
          <a:xfrm>
            <a:off x="2606040" y="3896650"/>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Sin tipado — bytes crudos</a:t>
            </a:r>
            <a:endParaRPr lang="en-US" sz="1200" dirty="0"/>
          </a:p>
        </p:txBody>
      </p:sp>
      <p:sp>
        <p:nvSpPr>
          <p:cNvPr id="49" name="Shape 47"/>
          <p:cNvSpPr/>
          <p:nvPr/>
        </p:nvSpPr>
        <p:spPr>
          <a:xfrm>
            <a:off x="5577840" y="3896650"/>
            <a:ext cx="3017520" cy="461119"/>
          </a:xfrm>
          <a:prstGeom prst="rect">
            <a:avLst/>
          </a:prstGeom>
          <a:solidFill>
            <a:srgbClr val="F0F4FF"/>
          </a:solidFill>
          <a:ln w="6350">
            <a:solidFill>
              <a:srgbClr val="DDDDDD"/>
            </a:solidFill>
            <a:prstDash val="solid"/>
          </a:ln>
        </p:spPr>
      </p:sp>
      <p:sp>
        <p:nvSpPr>
          <p:cNvPr id="50" name="Text 48"/>
          <p:cNvSpPr/>
          <p:nvPr/>
        </p:nvSpPr>
        <p:spPr>
          <a:xfrm>
            <a:off x="5669280" y="3896650"/>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Fuertemente tipado con .proto</a:t>
            </a:r>
            <a:endParaRPr lang="en-US" sz="1200" dirty="0"/>
          </a:p>
        </p:txBody>
      </p:sp>
      <p:sp>
        <p:nvSpPr>
          <p:cNvPr id="51" name="Shape 49"/>
          <p:cNvSpPr/>
          <p:nvPr/>
        </p:nvSpPr>
        <p:spPr>
          <a:xfrm>
            <a:off x="274320" y="4357769"/>
            <a:ext cx="2194560" cy="461119"/>
          </a:xfrm>
          <a:prstGeom prst="rect">
            <a:avLst/>
          </a:prstGeom>
          <a:solidFill>
            <a:srgbClr val="FFFFFF"/>
          </a:solidFill>
          <a:ln w="6350">
            <a:solidFill>
              <a:srgbClr val="DDDDDD"/>
            </a:solidFill>
            <a:prstDash val="solid"/>
          </a:ln>
        </p:spPr>
      </p:sp>
      <p:sp>
        <p:nvSpPr>
          <p:cNvPr id="52" name="Text 50"/>
          <p:cNvSpPr/>
          <p:nvPr/>
        </p:nvSpPr>
        <p:spPr>
          <a:xfrm>
            <a:off x="365760" y="4357769"/>
            <a:ext cx="2029968" cy="461119"/>
          </a:xfrm>
          <a:prstGeom prst="rect">
            <a:avLst/>
          </a:prstGeom>
          <a:noFill/>
          <a:ln/>
        </p:spPr>
        <p:txBody>
          <a:bodyPr wrap="square" rtlCol="0" anchor="ctr"/>
          <a:lstStyle/>
          <a:p>
            <a:pPr marL="0" indent="0">
              <a:buNone/>
            </a:pPr>
            <a:r>
              <a:rPr lang="en-US" sz="1200" b="1" dirty="0">
                <a:solidFill>
                  <a:srgbClr val="1A237E"/>
                </a:solidFill>
                <a:latin typeface="Calibri" pitchFamily="34" charset="0"/>
                <a:ea typeface="Calibri" pitchFamily="34" charset="-122"/>
                <a:cs typeface="Calibri" pitchFamily="34" charset="-120"/>
              </a:rPr>
              <a:t>Cuándo usarlo</a:t>
            </a:r>
            <a:endParaRPr lang="en-US" sz="1200" dirty="0"/>
          </a:p>
        </p:txBody>
      </p:sp>
      <p:sp>
        <p:nvSpPr>
          <p:cNvPr id="53" name="Shape 51"/>
          <p:cNvSpPr/>
          <p:nvPr/>
        </p:nvSpPr>
        <p:spPr>
          <a:xfrm>
            <a:off x="2514600" y="4357769"/>
            <a:ext cx="3017520" cy="461119"/>
          </a:xfrm>
          <a:prstGeom prst="rect">
            <a:avLst/>
          </a:prstGeom>
          <a:solidFill>
            <a:srgbClr val="FFFFFF"/>
          </a:solidFill>
          <a:ln w="6350">
            <a:solidFill>
              <a:srgbClr val="DDDDDD"/>
            </a:solidFill>
            <a:prstDash val="solid"/>
          </a:ln>
        </p:spPr>
      </p:sp>
      <p:sp>
        <p:nvSpPr>
          <p:cNvPr id="54" name="Text 52"/>
          <p:cNvSpPr/>
          <p:nvPr/>
        </p:nvSpPr>
        <p:spPr>
          <a:xfrm>
            <a:off x="2606040" y="4357769"/>
            <a:ext cx="2852928" cy="461119"/>
          </a:xfrm>
          <a:prstGeom prst="rect">
            <a:avLst/>
          </a:prstGeom>
          <a:noFill/>
          <a:ln/>
        </p:spPr>
        <p:txBody>
          <a:bodyPr wrap="square" rtlCol="0" anchor="ctr"/>
          <a:lstStyle/>
          <a:p>
            <a:pPr marL="0" indent="0">
              <a:buNone/>
            </a:pPr>
            <a:r>
              <a:rPr lang="en-US" sz="1200" dirty="0">
                <a:solidFill>
                  <a:srgbClr val="1565C0"/>
                </a:solidFill>
                <a:latin typeface="Calibri" pitchFamily="34" charset="0"/>
                <a:ea typeface="Calibri" pitchFamily="34" charset="-122"/>
                <a:cs typeface="Calibri" pitchFamily="34" charset="-120"/>
              </a:rPr>
              <a:t>Protocolos propios, sistemas embebidos, máximo rendimiento</a:t>
            </a:r>
            <a:endParaRPr lang="en-US" sz="1200" dirty="0"/>
          </a:p>
        </p:txBody>
      </p:sp>
      <p:sp>
        <p:nvSpPr>
          <p:cNvPr id="55" name="Shape 53"/>
          <p:cNvSpPr/>
          <p:nvPr/>
        </p:nvSpPr>
        <p:spPr>
          <a:xfrm>
            <a:off x="5577840" y="4357769"/>
            <a:ext cx="3017520" cy="461119"/>
          </a:xfrm>
          <a:prstGeom prst="rect">
            <a:avLst/>
          </a:prstGeom>
          <a:solidFill>
            <a:srgbClr val="FFFFFF"/>
          </a:solidFill>
          <a:ln w="6350">
            <a:solidFill>
              <a:srgbClr val="DDDDDD"/>
            </a:solidFill>
            <a:prstDash val="solid"/>
          </a:ln>
        </p:spPr>
      </p:sp>
      <p:sp>
        <p:nvSpPr>
          <p:cNvPr id="56" name="Text 54"/>
          <p:cNvSpPr/>
          <p:nvPr/>
        </p:nvSpPr>
        <p:spPr>
          <a:xfrm>
            <a:off x="5669280" y="4357769"/>
            <a:ext cx="2852928" cy="461119"/>
          </a:xfrm>
          <a:prstGeom prst="rect">
            <a:avLst/>
          </a:prstGeom>
          <a:noFill/>
          <a:ln/>
        </p:spPr>
        <p:txBody>
          <a:bodyPr wrap="square" rtlCol="0" anchor="ctr"/>
          <a:lstStyle/>
          <a:p>
            <a:pPr marL="0" indent="0">
              <a:buNone/>
            </a:pPr>
            <a:r>
              <a:rPr lang="en-US" sz="1200" dirty="0">
                <a:solidFill>
                  <a:srgbClr val="6A1B9A"/>
                </a:solidFill>
                <a:latin typeface="Calibri" pitchFamily="34" charset="0"/>
                <a:ea typeface="Calibri" pitchFamily="34" charset="-122"/>
                <a:cs typeface="Calibri" pitchFamily="34" charset="-120"/>
              </a:rPr>
              <a:t>Microservicios, APIs internas, cuando la productividad importa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82880"/>
          </a:xfrm>
          <a:prstGeom prst="rect">
            <a:avLst/>
          </a:prstGeom>
          <a:solidFill>
            <a:srgbClr val="0D2137"/>
          </a:solidFill>
          <a:ln w="12700">
            <a:solidFill>
              <a:srgbClr val="0D2137"/>
            </a:solidFill>
            <a:prstDash val="solid"/>
          </a:ln>
        </p:spPr>
      </p:sp>
      <p:sp>
        <p:nvSpPr>
          <p:cNvPr id="3" name="Shape 1"/>
          <p:cNvSpPr/>
          <p:nvPr/>
        </p:nvSpPr>
        <p:spPr>
          <a:xfrm>
            <a:off x="0" y="4937760"/>
            <a:ext cx="9144000" cy="205740"/>
          </a:xfrm>
          <a:prstGeom prst="rect">
            <a:avLst/>
          </a:prstGeom>
          <a:solidFill>
            <a:srgbClr val="00BFA5"/>
          </a:solidFill>
          <a:ln w="12700">
            <a:solidFill>
              <a:srgbClr val="00BFA5"/>
            </a:solidFill>
            <a:prstDash val="solid"/>
          </a:ln>
        </p:spPr>
      </p:sp>
      <p:sp>
        <p:nvSpPr>
          <p:cNvPr id="4" name="Text 2"/>
          <p:cNvSpPr/>
          <p:nvPr/>
        </p:nvSpPr>
        <p:spPr>
          <a:xfrm>
            <a:off x="182880" y="4937760"/>
            <a:ext cx="8778240" cy="205740"/>
          </a:xfrm>
          <a:prstGeom prst="rect">
            <a:avLst/>
          </a:prstGeom>
          <a:noFill/>
          <a:ln/>
        </p:spPr>
        <p:txBody>
          <a:bodyPr wrap="square" rtlCol="0" anchor="ctr"/>
          <a:lstStyle/>
          <a:p>
            <a:pPr marL="0" indent="0">
              <a:buNone/>
            </a:pPr>
            <a:r>
              <a:rPr lang="en-US" sz="800" dirty="0">
                <a:solidFill>
                  <a:srgbClr val="FFFFFF"/>
                </a:solidFill>
                <a:latin typeface="Calibri" pitchFamily="34" charset="0"/>
                <a:ea typeface="Calibri" pitchFamily="34" charset="-122"/>
                <a:cs typeface="Calibri" pitchFamily="34" charset="-120"/>
              </a:rPr>
              <a:t>UTEQ · Ingeniería de Software · Aplicaciones Distribuidas (AD) — Semana 3</a:t>
            </a:r>
            <a:endParaRPr lang="en-US" sz="800" dirty="0"/>
          </a:p>
        </p:txBody>
      </p:sp>
      <p:sp>
        <p:nvSpPr>
          <p:cNvPr id="5" name="Shape 3"/>
          <p:cNvSpPr/>
          <p:nvPr/>
        </p:nvSpPr>
        <p:spPr>
          <a:xfrm>
            <a:off x="0" y="182880"/>
            <a:ext cx="2926080" cy="310896"/>
          </a:xfrm>
          <a:prstGeom prst="rect">
            <a:avLst/>
          </a:prstGeom>
          <a:solidFill>
            <a:srgbClr val="00BFA5"/>
          </a:solidFill>
          <a:ln w="12700">
            <a:solidFill>
              <a:srgbClr val="00BFA5"/>
            </a:solidFill>
            <a:prstDash val="solid"/>
          </a:ln>
        </p:spPr>
      </p:sp>
      <p:sp>
        <p:nvSpPr>
          <p:cNvPr id="6" name="Text 4"/>
          <p:cNvSpPr/>
          <p:nvPr/>
        </p:nvSpPr>
        <p:spPr>
          <a:xfrm>
            <a:off x="91440" y="182880"/>
            <a:ext cx="274320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6 · Práctica en Clase</a:t>
            </a:r>
            <a:endParaRPr lang="en-US" sz="1050" dirty="0"/>
          </a:p>
        </p:txBody>
      </p:sp>
      <p:sp>
        <p:nvSpPr>
          <p:cNvPr id="7" name="Text 5"/>
          <p:cNvSpPr/>
          <p:nvPr/>
        </p:nvSpPr>
        <p:spPr>
          <a:xfrm>
            <a:off x="365760" y="548640"/>
            <a:ext cx="8412480" cy="420624"/>
          </a:xfrm>
          <a:prstGeom prst="rect">
            <a:avLst/>
          </a:prstGeom>
          <a:noFill/>
          <a:ln/>
        </p:spPr>
        <p:txBody>
          <a:bodyPr wrap="square" rtlCol="0" anchor="ctr"/>
          <a:lstStyle/>
          <a:p>
            <a:pPr marL="0" indent="0">
              <a:buNone/>
            </a:pPr>
            <a:r>
              <a:rPr lang="en-US" sz="2200" b="1" dirty="0">
                <a:solidFill>
                  <a:srgbClr val="1A237E"/>
                </a:solidFill>
                <a:latin typeface="Calibri" pitchFamily="34" charset="0"/>
                <a:ea typeface="Calibri" pitchFamily="34" charset="-122"/>
                <a:cs typeface="Calibri" pitchFamily="34" charset="-120"/>
              </a:rPr>
              <a:t>Práctica en Clase — Semana 3</a:t>
            </a:r>
            <a:endParaRPr lang="en-US" sz="2200" dirty="0"/>
          </a:p>
        </p:txBody>
      </p:sp>
      <p:sp>
        <p:nvSpPr>
          <p:cNvPr id="8" name="Text 6"/>
          <p:cNvSpPr/>
          <p:nvPr/>
        </p:nvSpPr>
        <p:spPr>
          <a:xfrm>
            <a:off x="365760" y="932688"/>
            <a:ext cx="8412480" cy="237744"/>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"Simula y modela la comunicación entre procesos distribuidos"  ·  25 minutos  ·  Mismos grupos del semestre</a:t>
            </a:r>
            <a:endParaRPr lang="en-US" sz="1150" dirty="0"/>
          </a:p>
        </p:txBody>
      </p:sp>
      <p:sp>
        <p:nvSpPr>
          <p:cNvPr id="9" name="Shape 7"/>
          <p:cNvSpPr/>
          <p:nvPr/>
        </p:nvSpPr>
        <p:spPr>
          <a:xfrm>
            <a:off x="274320" y="1225296"/>
            <a:ext cx="8595360" cy="678485"/>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10" name="Shape 8"/>
          <p:cNvSpPr/>
          <p:nvPr/>
        </p:nvSpPr>
        <p:spPr>
          <a:xfrm>
            <a:off x="274320" y="1225296"/>
            <a:ext cx="457200" cy="678485"/>
          </a:xfrm>
          <a:prstGeom prst="rect">
            <a:avLst/>
          </a:prstGeom>
          <a:solidFill>
            <a:srgbClr val="0D2137"/>
          </a:solidFill>
          <a:ln w="12700">
            <a:solidFill>
              <a:srgbClr val="0D2137"/>
            </a:solidFill>
            <a:prstDash val="solid"/>
          </a:ln>
        </p:spPr>
      </p:sp>
      <p:sp>
        <p:nvSpPr>
          <p:cNvPr id="11" name="Text 9"/>
          <p:cNvSpPr/>
          <p:nvPr/>
        </p:nvSpPr>
        <p:spPr>
          <a:xfrm>
            <a:off x="274320" y="1225296"/>
            <a:ext cx="457200" cy="678485"/>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Text 10"/>
          <p:cNvSpPr/>
          <p:nvPr/>
        </p:nvSpPr>
        <p:spPr>
          <a:xfrm>
            <a:off x="822960" y="1271016"/>
            <a:ext cx="7955280" cy="284964"/>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Retomar grupos y diagrama (3 min)</a:t>
            </a:r>
            <a:endParaRPr lang="en-US" sz="1350" dirty="0"/>
          </a:p>
        </p:txBody>
      </p:sp>
      <p:sp>
        <p:nvSpPr>
          <p:cNvPr id="13" name="Text 11"/>
          <p:cNvSpPr/>
          <p:nvPr/>
        </p:nvSpPr>
        <p:spPr>
          <a:xfrm>
            <a:off x="822960" y="1523829"/>
            <a:ext cx="7955280" cy="33924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Recuperen el diagrama del SD que eligieron en la Semana 1. Lo van a enriquecer hoy con los mecanismos de comunicación.</a:t>
            </a:r>
            <a:endParaRPr lang="en-US" sz="1250" dirty="0"/>
          </a:p>
        </p:txBody>
      </p:sp>
      <p:sp>
        <p:nvSpPr>
          <p:cNvPr id="14" name="Shape 12"/>
          <p:cNvSpPr/>
          <p:nvPr/>
        </p:nvSpPr>
        <p:spPr>
          <a:xfrm>
            <a:off x="274320" y="1958645"/>
            <a:ext cx="8595360" cy="678485"/>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15" name="Shape 13"/>
          <p:cNvSpPr/>
          <p:nvPr/>
        </p:nvSpPr>
        <p:spPr>
          <a:xfrm>
            <a:off x="274320" y="1958645"/>
            <a:ext cx="457200" cy="678485"/>
          </a:xfrm>
          <a:prstGeom prst="rect">
            <a:avLst/>
          </a:prstGeom>
          <a:solidFill>
            <a:srgbClr val="1565C0"/>
          </a:solidFill>
          <a:ln w="12700">
            <a:solidFill>
              <a:srgbClr val="1565C0"/>
            </a:solidFill>
            <a:prstDash val="solid"/>
          </a:ln>
        </p:spPr>
      </p:sp>
      <p:sp>
        <p:nvSpPr>
          <p:cNvPr id="16" name="Text 14"/>
          <p:cNvSpPr/>
          <p:nvPr/>
        </p:nvSpPr>
        <p:spPr>
          <a:xfrm>
            <a:off x="274320" y="1958645"/>
            <a:ext cx="457200" cy="678485"/>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Text 15"/>
          <p:cNvSpPr/>
          <p:nvPr/>
        </p:nvSpPr>
        <p:spPr>
          <a:xfrm>
            <a:off x="822960" y="2004365"/>
            <a:ext cx="7955280" cy="284964"/>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Identificar el modelo arquitectónico (4 min)</a:t>
            </a:r>
            <a:endParaRPr lang="en-US" sz="1350" dirty="0"/>
          </a:p>
        </p:txBody>
      </p:sp>
      <p:sp>
        <p:nvSpPr>
          <p:cNvPr id="18" name="Text 16"/>
          <p:cNvSpPr/>
          <p:nvPr/>
        </p:nvSpPr>
        <p:spPr>
          <a:xfrm>
            <a:off x="822960" y="2257178"/>
            <a:ext cx="7955280" cy="33924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¿Su SD es cliente-servidor, P2P o híbrido? Marquen explícitamente en el diagrama quién es cliente y quién es servidor.</a:t>
            </a:r>
            <a:endParaRPr lang="en-US" sz="1250" dirty="0"/>
          </a:p>
        </p:txBody>
      </p:sp>
      <p:sp>
        <p:nvSpPr>
          <p:cNvPr id="19" name="Shape 17"/>
          <p:cNvSpPr/>
          <p:nvPr/>
        </p:nvSpPr>
        <p:spPr>
          <a:xfrm>
            <a:off x="274320" y="2691994"/>
            <a:ext cx="8595360" cy="678485"/>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20" name="Shape 18"/>
          <p:cNvSpPr/>
          <p:nvPr/>
        </p:nvSpPr>
        <p:spPr>
          <a:xfrm>
            <a:off x="274320" y="2691994"/>
            <a:ext cx="457200" cy="678485"/>
          </a:xfrm>
          <a:prstGeom prst="rect">
            <a:avLst/>
          </a:prstGeom>
          <a:solidFill>
            <a:srgbClr val="6A1B9A"/>
          </a:solidFill>
          <a:ln w="12700">
            <a:solidFill>
              <a:srgbClr val="6A1B9A"/>
            </a:solidFill>
            <a:prstDash val="solid"/>
          </a:ln>
        </p:spPr>
      </p:sp>
      <p:sp>
        <p:nvSpPr>
          <p:cNvPr id="21" name="Text 19"/>
          <p:cNvSpPr/>
          <p:nvPr/>
        </p:nvSpPr>
        <p:spPr>
          <a:xfrm>
            <a:off x="274320" y="2691994"/>
            <a:ext cx="457200" cy="678485"/>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822960" y="2737714"/>
            <a:ext cx="7955280" cy="284964"/>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Mapear mecanismos de comunicación (8 min)</a:t>
            </a:r>
            <a:endParaRPr lang="en-US" sz="1350" dirty="0"/>
          </a:p>
        </p:txBody>
      </p:sp>
      <p:sp>
        <p:nvSpPr>
          <p:cNvPr id="23" name="Text 21"/>
          <p:cNvSpPr/>
          <p:nvPr/>
        </p:nvSpPr>
        <p:spPr>
          <a:xfrm>
            <a:off x="822960" y="2990527"/>
            <a:ext cx="7955280" cy="33924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Para cada conexión del diagrama: ¿qué tecnología usa? ¿Sockets HTTP? ¿API REST? ¿WebSockets? ¿gRPC? Etiqueten cada flecha con su protocolo.</a:t>
            </a:r>
            <a:endParaRPr lang="en-US" sz="1250" dirty="0"/>
          </a:p>
        </p:txBody>
      </p:sp>
      <p:sp>
        <p:nvSpPr>
          <p:cNvPr id="24" name="Shape 22"/>
          <p:cNvSpPr/>
          <p:nvPr/>
        </p:nvSpPr>
        <p:spPr>
          <a:xfrm>
            <a:off x="274320" y="3425342"/>
            <a:ext cx="8595360" cy="678485"/>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25" name="Shape 23"/>
          <p:cNvSpPr/>
          <p:nvPr/>
        </p:nvSpPr>
        <p:spPr>
          <a:xfrm>
            <a:off x="274320" y="3425342"/>
            <a:ext cx="457200" cy="678485"/>
          </a:xfrm>
          <a:prstGeom prst="rect">
            <a:avLst/>
          </a:prstGeom>
          <a:solidFill>
            <a:srgbClr val="C62828"/>
          </a:solidFill>
          <a:ln w="12700">
            <a:solidFill>
              <a:srgbClr val="C62828"/>
            </a:solidFill>
            <a:prstDash val="solid"/>
          </a:ln>
        </p:spPr>
      </p:sp>
      <p:sp>
        <p:nvSpPr>
          <p:cNvPr id="26" name="Text 24"/>
          <p:cNvSpPr/>
          <p:nvPr/>
        </p:nvSpPr>
        <p:spPr>
          <a:xfrm>
            <a:off x="274320" y="3425342"/>
            <a:ext cx="457200" cy="678485"/>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p:cNvSpPr/>
          <p:nvPr/>
        </p:nvSpPr>
        <p:spPr>
          <a:xfrm>
            <a:off x="822960" y="3471062"/>
            <a:ext cx="7955280" cy="284964"/>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Aplicar relojes de Lamport (6 min)</a:t>
            </a:r>
            <a:endParaRPr lang="en-US" sz="1350" dirty="0"/>
          </a:p>
        </p:txBody>
      </p:sp>
      <p:sp>
        <p:nvSpPr>
          <p:cNvPr id="28" name="Text 26"/>
          <p:cNvSpPr/>
          <p:nvPr/>
        </p:nvSpPr>
        <p:spPr>
          <a:xfrm>
            <a:off x="822960" y="3723876"/>
            <a:ext cx="7955280" cy="33924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Seleccionen una secuencia de 3 eventos en su sistema (ej: usuario hace click → cliente envía request → servidor responde). Asignen timestamps de Lamport siguiendo las 3 reglas.</a:t>
            </a:r>
            <a:endParaRPr lang="en-US" sz="1250" dirty="0"/>
          </a:p>
        </p:txBody>
      </p:sp>
      <p:sp>
        <p:nvSpPr>
          <p:cNvPr id="29" name="Shape 27"/>
          <p:cNvSpPr/>
          <p:nvPr/>
        </p:nvSpPr>
        <p:spPr>
          <a:xfrm>
            <a:off x="274320" y="4158691"/>
            <a:ext cx="8595360" cy="678485"/>
          </a:xfrm>
          <a:prstGeom prst="rect">
            <a:avLst/>
          </a:prstGeom>
          <a:solidFill>
            <a:srgbClr val="FFFFFF"/>
          </a:solidFill>
          <a:ln w="12700">
            <a:solidFill>
              <a:srgbClr val="DDDDDD"/>
            </a:solidFill>
            <a:prstDash val="solid"/>
          </a:ln>
          <a:effectLst>
            <a:outerShdw blurRad="38100" dist="12700" dir="8100000" algn="bl" rotWithShape="0">
              <a:srgbClr val="000000">
                <a:alpha val="6000"/>
              </a:srgbClr>
            </a:outerShdw>
          </a:effectLst>
        </p:spPr>
      </p:sp>
      <p:sp>
        <p:nvSpPr>
          <p:cNvPr id="30" name="Shape 28"/>
          <p:cNvSpPr/>
          <p:nvPr/>
        </p:nvSpPr>
        <p:spPr>
          <a:xfrm>
            <a:off x="274320" y="4158691"/>
            <a:ext cx="457200" cy="678485"/>
          </a:xfrm>
          <a:prstGeom prst="rect">
            <a:avLst/>
          </a:prstGeom>
          <a:solidFill>
            <a:srgbClr val="2E7D32"/>
          </a:solidFill>
          <a:ln w="12700">
            <a:solidFill>
              <a:srgbClr val="2E7D32"/>
            </a:solidFill>
            <a:prstDash val="solid"/>
          </a:ln>
        </p:spPr>
      </p:sp>
      <p:sp>
        <p:nvSpPr>
          <p:cNvPr id="31" name="Text 29"/>
          <p:cNvSpPr/>
          <p:nvPr/>
        </p:nvSpPr>
        <p:spPr>
          <a:xfrm>
            <a:off x="274320" y="4158691"/>
            <a:ext cx="457200" cy="678485"/>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2" name="Text 30"/>
          <p:cNvSpPr/>
          <p:nvPr/>
        </p:nvSpPr>
        <p:spPr>
          <a:xfrm>
            <a:off x="822960" y="4204411"/>
            <a:ext cx="7955280" cy="284964"/>
          </a:xfrm>
          <a:prstGeom prst="rect">
            <a:avLst/>
          </a:prstGeom>
          <a:noFill/>
          <a:ln/>
        </p:spPr>
        <p:txBody>
          <a:bodyPr wrap="square" rtlCol="0" anchor="ctr"/>
          <a:lstStyle/>
          <a:p>
            <a:pPr marL="0" indent="0">
              <a:buNone/>
            </a:pPr>
            <a:r>
              <a:rPr lang="en-US" sz="1350" b="1" dirty="0">
                <a:solidFill>
                  <a:srgbClr val="1A237E"/>
                </a:solidFill>
                <a:latin typeface="Calibri" pitchFamily="34" charset="0"/>
                <a:ea typeface="Calibri" pitchFamily="34" charset="-122"/>
                <a:cs typeface="Calibri" pitchFamily="34" charset="-120"/>
              </a:rPr>
              <a:t>Presentación (4 min)</a:t>
            </a:r>
            <a:endParaRPr lang="en-US" sz="1350" dirty="0"/>
          </a:p>
        </p:txBody>
      </p:sp>
      <p:sp>
        <p:nvSpPr>
          <p:cNvPr id="33" name="Text 31"/>
          <p:cNvSpPr/>
          <p:nvPr/>
        </p:nvSpPr>
        <p:spPr>
          <a:xfrm>
            <a:off x="822960" y="4457225"/>
            <a:ext cx="7955280" cy="339242"/>
          </a:xfrm>
          <a:prstGeom prst="rect">
            <a:avLst/>
          </a:prstGeom>
          <a:noFill/>
          <a:ln/>
        </p:spPr>
        <p:txBody>
          <a:bodyPr wrap="square" rtlCol="0" anchor="ctr"/>
          <a:lstStyle/>
          <a:p>
            <a:pPr marL="0" indent="0">
              <a:buNone/>
            </a:pPr>
            <a:r>
              <a:rPr lang="en-US" sz="1250" dirty="0">
                <a:solidFill>
                  <a:srgbClr val="546E7A"/>
                </a:solidFill>
                <a:latin typeface="Calibri" pitchFamily="34" charset="0"/>
                <a:ea typeface="Calibri" pitchFamily="34" charset="-122"/>
                <a:cs typeface="Calibri" pitchFamily="34" charset="-120"/>
              </a:rPr>
              <a:t>Un representante expone el diagrama enriquecido. ¿Qué modelo es? ¿Qué protocolos usa? ¿Cuáles son los timestamps Lamport de su secuencia?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0BFA5"/>
          </a:solidFill>
          <a:ln w="12700">
            <a:solidFill>
              <a:srgbClr val="00BFA5"/>
            </a:solidFill>
            <a:prstDash val="solid"/>
          </a:ln>
        </p:spPr>
      </p:sp>
      <p:sp>
        <p:nvSpPr>
          <p:cNvPr id="3" name="Shape 1"/>
          <p:cNvSpPr/>
          <p:nvPr/>
        </p:nvSpPr>
        <p:spPr>
          <a:xfrm>
            <a:off x="457200" y="0"/>
            <a:ext cx="109728" cy="5143500"/>
          </a:xfrm>
          <a:prstGeom prst="rect">
            <a:avLst/>
          </a:prstGeom>
          <a:solidFill>
            <a:srgbClr val="1565C0"/>
          </a:solidFill>
          <a:ln w="12700">
            <a:solidFill>
              <a:srgbClr val="1565C0"/>
            </a:solidFill>
            <a:prstDash val="solid"/>
          </a:ln>
        </p:spPr>
      </p:sp>
      <p:sp>
        <p:nvSpPr>
          <p:cNvPr id="4" name="Text 2"/>
          <p:cNvSpPr/>
          <p:nvPr/>
        </p:nvSpPr>
        <p:spPr>
          <a:xfrm>
            <a:off x="713232" y="164592"/>
            <a:ext cx="8229600" cy="438912"/>
          </a:xfrm>
          <a:prstGeom prst="rect">
            <a:avLst/>
          </a:prstGeom>
          <a:noFill/>
          <a:ln/>
        </p:spPr>
        <p:txBody>
          <a:bodyPr wrap="square" rtlCol="0" anchor="ctr"/>
          <a:lstStyle/>
          <a:p>
            <a:pPr marL="0" indent="0">
              <a:buNone/>
            </a:pPr>
            <a:r>
              <a:rPr lang="en-US" sz="2400" b="1" dirty="0">
                <a:solidFill>
                  <a:srgbClr val="00BFA5"/>
                </a:solidFill>
                <a:latin typeface="Calibri" pitchFamily="34" charset="0"/>
                <a:ea typeface="Calibri" pitchFamily="34" charset="-122"/>
                <a:cs typeface="Calibri" pitchFamily="34" charset="-120"/>
              </a:rPr>
              <a:t>Resumen · Semana 3</a:t>
            </a:r>
            <a:endParaRPr lang="en-US" sz="2400" dirty="0"/>
          </a:p>
        </p:txBody>
      </p:sp>
      <p:sp>
        <p:nvSpPr>
          <p:cNvPr id="5" name="Text 3"/>
          <p:cNvSpPr/>
          <p:nvPr/>
        </p:nvSpPr>
        <p:spPr>
          <a:xfrm>
            <a:off x="713232" y="566928"/>
            <a:ext cx="8229600" cy="256032"/>
          </a:xfrm>
          <a:prstGeom prst="rect">
            <a:avLst/>
          </a:prstGeom>
          <a:noFill/>
          <a:ln/>
        </p:spPr>
        <p:txBody>
          <a:bodyPr wrap="square" rtlCol="0" anchor="ctr"/>
          <a:lstStyle/>
          <a:p>
            <a:pPr marL="0" indent="0">
              <a:buNone/>
            </a:pPr>
            <a:r>
              <a:rPr lang="en-US" sz="1200" i="1" dirty="0">
                <a:solidFill>
                  <a:srgbClr val="AAAAAA"/>
                </a:solidFill>
                <a:latin typeface="Calibri" pitchFamily="34" charset="0"/>
                <a:ea typeface="Calibri" pitchFamily="34" charset="-122"/>
                <a:cs typeface="Calibri" pitchFamily="34" charset="-120"/>
              </a:rPr>
              <a:t>Modelos y Comunicación en Sistemas Distribuidos — lo que llevan a la Práctica 1</a:t>
            </a:r>
            <a:endParaRPr lang="en-US" sz="1200" dirty="0"/>
          </a:p>
        </p:txBody>
      </p:sp>
      <p:sp>
        <p:nvSpPr>
          <p:cNvPr id="6" name="Text 4"/>
          <p:cNvSpPr/>
          <p:nvPr/>
        </p:nvSpPr>
        <p:spPr>
          <a:xfrm>
            <a:off x="713232" y="896112"/>
            <a:ext cx="8229600" cy="402336"/>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01  </a:t>
            </a:r>
            <a:r>
              <a:rPr lang="en-US" sz="1300" dirty="0">
                <a:solidFill>
                  <a:srgbClr val="FFFFFF"/>
                </a:solidFill>
                <a:latin typeface="Calibri" pitchFamily="34" charset="0"/>
                <a:ea typeface="Calibri" pitchFamily="34" charset="-122"/>
                <a:cs typeface="Calibri" pitchFamily="34" charset="-120"/>
              </a:rPr>
              <a:t>Modelos de SD: cliente-servidor (jerarquía), P2P (igualdad) e híbrido (combinación).</a:t>
            </a:r>
            <a:endParaRPr lang="en-US" sz="1600" dirty="0"/>
          </a:p>
        </p:txBody>
      </p:sp>
      <p:sp>
        <p:nvSpPr>
          <p:cNvPr id="7" name="Text 5"/>
          <p:cNvSpPr/>
          <p:nvPr/>
        </p:nvSpPr>
        <p:spPr>
          <a:xfrm>
            <a:off x="713232" y="1335024"/>
            <a:ext cx="8229600" cy="402336"/>
          </a:xfrm>
          <a:prstGeom prst="rect">
            <a:avLst/>
          </a:prstGeom>
          <a:noFill/>
          <a:ln/>
        </p:spPr>
        <p:txBody>
          <a:bodyPr wrap="square"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02  </a:t>
            </a:r>
            <a:r>
              <a:rPr lang="en-US" sz="1300" dirty="0">
                <a:solidFill>
                  <a:srgbClr val="FFFFFF"/>
                </a:solidFill>
                <a:latin typeface="Calibri" pitchFamily="34" charset="0"/>
                <a:ea typeface="Calibri" pitchFamily="34" charset="-122"/>
                <a:cs typeface="Calibri" pitchFamily="34" charset="-120"/>
              </a:rPr>
              <a:t>Sockets: punto extremo de comunicación. TCP garantiza entrega; UDP prioriza velocidad.</a:t>
            </a:r>
            <a:endParaRPr lang="en-US" sz="1600" dirty="0"/>
          </a:p>
        </p:txBody>
      </p:sp>
      <p:sp>
        <p:nvSpPr>
          <p:cNvPr id="8" name="Text 6"/>
          <p:cNvSpPr/>
          <p:nvPr/>
        </p:nvSpPr>
        <p:spPr>
          <a:xfrm>
            <a:off x="713232" y="1773936"/>
            <a:ext cx="8229600" cy="402336"/>
          </a:xfrm>
          <a:prstGeom prst="rect">
            <a:avLst/>
          </a:prstGeom>
          <a:noFill/>
          <a:ln/>
        </p:spPr>
        <p:txBody>
          <a:bodyPr wrap="square" rtlCol="0" anchor="ctr"/>
          <a:lstStyle/>
          <a:p>
            <a:pPr marL="0" indent="0">
              <a:buNone/>
            </a:pPr>
            <a:r>
              <a:rPr lang="en-US" sz="1600" b="1" dirty="0">
                <a:solidFill>
                  <a:srgbClr val="6A1B9A"/>
                </a:solidFill>
                <a:latin typeface="Calibri" pitchFamily="34" charset="0"/>
                <a:ea typeface="Calibri" pitchFamily="34" charset="-122"/>
                <a:cs typeface="Calibri" pitchFamily="34" charset="-120"/>
              </a:rPr>
              <a:t>03  </a:t>
            </a:r>
            <a:r>
              <a:rPr lang="en-US" sz="1300" dirty="0">
                <a:solidFill>
                  <a:srgbClr val="FFFFFF"/>
                </a:solidFill>
                <a:latin typeface="Calibri" pitchFamily="34" charset="0"/>
                <a:ea typeface="Calibri" pitchFamily="34" charset="-122"/>
                <a:cs typeface="Calibri" pitchFamily="34" charset="-120"/>
              </a:rPr>
              <a:t>RPC/RMI: hacen que una llamada remota se vea como una llamada local (stub + marshalling).</a:t>
            </a:r>
            <a:endParaRPr lang="en-US" sz="1600" dirty="0"/>
          </a:p>
        </p:txBody>
      </p:sp>
      <p:sp>
        <p:nvSpPr>
          <p:cNvPr id="9" name="Text 7"/>
          <p:cNvSpPr/>
          <p:nvPr/>
        </p:nvSpPr>
        <p:spPr>
          <a:xfrm>
            <a:off x="713232" y="2212848"/>
            <a:ext cx="8229600" cy="402336"/>
          </a:xfrm>
          <a:prstGeom prst="rect">
            <a:avLst/>
          </a:prstGeom>
          <a:noFill/>
          <a:ln/>
        </p:spPr>
        <p:txBody>
          <a:bodyPr wrap="square" rtlCol="0" anchor="ctr"/>
          <a:lstStyle/>
          <a:p>
            <a:pPr marL="0" indent="0">
              <a:buNone/>
            </a:pPr>
            <a:r>
              <a:rPr lang="en-US" sz="1600" b="1" dirty="0">
                <a:solidFill>
                  <a:srgbClr val="E65100"/>
                </a:solidFill>
                <a:latin typeface="Calibri" pitchFamily="34" charset="0"/>
                <a:ea typeface="Calibri" pitchFamily="34" charset="-122"/>
                <a:cs typeface="Calibri" pitchFamily="34" charset="-120"/>
              </a:rPr>
              <a:t>04  </a:t>
            </a:r>
            <a:r>
              <a:rPr lang="en-US" sz="1300" dirty="0">
                <a:solidFill>
                  <a:srgbClr val="FFFFFF"/>
                </a:solidFill>
                <a:latin typeface="Calibri" pitchFamily="34" charset="0"/>
                <a:ea typeface="Calibri" pitchFamily="34" charset="-122"/>
                <a:cs typeface="Calibri" pitchFamily="34" charset="-120"/>
              </a:rPr>
              <a:t>Middleware: capa de software que oculta la complejidad de red (MOM, ORB, API Gateway).</a:t>
            </a:r>
            <a:endParaRPr lang="en-US" sz="1600" dirty="0"/>
          </a:p>
        </p:txBody>
      </p:sp>
      <p:sp>
        <p:nvSpPr>
          <p:cNvPr id="10" name="Text 8"/>
          <p:cNvSpPr/>
          <p:nvPr/>
        </p:nvSpPr>
        <p:spPr>
          <a:xfrm>
            <a:off x="713232" y="2651760"/>
            <a:ext cx="8229600" cy="402336"/>
          </a:xfrm>
          <a:prstGeom prst="rect">
            <a:avLst/>
          </a:prstGeom>
          <a:noFill/>
          <a:ln/>
        </p:spPr>
        <p:txBody>
          <a:bodyPr wrap="square" rtlCol="0" anchor="ctr"/>
          <a:lstStyle/>
          <a:p>
            <a:pPr marL="0" indent="0">
              <a:buNone/>
            </a:pPr>
            <a:r>
              <a:rPr lang="en-US" sz="1600" b="1" dirty="0">
                <a:solidFill>
                  <a:srgbClr val="C62828"/>
                </a:solidFill>
                <a:latin typeface="Calibri" pitchFamily="34" charset="0"/>
                <a:ea typeface="Calibri" pitchFamily="34" charset="-122"/>
                <a:cs typeface="Calibri" pitchFamily="34" charset="-120"/>
              </a:rPr>
              <a:t>05  </a:t>
            </a:r>
            <a:r>
              <a:rPr lang="en-US" sz="1300" dirty="0">
                <a:solidFill>
                  <a:srgbClr val="FFFFFF"/>
                </a:solidFill>
                <a:latin typeface="Calibri" pitchFamily="34" charset="0"/>
                <a:ea typeface="Calibri" pitchFamily="34" charset="-122"/>
                <a:cs typeface="Calibri" pitchFamily="34" charset="-120"/>
              </a:rPr>
              <a:t>Lamport: relojes lógicos que ordenan eventos causalmente. 3 reglas. Implementación en Práctica 1.</a:t>
            </a:r>
            <a:endParaRPr lang="en-US" sz="1600" dirty="0"/>
          </a:p>
        </p:txBody>
      </p:sp>
      <p:sp>
        <p:nvSpPr>
          <p:cNvPr id="11" name="Shape 9"/>
          <p:cNvSpPr/>
          <p:nvPr/>
        </p:nvSpPr>
        <p:spPr>
          <a:xfrm>
            <a:off x="713232" y="3090672"/>
            <a:ext cx="8229600" cy="0"/>
          </a:xfrm>
          <a:prstGeom prst="line">
            <a:avLst/>
          </a:prstGeom>
          <a:noFill/>
          <a:ln w="12700">
            <a:solidFill>
              <a:srgbClr val="334455"/>
            </a:solidFill>
            <a:prstDash val="solid"/>
          </a:ln>
        </p:spPr>
      </p:sp>
      <p:sp>
        <p:nvSpPr>
          <p:cNvPr id="12" name="Text 10"/>
          <p:cNvSpPr/>
          <p:nvPr/>
        </p:nvSpPr>
        <p:spPr>
          <a:xfrm>
            <a:off x="713232" y="3145536"/>
            <a:ext cx="8229600" cy="329184"/>
          </a:xfrm>
          <a:prstGeom prst="rect">
            <a:avLst/>
          </a:prstGeom>
          <a:noFill/>
          <a:ln/>
        </p:spPr>
        <p:txBody>
          <a:bodyPr wrap="square" rtlCol="0" anchor="ctr"/>
          <a:lstStyle/>
          <a:p>
            <a:pPr marL="0" indent="0">
              <a:buNone/>
            </a:pPr>
            <a:r>
              <a:rPr lang="en-US" sz="1400" b="1" dirty="0">
                <a:solidFill>
                  <a:srgbClr val="00BFA5"/>
                </a:solidFill>
                <a:latin typeface="Calibri" pitchFamily="34" charset="0"/>
                <a:ea typeface="Calibri" pitchFamily="34" charset="-122"/>
                <a:cs typeface="Calibri" pitchFamily="34" charset="-120"/>
              </a:rPr>
              <a:t>📚  Tareas / Preparación para Semana 4 (Práctica GA-SUM-01)</a:t>
            </a:r>
            <a:endParaRPr lang="en-US" sz="1400" dirty="0"/>
          </a:p>
        </p:txBody>
      </p:sp>
      <p:sp>
        <p:nvSpPr>
          <p:cNvPr id="13" name="Text 11"/>
          <p:cNvSpPr/>
          <p:nvPr/>
        </p:nvSpPr>
        <p:spPr>
          <a:xfrm>
            <a:off x="713232" y="3529584"/>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Instalar Python 3.10+ y crear entorno virtual. Instalar: pip install grpcio grpcio-tools.</a:t>
            </a:r>
            <a:endParaRPr lang="en-US" sz="1150" dirty="0"/>
          </a:p>
        </p:txBody>
      </p:sp>
      <p:sp>
        <p:nvSpPr>
          <p:cNvPr id="14" name="Text 12"/>
          <p:cNvSpPr/>
          <p:nvPr/>
        </p:nvSpPr>
        <p:spPr>
          <a:xfrm>
            <a:off x="713232" y="3895344"/>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Leer: van Steen &amp; Tanenbaum Cap. 4 (Comunicación). Opcional: Lamport (1978) — enlace en el aula virtual.</a:t>
            </a:r>
            <a:endParaRPr lang="en-US" sz="1150" dirty="0"/>
          </a:p>
        </p:txBody>
      </p:sp>
      <p:sp>
        <p:nvSpPr>
          <p:cNvPr id="15" name="Text 13"/>
          <p:cNvSpPr/>
          <p:nvPr/>
        </p:nvSpPr>
        <p:spPr>
          <a:xfrm>
            <a:off x="713232" y="4261104"/>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FORM-TL-01: Taller — Modelado de Comunicación entre Procesos Distribuidos (entrega Semana 4).</a:t>
            </a:r>
            <a:endParaRPr lang="en-US" sz="1150" dirty="0"/>
          </a:p>
        </p:txBody>
      </p:sp>
      <p:sp>
        <p:nvSpPr>
          <p:cNvPr id="16" name="Text 14"/>
          <p:cNvSpPr/>
          <p:nvPr/>
        </p:nvSpPr>
        <p:spPr>
          <a:xfrm>
            <a:off x="713232" y="4626864"/>
            <a:ext cx="8229600" cy="329184"/>
          </a:xfrm>
          <a:prstGeom prst="rect">
            <a:avLst/>
          </a:prstGeom>
          <a:noFill/>
          <a:ln/>
        </p:spPr>
        <p:txBody>
          <a:bodyPr wrap="square" rtlCol="0" anchor="ctr"/>
          <a:lstStyle/>
          <a:p>
            <a:pPr marL="0" indent="0">
              <a:buNone/>
            </a:pPr>
            <a:r>
              <a:rPr lang="en-US" sz="1150" b="1" dirty="0">
                <a:solidFill>
                  <a:srgbClr val="00BFA5"/>
                </a:solidFill>
                <a:latin typeface="Calibri" pitchFamily="34" charset="0"/>
                <a:ea typeface="Calibri" pitchFamily="34" charset="-122"/>
                <a:cs typeface="Calibri" pitchFamily="34" charset="-120"/>
              </a:rPr>
              <a:t>▸ </a:t>
            </a:r>
            <a:r>
              <a:rPr lang="en-US" sz="1150" dirty="0">
                <a:solidFill>
                  <a:srgbClr val="CCCCCC"/>
                </a:solidFill>
                <a:latin typeface="Calibri" pitchFamily="34" charset="0"/>
                <a:ea typeface="Calibri" pitchFamily="34" charset="-122"/>
                <a:cs typeface="Calibri" pitchFamily="34" charset="-120"/>
              </a:rPr>
              <a:t>FORM-FB-01: Fichas Bibliográficas — completar con ≥2 fuentes sobre RPC/gRPC y Lamport en IEEE.</a:t>
            </a:r>
            <a:endParaRPr lang="en-US" sz="1150" dirty="0"/>
          </a:p>
        </p:txBody>
      </p:sp>
      <p:sp>
        <p:nvSpPr>
          <p:cNvPr id="17" name="Text 15"/>
          <p:cNvSpPr/>
          <p:nvPr/>
        </p:nvSpPr>
        <p:spPr>
          <a:xfrm>
            <a:off x="713232" y="4846320"/>
            <a:ext cx="8229600" cy="201168"/>
          </a:xfrm>
          <a:prstGeom prst="rect">
            <a:avLst/>
          </a:prstGeom>
          <a:noFill/>
          <a:ln/>
        </p:spPr>
        <p:txBody>
          <a:bodyPr wrap="square" rtlCol="0" anchor="ctr"/>
          <a:lstStyle/>
          <a:p>
            <a:pPr marL="0" indent="0">
              <a:buNone/>
            </a:pPr>
            <a:r>
              <a:rPr lang="en-US" sz="900" i="1" dirty="0">
                <a:solidFill>
                  <a:srgbClr val="888888"/>
                </a:solidFill>
                <a:latin typeface="Calibri" pitchFamily="34" charset="0"/>
                <a:ea typeface="Calibri" pitchFamily="34" charset="-122"/>
                <a:cs typeface="Calibri" pitchFamily="34" charset="-120"/>
              </a:rPr>
              <a:t>Próxima semana — Semana 4: Práctica GA-SUM-01 en laboratorio + Exposición + Entrega TA-PFC-E1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4725</Words>
  <Application>Microsoft Office PowerPoint</Application>
  <PresentationFormat>Presentación en pantalla (16:9)</PresentationFormat>
  <Paragraphs>237</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Aplicaciones Distribuidas — Semana 3</dc:title>
  <dc:subject>PptxGenJS Presentation</dc:subject>
  <dc:creator>UTEQ — Ing. de Software</dc:creator>
  <cp:lastModifiedBy>GLEISTON CICERON GUERRERO ULLOA</cp:lastModifiedBy>
  <cp:revision>3</cp:revision>
  <dcterms:created xsi:type="dcterms:W3CDTF">2026-05-19T12:26:09Z</dcterms:created>
  <dcterms:modified xsi:type="dcterms:W3CDTF">2026-05-21T16:08:52Z</dcterms:modified>
</cp:coreProperties>
</file>