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65" autoAdjust="0"/>
  </p:normalViewPr>
  <p:slideViewPr>
    <p:cSldViewPr snapToGrid="0" snapToObjects="1">
      <p:cViewPr varScale="1">
        <p:scale>
          <a:sx n="102" d="100"/>
          <a:sy n="102" d="100"/>
        </p:scale>
        <p:origin x="8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18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1: PORTADA SEMANA 4
NOVEDAD EN ESTA VERSIÓN: Las siglas y acrónimos se muestran con su expansión completa en todas las diapositivas donde aparecen por primera vez.
Esta semana cierra la Unidad 1 con los temas de coordinación: el problema de ponerse de acuerdo sin un árbitro central. Es también la semana de entrega de GA-SUM-01.
AGENDA:
1ª hora: Tema 5 — Coordinación y Consistencia (contenido nuevo)
2ª hora: Revisión solución GA-SUM-01, errores comunes
3ª hora: Exposiciones grupales (si aplica)
GLOSARIO COMPLETO disponible en la Slide 2 (nueva slide de referencia).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2: GLOSARIO (NUEVA SLIDE)
Esta diapositiva es de REFERENCIA PERMANENTE. Se puede dejar visible en una segunda pantalla durante toda la clase o proyectarla brevemente al inicio.
RECOMENDACIÓN: Proyectar 2 minutos antes de empezar la clase para que los estudiantes la vean y sepan que existe. Mencionar: 'Todo lo que vean en siglas hoy está explicado en esta diapositiva — si tienen dudas, aquí está la referencia'.
COMPLEMENTO: Las siguientes diapositivas también incluyen la expansión de cada sigla en el momento en que aparece por primera vez, así que NO es necesario volver a esta slide constantemente.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3: AGENDA
EXPANSIÓN DE SIGLAS EN SUB-TÍTULOS: los estudiantes verán en cada card tanto la sigla como su significado.
BLOQUE 01: CAP = Consistency, Availability, Partition tolerance. PACELC = Partition → Availability or Consistency, Else → Latency or Consistency.
BLOQUE 02: Algoritmos de coordinación — sin siglas principales nuevas.
BLOQUE 03: 2PC = Two-Phase Commit. SPOF = Single Point of Failure. WAL = Write-Ahead Log. 3PC = Three-Phase Commit.
BLOQUE 04: etcd = 'et cetera distributed' (nombre de la base de datos de configuración de Kubernetes).
GA-SUM-01 = Guía de Aprendizaje Sumativa número 01.
PE-U1 = Práctica Experimental de la Unidad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4 (antes slide 3): CONSISTENCIA
EXPANSIÓN DE SIGLAS EN ESTA SLIDE:
• CAP = Consistency (Consistencia) · Availability (Disponibilidad) · Partition tolerance (Tolerancia a Particiones)
• CP = Consistency + Partition tolerance
• AP = Availability + Partition tolerance
• CA = Consistency + Availability (solo posible sin distribución)
• PACELC = Partition→Availability/Consistency, Else→Latency/Consistency
• PA/EL = Partition=Availability, Else=Latency
• PC/EC = Partition=Consistency, Else=Consistency
• PC/EL = Partition=Consistency, Else=Latency (el 'graal')
PREGUNTA INTERACTIVA: '¿Qué prefieren para el sistema de calificaciones de la UTEQ cuando falla un servidor?'
→ AP para lectura (ver notas aunque estén 2s desactualizadas), CP para escritura (no cambiar nota sin que todos los nodos lo sepan).
PACELC ES MÁS ÚTIL en práctica porque el 99.9% del tiempo NO hay particiones. El trade-off real del día a día es latencia vs. consistencia en operación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5 (antes slide 4): ELECCIÓN DE LÍDER
EXPANSIÓN DE TÉRMINOS TÉCNICOS:
• heartbeat = latido de red. Mensaje periódico que el líder envía para indicar que sigue vivo. Si deja de llegar → timeout → nueva elección.
• ID = identificador numérico único del nodo
• ELECTION = mensaje de inicio de proceso de elección
• COORDINATOR = mensaje que anuncia quién es el nuevo líder
• O(n²) = complejidad cuadrática en número de mensajes (ej: 10 nodos → hasta 100 mensajes)
• O(n) = complejidad lineal (ej: 10 nodos → hasta 10 mensajes)
• etcd = 'et cetera distributed' — base de datos clave-valor distribuida usada por Kubernetes para almacenar su estado
ANALOGÍA BULLY: 5 empleados con jerarquía (IDs 1-5). El 2 dice 'yo decido'. El 3 dice 'yo tengo más autoridad'. El 4 dice 'yo más'. El 5 dice 'yo soy el jefe'. Si el 5 vuelve de vacaciones, interrumpe al 4 aunque esté funcionando bien → comportamiento 'bully' (acosador).
ANALOGÍA RING: una cadena de personas pasándose una nota con 'el candidato más calificado'. Cada persona: si mi nombre es más calificado → reemplázalo y pásalo; si no → pásalo tal cual. Cuando la nota vuelve con tu propio nombre → eres el elegido.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6 (antes slide 5): 2PC
EXPANSIÓN DE SIGLAS EN ESTA SLIDE:
• 2PC = Two-Phase Commit (Commit en Dos Fases) — protocolo de atomicidad distribuida
• 3PC = Three-Phase Commit (Commit en Tres Fases) — extensión del 2PC
• SPOF = Single Point of Failure (Punto Único de Fallo) — componente cuyo fallo detiene todo
• WAL = Write-Ahead Log (Log de Escritura Anticipada) — registro de transacciones previo al commit en disco
• ACID = Atomicity, Consistency, Isolation, Durability — propiedades de transacciones
• locks/bloqueos = mecanismo para que solo un proceso acceda a un recurso a la vez
• rollback = revertir los cambios de una transacción fallida
• AP = Availability + Partition tolerance (ver slide de CAP)
ANALOGÍA DEL MATRIMONIO (perfecta para 2PC):
- Fase 1 (Voting): El oficial pregunta a ambos novios ¿Acepta usted a X?
- Fase 2 (Decision): Si ambos dijeron SÍ → los declaro casados (COMMIT)
- PROBLEMA: Si el oficial (coordinador) se desmaya ENTRE las dos preguntas → ¿están o no casados? NADIE LO SABE. Los participantes están bloqueados esperando.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7 (antes slide 6): RAFT Y PAXOS
EXPANSIÓN DE SIGLAS Y TÉRMINOS TÉCNICOS EN INGLÉS:
• quórum = mayoría simple. Para n nodos: (n/2)+1. Ej: 3 nodos → quórum = 2. 5 nodos → quórum = 3.
• term (término) = período de liderazgo numerado. Cada vez que hay una nueva elección, el número de término aumenta.
• follower (seguidor) = nodo que recibe instrucciones del líder
• candidate (candidato) = nodo que inicia una elección
• leader (líder) = nodo que coordina todas las escrituras
• heartbeat (latido) = mensaje periódico que el líder envía para mantener su autoridad
• log (registro) = secuencia ordenada de operaciones a replicar
• committed (confirmado) = entrada en el log que ha sido aceptada por el quórum
• etcd = nombre propio, pronunciado 'et-si-di'. Significa 'etc distributed' — base de datos clave-valor de Kubernetes
• TiKV = Ti Key-Value — base de datos distribuida de TiDB
• Consul = herramienta de service discovery y configuración distribuida de HashiCorp
VER ANIMACIÓN RAFT (5 min obligatorios):
1. Estado normal: nodo verde (líder) enviando heartbeats verdes
2. Click derecho → Stop en el líder: ver timeout en followers, uno se convierte en candidato, pide votos, gana, nuevo líder
3. Create network partition: mostrar que el grupo minoritario NO puede elegir líder (no tiene quórum)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8 (antes slide 7): GA-SUM-01 INTRO
EXPANSIÓN DE SIGLAS EN ESTA SLIDE:
• GA-SUM-01 = Guía de Aprendizaje Sumativa número 01
• PE-U1 = Práctica Experimental Unidad 1
• gRPC = Google Remote Procedure Call
• TCP = Transmission Control Protocol
• SD = Sistema Distribuido
• CSV = Comma-Separated Values (formato de archivos de datos)
• DPI = Dots Per Inch (resolución de imagen — 300 DPI para LaTeX de calidad)
• PDF = Portable Document Format
• tex = extensión del archivo fuente LaTeX
• proto = extensión del archivo Protocol Buffers (contrato de API para gRPC)
• py = extensión de archivos Python
• md = extensión Markdown (README.md)
REGLAS CLAVE:
1. Cada integrante ≥3 commits significativos
2. .proto en el repositorio
3. CSV generados ejecutando el código
4. boxplot.png con DPI=300
5. Mínimo 10 páginas de contenido en el 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9 (antes slide 8): PROCEDIMIENTO
EXPANSIÓN DE SIGLAS EN LOS TÍTULOS DE PASOS:
• TCP = Transmission Control Protocol
• gRPC = Google Remote Procedure Call
• JSON = JavaScript Object Notation
• CSV = Comma-Separated Values
• DPI = Dots Per Inch
• std = standard deviation (desviación estándar)
• P95 = percentil 95 (el 95% de las mediciones son menores o iguales a este valor)
• PFC = Proyecto Fin de Curso
• TikZ = sistema de dibujo vectorial para LaTeX
• lstlisting = entorno de LaTeX para mostrar código fuente
• booktabs = paquete de LaTeX para tablas de calidad tipográfica
• \ref{} = comando LaTeX para referenciar figuras/tablas desde el texto
• IEEE = Institute of Electrical and Electronics Engineers
• DOI = Digital Object Identifier (identificador permanente de artículos científicos)
• pdflatex = compilador de LaTeX que genera PDF
• .tex = extensión del archivo fuente LaTeX
ERRORES MÁS COMUNES:
• Paso 2: No usar time.perf_counter() → en Windows time.time() puede tener resolución de 15ms
• Paso 3: No regenerar el código tras modificar el .proto
• Paso 5: LaTeX sin compilar localmente → error en entrega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10 (antes slide 9): CÓDIGO
EXPANSIÓN DE SIGLAS Y TÉRMINOS TÉCNICOS EN EL CÓDIGO:
• LC = Lamport Clock (Reloj Lógico de Lamport)
• pid = Process ID (Identificador de Proceso)
• ts = timestamp (marca temporal / sello de tiempo)
• RPC = Remote Procedure Call (Llamada a Procedimiento Remoto)
• PB = Protocol Buffers (sistema de serialización binaria de Google)
• proto3 = versión 3 de Protocol Buffers
• int64 = entero de 64 bits (necesario para timestamps de Lamport)
• perf_counter = performance counter (contador de alto rendimiento del SO)
• CSV = Comma-Separated Values
• DPI = Dots Per Inch (300 = calidad de impresión para PDF LaTeX)
• std = standard deviation (desviación estándar)
• P50 = percentil 50 = mediana (50% de valores son menores o iguales)
• P95 = percentil 95 (95% de valores son menores o iguales — el 'worst case' práctico)
• df = DataFrame (estructura de datos tabular de pandas)
• dpi=300 = resolución mínima para figuras en documentos LaTeX de calidad
PUNTOS CRÍTICOS DEL CÓDIGO:
1. tick() retorna self.lc — muchos olvidan el return
2. receive(ts) toma el ts del MENSAJE, no del reloj local
3. int64 para timestamp — no string ni float
4. time.perf_counter() no time.time()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— SLIDE 11: CIERRE
EXPANSIÓN FINAL DE SIGLAS EN EL RESUMEN:
• CAP = Consistency · Availability · Partition tolerance
• PACELC = Partition → Availability/Consistency, Else → Latency/Consistency
• 2PC = Two-Phase Commit
• SPOF = Single Point of Failure
• 3PC = Three-Phase Commit
• etcd = et cetera distributed
• TiKV = Ti Key-Value
• PFC = Proyecto Fin de Curso
• TCP = Transmission Control Protocol
• gRPC = Google Remote Procedure Call
• ANSA = Architecture for Networks of Systems and Applications
• LaTeX = Lamport's TeX (sistema de composición tipográfica)
PREGUNTAS DE CIERRE RÁPIDO (5 min):
1. ¿Qué significa CAP? → Consistency, Availability, Partition tolerance
2. ¿Por qué 2PC es bloqueante? → Los participantes mantienen WAL locks hasta la decisión del coordinador
3. ¿Cuántos votos necesita un candidato en Raft? → (n/2)+1 = quórum
4. ¿Qué ventaja da gRPC sobre sockets TCP? → Código generado automáticamente, PB 3-10x más compacto, HTTP/2
5. ¿Qué significa SPOF? → Single Point of Failure
SEMANA 5:
Inicio Unidad 2 — Arquitecturas Distribuidas. Instalar Docker Desktop antes de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4320"/>
            <a:ext cx="2286000" cy="502920"/>
          </a:xfrm>
          <a:prstGeom prst="rect">
            <a:avLst/>
          </a:prstGeom>
          <a:solidFill>
            <a:srgbClr val="0F5132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UTEQ · Ing. de Software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766560" y="274320"/>
            <a:ext cx="2103120" cy="50292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274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A2E"/>
                </a:solidFill>
              </a:rPr>
              <a:t>SEMANA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0C997"/>
                </a:solidFill>
              </a:rPr>
              <a:t>APLICACIONES DISTRIBUIDAS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Coordinación y Consistencia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en Sistemas Distribuidos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2286000" y="3108960"/>
            <a:ext cx="4572000" cy="4572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107"/>
                </a:solidFill>
              </a:rPr>
              <a:t>CAP</a:t>
            </a:r>
            <a:r>
              <a:rPr lang="en-US" sz="950" dirty="0">
                <a:solidFill>
                  <a:srgbClr val="94A3B8"/>
                </a:solidFill>
              </a:rPr>
              <a:t> (Consistency-Availability-Partition)  ·  </a:t>
            </a:r>
            <a:r>
              <a:rPr lang="en-US" sz="950" b="1" dirty="0">
                <a:solidFill>
                  <a:srgbClr val="FFC107"/>
                </a:solidFill>
              </a:rPr>
              <a:t>PACELC</a:t>
            </a:r>
            <a:r>
              <a:rPr lang="en-US" sz="950" dirty="0">
                <a:solidFill>
                  <a:srgbClr val="94A3B8"/>
                </a:solidFill>
              </a:rPr>
              <a:t> (Partition→A/C, Else→L/C)  ·  </a:t>
            </a:r>
            <a:r>
              <a:rPr lang="en-US" sz="950" b="1" dirty="0">
                <a:solidFill>
                  <a:srgbClr val="FFC107"/>
                </a:solidFill>
              </a:rPr>
              <a:t>2PC</a:t>
            </a:r>
            <a:r>
              <a:rPr lang="en-US" sz="950" dirty="0">
                <a:solidFill>
                  <a:srgbClr val="94A3B8"/>
                </a:solidFill>
              </a:rPr>
              <a:t> (Two-Phase Commit)  ·  Raft · Paxos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Unidad 1 · Semana 4  |  25 – 31 de Mayo del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0D2B1E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🎯 Resultado de Aprendizaje: </a:t>
            </a:r>
            <a:r>
              <a:rPr lang="en-US" sz="950" dirty="0">
                <a:solidFill>
                  <a:srgbClr val="FFFFFF"/>
                </a:solidFill>
              </a:rPr>
              <a:t>Analiza las características y principios de los SD</a:t>
            </a:r>
            <a:r>
              <a:rPr lang="en-US" sz="950" i="1" dirty="0">
                <a:solidFill>
                  <a:srgbClr val="64748B"/>
                </a:solidFill>
              </a:rPr>
              <a:t> (Sistemas Distribuidos)</a:t>
            </a:r>
            <a:r>
              <a:rPr lang="en-US" sz="950" dirty="0">
                <a:solidFill>
                  <a:srgbClr val="FFFFFF"/>
                </a:solidFill>
              </a:rPr>
              <a:t>, evaluando sus ventajas, limitaciones y retos desde una perspectiva crítica e interdisciplinaria.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71A2E"/>
                </a:solidFill>
              </a:rPr>
              <a:t>📖  Glosario de Siglas y Acrónimos — Semana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Todas las siglas usadas en esta sesión — expandidas y explicadas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61288"/>
            <a:ext cx="4160520" cy="475488"/>
          </a:xfrm>
          <a:prstGeom prst="rect">
            <a:avLst/>
          </a:prstGeom>
          <a:solidFill>
            <a:srgbClr val="0E2F1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197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SD</a:t>
            </a:r>
            <a:r>
              <a:rPr lang="en-US" sz="950" dirty="0">
                <a:solidFill>
                  <a:srgbClr val="FFC107"/>
                </a:solidFill>
              </a:rPr>
              <a:t> = Sistema Distribuido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Colección de nodos autónomos que aparecen al usuario como uno solo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42024"/>
            <a:ext cx="4160520" cy="475488"/>
          </a:xfrm>
          <a:prstGeom prst="rect">
            <a:avLst/>
          </a:prstGeom>
          <a:solidFill>
            <a:srgbClr val="0A231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786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CAP</a:t>
            </a:r>
            <a:r>
              <a:rPr lang="en-US" sz="950" dirty="0">
                <a:solidFill>
                  <a:srgbClr val="FFC107"/>
                </a:solidFill>
              </a:rPr>
              <a:t> = Consistency · Availability · Partition tolerance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8980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Teorema: imposible garantizar los 3 simultáneamente en SD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122760"/>
            <a:ext cx="4160520" cy="475488"/>
          </a:xfrm>
          <a:prstGeom prst="rect">
            <a:avLst/>
          </a:prstGeom>
          <a:solidFill>
            <a:srgbClr val="0E2F1E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1593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CP</a:t>
            </a:r>
            <a:r>
              <a:rPr lang="en-US" sz="950" dirty="0">
                <a:solidFill>
                  <a:srgbClr val="FFC107"/>
                </a:solidFill>
              </a:rPr>
              <a:t> = Consistency + Partition tolerance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3787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El sistema prefiere consistencia; puede rechazar peticiones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603496"/>
            <a:ext cx="4160520" cy="475488"/>
          </a:xfrm>
          <a:prstGeom prst="rect">
            <a:avLst/>
          </a:prstGeom>
          <a:solidFill>
            <a:srgbClr val="0A2318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6400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AP</a:t>
            </a:r>
            <a:r>
              <a:rPr lang="en-US" sz="950" dirty="0">
                <a:solidFill>
                  <a:srgbClr val="FFC107"/>
                </a:solidFill>
              </a:rPr>
              <a:t> = Availability + Partition tolerance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8595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El sistema siempre responde; datos pueden estar desactualizados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084232"/>
            <a:ext cx="4160520" cy="475488"/>
          </a:xfrm>
          <a:prstGeom prst="rect">
            <a:avLst/>
          </a:prstGeom>
          <a:solidFill>
            <a:srgbClr val="0E2F1E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20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PACELC</a:t>
            </a:r>
            <a:r>
              <a:rPr lang="en-US" sz="950" dirty="0">
                <a:solidFill>
                  <a:srgbClr val="FFC107"/>
                </a:solidFill>
              </a:rPr>
              <a:t> = Partition→Availability/Consistency, Else→Latency/Consistency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34026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Extensión del CAP que cubre operación normal (sin partición)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543691"/>
            <a:ext cx="4160520" cy="475488"/>
          </a:xfrm>
          <a:prstGeom prst="rect">
            <a:avLst/>
          </a:prstGeom>
          <a:solidFill>
            <a:srgbClr val="0A231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580267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PA/EL</a:t>
            </a:r>
            <a:r>
              <a:rPr lang="en-US" sz="950" dirty="0">
                <a:solidFill>
                  <a:srgbClr val="FFC107"/>
                </a:solidFill>
              </a:rPr>
              <a:t> = Partition=Availability, Else=Latency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799723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Ej: Cassandra, DynamoDB — siempre rápido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003166"/>
            <a:ext cx="4160520" cy="475488"/>
          </a:xfrm>
          <a:prstGeom prst="rect">
            <a:avLst/>
          </a:prstGeom>
          <a:solidFill>
            <a:srgbClr val="0E2F1E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03974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PC/EC</a:t>
            </a:r>
            <a:r>
              <a:rPr lang="en-US" sz="950" dirty="0">
                <a:solidFill>
                  <a:srgbClr val="FFC107"/>
                </a:solidFill>
              </a:rPr>
              <a:t> = Partition=Consistency, Else=Consistency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25919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Ej: HBase, ZooKeeper — nunca dato desactualizado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1161288"/>
            <a:ext cx="4160520" cy="475488"/>
          </a:xfrm>
          <a:prstGeom prst="rect">
            <a:avLst/>
          </a:prstGeom>
          <a:solidFill>
            <a:srgbClr val="1A1035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11978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2PC</a:t>
            </a:r>
            <a:r>
              <a:rPr lang="en-US" sz="900" dirty="0">
                <a:solidFill>
                  <a:srgbClr val="20C997"/>
                </a:solidFill>
              </a:rPr>
              <a:t> = Two-Phase Commit (Commit en Dos Fases)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18888" y="1417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Protocolo de atomicidad distribuida con coordinador central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635"/>
            <a:ext cx="4160520" cy="475488"/>
          </a:xfrm>
          <a:prstGeom prst="rect">
            <a:avLst/>
          </a:prstGeom>
          <a:solidFill>
            <a:srgbClr val="120D28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1655211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3PC</a:t>
            </a:r>
            <a:r>
              <a:rPr lang="en-US" sz="900" dirty="0">
                <a:solidFill>
                  <a:srgbClr val="20C997"/>
                </a:solidFill>
              </a:rPr>
              <a:t> = Three-Phase Commit (Commit en Tres Fases)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8888" y="1874667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Extiende 2PC con fase PRE-COMMIT para evitar bloqueo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113547"/>
            <a:ext cx="4160520" cy="475488"/>
          </a:xfrm>
          <a:prstGeom prst="rect">
            <a:avLst/>
          </a:prstGeom>
          <a:solidFill>
            <a:srgbClr val="1A10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18888" y="2150123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SPOF</a:t>
            </a:r>
            <a:r>
              <a:rPr lang="en-US" sz="900" dirty="0">
                <a:solidFill>
                  <a:srgbClr val="20C997"/>
                </a:solidFill>
              </a:rPr>
              <a:t> = Single Point of Failure (Punto Único de Fallo)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2369579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Componente cuyo fallo detiene todo el sistema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547"/>
            <a:ext cx="4160520" cy="475488"/>
          </a:xfrm>
          <a:prstGeom prst="rect">
            <a:avLst/>
          </a:prstGeom>
          <a:solidFill>
            <a:srgbClr val="120D28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2652123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WAL</a:t>
            </a:r>
            <a:r>
              <a:rPr lang="en-US" sz="900" dirty="0">
                <a:solidFill>
                  <a:srgbClr val="20C997"/>
                </a:solidFill>
              </a:rPr>
              <a:t> = Write-Ahead Log (Log de Escritura Anticipada)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18888" y="2871579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Registro de transacciones previo al commit en disco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3062964"/>
            <a:ext cx="4160520" cy="475488"/>
          </a:xfrm>
          <a:prstGeom prst="rect">
            <a:avLst/>
          </a:prstGeom>
          <a:solidFill>
            <a:srgbClr val="1A1035"/>
          </a:solidFill>
          <a:ln/>
        </p:spPr>
      </p:sp>
      <p:sp>
        <p:nvSpPr>
          <p:cNvPr id="39" name="Text 37"/>
          <p:cNvSpPr/>
          <p:nvPr/>
        </p:nvSpPr>
        <p:spPr>
          <a:xfrm>
            <a:off x="4818888" y="3104503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ACID</a:t>
            </a:r>
            <a:r>
              <a:rPr lang="en-US" sz="900" dirty="0">
                <a:solidFill>
                  <a:srgbClr val="20C997"/>
                </a:solidFill>
              </a:rPr>
              <a:t> = Atomicity, Consistency, Isolation, Durability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18888" y="33189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Propiedades de las transacciones de bases de datos relacionales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3550792"/>
            <a:ext cx="4160520" cy="475488"/>
          </a:xfrm>
          <a:prstGeom prst="rect">
            <a:avLst/>
          </a:prstGeom>
          <a:solidFill>
            <a:srgbClr val="120D28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35873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RPC</a:t>
            </a:r>
            <a:r>
              <a:rPr lang="en-US" sz="900" dirty="0">
                <a:solidFill>
                  <a:srgbClr val="20C997"/>
                </a:solidFill>
              </a:rPr>
              <a:t> = Remote Procedure Call (Llamada a Procedimiento Remoto)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18888" y="38068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Invocar una función en otro proceso como si fuera local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4038608"/>
            <a:ext cx="4160520" cy="475488"/>
          </a:xfrm>
          <a:prstGeom prst="rect">
            <a:avLst/>
          </a:prstGeom>
          <a:solidFill>
            <a:srgbClr val="1A1035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40751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gRPC</a:t>
            </a:r>
            <a:r>
              <a:rPr lang="en-US" sz="900" dirty="0">
                <a:solidFill>
                  <a:srgbClr val="20C997"/>
                </a:solidFill>
              </a:rPr>
              <a:t> = Google Remote Procedure Call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18888" y="4294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Implementación moderna de RPC con Protocol Buffers y HTTP/2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56392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C107"/>
                </a:solidFill>
              </a:rPr>
              <a:t>TCP</a:t>
            </a:r>
            <a:r>
              <a:rPr lang="en-US" sz="800" dirty="0">
                <a:solidFill>
                  <a:srgbClr val="64748B"/>
                </a:solidFill>
              </a:rPr>
              <a:t> Transmission Control Protocol  ·  </a:t>
            </a:r>
            <a:r>
              <a:rPr lang="en-US" sz="800" b="1" dirty="0">
                <a:solidFill>
                  <a:srgbClr val="FFC107"/>
                </a:solidFill>
              </a:rPr>
              <a:t>UDP</a:t>
            </a:r>
            <a:r>
              <a:rPr lang="en-US" sz="800" dirty="0">
                <a:solidFill>
                  <a:srgbClr val="64748B"/>
                </a:solidFill>
              </a:rPr>
              <a:t> User Datagram Protocol  ·  </a:t>
            </a:r>
            <a:r>
              <a:rPr lang="en-US" sz="800" b="1" dirty="0">
                <a:solidFill>
                  <a:srgbClr val="FFC107"/>
                </a:solidFill>
              </a:rPr>
              <a:t>HTTP</a:t>
            </a:r>
            <a:r>
              <a:rPr lang="en-US" sz="800" dirty="0">
                <a:solidFill>
                  <a:srgbClr val="64748B"/>
                </a:solidFill>
              </a:rPr>
              <a:t> HyperText Transfer Protocol  ·  </a:t>
            </a:r>
            <a:r>
              <a:rPr lang="en-US" sz="800" b="1" dirty="0">
                <a:solidFill>
                  <a:srgbClr val="FFC107"/>
                </a:solidFill>
              </a:rPr>
              <a:t>JSON</a:t>
            </a:r>
            <a:r>
              <a:rPr lang="en-US" sz="800" dirty="0">
                <a:solidFill>
                  <a:srgbClr val="64748B"/>
                </a:solidFill>
              </a:rPr>
              <a:t> JavaScript Object Notation  ·  </a:t>
            </a:r>
            <a:r>
              <a:rPr lang="en-US" sz="800" b="1" dirty="0">
                <a:solidFill>
                  <a:srgbClr val="FFC107"/>
                </a:solidFill>
              </a:rPr>
              <a:t>CSV</a:t>
            </a:r>
            <a:r>
              <a:rPr lang="en-US" sz="800" dirty="0">
                <a:solidFill>
                  <a:srgbClr val="64748B"/>
                </a:solidFill>
              </a:rPr>
              <a:t> Comma-Separated Values  ·  </a:t>
            </a:r>
            <a:r>
              <a:rPr lang="en-US" sz="800" b="1" dirty="0">
                <a:solidFill>
                  <a:srgbClr val="FFC107"/>
                </a:solidFill>
              </a:rPr>
              <a:t>DOI</a:t>
            </a:r>
            <a:r>
              <a:rPr lang="en-US" sz="800" dirty="0">
                <a:solidFill>
                  <a:srgbClr val="64748B"/>
                </a:solidFill>
              </a:rPr>
              <a:t> Digital Object Identifier  ·  </a:t>
            </a:r>
            <a:r>
              <a:rPr lang="en-US" sz="800" b="1" dirty="0">
                <a:solidFill>
                  <a:srgbClr val="FFC107"/>
                </a:solidFill>
              </a:rPr>
              <a:t>DPI</a:t>
            </a:r>
            <a:r>
              <a:rPr lang="en-US" sz="800" dirty="0">
                <a:solidFill>
                  <a:srgbClr val="64748B"/>
                </a:solidFill>
              </a:rPr>
              <a:t> Dots Per Inch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8463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4808903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— Semana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6642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5132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Consistencia — CAP y PACELC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Consistency·Availability·Partition  |  Partition→A/C, Else→L/C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91440" cy="166420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4D92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17099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Algoritmos de Coordinación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Elección de líder: Bully y Ring · Exclusión mutua distribuida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62072"/>
            <a:ext cx="411480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62072"/>
            <a:ext cx="91440" cy="166420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9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04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Transacciones — 2PC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Two-Phase Commit · SPOF · WAL · Alternativas: 3PC, Saga, Raft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862072"/>
            <a:ext cx="411480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62072"/>
            <a:ext cx="91440" cy="1664208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992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F42C1"/>
                </a:solidFill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1A2E"/>
                </a:solidFill>
              </a:rPr>
              <a:t>Consenso: Raft y Paxos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59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Quórum (n/2+1) · Replicación de log · Uso en etcd, CockroachDB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516855"/>
            <a:ext cx="841248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35143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5800"/>
                </a:solidFill>
              </a:rPr>
              <a:t>⚠️  HOY también: GA-SUM-01 (Guía de Aprendizaje Sumativa) · PE-U1 (Práctica Experimental Unidad 1) — entrega y revisión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48675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8675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 · Consistencia — </a:t>
            </a:r>
            <a:r>
              <a:rPr lang="en-US" sz="2800" b="1" dirty="0">
                <a:solidFill>
                  <a:srgbClr val="FFC107"/>
                </a:solidFill>
              </a:rPr>
              <a:t>CAP</a:t>
            </a:r>
            <a:r>
              <a:rPr lang="en-US" sz="2800" dirty="0">
                <a:solidFill>
                  <a:srgbClr val="A7F3D0"/>
                </a:solidFill>
              </a:rPr>
              <a:t> (Consistency · Availability · Partition tolerance)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Tres modelos de consistencia — cuánto garantiza el SD sobre el valor que devuelve: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7432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2743200" cy="54864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71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</a:rPr>
              <a:t>Linearizabilidad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</a:rPr>
              <a:t>(Consistencia fuerte)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A2E"/>
                </a:solidFill>
              </a:rPr>
              <a:t>Cada operación parece ejecutarse atómicamente. Como si existiera un único servidor. Todos los clientes ven el mismo valor al mismo tiempo.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6517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Costo: </a:t>
            </a:r>
            <a:r>
              <a:rPr lang="en-US" sz="1200" dirty="0">
                <a:solidFill>
                  <a:schemeClr val="bg1"/>
                </a:solidFill>
              </a:rPr>
              <a:t>Alta latencia — requiere consenso (Raft/Paxos)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C3545"/>
                </a:solidFill>
              </a:rPr>
              <a:t>Ej: </a:t>
            </a:r>
            <a:r>
              <a:rPr lang="en-US" sz="1000" i="1" dirty="0">
                <a:solidFill>
                  <a:srgbClr val="64748B"/>
                </a:solidFill>
              </a:rPr>
              <a:t>CockroachDB, Google Spanner, ZooKeeper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07008"/>
            <a:ext cx="27432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207008"/>
            <a:ext cx="27432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271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04"/>
                </a:solidFill>
              </a:rPr>
              <a:t>Consistencia causal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7739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A2E"/>
                </a:solidFill>
              </a:rPr>
              <a:t>Operaciones causalmente relacionadas se ven en el mismo orden. Concurrentes pueden verse diferente en nodos distintos.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578608"/>
            <a:ext cx="26517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Costo: </a:t>
            </a:r>
            <a:r>
              <a:rPr lang="en-US" sz="1200" dirty="0">
                <a:solidFill>
                  <a:schemeClr val="bg1"/>
                </a:solidFill>
              </a:rPr>
              <a:t>Latencia media — requiere relojes vectoriales</a:t>
            </a:r>
          </a:p>
        </p:txBody>
      </p:sp>
      <p:sp>
        <p:nvSpPr>
          <p:cNvPr id="18" name="Text 16"/>
          <p:cNvSpPr/>
          <p:nvPr/>
        </p:nvSpPr>
        <p:spPr>
          <a:xfrm>
            <a:off x="329184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85D04"/>
                </a:solidFill>
              </a:rPr>
              <a:t>Ej: </a:t>
            </a:r>
            <a:r>
              <a:rPr lang="en-US" sz="1000" i="1" dirty="0">
                <a:solidFill>
                  <a:srgbClr val="64748B"/>
                </a:solidFill>
              </a:rPr>
              <a:t>MongoDB (causal session), DynamoDB (conditional writes)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07008"/>
            <a:ext cx="27432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07008"/>
            <a:ext cx="2743200" cy="54864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71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132"/>
                </a:solidFill>
              </a:rPr>
              <a:t>Consistencia eventual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7739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1A2E"/>
                </a:solidFill>
              </a:rPr>
              <a:t>Si no hay más escrituras, todas las réplicas convergen al mismo valor eventualmente. Sin garantía de cuándo.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578608"/>
            <a:ext cx="26517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5968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Costo: </a:t>
            </a:r>
            <a:r>
              <a:rPr lang="en-US" sz="1200" dirty="0">
                <a:solidFill>
                  <a:schemeClr val="bg1"/>
                </a:solidFill>
              </a:rPr>
              <a:t>Baja latencia — alta disponibilidad</a:t>
            </a:r>
          </a:p>
        </p:txBody>
      </p:sp>
      <p:sp>
        <p:nvSpPr>
          <p:cNvPr id="25" name="Text 23"/>
          <p:cNvSpPr/>
          <p:nvPr/>
        </p:nvSpPr>
        <p:spPr>
          <a:xfrm>
            <a:off x="621792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F5132"/>
                </a:solidFill>
              </a:rPr>
              <a:t>Ej: </a:t>
            </a:r>
            <a:r>
              <a:rPr lang="en-US" sz="1000" i="1" dirty="0">
                <a:solidFill>
                  <a:srgbClr val="64748B"/>
                </a:solidFill>
              </a:rPr>
              <a:t>Cassandra, DynamoDB (default), CouchDB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4114800" cy="1554480"/>
          </a:xfrm>
          <a:prstGeom prst="rect">
            <a:avLst/>
          </a:prstGeom>
          <a:solidFill>
            <a:srgbClr val="0D2B1E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11082"/>
            <a:ext cx="3931920" cy="44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C997"/>
                </a:solidFill>
              </a:rPr>
              <a:t>Teorema CAP</a:t>
            </a:r>
            <a:r>
              <a:rPr lang="en-US" i="1" dirty="0">
                <a:solidFill>
                  <a:srgbClr val="64748B"/>
                </a:solidFill>
              </a:rPr>
              <a:t>  (Brewer, 2000 — demostrado por Gilbert &amp; Lynch, 2002)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5760" y="401421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</a:rPr>
              <a:t>P</a:t>
            </a:r>
            <a:r>
              <a:rPr lang="en-US" sz="900" dirty="0">
                <a:solidFill>
                  <a:srgbClr val="94A3B8"/>
                </a:solidFill>
              </a:rPr>
              <a:t> (Partition) no es opcional — las redes siempre pueden fallar:
</a:t>
            </a:r>
            <a:r>
              <a:rPr lang="en-US" sz="900" b="1" dirty="0">
                <a:solidFill>
                  <a:srgbClr val="20C997"/>
                </a:solidFill>
              </a:rPr>
              <a:t>CP</a:t>
            </a:r>
            <a:r>
              <a:rPr lang="en-US" sz="900" dirty="0">
                <a:solidFill>
                  <a:srgbClr val="94A3B8"/>
                </a:solidFill>
              </a:rPr>
              <a:t> = C+P: bloquear hasta consistencia (HBase, CockroachDB)
</a:t>
            </a:r>
            <a:r>
              <a:rPr lang="en-US" sz="900" b="1" dirty="0">
                <a:solidFill>
                  <a:srgbClr val="059669"/>
                </a:solidFill>
              </a:rPr>
              <a:t>AP</a:t>
            </a:r>
            <a:r>
              <a:rPr lang="en-US" sz="900" dirty="0">
                <a:solidFill>
                  <a:srgbClr val="94A3B8"/>
                </a:solidFill>
              </a:rPr>
              <a:t> = A+P: responder aunque datos sean viejos (Cassandra)
</a:t>
            </a:r>
            <a:r>
              <a:rPr lang="en-US" sz="900" b="1" dirty="0">
                <a:solidFill>
                  <a:srgbClr val="DC3545"/>
                </a:solidFill>
              </a:rPr>
              <a:t>CA</a:t>
            </a:r>
            <a:r>
              <a:rPr lang="en-US" sz="900" dirty="0">
                <a:solidFill>
                  <a:srgbClr val="94A3B8"/>
                </a:solidFill>
              </a:rPr>
              <a:t> = C+A: solo con 1 nodo — imposible en SD real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4114800" cy="1554480"/>
          </a:xfrm>
          <a:prstGeom prst="rect">
            <a:avLst/>
          </a:prstGeom>
          <a:solidFill>
            <a:srgbClr val="1A1035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346704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42C1"/>
                </a:solidFill>
              </a:rPr>
              <a:t>PACELC</a:t>
            </a:r>
            <a:r>
              <a:rPr lang="en-US" i="1" dirty="0">
                <a:solidFill>
                  <a:srgbClr val="64748B"/>
                </a:solidFill>
              </a:rPr>
              <a:t>  (Abadi, 2012) — mejora del CAP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6320" y="3849624"/>
            <a:ext cx="3931920" cy="941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If </a:t>
            </a:r>
            <a:r>
              <a:rPr lang="en-US" sz="900" b="1" dirty="0">
                <a:solidFill>
                  <a:srgbClr val="FFC107"/>
                </a:solidFill>
              </a:rPr>
              <a:t>P</a:t>
            </a:r>
            <a:r>
              <a:rPr lang="en-US" sz="900" dirty="0">
                <a:solidFill>
                  <a:srgbClr val="94A3B8"/>
                </a:solidFill>
              </a:rPr>
              <a:t>artition: elegir </a:t>
            </a:r>
            <a:r>
              <a:rPr lang="en-US" sz="900" b="1" dirty="0">
                <a:solidFill>
                  <a:srgbClr val="FFC107"/>
                </a:solidFill>
              </a:rPr>
              <a:t>A</a:t>
            </a:r>
            <a:r>
              <a:rPr lang="en-US" sz="900" dirty="0">
                <a:solidFill>
                  <a:srgbClr val="94A3B8"/>
                </a:solidFill>
              </a:rPr>
              <a:t>vailability OR </a:t>
            </a:r>
            <a:r>
              <a:rPr lang="en-US" sz="900" b="1" dirty="0">
                <a:solidFill>
                  <a:srgbClr val="FFC107"/>
                </a:solidFill>
              </a:rPr>
              <a:t>C</a:t>
            </a:r>
            <a:r>
              <a:rPr lang="en-US" sz="900" dirty="0">
                <a:solidFill>
                  <a:srgbClr val="94A3B8"/>
                </a:solidFill>
              </a:rPr>
              <a:t>onsistency
</a:t>
            </a:r>
            <a:r>
              <a:rPr lang="en-US" sz="900" b="1" dirty="0">
                <a:solidFill>
                  <a:srgbClr val="6F42C1"/>
                </a:solidFill>
              </a:rPr>
              <a:t>E</a:t>
            </a:r>
            <a:r>
              <a:rPr lang="en-US" sz="900" dirty="0">
                <a:solidFill>
                  <a:srgbClr val="94A3B8"/>
                </a:solidFill>
              </a:rPr>
              <a:t>lse: elegir </a:t>
            </a:r>
            <a:r>
              <a:rPr lang="en-US" sz="900" b="1" dirty="0">
                <a:solidFill>
                  <a:srgbClr val="6F42C1"/>
                </a:solidFill>
              </a:rPr>
              <a:t>L</a:t>
            </a:r>
            <a:r>
              <a:rPr lang="en-US" sz="900" dirty="0">
                <a:solidFill>
                  <a:srgbClr val="94A3B8"/>
                </a:solidFill>
              </a:rPr>
              <a:t>atency OR </a:t>
            </a:r>
            <a:r>
              <a:rPr lang="en-US" sz="900" b="1" dirty="0">
                <a:solidFill>
                  <a:srgbClr val="6F42C1"/>
                </a:solidFill>
              </a:rPr>
              <a:t>C</a:t>
            </a:r>
            <a:r>
              <a:rPr lang="en-US" sz="900" dirty="0">
                <a:solidFill>
                  <a:srgbClr val="94A3B8"/>
                </a:solidFill>
              </a:rPr>
              <a:t>onsistency
</a:t>
            </a:r>
            <a:r>
              <a:rPr lang="en-US" sz="900" b="1" dirty="0">
                <a:solidFill>
                  <a:srgbClr val="94A3B8"/>
                </a:solidFill>
              </a:rPr>
              <a:t>PA/EL: </a:t>
            </a:r>
            <a:r>
              <a:rPr lang="en-US" sz="900" dirty="0">
                <a:solidFill>
                  <a:srgbClr val="94A3B8"/>
                </a:solidFill>
              </a:rPr>
              <a:t>Cassandra, DynamoDB
</a:t>
            </a:r>
            <a:r>
              <a:rPr lang="en-US" sz="900" b="1" dirty="0">
                <a:solidFill>
                  <a:srgbClr val="94A3B8"/>
                </a:solidFill>
              </a:rPr>
              <a:t>PC/EC: </a:t>
            </a:r>
            <a:r>
              <a:rPr lang="en-US" sz="900" dirty="0">
                <a:solidFill>
                  <a:srgbClr val="94A3B8"/>
                </a:solidFill>
              </a:rPr>
              <a:t>HBase, ZooKeeper
</a:t>
            </a:r>
            <a:r>
              <a:rPr lang="en-US" sz="900" b="1" dirty="0">
                <a:solidFill>
                  <a:srgbClr val="6F42C1"/>
                </a:solidFill>
              </a:rPr>
              <a:t>PC/EL: </a:t>
            </a:r>
            <a:r>
              <a:rPr lang="en-US" sz="900" dirty="0">
                <a:solidFill>
                  <a:srgbClr val="94A3B8"/>
                </a:solidFill>
              </a:rPr>
              <a:t>CockroachDB, Spanner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66013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02 · Algoritmos de Coordinación — Elección de Líder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530352"/>
          </a:xfrm>
          <a:prstGeom prst="rect">
            <a:avLst/>
          </a:prstGeom>
          <a:solidFill>
            <a:srgbClr val="E8F4FD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4D92"/>
                </a:solidFill>
              </a:rPr>
              <a:t>¿Por qué un líder? </a:t>
            </a:r>
            <a:r>
              <a:rPr lang="en-US" sz="1100" dirty="0">
                <a:solidFill>
                  <a:srgbClr val="071A2E"/>
                </a:solidFill>
              </a:rPr>
              <a:t>En un SD</a:t>
            </a:r>
            <a:r>
              <a:rPr lang="en-US" sz="1100" i="1" dirty="0">
                <a:solidFill>
                  <a:srgbClr val="0E4D92"/>
                </a:solidFill>
              </a:rPr>
              <a:t> (Sistema Distribuido) </a:t>
            </a:r>
            <a:r>
              <a:rPr lang="en-US" sz="1100" dirty="0">
                <a:solidFill>
                  <a:srgbClr val="071A2E"/>
                </a:solidFill>
              </a:rPr>
              <a:t>sin coordinador central, los procesos no pueden ponerse de acuerdo en el orden de operaciones. Un líder activo resuelve esto: si cae, los nodos eligen uno nuevo automáticamente vía </a:t>
            </a:r>
            <a:r>
              <a:rPr lang="en-US" sz="1100" b="1" dirty="0">
                <a:solidFill>
                  <a:srgbClr val="0E4D92"/>
                </a:solidFill>
              </a:rPr>
              <a:t>heartbeats</a:t>
            </a:r>
            <a:r>
              <a:rPr lang="en-US" sz="1100" dirty="0">
                <a:solidFill>
                  <a:srgbClr val="071A2E"/>
                </a:solidFill>
              </a:rPr>
              <a:t> (latidos de red — mensajes periódicos que indican que el líder sigue activo).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83384"/>
            <a:ext cx="4114800" cy="2969744"/>
          </a:xfrm>
          <a:prstGeom prst="rect">
            <a:avLst/>
          </a:prstGeom>
          <a:solidFill>
            <a:srgbClr val="FFF5F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90472"/>
            <a:ext cx="411480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0876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🥊 Algoritmo Bully (García-Molina, 1982)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Premisa: </a:t>
            </a:r>
            <a:r>
              <a:rPr lang="en-US" sz="1000" dirty="0">
                <a:solidFill>
                  <a:srgbClr val="071A2E"/>
                </a:solidFill>
              </a:rPr>
              <a:t>Cada nodo tiene un ID numérico. El nodo con mayor ID es el líder.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323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Paso 1: </a:t>
            </a:r>
            <a:r>
              <a:rPr lang="en-US" sz="1000" dirty="0">
                <a:solidFill>
                  <a:srgbClr val="071A2E"/>
                </a:solidFill>
              </a:rPr>
              <a:t>Nodo P detecta caída del líder (timeout del heartbeat — sin respuesta en T ms).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17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Paso 2: </a:t>
            </a:r>
            <a:r>
              <a:rPr lang="en-US" sz="1000" dirty="0">
                <a:solidFill>
                  <a:srgbClr val="071A2E"/>
                </a:solidFill>
              </a:rPr>
              <a:t>P envía mensaje ELECTION a todos los nodos con ID &gt; P.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4153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Paso 3: </a:t>
            </a:r>
            <a:r>
              <a:rPr lang="en-US" sz="1000" dirty="0">
                <a:solidFill>
                  <a:srgbClr val="071A2E"/>
                </a:solidFill>
              </a:rPr>
              <a:t>Si ninguno responde OK → P se proclama líder, envía COORDINATOR a todos.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3467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Paso 4: </a:t>
            </a:r>
            <a:r>
              <a:rPr lang="en-US" sz="1000" dirty="0">
                <a:solidFill>
                  <a:srgbClr val="071A2E"/>
                </a:solidFill>
              </a:rPr>
              <a:t>Si alguno responde OK → ese nodo con mayor ID reinicia el proceso.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Problema: </a:t>
            </a:r>
            <a:r>
              <a:rPr lang="en-US" sz="1000" dirty="0">
                <a:solidFill>
                  <a:srgbClr val="071A2E"/>
                </a:solidFill>
              </a:rPr>
              <a:t>Si el nodo de mayor ID se recupera, interrumpe al líder vigente → 'agresivo'.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05901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Complejidad: </a:t>
            </a:r>
            <a:r>
              <a:rPr lang="en-US" sz="1000" dirty="0">
                <a:solidFill>
                  <a:srgbClr val="071A2E"/>
                </a:solidFill>
              </a:rPr>
              <a:t>O(n²) mensajes — n = número de nodos en el clúster.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90472"/>
            <a:ext cx="4114800" cy="2969744"/>
          </a:xfrm>
          <a:prstGeom prst="rect">
            <a:avLst/>
          </a:prstGeom>
          <a:solidFill>
            <a:srgbClr val="F0FFF4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490472"/>
            <a:ext cx="4114800" cy="41148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08760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💍 Algoritmo Ring (Chang-Roberts, 1979)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Premisa: </a:t>
            </a:r>
            <a:r>
              <a:rPr lang="en-US" sz="1000" dirty="0">
                <a:solidFill>
                  <a:srgbClr val="071A2E"/>
                </a:solidFill>
              </a:rPr>
              <a:t>Nodos organizados en anillo lógico (no físico) ordenado por ID.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2811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Paso 1: </a:t>
            </a:r>
            <a:r>
              <a:rPr lang="en-US" sz="1000" dirty="0">
                <a:solidFill>
                  <a:srgbClr val="071A2E"/>
                </a:solidFill>
              </a:rPr>
              <a:t>Cualquier nodo detecta la caída e inicia ELECTION enviando su ID al vecino derecho.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64602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Paso 2: </a:t>
            </a:r>
            <a:r>
              <a:rPr lang="en-US" sz="1000" dirty="0">
                <a:solidFill>
                  <a:srgbClr val="071A2E"/>
                </a:solidFill>
              </a:rPr>
              <a:t>Cada nodo compara el ID recibido con el suyo; pasa el mayor al siguiente.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01795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Paso 3: </a:t>
            </a:r>
            <a:r>
              <a:rPr lang="en-US" sz="1000" dirty="0">
                <a:solidFill>
                  <a:srgbClr val="071A2E"/>
                </a:solidFill>
              </a:rPr>
              <a:t>Cuando el ID del iniciador da la vuelta completa → él es el líder elegido.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3756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Paso 4: </a:t>
            </a:r>
            <a:r>
              <a:rPr lang="en-US" sz="1000" dirty="0">
                <a:solidFill>
                  <a:srgbClr val="071A2E"/>
                </a:solidFill>
              </a:rPr>
              <a:t>El nuevo líder envía COORDINATOR al anillo para notificar a todos.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69653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Ventaja: </a:t>
            </a:r>
            <a:r>
              <a:rPr lang="en-US" sz="1000" dirty="0">
                <a:solidFill>
                  <a:srgbClr val="071A2E"/>
                </a:solidFill>
              </a:rPr>
              <a:t>O(n) mensajes — n veces más eficiente que Bully.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4027403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5132"/>
                </a:solidFill>
              </a:rPr>
              <a:t>Problema: </a:t>
            </a:r>
            <a:r>
              <a:rPr lang="en-US" sz="1000" dirty="0">
                <a:solidFill>
                  <a:srgbClr val="071A2E"/>
                </a:solidFill>
              </a:rPr>
              <a:t>Si el anillo se rompe (nodo intermedio cae), el mensaje ELECTION se pierde.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527144"/>
            <a:ext cx="8595360" cy="347472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45429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</a:rPr>
              <a:t>🏭 Uso industrial: </a:t>
            </a:r>
            <a:r>
              <a:rPr lang="en-US" sz="1050" dirty="0">
                <a:solidFill>
                  <a:srgbClr val="94A3B8"/>
                </a:solidFill>
              </a:rPr>
              <a:t>ZooKeeper (Paxos-like)  ·  etcd</a:t>
            </a:r>
            <a:r>
              <a:rPr lang="en-US" sz="1050" i="1" dirty="0">
                <a:solidFill>
                  <a:srgbClr val="64748B"/>
                </a:solidFill>
              </a:rPr>
              <a:t> (Kubernetes) </a:t>
            </a:r>
            <a:r>
              <a:rPr lang="en-US" sz="1050" dirty="0">
                <a:solidFill>
                  <a:srgbClr val="94A3B8"/>
                </a:solidFill>
              </a:rPr>
              <a:t>→ Raft  ·  MongoDB replica sets → Bully variant  ·  Redis Sentinel → quórum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8000" y="489593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90391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· </a:t>
            </a:r>
            <a:r>
              <a:rPr lang="en-US" sz="2400" b="1" dirty="0">
                <a:solidFill>
                  <a:srgbClr val="FFC107"/>
                </a:solidFill>
              </a:rPr>
              <a:t>2PC</a:t>
            </a:r>
            <a:r>
              <a:rPr lang="en-US" sz="2400" b="1" dirty="0">
                <a:solidFill>
                  <a:srgbClr val="FFFFFF"/>
                </a:solidFill>
              </a:rPr>
              <a:t> — Two-Phase Commit (Commit en Dos Fases)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Problema: garantizar </a:t>
            </a:r>
            <a:r>
              <a:rPr lang="en-US" sz="1200" b="1" i="1" dirty="0">
                <a:solidFill>
                  <a:srgbClr val="E85D04"/>
                </a:solidFill>
              </a:rPr>
              <a:t>atomicidad </a:t>
            </a:r>
            <a:r>
              <a:rPr lang="en-US" sz="1200" i="1" dirty="0">
                <a:solidFill>
                  <a:srgbClr val="64748B"/>
                </a:solidFill>
              </a:rPr>
              <a:t>(todo-o-nada) cuando una transacción toca MÚLTIPLES nodos simultáneamente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14800" cy="1901952"/>
          </a:xfrm>
          <a:prstGeom prst="rect">
            <a:avLst/>
          </a:prstGeom>
          <a:solidFill>
            <a:srgbClr val="FFF3E0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14800" cy="41148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2529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1 — Preparación (Voting Phase / Fase de Votación)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D04"/>
                </a:solidFill>
              </a:rPr>
              <a:t>1. </a:t>
            </a:r>
            <a:r>
              <a:rPr lang="en-US" sz="1050" dirty="0">
                <a:solidFill>
                  <a:srgbClr val="000000"/>
                </a:solidFill>
              </a:rPr>
              <a:t>Coordinador envía PREPARE a todos los participantes.
</a:t>
            </a:r>
            <a:r>
              <a:rPr lang="en-US" sz="1050" b="1" dirty="0">
                <a:solidFill>
                  <a:srgbClr val="E85D04"/>
                </a:solidFill>
              </a:rPr>
              <a:t>2. </a:t>
            </a:r>
            <a:r>
              <a:rPr lang="en-US" sz="1050" dirty="0">
                <a:solidFill>
                  <a:srgbClr val="000000"/>
                </a:solidFill>
              </a:rPr>
              <a:t>Cada participante: ejecuta la transacción localmente SIN commit, escribe en </a:t>
            </a:r>
            <a:r>
              <a:rPr lang="en-US" sz="1050" b="1" dirty="0">
                <a:solidFill>
                  <a:srgbClr val="E85D04"/>
                </a:solidFill>
              </a:rPr>
              <a:t>WAL</a:t>
            </a:r>
            <a:r>
              <a:rPr lang="en-US" sz="1050" dirty="0">
                <a:solidFill>
                  <a:srgbClr val="000000"/>
                </a:solidFill>
              </a:rPr>
              <a:t> (Write-Ahead Log — registro previo a disco), responde VOTE-YES o VOTE-NO.
</a:t>
            </a:r>
            <a:r>
              <a:rPr lang="en-US" sz="1050" b="1" dirty="0">
                <a:solidFill>
                  <a:srgbClr val="E85D04"/>
                </a:solidFill>
              </a:rPr>
              <a:t>3. </a:t>
            </a:r>
            <a:r>
              <a:rPr lang="en-US" sz="1050" dirty="0">
                <a:solidFill>
                  <a:srgbClr val="000000"/>
                </a:solidFill>
              </a:rPr>
              <a:t>Si alguno vota NO o hay timeout → coordinador decide ABORT global.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07008"/>
            <a:ext cx="4114800" cy="1901952"/>
          </a:xfrm>
          <a:prstGeom prst="rect">
            <a:avLst/>
          </a:prstGeom>
          <a:solidFill>
            <a:srgbClr val="F3FFF5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07008"/>
            <a:ext cx="4114800" cy="41148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25296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2 — Decisión (Commit o Abort / Confirmar o Revertir)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682496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5132"/>
                </a:solidFill>
              </a:rPr>
              <a:t>4. </a:t>
            </a:r>
            <a:r>
              <a:rPr lang="en-US" sz="1050" dirty="0">
                <a:solidFill>
                  <a:srgbClr val="000000"/>
                </a:solidFill>
              </a:rPr>
              <a:t>Si TODOS votaron YES → coordinador envía COMMIT (confirmar).
</a:t>
            </a:r>
            <a:r>
              <a:rPr lang="en-US" sz="1050" b="1" dirty="0">
                <a:solidFill>
                  <a:srgbClr val="0F5132"/>
                </a:solidFill>
              </a:rPr>
              <a:t>5. </a:t>
            </a:r>
            <a:r>
              <a:rPr lang="en-US" sz="1050" dirty="0">
                <a:solidFill>
                  <a:srgbClr val="000000"/>
                </a:solidFill>
              </a:rPr>
              <a:t>Cada participante hace efectivo el commit en disco, libera bloqueos (locks) de filas/tablas, escribe COMMITTED en el WAL.
</a:t>
            </a:r>
            <a:r>
              <a:rPr lang="en-US" sz="1050" b="1" dirty="0">
                <a:solidFill>
                  <a:srgbClr val="0F5132"/>
                </a:solidFill>
              </a:rPr>
              <a:t>6. </a:t>
            </a:r>
            <a:r>
              <a:rPr lang="en-US" sz="1050" dirty="0">
                <a:solidFill>
                  <a:srgbClr val="000000"/>
                </a:solidFill>
              </a:rPr>
              <a:t>Si alguno votó NO → ABORT. Todos hacen rollback (revertir cambios) y liberan bloqueos.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719072"/>
          </a:xfrm>
          <a:prstGeom prst="rect">
            <a:avLst/>
          </a:prstGeom>
          <a:solidFill>
            <a:srgbClr val="FFF0F0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27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⚠️  Problemas críticos del 2PC</a:t>
            </a:r>
            <a:r>
              <a:rPr lang="en-US" sz="1200" i="1" dirty="0">
                <a:solidFill>
                  <a:srgbClr val="DC3545"/>
                </a:solidFill>
              </a:rPr>
              <a:t> (Two-Phase Commit)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9359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3545"/>
                </a:solidFill>
              </a:rPr>
              <a:t>SPOF</a:t>
            </a:r>
            <a:r>
              <a:rPr lang="en-US" sz="1050" i="1" dirty="0">
                <a:solidFill>
                  <a:srgbClr val="DC3545"/>
                </a:solidFill>
              </a:rPr>
              <a:t> (Single Point of Failure = Punto Único de Fallo): </a:t>
            </a:r>
            <a:r>
              <a:rPr lang="en-US" sz="1050" dirty="0">
                <a:solidFill>
                  <a:srgbClr val="000000"/>
                </a:solidFill>
              </a:rPr>
              <a:t>si el coordinador cae ENTRE las dos fases, los participantes quedan bloqueados </a:t>
            </a:r>
            <a:r>
              <a:rPr lang="en-US" sz="1050" dirty="0" err="1">
                <a:solidFill>
                  <a:srgbClr val="000000"/>
                </a:solidFill>
              </a:rPr>
              <a:t>esperando</a:t>
            </a:r>
            <a:r>
              <a:rPr lang="en-US" sz="1050" dirty="0">
                <a:solidFill>
                  <a:srgbClr val="000000"/>
                </a:solidFill>
              </a:rPr>
              <a:t>.
</a:t>
            </a:r>
            <a:r>
              <a:rPr lang="en-US" sz="1050" b="1" dirty="0">
                <a:solidFill>
                  <a:srgbClr val="DC3545"/>
                </a:solidFill>
              </a:rPr>
              <a:t>Protocolo bloqueante: </a:t>
            </a:r>
            <a:r>
              <a:rPr lang="en-US" sz="1050" dirty="0">
                <a:solidFill>
                  <a:srgbClr val="000000"/>
                </a:solidFill>
              </a:rPr>
              <a:t>participantes mantienen locks (bloqueos) hasta recibir la decisión. Alta concurrencia → deadlocks.
</a:t>
            </a:r>
            <a:r>
              <a:rPr lang="en-US" sz="1050" b="1" dirty="0">
                <a:solidFill>
                  <a:srgbClr val="DC3545"/>
                </a:solidFill>
              </a:rPr>
              <a:t>No tolera particiones: </a:t>
            </a:r>
            <a:r>
              <a:rPr lang="en-US" sz="1050" dirty="0">
                <a:solidFill>
                  <a:srgbClr val="000000"/>
                </a:solidFill>
              </a:rPr>
              <a:t>si la red se parte entre Fase 1 y Fase 2, el sistema no puede avanzar.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719072"/>
          </a:xfrm>
          <a:prstGeom prst="rect">
            <a:avLst/>
          </a:prstGeom>
          <a:solidFill>
            <a:srgbClr val="F5F0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27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</a:rPr>
              <a:t>✅  Alternativas modernas al 2PC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59359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</a:rPr>
              <a:t>3PC</a:t>
            </a:r>
            <a:r>
              <a:rPr lang="en-US" sz="1050" i="1" dirty="0">
                <a:solidFill>
                  <a:srgbClr val="6F42C1"/>
                </a:solidFill>
              </a:rPr>
              <a:t> (Three-Phase Commit): </a:t>
            </a:r>
            <a:r>
              <a:rPr lang="en-US" sz="1050" dirty="0">
                <a:solidFill>
                  <a:srgbClr val="000000"/>
                </a:solidFill>
              </a:rPr>
              <a:t>añade fase PRE-COMMIT para evitar bloqueo. Complejo, poco usado en </a:t>
            </a:r>
            <a:r>
              <a:rPr lang="en-US" sz="1050" dirty="0" err="1">
                <a:solidFill>
                  <a:srgbClr val="000000"/>
                </a:solidFill>
              </a:rPr>
              <a:t>producción</a:t>
            </a:r>
            <a:r>
              <a:rPr lang="en-US" sz="1050" dirty="0">
                <a:solidFill>
                  <a:srgbClr val="000000"/>
                </a:solidFill>
              </a:rPr>
              <a:t>.
</a:t>
            </a:r>
            <a:r>
              <a:rPr lang="en-US" sz="1050" b="1" dirty="0">
                <a:solidFill>
                  <a:srgbClr val="6F42C1"/>
                </a:solidFill>
              </a:rPr>
              <a:t>Saga Pattern: </a:t>
            </a:r>
            <a:r>
              <a:rPr lang="en-US" sz="1050" dirty="0">
                <a:solidFill>
                  <a:srgbClr val="000000"/>
                </a:solidFill>
              </a:rPr>
              <a:t>pasos locales con transacciones compensatorias ("undo" por fallo). Netflix, Uber, Amazon. Favorece AP.
</a:t>
            </a:r>
            <a:r>
              <a:rPr lang="en-US" sz="1050" b="1" dirty="0">
                <a:solidFill>
                  <a:srgbClr val="6F42C1"/>
                </a:solidFill>
              </a:rPr>
              <a:t>Raft/Paxos: </a:t>
            </a:r>
            <a:r>
              <a:rPr lang="en-US" sz="1050" dirty="0">
                <a:solidFill>
                  <a:srgbClr val="000000"/>
                </a:solidFill>
              </a:rPr>
              <a:t>consenso distribuido con quórum</a:t>
            </a:r>
            <a:r>
              <a:rPr lang="en-US" sz="1050" i="1" dirty="0">
                <a:solidFill>
                  <a:srgbClr val="6F42C1"/>
                </a:solidFill>
              </a:rPr>
              <a:t> (quórum = mayoría n/2+1)</a:t>
            </a:r>
            <a:r>
              <a:rPr lang="en-US" sz="1050" dirty="0">
                <a:solidFill>
                  <a:srgbClr val="000000"/>
                </a:solidFill>
              </a:rPr>
              <a:t>. Garantiza progreso aunque fallen nodos.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90302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9258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Sistemas de Consenso — Raft y Paxos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548640"/>
          </a:xfrm>
          <a:prstGeom prst="rect">
            <a:avLst/>
          </a:prstGeom>
          <a:solidFill>
            <a:srgbClr val="F5F0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42C1"/>
                </a:solidFill>
              </a:rPr>
              <a:t>Consenso: </a:t>
            </a:r>
            <a:r>
              <a:rPr lang="en-US" sz="1100" dirty="0">
                <a:solidFill>
                  <a:srgbClr val="071A2E"/>
                </a:solidFill>
              </a:rPr>
              <a:t>N procesos deben acordar UN valor aunque algunos fallen. Requisito: </a:t>
            </a:r>
            <a:r>
              <a:rPr lang="en-US" sz="1100" b="1" dirty="0">
                <a:solidFill>
                  <a:srgbClr val="6F42C1"/>
                </a:solidFill>
              </a:rPr>
              <a:t>quórum</a:t>
            </a:r>
            <a:r>
              <a:rPr lang="en-US" sz="1100" dirty="0">
                <a:solidFill>
                  <a:srgbClr val="071A2E"/>
                </a:solidFill>
              </a:rPr>
              <a:t> (quórum = mayoría simple, mínimo n/2+1 nodos activos). Si ≥ quórum están activos, el sistema avanza.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2606040"/>
          </a:xfrm>
          <a:prstGeom prst="rect">
            <a:avLst/>
          </a:prstGeom>
          <a:solidFill>
            <a:srgbClr val="F8F5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4114800" cy="411480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2704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Paxos (Lamport, 1989/1998)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42C1"/>
                </a:solidFill>
              </a:rPr>
              <a:t>Roles:
</a:t>
            </a:r>
            <a:r>
              <a:rPr lang="en-US" sz="1000" dirty="0">
                <a:solidFill>
                  <a:srgbClr val="000000"/>
                </a:solidFill>
              </a:rPr>
              <a:t>• Proposers (Proponentes): proponen valores al sistema
• Acceptors (Aceptantes): aceptan o rechazan propuestas
• Learners (Aprendices): aprenden el valor </a:t>
            </a:r>
            <a:r>
              <a:rPr lang="en-US" sz="1000" dirty="0" err="1">
                <a:solidFill>
                  <a:srgbClr val="000000"/>
                </a:solidFill>
              </a:rPr>
              <a:t>finalmente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1000" dirty="0" err="1">
                <a:solidFill>
                  <a:srgbClr val="000000"/>
                </a:solidFill>
              </a:rPr>
              <a:t>elegido</a:t>
            </a:r>
            <a:r>
              <a:rPr lang="en-US" sz="1000" dirty="0">
                <a:solidFill>
                  <a:srgbClr val="000000"/>
                </a:solidFill>
              </a:rPr>
              <a:t>
</a:t>
            </a:r>
            <a:r>
              <a:rPr lang="en-US" sz="1000" b="1" dirty="0">
                <a:solidFill>
                  <a:srgbClr val="6F42C1"/>
                </a:solidFill>
              </a:rPr>
              <a:t>Fase 1 — Prepare/Promise:
</a:t>
            </a:r>
            <a:r>
              <a:rPr lang="en-US" sz="1000" dirty="0">
                <a:solidFill>
                  <a:srgbClr val="000000"/>
                </a:solidFill>
              </a:rPr>
              <a:t>Proposer envía PREPARE(n). Acceptors prometen no aceptar propuestas con número de ronda n </a:t>
            </a:r>
            <a:r>
              <a:rPr lang="en-US" sz="1000" dirty="0" err="1">
                <a:solidFill>
                  <a:srgbClr val="000000"/>
                </a:solidFill>
              </a:rPr>
              <a:t>menor</a:t>
            </a:r>
            <a:r>
              <a:rPr lang="en-US" sz="1000" dirty="0">
                <a:solidFill>
                  <a:srgbClr val="000000"/>
                </a:solidFill>
              </a:rPr>
              <a:t>.
</a:t>
            </a:r>
            <a:r>
              <a:rPr lang="en-US" sz="1000" b="1" dirty="0">
                <a:solidFill>
                  <a:srgbClr val="6F42C1"/>
                </a:solidFill>
              </a:rPr>
              <a:t>Fase 2 — Accept/Chosen:
</a:t>
            </a:r>
            <a:r>
              <a:rPr lang="en-US" sz="1000" dirty="0">
                <a:solidFill>
                  <a:srgbClr val="000000"/>
                </a:solidFill>
              </a:rPr>
              <a:t>Si quórum promete → proposer envía ACCEPT(n, valor). Si quórum acepta → valor elegido (chosen).
</a:t>
            </a:r>
            <a:r>
              <a:rPr lang="en-US" sz="1000" b="1" dirty="0">
                <a:solidFill>
                  <a:srgbClr val="6F42C1"/>
                </a:solidFill>
              </a:rPr>
              <a:t>Reputación: </a:t>
            </a:r>
            <a:r>
              <a:rPr lang="en-US" sz="1000" dirty="0">
                <a:solidFill>
                  <a:srgbClr val="000000"/>
                </a:solidFill>
              </a:rPr>
              <a:t>difícil de implementar. Usado en Google Chubby (2006) y Google Megastore.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2606040"/>
          </a:xfrm>
          <a:prstGeom prst="rect">
            <a:avLst/>
          </a:prstGeom>
          <a:solidFill>
            <a:srgbClr val="F0FFF4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08760"/>
            <a:ext cx="4114800" cy="41148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27048"/>
            <a:ext cx="3931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Raft (Ongaro &amp; Ousterhout, 2014)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5132"/>
                </a:solidFill>
              </a:rPr>
              <a:t>Diseñado para ser comprensible — equivalente a Paxos.
</a:t>
            </a:r>
            <a:r>
              <a:rPr lang="en-US" sz="1000" b="1" dirty="0">
                <a:solidFill>
                  <a:srgbClr val="0F5132"/>
                </a:solidFill>
              </a:rPr>
              <a:t>Elección de líder:
</a:t>
            </a:r>
            <a:r>
              <a:rPr lang="en-US" sz="1000" dirty="0">
                <a:solidFill>
                  <a:srgbClr val="000000"/>
                </a:solidFill>
              </a:rPr>
              <a:t>• Terms (Términos = períodos de liderazgo numerados). Sin heartbeats → timeout → follower</a:t>
            </a:r>
            <a:r>
              <a:rPr lang="en-US" sz="1000" i="1" dirty="0">
                <a:solidFill>
                  <a:srgbClr val="0F5132"/>
                </a:solidFill>
              </a:rPr>
              <a:t> (seguidor)</a:t>
            </a:r>
            <a:r>
              <a:rPr lang="en-US" sz="1000" dirty="0">
                <a:solidFill>
                  <a:srgbClr val="000000"/>
                </a:solidFill>
              </a:rPr>
              <a:t> se convierte en candidate</a:t>
            </a:r>
            <a:r>
              <a:rPr lang="en-US" sz="1000" i="1" dirty="0">
                <a:solidFill>
                  <a:srgbClr val="0F5132"/>
                </a:solidFill>
              </a:rPr>
              <a:t> (candidato)</a:t>
            </a:r>
            <a:r>
              <a:rPr lang="en-US" sz="1000" dirty="0">
                <a:solidFill>
                  <a:srgbClr val="000000"/>
                </a:solidFill>
              </a:rPr>
              <a:t> → pide votos → quórum → nuevo leader (</a:t>
            </a:r>
            <a:r>
              <a:rPr lang="en-US" sz="1000" dirty="0" err="1">
                <a:solidFill>
                  <a:srgbClr val="000000"/>
                </a:solidFill>
              </a:rPr>
              <a:t>líder</a:t>
            </a:r>
            <a:r>
              <a:rPr lang="en-US" sz="1000" dirty="0">
                <a:solidFill>
                  <a:srgbClr val="000000"/>
                </a:solidFill>
              </a:rPr>
              <a:t>).
</a:t>
            </a:r>
            <a:r>
              <a:rPr lang="en-US" sz="1000" b="1" dirty="0">
                <a:solidFill>
                  <a:srgbClr val="0F5132"/>
                </a:solidFill>
              </a:rPr>
              <a:t>Replicación de log</a:t>
            </a:r>
            <a:r>
              <a:rPr lang="en-US" sz="1000" dirty="0">
                <a:solidFill>
                  <a:srgbClr val="000000"/>
                </a:solidFill>
              </a:rPr>
              <a:t> (registro de operaciones):
• El líder recibe escrituras → añade al log → replica a followers. Entrada 'committed' cuando quórum confirma </a:t>
            </a:r>
            <a:r>
              <a:rPr lang="en-US" sz="1000" dirty="0" err="1">
                <a:solidFill>
                  <a:srgbClr val="000000"/>
                </a:solidFill>
              </a:rPr>
              <a:t>recepción</a:t>
            </a:r>
            <a:r>
              <a:rPr lang="en-US" sz="1000" dirty="0">
                <a:solidFill>
                  <a:srgbClr val="000000"/>
                </a:solidFill>
              </a:rPr>
              <a:t>.
</a:t>
            </a:r>
            <a:r>
              <a:rPr lang="en-US" sz="1000" b="1" dirty="0">
                <a:solidFill>
                  <a:srgbClr val="0F5132"/>
                </a:solidFill>
              </a:rPr>
              <a:t>Seguridad:
</a:t>
            </a:r>
            <a:r>
              <a:rPr lang="en-US" sz="1000" dirty="0">
                <a:solidFill>
                  <a:srgbClr val="000000"/>
                </a:solidFill>
              </a:rPr>
              <a:t>• Solo 1 líder por term. Un nodo solo vota por candidatos con log más </a:t>
            </a:r>
            <a:r>
              <a:rPr lang="en-US" sz="1000" dirty="0" err="1">
                <a:solidFill>
                  <a:srgbClr val="000000"/>
                </a:solidFill>
              </a:rPr>
              <a:t>actualizado</a:t>
            </a:r>
            <a:r>
              <a:rPr lang="en-US" sz="1000" dirty="0">
                <a:solidFill>
                  <a:srgbClr val="000000"/>
                </a:solidFill>
              </a:rPr>
              <a:t>.
</a:t>
            </a:r>
            <a:r>
              <a:rPr lang="en-US" sz="1000" b="1" dirty="0">
                <a:solidFill>
                  <a:srgbClr val="0F5132"/>
                </a:solidFill>
              </a:rPr>
              <a:t>Usado en:
</a:t>
            </a: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etcd</a:t>
            </a:r>
            <a:r>
              <a:rPr lang="en-US" sz="1000" i="1" dirty="0">
                <a:solidFill>
                  <a:srgbClr val="64748B"/>
                </a:solidFill>
              </a:rPr>
              <a:t> (Kubernetes)</a:t>
            </a:r>
            <a:r>
              <a:rPr lang="en-US" sz="1000" dirty="0">
                <a:solidFill>
                  <a:srgbClr val="000000"/>
                </a:solidFill>
              </a:rPr>
              <a:t>  ·  CockroachDB  ·  TiKV</a:t>
            </a:r>
            <a:r>
              <a:rPr lang="en-US" sz="1000" i="1" dirty="0">
                <a:solidFill>
                  <a:srgbClr val="64748B"/>
                </a:solidFill>
              </a:rPr>
              <a:t> (Ti Key-Value)</a:t>
            </a:r>
            <a:r>
              <a:rPr lang="en-US" sz="1000" dirty="0">
                <a:solidFill>
                  <a:srgbClr val="000000"/>
                </a:solidFill>
              </a:rPr>
              <a:t>  ·  Consul  ·  TiDB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187952"/>
            <a:ext cx="8595360" cy="727691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06240"/>
            <a:ext cx="8321040" cy="727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</a:rPr>
              <a:t>🔗 Ver ahora: </a:t>
            </a:r>
            <a:r>
              <a:rPr lang="en-US" sz="1050" dirty="0">
                <a:solidFill>
                  <a:srgbClr val="94A3B8"/>
                </a:solidFill>
              </a:rPr>
              <a:t>raft.github.io — animación interactiva de Raft (5 min). Mostrar: (1) heartbeats normales, (2) matar el líder y ver re-elección, (3) partición de red: el grupo SIN quórum no puede elegir líder.
</a:t>
            </a:r>
            <a:r>
              <a:rPr lang="en-US" sz="1050" b="1" dirty="0">
                <a:solidFill>
                  <a:srgbClr val="FFC107"/>
                </a:solidFill>
              </a:rPr>
              <a:t>CockroachDB: </a:t>
            </a:r>
            <a:r>
              <a:rPr lang="en-US" sz="1050" dirty="0">
                <a:solidFill>
                  <a:srgbClr val="94A3B8"/>
                </a:solidFill>
              </a:rPr>
              <a:t>cada rango de datos tiene su propio grupo Raft de 3 nodos. Escritura necesita quórum (2 de 3). En Semana 11, detener un nodo → Raft re-elegirá líder automáticamente → quórum sigue activo.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4919755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Aplicaciones Distribuidas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917277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2E"/>
                </a:solidFill>
              </a:rPr>
              <a:t>🧪  GA-SUM-01</a:t>
            </a:r>
            <a:r>
              <a:rPr lang="en-US" sz="2000" i="1" dirty="0">
                <a:solidFill>
                  <a:srgbClr val="0D3B1E"/>
                </a:solidFill>
              </a:rPr>
              <a:t>  (Guía de Aprendizaje Sumativa N° 01)</a:t>
            </a:r>
            <a:r>
              <a:rPr lang="en-US" sz="2000" b="1" dirty="0">
                <a:solidFill>
                  <a:srgbClr val="071A2E"/>
                </a:solidFill>
              </a:rPr>
              <a:t>  ·  PE-U1</a:t>
            </a:r>
            <a:r>
              <a:rPr lang="en-US" sz="2000" i="1" dirty="0">
                <a:solidFill>
                  <a:srgbClr val="0D3B1E"/>
                </a:solidFill>
              </a:rPr>
              <a:t>  (Práctica Experimental Unidad 1)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778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0C997"/>
                </a:solidFill>
              </a:rPr>
              <a:t>Comunicación entre Procesos Distribuidos con </a:t>
            </a:r>
            <a:r>
              <a:rPr lang="en-US" b="1" dirty="0">
                <a:solidFill>
                  <a:srgbClr val="FFC107"/>
                </a:solidFill>
              </a:rPr>
              <a:t>gRPC</a:t>
            </a:r>
            <a:r>
              <a:rPr lang="en-US" i="1" dirty="0">
                <a:solidFill>
                  <a:srgbClr val="64748B"/>
                </a:solidFill>
              </a:rPr>
              <a:t> (Google Remote Procedure Call)</a:t>
            </a:r>
            <a:r>
              <a:rPr lang="en-US" b="1" dirty="0">
                <a:solidFill>
                  <a:srgbClr val="20C997"/>
                </a:solidFill>
              </a:rPr>
              <a:t> y Sockets TCP</a:t>
            </a:r>
            <a:r>
              <a:rPr lang="en-US" i="1" dirty="0">
                <a:solidFill>
                  <a:srgbClr val="64748B"/>
                </a:solidFill>
              </a:rPr>
              <a:t> (Transmission Control Protocol)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611822"/>
              </p:ext>
            </p:extLst>
          </p:nvPr>
        </p:nvGraphicFramePr>
        <p:xfrm>
          <a:off x="365760" y="1325880"/>
          <a:ext cx="8412480" cy="2072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Detalle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Código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GA-SUM-01  (GA = Guía de Aprendizaje · SUM = Sumativa)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Unidad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1 — Generalidades de los SD (Sistemas Distribuidos)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Aplicación de contenidos procedimentales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Modalidad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Grupal (3-4 estudiantes)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Duración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3 horas laboratorio + 5 horas autónomas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Entregable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Repositorio GitHub + Documento LaTeX compilado (PDF + .tex)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Semana de entrega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</a:rPr>
                        <a:t>4 — 25 al 31 de Mayo del 2026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9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solidFill>
            <a:srgbClr val="0D3B1E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35584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997"/>
                </a:solidFill>
              </a:rPr>
              <a:t>📁  Estructura obligatoria del repositorio GitHub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678160"/>
            <a:ext cx="8321040" cy="810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/src/sockets/server.py  ·  /src/sockets/client.py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/src/grpc/messaging.proto  ·  /src/grpc/server_grpc.py  ·  /src/grpc/client_grpc.py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/data/latency_sockets.csv  ·  /data/latency_grpc.csv        (CSV = Comma-Separated Values)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/docs/guia1_practica.tex  ·  /docs/guia1_practica.pdf  ·  /docs/figures/boxplot.png    (DPI = Dots Per Inch)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— instrucciones completas de ejecución</a:t>
            </a:r>
            <a:endParaRPr lang="en-US" sz="900" dirty="0"/>
          </a:p>
        </p:txBody>
      </p:sp>
      <p:sp>
        <p:nvSpPr>
          <p:cNvPr id="5" name="Shape 6"/>
          <p:cNvSpPr/>
          <p:nvPr/>
        </p:nvSpPr>
        <p:spPr>
          <a:xfrm>
            <a:off x="365760" y="4443915"/>
            <a:ext cx="8412480" cy="347472"/>
          </a:xfrm>
          <a:prstGeom prst="rect">
            <a:avLst/>
          </a:prstGeom>
          <a:solidFill>
            <a:srgbClr val="1A050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62203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C3545"/>
                </a:solidFill>
              </a:rPr>
              <a:t>⚠️  LaTeX que NO compila con pdflatex = 0 pts en ese criterio. Verificar localmente o en Overleaf ANTES de entregar.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GA-SUM-01 · Datos generales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89407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C997"/>
                </a:solidFill>
              </a:rPr>
              <a:t>GA-SUM-01 · Los 5 Pasos del Procedimiento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252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25272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6926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5132"/>
                </a:solidFill>
              </a:rPr>
              <a:t>Paso 1: Entorno (Environment)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513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pip install grpcio grpcio-tools protobuf pandas matplotlib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438912" y="1490472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513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Crear repo GitHub con estructura requerida (repo = repositorio)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438912" y="1700784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513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3 procesos: localhost:5000 (server), :5001, :5002 (clients)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438912" y="1911096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513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Cada integrante: ≥3 commits significativos en el historial de Git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4160520" cy="1252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58568"/>
            <a:ext cx="91440" cy="1252728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31343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4D92"/>
                </a:solidFill>
              </a:rPr>
              <a:t>Paso 2: Sockets TCP (Transmission Control Protocol)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624328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E4D9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Servidor: socket.socket(AF_INET, SOCK_STREAM) · bind(5000) · listen()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38912" y="2834640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E4D9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Cliente: implementar LamportClock · tick() antes de enviar · receive(ts) al recibir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38912" y="3044952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E4D9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Payload JSON (JavaScript Object Notation): {sender, timestamp, message}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38912" y="3255264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E4D92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20 intercambios + 100 mediciones con time.perf_counter() → guardar CSV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160520" cy="1252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02736"/>
            <a:ext cx="91440" cy="125272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657600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04"/>
                </a:solidFill>
              </a:rPr>
              <a:t>Paso 3: gRPC (Google Remote Procedure Call)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968496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E85D04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Definir messaging.proto (MessagingService + Request/Response)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38912" y="4178808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2075" indent="-92075">
              <a:buNone/>
            </a:pPr>
            <a:r>
              <a:rPr lang="en-US" sz="830" b="1" dirty="0">
                <a:solidFill>
                  <a:srgbClr val="E85D04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Generar: python -m grpc_tools.protoc -I. --python_out=. --grpc_python_out=. messaging.proto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38912" y="4389120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E85D04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Misma LamportClock integrada en el servicio gRPC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438912" y="4599432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E85D04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20 intercambios + 100 mediciones → guardar CSV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709160" y="914400"/>
            <a:ext cx="4160520" cy="1252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914400"/>
            <a:ext cx="91440" cy="1252728"/>
          </a:xfrm>
          <a:prstGeom prst="rect">
            <a:avLst/>
          </a:prstGeom>
          <a:solidFill>
            <a:srgbClr val="6F42C1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969264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42C1"/>
                </a:solidFill>
              </a:rPr>
              <a:t>Paso 4: Análisis Estadístico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73752" y="1280160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6F42C1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pandas: media, mediana, std (desviación estándar), P95 (percentil 95)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4873752" y="1490472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6F42C1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matplotlib: boxplot comparativo (300 DPI — Dots Per Inch) en /docs/figures/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873752" y="1700784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6F42C1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¿Cuál tiene menor latencia? ¿Cuál menor variabilidad (std)? ¿Por qué?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4873752" y="1911096"/>
            <a:ext cx="398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6F42C1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¿En qué escenario del PFC (Proyecto Fin de Curso) usarías Sockets TCP y en cuál gRPC?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709160" y="2258568"/>
            <a:ext cx="4160520" cy="1252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258568"/>
            <a:ext cx="91440" cy="1252728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231343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C997"/>
                </a:solidFill>
              </a:rPr>
              <a:t>Paso 5: Documento LaTeX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2624328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0C997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Portada · Resumen bilingüe · Fundamento teórico U1 completo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873752" y="2834640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0C997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Diagrama TikZ · lstlisting (código) · tabla booktabs + boxplot con \ref{}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4873752" y="3044952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2075" indent="-92075">
              <a:buNone/>
            </a:pPr>
            <a:r>
              <a:rPr lang="en-US" sz="830" b="1" dirty="0">
                <a:solidFill>
                  <a:srgbClr val="20C997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≥6 referencias IEEE (Institute of Electrical and Electronics Engineers) con DOI (Digital Object Identifier)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4873752" y="3255264"/>
            <a:ext cx="3904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0C997"/>
                </a:solidFill>
              </a:rPr>
              <a:t>▸ </a:t>
            </a:r>
            <a:r>
              <a:rPr lang="en-US" sz="830" dirty="0">
                <a:solidFill>
                  <a:srgbClr val="071A2E"/>
                </a:solidFill>
              </a:rPr>
              <a:t>Compilar con pdflatex sin errores · subir PDF + .tex a /docs/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709160" y="4526712"/>
            <a:ext cx="4160520" cy="347472"/>
          </a:xfrm>
          <a:prstGeom prst="rect">
            <a:avLst/>
          </a:prstGeom>
          <a:solidFill>
            <a:srgbClr val="0D3B1E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5450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C997"/>
                </a:solidFill>
              </a:rPr>
              <a:t>✅  Antes de entregar: repo público · PDF en /docs/ · ≥3 commits/integrante · README con run instructions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UTEQ · GA-SUM-01 · Procedimiento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74472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Semana 4 | 25–31 May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4660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2E"/>
                </a:solidFill>
              </a:rPr>
              <a:t>GA-SUM-01 · Código de Referencia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89990" y="155448"/>
            <a:ext cx="505400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3B1E"/>
                </a:solidFill>
              </a:rPr>
              <a:t>Fragmentos clave — código completo en la guía .docx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10256"/>
            <a:ext cx="4114800" cy="2359009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EC" dirty="0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C997"/>
                </a:solidFill>
              </a:rPr>
              <a:t>lamport_clock.py</a:t>
            </a:r>
            <a:r>
              <a:rPr lang="en-US" i="1" dirty="0">
                <a:solidFill>
                  <a:srgbClr val="64748B"/>
                </a:solidFill>
              </a:rPr>
              <a:t>  — LC = Lamport Clock (Reloj Lógico de Lamport)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931920" cy="2002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LamportClock: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pid):  # pid = Process 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self.pid = pid; self.lc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tick(self):        # Reglas 1 y 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self.lc += 1       # LC = LC + 1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self.lc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receive(self, ts): # Regla 3: ts = timestamp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self.lc = max(self.lc, ts) + 1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self.lc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__repr__(self):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f"P{self.pid}[LC={self.lc}]"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114800" cy="23228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896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107"/>
                </a:solidFill>
              </a:rPr>
              <a:t>messaging.proto</a:t>
            </a:r>
            <a:r>
              <a:rPr lang="en-US" sz="1400" i="1" dirty="0">
                <a:solidFill>
                  <a:srgbClr val="64748B"/>
                </a:solidFill>
              </a:rPr>
              <a:t>  — Buffers Protocol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4190646" cy="2048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= "proto3";  // proto = Protocol Buffers v3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messaging;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MessagingService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rpc SendMessage(Request)  // RPC = Remote Procedure Call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returns (Response);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Request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sender    = 1;   // campo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int64  timestamp = 2;   // campo 2: entero 64 bits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content   = 3;   // campo 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Response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status    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int64  server_ts = 2;   // ts = timestamp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456432"/>
            <a:ext cx="8595360" cy="15727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18424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C997"/>
                </a:solidFill>
              </a:rPr>
              <a:t>benchmark.py + análisis.py</a:t>
            </a:r>
            <a:r>
              <a:rPr lang="en-US" sz="1600" i="1" dirty="0">
                <a:solidFill>
                  <a:srgbClr val="64748B"/>
                </a:solidFill>
              </a:rPr>
              <a:t>  — std = standard deviation (desviación estándar)  ·  P95 = percentil 95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30753"/>
            <a:ext cx="8412480" cy="965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csv, pandas as pd, matplotlib.pyplot as plt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measure(send_fn, n=100):          # ⚠ perf_counter, NO time.time()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[(lambda t0,_: (time.perf_counter()-t0)*1000)(time.perf_counter(), send_fn()) for _ in range(n)]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save_csv(data, fname):            # CSV = Comma-Separated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pd.DataFrame({"latency_ms":data}).to_csv(fname, index=False)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analyze(sockets_csv, grpc_csv):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pd.DataFrame({"Sockets TCP":pd.read_csv(sockets_csv)["latency_ms"],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"gRPC":pd.read_csv(grpc_csv)["latency_ms"]})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print(df.describe(percentiles=[.5,.95]))  # std, P50 (mediana), P95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df.boxplot(); plt.savefig("docs/figures/boxplot.png", dpi=300); plt.show()  # dpi = Dots Per Inch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148" y="49242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UTEQ · GA-SUM-01 · Código referencia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53207" y="492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4A3B8"/>
                </a:solidFill>
              </a:rPr>
              <a:t>Semana 4 | 25–31 May 2026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0C99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Resumen Semana 4 + Preguntas Obligatorias GA-SUM-01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15568"/>
          </a:xfrm>
          <a:prstGeom prst="rect">
            <a:avLst/>
          </a:prstGeom>
          <a:solidFill>
            <a:srgbClr val="0E2F1E"/>
          </a:solidFill>
          <a:ln w="6350">
            <a:solidFill>
              <a:srgbClr val="20C9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C997"/>
                </a:solidFill>
              </a:rPr>
              <a:t>⚖️  Consistencia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CAP (C·A·P) → CP o AP durante partición. PACELC (P→A/C, Else→L/C) añade trade-off latencia vs. consistencia en operación normal.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14800" cy="1115568"/>
          </a:xfrm>
          <a:prstGeom prst="rect">
            <a:avLst/>
          </a:prstGeom>
          <a:solidFill>
            <a:srgbClr val="0E2F1E"/>
          </a:solidFill>
          <a:ln w="6350">
            <a:solidFill>
              <a:srgbClr val="20C9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C997"/>
                </a:solidFill>
              </a:rPr>
              <a:t>👑  Elección de Líder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Bully O(n²) — heartbeats, ID mayor gana · Ring O(n) — anillo lógico. Usados en etcd, ZooKeeper, MongoDB.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4114800" cy="1115568"/>
          </a:xfrm>
          <a:prstGeom prst="rect">
            <a:avLst/>
          </a:prstGeom>
          <a:solidFill>
            <a:srgbClr val="0E2F1E"/>
          </a:solidFill>
          <a:ln w="6350">
            <a:solidFill>
              <a:srgbClr val="20C9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C997"/>
                </a:solidFill>
              </a:rPr>
              <a:t>🤝  2PC (Two-Phase Commit)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53288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Atomicidad distribuida. Problema: bloqueante + SPOF (Single Point of Failure). Alternativas: Saga, 3PC, Raft.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075688"/>
            <a:ext cx="4114800" cy="1115568"/>
          </a:xfrm>
          <a:prstGeom prst="rect">
            <a:avLst/>
          </a:prstGeom>
          <a:solidFill>
            <a:srgbClr val="0E2F1E"/>
          </a:solidFill>
          <a:ln w="635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C997"/>
                </a:solidFill>
              </a:rPr>
              <a:t>🗳️  Raft / Paxos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53288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Consenso con quórum (n/2+1). Raft: terms + log replication. Usado en etcd (Kubernetes), CockroachDB, TiKV.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8595360" cy="347472"/>
          </a:xfrm>
          <a:prstGeom prst="rect">
            <a:avLst/>
          </a:prstGeom>
          <a:solidFill>
            <a:srgbClr val="0D3B1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2841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</a:rPr>
              <a:t>📝  Preguntas Obligatorias GA-SUM-01 — responder en el documento LaTeX con datos propios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0C997"/>
                </a:solidFill>
              </a:rPr>
              <a:t>1.  </a:t>
            </a:r>
            <a:r>
              <a:rPr lang="en-US" sz="930" dirty="0">
                <a:solidFill>
                  <a:srgbClr val="CBD5E1"/>
                </a:solidFill>
              </a:rPr>
              <a:t>¿Cómo afecta el número de nodos al tiempo de convergencia de los relojes Lamport? Justifica con datos medidos.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0C997"/>
                </a:solidFill>
              </a:rPr>
              <a:t>2.  </a:t>
            </a:r>
            <a:r>
              <a:rPr lang="en-US" sz="930" dirty="0">
                <a:solidFill>
                  <a:srgbClr val="CBD5E1"/>
                </a:solidFill>
              </a:rPr>
              <a:t>¿En qué escenario del PFC (Proyecto Fin de Curso) usarías sockets TCP y en cuál gRPC? Argumenta desde el teorema CAP.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0C997"/>
                </a:solidFill>
              </a:rPr>
              <a:t>3.  </a:t>
            </a:r>
            <a:r>
              <a:rPr lang="en-US" sz="930" dirty="0">
                <a:solidFill>
                  <a:srgbClr val="CBD5E1"/>
                </a:solidFill>
              </a:rPr>
              <a:t>Si un nodo falla durante la comunicación, ¿qué ocurre con los timestamps (marcas temporales) de Lamport en los nodos restantes?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57200" y="447141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0C997"/>
                </a:solidFill>
              </a:rPr>
              <a:t>4.  </a:t>
            </a:r>
            <a:r>
              <a:rPr lang="en-US" sz="930" dirty="0">
                <a:solidFill>
                  <a:srgbClr val="CBD5E1"/>
                </a:solidFill>
              </a:rPr>
              <a:t>¿Qué transparencias ANSA (Architecture for Networks of Systems and Applications) logra el sistema? ¿Cómo implementarías las faltantes?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065A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5488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C997"/>
                </a:solidFill>
              </a:rPr>
              <a:t>📌  Semana 5: Inicio Unidad 2 — Arquitecturas Distribuidas · Microservicios · API REST · Docker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UTEQ · Aplicaciones Distribuidas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Semana 4 | 25–31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5683</Words>
  <Application>Microsoft Office PowerPoint</Application>
  <PresentationFormat>Presentación en pantalla (16:9)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Distribuidas — Semana 4</dc:title>
  <dc:subject>PptxGenJS Presentation</dc:subject>
  <dc:creator>UTEQ — Ing. de Software</dc:creator>
  <cp:lastModifiedBy>GLEISTON CICERON GUERRERO ULLOA</cp:lastModifiedBy>
  <cp:revision>7</cp:revision>
  <dcterms:created xsi:type="dcterms:W3CDTF">2026-05-19T14:23:05Z</dcterms:created>
  <dcterms:modified xsi:type="dcterms:W3CDTF">2026-05-21T15:42:31Z</dcterms:modified>
</cp:coreProperties>
</file>