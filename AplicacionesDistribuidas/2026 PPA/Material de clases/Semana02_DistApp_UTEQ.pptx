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0" autoAdjust="0"/>
    <p:restoredTop sz="94610"/>
  </p:normalViewPr>
  <p:slideViewPr>
    <p:cSldViewPr snapToGrid="0" snapToObjects="1">
      <p:cViewPr>
        <p:scale>
          <a:sx n="119" d="100"/>
          <a:sy n="119" d="100"/>
        </p:scale>
        <p:origin x="278"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599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INTRODUCCIÓN ORAL
Esta semana marcamos el paso de los conceptos fundamentales al "cómo se comunican los nodos". La Semana 1 respondió qué es un sistema distribuido; esta semana responde cómo los procesos intercambian información, se sincronizan en el tiempo, y coordinan el trabajo sin un reloj global compartido.
Los cuatro bloques de contenido que veremos son:
1. Modelos de sistemas distribuidos: cliente-servidor, P2P e híbridos.
2. Mecanismos de comunicación: desde los sockets de bajo nivel hasta RMI y gRPC.
3. El problema de la sincronización: por qué los relojes físicos no son suficientes.
4. El algoritmo de Lamport: la solución matemática elegante al problema anterior.
Todo el contenido de esta semana sienta las bases para la Guía de Práctica Experimental GA-SUM-01 (entrega semana 4), donde implementarán sockets TCP y gRPC en Python con relojes de Lamport.
Resultado de aprendizaje de la semana: "Analiza las características y principios de los sistemas distribuidos, evaluando sus ventajas, limitaciones y retos desde una perspectiva crítica e interdisciplinaria."
Referencias centrales:
- M. van Steen y A. S. Tanenbaum, Distributed Systems, 4th ed., caps. 3-5, 2023.
- L. Lamport, "Time, clocks, and the ordering of events in a distributed system," Commun. ACM, vol. 21, no. 7, 1978.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NOTAS DEL DOCENTE
Distribución del tiempo en las 5 horas semanales (2 contacto + 3 PE + 1 autónoma):
HORA DE CONTACTO 1 (Bloque 01+02):
- 10 min: recapitulación Semana 1, preguntas diagnóstico (¿cuáles transparencias ANSA recuerdan?)
- 25 min: Modelos C-S, P2P e híbridos con diagramas
- 25 min: Sockets TCP/UDP con código en Java; comparación con UDP
HORA DE CONTACTO 2 (Bloque 03+04):
- 20 min: RPC/RMI: historia, funcionamiento interno, demo IntelliJ
- 20 min: Middleware y tipos
- 20 min: Algoritmo de Lamport con pizarrón interactivo (ejercicio grupal)
HORAS PRÁCTICO-EXPERIMENTALES (Bloque 05):
- Taller FORM-TL-01: "Modelado de Comunicación entre Procesos Distribuidos"
- Grupos de 3-4 estudiantes diseñan el diagrama de comunicación del PFC
- Retroalimentación docente por grupo
HORA AUTÓNOMA:
- Ficha bibliográfica FORM-FB-01
- Lectura: van Steen cap. 4 (pp. 129-178)
Estrategias metodológicas para esta semana: Aprendizaje basado en problemas + Aprendizaje basado en simulación + Gamificación (el ejercicio de Lamport puede hacerse como juego de roles).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1 — MODELOS DE SISTEMAS DISTRIBUIDOS
Un "modelo de sistema distribuido" describe cómo se organizan los nodos desde el punto de vista lógico: quién inicia las comunicaciones, quién provee los servicios, cómo fluyen los datos y quién toma decisiones de coordinación.
Esta distinción es fundamental porque el modelo elegido determina:
- El patrón de comunicación (petición-respuesta vs. gossiping)
- Los puntos de fallo (SPOF en C-S vs. sin SPOF en P2P)
- La escalabilidad horizontal posible
- La estrategia de replicación y consistencia
Los tres modelos principales que estudiaremos (C-S, P2P, híbrido) no son mutuamente excluyentes. La mayoría de sistemas de producción son híbridos: un cliente web accede a un balanceador de carga (C-S), que distribuye hacia un cluster de microservicios donde algunos nodos replican estado entre pares (P2P).
Pregunta de activación para los estudiantes: "¿WhatsApp es C-S o P2P?" (respuesta: híbrido — el registro y la señalización son C-S; la transferencia de archivos grandes puede ser P2P).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MODELO CLIENTE-SERVIDOR (NOTAS AMPLIADAS)
El modelo cliente-servidor es el más ubicuo en el desarrollo de software empresarial. Su invariante fundamental es la asimetría de roles: el cliente siempre inicia la comunicación, el servidor siempre espera pasivamente (estado LISTEN en el socket).
ESCALABILIDAD — PUNTO CRÍTICO PARA DISCUTIR:
El servidor monolítico tiene un límite de escalabilidad vertical (más RAM, más CPU). Cuando ese límite se alcanza, se añaden réplicas del servidor detrás de un balanceador de carga (load balancer). Pero esto introduce un problema nuevo: el estado del servidor debe ser compartido o ningún cliente puede ser dirigido a cualquier réplica (sticky sessions vs. sesiones distribuidas).
Solución moderna: "share nothing" — el servidor no guarda estado de sesión en memoria; todo el estado va en el cliente (JWT token) o en un almacén externo compartido (Redis). Esto hace que cada réplica sea intercambiable. Esta decisión arquitectónica aparecerá en la Práctica 2 (GA-SUM-02).
VARIANTES IMPORTANTES:
- 2-capas: cliente habla directamente con el servidor (típico en sistemas desktop legacy)
- 3-capas: cliente → servidor de aplicación → base de datos (el estándar de facto en web)
- N-capas: agrega capas de servicios, caché, colas de mensajes
- Serverless: el "servidor" es una función que solo existe durante la invocación (AWS Lambda, Azure Functions); el proveedor maneja toda la infraestructura
PREGUNTA PARA ACTIVAR DISCUSIÓN EN CLASE:
"Tenemos un sistema de votación electrónica que debe procesar 5 millones de votos en 4 horas. ¿Cómo escalaría un modelo C-S para cumplir ese requisito? ¿Qué ocurre si el servidor principal falla a las 2 horas?"
Esto conecta con los conceptos de disponibilidad, replicación y el teorema CAP que verán en semanas posteriores.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P2P E HÍBRIDO (NOTAS AMPLIADAS)
P2P ESTRUCTURADO vs. NO ESTRUCTURADO:
- No estructurado (Gnutella): busca por inundación (flooding). Simple de implementar pero ineficiente.
- Estructurado (Chord, Kademlia): usa tablas de hash distribuidas (DHT). La búsqueda es O(log N) donde N es el número de nodos. BitTorrent usa Kademlia para el tracker-less DHT.
- Superpeer: nodos con más capacidad actúan como mini-servidores para un grupo de pares normales (Skype lo usó antes de centralizar en 2012).
BLOCKCHAIN COMO CASO P2P ESPECIAL:
En una blockchain pública (Bitcoin, Ethereum), todos los nodos mantienen una copia completa del registro (full nodes) o una copia verificable parcial (light nodes). El consenso se logra mediante prueba de trabajo (PoW) o prueba de participación (PoS) — mecanismos que reemplazan al servidor autoritativo del modelo C-S.
MODELO HÍBRIDO EN LA INDUSTRIA — EVOLUCIÓN DE WHATSAPP:
WhatsApp procesó 100 mil millones de mensajes por día en 2020 con solo ~50 ingenieros backend. La clave: el servidor solo maneja enrutamiento y entrega confiable; el cifrado E2E ocurre en el cliente; las llamadas de voz usan WebRTC (P2P con STUN/TURN para traversal de NAT).
EJERCICIO DE ANÁLISIS (para hacer en clase):
"Clasifica estas aplicaciones como C-S, P2P o Híbrido y justifica:
1. Gmail (C-S: todo en servidores Google)
2. Zoom (híbrido: señalización C-S, video RTP multicast o P2P)
3. Git con GitHub (híbrido: repositorio remoto C-S, pero cada cliente tiene copia completa P2P-like)
4. Bitcoin (P2P puro)
5. Netflix (C-S con CDN edge nodes)"
Conectar con el PFC: ¿qué modelo usará su sistema? ¿Por qué? Esta decisión va en el documento TA-PFC-E1.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2 — COMUNICACIÓN ENTRE PROCESOS
La comunicación entre procesos en sistemas distribuidos se abstrae en capas. Cada capa sacrifica control a cambio de simplicidad:
Nivel 1 — Sockets: acceso directo a la red. El programador controla todo: serialización, gestión de conexiones, manejo de errores. Máximo rendimiento, máxima complejidad.
Nivel 2 — RPC/RMI: abstrae la red como si fuera una llamada a función local. El middleware (stub/skeleton) maneja la serialización transparentemente. Pierdes control sobre el formato de red, ganas simplicidad.
Nivel 3 — gRPC/REST: añade definición formal de la interfaz (IDL/OpenAPI), generación automática de código, y en el caso de gRPC, protocolo binario eficiente sobre HTTP/2.
La elección del mecanismo de comunicación es una de las decisiones arquitectónicas más importantes del PFC. Los criterios principales son:
- Rendimiento requerido (latencia/throughput)
- Heterogeneidad de plataformas
- Necesidad de tipado fuerte
- Facilidad de pruebas y depuración
En la Guía GA-SUM-01 implementarán sockets TCP y gRPC en Python, medirán latencia de ambos, y justificarán cuál usarían en su PFC.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SOCKETS TCP Y UDP (NOTAS AMPLIADAS)
EL MODELO SOCKET EN PROFUNDIDAD:
Un socket es un descriptor de fichero que referencia un endpoint de comunicación en el kernel del SO. En Java, java.net.Socket y java.net.ServerSocket envuelven las llamadas al sistema. En Python, socket.socket().
THREE-WAY HANDSHAKE TCP:
1. SYN: cliente envía segmento con flag SYN y su número de secuencia inicial (ISN) aleatorio → SYN_SENT
2. SYN-ACK: servidor responde con SYN (su ISN) + ACK (ISN cliente + 1) → SYN_RECEIVED
3. ACK: cliente confirma el ISN del servidor → ESTABLISHED en ambos lados
Costo: ~1.5 RTT antes del primer byte de datos. QUIC reduce esto a 0-RTT en conexiones reutilizadas.
GESTIÓN DE HILOS EN EL SERVIDOR:
Un servidor iterativo (acepta y atiende un cliente a la vez) es inaceptable en producción. Las estrategias:
- Thread-per-connection: simple pero no escala (1M conexiones = 1M hilos = colapso de RAM)
- Thread pool: N hilos atienden M conexiones (M &gt;&gt; N). Usado en Tomcat, Jetty.
- Event loop + non-blocking I/O (NIO): un solo hilo maneja miles de conexiones con select/epoll. Usado en Node.js, Netty, nginx.
- Coroutines/Virtual threads (Java 21+): Project Loom — hilos virtuales ligeros. Combina la simplicidad del modelo thread-per-connection con la eficiencia del NIO.
En la práctica GA-SUM-01 usarán Python con ThreadingTCPServer (thread pool) y medirán latencia.
NOTA SOBRE TCP EN MICROSERVICIOS:
En un sistema de microservicios con 100 servicios comunicándose entre sí, se crean/destruyen miles de conexiones TCP por segundo. Los contenedores usan keep-alive y connection pooling para amortizar el costo del handshake. Kubernetes con Istio/Envoy añade mTLS automático (handshake TLS adicional sobre TCP).
PREGUNTA PARA DISCUTIR: ¿Por qué HTTP/3 eligió UDP (QUIC) en lugar de TCP?
Respuesta: TCP tiene head-of-line blocking a nivel de la pila del SO — si un paquete de un stream se pierde, todos los streams de la misma conexión se bloquean esperando la retransmisión. QUIC implementa multiplexing de streams sin HOL blocking a nivel de protocolo.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RPC Y RMI (NOTAS AMPLIADAS)
HISTORIA DEL RPC:
El concepto fue formalizado por Birrell y Nelson en 1984 (Xerox PARC). La idea central: hacer que una llamada a procedimiento remoto sea "tan conveniente como una llamada local". Esto requiere resolver:
1. Marshalling/Unmarshalling: convertir los parámetros a bytes y viceversa
2. Binding: localizar el servidor que implementa el procedimiento
3. Semántica de fallo: ¿qué pasa si el servidor falla a mitad de la ejecución?
SEMÁNTICA DE FALLO — CONCEPTO CRÍTICO:
- At-most-once: si hay fallo, el procedimiento se ejecutó 0 o 1 veces (TCP RPC garantiza esto)
- At-least-once: si hay fallo, se reintenta → puede ejecutarse múltiples veces (solo para operaciones idempotentes)
- Exactly-once: se ejecutó exactamente una vez (requiere registro + 2PC, muy costoso)
Para operaciones no idempotentes (crear cuenta bancaria, procesar pago), SOLO "at-most-once" es aceptable. Esto es clave para el diseño del PFC.
JAVA RMI — DEMO EN INTELLIJ:
El código del semana02.tex de la asignatura tiene la implementación completa:
- CalculadoraRemota.java (interface): extends Remote; lanza RemoteException
- CalculadoraImpl.java: extends UnicastRemoteObject
- ServidorRMI.java: Registry.createRegistry(1099); Naming.bind()
- ClienteRMI.java: Naming.lookup("rmi://localhost/Calculadora")
GRPC — VENTAJAS EN PRODUCCIÓN:
1. HTTP/2: multiplexing de múltiples RPCs sobre una sola conexión TCP (sin HOL blocking)
2. Protobuf: 3-10x más compacto que JSON, 10x más rápido de serializar
3. Streaming bidireccional: el servidor puede enviar actualizaciones al cliente sin que el cliente pregunte (streaming gRPC)
4. Deadlines: el cliente puede decir "si no respondes en 500ms, cancela" — se propaga al servidor
5. Interceptors: similar a middleware HTTP, para logging, autenticación, tracing
¿CUÁNDO USAR gRPC vs REST?
- gRPC: comunicación interna entre microservicios, latencia crítica, interfaces bien definidas
- REST/JSON: APIs públicas, necesidad de curl-debuggability, clientes browser JavaScript
- Muchas empresas (Netflix, Google) usan gRPC interno y REST externo (API Gateway traduce)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3 — MIDDLEWARE DISTRIBUIDO
El middleware es, literalmente, el software en el medio. Es todo lo que se sitúa entre la aplicación y el sistema operativo/red para abstraer la complejidad de la distribución.
La cita clásica de Tanenbaum y van Steen: "El middleware es la capa de software que hace que el sistema distribuido parezca un sistema único y coherente a sus usuarios."
Desde el punto de vista pedagógico, el middleware implementa las transparencias ANSA que vieron la semana pasada:
- Transparencia de ubicación → Naming/Directory service
- Transparencia de acceso → RPC/RMI stub
- Transparencia de replicación → Replica management middleware
- Transparencia de fallos → Circuit breaker, retry logic
En la industria actual, el middleware toma formas muy concretas:
- Message brokers (Kafka, RabbitMQ): desacoplamiento temporal entre productor y consumidor
- API Gateway (Kong, AWS API GW, NGINX): punto único de entrada, autenticación, rate limiting
- Service mesh (Istio, Linkerd): sidecar proxy que maneja todo el tráfico de red entre microservicios
Esta sección es más corta porque el contenido profundo de microservicios y API Gateway se desarrolla en la Semana 6. Aquí solo establecemos el vocabulario y los conceptos fundamentales.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MIDDLEWARE (NOTAS AMPLIADAS)
MIDDLEWARE EN LA PILA TECNOLÓGICA:
El diagrama de capas muestra que el middleware siempre se interpone entre la aplicación y la infraestructura de red. Esto le permite:
1. Presentar una interfaz uniforme a las aplicaciones, independientemente de la red subyacente
2. Implementar servicios horizontales (cross-cutting concerns) una sola vez para todas las aplicaciones
MESSAGE BROKER — KAFKA vs. RABBITMQ:
Kafka fue diseñado para retención de mensajes (log distribuido): los mensajes persisten durante días/semanas y los consumidores pueden releer mensajes pasados. Es ideal para procesamiento de eventos, auditoría, y replay.
RabbitMQ fue diseñado para enrutamiento inteligente: los mensajes se eliminan cuando el consumidor los confirma. Ideal para colas de trabajo, RPC asíncrono.
API GATEWAY — POR QUÉ ES NECESARIO:
Sin API Gateway, cada microservicio debe implementar: autenticación, rate limiting, logging, CORS, SSL termination. Esto viola el principio DRY y crea inconsistencias.
Con API Gateway: el cliente hace una sola petición a una URL, el gateway enruta al microservicio correcto, aplica políticas de seguridad, y devuelve la respuesta. Los microservicios solo implementan lógica de negocio.
En la Práctica 2 (GA-SUM-02, semana 7) configurarán Nginx como API Gateway.
SERVICE MESH — CONCEPTO AVANZADO:
Istio/Envoy añade un proxy sidecar (contenedor extra) a cada pod de Kubernetes. Todo el tráfico de red pasa por el proxy, que puede:
- Encriptar automáticamente (mTLS)
- Implementar circuit breaker sin cambiar el código de la aplicación
- Exportar métricas a Prometheus
- Generar trazas distribuidas a Jaeger
Esto implementa varias transparencias ANSA automáticamente: transparencia de fallos (circuit breaker), transparencia de replicación (load balancing), transparencia de acceso (protocolo uniforme).
CONEXIÓN CON EL PFC:
Los estudiantes deben decidir en TA-PFC-E1 qué componentes de middleware usará su sistema. La justificación debe ser técnica: ¿por qué Kafka y no RabbitMQ? ¿Por qué API Gateway y no comunicación directa?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4 — SINCRONIZACIÓN Y RELOJES LÓGICOS DE LAMPORT
Esta es la sección más matemáticamente rica de la semana y requiere preparación cuidadosa del docente.
El problema de fondo: en un sistema distribuido, no hay reloj físico global. Cada nodo tiene su propio reloj (quartz, TCXO) que deriva a velocidades ligeramente diferentes. NTP puede sincronizar relojes con precisión de ~10ms en una red local. Pero 10ms es una eternidad para un procesador moderno que ejecuta 10^9 instrucciones por segundo.
¿Por qué importa el orden de los eventos?
En una base de datos distribuida, si dos nodos procesan transacciones concurrentes, el orden en que se aplican determina el resultado final. Si el nodo A y el nodo B tienen relojes desfasados, sus timestamps no son comparables.
Lamport (1978) resolvió este problema con elegancia matemática: no necesitas relojes físicos si puedes definir un orden parcial de eventos basado en las relaciones de causalidad.
La clave pedagógica: el algoritmo de Lamport NO dice qué evento ocurrió primero en el mundo físico. Dice qué evento PUEDE HABER CAUSADO qué otro evento. Es un orden lógico, no físico.
Esta distinción entre causalidad y simultaneidad es uno de los conceptos más contraintuitivos del curso y requiere múltiples ejemplos concretos para consolidarse.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EL PROBLEMA DEL TIEMPO (NOTAS AMPLIADAS)
POR QUÉ NTP NO ES SUFICIENTE:
NTP (Network Time Protocol, RFC 5905) sincroniza relojes del sistema con una jerarquía de servidores de tiempo. En condiciones normales:
- Stratum 0: relojes atómicos y GPS (±100ns)
- Stratum 1: servidores directamente conectados al Stratum 0 (±1μs)
- Stratum 2: sincronizados con Stratum 1 via red (±10ms en LAN, ±100ms en WAN)
Los servidores de Google y Amazon usan disciplina PTP (IEEE 1588) y relojes GPS internos para lograr ±10μs. Pero incluso esto es insuficiente para garantizar el orden de transacciones en bases de datos distribuidas.
Google Spanner resuelve el problema con TrueTime API: en lugar de un timestamp exacto, provee un intervalo [earliest, latest] garantizado. Si los intervalos de dos transacciones no se solapan, el orden está garantizado. Si se solapan, Spanner ESPERA (commit wait) hasta que el intervalo se resuelve.
EL EJEMPLO BANCARIO — ANÁLISIS PROFUNDO:
El escenario del slide ilustra un problema real: el "phantom read" causado por relojes desincronizados. En la práctica:
1. El cliente retira $500 de la cuenta en el nodo A (Quito) a las 10:00:00.000 según el reloj de A
2. Antes de que la confirmación llegue al nodo B, el cliente consulta el saldo en B (Guayaquil)
3. El reloj de B está adelantado: marca 10:00:00.180, que es DESPUÉS del retiro según el reloj de A
4. Pero el mensaje de retiro AÚN NO llegó a B (latencia de red: 200ms)
5. B ve el saldo COMPLETO y muestra que hay suficiente dinero para otro retiro
6. El sistema autoriza el segundo retiro → sobregiro
Solución real: 2PC (two-phase commit) o Paxos/Raft para consenso distribuido. Estos protocolos aparecen en la Semana 4.
LA RELACIÓN SUCEDE-ANTES (happens-before →):
Lamport definió formalmente: "a → b" (a ocurre antes que b) si:
1. a y b son eventos en el mismo proceso, y a ocurre antes que b en ese proceso, O
2. a es el envío de un mensaje m y b es la recepción de ese mismo mensaje m, O
3. existe c tal que a → c y c → b (transitividad)
Dos eventos son CONCURRENTES (notación: a || b) si ni a → b ni b → a. La concurrencia NO significa que ocurrieron al mismo tiempo físico — significa que no hay relación causal entre ellos.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ALGORITMO DE LAMPORT (NOTAS AMPLIADAS)
DERIVACIÓN FORMAL DEL ALGORITMO:
La relación sucede-antes (→) define un ORDEN PARCIAL sobre los eventos del sistema. "Parcial" porque dos eventos concurrentes (a || b) no tienen relación de orden definida entre ellos.
El objetivo del reloj de Lamport es asignar a cada evento e un número entero C(e) tal que:
- Si a → b, entonces C(a) &lt; C(b) [consistencia con la causalidad]
- La asignación es computacionalmente eficiente (O(1) por evento)
Demostración de que las 3 reglas satisfacen la propiedad:
- R1: si a y b están en el mismo proceso y a es anterior a b, entonces C(b) = C(a) + n (n ≥ 1) → C(a) &lt; C(b) ✓
- R2+R3: si a es el envío de m y b es la recepción, entonces C(b) = max(C_local, C(a)) + 1 ≥ C(a) + 1 &gt; C(a) ✓
- Transitividad: se sigue directamente ✓
VERIFICACIÓN DEL EJEMPLO EN EL SLIDE:
Proceso P1: inicia con C=0
- Evento a: C(a) = 0+1 = 1
- Evento b: C(b) = 1+1 = 2 → envía mensaje m1 con timestamp 2
- Evento e: recibe m3 (timestamp 4 de P3), C(e) = max(3, 4)+1 = 5 [el slide dice C=4, verificar]
Proceso P2: inicia con C=0
- Evento c: C(c) = 0+1 = 1
- Evento d: recibe m1 (timestamp 2 de P1), C(d) = max(1, 2)+1 = 3 ✓ → envía m2 con timestamp 3
Proceso P3: inicia con C=0
- Evento g: C(g) = 0+1 = 1
- Evento h: recibe m2 (timestamp 3 de P2), C(h) = max(1, 3)+1 = 4 ✓ → envía m3 con timestamp 4
Entonces e: recibe m3 (timestamp 4), C(e) = max(C_P1_before_e, 4)+1 = max(2, 4)+1 = 5, NO 4 como dice el slide.
CORRECCIÓN: en clase, hacer el cálculo correcto en el pizarrón.
ORDEN TOTAL CON DESEMPATE:
Los relojes de Lamport definen un orden PARCIAL (eventos concurrentes tienen el mismo valor o ambos órdenes son posibles). Para obtener un orden TOTAL, se desempata con el ID del proceso:
- Si C(a) = C(b) y a está en Pi, b está en Pj, entonces a &lt; b si i &lt; j.
CONEXIÓN CON LA PRÁCTICA GA-SUM-01:
En la práctica, los estudiantes implementan:
class LamportClock:
    def __init__(self): self.time = 0
    def increment(self): self.time += 1; return self.time
    def update(self, received_time): self.time = max(self.time, received_time) + 1; return self.time
Cada mensaje enviado incluye el timestamp de Lamport en el JSON: {"sender": "P1", "timestamp": 3, "message": "HORA"}
Al recibir, se llama update(received_timestamp).
Los estudiantes registran todos los timestamps y verifican que la propiedad a → b ⟹ C(a) &lt; C(b) se cumple empíricamente.
RELOJES VECTORIALES (MENCIONARLO BREVEMENTE):
Los relojes de Lamport tienen una limitación: de C(a) &lt; C(b) no podemos concluir a → b. Los relojes vectoriales de Fidge-Mattern (1988) resuelven esto asignando a cada proceso un vector V[1..n] donde V[i] es la cuenta de eventos del proceso i conocida por el proceso actual. Con relojes vectoriales, a → b si y solo si V(a) &lt; V(b) (componente a componente). Esto se verá con más profundidad en la Semana 4 (coordinación).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ACTIVIDADES DE LA SEMANA (NOTAS AMPLIADAS)
TALLER FORM-TL-01 — GUÍA DE CONDUCCIÓN:
Duración: 3 horas de práctica en el laboratorio.
Fase 1 (20 min): El docente expone el contexto del PFC de cada grupo (los grupos ya fueron formados la semana 1). Cada grupo recibe su tema de PFC y el enunciado del taller.
Fase 2 (60 min): Diseño del diagrama de secuencia.
- Los grupos deben elegir entre sockets TCP, RMI o gRPC para la comunicación principal del PFC.
- Deben justificar la elección con una tabla comparativa (latencia estimada, heterogeheidad, complejidad de implementación).
- Dibujan el diagrama de secuencia usando la notación UML o de sistemas distribuidos.
Fase 3 (60 min): Ejercicio de Lamport.
- Cada grupo recibe un escenario con 3 procesos y 6-8 mensajes.
- Calculan los timestamps de Lamport manualmente.
- Verifican la propiedad: si a → b entonces C(a) &lt; C(b).
- Un grupo voluntario expone su solución al resto.
Fase 4 (30 min): Retroalimentación docente por grupo.
- El docente revisa el diagrama y da feedback específico.
- Se orienta el inicio del documento TA-PFC-E1.
- Recordatorio: el repositorio GitHub debe estar creado y todos los miembros deben tener al menos 1 commit antes del fin de la semana.
FICHA BIBLIOGRÁFICA FORM-FB-01:
El objetivo pedagógico no es solo encontrar los artículos — es aprender a leer artículos académicos con criterio. La ficha debe incluir:
1. Referencia completa en formato IEEE (autor, título, revista/conferencia, vol., no., pp., año, DOI)
2. Problema que aborda el artículo (1 párrafo)
3. Metodología (qué hicieron para resolver el problema)
4. Resultado principal (el hallazgo más importante)
5. Conexión con el PFC (¿cómo podría usar esta información en su proyecto?)
Fuentes recomendadas para esta semana:
- IEEE Xplore: "distributed systems communication middleware survey"
- ACM DL: "Lamport clock distributed systems"
- Springer: "microservices communication patterns"
AVANCE PFC — TA-PFC-E1:
Los grupos deben saber que esta semana empieza el contador para la entrega de la Semana 4. La rúbrica completa está en el documento rubrica_PFC_E1_cientifica.docx. Enfatizar los criterios de mayor peso:
- D2.1 (7%): Diagrama C4 con análisis de propiedades distribuidas (CAP)
- D4.1 (7%): Compilación LaTeX sin errores
- D4.3 (6%): ≥6 artículos indexados con DOI
El docente recomienda que los grupos dividan el trabajo así esta semana:
- Arquitecto: diseño del diagrama C4 nivel 1 y toma de decisiones arquitectónicas
- Desarrollador: setup del entorno (IntelliJ/Python), primer commit del repositorio
- Calidad: revisión de la rúbrica, lista de verificación antes de entrega
- Documentalista: búsqueda y fichado de las 6 referencias bibliográficas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GUÍA Y RÚBRICA TALLER TL-01 (NOTAS PARA EL DOCENTE)
CÓMO CONDUCIR LA ACTIVIDAD:
ANTES DE COMENZAR (5 min):
- Distribuir la hoja de enunciado impresa o compartir el PDF en el LMS
- Confirmar que todos tienen IntelliJ IDEA o VSCode instalado con Java 21/Python 3.10
- Verificar que todos los integrantes tienen cuenta GitHub y el repositorio grupal está creado
FASE DE MODELADO (90 min):
El docente circula por los grupos cada 15 minutos. Preguntas guía para activar el pensamiento:
- "¿Por qué eligieron gRPC/TCP/RMI en vez de las otras opciones?"
- "¿Cuántos mensajes se intercambian en el flujo más común del PFC?"
- "¿Qué pasa si el nodo X falla a mitad del flujo? ¿Cómo lo manejarían?"
- "¿El timestamp de Lamport del evento D es correcto? ¿Cómo lo calcularon?"
SEÑALES DE QUE UN GRUPO NECESITA APOYO:
- Diagrama con solo 2 nodos (el mínimo es 3)
- Elección de mecanismo sin justificación técnica ("elegimos sockets porque es más fácil")
- Timestamps incorrectos (no aplicaron la Regla R3 correctamente)
- No tienen repositorio GitHub creado
EVALUACIÓN — ACLARACIONES:
Criterio "Diagrama correcto (30 pts)":
- Excelente (27-30): diagrama con actores correctamente identificados, mensajes con nombre y tipo (sincrónico/asincrónico), flechas correctas (sólida para envío, punteada para retorno), orden causal consistente con Lamport
- Satisfactorio (21-26): diagrama completo con algún error menor de notación
- En desarrollo (15-20): diagrama incompleto o con errores de notación sistemáticos
- Insuficiente (&lt;15): diagrama confuso o incorrecto
Criterio "Timestamps de Lamport (25 pts)":
- Excelente (23-25): todos los timestamps correctos, la propiedad a→b⟹C(a)&lt;C(b) verificada explícitamente para al menos 2 pares de eventos causalmente relacionados
- Satisfactorio (18-22): timestamps mayormente correctos, 1-2 errores en la aplicación de R3
- En desarrollo (12-17): lógica de incremento presente pero R3 mal aplicada consistentemente
- Insuficiente (&lt;12): timestamps sin relación con el algoritmo de Lamport
CONEXIÓN CON GA-SUM-01:
El diagrama que producen en este taller es el punto de partida para la Práctica 1. La decisión de mecanismo de comunicación que toman aquí deberá ser implementada y medida en la práctica (semana 4).
TIEMPO ESTIMADO POR FASE:
- 0:00-0:20: presentación de la actividad, formación de grupos
- 0:20-1:00: diseño del diagrama de secuencia
- 1:00-1:30: cálculo de timestamps de Lamport
- 1:30-2:15: documentación y justificación
- 2:15-2:45: retroalimentación docente por grupo
- 2:45-3:00: puesta en común, cierre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RÚBRICA GA-SUM-01 (NOTAS COMPLETAS)
ESTA SEMANA ES DE PREPARACIÓN. La entrega es en semana 4. Pero los grupos deben iniciar YA:
QUÉ DEBEN HACER ESTA SEMANA PARA GA-SUM-01:
1. Crear el repositorio GitHub con la estructura:
   /src/sockets/server.py (o .java)
   /src/grpc/messaging.proto
   /docs/
   README.md
2. Instalar dependencias: pip install grpcio grpcio-tools protobuf pandas matplotlib
3. Verificar que Python 3.10+ funciona en todos los equipos del grupo
4. Primer commit del repositorio (todos los integrantes)
CRITERIO DOCUMENTO LATEX (30%) — EL MÁS IMPORTANTE:
30 puntos = 30% de la calificación. Es el criterio con mayor peso porque documenta TODO el trabajo. Los errores más comunes:
- No tener instalado TeX Live: solución → usar Overleaf (gratuito, sin instalación)
- Olvidar compilar con pdflatex + biber + pdflatex + pdflatex (secuencia correcta)
- Referencias sin DOI: las refs IEEE DEBEN tener DOI verificable. Si al hacer click en el DOI no abre el artículo, la referencia es inválida.
- Imágenes no referenciadas en el texto: toda figura debe tener caption y ser citada con 
ef{fig:X} en el texto.
CRITERIO IMPLEMENTACIÓN (40% entre TCP y gRPC):
No se evalúa que el código sea "perfectamente eficiente". Se evalúa que:
- El servidor escuche en el puerto correcto y acepte múltiples clientes
- Los mensajes incluyan el timestamp de Lamport
- Se actualice el timestamp según la Regla R3 al recibir
- Se registren TODOS los timestamps en JSON para análisis posterior
EJEMPLO DE CÓDIGO PYTHON SOCKETS (para mostrar en clase):
import socket, json, time
class LamportClock:
    def __init__(self): self.time = 0
    def tick(self): self.time += 1; return self.time
    def update(self, t): self.time = max(self.time, t) + 1; return self.time
clock = LamportClock()
server = socket.socket(socket.AF_INET, socket.SOCK_STREAM)
server.bind(('0.0.0.0', 5000))
server.listen(5)
conn, addr = server.accept()
raw = conn.recv(4096).decode()
msg = json.loads(raw)
ts = clock.update(msg['timestamp'])
print(f"Recibido ts={msg['timestamp']} | Mi ts={ts}")
CRITERIO ANÁLISIS COMPARATIVO (15%):
El análisis debe ser técnico, no subjetivo. Ejemplo de texto aceptable:
"gRPC presentó una latencia media de 1.8ms (σ=0.3ms) vs. 3.2ms (σ=0.8ms) para sockets TCP en 100 envíos. La diferencia se explica por el uso de HTTP/2 multiplexing y serialización Protobuf en gRPC vs. overhead de JSON en TCP."
Ejemplo de texto NO aceptable:
"gRPC es mejor porque es más moderno y tiene más funciones." (no cuantificado, no técnico)
CRITERIO REPOSITORIO (15%):
El docente verificará el historial de commits con:
git log --all --oneline --author="NombreEstudiante"
Si un integrante tiene 0 commits, su nota individual se reduce 25% según el reglamento.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CIERRE (NOTAS DE CIERRE)
ESTRATEGIA DE CIERRE (últimos 10 minutos):
1. SÍNTESIS CONCEPTUAL (3 min):
El docente hace la síntesis verbalmente: "Hoy conectamos tres conceptos que parecen separados pero son inseparables en la práctica:
- Los modelos (C-S, P2P) determinan QUÉ entidades se comunican
- Los mecanismos (sockets, RMI, gRPC) determinan CÓMO se comunican
- Lamport nos da herramientas para razonar CUÁNDO ocurre cada cosa
En la práctica GA-SUM-01 van a usar los tres juntos: implementarán sockets TCP y gRPC (CÓMO), simularán 3 nodos en sus computadoras (QUÉ), y añadirán Lamport timestamps a cada mensaje (CUÁNDO)."
2. PREGUNTAS DE REFLEXIÓN (5 min):
No se responden en clase — son para estimular la autoevaluación. Si hay tiempo, se pueden hacer en parejas durante 2 minutos y compartir una respuesta.
Respuestas esperadas (para referencia del docente):
Q1: WhatsApp usa WebRTC (UDP-based) para llamadas de voz porque RMI es Java-only, no heterogéneo. Para 500M llamadas simultáneas, la latencia de TCP/RMI sería inaceptable. gRPC sería mejor opción para señalización.
Q2: En el flujo A→B→A: A genera evento (Ci+1), envía mensaje m1. B recibe y actualiza (max(Cb, Cm1)+1), genera respuesta, envía m2. A recibe m2 y actualiza (max(Ca_actual, Cm2)+1). Total: 4 actualizaciones de timestamp (2 eventos de envío + 2 de recepción).
Q3: UDP para streaming de datos en tiempo real dentro del PFC (ej. telemetría de sensores IoT, actualizaciones de posición GPS). La pérdida de un paquete de telemetría es tolerable; la latencia de retransmisión TCP no lo es.
3. PRÓXIMA SEMANA — ANTICIPAR (2 min):
La Semana 3 introduce el teorema CAP y los mecanismos de tolerancia a fallos. Preguntar: "¿Cuál sería su PFC más parecido: CP o AP según el teorema CAP?" Esta pregunta debe responderse antes de la Semana 3.
RECORDATORIOS FINALES:
- FORM-FB-01: ficha bibliográfica para fin de esta semana
- Repositorio GitHub: al menos 1 commit por integrante antes del viernes
- Lectura previa Semana 3: van Steen cap. 5 (Naming), cap. 8 (Fault Tolerance), pp. 185-230 y 311-360
Referencias completas de esta semana:
[1] M. van Steen y A. S. Tanenbaum, Distributed Systems, 4th ed., caps. 2-5, Maarten van Steen, 2023.
[2] L. Lamport, "Time, clocks, and the ordering of events in a distributed system," Commun. ACM, vol. 21, no. 7, pp. 558-565, 1978. doi: 10.1145/359545.359563.
[3] K. Indrasiri y D. Kuruppu, gRPC: Up and Running, O'Reilly Media, 2020.
[4] W. R. Stevens et al., UNIX Network Programming, vol. 1, 3rd ed., Prentice Hall, 2004.
[5] J. F. Kurose y K. W. Ross, Redes de Computadoras, 7a ed., Pearson, 2017.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FF0020-4F13-4B6F-B1E9-8C847076F918}"/>
              </a:ext>
            </a:extLst>
          </p:cNvPr>
          <p:cNvSpPr>
            <a:spLocks noGrp="1"/>
          </p:cNvSpPr>
          <p:nvPr>
            <p:ph type="title"/>
          </p:nvPr>
        </p:nvSpPr>
        <p:spPr>
          <a:xfrm>
            <a:off x="628650" y="274638"/>
            <a:ext cx="7886700" cy="993775"/>
          </a:xfrm>
          <a:prstGeom prst="rect">
            <a:avLst/>
          </a:prstGeo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26B36B9-4B6D-4584-AE2E-F0177C6F863D}"/>
              </a:ext>
            </a:extLst>
          </p:cNvPr>
          <p:cNvSpPr>
            <a:spLocks noGrp="1"/>
          </p:cNvSpPr>
          <p:nvPr>
            <p:ph type="body" idx="1"/>
          </p:nvPr>
        </p:nvSpPr>
        <p:spPr>
          <a:xfrm>
            <a:off x="628650" y="1370013"/>
            <a:ext cx="7886700" cy="3262312"/>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0D7377"/>
          </a:solidFill>
          <a:ln w="12700">
            <a:solidFill>
              <a:srgbClr val="0D7377"/>
            </a:solidFill>
            <a:prstDash val="solid"/>
          </a:ln>
        </p:spPr>
      </p:sp>
      <p:sp>
        <p:nvSpPr>
          <p:cNvPr id="3" name="Shape 1"/>
          <p:cNvSpPr/>
          <p:nvPr/>
        </p:nvSpPr>
        <p:spPr>
          <a:xfrm>
            <a:off x="292608" y="3474720"/>
            <a:ext cx="8851392" cy="73152"/>
          </a:xfrm>
          <a:prstGeom prst="rect">
            <a:avLst/>
          </a:prstGeom>
          <a:solidFill>
            <a:srgbClr val="14A0A7"/>
          </a:solidFill>
          <a:ln w="12700">
            <a:solidFill>
              <a:srgbClr val="14A0A7"/>
            </a:solidFill>
            <a:prstDash val="solid"/>
          </a:ln>
        </p:spPr>
      </p:sp>
      <p:sp>
        <p:nvSpPr>
          <p:cNvPr id="4" name="Text 2"/>
          <p:cNvSpPr/>
          <p:nvPr/>
        </p:nvSpPr>
        <p:spPr>
          <a:xfrm>
            <a:off x="502920" y="320040"/>
            <a:ext cx="8412480" cy="347472"/>
          </a:xfrm>
          <a:prstGeom prst="rect">
            <a:avLst/>
          </a:prstGeom>
          <a:noFill/>
          <a:ln/>
        </p:spPr>
        <p:txBody>
          <a:bodyPr wrap="square" lIns="0" tIns="0" rIns="0" bIns="0" rtlCol="0" anchor="ctr"/>
          <a:lstStyle/>
          <a:p>
            <a:pPr marL="0" indent="0" algn="l">
              <a:buNone/>
            </a:pPr>
            <a:r>
              <a:rPr lang="en-US" sz="1100" b="1" kern="0" spc="200" dirty="0">
                <a:solidFill>
                  <a:srgbClr val="14A0A7"/>
                </a:solidFill>
                <a:latin typeface="Calibri" pitchFamily="34" charset="0"/>
                <a:ea typeface="Calibri" pitchFamily="34" charset="-122"/>
                <a:cs typeface="Calibri" pitchFamily="34" charset="-120"/>
              </a:rPr>
              <a:t>UNIVERSIDAD TÉCNICA ESTATAL DE QUEVEDO</a:t>
            </a:r>
            <a:endParaRPr lang="en-US" sz="1100" dirty="0"/>
          </a:p>
        </p:txBody>
      </p:sp>
      <p:sp>
        <p:nvSpPr>
          <p:cNvPr id="5" name="Text 3"/>
          <p:cNvSpPr/>
          <p:nvPr/>
        </p:nvSpPr>
        <p:spPr>
          <a:xfrm>
            <a:off x="502920" y="640080"/>
            <a:ext cx="8412480" cy="256032"/>
          </a:xfrm>
          <a:prstGeom prst="rect">
            <a:avLst/>
          </a:prstGeom>
          <a:noFill/>
          <a:ln/>
        </p:spPr>
        <p:txBody>
          <a:bodyPr wrap="square" lIns="0" tIns="0" rIns="0" bIns="0" rtlCol="0" anchor="ctr"/>
          <a:lstStyle/>
          <a:p>
            <a:pPr marL="0" indent="0" algn="l">
              <a:buNone/>
            </a:pPr>
            <a:r>
              <a:rPr lang="en-US" sz="1000" dirty="0">
                <a:solidFill>
                  <a:srgbClr val="7799BB"/>
                </a:solidFill>
                <a:latin typeface="Calibri" pitchFamily="34" charset="0"/>
                <a:ea typeface="Calibri" pitchFamily="34" charset="-122"/>
                <a:cs typeface="Calibri" pitchFamily="34" charset="-120"/>
              </a:rPr>
              <a:t>Facultad de Ciencias de la Computación · Carrera de Ing. de Software</a:t>
            </a:r>
            <a:endParaRPr lang="en-US" sz="1000" dirty="0"/>
          </a:p>
        </p:txBody>
      </p:sp>
      <p:sp>
        <p:nvSpPr>
          <p:cNvPr id="6" name="Text 4"/>
          <p:cNvSpPr/>
          <p:nvPr/>
        </p:nvSpPr>
        <p:spPr>
          <a:xfrm>
            <a:off x="502920" y="1051560"/>
            <a:ext cx="8321040" cy="2011680"/>
          </a:xfrm>
          <a:prstGeom prst="rect">
            <a:avLst/>
          </a:prstGeom>
          <a:noFill/>
          <a:ln/>
        </p:spPr>
        <p:txBody>
          <a:bodyPr wrap="square" lIns="0" tIns="0" rIns="0" bIns="0"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Modelos y Comunicación</a:t>
            </a:r>
            <a:endParaRPr lang="en-US" sz="4200" dirty="0"/>
          </a:p>
          <a:p>
            <a:pPr marL="0" indent="0" algn="l">
              <a:buNone/>
            </a:pPr>
            <a:r>
              <a:rPr lang="en-US" sz="4200" b="1" dirty="0">
                <a:solidFill>
                  <a:srgbClr val="FFFFFF"/>
                </a:solidFill>
                <a:latin typeface="Calibri" pitchFamily="34" charset="0"/>
                <a:ea typeface="Calibri" pitchFamily="34" charset="-122"/>
                <a:cs typeface="Calibri" pitchFamily="34" charset="-120"/>
              </a:rPr>
              <a:t>en Sistemas Distribuidos</a:t>
            </a:r>
            <a:endParaRPr lang="en-US" sz="4200" dirty="0"/>
          </a:p>
        </p:txBody>
      </p:sp>
      <p:sp>
        <p:nvSpPr>
          <p:cNvPr id="7" name="Shape 5"/>
          <p:cNvSpPr/>
          <p:nvPr/>
        </p:nvSpPr>
        <p:spPr>
          <a:xfrm>
            <a:off x="502920" y="3063240"/>
            <a:ext cx="1440180" cy="274320"/>
          </a:xfrm>
          <a:prstGeom prst="rect">
            <a:avLst/>
          </a:prstGeom>
          <a:solidFill>
            <a:srgbClr val="0D7377"/>
          </a:solidFill>
          <a:ln w="12700">
            <a:solidFill>
              <a:srgbClr val="0D7377"/>
            </a:solidFill>
            <a:prstDash val="solid"/>
          </a:ln>
        </p:spPr>
      </p:sp>
      <p:sp>
        <p:nvSpPr>
          <p:cNvPr id="8" name="Text 6"/>
          <p:cNvSpPr/>
          <p:nvPr/>
        </p:nvSpPr>
        <p:spPr>
          <a:xfrm>
            <a:off x="502920" y="3063240"/>
            <a:ext cx="144018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Sockets TCP/UDP</a:t>
            </a:r>
            <a:endParaRPr lang="en-US" sz="1100" dirty="0"/>
          </a:p>
        </p:txBody>
      </p:sp>
      <p:sp>
        <p:nvSpPr>
          <p:cNvPr id="9" name="Shape 7"/>
          <p:cNvSpPr/>
          <p:nvPr/>
        </p:nvSpPr>
        <p:spPr>
          <a:xfrm>
            <a:off x="2052828" y="3063240"/>
            <a:ext cx="973836" cy="274320"/>
          </a:xfrm>
          <a:prstGeom prst="rect">
            <a:avLst/>
          </a:prstGeom>
          <a:solidFill>
            <a:srgbClr val="0D7377"/>
          </a:solidFill>
          <a:ln w="12700">
            <a:solidFill>
              <a:srgbClr val="0D7377"/>
            </a:solidFill>
            <a:prstDash val="solid"/>
          </a:ln>
        </p:spPr>
      </p:sp>
      <p:sp>
        <p:nvSpPr>
          <p:cNvPr id="10" name="Text 8"/>
          <p:cNvSpPr/>
          <p:nvPr/>
        </p:nvSpPr>
        <p:spPr>
          <a:xfrm>
            <a:off x="2052828" y="3063240"/>
            <a:ext cx="973836"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RPC &amp; RMI</a:t>
            </a:r>
            <a:endParaRPr lang="en-US" sz="1100" dirty="0"/>
          </a:p>
        </p:txBody>
      </p:sp>
      <p:sp>
        <p:nvSpPr>
          <p:cNvPr id="11" name="Shape 9"/>
          <p:cNvSpPr/>
          <p:nvPr/>
        </p:nvSpPr>
        <p:spPr>
          <a:xfrm>
            <a:off x="3136392" y="3063240"/>
            <a:ext cx="1673352" cy="274320"/>
          </a:xfrm>
          <a:prstGeom prst="rect">
            <a:avLst/>
          </a:prstGeom>
          <a:solidFill>
            <a:srgbClr val="0D7377"/>
          </a:solidFill>
          <a:ln w="12700">
            <a:solidFill>
              <a:srgbClr val="0D7377"/>
            </a:solidFill>
            <a:prstDash val="solid"/>
          </a:ln>
        </p:spPr>
      </p:sp>
      <p:sp>
        <p:nvSpPr>
          <p:cNvPr id="12" name="Text 10"/>
          <p:cNvSpPr/>
          <p:nvPr/>
        </p:nvSpPr>
        <p:spPr>
          <a:xfrm>
            <a:off x="3136392" y="3063240"/>
            <a:ext cx="1673352"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Relojes de Lamport</a:t>
            </a:r>
            <a:endParaRPr lang="en-US" sz="1100" dirty="0"/>
          </a:p>
        </p:txBody>
      </p:sp>
      <p:sp>
        <p:nvSpPr>
          <p:cNvPr id="13" name="Shape 11"/>
          <p:cNvSpPr/>
          <p:nvPr/>
        </p:nvSpPr>
        <p:spPr>
          <a:xfrm>
            <a:off x="4919472" y="3063240"/>
            <a:ext cx="1051560" cy="274320"/>
          </a:xfrm>
          <a:prstGeom prst="rect">
            <a:avLst/>
          </a:prstGeom>
          <a:solidFill>
            <a:srgbClr val="0D7377"/>
          </a:solidFill>
          <a:ln w="12700">
            <a:solidFill>
              <a:srgbClr val="0D7377"/>
            </a:solidFill>
            <a:prstDash val="solid"/>
          </a:ln>
        </p:spPr>
      </p:sp>
      <p:sp>
        <p:nvSpPr>
          <p:cNvPr id="14" name="Text 12"/>
          <p:cNvSpPr/>
          <p:nvPr/>
        </p:nvSpPr>
        <p:spPr>
          <a:xfrm>
            <a:off x="4919472" y="3063240"/>
            <a:ext cx="105156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Middleware</a:t>
            </a:r>
            <a:endParaRPr lang="en-US" sz="1100" dirty="0"/>
          </a:p>
        </p:txBody>
      </p:sp>
      <p:sp>
        <p:nvSpPr>
          <p:cNvPr id="15" name="Text 13"/>
          <p:cNvSpPr/>
          <p:nvPr/>
        </p:nvSpPr>
        <p:spPr>
          <a:xfrm>
            <a:off x="502920" y="3794760"/>
            <a:ext cx="8321040" cy="731520"/>
          </a:xfrm>
          <a:prstGeom prst="rect">
            <a:avLst/>
          </a:prstGeom>
          <a:noFill/>
          <a:ln/>
        </p:spPr>
        <p:txBody>
          <a:bodyPr wrap="square" lIns="0" tIns="0" rIns="0" bIns="0" rtlCol="0" anchor="t"/>
          <a:lstStyle/>
          <a:p>
            <a:pPr marL="0" indent="0">
              <a:buNone/>
            </a:pPr>
            <a:r>
              <a:rPr lang="en-US" sz="1100" dirty="0">
                <a:solidFill>
                  <a:srgbClr val="AABBCC"/>
                </a:solidFill>
              </a:rPr>
              <a:t>Semana 02  ·  11–17 Mayo 2026  ·  Unidad 1 — Generalidades de SD</a:t>
            </a:r>
            <a:endParaRPr lang="en-US" sz="1100" dirty="0"/>
          </a:p>
          <a:p>
            <a:pPr marL="0" indent="0">
              <a:buNone/>
            </a:pPr>
            <a:r>
              <a:rPr lang="en-US" sz="1000" dirty="0">
                <a:solidFill>
                  <a:srgbClr val="667788"/>
                </a:solidFill>
              </a:rPr>
              <a:t>ISR-701  ·  Aplicaciones Distribuidas  ·  Séptimo Nivel</a:t>
            </a:r>
            <a:endParaRPr lang="en-US" sz="1100" dirty="0"/>
          </a:p>
        </p:txBody>
      </p:sp>
      <p:sp>
        <p:nvSpPr>
          <p:cNvPr id="16" name="Text 14"/>
          <p:cNvSpPr/>
          <p:nvPr/>
        </p:nvSpPr>
        <p:spPr>
          <a:xfrm>
            <a:off x="502920" y="4572000"/>
            <a:ext cx="8229600" cy="320040"/>
          </a:xfrm>
          <a:prstGeom prst="rect">
            <a:avLst/>
          </a:prstGeom>
          <a:noFill/>
          <a:ln/>
        </p:spPr>
        <p:txBody>
          <a:bodyPr wrap="square" lIns="0" tIns="0" rIns="0" bIns="0" rtlCol="0" anchor="ctr"/>
          <a:lstStyle/>
          <a:p>
            <a:pPr marL="0" indent="0" algn="l">
              <a:buNone/>
            </a:pPr>
            <a:r>
              <a:rPr lang="en-US" sz="1200" b="1" dirty="0">
                <a:solidFill>
                  <a:srgbClr val="14A0A7"/>
                </a:solidFill>
                <a:latin typeface="Calibri" pitchFamily="34" charset="0"/>
                <a:ea typeface="Calibri" pitchFamily="34" charset="-122"/>
                <a:cs typeface="Calibri" pitchFamily="34" charset="-120"/>
              </a:rPr>
              <a:t>Ing. Gleiston Guerrero Ulloa, Mg.Sc.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Agenda de la Semana 02</a:t>
            </a:r>
            <a:endParaRPr lang="en-US" sz="1000" dirty="0"/>
          </a:p>
        </p:txBody>
      </p:sp>
      <p:sp>
        <p:nvSpPr>
          <p:cNvPr id="4" name="Text 2"/>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5" name="Text 3"/>
          <p:cNvSpPr/>
          <p:nvPr/>
        </p:nvSpPr>
        <p:spPr>
          <a:xfrm>
            <a:off x="365760" y="594360"/>
            <a:ext cx="8412480" cy="457200"/>
          </a:xfrm>
          <a:prstGeom prst="rect">
            <a:avLst/>
          </a:prstGeom>
          <a:noFill/>
          <a:ln/>
        </p:spPr>
        <p:txBody>
          <a:bodyPr wrap="square" lIns="0" tIns="0" rIns="0" bIns="0" rtlCol="0" anchor="ctr"/>
          <a:lstStyle/>
          <a:p>
            <a:pPr marL="0" indent="0" algn="l">
              <a:buNone/>
            </a:pPr>
            <a:r>
              <a:rPr lang="en-US" sz="2200" b="1" dirty="0">
                <a:solidFill>
                  <a:srgbClr val="0D1B40"/>
                </a:solidFill>
                <a:latin typeface="Calibri" pitchFamily="34" charset="0"/>
                <a:ea typeface="Calibri" pitchFamily="34" charset="-122"/>
                <a:cs typeface="Calibri" pitchFamily="34" charset="-120"/>
              </a:rPr>
              <a:t>¿Qué veremos hoy?</a:t>
            </a:r>
            <a:endParaRPr lang="en-US" sz="2200" dirty="0"/>
          </a:p>
        </p:txBody>
      </p:sp>
      <p:sp>
        <p:nvSpPr>
          <p:cNvPr id="6" name="Shape 4"/>
          <p:cNvSpPr/>
          <p:nvPr/>
        </p:nvSpPr>
        <p:spPr>
          <a:xfrm>
            <a:off x="365760" y="1234440"/>
            <a:ext cx="2651760" cy="1371600"/>
          </a:xfrm>
          <a:prstGeom prst="rect">
            <a:avLst/>
          </a:prstGeom>
          <a:solidFill>
            <a:srgbClr val="E8EDF8"/>
          </a:solidFill>
          <a:ln w="12700">
            <a:solidFill>
              <a:srgbClr val="E8EDF8"/>
            </a:solidFill>
            <a:prstDash val="solid"/>
          </a:ln>
          <a:effectLst>
            <a:outerShdw blurRad="101600" dist="38100" dir="8100000" algn="bl" rotWithShape="0">
              <a:srgbClr val="000000">
                <a:alpha val="12000"/>
              </a:srgbClr>
            </a:outerShdw>
          </a:effectLst>
        </p:spPr>
      </p:sp>
      <p:sp>
        <p:nvSpPr>
          <p:cNvPr id="7" name="Shape 5"/>
          <p:cNvSpPr/>
          <p:nvPr/>
        </p:nvSpPr>
        <p:spPr>
          <a:xfrm>
            <a:off x="365760" y="1234440"/>
            <a:ext cx="292608" cy="1371600"/>
          </a:xfrm>
          <a:prstGeom prst="rect">
            <a:avLst/>
          </a:prstGeom>
          <a:solidFill>
            <a:srgbClr val="1A2D6B"/>
          </a:solidFill>
          <a:ln w="12700">
            <a:solidFill>
              <a:srgbClr val="1A2D6B"/>
            </a:solidFill>
            <a:prstDash val="solid"/>
          </a:ln>
        </p:spPr>
      </p:sp>
      <p:sp>
        <p:nvSpPr>
          <p:cNvPr id="8" name="Text 6"/>
          <p:cNvSpPr/>
          <p:nvPr/>
        </p:nvSpPr>
        <p:spPr>
          <a:xfrm>
            <a:off x="365760" y="1234440"/>
            <a:ext cx="292608" cy="13716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713232" y="1325880"/>
            <a:ext cx="2240280" cy="365760"/>
          </a:xfrm>
          <a:prstGeom prst="rect">
            <a:avLst/>
          </a:prstGeom>
          <a:noFill/>
          <a:ln/>
        </p:spPr>
        <p:txBody>
          <a:bodyPr wrap="square" lIns="0" tIns="0" rIns="0" bIns="0" rtlCol="0" anchor="ctr"/>
          <a:lstStyle/>
          <a:p>
            <a:pPr marL="0" indent="0" algn="l">
              <a:buNone/>
            </a:pPr>
            <a:r>
              <a:rPr lang="en-US" sz="1200" b="1" dirty="0">
                <a:solidFill>
                  <a:srgbClr val="1A2D6B"/>
                </a:solidFill>
                <a:latin typeface="Calibri" pitchFamily="34" charset="0"/>
                <a:ea typeface="Calibri" pitchFamily="34" charset="-122"/>
                <a:cs typeface="Calibri" pitchFamily="34" charset="-120"/>
              </a:rPr>
              <a:t>Modelos de Sistemas Distribuidos</a:t>
            </a:r>
            <a:endParaRPr lang="en-US" sz="1200" dirty="0"/>
          </a:p>
        </p:txBody>
      </p:sp>
      <p:sp>
        <p:nvSpPr>
          <p:cNvPr id="10" name="Text 8"/>
          <p:cNvSpPr/>
          <p:nvPr/>
        </p:nvSpPr>
        <p:spPr>
          <a:xfrm>
            <a:off x="713232" y="1691640"/>
            <a:ext cx="2240280" cy="822960"/>
          </a:xfrm>
          <a:prstGeom prst="rect">
            <a:avLst/>
          </a:prstGeom>
          <a:noFill/>
          <a:ln/>
        </p:spPr>
        <p:txBody>
          <a:bodyPr wrap="square" lIns="25400" tIns="25400" rIns="25400" bIns="2540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C-S, P2P, híbridos</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Arquitecturas y patrones de despliegue</a:t>
            </a:r>
            <a:endParaRPr lang="en-US" sz="1100" dirty="0"/>
          </a:p>
        </p:txBody>
      </p:sp>
      <p:sp>
        <p:nvSpPr>
          <p:cNvPr id="11" name="Shape 9"/>
          <p:cNvSpPr/>
          <p:nvPr/>
        </p:nvSpPr>
        <p:spPr>
          <a:xfrm>
            <a:off x="3200400" y="1234440"/>
            <a:ext cx="2651760" cy="1371600"/>
          </a:xfrm>
          <a:prstGeom prst="rect">
            <a:avLst/>
          </a:prstGeom>
          <a:solidFill>
            <a:srgbClr val="D8F5F7"/>
          </a:solidFill>
          <a:ln w="12700">
            <a:solidFill>
              <a:srgbClr val="D8F5F7"/>
            </a:solidFill>
            <a:prstDash val="solid"/>
          </a:ln>
          <a:effectLst>
            <a:outerShdw blurRad="101600" dist="38100" dir="8100000" algn="bl" rotWithShape="0">
              <a:srgbClr val="000000">
                <a:alpha val="12000"/>
              </a:srgbClr>
            </a:outerShdw>
          </a:effectLst>
        </p:spPr>
      </p:sp>
      <p:sp>
        <p:nvSpPr>
          <p:cNvPr id="12" name="Shape 10"/>
          <p:cNvSpPr/>
          <p:nvPr/>
        </p:nvSpPr>
        <p:spPr>
          <a:xfrm>
            <a:off x="3200400" y="1234440"/>
            <a:ext cx="292608" cy="1371600"/>
          </a:xfrm>
          <a:prstGeom prst="rect">
            <a:avLst/>
          </a:prstGeom>
          <a:solidFill>
            <a:srgbClr val="0D7377"/>
          </a:solidFill>
          <a:ln w="12700">
            <a:solidFill>
              <a:srgbClr val="0D7377"/>
            </a:solidFill>
            <a:prstDash val="solid"/>
          </a:ln>
        </p:spPr>
      </p:sp>
      <p:sp>
        <p:nvSpPr>
          <p:cNvPr id="13" name="Text 11"/>
          <p:cNvSpPr/>
          <p:nvPr/>
        </p:nvSpPr>
        <p:spPr>
          <a:xfrm>
            <a:off x="3200400" y="1234440"/>
            <a:ext cx="292608" cy="13716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3547872" y="1325880"/>
            <a:ext cx="2240280" cy="365760"/>
          </a:xfrm>
          <a:prstGeom prst="rect">
            <a:avLst/>
          </a:prstGeom>
          <a:noFill/>
          <a:ln/>
        </p:spPr>
        <p:txBody>
          <a:bodyPr wrap="square" lIns="0" tIns="0" rIns="0" bIns="0" rtlCol="0" anchor="ctr"/>
          <a:lstStyle/>
          <a:p>
            <a:pPr marL="0" indent="0" algn="l">
              <a:buNone/>
            </a:pPr>
            <a:r>
              <a:rPr lang="en-US" sz="1200" b="1" dirty="0">
                <a:solidFill>
                  <a:srgbClr val="0D7377"/>
                </a:solidFill>
                <a:latin typeface="Calibri" pitchFamily="34" charset="0"/>
                <a:ea typeface="Calibri" pitchFamily="34" charset="-122"/>
                <a:cs typeface="Calibri" pitchFamily="34" charset="-120"/>
              </a:rPr>
              <a:t>Comunicación entre Procesos</a:t>
            </a:r>
            <a:endParaRPr lang="en-US" sz="1200" dirty="0"/>
          </a:p>
        </p:txBody>
      </p:sp>
      <p:sp>
        <p:nvSpPr>
          <p:cNvPr id="15" name="Text 13"/>
          <p:cNvSpPr/>
          <p:nvPr/>
        </p:nvSpPr>
        <p:spPr>
          <a:xfrm>
            <a:off x="3547872" y="1691640"/>
            <a:ext cx="2240280" cy="822960"/>
          </a:xfrm>
          <a:prstGeom prst="rect">
            <a:avLst/>
          </a:prstGeom>
          <a:noFill/>
          <a:ln/>
        </p:spPr>
        <p:txBody>
          <a:bodyPr wrap="square" lIns="25400" tIns="25400" rIns="25400" bIns="2540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Sockets TCP/UDP</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RPC · RMI · gRPC</a:t>
            </a:r>
            <a:endParaRPr lang="en-US" sz="1100" dirty="0"/>
          </a:p>
        </p:txBody>
      </p:sp>
      <p:sp>
        <p:nvSpPr>
          <p:cNvPr id="16" name="Shape 14"/>
          <p:cNvSpPr/>
          <p:nvPr/>
        </p:nvSpPr>
        <p:spPr>
          <a:xfrm>
            <a:off x="6035040" y="1234440"/>
            <a:ext cx="2651760" cy="1371600"/>
          </a:xfrm>
          <a:prstGeom prst="rect">
            <a:avLst/>
          </a:prstGeom>
          <a:solidFill>
            <a:srgbClr val="EDE7F6"/>
          </a:solidFill>
          <a:ln w="12700">
            <a:solidFill>
              <a:srgbClr val="EDE7F6"/>
            </a:solidFill>
            <a:prstDash val="solid"/>
          </a:ln>
          <a:effectLst>
            <a:outerShdw blurRad="101600" dist="38100" dir="8100000" algn="bl" rotWithShape="0">
              <a:srgbClr val="000000">
                <a:alpha val="12000"/>
              </a:srgbClr>
            </a:outerShdw>
          </a:effectLst>
        </p:spPr>
      </p:sp>
      <p:sp>
        <p:nvSpPr>
          <p:cNvPr id="17" name="Shape 15"/>
          <p:cNvSpPr/>
          <p:nvPr/>
        </p:nvSpPr>
        <p:spPr>
          <a:xfrm>
            <a:off x="6035040" y="1234440"/>
            <a:ext cx="292608" cy="1371600"/>
          </a:xfrm>
          <a:prstGeom prst="rect">
            <a:avLst/>
          </a:prstGeom>
          <a:solidFill>
            <a:srgbClr val="4A148C"/>
          </a:solidFill>
          <a:ln w="12700">
            <a:solidFill>
              <a:srgbClr val="4A148C"/>
            </a:solidFill>
            <a:prstDash val="solid"/>
          </a:ln>
        </p:spPr>
      </p:sp>
      <p:sp>
        <p:nvSpPr>
          <p:cNvPr id="18" name="Text 16"/>
          <p:cNvSpPr/>
          <p:nvPr/>
        </p:nvSpPr>
        <p:spPr>
          <a:xfrm>
            <a:off x="6035040" y="1234440"/>
            <a:ext cx="292608" cy="13716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6382512" y="1325880"/>
            <a:ext cx="2240280" cy="365760"/>
          </a:xfrm>
          <a:prstGeom prst="rect">
            <a:avLst/>
          </a:prstGeom>
          <a:noFill/>
          <a:ln/>
        </p:spPr>
        <p:txBody>
          <a:bodyPr wrap="square" lIns="0" tIns="0" rIns="0" bIns="0" rtlCol="0" anchor="ctr"/>
          <a:lstStyle/>
          <a:p>
            <a:pPr marL="0" indent="0" algn="l">
              <a:buNone/>
            </a:pPr>
            <a:r>
              <a:rPr lang="en-US" sz="1200" b="1" dirty="0">
                <a:solidFill>
                  <a:srgbClr val="4A148C"/>
                </a:solidFill>
                <a:latin typeface="Calibri" pitchFamily="34" charset="0"/>
                <a:ea typeface="Calibri" pitchFamily="34" charset="-122"/>
                <a:cs typeface="Calibri" pitchFamily="34" charset="-120"/>
              </a:rPr>
              <a:t>Middleware Distribuido</a:t>
            </a:r>
            <a:endParaRPr lang="en-US" sz="1200" dirty="0"/>
          </a:p>
        </p:txBody>
      </p:sp>
      <p:sp>
        <p:nvSpPr>
          <p:cNvPr id="20" name="Text 18"/>
          <p:cNvSpPr/>
          <p:nvPr/>
        </p:nvSpPr>
        <p:spPr>
          <a:xfrm>
            <a:off x="6382512" y="1691640"/>
            <a:ext cx="2240280" cy="822960"/>
          </a:xfrm>
          <a:prstGeom prst="rect">
            <a:avLst/>
          </a:prstGeom>
          <a:noFill/>
          <a:ln/>
        </p:spPr>
        <p:txBody>
          <a:bodyPr wrap="square" lIns="25400" tIns="25400" rIns="25400" bIns="2540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Rol y tipos de middleware</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Message brokers · ESB · API GW</a:t>
            </a:r>
            <a:endParaRPr lang="en-US" sz="1100" dirty="0"/>
          </a:p>
        </p:txBody>
      </p:sp>
      <p:sp>
        <p:nvSpPr>
          <p:cNvPr id="21" name="Shape 19"/>
          <p:cNvSpPr/>
          <p:nvPr/>
        </p:nvSpPr>
        <p:spPr>
          <a:xfrm>
            <a:off x="365760" y="2788920"/>
            <a:ext cx="2651760" cy="1371600"/>
          </a:xfrm>
          <a:prstGeom prst="rect">
            <a:avLst/>
          </a:prstGeom>
          <a:solidFill>
            <a:srgbClr val="FEF3C7"/>
          </a:solidFill>
          <a:ln w="12700">
            <a:solidFill>
              <a:srgbClr val="FEF3C7"/>
            </a:solidFill>
            <a:prstDash val="solid"/>
          </a:ln>
          <a:effectLst>
            <a:outerShdw blurRad="101600" dist="38100" dir="8100000" algn="bl" rotWithShape="0">
              <a:srgbClr val="000000">
                <a:alpha val="12000"/>
              </a:srgbClr>
            </a:outerShdw>
          </a:effectLst>
        </p:spPr>
      </p:sp>
      <p:sp>
        <p:nvSpPr>
          <p:cNvPr id="22" name="Shape 20"/>
          <p:cNvSpPr/>
          <p:nvPr/>
        </p:nvSpPr>
        <p:spPr>
          <a:xfrm>
            <a:off x="365760" y="2788920"/>
            <a:ext cx="292608" cy="1371600"/>
          </a:xfrm>
          <a:prstGeom prst="rect">
            <a:avLst/>
          </a:prstGeom>
          <a:solidFill>
            <a:srgbClr val="B45309"/>
          </a:solidFill>
          <a:ln w="12700">
            <a:solidFill>
              <a:srgbClr val="B45309"/>
            </a:solidFill>
            <a:prstDash val="solid"/>
          </a:ln>
        </p:spPr>
      </p:sp>
      <p:sp>
        <p:nvSpPr>
          <p:cNvPr id="23" name="Text 21"/>
          <p:cNvSpPr/>
          <p:nvPr/>
        </p:nvSpPr>
        <p:spPr>
          <a:xfrm>
            <a:off x="365760" y="2788920"/>
            <a:ext cx="292608" cy="13716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4" name="Text 22"/>
          <p:cNvSpPr/>
          <p:nvPr/>
        </p:nvSpPr>
        <p:spPr>
          <a:xfrm>
            <a:off x="713232" y="2880360"/>
            <a:ext cx="2240280" cy="365760"/>
          </a:xfrm>
          <a:prstGeom prst="rect">
            <a:avLst/>
          </a:prstGeom>
          <a:noFill/>
          <a:ln/>
        </p:spPr>
        <p:txBody>
          <a:bodyPr wrap="square" lIns="0" tIns="0" rIns="0" bIns="0" rtlCol="0" anchor="ctr"/>
          <a:lstStyle/>
          <a:p>
            <a:pPr marL="0" indent="0" algn="l">
              <a:buNone/>
            </a:pPr>
            <a:r>
              <a:rPr lang="en-US" sz="1200" b="1" dirty="0">
                <a:solidFill>
                  <a:srgbClr val="B45309"/>
                </a:solidFill>
                <a:latin typeface="Calibri" pitchFamily="34" charset="0"/>
                <a:ea typeface="Calibri" pitchFamily="34" charset="-122"/>
                <a:cs typeface="Calibri" pitchFamily="34" charset="-120"/>
              </a:rPr>
              <a:t>Sincronización y Lamport</a:t>
            </a:r>
            <a:endParaRPr lang="en-US" sz="1200" dirty="0"/>
          </a:p>
        </p:txBody>
      </p:sp>
      <p:sp>
        <p:nvSpPr>
          <p:cNvPr id="25" name="Text 23"/>
          <p:cNvSpPr/>
          <p:nvPr/>
        </p:nvSpPr>
        <p:spPr>
          <a:xfrm>
            <a:off x="713232" y="3246120"/>
            <a:ext cx="2240280" cy="822960"/>
          </a:xfrm>
          <a:prstGeom prst="rect">
            <a:avLst/>
          </a:prstGeom>
          <a:noFill/>
          <a:ln/>
        </p:spPr>
        <p:txBody>
          <a:bodyPr wrap="square" lIns="25400" tIns="25400" rIns="25400" bIns="2540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Problema del reloj global</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Reglas formales · ejemplo resuelto</a:t>
            </a:r>
            <a:endParaRPr lang="en-US" sz="1100" dirty="0"/>
          </a:p>
        </p:txBody>
      </p:sp>
      <p:sp>
        <p:nvSpPr>
          <p:cNvPr id="26" name="Shape 24"/>
          <p:cNvSpPr/>
          <p:nvPr/>
        </p:nvSpPr>
        <p:spPr>
          <a:xfrm>
            <a:off x="3200400" y="2788920"/>
            <a:ext cx="2651760" cy="1371600"/>
          </a:xfrm>
          <a:prstGeom prst="rect">
            <a:avLst/>
          </a:prstGeom>
          <a:solidFill>
            <a:srgbClr val="D1FAE5"/>
          </a:solidFill>
          <a:ln w="12700">
            <a:solidFill>
              <a:srgbClr val="D1FAE5"/>
            </a:solidFill>
            <a:prstDash val="solid"/>
          </a:ln>
          <a:effectLst>
            <a:outerShdw blurRad="101600" dist="38100" dir="8100000" algn="bl" rotWithShape="0">
              <a:srgbClr val="000000">
                <a:alpha val="12000"/>
              </a:srgbClr>
            </a:outerShdw>
          </a:effectLst>
        </p:spPr>
      </p:sp>
      <p:sp>
        <p:nvSpPr>
          <p:cNvPr id="27" name="Shape 25"/>
          <p:cNvSpPr/>
          <p:nvPr/>
        </p:nvSpPr>
        <p:spPr>
          <a:xfrm>
            <a:off x="3200400" y="2788920"/>
            <a:ext cx="292608" cy="1371600"/>
          </a:xfrm>
          <a:prstGeom prst="rect">
            <a:avLst/>
          </a:prstGeom>
          <a:solidFill>
            <a:srgbClr val="059669"/>
          </a:solidFill>
          <a:ln w="12700">
            <a:solidFill>
              <a:srgbClr val="059669"/>
            </a:solidFill>
            <a:prstDash val="solid"/>
          </a:ln>
        </p:spPr>
      </p:sp>
      <p:sp>
        <p:nvSpPr>
          <p:cNvPr id="28" name="Text 26"/>
          <p:cNvSpPr/>
          <p:nvPr/>
        </p:nvSpPr>
        <p:spPr>
          <a:xfrm>
            <a:off x="3200400" y="2788920"/>
            <a:ext cx="292608" cy="13716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9" name="Text 27"/>
          <p:cNvSpPr/>
          <p:nvPr/>
        </p:nvSpPr>
        <p:spPr>
          <a:xfrm>
            <a:off x="3547872" y="2880360"/>
            <a:ext cx="2240280" cy="365760"/>
          </a:xfrm>
          <a:prstGeom prst="rect">
            <a:avLst/>
          </a:prstGeom>
          <a:noFill/>
          <a:ln/>
        </p:spPr>
        <p:txBody>
          <a:bodyPr wrap="square" lIns="0" tIns="0" rIns="0" bIns="0" rtlCol="0" anchor="ctr"/>
          <a:lstStyle/>
          <a:p>
            <a:pPr marL="0" indent="0" algn="l">
              <a:buNone/>
            </a:pPr>
            <a:r>
              <a:rPr lang="en-US" sz="1200" b="1" dirty="0">
                <a:solidFill>
                  <a:srgbClr val="059669"/>
                </a:solidFill>
                <a:latin typeface="Calibri" pitchFamily="34" charset="0"/>
                <a:ea typeface="Calibri" pitchFamily="34" charset="-122"/>
                <a:cs typeface="Calibri" pitchFamily="34" charset="-120"/>
              </a:rPr>
              <a:t>Actividades de la Semana</a:t>
            </a:r>
            <a:endParaRPr lang="en-US" sz="1200" dirty="0"/>
          </a:p>
        </p:txBody>
      </p:sp>
      <p:sp>
        <p:nvSpPr>
          <p:cNvPr id="30" name="Text 28"/>
          <p:cNvSpPr/>
          <p:nvPr/>
        </p:nvSpPr>
        <p:spPr>
          <a:xfrm>
            <a:off x="3547872" y="3246120"/>
            <a:ext cx="2240280" cy="822960"/>
          </a:xfrm>
          <a:prstGeom prst="rect">
            <a:avLst/>
          </a:prstGeom>
          <a:noFill/>
          <a:ln/>
        </p:spPr>
        <p:txBody>
          <a:bodyPr wrap="square" lIns="25400" tIns="25400" rIns="25400" bIns="25400" rtlCol="0" anchor="t"/>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Taller en clase (FORM-TL-01)</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Avance GA-SUM-01</a:t>
            </a:r>
            <a:endParaRPr lang="en-US" sz="1100" dirty="0"/>
          </a:p>
        </p:txBody>
      </p:sp>
      <p:sp>
        <p:nvSpPr>
          <p:cNvPr id="31" name="Shape 29"/>
          <p:cNvSpPr/>
          <p:nvPr/>
        </p:nvSpPr>
        <p:spPr>
          <a:xfrm>
            <a:off x="0" y="4892040"/>
            <a:ext cx="9144000" cy="251460"/>
          </a:xfrm>
          <a:prstGeom prst="rect">
            <a:avLst/>
          </a:prstGeom>
          <a:solidFill>
            <a:srgbClr val="0D1B40"/>
          </a:solidFill>
          <a:ln w="12700">
            <a:solidFill>
              <a:srgbClr val="0D1B40"/>
            </a:solidFill>
            <a:prstDash val="solid"/>
          </a:ln>
        </p:spPr>
      </p:sp>
      <p:sp>
        <p:nvSpPr>
          <p:cNvPr id="32" name="Text 30"/>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van Steen &amp; Tanenbaum, Distributed Systems, 4th ed., 2023 · Lamport, ACM 1978</a:t>
            </a:r>
            <a:endParaRPr lang="en-US" sz="800" dirty="0"/>
          </a:p>
        </p:txBody>
      </p:sp>
      <p:sp>
        <p:nvSpPr>
          <p:cNvPr id="33" name="Text 31"/>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40"/>
        </a:solidFill>
        <a:effectLst/>
      </p:bgPr>
    </p:bg>
    <p:spTree>
      <p:nvGrpSpPr>
        <p:cNvPr id="1" name=""/>
        <p:cNvGrpSpPr/>
        <p:nvPr/>
      </p:nvGrpSpPr>
      <p:grpSpPr>
        <a:xfrm>
          <a:off x="0" y="0"/>
          <a:ext cx="0" cy="0"/>
          <a:chOff x="0" y="0"/>
          <a:chExt cx="0" cy="0"/>
        </a:xfrm>
      </p:grpSpPr>
      <p:sp>
        <p:nvSpPr>
          <p:cNvPr id="2" name="Text 0"/>
          <p:cNvSpPr/>
          <p:nvPr/>
        </p:nvSpPr>
        <p:spPr>
          <a:xfrm>
            <a:off x="274320" y="731520"/>
            <a:ext cx="1828800" cy="2286000"/>
          </a:xfrm>
          <a:prstGeom prst="rect">
            <a:avLst/>
          </a:prstGeom>
          <a:noFill/>
          <a:ln/>
        </p:spPr>
        <p:txBody>
          <a:bodyPr wrap="square" lIns="0" tIns="0" rIns="0" bIns="0" rtlCol="0" anchor="ctr"/>
          <a:lstStyle/>
          <a:p>
            <a:pPr marL="0" indent="0" algn="l">
              <a:buNone/>
            </a:pPr>
            <a:r>
              <a:rPr lang="en-US" sz="12000" b="1" dirty="0">
                <a:solidFill>
                  <a:srgbClr val="1A3A6B"/>
                </a:solidFill>
                <a:latin typeface="Calibri" pitchFamily="34" charset="0"/>
                <a:ea typeface="Calibri" pitchFamily="34" charset="-122"/>
                <a:cs typeface="Calibri" pitchFamily="34" charset="-120"/>
              </a:rPr>
              <a:t>01</a:t>
            </a:r>
            <a:endParaRPr lang="en-US" sz="12000" dirty="0"/>
          </a:p>
        </p:txBody>
      </p:sp>
      <p:sp>
        <p:nvSpPr>
          <p:cNvPr id="3" name="Text 1"/>
          <p:cNvSpPr/>
          <p:nvPr/>
        </p:nvSpPr>
        <p:spPr>
          <a:xfrm>
            <a:off x="2011680" y="1097280"/>
            <a:ext cx="6858000" cy="91440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Modelos de Sistemas</a:t>
            </a:r>
            <a:endParaRPr lang="en-US" sz="3400" dirty="0"/>
          </a:p>
          <a:p>
            <a:pPr marL="0" indent="0" algn="l">
              <a:buNone/>
            </a:pPr>
            <a:r>
              <a:rPr lang="en-US" sz="3400" b="1" dirty="0">
                <a:solidFill>
                  <a:srgbClr val="FFFFFF"/>
                </a:solidFill>
                <a:latin typeface="Calibri" pitchFamily="34" charset="0"/>
                <a:ea typeface="Calibri" pitchFamily="34" charset="-122"/>
                <a:cs typeface="Calibri" pitchFamily="34" charset="-120"/>
              </a:rPr>
              <a:t>Distribuidos</a:t>
            </a:r>
            <a:endParaRPr lang="en-US" sz="3400" dirty="0"/>
          </a:p>
        </p:txBody>
      </p:sp>
      <p:sp>
        <p:nvSpPr>
          <p:cNvPr id="4" name="Text 2"/>
          <p:cNvSpPr/>
          <p:nvPr/>
        </p:nvSpPr>
        <p:spPr>
          <a:xfrm>
            <a:off x="2011680" y="1965960"/>
            <a:ext cx="6858000" cy="411480"/>
          </a:xfrm>
          <a:prstGeom prst="rect">
            <a:avLst/>
          </a:prstGeom>
          <a:noFill/>
          <a:ln/>
        </p:spPr>
        <p:txBody>
          <a:bodyPr wrap="square" lIns="0" tIns="0" rIns="0" bIns="0" rtlCol="0" anchor="t"/>
          <a:lstStyle/>
          <a:p>
            <a:pPr marL="0" indent="0" algn="l">
              <a:buNone/>
            </a:pPr>
            <a:r>
              <a:rPr lang="en-US" sz="1500" dirty="0">
                <a:solidFill>
                  <a:srgbClr val="14A0A7"/>
                </a:solidFill>
                <a:latin typeface="Calibri" pitchFamily="34" charset="0"/>
                <a:ea typeface="Calibri" pitchFamily="34" charset="-122"/>
                <a:cs typeface="Calibri" pitchFamily="34" charset="-120"/>
              </a:rPr>
              <a:t>Arquitecturas fundamentales de organización de nodos</a:t>
            </a:r>
            <a:endParaRPr lang="en-US" sz="1500" dirty="0"/>
          </a:p>
        </p:txBody>
      </p:sp>
      <p:sp>
        <p:nvSpPr>
          <p:cNvPr id="5" name="Shape 3"/>
          <p:cNvSpPr/>
          <p:nvPr/>
        </p:nvSpPr>
        <p:spPr>
          <a:xfrm>
            <a:off x="2011680" y="2606040"/>
            <a:ext cx="1783080" cy="292608"/>
          </a:xfrm>
          <a:prstGeom prst="rect">
            <a:avLst/>
          </a:prstGeom>
          <a:solidFill>
            <a:srgbClr val="0D7377"/>
          </a:solidFill>
          <a:ln w="12700">
            <a:solidFill>
              <a:srgbClr val="0D7377"/>
            </a:solidFill>
            <a:prstDash val="solid"/>
          </a:ln>
        </p:spPr>
      </p:sp>
      <p:sp>
        <p:nvSpPr>
          <p:cNvPr id="6" name="Text 4"/>
          <p:cNvSpPr/>
          <p:nvPr/>
        </p:nvSpPr>
        <p:spPr>
          <a:xfrm>
            <a:off x="2011680" y="2606040"/>
            <a:ext cx="178308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Cliente-Servidor</a:t>
            </a:r>
            <a:endParaRPr lang="en-US" sz="1100" dirty="0"/>
          </a:p>
        </p:txBody>
      </p:sp>
      <p:sp>
        <p:nvSpPr>
          <p:cNvPr id="7" name="Shape 5"/>
          <p:cNvSpPr/>
          <p:nvPr/>
        </p:nvSpPr>
        <p:spPr>
          <a:xfrm>
            <a:off x="3904488" y="2606040"/>
            <a:ext cx="1463040" cy="292608"/>
          </a:xfrm>
          <a:prstGeom prst="rect">
            <a:avLst/>
          </a:prstGeom>
          <a:solidFill>
            <a:srgbClr val="0D7377"/>
          </a:solidFill>
          <a:ln w="12700">
            <a:solidFill>
              <a:srgbClr val="0D7377"/>
            </a:solidFill>
            <a:prstDash val="solid"/>
          </a:ln>
        </p:spPr>
      </p:sp>
      <p:sp>
        <p:nvSpPr>
          <p:cNvPr id="8" name="Text 6"/>
          <p:cNvSpPr/>
          <p:nvPr/>
        </p:nvSpPr>
        <p:spPr>
          <a:xfrm>
            <a:off x="3904488" y="2606040"/>
            <a:ext cx="146304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Peer-to-Peer</a:t>
            </a:r>
            <a:endParaRPr lang="en-US" sz="1100" dirty="0"/>
          </a:p>
        </p:txBody>
      </p:sp>
      <p:sp>
        <p:nvSpPr>
          <p:cNvPr id="9" name="Shape 7"/>
          <p:cNvSpPr/>
          <p:nvPr/>
        </p:nvSpPr>
        <p:spPr>
          <a:xfrm>
            <a:off x="5477256" y="2606040"/>
            <a:ext cx="1188720" cy="292608"/>
          </a:xfrm>
          <a:prstGeom prst="rect">
            <a:avLst/>
          </a:prstGeom>
          <a:solidFill>
            <a:srgbClr val="0D7377"/>
          </a:solidFill>
          <a:ln w="12700">
            <a:solidFill>
              <a:srgbClr val="0D7377"/>
            </a:solidFill>
            <a:prstDash val="solid"/>
          </a:ln>
        </p:spPr>
      </p:sp>
      <p:sp>
        <p:nvSpPr>
          <p:cNvPr id="10" name="Text 8"/>
          <p:cNvSpPr/>
          <p:nvPr/>
        </p:nvSpPr>
        <p:spPr>
          <a:xfrm>
            <a:off x="5477256" y="2606040"/>
            <a:ext cx="118872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Híbrido</a:t>
            </a:r>
            <a:endParaRPr lang="en-US" sz="1100" dirty="0"/>
          </a:p>
        </p:txBody>
      </p:sp>
      <p:sp>
        <p:nvSpPr>
          <p:cNvPr id="11" name="Shape 9"/>
          <p:cNvSpPr/>
          <p:nvPr/>
        </p:nvSpPr>
        <p:spPr>
          <a:xfrm>
            <a:off x="6775704" y="2606040"/>
            <a:ext cx="1188720" cy="292608"/>
          </a:xfrm>
          <a:prstGeom prst="rect">
            <a:avLst/>
          </a:prstGeom>
          <a:solidFill>
            <a:srgbClr val="0D7377"/>
          </a:solidFill>
          <a:ln w="12700">
            <a:solidFill>
              <a:srgbClr val="0D7377"/>
            </a:solidFill>
            <a:prstDash val="solid"/>
          </a:ln>
        </p:spPr>
      </p:sp>
      <p:sp>
        <p:nvSpPr>
          <p:cNvPr id="12" name="Text 10"/>
          <p:cNvSpPr/>
          <p:nvPr/>
        </p:nvSpPr>
        <p:spPr>
          <a:xfrm>
            <a:off x="6775704" y="2606040"/>
            <a:ext cx="118872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Federado</a:t>
            </a:r>
            <a:endParaRPr lang="en-US" sz="1100" dirty="0"/>
          </a:p>
        </p:txBody>
      </p:sp>
      <p:sp>
        <p:nvSpPr>
          <p:cNvPr id="13" name="Shape 11"/>
          <p:cNvSpPr/>
          <p:nvPr/>
        </p:nvSpPr>
        <p:spPr>
          <a:xfrm>
            <a:off x="0" y="4892040"/>
            <a:ext cx="9144000" cy="251460"/>
          </a:xfrm>
          <a:prstGeom prst="rect">
            <a:avLst/>
          </a:prstGeom>
          <a:solidFill>
            <a:srgbClr val="0D1B40"/>
          </a:solidFill>
          <a:ln w="12700">
            <a:solidFill>
              <a:srgbClr val="0D1B40"/>
            </a:solidFill>
            <a:prstDash val="solid"/>
          </a:ln>
        </p:spPr>
      </p:sp>
      <p:sp>
        <p:nvSpPr>
          <p:cNvPr id="14" name="Text 12"/>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01 · Modelos</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Cliente-Servidor</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48640"/>
            <a:ext cx="8412480" cy="457200"/>
          </a:xfrm>
          <a:prstGeom prst="rect">
            <a:avLst/>
          </a:prstGeom>
          <a:noFill/>
          <a:ln/>
        </p:spPr>
        <p:txBody>
          <a:bodyPr wrap="square" lIns="0" tIns="0" rIns="0" bIns="0" rtlCol="0" anchor="ctr"/>
          <a:lstStyle/>
          <a:p>
            <a:pPr marL="0" indent="0" algn="l">
              <a:buNone/>
            </a:pPr>
            <a:r>
              <a:rPr lang="en-US" sz="2200" b="1" dirty="0">
                <a:solidFill>
                  <a:srgbClr val="0D1B40"/>
                </a:solidFill>
                <a:latin typeface="Calibri" pitchFamily="34" charset="0"/>
                <a:ea typeface="Calibri" pitchFamily="34" charset="-122"/>
                <a:cs typeface="Calibri" pitchFamily="34" charset="-120"/>
              </a:rPr>
              <a:t>Modelo Cliente-Servidor</a:t>
            </a:r>
            <a:endParaRPr lang="en-US" sz="2200" dirty="0"/>
          </a:p>
        </p:txBody>
      </p:sp>
      <p:sp>
        <p:nvSpPr>
          <p:cNvPr id="7" name="Shape 5"/>
          <p:cNvSpPr/>
          <p:nvPr/>
        </p:nvSpPr>
        <p:spPr>
          <a:xfrm>
            <a:off x="365760" y="1097280"/>
            <a:ext cx="3840480" cy="329184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Shape 6"/>
          <p:cNvSpPr/>
          <p:nvPr/>
        </p:nvSpPr>
        <p:spPr>
          <a:xfrm>
            <a:off x="548640" y="1417320"/>
            <a:ext cx="1188720" cy="502920"/>
          </a:xfrm>
          <a:prstGeom prst="rect">
            <a:avLst/>
          </a:prstGeom>
          <a:solidFill>
            <a:srgbClr val="C8F0F2"/>
          </a:solidFill>
          <a:ln w="12700">
            <a:solidFill>
              <a:srgbClr val="C8F0F2"/>
            </a:solidFill>
            <a:prstDash val="solid"/>
          </a:ln>
        </p:spPr>
      </p:sp>
      <p:sp>
        <p:nvSpPr>
          <p:cNvPr id="9" name="Text 7"/>
          <p:cNvSpPr/>
          <p:nvPr/>
        </p:nvSpPr>
        <p:spPr>
          <a:xfrm>
            <a:off x="548640" y="1417320"/>
            <a:ext cx="1188720" cy="502920"/>
          </a:xfrm>
          <a:prstGeom prst="rect">
            <a:avLst/>
          </a:prstGeom>
          <a:noFill/>
          <a:ln/>
        </p:spPr>
        <p:txBody>
          <a:bodyPr wrap="square" lIns="0" tIns="0" rIns="0" bIns="0" rtlCol="0" anchor="ctr"/>
          <a:lstStyle/>
          <a:p>
            <a:pPr marL="0" indent="0" algn="ctr">
              <a:buNone/>
            </a:pPr>
            <a:r>
              <a:rPr lang="en-US" sz="1100" b="1" dirty="0">
                <a:solidFill>
                  <a:srgbClr val="0D1B40"/>
                </a:solidFill>
                <a:latin typeface="Calibri" pitchFamily="34" charset="0"/>
                <a:ea typeface="Calibri" pitchFamily="34" charset="-122"/>
                <a:cs typeface="Calibri" pitchFamily="34" charset="-120"/>
              </a:rPr>
              <a:t>Cliente 1</a:t>
            </a:r>
            <a:endParaRPr lang="en-US" sz="1100" dirty="0"/>
          </a:p>
        </p:txBody>
      </p:sp>
      <p:sp>
        <p:nvSpPr>
          <p:cNvPr id="10" name="Shape 8"/>
          <p:cNvSpPr/>
          <p:nvPr/>
        </p:nvSpPr>
        <p:spPr>
          <a:xfrm>
            <a:off x="1783080" y="1664208"/>
            <a:ext cx="822960" cy="0"/>
          </a:xfrm>
          <a:prstGeom prst="line">
            <a:avLst/>
          </a:prstGeom>
          <a:noFill/>
          <a:ln w="19050">
            <a:solidFill>
              <a:srgbClr val="0D7377"/>
            </a:solidFill>
            <a:prstDash val="sysDash"/>
          </a:ln>
        </p:spPr>
      </p:sp>
      <p:sp>
        <p:nvSpPr>
          <p:cNvPr id="11" name="Shape 9"/>
          <p:cNvSpPr/>
          <p:nvPr/>
        </p:nvSpPr>
        <p:spPr>
          <a:xfrm>
            <a:off x="1783080" y="1719072"/>
            <a:ext cx="822960" cy="0"/>
          </a:xfrm>
          <a:prstGeom prst="line">
            <a:avLst/>
          </a:prstGeom>
          <a:noFill/>
          <a:ln w="12700">
            <a:solidFill>
              <a:srgbClr val="F59E0B"/>
            </a:solidFill>
            <a:prstDash val="dash"/>
          </a:ln>
        </p:spPr>
      </p:sp>
      <p:sp>
        <p:nvSpPr>
          <p:cNvPr id="12" name="Shape 10"/>
          <p:cNvSpPr/>
          <p:nvPr/>
        </p:nvSpPr>
        <p:spPr>
          <a:xfrm>
            <a:off x="548640" y="2148840"/>
            <a:ext cx="1188720" cy="502920"/>
          </a:xfrm>
          <a:prstGeom prst="rect">
            <a:avLst/>
          </a:prstGeom>
          <a:solidFill>
            <a:srgbClr val="C8F0F2"/>
          </a:solidFill>
          <a:ln w="12700">
            <a:solidFill>
              <a:srgbClr val="C8F0F2"/>
            </a:solidFill>
            <a:prstDash val="solid"/>
          </a:ln>
        </p:spPr>
      </p:sp>
      <p:sp>
        <p:nvSpPr>
          <p:cNvPr id="13" name="Text 11"/>
          <p:cNvSpPr/>
          <p:nvPr/>
        </p:nvSpPr>
        <p:spPr>
          <a:xfrm>
            <a:off x="548640" y="2148840"/>
            <a:ext cx="1188720" cy="502920"/>
          </a:xfrm>
          <a:prstGeom prst="rect">
            <a:avLst/>
          </a:prstGeom>
          <a:noFill/>
          <a:ln/>
        </p:spPr>
        <p:txBody>
          <a:bodyPr wrap="square" lIns="0" tIns="0" rIns="0" bIns="0" rtlCol="0" anchor="ctr"/>
          <a:lstStyle/>
          <a:p>
            <a:pPr marL="0" indent="0" algn="ctr">
              <a:buNone/>
            </a:pPr>
            <a:r>
              <a:rPr lang="en-US" sz="1100" b="1" dirty="0">
                <a:solidFill>
                  <a:srgbClr val="0D1B40"/>
                </a:solidFill>
                <a:latin typeface="Calibri" pitchFamily="34" charset="0"/>
                <a:ea typeface="Calibri" pitchFamily="34" charset="-122"/>
                <a:cs typeface="Calibri" pitchFamily="34" charset="-120"/>
              </a:rPr>
              <a:t>Cliente 2</a:t>
            </a:r>
            <a:endParaRPr lang="en-US" sz="1100" dirty="0"/>
          </a:p>
        </p:txBody>
      </p:sp>
      <p:sp>
        <p:nvSpPr>
          <p:cNvPr id="14" name="Shape 12"/>
          <p:cNvSpPr/>
          <p:nvPr/>
        </p:nvSpPr>
        <p:spPr>
          <a:xfrm>
            <a:off x="1783080" y="2395728"/>
            <a:ext cx="822960" cy="0"/>
          </a:xfrm>
          <a:prstGeom prst="line">
            <a:avLst/>
          </a:prstGeom>
          <a:noFill/>
          <a:ln w="19050">
            <a:solidFill>
              <a:srgbClr val="0D7377"/>
            </a:solidFill>
            <a:prstDash val="sysDash"/>
          </a:ln>
        </p:spPr>
      </p:sp>
      <p:sp>
        <p:nvSpPr>
          <p:cNvPr id="15" name="Shape 13"/>
          <p:cNvSpPr/>
          <p:nvPr/>
        </p:nvSpPr>
        <p:spPr>
          <a:xfrm>
            <a:off x="1783080" y="2450592"/>
            <a:ext cx="822960" cy="0"/>
          </a:xfrm>
          <a:prstGeom prst="line">
            <a:avLst/>
          </a:prstGeom>
          <a:noFill/>
          <a:ln w="12700">
            <a:solidFill>
              <a:srgbClr val="F59E0B"/>
            </a:solidFill>
            <a:prstDash val="dash"/>
          </a:ln>
        </p:spPr>
      </p:sp>
      <p:sp>
        <p:nvSpPr>
          <p:cNvPr id="16" name="Shape 14"/>
          <p:cNvSpPr/>
          <p:nvPr/>
        </p:nvSpPr>
        <p:spPr>
          <a:xfrm>
            <a:off x="548640" y="2880360"/>
            <a:ext cx="1188720" cy="502920"/>
          </a:xfrm>
          <a:prstGeom prst="rect">
            <a:avLst/>
          </a:prstGeom>
          <a:solidFill>
            <a:srgbClr val="C8F0F2"/>
          </a:solidFill>
          <a:ln w="12700">
            <a:solidFill>
              <a:srgbClr val="C8F0F2"/>
            </a:solidFill>
            <a:prstDash val="solid"/>
          </a:ln>
        </p:spPr>
      </p:sp>
      <p:sp>
        <p:nvSpPr>
          <p:cNvPr id="17" name="Text 15"/>
          <p:cNvSpPr/>
          <p:nvPr/>
        </p:nvSpPr>
        <p:spPr>
          <a:xfrm>
            <a:off x="548640" y="2880360"/>
            <a:ext cx="1188720" cy="502920"/>
          </a:xfrm>
          <a:prstGeom prst="rect">
            <a:avLst/>
          </a:prstGeom>
          <a:noFill/>
          <a:ln/>
        </p:spPr>
        <p:txBody>
          <a:bodyPr wrap="square" lIns="0" tIns="0" rIns="0" bIns="0" rtlCol="0" anchor="ctr"/>
          <a:lstStyle/>
          <a:p>
            <a:pPr marL="0" indent="0" algn="ctr">
              <a:buNone/>
            </a:pPr>
            <a:r>
              <a:rPr lang="en-US" sz="1100" b="1" dirty="0">
                <a:solidFill>
                  <a:srgbClr val="0D1B40"/>
                </a:solidFill>
                <a:latin typeface="Calibri" pitchFamily="34" charset="0"/>
                <a:ea typeface="Calibri" pitchFamily="34" charset="-122"/>
                <a:cs typeface="Calibri" pitchFamily="34" charset="-120"/>
              </a:rPr>
              <a:t>Cliente 3</a:t>
            </a:r>
            <a:endParaRPr lang="en-US" sz="1100" dirty="0"/>
          </a:p>
        </p:txBody>
      </p:sp>
      <p:sp>
        <p:nvSpPr>
          <p:cNvPr id="18" name="Shape 16"/>
          <p:cNvSpPr/>
          <p:nvPr/>
        </p:nvSpPr>
        <p:spPr>
          <a:xfrm>
            <a:off x="1783080" y="3127248"/>
            <a:ext cx="822960" cy="0"/>
          </a:xfrm>
          <a:prstGeom prst="line">
            <a:avLst/>
          </a:prstGeom>
          <a:noFill/>
          <a:ln w="19050">
            <a:solidFill>
              <a:srgbClr val="0D7377"/>
            </a:solidFill>
            <a:prstDash val="sysDash"/>
          </a:ln>
        </p:spPr>
      </p:sp>
      <p:sp>
        <p:nvSpPr>
          <p:cNvPr id="19" name="Shape 17"/>
          <p:cNvSpPr/>
          <p:nvPr/>
        </p:nvSpPr>
        <p:spPr>
          <a:xfrm>
            <a:off x="1783080" y="3182112"/>
            <a:ext cx="822960" cy="0"/>
          </a:xfrm>
          <a:prstGeom prst="line">
            <a:avLst/>
          </a:prstGeom>
          <a:noFill/>
          <a:ln w="12700">
            <a:solidFill>
              <a:srgbClr val="F59E0B"/>
            </a:solidFill>
            <a:prstDash val="dash"/>
          </a:ln>
        </p:spPr>
      </p:sp>
      <p:sp>
        <p:nvSpPr>
          <p:cNvPr id="20" name="Text 18"/>
          <p:cNvSpPr/>
          <p:nvPr/>
        </p:nvSpPr>
        <p:spPr>
          <a:xfrm>
            <a:off x="1783080" y="1399032"/>
            <a:ext cx="822960" cy="182880"/>
          </a:xfrm>
          <a:prstGeom prst="rect">
            <a:avLst/>
          </a:prstGeom>
          <a:noFill/>
          <a:ln/>
        </p:spPr>
        <p:txBody>
          <a:bodyPr wrap="square" lIns="0" tIns="0" rIns="0" bIns="0" rtlCol="0" anchor="ctr"/>
          <a:lstStyle/>
          <a:p>
            <a:pPr marL="0" indent="0" algn="ctr">
              <a:buNone/>
            </a:pPr>
            <a:r>
              <a:rPr lang="en-US" sz="750" dirty="0">
                <a:solidFill>
                  <a:srgbClr val="0D7377"/>
                </a:solidFill>
              </a:rPr>
              <a:t>petición →</a:t>
            </a:r>
            <a:endParaRPr lang="en-US" sz="750" dirty="0"/>
          </a:p>
        </p:txBody>
      </p:sp>
      <p:sp>
        <p:nvSpPr>
          <p:cNvPr id="21" name="Text 19"/>
          <p:cNvSpPr/>
          <p:nvPr/>
        </p:nvSpPr>
        <p:spPr>
          <a:xfrm>
            <a:off x="1783080" y="2907792"/>
            <a:ext cx="822960" cy="182880"/>
          </a:xfrm>
          <a:prstGeom prst="rect">
            <a:avLst/>
          </a:prstGeom>
          <a:noFill/>
          <a:ln/>
        </p:spPr>
        <p:txBody>
          <a:bodyPr wrap="square" lIns="0" tIns="0" rIns="0" bIns="0" rtlCol="0" anchor="ctr"/>
          <a:lstStyle/>
          <a:p>
            <a:pPr marL="0" indent="0" algn="ctr">
              <a:buNone/>
            </a:pPr>
            <a:r>
              <a:rPr lang="en-US" sz="750" i="1" dirty="0">
                <a:solidFill>
                  <a:srgbClr val="F59E0B"/>
                </a:solidFill>
              </a:rPr>
              <a:t>← respuesta</a:t>
            </a:r>
            <a:endParaRPr lang="en-US" sz="750" dirty="0"/>
          </a:p>
        </p:txBody>
      </p:sp>
      <p:sp>
        <p:nvSpPr>
          <p:cNvPr id="22" name="Shape 20"/>
          <p:cNvSpPr/>
          <p:nvPr/>
        </p:nvSpPr>
        <p:spPr>
          <a:xfrm>
            <a:off x="2651760" y="1645920"/>
            <a:ext cx="1371600" cy="1463040"/>
          </a:xfrm>
          <a:prstGeom prst="rect">
            <a:avLst/>
          </a:prstGeom>
          <a:solidFill>
            <a:srgbClr val="1A2D6B"/>
          </a:solidFill>
          <a:ln w="12700">
            <a:solidFill>
              <a:srgbClr val="1A2D6B"/>
            </a:solidFill>
            <a:prstDash val="solid"/>
          </a:ln>
        </p:spPr>
      </p:sp>
      <p:sp>
        <p:nvSpPr>
          <p:cNvPr id="23" name="Text 21"/>
          <p:cNvSpPr/>
          <p:nvPr/>
        </p:nvSpPr>
        <p:spPr>
          <a:xfrm>
            <a:off x="2651760" y="1645920"/>
            <a:ext cx="1371600"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Servidor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(estado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centralizado)</a:t>
            </a:r>
            <a:endParaRPr lang="en-US" sz="1100" dirty="0"/>
          </a:p>
        </p:txBody>
      </p:sp>
      <p:sp>
        <p:nvSpPr>
          <p:cNvPr id="24" name="Shape 22"/>
          <p:cNvSpPr/>
          <p:nvPr/>
        </p:nvSpPr>
        <p:spPr>
          <a:xfrm>
            <a:off x="2788920" y="3200400"/>
            <a:ext cx="1097280" cy="411480"/>
          </a:xfrm>
          <a:prstGeom prst="rect">
            <a:avLst/>
          </a:prstGeom>
          <a:solidFill>
            <a:srgbClr val="E2E8F0"/>
          </a:solidFill>
          <a:ln w="12700">
            <a:solidFill>
              <a:srgbClr val="E2E8F0"/>
            </a:solidFill>
            <a:prstDash val="solid"/>
          </a:ln>
        </p:spPr>
      </p:sp>
      <p:sp>
        <p:nvSpPr>
          <p:cNvPr id="25" name="Text 23"/>
          <p:cNvSpPr/>
          <p:nvPr/>
        </p:nvSpPr>
        <p:spPr>
          <a:xfrm>
            <a:off x="2788920" y="3200400"/>
            <a:ext cx="1097280" cy="411480"/>
          </a:xfrm>
          <a:prstGeom prst="rect">
            <a:avLst/>
          </a:prstGeom>
          <a:noFill/>
          <a:ln/>
        </p:spPr>
        <p:txBody>
          <a:bodyPr wrap="square" lIns="0" tIns="0" rIns="0" bIns="0" rtlCol="0" anchor="ctr"/>
          <a:lstStyle/>
          <a:p>
            <a:pPr marL="0" indent="0" algn="ctr">
              <a:buNone/>
            </a:pPr>
            <a:r>
              <a:rPr lang="en-US" sz="950" dirty="0">
                <a:solidFill>
                  <a:srgbClr val="64748B"/>
                </a:solidFill>
              </a:rPr>
              <a:t>BD / Estado</a:t>
            </a:r>
            <a:endParaRPr lang="en-US" sz="950" dirty="0"/>
          </a:p>
        </p:txBody>
      </p:sp>
      <p:sp>
        <p:nvSpPr>
          <p:cNvPr id="26" name="Shape 24"/>
          <p:cNvSpPr/>
          <p:nvPr/>
        </p:nvSpPr>
        <p:spPr>
          <a:xfrm>
            <a:off x="3337560" y="3108960"/>
            <a:ext cx="0" cy="91440"/>
          </a:xfrm>
          <a:prstGeom prst="line">
            <a:avLst/>
          </a:prstGeom>
          <a:noFill/>
          <a:ln w="12700">
            <a:solidFill>
              <a:srgbClr val="64748B"/>
            </a:solidFill>
            <a:prstDash val="solid"/>
          </a:ln>
        </p:spPr>
      </p:sp>
      <p:sp>
        <p:nvSpPr>
          <p:cNvPr id="27" name="Shape 25"/>
          <p:cNvSpPr/>
          <p:nvPr/>
        </p:nvSpPr>
        <p:spPr>
          <a:xfrm>
            <a:off x="4389120" y="1097280"/>
            <a:ext cx="4389120" cy="329184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8" name="Text 26"/>
          <p:cNvSpPr/>
          <p:nvPr/>
        </p:nvSpPr>
        <p:spPr>
          <a:xfrm>
            <a:off x="4572000" y="1143000"/>
            <a:ext cx="3931920" cy="320040"/>
          </a:xfrm>
          <a:prstGeom prst="rect">
            <a:avLst/>
          </a:prstGeom>
          <a:noFill/>
          <a:ln/>
        </p:spPr>
        <p:txBody>
          <a:bodyPr wrap="square" lIns="0" tIns="0" rIns="0" bIns="0" rtlCol="0" anchor="ctr"/>
          <a:lstStyle/>
          <a:p>
            <a:pPr marL="0" indent="0" algn="l">
              <a:buNone/>
            </a:pPr>
            <a:r>
              <a:rPr lang="en-US" sz="1300" b="1" dirty="0">
                <a:solidFill>
                  <a:srgbClr val="0D1B40"/>
                </a:solidFill>
                <a:latin typeface="Calibri" pitchFamily="34" charset="0"/>
                <a:ea typeface="Calibri" pitchFamily="34" charset="-122"/>
                <a:cs typeface="Calibri" pitchFamily="34" charset="-120"/>
              </a:rPr>
              <a:t>Características clave</a:t>
            </a:r>
            <a:endParaRPr lang="en-US" sz="1300" dirty="0"/>
          </a:p>
        </p:txBody>
      </p:sp>
      <p:sp>
        <p:nvSpPr>
          <p:cNvPr id="29" name="Shape 27"/>
          <p:cNvSpPr/>
          <p:nvPr/>
        </p:nvSpPr>
        <p:spPr>
          <a:xfrm>
            <a:off x="4526280" y="1572768"/>
            <a:ext cx="292608" cy="320040"/>
          </a:xfrm>
          <a:prstGeom prst="rect">
            <a:avLst/>
          </a:prstGeom>
          <a:solidFill>
            <a:srgbClr val="0D7377"/>
          </a:solidFill>
          <a:ln w="12700">
            <a:solidFill>
              <a:srgbClr val="0D7377"/>
            </a:solidFill>
            <a:prstDash val="solid"/>
          </a:ln>
        </p:spPr>
      </p:sp>
      <p:sp>
        <p:nvSpPr>
          <p:cNvPr id="30" name="Text 28"/>
          <p:cNvSpPr/>
          <p:nvPr/>
        </p:nvSpPr>
        <p:spPr>
          <a:xfrm>
            <a:off x="4526280" y="1572768"/>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31" name="Text 29"/>
          <p:cNvSpPr/>
          <p:nvPr/>
        </p:nvSpPr>
        <p:spPr>
          <a:xfrm>
            <a:off x="4873752" y="1572768"/>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Iniciador: </a:t>
            </a:r>
            <a:endParaRPr lang="en-US" sz="1050" dirty="0"/>
          </a:p>
        </p:txBody>
      </p:sp>
      <p:sp>
        <p:nvSpPr>
          <p:cNvPr id="32" name="Text 30"/>
          <p:cNvSpPr/>
          <p:nvPr/>
        </p:nvSpPr>
        <p:spPr>
          <a:xfrm>
            <a:off x="5943600" y="1572768"/>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Siempre el cliente</a:t>
            </a:r>
            <a:endParaRPr lang="en-US" sz="1000" dirty="0"/>
          </a:p>
        </p:txBody>
      </p:sp>
      <p:sp>
        <p:nvSpPr>
          <p:cNvPr id="33" name="Shape 31"/>
          <p:cNvSpPr/>
          <p:nvPr/>
        </p:nvSpPr>
        <p:spPr>
          <a:xfrm>
            <a:off x="4526280" y="2048256"/>
            <a:ext cx="292608" cy="320040"/>
          </a:xfrm>
          <a:prstGeom prst="rect">
            <a:avLst/>
          </a:prstGeom>
          <a:solidFill>
            <a:srgbClr val="0D7377"/>
          </a:solidFill>
          <a:ln w="12700">
            <a:solidFill>
              <a:srgbClr val="0D7377"/>
            </a:solidFill>
            <a:prstDash val="solid"/>
          </a:ln>
        </p:spPr>
      </p:sp>
      <p:sp>
        <p:nvSpPr>
          <p:cNvPr id="34" name="Text 32"/>
          <p:cNvSpPr/>
          <p:nvPr/>
        </p:nvSpPr>
        <p:spPr>
          <a:xfrm>
            <a:off x="4526280" y="2048256"/>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35" name="Text 33"/>
          <p:cNvSpPr/>
          <p:nvPr/>
        </p:nvSpPr>
        <p:spPr>
          <a:xfrm>
            <a:off x="4873752" y="2048256"/>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Escalabilidad: </a:t>
            </a:r>
            <a:endParaRPr lang="en-US" sz="1050" dirty="0"/>
          </a:p>
        </p:txBody>
      </p:sp>
      <p:sp>
        <p:nvSpPr>
          <p:cNvPr id="36" name="Text 34"/>
          <p:cNvSpPr/>
          <p:nvPr/>
        </p:nvSpPr>
        <p:spPr>
          <a:xfrm>
            <a:off x="5943600" y="2048256"/>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Vertical primero; horizontal con load balancer</a:t>
            </a:r>
            <a:endParaRPr lang="en-US" sz="1000" dirty="0"/>
          </a:p>
        </p:txBody>
      </p:sp>
      <p:sp>
        <p:nvSpPr>
          <p:cNvPr id="37" name="Shape 35"/>
          <p:cNvSpPr/>
          <p:nvPr/>
        </p:nvSpPr>
        <p:spPr>
          <a:xfrm>
            <a:off x="4526280" y="2523744"/>
            <a:ext cx="292608" cy="320040"/>
          </a:xfrm>
          <a:prstGeom prst="rect">
            <a:avLst/>
          </a:prstGeom>
          <a:solidFill>
            <a:srgbClr val="0D7377"/>
          </a:solidFill>
          <a:ln w="12700">
            <a:solidFill>
              <a:srgbClr val="0D7377"/>
            </a:solidFill>
            <a:prstDash val="solid"/>
          </a:ln>
        </p:spPr>
      </p:sp>
      <p:sp>
        <p:nvSpPr>
          <p:cNvPr id="38" name="Text 36"/>
          <p:cNvSpPr/>
          <p:nvPr/>
        </p:nvSpPr>
        <p:spPr>
          <a:xfrm>
            <a:off x="4526280" y="2523744"/>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39" name="Text 37"/>
          <p:cNvSpPr/>
          <p:nvPr/>
        </p:nvSpPr>
        <p:spPr>
          <a:xfrm>
            <a:off x="4873752" y="2523744"/>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SPOF: </a:t>
            </a:r>
            <a:endParaRPr lang="en-US" sz="1050" dirty="0"/>
          </a:p>
        </p:txBody>
      </p:sp>
      <p:sp>
        <p:nvSpPr>
          <p:cNvPr id="40" name="Text 38"/>
          <p:cNvSpPr/>
          <p:nvPr/>
        </p:nvSpPr>
        <p:spPr>
          <a:xfrm>
            <a:off x="5943600" y="2523744"/>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El servidor es punto único de fallo</a:t>
            </a:r>
            <a:endParaRPr lang="en-US" sz="1000" dirty="0"/>
          </a:p>
        </p:txBody>
      </p:sp>
      <p:sp>
        <p:nvSpPr>
          <p:cNvPr id="41" name="Shape 39"/>
          <p:cNvSpPr/>
          <p:nvPr/>
        </p:nvSpPr>
        <p:spPr>
          <a:xfrm>
            <a:off x="4526280" y="2999232"/>
            <a:ext cx="292608" cy="320040"/>
          </a:xfrm>
          <a:prstGeom prst="rect">
            <a:avLst/>
          </a:prstGeom>
          <a:solidFill>
            <a:srgbClr val="0D7377"/>
          </a:solidFill>
          <a:ln w="12700">
            <a:solidFill>
              <a:srgbClr val="0D7377"/>
            </a:solidFill>
            <a:prstDash val="solid"/>
          </a:ln>
        </p:spPr>
      </p:sp>
      <p:sp>
        <p:nvSpPr>
          <p:cNvPr id="42" name="Text 40"/>
          <p:cNvSpPr/>
          <p:nvPr/>
        </p:nvSpPr>
        <p:spPr>
          <a:xfrm>
            <a:off x="4526280" y="2999232"/>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43" name="Text 41"/>
          <p:cNvSpPr/>
          <p:nvPr/>
        </p:nvSpPr>
        <p:spPr>
          <a:xfrm>
            <a:off x="4873752" y="2999232"/>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Estado: </a:t>
            </a:r>
            <a:endParaRPr lang="en-US" sz="1050" dirty="0"/>
          </a:p>
        </p:txBody>
      </p:sp>
      <p:sp>
        <p:nvSpPr>
          <p:cNvPr id="44" name="Text 42"/>
          <p:cNvSpPr/>
          <p:nvPr/>
        </p:nvSpPr>
        <p:spPr>
          <a:xfrm>
            <a:off x="5943600" y="2999232"/>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Centralizado en el servidor</a:t>
            </a:r>
            <a:endParaRPr lang="en-US" sz="1000" dirty="0"/>
          </a:p>
        </p:txBody>
      </p:sp>
      <p:sp>
        <p:nvSpPr>
          <p:cNvPr id="45" name="Shape 43"/>
          <p:cNvSpPr/>
          <p:nvPr/>
        </p:nvSpPr>
        <p:spPr>
          <a:xfrm>
            <a:off x="4526280" y="3474720"/>
            <a:ext cx="292608" cy="320040"/>
          </a:xfrm>
          <a:prstGeom prst="rect">
            <a:avLst/>
          </a:prstGeom>
          <a:solidFill>
            <a:srgbClr val="0D7377"/>
          </a:solidFill>
          <a:ln w="12700">
            <a:solidFill>
              <a:srgbClr val="0D7377"/>
            </a:solidFill>
            <a:prstDash val="solid"/>
          </a:ln>
        </p:spPr>
      </p:sp>
      <p:sp>
        <p:nvSpPr>
          <p:cNvPr id="46" name="Text 44"/>
          <p:cNvSpPr/>
          <p:nvPr/>
        </p:nvSpPr>
        <p:spPr>
          <a:xfrm>
            <a:off x="4526280" y="3474720"/>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47" name="Text 45"/>
          <p:cNvSpPr/>
          <p:nvPr/>
        </p:nvSpPr>
        <p:spPr>
          <a:xfrm>
            <a:off x="4873752" y="3474720"/>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Ejemplos: </a:t>
            </a:r>
            <a:endParaRPr lang="en-US" sz="1050" dirty="0"/>
          </a:p>
        </p:txBody>
      </p:sp>
      <p:sp>
        <p:nvSpPr>
          <p:cNvPr id="48" name="Text 46"/>
          <p:cNvSpPr/>
          <p:nvPr/>
        </p:nvSpPr>
        <p:spPr>
          <a:xfrm>
            <a:off x="5943600" y="3474720"/>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HTTP/1.1, DNS, SMTP, JDBC, la mayoría de REST APIs</a:t>
            </a:r>
            <a:endParaRPr lang="en-US" sz="1000" dirty="0"/>
          </a:p>
        </p:txBody>
      </p:sp>
      <p:sp>
        <p:nvSpPr>
          <p:cNvPr id="49" name="Shape 47"/>
          <p:cNvSpPr/>
          <p:nvPr/>
        </p:nvSpPr>
        <p:spPr>
          <a:xfrm>
            <a:off x="4526280" y="3950208"/>
            <a:ext cx="292608" cy="320040"/>
          </a:xfrm>
          <a:prstGeom prst="rect">
            <a:avLst/>
          </a:prstGeom>
          <a:solidFill>
            <a:srgbClr val="0D7377"/>
          </a:solidFill>
          <a:ln w="12700">
            <a:solidFill>
              <a:srgbClr val="0D7377"/>
            </a:solidFill>
            <a:prstDash val="solid"/>
          </a:ln>
        </p:spPr>
      </p:sp>
      <p:sp>
        <p:nvSpPr>
          <p:cNvPr id="50" name="Text 48"/>
          <p:cNvSpPr/>
          <p:nvPr/>
        </p:nvSpPr>
        <p:spPr>
          <a:xfrm>
            <a:off x="4526280" y="3950208"/>
            <a:ext cx="292608" cy="320040"/>
          </a:xfrm>
          <a:prstGeom prst="rect">
            <a:avLst/>
          </a:prstGeom>
          <a:noFill/>
          <a:ln/>
        </p:spPr>
        <p:txBody>
          <a:bodyPr wrap="square" lIns="0" tIns="0" rIns="0" bIns="0" rtlCol="0" anchor="ctr"/>
          <a:lstStyle/>
          <a:p>
            <a:pPr marL="0" indent="0" algn="ctr">
              <a:buNone/>
            </a:pPr>
            <a:r>
              <a:rPr lang="en-US" sz="1100" dirty="0">
                <a:solidFill>
                  <a:srgbClr val="FFFFFF"/>
                </a:solidFill>
              </a:rPr>
              <a:t>⊞</a:t>
            </a:r>
            <a:endParaRPr lang="en-US" sz="1100" dirty="0"/>
          </a:p>
        </p:txBody>
      </p:sp>
      <p:sp>
        <p:nvSpPr>
          <p:cNvPr id="51" name="Text 49"/>
          <p:cNvSpPr/>
          <p:nvPr/>
        </p:nvSpPr>
        <p:spPr>
          <a:xfrm>
            <a:off x="4873752" y="3950208"/>
            <a:ext cx="1097280" cy="32004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Variantes: </a:t>
            </a:r>
            <a:endParaRPr lang="en-US" sz="1050" dirty="0"/>
          </a:p>
        </p:txBody>
      </p:sp>
      <p:sp>
        <p:nvSpPr>
          <p:cNvPr id="52" name="Text 50"/>
          <p:cNvSpPr/>
          <p:nvPr/>
        </p:nvSpPr>
        <p:spPr>
          <a:xfrm>
            <a:off x="5943600" y="3950208"/>
            <a:ext cx="2697480" cy="32004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2-capas · 3-capas · N-capas · Serverless</a:t>
            </a:r>
            <a:endParaRPr lang="en-US" sz="1000" dirty="0"/>
          </a:p>
        </p:txBody>
      </p:sp>
      <p:sp>
        <p:nvSpPr>
          <p:cNvPr id="53" name="Shape 51"/>
          <p:cNvSpPr/>
          <p:nvPr/>
        </p:nvSpPr>
        <p:spPr>
          <a:xfrm>
            <a:off x="0" y="4892040"/>
            <a:ext cx="9144000" cy="251460"/>
          </a:xfrm>
          <a:prstGeom prst="rect">
            <a:avLst/>
          </a:prstGeom>
          <a:solidFill>
            <a:srgbClr val="0D1B40"/>
          </a:solidFill>
          <a:ln w="12700">
            <a:solidFill>
              <a:srgbClr val="0D1B40"/>
            </a:solidFill>
            <a:prstDash val="solid"/>
          </a:ln>
        </p:spPr>
      </p:sp>
      <p:sp>
        <p:nvSpPr>
          <p:cNvPr id="54" name="Text 52"/>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van Steen &amp; Tanenbaum, Distributed Systems, 4th ed., ch. 2, pp. 47-82, 2023</a:t>
            </a:r>
            <a:endParaRPr lang="en-US" sz="800" dirty="0"/>
          </a:p>
        </p:txBody>
      </p:sp>
      <p:sp>
        <p:nvSpPr>
          <p:cNvPr id="55" name="Text 53"/>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01 · Modelos</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P2P e Híbrido</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48640"/>
            <a:ext cx="8412480" cy="411480"/>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Peer-to-Peer e Híbrido — Cuando no hay jerarquía fija</a:t>
            </a:r>
            <a:endParaRPr lang="en-US" sz="2000" dirty="0"/>
          </a:p>
        </p:txBody>
      </p:sp>
      <p:sp>
        <p:nvSpPr>
          <p:cNvPr id="7" name="Shape 5"/>
          <p:cNvSpPr/>
          <p:nvPr/>
        </p:nvSpPr>
        <p:spPr>
          <a:xfrm>
            <a:off x="365760" y="1051560"/>
            <a:ext cx="4160520" cy="37033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Text 6"/>
          <p:cNvSpPr/>
          <p:nvPr/>
        </p:nvSpPr>
        <p:spPr>
          <a:xfrm>
            <a:off x="548640" y="1097280"/>
            <a:ext cx="3200400" cy="347472"/>
          </a:xfrm>
          <a:prstGeom prst="rect">
            <a:avLst/>
          </a:prstGeom>
          <a:noFill/>
          <a:ln/>
        </p:spPr>
        <p:txBody>
          <a:bodyPr wrap="square" lIns="0" tIns="0" rIns="0" bIns="0" rtlCol="0" anchor="ctr"/>
          <a:lstStyle/>
          <a:p>
            <a:pPr marL="0" indent="0" algn="l">
              <a:buNone/>
            </a:pPr>
            <a:r>
              <a:rPr lang="en-US" sz="1400" b="1" dirty="0">
                <a:solidFill>
                  <a:srgbClr val="0D7377"/>
                </a:solidFill>
                <a:latin typeface="Calibri" pitchFamily="34" charset="0"/>
                <a:ea typeface="Calibri" pitchFamily="34" charset="-122"/>
                <a:cs typeface="Calibri" pitchFamily="34" charset="-120"/>
              </a:rPr>
              <a:t>Peer-to-Peer (P2P)</a:t>
            </a:r>
            <a:endParaRPr lang="en-US" sz="1400" dirty="0"/>
          </a:p>
        </p:txBody>
      </p:sp>
      <p:sp>
        <p:nvSpPr>
          <p:cNvPr id="9" name="Shape 7"/>
          <p:cNvSpPr/>
          <p:nvPr/>
        </p:nvSpPr>
        <p:spPr>
          <a:xfrm>
            <a:off x="1051560" y="1783080"/>
            <a:ext cx="1097280" cy="0"/>
          </a:xfrm>
          <a:prstGeom prst="line">
            <a:avLst/>
          </a:prstGeom>
          <a:noFill/>
          <a:ln w="12700">
            <a:solidFill>
              <a:srgbClr val="0D7377"/>
            </a:solidFill>
            <a:prstDash val="sysDash"/>
          </a:ln>
        </p:spPr>
      </p:sp>
      <p:sp>
        <p:nvSpPr>
          <p:cNvPr id="10" name="Shape 8"/>
          <p:cNvSpPr/>
          <p:nvPr/>
        </p:nvSpPr>
        <p:spPr>
          <a:xfrm>
            <a:off x="2148840" y="1645920"/>
            <a:ext cx="1005840" cy="228600"/>
          </a:xfrm>
          <a:prstGeom prst="line">
            <a:avLst/>
          </a:prstGeom>
          <a:noFill/>
          <a:ln w="12700">
            <a:solidFill>
              <a:srgbClr val="0D7377"/>
            </a:solidFill>
            <a:prstDash val="sysDash"/>
          </a:ln>
        </p:spPr>
      </p:sp>
      <p:sp>
        <p:nvSpPr>
          <p:cNvPr id="11" name="Shape 9"/>
          <p:cNvSpPr/>
          <p:nvPr/>
        </p:nvSpPr>
        <p:spPr>
          <a:xfrm>
            <a:off x="1051560" y="1783080"/>
            <a:ext cx="365760" cy="914400"/>
          </a:xfrm>
          <a:prstGeom prst="line">
            <a:avLst/>
          </a:prstGeom>
          <a:noFill/>
          <a:ln w="12700">
            <a:solidFill>
              <a:srgbClr val="0D7377"/>
            </a:solidFill>
            <a:prstDash val="sysDash"/>
          </a:ln>
        </p:spPr>
      </p:sp>
      <p:sp>
        <p:nvSpPr>
          <p:cNvPr id="12" name="Shape 10"/>
          <p:cNvSpPr/>
          <p:nvPr/>
        </p:nvSpPr>
        <p:spPr>
          <a:xfrm>
            <a:off x="2148840" y="1645920"/>
            <a:ext cx="0" cy="1051560"/>
          </a:xfrm>
          <a:prstGeom prst="line">
            <a:avLst/>
          </a:prstGeom>
          <a:noFill/>
          <a:ln w="12700">
            <a:solidFill>
              <a:srgbClr val="0D7377"/>
            </a:solidFill>
            <a:prstDash val="sysDash"/>
          </a:ln>
        </p:spPr>
      </p:sp>
      <p:sp>
        <p:nvSpPr>
          <p:cNvPr id="13" name="Shape 11"/>
          <p:cNvSpPr/>
          <p:nvPr/>
        </p:nvSpPr>
        <p:spPr>
          <a:xfrm>
            <a:off x="2148840" y="1645920"/>
            <a:ext cx="548640" cy="1005840"/>
          </a:xfrm>
          <a:prstGeom prst="line">
            <a:avLst/>
          </a:prstGeom>
          <a:noFill/>
          <a:ln w="12700">
            <a:solidFill>
              <a:srgbClr val="0D7377"/>
            </a:solidFill>
            <a:prstDash val="sysDash"/>
          </a:ln>
        </p:spPr>
      </p:sp>
      <p:sp>
        <p:nvSpPr>
          <p:cNvPr id="14" name="Shape 12"/>
          <p:cNvSpPr/>
          <p:nvPr/>
        </p:nvSpPr>
        <p:spPr>
          <a:xfrm>
            <a:off x="3154680" y="1874520"/>
            <a:ext cx="0" cy="777240"/>
          </a:xfrm>
          <a:prstGeom prst="line">
            <a:avLst/>
          </a:prstGeom>
          <a:noFill/>
          <a:ln w="12700">
            <a:solidFill>
              <a:srgbClr val="0D7377"/>
            </a:solidFill>
            <a:prstDash val="sysDash"/>
          </a:ln>
        </p:spPr>
      </p:sp>
      <p:sp>
        <p:nvSpPr>
          <p:cNvPr id="15" name="Shape 13"/>
          <p:cNvSpPr/>
          <p:nvPr/>
        </p:nvSpPr>
        <p:spPr>
          <a:xfrm>
            <a:off x="1417320" y="2697480"/>
            <a:ext cx="0" cy="731520"/>
          </a:xfrm>
          <a:prstGeom prst="line">
            <a:avLst/>
          </a:prstGeom>
          <a:noFill/>
          <a:ln w="12700">
            <a:solidFill>
              <a:srgbClr val="0D7377"/>
            </a:solidFill>
            <a:prstDash val="sysDash"/>
          </a:ln>
        </p:spPr>
      </p:sp>
      <p:sp>
        <p:nvSpPr>
          <p:cNvPr id="16" name="Shape 14"/>
          <p:cNvSpPr/>
          <p:nvPr/>
        </p:nvSpPr>
        <p:spPr>
          <a:xfrm>
            <a:off x="2697480" y="2651760"/>
            <a:ext cx="0" cy="777240"/>
          </a:xfrm>
          <a:prstGeom prst="line">
            <a:avLst/>
          </a:prstGeom>
          <a:noFill/>
          <a:ln w="12700">
            <a:solidFill>
              <a:srgbClr val="0D7377"/>
            </a:solidFill>
            <a:prstDash val="sysDash"/>
          </a:ln>
        </p:spPr>
      </p:sp>
      <p:sp>
        <p:nvSpPr>
          <p:cNvPr id="17" name="Shape 15"/>
          <p:cNvSpPr/>
          <p:nvPr/>
        </p:nvSpPr>
        <p:spPr>
          <a:xfrm>
            <a:off x="1417320" y="2697480"/>
            <a:ext cx="1280160" cy="0"/>
          </a:xfrm>
          <a:prstGeom prst="line">
            <a:avLst/>
          </a:prstGeom>
          <a:noFill/>
          <a:ln w="12700">
            <a:solidFill>
              <a:srgbClr val="0D7377"/>
            </a:solidFill>
            <a:prstDash val="sysDash"/>
          </a:ln>
        </p:spPr>
      </p:sp>
      <p:sp>
        <p:nvSpPr>
          <p:cNvPr id="18" name="Shape 16"/>
          <p:cNvSpPr/>
          <p:nvPr/>
        </p:nvSpPr>
        <p:spPr>
          <a:xfrm>
            <a:off x="914400" y="1645920"/>
            <a:ext cx="274320" cy="274320"/>
          </a:xfrm>
          <a:prstGeom prst="rect">
            <a:avLst/>
          </a:prstGeom>
          <a:solidFill>
            <a:srgbClr val="0D7377"/>
          </a:solidFill>
          <a:ln w="12700">
            <a:solidFill>
              <a:srgbClr val="0D7377"/>
            </a:solidFill>
            <a:prstDash val="solid"/>
          </a:ln>
        </p:spPr>
      </p:sp>
      <p:sp>
        <p:nvSpPr>
          <p:cNvPr id="19" name="Text 17"/>
          <p:cNvSpPr/>
          <p:nvPr/>
        </p:nvSpPr>
        <p:spPr>
          <a:xfrm>
            <a:off x="914400" y="164592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P1</a:t>
            </a:r>
            <a:endParaRPr lang="en-US" sz="800" dirty="0"/>
          </a:p>
        </p:txBody>
      </p:sp>
      <p:sp>
        <p:nvSpPr>
          <p:cNvPr id="20" name="Shape 18"/>
          <p:cNvSpPr/>
          <p:nvPr/>
        </p:nvSpPr>
        <p:spPr>
          <a:xfrm>
            <a:off x="2011680" y="1508760"/>
            <a:ext cx="274320" cy="274320"/>
          </a:xfrm>
          <a:prstGeom prst="rect">
            <a:avLst/>
          </a:prstGeom>
          <a:solidFill>
            <a:srgbClr val="0D7377"/>
          </a:solidFill>
          <a:ln w="12700">
            <a:solidFill>
              <a:srgbClr val="0D7377"/>
            </a:solidFill>
            <a:prstDash val="solid"/>
          </a:ln>
        </p:spPr>
      </p:sp>
      <p:sp>
        <p:nvSpPr>
          <p:cNvPr id="21" name="Text 19"/>
          <p:cNvSpPr/>
          <p:nvPr/>
        </p:nvSpPr>
        <p:spPr>
          <a:xfrm>
            <a:off x="2011680" y="150876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P2</a:t>
            </a:r>
            <a:endParaRPr lang="en-US" sz="800" dirty="0"/>
          </a:p>
        </p:txBody>
      </p:sp>
      <p:sp>
        <p:nvSpPr>
          <p:cNvPr id="22" name="Shape 20"/>
          <p:cNvSpPr/>
          <p:nvPr/>
        </p:nvSpPr>
        <p:spPr>
          <a:xfrm>
            <a:off x="3017520" y="1737360"/>
            <a:ext cx="274320" cy="274320"/>
          </a:xfrm>
          <a:prstGeom prst="rect">
            <a:avLst/>
          </a:prstGeom>
          <a:solidFill>
            <a:srgbClr val="0D7377"/>
          </a:solidFill>
          <a:ln w="12700">
            <a:solidFill>
              <a:srgbClr val="0D7377"/>
            </a:solidFill>
            <a:prstDash val="solid"/>
          </a:ln>
        </p:spPr>
      </p:sp>
      <p:sp>
        <p:nvSpPr>
          <p:cNvPr id="23" name="Text 21"/>
          <p:cNvSpPr/>
          <p:nvPr/>
        </p:nvSpPr>
        <p:spPr>
          <a:xfrm>
            <a:off x="3017520" y="173736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P3</a:t>
            </a:r>
            <a:endParaRPr lang="en-US" sz="800" dirty="0"/>
          </a:p>
        </p:txBody>
      </p:sp>
      <p:sp>
        <p:nvSpPr>
          <p:cNvPr id="24" name="Shape 22"/>
          <p:cNvSpPr/>
          <p:nvPr/>
        </p:nvSpPr>
        <p:spPr>
          <a:xfrm>
            <a:off x="1280160" y="2560320"/>
            <a:ext cx="274320" cy="274320"/>
          </a:xfrm>
          <a:prstGeom prst="rect">
            <a:avLst/>
          </a:prstGeom>
          <a:solidFill>
            <a:srgbClr val="0D7377"/>
          </a:solidFill>
          <a:ln w="12700">
            <a:solidFill>
              <a:srgbClr val="0D7377"/>
            </a:solidFill>
            <a:prstDash val="solid"/>
          </a:ln>
        </p:spPr>
      </p:sp>
      <p:sp>
        <p:nvSpPr>
          <p:cNvPr id="25" name="Text 23"/>
          <p:cNvSpPr/>
          <p:nvPr/>
        </p:nvSpPr>
        <p:spPr>
          <a:xfrm>
            <a:off x="1280160" y="256032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P4</a:t>
            </a:r>
            <a:endParaRPr lang="en-US" sz="800" dirty="0"/>
          </a:p>
        </p:txBody>
      </p:sp>
      <p:sp>
        <p:nvSpPr>
          <p:cNvPr id="26" name="Shape 24"/>
          <p:cNvSpPr/>
          <p:nvPr/>
        </p:nvSpPr>
        <p:spPr>
          <a:xfrm>
            <a:off x="2560320" y="2514600"/>
            <a:ext cx="274320" cy="274320"/>
          </a:xfrm>
          <a:prstGeom prst="rect">
            <a:avLst/>
          </a:prstGeom>
          <a:solidFill>
            <a:srgbClr val="0D7377"/>
          </a:solidFill>
          <a:ln w="12700">
            <a:solidFill>
              <a:srgbClr val="0D7377"/>
            </a:solidFill>
            <a:prstDash val="solid"/>
          </a:ln>
        </p:spPr>
      </p:sp>
      <p:sp>
        <p:nvSpPr>
          <p:cNvPr id="27" name="Text 25"/>
          <p:cNvSpPr/>
          <p:nvPr/>
        </p:nvSpPr>
        <p:spPr>
          <a:xfrm>
            <a:off x="2560320" y="251460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P5</a:t>
            </a:r>
            <a:endParaRPr lang="en-US" sz="800" dirty="0"/>
          </a:p>
        </p:txBody>
      </p:sp>
      <p:sp>
        <p:nvSpPr>
          <p:cNvPr id="28" name="Shape 26"/>
          <p:cNvSpPr/>
          <p:nvPr/>
        </p:nvSpPr>
        <p:spPr>
          <a:xfrm>
            <a:off x="914400" y="3291840"/>
            <a:ext cx="274320" cy="274320"/>
          </a:xfrm>
          <a:prstGeom prst="rect">
            <a:avLst/>
          </a:prstGeom>
          <a:solidFill>
            <a:srgbClr val="0D7377"/>
          </a:solidFill>
          <a:ln w="12700">
            <a:solidFill>
              <a:srgbClr val="0D7377"/>
            </a:solidFill>
            <a:prstDash val="solid"/>
          </a:ln>
        </p:spPr>
      </p:sp>
      <p:sp>
        <p:nvSpPr>
          <p:cNvPr id="29" name="Text 27"/>
          <p:cNvSpPr/>
          <p:nvPr/>
        </p:nvSpPr>
        <p:spPr>
          <a:xfrm>
            <a:off x="914400" y="3291840"/>
            <a:ext cx="274320" cy="274320"/>
          </a:xfrm>
          <a:prstGeom prst="rect">
            <a:avLst/>
          </a:prstGeom>
          <a:noFill/>
          <a:ln/>
        </p:spPr>
        <p:txBody>
          <a:bodyPr wrap="square" lIns="0" tIns="0" rIns="0" bIns="0" rtlCol="0" anchor="ctr"/>
          <a:lstStyle/>
          <a:p>
            <a:pPr marL="0" indent="0" algn="ctr">
              <a:buNone/>
            </a:pPr>
            <a:r>
              <a:rPr lang="en-US" sz="800" b="1" dirty="0">
                <a:solidFill>
                  <a:srgbClr val="FFFFFF"/>
                </a:solidFill>
              </a:rPr>
              <a:t>P6</a:t>
            </a:r>
            <a:endParaRPr lang="en-US" sz="800" dirty="0"/>
          </a:p>
        </p:txBody>
      </p:sp>
      <p:sp>
        <p:nvSpPr>
          <p:cNvPr id="30" name="Text 28"/>
          <p:cNvSpPr/>
          <p:nvPr/>
        </p:nvSpPr>
        <p:spPr>
          <a:xfrm>
            <a:off x="502920" y="3566160"/>
            <a:ext cx="3749040" cy="1005840"/>
          </a:xfrm>
          <a:prstGeom prst="rect">
            <a:avLst/>
          </a:prstGeom>
          <a:noFill/>
          <a:ln/>
        </p:spPr>
        <p:txBody>
          <a:bodyPr wrap="square" lIns="25400" tIns="25400" rIns="25400" bIns="25400"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Cada nodo es cliente Y servidor simultáneamente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Sin punto único de fallo por diseño</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Autoorganización: nodos entran/salen libremente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Desafío: descubrimiento de recursos sin coordinador central</a:t>
            </a:r>
            <a:endParaRPr lang="en-US" sz="1050" dirty="0"/>
          </a:p>
        </p:txBody>
      </p:sp>
      <p:sp>
        <p:nvSpPr>
          <p:cNvPr id="31" name="Shape 29"/>
          <p:cNvSpPr/>
          <p:nvPr/>
        </p:nvSpPr>
        <p:spPr>
          <a:xfrm>
            <a:off x="502920" y="4507992"/>
            <a:ext cx="1097280" cy="237744"/>
          </a:xfrm>
          <a:prstGeom prst="rect">
            <a:avLst/>
          </a:prstGeom>
          <a:solidFill>
            <a:srgbClr val="0D7377"/>
          </a:solidFill>
          <a:ln w="12700">
            <a:solidFill>
              <a:srgbClr val="0D7377"/>
            </a:solidFill>
            <a:prstDash val="solid"/>
          </a:ln>
        </p:spPr>
      </p:sp>
      <p:sp>
        <p:nvSpPr>
          <p:cNvPr id="32" name="Text 30"/>
          <p:cNvSpPr/>
          <p:nvPr/>
        </p:nvSpPr>
        <p:spPr>
          <a:xfrm>
            <a:off x="502920" y="4507992"/>
            <a:ext cx="10972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BitTorrent</a:t>
            </a:r>
            <a:endParaRPr lang="en-US" sz="1000" dirty="0"/>
          </a:p>
        </p:txBody>
      </p:sp>
      <p:sp>
        <p:nvSpPr>
          <p:cNvPr id="33" name="Shape 31"/>
          <p:cNvSpPr/>
          <p:nvPr/>
        </p:nvSpPr>
        <p:spPr>
          <a:xfrm>
            <a:off x="1664208" y="4507992"/>
            <a:ext cx="1097280" cy="237744"/>
          </a:xfrm>
          <a:prstGeom prst="rect">
            <a:avLst/>
          </a:prstGeom>
          <a:solidFill>
            <a:srgbClr val="4A148C"/>
          </a:solidFill>
          <a:ln w="12700">
            <a:solidFill>
              <a:srgbClr val="4A148C"/>
            </a:solidFill>
            <a:prstDash val="solid"/>
          </a:ln>
        </p:spPr>
      </p:sp>
      <p:sp>
        <p:nvSpPr>
          <p:cNvPr id="34" name="Text 32"/>
          <p:cNvSpPr/>
          <p:nvPr/>
        </p:nvSpPr>
        <p:spPr>
          <a:xfrm>
            <a:off x="1664208" y="4507992"/>
            <a:ext cx="10972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Blockchain</a:t>
            </a:r>
            <a:endParaRPr lang="en-US" sz="1000" dirty="0"/>
          </a:p>
        </p:txBody>
      </p:sp>
      <p:sp>
        <p:nvSpPr>
          <p:cNvPr id="35" name="Shape 33"/>
          <p:cNvSpPr/>
          <p:nvPr/>
        </p:nvSpPr>
        <p:spPr>
          <a:xfrm>
            <a:off x="2816352" y="4507992"/>
            <a:ext cx="731520" cy="237744"/>
          </a:xfrm>
          <a:prstGeom prst="rect">
            <a:avLst/>
          </a:prstGeom>
          <a:solidFill>
            <a:srgbClr val="1A2D6B"/>
          </a:solidFill>
          <a:ln w="12700">
            <a:solidFill>
              <a:srgbClr val="1A2D6B"/>
            </a:solidFill>
            <a:prstDash val="solid"/>
          </a:ln>
        </p:spPr>
      </p:sp>
      <p:sp>
        <p:nvSpPr>
          <p:cNvPr id="36" name="Text 34"/>
          <p:cNvSpPr/>
          <p:nvPr/>
        </p:nvSpPr>
        <p:spPr>
          <a:xfrm>
            <a:off x="2816352" y="4507992"/>
            <a:ext cx="7315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IPFS</a:t>
            </a:r>
            <a:endParaRPr lang="en-US" sz="1000" dirty="0"/>
          </a:p>
        </p:txBody>
      </p:sp>
      <p:sp>
        <p:nvSpPr>
          <p:cNvPr id="37" name="Shape 35"/>
          <p:cNvSpPr/>
          <p:nvPr/>
        </p:nvSpPr>
        <p:spPr>
          <a:xfrm>
            <a:off x="4709160" y="1051560"/>
            <a:ext cx="4069080" cy="37033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8" name="Text 36"/>
          <p:cNvSpPr/>
          <p:nvPr/>
        </p:nvSpPr>
        <p:spPr>
          <a:xfrm>
            <a:off x="4892040" y="1097280"/>
            <a:ext cx="3657600" cy="347472"/>
          </a:xfrm>
          <a:prstGeom prst="rect">
            <a:avLst/>
          </a:prstGeom>
          <a:noFill/>
          <a:ln/>
        </p:spPr>
        <p:txBody>
          <a:bodyPr wrap="square" lIns="0" tIns="0" rIns="0" bIns="0" rtlCol="0" anchor="ctr"/>
          <a:lstStyle/>
          <a:p>
            <a:pPr marL="0" indent="0" algn="l">
              <a:buNone/>
            </a:pPr>
            <a:r>
              <a:rPr lang="en-US" sz="1400" b="1" dirty="0">
                <a:solidFill>
                  <a:srgbClr val="B45309"/>
                </a:solidFill>
                <a:latin typeface="Calibri" pitchFamily="34" charset="0"/>
                <a:ea typeface="Calibri" pitchFamily="34" charset="-122"/>
                <a:cs typeface="Calibri" pitchFamily="34" charset="-120"/>
              </a:rPr>
              <a:t>Híbrido — El estándar industrial</a:t>
            </a:r>
            <a:endParaRPr lang="en-US" sz="1400" dirty="0"/>
          </a:p>
        </p:txBody>
      </p:sp>
      <p:sp>
        <p:nvSpPr>
          <p:cNvPr id="39" name="Shape 37"/>
          <p:cNvSpPr/>
          <p:nvPr/>
        </p:nvSpPr>
        <p:spPr>
          <a:xfrm>
            <a:off x="4846320" y="1572768"/>
            <a:ext cx="274320" cy="274320"/>
          </a:xfrm>
          <a:prstGeom prst="rect">
            <a:avLst/>
          </a:prstGeom>
          <a:solidFill>
            <a:srgbClr val="B45309"/>
          </a:solidFill>
          <a:ln w="12700">
            <a:solidFill>
              <a:srgbClr val="B45309"/>
            </a:solidFill>
            <a:prstDash val="solid"/>
          </a:ln>
        </p:spPr>
      </p:sp>
      <p:sp>
        <p:nvSpPr>
          <p:cNvPr id="40" name="Text 38"/>
          <p:cNvSpPr/>
          <p:nvPr/>
        </p:nvSpPr>
        <p:spPr>
          <a:xfrm>
            <a:off x="4846320" y="1572768"/>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41" name="Text 39"/>
          <p:cNvSpPr/>
          <p:nvPr/>
        </p:nvSpPr>
        <p:spPr>
          <a:xfrm>
            <a:off x="5166360" y="1572768"/>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Servidor central para autenticación, metadatos y señalización</a:t>
            </a:r>
            <a:endParaRPr lang="en-US" sz="1000" dirty="0"/>
          </a:p>
        </p:txBody>
      </p:sp>
      <p:sp>
        <p:nvSpPr>
          <p:cNvPr id="42" name="Shape 40"/>
          <p:cNvSpPr/>
          <p:nvPr/>
        </p:nvSpPr>
        <p:spPr>
          <a:xfrm>
            <a:off x="4846320" y="2057400"/>
            <a:ext cx="274320" cy="274320"/>
          </a:xfrm>
          <a:prstGeom prst="rect">
            <a:avLst/>
          </a:prstGeom>
          <a:solidFill>
            <a:srgbClr val="B45309"/>
          </a:solidFill>
          <a:ln w="12700">
            <a:solidFill>
              <a:srgbClr val="B45309"/>
            </a:solidFill>
            <a:prstDash val="solid"/>
          </a:ln>
        </p:spPr>
      </p:sp>
      <p:sp>
        <p:nvSpPr>
          <p:cNvPr id="43" name="Text 41"/>
          <p:cNvSpPr/>
          <p:nvPr/>
        </p:nvSpPr>
        <p:spPr>
          <a:xfrm>
            <a:off x="4846320" y="2057400"/>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44" name="Text 42"/>
          <p:cNvSpPr/>
          <p:nvPr/>
        </p:nvSpPr>
        <p:spPr>
          <a:xfrm>
            <a:off x="5166360" y="2057400"/>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Transferencia de datos directamente entre pares (sin pasar por el servidor)</a:t>
            </a:r>
            <a:endParaRPr lang="en-US" sz="1000" dirty="0"/>
          </a:p>
        </p:txBody>
      </p:sp>
      <p:sp>
        <p:nvSpPr>
          <p:cNvPr id="45" name="Shape 43"/>
          <p:cNvSpPr/>
          <p:nvPr/>
        </p:nvSpPr>
        <p:spPr>
          <a:xfrm>
            <a:off x="4846320" y="2542032"/>
            <a:ext cx="274320" cy="274320"/>
          </a:xfrm>
          <a:prstGeom prst="rect">
            <a:avLst/>
          </a:prstGeom>
          <a:solidFill>
            <a:srgbClr val="B45309"/>
          </a:solidFill>
          <a:ln w="12700">
            <a:solidFill>
              <a:srgbClr val="B45309"/>
            </a:solidFill>
            <a:prstDash val="solid"/>
          </a:ln>
        </p:spPr>
      </p:sp>
      <p:sp>
        <p:nvSpPr>
          <p:cNvPr id="46" name="Text 44"/>
          <p:cNvSpPr/>
          <p:nvPr/>
        </p:nvSpPr>
        <p:spPr>
          <a:xfrm>
            <a:off x="4846320" y="2542032"/>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47" name="Text 45"/>
          <p:cNvSpPr/>
          <p:nvPr/>
        </p:nvSpPr>
        <p:spPr>
          <a:xfrm>
            <a:off x="5166360" y="2542032"/>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Combina la disponibilidad P2P con la gobernanza C-S</a:t>
            </a:r>
            <a:endParaRPr lang="en-US" sz="1000" dirty="0"/>
          </a:p>
        </p:txBody>
      </p:sp>
      <p:sp>
        <p:nvSpPr>
          <p:cNvPr id="48" name="Shape 46"/>
          <p:cNvSpPr/>
          <p:nvPr/>
        </p:nvSpPr>
        <p:spPr>
          <a:xfrm>
            <a:off x="4846320" y="3026664"/>
            <a:ext cx="274320" cy="274320"/>
          </a:xfrm>
          <a:prstGeom prst="rect">
            <a:avLst/>
          </a:prstGeom>
          <a:solidFill>
            <a:srgbClr val="059669"/>
          </a:solidFill>
          <a:ln w="12700">
            <a:solidFill>
              <a:srgbClr val="059669"/>
            </a:solidFill>
            <a:prstDash val="solid"/>
          </a:ln>
        </p:spPr>
      </p:sp>
      <p:sp>
        <p:nvSpPr>
          <p:cNvPr id="49" name="Text 47"/>
          <p:cNvSpPr/>
          <p:nvPr/>
        </p:nvSpPr>
        <p:spPr>
          <a:xfrm>
            <a:off x="4846320" y="3026664"/>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50" name="Text 48"/>
          <p:cNvSpPr/>
          <p:nvPr/>
        </p:nvSpPr>
        <p:spPr>
          <a:xfrm>
            <a:off x="5166360" y="3026664"/>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WhatsApp: señalización via servidor, llamadas de voz P2P cifradas</a:t>
            </a:r>
            <a:endParaRPr lang="en-US" sz="1000" dirty="0"/>
          </a:p>
        </p:txBody>
      </p:sp>
      <p:sp>
        <p:nvSpPr>
          <p:cNvPr id="51" name="Shape 49"/>
          <p:cNvSpPr/>
          <p:nvPr/>
        </p:nvSpPr>
        <p:spPr>
          <a:xfrm>
            <a:off x="4846320" y="3511296"/>
            <a:ext cx="274320" cy="274320"/>
          </a:xfrm>
          <a:prstGeom prst="rect">
            <a:avLst/>
          </a:prstGeom>
          <a:solidFill>
            <a:srgbClr val="059669"/>
          </a:solidFill>
          <a:ln w="12700">
            <a:solidFill>
              <a:srgbClr val="059669"/>
            </a:solidFill>
            <a:prstDash val="solid"/>
          </a:ln>
        </p:spPr>
      </p:sp>
      <p:sp>
        <p:nvSpPr>
          <p:cNvPr id="52" name="Text 50"/>
          <p:cNvSpPr/>
          <p:nvPr/>
        </p:nvSpPr>
        <p:spPr>
          <a:xfrm>
            <a:off x="4846320" y="3511296"/>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53" name="Text 51"/>
          <p:cNvSpPr/>
          <p:nvPr/>
        </p:nvSpPr>
        <p:spPr>
          <a:xfrm>
            <a:off x="5166360" y="3511296"/>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Spotify: metadatos desde CDN, streaming desde pares (P4P)</a:t>
            </a:r>
            <a:endParaRPr lang="en-US" sz="1000" dirty="0"/>
          </a:p>
        </p:txBody>
      </p:sp>
      <p:sp>
        <p:nvSpPr>
          <p:cNvPr id="54" name="Shape 52"/>
          <p:cNvSpPr/>
          <p:nvPr/>
        </p:nvSpPr>
        <p:spPr>
          <a:xfrm>
            <a:off x="4846320" y="3995928"/>
            <a:ext cx="274320" cy="274320"/>
          </a:xfrm>
          <a:prstGeom prst="rect">
            <a:avLst/>
          </a:prstGeom>
          <a:solidFill>
            <a:srgbClr val="059669"/>
          </a:solidFill>
          <a:ln w="12700">
            <a:solidFill>
              <a:srgbClr val="059669"/>
            </a:solidFill>
            <a:prstDash val="solid"/>
          </a:ln>
        </p:spPr>
      </p:sp>
      <p:sp>
        <p:nvSpPr>
          <p:cNvPr id="55" name="Text 53"/>
          <p:cNvSpPr/>
          <p:nvPr/>
        </p:nvSpPr>
        <p:spPr>
          <a:xfrm>
            <a:off x="4846320" y="3995928"/>
            <a:ext cx="274320" cy="274320"/>
          </a:xfrm>
          <a:prstGeom prst="rect">
            <a:avLst/>
          </a:prstGeom>
          <a:noFill/>
          <a:ln/>
        </p:spPr>
        <p:txBody>
          <a:bodyPr wrap="square" lIns="0" tIns="0" rIns="0" bIns="0" rtlCol="0" anchor="ctr"/>
          <a:lstStyle/>
          <a:p>
            <a:pPr marL="0" indent="0" algn="ctr">
              <a:buNone/>
            </a:pPr>
            <a:r>
              <a:rPr lang="en-US" sz="1200" dirty="0">
                <a:solidFill>
                  <a:srgbClr val="FFFFFF"/>
                </a:solidFill>
              </a:rPr>
              <a:t>✔</a:t>
            </a:r>
            <a:endParaRPr lang="en-US" sz="1200" dirty="0"/>
          </a:p>
        </p:txBody>
      </p:sp>
      <p:sp>
        <p:nvSpPr>
          <p:cNvPr id="56" name="Text 54"/>
          <p:cNvSpPr/>
          <p:nvPr/>
        </p:nvSpPr>
        <p:spPr>
          <a:xfrm>
            <a:off x="5166360" y="3995928"/>
            <a:ext cx="3383280" cy="274320"/>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Microservicios: C-S con API Gateway + P2P de service mesh (Envoy)</a:t>
            </a:r>
            <a:endParaRPr lang="en-US" sz="1000" dirty="0"/>
          </a:p>
        </p:txBody>
      </p:sp>
      <p:sp>
        <p:nvSpPr>
          <p:cNvPr id="57" name="Shape 55"/>
          <p:cNvSpPr/>
          <p:nvPr/>
        </p:nvSpPr>
        <p:spPr>
          <a:xfrm>
            <a:off x="365760" y="4343400"/>
            <a:ext cx="8412480" cy="457200"/>
          </a:xfrm>
          <a:prstGeom prst="rect">
            <a:avLst/>
          </a:prstGeom>
          <a:solidFill>
            <a:srgbClr val="0D1B40"/>
          </a:solidFill>
          <a:ln w="12700">
            <a:solidFill>
              <a:srgbClr val="0D1B40"/>
            </a:solidFill>
            <a:prstDash val="solid"/>
          </a:ln>
        </p:spPr>
      </p:sp>
      <p:sp>
        <p:nvSpPr>
          <p:cNvPr id="58" name="Text 56"/>
          <p:cNvSpPr/>
          <p:nvPr/>
        </p:nvSpPr>
        <p:spPr>
          <a:xfrm>
            <a:off x="502920" y="4343400"/>
            <a:ext cx="81381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C-S → Control centralizado, gestión simple, SPOF      P2P → Sin SPOF, resiliente, complejo de gobernar      Híbrido → El mejor compromiso en producción</a:t>
            </a:r>
            <a:endParaRPr lang="en-US" sz="1000" dirty="0"/>
          </a:p>
        </p:txBody>
      </p:sp>
      <p:sp>
        <p:nvSpPr>
          <p:cNvPr id="59" name="Shape 57"/>
          <p:cNvSpPr/>
          <p:nvPr/>
        </p:nvSpPr>
        <p:spPr>
          <a:xfrm>
            <a:off x="0" y="4892040"/>
            <a:ext cx="9144000" cy="251460"/>
          </a:xfrm>
          <a:prstGeom prst="rect">
            <a:avLst/>
          </a:prstGeom>
          <a:solidFill>
            <a:srgbClr val="0D1B40"/>
          </a:solidFill>
          <a:ln w="12700">
            <a:solidFill>
              <a:srgbClr val="0D1B40"/>
            </a:solidFill>
            <a:prstDash val="solid"/>
          </a:ln>
        </p:spPr>
      </p:sp>
      <p:sp>
        <p:nvSpPr>
          <p:cNvPr id="60" name="Text 58"/>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van Steen &amp; Tanenbaum, Distributed Systems, 4th ed., ch. 2; Kurose &amp; Ross, Redes de Computadoras, 7a ed., 2017</a:t>
            </a:r>
            <a:endParaRPr lang="en-US" sz="800" dirty="0"/>
          </a:p>
        </p:txBody>
      </p:sp>
      <p:sp>
        <p:nvSpPr>
          <p:cNvPr id="61" name="Text 59"/>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40"/>
        </a:solidFill>
        <a:effectLst/>
      </p:bgPr>
    </p:bg>
    <p:spTree>
      <p:nvGrpSpPr>
        <p:cNvPr id="1" name=""/>
        <p:cNvGrpSpPr/>
        <p:nvPr/>
      </p:nvGrpSpPr>
      <p:grpSpPr>
        <a:xfrm>
          <a:off x="0" y="0"/>
          <a:ext cx="0" cy="0"/>
          <a:chOff x="0" y="0"/>
          <a:chExt cx="0" cy="0"/>
        </a:xfrm>
      </p:grpSpPr>
      <p:sp>
        <p:nvSpPr>
          <p:cNvPr id="2" name="Text 0"/>
          <p:cNvSpPr/>
          <p:nvPr/>
        </p:nvSpPr>
        <p:spPr>
          <a:xfrm>
            <a:off x="274320" y="731520"/>
            <a:ext cx="1828800" cy="2286000"/>
          </a:xfrm>
          <a:prstGeom prst="rect">
            <a:avLst/>
          </a:prstGeom>
          <a:noFill/>
          <a:ln/>
        </p:spPr>
        <p:txBody>
          <a:bodyPr wrap="square" lIns="0" tIns="0" rIns="0" bIns="0" rtlCol="0" anchor="ctr"/>
          <a:lstStyle/>
          <a:p>
            <a:pPr marL="0" indent="0" algn="l">
              <a:buNone/>
            </a:pPr>
            <a:r>
              <a:rPr lang="en-US" sz="12000" b="1" dirty="0">
                <a:solidFill>
                  <a:srgbClr val="1A3A6B"/>
                </a:solidFill>
                <a:latin typeface="Calibri" pitchFamily="34" charset="0"/>
                <a:ea typeface="Calibri" pitchFamily="34" charset="-122"/>
                <a:cs typeface="Calibri" pitchFamily="34" charset="-120"/>
              </a:rPr>
              <a:t>02</a:t>
            </a:r>
            <a:endParaRPr lang="en-US" sz="12000" dirty="0"/>
          </a:p>
        </p:txBody>
      </p:sp>
      <p:sp>
        <p:nvSpPr>
          <p:cNvPr id="3" name="Text 1"/>
          <p:cNvSpPr/>
          <p:nvPr/>
        </p:nvSpPr>
        <p:spPr>
          <a:xfrm>
            <a:off x="2011680" y="1097280"/>
            <a:ext cx="6858000" cy="91440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Comunicación entre Procesos</a:t>
            </a:r>
            <a:endParaRPr lang="en-US" sz="3400" dirty="0"/>
          </a:p>
        </p:txBody>
      </p:sp>
      <p:sp>
        <p:nvSpPr>
          <p:cNvPr id="4" name="Text 2"/>
          <p:cNvSpPr/>
          <p:nvPr/>
        </p:nvSpPr>
        <p:spPr>
          <a:xfrm>
            <a:off x="2011680" y="1965960"/>
            <a:ext cx="6858000" cy="411480"/>
          </a:xfrm>
          <a:prstGeom prst="rect">
            <a:avLst/>
          </a:prstGeom>
          <a:noFill/>
          <a:ln/>
        </p:spPr>
        <p:txBody>
          <a:bodyPr wrap="square" lIns="0" tIns="0" rIns="0" bIns="0" rtlCol="0" anchor="t"/>
          <a:lstStyle/>
          <a:p>
            <a:pPr marL="0" indent="0" algn="l">
              <a:buNone/>
            </a:pPr>
            <a:r>
              <a:rPr lang="en-US" sz="1500" dirty="0">
                <a:solidFill>
                  <a:srgbClr val="14A0A7"/>
                </a:solidFill>
                <a:latin typeface="Calibri" pitchFamily="34" charset="0"/>
                <a:ea typeface="Calibri" pitchFamily="34" charset="-122"/>
                <a:cs typeface="Calibri" pitchFamily="34" charset="-120"/>
              </a:rPr>
              <a:t>Desde los sockets de bajo nivel hasta el RMI de alto nivel</a:t>
            </a:r>
            <a:endParaRPr lang="en-US" sz="1500" dirty="0"/>
          </a:p>
        </p:txBody>
      </p:sp>
      <p:sp>
        <p:nvSpPr>
          <p:cNvPr id="5" name="Shape 3"/>
          <p:cNvSpPr/>
          <p:nvPr/>
        </p:nvSpPr>
        <p:spPr>
          <a:xfrm>
            <a:off x="2011680" y="2606040"/>
            <a:ext cx="1371600" cy="292608"/>
          </a:xfrm>
          <a:prstGeom prst="rect">
            <a:avLst/>
          </a:prstGeom>
          <a:solidFill>
            <a:srgbClr val="0D7377"/>
          </a:solidFill>
          <a:ln w="12700">
            <a:solidFill>
              <a:srgbClr val="0D7377"/>
            </a:solidFill>
            <a:prstDash val="solid"/>
          </a:ln>
        </p:spPr>
      </p:sp>
      <p:sp>
        <p:nvSpPr>
          <p:cNvPr id="6" name="Text 4"/>
          <p:cNvSpPr/>
          <p:nvPr/>
        </p:nvSpPr>
        <p:spPr>
          <a:xfrm>
            <a:off x="2011680" y="260604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Sockets TCP</a:t>
            </a:r>
            <a:endParaRPr lang="en-US" sz="1100" dirty="0"/>
          </a:p>
        </p:txBody>
      </p:sp>
      <p:sp>
        <p:nvSpPr>
          <p:cNvPr id="7" name="Shape 5"/>
          <p:cNvSpPr/>
          <p:nvPr/>
        </p:nvSpPr>
        <p:spPr>
          <a:xfrm>
            <a:off x="3493008" y="2606040"/>
            <a:ext cx="1371600" cy="292608"/>
          </a:xfrm>
          <a:prstGeom prst="rect">
            <a:avLst/>
          </a:prstGeom>
          <a:solidFill>
            <a:srgbClr val="0D7377"/>
          </a:solidFill>
          <a:ln w="12700">
            <a:solidFill>
              <a:srgbClr val="0D7377"/>
            </a:solidFill>
            <a:prstDash val="solid"/>
          </a:ln>
        </p:spPr>
      </p:sp>
      <p:sp>
        <p:nvSpPr>
          <p:cNvPr id="8" name="Text 6"/>
          <p:cNvSpPr/>
          <p:nvPr/>
        </p:nvSpPr>
        <p:spPr>
          <a:xfrm>
            <a:off x="3493008" y="260604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Sockets UDP</a:t>
            </a:r>
            <a:endParaRPr lang="en-US" sz="1100" dirty="0"/>
          </a:p>
        </p:txBody>
      </p:sp>
      <p:sp>
        <p:nvSpPr>
          <p:cNvPr id="9" name="Shape 7"/>
          <p:cNvSpPr/>
          <p:nvPr/>
        </p:nvSpPr>
        <p:spPr>
          <a:xfrm>
            <a:off x="4974336" y="2606040"/>
            <a:ext cx="1005840" cy="292608"/>
          </a:xfrm>
          <a:prstGeom prst="rect">
            <a:avLst/>
          </a:prstGeom>
          <a:solidFill>
            <a:srgbClr val="0D7377"/>
          </a:solidFill>
          <a:ln w="12700">
            <a:solidFill>
              <a:srgbClr val="0D7377"/>
            </a:solidFill>
            <a:prstDash val="solid"/>
          </a:ln>
        </p:spPr>
      </p:sp>
      <p:sp>
        <p:nvSpPr>
          <p:cNvPr id="10" name="Text 8"/>
          <p:cNvSpPr/>
          <p:nvPr/>
        </p:nvSpPr>
        <p:spPr>
          <a:xfrm>
            <a:off x="4974336" y="2606040"/>
            <a:ext cx="100584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RPC</a:t>
            </a:r>
            <a:endParaRPr lang="en-US" sz="1100" dirty="0"/>
          </a:p>
        </p:txBody>
      </p:sp>
      <p:sp>
        <p:nvSpPr>
          <p:cNvPr id="11" name="Shape 9"/>
          <p:cNvSpPr/>
          <p:nvPr/>
        </p:nvSpPr>
        <p:spPr>
          <a:xfrm>
            <a:off x="6089904" y="2606040"/>
            <a:ext cx="1188720" cy="292608"/>
          </a:xfrm>
          <a:prstGeom prst="rect">
            <a:avLst/>
          </a:prstGeom>
          <a:solidFill>
            <a:srgbClr val="0D7377"/>
          </a:solidFill>
          <a:ln w="12700">
            <a:solidFill>
              <a:srgbClr val="0D7377"/>
            </a:solidFill>
            <a:prstDash val="solid"/>
          </a:ln>
        </p:spPr>
      </p:sp>
      <p:sp>
        <p:nvSpPr>
          <p:cNvPr id="12" name="Text 10"/>
          <p:cNvSpPr/>
          <p:nvPr/>
        </p:nvSpPr>
        <p:spPr>
          <a:xfrm>
            <a:off x="6089904" y="2606040"/>
            <a:ext cx="118872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RMI Java</a:t>
            </a:r>
            <a:endParaRPr lang="en-US" sz="1100" dirty="0"/>
          </a:p>
        </p:txBody>
      </p:sp>
      <p:sp>
        <p:nvSpPr>
          <p:cNvPr id="13" name="Shape 11"/>
          <p:cNvSpPr/>
          <p:nvPr/>
        </p:nvSpPr>
        <p:spPr>
          <a:xfrm>
            <a:off x="7388352" y="2606040"/>
            <a:ext cx="1005840" cy="292608"/>
          </a:xfrm>
          <a:prstGeom prst="rect">
            <a:avLst/>
          </a:prstGeom>
          <a:solidFill>
            <a:srgbClr val="0D7377"/>
          </a:solidFill>
          <a:ln w="12700">
            <a:solidFill>
              <a:srgbClr val="0D7377"/>
            </a:solidFill>
            <a:prstDash val="solid"/>
          </a:ln>
        </p:spPr>
      </p:sp>
      <p:sp>
        <p:nvSpPr>
          <p:cNvPr id="14" name="Text 12"/>
          <p:cNvSpPr/>
          <p:nvPr/>
        </p:nvSpPr>
        <p:spPr>
          <a:xfrm>
            <a:off x="7388352" y="2606040"/>
            <a:ext cx="100584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gRPC</a:t>
            </a:r>
            <a:endParaRPr lang="en-US" sz="1100" dirty="0"/>
          </a:p>
        </p:txBody>
      </p:sp>
      <p:sp>
        <p:nvSpPr>
          <p:cNvPr id="15" name="Shape 13"/>
          <p:cNvSpPr/>
          <p:nvPr/>
        </p:nvSpPr>
        <p:spPr>
          <a:xfrm>
            <a:off x="0" y="4892040"/>
            <a:ext cx="9144000" cy="251460"/>
          </a:xfrm>
          <a:prstGeom prst="rect">
            <a:avLst/>
          </a:prstGeom>
          <a:solidFill>
            <a:srgbClr val="0D1B40"/>
          </a:solidFill>
          <a:ln w="12700">
            <a:solidFill>
              <a:srgbClr val="0D1B40"/>
            </a:solidFill>
            <a:prstDash val="solid"/>
          </a:ln>
        </p:spPr>
      </p:sp>
      <p:sp>
        <p:nvSpPr>
          <p:cNvPr id="16" name="Text 14"/>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02 · Comunicación</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Sockets TCP y UDP</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Sockets — La Abstracción Fundamental de la Red</a:t>
            </a:r>
            <a:endParaRPr lang="en-US" sz="2000" dirty="0"/>
          </a:p>
        </p:txBody>
      </p:sp>
      <p:sp>
        <p:nvSpPr>
          <p:cNvPr id="7" name="Shape 5"/>
          <p:cNvSpPr/>
          <p:nvPr/>
        </p:nvSpPr>
        <p:spPr>
          <a:xfrm>
            <a:off x="365760" y="1033272"/>
            <a:ext cx="4160520" cy="365760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Shape 6"/>
          <p:cNvSpPr/>
          <p:nvPr/>
        </p:nvSpPr>
        <p:spPr>
          <a:xfrm>
            <a:off x="365760" y="1033272"/>
            <a:ext cx="4160520" cy="320040"/>
          </a:xfrm>
          <a:prstGeom prst="rect">
            <a:avLst/>
          </a:prstGeom>
          <a:solidFill>
            <a:srgbClr val="1A2D6B"/>
          </a:solidFill>
          <a:ln w="12700">
            <a:solidFill>
              <a:srgbClr val="1A2D6B"/>
            </a:solidFill>
            <a:prstDash val="solid"/>
          </a:ln>
        </p:spPr>
      </p:sp>
      <p:sp>
        <p:nvSpPr>
          <p:cNvPr id="9" name="Text 7"/>
          <p:cNvSpPr/>
          <p:nvPr/>
        </p:nvSpPr>
        <p:spPr>
          <a:xfrm>
            <a:off x="502920" y="1033272"/>
            <a:ext cx="3840480" cy="3200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TCP — Orientado a Conexión</a:t>
            </a:r>
            <a:endParaRPr lang="en-US" sz="1300" dirty="0"/>
          </a:p>
        </p:txBody>
      </p:sp>
      <p:sp>
        <p:nvSpPr>
          <p:cNvPr id="10" name="Shape 8"/>
          <p:cNvSpPr/>
          <p:nvPr/>
        </p:nvSpPr>
        <p:spPr>
          <a:xfrm>
            <a:off x="457200" y="1426464"/>
            <a:ext cx="274320" cy="274320"/>
          </a:xfrm>
          <a:prstGeom prst="rect">
            <a:avLst/>
          </a:prstGeom>
          <a:solidFill>
            <a:srgbClr val="1A2D6B"/>
          </a:solidFill>
          <a:ln w="12700">
            <a:solidFill>
              <a:srgbClr val="1A2D6B"/>
            </a:solidFill>
            <a:prstDash val="solid"/>
          </a:ln>
        </p:spPr>
      </p:sp>
      <p:sp>
        <p:nvSpPr>
          <p:cNvPr id="11" name="Text 9"/>
          <p:cNvSpPr/>
          <p:nvPr/>
        </p:nvSpPr>
        <p:spPr>
          <a:xfrm>
            <a:off x="457200" y="142646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804672" y="1426464"/>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socket() → Crear descriptor de fichero de red</a:t>
            </a:r>
            <a:endParaRPr lang="en-US" sz="1050" dirty="0"/>
          </a:p>
        </p:txBody>
      </p:sp>
      <p:sp>
        <p:nvSpPr>
          <p:cNvPr id="13" name="Shape 11"/>
          <p:cNvSpPr/>
          <p:nvPr/>
        </p:nvSpPr>
        <p:spPr>
          <a:xfrm>
            <a:off x="457200" y="1901952"/>
            <a:ext cx="274320" cy="274320"/>
          </a:xfrm>
          <a:prstGeom prst="rect">
            <a:avLst/>
          </a:prstGeom>
          <a:solidFill>
            <a:srgbClr val="1A2D6B"/>
          </a:solidFill>
          <a:ln w="12700">
            <a:solidFill>
              <a:srgbClr val="1A2D6B"/>
            </a:solidFill>
            <a:prstDash val="solid"/>
          </a:ln>
        </p:spPr>
      </p:sp>
      <p:sp>
        <p:nvSpPr>
          <p:cNvPr id="14" name="Text 12"/>
          <p:cNvSpPr/>
          <p:nvPr/>
        </p:nvSpPr>
        <p:spPr>
          <a:xfrm>
            <a:off x="457200" y="19019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04672" y="1901952"/>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bind() → Asociar IP:puerto al socket del servidor</a:t>
            </a:r>
            <a:endParaRPr lang="en-US" sz="1050" dirty="0"/>
          </a:p>
        </p:txBody>
      </p:sp>
      <p:sp>
        <p:nvSpPr>
          <p:cNvPr id="16" name="Shape 14"/>
          <p:cNvSpPr/>
          <p:nvPr/>
        </p:nvSpPr>
        <p:spPr>
          <a:xfrm>
            <a:off x="457200" y="2377440"/>
            <a:ext cx="274320" cy="274320"/>
          </a:xfrm>
          <a:prstGeom prst="rect">
            <a:avLst/>
          </a:prstGeom>
          <a:solidFill>
            <a:srgbClr val="1A2D6B"/>
          </a:solidFill>
          <a:ln w="12700">
            <a:solidFill>
              <a:srgbClr val="1A2D6B"/>
            </a:solidFill>
            <a:prstDash val="solid"/>
          </a:ln>
        </p:spPr>
      </p:sp>
      <p:sp>
        <p:nvSpPr>
          <p:cNvPr id="17" name="Text 15"/>
          <p:cNvSpPr/>
          <p:nvPr/>
        </p:nvSpPr>
        <p:spPr>
          <a:xfrm>
            <a:off x="457200"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804672" y="2377440"/>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listen() → Cola de conexiones entrantes (backlog)</a:t>
            </a:r>
            <a:endParaRPr lang="en-US" sz="1050" dirty="0"/>
          </a:p>
        </p:txBody>
      </p:sp>
      <p:sp>
        <p:nvSpPr>
          <p:cNvPr id="19" name="Shape 17"/>
          <p:cNvSpPr/>
          <p:nvPr/>
        </p:nvSpPr>
        <p:spPr>
          <a:xfrm>
            <a:off x="457200" y="2852928"/>
            <a:ext cx="274320" cy="274320"/>
          </a:xfrm>
          <a:prstGeom prst="rect">
            <a:avLst/>
          </a:prstGeom>
          <a:solidFill>
            <a:srgbClr val="1A2D6B"/>
          </a:solidFill>
          <a:ln w="12700">
            <a:solidFill>
              <a:srgbClr val="1A2D6B"/>
            </a:solidFill>
            <a:prstDash val="solid"/>
          </a:ln>
        </p:spPr>
      </p:sp>
      <p:sp>
        <p:nvSpPr>
          <p:cNvPr id="20" name="Text 18"/>
          <p:cNvSpPr/>
          <p:nvPr/>
        </p:nvSpPr>
        <p:spPr>
          <a:xfrm>
            <a:off x="457200" y="28529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804672" y="2852928"/>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accept() → BLOQUEA hasta que llega un cliente</a:t>
            </a:r>
            <a:endParaRPr lang="en-US" sz="1050" dirty="0"/>
          </a:p>
        </p:txBody>
      </p:sp>
      <p:sp>
        <p:nvSpPr>
          <p:cNvPr id="22" name="Shape 20"/>
          <p:cNvSpPr/>
          <p:nvPr/>
        </p:nvSpPr>
        <p:spPr>
          <a:xfrm>
            <a:off x="457200" y="3328416"/>
            <a:ext cx="274320" cy="274320"/>
          </a:xfrm>
          <a:prstGeom prst="rect">
            <a:avLst/>
          </a:prstGeom>
          <a:solidFill>
            <a:srgbClr val="1A2D6B"/>
          </a:solidFill>
          <a:ln w="12700">
            <a:solidFill>
              <a:srgbClr val="1A2D6B"/>
            </a:solidFill>
            <a:prstDash val="solid"/>
          </a:ln>
        </p:spPr>
      </p:sp>
      <p:sp>
        <p:nvSpPr>
          <p:cNvPr id="23" name="Text 21"/>
          <p:cNvSpPr/>
          <p:nvPr/>
        </p:nvSpPr>
        <p:spPr>
          <a:xfrm>
            <a:off x="457200" y="332841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04672" y="3328416"/>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send()/recv() → Transferencia en stream de bytes</a:t>
            </a:r>
            <a:endParaRPr lang="en-US" sz="1050" dirty="0"/>
          </a:p>
        </p:txBody>
      </p:sp>
      <p:sp>
        <p:nvSpPr>
          <p:cNvPr id="25" name="Shape 23"/>
          <p:cNvSpPr/>
          <p:nvPr/>
        </p:nvSpPr>
        <p:spPr>
          <a:xfrm>
            <a:off x="457200" y="3803904"/>
            <a:ext cx="274320" cy="274320"/>
          </a:xfrm>
          <a:prstGeom prst="rect">
            <a:avLst/>
          </a:prstGeom>
          <a:solidFill>
            <a:srgbClr val="1A2D6B"/>
          </a:solidFill>
          <a:ln w="12700">
            <a:solidFill>
              <a:srgbClr val="1A2D6B"/>
            </a:solidFill>
            <a:prstDash val="solid"/>
          </a:ln>
        </p:spPr>
      </p:sp>
      <p:sp>
        <p:nvSpPr>
          <p:cNvPr id="26" name="Text 24"/>
          <p:cNvSpPr/>
          <p:nvPr/>
        </p:nvSpPr>
        <p:spPr>
          <a:xfrm>
            <a:off x="457200" y="380390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804672" y="3803904"/>
            <a:ext cx="3584448" cy="274320"/>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close() → Handshake de cierre (FIN-ACK-FIN-ACK)</a:t>
            </a:r>
            <a:endParaRPr lang="en-US" sz="1050" dirty="0"/>
          </a:p>
        </p:txBody>
      </p:sp>
      <p:sp>
        <p:nvSpPr>
          <p:cNvPr id="28" name="Shape 26"/>
          <p:cNvSpPr/>
          <p:nvPr/>
        </p:nvSpPr>
        <p:spPr>
          <a:xfrm>
            <a:off x="457200" y="4325112"/>
            <a:ext cx="1371600" cy="237744"/>
          </a:xfrm>
          <a:prstGeom prst="rect">
            <a:avLst/>
          </a:prstGeom>
          <a:solidFill>
            <a:srgbClr val="059669"/>
          </a:solidFill>
          <a:ln w="12700">
            <a:solidFill>
              <a:srgbClr val="059669"/>
            </a:solidFill>
            <a:prstDash val="solid"/>
          </a:ln>
        </p:spPr>
      </p:sp>
      <p:sp>
        <p:nvSpPr>
          <p:cNvPr id="29" name="Text 27"/>
          <p:cNvSpPr/>
          <p:nvPr/>
        </p:nvSpPr>
        <p:spPr>
          <a:xfrm>
            <a:off x="457200" y="4325112"/>
            <a:ext cx="137160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Garantía entrega</a:t>
            </a:r>
            <a:endParaRPr lang="en-US" sz="1000" dirty="0"/>
          </a:p>
        </p:txBody>
      </p:sp>
      <p:sp>
        <p:nvSpPr>
          <p:cNvPr id="30" name="Shape 28"/>
          <p:cNvSpPr/>
          <p:nvPr/>
        </p:nvSpPr>
        <p:spPr>
          <a:xfrm>
            <a:off x="1883664" y="4325112"/>
            <a:ext cx="1097280" cy="237744"/>
          </a:xfrm>
          <a:prstGeom prst="rect">
            <a:avLst/>
          </a:prstGeom>
          <a:solidFill>
            <a:srgbClr val="059669"/>
          </a:solidFill>
          <a:ln w="12700">
            <a:solidFill>
              <a:srgbClr val="059669"/>
            </a:solidFill>
            <a:prstDash val="solid"/>
          </a:ln>
        </p:spPr>
      </p:sp>
      <p:sp>
        <p:nvSpPr>
          <p:cNvPr id="31" name="Text 29"/>
          <p:cNvSpPr/>
          <p:nvPr/>
        </p:nvSpPr>
        <p:spPr>
          <a:xfrm>
            <a:off x="1883664" y="4325112"/>
            <a:ext cx="10972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Control flujo</a:t>
            </a:r>
            <a:endParaRPr lang="en-US" sz="1000" dirty="0"/>
          </a:p>
        </p:txBody>
      </p:sp>
      <p:sp>
        <p:nvSpPr>
          <p:cNvPr id="32" name="Shape 30"/>
          <p:cNvSpPr/>
          <p:nvPr/>
        </p:nvSpPr>
        <p:spPr>
          <a:xfrm>
            <a:off x="3017520" y="4325112"/>
            <a:ext cx="1417320" cy="237744"/>
          </a:xfrm>
          <a:prstGeom prst="rect">
            <a:avLst/>
          </a:prstGeom>
          <a:solidFill>
            <a:srgbClr val="DC2626"/>
          </a:solidFill>
          <a:ln w="12700">
            <a:solidFill>
              <a:srgbClr val="DC2626"/>
            </a:solidFill>
            <a:prstDash val="solid"/>
          </a:ln>
        </p:spPr>
      </p:sp>
      <p:sp>
        <p:nvSpPr>
          <p:cNvPr id="33" name="Text 31"/>
          <p:cNvSpPr/>
          <p:nvPr/>
        </p:nvSpPr>
        <p:spPr>
          <a:xfrm>
            <a:off x="3017520" y="4325112"/>
            <a:ext cx="14173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Overhead 3-way HS</a:t>
            </a:r>
            <a:endParaRPr lang="en-US" sz="1000" dirty="0"/>
          </a:p>
        </p:txBody>
      </p:sp>
      <p:sp>
        <p:nvSpPr>
          <p:cNvPr id="34" name="Shape 32"/>
          <p:cNvSpPr/>
          <p:nvPr/>
        </p:nvSpPr>
        <p:spPr>
          <a:xfrm>
            <a:off x="4709160" y="1033272"/>
            <a:ext cx="4069080" cy="365760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5" name="Shape 33"/>
          <p:cNvSpPr/>
          <p:nvPr/>
        </p:nvSpPr>
        <p:spPr>
          <a:xfrm>
            <a:off x="4709160" y="1033272"/>
            <a:ext cx="4069080" cy="320040"/>
          </a:xfrm>
          <a:prstGeom prst="rect">
            <a:avLst/>
          </a:prstGeom>
          <a:solidFill>
            <a:srgbClr val="0D7377"/>
          </a:solidFill>
          <a:ln w="12700">
            <a:solidFill>
              <a:srgbClr val="0D7377"/>
            </a:solidFill>
            <a:prstDash val="solid"/>
          </a:ln>
        </p:spPr>
      </p:sp>
      <p:sp>
        <p:nvSpPr>
          <p:cNvPr id="36" name="Text 34"/>
          <p:cNvSpPr/>
          <p:nvPr/>
        </p:nvSpPr>
        <p:spPr>
          <a:xfrm>
            <a:off x="4846320" y="1033272"/>
            <a:ext cx="3749040" cy="3200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UDP — Sin Conexión</a:t>
            </a:r>
            <a:endParaRPr lang="en-US" sz="1300" dirty="0"/>
          </a:p>
        </p:txBody>
      </p:sp>
      <p:sp>
        <p:nvSpPr>
          <p:cNvPr id="37" name="Shape 35"/>
          <p:cNvSpPr/>
          <p:nvPr/>
        </p:nvSpPr>
        <p:spPr>
          <a:xfrm>
            <a:off x="4800600" y="1426464"/>
            <a:ext cx="256032" cy="256032"/>
          </a:xfrm>
          <a:prstGeom prst="rect">
            <a:avLst/>
          </a:prstGeom>
          <a:solidFill>
            <a:srgbClr val="0D7377"/>
          </a:solidFill>
          <a:ln w="12700">
            <a:solidFill>
              <a:srgbClr val="0D7377"/>
            </a:solidFill>
            <a:prstDash val="solid"/>
          </a:ln>
        </p:spPr>
      </p:sp>
      <p:sp>
        <p:nvSpPr>
          <p:cNvPr id="38" name="Text 36"/>
          <p:cNvSpPr/>
          <p:nvPr/>
        </p:nvSpPr>
        <p:spPr>
          <a:xfrm>
            <a:off x="4800600" y="142646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39" name="Text 37"/>
          <p:cNvSpPr/>
          <p:nvPr/>
        </p:nvSpPr>
        <p:spPr>
          <a:xfrm>
            <a:off x="5120640" y="142646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socket(SOCK_DGRAM) + sendto()/recvfrom()</a:t>
            </a:r>
            <a:endParaRPr lang="en-US" sz="1050" dirty="0"/>
          </a:p>
        </p:txBody>
      </p:sp>
      <p:sp>
        <p:nvSpPr>
          <p:cNvPr id="40" name="Shape 38"/>
          <p:cNvSpPr/>
          <p:nvPr/>
        </p:nvSpPr>
        <p:spPr>
          <a:xfrm>
            <a:off x="4800600" y="1837944"/>
            <a:ext cx="256032" cy="256032"/>
          </a:xfrm>
          <a:prstGeom prst="rect">
            <a:avLst/>
          </a:prstGeom>
          <a:solidFill>
            <a:srgbClr val="0D7377"/>
          </a:solidFill>
          <a:ln w="12700">
            <a:solidFill>
              <a:srgbClr val="0D7377"/>
            </a:solidFill>
            <a:prstDash val="solid"/>
          </a:ln>
        </p:spPr>
      </p:sp>
      <p:sp>
        <p:nvSpPr>
          <p:cNvPr id="41" name="Text 39"/>
          <p:cNvSpPr/>
          <p:nvPr/>
        </p:nvSpPr>
        <p:spPr>
          <a:xfrm>
            <a:off x="4800600" y="183794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42" name="Text 40"/>
          <p:cNvSpPr/>
          <p:nvPr/>
        </p:nvSpPr>
        <p:spPr>
          <a:xfrm>
            <a:off x="5120640" y="183794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Sin handshake: envía el datagrama y olvida</a:t>
            </a:r>
            <a:endParaRPr lang="en-US" sz="1050" dirty="0"/>
          </a:p>
        </p:txBody>
      </p:sp>
      <p:sp>
        <p:nvSpPr>
          <p:cNvPr id="43" name="Shape 41"/>
          <p:cNvSpPr/>
          <p:nvPr/>
        </p:nvSpPr>
        <p:spPr>
          <a:xfrm>
            <a:off x="4800600" y="2249424"/>
            <a:ext cx="256032" cy="256032"/>
          </a:xfrm>
          <a:prstGeom prst="rect">
            <a:avLst/>
          </a:prstGeom>
          <a:solidFill>
            <a:srgbClr val="0D7377"/>
          </a:solidFill>
          <a:ln w="12700">
            <a:solidFill>
              <a:srgbClr val="0D7377"/>
            </a:solidFill>
            <a:prstDash val="solid"/>
          </a:ln>
        </p:spPr>
      </p:sp>
      <p:sp>
        <p:nvSpPr>
          <p:cNvPr id="44" name="Text 42"/>
          <p:cNvSpPr/>
          <p:nvPr/>
        </p:nvSpPr>
        <p:spPr>
          <a:xfrm>
            <a:off x="4800600" y="224942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45" name="Text 43"/>
          <p:cNvSpPr/>
          <p:nvPr/>
        </p:nvSpPr>
        <p:spPr>
          <a:xfrm>
            <a:off x="5120640" y="224942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Latencia mínima — ideal para tiempo real</a:t>
            </a:r>
            <a:endParaRPr lang="en-US" sz="1050" dirty="0"/>
          </a:p>
        </p:txBody>
      </p:sp>
      <p:sp>
        <p:nvSpPr>
          <p:cNvPr id="46" name="Shape 44"/>
          <p:cNvSpPr/>
          <p:nvPr/>
        </p:nvSpPr>
        <p:spPr>
          <a:xfrm>
            <a:off x="4800600" y="2660904"/>
            <a:ext cx="256032" cy="256032"/>
          </a:xfrm>
          <a:prstGeom prst="rect">
            <a:avLst/>
          </a:prstGeom>
          <a:solidFill>
            <a:srgbClr val="DC2626"/>
          </a:solidFill>
          <a:ln w="12700">
            <a:solidFill>
              <a:srgbClr val="DC2626"/>
            </a:solidFill>
            <a:prstDash val="solid"/>
          </a:ln>
        </p:spPr>
      </p:sp>
      <p:sp>
        <p:nvSpPr>
          <p:cNvPr id="47" name="Text 45"/>
          <p:cNvSpPr/>
          <p:nvPr/>
        </p:nvSpPr>
        <p:spPr>
          <a:xfrm>
            <a:off x="4800600" y="266090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48" name="Text 46"/>
          <p:cNvSpPr/>
          <p:nvPr/>
        </p:nvSpPr>
        <p:spPr>
          <a:xfrm>
            <a:off x="5120640" y="266090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Sin garantía de orden ni entrega</a:t>
            </a:r>
            <a:endParaRPr lang="en-US" sz="1050" dirty="0"/>
          </a:p>
        </p:txBody>
      </p:sp>
      <p:sp>
        <p:nvSpPr>
          <p:cNvPr id="49" name="Shape 47"/>
          <p:cNvSpPr/>
          <p:nvPr/>
        </p:nvSpPr>
        <p:spPr>
          <a:xfrm>
            <a:off x="4800600" y="3072384"/>
            <a:ext cx="256032" cy="256032"/>
          </a:xfrm>
          <a:prstGeom prst="rect">
            <a:avLst/>
          </a:prstGeom>
          <a:solidFill>
            <a:srgbClr val="DC2626"/>
          </a:solidFill>
          <a:ln w="12700">
            <a:solidFill>
              <a:srgbClr val="DC2626"/>
            </a:solidFill>
            <a:prstDash val="solid"/>
          </a:ln>
        </p:spPr>
      </p:sp>
      <p:sp>
        <p:nvSpPr>
          <p:cNvPr id="50" name="Text 48"/>
          <p:cNvSpPr/>
          <p:nvPr/>
        </p:nvSpPr>
        <p:spPr>
          <a:xfrm>
            <a:off x="4800600" y="307238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51" name="Text 49"/>
          <p:cNvSpPr/>
          <p:nvPr/>
        </p:nvSpPr>
        <p:spPr>
          <a:xfrm>
            <a:off x="5120640" y="307238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Sin control de congestión — puede saturar la red</a:t>
            </a:r>
            <a:endParaRPr lang="en-US" sz="1050" dirty="0"/>
          </a:p>
        </p:txBody>
      </p:sp>
      <p:sp>
        <p:nvSpPr>
          <p:cNvPr id="52" name="Shape 50"/>
          <p:cNvSpPr/>
          <p:nvPr/>
        </p:nvSpPr>
        <p:spPr>
          <a:xfrm>
            <a:off x="4800600" y="3483864"/>
            <a:ext cx="256032" cy="256032"/>
          </a:xfrm>
          <a:prstGeom prst="rect">
            <a:avLst/>
          </a:prstGeom>
          <a:solidFill>
            <a:srgbClr val="059669"/>
          </a:solidFill>
          <a:ln w="12700">
            <a:solidFill>
              <a:srgbClr val="059669"/>
            </a:solidFill>
            <a:prstDash val="solid"/>
          </a:ln>
        </p:spPr>
      </p:sp>
      <p:sp>
        <p:nvSpPr>
          <p:cNvPr id="53" name="Text 51"/>
          <p:cNvSpPr/>
          <p:nvPr/>
        </p:nvSpPr>
        <p:spPr>
          <a:xfrm>
            <a:off x="4800600" y="348386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54" name="Text 52"/>
          <p:cNvSpPr/>
          <p:nvPr/>
        </p:nvSpPr>
        <p:spPr>
          <a:xfrm>
            <a:off x="5120640" y="348386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DNS: 1 query UDP → 1 respuesta (si cabe en 512 B)</a:t>
            </a:r>
            <a:endParaRPr lang="en-US" sz="1050" dirty="0"/>
          </a:p>
        </p:txBody>
      </p:sp>
      <p:sp>
        <p:nvSpPr>
          <p:cNvPr id="55" name="Shape 53"/>
          <p:cNvSpPr/>
          <p:nvPr/>
        </p:nvSpPr>
        <p:spPr>
          <a:xfrm>
            <a:off x="4800600" y="3895344"/>
            <a:ext cx="256032" cy="256032"/>
          </a:xfrm>
          <a:prstGeom prst="rect">
            <a:avLst/>
          </a:prstGeom>
          <a:solidFill>
            <a:srgbClr val="059669"/>
          </a:solidFill>
          <a:ln w="12700">
            <a:solidFill>
              <a:srgbClr val="059669"/>
            </a:solidFill>
            <a:prstDash val="solid"/>
          </a:ln>
        </p:spPr>
      </p:sp>
      <p:sp>
        <p:nvSpPr>
          <p:cNvPr id="56" name="Text 54"/>
          <p:cNvSpPr/>
          <p:nvPr/>
        </p:nvSpPr>
        <p:spPr>
          <a:xfrm>
            <a:off x="4800600" y="389534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57" name="Text 55"/>
          <p:cNvSpPr/>
          <p:nvPr/>
        </p:nvSpPr>
        <p:spPr>
          <a:xfrm>
            <a:off x="5120640" y="389534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VoIP, streaming: tolera pérdida, no la latencia</a:t>
            </a:r>
            <a:endParaRPr lang="en-US" sz="1050" dirty="0"/>
          </a:p>
        </p:txBody>
      </p:sp>
      <p:sp>
        <p:nvSpPr>
          <p:cNvPr id="58" name="Shape 56"/>
          <p:cNvSpPr/>
          <p:nvPr/>
        </p:nvSpPr>
        <p:spPr>
          <a:xfrm>
            <a:off x="4800600" y="4306824"/>
            <a:ext cx="256032" cy="256032"/>
          </a:xfrm>
          <a:prstGeom prst="rect">
            <a:avLst/>
          </a:prstGeom>
          <a:solidFill>
            <a:srgbClr val="059669"/>
          </a:solidFill>
          <a:ln w="12700">
            <a:solidFill>
              <a:srgbClr val="059669"/>
            </a:solidFill>
            <a:prstDash val="solid"/>
          </a:ln>
        </p:spPr>
      </p:sp>
      <p:sp>
        <p:nvSpPr>
          <p:cNvPr id="59" name="Text 57"/>
          <p:cNvSpPr/>
          <p:nvPr/>
        </p:nvSpPr>
        <p:spPr>
          <a:xfrm>
            <a:off x="4800600" y="4306824"/>
            <a:ext cx="256032" cy="256032"/>
          </a:xfrm>
          <a:prstGeom prst="rect">
            <a:avLst/>
          </a:prstGeom>
          <a:noFill/>
          <a:ln/>
        </p:spPr>
        <p:txBody>
          <a:bodyPr wrap="square" lIns="0" tIns="0" rIns="0" bIns="0" rtlCol="0" anchor="ctr"/>
          <a:lstStyle/>
          <a:p>
            <a:pPr marL="0" indent="0" algn="ctr">
              <a:buNone/>
            </a:pPr>
            <a:r>
              <a:rPr lang="en-US" sz="1000" dirty="0">
                <a:solidFill>
                  <a:srgbClr val="FFFFFF"/>
                </a:solidFill>
              </a:rPr>
              <a:t>✔</a:t>
            </a:r>
            <a:endParaRPr lang="en-US" sz="1000" dirty="0"/>
          </a:p>
        </p:txBody>
      </p:sp>
      <p:sp>
        <p:nvSpPr>
          <p:cNvPr id="60" name="Text 58"/>
          <p:cNvSpPr/>
          <p:nvPr/>
        </p:nvSpPr>
        <p:spPr>
          <a:xfrm>
            <a:off x="5120640" y="4306824"/>
            <a:ext cx="3566160" cy="256032"/>
          </a:xfrm>
          <a:prstGeom prst="rect">
            <a:avLst/>
          </a:prstGeom>
          <a:noFill/>
          <a:ln/>
        </p:spPr>
        <p:txBody>
          <a:bodyPr wrap="square" lIns="0" tIns="0" rIns="0" bIns="0" rtlCol="0" anchor="ctr"/>
          <a:lstStyle/>
          <a:p>
            <a:pPr marL="0" indent="0" algn="l">
              <a:buNone/>
            </a:pPr>
            <a:r>
              <a:rPr lang="en-US" sz="1050" dirty="0">
                <a:solidFill>
                  <a:srgbClr val="334155"/>
                </a:solidFill>
                <a:latin typeface="Calibri" pitchFamily="34" charset="0"/>
                <a:ea typeface="Calibri" pitchFamily="34" charset="-122"/>
                <a:cs typeface="Calibri" pitchFamily="34" charset="-120"/>
              </a:rPr>
              <a:t>QUIC (HTTP/3) implementa confiabilidad sobre UDP</a:t>
            </a:r>
            <a:endParaRPr lang="en-US" sz="1050" dirty="0"/>
          </a:p>
        </p:txBody>
      </p:sp>
      <p:sp>
        <p:nvSpPr>
          <p:cNvPr id="61" name="Shape 59"/>
          <p:cNvSpPr/>
          <p:nvPr/>
        </p:nvSpPr>
        <p:spPr>
          <a:xfrm>
            <a:off x="4800600" y="4325112"/>
            <a:ext cx="1188720" cy="237744"/>
          </a:xfrm>
          <a:prstGeom prst="rect">
            <a:avLst/>
          </a:prstGeom>
          <a:solidFill>
            <a:srgbClr val="0D7377"/>
          </a:solidFill>
          <a:ln w="12700">
            <a:solidFill>
              <a:srgbClr val="0D7377"/>
            </a:solidFill>
            <a:prstDash val="solid"/>
          </a:ln>
        </p:spPr>
      </p:sp>
      <p:sp>
        <p:nvSpPr>
          <p:cNvPr id="62" name="Text 60"/>
          <p:cNvSpPr/>
          <p:nvPr/>
        </p:nvSpPr>
        <p:spPr>
          <a:xfrm>
            <a:off x="4800600" y="4325112"/>
            <a:ext cx="118872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Baja latencia</a:t>
            </a:r>
            <a:endParaRPr lang="en-US" sz="1000" dirty="0"/>
          </a:p>
        </p:txBody>
      </p:sp>
      <p:sp>
        <p:nvSpPr>
          <p:cNvPr id="63" name="Shape 61"/>
          <p:cNvSpPr/>
          <p:nvPr/>
        </p:nvSpPr>
        <p:spPr>
          <a:xfrm>
            <a:off x="6035040" y="4325112"/>
            <a:ext cx="1097280" cy="237744"/>
          </a:xfrm>
          <a:prstGeom prst="rect">
            <a:avLst/>
          </a:prstGeom>
          <a:solidFill>
            <a:srgbClr val="DC2626"/>
          </a:solidFill>
          <a:ln w="12700">
            <a:solidFill>
              <a:srgbClr val="DC2626"/>
            </a:solidFill>
            <a:prstDash val="solid"/>
          </a:ln>
        </p:spPr>
      </p:sp>
      <p:sp>
        <p:nvSpPr>
          <p:cNvPr id="64" name="Text 62"/>
          <p:cNvSpPr/>
          <p:nvPr/>
        </p:nvSpPr>
        <p:spPr>
          <a:xfrm>
            <a:off x="6035040" y="4325112"/>
            <a:ext cx="10972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Sin garantías</a:t>
            </a:r>
            <a:endParaRPr lang="en-US" sz="1000" dirty="0"/>
          </a:p>
        </p:txBody>
      </p:sp>
      <p:sp>
        <p:nvSpPr>
          <p:cNvPr id="65" name="Shape 63"/>
          <p:cNvSpPr/>
          <p:nvPr/>
        </p:nvSpPr>
        <p:spPr>
          <a:xfrm>
            <a:off x="7178040" y="4325112"/>
            <a:ext cx="1097280" cy="237744"/>
          </a:xfrm>
          <a:prstGeom prst="rect">
            <a:avLst/>
          </a:prstGeom>
          <a:solidFill>
            <a:srgbClr val="1A2D6B"/>
          </a:solidFill>
          <a:ln w="12700">
            <a:solidFill>
              <a:srgbClr val="1A2D6B"/>
            </a:solidFill>
            <a:prstDash val="solid"/>
          </a:ln>
        </p:spPr>
      </p:sp>
      <p:sp>
        <p:nvSpPr>
          <p:cNvPr id="66" name="Text 64"/>
          <p:cNvSpPr/>
          <p:nvPr/>
        </p:nvSpPr>
        <p:spPr>
          <a:xfrm>
            <a:off x="7178040" y="4325112"/>
            <a:ext cx="109728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QUIC/HTTP3</a:t>
            </a:r>
            <a:endParaRPr lang="en-US" sz="1000" dirty="0"/>
          </a:p>
        </p:txBody>
      </p:sp>
      <p:sp>
        <p:nvSpPr>
          <p:cNvPr id="67" name="Shape 65"/>
          <p:cNvSpPr/>
          <p:nvPr/>
        </p:nvSpPr>
        <p:spPr>
          <a:xfrm>
            <a:off x="0" y="4892040"/>
            <a:ext cx="9144000" cy="251460"/>
          </a:xfrm>
          <a:prstGeom prst="rect">
            <a:avLst/>
          </a:prstGeom>
          <a:solidFill>
            <a:srgbClr val="0D1B40"/>
          </a:solidFill>
          <a:ln w="12700">
            <a:solidFill>
              <a:srgbClr val="0D1B40"/>
            </a:solidFill>
            <a:prstDash val="solid"/>
          </a:ln>
        </p:spPr>
      </p:sp>
      <p:sp>
        <p:nvSpPr>
          <p:cNvPr id="68" name="Text 66"/>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W. R. Stevens, UNIX Network Programming, vol. 1, 3rd ed., Prentice Hall, 2004; Kurose &amp; Ross, Redes, 2017</a:t>
            </a:r>
            <a:endParaRPr lang="en-US" sz="800" dirty="0"/>
          </a:p>
        </p:txBody>
      </p:sp>
      <p:sp>
        <p:nvSpPr>
          <p:cNvPr id="69" name="Text 67"/>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02 · Comunicación</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RPC y RMI</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RPC y RMI — Transparencia de Acceso</a:t>
            </a:r>
            <a:endParaRPr lang="en-US" sz="2000" dirty="0"/>
          </a:p>
        </p:txBody>
      </p:sp>
      <p:sp>
        <p:nvSpPr>
          <p:cNvPr id="7" name="Shape 5"/>
          <p:cNvSpPr/>
          <p:nvPr/>
        </p:nvSpPr>
        <p:spPr>
          <a:xfrm>
            <a:off x="365760" y="1024128"/>
            <a:ext cx="8412480" cy="20116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Text 6"/>
          <p:cNvSpPr/>
          <p:nvPr/>
        </p:nvSpPr>
        <p:spPr>
          <a:xfrm>
            <a:off x="548640" y="1051560"/>
            <a:ext cx="4572000" cy="274320"/>
          </a:xfrm>
          <a:prstGeom prst="rect">
            <a:avLst/>
          </a:prstGeom>
          <a:noFill/>
          <a:ln/>
        </p:spPr>
        <p:txBody>
          <a:bodyPr wrap="square" lIns="0" tIns="0" rIns="0" bIns="0" rtlCol="0" anchor="ctr"/>
          <a:lstStyle/>
          <a:p>
            <a:pPr marL="0" indent="0" algn="l">
              <a:buNone/>
            </a:pPr>
            <a:r>
              <a:rPr lang="en-US" sz="1200" b="1" dirty="0">
                <a:solidFill>
                  <a:srgbClr val="0D1B40"/>
                </a:solidFill>
                <a:latin typeface="Calibri" pitchFamily="34" charset="0"/>
                <a:ea typeface="Calibri" pitchFamily="34" charset="-122"/>
                <a:cs typeface="Calibri" pitchFamily="34" charset="-120"/>
              </a:rPr>
              <a:t>Flujo de una llamada RPC/RMI</a:t>
            </a:r>
            <a:endParaRPr lang="en-US" sz="1200" dirty="0"/>
          </a:p>
        </p:txBody>
      </p:sp>
      <p:sp>
        <p:nvSpPr>
          <p:cNvPr id="9" name="Shape 7"/>
          <p:cNvSpPr/>
          <p:nvPr/>
        </p:nvSpPr>
        <p:spPr>
          <a:xfrm>
            <a:off x="502920" y="1389888"/>
            <a:ext cx="1371600" cy="1188720"/>
          </a:xfrm>
          <a:prstGeom prst="rect">
            <a:avLst/>
          </a:prstGeom>
          <a:solidFill>
            <a:srgbClr val="C8F0F2"/>
          </a:solidFill>
          <a:ln w="12700">
            <a:solidFill>
              <a:srgbClr val="C8F0F2"/>
            </a:solidFill>
            <a:prstDash val="solid"/>
          </a:ln>
          <a:effectLst>
            <a:outerShdw blurRad="101600" dist="38100" dir="8100000" algn="bl" rotWithShape="0">
              <a:srgbClr val="000000">
                <a:alpha val="12000"/>
              </a:srgbClr>
            </a:outerShdw>
          </a:effectLst>
        </p:spPr>
      </p:sp>
      <p:sp>
        <p:nvSpPr>
          <p:cNvPr id="10" name="Text 8"/>
          <p:cNvSpPr/>
          <p:nvPr/>
        </p:nvSpPr>
        <p:spPr>
          <a:xfrm>
            <a:off x="502920" y="1389888"/>
            <a:ext cx="1371600" cy="777240"/>
          </a:xfrm>
          <a:prstGeom prst="rect">
            <a:avLst/>
          </a:prstGeom>
          <a:noFill/>
          <a:ln/>
        </p:spPr>
        <p:txBody>
          <a:bodyPr wrap="square" lIns="0" tIns="0" rIns="0" bIns="0" rtlCol="0" anchor="ctr"/>
          <a:lstStyle/>
          <a:p>
            <a:pPr marL="0" indent="0" algn="ctr">
              <a:buNone/>
            </a:pPr>
            <a:r>
              <a:rPr lang="en-US" sz="1100" b="1" dirty="0">
                <a:solidFill>
                  <a:srgbClr val="0D1B40"/>
                </a:solidFill>
                <a:latin typeface="Calibri" pitchFamily="34" charset="0"/>
                <a:ea typeface="Calibri" pitchFamily="34" charset="-122"/>
                <a:cs typeface="Calibri" pitchFamily="34" charset="-120"/>
              </a:rPr>
              <a:t>App Cliente</a:t>
            </a:r>
            <a:endParaRPr lang="en-US" sz="1100" dirty="0"/>
          </a:p>
        </p:txBody>
      </p:sp>
      <p:sp>
        <p:nvSpPr>
          <p:cNvPr id="11" name="Text 9"/>
          <p:cNvSpPr/>
          <p:nvPr/>
        </p:nvSpPr>
        <p:spPr>
          <a:xfrm>
            <a:off x="502920" y="2084832"/>
            <a:ext cx="1371600" cy="384048"/>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llama método local</a:t>
            </a:r>
            <a:endParaRPr lang="en-US" sz="850" dirty="0"/>
          </a:p>
        </p:txBody>
      </p:sp>
      <p:sp>
        <p:nvSpPr>
          <p:cNvPr id="12" name="Shape 10"/>
          <p:cNvSpPr/>
          <p:nvPr/>
        </p:nvSpPr>
        <p:spPr>
          <a:xfrm>
            <a:off x="1965960" y="1389888"/>
            <a:ext cx="1371600" cy="1188720"/>
          </a:xfrm>
          <a:prstGeom prst="rect">
            <a:avLst/>
          </a:prstGeom>
          <a:solidFill>
            <a:srgbClr val="1A2D6B"/>
          </a:solidFill>
          <a:ln w="12700">
            <a:solidFill>
              <a:srgbClr val="1A2D6B"/>
            </a:solidFill>
            <a:prstDash val="solid"/>
          </a:ln>
          <a:effectLst>
            <a:outerShdw blurRad="101600" dist="38100" dir="8100000" algn="bl" rotWithShape="0">
              <a:srgbClr val="000000">
                <a:alpha val="12000"/>
              </a:srgbClr>
            </a:outerShdw>
          </a:effectLst>
        </p:spPr>
      </p:sp>
      <p:sp>
        <p:nvSpPr>
          <p:cNvPr id="13" name="Text 11"/>
          <p:cNvSpPr/>
          <p:nvPr/>
        </p:nvSpPr>
        <p:spPr>
          <a:xfrm>
            <a:off x="1965960" y="1389888"/>
            <a:ext cx="137160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Stub</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(Proxy)</a:t>
            </a:r>
            <a:endParaRPr lang="en-US" sz="1100" dirty="0"/>
          </a:p>
        </p:txBody>
      </p:sp>
      <p:sp>
        <p:nvSpPr>
          <p:cNvPr id="14" name="Text 12"/>
          <p:cNvSpPr/>
          <p:nvPr/>
        </p:nvSpPr>
        <p:spPr>
          <a:xfrm>
            <a:off x="1965960" y="2084832"/>
            <a:ext cx="1371600" cy="384048"/>
          </a:xfrm>
          <a:prstGeom prst="rect">
            <a:avLst/>
          </a:prstGeom>
          <a:noFill/>
          <a:ln/>
        </p:spPr>
        <p:txBody>
          <a:bodyPr wrap="square" lIns="0" tIns="0" rIns="0" bIns="0" rtlCol="0" anchor="ctr"/>
          <a:lstStyle/>
          <a:p>
            <a:pPr marL="0" indent="0" algn="ctr">
              <a:buNone/>
            </a:pPr>
            <a:r>
              <a:rPr lang="en-US" sz="850" dirty="0">
                <a:solidFill>
                  <a:srgbClr val="AABBCC"/>
                </a:solidFill>
                <a:latin typeface="Calibri" pitchFamily="34" charset="0"/>
                <a:ea typeface="Calibri" pitchFamily="34" charset="-122"/>
                <a:cs typeface="Calibri" pitchFamily="34" charset="-120"/>
              </a:rPr>
              <a:t>serializa + envía</a:t>
            </a:r>
            <a:endParaRPr lang="en-US" sz="850" dirty="0"/>
          </a:p>
        </p:txBody>
      </p:sp>
      <p:sp>
        <p:nvSpPr>
          <p:cNvPr id="15" name="Shape 13"/>
          <p:cNvSpPr/>
          <p:nvPr/>
        </p:nvSpPr>
        <p:spPr>
          <a:xfrm>
            <a:off x="3429000" y="1389888"/>
            <a:ext cx="1371600" cy="1188720"/>
          </a:xfrm>
          <a:prstGeom prst="rect">
            <a:avLst/>
          </a:prstGeom>
          <a:solidFill>
            <a:srgbClr val="E2E8F0"/>
          </a:solidFill>
          <a:ln w="12700">
            <a:solidFill>
              <a:srgbClr val="E2E8F0"/>
            </a:solidFill>
            <a:prstDash val="solid"/>
          </a:ln>
          <a:effectLst>
            <a:outerShdw blurRad="101600" dist="38100" dir="8100000" algn="bl" rotWithShape="0">
              <a:srgbClr val="000000">
                <a:alpha val="12000"/>
              </a:srgbClr>
            </a:outerShdw>
          </a:effectLst>
        </p:spPr>
      </p:sp>
      <p:sp>
        <p:nvSpPr>
          <p:cNvPr id="16" name="Text 14"/>
          <p:cNvSpPr/>
          <p:nvPr/>
        </p:nvSpPr>
        <p:spPr>
          <a:xfrm>
            <a:off x="3429000" y="1389888"/>
            <a:ext cx="137160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TCP</a:t>
            </a:r>
            <a:endParaRPr lang="en-US" sz="1100" dirty="0"/>
          </a:p>
        </p:txBody>
      </p:sp>
      <p:sp>
        <p:nvSpPr>
          <p:cNvPr id="17" name="Text 15"/>
          <p:cNvSpPr/>
          <p:nvPr/>
        </p:nvSpPr>
        <p:spPr>
          <a:xfrm>
            <a:off x="3429000" y="2084832"/>
            <a:ext cx="1371600" cy="384048"/>
          </a:xfrm>
          <a:prstGeom prst="rect">
            <a:avLst/>
          </a:prstGeom>
          <a:noFill/>
          <a:ln/>
        </p:spPr>
        <p:txBody>
          <a:bodyPr wrap="square" lIns="0" tIns="0" rIns="0" bIns="0" rtlCol="0" anchor="ctr"/>
          <a:lstStyle/>
          <a:p>
            <a:pPr marL="0" indent="0" algn="ctr">
              <a:buNone/>
            </a:pPr>
            <a:r>
              <a:rPr lang="en-US" sz="850" dirty="0">
                <a:solidFill>
                  <a:srgbClr val="AABBCC"/>
                </a:solidFill>
                <a:latin typeface="Calibri" pitchFamily="34" charset="0"/>
                <a:ea typeface="Calibri" pitchFamily="34" charset="-122"/>
                <a:cs typeface="Calibri" pitchFamily="34" charset="-120"/>
              </a:rPr>
              <a:t>transporte</a:t>
            </a:r>
            <a:endParaRPr lang="en-US" sz="850" dirty="0"/>
          </a:p>
        </p:txBody>
      </p:sp>
      <p:sp>
        <p:nvSpPr>
          <p:cNvPr id="18" name="Shape 16"/>
          <p:cNvSpPr/>
          <p:nvPr/>
        </p:nvSpPr>
        <p:spPr>
          <a:xfrm>
            <a:off x="4892040" y="1389888"/>
            <a:ext cx="1371600" cy="1188720"/>
          </a:xfrm>
          <a:prstGeom prst="rect">
            <a:avLst/>
          </a:prstGeom>
          <a:solidFill>
            <a:srgbClr val="1A2D6B"/>
          </a:solidFill>
          <a:ln w="12700">
            <a:solidFill>
              <a:srgbClr val="1A2D6B"/>
            </a:solidFill>
            <a:prstDash val="solid"/>
          </a:ln>
          <a:effectLst>
            <a:outerShdw blurRad="101600" dist="38100" dir="8100000" algn="bl" rotWithShape="0">
              <a:srgbClr val="000000">
                <a:alpha val="12000"/>
              </a:srgbClr>
            </a:outerShdw>
          </a:effectLst>
        </p:spPr>
      </p:sp>
      <p:sp>
        <p:nvSpPr>
          <p:cNvPr id="19" name="Text 17"/>
          <p:cNvSpPr/>
          <p:nvPr/>
        </p:nvSpPr>
        <p:spPr>
          <a:xfrm>
            <a:off x="4892040" y="1389888"/>
            <a:ext cx="137160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Skeleton</a:t>
            </a:r>
            <a:endParaRPr lang="en-US" sz="1100" dirty="0"/>
          </a:p>
        </p:txBody>
      </p:sp>
      <p:sp>
        <p:nvSpPr>
          <p:cNvPr id="20" name="Text 18"/>
          <p:cNvSpPr/>
          <p:nvPr/>
        </p:nvSpPr>
        <p:spPr>
          <a:xfrm>
            <a:off x="4892040" y="2084832"/>
            <a:ext cx="1371600" cy="384048"/>
          </a:xfrm>
          <a:prstGeom prst="rect">
            <a:avLst/>
          </a:prstGeom>
          <a:noFill/>
          <a:ln/>
        </p:spPr>
        <p:txBody>
          <a:bodyPr wrap="square" lIns="0" tIns="0" rIns="0" bIns="0" rtlCol="0" anchor="ctr"/>
          <a:lstStyle/>
          <a:p>
            <a:pPr marL="0" indent="0" algn="ctr">
              <a:buNone/>
            </a:pPr>
            <a:r>
              <a:rPr lang="en-US" sz="850" dirty="0">
                <a:solidFill>
                  <a:srgbClr val="AABBCC"/>
                </a:solidFill>
                <a:latin typeface="Calibri" pitchFamily="34" charset="0"/>
                <a:ea typeface="Calibri" pitchFamily="34" charset="-122"/>
                <a:cs typeface="Calibri" pitchFamily="34" charset="-120"/>
              </a:rPr>
              <a:t>deserializa + invoca</a:t>
            </a:r>
            <a:endParaRPr lang="en-US" sz="850" dirty="0"/>
          </a:p>
        </p:txBody>
      </p:sp>
      <p:sp>
        <p:nvSpPr>
          <p:cNvPr id="21" name="Shape 19"/>
          <p:cNvSpPr/>
          <p:nvPr/>
        </p:nvSpPr>
        <p:spPr>
          <a:xfrm>
            <a:off x="6355080" y="1389888"/>
            <a:ext cx="1371600" cy="1188720"/>
          </a:xfrm>
          <a:prstGeom prst="rect">
            <a:avLst/>
          </a:prstGeom>
          <a:solidFill>
            <a:srgbClr val="C8F0F2"/>
          </a:solidFill>
          <a:ln w="12700">
            <a:solidFill>
              <a:srgbClr val="C8F0F2"/>
            </a:solidFill>
            <a:prstDash val="solid"/>
          </a:ln>
          <a:effectLst>
            <a:outerShdw blurRad="101600" dist="38100" dir="8100000" algn="bl" rotWithShape="0">
              <a:srgbClr val="000000">
                <a:alpha val="12000"/>
              </a:srgbClr>
            </a:outerShdw>
          </a:effectLst>
        </p:spPr>
      </p:sp>
      <p:sp>
        <p:nvSpPr>
          <p:cNvPr id="22" name="Text 20"/>
          <p:cNvSpPr/>
          <p:nvPr/>
        </p:nvSpPr>
        <p:spPr>
          <a:xfrm>
            <a:off x="6355080" y="1389888"/>
            <a:ext cx="1371600" cy="777240"/>
          </a:xfrm>
          <a:prstGeom prst="rect">
            <a:avLst/>
          </a:prstGeom>
          <a:noFill/>
          <a:ln/>
        </p:spPr>
        <p:txBody>
          <a:bodyPr wrap="square" lIns="0" tIns="0" rIns="0" bIns="0" rtlCol="0" anchor="ctr"/>
          <a:lstStyle/>
          <a:p>
            <a:pPr marL="0" indent="0" algn="ctr">
              <a:buNone/>
            </a:pPr>
            <a:r>
              <a:rPr lang="en-US" sz="1100" b="1" dirty="0">
                <a:solidFill>
                  <a:srgbClr val="0D1B40"/>
                </a:solidFill>
                <a:latin typeface="Calibri" pitchFamily="34" charset="0"/>
                <a:ea typeface="Calibri" pitchFamily="34" charset="-122"/>
                <a:cs typeface="Calibri" pitchFamily="34" charset="-120"/>
              </a:rPr>
              <a:t>App Servidor</a:t>
            </a:r>
            <a:endParaRPr lang="en-US" sz="1100" dirty="0"/>
          </a:p>
        </p:txBody>
      </p:sp>
      <p:sp>
        <p:nvSpPr>
          <p:cNvPr id="23" name="Text 21"/>
          <p:cNvSpPr/>
          <p:nvPr/>
        </p:nvSpPr>
        <p:spPr>
          <a:xfrm>
            <a:off x="6355080" y="2084832"/>
            <a:ext cx="1371600" cy="384048"/>
          </a:xfrm>
          <a:prstGeom prst="rect">
            <a:avLst/>
          </a:prstGeom>
          <a:noFill/>
          <a:ln/>
        </p:spPr>
        <p:txBody>
          <a:bodyPr wrap="square" lIns="0" tIns="0" rIns="0" bIns="0"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ejecuta y retorna</a:t>
            </a:r>
            <a:endParaRPr lang="en-US" sz="850" dirty="0"/>
          </a:p>
        </p:txBody>
      </p:sp>
      <p:sp>
        <p:nvSpPr>
          <p:cNvPr id="24" name="Shape 22"/>
          <p:cNvSpPr/>
          <p:nvPr/>
        </p:nvSpPr>
        <p:spPr>
          <a:xfrm>
            <a:off x="1892808" y="1920240"/>
            <a:ext cx="548640" cy="0"/>
          </a:xfrm>
          <a:prstGeom prst="line">
            <a:avLst/>
          </a:prstGeom>
          <a:noFill/>
          <a:ln w="25400">
            <a:solidFill>
              <a:srgbClr val="0D7377"/>
            </a:solidFill>
            <a:prstDash val="solid"/>
          </a:ln>
        </p:spPr>
      </p:sp>
      <p:sp>
        <p:nvSpPr>
          <p:cNvPr id="25" name="Shape 23"/>
          <p:cNvSpPr/>
          <p:nvPr/>
        </p:nvSpPr>
        <p:spPr>
          <a:xfrm>
            <a:off x="3355848" y="1920240"/>
            <a:ext cx="548640" cy="0"/>
          </a:xfrm>
          <a:prstGeom prst="line">
            <a:avLst/>
          </a:prstGeom>
          <a:noFill/>
          <a:ln w="25400">
            <a:solidFill>
              <a:srgbClr val="0D7377"/>
            </a:solidFill>
            <a:prstDash val="solid"/>
          </a:ln>
        </p:spPr>
      </p:sp>
      <p:sp>
        <p:nvSpPr>
          <p:cNvPr id="26" name="Shape 24"/>
          <p:cNvSpPr/>
          <p:nvPr/>
        </p:nvSpPr>
        <p:spPr>
          <a:xfrm>
            <a:off x="4818888" y="1920240"/>
            <a:ext cx="548640" cy="0"/>
          </a:xfrm>
          <a:prstGeom prst="line">
            <a:avLst/>
          </a:prstGeom>
          <a:noFill/>
          <a:ln w="25400">
            <a:solidFill>
              <a:srgbClr val="0D7377"/>
            </a:solidFill>
            <a:prstDash val="solid"/>
          </a:ln>
        </p:spPr>
      </p:sp>
      <p:sp>
        <p:nvSpPr>
          <p:cNvPr id="27" name="Shape 25"/>
          <p:cNvSpPr/>
          <p:nvPr/>
        </p:nvSpPr>
        <p:spPr>
          <a:xfrm>
            <a:off x="6281928" y="1920240"/>
            <a:ext cx="548640" cy="0"/>
          </a:xfrm>
          <a:prstGeom prst="line">
            <a:avLst/>
          </a:prstGeom>
          <a:noFill/>
          <a:ln w="25400">
            <a:solidFill>
              <a:srgbClr val="0D7377"/>
            </a:solidFill>
            <a:prstDash val="solid"/>
          </a:ln>
        </p:spPr>
      </p:sp>
      <p:sp>
        <p:nvSpPr>
          <p:cNvPr id="28" name="Shape 26"/>
          <p:cNvSpPr/>
          <p:nvPr/>
        </p:nvSpPr>
        <p:spPr>
          <a:xfrm>
            <a:off x="502920" y="2450592"/>
            <a:ext cx="7360920" cy="0"/>
          </a:xfrm>
          <a:prstGeom prst="line">
            <a:avLst/>
          </a:prstGeom>
          <a:noFill/>
          <a:ln w="19050">
            <a:solidFill>
              <a:srgbClr val="F59E0B"/>
            </a:solidFill>
            <a:prstDash val="sysDash"/>
          </a:ln>
        </p:spPr>
      </p:sp>
      <p:sp>
        <p:nvSpPr>
          <p:cNvPr id="29" name="Text 27"/>
          <p:cNvSpPr/>
          <p:nvPr/>
        </p:nvSpPr>
        <p:spPr>
          <a:xfrm>
            <a:off x="3200400" y="2377440"/>
            <a:ext cx="2743200" cy="182880"/>
          </a:xfrm>
          <a:prstGeom prst="rect">
            <a:avLst/>
          </a:prstGeom>
          <a:noFill/>
          <a:ln/>
        </p:spPr>
        <p:txBody>
          <a:bodyPr wrap="square" lIns="0" tIns="0" rIns="0" bIns="0" rtlCol="0" anchor="ctr"/>
          <a:lstStyle/>
          <a:p>
            <a:pPr marL="0" indent="0" algn="ctr">
              <a:buNone/>
            </a:pPr>
            <a:r>
              <a:rPr lang="en-US" sz="800" i="1" dirty="0">
                <a:solidFill>
                  <a:srgbClr val="F59E0B"/>
                </a:solidFill>
              </a:rPr>
              <a:t>← retorno (deserializado)</a:t>
            </a:r>
            <a:endParaRPr lang="en-US" sz="800" dirty="0"/>
          </a:p>
        </p:txBody>
      </p:sp>
      <p:sp>
        <p:nvSpPr>
          <p:cNvPr id="30" name="Shape 28"/>
          <p:cNvSpPr/>
          <p:nvPr/>
        </p:nvSpPr>
        <p:spPr>
          <a:xfrm>
            <a:off x="365760" y="3154680"/>
            <a:ext cx="4069080" cy="169164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1" name="Text 29"/>
          <p:cNvSpPr/>
          <p:nvPr/>
        </p:nvSpPr>
        <p:spPr>
          <a:xfrm>
            <a:off x="548640" y="3200400"/>
            <a:ext cx="3657600" cy="292608"/>
          </a:xfrm>
          <a:prstGeom prst="rect">
            <a:avLst/>
          </a:prstGeom>
          <a:noFill/>
          <a:ln/>
        </p:spPr>
        <p:txBody>
          <a:bodyPr wrap="square" lIns="0" tIns="0" rIns="0" bIns="0" rtlCol="0" anchor="ctr"/>
          <a:lstStyle/>
          <a:p>
            <a:pPr marL="0" indent="0" algn="l">
              <a:buNone/>
            </a:pPr>
            <a:r>
              <a:rPr lang="en-US" sz="1300" b="1" dirty="0">
                <a:solidFill>
                  <a:srgbClr val="1A2D6B"/>
                </a:solidFill>
                <a:latin typeface="Calibri" pitchFamily="34" charset="0"/>
                <a:ea typeface="Calibri" pitchFamily="34" charset="-122"/>
                <a:cs typeface="Calibri" pitchFamily="34" charset="-120"/>
              </a:rPr>
              <a:t>Java RMI — Características</a:t>
            </a:r>
            <a:endParaRPr lang="en-US" sz="1300" dirty="0"/>
          </a:p>
        </p:txBody>
      </p:sp>
      <p:sp>
        <p:nvSpPr>
          <p:cNvPr id="32" name="Text 30"/>
          <p:cNvSpPr/>
          <p:nvPr/>
        </p:nvSpPr>
        <p:spPr>
          <a:xfrm>
            <a:off x="502920" y="3547872"/>
            <a:ext cx="3794760" cy="1188720"/>
          </a:xfrm>
          <a:prstGeom prst="rect">
            <a:avLst/>
          </a:prstGeom>
          <a:noFill/>
          <a:ln/>
        </p:spPr>
        <p:txBody>
          <a:bodyPr wrap="square" lIns="25400" tIns="25400" rIns="25400" bIns="25400"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Interface remota extiende java.rmi.Remote</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Servidor exporta objeto con UnicastRemoteObject</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RMI Registry en puerto 1099 (como DNS para objetos)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Cliente hace lookup() → obtiene referencia remota</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Stub generado automáticamente por javac (Java 5+)</a:t>
            </a:r>
            <a:endParaRPr lang="en-US" sz="1050" dirty="0"/>
          </a:p>
        </p:txBody>
      </p:sp>
      <p:sp>
        <p:nvSpPr>
          <p:cNvPr id="33" name="Shape 31"/>
          <p:cNvSpPr/>
          <p:nvPr/>
        </p:nvSpPr>
        <p:spPr>
          <a:xfrm>
            <a:off x="4617720" y="3154680"/>
            <a:ext cx="4160520" cy="169164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4" name="Text 32"/>
          <p:cNvSpPr/>
          <p:nvPr/>
        </p:nvSpPr>
        <p:spPr>
          <a:xfrm>
            <a:off x="4800600" y="3200400"/>
            <a:ext cx="3749040" cy="292608"/>
          </a:xfrm>
          <a:prstGeom prst="rect">
            <a:avLst/>
          </a:prstGeom>
          <a:noFill/>
          <a:ln/>
        </p:spPr>
        <p:txBody>
          <a:bodyPr wrap="square" lIns="0" tIns="0" rIns="0" bIns="0" rtlCol="0" anchor="ctr"/>
          <a:lstStyle/>
          <a:p>
            <a:pPr marL="0" indent="0" algn="l">
              <a:buNone/>
            </a:pPr>
            <a:r>
              <a:rPr lang="en-US" sz="1300" b="1" dirty="0">
                <a:solidFill>
                  <a:srgbClr val="0D7377"/>
                </a:solidFill>
                <a:latin typeface="Calibri" pitchFamily="34" charset="0"/>
                <a:ea typeface="Calibri" pitchFamily="34" charset="-122"/>
                <a:cs typeface="Calibri" pitchFamily="34" charset="-120"/>
              </a:rPr>
              <a:t>gRPC vs RMI — Comparativa</a:t>
            </a:r>
            <a:endParaRPr lang="en-US" sz="1300" dirty="0"/>
          </a:p>
        </p:txBody>
      </p:sp>
      <p:sp>
        <p:nvSpPr>
          <p:cNvPr id="35" name="Shape 33"/>
          <p:cNvSpPr/>
          <p:nvPr/>
        </p:nvSpPr>
        <p:spPr>
          <a:xfrm>
            <a:off x="4754880" y="3538728"/>
            <a:ext cx="1371600" cy="219456"/>
          </a:xfrm>
          <a:prstGeom prst="rect">
            <a:avLst/>
          </a:prstGeom>
          <a:solidFill>
            <a:srgbClr val="0D7377"/>
          </a:solidFill>
          <a:ln w="12700">
            <a:solidFill>
              <a:srgbClr val="0D7377"/>
            </a:solidFill>
            <a:prstDash val="solid"/>
          </a:ln>
        </p:spPr>
      </p:sp>
      <p:sp>
        <p:nvSpPr>
          <p:cNvPr id="36" name="Text 34"/>
          <p:cNvSpPr/>
          <p:nvPr/>
        </p:nvSpPr>
        <p:spPr>
          <a:xfrm>
            <a:off x="4754880" y="3538728"/>
            <a:ext cx="1371600" cy="219456"/>
          </a:xfrm>
          <a:prstGeom prst="rect">
            <a:avLst/>
          </a:prstGeom>
          <a:noFill/>
          <a:ln/>
        </p:spPr>
        <p:txBody>
          <a:bodyPr wrap="square" lIns="0" tIns="0" rIns="0" bIns="0" rtlCol="0" anchor="ctr"/>
          <a:lstStyle/>
          <a:p>
            <a:pPr marL="0" indent="0" algn="ctr">
              <a:buNone/>
            </a:pPr>
            <a:r>
              <a:rPr lang="en-US" sz="950" b="1" dirty="0">
                <a:solidFill>
                  <a:srgbClr val="FFFFFF"/>
                </a:solidFill>
              </a:rPr>
              <a:t>Criterio</a:t>
            </a:r>
            <a:endParaRPr lang="en-US" sz="950" dirty="0"/>
          </a:p>
        </p:txBody>
      </p:sp>
      <p:sp>
        <p:nvSpPr>
          <p:cNvPr id="37" name="Shape 35"/>
          <p:cNvSpPr/>
          <p:nvPr/>
        </p:nvSpPr>
        <p:spPr>
          <a:xfrm>
            <a:off x="6126480" y="3538728"/>
            <a:ext cx="1280160" cy="219456"/>
          </a:xfrm>
          <a:prstGeom prst="rect">
            <a:avLst/>
          </a:prstGeom>
          <a:solidFill>
            <a:srgbClr val="0D7377"/>
          </a:solidFill>
          <a:ln w="12700">
            <a:solidFill>
              <a:srgbClr val="0D7377"/>
            </a:solidFill>
            <a:prstDash val="solid"/>
          </a:ln>
        </p:spPr>
      </p:sp>
      <p:sp>
        <p:nvSpPr>
          <p:cNvPr id="38" name="Text 36"/>
          <p:cNvSpPr/>
          <p:nvPr/>
        </p:nvSpPr>
        <p:spPr>
          <a:xfrm>
            <a:off x="6126480" y="3538728"/>
            <a:ext cx="1280160" cy="219456"/>
          </a:xfrm>
          <a:prstGeom prst="rect">
            <a:avLst/>
          </a:prstGeom>
          <a:noFill/>
          <a:ln/>
        </p:spPr>
        <p:txBody>
          <a:bodyPr wrap="square" lIns="0" tIns="0" rIns="0" bIns="0" rtlCol="0" anchor="ctr"/>
          <a:lstStyle/>
          <a:p>
            <a:pPr marL="0" indent="0" algn="ctr">
              <a:buNone/>
            </a:pPr>
            <a:r>
              <a:rPr lang="en-US" sz="950" b="1" dirty="0">
                <a:solidFill>
                  <a:srgbClr val="FFFFFF"/>
                </a:solidFill>
              </a:rPr>
              <a:t>RMI Java</a:t>
            </a:r>
            <a:endParaRPr lang="en-US" sz="950" dirty="0"/>
          </a:p>
        </p:txBody>
      </p:sp>
      <p:sp>
        <p:nvSpPr>
          <p:cNvPr id="39" name="Shape 37"/>
          <p:cNvSpPr/>
          <p:nvPr/>
        </p:nvSpPr>
        <p:spPr>
          <a:xfrm>
            <a:off x="7406640" y="3538728"/>
            <a:ext cx="1280160" cy="219456"/>
          </a:xfrm>
          <a:prstGeom prst="rect">
            <a:avLst/>
          </a:prstGeom>
          <a:solidFill>
            <a:srgbClr val="0D7377"/>
          </a:solidFill>
          <a:ln w="12700">
            <a:solidFill>
              <a:srgbClr val="0D7377"/>
            </a:solidFill>
            <a:prstDash val="solid"/>
          </a:ln>
        </p:spPr>
      </p:sp>
      <p:sp>
        <p:nvSpPr>
          <p:cNvPr id="40" name="Text 38"/>
          <p:cNvSpPr/>
          <p:nvPr/>
        </p:nvSpPr>
        <p:spPr>
          <a:xfrm>
            <a:off x="7406640" y="3538728"/>
            <a:ext cx="1280160" cy="219456"/>
          </a:xfrm>
          <a:prstGeom prst="rect">
            <a:avLst/>
          </a:prstGeom>
          <a:noFill/>
          <a:ln/>
        </p:spPr>
        <p:txBody>
          <a:bodyPr wrap="square" lIns="0" tIns="0" rIns="0" bIns="0" rtlCol="0" anchor="ctr"/>
          <a:lstStyle/>
          <a:p>
            <a:pPr marL="0" indent="0" algn="ctr">
              <a:buNone/>
            </a:pPr>
            <a:r>
              <a:rPr lang="en-US" sz="950" b="1" dirty="0">
                <a:solidFill>
                  <a:srgbClr val="FFFFFF"/>
                </a:solidFill>
              </a:rPr>
              <a:t>gRPC</a:t>
            </a:r>
            <a:endParaRPr lang="en-US" sz="950" dirty="0"/>
          </a:p>
        </p:txBody>
      </p:sp>
      <p:sp>
        <p:nvSpPr>
          <p:cNvPr id="41" name="Shape 39"/>
          <p:cNvSpPr/>
          <p:nvPr/>
        </p:nvSpPr>
        <p:spPr>
          <a:xfrm>
            <a:off x="4754880" y="3758184"/>
            <a:ext cx="1371600" cy="219456"/>
          </a:xfrm>
          <a:prstGeom prst="rect">
            <a:avLst/>
          </a:prstGeom>
          <a:solidFill>
            <a:srgbClr val="FFFFFF"/>
          </a:solidFill>
          <a:ln w="12700">
            <a:solidFill>
              <a:srgbClr val="FFFFFF"/>
            </a:solidFill>
            <a:prstDash val="solid"/>
          </a:ln>
        </p:spPr>
      </p:sp>
      <p:sp>
        <p:nvSpPr>
          <p:cNvPr id="42" name="Text 40"/>
          <p:cNvSpPr/>
          <p:nvPr/>
        </p:nvSpPr>
        <p:spPr>
          <a:xfrm>
            <a:off x="4754880" y="3758184"/>
            <a:ext cx="1371600" cy="219456"/>
          </a:xfrm>
          <a:prstGeom prst="rect">
            <a:avLst/>
          </a:prstGeom>
          <a:noFill/>
          <a:ln/>
        </p:spPr>
        <p:txBody>
          <a:bodyPr wrap="square" lIns="0" tIns="0" rIns="0" bIns="0" rtlCol="0" anchor="ctr"/>
          <a:lstStyle/>
          <a:p>
            <a:pPr marL="0" indent="0" algn="ctr">
              <a:buNone/>
            </a:pPr>
            <a:r>
              <a:rPr lang="en-US" sz="950" dirty="0">
                <a:solidFill>
                  <a:srgbClr val="334155"/>
                </a:solidFill>
              </a:rPr>
              <a:t>Lenguajes</a:t>
            </a:r>
            <a:endParaRPr lang="en-US" sz="950" dirty="0"/>
          </a:p>
        </p:txBody>
      </p:sp>
      <p:sp>
        <p:nvSpPr>
          <p:cNvPr id="43" name="Shape 41"/>
          <p:cNvSpPr/>
          <p:nvPr/>
        </p:nvSpPr>
        <p:spPr>
          <a:xfrm>
            <a:off x="6126480" y="3758184"/>
            <a:ext cx="1280160" cy="219456"/>
          </a:xfrm>
          <a:prstGeom prst="rect">
            <a:avLst/>
          </a:prstGeom>
          <a:solidFill>
            <a:srgbClr val="FFFFFF"/>
          </a:solidFill>
          <a:ln w="12700">
            <a:solidFill>
              <a:srgbClr val="FFFFFF"/>
            </a:solidFill>
            <a:prstDash val="solid"/>
          </a:ln>
        </p:spPr>
      </p:sp>
      <p:sp>
        <p:nvSpPr>
          <p:cNvPr id="44" name="Text 42"/>
          <p:cNvSpPr/>
          <p:nvPr/>
        </p:nvSpPr>
        <p:spPr>
          <a:xfrm>
            <a:off x="6126480" y="3758184"/>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Solo Java</a:t>
            </a:r>
            <a:endParaRPr lang="en-US" sz="950" dirty="0"/>
          </a:p>
        </p:txBody>
      </p:sp>
      <p:sp>
        <p:nvSpPr>
          <p:cNvPr id="45" name="Shape 43"/>
          <p:cNvSpPr/>
          <p:nvPr/>
        </p:nvSpPr>
        <p:spPr>
          <a:xfrm>
            <a:off x="7406640" y="3758184"/>
            <a:ext cx="1280160" cy="219456"/>
          </a:xfrm>
          <a:prstGeom prst="rect">
            <a:avLst/>
          </a:prstGeom>
          <a:solidFill>
            <a:srgbClr val="FFFFFF"/>
          </a:solidFill>
          <a:ln w="12700">
            <a:solidFill>
              <a:srgbClr val="FFFFFF"/>
            </a:solidFill>
            <a:prstDash val="solid"/>
          </a:ln>
        </p:spPr>
      </p:sp>
      <p:sp>
        <p:nvSpPr>
          <p:cNvPr id="46" name="Text 44"/>
          <p:cNvSpPr/>
          <p:nvPr/>
        </p:nvSpPr>
        <p:spPr>
          <a:xfrm>
            <a:off x="7406640" y="3758184"/>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20+ lenguajes</a:t>
            </a:r>
            <a:endParaRPr lang="en-US" sz="950" dirty="0"/>
          </a:p>
        </p:txBody>
      </p:sp>
      <p:sp>
        <p:nvSpPr>
          <p:cNvPr id="47" name="Shape 45"/>
          <p:cNvSpPr/>
          <p:nvPr/>
        </p:nvSpPr>
        <p:spPr>
          <a:xfrm>
            <a:off x="4754880" y="3977640"/>
            <a:ext cx="1371600" cy="219456"/>
          </a:xfrm>
          <a:prstGeom prst="rect">
            <a:avLst/>
          </a:prstGeom>
          <a:solidFill>
            <a:srgbClr val="F1F7FA"/>
          </a:solidFill>
          <a:ln w="12700">
            <a:solidFill>
              <a:srgbClr val="F1F7FA"/>
            </a:solidFill>
            <a:prstDash val="solid"/>
          </a:ln>
        </p:spPr>
      </p:sp>
      <p:sp>
        <p:nvSpPr>
          <p:cNvPr id="48" name="Text 46"/>
          <p:cNvSpPr/>
          <p:nvPr/>
        </p:nvSpPr>
        <p:spPr>
          <a:xfrm>
            <a:off x="4754880" y="3977640"/>
            <a:ext cx="1371600" cy="219456"/>
          </a:xfrm>
          <a:prstGeom prst="rect">
            <a:avLst/>
          </a:prstGeom>
          <a:noFill/>
          <a:ln/>
        </p:spPr>
        <p:txBody>
          <a:bodyPr wrap="square" lIns="0" tIns="0" rIns="0" bIns="0" rtlCol="0" anchor="ctr"/>
          <a:lstStyle/>
          <a:p>
            <a:pPr marL="0" indent="0" algn="ctr">
              <a:buNone/>
            </a:pPr>
            <a:r>
              <a:rPr lang="en-US" sz="950" dirty="0">
                <a:solidFill>
                  <a:srgbClr val="334155"/>
                </a:solidFill>
              </a:rPr>
              <a:t>Protocolo</a:t>
            </a:r>
            <a:endParaRPr lang="en-US" sz="950" dirty="0"/>
          </a:p>
        </p:txBody>
      </p:sp>
      <p:sp>
        <p:nvSpPr>
          <p:cNvPr id="49" name="Shape 47"/>
          <p:cNvSpPr/>
          <p:nvPr/>
        </p:nvSpPr>
        <p:spPr>
          <a:xfrm>
            <a:off x="6126480" y="3977640"/>
            <a:ext cx="1280160" cy="219456"/>
          </a:xfrm>
          <a:prstGeom prst="rect">
            <a:avLst/>
          </a:prstGeom>
          <a:solidFill>
            <a:srgbClr val="F1F7FA"/>
          </a:solidFill>
          <a:ln w="12700">
            <a:solidFill>
              <a:srgbClr val="F1F7FA"/>
            </a:solidFill>
            <a:prstDash val="solid"/>
          </a:ln>
        </p:spPr>
      </p:sp>
      <p:sp>
        <p:nvSpPr>
          <p:cNvPr id="50" name="Text 48"/>
          <p:cNvSpPr/>
          <p:nvPr/>
        </p:nvSpPr>
        <p:spPr>
          <a:xfrm>
            <a:off x="6126480" y="3977640"/>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Java serialization</a:t>
            </a:r>
            <a:endParaRPr lang="en-US" sz="950" dirty="0"/>
          </a:p>
        </p:txBody>
      </p:sp>
      <p:sp>
        <p:nvSpPr>
          <p:cNvPr id="51" name="Shape 49"/>
          <p:cNvSpPr/>
          <p:nvPr/>
        </p:nvSpPr>
        <p:spPr>
          <a:xfrm>
            <a:off x="7406640" y="3977640"/>
            <a:ext cx="1280160" cy="219456"/>
          </a:xfrm>
          <a:prstGeom prst="rect">
            <a:avLst/>
          </a:prstGeom>
          <a:solidFill>
            <a:srgbClr val="F1F7FA"/>
          </a:solidFill>
          <a:ln w="12700">
            <a:solidFill>
              <a:srgbClr val="F1F7FA"/>
            </a:solidFill>
            <a:prstDash val="solid"/>
          </a:ln>
        </p:spPr>
      </p:sp>
      <p:sp>
        <p:nvSpPr>
          <p:cNvPr id="52" name="Text 50"/>
          <p:cNvSpPr/>
          <p:nvPr/>
        </p:nvSpPr>
        <p:spPr>
          <a:xfrm>
            <a:off x="7406640" y="3977640"/>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Protobuf sobre HTTP/2</a:t>
            </a:r>
            <a:endParaRPr lang="en-US" sz="950" dirty="0"/>
          </a:p>
        </p:txBody>
      </p:sp>
      <p:sp>
        <p:nvSpPr>
          <p:cNvPr id="53" name="Shape 51"/>
          <p:cNvSpPr/>
          <p:nvPr/>
        </p:nvSpPr>
        <p:spPr>
          <a:xfrm>
            <a:off x="4754880" y="4197096"/>
            <a:ext cx="1371600" cy="219456"/>
          </a:xfrm>
          <a:prstGeom prst="rect">
            <a:avLst/>
          </a:prstGeom>
          <a:solidFill>
            <a:srgbClr val="FFFFFF"/>
          </a:solidFill>
          <a:ln w="12700">
            <a:solidFill>
              <a:srgbClr val="FFFFFF"/>
            </a:solidFill>
            <a:prstDash val="solid"/>
          </a:ln>
        </p:spPr>
      </p:sp>
      <p:sp>
        <p:nvSpPr>
          <p:cNvPr id="54" name="Text 52"/>
          <p:cNvSpPr/>
          <p:nvPr/>
        </p:nvSpPr>
        <p:spPr>
          <a:xfrm>
            <a:off x="4754880" y="4197096"/>
            <a:ext cx="1371600" cy="219456"/>
          </a:xfrm>
          <a:prstGeom prst="rect">
            <a:avLst/>
          </a:prstGeom>
          <a:noFill/>
          <a:ln/>
        </p:spPr>
        <p:txBody>
          <a:bodyPr wrap="square" lIns="0" tIns="0" rIns="0" bIns="0" rtlCol="0" anchor="ctr"/>
          <a:lstStyle/>
          <a:p>
            <a:pPr marL="0" indent="0" algn="ctr">
              <a:buNone/>
            </a:pPr>
            <a:r>
              <a:rPr lang="en-US" sz="950" dirty="0">
                <a:solidFill>
                  <a:srgbClr val="334155"/>
                </a:solidFill>
              </a:rPr>
              <a:t>IDL</a:t>
            </a:r>
            <a:endParaRPr lang="en-US" sz="950" dirty="0"/>
          </a:p>
        </p:txBody>
      </p:sp>
      <p:sp>
        <p:nvSpPr>
          <p:cNvPr id="55" name="Shape 53"/>
          <p:cNvSpPr/>
          <p:nvPr/>
        </p:nvSpPr>
        <p:spPr>
          <a:xfrm>
            <a:off x="6126480" y="4197096"/>
            <a:ext cx="1280160" cy="219456"/>
          </a:xfrm>
          <a:prstGeom prst="rect">
            <a:avLst/>
          </a:prstGeom>
          <a:solidFill>
            <a:srgbClr val="FFFFFF"/>
          </a:solidFill>
          <a:ln w="12700">
            <a:solidFill>
              <a:srgbClr val="FFFFFF"/>
            </a:solidFill>
            <a:prstDash val="solid"/>
          </a:ln>
        </p:spPr>
      </p:sp>
      <p:sp>
        <p:nvSpPr>
          <p:cNvPr id="56" name="Text 54"/>
          <p:cNvSpPr/>
          <p:nvPr/>
        </p:nvSpPr>
        <p:spPr>
          <a:xfrm>
            <a:off x="6126480" y="4197096"/>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Interface Java</a:t>
            </a:r>
            <a:endParaRPr lang="en-US" sz="950" dirty="0"/>
          </a:p>
        </p:txBody>
      </p:sp>
      <p:sp>
        <p:nvSpPr>
          <p:cNvPr id="57" name="Shape 55"/>
          <p:cNvSpPr/>
          <p:nvPr/>
        </p:nvSpPr>
        <p:spPr>
          <a:xfrm>
            <a:off x="7406640" y="4197096"/>
            <a:ext cx="1280160" cy="219456"/>
          </a:xfrm>
          <a:prstGeom prst="rect">
            <a:avLst/>
          </a:prstGeom>
          <a:solidFill>
            <a:srgbClr val="FFFFFF"/>
          </a:solidFill>
          <a:ln w="12700">
            <a:solidFill>
              <a:srgbClr val="FFFFFF"/>
            </a:solidFill>
            <a:prstDash val="solid"/>
          </a:ln>
        </p:spPr>
      </p:sp>
      <p:sp>
        <p:nvSpPr>
          <p:cNvPr id="58" name="Text 56"/>
          <p:cNvSpPr/>
          <p:nvPr/>
        </p:nvSpPr>
        <p:spPr>
          <a:xfrm>
            <a:off x="7406640" y="4197096"/>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.proto (tipo fuerte)</a:t>
            </a:r>
            <a:endParaRPr lang="en-US" sz="950" dirty="0"/>
          </a:p>
        </p:txBody>
      </p:sp>
      <p:sp>
        <p:nvSpPr>
          <p:cNvPr id="59" name="Shape 57"/>
          <p:cNvSpPr/>
          <p:nvPr/>
        </p:nvSpPr>
        <p:spPr>
          <a:xfrm>
            <a:off x="4754880" y="4416552"/>
            <a:ext cx="1371600" cy="219456"/>
          </a:xfrm>
          <a:prstGeom prst="rect">
            <a:avLst/>
          </a:prstGeom>
          <a:solidFill>
            <a:srgbClr val="F1F7FA"/>
          </a:solidFill>
          <a:ln w="12700">
            <a:solidFill>
              <a:srgbClr val="F1F7FA"/>
            </a:solidFill>
            <a:prstDash val="solid"/>
          </a:ln>
        </p:spPr>
      </p:sp>
      <p:sp>
        <p:nvSpPr>
          <p:cNvPr id="60" name="Text 58"/>
          <p:cNvSpPr/>
          <p:nvPr/>
        </p:nvSpPr>
        <p:spPr>
          <a:xfrm>
            <a:off x="4754880" y="4416552"/>
            <a:ext cx="1371600" cy="219456"/>
          </a:xfrm>
          <a:prstGeom prst="rect">
            <a:avLst/>
          </a:prstGeom>
          <a:noFill/>
          <a:ln/>
        </p:spPr>
        <p:txBody>
          <a:bodyPr wrap="square" lIns="0" tIns="0" rIns="0" bIns="0" rtlCol="0" anchor="ctr"/>
          <a:lstStyle/>
          <a:p>
            <a:pPr marL="0" indent="0" algn="ctr">
              <a:buNone/>
            </a:pPr>
            <a:r>
              <a:rPr lang="en-US" sz="950" dirty="0">
                <a:solidFill>
                  <a:srgbClr val="334155"/>
                </a:solidFill>
              </a:rPr>
              <a:t>Streaming</a:t>
            </a:r>
            <a:endParaRPr lang="en-US" sz="950" dirty="0"/>
          </a:p>
        </p:txBody>
      </p:sp>
      <p:sp>
        <p:nvSpPr>
          <p:cNvPr id="61" name="Shape 59"/>
          <p:cNvSpPr/>
          <p:nvPr/>
        </p:nvSpPr>
        <p:spPr>
          <a:xfrm>
            <a:off x="6126480" y="4416552"/>
            <a:ext cx="1280160" cy="219456"/>
          </a:xfrm>
          <a:prstGeom prst="rect">
            <a:avLst/>
          </a:prstGeom>
          <a:solidFill>
            <a:srgbClr val="F1F7FA"/>
          </a:solidFill>
          <a:ln w="12700">
            <a:solidFill>
              <a:srgbClr val="F1F7FA"/>
            </a:solidFill>
            <a:prstDash val="solid"/>
          </a:ln>
        </p:spPr>
      </p:sp>
      <p:sp>
        <p:nvSpPr>
          <p:cNvPr id="62" name="Text 60"/>
          <p:cNvSpPr/>
          <p:nvPr/>
        </p:nvSpPr>
        <p:spPr>
          <a:xfrm>
            <a:off x="6126480" y="4416552"/>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No</a:t>
            </a:r>
            <a:endParaRPr lang="en-US" sz="950" dirty="0"/>
          </a:p>
        </p:txBody>
      </p:sp>
      <p:sp>
        <p:nvSpPr>
          <p:cNvPr id="63" name="Shape 61"/>
          <p:cNvSpPr/>
          <p:nvPr/>
        </p:nvSpPr>
        <p:spPr>
          <a:xfrm>
            <a:off x="7406640" y="4416552"/>
            <a:ext cx="1280160" cy="219456"/>
          </a:xfrm>
          <a:prstGeom prst="rect">
            <a:avLst/>
          </a:prstGeom>
          <a:solidFill>
            <a:srgbClr val="F1F7FA"/>
          </a:solidFill>
          <a:ln w="12700">
            <a:solidFill>
              <a:srgbClr val="F1F7FA"/>
            </a:solidFill>
            <a:prstDash val="solid"/>
          </a:ln>
        </p:spPr>
      </p:sp>
      <p:sp>
        <p:nvSpPr>
          <p:cNvPr id="64" name="Text 62"/>
          <p:cNvSpPr/>
          <p:nvPr/>
        </p:nvSpPr>
        <p:spPr>
          <a:xfrm>
            <a:off x="7406640" y="4416552"/>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Bidireccional</a:t>
            </a:r>
            <a:endParaRPr lang="en-US" sz="950" dirty="0"/>
          </a:p>
        </p:txBody>
      </p:sp>
      <p:sp>
        <p:nvSpPr>
          <p:cNvPr id="65" name="Shape 63"/>
          <p:cNvSpPr/>
          <p:nvPr/>
        </p:nvSpPr>
        <p:spPr>
          <a:xfrm>
            <a:off x="4754880" y="4636008"/>
            <a:ext cx="1371600" cy="219456"/>
          </a:xfrm>
          <a:prstGeom prst="rect">
            <a:avLst/>
          </a:prstGeom>
          <a:solidFill>
            <a:srgbClr val="FFFFFF"/>
          </a:solidFill>
          <a:ln w="12700">
            <a:solidFill>
              <a:srgbClr val="FFFFFF"/>
            </a:solidFill>
            <a:prstDash val="solid"/>
          </a:ln>
        </p:spPr>
      </p:sp>
      <p:sp>
        <p:nvSpPr>
          <p:cNvPr id="66" name="Text 64"/>
          <p:cNvSpPr/>
          <p:nvPr/>
        </p:nvSpPr>
        <p:spPr>
          <a:xfrm>
            <a:off x="4754880" y="4636008"/>
            <a:ext cx="1371600" cy="219456"/>
          </a:xfrm>
          <a:prstGeom prst="rect">
            <a:avLst/>
          </a:prstGeom>
          <a:noFill/>
          <a:ln/>
        </p:spPr>
        <p:txBody>
          <a:bodyPr wrap="square" lIns="0" tIns="0" rIns="0" bIns="0" rtlCol="0" anchor="ctr"/>
          <a:lstStyle/>
          <a:p>
            <a:pPr marL="0" indent="0" algn="ctr">
              <a:buNone/>
            </a:pPr>
            <a:r>
              <a:rPr lang="en-US" sz="950" dirty="0">
                <a:solidFill>
                  <a:srgbClr val="334155"/>
                </a:solidFill>
              </a:rPr>
              <a:t>Rendimiento</a:t>
            </a:r>
            <a:endParaRPr lang="en-US" sz="950" dirty="0"/>
          </a:p>
        </p:txBody>
      </p:sp>
      <p:sp>
        <p:nvSpPr>
          <p:cNvPr id="67" name="Shape 65"/>
          <p:cNvSpPr/>
          <p:nvPr/>
        </p:nvSpPr>
        <p:spPr>
          <a:xfrm>
            <a:off x="6126480" y="4636008"/>
            <a:ext cx="1280160" cy="219456"/>
          </a:xfrm>
          <a:prstGeom prst="rect">
            <a:avLst/>
          </a:prstGeom>
          <a:solidFill>
            <a:srgbClr val="FFFFFF"/>
          </a:solidFill>
          <a:ln w="12700">
            <a:solidFill>
              <a:srgbClr val="FFFFFF"/>
            </a:solidFill>
            <a:prstDash val="solid"/>
          </a:ln>
        </p:spPr>
      </p:sp>
      <p:sp>
        <p:nvSpPr>
          <p:cNvPr id="68" name="Text 66"/>
          <p:cNvSpPr/>
          <p:nvPr/>
        </p:nvSpPr>
        <p:spPr>
          <a:xfrm>
            <a:off x="6126480" y="4636008"/>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Moderado</a:t>
            </a:r>
            <a:endParaRPr lang="en-US" sz="950" dirty="0"/>
          </a:p>
        </p:txBody>
      </p:sp>
      <p:sp>
        <p:nvSpPr>
          <p:cNvPr id="69" name="Shape 67"/>
          <p:cNvSpPr/>
          <p:nvPr/>
        </p:nvSpPr>
        <p:spPr>
          <a:xfrm>
            <a:off x="7406640" y="4636008"/>
            <a:ext cx="1280160" cy="219456"/>
          </a:xfrm>
          <a:prstGeom prst="rect">
            <a:avLst/>
          </a:prstGeom>
          <a:solidFill>
            <a:srgbClr val="FFFFFF"/>
          </a:solidFill>
          <a:ln w="12700">
            <a:solidFill>
              <a:srgbClr val="FFFFFF"/>
            </a:solidFill>
            <a:prstDash val="solid"/>
          </a:ln>
        </p:spPr>
      </p:sp>
      <p:sp>
        <p:nvSpPr>
          <p:cNvPr id="70" name="Text 68"/>
          <p:cNvSpPr/>
          <p:nvPr/>
        </p:nvSpPr>
        <p:spPr>
          <a:xfrm>
            <a:off x="7406640" y="4636008"/>
            <a:ext cx="1280160" cy="219456"/>
          </a:xfrm>
          <a:prstGeom prst="rect">
            <a:avLst/>
          </a:prstGeom>
          <a:noFill/>
          <a:ln/>
        </p:spPr>
        <p:txBody>
          <a:bodyPr wrap="square" lIns="0" tIns="0" rIns="0" bIns="0" rtlCol="0" anchor="ctr"/>
          <a:lstStyle/>
          <a:p>
            <a:pPr marL="0" indent="0" algn="ctr">
              <a:buNone/>
            </a:pPr>
            <a:r>
              <a:rPr lang="en-US" sz="950" dirty="0">
                <a:solidFill>
                  <a:srgbClr val="334155"/>
                </a:solidFill>
              </a:rPr>
              <a:t>Alto</a:t>
            </a:r>
            <a:endParaRPr lang="en-US" sz="950" dirty="0"/>
          </a:p>
        </p:txBody>
      </p:sp>
      <p:sp>
        <p:nvSpPr>
          <p:cNvPr id="71" name="Shape 69"/>
          <p:cNvSpPr/>
          <p:nvPr/>
        </p:nvSpPr>
        <p:spPr>
          <a:xfrm>
            <a:off x="0" y="4892040"/>
            <a:ext cx="9144000" cy="251460"/>
          </a:xfrm>
          <a:prstGeom prst="rect">
            <a:avLst/>
          </a:prstGeom>
          <a:solidFill>
            <a:srgbClr val="0D1B40"/>
          </a:solidFill>
          <a:ln w="12700">
            <a:solidFill>
              <a:srgbClr val="0D1B40"/>
            </a:solidFill>
            <a:prstDash val="solid"/>
          </a:ln>
        </p:spPr>
      </p:sp>
      <p:sp>
        <p:nvSpPr>
          <p:cNvPr id="72" name="Text 70"/>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van Steen &amp; Tanenbaum, Distributed Systems 4th ed. ch. 4; K. Indrasiri &amp; D. Kuruppu, gRPC: Up and Running, O'Reilly, 2020</a:t>
            </a:r>
            <a:endParaRPr lang="en-US" sz="800" dirty="0"/>
          </a:p>
        </p:txBody>
      </p:sp>
      <p:sp>
        <p:nvSpPr>
          <p:cNvPr id="73" name="Text 71"/>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40"/>
        </a:solidFill>
        <a:effectLst/>
      </p:bgPr>
    </p:bg>
    <p:spTree>
      <p:nvGrpSpPr>
        <p:cNvPr id="1" name=""/>
        <p:cNvGrpSpPr/>
        <p:nvPr/>
      </p:nvGrpSpPr>
      <p:grpSpPr>
        <a:xfrm>
          <a:off x="0" y="0"/>
          <a:ext cx="0" cy="0"/>
          <a:chOff x="0" y="0"/>
          <a:chExt cx="0" cy="0"/>
        </a:xfrm>
      </p:grpSpPr>
      <p:sp>
        <p:nvSpPr>
          <p:cNvPr id="2" name="Text 0"/>
          <p:cNvSpPr/>
          <p:nvPr/>
        </p:nvSpPr>
        <p:spPr>
          <a:xfrm>
            <a:off x="274320" y="731520"/>
            <a:ext cx="1828800" cy="2286000"/>
          </a:xfrm>
          <a:prstGeom prst="rect">
            <a:avLst/>
          </a:prstGeom>
          <a:noFill/>
          <a:ln/>
        </p:spPr>
        <p:txBody>
          <a:bodyPr wrap="square" lIns="0" tIns="0" rIns="0" bIns="0" rtlCol="0" anchor="ctr"/>
          <a:lstStyle/>
          <a:p>
            <a:pPr marL="0" indent="0" algn="l">
              <a:buNone/>
            </a:pPr>
            <a:r>
              <a:rPr lang="en-US" sz="12000" b="1" dirty="0">
                <a:solidFill>
                  <a:srgbClr val="1A3A6B"/>
                </a:solidFill>
                <a:latin typeface="Calibri" pitchFamily="34" charset="0"/>
                <a:ea typeface="Calibri" pitchFamily="34" charset="-122"/>
                <a:cs typeface="Calibri" pitchFamily="34" charset="-120"/>
              </a:rPr>
              <a:t>03</a:t>
            </a:r>
            <a:endParaRPr lang="en-US" sz="12000" dirty="0"/>
          </a:p>
        </p:txBody>
      </p:sp>
      <p:sp>
        <p:nvSpPr>
          <p:cNvPr id="3" name="Text 1"/>
          <p:cNvSpPr/>
          <p:nvPr/>
        </p:nvSpPr>
        <p:spPr>
          <a:xfrm>
            <a:off x="2011680" y="1097280"/>
            <a:ext cx="6858000" cy="91440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Middleware Distribuido</a:t>
            </a:r>
            <a:endParaRPr lang="en-US" sz="3400" dirty="0"/>
          </a:p>
        </p:txBody>
      </p:sp>
      <p:sp>
        <p:nvSpPr>
          <p:cNvPr id="4" name="Text 2"/>
          <p:cNvSpPr/>
          <p:nvPr/>
        </p:nvSpPr>
        <p:spPr>
          <a:xfrm>
            <a:off x="2011680" y="1965960"/>
            <a:ext cx="6858000" cy="411480"/>
          </a:xfrm>
          <a:prstGeom prst="rect">
            <a:avLst/>
          </a:prstGeom>
          <a:noFill/>
          <a:ln/>
        </p:spPr>
        <p:txBody>
          <a:bodyPr wrap="square" lIns="0" tIns="0" rIns="0" bIns="0" rtlCol="0" anchor="t"/>
          <a:lstStyle/>
          <a:p>
            <a:pPr marL="0" indent="0" algn="l">
              <a:buNone/>
            </a:pPr>
            <a:r>
              <a:rPr lang="en-US" sz="1500" dirty="0">
                <a:solidFill>
                  <a:srgbClr val="14A0A7"/>
                </a:solidFill>
                <a:latin typeface="Calibri" pitchFamily="34" charset="0"/>
                <a:ea typeface="Calibri" pitchFamily="34" charset="-122"/>
                <a:cs typeface="Calibri" pitchFamily="34" charset="-120"/>
              </a:rPr>
              <a:t>El pegamento invisible que conecta los componentes</a:t>
            </a:r>
            <a:endParaRPr lang="en-US" sz="1500" dirty="0"/>
          </a:p>
        </p:txBody>
      </p:sp>
      <p:sp>
        <p:nvSpPr>
          <p:cNvPr id="5" name="Shape 3"/>
          <p:cNvSpPr/>
          <p:nvPr/>
        </p:nvSpPr>
        <p:spPr>
          <a:xfrm>
            <a:off x="2011680" y="2606040"/>
            <a:ext cx="1645920" cy="292608"/>
          </a:xfrm>
          <a:prstGeom prst="rect">
            <a:avLst/>
          </a:prstGeom>
          <a:solidFill>
            <a:srgbClr val="0D7377"/>
          </a:solidFill>
          <a:ln w="12700">
            <a:solidFill>
              <a:srgbClr val="0D7377"/>
            </a:solidFill>
            <a:prstDash val="solid"/>
          </a:ln>
        </p:spPr>
      </p:sp>
      <p:sp>
        <p:nvSpPr>
          <p:cNvPr id="6" name="Text 4"/>
          <p:cNvSpPr/>
          <p:nvPr/>
        </p:nvSpPr>
        <p:spPr>
          <a:xfrm>
            <a:off x="2011680" y="2606040"/>
            <a:ext cx="164592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Message Broker</a:t>
            </a:r>
            <a:endParaRPr lang="en-US" sz="1100" dirty="0"/>
          </a:p>
        </p:txBody>
      </p:sp>
      <p:sp>
        <p:nvSpPr>
          <p:cNvPr id="7" name="Shape 5"/>
          <p:cNvSpPr/>
          <p:nvPr/>
        </p:nvSpPr>
        <p:spPr>
          <a:xfrm>
            <a:off x="3767328" y="2606040"/>
            <a:ext cx="1005840" cy="292608"/>
          </a:xfrm>
          <a:prstGeom prst="rect">
            <a:avLst/>
          </a:prstGeom>
          <a:solidFill>
            <a:srgbClr val="0D7377"/>
          </a:solidFill>
          <a:ln w="12700">
            <a:solidFill>
              <a:srgbClr val="0D7377"/>
            </a:solidFill>
            <a:prstDash val="solid"/>
          </a:ln>
        </p:spPr>
      </p:sp>
      <p:sp>
        <p:nvSpPr>
          <p:cNvPr id="8" name="Text 6"/>
          <p:cNvSpPr/>
          <p:nvPr/>
        </p:nvSpPr>
        <p:spPr>
          <a:xfrm>
            <a:off x="3767328" y="2606040"/>
            <a:ext cx="100584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ESB</a:t>
            </a:r>
            <a:endParaRPr lang="en-US" sz="1100" dirty="0"/>
          </a:p>
        </p:txBody>
      </p:sp>
      <p:sp>
        <p:nvSpPr>
          <p:cNvPr id="9" name="Shape 7"/>
          <p:cNvSpPr/>
          <p:nvPr/>
        </p:nvSpPr>
        <p:spPr>
          <a:xfrm>
            <a:off x="4882896" y="2606040"/>
            <a:ext cx="1371600" cy="292608"/>
          </a:xfrm>
          <a:prstGeom prst="rect">
            <a:avLst/>
          </a:prstGeom>
          <a:solidFill>
            <a:srgbClr val="0D7377"/>
          </a:solidFill>
          <a:ln w="12700">
            <a:solidFill>
              <a:srgbClr val="0D7377"/>
            </a:solidFill>
            <a:prstDash val="solid"/>
          </a:ln>
        </p:spPr>
      </p:sp>
      <p:sp>
        <p:nvSpPr>
          <p:cNvPr id="10" name="Text 8"/>
          <p:cNvSpPr/>
          <p:nvPr/>
        </p:nvSpPr>
        <p:spPr>
          <a:xfrm>
            <a:off x="4882896" y="260604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11" name="Shape 9"/>
          <p:cNvSpPr/>
          <p:nvPr/>
        </p:nvSpPr>
        <p:spPr>
          <a:xfrm>
            <a:off x="6364224" y="2606040"/>
            <a:ext cx="1371600" cy="292608"/>
          </a:xfrm>
          <a:prstGeom prst="rect">
            <a:avLst/>
          </a:prstGeom>
          <a:solidFill>
            <a:srgbClr val="0D7377"/>
          </a:solidFill>
          <a:ln w="12700">
            <a:solidFill>
              <a:srgbClr val="0D7377"/>
            </a:solidFill>
            <a:prstDash val="solid"/>
          </a:ln>
        </p:spPr>
      </p:sp>
      <p:sp>
        <p:nvSpPr>
          <p:cNvPr id="12" name="Text 10"/>
          <p:cNvSpPr/>
          <p:nvPr/>
        </p:nvSpPr>
        <p:spPr>
          <a:xfrm>
            <a:off x="6364224" y="2606040"/>
            <a:ext cx="137160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Service Mesh</a:t>
            </a:r>
            <a:endParaRPr lang="en-US" sz="1100" dirty="0"/>
          </a:p>
        </p:txBody>
      </p:sp>
      <p:sp>
        <p:nvSpPr>
          <p:cNvPr id="13" name="Shape 11"/>
          <p:cNvSpPr/>
          <p:nvPr/>
        </p:nvSpPr>
        <p:spPr>
          <a:xfrm>
            <a:off x="0" y="4892040"/>
            <a:ext cx="9144000" cy="251460"/>
          </a:xfrm>
          <a:prstGeom prst="rect">
            <a:avLst/>
          </a:prstGeom>
          <a:solidFill>
            <a:srgbClr val="0D1B40"/>
          </a:solidFill>
          <a:ln w="12700">
            <a:solidFill>
              <a:srgbClr val="0D1B40"/>
            </a:solidFill>
            <a:prstDash val="solid"/>
          </a:ln>
        </p:spPr>
      </p:sp>
      <p:sp>
        <p:nvSpPr>
          <p:cNvPr id="14" name="Text 12"/>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03 · Middleware</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Tipos y Rol</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Middleware — El Pegamento del Sistema Distribuido</a:t>
            </a:r>
            <a:endParaRPr lang="en-US" sz="2000" dirty="0"/>
          </a:p>
        </p:txBody>
      </p:sp>
      <p:sp>
        <p:nvSpPr>
          <p:cNvPr id="7" name="Shape 5"/>
          <p:cNvSpPr/>
          <p:nvPr/>
        </p:nvSpPr>
        <p:spPr>
          <a:xfrm>
            <a:off x="365760" y="1024128"/>
            <a:ext cx="8412480" cy="384048"/>
          </a:xfrm>
          <a:prstGeom prst="rect">
            <a:avLst/>
          </a:prstGeom>
          <a:solidFill>
            <a:srgbClr val="E2E8F0"/>
          </a:solidFill>
          <a:ln w="12700">
            <a:solidFill>
              <a:srgbClr val="E2E8F0"/>
            </a:solidFill>
            <a:prstDash val="solid"/>
          </a:ln>
        </p:spPr>
      </p:sp>
      <p:sp>
        <p:nvSpPr>
          <p:cNvPr id="8" name="Text 6"/>
          <p:cNvSpPr/>
          <p:nvPr/>
        </p:nvSpPr>
        <p:spPr>
          <a:xfrm>
            <a:off x="365760" y="1024128"/>
            <a:ext cx="8412480" cy="384048"/>
          </a:xfrm>
          <a:prstGeom prst="rect">
            <a:avLst/>
          </a:prstGeom>
          <a:noFill/>
          <a:ln/>
        </p:spPr>
        <p:txBody>
          <a:bodyPr wrap="square" lIns="0" tIns="0" rIns="0" bIns="0" rtlCol="0" anchor="ctr"/>
          <a:lstStyle/>
          <a:p>
            <a:pPr marL="0" indent="0" algn="ctr">
              <a:buNone/>
            </a:pPr>
            <a:r>
              <a:rPr lang="en-US" sz="1100" dirty="0">
                <a:solidFill>
                  <a:srgbClr val="334155"/>
                </a:solidFill>
              </a:rPr>
              <a:t>Aplicaciones (Clientes + Servidores + Microservicios)</a:t>
            </a:r>
            <a:endParaRPr lang="en-US" sz="1100" dirty="0"/>
          </a:p>
        </p:txBody>
      </p:sp>
      <p:sp>
        <p:nvSpPr>
          <p:cNvPr id="9" name="Shape 7"/>
          <p:cNvSpPr/>
          <p:nvPr/>
        </p:nvSpPr>
        <p:spPr>
          <a:xfrm>
            <a:off x="365760" y="1463040"/>
            <a:ext cx="8412480" cy="384048"/>
          </a:xfrm>
          <a:prstGeom prst="rect">
            <a:avLst/>
          </a:prstGeom>
          <a:solidFill>
            <a:srgbClr val="0D7377"/>
          </a:solidFill>
          <a:ln w="12700">
            <a:solidFill>
              <a:srgbClr val="0D7377"/>
            </a:solidFill>
            <a:prstDash val="solid"/>
          </a:ln>
        </p:spPr>
      </p:sp>
      <p:sp>
        <p:nvSpPr>
          <p:cNvPr id="10" name="Text 8"/>
          <p:cNvSpPr/>
          <p:nvPr/>
        </p:nvSpPr>
        <p:spPr>
          <a:xfrm>
            <a:off x="365760" y="1463040"/>
            <a:ext cx="8412480" cy="384048"/>
          </a:xfrm>
          <a:prstGeom prst="rect">
            <a:avLst/>
          </a:prstGeom>
          <a:noFill/>
          <a:ln/>
        </p:spPr>
        <p:txBody>
          <a:bodyPr wrap="square" lIns="0" tIns="0" rIns="0" bIns="0" rtlCol="0" anchor="ctr"/>
          <a:lstStyle/>
          <a:p>
            <a:pPr marL="0" indent="0" algn="ctr">
              <a:buNone/>
            </a:pPr>
            <a:r>
              <a:rPr lang="en-US" sz="1100" b="1" dirty="0">
                <a:solidFill>
                  <a:srgbClr val="FFFFFF"/>
                </a:solidFill>
              </a:rPr>
              <a:t>MIDDLEWARE (RPC · Naming · Transacciones · Mensajería · Seguridad)</a:t>
            </a:r>
            <a:endParaRPr lang="en-US" sz="1100" dirty="0"/>
          </a:p>
        </p:txBody>
      </p:sp>
      <p:sp>
        <p:nvSpPr>
          <p:cNvPr id="11" name="Shape 9"/>
          <p:cNvSpPr/>
          <p:nvPr/>
        </p:nvSpPr>
        <p:spPr>
          <a:xfrm>
            <a:off x="365760" y="1901952"/>
            <a:ext cx="8412480" cy="384048"/>
          </a:xfrm>
          <a:prstGeom prst="rect">
            <a:avLst/>
          </a:prstGeom>
          <a:solidFill>
            <a:srgbClr val="1A2D6B"/>
          </a:solidFill>
          <a:ln w="12700">
            <a:solidFill>
              <a:srgbClr val="1A2D6B"/>
            </a:solidFill>
            <a:prstDash val="solid"/>
          </a:ln>
        </p:spPr>
      </p:sp>
      <p:sp>
        <p:nvSpPr>
          <p:cNvPr id="12" name="Text 10"/>
          <p:cNvSpPr/>
          <p:nvPr/>
        </p:nvSpPr>
        <p:spPr>
          <a:xfrm>
            <a:off x="365760" y="1901952"/>
            <a:ext cx="8412480" cy="384048"/>
          </a:xfrm>
          <a:prstGeom prst="rect">
            <a:avLst/>
          </a:prstGeom>
          <a:noFill/>
          <a:ln/>
        </p:spPr>
        <p:txBody>
          <a:bodyPr wrap="square" lIns="0" tIns="0" rIns="0" bIns="0" rtlCol="0" anchor="ctr"/>
          <a:lstStyle/>
          <a:p>
            <a:pPr marL="0" indent="0" algn="ctr">
              <a:buNone/>
            </a:pPr>
            <a:r>
              <a:rPr lang="en-US" sz="1100" dirty="0">
                <a:solidFill>
                  <a:srgbClr val="FFFFFF"/>
                </a:solidFill>
              </a:rPr>
              <a:t>Sistema Operativo Distribuido + Red (TCP/IP, UDP, HTTP/2, gRPC)</a:t>
            </a:r>
            <a:endParaRPr lang="en-US" sz="1100" dirty="0"/>
          </a:p>
        </p:txBody>
      </p:sp>
      <p:sp>
        <p:nvSpPr>
          <p:cNvPr id="13" name="Shape 11"/>
          <p:cNvSpPr/>
          <p:nvPr/>
        </p:nvSpPr>
        <p:spPr>
          <a:xfrm>
            <a:off x="365760" y="2340864"/>
            <a:ext cx="8412480" cy="384048"/>
          </a:xfrm>
          <a:prstGeom prst="rect">
            <a:avLst/>
          </a:prstGeom>
          <a:solidFill>
            <a:srgbClr val="0D1B40"/>
          </a:solidFill>
          <a:ln w="12700">
            <a:solidFill>
              <a:srgbClr val="0D1B40"/>
            </a:solidFill>
            <a:prstDash val="solid"/>
          </a:ln>
        </p:spPr>
      </p:sp>
      <p:sp>
        <p:nvSpPr>
          <p:cNvPr id="14" name="Text 12"/>
          <p:cNvSpPr/>
          <p:nvPr/>
        </p:nvSpPr>
        <p:spPr>
          <a:xfrm>
            <a:off x="365760" y="2340864"/>
            <a:ext cx="8412480" cy="384048"/>
          </a:xfrm>
          <a:prstGeom prst="rect">
            <a:avLst/>
          </a:prstGeom>
          <a:noFill/>
          <a:ln/>
        </p:spPr>
        <p:txBody>
          <a:bodyPr wrap="square" lIns="0" tIns="0" rIns="0" bIns="0" rtlCol="0" anchor="ctr"/>
          <a:lstStyle/>
          <a:p>
            <a:pPr marL="0" indent="0" algn="ctr">
              <a:buNone/>
            </a:pPr>
            <a:r>
              <a:rPr lang="en-US" sz="1100" dirty="0">
                <a:solidFill>
                  <a:srgbClr val="667788"/>
                </a:solidFill>
              </a:rPr>
              <a:t>Hardware (CPUs, discos, interfaces de red)</a:t>
            </a:r>
            <a:endParaRPr lang="en-US" sz="1100" dirty="0"/>
          </a:p>
        </p:txBody>
      </p:sp>
      <p:sp>
        <p:nvSpPr>
          <p:cNvPr id="15" name="Shape 13"/>
          <p:cNvSpPr/>
          <p:nvPr/>
        </p:nvSpPr>
        <p:spPr>
          <a:xfrm>
            <a:off x="365760" y="2834640"/>
            <a:ext cx="4069080" cy="1938528"/>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16" name="Shape 14"/>
          <p:cNvSpPr/>
          <p:nvPr/>
        </p:nvSpPr>
        <p:spPr>
          <a:xfrm>
            <a:off x="365760" y="2834640"/>
            <a:ext cx="4069080" cy="301752"/>
          </a:xfrm>
          <a:prstGeom prst="rect">
            <a:avLst/>
          </a:prstGeom>
          <a:solidFill>
            <a:srgbClr val="1A2D6B"/>
          </a:solidFill>
          <a:ln w="12700">
            <a:solidFill>
              <a:srgbClr val="1A2D6B"/>
            </a:solidFill>
            <a:prstDash val="solid"/>
          </a:ln>
        </p:spPr>
      </p:sp>
      <p:sp>
        <p:nvSpPr>
          <p:cNvPr id="17" name="Text 15"/>
          <p:cNvSpPr/>
          <p:nvPr/>
        </p:nvSpPr>
        <p:spPr>
          <a:xfrm>
            <a:off x="457200" y="2834640"/>
            <a:ext cx="3840480" cy="30175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Message Broker</a:t>
            </a:r>
            <a:endParaRPr lang="en-US" sz="1200" dirty="0"/>
          </a:p>
        </p:txBody>
      </p:sp>
      <p:sp>
        <p:nvSpPr>
          <p:cNvPr id="18" name="Text 16"/>
          <p:cNvSpPr/>
          <p:nvPr/>
        </p:nvSpPr>
        <p:spPr>
          <a:xfrm>
            <a:off x="502920" y="3200400"/>
            <a:ext cx="3749040" cy="1463040"/>
          </a:xfrm>
          <a:prstGeom prst="rect">
            <a:avLst/>
          </a:prstGeom>
          <a:noFill/>
          <a:ln/>
        </p:spPr>
        <p:txBody>
          <a:bodyPr wrap="square" lIns="25400" tIns="25400" rIns="25400" bIns="25400"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Kafka: log distribuido, 1M+ msg/s</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RabbitMQ: colas AMQP con routing</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Productor → Broker → Consumidor</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Desacoplamiento temporal y espacial</a:t>
            </a:r>
            <a:endParaRPr lang="en-US" sz="1050" dirty="0"/>
          </a:p>
        </p:txBody>
      </p:sp>
      <p:sp>
        <p:nvSpPr>
          <p:cNvPr id="19" name="Shape 17"/>
          <p:cNvSpPr/>
          <p:nvPr/>
        </p:nvSpPr>
        <p:spPr>
          <a:xfrm>
            <a:off x="4617720" y="2834640"/>
            <a:ext cx="4069080" cy="1938528"/>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0" name="Shape 18"/>
          <p:cNvSpPr/>
          <p:nvPr/>
        </p:nvSpPr>
        <p:spPr>
          <a:xfrm>
            <a:off x="4617720" y="2834640"/>
            <a:ext cx="4069080" cy="301752"/>
          </a:xfrm>
          <a:prstGeom prst="rect">
            <a:avLst/>
          </a:prstGeom>
          <a:solidFill>
            <a:srgbClr val="0D7377"/>
          </a:solidFill>
          <a:ln w="12700">
            <a:solidFill>
              <a:srgbClr val="0D7377"/>
            </a:solidFill>
            <a:prstDash val="solid"/>
          </a:ln>
        </p:spPr>
      </p:sp>
      <p:sp>
        <p:nvSpPr>
          <p:cNvPr id="21" name="Text 19"/>
          <p:cNvSpPr/>
          <p:nvPr/>
        </p:nvSpPr>
        <p:spPr>
          <a:xfrm>
            <a:off x="4709160" y="2834640"/>
            <a:ext cx="3840480" cy="30175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API Gateway</a:t>
            </a:r>
            <a:endParaRPr lang="en-US" sz="1200" dirty="0"/>
          </a:p>
        </p:txBody>
      </p:sp>
      <p:sp>
        <p:nvSpPr>
          <p:cNvPr id="22" name="Text 20"/>
          <p:cNvSpPr/>
          <p:nvPr/>
        </p:nvSpPr>
        <p:spPr>
          <a:xfrm>
            <a:off x="4754880" y="3200400"/>
            <a:ext cx="3749040" cy="1463040"/>
          </a:xfrm>
          <a:prstGeom prst="rect">
            <a:avLst/>
          </a:prstGeom>
          <a:noFill/>
          <a:ln/>
        </p:spPr>
        <p:txBody>
          <a:bodyPr wrap="square" lIns="25400" tIns="25400" rIns="25400" bIns="25400" rtlCol="0" anchor="t"/>
          <a:lstStyle/>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Punto único de entrada al cluster</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Auth JWT / OAuth 2.0 centralizado</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Rate limiting · Throttling</a:t>
            </a:r>
            <a:endParaRPr lang="en-US" sz="1050" dirty="0"/>
          </a:p>
          <a:p>
            <a:pPr marL="342900" indent="-342900">
              <a:buSzPct val="100000"/>
              <a:buChar char="•"/>
            </a:pPr>
            <a:r>
              <a:rPr lang="en-US" sz="1050" dirty="0">
                <a:solidFill>
                  <a:srgbClr val="334155"/>
                </a:solidFill>
                <a:latin typeface="Calibri" pitchFamily="34" charset="0"/>
                <a:ea typeface="Calibri" pitchFamily="34" charset="-122"/>
                <a:cs typeface="Calibri" pitchFamily="34" charset="-120"/>
              </a:rPr>
              <a:t>Traducción de protocolo REST↔gRPC</a:t>
            </a:r>
            <a:endParaRPr lang="en-US" sz="1050" dirty="0"/>
          </a:p>
        </p:txBody>
      </p:sp>
      <p:sp>
        <p:nvSpPr>
          <p:cNvPr id="23" name="Shape 21"/>
          <p:cNvSpPr/>
          <p:nvPr/>
        </p:nvSpPr>
        <p:spPr>
          <a:xfrm>
            <a:off x="365760" y="4773168"/>
            <a:ext cx="4069080" cy="256032"/>
          </a:xfrm>
          <a:prstGeom prst="rect">
            <a:avLst/>
          </a:prstGeom>
          <a:solidFill>
            <a:srgbClr val="4A148C"/>
          </a:solidFill>
          <a:ln w="12700">
            <a:solidFill>
              <a:srgbClr val="4A148C"/>
            </a:solidFill>
            <a:prstDash val="solid"/>
          </a:ln>
        </p:spPr>
      </p:sp>
      <p:sp>
        <p:nvSpPr>
          <p:cNvPr id="24" name="Text 22"/>
          <p:cNvSpPr/>
          <p:nvPr/>
        </p:nvSpPr>
        <p:spPr>
          <a:xfrm>
            <a:off x="457200" y="4773168"/>
            <a:ext cx="3886200" cy="256032"/>
          </a:xfrm>
          <a:prstGeom prst="rect">
            <a:avLst/>
          </a:prstGeom>
          <a:noFill/>
          <a:ln/>
        </p:spPr>
        <p:txBody>
          <a:bodyPr wrap="square" lIns="0" tIns="0" rIns="0" bIns="0" rtlCol="0" anchor="ctr"/>
          <a:lstStyle/>
          <a:p>
            <a:pPr marL="0" indent="0" algn="l">
              <a:buNone/>
            </a:pPr>
            <a:r>
              <a:rPr lang="en-US" sz="950" dirty="0">
                <a:solidFill>
                  <a:srgbClr val="FFFFFF"/>
                </a:solidFill>
              </a:rPr>
              <a:t>Service Mesh: Sidecar proxy (Envoy) por pod</a:t>
            </a:r>
            <a:endParaRPr lang="en-US" sz="950" dirty="0"/>
          </a:p>
        </p:txBody>
      </p:sp>
      <p:sp>
        <p:nvSpPr>
          <p:cNvPr id="25" name="Shape 23"/>
          <p:cNvSpPr/>
          <p:nvPr/>
        </p:nvSpPr>
        <p:spPr>
          <a:xfrm>
            <a:off x="4617720" y="4773168"/>
            <a:ext cx="4069080" cy="256032"/>
          </a:xfrm>
          <a:prstGeom prst="rect">
            <a:avLst/>
          </a:prstGeom>
          <a:solidFill>
            <a:srgbClr val="B45309"/>
          </a:solidFill>
          <a:ln w="12700">
            <a:solidFill>
              <a:srgbClr val="B45309"/>
            </a:solidFill>
            <a:prstDash val="solid"/>
          </a:ln>
        </p:spPr>
      </p:sp>
      <p:sp>
        <p:nvSpPr>
          <p:cNvPr id="26" name="Text 24"/>
          <p:cNvSpPr/>
          <p:nvPr/>
        </p:nvSpPr>
        <p:spPr>
          <a:xfrm>
            <a:off x="4709160" y="4773168"/>
            <a:ext cx="3886200" cy="256032"/>
          </a:xfrm>
          <a:prstGeom prst="rect">
            <a:avLst/>
          </a:prstGeom>
          <a:noFill/>
          <a:ln/>
        </p:spPr>
        <p:txBody>
          <a:bodyPr wrap="square" lIns="0" tIns="0" rIns="0" bIns="0" rtlCol="0" anchor="ctr"/>
          <a:lstStyle/>
          <a:p>
            <a:pPr marL="0" indent="0" algn="l">
              <a:buNone/>
            </a:pPr>
            <a:r>
              <a:rPr lang="en-US" sz="950" dirty="0">
                <a:solidFill>
                  <a:srgbClr val="FFFFFF"/>
                </a:solidFill>
              </a:rPr>
              <a:t>Naming / Registry: Eureka: registro de microservicios</a:t>
            </a:r>
            <a:endParaRPr lang="en-US" sz="950" dirty="0"/>
          </a:p>
        </p:txBody>
      </p:sp>
      <p:sp>
        <p:nvSpPr>
          <p:cNvPr id="27" name="Shape 25"/>
          <p:cNvSpPr/>
          <p:nvPr/>
        </p:nvSpPr>
        <p:spPr>
          <a:xfrm>
            <a:off x="0" y="4892040"/>
            <a:ext cx="9144000" cy="251460"/>
          </a:xfrm>
          <a:prstGeom prst="rect">
            <a:avLst/>
          </a:prstGeom>
          <a:solidFill>
            <a:srgbClr val="0D1B40"/>
          </a:solidFill>
          <a:ln w="12700">
            <a:solidFill>
              <a:srgbClr val="0D1B40"/>
            </a:solidFill>
            <a:prstDash val="solid"/>
          </a:ln>
        </p:spPr>
      </p:sp>
      <p:sp>
        <p:nvSpPr>
          <p:cNvPr id="28" name="Text 26"/>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van Steen &amp; Tanenbaum, Distributed Systems, ch. 3; S. Newman, Building Microservices, 2nd ed., O'Reilly, 2021</a:t>
            </a:r>
            <a:endParaRPr lang="en-US" sz="800" dirty="0"/>
          </a:p>
        </p:txBody>
      </p:sp>
      <p:sp>
        <p:nvSpPr>
          <p:cNvPr id="29" name="Text 27"/>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40"/>
        </a:solidFill>
        <a:effectLst/>
      </p:bgPr>
    </p:bg>
    <p:spTree>
      <p:nvGrpSpPr>
        <p:cNvPr id="1" name=""/>
        <p:cNvGrpSpPr/>
        <p:nvPr/>
      </p:nvGrpSpPr>
      <p:grpSpPr>
        <a:xfrm>
          <a:off x="0" y="0"/>
          <a:ext cx="0" cy="0"/>
          <a:chOff x="0" y="0"/>
          <a:chExt cx="0" cy="0"/>
        </a:xfrm>
      </p:grpSpPr>
      <p:sp>
        <p:nvSpPr>
          <p:cNvPr id="2" name="Text 0"/>
          <p:cNvSpPr/>
          <p:nvPr/>
        </p:nvSpPr>
        <p:spPr>
          <a:xfrm>
            <a:off x="274320" y="731520"/>
            <a:ext cx="1828800" cy="2286000"/>
          </a:xfrm>
          <a:prstGeom prst="rect">
            <a:avLst/>
          </a:prstGeom>
          <a:noFill/>
          <a:ln/>
        </p:spPr>
        <p:txBody>
          <a:bodyPr wrap="square" lIns="0" tIns="0" rIns="0" bIns="0" rtlCol="0" anchor="ctr"/>
          <a:lstStyle/>
          <a:p>
            <a:pPr marL="0" indent="0" algn="l">
              <a:buNone/>
            </a:pPr>
            <a:r>
              <a:rPr lang="en-US" sz="12000" b="1" dirty="0">
                <a:solidFill>
                  <a:srgbClr val="1A3A6B"/>
                </a:solidFill>
                <a:latin typeface="Calibri" pitchFamily="34" charset="0"/>
                <a:ea typeface="Calibri" pitchFamily="34" charset="-122"/>
                <a:cs typeface="Calibri" pitchFamily="34" charset="-120"/>
              </a:rPr>
              <a:t>04</a:t>
            </a:r>
            <a:endParaRPr lang="en-US" sz="12000" dirty="0"/>
          </a:p>
        </p:txBody>
      </p:sp>
      <p:sp>
        <p:nvSpPr>
          <p:cNvPr id="3" name="Text 1"/>
          <p:cNvSpPr/>
          <p:nvPr/>
        </p:nvSpPr>
        <p:spPr>
          <a:xfrm>
            <a:off x="2011680" y="1097280"/>
            <a:ext cx="6858000" cy="914400"/>
          </a:xfrm>
          <a:prstGeom prst="rect">
            <a:avLst/>
          </a:prstGeom>
          <a:noFill/>
          <a:ln/>
        </p:spPr>
        <p:txBody>
          <a:bodyPr wrap="square" lIns="0" tIns="0" rIns="0" bIns="0" rtlCol="0" anchor="ctr"/>
          <a:lstStyle/>
          <a:p>
            <a:pPr marL="0" indent="0" algn="l">
              <a:buNone/>
            </a:pPr>
            <a:r>
              <a:rPr lang="en-US" sz="3400" b="1" dirty="0">
                <a:solidFill>
                  <a:srgbClr val="FFFFFF"/>
                </a:solidFill>
                <a:latin typeface="Calibri" pitchFamily="34" charset="0"/>
                <a:ea typeface="Calibri" pitchFamily="34" charset="-122"/>
                <a:cs typeface="Calibri" pitchFamily="34" charset="-120"/>
              </a:rPr>
              <a:t>Sincronización y Relojes</a:t>
            </a:r>
            <a:endParaRPr lang="en-US" sz="3400" dirty="0"/>
          </a:p>
          <a:p>
            <a:pPr marL="0" indent="0" algn="l">
              <a:buNone/>
            </a:pPr>
            <a:r>
              <a:rPr lang="en-US" sz="3400" b="1" dirty="0">
                <a:solidFill>
                  <a:srgbClr val="FFFFFF"/>
                </a:solidFill>
                <a:latin typeface="Calibri" pitchFamily="34" charset="0"/>
                <a:ea typeface="Calibri" pitchFamily="34" charset="-122"/>
                <a:cs typeface="Calibri" pitchFamily="34" charset="-120"/>
              </a:rPr>
              <a:t>Lógicos de Lamport</a:t>
            </a:r>
            <a:endParaRPr lang="en-US" sz="3400" dirty="0"/>
          </a:p>
        </p:txBody>
      </p:sp>
      <p:sp>
        <p:nvSpPr>
          <p:cNvPr id="4" name="Text 2"/>
          <p:cNvSpPr/>
          <p:nvPr/>
        </p:nvSpPr>
        <p:spPr>
          <a:xfrm>
            <a:off x="2011680" y="1965960"/>
            <a:ext cx="6858000" cy="411480"/>
          </a:xfrm>
          <a:prstGeom prst="rect">
            <a:avLst/>
          </a:prstGeom>
          <a:noFill/>
          <a:ln/>
        </p:spPr>
        <p:txBody>
          <a:bodyPr wrap="square" lIns="0" tIns="0" rIns="0" bIns="0" rtlCol="0" anchor="t"/>
          <a:lstStyle/>
          <a:p>
            <a:pPr marL="0" indent="0" algn="l">
              <a:buNone/>
            </a:pPr>
            <a:r>
              <a:rPr lang="en-US" sz="1500" dirty="0">
                <a:solidFill>
                  <a:srgbClr val="14A0A7"/>
                </a:solidFill>
                <a:latin typeface="Calibri" pitchFamily="34" charset="0"/>
                <a:ea typeface="Calibri" pitchFamily="34" charset="-122"/>
                <a:cs typeface="Calibri" pitchFamily="34" charset="-120"/>
              </a:rPr>
              <a:t>El tiempo en sistemas distribuidos no existe como lo conocemos</a:t>
            </a:r>
            <a:endParaRPr lang="en-US" sz="1500" dirty="0"/>
          </a:p>
        </p:txBody>
      </p:sp>
      <p:sp>
        <p:nvSpPr>
          <p:cNvPr id="5" name="Shape 3"/>
          <p:cNvSpPr/>
          <p:nvPr/>
        </p:nvSpPr>
        <p:spPr>
          <a:xfrm>
            <a:off x="2011680" y="2606040"/>
            <a:ext cx="1645920" cy="292608"/>
          </a:xfrm>
          <a:prstGeom prst="rect">
            <a:avLst/>
          </a:prstGeom>
          <a:solidFill>
            <a:srgbClr val="0D7377"/>
          </a:solidFill>
          <a:ln w="12700">
            <a:solidFill>
              <a:srgbClr val="0D7377"/>
            </a:solidFill>
            <a:prstDash val="solid"/>
          </a:ln>
        </p:spPr>
      </p:sp>
      <p:sp>
        <p:nvSpPr>
          <p:cNvPr id="6" name="Text 4"/>
          <p:cNvSpPr/>
          <p:nvPr/>
        </p:nvSpPr>
        <p:spPr>
          <a:xfrm>
            <a:off x="2011680" y="2606040"/>
            <a:ext cx="164592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Sucede-antes →</a:t>
            </a:r>
            <a:endParaRPr lang="en-US" sz="1100" dirty="0"/>
          </a:p>
        </p:txBody>
      </p:sp>
      <p:sp>
        <p:nvSpPr>
          <p:cNvPr id="7" name="Shape 5"/>
          <p:cNvSpPr/>
          <p:nvPr/>
        </p:nvSpPr>
        <p:spPr>
          <a:xfrm>
            <a:off x="3767328" y="2606040"/>
            <a:ext cx="1280160" cy="292608"/>
          </a:xfrm>
          <a:prstGeom prst="rect">
            <a:avLst/>
          </a:prstGeom>
          <a:solidFill>
            <a:srgbClr val="0D7377"/>
          </a:solidFill>
          <a:ln w="12700">
            <a:solidFill>
              <a:srgbClr val="0D7377"/>
            </a:solidFill>
            <a:prstDash val="solid"/>
          </a:ln>
        </p:spPr>
      </p:sp>
      <p:sp>
        <p:nvSpPr>
          <p:cNvPr id="8" name="Text 6"/>
          <p:cNvSpPr/>
          <p:nvPr/>
        </p:nvSpPr>
        <p:spPr>
          <a:xfrm>
            <a:off x="3767328" y="2606040"/>
            <a:ext cx="128016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Reloj Lógico</a:t>
            </a:r>
            <a:endParaRPr lang="en-US" sz="1100" dirty="0"/>
          </a:p>
        </p:txBody>
      </p:sp>
      <p:sp>
        <p:nvSpPr>
          <p:cNvPr id="9" name="Shape 7"/>
          <p:cNvSpPr/>
          <p:nvPr/>
        </p:nvSpPr>
        <p:spPr>
          <a:xfrm>
            <a:off x="5157216" y="2606040"/>
            <a:ext cx="1097280" cy="292608"/>
          </a:xfrm>
          <a:prstGeom prst="rect">
            <a:avLst/>
          </a:prstGeom>
          <a:solidFill>
            <a:srgbClr val="0D7377"/>
          </a:solidFill>
          <a:ln w="12700">
            <a:solidFill>
              <a:srgbClr val="0D7377"/>
            </a:solidFill>
            <a:prstDash val="solid"/>
          </a:ln>
        </p:spPr>
      </p:sp>
      <p:sp>
        <p:nvSpPr>
          <p:cNvPr id="10" name="Text 8"/>
          <p:cNvSpPr/>
          <p:nvPr/>
        </p:nvSpPr>
        <p:spPr>
          <a:xfrm>
            <a:off x="5157216" y="2606040"/>
            <a:ext cx="109728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Causalidad</a:t>
            </a:r>
            <a:endParaRPr lang="en-US" sz="1100" dirty="0"/>
          </a:p>
        </p:txBody>
      </p:sp>
      <p:sp>
        <p:nvSpPr>
          <p:cNvPr id="11" name="Shape 9"/>
          <p:cNvSpPr/>
          <p:nvPr/>
        </p:nvSpPr>
        <p:spPr>
          <a:xfrm>
            <a:off x="6364224" y="2606040"/>
            <a:ext cx="1280160" cy="292608"/>
          </a:xfrm>
          <a:prstGeom prst="rect">
            <a:avLst/>
          </a:prstGeom>
          <a:solidFill>
            <a:srgbClr val="0D7377"/>
          </a:solidFill>
          <a:ln w="12700">
            <a:solidFill>
              <a:srgbClr val="0D7377"/>
            </a:solidFill>
            <a:prstDash val="solid"/>
          </a:ln>
        </p:spPr>
      </p:sp>
      <p:sp>
        <p:nvSpPr>
          <p:cNvPr id="12" name="Text 10"/>
          <p:cNvSpPr/>
          <p:nvPr/>
        </p:nvSpPr>
        <p:spPr>
          <a:xfrm>
            <a:off x="6364224" y="2606040"/>
            <a:ext cx="1280160" cy="29260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Lamport 1978</a:t>
            </a:r>
            <a:endParaRPr lang="en-US" sz="1100" dirty="0"/>
          </a:p>
        </p:txBody>
      </p:sp>
      <p:sp>
        <p:nvSpPr>
          <p:cNvPr id="13" name="Shape 11"/>
          <p:cNvSpPr/>
          <p:nvPr/>
        </p:nvSpPr>
        <p:spPr>
          <a:xfrm>
            <a:off x="0" y="4892040"/>
            <a:ext cx="9144000" cy="251460"/>
          </a:xfrm>
          <a:prstGeom prst="rect">
            <a:avLst/>
          </a:prstGeom>
          <a:solidFill>
            <a:srgbClr val="0D1B40"/>
          </a:solidFill>
          <a:ln w="12700">
            <a:solidFill>
              <a:srgbClr val="0D1B40"/>
            </a:solidFill>
            <a:prstDash val="solid"/>
          </a:ln>
        </p:spPr>
      </p:sp>
      <p:sp>
        <p:nvSpPr>
          <p:cNvPr id="14" name="Text 12"/>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04 · Sincronización</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El Problema del Tiempo</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¿Por qué los Relojes Físicos No Son Suficientes?</a:t>
            </a:r>
            <a:endParaRPr lang="en-US" sz="2000" dirty="0"/>
          </a:p>
        </p:txBody>
      </p:sp>
      <p:sp>
        <p:nvSpPr>
          <p:cNvPr id="7" name="Shape 5"/>
          <p:cNvSpPr/>
          <p:nvPr/>
        </p:nvSpPr>
        <p:spPr>
          <a:xfrm>
            <a:off x="365760" y="1024128"/>
            <a:ext cx="8412480" cy="155448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Text 6"/>
          <p:cNvSpPr/>
          <p:nvPr/>
        </p:nvSpPr>
        <p:spPr>
          <a:xfrm>
            <a:off x="548640" y="1051560"/>
            <a:ext cx="7772400" cy="274320"/>
          </a:xfrm>
          <a:prstGeom prst="rect">
            <a:avLst/>
          </a:prstGeom>
          <a:noFill/>
          <a:ln/>
        </p:spPr>
        <p:txBody>
          <a:bodyPr wrap="square" lIns="0" tIns="0" rIns="0" bIns="0" rtlCol="0" anchor="ctr"/>
          <a:lstStyle/>
          <a:p>
            <a:pPr marL="0" indent="0" algn="l">
              <a:buNone/>
            </a:pPr>
            <a:r>
              <a:rPr lang="en-US" sz="1300" b="1" dirty="0">
                <a:solidFill>
                  <a:srgbClr val="0D1B40"/>
                </a:solidFill>
                <a:latin typeface="Calibri" pitchFamily="34" charset="0"/>
                <a:ea typeface="Calibri" pitchFamily="34" charset="-122"/>
                <a:cs typeface="Calibri" pitchFamily="34" charset="-120"/>
              </a:rPr>
              <a:t>Escenario: Transferencia Bancaria entre Dos Nodos</a:t>
            </a:r>
            <a:endParaRPr lang="en-US" sz="1300" dirty="0"/>
          </a:p>
        </p:txBody>
      </p:sp>
      <p:sp>
        <p:nvSpPr>
          <p:cNvPr id="9" name="Shape 7"/>
          <p:cNvSpPr/>
          <p:nvPr/>
        </p:nvSpPr>
        <p:spPr>
          <a:xfrm>
            <a:off x="548640" y="1417320"/>
            <a:ext cx="731520" cy="320040"/>
          </a:xfrm>
          <a:prstGeom prst="rect">
            <a:avLst/>
          </a:prstGeom>
          <a:solidFill>
            <a:srgbClr val="1A2D6B"/>
          </a:solidFill>
          <a:ln w="12700">
            <a:solidFill>
              <a:srgbClr val="1A2D6B"/>
            </a:solidFill>
            <a:prstDash val="solid"/>
          </a:ln>
        </p:spPr>
      </p:sp>
      <p:sp>
        <p:nvSpPr>
          <p:cNvPr id="10" name="Text 8"/>
          <p:cNvSpPr/>
          <p:nvPr/>
        </p:nvSpPr>
        <p:spPr>
          <a:xfrm>
            <a:off x="548640" y="1417320"/>
            <a:ext cx="731520" cy="320040"/>
          </a:xfrm>
          <a:prstGeom prst="rect">
            <a:avLst/>
          </a:prstGeom>
          <a:noFill/>
          <a:ln/>
        </p:spPr>
        <p:txBody>
          <a:bodyPr wrap="square" lIns="0" tIns="0" rIns="0" bIns="0" rtlCol="0" anchor="ctr"/>
          <a:lstStyle/>
          <a:p>
            <a:pPr marL="0" indent="0" algn="ctr">
              <a:buNone/>
            </a:pPr>
            <a:r>
              <a:rPr lang="en-US" sz="800" dirty="0">
                <a:solidFill>
                  <a:srgbClr val="FFFFFF"/>
                </a:solidFill>
              </a:rPr>
              <a:t>Nodo A</a:t>
            </a:r>
            <a:endParaRPr lang="en-US" sz="800" dirty="0"/>
          </a:p>
          <a:p>
            <a:pPr marL="0" indent="0" algn="ctr">
              <a:buNone/>
            </a:pPr>
            <a:r>
              <a:rPr lang="en-US" sz="800" dirty="0">
                <a:solidFill>
                  <a:srgbClr val="FFFFFF"/>
                </a:solidFill>
              </a:rPr>
              <a:t>(Quito)</a:t>
            </a:r>
            <a:endParaRPr lang="en-US" sz="800" dirty="0"/>
          </a:p>
        </p:txBody>
      </p:sp>
      <p:sp>
        <p:nvSpPr>
          <p:cNvPr id="11" name="Shape 9"/>
          <p:cNvSpPr/>
          <p:nvPr/>
        </p:nvSpPr>
        <p:spPr>
          <a:xfrm>
            <a:off x="1325880" y="1572768"/>
            <a:ext cx="6858000" cy="0"/>
          </a:xfrm>
          <a:prstGeom prst="line">
            <a:avLst/>
          </a:prstGeom>
          <a:noFill/>
          <a:ln w="19050">
            <a:solidFill>
              <a:srgbClr val="1A2D6B"/>
            </a:solidFill>
            <a:prstDash val="solid"/>
          </a:ln>
        </p:spPr>
      </p:sp>
      <p:sp>
        <p:nvSpPr>
          <p:cNvPr id="12" name="Shape 10"/>
          <p:cNvSpPr/>
          <p:nvPr/>
        </p:nvSpPr>
        <p:spPr>
          <a:xfrm>
            <a:off x="1783080" y="1481328"/>
            <a:ext cx="91440" cy="182880"/>
          </a:xfrm>
          <a:prstGeom prst="rect">
            <a:avLst/>
          </a:prstGeom>
          <a:solidFill>
            <a:srgbClr val="DC2626"/>
          </a:solidFill>
          <a:ln w="12700">
            <a:solidFill>
              <a:srgbClr val="DC2626"/>
            </a:solidFill>
            <a:prstDash val="solid"/>
          </a:ln>
        </p:spPr>
      </p:sp>
      <p:sp>
        <p:nvSpPr>
          <p:cNvPr id="13" name="Text 11"/>
          <p:cNvSpPr/>
          <p:nvPr/>
        </p:nvSpPr>
        <p:spPr>
          <a:xfrm>
            <a:off x="1508760" y="1673352"/>
            <a:ext cx="731520" cy="320040"/>
          </a:xfrm>
          <a:prstGeom prst="rect">
            <a:avLst/>
          </a:prstGeom>
          <a:noFill/>
          <a:ln/>
        </p:spPr>
        <p:txBody>
          <a:bodyPr wrap="square" lIns="0" tIns="0" rIns="0" bIns="0" rtlCol="0" anchor="ctr"/>
          <a:lstStyle/>
          <a:p>
            <a:pPr marL="0" indent="0" algn="ctr">
              <a:buNone/>
            </a:pPr>
            <a:r>
              <a:rPr lang="en-US" sz="750" dirty="0">
                <a:solidFill>
                  <a:srgbClr val="334155"/>
                </a:solidFill>
              </a:rPr>
              <a:t>10:00:00.000</a:t>
            </a:r>
            <a:endParaRPr lang="en-US" sz="750" dirty="0"/>
          </a:p>
          <a:p>
            <a:pPr marL="0" indent="0" algn="ctr">
              <a:buNone/>
            </a:pPr>
            <a:r>
              <a:rPr lang="en-US" sz="750" dirty="0">
                <a:solidFill>
                  <a:srgbClr val="334155"/>
                </a:solidFill>
              </a:rPr>
              <a:t>retiro $500</a:t>
            </a:r>
            <a:endParaRPr lang="en-US" sz="750" dirty="0"/>
          </a:p>
        </p:txBody>
      </p:sp>
      <p:sp>
        <p:nvSpPr>
          <p:cNvPr id="14" name="Shape 12"/>
          <p:cNvSpPr/>
          <p:nvPr/>
        </p:nvSpPr>
        <p:spPr>
          <a:xfrm>
            <a:off x="4983480" y="1481328"/>
            <a:ext cx="91440" cy="182880"/>
          </a:xfrm>
          <a:prstGeom prst="rect">
            <a:avLst/>
          </a:prstGeom>
          <a:solidFill>
            <a:srgbClr val="DC2626"/>
          </a:solidFill>
          <a:ln w="12700">
            <a:solidFill>
              <a:srgbClr val="DC2626"/>
            </a:solidFill>
            <a:prstDash val="solid"/>
          </a:ln>
        </p:spPr>
      </p:sp>
      <p:sp>
        <p:nvSpPr>
          <p:cNvPr id="15" name="Text 13"/>
          <p:cNvSpPr/>
          <p:nvPr/>
        </p:nvSpPr>
        <p:spPr>
          <a:xfrm>
            <a:off x="4709160" y="1673352"/>
            <a:ext cx="731520" cy="320040"/>
          </a:xfrm>
          <a:prstGeom prst="rect">
            <a:avLst/>
          </a:prstGeom>
          <a:noFill/>
          <a:ln/>
        </p:spPr>
        <p:txBody>
          <a:bodyPr wrap="square" lIns="0" tIns="0" rIns="0" bIns="0" rtlCol="0" anchor="ctr"/>
          <a:lstStyle/>
          <a:p>
            <a:pPr marL="0" indent="0" algn="ctr">
              <a:buNone/>
            </a:pPr>
            <a:r>
              <a:rPr lang="en-US" sz="750" dirty="0">
                <a:solidFill>
                  <a:srgbClr val="334155"/>
                </a:solidFill>
              </a:rPr>
              <a:t>10:00:00.150</a:t>
            </a:r>
            <a:endParaRPr lang="en-US" sz="750" dirty="0"/>
          </a:p>
          <a:p>
            <a:pPr marL="0" indent="0" algn="ctr">
              <a:buNone/>
            </a:pPr>
            <a:r>
              <a:rPr lang="en-US" sz="750" dirty="0">
                <a:solidFill>
                  <a:srgbClr val="334155"/>
                </a:solidFill>
              </a:rPr>
              <a:t>confirma</a:t>
            </a:r>
            <a:endParaRPr lang="en-US" sz="750" dirty="0"/>
          </a:p>
        </p:txBody>
      </p:sp>
      <p:sp>
        <p:nvSpPr>
          <p:cNvPr id="16" name="Shape 14"/>
          <p:cNvSpPr/>
          <p:nvPr/>
        </p:nvSpPr>
        <p:spPr>
          <a:xfrm>
            <a:off x="548640" y="1920240"/>
            <a:ext cx="731520" cy="320040"/>
          </a:xfrm>
          <a:prstGeom prst="rect">
            <a:avLst/>
          </a:prstGeom>
          <a:solidFill>
            <a:srgbClr val="0D7377"/>
          </a:solidFill>
          <a:ln w="12700">
            <a:solidFill>
              <a:srgbClr val="0D7377"/>
            </a:solidFill>
            <a:prstDash val="solid"/>
          </a:ln>
        </p:spPr>
      </p:sp>
      <p:sp>
        <p:nvSpPr>
          <p:cNvPr id="17" name="Text 15"/>
          <p:cNvSpPr/>
          <p:nvPr/>
        </p:nvSpPr>
        <p:spPr>
          <a:xfrm>
            <a:off x="548640" y="1920240"/>
            <a:ext cx="731520" cy="320040"/>
          </a:xfrm>
          <a:prstGeom prst="rect">
            <a:avLst/>
          </a:prstGeom>
          <a:noFill/>
          <a:ln/>
        </p:spPr>
        <p:txBody>
          <a:bodyPr wrap="square" lIns="0" tIns="0" rIns="0" bIns="0" rtlCol="0" anchor="ctr"/>
          <a:lstStyle/>
          <a:p>
            <a:pPr marL="0" indent="0" algn="ctr">
              <a:buNone/>
            </a:pPr>
            <a:r>
              <a:rPr lang="en-US" sz="800" dirty="0">
                <a:solidFill>
                  <a:srgbClr val="FFFFFF"/>
                </a:solidFill>
              </a:rPr>
              <a:t>Nodo B</a:t>
            </a:r>
            <a:endParaRPr lang="en-US" sz="800" dirty="0"/>
          </a:p>
          <a:p>
            <a:pPr marL="0" indent="0" algn="ctr">
              <a:buNone/>
            </a:pPr>
            <a:r>
              <a:rPr lang="en-US" sz="800" dirty="0">
                <a:solidFill>
                  <a:srgbClr val="FFFFFF"/>
                </a:solidFill>
              </a:rPr>
              <a:t>(Guayaquil)</a:t>
            </a:r>
            <a:endParaRPr lang="en-US" sz="800" dirty="0"/>
          </a:p>
        </p:txBody>
      </p:sp>
      <p:sp>
        <p:nvSpPr>
          <p:cNvPr id="18" name="Shape 16"/>
          <p:cNvSpPr/>
          <p:nvPr/>
        </p:nvSpPr>
        <p:spPr>
          <a:xfrm>
            <a:off x="1325880" y="2075688"/>
            <a:ext cx="6858000" cy="0"/>
          </a:xfrm>
          <a:prstGeom prst="line">
            <a:avLst/>
          </a:prstGeom>
          <a:noFill/>
          <a:ln w="19050">
            <a:solidFill>
              <a:srgbClr val="0D7377"/>
            </a:solidFill>
            <a:prstDash val="solid"/>
          </a:ln>
        </p:spPr>
      </p:sp>
      <p:sp>
        <p:nvSpPr>
          <p:cNvPr id="19" name="Shape 17"/>
          <p:cNvSpPr/>
          <p:nvPr/>
        </p:nvSpPr>
        <p:spPr>
          <a:xfrm>
            <a:off x="2880360" y="1984248"/>
            <a:ext cx="91440" cy="182880"/>
          </a:xfrm>
          <a:prstGeom prst="rect">
            <a:avLst/>
          </a:prstGeom>
          <a:solidFill>
            <a:srgbClr val="F59E0B"/>
          </a:solidFill>
          <a:ln w="12700">
            <a:solidFill>
              <a:srgbClr val="F59E0B"/>
            </a:solidFill>
            <a:prstDash val="solid"/>
          </a:ln>
        </p:spPr>
      </p:sp>
      <p:sp>
        <p:nvSpPr>
          <p:cNvPr id="20" name="Text 18"/>
          <p:cNvSpPr/>
          <p:nvPr/>
        </p:nvSpPr>
        <p:spPr>
          <a:xfrm>
            <a:off x="2606040" y="2176272"/>
            <a:ext cx="731520" cy="320040"/>
          </a:xfrm>
          <a:prstGeom prst="rect">
            <a:avLst/>
          </a:prstGeom>
          <a:noFill/>
          <a:ln/>
        </p:spPr>
        <p:txBody>
          <a:bodyPr wrap="square" lIns="0" tIns="0" rIns="0" bIns="0" rtlCol="0" anchor="ctr"/>
          <a:lstStyle/>
          <a:p>
            <a:pPr marL="0" indent="0" algn="ctr">
              <a:buNone/>
            </a:pPr>
            <a:r>
              <a:rPr lang="en-US" sz="750" dirty="0">
                <a:solidFill>
                  <a:srgbClr val="334155"/>
                </a:solidFill>
              </a:rPr>
              <a:t>10:00:00.180</a:t>
            </a:r>
            <a:endParaRPr lang="en-US" sz="750" dirty="0"/>
          </a:p>
          <a:p>
            <a:pPr marL="0" indent="0" algn="ctr">
              <a:buNone/>
            </a:pPr>
            <a:r>
              <a:rPr lang="en-US" sz="750" dirty="0">
                <a:solidFill>
                  <a:srgbClr val="334155"/>
                </a:solidFill>
              </a:rPr>
              <a:t>consulta saldo</a:t>
            </a:r>
            <a:endParaRPr lang="en-US" sz="750" dirty="0"/>
          </a:p>
        </p:txBody>
      </p:sp>
      <p:sp>
        <p:nvSpPr>
          <p:cNvPr id="21" name="Shape 19"/>
          <p:cNvSpPr/>
          <p:nvPr/>
        </p:nvSpPr>
        <p:spPr>
          <a:xfrm>
            <a:off x="5623560" y="1984248"/>
            <a:ext cx="91440" cy="182880"/>
          </a:xfrm>
          <a:prstGeom prst="rect">
            <a:avLst/>
          </a:prstGeom>
          <a:solidFill>
            <a:srgbClr val="F59E0B"/>
          </a:solidFill>
          <a:ln w="12700">
            <a:solidFill>
              <a:srgbClr val="F59E0B"/>
            </a:solidFill>
            <a:prstDash val="solid"/>
          </a:ln>
        </p:spPr>
      </p:sp>
      <p:sp>
        <p:nvSpPr>
          <p:cNvPr id="22" name="Text 20"/>
          <p:cNvSpPr/>
          <p:nvPr/>
        </p:nvSpPr>
        <p:spPr>
          <a:xfrm>
            <a:off x="5349240" y="2176272"/>
            <a:ext cx="731520" cy="320040"/>
          </a:xfrm>
          <a:prstGeom prst="rect">
            <a:avLst/>
          </a:prstGeom>
          <a:noFill/>
          <a:ln/>
        </p:spPr>
        <p:txBody>
          <a:bodyPr wrap="square" lIns="0" tIns="0" rIns="0" bIns="0" rtlCol="0" anchor="ctr"/>
          <a:lstStyle/>
          <a:p>
            <a:pPr marL="0" indent="0" algn="ctr">
              <a:buNone/>
            </a:pPr>
            <a:r>
              <a:rPr lang="en-US" sz="750" dirty="0">
                <a:solidFill>
                  <a:srgbClr val="334155"/>
                </a:solidFill>
              </a:rPr>
              <a:t>10:00:00.220</a:t>
            </a:r>
            <a:endParaRPr lang="en-US" sz="750" dirty="0"/>
          </a:p>
          <a:p>
            <a:pPr marL="0" indent="0" algn="ctr">
              <a:buNone/>
            </a:pPr>
            <a:r>
              <a:rPr lang="en-US" sz="750" dirty="0">
                <a:solidFill>
                  <a:srgbClr val="334155"/>
                </a:solidFill>
              </a:rPr>
              <a:t>crédito $500</a:t>
            </a:r>
            <a:endParaRPr lang="en-US" sz="750" dirty="0"/>
          </a:p>
        </p:txBody>
      </p:sp>
      <p:sp>
        <p:nvSpPr>
          <p:cNvPr id="23" name="Shape 21"/>
          <p:cNvSpPr/>
          <p:nvPr/>
        </p:nvSpPr>
        <p:spPr>
          <a:xfrm>
            <a:off x="365760" y="2651760"/>
            <a:ext cx="8412480" cy="502920"/>
          </a:xfrm>
          <a:prstGeom prst="rect">
            <a:avLst/>
          </a:prstGeom>
          <a:solidFill>
            <a:srgbClr val="FEF3C7"/>
          </a:solidFill>
          <a:ln w="12700">
            <a:solidFill>
              <a:srgbClr val="FEF3C7"/>
            </a:solidFill>
            <a:prstDash val="solid"/>
          </a:ln>
        </p:spPr>
      </p:sp>
      <p:sp>
        <p:nvSpPr>
          <p:cNvPr id="24" name="Text 22"/>
          <p:cNvSpPr/>
          <p:nvPr/>
        </p:nvSpPr>
        <p:spPr>
          <a:xfrm>
            <a:off x="502920" y="2651760"/>
            <a:ext cx="8138160" cy="502920"/>
          </a:xfrm>
          <a:prstGeom prst="rect">
            <a:avLst/>
          </a:prstGeom>
          <a:noFill/>
          <a:ln/>
        </p:spPr>
        <p:txBody>
          <a:bodyPr wrap="square" lIns="38100" tIns="38100" rIns="38100" bIns="38100" rtlCol="0" anchor="ctr"/>
          <a:lstStyle/>
          <a:p>
            <a:pPr marL="0" indent="0" algn="l">
              <a:buNone/>
            </a:pPr>
            <a:r>
              <a:rPr lang="en-US" sz="1050" dirty="0">
                <a:solidFill>
                  <a:srgbClr val="7B3F00"/>
                </a:solidFill>
                <a:latin typeface="Calibri" pitchFamily="34" charset="0"/>
                <a:ea typeface="Calibri" pitchFamily="34" charset="-122"/>
                <a:cs typeface="Calibri" pitchFamily="34" charset="-120"/>
              </a:rPr>
              <a:t>⚠  Problema: Si el reloj de B está 200 ms adelantado, la consulta de saldo en B (10:00:00.180) parece ocurrir ANTES del retiro en A (10:00:00.000 + latencia). El sistema podría autorizar un sobregiro.</a:t>
            </a:r>
            <a:endParaRPr lang="en-US" sz="1050" dirty="0"/>
          </a:p>
        </p:txBody>
      </p:sp>
      <p:sp>
        <p:nvSpPr>
          <p:cNvPr id="25" name="Shape 23"/>
          <p:cNvSpPr/>
          <p:nvPr/>
        </p:nvSpPr>
        <p:spPr>
          <a:xfrm>
            <a:off x="365760" y="3246120"/>
            <a:ext cx="2651760" cy="1572768"/>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26" name="Shape 24"/>
          <p:cNvSpPr/>
          <p:nvPr/>
        </p:nvSpPr>
        <p:spPr>
          <a:xfrm>
            <a:off x="365760" y="3246120"/>
            <a:ext cx="320040" cy="1572768"/>
          </a:xfrm>
          <a:prstGeom prst="rect">
            <a:avLst/>
          </a:prstGeom>
          <a:solidFill>
            <a:srgbClr val="DC2626"/>
          </a:solidFill>
          <a:ln w="12700">
            <a:solidFill>
              <a:srgbClr val="DC2626"/>
            </a:solidFill>
            <a:prstDash val="solid"/>
          </a:ln>
        </p:spPr>
      </p:sp>
      <p:sp>
        <p:nvSpPr>
          <p:cNvPr id="27" name="Text 25"/>
          <p:cNvSpPr/>
          <p:nvPr/>
        </p:nvSpPr>
        <p:spPr>
          <a:xfrm>
            <a:off x="365760" y="3246120"/>
            <a:ext cx="320040" cy="457200"/>
          </a:xfrm>
          <a:prstGeom prst="rect">
            <a:avLst/>
          </a:prstGeom>
          <a:noFill/>
          <a:ln/>
        </p:spPr>
        <p:txBody>
          <a:bodyPr wrap="square" lIns="0" tIns="0" rIns="0" bIns="0" rtlCol="0" anchor="ctr"/>
          <a:lstStyle/>
          <a:p>
            <a:pPr marL="0" indent="0" algn="ctr">
              <a:buNone/>
            </a:pPr>
            <a:r>
              <a:rPr lang="en-US" sz="1800" dirty="0">
                <a:solidFill>
                  <a:srgbClr val="FFFFFF"/>
                </a:solidFill>
              </a:rPr>
              <a:t>⊗</a:t>
            </a:r>
            <a:endParaRPr lang="en-US" sz="1800" dirty="0"/>
          </a:p>
        </p:txBody>
      </p:sp>
      <p:sp>
        <p:nvSpPr>
          <p:cNvPr id="28" name="Text 26"/>
          <p:cNvSpPr/>
          <p:nvPr/>
        </p:nvSpPr>
        <p:spPr>
          <a:xfrm>
            <a:off x="749808" y="3273552"/>
            <a:ext cx="2148840" cy="320040"/>
          </a:xfrm>
          <a:prstGeom prst="rect">
            <a:avLst/>
          </a:prstGeom>
          <a:noFill/>
          <a:ln/>
        </p:spPr>
        <p:txBody>
          <a:bodyPr wrap="square" lIns="0" tIns="0" rIns="0" bIns="0" rtlCol="0" anchor="ctr"/>
          <a:lstStyle/>
          <a:p>
            <a:pPr marL="0" indent="0" algn="l">
              <a:buNone/>
            </a:pPr>
            <a:r>
              <a:rPr lang="en-US" sz="1150" b="1" dirty="0">
                <a:solidFill>
                  <a:srgbClr val="DC2626"/>
                </a:solidFill>
                <a:latin typeface="Calibri" pitchFamily="34" charset="0"/>
                <a:ea typeface="Calibri" pitchFamily="34" charset="-122"/>
                <a:cs typeface="Calibri" pitchFamily="34" charset="-120"/>
              </a:rPr>
              <a:t>NTP no es suficiente</a:t>
            </a:r>
            <a:endParaRPr lang="en-US" sz="1150" dirty="0"/>
          </a:p>
        </p:txBody>
      </p:sp>
      <p:sp>
        <p:nvSpPr>
          <p:cNvPr id="29" name="Text 27"/>
          <p:cNvSpPr/>
          <p:nvPr/>
        </p:nvSpPr>
        <p:spPr>
          <a:xfrm>
            <a:off x="749808" y="3639312"/>
            <a:ext cx="2176272" cy="1097280"/>
          </a:xfrm>
          <a:prstGeom prst="rect">
            <a:avLst/>
          </a:prstGeom>
          <a:noFill/>
          <a:ln/>
        </p:spPr>
        <p:txBody>
          <a:bodyPr wrap="square" lIns="0" tIns="0" rIns="0" bIns="0" rtlCol="0" anchor="t"/>
          <a:lstStyle/>
          <a:p>
            <a:pPr marL="0" indent="0" algn="l">
              <a:buNone/>
            </a:pPr>
            <a:r>
              <a:rPr lang="en-US" sz="1000" dirty="0">
                <a:solidFill>
                  <a:srgbClr val="334155"/>
                </a:solidFill>
                <a:latin typeface="Calibri" pitchFamily="34" charset="0"/>
                <a:ea typeface="Calibri" pitchFamily="34" charset="-122"/>
                <a:cs typeface="Calibri" pitchFamily="34" charset="-120"/>
              </a:rPr>
              <a:t>Sincronización típica: ±10ms en LAN, ±100ms en WAN. Inaceptable para ordenar eventos sub-milisegundo en sistemas financieros.</a:t>
            </a:r>
            <a:endParaRPr lang="en-US" sz="1000" dirty="0"/>
          </a:p>
        </p:txBody>
      </p:sp>
      <p:sp>
        <p:nvSpPr>
          <p:cNvPr id="30" name="Shape 28"/>
          <p:cNvSpPr/>
          <p:nvPr/>
        </p:nvSpPr>
        <p:spPr>
          <a:xfrm>
            <a:off x="3172968" y="3246120"/>
            <a:ext cx="2651760" cy="1572768"/>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1" name="Shape 29"/>
          <p:cNvSpPr/>
          <p:nvPr/>
        </p:nvSpPr>
        <p:spPr>
          <a:xfrm>
            <a:off x="3172968" y="3246120"/>
            <a:ext cx="320040" cy="1572768"/>
          </a:xfrm>
          <a:prstGeom prst="rect">
            <a:avLst/>
          </a:prstGeom>
          <a:solidFill>
            <a:srgbClr val="0D7377"/>
          </a:solidFill>
          <a:ln w="12700">
            <a:solidFill>
              <a:srgbClr val="0D7377"/>
            </a:solidFill>
            <a:prstDash val="solid"/>
          </a:ln>
        </p:spPr>
      </p:sp>
      <p:sp>
        <p:nvSpPr>
          <p:cNvPr id="32" name="Text 30"/>
          <p:cNvSpPr/>
          <p:nvPr/>
        </p:nvSpPr>
        <p:spPr>
          <a:xfrm>
            <a:off x="3172968" y="3246120"/>
            <a:ext cx="320040" cy="457200"/>
          </a:xfrm>
          <a:prstGeom prst="rect">
            <a:avLst/>
          </a:prstGeom>
          <a:noFill/>
          <a:ln/>
        </p:spPr>
        <p:txBody>
          <a:bodyPr wrap="square" lIns="0" tIns="0" rIns="0" bIns="0" rtlCol="0" anchor="ctr"/>
          <a:lstStyle/>
          <a:p>
            <a:pPr marL="0" indent="0" algn="ctr">
              <a:buNone/>
            </a:pPr>
            <a:r>
              <a:rPr lang="en-US" sz="1800" dirty="0">
                <a:solidFill>
                  <a:srgbClr val="FFFFFF"/>
                </a:solidFill>
              </a:rPr>
              <a:t>⊕</a:t>
            </a:r>
            <a:endParaRPr lang="en-US" sz="1800" dirty="0"/>
          </a:p>
        </p:txBody>
      </p:sp>
      <p:sp>
        <p:nvSpPr>
          <p:cNvPr id="33" name="Text 31"/>
          <p:cNvSpPr/>
          <p:nvPr/>
        </p:nvSpPr>
        <p:spPr>
          <a:xfrm>
            <a:off x="3557016" y="3273552"/>
            <a:ext cx="2148840" cy="320040"/>
          </a:xfrm>
          <a:prstGeom prst="rect">
            <a:avLst/>
          </a:prstGeom>
          <a:noFill/>
          <a:ln/>
        </p:spPr>
        <p:txBody>
          <a:bodyPr wrap="square" lIns="0" tIns="0" rIns="0" bIns="0" rtlCol="0" anchor="ctr"/>
          <a:lstStyle/>
          <a:p>
            <a:pPr marL="0" indent="0" algn="l">
              <a:buNone/>
            </a:pPr>
            <a:r>
              <a:rPr lang="en-US" sz="1150" b="1" dirty="0">
                <a:solidFill>
                  <a:srgbClr val="0D7377"/>
                </a:solidFill>
                <a:latin typeface="Calibri" pitchFamily="34" charset="0"/>
                <a:ea typeface="Calibri" pitchFamily="34" charset="-122"/>
                <a:cs typeface="Calibri" pitchFamily="34" charset="-120"/>
              </a:rPr>
              <a:t>Solo el orden importa</a:t>
            </a:r>
            <a:endParaRPr lang="en-US" sz="1150" dirty="0"/>
          </a:p>
        </p:txBody>
      </p:sp>
      <p:sp>
        <p:nvSpPr>
          <p:cNvPr id="34" name="Text 32"/>
          <p:cNvSpPr/>
          <p:nvPr/>
        </p:nvSpPr>
        <p:spPr>
          <a:xfrm>
            <a:off x="3557016" y="3639312"/>
            <a:ext cx="2176272" cy="1097280"/>
          </a:xfrm>
          <a:prstGeom prst="rect">
            <a:avLst/>
          </a:prstGeom>
          <a:noFill/>
          <a:ln/>
        </p:spPr>
        <p:txBody>
          <a:bodyPr wrap="square" lIns="0" tIns="0" rIns="0" bIns="0" rtlCol="0" anchor="t"/>
          <a:lstStyle/>
          <a:p>
            <a:pPr marL="0" indent="0" algn="l">
              <a:buNone/>
            </a:pPr>
            <a:r>
              <a:rPr lang="en-US" sz="1000" dirty="0">
                <a:solidFill>
                  <a:srgbClr val="334155"/>
                </a:solidFill>
                <a:latin typeface="Calibri" pitchFamily="34" charset="0"/>
                <a:ea typeface="Calibri" pitchFamily="34" charset="-122"/>
                <a:cs typeface="Calibri" pitchFamily="34" charset="-120"/>
              </a:rPr>
              <a:t>No necesitamos saber el tiempo exacto. Solo necesitamos saber qué evento CAUSÓ qué otro evento — causalidad, no tiempo físico.</a:t>
            </a:r>
            <a:endParaRPr lang="en-US" sz="1000" dirty="0"/>
          </a:p>
        </p:txBody>
      </p:sp>
      <p:sp>
        <p:nvSpPr>
          <p:cNvPr id="35" name="Shape 33"/>
          <p:cNvSpPr/>
          <p:nvPr/>
        </p:nvSpPr>
        <p:spPr>
          <a:xfrm>
            <a:off x="5980176" y="3246120"/>
            <a:ext cx="2651760" cy="1572768"/>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6" name="Shape 34"/>
          <p:cNvSpPr/>
          <p:nvPr/>
        </p:nvSpPr>
        <p:spPr>
          <a:xfrm>
            <a:off x="5980176" y="3246120"/>
            <a:ext cx="320040" cy="1572768"/>
          </a:xfrm>
          <a:prstGeom prst="rect">
            <a:avLst/>
          </a:prstGeom>
          <a:solidFill>
            <a:srgbClr val="059669"/>
          </a:solidFill>
          <a:ln w="12700">
            <a:solidFill>
              <a:srgbClr val="059669"/>
            </a:solidFill>
            <a:prstDash val="solid"/>
          </a:ln>
        </p:spPr>
      </p:sp>
      <p:sp>
        <p:nvSpPr>
          <p:cNvPr id="37" name="Text 35"/>
          <p:cNvSpPr/>
          <p:nvPr/>
        </p:nvSpPr>
        <p:spPr>
          <a:xfrm>
            <a:off x="5980176" y="3246120"/>
            <a:ext cx="320040" cy="457200"/>
          </a:xfrm>
          <a:prstGeom prst="rect">
            <a:avLst/>
          </a:prstGeom>
          <a:noFill/>
          <a:ln/>
        </p:spPr>
        <p:txBody>
          <a:bodyPr wrap="square" lIns="0" tIns="0" rIns="0" bIns="0" rtlCol="0" anchor="ctr"/>
          <a:lstStyle/>
          <a:p>
            <a:pPr marL="0" indent="0" algn="ctr">
              <a:buNone/>
            </a:pPr>
            <a:r>
              <a:rPr lang="en-US" sz="1800" dirty="0">
                <a:solidFill>
                  <a:srgbClr val="FFFFFF"/>
                </a:solidFill>
              </a:rPr>
              <a:t>✦</a:t>
            </a:r>
            <a:endParaRPr lang="en-US" sz="1800" dirty="0"/>
          </a:p>
        </p:txBody>
      </p:sp>
      <p:sp>
        <p:nvSpPr>
          <p:cNvPr id="38" name="Text 36"/>
          <p:cNvSpPr/>
          <p:nvPr/>
        </p:nvSpPr>
        <p:spPr>
          <a:xfrm>
            <a:off x="6364224" y="3273552"/>
            <a:ext cx="2148840" cy="320040"/>
          </a:xfrm>
          <a:prstGeom prst="rect">
            <a:avLst/>
          </a:prstGeom>
          <a:noFill/>
          <a:ln/>
        </p:spPr>
        <p:txBody>
          <a:bodyPr wrap="square" lIns="0" tIns="0" rIns="0" bIns="0" rtlCol="0" anchor="ctr"/>
          <a:lstStyle/>
          <a:p>
            <a:pPr marL="0" indent="0" algn="l">
              <a:buNone/>
            </a:pPr>
            <a:r>
              <a:rPr lang="en-US" sz="1150" b="1" dirty="0">
                <a:solidFill>
                  <a:srgbClr val="059669"/>
                </a:solidFill>
                <a:latin typeface="Calibri" pitchFamily="34" charset="0"/>
                <a:ea typeface="Calibri" pitchFamily="34" charset="-122"/>
                <a:cs typeface="Calibri" pitchFamily="34" charset="-120"/>
              </a:rPr>
              <a:t>Solución: tiempo lógico</a:t>
            </a:r>
            <a:endParaRPr lang="en-US" sz="1150" dirty="0"/>
          </a:p>
        </p:txBody>
      </p:sp>
      <p:sp>
        <p:nvSpPr>
          <p:cNvPr id="39" name="Text 37"/>
          <p:cNvSpPr/>
          <p:nvPr/>
        </p:nvSpPr>
        <p:spPr>
          <a:xfrm>
            <a:off x="6364224" y="3639312"/>
            <a:ext cx="2176272" cy="1097280"/>
          </a:xfrm>
          <a:prstGeom prst="rect">
            <a:avLst/>
          </a:prstGeom>
          <a:noFill/>
          <a:ln/>
        </p:spPr>
        <p:txBody>
          <a:bodyPr wrap="square" lIns="0" tIns="0" rIns="0" bIns="0" rtlCol="0" anchor="t"/>
          <a:lstStyle/>
          <a:p>
            <a:pPr marL="0" indent="0" algn="l">
              <a:buNone/>
            </a:pPr>
            <a:r>
              <a:rPr lang="en-US" sz="1000" dirty="0">
                <a:solidFill>
                  <a:srgbClr val="334155"/>
                </a:solidFill>
                <a:latin typeface="Calibri" pitchFamily="34" charset="0"/>
                <a:ea typeface="Calibri" pitchFamily="34" charset="-122"/>
                <a:cs typeface="Calibri" pitchFamily="34" charset="-120"/>
              </a:rPr>
              <a:t>Lamport (1978): definir un orden parcial sobre eventos usando contadores lógicos incrementales. Elegante, eficiente, correcto.</a:t>
            </a:r>
            <a:endParaRPr lang="en-US" sz="1000" dirty="0"/>
          </a:p>
        </p:txBody>
      </p:sp>
      <p:sp>
        <p:nvSpPr>
          <p:cNvPr id="40" name="Shape 38"/>
          <p:cNvSpPr/>
          <p:nvPr/>
        </p:nvSpPr>
        <p:spPr>
          <a:xfrm>
            <a:off x="0" y="4892040"/>
            <a:ext cx="9144000" cy="251460"/>
          </a:xfrm>
          <a:prstGeom prst="rect">
            <a:avLst/>
          </a:prstGeom>
          <a:solidFill>
            <a:srgbClr val="0D1B40"/>
          </a:solidFill>
          <a:ln w="12700">
            <a:solidFill>
              <a:srgbClr val="0D1B40"/>
            </a:solidFill>
            <a:prstDash val="solid"/>
          </a:ln>
        </p:spPr>
      </p:sp>
      <p:sp>
        <p:nvSpPr>
          <p:cNvPr id="41" name="Text 39"/>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L. Lamport, 'Time, clocks, and the ordering of events in a distributed system,' Commun. ACM, vol. 21, no. 7, pp. 558-565, 1978</a:t>
            </a:r>
            <a:endParaRPr lang="en-US" sz="800" dirty="0"/>
          </a:p>
        </p:txBody>
      </p:sp>
      <p:sp>
        <p:nvSpPr>
          <p:cNvPr id="42" name="Text 40"/>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04 · Sincronización</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Algoritmo de Lamport</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Relojes Lógicos de Lamport — Reglas Formales</a:t>
            </a:r>
            <a:endParaRPr lang="en-US" sz="2000" dirty="0"/>
          </a:p>
        </p:txBody>
      </p:sp>
      <p:sp>
        <p:nvSpPr>
          <p:cNvPr id="7" name="Shape 5"/>
          <p:cNvSpPr/>
          <p:nvPr/>
        </p:nvSpPr>
        <p:spPr>
          <a:xfrm>
            <a:off x="365760" y="1024128"/>
            <a:ext cx="4023360" cy="187452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8" name="Text 6"/>
          <p:cNvSpPr/>
          <p:nvPr/>
        </p:nvSpPr>
        <p:spPr>
          <a:xfrm>
            <a:off x="548640" y="1051560"/>
            <a:ext cx="3657600" cy="292608"/>
          </a:xfrm>
          <a:prstGeom prst="rect">
            <a:avLst/>
          </a:prstGeom>
          <a:noFill/>
          <a:ln/>
        </p:spPr>
        <p:txBody>
          <a:bodyPr wrap="square" lIns="0" tIns="0" rIns="0" bIns="0" rtlCol="0" anchor="ctr"/>
          <a:lstStyle/>
          <a:p>
            <a:pPr marL="0" indent="0" algn="l">
              <a:buNone/>
            </a:pPr>
            <a:r>
              <a:rPr lang="en-US" sz="1300" b="1" dirty="0">
                <a:solidFill>
                  <a:srgbClr val="0D1B40"/>
                </a:solidFill>
                <a:latin typeface="Calibri" pitchFamily="34" charset="0"/>
                <a:ea typeface="Calibri" pitchFamily="34" charset="-122"/>
                <a:cs typeface="Calibri" pitchFamily="34" charset="-120"/>
              </a:rPr>
              <a:t>Las Tres Reglas</a:t>
            </a:r>
            <a:endParaRPr lang="en-US" sz="1300" dirty="0"/>
          </a:p>
        </p:txBody>
      </p:sp>
      <p:sp>
        <p:nvSpPr>
          <p:cNvPr id="9" name="Shape 7"/>
          <p:cNvSpPr/>
          <p:nvPr/>
        </p:nvSpPr>
        <p:spPr>
          <a:xfrm>
            <a:off x="457200" y="1417320"/>
            <a:ext cx="347472" cy="347472"/>
          </a:xfrm>
          <a:prstGeom prst="rect">
            <a:avLst/>
          </a:prstGeom>
          <a:solidFill>
            <a:srgbClr val="1A2D6B"/>
          </a:solidFill>
          <a:ln w="12700">
            <a:solidFill>
              <a:srgbClr val="1A2D6B"/>
            </a:solidFill>
            <a:prstDash val="solid"/>
          </a:ln>
        </p:spPr>
      </p:sp>
      <p:sp>
        <p:nvSpPr>
          <p:cNvPr id="10" name="Text 8"/>
          <p:cNvSpPr/>
          <p:nvPr/>
        </p:nvSpPr>
        <p:spPr>
          <a:xfrm>
            <a:off x="457200" y="14173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R1</a:t>
            </a:r>
            <a:endParaRPr lang="en-US" sz="1100" dirty="0"/>
          </a:p>
        </p:txBody>
      </p:sp>
      <p:sp>
        <p:nvSpPr>
          <p:cNvPr id="11" name="Text 9"/>
          <p:cNvSpPr/>
          <p:nvPr/>
        </p:nvSpPr>
        <p:spPr>
          <a:xfrm>
            <a:off x="868680" y="1417320"/>
            <a:ext cx="1828800" cy="18288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Evento interno</a:t>
            </a:r>
            <a:endParaRPr lang="en-US" sz="1050" dirty="0"/>
          </a:p>
        </p:txBody>
      </p:sp>
      <p:sp>
        <p:nvSpPr>
          <p:cNvPr id="12" name="Shape 10"/>
          <p:cNvSpPr/>
          <p:nvPr/>
        </p:nvSpPr>
        <p:spPr>
          <a:xfrm>
            <a:off x="868680" y="1609344"/>
            <a:ext cx="1645920" cy="182880"/>
          </a:xfrm>
          <a:prstGeom prst="rect">
            <a:avLst/>
          </a:prstGeom>
          <a:solidFill>
            <a:srgbClr val="C8F0F2"/>
          </a:solidFill>
          <a:ln w="12700">
            <a:solidFill>
              <a:srgbClr val="C8F0F2"/>
            </a:solidFill>
            <a:prstDash val="solid"/>
          </a:ln>
        </p:spPr>
      </p:sp>
      <p:sp>
        <p:nvSpPr>
          <p:cNvPr id="13" name="Text 11"/>
          <p:cNvSpPr/>
          <p:nvPr/>
        </p:nvSpPr>
        <p:spPr>
          <a:xfrm>
            <a:off x="868680" y="1609344"/>
            <a:ext cx="1645920" cy="182880"/>
          </a:xfrm>
          <a:prstGeom prst="rect">
            <a:avLst/>
          </a:prstGeom>
          <a:noFill/>
          <a:ln/>
        </p:spPr>
        <p:txBody>
          <a:bodyPr wrap="square" lIns="0" tIns="0" rIns="0" bIns="0" rtlCol="0" anchor="ctr"/>
          <a:lstStyle/>
          <a:p>
            <a:pPr marL="0" indent="0" algn="ctr">
              <a:buNone/>
            </a:pPr>
            <a:r>
              <a:rPr lang="en-US" sz="1000" b="1" dirty="0">
                <a:solidFill>
                  <a:srgbClr val="0D1B40"/>
                </a:solidFill>
                <a:latin typeface="Consolas" pitchFamily="34" charset="0"/>
                <a:ea typeface="Consolas" pitchFamily="34" charset="-122"/>
                <a:cs typeface="Consolas" pitchFamily="34" charset="-120"/>
              </a:rPr>
              <a:t>Ci ← Ci + 1</a:t>
            </a:r>
            <a:endParaRPr lang="en-US" sz="1000" dirty="0"/>
          </a:p>
        </p:txBody>
      </p:sp>
      <p:sp>
        <p:nvSpPr>
          <p:cNvPr id="14" name="Text 12"/>
          <p:cNvSpPr/>
          <p:nvPr/>
        </p:nvSpPr>
        <p:spPr>
          <a:xfrm>
            <a:off x="868680" y="1801368"/>
            <a:ext cx="3429000" cy="91440"/>
          </a:xfrm>
          <a:prstGeom prst="rect">
            <a:avLst/>
          </a:prstGeom>
          <a:noFill/>
          <a:ln/>
        </p:spPr>
        <p:txBody>
          <a:bodyPr wrap="square" lIns="0" tIns="0" rIns="0" bIns="0" rtlCol="0" anchor="ctr"/>
          <a:lstStyle/>
          <a:p>
            <a:pPr marL="0" indent="0">
              <a:buNone/>
            </a:pPr>
            <a:r>
              <a:rPr lang="en-US" sz="900" dirty="0">
                <a:solidFill>
                  <a:srgbClr val="64748B"/>
                </a:solidFill>
              </a:rPr>
              <a:t>Antes de cualquier evento (cómputo, I/O), el proceso i incrementa su contador.</a:t>
            </a:r>
            <a:endParaRPr lang="en-US" sz="900" dirty="0"/>
          </a:p>
        </p:txBody>
      </p:sp>
      <p:sp>
        <p:nvSpPr>
          <p:cNvPr id="15" name="Shape 13"/>
          <p:cNvSpPr/>
          <p:nvPr/>
        </p:nvSpPr>
        <p:spPr>
          <a:xfrm>
            <a:off x="457200" y="1892808"/>
            <a:ext cx="347472" cy="347472"/>
          </a:xfrm>
          <a:prstGeom prst="rect">
            <a:avLst/>
          </a:prstGeom>
          <a:solidFill>
            <a:srgbClr val="1A2D6B"/>
          </a:solidFill>
          <a:ln w="12700">
            <a:solidFill>
              <a:srgbClr val="1A2D6B"/>
            </a:solidFill>
            <a:prstDash val="solid"/>
          </a:ln>
        </p:spPr>
      </p:sp>
      <p:sp>
        <p:nvSpPr>
          <p:cNvPr id="16" name="Text 14"/>
          <p:cNvSpPr/>
          <p:nvPr/>
        </p:nvSpPr>
        <p:spPr>
          <a:xfrm>
            <a:off x="457200" y="189280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R2</a:t>
            </a:r>
            <a:endParaRPr lang="en-US" sz="1100" dirty="0"/>
          </a:p>
        </p:txBody>
      </p:sp>
      <p:sp>
        <p:nvSpPr>
          <p:cNvPr id="17" name="Text 15"/>
          <p:cNvSpPr/>
          <p:nvPr/>
        </p:nvSpPr>
        <p:spPr>
          <a:xfrm>
            <a:off x="868680" y="1892808"/>
            <a:ext cx="1828800" cy="18288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Envío de mensaje</a:t>
            </a:r>
            <a:endParaRPr lang="en-US" sz="1050" dirty="0"/>
          </a:p>
        </p:txBody>
      </p:sp>
      <p:sp>
        <p:nvSpPr>
          <p:cNvPr id="18" name="Shape 16"/>
          <p:cNvSpPr/>
          <p:nvPr/>
        </p:nvSpPr>
        <p:spPr>
          <a:xfrm>
            <a:off x="868680" y="2084832"/>
            <a:ext cx="1645920" cy="182880"/>
          </a:xfrm>
          <a:prstGeom prst="rect">
            <a:avLst/>
          </a:prstGeom>
          <a:solidFill>
            <a:srgbClr val="C8F0F2"/>
          </a:solidFill>
          <a:ln w="12700">
            <a:solidFill>
              <a:srgbClr val="C8F0F2"/>
            </a:solidFill>
            <a:prstDash val="solid"/>
          </a:ln>
        </p:spPr>
      </p:sp>
      <p:sp>
        <p:nvSpPr>
          <p:cNvPr id="19" name="Text 17"/>
          <p:cNvSpPr/>
          <p:nvPr/>
        </p:nvSpPr>
        <p:spPr>
          <a:xfrm>
            <a:off x="868680" y="2084832"/>
            <a:ext cx="1645920" cy="182880"/>
          </a:xfrm>
          <a:prstGeom prst="rect">
            <a:avLst/>
          </a:prstGeom>
          <a:noFill/>
          <a:ln/>
        </p:spPr>
        <p:txBody>
          <a:bodyPr wrap="square" lIns="0" tIns="0" rIns="0" bIns="0" rtlCol="0" anchor="ctr"/>
          <a:lstStyle/>
          <a:p>
            <a:pPr marL="0" indent="0" algn="ctr">
              <a:buNone/>
            </a:pPr>
            <a:r>
              <a:rPr lang="en-US" sz="1000" b="1" dirty="0">
                <a:solidFill>
                  <a:srgbClr val="0D1B40"/>
                </a:solidFill>
                <a:latin typeface="Consolas" pitchFamily="34" charset="0"/>
                <a:ea typeface="Consolas" pitchFamily="34" charset="-122"/>
                <a:cs typeface="Consolas" pitchFamily="34" charset="-120"/>
              </a:rPr>
              <a:t>enviar m con timestamp Ci</a:t>
            </a:r>
            <a:endParaRPr lang="en-US" sz="1000" dirty="0"/>
          </a:p>
        </p:txBody>
      </p:sp>
      <p:sp>
        <p:nvSpPr>
          <p:cNvPr id="20" name="Text 18"/>
          <p:cNvSpPr/>
          <p:nvPr/>
        </p:nvSpPr>
        <p:spPr>
          <a:xfrm>
            <a:off x="868680" y="2276856"/>
            <a:ext cx="3429000" cy="91440"/>
          </a:xfrm>
          <a:prstGeom prst="rect">
            <a:avLst/>
          </a:prstGeom>
          <a:noFill/>
          <a:ln/>
        </p:spPr>
        <p:txBody>
          <a:bodyPr wrap="square" lIns="0" tIns="0" rIns="0" bIns="0" rtlCol="0" anchor="ctr"/>
          <a:lstStyle/>
          <a:p>
            <a:pPr marL="0" indent="0">
              <a:buNone/>
            </a:pPr>
            <a:r>
              <a:rPr lang="en-US" sz="900" dirty="0">
                <a:solidFill>
                  <a:srgbClr val="64748B"/>
                </a:solidFill>
              </a:rPr>
              <a:t>El proceso i adjunta su contador actual al mensaje m.</a:t>
            </a:r>
            <a:endParaRPr lang="en-US" sz="900" dirty="0"/>
          </a:p>
        </p:txBody>
      </p:sp>
      <p:sp>
        <p:nvSpPr>
          <p:cNvPr id="21" name="Shape 19"/>
          <p:cNvSpPr/>
          <p:nvPr/>
        </p:nvSpPr>
        <p:spPr>
          <a:xfrm>
            <a:off x="457200" y="2368296"/>
            <a:ext cx="347472" cy="347472"/>
          </a:xfrm>
          <a:prstGeom prst="rect">
            <a:avLst/>
          </a:prstGeom>
          <a:solidFill>
            <a:srgbClr val="1A2D6B"/>
          </a:solidFill>
          <a:ln w="12700">
            <a:solidFill>
              <a:srgbClr val="1A2D6B"/>
            </a:solidFill>
            <a:prstDash val="solid"/>
          </a:ln>
        </p:spPr>
      </p:sp>
      <p:sp>
        <p:nvSpPr>
          <p:cNvPr id="22" name="Text 20"/>
          <p:cNvSpPr/>
          <p:nvPr/>
        </p:nvSpPr>
        <p:spPr>
          <a:xfrm>
            <a:off x="457200" y="23682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R3</a:t>
            </a:r>
            <a:endParaRPr lang="en-US" sz="1100" dirty="0"/>
          </a:p>
        </p:txBody>
      </p:sp>
      <p:sp>
        <p:nvSpPr>
          <p:cNvPr id="23" name="Text 21"/>
          <p:cNvSpPr/>
          <p:nvPr/>
        </p:nvSpPr>
        <p:spPr>
          <a:xfrm>
            <a:off x="868680" y="2368296"/>
            <a:ext cx="1828800" cy="182880"/>
          </a:xfrm>
          <a:prstGeom prst="rect">
            <a:avLst/>
          </a:prstGeom>
          <a:noFill/>
          <a:ln/>
        </p:spPr>
        <p:txBody>
          <a:bodyPr wrap="square" lIns="0" tIns="0" rIns="0" bIns="0" rtlCol="0" anchor="ctr"/>
          <a:lstStyle/>
          <a:p>
            <a:pPr marL="0" indent="0" algn="l">
              <a:buNone/>
            </a:pPr>
            <a:r>
              <a:rPr lang="en-US" sz="1050" b="1" dirty="0">
                <a:solidFill>
                  <a:srgbClr val="0D1B40"/>
                </a:solidFill>
                <a:latin typeface="Calibri" pitchFamily="34" charset="0"/>
                <a:ea typeface="Calibri" pitchFamily="34" charset="-122"/>
                <a:cs typeface="Calibri" pitchFamily="34" charset="-120"/>
              </a:rPr>
              <a:t>Recepción de mensaje</a:t>
            </a:r>
            <a:endParaRPr lang="en-US" sz="1050" dirty="0"/>
          </a:p>
        </p:txBody>
      </p:sp>
      <p:sp>
        <p:nvSpPr>
          <p:cNvPr id="24" name="Shape 22"/>
          <p:cNvSpPr/>
          <p:nvPr/>
        </p:nvSpPr>
        <p:spPr>
          <a:xfrm>
            <a:off x="868680" y="2560320"/>
            <a:ext cx="1645920" cy="182880"/>
          </a:xfrm>
          <a:prstGeom prst="rect">
            <a:avLst/>
          </a:prstGeom>
          <a:solidFill>
            <a:srgbClr val="C8F0F2"/>
          </a:solidFill>
          <a:ln w="12700">
            <a:solidFill>
              <a:srgbClr val="C8F0F2"/>
            </a:solidFill>
            <a:prstDash val="solid"/>
          </a:ln>
        </p:spPr>
      </p:sp>
      <p:sp>
        <p:nvSpPr>
          <p:cNvPr id="25" name="Text 23"/>
          <p:cNvSpPr/>
          <p:nvPr/>
        </p:nvSpPr>
        <p:spPr>
          <a:xfrm>
            <a:off x="868680" y="2560320"/>
            <a:ext cx="1645920" cy="182880"/>
          </a:xfrm>
          <a:prstGeom prst="rect">
            <a:avLst/>
          </a:prstGeom>
          <a:noFill/>
          <a:ln/>
        </p:spPr>
        <p:txBody>
          <a:bodyPr wrap="square" lIns="0" tIns="0" rIns="0" bIns="0" rtlCol="0" anchor="ctr"/>
          <a:lstStyle/>
          <a:p>
            <a:pPr marL="0" indent="0" algn="ctr">
              <a:buNone/>
            </a:pPr>
            <a:r>
              <a:rPr lang="en-US" sz="1000" b="1" dirty="0">
                <a:solidFill>
                  <a:srgbClr val="0D1B40"/>
                </a:solidFill>
                <a:latin typeface="Consolas" pitchFamily="34" charset="0"/>
                <a:ea typeface="Consolas" pitchFamily="34" charset="-122"/>
                <a:cs typeface="Consolas" pitchFamily="34" charset="-120"/>
              </a:rPr>
              <a:t>Ci ← max(Ci, Cm) + 1</a:t>
            </a:r>
            <a:endParaRPr lang="en-US" sz="1000" dirty="0"/>
          </a:p>
        </p:txBody>
      </p:sp>
      <p:sp>
        <p:nvSpPr>
          <p:cNvPr id="26" name="Text 24"/>
          <p:cNvSpPr/>
          <p:nvPr/>
        </p:nvSpPr>
        <p:spPr>
          <a:xfrm>
            <a:off x="868680" y="2752344"/>
            <a:ext cx="3429000" cy="91440"/>
          </a:xfrm>
          <a:prstGeom prst="rect">
            <a:avLst/>
          </a:prstGeom>
          <a:noFill/>
          <a:ln/>
        </p:spPr>
        <p:txBody>
          <a:bodyPr wrap="square" lIns="0" tIns="0" rIns="0" bIns="0" rtlCol="0" anchor="ctr"/>
          <a:lstStyle/>
          <a:p>
            <a:pPr marL="0" indent="0">
              <a:buNone/>
            </a:pPr>
            <a:r>
              <a:rPr lang="en-US" sz="900" dirty="0">
                <a:solidFill>
                  <a:srgbClr val="64748B"/>
                </a:solidFill>
              </a:rPr>
              <a:t>Al recibir m con timestamp Cm, el proceso actualiza su contador con el máximo más uno.</a:t>
            </a:r>
            <a:endParaRPr lang="en-US" sz="900" dirty="0"/>
          </a:p>
        </p:txBody>
      </p:sp>
      <p:sp>
        <p:nvSpPr>
          <p:cNvPr id="27" name="Shape 25"/>
          <p:cNvSpPr/>
          <p:nvPr/>
        </p:nvSpPr>
        <p:spPr>
          <a:xfrm>
            <a:off x="365760" y="2971800"/>
            <a:ext cx="4023360" cy="502920"/>
          </a:xfrm>
          <a:prstGeom prst="rect">
            <a:avLst/>
          </a:prstGeom>
          <a:solidFill>
            <a:srgbClr val="FEF3C7"/>
          </a:solidFill>
          <a:ln w="12700">
            <a:solidFill>
              <a:srgbClr val="FEF3C7"/>
            </a:solidFill>
            <a:prstDash val="solid"/>
          </a:ln>
        </p:spPr>
      </p:sp>
      <p:sp>
        <p:nvSpPr>
          <p:cNvPr id="28" name="Text 26"/>
          <p:cNvSpPr/>
          <p:nvPr/>
        </p:nvSpPr>
        <p:spPr>
          <a:xfrm>
            <a:off x="502920" y="2971800"/>
            <a:ext cx="3749040" cy="502920"/>
          </a:xfrm>
          <a:prstGeom prst="rect">
            <a:avLst/>
          </a:prstGeom>
          <a:noFill/>
          <a:ln/>
        </p:spPr>
        <p:txBody>
          <a:bodyPr wrap="square" lIns="25400" tIns="25400" rIns="25400" bIns="25400" rtlCol="0" anchor="ctr"/>
          <a:lstStyle/>
          <a:p>
            <a:pPr marL="0" indent="0" algn="l">
              <a:buNone/>
            </a:pPr>
            <a:r>
              <a:rPr lang="en-US" sz="950" dirty="0">
                <a:solidFill>
                  <a:srgbClr val="7B3F00"/>
                </a:solidFill>
              </a:rPr>
              <a:t>Propiedad garantizada: si a → b entonces C(a) &lt; C(b)</a:t>
            </a:r>
            <a:endParaRPr lang="en-US" sz="950" dirty="0"/>
          </a:p>
          <a:p>
            <a:pPr marL="0" indent="0" algn="l">
              <a:buNone/>
            </a:pPr>
            <a:r>
              <a:rPr lang="en-US" sz="950" dirty="0">
                <a:solidFill>
                  <a:srgbClr val="7B3F00"/>
                </a:solidFill>
              </a:rPr>
              <a:t>⚠ El inverso NO es verdadero: C(a) &lt; C(b) NO implica a → b</a:t>
            </a:r>
            <a:endParaRPr lang="en-US" sz="950" dirty="0"/>
          </a:p>
        </p:txBody>
      </p:sp>
      <p:sp>
        <p:nvSpPr>
          <p:cNvPr id="29" name="Shape 27"/>
          <p:cNvSpPr/>
          <p:nvPr/>
        </p:nvSpPr>
        <p:spPr>
          <a:xfrm>
            <a:off x="4572000" y="1024128"/>
            <a:ext cx="4206240" cy="3749040"/>
          </a:xfrm>
          <a:prstGeom prst="rect">
            <a:avLst/>
          </a:prstGeom>
          <a:solidFill>
            <a:srgbClr val="FFFFFF"/>
          </a:solidFill>
          <a:ln w="12700">
            <a:solidFill>
              <a:srgbClr val="FFFFFF"/>
            </a:solidFill>
            <a:prstDash val="solid"/>
          </a:ln>
          <a:effectLst>
            <a:outerShdw blurRad="101600" dist="38100" dir="8100000" algn="bl" rotWithShape="0">
              <a:srgbClr val="000000">
                <a:alpha val="12000"/>
              </a:srgbClr>
            </a:outerShdw>
          </a:effectLst>
        </p:spPr>
      </p:sp>
      <p:sp>
        <p:nvSpPr>
          <p:cNvPr id="30" name="Text 28"/>
          <p:cNvSpPr/>
          <p:nvPr/>
        </p:nvSpPr>
        <p:spPr>
          <a:xfrm>
            <a:off x="4754880" y="1051560"/>
            <a:ext cx="3840480" cy="274320"/>
          </a:xfrm>
          <a:prstGeom prst="rect">
            <a:avLst/>
          </a:prstGeom>
          <a:noFill/>
          <a:ln/>
        </p:spPr>
        <p:txBody>
          <a:bodyPr wrap="square" lIns="0" tIns="0" rIns="0" bIns="0" rtlCol="0" anchor="ctr"/>
          <a:lstStyle/>
          <a:p>
            <a:pPr marL="0" indent="0" algn="l">
              <a:buNone/>
            </a:pPr>
            <a:r>
              <a:rPr lang="en-US" sz="1200" b="1" dirty="0">
                <a:solidFill>
                  <a:srgbClr val="0D1B40"/>
                </a:solidFill>
                <a:latin typeface="Calibri" pitchFamily="34" charset="0"/>
                <a:ea typeface="Calibri" pitchFamily="34" charset="-122"/>
                <a:cs typeface="Calibri" pitchFamily="34" charset="-120"/>
              </a:rPr>
              <a:t>Ejemplo: 3 procesos, mensajes cruzados</a:t>
            </a:r>
            <a:endParaRPr lang="en-US" sz="1200" dirty="0"/>
          </a:p>
        </p:txBody>
      </p:sp>
      <p:sp>
        <p:nvSpPr>
          <p:cNvPr id="31" name="Shape 29"/>
          <p:cNvSpPr/>
          <p:nvPr/>
        </p:nvSpPr>
        <p:spPr>
          <a:xfrm>
            <a:off x="4663440" y="1481328"/>
            <a:ext cx="457200" cy="292608"/>
          </a:xfrm>
          <a:prstGeom prst="rect">
            <a:avLst/>
          </a:prstGeom>
          <a:solidFill>
            <a:srgbClr val="1A2D6B"/>
          </a:solidFill>
          <a:ln w="12700">
            <a:solidFill>
              <a:srgbClr val="1A2D6B"/>
            </a:solidFill>
            <a:prstDash val="solid"/>
          </a:ln>
        </p:spPr>
      </p:sp>
      <p:sp>
        <p:nvSpPr>
          <p:cNvPr id="32" name="Text 30"/>
          <p:cNvSpPr/>
          <p:nvPr/>
        </p:nvSpPr>
        <p:spPr>
          <a:xfrm>
            <a:off x="4663440" y="1481328"/>
            <a:ext cx="457200" cy="292608"/>
          </a:xfrm>
          <a:prstGeom prst="rect">
            <a:avLst/>
          </a:prstGeom>
          <a:noFill/>
          <a:ln/>
        </p:spPr>
        <p:txBody>
          <a:bodyPr wrap="square" lIns="0" tIns="0" rIns="0" bIns="0" rtlCol="0" anchor="ctr"/>
          <a:lstStyle/>
          <a:p>
            <a:pPr marL="0" indent="0" algn="ctr">
              <a:buNone/>
            </a:pPr>
            <a:r>
              <a:rPr lang="en-US" sz="1100" b="1" dirty="0">
                <a:solidFill>
                  <a:srgbClr val="FFFFFF"/>
                </a:solidFill>
              </a:rPr>
              <a:t>P1</a:t>
            </a:r>
            <a:endParaRPr lang="en-US" sz="1100" dirty="0"/>
          </a:p>
        </p:txBody>
      </p:sp>
      <p:sp>
        <p:nvSpPr>
          <p:cNvPr id="33" name="Shape 31"/>
          <p:cNvSpPr/>
          <p:nvPr/>
        </p:nvSpPr>
        <p:spPr>
          <a:xfrm>
            <a:off x="5166360" y="1627632"/>
            <a:ext cx="3429000" cy="0"/>
          </a:xfrm>
          <a:prstGeom prst="line">
            <a:avLst/>
          </a:prstGeom>
          <a:noFill/>
          <a:ln w="19050">
            <a:solidFill>
              <a:srgbClr val="1A2D6B"/>
            </a:solidFill>
            <a:prstDash val="solid"/>
          </a:ln>
        </p:spPr>
      </p:sp>
      <p:sp>
        <p:nvSpPr>
          <p:cNvPr id="34" name="Shape 32"/>
          <p:cNvSpPr/>
          <p:nvPr/>
        </p:nvSpPr>
        <p:spPr>
          <a:xfrm>
            <a:off x="4663440" y="2258568"/>
            <a:ext cx="457200" cy="292608"/>
          </a:xfrm>
          <a:prstGeom prst="rect">
            <a:avLst/>
          </a:prstGeom>
          <a:solidFill>
            <a:srgbClr val="0D7377"/>
          </a:solidFill>
          <a:ln w="12700">
            <a:solidFill>
              <a:srgbClr val="0D7377"/>
            </a:solidFill>
            <a:prstDash val="solid"/>
          </a:ln>
        </p:spPr>
      </p:sp>
      <p:sp>
        <p:nvSpPr>
          <p:cNvPr id="35" name="Text 33"/>
          <p:cNvSpPr/>
          <p:nvPr/>
        </p:nvSpPr>
        <p:spPr>
          <a:xfrm>
            <a:off x="4663440" y="2258568"/>
            <a:ext cx="457200" cy="292608"/>
          </a:xfrm>
          <a:prstGeom prst="rect">
            <a:avLst/>
          </a:prstGeom>
          <a:noFill/>
          <a:ln/>
        </p:spPr>
        <p:txBody>
          <a:bodyPr wrap="square" lIns="0" tIns="0" rIns="0" bIns="0" rtlCol="0" anchor="ctr"/>
          <a:lstStyle/>
          <a:p>
            <a:pPr marL="0" indent="0" algn="ctr">
              <a:buNone/>
            </a:pPr>
            <a:r>
              <a:rPr lang="en-US" sz="1100" b="1" dirty="0">
                <a:solidFill>
                  <a:srgbClr val="FFFFFF"/>
                </a:solidFill>
              </a:rPr>
              <a:t>P2</a:t>
            </a:r>
            <a:endParaRPr lang="en-US" sz="1100" dirty="0"/>
          </a:p>
        </p:txBody>
      </p:sp>
      <p:sp>
        <p:nvSpPr>
          <p:cNvPr id="36" name="Shape 34"/>
          <p:cNvSpPr/>
          <p:nvPr/>
        </p:nvSpPr>
        <p:spPr>
          <a:xfrm>
            <a:off x="5166360" y="2404872"/>
            <a:ext cx="3429000" cy="0"/>
          </a:xfrm>
          <a:prstGeom prst="line">
            <a:avLst/>
          </a:prstGeom>
          <a:noFill/>
          <a:ln w="19050">
            <a:solidFill>
              <a:srgbClr val="0D7377"/>
            </a:solidFill>
            <a:prstDash val="solid"/>
          </a:ln>
        </p:spPr>
      </p:sp>
      <p:sp>
        <p:nvSpPr>
          <p:cNvPr id="37" name="Shape 35"/>
          <p:cNvSpPr/>
          <p:nvPr/>
        </p:nvSpPr>
        <p:spPr>
          <a:xfrm>
            <a:off x="4663440" y="3035808"/>
            <a:ext cx="457200" cy="292608"/>
          </a:xfrm>
          <a:prstGeom prst="rect">
            <a:avLst/>
          </a:prstGeom>
          <a:solidFill>
            <a:srgbClr val="4A148C"/>
          </a:solidFill>
          <a:ln w="12700">
            <a:solidFill>
              <a:srgbClr val="4A148C"/>
            </a:solidFill>
            <a:prstDash val="solid"/>
          </a:ln>
        </p:spPr>
      </p:sp>
      <p:sp>
        <p:nvSpPr>
          <p:cNvPr id="38" name="Text 36"/>
          <p:cNvSpPr/>
          <p:nvPr/>
        </p:nvSpPr>
        <p:spPr>
          <a:xfrm>
            <a:off x="4663440" y="3035808"/>
            <a:ext cx="457200" cy="292608"/>
          </a:xfrm>
          <a:prstGeom prst="rect">
            <a:avLst/>
          </a:prstGeom>
          <a:noFill/>
          <a:ln/>
        </p:spPr>
        <p:txBody>
          <a:bodyPr wrap="square" lIns="0" tIns="0" rIns="0" bIns="0" rtlCol="0" anchor="ctr"/>
          <a:lstStyle/>
          <a:p>
            <a:pPr marL="0" indent="0" algn="ctr">
              <a:buNone/>
            </a:pPr>
            <a:r>
              <a:rPr lang="en-US" sz="1100" b="1" dirty="0">
                <a:solidFill>
                  <a:srgbClr val="FFFFFF"/>
                </a:solidFill>
              </a:rPr>
              <a:t>P3</a:t>
            </a:r>
            <a:endParaRPr lang="en-US" sz="1100" dirty="0"/>
          </a:p>
        </p:txBody>
      </p:sp>
      <p:sp>
        <p:nvSpPr>
          <p:cNvPr id="39" name="Shape 37"/>
          <p:cNvSpPr/>
          <p:nvPr/>
        </p:nvSpPr>
        <p:spPr>
          <a:xfrm>
            <a:off x="5166360" y="3182112"/>
            <a:ext cx="3429000" cy="0"/>
          </a:xfrm>
          <a:prstGeom prst="line">
            <a:avLst/>
          </a:prstGeom>
          <a:noFill/>
          <a:ln w="19050">
            <a:solidFill>
              <a:srgbClr val="4A148C"/>
            </a:solidFill>
            <a:prstDash val="solid"/>
          </a:ln>
        </p:spPr>
      </p:sp>
      <p:sp>
        <p:nvSpPr>
          <p:cNvPr id="40" name="Shape 38"/>
          <p:cNvSpPr/>
          <p:nvPr/>
        </p:nvSpPr>
        <p:spPr>
          <a:xfrm>
            <a:off x="5257800" y="1554480"/>
            <a:ext cx="91440" cy="146304"/>
          </a:xfrm>
          <a:prstGeom prst="rect">
            <a:avLst/>
          </a:prstGeom>
          <a:solidFill>
            <a:srgbClr val="1A2D6B"/>
          </a:solidFill>
          <a:ln w="12700">
            <a:solidFill>
              <a:srgbClr val="1A2D6B"/>
            </a:solidFill>
            <a:prstDash val="solid"/>
          </a:ln>
        </p:spPr>
      </p:sp>
      <p:sp>
        <p:nvSpPr>
          <p:cNvPr id="41" name="Text 39"/>
          <p:cNvSpPr/>
          <p:nvPr/>
        </p:nvSpPr>
        <p:spPr>
          <a:xfrm>
            <a:off x="5120640" y="1728216"/>
            <a:ext cx="365760" cy="320040"/>
          </a:xfrm>
          <a:prstGeom prst="rect">
            <a:avLst/>
          </a:prstGeom>
          <a:noFill/>
          <a:ln/>
        </p:spPr>
        <p:txBody>
          <a:bodyPr wrap="square" lIns="0" tIns="0" rIns="0" bIns="0" rtlCol="0" anchor="ctr"/>
          <a:lstStyle/>
          <a:p>
            <a:pPr marL="0" indent="0" algn="ctr">
              <a:buNone/>
            </a:pPr>
            <a:r>
              <a:rPr lang="en-US" sz="750" dirty="0">
                <a:solidFill>
                  <a:srgbClr val="1A2D6B"/>
                </a:solidFill>
              </a:rPr>
              <a:t>a</a:t>
            </a:r>
            <a:endParaRPr lang="en-US" sz="750" dirty="0"/>
          </a:p>
          <a:p>
            <a:pPr marL="0" indent="0" algn="ctr">
              <a:buNone/>
            </a:pPr>
            <a:r>
              <a:rPr lang="en-US" sz="750" dirty="0">
                <a:solidFill>
                  <a:srgbClr val="1A2D6B"/>
                </a:solidFill>
              </a:rPr>
              <a:t>C=1</a:t>
            </a:r>
            <a:endParaRPr lang="en-US" sz="750" dirty="0"/>
          </a:p>
        </p:txBody>
      </p:sp>
      <p:sp>
        <p:nvSpPr>
          <p:cNvPr id="42" name="Shape 40"/>
          <p:cNvSpPr/>
          <p:nvPr/>
        </p:nvSpPr>
        <p:spPr>
          <a:xfrm>
            <a:off x="6080760" y="1554480"/>
            <a:ext cx="91440" cy="146304"/>
          </a:xfrm>
          <a:prstGeom prst="rect">
            <a:avLst/>
          </a:prstGeom>
          <a:solidFill>
            <a:srgbClr val="1A2D6B"/>
          </a:solidFill>
          <a:ln w="12700">
            <a:solidFill>
              <a:srgbClr val="1A2D6B"/>
            </a:solidFill>
            <a:prstDash val="solid"/>
          </a:ln>
        </p:spPr>
      </p:sp>
      <p:sp>
        <p:nvSpPr>
          <p:cNvPr id="43" name="Text 41"/>
          <p:cNvSpPr/>
          <p:nvPr/>
        </p:nvSpPr>
        <p:spPr>
          <a:xfrm>
            <a:off x="5943600" y="1728216"/>
            <a:ext cx="365760" cy="320040"/>
          </a:xfrm>
          <a:prstGeom prst="rect">
            <a:avLst/>
          </a:prstGeom>
          <a:noFill/>
          <a:ln/>
        </p:spPr>
        <p:txBody>
          <a:bodyPr wrap="square" lIns="0" tIns="0" rIns="0" bIns="0" rtlCol="0" anchor="ctr"/>
          <a:lstStyle/>
          <a:p>
            <a:pPr marL="0" indent="0" algn="ctr">
              <a:buNone/>
            </a:pPr>
            <a:r>
              <a:rPr lang="en-US" sz="750" dirty="0">
                <a:solidFill>
                  <a:srgbClr val="1A2D6B"/>
                </a:solidFill>
              </a:rPr>
              <a:t>b</a:t>
            </a:r>
            <a:endParaRPr lang="en-US" sz="750" dirty="0"/>
          </a:p>
          <a:p>
            <a:pPr marL="0" indent="0" algn="ctr">
              <a:buNone/>
            </a:pPr>
            <a:r>
              <a:rPr lang="en-US" sz="750" dirty="0">
                <a:solidFill>
                  <a:srgbClr val="1A2D6B"/>
                </a:solidFill>
              </a:rPr>
              <a:t>C=2</a:t>
            </a:r>
            <a:endParaRPr lang="en-US" sz="750" dirty="0"/>
          </a:p>
        </p:txBody>
      </p:sp>
      <p:sp>
        <p:nvSpPr>
          <p:cNvPr id="44" name="Shape 42"/>
          <p:cNvSpPr/>
          <p:nvPr/>
        </p:nvSpPr>
        <p:spPr>
          <a:xfrm>
            <a:off x="7726680" y="1554480"/>
            <a:ext cx="91440" cy="146304"/>
          </a:xfrm>
          <a:prstGeom prst="rect">
            <a:avLst/>
          </a:prstGeom>
          <a:solidFill>
            <a:srgbClr val="1A2D6B"/>
          </a:solidFill>
          <a:ln w="12700">
            <a:solidFill>
              <a:srgbClr val="1A2D6B"/>
            </a:solidFill>
            <a:prstDash val="solid"/>
          </a:ln>
        </p:spPr>
      </p:sp>
      <p:sp>
        <p:nvSpPr>
          <p:cNvPr id="45" name="Text 43"/>
          <p:cNvSpPr/>
          <p:nvPr/>
        </p:nvSpPr>
        <p:spPr>
          <a:xfrm>
            <a:off x="7589520" y="1728216"/>
            <a:ext cx="365760" cy="320040"/>
          </a:xfrm>
          <a:prstGeom prst="rect">
            <a:avLst/>
          </a:prstGeom>
          <a:noFill/>
          <a:ln/>
        </p:spPr>
        <p:txBody>
          <a:bodyPr wrap="square" lIns="0" tIns="0" rIns="0" bIns="0" rtlCol="0" anchor="ctr"/>
          <a:lstStyle/>
          <a:p>
            <a:pPr marL="0" indent="0" algn="ctr">
              <a:buNone/>
            </a:pPr>
            <a:r>
              <a:rPr lang="en-US" sz="750" dirty="0">
                <a:solidFill>
                  <a:srgbClr val="1A2D6B"/>
                </a:solidFill>
              </a:rPr>
              <a:t>e</a:t>
            </a:r>
            <a:endParaRPr lang="en-US" sz="750" dirty="0"/>
          </a:p>
          <a:p>
            <a:pPr marL="0" indent="0" algn="ctr">
              <a:buNone/>
            </a:pPr>
            <a:r>
              <a:rPr lang="en-US" sz="750" dirty="0">
                <a:solidFill>
                  <a:srgbClr val="1A2D6B"/>
                </a:solidFill>
              </a:rPr>
              <a:t>C=4</a:t>
            </a:r>
            <a:endParaRPr lang="en-US" sz="750" dirty="0"/>
          </a:p>
        </p:txBody>
      </p:sp>
      <p:sp>
        <p:nvSpPr>
          <p:cNvPr id="46" name="Shape 44"/>
          <p:cNvSpPr/>
          <p:nvPr/>
        </p:nvSpPr>
        <p:spPr>
          <a:xfrm>
            <a:off x="5532120" y="2331720"/>
            <a:ext cx="91440" cy="146304"/>
          </a:xfrm>
          <a:prstGeom prst="rect">
            <a:avLst/>
          </a:prstGeom>
          <a:solidFill>
            <a:srgbClr val="0D7377"/>
          </a:solidFill>
          <a:ln w="12700">
            <a:solidFill>
              <a:srgbClr val="0D7377"/>
            </a:solidFill>
            <a:prstDash val="solid"/>
          </a:ln>
        </p:spPr>
      </p:sp>
      <p:sp>
        <p:nvSpPr>
          <p:cNvPr id="47" name="Text 45"/>
          <p:cNvSpPr/>
          <p:nvPr/>
        </p:nvSpPr>
        <p:spPr>
          <a:xfrm>
            <a:off x="5394960" y="2505456"/>
            <a:ext cx="365760" cy="320040"/>
          </a:xfrm>
          <a:prstGeom prst="rect">
            <a:avLst/>
          </a:prstGeom>
          <a:noFill/>
          <a:ln/>
        </p:spPr>
        <p:txBody>
          <a:bodyPr wrap="square" lIns="0" tIns="0" rIns="0" bIns="0" rtlCol="0" anchor="ctr"/>
          <a:lstStyle/>
          <a:p>
            <a:pPr marL="0" indent="0" algn="ctr">
              <a:buNone/>
            </a:pPr>
            <a:r>
              <a:rPr lang="en-US" sz="750" dirty="0">
                <a:solidFill>
                  <a:srgbClr val="0D7377"/>
                </a:solidFill>
              </a:rPr>
              <a:t>c</a:t>
            </a:r>
            <a:endParaRPr lang="en-US" sz="750" dirty="0"/>
          </a:p>
          <a:p>
            <a:pPr marL="0" indent="0" algn="ctr">
              <a:buNone/>
            </a:pPr>
            <a:r>
              <a:rPr lang="en-US" sz="750" dirty="0">
                <a:solidFill>
                  <a:srgbClr val="0D7377"/>
                </a:solidFill>
              </a:rPr>
              <a:t>C=1</a:t>
            </a:r>
            <a:endParaRPr lang="en-US" sz="750" dirty="0"/>
          </a:p>
        </p:txBody>
      </p:sp>
      <p:sp>
        <p:nvSpPr>
          <p:cNvPr id="48" name="Shape 46"/>
          <p:cNvSpPr/>
          <p:nvPr/>
        </p:nvSpPr>
        <p:spPr>
          <a:xfrm>
            <a:off x="6629400" y="2331720"/>
            <a:ext cx="91440" cy="146304"/>
          </a:xfrm>
          <a:prstGeom prst="rect">
            <a:avLst/>
          </a:prstGeom>
          <a:solidFill>
            <a:srgbClr val="0D7377"/>
          </a:solidFill>
          <a:ln w="12700">
            <a:solidFill>
              <a:srgbClr val="0D7377"/>
            </a:solidFill>
            <a:prstDash val="solid"/>
          </a:ln>
        </p:spPr>
      </p:sp>
      <p:sp>
        <p:nvSpPr>
          <p:cNvPr id="49" name="Text 47"/>
          <p:cNvSpPr/>
          <p:nvPr/>
        </p:nvSpPr>
        <p:spPr>
          <a:xfrm>
            <a:off x="6492240" y="2505456"/>
            <a:ext cx="365760" cy="320040"/>
          </a:xfrm>
          <a:prstGeom prst="rect">
            <a:avLst/>
          </a:prstGeom>
          <a:noFill/>
          <a:ln/>
        </p:spPr>
        <p:txBody>
          <a:bodyPr wrap="square" lIns="0" tIns="0" rIns="0" bIns="0" rtlCol="0" anchor="ctr"/>
          <a:lstStyle/>
          <a:p>
            <a:pPr marL="0" indent="0" algn="ctr">
              <a:buNone/>
            </a:pPr>
            <a:r>
              <a:rPr lang="en-US" sz="750" dirty="0">
                <a:solidFill>
                  <a:srgbClr val="0D7377"/>
                </a:solidFill>
              </a:rPr>
              <a:t>d</a:t>
            </a:r>
            <a:endParaRPr lang="en-US" sz="750" dirty="0"/>
          </a:p>
          <a:p>
            <a:pPr marL="0" indent="0" algn="ctr">
              <a:buNone/>
            </a:pPr>
            <a:r>
              <a:rPr lang="en-US" sz="750" dirty="0">
                <a:solidFill>
                  <a:srgbClr val="0D7377"/>
                </a:solidFill>
              </a:rPr>
              <a:t>C=3</a:t>
            </a:r>
            <a:endParaRPr lang="en-US" sz="750" dirty="0"/>
          </a:p>
        </p:txBody>
      </p:sp>
      <p:sp>
        <p:nvSpPr>
          <p:cNvPr id="50" name="Shape 48"/>
          <p:cNvSpPr/>
          <p:nvPr/>
        </p:nvSpPr>
        <p:spPr>
          <a:xfrm>
            <a:off x="8092440" y="2331720"/>
            <a:ext cx="91440" cy="146304"/>
          </a:xfrm>
          <a:prstGeom prst="rect">
            <a:avLst/>
          </a:prstGeom>
          <a:solidFill>
            <a:srgbClr val="0D7377"/>
          </a:solidFill>
          <a:ln w="12700">
            <a:solidFill>
              <a:srgbClr val="0D7377"/>
            </a:solidFill>
            <a:prstDash val="solid"/>
          </a:ln>
        </p:spPr>
      </p:sp>
      <p:sp>
        <p:nvSpPr>
          <p:cNvPr id="51" name="Text 49"/>
          <p:cNvSpPr/>
          <p:nvPr/>
        </p:nvSpPr>
        <p:spPr>
          <a:xfrm>
            <a:off x="7955280" y="2505456"/>
            <a:ext cx="365760" cy="320040"/>
          </a:xfrm>
          <a:prstGeom prst="rect">
            <a:avLst/>
          </a:prstGeom>
          <a:noFill/>
          <a:ln/>
        </p:spPr>
        <p:txBody>
          <a:bodyPr wrap="square" lIns="0" tIns="0" rIns="0" bIns="0" rtlCol="0" anchor="ctr"/>
          <a:lstStyle/>
          <a:p>
            <a:pPr marL="0" indent="0" algn="ctr">
              <a:buNone/>
            </a:pPr>
            <a:r>
              <a:rPr lang="en-US" sz="750" dirty="0">
                <a:solidFill>
                  <a:srgbClr val="0D7377"/>
                </a:solidFill>
              </a:rPr>
              <a:t>f</a:t>
            </a:r>
            <a:endParaRPr lang="en-US" sz="750" dirty="0"/>
          </a:p>
          <a:p>
            <a:pPr marL="0" indent="0" algn="ctr">
              <a:buNone/>
            </a:pPr>
            <a:r>
              <a:rPr lang="en-US" sz="750" dirty="0">
                <a:solidFill>
                  <a:srgbClr val="0D7377"/>
                </a:solidFill>
              </a:rPr>
              <a:t>C=5</a:t>
            </a:r>
            <a:endParaRPr lang="en-US" sz="750" dirty="0"/>
          </a:p>
        </p:txBody>
      </p:sp>
      <p:sp>
        <p:nvSpPr>
          <p:cNvPr id="52" name="Shape 50"/>
          <p:cNvSpPr/>
          <p:nvPr/>
        </p:nvSpPr>
        <p:spPr>
          <a:xfrm>
            <a:off x="5806440" y="3108960"/>
            <a:ext cx="91440" cy="146304"/>
          </a:xfrm>
          <a:prstGeom prst="rect">
            <a:avLst/>
          </a:prstGeom>
          <a:solidFill>
            <a:srgbClr val="4A148C"/>
          </a:solidFill>
          <a:ln w="12700">
            <a:solidFill>
              <a:srgbClr val="4A148C"/>
            </a:solidFill>
            <a:prstDash val="solid"/>
          </a:ln>
        </p:spPr>
      </p:sp>
      <p:sp>
        <p:nvSpPr>
          <p:cNvPr id="53" name="Text 51"/>
          <p:cNvSpPr/>
          <p:nvPr/>
        </p:nvSpPr>
        <p:spPr>
          <a:xfrm>
            <a:off x="5669280" y="3282696"/>
            <a:ext cx="365760" cy="320040"/>
          </a:xfrm>
          <a:prstGeom prst="rect">
            <a:avLst/>
          </a:prstGeom>
          <a:noFill/>
          <a:ln/>
        </p:spPr>
        <p:txBody>
          <a:bodyPr wrap="square" lIns="0" tIns="0" rIns="0" bIns="0" rtlCol="0" anchor="ctr"/>
          <a:lstStyle/>
          <a:p>
            <a:pPr marL="0" indent="0" algn="ctr">
              <a:buNone/>
            </a:pPr>
            <a:r>
              <a:rPr lang="en-US" sz="750" dirty="0">
                <a:solidFill>
                  <a:srgbClr val="4A148C"/>
                </a:solidFill>
              </a:rPr>
              <a:t>g</a:t>
            </a:r>
            <a:endParaRPr lang="en-US" sz="750" dirty="0"/>
          </a:p>
          <a:p>
            <a:pPr marL="0" indent="0" algn="ctr">
              <a:buNone/>
            </a:pPr>
            <a:r>
              <a:rPr lang="en-US" sz="750" dirty="0">
                <a:solidFill>
                  <a:srgbClr val="4A148C"/>
                </a:solidFill>
              </a:rPr>
              <a:t>C=1</a:t>
            </a:r>
            <a:endParaRPr lang="en-US" sz="750" dirty="0"/>
          </a:p>
        </p:txBody>
      </p:sp>
      <p:sp>
        <p:nvSpPr>
          <p:cNvPr id="54" name="Shape 52"/>
          <p:cNvSpPr/>
          <p:nvPr/>
        </p:nvSpPr>
        <p:spPr>
          <a:xfrm>
            <a:off x="7086600" y="3108960"/>
            <a:ext cx="91440" cy="146304"/>
          </a:xfrm>
          <a:prstGeom prst="rect">
            <a:avLst/>
          </a:prstGeom>
          <a:solidFill>
            <a:srgbClr val="4A148C"/>
          </a:solidFill>
          <a:ln w="12700">
            <a:solidFill>
              <a:srgbClr val="4A148C"/>
            </a:solidFill>
            <a:prstDash val="solid"/>
          </a:ln>
        </p:spPr>
      </p:sp>
      <p:sp>
        <p:nvSpPr>
          <p:cNvPr id="55" name="Text 53"/>
          <p:cNvSpPr/>
          <p:nvPr/>
        </p:nvSpPr>
        <p:spPr>
          <a:xfrm>
            <a:off x="6949440" y="3282696"/>
            <a:ext cx="365760" cy="320040"/>
          </a:xfrm>
          <a:prstGeom prst="rect">
            <a:avLst/>
          </a:prstGeom>
          <a:noFill/>
          <a:ln/>
        </p:spPr>
        <p:txBody>
          <a:bodyPr wrap="square" lIns="0" tIns="0" rIns="0" bIns="0" rtlCol="0" anchor="ctr"/>
          <a:lstStyle/>
          <a:p>
            <a:pPr marL="0" indent="0" algn="ctr">
              <a:buNone/>
            </a:pPr>
            <a:r>
              <a:rPr lang="en-US" sz="750" dirty="0">
                <a:solidFill>
                  <a:srgbClr val="4A148C"/>
                </a:solidFill>
              </a:rPr>
              <a:t>h</a:t>
            </a:r>
            <a:endParaRPr lang="en-US" sz="750" dirty="0"/>
          </a:p>
          <a:p>
            <a:pPr marL="0" indent="0" algn="ctr">
              <a:buNone/>
            </a:pPr>
            <a:r>
              <a:rPr lang="en-US" sz="750" dirty="0">
                <a:solidFill>
                  <a:srgbClr val="4A148C"/>
                </a:solidFill>
              </a:rPr>
              <a:t>C=4</a:t>
            </a:r>
            <a:endParaRPr lang="en-US" sz="750" dirty="0"/>
          </a:p>
        </p:txBody>
      </p:sp>
      <p:sp>
        <p:nvSpPr>
          <p:cNvPr id="56" name="Shape 54"/>
          <p:cNvSpPr/>
          <p:nvPr/>
        </p:nvSpPr>
        <p:spPr>
          <a:xfrm>
            <a:off x="6126480" y="1627632"/>
            <a:ext cx="548640" cy="777240"/>
          </a:xfrm>
          <a:prstGeom prst="line">
            <a:avLst/>
          </a:prstGeom>
          <a:noFill/>
          <a:ln w="19050">
            <a:solidFill>
              <a:srgbClr val="F59E0B"/>
            </a:solidFill>
            <a:prstDash val="solid"/>
          </a:ln>
        </p:spPr>
      </p:sp>
      <p:sp>
        <p:nvSpPr>
          <p:cNvPr id="57" name="Text 55"/>
          <p:cNvSpPr/>
          <p:nvPr/>
        </p:nvSpPr>
        <p:spPr>
          <a:xfrm>
            <a:off x="6144768" y="1828800"/>
            <a:ext cx="274320" cy="182880"/>
          </a:xfrm>
          <a:prstGeom prst="rect">
            <a:avLst/>
          </a:prstGeom>
          <a:noFill/>
          <a:ln/>
        </p:spPr>
        <p:txBody>
          <a:bodyPr wrap="square" lIns="0" tIns="0" rIns="0" bIns="0" rtlCol="0" anchor="ctr"/>
          <a:lstStyle/>
          <a:p>
            <a:pPr marL="0" indent="0">
              <a:buNone/>
            </a:pPr>
            <a:r>
              <a:rPr lang="en-US" sz="750" i="1" dirty="0">
                <a:solidFill>
                  <a:srgbClr val="F59E0B"/>
                </a:solidFill>
              </a:rPr>
              <a:t>m1</a:t>
            </a:r>
            <a:endParaRPr lang="en-US" sz="750" dirty="0"/>
          </a:p>
        </p:txBody>
      </p:sp>
      <p:sp>
        <p:nvSpPr>
          <p:cNvPr id="58" name="Shape 56"/>
          <p:cNvSpPr/>
          <p:nvPr/>
        </p:nvSpPr>
        <p:spPr>
          <a:xfrm>
            <a:off x="6675120" y="2404872"/>
            <a:ext cx="457200" cy="777240"/>
          </a:xfrm>
          <a:prstGeom prst="line">
            <a:avLst/>
          </a:prstGeom>
          <a:noFill/>
          <a:ln w="19050">
            <a:solidFill>
              <a:srgbClr val="F59E0B"/>
            </a:solidFill>
            <a:prstDash val="solid"/>
          </a:ln>
        </p:spPr>
      </p:sp>
      <p:sp>
        <p:nvSpPr>
          <p:cNvPr id="59" name="Text 57"/>
          <p:cNvSpPr/>
          <p:nvPr/>
        </p:nvSpPr>
        <p:spPr>
          <a:xfrm>
            <a:off x="6693408" y="2606040"/>
            <a:ext cx="274320" cy="182880"/>
          </a:xfrm>
          <a:prstGeom prst="rect">
            <a:avLst/>
          </a:prstGeom>
          <a:noFill/>
          <a:ln/>
        </p:spPr>
        <p:txBody>
          <a:bodyPr wrap="square" lIns="0" tIns="0" rIns="0" bIns="0" rtlCol="0" anchor="ctr"/>
          <a:lstStyle/>
          <a:p>
            <a:pPr marL="0" indent="0">
              <a:buNone/>
            </a:pPr>
            <a:r>
              <a:rPr lang="en-US" sz="750" i="1" dirty="0">
                <a:solidFill>
                  <a:srgbClr val="F59E0B"/>
                </a:solidFill>
              </a:rPr>
              <a:t>m2</a:t>
            </a:r>
            <a:endParaRPr lang="en-US" sz="750" dirty="0"/>
          </a:p>
        </p:txBody>
      </p:sp>
      <p:sp>
        <p:nvSpPr>
          <p:cNvPr id="60" name="Shape 58"/>
          <p:cNvSpPr/>
          <p:nvPr/>
        </p:nvSpPr>
        <p:spPr>
          <a:xfrm>
            <a:off x="7132320" y="3182112"/>
            <a:ext cx="640080" cy="0"/>
          </a:xfrm>
          <a:prstGeom prst="line">
            <a:avLst/>
          </a:prstGeom>
          <a:noFill/>
          <a:ln w="19050">
            <a:solidFill>
              <a:srgbClr val="DC2626"/>
            </a:solidFill>
            <a:prstDash val="solid"/>
          </a:ln>
        </p:spPr>
      </p:sp>
      <p:sp>
        <p:nvSpPr>
          <p:cNvPr id="61" name="Text 59"/>
          <p:cNvSpPr/>
          <p:nvPr/>
        </p:nvSpPr>
        <p:spPr>
          <a:xfrm>
            <a:off x="7315200" y="2286000"/>
            <a:ext cx="274320" cy="182880"/>
          </a:xfrm>
          <a:prstGeom prst="rect">
            <a:avLst/>
          </a:prstGeom>
          <a:noFill/>
          <a:ln/>
        </p:spPr>
        <p:txBody>
          <a:bodyPr wrap="square" lIns="0" tIns="0" rIns="0" bIns="0" rtlCol="0" anchor="ctr"/>
          <a:lstStyle/>
          <a:p>
            <a:pPr marL="0" indent="0">
              <a:buNone/>
            </a:pPr>
            <a:r>
              <a:rPr lang="en-US" sz="750" i="1" dirty="0">
                <a:solidFill>
                  <a:srgbClr val="DC2626"/>
                </a:solidFill>
              </a:rPr>
              <a:t>m3</a:t>
            </a:r>
            <a:endParaRPr lang="en-US" sz="750" dirty="0"/>
          </a:p>
        </p:txBody>
      </p:sp>
      <p:sp>
        <p:nvSpPr>
          <p:cNvPr id="62" name="Shape 60"/>
          <p:cNvSpPr/>
          <p:nvPr/>
        </p:nvSpPr>
        <p:spPr>
          <a:xfrm>
            <a:off x="4572000" y="3566160"/>
            <a:ext cx="4206240" cy="411480"/>
          </a:xfrm>
          <a:prstGeom prst="rect">
            <a:avLst/>
          </a:prstGeom>
          <a:solidFill>
            <a:srgbClr val="0D1B40"/>
          </a:solidFill>
          <a:ln w="12700">
            <a:solidFill>
              <a:srgbClr val="0D1B40"/>
            </a:solidFill>
            <a:prstDash val="solid"/>
          </a:ln>
        </p:spPr>
      </p:sp>
      <p:sp>
        <p:nvSpPr>
          <p:cNvPr id="63" name="Text 61"/>
          <p:cNvSpPr/>
          <p:nvPr/>
        </p:nvSpPr>
        <p:spPr>
          <a:xfrm>
            <a:off x="4617720" y="3566160"/>
            <a:ext cx="4114800" cy="411480"/>
          </a:xfrm>
          <a:prstGeom prst="rect">
            <a:avLst/>
          </a:prstGeom>
          <a:noFill/>
          <a:ln/>
        </p:spPr>
        <p:txBody>
          <a:bodyPr wrap="square" lIns="0" tIns="0" rIns="0" bIns="0" rtlCol="0" anchor="ctr"/>
          <a:lstStyle/>
          <a:p>
            <a:pPr marL="0" indent="0" algn="ctr">
              <a:buNone/>
            </a:pPr>
            <a:r>
              <a:rPr lang="en-US" sz="950" dirty="0">
                <a:solidFill>
                  <a:srgbClr val="FFFFFF"/>
                </a:solidFill>
                <a:latin typeface="Consolas" pitchFamily="34" charset="0"/>
                <a:ea typeface="Consolas" pitchFamily="34" charset="-122"/>
                <a:cs typeface="Consolas" pitchFamily="34" charset="-120"/>
              </a:rPr>
              <a:t>Orden total: a(1) &lt; c(1) &lt; g(1) &lt; b(2) &lt; d(3) &lt; h(4) &lt; e(4) &lt; f(5)</a:t>
            </a:r>
            <a:endParaRPr lang="en-US" sz="950" dirty="0"/>
          </a:p>
        </p:txBody>
      </p:sp>
      <p:sp>
        <p:nvSpPr>
          <p:cNvPr id="64" name="Shape 62"/>
          <p:cNvSpPr/>
          <p:nvPr/>
        </p:nvSpPr>
        <p:spPr>
          <a:xfrm>
            <a:off x="4572000" y="4023360"/>
            <a:ext cx="4206240" cy="384048"/>
          </a:xfrm>
          <a:prstGeom prst="rect">
            <a:avLst/>
          </a:prstGeom>
          <a:solidFill>
            <a:srgbClr val="E2E8F0"/>
          </a:solidFill>
          <a:ln w="12700">
            <a:solidFill>
              <a:srgbClr val="E2E8F0"/>
            </a:solidFill>
            <a:prstDash val="solid"/>
          </a:ln>
        </p:spPr>
      </p:sp>
      <p:sp>
        <p:nvSpPr>
          <p:cNvPr id="65" name="Text 63"/>
          <p:cNvSpPr/>
          <p:nvPr/>
        </p:nvSpPr>
        <p:spPr>
          <a:xfrm>
            <a:off x="4617720" y="4023360"/>
            <a:ext cx="4114800" cy="384048"/>
          </a:xfrm>
          <a:prstGeom prst="rect">
            <a:avLst/>
          </a:prstGeom>
          <a:noFill/>
          <a:ln/>
        </p:spPr>
        <p:txBody>
          <a:bodyPr wrap="square" lIns="0" tIns="0" rIns="0" bIns="0" rtlCol="0" anchor="ctr"/>
          <a:lstStyle/>
          <a:p>
            <a:pPr marL="0" indent="0" algn="l">
              <a:buNone/>
            </a:pPr>
            <a:r>
              <a:rPr lang="en-US" sz="850" dirty="0">
                <a:solidFill>
                  <a:srgbClr val="64748B"/>
                </a:solidFill>
                <a:latin typeface="Consolas" pitchFamily="34" charset="0"/>
                <a:ea typeface="Consolas" pitchFamily="34" charset="-122"/>
                <a:cs typeface="Consolas" pitchFamily="34" charset="-120"/>
              </a:rPr>
              <a:t>d(3): max(C_P2=1, C_m1=2)+1 = 3  ·  h(4): max(C_P3=1, C_m2=3)+1 = 4  ·  e(4): max(C_P1=2, C_m3=4)+1 = 5→4?  Verifique en clase</a:t>
            </a:r>
            <a:endParaRPr lang="en-US" sz="850" dirty="0"/>
          </a:p>
        </p:txBody>
      </p:sp>
      <p:sp>
        <p:nvSpPr>
          <p:cNvPr id="66" name="Shape 64"/>
          <p:cNvSpPr/>
          <p:nvPr/>
        </p:nvSpPr>
        <p:spPr>
          <a:xfrm>
            <a:off x="0" y="4892040"/>
            <a:ext cx="9144000" cy="251460"/>
          </a:xfrm>
          <a:prstGeom prst="rect">
            <a:avLst/>
          </a:prstGeom>
          <a:solidFill>
            <a:srgbClr val="0D1B40"/>
          </a:solidFill>
          <a:ln w="12700">
            <a:solidFill>
              <a:srgbClr val="0D1B40"/>
            </a:solidFill>
            <a:prstDash val="solid"/>
          </a:ln>
        </p:spPr>
      </p:sp>
      <p:sp>
        <p:nvSpPr>
          <p:cNvPr id="67" name="Text 65"/>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Ref: L. Lamport, 'Time, clocks, and the ordering of events,' Commun. ACM, vol. 21, no. 7, 1978. doi: 10.1145/359545.359563</a:t>
            </a:r>
            <a:endParaRPr lang="en-US" sz="800" dirty="0"/>
          </a:p>
        </p:txBody>
      </p:sp>
      <p:sp>
        <p:nvSpPr>
          <p:cNvPr id="68" name="Text 66"/>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05 · Actividades</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Semana 02</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Actividades y Entregables de la Semana</a:t>
            </a:r>
            <a:endParaRPr lang="en-US" sz="2000" dirty="0"/>
          </a:p>
        </p:txBody>
      </p:sp>
      <p:sp>
        <p:nvSpPr>
          <p:cNvPr id="7" name="Shape 5"/>
          <p:cNvSpPr/>
          <p:nvPr/>
        </p:nvSpPr>
        <p:spPr>
          <a:xfrm>
            <a:off x="365760" y="1024128"/>
            <a:ext cx="2651760" cy="3749040"/>
          </a:xfrm>
          <a:prstGeom prst="rect">
            <a:avLst/>
          </a:prstGeom>
          <a:solidFill>
            <a:srgbClr val="E8EDF8"/>
          </a:solidFill>
          <a:ln w="12700">
            <a:solidFill>
              <a:srgbClr val="E8EDF8"/>
            </a:solidFill>
            <a:prstDash val="solid"/>
          </a:ln>
          <a:effectLst>
            <a:outerShdw blurRad="101600" dist="38100" dir="8100000" algn="bl" rotWithShape="0">
              <a:srgbClr val="000000">
                <a:alpha val="12000"/>
              </a:srgbClr>
            </a:outerShdw>
          </a:effectLst>
        </p:spPr>
      </p:sp>
      <p:sp>
        <p:nvSpPr>
          <p:cNvPr id="8" name="Shape 6"/>
          <p:cNvSpPr/>
          <p:nvPr/>
        </p:nvSpPr>
        <p:spPr>
          <a:xfrm>
            <a:off x="365760" y="1024128"/>
            <a:ext cx="2651760" cy="658368"/>
          </a:xfrm>
          <a:prstGeom prst="rect">
            <a:avLst/>
          </a:prstGeom>
          <a:solidFill>
            <a:srgbClr val="1A2D6B"/>
          </a:solidFill>
          <a:ln w="12700">
            <a:solidFill>
              <a:srgbClr val="1A2D6B"/>
            </a:solidFill>
            <a:prstDash val="solid"/>
          </a:ln>
        </p:spPr>
      </p:sp>
      <p:sp>
        <p:nvSpPr>
          <p:cNvPr id="9" name="Text 7"/>
          <p:cNvSpPr/>
          <p:nvPr/>
        </p:nvSpPr>
        <p:spPr>
          <a:xfrm>
            <a:off x="438912" y="1042416"/>
            <a:ext cx="2514600" cy="21945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FORM-TL-01</a:t>
            </a:r>
            <a:endParaRPr lang="en-US" sz="1100" dirty="0"/>
          </a:p>
        </p:txBody>
      </p:sp>
      <p:sp>
        <p:nvSpPr>
          <p:cNvPr id="10" name="Text 8"/>
          <p:cNvSpPr/>
          <p:nvPr/>
        </p:nvSpPr>
        <p:spPr>
          <a:xfrm>
            <a:off x="438912" y="1243584"/>
            <a:ext cx="2514600" cy="182880"/>
          </a:xfrm>
          <a:prstGeom prst="rect">
            <a:avLst/>
          </a:prstGeom>
          <a:noFill/>
          <a:ln/>
        </p:spPr>
        <p:txBody>
          <a:bodyPr wrap="square" lIns="0" tIns="0" rIns="0" bIns="0" rtlCol="0" anchor="ctr"/>
          <a:lstStyle/>
          <a:p>
            <a:pPr marL="0" indent="0" algn="l">
              <a:buNone/>
            </a:pPr>
            <a:r>
              <a:rPr lang="en-US" sz="900" dirty="0">
                <a:solidFill>
                  <a:srgbClr val="AACCEE"/>
                </a:solidFill>
              </a:rPr>
              <a:t>GA · Taller en clase</a:t>
            </a:r>
            <a:endParaRPr lang="en-US" sz="900" dirty="0"/>
          </a:p>
        </p:txBody>
      </p:sp>
      <p:sp>
        <p:nvSpPr>
          <p:cNvPr id="11" name="Text 9"/>
          <p:cNvSpPr/>
          <p:nvPr/>
        </p:nvSpPr>
        <p:spPr>
          <a:xfrm>
            <a:off x="438912" y="1426464"/>
            <a:ext cx="251460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Modelado de Comunicación entre Procesos Distribuidos</a:t>
            </a:r>
            <a:endParaRPr lang="en-US" sz="950" dirty="0"/>
          </a:p>
        </p:txBody>
      </p:sp>
      <p:sp>
        <p:nvSpPr>
          <p:cNvPr id="12" name="Text 10"/>
          <p:cNvSpPr/>
          <p:nvPr/>
        </p:nvSpPr>
        <p:spPr>
          <a:xfrm>
            <a:off x="475488" y="1737360"/>
            <a:ext cx="2423160" cy="1783080"/>
          </a:xfrm>
          <a:prstGeom prst="rect">
            <a:avLst/>
          </a:prstGeom>
          <a:noFill/>
          <a:ln/>
        </p:spPr>
        <p:txBody>
          <a:bodyPr wrap="square" lIns="25400" tIns="25400" rIns="25400" bIns="2540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Diagrama de secuencia del protocolo de comunicación del PFC</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Elegir: Sockets TCP · RMI · gRPC — justificar con tabla comparativa</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Calcular Lamport timestamps para un escenario de 3 nodos</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Entregable: PDF del diagrama + hoja de cálculo de timestamps</a:t>
            </a:r>
            <a:endParaRPr lang="en-US" sz="950" dirty="0"/>
          </a:p>
        </p:txBody>
      </p:sp>
      <p:sp>
        <p:nvSpPr>
          <p:cNvPr id="13" name="Shape 11"/>
          <p:cNvSpPr/>
          <p:nvPr/>
        </p:nvSpPr>
        <p:spPr>
          <a:xfrm>
            <a:off x="457200" y="3584448"/>
            <a:ext cx="2468880" cy="201168"/>
          </a:xfrm>
          <a:prstGeom prst="rect">
            <a:avLst/>
          </a:prstGeom>
          <a:solidFill>
            <a:srgbClr val="1A2D6B"/>
          </a:solidFill>
          <a:ln w="12700">
            <a:solidFill>
              <a:srgbClr val="1A2D6B"/>
            </a:solidFill>
            <a:prstDash val="solid"/>
          </a:ln>
        </p:spPr>
      </p:sp>
      <p:sp>
        <p:nvSpPr>
          <p:cNvPr id="14" name="Text 12"/>
          <p:cNvSpPr/>
          <p:nvPr/>
        </p:nvSpPr>
        <p:spPr>
          <a:xfrm>
            <a:off x="457200" y="3584448"/>
            <a:ext cx="2468880" cy="201168"/>
          </a:xfrm>
          <a:prstGeom prst="rect">
            <a:avLst/>
          </a:prstGeom>
          <a:noFill/>
          <a:ln/>
        </p:spPr>
        <p:txBody>
          <a:bodyPr wrap="square" lIns="0" tIns="0" rIns="0" bIns="0" rtlCol="0" anchor="ctr"/>
          <a:lstStyle/>
          <a:p>
            <a:pPr marL="0" indent="0" algn="ctr">
              <a:buNone/>
            </a:pPr>
            <a:r>
              <a:rPr lang="en-US" sz="900" dirty="0">
                <a:solidFill>
                  <a:srgbClr val="FFFFFF"/>
                </a:solidFill>
              </a:rPr>
              <a:t>📅 Semana 2 (en clase)</a:t>
            </a:r>
            <a:endParaRPr lang="en-US" sz="900" dirty="0"/>
          </a:p>
        </p:txBody>
      </p:sp>
      <p:sp>
        <p:nvSpPr>
          <p:cNvPr id="15" name="Shape 13"/>
          <p:cNvSpPr/>
          <p:nvPr/>
        </p:nvSpPr>
        <p:spPr>
          <a:xfrm>
            <a:off x="3182112" y="1024128"/>
            <a:ext cx="2651760" cy="3749040"/>
          </a:xfrm>
          <a:prstGeom prst="rect">
            <a:avLst/>
          </a:prstGeom>
          <a:solidFill>
            <a:srgbClr val="D8F5F7"/>
          </a:solidFill>
          <a:ln w="12700">
            <a:solidFill>
              <a:srgbClr val="D8F5F7"/>
            </a:solidFill>
            <a:prstDash val="solid"/>
          </a:ln>
          <a:effectLst>
            <a:outerShdw blurRad="101600" dist="38100" dir="8100000" algn="bl" rotWithShape="0">
              <a:srgbClr val="000000">
                <a:alpha val="12000"/>
              </a:srgbClr>
            </a:outerShdw>
          </a:effectLst>
        </p:spPr>
      </p:sp>
      <p:sp>
        <p:nvSpPr>
          <p:cNvPr id="16" name="Shape 14"/>
          <p:cNvSpPr/>
          <p:nvPr/>
        </p:nvSpPr>
        <p:spPr>
          <a:xfrm>
            <a:off x="3182112" y="1024128"/>
            <a:ext cx="2651760" cy="658368"/>
          </a:xfrm>
          <a:prstGeom prst="rect">
            <a:avLst/>
          </a:prstGeom>
          <a:solidFill>
            <a:srgbClr val="0D7377"/>
          </a:solidFill>
          <a:ln w="12700">
            <a:solidFill>
              <a:srgbClr val="0D7377"/>
            </a:solidFill>
            <a:prstDash val="solid"/>
          </a:ln>
        </p:spPr>
      </p:sp>
      <p:sp>
        <p:nvSpPr>
          <p:cNvPr id="17" name="Text 15"/>
          <p:cNvSpPr/>
          <p:nvPr/>
        </p:nvSpPr>
        <p:spPr>
          <a:xfrm>
            <a:off x="3255264" y="1042416"/>
            <a:ext cx="2514600" cy="21945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FORM-FB-01</a:t>
            </a:r>
            <a:endParaRPr lang="en-US" sz="1100" dirty="0"/>
          </a:p>
        </p:txBody>
      </p:sp>
      <p:sp>
        <p:nvSpPr>
          <p:cNvPr id="18" name="Text 16"/>
          <p:cNvSpPr/>
          <p:nvPr/>
        </p:nvSpPr>
        <p:spPr>
          <a:xfrm>
            <a:off x="3255264" y="1243584"/>
            <a:ext cx="2514600" cy="182880"/>
          </a:xfrm>
          <a:prstGeom prst="rect">
            <a:avLst/>
          </a:prstGeom>
          <a:noFill/>
          <a:ln/>
        </p:spPr>
        <p:txBody>
          <a:bodyPr wrap="square" lIns="0" tIns="0" rIns="0" bIns="0" rtlCol="0" anchor="ctr"/>
          <a:lstStyle/>
          <a:p>
            <a:pPr marL="0" indent="0" algn="l">
              <a:buNone/>
            </a:pPr>
            <a:r>
              <a:rPr lang="en-US" sz="900" dirty="0">
                <a:solidFill>
                  <a:srgbClr val="AACCEE"/>
                </a:solidFill>
              </a:rPr>
              <a:t>TA · Ficha Bibliográfica</a:t>
            </a:r>
            <a:endParaRPr lang="en-US" sz="900" dirty="0"/>
          </a:p>
        </p:txBody>
      </p:sp>
      <p:sp>
        <p:nvSpPr>
          <p:cNvPr id="19" name="Text 17"/>
          <p:cNvSpPr/>
          <p:nvPr/>
        </p:nvSpPr>
        <p:spPr>
          <a:xfrm>
            <a:off x="3255264" y="1426464"/>
            <a:ext cx="251460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Fundamentos de SD y Arquitecturas Distribuidas</a:t>
            </a:r>
            <a:endParaRPr lang="en-US" sz="950" dirty="0"/>
          </a:p>
        </p:txBody>
      </p:sp>
      <p:sp>
        <p:nvSpPr>
          <p:cNvPr id="20" name="Text 18"/>
          <p:cNvSpPr/>
          <p:nvPr/>
        </p:nvSpPr>
        <p:spPr>
          <a:xfrm>
            <a:off x="3291840" y="1737360"/>
            <a:ext cx="2423160" cy="1783080"/>
          </a:xfrm>
          <a:prstGeom prst="rect">
            <a:avLst/>
          </a:prstGeom>
          <a:noFill/>
          <a:ln/>
        </p:spPr>
        <p:txBody>
          <a:bodyPr wrap="square" lIns="25400" tIns="25400" rIns="25400" bIns="2540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4 fichas IEEE de artículos indexados sobre temas de la semana</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Mínimo 2 con DOI verificable y resumen crítico de 100 palabras c/u</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Fuentes válidas: IEEE Xplore, ACM DL, Springer, ScienceDirect</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Formato LaTeX obligatorio — compilar sin errores</a:t>
            </a:r>
            <a:endParaRPr lang="en-US" sz="950" dirty="0"/>
          </a:p>
        </p:txBody>
      </p:sp>
      <p:sp>
        <p:nvSpPr>
          <p:cNvPr id="21" name="Shape 19"/>
          <p:cNvSpPr/>
          <p:nvPr/>
        </p:nvSpPr>
        <p:spPr>
          <a:xfrm>
            <a:off x="3273552" y="3584448"/>
            <a:ext cx="2468880" cy="201168"/>
          </a:xfrm>
          <a:prstGeom prst="rect">
            <a:avLst/>
          </a:prstGeom>
          <a:solidFill>
            <a:srgbClr val="0D7377"/>
          </a:solidFill>
          <a:ln w="12700">
            <a:solidFill>
              <a:srgbClr val="0D7377"/>
            </a:solidFill>
            <a:prstDash val="solid"/>
          </a:ln>
        </p:spPr>
      </p:sp>
      <p:sp>
        <p:nvSpPr>
          <p:cNvPr id="22" name="Text 20"/>
          <p:cNvSpPr/>
          <p:nvPr/>
        </p:nvSpPr>
        <p:spPr>
          <a:xfrm>
            <a:off x="3273552" y="3584448"/>
            <a:ext cx="2468880" cy="201168"/>
          </a:xfrm>
          <a:prstGeom prst="rect">
            <a:avLst/>
          </a:prstGeom>
          <a:noFill/>
          <a:ln/>
        </p:spPr>
        <p:txBody>
          <a:bodyPr wrap="square" lIns="0" tIns="0" rIns="0" bIns="0" rtlCol="0" anchor="ctr"/>
          <a:lstStyle/>
          <a:p>
            <a:pPr marL="0" indent="0" algn="ctr">
              <a:buNone/>
            </a:pPr>
            <a:r>
              <a:rPr lang="en-US" sz="900" dirty="0">
                <a:solidFill>
                  <a:srgbClr val="FFFFFF"/>
                </a:solidFill>
              </a:rPr>
              <a:t>📅 Fin de Semana 2</a:t>
            </a:r>
            <a:endParaRPr lang="en-US" sz="900" dirty="0"/>
          </a:p>
        </p:txBody>
      </p:sp>
      <p:sp>
        <p:nvSpPr>
          <p:cNvPr id="23" name="Shape 21"/>
          <p:cNvSpPr/>
          <p:nvPr/>
        </p:nvSpPr>
        <p:spPr>
          <a:xfrm>
            <a:off x="5998464" y="1024128"/>
            <a:ext cx="2651760" cy="3749040"/>
          </a:xfrm>
          <a:prstGeom prst="rect">
            <a:avLst/>
          </a:prstGeom>
          <a:solidFill>
            <a:srgbClr val="D1FAE5"/>
          </a:solidFill>
          <a:ln w="12700">
            <a:solidFill>
              <a:srgbClr val="D1FAE5"/>
            </a:solidFill>
            <a:prstDash val="solid"/>
          </a:ln>
          <a:effectLst>
            <a:outerShdw blurRad="101600" dist="38100" dir="8100000" algn="bl" rotWithShape="0">
              <a:srgbClr val="000000">
                <a:alpha val="12000"/>
              </a:srgbClr>
            </a:outerShdw>
          </a:effectLst>
        </p:spPr>
      </p:sp>
      <p:sp>
        <p:nvSpPr>
          <p:cNvPr id="24" name="Shape 22"/>
          <p:cNvSpPr/>
          <p:nvPr/>
        </p:nvSpPr>
        <p:spPr>
          <a:xfrm>
            <a:off x="5998464" y="1024128"/>
            <a:ext cx="2651760" cy="658368"/>
          </a:xfrm>
          <a:prstGeom prst="rect">
            <a:avLst/>
          </a:prstGeom>
          <a:solidFill>
            <a:srgbClr val="059669"/>
          </a:solidFill>
          <a:ln w="12700">
            <a:solidFill>
              <a:srgbClr val="059669"/>
            </a:solidFill>
            <a:prstDash val="solid"/>
          </a:ln>
        </p:spPr>
      </p:sp>
      <p:sp>
        <p:nvSpPr>
          <p:cNvPr id="25" name="Text 23"/>
          <p:cNvSpPr/>
          <p:nvPr/>
        </p:nvSpPr>
        <p:spPr>
          <a:xfrm>
            <a:off x="6071616" y="1042416"/>
            <a:ext cx="2514600" cy="21945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AVANCE PFC</a:t>
            </a:r>
            <a:endParaRPr lang="en-US" sz="1100" dirty="0"/>
          </a:p>
        </p:txBody>
      </p:sp>
      <p:sp>
        <p:nvSpPr>
          <p:cNvPr id="26" name="Text 24"/>
          <p:cNvSpPr/>
          <p:nvPr/>
        </p:nvSpPr>
        <p:spPr>
          <a:xfrm>
            <a:off x="6071616" y="1243584"/>
            <a:ext cx="2514600" cy="182880"/>
          </a:xfrm>
          <a:prstGeom prst="rect">
            <a:avLst/>
          </a:prstGeom>
          <a:noFill/>
          <a:ln/>
        </p:spPr>
        <p:txBody>
          <a:bodyPr wrap="square" lIns="0" tIns="0" rIns="0" bIns="0" rtlCol="0" anchor="ctr"/>
          <a:lstStyle/>
          <a:p>
            <a:pPr marL="0" indent="0" algn="l">
              <a:buNone/>
            </a:pPr>
            <a:r>
              <a:rPr lang="en-US" sz="900" dirty="0">
                <a:solidFill>
                  <a:srgbClr val="AACCEE"/>
                </a:solidFill>
              </a:rPr>
              <a:t>TA · Trabajo Autónomo</a:t>
            </a:r>
            <a:endParaRPr lang="en-US" sz="900" dirty="0"/>
          </a:p>
        </p:txBody>
      </p:sp>
      <p:sp>
        <p:nvSpPr>
          <p:cNvPr id="27" name="Text 25"/>
          <p:cNvSpPr/>
          <p:nvPr/>
        </p:nvSpPr>
        <p:spPr>
          <a:xfrm>
            <a:off x="6071616" y="1426464"/>
            <a:ext cx="2514600" cy="237744"/>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Inicio Documento TA-PFC-E1 (entrega Semana 4)</a:t>
            </a:r>
            <a:endParaRPr lang="en-US" sz="950" dirty="0"/>
          </a:p>
        </p:txBody>
      </p:sp>
      <p:sp>
        <p:nvSpPr>
          <p:cNvPr id="28" name="Text 26"/>
          <p:cNvSpPr/>
          <p:nvPr/>
        </p:nvSpPr>
        <p:spPr>
          <a:xfrm>
            <a:off x="6108192" y="1737360"/>
            <a:ext cx="2423160" cy="1783080"/>
          </a:xfrm>
          <a:prstGeom prst="rect">
            <a:avLst/>
          </a:prstGeom>
          <a:noFill/>
          <a:ln/>
        </p:spPr>
        <p:txBody>
          <a:bodyPr wrap="square" lIns="25400" tIns="25400" rIns="25400" bIns="25400" rtlCol="0" anchor="t"/>
          <a:lstStyle/>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Sección 4.1 del fundamento teórico (≥300 palabras + 2 referencias IEEE)</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Diagrama C4 nivel 1 del sistema en TikZ o PlantUML</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Decisión justificada del mecanismo de comunicación para el PFC</a:t>
            </a:r>
            <a:endParaRPr lang="en-US" sz="950" dirty="0"/>
          </a:p>
          <a:p>
            <a:pPr marL="342900" indent="-342900">
              <a:buSzPct val="100000"/>
              <a:buChar char="•"/>
            </a:pPr>
            <a:r>
              <a:rPr lang="en-US" sz="950" dirty="0">
                <a:solidFill>
                  <a:srgbClr val="334155"/>
                </a:solidFill>
                <a:latin typeface="Calibri" pitchFamily="34" charset="0"/>
                <a:ea typeface="Calibri" pitchFamily="34" charset="-122"/>
                <a:cs typeface="Calibri" pitchFamily="34" charset="-120"/>
              </a:rPr>
              <a:t>Repositorio GitHub con estructura /src /docs + primer commit</a:t>
            </a:r>
            <a:endParaRPr lang="en-US" sz="950" dirty="0"/>
          </a:p>
        </p:txBody>
      </p:sp>
      <p:sp>
        <p:nvSpPr>
          <p:cNvPr id="29" name="Shape 27"/>
          <p:cNvSpPr/>
          <p:nvPr/>
        </p:nvSpPr>
        <p:spPr>
          <a:xfrm>
            <a:off x="6089904" y="3584448"/>
            <a:ext cx="2468880" cy="201168"/>
          </a:xfrm>
          <a:prstGeom prst="rect">
            <a:avLst/>
          </a:prstGeom>
          <a:solidFill>
            <a:srgbClr val="059669"/>
          </a:solidFill>
          <a:ln w="12700">
            <a:solidFill>
              <a:srgbClr val="059669"/>
            </a:solidFill>
            <a:prstDash val="solid"/>
          </a:ln>
        </p:spPr>
      </p:sp>
      <p:sp>
        <p:nvSpPr>
          <p:cNvPr id="30" name="Text 28"/>
          <p:cNvSpPr/>
          <p:nvPr/>
        </p:nvSpPr>
        <p:spPr>
          <a:xfrm>
            <a:off x="6089904" y="3584448"/>
            <a:ext cx="2468880" cy="201168"/>
          </a:xfrm>
          <a:prstGeom prst="rect">
            <a:avLst/>
          </a:prstGeom>
          <a:noFill/>
          <a:ln/>
        </p:spPr>
        <p:txBody>
          <a:bodyPr wrap="square" lIns="0" tIns="0" rIns="0" bIns="0" rtlCol="0" anchor="ctr"/>
          <a:lstStyle/>
          <a:p>
            <a:pPr marL="0" indent="0" algn="ctr">
              <a:buNone/>
            </a:pPr>
            <a:r>
              <a:rPr lang="en-US" sz="900" dirty="0">
                <a:solidFill>
                  <a:srgbClr val="FFFFFF"/>
                </a:solidFill>
              </a:rPr>
              <a:t>📅 Avance semana 2 → entrega semana 4</a:t>
            </a:r>
            <a:endParaRPr lang="en-US" sz="900" dirty="0"/>
          </a:p>
        </p:txBody>
      </p:sp>
      <p:sp>
        <p:nvSpPr>
          <p:cNvPr id="31" name="Shape 29"/>
          <p:cNvSpPr/>
          <p:nvPr/>
        </p:nvSpPr>
        <p:spPr>
          <a:xfrm>
            <a:off x="365760" y="4818888"/>
            <a:ext cx="8412480" cy="301752"/>
          </a:xfrm>
          <a:prstGeom prst="rect">
            <a:avLst/>
          </a:prstGeom>
          <a:solidFill>
            <a:srgbClr val="FEF3C7"/>
          </a:solidFill>
          <a:ln w="12700">
            <a:solidFill>
              <a:srgbClr val="FEF3C7"/>
            </a:solidFill>
            <a:prstDash val="solid"/>
          </a:ln>
        </p:spPr>
      </p:sp>
      <p:sp>
        <p:nvSpPr>
          <p:cNvPr id="32" name="Text 30"/>
          <p:cNvSpPr/>
          <p:nvPr/>
        </p:nvSpPr>
        <p:spPr>
          <a:xfrm>
            <a:off x="502920" y="4818888"/>
            <a:ext cx="8138160" cy="301752"/>
          </a:xfrm>
          <a:prstGeom prst="rect">
            <a:avLst/>
          </a:prstGeom>
          <a:noFill/>
          <a:ln/>
        </p:spPr>
        <p:txBody>
          <a:bodyPr wrap="square" lIns="0" tIns="0" rIns="0" bIns="0" rtlCol="0" anchor="ctr"/>
          <a:lstStyle/>
          <a:p>
            <a:pPr marL="0" indent="0" algn="l">
              <a:buNone/>
            </a:pPr>
            <a:r>
              <a:rPr lang="en-US" sz="950" dirty="0">
                <a:solidFill>
                  <a:srgbClr val="7B3F00"/>
                </a:solidFill>
              </a:rPr>
              <a:t>⚠  GA-SUM-01 (Práctica Experimental 1) se entrega en la Semana 4. Esta semana es de preparación: configure el entorno IntelliJ / Python, clone el repositorio del equipo y asigne roles.</a:t>
            </a:r>
            <a:endParaRPr lang="en-US" sz="950" dirty="0"/>
          </a:p>
        </p:txBody>
      </p:sp>
      <p:sp>
        <p:nvSpPr>
          <p:cNvPr id="33" name="Shape 31"/>
          <p:cNvSpPr/>
          <p:nvPr/>
        </p:nvSpPr>
        <p:spPr>
          <a:xfrm>
            <a:off x="0" y="4892040"/>
            <a:ext cx="9144000" cy="251460"/>
          </a:xfrm>
          <a:prstGeom prst="rect">
            <a:avLst/>
          </a:prstGeom>
          <a:solidFill>
            <a:srgbClr val="0D1B40"/>
          </a:solidFill>
          <a:ln w="12700">
            <a:solidFill>
              <a:srgbClr val="0D1B40"/>
            </a:solidFill>
            <a:prstDash val="solid"/>
          </a:ln>
        </p:spPr>
      </p:sp>
      <p:sp>
        <p:nvSpPr>
          <p:cNvPr id="34" name="Text 32"/>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Evaluación: GA (Gestión del Aprendizaje) + TA (Trabajo Autónomo) | Ver sílabo para pesos exactos</a:t>
            </a:r>
            <a:endParaRPr lang="en-US" sz="800" dirty="0"/>
          </a:p>
        </p:txBody>
      </p:sp>
      <p:sp>
        <p:nvSpPr>
          <p:cNvPr id="35" name="Text 33"/>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Guía · FORM-TL-01</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Modelado de Comunicación</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2000" b="1" dirty="0">
                <a:solidFill>
                  <a:srgbClr val="0D1B40"/>
                </a:solidFill>
                <a:latin typeface="Calibri" pitchFamily="34" charset="0"/>
                <a:ea typeface="Calibri" pitchFamily="34" charset="-122"/>
                <a:cs typeface="Calibri" pitchFamily="34" charset="-120"/>
              </a:rPr>
              <a:t>Guía Completa — Taller FORM-TL-01</a:t>
            </a:r>
            <a:endParaRPr lang="en-US" sz="2000" dirty="0"/>
          </a:p>
        </p:txBody>
      </p:sp>
      <p:sp>
        <p:nvSpPr>
          <p:cNvPr id="7" name="Shape 5"/>
          <p:cNvSpPr/>
          <p:nvPr/>
        </p:nvSpPr>
        <p:spPr>
          <a:xfrm>
            <a:off x="365760" y="1024128"/>
            <a:ext cx="5029200" cy="3749040"/>
          </a:xfrm>
          <a:prstGeom prst="rect">
            <a:avLst/>
          </a:prstGeom>
          <a:solidFill>
            <a:srgbClr val="FFFFFF"/>
          </a:solidFill>
          <a:ln w="12700">
            <a:solidFill>
              <a:srgbClr val="FFFFFF"/>
            </a:solidFill>
            <a:prstDash val="solid"/>
          </a:ln>
          <a:effectLst/>
        </p:spPr>
      </p:sp>
      <p:sp>
        <p:nvSpPr>
          <p:cNvPr id="8" name="Shape 6"/>
          <p:cNvSpPr/>
          <p:nvPr/>
        </p:nvSpPr>
        <p:spPr>
          <a:xfrm>
            <a:off x="365760" y="1024128"/>
            <a:ext cx="5029200" cy="320040"/>
          </a:xfrm>
          <a:prstGeom prst="rect">
            <a:avLst/>
          </a:prstGeom>
          <a:solidFill>
            <a:srgbClr val="1A2D6B"/>
          </a:solidFill>
          <a:ln w="12700">
            <a:solidFill>
              <a:srgbClr val="1A2D6B"/>
            </a:solidFill>
            <a:prstDash val="solid"/>
          </a:ln>
        </p:spPr>
      </p:sp>
      <p:sp>
        <p:nvSpPr>
          <p:cNvPr id="9" name="Text 7"/>
          <p:cNvSpPr/>
          <p:nvPr/>
        </p:nvSpPr>
        <p:spPr>
          <a:xfrm>
            <a:off x="548640" y="1024128"/>
            <a:ext cx="4663440" cy="3200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Instrucciones de la Actividad</a:t>
            </a:r>
            <a:endParaRPr lang="en-US" sz="1300" dirty="0"/>
          </a:p>
        </p:txBody>
      </p:sp>
      <p:sp>
        <p:nvSpPr>
          <p:cNvPr id="10" name="Shape 8"/>
          <p:cNvSpPr/>
          <p:nvPr/>
        </p:nvSpPr>
        <p:spPr>
          <a:xfrm>
            <a:off x="457200" y="1417320"/>
            <a:ext cx="329184" cy="329184"/>
          </a:xfrm>
          <a:prstGeom prst="rect">
            <a:avLst/>
          </a:prstGeom>
          <a:solidFill>
            <a:srgbClr val="1A2D6B"/>
          </a:solidFill>
          <a:ln w="12700">
            <a:solidFill>
              <a:srgbClr val="1A2D6B"/>
            </a:solidFill>
            <a:prstDash val="solid"/>
          </a:ln>
        </p:spPr>
      </p:sp>
      <p:sp>
        <p:nvSpPr>
          <p:cNvPr id="11" name="Text 9"/>
          <p:cNvSpPr/>
          <p:nvPr/>
        </p:nvSpPr>
        <p:spPr>
          <a:xfrm>
            <a:off x="457200" y="1417320"/>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①</a:t>
            </a:r>
            <a:endParaRPr lang="en-US" sz="1200" dirty="0"/>
          </a:p>
        </p:txBody>
      </p:sp>
      <p:sp>
        <p:nvSpPr>
          <p:cNvPr id="12" name="Text 10"/>
          <p:cNvSpPr/>
          <p:nvPr/>
        </p:nvSpPr>
        <p:spPr>
          <a:xfrm>
            <a:off x="850392" y="1417320"/>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Formen grupos de 3-4. Elijan arquitecto (quien coordina el diagrama), dos modeladores, un documentalista.</a:t>
            </a:r>
            <a:endParaRPr lang="en-US" sz="1000" dirty="0"/>
          </a:p>
        </p:txBody>
      </p:sp>
      <p:sp>
        <p:nvSpPr>
          <p:cNvPr id="13" name="Shape 11"/>
          <p:cNvSpPr/>
          <p:nvPr/>
        </p:nvSpPr>
        <p:spPr>
          <a:xfrm>
            <a:off x="457200" y="1929384"/>
            <a:ext cx="329184" cy="329184"/>
          </a:xfrm>
          <a:prstGeom prst="rect">
            <a:avLst/>
          </a:prstGeom>
          <a:solidFill>
            <a:srgbClr val="1A2D6B"/>
          </a:solidFill>
          <a:ln w="12700">
            <a:solidFill>
              <a:srgbClr val="1A2D6B"/>
            </a:solidFill>
            <a:prstDash val="solid"/>
          </a:ln>
        </p:spPr>
      </p:sp>
      <p:sp>
        <p:nvSpPr>
          <p:cNvPr id="14" name="Text 12"/>
          <p:cNvSpPr/>
          <p:nvPr/>
        </p:nvSpPr>
        <p:spPr>
          <a:xfrm>
            <a:off x="457200" y="1929384"/>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②</a:t>
            </a:r>
            <a:endParaRPr lang="en-US" sz="1200" dirty="0"/>
          </a:p>
        </p:txBody>
      </p:sp>
      <p:sp>
        <p:nvSpPr>
          <p:cNvPr id="15" name="Text 13"/>
          <p:cNvSpPr/>
          <p:nvPr/>
        </p:nvSpPr>
        <p:spPr>
          <a:xfrm>
            <a:off x="850392" y="1929384"/>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Seleccionen el mecanismo de comunicación para el PFC: Sockets TCP · RMI Java · gRPC. Completen la tabla comparativa (ver rúbrica).</a:t>
            </a:r>
            <a:endParaRPr lang="en-US" sz="1000" dirty="0"/>
          </a:p>
        </p:txBody>
      </p:sp>
      <p:sp>
        <p:nvSpPr>
          <p:cNvPr id="16" name="Shape 14"/>
          <p:cNvSpPr/>
          <p:nvPr/>
        </p:nvSpPr>
        <p:spPr>
          <a:xfrm>
            <a:off x="457200" y="2441448"/>
            <a:ext cx="329184" cy="329184"/>
          </a:xfrm>
          <a:prstGeom prst="rect">
            <a:avLst/>
          </a:prstGeom>
          <a:solidFill>
            <a:srgbClr val="1A2D6B"/>
          </a:solidFill>
          <a:ln w="12700">
            <a:solidFill>
              <a:srgbClr val="1A2D6B"/>
            </a:solidFill>
            <a:prstDash val="solid"/>
          </a:ln>
        </p:spPr>
      </p:sp>
      <p:sp>
        <p:nvSpPr>
          <p:cNvPr id="17" name="Text 15"/>
          <p:cNvSpPr/>
          <p:nvPr/>
        </p:nvSpPr>
        <p:spPr>
          <a:xfrm>
            <a:off x="457200" y="2441448"/>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③</a:t>
            </a:r>
            <a:endParaRPr lang="en-US" sz="1200" dirty="0"/>
          </a:p>
        </p:txBody>
      </p:sp>
      <p:sp>
        <p:nvSpPr>
          <p:cNvPr id="18" name="Text 16"/>
          <p:cNvSpPr/>
          <p:nvPr/>
        </p:nvSpPr>
        <p:spPr>
          <a:xfrm>
            <a:off x="850392" y="2441448"/>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Dibujen el diagrama de secuencia del flujo principal de su PFC usando el mecanismo elegido. Mínimo 3 nodos, 5 mensajes.</a:t>
            </a:r>
            <a:endParaRPr lang="en-US" sz="1000" dirty="0"/>
          </a:p>
        </p:txBody>
      </p:sp>
      <p:sp>
        <p:nvSpPr>
          <p:cNvPr id="19" name="Shape 17"/>
          <p:cNvSpPr/>
          <p:nvPr/>
        </p:nvSpPr>
        <p:spPr>
          <a:xfrm>
            <a:off x="457200" y="2953512"/>
            <a:ext cx="329184" cy="329184"/>
          </a:xfrm>
          <a:prstGeom prst="rect">
            <a:avLst/>
          </a:prstGeom>
          <a:solidFill>
            <a:srgbClr val="1A2D6B"/>
          </a:solidFill>
          <a:ln w="12700">
            <a:solidFill>
              <a:srgbClr val="1A2D6B"/>
            </a:solidFill>
            <a:prstDash val="solid"/>
          </a:ln>
        </p:spPr>
      </p:sp>
      <p:sp>
        <p:nvSpPr>
          <p:cNvPr id="20" name="Text 18"/>
          <p:cNvSpPr/>
          <p:nvPr/>
        </p:nvSpPr>
        <p:spPr>
          <a:xfrm>
            <a:off x="457200" y="2953512"/>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④</a:t>
            </a:r>
            <a:endParaRPr lang="en-US" sz="1200" dirty="0"/>
          </a:p>
        </p:txBody>
      </p:sp>
      <p:sp>
        <p:nvSpPr>
          <p:cNvPr id="21" name="Text 19"/>
          <p:cNvSpPr/>
          <p:nvPr/>
        </p:nvSpPr>
        <p:spPr>
          <a:xfrm>
            <a:off x="850392" y="2953512"/>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Asignen timestamps de Lamport a cada evento del diagrama. Verifiquen la propiedad: si a → b entonces C(a) &lt; C(b).</a:t>
            </a:r>
            <a:endParaRPr lang="en-US" sz="1000" dirty="0"/>
          </a:p>
        </p:txBody>
      </p:sp>
      <p:sp>
        <p:nvSpPr>
          <p:cNvPr id="22" name="Shape 20"/>
          <p:cNvSpPr/>
          <p:nvPr/>
        </p:nvSpPr>
        <p:spPr>
          <a:xfrm>
            <a:off x="457200" y="3465576"/>
            <a:ext cx="329184" cy="329184"/>
          </a:xfrm>
          <a:prstGeom prst="rect">
            <a:avLst/>
          </a:prstGeom>
          <a:solidFill>
            <a:srgbClr val="1A2D6B"/>
          </a:solidFill>
          <a:ln w="12700">
            <a:solidFill>
              <a:srgbClr val="1A2D6B"/>
            </a:solidFill>
            <a:prstDash val="solid"/>
          </a:ln>
        </p:spPr>
      </p:sp>
      <p:sp>
        <p:nvSpPr>
          <p:cNvPr id="23" name="Text 21"/>
          <p:cNvSpPr/>
          <p:nvPr/>
        </p:nvSpPr>
        <p:spPr>
          <a:xfrm>
            <a:off x="457200" y="3465576"/>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⑤</a:t>
            </a:r>
            <a:endParaRPr lang="en-US" sz="1200" dirty="0"/>
          </a:p>
        </p:txBody>
      </p:sp>
      <p:sp>
        <p:nvSpPr>
          <p:cNvPr id="24" name="Text 22"/>
          <p:cNvSpPr/>
          <p:nvPr/>
        </p:nvSpPr>
        <p:spPr>
          <a:xfrm>
            <a:off x="850392" y="3465576"/>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Redacten la justificación técnica de la elección (1 párrafo, ≥50 palabras, sin calificativos vacíos como 'es mejor').</a:t>
            </a:r>
            <a:endParaRPr lang="en-US" sz="1000" dirty="0"/>
          </a:p>
        </p:txBody>
      </p:sp>
      <p:sp>
        <p:nvSpPr>
          <p:cNvPr id="25" name="Shape 23"/>
          <p:cNvSpPr/>
          <p:nvPr/>
        </p:nvSpPr>
        <p:spPr>
          <a:xfrm>
            <a:off x="457200" y="3977640"/>
            <a:ext cx="329184" cy="329184"/>
          </a:xfrm>
          <a:prstGeom prst="rect">
            <a:avLst/>
          </a:prstGeom>
          <a:solidFill>
            <a:srgbClr val="1A2D6B"/>
          </a:solidFill>
          <a:ln w="12700">
            <a:solidFill>
              <a:srgbClr val="1A2D6B"/>
            </a:solidFill>
            <a:prstDash val="solid"/>
          </a:ln>
        </p:spPr>
      </p:sp>
      <p:sp>
        <p:nvSpPr>
          <p:cNvPr id="26" name="Text 24"/>
          <p:cNvSpPr/>
          <p:nvPr/>
        </p:nvSpPr>
        <p:spPr>
          <a:xfrm>
            <a:off x="457200" y="3977640"/>
            <a:ext cx="329184" cy="329184"/>
          </a:xfrm>
          <a:prstGeom prst="rect">
            <a:avLst/>
          </a:prstGeom>
          <a:noFill/>
          <a:ln/>
        </p:spPr>
        <p:txBody>
          <a:bodyPr wrap="square" lIns="0" tIns="0" rIns="0" bIns="0" rtlCol="0" anchor="ctr"/>
          <a:lstStyle/>
          <a:p>
            <a:pPr marL="0" indent="0" algn="ctr">
              <a:buNone/>
            </a:pPr>
            <a:r>
              <a:rPr lang="en-US" sz="1200" dirty="0">
                <a:solidFill>
                  <a:srgbClr val="FFFFFF"/>
                </a:solidFill>
              </a:rPr>
              <a:t>⑥</a:t>
            </a:r>
            <a:endParaRPr lang="en-US" sz="1200" dirty="0"/>
          </a:p>
        </p:txBody>
      </p:sp>
      <p:sp>
        <p:nvSpPr>
          <p:cNvPr id="27" name="Text 25"/>
          <p:cNvSpPr/>
          <p:nvPr/>
        </p:nvSpPr>
        <p:spPr>
          <a:xfrm>
            <a:off x="850392" y="3977640"/>
            <a:ext cx="4389120" cy="329184"/>
          </a:xfrm>
          <a:prstGeom prst="rect">
            <a:avLst/>
          </a:prstGeom>
          <a:noFill/>
          <a:ln/>
        </p:spPr>
        <p:txBody>
          <a:bodyPr wrap="square" lIns="0" tIns="0" rIns="0" bIns="0" rtlCol="0" anchor="ctr"/>
          <a:lstStyle/>
          <a:p>
            <a:pPr marL="0" indent="0" algn="l">
              <a:buNone/>
            </a:pPr>
            <a:r>
              <a:rPr lang="en-US" sz="1000" dirty="0">
                <a:solidFill>
                  <a:srgbClr val="334155"/>
                </a:solidFill>
                <a:latin typeface="Calibri" pitchFamily="34" charset="0"/>
                <a:ea typeface="Calibri" pitchFamily="34" charset="-122"/>
                <a:cs typeface="Calibri" pitchFamily="34" charset="-120"/>
              </a:rPr>
              <a:t>Entreguen: PDF del diagrama + hoja de cálculo de timestamps. Repositorio GitHub actualizado con primer commit.</a:t>
            </a:r>
            <a:endParaRPr lang="en-US" sz="1000" dirty="0"/>
          </a:p>
        </p:txBody>
      </p:sp>
      <p:sp>
        <p:nvSpPr>
          <p:cNvPr id="28" name="Shape 26"/>
          <p:cNvSpPr/>
          <p:nvPr/>
        </p:nvSpPr>
        <p:spPr>
          <a:xfrm>
            <a:off x="5577840" y="1024128"/>
            <a:ext cx="3200400" cy="3749040"/>
          </a:xfrm>
          <a:prstGeom prst="rect">
            <a:avLst/>
          </a:prstGeom>
          <a:solidFill>
            <a:srgbClr val="FFFFFF"/>
          </a:solidFill>
          <a:ln w="12700">
            <a:solidFill>
              <a:srgbClr val="FFFFFF"/>
            </a:solidFill>
            <a:prstDash val="solid"/>
          </a:ln>
          <a:effectLst/>
        </p:spPr>
      </p:sp>
      <p:sp>
        <p:nvSpPr>
          <p:cNvPr id="29" name="Shape 27"/>
          <p:cNvSpPr/>
          <p:nvPr/>
        </p:nvSpPr>
        <p:spPr>
          <a:xfrm>
            <a:off x="5577840" y="1024128"/>
            <a:ext cx="3200400" cy="320040"/>
          </a:xfrm>
          <a:prstGeom prst="rect">
            <a:avLst/>
          </a:prstGeom>
          <a:solidFill>
            <a:srgbClr val="0D7377"/>
          </a:solidFill>
          <a:ln w="12700">
            <a:solidFill>
              <a:srgbClr val="0D7377"/>
            </a:solidFill>
            <a:prstDash val="solid"/>
          </a:ln>
        </p:spPr>
      </p:sp>
      <p:sp>
        <p:nvSpPr>
          <p:cNvPr id="30" name="Text 28"/>
          <p:cNvSpPr/>
          <p:nvPr/>
        </p:nvSpPr>
        <p:spPr>
          <a:xfrm>
            <a:off x="5760720" y="1024128"/>
            <a:ext cx="2834640" cy="3200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Rúbrica de Evaluación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23560" y="1417320"/>
          <a:ext cx="3108960" cy="3246120"/>
        </p:xfrm>
        <a:graphic>
          <a:graphicData uri="http://schemas.openxmlformats.org/drawingml/2006/table">
            <a:tbl>
              <a:tblPr/>
              <a:tblGrid>
                <a:gridCol w="24688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tblGrid>
              <a:tr h="541020">
                <a:tc>
                  <a:txBody>
                    <a:bodyPr/>
                    <a:lstStyle/>
                    <a:p>
                      <a:pPr marL="0" indent="0">
                        <a:buNone/>
                      </a:pPr>
                      <a:r>
                        <a:rPr lang="en-US" sz="900" b="1" dirty="0">
                          <a:solidFill>
                            <a:srgbClr val="FFFFFF"/>
                          </a:solidFill>
                        </a:rPr>
                        <a:t>Criterio</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7377"/>
                    </a:solidFill>
                  </a:tcPr>
                </a:tc>
                <a:tc>
                  <a:txBody>
                    <a:bodyPr/>
                    <a:lstStyle/>
                    <a:p>
                      <a:pPr marL="0" indent="0">
                        <a:buNone/>
                      </a:pPr>
                      <a:r>
                        <a:rPr lang="en-US" sz="900" b="1" dirty="0">
                          <a:solidFill>
                            <a:srgbClr val="FFFFFF"/>
                          </a:solidFill>
                        </a:rPr>
                        <a:t>Pts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541020">
                <a:tc>
                  <a:txBody>
                    <a:bodyPr/>
                    <a:lstStyle/>
                    <a:p>
                      <a:pPr marL="0" indent="0">
                        <a:buNone/>
                      </a:pPr>
                      <a:r>
                        <a:rPr lang="en-US" sz="850" dirty="0">
                          <a:solidFill>
                            <a:srgbClr val="334155"/>
                          </a:solidFill>
                        </a:rPr>
                        <a:t>Diagrama correcto (UML/SD)</a:t>
                      </a:r>
                      <a:endParaRPr lang="en-US" sz="850" dirty="0"/>
                    </a:p>
                    <a:p>
                      <a:pPr marL="0" indent="0">
                        <a:buNone/>
                      </a:pPr>
                      <a:r>
                        <a:rPr lang="en-US" sz="850" dirty="0">
                          <a:solidFill>
                            <a:srgbClr val="334155"/>
                          </a:solidFill>
                        </a:rPr>
                        <a:t>Actores, mensajes, orden causal, tipos de flecha correctos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ctr">
                        <a:buNone/>
                      </a:pPr>
                      <a:r>
                        <a:rPr lang="en-US" sz="1100" b="1" dirty="0">
                          <a:solidFill>
                            <a:srgbClr val="0D1B40"/>
                          </a:solidFill>
                        </a:rPr>
                        <a:t>30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extLst>
                  <a:ext uri="{0D108BD9-81ED-4DB2-BD59-A6C34878D82A}">
                    <a16:rowId xmlns:a16="http://schemas.microsoft.com/office/drawing/2014/main" val="10001"/>
                  </a:ext>
                </a:extLst>
              </a:tr>
              <a:tr h="541020">
                <a:tc>
                  <a:txBody>
                    <a:bodyPr/>
                    <a:lstStyle/>
                    <a:p>
                      <a:pPr marL="0" indent="0">
                        <a:buNone/>
                      </a:pPr>
                      <a:r>
                        <a:rPr lang="en-US" sz="850" dirty="0">
                          <a:solidFill>
                            <a:srgbClr val="334155"/>
                          </a:solidFill>
                        </a:rPr>
                        <a:t>Elección + tabla comparativa</a:t>
                      </a:r>
                      <a:endParaRPr lang="en-US" sz="850" dirty="0"/>
                    </a:p>
                    <a:p>
                      <a:pPr marL="0" indent="0">
                        <a:buNone/>
                      </a:pPr>
                      <a:r>
                        <a:rPr lang="en-US" sz="850" dirty="0">
                          <a:solidFill>
                            <a:srgbClr val="334155"/>
                          </a:solidFill>
                        </a:rPr>
                        <a:t>3 criterios técnicos cuantificados, decisión justificada</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1B40"/>
                          </a:solidFill>
                        </a:rPr>
                        <a:t>25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1020">
                <a:tc>
                  <a:txBody>
                    <a:bodyPr/>
                    <a:lstStyle/>
                    <a:p>
                      <a:pPr marL="0" indent="0">
                        <a:buNone/>
                      </a:pPr>
                      <a:r>
                        <a:rPr lang="en-US" sz="850" dirty="0">
                          <a:solidFill>
                            <a:srgbClr val="334155"/>
                          </a:solidFill>
                        </a:rPr>
                        <a:t>Timestamps de Lamport</a:t>
                      </a:r>
                      <a:endParaRPr lang="en-US" sz="850" dirty="0"/>
                    </a:p>
                    <a:p>
                      <a:pPr marL="0" indent="0">
                        <a:buNone/>
                      </a:pPr>
                      <a:r>
                        <a:rPr lang="en-US" sz="850" dirty="0">
                          <a:solidFill>
                            <a:srgbClr val="334155"/>
                          </a:solidFill>
                        </a:rPr>
                        <a:t>Cálculo correcto de los 3 pasos; propiedad verificada con al menos 2 pares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ctr">
                        <a:buNone/>
                      </a:pPr>
                      <a:r>
                        <a:rPr lang="en-US" sz="1100" b="1" dirty="0">
                          <a:solidFill>
                            <a:srgbClr val="0D1B40"/>
                          </a:solidFill>
                        </a:rPr>
                        <a:t>25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extLst>
                  <a:ext uri="{0D108BD9-81ED-4DB2-BD59-A6C34878D82A}">
                    <a16:rowId xmlns:a16="http://schemas.microsoft.com/office/drawing/2014/main" val="10003"/>
                  </a:ext>
                </a:extLst>
              </a:tr>
              <a:tr h="541020">
                <a:tc>
                  <a:txBody>
                    <a:bodyPr/>
                    <a:lstStyle/>
                    <a:p>
                      <a:pPr marL="0" indent="0">
                        <a:buNone/>
                      </a:pPr>
                      <a:r>
                        <a:rPr lang="en-US" sz="850" dirty="0">
                          <a:solidFill>
                            <a:srgbClr val="334155"/>
                          </a:solidFill>
                        </a:rPr>
                        <a:t>Justificación técnica</a:t>
                      </a:r>
                      <a:endParaRPr lang="en-US" sz="850" dirty="0"/>
                    </a:p>
                    <a:p>
                      <a:pPr marL="0" indent="0">
                        <a:buNone/>
                      </a:pPr>
                      <a:r>
                        <a:rPr lang="en-US" sz="850" dirty="0">
                          <a:solidFill>
                            <a:srgbClr val="334155"/>
                          </a:solidFill>
                        </a:rPr>
                        <a:t>≥50 palabras, sin subjetividades, con referencias (1 mínimo)</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1B40"/>
                          </a:solidFill>
                        </a:rPr>
                        <a:t>10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1020">
                <a:tc>
                  <a:txBody>
                    <a:bodyPr/>
                    <a:lstStyle/>
                    <a:p>
                      <a:pPr marL="0" indent="0">
                        <a:buNone/>
                      </a:pPr>
                      <a:r>
                        <a:rPr lang="en-US" sz="850" dirty="0">
                          <a:solidFill>
                            <a:srgbClr val="334155"/>
                          </a:solidFill>
                        </a:rPr>
                        <a:t>Repositorio GitHub</a:t>
                      </a:r>
                      <a:endParaRPr lang="en-US" sz="850" dirty="0"/>
                    </a:p>
                    <a:p>
                      <a:pPr marL="0" indent="0">
                        <a:buNone/>
                      </a:pPr>
                      <a:r>
                        <a:rPr lang="en-US" sz="850" dirty="0">
                          <a:solidFill>
                            <a:srgbClr val="334155"/>
                          </a:solidFill>
                        </a:rPr>
                        <a:t>URL válida, commit de todos los integrantes, estructura /src /docs</a:t>
                      </a:r>
                      <a:endParaRPr lang="en-US" sz="8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ctr">
                        <a:buNone/>
                      </a:pPr>
                      <a:r>
                        <a:rPr lang="en-US" sz="1100" b="1" dirty="0">
                          <a:solidFill>
                            <a:srgbClr val="0D1B40"/>
                          </a:solidFill>
                        </a:rPr>
                        <a:t>10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extLst>
                  <a:ext uri="{0D108BD9-81ED-4DB2-BD59-A6C34878D82A}">
                    <a16:rowId xmlns:a16="http://schemas.microsoft.com/office/drawing/2014/main" val="10005"/>
                  </a:ext>
                </a:extLst>
              </a:tr>
            </a:tbl>
          </a:graphicData>
        </a:graphic>
      </p:graphicFrame>
      <p:sp>
        <p:nvSpPr>
          <p:cNvPr id="32" name="Shape 29"/>
          <p:cNvSpPr/>
          <p:nvPr/>
        </p:nvSpPr>
        <p:spPr>
          <a:xfrm>
            <a:off x="5577840" y="4681728"/>
            <a:ext cx="3200400" cy="91440"/>
          </a:xfrm>
          <a:prstGeom prst="rect">
            <a:avLst/>
          </a:prstGeom>
          <a:solidFill>
            <a:srgbClr val="E2E8F0"/>
          </a:solidFill>
          <a:ln w="12700">
            <a:solidFill>
              <a:srgbClr val="E2E8F0"/>
            </a:solidFill>
            <a:prstDash val="solid"/>
          </a:ln>
        </p:spPr>
      </p:sp>
      <p:sp>
        <p:nvSpPr>
          <p:cNvPr id="33" name="Shape 30"/>
          <p:cNvSpPr/>
          <p:nvPr/>
        </p:nvSpPr>
        <p:spPr>
          <a:xfrm>
            <a:off x="0" y="4892040"/>
            <a:ext cx="9144000" cy="251460"/>
          </a:xfrm>
          <a:prstGeom prst="rect">
            <a:avLst/>
          </a:prstGeom>
          <a:solidFill>
            <a:srgbClr val="0D1B40"/>
          </a:solidFill>
          <a:ln w="12700">
            <a:solidFill>
              <a:srgbClr val="0D1B40"/>
            </a:solidFill>
            <a:prstDash val="solid"/>
          </a:ln>
        </p:spPr>
      </p:sp>
      <p:sp>
        <p:nvSpPr>
          <p:cNvPr id="34" name="Text 31"/>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Actividad FORM-TL-01 · Tipo GA (Gestión del Aprendizaje) · Modalidad Grupal 3-4 integrantes · Estrategia: Aprendizaje basado en problemas</a:t>
            </a:r>
            <a:endParaRPr lang="en-US" sz="800" dirty="0"/>
          </a:p>
        </p:txBody>
      </p:sp>
      <p:sp>
        <p:nvSpPr>
          <p:cNvPr id="35" name="Text 32"/>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40"/>
          </a:solidFill>
          <a:ln w="12700">
            <a:solidFill>
              <a:srgbClr val="0D1B40"/>
            </a:solidFill>
            <a:prstDash val="solid"/>
          </a:ln>
        </p:spPr>
      </p:sp>
      <p:sp>
        <p:nvSpPr>
          <p:cNvPr id="3" name="Text 1"/>
          <p:cNvSpPr/>
          <p:nvPr/>
        </p:nvSpPr>
        <p:spPr>
          <a:xfrm>
            <a:off x="201168" y="0"/>
            <a:ext cx="4572000" cy="475488"/>
          </a:xfrm>
          <a:prstGeom prst="rect">
            <a:avLst/>
          </a:prstGeom>
          <a:noFill/>
          <a:ln/>
        </p:spPr>
        <p:txBody>
          <a:bodyPr wrap="square" lIns="0" tIns="0" rIns="0" bIns="0" rtlCol="0" anchor="ctr"/>
          <a:lstStyle/>
          <a:p>
            <a:pPr marL="0" indent="0" algn="l">
              <a:buNone/>
            </a:pPr>
            <a:r>
              <a:rPr lang="en-US" sz="1000" dirty="0">
                <a:solidFill>
                  <a:srgbClr val="AABBCC"/>
                </a:solidFill>
                <a:latin typeface="Calibri" pitchFamily="34" charset="0"/>
                <a:ea typeface="Calibri" pitchFamily="34" charset="-122"/>
                <a:cs typeface="Calibri" pitchFamily="34" charset="-120"/>
              </a:rPr>
              <a:t>Guía · GA-SUM-01</a:t>
            </a:r>
            <a:endParaRPr lang="en-US" sz="1000" dirty="0"/>
          </a:p>
        </p:txBody>
      </p:sp>
      <p:sp>
        <p:nvSpPr>
          <p:cNvPr id="4" name="Text 2"/>
          <p:cNvSpPr/>
          <p:nvPr/>
        </p:nvSpPr>
        <p:spPr>
          <a:xfrm>
            <a:off x="3200400" y="0"/>
            <a:ext cx="2743200" cy="475488"/>
          </a:xfrm>
          <a:prstGeom prst="rect">
            <a:avLst/>
          </a:prstGeom>
          <a:noFill/>
          <a:ln/>
        </p:spPr>
        <p:txBody>
          <a:bodyPr wrap="square" lIns="0" tIns="0" rIns="0" bIns="0" rtlCol="0" anchor="ctr"/>
          <a:lstStyle/>
          <a:p>
            <a:pPr marL="0" indent="0" algn="ctr">
              <a:buNone/>
            </a:pPr>
            <a:r>
              <a:rPr lang="en-US" sz="1000" b="1" dirty="0">
                <a:solidFill>
                  <a:srgbClr val="14A0A7"/>
                </a:solidFill>
                <a:latin typeface="Calibri" pitchFamily="34" charset="0"/>
                <a:ea typeface="Calibri" pitchFamily="34" charset="-122"/>
                <a:cs typeface="Calibri" pitchFamily="34" charset="-120"/>
              </a:rPr>
              <a:t>Práctica Experimental 1 (entrega semana 4)</a:t>
            </a:r>
            <a:endParaRPr lang="en-US" sz="1000" dirty="0"/>
          </a:p>
        </p:txBody>
      </p:sp>
      <p:sp>
        <p:nvSpPr>
          <p:cNvPr id="5" name="Text 3"/>
          <p:cNvSpPr/>
          <p:nvPr/>
        </p:nvSpPr>
        <p:spPr>
          <a:xfrm>
            <a:off x="6583680" y="0"/>
            <a:ext cx="2377440" cy="475488"/>
          </a:xfrm>
          <a:prstGeom prst="rect">
            <a:avLst/>
          </a:prstGeom>
          <a:noFill/>
          <a:ln/>
        </p:spPr>
        <p:txBody>
          <a:bodyPr wrap="square" lIns="0" tIns="0" rIns="0" bIns="0" rtlCol="0" anchor="ctr"/>
          <a:lstStyle/>
          <a:p>
            <a:pPr marL="0" indent="0" algn="r">
              <a:buNone/>
            </a:pPr>
            <a:r>
              <a:rPr lang="en-US" sz="900" dirty="0">
                <a:solidFill>
                  <a:srgbClr val="88AACC"/>
                </a:solidFill>
                <a:latin typeface="Calibri" pitchFamily="34" charset="0"/>
                <a:ea typeface="Calibri" pitchFamily="34" charset="-122"/>
                <a:cs typeface="Calibri" pitchFamily="34" charset="-120"/>
              </a:rPr>
              <a:t>ISR-701 · Semana 02</a:t>
            </a:r>
            <a:endParaRPr lang="en-US" sz="900" dirty="0"/>
          </a:p>
        </p:txBody>
      </p:sp>
      <p:sp>
        <p:nvSpPr>
          <p:cNvPr id="6" name="Text 4"/>
          <p:cNvSpPr/>
          <p:nvPr/>
        </p:nvSpPr>
        <p:spPr>
          <a:xfrm>
            <a:off x="365760" y="566928"/>
            <a:ext cx="8412480" cy="384048"/>
          </a:xfrm>
          <a:prstGeom prst="rect">
            <a:avLst/>
          </a:prstGeom>
          <a:noFill/>
          <a:ln/>
        </p:spPr>
        <p:txBody>
          <a:bodyPr wrap="square" lIns="0" tIns="0" rIns="0" bIns="0" rtlCol="0" anchor="ctr"/>
          <a:lstStyle/>
          <a:p>
            <a:pPr marL="0" indent="0" algn="l">
              <a:buNone/>
            </a:pPr>
            <a:r>
              <a:rPr lang="en-US" sz="1900" b="1" dirty="0">
                <a:solidFill>
                  <a:srgbClr val="0D1B40"/>
                </a:solidFill>
                <a:latin typeface="Calibri" pitchFamily="34" charset="0"/>
                <a:ea typeface="Calibri" pitchFamily="34" charset="-122"/>
                <a:cs typeface="Calibri" pitchFamily="34" charset="-120"/>
              </a:rPr>
              <a:t>GA-SUM-01 — Sockets TCP y gRPC con Lamport (Semana 4)</a:t>
            </a:r>
            <a:endParaRPr lang="en-US" sz="1900" dirty="0"/>
          </a:p>
        </p:txBody>
      </p:sp>
      <p:sp>
        <p:nvSpPr>
          <p:cNvPr id="7" name="Shape 5"/>
          <p:cNvSpPr/>
          <p:nvPr/>
        </p:nvSpPr>
        <p:spPr>
          <a:xfrm>
            <a:off x="365760" y="1005840"/>
            <a:ext cx="1618488" cy="438912"/>
          </a:xfrm>
          <a:prstGeom prst="rect">
            <a:avLst/>
          </a:prstGeom>
          <a:solidFill>
            <a:srgbClr val="1A2D6B"/>
          </a:solidFill>
          <a:ln w="12700">
            <a:solidFill>
              <a:srgbClr val="1A2D6B"/>
            </a:solidFill>
            <a:prstDash val="solid"/>
          </a:ln>
        </p:spPr>
      </p:sp>
      <p:sp>
        <p:nvSpPr>
          <p:cNvPr id="8" name="Text 6"/>
          <p:cNvSpPr/>
          <p:nvPr/>
        </p:nvSpPr>
        <p:spPr>
          <a:xfrm>
            <a:off x="365760" y="1005840"/>
            <a:ext cx="1618488" cy="219456"/>
          </a:xfrm>
          <a:prstGeom prst="rect">
            <a:avLst/>
          </a:prstGeom>
          <a:noFill/>
          <a:ln/>
        </p:spPr>
        <p:txBody>
          <a:bodyPr wrap="square" lIns="0" tIns="0" rIns="0" bIns="0" rtlCol="0" anchor="ctr"/>
          <a:lstStyle/>
          <a:p>
            <a:pPr marL="0" indent="0" algn="ctr">
              <a:buNone/>
            </a:pPr>
            <a:r>
              <a:rPr lang="en-US" sz="900" dirty="0">
                <a:solidFill>
                  <a:srgbClr val="AABBCC"/>
                </a:solidFill>
              </a:rPr>
              <a:t>Código</a:t>
            </a:r>
            <a:endParaRPr lang="en-US" sz="900" dirty="0"/>
          </a:p>
        </p:txBody>
      </p:sp>
      <p:sp>
        <p:nvSpPr>
          <p:cNvPr id="9" name="Text 7"/>
          <p:cNvSpPr/>
          <p:nvPr/>
        </p:nvSpPr>
        <p:spPr>
          <a:xfrm>
            <a:off x="365760" y="1188720"/>
            <a:ext cx="1618488"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GA-SUM-01</a:t>
            </a:r>
            <a:endParaRPr lang="en-US" sz="1000" dirty="0"/>
          </a:p>
        </p:txBody>
      </p:sp>
      <p:sp>
        <p:nvSpPr>
          <p:cNvPr id="10" name="Shape 8"/>
          <p:cNvSpPr/>
          <p:nvPr/>
        </p:nvSpPr>
        <p:spPr>
          <a:xfrm>
            <a:off x="2075688" y="1005840"/>
            <a:ext cx="1618488" cy="438912"/>
          </a:xfrm>
          <a:prstGeom prst="rect">
            <a:avLst/>
          </a:prstGeom>
          <a:solidFill>
            <a:srgbClr val="0D7377"/>
          </a:solidFill>
          <a:ln w="12700">
            <a:solidFill>
              <a:srgbClr val="0D7377"/>
            </a:solidFill>
            <a:prstDash val="solid"/>
          </a:ln>
        </p:spPr>
      </p:sp>
      <p:sp>
        <p:nvSpPr>
          <p:cNvPr id="11" name="Text 9"/>
          <p:cNvSpPr/>
          <p:nvPr/>
        </p:nvSpPr>
        <p:spPr>
          <a:xfrm>
            <a:off x="2075688" y="1005840"/>
            <a:ext cx="1618488" cy="219456"/>
          </a:xfrm>
          <a:prstGeom prst="rect">
            <a:avLst/>
          </a:prstGeom>
          <a:noFill/>
          <a:ln/>
        </p:spPr>
        <p:txBody>
          <a:bodyPr wrap="square" lIns="0" tIns="0" rIns="0" bIns="0" rtlCol="0" anchor="ctr"/>
          <a:lstStyle/>
          <a:p>
            <a:pPr marL="0" indent="0" algn="ctr">
              <a:buNone/>
            </a:pPr>
            <a:r>
              <a:rPr lang="en-US" sz="900" dirty="0">
                <a:solidFill>
                  <a:srgbClr val="AABBCC"/>
                </a:solidFill>
              </a:rPr>
              <a:t>Unidad</a:t>
            </a:r>
            <a:endParaRPr lang="en-US" sz="900" dirty="0"/>
          </a:p>
        </p:txBody>
      </p:sp>
      <p:sp>
        <p:nvSpPr>
          <p:cNvPr id="12" name="Text 10"/>
          <p:cNvSpPr/>
          <p:nvPr/>
        </p:nvSpPr>
        <p:spPr>
          <a:xfrm>
            <a:off x="2075688" y="1188720"/>
            <a:ext cx="1618488"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U1 — Generalidades SD</a:t>
            </a:r>
            <a:endParaRPr lang="en-US" sz="1000" dirty="0"/>
          </a:p>
        </p:txBody>
      </p:sp>
      <p:sp>
        <p:nvSpPr>
          <p:cNvPr id="13" name="Shape 11"/>
          <p:cNvSpPr/>
          <p:nvPr/>
        </p:nvSpPr>
        <p:spPr>
          <a:xfrm>
            <a:off x="3785616" y="1005840"/>
            <a:ext cx="1618488" cy="438912"/>
          </a:xfrm>
          <a:prstGeom prst="rect">
            <a:avLst/>
          </a:prstGeom>
          <a:solidFill>
            <a:srgbClr val="1A2D6B"/>
          </a:solidFill>
          <a:ln w="12700">
            <a:solidFill>
              <a:srgbClr val="1A2D6B"/>
            </a:solidFill>
            <a:prstDash val="solid"/>
          </a:ln>
        </p:spPr>
      </p:sp>
      <p:sp>
        <p:nvSpPr>
          <p:cNvPr id="14" name="Text 12"/>
          <p:cNvSpPr/>
          <p:nvPr/>
        </p:nvSpPr>
        <p:spPr>
          <a:xfrm>
            <a:off x="3785616" y="1005840"/>
            <a:ext cx="1618488" cy="219456"/>
          </a:xfrm>
          <a:prstGeom prst="rect">
            <a:avLst/>
          </a:prstGeom>
          <a:noFill/>
          <a:ln/>
        </p:spPr>
        <p:txBody>
          <a:bodyPr wrap="square" lIns="0" tIns="0" rIns="0" bIns="0" rtlCol="0" anchor="ctr"/>
          <a:lstStyle/>
          <a:p>
            <a:pPr marL="0" indent="0" algn="ctr">
              <a:buNone/>
            </a:pPr>
            <a:r>
              <a:rPr lang="en-US" sz="900" dirty="0">
                <a:solidFill>
                  <a:srgbClr val="AABBCC"/>
                </a:solidFill>
              </a:rPr>
              <a:t>Entrega</a:t>
            </a:r>
            <a:endParaRPr lang="en-US" sz="900" dirty="0"/>
          </a:p>
        </p:txBody>
      </p:sp>
      <p:sp>
        <p:nvSpPr>
          <p:cNvPr id="15" name="Text 13"/>
          <p:cNvSpPr/>
          <p:nvPr/>
        </p:nvSpPr>
        <p:spPr>
          <a:xfrm>
            <a:off x="3785616" y="1188720"/>
            <a:ext cx="1618488"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Semana 4</a:t>
            </a:r>
            <a:endParaRPr lang="en-US" sz="1000" dirty="0"/>
          </a:p>
        </p:txBody>
      </p:sp>
      <p:sp>
        <p:nvSpPr>
          <p:cNvPr id="16" name="Shape 14"/>
          <p:cNvSpPr/>
          <p:nvPr/>
        </p:nvSpPr>
        <p:spPr>
          <a:xfrm>
            <a:off x="5495544" y="1005840"/>
            <a:ext cx="1618488" cy="438912"/>
          </a:xfrm>
          <a:prstGeom prst="rect">
            <a:avLst/>
          </a:prstGeom>
          <a:solidFill>
            <a:srgbClr val="0D7377"/>
          </a:solidFill>
          <a:ln w="12700">
            <a:solidFill>
              <a:srgbClr val="0D7377"/>
            </a:solidFill>
            <a:prstDash val="solid"/>
          </a:ln>
        </p:spPr>
      </p:sp>
      <p:sp>
        <p:nvSpPr>
          <p:cNvPr id="17" name="Text 15"/>
          <p:cNvSpPr/>
          <p:nvPr/>
        </p:nvSpPr>
        <p:spPr>
          <a:xfrm>
            <a:off x="5495544" y="1005840"/>
            <a:ext cx="1618488" cy="219456"/>
          </a:xfrm>
          <a:prstGeom prst="rect">
            <a:avLst/>
          </a:prstGeom>
          <a:noFill/>
          <a:ln/>
        </p:spPr>
        <p:txBody>
          <a:bodyPr wrap="square" lIns="0" tIns="0" rIns="0" bIns="0" rtlCol="0" anchor="ctr"/>
          <a:lstStyle/>
          <a:p>
            <a:pPr marL="0" indent="0" algn="ctr">
              <a:buNone/>
            </a:pPr>
            <a:r>
              <a:rPr lang="en-US" sz="900" dirty="0">
                <a:solidFill>
                  <a:srgbClr val="AABBCC"/>
                </a:solidFill>
              </a:rPr>
              <a:t>Modalidad</a:t>
            </a:r>
            <a:endParaRPr lang="en-US" sz="900" dirty="0"/>
          </a:p>
        </p:txBody>
      </p:sp>
      <p:sp>
        <p:nvSpPr>
          <p:cNvPr id="18" name="Text 16"/>
          <p:cNvSpPr/>
          <p:nvPr/>
        </p:nvSpPr>
        <p:spPr>
          <a:xfrm>
            <a:off x="5495544" y="1188720"/>
            <a:ext cx="1618488"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Grupal 3-4</a:t>
            </a:r>
            <a:endParaRPr lang="en-US" sz="1000" dirty="0"/>
          </a:p>
        </p:txBody>
      </p:sp>
      <p:sp>
        <p:nvSpPr>
          <p:cNvPr id="19" name="Shape 17"/>
          <p:cNvSpPr/>
          <p:nvPr/>
        </p:nvSpPr>
        <p:spPr>
          <a:xfrm>
            <a:off x="7205472" y="1005840"/>
            <a:ext cx="1618488" cy="438912"/>
          </a:xfrm>
          <a:prstGeom prst="rect">
            <a:avLst/>
          </a:prstGeom>
          <a:solidFill>
            <a:srgbClr val="1A2D6B"/>
          </a:solidFill>
          <a:ln w="12700">
            <a:solidFill>
              <a:srgbClr val="1A2D6B"/>
            </a:solidFill>
            <a:prstDash val="solid"/>
          </a:ln>
        </p:spPr>
      </p:sp>
      <p:sp>
        <p:nvSpPr>
          <p:cNvPr id="20" name="Text 18"/>
          <p:cNvSpPr/>
          <p:nvPr/>
        </p:nvSpPr>
        <p:spPr>
          <a:xfrm>
            <a:off x="7205472" y="1005840"/>
            <a:ext cx="1618488" cy="219456"/>
          </a:xfrm>
          <a:prstGeom prst="rect">
            <a:avLst/>
          </a:prstGeom>
          <a:noFill/>
          <a:ln/>
        </p:spPr>
        <p:txBody>
          <a:bodyPr wrap="square" lIns="0" tIns="0" rIns="0" bIns="0" rtlCol="0" anchor="ctr"/>
          <a:lstStyle/>
          <a:p>
            <a:pPr marL="0" indent="0" algn="ctr">
              <a:buNone/>
            </a:pPr>
            <a:r>
              <a:rPr lang="en-US" sz="900" dirty="0">
                <a:solidFill>
                  <a:srgbClr val="AABBCC"/>
                </a:solidFill>
              </a:rPr>
              <a:t>Tiempo</a:t>
            </a:r>
            <a:endParaRPr lang="en-US" sz="900" dirty="0"/>
          </a:p>
        </p:txBody>
      </p:sp>
      <p:sp>
        <p:nvSpPr>
          <p:cNvPr id="21" name="Text 19"/>
          <p:cNvSpPr/>
          <p:nvPr/>
        </p:nvSpPr>
        <p:spPr>
          <a:xfrm>
            <a:off x="7205472" y="1188720"/>
            <a:ext cx="1618488"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3h lab + 5h autónomo</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536192"/>
          <a:ext cx="7863840" cy="3200400"/>
        </p:xfrm>
        <a:graphic>
          <a:graphicData uri="http://schemas.openxmlformats.org/drawingml/2006/table">
            <a:tbl>
              <a:tblPr/>
              <a:tblGrid>
                <a:gridCol w="1828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533400">
                <a:tc>
                  <a:txBody>
                    <a:bodyPr/>
                    <a:lstStyle/>
                    <a:p>
                      <a:pPr marL="0" indent="0" algn="l">
                        <a:buNone/>
                      </a:pPr>
                      <a:r>
                        <a:rPr lang="en-US" sz="950" b="1" dirty="0">
                          <a:solidFill>
                            <a:srgbClr val="FFFFFF"/>
                          </a:solidFill>
                        </a:rPr>
                        <a:t>Criterio</a:t>
                      </a:r>
                      <a:endParaRPr lang="en-US" sz="9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D6B"/>
                    </a:solidFill>
                  </a:tcPr>
                </a:tc>
                <a:tc>
                  <a:txBody>
                    <a:bodyPr/>
                    <a:lstStyle/>
                    <a:p>
                      <a:pPr marL="0" indent="0" algn="l">
                        <a:buNone/>
                      </a:pPr>
                      <a:r>
                        <a:rPr lang="en-US" sz="950" b="1" dirty="0">
                          <a:solidFill>
                            <a:srgbClr val="FFFFFF"/>
                          </a:solidFill>
                        </a:rPr>
                        <a:t>Excelente (4)</a:t>
                      </a:r>
                      <a:endParaRPr lang="en-US" sz="9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D6B"/>
                    </a:solidFill>
                  </a:tcPr>
                </a:tc>
                <a:tc>
                  <a:txBody>
                    <a:bodyPr/>
                    <a:lstStyle/>
                    <a:p>
                      <a:pPr marL="0" indent="0" algn="l">
                        <a:buNone/>
                      </a:pPr>
                      <a:r>
                        <a:rPr lang="en-US" sz="950" b="1" dirty="0">
                          <a:solidFill>
                            <a:srgbClr val="FFFFFF"/>
                          </a:solidFill>
                        </a:rPr>
                        <a:t>Satisfactorio (3)</a:t>
                      </a:r>
                      <a:endParaRPr lang="en-US" sz="9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D6B"/>
                    </a:solidFill>
                  </a:tcPr>
                </a:tc>
                <a:tc>
                  <a:txBody>
                    <a:bodyPr/>
                    <a:lstStyle/>
                    <a:p>
                      <a:pPr marL="0" indent="0" algn="l">
                        <a:buNone/>
                      </a:pPr>
                      <a:r>
                        <a:rPr lang="en-US" sz="950" b="1" dirty="0">
                          <a:solidFill>
                            <a:srgbClr val="FFFFFF"/>
                          </a:solidFill>
                        </a:rPr>
                        <a:t>En desarrollo (2)</a:t>
                      </a:r>
                      <a:endParaRPr lang="en-US" sz="9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D6B"/>
                    </a:solidFill>
                  </a:tcPr>
                </a:tc>
                <a:tc>
                  <a:txBody>
                    <a:bodyPr/>
                    <a:lstStyle/>
                    <a:p>
                      <a:pPr marL="0" indent="0" algn="ctr">
                        <a:buNone/>
                      </a:pPr>
                      <a:r>
                        <a:rPr lang="en-US" sz="950" b="1" dirty="0">
                          <a:solidFill>
                            <a:srgbClr val="FFFFFF"/>
                          </a:solidFill>
                        </a:rPr>
                        <a:t>Pts</a:t>
                      </a:r>
                      <a:endParaRPr lang="en-US" sz="9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D6B"/>
                    </a:solidFill>
                  </a:tcPr>
                </a:tc>
                <a:extLst>
                  <a:ext uri="{0D108BD9-81ED-4DB2-BD59-A6C34878D82A}">
                    <a16:rowId xmlns:a16="http://schemas.microsoft.com/office/drawing/2014/main" val="10000"/>
                  </a:ext>
                </a:extLst>
              </a:tr>
              <a:tr h="533400">
                <a:tc>
                  <a:txBody>
                    <a:bodyPr/>
                    <a:lstStyle/>
                    <a:p>
                      <a:pPr marL="0" indent="0" algn="l">
                        <a:buNone/>
                      </a:pPr>
                      <a:r>
                        <a:rPr lang="en-US" sz="850" dirty="0">
                          <a:solidFill>
                            <a:srgbClr val="334155"/>
                          </a:solidFill>
                        </a:rPr>
                        <a:t>Impl. Sockets TCP</a:t>
                      </a:r>
                      <a:endParaRPr lang="en-US" sz="850" dirty="0"/>
                    </a:p>
                    <a:p>
                      <a:pPr marL="0" indent="0" algn="l">
                        <a:buNone/>
                      </a:pPr>
                      <a:r>
                        <a:rPr lang="en-US" sz="850" dirty="0">
                          <a:solidFill>
                            <a:srgbClr val="334155"/>
                          </a:solidFill>
                        </a:rPr>
                        <a:t>3 nodos · Lamport</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Funciona sin errores; timestamps correctos; latencia medida con 100 envíos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Funciona con 1-2 errores menores; timestamps mayormt. correctos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Funciona parcialmente; errors en Lamport</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1B40"/>
                          </a:solidFill>
                        </a:rPr>
                        <a:t>20</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a:lstStyle/>
                    <a:p>
                      <a:pPr marL="0" indent="0" algn="l">
                        <a:buNone/>
                      </a:pPr>
                      <a:r>
                        <a:rPr lang="en-US" sz="850" dirty="0">
                          <a:solidFill>
                            <a:srgbClr val="334155"/>
                          </a:solidFill>
                        </a:rPr>
                        <a:t>Impl. gRPC</a:t>
                      </a:r>
                      <a:endParaRPr lang="en-US" sz="850" dirty="0"/>
                    </a:p>
                    <a:p>
                      <a:pPr marL="0" indent="0" algn="l">
                        <a:buNone/>
                      </a:pPr>
                      <a:r>
                        <a:rPr lang="en-US" sz="850" dirty="0">
                          <a:solidFill>
                            <a:srgbClr val="334155"/>
                          </a:solidFill>
                        </a:rPr>
                        <a:t>.proto + código</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gRPC funcional; .proto bien definido; streaming o bidireccional</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gRPC funcional; .proto básico; solo unario</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gRPC parcial; .proto con errores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ctr">
                        <a:buNone/>
                      </a:pPr>
                      <a:r>
                        <a:rPr lang="en-US" sz="850" b="1" dirty="0">
                          <a:solidFill>
                            <a:srgbClr val="0D1B40"/>
                          </a:solidFill>
                        </a:rPr>
                        <a:t>20</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extLst>
                  <a:ext uri="{0D108BD9-81ED-4DB2-BD59-A6C34878D82A}">
                    <a16:rowId xmlns:a16="http://schemas.microsoft.com/office/drawing/2014/main" val="10002"/>
                  </a:ext>
                </a:extLst>
              </a:tr>
              <a:tr h="533400">
                <a:tc>
                  <a:txBody>
                    <a:bodyPr/>
                    <a:lstStyle/>
                    <a:p>
                      <a:pPr marL="0" indent="0" algn="l">
                        <a:buNone/>
                      </a:pPr>
                      <a:r>
                        <a:rPr lang="en-US" sz="850" dirty="0">
                          <a:solidFill>
                            <a:srgbClr val="334155"/>
                          </a:solidFill>
                        </a:rPr>
                        <a:t>Análisis comparativo</a:t>
                      </a:r>
                      <a:endParaRPr lang="en-US" sz="850" dirty="0"/>
                    </a:p>
                    <a:p>
                      <a:pPr marL="0" indent="0" algn="l">
                        <a:buNone/>
                      </a:pPr>
                      <a:r>
                        <a:rPr lang="en-US" sz="850" dirty="0">
                          <a:solidFill>
                            <a:srgbClr val="334155"/>
                          </a:solidFill>
                        </a:rPr>
                        <a:t>Latencia + estadísticas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Media, desviación, P95 para ambos; boxplot 300DPI; conclusión técnica justificada</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Estadísticas parciales; gráfica básica; análisis superficial</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Solo latencia media; sin gráfica</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1B40"/>
                          </a:solidFill>
                        </a:rPr>
                        <a:t>15</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3400">
                <a:tc>
                  <a:txBody>
                    <a:bodyPr/>
                    <a:lstStyle/>
                    <a:p>
                      <a:pPr marL="0" indent="0" algn="l">
                        <a:buNone/>
                      </a:pPr>
                      <a:r>
                        <a:rPr lang="en-US" sz="850" dirty="0">
                          <a:solidFill>
                            <a:srgbClr val="334155"/>
                          </a:solidFill>
                        </a:rPr>
                        <a:t>Documento LaTeX</a:t>
                      </a:r>
                      <a:endParaRPr lang="en-US" sz="850" dirty="0"/>
                    </a:p>
                    <a:p>
                      <a:pPr marL="0" indent="0" algn="l">
                        <a:buNone/>
                      </a:pPr>
                      <a:r>
                        <a:rPr lang="en-US" sz="850" dirty="0">
                          <a:solidFill>
                            <a:srgbClr val="334155"/>
                          </a:solidFill>
                        </a:rPr>
                        <a:t>≥10 páginas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Compila sin errores; ≥6 refs IEEE con DOI; TikZ propio; estructura IMRaD</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Compila con warnings; 4-5 refs; estructura completa</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l">
                        <a:buNone/>
                      </a:pPr>
                      <a:r>
                        <a:rPr lang="en-US" sz="850" dirty="0">
                          <a:solidFill>
                            <a:srgbClr val="334155"/>
                          </a:solidFill>
                        </a:rPr>
                        <a:t>Errores de compilación menores; &lt;4 refs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tc>
                  <a:txBody>
                    <a:bodyPr/>
                    <a:lstStyle/>
                    <a:p>
                      <a:pPr marL="0" indent="0" algn="ctr">
                        <a:buNone/>
                      </a:pPr>
                      <a:r>
                        <a:rPr lang="en-US" sz="850" b="1" dirty="0">
                          <a:solidFill>
                            <a:srgbClr val="0D1B40"/>
                          </a:solidFill>
                        </a:rPr>
                        <a:t>30</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7FA"/>
                    </a:solidFill>
                  </a:tcPr>
                </a:tc>
                <a:extLst>
                  <a:ext uri="{0D108BD9-81ED-4DB2-BD59-A6C34878D82A}">
                    <a16:rowId xmlns:a16="http://schemas.microsoft.com/office/drawing/2014/main" val="10004"/>
                  </a:ext>
                </a:extLst>
              </a:tr>
              <a:tr h="533400">
                <a:tc>
                  <a:txBody>
                    <a:bodyPr/>
                    <a:lstStyle/>
                    <a:p>
                      <a:pPr marL="0" indent="0" algn="l">
                        <a:buNone/>
                      </a:pPr>
                      <a:r>
                        <a:rPr lang="en-US" sz="850" dirty="0">
                          <a:solidFill>
                            <a:srgbClr val="334155"/>
                          </a:solidFill>
                        </a:rPr>
                        <a:t>Repositorio GitHub</a:t>
                      </a:r>
                      <a:endParaRPr lang="en-US" sz="850" dirty="0"/>
                    </a:p>
                    <a:p>
                      <a:pPr marL="0" indent="0" algn="l">
                        <a:buNone/>
                      </a:pPr>
                      <a:r>
                        <a:rPr lang="en-US" sz="850" dirty="0">
                          <a:solidFill>
                            <a:srgbClr val="334155"/>
                          </a:solidFill>
                        </a:rPr>
                        <a:t>Commits todos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URL válida; ≥3 commits por integrante; README con instrucciones</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≥2 commits por integrante; README básico</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334155"/>
                          </a:solidFill>
                        </a:rPr>
                        <a:t>Commits solo de 1 integrante</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D1B40"/>
                          </a:solidFill>
                        </a:rPr>
                        <a:t>15</a:t>
                      </a:r>
                      <a:endParaRPr lang="en-US" sz="850" dirty="0"/>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hape 20"/>
          <p:cNvSpPr/>
          <p:nvPr/>
        </p:nvSpPr>
        <p:spPr>
          <a:xfrm>
            <a:off x="365760" y="4791456"/>
            <a:ext cx="8412480" cy="292608"/>
          </a:xfrm>
          <a:prstGeom prst="rect">
            <a:avLst/>
          </a:prstGeom>
          <a:solidFill>
            <a:srgbClr val="FEE2E2"/>
          </a:solidFill>
          <a:ln w="12700">
            <a:solidFill>
              <a:srgbClr val="FEE2E2"/>
            </a:solidFill>
            <a:prstDash val="solid"/>
          </a:ln>
        </p:spPr>
      </p:sp>
      <p:sp>
        <p:nvSpPr>
          <p:cNvPr id="24" name="Text 21"/>
          <p:cNvSpPr/>
          <p:nvPr/>
        </p:nvSpPr>
        <p:spPr>
          <a:xfrm>
            <a:off x="502920" y="4791456"/>
            <a:ext cx="8138160" cy="292608"/>
          </a:xfrm>
          <a:prstGeom prst="rect">
            <a:avLst/>
          </a:prstGeom>
          <a:noFill/>
          <a:ln/>
        </p:spPr>
        <p:txBody>
          <a:bodyPr wrap="square" lIns="0" tIns="0" rIns="0" bIns="0" rtlCol="0" anchor="ctr"/>
          <a:lstStyle/>
          <a:p>
            <a:pPr marL="0" indent="0" algn="l">
              <a:buNone/>
            </a:pPr>
            <a:r>
              <a:rPr lang="en-US" sz="950" dirty="0">
                <a:solidFill>
                  <a:srgbClr val="DC2626"/>
                </a:solidFill>
              </a:rPr>
              <a:t>⚠  Condición obligatoria: el documento LaTeX DEBE compilar sin errores. Un .tex que no compila obtiene 0/30 en el criterio LaTeX. Verificar con pdflatex antes de entregar.</a:t>
            </a:r>
            <a:endParaRPr lang="en-US" sz="950" dirty="0"/>
          </a:p>
        </p:txBody>
      </p:sp>
      <p:sp>
        <p:nvSpPr>
          <p:cNvPr id="25" name="Shape 22"/>
          <p:cNvSpPr/>
          <p:nvPr/>
        </p:nvSpPr>
        <p:spPr>
          <a:xfrm>
            <a:off x="0" y="4892040"/>
            <a:ext cx="9144000" cy="251460"/>
          </a:xfrm>
          <a:prstGeom prst="rect">
            <a:avLst/>
          </a:prstGeom>
          <a:solidFill>
            <a:srgbClr val="0D1B40"/>
          </a:solidFill>
          <a:ln w="12700">
            <a:solidFill>
              <a:srgbClr val="0D1B40"/>
            </a:solidFill>
            <a:prstDash val="solid"/>
          </a:ln>
        </p:spPr>
      </p:sp>
      <p:sp>
        <p:nvSpPr>
          <p:cNvPr id="26" name="Text 23"/>
          <p:cNvSpPr/>
          <p:nvPr/>
        </p:nvSpPr>
        <p:spPr>
          <a:xfrm>
            <a:off x="182880" y="4892040"/>
            <a:ext cx="8778240" cy="251460"/>
          </a:xfrm>
          <a:prstGeom prst="rect">
            <a:avLst/>
          </a:prstGeom>
          <a:noFill/>
          <a:ln/>
        </p:spPr>
        <p:txBody>
          <a:bodyPr wrap="square" lIns="0" tIns="0" rIns="0" bIns="0" rtlCol="0" anchor="ctr"/>
          <a:lstStyle/>
          <a:p>
            <a:pPr marL="0" indent="0" algn="l">
              <a:buNone/>
            </a:pPr>
            <a:r>
              <a:rPr lang="en-US" sz="800" i="1" dirty="0">
                <a:solidFill>
                  <a:srgbClr val="667788"/>
                </a:solidFill>
                <a:latin typeface="Calibri" pitchFamily="34" charset="0"/>
                <a:ea typeface="Calibri" pitchFamily="34" charset="-122"/>
                <a:cs typeface="Calibri" pitchFamily="34" charset="-120"/>
              </a:rPr>
              <a:t>GA-SUM-01 · Guías de Práctica Experimental — Aplicaciones Distribuidas · UTEQ · Período 2026-2027</a:t>
            </a:r>
            <a:endParaRPr lang="en-US" sz="800" dirty="0"/>
          </a:p>
        </p:txBody>
      </p:sp>
      <p:sp>
        <p:nvSpPr>
          <p:cNvPr id="27" name="Text 24"/>
          <p:cNvSpPr/>
          <p:nvPr/>
        </p:nvSpPr>
        <p:spPr>
          <a:xfrm>
            <a:off x="0" y="4892040"/>
            <a:ext cx="8961120" cy="251460"/>
          </a:xfrm>
          <a:prstGeom prst="rect">
            <a:avLst/>
          </a:prstGeom>
          <a:noFill/>
          <a:ln/>
        </p:spPr>
        <p:txBody>
          <a:bodyPr wrap="square" lIns="0" tIns="0" rIns="0" bIns="0" rtlCol="0" anchor="ctr"/>
          <a:lstStyle/>
          <a:p>
            <a:pPr marL="0" indent="0" algn="r">
              <a:buNone/>
            </a:pPr>
            <a:r>
              <a:rPr lang="en-US" sz="800" dirty="0">
                <a:solidFill>
                  <a:srgbClr val="445566"/>
                </a:solidFill>
                <a:latin typeface="Calibri" pitchFamily="34" charset="0"/>
                <a:ea typeface="Calibri" pitchFamily="34" charset="-122"/>
                <a:cs typeface="Calibri" pitchFamily="34" charset="-120"/>
              </a:rPr>
              <a:t>UTEQ · Ing. Software · Guerrero Ulloa G.</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7377"/>
          </a:solidFill>
          <a:ln w="12700">
            <a:solidFill>
              <a:srgbClr val="0D7377"/>
            </a:solidFill>
            <a:prstDash val="solid"/>
          </a:ln>
        </p:spPr>
      </p:sp>
      <p:sp>
        <p:nvSpPr>
          <p:cNvPr id="3" name="Text 1"/>
          <p:cNvSpPr/>
          <p:nvPr/>
        </p:nvSpPr>
        <p:spPr>
          <a:xfrm>
            <a:off x="457200" y="182880"/>
            <a:ext cx="8229600" cy="41148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Resumen y Preguntas de Reflexión</a:t>
            </a:r>
            <a:endParaRPr lang="en-US" sz="2200" dirty="0"/>
          </a:p>
        </p:txBody>
      </p:sp>
      <p:sp>
        <p:nvSpPr>
          <p:cNvPr id="4" name="Shape 2"/>
          <p:cNvSpPr/>
          <p:nvPr/>
        </p:nvSpPr>
        <p:spPr>
          <a:xfrm>
            <a:off x="457200" y="749808"/>
            <a:ext cx="4160520" cy="1051560"/>
          </a:xfrm>
          <a:prstGeom prst="rect">
            <a:avLst/>
          </a:prstGeom>
          <a:solidFill>
            <a:srgbClr val="1A2D55"/>
          </a:solidFill>
          <a:ln w="12700">
            <a:solidFill>
              <a:srgbClr val="1A2D55"/>
            </a:solidFill>
            <a:prstDash val="solid"/>
          </a:ln>
          <a:effectLst>
            <a:outerShdw blurRad="101600" dist="38100" dir="8100000" algn="bl" rotWithShape="0">
              <a:srgbClr val="000000">
                <a:alpha val="12000"/>
              </a:srgbClr>
            </a:outerShdw>
          </a:effectLst>
        </p:spPr>
      </p:sp>
      <p:sp>
        <p:nvSpPr>
          <p:cNvPr id="5" name="Shape 3"/>
          <p:cNvSpPr/>
          <p:nvPr/>
        </p:nvSpPr>
        <p:spPr>
          <a:xfrm>
            <a:off x="457200" y="749808"/>
            <a:ext cx="365760" cy="1051560"/>
          </a:xfrm>
          <a:prstGeom prst="rect">
            <a:avLst/>
          </a:prstGeom>
          <a:solidFill>
            <a:srgbClr val="1A2D6B"/>
          </a:solidFill>
          <a:ln w="12700">
            <a:solidFill>
              <a:srgbClr val="1A2D6B"/>
            </a:solidFill>
            <a:prstDash val="solid"/>
          </a:ln>
        </p:spPr>
      </p:sp>
      <p:sp>
        <p:nvSpPr>
          <p:cNvPr id="6" name="Text 4"/>
          <p:cNvSpPr/>
          <p:nvPr/>
        </p:nvSpPr>
        <p:spPr>
          <a:xfrm>
            <a:off x="457200" y="749808"/>
            <a:ext cx="365760" cy="411480"/>
          </a:xfrm>
          <a:prstGeom prst="rect">
            <a:avLst/>
          </a:prstGeom>
          <a:noFill/>
          <a:ln/>
        </p:spPr>
        <p:txBody>
          <a:bodyPr wrap="square" lIns="0" tIns="0" rIns="0" bIns="0" rtlCol="0" anchor="ctr"/>
          <a:lstStyle/>
          <a:p>
            <a:pPr marL="0" indent="0" algn="ctr">
              <a:buNone/>
            </a:pPr>
            <a:r>
              <a:rPr lang="en-US" sz="1800" dirty="0">
                <a:solidFill>
                  <a:srgbClr val="FFFFFF"/>
                </a:solidFill>
              </a:rPr>
              <a:t>①</a:t>
            </a:r>
            <a:endParaRPr lang="en-US" sz="1800" dirty="0"/>
          </a:p>
        </p:txBody>
      </p:sp>
      <p:sp>
        <p:nvSpPr>
          <p:cNvPr id="7" name="Text 5"/>
          <p:cNvSpPr/>
          <p:nvPr/>
        </p:nvSpPr>
        <p:spPr>
          <a:xfrm>
            <a:off x="896112" y="841248"/>
            <a:ext cx="3566160" cy="292608"/>
          </a:xfrm>
          <a:prstGeom prst="rect">
            <a:avLst/>
          </a:prstGeom>
          <a:noFill/>
          <a:ln/>
        </p:spPr>
        <p:txBody>
          <a:bodyPr wrap="square" lIns="0" tIns="0" rIns="0" bIns="0" rtlCol="0" anchor="ctr"/>
          <a:lstStyle/>
          <a:p>
            <a:pPr marL="0" indent="0" algn="l">
              <a:buNone/>
            </a:pPr>
            <a:r>
              <a:rPr lang="en-US" sz="1300" b="1" dirty="0">
                <a:solidFill>
                  <a:srgbClr val="1A2D6B"/>
                </a:solidFill>
                <a:latin typeface="Calibri" pitchFamily="34" charset="0"/>
                <a:ea typeface="Calibri" pitchFamily="34" charset="-122"/>
                <a:cs typeface="Calibri" pitchFamily="34" charset="-120"/>
              </a:rPr>
              <a:t>Modelos</a:t>
            </a:r>
            <a:endParaRPr lang="en-US" sz="1300" dirty="0"/>
          </a:p>
        </p:txBody>
      </p:sp>
      <p:sp>
        <p:nvSpPr>
          <p:cNvPr id="8" name="Text 6"/>
          <p:cNvSpPr/>
          <p:nvPr/>
        </p:nvSpPr>
        <p:spPr>
          <a:xfrm>
            <a:off x="896112" y="1133856"/>
            <a:ext cx="3611880" cy="594360"/>
          </a:xfrm>
          <a:prstGeom prst="rect">
            <a:avLst/>
          </a:prstGeom>
          <a:noFill/>
          <a:ln/>
        </p:spPr>
        <p:txBody>
          <a:bodyPr wrap="square" lIns="0" tIns="0" rIns="0" bIns="0" rtlCol="0" anchor="t"/>
          <a:lstStyle/>
          <a:p>
            <a:pPr marL="0" indent="0" algn="l">
              <a:buNone/>
            </a:pPr>
            <a:r>
              <a:rPr lang="en-US" sz="1050" dirty="0">
                <a:solidFill>
                  <a:srgbClr val="AABBCC"/>
                </a:solidFill>
                <a:latin typeface="Calibri" pitchFamily="34" charset="0"/>
                <a:ea typeface="Calibri" pitchFamily="34" charset="-122"/>
                <a:cs typeface="Calibri" pitchFamily="34" charset="-120"/>
              </a:rPr>
              <a:t>C-S domina pero los sistemas reales son híbridos. P2P elimina el SPOF al costo de mayor complejidad de coordinación.</a:t>
            </a:r>
            <a:endParaRPr lang="en-US" sz="1050" dirty="0"/>
          </a:p>
        </p:txBody>
      </p:sp>
      <p:sp>
        <p:nvSpPr>
          <p:cNvPr id="9" name="Shape 7"/>
          <p:cNvSpPr/>
          <p:nvPr/>
        </p:nvSpPr>
        <p:spPr>
          <a:xfrm>
            <a:off x="4800600" y="749808"/>
            <a:ext cx="4160520" cy="1051560"/>
          </a:xfrm>
          <a:prstGeom prst="rect">
            <a:avLst/>
          </a:prstGeom>
          <a:solidFill>
            <a:srgbClr val="1A2D55"/>
          </a:solidFill>
          <a:ln w="12700">
            <a:solidFill>
              <a:srgbClr val="1A2D55"/>
            </a:solidFill>
            <a:prstDash val="solid"/>
          </a:ln>
          <a:effectLst>
            <a:outerShdw blurRad="101600" dist="38100" dir="8100000" algn="bl" rotWithShape="0">
              <a:srgbClr val="000000">
                <a:alpha val="12000"/>
              </a:srgbClr>
            </a:outerShdw>
          </a:effectLst>
        </p:spPr>
      </p:sp>
      <p:sp>
        <p:nvSpPr>
          <p:cNvPr id="10" name="Shape 8"/>
          <p:cNvSpPr/>
          <p:nvPr/>
        </p:nvSpPr>
        <p:spPr>
          <a:xfrm>
            <a:off x="4800600" y="749808"/>
            <a:ext cx="365760" cy="1051560"/>
          </a:xfrm>
          <a:prstGeom prst="rect">
            <a:avLst/>
          </a:prstGeom>
          <a:solidFill>
            <a:srgbClr val="0D7377"/>
          </a:solidFill>
          <a:ln w="12700">
            <a:solidFill>
              <a:srgbClr val="0D7377"/>
            </a:solidFill>
            <a:prstDash val="solid"/>
          </a:ln>
        </p:spPr>
      </p:sp>
      <p:sp>
        <p:nvSpPr>
          <p:cNvPr id="11" name="Text 9"/>
          <p:cNvSpPr/>
          <p:nvPr/>
        </p:nvSpPr>
        <p:spPr>
          <a:xfrm>
            <a:off x="4800600" y="749808"/>
            <a:ext cx="365760" cy="411480"/>
          </a:xfrm>
          <a:prstGeom prst="rect">
            <a:avLst/>
          </a:prstGeom>
          <a:noFill/>
          <a:ln/>
        </p:spPr>
        <p:txBody>
          <a:bodyPr wrap="square" lIns="0" tIns="0" rIns="0" bIns="0" rtlCol="0" anchor="ctr"/>
          <a:lstStyle/>
          <a:p>
            <a:pPr marL="0" indent="0" algn="ctr">
              <a:buNone/>
            </a:pPr>
            <a:r>
              <a:rPr lang="en-US" sz="1800" dirty="0">
                <a:solidFill>
                  <a:srgbClr val="FFFFFF"/>
                </a:solidFill>
              </a:rPr>
              <a:t>②</a:t>
            </a:r>
            <a:endParaRPr lang="en-US" sz="1800" dirty="0"/>
          </a:p>
        </p:txBody>
      </p:sp>
      <p:sp>
        <p:nvSpPr>
          <p:cNvPr id="12" name="Text 10"/>
          <p:cNvSpPr/>
          <p:nvPr/>
        </p:nvSpPr>
        <p:spPr>
          <a:xfrm>
            <a:off x="5239512" y="841248"/>
            <a:ext cx="3566160" cy="292608"/>
          </a:xfrm>
          <a:prstGeom prst="rect">
            <a:avLst/>
          </a:prstGeom>
          <a:noFill/>
          <a:ln/>
        </p:spPr>
        <p:txBody>
          <a:bodyPr wrap="square" lIns="0" tIns="0" rIns="0" bIns="0" rtlCol="0" anchor="ctr"/>
          <a:lstStyle/>
          <a:p>
            <a:pPr marL="0" indent="0" algn="l">
              <a:buNone/>
            </a:pPr>
            <a:r>
              <a:rPr lang="en-US" sz="1300" b="1" dirty="0">
                <a:solidFill>
                  <a:srgbClr val="0D7377"/>
                </a:solidFill>
                <a:latin typeface="Calibri" pitchFamily="34" charset="0"/>
                <a:ea typeface="Calibri" pitchFamily="34" charset="-122"/>
                <a:cs typeface="Calibri" pitchFamily="34" charset="-120"/>
              </a:rPr>
              <a:t>Sockets</a:t>
            </a:r>
            <a:endParaRPr lang="en-US" sz="1300" dirty="0"/>
          </a:p>
        </p:txBody>
      </p:sp>
      <p:sp>
        <p:nvSpPr>
          <p:cNvPr id="13" name="Text 11"/>
          <p:cNvSpPr/>
          <p:nvPr/>
        </p:nvSpPr>
        <p:spPr>
          <a:xfrm>
            <a:off x="5239512" y="1133856"/>
            <a:ext cx="3611880" cy="594360"/>
          </a:xfrm>
          <a:prstGeom prst="rect">
            <a:avLst/>
          </a:prstGeom>
          <a:noFill/>
          <a:ln/>
        </p:spPr>
        <p:txBody>
          <a:bodyPr wrap="square" lIns="0" tIns="0" rIns="0" bIns="0" rtlCol="0" anchor="t"/>
          <a:lstStyle/>
          <a:p>
            <a:pPr marL="0" indent="0" algn="l">
              <a:buNone/>
            </a:pPr>
            <a:r>
              <a:rPr lang="en-US" sz="1050" dirty="0">
                <a:solidFill>
                  <a:srgbClr val="AABBCC"/>
                </a:solidFill>
                <a:latin typeface="Calibri" pitchFamily="34" charset="0"/>
                <a:ea typeface="Calibri" pitchFamily="34" charset="-122"/>
                <a:cs typeface="Calibri" pitchFamily="34" charset="-120"/>
              </a:rPr>
              <a:t>Abstracción de red de bajo nivel. TCP garantiza entrega; UDP prioriza latencia. Base de todo middleware de red.</a:t>
            </a:r>
            <a:endParaRPr lang="en-US" sz="1050" dirty="0"/>
          </a:p>
        </p:txBody>
      </p:sp>
      <p:sp>
        <p:nvSpPr>
          <p:cNvPr id="14" name="Shape 12"/>
          <p:cNvSpPr/>
          <p:nvPr/>
        </p:nvSpPr>
        <p:spPr>
          <a:xfrm>
            <a:off x="457200" y="1938528"/>
            <a:ext cx="4160520" cy="1051560"/>
          </a:xfrm>
          <a:prstGeom prst="rect">
            <a:avLst/>
          </a:prstGeom>
          <a:solidFill>
            <a:srgbClr val="1A2D55"/>
          </a:solidFill>
          <a:ln w="12700">
            <a:solidFill>
              <a:srgbClr val="1A2D55"/>
            </a:solidFill>
            <a:prstDash val="solid"/>
          </a:ln>
          <a:effectLst>
            <a:outerShdw blurRad="101600" dist="38100" dir="8100000" algn="bl" rotWithShape="0">
              <a:srgbClr val="000000">
                <a:alpha val="12000"/>
              </a:srgbClr>
            </a:outerShdw>
          </a:effectLst>
        </p:spPr>
      </p:sp>
      <p:sp>
        <p:nvSpPr>
          <p:cNvPr id="15" name="Shape 13"/>
          <p:cNvSpPr/>
          <p:nvPr/>
        </p:nvSpPr>
        <p:spPr>
          <a:xfrm>
            <a:off x="457200" y="1938528"/>
            <a:ext cx="365760" cy="1051560"/>
          </a:xfrm>
          <a:prstGeom prst="rect">
            <a:avLst/>
          </a:prstGeom>
          <a:solidFill>
            <a:srgbClr val="4A148C"/>
          </a:solidFill>
          <a:ln w="12700">
            <a:solidFill>
              <a:srgbClr val="4A148C"/>
            </a:solidFill>
            <a:prstDash val="solid"/>
          </a:ln>
        </p:spPr>
      </p:sp>
      <p:sp>
        <p:nvSpPr>
          <p:cNvPr id="16" name="Text 14"/>
          <p:cNvSpPr/>
          <p:nvPr/>
        </p:nvSpPr>
        <p:spPr>
          <a:xfrm>
            <a:off x="457200" y="1938528"/>
            <a:ext cx="365760" cy="411480"/>
          </a:xfrm>
          <a:prstGeom prst="rect">
            <a:avLst/>
          </a:prstGeom>
          <a:noFill/>
          <a:ln/>
        </p:spPr>
        <p:txBody>
          <a:bodyPr wrap="square" lIns="0" tIns="0" rIns="0" bIns="0" rtlCol="0" anchor="ctr"/>
          <a:lstStyle/>
          <a:p>
            <a:pPr marL="0" indent="0" algn="ctr">
              <a:buNone/>
            </a:pPr>
            <a:r>
              <a:rPr lang="en-US" sz="1800" dirty="0">
                <a:solidFill>
                  <a:srgbClr val="FFFFFF"/>
                </a:solidFill>
              </a:rPr>
              <a:t>③</a:t>
            </a:r>
            <a:endParaRPr lang="en-US" sz="1800" dirty="0"/>
          </a:p>
        </p:txBody>
      </p:sp>
      <p:sp>
        <p:nvSpPr>
          <p:cNvPr id="17" name="Text 15"/>
          <p:cNvSpPr/>
          <p:nvPr/>
        </p:nvSpPr>
        <p:spPr>
          <a:xfrm>
            <a:off x="896112" y="2029968"/>
            <a:ext cx="3566160" cy="292608"/>
          </a:xfrm>
          <a:prstGeom prst="rect">
            <a:avLst/>
          </a:prstGeom>
          <a:noFill/>
          <a:ln/>
        </p:spPr>
        <p:txBody>
          <a:bodyPr wrap="square" lIns="0" tIns="0" rIns="0" bIns="0" rtlCol="0" anchor="ctr"/>
          <a:lstStyle/>
          <a:p>
            <a:pPr marL="0" indent="0" algn="l">
              <a:buNone/>
            </a:pPr>
            <a:r>
              <a:rPr lang="en-US" sz="1300" b="1" dirty="0">
                <a:solidFill>
                  <a:srgbClr val="4A148C"/>
                </a:solidFill>
                <a:latin typeface="Calibri" pitchFamily="34" charset="0"/>
                <a:ea typeface="Calibri" pitchFamily="34" charset="-122"/>
                <a:cs typeface="Calibri" pitchFamily="34" charset="-120"/>
              </a:rPr>
              <a:t>RPC/RMI/gRPC</a:t>
            </a:r>
            <a:endParaRPr lang="en-US" sz="1300" dirty="0"/>
          </a:p>
        </p:txBody>
      </p:sp>
      <p:sp>
        <p:nvSpPr>
          <p:cNvPr id="18" name="Text 16"/>
          <p:cNvSpPr/>
          <p:nvPr/>
        </p:nvSpPr>
        <p:spPr>
          <a:xfrm>
            <a:off x="896112" y="2322576"/>
            <a:ext cx="3611880" cy="594360"/>
          </a:xfrm>
          <a:prstGeom prst="rect">
            <a:avLst/>
          </a:prstGeom>
          <a:noFill/>
          <a:ln/>
        </p:spPr>
        <p:txBody>
          <a:bodyPr wrap="square" lIns="0" tIns="0" rIns="0" bIns="0" rtlCol="0" anchor="t"/>
          <a:lstStyle/>
          <a:p>
            <a:pPr marL="0" indent="0" algn="l">
              <a:buNone/>
            </a:pPr>
            <a:r>
              <a:rPr lang="en-US" sz="1050" dirty="0">
                <a:solidFill>
                  <a:srgbClr val="AABBCC"/>
                </a:solidFill>
                <a:latin typeface="Calibri" pitchFamily="34" charset="0"/>
                <a:ea typeface="Calibri" pitchFamily="34" charset="-122"/>
                <a:cs typeface="Calibri" pitchFamily="34" charset="-120"/>
              </a:rPr>
              <a:t>Transparencia de acceso: llamar a un proceso remoto como si fuera local. gRPC = Protobuf + HTTP/2 + streaming bidireccional.</a:t>
            </a:r>
            <a:endParaRPr lang="en-US" sz="1050" dirty="0"/>
          </a:p>
        </p:txBody>
      </p:sp>
      <p:sp>
        <p:nvSpPr>
          <p:cNvPr id="19" name="Shape 17"/>
          <p:cNvSpPr/>
          <p:nvPr/>
        </p:nvSpPr>
        <p:spPr>
          <a:xfrm>
            <a:off x="4800600" y="1938528"/>
            <a:ext cx="4160520" cy="1051560"/>
          </a:xfrm>
          <a:prstGeom prst="rect">
            <a:avLst/>
          </a:prstGeom>
          <a:solidFill>
            <a:srgbClr val="1A2D55"/>
          </a:solidFill>
          <a:ln w="12700">
            <a:solidFill>
              <a:srgbClr val="1A2D55"/>
            </a:solidFill>
            <a:prstDash val="solid"/>
          </a:ln>
          <a:effectLst>
            <a:outerShdw blurRad="101600" dist="38100" dir="8100000" algn="bl" rotWithShape="0">
              <a:srgbClr val="000000">
                <a:alpha val="12000"/>
              </a:srgbClr>
            </a:outerShdw>
          </a:effectLst>
        </p:spPr>
      </p:sp>
      <p:sp>
        <p:nvSpPr>
          <p:cNvPr id="20" name="Shape 18"/>
          <p:cNvSpPr/>
          <p:nvPr/>
        </p:nvSpPr>
        <p:spPr>
          <a:xfrm>
            <a:off x="4800600" y="1938528"/>
            <a:ext cx="365760" cy="1051560"/>
          </a:xfrm>
          <a:prstGeom prst="rect">
            <a:avLst/>
          </a:prstGeom>
          <a:solidFill>
            <a:srgbClr val="B45309"/>
          </a:solidFill>
          <a:ln w="12700">
            <a:solidFill>
              <a:srgbClr val="B45309"/>
            </a:solidFill>
            <a:prstDash val="solid"/>
          </a:ln>
        </p:spPr>
      </p:sp>
      <p:sp>
        <p:nvSpPr>
          <p:cNvPr id="21" name="Text 19"/>
          <p:cNvSpPr/>
          <p:nvPr/>
        </p:nvSpPr>
        <p:spPr>
          <a:xfrm>
            <a:off x="4800600" y="1938528"/>
            <a:ext cx="365760" cy="411480"/>
          </a:xfrm>
          <a:prstGeom prst="rect">
            <a:avLst/>
          </a:prstGeom>
          <a:noFill/>
          <a:ln/>
        </p:spPr>
        <p:txBody>
          <a:bodyPr wrap="square" lIns="0" tIns="0" rIns="0" bIns="0" rtlCol="0" anchor="ctr"/>
          <a:lstStyle/>
          <a:p>
            <a:pPr marL="0" indent="0" algn="ctr">
              <a:buNone/>
            </a:pPr>
            <a:r>
              <a:rPr lang="en-US" sz="1800" dirty="0">
                <a:solidFill>
                  <a:srgbClr val="FFFFFF"/>
                </a:solidFill>
              </a:rPr>
              <a:t>④</a:t>
            </a:r>
            <a:endParaRPr lang="en-US" sz="1800" dirty="0"/>
          </a:p>
        </p:txBody>
      </p:sp>
      <p:sp>
        <p:nvSpPr>
          <p:cNvPr id="22" name="Text 20"/>
          <p:cNvSpPr/>
          <p:nvPr/>
        </p:nvSpPr>
        <p:spPr>
          <a:xfrm>
            <a:off x="5239512" y="2029968"/>
            <a:ext cx="3566160" cy="292608"/>
          </a:xfrm>
          <a:prstGeom prst="rect">
            <a:avLst/>
          </a:prstGeom>
          <a:noFill/>
          <a:ln/>
        </p:spPr>
        <p:txBody>
          <a:bodyPr wrap="square" lIns="0" tIns="0" rIns="0" bIns="0" rtlCol="0" anchor="ctr"/>
          <a:lstStyle/>
          <a:p>
            <a:pPr marL="0" indent="0" algn="l">
              <a:buNone/>
            </a:pPr>
            <a:r>
              <a:rPr lang="en-US" sz="1300" b="1" dirty="0">
                <a:solidFill>
                  <a:srgbClr val="B45309"/>
                </a:solidFill>
                <a:latin typeface="Calibri" pitchFamily="34" charset="0"/>
                <a:ea typeface="Calibri" pitchFamily="34" charset="-122"/>
                <a:cs typeface="Calibri" pitchFamily="34" charset="-120"/>
              </a:rPr>
              <a:t>Lamport</a:t>
            </a:r>
            <a:endParaRPr lang="en-US" sz="1300" dirty="0"/>
          </a:p>
        </p:txBody>
      </p:sp>
      <p:sp>
        <p:nvSpPr>
          <p:cNvPr id="23" name="Text 21"/>
          <p:cNvSpPr/>
          <p:nvPr/>
        </p:nvSpPr>
        <p:spPr>
          <a:xfrm>
            <a:off x="5239512" y="2322576"/>
            <a:ext cx="3611880" cy="594360"/>
          </a:xfrm>
          <a:prstGeom prst="rect">
            <a:avLst/>
          </a:prstGeom>
          <a:noFill/>
          <a:ln/>
        </p:spPr>
        <p:txBody>
          <a:bodyPr wrap="square" lIns="0" tIns="0" rIns="0" bIns="0" rtlCol="0" anchor="t"/>
          <a:lstStyle/>
          <a:p>
            <a:pPr marL="0" indent="0" algn="l">
              <a:buNone/>
            </a:pPr>
            <a:r>
              <a:rPr lang="en-US" sz="1050" dirty="0">
                <a:solidFill>
                  <a:srgbClr val="AABBCC"/>
                </a:solidFill>
                <a:latin typeface="Calibri" pitchFamily="34" charset="0"/>
                <a:ea typeface="Calibri" pitchFamily="34" charset="-122"/>
                <a:cs typeface="Calibri" pitchFamily="34" charset="-120"/>
              </a:rPr>
              <a:t>Sin reloj global, usamos causalidad. a→b implica C(a)&lt;C(b). Regla R3: C_i ← max(C_i, C_m)+1 al recibir.</a:t>
            </a:r>
            <a:endParaRPr lang="en-US" sz="1050" dirty="0"/>
          </a:p>
        </p:txBody>
      </p:sp>
      <p:sp>
        <p:nvSpPr>
          <p:cNvPr id="24" name="Shape 22"/>
          <p:cNvSpPr/>
          <p:nvPr/>
        </p:nvSpPr>
        <p:spPr>
          <a:xfrm>
            <a:off x="457200" y="3182112"/>
            <a:ext cx="8321040" cy="1353312"/>
          </a:xfrm>
          <a:prstGeom prst="rect">
            <a:avLst/>
          </a:prstGeom>
          <a:solidFill>
            <a:srgbClr val="0F2040"/>
          </a:solidFill>
          <a:ln w="12700">
            <a:solidFill>
              <a:srgbClr val="0F2040"/>
            </a:solidFill>
            <a:prstDash val="solid"/>
          </a:ln>
          <a:effectLst>
            <a:outerShdw blurRad="101600" dist="38100" dir="8100000" algn="bl" rotWithShape="0">
              <a:srgbClr val="000000">
                <a:alpha val="12000"/>
              </a:srgbClr>
            </a:outerShdw>
          </a:effectLst>
        </p:spPr>
      </p:sp>
      <p:sp>
        <p:nvSpPr>
          <p:cNvPr id="25" name="Text 23"/>
          <p:cNvSpPr/>
          <p:nvPr/>
        </p:nvSpPr>
        <p:spPr>
          <a:xfrm>
            <a:off x="640080" y="3218688"/>
            <a:ext cx="7772400" cy="274320"/>
          </a:xfrm>
          <a:prstGeom prst="rect">
            <a:avLst/>
          </a:prstGeom>
          <a:noFill/>
          <a:ln/>
        </p:spPr>
        <p:txBody>
          <a:bodyPr wrap="square" lIns="0" tIns="0" rIns="0" bIns="0" rtlCol="0" anchor="ctr"/>
          <a:lstStyle/>
          <a:p>
            <a:pPr marL="0" indent="0" algn="l">
              <a:buNone/>
            </a:pPr>
            <a:r>
              <a:rPr lang="en-US" sz="1200" b="1" dirty="0">
                <a:solidFill>
                  <a:srgbClr val="14A0A7"/>
                </a:solidFill>
                <a:latin typeface="Calibri" pitchFamily="34" charset="0"/>
                <a:ea typeface="Calibri" pitchFamily="34" charset="-122"/>
                <a:cs typeface="Calibri" pitchFamily="34" charset="-120"/>
              </a:rPr>
              <a:t>🤔  Preguntas para llevar a casa:</a:t>
            </a:r>
            <a:endParaRPr lang="en-US" sz="1200" dirty="0"/>
          </a:p>
        </p:txBody>
      </p:sp>
      <p:sp>
        <p:nvSpPr>
          <p:cNvPr id="26" name="Text 24"/>
          <p:cNvSpPr/>
          <p:nvPr/>
        </p:nvSpPr>
        <p:spPr>
          <a:xfrm>
            <a:off x="594360" y="3538728"/>
            <a:ext cx="7863840" cy="29260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1. ¿Por qué WhatsApp no usa RMI Java para sus llamadas de voz? ¿Qué usaría usted y por qué?</a:t>
            </a:r>
            <a:endParaRPr lang="en-US" sz="1050" dirty="0"/>
          </a:p>
        </p:txBody>
      </p:sp>
      <p:sp>
        <p:nvSpPr>
          <p:cNvPr id="27" name="Text 25"/>
          <p:cNvSpPr/>
          <p:nvPr/>
        </p:nvSpPr>
        <p:spPr>
          <a:xfrm>
            <a:off x="594360" y="3858768"/>
            <a:ext cx="7863840" cy="29260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2. Si en su PFC el nodo A envía un mensaje al nodo B y B responde, ¿cuántos timestamps de Lamport se actualizan?</a:t>
            </a:r>
            <a:endParaRPr lang="en-US" sz="1050" dirty="0"/>
          </a:p>
        </p:txBody>
      </p:sp>
      <p:sp>
        <p:nvSpPr>
          <p:cNvPr id="28" name="Text 26"/>
          <p:cNvSpPr/>
          <p:nvPr/>
        </p:nvSpPr>
        <p:spPr>
          <a:xfrm>
            <a:off x="594360" y="4178808"/>
            <a:ext cx="7863840" cy="29260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3. ¿En qué escenario del PFC usaría sockets UDP en lugar de TCP? Justifique técnicamente.</a:t>
            </a:r>
            <a:endParaRPr lang="en-US" sz="1050" dirty="0"/>
          </a:p>
        </p:txBody>
      </p:sp>
      <p:sp>
        <p:nvSpPr>
          <p:cNvPr id="29" name="Shape 27"/>
          <p:cNvSpPr/>
          <p:nvPr/>
        </p:nvSpPr>
        <p:spPr>
          <a:xfrm>
            <a:off x="457200" y="4617720"/>
            <a:ext cx="8321040" cy="347472"/>
          </a:xfrm>
          <a:prstGeom prst="rect">
            <a:avLst/>
          </a:prstGeom>
          <a:solidFill>
            <a:srgbClr val="0D7377"/>
          </a:solidFill>
          <a:ln w="12700">
            <a:solidFill>
              <a:srgbClr val="0D7377"/>
            </a:solidFill>
            <a:prstDash val="solid"/>
          </a:ln>
        </p:spPr>
      </p:sp>
      <p:sp>
        <p:nvSpPr>
          <p:cNvPr id="30" name="Text 28"/>
          <p:cNvSpPr/>
          <p:nvPr/>
        </p:nvSpPr>
        <p:spPr>
          <a:xfrm>
            <a:off x="594360" y="4617720"/>
            <a:ext cx="8046720" cy="347472"/>
          </a:xfrm>
          <a:prstGeom prst="rect">
            <a:avLst/>
          </a:prstGeom>
          <a:noFill/>
          <a:ln/>
        </p:spPr>
        <p:txBody>
          <a:bodyPr wrap="square" lIns="0" tIns="0" rIns="0" bIns="0" rtlCol="0" anchor="ctr"/>
          <a:lstStyle/>
          <a:p>
            <a:pPr marL="0" indent="0" algn="ctr">
              <a:buNone/>
            </a:pPr>
            <a:r>
              <a:rPr lang="en-US" sz="1100" b="1" dirty="0">
                <a:solidFill>
                  <a:srgbClr val="FFFFFF"/>
                </a:solidFill>
              </a:rPr>
              <a:t>Próxima semana: Seguridad y Confiabilidad en SD — Fallos, Recuperación, JWT, Teorema CAP</a:t>
            </a:r>
            <a:endParaRPr lang="en-US" sz="1100" dirty="0"/>
          </a:p>
        </p:txBody>
      </p:sp>
      <p:sp>
        <p:nvSpPr>
          <p:cNvPr id="31" name="Shape 29"/>
          <p:cNvSpPr/>
          <p:nvPr/>
        </p:nvSpPr>
        <p:spPr>
          <a:xfrm>
            <a:off x="0" y="5010912"/>
            <a:ext cx="9144000" cy="132588"/>
          </a:xfrm>
          <a:prstGeom prst="rect">
            <a:avLst/>
          </a:prstGeom>
          <a:solidFill>
            <a:srgbClr val="14A0A7"/>
          </a:solidFill>
          <a:ln w="12700">
            <a:solidFill>
              <a:srgbClr val="14A0A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9984</Words>
  <Application>Microsoft Office PowerPoint</Application>
  <PresentationFormat>Presentación en pantalla (16:9)</PresentationFormat>
  <Paragraphs>495</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02 – Modelos y Comunicación en Sistemas Distribuidos</dc:title>
  <dc:subject>PptxGenJS Presentation</dc:subject>
  <dc:creator>Guerrero Ulloa Gleiston Ciceron</dc:creator>
  <cp:lastModifiedBy>GLEISTON CICERON GUERRERO ULLOA</cp:lastModifiedBy>
  <cp:revision>1</cp:revision>
  <dcterms:created xsi:type="dcterms:W3CDTF">2026-05-12T11:36:24Z</dcterms:created>
  <dcterms:modified xsi:type="dcterms:W3CDTF">2026-05-19T03:50:07Z</dcterms:modified>
</cp:coreProperties>
</file>