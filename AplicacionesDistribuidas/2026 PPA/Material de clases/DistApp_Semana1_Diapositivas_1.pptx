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003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 Buenas tardes, estudiantes. Bienvenidos al primer día de la asignatura Aplicaciones Distribuidas — les pedimos que anoten las siglas: AD para Aplicaciones Distribuidas y SD para Sistemas Distribuidos; las usaremos todo el semestre.
Esta es una asignatura de séptimo semestre de la carrera de Ingeniería de Software de la UTEQ — que son las siglas de Universidad Técnica Estatal de Quevedo.
En esta semana 1 vamos a sentar las bases conceptuales de todo el curso. La pregunta central del día es: ¿qué es exactamente un Sistema Distribuido? Parece simple, pero la respuesta tiene una profundidad técnica que nos acompañará durante todo el semestre.
Antes de avanzar, hagan esto: piensen en algo que usaron esta mañana — su celular, WhatsApp, YouTube, el campus virtual. Todos esos sistemas son distribuidos. Hoy vamos a entender por qué.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muestra exactamente lo que van a lograr al terminar esta sesión.
Lean conmigo el Resultado de Aprendizaje — RA son las siglas de Resultado de Aprendizaje. Dice: "Analiza las características y principios de los Sistemas Distribuidos, evaluando sus ventajas, limitaciones y retos desde una perspectiva crítica e interdisciplinaria."
¿Qué significa "perspectiva crítica e interdisciplinaria"? Significa que no memoricen definiciones: quiero que ustedes sean capaces de ver un sistema tecnológico del mundo real y decir: "Este es distribuido porque tiene estas propiedades, y tiene estos retos".
La agenda de hoy tiene seis partes. Las partes 1 a 5 son exposición con participación. La parte 6 es práctica en clase: van a diagramar un SD simple en grupos.
Tiempo aproximado: cada bloque dura entre 15 y 20 minutos.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motivación fundamental. Piensen en YouTube. Cada minuto se suben más de 500 horas de video. ¿Un solo servidor puede hacer eso? Imposible. Por eso existen los Sistemas Distribuidos.
Lean la columna roja conmigo: un solo computador tiene capacidad limitada. Si falla, todo cae. No puede atender a millones de usuarios simultáneamente. Los datos están en un solo lugar, lo que es un punto único de fallo y de ataque. Y para actualizar el software, hay que apagar el servicio.
Ahora lean la columna verde: con un sistema distribuido, múltiples nodos colaboran. Si uno falla, los otros continúan. Podemos escalar horizontalmente — es decir, añadir más servidores en lugar de comprar uno más potente. Los datos están replicados. Y se puede actualizar sin cortar el servicio.
Pregunta para la clase: ¿Cuántos de ustedes usaron WhatsApp hoy? ¿Alguna vez han visto que WhatsApp esté completamente caído? En 2021 sí cayó — 6 horas — y fue noticia mundial porque es rarísimo. Eso es tolerancia a fallos en acción.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definición formal proviene del libro más importante de la disciplina: "Distributed Systems" de Maarten van Steen y Andrew Tanenbaum, en su cuarta edición del año 2023. Este libro es su referencia bibliográfica principal.
Lean la definición: "Un Sistema Distribuido es una colección de computadoras independientes que aparece ante sus usuarios como un sistema coherente y único."
Hay tres palabras clave que deben subrayar:
INDEPENDIENTES: Cada computadora — o nodo — tiene su propio procesador, su propia memoria, su propio sistema operativo. Si un nodo falla, los demás no "saben" directamente que falló.
COHERENTE: A pesar de ser muchos nodos, el sistema se comporta de manera consistente. Si guardo un archivo, lo puedo leer desde otro nodo. Si proceso una transacción, el dinero no se cobra dos veces.
ÚNICO: El usuario ve UNA sola cosa. Cuando entran a Gmail, no saben si están hablando con servidores en Brasil, en EEUU o en Europa. Eso es transparencia — y lo veremos en la siguiente diapositiva.
¿Alguien puede darme un ejemplo de SD que use todos los días? [Esperar respuestas].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8 transparencias ANSA — que son las siglas de Advanced Network Systems Architecture — definen el nivel ideal de ocultamiento de la complejidad distribuida.
¿Qué significa transparencia aquí? NO significa que el sistema sea invisible. Significa que la complejidad queda oculta al usuario. El usuario no tiene que preocuparse por CÓMO funciona por dentro.
Vamos por las más importantes para el día a día:
Transparencia de UBICACIÓN: Cuando entran a netflix.com, ¿saben en qué servidor está su película? No. Netflix la sirve desde el servidor más cercano a ustedes.
Transparencia de FALLOS: En 2021, cuando cayó Facebook 6 horas, eso fue una FALLA de transparencia de fallos. Lo que debería pasar es que si un servidor falla, otro toma su lugar y el usuario no se da cuenta.
Transparencia de REPLICACIÓN: Google tiene copias de sus documentos en múltiples continentes. Si el datacenter en Estados Unidos tiene un problema, el de Europa toma el control. Ustedes ven un solo Google Drive.
Importante: Ningún SD real implementa las 8 transparencias al 100%. Siempre hay trade-offs — compromisos entre propiedades. Eso lo veremos con el Teorema CAP.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balance honesto de trabajar con Sistemas Distribuidos. Como ingenieros de software, no deben enamorarse ciegamente de la tecnología — deben entender cuándo conviene y cuándo no.
VENTAJAS:
Escalabilidad: en lugar de comprar un servidor de 100.000 dólares, compras 100 servidores de 1.000 dólares. Esto se llama escalado horizontal — escalar hacia los lados, añadiendo máquinas.
Alta disponibilidad: Amazon reporta que cada 100 milisegundos de latencia extra les cuesta millones de dólares. Por eso tienen múltiples zonas de disponibilidad — si una falla, las otras continúan.
Economía: los grandes proveedores como Google y Amazon usan hardware commodity — hardware corriente y barato — en lugar de mainframes.
RETOS:
Consistencia de datos: Si tengo una base de datos replicada en 3 servidores y actualizo un dato, ¿los 3 tienen el mismo valor inmediatamente? No siempre. Esto es el gran problema de la consistencia.
Latencia: La red introduce demoras. Cuando programan distribuido, hay que asumir que la red puede fallar, puede estar lenta, y los mensajes pueden llegar en orden diferente al que se enviaron.
Depuración: Un bug en un sistema distribuido puede ocurrir solo cuando dos nodos específicos se comunican en condiciones específicas de carga. Son los bugs más difíciles de encontrar en la ingeniería de software.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Teorema CAP — propuesto por Eric Brewer en el año 2000 y formalizado matemáticamente en 2002 — es la regla de oro del diseño de Sistemas Distribuidos.
Dice algo poderoso: en un SD, NUNCA pueden garantizarse las tres propiedades al mismo tiempo. Solo pueden elegir dos.
C — Consistencia: todos los nodos ven el mismo dato en el mismo momento. Si actualizo un dato, cualquier nodo que consulte inmediatamente después ve el valor nuevo.
A — Disponibilidad: el sistema siempre responde. No importa qué pase, el sistema da una respuesta — aunque no sea la más actualizada.
P — Tolerancia a Particiones: el sistema sigue funcionando aunque la red falle y algunos nodos queden desconectados entre sí.
¿Cuál se abandona en la práctica? Casi siempre P NO se puede abandonar — las redes fallan, es un hecho de la vida. Entonces el trade-off real es entre C y A.
Pregunta: ¿Un banco debería ser CP o AP? [Esperar respuestas]. Correcto — CP. Un banco prefiere no responder antes que debitar dos veces.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vamos a ver cómo se aplica todo esto en el mundo real.
GOOGLE SEARCH: Google procesa más de 8.500 millones de búsquedas diarias. Cuando ustedes buscan algo, no hay un solo servidor que lo procesa. Hay cientos de servidores que trabajan en paralelo sobre diferentes partes del índice, y luego combinan los resultados. Todo en menos de 1 segundo.
NETFLIX: Netflix tiene más de 200 millones de suscriptores en todo el mundo. Funciona sobre AWS — Amazon Web Services — con una arquitectura de microservicios. Lo más interesante es su práctica de "Chaos Engineering" — Ingeniería del Caos. Netflix tiene una herramienta llamada "Chaos Monkey" que apaga servidores al azar en producción, para verificar que el sistema puede sobrevivir fallos reales.
AMAZON: En 2002, Jeff Bezos envió un memorando interno — conocido como el "Bezos API Mandate" — que decía: todos los equipos deben exponer sus datos y funcionalidad SOLO a través de interfaces de programación. Este mandato es el origen de la arquitectura de microservicios moderna.
La lección de los tres: los SD no son solo tecnología académica — son la base de los negocios más grandes del mundo.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práctica es la actividad central de la sesión.
Paso 1 — Grupos: El docente asigna los grupos de 3 a 4 estudiantes. Estos serán los mismos grupos para todo el semestre — los grupos del PFC, que son las siglas de Proyecto Fin de Curso.
Paso 2 — Elección del SD: Tienen 3 minutos para elegir un Sistema Distribuido que usen todos los días. Ejemplos: WhatsApp, TikTok, el campus virtual de la UTEQ, Spotify, Netflix. Elijan uno que conozcan bien.
Paso 3 — Diagrama: Tienen 12 minutos para dibujar. El diagrama debe tener: rectángulos representando los nodos. Líneas representando las conexiones de red. Flechas con etiquetas que muestren qué datos fluyen. Y deben identificar claramente: los clientes, los servidores, la base de datos y la red.
Paso 4 — Análisis CAP: Con el diagrama en mano, respondan: ¿Qué transparencias ANSA tienen? ¿El sistema es CP, AP o CA? ¿Cuál es el punto más débil?
Paso 5 — Exposición: Un representante del grupo muestra el diagrama y explica en 1 minuto. El docente debe tomar el tiempo y ser estricto. La disciplina del tiempo es una habilidad profesional.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al cierre de la Semana 1. Vamos a recapitular todo.
¿Qué aprendieron hoy? Cinco conceptos que deben poder explicar sin notas:
Uno: Un Sistema Distribuido — SD — es una colección de computadoras independientes que aparece al usuario como un sistema único.
Dos: Las ocho transparencias ANSA. No necesitan memorizar todas, pero deben reconocerlas: acceso, ubicación, migración, reubicación, replicación, concurrencia, fallos y persistencia.
Tres: El Teorema CAP de Brewer: Consistencia, Disponibilidad y Tolerancia a Particiones — solo dos a la vez. Este concepto va a aparecer en TODAS las unidades del curso.
Cuatro: Las empresas más grandes del mundo — Google, Netflix, Amazon — son SD. No es teoría de laboratorio.
Cinco: Los retos reales — consistencia, latencia, depuración — son los problemas que van a aprender a resolver este semestre.
TAREAS:
TA-IND-01 — donde las siglas TA significan Trabajo Autónomo — deben escribir UNA página sobre un SD que usen, identificando sus propiedades.
FORM-FB-01: fichas bibliográficas en formato IEEE.
¿Hay alguna pregunta? [Pausa para preguntas].
Nos vemos la próxima semana donde empezaremos con la comunicación entre procesos distribuidos: sockets, RPC e IPC.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0BFA5"/>
          </a:solidFill>
          <a:ln w="12700">
            <a:solidFill>
              <a:srgbClr val="00BFA5"/>
            </a:solidFill>
            <a:prstDash val="solid"/>
          </a:ln>
        </p:spPr>
      </p:sp>
      <p:sp>
        <p:nvSpPr>
          <p:cNvPr id="3" name="Shape 1"/>
          <p:cNvSpPr/>
          <p:nvPr/>
        </p:nvSpPr>
        <p:spPr>
          <a:xfrm>
            <a:off x="457200" y="0"/>
            <a:ext cx="109728" cy="5143500"/>
          </a:xfrm>
          <a:prstGeom prst="rect">
            <a:avLst/>
          </a:prstGeom>
          <a:solidFill>
            <a:srgbClr val="1565C0"/>
          </a:solidFill>
          <a:ln w="12700">
            <a:solidFill>
              <a:srgbClr val="1565C0"/>
            </a:solidFill>
            <a:prstDash val="solid"/>
          </a:ln>
        </p:spPr>
      </p:sp>
      <p:sp>
        <p:nvSpPr>
          <p:cNvPr id="4" name="Text 2"/>
          <p:cNvSpPr/>
          <p:nvPr/>
        </p:nvSpPr>
        <p:spPr>
          <a:xfrm>
            <a:off x="749808" y="256032"/>
            <a:ext cx="8229600" cy="365760"/>
          </a:xfrm>
          <a:prstGeom prst="rect">
            <a:avLst/>
          </a:prstGeom>
          <a:noFill/>
          <a:ln/>
        </p:spPr>
        <p:txBody>
          <a:bodyPr wrap="square" rtlCol="0" anchor="ctr"/>
          <a:lstStyle/>
          <a:p>
            <a:pPr marL="0" indent="0">
              <a:buNone/>
            </a:pPr>
            <a:r>
              <a:rPr lang="en-US" sz="1200" b="1" kern="0" spc="200" dirty="0">
                <a:solidFill>
                  <a:srgbClr val="00BFA5"/>
                </a:solidFill>
                <a:latin typeface="Calibri" pitchFamily="34" charset="0"/>
                <a:ea typeface="Calibri" pitchFamily="34" charset="-122"/>
                <a:cs typeface="Calibri" pitchFamily="34" charset="-120"/>
              </a:rPr>
              <a:t>UNIVERSIDAD TÉCNICA ESTATAL DE QUEVEDO</a:t>
            </a:r>
            <a:endParaRPr lang="en-US" sz="1200" dirty="0"/>
          </a:p>
        </p:txBody>
      </p:sp>
      <p:sp>
        <p:nvSpPr>
          <p:cNvPr id="5" name="Text 3"/>
          <p:cNvSpPr/>
          <p:nvPr/>
        </p:nvSpPr>
        <p:spPr>
          <a:xfrm>
            <a:off x="749808" y="594360"/>
            <a:ext cx="8229600" cy="292608"/>
          </a:xfrm>
          <a:prstGeom prst="rect">
            <a:avLst/>
          </a:prstGeom>
          <a:noFill/>
          <a:ln/>
        </p:spPr>
        <p:txBody>
          <a:bodyPr wrap="square" rtlCol="0" anchor="ctr"/>
          <a:lstStyle/>
          <a:p>
            <a:pPr marL="0" indent="0">
              <a:buNone/>
            </a:pPr>
            <a:r>
              <a:rPr lang="en-US" sz="1100" i="1" dirty="0">
                <a:solidFill>
                  <a:srgbClr val="AAAAAA"/>
                </a:solidFill>
                <a:latin typeface="Calibri" pitchFamily="34" charset="0"/>
                <a:ea typeface="Calibri" pitchFamily="34" charset="-122"/>
                <a:cs typeface="Calibri" pitchFamily="34" charset="-120"/>
              </a:rPr>
              <a:t>Facultad de Ciencias de la Computación y Diseño Digital</a:t>
            </a:r>
            <a:endParaRPr lang="en-US" sz="1100" dirty="0"/>
          </a:p>
        </p:txBody>
      </p:sp>
      <p:sp>
        <p:nvSpPr>
          <p:cNvPr id="6" name="Shape 4"/>
          <p:cNvSpPr/>
          <p:nvPr/>
        </p:nvSpPr>
        <p:spPr>
          <a:xfrm>
            <a:off x="749808" y="969264"/>
            <a:ext cx="8138160" cy="0"/>
          </a:xfrm>
          <a:prstGeom prst="line">
            <a:avLst/>
          </a:prstGeom>
          <a:noFill/>
          <a:ln w="15240">
            <a:solidFill>
              <a:srgbClr val="00BFA5"/>
            </a:solidFill>
            <a:prstDash val="solid"/>
          </a:ln>
        </p:spPr>
      </p:sp>
      <p:sp>
        <p:nvSpPr>
          <p:cNvPr id="7" name="Text 5"/>
          <p:cNvSpPr/>
          <p:nvPr/>
        </p:nvSpPr>
        <p:spPr>
          <a:xfrm>
            <a:off x="749808" y="1051560"/>
            <a:ext cx="8229600" cy="658368"/>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Aplicaciones Distribuidas</a:t>
            </a:r>
            <a:endParaRPr lang="en-US" sz="3600" dirty="0"/>
          </a:p>
        </p:txBody>
      </p:sp>
      <p:sp>
        <p:nvSpPr>
          <p:cNvPr id="8" name="Text 6"/>
          <p:cNvSpPr/>
          <p:nvPr/>
        </p:nvSpPr>
        <p:spPr>
          <a:xfrm>
            <a:off x="749808" y="1691640"/>
            <a:ext cx="8229600" cy="438912"/>
          </a:xfrm>
          <a:prstGeom prst="rect">
            <a:avLst/>
          </a:prstGeom>
          <a:noFill/>
          <a:ln/>
        </p:spPr>
        <p:txBody>
          <a:bodyPr wrap="square" rtlCol="0" anchor="ctr"/>
          <a:lstStyle/>
          <a:p>
            <a:pPr marL="0" indent="0">
              <a:buNone/>
            </a:pPr>
            <a:r>
              <a:rPr lang="en-US" sz="2000" b="1" kern="0" spc="300" dirty="0">
                <a:solidFill>
                  <a:srgbClr val="00BFA5"/>
                </a:solidFill>
                <a:latin typeface="Calibri" pitchFamily="34" charset="0"/>
                <a:ea typeface="Calibri" pitchFamily="34" charset="-122"/>
                <a:cs typeface="Calibri" pitchFamily="34" charset="-120"/>
              </a:rPr>
              <a:t>SEMANA 1 · UNIDAD 1</a:t>
            </a:r>
            <a:endParaRPr lang="en-US" sz="2000" dirty="0"/>
          </a:p>
        </p:txBody>
      </p:sp>
      <p:sp>
        <p:nvSpPr>
          <p:cNvPr id="9" name="Text 7"/>
          <p:cNvSpPr/>
          <p:nvPr/>
        </p:nvSpPr>
        <p:spPr>
          <a:xfrm>
            <a:off x="749808" y="2148840"/>
            <a:ext cx="8229600" cy="457200"/>
          </a:xfrm>
          <a:prstGeom prst="rect">
            <a:avLst/>
          </a:prstGeom>
          <a:noFill/>
          <a:ln/>
        </p:spPr>
        <p:txBody>
          <a:bodyPr wrap="square" rtlCol="0" anchor="ctr"/>
          <a:lstStyle/>
          <a:p>
            <a:pPr marL="0" indent="0">
              <a:buNone/>
            </a:pPr>
            <a:r>
              <a:rPr lang="en-US" sz="2200" dirty="0">
                <a:solidFill>
                  <a:srgbClr val="DDDDDD"/>
                </a:solidFill>
                <a:latin typeface="Calibri" pitchFamily="34" charset="0"/>
                <a:ea typeface="Calibri" pitchFamily="34" charset="-122"/>
                <a:cs typeface="Calibri" pitchFamily="34" charset="-120"/>
              </a:rPr>
              <a:t>Introducción a los Sistemas Distribuidos (SD)</a:t>
            </a:r>
            <a:endParaRPr lang="en-US" sz="2200" dirty="0"/>
          </a:p>
        </p:txBody>
      </p:sp>
      <p:sp>
        <p:nvSpPr>
          <p:cNvPr id="10" name="Shape 8"/>
          <p:cNvSpPr/>
          <p:nvPr/>
        </p:nvSpPr>
        <p:spPr>
          <a:xfrm>
            <a:off x="749808" y="2697480"/>
            <a:ext cx="8138160" cy="0"/>
          </a:xfrm>
          <a:prstGeom prst="line">
            <a:avLst/>
          </a:prstGeom>
          <a:noFill/>
          <a:ln w="12700">
            <a:solidFill>
              <a:srgbClr val="334455"/>
            </a:solidFill>
            <a:prstDash val="solid"/>
          </a:ln>
        </p:spPr>
      </p:sp>
      <p:sp>
        <p:nvSpPr>
          <p:cNvPr id="11" name="Text 9"/>
          <p:cNvSpPr/>
          <p:nvPr/>
        </p:nvSpPr>
        <p:spPr>
          <a:xfrm>
            <a:off x="841248" y="2816352"/>
            <a:ext cx="8229600" cy="347472"/>
          </a:xfrm>
          <a:prstGeom prst="rect">
            <a:avLst/>
          </a:prstGeom>
          <a:noFill/>
          <a:ln/>
        </p:spPr>
        <p:txBody>
          <a:bodyPr wrap="square" rtlCol="0" anchor="ctr"/>
          <a:lstStyle/>
          <a:p>
            <a:pPr marL="0" indent="0">
              <a:buNone/>
            </a:pPr>
            <a:r>
              <a:rPr lang="en-US" sz="1400" b="1" dirty="0">
                <a:solidFill>
                  <a:srgbClr val="00BFA5"/>
                </a:solidFill>
                <a:latin typeface="Calibri" pitchFamily="34" charset="0"/>
                <a:ea typeface="Calibri" pitchFamily="34" charset="-122"/>
                <a:cs typeface="Calibri" pitchFamily="34" charset="-120"/>
              </a:rPr>
              <a:t>▸ </a:t>
            </a:r>
            <a:r>
              <a:rPr lang="en-US" sz="1400" dirty="0">
                <a:solidFill>
                  <a:srgbClr val="CCCCCC"/>
                </a:solidFill>
                <a:latin typeface="Calibri" pitchFamily="34" charset="0"/>
                <a:ea typeface="Calibri" pitchFamily="34" charset="-122"/>
                <a:cs typeface="Calibri" pitchFamily="34" charset="-120"/>
              </a:rPr>
              <a:t>¿Qué es un Sistema Distribuido? Definición y ejemplos del mundo real</a:t>
            </a:r>
            <a:endParaRPr lang="en-US" sz="1400" dirty="0"/>
          </a:p>
        </p:txBody>
      </p:sp>
      <p:sp>
        <p:nvSpPr>
          <p:cNvPr id="12" name="Text 10"/>
          <p:cNvSpPr/>
          <p:nvPr/>
        </p:nvSpPr>
        <p:spPr>
          <a:xfrm>
            <a:off x="841248" y="3200400"/>
            <a:ext cx="8229600" cy="347472"/>
          </a:xfrm>
          <a:prstGeom prst="rect">
            <a:avLst/>
          </a:prstGeom>
          <a:noFill/>
          <a:ln/>
        </p:spPr>
        <p:txBody>
          <a:bodyPr wrap="square" rtlCol="0" anchor="ctr"/>
          <a:lstStyle/>
          <a:p>
            <a:pPr marL="0" indent="0">
              <a:buNone/>
            </a:pPr>
            <a:r>
              <a:rPr lang="en-US" sz="1400" b="1" dirty="0">
                <a:solidFill>
                  <a:srgbClr val="00BFA5"/>
                </a:solidFill>
                <a:latin typeface="Calibri" pitchFamily="34" charset="0"/>
                <a:ea typeface="Calibri" pitchFamily="34" charset="-122"/>
                <a:cs typeface="Calibri" pitchFamily="34" charset="-120"/>
              </a:rPr>
              <a:t>▸ </a:t>
            </a:r>
            <a:r>
              <a:rPr lang="en-US" sz="1400" dirty="0">
                <a:solidFill>
                  <a:srgbClr val="CCCCCC"/>
                </a:solidFill>
                <a:latin typeface="Calibri" pitchFamily="34" charset="0"/>
                <a:ea typeface="Calibri" pitchFamily="34" charset="-122"/>
                <a:cs typeface="Calibri" pitchFamily="34" charset="-120"/>
              </a:rPr>
              <a:t>Propiedades esenciales: transparencia, escalabilidad, fiabilidad</a:t>
            </a:r>
            <a:endParaRPr lang="en-US" sz="1400" dirty="0"/>
          </a:p>
        </p:txBody>
      </p:sp>
      <p:sp>
        <p:nvSpPr>
          <p:cNvPr id="13" name="Text 11"/>
          <p:cNvSpPr/>
          <p:nvPr/>
        </p:nvSpPr>
        <p:spPr>
          <a:xfrm>
            <a:off x="841248" y="3584448"/>
            <a:ext cx="8229600" cy="347472"/>
          </a:xfrm>
          <a:prstGeom prst="rect">
            <a:avLst/>
          </a:prstGeom>
          <a:noFill/>
          <a:ln/>
        </p:spPr>
        <p:txBody>
          <a:bodyPr wrap="square" rtlCol="0" anchor="ctr"/>
          <a:lstStyle/>
          <a:p>
            <a:pPr marL="0" indent="0">
              <a:buNone/>
            </a:pPr>
            <a:r>
              <a:rPr lang="en-US" sz="1400" b="1" dirty="0">
                <a:solidFill>
                  <a:srgbClr val="00BFA5"/>
                </a:solidFill>
                <a:latin typeface="Calibri" pitchFamily="34" charset="0"/>
                <a:ea typeface="Calibri" pitchFamily="34" charset="-122"/>
                <a:cs typeface="Calibri" pitchFamily="34" charset="-120"/>
              </a:rPr>
              <a:t>▸ </a:t>
            </a:r>
            <a:r>
              <a:rPr lang="en-US" sz="1400" dirty="0">
                <a:solidFill>
                  <a:srgbClr val="CCCCCC"/>
                </a:solidFill>
                <a:latin typeface="Calibri" pitchFamily="34" charset="0"/>
                <a:ea typeface="Calibri" pitchFamily="34" charset="-122"/>
                <a:cs typeface="Calibri" pitchFamily="34" charset="-120"/>
              </a:rPr>
              <a:t>Ventajas, limitaciones y retos actuales</a:t>
            </a:r>
            <a:endParaRPr lang="en-US" sz="1400" dirty="0"/>
          </a:p>
        </p:txBody>
      </p:sp>
      <p:sp>
        <p:nvSpPr>
          <p:cNvPr id="14" name="Text 12"/>
          <p:cNvSpPr/>
          <p:nvPr/>
        </p:nvSpPr>
        <p:spPr>
          <a:xfrm>
            <a:off x="841248" y="3968496"/>
            <a:ext cx="8229600" cy="347472"/>
          </a:xfrm>
          <a:prstGeom prst="rect">
            <a:avLst/>
          </a:prstGeom>
          <a:noFill/>
          <a:ln/>
        </p:spPr>
        <p:txBody>
          <a:bodyPr wrap="square" rtlCol="0" anchor="ctr"/>
          <a:lstStyle/>
          <a:p>
            <a:pPr marL="0" indent="0">
              <a:buNone/>
            </a:pPr>
            <a:r>
              <a:rPr lang="en-US" sz="1400" b="1" dirty="0">
                <a:solidFill>
                  <a:srgbClr val="00BFA5"/>
                </a:solidFill>
                <a:latin typeface="Calibri" pitchFamily="34" charset="0"/>
                <a:ea typeface="Calibri" pitchFamily="34" charset="-122"/>
                <a:cs typeface="Calibri" pitchFamily="34" charset="-120"/>
              </a:rPr>
              <a:t>▸ </a:t>
            </a:r>
            <a:r>
              <a:rPr lang="en-US" sz="1400" dirty="0">
                <a:solidFill>
                  <a:srgbClr val="CCCCCC"/>
                </a:solidFill>
                <a:latin typeface="Calibri" pitchFamily="34" charset="0"/>
                <a:ea typeface="Calibri" pitchFamily="34" charset="-122"/>
                <a:cs typeface="Calibri" pitchFamily="34" charset="-120"/>
              </a:rPr>
              <a:t>Casos reales: Google, Netflix, Amazon</a:t>
            </a:r>
            <a:endParaRPr lang="en-US" sz="1400" dirty="0"/>
          </a:p>
        </p:txBody>
      </p:sp>
      <p:sp>
        <p:nvSpPr>
          <p:cNvPr id="15" name="Text 13"/>
          <p:cNvSpPr/>
          <p:nvPr/>
        </p:nvSpPr>
        <p:spPr>
          <a:xfrm>
            <a:off x="749808" y="4736592"/>
            <a:ext cx="8229600" cy="219456"/>
          </a:xfrm>
          <a:prstGeom prst="rect">
            <a:avLst/>
          </a:prstGeom>
          <a:noFill/>
          <a:ln/>
        </p:spPr>
        <p:txBody>
          <a:bodyPr wrap="square" rtlCol="0" anchor="ctr"/>
          <a:lstStyle/>
          <a:p>
            <a:pPr marL="0" indent="0">
              <a:buNone/>
            </a:pPr>
            <a:r>
              <a:rPr lang="en-US" sz="950" i="1" dirty="0">
                <a:solidFill>
                  <a:srgbClr val="888888"/>
                </a:solidFill>
                <a:latin typeface="Calibri" pitchFamily="34" charset="0"/>
                <a:ea typeface="Calibri" pitchFamily="34" charset="-122"/>
                <a:cs typeface="Calibri" pitchFamily="34" charset="-120"/>
              </a:rPr>
              <a:t>Período Académico: Regular 2026-2027 SPA  ·  Carrera de Ingeniería de Software — 7º Semestre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1565C0"/>
          </a:solidFill>
          <a:ln w="12700">
            <a:solidFill>
              <a:srgbClr val="1565C0"/>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1</a:t>
            </a:r>
            <a:endParaRPr lang="en-US" sz="800" dirty="0"/>
          </a:p>
        </p:txBody>
      </p:sp>
      <p:sp>
        <p:nvSpPr>
          <p:cNvPr id="5" name="Shape 3"/>
          <p:cNvSpPr/>
          <p:nvPr/>
        </p:nvSpPr>
        <p:spPr>
          <a:xfrm>
            <a:off x="0" y="182880"/>
            <a:ext cx="2743200" cy="310896"/>
          </a:xfrm>
          <a:prstGeom prst="rect">
            <a:avLst/>
          </a:prstGeom>
          <a:solidFill>
            <a:srgbClr val="00BFA5"/>
          </a:solidFill>
          <a:ln w="12700">
            <a:solidFill>
              <a:srgbClr val="00BFA5"/>
            </a:solidFill>
            <a:prstDash val="solid"/>
          </a:ln>
        </p:spPr>
      </p:sp>
      <p:sp>
        <p:nvSpPr>
          <p:cNvPr id="6" name="Text 4"/>
          <p:cNvSpPr/>
          <p:nvPr/>
        </p:nvSpPr>
        <p:spPr>
          <a:xfrm>
            <a:off x="91440" y="182880"/>
            <a:ext cx="256032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Semana 1 · Hoja de Ruta</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¿Qué aprenderemos hoy?</a:t>
            </a:r>
            <a:endParaRPr lang="en-US" sz="2200" dirty="0"/>
          </a:p>
        </p:txBody>
      </p:sp>
      <p:sp>
        <p:nvSpPr>
          <p:cNvPr id="8" name="Shape 6"/>
          <p:cNvSpPr/>
          <p:nvPr/>
        </p:nvSpPr>
        <p:spPr>
          <a:xfrm>
            <a:off x="365760" y="1024128"/>
            <a:ext cx="8412480" cy="822960"/>
          </a:xfrm>
          <a:prstGeom prst="rect">
            <a:avLst/>
          </a:prstGeom>
          <a:solidFill>
            <a:srgbClr val="1565C0"/>
          </a:solidFill>
          <a:ln w="12700">
            <a:solidFill>
              <a:srgbClr val="1565C0"/>
            </a:solidFill>
            <a:prstDash val="solid"/>
          </a:ln>
          <a:effectLst>
            <a:outerShdw blurRad="63500" dist="25400" dir="8100000" algn="bl" rotWithShape="0">
              <a:srgbClr val="000000">
                <a:alpha val="12000"/>
              </a:srgbClr>
            </a:outerShdw>
          </a:effectLst>
        </p:spPr>
      </p:sp>
      <p:sp>
        <p:nvSpPr>
          <p:cNvPr id="9" name="Text 7"/>
          <p:cNvSpPr/>
          <p:nvPr/>
        </p:nvSpPr>
        <p:spPr>
          <a:xfrm>
            <a:off x="548640" y="1042416"/>
            <a:ext cx="8046720" cy="768096"/>
          </a:xfrm>
          <a:prstGeom prst="rect">
            <a:avLst/>
          </a:prstGeom>
          <a:noFill/>
          <a:ln/>
        </p:spPr>
        <p:txBody>
          <a:bodyPr wrap="square" rtlCol="0" anchor="ctr"/>
          <a:lstStyle/>
          <a:p>
            <a:pPr marL="0" indent="0">
              <a:buNone/>
            </a:pPr>
            <a:r>
              <a:rPr lang="en-US" sz="1400" b="1" dirty="0">
                <a:solidFill>
                  <a:srgbClr val="00BFA5"/>
                </a:solidFill>
                <a:latin typeface="Calibri" pitchFamily="34" charset="0"/>
                <a:ea typeface="Calibri" pitchFamily="34" charset="-122"/>
                <a:cs typeface="Calibri" pitchFamily="34" charset="-120"/>
              </a:rPr>
              <a:t>Resultado de Aprendizaje (RA): </a:t>
            </a:r>
            <a:r>
              <a:rPr lang="en-US" sz="1400" dirty="0">
                <a:solidFill>
                  <a:srgbClr val="FFFFFF"/>
                </a:solidFill>
                <a:latin typeface="Calibri" pitchFamily="34" charset="0"/>
                <a:ea typeface="Calibri" pitchFamily="34" charset="-122"/>
                <a:cs typeface="Calibri" pitchFamily="34" charset="-120"/>
              </a:rPr>
              <a:t>Analiza las características y principios de los Sistemas Distribuidos (SD), evaluando sus ventajas, limitaciones y retos desde una perspectiva crítica e interdisciplinaria.</a:t>
            </a:r>
            <a:endParaRPr lang="en-US" sz="1400" dirty="0"/>
          </a:p>
        </p:txBody>
      </p:sp>
      <p:sp>
        <p:nvSpPr>
          <p:cNvPr id="10" name="Shape 8"/>
          <p:cNvSpPr/>
          <p:nvPr/>
        </p:nvSpPr>
        <p:spPr>
          <a:xfrm>
            <a:off x="365760" y="1965960"/>
            <a:ext cx="4160520" cy="658368"/>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11" name="Shape 9"/>
          <p:cNvSpPr/>
          <p:nvPr/>
        </p:nvSpPr>
        <p:spPr>
          <a:xfrm>
            <a:off x="365760" y="1965960"/>
            <a:ext cx="420624" cy="658368"/>
          </a:xfrm>
          <a:prstGeom prst="rect">
            <a:avLst/>
          </a:prstGeom>
          <a:solidFill>
            <a:srgbClr val="00BFA5"/>
          </a:solidFill>
          <a:ln w="12700">
            <a:solidFill>
              <a:srgbClr val="00BFA5"/>
            </a:solidFill>
            <a:prstDash val="solid"/>
          </a:ln>
        </p:spPr>
      </p:sp>
      <p:sp>
        <p:nvSpPr>
          <p:cNvPr id="12" name="Text 10"/>
          <p:cNvSpPr/>
          <p:nvPr/>
        </p:nvSpPr>
        <p:spPr>
          <a:xfrm>
            <a:off x="365760" y="1965960"/>
            <a:ext cx="420624"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1"/>
          <p:cNvSpPr/>
          <p:nvPr/>
        </p:nvSpPr>
        <p:spPr>
          <a:xfrm>
            <a:off x="859536" y="2020824"/>
            <a:ext cx="3566160" cy="27432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Motivación</a:t>
            </a:r>
            <a:endParaRPr lang="en-US" sz="1400" dirty="0"/>
          </a:p>
        </p:txBody>
      </p:sp>
      <p:sp>
        <p:nvSpPr>
          <p:cNvPr id="14" name="Text 12"/>
          <p:cNvSpPr/>
          <p:nvPr/>
        </p:nvSpPr>
        <p:spPr>
          <a:xfrm>
            <a:off x="859536" y="2295144"/>
            <a:ext cx="3566160" cy="27432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¿Por qué existen los SD?</a:t>
            </a:r>
            <a:endParaRPr lang="en-US" sz="1200" dirty="0"/>
          </a:p>
        </p:txBody>
      </p:sp>
      <p:sp>
        <p:nvSpPr>
          <p:cNvPr id="15" name="Shape 13"/>
          <p:cNvSpPr/>
          <p:nvPr/>
        </p:nvSpPr>
        <p:spPr>
          <a:xfrm>
            <a:off x="365760" y="2734056"/>
            <a:ext cx="4160520" cy="658368"/>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16" name="Shape 14"/>
          <p:cNvSpPr/>
          <p:nvPr/>
        </p:nvSpPr>
        <p:spPr>
          <a:xfrm>
            <a:off x="365760" y="2734056"/>
            <a:ext cx="420624" cy="658368"/>
          </a:xfrm>
          <a:prstGeom prst="rect">
            <a:avLst/>
          </a:prstGeom>
          <a:solidFill>
            <a:srgbClr val="00BFA5"/>
          </a:solidFill>
          <a:ln w="12700">
            <a:solidFill>
              <a:srgbClr val="00BFA5"/>
            </a:solidFill>
            <a:prstDash val="solid"/>
          </a:ln>
        </p:spPr>
      </p:sp>
      <p:sp>
        <p:nvSpPr>
          <p:cNvPr id="17" name="Text 15"/>
          <p:cNvSpPr/>
          <p:nvPr/>
        </p:nvSpPr>
        <p:spPr>
          <a:xfrm>
            <a:off x="365760" y="2734056"/>
            <a:ext cx="420624"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859536" y="2788920"/>
            <a:ext cx="3566160" cy="27432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Definición formal</a:t>
            </a:r>
            <a:endParaRPr lang="en-US" sz="1400" dirty="0"/>
          </a:p>
        </p:txBody>
      </p:sp>
      <p:sp>
        <p:nvSpPr>
          <p:cNvPr id="19" name="Text 17"/>
          <p:cNvSpPr/>
          <p:nvPr/>
        </p:nvSpPr>
        <p:spPr>
          <a:xfrm>
            <a:off x="859536" y="3063240"/>
            <a:ext cx="3566160" cy="27432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Qué son y qué NO son</a:t>
            </a:r>
            <a:endParaRPr lang="en-US" sz="1200" dirty="0"/>
          </a:p>
        </p:txBody>
      </p:sp>
      <p:sp>
        <p:nvSpPr>
          <p:cNvPr id="20" name="Shape 18"/>
          <p:cNvSpPr/>
          <p:nvPr/>
        </p:nvSpPr>
        <p:spPr>
          <a:xfrm>
            <a:off x="365760" y="3502152"/>
            <a:ext cx="4160520" cy="658368"/>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21" name="Shape 19"/>
          <p:cNvSpPr/>
          <p:nvPr/>
        </p:nvSpPr>
        <p:spPr>
          <a:xfrm>
            <a:off x="365760" y="3502152"/>
            <a:ext cx="420624" cy="658368"/>
          </a:xfrm>
          <a:prstGeom prst="rect">
            <a:avLst/>
          </a:prstGeom>
          <a:solidFill>
            <a:srgbClr val="00BFA5"/>
          </a:solidFill>
          <a:ln w="12700">
            <a:solidFill>
              <a:srgbClr val="00BFA5"/>
            </a:solidFill>
            <a:prstDash val="solid"/>
          </a:ln>
        </p:spPr>
      </p:sp>
      <p:sp>
        <p:nvSpPr>
          <p:cNvPr id="22" name="Text 20"/>
          <p:cNvSpPr/>
          <p:nvPr/>
        </p:nvSpPr>
        <p:spPr>
          <a:xfrm>
            <a:off x="365760" y="3502152"/>
            <a:ext cx="420624"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859536" y="3557016"/>
            <a:ext cx="3566160" cy="27432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Propiedades clave</a:t>
            </a:r>
            <a:endParaRPr lang="en-US" sz="1400" dirty="0"/>
          </a:p>
        </p:txBody>
      </p:sp>
      <p:sp>
        <p:nvSpPr>
          <p:cNvPr id="24" name="Text 22"/>
          <p:cNvSpPr/>
          <p:nvPr/>
        </p:nvSpPr>
        <p:spPr>
          <a:xfrm>
            <a:off x="859536" y="3831336"/>
            <a:ext cx="3566160" cy="27432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Transparencias y principios</a:t>
            </a:r>
            <a:endParaRPr lang="en-US" sz="1200" dirty="0"/>
          </a:p>
        </p:txBody>
      </p:sp>
      <p:sp>
        <p:nvSpPr>
          <p:cNvPr id="25" name="Shape 23"/>
          <p:cNvSpPr/>
          <p:nvPr/>
        </p:nvSpPr>
        <p:spPr>
          <a:xfrm>
            <a:off x="4709160" y="1965960"/>
            <a:ext cx="4160520" cy="658368"/>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26" name="Shape 24"/>
          <p:cNvSpPr/>
          <p:nvPr/>
        </p:nvSpPr>
        <p:spPr>
          <a:xfrm>
            <a:off x="4709160" y="1965960"/>
            <a:ext cx="420624" cy="658368"/>
          </a:xfrm>
          <a:prstGeom prst="rect">
            <a:avLst/>
          </a:prstGeom>
          <a:solidFill>
            <a:srgbClr val="00BFA5"/>
          </a:solidFill>
          <a:ln w="12700">
            <a:solidFill>
              <a:srgbClr val="00BFA5"/>
            </a:solidFill>
            <a:prstDash val="solid"/>
          </a:ln>
        </p:spPr>
      </p:sp>
      <p:sp>
        <p:nvSpPr>
          <p:cNvPr id="27" name="Text 25"/>
          <p:cNvSpPr/>
          <p:nvPr/>
        </p:nvSpPr>
        <p:spPr>
          <a:xfrm>
            <a:off x="4709160" y="1965960"/>
            <a:ext cx="420624"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5202936" y="2020824"/>
            <a:ext cx="3566160" cy="27432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Ventajas y retos</a:t>
            </a:r>
            <a:endParaRPr lang="en-US" sz="1400" dirty="0"/>
          </a:p>
        </p:txBody>
      </p:sp>
      <p:sp>
        <p:nvSpPr>
          <p:cNvPr id="29" name="Text 27"/>
          <p:cNvSpPr/>
          <p:nvPr/>
        </p:nvSpPr>
        <p:spPr>
          <a:xfrm>
            <a:off x="5202936" y="2295144"/>
            <a:ext cx="3566160" cy="27432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El teorema CAP</a:t>
            </a:r>
            <a:endParaRPr lang="en-US" sz="1200" dirty="0"/>
          </a:p>
        </p:txBody>
      </p:sp>
      <p:sp>
        <p:nvSpPr>
          <p:cNvPr id="30" name="Shape 28"/>
          <p:cNvSpPr/>
          <p:nvPr/>
        </p:nvSpPr>
        <p:spPr>
          <a:xfrm>
            <a:off x="4709160" y="2734056"/>
            <a:ext cx="4160520" cy="658368"/>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31" name="Shape 29"/>
          <p:cNvSpPr/>
          <p:nvPr/>
        </p:nvSpPr>
        <p:spPr>
          <a:xfrm>
            <a:off x="4709160" y="2734056"/>
            <a:ext cx="420624" cy="658368"/>
          </a:xfrm>
          <a:prstGeom prst="rect">
            <a:avLst/>
          </a:prstGeom>
          <a:solidFill>
            <a:srgbClr val="00BFA5"/>
          </a:solidFill>
          <a:ln w="12700">
            <a:solidFill>
              <a:srgbClr val="00BFA5"/>
            </a:solidFill>
            <a:prstDash val="solid"/>
          </a:ln>
        </p:spPr>
      </p:sp>
      <p:sp>
        <p:nvSpPr>
          <p:cNvPr id="32" name="Text 30"/>
          <p:cNvSpPr/>
          <p:nvPr/>
        </p:nvSpPr>
        <p:spPr>
          <a:xfrm>
            <a:off x="4709160" y="2734056"/>
            <a:ext cx="420624"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3" name="Text 31"/>
          <p:cNvSpPr/>
          <p:nvPr/>
        </p:nvSpPr>
        <p:spPr>
          <a:xfrm>
            <a:off x="5202936" y="2788920"/>
            <a:ext cx="3566160" cy="27432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Casos reales</a:t>
            </a:r>
            <a:endParaRPr lang="en-US" sz="1400" dirty="0"/>
          </a:p>
        </p:txBody>
      </p:sp>
      <p:sp>
        <p:nvSpPr>
          <p:cNvPr id="34" name="Text 32"/>
          <p:cNvSpPr/>
          <p:nvPr/>
        </p:nvSpPr>
        <p:spPr>
          <a:xfrm>
            <a:off x="5202936" y="3063240"/>
            <a:ext cx="3566160" cy="27432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Google, Netflix, Amazon</a:t>
            </a:r>
            <a:endParaRPr lang="en-US" sz="1200" dirty="0"/>
          </a:p>
        </p:txBody>
      </p:sp>
      <p:sp>
        <p:nvSpPr>
          <p:cNvPr id="35" name="Shape 33"/>
          <p:cNvSpPr/>
          <p:nvPr/>
        </p:nvSpPr>
        <p:spPr>
          <a:xfrm>
            <a:off x="4709160" y="3502152"/>
            <a:ext cx="4160520" cy="658368"/>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36" name="Shape 34"/>
          <p:cNvSpPr/>
          <p:nvPr/>
        </p:nvSpPr>
        <p:spPr>
          <a:xfrm>
            <a:off x="4709160" y="3502152"/>
            <a:ext cx="420624" cy="658368"/>
          </a:xfrm>
          <a:prstGeom prst="rect">
            <a:avLst/>
          </a:prstGeom>
          <a:solidFill>
            <a:srgbClr val="00BFA5"/>
          </a:solidFill>
          <a:ln w="12700">
            <a:solidFill>
              <a:srgbClr val="00BFA5"/>
            </a:solidFill>
            <a:prstDash val="solid"/>
          </a:ln>
        </p:spPr>
      </p:sp>
      <p:sp>
        <p:nvSpPr>
          <p:cNvPr id="37" name="Text 35"/>
          <p:cNvSpPr/>
          <p:nvPr/>
        </p:nvSpPr>
        <p:spPr>
          <a:xfrm>
            <a:off x="4709160" y="3502152"/>
            <a:ext cx="420624"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8" name="Text 36"/>
          <p:cNvSpPr/>
          <p:nvPr/>
        </p:nvSpPr>
        <p:spPr>
          <a:xfrm>
            <a:off x="5202936" y="3557016"/>
            <a:ext cx="3566160" cy="27432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Práctica en clase</a:t>
            </a:r>
            <a:endParaRPr lang="en-US" sz="1400" dirty="0"/>
          </a:p>
        </p:txBody>
      </p:sp>
      <p:sp>
        <p:nvSpPr>
          <p:cNvPr id="39" name="Text 37"/>
          <p:cNvSpPr/>
          <p:nvPr/>
        </p:nvSpPr>
        <p:spPr>
          <a:xfrm>
            <a:off x="5202936" y="3831336"/>
            <a:ext cx="3566160" cy="27432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Diagramar un SD simple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0D2137"/>
          </a:solidFill>
          <a:ln w="12700">
            <a:solidFill>
              <a:srgbClr val="0D2137"/>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1</a:t>
            </a:r>
            <a:endParaRPr lang="en-US" sz="800" dirty="0"/>
          </a:p>
        </p:txBody>
      </p:sp>
      <p:sp>
        <p:nvSpPr>
          <p:cNvPr id="5" name="Shape 3"/>
          <p:cNvSpPr/>
          <p:nvPr/>
        </p:nvSpPr>
        <p:spPr>
          <a:xfrm>
            <a:off x="0" y="182880"/>
            <a:ext cx="2743200" cy="310896"/>
          </a:xfrm>
          <a:prstGeom prst="rect">
            <a:avLst/>
          </a:prstGeom>
          <a:solidFill>
            <a:srgbClr val="00BFA5"/>
          </a:solidFill>
          <a:ln w="12700">
            <a:solidFill>
              <a:srgbClr val="00BFA5"/>
            </a:solidFill>
            <a:prstDash val="solid"/>
          </a:ln>
        </p:spPr>
      </p:sp>
      <p:sp>
        <p:nvSpPr>
          <p:cNvPr id="6" name="Text 4"/>
          <p:cNvSpPr/>
          <p:nvPr/>
        </p:nvSpPr>
        <p:spPr>
          <a:xfrm>
            <a:off x="91440" y="182880"/>
            <a:ext cx="256032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1 · Motivación</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¿Por qué necesitamos Sistemas Distribuidos?</a:t>
            </a:r>
            <a:endParaRPr lang="en-US" sz="2200" dirty="0"/>
          </a:p>
        </p:txBody>
      </p:sp>
      <p:sp>
        <p:nvSpPr>
          <p:cNvPr id="8" name="Shape 6"/>
          <p:cNvSpPr/>
          <p:nvPr/>
        </p:nvSpPr>
        <p:spPr>
          <a:xfrm>
            <a:off x="274320" y="1005840"/>
            <a:ext cx="4114800" cy="3858768"/>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9" name="Shape 7"/>
          <p:cNvSpPr/>
          <p:nvPr/>
        </p:nvSpPr>
        <p:spPr>
          <a:xfrm>
            <a:off x="274320" y="1005840"/>
            <a:ext cx="4114800" cy="420624"/>
          </a:xfrm>
          <a:prstGeom prst="rect">
            <a:avLst/>
          </a:prstGeom>
          <a:solidFill>
            <a:srgbClr val="C62828"/>
          </a:solidFill>
          <a:ln w="12700">
            <a:solidFill>
              <a:srgbClr val="C62828"/>
            </a:solidFill>
            <a:prstDash val="solid"/>
          </a:ln>
        </p:spPr>
      </p:sp>
      <p:sp>
        <p:nvSpPr>
          <p:cNvPr id="10" name="Text 8"/>
          <p:cNvSpPr/>
          <p:nvPr/>
        </p:nvSpPr>
        <p:spPr>
          <a:xfrm>
            <a:off x="411480" y="1005840"/>
            <a:ext cx="3931920" cy="420624"/>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El problema: un solo computador</a:t>
            </a:r>
            <a:endParaRPr lang="en-US" sz="1350" dirty="0"/>
          </a:p>
        </p:txBody>
      </p:sp>
      <p:sp>
        <p:nvSpPr>
          <p:cNvPr id="11" name="Text 9"/>
          <p:cNvSpPr/>
          <p:nvPr/>
        </p:nvSpPr>
        <p:spPr>
          <a:xfrm>
            <a:off x="438912" y="1481328"/>
            <a:ext cx="3858768" cy="65471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Capacidad limitada de CPU, RAM y disco</a:t>
            </a:r>
            <a:endParaRPr lang="en-US" sz="1300" dirty="0"/>
          </a:p>
        </p:txBody>
      </p:sp>
      <p:sp>
        <p:nvSpPr>
          <p:cNvPr id="12" name="Text 10"/>
          <p:cNvSpPr/>
          <p:nvPr/>
        </p:nvSpPr>
        <p:spPr>
          <a:xfrm>
            <a:off x="438912" y="2136038"/>
            <a:ext cx="3858768" cy="65471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Si falla → todo el servicio cae</a:t>
            </a:r>
            <a:endParaRPr lang="en-US" sz="1300" dirty="0"/>
          </a:p>
        </p:txBody>
      </p:sp>
      <p:sp>
        <p:nvSpPr>
          <p:cNvPr id="13" name="Text 11"/>
          <p:cNvSpPr/>
          <p:nvPr/>
        </p:nvSpPr>
        <p:spPr>
          <a:xfrm>
            <a:off x="438912" y="2790749"/>
            <a:ext cx="3858768" cy="65471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No puede servir a millones de usuarios a la vez</a:t>
            </a:r>
            <a:endParaRPr lang="en-US" sz="1300" dirty="0"/>
          </a:p>
        </p:txBody>
      </p:sp>
      <p:sp>
        <p:nvSpPr>
          <p:cNvPr id="14" name="Text 12"/>
          <p:cNvSpPr/>
          <p:nvPr/>
        </p:nvSpPr>
        <p:spPr>
          <a:xfrm>
            <a:off x="438912" y="3445459"/>
            <a:ext cx="3858768" cy="65471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Datos centralizados = punto único de ataque</a:t>
            </a:r>
            <a:endParaRPr lang="en-US" sz="1300" dirty="0"/>
          </a:p>
        </p:txBody>
      </p:sp>
      <p:sp>
        <p:nvSpPr>
          <p:cNvPr id="15" name="Text 13"/>
          <p:cNvSpPr/>
          <p:nvPr/>
        </p:nvSpPr>
        <p:spPr>
          <a:xfrm>
            <a:off x="438912" y="4100170"/>
            <a:ext cx="3858768" cy="654710"/>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Actualizar = apagar el servicio (downtime)</a:t>
            </a:r>
            <a:endParaRPr lang="en-US" sz="1300" dirty="0"/>
          </a:p>
        </p:txBody>
      </p:sp>
      <p:sp>
        <p:nvSpPr>
          <p:cNvPr id="16" name="Shape 14"/>
          <p:cNvSpPr/>
          <p:nvPr/>
        </p:nvSpPr>
        <p:spPr>
          <a:xfrm>
            <a:off x="4754880" y="1005840"/>
            <a:ext cx="4114800" cy="3858768"/>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17" name="Shape 15"/>
          <p:cNvSpPr/>
          <p:nvPr/>
        </p:nvSpPr>
        <p:spPr>
          <a:xfrm>
            <a:off x="4754880" y="1005840"/>
            <a:ext cx="4114800" cy="420624"/>
          </a:xfrm>
          <a:prstGeom prst="rect">
            <a:avLst/>
          </a:prstGeom>
          <a:solidFill>
            <a:srgbClr val="2E7D32"/>
          </a:solidFill>
          <a:ln w="12700">
            <a:solidFill>
              <a:srgbClr val="2E7D32"/>
            </a:solidFill>
            <a:prstDash val="solid"/>
          </a:ln>
        </p:spPr>
      </p:sp>
      <p:sp>
        <p:nvSpPr>
          <p:cNvPr id="18" name="Text 16"/>
          <p:cNvSpPr/>
          <p:nvPr/>
        </p:nvSpPr>
        <p:spPr>
          <a:xfrm>
            <a:off x="4892040" y="1005840"/>
            <a:ext cx="3931920" cy="420624"/>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La solución: distribuir</a:t>
            </a:r>
            <a:endParaRPr lang="en-US" sz="1350" dirty="0"/>
          </a:p>
        </p:txBody>
      </p:sp>
      <p:sp>
        <p:nvSpPr>
          <p:cNvPr id="19" name="Text 17"/>
          <p:cNvSpPr/>
          <p:nvPr/>
        </p:nvSpPr>
        <p:spPr>
          <a:xfrm>
            <a:off x="4919472" y="1481328"/>
            <a:ext cx="3858768" cy="654710"/>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Múltiples nodos colaboran → más poder</a:t>
            </a:r>
            <a:endParaRPr lang="en-US" sz="1300" dirty="0"/>
          </a:p>
        </p:txBody>
      </p:sp>
      <p:sp>
        <p:nvSpPr>
          <p:cNvPr id="20" name="Text 18"/>
          <p:cNvSpPr/>
          <p:nvPr/>
        </p:nvSpPr>
        <p:spPr>
          <a:xfrm>
            <a:off x="4919472" y="2136038"/>
            <a:ext cx="3858768" cy="654710"/>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Si uno falla → otros continúan (tolerancia a fallos)</a:t>
            </a:r>
            <a:endParaRPr lang="en-US" sz="1300" dirty="0"/>
          </a:p>
        </p:txBody>
      </p:sp>
      <p:sp>
        <p:nvSpPr>
          <p:cNvPr id="21" name="Text 19"/>
          <p:cNvSpPr/>
          <p:nvPr/>
        </p:nvSpPr>
        <p:spPr>
          <a:xfrm>
            <a:off x="4919472" y="2790749"/>
            <a:ext cx="3858768" cy="654710"/>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Escala horizontal: agrega más servidores</a:t>
            </a:r>
            <a:endParaRPr lang="en-US" sz="1300" dirty="0"/>
          </a:p>
        </p:txBody>
      </p:sp>
      <p:sp>
        <p:nvSpPr>
          <p:cNvPr id="22" name="Text 20"/>
          <p:cNvSpPr/>
          <p:nvPr/>
        </p:nvSpPr>
        <p:spPr>
          <a:xfrm>
            <a:off x="4919472" y="3445459"/>
            <a:ext cx="3858768" cy="654710"/>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Datos replicados en distintas ubicaciones</a:t>
            </a:r>
            <a:endParaRPr lang="en-US" sz="1300" dirty="0"/>
          </a:p>
        </p:txBody>
      </p:sp>
      <p:sp>
        <p:nvSpPr>
          <p:cNvPr id="23" name="Text 21"/>
          <p:cNvSpPr/>
          <p:nvPr/>
        </p:nvSpPr>
        <p:spPr>
          <a:xfrm>
            <a:off x="4919472" y="4100170"/>
            <a:ext cx="3858768" cy="654710"/>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a:t>
            </a:r>
            <a:r>
              <a:rPr lang="en-US" sz="1300" dirty="0">
                <a:solidFill>
                  <a:srgbClr val="1A237E"/>
                </a:solidFill>
                <a:latin typeface="Calibri" pitchFamily="34" charset="0"/>
                <a:ea typeface="Calibri" pitchFamily="34" charset="-122"/>
                <a:cs typeface="Calibri" pitchFamily="34" charset="-120"/>
              </a:rPr>
              <a:t>Actualizaciones sin detener el servicio</a:t>
            </a:r>
            <a:endParaRPr lang="en-US" sz="1300" dirty="0"/>
          </a:p>
        </p:txBody>
      </p:sp>
      <p:sp>
        <p:nvSpPr>
          <p:cNvPr id="24" name="Text 22"/>
          <p:cNvSpPr/>
          <p:nvPr/>
        </p:nvSpPr>
        <p:spPr>
          <a:xfrm>
            <a:off x="274320" y="4650832"/>
            <a:ext cx="8595360" cy="219456"/>
          </a:xfrm>
          <a:prstGeom prst="rect">
            <a:avLst/>
          </a:prstGeom>
          <a:noFill/>
          <a:ln/>
        </p:spPr>
        <p:txBody>
          <a:bodyPr wrap="square" rtlCol="0" anchor="ctr"/>
          <a:lstStyle/>
          <a:p>
            <a:pPr marL="0" indent="0">
              <a:buNone/>
            </a:pPr>
            <a:r>
              <a:rPr lang="en-US" sz="1000" b="1" i="1" dirty="0">
                <a:solidFill>
                  <a:srgbClr val="F57C00"/>
                </a:solidFill>
                <a:latin typeface="Calibri" pitchFamily="34" charset="0"/>
                <a:ea typeface="Calibri" pitchFamily="34" charset="-122"/>
                <a:cs typeface="Calibri" pitchFamily="34" charset="-120"/>
              </a:rPr>
              <a:t>💡 Dato real: YouTube procesa más de 500 horas de video por minuto — imposible en un solo servidor.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1565C0"/>
          </a:solidFill>
          <a:ln w="12700">
            <a:solidFill>
              <a:srgbClr val="1565C0"/>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1</a:t>
            </a:r>
            <a:endParaRPr lang="en-US" sz="800" dirty="0"/>
          </a:p>
        </p:txBody>
      </p:sp>
      <p:sp>
        <p:nvSpPr>
          <p:cNvPr id="5" name="Shape 3"/>
          <p:cNvSpPr/>
          <p:nvPr/>
        </p:nvSpPr>
        <p:spPr>
          <a:xfrm>
            <a:off x="0" y="182880"/>
            <a:ext cx="2743200" cy="310896"/>
          </a:xfrm>
          <a:prstGeom prst="rect">
            <a:avLst/>
          </a:prstGeom>
          <a:solidFill>
            <a:srgbClr val="00BFA5"/>
          </a:solidFill>
          <a:ln w="12700">
            <a:solidFill>
              <a:srgbClr val="00BFA5"/>
            </a:solidFill>
            <a:prstDash val="solid"/>
          </a:ln>
        </p:spPr>
      </p:sp>
      <p:sp>
        <p:nvSpPr>
          <p:cNvPr id="6" name="Text 4"/>
          <p:cNvSpPr/>
          <p:nvPr/>
        </p:nvSpPr>
        <p:spPr>
          <a:xfrm>
            <a:off x="91440" y="182880"/>
            <a:ext cx="256032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2 · Definición Formal</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¿Qué es un Sistema Distribuido?</a:t>
            </a:r>
            <a:endParaRPr lang="en-US" sz="2200" dirty="0"/>
          </a:p>
        </p:txBody>
      </p:sp>
      <p:sp>
        <p:nvSpPr>
          <p:cNvPr id="8" name="Shape 6"/>
          <p:cNvSpPr/>
          <p:nvPr/>
        </p:nvSpPr>
        <p:spPr>
          <a:xfrm>
            <a:off x="365760" y="1024128"/>
            <a:ext cx="8412480" cy="1115568"/>
          </a:xfrm>
          <a:prstGeom prst="rect">
            <a:avLst/>
          </a:prstGeom>
          <a:solidFill>
            <a:srgbClr val="1565C0"/>
          </a:solidFill>
          <a:ln w="12700">
            <a:solidFill>
              <a:srgbClr val="1565C0"/>
            </a:solidFill>
            <a:prstDash val="solid"/>
          </a:ln>
          <a:effectLst>
            <a:outerShdw blurRad="76200" dist="38100" dir="8100000" algn="bl" rotWithShape="0">
              <a:srgbClr val="000000">
                <a:alpha val="15000"/>
              </a:srgbClr>
            </a:outerShdw>
          </a:effectLst>
        </p:spPr>
      </p:sp>
      <p:sp>
        <p:nvSpPr>
          <p:cNvPr id="9" name="Shape 7"/>
          <p:cNvSpPr/>
          <p:nvPr/>
        </p:nvSpPr>
        <p:spPr>
          <a:xfrm>
            <a:off x="365760" y="1024128"/>
            <a:ext cx="109728" cy="1115568"/>
          </a:xfrm>
          <a:prstGeom prst="rect">
            <a:avLst/>
          </a:prstGeom>
          <a:solidFill>
            <a:srgbClr val="00BFA5"/>
          </a:solidFill>
          <a:ln w="12700">
            <a:solidFill>
              <a:srgbClr val="00BFA5"/>
            </a:solidFill>
            <a:prstDash val="solid"/>
          </a:ln>
        </p:spPr>
      </p:sp>
      <p:sp>
        <p:nvSpPr>
          <p:cNvPr id="10" name="Text 8"/>
          <p:cNvSpPr/>
          <p:nvPr/>
        </p:nvSpPr>
        <p:spPr>
          <a:xfrm>
            <a:off x="457200" y="1051560"/>
            <a:ext cx="8321040" cy="1024128"/>
          </a:xfrm>
          <a:prstGeom prst="rect">
            <a:avLst/>
          </a:prstGeom>
          <a:noFill/>
          <a:ln/>
        </p:spPr>
        <p:txBody>
          <a:bodyPr wrap="square" rtlCol="0" anchor="ctr"/>
          <a:lstStyle/>
          <a:p>
            <a:pPr marL="0" indent="0">
              <a:buNone/>
            </a:pPr>
            <a:r>
              <a:rPr lang="en-US" sz="2000" i="1" dirty="0">
                <a:solidFill>
                  <a:srgbClr val="FFFFFF"/>
                </a:solidFill>
                <a:latin typeface="Calibri" pitchFamily="34" charset="0"/>
                <a:ea typeface="Calibri" pitchFamily="34" charset="-122"/>
                <a:cs typeface="Calibri" pitchFamily="34" charset="-120"/>
              </a:rPr>
              <a:t>"Un Sistema Distribuido (SD) es una colección de computadoras independientes que aparece ante sus usuarios como un sistema coherente y único."</a:t>
            </a:r>
            <a:endParaRPr lang="en-US" sz="2000" dirty="0"/>
          </a:p>
        </p:txBody>
      </p:sp>
      <p:sp>
        <p:nvSpPr>
          <p:cNvPr id="11" name="Text 9"/>
          <p:cNvSpPr/>
          <p:nvPr/>
        </p:nvSpPr>
        <p:spPr>
          <a:xfrm>
            <a:off x="4572000" y="2099928"/>
            <a:ext cx="4114800" cy="219456"/>
          </a:xfrm>
          <a:prstGeom prst="rect">
            <a:avLst/>
          </a:prstGeom>
          <a:noFill/>
          <a:ln/>
        </p:spPr>
        <p:txBody>
          <a:bodyPr wrap="square" rtlCol="0" anchor="ctr"/>
          <a:lstStyle/>
          <a:p>
            <a:pPr marL="0" indent="0" algn="r">
              <a:buNone/>
            </a:pPr>
            <a:r>
              <a:rPr lang="en-US" sz="1050" i="1" dirty="0">
                <a:solidFill>
                  <a:srgbClr val="546E7A"/>
                </a:solidFill>
                <a:latin typeface="Calibri" pitchFamily="34" charset="0"/>
                <a:ea typeface="Calibri" pitchFamily="34" charset="-122"/>
                <a:cs typeface="Calibri" pitchFamily="34" charset="-120"/>
              </a:rPr>
              <a:t>— van Steen &amp; Tanenbaum, Distributed Systems, 4ª ed., 2023</a:t>
            </a:r>
            <a:endParaRPr lang="en-US" sz="1050" dirty="0"/>
          </a:p>
        </p:txBody>
      </p:sp>
      <p:sp>
        <p:nvSpPr>
          <p:cNvPr id="12" name="Shape 10"/>
          <p:cNvSpPr/>
          <p:nvPr/>
        </p:nvSpPr>
        <p:spPr>
          <a:xfrm>
            <a:off x="365760" y="2331720"/>
            <a:ext cx="2651760" cy="2560320"/>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3" name="Shape 11"/>
          <p:cNvSpPr/>
          <p:nvPr/>
        </p:nvSpPr>
        <p:spPr>
          <a:xfrm>
            <a:off x="365760" y="2331720"/>
            <a:ext cx="2651760" cy="438912"/>
          </a:xfrm>
          <a:prstGeom prst="rect">
            <a:avLst/>
          </a:prstGeom>
          <a:solidFill>
            <a:srgbClr val="C62828"/>
          </a:solidFill>
          <a:ln w="12700">
            <a:solidFill>
              <a:srgbClr val="C62828"/>
            </a:solidFill>
            <a:prstDash val="solid"/>
          </a:ln>
        </p:spPr>
      </p:sp>
      <p:sp>
        <p:nvSpPr>
          <p:cNvPr id="14" name="Text 12"/>
          <p:cNvSpPr/>
          <p:nvPr/>
        </p:nvSpPr>
        <p:spPr>
          <a:xfrm>
            <a:off x="475488" y="2331720"/>
            <a:ext cx="2487168" cy="43891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Independientes</a:t>
            </a:r>
            <a:endParaRPr lang="en-US" sz="2000" dirty="0"/>
          </a:p>
        </p:txBody>
      </p:sp>
      <p:sp>
        <p:nvSpPr>
          <p:cNvPr id="15" name="Text 13"/>
          <p:cNvSpPr/>
          <p:nvPr/>
        </p:nvSpPr>
        <p:spPr>
          <a:xfrm>
            <a:off x="365760" y="2834640"/>
            <a:ext cx="2615184" cy="2011680"/>
          </a:xfrm>
          <a:prstGeom prst="rect">
            <a:avLst/>
          </a:prstGeom>
          <a:noFill/>
          <a:ln/>
        </p:spPr>
        <p:txBody>
          <a:bodyPr wrap="square" rtlCol="0" anchor="t"/>
          <a:lstStyle/>
          <a:p>
            <a:pPr marL="0" indent="0">
              <a:buNone/>
            </a:pPr>
            <a:r>
              <a:rPr lang="en-US" dirty="0">
                <a:solidFill>
                  <a:srgbClr val="1A237E"/>
                </a:solidFill>
                <a:latin typeface="Calibri" pitchFamily="34" charset="0"/>
                <a:ea typeface="Calibri" pitchFamily="34" charset="-122"/>
                <a:cs typeface="Calibri" pitchFamily="34" charset="-120"/>
              </a:rPr>
              <a:t>Cada nodo tiene su propio hardware y sistema operativo. Funcionan de manera autónoma — si uno falla, los demás no se detienen automáticamente.</a:t>
            </a:r>
            <a:endParaRPr lang="en-US" dirty="0"/>
          </a:p>
        </p:txBody>
      </p:sp>
      <p:sp>
        <p:nvSpPr>
          <p:cNvPr id="16" name="Shape 14"/>
          <p:cNvSpPr/>
          <p:nvPr/>
        </p:nvSpPr>
        <p:spPr>
          <a:xfrm>
            <a:off x="3291840" y="2331720"/>
            <a:ext cx="2651760" cy="2560320"/>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7" name="Shape 15"/>
          <p:cNvSpPr/>
          <p:nvPr/>
        </p:nvSpPr>
        <p:spPr>
          <a:xfrm>
            <a:off x="3291840" y="2331720"/>
            <a:ext cx="2651760" cy="438912"/>
          </a:xfrm>
          <a:prstGeom prst="rect">
            <a:avLst/>
          </a:prstGeom>
          <a:solidFill>
            <a:srgbClr val="1565C0"/>
          </a:solidFill>
          <a:ln w="12700">
            <a:solidFill>
              <a:srgbClr val="1565C0"/>
            </a:solidFill>
            <a:prstDash val="solid"/>
          </a:ln>
        </p:spPr>
      </p:sp>
      <p:sp>
        <p:nvSpPr>
          <p:cNvPr id="18" name="Text 16"/>
          <p:cNvSpPr/>
          <p:nvPr/>
        </p:nvSpPr>
        <p:spPr>
          <a:xfrm>
            <a:off x="3401568" y="2331720"/>
            <a:ext cx="2487168" cy="43891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Coherente</a:t>
            </a:r>
            <a:endParaRPr lang="en-US" sz="2000" dirty="0"/>
          </a:p>
        </p:txBody>
      </p:sp>
      <p:sp>
        <p:nvSpPr>
          <p:cNvPr id="19" name="Text 17"/>
          <p:cNvSpPr/>
          <p:nvPr/>
        </p:nvSpPr>
        <p:spPr>
          <a:xfrm>
            <a:off x="3419856" y="2834640"/>
            <a:ext cx="2432304" cy="2011680"/>
          </a:xfrm>
          <a:prstGeom prst="rect">
            <a:avLst/>
          </a:prstGeom>
          <a:noFill/>
          <a:ln/>
        </p:spPr>
        <p:txBody>
          <a:bodyPr wrap="square" rtlCol="0" anchor="t"/>
          <a:lstStyle/>
          <a:p>
            <a:pPr marL="0" indent="0">
              <a:buNone/>
            </a:pPr>
            <a:r>
              <a:rPr lang="en-US" dirty="0">
                <a:solidFill>
                  <a:srgbClr val="1A237E"/>
                </a:solidFill>
                <a:latin typeface="Calibri" pitchFamily="34" charset="0"/>
                <a:ea typeface="Calibri" pitchFamily="34" charset="-122"/>
                <a:cs typeface="Calibri" pitchFamily="34" charset="-120"/>
              </a:rPr>
              <a:t>A pesar de ser muchos nodos, el sistema se comporta de manera consistente. Una transacción no se procesa dos veces.</a:t>
            </a:r>
            <a:endParaRPr lang="en-US" dirty="0"/>
          </a:p>
        </p:txBody>
      </p:sp>
      <p:sp>
        <p:nvSpPr>
          <p:cNvPr id="20" name="Shape 18"/>
          <p:cNvSpPr/>
          <p:nvPr/>
        </p:nvSpPr>
        <p:spPr>
          <a:xfrm>
            <a:off x="6217920" y="2331720"/>
            <a:ext cx="2651760" cy="2560320"/>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21" name="Shape 19"/>
          <p:cNvSpPr/>
          <p:nvPr/>
        </p:nvSpPr>
        <p:spPr>
          <a:xfrm>
            <a:off x="6217920" y="2331720"/>
            <a:ext cx="2651760" cy="438912"/>
          </a:xfrm>
          <a:prstGeom prst="rect">
            <a:avLst/>
          </a:prstGeom>
          <a:solidFill>
            <a:srgbClr val="2E7D32"/>
          </a:solidFill>
          <a:ln w="12700">
            <a:solidFill>
              <a:srgbClr val="2E7D32"/>
            </a:solidFill>
            <a:prstDash val="solid"/>
          </a:ln>
        </p:spPr>
      </p:sp>
      <p:sp>
        <p:nvSpPr>
          <p:cNvPr id="22" name="Text 20"/>
          <p:cNvSpPr/>
          <p:nvPr/>
        </p:nvSpPr>
        <p:spPr>
          <a:xfrm>
            <a:off x="6327648" y="2331720"/>
            <a:ext cx="2487168" cy="43891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Único</a:t>
            </a:r>
            <a:endParaRPr lang="en-US" sz="2000" dirty="0"/>
          </a:p>
        </p:txBody>
      </p:sp>
      <p:sp>
        <p:nvSpPr>
          <p:cNvPr id="23" name="Text 21"/>
          <p:cNvSpPr/>
          <p:nvPr/>
        </p:nvSpPr>
        <p:spPr>
          <a:xfrm>
            <a:off x="6345936" y="2834640"/>
            <a:ext cx="2432304" cy="2011680"/>
          </a:xfrm>
          <a:prstGeom prst="rect">
            <a:avLst/>
          </a:prstGeom>
          <a:noFill/>
          <a:ln/>
        </p:spPr>
        <p:txBody>
          <a:bodyPr wrap="square" rtlCol="0" anchor="t"/>
          <a:lstStyle/>
          <a:p>
            <a:pPr marL="0" indent="0">
              <a:buNone/>
            </a:pPr>
            <a:r>
              <a:rPr lang="en-US" dirty="0">
                <a:solidFill>
                  <a:srgbClr val="1A237E"/>
                </a:solidFill>
                <a:latin typeface="Calibri" pitchFamily="34" charset="0"/>
                <a:ea typeface="Calibri" pitchFamily="34" charset="-122"/>
                <a:cs typeface="Calibri" pitchFamily="34" charset="-120"/>
              </a:rPr>
              <a:t>El usuario ve UN solo sistema. Cuando entran a Gmail, no saben cuántos servidores hay detrás. Eso es transparencia.</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00BFA5"/>
          </a:solidFill>
          <a:ln w="12700">
            <a:solidFill>
              <a:srgbClr val="00BFA5"/>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1</a:t>
            </a:r>
            <a:endParaRPr lang="en-US" sz="800" dirty="0"/>
          </a:p>
        </p:txBody>
      </p:sp>
      <p:sp>
        <p:nvSpPr>
          <p:cNvPr id="5" name="Shape 3"/>
          <p:cNvSpPr/>
          <p:nvPr/>
        </p:nvSpPr>
        <p:spPr>
          <a:xfrm>
            <a:off x="0" y="182880"/>
            <a:ext cx="2743200" cy="310896"/>
          </a:xfrm>
          <a:prstGeom prst="rect">
            <a:avLst/>
          </a:prstGeom>
          <a:solidFill>
            <a:srgbClr val="00BFA5"/>
          </a:solidFill>
          <a:ln w="12700">
            <a:solidFill>
              <a:srgbClr val="00BFA5"/>
            </a:solidFill>
            <a:prstDash val="solid"/>
          </a:ln>
        </p:spPr>
      </p:sp>
      <p:sp>
        <p:nvSpPr>
          <p:cNvPr id="6" name="Text 4"/>
          <p:cNvSpPr/>
          <p:nvPr/>
        </p:nvSpPr>
        <p:spPr>
          <a:xfrm>
            <a:off x="91440" y="182880"/>
            <a:ext cx="256032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3 · Propiedades Clave</a:t>
            </a:r>
            <a:endParaRPr lang="en-US" sz="1050" dirty="0"/>
          </a:p>
        </p:txBody>
      </p:sp>
      <p:sp>
        <p:nvSpPr>
          <p:cNvPr id="7" name="Text 5"/>
          <p:cNvSpPr/>
          <p:nvPr/>
        </p:nvSpPr>
        <p:spPr>
          <a:xfrm>
            <a:off x="365760" y="521208"/>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Las 8 Transparencias ANSA de un SD</a:t>
            </a:r>
            <a:endParaRPr lang="en-US" sz="2200" dirty="0"/>
          </a:p>
        </p:txBody>
      </p:sp>
      <p:sp>
        <p:nvSpPr>
          <p:cNvPr id="8" name="Text 6"/>
          <p:cNvSpPr/>
          <p:nvPr/>
        </p:nvSpPr>
        <p:spPr>
          <a:xfrm>
            <a:off x="365760" y="896112"/>
            <a:ext cx="8412480" cy="219456"/>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ANSA = Advanced Network Systems Architecture  ·  Ocultan la complejidad distribuida al usuario final</a:t>
            </a:r>
            <a:endParaRPr lang="en-US" sz="1100" dirty="0"/>
          </a:p>
        </p:txBody>
      </p:sp>
      <p:sp>
        <p:nvSpPr>
          <p:cNvPr id="9" name="Shape 7"/>
          <p:cNvSpPr/>
          <p:nvPr/>
        </p:nvSpPr>
        <p:spPr>
          <a:xfrm>
            <a:off x="256032" y="1170432"/>
            <a:ext cx="2103120" cy="1682496"/>
          </a:xfrm>
          <a:prstGeom prst="rect">
            <a:avLst/>
          </a:prstGeom>
          <a:solidFill>
            <a:srgbClr val="FFFFFF"/>
          </a:solidFill>
          <a:ln w="12700">
            <a:solidFill>
              <a:srgbClr val="DDDDDD"/>
            </a:solidFill>
            <a:prstDash val="solid"/>
          </a:ln>
          <a:effectLst>
            <a:outerShdw blurRad="38100" dist="12700" dir="8100000" algn="bl" rotWithShape="0">
              <a:srgbClr val="000000">
                <a:alpha val="8000"/>
              </a:srgbClr>
            </a:outerShdw>
          </a:effectLst>
        </p:spPr>
      </p:sp>
      <p:sp>
        <p:nvSpPr>
          <p:cNvPr id="10" name="Shape 8"/>
          <p:cNvSpPr/>
          <p:nvPr/>
        </p:nvSpPr>
        <p:spPr>
          <a:xfrm>
            <a:off x="256032" y="1170432"/>
            <a:ext cx="274320" cy="1682496"/>
          </a:xfrm>
          <a:prstGeom prst="rect">
            <a:avLst/>
          </a:prstGeom>
          <a:solidFill>
            <a:srgbClr val="1565C0"/>
          </a:solidFill>
          <a:ln w="12700">
            <a:solidFill>
              <a:srgbClr val="1565C0"/>
            </a:solidFill>
            <a:prstDash val="solid"/>
          </a:ln>
        </p:spPr>
      </p:sp>
      <p:sp>
        <p:nvSpPr>
          <p:cNvPr id="11" name="Text 9"/>
          <p:cNvSpPr/>
          <p:nvPr/>
        </p:nvSpPr>
        <p:spPr>
          <a:xfrm>
            <a:off x="256032" y="1170432"/>
            <a:ext cx="274320" cy="16824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585216" y="1261872"/>
            <a:ext cx="1719072" cy="329184"/>
          </a:xfrm>
          <a:prstGeom prst="rect">
            <a:avLst/>
          </a:prstGeom>
          <a:noFill/>
          <a:ln/>
        </p:spPr>
        <p:txBody>
          <a:bodyPr wrap="square"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 Acceso</a:t>
            </a:r>
            <a:endParaRPr lang="en-US" sz="1300" dirty="0"/>
          </a:p>
        </p:txBody>
      </p:sp>
      <p:sp>
        <p:nvSpPr>
          <p:cNvPr id="13" name="Text 11"/>
          <p:cNvSpPr/>
          <p:nvPr/>
        </p:nvSpPr>
        <p:spPr>
          <a:xfrm>
            <a:off x="585216" y="1609344"/>
            <a:ext cx="1719072" cy="1152144"/>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El recurso se accede igual sin importar si está en local o en un servidor remoto.</a:t>
            </a:r>
            <a:endParaRPr lang="en-US" sz="1150" dirty="0"/>
          </a:p>
        </p:txBody>
      </p:sp>
      <p:sp>
        <p:nvSpPr>
          <p:cNvPr id="14" name="Shape 12"/>
          <p:cNvSpPr/>
          <p:nvPr/>
        </p:nvSpPr>
        <p:spPr>
          <a:xfrm>
            <a:off x="2444191" y="1170432"/>
            <a:ext cx="2103120" cy="1682496"/>
          </a:xfrm>
          <a:prstGeom prst="rect">
            <a:avLst/>
          </a:prstGeom>
          <a:solidFill>
            <a:srgbClr val="FFFFFF"/>
          </a:solidFill>
          <a:ln w="12700">
            <a:solidFill>
              <a:srgbClr val="DDDDDD"/>
            </a:solidFill>
            <a:prstDash val="solid"/>
          </a:ln>
          <a:effectLst>
            <a:outerShdw blurRad="38100" dist="12700" dir="8100000" algn="bl" rotWithShape="0">
              <a:srgbClr val="000000">
                <a:alpha val="8000"/>
              </a:srgbClr>
            </a:outerShdw>
          </a:effectLst>
        </p:spPr>
      </p:sp>
      <p:sp>
        <p:nvSpPr>
          <p:cNvPr id="15" name="Shape 13"/>
          <p:cNvSpPr/>
          <p:nvPr/>
        </p:nvSpPr>
        <p:spPr>
          <a:xfrm>
            <a:off x="2444191" y="1170432"/>
            <a:ext cx="274320" cy="1682496"/>
          </a:xfrm>
          <a:prstGeom prst="rect">
            <a:avLst/>
          </a:prstGeom>
          <a:solidFill>
            <a:srgbClr val="1565C0"/>
          </a:solidFill>
          <a:ln w="12700">
            <a:solidFill>
              <a:srgbClr val="1565C0"/>
            </a:solidFill>
            <a:prstDash val="solid"/>
          </a:ln>
        </p:spPr>
      </p:sp>
      <p:sp>
        <p:nvSpPr>
          <p:cNvPr id="16" name="Text 14"/>
          <p:cNvSpPr/>
          <p:nvPr/>
        </p:nvSpPr>
        <p:spPr>
          <a:xfrm>
            <a:off x="2444191" y="1170432"/>
            <a:ext cx="274320" cy="16824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2773375" y="1261872"/>
            <a:ext cx="1719072" cy="329184"/>
          </a:xfrm>
          <a:prstGeom prst="rect">
            <a:avLst/>
          </a:prstGeom>
          <a:noFill/>
          <a:ln/>
        </p:spPr>
        <p:txBody>
          <a:bodyPr wrap="square"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 Ubicación</a:t>
            </a:r>
            <a:endParaRPr lang="en-US" sz="1300" dirty="0"/>
          </a:p>
        </p:txBody>
      </p:sp>
      <p:sp>
        <p:nvSpPr>
          <p:cNvPr id="18" name="Text 16"/>
          <p:cNvSpPr/>
          <p:nvPr/>
        </p:nvSpPr>
        <p:spPr>
          <a:xfrm>
            <a:off x="2773375" y="1609344"/>
            <a:ext cx="1719072" cy="1152144"/>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El usuario no sabe en qué servidor físico o país está el recurso.</a:t>
            </a:r>
            <a:endParaRPr lang="en-US" sz="1150" dirty="0"/>
          </a:p>
        </p:txBody>
      </p:sp>
      <p:sp>
        <p:nvSpPr>
          <p:cNvPr id="19" name="Shape 17"/>
          <p:cNvSpPr/>
          <p:nvPr/>
        </p:nvSpPr>
        <p:spPr>
          <a:xfrm>
            <a:off x="4632350" y="1170432"/>
            <a:ext cx="2103120" cy="1682496"/>
          </a:xfrm>
          <a:prstGeom prst="rect">
            <a:avLst/>
          </a:prstGeom>
          <a:solidFill>
            <a:srgbClr val="FFFFFF"/>
          </a:solidFill>
          <a:ln w="12700">
            <a:solidFill>
              <a:srgbClr val="DDDDDD"/>
            </a:solidFill>
            <a:prstDash val="solid"/>
          </a:ln>
          <a:effectLst>
            <a:outerShdw blurRad="38100" dist="12700" dir="8100000" algn="bl" rotWithShape="0">
              <a:srgbClr val="000000">
                <a:alpha val="8000"/>
              </a:srgbClr>
            </a:outerShdw>
          </a:effectLst>
        </p:spPr>
      </p:sp>
      <p:sp>
        <p:nvSpPr>
          <p:cNvPr id="20" name="Shape 18"/>
          <p:cNvSpPr/>
          <p:nvPr/>
        </p:nvSpPr>
        <p:spPr>
          <a:xfrm>
            <a:off x="4632350" y="1170432"/>
            <a:ext cx="274320" cy="1682496"/>
          </a:xfrm>
          <a:prstGeom prst="rect">
            <a:avLst/>
          </a:prstGeom>
          <a:solidFill>
            <a:srgbClr val="1565C0"/>
          </a:solidFill>
          <a:ln w="12700">
            <a:solidFill>
              <a:srgbClr val="1565C0"/>
            </a:solidFill>
            <a:prstDash val="solid"/>
          </a:ln>
        </p:spPr>
      </p:sp>
      <p:sp>
        <p:nvSpPr>
          <p:cNvPr id="21" name="Text 19"/>
          <p:cNvSpPr/>
          <p:nvPr/>
        </p:nvSpPr>
        <p:spPr>
          <a:xfrm>
            <a:off x="4632350" y="1170432"/>
            <a:ext cx="274320" cy="16824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4961534" y="1261872"/>
            <a:ext cx="1719072" cy="329184"/>
          </a:xfrm>
          <a:prstGeom prst="rect">
            <a:avLst/>
          </a:prstGeom>
          <a:noFill/>
          <a:ln/>
        </p:spPr>
        <p:txBody>
          <a:bodyPr wrap="square"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 Migración</a:t>
            </a:r>
            <a:endParaRPr lang="en-US" sz="1300" dirty="0"/>
          </a:p>
        </p:txBody>
      </p:sp>
      <p:sp>
        <p:nvSpPr>
          <p:cNvPr id="23" name="Text 21"/>
          <p:cNvSpPr/>
          <p:nvPr/>
        </p:nvSpPr>
        <p:spPr>
          <a:xfrm>
            <a:off x="4961534" y="1609344"/>
            <a:ext cx="1719072" cy="1152144"/>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El recurso puede moverse a otro nodo sin cambiar su nombre ni interfaz.</a:t>
            </a:r>
            <a:endParaRPr lang="en-US" sz="1150" dirty="0"/>
          </a:p>
        </p:txBody>
      </p:sp>
      <p:sp>
        <p:nvSpPr>
          <p:cNvPr id="24" name="Shape 22"/>
          <p:cNvSpPr/>
          <p:nvPr/>
        </p:nvSpPr>
        <p:spPr>
          <a:xfrm>
            <a:off x="6820510" y="1170432"/>
            <a:ext cx="2103120" cy="1682496"/>
          </a:xfrm>
          <a:prstGeom prst="rect">
            <a:avLst/>
          </a:prstGeom>
          <a:solidFill>
            <a:srgbClr val="FFFFFF"/>
          </a:solidFill>
          <a:ln w="12700">
            <a:solidFill>
              <a:srgbClr val="DDDDDD"/>
            </a:solidFill>
            <a:prstDash val="solid"/>
          </a:ln>
          <a:effectLst>
            <a:outerShdw blurRad="38100" dist="12700" dir="8100000" algn="bl" rotWithShape="0">
              <a:srgbClr val="000000">
                <a:alpha val="8000"/>
              </a:srgbClr>
            </a:outerShdw>
          </a:effectLst>
        </p:spPr>
      </p:sp>
      <p:sp>
        <p:nvSpPr>
          <p:cNvPr id="25" name="Shape 23"/>
          <p:cNvSpPr/>
          <p:nvPr/>
        </p:nvSpPr>
        <p:spPr>
          <a:xfrm>
            <a:off x="6820510" y="1170432"/>
            <a:ext cx="274320" cy="1682496"/>
          </a:xfrm>
          <a:prstGeom prst="rect">
            <a:avLst/>
          </a:prstGeom>
          <a:solidFill>
            <a:srgbClr val="1565C0"/>
          </a:solidFill>
          <a:ln w="12700">
            <a:solidFill>
              <a:srgbClr val="1565C0"/>
            </a:solidFill>
            <a:prstDash val="solid"/>
          </a:ln>
        </p:spPr>
      </p:sp>
      <p:sp>
        <p:nvSpPr>
          <p:cNvPr id="26" name="Text 24"/>
          <p:cNvSpPr/>
          <p:nvPr/>
        </p:nvSpPr>
        <p:spPr>
          <a:xfrm>
            <a:off x="6820510" y="1170432"/>
            <a:ext cx="274320" cy="16824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7149694" y="1261872"/>
            <a:ext cx="1719072" cy="329184"/>
          </a:xfrm>
          <a:prstGeom prst="rect">
            <a:avLst/>
          </a:prstGeom>
          <a:noFill/>
          <a:ln/>
        </p:spPr>
        <p:txBody>
          <a:bodyPr wrap="square"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 Reubicación</a:t>
            </a:r>
            <a:endParaRPr lang="en-US" sz="1300" dirty="0"/>
          </a:p>
        </p:txBody>
      </p:sp>
      <p:sp>
        <p:nvSpPr>
          <p:cNvPr id="28" name="Text 26"/>
          <p:cNvSpPr/>
          <p:nvPr/>
        </p:nvSpPr>
        <p:spPr>
          <a:xfrm>
            <a:off x="7149694" y="1609344"/>
            <a:ext cx="1719072" cy="1152144"/>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El recurso puede moverse MIENTRAS se usa, sin interrumpir al usuario.</a:t>
            </a:r>
            <a:endParaRPr lang="en-US" sz="1150" dirty="0"/>
          </a:p>
        </p:txBody>
      </p:sp>
      <p:sp>
        <p:nvSpPr>
          <p:cNvPr id="29" name="Shape 27"/>
          <p:cNvSpPr/>
          <p:nvPr/>
        </p:nvSpPr>
        <p:spPr>
          <a:xfrm>
            <a:off x="256032" y="2944368"/>
            <a:ext cx="2103120" cy="1682496"/>
          </a:xfrm>
          <a:prstGeom prst="rect">
            <a:avLst/>
          </a:prstGeom>
          <a:solidFill>
            <a:srgbClr val="FFFFFF"/>
          </a:solidFill>
          <a:ln w="12700">
            <a:solidFill>
              <a:srgbClr val="DDDDDD"/>
            </a:solidFill>
            <a:prstDash val="solid"/>
          </a:ln>
          <a:effectLst>
            <a:outerShdw blurRad="38100" dist="12700" dir="8100000" algn="bl" rotWithShape="0">
              <a:srgbClr val="000000">
                <a:alpha val="8000"/>
              </a:srgbClr>
            </a:outerShdw>
          </a:effectLst>
        </p:spPr>
      </p:sp>
      <p:sp>
        <p:nvSpPr>
          <p:cNvPr id="30" name="Shape 28"/>
          <p:cNvSpPr/>
          <p:nvPr/>
        </p:nvSpPr>
        <p:spPr>
          <a:xfrm>
            <a:off x="256032" y="2944368"/>
            <a:ext cx="274320" cy="1682496"/>
          </a:xfrm>
          <a:prstGeom prst="rect">
            <a:avLst/>
          </a:prstGeom>
          <a:solidFill>
            <a:srgbClr val="1565C0"/>
          </a:solidFill>
          <a:ln w="12700">
            <a:solidFill>
              <a:srgbClr val="1565C0"/>
            </a:solidFill>
            <a:prstDash val="solid"/>
          </a:ln>
        </p:spPr>
      </p:sp>
      <p:sp>
        <p:nvSpPr>
          <p:cNvPr id="31" name="Text 29"/>
          <p:cNvSpPr/>
          <p:nvPr/>
        </p:nvSpPr>
        <p:spPr>
          <a:xfrm>
            <a:off x="256032" y="2944368"/>
            <a:ext cx="274320" cy="16824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p:nvPr/>
        </p:nvSpPr>
        <p:spPr>
          <a:xfrm>
            <a:off x="585216" y="3035808"/>
            <a:ext cx="1719072" cy="329184"/>
          </a:xfrm>
          <a:prstGeom prst="rect">
            <a:avLst/>
          </a:prstGeom>
          <a:noFill/>
          <a:ln/>
        </p:spPr>
        <p:txBody>
          <a:bodyPr wrap="square"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 Replicación</a:t>
            </a:r>
            <a:endParaRPr lang="en-US" sz="1300" dirty="0"/>
          </a:p>
        </p:txBody>
      </p:sp>
      <p:sp>
        <p:nvSpPr>
          <p:cNvPr id="33" name="Text 31"/>
          <p:cNvSpPr/>
          <p:nvPr/>
        </p:nvSpPr>
        <p:spPr>
          <a:xfrm>
            <a:off x="585216" y="3383280"/>
            <a:ext cx="1719072" cy="1152144"/>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Existen varias copias del recurso en distintos nodos; el usuario ve solo una.</a:t>
            </a:r>
            <a:endParaRPr lang="en-US" sz="1150" dirty="0"/>
          </a:p>
        </p:txBody>
      </p:sp>
      <p:sp>
        <p:nvSpPr>
          <p:cNvPr id="34" name="Shape 32"/>
          <p:cNvSpPr/>
          <p:nvPr/>
        </p:nvSpPr>
        <p:spPr>
          <a:xfrm>
            <a:off x="2444191" y="2944368"/>
            <a:ext cx="2103120" cy="1682496"/>
          </a:xfrm>
          <a:prstGeom prst="rect">
            <a:avLst/>
          </a:prstGeom>
          <a:solidFill>
            <a:srgbClr val="FFFFFF"/>
          </a:solidFill>
          <a:ln w="12700">
            <a:solidFill>
              <a:srgbClr val="DDDDDD"/>
            </a:solidFill>
            <a:prstDash val="solid"/>
          </a:ln>
          <a:effectLst>
            <a:outerShdw blurRad="38100" dist="12700" dir="8100000" algn="bl" rotWithShape="0">
              <a:srgbClr val="000000">
                <a:alpha val="8000"/>
              </a:srgbClr>
            </a:outerShdw>
          </a:effectLst>
        </p:spPr>
      </p:sp>
      <p:sp>
        <p:nvSpPr>
          <p:cNvPr id="35" name="Shape 33"/>
          <p:cNvSpPr/>
          <p:nvPr/>
        </p:nvSpPr>
        <p:spPr>
          <a:xfrm>
            <a:off x="2444191" y="2944368"/>
            <a:ext cx="274320" cy="1682496"/>
          </a:xfrm>
          <a:prstGeom prst="rect">
            <a:avLst/>
          </a:prstGeom>
          <a:solidFill>
            <a:srgbClr val="1565C0"/>
          </a:solidFill>
          <a:ln w="12700">
            <a:solidFill>
              <a:srgbClr val="1565C0"/>
            </a:solidFill>
            <a:prstDash val="solid"/>
          </a:ln>
        </p:spPr>
      </p:sp>
      <p:sp>
        <p:nvSpPr>
          <p:cNvPr id="36" name="Text 34"/>
          <p:cNvSpPr/>
          <p:nvPr/>
        </p:nvSpPr>
        <p:spPr>
          <a:xfrm>
            <a:off x="2444191" y="2944368"/>
            <a:ext cx="274320" cy="16824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2773375" y="3035808"/>
            <a:ext cx="1719072" cy="329184"/>
          </a:xfrm>
          <a:prstGeom prst="rect">
            <a:avLst/>
          </a:prstGeom>
          <a:noFill/>
          <a:ln/>
        </p:spPr>
        <p:txBody>
          <a:bodyPr wrap="square"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 Concurrencia</a:t>
            </a:r>
            <a:endParaRPr lang="en-US" sz="1300" dirty="0"/>
          </a:p>
        </p:txBody>
      </p:sp>
      <p:sp>
        <p:nvSpPr>
          <p:cNvPr id="38" name="Text 36"/>
          <p:cNvSpPr/>
          <p:nvPr/>
        </p:nvSpPr>
        <p:spPr>
          <a:xfrm>
            <a:off x="2773375" y="3383280"/>
            <a:ext cx="1719072" cy="1152144"/>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Múltiples usuarios pueden acceder y modificar el recurso a la vez.</a:t>
            </a:r>
            <a:endParaRPr lang="en-US" sz="1150" dirty="0"/>
          </a:p>
        </p:txBody>
      </p:sp>
      <p:sp>
        <p:nvSpPr>
          <p:cNvPr id="39" name="Shape 37"/>
          <p:cNvSpPr/>
          <p:nvPr/>
        </p:nvSpPr>
        <p:spPr>
          <a:xfrm>
            <a:off x="4632350" y="2944368"/>
            <a:ext cx="2103120" cy="1682496"/>
          </a:xfrm>
          <a:prstGeom prst="rect">
            <a:avLst/>
          </a:prstGeom>
          <a:solidFill>
            <a:srgbClr val="FFFFFF"/>
          </a:solidFill>
          <a:ln w="12700">
            <a:solidFill>
              <a:srgbClr val="DDDDDD"/>
            </a:solidFill>
            <a:prstDash val="solid"/>
          </a:ln>
          <a:effectLst>
            <a:outerShdw blurRad="38100" dist="12700" dir="8100000" algn="bl" rotWithShape="0">
              <a:srgbClr val="000000">
                <a:alpha val="8000"/>
              </a:srgbClr>
            </a:outerShdw>
          </a:effectLst>
        </p:spPr>
      </p:sp>
      <p:sp>
        <p:nvSpPr>
          <p:cNvPr id="40" name="Shape 38"/>
          <p:cNvSpPr/>
          <p:nvPr/>
        </p:nvSpPr>
        <p:spPr>
          <a:xfrm>
            <a:off x="4632350" y="2944368"/>
            <a:ext cx="274320" cy="1682496"/>
          </a:xfrm>
          <a:prstGeom prst="rect">
            <a:avLst/>
          </a:prstGeom>
          <a:solidFill>
            <a:srgbClr val="1565C0"/>
          </a:solidFill>
          <a:ln w="12700">
            <a:solidFill>
              <a:srgbClr val="1565C0"/>
            </a:solidFill>
            <a:prstDash val="solid"/>
          </a:ln>
        </p:spPr>
      </p:sp>
      <p:sp>
        <p:nvSpPr>
          <p:cNvPr id="41" name="Text 39"/>
          <p:cNvSpPr/>
          <p:nvPr/>
        </p:nvSpPr>
        <p:spPr>
          <a:xfrm>
            <a:off x="4632350" y="2944368"/>
            <a:ext cx="274320" cy="16824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2" name="Text 40"/>
          <p:cNvSpPr/>
          <p:nvPr/>
        </p:nvSpPr>
        <p:spPr>
          <a:xfrm>
            <a:off x="4961534" y="3035808"/>
            <a:ext cx="1719072" cy="329184"/>
          </a:xfrm>
          <a:prstGeom prst="rect">
            <a:avLst/>
          </a:prstGeom>
          <a:noFill/>
          <a:ln/>
        </p:spPr>
        <p:txBody>
          <a:bodyPr wrap="square"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 Fallos</a:t>
            </a:r>
            <a:endParaRPr lang="en-US" sz="1300" dirty="0"/>
          </a:p>
        </p:txBody>
      </p:sp>
      <p:sp>
        <p:nvSpPr>
          <p:cNvPr id="43" name="Text 41"/>
          <p:cNvSpPr/>
          <p:nvPr/>
        </p:nvSpPr>
        <p:spPr>
          <a:xfrm>
            <a:off x="4961534" y="3383280"/>
            <a:ext cx="1719072" cy="1152144"/>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Los fallos de nodos quedan ocultos; el sistema sigue respondiendo.</a:t>
            </a:r>
            <a:endParaRPr lang="en-US" sz="1150" dirty="0"/>
          </a:p>
        </p:txBody>
      </p:sp>
      <p:sp>
        <p:nvSpPr>
          <p:cNvPr id="44" name="Shape 42"/>
          <p:cNvSpPr/>
          <p:nvPr/>
        </p:nvSpPr>
        <p:spPr>
          <a:xfrm>
            <a:off x="6820510" y="2944368"/>
            <a:ext cx="2103120" cy="1682496"/>
          </a:xfrm>
          <a:prstGeom prst="rect">
            <a:avLst/>
          </a:prstGeom>
          <a:solidFill>
            <a:srgbClr val="FFFFFF"/>
          </a:solidFill>
          <a:ln w="12700">
            <a:solidFill>
              <a:srgbClr val="DDDDDD"/>
            </a:solidFill>
            <a:prstDash val="solid"/>
          </a:ln>
          <a:effectLst>
            <a:outerShdw blurRad="38100" dist="12700" dir="8100000" algn="bl" rotWithShape="0">
              <a:srgbClr val="000000">
                <a:alpha val="8000"/>
              </a:srgbClr>
            </a:outerShdw>
          </a:effectLst>
        </p:spPr>
      </p:sp>
      <p:sp>
        <p:nvSpPr>
          <p:cNvPr id="45" name="Shape 43"/>
          <p:cNvSpPr/>
          <p:nvPr/>
        </p:nvSpPr>
        <p:spPr>
          <a:xfrm>
            <a:off x="6820510" y="2944368"/>
            <a:ext cx="274320" cy="1682496"/>
          </a:xfrm>
          <a:prstGeom prst="rect">
            <a:avLst/>
          </a:prstGeom>
          <a:solidFill>
            <a:srgbClr val="1565C0"/>
          </a:solidFill>
          <a:ln w="12700">
            <a:solidFill>
              <a:srgbClr val="1565C0"/>
            </a:solidFill>
            <a:prstDash val="solid"/>
          </a:ln>
        </p:spPr>
      </p:sp>
      <p:sp>
        <p:nvSpPr>
          <p:cNvPr id="46" name="Text 44"/>
          <p:cNvSpPr/>
          <p:nvPr/>
        </p:nvSpPr>
        <p:spPr>
          <a:xfrm>
            <a:off x="6820510" y="2944368"/>
            <a:ext cx="274320" cy="16824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7" name="Text 45"/>
          <p:cNvSpPr/>
          <p:nvPr/>
        </p:nvSpPr>
        <p:spPr>
          <a:xfrm>
            <a:off x="7149694" y="3035808"/>
            <a:ext cx="1719072" cy="329184"/>
          </a:xfrm>
          <a:prstGeom prst="rect">
            <a:avLst/>
          </a:prstGeom>
          <a:noFill/>
          <a:ln/>
        </p:spPr>
        <p:txBody>
          <a:bodyPr wrap="square" rtlCol="0" anchor="ctr"/>
          <a:lstStyle/>
          <a:p>
            <a:pPr marL="0" indent="0">
              <a:buNone/>
            </a:pPr>
            <a:r>
              <a:rPr lang="en-US" sz="1300" b="1" dirty="0">
                <a:solidFill>
                  <a:srgbClr val="1A237E"/>
                </a:solidFill>
                <a:latin typeface="Calibri" pitchFamily="34" charset="0"/>
                <a:ea typeface="Calibri" pitchFamily="34" charset="-122"/>
                <a:cs typeface="Calibri" pitchFamily="34" charset="-120"/>
              </a:rPr>
              <a:t>💾 Persistencia</a:t>
            </a:r>
            <a:endParaRPr lang="en-US" sz="1300" dirty="0"/>
          </a:p>
        </p:txBody>
      </p:sp>
      <p:sp>
        <p:nvSpPr>
          <p:cNvPr id="48" name="Text 46"/>
          <p:cNvSpPr/>
          <p:nvPr/>
        </p:nvSpPr>
        <p:spPr>
          <a:xfrm>
            <a:off x="7149694" y="3383280"/>
            <a:ext cx="1719072" cy="1152144"/>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El recurso existe aunque el proceso que lo creó haya terminado.</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0D2137"/>
          </a:solidFill>
          <a:ln w="12700">
            <a:solidFill>
              <a:srgbClr val="0D2137"/>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1</a:t>
            </a:r>
            <a:endParaRPr lang="en-US" sz="800" dirty="0"/>
          </a:p>
        </p:txBody>
      </p:sp>
      <p:sp>
        <p:nvSpPr>
          <p:cNvPr id="5" name="Shape 3"/>
          <p:cNvSpPr/>
          <p:nvPr/>
        </p:nvSpPr>
        <p:spPr>
          <a:xfrm>
            <a:off x="0" y="182880"/>
            <a:ext cx="2743200" cy="310896"/>
          </a:xfrm>
          <a:prstGeom prst="rect">
            <a:avLst/>
          </a:prstGeom>
          <a:solidFill>
            <a:srgbClr val="00BFA5"/>
          </a:solidFill>
          <a:ln w="12700">
            <a:solidFill>
              <a:srgbClr val="00BFA5"/>
            </a:solidFill>
            <a:prstDash val="solid"/>
          </a:ln>
        </p:spPr>
      </p:sp>
      <p:sp>
        <p:nvSpPr>
          <p:cNvPr id="6" name="Text 4"/>
          <p:cNvSpPr/>
          <p:nvPr/>
        </p:nvSpPr>
        <p:spPr>
          <a:xfrm>
            <a:off x="91440" y="182880"/>
            <a:ext cx="256032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3 · Ventajas y Retos</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Ventajas y Retos de los Sistemas Distribuidos</a:t>
            </a:r>
            <a:endParaRPr lang="en-US" sz="2200" dirty="0"/>
          </a:p>
        </p:txBody>
      </p:sp>
      <p:sp>
        <p:nvSpPr>
          <p:cNvPr id="8" name="Shape 6"/>
          <p:cNvSpPr/>
          <p:nvPr/>
        </p:nvSpPr>
        <p:spPr>
          <a:xfrm>
            <a:off x="274320" y="1024128"/>
            <a:ext cx="4160520" cy="3867912"/>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9" name="Shape 7"/>
          <p:cNvSpPr/>
          <p:nvPr/>
        </p:nvSpPr>
        <p:spPr>
          <a:xfrm>
            <a:off x="274320" y="1024128"/>
            <a:ext cx="4160520" cy="420624"/>
          </a:xfrm>
          <a:prstGeom prst="rect">
            <a:avLst/>
          </a:prstGeom>
          <a:solidFill>
            <a:srgbClr val="2E7D32"/>
          </a:solidFill>
          <a:ln w="12700">
            <a:solidFill>
              <a:srgbClr val="2E7D32"/>
            </a:solidFill>
            <a:prstDash val="solid"/>
          </a:ln>
        </p:spPr>
      </p:sp>
      <p:sp>
        <p:nvSpPr>
          <p:cNvPr id="10" name="Text 8"/>
          <p:cNvSpPr/>
          <p:nvPr/>
        </p:nvSpPr>
        <p:spPr>
          <a:xfrm>
            <a:off x="420624" y="1024128"/>
            <a:ext cx="3977640" cy="420624"/>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VENTAJAS</a:t>
            </a:r>
            <a:endParaRPr lang="en-US" sz="1500" dirty="0"/>
          </a:p>
        </p:txBody>
      </p:sp>
      <p:sp>
        <p:nvSpPr>
          <p:cNvPr id="11" name="Text 9"/>
          <p:cNvSpPr/>
          <p:nvPr/>
        </p:nvSpPr>
        <p:spPr>
          <a:xfrm>
            <a:off x="438912" y="1517904"/>
            <a:ext cx="3922776" cy="298533"/>
          </a:xfrm>
          <a:prstGeom prst="rect">
            <a:avLst/>
          </a:prstGeom>
          <a:noFill/>
          <a:ln/>
        </p:spPr>
        <p:txBody>
          <a:bodyPr wrap="square" rtlCol="0" anchor="ctr"/>
          <a:lstStyle/>
          <a:p>
            <a:pPr marL="0" indent="0">
              <a:buNone/>
            </a:pPr>
            <a:r>
              <a:rPr lang="en-US" sz="1350" b="1" dirty="0">
                <a:solidFill>
                  <a:srgbClr val="2E7D32"/>
                </a:solidFill>
                <a:latin typeface="Calibri" pitchFamily="34" charset="0"/>
                <a:ea typeface="Calibri" pitchFamily="34" charset="-122"/>
                <a:cs typeface="Calibri" pitchFamily="34" charset="-120"/>
              </a:rPr>
              <a:t>Escalabilidad:</a:t>
            </a:r>
            <a:endParaRPr lang="en-US" sz="1350" dirty="0"/>
          </a:p>
        </p:txBody>
      </p:sp>
      <p:sp>
        <p:nvSpPr>
          <p:cNvPr id="12" name="Text 10"/>
          <p:cNvSpPr/>
          <p:nvPr/>
        </p:nvSpPr>
        <p:spPr>
          <a:xfrm>
            <a:off x="438912" y="1816437"/>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Agregar nodos aumenta la capacidad sin reemplazar hardware.</a:t>
            </a:r>
            <a:endParaRPr lang="en-US" sz="1250" dirty="0"/>
          </a:p>
        </p:txBody>
      </p:sp>
      <p:sp>
        <p:nvSpPr>
          <p:cNvPr id="13" name="Text 11"/>
          <p:cNvSpPr/>
          <p:nvPr/>
        </p:nvSpPr>
        <p:spPr>
          <a:xfrm>
            <a:off x="438912" y="2196389"/>
            <a:ext cx="3922776" cy="298533"/>
          </a:xfrm>
          <a:prstGeom prst="rect">
            <a:avLst/>
          </a:prstGeom>
          <a:noFill/>
          <a:ln/>
        </p:spPr>
        <p:txBody>
          <a:bodyPr wrap="square" rtlCol="0" anchor="ctr"/>
          <a:lstStyle/>
          <a:p>
            <a:pPr marL="0" indent="0">
              <a:buNone/>
            </a:pPr>
            <a:r>
              <a:rPr lang="en-US" sz="1350" b="1" dirty="0">
                <a:solidFill>
                  <a:srgbClr val="2E7D32"/>
                </a:solidFill>
                <a:latin typeface="Calibri" pitchFamily="34" charset="0"/>
                <a:ea typeface="Calibri" pitchFamily="34" charset="-122"/>
                <a:cs typeface="Calibri" pitchFamily="34" charset="-120"/>
              </a:rPr>
              <a:t>Alta disponibilidad:</a:t>
            </a:r>
            <a:endParaRPr lang="en-US" sz="1350" dirty="0"/>
          </a:p>
        </p:txBody>
      </p:sp>
      <p:sp>
        <p:nvSpPr>
          <p:cNvPr id="14" name="Text 12"/>
          <p:cNvSpPr/>
          <p:nvPr/>
        </p:nvSpPr>
        <p:spPr>
          <a:xfrm>
            <a:off x="438912" y="2494922"/>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El sistema sigue operando aunque fallen algunos nodos.</a:t>
            </a:r>
            <a:endParaRPr lang="en-US" sz="1250" dirty="0"/>
          </a:p>
        </p:txBody>
      </p:sp>
      <p:sp>
        <p:nvSpPr>
          <p:cNvPr id="15" name="Text 13"/>
          <p:cNvSpPr/>
          <p:nvPr/>
        </p:nvSpPr>
        <p:spPr>
          <a:xfrm>
            <a:off x="438912" y="2874874"/>
            <a:ext cx="3922776" cy="298533"/>
          </a:xfrm>
          <a:prstGeom prst="rect">
            <a:avLst/>
          </a:prstGeom>
          <a:noFill/>
          <a:ln/>
        </p:spPr>
        <p:txBody>
          <a:bodyPr wrap="square" rtlCol="0" anchor="ctr"/>
          <a:lstStyle/>
          <a:p>
            <a:pPr marL="0" indent="0">
              <a:buNone/>
            </a:pPr>
            <a:r>
              <a:rPr lang="en-US" sz="1350" b="1" dirty="0">
                <a:solidFill>
                  <a:srgbClr val="2E7D32"/>
                </a:solidFill>
                <a:latin typeface="Calibri" pitchFamily="34" charset="0"/>
                <a:ea typeface="Calibri" pitchFamily="34" charset="-122"/>
                <a:cs typeface="Calibri" pitchFamily="34" charset="-120"/>
              </a:rPr>
              <a:t>Rendimiento:</a:t>
            </a:r>
            <a:endParaRPr lang="en-US" sz="1350" dirty="0"/>
          </a:p>
        </p:txBody>
      </p:sp>
      <p:sp>
        <p:nvSpPr>
          <p:cNvPr id="16" name="Text 14"/>
          <p:cNvSpPr/>
          <p:nvPr/>
        </p:nvSpPr>
        <p:spPr>
          <a:xfrm>
            <a:off x="438912" y="3173407"/>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Procesar en paralelo reduce los tiempos de respuesta.</a:t>
            </a:r>
            <a:endParaRPr lang="en-US" sz="1250" dirty="0"/>
          </a:p>
        </p:txBody>
      </p:sp>
      <p:sp>
        <p:nvSpPr>
          <p:cNvPr id="17" name="Text 15"/>
          <p:cNvSpPr/>
          <p:nvPr/>
        </p:nvSpPr>
        <p:spPr>
          <a:xfrm>
            <a:off x="438912" y="3553358"/>
            <a:ext cx="3922776" cy="298533"/>
          </a:xfrm>
          <a:prstGeom prst="rect">
            <a:avLst/>
          </a:prstGeom>
          <a:noFill/>
          <a:ln/>
        </p:spPr>
        <p:txBody>
          <a:bodyPr wrap="square" rtlCol="0" anchor="ctr"/>
          <a:lstStyle/>
          <a:p>
            <a:pPr marL="0" indent="0">
              <a:buNone/>
            </a:pPr>
            <a:r>
              <a:rPr lang="en-US" sz="1350" b="1" dirty="0">
                <a:solidFill>
                  <a:srgbClr val="2E7D32"/>
                </a:solidFill>
                <a:latin typeface="Calibri" pitchFamily="34" charset="0"/>
                <a:ea typeface="Calibri" pitchFamily="34" charset="-122"/>
                <a:cs typeface="Calibri" pitchFamily="34" charset="-120"/>
              </a:rPr>
              <a:t>Economía:</a:t>
            </a:r>
            <a:endParaRPr lang="en-US" sz="1350" dirty="0"/>
          </a:p>
        </p:txBody>
      </p:sp>
      <p:sp>
        <p:nvSpPr>
          <p:cNvPr id="18" name="Text 16"/>
          <p:cNvSpPr/>
          <p:nvPr/>
        </p:nvSpPr>
        <p:spPr>
          <a:xfrm>
            <a:off x="438912" y="3851892"/>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Servidores commodity (baratos) &gt; un mainframe costoso.</a:t>
            </a:r>
            <a:endParaRPr lang="en-US" sz="1250" dirty="0"/>
          </a:p>
        </p:txBody>
      </p:sp>
      <p:sp>
        <p:nvSpPr>
          <p:cNvPr id="19" name="Text 17"/>
          <p:cNvSpPr/>
          <p:nvPr/>
        </p:nvSpPr>
        <p:spPr>
          <a:xfrm>
            <a:off x="438912" y="4231843"/>
            <a:ext cx="3922776" cy="298533"/>
          </a:xfrm>
          <a:prstGeom prst="rect">
            <a:avLst/>
          </a:prstGeom>
          <a:noFill/>
          <a:ln/>
        </p:spPr>
        <p:txBody>
          <a:bodyPr wrap="square" rtlCol="0" anchor="ctr"/>
          <a:lstStyle/>
          <a:p>
            <a:pPr marL="0" indent="0">
              <a:buNone/>
            </a:pPr>
            <a:r>
              <a:rPr lang="en-US" sz="1350" b="1" dirty="0">
                <a:solidFill>
                  <a:srgbClr val="2E7D32"/>
                </a:solidFill>
                <a:latin typeface="Calibri" pitchFamily="34" charset="0"/>
                <a:ea typeface="Calibri" pitchFamily="34" charset="-122"/>
                <a:cs typeface="Calibri" pitchFamily="34" charset="-120"/>
              </a:rPr>
              <a:t>Compartir recursos:</a:t>
            </a:r>
            <a:endParaRPr lang="en-US" sz="1350" dirty="0"/>
          </a:p>
        </p:txBody>
      </p:sp>
      <p:sp>
        <p:nvSpPr>
          <p:cNvPr id="20" name="Text 18"/>
          <p:cNvSpPr/>
          <p:nvPr/>
        </p:nvSpPr>
        <p:spPr>
          <a:xfrm>
            <a:off x="438912" y="4530377"/>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Datos y servicios accesibles desde cualquier lugar.</a:t>
            </a:r>
            <a:endParaRPr lang="en-US" sz="1250" dirty="0"/>
          </a:p>
        </p:txBody>
      </p:sp>
      <p:sp>
        <p:nvSpPr>
          <p:cNvPr id="21" name="Shape 19"/>
          <p:cNvSpPr/>
          <p:nvPr/>
        </p:nvSpPr>
        <p:spPr>
          <a:xfrm>
            <a:off x="4709160" y="1024128"/>
            <a:ext cx="4160520" cy="3867912"/>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22" name="Shape 20"/>
          <p:cNvSpPr/>
          <p:nvPr/>
        </p:nvSpPr>
        <p:spPr>
          <a:xfrm>
            <a:off x="4709160" y="1024128"/>
            <a:ext cx="4160520" cy="420624"/>
          </a:xfrm>
          <a:prstGeom prst="rect">
            <a:avLst/>
          </a:prstGeom>
          <a:solidFill>
            <a:srgbClr val="C62828"/>
          </a:solidFill>
          <a:ln w="12700">
            <a:solidFill>
              <a:srgbClr val="C62828"/>
            </a:solidFill>
            <a:prstDash val="solid"/>
          </a:ln>
        </p:spPr>
      </p:sp>
      <p:sp>
        <p:nvSpPr>
          <p:cNvPr id="23" name="Text 21"/>
          <p:cNvSpPr/>
          <p:nvPr/>
        </p:nvSpPr>
        <p:spPr>
          <a:xfrm>
            <a:off x="4846320" y="1024128"/>
            <a:ext cx="3977640" cy="420624"/>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  RETOS</a:t>
            </a:r>
            <a:endParaRPr lang="en-US" sz="1500" dirty="0"/>
          </a:p>
        </p:txBody>
      </p:sp>
      <p:sp>
        <p:nvSpPr>
          <p:cNvPr id="24" name="Text 22"/>
          <p:cNvSpPr/>
          <p:nvPr/>
        </p:nvSpPr>
        <p:spPr>
          <a:xfrm>
            <a:off x="4864608" y="1517904"/>
            <a:ext cx="3922776" cy="298533"/>
          </a:xfrm>
          <a:prstGeom prst="rect">
            <a:avLst/>
          </a:prstGeom>
          <a:noFill/>
          <a:ln/>
        </p:spPr>
        <p:txBody>
          <a:bodyPr wrap="square" rtlCol="0" anchor="ctr"/>
          <a:lstStyle/>
          <a:p>
            <a:pPr marL="0" indent="0">
              <a:buNone/>
            </a:pPr>
            <a:r>
              <a:rPr lang="en-US" sz="1350" b="1" dirty="0">
                <a:solidFill>
                  <a:srgbClr val="C62828"/>
                </a:solidFill>
                <a:latin typeface="Calibri" pitchFamily="34" charset="0"/>
                <a:ea typeface="Calibri" pitchFamily="34" charset="-122"/>
                <a:cs typeface="Calibri" pitchFamily="34" charset="-120"/>
              </a:rPr>
              <a:t>Complejidad:</a:t>
            </a:r>
            <a:endParaRPr lang="en-US" sz="1350" dirty="0"/>
          </a:p>
        </p:txBody>
      </p:sp>
      <p:sp>
        <p:nvSpPr>
          <p:cNvPr id="25" name="Text 23"/>
          <p:cNvSpPr/>
          <p:nvPr/>
        </p:nvSpPr>
        <p:spPr>
          <a:xfrm>
            <a:off x="4864608" y="1816437"/>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La programación distribuida es mucho más difícil.</a:t>
            </a:r>
            <a:endParaRPr lang="en-US" sz="1250" dirty="0"/>
          </a:p>
        </p:txBody>
      </p:sp>
      <p:sp>
        <p:nvSpPr>
          <p:cNvPr id="26" name="Text 24"/>
          <p:cNvSpPr/>
          <p:nvPr/>
        </p:nvSpPr>
        <p:spPr>
          <a:xfrm>
            <a:off x="4864608" y="2196389"/>
            <a:ext cx="3922776" cy="298533"/>
          </a:xfrm>
          <a:prstGeom prst="rect">
            <a:avLst/>
          </a:prstGeom>
          <a:noFill/>
          <a:ln/>
        </p:spPr>
        <p:txBody>
          <a:bodyPr wrap="square" rtlCol="0" anchor="ctr"/>
          <a:lstStyle/>
          <a:p>
            <a:pPr marL="0" indent="0">
              <a:buNone/>
            </a:pPr>
            <a:r>
              <a:rPr lang="en-US" sz="1350" b="1" dirty="0">
                <a:solidFill>
                  <a:srgbClr val="C62828"/>
                </a:solidFill>
                <a:latin typeface="Calibri" pitchFamily="34" charset="0"/>
                <a:ea typeface="Calibri" pitchFamily="34" charset="-122"/>
                <a:cs typeface="Calibri" pitchFamily="34" charset="-120"/>
              </a:rPr>
              <a:t>Consistencia de datos:</a:t>
            </a:r>
            <a:endParaRPr lang="en-US" sz="1350" dirty="0"/>
          </a:p>
        </p:txBody>
      </p:sp>
      <p:sp>
        <p:nvSpPr>
          <p:cNvPr id="27" name="Text 25"/>
          <p:cNvSpPr/>
          <p:nvPr/>
        </p:nvSpPr>
        <p:spPr>
          <a:xfrm>
            <a:off x="4864608" y="2494922"/>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Mantener datos coherentes en todos los nodos es difícil.</a:t>
            </a:r>
            <a:endParaRPr lang="en-US" sz="1250" dirty="0"/>
          </a:p>
        </p:txBody>
      </p:sp>
      <p:sp>
        <p:nvSpPr>
          <p:cNvPr id="28" name="Text 26"/>
          <p:cNvSpPr/>
          <p:nvPr/>
        </p:nvSpPr>
        <p:spPr>
          <a:xfrm>
            <a:off x="4864608" y="2874874"/>
            <a:ext cx="3922776" cy="298533"/>
          </a:xfrm>
          <a:prstGeom prst="rect">
            <a:avLst/>
          </a:prstGeom>
          <a:noFill/>
          <a:ln/>
        </p:spPr>
        <p:txBody>
          <a:bodyPr wrap="square" rtlCol="0" anchor="ctr"/>
          <a:lstStyle/>
          <a:p>
            <a:pPr marL="0" indent="0">
              <a:buNone/>
            </a:pPr>
            <a:r>
              <a:rPr lang="en-US" sz="1350" b="1" dirty="0">
                <a:solidFill>
                  <a:srgbClr val="C62828"/>
                </a:solidFill>
                <a:latin typeface="Calibri" pitchFamily="34" charset="0"/>
                <a:ea typeface="Calibri" pitchFamily="34" charset="-122"/>
                <a:cs typeface="Calibri" pitchFamily="34" charset="-120"/>
              </a:rPr>
              <a:t>Latencia de red:</a:t>
            </a:r>
            <a:endParaRPr lang="en-US" sz="1350" dirty="0"/>
          </a:p>
        </p:txBody>
      </p:sp>
      <p:sp>
        <p:nvSpPr>
          <p:cNvPr id="29" name="Text 27"/>
          <p:cNvSpPr/>
          <p:nvPr/>
        </p:nvSpPr>
        <p:spPr>
          <a:xfrm>
            <a:off x="4864608" y="3173407"/>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La red introduce retardos impredecibles.</a:t>
            </a:r>
            <a:endParaRPr lang="en-US" sz="1250" dirty="0"/>
          </a:p>
        </p:txBody>
      </p:sp>
      <p:sp>
        <p:nvSpPr>
          <p:cNvPr id="30" name="Text 28"/>
          <p:cNvSpPr/>
          <p:nvPr/>
        </p:nvSpPr>
        <p:spPr>
          <a:xfrm>
            <a:off x="4864608" y="3553358"/>
            <a:ext cx="3922776" cy="298533"/>
          </a:xfrm>
          <a:prstGeom prst="rect">
            <a:avLst/>
          </a:prstGeom>
          <a:noFill/>
          <a:ln/>
        </p:spPr>
        <p:txBody>
          <a:bodyPr wrap="square" rtlCol="0" anchor="ctr"/>
          <a:lstStyle/>
          <a:p>
            <a:pPr marL="0" indent="0">
              <a:buNone/>
            </a:pPr>
            <a:r>
              <a:rPr lang="en-US" sz="1350" b="1" dirty="0">
                <a:solidFill>
                  <a:srgbClr val="C62828"/>
                </a:solidFill>
                <a:latin typeface="Calibri" pitchFamily="34" charset="0"/>
                <a:ea typeface="Calibri" pitchFamily="34" charset="-122"/>
                <a:cs typeface="Calibri" pitchFamily="34" charset="-120"/>
              </a:rPr>
              <a:t>Seguridad:</a:t>
            </a:r>
            <a:endParaRPr lang="en-US" sz="1350" dirty="0"/>
          </a:p>
        </p:txBody>
      </p:sp>
      <p:sp>
        <p:nvSpPr>
          <p:cNvPr id="31" name="Text 29"/>
          <p:cNvSpPr/>
          <p:nvPr/>
        </p:nvSpPr>
        <p:spPr>
          <a:xfrm>
            <a:off x="4864608" y="3851892"/>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Más superficie de ataque: cada nodo es una entrada potencial.</a:t>
            </a:r>
            <a:endParaRPr lang="en-US" sz="1250" dirty="0"/>
          </a:p>
        </p:txBody>
      </p:sp>
      <p:sp>
        <p:nvSpPr>
          <p:cNvPr id="32" name="Text 30"/>
          <p:cNvSpPr/>
          <p:nvPr/>
        </p:nvSpPr>
        <p:spPr>
          <a:xfrm>
            <a:off x="4864608" y="4231843"/>
            <a:ext cx="3922776" cy="298533"/>
          </a:xfrm>
          <a:prstGeom prst="rect">
            <a:avLst/>
          </a:prstGeom>
          <a:noFill/>
          <a:ln/>
        </p:spPr>
        <p:txBody>
          <a:bodyPr wrap="square" rtlCol="0" anchor="ctr"/>
          <a:lstStyle/>
          <a:p>
            <a:pPr marL="0" indent="0">
              <a:buNone/>
            </a:pPr>
            <a:r>
              <a:rPr lang="en-US" sz="1350" b="1" dirty="0">
                <a:solidFill>
                  <a:srgbClr val="C62828"/>
                </a:solidFill>
                <a:latin typeface="Calibri" pitchFamily="34" charset="0"/>
                <a:ea typeface="Calibri" pitchFamily="34" charset="-122"/>
                <a:cs typeface="Calibri" pitchFamily="34" charset="-120"/>
              </a:rPr>
              <a:t>Depuración y testing:</a:t>
            </a:r>
            <a:endParaRPr lang="en-US" sz="1350" dirty="0"/>
          </a:p>
        </p:txBody>
      </p:sp>
      <p:sp>
        <p:nvSpPr>
          <p:cNvPr id="33" name="Text 31"/>
          <p:cNvSpPr/>
          <p:nvPr/>
        </p:nvSpPr>
        <p:spPr>
          <a:xfrm>
            <a:off x="4864608" y="4530377"/>
            <a:ext cx="3922776" cy="35281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Los errores distribuidos son difíciles de reproducir.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1565C0"/>
          </a:solidFill>
          <a:ln w="12700">
            <a:solidFill>
              <a:srgbClr val="1565C0"/>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1</a:t>
            </a:r>
            <a:endParaRPr lang="en-US" sz="800" dirty="0"/>
          </a:p>
        </p:txBody>
      </p:sp>
      <p:sp>
        <p:nvSpPr>
          <p:cNvPr id="5" name="Shape 3"/>
          <p:cNvSpPr/>
          <p:nvPr/>
        </p:nvSpPr>
        <p:spPr>
          <a:xfrm>
            <a:off x="0" y="182880"/>
            <a:ext cx="2743200" cy="310896"/>
          </a:xfrm>
          <a:prstGeom prst="rect">
            <a:avLst/>
          </a:prstGeom>
          <a:solidFill>
            <a:srgbClr val="00BFA5"/>
          </a:solidFill>
          <a:ln w="12700">
            <a:solidFill>
              <a:srgbClr val="00BFA5"/>
            </a:solidFill>
            <a:prstDash val="solid"/>
          </a:ln>
        </p:spPr>
      </p:sp>
      <p:sp>
        <p:nvSpPr>
          <p:cNvPr id="6" name="Text 4"/>
          <p:cNvSpPr/>
          <p:nvPr/>
        </p:nvSpPr>
        <p:spPr>
          <a:xfrm>
            <a:off x="91440" y="182880"/>
            <a:ext cx="256032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4 · Teorema CAP</a:t>
            </a:r>
            <a:endParaRPr lang="en-US" sz="1050" dirty="0"/>
          </a:p>
        </p:txBody>
      </p:sp>
      <p:sp>
        <p:nvSpPr>
          <p:cNvPr id="7" name="Text 5"/>
          <p:cNvSpPr/>
          <p:nvPr/>
        </p:nvSpPr>
        <p:spPr>
          <a:xfrm>
            <a:off x="365760" y="521208"/>
            <a:ext cx="8412480" cy="420624"/>
          </a:xfrm>
          <a:prstGeom prst="rect">
            <a:avLst/>
          </a:prstGeom>
          <a:noFill/>
          <a:ln/>
        </p:spPr>
        <p:txBody>
          <a:bodyPr wrap="square" rtlCol="0" anchor="ctr"/>
          <a:lstStyle/>
          <a:p>
            <a:pPr marL="0" indent="0">
              <a:buNone/>
            </a:pPr>
            <a:r>
              <a:rPr lang="en-US" sz="2000" b="1" dirty="0">
                <a:solidFill>
                  <a:srgbClr val="1A237E"/>
                </a:solidFill>
                <a:latin typeface="Calibri" pitchFamily="34" charset="0"/>
                <a:ea typeface="Calibri" pitchFamily="34" charset="-122"/>
                <a:cs typeface="Calibri" pitchFamily="34" charset="-120"/>
              </a:rPr>
              <a:t>El Teorema CAP — La regla de oro del diseño distribuido</a:t>
            </a:r>
            <a:endParaRPr lang="en-US" sz="2000" dirty="0"/>
          </a:p>
        </p:txBody>
      </p:sp>
      <p:sp>
        <p:nvSpPr>
          <p:cNvPr id="8" name="Text 6"/>
          <p:cNvSpPr/>
          <p:nvPr/>
        </p:nvSpPr>
        <p:spPr>
          <a:xfrm>
            <a:off x="365760" y="896112"/>
            <a:ext cx="8412480" cy="219456"/>
          </a:xfrm>
          <a:prstGeom prst="rect">
            <a:avLst/>
          </a:prstGeom>
          <a:noFill/>
          <a:ln/>
        </p:spPr>
        <p:txBody>
          <a:bodyPr wrap="square" rtlCol="0" anchor="ctr"/>
          <a:lstStyle/>
          <a:p>
            <a:pPr marL="0" indent="0">
              <a:buNone/>
            </a:pPr>
            <a:r>
              <a:rPr lang="en-US" sz="1050" dirty="0">
                <a:solidFill>
                  <a:srgbClr val="546E7A"/>
                </a:solidFill>
                <a:latin typeface="Calibri" pitchFamily="34" charset="0"/>
                <a:ea typeface="Calibri" pitchFamily="34" charset="-122"/>
                <a:cs typeface="Calibri" pitchFamily="34" charset="-120"/>
              </a:rPr>
              <a:t>CAP = Consistency (Consistencia) · Availability (Disponibilidad) · Partition Tolerance (Tolerancia a Particiones)</a:t>
            </a:r>
            <a:endParaRPr lang="en-US" sz="1050" dirty="0"/>
          </a:p>
        </p:txBody>
      </p:sp>
      <p:sp>
        <p:nvSpPr>
          <p:cNvPr id="9" name="Shape 7"/>
          <p:cNvSpPr/>
          <p:nvPr/>
        </p:nvSpPr>
        <p:spPr>
          <a:xfrm>
            <a:off x="274320" y="1170432"/>
            <a:ext cx="2798064" cy="2286000"/>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0" name="Shape 8"/>
          <p:cNvSpPr/>
          <p:nvPr/>
        </p:nvSpPr>
        <p:spPr>
          <a:xfrm>
            <a:off x="274320" y="1170432"/>
            <a:ext cx="2798064" cy="420624"/>
          </a:xfrm>
          <a:prstGeom prst="rect">
            <a:avLst/>
          </a:prstGeom>
          <a:solidFill>
            <a:srgbClr val="1565C0"/>
          </a:solidFill>
          <a:ln w="12700">
            <a:solidFill>
              <a:srgbClr val="1565C0"/>
            </a:solidFill>
            <a:prstDash val="solid"/>
          </a:ln>
        </p:spPr>
      </p:sp>
      <p:sp>
        <p:nvSpPr>
          <p:cNvPr id="11" name="Text 9"/>
          <p:cNvSpPr/>
          <p:nvPr/>
        </p:nvSpPr>
        <p:spPr>
          <a:xfrm>
            <a:off x="384048" y="1170432"/>
            <a:ext cx="2633472" cy="420624"/>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 — Consistencia</a:t>
            </a:r>
            <a:endParaRPr lang="en-US" sz="1450" dirty="0"/>
          </a:p>
        </p:txBody>
      </p:sp>
      <p:sp>
        <p:nvSpPr>
          <p:cNvPr id="12" name="Text 10"/>
          <p:cNvSpPr/>
          <p:nvPr/>
        </p:nvSpPr>
        <p:spPr>
          <a:xfrm>
            <a:off x="402336" y="1645920"/>
            <a:ext cx="2578608" cy="1737360"/>
          </a:xfrm>
          <a:prstGeom prst="rect">
            <a:avLst/>
          </a:prstGeom>
          <a:noFill/>
          <a:ln/>
        </p:spPr>
        <p:txBody>
          <a:bodyPr wrap="square" rtlCol="0" anchor="ctr"/>
          <a:lstStyle/>
          <a:p>
            <a:pPr marL="0" indent="0">
              <a:buNone/>
            </a:pPr>
            <a:r>
              <a:rPr lang="en-US" sz="1600" dirty="0">
                <a:solidFill>
                  <a:srgbClr val="1A237E"/>
                </a:solidFill>
                <a:latin typeface="Calibri" pitchFamily="34" charset="0"/>
                <a:ea typeface="Calibri" pitchFamily="34" charset="-122"/>
                <a:cs typeface="Calibri" pitchFamily="34" charset="-120"/>
              </a:rPr>
              <a:t>Todos los nodos ven el mismo dato al mismo tiempo. Una lectura siempre devuelve el valor más reciente escrito.</a:t>
            </a:r>
            <a:endParaRPr lang="en-US" sz="1600" dirty="0"/>
          </a:p>
        </p:txBody>
      </p:sp>
      <p:sp>
        <p:nvSpPr>
          <p:cNvPr id="13" name="Shape 11"/>
          <p:cNvSpPr/>
          <p:nvPr/>
        </p:nvSpPr>
        <p:spPr>
          <a:xfrm>
            <a:off x="3218688" y="1170432"/>
            <a:ext cx="2798064" cy="2286000"/>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4" name="Shape 12"/>
          <p:cNvSpPr/>
          <p:nvPr/>
        </p:nvSpPr>
        <p:spPr>
          <a:xfrm>
            <a:off x="3218688" y="1170432"/>
            <a:ext cx="2798064" cy="420624"/>
          </a:xfrm>
          <a:prstGeom prst="rect">
            <a:avLst/>
          </a:prstGeom>
          <a:solidFill>
            <a:srgbClr val="2E7D32"/>
          </a:solidFill>
          <a:ln w="12700">
            <a:solidFill>
              <a:srgbClr val="2E7D32"/>
            </a:solidFill>
            <a:prstDash val="solid"/>
          </a:ln>
        </p:spPr>
      </p:sp>
      <p:sp>
        <p:nvSpPr>
          <p:cNvPr id="15" name="Text 13"/>
          <p:cNvSpPr/>
          <p:nvPr/>
        </p:nvSpPr>
        <p:spPr>
          <a:xfrm>
            <a:off x="3328416" y="1170432"/>
            <a:ext cx="2633472" cy="420624"/>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 — Disponibilidad</a:t>
            </a:r>
            <a:endParaRPr lang="en-US" sz="1450" dirty="0"/>
          </a:p>
        </p:txBody>
      </p:sp>
      <p:sp>
        <p:nvSpPr>
          <p:cNvPr id="16" name="Text 14"/>
          <p:cNvSpPr/>
          <p:nvPr/>
        </p:nvSpPr>
        <p:spPr>
          <a:xfrm>
            <a:off x="3346704" y="1645920"/>
            <a:ext cx="2578608" cy="1737360"/>
          </a:xfrm>
          <a:prstGeom prst="rect">
            <a:avLst/>
          </a:prstGeom>
          <a:noFill/>
          <a:ln/>
        </p:spPr>
        <p:txBody>
          <a:bodyPr wrap="square" rtlCol="0" anchor="ctr"/>
          <a:lstStyle/>
          <a:p>
            <a:pPr marL="0" indent="0">
              <a:buNone/>
            </a:pPr>
            <a:r>
              <a:rPr lang="en-US" sz="1600" dirty="0">
                <a:solidFill>
                  <a:srgbClr val="1A237E"/>
                </a:solidFill>
                <a:latin typeface="Calibri" pitchFamily="34" charset="0"/>
                <a:ea typeface="Calibri" pitchFamily="34" charset="-122"/>
                <a:cs typeface="Calibri" pitchFamily="34" charset="-120"/>
              </a:rPr>
              <a:t>El sistema SIEMPRE responde a las peticiones, aunque no garantice que el dato sea el más reciente.</a:t>
            </a:r>
            <a:endParaRPr lang="en-US" sz="1600" dirty="0"/>
          </a:p>
        </p:txBody>
      </p:sp>
      <p:sp>
        <p:nvSpPr>
          <p:cNvPr id="17" name="Shape 15"/>
          <p:cNvSpPr/>
          <p:nvPr/>
        </p:nvSpPr>
        <p:spPr>
          <a:xfrm>
            <a:off x="6163056" y="1170432"/>
            <a:ext cx="2798064" cy="2286000"/>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8" name="Shape 16"/>
          <p:cNvSpPr/>
          <p:nvPr/>
        </p:nvSpPr>
        <p:spPr>
          <a:xfrm>
            <a:off x="6163056" y="1170432"/>
            <a:ext cx="2798064" cy="420624"/>
          </a:xfrm>
          <a:prstGeom prst="rect">
            <a:avLst/>
          </a:prstGeom>
          <a:solidFill>
            <a:srgbClr val="C62828"/>
          </a:solidFill>
          <a:ln w="12700">
            <a:solidFill>
              <a:srgbClr val="C62828"/>
            </a:solidFill>
            <a:prstDash val="solid"/>
          </a:ln>
        </p:spPr>
      </p:sp>
      <p:sp>
        <p:nvSpPr>
          <p:cNvPr id="19" name="Text 17"/>
          <p:cNvSpPr/>
          <p:nvPr/>
        </p:nvSpPr>
        <p:spPr>
          <a:xfrm>
            <a:off x="6272784" y="1170432"/>
            <a:ext cx="2633472" cy="420624"/>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 — T. Particiones</a:t>
            </a:r>
            <a:endParaRPr lang="en-US" sz="1450" dirty="0"/>
          </a:p>
        </p:txBody>
      </p:sp>
      <p:sp>
        <p:nvSpPr>
          <p:cNvPr id="20" name="Text 18"/>
          <p:cNvSpPr/>
          <p:nvPr/>
        </p:nvSpPr>
        <p:spPr>
          <a:xfrm>
            <a:off x="6291072" y="1645920"/>
            <a:ext cx="2578608" cy="1737360"/>
          </a:xfrm>
          <a:prstGeom prst="rect">
            <a:avLst/>
          </a:prstGeom>
          <a:noFill/>
          <a:ln/>
        </p:spPr>
        <p:txBody>
          <a:bodyPr wrap="square" rtlCol="0" anchor="ctr"/>
          <a:lstStyle/>
          <a:p>
            <a:pPr marL="0" indent="0">
              <a:buNone/>
            </a:pPr>
            <a:r>
              <a:rPr lang="en-US" sz="1600" dirty="0">
                <a:solidFill>
                  <a:srgbClr val="1A237E"/>
                </a:solidFill>
                <a:latin typeface="Calibri" pitchFamily="34" charset="0"/>
                <a:ea typeface="Calibri" pitchFamily="34" charset="-122"/>
                <a:cs typeface="Calibri" pitchFamily="34" charset="-120"/>
              </a:rPr>
              <a:t>El sistema continúa operando aunque la red falle y algunos nodos queden completamente incomunicados.</a:t>
            </a:r>
            <a:endParaRPr lang="en-US" sz="1600" dirty="0"/>
          </a:p>
        </p:txBody>
      </p:sp>
      <p:sp>
        <p:nvSpPr>
          <p:cNvPr id="21" name="Shape 19"/>
          <p:cNvSpPr/>
          <p:nvPr/>
        </p:nvSpPr>
        <p:spPr>
          <a:xfrm>
            <a:off x="274320" y="3547872"/>
            <a:ext cx="8595360" cy="548640"/>
          </a:xfrm>
          <a:prstGeom prst="rect">
            <a:avLst/>
          </a:prstGeom>
          <a:solidFill>
            <a:srgbClr val="0D2137"/>
          </a:solidFill>
          <a:ln w="12700">
            <a:solidFill>
              <a:srgbClr val="0D2137"/>
            </a:solidFill>
            <a:prstDash val="solid"/>
          </a:ln>
          <a:effectLst>
            <a:outerShdw blurRad="63500" dist="25400" dir="8100000" algn="bl" rotWithShape="0">
              <a:srgbClr val="000000">
                <a:alpha val="15000"/>
              </a:srgbClr>
            </a:outerShdw>
          </a:effectLst>
        </p:spPr>
      </p:sp>
      <p:sp>
        <p:nvSpPr>
          <p:cNvPr id="22" name="Text 20"/>
          <p:cNvSpPr/>
          <p:nvPr/>
        </p:nvSpPr>
        <p:spPr>
          <a:xfrm>
            <a:off x="457200" y="3566160"/>
            <a:ext cx="8321040" cy="493776"/>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Teorema CAP (Brewer, 2000): En un SD, solo se pueden garantizar simultáneamente 2 de las 3 propiedades.</a:t>
            </a:r>
            <a:endParaRPr lang="en-US" sz="1350" dirty="0"/>
          </a:p>
        </p:txBody>
      </p:sp>
      <p:sp>
        <p:nvSpPr>
          <p:cNvPr id="23" name="Shape 21"/>
          <p:cNvSpPr/>
          <p:nvPr/>
        </p:nvSpPr>
        <p:spPr>
          <a:xfrm>
            <a:off x="274320" y="4178808"/>
            <a:ext cx="2798064" cy="658368"/>
          </a:xfrm>
          <a:prstGeom prst="rect">
            <a:avLst/>
          </a:prstGeom>
          <a:solidFill>
            <a:srgbClr val="FFFFFF"/>
          </a:solidFill>
          <a:ln w="31750">
            <a:solidFill>
              <a:srgbClr val="1565C0"/>
            </a:solidFill>
            <a:prstDash val="solid"/>
          </a:ln>
          <a:effectLst>
            <a:outerShdw blurRad="38100" dist="12700" dir="8100000" algn="bl" rotWithShape="0">
              <a:srgbClr val="000000">
                <a:alpha val="8000"/>
              </a:srgbClr>
            </a:outerShdw>
          </a:effectLst>
        </p:spPr>
      </p:sp>
      <p:sp>
        <p:nvSpPr>
          <p:cNvPr id="24" name="Text 22"/>
          <p:cNvSpPr/>
          <p:nvPr/>
        </p:nvSpPr>
        <p:spPr>
          <a:xfrm>
            <a:off x="384048" y="4206240"/>
            <a:ext cx="2578608" cy="274320"/>
          </a:xfrm>
          <a:prstGeom prst="rect">
            <a:avLst/>
          </a:prstGeom>
          <a:noFill/>
          <a:ln/>
        </p:spPr>
        <p:txBody>
          <a:bodyPr wrap="square" rtlCol="0" anchor="ctr"/>
          <a:lstStyle/>
          <a:p>
            <a:pPr marL="0" indent="0">
              <a:buNone/>
            </a:pPr>
            <a:r>
              <a:rPr lang="en-US" sz="1400" b="1" dirty="0">
                <a:solidFill>
                  <a:srgbClr val="1565C0"/>
                </a:solidFill>
                <a:latin typeface="Calibri" pitchFamily="34" charset="0"/>
                <a:ea typeface="Calibri" pitchFamily="34" charset="-122"/>
                <a:cs typeface="Calibri" pitchFamily="34" charset="-120"/>
              </a:rPr>
              <a:t>CP (sin A)</a:t>
            </a:r>
            <a:endParaRPr lang="en-US" sz="1400" dirty="0"/>
          </a:p>
        </p:txBody>
      </p:sp>
      <p:sp>
        <p:nvSpPr>
          <p:cNvPr id="25" name="Text 23"/>
          <p:cNvSpPr/>
          <p:nvPr/>
        </p:nvSpPr>
        <p:spPr>
          <a:xfrm>
            <a:off x="384048" y="4480560"/>
            <a:ext cx="2578608" cy="310896"/>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CockroachDB, HBase, Zookeeper</a:t>
            </a:r>
            <a:endParaRPr lang="en-US" sz="1100" dirty="0"/>
          </a:p>
        </p:txBody>
      </p:sp>
      <p:sp>
        <p:nvSpPr>
          <p:cNvPr id="26" name="Shape 24"/>
          <p:cNvSpPr/>
          <p:nvPr/>
        </p:nvSpPr>
        <p:spPr>
          <a:xfrm>
            <a:off x="3218688" y="4178808"/>
            <a:ext cx="2798064" cy="658368"/>
          </a:xfrm>
          <a:prstGeom prst="rect">
            <a:avLst/>
          </a:prstGeom>
          <a:solidFill>
            <a:srgbClr val="FFFFFF"/>
          </a:solidFill>
          <a:ln w="31750">
            <a:solidFill>
              <a:srgbClr val="2E7D32"/>
            </a:solidFill>
            <a:prstDash val="solid"/>
          </a:ln>
          <a:effectLst>
            <a:outerShdw blurRad="38100" dist="12700" dir="8100000" algn="bl" rotWithShape="0">
              <a:srgbClr val="000000">
                <a:alpha val="8000"/>
              </a:srgbClr>
            </a:outerShdw>
          </a:effectLst>
        </p:spPr>
      </p:sp>
      <p:sp>
        <p:nvSpPr>
          <p:cNvPr id="27" name="Text 25"/>
          <p:cNvSpPr/>
          <p:nvPr/>
        </p:nvSpPr>
        <p:spPr>
          <a:xfrm>
            <a:off x="3328416" y="4206240"/>
            <a:ext cx="2578608" cy="274320"/>
          </a:xfrm>
          <a:prstGeom prst="rect">
            <a:avLst/>
          </a:prstGeom>
          <a:noFill/>
          <a:ln/>
        </p:spPr>
        <p:txBody>
          <a:bodyPr wrap="square"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AP (sin C)</a:t>
            </a:r>
            <a:endParaRPr lang="en-US" sz="1400" dirty="0"/>
          </a:p>
        </p:txBody>
      </p:sp>
      <p:sp>
        <p:nvSpPr>
          <p:cNvPr id="28" name="Text 26"/>
          <p:cNvSpPr/>
          <p:nvPr/>
        </p:nvSpPr>
        <p:spPr>
          <a:xfrm>
            <a:off x="3328416" y="4480560"/>
            <a:ext cx="2578608" cy="310896"/>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Cassandra, DynamoDB, CouchDB</a:t>
            </a:r>
            <a:endParaRPr lang="en-US" sz="1100" dirty="0"/>
          </a:p>
        </p:txBody>
      </p:sp>
      <p:sp>
        <p:nvSpPr>
          <p:cNvPr id="29" name="Shape 27"/>
          <p:cNvSpPr/>
          <p:nvPr/>
        </p:nvSpPr>
        <p:spPr>
          <a:xfrm>
            <a:off x="6163056" y="4178808"/>
            <a:ext cx="2798064" cy="658368"/>
          </a:xfrm>
          <a:prstGeom prst="rect">
            <a:avLst/>
          </a:prstGeom>
          <a:solidFill>
            <a:srgbClr val="FFFFFF"/>
          </a:solidFill>
          <a:ln w="31750">
            <a:solidFill>
              <a:srgbClr val="C62828"/>
            </a:solidFill>
            <a:prstDash val="solid"/>
          </a:ln>
          <a:effectLst>
            <a:outerShdw blurRad="38100" dist="12700" dir="8100000" algn="bl" rotWithShape="0">
              <a:srgbClr val="000000">
                <a:alpha val="8000"/>
              </a:srgbClr>
            </a:outerShdw>
          </a:effectLst>
        </p:spPr>
      </p:sp>
      <p:sp>
        <p:nvSpPr>
          <p:cNvPr id="30" name="Text 28"/>
          <p:cNvSpPr/>
          <p:nvPr/>
        </p:nvSpPr>
        <p:spPr>
          <a:xfrm>
            <a:off x="6272784" y="4206240"/>
            <a:ext cx="2578608" cy="274320"/>
          </a:xfrm>
          <a:prstGeom prst="rect">
            <a:avLst/>
          </a:prstGeom>
          <a:noFill/>
          <a:ln/>
        </p:spPr>
        <p:txBody>
          <a:bodyPr wrap="square" rtlCol="0" anchor="ctr"/>
          <a:lstStyle/>
          <a:p>
            <a:pPr marL="0" indent="0">
              <a:buNone/>
            </a:pPr>
            <a:r>
              <a:rPr lang="en-US" sz="1400" b="1" dirty="0">
                <a:solidFill>
                  <a:srgbClr val="C62828"/>
                </a:solidFill>
                <a:latin typeface="Calibri" pitchFamily="34" charset="0"/>
                <a:ea typeface="Calibri" pitchFamily="34" charset="-122"/>
                <a:cs typeface="Calibri" pitchFamily="34" charset="-120"/>
              </a:rPr>
              <a:t>CA (sin P)</a:t>
            </a:r>
            <a:endParaRPr lang="en-US" sz="1400" dirty="0"/>
          </a:p>
        </p:txBody>
      </p:sp>
      <p:sp>
        <p:nvSpPr>
          <p:cNvPr id="31" name="Text 29"/>
          <p:cNvSpPr/>
          <p:nvPr/>
        </p:nvSpPr>
        <p:spPr>
          <a:xfrm>
            <a:off x="6272784" y="4480560"/>
            <a:ext cx="2578608" cy="310896"/>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BD relacionales tradicionales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00BFA5"/>
          </a:solidFill>
          <a:ln w="12700">
            <a:solidFill>
              <a:srgbClr val="00BFA5"/>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1</a:t>
            </a:r>
            <a:endParaRPr lang="en-US" sz="800" dirty="0"/>
          </a:p>
        </p:txBody>
      </p:sp>
      <p:sp>
        <p:nvSpPr>
          <p:cNvPr id="5" name="Shape 3"/>
          <p:cNvSpPr/>
          <p:nvPr/>
        </p:nvSpPr>
        <p:spPr>
          <a:xfrm>
            <a:off x="0" y="182880"/>
            <a:ext cx="9144000" cy="310896"/>
          </a:xfrm>
          <a:prstGeom prst="rect">
            <a:avLst/>
          </a:prstGeom>
          <a:solidFill>
            <a:srgbClr val="00BFA5"/>
          </a:solidFill>
          <a:ln w="12700">
            <a:solidFill>
              <a:srgbClr val="00BFA5"/>
            </a:solidFill>
            <a:prstDash val="solid"/>
          </a:ln>
        </p:spPr>
      </p:sp>
      <p:sp>
        <p:nvSpPr>
          <p:cNvPr id="6" name="Text 4"/>
          <p:cNvSpPr/>
          <p:nvPr/>
        </p:nvSpPr>
        <p:spPr>
          <a:xfrm>
            <a:off x="91440" y="182880"/>
            <a:ext cx="5692672" cy="310896"/>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5 · Casos Reales</a:t>
            </a:r>
            <a:endParaRPr lang="en-US" sz="200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SD en el Mundo Real: Google, Netflix, Amazon</a:t>
            </a:r>
            <a:endParaRPr lang="en-US" sz="2200" dirty="0"/>
          </a:p>
        </p:txBody>
      </p:sp>
      <p:sp>
        <p:nvSpPr>
          <p:cNvPr id="8" name="Shape 6"/>
          <p:cNvSpPr/>
          <p:nvPr/>
        </p:nvSpPr>
        <p:spPr>
          <a:xfrm>
            <a:off x="274320" y="1024128"/>
            <a:ext cx="2798064" cy="3867912"/>
          </a:xfrm>
          <a:prstGeom prst="rect">
            <a:avLst/>
          </a:prstGeom>
          <a:solidFill>
            <a:srgbClr val="FFFFFF"/>
          </a:solidFill>
          <a:ln w="12700">
            <a:solidFill>
              <a:srgbClr val="DDDDDD"/>
            </a:solidFill>
            <a:prstDash val="solid"/>
          </a:ln>
          <a:effectLst>
            <a:outerShdw blurRad="63500" dist="25400" dir="8100000" algn="bl" rotWithShape="0">
              <a:srgbClr val="000000">
                <a:alpha val="10000"/>
              </a:srgbClr>
            </a:outerShdw>
          </a:effectLst>
        </p:spPr>
      </p:sp>
      <p:sp>
        <p:nvSpPr>
          <p:cNvPr id="9" name="Shape 7"/>
          <p:cNvSpPr/>
          <p:nvPr/>
        </p:nvSpPr>
        <p:spPr>
          <a:xfrm>
            <a:off x="274320" y="1024128"/>
            <a:ext cx="2798064" cy="420624"/>
          </a:xfrm>
          <a:prstGeom prst="rect">
            <a:avLst/>
          </a:prstGeom>
          <a:solidFill>
            <a:srgbClr val="1A73E8"/>
          </a:solidFill>
          <a:ln w="12700">
            <a:solidFill>
              <a:srgbClr val="1A73E8"/>
            </a:solidFill>
            <a:prstDash val="solid"/>
          </a:ln>
        </p:spPr>
      </p:sp>
      <p:sp>
        <p:nvSpPr>
          <p:cNvPr id="10" name="Text 8"/>
          <p:cNvSpPr/>
          <p:nvPr/>
        </p:nvSpPr>
        <p:spPr>
          <a:xfrm>
            <a:off x="384048" y="1024128"/>
            <a:ext cx="2633472" cy="420624"/>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Google Search</a:t>
            </a:r>
            <a:endParaRPr lang="en-US" sz="1450" dirty="0"/>
          </a:p>
        </p:txBody>
      </p:sp>
      <p:sp>
        <p:nvSpPr>
          <p:cNvPr id="11" name="Text 9"/>
          <p:cNvSpPr/>
          <p:nvPr/>
        </p:nvSpPr>
        <p:spPr>
          <a:xfrm>
            <a:off x="274320" y="1499616"/>
            <a:ext cx="2724912" cy="310896"/>
          </a:xfrm>
          <a:prstGeom prst="rect">
            <a:avLst/>
          </a:prstGeom>
          <a:noFill/>
          <a:ln/>
        </p:spPr>
        <p:txBody>
          <a:bodyPr wrap="square" rtlCol="0" anchor="ctr"/>
          <a:lstStyle/>
          <a:p>
            <a:pPr marL="0" indent="0">
              <a:buNone/>
            </a:pPr>
            <a:r>
              <a:rPr lang="en-US" sz="1200" b="1" dirty="0">
                <a:solidFill>
                  <a:srgbClr val="1A73E8"/>
                </a:solidFill>
                <a:latin typeface="Calibri" pitchFamily="34" charset="0"/>
                <a:ea typeface="Calibri" pitchFamily="34" charset="-122"/>
                <a:cs typeface="Calibri" pitchFamily="34" charset="-120"/>
              </a:rPr>
              <a:t>📊 8.5 mil millones de búsquedas / día</a:t>
            </a:r>
            <a:endParaRPr lang="en-US" sz="1200" dirty="0"/>
          </a:p>
        </p:txBody>
      </p:sp>
      <p:sp>
        <p:nvSpPr>
          <p:cNvPr id="12" name="Text 10"/>
          <p:cNvSpPr/>
          <p:nvPr/>
        </p:nvSpPr>
        <p:spPr>
          <a:xfrm>
            <a:off x="384048" y="1847088"/>
            <a:ext cx="2615184" cy="256032"/>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Arquitectura:</a:t>
            </a:r>
            <a:endParaRPr lang="en-US" sz="1200" dirty="0"/>
          </a:p>
        </p:txBody>
      </p:sp>
      <p:sp>
        <p:nvSpPr>
          <p:cNvPr id="13" name="Text 11"/>
          <p:cNvSpPr/>
          <p:nvPr/>
        </p:nvSpPr>
        <p:spPr>
          <a:xfrm>
            <a:off x="384048" y="2103120"/>
            <a:ext cx="2615184" cy="13716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Miles de servidores en decenas de datacenters globales. Búsqueda paralela en múltiples índices distribuidos.</a:t>
            </a:r>
            <a:endParaRPr lang="en-US" sz="1200" dirty="0"/>
          </a:p>
        </p:txBody>
      </p:sp>
      <p:sp>
        <p:nvSpPr>
          <p:cNvPr id="14" name="Shape 12"/>
          <p:cNvSpPr/>
          <p:nvPr/>
        </p:nvSpPr>
        <p:spPr>
          <a:xfrm>
            <a:off x="384048" y="3493008"/>
            <a:ext cx="2578608" cy="36576"/>
          </a:xfrm>
          <a:prstGeom prst="rect">
            <a:avLst/>
          </a:prstGeom>
          <a:solidFill>
            <a:srgbClr val="DDDDDD"/>
          </a:solidFill>
          <a:ln w="12700">
            <a:solidFill>
              <a:srgbClr val="DDDDDD"/>
            </a:solidFill>
            <a:prstDash val="solid"/>
          </a:ln>
        </p:spPr>
      </p:sp>
      <p:sp>
        <p:nvSpPr>
          <p:cNvPr id="15" name="Text 13"/>
          <p:cNvSpPr/>
          <p:nvPr/>
        </p:nvSpPr>
        <p:spPr>
          <a:xfrm>
            <a:off x="384048" y="3584448"/>
            <a:ext cx="2615184" cy="1216152"/>
          </a:xfrm>
          <a:prstGeom prst="rect">
            <a:avLst/>
          </a:prstGeom>
          <a:noFill/>
          <a:ln/>
        </p:spPr>
        <p:txBody>
          <a:bodyPr wrap="square" rtlCol="0" anchor="ctr"/>
          <a:lstStyle/>
          <a:p>
            <a:pPr marL="0" indent="0">
              <a:buNone/>
            </a:pPr>
            <a:r>
              <a:rPr lang="en-US" sz="1150" i="1" dirty="0">
                <a:solidFill>
                  <a:srgbClr val="1A237E"/>
                </a:solidFill>
                <a:latin typeface="Calibri" pitchFamily="34" charset="0"/>
                <a:ea typeface="Calibri" pitchFamily="34" charset="-122"/>
                <a:cs typeface="Calibri" pitchFamily="34" charset="-120"/>
              </a:rPr>
              <a:t>💡 Lección: La escalabilidad horizontal permite responder en menos de 1 segundo a millones de consultas simultáneas.</a:t>
            </a:r>
            <a:endParaRPr lang="en-US" sz="1150" dirty="0"/>
          </a:p>
        </p:txBody>
      </p:sp>
      <p:sp>
        <p:nvSpPr>
          <p:cNvPr id="16" name="Shape 14"/>
          <p:cNvSpPr/>
          <p:nvPr/>
        </p:nvSpPr>
        <p:spPr>
          <a:xfrm>
            <a:off x="3218688" y="1024128"/>
            <a:ext cx="2798064" cy="3867912"/>
          </a:xfrm>
          <a:prstGeom prst="rect">
            <a:avLst/>
          </a:prstGeom>
          <a:solidFill>
            <a:srgbClr val="FFFFFF"/>
          </a:solidFill>
          <a:ln w="12700">
            <a:solidFill>
              <a:srgbClr val="DDDDDD"/>
            </a:solidFill>
            <a:prstDash val="solid"/>
          </a:ln>
          <a:effectLst>
            <a:outerShdw blurRad="63500" dist="25400" dir="8100000" algn="bl" rotWithShape="0">
              <a:srgbClr val="000000">
                <a:alpha val="10000"/>
              </a:srgbClr>
            </a:outerShdw>
          </a:effectLst>
        </p:spPr>
      </p:sp>
      <p:sp>
        <p:nvSpPr>
          <p:cNvPr id="17" name="Shape 15"/>
          <p:cNvSpPr/>
          <p:nvPr/>
        </p:nvSpPr>
        <p:spPr>
          <a:xfrm>
            <a:off x="3218688" y="1024128"/>
            <a:ext cx="2798064" cy="420624"/>
          </a:xfrm>
          <a:prstGeom prst="rect">
            <a:avLst/>
          </a:prstGeom>
          <a:solidFill>
            <a:srgbClr val="E50914"/>
          </a:solidFill>
          <a:ln w="12700">
            <a:solidFill>
              <a:srgbClr val="E50914"/>
            </a:solidFill>
            <a:prstDash val="solid"/>
          </a:ln>
        </p:spPr>
      </p:sp>
      <p:sp>
        <p:nvSpPr>
          <p:cNvPr id="18" name="Text 16"/>
          <p:cNvSpPr/>
          <p:nvPr/>
        </p:nvSpPr>
        <p:spPr>
          <a:xfrm>
            <a:off x="3328416" y="1024128"/>
            <a:ext cx="2633472" cy="420624"/>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Netflix</a:t>
            </a:r>
            <a:endParaRPr lang="en-US" sz="1450" dirty="0"/>
          </a:p>
        </p:txBody>
      </p:sp>
      <p:sp>
        <p:nvSpPr>
          <p:cNvPr id="19" name="Text 17"/>
          <p:cNvSpPr/>
          <p:nvPr/>
        </p:nvSpPr>
        <p:spPr>
          <a:xfrm>
            <a:off x="3328416" y="1499616"/>
            <a:ext cx="2615184" cy="310896"/>
          </a:xfrm>
          <a:prstGeom prst="rect">
            <a:avLst/>
          </a:prstGeom>
          <a:noFill/>
          <a:ln/>
        </p:spPr>
        <p:txBody>
          <a:bodyPr wrap="square" rtlCol="0" anchor="ctr"/>
          <a:lstStyle/>
          <a:p>
            <a:pPr marL="0" indent="0">
              <a:buNone/>
            </a:pPr>
            <a:r>
              <a:rPr lang="en-US" sz="1200" b="1" dirty="0">
                <a:solidFill>
                  <a:srgbClr val="E50914"/>
                </a:solidFill>
                <a:latin typeface="Calibri" pitchFamily="34" charset="0"/>
                <a:ea typeface="Calibri" pitchFamily="34" charset="-122"/>
                <a:cs typeface="Calibri" pitchFamily="34" charset="-120"/>
              </a:rPr>
              <a:t>📊 200+ millones de suscriptores activos</a:t>
            </a:r>
            <a:endParaRPr lang="en-US" sz="1200" dirty="0"/>
          </a:p>
        </p:txBody>
      </p:sp>
      <p:sp>
        <p:nvSpPr>
          <p:cNvPr id="20" name="Text 18"/>
          <p:cNvSpPr/>
          <p:nvPr/>
        </p:nvSpPr>
        <p:spPr>
          <a:xfrm>
            <a:off x="3328416" y="1847088"/>
            <a:ext cx="2615184" cy="256032"/>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Arquitectura:</a:t>
            </a:r>
            <a:endParaRPr lang="en-US" sz="1200" dirty="0"/>
          </a:p>
        </p:txBody>
      </p:sp>
      <p:sp>
        <p:nvSpPr>
          <p:cNvPr id="21" name="Text 19"/>
          <p:cNvSpPr/>
          <p:nvPr/>
        </p:nvSpPr>
        <p:spPr>
          <a:xfrm>
            <a:off x="3328416" y="2103120"/>
            <a:ext cx="2615184" cy="13716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Microservicios en AWS (Amazon Web Services). 3 regiones de disponibilidad. CDN (Red de Distribución de Contenido) propia: Open Connect.</a:t>
            </a:r>
            <a:endParaRPr lang="en-US" sz="1200" dirty="0"/>
          </a:p>
        </p:txBody>
      </p:sp>
      <p:sp>
        <p:nvSpPr>
          <p:cNvPr id="22" name="Shape 20"/>
          <p:cNvSpPr/>
          <p:nvPr/>
        </p:nvSpPr>
        <p:spPr>
          <a:xfrm>
            <a:off x="3328416" y="3493008"/>
            <a:ext cx="2578608" cy="36576"/>
          </a:xfrm>
          <a:prstGeom prst="rect">
            <a:avLst/>
          </a:prstGeom>
          <a:solidFill>
            <a:srgbClr val="DDDDDD"/>
          </a:solidFill>
          <a:ln w="12700">
            <a:solidFill>
              <a:srgbClr val="DDDDDD"/>
            </a:solidFill>
            <a:prstDash val="solid"/>
          </a:ln>
        </p:spPr>
      </p:sp>
      <p:sp>
        <p:nvSpPr>
          <p:cNvPr id="23" name="Text 21"/>
          <p:cNvSpPr/>
          <p:nvPr/>
        </p:nvSpPr>
        <p:spPr>
          <a:xfrm>
            <a:off x="3328416" y="3584448"/>
            <a:ext cx="2615184" cy="1216152"/>
          </a:xfrm>
          <a:prstGeom prst="rect">
            <a:avLst/>
          </a:prstGeom>
          <a:noFill/>
          <a:ln/>
        </p:spPr>
        <p:txBody>
          <a:bodyPr wrap="square" rtlCol="0" anchor="ctr"/>
          <a:lstStyle/>
          <a:p>
            <a:pPr marL="0" indent="0">
              <a:buNone/>
            </a:pPr>
            <a:r>
              <a:rPr lang="en-US" sz="1150" i="1" dirty="0">
                <a:solidFill>
                  <a:srgbClr val="1A237E"/>
                </a:solidFill>
                <a:latin typeface="Calibri" pitchFamily="34" charset="0"/>
                <a:ea typeface="Calibri" pitchFamily="34" charset="-122"/>
                <a:cs typeface="Calibri" pitchFamily="34" charset="-120"/>
              </a:rPr>
              <a:t>💡 Lección: Chaos Engineering — Netflix apaga servidores a propósito para probar que el sistema no cae.</a:t>
            </a:r>
            <a:endParaRPr lang="en-US" sz="1150" dirty="0"/>
          </a:p>
        </p:txBody>
      </p:sp>
      <p:sp>
        <p:nvSpPr>
          <p:cNvPr id="24" name="Shape 22"/>
          <p:cNvSpPr/>
          <p:nvPr/>
        </p:nvSpPr>
        <p:spPr>
          <a:xfrm>
            <a:off x="6163056" y="1024128"/>
            <a:ext cx="2798064" cy="3867912"/>
          </a:xfrm>
          <a:prstGeom prst="rect">
            <a:avLst/>
          </a:prstGeom>
          <a:solidFill>
            <a:srgbClr val="FFFFFF"/>
          </a:solidFill>
          <a:ln w="12700">
            <a:solidFill>
              <a:srgbClr val="DDDDDD"/>
            </a:solidFill>
            <a:prstDash val="solid"/>
          </a:ln>
          <a:effectLst>
            <a:outerShdw blurRad="63500" dist="25400" dir="8100000" algn="bl" rotWithShape="0">
              <a:srgbClr val="000000">
                <a:alpha val="10000"/>
              </a:srgbClr>
            </a:outerShdw>
          </a:effectLst>
        </p:spPr>
      </p:sp>
      <p:sp>
        <p:nvSpPr>
          <p:cNvPr id="25" name="Shape 23"/>
          <p:cNvSpPr/>
          <p:nvPr/>
        </p:nvSpPr>
        <p:spPr>
          <a:xfrm>
            <a:off x="6163056" y="1024128"/>
            <a:ext cx="2798064" cy="420624"/>
          </a:xfrm>
          <a:prstGeom prst="rect">
            <a:avLst/>
          </a:prstGeom>
          <a:solidFill>
            <a:srgbClr val="F57C00"/>
          </a:solidFill>
          <a:ln w="12700">
            <a:solidFill>
              <a:srgbClr val="F57C00"/>
            </a:solidFill>
            <a:prstDash val="solid"/>
          </a:ln>
        </p:spPr>
      </p:sp>
      <p:sp>
        <p:nvSpPr>
          <p:cNvPr id="26" name="Text 24"/>
          <p:cNvSpPr/>
          <p:nvPr/>
        </p:nvSpPr>
        <p:spPr>
          <a:xfrm>
            <a:off x="6272784" y="1024128"/>
            <a:ext cx="2633472" cy="420624"/>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Amazon / AWS</a:t>
            </a:r>
            <a:endParaRPr lang="en-US" sz="1450" dirty="0"/>
          </a:p>
        </p:txBody>
      </p:sp>
      <p:sp>
        <p:nvSpPr>
          <p:cNvPr id="27" name="Text 25"/>
          <p:cNvSpPr/>
          <p:nvPr/>
        </p:nvSpPr>
        <p:spPr>
          <a:xfrm>
            <a:off x="6272784" y="1499616"/>
            <a:ext cx="2615184" cy="310896"/>
          </a:xfrm>
          <a:prstGeom prst="rect">
            <a:avLst/>
          </a:prstGeom>
          <a:noFill/>
          <a:ln/>
        </p:spPr>
        <p:txBody>
          <a:bodyPr wrap="square" rtlCol="0" anchor="ctr"/>
          <a:lstStyle/>
          <a:p>
            <a:pPr marL="0" indent="0">
              <a:buNone/>
            </a:pPr>
            <a:r>
              <a:rPr lang="en-US" sz="1200" b="1" dirty="0">
                <a:solidFill>
                  <a:srgbClr val="F57C00"/>
                </a:solidFill>
                <a:latin typeface="Calibri" pitchFamily="34" charset="0"/>
                <a:ea typeface="Calibri" pitchFamily="34" charset="-122"/>
                <a:cs typeface="Calibri" pitchFamily="34" charset="-120"/>
              </a:rPr>
              <a:t>📊 $90.8 mil millones en ingresos (2023)</a:t>
            </a:r>
            <a:endParaRPr lang="en-US" sz="1200" dirty="0"/>
          </a:p>
        </p:txBody>
      </p:sp>
      <p:sp>
        <p:nvSpPr>
          <p:cNvPr id="28" name="Text 26"/>
          <p:cNvSpPr/>
          <p:nvPr/>
        </p:nvSpPr>
        <p:spPr>
          <a:xfrm>
            <a:off x="6272784" y="1847088"/>
            <a:ext cx="2615184" cy="256032"/>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Arquitectura:</a:t>
            </a:r>
            <a:endParaRPr lang="en-US" sz="1200" dirty="0"/>
          </a:p>
        </p:txBody>
      </p:sp>
      <p:sp>
        <p:nvSpPr>
          <p:cNvPr id="29" name="Text 27"/>
          <p:cNvSpPr/>
          <p:nvPr/>
        </p:nvSpPr>
        <p:spPr>
          <a:xfrm>
            <a:off x="6272784" y="2103120"/>
            <a:ext cx="2615184" cy="13716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Arquitectura de microservicios desde el 'Bezos API Mandate' de 2002. DynamoDB es AP. Cada servicio tiene su propia base de datos.</a:t>
            </a:r>
            <a:endParaRPr lang="en-US" sz="1200" dirty="0"/>
          </a:p>
        </p:txBody>
      </p:sp>
      <p:sp>
        <p:nvSpPr>
          <p:cNvPr id="30" name="Shape 28"/>
          <p:cNvSpPr/>
          <p:nvPr/>
        </p:nvSpPr>
        <p:spPr>
          <a:xfrm>
            <a:off x="6272784" y="3493008"/>
            <a:ext cx="2578608" cy="36576"/>
          </a:xfrm>
          <a:prstGeom prst="rect">
            <a:avLst/>
          </a:prstGeom>
          <a:solidFill>
            <a:srgbClr val="DDDDDD"/>
          </a:solidFill>
          <a:ln w="12700">
            <a:solidFill>
              <a:srgbClr val="DDDDDD"/>
            </a:solidFill>
            <a:prstDash val="solid"/>
          </a:ln>
        </p:spPr>
      </p:sp>
      <p:sp>
        <p:nvSpPr>
          <p:cNvPr id="31" name="Text 29"/>
          <p:cNvSpPr/>
          <p:nvPr/>
        </p:nvSpPr>
        <p:spPr>
          <a:xfrm>
            <a:off x="6272784" y="3584448"/>
            <a:ext cx="2615184" cy="1216152"/>
          </a:xfrm>
          <a:prstGeom prst="rect">
            <a:avLst/>
          </a:prstGeom>
          <a:noFill/>
          <a:ln/>
        </p:spPr>
        <p:txBody>
          <a:bodyPr wrap="square" rtlCol="0" anchor="ctr"/>
          <a:lstStyle/>
          <a:p>
            <a:pPr marL="0" indent="0">
              <a:buNone/>
            </a:pPr>
            <a:r>
              <a:rPr lang="en-US" sz="1150" i="1" dirty="0">
                <a:solidFill>
                  <a:srgbClr val="1A237E"/>
                </a:solidFill>
                <a:latin typeface="Calibri" pitchFamily="34" charset="0"/>
                <a:ea typeface="Calibri" pitchFamily="34" charset="-122"/>
                <a:cs typeface="Calibri" pitchFamily="34" charset="-120"/>
              </a:rPr>
              <a:t>💡 Lección: Bezos prohibió que los servicios se comuniquen excepto por APIs — origen de los microservicios modernos.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0D2137"/>
          </a:solidFill>
          <a:ln w="12700">
            <a:solidFill>
              <a:srgbClr val="0D2137"/>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1</a:t>
            </a:r>
            <a:endParaRPr lang="en-US" sz="800" dirty="0"/>
          </a:p>
        </p:txBody>
      </p:sp>
      <p:sp>
        <p:nvSpPr>
          <p:cNvPr id="5" name="Shape 3"/>
          <p:cNvSpPr/>
          <p:nvPr/>
        </p:nvSpPr>
        <p:spPr>
          <a:xfrm>
            <a:off x="0" y="182880"/>
            <a:ext cx="2743200" cy="310896"/>
          </a:xfrm>
          <a:prstGeom prst="rect">
            <a:avLst/>
          </a:prstGeom>
          <a:solidFill>
            <a:srgbClr val="00BFA5"/>
          </a:solidFill>
          <a:ln w="12700">
            <a:solidFill>
              <a:srgbClr val="00BFA5"/>
            </a:solidFill>
            <a:prstDash val="solid"/>
          </a:ln>
        </p:spPr>
      </p:sp>
      <p:sp>
        <p:nvSpPr>
          <p:cNvPr id="6" name="Text 4"/>
          <p:cNvSpPr/>
          <p:nvPr/>
        </p:nvSpPr>
        <p:spPr>
          <a:xfrm>
            <a:off x="91440" y="182880"/>
            <a:ext cx="256032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6 · Práctica en Clase</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Práctica en Clase — Semana 1</a:t>
            </a:r>
            <a:endParaRPr lang="en-US" sz="2200" dirty="0"/>
          </a:p>
        </p:txBody>
      </p:sp>
      <p:sp>
        <p:nvSpPr>
          <p:cNvPr id="8" name="Text 6"/>
          <p:cNvSpPr/>
          <p:nvPr/>
        </p:nvSpPr>
        <p:spPr>
          <a:xfrm>
            <a:off x="365760" y="914400"/>
            <a:ext cx="8412480" cy="237744"/>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"Diagrama e identifica un SD cotidiano"  ·  Duración: 25 minutos  ·  Grupos de 3-4 personas</a:t>
            </a:r>
            <a:endParaRPr lang="en-US" sz="1150" dirty="0"/>
          </a:p>
        </p:txBody>
      </p:sp>
      <p:sp>
        <p:nvSpPr>
          <p:cNvPr id="9" name="Shape 7"/>
          <p:cNvSpPr/>
          <p:nvPr/>
        </p:nvSpPr>
        <p:spPr>
          <a:xfrm>
            <a:off x="274320" y="1207008"/>
            <a:ext cx="8595360" cy="682142"/>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10" name="Shape 8"/>
          <p:cNvSpPr/>
          <p:nvPr/>
        </p:nvSpPr>
        <p:spPr>
          <a:xfrm>
            <a:off x="274320" y="1207008"/>
            <a:ext cx="457200" cy="682142"/>
          </a:xfrm>
          <a:prstGeom prst="rect">
            <a:avLst/>
          </a:prstGeom>
          <a:solidFill>
            <a:srgbClr val="0D2137"/>
          </a:solidFill>
          <a:ln w="12700">
            <a:solidFill>
              <a:srgbClr val="0D2137"/>
            </a:solidFill>
            <a:prstDash val="solid"/>
          </a:ln>
        </p:spPr>
      </p:sp>
      <p:sp>
        <p:nvSpPr>
          <p:cNvPr id="11" name="Text 9"/>
          <p:cNvSpPr/>
          <p:nvPr/>
        </p:nvSpPr>
        <p:spPr>
          <a:xfrm>
            <a:off x="274320" y="1207008"/>
            <a:ext cx="457200" cy="68214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Text 10"/>
          <p:cNvSpPr/>
          <p:nvPr/>
        </p:nvSpPr>
        <p:spPr>
          <a:xfrm>
            <a:off x="804672" y="1252728"/>
            <a:ext cx="7955280" cy="28650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Formar grupos (2 min)</a:t>
            </a:r>
            <a:endParaRPr lang="en-US" sz="1400" dirty="0"/>
          </a:p>
        </p:txBody>
      </p:sp>
      <p:sp>
        <p:nvSpPr>
          <p:cNvPr id="13" name="Text 11"/>
          <p:cNvSpPr/>
          <p:nvPr/>
        </p:nvSpPr>
        <p:spPr>
          <a:xfrm>
            <a:off x="804672" y="1507151"/>
            <a:ext cx="7955280" cy="354714"/>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El docente asigna los grupos de 3-4 estudiantes que serán permanentes durante todo el semestre.</a:t>
            </a:r>
            <a:endParaRPr lang="en-US" sz="1250" dirty="0"/>
          </a:p>
        </p:txBody>
      </p:sp>
      <p:sp>
        <p:nvSpPr>
          <p:cNvPr id="14" name="Shape 12"/>
          <p:cNvSpPr/>
          <p:nvPr/>
        </p:nvSpPr>
        <p:spPr>
          <a:xfrm>
            <a:off x="274320" y="1944014"/>
            <a:ext cx="8595360" cy="682142"/>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15" name="Shape 13"/>
          <p:cNvSpPr/>
          <p:nvPr/>
        </p:nvSpPr>
        <p:spPr>
          <a:xfrm>
            <a:off x="274320" y="1944014"/>
            <a:ext cx="457200" cy="682142"/>
          </a:xfrm>
          <a:prstGeom prst="rect">
            <a:avLst/>
          </a:prstGeom>
          <a:solidFill>
            <a:srgbClr val="0D2137"/>
          </a:solidFill>
          <a:ln w="12700">
            <a:solidFill>
              <a:srgbClr val="0D2137"/>
            </a:solidFill>
            <a:prstDash val="solid"/>
          </a:ln>
        </p:spPr>
      </p:sp>
      <p:sp>
        <p:nvSpPr>
          <p:cNvPr id="16" name="Text 14"/>
          <p:cNvSpPr/>
          <p:nvPr/>
        </p:nvSpPr>
        <p:spPr>
          <a:xfrm>
            <a:off x="274320" y="1944014"/>
            <a:ext cx="457200" cy="68214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Text 15"/>
          <p:cNvSpPr/>
          <p:nvPr/>
        </p:nvSpPr>
        <p:spPr>
          <a:xfrm>
            <a:off x="804672" y="1989734"/>
            <a:ext cx="7955280" cy="28650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Elegir un SD real (3 min)</a:t>
            </a:r>
            <a:endParaRPr lang="en-US" sz="1400" dirty="0"/>
          </a:p>
        </p:txBody>
      </p:sp>
      <p:sp>
        <p:nvSpPr>
          <p:cNvPr id="18" name="Text 16"/>
          <p:cNvSpPr/>
          <p:nvPr/>
        </p:nvSpPr>
        <p:spPr>
          <a:xfrm>
            <a:off x="804672" y="2244157"/>
            <a:ext cx="7955280" cy="354714"/>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Elijan un SD que usen a diario: WhatsApp, TikTok, Campus Virtual UTEQ, Spotify, Uber, etc.</a:t>
            </a:r>
            <a:endParaRPr lang="en-US" sz="1250" dirty="0"/>
          </a:p>
        </p:txBody>
      </p:sp>
      <p:sp>
        <p:nvSpPr>
          <p:cNvPr id="19" name="Shape 17"/>
          <p:cNvSpPr/>
          <p:nvPr/>
        </p:nvSpPr>
        <p:spPr>
          <a:xfrm>
            <a:off x="274320" y="2681021"/>
            <a:ext cx="8595360" cy="682142"/>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20" name="Shape 18"/>
          <p:cNvSpPr/>
          <p:nvPr/>
        </p:nvSpPr>
        <p:spPr>
          <a:xfrm>
            <a:off x="274320" y="2681021"/>
            <a:ext cx="457200" cy="682142"/>
          </a:xfrm>
          <a:prstGeom prst="rect">
            <a:avLst/>
          </a:prstGeom>
          <a:solidFill>
            <a:srgbClr val="1565C0"/>
          </a:solidFill>
          <a:ln w="12700">
            <a:solidFill>
              <a:srgbClr val="1565C0"/>
            </a:solidFill>
            <a:prstDash val="solid"/>
          </a:ln>
        </p:spPr>
      </p:sp>
      <p:sp>
        <p:nvSpPr>
          <p:cNvPr id="21" name="Text 19"/>
          <p:cNvSpPr/>
          <p:nvPr/>
        </p:nvSpPr>
        <p:spPr>
          <a:xfrm>
            <a:off x="274320" y="2681021"/>
            <a:ext cx="457200" cy="68214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20"/>
          <p:cNvSpPr/>
          <p:nvPr/>
        </p:nvSpPr>
        <p:spPr>
          <a:xfrm>
            <a:off x="804672" y="2726741"/>
            <a:ext cx="7955280" cy="28650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Diagramar (12 min)</a:t>
            </a:r>
            <a:endParaRPr lang="en-US" sz="1400" dirty="0"/>
          </a:p>
        </p:txBody>
      </p:sp>
      <p:sp>
        <p:nvSpPr>
          <p:cNvPr id="23" name="Text 21"/>
          <p:cNvSpPr/>
          <p:nvPr/>
        </p:nvSpPr>
        <p:spPr>
          <a:xfrm>
            <a:off x="804672" y="2981163"/>
            <a:ext cx="7955280" cy="354714"/>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Dibujen el SD con: nodos (rectángulos), conexiones de red (líneas), flujo de datos (flechas etiquetadas). Identifiquen: clientes, servidores, BD, red.</a:t>
            </a:r>
            <a:endParaRPr lang="en-US" sz="1250" dirty="0"/>
          </a:p>
        </p:txBody>
      </p:sp>
      <p:sp>
        <p:nvSpPr>
          <p:cNvPr id="24" name="Shape 22"/>
          <p:cNvSpPr/>
          <p:nvPr/>
        </p:nvSpPr>
        <p:spPr>
          <a:xfrm>
            <a:off x="274320" y="3418027"/>
            <a:ext cx="8595360" cy="682142"/>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25" name="Shape 23"/>
          <p:cNvSpPr/>
          <p:nvPr/>
        </p:nvSpPr>
        <p:spPr>
          <a:xfrm>
            <a:off x="274320" y="3418027"/>
            <a:ext cx="457200" cy="682142"/>
          </a:xfrm>
          <a:prstGeom prst="rect">
            <a:avLst/>
          </a:prstGeom>
          <a:solidFill>
            <a:srgbClr val="00BFA5"/>
          </a:solidFill>
          <a:ln w="12700">
            <a:solidFill>
              <a:srgbClr val="00BFA5"/>
            </a:solidFill>
            <a:prstDash val="solid"/>
          </a:ln>
        </p:spPr>
      </p:sp>
      <p:sp>
        <p:nvSpPr>
          <p:cNvPr id="26" name="Text 24"/>
          <p:cNvSpPr/>
          <p:nvPr/>
        </p:nvSpPr>
        <p:spPr>
          <a:xfrm>
            <a:off x="274320" y="3418027"/>
            <a:ext cx="457200" cy="68214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5"/>
          <p:cNvSpPr/>
          <p:nvPr/>
        </p:nvSpPr>
        <p:spPr>
          <a:xfrm>
            <a:off x="804672" y="3463747"/>
            <a:ext cx="7955280" cy="28650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Analizar propiedades (5 min)</a:t>
            </a:r>
            <a:endParaRPr lang="en-US" sz="1400" dirty="0"/>
          </a:p>
        </p:txBody>
      </p:sp>
      <p:sp>
        <p:nvSpPr>
          <p:cNvPr id="28" name="Text 26"/>
          <p:cNvSpPr/>
          <p:nvPr/>
        </p:nvSpPr>
        <p:spPr>
          <a:xfrm>
            <a:off x="804672" y="3718170"/>
            <a:ext cx="7955280" cy="354714"/>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¿Qué transparencias ANSA tiene? ¿Es CP, AP o CA? ¿Cuál es el punto de fallo más crítico?</a:t>
            </a:r>
            <a:endParaRPr lang="en-US" sz="1250" dirty="0"/>
          </a:p>
        </p:txBody>
      </p:sp>
      <p:sp>
        <p:nvSpPr>
          <p:cNvPr id="29" name="Shape 27"/>
          <p:cNvSpPr/>
          <p:nvPr/>
        </p:nvSpPr>
        <p:spPr>
          <a:xfrm>
            <a:off x="274320" y="4155034"/>
            <a:ext cx="8595360" cy="682142"/>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30" name="Shape 28"/>
          <p:cNvSpPr/>
          <p:nvPr/>
        </p:nvSpPr>
        <p:spPr>
          <a:xfrm>
            <a:off x="274320" y="4155034"/>
            <a:ext cx="457200" cy="682142"/>
          </a:xfrm>
          <a:prstGeom prst="rect">
            <a:avLst/>
          </a:prstGeom>
          <a:solidFill>
            <a:srgbClr val="0D2137"/>
          </a:solidFill>
          <a:ln w="12700">
            <a:solidFill>
              <a:srgbClr val="0D2137"/>
            </a:solidFill>
            <a:prstDash val="solid"/>
          </a:ln>
        </p:spPr>
      </p:sp>
      <p:sp>
        <p:nvSpPr>
          <p:cNvPr id="31" name="Text 29"/>
          <p:cNvSpPr/>
          <p:nvPr/>
        </p:nvSpPr>
        <p:spPr>
          <a:xfrm>
            <a:off x="274320" y="4155034"/>
            <a:ext cx="457200" cy="68214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2" name="Text 30"/>
          <p:cNvSpPr/>
          <p:nvPr/>
        </p:nvSpPr>
        <p:spPr>
          <a:xfrm>
            <a:off x="804672" y="4200754"/>
            <a:ext cx="7955280" cy="286500"/>
          </a:xfrm>
          <a:prstGeom prst="rect">
            <a:avLst/>
          </a:prstGeom>
          <a:noFill/>
          <a:ln/>
        </p:spPr>
        <p:txBody>
          <a:bodyPr wrap="square"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Exposición rápida (3 min)</a:t>
            </a:r>
            <a:endParaRPr lang="en-US" sz="1400" dirty="0"/>
          </a:p>
        </p:txBody>
      </p:sp>
      <p:sp>
        <p:nvSpPr>
          <p:cNvPr id="33" name="Text 31"/>
          <p:cNvSpPr/>
          <p:nvPr/>
        </p:nvSpPr>
        <p:spPr>
          <a:xfrm>
            <a:off x="804672" y="4455176"/>
            <a:ext cx="7955280" cy="354714"/>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Un representante expone el diagrama. 1 minuto exacto por grupo — el docente mide el tiempo.</a:t>
            </a:r>
            <a:endParaRPr lang="en-US" sz="1250" dirty="0"/>
          </a:p>
        </p:txBody>
      </p:sp>
      <p:sp>
        <p:nvSpPr>
          <p:cNvPr id="34" name="Shape 32"/>
          <p:cNvSpPr/>
          <p:nvPr/>
        </p:nvSpPr>
        <p:spPr>
          <a:xfrm>
            <a:off x="274320" y="4846320"/>
            <a:ext cx="8595360" cy="36576"/>
          </a:xfrm>
          <a:prstGeom prst="rect">
            <a:avLst/>
          </a:prstGeom>
          <a:solidFill>
            <a:srgbClr val="00BFA5"/>
          </a:solidFill>
          <a:ln w="12700">
            <a:solidFill>
              <a:srgbClr val="00BFA5"/>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0BFA5"/>
          </a:solidFill>
          <a:ln w="12700">
            <a:solidFill>
              <a:srgbClr val="00BFA5"/>
            </a:solidFill>
            <a:prstDash val="solid"/>
          </a:ln>
        </p:spPr>
      </p:sp>
      <p:sp>
        <p:nvSpPr>
          <p:cNvPr id="3" name="Shape 1"/>
          <p:cNvSpPr/>
          <p:nvPr/>
        </p:nvSpPr>
        <p:spPr>
          <a:xfrm>
            <a:off x="457200" y="0"/>
            <a:ext cx="109728" cy="5143500"/>
          </a:xfrm>
          <a:prstGeom prst="rect">
            <a:avLst/>
          </a:prstGeom>
          <a:solidFill>
            <a:srgbClr val="1565C0"/>
          </a:solidFill>
          <a:ln w="12700">
            <a:solidFill>
              <a:srgbClr val="1565C0"/>
            </a:solidFill>
            <a:prstDash val="solid"/>
          </a:ln>
        </p:spPr>
      </p:sp>
      <p:sp>
        <p:nvSpPr>
          <p:cNvPr id="4" name="Text 2"/>
          <p:cNvSpPr/>
          <p:nvPr/>
        </p:nvSpPr>
        <p:spPr>
          <a:xfrm>
            <a:off x="713232" y="164592"/>
            <a:ext cx="8229600" cy="438912"/>
          </a:xfrm>
          <a:prstGeom prst="rect">
            <a:avLst/>
          </a:prstGeom>
          <a:noFill/>
          <a:ln/>
        </p:spPr>
        <p:txBody>
          <a:bodyPr wrap="square" rtlCol="0" anchor="ctr"/>
          <a:lstStyle/>
          <a:p>
            <a:pPr marL="0" indent="0">
              <a:buNone/>
            </a:pPr>
            <a:r>
              <a:rPr lang="en-US" sz="2400" b="1" dirty="0">
                <a:solidFill>
                  <a:srgbClr val="00BFA5"/>
                </a:solidFill>
                <a:latin typeface="Calibri" pitchFamily="34" charset="0"/>
                <a:ea typeface="Calibri" pitchFamily="34" charset="-122"/>
                <a:cs typeface="Calibri" pitchFamily="34" charset="-120"/>
              </a:rPr>
              <a:t>Resumen · Semana 1</a:t>
            </a:r>
            <a:endParaRPr lang="en-US" sz="2400" dirty="0"/>
          </a:p>
        </p:txBody>
      </p:sp>
      <p:sp>
        <p:nvSpPr>
          <p:cNvPr id="5" name="Text 3"/>
          <p:cNvSpPr/>
          <p:nvPr/>
        </p:nvSpPr>
        <p:spPr>
          <a:xfrm>
            <a:off x="713232" y="566928"/>
            <a:ext cx="8229600" cy="256032"/>
          </a:xfrm>
          <a:prstGeom prst="rect">
            <a:avLst/>
          </a:prstGeom>
          <a:noFill/>
          <a:ln/>
        </p:spPr>
        <p:txBody>
          <a:bodyPr wrap="square" rtlCol="0" anchor="ctr"/>
          <a:lstStyle/>
          <a:p>
            <a:pPr marL="0" indent="0">
              <a:buNone/>
            </a:pPr>
            <a:r>
              <a:rPr lang="en-US" sz="1200" i="1" dirty="0">
                <a:solidFill>
                  <a:srgbClr val="AAAAAA"/>
                </a:solidFill>
                <a:latin typeface="Calibri" pitchFamily="34" charset="0"/>
                <a:ea typeface="Calibri" pitchFamily="34" charset="-122"/>
                <a:cs typeface="Calibri" pitchFamily="34" charset="-120"/>
              </a:rPr>
              <a:t>Lo que aprendieron hoy — lo que llevan al resto del semestre</a:t>
            </a:r>
            <a:endParaRPr lang="en-US" sz="1200" dirty="0"/>
          </a:p>
        </p:txBody>
      </p:sp>
      <p:sp>
        <p:nvSpPr>
          <p:cNvPr id="6" name="Text 4"/>
          <p:cNvSpPr/>
          <p:nvPr/>
        </p:nvSpPr>
        <p:spPr>
          <a:xfrm>
            <a:off x="713232" y="896112"/>
            <a:ext cx="8229600" cy="402336"/>
          </a:xfrm>
          <a:prstGeom prst="rect">
            <a:avLst/>
          </a:prstGeom>
          <a:noFill/>
          <a:ln/>
        </p:spPr>
        <p:txBody>
          <a:bodyPr wrap="square" rtlCol="0" anchor="ctr"/>
          <a:lstStyle/>
          <a:p>
            <a:pPr marL="0" indent="0">
              <a:buNone/>
            </a:pPr>
            <a:r>
              <a:rPr lang="en-US" sz="1600" b="1" dirty="0">
                <a:solidFill>
                  <a:srgbClr val="00BFA5"/>
                </a:solidFill>
                <a:latin typeface="Calibri" pitchFamily="34" charset="0"/>
                <a:ea typeface="Calibri" pitchFamily="34" charset="-122"/>
                <a:cs typeface="Calibri" pitchFamily="34" charset="-120"/>
              </a:rPr>
              <a:t>01  </a:t>
            </a:r>
            <a:r>
              <a:rPr lang="en-US" sz="1300" dirty="0">
                <a:solidFill>
                  <a:srgbClr val="FFFFFF"/>
                </a:solidFill>
                <a:latin typeface="Calibri" pitchFamily="34" charset="0"/>
                <a:ea typeface="Calibri" pitchFamily="34" charset="-122"/>
                <a:cs typeface="Calibri" pitchFamily="34" charset="-120"/>
              </a:rPr>
              <a:t>Un SD es una colección de computadoras independientes que aparece como un sistema único.</a:t>
            </a:r>
            <a:endParaRPr lang="en-US" sz="1600" dirty="0"/>
          </a:p>
        </p:txBody>
      </p:sp>
      <p:sp>
        <p:nvSpPr>
          <p:cNvPr id="7" name="Text 5"/>
          <p:cNvSpPr/>
          <p:nvPr/>
        </p:nvSpPr>
        <p:spPr>
          <a:xfrm>
            <a:off x="713232" y="1335024"/>
            <a:ext cx="8229600" cy="402336"/>
          </a:xfrm>
          <a:prstGeom prst="rect">
            <a:avLst/>
          </a:prstGeom>
          <a:noFill/>
          <a:ln/>
        </p:spPr>
        <p:txBody>
          <a:bodyPr wrap="square" rtlCol="0" anchor="ctr"/>
          <a:lstStyle/>
          <a:p>
            <a:pPr marL="0" indent="0">
              <a:buNone/>
            </a:pPr>
            <a:r>
              <a:rPr lang="en-US" sz="1600" b="1" dirty="0">
                <a:solidFill>
                  <a:srgbClr val="00BFA5"/>
                </a:solidFill>
                <a:latin typeface="Calibri" pitchFamily="34" charset="0"/>
                <a:ea typeface="Calibri" pitchFamily="34" charset="-122"/>
                <a:cs typeface="Calibri" pitchFamily="34" charset="-120"/>
              </a:rPr>
              <a:t>02  </a:t>
            </a:r>
            <a:r>
              <a:rPr lang="en-US" sz="1300" dirty="0">
                <a:solidFill>
                  <a:srgbClr val="FFFFFF"/>
                </a:solidFill>
                <a:latin typeface="Calibri" pitchFamily="34" charset="0"/>
                <a:ea typeface="Calibri" pitchFamily="34" charset="-122"/>
                <a:cs typeface="Calibri" pitchFamily="34" charset="-120"/>
              </a:rPr>
              <a:t>Las 8 transparencias ANSA definen el nivel ideal de ocultamiento de complejidad.</a:t>
            </a:r>
            <a:endParaRPr lang="en-US" sz="1600" dirty="0"/>
          </a:p>
        </p:txBody>
      </p:sp>
      <p:sp>
        <p:nvSpPr>
          <p:cNvPr id="8" name="Text 6"/>
          <p:cNvSpPr/>
          <p:nvPr/>
        </p:nvSpPr>
        <p:spPr>
          <a:xfrm>
            <a:off x="713232" y="1773936"/>
            <a:ext cx="8229600" cy="402336"/>
          </a:xfrm>
          <a:prstGeom prst="rect">
            <a:avLst/>
          </a:prstGeom>
          <a:noFill/>
          <a:ln/>
        </p:spPr>
        <p:txBody>
          <a:bodyPr wrap="square" rtlCol="0" anchor="ctr"/>
          <a:lstStyle/>
          <a:p>
            <a:pPr marL="0" indent="0">
              <a:buNone/>
            </a:pPr>
            <a:r>
              <a:rPr lang="en-US" sz="1600" b="1" dirty="0">
                <a:solidFill>
                  <a:srgbClr val="00BFA5"/>
                </a:solidFill>
                <a:latin typeface="Calibri" pitchFamily="34" charset="0"/>
                <a:ea typeface="Calibri" pitchFamily="34" charset="-122"/>
                <a:cs typeface="Calibri" pitchFamily="34" charset="-120"/>
              </a:rPr>
              <a:t>03  </a:t>
            </a:r>
            <a:r>
              <a:rPr lang="en-US" sz="1300" dirty="0">
                <a:solidFill>
                  <a:srgbClr val="FFFFFF"/>
                </a:solidFill>
                <a:latin typeface="Calibri" pitchFamily="34" charset="0"/>
                <a:ea typeface="Calibri" pitchFamily="34" charset="-122"/>
                <a:cs typeface="Calibri" pitchFamily="34" charset="-120"/>
              </a:rPr>
              <a:t>Teorema CAP: solo 2 de 3 propiedades (Consistencia, Disponibilidad, Tolerancia) simultáneamente.</a:t>
            </a:r>
            <a:endParaRPr lang="en-US" sz="1600" dirty="0"/>
          </a:p>
        </p:txBody>
      </p:sp>
      <p:sp>
        <p:nvSpPr>
          <p:cNvPr id="9" name="Text 7"/>
          <p:cNvSpPr/>
          <p:nvPr/>
        </p:nvSpPr>
        <p:spPr>
          <a:xfrm>
            <a:off x="713232" y="2212848"/>
            <a:ext cx="8229600" cy="402336"/>
          </a:xfrm>
          <a:prstGeom prst="rect">
            <a:avLst/>
          </a:prstGeom>
          <a:noFill/>
          <a:ln/>
        </p:spPr>
        <p:txBody>
          <a:bodyPr wrap="square" rtlCol="0" anchor="ctr"/>
          <a:lstStyle/>
          <a:p>
            <a:pPr marL="0" indent="0">
              <a:buNone/>
            </a:pPr>
            <a:r>
              <a:rPr lang="en-US" sz="1600" b="1" dirty="0">
                <a:solidFill>
                  <a:srgbClr val="00BFA5"/>
                </a:solidFill>
                <a:latin typeface="Calibri" pitchFamily="34" charset="0"/>
                <a:ea typeface="Calibri" pitchFamily="34" charset="-122"/>
                <a:cs typeface="Calibri" pitchFamily="34" charset="-120"/>
              </a:rPr>
              <a:t>04  </a:t>
            </a:r>
            <a:r>
              <a:rPr lang="en-US" sz="1300" dirty="0">
                <a:solidFill>
                  <a:srgbClr val="FFFFFF"/>
                </a:solidFill>
                <a:latin typeface="Calibri" pitchFamily="34" charset="0"/>
                <a:ea typeface="Calibri" pitchFamily="34" charset="-122"/>
                <a:cs typeface="Calibri" pitchFamily="34" charset="-120"/>
              </a:rPr>
              <a:t>Escalabilidad horizontal + tolerancia a fallos = pilares de Google, Netflix, Amazon.</a:t>
            </a:r>
            <a:endParaRPr lang="en-US" sz="1600" dirty="0"/>
          </a:p>
        </p:txBody>
      </p:sp>
      <p:sp>
        <p:nvSpPr>
          <p:cNvPr id="10" name="Text 8"/>
          <p:cNvSpPr/>
          <p:nvPr/>
        </p:nvSpPr>
        <p:spPr>
          <a:xfrm>
            <a:off x="713232" y="2651760"/>
            <a:ext cx="8229600" cy="402336"/>
          </a:xfrm>
          <a:prstGeom prst="rect">
            <a:avLst/>
          </a:prstGeom>
          <a:noFill/>
          <a:ln/>
        </p:spPr>
        <p:txBody>
          <a:bodyPr wrap="square" rtlCol="0" anchor="ctr"/>
          <a:lstStyle/>
          <a:p>
            <a:pPr marL="0" indent="0">
              <a:buNone/>
            </a:pPr>
            <a:r>
              <a:rPr lang="en-US" sz="1600" b="1" dirty="0">
                <a:solidFill>
                  <a:srgbClr val="00BFA5"/>
                </a:solidFill>
                <a:latin typeface="Calibri" pitchFamily="34" charset="0"/>
                <a:ea typeface="Calibri" pitchFamily="34" charset="-122"/>
                <a:cs typeface="Calibri" pitchFamily="34" charset="-120"/>
              </a:rPr>
              <a:t>05  </a:t>
            </a:r>
            <a:r>
              <a:rPr lang="en-US" sz="1300" dirty="0">
                <a:solidFill>
                  <a:srgbClr val="FFFFFF"/>
                </a:solidFill>
                <a:latin typeface="Calibri" pitchFamily="34" charset="0"/>
                <a:ea typeface="Calibri" pitchFamily="34" charset="-122"/>
                <a:cs typeface="Calibri" pitchFamily="34" charset="-120"/>
              </a:rPr>
              <a:t>Retos principales: consistencia de datos, latencia de red, depuración distribuida.</a:t>
            </a:r>
            <a:endParaRPr lang="en-US" sz="1600" dirty="0"/>
          </a:p>
        </p:txBody>
      </p:sp>
      <p:sp>
        <p:nvSpPr>
          <p:cNvPr id="11" name="Shape 9"/>
          <p:cNvSpPr/>
          <p:nvPr/>
        </p:nvSpPr>
        <p:spPr>
          <a:xfrm>
            <a:off x="713232" y="3090672"/>
            <a:ext cx="8229600" cy="0"/>
          </a:xfrm>
          <a:prstGeom prst="line">
            <a:avLst/>
          </a:prstGeom>
          <a:noFill/>
          <a:ln w="12700">
            <a:solidFill>
              <a:srgbClr val="334455"/>
            </a:solidFill>
            <a:prstDash val="solid"/>
          </a:ln>
        </p:spPr>
      </p:sp>
      <p:sp>
        <p:nvSpPr>
          <p:cNvPr id="12" name="Text 10"/>
          <p:cNvSpPr/>
          <p:nvPr/>
        </p:nvSpPr>
        <p:spPr>
          <a:xfrm>
            <a:off x="713232" y="3154680"/>
            <a:ext cx="8229600" cy="329184"/>
          </a:xfrm>
          <a:prstGeom prst="rect">
            <a:avLst/>
          </a:prstGeom>
          <a:noFill/>
          <a:ln/>
        </p:spPr>
        <p:txBody>
          <a:bodyPr wrap="square" rtlCol="0" anchor="ctr"/>
          <a:lstStyle/>
          <a:p>
            <a:pPr marL="0" indent="0">
              <a:buNone/>
            </a:pPr>
            <a:r>
              <a:rPr lang="en-US" sz="1400" b="1" dirty="0">
                <a:solidFill>
                  <a:srgbClr val="00BFA5"/>
                </a:solidFill>
                <a:latin typeface="Calibri" pitchFamily="34" charset="0"/>
                <a:ea typeface="Calibri" pitchFamily="34" charset="-122"/>
                <a:cs typeface="Calibri" pitchFamily="34" charset="-120"/>
              </a:rPr>
              <a:t>📚  Tareas para la próxima sesión</a:t>
            </a:r>
            <a:endParaRPr lang="en-US" sz="1400" dirty="0"/>
          </a:p>
        </p:txBody>
      </p:sp>
      <p:sp>
        <p:nvSpPr>
          <p:cNvPr id="13" name="Text 11"/>
          <p:cNvSpPr/>
          <p:nvPr/>
        </p:nvSpPr>
        <p:spPr>
          <a:xfrm>
            <a:off x="713232" y="3538728"/>
            <a:ext cx="8229600" cy="329184"/>
          </a:xfrm>
          <a:prstGeom prst="rect">
            <a:avLst/>
          </a:prstGeom>
          <a:noFill/>
          <a:ln/>
        </p:spPr>
        <p:txBody>
          <a:bodyPr wrap="square" rtlCol="0" anchor="ctr"/>
          <a:lstStyle/>
          <a:p>
            <a:pPr marL="0" indent="0">
              <a:buNone/>
            </a:pPr>
            <a:r>
              <a:rPr lang="en-US" sz="1150" b="1" dirty="0">
                <a:solidFill>
                  <a:srgbClr val="00BFA5"/>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Leer: van Steen &amp; Tanenbaum — Cap. 1 (pp. 1-38). Descarga gratuita: https://www.distributed-systems.net</a:t>
            </a:r>
            <a:endParaRPr lang="en-US" sz="1150" dirty="0"/>
          </a:p>
        </p:txBody>
      </p:sp>
      <p:sp>
        <p:nvSpPr>
          <p:cNvPr id="14" name="Text 12"/>
          <p:cNvSpPr/>
          <p:nvPr/>
        </p:nvSpPr>
        <p:spPr>
          <a:xfrm>
            <a:off x="713232" y="3812344"/>
            <a:ext cx="8229600" cy="329184"/>
          </a:xfrm>
          <a:prstGeom prst="rect">
            <a:avLst/>
          </a:prstGeom>
          <a:noFill/>
          <a:ln/>
        </p:spPr>
        <p:txBody>
          <a:bodyPr wrap="square" rtlCol="0" anchor="ctr"/>
          <a:lstStyle/>
          <a:p>
            <a:pPr marL="0" indent="0">
              <a:buNone/>
            </a:pPr>
            <a:r>
              <a:rPr lang="en-US" sz="1150" b="1" dirty="0">
                <a:solidFill>
                  <a:srgbClr val="00BFA5"/>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TA-IND-01: Informe individual — 1 página sobre un SD propio, con propiedades CAP y ≥3 transparencias ANSA. Entrega: Semana 2.</a:t>
            </a:r>
            <a:endParaRPr lang="en-US" sz="1150" dirty="0"/>
          </a:p>
        </p:txBody>
      </p:sp>
      <p:sp>
        <p:nvSpPr>
          <p:cNvPr id="15" name="Text 13"/>
          <p:cNvSpPr/>
          <p:nvPr/>
        </p:nvSpPr>
        <p:spPr>
          <a:xfrm>
            <a:off x="713232" y="4100136"/>
            <a:ext cx="8229600" cy="329184"/>
          </a:xfrm>
          <a:prstGeom prst="rect">
            <a:avLst/>
          </a:prstGeom>
          <a:noFill/>
          <a:ln/>
        </p:spPr>
        <p:txBody>
          <a:bodyPr wrap="square" rtlCol="0" anchor="ctr"/>
          <a:lstStyle/>
          <a:p>
            <a:pPr marL="0" indent="0">
              <a:buNone/>
            </a:pPr>
            <a:r>
              <a:rPr lang="en-US" sz="1150" b="1" dirty="0">
                <a:solidFill>
                  <a:srgbClr val="00BFA5"/>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FORM-FB-01: Fichas Bibliográficas — mínimo 2 fuentes académicas sobre SD en formato IEEE.</a:t>
            </a:r>
            <a:endParaRPr lang="en-US" sz="1150" dirty="0"/>
          </a:p>
        </p:txBody>
      </p:sp>
      <p:sp>
        <p:nvSpPr>
          <p:cNvPr id="16" name="Text 14"/>
          <p:cNvSpPr/>
          <p:nvPr/>
        </p:nvSpPr>
        <p:spPr>
          <a:xfrm>
            <a:off x="713232" y="4352470"/>
            <a:ext cx="8229600" cy="329184"/>
          </a:xfrm>
          <a:prstGeom prst="rect">
            <a:avLst/>
          </a:prstGeom>
          <a:noFill/>
          <a:ln/>
        </p:spPr>
        <p:txBody>
          <a:bodyPr wrap="square" rtlCol="0" anchor="ctr"/>
          <a:lstStyle/>
          <a:p>
            <a:pPr marL="0" indent="0">
              <a:buNone/>
            </a:pPr>
            <a:r>
              <a:rPr lang="en-US" sz="1150" b="1" dirty="0">
                <a:solidFill>
                  <a:srgbClr val="00BFA5"/>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Proponer internamente (en el grupo) el SD a desarrollar en el PFC del semestre.</a:t>
            </a:r>
            <a:endParaRPr lang="en-US" sz="1150" dirty="0"/>
          </a:p>
        </p:txBody>
      </p:sp>
      <p:sp>
        <p:nvSpPr>
          <p:cNvPr id="17" name="Text 15"/>
          <p:cNvSpPr/>
          <p:nvPr/>
        </p:nvSpPr>
        <p:spPr>
          <a:xfrm>
            <a:off x="585645" y="4922448"/>
            <a:ext cx="8229600" cy="201168"/>
          </a:xfrm>
          <a:prstGeom prst="rect">
            <a:avLst/>
          </a:prstGeom>
          <a:noFill/>
          <a:ln/>
        </p:spPr>
        <p:txBody>
          <a:bodyPr wrap="square" rtlCol="0" anchor="ctr"/>
          <a:lstStyle/>
          <a:p>
            <a:pPr marL="0" indent="0" algn="ctr">
              <a:buNone/>
            </a:pPr>
            <a:r>
              <a:rPr lang="en-US" sz="1050" i="1" dirty="0">
                <a:solidFill>
                  <a:srgbClr val="888888"/>
                </a:solidFill>
                <a:latin typeface="Calibri" pitchFamily="34" charset="0"/>
                <a:ea typeface="Calibri" pitchFamily="34" charset="-122"/>
                <a:cs typeface="Calibri" pitchFamily="34" charset="-120"/>
              </a:rPr>
              <a:t>Próxima semana: Tema 2 — Comunicación en SD: sockets, RPC e IPC</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3695</Words>
  <Application>Microsoft Office PowerPoint</Application>
  <PresentationFormat>Presentación en pantalla (16:9)</PresentationFormat>
  <Paragraphs>199</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Distribuidas — Semana 1</dc:title>
  <dc:subject>PptxGenJS Presentation</dc:subject>
  <dc:creator>UTEQ — Ing. de Software</dc:creator>
  <cp:lastModifiedBy>GLEISTON CICERON GUERRERO ULLOA</cp:lastModifiedBy>
  <cp:revision>4</cp:revision>
  <dcterms:created xsi:type="dcterms:W3CDTF">2026-05-19T03:39:19Z</dcterms:created>
  <dcterms:modified xsi:type="dcterms:W3CDTF">2026-10-29T20:49:15Z</dcterms:modified>
</cp:coreProperties>
</file>