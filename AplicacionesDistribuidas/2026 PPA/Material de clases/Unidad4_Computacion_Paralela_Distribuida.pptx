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64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9237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dias estimados estudiantes. Bienvenidos a la Unidad cuatro de Aplicaciones Distribuidas, titulada Computacion Paralela y Distribuida.
Hasta ahora hemos trabajado los fundamentos de sistemas distribuidos, las arquitecturas de microservicios y las bases de datos distribuidas. En esta unidad damos un paso mas: vamos a estudiar como aprovechar cientos o miles de nucleos de CPU (Central Processing Unit, Unidad Central de Procesamiento) y de nodos interconectados para resolver problemas que un solo computador no podria terminar en tiempo razonable.
El recorrido tiene tres bloques. Primero, los fundamentos teoricos y las herramientas clasicas de paralelismo, OpenMP y MPI. Segundo, la computacion en la nube, con IaaS, PaaS, SaaS, FaaS y Edge Computing. Y tercero, el procesamiento distribuido de datos, con MapReduce, Hadoop, Spark y Kafka Streams.
Todo lo que veamos aqui tendra impacto directo en su Proyecto Fin de Curso, especialmente en la Entrega 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cinco objetivos son la brujula de la unidad.
Primero, comprender: al final ustedes deben diferenciar sin dudar si un problema se paraleliza por datos o por tareas, y saber si conviene memoria compartida o paso de mensajes.
Segundo, analizar: van a manejar con soltura la Ley de Amdahl. No es solo una formula: es una herramienta para decir con honestidad cuanto se puede ganar paralelizando.
Tercero, comparar: la nube es un ecosistema. Hay que saber cuando conviene IaaS, Infrastructure as a Service, Infraestructura como Servicio, y cuando saltar a serverless.
Cuarto, aplicar: van a construir tuberias de procesamiento, no solo describirlas.
Y quinto, evaluar: la decision tecnologica del Proyecto Fin de Curso debe estar justificada con criterios de latencia, throughput y costo, no con preferencias personales.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de ruta de la unidad. Tres bloques, cuatro subtemas cada uno.
El bloque cuatro punto uno es teoria y herramientas clasicas de paralelismo. Es el mas denso conceptualmente.
El bloque cuatro punto dos es el mundo cloud. Aqui van a entender que la nube no es un concepto unico, sino una taxonomia de modelos con distintas responsabilidades.
El bloque cuatro punto tres es el que mas les va a servir profesionalmente hoy en dia: procesamiento distribuido de datos. MapReduce como paradigma, Hadoop como su implementacion clasica, Spark como el estandar actual, y Kafka Streams para el mundo de streaming en tiempo real.
Sugerencia de estudio: cada bloque tiene una practica asociada en las guias que estan en el repositorio del curso.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Entramos al primer bloque: los fundamentos.
Aqui vamos a responder tres preguntas: como se descompone un problema, que modelo de programacion elegir, y que ganancia real puedo esperar.
No es teoria por teoria: sin estos fundamentos, cualquier decision posterior sobre Spark o sobre Kubernetes sera intuitiva y probablemente equivocada.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con la diferencia fundamental. Todo problema paralelizable cae en una de estas dos categorias, o en una combinacion.
Paralelismo de datos, en ingles data parallelism, que en espanol significa mismo trabajo aplicado a distintos datos. La clave es que el codigo es el mismo pero se ejecuta sobre particiones distintas del conjunto de datos. Este es el modelo SIMD, Single Instruction Multiple Data, Instruccion Unica y Datos Multiples. Piensen en filtros de imagen aplicados a millones de fotos, o en el entrenamiento de una red neuronal donde cada GPU, Graphics Processing Unit, Unidad de Procesamiento Grafico, procesa un lote distinto.
Paralelismo de tareas, task parallelism, distinto trabajo posiblemente sobre los mismos datos. Modelo MIMD, Multiple Instruction Multiple Data. Ejemplo tipico: un pipeline ETL, Extract Transform Load, extraer transformar cargar, donde mientras un proceso extrae, otro transforma y otro carga.
En Spark, que veremos mas adelante, ambos conviven: paralelismo de datos por particiones y paralelismo de tareas en el DAG, Directed Acyclic Graph, Grafo Aciclico Dirigido, de operaciones.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Elegido el tipo de paralelismo, viene la segunda decision: como se coordinan las unidades de ejecucion. Hay dos modelos historicos que compiten y que hoy conviven.
Memoria compartida, shared memory: todos los hilos ven la misma memoria. La ventaja es que compartir datos es tan simple como escribir en una variable. La desventaja es que aparecen las race conditions, las condiciones de carrera, y hay que sincronizar con mutex, con locks, con semaforos. Y no escala mas alla de un solo nodo fisico.
Paso de mensajes, message passing: cada proceso tiene su propia memoria y se comunican con send y receive, enviar y recibir. Es la unica opcion cuando trabajamos con clusters de decenas o cientos de maquinas. La desventaja es que el codigo es mas explicito y hay que cuidar los deadlocks, los bloqueos mutuos.
Un dato importante: los frameworks modernos como Spark ocultan al programador el paso de mensajes, pero internamente lo estan usando. Entender el modelo les permite razonar sobre el rendimiento cuando el framework se queda corto.
Herramienta clasica para memoria compartida: OpenMP. Para paso de mensajes: MPI. Las veremos en detalle en los proximos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Ley de Amdahl es la ecuacion mas honesta de la computacion paralela. La propuso Gene Amdahl en mil novecientos sesenta y siete y sigue vigente.
Lo que dice es muy sencillo: si el noventa y cinco por ciento de mi programa es paralelizable, entonces mi speedup maximo, aunque tenga infinitos procesadores, es veinte veces. Nunca mas.
Miren la tabla de la derecha. Con solo el cinco por ciento secuencial, pasar de dieciseis a mil veinticuatro nucleos apenas mejora de nueve a veinte. Es decir, sesenta y cuatro veces mas hardware para el doble de rendimiento. Eso es un pesimo retorno de inversion.
La leccion practica: antes de comprar mas hardware o mas nodos, hay que atacar la parte secuencial. Refactorizar el codigo, eliminar cuellos de botella, reducir la sincronizacion.
Un detalle importante: en la realidad la comunicacion entre procesos y los overheads de sincronizacion se restan de P. Es decir, P es siempre menor de lo que uno cree en el papel.
Y hay una critica clasica a Amdahl: la Ley de Gustafson-Barsis. Gustafson observo que en la practica los problemas crecen con el hardware. Si tenemos mas nucleos, corremos problemas mas grandes, no el mismo problema mas rapido. En ese escenario el techo de Amdahl se rompe.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metricas basicas. Van a aparecer en toda la unidad y en el examen.
Speedup, aceleracion: tiempo secuencial dividido tiempo paralelo. Si con un nucleo tardo cien segundos y con cuatro tardo veinticinco, mi speedup es cuatro. Eso es aceleracion lineal, el ideal teorico.
Eficiencia: speedup dividido numero de procesadores. Si con cuatro nucleos logro speedup de tres, mi eficiencia es cero coma setenta y cinco. Por debajo de cero coma cinco algo esta mal: hay demasiada comunicacion o sincronizacion.
Throughput, rendimiento en espanol, mide trabajo util por segundo. En sistemas de datos hablamos de megabytes por segundo procesados, eventos por segundo, jobs por hora. Un sistema puede tener alta latencia pero alto throughput si procesa en lotes.
Escalabilidad tiene dos sabores. La escalabilidad fuerte, strong scaling: mantengo el tamano del problema y agrego nodos, esperando que el tiempo baje. La escalabilidad debil, weak scaling: agrando el problema al mismo ritmo que agrego nodos, y espero que el tiempo se mantenga. Los sistemas cloud, como Spark en un cluster elastico, apuntan a escalabilidad debil.
Cuando reporten resultados en su Proyecto Fin de Curso, especialmente en la Entrega cuatro, quiero ver graficos de estas metricas, no palabras.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OpenMP, Open Multi Processing, Procesamiento Multiple Abierto. Es el estandar de facto para paralelizar codigo cientifico y de calculo intensivo dentro de un solo nodo.
La virtud de OpenMP es que uno parte de un codigo secuencial y le agrega directivas #pragma. El compilador se encarga de crear los hilos, distribuir las iteraciones y sincronizar. Este modelo se llama fork join, bifurcar y unir.
En el ejemplo de la derecha, la unica linea de paralelismo real es el pragma omp parallel for reduction. Le decimos al compilador: paraleliza este for y reduce la variable sum con la operacion suma. Sin ese pragma, el for es secuencial. Con el, el compilador genera un equipo de hilos, cada uno acumula parcialmente, y al final combina los resultados.
Fijense en las clausulas de datos: shared, private, reduction. Son la parte mas delicada de OpenMP. Si una variable esta shared cuando deberia estar private, tenemos race condition. Si esta private cuando deberia estar shared, tenemos resultados incorrectos.
OpenMP no cruza fronteras de nodo. Para eso necesitamos MPI, que veremos en la siguiente diapositiva. Y en la practica se combinan: OpenMP dentro de cada nodo, MPI entre nodos. Ese modelo hibrido es tipico en supercomputadoras.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MPI, Message Passing Interface, Interfaz de Paso de Mensajes. Es el estandar de facto para computo de alto rendimiento, HPC, High Performance Computing, en clusters y supercomputadoras.
A diferencia de OpenMP, aqui no hay memoria compartida. Cada proceso vive en su propio espacio de direcciones, posiblemente en un nodo distinto conectado por red. La comunicacion es explicita.
El modelo de MPI se llama SPMD, Single Program Multiple Data, Programa Unico y Datos Multiples. Todos los procesos ejecutan el mismo binario, pero cada uno tiene un rank, un identificador, que le permite tomar decisiones distintas. Es habitual ver en codigo MPI la estructura: si soy el rank cero, hago esto; si no, hago aquello.
Las primitivas colectivas son la clave del rendimiento. Broadcast difunde un dato a todos, scatter reparte pedazos distintos, gather recoge en el proceso raiz, y reduce combina con una operacion como suma o max. Estas primitivas estan altamente optimizadas y usan algoritmos de arbol, no simples envios uno a uno.
En el ejemplo tenemos el hola mundo tipico de MPI. Se compila con mpicc y se ejecuta con mpirun menos n cuatro, para lanzar cuatro procesos.
Importante: MPI se combina con OpenMP en el modelo hibrido MPI+OpenMP. MPI entre nodos, OpenMP dentro de cada nodo. Ese es el patron dominante en supercomputacion cientifica actual.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Cambiamos de perspectiva. En el bloque anterior hablamos de nucleos y de nodos. En este bloque hablamos de datacenters completos como abstraccion consumible.
La computacion en la nube, cloud computing, redefine tres cosas fundamentales: el modelo de negocio pasa de CAPEX, gasto de capital, a OPEX, gasto operativo; la unidad de escalado deja de ser el nodo y pasa a ser el servicio; y la responsabilidad del hardware deja de ser del cliente.
Vamos a ver la taxonomia de modelos de servicio, los tres grandes proveedores, el modelo serverless y las nuevas fronteras del edge computing.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taxonomia clasica de la nube, formalizada por el NIST, Instituto Nacional de Estandares y Tecnologia de Estados Unidos, en dos mil once, propone tres niveles de servicio.
IaaS, Infrastructure as a Service, Infraestructura como Servicio. Es el nivel mas bajo. El proveedor nos entrega maquinas virtuales, redes y almacenamiento. Nosotros instalamos el sistema operativo, actualizamos parches, desplegamos aplicaciones. Ejemplo tipico: EC2 en AWS. Es como alquilar el terreno y construir la casa.
PaaS, Platform as a Service, Plataforma como Servicio. Un nivel arriba. El proveedor nos entrega la plataforma lista para ejecutar codigo. Nosotros solo subimos el codigo y los datos. Ejemplo: Google App Engine, Heroku. Es como alquilar un local ya adecuado y traer solo el negocio.
SaaS, Software as a Service, Software como Servicio. El nivel mas alto. Consumimos una aplicacion terminada. Ejemplo: Gmail, Salesforce. Es como alquilar una habitacion de hotel con todos los servicios incluidos.
Regla practica que quiero que retengan: cuanto mas subimos en la piramide, menos control tenemos, pero menos responsabilidad operativa asumimos. La eleccion depende del compromiso que el equipo pueda sostener. Un equipo de dos personas no deberia manejar IaaS: se les va a ir la vida parchando servidores.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grandes hiperescaladores del mercado de nube publica son AWS, Azure y Google Cloud, GCP. Vamos a compararlos por dimensiones que importan al arquitecto.
AWS, Amazon Web Services, es el mas antiguo y el mas amplio. Tiene mas de doscientos servicios. Cuota de mercado global superior al treinta por ciento. Su fortaleza es la madurez y la variedad. Si algo se puede hacer en la nube, se puede hacer en AWS.
Azure, de Microsoft, es el favorito de las empresas con inversion previa en Windows Server, Active Directory y punto NET. Integra su nube con Office trescientos sesenta y cinco y con GitHub, ambos suyos. Cuota de mercado alrededor del veinticinco por ciento.
GCP, Google Cloud Platform, es el mas joven de los tres, pero brilla en analitica avanzada, aprendizaje automatico y contenedores. Kubernetes se invento en Google. BigQuery es referencia mundial en analitica de datos. Cuota menor pero creciendo.
Regla practica: la eleccion no es tecnica pura, es tambien organizacional. Talento disponible, contratos vigentes, integracion con lo que ya se tiene. En Ecuador tenemos partners locales de los tres. Vale la pena explorar antes de comprometerse.
Cuidado con el vendor lock-in, el bloqueo con el proveedor. Diseniar aplicaciones cloud-native ayuda a portarlas.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FaaS es probablemente el modelo mas disruptivo de la ultima decada de nube. Aparece publicamente con AWS Lambda en dos mil catorce.
La palabra serverless, sin servidor, es un poco enganosa: los servidores existen, pero el cliente no los ve ni los administra. Solo escribe funciones y las asocia a eventos: una peticion HTTP, un mensaje en una cola, un archivo que se sube.
Tres caracteristicas hacen a FaaS distinto. Primero, escalado automatico a cero: si nadie llama la funcion durante un dia, el costo es cero. Cuando llegan mil peticiones simultaneas, el proveedor arranca mil instancias en paralelo, sin que el cliente configure nada.
Segundo, el pago por uso real. Se cobra por milisegundo de ejecucion, redondeado hacia arriba. Una funcion que responde en veinte milisegundos cuesta cien veces menos que una que responde en dos segundos. Eso incentiva escribir codigo eficiente.
Tercero, stateless. La funcion no puede guardar variables entre invocaciones. El estado va afuera: en Redis, en DynamoDB, en S3.
El cuidado principal es el cold start, arranque en frio. La primera invocacion despues de un tiempo de inactividad puede tardar cientos de milisegundos, incluso segundos, en arrancar el runtime. Para APIs con SLA de latencia estricto, hay que usar provisioned concurrency, concurrencia aprovisionada, y eso ya no es gratis.
FaaS no reemplaza a los contenedores. Es una herramienta mas: brilla en cargas esporadicas y muere en cargas sostenidas.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el bloque de nube con dos paradigmas complementarios.
Grid computing, computacion en malla, es historicamente el abuelo de la nube. Nacio en los anos noventa en el ambito cientifico: proyectos como el LHC-Grid del CERN, que procesa los petabytes del acelerador de particulas, o el mitico SETI arroba home, que buscaba senales extraterrestres usando ciclos de CPU inactivos de voluntarios. La idea es federar recursos heterogeneos, distribuidos geograficamente, con administraciones distintas. Estandares como Open Grid Services Architecture y el Globus Toolkit dieron el marco tecnico.
Hoy el grid ha perdido protagonismo. Lo reemplazaron el HPC en la nube y Kubernetes federado. Pero conceptualmente sigue siendo la raiz.
Edge computing, computacion en el borde, es el paradigma opuesto y actual. En vez de mandar todo a la nube central, procesamos cerca de la fuente. Los datos de un sensor industrial, una camara de videovigilancia, un vehiculo autonomo, no viajan mil kilometros hasta un datacenter y de vuelta. Se procesan a metros de distancia.
Razones: latencia, ancho de banda y privacidad. Un vehiculo autonomo no puede esperar cien milisegundos para decidir si frena. Una camara con IA embebida no puede subir todos los frames a la nube. Un hospital no quiere que datos de pacientes salgan del edificio.
Se combina con 5G en lo que se llama MEC, Multi-access Edge Computing, y con el concepto intermedio de fog computing, computacion en niebla, que agrega una capa entre edge y nube central.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final. Aqui es donde se materializa todo lo que hemos aprendido.
Van a ver la evolucion tecnologica: primero MapReduce, el paradigma que Google publico en dos mil cuatro y que cambio el mundo. Luego Hadoop, la implementacion abierta que democratizo el big data. Despues Spark, que reemplazo a Hadoop MapReduce por ser diez a cien veces mas rapido gracias al procesamiento en memoria. Y finalmente Kafka Streams, para el mundo del streaming: eventos que llegan continuamente y hay que procesar en segundos.
Este bloque tiene mayor peso practico. Sus decisiones tecnologicas en el Proyecto Fin de Curso deberian estar alineadas con este bloque.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MapReduce es la idea que cambio la industria del big data. Lo publicaron Jeffrey Dean y Sanjay Ghemawat de Google en dos mil cuatro. Es un paper que todo ingeniero de datos deberia leer.
La idea es tan simple que resulta genial. El programador escribe dos funciones puras: map, que toma un par clave-valor y emite cero o mas pares clave-valor intermedios; y reduce, que toma una clave intermedia y todos sus valores asociados, y emite el resultado agregado.
El framework se ocupa de todo lo demas: dividir los datos, distribuir las tareas a cientos de maquinas, sincronizar, agrupar por clave, ordenar, tolerar fallos por reintento, escribir la salida. El programador nunca ve un send o receive.
Miren las cinco etapas: input split, map, shuffle and sort, reduce, output. La etapa mas costosa en tiempo suele ser el shuffle, la redistribucion por clave. Ahi se mueve mucho dato por la red.
El ejemplo canonico es WordCount, contar palabras en un corpus gigante. Cada map recibe una linea y emite palabra coma uno. El shuffle agrupa por palabra. El reduce suma los unos. El resultado es la frecuencia de cada palabra en el corpus. Cambiando esas dos funciones se resuelven miles de problemas.
MapReduce tiene limitaciones que motivaron la aparicion de Spark: es batch, no interactivo; escribe a disco entre etapas; y para pipelines con muchos pasos, cada paso es un job separado.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Apache Hadoop es el que democratizo el big data en la industria. Nacio en dos mil seis de la mano de Doug Cutting, inspirado directamente en los papers de Google Filesystem y MapReduce.
La arquitectura de Hadoop tiene tres capas. En la base, HDFS, Hadoop Distributed File System, Sistema de Archivos Distribuido de Hadoop. Es un sistema de archivos que trocea los archivos en bloques de ciento veintiocho megabytes por defecto, y los replica tres veces por defecto en distintas maquinas. Si una maquina falla, no perdemos nada. Esa replicacion es la base de la tolerancia a fallos.
En el medio, YARN, Yet Another Resource Negotiator, que en espanol es Otro Negociador de Recursos Mas. Es el gestor de recursos del cluster: reparte CPU y memoria entre los jobs que quieren correr.
Arriba, el motor de computo. En sus inicios era solo MapReduce. Hoy es habitual ver Spark corriendo sobre YARN.
El ecosistema Hadoop crecio mucho: Hive para SQL, Pig para scripts, HBase como NoSQL columnar, Sqoop para importar de bases relacionales, Flume para logs, Oozie para orquestar workflows, ZooKeeper para coordinacion distribuida.
Nota importante: Hadoop como plataforma clasica esta en declive. Muchas empresas migraron a soluciones cloud nativas como BigQuery, Snowflake, Databricks. Pero los conceptos siguen vigentes, y Spark, que veremos ahora, nacio en este ecosistema.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Apache Spark es hoy, en dos mil veintiseis, el motor mas usado del mundo para procesamiento distribuido de datos. Salio del laboratorio AMPLab de la Universidad de California en Berkeley en dos mil diez y se dono a la Apache Software Foundation en dos mil trece.
La idea que hizo a Spark ganador fue el procesamiento en memoria. MapReduce clasico escribe a disco entre map y reduce, y entre jobs consecutivos. Para algoritmos iterativos como los de machine learning, eso significa leer del disco cientos de veces. Spark mantiene los datos en RAM. Por eso es entre diez y cien veces mas rapido.
El concepto central es el RDD, Resilient Distributed Dataset, Conjunto de Datos Distribuido Resiliente. Es una coleccion inmutable, particionada entre nodos, que recuerda su linaje. Si una particion se pierde por un fallo, Spark la recomputa desde el origen usando ese linaje, sin necesidad de replicacion.
El otro concepto clave es el DAG, Directed Acyclic Graph, Grafo Aciclico Dirigido de transformaciones. Cuando escribimos map, filter, join, no se ejecuta nada. Se construye el DAG. Solo cuando llamamos una accion como count o show, el optimizador Catalyst decide el mejor plan y dispara la ejecucion. Esto se llama evaluacion perezosa, lazy evaluation.
Hoy la API preferida no es RDD, sino DataFrame y Dataset, con esquema, y Spark SQL. Son mas eficientes porque el optimizador entiende la estructura.
El ecosistema Spark incluye MLlib para aprendizaje automatico, GraphX para grafos, y Structured Streaming para streaming continuo. Ese ultimo es el puente natural hacia el proximo tema.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 Streams. Cerramos la unidad con el paradigma de streaming en tiempo real.
Primero, Kafka en si. Kafka es una plataforma distribuida de streaming creada en LinkedIn y liberada en dos mil once. Es basicamente un log inmutable y particionado. Los productores escriben eventos al final del log, los consumidores los leen a su ritmo. Cada evento tiene un offset, una posicion, que permite releer desde cualquier punto.
Kafka Streams es una libreria Java y Scala que se pega encima de Kafka para construir aplicaciones que consumen streams, los transforman y los publican de vuelta a otros topicos. No requiere un cluster separado como Spark: la aplicacion Kafka Streams es un simple servicio JVM que se despliega como cualquier microservicio.
Las abstracciones clave son dos: KStream, un flujo de eventos donde cada evento se procesa una vez; y KTable, una tabla mutable derivada del stream, que refleja el ultimo valor por clave. La dualidad stream-tabla es un concepto profundo: todo stream se puede materializar como tabla, y toda tabla es un stream de cambios.
El windowing, ventaneo, permite agregar eventos por intervalos de tiempo. Ventanas fijas, ventanas deslizantes, ventanas de sesion.
Casos de uso tipicos: deteccion de fraude, donde detectar cinco minutos despues ya no sirve; enriquecimiento en linea, uniendo un stream de pedidos con una tabla de clientes; agregaciones por minuto para dashboards operativos; y CDC, Change Data Capture, para replicar cambios de una base de datos a otros sistemas en tiempo real.
Kafka Streams es una eleccion excelente para el Proyecto Fin de Curso cuando la aplicacion tenga eventos que llegan continuamente y decisiones que no pueden esperar.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su mapa de decisiones. La conservan y la usan para justificar la eleccion tecnologica del Proyecto Fin de Curso.
Regla general: nunca eligan por moda. Ningun proveedor de nube da premios por complejidad. La mejor arquitectura es la mas simple que cumple los requisitos no funcionales de latencia, throughput, disponibilidad y costo.
Pregunta que quiero que se hagan siempre antes de proponer una tecnologia: cuanto dato voy a mover, cual es la latencia aceptable, cual es mi presupuesto operativo, y cuanto talento operativo tiene mi equipo para mantenerla en produccion.
Si me proponen Kafka Streams para un CRUD interno de veinte usuarios, les voy a decir que reconsideren. Si me proponen SQLite para procesar streams de un millon de eventos por segundo, tambien.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glosario es una parte importante del cierre. Todas las siglas que hemos manejado durante la clase, con su significado en ingles y en espanol, para que las repasen antes del examen.
Fijense especialmente en las siglas SIMD, MIMD y SPMD, que a veces se confunden. SIMD es el modelo del paralelismo de datos: una instruccion, muchos datos. MIMD es el modelo del paralelismo de tareas: distintas instrucciones, distintos datos. SPMD es el modelo de MPI: un mismo programa, pero cada proceso trabaja con datos distintos.
Y sobre IaaS, PaaS, SaaS, FaaS: recuerden la posicion en la piramide de responsabilidad. IaaS abajo, mas control y mas responsabilidad; SaaS arriba, menos control y menos responsabilidad.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parte del glosario, centrada en el bloque de datos distribuidos.
Fijense en la diferencia entre ETL y ELT. ETL, Extract Transform Load, es el patron clasico: extraigo del origen, transformo en un servidor intermedio, cargo al destino. ELT, Extract Load Transform, es el patron moderno de la nube: extraigo, cargo al almacen (por ejemplo BigQuery o Snowflake), y transformo alli usando SQL. La razon del cambio es que hoy el almacen tiene poder de computo casi ilimitado, y mover el dato dos veces era desperdicio.
Sobre shuffle: es la palabra que mas van a escuchar cuando trabajen con Spark en produccion. Cuando el DAG requiere agrupar por clave, hay que redistribuir los datos entre nodos por la red. Esa fase es tipicamente donde se pierde el rendimiento. Si su codigo Spark es lento, casi siempre es shuffle excesivo.
Y exactly-once semantics, exactamente una vez: es la garantia mas cara y mas valiosa en streaming. Kafka Streams la ofrece de forma nativa. Es la diferencia entre facturar bien y facturar dos veces al mismo cliente.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referencias de alto impacto que respaldan cada seccion de la unidad. Todas tienen DOI (Digital Object Identifier, Identificador de Objeto Digital) verificable o son libros de referencia canonicos.
Quiero resaltar tres que son de lectura obligada para el examen. Primero, el paper original de Amdahl de mil novecientos sesenta y siete: son apenas tres paginas y siguen siendo la referencia mas citada del campo. Segundo, el paper de MapReduce de Dean y Ghemawat en Communications of the ACM en dos mil ocho: explica el paradigma con claridad ejemplar. Tercero, el paper de Spark en Communications of the ACM en dos mil dieciseis, que es la carta de presentacion oficial del proyecto.
Los libros de Chapman sobre OpenMP y de Gropp sobre MPI son los textos clasicos, publicados por MIT Press.
La definicion de nube que usamos es la del NIST, el Instituto Nacional de Estandares y Tecnologia de Estados Unidos: es la definicion oficial que aparece en contratos y en documentacion tecnica en todo el mundo.
Todas estas referencias estan en el archivo bib del repositorio del curso. Se usan igual en su Proyecto Fin de Curso.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esto cerramos la Unidad cuatro.
Recapitulando el recorrido: partimos de los fundamentos del paralelismo, distinguimos memoria compartida de paso de mensajes, entendimos la Ley de Amdahl como brujula honesta, y vimos OpenMP y MPI como las herramientas clasicas. Luego subimos a la nube: taxonomia IaaS, PaaS, SaaS y FaaS; comparativa de los tres grandes proveedores; y las nuevas fronteras del edge computing. Cerramos con procesamiento distribuido de datos: MapReduce como paradigma, Hadoop como ecosistema, Spark como estandar actual, y Kafka Streams para tiempo real.
Recuerden que la Entrega cuatro de su Proyecto Fin de Curso pide aplicar de forma integrada estos conceptos. La justificacion tecnologica sera evaluada con la tabla de decisiones del recap.
Los espero en tutoria para dudas puntuales sobre el proyecto. Muchas gracias.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450"/>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0E3F7E"/>
          </a:solidFill>
          <a:ln/>
        </p:spPr>
      </p:sp>
      <p:sp>
        <p:nvSpPr>
          <p:cNvPr id="3" name="Shape 1"/>
          <p:cNvSpPr/>
          <p:nvPr/>
        </p:nvSpPr>
        <p:spPr>
          <a:xfrm>
            <a:off x="2377440" y="5120640"/>
            <a:ext cx="2926080" cy="2926080"/>
          </a:xfrm>
          <a:prstGeom prst="ellipse">
            <a:avLst/>
          </a:prstGeom>
          <a:solidFill>
            <a:srgbClr val="1E5AA8">
              <a:alpha val="60000"/>
            </a:srgbClr>
          </a:solidFill>
          <a:ln/>
        </p:spPr>
      </p:sp>
      <p:sp>
        <p:nvSpPr>
          <p:cNvPr id="4" name="Shape 2"/>
          <p:cNvSpPr/>
          <p:nvPr/>
        </p:nvSpPr>
        <p:spPr>
          <a:xfrm>
            <a:off x="9601200" y="-1371600"/>
            <a:ext cx="4114800" cy="4114800"/>
          </a:xfrm>
          <a:prstGeom prst="ellipse">
            <a:avLst/>
          </a:prstGeom>
          <a:solidFill>
            <a:srgbClr val="2E86A1">
              <a:alpha val="45000"/>
            </a:srgbClr>
          </a:solidFill>
          <a:ln/>
        </p:spPr>
      </p:sp>
      <p:sp>
        <p:nvSpPr>
          <p:cNvPr id="5" name="Shape 3"/>
          <p:cNvSpPr/>
          <p:nvPr/>
        </p:nvSpPr>
        <p:spPr>
          <a:xfrm>
            <a:off x="10058400" y="5303520"/>
            <a:ext cx="1828800" cy="1828800"/>
          </a:xfrm>
          <a:prstGeom prst="ellipse">
            <a:avLst/>
          </a:prstGeom>
          <a:solidFill>
            <a:srgbClr val="F2A413">
              <a:alpha val="60000"/>
            </a:srgbClr>
          </a:solidFill>
          <a:ln/>
        </p:spPr>
      </p:sp>
      <p:sp>
        <p:nvSpPr>
          <p:cNvPr id="6" name="Shape 4"/>
          <p:cNvSpPr/>
          <p:nvPr/>
        </p:nvSpPr>
        <p:spPr>
          <a:xfrm>
            <a:off x="4114800" y="914400"/>
            <a:ext cx="2743200" cy="502920"/>
          </a:xfrm>
          <a:prstGeom prst="roundRect">
            <a:avLst>
              <a:gd name="adj" fmla="val 27273"/>
            </a:avLst>
          </a:prstGeom>
          <a:solidFill>
            <a:srgbClr val="F2A413"/>
          </a:solidFill>
          <a:ln/>
        </p:spPr>
      </p:sp>
      <p:sp>
        <p:nvSpPr>
          <p:cNvPr id="7" name="Text 5"/>
          <p:cNvSpPr/>
          <p:nvPr/>
        </p:nvSpPr>
        <p:spPr>
          <a:xfrm>
            <a:off x="4114800" y="914400"/>
            <a:ext cx="2743200" cy="502920"/>
          </a:xfrm>
          <a:prstGeom prst="rect">
            <a:avLst/>
          </a:prstGeom>
          <a:noFill/>
          <a:ln/>
        </p:spPr>
        <p:txBody>
          <a:bodyPr wrap="square" lIns="0" tIns="0" rIns="0" bIns="0" rtlCol="0" anchor="ctr"/>
          <a:lstStyle/>
          <a:p>
            <a:pPr marL="0" indent="0" algn="ctr">
              <a:buNone/>
            </a:pPr>
            <a:r>
              <a:rPr lang="en-US" sz="1800" b="1" kern="0" spc="600" dirty="0">
                <a:solidFill>
                  <a:srgbClr val="0A2450"/>
                </a:solidFill>
                <a:latin typeface="Calibri" pitchFamily="34" charset="0"/>
                <a:ea typeface="Calibri" pitchFamily="34" charset="-122"/>
                <a:cs typeface="Calibri" pitchFamily="34" charset="-120"/>
              </a:rPr>
              <a:t>UNIDAD 4</a:t>
            </a:r>
            <a:endParaRPr lang="en-US" sz="1800" dirty="0"/>
          </a:p>
        </p:txBody>
      </p:sp>
      <p:sp>
        <p:nvSpPr>
          <p:cNvPr id="8" name="Text 6"/>
          <p:cNvSpPr/>
          <p:nvPr/>
        </p:nvSpPr>
        <p:spPr>
          <a:xfrm>
            <a:off x="4114800" y="1691640"/>
            <a:ext cx="7680960" cy="91440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Computacion</a:t>
            </a:r>
            <a:endParaRPr lang="en-US" sz="5600" dirty="0"/>
          </a:p>
        </p:txBody>
      </p:sp>
      <p:sp>
        <p:nvSpPr>
          <p:cNvPr id="9" name="Text 7"/>
          <p:cNvSpPr/>
          <p:nvPr/>
        </p:nvSpPr>
        <p:spPr>
          <a:xfrm>
            <a:off x="4114800" y="2468880"/>
            <a:ext cx="7680960" cy="91440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Paralela y Distribuida</a:t>
            </a:r>
            <a:endParaRPr lang="en-US" sz="5600" dirty="0"/>
          </a:p>
        </p:txBody>
      </p:sp>
      <p:sp>
        <p:nvSpPr>
          <p:cNvPr id="10" name="Shape 8"/>
          <p:cNvSpPr/>
          <p:nvPr/>
        </p:nvSpPr>
        <p:spPr>
          <a:xfrm>
            <a:off x="4114800" y="3520440"/>
            <a:ext cx="4572000" cy="0"/>
          </a:xfrm>
          <a:prstGeom prst="line">
            <a:avLst/>
          </a:prstGeom>
          <a:noFill/>
          <a:ln w="25400">
            <a:solidFill>
              <a:srgbClr val="F2A413"/>
            </a:solidFill>
            <a:prstDash val="solid"/>
          </a:ln>
        </p:spPr>
      </p:sp>
      <p:sp>
        <p:nvSpPr>
          <p:cNvPr id="11" name="Text 9"/>
          <p:cNvSpPr/>
          <p:nvPr/>
        </p:nvSpPr>
        <p:spPr>
          <a:xfrm>
            <a:off x="4114800" y="3657600"/>
            <a:ext cx="7680960" cy="640080"/>
          </a:xfrm>
          <a:prstGeom prst="rect">
            <a:avLst/>
          </a:prstGeom>
          <a:noFill/>
          <a:ln/>
        </p:spPr>
        <p:txBody>
          <a:bodyPr wrap="square" lIns="0" tIns="0" rIns="0" bIns="0" rtlCol="0" anchor="ctr"/>
          <a:lstStyle/>
          <a:p>
            <a:pPr marL="0" indent="0">
              <a:buNone/>
            </a:pPr>
            <a:r>
              <a:rPr lang="en-US" sz="1800" i="1" dirty="0">
                <a:solidFill>
                  <a:srgbClr val="FFFFFF">
                    <a:alpha val="90000"/>
                  </a:srgbClr>
                </a:solidFill>
                <a:latin typeface="Cambria" pitchFamily="34" charset="0"/>
                <a:ea typeface="Cambria" pitchFamily="34" charset="-122"/>
                <a:cs typeface="Cambria" pitchFamily="34" charset="-120"/>
              </a:rPr>
              <a:t>De la paralelizacion de tareas al procesamiento masivo de datos en la nube</a:t>
            </a:r>
            <a:endParaRPr lang="en-US" sz="1800" dirty="0"/>
          </a:p>
        </p:txBody>
      </p:sp>
      <p:sp>
        <p:nvSpPr>
          <p:cNvPr id="12" name="Text 10"/>
          <p:cNvSpPr/>
          <p:nvPr/>
        </p:nvSpPr>
        <p:spPr>
          <a:xfrm>
            <a:off x="4114800" y="4846320"/>
            <a:ext cx="7680960" cy="365760"/>
          </a:xfrm>
          <a:prstGeom prst="rect">
            <a:avLst/>
          </a:prstGeom>
          <a:noFill/>
          <a:ln/>
        </p:spPr>
        <p:txBody>
          <a:bodyPr wrap="square" lIns="0" tIns="0" rIns="0" bIns="0" rtlCol="0" anchor="ctr"/>
          <a:lstStyle/>
          <a:p>
            <a:pPr marL="0" indent="0">
              <a:buNone/>
            </a:pPr>
            <a:r>
              <a:rPr lang="en-US" sz="1600" b="1" dirty="0">
                <a:solidFill>
                  <a:srgbClr val="F2A413"/>
                </a:solidFill>
                <a:latin typeface="Calibri" pitchFamily="34" charset="0"/>
                <a:ea typeface="Calibri" pitchFamily="34" charset="-122"/>
                <a:cs typeface="Calibri" pitchFamily="34" charset="-120"/>
              </a:rPr>
              <a:t>Aplicaciones Distribuidas  -  ISR-701</a:t>
            </a:r>
            <a:endParaRPr lang="en-US" sz="1600" dirty="0"/>
          </a:p>
        </p:txBody>
      </p:sp>
      <p:sp>
        <p:nvSpPr>
          <p:cNvPr id="13" name="Text 11"/>
          <p:cNvSpPr/>
          <p:nvPr/>
        </p:nvSpPr>
        <p:spPr>
          <a:xfrm>
            <a:off x="4114800" y="5212080"/>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Prof. Gleiston Guerrero Ulloa</a:t>
            </a:r>
            <a:endParaRPr lang="en-US" sz="1500" dirty="0"/>
          </a:p>
        </p:txBody>
      </p:sp>
      <p:sp>
        <p:nvSpPr>
          <p:cNvPr id="14" name="Text 12"/>
          <p:cNvSpPr/>
          <p:nvPr/>
        </p:nvSpPr>
        <p:spPr>
          <a:xfrm>
            <a:off x="4114800" y="5532120"/>
            <a:ext cx="7680960" cy="365760"/>
          </a:xfrm>
          <a:prstGeom prst="rect">
            <a:avLst/>
          </a:prstGeom>
          <a:noFill/>
          <a:ln/>
        </p:spPr>
        <p:txBody>
          <a:bodyPr wrap="square" lIns="0" tIns="0" rIns="0" bIns="0" rtlCol="0" anchor="ctr"/>
          <a:lstStyle/>
          <a:p>
            <a:pPr marL="0" indent="0">
              <a:buNone/>
            </a:pPr>
            <a:r>
              <a:rPr lang="en-US" sz="1400" dirty="0">
                <a:solidFill>
                  <a:srgbClr val="FFFFFF">
                    <a:alpha val="80000"/>
                  </a:srgbClr>
                </a:solidFill>
                <a:latin typeface="Calibri" pitchFamily="34" charset="0"/>
                <a:ea typeface="Calibri" pitchFamily="34" charset="-122"/>
                <a:cs typeface="Calibri" pitchFamily="34" charset="-120"/>
              </a:rPr>
              <a:t>Universidad Tecnica Estatal de Quevedo</a:t>
            </a:r>
            <a:endParaRPr lang="en-US" sz="1400" dirty="0"/>
          </a:p>
        </p:txBody>
      </p:sp>
      <p:sp>
        <p:nvSpPr>
          <p:cNvPr id="15" name="Text 13"/>
          <p:cNvSpPr/>
          <p:nvPr/>
        </p:nvSpPr>
        <p:spPr>
          <a:xfrm>
            <a:off x="4114800" y="5852160"/>
            <a:ext cx="7680960" cy="365760"/>
          </a:xfrm>
          <a:prstGeom prst="rect">
            <a:avLst/>
          </a:prstGeom>
          <a:noFill/>
          <a:ln/>
        </p:spPr>
        <p:txBody>
          <a:bodyPr wrap="square" lIns="0" tIns="0" rIns="0" bIns="0" rtlCol="0" anchor="ctr"/>
          <a:lstStyle/>
          <a:p>
            <a:pPr marL="0" indent="0">
              <a:buNone/>
            </a:pPr>
            <a:r>
              <a:rPr lang="en-US" sz="1200" dirty="0">
                <a:solidFill>
                  <a:srgbClr val="FFFFFF">
                    <a:alpha val="70000"/>
                  </a:srgbClr>
                </a:solidFill>
                <a:latin typeface="Calibri" pitchFamily="34" charset="0"/>
                <a:ea typeface="Calibri" pitchFamily="34" charset="-122"/>
                <a:cs typeface="Calibri" pitchFamily="34" charset="-120"/>
              </a:rPr>
              <a:t>Facultad de Ciencias de la Computacion  -  Septimo semestre  -  2026-2027</a:t>
            </a:r>
            <a:endParaRPr lang="en-US" sz="1200" dirty="0"/>
          </a:p>
        </p:txBody>
      </p:sp>
      <p:sp>
        <p:nvSpPr>
          <p:cNvPr id="16" name="Text 14"/>
          <p:cNvSpPr/>
          <p:nvPr/>
        </p:nvSpPr>
        <p:spPr>
          <a:xfrm>
            <a:off x="365760" y="6126480"/>
            <a:ext cx="2926080" cy="365760"/>
          </a:xfrm>
          <a:prstGeom prst="rect">
            <a:avLst/>
          </a:prstGeom>
          <a:noFill/>
          <a:ln/>
        </p:spPr>
        <p:txBody>
          <a:bodyPr wrap="square" rtlCol="0" anchor="ctr"/>
          <a:lstStyle/>
          <a:p>
            <a:pPr marL="0" indent="0">
              <a:buNone/>
            </a:pPr>
            <a:r>
              <a:rPr lang="en-US" sz="1200" b="1" kern="0" spc="1000" dirty="0">
                <a:solidFill>
                  <a:srgbClr val="FFFFFF">
                    <a:alpha val="75000"/>
                  </a:srgbClr>
                </a:solidFill>
                <a:latin typeface="Calibri" pitchFamily="34" charset="0"/>
                <a:ea typeface="Calibri" pitchFamily="34" charset="-122"/>
                <a:cs typeface="Calibri" pitchFamily="34" charset="-120"/>
              </a:rPr>
              <a:t>UTEQ</a:t>
            </a:r>
            <a:endParaRPr lang="en-US" sz="1200" dirty="0"/>
          </a:p>
        </p:txBody>
      </p:sp>
      <p:sp>
        <p:nvSpPr>
          <p:cNvPr id="18" name="Shape 15"/>
          <p:cNvSpPr/>
          <p:nvPr/>
        </p:nvSpPr>
        <p:spPr>
          <a:xfrm>
            <a:off x="457200" y="6537960"/>
            <a:ext cx="11247120" cy="0"/>
          </a:xfrm>
          <a:prstGeom prst="line">
            <a:avLst/>
          </a:prstGeom>
          <a:noFill/>
          <a:ln w="9525">
            <a:solidFill>
              <a:srgbClr val="D9E1EA"/>
            </a:solidFill>
            <a:prstDash val="solid"/>
          </a:ln>
        </p:spPr>
      </p:sp>
      <p:sp>
        <p:nvSpPr>
          <p:cNvPr id="19" name="Text 16"/>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20" name="Text 17"/>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Portada   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F2A413"/>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Meta</a:t>
            </a:r>
            <a:endParaRPr lang="en-US" sz="1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Objetivos de aprendizaje de la unidad</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502920" y="1371600"/>
            <a:ext cx="685800" cy="685800"/>
          </a:xfrm>
          <a:prstGeom prst="ellipse">
            <a:avLst/>
          </a:prstGeom>
          <a:solidFill>
            <a:srgbClr val="0E3F7E"/>
          </a:solidFill>
          <a:ln/>
        </p:spPr>
      </p:sp>
      <p:sp>
        <p:nvSpPr>
          <p:cNvPr id="7" name="Text 5"/>
          <p:cNvSpPr/>
          <p:nvPr/>
        </p:nvSpPr>
        <p:spPr>
          <a:xfrm>
            <a:off x="502920" y="137160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1417320" y="1307592"/>
            <a:ext cx="2194560" cy="41148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Comprender</a:t>
            </a:r>
            <a:endParaRPr lang="en-US" sz="1600" dirty="0"/>
          </a:p>
        </p:txBody>
      </p:sp>
      <p:sp>
        <p:nvSpPr>
          <p:cNvPr id="9" name="Text 7"/>
          <p:cNvSpPr/>
          <p:nvPr/>
        </p:nvSpPr>
        <p:spPr>
          <a:xfrm>
            <a:off x="3566160" y="1280160"/>
            <a:ext cx="8229600" cy="914400"/>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Distinguir paralelismo de datos y paralelismo de tareas, y elegir el modelo de programacion apropiado (memoria compartida vs paso de mensajes).</a:t>
            </a:r>
            <a:endParaRPr lang="en-US" sz="1600" dirty="0"/>
          </a:p>
        </p:txBody>
      </p:sp>
      <p:sp>
        <p:nvSpPr>
          <p:cNvPr id="10" name="Shape 8"/>
          <p:cNvSpPr/>
          <p:nvPr/>
        </p:nvSpPr>
        <p:spPr>
          <a:xfrm>
            <a:off x="502920" y="2377440"/>
            <a:ext cx="685800" cy="685800"/>
          </a:xfrm>
          <a:prstGeom prst="ellipse">
            <a:avLst/>
          </a:prstGeom>
          <a:solidFill>
            <a:srgbClr val="0E3F7E"/>
          </a:solidFill>
          <a:ln/>
        </p:spPr>
      </p:sp>
      <p:sp>
        <p:nvSpPr>
          <p:cNvPr id="11" name="Text 9"/>
          <p:cNvSpPr/>
          <p:nvPr/>
        </p:nvSpPr>
        <p:spPr>
          <a:xfrm>
            <a:off x="502920" y="237744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1417320" y="2313432"/>
            <a:ext cx="2194560" cy="41148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Analizar</a:t>
            </a:r>
            <a:endParaRPr lang="en-US" sz="1600" dirty="0"/>
          </a:p>
        </p:txBody>
      </p:sp>
      <p:sp>
        <p:nvSpPr>
          <p:cNvPr id="13" name="Text 11"/>
          <p:cNvSpPr/>
          <p:nvPr/>
        </p:nvSpPr>
        <p:spPr>
          <a:xfrm>
            <a:off x="3566160" y="2286000"/>
            <a:ext cx="8229600" cy="914400"/>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Aplicar la Ley de Amdahl y las metricas de speedup (aceleracion), eficiencia y escalabilidad para justificar decisiones de diseno.</a:t>
            </a:r>
            <a:endParaRPr lang="en-US" sz="1600" dirty="0"/>
          </a:p>
        </p:txBody>
      </p:sp>
      <p:sp>
        <p:nvSpPr>
          <p:cNvPr id="14" name="Shape 12"/>
          <p:cNvSpPr/>
          <p:nvPr/>
        </p:nvSpPr>
        <p:spPr>
          <a:xfrm>
            <a:off x="502920" y="3383280"/>
            <a:ext cx="685800" cy="685800"/>
          </a:xfrm>
          <a:prstGeom prst="ellipse">
            <a:avLst/>
          </a:prstGeom>
          <a:solidFill>
            <a:srgbClr val="0E3F7E"/>
          </a:solidFill>
          <a:ln/>
        </p:spPr>
      </p:sp>
      <p:sp>
        <p:nvSpPr>
          <p:cNvPr id="15" name="Text 13"/>
          <p:cNvSpPr/>
          <p:nvPr/>
        </p:nvSpPr>
        <p:spPr>
          <a:xfrm>
            <a:off x="502920" y="338328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6" name="Text 14"/>
          <p:cNvSpPr/>
          <p:nvPr/>
        </p:nvSpPr>
        <p:spPr>
          <a:xfrm>
            <a:off x="1417320" y="3319272"/>
            <a:ext cx="2194560" cy="41148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Comparar</a:t>
            </a:r>
            <a:endParaRPr lang="en-US" sz="1600" dirty="0"/>
          </a:p>
        </p:txBody>
      </p:sp>
      <p:sp>
        <p:nvSpPr>
          <p:cNvPr id="17" name="Text 15"/>
          <p:cNvSpPr/>
          <p:nvPr/>
        </p:nvSpPr>
        <p:spPr>
          <a:xfrm>
            <a:off x="3566160" y="3291840"/>
            <a:ext cx="8229600" cy="914400"/>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Contrastar los modelos IaaS, PaaS, SaaS, FaaS y Edge Computing, y los proveedores AWS, Azure y GCP para casos reales.</a:t>
            </a:r>
            <a:endParaRPr lang="en-US" sz="1600" dirty="0"/>
          </a:p>
        </p:txBody>
      </p:sp>
      <p:sp>
        <p:nvSpPr>
          <p:cNvPr id="18" name="Shape 16"/>
          <p:cNvSpPr/>
          <p:nvPr/>
        </p:nvSpPr>
        <p:spPr>
          <a:xfrm>
            <a:off x="502920" y="4389120"/>
            <a:ext cx="685800" cy="685800"/>
          </a:xfrm>
          <a:prstGeom prst="ellipse">
            <a:avLst/>
          </a:prstGeom>
          <a:solidFill>
            <a:srgbClr val="0E3F7E"/>
          </a:solidFill>
          <a:ln/>
        </p:spPr>
      </p:sp>
      <p:sp>
        <p:nvSpPr>
          <p:cNvPr id="19" name="Text 17"/>
          <p:cNvSpPr/>
          <p:nvPr/>
        </p:nvSpPr>
        <p:spPr>
          <a:xfrm>
            <a:off x="502920" y="438912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0" name="Text 18"/>
          <p:cNvSpPr/>
          <p:nvPr/>
        </p:nvSpPr>
        <p:spPr>
          <a:xfrm>
            <a:off x="1417320" y="4325112"/>
            <a:ext cx="2194560" cy="41148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Aplicar</a:t>
            </a:r>
            <a:endParaRPr lang="en-US" sz="1600" dirty="0"/>
          </a:p>
        </p:txBody>
      </p:sp>
      <p:sp>
        <p:nvSpPr>
          <p:cNvPr id="21" name="Text 19"/>
          <p:cNvSpPr/>
          <p:nvPr/>
        </p:nvSpPr>
        <p:spPr>
          <a:xfrm>
            <a:off x="3566160" y="4297680"/>
            <a:ext cx="8229600" cy="914400"/>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Disenar pipelines (tuberias de procesamiento) con MapReduce, Hadoop, Spark y Kafka Streams para datos masivos y streaming (flujo en tiempo real).</a:t>
            </a:r>
            <a:endParaRPr lang="en-US" sz="1600" dirty="0"/>
          </a:p>
        </p:txBody>
      </p:sp>
      <p:sp>
        <p:nvSpPr>
          <p:cNvPr id="22" name="Shape 20"/>
          <p:cNvSpPr/>
          <p:nvPr/>
        </p:nvSpPr>
        <p:spPr>
          <a:xfrm>
            <a:off x="502920" y="5394960"/>
            <a:ext cx="685800" cy="685800"/>
          </a:xfrm>
          <a:prstGeom prst="ellipse">
            <a:avLst/>
          </a:prstGeom>
          <a:solidFill>
            <a:srgbClr val="0E3F7E"/>
          </a:solidFill>
          <a:ln/>
        </p:spPr>
      </p:sp>
      <p:sp>
        <p:nvSpPr>
          <p:cNvPr id="23" name="Text 21"/>
          <p:cNvSpPr/>
          <p:nvPr/>
        </p:nvSpPr>
        <p:spPr>
          <a:xfrm>
            <a:off x="502920" y="539496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24" name="Text 22"/>
          <p:cNvSpPr/>
          <p:nvPr/>
        </p:nvSpPr>
        <p:spPr>
          <a:xfrm>
            <a:off x="1417320" y="5330952"/>
            <a:ext cx="2194560" cy="41148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Evaluar</a:t>
            </a:r>
            <a:endParaRPr lang="en-US" sz="1600" dirty="0"/>
          </a:p>
        </p:txBody>
      </p:sp>
      <p:sp>
        <p:nvSpPr>
          <p:cNvPr id="25" name="Text 23"/>
          <p:cNvSpPr/>
          <p:nvPr/>
        </p:nvSpPr>
        <p:spPr>
          <a:xfrm>
            <a:off x="3566160" y="5303520"/>
            <a:ext cx="8229600" cy="914400"/>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Elegir la combinacion tecnologica adecuada para el Proyecto Fin de Curso segun latencia, throughput (rendimiento) y costo.</a:t>
            </a:r>
            <a:endParaRPr lang="en-US" sz="1600" dirty="0"/>
          </a:p>
        </p:txBody>
      </p:sp>
      <p:sp>
        <p:nvSpPr>
          <p:cNvPr id="27" name="Shape 24"/>
          <p:cNvSpPr/>
          <p:nvPr/>
        </p:nvSpPr>
        <p:spPr>
          <a:xfrm>
            <a:off x="457200" y="6537960"/>
            <a:ext cx="11247120" cy="0"/>
          </a:xfrm>
          <a:prstGeom prst="line">
            <a:avLst/>
          </a:prstGeom>
          <a:noFill/>
          <a:ln w="9525">
            <a:solidFill>
              <a:srgbClr val="D9E1EA"/>
            </a:solidFill>
            <a:prstDash val="solid"/>
          </a:ln>
        </p:spPr>
      </p:sp>
      <p:sp>
        <p:nvSpPr>
          <p:cNvPr id="28" name="Text 25"/>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29" name="Text 26"/>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Objetivos   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2E86A1"/>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Mapa</a:t>
            </a:r>
            <a:endParaRPr lang="en-US" sz="1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Estructura de la Unidad 4</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280160"/>
            <a:ext cx="3657600" cy="5029200"/>
          </a:xfrm>
          <a:prstGeom prst="roundRect">
            <a:avLst>
              <a:gd name="adj" fmla="val 3750"/>
            </a:avLst>
          </a:prstGeom>
          <a:solidFill>
            <a:srgbClr val="F3F6FB"/>
          </a:solidFill>
          <a:ln w="9525">
            <a:solidFill>
              <a:srgbClr val="D9E1EA"/>
            </a:solidFill>
            <a:prstDash val="solid"/>
          </a:ln>
        </p:spPr>
      </p:sp>
      <p:sp>
        <p:nvSpPr>
          <p:cNvPr id="7" name="Shape 5"/>
          <p:cNvSpPr/>
          <p:nvPr/>
        </p:nvSpPr>
        <p:spPr>
          <a:xfrm>
            <a:off x="731520" y="1508760"/>
            <a:ext cx="1005840" cy="1005840"/>
          </a:xfrm>
          <a:prstGeom prst="ellipse">
            <a:avLst/>
          </a:prstGeom>
          <a:solidFill>
            <a:srgbClr val="0E3F7E"/>
          </a:solidFill>
          <a:ln/>
        </p:spPr>
      </p:sp>
      <p:sp>
        <p:nvSpPr>
          <p:cNvPr id="8" name="Text 6"/>
          <p:cNvSpPr/>
          <p:nvPr/>
        </p:nvSpPr>
        <p:spPr>
          <a:xfrm>
            <a:off x="731520" y="1508760"/>
            <a:ext cx="1005840" cy="10058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4.1</a:t>
            </a:r>
            <a:endParaRPr lang="en-US" sz="2200" dirty="0"/>
          </a:p>
        </p:txBody>
      </p:sp>
      <p:sp>
        <p:nvSpPr>
          <p:cNvPr id="9" name="Text 7"/>
          <p:cNvSpPr/>
          <p:nvPr/>
        </p:nvSpPr>
        <p:spPr>
          <a:xfrm>
            <a:off x="1828799" y="1508760"/>
            <a:ext cx="2191261" cy="100584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Fundamentos de</a:t>
            </a:r>
            <a:endParaRPr lang="en-US" sz="1600" dirty="0"/>
          </a:p>
          <a:p>
            <a:pPr marL="0" indent="0">
              <a:buNone/>
            </a:pPr>
            <a:r>
              <a:rPr lang="en-US" sz="1600" b="1" dirty="0">
                <a:solidFill>
                  <a:srgbClr val="0E3F7E"/>
                </a:solidFill>
                <a:latin typeface="Cambria" pitchFamily="34" charset="0"/>
                <a:ea typeface="Cambria" pitchFamily="34" charset="-122"/>
                <a:cs typeface="Cambria" pitchFamily="34" charset="-120"/>
              </a:rPr>
              <a:t>Computacion Paralela</a:t>
            </a:r>
            <a:endParaRPr lang="en-US" sz="1600" dirty="0"/>
          </a:p>
        </p:txBody>
      </p:sp>
      <p:sp>
        <p:nvSpPr>
          <p:cNvPr id="10" name="Text 8"/>
          <p:cNvSpPr/>
          <p:nvPr/>
        </p:nvSpPr>
        <p:spPr>
          <a:xfrm>
            <a:off x="777240" y="2743200"/>
            <a:ext cx="3017520" cy="3383280"/>
          </a:xfrm>
          <a:prstGeom prst="rect">
            <a:avLst/>
          </a:prstGeom>
          <a:noFill/>
          <a:ln/>
        </p:spPr>
        <p:txBody>
          <a:bodyPr wrap="square" lIns="0" tIns="0" rIns="0" bIns="0" rtlCol="0" anchor="ctr"/>
          <a:lstStyle/>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Paralelismo de datos vs tareas</a:t>
            </a:r>
            <a:endParaRPr lang="en-US" dirty="0"/>
          </a:p>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Memoria compartida vs paso de mensajes</a:t>
            </a:r>
            <a:endParaRPr lang="en-US" dirty="0"/>
          </a:p>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Ley de Amdahl y metricas</a:t>
            </a:r>
            <a:endParaRPr lang="en-US" dirty="0"/>
          </a:p>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OpenMP y MPI</a:t>
            </a:r>
            <a:endParaRPr lang="en-US" dirty="0"/>
          </a:p>
        </p:txBody>
      </p:sp>
      <p:sp>
        <p:nvSpPr>
          <p:cNvPr id="11" name="Shape 9"/>
          <p:cNvSpPr/>
          <p:nvPr/>
        </p:nvSpPr>
        <p:spPr>
          <a:xfrm>
            <a:off x="4251960" y="1280160"/>
            <a:ext cx="3657600" cy="5029200"/>
          </a:xfrm>
          <a:prstGeom prst="roundRect">
            <a:avLst>
              <a:gd name="adj" fmla="val 3750"/>
            </a:avLst>
          </a:prstGeom>
          <a:solidFill>
            <a:srgbClr val="E7F3F6"/>
          </a:solidFill>
          <a:ln w="9525">
            <a:solidFill>
              <a:srgbClr val="D9E1EA"/>
            </a:solidFill>
            <a:prstDash val="solid"/>
          </a:ln>
        </p:spPr>
      </p:sp>
      <p:sp>
        <p:nvSpPr>
          <p:cNvPr id="12" name="Shape 10"/>
          <p:cNvSpPr/>
          <p:nvPr/>
        </p:nvSpPr>
        <p:spPr>
          <a:xfrm>
            <a:off x="4526280" y="1508760"/>
            <a:ext cx="1005840" cy="1005840"/>
          </a:xfrm>
          <a:prstGeom prst="ellipse">
            <a:avLst/>
          </a:prstGeom>
          <a:solidFill>
            <a:srgbClr val="2E86A1"/>
          </a:solidFill>
          <a:ln/>
        </p:spPr>
      </p:sp>
      <p:sp>
        <p:nvSpPr>
          <p:cNvPr id="13" name="Text 11"/>
          <p:cNvSpPr/>
          <p:nvPr/>
        </p:nvSpPr>
        <p:spPr>
          <a:xfrm>
            <a:off x="4526280" y="1508760"/>
            <a:ext cx="1005840" cy="10058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4.2</a:t>
            </a:r>
            <a:endParaRPr lang="en-US" sz="2200" dirty="0"/>
          </a:p>
        </p:txBody>
      </p:sp>
      <p:sp>
        <p:nvSpPr>
          <p:cNvPr id="14" name="Text 12"/>
          <p:cNvSpPr/>
          <p:nvPr/>
        </p:nvSpPr>
        <p:spPr>
          <a:xfrm>
            <a:off x="5623559" y="1508760"/>
            <a:ext cx="2191261" cy="1005840"/>
          </a:xfrm>
          <a:prstGeom prst="rect">
            <a:avLst/>
          </a:prstGeom>
          <a:noFill/>
          <a:ln/>
        </p:spPr>
        <p:txBody>
          <a:bodyPr wrap="square" lIns="0" tIns="0" rIns="0" bIns="0" rtlCol="0" anchor="ctr"/>
          <a:lstStyle/>
          <a:p>
            <a:pPr marL="0" indent="0">
              <a:buNone/>
            </a:pPr>
            <a:r>
              <a:rPr lang="en-US" sz="1600" b="1" dirty="0">
                <a:solidFill>
                  <a:srgbClr val="2E86A1"/>
                </a:solidFill>
                <a:latin typeface="Cambria" pitchFamily="34" charset="0"/>
                <a:ea typeface="Cambria" pitchFamily="34" charset="-122"/>
                <a:cs typeface="Cambria" pitchFamily="34" charset="-120"/>
              </a:rPr>
              <a:t>Computacion en la </a:t>
            </a:r>
            <a:r>
              <a:rPr lang="en-US" sz="1600" b="1" dirty="0" err="1">
                <a:solidFill>
                  <a:srgbClr val="2E86A1"/>
                </a:solidFill>
                <a:latin typeface="Cambria" pitchFamily="34" charset="0"/>
                <a:ea typeface="Cambria" pitchFamily="34" charset="-122"/>
                <a:cs typeface="Cambria" pitchFamily="34" charset="-120"/>
              </a:rPr>
              <a:t>Nube</a:t>
            </a:r>
            <a:r>
              <a:rPr lang="en-US" sz="1600" b="1" dirty="0">
                <a:solidFill>
                  <a:srgbClr val="2E86A1"/>
                </a:solidFill>
                <a:latin typeface="Cambria" pitchFamily="34" charset="0"/>
                <a:ea typeface="Cambria" pitchFamily="34" charset="-122"/>
                <a:cs typeface="Cambria" pitchFamily="34" charset="-120"/>
              </a:rPr>
              <a:t> y Servicios Distribuidos</a:t>
            </a:r>
            <a:endParaRPr lang="en-US" sz="1600" dirty="0"/>
          </a:p>
        </p:txBody>
      </p:sp>
      <p:sp>
        <p:nvSpPr>
          <p:cNvPr id="15" name="Text 13"/>
          <p:cNvSpPr/>
          <p:nvPr/>
        </p:nvSpPr>
        <p:spPr>
          <a:xfrm>
            <a:off x="4572000" y="2743200"/>
            <a:ext cx="3017520" cy="3383280"/>
          </a:xfrm>
          <a:prstGeom prst="rect">
            <a:avLst/>
          </a:prstGeom>
          <a:noFill/>
          <a:ln/>
        </p:spPr>
        <p:txBody>
          <a:bodyPr wrap="square" lIns="0" tIns="0" rIns="0" bIns="0" rtlCol="0" anchor="ctr"/>
          <a:lstStyle/>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IaaS, PaaS, SaaS</a:t>
            </a:r>
            <a:endParaRPr lang="en-US" dirty="0"/>
          </a:p>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AWS vs Azure vs GCP</a:t>
            </a:r>
            <a:endParaRPr lang="en-US" dirty="0"/>
          </a:p>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FaaS y serverless</a:t>
            </a:r>
            <a:endParaRPr lang="en-US" dirty="0"/>
          </a:p>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Grid computing y Edge computing</a:t>
            </a:r>
            <a:endParaRPr lang="en-US" dirty="0"/>
          </a:p>
        </p:txBody>
      </p:sp>
      <p:sp>
        <p:nvSpPr>
          <p:cNvPr id="16" name="Shape 14"/>
          <p:cNvSpPr/>
          <p:nvPr/>
        </p:nvSpPr>
        <p:spPr>
          <a:xfrm>
            <a:off x="8046720" y="1280160"/>
            <a:ext cx="3657600" cy="5029200"/>
          </a:xfrm>
          <a:prstGeom prst="roundRect">
            <a:avLst>
              <a:gd name="adj" fmla="val 3750"/>
            </a:avLst>
          </a:prstGeom>
          <a:solidFill>
            <a:srgbClr val="E9F5EC"/>
          </a:solidFill>
          <a:ln w="9525">
            <a:solidFill>
              <a:srgbClr val="D9E1EA"/>
            </a:solidFill>
            <a:prstDash val="solid"/>
          </a:ln>
        </p:spPr>
      </p:sp>
      <p:sp>
        <p:nvSpPr>
          <p:cNvPr id="17" name="Shape 15"/>
          <p:cNvSpPr/>
          <p:nvPr/>
        </p:nvSpPr>
        <p:spPr>
          <a:xfrm>
            <a:off x="8321040" y="1508760"/>
            <a:ext cx="1005840" cy="1005840"/>
          </a:xfrm>
          <a:prstGeom prst="ellipse">
            <a:avLst/>
          </a:prstGeom>
          <a:solidFill>
            <a:srgbClr val="4FAE60"/>
          </a:solidFill>
          <a:ln/>
        </p:spPr>
      </p:sp>
      <p:sp>
        <p:nvSpPr>
          <p:cNvPr id="18" name="Text 16"/>
          <p:cNvSpPr/>
          <p:nvPr/>
        </p:nvSpPr>
        <p:spPr>
          <a:xfrm>
            <a:off x="8321040" y="1508760"/>
            <a:ext cx="1005840" cy="10058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4.3</a:t>
            </a:r>
            <a:endParaRPr lang="en-US" sz="2200" dirty="0"/>
          </a:p>
        </p:txBody>
      </p:sp>
      <p:sp>
        <p:nvSpPr>
          <p:cNvPr id="19" name="Text 17"/>
          <p:cNvSpPr/>
          <p:nvPr/>
        </p:nvSpPr>
        <p:spPr>
          <a:xfrm>
            <a:off x="9418319" y="1508760"/>
            <a:ext cx="2191261" cy="1005840"/>
          </a:xfrm>
          <a:prstGeom prst="rect">
            <a:avLst/>
          </a:prstGeom>
          <a:noFill/>
          <a:ln/>
        </p:spPr>
        <p:txBody>
          <a:bodyPr wrap="square" lIns="0" tIns="0" rIns="0" bIns="0" rtlCol="0" anchor="ctr"/>
          <a:lstStyle/>
          <a:p>
            <a:pPr marL="0" indent="0">
              <a:buNone/>
            </a:pPr>
            <a:r>
              <a:rPr lang="en-US" sz="1600" b="1" dirty="0">
                <a:solidFill>
                  <a:srgbClr val="4FAE60"/>
                </a:solidFill>
                <a:latin typeface="Cambria" pitchFamily="34" charset="0"/>
                <a:ea typeface="Cambria" pitchFamily="34" charset="-122"/>
                <a:cs typeface="Cambria" pitchFamily="34" charset="-120"/>
              </a:rPr>
              <a:t>Procesamiento</a:t>
            </a:r>
            <a:endParaRPr lang="en-US" sz="1600" dirty="0"/>
          </a:p>
          <a:p>
            <a:pPr marL="0" indent="0">
              <a:buNone/>
            </a:pPr>
            <a:r>
              <a:rPr lang="en-US" sz="1600" b="1" dirty="0">
                <a:solidFill>
                  <a:srgbClr val="4FAE60"/>
                </a:solidFill>
                <a:latin typeface="Cambria" pitchFamily="34" charset="0"/>
                <a:ea typeface="Cambria" pitchFamily="34" charset="-122"/>
                <a:cs typeface="Cambria" pitchFamily="34" charset="-120"/>
              </a:rPr>
              <a:t>Distribuido de Datos</a:t>
            </a:r>
            <a:endParaRPr lang="en-US" sz="1600" dirty="0"/>
          </a:p>
        </p:txBody>
      </p:sp>
      <p:sp>
        <p:nvSpPr>
          <p:cNvPr id="20" name="Text 18"/>
          <p:cNvSpPr/>
          <p:nvPr/>
        </p:nvSpPr>
        <p:spPr>
          <a:xfrm>
            <a:off x="8366760" y="2743200"/>
            <a:ext cx="3017520" cy="3383280"/>
          </a:xfrm>
          <a:prstGeom prst="rect">
            <a:avLst/>
          </a:prstGeom>
          <a:noFill/>
          <a:ln/>
        </p:spPr>
        <p:txBody>
          <a:bodyPr wrap="square" lIns="0" tIns="0" rIns="0" bIns="0" rtlCol="0" anchor="ctr"/>
          <a:lstStyle/>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Paradigma MapReduce</a:t>
            </a:r>
            <a:endParaRPr lang="en-US" dirty="0"/>
          </a:p>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Apache Hadoop</a:t>
            </a:r>
            <a:endParaRPr lang="en-US" dirty="0"/>
          </a:p>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Apache Spark</a:t>
            </a:r>
            <a:endParaRPr lang="en-US" dirty="0"/>
          </a:p>
          <a:p>
            <a:pPr marL="342900" indent="-342900">
              <a:spcAft>
                <a:spcPts val="600"/>
              </a:spcAft>
              <a:buSzPct val="100000"/>
              <a:buChar char="▪"/>
            </a:pPr>
            <a:r>
              <a:rPr lang="en-US" dirty="0">
                <a:solidFill>
                  <a:srgbClr val="1B2430"/>
                </a:solidFill>
                <a:latin typeface="Calibri" pitchFamily="34" charset="0"/>
                <a:ea typeface="Calibri" pitchFamily="34" charset="-122"/>
                <a:cs typeface="Calibri" pitchFamily="34" charset="-120"/>
              </a:rPr>
              <a:t>Streaming con Kafka Streams</a:t>
            </a:r>
            <a:endParaRPr lang="en-US" dirty="0"/>
          </a:p>
        </p:txBody>
      </p:sp>
      <p:sp>
        <p:nvSpPr>
          <p:cNvPr id="22" name="Shape 19"/>
          <p:cNvSpPr/>
          <p:nvPr/>
        </p:nvSpPr>
        <p:spPr>
          <a:xfrm>
            <a:off x="457200" y="6537960"/>
            <a:ext cx="11247120" cy="0"/>
          </a:xfrm>
          <a:prstGeom prst="line">
            <a:avLst/>
          </a:prstGeom>
          <a:noFill/>
          <a:ln w="9525">
            <a:solidFill>
              <a:srgbClr val="D9E1EA"/>
            </a:solidFill>
            <a:prstDash val="solid"/>
          </a:ln>
        </p:spPr>
      </p:sp>
      <p:sp>
        <p:nvSpPr>
          <p:cNvPr id="23" name="Text 20"/>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24" name="Text 21"/>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Mapa   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450"/>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E3F7E"/>
          </a:solidFill>
          <a:ln/>
        </p:spPr>
      </p:sp>
      <p:sp>
        <p:nvSpPr>
          <p:cNvPr id="3" name="Shape 1"/>
          <p:cNvSpPr/>
          <p:nvPr/>
        </p:nvSpPr>
        <p:spPr>
          <a:xfrm>
            <a:off x="9144000" y="3657600"/>
            <a:ext cx="4572000" cy="4572000"/>
          </a:xfrm>
          <a:prstGeom prst="ellipse">
            <a:avLst/>
          </a:prstGeom>
          <a:solidFill>
            <a:srgbClr val="1E5AA8">
              <a:alpha val="70000"/>
            </a:srgbClr>
          </a:solidFill>
          <a:ln/>
        </p:spPr>
      </p:sp>
      <p:sp>
        <p:nvSpPr>
          <p:cNvPr id="4" name="Shape 2"/>
          <p:cNvSpPr/>
          <p:nvPr/>
        </p:nvSpPr>
        <p:spPr>
          <a:xfrm>
            <a:off x="-1371600" y="-1371600"/>
            <a:ext cx="3657600" cy="3657600"/>
          </a:xfrm>
          <a:prstGeom prst="ellipse">
            <a:avLst/>
          </a:prstGeom>
          <a:solidFill>
            <a:srgbClr val="2E86A1">
              <a:alpha val="50000"/>
            </a:srgbClr>
          </a:solidFill>
          <a:ln/>
        </p:spPr>
      </p:sp>
      <p:sp>
        <p:nvSpPr>
          <p:cNvPr id="5" name="Shape 3"/>
          <p:cNvSpPr/>
          <p:nvPr/>
        </p:nvSpPr>
        <p:spPr>
          <a:xfrm>
            <a:off x="914400" y="2377440"/>
            <a:ext cx="1828800" cy="640080"/>
          </a:xfrm>
          <a:prstGeom prst="roundRect">
            <a:avLst>
              <a:gd name="adj" fmla="val 21429"/>
            </a:avLst>
          </a:prstGeom>
          <a:solidFill>
            <a:srgbClr val="F2A413"/>
          </a:solidFill>
          <a:ln/>
        </p:spPr>
      </p:sp>
      <p:sp>
        <p:nvSpPr>
          <p:cNvPr id="6" name="Text 4"/>
          <p:cNvSpPr/>
          <p:nvPr/>
        </p:nvSpPr>
        <p:spPr>
          <a:xfrm>
            <a:off x="914400" y="2377440"/>
            <a:ext cx="1828800" cy="640080"/>
          </a:xfrm>
          <a:prstGeom prst="rect">
            <a:avLst/>
          </a:prstGeom>
          <a:noFill/>
          <a:ln/>
        </p:spPr>
        <p:txBody>
          <a:bodyPr wrap="square" lIns="0" tIns="0" rIns="0" bIns="0" rtlCol="0" anchor="ctr"/>
          <a:lstStyle/>
          <a:p>
            <a:pPr marL="0" indent="0" algn="ctr">
              <a:buNone/>
            </a:pPr>
            <a:r>
              <a:rPr lang="en-US" sz="1600" b="1" kern="0" spc="400" dirty="0">
                <a:solidFill>
                  <a:srgbClr val="0A2450"/>
                </a:solidFill>
                <a:latin typeface="Calibri" pitchFamily="34" charset="0"/>
                <a:ea typeface="Calibri" pitchFamily="34" charset="-122"/>
                <a:cs typeface="Calibri" pitchFamily="34" charset="-120"/>
              </a:rPr>
              <a:t>BLOQUE 4.1</a:t>
            </a:r>
            <a:endParaRPr lang="en-US" sz="1600" dirty="0"/>
          </a:p>
        </p:txBody>
      </p:sp>
      <p:sp>
        <p:nvSpPr>
          <p:cNvPr id="7" name="Text 5"/>
          <p:cNvSpPr/>
          <p:nvPr/>
        </p:nvSpPr>
        <p:spPr>
          <a:xfrm>
            <a:off x="914400" y="3108960"/>
            <a:ext cx="10515600" cy="91440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Fundamentos de</a:t>
            </a:r>
            <a:endParaRPr lang="en-US" sz="5200" dirty="0"/>
          </a:p>
        </p:txBody>
      </p:sp>
      <p:sp>
        <p:nvSpPr>
          <p:cNvPr id="8" name="Text 6"/>
          <p:cNvSpPr/>
          <p:nvPr/>
        </p:nvSpPr>
        <p:spPr>
          <a:xfrm>
            <a:off x="914400" y="3840480"/>
            <a:ext cx="10515600" cy="91440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Computacion Paralela</a:t>
            </a:r>
            <a:endParaRPr lang="en-US" sz="5200" dirty="0"/>
          </a:p>
        </p:txBody>
      </p:sp>
      <p:sp>
        <p:nvSpPr>
          <p:cNvPr id="9" name="Text 7"/>
          <p:cNvSpPr/>
          <p:nvPr/>
        </p:nvSpPr>
        <p:spPr>
          <a:xfrm>
            <a:off x="914400" y="4754880"/>
            <a:ext cx="10515600" cy="457200"/>
          </a:xfrm>
          <a:prstGeom prst="rect">
            <a:avLst/>
          </a:prstGeom>
          <a:noFill/>
          <a:ln/>
        </p:spPr>
        <p:txBody>
          <a:bodyPr wrap="square" lIns="0" tIns="0" rIns="0" bIns="0" rtlCol="0" anchor="ctr"/>
          <a:lstStyle/>
          <a:p>
            <a:pPr marL="0" indent="0">
              <a:buNone/>
            </a:pPr>
            <a:r>
              <a:rPr lang="en-US" sz="2000" i="1" dirty="0">
                <a:solidFill>
                  <a:srgbClr val="F2A413"/>
                </a:solidFill>
                <a:latin typeface="Cambria" pitchFamily="34" charset="0"/>
                <a:ea typeface="Cambria" pitchFamily="34" charset="-122"/>
                <a:cs typeface="Cambria" pitchFamily="34" charset="-120"/>
              </a:rPr>
              <a:t>Del hilo unico al calculo multi-nucleo y multi-nodo</a:t>
            </a:r>
            <a:endParaRPr lang="en-US" sz="2000" dirty="0"/>
          </a:p>
        </p:txBody>
      </p:sp>
      <p:sp>
        <p:nvSpPr>
          <p:cNvPr id="11" name="Shape 8"/>
          <p:cNvSpPr/>
          <p:nvPr/>
        </p:nvSpPr>
        <p:spPr>
          <a:xfrm>
            <a:off x="457200" y="6537960"/>
            <a:ext cx="11247120" cy="0"/>
          </a:xfrm>
          <a:prstGeom prst="line">
            <a:avLst/>
          </a:prstGeom>
          <a:noFill/>
          <a:ln w="9525">
            <a:solidFill>
              <a:srgbClr val="D9E1EA"/>
            </a:solidFill>
            <a:prstDash val="solid"/>
          </a:ln>
        </p:spPr>
      </p:sp>
      <p:sp>
        <p:nvSpPr>
          <p:cNvPr id="12" name="Text 9"/>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13" name="Text 10"/>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Divisor 4.1   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0E3F7E"/>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4.1.1</a:t>
            </a:r>
            <a:endParaRPr lang="en-US" sz="1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Paralelismo: datos vs tareas</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097280"/>
            <a:ext cx="11247120" cy="685800"/>
          </a:xfrm>
          <a:prstGeom prst="roundRect">
            <a:avLst>
              <a:gd name="adj" fmla="val 13333"/>
            </a:avLst>
          </a:prstGeom>
          <a:solidFill>
            <a:srgbClr val="F3F6FB"/>
          </a:solidFill>
          <a:ln/>
        </p:spPr>
      </p:sp>
      <p:sp>
        <p:nvSpPr>
          <p:cNvPr id="7" name="Text 5"/>
          <p:cNvSpPr/>
          <p:nvPr/>
        </p:nvSpPr>
        <p:spPr>
          <a:xfrm>
            <a:off x="640080" y="1097280"/>
            <a:ext cx="10881360" cy="685800"/>
          </a:xfrm>
          <a:prstGeom prst="rect">
            <a:avLst/>
          </a:prstGeom>
          <a:noFill/>
          <a:ln/>
        </p:spPr>
        <p:txBody>
          <a:bodyPr wrap="square" lIns="0" tIns="0" rIns="0" bIns="0" rtlCol="0" anchor="ctr"/>
          <a:lstStyle/>
          <a:p>
            <a:pPr marL="0" indent="0">
              <a:buNone/>
            </a:pPr>
            <a:r>
              <a:rPr lang="en-US" b="1" dirty="0">
                <a:solidFill>
                  <a:srgbClr val="0E3F7E"/>
                </a:solidFill>
                <a:latin typeface="Cambria" pitchFamily="34" charset="0"/>
                <a:ea typeface="Cambria" pitchFamily="34" charset="-122"/>
                <a:cs typeface="Cambria" pitchFamily="34" charset="-120"/>
              </a:rPr>
              <a:t>Paralelismo</a:t>
            </a:r>
            <a:r>
              <a:rPr lang="en-US" sz="1600" dirty="0">
                <a:solidFill>
                  <a:srgbClr val="1B2430"/>
                </a:solidFill>
                <a:latin typeface="Calibri" pitchFamily="34" charset="0"/>
                <a:ea typeface="Calibri" pitchFamily="34" charset="-122"/>
                <a:cs typeface="Calibri" pitchFamily="34" charset="-120"/>
              </a:rPr>
              <a:t> (parallelism, ejecucion simultanea): descomposicion de un problema en subproblemas que se ejecutan al mismo tiempo en distintas unidades de procesamiento.</a:t>
            </a:r>
            <a:endParaRPr lang="en-US" dirty="0"/>
          </a:p>
        </p:txBody>
      </p:sp>
      <p:sp>
        <p:nvSpPr>
          <p:cNvPr id="8" name="Shape 6"/>
          <p:cNvSpPr/>
          <p:nvPr/>
        </p:nvSpPr>
        <p:spPr>
          <a:xfrm>
            <a:off x="457200" y="1965960"/>
            <a:ext cx="5532120" cy="4434840"/>
          </a:xfrm>
          <a:prstGeom prst="roundRect">
            <a:avLst>
              <a:gd name="adj" fmla="val 3093"/>
            </a:avLst>
          </a:prstGeom>
          <a:solidFill>
            <a:srgbClr val="F3F6FB"/>
          </a:solidFill>
          <a:ln w="9525">
            <a:solidFill>
              <a:srgbClr val="D9E1EA"/>
            </a:solidFill>
            <a:prstDash val="solid"/>
          </a:ln>
        </p:spPr>
      </p:sp>
      <p:sp>
        <p:nvSpPr>
          <p:cNvPr id="9" name="Shape 7"/>
          <p:cNvSpPr/>
          <p:nvPr/>
        </p:nvSpPr>
        <p:spPr>
          <a:xfrm>
            <a:off x="685800" y="2148840"/>
            <a:ext cx="731520" cy="731520"/>
          </a:xfrm>
          <a:prstGeom prst="ellipse">
            <a:avLst/>
          </a:prstGeom>
          <a:solidFill>
            <a:srgbClr val="0E3F7E"/>
          </a:solidFill>
          <a:ln/>
        </p:spPr>
      </p:sp>
      <p:sp>
        <p:nvSpPr>
          <p:cNvPr id="10" name="Text 8"/>
          <p:cNvSpPr/>
          <p:nvPr/>
        </p:nvSpPr>
        <p:spPr>
          <a:xfrm>
            <a:off x="685800" y="2148840"/>
            <a:ext cx="731520" cy="73152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D</a:t>
            </a:r>
            <a:endParaRPr lang="en-US" sz="3200" dirty="0"/>
          </a:p>
        </p:txBody>
      </p:sp>
      <p:sp>
        <p:nvSpPr>
          <p:cNvPr id="11" name="Text 9"/>
          <p:cNvSpPr/>
          <p:nvPr/>
        </p:nvSpPr>
        <p:spPr>
          <a:xfrm>
            <a:off x="1554480" y="2121408"/>
            <a:ext cx="4251960" cy="411480"/>
          </a:xfrm>
          <a:prstGeom prst="rect">
            <a:avLst/>
          </a:prstGeom>
          <a:noFill/>
          <a:ln/>
        </p:spPr>
        <p:txBody>
          <a:bodyPr wrap="square" lIns="0" tIns="0" rIns="0" bIns="0" rtlCol="0" anchor="ctr"/>
          <a:lstStyle/>
          <a:p>
            <a:pPr marL="0" indent="0">
              <a:buNone/>
            </a:pPr>
            <a:r>
              <a:rPr lang="en-US" sz="2400" b="1" dirty="0">
                <a:solidFill>
                  <a:srgbClr val="0E3F7E"/>
                </a:solidFill>
                <a:latin typeface="Cambria" pitchFamily="34" charset="0"/>
                <a:ea typeface="Cambria" pitchFamily="34" charset="-122"/>
                <a:cs typeface="Cambria" pitchFamily="34" charset="-120"/>
              </a:rPr>
              <a:t>Paralelismo de datos</a:t>
            </a:r>
            <a:endParaRPr lang="en-US" sz="2400" dirty="0"/>
          </a:p>
        </p:txBody>
      </p:sp>
      <p:sp>
        <p:nvSpPr>
          <p:cNvPr id="12" name="Text 10"/>
          <p:cNvSpPr/>
          <p:nvPr/>
        </p:nvSpPr>
        <p:spPr>
          <a:xfrm>
            <a:off x="1554480" y="2532888"/>
            <a:ext cx="4251960" cy="320040"/>
          </a:xfrm>
          <a:prstGeom prst="rect">
            <a:avLst/>
          </a:prstGeom>
          <a:noFill/>
          <a:ln/>
        </p:spPr>
        <p:txBody>
          <a:bodyPr wrap="square" lIns="0" tIns="0" rIns="0" bIns="0" rtlCol="0" anchor="ctr"/>
          <a:lstStyle/>
          <a:p>
            <a:pPr marL="0" indent="0">
              <a:buNone/>
            </a:pPr>
            <a:r>
              <a:rPr lang="en-US" sz="1400" i="1" dirty="0">
                <a:solidFill>
                  <a:srgbClr val="3B4A5A"/>
                </a:solidFill>
                <a:latin typeface="Calibri" pitchFamily="34" charset="0"/>
                <a:ea typeface="Calibri" pitchFamily="34" charset="-122"/>
                <a:cs typeface="Calibri" pitchFamily="34" charset="-120"/>
              </a:rPr>
              <a:t>(data parallelism, mismo trabajo, distintos datos)</a:t>
            </a:r>
            <a:endParaRPr lang="en-US" sz="1400" dirty="0"/>
          </a:p>
        </p:txBody>
      </p:sp>
      <p:sp>
        <p:nvSpPr>
          <p:cNvPr id="13" name="Text 11"/>
          <p:cNvSpPr/>
          <p:nvPr/>
        </p:nvSpPr>
        <p:spPr>
          <a:xfrm>
            <a:off x="731520" y="3063240"/>
            <a:ext cx="4983480" cy="23317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El mismo programa se aplica sobre particiones distintas del conjunto de datos.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Modelo SIMD (Single Instruction, Multiple Data - Instruccion Unica, Datos Multiples).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Escala con el tamano del dataset (conjunto de datos).</a:t>
            </a:r>
            <a:endParaRPr lang="en-US" sz="1600" dirty="0"/>
          </a:p>
        </p:txBody>
      </p:sp>
      <p:sp>
        <p:nvSpPr>
          <p:cNvPr id="14" name="Shape 12"/>
          <p:cNvSpPr/>
          <p:nvPr/>
        </p:nvSpPr>
        <p:spPr>
          <a:xfrm>
            <a:off x="731520" y="5532120"/>
            <a:ext cx="4983480" cy="777240"/>
          </a:xfrm>
          <a:prstGeom prst="roundRect">
            <a:avLst>
              <a:gd name="adj" fmla="val 9412"/>
            </a:avLst>
          </a:prstGeom>
          <a:solidFill>
            <a:srgbClr val="FFFFFF"/>
          </a:solidFill>
          <a:ln w="12700">
            <a:solidFill>
              <a:srgbClr val="0E3F7E"/>
            </a:solidFill>
            <a:prstDash val="solid"/>
          </a:ln>
        </p:spPr>
      </p:sp>
      <p:sp>
        <p:nvSpPr>
          <p:cNvPr id="15" name="Text 13"/>
          <p:cNvSpPr/>
          <p:nvPr/>
        </p:nvSpPr>
        <p:spPr>
          <a:xfrm>
            <a:off x="822960" y="5532120"/>
            <a:ext cx="4800600" cy="777240"/>
          </a:xfrm>
          <a:prstGeom prst="rect">
            <a:avLst/>
          </a:prstGeom>
          <a:noFill/>
          <a:ln/>
        </p:spPr>
        <p:txBody>
          <a:bodyPr wrap="square" lIns="0" tIns="0" rIns="0" bIns="0" rtlCol="0" anchor="ctr"/>
          <a:lstStyle/>
          <a:p>
            <a:pPr marL="0" indent="0">
              <a:buNone/>
            </a:pPr>
            <a:r>
              <a:rPr lang="en-US" sz="1600" i="1" dirty="0">
                <a:solidFill>
                  <a:srgbClr val="1B2430"/>
                </a:solidFill>
                <a:latin typeface="Calibri" pitchFamily="34" charset="0"/>
                <a:ea typeface="Calibri" pitchFamily="34" charset="-122"/>
                <a:cs typeface="Calibri" pitchFamily="34" charset="-120"/>
              </a:rPr>
              <a:t>Ejemplo: multiplicar un vector de 10^9 elementos por un escalar; entrenamiento de redes neuronales con lotes.</a:t>
            </a:r>
            <a:endParaRPr lang="en-US" sz="1600" dirty="0"/>
          </a:p>
        </p:txBody>
      </p:sp>
      <p:sp>
        <p:nvSpPr>
          <p:cNvPr id="16" name="Shape 14"/>
          <p:cNvSpPr/>
          <p:nvPr/>
        </p:nvSpPr>
        <p:spPr>
          <a:xfrm>
            <a:off x="6172200" y="1965960"/>
            <a:ext cx="5532120" cy="4434840"/>
          </a:xfrm>
          <a:prstGeom prst="roundRect">
            <a:avLst>
              <a:gd name="adj" fmla="val 3093"/>
            </a:avLst>
          </a:prstGeom>
          <a:solidFill>
            <a:srgbClr val="E7F3F6"/>
          </a:solidFill>
          <a:ln w="9525">
            <a:solidFill>
              <a:srgbClr val="D9E1EA"/>
            </a:solidFill>
            <a:prstDash val="solid"/>
          </a:ln>
        </p:spPr>
      </p:sp>
      <p:sp>
        <p:nvSpPr>
          <p:cNvPr id="17" name="Shape 15"/>
          <p:cNvSpPr/>
          <p:nvPr/>
        </p:nvSpPr>
        <p:spPr>
          <a:xfrm>
            <a:off x="6400800" y="2148840"/>
            <a:ext cx="731520" cy="731520"/>
          </a:xfrm>
          <a:prstGeom prst="ellipse">
            <a:avLst/>
          </a:prstGeom>
          <a:solidFill>
            <a:srgbClr val="2E86A1"/>
          </a:solidFill>
          <a:ln/>
        </p:spPr>
      </p:sp>
      <p:sp>
        <p:nvSpPr>
          <p:cNvPr id="18" name="Text 16"/>
          <p:cNvSpPr/>
          <p:nvPr/>
        </p:nvSpPr>
        <p:spPr>
          <a:xfrm>
            <a:off x="6400800" y="2148840"/>
            <a:ext cx="731520" cy="73152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T</a:t>
            </a:r>
            <a:endParaRPr lang="en-US" sz="3200" dirty="0"/>
          </a:p>
        </p:txBody>
      </p:sp>
      <p:sp>
        <p:nvSpPr>
          <p:cNvPr id="19" name="Text 17"/>
          <p:cNvSpPr/>
          <p:nvPr/>
        </p:nvSpPr>
        <p:spPr>
          <a:xfrm>
            <a:off x="7269480" y="2121408"/>
            <a:ext cx="4251960" cy="411480"/>
          </a:xfrm>
          <a:prstGeom prst="rect">
            <a:avLst/>
          </a:prstGeom>
          <a:noFill/>
          <a:ln/>
        </p:spPr>
        <p:txBody>
          <a:bodyPr wrap="square" lIns="0" tIns="0" rIns="0" bIns="0" rtlCol="0" anchor="ctr"/>
          <a:lstStyle/>
          <a:p>
            <a:pPr marL="0" indent="0">
              <a:buNone/>
            </a:pPr>
            <a:r>
              <a:rPr lang="en-US" sz="2400" b="1" dirty="0">
                <a:solidFill>
                  <a:srgbClr val="2E86A1"/>
                </a:solidFill>
                <a:latin typeface="Cambria" pitchFamily="34" charset="0"/>
                <a:ea typeface="Cambria" pitchFamily="34" charset="-122"/>
                <a:cs typeface="Cambria" pitchFamily="34" charset="-120"/>
              </a:rPr>
              <a:t>Paralelismo de tareas</a:t>
            </a:r>
            <a:endParaRPr lang="en-US" sz="2400" dirty="0"/>
          </a:p>
        </p:txBody>
      </p:sp>
      <p:sp>
        <p:nvSpPr>
          <p:cNvPr id="20" name="Text 18"/>
          <p:cNvSpPr/>
          <p:nvPr/>
        </p:nvSpPr>
        <p:spPr>
          <a:xfrm>
            <a:off x="7269480" y="2532888"/>
            <a:ext cx="4251960" cy="320040"/>
          </a:xfrm>
          <a:prstGeom prst="rect">
            <a:avLst/>
          </a:prstGeom>
          <a:noFill/>
          <a:ln/>
        </p:spPr>
        <p:txBody>
          <a:bodyPr wrap="square" lIns="0" tIns="0" rIns="0" bIns="0" rtlCol="0" anchor="ctr"/>
          <a:lstStyle/>
          <a:p>
            <a:pPr marL="0" indent="0">
              <a:buNone/>
            </a:pPr>
            <a:r>
              <a:rPr lang="en-US" sz="1400" i="1" dirty="0">
                <a:solidFill>
                  <a:srgbClr val="3B4A5A"/>
                </a:solidFill>
                <a:latin typeface="Calibri" pitchFamily="34" charset="0"/>
                <a:ea typeface="Calibri" pitchFamily="34" charset="-122"/>
                <a:cs typeface="Calibri" pitchFamily="34" charset="-120"/>
              </a:rPr>
              <a:t>(task parallelism, distinto trabajo, mismos o distintos datos)</a:t>
            </a:r>
            <a:endParaRPr lang="en-US" sz="1400" dirty="0"/>
          </a:p>
        </p:txBody>
      </p:sp>
      <p:sp>
        <p:nvSpPr>
          <p:cNvPr id="21" name="Text 19"/>
          <p:cNvSpPr/>
          <p:nvPr/>
        </p:nvSpPr>
        <p:spPr>
          <a:xfrm>
            <a:off x="6446520" y="3063240"/>
            <a:ext cx="4983480" cy="23317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Tareas diferentes se ejecutan concurrentemente, posiblemente sobre datos compartidos.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Modelo MIMD (Multiple Instruction, Multiple Data - Instrucciones Multiples, Datos Multiples).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Escala con la cantidad de tareas independientes disponibles.</a:t>
            </a:r>
            <a:endParaRPr lang="en-US" sz="1600" dirty="0"/>
          </a:p>
        </p:txBody>
      </p:sp>
      <p:sp>
        <p:nvSpPr>
          <p:cNvPr id="22" name="Shape 20"/>
          <p:cNvSpPr/>
          <p:nvPr/>
        </p:nvSpPr>
        <p:spPr>
          <a:xfrm>
            <a:off x="6446520" y="5532120"/>
            <a:ext cx="4983480" cy="777240"/>
          </a:xfrm>
          <a:prstGeom prst="roundRect">
            <a:avLst>
              <a:gd name="adj" fmla="val 9412"/>
            </a:avLst>
          </a:prstGeom>
          <a:solidFill>
            <a:srgbClr val="FFFFFF"/>
          </a:solidFill>
          <a:ln w="12700">
            <a:solidFill>
              <a:srgbClr val="2E86A1"/>
            </a:solidFill>
            <a:prstDash val="solid"/>
          </a:ln>
        </p:spPr>
      </p:sp>
      <p:sp>
        <p:nvSpPr>
          <p:cNvPr id="23" name="Text 21"/>
          <p:cNvSpPr/>
          <p:nvPr/>
        </p:nvSpPr>
        <p:spPr>
          <a:xfrm>
            <a:off x="6537960" y="5532120"/>
            <a:ext cx="4800600" cy="777240"/>
          </a:xfrm>
          <a:prstGeom prst="rect">
            <a:avLst/>
          </a:prstGeom>
          <a:noFill/>
          <a:ln/>
        </p:spPr>
        <p:txBody>
          <a:bodyPr wrap="square" lIns="0" tIns="0" rIns="0" bIns="0" rtlCol="0" anchor="ctr"/>
          <a:lstStyle/>
          <a:p>
            <a:pPr marL="0" indent="0">
              <a:buNone/>
            </a:pPr>
            <a:r>
              <a:rPr lang="en-US" sz="1600" i="1" dirty="0">
                <a:solidFill>
                  <a:srgbClr val="1B2430"/>
                </a:solidFill>
                <a:latin typeface="Calibri" pitchFamily="34" charset="0"/>
                <a:ea typeface="Calibri" pitchFamily="34" charset="-122"/>
                <a:cs typeface="Calibri" pitchFamily="34" charset="-120"/>
              </a:rPr>
              <a:t>Ejemplo: pipeline ETL (Extract, Transform, Load - Extraer, Transformar, Cargar) con extraccion, limpieza y carga simultaneas.</a:t>
            </a:r>
            <a:endParaRPr lang="en-US" sz="1600" dirty="0"/>
          </a:p>
        </p:txBody>
      </p:sp>
      <p:sp>
        <p:nvSpPr>
          <p:cNvPr id="25" name="Shape 22"/>
          <p:cNvSpPr/>
          <p:nvPr/>
        </p:nvSpPr>
        <p:spPr>
          <a:xfrm>
            <a:off x="457200" y="6537960"/>
            <a:ext cx="11247120" cy="0"/>
          </a:xfrm>
          <a:prstGeom prst="line">
            <a:avLst/>
          </a:prstGeom>
          <a:noFill/>
          <a:ln w="9525">
            <a:solidFill>
              <a:srgbClr val="D9E1EA"/>
            </a:solidFill>
            <a:prstDash val="solid"/>
          </a:ln>
        </p:spPr>
      </p:sp>
      <p:sp>
        <p:nvSpPr>
          <p:cNvPr id="26" name="Text 23"/>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27" name="Text 24"/>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4.1.1   05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0E3F7E"/>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4.1.2</a:t>
            </a:r>
            <a:endParaRPr lang="en-US" sz="1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Modelos de programacion paralela</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097280"/>
            <a:ext cx="5532120" cy="5303520"/>
          </a:xfrm>
          <a:prstGeom prst="roundRect">
            <a:avLst>
              <a:gd name="adj" fmla="val 2586"/>
            </a:avLst>
          </a:prstGeom>
          <a:solidFill>
            <a:srgbClr val="F3F6FB"/>
          </a:solidFill>
          <a:ln w="9525">
            <a:solidFill>
              <a:srgbClr val="D9E1EA"/>
            </a:solidFill>
            <a:prstDash val="solid"/>
          </a:ln>
        </p:spPr>
      </p:sp>
      <p:sp>
        <p:nvSpPr>
          <p:cNvPr id="7" name="Text 5"/>
          <p:cNvSpPr/>
          <p:nvPr/>
        </p:nvSpPr>
        <p:spPr>
          <a:xfrm>
            <a:off x="731520" y="1188720"/>
            <a:ext cx="4983480" cy="411480"/>
          </a:xfrm>
          <a:prstGeom prst="rect">
            <a:avLst/>
          </a:prstGeom>
          <a:noFill/>
          <a:ln/>
        </p:spPr>
        <p:txBody>
          <a:bodyPr wrap="square" lIns="0" tIns="0" rIns="0" bIns="0" rtlCol="0" anchor="ctr"/>
          <a:lstStyle/>
          <a:p>
            <a:pPr marL="0" indent="0">
              <a:buNone/>
            </a:pPr>
            <a:r>
              <a:rPr lang="en-US" sz="2800" b="1" dirty="0">
                <a:solidFill>
                  <a:srgbClr val="0E3F7E"/>
                </a:solidFill>
                <a:latin typeface="Cambria" pitchFamily="34" charset="0"/>
                <a:ea typeface="Cambria" pitchFamily="34" charset="-122"/>
                <a:cs typeface="Cambria" pitchFamily="34" charset="-120"/>
              </a:rPr>
              <a:t>Memoria compartida</a:t>
            </a:r>
            <a:endParaRPr lang="en-US" sz="2800" dirty="0"/>
          </a:p>
        </p:txBody>
      </p:sp>
      <p:sp>
        <p:nvSpPr>
          <p:cNvPr id="8" name="Text 6"/>
          <p:cNvSpPr/>
          <p:nvPr/>
        </p:nvSpPr>
        <p:spPr>
          <a:xfrm>
            <a:off x="731520" y="1572768"/>
            <a:ext cx="4983480" cy="274320"/>
          </a:xfrm>
          <a:prstGeom prst="rect">
            <a:avLst/>
          </a:prstGeom>
          <a:noFill/>
          <a:ln/>
        </p:spPr>
        <p:txBody>
          <a:bodyPr wrap="square" lIns="0" tIns="0" rIns="0" bIns="0" rtlCol="0" anchor="ctr"/>
          <a:lstStyle/>
          <a:p>
            <a:pPr marL="0" indent="0">
              <a:buNone/>
            </a:pPr>
            <a:r>
              <a:rPr lang="en-US" sz="1600" i="1" dirty="0">
                <a:solidFill>
                  <a:srgbClr val="3B4A5A"/>
                </a:solidFill>
                <a:latin typeface="Calibri" pitchFamily="34" charset="0"/>
                <a:ea typeface="Calibri" pitchFamily="34" charset="-122"/>
                <a:cs typeface="Calibri" pitchFamily="34" charset="-120"/>
              </a:rPr>
              <a:t>(shared memory)</a:t>
            </a:r>
            <a:endParaRPr lang="en-US" sz="1600" dirty="0"/>
          </a:p>
        </p:txBody>
      </p:sp>
      <p:sp>
        <p:nvSpPr>
          <p:cNvPr id="9" name="Text 7"/>
          <p:cNvSpPr/>
          <p:nvPr/>
        </p:nvSpPr>
        <p:spPr>
          <a:xfrm>
            <a:off x="731520" y="1874520"/>
            <a:ext cx="4983480" cy="50292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Multiples hilos acceden a un mismo espacio de direcciones de memoria dentro de un nodo.</a:t>
            </a:r>
            <a:endParaRPr lang="en-US" sz="1600" dirty="0"/>
          </a:p>
        </p:txBody>
      </p:sp>
      <p:sp>
        <p:nvSpPr>
          <p:cNvPr id="10" name="Text 8"/>
          <p:cNvSpPr/>
          <p:nvPr/>
        </p:nvSpPr>
        <p:spPr>
          <a:xfrm>
            <a:off x="731520" y="2423160"/>
            <a:ext cx="4983480" cy="274320"/>
          </a:xfrm>
          <a:prstGeom prst="rect">
            <a:avLst/>
          </a:prstGeom>
          <a:noFill/>
          <a:ln/>
        </p:spPr>
        <p:txBody>
          <a:bodyPr wrap="square" lIns="0" tIns="0" rIns="0" bIns="0" rtlCol="0" anchor="ctr"/>
          <a:lstStyle/>
          <a:p>
            <a:pPr marL="0" indent="0">
              <a:buNone/>
            </a:pPr>
            <a:r>
              <a:rPr lang="en-US" sz="1600" b="1" dirty="0">
                <a:solidFill>
                  <a:srgbClr val="4FAE60"/>
                </a:solidFill>
                <a:latin typeface="Cambria" pitchFamily="34" charset="0"/>
                <a:ea typeface="Cambria" pitchFamily="34" charset="-122"/>
                <a:cs typeface="Cambria" pitchFamily="34" charset="-120"/>
              </a:rPr>
              <a:t>Ventajas</a:t>
            </a:r>
            <a:endParaRPr lang="en-US" sz="1600" dirty="0"/>
          </a:p>
        </p:txBody>
      </p:sp>
      <p:sp>
        <p:nvSpPr>
          <p:cNvPr id="11" name="Text 9"/>
          <p:cNvSpPr/>
          <p:nvPr/>
        </p:nvSpPr>
        <p:spPr>
          <a:xfrm>
            <a:off x="777240" y="2697480"/>
            <a:ext cx="4892040" cy="1188720"/>
          </a:xfrm>
          <a:prstGeom prst="rect">
            <a:avLst/>
          </a:prstGeom>
          <a:noFill/>
          <a:ln/>
        </p:spPr>
        <p:txBody>
          <a:bodyPr wrap="square" lIns="0" tIns="0" rIns="0" bIns="0" rtlCol="0" anchor="ctr"/>
          <a:lstStyle/>
          <a:p>
            <a:pPr marL="342900" indent="-342900">
              <a:spcAft>
                <a:spcPts val="300"/>
              </a:spcAft>
              <a:buSzPct val="100000"/>
              <a:buChar char="▸"/>
            </a:pPr>
            <a:r>
              <a:rPr lang="en-US" sz="1500" dirty="0">
                <a:solidFill>
                  <a:srgbClr val="1B2430"/>
                </a:solidFill>
                <a:latin typeface="Calibri" pitchFamily="34" charset="0"/>
                <a:ea typeface="Calibri" pitchFamily="34" charset="-122"/>
                <a:cs typeface="Calibri" pitchFamily="34" charset="-120"/>
              </a:rPr>
              <a:t>Comunicacion implicita: escribir en una variable la comparte.</a:t>
            </a:r>
            <a:endParaRPr lang="en-US" sz="1500" dirty="0"/>
          </a:p>
          <a:p>
            <a:pPr marL="342900" indent="-342900">
              <a:spcAft>
                <a:spcPts val="300"/>
              </a:spcAft>
              <a:buSzPct val="100000"/>
              <a:buChar char="▸"/>
            </a:pPr>
            <a:r>
              <a:rPr lang="en-US" sz="1500" dirty="0">
                <a:solidFill>
                  <a:srgbClr val="1B2430"/>
                </a:solidFill>
                <a:latin typeface="Calibri" pitchFamily="34" charset="0"/>
                <a:ea typeface="Calibri" pitchFamily="34" charset="-122"/>
                <a:cs typeface="Calibri" pitchFamily="34" charset="-120"/>
              </a:rPr>
              <a:t>Baja latencia (nanosegundos).</a:t>
            </a:r>
            <a:endParaRPr lang="en-US" sz="1500" dirty="0"/>
          </a:p>
          <a:p>
            <a:pPr marL="342900" indent="-342900">
              <a:spcAft>
                <a:spcPts val="300"/>
              </a:spcAft>
              <a:buSzPct val="100000"/>
              <a:buChar char="▸"/>
            </a:pPr>
            <a:r>
              <a:rPr lang="en-US" sz="1500" dirty="0">
                <a:solidFill>
                  <a:srgbClr val="1B2430"/>
                </a:solidFill>
                <a:latin typeface="Calibri" pitchFamily="34" charset="0"/>
                <a:ea typeface="Calibri" pitchFamily="34" charset="-122"/>
                <a:cs typeface="Calibri" pitchFamily="34" charset="-120"/>
              </a:rPr>
              <a:t>Programacion mas natural para el desarrollador.</a:t>
            </a:r>
            <a:endParaRPr lang="en-US" sz="1500" dirty="0"/>
          </a:p>
        </p:txBody>
      </p:sp>
      <p:sp>
        <p:nvSpPr>
          <p:cNvPr id="12" name="Text 10"/>
          <p:cNvSpPr/>
          <p:nvPr/>
        </p:nvSpPr>
        <p:spPr>
          <a:xfrm>
            <a:off x="731520" y="3977640"/>
            <a:ext cx="4983480" cy="274320"/>
          </a:xfrm>
          <a:prstGeom prst="rect">
            <a:avLst/>
          </a:prstGeom>
          <a:noFill/>
          <a:ln/>
        </p:spPr>
        <p:txBody>
          <a:bodyPr wrap="square" lIns="0" tIns="0" rIns="0" bIns="0" rtlCol="0" anchor="ctr"/>
          <a:lstStyle/>
          <a:p>
            <a:pPr marL="0" indent="0">
              <a:buNone/>
            </a:pPr>
            <a:r>
              <a:rPr lang="en-US" sz="1600" b="1" dirty="0">
                <a:solidFill>
                  <a:srgbClr val="F2A413"/>
                </a:solidFill>
                <a:latin typeface="Cambria" pitchFamily="34" charset="0"/>
                <a:ea typeface="Cambria" pitchFamily="34" charset="-122"/>
                <a:cs typeface="Cambria" pitchFamily="34" charset="-120"/>
              </a:rPr>
              <a:t>Retos</a:t>
            </a:r>
            <a:endParaRPr lang="en-US" sz="1600" dirty="0"/>
          </a:p>
        </p:txBody>
      </p:sp>
      <p:sp>
        <p:nvSpPr>
          <p:cNvPr id="13" name="Text 11"/>
          <p:cNvSpPr/>
          <p:nvPr/>
        </p:nvSpPr>
        <p:spPr>
          <a:xfrm>
            <a:off x="777240" y="4251960"/>
            <a:ext cx="4937760" cy="1463040"/>
          </a:xfrm>
          <a:prstGeom prst="rect">
            <a:avLst/>
          </a:prstGeom>
          <a:noFill/>
          <a:ln/>
        </p:spPr>
        <p:txBody>
          <a:bodyPr wrap="square" lIns="0" tIns="0" rIns="0" bIns="0" rtlCol="0" anchor="ctr"/>
          <a:lstStyle/>
          <a:p>
            <a:pPr marL="342900" indent="-342900">
              <a:spcAft>
                <a:spcPts val="300"/>
              </a:spcAft>
              <a:buSzPct val="100000"/>
              <a:buChar char="▸"/>
            </a:pPr>
            <a:r>
              <a:rPr lang="en-US" sz="1400" dirty="0">
                <a:solidFill>
                  <a:srgbClr val="1B2430"/>
                </a:solidFill>
                <a:latin typeface="Calibri" pitchFamily="34" charset="0"/>
                <a:ea typeface="Calibri" pitchFamily="34" charset="-122"/>
                <a:cs typeface="Calibri" pitchFamily="34" charset="-120"/>
              </a:rPr>
              <a:t>Race conditions (condiciones de carrera): requiere locks (cerrojos), mutex (mutual exclusion, exclusion mutua) o semaforos.</a:t>
            </a:r>
            <a:endParaRPr lang="en-US" sz="1400" dirty="0"/>
          </a:p>
          <a:p>
            <a:pPr marL="342900" indent="-342900">
              <a:spcAft>
                <a:spcPts val="300"/>
              </a:spcAft>
              <a:buSzPct val="100000"/>
              <a:buChar char="▸"/>
            </a:pPr>
            <a:r>
              <a:rPr lang="en-US" sz="1400" dirty="0">
                <a:solidFill>
                  <a:srgbClr val="1B2430"/>
                </a:solidFill>
                <a:latin typeface="Calibri" pitchFamily="34" charset="0"/>
                <a:ea typeface="Calibri" pitchFamily="34" charset="-122"/>
                <a:cs typeface="Calibri" pitchFamily="34" charset="-120"/>
              </a:rPr>
              <a:t>No escala mas alla del nodo fisico (limite del bus de memoria).</a:t>
            </a:r>
            <a:endParaRPr lang="en-US" sz="1400" dirty="0"/>
          </a:p>
          <a:p>
            <a:pPr marL="342900" indent="-342900">
              <a:spcAft>
                <a:spcPts val="300"/>
              </a:spcAft>
              <a:buSzPct val="100000"/>
              <a:buChar char="▸"/>
            </a:pPr>
            <a:r>
              <a:rPr lang="en-US" sz="1400" dirty="0">
                <a:solidFill>
                  <a:srgbClr val="1B2430"/>
                </a:solidFill>
                <a:latin typeface="Calibri" pitchFamily="34" charset="0"/>
                <a:ea typeface="Calibri" pitchFamily="34" charset="-122"/>
                <a:cs typeface="Calibri" pitchFamily="34" charset="-120"/>
              </a:rPr>
              <a:t>False sharing (falso compartido) degrada el rendimiento por el cache (memoria intermedia).</a:t>
            </a:r>
            <a:endParaRPr lang="en-US" sz="1400" dirty="0"/>
          </a:p>
        </p:txBody>
      </p:sp>
      <p:sp>
        <p:nvSpPr>
          <p:cNvPr id="14" name="Shape 12"/>
          <p:cNvSpPr/>
          <p:nvPr/>
        </p:nvSpPr>
        <p:spPr>
          <a:xfrm>
            <a:off x="731520" y="5806440"/>
            <a:ext cx="4983480" cy="502920"/>
          </a:xfrm>
          <a:prstGeom prst="roundRect">
            <a:avLst>
              <a:gd name="adj" fmla="val 14545"/>
            </a:avLst>
          </a:prstGeom>
          <a:solidFill>
            <a:srgbClr val="0E3F7E"/>
          </a:solidFill>
          <a:ln/>
        </p:spPr>
      </p:sp>
      <p:sp>
        <p:nvSpPr>
          <p:cNvPr id="15" name="Text 13"/>
          <p:cNvSpPr/>
          <p:nvPr/>
        </p:nvSpPr>
        <p:spPr>
          <a:xfrm>
            <a:off x="822960" y="5806440"/>
            <a:ext cx="480060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Herramientas tipicas: OpenMP, POSIX Threads (pthreads), Java Concurrency.</a:t>
            </a:r>
            <a:endParaRPr lang="en-US" sz="1400" dirty="0"/>
          </a:p>
        </p:txBody>
      </p:sp>
      <p:sp>
        <p:nvSpPr>
          <p:cNvPr id="16" name="Shape 14"/>
          <p:cNvSpPr/>
          <p:nvPr/>
        </p:nvSpPr>
        <p:spPr>
          <a:xfrm>
            <a:off x="6172200" y="1097280"/>
            <a:ext cx="5532120" cy="5303520"/>
          </a:xfrm>
          <a:prstGeom prst="roundRect">
            <a:avLst>
              <a:gd name="adj" fmla="val 2586"/>
            </a:avLst>
          </a:prstGeom>
          <a:solidFill>
            <a:srgbClr val="E7F3F6"/>
          </a:solidFill>
          <a:ln w="9525">
            <a:solidFill>
              <a:srgbClr val="D9E1EA"/>
            </a:solidFill>
            <a:prstDash val="solid"/>
          </a:ln>
        </p:spPr>
      </p:sp>
      <p:sp>
        <p:nvSpPr>
          <p:cNvPr id="17" name="Text 15"/>
          <p:cNvSpPr/>
          <p:nvPr/>
        </p:nvSpPr>
        <p:spPr>
          <a:xfrm>
            <a:off x="6446520" y="1188720"/>
            <a:ext cx="4983480" cy="411480"/>
          </a:xfrm>
          <a:prstGeom prst="rect">
            <a:avLst/>
          </a:prstGeom>
          <a:noFill/>
          <a:ln/>
        </p:spPr>
        <p:txBody>
          <a:bodyPr wrap="square" lIns="0" tIns="0" rIns="0" bIns="0" rtlCol="0" anchor="ctr"/>
          <a:lstStyle/>
          <a:p>
            <a:pPr marL="0" indent="0">
              <a:buNone/>
            </a:pPr>
            <a:r>
              <a:rPr lang="en-US" sz="2800" b="1" dirty="0">
                <a:solidFill>
                  <a:srgbClr val="2E86A1"/>
                </a:solidFill>
                <a:latin typeface="Cambria" pitchFamily="34" charset="0"/>
                <a:ea typeface="Cambria" pitchFamily="34" charset="-122"/>
                <a:cs typeface="Cambria" pitchFamily="34" charset="-120"/>
              </a:rPr>
              <a:t>Paso de mensajes</a:t>
            </a:r>
            <a:endParaRPr lang="en-US" sz="2800" dirty="0"/>
          </a:p>
        </p:txBody>
      </p:sp>
      <p:sp>
        <p:nvSpPr>
          <p:cNvPr id="18" name="Text 16"/>
          <p:cNvSpPr/>
          <p:nvPr/>
        </p:nvSpPr>
        <p:spPr>
          <a:xfrm>
            <a:off x="6446520" y="1572768"/>
            <a:ext cx="4983480" cy="274320"/>
          </a:xfrm>
          <a:prstGeom prst="rect">
            <a:avLst/>
          </a:prstGeom>
          <a:noFill/>
          <a:ln/>
        </p:spPr>
        <p:txBody>
          <a:bodyPr wrap="square" lIns="0" tIns="0" rIns="0" bIns="0" rtlCol="0" anchor="ctr"/>
          <a:lstStyle/>
          <a:p>
            <a:pPr marL="0" indent="0">
              <a:buNone/>
            </a:pPr>
            <a:r>
              <a:rPr lang="en-US" sz="1600" i="1" dirty="0">
                <a:solidFill>
                  <a:srgbClr val="3B4A5A"/>
                </a:solidFill>
                <a:latin typeface="Calibri" pitchFamily="34" charset="0"/>
                <a:ea typeface="Calibri" pitchFamily="34" charset="-122"/>
                <a:cs typeface="Calibri" pitchFamily="34" charset="-120"/>
              </a:rPr>
              <a:t>(message passing)</a:t>
            </a:r>
            <a:endParaRPr lang="en-US" sz="1600" dirty="0"/>
          </a:p>
        </p:txBody>
      </p:sp>
      <p:sp>
        <p:nvSpPr>
          <p:cNvPr id="19" name="Text 17"/>
          <p:cNvSpPr/>
          <p:nvPr/>
        </p:nvSpPr>
        <p:spPr>
          <a:xfrm>
            <a:off x="6446520" y="1874520"/>
            <a:ext cx="4983480" cy="50292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Cada proceso tiene su propia memoria; se comunican intercambiando mensajes explicitos.</a:t>
            </a:r>
            <a:endParaRPr lang="en-US" sz="1600" dirty="0"/>
          </a:p>
        </p:txBody>
      </p:sp>
      <p:sp>
        <p:nvSpPr>
          <p:cNvPr id="20" name="Text 18"/>
          <p:cNvSpPr/>
          <p:nvPr/>
        </p:nvSpPr>
        <p:spPr>
          <a:xfrm>
            <a:off x="6446520" y="2423160"/>
            <a:ext cx="4983480" cy="274320"/>
          </a:xfrm>
          <a:prstGeom prst="rect">
            <a:avLst/>
          </a:prstGeom>
          <a:noFill/>
          <a:ln/>
        </p:spPr>
        <p:txBody>
          <a:bodyPr wrap="square" lIns="0" tIns="0" rIns="0" bIns="0" rtlCol="0" anchor="ctr"/>
          <a:lstStyle/>
          <a:p>
            <a:pPr marL="0" indent="0">
              <a:buNone/>
            </a:pPr>
            <a:r>
              <a:rPr lang="en-US" sz="1600" b="1" dirty="0">
                <a:solidFill>
                  <a:srgbClr val="4FAE60"/>
                </a:solidFill>
                <a:latin typeface="Cambria" pitchFamily="34" charset="0"/>
                <a:ea typeface="Cambria" pitchFamily="34" charset="-122"/>
                <a:cs typeface="Cambria" pitchFamily="34" charset="-120"/>
              </a:rPr>
              <a:t>Ventajas</a:t>
            </a:r>
            <a:endParaRPr lang="en-US" sz="1600" dirty="0"/>
          </a:p>
        </p:txBody>
      </p:sp>
      <p:sp>
        <p:nvSpPr>
          <p:cNvPr id="21" name="Text 19"/>
          <p:cNvSpPr/>
          <p:nvPr/>
        </p:nvSpPr>
        <p:spPr>
          <a:xfrm>
            <a:off x="6492240" y="2697480"/>
            <a:ext cx="4892040" cy="1188720"/>
          </a:xfrm>
          <a:prstGeom prst="rect">
            <a:avLst/>
          </a:prstGeom>
          <a:noFill/>
          <a:ln/>
        </p:spPr>
        <p:txBody>
          <a:bodyPr wrap="square" lIns="0" tIns="0" rIns="0" bIns="0" rtlCol="0" anchor="ctr"/>
          <a:lstStyle/>
          <a:p>
            <a:pPr marL="342900" indent="-342900">
              <a:spcAft>
                <a:spcPts val="300"/>
              </a:spcAft>
              <a:buSzPct val="100000"/>
              <a:buChar char="▸"/>
            </a:pPr>
            <a:r>
              <a:rPr lang="en-US" sz="1500" dirty="0">
                <a:solidFill>
                  <a:srgbClr val="1B2430"/>
                </a:solidFill>
                <a:latin typeface="Calibri" pitchFamily="34" charset="0"/>
                <a:ea typeface="Calibri" pitchFamily="34" charset="-122"/>
                <a:cs typeface="Calibri" pitchFamily="34" charset="-120"/>
              </a:rPr>
              <a:t>Escala a miles de nodos en un cluster (agrupacion de computadoras).</a:t>
            </a:r>
            <a:endParaRPr lang="en-US" sz="1500" dirty="0"/>
          </a:p>
          <a:p>
            <a:pPr marL="342900" indent="-342900">
              <a:spcAft>
                <a:spcPts val="300"/>
              </a:spcAft>
              <a:buSzPct val="100000"/>
              <a:buChar char="▸"/>
            </a:pPr>
            <a:r>
              <a:rPr lang="en-US" sz="1500" dirty="0">
                <a:solidFill>
                  <a:srgbClr val="1B2430"/>
                </a:solidFill>
                <a:latin typeface="Calibri" pitchFamily="34" charset="0"/>
                <a:ea typeface="Calibri" pitchFamily="34" charset="-122"/>
                <a:cs typeface="Calibri" pitchFamily="34" charset="-120"/>
              </a:rPr>
              <a:t>Sin problemas de coherencia de cache entre procesos.</a:t>
            </a:r>
            <a:endParaRPr lang="en-US" sz="1500" dirty="0"/>
          </a:p>
          <a:p>
            <a:pPr marL="342900" indent="-342900">
              <a:spcAft>
                <a:spcPts val="300"/>
              </a:spcAft>
              <a:buSzPct val="100000"/>
              <a:buChar char="▸"/>
            </a:pPr>
            <a:r>
              <a:rPr lang="en-US" sz="1500" dirty="0">
                <a:solidFill>
                  <a:srgbClr val="1B2430"/>
                </a:solidFill>
                <a:latin typeface="Calibri" pitchFamily="34" charset="0"/>
                <a:ea typeface="Calibri" pitchFamily="34" charset="-122"/>
                <a:cs typeface="Calibri" pitchFamily="34" charset="-120"/>
              </a:rPr>
              <a:t>Portable a memoria distribuida y a nube.</a:t>
            </a:r>
            <a:endParaRPr lang="en-US" sz="1500" dirty="0"/>
          </a:p>
        </p:txBody>
      </p:sp>
      <p:sp>
        <p:nvSpPr>
          <p:cNvPr id="22" name="Text 20"/>
          <p:cNvSpPr/>
          <p:nvPr/>
        </p:nvSpPr>
        <p:spPr>
          <a:xfrm>
            <a:off x="6446520" y="3977640"/>
            <a:ext cx="4983480" cy="274320"/>
          </a:xfrm>
          <a:prstGeom prst="rect">
            <a:avLst/>
          </a:prstGeom>
          <a:noFill/>
          <a:ln/>
        </p:spPr>
        <p:txBody>
          <a:bodyPr wrap="square" lIns="0" tIns="0" rIns="0" bIns="0" rtlCol="0" anchor="ctr"/>
          <a:lstStyle/>
          <a:p>
            <a:pPr marL="0" indent="0">
              <a:buNone/>
            </a:pPr>
            <a:r>
              <a:rPr lang="en-US" sz="1600" b="1" dirty="0">
                <a:solidFill>
                  <a:srgbClr val="F2A413"/>
                </a:solidFill>
                <a:latin typeface="Cambria" pitchFamily="34" charset="0"/>
                <a:ea typeface="Cambria" pitchFamily="34" charset="-122"/>
                <a:cs typeface="Cambria" pitchFamily="34" charset="-120"/>
              </a:rPr>
              <a:t>Retos</a:t>
            </a:r>
            <a:endParaRPr lang="en-US" sz="1600" dirty="0"/>
          </a:p>
        </p:txBody>
      </p:sp>
      <p:sp>
        <p:nvSpPr>
          <p:cNvPr id="23" name="Text 21"/>
          <p:cNvSpPr/>
          <p:nvPr/>
        </p:nvSpPr>
        <p:spPr>
          <a:xfrm>
            <a:off x="6492240" y="4251960"/>
            <a:ext cx="4892040" cy="1463040"/>
          </a:xfrm>
          <a:prstGeom prst="rect">
            <a:avLst/>
          </a:prstGeom>
          <a:noFill/>
          <a:ln/>
        </p:spPr>
        <p:txBody>
          <a:bodyPr wrap="square" lIns="0" tIns="0" rIns="0" bIns="0" rtlCol="0" anchor="ctr"/>
          <a:lstStyle/>
          <a:p>
            <a:pPr marL="342900" indent="-342900">
              <a:spcAft>
                <a:spcPts val="300"/>
              </a:spcAft>
              <a:buSzPct val="100000"/>
              <a:buChar char="▸"/>
            </a:pPr>
            <a:r>
              <a:rPr lang="en-US" sz="1500" dirty="0">
                <a:solidFill>
                  <a:srgbClr val="1B2430"/>
                </a:solidFill>
                <a:latin typeface="Calibri" pitchFamily="34" charset="0"/>
                <a:ea typeface="Calibri" pitchFamily="34" charset="-122"/>
                <a:cs typeface="Calibri" pitchFamily="34" charset="-120"/>
              </a:rPr>
              <a:t>Comunicacion explicita: send (enviar) y receive (recibir) en el codigo.</a:t>
            </a:r>
            <a:endParaRPr lang="en-US" sz="1500" dirty="0"/>
          </a:p>
          <a:p>
            <a:pPr marL="342900" indent="-342900">
              <a:spcAft>
                <a:spcPts val="300"/>
              </a:spcAft>
              <a:buSzPct val="100000"/>
              <a:buChar char="▸"/>
            </a:pPr>
            <a:r>
              <a:rPr lang="en-US" sz="1500" dirty="0">
                <a:solidFill>
                  <a:srgbClr val="1B2430"/>
                </a:solidFill>
                <a:latin typeface="Calibri" pitchFamily="34" charset="0"/>
                <a:ea typeface="Calibri" pitchFamily="34" charset="-122"/>
                <a:cs typeface="Calibri" pitchFamily="34" charset="-120"/>
              </a:rPr>
              <a:t>Alta latencia (microsegundos a milisegundos por red).</a:t>
            </a:r>
            <a:endParaRPr lang="en-US" sz="1500" dirty="0"/>
          </a:p>
          <a:p>
            <a:pPr marL="342900" indent="-342900">
              <a:spcAft>
                <a:spcPts val="300"/>
              </a:spcAft>
              <a:buSzPct val="100000"/>
              <a:buChar char="▸"/>
            </a:pPr>
            <a:r>
              <a:rPr lang="en-US" sz="1500" dirty="0">
                <a:solidFill>
                  <a:srgbClr val="1B2430"/>
                </a:solidFill>
                <a:latin typeface="Calibri" pitchFamily="34" charset="0"/>
                <a:ea typeface="Calibri" pitchFamily="34" charset="-122"/>
                <a:cs typeface="Calibri" pitchFamily="34" charset="-120"/>
              </a:rPr>
              <a:t>Deadlock (bloqueo mutuo) si los patrones de envio-recepcion no calzan.</a:t>
            </a:r>
            <a:endParaRPr lang="en-US" sz="1500" dirty="0"/>
          </a:p>
        </p:txBody>
      </p:sp>
      <p:sp>
        <p:nvSpPr>
          <p:cNvPr id="24" name="Shape 22"/>
          <p:cNvSpPr/>
          <p:nvPr/>
        </p:nvSpPr>
        <p:spPr>
          <a:xfrm>
            <a:off x="6446520" y="5806440"/>
            <a:ext cx="4983480" cy="502920"/>
          </a:xfrm>
          <a:prstGeom prst="roundRect">
            <a:avLst>
              <a:gd name="adj" fmla="val 14545"/>
            </a:avLst>
          </a:prstGeom>
          <a:solidFill>
            <a:srgbClr val="2E86A1"/>
          </a:solidFill>
          <a:ln/>
        </p:spPr>
      </p:sp>
      <p:sp>
        <p:nvSpPr>
          <p:cNvPr id="25" name="Text 23"/>
          <p:cNvSpPr/>
          <p:nvPr/>
        </p:nvSpPr>
        <p:spPr>
          <a:xfrm>
            <a:off x="6537960" y="5806440"/>
            <a:ext cx="480060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Herramientas tipicas: MPI (Message Passing Interface), Actor Model (Modelo de Actores), gRPC entre procesos.</a:t>
            </a:r>
            <a:endParaRPr lang="en-US" sz="1400" dirty="0"/>
          </a:p>
        </p:txBody>
      </p:sp>
      <p:sp>
        <p:nvSpPr>
          <p:cNvPr id="27" name="Shape 24"/>
          <p:cNvSpPr/>
          <p:nvPr/>
        </p:nvSpPr>
        <p:spPr>
          <a:xfrm>
            <a:off x="457200" y="6537960"/>
            <a:ext cx="11247120" cy="0"/>
          </a:xfrm>
          <a:prstGeom prst="line">
            <a:avLst/>
          </a:prstGeom>
          <a:noFill/>
          <a:ln w="9525">
            <a:solidFill>
              <a:srgbClr val="D9E1EA"/>
            </a:solidFill>
            <a:prstDash val="solid"/>
          </a:ln>
        </p:spPr>
      </p:sp>
      <p:sp>
        <p:nvSpPr>
          <p:cNvPr id="28" name="Text 25"/>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29" name="Text 26"/>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4.1.2   06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0E3F7E"/>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4.1.3</a:t>
            </a:r>
            <a:endParaRPr lang="en-US" sz="1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Ley de Amdahl: el limite del paralelismo</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5486400" cy="5257800"/>
          </a:xfrm>
          <a:prstGeom prst="roundRect">
            <a:avLst>
              <a:gd name="adj" fmla="val 2609"/>
            </a:avLst>
          </a:prstGeom>
          <a:solidFill>
            <a:srgbClr val="F3F6FB"/>
          </a:solidFill>
          <a:ln/>
        </p:spPr>
      </p:sp>
      <p:sp>
        <p:nvSpPr>
          <p:cNvPr id="7" name="Text 5"/>
          <p:cNvSpPr/>
          <p:nvPr/>
        </p:nvSpPr>
        <p:spPr>
          <a:xfrm>
            <a:off x="640080" y="1280160"/>
            <a:ext cx="5120640" cy="365760"/>
          </a:xfrm>
          <a:prstGeom prst="rect">
            <a:avLst/>
          </a:prstGeom>
          <a:noFill/>
          <a:ln/>
        </p:spPr>
        <p:txBody>
          <a:bodyPr wrap="square" lIns="0" tIns="0" rIns="0" bIns="0" rtlCol="0" anchor="ctr"/>
          <a:lstStyle/>
          <a:p>
            <a:pPr marL="0" indent="0">
              <a:buNone/>
            </a:pPr>
            <a:r>
              <a:rPr lang="en-US" b="1" dirty="0">
                <a:solidFill>
                  <a:srgbClr val="0E3F7E"/>
                </a:solidFill>
                <a:latin typeface="Cambria" pitchFamily="34" charset="0"/>
                <a:ea typeface="Cambria" pitchFamily="34" charset="-122"/>
                <a:cs typeface="Cambria" pitchFamily="34" charset="-120"/>
              </a:rPr>
              <a:t>Formula</a:t>
            </a:r>
            <a:endParaRPr lang="en-US" dirty="0"/>
          </a:p>
        </p:txBody>
      </p:sp>
      <p:sp>
        <p:nvSpPr>
          <p:cNvPr id="8" name="Shape 6"/>
          <p:cNvSpPr/>
          <p:nvPr/>
        </p:nvSpPr>
        <p:spPr>
          <a:xfrm>
            <a:off x="777240" y="1737360"/>
            <a:ext cx="4846320" cy="1280160"/>
          </a:xfrm>
          <a:prstGeom prst="roundRect">
            <a:avLst>
              <a:gd name="adj" fmla="val 7143"/>
            </a:avLst>
          </a:prstGeom>
          <a:solidFill>
            <a:srgbClr val="FFFFFF"/>
          </a:solidFill>
          <a:ln w="19050">
            <a:solidFill>
              <a:srgbClr val="0E3F7E"/>
            </a:solidFill>
            <a:prstDash val="solid"/>
          </a:ln>
        </p:spPr>
      </p:sp>
      <p:sp>
        <p:nvSpPr>
          <p:cNvPr id="9" name="Text 7"/>
          <p:cNvSpPr/>
          <p:nvPr/>
        </p:nvSpPr>
        <p:spPr>
          <a:xfrm>
            <a:off x="914400" y="1783080"/>
            <a:ext cx="4572000" cy="502920"/>
          </a:xfrm>
          <a:prstGeom prst="rect">
            <a:avLst/>
          </a:prstGeom>
          <a:noFill/>
          <a:ln/>
        </p:spPr>
        <p:txBody>
          <a:bodyPr wrap="square" lIns="0" tIns="0" rIns="0" bIns="0" rtlCol="0" anchor="ctr"/>
          <a:lstStyle/>
          <a:p>
            <a:pPr marL="0" indent="0" algn="ctr">
              <a:buNone/>
            </a:pPr>
            <a:r>
              <a:rPr lang="en-US" sz="2800" b="1" dirty="0">
                <a:solidFill>
                  <a:srgbClr val="0E3F7E"/>
                </a:solidFill>
                <a:latin typeface="Cambria" pitchFamily="34" charset="0"/>
                <a:ea typeface="Cambria" pitchFamily="34" charset="-122"/>
                <a:cs typeface="Cambria" pitchFamily="34" charset="-120"/>
              </a:rPr>
              <a:t>S(N) = </a:t>
            </a:r>
            <a:r>
              <a:rPr lang="en-US" sz="2400" dirty="0">
                <a:solidFill>
                  <a:srgbClr val="1B2430"/>
                </a:solidFill>
                <a:latin typeface="Cambria" pitchFamily="34" charset="0"/>
                <a:ea typeface="Cambria" pitchFamily="34" charset="-122"/>
                <a:cs typeface="Cambria" pitchFamily="34" charset="-120"/>
              </a:rPr>
              <a:t>1</a:t>
            </a:r>
            <a:endParaRPr lang="en-US" sz="2800" dirty="0"/>
          </a:p>
        </p:txBody>
      </p:sp>
      <p:sp>
        <p:nvSpPr>
          <p:cNvPr id="10" name="Shape 8"/>
          <p:cNvSpPr/>
          <p:nvPr/>
        </p:nvSpPr>
        <p:spPr>
          <a:xfrm>
            <a:off x="2103120" y="2331720"/>
            <a:ext cx="3200400" cy="0"/>
          </a:xfrm>
          <a:prstGeom prst="line">
            <a:avLst/>
          </a:prstGeom>
          <a:noFill/>
          <a:ln w="19050">
            <a:solidFill>
              <a:srgbClr val="1B2430"/>
            </a:solidFill>
            <a:prstDash val="solid"/>
          </a:ln>
        </p:spPr>
      </p:sp>
      <p:sp>
        <p:nvSpPr>
          <p:cNvPr id="11" name="Text 9"/>
          <p:cNvSpPr/>
          <p:nvPr/>
        </p:nvSpPr>
        <p:spPr>
          <a:xfrm>
            <a:off x="914400" y="2331720"/>
            <a:ext cx="4572000" cy="548640"/>
          </a:xfrm>
          <a:prstGeom prst="rect">
            <a:avLst/>
          </a:prstGeom>
          <a:noFill/>
          <a:ln/>
        </p:spPr>
        <p:txBody>
          <a:bodyPr wrap="square" lIns="0" tIns="0" rIns="0" bIns="0" rtlCol="0" anchor="ctr"/>
          <a:lstStyle/>
          <a:p>
            <a:pPr marL="0" indent="0" algn="ctr">
              <a:buNone/>
            </a:pPr>
            <a:r>
              <a:rPr lang="en-US" sz="2400" dirty="0">
                <a:solidFill>
                  <a:srgbClr val="1B2430"/>
                </a:solidFill>
                <a:latin typeface="Cambria" pitchFamily="34" charset="0"/>
                <a:ea typeface="Cambria" pitchFamily="34" charset="-122"/>
                <a:cs typeface="Cambria" pitchFamily="34" charset="-120"/>
              </a:rPr>
              <a:t>(1 - P) + P / N</a:t>
            </a:r>
            <a:endParaRPr lang="en-US" sz="2400" dirty="0"/>
          </a:p>
        </p:txBody>
      </p:sp>
      <p:sp>
        <p:nvSpPr>
          <p:cNvPr id="12" name="Text 10"/>
          <p:cNvSpPr/>
          <p:nvPr/>
        </p:nvSpPr>
        <p:spPr>
          <a:xfrm>
            <a:off x="777240" y="3419902"/>
            <a:ext cx="4846320" cy="1561550"/>
          </a:xfrm>
          <a:prstGeom prst="rect">
            <a:avLst/>
          </a:prstGeom>
          <a:noFill/>
          <a:ln/>
        </p:spPr>
        <p:txBody>
          <a:bodyPr wrap="square" lIns="0" tIns="0" rIns="0" bIns="0" rtlCol="0" anchor="t"/>
          <a:lstStyle/>
          <a:p>
            <a:pPr marL="0" indent="0">
              <a:spcAft>
                <a:spcPts val="600"/>
              </a:spcAft>
              <a:buNone/>
            </a:pPr>
            <a:r>
              <a:rPr lang="en-US" sz="1600" b="1" dirty="0">
                <a:solidFill>
                  <a:srgbClr val="0E3F7E"/>
                </a:solidFill>
                <a:latin typeface="Calibri" pitchFamily="34" charset="0"/>
                <a:ea typeface="Calibri" pitchFamily="34" charset="-122"/>
                <a:cs typeface="Calibri" pitchFamily="34" charset="-120"/>
              </a:rPr>
              <a:t>S(N)</a:t>
            </a:r>
            <a:r>
              <a:rPr lang="en-US" sz="1600" dirty="0">
                <a:solidFill>
                  <a:srgbClr val="1B2430"/>
                </a:solidFill>
                <a:latin typeface="Calibri" pitchFamily="34" charset="0"/>
                <a:ea typeface="Calibri" pitchFamily="34" charset="-122"/>
                <a:cs typeface="Calibri" pitchFamily="34" charset="-120"/>
              </a:rPr>
              <a:t> = speedup (aceleracion) con N procesadores.</a:t>
            </a:r>
            <a:endParaRPr lang="en-US" sz="1600" dirty="0"/>
          </a:p>
          <a:p>
            <a:pPr marL="0" indent="0">
              <a:spcAft>
                <a:spcPts val="600"/>
              </a:spcAft>
              <a:buNone/>
            </a:pPr>
            <a:r>
              <a:rPr lang="en-US" sz="1600" b="1" dirty="0">
                <a:solidFill>
                  <a:srgbClr val="0E3F7E"/>
                </a:solidFill>
                <a:latin typeface="Calibri" pitchFamily="34" charset="0"/>
                <a:ea typeface="Calibri" pitchFamily="34" charset="-122"/>
                <a:cs typeface="Calibri" pitchFamily="34" charset="-120"/>
              </a:rPr>
              <a:t>P</a:t>
            </a:r>
            <a:r>
              <a:rPr lang="en-US" sz="1600" dirty="0">
                <a:solidFill>
                  <a:srgbClr val="1B2430"/>
                </a:solidFill>
                <a:latin typeface="Calibri" pitchFamily="34" charset="0"/>
                <a:ea typeface="Calibri" pitchFamily="34" charset="-122"/>
                <a:cs typeface="Calibri" pitchFamily="34" charset="-120"/>
              </a:rPr>
              <a:t> = fraccion paralelizable del programa (0 &lt;= P &lt;= 1).</a:t>
            </a:r>
            <a:endParaRPr lang="en-US" sz="1600" dirty="0"/>
          </a:p>
          <a:p>
            <a:pPr marL="0" indent="0">
              <a:spcAft>
                <a:spcPts val="600"/>
              </a:spcAft>
              <a:buNone/>
            </a:pPr>
            <a:r>
              <a:rPr lang="en-US" sz="1600" b="1" dirty="0">
                <a:solidFill>
                  <a:srgbClr val="0E3F7E"/>
                </a:solidFill>
                <a:latin typeface="Calibri" pitchFamily="34" charset="0"/>
                <a:ea typeface="Calibri" pitchFamily="34" charset="-122"/>
                <a:cs typeface="Calibri" pitchFamily="34" charset="-120"/>
              </a:rPr>
              <a:t>1 - P</a:t>
            </a:r>
            <a:r>
              <a:rPr lang="en-US" sz="1600" dirty="0">
                <a:solidFill>
                  <a:srgbClr val="1B2430"/>
                </a:solidFill>
                <a:latin typeface="Calibri" pitchFamily="34" charset="0"/>
                <a:ea typeface="Calibri" pitchFamily="34" charset="-122"/>
                <a:cs typeface="Calibri" pitchFamily="34" charset="-120"/>
              </a:rPr>
              <a:t> = fraccion estrictamente secuencial.</a:t>
            </a:r>
            <a:endParaRPr lang="en-US" sz="1600" dirty="0"/>
          </a:p>
          <a:p>
            <a:pPr marL="0" indent="0">
              <a:spcAft>
                <a:spcPts val="600"/>
              </a:spcAft>
              <a:buNone/>
            </a:pPr>
            <a:r>
              <a:rPr lang="en-US" sz="1600" b="1" dirty="0">
                <a:solidFill>
                  <a:srgbClr val="0E3F7E"/>
                </a:solidFill>
                <a:latin typeface="Calibri" pitchFamily="34" charset="0"/>
                <a:ea typeface="Calibri" pitchFamily="34" charset="-122"/>
                <a:cs typeface="Calibri" pitchFamily="34" charset="-120"/>
              </a:rPr>
              <a:t>N</a:t>
            </a:r>
            <a:r>
              <a:rPr lang="en-US" sz="1600" dirty="0">
                <a:solidFill>
                  <a:srgbClr val="1B2430"/>
                </a:solidFill>
                <a:latin typeface="Calibri" pitchFamily="34" charset="0"/>
                <a:ea typeface="Calibri" pitchFamily="34" charset="-122"/>
                <a:cs typeface="Calibri" pitchFamily="34" charset="-120"/>
              </a:rPr>
              <a:t> = numero de procesadores o nucleos disponibles.</a:t>
            </a:r>
            <a:endParaRPr lang="en-US" sz="1600" dirty="0"/>
          </a:p>
        </p:txBody>
      </p:sp>
      <p:sp>
        <p:nvSpPr>
          <p:cNvPr id="13" name="Shape 11"/>
          <p:cNvSpPr/>
          <p:nvPr/>
        </p:nvSpPr>
        <p:spPr>
          <a:xfrm>
            <a:off x="777240" y="5394960"/>
            <a:ext cx="4846320" cy="868680"/>
          </a:xfrm>
          <a:prstGeom prst="roundRect">
            <a:avLst>
              <a:gd name="adj" fmla="val 8421"/>
            </a:avLst>
          </a:prstGeom>
          <a:solidFill>
            <a:srgbClr val="0E3F7E"/>
          </a:solidFill>
          <a:ln/>
        </p:spPr>
      </p:sp>
      <p:sp>
        <p:nvSpPr>
          <p:cNvPr id="14" name="Text 12"/>
          <p:cNvSpPr/>
          <p:nvPr/>
        </p:nvSpPr>
        <p:spPr>
          <a:xfrm>
            <a:off x="914400" y="5394960"/>
            <a:ext cx="4572000" cy="8686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Limite teorico:  </a:t>
            </a:r>
            <a:r>
              <a:rPr lang="en-US" b="1" dirty="0">
                <a:solidFill>
                  <a:srgbClr val="F2A413"/>
                </a:solidFill>
                <a:latin typeface="Cambria" pitchFamily="34" charset="0"/>
                <a:ea typeface="Cambria" pitchFamily="34" charset="-122"/>
                <a:cs typeface="Cambria" pitchFamily="34" charset="-120"/>
              </a:rPr>
              <a:t>S(inf) = 1 / (1 - P)</a:t>
            </a:r>
            <a:endParaRPr lang="en-US" sz="1600" dirty="0"/>
          </a:p>
          <a:p>
            <a:pPr marL="0" indent="0">
              <a:buNone/>
            </a:pPr>
            <a:r>
              <a:rPr lang="en-US" sz="1400" dirty="0">
                <a:solidFill>
                  <a:srgbClr val="FFFFFF"/>
                </a:solidFill>
                <a:latin typeface="Calibri" pitchFamily="34" charset="0"/>
                <a:ea typeface="Calibri" pitchFamily="34" charset="-122"/>
                <a:cs typeface="Calibri" pitchFamily="34" charset="-120"/>
              </a:rPr>
              <a:t>Un 5% secuencial impone speedup maximo de 20x, sin importar N.</a:t>
            </a:r>
            <a:endParaRPr lang="en-US" sz="1600" dirty="0"/>
          </a:p>
        </p:txBody>
      </p:sp>
      <p:sp>
        <p:nvSpPr>
          <p:cNvPr id="15" name="Text 13"/>
          <p:cNvSpPr/>
          <p:nvPr/>
        </p:nvSpPr>
        <p:spPr>
          <a:xfrm>
            <a:off x="6263640" y="1188720"/>
            <a:ext cx="5486400" cy="411480"/>
          </a:xfrm>
          <a:prstGeom prst="rect">
            <a:avLst/>
          </a:prstGeom>
          <a:noFill/>
          <a:ln/>
        </p:spPr>
        <p:txBody>
          <a:bodyPr wrap="square" lIns="0" tIns="0" rIns="0" bIns="0" rtlCol="0" anchor="ctr"/>
          <a:lstStyle/>
          <a:p>
            <a:pPr marL="0" indent="0">
              <a:buNone/>
            </a:pPr>
            <a:r>
              <a:rPr lang="en-US" sz="2000" b="1" dirty="0">
                <a:solidFill>
                  <a:srgbClr val="0E3F7E"/>
                </a:solidFill>
                <a:latin typeface="Cambria" pitchFamily="34" charset="0"/>
                <a:ea typeface="Cambria" pitchFamily="34" charset="-122"/>
                <a:cs typeface="Cambria" pitchFamily="34" charset="-120"/>
              </a:rPr>
              <a:t>Interpretacion practica</a:t>
            </a:r>
            <a:endParaRPr lang="en-US" sz="2000" dirty="0"/>
          </a:p>
        </p:txBody>
      </p:sp>
      <p:graphicFrame>
        <p:nvGraphicFramePr>
          <p:cNvPr id="16" name="Table 0"/>
          <p:cNvGraphicFramePr>
            <a:graphicFrameLocks noGrp="1"/>
          </p:cNvGraphicFramePr>
          <p:nvPr>
            <p:extLst>
              <p:ext uri="{D42A27DB-BD31-4B8C-83A1-F6EECF244321}">
                <p14:modId xmlns:p14="http://schemas.microsoft.com/office/powerpoint/2010/main" val="78154483"/>
              </p:ext>
            </p:extLst>
          </p:nvPr>
        </p:nvGraphicFramePr>
        <p:xfrm>
          <a:off x="6263640" y="1691640"/>
          <a:ext cx="5486400" cy="2054352"/>
        </p:xfrm>
        <a:graphic>
          <a:graphicData uri="http://schemas.openxmlformats.org/drawingml/2006/table">
            <a:tbl>
              <a:tblPr/>
              <a:tblGrid>
                <a:gridCol w="14630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84048">
                <a:tc>
                  <a:txBody>
                    <a:bodyPr/>
                    <a:lstStyle/>
                    <a:p>
                      <a:pPr marL="0" indent="0" algn="ctr">
                        <a:buNone/>
                      </a:pPr>
                      <a:r>
                        <a:rPr lang="en-US" sz="1400" b="1" dirty="0">
                          <a:solidFill>
                            <a:srgbClr val="FFFFFF"/>
                          </a:solidFill>
                          <a:latin typeface="Cambria" pitchFamily="34" charset="0"/>
                          <a:ea typeface="Cambria" pitchFamily="34" charset="-122"/>
                          <a:cs typeface="Cambria" pitchFamily="34" charset="-120"/>
                        </a:rPr>
                        <a:t>P (parte paralela)</a:t>
                      </a:r>
                      <a:endParaRPr lang="en-US" sz="1400" dirty="0">
                        <a:latin typeface="Cambria" charset="0"/>
                        <a:ea typeface="Cambria" charset="0"/>
                        <a:cs typeface="Cambria"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E3F7E"/>
                    </a:solidFill>
                  </a:tcPr>
                </a:tc>
                <a:tc>
                  <a:txBody>
                    <a:bodyPr/>
                    <a:lstStyle/>
                    <a:p>
                      <a:pPr marL="0" indent="0" algn="ctr">
                        <a:buNone/>
                      </a:pPr>
                      <a:r>
                        <a:rPr lang="en-US" sz="1400" b="1" dirty="0">
                          <a:solidFill>
                            <a:srgbClr val="FFFFFF"/>
                          </a:solidFill>
                          <a:latin typeface="Cambria" pitchFamily="34" charset="0"/>
                          <a:ea typeface="Cambria" pitchFamily="34" charset="-122"/>
                          <a:cs typeface="Cambria" pitchFamily="34" charset="-120"/>
                        </a:rPr>
                        <a:t>N = 4</a:t>
                      </a:r>
                      <a:endParaRPr lang="en-US" sz="1400" dirty="0">
                        <a:latin typeface="Cambria" charset="0"/>
                        <a:ea typeface="Cambria" charset="0"/>
                        <a:cs typeface="Cambria"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E3F7E"/>
                    </a:solidFill>
                  </a:tcPr>
                </a:tc>
                <a:tc>
                  <a:txBody>
                    <a:bodyPr/>
                    <a:lstStyle/>
                    <a:p>
                      <a:pPr marL="0" indent="0" algn="ctr">
                        <a:buNone/>
                      </a:pPr>
                      <a:r>
                        <a:rPr lang="en-US" sz="1400" b="1" dirty="0">
                          <a:solidFill>
                            <a:srgbClr val="FFFFFF"/>
                          </a:solidFill>
                          <a:latin typeface="Cambria" pitchFamily="34" charset="0"/>
                          <a:ea typeface="Cambria" pitchFamily="34" charset="-122"/>
                          <a:cs typeface="Cambria" pitchFamily="34" charset="-120"/>
                        </a:rPr>
                        <a:t>N = 16</a:t>
                      </a:r>
                      <a:endParaRPr lang="en-US" sz="1400" dirty="0">
                        <a:latin typeface="Cambria" charset="0"/>
                        <a:ea typeface="Cambria" charset="0"/>
                        <a:cs typeface="Cambria"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E3F7E"/>
                    </a:solidFill>
                  </a:tcPr>
                </a:tc>
                <a:tc>
                  <a:txBody>
                    <a:bodyPr/>
                    <a:lstStyle/>
                    <a:p>
                      <a:pPr marL="0" indent="0" algn="ctr">
                        <a:buNone/>
                      </a:pPr>
                      <a:r>
                        <a:rPr lang="en-US" sz="1400" b="1" dirty="0">
                          <a:solidFill>
                            <a:srgbClr val="FFFFFF"/>
                          </a:solidFill>
                          <a:latin typeface="Cambria" pitchFamily="34" charset="0"/>
                          <a:ea typeface="Cambria" pitchFamily="34" charset="-122"/>
                          <a:cs typeface="Cambria" pitchFamily="34" charset="-120"/>
                        </a:rPr>
                        <a:t>N = 1024</a:t>
                      </a:r>
                      <a:endParaRPr lang="en-US" sz="1400" dirty="0">
                        <a:latin typeface="Cambria" charset="0"/>
                        <a:ea typeface="Cambria" charset="0"/>
                        <a:cs typeface="Cambria"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E3F7E"/>
                    </a:solidFill>
                  </a:tcPr>
                </a:tc>
                <a:tc>
                  <a:txBody>
                    <a:bodyPr/>
                    <a:lstStyle/>
                    <a:p>
                      <a:pPr marL="0" indent="0" algn="ctr">
                        <a:buNone/>
                      </a:pPr>
                      <a:r>
                        <a:rPr lang="en-US" sz="1400" b="1" dirty="0">
                          <a:solidFill>
                            <a:srgbClr val="FFFFFF"/>
                          </a:solidFill>
                          <a:latin typeface="Cambria" pitchFamily="34" charset="0"/>
                          <a:ea typeface="Cambria" pitchFamily="34" charset="-122"/>
                          <a:cs typeface="Cambria" pitchFamily="34" charset="-120"/>
                        </a:rPr>
                        <a:t>Limite</a:t>
                      </a:r>
                      <a:endParaRPr lang="en-US" sz="1400" dirty="0">
                        <a:latin typeface="Cambria" charset="0"/>
                        <a:ea typeface="Cambria" charset="0"/>
                        <a:cs typeface="Cambria"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E3F7E"/>
                    </a:solidFill>
                  </a:tcPr>
                </a:tc>
                <a:extLst>
                  <a:ext uri="{0D108BD9-81ED-4DB2-BD59-A6C34878D82A}">
                    <a16:rowId xmlns:a16="http://schemas.microsoft.com/office/drawing/2014/main" val="10000"/>
                  </a:ext>
                </a:extLst>
              </a:tr>
              <a:tr h="384048">
                <a:tc>
                  <a:txBody>
                    <a:bodyPr/>
                    <a:lstStyle/>
                    <a:p>
                      <a:pPr marL="0" indent="0" algn="ctr">
                        <a:buNone/>
                      </a:pPr>
                      <a:r>
                        <a:rPr lang="en-US" sz="1400" b="1" dirty="0">
                          <a:solidFill>
                            <a:srgbClr val="1B2430"/>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1,60</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1,88</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lgn="ctr">
                        <a:buNone/>
                      </a:pPr>
                      <a:r>
                        <a:rPr lang="en-US" sz="1400" b="1" dirty="0">
                          <a:solidFill>
                            <a:srgbClr val="F2A413"/>
                          </a:solidFill>
                          <a:latin typeface="Calibri" pitchFamily="34" charset="0"/>
                          <a:ea typeface="Calibri" pitchFamily="34" charset="-122"/>
                          <a:cs typeface="Calibri" pitchFamily="34" charset="-120"/>
                        </a:rPr>
                        <a:t>2x</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400" b="1" dirty="0">
                          <a:solidFill>
                            <a:srgbClr val="1B2430"/>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4,98</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lgn="ctr">
                        <a:buNone/>
                      </a:pPr>
                      <a:r>
                        <a:rPr lang="en-US" sz="1400" b="1" dirty="0">
                          <a:solidFill>
                            <a:srgbClr val="F2A413"/>
                          </a:solidFill>
                          <a:latin typeface="Calibri" pitchFamily="34" charset="0"/>
                          <a:ea typeface="Calibri" pitchFamily="34" charset="-122"/>
                          <a:cs typeface="Calibri" pitchFamily="34" charset="-120"/>
                        </a:rPr>
                        <a:t>5x</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384048">
                <a:tc>
                  <a:txBody>
                    <a:bodyPr/>
                    <a:lstStyle/>
                    <a:p>
                      <a:pPr marL="0" indent="0" algn="ctr">
                        <a:buNone/>
                      </a:pPr>
                      <a:r>
                        <a:rPr lang="en-US" sz="1400" b="1" dirty="0">
                          <a:solidFill>
                            <a:srgbClr val="1B2430"/>
                          </a:solidFill>
                          <a:latin typeface="Calibri" pitchFamily="34" charset="0"/>
                          <a:ea typeface="Calibri" pitchFamily="34" charset="-122"/>
                          <a:cs typeface="Calibri" pitchFamily="34" charset="-120"/>
                        </a:rPr>
                        <a:t>95%</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3,48</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9,14</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19,63</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lgn="ctr">
                        <a:buNone/>
                      </a:pPr>
                      <a:r>
                        <a:rPr lang="en-US" sz="1400" b="1" dirty="0">
                          <a:solidFill>
                            <a:srgbClr val="F2A413"/>
                          </a:solidFill>
                          <a:latin typeface="Calibri" pitchFamily="34" charset="0"/>
                          <a:ea typeface="Calibri" pitchFamily="34" charset="-122"/>
                          <a:cs typeface="Calibri" pitchFamily="34" charset="-120"/>
                        </a:rPr>
                        <a:t>20x</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400" b="1" dirty="0">
                          <a:solidFill>
                            <a:srgbClr val="1B2430"/>
                          </a:solidFill>
                          <a:latin typeface="Calibri" pitchFamily="34" charset="0"/>
                          <a:ea typeface="Calibri" pitchFamily="34" charset="-122"/>
                          <a:cs typeface="Calibri" pitchFamily="34" charset="-120"/>
                        </a:rPr>
                        <a:t>99%</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3,88</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13,91</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lgn="ctr">
                        <a:buNone/>
                      </a:pPr>
                      <a:r>
                        <a:rPr lang="en-US" sz="1400" dirty="0">
                          <a:solidFill>
                            <a:srgbClr val="1B2430"/>
                          </a:solidFill>
                          <a:latin typeface="Calibri" pitchFamily="34" charset="0"/>
                          <a:ea typeface="Calibri" pitchFamily="34" charset="-122"/>
                          <a:cs typeface="Calibri" pitchFamily="34" charset="-120"/>
                        </a:rPr>
                        <a:t>91,18</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lgn="ctr">
                        <a:buNone/>
                      </a:pPr>
                      <a:r>
                        <a:rPr lang="en-US" sz="1400" b="1" dirty="0">
                          <a:solidFill>
                            <a:srgbClr val="F2A413"/>
                          </a:solidFill>
                          <a:latin typeface="Calibri" pitchFamily="34" charset="0"/>
                          <a:ea typeface="Calibri" pitchFamily="34" charset="-122"/>
                          <a:cs typeface="Calibri" pitchFamily="34" charset="-120"/>
                        </a:rPr>
                        <a:t>100x</a:t>
                      </a:r>
                      <a:endParaRPr lang="en-US" sz="1400" dirty="0">
                        <a:latin typeface="Calibri" charset="0"/>
                        <a:ea typeface="Calibri" charset="0"/>
                        <a:cs typeface="Calibri" charset="0"/>
                      </a:endParaRPr>
                    </a:p>
                  </a:txBody>
                  <a:tcP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extLst>
                  <a:ext uri="{0D108BD9-81ED-4DB2-BD59-A6C34878D82A}">
                    <a16:rowId xmlns:a16="http://schemas.microsoft.com/office/drawing/2014/main" val="10004"/>
                  </a:ext>
                </a:extLst>
              </a:tr>
            </a:tbl>
          </a:graphicData>
        </a:graphic>
      </p:graphicFrame>
      <p:sp>
        <p:nvSpPr>
          <p:cNvPr id="17" name="Shape 14"/>
          <p:cNvSpPr/>
          <p:nvPr/>
        </p:nvSpPr>
        <p:spPr>
          <a:xfrm>
            <a:off x="6263640" y="3977640"/>
            <a:ext cx="5486400" cy="2377440"/>
          </a:xfrm>
          <a:prstGeom prst="roundRect">
            <a:avLst>
              <a:gd name="adj" fmla="val 3846"/>
            </a:avLst>
          </a:prstGeom>
          <a:solidFill>
            <a:srgbClr val="FFF6E5"/>
          </a:solidFill>
          <a:ln w="12700">
            <a:solidFill>
              <a:srgbClr val="F2A413"/>
            </a:solidFill>
            <a:prstDash val="solid"/>
          </a:ln>
        </p:spPr>
      </p:sp>
      <p:sp>
        <p:nvSpPr>
          <p:cNvPr id="18" name="Text 15"/>
          <p:cNvSpPr/>
          <p:nvPr/>
        </p:nvSpPr>
        <p:spPr>
          <a:xfrm>
            <a:off x="6400800" y="4069080"/>
            <a:ext cx="5212080" cy="320040"/>
          </a:xfrm>
          <a:prstGeom prst="rect">
            <a:avLst/>
          </a:prstGeom>
          <a:noFill/>
          <a:ln/>
        </p:spPr>
        <p:txBody>
          <a:bodyPr wrap="square" lIns="0" tIns="0" rIns="0" bIns="0" rtlCol="0" anchor="ctr"/>
          <a:lstStyle/>
          <a:p>
            <a:pPr marL="0" indent="0">
              <a:buNone/>
            </a:pPr>
            <a:r>
              <a:rPr lang="en-US" sz="1600" b="1" dirty="0">
                <a:solidFill>
                  <a:srgbClr val="F2A413"/>
                </a:solidFill>
                <a:latin typeface="Cambria" pitchFamily="34" charset="0"/>
                <a:ea typeface="Cambria" pitchFamily="34" charset="-122"/>
                <a:cs typeface="Cambria" pitchFamily="34" charset="-120"/>
              </a:rPr>
              <a:t>Lectura pedagogica</a:t>
            </a:r>
            <a:endParaRPr lang="en-US" sz="1600" dirty="0"/>
          </a:p>
        </p:txBody>
      </p:sp>
      <p:sp>
        <p:nvSpPr>
          <p:cNvPr id="19" name="Text 16"/>
          <p:cNvSpPr/>
          <p:nvPr/>
        </p:nvSpPr>
        <p:spPr>
          <a:xfrm>
            <a:off x="6400800" y="4434840"/>
            <a:ext cx="5212080" cy="187452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rgbClr val="1B2430"/>
                </a:solidFill>
                <a:latin typeface="Calibri" pitchFamily="34" charset="0"/>
                <a:ea typeface="Calibri" pitchFamily="34" charset="-122"/>
                <a:cs typeface="Calibri" pitchFamily="34" charset="-120"/>
              </a:rPr>
              <a:t>Optimizar la parte secuencial rinde mas que agregar procesadores.</a:t>
            </a:r>
            <a:endParaRPr lang="en-US" sz="1600" dirty="0"/>
          </a:p>
          <a:p>
            <a:pPr marL="342900" indent="-342900">
              <a:spcAft>
                <a:spcPts val="500"/>
              </a:spcAft>
              <a:buSzPct val="100000"/>
              <a:buChar char="▪"/>
            </a:pPr>
            <a:r>
              <a:rPr lang="en-US" sz="1600" dirty="0">
                <a:solidFill>
                  <a:srgbClr val="1B2430"/>
                </a:solidFill>
                <a:latin typeface="Calibri" pitchFamily="34" charset="0"/>
                <a:ea typeface="Calibri" pitchFamily="34" charset="-122"/>
                <a:cs typeface="Calibri" pitchFamily="34" charset="-120"/>
              </a:rPr>
              <a:t>La comunicacion y la sincronizacion se descuentan de P.</a:t>
            </a:r>
            <a:endParaRPr lang="en-US" sz="1600" dirty="0"/>
          </a:p>
          <a:p>
            <a:pPr marL="342900" indent="-342900">
              <a:spcAft>
                <a:spcPts val="500"/>
              </a:spcAft>
              <a:buSzPct val="100000"/>
              <a:buChar char="▪"/>
            </a:pPr>
            <a:r>
              <a:rPr lang="en-US" sz="1600" dirty="0">
                <a:solidFill>
                  <a:srgbClr val="1B2430"/>
                </a:solidFill>
                <a:latin typeface="Calibri" pitchFamily="34" charset="0"/>
                <a:ea typeface="Calibri" pitchFamily="34" charset="-122"/>
                <a:cs typeface="Calibri" pitchFamily="34" charset="-120"/>
              </a:rPr>
              <a:t>La Ley de Gustafson (Gustafson-Barsis) matiza: si el problema crece con N, se rompe el techo de Amdahl.</a:t>
            </a:r>
            <a:endParaRPr lang="en-US" sz="1600" dirty="0"/>
          </a:p>
          <a:p>
            <a:pPr marL="342900" indent="-342900">
              <a:buSzPct val="100000"/>
              <a:buChar char="▪"/>
            </a:pPr>
            <a:r>
              <a:rPr lang="en-US" sz="1600" dirty="0">
                <a:solidFill>
                  <a:srgbClr val="1B2430"/>
                </a:solidFill>
                <a:latin typeface="Calibri" pitchFamily="34" charset="0"/>
                <a:ea typeface="Calibri" pitchFamily="34" charset="-122"/>
                <a:cs typeface="Calibri" pitchFamily="34" charset="-120"/>
              </a:rPr>
              <a:t>En Spark y MapReduce la fase de shuffle (redistribucion) suele ser la mayor porcion secuencial percibida.</a:t>
            </a:r>
            <a:endParaRPr lang="en-US" sz="1600" dirty="0"/>
          </a:p>
        </p:txBody>
      </p:sp>
      <p:sp>
        <p:nvSpPr>
          <p:cNvPr id="21" name="Shape 17"/>
          <p:cNvSpPr/>
          <p:nvPr/>
        </p:nvSpPr>
        <p:spPr>
          <a:xfrm>
            <a:off x="457200" y="6537960"/>
            <a:ext cx="11247120" cy="0"/>
          </a:xfrm>
          <a:prstGeom prst="line">
            <a:avLst/>
          </a:prstGeom>
          <a:noFill/>
          <a:ln w="9525">
            <a:solidFill>
              <a:srgbClr val="D9E1EA"/>
            </a:solidFill>
            <a:prstDash val="solid"/>
          </a:ln>
        </p:spPr>
      </p:sp>
      <p:sp>
        <p:nvSpPr>
          <p:cNvPr id="22" name="Text 18"/>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23" name="Text 19"/>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4.1.3 Amdahl   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0E3F7E"/>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4.1.3</a:t>
            </a:r>
            <a:endParaRPr lang="en-US" sz="1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Metricas de rendimiento paralelo</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5623560" cy="2514600"/>
          </a:xfrm>
          <a:prstGeom prst="roundRect">
            <a:avLst>
              <a:gd name="adj" fmla="val 5455"/>
            </a:avLst>
          </a:prstGeom>
          <a:solidFill>
            <a:srgbClr val="F3F6FB"/>
          </a:solidFill>
          <a:ln w="9525">
            <a:solidFill>
              <a:srgbClr val="D9E1EA"/>
            </a:solidFill>
            <a:prstDash val="solid"/>
          </a:ln>
        </p:spPr>
      </p:sp>
      <p:sp>
        <p:nvSpPr>
          <p:cNvPr id="7" name="Shape 5"/>
          <p:cNvSpPr/>
          <p:nvPr/>
        </p:nvSpPr>
        <p:spPr>
          <a:xfrm>
            <a:off x="685800" y="1371600"/>
            <a:ext cx="777240" cy="777240"/>
          </a:xfrm>
          <a:prstGeom prst="ellipse">
            <a:avLst/>
          </a:prstGeom>
          <a:solidFill>
            <a:srgbClr val="0E3F7E"/>
          </a:solidFill>
          <a:ln/>
        </p:spPr>
      </p:sp>
      <p:sp>
        <p:nvSpPr>
          <p:cNvPr id="8" name="Text 6"/>
          <p:cNvSpPr/>
          <p:nvPr/>
        </p:nvSpPr>
        <p:spPr>
          <a:xfrm>
            <a:off x="685800" y="137160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S</a:t>
            </a:r>
            <a:endParaRPr lang="en-US" sz="2800" dirty="0"/>
          </a:p>
        </p:txBody>
      </p:sp>
      <p:sp>
        <p:nvSpPr>
          <p:cNvPr id="9" name="Text 7"/>
          <p:cNvSpPr/>
          <p:nvPr/>
        </p:nvSpPr>
        <p:spPr>
          <a:xfrm>
            <a:off x="1600200" y="1371600"/>
            <a:ext cx="4297680" cy="411480"/>
          </a:xfrm>
          <a:prstGeom prst="rect">
            <a:avLst/>
          </a:prstGeom>
          <a:noFill/>
          <a:ln/>
        </p:spPr>
        <p:txBody>
          <a:bodyPr wrap="square" lIns="0" tIns="0" rIns="0" bIns="0" rtlCol="0" anchor="ctr"/>
          <a:lstStyle/>
          <a:p>
            <a:pPr marL="0" indent="0">
              <a:buNone/>
            </a:pPr>
            <a:r>
              <a:rPr lang="en-US" sz="2400" b="1" dirty="0">
                <a:solidFill>
                  <a:srgbClr val="0E3F7E"/>
                </a:solidFill>
                <a:latin typeface="Cambria" pitchFamily="34" charset="0"/>
                <a:ea typeface="Cambria" pitchFamily="34" charset="-122"/>
                <a:cs typeface="Cambria" pitchFamily="34" charset="-120"/>
              </a:rPr>
              <a:t>Speedup (aceleracion)</a:t>
            </a:r>
            <a:endParaRPr lang="en-US" sz="2400" dirty="0"/>
          </a:p>
        </p:txBody>
      </p:sp>
      <p:sp>
        <p:nvSpPr>
          <p:cNvPr id="10" name="Text 8"/>
          <p:cNvSpPr/>
          <p:nvPr/>
        </p:nvSpPr>
        <p:spPr>
          <a:xfrm>
            <a:off x="1600200" y="1783080"/>
            <a:ext cx="4297680" cy="365760"/>
          </a:xfrm>
          <a:prstGeom prst="rect">
            <a:avLst/>
          </a:prstGeom>
          <a:noFill/>
          <a:ln/>
        </p:spPr>
        <p:txBody>
          <a:bodyPr wrap="square" lIns="0" tIns="0" rIns="0" bIns="0" rtlCol="0" anchor="ctr"/>
          <a:lstStyle/>
          <a:p>
            <a:pPr marL="0" indent="0">
              <a:buNone/>
            </a:pPr>
            <a:r>
              <a:rPr lang="en-US" sz="1600" i="1" dirty="0">
                <a:solidFill>
                  <a:srgbClr val="3B4A5A"/>
                </a:solidFill>
                <a:latin typeface="Cambria" pitchFamily="34" charset="0"/>
                <a:ea typeface="Cambria" pitchFamily="34" charset="-122"/>
                <a:cs typeface="Cambria" pitchFamily="34" charset="-120"/>
              </a:rPr>
              <a:t>S(N) = T(1) / T(N)</a:t>
            </a:r>
            <a:endParaRPr lang="en-US" sz="1600" dirty="0"/>
          </a:p>
        </p:txBody>
      </p:sp>
      <p:sp>
        <p:nvSpPr>
          <p:cNvPr id="11" name="Text 9"/>
          <p:cNvSpPr/>
          <p:nvPr/>
        </p:nvSpPr>
        <p:spPr>
          <a:xfrm>
            <a:off x="731520" y="2286000"/>
            <a:ext cx="5074920" cy="123444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Cuantas veces mas rapido corre el algoritmo con N procesadores respecto al secuencial. Ideal: S(N) = N (aceleracion lineal).</a:t>
            </a:r>
            <a:endParaRPr lang="en-US" sz="1600" dirty="0"/>
          </a:p>
        </p:txBody>
      </p:sp>
      <p:sp>
        <p:nvSpPr>
          <p:cNvPr id="12" name="Shape 10"/>
          <p:cNvSpPr/>
          <p:nvPr/>
        </p:nvSpPr>
        <p:spPr>
          <a:xfrm>
            <a:off x="6172200" y="1143000"/>
            <a:ext cx="5532120" cy="2514600"/>
          </a:xfrm>
          <a:prstGeom prst="roundRect">
            <a:avLst>
              <a:gd name="adj" fmla="val 5455"/>
            </a:avLst>
          </a:prstGeom>
          <a:solidFill>
            <a:srgbClr val="F3F6FB"/>
          </a:solidFill>
          <a:ln w="9525">
            <a:solidFill>
              <a:srgbClr val="D9E1EA"/>
            </a:solidFill>
            <a:prstDash val="solid"/>
          </a:ln>
        </p:spPr>
      </p:sp>
      <p:sp>
        <p:nvSpPr>
          <p:cNvPr id="13" name="Shape 11"/>
          <p:cNvSpPr/>
          <p:nvPr/>
        </p:nvSpPr>
        <p:spPr>
          <a:xfrm>
            <a:off x="6400800" y="1371600"/>
            <a:ext cx="777240" cy="777240"/>
          </a:xfrm>
          <a:prstGeom prst="ellipse">
            <a:avLst/>
          </a:prstGeom>
          <a:solidFill>
            <a:srgbClr val="2E86A1"/>
          </a:solidFill>
          <a:ln/>
        </p:spPr>
      </p:sp>
      <p:sp>
        <p:nvSpPr>
          <p:cNvPr id="14" name="Text 12"/>
          <p:cNvSpPr/>
          <p:nvPr/>
        </p:nvSpPr>
        <p:spPr>
          <a:xfrm>
            <a:off x="6400800" y="137160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E</a:t>
            </a:r>
            <a:endParaRPr lang="en-US" sz="2800" dirty="0"/>
          </a:p>
        </p:txBody>
      </p:sp>
      <p:sp>
        <p:nvSpPr>
          <p:cNvPr id="15" name="Text 13"/>
          <p:cNvSpPr/>
          <p:nvPr/>
        </p:nvSpPr>
        <p:spPr>
          <a:xfrm>
            <a:off x="7315200" y="1371600"/>
            <a:ext cx="4206240" cy="411480"/>
          </a:xfrm>
          <a:prstGeom prst="rect">
            <a:avLst/>
          </a:prstGeom>
          <a:noFill/>
          <a:ln/>
        </p:spPr>
        <p:txBody>
          <a:bodyPr wrap="square" lIns="0" tIns="0" rIns="0" bIns="0" rtlCol="0" anchor="ctr"/>
          <a:lstStyle/>
          <a:p>
            <a:pPr marL="0" indent="0">
              <a:buNone/>
            </a:pPr>
            <a:r>
              <a:rPr lang="en-US" sz="2400" b="1" dirty="0">
                <a:solidFill>
                  <a:srgbClr val="2E86A1"/>
                </a:solidFill>
                <a:latin typeface="Cambria" pitchFamily="34" charset="0"/>
                <a:ea typeface="Cambria" pitchFamily="34" charset="-122"/>
                <a:cs typeface="Cambria" pitchFamily="34" charset="-120"/>
              </a:rPr>
              <a:t>Eficiencia</a:t>
            </a:r>
            <a:endParaRPr lang="en-US" sz="2400" dirty="0"/>
          </a:p>
        </p:txBody>
      </p:sp>
      <p:sp>
        <p:nvSpPr>
          <p:cNvPr id="16" name="Text 14"/>
          <p:cNvSpPr/>
          <p:nvPr/>
        </p:nvSpPr>
        <p:spPr>
          <a:xfrm>
            <a:off x="7315200" y="1783080"/>
            <a:ext cx="4206240" cy="365760"/>
          </a:xfrm>
          <a:prstGeom prst="rect">
            <a:avLst/>
          </a:prstGeom>
          <a:noFill/>
          <a:ln/>
        </p:spPr>
        <p:txBody>
          <a:bodyPr wrap="square" lIns="0" tIns="0" rIns="0" bIns="0" rtlCol="0" anchor="ctr"/>
          <a:lstStyle/>
          <a:p>
            <a:pPr marL="0" indent="0">
              <a:buNone/>
            </a:pPr>
            <a:r>
              <a:rPr lang="en-US" sz="1600" i="1" dirty="0">
                <a:solidFill>
                  <a:srgbClr val="3B4A5A"/>
                </a:solidFill>
                <a:latin typeface="Cambria" pitchFamily="34" charset="0"/>
                <a:ea typeface="Cambria" pitchFamily="34" charset="-122"/>
                <a:cs typeface="Cambria" pitchFamily="34" charset="-120"/>
              </a:rPr>
              <a:t>E(N) = S(N) / N</a:t>
            </a:r>
            <a:endParaRPr lang="en-US" sz="1600" dirty="0"/>
          </a:p>
        </p:txBody>
      </p:sp>
      <p:sp>
        <p:nvSpPr>
          <p:cNvPr id="17" name="Text 15"/>
          <p:cNvSpPr/>
          <p:nvPr/>
        </p:nvSpPr>
        <p:spPr>
          <a:xfrm>
            <a:off x="6446520" y="2286000"/>
            <a:ext cx="4983480" cy="123444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Fraccion del rendimiento maximo que aprovechamos por procesador. Valores entre 0 y 1; por debajo de 0,5 indica desperdicio significativo.</a:t>
            </a:r>
            <a:endParaRPr lang="en-US" sz="1600" dirty="0"/>
          </a:p>
        </p:txBody>
      </p:sp>
      <p:sp>
        <p:nvSpPr>
          <p:cNvPr id="18" name="Shape 16"/>
          <p:cNvSpPr/>
          <p:nvPr/>
        </p:nvSpPr>
        <p:spPr>
          <a:xfrm>
            <a:off x="457200" y="3749040"/>
            <a:ext cx="5623560" cy="2651760"/>
          </a:xfrm>
          <a:prstGeom prst="roundRect">
            <a:avLst>
              <a:gd name="adj" fmla="val 5172"/>
            </a:avLst>
          </a:prstGeom>
          <a:solidFill>
            <a:srgbClr val="F3F6FB"/>
          </a:solidFill>
          <a:ln w="9525">
            <a:solidFill>
              <a:srgbClr val="D9E1EA"/>
            </a:solidFill>
            <a:prstDash val="solid"/>
          </a:ln>
        </p:spPr>
      </p:sp>
      <p:sp>
        <p:nvSpPr>
          <p:cNvPr id="19" name="Shape 17"/>
          <p:cNvSpPr/>
          <p:nvPr/>
        </p:nvSpPr>
        <p:spPr>
          <a:xfrm>
            <a:off x="685800" y="3977640"/>
            <a:ext cx="777240" cy="777240"/>
          </a:xfrm>
          <a:prstGeom prst="ellipse">
            <a:avLst/>
          </a:prstGeom>
          <a:solidFill>
            <a:srgbClr val="4FAE60"/>
          </a:solidFill>
          <a:ln/>
        </p:spPr>
      </p:sp>
      <p:sp>
        <p:nvSpPr>
          <p:cNvPr id="20" name="Text 18"/>
          <p:cNvSpPr/>
          <p:nvPr/>
        </p:nvSpPr>
        <p:spPr>
          <a:xfrm>
            <a:off x="685800" y="397764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T</a:t>
            </a:r>
            <a:endParaRPr lang="en-US" sz="2800" dirty="0"/>
          </a:p>
        </p:txBody>
      </p:sp>
      <p:sp>
        <p:nvSpPr>
          <p:cNvPr id="21" name="Text 19"/>
          <p:cNvSpPr/>
          <p:nvPr/>
        </p:nvSpPr>
        <p:spPr>
          <a:xfrm>
            <a:off x="1600200" y="3977640"/>
            <a:ext cx="4297680" cy="411480"/>
          </a:xfrm>
          <a:prstGeom prst="rect">
            <a:avLst/>
          </a:prstGeom>
          <a:noFill/>
          <a:ln/>
        </p:spPr>
        <p:txBody>
          <a:bodyPr wrap="square" lIns="0" tIns="0" rIns="0" bIns="0" rtlCol="0" anchor="ctr"/>
          <a:lstStyle/>
          <a:p>
            <a:pPr marL="0" indent="0">
              <a:buNone/>
            </a:pPr>
            <a:r>
              <a:rPr lang="en-US" sz="2400" b="1" dirty="0">
                <a:solidFill>
                  <a:srgbClr val="4FAE60"/>
                </a:solidFill>
                <a:latin typeface="Cambria" pitchFamily="34" charset="0"/>
                <a:ea typeface="Cambria" pitchFamily="34" charset="-122"/>
                <a:cs typeface="Cambria" pitchFamily="34" charset="-120"/>
              </a:rPr>
              <a:t>Throughput (rendimiento)</a:t>
            </a:r>
            <a:endParaRPr lang="en-US" sz="2400" dirty="0"/>
          </a:p>
        </p:txBody>
      </p:sp>
      <p:sp>
        <p:nvSpPr>
          <p:cNvPr id="22" name="Text 20"/>
          <p:cNvSpPr/>
          <p:nvPr/>
        </p:nvSpPr>
        <p:spPr>
          <a:xfrm>
            <a:off x="1600200" y="4389120"/>
            <a:ext cx="4297680" cy="365760"/>
          </a:xfrm>
          <a:prstGeom prst="rect">
            <a:avLst/>
          </a:prstGeom>
          <a:noFill/>
          <a:ln/>
        </p:spPr>
        <p:txBody>
          <a:bodyPr wrap="square" lIns="0" tIns="0" rIns="0" bIns="0" rtlCol="0" anchor="ctr"/>
          <a:lstStyle/>
          <a:p>
            <a:pPr marL="0" indent="0">
              <a:buNone/>
            </a:pPr>
            <a:r>
              <a:rPr lang="en-US" sz="1600" i="1" dirty="0">
                <a:solidFill>
                  <a:srgbClr val="3B4A5A"/>
                </a:solidFill>
                <a:latin typeface="Cambria" pitchFamily="34" charset="0"/>
                <a:ea typeface="Cambria" pitchFamily="34" charset="-122"/>
                <a:cs typeface="Cambria" pitchFamily="34" charset="-120"/>
              </a:rPr>
              <a:t>Trabajo util por unidad de tiempo</a:t>
            </a:r>
            <a:endParaRPr lang="en-US" sz="1600" dirty="0"/>
          </a:p>
        </p:txBody>
      </p:sp>
      <p:sp>
        <p:nvSpPr>
          <p:cNvPr id="23" name="Text 21"/>
          <p:cNvSpPr/>
          <p:nvPr/>
        </p:nvSpPr>
        <p:spPr>
          <a:xfrm>
            <a:off x="731520" y="4892040"/>
            <a:ext cx="5074920" cy="137160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Cantidad de operaciones o transacciones por segundo. En sistemas de datos: MB/s procesados, eventos/s, jobs/hora.</a:t>
            </a:r>
            <a:endParaRPr lang="en-US" sz="1600" dirty="0"/>
          </a:p>
        </p:txBody>
      </p:sp>
      <p:sp>
        <p:nvSpPr>
          <p:cNvPr id="24" name="Shape 22"/>
          <p:cNvSpPr/>
          <p:nvPr/>
        </p:nvSpPr>
        <p:spPr>
          <a:xfrm>
            <a:off x="6172200" y="3749040"/>
            <a:ext cx="5532120" cy="2651760"/>
          </a:xfrm>
          <a:prstGeom prst="roundRect">
            <a:avLst>
              <a:gd name="adj" fmla="val 5172"/>
            </a:avLst>
          </a:prstGeom>
          <a:solidFill>
            <a:srgbClr val="F3F6FB"/>
          </a:solidFill>
          <a:ln w="9525">
            <a:solidFill>
              <a:srgbClr val="D9E1EA"/>
            </a:solidFill>
            <a:prstDash val="solid"/>
          </a:ln>
        </p:spPr>
      </p:sp>
      <p:sp>
        <p:nvSpPr>
          <p:cNvPr id="25" name="Shape 23"/>
          <p:cNvSpPr/>
          <p:nvPr/>
        </p:nvSpPr>
        <p:spPr>
          <a:xfrm>
            <a:off x="6400800" y="3977640"/>
            <a:ext cx="777240" cy="777240"/>
          </a:xfrm>
          <a:prstGeom prst="ellipse">
            <a:avLst/>
          </a:prstGeom>
          <a:solidFill>
            <a:srgbClr val="F2A413"/>
          </a:solidFill>
          <a:ln/>
        </p:spPr>
      </p:sp>
      <p:sp>
        <p:nvSpPr>
          <p:cNvPr id="26" name="Text 24"/>
          <p:cNvSpPr/>
          <p:nvPr/>
        </p:nvSpPr>
        <p:spPr>
          <a:xfrm>
            <a:off x="6400800" y="397764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Sc</a:t>
            </a:r>
            <a:endParaRPr lang="en-US" sz="2800" dirty="0"/>
          </a:p>
        </p:txBody>
      </p:sp>
      <p:sp>
        <p:nvSpPr>
          <p:cNvPr id="27" name="Text 25"/>
          <p:cNvSpPr/>
          <p:nvPr/>
        </p:nvSpPr>
        <p:spPr>
          <a:xfrm>
            <a:off x="7315200" y="3977640"/>
            <a:ext cx="4206240" cy="411480"/>
          </a:xfrm>
          <a:prstGeom prst="rect">
            <a:avLst/>
          </a:prstGeom>
          <a:noFill/>
          <a:ln/>
        </p:spPr>
        <p:txBody>
          <a:bodyPr wrap="square" lIns="0" tIns="0" rIns="0" bIns="0" rtlCol="0" anchor="ctr"/>
          <a:lstStyle/>
          <a:p>
            <a:pPr marL="0" indent="0">
              <a:buNone/>
            </a:pPr>
            <a:r>
              <a:rPr lang="en-US" sz="2400" b="1" dirty="0">
                <a:solidFill>
                  <a:srgbClr val="F2A413"/>
                </a:solidFill>
                <a:latin typeface="Cambria" pitchFamily="34" charset="0"/>
                <a:ea typeface="Cambria" pitchFamily="34" charset="-122"/>
                <a:cs typeface="Cambria" pitchFamily="34" charset="-120"/>
              </a:rPr>
              <a:t>Escalabilidad</a:t>
            </a:r>
            <a:endParaRPr lang="en-US" sz="2400" dirty="0"/>
          </a:p>
        </p:txBody>
      </p:sp>
      <p:sp>
        <p:nvSpPr>
          <p:cNvPr id="28" name="Text 26"/>
          <p:cNvSpPr/>
          <p:nvPr/>
        </p:nvSpPr>
        <p:spPr>
          <a:xfrm>
            <a:off x="7315200" y="4389120"/>
            <a:ext cx="4206240" cy="365760"/>
          </a:xfrm>
          <a:prstGeom prst="rect">
            <a:avLst/>
          </a:prstGeom>
          <a:noFill/>
          <a:ln/>
        </p:spPr>
        <p:txBody>
          <a:bodyPr wrap="square" lIns="0" tIns="0" rIns="0" bIns="0" rtlCol="0" anchor="ctr"/>
          <a:lstStyle/>
          <a:p>
            <a:pPr marL="0" indent="0">
              <a:buNone/>
            </a:pPr>
            <a:r>
              <a:rPr lang="en-US" sz="1600" i="1" dirty="0">
                <a:solidFill>
                  <a:srgbClr val="3B4A5A"/>
                </a:solidFill>
                <a:latin typeface="Cambria" pitchFamily="34" charset="0"/>
                <a:ea typeface="Cambria" pitchFamily="34" charset="-122"/>
                <a:cs typeface="Cambria" pitchFamily="34" charset="-120"/>
              </a:rPr>
              <a:t>Fuerte vs debil (strong vs weak scaling)</a:t>
            </a:r>
            <a:endParaRPr lang="en-US" sz="1600" dirty="0"/>
          </a:p>
        </p:txBody>
      </p:sp>
      <p:sp>
        <p:nvSpPr>
          <p:cNvPr id="29" name="Text 27"/>
          <p:cNvSpPr/>
          <p:nvPr/>
        </p:nvSpPr>
        <p:spPr>
          <a:xfrm>
            <a:off x="6446520" y="4892040"/>
            <a:ext cx="4983480" cy="137160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Fuerte: mantengo el problema, agrego nodos y mido T. Debil: agrando el problema al ritmo de N y espero T constante. Sistemas cloud priorizan la debil.</a:t>
            </a:r>
            <a:endParaRPr lang="en-US" sz="1600" dirty="0"/>
          </a:p>
        </p:txBody>
      </p:sp>
      <p:sp>
        <p:nvSpPr>
          <p:cNvPr id="31" name="Shape 28"/>
          <p:cNvSpPr/>
          <p:nvPr/>
        </p:nvSpPr>
        <p:spPr>
          <a:xfrm>
            <a:off x="457200" y="6537960"/>
            <a:ext cx="11247120" cy="0"/>
          </a:xfrm>
          <a:prstGeom prst="line">
            <a:avLst/>
          </a:prstGeom>
          <a:noFill/>
          <a:ln w="9525">
            <a:solidFill>
              <a:srgbClr val="D9E1EA"/>
            </a:solidFill>
            <a:prstDash val="solid"/>
          </a:ln>
        </p:spPr>
      </p:sp>
      <p:sp>
        <p:nvSpPr>
          <p:cNvPr id="32" name="Text 29"/>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33" name="Text 30"/>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4.1.3 Metricas   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0E3F7E"/>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4.1.4</a:t>
            </a:r>
            <a:endParaRPr lang="en-US" sz="1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OpenMP: paralelismo en memoria compartida</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11247120" cy="685800"/>
          </a:xfrm>
          <a:prstGeom prst="roundRect">
            <a:avLst>
              <a:gd name="adj" fmla="val 13333"/>
            </a:avLst>
          </a:prstGeom>
          <a:solidFill>
            <a:srgbClr val="F3F6FB"/>
          </a:solidFill>
          <a:ln/>
        </p:spPr>
      </p:sp>
      <p:sp>
        <p:nvSpPr>
          <p:cNvPr id="7" name="Text 5"/>
          <p:cNvSpPr/>
          <p:nvPr/>
        </p:nvSpPr>
        <p:spPr>
          <a:xfrm>
            <a:off x="640080" y="1143000"/>
            <a:ext cx="10881360" cy="6858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OpenMP (Open Multi-Processing, Procesamiento Multiple Abierto): </a:t>
            </a:r>
            <a:r>
              <a:rPr lang="en-US" sz="1600" dirty="0">
                <a:solidFill>
                  <a:srgbClr val="1B2430"/>
                </a:solidFill>
                <a:latin typeface="Calibri" pitchFamily="34" charset="0"/>
                <a:ea typeface="Calibri" pitchFamily="34" charset="-122"/>
                <a:cs typeface="Calibri" pitchFamily="34" charset="-120"/>
              </a:rPr>
              <a:t>API (Application Programming Interface, Interfaz de Programacion de Aplicaciones) basada en directivas para C, C++ y Fortran, con paralelismo por hilos dentro de un nodo.</a:t>
            </a:r>
            <a:endParaRPr lang="en-US" sz="1600" dirty="0"/>
          </a:p>
        </p:txBody>
      </p:sp>
      <p:sp>
        <p:nvSpPr>
          <p:cNvPr id="8" name="Shape 6"/>
          <p:cNvSpPr/>
          <p:nvPr/>
        </p:nvSpPr>
        <p:spPr>
          <a:xfrm>
            <a:off x="457200" y="2011680"/>
            <a:ext cx="5623560" cy="4389120"/>
          </a:xfrm>
          <a:prstGeom prst="roundRect">
            <a:avLst>
              <a:gd name="adj" fmla="val 3125"/>
            </a:avLst>
          </a:prstGeom>
          <a:solidFill>
            <a:srgbClr val="FFFFFF"/>
          </a:solidFill>
          <a:ln w="9525">
            <a:solidFill>
              <a:srgbClr val="D9E1EA"/>
            </a:solidFill>
            <a:prstDash val="solid"/>
          </a:ln>
        </p:spPr>
      </p:sp>
      <p:sp>
        <p:nvSpPr>
          <p:cNvPr id="9" name="Text 7"/>
          <p:cNvSpPr/>
          <p:nvPr/>
        </p:nvSpPr>
        <p:spPr>
          <a:xfrm>
            <a:off x="640080" y="2103120"/>
            <a:ext cx="5303520" cy="365760"/>
          </a:xfrm>
          <a:prstGeom prst="rect">
            <a:avLst/>
          </a:prstGeom>
          <a:noFill/>
          <a:ln/>
        </p:spPr>
        <p:txBody>
          <a:bodyPr wrap="square" lIns="0" tIns="0" rIns="0" bIns="0" rtlCol="0" anchor="ctr"/>
          <a:lstStyle/>
          <a:p>
            <a:pPr marL="0" indent="0">
              <a:buNone/>
            </a:pPr>
            <a:r>
              <a:rPr lang="en-US" sz="2000" b="1" dirty="0">
                <a:solidFill>
                  <a:srgbClr val="0E3F7E"/>
                </a:solidFill>
                <a:latin typeface="Cambria" pitchFamily="34" charset="0"/>
                <a:ea typeface="Cambria" pitchFamily="34" charset="-122"/>
                <a:cs typeface="Cambria" pitchFamily="34" charset="-120"/>
              </a:rPr>
              <a:t>Caracteristicas clave</a:t>
            </a:r>
            <a:endParaRPr lang="en-US" sz="2000" dirty="0"/>
          </a:p>
        </p:txBody>
      </p:sp>
      <p:sp>
        <p:nvSpPr>
          <p:cNvPr id="10" name="Shape 8"/>
          <p:cNvSpPr/>
          <p:nvPr/>
        </p:nvSpPr>
        <p:spPr>
          <a:xfrm>
            <a:off x="640080" y="2514600"/>
            <a:ext cx="365760" cy="365760"/>
          </a:xfrm>
          <a:prstGeom prst="roundRect">
            <a:avLst>
              <a:gd name="adj" fmla="val 12500"/>
            </a:avLst>
          </a:prstGeom>
          <a:solidFill>
            <a:srgbClr val="0E3F7E"/>
          </a:solidFill>
          <a:ln/>
        </p:spPr>
      </p:sp>
      <p:sp>
        <p:nvSpPr>
          <p:cNvPr id="11" name="Shape 9"/>
          <p:cNvSpPr/>
          <p:nvPr/>
        </p:nvSpPr>
        <p:spPr>
          <a:xfrm>
            <a:off x="777240" y="2606040"/>
            <a:ext cx="91440" cy="182880"/>
          </a:xfrm>
          <a:prstGeom prst="rect">
            <a:avLst/>
          </a:prstGeom>
          <a:solidFill>
            <a:srgbClr val="FFFFFF"/>
          </a:solidFill>
          <a:ln/>
        </p:spPr>
      </p:sp>
      <p:sp>
        <p:nvSpPr>
          <p:cNvPr id="12" name="Text 10"/>
          <p:cNvSpPr/>
          <p:nvPr/>
        </p:nvSpPr>
        <p:spPr>
          <a:xfrm>
            <a:off x="1143000" y="2496312"/>
            <a:ext cx="4846320" cy="36576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Fork-Join</a:t>
            </a:r>
            <a:endParaRPr lang="en-US" sz="1600" dirty="0"/>
          </a:p>
        </p:txBody>
      </p:sp>
      <p:sp>
        <p:nvSpPr>
          <p:cNvPr id="13" name="Text 11"/>
          <p:cNvSpPr/>
          <p:nvPr/>
        </p:nvSpPr>
        <p:spPr>
          <a:xfrm>
            <a:off x="1143000" y="2862072"/>
            <a:ext cx="4846320" cy="384048"/>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El hilo maestro crea (fork) equipo de hilos y los une (join) al terminar.</a:t>
            </a:r>
            <a:endParaRPr lang="en-US" sz="1400" dirty="0"/>
          </a:p>
        </p:txBody>
      </p:sp>
      <p:sp>
        <p:nvSpPr>
          <p:cNvPr id="14" name="Shape 12"/>
          <p:cNvSpPr/>
          <p:nvPr/>
        </p:nvSpPr>
        <p:spPr>
          <a:xfrm>
            <a:off x="640080" y="3273552"/>
            <a:ext cx="365760" cy="365760"/>
          </a:xfrm>
          <a:prstGeom prst="roundRect">
            <a:avLst>
              <a:gd name="adj" fmla="val 12500"/>
            </a:avLst>
          </a:prstGeom>
          <a:solidFill>
            <a:srgbClr val="0E3F7E"/>
          </a:solidFill>
          <a:ln/>
        </p:spPr>
      </p:sp>
      <p:sp>
        <p:nvSpPr>
          <p:cNvPr id="15" name="Shape 13"/>
          <p:cNvSpPr/>
          <p:nvPr/>
        </p:nvSpPr>
        <p:spPr>
          <a:xfrm>
            <a:off x="777240" y="3364992"/>
            <a:ext cx="91440" cy="182880"/>
          </a:xfrm>
          <a:prstGeom prst="rect">
            <a:avLst/>
          </a:prstGeom>
          <a:solidFill>
            <a:srgbClr val="FFFFFF"/>
          </a:solidFill>
          <a:ln/>
        </p:spPr>
      </p:sp>
      <p:sp>
        <p:nvSpPr>
          <p:cNvPr id="16" name="Text 14"/>
          <p:cNvSpPr/>
          <p:nvPr/>
        </p:nvSpPr>
        <p:spPr>
          <a:xfrm>
            <a:off x="1143000" y="3255264"/>
            <a:ext cx="4846320" cy="36576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Directivas #pragma omp</a:t>
            </a:r>
            <a:endParaRPr lang="en-US" sz="1600" dirty="0"/>
          </a:p>
        </p:txBody>
      </p:sp>
      <p:sp>
        <p:nvSpPr>
          <p:cNvPr id="17" name="Text 15"/>
          <p:cNvSpPr/>
          <p:nvPr/>
        </p:nvSpPr>
        <p:spPr>
          <a:xfrm>
            <a:off x="1143000" y="3621024"/>
            <a:ext cx="4846320" cy="384048"/>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El programador anota el codigo secuencial; el compilador genera el paralelo.</a:t>
            </a:r>
            <a:endParaRPr lang="en-US" sz="1400" dirty="0"/>
          </a:p>
        </p:txBody>
      </p:sp>
      <p:sp>
        <p:nvSpPr>
          <p:cNvPr id="18" name="Shape 16"/>
          <p:cNvSpPr/>
          <p:nvPr/>
        </p:nvSpPr>
        <p:spPr>
          <a:xfrm>
            <a:off x="640080" y="4032504"/>
            <a:ext cx="365760" cy="365760"/>
          </a:xfrm>
          <a:prstGeom prst="roundRect">
            <a:avLst>
              <a:gd name="adj" fmla="val 12500"/>
            </a:avLst>
          </a:prstGeom>
          <a:solidFill>
            <a:srgbClr val="0E3F7E"/>
          </a:solidFill>
          <a:ln/>
        </p:spPr>
      </p:sp>
      <p:sp>
        <p:nvSpPr>
          <p:cNvPr id="19" name="Shape 17"/>
          <p:cNvSpPr/>
          <p:nvPr/>
        </p:nvSpPr>
        <p:spPr>
          <a:xfrm>
            <a:off x="777240" y="4123944"/>
            <a:ext cx="91440" cy="182880"/>
          </a:xfrm>
          <a:prstGeom prst="rect">
            <a:avLst/>
          </a:prstGeom>
          <a:solidFill>
            <a:srgbClr val="FFFFFF"/>
          </a:solidFill>
          <a:ln/>
        </p:spPr>
      </p:sp>
      <p:sp>
        <p:nvSpPr>
          <p:cNvPr id="20" name="Text 18"/>
          <p:cNvSpPr/>
          <p:nvPr/>
        </p:nvSpPr>
        <p:spPr>
          <a:xfrm>
            <a:off x="1143000" y="4014216"/>
            <a:ext cx="4846320" cy="36576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Regiones paralelas</a:t>
            </a:r>
            <a:endParaRPr lang="en-US" sz="1600" dirty="0"/>
          </a:p>
        </p:txBody>
      </p:sp>
      <p:sp>
        <p:nvSpPr>
          <p:cNvPr id="21" name="Text 19"/>
          <p:cNvSpPr/>
          <p:nvPr/>
        </p:nvSpPr>
        <p:spPr>
          <a:xfrm>
            <a:off x="1143000" y="4379976"/>
            <a:ext cx="4846320" cy="384048"/>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parallel, for, sections, task, taskloop.</a:t>
            </a:r>
            <a:endParaRPr lang="en-US" sz="1400" dirty="0"/>
          </a:p>
        </p:txBody>
      </p:sp>
      <p:sp>
        <p:nvSpPr>
          <p:cNvPr id="22" name="Shape 20"/>
          <p:cNvSpPr/>
          <p:nvPr/>
        </p:nvSpPr>
        <p:spPr>
          <a:xfrm>
            <a:off x="640080" y="4791456"/>
            <a:ext cx="365760" cy="365760"/>
          </a:xfrm>
          <a:prstGeom prst="roundRect">
            <a:avLst>
              <a:gd name="adj" fmla="val 12500"/>
            </a:avLst>
          </a:prstGeom>
          <a:solidFill>
            <a:srgbClr val="0E3F7E"/>
          </a:solidFill>
          <a:ln/>
        </p:spPr>
      </p:sp>
      <p:sp>
        <p:nvSpPr>
          <p:cNvPr id="23" name="Shape 21"/>
          <p:cNvSpPr/>
          <p:nvPr/>
        </p:nvSpPr>
        <p:spPr>
          <a:xfrm>
            <a:off x="777240" y="4882896"/>
            <a:ext cx="91440" cy="182880"/>
          </a:xfrm>
          <a:prstGeom prst="rect">
            <a:avLst/>
          </a:prstGeom>
          <a:solidFill>
            <a:srgbClr val="FFFFFF"/>
          </a:solidFill>
          <a:ln/>
        </p:spPr>
      </p:sp>
      <p:sp>
        <p:nvSpPr>
          <p:cNvPr id="24" name="Text 22"/>
          <p:cNvSpPr/>
          <p:nvPr/>
        </p:nvSpPr>
        <p:spPr>
          <a:xfrm>
            <a:off x="1143000" y="4773168"/>
            <a:ext cx="4846320" cy="36576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Clausulas de datos</a:t>
            </a:r>
            <a:endParaRPr lang="en-US" sz="1600" dirty="0"/>
          </a:p>
        </p:txBody>
      </p:sp>
      <p:sp>
        <p:nvSpPr>
          <p:cNvPr id="25" name="Text 23"/>
          <p:cNvSpPr/>
          <p:nvPr/>
        </p:nvSpPr>
        <p:spPr>
          <a:xfrm>
            <a:off x="1143000" y="5138928"/>
            <a:ext cx="4846320" cy="384048"/>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shared, private, firstprivate, reduction, atomic, critical.</a:t>
            </a:r>
            <a:endParaRPr lang="en-US" sz="1400" dirty="0"/>
          </a:p>
        </p:txBody>
      </p:sp>
      <p:sp>
        <p:nvSpPr>
          <p:cNvPr id="26" name="Shape 24"/>
          <p:cNvSpPr/>
          <p:nvPr/>
        </p:nvSpPr>
        <p:spPr>
          <a:xfrm>
            <a:off x="640080" y="5550408"/>
            <a:ext cx="365760" cy="365760"/>
          </a:xfrm>
          <a:prstGeom prst="roundRect">
            <a:avLst>
              <a:gd name="adj" fmla="val 12500"/>
            </a:avLst>
          </a:prstGeom>
          <a:solidFill>
            <a:srgbClr val="0E3F7E"/>
          </a:solidFill>
          <a:ln/>
        </p:spPr>
      </p:sp>
      <p:sp>
        <p:nvSpPr>
          <p:cNvPr id="27" name="Shape 25"/>
          <p:cNvSpPr/>
          <p:nvPr/>
        </p:nvSpPr>
        <p:spPr>
          <a:xfrm>
            <a:off x="777240" y="5641848"/>
            <a:ext cx="91440" cy="182880"/>
          </a:xfrm>
          <a:prstGeom prst="rect">
            <a:avLst/>
          </a:prstGeom>
          <a:solidFill>
            <a:srgbClr val="FFFFFF"/>
          </a:solidFill>
          <a:ln/>
        </p:spPr>
      </p:sp>
      <p:sp>
        <p:nvSpPr>
          <p:cNvPr id="28" name="Text 26"/>
          <p:cNvSpPr/>
          <p:nvPr/>
        </p:nvSpPr>
        <p:spPr>
          <a:xfrm>
            <a:off x="1143000" y="5532120"/>
            <a:ext cx="4846320" cy="36576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Sincronizacion</a:t>
            </a:r>
            <a:endParaRPr lang="en-US" sz="1600" dirty="0"/>
          </a:p>
        </p:txBody>
      </p:sp>
      <p:sp>
        <p:nvSpPr>
          <p:cNvPr id="29" name="Text 27"/>
          <p:cNvSpPr/>
          <p:nvPr/>
        </p:nvSpPr>
        <p:spPr>
          <a:xfrm>
            <a:off x="1143000" y="5897880"/>
            <a:ext cx="4846320" cy="384048"/>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barrier (barrera), critical (seccion critica), atomic, ordered.</a:t>
            </a:r>
            <a:endParaRPr lang="en-US" sz="1400" dirty="0"/>
          </a:p>
        </p:txBody>
      </p:sp>
      <p:sp>
        <p:nvSpPr>
          <p:cNvPr id="30" name="Shape 28"/>
          <p:cNvSpPr/>
          <p:nvPr/>
        </p:nvSpPr>
        <p:spPr>
          <a:xfrm>
            <a:off x="6172200" y="2011680"/>
            <a:ext cx="5532120" cy="4389120"/>
          </a:xfrm>
          <a:prstGeom prst="roundRect">
            <a:avLst>
              <a:gd name="adj" fmla="val 3125"/>
            </a:avLst>
          </a:prstGeom>
          <a:solidFill>
            <a:srgbClr val="0A2450"/>
          </a:solidFill>
          <a:ln/>
        </p:spPr>
      </p:sp>
      <p:sp>
        <p:nvSpPr>
          <p:cNvPr id="31" name="Text 29"/>
          <p:cNvSpPr/>
          <p:nvPr/>
        </p:nvSpPr>
        <p:spPr>
          <a:xfrm>
            <a:off x="6355080" y="2103120"/>
            <a:ext cx="5212080" cy="365760"/>
          </a:xfrm>
          <a:prstGeom prst="rect">
            <a:avLst/>
          </a:prstGeom>
          <a:noFill/>
          <a:ln/>
        </p:spPr>
        <p:txBody>
          <a:bodyPr wrap="square" lIns="0" tIns="0" rIns="0" bIns="0" rtlCol="0" anchor="ctr"/>
          <a:lstStyle/>
          <a:p>
            <a:pPr marL="0" indent="0">
              <a:buNone/>
            </a:pPr>
            <a:r>
              <a:rPr lang="en-US" b="1" dirty="0">
                <a:solidFill>
                  <a:srgbClr val="F2A413"/>
                </a:solidFill>
                <a:latin typeface="Cambria" pitchFamily="34" charset="0"/>
                <a:ea typeface="Cambria" pitchFamily="34" charset="-122"/>
                <a:cs typeface="Cambria" pitchFamily="34" charset="-120"/>
              </a:rPr>
              <a:t>Ejemplo: suma paralela con reduction</a:t>
            </a:r>
            <a:endParaRPr lang="en-US" dirty="0"/>
          </a:p>
        </p:txBody>
      </p:sp>
      <p:sp>
        <p:nvSpPr>
          <p:cNvPr id="32" name="Text 30"/>
          <p:cNvSpPr/>
          <p:nvPr/>
        </p:nvSpPr>
        <p:spPr>
          <a:xfrm>
            <a:off x="6355080" y="2514600"/>
            <a:ext cx="5212080" cy="3108960"/>
          </a:xfrm>
          <a:prstGeom prst="rect">
            <a:avLst/>
          </a:prstGeom>
          <a:noFill/>
          <a:ln/>
        </p:spPr>
        <p:txBody>
          <a:bodyPr wrap="square" lIns="0" tIns="0" rIns="0" bIns="0" rtlCol="0" anchor="t"/>
          <a:lstStyle/>
          <a:p>
            <a:pPr marL="0" indent="0">
              <a:buNone/>
            </a:pPr>
            <a:r>
              <a:rPr lang="en-US" sz="1600" dirty="0">
                <a:solidFill>
                  <a:srgbClr val="9CDCFE"/>
                </a:solidFill>
                <a:latin typeface="Courier New" pitchFamily="34" charset="0"/>
                <a:ea typeface="Courier New" pitchFamily="34" charset="-122"/>
                <a:cs typeface="Courier New" pitchFamily="34" charset="-120"/>
              </a:rPr>
              <a:t>#include &lt;omp.h&gt;</a:t>
            </a:r>
            <a:endParaRPr lang="en-US" sz="1600" dirty="0"/>
          </a:p>
          <a:p>
            <a:pPr marL="0" indent="0">
              <a:buNone/>
            </a:pPr>
            <a:r>
              <a:rPr lang="en-US" sz="1600" dirty="0">
                <a:solidFill>
                  <a:srgbClr val="9CDCFE"/>
                </a:solidFill>
                <a:latin typeface="Courier New" pitchFamily="34" charset="0"/>
                <a:ea typeface="Courier New" pitchFamily="34" charset="-122"/>
                <a:cs typeface="Courier New" pitchFamily="34" charset="-120"/>
              </a:rPr>
              <a:t>#include &lt;stdio.h&gt;</a:t>
            </a:r>
            <a:endParaRPr lang="en-US" sz="1600" dirty="0"/>
          </a:p>
          <a:p>
            <a:pPr marL="0" indent="0">
              <a:buNone/>
            </a:pPr>
            <a:r>
              <a:rPr lang="en-US" sz="1600" dirty="0">
                <a:solidFill>
                  <a:srgbClr val="000000"/>
                </a:solidFill>
              </a:rPr>
              <a:t> </a:t>
            </a:r>
            <a:endParaRPr lang="en-US" sz="1600" dirty="0"/>
          </a:p>
          <a:p>
            <a:pPr marL="0" indent="0">
              <a:buNone/>
            </a:pPr>
            <a:r>
              <a:rPr lang="en-US" sz="1600" dirty="0">
                <a:solidFill>
                  <a:srgbClr val="DCDCAA"/>
                </a:solidFill>
                <a:latin typeface="Courier New" pitchFamily="34" charset="0"/>
                <a:ea typeface="Courier New" pitchFamily="34" charset="-122"/>
                <a:cs typeface="Courier New" pitchFamily="34" charset="-120"/>
              </a:rPr>
              <a:t>double sum = 0.0;</a:t>
            </a:r>
            <a:endParaRPr lang="en-US" sz="1600" dirty="0"/>
          </a:p>
          <a:p>
            <a:pPr marL="0" indent="0">
              <a:buNone/>
            </a:pPr>
            <a:r>
              <a:rPr lang="en-US" sz="1600" dirty="0">
                <a:solidFill>
                  <a:srgbClr val="DCDCAA"/>
                </a:solidFill>
                <a:latin typeface="Courier New" pitchFamily="34" charset="0"/>
                <a:ea typeface="Courier New" pitchFamily="34" charset="-122"/>
                <a:cs typeface="Courier New" pitchFamily="34" charset="-120"/>
              </a:rPr>
              <a:t>int N = 1000000;</a:t>
            </a:r>
            <a:endParaRPr lang="en-US" sz="1600" dirty="0"/>
          </a:p>
          <a:p>
            <a:pPr marL="0" indent="0">
              <a:buNone/>
            </a:pPr>
            <a:r>
              <a:rPr lang="en-US" sz="1600" dirty="0">
                <a:solidFill>
                  <a:srgbClr val="000000"/>
                </a:solidFill>
              </a:rPr>
              <a:t> </a:t>
            </a:r>
            <a:endParaRPr lang="en-US" sz="1600" dirty="0"/>
          </a:p>
          <a:p>
            <a:pPr marL="0" indent="0">
              <a:buNone/>
            </a:pPr>
            <a:r>
              <a:rPr lang="en-US" sz="1600" b="1" dirty="0">
                <a:solidFill>
                  <a:srgbClr val="C586C0"/>
                </a:solidFill>
                <a:latin typeface="Courier New" pitchFamily="34" charset="0"/>
                <a:ea typeface="Courier New" pitchFamily="34" charset="-122"/>
                <a:cs typeface="Courier New" pitchFamily="34" charset="-120"/>
              </a:rPr>
              <a:t>#pragma omp parallel for \</a:t>
            </a:r>
            <a:endParaRPr lang="en-US" sz="1600" dirty="0"/>
          </a:p>
          <a:p>
            <a:pPr marL="0" indent="0">
              <a:buNone/>
            </a:pPr>
            <a:r>
              <a:rPr lang="en-US" sz="1600" b="1" dirty="0">
                <a:solidFill>
                  <a:srgbClr val="C586C0"/>
                </a:solidFill>
                <a:latin typeface="Courier New" pitchFamily="34" charset="0"/>
                <a:ea typeface="Courier New" pitchFamily="34" charset="-122"/>
                <a:cs typeface="Courier New" pitchFamily="34" charset="-120"/>
              </a:rPr>
              <a:t>    reduction(+:sum)</a:t>
            </a:r>
            <a:endParaRPr lang="en-US" sz="1600" dirty="0"/>
          </a:p>
          <a:p>
            <a:pPr marL="0" indent="0">
              <a:buNone/>
            </a:pPr>
            <a:r>
              <a:rPr lang="en-US" sz="1600" dirty="0">
                <a:solidFill>
                  <a:srgbClr val="D4D4D4"/>
                </a:solidFill>
                <a:latin typeface="Courier New" pitchFamily="34" charset="0"/>
                <a:ea typeface="Courier New" pitchFamily="34" charset="-122"/>
                <a:cs typeface="Courier New" pitchFamily="34" charset="-120"/>
              </a:rPr>
              <a:t>for (int i = 0; i &lt; N; i++) {</a:t>
            </a:r>
            <a:endParaRPr lang="en-US" sz="1600" dirty="0"/>
          </a:p>
          <a:p>
            <a:pPr marL="0" indent="0">
              <a:buNone/>
            </a:pPr>
            <a:r>
              <a:rPr lang="en-US" sz="1600" dirty="0">
                <a:solidFill>
                  <a:srgbClr val="D4D4D4"/>
                </a:solidFill>
                <a:latin typeface="Courier New" pitchFamily="34" charset="0"/>
                <a:ea typeface="Courier New" pitchFamily="34" charset="-122"/>
                <a:cs typeface="Courier New" pitchFamily="34" charset="-120"/>
              </a:rPr>
              <a:t>    sum += f(i);</a:t>
            </a:r>
            <a:endParaRPr lang="en-US" sz="1600" dirty="0"/>
          </a:p>
          <a:p>
            <a:pPr marL="0" indent="0">
              <a:buNone/>
            </a:pPr>
            <a:r>
              <a:rPr lang="en-US" sz="1600" dirty="0">
                <a:solidFill>
                  <a:srgbClr val="D4D4D4"/>
                </a:solidFill>
                <a:latin typeface="Courier New" pitchFamily="34" charset="0"/>
                <a:ea typeface="Courier New" pitchFamily="34" charset="-122"/>
                <a:cs typeface="Courier New" pitchFamily="34" charset="-120"/>
              </a:rPr>
              <a:t>}</a:t>
            </a:r>
            <a:endParaRPr lang="en-US" sz="1600" dirty="0"/>
          </a:p>
          <a:p>
            <a:pPr marL="0" indent="0">
              <a:buNone/>
            </a:pPr>
            <a:r>
              <a:rPr lang="en-US" sz="1600" dirty="0">
                <a:solidFill>
                  <a:srgbClr val="000000"/>
                </a:solidFill>
              </a:rPr>
              <a:t> </a:t>
            </a:r>
            <a:endParaRPr lang="en-US" sz="1600" dirty="0"/>
          </a:p>
          <a:p>
            <a:pPr marL="0" indent="0">
              <a:buNone/>
            </a:pPr>
            <a:r>
              <a:rPr lang="en-US" sz="1600" dirty="0">
                <a:solidFill>
                  <a:srgbClr val="D4D4D4"/>
                </a:solidFill>
                <a:latin typeface="Courier New" pitchFamily="34" charset="0"/>
                <a:ea typeface="Courier New" pitchFamily="34" charset="-122"/>
                <a:cs typeface="Courier New" pitchFamily="34" charset="-120"/>
              </a:rPr>
              <a:t>printf("Total: %f\n", sum);</a:t>
            </a:r>
            <a:endParaRPr lang="en-US" sz="1600" dirty="0"/>
          </a:p>
        </p:txBody>
      </p:sp>
      <p:sp>
        <p:nvSpPr>
          <p:cNvPr id="33" name="Shape 31"/>
          <p:cNvSpPr/>
          <p:nvPr/>
        </p:nvSpPr>
        <p:spPr>
          <a:xfrm>
            <a:off x="6355080" y="5715000"/>
            <a:ext cx="5212080" cy="594360"/>
          </a:xfrm>
          <a:prstGeom prst="roundRect">
            <a:avLst>
              <a:gd name="adj" fmla="val 12308"/>
            </a:avLst>
          </a:prstGeom>
          <a:solidFill>
            <a:srgbClr val="F2A413"/>
          </a:solidFill>
          <a:ln/>
        </p:spPr>
      </p:sp>
      <p:sp>
        <p:nvSpPr>
          <p:cNvPr id="34" name="Text 32"/>
          <p:cNvSpPr/>
          <p:nvPr/>
        </p:nvSpPr>
        <p:spPr>
          <a:xfrm>
            <a:off x="6446520" y="5715000"/>
            <a:ext cx="5029200" cy="594360"/>
          </a:xfrm>
          <a:prstGeom prst="rect">
            <a:avLst/>
          </a:prstGeom>
          <a:noFill/>
          <a:ln/>
        </p:spPr>
        <p:txBody>
          <a:bodyPr wrap="square" lIns="0" tIns="0" rIns="0" bIns="0" rtlCol="0" anchor="ctr"/>
          <a:lstStyle/>
          <a:p>
            <a:pPr marL="0" indent="0">
              <a:buNone/>
            </a:pPr>
            <a:r>
              <a:rPr lang="en-US" sz="1600" b="1" dirty="0">
                <a:solidFill>
                  <a:srgbClr val="0A2450"/>
                </a:solidFill>
                <a:latin typeface="Courier New" pitchFamily="34" charset="0"/>
                <a:ea typeface="Courier New" pitchFamily="34" charset="-122"/>
                <a:cs typeface="Courier New" pitchFamily="34" charset="-120"/>
              </a:rPr>
              <a:t>Compilacion: gcc -fopenmp suma.c -o suma</a:t>
            </a:r>
            <a:endParaRPr lang="en-US" sz="1600" dirty="0"/>
          </a:p>
        </p:txBody>
      </p:sp>
      <p:sp>
        <p:nvSpPr>
          <p:cNvPr id="36" name="Shape 33"/>
          <p:cNvSpPr/>
          <p:nvPr/>
        </p:nvSpPr>
        <p:spPr>
          <a:xfrm>
            <a:off x="457200" y="6537960"/>
            <a:ext cx="11247120" cy="0"/>
          </a:xfrm>
          <a:prstGeom prst="line">
            <a:avLst/>
          </a:prstGeom>
          <a:noFill/>
          <a:ln w="9525">
            <a:solidFill>
              <a:srgbClr val="D9E1EA"/>
            </a:solidFill>
            <a:prstDash val="solid"/>
          </a:ln>
        </p:spPr>
      </p:sp>
      <p:sp>
        <p:nvSpPr>
          <p:cNvPr id="37" name="Text 34"/>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38" name="Text 35"/>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4.1.4 OpenMP   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0E3F7E"/>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4.1.4</a:t>
            </a:r>
            <a:endParaRPr lang="en-US" sz="1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MPI: paso de mensajes entre procesos</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11247120" cy="685800"/>
          </a:xfrm>
          <a:prstGeom prst="roundRect">
            <a:avLst>
              <a:gd name="adj" fmla="val 13333"/>
            </a:avLst>
          </a:prstGeom>
          <a:solidFill>
            <a:srgbClr val="E7F3F6"/>
          </a:solidFill>
          <a:ln/>
        </p:spPr>
      </p:sp>
      <p:sp>
        <p:nvSpPr>
          <p:cNvPr id="7" name="Text 5"/>
          <p:cNvSpPr/>
          <p:nvPr/>
        </p:nvSpPr>
        <p:spPr>
          <a:xfrm>
            <a:off x="640080" y="1143000"/>
            <a:ext cx="10881360" cy="68580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MPI (Message Passing Interface, Interfaz de Paso de Mensajes): </a:t>
            </a:r>
            <a:r>
              <a:rPr lang="en-US" sz="1400" dirty="0">
                <a:solidFill>
                  <a:srgbClr val="1B2430"/>
                </a:solidFill>
                <a:latin typeface="Calibri" pitchFamily="34" charset="0"/>
                <a:ea typeface="Calibri" pitchFamily="34" charset="-122"/>
                <a:cs typeface="Calibri" pitchFamily="34" charset="-120"/>
              </a:rPr>
              <a:t>estandar portable para comunicacion entre procesos que se ejecutan en el mismo nodo o en nodos distintos de un cluster (agrupacion de computadoras).</a:t>
            </a:r>
            <a:endParaRPr lang="en-US" sz="1400" dirty="0"/>
          </a:p>
        </p:txBody>
      </p:sp>
      <p:sp>
        <p:nvSpPr>
          <p:cNvPr id="8" name="Shape 6"/>
          <p:cNvSpPr/>
          <p:nvPr/>
        </p:nvSpPr>
        <p:spPr>
          <a:xfrm>
            <a:off x="457200" y="2011680"/>
            <a:ext cx="5623560" cy="4389120"/>
          </a:xfrm>
          <a:prstGeom prst="roundRect">
            <a:avLst>
              <a:gd name="adj" fmla="val 3125"/>
            </a:avLst>
          </a:prstGeom>
          <a:solidFill>
            <a:srgbClr val="FFFFFF"/>
          </a:solidFill>
          <a:ln w="9525">
            <a:solidFill>
              <a:srgbClr val="D9E1EA"/>
            </a:solidFill>
            <a:prstDash val="solid"/>
          </a:ln>
        </p:spPr>
      </p:sp>
      <p:sp>
        <p:nvSpPr>
          <p:cNvPr id="9" name="Text 7"/>
          <p:cNvSpPr/>
          <p:nvPr/>
        </p:nvSpPr>
        <p:spPr>
          <a:xfrm>
            <a:off x="640080" y="2103120"/>
            <a:ext cx="5303520" cy="365760"/>
          </a:xfrm>
          <a:prstGeom prst="rect">
            <a:avLst/>
          </a:prstGeom>
          <a:noFill/>
          <a:ln/>
        </p:spPr>
        <p:txBody>
          <a:bodyPr wrap="square" lIns="0" tIns="0" rIns="0" bIns="0" rtlCol="0" anchor="ctr"/>
          <a:lstStyle/>
          <a:p>
            <a:pPr marL="0" indent="0">
              <a:buNone/>
            </a:pPr>
            <a:r>
              <a:rPr lang="en-US" b="1" dirty="0">
                <a:solidFill>
                  <a:srgbClr val="2E86A1"/>
                </a:solidFill>
                <a:latin typeface="Cambria" pitchFamily="34" charset="0"/>
                <a:ea typeface="Cambria" pitchFamily="34" charset="-122"/>
                <a:cs typeface="Cambria" pitchFamily="34" charset="-120"/>
              </a:rPr>
              <a:t>Primitivas fundamentales</a:t>
            </a:r>
            <a:endParaRPr lang="en-US" dirty="0"/>
          </a:p>
        </p:txBody>
      </p:sp>
      <p:sp>
        <p:nvSpPr>
          <p:cNvPr id="10" name="Shape 8"/>
          <p:cNvSpPr/>
          <p:nvPr/>
        </p:nvSpPr>
        <p:spPr>
          <a:xfrm>
            <a:off x="640080" y="2514600"/>
            <a:ext cx="365760" cy="365760"/>
          </a:xfrm>
          <a:prstGeom prst="roundRect">
            <a:avLst>
              <a:gd name="adj" fmla="val 12500"/>
            </a:avLst>
          </a:prstGeom>
          <a:solidFill>
            <a:srgbClr val="2E86A1"/>
          </a:solidFill>
          <a:ln/>
        </p:spPr>
      </p:sp>
      <p:sp>
        <p:nvSpPr>
          <p:cNvPr id="11" name="Shape 9"/>
          <p:cNvSpPr/>
          <p:nvPr/>
        </p:nvSpPr>
        <p:spPr>
          <a:xfrm>
            <a:off x="777240" y="2606040"/>
            <a:ext cx="91440" cy="182880"/>
          </a:xfrm>
          <a:prstGeom prst="rect">
            <a:avLst/>
          </a:prstGeom>
          <a:solidFill>
            <a:srgbClr val="FFFFFF"/>
          </a:solidFill>
          <a:ln/>
        </p:spPr>
      </p:sp>
      <p:sp>
        <p:nvSpPr>
          <p:cNvPr id="12" name="Text 10"/>
          <p:cNvSpPr/>
          <p:nvPr/>
        </p:nvSpPr>
        <p:spPr>
          <a:xfrm>
            <a:off x="1143000" y="2496312"/>
            <a:ext cx="4846320" cy="36576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MPI_Init / MPI_Finalize</a:t>
            </a:r>
            <a:endParaRPr lang="en-US" sz="1400" dirty="0"/>
          </a:p>
        </p:txBody>
      </p:sp>
      <p:sp>
        <p:nvSpPr>
          <p:cNvPr id="13" name="Text 11"/>
          <p:cNvSpPr/>
          <p:nvPr/>
        </p:nvSpPr>
        <p:spPr>
          <a:xfrm>
            <a:off x="1143000" y="2862072"/>
            <a:ext cx="4846320" cy="384048"/>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Inicializa y libera el entorno paralelo.</a:t>
            </a:r>
            <a:endParaRPr lang="en-US" sz="1400" dirty="0"/>
          </a:p>
        </p:txBody>
      </p:sp>
      <p:sp>
        <p:nvSpPr>
          <p:cNvPr id="14" name="Shape 12"/>
          <p:cNvSpPr/>
          <p:nvPr/>
        </p:nvSpPr>
        <p:spPr>
          <a:xfrm>
            <a:off x="640080" y="3273552"/>
            <a:ext cx="365760" cy="365760"/>
          </a:xfrm>
          <a:prstGeom prst="roundRect">
            <a:avLst>
              <a:gd name="adj" fmla="val 12500"/>
            </a:avLst>
          </a:prstGeom>
          <a:solidFill>
            <a:srgbClr val="2E86A1"/>
          </a:solidFill>
          <a:ln/>
        </p:spPr>
      </p:sp>
      <p:sp>
        <p:nvSpPr>
          <p:cNvPr id="15" name="Shape 13"/>
          <p:cNvSpPr/>
          <p:nvPr/>
        </p:nvSpPr>
        <p:spPr>
          <a:xfrm>
            <a:off x="777240" y="3364992"/>
            <a:ext cx="91440" cy="182880"/>
          </a:xfrm>
          <a:prstGeom prst="rect">
            <a:avLst/>
          </a:prstGeom>
          <a:solidFill>
            <a:srgbClr val="FFFFFF"/>
          </a:solidFill>
          <a:ln/>
        </p:spPr>
      </p:sp>
      <p:sp>
        <p:nvSpPr>
          <p:cNvPr id="16" name="Text 14"/>
          <p:cNvSpPr/>
          <p:nvPr/>
        </p:nvSpPr>
        <p:spPr>
          <a:xfrm>
            <a:off x="1143000" y="3255264"/>
            <a:ext cx="4846320" cy="36576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MPI_Comm_size / MPI_Comm_rank</a:t>
            </a:r>
            <a:endParaRPr lang="en-US" sz="1400" dirty="0"/>
          </a:p>
        </p:txBody>
      </p:sp>
      <p:sp>
        <p:nvSpPr>
          <p:cNvPr id="17" name="Text 15"/>
          <p:cNvSpPr/>
          <p:nvPr/>
        </p:nvSpPr>
        <p:spPr>
          <a:xfrm>
            <a:off x="1143000" y="3621024"/>
            <a:ext cx="4846320" cy="384048"/>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Numero total de procesos y rango (rank, identificador) del proceso actual.</a:t>
            </a:r>
            <a:endParaRPr lang="en-US" sz="1400" dirty="0"/>
          </a:p>
        </p:txBody>
      </p:sp>
      <p:sp>
        <p:nvSpPr>
          <p:cNvPr id="18" name="Shape 16"/>
          <p:cNvSpPr/>
          <p:nvPr/>
        </p:nvSpPr>
        <p:spPr>
          <a:xfrm>
            <a:off x="640080" y="4032504"/>
            <a:ext cx="365760" cy="365760"/>
          </a:xfrm>
          <a:prstGeom prst="roundRect">
            <a:avLst>
              <a:gd name="adj" fmla="val 12500"/>
            </a:avLst>
          </a:prstGeom>
          <a:solidFill>
            <a:srgbClr val="2E86A1"/>
          </a:solidFill>
          <a:ln/>
        </p:spPr>
      </p:sp>
      <p:sp>
        <p:nvSpPr>
          <p:cNvPr id="19" name="Shape 17"/>
          <p:cNvSpPr/>
          <p:nvPr/>
        </p:nvSpPr>
        <p:spPr>
          <a:xfrm>
            <a:off x="777240" y="4123944"/>
            <a:ext cx="91440" cy="182880"/>
          </a:xfrm>
          <a:prstGeom prst="rect">
            <a:avLst/>
          </a:prstGeom>
          <a:solidFill>
            <a:srgbClr val="FFFFFF"/>
          </a:solidFill>
          <a:ln/>
        </p:spPr>
      </p:sp>
      <p:sp>
        <p:nvSpPr>
          <p:cNvPr id="20" name="Text 18"/>
          <p:cNvSpPr/>
          <p:nvPr/>
        </p:nvSpPr>
        <p:spPr>
          <a:xfrm>
            <a:off x="1143000" y="4014216"/>
            <a:ext cx="4846320" cy="36576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MPI_Send / MPI_Recv</a:t>
            </a:r>
            <a:endParaRPr lang="en-US" sz="1400" dirty="0"/>
          </a:p>
        </p:txBody>
      </p:sp>
      <p:sp>
        <p:nvSpPr>
          <p:cNvPr id="21" name="Text 19"/>
          <p:cNvSpPr/>
          <p:nvPr/>
        </p:nvSpPr>
        <p:spPr>
          <a:xfrm>
            <a:off x="1143000" y="4379976"/>
            <a:ext cx="4846320" cy="384048"/>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Comunicacion punto a punto (P2P, peer to peer, entre pares) bloqueante.</a:t>
            </a:r>
            <a:endParaRPr lang="en-US" sz="1400" dirty="0"/>
          </a:p>
        </p:txBody>
      </p:sp>
      <p:sp>
        <p:nvSpPr>
          <p:cNvPr id="22" name="Shape 20"/>
          <p:cNvSpPr/>
          <p:nvPr/>
        </p:nvSpPr>
        <p:spPr>
          <a:xfrm>
            <a:off x="640080" y="4791456"/>
            <a:ext cx="365760" cy="365760"/>
          </a:xfrm>
          <a:prstGeom prst="roundRect">
            <a:avLst>
              <a:gd name="adj" fmla="val 12500"/>
            </a:avLst>
          </a:prstGeom>
          <a:solidFill>
            <a:srgbClr val="2E86A1"/>
          </a:solidFill>
          <a:ln/>
        </p:spPr>
      </p:sp>
      <p:sp>
        <p:nvSpPr>
          <p:cNvPr id="23" name="Shape 21"/>
          <p:cNvSpPr/>
          <p:nvPr/>
        </p:nvSpPr>
        <p:spPr>
          <a:xfrm>
            <a:off x="777240" y="4882896"/>
            <a:ext cx="91440" cy="182880"/>
          </a:xfrm>
          <a:prstGeom prst="rect">
            <a:avLst/>
          </a:prstGeom>
          <a:solidFill>
            <a:srgbClr val="FFFFFF"/>
          </a:solidFill>
          <a:ln/>
        </p:spPr>
      </p:sp>
      <p:sp>
        <p:nvSpPr>
          <p:cNvPr id="24" name="Text 22"/>
          <p:cNvSpPr/>
          <p:nvPr/>
        </p:nvSpPr>
        <p:spPr>
          <a:xfrm>
            <a:off x="1143000" y="4773168"/>
            <a:ext cx="4846320" cy="36576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MPI_Bcast / MPI_Scatter / MPI_Gather</a:t>
            </a:r>
            <a:endParaRPr lang="en-US" sz="1400" dirty="0"/>
          </a:p>
        </p:txBody>
      </p:sp>
      <p:sp>
        <p:nvSpPr>
          <p:cNvPr id="25" name="Text 23"/>
          <p:cNvSpPr/>
          <p:nvPr/>
        </p:nvSpPr>
        <p:spPr>
          <a:xfrm>
            <a:off x="1143000" y="5138928"/>
            <a:ext cx="4846320" cy="384048"/>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Comunicaciones colectivas: broadcast (difusion), scatter (dispersion), gather (recoleccion).</a:t>
            </a:r>
            <a:endParaRPr lang="en-US" sz="1400" dirty="0"/>
          </a:p>
        </p:txBody>
      </p:sp>
      <p:sp>
        <p:nvSpPr>
          <p:cNvPr id="26" name="Shape 24"/>
          <p:cNvSpPr/>
          <p:nvPr/>
        </p:nvSpPr>
        <p:spPr>
          <a:xfrm>
            <a:off x="640080" y="5550408"/>
            <a:ext cx="365760" cy="365760"/>
          </a:xfrm>
          <a:prstGeom prst="roundRect">
            <a:avLst>
              <a:gd name="adj" fmla="val 12500"/>
            </a:avLst>
          </a:prstGeom>
          <a:solidFill>
            <a:srgbClr val="2E86A1"/>
          </a:solidFill>
          <a:ln/>
        </p:spPr>
      </p:sp>
      <p:sp>
        <p:nvSpPr>
          <p:cNvPr id="27" name="Shape 25"/>
          <p:cNvSpPr/>
          <p:nvPr/>
        </p:nvSpPr>
        <p:spPr>
          <a:xfrm>
            <a:off x="777240" y="5641848"/>
            <a:ext cx="91440" cy="182880"/>
          </a:xfrm>
          <a:prstGeom prst="rect">
            <a:avLst/>
          </a:prstGeom>
          <a:solidFill>
            <a:srgbClr val="FFFFFF"/>
          </a:solidFill>
          <a:ln/>
        </p:spPr>
      </p:sp>
      <p:sp>
        <p:nvSpPr>
          <p:cNvPr id="28" name="Text 26"/>
          <p:cNvSpPr/>
          <p:nvPr/>
        </p:nvSpPr>
        <p:spPr>
          <a:xfrm>
            <a:off x="1143000" y="5532120"/>
            <a:ext cx="4846320" cy="36576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MPI_Reduce / MPI_Allreduce</a:t>
            </a:r>
            <a:endParaRPr lang="en-US" sz="1400" dirty="0"/>
          </a:p>
        </p:txBody>
      </p:sp>
      <p:sp>
        <p:nvSpPr>
          <p:cNvPr id="29" name="Text 27"/>
          <p:cNvSpPr/>
          <p:nvPr/>
        </p:nvSpPr>
        <p:spPr>
          <a:xfrm>
            <a:off x="1143000" y="5897880"/>
            <a:ext cx="4846320" cy="384048"/>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Reduccion global (suma, max, min, and, or) sobre todos los procesos.</a:t>
            </a:r>
            <a:endParaRPr lang="en-US" sz="1400" dirty="0"/>
          </a:p>
        </p:txBody>
      </p:sp>
      <p:sp>
        <p:nvSpPr>
          <p:cNvPr id="30" name="Shape 28"/>
          <p:cNvSpPr/>
          <p:nvPr/>
        </p:nvSpPr>
        <p:spPr>
          <a:xfrm>
            <a:off x="6172200" y="2011680"/>
            <a:ext cx="5532120" cy="4389120"/>
          </a:xfrm>
          <a:prstGeom prst="roundRect">
            <a:avLst>
              <a:gd name="adj" fmla="val 3125"/>
            </a:avLst>
          </a:prstGeom>
          <a:solidFill>
            <a:srgbClr val="0A2450"/>
          </a:solidFill>
          <a:ln/>
        </p:spPr>
      </p:sp>
      <p:sp>
        <p:nvSpPr>
          <p:cNvPr id="31" name="Text 29"/>
          <p:cNvSpPr/>
          <p:nvPr/>
        </p:nvSpPr>
        <p:spPr>
          <a:xfrm>
            <a:off x="6355080" y="2103120"/>
            <a:ext cx="5212080" cy="365760"/>
          </a:xfrm>
          <a:prstGeom prst="rect">
            <a:avLst/>
          </a:prstGeom>
          <a:noFill/>
          <a:ln/>
        </p:spPr>
        <p:txBody>
          <a:bodyPr wrap="square" lIns="0" tIns="0" rIns="0" bIns="0" rtlCol="0" anchor="ctr"/>
          <a:lstStyle/>
          <a:p>
            <a:pPr marL="0" indent="0">
              <a:buNone/>
            </a:pPr>
            <a:r>
              <a:rPr lang="en-US" sz="1600" b="1" dirty="0">
                <a:solidFill>
                  <a:srgbClr val="F2A413"/>
                </a:solidFill>
                <a:latin typeface="Cambria" pitchFamily="34" charset="0"/>
                <a:ea typeface="Cambria" pitchFamily="34" charset="-122"/>
                <a:cs typeface="Cambria" pitchFamily="34" charset="-120"/>
              </a:rPr>
              <a:t>Ejemplo: hola desde cada proceso</a:t>
            </a:r>
            <a:endParaRPr lang="en-US" sz="1600" dirty="0"/>
          </a:p>
        </p:txBody>
      </p:sp>
      <p:sp>
        <p:nvSpPr>
          <p:cNvPr id="32" name="Text 30"/>
          <p:cNvSpPr/>
          <p:nvPr/>
        </p:nvSpPr>
        <p:spPr>
          <a:xfrm>
            <a:off x="6355080" y="2468880"/>
            <a:ext cx="5212080" cy="3246120"/>
          </a:xfrm>
          <a:prstGeom prst="rect">
            <a:avLst/>
          </a:prstGeom>
          <a:noFill/>
          <a:ln/>
        </p:spPr>
        <p:txBody>
          <a:bodyPr wrap="square" lIns="0" tIns="0" rIns="0" bIns="0" rtlCol="0" anchor="t"/>
          <a:lstStyle/>
          <a:p>
            <a:pPr marL="0" indent="0">
              <a:buNone/>
            </a:pPr>
            <a:r>
              <a:rPr lang="en-US" sz="1600" dirty="0">
                <a:solidFill>
                  <a:srgbClr val="9CDCFE"/>
                </a:solidFill>
                <a:latin typeface="Courier New" pitchFamily="34" charset="0"/>
                <a:ea typeface="Courier New" pitchFamily="34" charset="-122"/>
                <a:cs typeface="Courier New" pitchFamily="34" charset="-120"/>
              </a:rPr>
              <a:t>#include &lt;mpi.h&gt;</a:t>
            </a:r>
            <a:endParaRPr lang="en-US" sz="1600" dirty="0"/>
          </a:p>
          <a:p>
            <a:pPr marL="0" indent="0">
              <a:buNone/>
            </a:pPr>
            <a:r>
              <a:rPr lang="en-US" sz="1600" dirty="0">
                <a:solidFill>
                  <a:srgbClr val="9CDCFE"/>
                </a:solidFill>
                <a:latin typeface="Courier New" pitchFamily="34" charset="0"/>
                <a:ea typeface="Courier New" pitchFamily="34" charset="-122"/>
                <a:cs typeface="Courier New" pitchFamily="34" charset="-120"/>
              </a:rPr>
              <a:t>#include &lt;stdio.h&gt;</a:t>
            </a:r>
            <a:endParaRPr lang="en-US" sz="1600" dirty="0"/>
          </a:p>
          <a:p>
            <a:pPr marL="0" indent="0">
              <a:buNone/>
            </a:pPr>
            <a:r>
              <a:rPr lang="en-US" sz="1600" dirty="0">
                <a:solidFill>
                  <a:srgbClr val="000000"/>
                </a:solidFill>
              </a:rPr>
              <a:t> </a:t>
            </a:r>
            <a:endParaRPr lang="en-US" sz="1600" dirty="0"/>
          </a:p>
          <a:p>
            <a:pPr marL="0" indent="0">
              <a:buNone/>
            </a:pPr>
            <a:r>
              <a:rPr lang="en-US" sz="1400" dirty="0">
                <a:solidFill>
                  <a:srgbClr val="D4D4D4"/>
                </a:solidFill>
                <a:latin typeface="Courier New" pitchFamily="34" charset="0"/>
                <a:ea typeface="Courier New" pitchFamily="34" charset="-122"/>
                <a:cs typeface="Courier New" pitchFamily="34" charset="-120"/>
              </a:rPr>
              <a:t>int main(int argc, char** argv) {</a:t>
            </a:r>
            <a:endParaRPr lang="en-US" sz="1600" dirty="0"/>
          </a:p>
          <a:p>
            <a:pPr marL="0" indent="0">
              <a:buNone/>
            </a:pPr>
            <a:r>
              <a:rPr lang="en-US" sz="1400" dirty="0">
                <a:solidFill>
                  <a:srgbClr val="DCDCAA"/>
                </a:solidFill>
                <a:latin typeface="Courier New" pitchFamily="34" charset="0"/>
                <a:ea typeface="Courier New" pitchFamily="34" charset="-122"/>
                <a:cs typeface="Courier New" pitchFamily="34" charset="-120"/>
              </a:rPr>
              <a:t>    int rank, size;</a:t>
            </a:r>
            <a:endParaRPr lang="en-US" sz="1600" dirty="0"/>
          </a:p>
          <a:p>
            <a:pPr marL="0" indent="0">
              <a:buNone/>
            </a:pPr>
            <a:r>
              <a:rPr lang="en-US" sz="1400" dirty="0">
                <a:solidFill>
                  <a:srgbClr val="C586C0"/>
                </a:solidFill>
                <a:latin typeface="Courier New" pitchFamily="34" charset="0"/>
                <a:ea typeface="Courier New" pitchFamily="34" charset="-122"/>
                <a:cs typeface="Courier New" pitchFamily="34" charset="-120"/>
              </a:rPr>
              <a:t>    MPI_Init(&amp;argc, &amp;argv);</a:t>
            </a:r>
            <a:endParaRPr lang="en-US" sz="1600" dirty="0"/>
          </a:p>
          <a:p>
            <a:pPr marL="0" indent="0">
              <a:buNone/>
            </a:pPr>
            <a:r>
              <a:rPr lang="en-US" sz="1400" dirty="0">
                <a:solidFill>
                  <a:srgbClr val="C586C0"/>
                </a:solidFill>
                <a:latin typeface="Courier New" pitchFamily="34" charset="0"/>
                <a:ea typeface="Courier New" pitchFamily="34" charset="-122"/>
                <a:cs typeface="Courier New" pitchFamily="34" charset="-120"/>
              </a:rPr>
              <a:t>    MPI_Comm_rank(MPI_COMM_WORLD,</a:t>
            </a:r>
            <a:endParaRPr lang="en-US" sz="1600" dirty="0"/>
          </a:p>
          <a:p>
            <a:pPr marL="0" indent="0">
              <a:buNone/>
            </a:pPr>
            <a:r>
              <a:rPr lang="en-US" sz="1400" dirty="0">
                <a:solidFill>
                  <a:srgbClr val="C586C0"/>
                </a:solidFill>
                <a:latin typeface="Courier New" pitchFamily="34" charset="0"/>
                <a:ea typeface="Courier New" pitchFamily="34" charset="-122"/>
                <a:cs typeface="Courier New" pitchFamily="34" charset="-120"/>
              </a:rPr>
              <a:t>                  &amp;rank);</a:t>
            </a:r>
            <a:endParaRPr lang="en-US" sz="1600" dirty="0"/>
          </a:p>
          <a:p>
            <a:pPr marL="0" indent="0">
              <a:buNone/>
            </a:pPr>
            <a:r>
              <a:rPr lang="en-US" sz="1400" dirty="0">
                <a:solidFill>
                  <a:srgbClr val="C586C0"/>
                </a:solidFill>
                <a:latin typeface="Courier New" pitchFamily="34" charset="0"/>
                <a:ea typeface="Courier New" pitchFamily="34" charset="-122"/>
                <a:cs typeface="Courier New" pitchFamily="34" charset="-120"/>
              </a:rPr>
              <a:t>    MPI_Comm_size(MPI_COMM_WORLD,</a:t>
            </a:r>
            <a:endParaRPr lang="en-US" sz="1600" dirty="0"/>
          </a:p>
          <a:p>
            <a:pPr marL="0" indent="0">
              <a:buNone/>
            </a:pPr>
            <a:r>
              <a:rPr lang="en-US" sz="1400" dirty="0">
                <a:solidFill>
                  <a:srgbClr val="C586C0"/>
                </a:solidFill>
                <a:latin typeface="Courier New" pitchFamily="34" charset="0"/>
                <a:ea typeface="Courier New" pitchFamily="34" charset="-122"/>
                <a:cs typeface="Courier New" pitchFamily="34" charset="-120"/>
              </a:rPr>
              <a:t>                  &amp;size);</a:t>
            </a:r>
            <a:endParaRPr lang="en-US" sz="1600" dirty="0"/>
          </a:p>
          <a:p>
            <a:pPr marL="0" indent="0">
              <a:buNone/>
            </a:pPr>
            <a:r>
              <a:rPr lang="en-US" sz="1400" dirty="0">
                <a:solidFill>
                  <a:srgbClr val="D4D4D4"/>
                </a:solidFill>
                <a:latin typeface="Courier New" pitchFamily="34" charset="0"/>
                <a:ea typeface="Courier New" pitchFamily="34" charset="-122"/>
                <a:cs typeface="Courier New" pitchFamily="34" charset="-120"/>
              </a:rPr>
              <a:t>    printf("Proceso %d de %d\n",</a:t>
            </a:r>
            <a:endParaRPr lang="en-US" sz="1600" dirty="0"/>
          </a:p>
          <a:p>
            <a:pPr marL="0" indent="0">
              <a:buNone/>
            </a:pPr>
            <a:r>
              <a:rPr lang="en-US" sz="1400" dirty="0">
                <a:solidFill>
                  <a:srgbClr val="D4D4D4"/>
                </a:solidFill>
                <a:latin typeface="Courier New" pitchFamily="34" charset="0"/>
                <a:ea typeface="Courier New" pitchFamily="34" charset="-122"/>
                <a:cs typeface="Courier New" pitchFamily="34" charset="-120"/>
              </a:rPr>
              <a:t>           rank, size);</a:t>
            </a:r>
            <a:endParaRPr lang="en-US" sz="1600" dirty="0"/>
          </a:p>
          <a:p>
            <a:pPr marL="0" indent="0">
              <a:buNone/>
            </a:pPr>
            <a:r>
              <a:rPr lang="en-US" sz="1400" dirty="0">
                <a:solidFill>
                  <a:srgbClr val="C586C0"/>
                </a:solidFill>
                <a:latin typeface="Courier New" pitchFamily="34" charset="0"/>
                <a:ea typeface="Courier New" pitchFamily="34" charset="-122"/>
                <a:cs typeface="Courier New" pitchFamily="34" charset="-120"/>
              </a:rPr>
              <a:t>    MPI_Finalize();</a:t>
            </a:r>
            <a:endParaRPr lang="en-US" sz="1600" dirty="0"/>
          </a:p>
          <a:p>
            <a:pPr marL="0" indent="0">
              <a:buNone/>
            </a:pPr>
            <a:r>
              <a:rPr lang="en-US" sz="1400" dirty="0">
                <a:solidFill>
                  <a:srgbClr val="D4D4D4"/>
                </a:solidFill>
                <a:latin typeface="Courier New" pitchFamily="34" charset="0"/>
                <a:ea typeface="Courier New" pitchFamily="34" charset="-122"/>
                <a:cs typeface="Courier New" pitchFamily="34" charset="-120"/>
              </a:rPr>
              <a:t>    return 0;</a:t>
            </a:r>
            <a:endParaRPr lang="en-US" sz="1600" dirty="0"/>
          </a:p>
          <a:p>
            <a:pPr marL="0" indent="0">
              <a:buNone/>
            </a:pPr>
            <a:r>
              <a:rPr lang="en-US" sz="1400" dirty="0">
                <a:solidFill>
                  <a:srgbClr val="D4D4D4"/>
                </a:solidFill>
                <a:latin typeface="Courier New" pitchFamily="34" charset="0"/>
                <a:ea typeface="Courier New" pitchFamily="34" charset="-122"/>
                <a:cs typeface="Courier New" pitchFamily="34" charset="-120"/>
              </a:rPr>
              <a:t>}</a:t>
            </a:r>
            <a:endParaRPr lang="en-US" sz="1600" dirty="0"/>
          </a:p>
        </p:txBody>
      </p:sp>
      <p:sp>
        <p:nvSpPr>
          <p:cNvPr id="33" name="Shape 31"/>
          <p:cNvSpPr/>
          <p:nvPr/>
        </p:nvSpPr>
        <p:spPr>
          <a:xfrm>
            <a:off x="6355080" y="5760720"/>
            <a:ext cx="5212080" cy="548640"/>
          </a:xfrm>
          <a:prstGeom prst="roundRect">
            <a:avLst>
              <a:gd name="adj" fmla="val 13333"/>
            </a:avLst>
          </a:prstGeom>
          <a:solidFill>
            <a:srgbClr val="F2A413"/>
          </a:solidFill>
          <a:ln/>
        </p:spPr>
      </p:sp>
      <p:sp>
        <p:nvSpPr>
          <p:cNvPr id="34" name="Text 32"/>
          <p:cNvSpPr/>
          <p:nvPr/>
        </p:nvSpPr>
        <p:spPr>
          <a:xfrm>
            <a:off x="6446520" y="5760720"/>
            <a:ext cx="5029200" cy="548640"/>
          </a:xfrm>
          <a:prstGeom prst="rect">
            <a:avLst/>
          </a:prstGeom>
          <a:noFill/>
          <a:ln/>
        </p:spPr>
        <p:txBody>
          <a:bodyPr wrap="square" lIns="0" tIns="0" rIns="0" bIns="0" rtlCol="0" anchor="ctr"/>
          <a:lstStyle/>
          <a:p>
            <a:pPr marL="0" indent="0">
              <a:buNone/>
            </a:pPr>
            <a:r>
              <a:rPr lang="en-US" sz="1200" b="1" dirty="0">
                <a:solidFill>
                  <a:srgbClr val="0A2450"/>
                </a:solidFill>
                <a:latin typeface="Courier New" pitchFamily="34" charset="0"/>
                <a:ea typeface="Courier New" pitchFamily="34" charset="-122"/>
                <a:cs typeface="Courier New" pitchFamily="34" charset="-120"/>
              </a:rPr>
              <a:t>mpicc hola.c -o hola   |   mpirun -np 4 ./hola</a:t>
            </a:r>
            <a:endParaRPr lang="en-US" sz="1200" dirty="0"/>
          </a:p>
        </p:txBody>
      </p:sp>
      <p:sp>
        <p:nvSpPr>
          <p:cNvPr id="36" name="Shape 33"/>
          <p:cNvSpPr/>
          <p:nvPr/>
        </p:nvSpPr>
        <p:spPr>
          <a:xfrm>
            <a:off x="457200" y="6537960"/>
            <a:ext cx="11247120" cy="0"/>
          </a:xfrm>
          <a:prstGeom prst="line">
            <a:avLst/>
          </a:prstGeom>
          <a:noFill/>
          <a:ln w="9525">
            <a:solidFill>
              <a:srgbClr val="D9E1EA"/>
            </a:solidFill>
            <a:prstDash val="solid"/>
          </a:ln>
        </p:spPr>
      </p:sp>
      <p:sp>
        <p:nvSpPr>
          <p:cNvPr id="37" name="Text 34"/>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38" name="Text 35"/>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4.1.4 MPI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450"/>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2E86A1"/>
          </a:solidFill>
          <a:ln/>
        </p:spPr>
      </p:sp>
      <p:sp>
        <p:nvSpPr>
          <p:cNvPr id="3" name="Shape 1"/>
          <p:cNvSpPr/>
          <p:nvPr/>
        </p:nvSpPr>
        <p:spPr>
          <a:xfrm>
            <a:off x="-1371600" y="-1371600"/>
            <a:ext cx="4572000" cy="4572000"/>
          </a:xfrm>
          <a:prstGeom prst="ellipse">
            <a:avLst/>
          </a:prstGeom>
          <a:solidFill>
            <a:srgbClr val="0E3F7E">
              <a:alpha val="60000"/>
            </a:srgbClr>
          </a:solidFill>
          <a:ln/>
        </p:spPr>
      </p:sp>
      <p:sp>
        <p:nvSpPr>
          <p:cNvPr id="4" name="Shape 2"/>
          <p:cNvSpPr/>
          <p:nvPr/>
        </p:nvSpPr>
        <p:spPr>
          <a:xfrm>
            <a:off x="9601200" y="3657600"/>
            <a:ext cx="4572000" cy="4572000"/>
          </a:xfrm>
          <a:prstGeom prst="ellipse">
            <a:avLst/>
          </a:prstGeom>
          <a:solidFill>
            <a:srgbClr val="4FAE60">
              <a:alpha val="60000"/>
            </a:srgbClr>
          </a:solidFill>
          <a:ln/>
        </p:spPr>
      </p:sp>
      <p:sp>
        <p:nvSpPr>
          <p:cNvPr id="5" name="Shape 3"/>
          <p:cNvSpPr/>
          <p:nvPr/>
        </p:nvSpPr>
        <p:spPr>
          <a:xfrm>
            <a:off x="914400" y="2377440"/>
            <a:ext cx="1828800" cy="640080"/>
          </a:xfrm>
          <a:prstGeom prst="roundRect">
            <a:avLst>
              <a:gd name="adj" fmla="val 21429"/>
            </a:avLst>
          </a:prstGeom>
          <a:solidFill>
            <a:srgbClr val="F2A413"/>
          </a:solidFill>
          <a:ln/>
        </p:spPr>
      </p:sp>
      <p:sp>
        <p:nvSpPr>
          <p:cNvPr id="6" name="Text 4"/>
          <p:cNvSpPr/>
          <p:nvPr/>
        </p:nvSpPr>
        <p:spPr>
          <a:xfrm>
            <a:off x="914400" y="2377440"/>
            <a:ext cx="1828800" cy="640080"/>
          </a:xfrm>
          <a:prstGeom prst="rect">
            <a:avLst/>
          </a:prstGeom>
          <a:noFill/>
          <a:ln/>
        </p:spPr>
        <p:txBody>
          <a:bodyPr wrap="square" lIns="0" tIns="0" rIns="0" bIns="0" rtlCol="0" anchor="ctr"/>
          <a:lstStyle/>
          <a:p>
            <a:pPr marL="0" indent="0" algn="ctr">
              <a:buNone/>
            </a:pPr>
            <a:r>
              <a:rPr lang="en-US" sz="1600" b="1" kern="0" spc="400" dirty="0">
                <a:solidFill>
                  <a:srgbClr val="0A2450"/>
                </a:solidFill>
                <a:latin typeface="Calibri" pitchFamily="34" charset="0"/>
                <a:ea typeface="Calibri" pitchFamily="34" charset="-122"/>
                <a:cs typeface="Calibri" pitchFamily="34" charset="-120"/>
              </a:rPr>
              <a:t>BLOQUE 4.2</a:t>
            </a:r>
            <a:endParaRPr lang="en-US" sz="1600" dirty="0"/>
          </a:p>
        </p:txBody>
      </p:sp>
      <p:sp>
        <p:nvSpPr>
          <p:cNvPr id="7" name="Text 5"/>
          <p:cNvSpPr/>
          <p:nvPr/>
        </p:nvSpPr>
        <p:spPr>
          <a:xfrm>
            <a:off x="914400" y="3108960"/>
            <a:ext cx="10515600" cy="91440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Computacion en la Nube</a:t>
            </a:r>
            <a:endParaRPr lang="en-US" sz="5200" dirty="0"/>
          </a:p>
        </p:txBody>
      </p:sp>
      <p:sp>
        <p:nvSpPr>
          <p:cNvPr id="8" name="Text 6"/>
          <p:cNvSpPr/>
          <p:nvPr/>
        </p:nvSpPr>
        <p:spPr>
          <a:xfrm>
            <a:off x="914400" y="3840480"/>
            <a:ext cx="10515600" cy="91440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y Servicios Distribuidos</a:t>
            </a:r>
            <a:endParaRPr lang="en-US" sz="5200" dirty="0"/>
          </a:p>
        </p:txBody>
      </p:sp>
      <p:sp>
        <p:nvSpPr>
          <p:cNvPr id="9" name="Text 7"/>
          <p:cNvSpPr/>
          <p:nvPr/>
        </p:nvSpPr>
        <p:spPr>
          <a:xfrm>
            <a:off x="914400" y="4754880"/>
            <a:ext cx="10515600" cy="457200"/>
          </a:xfrm>
          <a:prstGeom prst="rect">
            <a:avLst/>
          </a:prstGeom>
          <a:noFill/>
          <a:ln/>
        </p:spPr>
        <p:txBody>
          <a:bodyPr wrap="square" lIns="0" tIns="0" rIns="0" bIns="0" rtlCol="0" anchor="ctr"/>
          <a:lstStyle/>
          <a:p>
            <a:pPr marL="0" indent="0">
              <a:buNone/>
            </a:pPr>
            <a:r>
              <a:rPr lang="en-US" sz="2000" i="1" dirty="0">
                <a:solidFill>
                  <a:srgbClr val="F2A413"/>
                </a:solidFill>
                <a:latin typeface="Cambria" pitchFamily="34" charset="0"/>
                <a:ea typeface="Cambria" pitchFamily="34" charset="-122"/>
                <a:cs typeface="Cambria" pitchFamily="34" charset="-120"/>
              </a:rPr>
              <a:t>Del datacenter propio al pago por milisegundo de ejecucion</a:t>
            </a:r>
            <a:endParaRPr lang="en-US" sz="2000" dirty="0"/>
          </a:p>
        </p:txBody>
      </p:sp>
      <p:sp>
        <p:nvSpPr>
          <p:cNvPr id="11" name="Shape 8"/>
          <p:cNvSpPr/>
          <p:nvPr/>
        </p:nvSpPr>
        <p:spPr>
          <a:xfrm>
            <a:off x="457200" y="6537960"/>
            <a:ext cx="11247120" cy="0"/>
          </a:xfrm>
          <a:prstGeom prst="line">
            <a:avLst/>
          </a:prstGeom>
          <a:noFill/>
          <a:ln w="9525">
            <a:solidFill>
              <a:srgbClr val="D9E1EA"/>
            </a:solidFill>
            <a:prstDash val="solid"/>
          </a:ln>
        </p:spPr>
      </p:sp>
      <p:sp>
        <p:nvSpPr>
          <p:cNvPr id="12" name="Text 9"/>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13" name="Text 10"/>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Divisor 4.2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2E86A1"/>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4.2.1</a:t>
            </a:r>
            <a:endParaRPr lang="en-US" sz="20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Modelos de servicio en la nube</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3703320" cy="5257800"/>
          </a:xfrm>
          <a:prstGeom prst="roundRect">
            <a:avLst>
              <a:gd name="adj" fmla="val 3704"/>
            </a:avLst>
          </a:prstGeom>
          <a:solidFill>
            <a:srgbClr val="F3F6FB"/>
          </a:solidFill>
          <a:ln w="9525">
            <a:solidFill>
              <a:srgbClr val="D9E1EA"/>
            </a:solidFill>
            <a:prstDash val="solid"/>
          </a:ln>
        </p:spPr>
      </p:sp>
      <p:sp>
        <p:nvSpPr>
          <p:cNvPr id="7" name="Shape 5"/>
          <p:cNvSpPr/>
          <p:nvPr/>
        </p:nvSpPr>
        <p:spPr>
          <a:xfrm>
            <a:off x="685800" y="1325880"/>
            <a:ext cx="3246120" cy="640080"/>
          </a:xfrm>
          <a:prstGeom prst="roundRect">
            <a:avLst>
              <a:gd name="adj" fmla="val 11429"/>
            </a:avLst>
          </a:prstGeom>
          <a:solidFill>
            <a:srgbClr val="0E3F7E"/>
          </a:solidFill>
          <a:ln/>
        </p:spPr>
      </p:sp>
      <p:sp>
        <p:nvSpPr>
          <p:cNvPr id="8" name="Text 6"/>
          <p:cNvSpPr/>
          <p:nvPr/>
        </p:nvSpPr>
        <p:spPr>
          <a:xfrm>
            <a:off x="685800" y="1325880"/>
            <a:ext cx="324612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IaaS</a:t>
            </a:r>
            <a:endParaRPr lang="en-US" sz="2400" dirty="0"/>
          </a:p>
        </p:txBody>
      </p:sp>
      <p:sp>
        <p:nvSpPr>
          <p:cNvPr id="9" name="Text 7"/>
          <p:cNvSpPr/>
          <p:nvPr/>
        </p:nvSpPr>
        <p:spPr>
          <a:xfrm>
            <a:off x="731520" y="2057400"/>
            <a:ext cx="3154680" cy="685800"/>
          </a:xfrm>
          <a:prstGeom prst="rect">
            <a:avLst/>
          </a:prstGeom>
          <a:noFill/>
          <a:ln/>
        </p:spPr>
        <p:txBody>
          <a:bodyPr wrap="square" lIns="0" tIns="0" rIns="0" bIns="0" rtlCol="0" anchor="t"/>
          <a:lstStyle/>
          <a:p>
            <a:pPr marL="0" indent="0" algn="ctr">
              <a:buNone/>
            </a:pPr>
            <a:r>
              <a:rPr lang="en-US" sz="1400" i="1" dirty="0">
                <a:solidFill>
                  <a:srgbClr val="0E3F7E"/>
                </a:solidFill>
                <a:latin typeface="Calibri" pitchFamily="34" charset="0"/>
                <a:ea typeface="Calibri" pitchFamily="34" charset="-122"/>
                <a:cs typeface="Calibri" pitchFamily="34" charset="-120"/>
              </a:rPr>
              <a:t>Infrastructure as a Service (Infraestructura como Servicio)</a:t>
            </a:r>
            <a:endParaRPr lang="en-US" sz="1400" dirty="0"/>
          </a:p>
        </p:txBody>
      </p:sp>
      <p:sp>
        <p:nvSpPr>
          <p:cNvPr id="10" name="Text 8"/>
          <p:cNvSpPr/>
          <p:nvPr/>
        </p:nvSpPr>
        <p:spPr>
          <a:xfrm>
            <a:off x="731520" y="2743200"/>
            <a:ext cx="3154680" cy="100584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El proveedor entrega recursos virtualizados: VM (Virtual Machine, Maquina Virtual), red, almacenamiento en bloque.</a:t>
            </a:r>
            <a:endParaRPr lang="en-US" sz="1600" dirty="0"/>
          </a:p>
        </p:txBody>
      </p:sp>
      <p:sp>
        <p:nvSpPr>
          <p:cNvPr id="11" name="Text 9"/>
          <p:cNvSpPr/>
          <p:nvPr/>
        </p:nvSpPr>
        <p:spPr>
          <a:xfrm>
            <a:off x="731520" y="3794760"/>
            <a:ext cx="3154680" cy="822960"/>
          </a:xfrm>
          <a:prstGeom prst="rect">
            <a:avLst/>
          </a:prstGeom>
          <a:noFill/>
          <a:ln/>
        </p:spPr>
        <p:txBody>
          <a:bodyPr wrap="square" lIns="0" tIns="0" rIns="0" bIns="0" rtlCol="0" anchor="t"/>
          <a:lstStyle/>
          <a:p>
            <a:pPr marL="0" indent="0">
              <a:buNone/>
            </a:pPr>
            <a:r>
              <a:rPr lang="en-US" sz="1400" b="1" dirty="0">
                <a:solidFill>
                  <a:srgbClr val="0E3F7E"/>
                </a:solidFill>
                <a:latin typeface="Calibri" pitchFamily="34" charset="0"/>
                <a:ea typeface="Calibri" pitchFamily="34" charset="-122"/>
                <a:cs typeface="Calibri" pitchFamily="34" charset="-120"/>
              </a:rPr>
              <a:t>Cliente gestiona: </a:t>
            </a:r>
            <a:r>
              <a:rPr lang="en-US" sz="1400" dirty="0">
                <a:solidFill>
                  <a:srgbClr val="1B2430"/>
                </a:solidFill>
                <a:latin typeface="Calibri" pitchFamily="34" charset="0"/>
                <a:ea typeface="Calibri" pitchFamily="34" charset="-122"/>
                <a:cs typeface="Calibri" pitchFamily="34" charset="-120"/>
              </a:rPr>
              <a:t>SO (Sistema Operativo), runtime, aplicaciones, datos.</a:t>
            </a:r>
            <a:endParaRPr lang="en-US" sz="1400" dirty="0"/>
          </a:p>
        </p:txBody>
      </p:sp>
      <p:sp>
        <p:nvSpPr>
          <p:cNvPr id="12" name="Text 10"/>
          <p:cNvSpPr/>
          <p:nvPr/>
        </p:nvSpPr>
        <p:spPr>
          <a:xfrm>
            <a:off x="731520" y="4663440"/>
            <a:ext cx="3154680" cy="822960"/>
          </a:xfrm>
          <a:prstGeom prst="rect">
            <a:avLst/>
          </a:prstGeom>
          <a:noFill/>
          <a:ln/>
        </p:spPr>
        <p:txBody>
          <a:bodyPr wrap="square" lIns="0" tIns="0" rIns="0" bIns="0" rtlCol="0" anchor="t"/>
          <a:lstStyle/>
          <a:p>
            <a:pPr marL="0" indent="0">
              <a:buNone/>
            </a:pPr>
            <a:r>
              <a:rPr lang="en-US" sz="1400" i="1" dirty="0">
                <a:solidFill>
                  <a:srgbClr val="3B4A5A"/>
                </a:solidFill>
                <a:latin typeface="Calibri" pitchFamily="34" charset="0"/>
                <a:ea typeface="Calibri" pitchFamily="34" charset="-122"/>
                <a:cs typeface="Calibri" pitchFamily="34" charset="-120"/>
              </a:rPr>
              <a:t>Ejemplos: EC2 (Elastic Compute Cloud), Compute Engine, Azure VM.</a:t>
            </a:r>
            <a:endParaRPr lang="en-US" sz="1400" dirty="0"/>
          </a:p>
        </p:txBody>
      </p:sp>
      <p:sp>
        <p:nvSpPr>
          <p:cNvPr id="13" name="Shape 11"/>
          <p:cNvSpPr/>
          <p:nvPr/>
        </p:nvSpPr>
        <p:spPr>
          <a:xfrm>
            <a:off x="731520" y="5623560"/>
            <a:ext cx="3154680" cy="640080"/>
          </a:xfrm>
          <a:prstGeom prst="roundRect">
            <a:avLst>
              <a:gd name="adj" fmla="val 11429"/>
            </a:avLst>
          </a:prstGeom>
          <a:solidFill>
            <a:srgbClr val="FFFFFF"/>
          </a:solidFill>
          <a:ln w="12700">
            <a:solidFill>
              <a:srgbClr val="0E3F7E"/>
            </a:solidFill>
            <a:prstDash val="solid"/>
          </a:ln>
        </p:spPr>
      </p:sp>
      <p:sp>
        <p:nvSpPr>
          <p:cNvPr id="14" name="Text 12"/>
          <p:cNvSpPr/>
          <p:nvPr/>
        </p:nvSpPr>
        <p:spPr>
          <a:xfrm>
            <a:off x="822960" y="5623560"/>
            <a:ext cx="2971800" cy="640080"/>
          </a:xfrm>
          <a:prstGeom prst="rect">
            <a:avLst/>
          </a:prstGeom>
          <a:noFill/>
          <a:ln/>
        </p:spPr>
        <p:txBody>
          <a:bodyPr wrap="square" lIns="0" tIns="0" rIns="0" bIns="0" rtlCol="0" anchor="ctr"/>
          <a:lstStyle/>
          <a:p>
            <a:pPr marL="0" indent="0" algn="ctr">
              <a:buNone/>
            </a:pPr>
            <a:r>
              <a:rPr lang="en-US" sz="1600" b="1" dirty="0">
                <a:solidFill>
                  <a:srgbClr val="0E3F7E"/>
                </a:solidFill>
                <a:latin typeface="Cambria" pitchFamily="34" charset="0"/>
                <a:ea typeface="Cambria" pitchFamily="34" charset="-122"/>
                <a:cs typeface="Cambria" pitchFamily="34" charset="-120"/>
              </a:rPr>
              <a:t>Maxima flexibilidad y control.</a:t>
            </a:r>
            <a:endParaRPr lang="en-US" sz="1600" dirty="0"/>
          </a:p>
        </p:txBody>
      </p:sp>
      <p:sp>
        <p:nvSpPr>
          <p:cNvPr id="15" name="Shape 13"/>
          <p:cNvSpPr/>
          <p:nvPr/>
        </p:nvSpPr>
        <p:spPr>
          <a:xfrm>
            <a:off x="4343400" y="1143000"/>
            <a:ext cx="3703320" cy="5257800"/>
          </a:xfrm>
          <a:prstGeom prst="roundRect">
            <a:avLst>
              <a:gd name="adj" fmla="val 3704"/>
            </a:avLst>
          </a:prstGeom>
          <a:solidFill>
            <a:srgbClr val="E7F3F6"/>
          </a:solidFill>
          <a:ln w="9525">
            <a:solidFill>
              <a:srgbClr val="D9E1EA"/>
            </a:solidFill>
            <a:prstDash val="solid"/>
          </a:ln>
        </p:spPr>
      </p:sp>
      <p:sp>
        <p:nvSpPr>
          <p:cNvPr id="16" name="Shape 14"/>
          <p:cNvSpPr/>
          <p:nvPr/>
        </p:nvSpPr>
        <p:spPr>
          <a:xfrm>
            <a:off x="4572000" y="1325880"/>
            <a:ext cx="3246120" cy="640080"/>
          </a:xfrm>
          <a:prstGeom prst="roundRect">
            <a:avLst>
              <a:gd name="adj" fmla="val 11429"/>
            </a:avLst>
          </a:prstGeom>
          <a:solidFill>
            <a:srgbClr val="2E86A1"/>
          </a:solidFill>
          <a:ln/>
        </p:spPr>
      </p:sp>
      <p:sp>
        <p:nvSpPr>
          <p:cNvPr id="17" name="Text 15"/>
          <p:cNvSpPr/>
          <p:nvPr/>
        </p:nvSpPr>
        <p:spPr>
          <a:xfrm>
            <a:off x="4572000" y="1325880"/>
            <a:ext cx="324612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PaaS</a:t>
            </a:r>
            <a:endParaRPr lang="en-US" sz="2400" dirty="0"/>
          </a:p>
        </p:txBody>
      </p:sp>
      <p:sp>
        <p:nvSpPr>
          <p:cNvPr id="18" name="Text 16"/>
          <p:cNvSpPr/>
          <p:nvPr/>
        </p:nvSpPr>
        <p:spPr>
          <a:xfrm>
            <a:off x="4617720" y="2057400"/>
            <a:ext cx="3154680" cy="685800"/>
          </a:xfrm>
          <a:prstGeom prst="rect">
            <a:avLst/>
          </a:prstGeom>
          <a:noFill/>
          <a:ln/>
        </p:spPr>
        <p:txBody>
          <a:bodyPr wrap="square" lIns="0" tIns="0" rIns="0" bIns="0" rtlCol="0" anchor="t"/>
          <a:lstStyle/>
          <a:p>
            <a:pPr marL="0" indent="0" algn="ctr">
              <a:buNone/>
            </a:pPr>
            <a:r>
              <a:rPr lang="en-US" sz="1400" i="1" dirty="0">
                <a:solidFill>
                  <a:srgbClr val="2E86A1"/>
                </a:solidFill>
                <a:latin typeface="Calibri" pitchFamily="34" charset="0"/>
                <a:ea typeface="Calibri" pitchFamily="34" charset="-122"/>
                <a:cs typeface="Calibri" pitchFamily="34" charset="-120"/>
              </a:rPr>
              <a:t>Platform as a Service (Plataforma como Servicio)</a:t>
            </a:r>
            <a:endParaRPr lang="en-US" sz="1400" dirty="0"/>
          </a:p>
        </p:txBody>
      </p:sp>
      <p:sp>
        <p:nvSpPr>
          <p:cNvPr id="19" name="Text 17"/>
          <p:cNvSpPr/>
          <p:nvPr/>
        </p:nvSpPr>
        <p:spPr>
          <a:xfrm>
            <a:off x="4617720" y="2743200"/>
            <a:ext cx="3154680" cy="100584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El proveedor entrega la plataforma completa: SO, runtime, middleware, DB gestionada.</a:t>
            </a:r>
            <a:endParaRPr lang="en-US" sz="1600" dirty="0"/>
          </a:p>
        </p:txBody>
      </p:sp>
      <p:sp>
        <p:nvSpPr>
          <p:cNvPr id="20" name="Text 18"/>
          <p:cNvSpPr/>
          <p:nvPr/>
        </p:nvSpPr>
        <p:spPr>
          <a:xfrm>
            <a:off x="4617720" y="3794760"/>
            <a:ext cx="3154680" cy="822960"/>
          </a:xfrm>
          <a:prstGeom prst="rect">
            <a:avLst/>
          </a:prstGeom>
          <a:noFill/>
          <a:ln/>
        </p:spPr>
        <p:txBody>
          <a:bodyPr wrap="square" lIns="0" tIns="0" rIns="0" bIns="0" rtlCol="0" anchor="t"/>
          <a:lstStyle/>
          <a:p>
            <a:pPr marL="0" indent="0">
              <a:buNone/>
            </a:pPr>
            <a:r>
              <a:rPr lang="en-US" sz="1400" b="1" dirty="0">
                <a:solidFill>
                  <a:srgbClr val="2E86A1"/>
                </a:solidFill>
                <a:latin typeface="Calibri" pitchFamily="34" charset="0"/>
                <a:ea typeface="Calibri" pitchFamily="34" charset="-122"/>
                <a:cs typeface="Calibri" pitchFamily="34" charset="-120"/>
              </a:rPr>
              <a:t>Cliente gestiona: </a:t>
            </a:r>
            <a:r>
              <a:rPr lang="en-US" sz="1400" dirty="0">
                <a:solidFill>
                  <a:srgbClr val="1B2430"/>
                </a:solidFill>
                <a:latin typeface="Calibri" pitchFamily="34" charset="0"/>
                <a:ea typeface="Calibri" pitchFamily="34" charset="-122"/>
                <a:cs typeface="Calibri" pitchFamily="34" charset="-120"/>
              </a:rPr>
              <a:t>Aplicaciones y datos.</a:t>
            </a:r>
            <a:endParaRPr lang="en-US" sz="1400" dirty="0"/>
          </a:p>
        </p:txBody>
      </p:sp>
      <p:sp>
        <p:nvSpPr>
          <p:cNvPr id="21" name="Text 19"/>
          <p:cNvSpPr/>
          <p:nvPr/>
        </p:nvSpPr>
        <p:spPr>
          <a:xfrm>
            <a:off x="4617720" y="4663440"/>
            <a:ext cx="3154680" cy="822960"/>
          </a:xfrm>
          <a:prstGeom prst="rect">
            <a:avLst/>
          </a:prstGeom>
          <a:noFill/>
          <a:ln/>
        </p:spPr>
        <p:txBody>
          <a:bodyPr wrap="square" lIns="0" tIns="0" rIns="0" bIns="0" rtlCol="0" anchor="t"/>
          <a:lstStyle/>
          <a:p>
            <a:pPr marL="0" indent="0">
              <a:buNone/>
            </a:pPr>
            <a:r>
              <a:rPr lang="en-US" sz="1400" i="1" dirty="0">
                <a:solidFill>
                  <a:srgbClr val="3B4A5A"/>
                </a:solidFill>
                <a:latin typeface="Calibri" pitchFamily="34" charset="0"/>
                <a:ea typeface="Calibri" pitchFamily="34" charset="-122"/>
                <a:cs typeface="Calibri" pitchFamily="34" charset="-120"/>
              </a:rPr>
              <a:t>Ejemplos: App Engine, Heroku, Elastic Beanstalk, Azure App Service.</a:t>
            </a:r>
            <a:endParaRPr lang="en-US" sz="1400" dirty="0"/>
          </a:p>
        </p:txBody>
      </p:sp>
      <p:sp>
        <p:nvSpPr>
          <p:cNvPr id="22" name="Shape 20"/>
          <p:cNvSpPr/>
          <p:nvPr/>
        </p:nvSpPr>
        <p:spPr>
          <a:xfrm>
            <a:off x="4617720" y="5623560"/>
            <a:ext cx="3154680" cy="640080"/>
          </a:xfrm>
          <a:prstGeom prst="roundRect">
            <a:avLst>
              <a:gd name="adj" fmla="val 11429"/>
            </a:avLst>
          </a:prstGeom>
          <a:solidFill>
            <a:srgbClr val="FFFFFF"/>
          </a:solidFill>
          <a:ln w="12700">
            <a:solidFill>
              <a:srgbClr val="2E86A1"/>
            </a:solidFill>
            <a:prstDash val="solid"/>
          </a:ln>
        </p:spPr>
      </p:sp>
      <p:sp>
        <p:nvSpPr>
          <p:cNvPr id="23" name="Text 21"/>
          <p:cNvSpPr/>
          <p:nvPr/>
        </p:nvSpPr>
        <p:spPr>
          <a:xfrm>
            <a:off x="4709160" y="5623560"/>
            <a:ext cx="2971800" cy="640080"/>
          </a:xfrm>
          <a:prstGeom prst="rect">
            <a:avLst/>
          </a:prstGeom>
          <a:noFill/>
          <a:ln/>
        </p:spPr>
        <p:txBody>
          <a:bodyPr wrap="square" lIns="0" tIns="0" rIns="0" bIns="0" rtlCol="0" anchor="ctr"/>
          <a:lstStyle/>
          <a:p>
            <a:pPr marL="0" indent="0" algn="ctr">
              <a:buNone/>
            </a:pPr>
            <a:r>
              <a:rPr lang="en-US" sz="1600" b="1" dirty="0">
                <a:solidFill>
                  <a:srgbClr val="2E86A1"/>
                </a:solidFill>
                <a:latin typeface="Cambria" pitchFamily="34" charset="0"/>
                <a:ea typeface="Cambria" pitchFamily="34" charset="-122"/>
                <a:cs typeface="Cambria" pitchFamily="34" charset="-120"/>
              </a:rPr>
              <a:t>Foco en el codigo, no en la infraestructura.</a:t>
            </a:r>
            <a:endParaRPr lang="en-US" sz="1600" dirty="0"/>
          </a:p>
        </p:txBody>
      </p:sp>
      <p:sp>
        <p:nvSpPr>
          <p:cNvPr id="24" name="Shape 22"/>
          <p:cNvSpPr/>
          <p:nvPr/>
        </p:nvSpPr>
        <p:spPr>
          <a:xfrm>
            <a:off x="8229600" y="1143000"/>
            <a:ext cx="3474720" cy="5257800"/>
          </a:xfrm>
          <a:prstGeom prst="roundRect">
            <a:avLst>
              <a:gd name="adj" fmla="val 3947"/>
            </a:avLst>
          </a:prstGeom>
          <a:solidFill>
            <a:srgbClr val="E9F5EC"/>
          </a:solidFill>
          <a:ln w="9525">
            <a:solidFill>
              <a:srgbClr val="D9E1EA"/>
            </a:solidFill>
            <a:prstDash val="solid"/>
          </a:ln>
        </p:spPr>
      </p:sp>
      <p:sp>
        <p:nvSpPr>
          <p:cNvPr id="25" name="Shape 23"/>
          <p:cNvSpPr/>
          <p:nvPr/>
        </p:nvSpPr>
        <p:spPr>
          <a:xfrm>
            <a:off x="8458200" y="1325880"/>
            <a:ext cx="3017520" cy="640080"/>
          </a:xfrm>
          <a:prstGeom prst="roundRect">
            <a:avLst>
              <a:gd name="adj" fmla="val 11429"/>
            </a:avLst>
          </a:prstGeom>
          <a:solidFill>
            <a:srgbClr val="4FAE60"/>
          </a:solidFill>
          <a:ln/>
        </p:spPr>
      </p:sp>
      <p:sp>
        <p:nvSpPr>
          <p:cNvPr id="26" name="Text 24"/>
          <p:cNvSpPr/>
          <p:nvPr/>
        </p:nvSpPr>
        <p:spPr>
          <a:xfrm>
            <a:off x="8458200" y="1325880"/>
            <a:ext cx="301752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SaaS</a:t>
            </a:r>
            <a:endParaRPr lang="en-US" sz="2400" dirty="0"/>
          </a:p>
        </p:txBody>
      </p:sp>
      <p:sp>
        <p:nvSpPr>
          <p:cNvPr id="27" name="Text 25"/>
          <p:cNvSpPr/>
          <p:nvPr/>
        </p:nvSpPr>
        <p:spPr>
          <a:xfrm>
            <a:off x="8503920" y="2057400"/>
            <a:ext cx="2926080" cy="685800"/>
          </a:xfrm>
          <a:prstGeom prst="rect">
            <a:avLst/>
          </a:prstGeom>
          <a:noFill/>
          <a:ln/>
        </p:spPr>
        <p:txBody>
          <a:bodyPr wrap="square" lIns="0" tIns="0" rIns="0" bIns="0" rtlCol="0" anchor="t"/>
          <a:lstStyle/>
          <a:p>
            <a:pPr marL="0" indent="0" algn="ctr">
              <a:buNone/>
            </a:pPr>
            <a:r>
              <a:rPr lang="en-US" sz="1400" i="1" dirty="0">
                <a:solidFill>
                  <a:srgbClr val="4FAE60"/>
                </a:solidFill>
                <a:latin typeface="Calibri" pitchFamily="34" charset="0"/>
                <a:ea typeface="Calibri" pitchFamily="34" charset="-122"/>
                <a:cs typeface="Calibri" pitchFamily="34" charset="-120"/>
              </a:rPr>
              <a:t>Software as a Service (Software como Servicio)</a:t>
            </a:r>
            <a:endParaRPr lang="en-US" sz="1400" dirty="0"/>
          </a:p>
        </p:txBody>
      </p:sp>
      <p:sp>
        <p:nvSpPr>
          <p:cNvPr id="28" name="Text 26"/>
          <p:cNvSpPr/>
          <p:nvPr/>
        </p:nvSpPr>
        <p:spPr>
          <a:xfrm>
            <a:off x="8503920" y="2743200"/>
            <a:ext cx="2926080" cy="100584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El proveedor entrega la aplicacion terminada, accesible por navegador o API.</a:t>
            </a:r>
            <a:endParaRPr lang="en-US" sz="1600" dirty="0"/>
          </a:p>
        </p:txBody>
      </p:sp>
      <p:sp>
        <p:nvSpPr>
          <p:cNvPr id="29" name="Text 27"/>
          <p:cNvSpPr/>
          <p:nvPr/>
        </p:nvSpPr>
        <p:spPr>
          <a:xfrm>
            <a:off x="8503920" y="3794760"/>
            <a:ext cx="2926080" cy="822960"/>
          </a:xfrm>
          <a:prstGeom prst="rect">
            <a:avLst/>
          </a:prstGeom>
          <a:noFill/>
          <a:ln/>
        </p:spPr>
        <p:txBody>
          <a:bodyPr wrap="square" lIns="0" tIns="0" rIns="0" bIns="0" rtlCol="0" anchor="t"/>
          <a:lstStyle/>
          <a:p>
            <a:pPr marL="0" indent="0">
              <a:buNone/>
            </a:pPr>
            <a:r>
              <a:rPr lang="en-US" sz="1400" b="1" dirty="0">
                <a:solidFill>
                  <a:srgbClr val="4FAE60"/>
                </a:solidFill>
                <a:latin typeface="Calibri" pitchFamily="34" charset="0"/>
                <a:ea typeface="Calibri" pitchFamily="34" charset="-122"/>
                <a:cs typeface="Calibri" pitchFamily="34" charset="-120"/>
              </a:rPr>
              <a:t>Cliente gestiona: </a:t>
            </a:r>
            <a:r>
              <a:rPr lang="en-US" sz="1400" dirty="0">
                <a:solidFill>
                  <a:srgbClr val="1B2430"/>
                </a:solidFill>
                <a:latin typeface="Calibri" pitchFamily="34" charset="0"/>
                <a:ea typeface="Calibri" pitchFamily="34" charset="-122"/>
                <a:cs typeface="Calibri" pitchFamily="34" charset="-120"/>
              </a:rPr>
              <a:t>Sus datos y su configuracion.</a:t>
            </a:r>
            <a:endParaRPr lang="en-US" sz="1400" dirty="0"/>
          </a:p>
        </p:txBody>
      </p:sp>
      <p:sp>
        <p:nvSpPr>
          <p:cNvPr id="30" name="Text 28"/>
          <p:cNvSpPr/>
          <p:nvPr/>
        </p:nvSpPr>
        <p:spPr>
          <a:xfrm>
            <a:off x="8503920" y="4663440"/>
            <a:ext cx="2926080" cy="822960"/>
          </a:xfrm>
          <a:prstGeom prst="rect">
            <a:avLst/>
          </a:prstGeom>
          <a:noFill/>
          <a:ln/>
        </p:spPr>
        <p:txBody>
          <a:bodyPr wrap="square" lIns="0" tIns="0" rIns="0" bIns="0" rtlCol="0" anchor="t"/>
          <a:lstStyle/>
          <a:p>
            <a:pPr marL="0" indent="0">
              <a:buNone/>
            </a:pPr>
            <a:r>
              <a:rPr lang="en-US" sz="1400" i="1" dirty="0">
                <a:solidFill>
                  <a:srgbClr val="3B4A5A"/>
                </a:solidFill>
                <a:latin typeface="Calibri" pitchFamily="34" charset="0"/>
                <a:ea typeface="Calibri" pitchFamily="34" charset="-122"/>
                <a:cs typeface="Calibri" pitchFamily="34" charset="-120"/>
              </a:rPr>
              <a:t>Ejemplos: Gmail, Salesforce, Microsoft 365, Google Workspace.</a:t>
            </a:r>
            <a:endParaRPr lang="en-US" sz="1400" dirty="0"/>
          </a:p>
        </p:txBody>
      </p:sp>
      <p:sp>
        <p:nvSpPr>
          <p:cNvPr id="31" name="Shape 29"/>
          <p:cNvSpPr/>
          <p:nvPr/>
        </p:nvSpPr>
        <p:spPr>
          <a:xfrm>
            <a:off x="8503920" y="5623560"/>
            <a:ext cx="2926080" cy="640080"/>
          </a:xfrm>
          <a:prstGeom prst="roundRect">
            <a:avLst>
              <a:gd name="adj" fmla="val 11429"/>
            </a:avLst>
          </a:prstGeom>
          <a:solidFill>
            <a:srgbClr val="FFFFFF"/>
          </a:solidFill>
          <a:ln w="12700">
            <a:solidFill>
              <a:srgbClr val="4FAE60"/>
            </a:solidFill>
            <a:prstDash val="solid"/>
          </a:ln>
        </p:spPr>
      </p:sp>
      <p:sp>
        <p:nvSpPr>
          <p:cNvPr id="32" name="Text 30"/>
          <p:cNvSpPr/>
          <p:nvPr/>
        </p:nvSpPr>
        <p:spPr>
          <a:xfrm>
            <a:off x="8595360" y="5623560"/>
            <a:ext cx="2743200" cy="640080"/>
          </a:xfrm>
          <a:prstGeom prst="rect">
            <a:avLst/>
          </a:prstGeom>
          <a:noFill/>
          <a:ln/>
        </p:spPr>
        <p:txBody>
          <a:bodyPr wrap="square" lIns="0" tIns="0" rIns="0" bIns="0" rtlCol="0" anchor="ctr"/>
          <a:lstStyle/>
          <a:p>
            <a:pPr marL="0" indent="0" algn="ctr">
              <a:buNone/>
            </a:pPr>
            <a:r>
              <a:rPr lang="en-US" sz="1600" b="1" dirty="0">
                <a:solidFill>
                  <a:srgbClr val="4FAE60"/>
                </a:solidFill>
                <a:latin typeface="Cambria" pitchFamily="34" charset="0"/>
                <a:ea typeface="Cambria" pitchFamily="34" charset="-122"/>
                <a:cs typeface="Cambria" pitchFamily="34" charset="-120"/>
              </a:rPr>
              <a:t>Cero mantenimiento tecnico para el usuario final.</a:t>
            </a:r>
            <a:endParaRPr lang="en-US" sz="1600" dirty="0"/>
          </a:p>
        </p:txBody>
      </p:sp>
      <p:sp>
        <p:nvSpPr>
          <p:cNvPr id="34" name="Shape 31"/>
          <p:cNvSpPr/>
          <p:nvPr/>
        </p:nvSpPr>
        <p:spPr>
          <a:xfrm>
            <a:off x="457200" y="6537960"/>
            <a:ext cx="11247120" cy="0"/>
          </a:xfrm>
          <a:prstGeom prst="line">
            <a:avLst/>
          </a:prstGeom>
          <a:noFill/>
          <a:ln w="9525">
            <a:solidFill>
              <a:srgbClr val="D9E1EA"/>
            </a:solidFill>
            <a:prstDash val="solid"/>
          </a:ln>
        </p:spPr>
      </p:sp>
      <p:sp>
        <p:nvSpPr>
          <p:cNvPr id="35" name="Text 32"/>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36" name="Text 33"/>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4.2.1   12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2E86A1"/>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4.2.2</a:t>
            </a:r>
            <a:endParaRPr lang="en-US" sz="20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Comparacion: AWS, Azure y GCP</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793398"/>
              </p:ext>
            </p:extLst>
          </p:nvPr>
        </p:nvGraphicFramePr>
        <p:xfrm>
          <a:off x="457200" y="1143000"/>
          <a:ext cx="11247120" cy="4864608"/>
        </p:xfrm>
        <a:graphic>
          <a:graphicData uri="http://schemas.openxmlformats.org/drawingml/2006/table">
            <a:tbl>
              <a:tblPr/>
              <a:tblGrid>
                <a:gridCol w="19202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603504">
                <a:tc>
                  <a:txBody>
                    <a:bodyPr/>
                    <a:lstStyle/>
                    <a:p>
                      <a:pPr marL="0" indent="0" algn="ctr">
                        <a:buNone/>
                      </a:pPr>
                      <a:r>
                        <a:rPr lang="en-US" sz="1800" b="1" dirty="0">
                          <a:solidFill>
                            <a:srgbClr val="FFFFFF"/>
                          </a:solidFill>
                          <a:latin typeface="Cambria" pitchFamily="34" charset="0"/>
                          <a:ea typeface="Cambria" pitchFamily="34" charset="-122"/>
                          <a:cs typeface="Cambria" pitchFamily="34" charset="-120"/>
                        </a:rPr>
                        <a:t>Dimension</a:t>
                      </a:r>
                      <a:endParaRPr lang="en-US" sz="18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E3F7E"/>
                    </a:solidFill>
                  </a:tcPr>
                </a:tc>
                <a:tc>
                  <a:txBody>
                    <a:bodyPr/>
                    <a:lstStyle/>
                    <a:p>
                      <a:pPr marL="0" indent="0" algn="ctr">
                        <a:buNone/>
                      </a:pPr>
                      <a:r>
                        <a:rPr lang="en-US" sz="1800" b="1" dirty="0">
                          <a:solidFill>
                            <a:srgbClr val="FFFFFF"/>
                          </a:solidFill>
                          <a:latin typeface="Cambria" pitchFamily="34" charset="0"/>
                          <a:ea typeface="Cambria" pitchFamily="34" charset="-122"/>
                          <a:cs typeface="Cambria" pitchFamily="34" charset="-120"/>
                        </a:rPr>
                        <a:t>AWS (Amazon Web Services)</a:t>
                      </a:r>
                      <a:endParaRPr lang="en-US" sz="18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9900"/>
                    </a:solidFill>
                  </a:tcPr>
                </a:tc>
                <a:tc>
                  <a:txBody>
                    <a:bodyPr/>
                    <a:lstStyle/>
                    <a:p>
                      <a:pPr marL="0" indent="0" algn="ctr">
                        <a:buNone/>
                      </a:pPr>
                      <a:r>
                        <a:rPr lang="en-US" sz="1800" b="1" dirty="0">
                          <a:solidFill>
                            <a:srgbClr val="FFFFFF"/>
                          </a:solidFill>
                          <a:latin typeface="Cambria" pitchFamily="34" charset="0"/>
                          <a:ea typeface="Cambria" pitchFamily="34" charset="-122"/>
                          <a:cs typeface="Cambria" pitchFamily="34" charset="-120"/>
                        </a:rPr>
                        <a:t>Microsoft Azure</a:t>
                      </a:r>
                      <a:endParaRPr lang="en-US" sz="18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078D4"/>
                    </a:solidFill>
                  </a:tcPr>
                </a:tc>
                <a:tc>
                  <a:txBody>
                    <a:bodyPr/>
                    <a:lstStyle/>
                    <a:p>
                      <a:pPr marL="0" indent="0" algn="ctr">
                        <a:buNone/>
                      </a:pPr>
                      <a:r>
                        <a:rPr lang="en-US" sz="1800" b="1" dirty="0">
                          <a:solidFill>
                            <a:srgbClr val="FFFFFF"/>
                          </a:solidFill>
                          <a:latin typeface="Cambria" pitchFamily="34" charset="0"/>
                          <a:ea typeface="Cambria" pitchFamily="34" charset="-122"/>
                          <a:cs typeface="Cambria" pitchFamily="34" charset="-120"/>
                        </a:rPr>
                        <a:t>Google Cloud (GCP)</a:t>
                      </a:r>
                      <a:endParaRPr lang="en-US" sz="18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4285F4"/>
                    </a:solidFill>
                  </a:tcPr>
                </a:tc>
                <a:extLst>
                  <a:ext uri="{0D108BD9-81ED-4DB2-BD59-A6C34878D82A}">
                    <a16:rowId xmlns:a16="http://schemas.microsoft.com/office/drawing/2014/main" val="10000"/>
                  </a:ext>
                </a:extLst>
              </a:tr>
              <a:tr h="603504">
                <a:tc>
                  <a:txBody>
                    <a:bodyPr/>
                    <a:lstStyle/>
                    <a:p>
                      <a:pPr marL="0" indent="0">
                        <a:buNone/>
                      </a:pPr>
                      <a:r>
                        <a:rPr lang="en-US" sz="1600" b="1" dirty="0">
                          <a:solidFill>
                            <a:srgbClr val="0E3F7E"/>
                          </a:solidFill>
                          <a:latin typeface="Cambria" pitchFamily="34" charset="0"/>
                          <a:ea typeface="Cambria" pitchFamily="34" charset="-122"/>
                          <a:cs typeface="Cambria" pitchFamily="34" charset="-120"/>
                        </a:rPr>
                        <a:t>Fortaleza</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Amplitud de servicios y madurez del ecosistema</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Integracion con stack Microsoft y entorno empresarial</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Big data (datos masivos), IA y Kubernetes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1600" b="1" dirty="0">
                          <a:solidFill>
                            <a:srgbClr val="0E3F7E"/>
                          </a:solidFill>
                          <a:latin typeface="Cambria" pitchFamily="34" charset="0"/>
                          <a:ea typeface="Cambria" pitchFamily="34" charset="-122"/>
                          <a:cs typeface="Cambria" pitchFamily="34" charset="-120"/>
                        </a:rPr>
                        <a:t>Computo (IaaS)</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EC2, Lightsail</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Azure VM, Virtual Machine Scale Sets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Compute Engine, GKE (Google Kubernetes Engine)</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603504">
                <a:tc>
                  <a:txBody>
                    <a:bodyPr/>
                    <a:lstStyle/>
                    <a:p>
                      <a:pPr marL="0" indent="0">
                        <a:buNone/>
                      </a:pPr>
                      <a:r>
                        <a:rPr lang="en-US" sz="1600" b="1" dirty="0">
                          <a:solidFill>
                            <a:srgbClr val="0E3F7E"/>
                          </a:solidFill>
                          <a:latin typeface="Cambria" pitchFamily="34" charset="0"/>
                          <a:ea typeface="Cambria" pitchFamily="34" charset="-122"/>
                          <a:cs typeface="Cambria" pitchFamily="34" charset="-120"/>
                        </a:rPr>
                        <a:t>Serverless (FaaS)</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AWS Lambda</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Azure Functions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Cloud Functions, Cloud Run</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buNone/>
                      </a:pPr>
                      <a:r>
                        <a:rPr lang="en-US" sz="1600" b="1" dirty="0">
                          <a:solidFill>
                            <a:srgbClr val="0E3F7E"/>
                          </a:solidFill>
                          <a:latin typeface="Cambria" pitchFamily="34" charset="0"/>
                          <a:ea typeface="Cambria" pitchFamily="34" charset="-122"/>
                          <a:cs typeface="Cambria" pitchFamily="34" charset="-120"/>
                        </a:rPr>
                        <a:t>Almacenamiento</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S3 (Simple Storage Service), EBS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Blob Storage, Managed Disks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Cloud Storage, Persistent Disk</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extLst>
                  <a:ext uri="{0D108BD9-81ED-4DB2-BD59-A6C34878D82A}">
                    <a16:rowId xmlns:a16="http://schemas.microsoft.com/office/drawing/2014/main" val="10004"/>
                  </a:ext>
                </a:extLst>
              </a:tr>
              <a:tr h="603504">
                <a:tc>
                  <a:txBody>
                    <a:bodyPr/>
                    <a:lstStyle/>
                    <a:p>
                      <a:pPr marL="0" indent="0">
                        <a:buNone/>
                      </a:pPr>
                      <a:r>
                        <a:rPr lang="en-US" sz="1600" b="1" dirty="0">
                          <a:solidFill>
                            <a:srgbClr val="0E3F7E"/>
                          </a:solidFill>
                          <a:latin typeface="Cambria" pitchFamily="34" charset="0"/>
                          <a:ea typeface="Cambria" pitchFamily="34" charset="-122"/>
                          <a:cs typeface="Cambria" pitchFamily="34" charset="-120"/>
                        </a:rPr>
                        <a:t>Bases de datos</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RDS, DynamoDB, Aurora</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SQL Database, Cosmos DB</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Cloud SQL, Spanner, Bigtable, Firestore</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extLst>
                  <a:ext uri="{0D108BD9-81ED-4DB2-BD59-A6C34878D82A}">
                    <a16:rowId xmlns:a16="http://schemas.microsoft.com/office/drawing/2014/main" val="10005"/>
                  </a:ext>
                </a:extLst>
              </a:tr>
              <a:tr h="603504">
                <a:tc>
                  <a:txBody>
                    <a:bodyPr/>
                    <a:lstStyle/>
                    <a:p>
                      <a:pPr marL="0" indent="0">
                        <a:buNone/>
                      </a:pPr>
                      <a:r>
                        <a:rPr lang="en-US" sz="1600" b="1" dirty="0">
                          <a:solidFill>
                            <a:srgbClr val="0E3F7E"/>
                          </a:solidFill>
                          <a:latin typeface="Cambria" pitchFamily="34" charset="0"/>
                          <a:ea typeface="Cambria" pitchFamily="34" charset="-122"/>
                          <a:cs typeface="Cambria" pitchFamily="34" charset="-120"/>
                        </a:rPr>
                        <a:t>Analitica / Big data</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EMR, Redshift, Athena, Kinesis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Synapse Analytics, HDInsight, Stream Analytics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Dataproc, BigQuery, Dataflow, Pub/Sub</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extLst>
                  <a:ext uri="{0D108BD9-81ED-4DB2-BD59-A6C34878D82A}">
                    <a16:rowId xmlns:a16="http://schemas.microsoft.com/office/drawing/2014/main" val="10006"/>
                  </a:ext>
                </a:extLst>
              </a:tr>
              <a:tr h="603504">
                <a:tc>
                  <a:txBody>
                    <a:bodyPr/>
                    <a:lstStyle/>
                    <a:p>
                      <a:pPr marL="0" indent="0">
                        <a:buNone/>
                      </a:pPr>
                      <a:r>
                        <a:rPr lang="en-US" sz="1600" b="1" dirty="0">
                          <a:solidFill>
                            <a:srgbClr val="0E3F7E"/>
                          </a:solidFill>
                          <a:latin typeface="Cambria" pitchFamily="34" charset="0"/>
                          <a:ea typeface="Cambria" pitchFamily="34" charset="-122"/>
                          <a:cs typeface="Cambria" pitchFamily="34" charset="-120"/>
                        </a:rPr>
                        <a:t>Ideal para</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Startups a corporativos, cargas variadas y globales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Empresas con Windows Server, Active Directory, .NET</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Analitica avanzada, ML (Machine Learning) y contenedores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Shape 4"/>
          <p:cNvSpPr/>
          <p:nvPr/>
        </p:nvSpPr>
        <p:spPr>
          <a:xfrm>
            <a:off x="457200" y="6537960"/>
            <a:ext cx="11247120" cy="0"/>
          </a:xfrm>
          <a:prstGeom prst="line">
            <a:avLst/>
          </a:prstGeom>
          <a:noFill/>
          <a:ln w="9525">
            <a:solidFill>
              <a:srgbClr val="D9E1EA"/>
            </a:solidFill>
            <a:prstDash val="solid"/>
          </a:ln>
        </p:spPr>
      </p:sp>
      <p:sp>
        <p:nvSpPr>
          <p:cNvPr id="9" name="Text 5"/>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10" name="Text 6"/>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4.2.2   13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2E86A1"/>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4.2.3</a:t>
            </a:r>
            <a:endParaRPr lang="en-US" sz="2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FaaS y computacion serverless</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11247120" cy="777240"/>
          </a:xfrm>
          <a:prstGeom prst="roundRect">
            <a:avLst>
              <a:gd name="adj" fmla="val 11765"/>
            </a:avLst>
          </a:prstGeom>
          <a:solidFill>
            <a:srgbClr val="E7F3F6"/>
          </a:solidFill>
          <a:ln/>
        </p:spPr>
      </p:sp>
      <p:sp>
        <p:nvSpPr>
          <p:cNvPr id="7" name="Text 5"/>
          <p:cNvSpPr/>
          <p:nvPr/>
        </p:nvSpPr>
        <p:spPr>
          <a:xfrm>
            <a:off x="640080" y="1143000"/>
            <a:ext cx="10881360" cy="77724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FaaS (Function as a Service, Funcion como Servicio): </a:t>
            </a:r>
            <a:r>
              <a:rPr lang="en-US" sz="1400" dirty="0">
                <a:solidFill>
                  <a:srgbClr val="1B2430"/>
                </a:solidFill>
                <a:latin typeface="Calibri" pitchFamily="34" charset="0"/>
                <a:ea typeface="Calibri" pitchFamily="34" charset="-122"/>
                <a:cs typeface="Calibri" pitchFamily="34" charset="-120"/>
              </a:rPr>
              <a:t>modelo serverless (sin servidor visible) donde el proveedor ejecuta funciones cortas en respuesta a eventos, cobrando por milisegundo de uso y por invocacion, sin que el cliente aprovisione ni escale servidores.</a:t>
            </a:r>
            <a:endParaRPr lang="en-US" sz="1400" dirty="0"/>
          </a:p>
        </p:txBody>
      </p:sp>
      <p:sp>
        <p:nvSpPr>
          <p:cNvPr id="8" name="Shape 6"/>
          <p:cNvSpPr/>
          <p:nvPr/>
        </p:nvSpPr>
        <p:spPr>
          <a:xfrm>
            <a:off x="457200" y="2103120"/>
            <a:ext cx="5623560" cy="4297680"/>
          </a:xfrm>
          <a:prstGeom prst="roundRect">
            <a:avLst>
              <a:gd name="adj" fmla="val 3191"/>
            </a:avLst>
          </a:prstGeom>
          <a:solidFill>
            <a:srgbClr val="F3F6FB"/>
          </a:solidFill>
          <a:ln/>
        </p:spPr>
      </p:sp>
      <p:sp>
        <p:nvSpPr>
          <p:cNvPr id="9" name="Text 7"/>
          <p:cNvSpPr/>
          <p:nvPr/>
        </p:nvSpPr>
        <p:spPr>
          <a:xfrm>
            <a:off x="640080" y="2194560"/>
            <a:ext cx="5303520" cy="365760"/>
          </a:xfrm>
          <a:prstGeom prst="rect">
            <a:avLst/>
          </a:prstGeom>
          <a:noFill/>
          <a:ln/>
        </p:spPr>
        <p:txBody>
          <a:bodyPr wrap="square" lIns="0" tIns="0" rIns="0" bIns="0" rtlCol="0" anchor="ctr"/>
          <a:lstStyle/>
          <a:p>
            <a:pPr marL="0" indent="0">
              <a:buNone/>
            </a:pPr>
            <a:r>
              <a:rPr lang="en-US" b="1" dirty="0">
                <a:solidFill>
                  <a:srgbClr val="2E86A1"/>
                </a:solidFill>
                <a:latin typeface="Cambria" pitchFamily="34" charset="0"/>
                <a:ea typeface="Cambria" pitchFamily="34" charset="-122"/>
                <a:cs typeface="Cambria" pitchFamily="34" charset="-120"/>
              </a:rPr>
              <a:t>Caracteristicas del modelo</a:t>
            </a:r>
            <a:endParaRPr lang="en-US" dirty="0"/>
          </a:p>
        </p:txBody>
      </p:sp>
      <p:sp>
        <p:nvSpPr>
          <p:cNvPr id="10" name="Shape 8"/>
          <p:cNvSpPr/>
          <p:nvPr/>
        </p:nvSpPr>
        <p:spPr>
          <a:xfrm>
            <a:off x="731520" y="2651760"/>
            <a:ext cx="320040" cy="320040"/>
          </a:xfrm>
          <a:prstGeom prst="ellipse">
            <a:avLst/>
          </a:prstGeom>
          <a:solidFill>
            <a:srgbClr val="2E86A1"/>
          </a:solidFill>
          <a:ln/>
        </p:spPr>
      </p:sp>
      <p:sp>
        <p:nvSpPr>
          <p:cNvPr id="11" name="Shape 9"/>
          <p:cNvSpPr/>
          <p:nvPr/>
        </p:nvSpPr>
        <p:spPr>
          <a:xfrm>
            <a:off x="845820" y="2743200"/>
            <a:ext cx="91440" cy="137160"/>
          </a:xfrm>
          <a:prstGeom prst="rect">
            <a:avLst/>
          </a:prstGeom>
          <a:solidFill>
            <a:srgbClr val="FFFFFF"/>
          </a:solidFill>
          <a:ln/>
        </p:spPr>
      </p:sp>
      <p:sp>
        <p:nvSpPr>
          <p:cNvPr id="12" name="Text 10"/>
          <p:cNvSpPr/>
          <p:nvPr/>
        </p:nvSpPr>
        <p:spPr>
          <a:xfrm>
            <a:off x="1188720" y="2606040"/>
            <a:ext cx="4754880" cy="36576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Event-driven (dirigido por eventos)</a:t>
            </a:r>
            <a:endParaRPr lang="en-US" sz="1400" dirty="0"/>
          </a:p>
        </p:txBody>
      </p:sp>
      <p:sp>
        <p:nvSpPr>
          <p:cNvPr id="13" name="Text 11"/>
          <p:cNvSpPr/>
          <p:nvPr/>
        </p:nvSpPr>
        <p:spPr>
          <a:xfrm>
            <a:off x="1188720" y="2953512"/>
            <a:ext cx="4754880" cy="365760"/>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HTTP, mensajes de cola, cambios en base de datos, subida de archivos.</a:t>
            </a:r>
            <a:endParaRPr lang="en-US" sz="1400" dirty="0"/>
          </a:p>
        </p:txBody>
      </p:sp>
      <p:sp>
        <p:nvSpPr>
          <p:cNvPr id="14" name="Shape 12"/>
          <p:cNvSpPr/>
          <p:nvPr/>
        </p:nvSpPr>
        <p:spPr>
          <a:xfrm>
            <a:off x="731520" y="3401568"/>
            <a:ext cx="320040" cy="320040"/>
          </a:xfrm>
          <a:prstGeom prst="ellipse">
            <a:avLst/>
          </a:prstGeom>
          <a:solidFill>
            <a:srgbClr val="2E86A1"/>
          </a:solidFill>
          <a:ln/>
        </p:spPr>
      </p:sp>
      <p:sp>
        <p:nvSpPr>
          <p:cNvPr id="15" name="Shape 13"/>
          <p:cNvSpPr/>
          <p:nvPr/>
        </p:nvSpPr>
        <p:spPr>
          <a:xfrm>
            <a:off x="845820" y="3493008"/>
            <a:ext cx="91440" cy="137160"/>
          </a:xfrm>
          <a:prstGeom prst="rect">
            <a:avLst/>
          </a:prstGeom>
          <a:solidFill>
            <a:srgbClr val="FFFFFF"/>
          </a:solidFill>
          <a:ln/>
        </p:spPr>
      </p:sp>
      <p:sp>
        <p:nvSpPr>
          <p:cNvPr id="16" name="Text 14"/>
          <p:cNvSpPr/>
          <p:nvPr/>
        </p:nvSpPr>
        <p:spPr>
          <a:xfrm>
            <a:off x="1188720" y="3355848"/>
            <a:ext cx="4754880" cy="36576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Escalado automatico a cero</a:t>
            </a:r>
            <a:endParaRPr lang="en-US" sz="1400" dirty="0"/>
          </a:p>
        </p:txBody>
      </p:sp>
      <p:sp>
        <p:nvSpPr>
          <p:cNvPr id="17" name="Text 15"/>
          <p:cNvSpPr/>
          <p:nvPr/>
        </p:nvSpPr>
        <p:spPr>
          <a:xfrm>
            <a:off x="1188720" y="3703320"/>
            <a:ext cx="4754880" cy="365760"/>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De cero a miles de instancias en segundos; sin trafico, sin costo.</a:t>
            </a:r>
            <a:endParaRPr lang="en-US" sz="1400" dirty="0"/>
          </a:p>
        </p:txBody>
      </p:sp>
      <p:sp>
        <p:nvSpPr>
          <p:cNvPr id="18" name="Shape 16"/>
          <p:cNvSpPr/>
          <p:nvPr/>
        </p:nvSpPr>
        <p:spPr>
          <a:xfrm>
            <a:off x="731520" y="4151376"/>
            <a:ext cx="320040" cy="320040"/>
          </a:xfrm>
          <a:prstGeom prst="ellipse">
            <a:avLst/>
          </a:prstGeom>
          <a:solidFill>
            <a:srgbClr val="2E86A1"/>
          </a:solidFill>
          <a:ln/>
        </p:spPr>
      </p:sp>
      <p:sp>
        <p:nvSpPr>
          <p:cNvPr id="19" name="Shape 17"/>
          <p:cNvSpPr/>
          <p:nvPr/>
        </p:nvSpPr>
        <p:spPr>
          <a:xfrm>
            <a:off x="845820" y="4242816"/>
            <a:ext cx="91440" cy="137160"/>
          </a:xfrm>
          <a:prstGeom prst="rect">
            <a:avLst/>
          </a:prstGeom>
          <a:solidFill>
            <a:srgbClr val="FFFFFF"/>
          </a:solidFill>
          <a:ln/>
        </p:spPr>
      </p:sp>
      <p:sp>
        <p:nvSpPr>
          <p:cNvPr id="20" name="Text 18"/>
          <p:cNvSpPr/>
          <p:nvPr/>
        </p:nvSpPr>
        <p:spPr>
          <a:xfrm>
            <a:off x="1188720" y="4105656"/>
            <a:ext cx="4754880" cy="36576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Pago por uso (pay-per-use)</a:t>
            </a:r>
            <a:endParaRPr lang="en-US" sz="1400" dirty="0"/>
          </a:p>
        </p:txBody>
      </p:sp>
      <p:sp>
        <p:nvSpPr>
          <p:cNvPr id="21" name="Text 19"/>
          <p:cNvSpPr/>
          <p:nvPr/>
        </p:nvSpPr>
        <p:spPr>
          <a:xfrm>
            <a:off x="1188720" y="4453128"/>
            <a:ext cx="4754880" cy="365760"/>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Cobro por invocacion + tiempo de ejecucion, no por hora reservada.</a:t>
            </a:r>
            <a:endParaRPr lang="en-US" sz="1400" dirty="0"/>
          </a:p>
        </p:txBody>
      </p:sp>
      <p:sp>
        <p:nvSpPr>
          <p:cNvPr id="22" name="Shape 20"/>
          <p:cNvSpPr/>
          <p:nvPr/>
        </p:nvSpPr>
        <p:spPr>
          <a:xfrm>
            <a:off x="731520" y="4901184"/>
            <a:ext cx="320040" cy="320040"/>
          </a:xfrm>
          <a:prstGeom prst="ellipse">
            <a:avLst/>
          </a:prstGeom>
          <a:solidFill>
            <a:srgbClr val="2E86A1"/>
          </a:solidFill>
          <a:ln/>
        </p:spPr>
      </p:sp>
      <p:sp>
        <p:nvSpPr>
          <p:cNvPr id="23" name="Shape 21"/>
          <p:cNvSpPr/>
          <p:nvPr/>
        </p:nvSpPr>
        <p:spPr>
          <a:xfrm>
            <a:off x="845820" y="4992624"/>
            <a:ext cx="91440" cy="137160"/>
          </a:xfrm>
          <a:prstGeom prst="rect">
            <a:avLst/>
          </a:prstGeom>
          <a:solidFill>
            <a:srgbClr val="FFFFFF"/>
          </a:solidFill>
          <a:ln/>
        </p:spPr>
      </p:sp>
      <p:sp>
        <p:nvSpPr>
          <p:cNvPr id="24" name="Text 22"/>
          <p:cNvSpPr/>
          <p:nvPr/>
        </p:nvSpPr>
        <p:spPr>
          <a:xfrm>
            <a:off x="1188720" y="4855464"/>
            <a:ext cx="4754880" cy="36576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Stateless (sin estado)</a:t>
            </a:r>
            <a:endParaRPr lang="en-US" sz="1400" dirty="0"/>
          </a:p>
        </p:txBody>
      </p:sp>
      <p:sp>
        <p:nvSpPr>
          <p:cNvPr id="25" name="Text 23"/>
          <p:cNvSpPr/>
          <p:nvPr/>
        </p:nvSpPr>
        <p:spPr>
          <a:xfrm>
            <a:off x="1188720" y="5202936"/>
            <a:ext cx="4754880" cy="365760"/>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El estado se guarda fuera: cache (Redis), DB, cola, objeto en S3.</a:t>
            </a:r>
            <a:endParaRPr lang="en-US" sz="1400" dirty="0"/>
          </a:p>
        </p:txBody>
      </p:sp>
      <p:sp>
        <p:nvSpPr>
          <p:cNvPr id="26" name="Shape 24"/>
          <p:cNvSpPr/>
          <p:nvPr/>
        </p:nvSpPr>
        <p:spPr>
          <a:xfrm>
            <a:off x="731520" y="5650992"/>
            <a:ext cx="320040" cy="320040"/>
          </a:xfrm>
          <a:prstGeom prst="ellipse">
            <a:avLst/>
          </a:prstGeom>
          <a:solidFill>
            <a:srgbClr val="2E86A1"/>
          </a:solidFill>
          <a:ln/>
        </p:spPr>
      </p:sp>
      <p:sp>
        <p:nvSpPr>
          <p:cNvPr id="27" name="Shape 25"/>
          <p:cNvSpPr/>
          <p:nvPr/>
        </p:nvSpPr>
        <p:spPr>
          <a:xfrm>
            <a:off x="845820" y="5742432"/>
            <a:ext cx="91440" cy="137160"/>
          </a:xfrm>
          <a:prstGeom prst="rect">
            <a:avLst/>
          </a:prstGeom>
          <a:solidFill>
            <a:srgbClr val="FFFFFF"/>
          </a:solidFill>
          <a:ln/>
        </p:spPr>
      </p:sp>
      <p:sp>
        <p:nvSpPr>
          <p:cNvPr id="28" name="Text 26"/>
          <p:cNvSpPr/>
          <p:nvPr/>
        </p:nvSpPr>
        <p:spPr>
          <a:xfrm>
            <a:off x="1188720" y="5605272"/>
            <a:ext cx="4754880" cy="365760"/>
          </a:xfrm>
          <a:prstGeom prst="rect">
            <a:avLst/>
          </a:prstGeom>
          <a:noFill/>
          <a:ln/>
        </p:spPr>
        <p:txBody>
          <a:bodyPr wrap="square" lIns="0" tIns="0" rIns="0" bIns="0" rtlCol="0" anchor="ctr"/>
          <a:lstStyle/>
          <a:p>
            <a:pPr marL="0" indent="0">
              <a:buNone/>
            </a:pPr>
            <a:r>
              <a:rPr lang="en-US" sz="1400" b="1" dirty="0">
                <a:solidFill>
                  <a:srgbClr val="2E86A1"/>
                </a:solidFill>
                <a:latin typeface="Cambria" pitchFamily="34" charset="0"/>
                <a:ea typeface="Cambria" pitchFamily="34" charset="-122"/>
                <a:cs typeface="Cambria" pitchFamily="34" charset="-120"/>
              </a:rPr>
              <a:t>Cold start (arranque en frio)</a:t>
            </a:r>
            <a:endParaRPr lang="en-US" sz="1400" dirty="0"/>
          </a:p>
        </p:txBody>
      </p:sp>
      <p:sp>
        <p:nvSpPr>
          <p:cNvPr id="29" name="Text 27"/>
          <p:cNvSpPr/>
          <p:nvPr/>
        </p:nvSpPr>
        <p:spPr>
          <a:xfrm>
            <a:off x="1188720" y="5952744"/>
            <a:ext cx="4754880" cy="365760"/>
          </a:xfrm>
          <a:prstGeom prst="rect">
            <a:avLst/>
          </a:prstGeom>
          <a:noFill/>
          <a:ln/>
        </p:spPr>
        <p:txBody>
          <a:bodyPr wrap="square" lIns="0" tIns="0" rIns="0" bIns="0" rtlCol="0" anchor="t"/>
          <a:lstStyle/>
          <a:p>
            <a:pPr marL="0" indent="0">
              <a:buNone/>
            </a:pPr>
            <a:r>
              <a:rPr lang="en-US" sz="1400" dirty="0">
                <a:solidFill>
                  <a:srgbClr val="1B2430"/>
                </a:solidFill>
                <a:latin typeface="Calibri" pitchFamily="34" charset="0"/>
                <a:ea typeface="Calibri" pitchFamily="34" charset="-122"/>
                <a:cs typeface="Calibri" pitchFamily="34" charset="-120"/>
              </a:rPr>
              <a:t>Primera invocacion suma latencia de inicializacion del runtime.</a:t>
            </a:r>
            <a:endParaRPr lang="en-US" sz="1400" dirty="0"/>
          </a:p>
        </p:txBody>
      </p:sp>
      <p:sp>
        <p:nvSpPr>
          <p:cNvPr id="30" name="Shape 28"/>
          <p:cNvSpPr/>
          <p:nvPr/>
        </p:nvSpPr>
        <p:spPr>
          <a:xfrm>
            <a:off x="6172200" y="2103120"/>
            <a:ext cx="5532120" cy="2057400"/>
          </a:xfrm>
          <a:prstGeom prst="roundRect">
            <a:avLst>
              <a:gd name="adj" fmla="val 6667"/>
            </a:avLst>
          </a:prstGeom>
          <a:solidFill>
            <a:srgbClr val="FFFFFF"/>
          </a:solidFill>
          <a:ln w="12700">
            <a:solidFill>
              <a:srgbClr val="2E86A1"/>
            </a:solidFill>
            <a:prstDash val="solid"/>
          </a:ln>
        </p:spPr>
      </p:sp>
      <p:sp>
        <p:nvSpPr>
          <p:cNvPr id="31" name="Text 29"/>
          <p:cNvSpPr/>
          <p:nvPr/>
        </p:nvSpPr>
        <p:spPr>
          <a:xfrm>
            <a:off x="6355080" y="2194560"/>
            <a:ext cx="5212080" cy="365760"/>
          </a:xfrm>
          <a:prstGeom prst="rect">
            <a:avLst/>
          </a:prstGeom>
          <a:noFill/>
          <a:ln/>
        </p:spPr>
        <p:txBody>
          <a:bodyPr wrap="square" lIns="0" tIns="0" rIns="0" bIns="0" rtlCol="0" anchor="ctr"/>
          <a:lstStyle/>
          <a:p>
            <a:pPr marL="0" indent="0">
              <a:buNone/>
            </a:pPr>
            <a:r>
              <a:rPr lang="en-US" sz="1600" b="1" dirty="0">
                <a:solidFill>
                  <a:srgbClr val="2E86A1"/>
                </a:solidFill>
                <a:latin typeface="Cambria" pitchFamily="34" charset="0"/>
                <a:ea typeface="Cambria" pitchFamily="34" charset="-122"/>
                <a:cs typeface="Cambria" pitchFamily="34" charset="-120"/>
              </a:rPr>
              <a:t>Casos de uso ideales</a:t>
            </a:r>
            <a:endParaRPr lang="en-US" sz="1600" dirty="0"/>
          </a:p>
        </p:txBody>
      </p:sp>
      <p:sp>
        <p:nvSpPr>
          <p:cNvPr id="32" name="Text 30"/>
          <p:cNvSpPr/>
          <p:nvPr/>
        </p:nvSpPr>
        <p:spPr>
          <a:xfrm>
            <a:off x="6355080" y="2568332"/>
            <a:ext cx="5212080"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430"/>
                </a:solidFill>
                <a:latin typeface="Calibri" pitchFamily="34" charset="0"/>
                <a:ea typeface="Calibri" pitchFamily="34" charset="-122"/>
                <a:cs typeface="Calibri" pitchFamily="34" charset="-120"/>
              </a:rPr>
              <a:t>APIs REST de baja concurrencia y trafico esporadico.</a:t>
            </a:r>
            <a:endParaRPr lang="en-US" sz="1400" dirty="0"/>
          </a:p>
          <a:p>
            <a:pPr marL="342900" indent="-342900">
              <a:spcAft>
                <a:spcPts val="400"/>
              </a:spcAft>
              <a:buSzPct val="100000"/>
              <a:buChar char="▪"/>
            </a:pPr>
            <a:r>
              <a:rPr lang="en-US" sz="1400" dirty="0">
                <a:solidFill>
                  <a:srgbClr val="1B2430"/>
                </a:solidFill>
                <a:latin typeface="Calibri" pitchFamily="34" charset="0"/>
                <a:ea typeface="Calibri" pitchFamily="34" charset="-122"/>
                <a:cs typeface="Calibri" pitchFamily="34" charset="-120"/>
              </a:rPr>
              <a:t>Procesamiento de imagenes y videos al subir archivos.</a:t>
            </a:r>
            <a:endParaRPr lang="en-US" sz="1400" dirty="0"/>
          </a:p>
          <a:p>
            <a:pPr marL="342900" indent="-342900">
              <a:spcAft>
                <a:spcPts val="400"/>
              </a:spcAft>
              <a:buSzPct val="100000"/>
              <a:buChar char="▪"/>
            </a:pPr>
            <a:r>
              <a:rPr lang="en-US" sz="1400" dirty="0">
                <a:solidFill>
                  <a:srgbClr val="1B2430"/>
                </a:solidFill>
                <a:latin typeface="Calibri" pitchFamily="34" charset="0"/>
                <a:ea typeface="Calibri" pitchFamily="34" charset="-122"/>
                <a:cs typeface="Calibri" pitchFamily="34" charset="-120"/>
              </a:rPr>
              <a:t>Cron jobs (tareas programadas) y ETL ligeros.</a:t>
            </a:r>
            <a:endParaRPr lang="en-US" sz="1400" dirty="0"/>
          </a:p>
          <a:p>
            <a:pPr marL="342900" indent="-342900">
              <a:spcAft>
                <a:spcPts val="400"/>
              </a:spcAft>
              <a:buSzPct val="100000"/>
              <a:buChar char="▪"/>
            </a:pPr>
            <a:r>
              <a:rPr lang="en-US" sz="1400" dirty="0">
                <a:solidFill>
                  <a:srgbClr val="1B2430"/>
                </a:solidFill>
                <a:latin typeface="Calibri" pitchFamily="34" charset="0"/>
                <a:ea typeface="Calibri" pitchFamily="34" charset="-122"/>
                <a:cs typeface="Calibri" pitchFamily="34" charset="-120"/>
              </a:rPr>
              <a:t>Webhooks y chatbots.</a:t>
            </a:r>
            <a:endParaRPr lang="en-US" sz="1400" dirty="0"/>
          </a:p>
          <a:p>
            <a:pPr marL="342900" indent="-342900">
              <a:buSzPct val="100000"/>
              <a:buChar char="▪"/>
            </a:pPr>
            <a:r>
              <a:rPr lang="en-US" sz="1400" dirty="0">
                <a:solidFill>
                  <a:srgbClr val="1B2430"/>
                </a:solidFill>
                <a:latin typeface="Calibri" pitchFamily="34" charset="0"/>
                <a:ea typeface="Calibri" pitchFamily="34" charset="-122"/>
                <a:cs typeface="Calibri" pitchFamily="34" charset="-120"/>
              </a:rPr>
              <a:t>Backend para logica de IoT (Internet of Things, Internet de las Cosas).</a:t>
            </a:r>
            <a:endParaRPr lang="en-US" sz="1400" dirty="0"/>
          </a:p>
        </p:txBody>
      </p:sp>
      <p:sp>
        <p:nvSpPr>
          <p:cNvPr id="33" name="Shape 31"/>
          <p:cNvSpPr/>
          <p:nvPr/>
        </p:nvSpPr>
        <p:spPr>
          <a:xfrm>
            <a:off x="6172200" y="4343400"/>
            <a:ext cx="5532120" cy="2057400"/>
          </a:xfrm>
          <a:prstGeom prst="roundRect">
            <a:avLst>
              <a:gd name="adj" fmla="val 6667"/>
            </a:avLst>
          </a:prstGeom>
          <a:solidFill>
            <a:srgbClr val="FFF6E5"/>
          </a:solidFill>
          <a:ln w="12700">
            <a:solidFill>
              <a:srgbClr val="F2A413"/>
            </a:solidFill>
            <a:prstDash val="solid"/>
          </a:ln>
        </p:spPr>
        <p:txBody>
          <a:bodyPr/>
          <a:lstStyle/>
          <a:p>
            <a:endParaRPr lang="es-EC" dirty="0"/>
          </a:p>
        </p:txBody>
      </p:sp>
      <p:sp>
        <p:nvSpPr>
          <p:cNvPr id="34" name="Text 32"/>
          <p:cNvSpPr/>
          <p:nvPr/>
        </p:nvSpPr>
        <p:spPr>
          <a:xfrm>
            <a:off x="6355080" y="4378278"/>
            <a:ext cx="5212080" cy="365760"/>
          </a:xfrm>
          <a:prstGeom prst="rect">
            <a:avLst/>
          </a:prstGeom>
          <a:noFill/>
          <a:ln/>
        </p:spPr>
        <p:txBody>
          <a:bodyPr wrap="square" lIns="0" tIns="0" rIns="0" bIns="0" rtlCol="0" anchor="ctr"/>
          <a:lstStyle/>
          <a:p>
            <a:pPr marL="0" indent="0">
              <a:buNone/>
            </a:pPr>
            <a:r>
              <a:rPr lang="en-US" sz="1600" b="1" dirty="0">
                <a:solidFill>
                  <a:srgbClr val="F2A413"/>
                </a:solidFill>
                <a:latin typeface="Cambria" pitchFamily="34" charset="0"/>
                <a:ea typeface="Cambria" pitchFamily="34" charset="-122"/>
                <a:cs typeface="Cambria" pitchFamily="34" charset="-120"/>
              </a:rPr>
              <a:t>Limites y precauciones</a:t>
            </a:r>
            <a:endParaRPr lang="en-US" sz="1600" dirty="0"/>
          </a:p>
        </p:txBody>
      </p:sp>
      <p:sp>
        <p:nvSpPr>
          <p:cNvPr id="35" name="Text 33"/>
          <p:cNvSpPr/>
          <p:nvPr/>
        </p:nvSpPr>
        <p:spPr>
          <a:xfrm>
            <a:off x="6355080" y="4733196"/>
            <a:ext cx="5212080"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430"/>
                </a:solidFill>
                <a:latin typeface="Calibri" pitchFamily="34" charset="0"/>
                <a:ea typeface="Calibri" pitchFamily="34" charset="-122"/>
                <a:cs typeface="Calibri" pitchFamily="34" charset="-120"/>
              </a:rPr>
              <a:t>Tiempo maximo por ejecucion (por ejemplo, 15 min en AWS Lambda).</a:t>
            </a:r>
            <a:endParaRPr lang="en-US" sz="1400" dirty="0"/>
          </a:p>
          <a:p>
            <a:pPr marL="342900" indent="-342900">
              <a:spcAft>
                <a:spcPts val="400"/>
              </a:spcAft>
              <a:buSzPct val="100000"/>
              <a:buChar char="▪"/>
            </a:pPr>
            <a:r>
              <a:rPr lang="en-US" sz="1400" dirty="0">
                <a:solidFill>
                  <a:srgbClr val="1B2430"/>
                </a:solidFill>
                <a:latin typeface="Calibri" pitchFamily="34" charset="0"/>
                <a:ea typeface="Calibri" pitchFamily="34" charset="-122"/>
                <a:cs typeface="Calibri" pitchFamily="34" charset="-120"/>
              </a:rPr>
              <a:t>Cold start puede afectar SLA (Service Level Agreement, Acuerdo de Nivel de Servicio) en APIs criticas.</a:t>
            </a:r>
            <a:endParaRPr lang="en-US" sz="1400" dirty="0"/>
          </a:p>
          <a:p>
            <a:pPr marL="342900" indent="-342900">
              <a:spcAft>
                <a:spcPts val="400"/>
              </a:spcAft>
              <a:buSzPct val="100000"/>
              <a:buChar char="▪"/>
            </a:pPr>
            <a:r>
              <a:rPr lang="en-US" sz="1400" dirty="0">
                <a:solidFill>
                  <a:srgbClr val="1B2430"/>
                </a:solidFill>
                <a:latin typeface="Calibri" pitchFamily="34" charset="0"/>
                <a:ea typeface="Calibri" pitchFamily="34" charset="-122"/>
                <a:cs typeface="Calibri" pitchFamily="34" charset="-120"/>
              </a:rPr>
              <a:t>Depuracion mas dificil que en un servidor tradicional.</a:t>
            </a:r>
            <a:endParaRPr lang="en-US" sz="1400" dirty="0"/>
          </a:p>
          <a:p>
            <a:pPr marL="342900" indent="-342900">
              <a:buSzPct val="100000"/>
              <a:buChar char="▪"/>
            </a:pPr>
            <a:r>
              <a:rPr lang="en-US" sz="1400" dirty="0">
                <a:solidFill>
                  <a:srgbClr val="1B2430"/>
                </a:solidFill>
                <a:latin typeface="Calibri" pitchFamily="34" charset="0"/>
                <a:ea typeface="Calibri" pitchFamily="34" charset="-122"/>
                <a:cs typeface="Calibri" pitchFamily="34" charset="-120"/>
              </a:rPr>
              <a:t>Costos altos para cargas sostenidas y CPU-intensivas (mejor un contenedor).</a:t>
            </a:r>
            <a:endParaRPr lang="en-US" sz="1400" dirty="0"/>
          </a:p>
        </p:txBody>
      </p:sp>
      <p:sp>
        <p:nvSpPr>
          <p:cNvPr id="37" name="Shape 34"/>
          <p:cNvSpPr/>
          <p:nvPr/>
        </p:nvSpPr>
        <p:spPr>
          <a:xfrm>
            <a:off x="457200" y="6537960"/>
            <a:ext cx="11247120" cy="0"/>
          </a:xfrm>
          <a:prstGeom prst="line">
            <a:avLst/>
          </a:prstGeom>
          <a:noFill/>
          <a:ln w="9525">
            <a:solidFill>
              <a:srgbClr val="D9E1EA"/>
            </a:solidFill>
            <a:prstDash val="solid"/>
          </a:ln>
        </p:spPr>
      </p:sp>
      <p:sp>
        <p:nvSpPr>
          <p:cNvPr id="38" name="Text 35"/>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39" name="Text 36"/>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4.2.3   14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2E86A1"/>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4.2.4</a:t>
            </a:r>
            <a:endParaRPr lang="en-US" sz="20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Computacion en malla y computacion en el borde</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5623560" cy="5257800"/>
          </a:xfrm>
          <a:prstGeom prst="roundRect">
            <a:avLst>
              <a:gd name="adj" fmla="val 2609"/>
            </a:avLst>
          </a:prstGeom>
          <a:solidFill>
            <a:srgbClr val="F3F6FB"/>
          </a:solidFill>
          <a:ln w="9525">
            <a:solidFill>
              <a:srgbClr val="D9E1EA"/>
            </a:solidFill>
            <a:prstDash val="solid"/>
          </a:ln>
        </p:spPr>
      </p:sp>
      <p:sp>
        <p:nvSpPr>
          <p:cNvPr id="7" name="Shape 5"/>
          <p:cNvSpPr/>
          <p:nvPr/>
        </p:nvSpPr>
        <p:spPr>
          <a:xfrm>
            <a:off x="685800" y="1325880"/>
            <a:ext cx="5166360" cy="502920"/>
          </a:xfrm>
          <a:prstGeom prst="roundRect">
            <a:avLst>
              <a:gd name="adj" fmla="val 14545"/>
            </a:avLst>
          </a:prstGeom>
          <a:solidFill>
            <a:srgbClr val="0E3F7E"/>
          </a:solidFill>
          <a:ln/>
        </p:spPr>
      </p:sp>
      <p:sp>
        <p:nvSpPr>
          <p:cNvPr id="8" name="Text 6"/>
          <p:cNvSpPr/>
          <p:nvPr/>
        </p:nvSpPr>
        <p:spPr>
          <a:xfrm>
            <a:off x="685800" y="1325880"/>
            <a:ext cx="516636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Grid computing</a:t>
            </a:r>
            <a:endParaRPr lang="en-US" sz="1800" dirty="0"/>
          </a:p>
        </p:txBody>
      </p:sp>
      <p:sp>
        <p:nvSpPr>
          <p:cNvPr id="9" name="Text 7"/>
          <p:cNvSpPr/>
          <p:nvPr/>
        </p:nvSpPr>
        <p:spPr>
          <a:xfrm>
            <a:off x="731520" y="1920240"/>
            <a:ext cx="5074920" cy="274320"/>
          </a:xfrm>
          <a:prstGeom prst="rect">
            <a:avLst/>
          </a:prstGeom>
          <a:noFill/>
          <a:ln/>
        </p:spPr>
        <p:txBody>
          <a:bodyPr wrap="square" lIns="0" tIns="0" rIns="0" bIns="0" rtlCol="0" anchor="ctr"/>
          <a:lstStyle/>
          <a:p>
            <a:pPr marL="0" indent="0" algn="ctr">
              <a:buNone/>
            </a:pPr>
            <a:r>
              <a:rPr lang="en-US" sz="1400" i="1" dirty="0">
                <a:solidFill>
                  <a:srgbClr val="0E3F7E"/>
                </a:solidFill>
                <a:latin typeface="Calibri" pitchFamily="34" charset="0"/>
                <a:ea typeface="Calibri" pitchFamily="34" charset="-122"/>
                <a:cs typeface="Calibri" pitchFamily="34" charset="-120"/>
              </a:rPr>
              <a:t>(computacion en malla o en cuadricula)</a:t>
            </a:r>
            <a:endParaRPr lang="en-US" sz="1400" dirty="0"/>
          </a:p>
        </p:txBody>
      </p:sp>
      <p:sp>
        <p:nvSpPr>
          <p:cNvPr id="10" name="Text 8"/>
          <p:cNvSpPr/>
          <p:nvPr/>
        </p:nvSpPr>
        <p:spPr>
          <a:xfrm>
            <a:off x="731520" y="2240280"/>
            <a:ext cx="5074920" cy="77724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Federacion de recursos heterogeneos, geograficamente dispersos y administrados por organizaciones distintas, orquestados como una unica plataforma virtual.</a:t>
            </a:r>
            <a:endParaRPr lang="en-US" sz="1600" dirty="0"/>
          </a:p>
        </p:txBody>
      </p:sp>
      <p:sp>
        <p:nvSpPr>
          <p:cNvPr id="11" name="Text 9"/>
          <p:cNvSpPr/>
          <p:nvPr/>
        </p:nvSpPr>
        <p:spPr>
          <a:xfrm>
            <a:off x="777240" y="3108960"/>
            <a:ext cx="4983480" cy="2331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Origen cientifico: LHC-Grid (CERN), SETI@home, BOINC (Berkeley Open Infrastructure for Network Computing).</a:t>
            </a:r>
            <a:endParaRPr lang="en-US" sz="1400" dirty="0"/>
          </a:p>
          <a:p>
            <a:pPr marL="342900" indent="-3429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Uso oportunista de ciclos de CPU inactivos.</a:t>
            </a:r>
            <a:endParaRPr lang="en-US" sz="1400" dirty="0"/>
          </a:p>
          <a:p>
            <a:pPr marL="342900" indent="-3429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Autonomia administrativa: cada nodo mantiene su politica local.</a:t>
            </a:r>
            <a:endParaRPr lang="en-US" sz="1400" dirty="0"/>
          </a:p>
          <a:p>
            <a:pPr marL="342900" indent="-3429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Alta heterogeneidad: SO, hardware y redes distintas.</a:t>
            </a:r>
            <a:endParaRPr lang="en-US" sz="1400" dirty="0"/>
          </a:p>
          <a:p>
            <a:pPr marL="342900" indent="-3429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Estandares: OGSA (Open Grid Services Architecture), Globus Toolkit.</a:t>
            </a:r>
            <a:endParaRPr lang="en-US" sz="1400" dirty="0"/>
          </a:p>
        </p:txBody>
      </p:sp>
      <p:sp>
        <p:nvSpPr>
          <p:cNvPr id="12" name="Shape 10"/>
          <p:cNvSpPr/>
          <p:nvPr/>
        </p:nvSpPr>
        <p:spPr>
          <a:xfrm>
            <a:off x="731520" y="5577840"/>
            <a:ext cx="5074920" cy="731520"/>
          </a:xfrm>
          <a:prstGeom prst="roundRect">
            <a:avLst>
              <a:gd name="adj" fmla="val 10000"/>
            </a:avLst>
          </a:prstGeom>
          <a:solidFill>
            <a:srgbClr val="FFFFFF"/>
          </a:solidFill>
          <a:ln w="12700">
            <a:solidFill>
              <a:srgbClr val="0E3F7E"/>
            </a:solidFill>
            <a:prstDash val="solid"/>
          </a:ln>
        </p:spPr>
      </p:sp>
      <p:sp>
        <p:nvSpPr>
          <p:cNvPr id="13" name="Text 11"/>
          <p:cNvSpPr/>
          <p:nvPr/>
        </p:nvSpPr>
        <p:spPr>
          <a:xfrm>
            <a:off x="822960" y="5577840"/>
            <a:ext cx="4892040" cy="731520"/>
          </a:xfrm>
          <a:prstGeom prst="rect">
            <a:avLst/>
          </a:prstGeom>
          <a:noFill/>
          <a:ln/>
        </p:spPr>
        <p:txBody>
          <a:bodyPr wrap="square" lIns="0" tIns="0" rIns="0" bIns="0" rtlCol="0" anchor="ctr"/>
          <a:lstStyle/>
          <a:p>
            <a:pPr marL="0" indent="0">
              <a:buNone/>
            </a:pPr>
            <a:r>
              <a:rPr lang="en-US" sz="1400" b="1" i="1" dirty="0">
                <a:solidFill>
                  <a:srgbClr val="0E3F7E"/>
                </a:solidFill>
                <a:latin typeface="Calibri" pitchFamily="34" charset="0"/>
                <a:ea typeface="Calibri" pitchFamily="34" charset="-122"/>
                <a:cs typeface="Calibri" pitchFamily="34" charset="-120"/>
              </a:rPr>
              <a:t>Hoy: casos residuales en investigacion; muchos casos migraron a HPC-cloud y a Kubernetes federado.</a:t>
            </a:r>
            <a:endParaRPr lang="en-US" sz="1400" dirty="0"/>
          </a:p>
        </p:txBody>
      </p:sp>
      <p:sp>
        <p:nvSpPr>
          <p:cNvPr id="14" name="Shape 12"/>
          <p:cNvSpPr/>
          <p:nvPr/>
        </p:nvSpPr>
        <p:spPr>
          <a:xfrm>
            <a:off x="6172200" y="1143000"/>
            <a:ext cx="5532120" cy="5257800"/>
          </a:xfrm>
          <a:prstGeom prst="roundRect">
            <a:avLst>
              <a:gd name="adj" fmla="val 2609"/>
            </a:avLst>
          </a:prstGeom>
          <a:solidFill>
            <a:srgbClr val="E9F5EC"/>
          </a:solidFill>
          <a:ln w="9525">
            <a:solidFill>
              <a:srgbClr val="D9E1EA"/>
            </a:solidFill>
            <a:prstDash val="solid"/>
          </a:ln>
        </p:spPr>
      </p:sp>
      <p:sp>
        <p:nvSpPr>
          <p:cNvPr id="15" name="Shape 13"/>
          <p:cNvSpPr/>
          <p:nvPr/>
        </p:nvSpPr>
        <p:spPr>
          <a:xfrm>
            <a:off x="6400800" y="1325880"/>
            <a:ext cx="5074920" cy="502920"/>
          </a:xfrm>
          <a:prstGeom prst="roundRect">
            <a:avLst>
              <a:gd name="adj" fmla="val 14545"/>
            </a:avLst>
          </a:prstGeom>
          <a:solidFill>
            <a:srgbClr val="4FAE60"/>
          </a:solidFill>
          <a:ln/>
        </p:spPr>
      </p:sp>
      <p:sp>
        <p:nvSpPr>
          <p:cNvPr id="16" name="Text 14"/>
          <p:cNvSpPr/>
          <p:nvPr/>
        </p:nvSpPr>
        <p:spPr>
          <a:xfrm>
            <a:off x="6400800" y="1325880"/>
            <a:ext cx="5074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Edge computing</a:t>
            </a:r>
            <a:endParaRPr lang="en-US" sz="1800" dirty="0"/>
          </a:p>
        </p:txBody>
      </p:sp>
      <p:sp>
        <p:nvSpPr>
          <p:cNvPr id="17" name="Text 15"/>
          <p:cNvSpPr/>
          <p:nvPr/>
        </p:nvSpPr>
        <p:spPr>
          <a:xfrm>
            <a:off x="6446520" y="1920240"/>
            <a:ext cx="4983480" cy="274320"/>
          </a:xfrm>
          <a:prstGeom prst="rect">
            <a:avLst/>
          </a:prstGeom>
          <a:noFill/>
          <a:ln/>
        </p:spPr>
        <p:txBody>
          <a:bodyPr wrap="square" lIns="0" tIns="0" rIns="0" bIns="0" rtlCol="0" anchor="ctr"/>
          <a:lstStyle/>
          <a:p>
            <a:pPr marL="0" indent="0" algn="ctr">
              <a:buNone/>
            </a:pPr>
            <a:r>
              <a:rPr lang="en-US" sz="1400" i="1" dirty="0">
                <a:solidFill>
                  <a:srgbClr val="4FAE60"/>
                </a:solidFill>
                <a:latin typeface="Calibri" pitchFamily="34" charset="0"/>
                <a:ea typeface="Calibri" pitchFamily="34" charset="-122"/>
                <a:cs typeface="Calibri" pitchFamily="34" charset="-120"/>
              </a:rPr>
              <a:t>(computacion en el borde de la red)</a:t>
            </a:r>
            <a:endParaRPr lang="en-US" sz="1400" dirty="0"/>
          </a:p>
        </p:txBody>
      </p:sp>
      <p:sp>
        <p:nvSpPr>
          <p:cNvPr id="18" name="Text 16"/>
          <p:cNvSpPr/>
          <p:nvPr/>
        </p:nvSpPr>
        <p:spPr>
          <a:xfrm>
            <a:off x="6446520" y="2240280"/>
            <a:ext cx="4983480" cy="77724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Procesamiento cerca de la fuente de datos (dispositivos IoT, sensores, camaras, moviles) para reducir latencia y consumo de ancho de banda hacia la nube central.</a:t>
            </a:r>
            <a:endParaRPr lang="en-US" sz="1600" dirty="0"/>
          </a:p>
        </p:txBody>
      </p:sp>
      <p:sp>
        <p:nvSpPr>
          <p:cNvPr id="19" name="Text 17"/>
          <p:cNvSpPr/>
          <p:nvPr/>
        </p:nvSpPr>
        <p:spPr>
          <a:xfrm>
            <a:off x="6492240" y="3108960"/>
            <a:ext cx="4892040" cy="2331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Latencia baja: milisegundos, indispensable para vehiculos autonomos, salud remota y AR/VR (Realidad Aumentada / Realidad Virtual).</a:t>
            </a:r>
            <a:endParaRPr lang="en-US" sz="1400" dirty="0"/>
          </a:p>
          <a:p>
            <a:pPr marL="342900" indent="-3429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Ahorro de red: solo se envia lo relevante o agregado.</a:t>
            </a:r>
            <a:endParaRPr lang="en-US" sz="1400" dirty="0"/>
          </a:p>
          <a:p>
            <a:pPr marL="342900" indent="-3429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Privacidad: datos sensibles pueden no salir del sitio (edge medico).</a:t>
            </a:r>
            <a:endParaRPr lang="en-US" sz="1400" dirty="0"/>
          </a:p>
          <a:p>
            <a:pPr marL="342900" indent="-3429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Fog computing (computacion en niebla): capa intermedia entre edge y nube.</a:t>
            </a:r>
            <a:endParaRPr lang="en-US" sz="1400" dirty="0"/>
          </a:p>
          <a:p>
            <a:pPr marL="342900" indent="-3429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Plataformas: AWS Greengrass, Azure IoT Edge, Google Distributed Cloud Edge.</a:t>
            </a:r>
            <a:endParaRPr lang="en-US" sz="1400" dirty="0"/>
          </a:p>
        </p:txBody>
      </p:sp>
      <p:sp>
        <p:nvSpPr>
          <p:cNvPr id="20" name="Shape 18"/>
          <p:cNvSpPr/>
          <p:nvPr/>
        </p:nvSpPr>
        <p:spPr>
          <a:xfrm>
            <a:off x="6446520" y="5577840"/>
            <a:ext cx="4983480" cy="731520"/>
          </a:xfrm>
          <a:prstGeom prst="roundRect">
            <a:avLst>
              <a:gd name="adj" fmla="val 10000"/>
            </a:avLst>
          </a:prstGeom>
          <a:solidFill>
            <a:srgbClr val="FFFFFF"/>
          </a:solidFill>
          <a:ln w="12700">
            <a:solidFill>
              <a:srgbClr val="4FAE60"/>
            </a:solidFill>
            <a:prstDash val="solid"/>
          </a:ln>
        </p:spPr>
      </p:sp>
      <p:sp>
        <p:nvSpPr>
          <p:cNvPr id="21" name="Text 19"/>
          <p:cNvSpPr/>
          <p:nvPr/>
        </p:nvSpPr>
        <p:spPr>
          <a:xfrm>
            <a:off x="6537960" y="5577840"/>
            <a:ext cx="4800600" cy="731520"/>
          </a:xfrm>
          <a:prstGeom prst="rect">
            <a:avLst/>
          </a:prstGeom>
          <a:noFill/>
          <a:ln/>
        </p:spPr>
        <p:txBody>
          <a:bodyPr wrap="square" lIns="0" tIns="0" rIns="0" bIns="0" rtlCol="0" anchor="ctr"/>
          <a:lstStyle/>
          <a:p>
            <a:pPr marL="0" indent="0">
              <a:buNone/>
            </a:pPr>
            <a:r>
              <a:rPr lang="en-US" sz="1400" b="1" i="1" dirty="0">
                <a:solidFill>
                  <a:srgbClr val="4FAE60"/>
                </a:solidFill>
                <a:latin typeface="Calibri" pitchFamily="34" charset="0"/>
                <a:ea typeface="Calibri" pitchFamily="34" charset="-122"/>
                <a:cs typeface="Calibri" pitchFamily="34" charset="-120"/>
              </a:rPr>
              <a:t>Hoy: motor del 5G MEC (Multi-access Edge Computing) y de la IA embebida en camaras industriales.</a:t>
            </a:r>
            <a:endParaRPr lang="en-US" sz="1400" dirty="0"/>
          </a:p>
        </p:txBody>
      </p:sp>
      <p:sp>
        <p:nvSpPr>
          <p:cNvPr id="23" name="Shape 20"/>
          <p:cNvSpPr/>
          <p:nvPr/>
        </p:nvSpPr>
        <p:spPr>
          <a:xfrm>
            <a:off x="457200" y="6537960"/>
            <a:ext cx="11247120" cy="0"/>
          </a:xfrm>
          <a:prstGeom prst="line">
            <a:avLst/>
          </a:prstGeom>
          <a:noFill/>
          <a:ln w="9525">
            <a:solidFill>
              <a:srgbClr val="D9E1EA"/>
            </a:solidFill>
            <a:prstDash val="solid"/>
          </a:ln>
        </p:spPr>
      </p:sp>
      <p:sp>
        <p:nvSpPr>
          <p:cNvPr id="24" name="Text 21"/>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25" name="Text 22"/>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4.2.4   15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450"/>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FAE60"/>
          </a:solidFill>
          <a:ln/>
        </p:spPr>
      </p:sp>
      <p:sp>
        <p:nvSpPr>
          <p:cNvPr id="3" name="Shape 1"/>
          <p:cNvSpPr/>
          <p:nvPr/>
        </p:nvSpPr>
        <p:spPr>
          <a:xfrm>
            <a:off x="-1371600" y="-1371600"/>
            <a:ext cx="4572000" cy="4572000"/>
          </a:xfrm>
          <a:prstGeom prst="ellipse">
            <a:avLst/>
          </a:prstGeom>
          <a:solidFill>
            <a:srgbClr val="2E86A1">
              <a:alpha val="60000"/>
            </a:srgbClr>
          </a:solidFill>
          <a:ln/>
        </p:spPr>
      </p:sp>
      <p:sp>
        <p:nvSpPr>
          <p:cNvPr id="4" name="Shape 2"/>
          <p:cNvSpPr/>
          <p:nvPr/>
        </p:nvSpPr>
        <p:spPr>
          <a:xfrm>
            <a:off x="9144000" y="3200400"/>
            <a:ext cx="5029200" cy="5029200"/>
          </a:xfrm>
          <a:prstGeom prst="ellipse">
            <a:avLst/>
          </a:prstGeom>
          <a:solidFill>
            <a:srgbClr val="0E3F7E">
              <a:alpha val="60000"/>
            </a:srgbClr>
          </a:solidFill>
          <a:ln/>
        </p:spPr>
      </p:sp>
      <p:sp>
        <p:nvSpPr>
          <p:cNvPr id="5" name="Shape 3"/>
          <p:cNvSpPr/>
          <p:nvPr/>
        </p:nvSpPr>
        <p:spPr>
          <a:xfrm>
            <a:off x="914400" y="2377440"/>
            <a:ext cx="1828800" cy="640080"/>
          </a:xfrm>
          <a:prstGeom prst="roundRect">
            <a:avLst>
              <a:gd name="adj" fmla="val 21429"/>
            </a:avLst>
          </a:prstGeom>
          <a:solidFill>
            <a:srgbClr val="F2A413"/>
          </a:solidFill>
          <a:ln/>
        </p:spPr>
      </p:sp>
      <p:sp>
        <p:nvSpPr>
          <p:cNvPr id="6" name="Text 4"/>
          <p:cNvSpPr/>
          <p:nvPr/>
        </p:nvSpPr>
        <p:spPr>
          <a:xfrm>
            <a:off x="914400" y="2377440"/>
            <a:ext cx="1828800" cy="640080"/>
          </a:xfrm>
          <a:prstGeom prst="rect">
            <a:avLst/>
          </a:prstGeom>
          <a:noFill/>
          <a:ln/>
        </p:spPr>
        <p:txBody>
          <a:bodyPr wrap="square" lIns="0" tIns="0" rIns="0" bIns="0" rtlCol="0" anchor="ctr"/>
          <a:lstStyle/>
          <a:p>
            <a:pPr marL="0" indent="0" algn="ctr">
              <a:buNone/>
            </a:pPr>
            <a:r>
              <a:rPr lang="en-US" sz="1600" b="1" kern="0" spc="400" dirty="0">
                <a:solidFill>
                  <a:srgbClr val="0A2450"/>
                </a:solidFill>
                <a:latin typeface="Calibri" pitchFamily="34" charset="0"/>
                <a:ea typeface="Calibri" pitchFamily="34" charset="-122"/>
                <a:cs typeface="Calibri" pitchFamily="34" charset="-120"/>
              </a:rPr>
              <a:t>BLOQUE 4.3</a:t>
            </a:r>
            <a:endParaRPr lang="en-US" sz="1600" dirty="0"/>
          </a:p>
        </p:txBody>
      </p:sp>
      <p:sp>
        <p:nvSpPr>
          <p:cNvPr id="7" name="Text 5"/>
          <p:cNvSpPr/>
          <p:nvPr/>
        </p:nvSpPr>
        <p:spPr>
          <a:xfrm>
            <a:off x="914400" y="3108960"/>
            <a:ext cx="10515600" cy="91440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Procesamiento</a:t>
            </a:r>
            <a:endParaRPr lang="en-US" sz="5200" dirty="0"/>
          </a:p>
        </p:txBody>
      </p:sp>
      <p:sp>
        <p:nvSpPr>
          <p:cNvPr id="8" name="Text 6"/>
          <p:cNvSpPr/>
          <p:nvPr/>
        </p:nvSpPr>
        <p:spPr>
          <a:xfrm>
            <a:off x="914400" y="3840480"/>
            <a:ext cx="10515600" cy="91440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Distribuido de Datos</a:t>
            </a:r>
            <a:endParaRPr lang="en-US" sz="5200" dirty="0"/>
          </a:p>
        </p:txBody>
      </p:sp>
      <p:sp>
        <p:nvSpPr>
          <p:cNvPr id="9" name="Text 7"/>
          <p:cNvSpPr/>
          <p:nvPr/>
        </p:nvSpPr>
        <p:spPr>
          <a:xfrm>
            <a:off x="914400" y="4754880"/>
            <a:ext cx="10515600" cy="457200"/>
          </a:xfrm>
          <a:prstGeom prst="rect">
            <a:avLst/>
          </a:prstGeom>
          <a:noFill/>
          <a:ln/>
        </p:spPr>
        <p:txBody>
          <a:bodyPr wrap="square" lIns="0" tIns="0" rIns="0" bIns="0" rtlCol="0" anchor="ctr"/>
          <a:lstStyle/>
          <a:p>
            <a:pPr marL="0" indent="0">
              <a:buNone/>
            </a:pPr>
            <a:r>
              <a:rPr lang="en-US" sz="2000" i="1" dirty="0">
                <a:solidFill>
                  <a:srgbClr val="F2A413"/>
                </a:solidFill>
                <a:latin typeface="Cambria" pitchFamily="34" charset="0"/>
                <a:ea typeface="Cambria" pitchFamily="34" charset="-122"/>
                <a:cs typeface="Cambria" pitchFamily="34" charset="-120"/>
              </a:rPr>
              <a:t>De MapReduce al streaming en tiempo real</a:t>
            </a:r>
            <a:endParaRPr lang="en-US" sz="2000" dirty="0"/>
          </a:p>
        </p:txBody>
      </p:sp>
      <p:sp>
        <p:nvSpPr>
          <p:cNvPr id="11" name="Shape 8"/>
          <p:cNvSpPr/>
          <p:nvPr/>
        </p:nvSpPr>
        <p:spPr>
          <a:xfrm>
            <a:off x="457200" y="6537960"/>
            <a:ext cx="11247120" cy="0"/>
          </a:xfrm>
          <a:prstGeom prst="line">
            <a:avLst/>
          </a:prstGeom>
          <a:noFill/>
          <a:ln w="9525">
            <a:solidFill>
              <a:srgbClr val="D9E1EA"/>
            </a:solidFill>
            <a:prstDash val="solid"/>
          </a:ln>
        </p:spPr>
      </p:sp>
      <p:sp>
        <p:nvSpPr>
          <p:cNvPr id="12" name="Text 9"/>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13" name="Text 10"/>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Divisor 4.3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4FAE60"/>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4.3.1</a:t>
            </a:r>
            <a:endParaRPr lang="en-US" sz="2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Paradigma MapReduce</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11247120" cy="822960"/>
          </a:xfrm>
          <a:prstGeom prst="roundRect">
            <a:avLst>
              <a:gd name="adj" fmla="val 11111"/>
            </a:avLst>
          </a:prstGeom>
          <a:solidFill>
            <a:srgbClr val="E9F5EC"/>
          </a:solidFill>
          <a:ln/>
        </p:spPr>
      </p:sp>
      <p:sp>
        <p:nvSpPr>
          <p:cNvPr id="7" name="Text 5"/>
          <p:cNvSpPr/>
          <p:nvPr/>
        </p:nvSpPr>
        <p:spPr>
          <a:xfrm>
            <a:off x="640080" y="1143000"/>
            <a:ext cx="10881360" cy="822960"/>
          </a:xfrm>
          <a:prstGeom prst="rect">
            <a:avLst/>
          </a:prstGeom>
          <a:noFill/>
          <a:ln/>
        </p:spPr>
        <p:txBody>
          <a:bodyPr wrap="square" lIns="0" tIns="0" rIns="0" bIns="0" rtlCol="0" anchor="ctr"/>
          <a:lstStyle/>
          <a:p>
            <a:pPr marL="0" indent="0">
              <a:buNone/>
            </a:pPr>
            <a:r>
              <a:rPr lang="en-US" sz="1600" b="1" dirty="0">
                <a:solidFill>
                  <a:srgbClr val="4FAE60"/>
                </a:solidFill>
                <a:latin typeface="Cambria" pitchFamily="34" charset="0"/>
                <a:ea typeface="Cambria" pitchFamily="34" charset="-122"/>
                <a:cs typeface="Cambria" pitchFamily="34" charset="-120"/>
              </a:rPr>
              <a:t>MapReduce (mapear y reducir): </a:t>
            </a:r>
            <a:r>
              <a:rPr lang="en-US" sz="1600" dirty="0">
                <a:solidFill>
                  <a:srgbClr val="1B2430"/>
                </a:solidFill>
                <a:latin typeface="Calibri" pitchFamily="34" charset="0"/>
                <a:ea typeface="Calibri" pitchFamily="34" charset="-122"/>
                <a:cs typeface="Calibri" pitchFamily="34" charset="-120"/>
              </a:rPr>
              <a:t>modelo de programacion propuesto por Google (2004) para procesar terabytes o petabytes de datos en clusters de miles de computadoras commodity (economicas). El programador escribe dos funciones puras: </a:t>
            </a:r>
            <a:r>
              <a:rPr lang="en-US" sz="1600" b="1" dirty="0">
                <a:solidFill>
                  <a:srgbClr val="0E3F7E"/>
                </a:solidFill>
                <a:latin typeface="Courier New" pitchFamily="34" charset="0"/>
                <a:ea typeface="Courier New" pitchFamily="34" charset="-122"/>
                <a:cs typeface="Courier New" pitchFamily="34" charset="-120"/>
              </a:rPr>
              <a:t>map </a:t>
            </a:r>
            <a:r>
              <a:rPr lang="en-US" sz="1600" dirty="0">
                <a:solidFill>
                  <a:srgbClr val="1B2430"/>
                </a:solidFill>
                <a:latin typeface="Calibri" pitchFamily="34" charset="0"/>
                <a:ea typeface="Calibri" pitchFamily="34" charset="-122"/>
                <a:cs typeface="Calibri" pitchFamily="34" charset="-120"/>
              </a:rPr>
              <a:t>y </a:t>
            </a:r>
            <a:r>
              <a:rPr lang="en-US" sz="1600" b="1" dirty="0">
                <a:solidFill>
                  <a:srgbClr val="0E3F7E"/>
                </a:solidFill>
                <a:latin typeface="Courier New" pitchFamily="34" charset="0"/>
                <a:ea typeface="Courier New" pitchFamily="34" charset="-122"/>
                <a:cs typeface="Courier New" pitchFamily="34" charset="-120"/>
              </a:rPr>
              <a:t>reduce</a:t>
            </a:r>
            <a:r>
              <a:rPr lang="en-US" sz="1600" dirty="0">
                <a:solidFill>
                  <a:srgbClr val="1B2430"/>
                </a:solidFill>
                <a:latin typeface="Calibri" pitchFamily="34" charset="0"/>
                <a:ea typeface="Calibri" pitchFamily="34" charset="-122"/>
                <a:cs typeface="Calibri" pitchFamily="34" charset="-120"/>
              </a:rPr>
              <a:t>; el framework se encarga del resto.</a:t>
            </a:r>
            <a:endParaRPr lang="en-US" sz="1600" dirty="0"/>
          </a:p>
        </p:txBody>
      </p:sp>
      <p:sp>
        <p:nvSpPr>
          <p:cNvPr id="8" name="Text 6"/>
          <p:cNvSpPr/>
          <p:nvPr/>
        </p:nvSpPr>
        <p:spPr>
          <a:xfrm>
            <a:off x="457200" y="2103120"/>
            <a:ext cx="11247120" cy="320040"/>
          </a:xfrm>
          <a:prstGeom prst="rect">
            <a:avLst/>
          </a:prstGeom>
          <a:noFill/>
          <a:ln/>
        </p:spPr>
        <p:txBody>
          <a:bodyPr wrap="square" lIns="0" tIns="0" rIns="0" bIns="0" rtlCol="0" anchor="ctr"/>
          <a:lstStyle/>
          <a:p>
            <a:pPr marL="0" indent="0" algn="ctr">
              <a:buNone/>
            </a:pPr>
            <a:r>
              <a:rPr lang="en-US" b="1" dirty="0">
                <a:solidFill>
                  <a:srgbClr val="0E3F7E"/>
                </a:solidFill>
                <a:latin typeface="Cambria" pitchFamily="34" charset="0"/>
                <a:ea typeface="Cambria" pitchFamily="34" charset="-122"/>
                <a:cs typeface="Cambria" pitchFamily="34" charset="-120"/>
              </a:rPr>
              <a:t>Flujo del procesamiento</a:t>
            </a:r>
            <a:endParaRPr lang="en-US" dirty="0"/>
          </a:p>
        </p:txBody>
      </p:sp>
      <p:sp>
        <p:nvSpPr>
          <p:cNvPr id="9" name="Shape 7"/>
          <p:cNvSpPr/>
          <p:nvPr/>
        </p:nvSpPr>
        <p:spPr>
          <a:xfrm>
            <a:off x="457200" y="2560320"/>
            <a:ext cx="2121408" cy="1828800"/>
          </a:xfrm>
          <a:prstGeom prst="roundRect">
            <a:avLst>
              <a:gd name="adj" fmla="val 6000"/>
            </a:avLst>
          </a:prstGeom>
          <a:solidFill>
            <a:srgbClr val="F3F6FB"/>
          </a:solidFill>
          <a:ln w="12700">
            <a:solidFill>
              <a:srgbClr val="4FAE60"/>
            </a:solidFill>
            <a:prstDash val="solid"/>
          </a:ln>
        </p:spPr>
      </p:sp>
      <p:sp>
        <p:nvSpPr>
          <p:cNvPr id="10" name="Shape 8"/>
          <p:cNvSpPr/>
          <p:nvPr/>
        </p:nvSpPr>
        <p:spPr>
          <a:xfrm>
            <a:off x="1197864" y="2697480"/>
            <a:ext cx="640080" cy="640080"/>
          </a:xfrm>
          <a:prstGeom prst="ellipse">
            <a:avLst/>
          </a:prstGeom>
          <a:solidFill>
            <a:srgbClr val="4FAE60"/>
          </a:solidFill>
          <a:ln/>
        </p:spPr>
      </p:sp>
      <p:sp>
        <p:nvSpPr>
          <p:cNvPr id="11" name="Text 9"/>
          <p:cNvSpPr/>
          <p:nvPr/>
        </p:nvSpPr>
        <p:spPr>
          <a:xfrm>
            <a:off x="1197864" y="2697480"/>
            <a:ext cx="64008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2" name="Text 10"/>
          <p:cNvSpPr/>
          <p:nvPr/>
        </p:nvSpPr>
        <p:spPr>
          <a:xfrm>
            <a:off x="548640" y="3383280"/>
            <a:ext cx="1938528"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mbria" pitchFamily="34" charset="0"/>
                <a:ea typeface="Cambria" pitchFamily="34" charset="-122"/>
                <a:cs typeface="Cambria" pitchFamily="34" charset="-120"/>
              </a:rPr>
              <a:t>Input Split</a:t>
            </a:r>
            <a:endParaRPr lang="en-US" sz="1600" dirty="0"/>
          </a:p>
        </p:txBody>
      </p:sp>
      <p:sp>
        <p:nvSpPr>
          <p:cNvPr id="13" name="Text 11"/>
          <p:cNvSpPr/>
          <p:nvPr/>
        </p:nvSpPr>
        <p:spPr>
          <a:xfrm>
            <a:off x="594360" y="3749040"/>
            <a:ext cx="1847088" cy="594360"/>
          </a:xfrm>
          <a:prstGeom prst="rect">
            <a:avLst/>
          </a:prstGeom>
          <a:noFill/>
          <a:ln/>
        </p:spPr>
        <p:txBody>
          <a:bodyPr wrap="square" lIns="0" tIns="0" rIns="0" bIns="0" rtlCol="0" anchor="t"/>
          <a:lstStyle/>
          <a:p>
            <a:pPr marL="0" indent="0" algn="ctr">
              <a:buNone/>
            </a:pPr>
            <a:r>
              <a:rPr lang="en-US" sz="1100" dirty="0">
                <a:solidFill>
                  <a:srgbClr val="1B2430"/>
                </a:solidFill>
                <a:latin typeface="Calibri" pitchFamily="34" charset="0"/>
                <a:ea typeface="Calibri" pitchFamily="34" charset="-122"/>
                <a:cs typeface="Calibri" pitchFamily="34" charset="-120"/>
              </a:rPr>
              <a:t>Datos divididos en bloques (splits) de 64 - 128 MB.</a:t>
            </a:r>
            <a:endParaRPr lang="en-US" sz="1100" dirty="0"/>
          </a:p>
        </p:txBody>
      </p:sp>
      <p:sp>
        <p:nvSpPr>
          <p:cNvPr id="14" name="Shape 12"/>
          <p:cNvSpPr/>
          <p:nvPr/>
        </p:nvSpPr>
        <p:spPr>
          <a:xfrm>
            <a:off x="2715768" y="2560320"/>
            <a:ext cx="2121408" cy="1828800"/>
          </a:xfrm>
          <a:prstGeom prst="roundRect">
            <a:avLst>
              <a:gd name="adj" fmla="val 6000"/>
            </a:avLst>
          </a:prstGeom>
          <a:solidFill>
            <a:srgbClr val="F3F6FB"/>
          </a:solidFill>
          <a:ln w="12700">
            <a:solidFill>
              <a:srgbClr val="4FAE60"/>
            </a:solidFill>
            <a:prstDash val="solid"/>
          </a:ln>
        </p:spPr>
      </p:sp>
      <p:sp>
        <p:nvSpPr>
          <p:cNvPr id="15" name="Shape 13"/>
          <p:cNvSpPr/>
          <p:nvPr/>
        </p:nvSpPr>
        <p:spPr>
          <a:xfrm>
            <a:off x="3456432" y="2697480"/>
            <a:ext cx="640080" cy="640080"/>
          </a:xfrm>
          <a:prstGeom prst="ellipse">
            <a:avLst/>
          </a:prstGeom>
          <a:solidFill>
            <a:srgbClr val="4FAE60"/>
          </a:solidFill>
          <a:ln/>
        </p:spPr>
      </p:sp>
      <p:sp>
        <p:nvSpPr>
          <p:cNvPr id="16" name="Text 14"/>
          <p:cNvSpPr/>
          <p:nvPr/>
        </p:nvSpPr>
        <p:spPr>
          <a:xfrm>
            <a:off x="3456432" y="2697480"/>
            <a:ext cx="64008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7" name="Text 15"/>
          <p:cNvSpPr/>
          <p:nvPr/>
        </p:nvSpPr>
        <p:spPr>
          <a:xfrm>
            <a:off x="2807208" y="3383280"/>
            <a:ext cx="1938528"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mbria" pitchFamily="34" charset="0"/>
                <a:ea typeface="Cambria" pitchFamily="34" charset="-122"/>
                <a:cs typeface="Cambria" pitchFamily="34" charset="-120"/>
              </a:rPr>
              <a:t>Map</a:t>
            </a:r>
            <a:endParaRPr lang="en-US" sz="1600" dirty="0"/>
          </a:p>
        </p:txBody>
      </p:sp>
      <p:sp>
        <p:nvSpPr>
          <p:cNvPr id="18" name="Text 16"/>
          <p:cNvSpPr/>
          <p:nvPr/>
        </p:nvSpPr>
        <p:spPr>
          <a:xfrm>
            <a:off x="2852928" y="3749040"/>
            <a:ext cx="1847088" cy="594360"/>
          </a:xfrm>
          <a:prstGeom prst="rect">
            <a:avLst/>
          </a:prstGeom>
          <a:noFill/>
          <a:ln/>
        </p:spPr>
        <p:txBody>
          <a:bodyPr wrap="square" lIns="0" tIns="0" rIns="0" bIns="0" rtlCol="0" anchor="t"/>
          <a:lstStyle/>
          <a:p>
            <a:pPr marL="0" indent="0" algn="ctr">
              <a:buNone/>
            </a:pPr>
            <a:r>
              <a:rPr lang="en-US" sz="1100" dirty="0">
                <a:solidFill>
                  <a:srgbClr val="1B2430"/>
                </a:solidFill>
                <a:latin typeface="Calibri" pitchFamily="34" charset="0"/>
                <a:ea typeface="Calibri" pitchFamily="34" charset="-122"/>
                <a:cs typeface="Calibri" pitchFamily="34" charset="-120"/>
              </a:rPr>
              <a:t>Se aplica f(k1, v1) que emite pares intermedios (k2, v2).</a:t>
            </a:r>
            <a:endParaRPr lang="en-US" sz="1100" dirty="0"/>
          </a:p>
        </p:txBody>
      </p:sp>
      <p:sp>
        <p:nvSpPr>
          <p:cNvPr id="19" name="Shape 17"/>
          <p:cNvSpPr/>
          <p:nvPr/>
        </p:nvSpPr>
        <p:spPr>
          <a:xfrm>
            <a:off x="4974336" y="2560320"/>
            <a:ext cx="2121408" cy="1828800"/>
          </a:xfrm>
          <a:prstGeom prst="roundRect">
            <a:avLst>
              <a:gd name="adj" fmla="val 6000"/>
            </a:avLst>
          </a:prstGeom>
          <a:solidFill>
            <a:srgbClr val="F3F6FB"/>
          </a:solidFill>
          <a:ln w="12700">
            <a:solidFill>
              <a:srgbClr val="4FAE60"/>
            </a:solidFill>
            <a:prstDash val="solid"/>
          </a:ln>
        </p:spPr>
      </p:sp>
      <p:sp>
        <p:nvSpPr>
          <p:cNvPr id="20" name="Shape 18"/>
          <p:cNvSpPr/>
          <p:nvPr/>
        </p:nvSpPr>
        <p:spPr>
          <a:xfrm>
            <a:off x="5715000" y="2697480"/>
            <a:ext cx="640080" cy="640080"/>
          </a:xfrm>
          <a:prstGeom prst="ellipse">
            <a:avLst/>
          </a:prstGeom>
          <a:solidFill>
            <a:srgbClr val="4FAE60"/>
          </a:solidFill>
          <a:ln/>
        </p:spPr>
      </p:sp>
      <p:sp>
        <p:nvSpPr>
          <p:cNvPr id="21" name="Text 19"/>
          <p:cNvSpPr/>
          <p:nvPr/>
        </p:nvSpPr>
        <p:spPr>
          <a:xfrm>
            <a:off x="5715000" y="2697480"/>
            <a:ext cx="64008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2" name="Text 20"/>
          <p:cNvSpPr/>
          <p:nvPr/>
        </p:nvSpPr>
        <p:spPr>
          <a:xfrm>
            <a:off x="5065776" y="3383280"/>
            <a:ext cx="1938528"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mbria" pitchFamily="34" charset="0"/>
                <a:ea typeface="Cambria" pitchFamily="34" charset="-122"/>
                <a:cs typeface="Cambria" pitchFamily="34" charset="-120"/>
              </a:rPr>
              <a:t>Shuffle &amp; Sort</a:t>
            </a:r>
            <a:endParaRPr lang="en-US" sz="1600" dirty="0"/>
          </a:p>
        </p:txBody>
      </p:sp>
      <p:sp>
        <p:nvSpPr>
          <p:cNvPr id="23" name="Text 21"/>
          <p:cNvSpPr/>
          <p:nvPr/>
        </p:nvSpPr>
        <p:spPr>
          <a:xfrm>
            <a:off x="5111496" y="3749040"/>
            <a:ext cx="1847088" cy="594360"/>
          </a:xfrm>
          <a:prstGeom prst="rect">
            <a:avLst/>
          </a:prstGeom>
          <a:noFill/>
          <a:ln/>
        </p:spPr>
        <p:txBody>
          <a:bodyPr wrap="square" lIns="0" tIns="0" rIns="0" bIns="0" rtlCol="0" anchor="t"/>
          <a:lstStyle/>
          <a:p>
            <a:pPr marL="0" indent="0" algn="ctr">
              <a:buNone/>
            </a:pPr>
            <a:r>
              <a:rPr lang="en-US" sz="1100" dirty="0">
                <a:solidFill>
                  <a:srgbClr val="1B2430"/>
                </a:solidFill>
                <a:latin typeface="Calibri" pitchFamily="34" charset="0"/>
                <a:ea typeface="Calibri" pitchFamily="34" charset="-122"/>
                <a:cs typeface="Calibri" pitchFamily="34" charset="-120"/>
              </a:rPr>
              <a:t>Agrupa por clave k2 y ordena; fase que domina el tiempo.</a:t>
            </a:r>
            <a:endParaRPr lang="en-US" sz="1100" dirty="0"/>
          </a:p>
        </p:txBody>
      </p:sp>
      <p:sp>
        <p:nvSpPr>
          <p:cNvPr id="24" name="Shape 22"/>
          <p:cNvSpPr/>
          <p:nvPr/>
        </p:nvSpPr>
        <p:spPr>
          <a:xfrm>
            <a:off x="7232904" y="2560320"/>
            <a:ext cx="2121408" cy="1828800"/>
          </a:xfrm>
          <a:prstGeom prst="roundRect">
            <a:avLst>
              <a:gd name="adj" fmla="val 6000"/>
            </a:avLst>
          </a:prstGeom>
          <a:solidFill>
            <a:srgbClr val="F3F6FB"/>
          </a:solidFill>
          <a:ln w="12700">
            <a:solidFill>
              <a:srgbClr val="4FAE60"/>
            </a:solidFill>
            <a:prstDash val="solid"/>
          </a:ln>
        </p:spPr>
      </p:sp>
      <p:sp>
        <p:nvSpPr>
          <p:cNvPr id="25" name="Shape 23"/>
          <p:cNvSpPr/>
          <p:nvPr/>
        </p:nvSpPr>
        <p:spPr>
          <a:xfrm>
            <a:off x="7973568" y="2697480"/>
            <a:ext cx="640080" cy="640080"/>
          </a:xfrm>
          <a:prstGeom prst="ellipse">
            <a:avLst/>
          </a:prstGeom>
          <a:solidFill>
            <a:srgbClr val="4FAE60"/>
          </a:solidFill>
          <a:ln/>
        </p:spPr>
      </p:sp>
      <p:sp>
        <p:nvSpPr>
          <p:cNvPr id="26" name="Text 24"/>
          <p:cNvSpPr/>
          <p:nvPr/>
        </p:nvSpPr>
        <p:spPr>
          <a:xfrm>
            <a:off x="7973568" y="2697480"/>
            <a:ext cx="64008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27" name="Text 25"/>
          <p:cNvSpPr/>
          <p:nvPr/>
        </p:nvSpPr>
        <p:spPr>
          <a:xfrm>
            <a:off x="7324344" y="3383280"/>
            <a:ext cx="1938528"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mbria" pitchFamily="34" charset="0"/>
                <a:ea typeface="Cambria" pitchFamily="34" charset="-122"/>
                <a:cs typeface="Cambria" pitchFamily="34" charset="-120"/>
              </a:rPr>
              <a:t>Reduce</a:t>
            </a:r>
            <a:endParaRPr lang="en-US" sz="1600" dirty="0"/>
          </a:p>
        </p:txBody>
      </p:sp>
      <p:sp>
        <p:nvSpPr>
          <p:cNvPr id="28" name="Text 26"/>
          <p:cNvSpPr/>
          <p:nvPr/>
        </p:nvSpPr>
        <p:spPr>
          <a:xfrm>
            <a:off x="7370064" y="3749040"/>
            <a:ext cx="1847088" cy="594360"/>
          </a:xfrm>
          <a:prstGeom prst="rect">
            <a:avLst/>
          </a:prstGeom>
          <a:noFill/>
          <a:ln/>
        </p:spPr>
        <p:txBody>
          <a:bodyPr wrap="square" lIns="0" tIns="0" rIns="0" bIns="0" rtlCol="0" anchor="t"/>
          <a:lstStyle/>
          <a:p>
            <a:pPr marL="0" indent="0" algn="ctr">
              <a:buNone/>
            </a:pPr>
            <a:r>
              <a:rPr lang="en-US" sz="1100" dirty="0">
                <a:solidFill>
                  <a:srgbClr val="1B2430"/>
                </a:solidFill>
                <a:latin typeface="Calibri" pitchFamily="34" charset="0"/>
                <a:ea typeface="Calibri" pitchFamily="34" charset="-122"/>
                <a:cs typeface="Calibri" pitchFamily="34" charset="-120"/>
              </a:rPr>
              <a:t>g(k2, list(v2)) produce el resultado agregado (k3, v3).</a:t>
            </a:r>
            <a:endParaRPr lang="en-US" sz="1100" dirty="0"/>
          </a:p>
        </p:txBody>
      </p:sp>
      <p:sp>
        <p:nvSpPr>
          <p:cNvPr id="29" name="Shape 27"/>
          <p:cNvSpPr/>
          <p:nvPr/>
        </p:nvSpPr>
        <p:spPr>
          <a:xfrm>
            <a:off x="9491472" y="2560320"/>
            <a:ext cx="2121408" cy="1828800"/>
          </a:xfrm>
          <a:prstGeom prst="roundRect">
            <a:avLst>
              <a:gd name="adj" fmla="val 6000"/>
            </a:avLst>
          </a:prstGeom>
          <a:solidFill>
            <a:srgbClr val="F3F6FB"/>
          </a:solidFill>
          <a:ln w="12700">
            <a:solidFill>
              <a:srgbClr val="4FAE60"/>
            </a:solidFill>
            <a:prstDash val="solid"/>
          </a:ln>
        </p:spPr>
      </p:sp>
      <p:sp>
        <p:nvSpPr>
          <p:cNvPr id="30" name="Shape 28"/>
          <p:cNvSpPr/>
          <p:nvPr/>
        </p:nvSpPr>
        <p:spPr>
          <a:xfrm>
            <a:off x="10232136" y="2697480"/>
            <a:ext cx="640080" cy="640080"/>
          </a:xfrm>
          <a:prstGeom prst="ellipse">
            <a:avLst/>
          </a:prstGeom>
          <a:solidFill>
            <a:srgbClr val="4FAE60"/>
          </a:solidFill>
          <a:ln/>
        </p:spPr>
      </p:sp>
      <p:sp>
        <p:nvSpPr>
          <p:cNvPr id="31" name="Text 29"/>
          <p:cNvSpPr/>
          <p:nvPr/>
        </p:nvSpPr>
        <p:spPr>
          <a:xfrm>
            <a:off x="10232136" y="2697480"/>
            <a:ext cx="64008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5</a:t>
            </a:r>
            <a:endParaRPr lang="en-US" sz="2800" dirty="0"/>
          </a:p>
        </p:txBody>
      </p:sp>
      <p:sp>
        <p:nvSpPr>
          <p:cNvPr id="32" name="Text 30"/>
          <p:cNvSpPr/>
          <p:nvPr/>
        </p:nvSpPr>
        <p:spPr>
          <a:xfrm>
            <a:off x="9582912" y="3383280"/>
            <a:ext cx="1938528" cy="365760"/>
          </a:xfrm>
          <a:prstGeom prst="rect">
            <a:avLst/>
          </a:prstGeom>
          <a:noFill/>
          <a:ln/>
        </p:spPr>
        <p:txBody>
          <a:bodyPr wrap="square" lIns="0" tIns="0" rIns="0" bIns="0" rtlCol="0" anchor="ctr"/>
          <a:lstStyle/>
          <a:p>
            <a:pPr marL="0" indent="0" algn="ctr">
              <a:buNone/>
            </a:pPr>
            <a:r>
              <a:rPr lang="en-US" sz="1600" b="1" dirty="0">
                <a:solidFill>
                  <a:srgbClr val="0E3F7E"/>
                </a:solidFill>
                <a:latin typeface="Cambria" pitchFamily="34" charset="0"/>
                <a:ea typeface="Cambria" pitchFamily="34" charset="-122"/>
                <a:cs typeface="Cambria" pitchFamily="34" charset="-120"/>
              </a:rPr>
              <a:t>Output</a:t>
            </a:r>
            <a:endParaRPr lang="en-US" sz="1600" dirty="0"/>
          </a:p>
        </p:txBody>
      </p:sp>
      <p:sp>
        <p:nvSpPr>
          <p:cNvPr id="33" name="Text 31"/>
          <p:cNvSpPr/>
          <p:nvPr/>
        </p:nvSpPr>
        <p:spPr>
          <a:xfrm>
            <a:off x="9628632" y="3749040"/>
            <a:ext cx="1847088" cy="594360"/>
          </a:xfrm>
          <a:prstGeom prst="rect">
            <a:avLst/>
          </a:prstGeom>
          <a:noFill/>
          <a:ln/>
        </p:spPr>
        <p:txBody>
          <a:bodyPr wrap="square" lIns="0" tIns="0" rIns="0" bIns="0" rtlCol="0" anchor="t"/>
          <a:lstStyle/>
          <a:p>
            <a:pPr marL="0" indent="0" algn="ctr">
              <a:buNone/>
            </a:pPr>
            <a:r>
              <a:rPr lang="en-US" sz="1100" dirty="0">
                <a:solidFill>
                  <a:srgbClr val="1B2430"/>
                </a:solidFill>
                <a:latin typeface="Calibri" pitchFamily="34" charset="0"/>
                <a:ea typeface="Calibri" pitchFamily="34" charset="-122"/>
                <a:cs typeface="Calibri" pitchFamily="34" charset="-120"/>
              </a:rPr>
              <a:t>Se escribe en el sistema de archivos distribuido (HDFS, S3).</a:t>
            </a:r>
            <a:endParaRPr lang="en-US" sz="1100" dirty="0"/>
          </a:p>
        </p:txBody>
      </p:sp>
      <p:sp>
        <p:nvSpPr>
          <p:cNvPr id="34" name="Shape 32"/>
          <p:cNvSpPr/>
          <p:nvPr/>
        </p:nvSpPr>
        <p:spPr>
          <a:xfrm>
            <a:off x="457200" y="4572000"/>
            <a:ext cx="11247120" cy="1828800"/>
          </a:xfrm>
          <a:prstGeom prst="roundRect">
            <a:avLst>
              <a:gd name="adj" fmla="val 6000"/>
            </a:avLst>
          </a:prstGeom>
          <a:solidFill>
            <a:srgbClr val="FFFFFF"/>
          </a:solidFill>
          <a:ln w="9525">
            <a:solidFill>
              <a:srgbClr val="D9E1EA"/>
            </a:solidFill>
            <a:prstDash val="solid"/>
          </a:ln>
        </p:spPr>
      </p:sp>
      <p:sp>
        <p:nvSpPr>
          <p:cNvPr id="35" name="Text 33"/>
          <p:cNvSpPr/>
          <p:nvPr/>
        </p:nvSpPr>
        <p:spPr>
          <a:xfrm>
            <a:off x="640080" y="4663440"/>
            <a:ext cx="10881360" cy="365760"/>
          </a:xfrm>
          <a:prstGeom prst="rect">
            <a:avLst/>
          </a:prstGeom>
          <a:noFill/>
          <a:ln/>
        </p:spPr>
        <p:txBody>
          <a:bodyPr wrap="square" lIns="0" tIns="0" rIns="0" bIns="0" rtlCol="0" anchor="ctr"/>
          <a:lstStyle/>
          <a:p>
            <a:pPr marL="0" indent="0">
              <a:buNone/>
            </a:pPr>
            <a:r>
              <a:rPr lang="en-US" b="1" dirty="0">
                <a:solidFill>
                  <a:srgbClr val="0E3F7E"/>
                </a:solidFill>
                <a:latin typeface="Cambria" pitchFamily="34" charset="0"/>
                <a:ea typeface="Cambria" pitchFamily="34" charset="-122"/>
                <a:cs typeface="Cambria" pitchFamily="34" charset="-120"/>
              </a:rPr>
              <a:t>WordCount: el Hola Mundo de MapReduce</a:t>
            </a:r>
            <a:endParaRPr lang="en-US" dirty="0"/>
          </a:p>
        </p:txBody>
      </p:sp>
      <p:sp>
        <p:nvSpPr>
          <p:cNvPr id="36" name="Text 34"/>
          <p:cNvSpPr/>
          <p:nvPr/>
        </p:nvSpPr>
        <p:spPr>
          <a:xfrm>
            <a:off x="640080" y="5029200"/>
            <a:ext cx="10881360" cy="1280160"/>
          </a:xfrm>
          <a:prstGeom prst="rect">
            <a:avLst/>
          </a:prstGeom>
          <a:noFill/>
          <a:ln/>
        </p:spPr>
        <p:txBody>
          <a:bodyPr wrap="square" lIns="0" tIns="0" rIns="0" bIns="0" rtlCol="0" anchor="t"/>
          <a:lstStyle/>
          <a:p>
            <a:pPr marL="0" indent="0">
              <a:spcAft>
                <a:spcPts val="400"/>
              </a:spcAft>
              <a:buNone/>
            </a:pPr>
            <a:r>
              <a:rPr lang="en-US" sz="1600" b="1" dirty="0">
                <a:solidFill>
                  <a:srgbClr val="4FAE60"/>
                </a:solidFill>
                <a:latin typeface="Courier New" pitchFamily="34" charset="0"/>
                <a:ea typeface="Courier New" pitchFamily="34" charset="-122"/>
                <a:cs typeface="Courier New" pitchFamily="34" charset="-120"/>
              </a:rPr>
              <a:t>map(linea)     -&gt; for each palabra in linea: emit(palabra, 1)</a:t>
            </a:r>
            <a:endParaRPr lang="en-US" sz="1600" dirty="0"/>
          </a:p>
          <a:p>
            <a:pPr marL="0" indent="0">
              <a:spcAft>
                <a:spcPts val="600"/>
              </a:spcAft>
              <a:buNone/>
            </a:pPr>
            <a:r>
              <a:rPr lang="en-US" sz="1600" b="1" dirty="0">
                <a:solidFill>
                  <a:srgbClr val="2E86A1"/>
                </a:solidFill>
                <a:latin typeface="Courier New" pitchFamily="34" charset="0"/>
                <a:ea typeface="Courier New" pitchFamily="34" charset="-122"/>
                <a:cs typeface="Courier New" pitchFamily="34" charset="-120"/>
              </a:rPr>
              <a:t>reduce(palabra, lista_de_unos) -&gt; emit(palabra, sum(lista_de_unos))</a:t>
            </a:r>
            <a:endParaRPr lang="en-US" sz="1600" dirty="0"/>
          </a:p>
          <a:p>
            <a:pPr marL="0" indent="0">
              <a:buNone/>
            </a:pPr>
            <a:r>
              <a:rPr lang="en-US" sz="1600" i="1" dirty="0">
                <a:solidFill>
                  <a:srgbClr val="1B2430"/>
                </a:solidFill>
                <a:latin typeface="Calibri" pitchFamily="34" charset="0"/>
                <a:ea typeface="Calibri" pitchFamily="34" charset="-122"/>
                <a:cs typeface="Calibri" pitchFamily="34" charset="-120"/>
              </a:rPr>
              <a:t>Ganancia clave: paralelismo de datos automatico + tolerancia a fallos por reintento de tareas.</a:t>
            </a:r>
            <a:endParaRPr lang="en-US" sz="1600" dirty="0"/>
          </a:p>
        </p:txBody>
      </p:sp>
      <p:sp>
        <p:nvSpPr>
          <p:cNvPr id="38" name="Shape 35"/>
          <p:cNvSpPr/>
          <p:nvPr/>
        </p:nvSpPr>
        <p:spPr>
          <a:xfrm>
            <a:off x="457200" y="6537960"/>
            <a:ext cx="11247120" cy="0"/>
          </a:xfrm>
          <a:prstGeom prst="line">
            <a:avLst/>
          </a:prstGeom>
          <a:noFill/>
          <a:ln w="9525">
            <a:solidFill>
              <a:srgbClr val="D9E1EA"/>
            </a:solidFill>
            <a:prstDash val="solid"/>
          </a:ln>
        </p:spPr>
      </p:sp>
      <p:sp>
        <p:nvSpPr>
          <p:cNvPr id="39" name="Text 36"/>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40" name="Text 37"/>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4.3.1 MapReduce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4FAE60"/>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4.3.2</a:t>
            </a:r>
            <a:endParaRPr lang="en-US" sz="2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Apache Hadoop: ecosistema y arquitectura</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11247120" cy="685800"/>
          </a:xfrm>
          <a:prstGeom prst="roundRect">
            <a:avLst>
              <a:gd name="adj" fmla="val 13333"/>
            </a:avLst>
          </a:prstGeom>
          <a:solidFill>
            <a:srgbClr val="E9F5EC"/>
          </a:solidFill>
          <a:ln/>
        </p:spPr>
      </p:sp>
      <p:sp>
        <p:nvSpPr>
          <p:cNvPr id="7" name="Text 5"/>
          <p:cNvSpPr/>
          <p:nvPr/>
        </p:nvSpPr>
        <p:spPr>
          <a:xfrm>
            <a:off x="640080" y="1143000"/>
            <a:ext cx="10881360" cy="685800"/>
          </a:xfrm>
          <a:prstGeom prst="rect">
            <a:avLst/>
          </a:prstGeom>
          <a:noFill/>
          <a:ln/>
        </p:spPr>
        <p:txBody>
          <a:bodyPr wrap="square" lIns="0" tIns="0" rIns="0" bIns="0" rtlCol="0" anchor="ctr"/>
          <a:lstStyle/>
          <a:p>
            <a:pPr marL="0" indent="0">
              <a:buNone/>
            </a:pPr>
            <a:r>
              <a:rPr lang="en-US" sz="1350" b="1" dirty="0">
                <a:solidFill>
                  <a:srgbClr val="4FAE60"/>
                </a:solidFill>
                <a:latin typeface="Cambria" pitchFamily="34" charset="0"/>
                <a:ea typeface="Cambria" pitchFamily="34" charset="-122"/>
                <a:cs typeface="Cambria" pitchFamily="34" charset="-120"/>
              </a:rPr>
              <a:t>Apache Hadoop: </a:t>
            </a:r>
            <a:r>
              <a:rPr lang="en-US" sz="1300" dirty="0">
                <a:solidFill>
                  <a:srgbClr val="1B2430"/>
                </a:solidFill>
                <a:latin typeface="Calibri" pitchFamily="34" charset="0"/>
                <a:ea typeface="Calibri" pitchFamily="34" charset="-122"/>
                <a:cs typeface="Calibri" pitchFamily="34" charset="-120"/>
              </a:rPr>
              <a:t>framework open source (codigo abierto) inspirado en los papers de Google (GFS y MapReduce) para almacenar y procesar datos masivos en clusters de hardware commodity (basico).</a:t>
            </a:r>
            <a:endParaRPr lang="en-US" sz="1350" dirty="0"/>
          </a:p>
        </p:txBody>
      </p:sp>
      <p:sp>
        <p:nvSpPr>
          <p:cNvPr id="8" name="Shape 6"/>
          <p:cNvSpPr/>
          <p:nvPr/>
        </p:nvSpPr>
        <p:spPr>
          <a:xfrm>
            <a:off x="457200" y="1965960"/>
            <a:ext cx="5623560" cy="4434840"/>
          </a:xfrm>
          <a:prstGeom prst="roundRect">
            <a:avLst>
              <a:gd name="adj" fmla="val 3093"/>
            </a:avLst>
          </a:prstGeom>
          <a:solidFill>
            <a:srgbClr val="F3F6FB"/>
          </a:solidFill>
          <a:ln w="9525">
            <a:solidFill>
              <a:srgbClr val="D9E1EA"/>
            </a:solidFill>
            <a:prstDash val="solid"/>
          </a:ln>
        </p:spPr>
      </p:sp>
      <p:sp>
        <p:nvSpPr>
          <p:cNvPr id="9" name="Text 7"/>
          <p:cNvSpPr/>
          <p:nvPr/>
        </p:nvSpPr>
        <p:spPr>
          <a:xfrm>
            <a:off x="640080" y="2057400"/>
            <a:ext cx="5303520" cy="365760"/>
          </a:xfrm>
          <a:prstGeom prst="rect">
            <a:avLst/>
          </a:prstGeom>
          <a:noFill/>
          <a:ln/>
        </p:spPr>
        <p:txBody>
          <a:bodyPr wrap="square" lIns="0" tIns="0" rIns="0" bIns="0" rtlCol="0" anchor="ctr"/>
          <a:lstStyle/>
          <a:p>
            <a:pPr marL="0" indent="0">
              <a:buNone/>
            </a:pPr>
            <a:r>
              <a:rPr lang="en-US" sz="1600" b="1" dirty="0">
                <a:solidFill>
                  <a:srgbClr val="4FAE60"/>
                </a:solidFill>
                <a:latin typeface="Cambria" pitchFamily="34" charset="0"/>
                <a:ea typeface="Cambria" pitchFamily="34" charset="-122"/>
                <a:cs typeface="Cambria" pitchFamily="34" charset="-120"/>
              </a:rPr>
              <a:t>Arquitectura en 3 capas</a:t>
            </a:r>
            <a:endParaRPr lang="en-US" sz="1600" dirty="0"/>
          </a:p>
        </p:txBody>
      </p:sp>
      <p:sp>
        <p:nvSpPr>
          <p:cNvPr id="10" name="Shape 8"/>
          <p:cNvSpPr/>
          <p:nvPr/>
        </p:nvSpPr>
        <p:spPr>
          <a:xfrm>
            <a:off x="640080" y="2514600"/>
            <a:ext cx="5303520" cy="1097280"/>
          </a:xfrm>
          <a:prstGeom prst="roundRect">
            <a:avLst>
              <a:gd name="adj" fmla="val 6667"/>
            </a:avLst>
          </a:prstGeom>
          <a:solidFill>
            <a:srgbClr val="FFFFFF"/>
          </a:solidFill>
          <a:ln w="15875">
            <a:solidFill>
              <a:srgbClr val="0E3F7E"/>
            </a:solidFill>
            <a:prstDash val="solid"/>
          </a:ln>
        </p:spPr>
      </p:sp>
      <p:sp>
        <p:nvSpPr>
          <p:cNvPr id="11" name="Text 9"/>
          <p:cNvSpPr/>
          <p:nvPr/>
        </p:nvSpPr>
        <p:spPr>
          <a:xfrm>
            <a:off x="777240" y="2560320"/>
            <a:ext cx="5029200" cy="320040"/>
          </a:xfrm>
          <a:prstGeom prst="rect">
            <a:avLst/>
          </a:prstGeom>
          <a:noFill/>
          <a:ln/>
        </p:spPr>
        <p:txBody>
          <a:bodyPr wrap="square" lIns="0" tIns="0" rIns="0" bIns="0" rtlCol="0" anchor="ctr"/>
          <a:lstStyle/>
          <a:p>
            <a:pPr marL="0" indent="0">
              <a:buNone/>
            </a:pPr>
            <a:r>
              <a:rPr lang="en-US" sz="1300" b="1" dirty="0">
                <a:solidFill>
                  <a:srgbClr val="0E3F7E"/>
                </a:solidFill>
                <a:latin typeface="Cambria" pitchFamily="34" charset="0"/>
                <a:ea typeface="Cambria" pitchFamily="34" charset="-122"/>
                <a:cs typeface="Cambria" pitchFamily="34" charset="-120"/>
              </a:rPr>
              <a:t>HDFS (Hadoop Distributed File System)</a:t>
            </a:r>
            <a:endParaRPr lang="en-US" sz="1300" dirty="0"/>
          </a:p>
        </p:txBody>
      </p:sp>
      <p:sp>
        <p:nvSpPr>
          <p:cNvPr id="12" name="Text 10"/>
          <p:cNvSpPr/>
          <p:nvPr/>
        </p:nvSpPr>
        <p:spPr>
          <a:xfrm>
            <a:off x="777240" y="2880360"/>
            <a:ext cx="5029200" cy="274320"/>
          </a:xfrm>
          <a:prstGeom prst="rect">
            <a:avLst/>
          </a:prstGeom>
          <a:noFill/>
          <a:ln/>
        </p:spPr>
        <p:txBody>
          <a:bodyPr wrap="square" lIns="0" tIns="0" rIns="0" bIns="0" rtlCol="0" anchor="ctr"/>
          <a:lstStyle/>
          <a:p>
            <a:pPr marL="0" indent="0">
              <a:buNone/>
            </a:pPr>
            <a:r>
              <a:rPr lang="en-US" sz="1050" i="1" dirty="0">
                <a:solidFill>
                  <a:srgbClr val="3B4A5A"/>
                </a:solidFill>
                <a:latin typeface="Calibri" pitchFamily="34" charset="0"/>
                <a:ea typeface="Calibri" pitchFamily="34" charset="-122"/>
                <a:cs typeface="Calibri" pitchFamily="34" charset="-120"/>
              </a:rPr>
              <a:t>Sistema de Archivos Distribuido de Hadoop</a:t>
            </a:r>
            <a:endParaRPr lang="en-US" sz="1050" dirty="0"/>
          </a:p>
        </p:txBody>
      </p:sp>
      <p:sp>
        <p:nvSpPr>
          <p:cNvPr id="13" name="Text 11"/>
          <p:cNvSpPr/>
          <p:nvPr/>
        </p:nvSpPr>
        <p:spPr>
          <a:xfrm>
            <a:off x="777240" y="3172968"/>
            <a:ext cx="5029200" cy="41148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NameNode + DataNodes; bloques de 128 MB replicados 3 veces por defecto.</a:t>
            </a:r>
            <a:endParaRPr lang="en-US" sz="1100" dirty="0"/>
          </a:p>
        </p:txBody>
      </p:sp>
      <p:sp>
        <p:nvSpPr>
          <p:cNvPr id="14" name="Shape 12"/>
          <p:cNvSpPr/>
          <p:nvPr/>
        </p:nvSpPr>
        <p:spPr>
          <a:xfrm>
            <a:off x="640080" y="3703320"/>
            <a:ext cx="5303520" cy="1097280"/>
          </a:xfrm>
          <a:prstGeom prst="roundRect">
            <a:avLst>
              <a:gd name="adj" fmla="val 6667"/>
            </a:avLst>
          </a:prstGeom>
          <a:solidFill>
            <a:srgbClr val="FFFFFF"/>
          </a:solidFill>
          <a:ln w="15875">
            <a:solidFill>
              <a:srgbClr val="2E86A1"/>
            </a:solidFill>
            <a:prstDash val="solid"/>
          </a:ln>
        </p:spPr>
      </p:sp>
      <p:sp>
        <p:nvSpPr>
          <p:cNvPr id="15" name="Text 13"/>
          <p:cNvSpPr/>
          <p:nvPr/>
        </p:nvSpPr>
        <p:spPr>
          <a:xfrm>
            <a:off x="777240" y="3749040"/>
            <a:ext cx="5029200" cy="320040"/>
          </a:xfrm>
          <a:prstGeom prst="rect">
            <a:avLst/>
          </a:prstGeom>
          <a:noFill/>
          <a:ln/>
        </p:spPr>
        <p:txBody>
          <a:bodyPr wrap="square" lIns="0" tIns="0" rIns="0" bIns="0" rtlCol="0" anchor="ctr"/>
          <a:lstStyle/>
          <a:p>
            <a:pPr marL="0" indent="0">
              <a:buNone/>
            </a:pPr>
            <a:r>
              <a:rPr lang="en-US" sz="1300" b="1" dirty="0">
                <a:solidFill>
                  <a:srgbClr val="2E86A1"/>
                </a:solidFill>
                <a:latin typeface="Cambria" pitchFamily="34" charset="0"/>
                <a:ea typeface="Cambria" pitchFamily="34" charset="-122"/>
                <a:cs typeface="Cambria" pitchFamily="34" charset="-120"/>
              </a:rPr>
              <a:t>YARN (Yet Another Resource Negotiator)</a:t>
            </a:r>
            <a:endParaRPr lang="en-US" sz="1300" dirty="0"/>
          </a:p>
        </p:txBody>
      </p:sp>
      <p:sp>
        <p:nvSpPr>
          <p:cNvPr id="16" name="Text 14"/>
          <p:cNvSpPr/>
          <p:nvPr/>
        </p:nvSpPr>
        <p:spPr>
          <a:xfrm>
            <a:off x="777240" y="4069080"/>
            <a:ext cx="5029200" cy="274320"/>
          </a:xfrm>
          <a:prstGeom prst="rect">
            <a:avLst/>
          </a:prstGeom>
          <a:noFill/>
          <a:ln/>
        </p:spPr>
        <p:txBody>
          <a:bodyPr wrap="square" lIns="0" tIns="0" rIns="0" bIns="0" rtlCol="0" anchor="ctr"/>
          <a:lstStyle/>
          <a:p>
            <a:pPr marL="0" indent="0">
              <a:buNone/>
            </a:pPr>
            <a:r>
              <a:rPr lang="en-US" sz="1050" i="1" dirty="0">
                <a:solidFill>
                  <a:srgbClr val="3B4A5A"/>
                </a:solidFill>
                <a:latin typeface="Calibri" pitchFamily="34" charset="0"/>
                <a:ea typeface="Calibri" pitchFamily="34" charset="-122"/>
                <a:cs typeface="Calibri" pitchFamily="34" charset="-120"/>
              </a:rPr>
              <a:t>Otro Negociador de Recursos Mas</a:t>
            </a:r>
            <a:endParaRPr lang="en-US" sz="1050" dirty="0"/>
          </a:p>
        </p:txBody>
      </p:sp>
      <p:sp>
        <p:nvSpPr>
          <p:cNvPr id="17" name="Text 15"/>
          <p:cNvSpPr/>
          <p:nvPr/>
        </p:nvSpPr>
        <p:spPr>
          <a:xfrm>
            <a:off x="777240" y="4361688"/>
            <a:ext cx="5029200" cy="41148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ResourceManager + NodeManagers; gestiona CPU y RAM del cluster.</a:t>
            </a:r>
            <a:endParaRPr lang="en-US" sz="1100" dirty="0"/>
          </a:p>
        </p:txBody>
      </p:sp>
      <p:sp>
        <p:nvSpPr>
          <p:cNvPr id="18" name="Shape 16"/>
          <p:cNvSpPr/>
          <p:nvPr/>
        </p:nvSpPr>
        <p:spPr>
          <a:xfrm>
            <a:off x="640080" y="4892040"/>
            <a:ext cx="5303520" cy="1097280"/>
          </a:xfrm>
          <a:prstGeom prst="roundRect">
            <a:avLst>
              <a:gd name="adj" fmla="val 6667"/>
            </a:avLst>
          </a:prstGeom>
          <a:solidFill>
            <a:srgbClr val="FFFFFF"/>
          </a:solidFill>
          <a:ln w="15875">
            <a:solidFill>
              <a:srgbClr val="4FAE60"/>
            </a:solidFill>
            <a:prstDash val="solid"/>
          </a:ln>
        </p:spPr>
      </p:sp>
      <p:sp>
        <p:nvSpPr>
          <p:cNvPr id="19" name="Text 17"/>
          <p:cNvSpPr/>
          <p:nvPr/>
        </p:nvSpPr>
        <p:spPr>
          <a:xfrm>
            <a:off x="777240" y="4937760"/>
            <a:ext cx="5029200" cy="320040"/>
          </a:xfrm>
          <a:prstGeom prst="rect">
            <a:avLst/>
          </a:prstGeom>
          <a:noFill/>
          <a:ln/>
        </p:spPr>
        <p:txBody>
          <a:bodyPr wrap="square" lIns="0" tIns="0" rIns="0" bIns="0" rtlCol="0" anchor="ctr"/>
          <a:lstStyle/>
          <a:p>
            <a:pPr marL="0" indent="0">
              <a:buNone/>
            </a:pPr>
            <a:r>
              <a:rPr lang="en-US" sz="1300" b="1" dirty="0">
                <a:solidFill>
                  <a:srgbClr val="4FAE60"/>
                </a:solidFill>
                <a:latin typeface="Cambria" pitchFamily="34" charset="0"/>
                <a:ea typeface="Cambria" pitchFamily="34" charset="-122"/>
                <a:cs typeface="Cambria" pitchFamily="34" charset="-120"/>
              </a:rPr>
              <a:t>MapReduce / Tez / Spark</a:t>
            </a:r>
            <a:endParaRPr lang="en-US" sz="1300" dirty="0"/>
          </a:p>
        </p:txBody>
      </p:sp>
      <p:sp>
        <p:nvSpPr>
          <p:cNvPr id="20" name="Text 18"/>
          <p:cNvSpPr/>
          <p:nvPr/>
        </p:nvSpPr>
        <p:spPr>
          <a:xfrm>
            <a:off x="777240" y="5257800"/>
            <a:ext cx="5029200" cy="274320"/>
          </a:xfrm>
          <a:prstGeom prst="rect">
            <a:avLst/>
          </a:prstGeom>
          <a:noFill/>
          <a:ln/>
        </p:spPr>
        <p:txBody>
          <a:bodyPr wrap="square" lIns="0" tIns="0" rIns="0" bIns="0" rtlCol="0" anchor="ctr"/>
          <a:lstStyle/>
          <a:p>
            <a:pPr marL="0" indent="0">
              <a:buNone/>
            </a:pPr>
            <a:r>
              <a:rPr lang="en-US" sz="1050" i="1" dirty="0">
                <a:solidFill>
                  <a:srgbClr val="3B4A5A"/>
                </a:solidFill>
                <a:latin typeface="Calibri" pitchFamily="34" charset="0"/>
                <a:ea typeface="Calibri" pitchFamily="34" charset="-122"/>
                <a:cs typeface="Calibri" pitchFamily="34" charset="-120"/>
              </a:rPr>
              <a:t>Motor de procesamiento</a:t>
            </a:r>
            <a:endParaRPr lang="en-US" sz="1050" dirty="0"/>
          </a:p>
        </p:txBody>
      </p:sp>
      <p:sp>
        <p:nvSpPr>
          <p:cNvPr id="21" name="Text 19"/>
          <p:cNvSpPr/>
          <p:nvPr/>
        </p:nvSpPr>
        <p:spPr>
          <a:xfrm>
            <a:off x="777240" y="5550408"/>
            <a:ext cx="5029200" cy="41148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MapReduce clasico o motores mas rapidos como Tez y Spark sobre YARN.</a:t>
            </a:r>
            <a:endParaRPr lang="en-US" sz="1100" dirty="0"/>
          </a:p>
        </p:txBody>
      </p:sp>
      <p:sp>
        <p:nvSpPr>
          <p:cNvPr id="22" name="Text 20"/>
          <p:cNvSpPr/>
          <p:nvPr/>
        </p:nvSpPr>
        <p:spPr>
          <a:xfrm>
            <a:off x="640080" y="6035040"/>
            <a:ext cx="5303520" cy="274320"/>
          </a:xfrm>
          <a:prstGeom prst="rect">
            <a:avLst/>
          </a:prstGeom>
          <a:noFill/>
          <a:ln/>
        </p:spPr>
        <p:txBody>
          <a:bodyPr wrap="square" lIns="0" tIns="0" rIns="0" bIns="0" rtlCol="0" anchor="ctr"/>
          <a:lstStyle/>
          <a:p>
            <a:pPr marL="0" indent="0" algn="ctr">
              <a:buNone/>
            </a:pPr>
            <a:r>
              <a:rPr lang="en-US" sz="1100" i="1" dirty="0">
                <a:solidFill>
                  <a:srgbClr val="0E3F7E"/>
                </a:solidFill>
                <a:latin typeface="Calibri" pitchFamily="34" charset="0"/>
                <a:ea typeface="Calibri" pitchFamily="34" charset="-122"/>
                <a:cs typeface="Calibri" pitchFamily="34" charset="-120"/>
              </a:rPr>
              <a:t>Todo sobre commodity hardware y tolerante a fallos</a:t>
            </a:r>
            <a:endParaRPr lang="en-US" sz="1100" dirty="0"/>
          </a:p>
        </p:txBody>
      </p:sp>
      <p:sp>
        <p:nvSpPr>
          <p:cNvPr id="23" name="Shape 21"/>
          <p:cNvSpPr/>
          <p:nvPr/>
        </p:nvSpPr>
        <p:spPr>
          <a:xfrm>
            <a:off x="6172200" y="1965960"/>
            <a:ext cx="5532120" cy="4434840"/>
          </a:xfrm>
          <a:prstGeom prst="roundRect">
            <a:avLst>
              <a:gd name="adj" fmla="val 3093"/>
            </a:avLst>
          </a:prstGeom>
          <a:solidFill>
            <a:srgbClr val="FFFFFF"/>
          </a:solidFill>
          <a:ln w="9525">
            <a:solidFill>
              <a:srgbClr val="D9E1EA"/>
            </a:solidFill>
            <a:prstDash val="solid"/>
          </a:ln>
        </p:spPr>
      </p:sp>
      <p:sp>
        <p:nvSpPr>
          <p:cNvPr id="24" name="Text 22"/>
          <p:cNvSpPr/>
          <p:nvPr/>
        </p:nvSpPr>
        <p:spPr>
          <a:xfrm>
            <a:off x="6355080" y="2057400"/>
            <a:ext cx="5212080" cy="365760"/>
          </a:xfrm>
          <a:prstGeom prst="rect">
            <a:avLst/>
          </a:prstGeom>
          <a:noFill/>
          <a:ln/>
        </p:spPr>
        <p:txBody>
          <a:bodyPr wrap="square" lIns="0" tIns="0" rIns="0" bIns="0" rtlCol="0" anchor="ctr"/>
          <a:lstStyle/>
          <a:p>
            <a:pPr marL="0" indent="0">
              <a:buNone/>
            </a:pPr>
            <a:r>
              <a:rPr lang="en-US" sz="1600" b="1" dirty="0">
                <a:solidFill>
                  <a:srgbClr val="4FAE60"/>
                </a:solidFill>
                <a:latin typeface="Cambria" pitchFamily="34" charset="0"/>
                <a:ea typeface="Cambria" pitchFamily="34" charset="-122"/>
                <a:cs typeface="Cambria" pitchFamily="34" charset="-120"/>
              </a:rPr>
              <a:t>Ecosistema Hadoop</a:t>
            </a:r>
            <a:endParaRPr lang="en-US" sz="1600" dirty="0"/>
          </a:p>
        </p:txBody>
      </p:sp>
      <p:sp>
        <p:nvSpPr>
          <p:cNvPr id="25" name="Shape 23"/>
          <p:cNvSpPr/>
          <p:nvPr/>
        </p:nvSpPr>
        <p:spPr>
          <a:xfrm>
            <a:off x="6355080" y="2514600"/>
            <a:ext cx="1280160" cy="457200"/>
          </a:xfrm>
          <a:prstGeom prst="roundRect">
            <a:avLst>
              <a:gd name="adj" fmla="val 12000"/>
            </a:avLst>
          </a:prstGeom>
          <a:solidFill>
            <a:srgbClr val="4FAE60"/>
          </a:solidFill>
          <a:ln/>
        </p:spPr>
      </p:sp>
      <p:sp>
        <p:nvSpPr>
          <p:cNvPr id="26" name="Text 24"/>
          <p:cNvSpPr/>
          <p:nvPr/>
        </p:nvSpPr>
        <p:spPr>
          <a:xfrm>
            <a:off x="6355080" y="2514600"/>
            <a:ext cx="12801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Hive</a:t>
            </a:r>
            <a:endParaRPr lang="en-US" sz="1200" dirty="0"/>
          </a:p>
        </p:txBody>
      </p:sp>
      <p:sp>
        <p:nvSpPr>
          <p:cNvPr id="27" name="Text 25"/>
          <p:cNvSpPr/>
          <p:nvPr/>
        </p:nvSpPr>
        <p:spPr>
          <a:xfrm>
            <a:off x="7772400" y="2514600"/>
            <a:ext cx="3794760" cy="45720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SQL sobre Hadoop, para analistas familiarizados con SQL.</a:t>
            </a:r>
            <a:endParaRPr lang="en-US" sz="1150" dirty="0"/>
          </a:p>
        </p:txBody>
      </p:sp>
      <p:sp>
        <p:nvSpPr>
          <p:cNvPr id="28" name="Shape 26"/>
          <p:cNvSpPr/>
          <p:nvPr/>
        </p:nvSpPr>
        <p:spPr>
          <a:xfrm>
            <a:off x="6355080" y="3063240"/>
            <a:ext cx="1280160" cy="457200"/>
          </a:xfrm>
          <a:prstGeom prst="roundRect">
            <a:avLst>
              <a:gd name="adj" fmla="val 12000"/>
            </a:avLst>
          </a:prstGeom>
          <a:solidFill>
            <a:srgbClr val="4FAE60"/>
          </a:solidFill>
          <a:ln/>
        </p:spPr>
      </p:sp>
      <p:sp>
        <p:nvSpPr>
          <p:cNvPr id="29" name="Text 27"/>
          <p:cNvSpPr/>
          <p:nvPr/>
        </p:nvSpPr>
        <p:spPr>
          <a:xfrm>
            <a:off x="6355080" y="3063240"/>
            <a:ext cx="12801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Pig</a:t>
            </a:r>
            <a:endParaRPr lang="en-US" sz="1200" dirty="0"/>
          </a:p>
        </p:txBody>
      </p:sp>
      <p:sp>
        <p:nvSpPr>
          <p:cNvPr id="30" name="Text 28"/>
          <p:cNvSpPr/>
          <p:nvPr/>
        </p:nvSpPr>
        <p:spPr>
          <a:xfrm>
            <a:off x="7772400" y="3063240"/>
            <a:ext cx="3794760" cy="45720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Lenguaje de scripting (Pig Latin) para pipelines de datos.</a:t>
            </a:r>
            <a:endParaRPr lang="en-US" sz="1150" dirty="0"/>
          </a:p>
        </p:txBody>
      </p:sp>
      <p:sp>
        <p:nvSpPr>
          <p:cNvPr id="31" name="Shape 29"/>
          <p:cNvSpPr/>
          <p:nvPr/>
        </p:nvSpPr>
        <p:spPr>
          <a:xfrm>
            <a:off x="6355080" y="3611880"/>
            <a:ext cx="1280160" cy="457200"/>
          </a:xfrm>
          <a:prstGeom prst="roundRect">
            <a:avLst>
              <a:gd name="adj" fmla="val 12000"/>
            </a:avLst>
          </a:prstGeom>
          <a:solidFill>
            <a:srgbClr val="4FAE60"/>
          </a:solidFill>
          <a:ln/>
        </p:spPr>
      </p:sp>
      <p:sp>
        <p:nvSpPr>
          <p:cNvPr id="32" name="Text 30"/>
          <p:cNvSpPr/>
          <p:nvPr/>
        </p:nvSpPr>
        <p:spPr>
          <a:xfrm>
            <a:off x="6355080" y="3611880"/>
            <a:ext cx="12801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HBase</a:t>
            </a:r>
            <a:endParaRPr lang="en-US" sz="1200" dirty="0"/>
          </a:p>
        </p:txBody>
      </p:sp>
      <p:sp>
        <p:nvSpPr>
          <p:cNvPr id="33" name="Text 31"/>
          <p:cNvSpPr/>
          <p:nvPr/>
        </p:nvSpPr>
        <p:spPr>
          <a:xfrm>
            <a:off x="7772400" y="3611880"/>
            <a:ext cx="3794760" cy="45720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Base de datos NoSQL columnar sobre HDFS (estilo BigTable).</a:t>
            </a:r>
            <a:endParaRPr lang="en-US" sz="1150" dirty="0"/>
          </a:p>
        </p:txBody>
      </p:sp>
      <p:sp>
        <p:nvSpPr>
          <p:cNvPr id="34" name="Shape 32"/>
          <p:cNvSpPr/>
          <p:nvPr/>
        </p:nvSpPr>
        <p:spPr>
          <a:xfrm>
            <a:off x="6355080" y="4160520"/>
            <a:ext cx="1280160" cy="457200"/>
          </a:xfrm>
          <a:prstGeom prst="roundRect">
            <a:avLst>
              <a:gd name="adj" fmla="val 12000"/>
            </a:avLst>
          </a:prstGeom>
          <a:solidFill>
            <a:srgbClr val="4FAE60"/>
          </a:solidFill>
          <a:ln/>
        </p:spPr>
      </p:sp>
      <p:sp>
        <p:nvSpPr>
          <p:cNvPr id="35" name="Text 33"/>
          <p:cNvSpPr/>
          <p:nvPr/>
        </p:nvSpPr>
        <p:spPr>
          <a:xfrm>
            <a:off x="6355080" y="4160520"/>
            <a:ext cx="12801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Sqoop</a:t>
            </a:r>
            <a:endParaRPr lang="en-US" sz="1200" dirty="0"/>
          </a:p>
        </p:txBody>
      </p:sp>
      <p:sp>
        <p:nvSpPr>
          <p:cNvPr id="36" name="Text 34"/>
          <p:cNvSpPr/>
          <p:nvPr/>
        </p:nvSpPr>
        <p:spPr>
          <a:xfrm>
            <a:off x="7772400" y="4160520"/>
            <a:ext cx="3794760" cy="45720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Transferencia de datos entre HDFS y bases relacionales.</a:t>
            </a:r>
            <a:endParaRPr lang="en-US" sz="1150" dirty="0"/>
          </a:p>
        </p:txBody>
      </p:sp>
      <p:sp>
        <p:nvSpPr>
          <p:cNvPr id="37" name="Shape 35"/>
          <p:cNvSpPr/>
          <p:nvPr/>
        </p:nvSpPr>
        <p:spPr>
          <a:xfrm>
            <a:off x="6355080" y="4709160"/>
            <a:ext cx="1280160" cy="457200"/>
          </a:xfrm>
          <a:prstGeom prst="roundRect">
            <a:avLst>
              <a:gd name="adj" fmla="val 12000"/>
            </a:avLst>
          </a:prstGeom>
          <a:solidFill>
            <a:srgbClr val="4FAE60"/>
          </a:solidFill>
          <a:ln/>
        </p:spPr>
      </p:sp>
      <p:sp>
        <p:nvSpPr>
          <p:cNvPr id="38" name="Text 36"/>
          <p:cNvSpPr/>
          <p:nvPr/>
        </p:nvSpPr>
        <p:spPr>
          <a:xfrm>
            <a:off x="6355080" y="4709160"/>
            <a:ext cx="12801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Flume</a:t>
            </a:r>
            <a:endParaRPr lang="en-US" sz="1200" dirty="0"/>
          </a:p>
        </p:txBody>
      </p:sp>
      <p:sp>
        <p:nvSpPr>
          <p:cNvPr id="39" name="Text 37"/>
          <p:cNvSpPr/>
          <p:nvPr/>
        </p:nvSpPr>
        <p:spPr>
          <a:xfrm>
            <a:off x="7772400" y="4709160"/>
            <a:ext cx="3794760" cy="45720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Ingesta de logs (registros) hacia HDFS en streaming.</a:t>
            </a:r>
            <a:endParaRPr lang="en-US" sz="1150" dirty="0"/>
          </a:p>
        </p:txBody>
      </p:sp>
      <p:sp>
        <p:nvSpPr>
          <p:cNvPr id="40" name="Shape 38"/>
          <p:cNvSpPr/>
          <p:nvPr/>
        </p:nvSpPr>
        <p:spPr>
          <a:xfrm>
            <a:off x="6355080" y="5257800"/>
            <a:ext cx="1280160" cy="457200"/>
          </a:xfrm>
          <a:prstGeom prst="roundRect">
            <a:avLst>
              <a:gd name="adj" fmla="val 12000"/>
            </a:avLst>
          </a:prstGeom>
          <a:solidFill>
            <a:srgbClr val="4FAE60"/>
          </a:solidFill>
          <a:ln/>
        </p:spPr>
      </p:sp>
      <p:sp>
        <p:nvSpPr>
          <p:cNvPr id="41" name="Text 39"/>
          <p:cNvSpPr/>
          <p:nvPr/>
        </p:nvSpPr>
        <p:spPr>
          <a:xfrm>
            <a:off x="6355080" y="5257800"/>
            <a:ext cx="12801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Oozie</a:t>
            </a:r>
            <a:endParaRPr lang="en-US" sz="1200" dirty="0"/>
          </a:p>
        </p:txBody>
      </p:sp>
      <p:sp>
        <p:nvSpPr>
          <p:cNvPr id="42" name="Text 40"/>
          <p:cNvSpPr/>
          <p:nvPr/>
        </p:nvSpPr>
        <p:spPr>
          <a:xfrm>
            <a:off x="7772400" y="5257800"/>
            <a:ext cx="3794760" cy="45720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Orquestador de workflows (flujos de trabajo) sobre YARN.</a:t>
            </a:r>
            <a:endParaRPr lang="en-US" sz="1150" dirty="0"/>
          </a:p>
        </p:txBody>
      </p:sp>
      <p:sp>
        <p:nvSpPr>
          <p:cNvPr id="43" name="Shape 41"/>
          <p:cNvSpPr/>
          <p:nvPr/>
        </p:nvSpPr>
        <p:spPr>
          <a:xfrm>
            <a:off x="6355080" y="5806440"/>
            <a:ext cx="1280160" cy="457200"/>
          </a:xfrm>
          <a:prstGeom prst="roundRect">
            <a:avLst>
              <a:gd name="adj" fmla="val 12000"/>
            </a:avLst>
          </a:prstGeom>
          <a:solidFill>
            <a:srgbClr val="4FAE60"/>
          </a:solidFill>
          <a:ln/>
        </p:spPr>
      </p:sp>
      <p:sp>
        <p:nvSpPr>
          <p:cNvPr id="44" name="Text 42"/>
          <p:cNvSpPr/>
          <p:nvPr/>
        </p:nvSpPr>
        <p:spPr>
          <a:xfrm>
            <a:off x="6355080" y="5806440"/>
            <a:ext cx="12801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ZooKeeper</a:t>
            </a:r>
            <a:endParaRPr lang="en-US" sz="1200" dirty="0"/>
          </a:p>
        </p:txBody>
      </p:sp>
      <p:sp>
        <p:nvSpPr>
          <p:cNvPr id="45" name="Text 43"/>
          <p:cNvSpPr/>
          <p:nvPr/>
        </p:nvSpPr>
        <p:spPr>
          <a:xfrm>
            <a:off x="7772400" y="5806440"/>
            <a:ext cx="3794760" cy="45720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Coordinacion distribuida (elecciones de lider, locks).</a:t>
            </a:r>
            <a:endParaRPr lang="en-US" sz="1150" dirty="0"/>
          </a:p>
        </p:txBody>
      </p:sp>
      <p:sp>
        <p:nvSpPr>
          <p:cNvPr id="47" name="Shape 44"/>
          <p:cNvSpPr/>
          <p:nvPr/>
        </p:nvSpPr>
        <p:spPr>
          <a:xfrm>
            <a:off x="457200" y="6537960"/>
            <a:ext cx="11247120" cy="0"/>
          </a:xfrm>
          <a:prstGeom prst="line">
            <a:avLst/>
          </a:prstGeom>
          <a:noFill/>
          <a:ln w="9525">
            <a:solidFill>
              <a:srgbClr val="D9E1EA"/>
            </a:solidFill>
            <a:prstDash val="solid"/>
          </a:ln>
        </p:spPr>
      </p:sp>
      <p:sp>
        <p:nvSpPr>
          <p:cNvPr id="48" name="Text 45"/>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49" name="Text 46"/>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4.3.2 Hadoop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4FAE60"/>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4.3.3</a:t>
            </a:r>
            <a:endParaRPr lang="en-US" sz="20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Apache Spark: procesamiento en memoria</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11247120" cy="777240"/>
          </a:xfrm>
          <a:prstGeom prst="roundRect">
            <a:avLst>
              <a:gd name="adj" fmla="val 11765"/>
            </a:avLst>
          </a:prstGeom>
          <a:solidFill>
            <a:srgbClr val="E9F5EC"/>
          </a:solidFill>
          <a:ln/>
        </p:spPr>
      </p:sp>
      <p:sp>
        <p:nvSpPr>
          <p:cNvPr id="7" name="Text 5"/>
          <p:cNvSpPr/>
          <p:nvPr/>
        </p:nvSpPr>
        <p:spPr>
          <a:xfrm>
            <a:off x="640080" y="1143000"/>
            <a:ext cx="10881360" cy="777240"/>
          </a:xfrm>
          <a:prstGeom prst="rect">
            <a:avLst/>
          </a:prstGeom>
          <a:noFill/>
          <a:ln/>
        </p:spPr>
        <p:txBody>
          <a:bodyPr wrap="square" lIns="0" tIns="0" rIns="0" bIns="0" rtlCol="0" anchor="ctr"/>
          <a:lstStyle/>
          <a:p>
            <a:pPr marL="0" indent="0">
              <a:buNone/>
            </a:pPr>
            <a:r>
              <a:rPr lang="en-US" sz="1350" b="1" dirty="0">
                <a:solidFill>
                  <a:srgbClr val="4FAE60"/>
                </a:solidFill>
                <a:latin typeface="Cambria" pitchFamily="34" charset="0"/>
                <a:ea typeface="Cambria" pitchFamily="34" charset="-122"/>
                <a:cs typeface="Cambria" pitchFamily="34" charset="-120"/>
              </a:rPr>
              <a:t>Apache Spark: </a:t>
            </a:r>
            <a:r>
              <a:rPr lang="en-US" sz="1250" dirty="0">
                <a:solidFill>
                  <a:srgbClr val="1B2430"/>
                </a:solidFill>
                <a:latin typeface="Calibri" pitchFamily="34" charset="0"/>
                <a:ea typeface="Calibri" pitchFamily="34" charset="-122"/>
                <a:cs typeface="Calibri" pitchFamily="34" charset="-120"/>
              </a:rPr>
              <a:t>motor unificado para procesamiento distribuido de datos que trabaja principalmente </a:t>
            </a:r>
            <a:r>
              <a:rPr lang="en-US" sz="1250" b="1" i="1" dirty="0">
                <a:solidFill>
                  <a:srgbClr val="0E3F7E"/>
                </a:solidFill>
                <a:latin typeface="Calibri" pitchFamily="34" charset="0"/>
                <a:ea typeface="Calibri" pitchFamily="34" charset="-122"/>
                <a:cs typeface="Calibri" pitchFamily="34" charset="-120"/>
              </a:rPr>
              <a:t>in-memory (en memoria)</a:t>
            </a:r>
            <a:r>
              <a:rPr lang="en-US" sz="1250" dirty="0">
                <a:solidFill>
                  <a:srgbClr val="1B2430"/>
                </a:solidFill>
                <a:latin typeface="Calibri" pitchFamily="34" charset="0"/>
                <a:ea typeface="Calibri" pitchFamily="34" charset="-122"/>
                <a:cs typeface="Calibri" pitchFamily="34" charset="-120"/>
              </a:rPr>
              <a:t>, 10 a 100 veces mas rapido que MapReduce clasico para cargas iterativas. Origen: UC Berkeley AMPLab, 2010.</a:t>
            </a:r>
            <a:endParaRPr lang="en-US" sz="1350" dirty="0"/>
          </a:p>
        </p:txBody>
      </p:sp>
      <p:sp>
        <p:nvSpPr>
          <p:cNvPr id="8" name="Shape 6"/>
          <p:cNvSpPr/>
          <p:nvPr/>
        </p:nvSpPr>
        <p:spPr>
          <a:xfrm>
            <a:off x="457200" y="2057400"/>
            <a:ext cx="5623560" cy="4343400"/>
          </a:xfrm>
          <a:prstGeom prst="roundRect">
            <a:avLst>
              <a:gd name="adj" fmla="val 3158"/>
            </a:avLst>
          </a:prstGeom>
          <a:solidFill>
            <a:srgbClr val="F3F6FB"/>
          </a:solidFill>
          <a:ln w="9525">
            <a:solidFill>
              <a:srgbClr val="D9E1EA"/>
            </a:solidFill>
            <a:prstDash val="solid"/>
          </a:ln>
        </p:spPr>
      </p:sp>
      <p:sp>
        <p:nvSpPr>
          <p:cNvPr id="9" name="Text 7"/>
          <p:cNvSpPr/>
          <p:nvPr/>
        </p:nvSpPr>
        <p:spPr>
          <a:xfrm>
            <a:off x="640080" y="2148840"/>
            <a:ext cx="5303520" cy="365760"/>
          </a:xfrm>
          <a:prstGeom prst="rect">
            <a:avLst/>
          </a:prstGeom>
          <a:noFill/>
          <a:ln/>
        </p:spPr>
        <p:txBody>
          <a:bodyPr wrap="square" lIns="0" tIns="0" rIns="0" bIns="0" rtlCol="0" anchor="ctr"/>
          <a:lstStyle/>
          <a:p>
            <a:pPr marL="0" indent="0">
              <a:buNone/>
            </a:pPr>
            <a:r>
              <a:rPr lang="en-US" sz="1600" b="1" dirty="0">
                <a:solidFill>
                  <a:srgbClr val="4FAE60"/>
                </a:solidFill>
                <a:latin typeface="Cambria" pitchFamily="34" charset="0"/>
                <a:ea typeface="Cambria" pitchFamily="34" charset="-122"/>
                <a:cs typeface="Cambria" pitchFamily="34" charset="-120"/>
              </a:rPr>
              <a:t>Modelo de ejecucion</a:t>
            </a:r>
            <a:endParaRPr lang="en-US" sz="1600" dirty="0"/>
          </a:p>
        </p:txBody>
      </p:sp>
      <p:sp>
        <p:nvSpPr>
          <p:cNvPr id="10" name="Shape 8"/>
          <p:cNvSpPr/>
          <p:nvPr/>
        </p:nvSpPr>
        <p:spPr>
          <a:xfrm>
            <a:off x="640080" y="2560320"/>
            <a:ext cx="365760" cy="365760"/>
          </a:xfrm>
          <a:prstGeom prst="roundRect">
            <a:avLst>
              <a:gd name="adj" fmla="val 12500"/>
            </a:avLst>
          </a:prstGeom>
          <a:solidFill>
            <a:srgbClr val="4FAE60"/>
          </a:solidFill>
          <a:ln/>
        </p:spPr>
      </p:sp>
      <p:sp>
        <p:nvSpPr>
          <p:cNvPr id="11" name="Shape 9"/>
          <p:cNvSpPr/>
          <p:nvPr/>
        </p:nvSpPr>
        <p:spPr>
          <a:xfrm>
            <a:off x="777240" y="2651760"/>
            <a:ext cx="91440" cy="182880"/>
          </a:xfrm>
          <a:prstGeom prst="rect">
            <a:avLst/>
          </a:prstGeom>
          <a:solidFill>
            <a:srgbClr val="FFFFFF"/>
          </a:solidFill>
          <a:ln/>
        </p:spPr>
      </p:sp>
      <p:sp>
        <p:nvSpPr>
          <p:cNvPr id="12" name="Text 10"/>
          <p:cNvSpPr/>
          <p:nvPr/>
        </p:nvSpPr>
        <p:spPr>
          <a:xfrm>
            <a:off x="1143000" y="2542032"/>
            <a:ext cx="4846320" cy="365760"/>
          </a:xfrm>
          <a:prstGeom prst="rect">
            <a:avLst/>
          </a:prstGeom>
          <a:noFill/>
          <a:ln/>
        </p:spPr>
        <p:txBody>
          <a:bodyPr wrap="square" lIns="0" tIns="0" rIns="0" bIns="0" rtlCol="0" anchor="ctr"/>
          <a:lstStyle/>
          <a:p>
            <a:pPr marL="0" indent="0">
              <a:buNone/>
            </a:pPr>
            <a:r>
              <a:rPr lang="en-US" sz="1250" b="1" dirty="0">
                <a:solidFill>
                  <a:srgbClr val="4FAE60"/>
                </a:solidFill>
                <a:latin typeface="Cambria" pitchFamily="34" charset="0"/>
                <a:ea typeface="Cambria" pitchFamily="34" charset="-122"/>
                <a:cs typeface="Cambria" pitchFamily="34" charset="-120"/>
              </a:rPr>
              <a:t>RDD (Resilient Distributed Dataset)</a:t>
            </a:r>
            <a:endParaRPr lang="en-US" sz="1250" dirty="0"/>
          </a:p>
        </p:txBody>
      </p:sp>
      <p:sp>
        <p:nvSpPr>
          <p:cNvPr id="13" name="Text 11"/>
          <p:cNvSpPr/>
          <p:nvPr/>
        </p:nvSpPr>
        <p:spPr>
          <a:xfrm>
            <a:off x="1143000" y="2907792"/>
            <a:ext cx="4846320" cy="50292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Conjunto de Datos Distribuido Resiliente: coleccion inmutable, particionada, con linaje para recomputar en fallos.</a:t>
            </a:r>
            <a:endParaRPr lang="en-US" sz="1100" dirty="0"/>
          </a:p>
        </p:txBody>
      </p:sp>
      <p:sp>
        <p:nvSpPr>
          <p:cNvPr id="14" name="Shape 12"/>
          <p:cNvSpPr/>
          <p:nvPr/>
        </p:nvSpPr>
        <p:spPr>
          <a:xfrm>
            <a:off x="640080" y="3493008"/>
            <a:ext cx="365760" cy="365760"/>
          </a:xfrm>
          <a:prstGeom prst="roundRect">
            <a:avLst>
              <a:gd name="adj" fmla="val 12500"/>
            </a:avLst>
          </a:prstGeom>
          <a:solidFill>
            <a:srgbClr val="4FAE60"/>
          </a:solidFill>
          <a:ln/>
        </p:spPr>
      </p:sp>
      <p:sp>
        <p:nvSpPr>
          <p:cNvPr id="15" name="Shape 13"/>
          <p:cNvSpPr/>
          <p:nvPr/>
        </p:nvSpPr>
        <p:spPr>
          <a:xfrm>
            <a:off x="777240" y="3584448"/>
            <a:ext cx="91440" cy="182880"/>
          </a:xfrm>
          <a:prstGeom prst="rect">
            <a:avLst/>
          </a:prstGeom>
          <a:solidFill>
            <a:srgbClr val="FFFFFF"/>
          </a:solidFill>
          <a:ln/>
        </p:spPr>
      </p:sp>
      <p:sp>
        <p:nvSpPr>
          <p:cNvPr id="16" name="Text 14"/>
          <p:cNvSpPr/>
          <p:nvPr/>
        </p:nvSpPr>
        <p:spPr>
          <a:xfrm>
            <a:off x="1143000" y="3474720"/>
            <a:ext cx="4846320" cy="365760"/>
          </a:xfrm>
          <a:prstGeom prst="rect">
            <a:avLst/>
          </a:prstGeom>
          <a:noFill/>
          <a:ln/>
        </p:spPr>
        <p:txBody>
          <a:bodyPr wrap="square" lIns="0" tIns="0" rIns="0" bIns="0" rtlCol="0" anchor="ctr"/>
          <a:lstStyle/>
          <a:p>
            <a:pPr marL="0" indent="0">
              <a:buNone/>
            </a:pPr>
            <a:r>
              <a:rPr lang="en-US" sz="1250" b="1" dirty="0">
                <a:solidFill>
                  <a:srgbClr val="4FAE60"/>
                </a:solidFill>
                <a:latin typeface="Cambria" pitchFamily="34" charset="0"/>
                <a:ea typeface="Cambria" pitchFamily="34" charset="-122"/>
                <a:cs typeface="Cambria" pitchFamily="34" charset="-120"/>
              </a:rPr>
              <a:t>DAG (Directed Acyclic Graph)</a:t>
            </a:r>
            <a:endParaRPr lang="en-US" sz="1250" dirty="0"/>
          </a:p>
        </p:txBody>
      </p:sp>
      <p:sp>
        <p:nvSpPr>
          <p:cNvPr id="17" name="Text 15"/>
          <p:cNvSpPr/>
          <p:nvPr/>
        </p:nvSpPr>
        <p:spPr>
          <a:xfrm>
            <a:off x="1143000" y="3840480"/>
            <a:ext cx="4846320" cy="50292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Grafo Aciclico Dirigido de transformaciones; el optimizador Catalyst decide el mejor plan.</a:t>
            </a:r>
            <a:endParaRPr lang="en-US" sz="1100" dirty="0"/>
          </a:p>
        </p:txBody>
      </p:sp>
      <p:sp>
        <p:nvSpPr>
          <p:cNvPr id="18" name="Shape 16"/>
          <p:cNvSpPr/>
          <p:nvPr/>
        </p:nvSpPr>
        <p:spPr>
          <a:xfrm>
            <a:off x="640080" y="4425696"/>
            <a:ext cx="365760" cy="365760"/>
          </a:xfrm>
          <a:prstGeom prst="roundRect">
            <a:avLst>
              <a:gd name="adj" fmla="val 12500"/>
            </a:avLst>
          </a:prstGeom>
          <a:solidFill>
            <a:srgbClr val="4FAE60"/>
          </a:solidFill>
          <a:ln/>
        </p:spPr>
      </p:sp>
      <p:sp>
        <p:nvSpPr>
          <p:cNvPr id="19" name="Shape 17"/>
          <p:cNvSpPr/>
          <p:nvPr/>
        </p:nvSpPr>
        <p:spPr>
          <a:xfrm>
            <a:off x="777240" y="4517136"/>
            <a:ext cx="91440" cy="182880"/>
          </a:xfrm>
          <a:prstGeom prst="rect">
            <a:avLst/>
          </a:prstGeom>
          <a:solidFill>
            <a:srgbClr val="FFFFFF"/>
          </a:solidFill>
          <a:ln/>
        </p:spPr>
      </p:sp>
      <p:sp>
        <p:nvSpPr>
          <p:cNvPr id="20" name="Text 18"/>
          <p:cNvSpPr/>
          <p:nvPr/>
        </p:nvSpPr>
        <p:spPr>
          <a:xfrm>
            <a:off x="1143000" y="4407408"/>
            <a:ext cx="4846320" cy="365760"/>
          </a:xfrm>
          <a:prstGeom prst="rect">
            <a:avLst/>
          </a:prstGeom>
          <a:noFill/>
          <a:ln/>
        </p:spPr>
        <p:txBody>
          <a:bodyPr wrap="square" lIns="0" tIns="0" rIns="0" bIns="0" rtlCol="0" anchor="ctr"/>
          <a:lstStyle/>
          <a:p>
            <a:pPr marL="0" indent="0">
              <a:buNone/>
            </a:pPr>
            <a:r>
              <a:rPr lang="en-US" sz="1250" b="1" dirty="0">
                <a:solidFill>
                  <a:srgbClr val="4FAE60"/>
                </a:solidFill>
                <a:latin typeface="Cambria" pitchFamily="34" charset="0"/>
                <a:ea typeface="Cambria" pitchFamily="34" charset="-122"/>
                <a:cs typeface="Cambria" pitchFamily="34" charset="-120"/>
              </a:rPr>
              <a:t>Transformaciones vs acciones</a:t>
            </a:r>
            <a:endParaRPr lang="en-US" sz="1250" dirty="0"/>
          </a:p>
        </p:txBody>
      </p:sp>
      <p:sp>
        <p:nvSpPr>
          <p:cNvPr id="21" name="Text 19"/>
          <p:cNvSpPr/>
          <p:nvPr/>
        </p:nvSpPr>
        <p:spPr>
          <a:xfrm>
            <a:off x="1143000" y="4773168"/>
            <a:ext cx="4846320" cy="50292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Lazy: transformaciones (map, filter, join) construyen el DAG; solo las acciones (count, collect, save) disparan la ejecucion.</a:t>
            </a:r>
            <a:endParaRPr lang="en-US" sz="1100" dirty="0"/>
          </a:p>
        </p:txBody>
      </p:sp>
      <p:sp>
        <p:nvSpPr>
          <p:cNvPr id="22" name="Shape 20"/>
          <p:cNvSpPr/>
          <p:nvPr/>
        </p:nvSpPr>
        <p:spPr>
          <a:xfrm>
            <a:off x="640080" y="5358384"/>
            <a:ext cx="365760" cy="365760"/>
          </a:xfrm>
          <a:prstGeom prst="roundRect">
            <a:avLst>
              <a:gd name="adj" fmla="val 12500"/>
            </a:avLst>
          </a:prstGeom>
          <a:solidFill>
            <a:srgbClr val="4FAE60"/>
          </a:solidFill>
          <a:ln/>
        </p:spPr>
      </p:sp>
      <p:sp>
        <p:nvSpPr>
          <p:cNvPr id="23" name="Shape 21"/>
          <p:cNvSpPr/>
          <p:nvPr/>
        </p:nvSpPr>
        <p:spPr>
          <a:xfrm>
            <a:off x="777240" y="5449824"/>
            <a:ext cx="91440" cy="182880"/>
          </a:xfrm>
          <a:prstGeom prst="rect">
            <a:avLst/>
          </a:prstGeom>
          <a:solidFill>
            <a:srgbClr val="FFFFFF"/>
          </a:solidFill>
          <a:ln/>
        </p:spPr>
      </p:sp>
      <p:sp>
        <p:nvSpPr>
          <p:cNvPr id="24" name="Text 22"/>
          <p:cNvSpPr/>
          <p:nvPr/>
        </p:nvSpPr>
        <p:spPr>
          <a:xfrm>
            <a:off x="1143000" y="5340096"/>
            <a:ext cx="4846320" cy="365760"/>
          </a:xfrm>
          <a:prstGeom prst="rect">
            <a:avLst/>
          </a:prstGeom>
          <a:noFill/>
          <a:ln/>
        </p:spPr>
        <p:txBody>
          <a:bodyPr wrap="square" lIns="0" tIns="0" rIns="0" bIns="0" rtlCol="0" anchor="ctr"/>
          <a:lstStyle/>
          <a:p>
            <a:pPr marL="0" indent="0">
              <a:buNone/>
            </a:pPr>
            <a:r>
              <a:rPr lang="en-US" sz="1250" b="1" dirty="0">
                <a:solidFill>
                  <a:srgbClr val="4FAE60"/>
                </a:solidFill>
                <a:latin typeface="Cambria" pitchFamily="34" charset="0"/>
                <a:ea typeface="Cambria" pitchFamily="34" charset="-122"/>
                <a:cs typeface="Cambria" pitchFamily="34" charset="-120"/>
              </a:rPr>
              <a:t>DataFrame / Dataset / Spark SQL</a:t>
            </a:r>
            <a:endParaRPr lang="en-US" sz="1250" dirty="0"/>
          </a:p>
        </p:txBody>
      </p:sp>
      <p:sp>
        <p:nvSpPr>
          <p:cNvPr id="25" name="Text 23"/>
          <p:cNvSpPr/>
          <p:nvPr/>
        </p:nvSpPr>
        <p:spPr>
          <a:xfrm>
            <a:off x="1143000" y="5705856"/>
            <a:ext cx="4846320" cy="502920"/>
          </a:xfrm>
          <a:prstGeom prst="rect">
            <a:avLst/>
          </a:prstGeom>
          <a:noFill/>
          <a:ln/>
        </p:spPr>
        <p:txBody>
          <a:bodyPr wrap="square" lIns="0" tIns="0" rIns="0" bIns="0" rtlCol="0" anchor="t"/>
          <a:lstStyle/>
          <a:p>
            <a:pPr marL="0" indent="0">
              <a:buNone/>
            </a:pPr>
            <a:r>
              <a:rPr lang="en-US" sz="1100" dirty="0">
                <a:solidFill>
                  <a:srgbClr val="1B2430"/>
                </a:solidFill>
                <a:latin typeface="Calibri" pitchFamily="34" charset="0"/>
                <a:ea typeface="Calibri" pitchFamily="34" charset="-122"/>
                <a:cs typeface="Calibri" pitchFamily="34" charset="-120"/>
              </a:rPr>
              <a:t>APIs de alto nivel con esquema, mas eficientes que RDD para casos analiticos.</a:t>
            </a:r>
            <a:endParaRPr lang="en-US" sz="1100" dirty="0"/>
          </a:p>
        </p:txBody>
      </p:sp>
      <p:sp>
        <p:nvSpPr>
          <p:cNvPr id="26" name="Shape 24"/>
          <p:cNvSpPr/>
          <p:nvPr/>
        </p:nvSpPr>
        <p:spPr>
          <a:xfrm>
            <a:off x="6172200" y="2057400"/>
            <a:ext cx="5532120" cy="1965960"/>
          </a:xfrm>
          <a:prstGeom prst="roundRect">
            <a:avLst>
              <a:gd name="adj" fmla="val 6977"/>
            </a:avLst>
          </a:prstGeom>
          <a:solidFill>
            <a:srgbClr val="FFFFFF"/>
          </a:solidFill>
          <a:ln w="12700">
            <a:solidFill>
              <a:srgbClr val="4FAE60"/>
            </a:solidFill>
            <a:prstDash val="solid"/>
          </a:ln>
        </p:spPr>
      </p:sp>
      <p:sp>
        <p:nvSpPr>
          <p:cNvPr id="27" name="Text 25"/>
          <p:cNvSpPr/>
          <p:nvPr/>
        </p:nvSpPr>
        <p:spPr>
          <a:xfrm>
            <a:off x="6355080" y="2148840"/>
            <a:ext cx="5212080" cy="365760"/>
          </a:xfrm>
          <a:prstGeom prst="rect">
            <a:avLst/>
          </a:prstGeom>
          <a:noFill/>
          <a:ln/>
        </p:spPr>
        <p:txBody>
          <a:bodyPr wrap="square" lIns="0" tIns="0" rIns="0" bIns="0" rtlCol="0" anchor="ctr"/>
          <a:lstStyle/>
          <a:p>
            <a:pPr marL="0" indent="0">
              <a:buNone/>
            </a:pPr>
            <a:r>
              <a:rPr lang="en-US" sz="1500" b="1" dirty="0">
                <a:solidFill>
                  <a:srgbClr val="4FAE60"/>
                </a:solidFill>
                <a:latin typeface="Cambria" pitchFamily="34" charset="0"/>
                <a:ea typeface="Cambria" pitchFamily="34" charset="-122"/>
                <a:cs typeface="Cambria" pitchFamily="34" charset="-120"/>
              </a:rPr>
              <a:t>Modulos del ecosistema</a:t>
            </a:r>
            <a:endParaRPr lang="en-US" sz="1500" dirty="0"/>
          </a:p>
        </p:txBody>
      </p:sp>
      <p:sp>
        <p:nvSpPr>
          <p:cNvPr id="28" name="Shape 26"/>
          <p:cNvSpPr/>
          <p:nvPr/>
        </p:nvSpPr>
        <p:spPr>
          <a:xfrm>
            <a:off x="6355080" y="2606040"/>
            <a:ext cx="2606040" cy="594360"/>
          </a:xfrm>
          <a:prstGeom prst="roundRect">
            <a:avLst>
              <a:gd name="adj" fmla="val 12308"/>
            </a:avLst>
          </a:prstGeom>
          <a:solidFill>
            <a:srgbClr val="E9F5EC"/>
          </a:solidFill>
          <a:ln w="9525">
            <a:solidFill>
              <a:srgbClr val="4FAE60"/>
            </a:solidFill>
            <a:prstDash val="solid"/>
          </a:ln>
        </p:spPr>
      </p:sp>
      <p:sp>
        <p:nvSpPr>
          <p:cNvPr id="29" name="Text 27"/>
          <p:cNvSpPr/>
          <p:nvPr/>
        </p:nvSpPr>
        <p:spPr>
          <a:xfrm>
            <a:off x="6446520" y="2606040"/>
            <a:ext cx="2423160" cy="594360"/>
          </a:xfrm>
          <a:prstGeom prst="rect">
            <a:avLst/>
          </a:prstGeom>
          <a:noFill/>
          <a:ln/>
        </p:spPr>
        <p:txBody>
          <a:bodyPr wrap="square" lIns="0" tIns="0" rIns="0" bIns="0" rtlCol="0" anchor="ctr"/>
          <a:lstStyle/>
          <a:p>
            <a:pPr marL="0" indent="0">
              <a:buNone/>
            </a:pPr>
            <a:r>
              <a:rPr lang="en-US" sz="1200" b="1" dirty="0">
                <a:solidFill>
                  <a:srgbClr val="0E3F7E"/>
                </a:solidFill>
                <a:latin typeface="Cambria" pitchFamily="34" charset="0"/>
                <a:ea typeface="Cambria" pitchFamily="34" charset="-122"/>
                <a:cs typeface="Cambria" pitchFamily="34" charset="-120"/>
              </a:rPr>
              <a:t>Spark SQL </a:t>
            </a:r>
            <a:r>
              <a:rPr lang="en-US" sz="1100" dirty="0">
                <a:solidFill>
                  <a:srgbClr val="1B2430"/>
                </a:solidFill>
                <a:latin typeface="Calibri" pitchFamily="34" charset="0"/>
                <a:ea typeface="Calibri" pitchFamily="34" charset="-122"/>
                <a:cs typeface="Calibri" pitchFamily="34" charset="-120"/>
              </a:rPr>
              <a:t>- SQL + DataFrame</a:t>
            </a:r>
            <a:endParaRPr lang="en-US" sz="1200" dirty="0"/>
          </a:p>
        </p:txBody>
      </p:sp>
      <p:sp>
        <p:nvSpPr>
          <p:cNvPr id="30" name="Shape 28"/>
          <p:cNvSpPr/>
          <p:nvPr/>
        </p:nvSpPr>
        <p:spPr>
          <a:xfrm>
            <a:off x="9052560" y="2606040"/>
            <a:ext cx="2606040" cy="594360"/>
          </a:xfrm>
          <a:prstGeom prst="roundRect">
            <a:avLst>
              <a:gd name="adj" fmla="val 12308"/>
            </a:avLst>
          </a:prstGeom>
          <a:solidFill>
            <a:srgbClr val="E9F5EC"/>
          </a:solidFill>
          <a:ln w="9525">
            <a:solidFill>
              <a:srgbClr val="4FAE60"/>
            </a:solidFill>
            <a:prstDash val="solid"/>
          </a:ln>
        </p:spPr>
      </p:sp>
      <p:sp>
        <p:nvSpPr>
          <p:cNvPr id="31" name="Text 29"/>
          <p:cNvSpPr/>
          <p:nvPr/>
        </p:nvSpPr>
        <p:spPr>
          <a:xfrm>
            <a:off x="9144000" y="2606040"/>
            <a:ext cx="2423160" cy="594360"/>
          </a:xfrm>
          <a:prstGeom prst="rect">
            <a:avLst/>
          </a:prstGeom>
          <a:noFill/>
          <a:ln/>
        </p:spPr>
        <p:txBody>
          <a:bodyPr wrap="square" lIns="0" tIns="0" rIns="0" bIns="0" rtlCol="0" anchor="ctr"/>
          <a:lstStyle/>
          <a:p>
            <a:pPr marL="0" indent="0">
              <a:buNone/>
            </a:pPr>
            <a:r>
              <a:rPr lang="en-US" sz="1200" b="1" dirty="0">
                <a:solidFill>
                  <a:srgbClr val="0E3F7E"/>
                </a:solidFill>
                <a:latin typeface="Cambria" pitchFamily="34" charset="0"/>
                <a:ea typeface="Cambria" pitchFamily="34" charset="-122"/>
                <a:cs typeface="Cambria" pitchFamily="34" charset="-120"/>
              </a:rPr>
              <a:t>Structured Streaming </a:t>
            </a:r>
            <a:r>
              <a:rPr lang="en-US" sz="1100" dirty="0">
                <a:solidFill>
                  <a:srgbClr val="1B2430"/>
                </a:solidFill>
                <a:latin typeface="Calibri" pitchFamily="34" charset="0"/>
                <a:ea typeface="Calibri" pitchFamily="34" charset="-122"/>
                <a:cs typeface="Calibri" pitchFamily="34" charset="-120"/>
              </a:rPr>
              <a:t>- Streaming continuo</a:t>
            </a:r>
            <a:endParaRPr lang="en-US" sz="1200" dirty="0"/>
          </a:p>
        </p:txBody>
      </p:sp>
      <p:sp>
        <p:nvSpPr>
          <p:cNvPr id="32" name="Shape 30"/>
          <p:cNvSpPr/>
          <p:nvPr/>
        </p:nvSpPr>
        <p:spPr>
          <a:xfrm>
            <a:off x="6355080" y="3291840"/>
            <a:ext cx="2606040" cy="594360"/>
          </a:xfrm>
          <a:prstGeom prst="roundRect">
            <a:avLst>
              <a:gd name="adj" fmla="val 12308"/>
            </a:avLst>
          </a:prstGeom>
          <a:solidFill>
            <a:srgbClr val="E9F5EC"/>
          </a:solidFill>
          <a:ln w="9525">
            <a:solidFill>
              <a:srgbClr val="4FAE60"/>
            </a:solidFill>
            <a:prstDash val="solid"/>
          </a:ln>
        </p:spPr>
      </p:sp>
      <p:sp>
        <p:nvSpPr>
          <p:cNvPr id="33" name="Text 31"/>
          <p:cNvSpPr/>
          <p:nvPr/>
        </p:nvSpPr>
        <p:spPr>
          <a:xfrm>
            <a:off x="6446520" y="3291840"/>
            <a:ext cx="2423160" cy="594360"/>
          </a:xfrm>
          <a:prstGeom prst="rect">
            <a:avLst/>
          </a:prstGeom>
          <a:noFill/>
          <a:ln/>
        </p:spPr>
        <p:txBody>
          <a:bodyPr wrap="square" lIns="0" tIns="0" rIns="0" bIns="0" rtlCol="0" anchor="ctr"/>
          <a:lstStyle/>
          <a:p>
            <a:pPr marL="0" indent="0">
              <a:buNone/>
            </a:pPr>
            <a:r>
              <a:rPr lang="en-US" sz="1200" b="1" dirty="0">
                <a:solidFill>
                  <a:srgbClr val="0E3F7E"/>
                </a:solidFill>
                <a:latin typeface="Cambria" pitchFamily="34" charset="0"/>
                <a:ea typeface="Cambria" pitchFamily="34" charset="-122"/>
                <a:cs typeface="Cambria" pitchFamily="34" charset="-120"/>
              </a:rPr>
              <a:t>MLlib </a:t>
            </a:r>
            <a:r>
              <a:rPr lang="en-US" sz="1100" dirty="0">
                <a:solidFill>
                  <a:srgbClr val="1B2430"/>
                </a:solidFill>
                <a:latin typeface="Calibri" pitchFamily="34" charset="0"/>
                <a:ea typeface="Calibri" pitchFamily="34" charset="-122"/>
                <a:cs typeface="Calibri" pitchFamily="34" charset="-120"/>
              </a:rPr>
              <a:t>- Machine Learning</a:t>
            </a:r>
            <a:endParaRPr lang="en-US" sz="1200" dirty="0"/>
          </a:p>
        </p:txBody>
      </p:sp>
      <p:sp>
        <p:nvSpPr>
          <p:cNvPr id="34" name="Shape 32"/>
          <p:cNvSpPr/>
          <p:nvPr/>
        </p:nvSpPr>
        <p:spPr>
          <a:xfrm>
            <a:off x="9052560" y="3291840"/>
            <a:ext cx="2606040" cy="594360"/>
          </a:xfrm>
          <a:prstGeom prst="roundRect">
            <a:avLst>
              <a:gd name="adj" fmla="val 12308"/>
            </a:avLst>
          </a:prstGeom>
          <a:solidFill>
            <a:srgbClr val="E9F5EC"/>
          </a:solidFill>
          <a:ln w="9525">
            <a:solidFill>
              <a:srgbClr val="4FAE60"/>
            </a:solidFill>
            <a:prstDash val="solid"/>
          </a:ln>
        </p:spPr>
      </p:sp>
      <p:sp>
        <p:nvSpPr>
          <p:cNvPr id="35" name="Text 33"/>
          <p:cNvSpPr/>
          <p:nvPr/>
        </p:nvSpPr>
        <p:spPr>
          <a:xfrm>
            <a:off x="9144000" y="3291840"/>
            <a:ext cx="2423160" cy="594360"/>
          </a:xfrm>
          <a:prstGeom prst="rect">
            <a:avLst/>
          </a:prstGeom>
          <a:noFill/>
          <a:ln/>
        </p:spPr>
        <p:txBody>
          <a:bodyPr wrap="square" lIns="0" tIns="0" rIns="0" bIns="0" rtlCol="0" anchor="ctr"/>
          <a:lstStyle/>
          <a:p>
            <a:pPr marL="0" indent="0">
              <a:buNone/>
            </a:pPr>
            <a:r>
              <a:rPr lang="en-US" sz="1200" b="1" dirty="0">
                <a:solidFill>
                  <a:srgbClr val="0E3F7E"/>
                </a:solidFill>
                <a:latin typeface="Cambria" pitchFamily="34" charset="0"/>
                <a:ea typeface="Cambria" pitchFamily="34" charset="-122"/>
                <a:cs typeface="Cambria" pitchFamily="34" charset="-120"/>
              </a:rPr>
              <a:t>GraphX </a:t>
            </a:r>
            <a:r>
              <a:rPr lang="en-US" sz="1100" dirty="0">
                <a:solidFill>
                  <a:srgbClr val="1B2430"/>
                </a:solidFill>
                <a:latin typeface="Calibri" pitchFamily="34" charset="0"/>
                <a:ea typeface="Calibri" pitchFamily="34" charset="-122"/>
                <a:cs typeface="Calibri" pitchFamily="34" charset="-120"/>
              </a:rPr>
              <a:t>- Procesamiento de grafos</a:t>
            </a:r>
            <a:endParaRPr lang="en-US" sz="1200" dirty="0"/>
          </a:p>
        </p:txBody>
      </p:sp>
      <p:sp>
        <p:nvSpPr>
          <p:cNvPr id="36" name="Shape 34"/>
          <p:cNvSpPr/>
          <p:nvPr/>
        </p:nvSpPr>
        <p:spPr>
          <a:xfrm>
            <a:off x="6172200" y="4160520"/>
            <a:ext cx="5532120" cy="2240280"/>
          </a:xfrm>
          <a:prstGeom prst="roundRect">
            <a:avLst>
              <a:gd name="adj" fmla="val 6122"/>
            </a:avLst>
          </a:prstGeom>
          <a:solidFill>
            <a:srgbClr val="0A2450"/>
          </a:solidFill>
          <a:ln/>
        </p:spPr>
      </p:sp>
      <p:sp>
        <p:nvSpPr>
          <p:cNvPr id="37" name="Text 35"/>
          <p:cNvSpPr/>
          <p:nvPr/>
        </p:nvSpPr>
        <p:spPr>
          <a:xfrm>
            <a:off x="6355080" y="4251960"/>
            <a:ext cx="5212080" cy="320040"/>
          </a:xfrm>
          <a:prstGeom prst="rect">
            <a:avLst/>
          </a:prstGeom>
          <a:noFill/>
          <a:ln/>
        </p:spPr>
        <p:txBody>
          <a:bodyPr wrap="square" lIns="0" tIns="0" rIns="0" bIns="0" rtlCol="0" anchor="ctr"/>
          <a:lstStyle/>
          <a:p>
            <a:pPr marL="0" indent="0">
              <a:buNone/>
            </a:pPr>
            <a:r>
              <a:rPr lang="en-US" sz="1300" b="1" dirty="0">
                <a:solidFill>
                  <a:srgbClr val="F2A413"/>
                </a:solidFill>
                <a:latin typeface="Cambria" pitchFamily="34" charset="0"/>
                <a:ea typeface="Cambria" pitchFamily="34" charset="-122"/>
                <a:cs typeface="Cambria" pitchFamily="34" charset="-120"/>
              </a:rPr>
              <a:t>PySpark: WordCount con DataFrames</a:t>
            </a:r>
            <a:endParaRPr lang="en-US" sz="1300" dirty="0"/>
          </a:p>
        </p:txBody>
      </p:sp>
      <p:sp>
        <p:nvSpPr>
          <p:cNvPr id="38" name="Text 36"/>
          <p:cNvSpPr/>
          <p:nvPr/>
        </p:nvSpPr>
        <p:spPr>
          <a:xfrm>
            <a:off x="6355080" y="4572000"/>
            <a:ext cx="5212080" cy="1783080"/>
          </a:xfrm>
          <a:prstGeom prst="rect">
            <a:avLst/>
          </a:prstGeom>
          <a:noFill/>
          <a:ln/>
        </p:spPr>
        <p:txBody>
          <a:bodyPr wrap="square" lIns="0" tIns="0" rIns="0" bIns="0" rtlCol="0" anchor="t"/>
          <a:lstStyle/>
          <a:p>
            <a:pPr marL="0" indent="0">
              <a:buNone/>
            </a:pPr>
            <a:r>
              <a:rPr lang="en-US" sz="1100" dirty="0">
                <a:solidFill>
                  <a:srgbClr val="9CDCFE"/>
                </a:solidFill>
                <a:latin typeface="Courier New" pitchFamily="34" charset="0"/>
                <a:ea typeface="Courier New" pitchFamily="34" charset="-122"/>
                <a:cs typeface="Courier New" pitchFamily="34" charset="-120"/>
              </a:rPr>
              <a:t>from pyspark.sql import SparkSession</a:t>
            </a:r>
            <a:endParaRPr lang="en-US" sz="1100" dirty="0"/>
          </a:p>
          <a:p>
            <a:pPr marL="0" indent="0">
              <a:buNone/>
            </a:pPr>
            <a:r>
              <a:rPr lang="en-US" sz="1100" dirty="0">
                <a:solidFill>
                  <a:srgbClr val="9CDCFE"/>
                </a:solidFill>
                <a:latin typeface="Courier New" pitchFamily="34" charset="0"/>
                <a:ea typeface="Courier New" pitchFamily="34" charset="-122"/>
                <a:cs typeface="Courier New" pitchFamily="34" charset="-120"/>
              </a:rPr>
              <a:t>from pyspark.sql.functions import explode, split</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D4D4D4"/>
                </a:solidFill>
                <a:latin typeface="Courier New" pitchFamily="34" charset="0"/>
                <a:ea typeface="Courier New" pitchFamily="34" charset="-122"/>
                <a:cs typeface="Courier New" pitchFamily="34" charset="-120"/>
              </a:rPr>
              <a:t>spark = SparkSession.builder.getOrCreate()</a:t>
            </a:r>
            <a:endParaRPr lang="en-US" sz="1100" dirty="0"/>
          </a:p>
          <a:p>
            <a:pPr marL="0" indent="0">
              <a:buNone/>
            </a:pPr>
            <a:r>
              <a:rPr lang="en-US" sz="1100" dirty="0">
                <a:solidFill>
                  <a:srgbClr val="D4D4D4"/>
                </a:solidFill>
                <a:latin typeface="Courier New" pitchFamily="34" charset="0"/>
                <a:ea typeface="Courier New" pitchFamily="34" charset="-122"/>
                <a:cs typeface="Courier New" pitchFamily="34" charset="-120"/>
              </a:rPr>
              <a:t>lineas = spark.read.text("hdfs:///quijote.txt")</a:t>
            </a:r>
            <a:endParaRPr lang="en-US" sz="1100" dirty="0"/>
          </a:p>
          <a:p>
            <a:pPr marL="0" indent="0">
              <a:buNone/>
            </a:pPr>
            <a:r>
              <a:rPr lang="en-US" sz="1100" dirty="0">
                <a:solidFill>
                  <a:srgbClr val="D4D4D4"/>
                </a:solidFill>
                <a:latin typeface="Courier New" pitchFamily="34" charset="0"/>
                <a:ea typeface="Courier New" pitchFamily="34" charset="-122"/>
                <a:cs typeface="Courier New" pitchFamily="34" charset="-120"/>
              </a:rPr>
              <a:t>conteo = (lineas</a:t>
            </a:r>
            <a:endParaRPr lang="en-US" sz="1100" dirty="0"/>
          </a:p>
          <a:p>
            <a:pPr marL="0" indent="0">
              <a:buNone/>
            </a:pPr>
            <a:r>
              <a:rPr lang="en-US" sz="1100" dirty="0">
                <a:solidFill>
                  <a:srgbClr val="D4D4D4"/>
                </a:solidFill>
                <a:latin typeface="Courier New" pitchFamily="34" charset="0"/>
                <a:ea typeface="Courier New" pitchFamily="34" charset="-122"/>
                <a:cs typeface="Courier New" pitchFamily="34" charset="-120"/>
              </a:rPr>
              <a:t>    .select(explode(split("value"," ")).alias("w"))</a:t>
            </a:r>
            <a:endParaRPr lang="en-US" sz="1100" dirty="0"/>
          </a:p>
          <a:p>
            <a:pPr marL="0" indent="0">
              <a:buNone/>
            </a:pPr>
            <a:r>
              <a:rPr lang="en-US" sz="1100" dirty="0">
                <a:solidFill>
                  <a:srgbClr val="D4D4D4"/>
                </a:solidFill>
                <a:latin typeface="Courier New" pitchFamily="34" charset="0"/>
                <a:ea typeface="Courier New" pitchFamily="34" charset="-122"/>
                <a:cs typeface="Courier New" pitchFamily="34" charset="-120"/>
              </a:rPr>
              <a:t>    .groupBy("w").count()</a:t>
            </a:r>
            <a:endParaRPr lang="en-US" sz="1100" dirty="0"/>
          </a:p>
          <a:p>
            <a:pPr marL="0" indent="0">
              <a:buNone/>
            </a:pPr>
            <a:r>
              <a:rPr lang="en-US" sz="1100" dirty="0">
                <a:solidFill>
                  <a:srgbClr val="D4D4D4"/>
                </a:solidFill>
                <a:latin typeface="Courier New" pitchFamily="34" charset="0"/>
                <a:ea typeface="Courier New" pitchFamily="34" charset="-122"/>
                <a:cs typeface="Courier New" pitchFamily="34" charset="-120"/>
              </a:rPr>
              <a:t>    .orderBy("count", ascending=False))</a:t>
            </a:r>
            <a:endParaRPr lang="en-US" sz="1100" dirty="0"/>
          </a:p>
          <a:p>
            <a:pPr marL="0" indent="0">
              <a:buNone/>
            </a:pPr>
            <a:r>
              <a:rPr lang="en-US" sz="1100" dirty="0">
                <a:solidFill>
                  <a:srgbClr val="DCDCAA"/>
                </a:solidFill>
                <a:latin typeface="Courier New" pitchFamily="34" charset="0"/>
                <a:ea typeface="Courier New" pitchFamily="34" charset="-122"/>
                <a:cs typeface="Courier New" pitchFamily="34" charset="-120"/>
              </a:rPr>
              <a:t>conteo.show(10)</a:t>
            </a:r>
            <a:endParaRPr lang="en-US" sz="1100" dirty="0"/>
          </a:p>
        </p:txBody>
      </p:sp>
      <p:sp>
        <p:nvSpPr>
          <p:cNvPr id="40" name="Shape 37"/>
          <p:cNvSpPr/>
          <p:nvPr/>
        </p:nvSpPr>
        <p:spPr>
          <a:xfrm>
            <a:off x="457200" y="6537960"/>
            <a:ext cx="11247120" cy="0"/>
          </a:xfrm>
          <a:prstGeom prst="line">
            <a:avLst/>
          </a:prstGeom>
          <a:noFill/>
          <a:ln w="9525">
            <a:solidFill>
              <a:srgbClr val="D9E1EA"/>
            </a:solidFill>
            <a:prstDash val="solid"/>
          </a:ln>
        </p:spPr>
      </p:sp>
      <p:sp>
        <p:nvSpPr>
          <p:cNvPr id="41" name="Text 38"/>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42" name="Text 39"/>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4.3.3 Spark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4FAE60"/>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4.3.4</a:t>
            </a:r>
            <a:endParaRPr lang="en-US" sz="20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Streaming en tiempo real con Kafka Streams</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11247120" cy="822960"/>
          </a:xfrm>
          <a:prstGeom prst="roundRect">
            <a:avLst>
              <a:gd name="adj" fmla="val 11111"/>
            </a:avLst>
          </a:prstGeom>
          <a:solidFill>
            <a:srgbClr val="E9F5EC"/>
          </a:solidFill>
          <a:ln/>
        </p:spPr>
      </p:sp>
      <p:sp>
        <p:nvSpPr>
          <p:cNvPr id="7" name="Text 5"/>
          <p:cNvSpPr/>
          <p:nvPr/>
        </p:nvSpPr>
        <p:spPr>
          <a:xfrm>
            <a:off x="640080" y="1143000"/>
            <a:ext cx="10881360" cy="822960"/>
          </a:xfrm>
          <a:prstGeom prst="rect">
            <a:avLst/>
          </a:prstGeom>
          <a:noFill/>
          <a:ln/>
        </p:spPr>
        <p:txBody>
          <a:bodyPr wrap="square" lIns="0" tIns="0" rIns="0" bIns="0" rtlCol="0" anchor="ctr"/>
          <a:lstStyle/>
          <a:p>
            <a:pPr marL="0" indent="0">
              <a:buNone/>
            </a:pPr>
            <a:r>
              <a:rPr lang="en-US" sz="1350" b="1" dirty="0">
                <a:solidFill>
                  <a:srgbClr val="4FAE60"/>
                </a:solidFill>
                <a:latin typeface="Cambria" pitchFamily="34" charset="0"/>
                <a:ea typeface="Cambria" pitchFamily="34" charset="-122"/>
                <a:cs typeface="Cambria" pitchFamily="34" charset="-120"/>
              </a:rPr>
              <a:t>Apache Kafka: </a:t>
            </a:r>
            <a:r>
              <a:rPr lang="en-US" sz="1250" dirty="0">
                <a:solidFill>
                  <a:srgbClr val="1B2430"/>
                </a:solidFill>
                <a:latin typeface="Calibri" pitchFamily="34" charset="0"/>
                <a:ea typeface="Calibri" pitchFamily="34" charset="-122"/>
                <a:cs typeface="Calibri" pitchFamily="34" charset="-120"/>
              </a:rPr>
              <a:t>plataforma distribuida de streaming basada en un log (bitacora) inmutable y particionado. </a:t>
            </a:r>
            <a:r>
              <a:rPr lang="en-US" sz="1350" b="1" dirty="0">
                <a:solidFill>
                  <a:srgbClr val="4FAE60"/>
                </a:solidFill>
                <a:latin typeface="Cambria" pitchFamily="34" charset="0"/>
                <a:ea typeface="Cambria" pitchFamily="34" charset="-122"/>
                <a:cs typeface="Cambria" pitchFamily="34" charset="-120"/>
              </a:rPr>
              <a:t>Kafka Streams: </a:t>
            </a:r>
            <a:r>
              <a:rPr lang="en-US" sz="1250" dirty="0">
                <a:solidFill>
                  <a:srgbClr val="1B2430"/>
                </a:solidFill>
                <a:latin typeface="Calibri" pitchFamily="34" charset="0"/>
                <a:ea typeface="Calibri" pitchFamily="34" charset="-122"/>
                <a:cs typeface="Calibri" pitchFamily="34" charset="-120"/>
              </a:rPr>
              <a:t>libreria (biblioteca de programacion) Java/Scala para construir aplicaciones que consumen, transforman y publican streams (flujos de eventos) en tiempo real, con procesamiento exactly-once (exactamente una vez).</a:t>
            </a:r>
            <a:endParaRPr lang="en-US" sz="1350" dirty="0"/>
          </a:p>
        </p:txBody>
      </p:sp>
      <p:sp>
        <p:nvSpPr>
          <p:cNvPr id="8" name="Shape 6"/>
          <p:cNvSpPr/>
          <p:nvPr/>
        </p:nvSpPr>
        <p:spPr>
          <a:xfrm>
            <a:off x="457200" y="2103120"/>
            <a:ext cx="5623560" cy="4297680"/>
          </a:xfrm>
          <a:prstGeom prst="roundRect">
            <a:avLst>
              <a:gd name="adj" fmla="val 3191"/>
            </a:avLst>
          </a:prstGeom>
          <a:solidFill>
            <a:srgbClr val="F3F6FB"/>
          </a:solidFill>
          <a:ln/>
        </p:spPr>
      </p:sp>
      <p:sp>
        <p:nvSpPr>
          <p:cNvPr id="9" name="Text 7"/>
          <p:cNvSpPr/>
          <p:nvPr/>
        </p:nvSpPr>
        <p:spPr>
          <a:xfrm>
            <a:off x="640080" y="2194560"/>
            <a:ext cx="5303520" cy="365760"/>
          </a:xfrm>
          <a:prstGeom prst="rect">
            <a:avLst/>
          </a:prstGeom>
          <a:noFill/>
          <a:ln/>
        </p:spPr>
        <p:txBody>
          <a:bodyPr wrap="square" lIns="0" tIns="0" rIns="0" bIns="0" rtlCol="0" anchor="ctr"/>
          <a:lstStyle/>
          <a:p>
            <a:pPr marL="0" indent="0">
              <a:buNone/>
            </a:pPr>
            <a:r>
              <a:rPr lang="en-US" sz="1600" b="1" dirty="0">
                <a:solidFill>
                  <a:srgbClr val="4FAE60"/>
                </a:solidFill>
                <a:latin typeface="Cambria" pitchFamily="34" charset="0"/>
                <a:ea typeface="Cambria" pitchFamily="34" charset="-122"/>
                <a:cs typeface="Cambria" pitchFamily="34" charset="-120"/>
              </a:rPr>
              <a:t>Abstracciones clave</a:t>
            </a:r>
            <a:endParaRPr lang="en-US" sz="1600" dirty="0"/>
          </a:p>
        </p:txBody>
      </p:sp>
      <p:sp>
        <p:nvSpPr>
          <p:cNvPr id="10" name="Shape 8"/>
          <p:cNvSpPr/>
          <p:nvPr/>
        </p:nvSpPr>
        <p:spPr>
          <a:xfrm>
            <a:off x="640080" y="2606040"/>
            <a:ext cx="1737360" cy="502920"/>
          </a:xfrm>
          <a:prstGeom prst="roundRect">
            <a:avLst>
              <a:gd name="adj" fmla="val 10909"/>
            </a:avLst>
          </a:prstGeom>
          <a:solidFill>
            <a:srgbClr val="4FAE60"/>
          </a:solidFill>
          <a:ln/>
        </p:spPr>
      </p:sp>
      <p:sp>
        <p:nvSpPr>
          <p:cNvPr id="11" name="Text 9"/>
          <p:cNvSpPr/>
          <p:nvPr/>
        </p:nvSpPr>
        <p:spPr>
          <a:xfrm>
            <a:off x="640080" y="2606040"/>
            <a:ext cx="173736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Topic (topico)</a:t>
            </a:r>
            <a:endParaRPr lang="en-US" sz="1150" dirty="0"/>
          </a:p>
        </p:txBody>
      </p:sp>
      <p:sp>
        <p:nvSpPr>
          <p:cNvPr id="12" name="Text 10"/>
          <p:cNvSpPr/>
          <p:nvPr/>
        </p:nvSpPr>
        <p:spPr>
          <a:xfrm>
            <a:off x="2514600" y="2606040"/>
            <a:ext cx="3474720" cy="50292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Categoria de mensajes, dividida en particiones ordenadas.</a:t>
            </a:r>
            <a:endParaRPr lang="en-US" sz="1150" dirty="0"/>
          </a:p>
        </p:txBody>
      </p:sp>
      <p:sp>
        <p:nvSpPr>
          <p:cNvPr id="13" name="Shape 11"/>
          <p:cNvSpPr/>
          <p:nvPr/>
        </p:nvSpPr>
        <p:spPr>
          <a:xfrm>
            <a:off x="640080" y="3209544"/>
            <a:ext cx="1737360" cy="502920"/>
          </a:xfrm>
          <a:prstGeom prst="roundRect">
            <a:avLst>
              <a:gd name="adj" fmla="val 10909"/>
            </a:avLst>
          </a:prstGeom>
          <a:solidFill>
            <a:srgbClr val="4FAE60"/>
          </a:solidFill>
          <a:ln/>
        </p:spPr>
      </p:sp>
      <p:sp>
        <p:nvSpPr>
          <p:cNvPr id="14" name="Text 12"/>
          <p:cNvSpPr/>
          <p:nvPr/>
        </p:nvSpPr>
        <p:spPr>
          <a:xfrm>
            <a:off x="640080" y="3209544"/>
            <a:ext cx="173736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Producer / Consumer</a:t>
            </a:r>
            <a:endParaRPr lang="en-US" sz="1150" dirty="0"/>
          </a:p>
        </p:txBody>
      </p:sp>
      <p:sp>
        <p:nvSpPr>
          <p:cNvPr id="15" name="Text 13"/>
          <p:cNvSpPr/>
          <p:nvPr/>
        </p:nvSpPr>
        <p:spPr>
          <a:xfrm>
            <a:off x="2514600" y="3209544"/>
            <a:ext cx="3474720" cy="50292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Productores publican eventos; consumidores los leen a su ritmo.</a:t>
            </a:r>
            <a:endParaRPr lang="en-US" sz="1150" dirty="0"/>
          </a:p>
        </p:txBody>
      </p:sp>
      <p:sp>
        <p:nvSpPr>
          <p:cNvPr id="16" name="Shape 14"/>
          <p:cNvSpPr/>
          <p:nvPr/>
        </p:nvSpPr>
        <p:spPr>
          <a:xfrm>
            <a:off x="640080" y="3813048"/>
            <a:ext cx="1737360" cy="502920"/>
          </a:xfrm>
          <a:prstGeom prst="roundRect">
            <a:avLst>
              <a:gd name="adj" fmla="val 10909"/>
            </a:avLst>
          </a:prstGeom>
          <a:solidFill>
            <a:srgbClr val="4FAE60"/>
          </a:solidFill>
          <a:ln/>
        </p:spPr>
      </p:sp>
      <p:sp>
        <p:nvSpPr>
          <p:cNvPr id="17" name="Text 15"/>
          <p:cNvSpPr/>
          <p:nvPr/>
        </p:nvSpPr>
        <p:spPr>
          <a:xfrm>
            <a:off x="640080" y="3813048"/>
            <a:ext cx="173736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KStream</a:t>
            </a:r>
            <a:endParaRPr lang="en-US" sz="1150" dirty="0"/>
          </a:p>
        </p:txBody>
      </p:sp>
      <p:sp>
        <p:nvSpPr>
          <p:cNvPr id="18" name="Text 16"/>
          <p:cNvSpPr/>
          <p:nvPr/>
        </p:nvSpPr>
        <p:spPr>
          <a:xfrm>
            <a:off x="2514600" y="3813048"/>
            <a:ext cx="3474720" cy="50292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Stream de eventos (cada evento se procesa una vez).</a:t>
            </a:r>
            <a:endParaRPr lang="en-US" sz="1150" dirty="0"/>
          </a:p>
        </p:txBody>
      </p:sp>
      <p:sp>
        <p:nvSpPr>
          <p:cNvPr id="19" name="Shape 17"/>
          <p:cNvSpPr/>
          <p:nvPr/>
        </p:nvSpPr>
        <p:spPr>
          <a:xfrm>
            <a:off x="640080" y="4416552"/>
            <a:ext cx="1737360" cy="502920"/>
          </a:xfrm>
          <a:prstGeom prst="roundRect">
            <a:avLst>
              <a:gd name="adj" fmla="val 10909"/>
            </a:avLst>
          </a:prstGeom>
          <a:solidFill>
            <a:srgbClr val="4FAE60"/>
          </a:solidFill>
          <a:ln/>
        </p:spPr>
      </p:sp>
      <p:sp>
        <p:nvSpPr>
          <p:cNvPr id="20" name="Text 18"/>
          <p:cNvSpPr/>
          <p:nvPr/>
        </p:nvSpPr>
        <p:spPr>
          <a:xfrm>
            <a:off x="640080" y="4416552"/>
            <a:ext cx="173736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KTable</a:t>
            </a:r>
            <a:endParaRPr lang="en-US" sz="1150" dirty="0"/>
          </a:p>
        </p:txBody>
      </p:sp>
      <p:sp>
        <p:nvSpPr>
          <p:cNvPr id="21" name="Text 19"/>
          <p:cNvSpPr/>
          <p:nvPr/>
        </p:nvSpPr>
        <p:spPr>
          <a:xfrm>
            <a:off x="2514600" y="4416552"/>
            <a:ext cx="3474720" cy="50292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Tabla mutable derivada de un stream (ultimo valor por clave).</a:t>
            </a:r>
            <a:endParaRPr lang="en-US" sz="1150" dirty="0"/>
          </a:p>
        </p:txBody>
      </p:sp>
      <p:sp>
        <p:nvSpPr>
          <p:cNvPr id="22" name="Shape 20"/>
          <p:cNvSpPr/>
          <p:nvPr/>
        </p:nvSpPr>
        <p:spPr>
          <a:xfrm>
            <a:off x="640080" y="5020056"/>
            <a:ext cx="1737360" cy="502920"/>
          </a:xfrm>
          <a:prstGeom prst="roundRect">
            <a:avLst>
              <a:gd name="adj" fmla="val 10909"/>
            </a:avLst>
          </a:prstGeom>
          <a:solidFill>
            <a:srgbClr val="4FAE60"/>
          </a:solidFill>
          <a:ln/>
        </p:spPr>
      </p:sp>
      <p:sp>
        <p:nvSpPr>
          <p:cNvPr id="23" name="Text 21"/>
          <p:cNvSpPr/>
          <p:nvPr/>
        </p:nvSpPr>
        <p:spPr>
          <a:xfrm>
            <a:off x="640080" y="5020056"/>
            <a:ext cx="173736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Windowing</a:t>
            </a:r>
            <a:endParaRPr lang="en-US" sz="1150" dirty="0"/>
          </a:p>
        </p:txBody>
      </p:sp>
      <p:sp>
        <p:nvSpPr>
          <p:cNvPr id="24" name="Text 22"/>
          <p:cNvSpPr/>
          <p:nvPr/>
        </p:nvSpPr>
        <p:spPr>
          <a:xfrm>
            <a:off x="2514600" y="5020056"/>
            <a:ext cx="3474720" cy="50292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Ventanas de tiempo: tumbling (fija), hopping (deslizante), session.</a:t>
            </a:r>
            <a:endParaRPr lang="en-US" sz="1150" dirty="0"/>
          </a:p>
        </p:txBody>
      </p:sp>
      <p:sp>
        <p:nvSpPr>
          <p:cNvPr id="25" name="Shape 23"/>
          <p:cNvSpPr/>
          <p:nvPr/>
        </p:nvSpPr>
        <p:spPr>
          <a:xfrm>
            <a:off x="640080" y="5623560"/>
            <a:ext cx="1737360" cy="502920"/>
          </a:xfrm>
          <a:prstGeom prst="roundRect">
            <a:avLst>
              <a:gd name="adj" fmla="val 10909"/>
            </a:avLst>
          </a:prstGeom>
          <a:solidFill>
            <a:srgbClr val="4FAE60"/>
          </a:solidFill>
          <a:ln/>
        </p:spPr>
      </p:sp>
      <p:sp>
        <p:nvSpPr>
          <p:cNvPr id="26" name="Text 24"/>
          <p:cNvSpPr/>
          <p:nvPr/>
        </p:nvSpPr>
        <p:spPr>
          <a:xfrm>
            <a:off x="640080" y="5623560"/>
            <a:ext cx="173736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Exactly-once semantics</a:t>
            </a:r>
            <a:endParaRPr lang="en-US" sz="1150" dirty="0"/>
          </a:p>
        </p:txBody>
      </p:sp>
      <p:sp>
        <p:nvSpPr>
          <p:cNvPr id="27" name="Text 25"/>
          <p:cNvSpPr/>
          <p:nvPr/>
        </p:nvSpPr>
        <p:spPr>
          <a:xfrm>
            <a:off x="2514600" y="5623560"/>
            <a:ext cx="3474720" cy="502920"/>
          </a:xfrm>
          <a:prstGeom prst="rect">
            <a:avLst/>
          </a:prstGeom>
          <a:noFill/>
          <a:ln/>
        </p:spPr>
        <p:txBody>
          <a:bodyPr wrap="square" lIns="0" tIns="0" rIns="0" bIns="0" rtlCol="0" anchor="ctr"/>
          <a:lstStyle/>
          <a:p>
            <a:pPr marL="0" indent="0">
              <a:buNone/>
            </a:pPr>
            <a:r>
              <a:rPr lang="en-US" sz="1150" dirty="0">
                <a:solidFill>
                  <a:srgbClr val="1B2430"/>
                </a:solidFill>
                <a:latin typeface="Calibri" pitchFamily="34" charset="0"/>
                <a:ea typeface="Calibri" pitchFamily="34" charset="-122"/>
                <a:cs typeface="Calibri" pitchFamily="34" charset="-120"/>
              </a:rPr>
              <a:t>Semantica de exactamente una vez para escrituras y lecturas.</a:t>
            </a:r>
            <a:endParaRPr lang="en-US" sz="1150" dirty="0"/>
          </a:p>
        </p:txBody>
      </p:sp>
      <p:sp>
        <p:nvSpPr>
          <p:cNvPr id="28" name="Shape 26"/>
          <p:cNvSpPr/>
          <p:nvPr/>
        </p:nvSpPr>
        <p:spPr>
          <a:xfrm>
            <a:off x="6172200" y="2103120"/>
            <a:ext cx="5532120" cy="1874520"/>
          </a:xfrm>
          <a:prstGeom prst="roundRect">
            <a:avLst>
              <a:gd name="adj" fmla="val 7317"/>
            </a:avLst>
          </a:prstGeom>
          <a:solidFill>
            <a:srgbClr val="FFFFFF"/>
          </a:solidFill>
          <a:ln w="12700">
            <a:solidFill>
              <a:srgbClr val="4FAE60"/>
            </a:solidFill>
            <a:prstDash val="solid"/>
          </a:ln>
        </p:spPr>
      </p:sp>
      <p:sp>
        <p:nvSpPr>
          <p:cNvPr id="29" name="Text 27"/>
          <p:cNvSpPr/>
          <p:nvPr/>
        </p:nvSpPr>
        <p:spPr>
          <a:xfrm>
            <a:off x="6355080" y="2194560"/>
            <a:ext cx="5212080" cy="365760"/>
          </a:xfrm>
          <a:prstGeom prst="rect">
            <a:avLst/>
          </a:prstGeom>
          <a:noFill/>
          <a:ln/>
        </p:spPr>
        <p:txBody>
          <a:bodyPr wrap="square" lIns="0" tIns="0" rIns="0" bIns="0" rtlCol="0" anchor="ctr"/>
          <a:lstStyle/>
          <a:p>
            <a:pPr marL="0" indent="0">
              <a:buNone/>
            </a:pPr>
            <a:r>
              <a:rPr lang="en-US" sz="1500" b="1" dirty="0">
                <a:solidFill>
                  <a:srgbClr val="4FAE60"/>
                </a:solidFill>
                <a:latin typeface="Cambria" pitchFamily="34" charset="0"/>
                <a:ea typeface="Cambria" pitchFamily="34" charset="-122"/>
                <a:cs typeface="Cambria" pitchFamily="34" charset="-120"/>
              </a:rPr>
              <a:t>Patrones tipicos</a:t>
            </a:r>
            <a:endParaRPr lang="en-US" sz="1500" dirty="0"/>
          </a:p>
        </p:txBody>
      </p:sp>
      <p:sp>
        <p:nvSpPr>
          <p:cNvPr id="30" name="Text 28"/>
          <p:cNvSpPr/>
          <p:nvPr/>
        </p:nvSpPr>
        <p:spPr>
          <a:xfrm>
            <a:off x="6355080" y="2560320"/>
            <a:ext cx="5212080" cy="1417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B2430"/>
                </a:solidFill>
                <a:latin typeface="Calibri" pitchFamily="34" charset="0"/>
                <a:ea typeface="Calibri" pitchFamily="34" charset="-122"/>
                <a:cs typeface="Calibri" pitchFamily="34" charset="-120"/>
              </a:rPr>
              <a:t>Deteccion de fraude en pagos en tiempo real.</a:t>
            </a:r>
            <a:endParaRPr lang="en-US" sz="1200" dirty="0"/>
          </a:p>
          <a:p>
            <a:pPr marL="342900" indent="-342900">
              <a:spcAft>
                <a:spcPts val="300"/>
              </a:spcAft>
              <a:buSzPct val="100000"/>
              <a:buChar char="▪"/>
            </a:pPr>
            <a:r>
              <a:rPr lang="en-US" sz="1200" dirty="0">
                <a:solidFill>
                  <a:srgbClr val="1B2430"/>
                </a:solidFill>
                <a:latin typeface="Calibri" pitchFamily="34" charset="0"/>
                <a:ea typeface="Calibri" pitchFamily="34" charset="-122"/>
                <a:cs typeface="Calibri" pitchFamily="34" charset="-120"/>
              </a:rPr>
              <a:t>Enriquecimiento de eventos con join de stream + tabla.</a:t>
            </a:r>
            <a:endParaRPr lang="en-US" sz="1200" dirty="0"/>
          </a:p>
          <a:p>
            <a:pPr marL="342900" indent="-342900">
              <a:spcAft>
                <a:spcPts val="300"/>
              </a:spcAft>
              <a:buSzPct val="100000"/>
              <a:buChar char="▪"/>
            </a:pPr>
            <a:r>
              <a:rPr lang="en-US" sz="1200" dirty="0">
                <a:solidFill>
                  <a:srgbClr val="1B2430"/>
                </a:solidFill>
                <a:latin typeface="Calibri" pitchFamily="34" charset="0"/>
                <a:ea typeface="Calibri" pitchFamily="34" charset="-122"/>
                <a:cs typeface="Calibri" pitchFamily="34" charset="-120"/>
              </a:rPr>
              <a:t>Agregaciones por ventana (transacciones por minuto).</a:t>
            </a:r>
            <a:endParaRPr lang="en-US" sz="1200" dirty="0"/>
          </a:p>
          <a:p>
            <a:pPr marL="342900" indent="-342900">
              <a:buSzPct val="100000"/>
              <a:buChar char="▪"/>
            </a:pPr>
            <a:r>
              <a:rPr lang="en-US" sz="1200" dirty="0">
                <a:solidFill>
                  <a:srgbClr val="1B2430"/>
                </a:solidFill>
                <a:latin typeface="Calibri" pitchFamily="34" charset="0"/>
                <a:ea typeface="Calibri" pitchFamily="34" charset="-122"/>
                <a:cs typeface="Calibri" pitchFamily="34" charset="-120"/>
              </a:rPr>
              <a:t>CDC (Change Data Capture, Captura de Cambios de Datos) desde bases operativas.</a:t>
            </a:r>
            <a:endParaRPr lang="en-US" sz="1200" dirty="0"/>
          </a:p>
        </p:txBody>
      </p:sp>
      <p:sp>
        <p:nvSpPr>
          <p:cNvPr id="31" name="Shape 29"/>
          <p:cNvSpPr/>
          <p:nvPr/>
        </p:nvSpPr>
        <p:spPr>
          <a:xfrm>
            <a:off x="6172200" y="4114800"/>
            <a:ext cx="5532120" cy="2286000"/>
          </a:xfrm>
          <a:prstGeom prst="roundRect">
            <a:avLst>
              <a:gd name="adj" fmla="val 6000"/>
            </a:avLst>
          </a:prstGeom>
          <a:solidFill>
            <a:srgbClr val="0A2450"/>
          </a:solidFill>
          <a:ln/>
        </p:spPr>
      </p:sp>
      <p:sp>
        <p:nvSpPr>
          <p:cNvPr id="32" name="Text 30"/>
          <p:cNvSpPr/>
          <p:nvPr/>
        </p:nvSpPr>
        <p:spPr>
          <a:xfrm>
            <a:off x="6355080" y="4206240"/>
            <a:ext cx="5212080" cy="320040"/>
          </a:xfrm>
          <a:prstGeom prst="rect">
            <a:avLst/>
          </a:prstGeom>
          <a:noFill/>
          <a:ln/>
        </p:spPr>
        <p:txBody>
          <a:bodyPr wrap="square" lIns="0" tIns="0" rIns="0" bIns="0" rtlCol="0" anchor="ctr"/>
          <a:lstStyle/>
          <a:p>
            <a:pPr marL="0" indent="0">
              <a:buNone/>
            </a:pPr>
            <a:r>
              <a:rPr lang="en-US" sz="1300" b="1" dirty="0">
                <a:solidFill>
                  <a:srgbClr val="F2A413"/>
                </a:solidFill>
                <a:latin typeface="Cambria" pitchFamily="34" charset="0"/>
                <a:ea typeface="Cambria" pitchFamily="34" charset="-122"/>
                <a:cs typeface="Cambria" pitchFamily="34" charset="-120"/>
              </a:rPr>
              <a:t>Ejemplo minimo (Java)</a:t>
            </a:r>
            <a:endParaRPr lang="en-US" sz="1300" dirty="0"/>
          </a:p>
        </p:txBody>
      </p:sp>
      <p:sp>
        <p:nvSpPr>
          <p:cNvPr id="33" name="Text 31"/>
          <p:cNvSpPr/>
          <p:nvPr/>
        </p:nvSpPr>
        <p:spPr>
          <a:xfrm>
            <a:off x="6355080" y="4526280"/>
            <a:ext cx="5212080" cy="1828800"/>
          </a:xfrm>
          <a:prstGeom prst="rect">
            <a:avLst/>
          </a:prstGeom>
          <a:noFill/>
          <a:ln/>
        </p:spPr>
        <p:txBody>
          <a:bodyPr wrap="square" lIns="0" tIns="0" rIns="0" bIns="0" rtlCol="0" anchor="t"/>
          <a:lstStyle/>
          <a:p>
            <a:pPr marL="0" indent="0">
              <a:buNone/>
            </a:pPr>
            <a:r>
              <a:rPr lang="en-US" sz="1100" dirty="0">
                <a:solidFill>
                  <a:srgbClr val="D4D4D4"/>
                </a:solidFill>
                <a:latin typeface="Courier New" pitchFamily="34" charset="0"/>
                <a:ea typeface="Courier New" pitchFamily="34" charset="-122"/>
                <a:cs typeface="Courier New" pitchFamily="34" charset="-120"/>
              </a:rPr>
              <a:t>StreamsBuilder builder = new StreamsBuilder();</a:t>
            </a:r>
            <a:endParaRPr lang="en-US" sz="1100" dirty="0"/>
          </a:p>
          <a:p>
            <a:pPr marL="0" indent="0">
              <a:buNone/>
            </a:pPr>
            <a:r>
              <a:rPr lang="en-US" sz="1100" dirty="0">
                <a:solidFill>
                  <a:srgbClr val="D4D4D4"/>
                </a:solidFill>
                <a:latin typeface="Courier New" pitchFamily="34" charset="0"/>
                <a:ea typeface="Courier New" pitchFamily="34" charset="-122"/>
                <a:cs typeface="Courier New" pitchFamily="34" charset="-120"/>
              </a:rPr>
              <a:t>KStream&lt;String, Pago&gt; pagos =</a:t>
            </a:r>
            <a:endParaRPr lang="en-US" sz="1100" dirty="0"/>
          </a:p>
          <a:p>
            <a:pPr marL="0" indent="0">
              <a:buNone/>
            </a:pPr>
            <a:r>
              <a:rPr lang="en-US" sz="1100" dirty="0">
                <a:solidFill>
                  <a:srgbClr val="D4D4D4"/>
                </a:solidFill>
                <a:latin typeface="Courier New" pitchFamily="34" charset="0"/>
                <a:ea typeface="Courier New" pitchFamily="34" charset="-122"/>
                <a:cs typeface="Courier New" pitchFamily="34" charset="-120"/>
              </a:rPr>
              <a:t>    builder.stream("pagos");</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9CDCFE"/>
                </a:solidFill>
                <a:latin typeface="Courier New" pitchFamily="34" charset="0"/>
                <a:ea typeface="Courier New" pitchFamily="34" charset="-122"/>
                <a:cs typeface="Courier New" pitchFamily="34" charset="-120"/>
              </a:rPr>
              <a:t>pagos.filter((k, v) -&gt; v.getMonto() &gt; 5000)</a:t>
            </a:r>
            <a:endParaRPr lang="en-US" sz="1100" dirty="0"/>
          </a:p>
          <a:p>
            <a:pPr marL="0" indent="0">
              <a:buNone/>
            </a:pPr>
            <a:r>
              <a:rPr lang="en-US" sz="1100" dirty="0">
                <a:solidFill>
                  <a:srgbClr val="9CDCFE"/>
                </a:solidFill>
                <a:latin typeface="Courier New" pitchFamily="34" charset="0"/>
                <a:ea typeface="Courier New" pitchFamily="34" charset="-122"/>
                <a:cs typeface="Courier New" pitchFamily="34" charset="-120"/>
              </a:rPr>
              <a:t>     .mapValues(v -&gt; enriquecer(v))</a:t>
            </a:r>
            <a:endParaRPr lang="en-US" sz="1100" dirty="0"/>
          </a:p>
          <a:p>
            <a:pPr marL="0" indent="0">
              <a:buNone/>
            </a:pPr>
            <a:r>
              <a:rPr lang="en-US" sz="1100" dirty="0">
                <a:solidFill>
                  <a:srgbClr val="9CDCFE"/>
                </a:solidFill>
                <a:latin typeface="Courier New" pitchFamily="34" charset="0"/>
                <a:ea typeface="Courier New" pitchFamily="34" charset="-122"/>
                <a:cs typeface="Courier New" pitchFamily="34" charset="-120"/>
              </a:rPr>
              <a:t>     .to("pagos-sospechosos");</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DCDCAA"/>
                </a:solidFill>
                <a:latin typeface="Courier New" pitchFamily="34" charset="0"/>
                <a:ea typeface="Courier New" pitchFamily="34" charset="-122"/>
                <a:cs typeface="Courier New" pitchFamily="34" charset="-120"/>
              </a:rPr>
              <a:t>new KafkaStreams(builder.build(), props)</a:t>
            </a:r>
            <a:endParaRPr lang="en-US" sz="1100" dirty="0"/>
          </a:p>
          <a:p>
            <a:pPr marL="0" indent="0">
              <a:buNone/>
            </a:pPr>
            <a:r>
              <a:rPr lang="en-US" sz="1100" dirty="0">
                <a:solidFill>
                  <a:srgbClr val="DCDCAA"/>
                </a:solidFill>
                <a:latin typeface="Courier New" pitchFamily="34" charset="0"/>
                <a:ea typeface="Courier New" pitchFamily="34" charset="-122"/>
                <a:cs typeface="Courier New" pitchFamily="34" charset="-120"/>
              </a:rPr>
              <a:t>    .start();</a:t>
            </a:r>
            <a:endParaRPr lang="en-US" sz="1100" dirty="0"/>
          </a:p>
        </p:txBody>
      </p:sp>
      <p:sp>
        <p:nvSpPr>
          <p:cNvPr id="35" name="Shape 32"/>
          <p:cNvSpPr/>
          <p:nvPr/>
        </p:nvSpPr>
        <p:spPr>
          <a:xfrm>
            <a:off x="457200" y="6537960"/>
            <a:ext cx="11247120" cy="0"/>
          </a:xfrm>
          <a:prstGeom prst="line">
            <a:avLst/>
          </a:prstGeom>
          <a:noFill/>
          <a:ln w="9525">
            <a:solidFill>
              <a:srgbClr val="D9E1EA"/>
            </a:solidFill>
            <a:prstDash val="solid"/>
          </a:ln>
        </p:spPr>
      </p:sp>
      <p:sp>
        <p:nvSpPr>
          <p:cNvPr id="36" name="Text 33"/>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37" name="Text 34"/>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4.3.4 Kafka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F2A413"/>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Recap</a:t>
            </a:r>
            <a:endParaRPr lang="en-US" sz="20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Sintesis comparativa: quien usar y cuando</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2295086443"/>
              </p:ext>
            </p:extLst>
          </p:nvPr>
        </p:nvGraphicFramePr>
        <p:xfrm>
          <a:off x="457200" y="1143000"/>
          <a:ext cx="11247120" cy="4828032"/>
        </p:xfrm>
        <a:graphic>
          <a:graphicData uri="http://schemas.openxmlformats.org/drawingml/2006/table">
            <a:tbl>
              <a:tblPr/>
              <a:tblGrid>
                <a:gridCol w="41148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03504">
                <a:tc>
                  <a:txBody>
                    <a:bodyPr/>
                    <a:lstStyle/>
                    <a:p>
                      <a:pPr marL="0" indent="0" algn="ctr">
                        <a:buNone/>
                      </a:pPr>
                      <a:r>
                        <a:rPr lang="en-US" sz="1600" b="1" dirty="0">
                          <a:solidFill>
                            <a:srgbClr val="FFFFFF"/>
                          </a:solidFill>
                          <a:latin typeface="Cambria" pitchFamily="34" charset="0"/>
                          <a:ea typeface="Cambria" pitchFamily="34" charset="-122"/>
                          <a:cs typeface="Cambria" pitchFamily="34" charset="-120"/>
                        </a:rPr>
                        <a:t>Escenario</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E3F7E"/>
                    </a:solidFill>
                  </a:tcPr>
                </a:tc>
                <a:tc>
                  <a:txBody>
                    <a:bodyPr/>
                    <a:lstStyle/>
                    <a:p>
                      <a:pPr marL="0" indent="0" algn="ctr">
                        <a:buNone/>
                      </a:pPr>
                      <a:r>
                        <a:rPr lang="en-US" sz="1600" b="1" dirty="0">
                          <a:solidFill>
                            <a:srgbClr val="FFFFFF"/>
                          </a:solidFill>
                          <a:latin typeface="Cambria" pitchFamily="34" charset="0"/>
                          <a:ea typeface="Cambria" pitchFamily="34" charset="-122"/>
                          <a:cs typeface="Cambria" pitchFamily="34" charset="-120"/>
                        </a:rPr>
                        <a:t>Tecnologia recomendada</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E3F7E"/>
                    </a:solidFill>
                  </a:tcPr>
                </a:tc>
                <a:tc>
                  <a:txBody>
                    <a:bodyPr/>
                    <a:lstStyle/>
                    <a:p>
                      <a:pPr marL="0" indent="0" algn="ctr">
                        <a:buNone/>
                      </a:pPr>
                      <a:r>
                        <a:rPr lang="en-US" sz="1600" b="1" dirty="0">
                          <a:solidFill>
                            <a:srgbClr val="FFFFFF"/>
                          </a:solidFill>
                          <a:latin typeface="Cambria" pitchFamily="34" charset="0"/>
                          <a:ea typeface="Cambria" pitchFamily="34" charset="-122"/>
                          <a:cs typeface="Cambria" pitchFamily="34" charset="-120"/>
                        </a:rPr>
                        <a:t>Por que</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E3F7E"/>
                    </a:solidFill>
                  </a:tcPr>
                </a:tc>
                <a:extLst>
                  <a:ext uri="{0D108BD9-81ED-4DB2-BD59-A6C34878D82A}">
                    <a16:rowId xmlns:a16="http://schemas.microsoft.com/office/drawing/2014/main" val="10000"/>
                  </a:ext>
                </a:extLst>
              </a:tr>
              <a:tr h="603504">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Simulacion cientifica CPU-intensiva en 1 nodo</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b="1" dirty="0">
                          <a:solidFill>
                            <a:srgbClr val="0E3F7E"/>
                          </a:solidFill>
                          <a:latin typeface="Cambria" pitchFamily="34" charset="0"/>
                          <a:ea typeface="Cambria" pitchFamily="34" charset="-122"/>
                          <a:cs typeface="Cambria" pitchFamily="34" charset="-120"/>
                        </a:rPr>
                        <a:t>OpenMP (memoria compartida)</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Directivas simples; sin transferencia por red.</a:t>
                      </a:r>
                      <a:endParaRPr lang="en-US" sz="14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Simulacion en cluster de decenas de nodos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b="1" dirty="0">
                          <a:solidFill>
                            <a:srgbClr val="0E3F7E"/>
                          </a:solidFill>
                          <a:latin typeface="Cambria" pitchFamily="34" charset="0"/>
                          <a:ea typeface="Cambria" pitchFamily="34" charset="-122"/>
                          <a:cs typeface="Cambria" pitchFamily="34" charset="-120"/>
                        </a:rPr>
                        <a:t>MPI (paso de mensajes) + OpenMP hibrido</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Escala HPC; control fino de comunicaciones.</a:t>
                      </a:r>
                      <a:endParaRPr lang="en-US" sz="14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603504">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API con trafico esporadico y estacional</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b="1" dirty="0">
                          <a:solidFill>
                            <a:srgbClr val="2E86A1"/>
                          </a:solidFill>
                          <a:latin typeface="Cambria" pitchFamily="34" charset="0"/>
                          <a:ea typeface="Cambria" pitchFamily="34" charset="-122"/>
                          <a:cs typeface="Cambria" pitchFamily="34" charset="-120"/>
                        </a:rPr>
                        <a:t>FaaS (Lambda, Cloud Functions)</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Escalado a cero; pago por invocacion.</a:t>
                      </a:r>
                      <a:endParaRPr lang="en-US" sz="14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Backend estable con carga sostenida</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b="1" dirty="0">
                          <a:solidFill>
                            <a:srgbClr val="2E86A1"/>
                          </a:solidFill>
                          <a:latin typeface="Cambria" pitchFamily="34" charset="0"/>
                          <a:ea typeface="Cambria" pitchFamily="34" charset="-122"/>
                          <a:cs typeface="Cambria" pitchFamily="34" charset="-120"/>
                        </a:rPr>
                        <a:t>Contenedores en PaaS o Kubernetes</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Mejor costo/hora que FaaS a alta concurrencia.</a:t>
                      </a:r>
                      <a:endParaRPr lang="en-US" sz="14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extLst>
                  <a:ext uri="{0D108BD9-81ED-4DB2-BD59-A6C34878D82A}">
                    <a16:rowId xmlns:a16="http://schemas.microsoft.com/office/drawing/2014/main" val="10004"/>
                  </a:ext>
                </a:extLst>
              </a:tr>
              <a:tr h="603504">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Vehiculos autonomos y camaras IoT</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b="1" dirty="0">
                          <a:solidFill>
                            <a:srgbClr val="2E86A1"/>
                          </a:solidFill>
                          <a:latin typeface="Cambria" pitchFamily="34" charset="0"/>
                          <a:ea typeface="Cambria" pitchFamily="34" charset="-122"/>
                          <a:cs typeface="Cambria" pitchFamily="34" charset="-120"/>
                        </a:rPr>
                        <a:t>Edge computing + 5G MEC</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Latencia &lt; 10 ms; privacidad en el sitio.</a:t>
                      </a:r>
                      <a:endParaRPr lang="en-US" sz="14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extLst>
                  <a:ext uri="{0D108BD9-81ED-4DB2-BD59-A6C34878D82A}">
                    <a16:rowId xmlns:a16="http://schemas.microsoft.com/office/drawing/2014/main" val="10005"/>
                  </a:ext>
                </a:extLst>
              </a:tr>
              <a:tr h="603504">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ETL nocturno sobre terabytes historicos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600" b="1" dirty="0">
                          <a:solidFill>
                            <a:srgbClr val="4FAE60"/>
                          </a:solidFill>
                          <a:latin typeface="Cambria" pitchFamily="34" charset="0"/>
                          <a:ea typeface="Cambria" pitchFamily="34" charset="-122"/>
                          <a:cs typeface="Cambria" pitchFamily="34" charset="-120"/>
                        </a:rPr>
                        <a:t>Spark en Hadoop / EMR / Databricks</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Optimo para batch (por lotes) y ML iterativo.</a:t>
                      </a:r>
                      <a:endParaRPr lang="en-US" sz="14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3F6FB"/>
                    </a:solidFill>
                  </a:tcPr>
                </a:tc>
                <a:extLst>
                  <a:ext uri="{0D108BD9-81ED-4DB2-BD59-A6C34878D82A}">
                    <a16:rowId xmlns:a16="http://schemas.microsoft.com/office/drawing/2014/main" val="10006"/>
                  </a:ext>
                </a:extLst>
              </a:tr>
              <a:tr h="603504">
                <a:tc>
                  <a:txBody>
                    <a:bodyPr/>
                    <a:lstStyle/>
                    <a:p>
                      <a:pPr marL="0" indent="0">
                        <a:buNone/>
                      </a:pPr>
                      <a:r>
                        <a:rPr lang="en-US" sz="1600" dirty="0">
                          <a:solidFill>
                            <a:srgbClr val="1B2430"/>
                          </a:solidFill>
                          <a:latin typeface="Calibri" pitchFamily="34" charset="0"/>
                          <a:ea typeface="Calibri" pitchFamily="34" charset="-122"/>
                          <a:cs typeface="Calibri" pitchFamily="34" charset="-120"/>
                        </a:rPr>
                        <a:t>Deteccion de fraude en pagos</a:t>
                      </a:r>
                      <a:endParaRPr lang="en-US" sz="16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600" b="1" dirty="0">
                          <a:solidFill>
                            <a:srgbClr val="4FAE60"/>
                          </a:solidFill>
                          <a:latin typeface="Cambria" pitchFamily="34" charset="0"/>
                          <a:ea typeface="Cambria" pitchFamily="34" charset="-122"/>
                          <a:cs typeface="Cambria" pitchFamily="34" charset="-120"/>
                        </a:rPr>
                        <a:t>Kafka + Kafka Streams</a:t>
                      </a:r>
                      <a:endParaRPr lang="en-US" sz="1600" dirty="0">
                        <a:latin typeface="Cambria" charset="0"/>
                        <a:ea typeface="Cambria" charset="0"/>
                        <a:cs typeface="Cambria"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Streaming exactly-once, latencias sub-segundo.</a:t>
                      </a:r>
                      <a:endParaRPr lang="en-US" sz="1400" dirty="0">
                        <a:latin typeface="Calibri" charset="0"/>
                        <a:ea typeface="Calibri" charset="0"/>
                        <a:cs typeface="Calibri" charset="0"/>
                      </a:endParaRPr>
                    </a:p>
                  </a:txBody>
                  <a:tcPr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Shape 4"/>
          <p:cNvSpPr/>
          <p:nvPr/>
        </p:nvSpPr>
        <p:spPr>
          <a:xfrm>
            <a:off x="457200" y="6537960"/>
            <a:ext cx="11247120" cy="0"/>
          </a:xfrm>
          <a:prstGeom prst="line">
            <a:avLst/>
          </a:prstGeom>
          <a:noFill/>
          <a:ln w="9525">
            <a:solidFill>
              <a:srgbClr val="D9E1EA"/>
            </a:solidFill>
            <a:prstDash val="solid"/>
          </a:ln>
        </p:spPr>
      </p:sp>
      <p:sp>
        <p:nvSpPr>
          <p:cNvPr id="9" name="Text 5"/>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10" name="Text 6"/>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Recap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0E3F7E"/>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Glosario</a:t>
            </a:r>
            <a:endParaRPr lang="en-US"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Nemonicos y terminos (1 de 2): paralelismo y nube</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5623560" cy="457200"/>
          </a:xfrm>
          <a:prstGeom prst="rect">
            <a:avLst/>
          </a:prstGeom>
          <a:solidFill>
            <a:srgbClr val="F3F6FB"/>
          </a:solidFill>
          <a:ln/>
        </p:spPr>
      </p:sp>
      <p:sp>
        <p:nvSpPr>
          <p:cNvPr id="7" name="Text 5"/>
          <p:cNvSpPr/>
          <p:nvPr/>
        </p:nvSpPr>
        <p:spPr>
          <a:xfrm>
            <a:off x="594360" y="1143000"/>
            <a:ext cx="534924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API  </a:t>
            </a:r>
            <a:r>
              <a:rPr lang="en-US" sz="1200" i="1" dirty="0">
                <a:solidFill>
                  <a:srgbClr val="3B4A5A"/>
                </a:solidFill>
                <a:latin typeface="Calibri" pitchFamily="34" charset="0"/>
                <a:ea typeface="Calibri" pitchFamily="34" charset="-122"/>
                <a:cs typeface="Calibri" pitchFamily="34" charset="-120"/>
              </a:rPr>
              <a:t>(Application Programming Interface) </a:t>
            </a:r>
            <a:r>
              <a:rPr lang="en-US" sz="1400" dirty="0">
                <a:solidFill>
                  <a:srgbClr val="1B2430"/>
                </a:solidFill>
                <a:latin typeface="Calibri" pitchFamily="34" charset="0"/>
                <a:ea typeface="Calibri" pitchFamily="34" charset="-122"/>
                <a:cs typeface="Calibri" pitchFamily="34" charset="-120"/>
              </a:rPr>
              <a:t>- Interfaz de Programacion de Aplicaciones.</a:t>
            </a:r>
            <a:endParaRPr lang="en-US" sz="1600" dirty="0"/>
          </a:p>
        </p:txBody>
      </p:sp>
      <p:sp>
        <p:nvSpPr>
          <p:cNvPr id="8" name="Text 6"/>
          <p:cNvSpPr/>
          <p:nvPr/>
        </p:nvSpPr>
        <p:spPr>
          <a:xfrm>
            <a:off x="594360" y="1600200"/>
            <a:ext cx="534924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CPU  </a:t>
            </a:r>
            <a:r>
              <a:rPr lang="en-US" sz="1200" i="1" dirty="0">
                <a:solidFill>
                  <a:srgbClr val="3B4A5A"/>
                </a:solidFill>
                <a:latin typeface="Calibri" pitchFamily="34" charset="0"/>
                <a:ea typeface="Calibri" pitchFamily="34" charset="-122"/>
                <a:cs typeface="Calibri" pitchFamily="34" charset="-120"/>
              </a:rPr>
              <a:t>(Central Processing Unit) </a:t>
            </a:r>
            <a:r>
              <a:rPr lang="en-US" sz="1400" dirty="0">
                <a:solidFill>
                  <a:srgbClr val="1B2430"/>
                </a:solidFill>
                <a:latin typeface="Calibri" pitchFamily="34" charset="0"/>
                <a:ea typeface="Calibri" pitchFamily="34" charset="-122"/>
                <a:cs typeface="Calibri" pitchFamily="34" charset="-120"/>
              </a:rPr>
              <a:t>- Unidad Central de Procesamiento.</a:t>
            </a:r>
            <a:endParaRPr lang="en-US" sz="1600" dirty="0"/>
          </a:p>
        </p:txBody>
      </p:sp>
      <p:sp>
        <p:nvSpPr>
          <p:cNvPr id="9" name="Shape 7"/>
          <p:cNvSpPr/>
          <p:nvPr/>
        </p:nvSpPr>
        <p:spPr>
          <a:xfrm>
            <a:off x="457200" y="2057400"/>
            <a:ext cx="5623560" cy="457200"/>
          </a:xfrm>
          <a:prstGeom prst="rect">
            <a:avLst/>
          </a:prstGeom>
          <a:solidFill>
            <a:srgbClr val="F3F6FB"/>
          </a:solidFill>
          <a:ln/>
        </p:spPr>
      </p:sp>
      <p:sp>
        <p:nvSpPr>
          <p:cNvPr id="10" name="Text 8"/>
          <p:cNvSpPr/>
          <p:nvPr/>
        </p:nvSpPr>
        <p:spPr>
          <a:xfrm>
            <a:off x="594360" y="2057400"/>
            <a:ext cx="534924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GPU  </a:t>
            </a:r>
            <a:r>
              <a:rPr lang="en-US" sz="1200" i="1" dirty="0">
                <a:solidFill>
                  <a:srgbClr val="3B4A5A"/>
                </a:solidFill>
                <a:latin typeface="Calibri" pitchFamily="34" charset="0"/>
                <a:ea typeface="Calibri" pitchFamily="34" charset="-122"/>
                <a:cs typeface="Calibri" pitchFamily="34" charset="-120"/>
              </a:rPr>
              <a:t>(Graphics Processing Unit) </a:t>
            </a:r>
            <a:r>
              <a:rPr lang="en-US" sz="1400" dirty="0">
                <a:solidFill>
                  <a:srgbClr val="1B2430"/>
                </a:solidFill>
                <a:latin typeface="Calibri" pitchFamily="34" charset="0"/>
                <a:ea typeface="Calibri" pitchFamily="34" charset="-122"/>
                <a:cs typeface="Calibri" pitchFamily="34" charset="-120"/>
              </a:rPr>
              <a:t>- Unidad de Procesamiento Grafico.</a:t>
            </a:r>
            <a:endParaRPr lang="en-US" sz="1600" dirty="0"/>
          </a:p>
        </p:txBody>
      </p:sp>
      <p:sp>
        <p:nvSpPr>
          <p:cNvPr id="11" name="Text 9"/>
          <p:cNvSpPr/>
          <p:nvPr/>
        </p:nvSpPr>
        <p:spPr>
          <a:xfrm>
            <a:off x="594360" y="2514600"/>
            <a:ext cx="534924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SIMD  </a:t>
            </a:r>
            <a:r>
              <a:rPr lang="en-US" sz="1200" i="1" dirty="0">
                <a:solidFill>
                  <a:srgbClr val="3B4A5A"/>
                </a:solidFill>
                <a:latin typeface="Calibri" pitchFamily="34" charset="0"/>
                <a:ea typeface="Calibri" pitchFamily="34" charset="-122"/>
                <a:cs typeface="Calibri" pitchFamily="34" charset="-120"/>
              </a:rPr>
              <a:t>(Single Instruction, Multiple Data) </a:t>
            </a:r>
            <a:r>
              <a:rPr lang="en-US" sz="1400" dirty="0">
                <a:solidFill>
                  <a:srgbClr val="1B2430"/>
                </a:solidFill>
                <a:latin typeface="Calibri" pitchFamily="34" charset="0"/>
                <a:ea typeface="Calibri" pitchFamily="34" charset="-122"/>
                <a:cs typeface="Calibri" pitchFamily="34" charset="-120"/>
              </a:rPr>
              <a:t>- Instruccion Unica, Datos Multiples.</a:t>
            </a:r>
            <a:endParaRPr lang="en-US" sz="1600" dirty="0"/>
          </a:p>
        </p:txBody>
      </p:sp>
      <p:sp>
        <p:nvSpPr>
          <p:cNvPr id="12" name="Shape 10"/>
          <p:cNvSpPr/>
          <p:nvPr/>
        </p:nvSpPr>
        <p:spPr>
          <a:xfrm>
            <a:off x="457200" y="2971800"/>
            <a:ext cx="5623560" cy="457200"/>
          </a:xfrm>
          <a:prstGeom prst="rect">
            <a:avLst/>
          </a:prstGeom>
          <a:solidFill>
            <a:srgbClr val="F3F6FB"/>
          </a:solidFill>
          <a:ln/>
        </p:spPr>
      </p:sp>
      <p:sp>
        <p:nvSpPr>
          <p:cNvPr id="13" name="Text 11"/>
          <p:cNvSpPr/>
          <p:nvPr/>
        </p:nvSpPr>
        <p:spPr>
          <a:xfrm>
            <a:off x="594360" y="2971800"/>
            <a:ext cx="534924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MIMD  </a:t>
            </a:r>
            <a:r>
              <a:rPr lang="en-US" sz="1200" i="1" dirty="0">
                <a:solidFill>
                  <a:srgbClr val="3B4A5A"/>
                </a:solidFill>
                <a:latin typeface="Calibri" pitchFamily="34" charset="0"/>
                <a:ea typeface="Calibri" pitchFamily="34" charset="-122"/>
                <a:cs typeface="Calibri" pitchFamily="34" charset="-120"/>
              </a:rPr>
              <a:t>(Multiple Instruction, Multiple Data) </a:t>
            </a:r>
            <a:r>
              <a:rPr lang="en-US" sz="1400" dirty="0">
                <a:solidFill>
                  <a:srgbClr val="1B2430"/>
                </a:solidFill>
                <a:latin typeface="Calibri" pitchFamily="34" charset="0"/>
                <a:ea typeface="Calibri" pitchFamily="34" charset="-122"/>
                <a:cs typeface="Calibri" pitchFamily="34" charset="-120"/>
              </a:rPr>
              <a:t>- Instrucciones Multiples, Datos Multiples.</a:t>
            </a:r>
            <a:endParaRPr lang="en-US" sz="1600" dirty="0"/>
          </a:p>
        </p:txBody>
      </p:sp>
      <p:sp>
        <p:nvSpPr>
          <p:cNvPr id="14" name="Text 12"/>
          <p:cNvSpPr/>
          <p:nvPr/>
        </p:nvSpPr>
        <p:spPr>
          <a:xfrm>
            <a:off x="594360" y="3429000"/>
            <a:ext cx="534924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SPMD  </a:t>
            </a:r>
            <a:r>
              <a:rPr lang="en-US" sz="1200" i="1" dirty="0">
                <a:solidFill>
                  <a:srgbClr val="3B4A5A"/>
                </a:solidFill>
                <a:latin typeface="Calibri" pitchFamily="34" charset="0"/>
                <a:ea typeface="Calibri" pitchFamily="34" charset="-122"/>
                <a:cs typeface="Calibri" pitchFamily="34" charset="-120"/>
              </a:rPr>
              <a:t>(Single Program, Multiple Data) </a:t>
            </a:r>
            <a:r>
              <a:rPr lang="en-US" sz="1400" dirty="0">
                <a:solidFill>
                  <a:srgbClr val="1B2430"/>
                </a:solidFill>
                <a:latin typeface="Calibri" pitchFamily="34" charset="0"/>
                <a:ea typeface="Calibri" pitchFamily="34" charset="-122"/>
                <a:cs typeface="Calibri" pitchFamily="34" charset="-120"/>
              </a:rPr>
              <a:t>- Programa Unico, Datos Multiples.</a:t>
            </a:r>
            <a:endParaRPr lang="en-US" sz="1600" dirty="0"/>
          </a:p>
        </p:txBody>
      </p:sp>
      <p:sp>
        <p:nvSpPr>
          <p:cNvPr id="15" name="Shape 13"/>
          <p:cNvSpPr/>
          <p:nvPr/>
        </p:nvSpPr>
        <p:spPr>
          <a:xfrm>
            <a:off x="457200" y="3886200"/>
            <a:ext cx="5623560" cy="457200"/>
          </a:xfrm>
          <a:prstGeom prst="rect">
            <a:avLst/>
          </a:prstGeom>
          <a:solidFill>
            <a:srgbClr val="F3F6FB"/>
          </a:solidFill>
          <a:ln/>
        </p:spPr>
      </p:sp>
      <p:sp>
        <p:nvSpPr>
          <p:cNvPr id="16" name="Text 14"/>
          <p:cNvSpPr/>
          <p:nvPr/>
        </p:nvSpPr>
        <p:spPr>
          <a:xfrm>
            <a:off x="594360" y="3886200"/>
            <a:ext cx="534924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OpenMP  </a:t>
            </a:r>
            <a:r>
              <a:rPr lang="en-US" sz="1200" i="1" dirty="0">
                <a:solidFill>
                  <a:srgbClr val="3B4A5A"/>
                </a:solidFill>
                <a:latin typeface="Calibri" pitchFamily="34" charset="0"/>
                <a:ea typeface="Calibri" pitchFamily="34" charset="-122"/>
                <a:cs typeface="Calibri" pitchFamily="34" charset="-120"/>
              </a:rPr>
              <a:t>(Open Multi-Processing) </a:t>
            </a:r>
            <a:r>
              <a:rPr lang="en-US" sz="1400" dirty="0">
                <a:solidFill>
                  <a:srgbClr val="1B2430"/>
                </a:solidFill>
                <a:latin typeface="Calibri" pitchFamily="34" charset="0"/>
                <a:ea typeface="Calibri" pitchFamily="34" charset="-122"/>
                <a:cs typeface="Calibri" pitchFamily="34" charset="-120"/>
              </a:rPr>
              <a:t>- Procesamiento Multiple Abierto (memoria compartida).</a:t>
            </a:r>
            <a:endParaRPr lang="en-US" sz="1600" dirty="0"/>
          </a:p>
        </p:txBody>
      </p:sp>
      <p:sp>
        <p:nvSpPr>
          <p:cNvPr id="17" name="Text 15"/>
          <p:cNvSpPr/>
          <p:nvPr/>
        </p:nvSpPr>
        <p:spPr>
          <a:xfrm>
            <a:off x="594360" y="4343400"/>
            <a:ext cx="534924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MPI  </a:t>
            </a:r>
            <a:r>
              <a:rPr lang="en-US" sz="1200" i="1" dirty="0">
                <a:solidFill>
                  <a:srgbClr val="3B4A5A"/>
                </a:solidFill>
                <a:latin typeface="Calibri" pitchFamily="34" charset="0"/>
                <a:ea typeface="Calibri" pitchFamily="34" charset="-122"/>
                <a:cs typeface="Calibri" pitchFamily="34" charset="-120"/>
              </a:rPr>
              <a:t>(Message Passing Interface) </a:t>
            </a:r>
            <a:r>
              <a:rPr lang="en-US" sz="1400" dirty="0">
                <a:solidFill>
                  <a:srgbClr val="1B2430"/>
                </a:solidFill>
                <a:latin typeface="Calibri" pitchFamily="34" charset="0"/>
                <a:ea typeface="Calibri" pitchFamily="34" charset="-122"/>
                <a:cs typeface="Calibri" pitchFamily="34" charset="-120"/>
              </a:rPr>
              <a:t>- Interfaz de Paso de Mensajes.</a:t>
            </a:r>
            <a:endParaRPr lang="en-US" sz="1600" dirty="0"/>
          </a:p>
        </p:txBody>
      </p:sp>
      <p:sp>
        <p:nvSpPr>
          <p:cNvPr id="18" name="Shape 16"/>
          <p:cNvSpPr/>
          <p:nvPr/>
        </p:nvSpPr>
        <p:spPr>
          <a:xfrm>
            <a:off x="457200" y="4800600"/>
            <a:ext cx="5623560" cy="457200"/>
          </a:xfrm>
          <a:prstGeom prst="rect">
            <a:avLst/>
          </a:prstGeom>
          <a:solidFill>
            <a:srgbClr val="F3F6FB"/>
          </a:solidFill>
          <a:ln/>
        </p:spPr>
      </p:sp>
      <p:sp>
        <p:nvSpPr>
          <p:cNvPr id="19" name="Text 17"/>
          <p:cNvSpPr/>
          <p:nvPr/>
        </p:nvSpPr>
        <p:spPr>
          <a:xfrm>
            <a:off x="594360" y="4800600"/>
            <a:ext cx="534924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HPC  </a:t>
            </a:r>
            <a:r>
              <a:rPr lang="en-US" sz="1200" i="1" dirty="0">
                <a:solidFill>
                  <a:srgbClr val="3B4A5A"/>
                </a:solidFill>
                <a:latin typeface="Calibri" pitchFamily="34" charset="0"/>
                <a:ea typeface="Calibri" pitchFamily="34" charset="-122"/>
                <a:cs typeface="Calibri" pitchFamily="34" charset="-120"/>
              </a:rPr>
              <a:t>(High Performance Computing) </a:t>
            </a:r>
            <a:r>
              <a:rPr lang="en-US" sz="1400" dirty="0">
                <a:solidFill>
                  <a:srgbClr val="1B2430"/>
                </a:solidFill>
                <a:latin typeface="Calibri" pitchFamily="34" charset="0"/>
                <a:ea typeface="Calibri" pitchFamily="34" charset="-122"/>
                <a:cs typeface="Calibri" pitchFamily="34" charset="-120"/>
              </a:rPr>
              <a:t>- Computo de Alto Rendimiento.</a:t>
            </a:r>
            <a:endParaRPr lang="en-US" sz="1600" dirty="0"/>
          </a:p>
        </p:txBody>
      </p:sp>
      <p:sp>
        <p:nvSpPr>
          <p:cNvPr id="20" name="Text 18"/>
          <p:cNvSpPr/>
          <p:nvPr/>
        </p:nvSpPr>
        <p:spPr>
          <a:xfrm>
            <a:off x="594360" y="5257800"/>
            <a:ext cx="534924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Speedup  </a:t>
            </a:r>
            <a:r>
              <a:rPr lang="en-US" sz="1200" i="1" dirty="0">
                <a:solidFill>
                  <a:srgbClr val="3B4A5A"/>
                </a:solidFill>
                <a:latin typeface="Calibri" pitchFamily="34" charset="0"/>
                <a:ea typeface="Calibri" pitchFamily="34" charset="-122"/>
                <a:cs typeface="Calibri" pitchFamily="34" charset="-120"/>
              </a:rPr>
              <a:t>(Aceleracion) </a:t>
            </a:r>
            <a:r>
              <a:rPr lang="en-US" sz="1400" dirty="0">
                <a:solidFill>
                  <a:srgbClr val="1B2430"/>
                </a:solidFill>
                <a:latin typeface="Calibri" pitchFamily="34" charset="0"/>
                <a:ea typeface="Calibri" pitchFamily="34" charset="-122"/>
                <a:cs typeface="Calibri" pitchFamily="34" charset="-120"/>
              </a:rPr>
              <a:t>- S(N) = T(1)/T(N); cuanto mas rapido corre con N procesadores.</a:t>
            </a:r>
            <a:endParaRPr lang="en-US" sz="1600" dirty="0"/>
          </a:p>
        </p:txBody>
      </p:sp>
      <p:sp>
        <p:nvSpPr>
          <p:cNvPr id="21" name="Shape 19"/>
          <p:cNvSpPr/>
          <p:nvPr/>
        </p:nvSpPr>
        <p:spPr>
          <a:xfrm>
            <a:off x="457200" y="5715000"/>
            <a:ext cx="5623560" cy="457200"/>
          </a:xfrm>
          <a:prstGeom prst="rect">
            <a:avLst/>
          </a:prstGeom>
          <a:solidFill>
            <a:srgbClr val="F3F6FB"/>
          </a:solidFill>
          <a:ln/>
        </p:spPr>
      </p:sp>
      <p:sp>
        <p:nvSpPr>
          <p:cNvPr id="22" name="Text 20"/>
          <p:cNvSpPr/>
          <p:nvPr/>
        </p:nvSpPr>
        <p:spPr>
          <a:xfrm>
            <a:off x="594360" y="5715000"/>
            <a:ext cx="534924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Throughput  </a:t>
            </a:r>
            <a:r>
              <a:rPr lang="en-US" sz="1200" i="1" dirty="0">
                <a:solidFill>
                  <a:srgbClr val="3B4A5A"/>
                </a:solidFill>
                <a:latin typeface="Calibri" pitchFamily="34" charset="0"/>
                <a:ea typeface="Calibri" pitchFamily="34" charset="-122"/>
                <a:cs typeface="Calibri" pitchFamily="34" charset="-120"/>
              </a:rPr>
              <a:t>(Rendimiento) </a:t>
            </a:r>
            <a:r>
              <a:rPr lang="en-US" sz="1400" dirty="0">
                <a:solidFill>
                  <a:srgbClr val="1B2430"/>
                </a:solidFill>
                <a:latin typeface="Calibri" pitchFamily="34" charset="0"/>
                <a:ea typeface="Calibri" pitchFamily="34" charset="-122"/>
                <a:cs typeface="Calibri" pitchFamily="34" charset="-120"/>
              </a:rPr>
              <a:t>- Trabajo util por unidad de tiempo.</a:t>
            </a:r>
            <a:endParaRPr lang="en-US" sz="1600" dirty="0"/>
          </a:p>
        </p:txBody>
      </p:sp>
      <p:sp>
        <p:nvSpPr>
          <p:cNvPr id="23" name="Shape 21"/>
          <p:cNvSpPr/>
          <p:nvPr/>
        </p:nvSpPr>
        <p:spPr>
          <a:xfrm>
            <a:off x="6172200" y="1143000"/>
            <a:ext cx="5532120" cy="457200"/>
          </a:xfrm>
          <a:prstGeom prst="rect">
            <a:avLst/>
          </a:prstGeom>
          <a:solidFill>
            <a:srgbClr val="F3F6FB"/>
          </a:solidFill>
          <a:ln/>
        </p:spPr>
      </p:sp>
      <p:sp>
        <p:nvSpPr>
          <p:cNvPr id="24" name="Text 22"/>
          <p:cNvSpPr/>
          <p:nvPr/>
        </p:nvSpPr>
        <p:spPr>
          <a:xfrm>
            <a:off x="6309360" y="1143000"/>
            <a:ext cx="525780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IaaS  </a:t>
            </a:r>
            <a:r>
              <a:rPr lang="en-US" sz="1200" i="1" dirty="0">
                <a:solidFill>
                  <a:srgbClr val="3B4A5A"/>
                </a:solidFill>
                <a:latin typeface="Calibri" pitchFamily="34" charset="0"/>
                <a:ea typeface="Calibri" pitchFamily="34" charset="-122"/>
                <a:cs typeface="Calibri" pitchFamily="34" charset="-120"/>
              </a:rPr>
              <a:t>(Infrastructure as a Service) </a:t>
            </a:r>
            <a:r>
              <a:rPr lang="en-US" sz="1400" dirty="0">
                <a:solidFill>
                  <a:srgbClr val="1B2430"/>
                </a:solidFill>
                <a:latin typeface="Calibri" pitchFamily="34" charset="0"/>
                <a:ea typeface="Calibri" pitchFamily="34" charset="-122"/>
                <a:cs typeface="Calibri" pitchFamily="34" charset="-120"/>
              </a:rPr>
              <a:t>- Infraestructura como Servicio.</a:t>
            </a:r>
            <a:endParaRPr lang="en-US" sz="1600" dirty="0"/>
          </a:p>
        </p:txBody>
      </p:sp>
      <p:sp>
        <p:nvSpPr>
          <p:cNvPr id="25" name="Text 23"/>
          <p:cNvSpPr/>
          <p:nvPr/>
        </p:nvSpPr>
        <p:spPr>
          <a:xfrm>
            <a:off x="6309360" y="1600200"/>
            <a:ext cx="525780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PaaS  </a:t>
            </a:r>
            <a:r>
              <a:rPr lang="en-US" sz="1200" i="1" dirty="0">
                <a:solidFill>
                  <a:srgbClr val="3B4A5A"/>
                </a:solidFill>
                <a:latin typeface="Calibri" pitchFamily="34" charset="0"/>
                <a:ea typeface="Calibri" pitchFamily="34" charset="-122"/>
                <a:cs typeface="Calibri" pitchFamily="34" charset="-120"/>
              </a:rPr>
              <a:t>(Platform as a Service) </a:t>
            </a:r>
            <a:r>
              <a:rPr lang="en-US" sz="1400" dirty="0">
                <a:solidFill>
                  <a:srgbClr val="1B2430"/>
                </a:solidFill>
                <a:latin typeface="Calibri" pitchFamily="34" charset="0"/>
                <a:ea typeface="Calibri" pitchFamily="34" charset="-122"/>
                <a:cs typeface="Calibri" pitchFamily="34" charset="-120"/>
              </a:rPr>
              <a:t>- Plataforma como Servicio.</a:t>
            </a:r>
            <a:endParaRPr lang="en-US" sz="1600" dirty="0"/>
          </a:p>
        </p:txBody>
      </p:sp>
      <p:sp>
        <p:nvSpPr>
          <p:cNvPr id="26" name="Shape 24"/>
          <p:cNvSpPr/>
          <p:nvPr/>
        </p:nvSpPr>
        <p:spPr>
          <a:xfrm>
            <a:off x="6172200" y="2057400"/>
            <a:ext cx="5532120" cy="457200"/>
          </a:xfrm>
          <a:prstGeom prst="rect">
            <a:avLst/>
          </a:prstGeom>
          <a:solidFill>
            <a:srgbClr val="F3F6FB"/>
          </a:solidFill>
          <a:ln/>
        </p:spPr>
      </p:sp>
      <p:sp>
        <p:nvSpPr>
          <p:cNvPr id="27" name="Text 25"/>
          <p:cNvSpPr/>
          <p:nvPr/>
        </p:nvSpPr>
        <p:spPr>
          <a:xfrm>
            <a:off x="6309360" y="2057400"/>
            <a:ext cx="525780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SaaS  </a:t>
            </a:r>
            <a:r>
              <a:rPr lang="en-US" sz="1200" i="1" dirty="0">
                <a:solidFill>
                  <a:srgbClr val="3B4A5A"/>
                </a:solidFill>
                <a:latin typeface="Calibri" pitchFamily="34" charset="0"/>
                <a:ea typeface="Calibri" pitchFamily="34" charset="-122"/>
                <a:cs typeface="Calibri" pitchFamily="34" charset="-120"/>
              </a:rPr>
              <a:t>(Software as a Service) </a:t>
            </a:r>
            <a:r>
              <a:rPr lang="en-US" sz="1400" dirty="0">
                <a:solidFill>
                  <a:srgbClr val="1B2430"/>
                </a:solidFill>
                <a:latin typeface="Calibri" pitchFamily="34" charset="0"/>
                <a:ea typeface="Calibri" pitchFamily="34" charset="-122"/>
                <a:cs typeface="Calibri" pitchFamily="34" charset="-120"/>
              </a:rPr>
              <a:t>- Software como Servicio.</a:t>
            </a:r>
            <a:endParaRPr lang="en-US" sz="1600" dirty="0"/>
          </a:p>
        </p:txBody>
      </p:sp>
      <p:sp>
        <p:nvSpPr>
          <p:cNvPr id="28" name="Text 26"/>
          <p:cNvSpPr/>
          <p:nvPr/>
        </p:nvSpPr>
        <p:spPr>
          <a:xfrm>
            <a:off x="6309360" y="2514600"/>
            <a:ext cx="525780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FaaS  </a:t>
            </a:r>
            <a:r>
              <a:rPr lang="en-US" sz="1200" i="1" dirty="0">
                <a:solidFill>
                  <a:srgbClr val="3B4A5A"/>
                </a:solidFill>
                <a:latin typeface="Calibri" pitchFamily="34" charset="0"/>
                <a:ea typeface="Calibri" pitchFamily="34" charset="-122"/>
                <a:cs typeface="Calibri" pitchFamily="34" charset="-120"/>
              </a:rPr>
              <a:t>(Function as a Service) </a:t>
            </a:r>
            <a:r>
              <a:rPr lang="en-US" sz="1400" dirty="0">
                <a:solidFill>
                  <a:srgbClr val="1B2430"/>
                </a:solidFill>
                <a:latin typeface="Calibri" pitchFamily="34" charset="0"/>
                <a:ea typeface="Calibri" pitchFamily="34" charset="-122"/>
                <a:cs typeface="Calibri" pitchFamily="34" charset="-120"/>
              </a:rPr>
              <a:t>- Funcion como Servicio (serverless).</a:t>
            </a:r>
            <a:endParaRPr lang="en-US" sz="1600" dirty="0"/>
          </a:p>
        </p:txBody>
      </p:sp>
      <p:sp>
        <p:nvSpPr>
          <p:cNvPr id="29" name="Shape 27"/>
          <p:cNvSpPr/>
          <p:nvPr/>
        </p:nvSpPr>
        <p:spPr>
          <a:xfrm>
            <a:off x="6172200" y="2971800"/>
            <a:ext cx="5532120" cy="457200"/>
          </a:xfrm>
          <a:prstGeom prst="rect">
            <a:avLst/>
          </a:prstGeom>
          <a:solidFill>
            <a:srgbClr val="F3F6FB"/>
          </a:solidFill>
          <a:ln/>
        </p:spPr>
      </p:sp>
      <p:sp>
        <p:nvSpPr>
          <p:cNvPr id="30" name="Text 28"/>
          <p:cNvSpPr/>
          <p:nvPr/>
        </p:nvSpPr>
        <p:spPr>
          <a:xfrm>
            <a:off x="6309360" y="2971800"/>
            <a:ext cx="525780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VM  </a:t>
            </a:r>
            <a:r>
              <a:rPr lang="en-US" sz="1200" i="1" dirty="0">
                <a:solidFill>
                  <a:srgbClr val="3B4A5A"/>
                </a:solidFill>
                <a:latin typeface="Calibri" pitchFamily="34" charset="0"/>
                <a:ea typeface="Calibri" pitchFamily="34" charset="-122"/>
                <a:cs typeface="Calibri" pitchFamily="34" charset="-120"/>
              </a:rPr>
              <a:t>(Virtual Machine) </a:t>
            </a:r>
            <a:r>
              <a:rPr lang="en-US" sz="1400" dirty="0">
                <a:solidFill>
                  <a:srgbClr val="1B2430"/>
                </a:solidFill>
                <a:latin typeface="Calibri" pitchFamily="34" charset="0"/>
                <a:ea typeface="Calibri" pitchFamily="34" charset="-122"/>
                <a:cs typeface="Calibri" pitchFamily="34" charset="-120"/>
              </a:rPr>
              <a:t>- Maquina Virtual.</a:t>
            </a:r>
            <a:endParaRPr lang="en-US" sz="1600" dirty="0"/>
          </a:p>
        </p:txBody>
      </p:sp>
      <p:sp>
        <p:nvSpPr>
          <p:cNvPr id="31" name="Text 29"/>
          <p:cNvSpPr/>
          <p:nvPr/>
        </p:nvSpPr>
        <p:spPr>
          <a:xfrm>
            <a:off x="6309360" y="3429000"/>
            <a:ext cx="525780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SLA  </a:t>
            </a:r>
            <a:r>
              <a:rPr lang="en-US" sz="1200" i="1" dirty="0">
                <a:solidFill>
                  <a:srgbClr val="3B4A5A"/>
                </a:solidFill>
                <a:latin typeface="Calibri" pitchFamily="34" charset="0"/>
                <a:ea typeface="Calibri" pitchFamily="34" charset="-122"/>
                <a:cs typeface="Calibri" pitchFamily="34" charset="-120"/>
              </a:rPr>
              <a:t>(Service Level Agreement) </a:t>
            </a:r>
            <a:r>
              <a:rPr lang="en-US" sz="1400" dirty="0">
                <a:solidFill>
                  <a:srgbClr val="1B2430"/>
                </a:solidFill>
                <a:latin typeface="Calibri" pitchFamily="34" charset="0"/>
                <a:ea typeface="Calibri" pitchFamily="34" charset="-122"/>
                <a:cs typeface="Calibri" pitchFamily="34" charset="-120"/>
              </a:rPr>
              <a:t>- Acuerdo de Nivel de Servicio.</a:t>
            </a:r>
            <a:endParaRPr lang="en-US" sz="1600" dirty="0"/>
          </a:p>
        </p:txBody>
      </p:sp>
      <p:sp>
        <p:nvSpPr>
          <p:cNvPr id="32" name="Shape 30"/>
          <p:cNvSpPr/>
          <p:nvPr/>
        </p:nvSpPr>
        <p:spPr>
          <a:xfrm>
            <a:off x="6172200" y="3886200"/>
            <a:ext cx="5532120" cy="457200"/>
          </a:xfrm>
          <a:prstGeom prst="rect">
            <a:avLst/>
          </a:prstGeom>
          <a:solidFill>
            <a:srgbClr val="F3F6FB"/>
          </a:solidFill>
          <a:ln/>
        </p:spPr>
      </p:sp>
      <p:sp>
        <p:nvSpPr>
          <p:cNvPr id="33" name="Text 31"/>
          <p:cNvSpPr/>
          <p:nvPr/>
        </p:nvSpPr>
        <p:spPr>
          <a:xfrm>
            <a:off x="6309360" y="3886200"/>
            <a:ext cx="525780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AWS  </a:t>
            </a:r>
            <a:r>
              <a:rPr lang="en-US" sz="1200" i="1" dirty="0">
                <a:solidFill>
                  <a:srgbClr val="3B4A5A"/>
                </a:solidFill>
                <a:latin typeface="Calibri" pitchFamily="34" charset="0"/>
                <a:ea typeface="Calibri" pitchFamily="34" charset="-122"/>
                <a:cs typeface="Calibri" pitchFamily="34" charset="-120"/>
              </a:rPr>
              <a:t>(Amazon Web Services) </a:t>
            </a:r>
            <a:r>
              <a:rPr lang="en-US" sz="1400" dirty="0">
                <a:solidFill>
                  <a:srgbClr val="1B2430"/>
                </a:solidFill>
                <a:latin typeface="Calibri" pitchFamily="34" charset="0"/>
                <a:ea typeface="Calibri" pitchFamily="34" charset="-122"/>
                <a:cs typeface="Calibri" pitchFamily="34" charset="-120"/>
              </a:rPr>
              <a:t>- Servicios Web de Amazon.</a:t>
            </a:r>
            <a:endParaRPr lang="en-US" sz="1600" dirty="0"/>
          </a:p>
        </p:txBody>
      </p:sp>
      <p:sp>
        <p:nvSpPr>
          <p:cNvPr id="34" name="Text 32"/>
          <p:cNvSpPr/>
          <p:nvPr/>
        </p:nvSpPr>
        <p:spPr>
          <a:xfrm>
            <a:off x="6309360" y="4343400"/>
            <a:ext cx="525780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GCP  </a:t>
            </a:r>
            <a:r>
              <a:rPr lang="en-US" sz="1200" i="1" dirty="0">
                <a:solidFill>
                  <a:srgbClr val="3B4A5A"/>
                </a:solidFill>
                <a:latin typeface="Calibri" pitchFamily="34" charset="0"/>
                <a:ea typeface="Calibri" pitchFamily="34" charset="-122"/>
                <a:cs typeface="Calibri" pitchFamily="34" charset="-120"/>
              </a:rPr>
              <a:t>(Google Cloud Platform) </a:t>
            </a:r>
            <a:r>
              <a:rPr lang="en-US" sz="1400" dirty="0">
                <a:solidFill>
                  <a:srgbClr val="1B2430"/>
                </a:solidFill>
                <a:latin typeface="Calibri" pitchFamily="34" charset="0"/>
                <a:ea typeface="Calibri" pitchFamily="34" charset="-122"/>
                <a:cs typeface="Calibri" pitchFamily="34" charset="-120"/>
              </a:rPr>
              <a:t>- Plataforma de Nube de Google.</a:t>
            </a:r>
            <a:endParaRPr lang="en-US" sz="1600" dirty="0"/>
          </a:p>
        </p:txBody>
      </p:sp>
      <p:sp>
        <p:nvSpPr>
          <p:cNvPr id="35" name="Shape 33"/>
          <p:cNvSpPr/>
          <p:nvPr/>
        </p:nvSpPr>
        <p:spPr>
          <a:xfrm>
            <a:off x="6172200" y="4800600"/>
            <a:ext cx="5532120" cy="457200"/>
          </a:xfrm>
          <a:prstGeom prst="rect">
            <a:avLst/>
          </a:prstGeom>
          <a:solidFill>
            <a:srgbClr val="F3F6FB"/>
          </a:solidFill>
          <a:ln/>
        </p:spPr>
      </p:sp>
      <p:sp>
        <p:nvSpPr>
          <p:cNvPr id="36" name="Text 34"/>
          <p:cNvSpPr/>
          <p:nvPr/>
        </p:nvSpPr>
        <p:spPr>
          <a:xfrm>
            <a:off x="6309360" y="4800600"/>
            <a:ext cx="525780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MEC  </a:t>
            </a:r>
            <a:r>
              <a:rPr lang="en-US" sz="1200" i="1" dirty="0">
                <a:solidFill>
                  <a:srgbClr val="3B4A5A"/>
                </a:solidFill>
                <a:latin typeface="Calibri" pitchFamily="34" charset="0"/>
                <a:ea typeface="Calibri" pitchFamily="34" charset="-122"/>
                <a:cs typeface="Calibri" pitchFamily="34" charset="-120"/>
              </a:rPr>
              <a:t>(Multi-access Edge Computing) </a:t>
            </a:r>
            <a:r>
              <a:rPr lang="en-US" sz="1400" dirty="0">
                <a:solidFill>
                  <a:srgbClr val="1B2430"/>
                </a:solidFill>
                <a:latin typeface="Calibri" pitchFamily="34" charset="0"/>
                <a:ea typeface="Calibri" pitchFamily="34" charset="-122"/>
                <a:cs typeface="Calibri" pitchFamily="34" charset="-120"/>
              </a:rPr>
              <a:t>- Computacion en el Borde Multi-Acceso (5G).</a:t>
            </a:r>
            <a:endParaRPr lang="en-US" sz="1600" dirty="0"/>
          </a:p>
        </p:txBody>
      </p:sp>
      <p:sp>
        <p:nvSpPr>
          <p:cNvPr id="37" name="Text 35"/>
          <p:cNvSpPr/>
          <p:nvPr/>
        </p:nvSpPr>
        <p:spPr>
          <a:xfrm>
            <a:off x="6309360" y="5257800"/>
            <a:ext cx="525780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IoT  </a:t>
            </a:r>
            <a:r>
              <a:rPr lang="en-US" sz="1200" i="1" dirty="0">
                <a:solidFill>
                  <a:srgbClr val="3B4A5A"/>
                </a:solidFill>
                <a:latin typeface="Calibri" pitchFamily="34" charset="0"/>
                <a:ea typeface="Calibri" pitchFamily="34" charset="-122"/>
                <a:cs typeface="Calibri" pitchFamily="34" charset="-120"/>
              </a:rPr>
              <a:t>(Internet of Things) </a:t>
            </a:r>
            <a:r>
              <a:rPr lang="en-US" sz="1400" dirty="0">
                <a:solidFill>
                  <a:srgbClr val="1B2430"/>
                </a:solidFill>
                <a:latin typeface="Calibri" pitchFamily="34" charset="0"/>
                <a:ea typeface="Calibri" pitchFamily="34" charset="-122"/>
                <a:cs typeface="Calibri" pitchFamily="34" charset="-120"/>
              </a:rPr>
              <a:t>- Internet de las Cosas.</a:t>
            </a:r>
            <a:endParaRPr lang="en-US" sz="1600" dirty="0"/>
          </a:p>
        </p:txBody>
      </p:sp>
      <p:sp>
        <p:nvSpPr>
          <p:cNvPr id="38" name="Shape 36"/>
          <p:cNvSpPr/>
          <p:nvPr/>
        </p:nvSpPr>
        <p:spPr>
          <a:xfrm>
            <a:off x="6172200" y="5715000"/>
            <a:ext cx="5532120" cy="457200"/>
          </a:xfrm>
          <a:prstGeom prst="rect">
            <a:avLst/>
          </a:prstGeom>
          <a:solidFill>
            <a:srgbClr val="F3F6FB"/>
          </a:solidFill>
          <a:ln/>
        </p:spPr>
      </p:sp>
      <p:sp>
        <p:nvSpPr>
          <p:cNvPr id="39" name="Text 37"/>
          <p:cNvSpPr/>
          <p:nvPr/>
        </p:nvSpPr>
        <p:spPr>
          <a:xfrm>
            <a:off x="6309360" y="5715000"/>
            <a:ext cx="5257800" cy="457200"/>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CDN  </a:t>
            </a:r>
            <a:r>
              <a:rPr lang="en-US" sz="1200" i="1" dirty="0">
                <a:solidFill>
                  <a:srgbClr val="3B4A5A"/>
                </a:solidFill>
                <a:latin typeface="Calibri" pitchFamily="34" charset="0"/>
                <a:ea typeface="Calibri" pitchFamily="34" charset="-122"/>
                <a:cs typeface="Calibri" pitchFamily="34" charset="-120"/>
              </a:rPr>
              <a:t>(Content Delivery Network) </a:t>
            </a:r>
            <a:r>
              <a:rPr lang="en-US" sz="1400" dirty="0">
                <a:solidFill>
                  <a:srgbClr val="1B2430"/>
                </a:solidFill>
                <a:latin typeface="Calibri" pitchFamily="34" charset="0"/>
                <a:ea typeface="Calibri" pitchFamily="34" charset="-122"/>
                <a:cs typeface="Calibri" pitchFamily="34" charset="-120"/>
              </a:rPr>
              <a:t>- Red de Distribucion de Contenido.</a:t>
            </a:r>
            <a:endParaRPr lang="en-US" sz="1600" dirty="0"/>
          </a:p>
        </p:txBody>
      </p:sp>
      <p:sp>
        <p:nvSpPr>
          <p:cNvPr id="41" name="Shape 38"/>
          <p:cNvSpPr/>
          <p:nvPr/>
        </p:nvSpPr>
        <p:spPr>
          <a:xfrm>
            <a:off x="457200" y="6537960"/>
            <a:ext cx="11247120" cy="0"/>
          </a:xfrm>
          <a:prstGeom prst="line">
            <a:avLst/>
          </a:prstGeom>
          <a:noFill/>
          <a:ln w="9525">
            <a:solidFill>
              <a:srgbClr val="D9E1EA"/>
            </a:solidFill>
            <a:prstDash val="solid"/>
          </a:ln>
        </p:spPr>
      </p:sp>
      <p:sp>
        <p:nvSpPr>
          <p:cNvPr id="42" name="Text 39"/>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43" name="Text 40"/>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Glosario 1/2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0E3F7E"/>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Glosario</a:t>
            </a:r>
            <a:endParaRPr lang="en-US" sz="1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Nemonicos y terminos (2 de 2): datos distribuidos</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143000"/>
            <a:ext cx="5623560" cy="621792"/>
          </a:xfrm>
          <a:prstGeom prst="rect">
            <a:avLst/>
          </a:prstGeom>
          <a:solidFill>
            <a:srgbClr val="F3F6FB"/>
          </a:solidFill>
          <a:ln/>
        </p:spPr>
      </p:sp>
      <p:sp>
        <p:nvSpPr>
          <p:cNvPr id="7" name="Text 5"/>
          <p:cNvSpPr/>
          <p:nvPr/>
        </p:nvSpPr>
        <p:spPr>
          <a:xfrm>
            <a:off x="594360" y="1143000"/>
            <a:ext cx="534924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HDFS  </a:t>
            </a:r>
            <a:r>
              <a:rPr lang="en-US" sz="1200" i="1" dirty="0">
                <a:solidFill>
                  <a:srgbClr val="3B4A5A"/>
                </a:solidFill>
                <a:latin typeface="Calibri" pitchFamily="34" charset="0"/>
                <a:ea typeface="Calibri" pitchFamily="34" charset="-122"/>
                <a:cs typeface="Calibri" pitchFamily="34" charset="-120"/>
              </a:rPr>
              <a:t>(Hadoop Distributed File System) </a:t>
            </a:r>
            <a:r>
              <a:rPr lang="en-US" sz="1400" dirty="0">
                <a:solidFill>
                  <a:srgbClr val="1B2430"/>
                </a:solidFill>
                <a:latin typeface="Calibri" pitchFamily="34" charset="0"/>
                <a:ea typeface="Calibri" pitchFamily="34" charset="-122"/>
                <a:cs typeface="Calibri" pitchFamily="34" charset="-120"/>
              </a:rPr>
              <a:t>- Sistema de Archivos Distribuido de Hadoop.</a:t>
            </a:r>
            <a:endParaRPr lang="en-US" sz="1600" dirty="0"/>
          </a:p>
        </p:txBody>
      </p:sp>
      <p:sp>
        <p:nvSpPr>
          <p:cNvPr id="8" name="Text 6"/>
          <p:cNvSpPr/>
          <p:nvPr/>
        </p:nvSpPr>
        <p:spPr>
          <a:xfrm>
            <a:off x="594360" y="1764792"/>
            <a:ext cx="534924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YARN  </a:t>
            </a:r>
            <a:r>
              <a:rPr lang="en-US" sz="1200" i="1" dirty="0">
                <a:solidFill>
                  <a:srgbClr val="3B4A5A"/>
                </a:solidFill>
                <a:latin typeface="Calibri" pitchFamily="34" charset="0"/>
                <a:ea typeface="Calibri" pitchFamily="34" charset="-122"/>
                <a:cs typeface="Calibri" pitchFamily="34" charset="-120"/>
              </a:rPr>
              <a:t>(Yet Another Resource Negotiator) </a:t>
            </a:r>
            <a:r>
              <a:rPr lang="en-US" sz="1400" dirty="0">
                <a:solidFill>
                  <a:srgbClr val="1B2430"/>
                </a:solidFill>
                <a:latin typeface="Calibri" pitchFamily="34" charset="0"/>
                <a:ea typeface="Calibri" pitchFamily="34" charset="-122"/>
                <a:cs typeface="Calibri" pitchFamily="34" charset="-120"/>
              </a:rPr>
              <a:t>- Otro Negociador de Recursos Mas (gestor de recursos de Hadoop).</a:t>
            </a:r>
            <a:endParaRPr lang="en-US" sz="1600" dirty="0"/>
          </a:p>
        </p:txBody>
      </p:sp>
      <p:sp>
        <p:nvSpPr>
          <p:cNvPr id="9" name="Shape 7"/>
          <p:cNvSpPr/>
          <p:nvPr/>
        </p:nvSpPr>
        <p:spPr>
          <a:xfrm>
            <a:off x="457200" y="2386584"/>
            <a:ext cx="5623560" cy="621792"/>
          </a:xfrm>
          <a:prstGeom prst="rect">
            <a:avLst/>
          </a:prstGeom>
          <a:solidFill>
            <a:srgbClr val="F3F6FB"/>
          </a:solidFill>
          <a:ln/>
        </p:spPr>
      </p:sp>
      <p:sp>
        <p:nvSpPr>
          <p:cNvPr id="10" name="Text 8"/>
          <p:cNvSpPr/>
          <p:nvPr/>
        </p:nvSpPr>
        <p:spPr>
          <a:xfrm>
            <a:off x="594360" y="2386584"/>
            <a:ext cx="534924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GFS  </a:t>
            </a:r>
            <a:r>
              <a:rPr lang="en-US" sz="1200" i="1" dirty="0">
                <a:solidFill>
                  <a:srgbClr val="3B4A5A"/>
                </a:solidFill>
                <a:latin typeface="Calibri" pitchFamily="34" charset="0"/>
                <a:ea typeface="Calibri" pitchFamily="34" charset="-122"/>
                <a:cs typeface="Calibri" pitchFamily="34" charset="-120"/>
              </a:rPr>
              <a:t>(Google File System) </a:t>
            </a:r>
            <a:r>
              <a:rPr lang="en-US" sz="1400" dirty="0">
                <a:solidFill>
                  <a:srgbClr val="1B2430"/>
                </a:solidFill>
                <a:latin typeface="Calibri" pitchFamily="34" charset="0"/>
                <a:ea typeface="Calibri" pitchFamily="34" charset="-122"/>
                <a:cs typeface="Calibri" pitchFamily="34" charset="-120"/>
              </a:rPr>
              <a:t>- Sistema de Archivos de Google (inspiro a HDFS).</a:t>
            </a:r>
            <a:endParaRPr lang="en-US" sz="1600" dirty="0"/>
          </a:p>
        </p:txBody>
      </p:sp>
      <p:sp>
        <p:nvSpPr>
          <p:cNvPr id="11" name="Text 9"/>
          <p:cNvSpPr/>
          <p:nvPr/>
        </p:nvSpPr>
        <p:spPr>
          <a:xfrm>
            <a:off x="594360" y="3008376"/>
            <a:ext cx="534924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RDD  </a:t>
            </a:r>
            <a:r>
              <a:rPr lang="en-US" sz="1200" i="1" dirty="0">
                <a:solidFill>
                  <a:srgbClr val="3B4A5A"/>
                </a:solidFill>
                <a:latin typeface="Calibri" pitchFamily="34" charset="0"/>
                <a:ea typeface="Calibri" pitchFamily="34" charset="-122"/>
                <a:cs typeface="Calibri" pitchFamily="34" charset="-120"/>
              </a:rPr>
              <a:t>(Resilient Distributed Dataset) </a:t>
            </a:r>
            <a:r>
              <a:rPr lang="en-US" sz="1400" dirty="0">
                <a:solidFill>
                  <a:srgbClr val="1B2430"/>
                </a:solidFill>
                <a:latin typeface="Calibri" pitchFamily="34" charset="0"/>
                <a:ea typeface="Calibri" pitchFamily="34" charset="-122"/>
                <a:cs typeface="Calibri" pitchFamily="34" charset="-120"/>
              </a:rPr>
              <a:t>- Conjunto de Datos Distribuido Resiliente (Spark).</a:t>
            </a:r>
            <a:endParaRPr lang="en-US" sz="1600" dirty="0"/>
          </a:p>
        </p:txBody>
      </p:sp>
      <p:sp>
        <p:nvSpPr>
          <p:cNvPr id="12" name="Shape 10"/>
          <p:cNvSpPr/>
          <p:nvPr/>
        </p:nvSpPr>
        <p:spPr>
          <a:xfrm>
            <a:off x="457200" y="3630168"/>
            <a:ext cx="5623560" cy="621792"/>
          </a:xfrm>
          <a:prstGeom prst="rect">
            <a:avLst/>
          </a:prstGeom>
          <a:solidFill>
            <a:srgbClr val="F3F6FB"/>
          </a:solidFill>
          <a:ln/>
        </p:spPr>
      </p:sp>
      <p:sp>
        <p:nvSpPr>
          <p:cNvPr id="13" name="Text 11"/>
          <p:cNvSpPr/>
          <p:nvPr/>
        </p:nvSpPr>
        <p:spPr>
          <a:xfrm>
            <a:off x="594360" y="3630168"/>
            <a:ext cx="534924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DAG  </a:t>
            </a:r>
            <a:r>
              <a:rPr lang="en-US" sz="1200" i="1" dirty="0">
                <a:solidFill>
                  <a:srgbClr val="3B4A5A"/>
                </a:solidFill>
                <a:latin typeface="Calibri" pitchFamily="34" charset="0"/>
                <a:ea typeface="Calibri" pitchFamily="34" charset="-122"/>
                <a:cs typeface="Calibri" pitchFamily="34" charset="-120"/>
              </a:rPr>
              <a:t>(Directed Acyclic Graph) </a:t>
            </a:r>
            <a:r>
              <a:rPr lang="en-US" sz="1400" dirty="0">
                <a:solidFill>
                  <a:srgbClr val="1B2430"/>
                </a:solidFill>
                <a:latin typeface="Calibri" pitchFamily="34" charset="0"/>
                <a:ea typeface="Calibri" pitchFamily="34" charset="-122"/>
                <a:cs typeface="Calibri" pitchFamily="34" charset="-120"/>
              </a:rPr>
              <a:t>- Grafo Aciclico Dirigido (plan de ejecucion Spark).</a:t>
            </a:r>
            <a:endParaRPr lang="en-US" sz="1600" dirty="0"/>
          </a:p>
        </p:txBody>
      </p:sp>
      <p:sp>
        <p:nvSpPr>
          <p:cNvPr id="14" name="Text 12"/>
          <p:cNvSpPr/>
          <p:nvPr/>
        </p:nvSpPr>
        <p:spPr>
          <a:xfrm>
            <a:off x="594360" y="4251960"/>
            <a:ext cx="534924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ETL  </a:t>
            </a:r>
            <a:r>
              <a:rPr lang="en-US" sz="1200" i="1" dirty="0">
                <a:solidFill>
                  <a:srgbClr val="3B4A5A"/>
                </a:solidFill>
                <a:latin typeface="Calibri" pitchFamily="34" charset="0"/>
                <a:ea typeface="Calibri" pitchFamily="34" charset="-122"/>
                <a:cs typeface="Calibri" pitchFamily="34" charset="-120"/>
              </a:rPr>
              <a:t>(Extract, Transform, Load) </a:t>
            </a:r>
            <a:r>
              <a:rPr lang="en-US" sz="1400" dirty="0">
                <a:solidFill>
                  <a:srgbClr val="1B2430"/>
                </a:solidFill>
                <a:latin typeface="Calibri" pitchFamily="34" charset="0"/>
                <a:ea typeface="Calibri" pitchFamily="34" charset="-122"/>
                <a:cs typeface="Calibri" pitchFamily="34" charset="-120"/>
              </a:rPr>
              <a:t>- Extraer, Transformar, Cargar (pipeline clasico).</a:t>
            </a:r>
            <a:endParaRPr lang="en-US" sz="1600" dirty="0"/>
          </a:p>
        </p:txBody>
      </p:sp>
      <p:sp>
        <p:nvSpPr>
          <p:cNvPr id="15" name="Shape 13"/>
          <p:cNvSpPr/>
          <p:nvPr/>
        </p:nvSpPr>
        <p:spPr>
          <a:xfrm>
            <a:off x="457200" y="4873752"/>
            <a:ext cx="5623560" cy="621792"/>
          </a:xfrm>
          <a:prstGeom prst="rect">
            <a:avLst/>
          </a:prstGeom>
          <a:solidFill>
            <a:srgbClr val="F3F6FB"/>
          </a:solidFill>
          <a:ln/>
        </p:spPr>
      </p:sp>
      <p:sp>
        <p:nvSpPr>
          <p:cNvPr id="16" name="Text 14"/>
          <p:cNvSpPr/>
          <p:nvPr/>
        </p:nvSpPr>
        <p:spPr>
          <a:xfrm>
            <a:off x="594360" y="4873752"/>
            <a:ext cx="534924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ELT  </a:t>
            </a:r>
            <a:r>
              <a:rPr lang="en-US" sz="1200" i="1" dirty="0">
                <a:solidFill>
                  <a:srgbClr val="3B4A5A"/>
                </a:solidFill>
                <a:latin typeface="Calibri" pitchFamily="34" charset="0"/>
                <a:ea typeface="Calibri" pitchFamily="34" charset="-122"/>
                <a:cs typeface="Calibri" pitchFamily="34" charset="-120"/>
              </a:rPr>
              <a:t>(Extract, Load, Transform) </a:t>
            </a:r>
            <a:r>
              <a:rPr lang="en-US" sz="1400" dirty="0">
                <a:solidFill>
                  <a:srgbClr val="1B2430"/>
                </a:solidFill>
                <a:latin typeface="Calibri" pitchFamily="34" charset="0"/>
                <a:ea typeface="Calibri" pitchFamily="34" charset="-122"/>
                <a:cs typeface="Calibri" pitchFamily="34" charset="-120"/>
              </a:rPr>
              <a:t>- Extraer, Cargar, Transformar (patron moderno cloud).</a:t>
            </a:r>
            <a:endParaRPr lang="en-US" sz="1600" dirty="0"/>
          </a:p>
        </p:txBody>
      </p:sp>
      <p:sp>
        <p:nvSpPr>
          <p:cNvPr id="17" name="Text 15"/>
          <p:cNvSpPr/>
          <p:nvPr/>
        </p:nvSpPr>
        <p:spPr>
          <a:xfrm>
            <a:off x="594360" y="5495544"/>
            <a:ext cx="534924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CDC  </a:t>
            </a:r>
            <a:r>
              <a:rPr lang="en-US" sz="1200" i="1" dirty="0">
                <a:solidFill>
                  <a:srgbClr val="3B4A5A"/>
                </a:solidFill>
                <a:latin typeface="Calibri" pitchFamily="34" charset="0"/>
                <a:ea typeface="Calibri" pitchFamily="34" charset="-122"/>
                <a:cs typeface="Calibri" pitchFamily="34" charset="-120"/>
              </a:rPr>
              <a:t>(Change Data Capture) </a:t>
            </a:r>
            <a:r>
              <a:rPr lang="en-US" sz="1400" dirty="0">
                <a:solidFill>
                  <a:srgbClr val="1B2430"/>
                </a:solidFill>
                <a:latin typeface="Calibri" pitchFamily="34" charset="0"/>
                <a:ea typeface="Calibri" pitchFamily="34" charset="-122"/>
                <a:cs typeface="Calibri" pitchFamily="34" charset="-120"/>
              </a:rPr>
              <a:t>- Captura de Cambios de Datos (para replicacion en streaming).</a:t>
            </a:r>
            <a:endParaRPr lang="en-US" sz="1600" dirty="0"/>
          </a:p>
        </p:txBody>
      </p:sp>
      <p:sp>
        <p:nvSpPr>
          <p:cNvPr id="18" name="Shape 16"/>
          <p:cNvSpPr/>
          <p:nvPr/>
        </p:nvSpPr>
        <p:spPr>
          <a:xfrm>
            <a:off x="6172200" y="1143000"/>
            <a:ext cx="5532120" cy="621792"/>
          </a:xfrm>
          <a:prstGeom prst="rect">
            <a:avLst/>
          </a:prstGeom>
          <a:solidFill>
            <a:srgbClr val="F3F6FB"/>
          </a:solidFill>
          <a:ln/>
        </p:spPr>
      </p:sp>
      <p:sp>
        <p:nvSpPr>
          <p:cNvPr id="19" name="Text 17"/>
          <p:cNvSpPr/>
          <p:nvPr/>
        </p:nvSpPr>
        <p:spPr>
          <a:xfrm>
            <a:off x="6309360" y="1143000"/>
            <a:ext cx="525780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MapReduce  </a:t>
            </a:r>
            <a:r>
              <a:rPr lang="en-US" sz="1200" i="1" dirty="0">
                <a:solidFill>
                  <a:srgbClr val="3B4A5A"/>
                </a:solidFill>
                <a:latin typeface="Calibri" pitchFamily="34" charset="0"/>
                <a:ea typeface="Calibri" pitchFamily="34" charset="-122"/>
                <a:cs typeface="Calibri" pitchFamily="34" charset="-120"/>
              </a:rPr>
              <a:t>(Mapear y Reducir) </a:t>
            </a:r>
            <a:r>
              <a:rPr lang="en-US" sz="1400" dirty="0">
                <a:solidFill>
                  <a:srgbClr val="1B2430"/>
                </a:solidFill>
                <a:latin typeface="Calibri" pitchFamily="34" charset="0"/>
                <a:ea typeface="Calibri" pitchFamily="34" charset="-122"/>
                <a:cs typeface="Calibri" pitchFamily="34" charset="-120"/>
              </a:rPr>
              <a:t>- Paradigma de Google (2004) para procesar datos masivos.</a:t>
            </a:r>
            <a:endParaRPr lang="en-US" sz="1600" dirty="0"/>
          </a:p>
        </p:txBody>
      </p:sp>
      <p:sp>
        <p:nvSpPr>
          <p:cNvPr id="20" name="Text 18"/>
          <p:cNvSpPr/>
          <p:nvPr/>
        </p:nvSpPr>
        <p:spPr>
          <a:xfrm>
            <a:off x="6309360" y="1764792"/>
            <a:ext cx="525780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KStream  </a:t>
            </a:r>
            <a:r>
              <a:rPr lang="en-US" sz="1200" i="1" dirty="0">
                <a:solidFill>
                  <a:srgbClr val="3B4A5A"/>
                </a:solidFill>
                <a:latin typeface="Calibri" pitchFamily="34" charset="0"/>
                <a:ea typeface="Calibri" pitchFamily="34" charset="-122"/>
                <a:cs typeface="Calibri" pitchFamily="34" charset="-120"/>
              </a:rPr>
              <a:t>(Kafka Stream) </a:t>
            </a:r>
            <a:r>
              <a:rPr lang="en-US" sz="1400" dirty="0">
                <a:solidFill>
                  <a:srgbClr val="1B2430"/>
                </a:solidFill>
                <a:latin typeface="Calibri" pitchFamily="34" charset="0"/>
                <a:ea typeface="Calibri" pitchFamily="34" charset="-122"/>
                <a:cs typeface="Calibri" pitchFamily="34" charset="-120"/>
              </a:rPr>
              <a:t>- Flujo de eventos en Kafka Streams.</a:t>
            </a:r>
            <a:endParaRPr lang="en-US" sz="1600" dirty="0"/>
          </a:p>
        </p:txBody>
      </p:sp>
      <p:sp>
        <p:nvSpPr>
          <p:cNvPr id="21" name="Shape 19"/>
          <p:cNvSpPr/>
          <p:nvPr/>
        </p:nvSpPr>
        <p:spPr>
          <a:xfrm>
            <a:off x="6172200" y="2386584"/>
            <a:ext cx="5532120" cy="621792"/>
          </a:xfrm>
          <a:prstGeom prst="rect">
            <a:avLst/>
          </a:prstGeom>
          <a:solidFill>
            <a:srgbClr val="F3F6FB"/>
          </a:solidFill>
          <a:ln/>
        </p:spPr>
      </p:sp>
      <p:sp>
        <p:nvSpPr>
          <p:cNvPr id="22" name="Text 20"/>
          <p:cNvSpPr/>
          <p:nvPr/>
        </p:nvSpPr>
        <p:spPr>
          <a:xfrm>
            <a:off x="6309360" y="2386584"/>
            <a:ext cx="525780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KTable  </a:t>
            </a:r>
            <a:r>
              <a:rPr lang="en-US" sz="1200" i="1" dirty="0">
                <a:solidFill>
                  <a:srgbClr val="3B4A5A"/>
                </a:solidFill>
                <a:latin typeface="Calibri" pitchFamily="34" charset="0"/>
                <a:ea typeface="Calibri" pitchFamily="34" charset="-122"/>
                <a:cs typeface="Calibri" pitchFamily="34" charset="-120"/>
              </a:rPr>
              <a:t>(Kafka Table) </a:t>
            </a:r>
            <a:r>
              <a:rPr lang="en-US" sz="1400" dirty="0">
                <a:solidFill>
                  <a:srgbClr val="1B2430"/>
                </a:solidFill>
                <a:latin typeface="Calibri" pitchFamily="34" charset="0"/>
                <a:ea typeface="Calibri" pitchFamily="34" charset="-122"/>
                <a:cs typeface="Calibri" pitchFamily="34" charset="-120"/>
              </a:rPr>
              <a:t>- Tabla mutable derivada de un stream (ultimo valor por clave).</a:t>
            </a:r>
            <a:endParaRPr lang="en-US" sz="1600" dirty="0"/>
          </a:p>
        </p:txBody>
      </p:sp>
      <p:sp>
        <p:nvSpPr>
          <p:cNvPr id="23" name="Text 21"/>
          <p:cNvSpPr/>
          <p:nvPr/>
        </p:nvSpPr>
        <p:spPr>
          <a:xfrm>
            <a:off x="6309360" y="3008376"/>
            <a:ext cx="525780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P2P  </a:t>
            </a:r>
            <a:r>
              <a:rPr lang="en-US" sz="1200" i="1" dirty="0">
                <a:solidFill>
                  <a:srgbClr val="3B4A5A"/>
                </a:solidFill>
                <a:latin typeface="Calibri" pitchFamily="34" charset="0"/>
                <a:ea typeface="Calibri" pitchFamily="34" charset="-122"/>
                <a:cs typeface="Calibri" pitchFamily="34" charset="-120"/>
              </a:rPr>
              <a:t>(Peer to Peer) </a:t>
            </a:r>
            <a:r>
              <a:rPr lang="en-US" sz="1400" dirty="0">
                <a:solidFill>
                  <a:srgbClr val="1B2430"/>
                </a:solidFill>
                <a:latin typeface="Calibri" pitchFamily="34" charset="0"/>
                <a:ea typeface="Calibri" pitchFamily="34" charset="-122"/>
                <a:cs typeface="Calibri" pitchFamily="34" charset="-120"/>
              </a:rPr>
              <a:t>- Entre pares (comunicacion punto a punto).</a:t>
            </a:r>
            <a:endParaRPr lang="en-US" sz="1600" dirty="0"/>
          </a:p>
        </p:txBody>
      </p:sp>
      <p:sp>
        <p:nvSpPr>
          <p:cNvPr id="24" name="Shape 22"/>
          <p:cNvSpPr/>
          <p:nvPr/>
        </p:nvSpPr>
        <p:spPr>
          <a:xfrm>
            <a:off x="6172200" y="3630168"/>
            <a:ext cx="5532120" cy="621792"/>
          </a:xfrm>
          <a:prstGeom prst="rect">
            <a:avLst/>
          </a:prstGeom>
          <a:solidFill>
            <a:srgbClr val="F3F6FB"/>
          </a:solidFill>
          <a:ln/>
        </p:spPr>
      </p:sp>
      <p:sp>
        <p:nvSpPr>
          <p:cNvPr id="25" name="Text 23"/>
          <p:cNvSpPr/>
          <p:nvPr/>
        </p:nvSpPr>
        <p:spPr>
          <a:xfrm>
            <a:off x="6309360" y="3630168"/>
            <a:ext cx="525780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Shuffle  </a:t>
            </a:r>
            <a:r>
              <a:rPr lang="en-US" sz="1200" i="1" dirty="0">
                <a:solidFill>
                  <a:srgbClr val="3B4A5A"/>
                </a:solidFill>
                <a:latin typeface="Calibri" pitchFamily="34" charset="0"/>
                <a:ea typeface="Calibri" pitchFamily="34" charset="-122"/>
                <a:cs typeface="Calibri" pitchFamily="34" charset="-120"/>
              </a:rPr>
              <a:t>(Redistribucion) </a:t>
            </a:r>
            <a:r>
              <a:rPr lang="en-US" sz="1400" dirty="0">
                <a:solidFill>
                  <a:srgbClr val="1B2430"/>
                </a:solidFill>
                <a:latin typeface="Calibri" pitchFamily="34" charset="0"/>
                <a:ea typeface="Calibri" pitchFamily="34" charset="-122"/>
                <a:cs typeface="Calibri" pitchFamily="34" charset="-120"/>
              </a:rPr>
              <a:t>- Reparto de datos por clave entre nodos; suele ser el cuello de botella.</a:t>
            </a:r>
            <a:endParaRPr lang="en-US" sz="1600" dirty="0"/>
          </a:p>
        </p:txBody>
      </p:sp>
      <p:sp>
        <p:nvSpPr>
          <p:cNvPr id="26" name="Text 24"/>
          <p:cNvSpPr/>
          <p:nvPr/>
        </p:nvSpPr>
        <p:spPr>
          <a:xfrm>
            <a:off x="6309360" y="4251960"/>
            <a:ext cx="525780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Lazy eval.  </a:t>
            </a:r>
            <a:r>
              <a:rPr lang="en-US" sz="1200" i="1" dirty="0">
                <a:solidFill>
                  <a:srgbClr val="3B4A5A"/>
                </a:solidFill>
                <a:latin typeface="Calibri" pitchFamily="34" charset="0"/>
                <a:ea typeface="Calibri" pitchFamily="34" charset="-122"/>
                <a:cs typeface="Calibri" pitchFamily="34" charset="-120"/>
              </a:rPr>
              <a:t>(Evaluacion perezosa) </a:t>
            </a:r>
            <a:r>
              <a:rPr lang="en-US" sz="1400" dirty="0">
                <a:solidFill>
                  <a:srgbClr val="1B2430"/>
                </a:solidFill>
                <a:latin typeface="Calibri" pitchFamily="34" charset="0"/>
                <a:ea typeface="Calibri" pitchFamily="34" charset="-122"/>
                <a:cs typeface="Calibri" pitchFamily="34" charset="-120"/>
              </a:rPr>
              <a:t>- Las transformaciones no se ejecutan hasta una accion.</a:t>
            </a:r>
            <a:endParaRPr lang="en-US" sz="1600" dirty="0"/>
          </a:p>
        </p:txBody>
      </p:sp>
      <p:sp>
        <p:nvSpPr>
          <p:cNvPr id="27" name="Shape 25"/>
          <p:cNvSpPr/>
          <p:nvPr/>
        </p:nvSpPr>
        <p:spPr>
          <a:xfrm>
            <a:off x="6172200" y="4873752"/>
            <a:ext cx="5532120" cy="621792"/>
          </a:xfrm>
          <a:prstGeom prst="rect">
            <a:avLst/>
          </a:prstGeom>
          <a:solidFill>
            <a:srgbClr val="F3F6FB"/>
          </a:solidFill>
          <a:ln/>
        </p:spPr>
      </p:sp>
      <p:sp>
        <p:nvSpPr>
          <p:cNvPr id="28" name="Text 26"/>
          <p:cNvSpPr/>
          <p:nvPr/>
        </p:nvSpPr>
        <p:spPr>
          <a:xfrm>
            <a:off x="6309360" y="4873752"/>
            <a:ext cx="525780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Exactly-once  </a:t>
            </a:r>
            <a:r>
              <a:rPr lang="en-US" sz="1200" i="1" dirty="0">
                <a:solidFill>
                  <a:srgbClr val="3B4A5A"/>
                </a:solidFill>
                <a:latin typeface="Calibri" pitchFamily="34" charset="0"/>
                <a:ea typeface="Calibri" pitchFamily="34" charset="-122"/>
                <a:cs typeface="Calibri" pitchFamily="34" charset="-120"/>
              </a:rPr>
              <a:t>(Exactamente una vez) </a:t>
            </a:r>
            <a:r>
              <a:rPr lang="en-US" sz="1400" dirty="0">
                <a:solidFill>
                  <a:srgbClr val="1B2430"/>
                </a:solidFill>
                <a:latin typeface="Calibri" pitchFamily="34" charset="0"/>
                <a:ea typeface="Calibri" pitchFamily="34" charset="-122"/>
                <a:cs typeface="Calibri" pitchFamily="34" charset="-120"/>
              </a:rPr>
              <a:t>- Garantia de que cada evento se procesa una unica vez.</a:t>
            </a:r>
            <a:endParaRPr lang="en-US" sz="1600" dirty="0"/>
          </a:p>
        </p:txBody>
      </p:sp>
      <p:sp>
        <p:nvSpPr>
          <p:cNvPr id="29" name="Text 27"/>
          <p:cNvSpPr/>
          <p:nvPr/>
        </p:nvSpPr>
        <p:spPr>
          <a:xfrm>
            <a:off x="6309360" y="5495544"/>
            <a:ext cx="5257800" cy="621792"/>
          </a:xfrm>
          <a:prstGeom prst="rect">
            <a:avLst/>
          </a:prstGeom>
          <a:noFill/>
          <a:ln/>
        </p:spPr>
        <p:txBody>
          <a:bodyPr wrap="square" lIns="0" tIns="0" rIns="0" bIns="0" rtlCol="0" anchor="ctr"/>
          <a:lstStyle/>
          <a:p>
            <a:pPr marL="0" indent="0">
              <a:buNone/>
            </a:pPr>
            <a:r>
              <a:rPr lang="en-US" sz="1600" b="1" dirty="0">
                <a:solidFill>
                  <a:srgbClr val="0E3F7E"/>
                </a:solidFill>
                <a:latin typeface="Cambria" pitchFamily="34" charset="0"/>
                <a:ea typeface="Cambria" pitchFamily="34" charset="-122"/>
                <a:cs typeface="Cambria" pitchFamily="34" charset="-120"/>
              </a:rPr>
              <a:t>MLlib  </a:t>
            </a:r>
            <a:r>
              <a:rPr lang="en-US" sz="1200" i="1" dirty="0">
                <a:solidFill>
                  <a:srgbClr val="3B4A5A"/>
                </a:solidFill>
                <a:latin typeface="Calibri" pitchFamily="34" charset="0"/>
                <a:ea typeface="Calibri" pitchFamily="34" charset="-122"/>
                <a:cs typeface="Calibri" pitchFamily="34" charset="-120"/>
              </a:rPr>
              <a:t>(Machine Learning library) </a:t>
            </a:r>
            <a:r>
              <a:rPr lang="en-US" sz="1400" dirty="0">
                <a:solidFill>
                  <a:srgbClr val="1B2430"/>
                </a:solidFill>
                <a:latin typeface="Calibri" pitchFamily="34" charset="0"/>
                <a:ea typeface="Calibri" pitchFamily="34" charset="-122"/>
                <a:cs typeface="Calibri" pitchFamily="34" charset="-120"/>
              </a:rPr>
              <a:t>- Biblioteca de aprendizaje automatico de Spark.</a:t>
            </a:r>
            <a:endParaRPr lang="en-US" sz="1600" dirty="0"/>
          </a:p>
        </p:txBody>
      </p:sp>
      <p:sp>
        <p:nvSpPr>
          <p:cNvPr id="31" name="Shape 28"/>
          <p:cNvSpPr/>
          <p:nvPr/>
        </p:nvSpPr>
        <p:spPr>
          <a:xfrm>
            <a:off x="457200" y="6537960"/>
            <a:ext cx="11247120" cy="0"/>
          </a:xfrm>
          <a:prstGeom prst="line">
            <a:avLst/>
          </a:prstGeom>
          <a:noFill/>
          <a:ln w="9525">
            <a:solidFill>
              <a:srgbClr val="D9E1EA"/>
            </a:solidFill>
            <a:prstDash val="solid"/>
          </a:ln>
        </p:spPr>
      </p:sp>
      <p:sp>
        <p:nvSpPr>
          <p:cNvPr id="32" name="Text 29"/>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33" name="Text 30"/>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Glosario 2/2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914400" cy="365760"/>
          </a:xfrm>
          <a:prstGeom prst="roundRect">
            <a:avLst>
              <a:gd name="adj" fmla="val 20000"/>
            </a:avLst>
          </a:prstGeom>
          <a:solidFill>
            <a:srgbClr val="0E3F7E"/>
          </a:solidFill>
          <a:ln/>
        </p:spPr>
      </p:sp>
      <p:sp>
        <p:nvSpPr>
          <p:cNvPr id="3" name="Text 1"/>
          <p:cNvSpPr/>
          <p:nvPr/>
        </p:nvSpPr>
        <p:spPr>
          <a:xfrm>
            <a:off x="457200" y="365760"/>
            <a:ext cx="914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Refs</a:t>
            </a:r>
            <a:endParaRPr lang="en-US" sz="1400" dirty="0"/>
          </a:p>
        </p:txBody>
      </p:sp>
      <p:sp>
        <p:nvSpPr>
          <p:cNvPr id="4" name="Text 2"/>
          <p:cNvSpPr/>
          <p:nvPr/>
        </p:nvSpPr>
        <p:spPr>
          <a:xfrm>
            <a:off x="1508760" y="292608"/>
            <a:ext cx="10241280" cy="502920"/>
          </a:xfrm>
          <a:prstGeom prst="rect">
            <a:avLst/>
          </a:prstGeom>
          <a:noFill/>
          <a:ln/>
        </p:spPr>
        <p:txBody>
          <a:bodyPr wrap="square" lIns="0" tIns="0" rIns="0" bIns="0" rtlCol="0" anchor="ctr"/>
          <a:lstStyle/>
          <a:p>
            <a:pPr marL="0" indent="0">
              <a:buNone/>
            </a:pPr>
            <a:r>
              <a:rPr lang="en-US" sz="2600" b="1" dirty="0">
                <a:solidFill>
                  <a:srgbClr val="0E3F7E"/>
                </a:solidFill>
                <a:latin typeface="Cambria" pitchFamily="34" charset="0"/>
                <a:ea typeface="Cambria" pitchFamily="34" charset="-122"/>
                <a:cs typeface="Cambria" pitchFamily="34" charset="-120"/>
              </a:rPr>
              <a:t>Referencias bibliograficas</a:t>
            </a:r>
            <a:endParaRPr lang="en-US" sz="2600" dirty="0"/>
          </a:p>
        </p:txBody>
      </p:sp>
      <p:sp>
        <p:nvSpPr>
          <p:cNvPr id="5" name="Shape 3"/>
          <p:cNvSpPr/>
          <p:nvPr/>
        </p:nvSpPr>
        <p:spPr>
          <a:xfrm>
            <a:off x="457200" y="932688"/>
            <a:ext cx="11247120" cy="0"/>
          </a:xfrm>
          <a:prstGeom prst="line">
            <a:avLst/>
          </a:prstGeom>
          <a:noFill/>
          <a:ln w="9525">
            <a:solidFill>
              <a:srgbClr val="D9E1EA"/>
            </a:solidFill>
            <a:prstDash val="solid"/>
          </a:ln>
        </p:spPr>
      </p:sp>
      <p:sp>
        <p:nvSpPr>
          <p:cNvPr id="6" name="Shape 4"/>
          <p:cNvSpPr/>
          <p:nvPr/>
        </p:nvSpPr>
        <p:spPr>
          <a:xfrm>
            <a:off x="457200" y="1097280"/>
            <a:ext cx="11247120" cy="5303520"/>
          </a:xfrm>
          <a:prstGeom prst="roundRect">
            <a:avLst>
              <a:gd name="adj" fmla="val 2069"/>
            </a:avLst>
          </a:prstGeom>
          <a:solidFill>
            <a:srgbClr val="F3F6FB"/>
          </a:solidFill>
          <a:ln w="9525">
            <a:solidFill>
              <a:srgbClr val="D9E1EA"/>
            </a:solidFill>
            <a:prstDash val="solid"/>
          </a:ln>
        </p:spPr>
      </p:sp>
      <p:sp>
        <p:nvSpPr>
          <p:cNvPr id="7" name="Text 5"/>
          <p:cNvSpPr/>
          <p:nvPr/>
        </p:nvSpPr>
        <p:spPr>
          <a:xfrm>
            <a:off x="685800" y="1234440"/>
            <a:ext cx="10789920" cy="5029200"/>
          </a:xfrm>
          <a:prstGeom prst="rect">
            <a:avLst/>
          </a:prstGeom>
          <a:noFill/>
          <a:ln/>
        </p:spPr>
        <p:txBody>
          <a:bodyPr wrap="square" lIns="0" tIns="0" rIns="0" bIns="0" rtlCol="0" anchor="t"/>
          <a:lstStyle/>
          <a:p>
            <a:pPr marL="0" indent="0">
              <a:spcAft>
                <a:spcPts val="600"/>
              </a:spcAft>
              <a:buNone/>
            </a:pPr>
            <a:r>
              <a:rPr lang="en-US" sz="1050" dirty="0">
                <a:solidFill>
                  <a:srgbClr val="1B2430"/>
                </a:solidFill>
                <a:latin typeface="Calibri" pitchFamily="34" charset="0"/>
                <a:ea typeface="Calibri" pitchFamily="34" charset="-122"/>
                <a:cs typeface="Calibri" pitchFamily="34" charset="-120"/>
              </a:rPr>
              <a:t>[1]  G. M. Amdahl, "Validity of the single processor approach to achieving large scale computing capabilities", en Proc. AFIPS Spring Joint Computer Conf., 1967, pp. 483-485.</a:t>
            </a:r>
            <a:endParaRPr lang="en-US" sz="1050" dirty="0"/>
          </a:p>
          <a:p>
            <a:pPr marL="0" indent="0">
              <a:spcAft>
                <a:spcPts val="600"/>
              </a:spcAft>
              <a:buNone/>
            </a:pPr>
            <a:r>
              <a:rPr lang="en-US" sz="1050" dirty="0">
                <a:solidFill>
                  <a:srgbClr val="1B2430"/>
                </a:solidFill>
                <a:latin typeface="Calibri" pitchFamily="34" charset="0"/>
                <a:ea typeface="Calibri" pitchFamily="34" charset="-122"/>
                <a:cs typeface="Calibri" pitchFamily="34" charset="-120"/>
              </a:rPr>
              <a:t>[2]  J. Dean y S. Ghemawat, "MapReduce: simplified data processing on large clusters", Commun. ACM, vol. 51, num. 1, pp. 107-113, ene. 2008. doi: 10.1145/1327452.1327492.</a:t>
            </a:r>
            <a:endParaRPr lang="en-US" sz="1050" dirty="0"/>
          </a:p>
          <a:p>
            <a:pPr marL="0" indent="0">
              <a:spcAft>
                <a:spcPts val="600"/>
              </a:spcAft>
              <a:buNone/>
            </a:pPr>
            <a:r>
              <a:rPr lang="en-US" sz="1050" dirty="0">
                <a:solidFill>
                  <a:srgbClr val="1B2430"/>
                </a:solidFill>
                <a:latin typeface="Calibri" pitchFamily="34" charset="0"/>
                <a:ea typeface="Calibri" pitchFamily="34" charset="-122"/>
                <a:cs typeface="Calibri" pitchFamily="34" charset="-120"/>
              </a:rPr>
              <a:t>[3]  M. Zaharia et al., "Apache Spark: a unified engine for big data processing", Commun. ACM, vol. 59, num. 11, pp. 56-65, oct. 2016. doi: 10.1145/2934664.</a:t>
            </a:r>
            <a:endParaRPr lang="en-US" sz="1050" dirty="0"/>
          </a:p>
          <a:p>
            <a:pPr marL="0" indent="0">
              <a:spcAft>
                <a:spcPts val="600"/>
              </a:spcAft>
              <a:buNone/>
            </a:pPr>
            <a:r>
              <a:rPr lang="en-US" sz="1050" dirty="0">
                <a:solidFill>
                  <a:srgbClr val="1B2430"/>
                </a:solidFill>
                <a:latin typeface="Calibri" pitchFamily="34" charset="0"/>
                <a:ea typeface="Calibri" pitchFamily="34" charset="-122"/>
                <a:cs typeface="Calibri" pitchFamily="34" charset="-120"/>
              </a:rPr>
              <a:t>[4]  S. Ghemawat, H. Gobioff y S.-T. Leung, "The Google file system", en Proc. 19th ACM Symp. Operating Systems Principles (SOSP), 2003, pp. 29-43. doi: 10.1145/945445.945450.</a:t>
            </a:r>
            <a:endParaRPr lang="en-US" sz="1050" dirty="0"/>
          </a:p>
          <a:p>
            <a:pPr marL="0" indent="0">
              <a:spcAft>
                <a:spcPts val="600"/>
              </a:spcAft>
              <a:buNone/>
            </a:pPr>
            <a:r>
              <a:rPr lang="en-US" sz="1050" dirty="0">
                <a:solidFill>
                  <a:srgbClr val="1B2430"/>
                </a:solidFill>
                <a:latin typeface="Calibri" pitchFamily="34" charset="0"/>
                <a:ea typeface="Calibri" pitchFamily="34" charset="-122"/>
                <a:cs typeface="Calibri" pitchFamily="34" charset="-120"/>
              </a:rPr>
              <a:t>[5]  P. Mell y T. Grance, "The NIST definition of cloud computing", NIST Special Publication 800-145, sep. 2011. doi: 10.6028/NIST.SP.800-145.</a:t>
            </a:r>
            <a:endParaRPr lang="en-US" sz="1050" dirty="0"/>
          </a:p>
          <a:p>
            <a:pPr marL="0" indent="0">
              <a:spcAft>
                <a:spcPts val="600"/>
              </a:spcAft>
              <a:buNone/>
            </a:pPr>
            <a:r>
              <a:rPr lang="en-US" sz="1050" dirty="0">
                <a:solidFill>
                  <a:srgbClr val="1B2430"/>
                </a:solidFill>
                <a:latin typeface="Calibri" pitchFamily="34" charset="0"/>
                <a:ea typeface="Calibri" pitchFamily="34" charset="-122"/>
                <a:cs typeface="Calibri" pitchFamily="34" charset="-120"/>
              </a:rPr>
              <a:t>[6]  B. Chapman, G. Jost y R. van der Pas, Using OpenMP: Portable Shared Memory Parallel Programming. Cambridge, MA: MIT Press, 2007.</a:t>
            </a:r>
            <a:endParaRPr lang="en-US" sz="1050" dirty="0"/>
          </a:p>
          <a:p>
            <a:pPr marL="0" indent="0">
              <a:spcAft>
                <a:spcPts val="600"/>
              </a:spcAft>
              <a:buNone/>
            </a:pPr>
            <a:r>
              <a:rPr lang="en-US" sz="1050" dirty="0">
                <a:solidFill>
                  <a:srgbClr val="1B2430"/>
                </a:solidFill>
                <a:latin typeface="Calibri" pitchFamily="34" charset="0"/>
                <a:ea typeface="Calibri" pitchFamily="34" charset="-122"/>
                <a:cs typeface="Calibri" pitchFamily="34" charset="-120"/>
              </a:rPr>
              <a:t>[7]  W. Gropp, E. Lusk y A. Skjellum, Using MPI: Portable Parallel Programming with the Message-Passing Interface, 3ra ed. Cambridge, MA: MIT Press, 2014.</a:t>
            </a:r>
            <a:endParaRPr lang="en-US" sz="1050" dirty="0"/>
          </a:p>
          <a:p>
            <a:pPr marL="0" indent="0">
              <a:spcAft>
                <a:spcPts val="600"/>
              </a:spcAft>
              <a:buNone/>
            </a:pPr>
            <a:r>
              <a:rPr lang="en-US" sz="1050" dirty="0">
                <a:solidFill>
                  <a:srgbClr val="1B2430"/>
                </a:solidFill>
                <a:latin typeface="Calibri" pitchFamily="34" charset="0"/>
                <a:ea typeface="Calibri" pitchFamily="34" charset="-122"/>
                <a:cs typeface="Calibri" pitchFamily="34" charset="-120"/>
              </a:rPr>
              <a:t>[8]  I. Baldini et al., "Serverless computing: current trends and open problems", en Research Advances in Cloud Computing, S. Chaudhary et al., Eds. Singapur: Springer, 2017, pp. 1-20. doi: 10.1007/978-981-10-5026-8_1.</a:t>
            </a:r>
            <a:endParaRPr lang="en-US" sz="1050" dirty="0"/>
          </a:p>
          <a:p>
            <a:pPr marL="0" indent="0">
              <a:spcAft>
                <a:spcPts val="600"/>
              </a:spcAft>
              <a:buNone/>
            </a:pPr>
            <a:r>
              <a:rPr lang="en-US" sz="1050" dirty="0">
                <a:solidFill>
                  <a:srgbClr val="1B2430"/>
                </a:solidFill>
                <a:latin typeface="Calibri" pitchFamily="34" charset="0"/>
                <a:ea typeface="Calibri" pitchFamily="34" charset="-122"/>
                <a:cs typeface="Calibri" pitchFamily="34" charset="-120"/>
              </a:rPr>
              <a:t>[9]  W. Shi, J. Cao, Q. Zhang, Y. Li y L. Xu, "Edge computing: vision and challenges", IEEE Internet of Things Journal, vol. 3, num. 5, pp. 637-646, oct. 2016. doi: 10.1109/JIOT.2016.2579198.</a:t>
            </a:r>
            <a:endParaRPr lang="en-US" sz="1050" dirty="0"/>
          </a:p>
          <a:p>
            <a:pPr marL="0" indent="0">
              <a:spcAft>
                <a:spcPts val="600"/>
              </a:spcAft>
              <a:buNone/>
            </a:pPr>
            <a:r>
              <a:rPr lang="en-US" sz="1050" dirty="0">
                <a:solidFill>
                  <a:srgbClr val="1B2430"/>
                </a:solidFill>
                <a:latin typeface="Calibri" pitchFamily="34" charset="0"/>
                <a:ea typeface="Calibri" pitchFamily="34" charset="-122"/>
                <a:cs typeface="Calibri" pitchFamily="34" charset="-120"/>
              </a:rPr>
              <a:t>[10] J. Kreps, N. Narkhede y J. Rao, "Kafka: a distributed messaging system for log processing", en Proc. 6th Int. Workshop on Networking Meets Databases (NetDB), Atenas, Grecia, jun. 2011.</a:t>
            </a:r>
            <a:endParaRPr lang="en-US" sz="1050" dirty="0"/>
          </a:p>
          <a:p>
            <a:pPr marL="0" indent="0">
              <a:spcAft>
                <a:spcPts val="600"/>
              </a:spcAft>
              <a:buNone/>
            </a:pPr>
            <a:r>
              <a:rPr lang="en-US" sz="1050" dirty="0">
                <a:solidFill>
                  <a:srgbClr val="1B2430"/>
                </a:solidFill>
                <a:latin typeface="Calibri" pitchFamily="34" charset="0"/>
                <a:ea typeface="Calibri" pitchFamily="34" charset="-122"/>
                <a:cs typeface="Calibri" pitchFamily="34" charset="-120"/>
              </a:rPr>
              <a:t>[11] G. Wang et al., "Building a replicated logging system with Apache Kafka", Proc. VLDB Endow., vol. 8, num. 12, pp. 1654-1655, ago. 2015. doi: 10.14778/2824032.2824063.</a:t>
            </a:r>
            <a:endParaRPr lang="en-US" sz="1050" dirty="0"/>
          </a:p>
        </p:txBody>
      </p:sp>
      <p:sp>
        <p:nvSpPr>
          <p:cNvPr id="9" name="Shape 6"/>
          <p:cNvSpPr/>
          <p:nvPr/>
        </p:nvSpPr>
        <p:spPr>
          <a:xfrm>
            <a:off x="457200" y="6537960"/>
            <a:ext cx="11247120" cy="0"/>
          </a:xfrm>
          <a:prstGeom prst="line">
            <a:avLst/>
          </a:prstGeom>
          <a:noFill/>
          <a:ln w="9525">
            <a:solidFill>
              <a:srgbClr val="D9E1EA"/>
            </a:solidFill>
            <a:prstDash val="solid"/>
          </a:ln>
        </p:spPr>
      </p:sp>
      <p:sp>
        <p:nvSpPr>
          <p:cNvPr id="10" name="Text 7"/>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11" name="Text 8"/>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Referencias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2450"/>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E3F7E"/>
          </a:solidFill>
          <a:ln/>
        </p:spPr>
      </p:sp>
      <p:sp>
        <p:nvSpPr>
          <p:cNvPr id="3" name="Shape 1"/>
          <p:cNvSpPr/>
          <p:nvPr/>
        </p:nvSpPr>
        <p:spPr>
          <a:xfrm>
            <a:off x="-2286000" y="-2286000"/>
            <a:ext cx="5486400" cy="5486400"/>
          </a:xfrm>
          <a:prstGeom prst="ellipse">
            <a:avLst/>
          </a:prstGeom>
          <a:solidFill>
            <a:srgbClr val="2E86A1">
              <a:alpha val="60000"/>
            </a:srgbClr>
          </a:solidFill>
          <a:ln/>
        </p:spPr>
      </p:sp>
      <p:sp>
        <p:nvSpPr>
          <p:cNvPr id="4" name="Shape 2"/>
          <p:cNvSpPr/>
          <p:nvPr/>
        </p:nvSpPr>
        <p:spPr>
          <a:xfrm>
            <a:off x="8686800" y="4114800"/>
            <a:ext cx="5029200" cy="5029200"/>
          </a:xfrm>
          <a:prstGeom prst="ellipse">
            <a:avLst/>
          </a:prstGeom>
          <a:solidFill>
            <a:srgbClr val="4FAE60">
              <a:alpha val="55000"/>
            </a:srgbClr>
          </a:solidFill>
          <a:ln/>
        </p:spPr>
      </p:sp>
      <p:sp>
        <p:nvSpPr>
          <p:cNvPr id="5" name="Shape 3"/>
          <p:cNvSpPr/>
          <p:nvPr/>
        </p:nvSpPr>
        <p:spPr>
          <a:xfrm>
            <a:off x="10058400" y="-914400"/>
            <a:ext cx="3200400" cy="3200400"/>
          </a:xfrm>
          <a:prstGeom prst="ellipse">
            <a:avLst/>
          </a:prstGeom>
          <a:solidFill>
            <a:srgbClr val="F2A413">
              <a:alpha val="60000"/>
            </a:srgbClr>
          </a:solidFill>
          <a:ln/>
        </p:spPr>
      </p:sp>
      <p:sp>
        <p:nvSpPr>
          <p:cNvPr id="6" name="Text 4"/>
          <p:cNvSpPr/>
          <p:nvPr/>
        </p:nvSpPr>
        <p:spPr>
          <a:xfrm>
            <a:off x="457200" y="2377440"/>
            <a:ext cx="11247120" cy="1554480"/>
          </a:xfrm>
          <a:prstGeom prst="rect">
            <a:avLst/>
          </a:prstGeom>
          <a:noFill/>
          <a:ln/>
        </p:spPr>
        <p:txBody>
          <a:bodyPr wrap="square" lIns="0" tIns="0" rIns="0" bIns="0" rtlCol="0" anchor="ctr"/>
          <a:lstStyle/>
          <a:p>
            <a:pPr marL="0" indent="0" algn="ctr">
              <a:buNone/>
            </a:pPr>
            <a:r>
              <a:rPr lang="en-US" sz="9600" b="1" dirty="0">
                <a:solidFill>
                  <a:srgbClr val="FFFFFF"/>
                </a:solidFill>
                <a:latin typeface="Cambria" pitchFamily="34" charset="0"/>
                <a:ea typeface="Cambria" pitchFamily="34" charset="-122"/>
                <a:cs typeface="Cambria" pitchFamily="34" charset="-120"/>
              </a:rPr>
              <a:t>Gracias.</a:t>
            </a:r>
            <a:endParaRPr lang="en-US" sz="9600" dirty="0"/>
          </a:p>
        </p:txBody>
      </p:sp>
      <p:sp>
        <p:nvSpPr>
          <p:cNvPr id="7" name="Shape 5"/>
          <p:cNvSpPr/>
          <p:nvPr/>
        </p:nvSpPr>
        <p:spPr>
          <a:xfrm>
            <a:off x="4709160" y="3977640"/>
            <a:ext cx="2743200" cy="0"/>
          </a:xfrm>
          <a:prstGeom prst="line">
            <a:avLst/>
          </a:prstGeom>
          <a:noFill/>
          <a:ln w="38100">
            <a:solidFill>
              <a:srgbClr val="F2A413"/>
            </a:solidFill>
            <a:prstDash val="solid"/>
          </a:ln>
        </p:spPr>
      </p:sp>
      <p:sp>
        <p:nvSpPr>
          <p:cNvPr id="8" name="Text 6"/>
          <p:cNvSpPr/>
          <p:nvPr/>
        </p:nvSpPr>
        <p:spPr>
          <a:xfrm>
            <a:off x="457200" y="4114800"/>
            <a:ext cx="11247120" cy="502920"/>
          </a:xfrm>
          <a:prstGeom prst="rect">
            <a:avLst/>
          </a:prstGeom>
          <a:noFill/>
          <a:ln/>
        </p:spPr>
        <p:txBody>
          <a:bodyPr wrap="square" lIns="0" tIns="0" rIns="0" bIns="0" rtlCol="0" anchor="ctr"/>
          <a:lstStyle/>
          <a:p>
            <a:pPr marL="0" indent="0" algn="ctr">
              <a:buNone/>
            </a:pPr>
            <a:r>
              <a:rPr lang="en-US" sz="2200" i="1" dirty="0">
                <a:solidFill>
                  <a:srgbClr val="F2A413"/>
                </a:solidFill>
                <a:latin typeface="Cambria" pitchFamily="34" charset="0"/>
                <a:ea typeface="Cambria" pitchFamily="34" charset="-122"/>
                <a:cs typeface="Cambria" pitchFamily="34" charset="-120"/>
              </a:rPr>
              <a:t>Preguntas, dudas y proximos pasos</a:t>
            </a:r>
            <a:endParaRPr lang="en-US" sz="2200" dirty="0"/>
          </a:p>
        </p:txBody>
      </p:sp>
      <p:sp>
        <p:nvSpPr>
          <p:cNvPr id="9" name="Text 7"/>
          <p:cNvSpPr/>
          <p:nvPr/>
        </p:nvSpPr>
        <p:spPr>
          <a:xfrm>
            <a:off x="457200" y="5394960"/>
            <a:ext cx="11247120" cy="3657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Prof. Gleiston Guerrero Ulloa  -  gguerrero@uteq.edu.ec</a:t>
            </a:r>
            <a:endParaRPr lang="en-US" sz="1500" dirty="0"/>
          </a:p>
        </p:txBody>
      </p:sp>
      <p:sp>
        <p:nvSpPr>
          <p:cNvPr id="10" name="Text 8"/>
          <p:cNvSpPr/>
          <p:nvPr/>
        </p:nvSpPr>
        <p:spPr>
          <a:xfrm>
            <a:off x="457200" y="5760720"/>
            <a:ext cx="11247120" cy="365760"/>
          </a:xfrm>
          <a:prstGeom prst="rect">
            <a:avLst/>
          </a:prstGeom>
          <a:noFill/>
          <a:ln/>
        </p:spPr>
        <p:txBody>
          <a:bodyPr wrap="square" lIns="0" tIns="0" rIns="0" bIns="0" rtlCol="0" anchor="ctr"/>
          <a:lstStyle/>
          <a:p>
            <a:pPr marL="0" indent="0" algn="ctr">
              <a:buNone/>
            </a:pPr>
            <a:r>
              <a:rPr lang="en-US" sz="1200" dirty="0">
                <a:solidFill>
                  <a:srgbClr val="FFFFFF">
                    <a:alpha val="75000"/>
                  </a:srgbClr>
                </a:solidFill>
                <a:latin typeface="Calibri" pitchFamily="34" charset="0"/>
                <a:ea typeface="Calibri" pitchFamily="34" charset="-122"/>
                <a:cs typeface="Calibri" pitchFamily="34" charset="-120"/>
              </a:rPr>
              <a:t>Aplicaciones Distribuidas (ISR-701)  -  UTEQ - Facultad de Ciencias de la Computacion</a:t>
            </a:r>
            <a:endParaRPr lang="en-US" sz="1200" dirty="0"/>
          </a:p>
        </p:txBody>
      </p:sp>
      <p:sp>
        <p:nvSpPr>
          <p:cNvPr id="11" name="Text 9"/>
          <p:cNvSpPr/>
          <p:nvPr/>
        </p:nvSpPr>
        <p:spPr>
          <a:xfrm>
            <a:off x="457200" y="6172200"/>
            <a:ext cx="11247120" cy="365760"/>
          </a:xfrm>
          <a:prstGeom prst="rect">
            <a:avLst/>
          </a:prstGeom>
          <a:noFill/>
          <a:ln/>
        </p:spPr>
        <p:txBody>
          <a:bodyPr wrap="square" lIns="0" tIns="0" rIns="0" bIns="0" rtlCol="0" anchor="ctr"/>
          <a:lstStyle/>
          <a:p>
            <a:pPr marL="0" indent="0" algn="ctr">
              <a:buNone/>
            </a:pPr>
            <a:r>
              <a:rPr lang="en-US" sz="1200" dirty="0">
                <a:solidFill>
                  <a:srgbClr val="F2A413"/>
                </a:solidFill>
                <a:latin typeface="Calibri" pitchFamily="34" charset="0"/>
                <a:ea typeface="Calibri" pitchFamily="34" charset="-122"/>
                <a:cs typeface="Calibri" pitchFamily="34" charset="-120"/>
              </a:rPr>
              <a:t>Recordatorio: la Entrega 4 aplica estos conceptos de forma integradora.</a:t>
            </a:r>
            <a:endParaRPr lang="en-US" sz="1200" dirty="0"/>
          </a:p>
        </p:txBody>
      </p:sp>
      <p:sp>
        <p:nvSpPr>
          <p:cNvPr id="13" name="Shape 10"/>
          <p:cNvSpPr/>
          <p:nvPr/>
        </p:nvSpPr>
        <p:spPr>
          <a:xfrm>
            <a:off x="457200" y="6537960"/>
            <a:ext cx="11247120" cy="0"/>
          </a:xfrm>
          <a:prstGeom prst="line">
            <a:avLst/>
          </a:prstGeom>
          <a:noFill/>
          <a:ln w="9525">
            <a:solidFill>
              <a:srgbClr val="D9E1EA"/>
            </a:solidFill>
            <a:prstDash val="solid"/>
          </a:ln>
        </p:spPr>
      </p:sp>
      <p:sp>
        <p:nvSpPr>
          <p:cNvPr id="14" name="Text 11"/>
          <p:cNvSpPr/>
          <p:nvPr/>
        </p:nvSpPr>
        <p:spPr>
          <a:xfrm>
            <a:off x="457200" y="6583680"/>
            <a:ext cx="8686800" cy="228600"/>
          </a:xfrm>
          <a:prstGeom prst="rect">
            <a:avLst/>
          </a:prstGeom>
          <a:noFill/>
          <a:ln/>
        </p:spPr>
        <p:txBody>
          <a:bodyPr wrap="square" lIns="0" tIns="0" rIns="0" bIns="0" rtlCol="0" anchor="ctr"/>
          <a:lstStyle/>
          <a:p>
            <a:pPr marL="0" indent="0">
              <a:buNone/>
            </a:pPr>
            <a:r>
              <a:rPr lang="en-US" sz="900" dirty="0">
                <a:solidFill>
                  <a:srgbClr val="7A8899"/>
                </a:solidFill>
                <a:latin typeface="Calibri" pitchFamily="34" charset="0"/>
                <a:ea typeface="Calibri" pitchFamily="34" charset="-122"/>
                <a:cs typeface="Calibri" pitchFamily="34" charset="-120"/>
              </a:rPr>
              <a:t>Aplicaciones Distribuidas  |  ISR-701     UTEQ - Facultad de Ciencias de la Computacion</a:t>
            </a:r>
            <a:endParaRPr lang="en-US" sz="900" dirty="0"/>
          </a:p>
        </p:txBody>
      </p:sp>
      <p:sp>
        <p:nvSpPr>
          <p:cNvPr id="15" name="Text 12"/>
          <p:cNvSpPr/>
          <p:nvPr/>
        </p:nvSpPr>
        <p:spPr>
          <a:xfrm>
            <a:off x="9601200" y="6583680"/>
            <a:ext cx="2103120" cy="228600"/>
          </a:xfrm>
          <a:prstGeom prst="rect">
            <a:avLst/>
          </a:prstGeom>
          <a:noFill/>
          <a:ln/>
        </p:spPr>
        <p:txBody>
          <a:bodyPr wrap="square" lIns="0" tIns="0" rIns="0" bIns="0" rtlCol="0" anchor="ctr"/>
          <a:lstStyle/>
          <a:p>
            <a:pPr marL="0" indent="0" algn="r">
              <a:buNone/>
            </a:pPr>
            <a:r>
              <a:rPr lang="en-US" sz="900" b="1" dirty="0">
                <a:solidFill>
                  <a:srgbClr val="0E3F7E"/>
                </a:solidFill>
                <a:latin typeface="Calibri" pitchFamily="34" charset="0"/>
                <a:ea typeface="Calibri" pitchFamily="34" charset="-122"/>
                <a:cs typeface="Calibri" pitchFamily="34" charset="-120"/>
              </a:rPr>
              <a:t>Cierre   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10406</Words>
  <Application>Microsoft Office PowerPoint</Application>
  <PresentationFormat>Panorámica</PresentationFormat>
  <Paragraphs>620</Paragraphs>
  <Slides>25</Slides>
  <Notes>25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UTEQ - Facultad de Ciencias de la Computacion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4 - Computacion Paralela y Distribuida</dc:title>
  <dc:subject>Aplicaciones Distribuidas ISR-701</dc:subject>
  <dc:creator>Gleiston Guerrero</dc:creator>
  <cp:lastModifiedBy>GLEISTON CICERON GUERRERO ULLOA</cp:lastModifiedBy>
  <cp:revision>5</cp:revision>
  <dcterms:created xsi:type="dcterms:W3CDTF">2026-07-21T12:56:53Z</dcterms:created>
  <dcterms:modified xsi:type="dcterms:W3CDTF">2026-07-21T15:39:13Z</dcterms:modified>
</cp:coreProperties>
</file>