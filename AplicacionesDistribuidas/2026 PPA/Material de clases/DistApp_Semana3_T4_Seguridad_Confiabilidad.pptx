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65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1: PORTADA SEMANA 3
Tema 4: Seguridad y Confiabilidad en Sistemas Distribuidos — los 4 subtemas:
1. Amenazas y vulnerabilidades en entornos distribuidos
2. Autenticación, autorización y cifrado
3. Tolerancia a fallos: detección y recuperación
4. Acuerdos de nivel de servicio (SLA) y alta disponibilidad
EVALUACIONES:
• FORM-AC-01: Actividad grupal en clase (60-75 min) — análisis de un caso real de fallo en SD
• TA-IND-01: Informe académico individual — entrega al final de la Semana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2: GLOSARIO
Esta diapositiva es referencia permanente. Proyectarla 2 minutos al inicio de clase.
Puntos clave a destacar:
• CIA = la triada fundamental de la seguridad informática
• TLS ≠ SSL: SSL está obsoleto desde 2015. TLS 1.3 es el estándar actual (2018)
• JWT ≠ OAuth: JWT es un formato de token; OAuth 2.0 es un protocolo de autorización que puede usar JWT como formato de sus tokens
• MTBF y MTTR son las métricas que definen si un SLA se puede cumplir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3: AGENDA
Esta semana cierra la Unidad 1. Los 4 subtemas del Tema 4 son aplicables directamente al PFC.
BLOQUE 1 (30 min): Amenazas — preguntar con qué tipo de ataque abrirían el caso de seguridad asignado en FORM-AC-01
BLOQUE 2 (30 min): Autenticación/Cifrado — mostrar la estructura de un JWT real en jwt.io
BLOQUE 3 (20 min): Tolerancia a Fallos — analogía del fusible eléctrico para Circuit Breaker
BLOQUE 4 (20 min): SLA — calcular disponibilidad de un servicio real con los datos del caso FORM-AC-01
ACTIVIDAD (60-75 min): FORM-AC-01 en clase — los grupos aplican los 4 subtemas a su caso asignado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4: AMENAZAS
SIGLAS:
• CIA = Confidentiality, Integrity, Availability
• DoS = Denial of Service
• DDoS = Distributed Denial of Service
• MitM = Man-in-the-Middle
• TLS = Transport Layer Security
• HSTS = HTTP Strict Transport Security
• ARP = Address Resolution Protocol
• JWT = JSON Web Token
• SQL = Structured Query Language
PREGUNTA DE APERTURA: '¿Cuántos de ustedes tienen activado HTTPS en su PFC? ¿Están cifrando el tráfico interno entre microservicios?' — la respuesta típica es 'no' para el tráfico interno, lo que lo hace vulnerable a Eavesdropping.
CONEXIÓN CON PFC: el SGRA-D usa JWT para autenticación. Sin TLS en comunicaciones internas, un atacante con acceso a la red puede capturar todos los JWTs → puede impersonar cualquier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5: AUTENTICACIÓN
DISTINCIÓN CLAVE:
• AUTENTICACIÓN: ¿Quién eres? → JWT resuelve esto
• AUTORIZACIÓN: ¿Qué puedes hacer? → RBAC/ABAC + OAuth resuelven esto
• CIFRADO: ¿Nadie más puede leer? → TLS/AES/RSA resuelven esto
JWT vs SESSION TOKEN:
• Session token: el servidor guarda el estado (stateful)
• JWT: el token contiene toda la información firmada, el servidor NO guarda estado (stateless) → escala mejor en microservicios
Mostrar jwt.io en el navegador: pegar un JWT real y ver cómo el header/payload son solo Base64, y la signature es lo que no se puede falsificar sin la clave secreta.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6: TOLERANCIA A FALLOS
ANALOGÍA CIRCUIT BREAKER (fusible eléctrico):
• CLOSED (cerrado/normal): la corriente pasa → las peticiones llegan al servicio
• OPEN (abierto/disparado): la corriente no pasa → las peticiones se rechazan inmediatamente
• HALF-OPEN (medio abierto/prueba): se permite 1 petición de prueba
Sin Circuit Breaker, si Resource-Service está caído:
1. API Gateway envía petición → timeout de 5 segundos
2. Durante 5 segundos, ese hilo del API Gateway está bloqueado
3. Con 100 peticiones simultáneas → 100 hilos bloqueados × 5s = el API Gateway colapsa
4. Toda la aplicación cae por un único servicio → cascade failure
METRICAS:
Ejemplo: MTBF=720h, MTTR=2h → Disponibilidad=720/722=99.72% ('dos nines')
99.9% ('tres nines') → 8.76 horas de downtime al año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7: SLA Y ALTA DISPONIBILIDAD
LOS NINES EN CONTEXTO:
• AWS S3: 99.99% de disponibilidad → 52.6 min de downtime/año
• Google Spanner: 99.999% para escrituras regionales
• Sistema universitario típico: 99.9% (8.76h/año) — suficiente para días sin clases
• Sistema bancario: 99.99% mínimo para el core bancario
CALCULO PRÁCTICO (hacer en clase):
Si el servidor estuvo caído 3 horas en las últimas 4 semanas (720 horas):
Disponibilidad = (720-3)/720 = 717/720 = 99.58% → 'dos nines' → viola SLA de 99.9%
RTO vs RPO — EJEMPLO DEL PFC:
El SGRA-D cae a las 3:00 PM.
• RTO=2h → debe estar online a las 5:00 PM como máximo
• RPO=1h → el backup más reciente debe tener datos de las 2:00 PM
• Si el backup es cada 4h, el RPO real es 4h → viola el RPO de 1h
• Solución: backups incrementales cada hora o replicación continua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8: FORM-AC-01
ACTIVIDAD EN CLASE: el docente asigna un caso diferente a cada grupo al inicio de la actividad.
CASO AWS us-east-1 (28 Febrero 2017):
• Un ingeniero ejecutó un comando con scope incorrecto que eliminó un subconjunto de servidores S3
• Tipo de fallo: Crash (proceso administrativo mal ejecutado)
• CIA comprometida: Availability
• Downtime: ~4 horas para S3 en us-east-1
• Impacto: miles de sitios web caídos, estimado $150M en pérdidas para las empresas afectadas
• SLA de AWS S3: 99.99% → una caída de 4h viola el SLA anual completo
CASO FACEBOOK (4 Octubre 2021):
• Error en la configuración de BGP eliminó las rutas hacia los DNS de Facebook
• Tipo de fallo: Omisión (los mensajes BGP no llegaron a sus destinos)
• CIA comprometida: Availability
• Downtime: ~6 horas para todas las propiedades de Meta
• Impacto: 3.5 mil millones de usuarios afectados, ~$6B de caída en bolsa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9: TA-IND-01
DIFERENCIA CLAVE entre resumen y análisis crítico:
• RESUMEN: 'Netflix es AP porque prioriza disponibilidad'
• ANÁLISIS: 'Netflix es AP para su sistema de recomendaciones (datos no críticos), pero usa CP para el sistema de pagos — esta decisión diferenciada por servicio es consistente con PACELC (Abadi, 2012) donde la elección L vs C se hace por componente, no por sistema'
SISTEMAS DISTRIBUIDOS RECOMENDADOS:
• Netflix: CDN, microservicios, Chaos Engineering — mucha documentación técnica pública
• Uber: geolocalización distribuida, consistencia causal — post-mortems en eng.uber.com
• WhatsApp: mensajería E2E, Signal Protocol, escalabilidad — paper técnico disponible
• PFC propio: la opción más directamente relevante y la que más conecta con el trabajo del equipo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10: CIERRE
PREGUNTAS DE CIERRE RÁPIDO (5 min):
1. ¿Cuáles son los 3 pilares de CIA? → Confidentiality, Integrity, Availability
2. ¿Diferencia entre autenticación y autorización? → ¿Quién eres? vs ¿Qué puedes hacer?
3. ¿Cuál es el tipo de fallo más difícil de tolerar? → Byzantino
4. Si MTBF=720h y MTTR=3h → disponibilidad? → 720/723 = 99.59% ('dos nines')
5. ¿Cuánto downtime permite 99.99% al año? → 52.6 minutos
SEMANA 4:
• Tema 5: Coordinación y Consistencia (CAP, elección de líder, 2PC, Raft/Paxos)
• Entrega GA-SUM-01 — verificar que todos los repositorios GitHub estén públicos
• Exposiciones del Corte 1 — todos los grupos deben tener sus diapositivas listas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29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56032"/>
            <a:ext cx="2194560" cy="475488"/>
          </a:xfrm>
          <a:prstGeom prst="rect">
            <a:avLst/>
          </a:prstGeom>
          <a:solidFill>
            <a:srgbClr val="1A103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5603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UTEQ · Ing. de Software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2560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SEMANA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E93D8"/>
                </a:solidFill>
              </a:rPr>
              <a:t>APLICACIONES DISTRIBUIDAS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FFFFFF"/>
                </a:solidFill>
              </a:rPr>
              <a:t>Seguridad y Confiabilidad</a:t>
            </a:r>
            <a:endParaRPr lang="en-US" sz="3700" dirty="0"/>
          </a:p>
          <a:p>
            <a:pPr marL="0" indent="0" algn="ctr">
              <a:buNone/>
            </a:pPr>
            <a:r>
              <a:rPr lang="en-US" sz="3700" b="1" dirty="0">
                <a:solidFill>
                  <a:srgbClr val="FFFFFF"/>
                </a:solidFill>
              </a:rPr>
              <a:t>en Sistemas Distribuidos</a:t>
            </a:r>
            <a:endParaRPr lang="en-US" sz="3700" dirty="0"/>
          </a:p>
        </p:txBody>
      </p:sp>
      <p:sp>
        <p:nvSpPr>
          <p:cNvPr id="10" name="Shape 8"/>
          <p:cNvSpPr/>
          <p:nvPr/>
        </p:nvSpPr>
        <p:spPr>
          <a:xfrm>
            <a:off x="2286000" y="2834640"/>
            <a:ext cx="4572000" cy="4572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Tema 4  ·  Unidad 1  ·  18 – 24 de Mayo del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273552"/>
            <a:ext cx="8412480" cy="749808"/>
          </a:xfrm>
          <a:prstGeom prst="rect">
            <a:avLst/>
          </a:prstGeom>
          <a:solidFill>
            <a:srgbClr val="0D0B1E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E93D8"/>
                </a:solidFill>
              </a:rPr>
              <a:t>🎯 Resultado de Aprendizaje: </a:t>
            </a:r>
            <a:r>
              <a:rPr lang="en-US" sz="950" dirty="0">
                <a:solidFill>
                  <a:srgbClr val="FFFFFF"/>
                </a:solidFill>
              </a:rPr>
              <a:t>Analiza las características y principios de los SD, evaluando sus ventajas, limitaciones y retos desde una perspectiva crítica e interdisciplinaria.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Evaluaciones esta semana:  FORM-AC-01  (Análisis de Caso en clase)  ·  TA-IND-01  (Informe Académico Individual)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📖  Glosario de Siglas — Semana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86968"/>
            <a:ext cx="4187952" cy="438912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235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SD</a:t>
            </a:r>
            <a:r>
              <a:rPr lang="en-US" sz="900" dirty="0">
                <a:solidFill>
                  <a:srgbClr val="E65100"/>
                </a:solidFill>
              </a:rPr>
              <a:t> = Sistema Distribuido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12471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Colección de nodos autónomos que aparecen como uno solo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1362456"/>
            <a:ext cx="4187952" cy="438912"/>
          </a:xfrm>
          <a:prstGeom prst="rect">
            <a:avLst/>
          </a:prstGeom>
          <a:solidFill>
            <a:srgbClr val="EDE7F6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9903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CIA</a:t>
            </a:r>
            <a:r>
              <a:rPr lang="en-US" sz="900" dirty="0">
                <a:solidFill>
                  <a:srgbClr val="E65100"/>
                </a:solidFill>
              </a:rPr>
              <a:t> = Confidentiality · Integrity · Availability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60020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La triada de seguridad — los 3 pilares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837944"/>
            <a:ext cx="4187952" cy="438912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7452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TLS</a:t>
            </a:r>
            <a:r>
              <a:rPr lang="en-US" sz="900" dirty="0">
                <a:solidFill>
                  <a:srgbClr val="E65100"/>
                </a:solidFill>
              </a:rPr>
              <a:t> = Transport Layer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0756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Protocolo de cifrado de red (sucesor de SSL)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2313432"/>
            <a:ext cx="4187952" cy="438912"/>
          </a:xfrm>
          <a:prstGeom prst="rect">
            <a:avLst/>
          </a:prstGeom>
          <a:solidFill>
            <a:srgbClr val="EDE7F6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000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JWT</a:t>
            </a:r>
            <a:r>
              <a:rPr lang="en-US" sz="900" dirty="0">
                <a:solidFill>
                  <a:srgbClr val="E65100"/>
                </a:solidFill>
              </a:rPr>
              <a:t> = JSON Web Token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55117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Token firmado para autenticación (RFC 7519)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788920"/>
            <a:ext cx="4187952" cy="438912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254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OAuth</a:t>
            </a:r>
            <a:r>
              <a:rPr lang="en-US" sz="900" dirty="0">
                <a:solidFill>
                  <a:srgbClr val="E65100"/>
                </a:solidFill>
              </a:rPr>
              <a:t> = Open Authorization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30266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Protocolo de autorización delegada — versión actual: 2.0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3264408"/>
            <a:ext cx="4187952" cy="438912"/>
          </a:xfrm>
          <a:prstGeom prst="rect">
            <a:avLst/>
          </a:prstGeom>
          <a:solidFill>
            <a:srgbClr val="EDE7F6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0098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RBAC</a:t>
            </a:r>
            <a:r>
              <a:rPr lang="en-US" sz="900" dirty="0">
                <a:solidFill>
                  <a:srgbClr val="E65100"/>
                </a:solidFill>
              </a:rPr>
              <a:t> = Role-Based Access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350215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Permisos asignados a roles, no directamente a usuarios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3739896"/>
            <a:ext cx="4187952" cy="438912"/>
          </a:xfrm>
          <a:prstGeom prst="rect">
            <a:avLst/>
          </a:prstGeom>
          <a:solidFill>
            <a:srgbClr val="F3E5F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7764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ABAC</a:t>
            </a:r>
            <a:r>
              <a:rPr lang="en-US" sz="900" dirty="0">
                <a:solidFill>
                  <a:srgbClr val="E65100"/>
                </a:solidFill>
              </a:rPr>
              <a:t> = Attribute-Based Access Control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397764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Permisos basados en atributos del usuario y contexto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0016" y="886968"/>
            <a:ext cx="4187952" cy="438912"/>
          </a:xfrm>
          <a:prstGeom prst="rect">
            <a:avLst/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9235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DoS</a:t>
            </a:r>
            <a:r>
              <a:rPr lang="en-US" sz="900" dirty="0">
                <a:solidFill>
                  <a:srgbClr val="E65100"/>
                </a:solidFill>
              </a:rPr>
              <a:t> = Denial of Service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112471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Ataque que agota los recursos de un servicio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0016" y="1362456"/>
            <a:ext cx="4187952" cy="438912"/>
          </a:xfrm>
          <a:prstGeom prst="rect">
            <a:avLst/>
          </a:prstGeom>
          <a:solidFill>
            <a:srgbClr val="F1F8F6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39903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DDoS</a:t>
            </a:r>
            <a:r>
              <a:rPr lang="en-US" sz="900" dirty="0">
                <a:solidFill>
                  <a:srgbClr val="E65100"/>
                </a:solidFill>
              </a:rPr>
              <a:t> = Distributed Denial of Service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160020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DoS lanzado desde múltiples fuentes simultáneas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0016" y="1837944"/>
            <a:ext cx="4187952" cy="438912"/>
          </a:xfrm>
          <a:prstGeom prst="rect">
            <a:avLst/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187452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MTBF</a:t>
            </a:r>
            <a:r>
              <a:rPr lang="en-US" sz="900" dirty="0">
                <a:solidFill>
                  <a:srgbClr val="E65100"/>
                </a:solidFill>
              </a:rPr>
              <a:t> = Mean Time Between Failures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1456" y="20756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Tiempo promedio entre fallos del sistema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0016" y="2313432"/>
            <a:ext cx="4187952" cy="438912"/>
          </a:xfrm>
          <a:prstGeom prst="rect">
            <a:avLst/>
          </a:prstGeom>
          <a:solidFill>
            <a:srgbClr val="F1F8F6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235000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MTTR</a:t>
            </a:r>
            <a:r>
              <a:rPr lang="en-US" sz="900" dirty="0">
                <a:solidFill>
                  <a:srgbClr val="E65100"/>
                </a:solidFill>
              </a:rPr>
              <a:t> = Mean Time To Recovery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91456" y="255117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Tiempo promedio de recuperación tras un fallo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0016" y="2788920"/>
            <a:ext cx="4187952" cy="438912"/>
          </a:xfrm>
          <a:prstGeom prst="rect">
            <a:avLst/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28254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SLA</a:t>
            </a:r>
            <a:r>
              <a:rPr lang="en-US" sz="900" dirty="0">
                <a:solidFill>
                  <a:srgbClr val="E65100"/>
                </a:solidFill>
              </a:rPr>
              <a:t> = Service Level Agreement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91456" y="30266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Acuerdo de Nivel de Servicio — define disponibilidad mínima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0016" y="3264408"/>
            <a:ext cx="4187952" cy="438912"/>
          </a:xfrm>
          <a:prstGeom prst="rect">
            <a:avLst/>
          </a:prstGeom>
          <a:solidFill>
            <a:srgbClr val="F1F8F6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30098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RTO</a:t>
            </a:r>
            <a:r>
              <a:rPr lang="en-US" sz="900" dirty="0">
                <a:solidFill>
                  <a:srgbClr val="E65100"/>
                </a:solidFill>
              </a:rPr>
              <a:t> = Recovery Time Objective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91456" y="350215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Tiempo máximo aceptable de caída del sistema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00016" y="3739896"/>
            <a:ext cx="4187952" cy="438912"/>
          </a:xfrm>
          <a:prstGeom prst="rect">
            <a:avLst/>
          </a:prstGeom>
          <a:solidFill>
            <a:srgbClr val="E0F2F1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37764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</a:rPr>
              <a:t>RPO</a:t>
            </a:r>
            <a:r>
              <a:rPr lang="en-US" sz="900" dirty="0">
                <a:solidFill>
                  <a:srgbClr val="E65100"/>
                </a:solidFill>
              </a:rPr>
              <a:t> = Recovery Point Objective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91456" y="397764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Pérdida máxima aceptable de datos (medida en tiempo)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UTEQ · Aplicaciones Distribuidas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858000" y="4864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Semana 3 | 18–24 May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 — Semana 3 · Tema 4: Seguridad y Confiabilidad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17190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984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62828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Amenazas y Vulnerabilidades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Triada CIA (C·I·A)  ·  DoS / DDoS  ·  Man-in-the-Middle (MitM)  ·  Inyección  ·  Eavesdropping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91440" cy="171907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6984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4D92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5819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Autenticación, Autorización y Cifrado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JWT (JSON Web Token)  ·  OAuth 2.0 (Open Authorization)  ·  RBAC  ·  TLS  ·  AES / RSA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34640"/>
            <a:ext cx="91440" cy="17190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4436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95C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345643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Tolerancia a Fallos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Taxonomía Cristian (1991)  ·  MTBF  ·  MTTR  ·  Circuit Breaker  ·  Redundancia y Replicación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34640"/>
            <a:ext cx="91440" cy="17190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4436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A1B9A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345643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SLA y Alta Disponibilidad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SLA (Service Level Agreement)  ·  Los 'nines'  ·  RTO (Recovery Time Obj.)  ·  RPO (Recovery Point Obj.)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solidFill>
            <a:srgbClr val="FFFDE7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7316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4037"/>
                </a:solidFill>
              </a:rPr>
              <a:t>⚠️  Evaluaciones:  FORM-AC-01 — Análisis de Caso grupal en clase  ·  TA-IND-01 — Informe Académico Individual (entrega autónoma)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UTEQ · Aplicaciones Distribuidas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0" y="4864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Semana 3 | 18–24 May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01 · Amenazas y Vulnerabilidades en SD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0525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Triada CIA:  C</a:t>
            </a:r>
            <a:r>
              <a:rPr lang="en-US" sz="1000" dirty="0">
                <a:solidFill>
                  <a:srgbClr val="071A2E"/>
                </a:solidFill>
              </a:rPr>
              <a:t>onfidentiality</a:t>
            </a:r>
            <a:r>
              <a:rPr lang="en-US" sz="1000" dirty="0">
                <a:solidFill>
                  <a:srgbClr val="64748B"/>
                </a:solidFill>
              </a:rPr>
              <a:t> (solo autorizados leen)  ·  </a:t>
            </a:r>
            <a:r>
              <a:rPr lang="en-US" sz="1000" b="1" dirty="0">
                <a:solidFill>
                  <a:srgbClr val="C62828"/>
                </a:solidFill>
              </a:rPr>
              <a:t>I</a:t>
            </a:r>
            <a:r>
              <a:rPr lang="en-US" sz="1000" dirty="0">
                <a:solidFill>
                  <a:srgbClr val="071A2E"/>
                </a:solidFill>
              </a:rPr>
              <a:t>ntegrity</a:t>
            </a:r>
            <a:r>
              <a:rPr lang="en-US" sz="1000" dirty="0">
                <a:solidFill>
                  <a:srgbClr val="64748B"/>
                </a:solidFill>
              </a:rPr>
              <a:t> (sin alteración no detectada)  ·  </a:t>
            </a:r>
            <a:r>
              <a:rPr lang="en-US" sz="1000" b="1" dirty="0">
                <a:solidFill>
                  <a:srgbClr val="C62828"/>
                </a:solidFill>
              </a:rPr>
              <a:t>A</a:t>
            </a:r>
            <a:r>
              <a:rPr lang="en-US" sz="1000" dirty="0">
                <a:solidFill>
                  <a:srgbClr val="071A2E"/>
                </a:solidFill>
              </a:rPr>
              <a:t>vailability</a:t>
            </a:r>
            <a:r>
              <a:rPr lang="en-US" sz="1000" dirty="0">
                <a:solidFill>
                  <a:srgbClr val="64748B"/>
                </a:solidFill>
              </a:rPr>
              <a:t> (siempre accesible).  </a:t>
            </a:r>
            <a:r>
              <a:rPr lang="en-US" sz="1000" b="1" dirty="0">
                <a:solidFill>
                  <a:srgbClr val="C62828"/>
                </a:solidFill>
              </a:rPr>
              <a:t>Toda amenaza ataca ≥1 pilar.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26464"/>
            <a:ext cx="4206240" cy="1645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26464"/>
            <a:ext cx="4206240" cy="43891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63040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DoS / DDoS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0000"/>
                </a:solidFill>
              </a:rPr>
              <a:t>Denial of Service / Distributed DoS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3986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Inunda el servidor con peticiones para agotar sus recursos. DDoS usa miles de nodos comprometidos (botnet). Ataca: Availability (A).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47472" y="2560320"/>
            <a:ext cx="4059936" cy="438912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258775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Caso real: </a:t>
            </a:r>
            <a:r>
              <a:rPr lang="en-US" sz="850" dirty="0">
                <a:solidFill>
                  <a:srgbClr val="FFFFFF"/>
                </a:solidFill>
              </a:rPr>
              <a:t>Ataque a GitHub, Feb 2018: 1.35 Tbps de tráfico. Mitigado por Akamai en 10 min.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426464"/>
            <a:ext cx="420624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426464"/>
            <a:ext cx="4206240" cy="43891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463040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Man-in-the-Middle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67335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0000"/>
                </a:solidFill>
              </a:rPr>
              <a:t>MitM — Intercepción activa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1901952"/>
            <a:ext cx="3986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El atacante se interpone entre dos nodos y lee o modifica mensajes en tránsito. Posible sin TLS. Ataca: C e I.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782312" y="2560320"/>
            <a:ext cx="4059936" cy="438912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258775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Caso real: </a:t>
            </a:r>
            <a:r>
              <a:rPr lang="en-US" sz="850" dirty="0">
                <a:solidFill>
                  <a:srgbClr val="FFFFFF"/>
                </a:solidFill>
              </a:rPr>
              <a:t>ARP Spoofing en red local. Contramedida: TLS 1.3 + certificados verificados + HSTS.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4206240" cy="1645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45536"/>
            <a:ext cx="4206240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182112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Inyección de código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3392424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0000"/>
                </a:solidFill>
              </a:rPr>
              <a:t>SQL Injection, Command Injection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621024"/>
            <a:ext cx="3986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Código malicioso insertado como entrada que el sistema ejecuta como instrucción legítima. Puede afectar múltiples nodos. Ataca: C, I, A.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47472" y="4279392"/>
            <a:ext cx="4059936" cy="438912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4306824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Caso real: </a:t>
            </a:r>
            <a:r>
              <a:rPr lang="en-US" sz="850" dirty="0">
                <a:solidFill>
                  <a:srgbClr val="FFFFFF"/>
                </a:solidFill>
              </a:rPr>
              <a:t>Heartland 2008: SQL Injection → 130M tarjetas de crédito robadas.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145536"/>
            <a:ext cx="4206240" cy="1645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145536"/>
            <a:ext cx="4206240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3182112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Eavesdropping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18888" y="3392424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0000"/>
                </a:solidFill>
              </a:rPr>
              <a:t>Escucha pasiva del tráfico de red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18888" y="3621024"/>
            <a:ext cx="39867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El atacante monitorea el tráfico sin modificarlo. Sin cifrado, captura JWTs, contraseñas y datos sensibles. Ataca: Confidentiality (C).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782312" y="4279392"/>
            <a:ext cx="4059936" cy="438912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855464" y="4306824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Caso real: </a:t>
            </a:r>
            <a:r>
              <a:rPr lang="en-US" sz="850" dirty="0">
                <a:solidFill>
                  <a:srgbClr val="FFFFFF"/>
                </a:solidFill>
              </a:rPr>
              <a:t>Contramedida: cifrado extremo a extremo con TLS 1.3 incluso en red interna.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UTEQ · Aplicaciones Distribuidas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0" y="4864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Semana 3 | 18–24 May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02 · Autenticación, Autorización y Cifrado en SD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052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D92"/>
                </a:solidFill>
              </a:rPr>
              <a:t>Autenticación</a:t>
            </a:r>
            <a:r>
              <a:rPr lang="en-US" sz="1050" dirty="0">
                <a:solidFill>
                  <a:srgbClr val="071A2E"/>
                </a:solidFill>
              </a:rPr>
              <a:t>: ¿Quién eres? (identidad verificada)  ·  </a:t>
            </a:r>
            <a:r>
              <a:rPr lang="en-US" sz="1050" b="1" dirty="0">
                <a:solidFill>
                  <a:srgbClr val="0E4D92"/>
                </a:solidFill>
              </a:rPr>
              <a:t>Autorización</a:t>
            </a:r>
            <a:r>
              <a:rPr lang="en-US" sz="1050" dirty="0">
                <a:solidFill>
                  <a:srgbClr val="071A2E"/>
                </a:solidFill>
              </a:rPr>
              <a:t>: ¿Qué puedes hacer? (permisos)  ·  </a:t>
            </a:r>
            <a:r>
              <a:rPr lang="en-US" sz="1050" b="1" dirty="0">
                <a:solidFill>
                  <a:srgbClr val="0E4D92"/>
                </a:solidFill>
              </a:rPr>
              <a:t>Cifrado</a:t>
            </a:r>
            <a:r>
              <a:rPr lang="en-US" sz="1050" dirty="0">
                <a:solidFill>
                  <a:srgbClr val="071A2E"/>
                </a:solidFill>
              </a:rPr>
              <a:t>: ¿Nadie más puede leer? (confidencialidad)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1901952"/>
          </a:xfrm>
          <a:prstGeom prst="rect">
            <a:avLst/>
          </a:prstGeom>
          <a:solidFill>
            <a:srgbClr val="E3F2FD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4160520" cy="34747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JWT  </a:t>
            </a:r>
            <a:r>
              <a:rPr lang="en-US" i="1" dirty="0">
                <a:solidFill>
                  <a:srgbClr val="BBDEFB"/>
                </a:solidFill>
              </a:rPr>
              <a:t>JSON Web Token  (RFC 7519)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4D92"/>
                </a:solidFill>
              </a:rPr>
              <a:t>Estructura: </a:t>
            </a:r>
            <a:r>
              <a:rPr lang="en-US" sz="900" dirty="0">
                <a:solidFill>
                  <a:srgbClr val="000000"/>
                </a:solidFill>
              </a:rPr>
              <a:t>Header.Payload.Signature
</a:t>
            </a:r>
            <a:r>
              <a:rPr lang="en-US" sz="900" b="1" dirty="0">
                <a:solidFill>
                  <a:srgbClr val="0E4D92"/>
                </a:solidFill>
              </a:rPr>
              <a:t>Header: </a:t>
            </a:r>
            <a:r>
              <a:rPr lang="en-US" sz="900" dirty="0">
                <a:solidFill>
                  <a:srgbClr val="000000"/>
                </a:solidFill>
              </a:rPr>
              <a:t>algoritmo de firma (HS256, RS256)
</a:t>
            </a:r>
            <a:r>
              <a:rPr lang="en-US" sz="900" b="1" dirty="0">
                <a:solidFill>
                  <a:srgbClr val="0E4D92"/>
                </a:solidFill>
              </a:rPr>
              <a:t>Payload: </a:t>
            </a:r>
            <a:r>
              <a:rPr lang="en-US" sz="900" dirty="0">
                <a:solidFill>
                  <a:srgbClr val="000000"/>
                </a:solidFill>
              </a:rPr>
              <a:t>claims: sub (subject), exp (expiration), roles
</a:t>
            </a:r>
            <a:r>
              <a:rPr lang="en-US" sz="900" b="1" dirty="0">
                <a:solidFill>
                  <a:srgbClr val="0E4D92"/>
                </a:solidFill>
              </a:rPr>
              <a:t>Signature: </a:t>
            </a:r>
            <a:r>
              <a:rPr lang="en-US" sz="900" dirty="0">
                <a:solidFill>
                  <a:srgbClr val="000000"/>
                </a:solidFill>
              </a:rPr>
              <a:t>HMAC(header+payload, secret_key)
</a:t>
            </a:r>
            <a:r>
              <a:rPr lang="en-US" sz="900" b="1" dirty="0">
                <a:solidFill>
                  <a:srgbClr val="0E4D92"/>
                </a:solidFill>
              </a:rPr>
              <a:t>Flujo: </a:t>
            </a:r>
            <a:r>
              <a:rPr lang="en-US" sz="900" dirty="0">
                <a:solidFill>
                  <a:srgbClr val="000000"/>
                </a:solidFill>
              </a:rPr>
              <a:t>POST /login → servidor retorna JWT → cliente adjunta en header: </a:t>
            </a:r>
            <a:r>
              <a:rPr lang="en-US" sz="900" b="1" dirty="0">
                <a:solidFill>
                  <a:srgbClr val="0E4D92"/>
                </a:solidFill>
              </a:rPr>
              <a:t>Authorization: Bearer &lt;token&gt;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389888"/>
            <a:ext cx="4160520" cy="1901952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389888"/>
            <a:ext cx="416052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OAuth 2.0  </a:t>
            </a:r>
            <a:r>
              <a:rPr lang="en-US" i="1" dirty="0">
                <a:solidFill>
                  <a:srgbClr val="E1BEE7"/>
                </a:solidFill>
              </a:rPr>
              <a:t>Open Authorization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792224"/>
            <a:ext cx="39319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Propósito: </a:t>
            </a:r>
            <a:r>
              <a:rPr lang="en-US" sz="900" dirty="0">
                <a:solidFill>
                  <a:srgbClr val="000000"/>
                </a:solidFill>
              </a:rPr>
              <a:t>autorización delegada (no autenticación directa).
</a:t>
            </a:r>
            <a:r>
              <a:rPr lang="en-US" sz="900" b="1" dirty="0">
                <a:solidFill>
                  <a:srgbClr val="6A1B9A"/>
                </a:solidFill>
              </a:rPr>
              <a:t>Roles: </a:t>
            </a:r>
            <a:r>
              <a:rPr lang="en-US" sz="900" dirty="0">
                <a:solidFill>
                  <a:srgbClr val="000000"/>
                </a:solidFill>
              </a:rPr>
              <a:t>Resource Owner · Client (app) · Authorization Server · Resource Server.
</a:t>
            </a:r>
            <a:r>
              <a:rPr lang="en-US" sz="900" b="1" dirty="0">
                <a:solidFill>
                  <a:srgbClr val="6A1B9A"/>
                </a:solidFill>
              </a:rPr>
              <a:t>Flujo más común: </a:t>
            </a:r>
            <a:r>
              <a:rPr lang="en-US" sz="900" dirty="0">
                <a:solidFill>
                  <a:srgbClr val="000000"/>
                </a:solidFill>
              </a:rPr>
              <a:t>Authorization Code + PKCE (Proof Key for Code Exchange).
</a:t>
            </a:r>
            <a:r>
              <a:rPr lang="en-US" sz="900" b="1" dirty="0">
                <a:solidFill>
                  <a:srgbClr val="6A1B9A"/>
                </a:solidFill>
              </a:rPr>
              <a:t>PKCE: </a:t>
            </a:r>
            <a:r>
              <a:rPr lang="en-US" sz="900" dirty="0">
                <a:solidFill>
                  <a:srgbClr val="000000"/>
                </a:solidFill>
              </a:rPr>
              <a:t>protege el código de autorización en apps móviles/SPA.
</a:t>
            </a:r>
            <a:r>
              <a:rPr lang="en-US" sz="900" b="1" dirty="0">
                <a:solidFill>
                  <a:srgbClr val="6A1B9A"/>
                </a:solidFill>
              </a:rPr>
              <a:t>Ejemplo real: </a:t>
            </a:r>
            <a:r>
              <a:rPr lang="en-US" sz="900" dirty="0">
                <a:solidFill>
                  <a:srgbClr val="000000"/>
                </a:solidFill>
              </a:rPr>
              <a:t>'Login con Google' → Google actúa como Authorization Server.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364992"/>
            <a:ext cx="4160520" cy="14447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64992"/>
            <a:ext cx="4160520" cy="31089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392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RBAC  </a:t>
            </a:r>
            <a:r>
              <a:rPr lang="en-US" i="1" dirty="0">
                <a:solidFill>
                  <a:srgbClr val="B2EBF2"/>
                </a:solidFill>
              </a:rPr>
              <a:t>Role-Based Access Control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721608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</a:rPr>
              <a:t>Permisos → Roles → Usuarios. </a:t>
            </a:r>
            <a:r>
              <a:rPr lang="en-US" sz="900" dirty="0">
                <a:solidFill>
                  <a:srgbClr val="000000"/>
                </a:solidFill>
              </a:rPr>
              <a:t>Ej: Administrador (CRUD) · Docente (read+write propios) · Estudiante (read only).
</a:t>
            </a:r>
            <a:r>
              <a:rPr lang="en-US" sz="900" b="1" dirty="0">
                <a:solidFill>
                  <a:srgbClr val="00695C"/>
                </a:solidFill>
              </a:rPr>
              <a:t>ABAC </a:t>
            </a:r>
            <a:r>
              <a:rPr lang="en-US" sz="900" dirty="0">
                <a:solidFill>
                  <a:srgbClr val="000000"/>
                </a:solidFill>
              </a:rPr>
              <a:t>(Attribute-Based): permisos según atributos del usuario, recurso y contexto. Más flexible pero más complejo de implementar.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3364992"/>
            <a:ext cx="4160520" cy="144475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364992"/>
            <a:ext cx="4160520" cy="31089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3392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Cifrado  </a:t>
            </a:r>
            <a:r>
              <a:rPr lang="en-US" i="1" dirty="0">
                <a:solidFill>
                  <a:srgbClr val="FFCCBC"/>
                </a:solidFill>
              </a:rPr>
              <a:t>Simétrico y Asimétrico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721608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AES </a:t>
            </a:r>
            <a:r>
              <a:rPr lang="en-US" sz="900" dirty="0">
                <a:solidFill>
                  <a:srgbClr val="000000"/>
                </a:solidFill>
              </a:rPr>
              <a:t>(Advanced Encryption Standard): simétrico, misma clave para cifrar/descifrar. AES-256 es el estándar actual.
</a:t>
            </a:r>
            <a:r>
              <a:rPr lang="en-US" sz="900" b="1" dirty="0">
                <a:solidFill>
                  <a:srgbClr val="E65100"/>
                </a:solidFill>
              </a:rPr>
              <a:t>RSA </a:t>
            </a:r>
            <a:r>
              <a:rPr lang="en-US" sz="900" dirty="0">
                <a:solidFill>
                  <a:srgbClr val="000000"/>
                </a:solidFill>
              </a:rPr>
              <a:t>(Rivest-Shamir-Adleman): asimétrico, clave pública cifra / clave privada descifra. Base de TLS.
</a:t>
            </a:r>
            <a:r>
              <a:rPr lang="en-US" sz="900" b="1" dirty="0">
                <a:solidFill>
                  <a:srgbClr val="E65100"/>
                </a:solidFill>
              </a:rPr>
              <a:t>TLS 1.3 </a:t>
            </a:r>
            <a:r>
              <a:rPr lang="en-US" sz="900" dirty="0">
                <a:solidFill>
                  <a:srgbClr val="000000"/>
                </a:solidFill>
              </a:rPr>
              <a:t>= AES para datos + RSA/ECDH para intercambio de claves. Elimina algoritmos débiles.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UTEQ · Aplicaciones Distribuidas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858000" y="4864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Semana 3 | 18–24 May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03 · Tolerancia a Fallos — Detección y Recuperación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0525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95C"/>
                </a:solidFill>
              </a:rPr>
              <a:t>Taxonomía de Cristian (1991): </a:t>
            </a:r>
            <a:r>
              <a:rPr lang="en-US" sz="1000" dirty="0">
                <a:solidFill>
                  <a:srgbClr val="071A2E"/>
                </a:solidFill>
              </a:rPr>
              <a:t>Crash  ·  Omisión de envío  ·  Omisión de recepción  ·  Temporización  ·  Byzantino</a:t>
            </a:r>
            <a:r>
              <a:rPr lang="en-US" sz="1000" i="1" dirty="0">
                <a:solidFill>
                  <a:srgbClr val="64748B"/>
                </a:solidFill>
              </a:rPr>
              <a:t>  — cada tipo requiere estrategia diferente de detección y recuperación.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08176"/>
            <a:ext cx="4206240" cy="1490472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08176"/>
            <a:ext cx="420624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6304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Fallo tipo: </a:t>
            </a:r>
            <a:r>
              <a:rPr lang="en-US" b="1" dirty="0">
                <a:solidFill>
                  <a:srgbClr val="FFFFFF"/>
                </a:solidFill>
              </a:rPr>
              <a:t>Crash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01368"/>
            <a:ext cx="398678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El proceso deja de ejecutarse completamente. El más simple de detectar via heartbeat.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84048" y="2162556"/>
            <a:ext cx="3986784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Detección: </a:t>
            </a:r>
            <a:r>
              <a:rPr lang="en-US" sz="850" dirty="0">
                <a:solidFill>
                  <a:srgbClr val="071A2E"/>
                </a:solidFill>
              </a:rPr>
              <a:t>Heartbeat + timeout → ECONNRESET o TCP keepalive.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422309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Recuperación: </a:t>
            </a:r>
            <a:r>
              <a:rPr lang="en-US" sz="850" dirty="0">
                <a:solidFill>
                  <a:srgbClr val="071A2E"/>
                </a:solidFill>
              </a:rPr>
              <a:t>Reinicio automático (Docker restart policy, systemd). Elección de nuevo líder (Bully/Ring/Raft).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408176"/>
            <a:ext cx="4206240" cy="149047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408176"/>
            <a:ext cx="420624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46304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Fallo tipo: </a:t>
            </a:r>
            <a:r>
              <a:rPr lang="en-US" b="1" dirty="0">
                <a:solidFill>
                  <a:srgbClr val="FFFFFF"/>
                </a:solidFill>
              </a:rPr>
              <a:t>Omisión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8888" y="180136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El proceso existe pero no envía o no recibe ciertos mensajes. Más difícil de detectar que crash.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818888" y="2157984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</a:rPr>
              <a:t>Detección: </a:t>
            </a:r>
            <a:r>
              <a:rPr lang="en-US" sz="850" dirty="0">
                <a:solidFill>
                  <a:srgbClr val="071A2E"/>
                </a:solidFill>
              </a:rPr>
              <a:t>ACK (acknowledgment) esperado + retransmisión con backoff exponencial.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39572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</a:rPr>
              <a:t>Recuperación: </a:t>
            </a:r>
            <a:r>
              <a:rPr lang="en-US" sz="850" dirty="0">
                <a:solidFill>
                  <a:srgbClr val="071A2E"/>
                </a:solidFill>
              </a:rPr>
              <a:t>Retransmitir el mensaje. Asumir crash si supera max_retries.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75424"/>
            <a:ext cx="4206240" cy="1422840"/>
          </a:xfrm>
          <a:prstGeom prst="rect">
            <a:avLst/>
          </a:prstGeom>
          <a:solidFill>
            <a:srgbClr val="E3F2FD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75424"/>
            <a:ext cx="4206240" cy="34747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030288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Fallo tipo: </a:t>
            </a:r>
            <a:r>
              <a:rPr lang="en-US" b="1" dirty="0">
                <a:solidFill>
                  <a:srgbClr val="FFFFFF"/>
                </a:solidFill>
              </a:rPr>
              <a:t>Temporización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4048" y="336861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El proceso responde, pero fuera del timeout. Indistinguible de crash desde la perspectiva del receptor.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84048" y="3710344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4D92"/>
                </a:solidFill>
              </a:rPr>
              <a:t>Detección: </a:t>
            </a:r>
            <a:r>
              <a:rPr lang="en-US" sz="850" dirty="0">
                <a:solidFill>
                  <a:srgbClr val="071A2E"/>
                </a:solidFill>
              </a:rPr>
              <a:t>Timeout estricto con settimeout(). Circuit Breaker en estado OPEN.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93137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4D92"/>
                </a:solidFill>
              </a:rPr>
              <a:t>Recuperación: </a:t>
            </a:r>
            <a:r>
              <a:rPr lang="en-US" sz="850" dirty="0">
                <a:solidFill>
                  <a:srgbClr val="071A2E"/>
                </a:solidFill>
              </a:rPr>
              <a:t>Circuit Breaker: CLOSED → OPEN → HALF-OPEN → CLOSED.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975424"/>
            <a:ext cx="4206240" cy="1422840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975424"/>
            <a:ext cx="420624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3030288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Fallo tipo: </a:t>
            </a:r>
            <a:r>
              <a:rPr lang="en-US" b="1" dirty="0">
                <a:solidFill>
                  <a:srgbClr val="FFFFFF"/>
                </a:solidFill>
              </a:rPr>
              <a:t>Byzantino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8888" y="336861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71A2E"/>
                </a:solidFill>
              </a:rPr>
              <a:t>El proceso envía mensajes incorrectos o contradictorios intencionalmente. El más difícil de tolerar.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818888" y="3696176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</a:rPr>
              <a:t>Detección: </a:t>
            </a:r>
            <a:r>
              <a:rPr lang="en-US" sz="850" dirty="0">
                <a:solidFill>
                  <a:srgbClr val="071A2E"/>
                </a:solidFill>
              </a:rPr>
              <a:t>Firmas digitales + checksums. Quórum de confirmación de al menos 2f+1 nodos.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18888" y="3988073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</a:rPr>
              <a:t>Recuperación: </a:t>
            </a:r>
            <a:r>
              <a:rPr lang="en-US" sz="850" dirty="0">
                <a:solidFill>
                  <a:srgbClr val="071A2E"/>
                </a:solidFill>
              </a:rPr>
              <a:t>BFT (Byzantine Fault Tolerance): PBFT, Tendermint. Blockchain usa variantes de BFT.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506792"/>
            <a:ext cx="8595360" cy="256032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51593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F0AE"/>
                </a:solidFill>
              </a:rPr>
              <a:t>MTBF</a:t>
            </a:r>
            <a:r>
              <a:rPr lang="en-US" sz="850" dirty="0">
                <a:solidFill>
                  <a:srgbClr val="94A3B8"/>
                </a:solidFill>
              </a:rPr>
              <a:t> = Mean Time Between Failures  ·  </a:t>
            </a:r>
            <a:r>
              <a:rPr lang="en-US" sz="850" b="1" dirty="0">
                <a:solidFill>
                  <a:srgbClr val="69F0AE"/>
                </a:solidFill>
              </a:rPr>
              <a:t>MTTR</a:t>
            </a:r>
            <a:r>
              <a:rPr lang="en-US" sz="850" dirty="0">
                <a:solidFill>
                  <a:srgbClr val="94A3B8"/>
                </a:solidFill>
              </a:rPr>
              <a:t> = Mean Time To Recovery  ·  </a:t>
            </a:r>
            <a:r>
              <a:rPr lang="en-US" sz="850" b="1" dirty="0">
                <a:solidFill>
                  <a:srgbClr val="FFB300"/>
                </a:solidFill>
              </a:rPr>
              <a:t>Disponibilidad = MTBF / (MTBF + MTTR)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491422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94A3B8"/>
                </a:solidFill>
              </a:rPr>
              <a:t>UTEQ · Aplicaciones Distribuidas</a:t>
            </a:r>
            <a:endParaRPr lang="en-US" sz="1200" b="1" dirty="0"/>
          </a:p>
        </p:txBody>
      </p:sp>
      <p:sp>
        <p:nvSpPr>
          <p:cNvPr id="33" name="Text 31"/>
          <p:cNvSpPr/>
          <p:nvPr/>
        </p:nvSpPr>
        <p:spPr>
          <a:xfrm>
            <a:off x="6629400" y="48713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</a:rPr>
              <a:t>Semana 3 | 18–24 May 2026</a:t>
            </a:r>
            <a:endParaRPr 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04 · SLA  </a:t>
            </a:r>
            <a:r>
              <a:rPr lang="en-US" i="1" dirty="0">
                <a:solidFill>
                  <a:srgbClr val="CE93D8"/>
                </a:solidFill>
              </a:rPr>
              <a:t>(Service Level Agreement)</a:t>
            </a:r>
            <a:r>
              <a:rPr lang="en-US" b="1" dirty="0">
                <a:solidFill>
                  <a:srgbClr val="FFFFFF"/>
                </a:solidFill>
              </a:rPr>
              <a:t>  y Alta Disponibilidad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8595360" cy="457200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0525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</a:rPr>
              <a:t>SLA (Service Level Agreement = Acuerdo de Nivel de Servicio): </a:t>
            </a:r>
            <a:r>
              <a:rPr lang="en-US" sz="1000" dirty="0">
                <a:solidFill>
                  <a:srgbClr val="071A2E"/>
                </a:solidFill>
              </a:rPr>
              <a:t>contrato formal que define: disponibilidad mínima garantizada, tiempos de respuesta máximos, soporte técnico y penalizaciones por incumplimiento.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08176"/>
            <a:ext cx="46634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3560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</a:rPr>
              <a:t>Disponibilidad — Los 'Nines'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4443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Disponibilidad = MTBF / (MTBF + MTTR)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066544"/>
            <a:ext cx="4517136" cy="320040"/>
          </a:xfrm>
          <a:prstGeom prst="rect">
            <a:avLst/>
          </a:prstGeom>
          <a:solidFill>
            <a:srgbClr val="2B0D0D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1031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5252"/>
                </a:solidFill>
              </a:rPr>
              <a:t>90.0%</a:t>
            </a:r>
            <a:r>
              <a:rPr lang="en-US" dirty="0">
                <a:solidFill>
                  <a:srgbClr val="CE93D8"/>
                </a:solidFill>
              </a:rPr>
              <a:t>  1 nine</a:t>
            </a:r>
            <a:r>
              <a:rPr lang="en-US" dirty="0">
                <a:solidFill>
                  <a:srgbClr val="FFB300"/>
                </a:solidFill>
              </a:rPr>
              <a:t>  ~36.5 días/año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4517136" cy="320040"/>
          </a:xfrm>
          <a:prstGeom prst="rect">
            <a:avLst/>
          </a:prstGeom>
          <a:solidFill>
            <a:srgbClr val="2B0D0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45059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5252"/>
                </a:solidFill>
              </a:rPr>
              <a:t>99.0%</a:t>
            </a:r>
            <a:r>
              <a:rPr lang="en-US" dirty="0">
                <a:solidFill>
                  <a:srgbClr val="CE93D8"/>
                </a:solidFill>
              </a:rPr>
              <a:t>  2 nines</a:t>
            </a:r>
            <a:r>
              <a:rPr lang="en-US" dirty="0">
                <a:solidFill>
                  <a:srgbClr val="FFB300"/>
                </a:solidFill>
              </a:rPr>
              <a:t>  ~87.6 horas/año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7472" y="2761488"/>
            <a:ext cx="4517136" cy="32004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79806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9F0AE"/>
                </a:solidFill>
              </a:rPr>
              <a:t>99.9%</a:t>
            </a:r>
            <a:r>
              <a:rPr lang="en-US" dirty="0">
                <a:solidFill>
                  <a:srgbClr val="CE93D8"/>
                </a:solidFill>
              </a:rPr>
              <a:t>  3 nines</a:t>
            </a:r>
            <a:r>
              <a:rPr lang="en-US" dirty="0">
                <a:solidFill>
                  <a:srgbClr val="FFB300"/>
                </a:solidFill>
              </a:rPr>
              <a:t>  ~8.76 horas/año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7472" y="3108960"/>
            <a:ext cx="4517136" cy="32004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14553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9F0AE"/>
                </a:solidFill>
              </a:rPr>
              <a:t>99.99%</a:t>
            </a:r>
            <a:r>
              <a:rPr lang="en-US" dirty="0">
                <a:solidFill>
                  <a:srgbClr val="CE93D8"/>
                </a:solidFill>
              </a:rPr>
              <a:t>  4 nines</a:t>
            </a:r>
            <a:r>
              <a:rPr lang="en-US" dirty="0">
                <a:solidFill>
                  <a:srgbClr val="FFB300"/>
                </a:solidFill>
              </a:rPr>
              <a:t>  ~52.6 min/año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7472" y="3456432"/>
            <a:ext cx="4517136" cy="32004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49300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9F0AE"/>
                </a:solidFill>
              </a:rPr>
              <a:t>99.999%</a:t>
            </a:r>
            <a:r>
              <a:rPr lang="en-US" dirty="0">
                <a:solidFill>
                  <a:srgbClr val="CE93D8"/>
                </a:solidFill>
              </a:rPr>
              <a:t>  5 nines</a:t>
            </a:r>
            <a:r>
              <a:rPr lang="en-US" dirty="0">
                <a:solidFill>
                  <a:srgbClr val="FFB300"/>
                </a:solidFill>
              </a:rPr>
              <a:t>  ~5.26 min/año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7472" y="3803904"/>
            <a:ext cx="4517136" cy="32004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84048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9F0AE"/>
                </a:solidFill>
              </a:rPr>
              <a:t>99.9999%</a:t>
            </a:r>
            <a:r>
              <a:rPr lang="en-US" dirty="0">
                <a:solidFill>
                  <a:srgbClr val="CE93D8"/>
                </a:solidFill>
              </a:rPr>
              <a:t>  6 nines</a:t>
            </a:r>
            <a:r>
              <a:rPr lang="en-US" dirty="0">
                <a:solidFill>
                  <a:srgbClr val="FFB300"/>
                </a:solidFill>
              </a:rPr>
              <a:t>  ~31.5 seg/año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20640" y="1408176"/>
            <a:ext cx="3749040" cy="3291840"/>
          </a:xfrm>
          <a:prstGeom prst="rect">
            <a:avLst/>
          </a:prstGeom>
          <a:solidFill>
            <a:srgbClr val="0A1A1A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43560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</a:rPr>
              <a:t>RTO y RPO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0368" y="177393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9F0AE"/>
                </a:solidFill>
              </a:rPr>
              <a:t>RTO</a:t>
            </a:r>
            <a:r>
              <a:rPr lang="en-US" i="1" dirty="0">
                <a:solidFill>
                  <a:srgbClr val="CE93D8"/>
                </a:solidFill>
              </a:rPr>
              <a:t>  Recovery Time Objective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30368" y="2048256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Tiempo máximo que puede estar el sistema caído antes de causar daño inaceptable.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0368" y="248716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B300"/>
                </a:solidFill>
              </a:rPr>
              <a:t>Ej: RTO=4h → el sistema debe estar operativo en max. 4h tras el fallo.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93792" y="2907792"/>
            <a:ext cx="3602736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298094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B300"/>
                </a:solidFill>
              </a:rPr>
              <a:t>RPO</a:t>
            </a:r>
            <a:r>
              <a:rPr lang="en-US" i="1" dirty="0">
                <a:solidFill>
                  <a:srgbClr val="CE93D8"/>
                </a:solidFill>
              </a:rPr>
              <a:t>  Recovery Point Objective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0368" y="3255264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Máxima pérdida de datos aceptable, medida en tiempo.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360273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B300"/>
                </a:solidFill>
              </a:rPr>
              <a:t>Ej: RPO=30min → los backups deben ser cada 30 min como máximo.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4023360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E93D8"/>
                </a:solidFill>
              </a:rPr>
              <a:t>Técnicas HA: </a:t>
            </a:r>
            <a:r>
              <a:rPr lang="en-US" sz="900" dirty="0">
                <a:solidFill>
                  <a:srgbClr val="FFFFFF"/>
                </a:solidFill>
              </a:rPr>
              <a:t>Replicación activa-activa · Load Balancer · Auto-scaling · Multi-región · Chaos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80790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8307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3 | 18–24 May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4A00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📋  FORM-AC-01 — Análisis de Caso: Fallo en SD Real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703194"/>
              </p:ext>
            </p:extLst>
          </p:nvPr>
        </p:nvGraphicFramePr>
        <p:xfrm>
          <a:off x="365760" y="877824"/>
          <a:ext cx="8412480" cy="1371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0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Detalle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Código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FORM-AC-01  (Actividad Grupal en Clase — GA)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Semana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— 18 al 24 de Mayo del 2026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Modalidad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Grupal (3-4 estudiantes) — trabajo en clase · 60-75 minutos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Entregable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Formulario completado + exposición oral de 5 min al docente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212848"/>
            <a:ext cx="8412480" cy="329184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240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</a:rPr>
              <a:t>📝  Estructura del análisis (aplicar los 4 subtemas del Tema 4)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</a:rPr>
              <a:t>1. Descripción del fallo: </a:t>
            </a:r>
            <a:r>
              <a:rPr lang="en-US" sz="1050" dirty="0">
                <a:solidFill>
                  <a:srgbClr val="071A2E"/>
                </a:solidFill>
              </a:rPr>
              <a:t>¿Qué sistema falló? ¿Cuándo? ¿Cuánto duró? ¿Qué impacto tuvo? (datos cuantitativos: usuarios afectados, tiempo de downtime, pérdidas económicas). Citar la fuente primaria (post-mortem oficial).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29699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</a:rPr>
              <a:t>2. Clasificación (Cristian): </a:t>
            </a:r>
            <a:r>
              <a:rPr lang="en-US" sz="1050" dirty="0">
                <a:solidFill>
                  <a:srgbClr val="071A2E"/>
                </a:solidFill>
              </a:rPr>
              <a:t>¿Qué tipo de fallo fue según la taxonomía de Cristian? ¿Crash, omisión, temporización o byzantino? Justificar con evidencia específica del post-mortem.</a:t>
            </a:r>
            <a:endParaRPr lang="en-US" sz="1050" dirty="0"/>
          </a:p>
        </p:txBody>
      </p:sp>
      <p:sp>
        <p:nvSpPr>
          <p:cNvPr id="4" name="Text 6"/>
          <p:cNvSpPr/>
          <p:nvPr/>
        </p:nvSpPr>
        <p:spPr>
          <a:xfrm>
            <a:off x="457200" y="33338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</a:rPr>
              <a:t>3. Análisis CIA: </a:t>
            </a:r>
            <a:r>
              <a:rPr lang="en-US" sz="1050" dirty="0">
                <a:solidFill>
                  <a:srgbClr val="071A2E"/>
                </a:solidFill>
              </a:rPr>
              <a:t>¿Qué pilar de CIA (Confidentiality, Integrity, Availability) fue comprometido? ¿Hubo violación de seguridad asociada al fallo?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67653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</a:rPr>
              <a:t>4. Disponibilidad y SLA: </a:t>
            </a:r>
            <a:r>
              <a:rPr lang="en-US" sz="1050" dirty="0">
                <a:solidFill>
                  <a:srgbClr val="071A2E"/>
                </a:solidFill>
              </a:rPr>
              <a:t>Calcular disponibilidad real durante el incidente con la fórmula MTBF/(MTBF+MTTR). ¿Se cumplió el SLA declarado? ¿Cuál fue el RTO real?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401210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</a:rPr>
              <a:t>5. Lección para el PFC: </a:t>
            </a:r>
            <a:r>
              <a:rPr lang="en-US" sz="1050" dirty="0">
                <a:solidFill>
                  <a:srgbClr val="071A2E"/>
                </a:solidFill>
              </a:rPr>
              <a:t>¿Qué mecanismo concreto (con nombre técnico) implementarías en el PFC para prevenir o mitigar este tipo de fallo?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4520969"/>
            <a:ext cx="8412480" cy="256032"/>
          </a:xfrm>
          <a:prstGeom prst="rect">
            <a:avLst/>
          </a:prstGeom>
          <a:solidFill>
            <a:srgbClr val="4A007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539257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E93D8"/>
                </a:solidFill>
              </a:rPr>
              <a:t>Casos sugeridos (docente asigna 1 por grupo):  AWS us-east-1 (2017)  ·  Facebook (2021)  ·  Cloudflare (2020)  ·  GitLab (2017)  ·  British Airways (2017)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FORM-AC-01 · Análisis de Caso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51073" y="4884889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3 | 18–24 May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📄  TA-IND-01 — Informe Académico Individual · Análisis Crítico U1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98947"/>
              </p:ext>
            </p:extLst>
          </p:nvPr>
        </p:nvGraphicFramePr>
        <p:xfrm>
          <a:off x="365760" y="877824"/>
          <a:ext cx="841248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Detalle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Código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TA-IND-01  (Trabajo Autónomo Individual N° 01)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Modalidad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INDIVIDUAL — cada estudiante entrega su propio documento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Entrega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Semana 3 — máximo 24 de Mayo del 2026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Formato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LaTeX · compilar sin errores · ≥4 referencias IEEE con DOI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Extensión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Mínimo 4 páginas de contenido (sin portada ni bibliografía)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9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52288" y="2508811"/>
            <a:ext cx="8412480" cy="310896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608" y="2522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</a:rPr>
              <a:t>📝  Estructura del informe en LaTeX (6 secciones obligatorias)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770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Sec. 1: </a:t>
            </a:r>
            <a:r>
              <a:rPr lang="en-US" sz="1200" dirty="0">
                <a:solidFill>
                  <a:srgbClr val="071A2E"/>
                </a:solidFill>
              </a:rPr>
              <a:t>Portada + Abstract bilingüe (español e inglés, 150-200 palabras c/u)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0097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Sec. 2: </a:t>
            </a:r>
            <a:r>
              <a:rPr lang="en-US" sz="1200" dirty="0">
                <a:solidFill>
                  <a:srgbClr val="071A2E"/>
                </a:solidFill>
              </a:rPr>
              <a:t>Transparencias ANSA: tabla de las 8, estado (Sí/Parcial/No) y justificación técnica en el SD elegido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4173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Sec. 3: </a:t>
            </a:r>
            <a:r>
              <a:rPr lang="en-US" sz="1200" dirty="0">
                <a:solidFill>
                  <a:srgbClr val="071A2E"/>
                </a:solidFill>
              </a:rPr>
              <a:t>Taxonomía de Cristian: ≥2 tipos de fallos con evidencia real, detección, recuperación, cálculo MTBF/MTTR</a:t>
            </a:r>
            <a:endParaRPr lang="en-US" sz="1200" dirty="0"/>
          </a:p>
        </p:txBody>
      </p:sp>
      <p:sp>
        <p:nvSpPr>
          <p:cNvPr id="4" name="Text 7"/>
          <p:cNvSpPr/>
          <p:nvPr/>
        </p:nvSpPr>
        <p:spPr>
          <a:xfrm>
            <a:off x="457200" y="348792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Sec. 4: </a:t>
            </a:r>
            <a:r>
              <a:rPr lang="en-US" sz="1200" dirty="0">
                <a:solidFill>
                  <a:srgbClr val="071A2E"/>
                </a:solidFill>
              </a:rPr>
              <a:t>Triada CIA: evaluación de los 3 pilares + mecanismos autenticación/autorización/cifrado + amenaza con mitigación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7128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Sec. 5: </a:t>
            </a:r>
            <a:r>
              <a:rPr lang="en-US" sz="1200" dirty="0">
                <a:solidFill>
                  <a:srgbClr val="071A2E"/>
                </a:solidFill>
              </a:rPr>
              <a:t>Posición CAP/PACELC: clasificación con justificación técnica + modelo de consistencia del SD elegido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3776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Sec. 6: </a:t>
            </a:r>
            <a:r>
              <a:rPr lang="en-US" sz="1200" dirty="0">
                <a:solidFill>
                  <a:srgbClr val="071A2E"/>
                </a:solidFill>
              </a:rPr>
              <a:t>Conexión con el PFC: ≥2 decisiones de diseño fundamentadas en la Unidad 1 (mínimo 200 palabras)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4499701"/>
            <a:ext cx="8412480" cy="256032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517989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2828"/>
                </a:solidFill>
              </a:rPr>
              <a:t>⚠️  LaTeX que no </a:t>
            </a:r>
            <a:r>
              <a:rPr lang="en-US" sz="1200" dirty="0">
                <a:solidFill>
                  <a:srgbClr val="C62828"/>
                </a:solidFill>
              </a:rPr>
              <a:t>compila</a:t>
            </a:r>
            <a:r>
              <a:rPr lang="en-US" sz="880" dirty="0">
                <a:solidFill>
                  <a:srgbClr val="C62828"/>
                </a:solidFill>
              </a:rPr>
              <a:t> = 0 pts en formato  ·  Dos informes idénticos = 0 para ambos  ·  Referencias sin DOI no se contabilizan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TA-IND-01 · Informe Académico Individual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8768" y="4877309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3 | 18–24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Resumen Semana 3 — Tema 4: Seguridad y Confiabilidad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097280"/>
          </a:xfrm>
          <a:prstGeom prst="rect">
            <a:avLst/>
          </a:prstGeom>
          <a:solidFill>
            <a:srgbClr val="0E2F1E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E93D8"/>
                </a:solidFill>
              </a:rPr>
              <a:t>🔴  Amenazas — Triada CIA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CIA = C·I·A. DoS/DDoS atacan Availability. MitM ataca C e I. Inyección ataca C+I+A. Eavesdropping ataca Confidentiality. Contramedida universal: TLS.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709160" y="804672"/>
            <a:ext cx="4206240" cy="1097280"/>
          </a:xfrm>
          <a:prstGeom prst="rect">
            <a:avLst/>
          </a:prstGeom>
          <a:solidFill>
            <a:srgbClr val="0E2F1E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68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E93D8"/>
                </a:solidFill>
              </a:rPr>
              <a:t>🔵  Autenticación y Cifrado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22529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JWT = token firmado (Header.Payload.Signature). OAuth 2.0 = autorización delegada. RBAC = permisos por roles. TLS = cifrado en tránsito. AES/RSA = simétrico/asimétrico.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4320" y="1975104"/>
            <a:ext cx="4206240" cy="1097280"/>
          </a:xfrm>
          <a:prstGeom prst="rect">
            <a:avLst/>
          </a:prstGeom>
          <a:solidFill>
            <a:srgbClr val="0E2F1E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39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E93D8"/>
                </a:solidFill>
              </a:rPr>
              <a:t>🟢  Tolerancia a Fallos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Cristian: Crash · Omisión · Temporización · Byzantino. MTBF = tiempo entre fallos. MTTR = tiempo de recuperación. Disponibilidad = MTBF/(MTBF+MTTR). Circuit Breaker previene cascade failures.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09160" y="1975104"/>
            <a:ext cx="4206240" cy="1097280"/>
          </a:xfrm>
          <a:prstGeom prst="rect">
            <a:avLst/>
          </a:prstGeom>
          <a:solidFill>
            <a:srgbClr val="0E2F1E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39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E93D8"/>
                </a:solidFill>
              </a:rPr>
              <a:t>🟣  SLA y Alta Disponibilidad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3957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SLA = Acuerdo Nivel Servicio. Los 'nines': 99.9% = 8.76h/año downtime. RTO = tiempo máx. caído. RPO = pérdida máx. de datos. Técnicas HA: replicación, load balancer, auto-scaling.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solidFill>
            <a:srgbClr val="0D0A1E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3D8"/>
                </a:solidFill>
              </a:rPr>
              <a:t>🔗  Conexión con GA-SUM-01 (Semana 4): el fundamento teórico sección 4.4 'Tolerancia a Fallos, Seguridad y Teorema CAP' usa directamente los conceptos de hoy.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93592"/>
            <a:ext cx="8595360" cy="777240"/>
          </a:xfrm>
          <a:prstGeom prst="rect">
            <a:avLst/>
          </a:prstGeom>
          <a:solidFill>
            <a:srgbClr val="071A2E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210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3D8"/>
                </a:solidFill>
              </a:rPr>
              <a:t>📝  Preguntas para reflexión — aplicar al PFC: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9534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E93D8"/>
                </a:solidFill>
              </a:rPr>
              <a:t>1.  </a:t>
            </a:r>
            <a:r>
              <a:rPr lang="en-US" sz="880" dirty="0">
                <a:solidFill>
                  <a:srgbClr val="CBD5E1"/>
                </a:solidFill>
              </a:rPr>
              <a:t>¿Qué tipo de fallo (Cristian) es más probable en el PFC y cómo lo detectarías?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E93D8"/>
                </a:solidFill>
              </a:rPr>
              <a:t>2.  </a:t>
            </a:r>
            <a:r>
              <a:rPr lang="en-US" sz="880" dirty="0">
                <a:solidFill>
                  <a:srgbClr val="CBD5E1"/>
                </a:solidFill>
              </a:rPr>
              <a:t>¿Qué nivel de disponibilidad ('nines') necesita el PFC? ¿Cuál sería el SLA realista?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E93D8"/>
                </a:solidFill>
              </a:rPr>
              <a:t>3.  </a:t>
            </a:r>
            <a:r>
              <a:rPr lang="en-US" sz="880" dirty="0">
                <a:solidFill>
                  <a:srgbClr val="CBD5E1"/>
                </a:solidFill>
              </a:rPr>
              <a:t>¿JWT o OAuth 2.0 para autenticar usuarios entre microservicios del PFC? ¿Por qué?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4320" y="4425696"/>
            <a:ext cx="8595360" cy="310896"/>
          </a:xfrm>
          <a:prstGeom prst="rect">
            <a:avLst/>
          </a:prstGeom>
          <a:solidFill>
            <a:srgbClr val="0635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439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3D8"/>
                </a:solidFill>
              </a:rPr>
              <a:t>📌  Semana 4: Tema 5 — Coordinación y Consistencia · Entrega GA-SUM-01 · Exposiciones Corte 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UTEQ · Aplicaciones Distribuidas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0" y="4864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Semana 3 | 18–24 May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3881</Words>
  <Application>Microsoft Office PowerPoint</Application>
  <PresentationFormat>Presentación en pantalla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Distribuidas — Semana 3 · Tema 4</dc:title>
  <dc:subject>PptxGenJS Presentation</dc:subject>
  <dc:creator>UTEQ — Ing. de Software</dc:creator>
  <cp:lastModifiedBy>GLEISTON CICERON GUERRERO ULLOA</cp:lastModifiedBy>
  <cp:revision>3</cp:revision>
  <dcterms:created xsi:type="dcterms:W3CDTF">2026-05-21T15:51:53Z</dcterms:created>
  <dcterms:modified xsi:type="dcterms:W3CDTF">2026-05-21T16:09:03Z</dcterms:modified>
</cp:coreProperties>
</file>