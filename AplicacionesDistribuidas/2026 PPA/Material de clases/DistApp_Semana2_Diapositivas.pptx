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835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ORADOR — SLIDE 1: PORTADA
Buenos días/tardes. Bienvenidos a la Semana 3 de Aplicaciones Distribuidas.
Esta semana es fundamental: cerramos la Unidad 1 abordando los tres pilares que le dan "vida" a un sistema distribuido como concepto práctico: 
  (1) LOS MODELOS — cómo se organizan los nodos,
  (2) LA COMUNICACIÓN — cómo hablan entre sí, y
  (3) LA SINCRONIZACIÓN — cómo coordinan el tiempo sin un reloj global.
Recordatorio de contexto: la Semana 1 introdujimos qué es un SD (definición, transparencias, propiedades). La Semana 2 analizamos el ecosistema de tecnologías y los fundamentos de comunicación. ESTA semana conectamos esa teoría con modelos concretos y herramientas reales que van a usar en la Práctica 1 (entrega Semana 4).
LOGÍSTICA: Duración aproximada de esta sesión: 2h de clase magistral + 1h de práctica de clase.
Al final tienen dos tareas autónomas (TA) que entregan esta semana.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ORADOR — SLIDE 2: AGENDA
Explicar brevemente qué se hará en cada bloque:
BLOQUE 01 (≈30 min): Modelos arquitectónicos. Aquí NO es solo teoría: van a ver por qué WhatsApp no es lo mismo que BitTorrent, aunque ambos son "distribuidos".
BLOQUE 02 (≈35 min): Comunicación. Este es el corazón de la semana. Van a entender la diferencia entre "hablar" con sockets (bajo nivel) versus RPC/gRPC (alto nivel). Esto es CRÍTICO para la Práctica 1.
BLOQUE 03 (≈15 min): Middleware. Breve pero importante: el middleware es el "pegamento" invisible de todos los SD en producción.
BLOQUE 04 (≈30 min): Lamport. Este tema parece abstracto pero es el que más preguntan en entrevistas técnicas. ¿Cómo sabes qué pasó "antes" en un sistema sin reloj global? La respuesta es genial.
PRÁCTICA DE CLASE (≈45 min): Van a simular relojes de Lamport en papel con un escenario concreto, y luego lo codifican en Python.
RECORDAR: Las tareas autónomas de esta semana (TA) se entregan al final de la semana. Revisar en el LMS.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ORADOR — SLIDE 3: MODELOS DE SD
PUNTO CENTRAL: Los modelos no son categorías abstractas — son decisiones de arquitectura con consecuencias reales de rendimiento, costo y seguridad.
CLIENTE-SERVIDOR (5 min):
- Analogía: restaurante. El mesero (cliente) lleva el pedido a la cocina (servidor). La cocina no llama al cliente — el cliente siempre inicia.
- Punto crítico: si el servidor cae, TODOS los clientes quedan sin servicio. Esto se llama SPOF (Single Point of Failure).
- Preguntar a los estudiantes: ¿Qué pasa cuando se cae un servidor de Netflix? Correcto — toda la plataforma puede verse afectada si no hay réplicas.
PEER-TO-PEER (5 min):
- Analogía: mercado de pulgas. Todos son compradores Y vendedores al mismo tiempo.
- Punto crítico: BitTorrent distribuye la carga entre TODOS los que tienen el archivo. Cuanto más popular, más rápido se descarga. Esto es escala inversa al problema — brillante.
- Preguntar: ¿Por qué Bitcoin no tiene un "servidor central de transacciones"? Porque eso sería el punto de ataque/control. La descentralización ES la seguridad.
HÍBRIDO (5 min):
- Ejemplo real perfecto: Skype original (2003-2010). Usaba supernodos (servidores de índice) para descubrir usuarios, pero las llamadas iban P2P directamente entre los teléfonos. Microsoft compró Skype y lo convirtió a cliente-servidor puro... y perdió esa eficiencia.
- Hoy: WhatsApp usa servidores para señalización (saber que alguien te llama) pero los mensajes de voz/video van cifrados E2E entre los dispositivos.
PREGUNTA PARA LOS ESTUDIANTES: ¿Qué modelo usarían para su PFC? ¿Por qué?</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ORADOR — SLIDE 4: SOCKETS TCP/UDP
CONCEPTO CLAVE: Los sockets son la interfaz entre el proceso de usuario y la pila de red del sistema operativo. Todo lo que ocurre en red — desde un WhatsApp hasta una transferencia bancaria — pasa por un socket.
ANALOGÍA PODEROSA para TCP vs UDP:
- TCP = llamada telefónica. Estableces conexión (ring), el otro contesta (handshake), hablan en orden, y si hay ruido, se repite la frase. Garantía total pero más lento.
- UDP = enviar postales. Las mandas y ya. Pueden llegar en desorden, alguna puede perderse, pero es MUY rápido. Perfecto para streaming donde perder un frame no importa.
MOSTRAR EL CÓDIGO (5 min):
Explicar línea por línea del servidor TCP:
1. socket.socket() — crear el socket
2. AF_INET = familia de direcciones IPv4
3. SOCK_STREAM = TCP (con stream de bytes ordenado)
4. bind() — "me quedo escuchando en este puerto"
5. listen(5) — cola de hasta 5 conexiones pendientes
6. accept() — BLOQUEA hasta que llega un cliente
7. recv(1024) — lee hasta 1024 bytes
Del código del cliente, SEÑALAR el contador de Lamport:
- clock += 1 ANTES de enviar (Regla 1 de Lamport: cada evento interno incrementa el reloj)
- Esto lo van a implementar completo en la práctica experimental (Semana 4)
PREGUNTA RÁPIDA: Si un proceso envía 3 mensajes seguidos con timestamps [1, 2, 3], ¿qué garantiza TCP pero NO UDP? → El orden de llegada.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ORADOR — SLIDE 5: RPC y gRPC
CONCEPTO CLAVE: RPC es la idea de que el programador NO debería saber si una función se ejecuta local o remotamente. Eso lo maneja el "stub" (código generado automáticamente).
HISTORIA RÁPIDA (2 min):
- 1970s: Primeras ideas de RPC por Nelson y Birrell
- 1990s: Java RMI (Remote Method Invocation) — RPC orientado a objetos
- 2015: Google lanza gRPC como open source. Internamente lo usaban desde 2014 y maneja MILES DE MILLONES de RPC por segundo.
MOSTRAR EL .PROTO FILE (3 min):
El archivo .proto es el "contrato" del servicio. Define:
- QUÉ métodos existen (SendMessage)
- QUÉ datos reciben (Request)
- QUÉ datos devuelven (Response)
Con UN archivo .proto, gRPC genera automáticamente código para Python, Java, Go, C++, Node.js, etc. Eso es interoperabilidad real.
COMPARACIÓN SOCKETS vs gRPC:
- Sockets = hablar en código Morse. Flexible pero el humano decide el protocolo.
- gRPC = hablar en idioma con gramática definida. Más restrictivo pero más seguro y eficiente.
DATO SORPRENDENTE: Protocol Buffers es 3-10x más compacto que JSON. Si su API recibe 1 millón de requests/día, eso puede significar ahorrar terabytes de ancho de banda al mes.
COMANDO GENERADOR (mostrar si tienen computador):
python -m grpc_tools.protoc -I. --python_out=. --grpc_python_out=. messaging.proto
Este comando genera dos archivos Python listos para usar — eso van a necesitar en la Práctica 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ORADOR — SLIDE 6: MIDDLEWARE
CONCEPTO CLAVE: Middleware es el "traductor universal" y el "administrador de servicios comunes" de los sistemas distribuidos. Sin middleware, cada aplicación tendría que reinventar la rueda: manejo de sesiones, colas, transacciones, seguridad.
ANALOGÍA: El middleware es como el sistema de plomería de un edificio. Los apartamentos (aplicaciones) no saben cómo funciona la tubería — simplemente abren el grifo (API) y el agua llega (datos). El middleware se encarga de la presión, filtrado y distribución.
MOM — Message-Oriented Middleware (5 min):
- Apache Kafka: LinkedIn lo creó internamente en 2011 para manejar sus logs de actividad. Procesaban 1.4 BILLONES de mensajes al día. Lo abrieron como open source.
- Concepto producer/consumer: el productor pone mensajes en una "cola" (topic), el consumidor los lee cuando puede. Completamente desacoplado en tiempo.
- Resiliencia: si el consumidor cae, los mensajes esperan en la cola. No se pierden.
IMPORTANT para la Práctica 1: En su práctica, implementan comunicación directa (sockets/gRPC). Esto los llevará a entender POR QUÉ en producción se usa middleware — cuando tienen que coordinar múltiples servicios, el código se vuelve caótico sin él.
PREGUNTA: ¿Qué diferencia hay entre una API REST y un middleware tipo Kafka?
Respuesta: La API REST es síncrona (esperas la respuesta). Kafka es asíncrono (envías y sigues tu vida). Para eventos de alta frecuencia (clicks de usuario, logs, telemetría), Kafka gana siempre.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ORADOR — SLIDE 7: RELOJES DE LAMPORT
HISTORIA IMPACTANTE (2 min):
Leslie Lamport publicó "Time, Clocks, and the Ordering of Events in a Distributed System" en 1978 en Communications of the ACM. Es uno de los 10 papers más citados en Ciencias de la Computación. Lamport ganó el Premio Turing 2013 (el Nobel de la informática) — en parte por este trabajo.
El problema que resuelve: imaginen que tienen 3 computadoras en Nueva York, Tokyo y Frankfurt. Cada una tiene su propio reloj. Incluso si están "sincronizadas" por NTP, pueden diferir en milisegundos. Si un evento en NY (08:00:00.001) y otro en Tokyo (08:00:00.000) ¿cuál ocurrió primero? ¡NO LO SABES!
LAS 3 REGLAS (explicar con calma, 5 min):
REGLA 1 (evento interno): Antes de "pensar" (ejecutar algo), incremento mi reloj.
  → P1 quiere guardar un archivo: LC va de 0 a 1. Evento marcado con LC=1.
REGLA 2 (envío): Antes de enviar un mensaje, incremento y ADJUNTO mi timestamp.
  → P1 envía mensaje con LC=2. El receptor sabe que esto ocurrió en el "tiempo lógico 2" de P1.
REGLA 3 (recepción): Al recibir, tomo el MÁXIMO del timestamp recibido y mi reloj local, y sumo 1.
  → Si P2 recibe timestamp=5 pero su LC local es 3, actualiza a max(3,5)+1 = 6.
  → ESTO ES CRÍTICO: garantiza que el receptor siempre tiene un timestamp MAYOR que el del evento que causó el mensaje. La causalidad queda preservada.
RELOJES VECTORIALES (mencionar brevemente, 2 min):
Los relojes de Lamport tienen una limitación: no detectan concurrencia. Si LC(a)=3 y LC(b)=3, ¿son concurrentes? No podemos saberlo.
Los relojes vectoriales (Fidge/Mattern, 1988) solucionan esto: cada nodo mantiene un vector [LC_P1, LC_P2, LC_P3]. Pueden comparar directamente.
→ Esto lo implementan en la práctica.
APLICACIÓN PRÁCTICA: Git usa un mecanismo similar. Cada commit tiene un DAG (Grafo Acíclico Dirigido) que preserva la causalidad exactamente como Lamport propone.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ORADOR — SLIDE 8: PRÁCTICA DE CLASE
INSTRUCCIONES DE FACILITACIÓN:
PARTE 1 — Individual (20 min):
1. Distribuir hoja con el diagrama de los 3 procesos (o dibujarlo en la pizarra).
2. Dar 8 minutos para que cada estudiante asigne timestamps.
3. Solución esperada:
   P1: a=1, b=2 (send), d=max(LC_P1, ts_de_P3)+1
   P2: c=1, e=max(1, 2)+1=3 (recv de P1), g=4 (send)
   P3: f=1, h=max(1, 4)+1=5 (recv de P2), i=6 (send)
   D de P1: max(LC_P1, 6)+1 = max(2, 6)+1 = 7
4. Debate: ¿Qué eventos son concurrentes? → b y c son concurrentes (LC(b)=2, LC(c)=1 pero no hay relación causal entre ellos).
PARTE 2 — En equipos (25 min):
1. Pueden usar Google Colab si no tienen Python instalado.
2. La clase LamportClock está en el slide — el objetivo es USARLA para simular los 8 eventos.
3. Código completo de uso esperado:
   p1 = LamportClock(1)
   p2 = LamportClock(2)
   p3 = LamportClock(3)
   # Evento a (interno P1)
   ts_a = p1.tick(); print(f"a: {p1}")
   # Evento b (P1 envía a P2)
   ts_b = p1.tick(); print(f"b: {p1} → enviado con ts={ts_b}")
   # P2 recibe de P1
   ts_e = p2.receive(ts_b); print(f"e: {p2}")
   # etc.
4. Al terminar, pedir a 2 equipos que muestren su pantalla y expliquen.
CIERRE: Conectar con la Práctica Experimental 1 (Semana 4): ahí van a usar EXACTAMENTE este reloj integrado con los sockets TCP y gRPC que vieron hoy.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ORADOR — SLIDE 9: PROBLEMA ADICIONAL
Este problema extiende la práctica de clase hacia la Práctica Experimental 1 (Semana 4). Es opcional con nota bonus, pero los que lo hagan tendrán ventaja enorme al entregar la práctica formal.
CÓMO EXPLICARLO (5 min al final de clase):
Punto 1 — Reloj Vectorial: La diferencia con Lamport es que en vez de UN número, tenemos un VECTOR. Si hay 3 procesos, el vector es [v0, v1, v2] donde v_i es cuántos eventos conocemos de Pi.
  Ejemplo: P2 recibe vector [3, 2, 1] pero su vector local es [1, 1, 0]. 
  Resultado: max([3,2,1],[1,1,0]) + incrementar pos 2 = [3, 2, 2].
Punto 2 — Detección de Concurrencia: v1 ≤ v2 significa v1[i] ≤ v2[i] para TODOS i. Si ninguno es ≤ al otro, son concurrentes. Esto es algo que los relojes de Lamport NO pueden hacer.
Punto 3 — Multihilo: Usar threading es el primer contacto con concurrencia real en Python. Habrá una condición de carrera si acceden al reloj sin bloqueo. Bonus extra si usan threading.Lock().
Punto 4 — Log de causalidad: El objetivo es visualizar el orden parcial. En el log, si el mensaje de P1 con vector [1,0,0] y el de P2 con [0,1,0] aparecen, están en el mismo "nivel" causal (son concurrentes). Si P3 tiene [1,1,1] ocurrió DESPUÉS de ambos.
Esta es la base de cómo funcionan los sistemas de control de versiones distribuidos como Git, y los sistemas de base de datos distribuidos como Cassandra con sus vector clocks.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ORADOR — SLIDE 10: CIERRE
RESUMEN RÁPIDO (5 min):
Hacer a los estudiantes las siguientes preguntas de cierre:
1. ¿Cuál modelo de SD NO tiene servidor central? → P2P
2. ¿Qué hace gRPC diferente a los sockets? → Genera código automáticamente desde un .proto file, usa Protocol Buffers (binario) y HTTP/2.
3. ¿Qué hace la Regla 3 de Lamport? → LC = max(LC_local, LC_recibido) + 1. Garantiza que el receptor siempre tiene timestamp mayor.
4. ¿Por qué el Middleware es necesario? → Oculta la heterogeneidad, provee servicios comunes (colas, sesiones, transacciones) para que los desarrolladores no los reimplementen.
TAREAS (mencionar claramente):
- FORM-TL-01: Diseñar el diagrama de comunicación de su PFC. No es código — es un diseño. ¿Usarán sockets o gRPC? ¿Cliente-servidor o P2P? ¿Necesitan middleware? Justificar.
- FORM-FB-01: Las fichas bibliográficas son el primer paso hacia el documento LaTeX. 4 referencias IEEE con DOI verificado. El paper de Lamport (1978) es OBLIGATORIO.
SEMANA 4:
- Entrega de la Práctica Experimental GA-SUM-01
- Deben tener instalado: Python 3.10+, grpcio, grpcio-tools, protobuf, pandas, matplotlib
- Opcional: Docker Desktop para correr en contenedores
- Repositorio GitHub creado CON COMMITS de todos los integrantes
MOTIVACIÓN FINAL:
"Lo que aprendieron hoy — sockets, gRPC, Lamport — son las herramientas con las que se construyeron sistemas como Google Spanner, Apache Kafka, y Amazon DynamoDB. No son conceptos académicos: son el fundamento de la infraestructura digital global."
¡Hasta la próxima semana!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B4D8"/>
          </a:solidFill>
          <a:ln/>
        </p:spPr>
      </p:sp>
      <p:sp>
        <p:nvSpPr>
          <p:cNvPr id="3" name="Shape 1"/>
          <p:cNvSpPr/>
          <p:nvPr/>
        </p:nvSpPr>
        <p:spPr>
          <a:xfrm>
            <a:off x="0" y="109728"/>
            <a:ext cx="73152" cy="5033772"/>
          </a:xfrm>
          <a:prstGeom prst="rect">
            <a:avLst/>
          </a:prstGeom>
          <a:solidFill>
            <a:srgbClr val="0E4D92"/>
          </a:solidFill>
          <a:ln/>
        </p:spPr>
      </p:sp>
      <p:sp>
        <p:nvSpPr>
          <p:cNvPr id="4" name="Shape 2"/>
          <p:cNvSpPr/>
          <p:nvPr/>
        </p:nvSpPr>
        <p:spPr>
          <a:xfrm>
            <a:off x="274320" y="274320"/>
            <a:ext cx="2286000" cy="502920"/>
          </a:xfrm>
          <a:prstGeom prst="rect">
            <a:avLst/>
          </a:prstGeom>
          <a:solidFill>
            <a:srgbClr val="0E4D92"/>
          </a:solidFill>
          <a:ln w="12700">
            <a:solidFill>
              <a:srgbClr val="00B4D8"/>
            </a:solidFill>
            <a:prstDash val="solid"/>
          </a:ln>
        </p:spPr>
      </p:sp>
      <p:sp>
        <p:nvSpPr>
          <p:cNvPr id="5" name="Text 3"/>
          <p:cNvSpPr/>
          <p:nvPr/>
        </p:nvSpPr>
        <p:spPr>
          <a:xfrm>
            <a:off x="274320" y="274320"/>
            <a:ext cx="2286000" cy="502920"/>
          </a:xfrm>
          <a:prstGeom prst="rect">
            <a:avLst/>
          </a:prstGeom>
          <a:noFill/>
          <a:ln/>
        </p:spPr>
        <p:txBody>
          <a:bodyPr wrap="square" rtlCol="0" anchor="ctr"/>
          <a:lstStyle/>
          <a:p>
            <a:pPr marL="0" indent="0" algn="ctr">
              <a:buNone/>
            </a:pPr>
            <a:r>
              <a:rPr lang="en-US" sz="900" b="1" dirty="0">
                <a:solidFill>
                  <a:srgbClr val="FFFFFF"/>
                </a:solidFill>
              </a:rPr>
              <a:t>UTEQ · Ing. de Software</a:t>
            </a:r>
            <a:endParaRPr lang="en-US" sz="900" dirty="0"/>
          </a:p>
        </p:txBody>
      </p:sp>
      <p:sp>
        <p:nvSpPr>
          <p:cNvPr id="6" name="Shape 4"/>
          <p:cNvSpPr/>
          <p:nvPr/>
        </p:nvSpPr>
        <p:spPr>
          <a:xfrm>
            <a:off x="6766560" y="274320"/>
            <a:ext cx="2103120" cy="502920"/>
          </a:xfrm>
          <a:prstGeom prst="rect">
            <a:avLst/>
          </a:prstGeom>
          <a:solidFill>
            <a:srgbClr val="00B4D8"/>
          </a:solidFill>
          <a:ln/>
        </p:spPr>
      </p:sp>
      <p:sp>
        <p:nvSpPr>
          <p:cNvPr id="7" name="Text 5"/>
          <p:cNvSpPr/>
          <p:nvPr/>
        </p:nvSpPr>
        <p:spPr>
          <a:xfrm>
            <a:off x="6766560" y="274320"/>
            <a:ext cx="2103120" cy="502920"/>
          </a:xfrm>
          <a:prstGeom prst="rect">
            <a:avLst/>
          </a:prstGeom>
          <a:noFill/>
          <a:ln/>
        </p:spPr>
        <p:txBody>
          <a:bodyPr wrap="square" rtlCol="0" anchor="ctr"/>
          <a:lstStyle/>
          <a:p>
            <a:pPr marL="0" indent="0" algn="ctr">
              <a:buNone/>
            </a:pPr>
            <a:r>
              <a:rPr lang="en-US" sz="1100" b="1" dirty="0">
                <a:solidFill>
                  <a:srgbClr val="0A1628"/>
                </a:solidFill>
              </a:rPr>
              <a:t>SEMANA 3</a:t>
            </a:r>
            <a:endParaRPr lang="en-US" sz="1100" dirty="0"/>
          </a:p>
        </p:txBody>
      </p:sp>
      <p:sp>
        <p:nvSpPr>
          <p:cNvPr id="8" name="Text 6"/>
          <p:cNvSpPr/>
          <p:nvPr/>
        </p:nvSpPr>
        <p:spPr>
          <a:xfrm>
            <a:off x="365760" y="1005840"/>
            <a:ext cx="8412480" cy="411480"/>
          </a:xfrm>
          <a:prstGeom prst="rect">
            <a:avLst/>
          </a:prstGeom>
          <a:noFill/>
          <a:ln/>
        </p:spPr>
        <p:txBody>
          <a:bodyPr wrap="square" rtlCol="0" anchor="ctr"/>
          <a:lstStyle/>
          <a:p>
            <a:pPr marL="0" indent="0" algn="ctr">
              <a:buNone/>
            </a:pPr>
            <a:r>
              <a:rPr lang="en-US" sz="1200" b="1" kern="0" spc="400" dirty="0">
                <a:solidFill>
                  <a:srgbClr val="00B4D8"/>
                </a:solidFill>
              </a:rPr>
              <a:t>APLICACIONES DISTRIBUIDAS</a:t>
            </a:r>
            <a:endParaRPr lang="en-US" sz="1200" dirty="0"/>
          </a:p>
        </p:txBody>
      </p:sp>
      <p:sp>
        <p:nvSpPr>
          <p:cNvPr id="9" name="Text 7"/>
          <p:cNvSpPr/>
          <p:nvPr/>
        </p:nvSpPr>
        <p:spPr>
          <a:xfrm>
            <a:off x="365760" y="1463040"/>
            <a:ext cx="8412480" cy="1463040"/>
          </a:xfrm>
          <a:prstGeom prst="rect">
            <a:avLst/>
          </a:prstGeom>
          <a:noFill/>
          <a:ln/>
        </p:spPr>
        <p:txBody>
          <a:bodyPr wrap="square" rtlCol="0" anchor="ctr"/>
          <a:lstStyle/>
          <a:p>
            <a:pPr marL="0" indent="0" algn="ctr">
              <a:buNone/>
            </a:pPr>
            <a:r>
              <a:rPr lang="en-US" sz="3800" b="1" dirty="0">
                <a:solidFill>
                  <a:srgbClr val="FFFFFF"/>
                </a:solidFill>
              </a:rPr>
              <a:t>Modelos y Comunicación</a:t>
            </a:r>
            <a:endParaRPr lang="en-US" sz="3800" dirty="0"/>
          </a:p>
          <a:p>
            <a:pPr marL="0" indent="0" algn="ctr">
              <a:buNone/>
            </a:pPr>
            <a:r>
              <a:rPr lang="en-US" sz="3800" b="1" dirty="0">
                <a:solidFill>
                  <a:srgbClr val="FFFFFF"/>
                </a:solidFill>
              </a:rPr>
              <a:t>en Sistemas Distribuidos</a:t>
            </a:r>
            <a:endParaRPr lang="en-US" sz="3800" dirty="0"/>
          </a:p>
        </p:txBody>
      </p:sp>
      <p:sp>
        <p:nvSpPr>
          <p:cNvPr id="10" name="Shape 8"/>
          <p:cNvSpPr/>
          <p:nvPr/>
        </p:nvSpPr>
        <p:spPr>
          <a:xfrm>
            <a:off x="2286000" y="3108960"/>
            <a:ext cx="4572000" cy="45720"/>
          </a:xfrm>
          <a:prstGeom prst="rect">
            <a:avLst/>
          </a:prstGeom>
          <a:solidFill>
            <a:srgbClr val="00B4D8"/>
          </a:solidFill>
          <a:ln/>
        </p:spPr>
      </p:sp>
      <p:sp>
        <p:nvSpPr>
          <p:cNvPr id="11" name="Text 9"/>
          <p:cNvSpPr/>
          <p:nvPr/>
        </p:nvSpPr>
        <p:spPr>
          <a:xfrm>
            <a:off x="365760" y="3246120"/>
            <a:ext cx="8412480" cy="320040"/>
          </a:xfrm>
          <a:prstGeom prst="rect">
            <a:avLst/>
          </a:prstGeom>
          <a:noFill/>
          <a:ln/>
        </p:spPr>
        <p:txBody>
          <a:bodyPr wrap="square" rtlCol="0" anchor="ctr"/>
          <a:lstStyle/>
          <a:p>
            <a:pPr marL="0" indent="0" algn="ctr">
              <a:buNone/>
            </a:pPr>
            <a:r>
              <a:rPr lang="en-US" sz="1100" dirty="0">
                <a:solidFill>
                  <a:srgbClr val="94A3B8"/>
                </a:solidFill>
              </a:rPr>
              <a:t>Modelos SD   ·   Sockets / RPC / gRPC   ·   Middleware   ·   Relojes de Lamport</a:t>
            </a:r>
            <a:endParaRPr lang="en-US" sz="1100" dirty="0"/>
          </a:p>
        </p:txBody>
      </p:sp>
      <p:sp>
        <p:nvSpPr>
          <p:cNvPr id="12" name="Text 10"/>
          <p:cNvSpPr/>
          <p:nvPr/>
        </p:nvSpPr>
        <p:spPr>
          <a:xfrm>
            <a:off x="365760" y="3794760"/>
            <a:ext cx="8412480" cy="274320"/>
          </a:xfrm>
          <a:prstGeom prst="rect">
            <a:avLst/>
          </a:prstGeom>
          <a:noFill/>
          <a:ln/>
        </p:spPr>
        <p:txBody>
          <a:bodyPr wrap="square" rtlCol="0" anchor="ctr"/>
          <a:lstStyle/>
          <a:p>
            <a:pPr marL="0" indent="0" algn="ctr">
              <a:buNone/>
            </a:pPr>
            <a:r>
              <a:rPr lang="en-US" sz="1000" dirty="0">
                <a:solidFill>
                  <a:srgbClr val="64748B"/>
                </a:solidFill>
              </a:rPr>
              <a:t>Unidad 1 · Semana 3  |  18 – 24 de Mayo del 2026</a:t>
            </a:r>
            <a:endParaRPr lang="en-US" sz="1000" dirty="0"/>
          </a:p>
        </p:txBody>
      </p:sp>
      <p:sp>
        <p:nvSpPr>
          <p:cNvPr id="13" name="Shape 11"/>
          <p:cNvSpPr/>
          <p:nvPr/>
        </p:nvSpPr>
        <p:spPr>
          <a:xfrm>
            <a:off x="457200" y="4206240"/>
            <a:ext cx="8229600" cy="777240"/>
          </a:xfrm>
          <a:prstGeom prst="rect">
            <a:avLst/>
          </a:prstGeom>
          <a:solidFill>
            <a:srgbClr val="0E2F5E"/>
          </a:solidFill>
          <a:ln w="12700">
            <a:solidFill>
              <a:srgbClr val="00B4D8"/>
            </a:solidFill>
            <a:prstDash val="solid"/>
          </a:ln>
        </p:spPr>
      </p:sp>
      <p:sp>
        <p:nvSpPr>
          <p:cNvPr id="14" name="Text 12"/>
          <p:cNvSpPr/>
          <p:nvPr/>
        </p:nvSpPr>
        <p:spPr>
          <a:xfrm>
            <a:off x="640080" y="4251960"/>
            <a:ext cx="7863840" cy="685800"/>
          </a:xfrm>
          <a:prstGeom prst="rect">
            <a:avLst/>
          </a:prstGeom>
          <a:noFill/>
          <a:ln/>
        </p:spPr>
        <p:txBody>
          <a:bodyPr wrap="square" rtlCol="0" anchor="ctr"/>
          <a:lstStyle/>
          <a:p>
            <a:pPr marL="0" indent="0">
              <a:buNone/>
            </a:pPr>
            <a:r>
              <a:rPr lang="en-US" sz="950" b="1" dirty="0">
                <a:solidFill>
                  <a:srgbClr val="00B4D8"/>
                </a:solidFill>
              </a:rPr>
              <a:t>🎯 Resultado de Aprendizaje: </a:t>
            </a:r>
            <a:r>
              <a:rPr lang="en-US" sz="950" dirty="0">
                <a:solidFill>
                  <a:srgbClr val="FFFFFF"/>
                </a:solidFill>
              </a:rPr>
              <a:t>Analiza las características y principios de los sistemas distribuidos, evaluando sus ventajas, limitaciones y retos desde una perspectiva crítica e interdisciplinaria.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p:spPr>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600" b="1" dirty="0">
                <a:solidFill>
                  <a:srgbClr val="FFFFFF"/>
                </a:solidFill>
              </a:rPr>
              <a:t>Agenda de la Semana 3</a:t>
            </a:r>
            <a:endParaRPr lang="en-US" sz="2600" dirty="0"/>
          </a:p>
        </p:txBody>
      </p:sp>
      <p:sp>
        <p:nvSpPr>
          <p:cNvPr id="4" name="Shape 2"/>
          <p:cNvSpPr/>
          <p:nvPr/>
        </p:nvSpPr>
        <p:spPr>
          <a:xfrm>
            <a:off x="365760" y="1097280"/>
            <a:ext cx="4114800" cy="1600200"/>
          </a:xfrm>
          <a:prstGeom prst="rect">
            <a:avLst/>
          </a:prstGeom>
          <a:solidFill>
            <a:srgbClr val="F8FAFC"/>
          </a:solidFill>
          <a:ln w="12700">
            <a:solidFill>
              <a:srgbClr val="E2E8F0"/>
            </a:solidFill>
            <a:prstDash val="solid"/>
          </a:ln>
          <a:effectLst>
            <a:outerShdw blurRad="50800" dist="25400" dir="8100000" algn="bl" rotWithShape="0">
              <a:srgbClr val="000000">
                <a:alpha val="8000"/>
              </a:srgbClr>
            </a:outerShdw>
          </a:effectLst>
        </p:spPr>
      </p:sp>
      <p:sp>
        <p:nvSpPr>
          <p:cNvPr id="5" name="Shape 3"/>
          <p:cNvSpPr/>
          <p:nvPr/>
        </p:nvSpPr>
        <p:spPr>
          <a:xfrm>
            <a:off x="365760" y="1097280"/>
            <a:ext cx="91440" cy="1600200"/>
          </a:xfrm>
          <a:prstGeom prst="rect">
            <a:avLst/>
          </a:prstGeom>
          <a:solidFill>
            <a:srgbClr val="0E4D92"/>
          </a:solidFill>
          <a:ln/>
        </p:spPr>
      </p:sp>
      <p:sp>
        <p:nvSpPr>
          <p:cNvPr id="6" name="Text 4"/>
          <p:cNvSpPr/>
          <p:nvPr/>
        </p:nvSpPr>
        <p:spPr>
          <a:xfrm>
            <a:off x="548640" y="1234440"/>
            <a:ext cx="731520" cy="548640"/>
          </a:xfrm>
          <a:prstGeom prst="rect">
            <a:avLst/>
          </a:prstGeom>
          <a:noFill/>
          <a:ln/>
        </p:spPr>
        <p:txBody>
          <a:bodyPr wrap="square" rtlCol="0" anchor="ctr"/>
          <a:lstStyle/>
          <a:p>
            <a:pPr marL="0" indent="0">
              <a:buNone/>
            </a:pPr>
            <a:r>
              <a:rPr lang="en-US" sz="2800" b="1" dirty="0">
                <a:solidFill>
                  <a:srgbClr val="0E4D92"/>
                </a:solidFill>
              </a:rPr>
              <a:t>01</a:t>
            </a:r>
            <a:endParaRPr lang="en-US" sz="2800" dirty="0"/>
          </a:p>
        </p:txBody>
      </p:sp>
      <p:sp>
        <p:nvSpPr>
          <p:cNvPr id="7" name="Text 5"/>
          <p:cNvSpPr/>
          <p:nvPr/>
        </p:nvSpPr>
        <p:spPr>
          <a:xfrm>
            <a:off x="548640" y="1737360"/>
            <a:ext cx="3749040" cy="457200"/>
          </a:xfrm>
          <a:prstGeom prst="rect">
            <a:avLst/>
          </a:prstGeom>
          <a:noFill/>
          <a:ln/>
        </p:spPr>
        <p:txBody>
          <a:bodyPr wrap="square" rtlCol="0" anchor="ctr"/>
          <a:lstStyle/>
          <a:p>
            <a:pPr marL="0" indent="0">
              <a:buNone/>
            </a:pPr>
            <a:r>
              <a:rPr lang="en-US" sz="1300" b="1" dirty="0">
                <a:solidFill>
                  <a:srgbClr val="0A1628"/>
                </a:solidFill>
              </a:rPr>
              <a:t>Modelos de Sistemas Distribuidos</a:t>
            </a:r>
            <a:endParaRPr lang="en-US" sz="1300" dirty="0"/>
          </a:p>
        </p:txBody>
      </p:sp>
      <p:sp>
        <p:nvSpPr>
          <p:cNvPr id="8" name="Text 6"/>
          <p:cNvSpPr/>
          <p:nvPr/>
        </p:nvSpPr>
        <p:spPr>
          <a:xfrm>
            <a:off x="548640" y="2194560"/>
            <a:ext cx="3749040" cy="365760"/>
          </a:xfrm>
          <a:prstGeom prst="rect">
            <a:avLst/>
          </a:prstGeom>
          <a:noFill/>
          <a:ln/>
        </p:spPr>
        <p:txBody>
          <a:bodyPr wrap="square" rtlCol="0" anchor="ctr"/>
          <a:lstStyle/>
          <a:p>
            <a:pPr marL="0" indent="0">
              <a:buNone/>
            </a:pPr>
            <a:r>
              <a:rPr lang="en-US" sz="1000" dirty="0">
                <a:solidFill>
                  <a:srgbClr val="64748B"/>
                </a:solidFill>
              </a:rPr>
              <a:t>Cliente-Servidor · Peer-to-Peer · Híbrido</a:t>
            </a:r>
            <a:endParaRPr lang="en-US" sz="1000" dirty="0"/>
          </a:p>
        </p:txBody>
      </p:sp>
      <p:sp>
        <p:nvSpPr>
          <p:cNvPr id="9" name="Shape 7"/>
          <p:cNvSpPr/>
          <p:nvPr/>
        </p:nvSpPr>
        <p:spPr>
          <a:xfrm>
            <a:off x="4754880" y="1097280"/>
            <a:ext cx="4114800" cy="1600200"/>
          </a:xfrm>
          <a:prstGeom prst="rect">
            <a:avLst/>
          </a:prstGeom>
          <a:solidFill>
            <a:srgbClr val="F8FAFC"/>
          </a:solidFill>
          <a:ln w="12700">
            <a:solidFill>
              <a:srgbClr val="E2E8F0"/>
            </a:solidFill>
            <a:prstDash val="solid"/>
          </a:ln>
          <a:effectLst>
            <a:outerShdw blurRad="50800" dist="25400" dir="8100000" algn="bl" rotWithShape="0">
              <a:srgbClr val="000000">
                <a:alpha val="8000"/>
              </a:srgbClr>
            </a:outerShdw>
          </a:effectLst>
        </p:spPr>
      </p:sp>
      <p:sp>
        <p:nvSpPr>
          <p:cNvPr id="10" name="Shape 8"/>
          <p:cNvSpPr/>
          <p:nvPr/>
        </p:nvSpPr>
        <p:spPr>
          <a:xfrm>
            <a:off x="4754880" y="1097280"/>
            <a:ext cx="91440" cy="1600200"/>
          </a:xfrm>
          <a:prstGeom prst="rect">
            <a:avLst/>
          </a:prstGeom>
          <a:solidFill>
            <a:srgbClr val="00B4D8"/>
          </a:solidFill>
          <a:ln/>
        </p:spPr>
      </p:sp>
      <p:sp>
        <p:nvSpPr>
          <p:cNvPr id="11" name="Text 9"/>
          <p:cNvSpPr/>
          <p:nvPr/>
        </p:nvSpPr>
        <p:spPr>
          <a:xfrm>
            <a:off x="4937760" y="1234440"/>
            <a:ext cx="731520" cy="548640"/>
          </a:xfrm>
          <a:prstGeom prst="rect">
            <a:avLst/>
          </a:prstGeom>
          <a:noFill/>
          <a:ln/>
        </p:spPr>
        <p:txBody>
          <a:bodyPr wrap="square" rtlCol="0" anchor="ctr"/>
          <a:lstStyle/>
          <a:p>
            <a:pPr marL="0" indent="0">
              <a:buNone/>
            </a:pPr>
            <a:r>
              <a:rPr lang="en-US" sz="2800" b="1" dirty="0">
                <a:solidFill>
                  <a:srgbClr val="00B4D8"/>
                </a:solidFill>
              </a:rPr>
              <a:t>02</a:t>
            </a:r>
            <a:endParaRPr lang="en-US" sz="2800" dirty="0"/>
          </a:p>
        </p:txBody>
      </p:sp>
      <p:sp>
        <p:nvSpPr>
          <p:cNvPr id="12" name="Text 10"/>
          <p:cNvSpPr/>
          <p:nvPr/>
        </p:nvSpPr>
        <p:spPr>
          <a:xfrm>
            <a:off x="4937760" y="1737360"/>
            <a:ext cx="3749040" cy="457200"/>
          </a:xfrm>
          <a:prstGeom prst="rect">
            <a:avLst/>
          </a:prstGeom>
          <a:noFill/>
          <a:ln/>
        </p:spPr>
        <p:txBody>
          <a:bodyPr wrap="square" rtlCol="0" anchor="ctr"/>
          <a:lstStyle/>
          <a:p>
            <a:pPr marL="0" indent="0">
              <a:buNone/>
            </a:pPr>
            <a:r>
              <a:rPr lang="en-US" sz="1300" b="1" dirty="0">
                <a:solidFill>
                  <a:srgbClr val="0A1628"/>
                </a:solidFill>
              </a:rPr>
              <a:t>Comunicación entre Procesos</a:t>
            </a:r>
            <a:endParaRPr lang="en-US" sz="1300" dirty="0"/>
          </a:p>
        </p:txBody>
      </p:sp>
      <p:sp>
        <p:nvSpPr>
          <p:cNvPr id="13" name="Text 11"/>
          <p:cNvSpPr/>
          <p:nvPr/>
        </p:nvSpPr>
        <p:spPr>
          <a:xfrm>
            <a:off x="4937760" y="2194560"/>
            <a:ext cx="3749040" cy="365760"/>
          </a:xfrm>
          <a:prstGeom prst="rect">
            <a:avLst/>
          </a:prstGeom>
          <a:noFill/>
          <a:ln/>
        </p:spPr>
        <p:txBody>
          <a:bodyPr wrap="square" rtlCol="0" anchor="ctr"/>
          <a:lstStyle/>
          <a:p>
            <a:pPr marL="0" indent="0">
              <a:buNone/>
            </a:pPr>
            <a:r>
              <a:rPr lang="en-US" sz="1000" dirty="0">
                <a:solidFill>
                  <a:srgbClr val="64748B"/>
                </a:solidFill>
              </a:rPr>
              <a:t>Sockets TCP/UDP · RPC · gRPC · RMI</a:t>
            </a:r>
            <a:endParaRPr lang="en-US" sz="1000" dirty="0"/>
          </a:p>
        </p:txBody>
      </p:sp>
      <p:sp>
        <p:nvSpPr>
          <p:cNvPr id="14" name="Shape 12"/>
          <p:cNvSpPr/>
          <p:nvPr/>
        </p:nvSpPr>
        <p:spPr>
          <a:xfrm>
            <a:off x="365760" y="2880360"/>
            <a:ext cx="4114800" cy="1600200"/>
          </a:xfrm>
          <a:prstGeom prst="rect">
            <a:avLst/>
          </a:prstGeom>
          <a:solidFill>
            <a:srgbClr val="F8FAFC"/>
          </a:solidFill>
          <a:ln w="12700">
            <a:solidFill>
              <a:srgbClr val="E2E8F0"/>
            </a:solidFill>
            <a:prstDash val="solid"/>
          </a:ln>
          <a:effectLst>
            <a:outerShdw blurRad="50800" dist="25400" dir="8100000" algn="bl" rotWithShape="0">
              <a:srgbClr val="000000">
                <a:alpha val="8000"/>
              </a:srgbClr>
            </a:outerShdw>
          </a:effectLst>
        </p:spPr>
      </p:sp>
      <p:sp>
        <p:nvSpPr>
          <p:cNvPr id="15" name="Shape 13"/>
          <p:cNvSpPr/>
          <p:nvPr/>
        </p:nvSpPr>
        <p:spPr>
          <a:xfrm>
            <a:off x="365760" y="2880360"/>
            <a:ext cx="91440" cy="1600200"/>
          </a:xfrm>
          <a:prstGeom prst="rect">
            <a:avLst/>
          </a:prstGeom>
          <a:solidFill>
            <a:srgbClr val="059669"/>
          </a:solidFill>
          <a:ln/>
        </p:spPr>
      </p:sp>
      <p:sp>
        <p:nvSpPr>
          <p:cNvPr id="16" name="Text 14"/>
          <p:cNvSpPr/>
          <p:nvPr/>
        </p:nvSpPr>
        <p:spPr>
          <a:xfrm>
            <a:off x="548640" y="3017520"/>
            <a:ext cx="731520" cy="548640"/>
          </a:xfrm>
          <a:prstGeom prst="rect">
            <a:avLst/>
          </a:prstGeom>
          <a:noFill/>
          <a:ln/>
        </p:spPr>
        <p:txBody>
          <a:bodyPr wrap="square" rtlCol="0" anchor="ctr"/>
          <a:lstStyle/>
          <a:p>
            <a:pPr marL="0" indent="0">
              <a:buNone/>
            </a:pPr>
            <a:r>
              <a:rPr lang="en-US" sz="2800" b="1" dirty="0">
                <a:solidFill>
                  <a:srgbClr val="059669"/>
                </a:solidFill>
              </a:rPr>
              <a:t>03</a:t>
            </a:r>
            <a:endParaRPr lang="en-US" sz="2800" dirty="0"/>
          </a:p>
        </p:txBody>
      </p:sp>
      <p:sp>
        <p:nvSpPr>
          <p:cNvPr id="17" name="Text 15"/>
          <p:cNvSpPr/>
          <p:nvPr/>
        </p:nvSpPr>
        <p:spPr>
          <a:xfrm>
            <a:off x="548640" y="3520440"/>
            <a:ext cx="3749040" cy="457200"/>
          </a:xfrm>
          <a:prstGeom prst="rect">
            <a:avLst/>
          </a:prstGeom>
          <a:noFill/>
          <a:ln/>
        </p:spPr>
        <p:txBody>
          <a:bodyPr wrap="square" rtlCol="0" anchor="ctr"/>
          <a:lstStyle/>
          <a:p>
            <a:pPr marL="0" indent="0">
              <a:buNone/>
            </a:pPr>
            <a:r>
              <a:rPr lang="en-US" sz="1300" b="1" dirty="0">
                <a:solidFill>
                  <a:srgbClr val="0A1628"/>
                </a:solidFill>
              </a:rPr>
              <a:t>Middleware y su Rol</a:t>
            </a:r>
            <a:endParaRPr lang="en-US" sz="1300" dirty="0"/>
          </a:p>
        </p:txBody>
      </p:sp>
      <p:sp>
        <p:nvSpPr>
          <p:cNvPr id="18" name="Text 16"/>
          <p:cNvSpPr/>
          <p:nvPr/>
        </p:nvSpPr>
        <p:spPr>
          <a:xfrm>
            <a:off x="548640" y="3977640"/>
            <a:ext cx="3749040" cy="365760"/>
          </a:xfrm>
          <a:prstGeom prst="rect">
            <a:avLst/>
          </a:prstGeom>
          <a:noFill/>
          <a:ln/>
        </p:spPr>
        <p:txBody>
          <a:bodyPr wrap="square" rtlCol="0" anchor="ctr"/>
          <a:lstStyle/>
          <a:p>
            <a:pPr marL="0" indent="0">
              <a:buNone/>
            </a:pPr>
            <a:r>
              <a:rPr lang="en-US" sz="1000" dirty="0">
                <a:solidFill>
                  <a:srgbClr val="64748B"/>
                </a:solidFill>
              </a:rPr>
              <a:t>Tipos · Funciones · Ejemplos industriales</a:t>
            </a:r>
            <a:endParaRPr lang="en-US" sz="1000" dirty="0"/>
          </a:p>
        </p:txBody>
      </p:sp>
      <p:sp>
        <p:nvSpPr>
          <p:cNvPr id="19" name="Shape 17"/>
          <p:cNvSpPr/>
          <p:nvPr/>
        </p:nvSpPr>
        <p:spPr>
          <a:xfrm>
            <a:off x="4754880" y="2880360"/>
            <a:ext cx="4114800" cy="1600200"/>
          </a:xfrm>
          <a:prstGeom prst="rect">
            <a:avLst/>
          </a:prstGeom>
          <a:solidFill>
            <a:srgbClr val="F8FAFC"/>
          </a:solidFill>
          <a:ln w="12700">
            <a:solidFill>
              <a:srgbClr val="E2E8F0"/>
            </a:solidFill>
            <a:prstDash val="solid"/>
          </a:ln>
          <a:effectLst>
            <a:outerShdw blurRad="50800" dist="25400" dir="8100000" algn="bl" rotWithShape="0">
              <a:srgbClr val="000000">
                <a:alpha val="8000"/>
              </a:srgbClr>
            </a:outerShdw>
          </a:effectLst>
        </p:spPr>
      </p:sp>
      <p:sp>
        <p:nvSpPr>
          <p:cNvPr id="20" name="Shape 18"/>
          <p:cNvSpPr/>
          <p:nvPr/>
        </p:nvSpPr>
        <p:spPr>
          <a:xfrm>
            <a:off x="4754880" y="2880360"/>
            <a:ext cx="91440" cy="1600200"/>
          </a:xfrm>
          <a:prstGeom prst="rect">
            <a:avLst/>
          </a:prstGeom>
          <a:solidFill>
            <a:srgbClr val="EA580C"/>
          </a:solidFill>
          <a:ln/>
        </p:spPr>
      </p:sp>
      <p:sp>
        <p:nvSpPr>
          <p:cNvPr id="21" name="Text 19"/>
          <p:cNvSpPr/>
          <p:nvPr/>
        </p:nvSpPr>
        <p:spPr>
          <a:xfrm>
            <a:off x="4937760" y="3017520"/>
            <a:ext cx="731520" cy="548640"/>
          </a:xfrm>
          <a:prstGeom prst="rect">
            <a:avLst/>
          </a:prstGeom>
          <a:noFill/>
          <a:ln/>
        </p:spPr>
        <p:txBody>
          <a:bodyPr wrap="square" rtlCol="0" anchor="ctr"/>
          <a:lstStyle/>
          <a:p>
            <a:pPr marL="0" indent="0">
              <a:buNone/>
            </a:pPr>
            <a:r>
              <a:rPr lang="en-US" sz="2800" b="1" dirty="0">
                <a:solidFill>
                  <a:srgbClr val="EA580C"/>
                </a:solidFill>
              </a:rPr>
              <a:t>04</a:t>
            </a:r>
            <a:endParaRPr lang="en-US" sz="2800" dirty="0"/>
          </a:p>
        </p:txBody>
      </p:sp>
      <p:sp>
        <p:nvSpPr>
          <p:cNvPr id="22" name="Text 20"/>
          <p:cNvSpPr/>
          <p:nvPr/>
        </p:nvSpPr>
        <p:spPr>
          <a:xfrm>
            <a:off x="4937760" y="3520440"/>
            <a:ext cx="3749040" cy="457200"/>
          </a:xfrm>
          <a:prstGeom prst="rect">
            <a:avLst/>
          </a:prstGeom>
          <a:noFill/>
          <a:ln/>
        </p:spPr>
        <p:txBody>
          <a:bodyPr wrap="square" rtlCol="0" anchor="ctr"/>
          <a:lstStyle/>
          <a:p>
            <a:pPr marL="0" indent="0">
              <a:buNone/>
            </a:pPr>
            <a:r>
              <a:rPr lang="en-US" sz="1300" b="1" dirty="0">
                <a:solidFill>
                  <a:srgbClr val="0A1628"/>
                </a:solidFill>
              </a:rPr>
              <a:t>Sincronización: Lamport</a:t>
            </a:r>
            <a:endParaRPr lang="en-US" sz="1300" dirty="0"/>
          </a:p>
        </p:txBody>
      </p:sp>
      <p:sp>
        <p:nvSpPr>
          <p:cNvPr id="23" name="Text 21"/>
          <p:cNvSpPr/>
          <p:nvPr/>
        </p:nvSpPr>
        <p:spPr>
          <a:xfrm>
            <a:off x="4937760" y="3977640"/>
            <a:ext cx="3749040" cy="365760"/>
          </a:xfrm>
          <a:prstGeom prst="rect">
            <a:avLst/>
          </a:prstGeom>
          <a:noFill/>
          <a:ln/>
        </p:spPr>
        <p:txBody>
          <a:bodyPr wrap="square" rtlCol="0" anchor="ctr"/>
          <a:lstStyle/>
          <a:p>
            <a:pPr marL="0" indent="0">
              <a:buNone/>
            </a:pPr>
            <a:r>
              <a:rPr lang="en-US" sz="1000" dirty="0">
                <a:solidFill>
                  <a:srgbClr val="64748B"/>
                </a:solidFill>
              </a:rPr>
              <a:t>Relojes lógicos · Relojes vectoriales · Causalidad</a:t>
            </a:r>
            <a:endParaRPr lang="en-US" sz="1000" dirty="0"/>
          </a:p>
        </p:txBody>
      </p:sp>
      <p:sp>
        <p:nvSpPr>
          <p:cNvPr id="24" name="Shape 22"/>
          <p:cNvSpPr/>
          <p:nvPr/>
        </p:nvSpPr>
        <p:spPr>
          <a:xfrm>
            <a:off x="365760" y="4617720"/>
            <a:ext cx="8412480" cy="411480"/>
          </a:xfrm>
          <a:prstGeom prst="rect">
            <a:avLst/>
          </a:prstGeom>
          <a:solidFill>
            <a:srgbClr val="FEF3C7"/>
          </a:solidFill>
          <a:ln w="12700">
            <a:solidFill>
              <a:srgbClr val="D97706"/>
            </a:solidFill>
            <a:prstDash val="solid"/>
          </a:ln>
        </p:spPr>
      </p:sp>
      <p:sp>
        <p:nvSpPr>
          <p:cNvPr id="25" name="Text 23"/>
          <p:cNvSpPr/>
          <p:nvPr/>
        </p:nvSpPr>
        <p:spPr>
          <a:xfrm>
            <a:off x="548640" y="4645152"/>
            <a:ext cx="8046720" cy="365760"/>
          </a:xfrm>
          <a:prstGeom prst="rect">
            <a:avLst/>
          </a:prstGeom>
          <a:noFill/>
          <a:ln/>
        </p:spPr>
        <p:txBody>
          <a:bodyPr wrap="square" rtlCol="0" anchor="ctr"/>
          <a:lstStyle/>
          <a:p>
            <a:pPr marL="0" indent="0">
              <a:buNone/>
            </a:pPr>
            <a:r>
              <a:rPr lang="en-US" sz="950" dirty="0">
                <a:solidFill>
                  <a:srgbClr val="92400E"/>
                </a:solidFill>
              </a:rPr>
              <a:t>⚠️  Evaluación semana: TA — FORM-TL-01 (Taller Modelado) · FORM-FB-01 (Fichas Bibliográficas) — ver plataforma LMS</a:t>
            </a:r>
            <a:endParaRPr lang="en-US" sz="950" dirty="0"/>
          </a:p>
        </p:txBody>
      </p:sp>
      <p:sp>
        <p:nvSpPr>
          <p:cNvPr id="26" name="Text 24"/>
          <p:cNvSpPr/>
          <p:nvPr/>
        </p:nvSpPr>
        <p:spPr>
          <a:xfrm>
            <a:off x="380647" y="4846320"/>
            <a:ext cx="6400800" cy="228600"/>
          </a:xfrm>
          <a:prstGeom prst="rect">
            <a:avLst/>
          </a:prstGeom>
          <a:noFill/>
          <a:ln/>
        </p:spPr>
        <p:txBody>
          <a:bodyPr wrap="square" rtlCol="0" anchor="ctr"/>
          <a:lstStyle/>
          <a:p>
            <a:pPr marL="0" indent="0">
              <a:buNone/>
            </a:pPr>
            <a:r>
              <a:rPr lang="en-US" sz="1050" i="1" dirty="0">
                <a:solidFill>
                  <a:srgbClr val="94A3B8"/>
                </a:solidFill>
              </a:rPr>
              <a:t>UTEQ · Aplicaciones Distribuidas</a:t>
            </a:r>
            <a:endParaRPr lang="en-US" sz="1050" dirty="0"/>
          </a:p>
        </p:txBody>
      </p:sp>
      <p:sp>
        <p:nvSpPr>
          <p:cNvPr id="27" name="Text 25"/>
          <p:cNvSpPr/>
          <p:nvPr/>
        </p:nvSpPr>
        <p:spPr>
          <a:xfrm>
            <a:off x="6489407" y="4846320"/>
            <a:ext cx="2286000" cy="228600"/>
          </a:xfrm>
          <a:prstGeom prst="rect">
            <a:avLst/>
          </a:prstGeom>
          <a:noFill/>
          <a:ln/>
        </p:spPr>
        <p:txBody>
          <a:bodyPr wrap="square" rtlCol="0" anchor="ctr"/>
          <a:lstStyle/>
          <a:p>
            <a:pPr marL="0" indent="0" algn="r">
              <a:buNone/>
            </a:pPr>
            <a:r>
              <a:rPr lang="en-US" sz="1050" dirty="0">
                <a:solidFill>
                  <a:srgbClr val="94A3B8"/>
                </a:solidFill>
              </a:rPr>
              <a:t>Semana 3 | 18–24 May 2026</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E4D92"/>
          </a:solidFill>
          <a:ln/>
        </p:spPr>
      </p:sp>
      <p:sp>
        <p:nvSpPr>
          <p:cNvPr id="3" name="Text 1"/>
          <p:cNvSpPr/>
          <p:nvPr/>
        </p:nvSpPr>
        <p:spPr>
          <a:xfrm>
            <a:off x="365760" y="45720"/>
            <a:ext cx="8412480" cy="731520"/>
          </a:xfrm>
          <a:prstGeom prst="rect">
            <a:avLst/>
          </a:prstGeom>
          <a:noFill/>
          <a:ln/>
        </p:spPr>
        <p:txBody>
          <a:bodyPr wrap="square" rtlCol="0" anchor="ctr"/>
          <a:lstStyle/>
          <a:p>
            <a:pPr marL="0" indent="0">
              <a:buNone/>
            </a:pPr>
            <a:r>
              <a:rPr lang="en-US" sz="2800" b="1" dirty="0">
                <a:solidFill>
                  <a:srgbClr val="FFFFFF"/>
                </a:solidFill>
              </a:rPr>
              <a:t>01 · Modelos de Sistemas Distribuidos</a:t>
            </a:r>
            <a:endParaRPr lang="en-US" sz="2800" dirty="0"/>
          </a:p>
        </p:txBody>
      </p:sp>
      <p:sp>
        <p:nvSpPr>
          <p:cNvPr id="4" name="Shape 2"/>
          <p:cNvSpPr/>
          <p:nvPr/>
        </p:nvSpPr>
        <p:spPr>
          <a:xfrm>
            <a:off x="228600" y="914400"/>
            <a:ext cx="2743200" cy="4069080"/>
          </a:xfrm>
          <a:prstGeom prst="rect">
            <a:avLst/>
          </a:prstGeom>
          <a:solidFill>
            <a:srgbClr val="F8FAFC"/>
          </a:solidFill>
          <a:ln w="12700">
            <a:solidFill>
              <a:srgbClr val="E2E8F0"/>
            </a:solidFill>
            <a:prstDash val="solid"/>
          </a:ln>
          <a:effectLst>
            <a:outerShdw blurRad="76200" dist="25400" dir="8100000" algn="bl" rotWithShape="0">
              <a:srgbClr val="000000">
                <a:alpha val="10000"/>
              </a:srgbClr>
            </a:outerShdw>
          </a:effectLst>
        </p:spPr>
      </p:sp>
      <p:sp>
        <p:nvSpPr>
          <p:cNvPr id="5" name="Shape 3"/>
          <p:cNvSpPr/>
          <p:nvPr/>
        </p:nvSpPr>
        <p:spPr>
          <a:xfrm>
            <a:off x="228600" y="914400"/>
            <a:ext cx="2743200" cy="640080"/>
          </a:xfrm>
          <a:prstGeom prst="rect">
            <a:avLst/>
          </a:prstGeom>
          <a:solidFill>
            <a:srgbClr val="0E4D92"/>
          </a:solidFill>
          <a:ln/>
        </p:spPr>
      </p:sp>
      <p:sp>
        <p:nvSpPr>
          <p:cNvPr id="6" name="Text 4"/>
          <p:cNvSpPr/>
          <p:nvPr/>
        </p:nvSpPr>
        <p:spPr>
          <a:xfrm>
            <a:off x="320040" y="932688"/>
            <a:ext cx="2560320" cy="594360"/>
          </a:xfrm>
          <a:prstGeom prst="rect">
            <a:avLst/>
          </a:prstGeom>
          <a:noFill/>
          <a:ln/>
        </p:spPr>
        <p:txBody>
          <a:bodyPr wrap="square" rtlCol="0" anchor="ctr"/>
          <a:lstStyle/>
          <a:p>
            <a:pPr marL="0" indent="0">
              <a:buNone/>
            </a:pPr>
            <a:r>
              <a:rPr lang="en-US" sz="1600" b="1" dirty="0">
                <a:solidFill>
                  <a:srgbClr val="FFFFFF"/>
                </a:solidFill>
              </a:rPr>
              <a:t>🖥️  Cliente-Servidor</a:t>
            </a:r>
            <a:endParaRPr lang="en-US" sz="1600" dirty="0"/>
          </a:p>
        </p:txBody>
      </p:sp>
      <p:sp>
        <p:nvSpPr>
          <p:cNvPr id="7" name="Text 5"/>
          <p:cNvSpPr/>
          <p:nvPr/>
        </p:nvSpPr>
        <p:spPr>
          <a:xfrm>
            <a:off x="320040" y="1600200"/>
            <a:ext cx="2560320" cy="640080"/>
          </a:xfrm>
          <a:prstGeom prst="rect">
            <a:avLst/>
          </a:prstGeom>
          <a:noFill/>
          <a:ln/>
        </p:spPr>
        <p:txBody>
          <a:bodyPr wrap="square" rtlCol="0" anchor="ctr"/>
          <a:lstStyle/>
          <a:p>
            <a:pPr marL="0" indent="0">
              <a:buNone/>
            </a:pPr>
            <a:r>
              <a:rPr lang="en-US" sz="1050" i="1" dirty="0">
                <a:solidFill>
                  <a:srgbClr val="0A1628"/>
                </a:solidFill>
              </a:rPr>
              <a:t>Roles fijos: el servidor ofrece servicios, el cliente los consume. Asimetría total.</a:t>
            </a:r>
            <a:endParaRPr lang="en-US" sz="1050" dirty="0"/>
          </a:p>
        </p:txBody>
      </p:sp>
      <p:sp>
        <p:nvSpPr>
          <p:cNvPr id="8" name="Text 6"/>
          <p:cNvSpPr/>
          <p:nvPr/>
        </p:nvSpPr>
        <p:spPr>
          <a:xfrm>
            <a:off x="320040" y="2286000"/>
            <a:ext cx="2560320" cy="274320"/>
          </a:xfrm>
          <a:prstGeom prst="rect">
            <a:avLst/>
          </a:prstGeom>
          <a:noFill/>
          <a:ln/>
        </p:spPr>
        <p:txBody>
          <a:bodyPr wrap="square" rtlCol="0" anchor="ctr"/>
          <a:lstStyle/>
          <a:p>
            <a:pPr marL="0" indent="0">
              <a:buNone/>
            </a:pPr>
            <a:r>
              <a:rPr lang="en-US" sz="1050" b="1" dirty="0">
                <a:solidFill>
                  <a:srgbClr val="0E4D92"/>
                </a:solidFill>
              </a:rPr>
              <a:t>▸ </a:t>
            </a:r>
            <a:r>
              <a:rPr lang="en-US" sz="1050" dirty="0">
                <a:solidFill>
                  <a:srgbClr val="0A1628"/>
                </a:solidFill>
              </a:rPr>
              <a:t>Servidor siempre disponible</a:t>
            </a:r>
            <a:endParaRPr lang="en-US" sz="1050" dirty="0"/>
          </a:p>
        </p:txBody>
      </p:sp>
      <p:sp>
        <p:nvSpPr>
          <p:cNvPr id="9" name="Text 7"/>
          <p:cNvSpPr/>
          <p:nvPr/>
        </p:nvSpPr>
        <p:spPr>
          <a:xfrm>
            <a:off x="320040" y="2578608"/>
            <a:ext cx="2560320" cy="274320"/>
          </a:xfrm>
          <a:prstGeom prst="rect">
            <a:avLst/>
          </a:prstGeom>
          <a:noFill/>
          <a:ln/>
        </p:spPr>
        <p:txBody>
          <a:bodyPr wrap="square" rtlCol="0" anchor="ctr"/>
          <a:lstStyle/>
          <a:p>
            <a:pPr marL="0" indent="0">
              <a:buNone/>
            </a:pPr>
            <a:r>
              <a:rPr lang="en-US" sz="1050" b="1" dirty="0">
                <a:solidFill>
                  <a:srgbClr val="0E4D92"/>
                </a:solidFill>
              </a:rPr>
              <a:t>▸ </a:t>
            </a:r>
            <a:r>
              <a:rPr lang="en-US" sz="1050" dirty="0">
                <a:solidFill>
                  <a:srgbClr val="0A1628"/>
                </a:solidFill>
              </a:rPr>
              <a:t>Clientes no se conocen</a:t>
            </a:r>
            <a:endParaRPr lang="en-US" sz="1050" dirty="0"/>
          </a:p>
        </p:txBody>
      </p:sp>
      <p:sp>
        <p:nvSpPr>
          <p:cNvPr id="10" name="Text 8"/>
          <p:cNvSpPr/>
          <p:nvPr/>
        </p:nvSpPr>
        <p:spPr>
          <a:xfrm>
            <a:off x="320040" y="2871216"/>
            <a:ext cx="2560320" cy="274320"/>
          </a:xfrm>
          <a:prstGeom prst="rect">
            <a:avLst/>
          </a:prstGeom>
          <a:noFill/>
          <a:ln/>
        </p:spPr>
        <p:txBody>
          <a:bodyPr wrap="square" rtlCol="0" anchor="ctr"/>
          <a:lstStyle/>
          <a:p>
            <a:pPr marL="0" indent="0">
              <a:buNone/>
            </a:pPr>
            <a:r>
              <a:rPr lang="en-US" sz="1050" b="1" dirty="0">
                <a:solidFill>
                  <a:srgbClr val="0E4D92"/>
                </a:solidFill>
              </a:rPr>
              <a:t>▸ </a:t>
            </a:r>
            <a:r>
              <a:rPr lang="en-US" sz="1050" dirty="0">
                <a:solidFill>
                  <a:srgbClr val="0A1628"/>
                </a:solidFill>
              </a:rPr>
              <a:t>Escalabilidad vertical</a:t>
            </a:r>
            <a:endParaRPr lang="en-US" sz="1050" dirty="0"/>
          </a:p>
        </p:txBody>
      </p:sp>
      <p:sp>
        <p:nvSpPr>
          <p:cNvPr id="11" name="Shape 9"/>
          <p:cNvSpPr/>
          <p:nvPr/>
        </p:nvSpPr>
        <p:spPr>
          <a:xfrm>
            <a:off x="274320" y="3200400"/>
            <a:ext cx="2651760" cy="384048"/>
          </a:xfrm>
          <a:prstGeom prst="rect">
            <a:avLst/>
          </a:prstGeom>
          <a:solidFill>
            <a:srgbClr val="0E4D92">
              <a:alpha val="15000"/>
            </a:srgbClr>
          </a:solidFill>
          <a:ln/>
        </p:spPr>
      </p:sp>
      <p:sp>
        <p:nvSpPr>
          <p:cNvPr id="12" name="Text 10"/>
          <p:cNvSpPr/>
          <p:nvPr/>
        </p:nvSpPr>
        <p:spPr>
          <a:xfrm>
            <a:off x="320040" y="3218688"/>
            <a:ext cx="2560320" cy="347472"/>
          </a:xfrm>
          <a:prstGeom prst="rect">
            <a:avLst/>
          </a:prstGeom>
          <a:noFill/>
          <a:ln/>
        </p:spPr>
        <p:txBody>
          <a:bodyPr wrap="square" rtlCol="0" anchor="ctr"/>
          <a:lstStyle/>
          <a:p>
            <a:pPr marL="0" indent="0">
              <a:buNone/>
            </a:pPr>
            <a:r>
              <a:rPr lang="en-US" sz="1000" i="1" dirty="0">
                <a:solidFill>
                  <a:srgbClr val="0A1628"/>
                </a:solidFill>
              </a:rPr>
              <a:t>Ej: Web HTTP, DNS, SMTP, bases de datos</a:t>
            </a:r>
            <a:endParaRPr lang="en-US" sz="1000" dirty="0"/>
          </a:p>
        </p:txBody>
      </p:sp>
      <p:sp>
        <p:nvSpPr>
          <p:cNvPr id="13" name="Text 11"/>
          <p:cNvSpPr/>
          <p:nvPr/>
        </p:nvSpPr>
        <p:spPr>
          <a:xfrm>
            <a:off x="320040" y="3639312"/>
            <a:ext cx="2560320" cy="228600"/>
          </a:xfrm>
          <a:prstGeom prst="rect">
            <a:avLst/>
          </a:prstGeom>
          <a:noFill/>
          <a:ln/>
        </p:spPr>
        <p:txBody>
          <a:bodyPr wrap="square" rtlCol="0" anchor="ctr"/>
          <a:lstStyle/>
          <a:p>
            <a:pPr marL="0" indent="0">
              <a:buNone/>
            </a:pPr>
            <a:r>
              <a:rPr lang="en-US" sz="1000" dirty="0">
                <a:solidFill>
                  <a:srgbClr val="000000"/>
                </a:solidFill>
              </a:rPr>
              <a:t>✅ </a:t>
            </a:r>
            <a:r>
              <a:rPr lang="en-US" sz="1000" dirty="0">
                <a:solidFill>
                  <a:srgbClr val="059669"/>
                </a:solidFill>
              </a:rPr>
              <a:t>Simple de diseñar y mantener</a:t>
            </a:r>
            <a:endParaRPr lang="en-US" sz="1000" dirty="0"/>
          </a:p>
        </p:txBody>
      </p:sp>
      <p:sp>
        <p:nvSpPr>
          <p:cNvPr id="14" name="Text 12"/>
          <p:cNvSpPr/>
          <p:nvPr/>
        </p:nvSpPr>
        <p:spPr>
          <a:xfrm>
            <a:off x="320040" y="3867912"/>
            <a:ext cx="2560320" cy="228600"/>
          </a:xfrm>
          <a:prstGeom prst="rect">
            <a:avLst/>
          </a:prstGeom>
          <a:noFill/>
          <a:ln/>
        </p:spPr>
        <p:txBody>
          <a:bodyPr wrap="square" rtlCol="0" anchor="ctr"/>
          <a:lstStyle/>
          <a:p>
            <a:pPr marL="0" indent="0">
              <a:buNone/>
            </a:pPr>
            <a:r>
              <a:rPr lang="en-US" sz="1000" dirty="0">
                <a:solidFill>
                  <a:srgbClr val="000000"/>
                </a:solidFill>
              </a:rPr>
              <a:t>⚠️ </a:t>
            </a:r>
            <a:r>
              <a:rPr lang="en-US" sz="1000" dirty="0">
                <a:solidFill>
                  <a:srgbClr val="EA580C"/>
                </a:solidFill>
              </a:rPr>
              <a:t>Cuello de botella en el servidor</a:t>
            </a:r>
            <a:endParaRPr lang="en-US" sz="1000" dirty="0"/>
          </a:p>
        </p:txBody>
      </p:sp>
      <p:sp>
        <p:nvSpPr>
          <p:cNvPr id="15" name="Shape 13"/>
          <p:cNvSpPr/>
          <p:nvPr/>
        </p:nvSpPr>
        <p:spPr>
          <a:xfrm>
            <a:off x="3154680" y="914400"/>
            <a:ext cx="2743200" cy="4069080"/>
          </a:xfrm>
          <a:prstGeom prst="rect">
            <a:avLst/>
          </a:prstGeom>
          <a:solidFill>
            <a:srgbClr val="F8FAFC"/>
          </a:solidFill>
          <a:ln w="12700">
            <a:solidFill>
              <a:srgbClr val="E2E8F0"/>
            </a:solidFill>
            <a:prstDash val="solid"/>
          </a:ln>
          <a:effectLst>
            <a:outerShdw blurRad="76200" dist="25400" dir="8100000" algn="bl" rotWithShape="0">
              <a:srgbClr val="000000">
                <a:alpha val="10000"/>
              </a:srgbClr>
            </a:outerShdw>
          </a:effectLst>
        </p:spPr>
      </p:sp>
      <p:sp>
        <p:nvSpPr>
          <p:cNvPr id="16" name="Shape 14"/>
          <p:cNvSpPr/>
          <p:nvPr/>
        </p:nvSpPr>
        <p:spPr>
          <a:xfrm>
            <a:off x="3154680" y="914400"/>
            <a:ext cx="2743200" cy="640080"/>
          </a:xfrm>
          <a:prstGeom prst="rect">
            <a:avLst/>
          </a:prstGeom>
          <a:solidFill>
            <a:srgbClr val="059669"/>
          </a:solidFill>
          <a:ln/>
        </p:spPr>
      </p:sp>
      <p:sp>
        <p:nvSpPr>
          <p:cNvPr id="17" name="Text 15"/>
          <p:cNvSpPr/>
          <p:nvPr/>
        </p:nvSpPr>
        <p:spPr>
          <a:xfrm>
            <a:off x="3246120" y="932688"/>
            <a:ext cx="2560320" cy="594360"/>
          </a:xfrm>
          <a:prstGeom prst="rect">
            <a:avLst/>
          </a:prstGeom>
          <a:noFill/>
          <a:ln/>
        </p:spPr>
        <p:txBody>
          <a:bodyPr wrap="square" rtlCol="0" anchor="ctr"/>
          <a:lstStyle/>
          <a:p>
            <a:pPr marL="0" indent="0">
              <a:buNone/>
            </a:pPr>
            <a:r>
              <a:rPr lang="en-US" sz="1600" b="1" dirty="0">
                <a:solidFill>
                  <a:srgbClr val="FFFFFF"/>
                </a:solidFill>
              </a:rPr>
              <a:t>🔗  Peer-to-Peer (P2P)</a:t>
            </a:r>
            <a:endParaRPr lang="en-US" sz="1600" dirty="0"/>
          </a:p>
        </p:txBody>
      </p:sp>
      <p:sp>
        <p:nvSpPr>
          <p:cNvPr id="18" name="Text 16"/>
          <p:cNvSpPr/>
          <p:nvPr/>
        </p:nvSpPr>
        <p:spPr>
          <a:xfrm>
            <a:off x="3246120" y="1600200"/>
            <a:ext cx="2560320" cy="640080"/>
          </a:xfrm>
          <a:prstGeom prst="rect">
            <a:avLst/>
          </a:prstGeom>
          <a:noFill/>
          <a:ln/>
        </p:spPr>
        <p:txBody>
          <a:bodyPr wrap="square" rtlCol="0" anchor="ctr"/>
          <a:lstStyle/>
          <a:p>
            <a:pPr marL="0" indent="0">
              <a:buNone/>
            </a:pPr>
            <a:r>
              <a:rPr lang="en-US" sz="1050" i="1" dirty="0">
                <a:solidFill>
                  <a:srgbClr val="0A1628"/>
                </a:solidFill>
              </a:rPr>
              <a:t>Todos los nodos son iguales: producen Y consumen recursos simultáneamente.</a:t>
            </a:r>
            <a:endParaRPr lang="en-US" sz="1050" dirty="0"/>
          </a:p>
        </p:txBody>
      </p:sp>
      <p:sp>
        <p:nvSpPr>
          <p:cNvPr id="19" name="Text 17"/>
          <p:cNvSpPr/>
          <p:nvPr/>
        </p:nvSpPr>
        <p:spPr>
          <a:xfrm>
            <a:off x="3246120" y="2286000"/>
            <a:ext cx="2560320" cy="274320"/>
          </a:xfrm>
          <a:prstGeom prst="rect">
            <a:avLst/>
          </a:prstGeom>
          <a:noFill/>
          <a:ln/>
        </p:spPr>
        <p:txBody>
          <a:bodyPr wrap="square" rtlCol="0" anchor="ctr"/>
          <a:lstStyle/>
          <a:p>
            <a:pPr marL="0" indent="0">
              <a:buNone/>
            </a:pPr>
            <a:r>
              <a:rPr lang="en-US" sz="1050" b="1" dirty="0">
                <a:solidFill>
                  <a:srgbClr val="059669"/>
                </a:solidFill>
              </a:rPr>
              <a:t>▸ </a:t>
            </a:r>
            <a:r>
              <a:rPr lang="en-US" sz="1050" dirty="0">
                <a:solidFill>
                  <a:srgbClr val="0A1628"/>
                </a:solidFill>
              </a:rPr>
              <a:t>Sin servidor central</a:t>
            </a:r>
            <a:endParaRPr lang="en-US" sz="1050" dirty="0"/>
          </a:p>
        </p:txBody>
      </p:sp>
      <p:sp>
        <p:nvSpPr>
          <p:cNvPr id="20" name="Text 18"/>
          <p:cNvSpPr/>
          <p:nvPr/>
        </p:nvSpPr>
        <p:spPr>
          <a:xfrm>
            <a:off x="3246120" y="2578608"/>
            <a:ext cx="2560320" cy="274320"/>
          </a:xfrm>
          <a:prstGeom prst="rect">
            <a:avLst/>
          </a:prstGeom>
          <a:noFill/>
          <a:ln/>
        </p:spPr>
        <p:txBody>
          <a:bodyPr wrap="square" rtlCol="0" anchor="ctr"/>
          <a:lstStyle/>
          <a:p>
            <a:pPr marL="0" indent="0">
              <a:buNone/>
            </a:pPr>
            <a:r>
              <a:rPr lang="en-US" sz="1050" b="1" dirty="0">
                <a:solidFill>
                  <a:srgbClr val="059669"/>
                </a:solidFill>
              </a:rPr>
              <a:t>▸ </a:t>
            </a:r>
            <a:r>
              <a:rPr lang="en-US" sz="1050" dirty="0">
                <a:solidFill>
                  <a:srgbClr val="0A1628"/>
                </a:solidFill>
              </a:rPr>
              <a:t>Alta tolerancia a fallos</a:t>
            </a:r>
            <a:endParaRPr lang="en-US" sz="1050" dirty="0"/>
          </a:p>
        </p:txBody>
      </p:sp>
      <p:sp>
        <p:nvSpPr>
          <p:cNvPr id="21" name="Text 19"/>
          <p:cNvSpPr/>
          <p:nvPr/>
        </p:nvSpPr>
        <p:spPr>
          <a:xfrm>
            <a:off x="3246120" y="2871216"/>
            <a:ext cx="2560320" cy="274320"/>
          </a:xfrm>
          <a:prstGeom prst="rect">
            <a:avLst/>
          </a:prstGeom>
          <a:noFill/>
          <a:ln/>
        </p:spPr>
        <p:txBody>
          <a:bodyPr wrap="square" rtlCol="0" anchor="ctr"/>
          <a:lstStyle/>
          <a:p>
            <a:pPr marL="0" indent="0">
              <a:buNone/>
            </a:pPr>
            <a:r>
              <a:rPr lang="en-US" sz="1050" b="1" dirty="0">
                <a:solidFill>
                  <a:srgbClr val="059669"/>
                </a:solidFill>
              </a:rPr>
              <a:t>▸ </a:t>
            </a:r>
            <a:r>
              <a:rPr lang="en-US" sz="1050" dirty="0">
                <a:solidFill>
                  <a:srgbClr val="0A1628"/>
                </a:solidFill>
              </a:rPr>
              <a:t>Auto-organización</a:t>
            </a:r>
            <a:endParaRPr lang="en-US" sz="1050" dirty="0"/>
          </a:p>
        </p:txBody>
      </p:sp>
      <p:sp>
        <p:nvSpPr>
          <p:cNvPr id="22" name="Shape 20"/>
          <p:cNvSpPr/>
          <p:nvPr/>
        </p:nvSpPr>
        <p:spPr>
          <a:xfrm>
            <a:off x="3200400" y="3200400"/>
            <a:ext cx="2651760" cy="384048"/>
          </a:xfrm>
          <a:prstGeom prst="rect">
            <a:avLst/>
          </a:prstGeom>
          <a:solidFill>
            <a:srgbClr val="059669">
              <a:alpha val="15000"/>
            </a:srgbClr>
          </a:solidFill>
          <a:ln/>
        </p:spPr>
      </p:sp>
      <p:sp>
        <p:nvSpPr>
          <p:cNvPr id="23" name="Text 21"/>
          <p:cNvSpPr/>
          <p:nvPr/>
        </p:nvSpPr>
        <p:spPr>
          <a:xfrm>
            <a:off x="3246120" y="3218688"/>
            <a:ext cx="2560320" cy="347472"/>
          </a:xfrm>
          <a:prstGeom prst="rect">
            <a:avLst/>
          </a:prstGeom>
          <a:noFill/>
          <a:ln/>
        </p:spPr>
        <p:txBody>
          <a:bodyPr wrap="square" rtlCol="0" anchor="ctr"/>
          <a:lstStyle/>
          <a:p>
            <a:pPr marL="0" indent="0">
              <a:buNone/>
            </a:pPr>
            <a:r>
              <a:rPr lang="en-US" sz="1000" i="1" dirty="0">
                <a:solidFill>
                  <a:srgbClr val="0A1628"/>
                </a:solidFill>
              </a:rPr>
              <a:t>Ej: BitTorrent, IPFS, Bitcoin, Chord</a:t>
            </a:r>
            <a:endParaRPr lang="en-US" sz="1000" dirty="0"/>
          </a:p>
        </p:txBody>
      </p:sp>
      <p:sp>
        <p:nvSpPr>
          <p:cNvPr id="24" name="Text 22"/>
          <p:cNvSpPr/>
          <p:nvPr/>
        </p:nvSpPr>
        <p:spPr>
          <a:xfrm>
            <a:off x="3246120" y="3639312"/>
            <a:ext cx="2560320" cy="228600"/>
          </a:xfrm>
          <a:prstGeom prst="rect">
            <a:avLst/>
          </a:prstGeom>
          <a:noFill/>
          <a:ln/>
        </p:spPr>
        <p:txBody>
          <a:bodyPr wrap="square" rtlCol="0" anchor="ctr"/>
          <a:lstStyle/>
          <a:p>
            <a:pPr marL="0" indent="0">
              <a:buNone/>
            </a:pPr>
            <a:r>
              <a:rPr lang="en-US" sz="1000" dirty="0">
                <a:solidFill>
                  <a:srgbClr val="000000"/>
                </a:solidFill>
              </a:rPr>
              <a:t>✅ </a:t>
            </a:r>
            <a:r>
              <a:rPr lang="en-US" sz="1000" dirty="0">
                <a:solidFill>
                  <a:srgbClr val="059669"/>
                </a:solidFill>
              </a:rPr>
              <a:t>Escalable y resiliente</a:t>
            </a:r>
            <a:endParaRPr lang="en-US" sz="1000" dirty="0"/>
          </a:p>
        </p:txBody>
      </p:sp>
      <p:sp>
        <p:nvSpPr>
          <p:cNvPr id="25" name="Text 23"/>
          <p:cNvSpPr/>
          <p:nvPr/>
        </p:nvSpPr>
        <p:spPr>
          <a:xfrm>
            <a:off x="3246120" y="3867912"/>
            <a:ext cx="2560320" cy="228600"/>
          </a:xfrm>
          <a:prstGeom prst="rect">
            <a:avLst/>
          </a:prstGeom>
          <a:noFill/>
          <a:ln/>
        </p:spPr>
        <p:txBody>
          <a:bodyPr wrap="square" rtlCol="0" anchor="ctr"/>
          <a:lstStyle/>
          <a:p>
            <a:pPr marL="0" indent="0">
              <a:buNone/>
            </a:pPr>
            <a:r>
              <a:rPr lang="en-US" sz="1000" dirty="0">
                <a:solidFill>
                  <a:srgbClr val="000000"/>
                </a:solidFill>
              </a:rPr>
              <a:t>⚠️ </a:t>
            </a:r>
            <a:r>
              <a:rPr lang="en-US" sz="1000" dirty="0">
                <a:solidFill>
                  <a:srgbClr val="EA580C"/>
                </a:solidFill>
              </a:rPr>
              <a:t>Difícil de asegurar y gestionar</a:t>
            </a:r>
            <a:endParaRPr lang="en-US" sz="1000" dirty="0"/>
          </a:p>
        </p:txBody>
      </p:sp>
      <p:sp>
        <p:nvSpPr>
          <p:cNvPr id="26" name="Shape 24"/>
          <p:cNvSpPr/>
          <p:nvPr/>
        </p:nvSpPr>
        <p:spPr>
          <a:xfrm>
            <a:off x="6080760" y="914400"/>
            <a:ext cx="2743200" cy="4069080"/>
          </a:xfrm>
          <a:prstGeom prst="rect">
            <a:avLst/>
          </a:prstGeom>
          <a:solidFill>
            <a:srgbClr val="F8FAFC"/>
          </a:solidFill>
          <a:ln w="12700">
            <a:solidFill>
              <a:srgbClr val="E2E8F0"/>
            </a:solidFill>
            <a:prstDash val="solid"/>
          </a:ln>
          <a:effectLst>
            <a:outerShdw blurRad="76200" dist="25400" dir="8100000" algn="bl" rotWithShape="0">
              <a:srgbClr val="000000">
                <a:alpha val="10000"/>
              </a:srgbClr>
            </a:outerShdw>
          </a:effectLst>
        </p:spPr>
      </p:sp>
      <p:sp>
        <p:nvSpPr>
          <p:cNvPr id="27" name="Shape 25"/>
          <p:cNvSpPr/>
          <p:nvPr/>
        </p:nvSpPr>
        <p:spPr>
          <a:xfrm>
            <a:off x="6080760" y="914400"/>
            <a:ext cx="2743200" cy="640080"/>
          </a:xfrm>
          <a:prstGeom prst="rect">
            <a:avLst/>
          </a:prstGeom>
          <a:solidFill>
            <a:srgbClr val="EA580C"/>
          </a:solidFill>
          <a:ln/>
        </p:spPr>
      </p:sp>
      <p:sp>
        <p:nvSpPr>
          <p:cNvPr id="28" name="Text 26"/>
          <p:cNvSpPr/>
          <p:nvPr/>
        </p:nvSpPr>
        <p:spPr>
          <a:xfrm>
            <a:off x="6172200" y="932688"/>
            <a:ext cx="2560320" cy="594360"/>
          </a:xfrm>
          <a:prstGeom prst="rect">
            <a:avLst/>
          </a:prstGeom>
          <a:noFill/>
          <a:ln/>
        </p:spPr>
        <p:txBody>
          <a:bodyPr wrap="square" rtlCol="0" anchor="ctr"/>
          <a:lstStyle/>
          <a:p>
            <a:pPr marL="0" indent="0">
              <a:buNone/>
            </a:pPr>
            <a:r>
              <a:rPr lang="en-US" sz="1600" b="1" dirty="0">
                <a:solidFill>
                  <a:srgbClr val="FFFFFF"/>
                </a:solidFill>
              </a:rPr>
              <a:t>⚡  Híbrido</a:t>
            </a:r>
            <a:endParaRPr lang="en-US" sz="1600" dirty="0"/>
          </a:p>
        </p:txBody>
      </p:sp>
      <p:sp>
        <p:nvSpPr>
          <p:cNvPr id="29" name="Text 27"/>
          <p:cNvSpPr/>
          <p:nvPr/>
        </p:nvSpPr>
        <p:spPr>
          <a:xfrm>
            <a:off x="6172200" y="1600200"/>
            <a:ext cx="2560320" cy="640080"/>
          </a:xfrm>
          <a:prstGeom prst="rect">
            <a:avLst/>
          </a:prstGeom>
          <a:noFill/>
          <a:ln/>
        </p:spPr>
        <p:txBody>
          <a:bodyPr wrap="square" rtlCol="0" anchor="ctr"/>
          <a:lstStyle/>
          <a:p>
            <a:pPr marL="0" indent="0">
              <a:buNone/>
            </a:pPr>
            <a:r>
              <a:rPr lang="en-US" sz="1050" i="1" dirty="0">
                <a:solidFill>
                  <a:srgbClr val="0A1628"/>
                </a:solidFill>
              </a:rPr>
              <a:t>Combina servidor central (descubrimiento/control) con P2P (transferencia de datos).</a:t>
            </a:r>
            <a:endParaRPr lang="en-US" sz="1050" dirty="0"/>
          </a:p>
        </p:txBody>
      </p:sp>
      <p:sp>
        <p:nvSpPr>
          <p:cNvPr id="30" name="Text 28"/>
          <p:cNvSpPr/>
          <p:nvPr/>
        </p:nvSpPr>
        <p:spPr>
          <a:xfrm>
            <a:off x="6172200" y="2286000"/>
            <a:ext cx="2560320" cy="274320"/>
          </a:xfrm>
          <a:prstGeom prst="rect">
            <a:avLst/>
          </a:prstGeom>
          <a:noFill/>
          <a:ln/>
        </p:spPr>
        <p:txBody>
          <a:bodyPr wrap="square" rtlCol="0" anchor="ctr"/>
          <a:lstStyle/>
          <a:p>
            <a:pPr marL="0" indent="0">
              <a:buNone/>
            </a:pPr>
            <a:r>
              <a:rPr lang="en-US" sz="1050" b="1" dirty="0">
                <a:solidFill>
                  <a:srgbClr val="EA580C"/>
                </a:solidFill>
              </a:rPr>
              <a:t>▸ </a:t>
            </a:r>
            <a:r>
              <a:rPr lang="en-US" sz="1050" dirty="0">
                <a:solidFill>
                  <a:srgbClr val="0A1628"/>
                </a:solidFill>
              </a:rPr>
              <a:t>Servidor para índice/coordinación</a:t>
            </a:r>
            <a:endParaRPr lang="en-US" sz="1050" dirty="0"/>
          </a:p>
        </p:txBody>
      </p:sp>
      <p:sp>
        <p:nvSpPr>
          <p:cNvPr id="31" name="Text 29"/>
          <p:cNvSpPr/>
          <p:nvPr/>
        </p:nvSpPr>
        <p:spPr>
          <a:xfrm>
            <a:off x="6172200" y="2578608"/>
            <a:ext cx="2560320" cy="274320"/>
          </a:xfrm>
          <a:prstGeom prst="rect">
            <a:avLst/>
          </a:prstGeom>
          <a:noFill/>
          <a:ln/>
        </p:spPr>
        <p:txBody>
          <a:bodyPr wrap="square" rtlCol="0" anchor="ctr"/>
          <a:lstStyle/>
          <a:p>
            <a:pPr marL="0" indent="0">
              <a:buNone/>
            </a:pPr>
            <a:r>
              <a:rPr lang="en-US" sz="1050" b="1" dirty="0">
                <a:solidFill>
                  <a:srgbClr val="EA580C"/>
                </a:solidFill>
              </a:rPr>
              <a:t>▸ </a:t>
            </a:r>
            <a:r>
              <a:rPr lang="en-US" sz="1050" dirty="0">
                <a:solidFill>
                  <a:srgbClr val="0A1628"/>
                </a:solidFill>
              </a:rPr>
              <a:t>P2P para carga de trabajo</a:t>
            </a:r>
            <a:endParaRPr lang="en-US" sz="1050" dirty="0"/>
          </a:p>
        </p:txBody>
      </p:sp>
      <p:sp>
        <p:nvSpPr>
          <p:cNvPr id="32" name="Text 30"/>
          <p:cNvSpPr/>
          <p:nvPr/>
        </p:nvSpPr>
        <p:spPr>
          <a:xfrm>
            <a:off x="6172200" y="2871216"/>
            <a:ext cx="2560320" cy="274320"/>
          </a:xfrm>
          <a:prstGeom prst="rect">
            <a:avLst/>
          </a:prstGeom>
          <a:noFill/>
          <a:ln/>
        </p:spPr>
        <p:txBody>
          <a:bodyPr wrap="square" rtlCol="0" anchor="ctr"/>
          <a:lstStyle/>
          <a:p>
            <a:pPr marL="0" indent="0">
              <a:buNone/>
            </a:pPr>
            <a:r>
              <a:rPr lang="en-US" sz="1050" b="1" dirty="0">
                <a:solidFill>
                  <a:srgbClr val="EA580C"/>
                </a:solidFill>
              </a:rPr>
              <a:t>▸ </a:t>
            </a:r>
            <a:r>
              <a:rPr lang="en-US" sz="1050" dirty="0">
                <a:solidFill>
                  <a:srgbClr val="0A1628"/>
                </a:solidFill>
              </a:rPr>
              <a:t>Balance óptimo</a:t>
            </a:r>
            <a:endParaRPr lang="en-US" sz="1050" dirty="0"/>
          </a:p>
        </p:txBody>
      </p:sp>
      <p:sp>
        <p:nvSpPr>
          <p:cNvPr id="33" name="Shape 31"/>
          <p:cNvSpPr/>
          <p:nvPr/>
        </p:nvSpPr>
        <p:spPr>
          <a:xfrm>
            <a:off x="6126480" y="3200400"/>
            <a:ext cx="2651760" cy="384048"/>
          </a:xfrm>
          <a:prstGeom prst="rect">
            <a:avLst/>
          </a:prstGeom>
          <a:solidFill>
            <a:srgbClr val="EA580C">
              <a:alpha val="15000"/>
            </a:srgbClr>
          </a:solidFill>
          <a:ln/>
        </p:spPr>
      </p:sp>
      <p:sp>
        <p:nvSpPr>
          <p:cNvPr id="34" name="Text 32"/>
          <p:cNvSpPr/>
          <p:nvPr/>
        </p:nvSpPr>
        <p:spPr>
          <a:xfrm>
            <a:off x="6172200" y="3218688"/>
            <a:ext cx="2560320" cy="347472"/>
          </a:xfrm>
          <a:prstGeom prst="rect">
            <a:avLst/>
          </a:prstGeom>
          <a:noFill/>
          <a:ln/>
        </p:spPr>
        <p:txBody>
          <a:bodyPr wrap="square" rtlCol="0" anchor="ctr"/>
          <a:lstStyle/>
          <a:p>
            <a:pPr marL="0" indent="0">
              <a:buNone/>
            </a:pPr>
            <a:r>
              <a:rPr lang="en-US" sz="1000" i="1" dirty="0">
                <a:solidFill>
                  <a:srgbClr val="0A1628"/>
                </a:solidFill>
              </a:rPr>
              <a:t>Ej: Skype original, CDN, Napster</a:t>
            </a:r>
            <a:endParaRPr lang="en-US" sz="1000" dirty="0"/>
          </a:p>
        </p:txBody>
      </p:sp>
      <p:sp>
        <p:nvSpPr>
          <p:cNvPr id="35" name="Text 33"/>
          <p:cNvSpPr/>
          <p:nvPr/>
        </p:nvSpPr>
        <p:spPr>
          <a:xfrm>
            <a:off x="6172200" y="3639312"/>
            <a:ext cx="2560320" cy="228600"/>
          </a:xfrm>
          <a:prstGeom prst="rect">
            <a:avLst/>
          </a:prstGeom>
          <a:noFill/>
          <a:ln/>
        </p:spPr>
        <p:txBody>
          <a:bodyPr wrap="square" rtlCol="0" anchor="ctr"/>
          <a:lstStyle/>
          <a:p>
            <a:pPr marL="0" indent="0">
              <a:buNone/>
            </a:pPr>
            <a:r>
              <a:rPr lang="en-US" sz="1000" dirty="0">
                <a:solidFill>
                  <a:srgbClr val="000000"/>
                </a:solidFill>
              </a:rPr>
              <a:t>✅ </a:t>
            </a:r>
            <a:r>
              <a:rPr lang="en-US" sz="1000" dirty="0">
                <a:solidFill>
                  <a:srgbClr val="059669"/>
                </a:solidFill>
              </a:rPr>
              <a:t>Mejor de ambos mundos</a:t>
            </a:r>
            <a:endParaRPr lang="en-US" sz="1000" dirty="0"/>
          </a:p>
        </p:txBody>
      </p:sp>
      <p:sp>
        <p:nvSpPr>
          <p:cNvPr id="36" name="Text 34"/>
          <p:cNvSpPr/>
          <p:nvPr/>
        </p:nvSpPr>
        <p:spPr>
          <a:xfrm>
            <a:off x="6172200" y="3867912"/>
            <a:ext cx="2560320" cy="228600"/>
          </a:xfrm>
          <a:prstGeom prst="rect">
            <a:avLst/>
          </a:prstGeom>
          <a:noFill/>
          <a:ln/>
        </p:spPr>
        <p:txBody>
          <a:bodyPr wrap="square" rtlCol="0" anchor="ctr"/>
          <a:lstStyle/>
          <a:p>
            <a:pPr marL="0" indent="0">
              <a:buNone/>
            </a:pPr>
            <a:r>
              <a:rPr lang="en-US" sz="1000" dirty="0">
                <a:solidFill>
                  <a:srgbClr val="000000"/>
                </a:solidFill>
              </a:rPr>
              <a:t>⚠️ </a:t>
            </a:r>
            <a:r>
              <a:rPr lang="en-US" sz="1000" dirty="0">
                <a:solidFill>
                  <a:srgbClr val="EA580C"/>
                </a:solidFill>
              </a:rPr>
              <a:t>Diseño más complejo</a:t>
            </a:r>
            <a:endParaRPr lang="en-US" sz="1000" dirty="0"/>
          </a:p>
        </p:txBody>
      </p:sp>
      <p:sp>
        <p:nvSpPr>
          <p:cNvPr id="37" name="Text 35"/>
          <p:cNvSpPr/>
          <p:nvPr/>
        </p:nvSpPr>
        <p:spPr>
          <a:xfrm>
            <a:off x="274320" y="4846320"/>
            <a:ext cx="6400800" cy="228600"/>
          </a:xfrm>
          <a:prstGeom prst="rect">
            <a:avLst/>
          </a:prstGeom>
          <a:noFill/>
          <a:ln/>
        </p:spPr>
        <p:txBody>
          <a:bodyPr wrap="square" rtlCol="0" anchor="ctr"/>
          <a:lstStyle/>
          <a:p>
            <a:pPr marL="0" indent="0">
              <a:buNone/>
            </a:pPr>
            <a:r>
              <a:rPr lang="en-US" sz="1000" i="1" dirty="0">
                <a:solidFill>
                  <a:srgbClr val="94A3B8"/>
                </a:solidFill>
              </a:rPr>
              <a:t>UTEQ · Aplicaciones Distribuidas</a:t>
            </a:r>
            <a:endParaRPr lang="en-US" sz="1000" dirty="0"/>
          </a:p>
        </p:txBody>
      </p:sp>
      <p:sp>
        <p:nvSpPr>
          <p:cNvPr id="38" name="Text 36"/>
          <p:cNvSpPr/>
          <p:nvPr/>
        </p:nvSpPr>
        <p:spPr>
          <a:xfrm>
            <a:off x="6858000" y="4846320"/>
            <a:ext cx="2286000" cy="228600"/>
          </a:xfrm>
          <a:prstGeom prst="rect">
            <a:avLst/>
          </a:prstGeom>
          <a:noFill/>
          <a:ln/>
        </p:spPr>
        <p:txBody>
          <a:bodyPr wrap="square" rtlCol="0" anchor="ctr"/>
          <a:lstStyle/>
          <a:p>
            <a:pPr marL="0" indent="0" algn="r">
              <a:buNone/>
            </a:pPr>
            <a:r>
              <a:rPr lang="en-US" sz="1000" dirty="0">
                <a:solidFill>
                  <a:srgbClr val="94A3B8"/>
                </a:solidFill>
              </a:rPr>
              <a:t>Semana 3 | 18–24 May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p:spPr>
      </p:sp>
      <p:sp>
        <p:nvSpPr>
          <p:cNvPr id="3" name="Text 1"/>
          <p:cNvSpPr/>
          <p:nvPr/>
        </p:nvSpPr>
        <p:spPr>
          <a:xfrm>
            <a:off x="365760" y="45720"/>
            <a:ext cx="8412480" cy="731520"/>
          </a:xfrm>
          <a:prstGeom prst="rect">
            <a:avLst/>
          </a:prstGeom>
          <a:noFill/>
          <a:ln/>
        </p:spPr>
        <p:txBody>
          <a:bodyPr wrap="square" rtlCol="0" anchor="ctr"/>
          <a:lstStyle/>
          <a:p>
            <a:pPr marL="0" indent="0">
              <a:buNone/>
            </a:pPr>
            <a:r>
              <a:rPr lang="en-US" sz="2800" b="1" dirty="0">
                <a:solidFill>
                  <a:srgbClr val="FFFFFF"/>
                </a:solidFill>
              </a:rPr>
              <a:t>02 · Comunicación entre Procesos — Sockets TCP/UDP</a:t>
            </a:r>
            <a:endParaRPr lang="en-US" sz="2800" dirty="0"/>
          </a:p>
        </p:txBody>
      </p:sp>
      <p:sp>
        <p:nvSpPr>
          <p:cNvPr id="4" name="Text 2"/>
          <p:cNvSpPr/>
          <p:nvPr/>
        </p:nvSpPr>
        <p:spPr>
          <a:xfrm>
            <a:off x="365760" y="914400"/>
            <a:ext cx="8412480" cy="274320"/>
          </a:xfrm>
          <a:prstGeom prst="rect">
            <a:avLst/>
          </a:prstGeom>
          <a:noFill/>
          <a:ln/>
        </p:spPr>
        <p:txBody>
          <a:bodyPr wrap="square" rtlCol="0" anchor="ctr"/>
          <a:lstStyle/>
          <a:p>
            <a:pPr marL="0" indent="0">
              <a:buNone/>
            </a:pPr>
            <a:r>
              <a:rPr lang="en-US" sz="1400" i="1" dirty="0">
                <a:solidFill>
                  <a:srgbClr val="64748B"/>
                </a:solidFill>
              </a:rPr>
              <a:t>Capa de abstracción más baja: comunicación directa por red</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2194560"/>
        </p:xfrm>
        <a:graphic>
          <a:graphicData uri="http://schemas.openxmlformats.org/drawingml/2006/table">
            <a:tbl>
              <a:tblPr/>
              <a:tblGrid>
                <a:gridCol w="210312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tblGrid>
              <a:tr h="365760">
                <a:tc>
                  <a:txBody>
                    <a:bodyPr/>
                    <a:lstStyle/>
                    <a:p>
                      <a:pPr marL="0" indent="0" algn="ctr">
                        <a:buNone/>
                      </a:pPr>
                      <a:r>
                        <a:rPr lang="en-US" sz="1000" b="1" dirty="0">
                          <a:solidFill>
                            <a:srgbClr val="FFFFFF"/>
                          </a:solidFill>
                        </a:rPr>
                        <a:t>Característica</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4D92"/>
                    </a:solidFill>
                  </a:tcPr>
                </a:tc>
                <a:tc>
                  <a:txBody>
                    <a:bodyPr/>
                    <a:lstStyle/>
                    <a:p>
                      <a:pPr marL="0" indent="0" algn="ctr">
                        <a:buNone/>
                      </a:pPr>
                      <a:r>
                        <a:rPr lang="en-US" sz="1000" b="1" dirty="0">
                          <a:solidFill>
                            <a:srgbClr val="FFFFFF"/>
                          </a:solidFill>
                        </a:rPr>
                        <a:t>TCP (SOCK_STREAM)</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4D92"/>
                    </a:solidFill>
                  </a:tcPr>
                </a:tc>
                <a:tc>
                  <a:txBody>
                    <a:bodyPr/>
                    <a:lstStyle/>
                    <a:p>
                      <a:pPr marL="0" indent="0" algn="ctr">
                        <a:buNone/>
                      </a:pPr>
                      <a:r>
                        <a:rPr lang="en-US" sz="1000" b="1" dirty="0">
                          <a:solidFill>
                            <a:srgbClr val="FFFFFF"/>
                          </a:solidFill>
                        </a:rPr>
                        <a:t>UDP (SOCK_DGRAM)</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4D92"/>
                    </a:solidFill>
                  </a:tcPr>
                </a:tc>
                <a:extLst>
                  <a:ext uri="{0D108BD9-81ED-4DB2-BD59-A6C34878D82A}">
                    <a16:rowId xmlns:a16="http://schemas.microsoft.com/office/drawing/2014/main" val="10000"/>
                  </a:ext>
                </a:extLst>
              </a:tr>
              <a:tr h="365760">
                <a:tc>
                  <a:txBody>
                    <a:bodyPr/>
                    <a:lstStyle/>
                    <a:p>
                      <a:pPr marL="0" indent="0" algn="ctr">
                        <a:buNone/>
                      </a:pPr>
                      <a:r>
                        <a:rPr lang="en-US" sz="1000" dirty="0">
                          <a:solidFill>
                            <a:srgbClr val="000000"/>
                          </a:solidFill>
                        </a:rPr>
                        <a:t>Orientado a conexión</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00000"/>
                          </a:solidFill>
                        </a:rPr>
                        <a:t>✅ Sí (handshake 3-way)</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00000"/>
                          </a:solidFill>
                        </a:rPr>
                        <a:t>❌ No (sin conexión)</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000" dirty="0">
                          <a:solidFill>
                            <a:srgbClr val="000000"/>
                          </a:solidFill>
                        </a:rPr>
                        <a:t>Fiabilidad</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00000"/>
                          </a:solidFill>
                        </a:rPr>
                        <a:t>✅ Garantizada</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00000"/>
                          </a:solidFill>
                        </a:rPr>
                        <a:t>❌ Best-effort</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000" dirty="0">
                          <a:solidFill>
                            <a:srgbClr val="000000"/>
                          </a:solidFill>
                        </a:rPr>
                        <a:t>Orden de entrega</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00000"/>
                          </a:solidFill>
                        </a:rPr>
                        <a:t>✅ Garantizado</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00000"/>
                          </a:solidFill>
                        </a:rPr>
                        <a:t>❌ No garantizado</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000" dirty="0">
                          <a:solidFill>
                            <a:srgbClr val="000000"/>
                          </a:solidFill>
                        </a:rPr>
                        <a:t>Velocidad</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00000"/>
                          </a:solidFill>
                        </a:rPr>
                        <a:t>⚠️ Más lento (overhead)</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00000"/>
                          </a:solidFill>
                        </a:rPr>
                        <a:t>✅ Más rápido</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000" dirty="0">
                          <a:solidFill>
                            <a:srgbClr val="000000"/>
                          </a:solidFill>
                        </a:rPr>
                        <a:t>Uso típico en SD</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00000"/>
                          </a:solidFill>
                        </a:rPr>
                        <a:t>Chat, transferencia archivos, APIs</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000000"/>
                          </a:solidFill>
                        </a:rPr>
                        <a:t>Streaming, DNS, juegos online</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365760" y="3317358"/>
            <a:ext cx="4069080" cy="1711842"/>
          </a:xfrm>
          <a:prstGeom prst="rect">
            <a:avLst/>
          </a:prstGeom>
          <a:solidFill>
            <a:srgbClr val="1E293B"/>
          </a:solidFill>
          <a:ln/>
        </p:spPr>
      </p:sp>
      <p:sp>
        <p:nvSpPr>
          <p:cNvPr id="7" name="Text 4"/>
          <p:cNvSpPr/>
          <p:nvPr/>
        </p:nvSpPr>
        <p:spPr>
          <a:xfrm>
            <a:off x="365760" y="3321976"/>
            <a:ext cx="4069080" cy="274320"/>
          </a:xfrm>
          <a:prstGeom prst="rect">
            <a:avLst/>
          </a:prstGeom>
          <a:noFill/>
          <a:ln/>
        </p:spPr>
        <p:txBody>
          <a:bodyPr wrap="square" rtlCol="0" anchor="ctr"/>
          <a:lstStyle/>
          <a:p>
            <a:pPr marL="0" indent="0">
              <a:buNone/>
            </a:pPr>
            <a:r>
              <a:rPr lang="en-US" sz="1050" b="1" dirty="0">
                <a:solidFill>
                  <a:srgbClr val="00B4D8"/>
                </a:solidFill>
              </a:rPr>
              <a:t>Servidor TCP — Python</a:t>
            </a:r>
            <a:endParaRPr lang="en-US" sz="1050" dirty="0"/>
          </a:p>
        </p:txBody>
      </p:sp>
      <p:sp>
        <p:nvSpPr>
          <p:cNvPr id="8" name="Text 5"/>
          <p:cNvSpPr/>
          <p:nvPr/>
        </p:nvSpPr>
        <p:spPr>
          <a:xfrm>
            <a:off x="457200" y="3596296"/>
            <a:ext cx="3840480" cy="1188720"/>
          </a:xfrm>
          <a:prstGeom prst="rect">
            <a:avLst/>
          </a:prstGeom>
          <a:noFill/>
          <a:ln/>
        </p:spPr>
        <p:txBody>
          <a:bodyPr wrap="square" rtlCol="0" anchor="ctr"/>
          <a:lstStyle/>
          <a:p>
            <a:pPr marL="0" indent="0">
              <a:buNone/>
            </a:pPr>
            <a:r>
              <a:rPr lang="en-US" sz="1000" dirty="0">
                <a:solidFill>
                  <a:srgbClr val="A5F3FC"/>
                </a:solidFill>
                <a:latin typeface="Courier New" pitchFamily="34" charset="0"/>
                <a:ea typeface="Courier New" pitchFamily="34" charset="-122"/>
                <a:cs typeface="Courier New" pitchFamily="34" charset="-120"/>
              </a:rPr>
              <a:t>import socket</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server = socket.socket(socket.AF_INET,</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                       socket.SOCK_STREAM)</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server.bind(('0.0.0.0', 5000))</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server.listen(5)</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conn, addr = server.accept()</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data = conn.recv(1024)</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conn.send(b"ACK: " + data)</a:t>
            </a:r>
            <a:endParaRPr lang="en-US" sz="1000" dirty="0"/>
          </a:p>
        </p:txBody>
      </p:sp>
      <p:sp>
        <p:nvSpPr>
          <p:cNvPr id="9" name="Shape 6"/>
          <p:cNvSpPr/>
          <p:nvPr/>
        </p:nvSpPr>
        <p:spPr>
          <a:xfrm>
            <a:off x="4709160" y="3317358"/>
            <a:ext cx="4069080" cy="1711842"/>
          </a:xfrm>
          <a:prstGeom prst="rect">
            <a:avLst/>
          </a:prstGeom>
          <a:solidFill>
            <a:srgbClr val="1E293B"/>
          </a:solidFill>
          <a:ln/>
        </p:spPr>
      </p:sp>
      <p:sp>
        <p:nvSpPr>
          <p:cNvPr id="10" name="Text 7"/>
          <p:cNvSpPr/>
          <p:nvPr/>
        </p:nvSpPr>
        <p:spPr>
          <a:xfrm>
            <a:off x="4709160" y="3321976"/>
            <a:ext cx="4069080" cy="274320"/>
          </a:xfrm>
          <a:prstGeom prst="rect">
            <a:avLst/>
          </a:prstGeom>
          <a:noFill/>
          <a:ln/>
        </p:spPr>
        <p:txBody>
          <a:bodyPr wrap="square" rtlCol="0" anchor="ctr"/>
          <a:lstStyle/>
          <a:p>
            <a:pPr marL="0" indent="0">
              <a:buNone/>
            </a:pPr>
            <a:r>
              <a:rPr lang="en-US" sz="1050" b="1" dirty="0">
                <a:solidFill>
                  <a:srgbClr val="00B4D8"/>
                </a:solidFill>
              </a:rPr>
              <a:t>Cliente TCP — Python (con Lamport)</a:t>
            </a:r>
            <a:endParaRPr lang="en-US" sz="1050" dirty="0"/>
          </a:p>
        </p:txBody>
      </p:sp>
      <p:sp>
        <p:nvSpPr>
          <p:cNvPr id="11" name="Text 8"/>
          <p:cNvSpPr/>
          <p:nvPr/>
        </p:nvSpPr>
        <p:spPr>
          <a:xfrm>
            <a:off x="4800600" y="3544186"/>
            <a:ext cx="3840480" cy="1469430"/>
          </a:xfrm>
          <a:prstGeom prst="rect">
            <a:avLst/>
          </a:prstGeom>
          <a:noFill/>
          <a:ln/>
        </p:spPr>
        <p:txBody>
          <a:bodyPr wrap="square" rtlCol="0" anchor="ctr"/>
          <a:lstStyle/>
          <a:p>
            <a:pPr marL="0" indent="0">
              <a:buNone/>
            </a:pPr>
            <a:r>
              <a:rPr lang="en-US" sz="1000" dirty="0">
                <a:solidFill>
                  <a:srgbClr val="A5F3FC"/>
                </a:solidFill>
                <a:latin typeface="Courier New" pitchFamily="34" charset="0"/>
                <a:ea typeface="Courier New" pitchFamily="34" charset="-122"/>
                <a:cs typeface="Courier New" pitchFamily="34" charset="-120"/>
              </a:rPr>
              <a:t>import socket, json, time</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clock = 0  # Reloj de Lamport</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def send(host, port, msg):</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    global clock</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    clock += 1   # Regla 1</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    payload = </a:t>
            </a:r>
            <a:r>
              <a:rPr lang="en-US" sz="1000" dirty="0" err="1">
                <a:solidFill>
                  <a:srgbClr val="A5F3FC"/>
                </a:solidFill>
                <a:latin typeface="Courier New" pitchFamily="34" charset="0"/>
                <a:ea typeface="Courier New" pitchFamily="34" charset="-122"/>
                <a:cs typeface="Courier New" pitchFamily="34" charset="-120"/>
              </a:rPr>
              <a:t>json.dumps</a:t>
            </a:r>
            <a:r>
              <a:rPr lang="en-US" sz="1000" dirty="0">
                <a:solidFill>
                  <a:srgbClr val="A5F3FC"/>
                </a:solidFill>
                <a:latin typeface="Courier New" pitchFamily="34" charset="0"/>
                <a:ea typeface="Courier New" pitchFamily="34" charset="-122"/>
                <a:cs typeface="Courier New" pitchFamily="34" charset="-120"/>
              </a:rPr>
              <a:t>(</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      {"</a:t>
            </a:r>
            <a:r>
              <a:rPr lang="en-US" sz="1000" dirty="0" err="1">
                <a:solidFill>
                  <a:srgbClr val="A5F3FC"/>
                </a:solidFill>
                <a:latin typeface="Courier New" pitchFamily="34" charset="0"/>
                <a:ea typeface="Courier New" pitchFamily="34" charset="-122"/>
                <a:cs typeface="Courier New" pitchFamily="34" charset="-120"/>
              </a:rPr>
              <a:t>ts</a:t>
            </a:r>
            <a:r>
              <a:rPr lang="en-US" sz="1000" dirty="0">
                <a:solidFill>
                  <a:srgbClr val="A5F3FC"/>
                </a:solidFill>
                <a:latin typeface="Courier New" pitchFamily="34" charset="0"/>
                <a:ea typeface="Courier New" pitchFamily="34" charset="-122"/>
                <a:cs typeface="Courier New" pitchFamily="34" charset="-120"/>
              </a:rPr>
              <a:t>": clock, "msg": msg})</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    s = socket.create_connection(</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          (host, port))</a:t>
            </a:r>
            <a:endParaRPr lang="en-US" sz="1000" dirty="0"/>
          </a:p>
          <a:p>
            <a:pPr marL="0" indent="0">
              <a:buNone/>
            </a:pPr>
            <a:r>
              <a:rPr lang="en-US" sz="1000" dirty="0">
                <a:solidFill>
                  <a:srgbClr val="A5F3FC"/>
                </a:solidFill>
                <a:latin typeface="Courier New" pitchFamily="34" charset="0"/>
                <a:ea typeface="Courier New" pitchFamily="34" charset="-122"/>
                <a:cs typeface="Courier New" pitchFamily="34" charset="-120"/>
              </a:rPr>
              <a:t>    s.sendall(payload.encode())</a:t>
            </a:r>
            <a:endParaRPr lang="en-US" sz="1000" dirty="0"/>
          </a:p>
        </p:txBody>
      </p:sp>
      <p:sp>
        <p:nvSpPr>
          <p:cNvPr id="12" name="Text 9"/>
          <p:cNvSpPr/>
          <p:nvPr/>
        </p:nvSpPr>
        <p:spPr>
          <a:xfrm>
            <a:off x="274320" y="4910112"/>
            <a:ext cx="6400800" cy="228600"/>
          </a:xfrm>
          <a:prstGeom prst="rect">
            <a:avLst/>
          </a:prstGeom>
          <a:noFill/>
          <a:ln/>
        </p:spPr>
        <p:txBody>
          <a:bodyPr wrap="square" rtlCol="0" anchor="ctr"/>
          <a:lstStyle/>
          <a:p>
            <a:pPr marL="0" indent="0">
              <a:buNone/>
            </a:pPr>
            <a:r>
              <a:rPr lang="en-US" sz="1100" b="1" i="1" dirty="0">
                <a:solidFill>
                  <a:srgbClr val="94A3B8"/>
                </a:solidFill>
              </a:rPr>
              <a:t>UTEQ · Aplicaciones Distribuidas</a:t>
            </a:r>
            <a:endParaRPr lang="en-US" sz="1100" b="1" dirty="0"/>
          </a:p>
        </p:txBody>
      </p:sp>
      <p:sp>
        <p:nvSpPr>
          <p:cNvPr id="13" name="Text 10"/>
          <p:cNvSpPr/>
          <p:nvPr/>
        </p:nvSpPr>
        <p:spPr>
          <a:xfrm>
            <a:off x="6858000" y="4910112"/>
            <a:ext cx="2286000" cy="228600"/>
          </a:xfrm>
          <a:prstGeom prst="rect">
            <a:avLst/>
          </a:prstGeom>
          <a:noFill/>
          <a:ln/>
        </p:spPr>
        <p:txBody>
          <a:bodyPr wrap="square" rtlCol="0" anchor="ctr"/>
          <a:lstStyle/>
          <a:p>
            <a:pPr marL="0" indent="0" algn="r">
              <a:buNone/>
            </a:pPr>
            <a:r>
              <a:rPr lang="en-US" sz="1100" b="1" dirty="0">
                <a:solidFill>
                  <a:srgbClr val="94A3B8"/>
                </a:solidFill>
              </a:rPr>
              <a:t>Semana 3 | 18–24 May 2026</a:t>
            </a:r>
            <a:endParaRPr lang="en-US" sz="11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p:spPr>
      </p:sp>
      <p:sp>
        <p:nvSpPr>
          <p:cNvPr id="3" name="Text 1"/>
          <p:cNvSpPr/>
          <p:nvPr/>
        </p:nvSpPr>
        <p:spPr>
          <a:xfrm>
            <a:off x="365760" y="45720"/>
            <a:ext cx="8412480" cy="731520"/>
          </a:xfrm>
          <a:prstGeom prst="rect">
            <a:avLst/>
          </a:prstGeom>
          <a:noFill/>
          <a:ln/>
        </p:spPr>
        <p:txBody>
          <a:bodyPr wrap="square" rtlCol="0" anchor="ctr"/>
          <a:lstStyle/>
          <a:p>
            <a:pPr marL="0" indent="0">
              <a:buNone/>
            </a:pPr>
            <a:r>
              <a:rPr lang="en-US" sz="2200" b="1" dirty="0">
                <a:solidFill>
                  <a:srgbClr val="FFFFFF"/>
                </a:solidFill>
              </a:rPr>
              <a:t>02 · Comunicación — RPC y gRPC</a:t>
            </a:r>
            <a:endParaRPr lang="en-US" sz="2200" dirty="0"/>
          </a:p>
        </p:txBody>
      </p:sp>
      <p:sp>
        <p:nvSpPr>
          <p:cNvPr id="4" name="Shape 2"/>
          <p:cNvSpPr/>
          <p:nvPr/>
        </p:nvSpPr>
        <p:spPr>
          <a:xfrm>
            <a:off x="274320" y="868680"/>
            <a:ext cx="4114800" cy="1828800"/>
          </a:xfrm>
          <a:prstGeom prst="rect">
            <a:avLst/>
          </a:prstGeom>
          <a:solidFill>
            <a:srgbClr val="F0F9FF"/>
          </a:solidFill>
          <a:ln w="12700">
            <a:solidFill>
              <a:srgbClr val="00B4D8"/>
            </a:solidFill>
            <a:prstDash val="solid"/>
          </a:ln>
        </p:spPr>
      </p:sp>
      <p:sp>
        <p:nvSpPr>
          <p:cNvPr id="5" name="Text 3"/>
          <p:cNvSpPr/>
          <p:nvPr/>
        </p:nvSpPr>
        <p:spPr>
          <a:xfrm>
            <a:off x="365760" y="886968"/>
            <a:ext cx="3931920" cy="347472"/>
          </a:xfrm>
          <a:prstGeom prst="rect">
            <a:avLst/>
          </a:prstGeom>
          <a:noFill/>
          <a:ln/>
        </p:spPr>
        <p:txBody>
          <a:bodyPr wrap="square" rtlCol="0" anchor="ctr"/>
          <a:lstStyle/>
          <a:p>
            <a:pPr marL="0" indent="0">
              <a:buNone/>
            </a:pPr>
            <a:r>
              <a:rPr lang="en-US" sz="1200" b="1" dirty="0">
                <a:solidFill>
                  <a:srgbClr val="0E4D92"/>
                </a:solidFill>
              </a:rPr>
              <a:t>RPC — Remote Procedure Call</a:t>
            </a:r>
            <a:endParaRPr lang="en-US" sz="1200" dirty="0"/>
          </a:p>
        </p:txBody>
      </p:sp>
      <p:sp>
        <p:nvSpPr>
          <p:cNvPr id="6" name="Text 4"/>
          <p:cNvSpPr/>
          <p:nvPr/>
        </p:nvSpPr>
        <p:spPr>
          <a:xfrm>
            <a:off x="365760" y="1261872"/>
            <a:ext cx="3931920" cy="1371600"/>
          </a:xfrm>
          <a:prstGeom prst="rect">
            <a:avLst/>
          </a:prstGeom>
          <a:noFill/>
          <a:ln/>
        </p:spPr>
        <p:txBody>
          <a:bodyPr wrap="square" rtlCol="0" anchor="ctr"/>
          <a:lstStyle/>
          <a:p>
            <a:pPr marL="0" indent="0">
              <a:buNone/>
            </a:pPr>
            <a:r>
              <a:rPr lang="en-US" sz="1050" dirty="0">
                <a:solidFill>
                  <a:srgbClr val="0A1628"/>
                </a:solidFill>
              </a:rPr>
              <a:t>Permite a un proceso ejecutar una función</a:t>
            </a:r>
            <a:endParaRPr lang="en-US" sz="1050" dirty="0"/>
          </a:p>
          <a:p>
            <a:pPr marL="0" indent="0">
              <a:buNone/>
            </a:pPr>
            <a:r>
              <a:rPr lang="en-US" sz="1050" dirty="0">
                <a:solidFill>
                  <a:srgbClr val="0A1628"/>
                </a:solidFill>
              </a:rPr>
              <a:t>en OTRO proceso (remoto) como si fuera LOCAL.</a:t>
            </a:r>
            <a:endParaRPr lang="en-US" sz="1050" dirty="0"/>
          </a:p>
          <a:p>
            <a:pPr marL="0" indent="0">
              <a:buNone/>
            </a:pPr>
            <a:r>
              <a:rPr lang="en-US" sz="1050" dirty="0">
                <a:solidFill>
                  <a:srgbClr val="0A1628"/>
                </a:solidFill>
              </a:rPr>
              <a:t>El programador no maneja sockets: el stub</a:t>
            </a:r>
            <a:endParaRPr lang="en-US" sz="1050" dirty="0"/>
          </a:p>
          <a:p>
            <a:pPr marL="0" indent="0">
              <a:buNone/>
            </a:pPr>
            <a:r>
              <a:rPr lang="en-US" sz="1050" dirty="0">
                <a:solidFill>
                  <a:srgbClr val="0A1628"/>
                </a:solidFill>
              </a:rPr>
              <a:t>lo hace automáticamente.</a:t>
            </a:r>
            <a:endParaRPr lang="en-US" sz="1050" dirty="0"/>
          </a:p>
        </p:txBody>
      </p:sp>
      <p:sp>
        <p:nvSpPr>
          <p:cNvPr id="7" name="Shape 5"/>
          <p:cNvSpPr/>
          <p:nvPr/>
        </p:nvSpPr>
        <p:spPr>
          <a:xfrm>
            <a:off x="4754880" y="868680"/>
            <a:ext cx="4114800" cy="1828800"/>
          </a:xfrm>
          <a:prstGeom prst="rect">
            <a:avLst/>
          </a:prstGeom>
          <a:solidFill>
            <a:srgbClr val="F0FFF4"/>
          </a:solidFill>
          <a:ln w="12700">
            <a:solidFill>
              <a:srgbClr val="059669"/>
            </a:solidFill>
            <a:prstDash val="solid"/>
          </a:ln>
        </p:spPr>
      </p:sp>
      <p:sp>
        <p:nvSpPr>
          <p:cNvPr id="8" name="Text 6"/>
          <p:cNvSpPr/>
          <p:nvPr/>
        </p:nvSpPr>
        <p:spPr>
          <a:xfrm>
            <a:off x="4846320" y="886968"/>
            <a:ext cx="3931920" cy="347472"/>
          </a:xfrm>
          <a:prstGeom prst="rect">
            <a:avLst/>
          </a:prstGeom>
          <a:noFill/>
          <a:ln/>
        </p:spPr>
        <p:txBody>
          <a:bodyPr wrap="square" rtlCol="0" anchor="ctr"/>
          <a:lstStyle/>
          <a:p>
            <a:pPr marL="0" indent="0">
              <a:buNone/>
            </a:pPr>
            <a:r>
              <a:rPr lang="en-US" sz="1200" b="1" dirty="0">
                <a:solidFill>
                  <a:srgbClr val="059669"/>
                </a:solidFill>
              </a:rPr>
              <a:t>gRPC — Google RPC (2015)</a:t>
            </a:r>
            <a:endParaRPr lang="en-US" sz="1200" dirty="0"/>
          </a:p>
        </p:txBody>
      </p:sp>
      <p:sp>
        <p:nvSpPr>
          <p:cNvPr id="9" name="Text 7"/>
          <p:cNvSpPr/>
          <p:nvPr/>
        </p:nvSpPr>
        <p:spPr>
          <a:xfrm>
            <a:off x="4846320" y="1261872"/>
            <a:ext cx="3931920" cy="1371600"/>
          </a:xfrm>
          <a:prstGeom prst="rect">
            <a:avLst/>
          </a:prstGeom>
          <a:noFill/>
          <a:ln/>
        </p:spPr>
        <p:txBody>
          <a:bodyPr wrap="square" rtlCol="0" anchor="ctr"/>
          <a:lstStyle/>
          <a:p>
            <a:pPr marL="0" indent="0">
              <a:buNone/>
            </a:pPr>
            <a:r>
              <a:rPr lang="en-US" sz="1050" dirty="0">
                <a:solidFill>
                  <a:srgbClr val="0A1628"/>
                </a:solidFill>
              </a:rPr>
              <a:t>Implementación moderna de RPC usando:</a:t>
            </a:r>
            <a:endParaRPr lang="en-US" sz="1050" dirty="0"/>
          </a:p>
          <a:p>
            <a:pPr marL="0" indent="0">
              <a:buNone/>
            </a:pPr>
            <a:r>
              <a:rPr lang="en-US" sz="1050" dirty="0">
                <a:solidFill>
                  <a:srgbClr val="0A1628"/>
                </a:solidFill>
              </a:rPr>
              <a:t>• Protocol Buffers (binario, no JSON)</a:t>
            </a:r>
            <a:endParaRPr lang="en-US" sz="1050" dirty="0"/>
          </a:p>
          <a:p>
            <a:pPr marL="0" indent="0">
              <a:buNone/>
            </a:pPr>
            <a:r>
              <a:rPr lang="en-US" sz="1050" dirty="0">
                <a:solidFill>
                  <a:srgbClr val="0A1628"/>
                </a:solidFill>
              </a:rPr>
              <a:t>• HTTP/2 (multiplexing, streams)</a:t>
            </a:r>
            <a:endParaRPr lang="en-US" sz="1050" dirty="0"/>
          </a:p>
          <a:p>
            <a:pPr marL="0" indent="0">
              <a:buNone/>
            </a:pPr>
            <a:r>
              <a:rPr lang="en-US" sz="1050" dirty="0">
                <a:solidFill>
                  <a:srgbClr val="0A1628"/>
                </a:solidFill>
              </a:rPr>
              <a:t>• Contratos .proto (tipado estricto)</a:t>
            </a:r>
            <a:endParaRPr lang="en-US" sz="1050" dirty="0"/>
          </a:p>
          <a:p>
            <a:pPr marL="0" indent="0">
              <a:buNone/>
            </a:pPr>
            <a:r>
              <a:rPr lang="en-US" sz="1050" dirty="0">
                <a:solidFill>
                  <a:srgbClr val="0A1628"/>
                </a:solidFill>
              </a:rPr>
              <a:t>Uso industrial: Netflix, Dropbox, Square</a:t>
            </a:r>
            <a:endParaRPr lang="en-US" sz="1050" dirty="0"/>
          </a:p>
        </p:txBody>
      </p:sp>
      <p:sp>
        <p:nvSpPr>
          <p:cNvPr id="10" name="Shape 8"/>
          <p:cNvSpPr/>
          <p:nvPr/>
        </p:nvSpPr>
        <p:spPr>
          <a:xfrm>
            <a:off x="274320" y="2788920"/>
            <a:ext cx="4114800" cy="2148840"/>
          </a:xfrm>
          <a:prstGeom prst="rect">
            <a:avLst/>
          </a:prstGeom>
          <a:solidFill>
            <a:srgbClr val="1E293B"/>
          </a:solidFill>
          <a:ln/>
        </p:spPr>
      </p:sp>
      <p:sp>
        <p:nvSpPr>
          <p:cNvPr id="11" name="Text 9"/>
          <p:cNvSpPr/>
          <p:nvPr/>
        </p:nvSpPr>
        <p:spPr>
          <a:xfrm>
            <a:off x="274320" y="2788920"/>
            <a:ext cx="4114800" cy="274320"/>
          </a:xfrm>
          <a:prstGeom prst="rect">
            <a:avLst/>
          </a:prstGeom>
          <a:noFill/>
          <a:ln/>
        </p:spPr>
        <p:txBody>
          <a:bodyPr wrap="square" rtlCol="0" anchor="ctr"/>
          <a:lstStyle/>
          <a:p>
            <a:pPr marL="0" indent="0">
              <a:buNone/>
            </a:pPr>
            <a:r>
              <a:rPr lang="en-US" sz="900" b="1" dirty="0">
                <a:solidFill>
                  <a:srgbClr val="00B4D8"/>
                </a:solidFill>
              </a:rPr>
              <a:t>messaging.proto</a:t>
            </a:r>
            <a:endParaRPr lang="en-US" sz="900" dirty="0"/>
          </a:p>
        </p:txBody>
      </p:sp>
      <p:sp>
        <p:nvSpPr>
          <p:cNvPr id="12" name="Text 10"/>
          <p:cNvSpPr/>
          <p:nvPr/>
        </p:nvSpPr>
        <p:spPr>
          <a:xfrm>
            <a:off x="365760" y="3063240"/>
            <a:ext cx="3840480" cy="1828800"/>
          </a:xfrm>
          <a:prstGeom prst="rect">
            <a:avLst/>
          </a:prstGeom>
          <a:noFill/>
          <a:ln/>
        </p:spPr>
        <p:txBody>
          <a:bodyPr wrap="square" rtlCol="0" anchor="ctr"/>
          <a:lstStyle/>
          <a:p>
            <a:pPr marL="0" indent="0">
              <a:buNone/>
            </a:pPr>
            <a:r>
              <a:rPr lang="en-US" sz="850" dirty="0">
                <a:solidFill>
                  <a:srgbClr val="A5F3FC"/>
                </a:solidFill>
                <a:latin typeface="Courier New" pitchFamily="34" charset="0"/>
                <a:ea typeface="Courier New" pitchFamily="34" charset="-122"/>
                <a:cs typeface="Courier New" pitchFamily="34" charset="-120"/>
              </a:rPr>
              <a:t>syntax = "proto3";</a:t>
            </a:r>
            <a:endParaRPr lang="en-US" sz="850" dirty="0"/>
          </a:p>
          <a:p>
            <a:pPr marL="0" indent="0">
              <a:buNone/>
            </a:pPr>
            <a:r>
              <a:rPr lang="en-US" sz="850" dirty="0">
                <a:solidFill>
                  <a:srgbClr val="A5F3FC"/>
                </a:solidFill>
                <a:latin typeface="Courier New" pitchFamily="34" charset="0"/>
                <a:ea typeface="Courier New" pitchFamily="34" charset="-122"/>
                <a:cs typeface="Courier New" pitchFamily="34" charset="-120"/>
              </a:rPr>
              <a:t>service MessagingService {</a:t>
            </a:r>
            <a:endParaRPr lang="en-US" sz="850" dirty="0"/>
          </a:p>
          <a:p>
            <a:pPr marL="0" indent="0">
              <a:buNone/>
            </a:pPr>
            <a:r>
              <a:rPr lang="en-US" sz="850" dirty="0">
                <a:solidFill>
                  <a:srgbClr val="A5F3FC"/>
                </a:solidFill>
                <a:latin typeface="Courier New" pitchFamily="34" charset="0"/>
                <a:ea typeface="Courier New" pitchFamily="34" charset="-122"/>
                <a:cs typeface="Courier New" pitchFamily="34" charset="-120"/>
              </a:rPr>
              <a:t>  rpc SendMessage (Request) </a:t>
            </a:r>
            <a:endParaRPr lang="en-US" sz="850" dirty="0"/>
          </a:p>
          <a:p>
            <a:pPr marL="0" indent="0">
              <a:buNone/>
            </a:pPr>
            <a:r>
              <a:rPr lang="en-US" sz="850" dirty="0">
                <a:solidFill>
                  <a:srgbClr val="A5F3FC"/>
                </a:solidFill>
                <a:latin typeface="Courier New" pitchFamily="34" charset="0"/>
                <a:ea typeface="Courier New" pitchFamily="34" charset="-122"/>
                <a:cs typeface="Courier New" pitchFamily="34" charset="-120"/>
              </a:rPr>
              <a:t>      returns (Response);</a:t>
            </a:r>
            <a:endParaRPr lang="en-US" sz="850" dirty="0"/>
          </a:p>
          <a:p>
            <a:pPr marL="0" indent="0">
              <a:buNone/>
            </a:pPr>
            <a:r>
              <a:rPr lang="en-US" sz="850" dirty="0">
                <a:solidFill>
                  <a:srgbClr val="A5F3FC"/>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A5F3FC"/>
                </a:solidFill>
                <a:latin typeface="Courier New" pitchFamily="34" charset="0"/>
                <a:ea typeface="Courier New" pitchFamily="34" charset="-122"/>
                <a:cs typeface="Courier New" pitchFamily="34" charset="-120"/>
              </a:rPr>
              <a:t>message Request {</a:t>
            </a:r>
            <a:endParaRPr lang="en-US" sz="850" dirty="0"/>
          </a:p>
          <a:p>
            <a:pPr marL="0" indent="0">
              <a:buNone/>
            </a:pPr>
            <a:r>
              <a:rPr lang="en-US" sz="850" dirty="0">
                <a:solidFill>
                  <a:srgbClr val="A5F3FC"/>
                </a:solidFill>
                <a:latin typeface="Courier New" pitchFamily="34" charset="0"/>
                <a:ea typeface="Courier New" pitchFamily="34" charset="-122"/>
                <a:cs typeface="Courier New" pitchFamily="34" charset="-120"/>
              </a:rPr>
              <a:t>  string sender  = 1;</a:t>
            </a:r>
            <a:endParaRPr lang="en-US" sz="850" dirty="0"/>
          </a:p>
          <a:p>
            <a:pPr marL="0" indent="0">
              <a:buNone/>
            </a:pPr>
            <a:r>
              <a:rPr lang="en-US" sz="850" dirty="0">
                <a:solidFill>
                  <a:srgbClr val="A5F3FC"/>
                </a:solidFill>
                <a:latin typeface="Courier New" pitchFamily="34" charset="0"/>
                <a:ea typeface="Courier New" pitchFamily="34" charset="-122"/>
                <a:cs typeface="Courier New" pitchFamily="34" charset="-120"/>
              </a:rPr>
              <a:t>  int64  timestamp = 2;</a:t>
            </a:r>
            <a:endParaRPr lang="en-US" sz="850" dirty="0"/>
          </a:p>
          <a:p>
            <a:pPr marL="0" indent="0">
              <a:buNone/>
            </a:pPr>
            <a:r>
              <a:rPr lang="en-US" sz="850" dirty="0">
                <a:solidFill>
                  <a:srgbClr val="A5F3FC"/>
                </a:solidFill>
                <a:latin typeface="Courier New" pitchFamily="34" charset="0"/>
                <a:ea typeface="Courier New" pitchFamily="34" charset="-122"/>
                <a:cs typeface="Courier New" pitchFamily="34" charset="-120"/>
              </a:rPr>
              <a:t>  string message = 3;</a:t>
            </a:r>
            <a:endParaRPr lang="en-US" sz="850" dirty="0"/>
          </a:p>
          <a:p>
            <a:pPr marL="0" indent="0">
              <a:buNone/>
            </a:pPr>
            <a:r>
              <a:rPr lang="en-US" sz="850" dirty="0">
                <a:solidFill>
                  <a:srgbClr val="A5F3FC"/>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A5F3FC"/>
                </a:solidFill>
                <a:latin typeface="Courier New" pitchFamily="34" charset="0"/>
                <a:ea typeface="Courier New" pitchFamily="34" charset="-122"/>
                <a:cs typeface="Courier New" pitchFamily="34" charset="-120"/>
              </a:rPr>
              <a:t>message Response {</a:t>
            </a:r>
            <a:endParaRPr lang="en-US" sz="850" dirty="0"/>
          </a:p>
          <a:p>
            <a:pPr marL="0" indent="0">
              <a:buNone/>
            </a:pPr>
            <a:r>
              <a:rPr lang="en-US" sz="850" dirty="0">
                <a:solidFill>
                  <a:srgbClr val="A5F3FC"/>
                </a:solidFill>
                <a:latin typeface="Courier New" pitchFamily="34" charset="0"/>
                <a:ea typeface="Courier New" pitchFamily="34" charset="-122"/>
                <a:cs typeface="Courier New" pitchFamily="34" charset="-120"/>
              </a:rPr>
              <a:t>  string status  = 1;</a:t>
            </a:r>
            <a:endParaRPr lang="en-US" sz="850" dirty="0"/>
          </a:p>
          <a:p>
            <a:pPr marL="0" indent="0">
              <a:buNone/>
            </a:pPr>
            <a:r>
              <a:rPr lang="en-US" sz="850" dirty="0">
                <a:solidFill>
                  <a:srgbClr val="A5F3FC"/>
                </a:solidFill>
                <a:latin typeface="Courier New" pitchFamily="34" charset="0"/>
                <a:ea typeface="Courier New" pitchFamily="34" charset="-122"/>
                <a:cs typeface="Courier New" pitchFamily="34" charset="-120"/>
              </a:rPr>
              <a:t>  int64  server_ts = 2;</a:t>
            </a:r>
            <a:endParaRPr lang="en-US" sz="850" dirty="0"/>
          </a:p>
          <a:p>
            <a:pPr marL="0" indent="0">
              <a:buNone/>
            </a:pPr>
            <a:r>
              <a:rPr lang="en-US" sz="850" dirty="0">
                <a:solidFill>
                  <a:srgbClr val="A5F3FC"/>
                </a:solidFill>
                <a:latin typeface="Courier New" pitchFamily="34" charset="0"/>
                <a:ea typeface="Courier New" pitchFamily="34" charset="-122"/>
                <a:cs typeface="Courier New" pitchFamily="34" charset="-120"/>
              </a:rPr>
              <a:t>}</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754880" y="2788920"/>
          <a:ext cx="4114800" cy="2084832"/>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47472">
                <a:tc>
                  <a:txBody>
                    <a:bodyPr/>
                    <a:lstStyle/>
                    <a:p>
                      <a:pPr marL="0" indent="0">
                        <a:buNone/>
                      </a:pPr>
                      <a:r>
                        <a:rPr lang="en-US" sz="950" b="1" dirty="0">
                          <a:solidFill>
                            <a:srgbClr val="FFFFFF"/>
                          </a:solidFill>
                        </a:rPr>
                        <a:t>Aspecto</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4D92"/>
                    </a:solidFill>
                  </a:tcPr>
                </a:tc>
                <a:tc>
                  <a:txBody>
                    <a:bodyPr/>
                    <a:lstStyle/>
                    <a:p>
                      <a:pPr marL="0" indent="0">
                        <a:buNone/>
                      </a:pPr>
                      <a:r>
                        <a:rPr lang="en-US" sz="950" b="1" dirty="0">
                          <a:solidFill>
                            <a:srgbClr val="FFFFFF"/>
                          </a:solidFill>
                        </a:rPr>
                        <a:t>Sockets</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4D92"/>
                    </a:solidFill>
                  </a:tcPr>
                </a:tc>
                <a:tc>
                  <a:txBody>
                    <a:bodyPr/>
                    <a:lstStyle/>
                    <a:p>
                      <a:pPr marL="0" indent="0">
                        <a:buNone/>
                      </a:pPr>
                      <a:r>
                        <a:rPr lang="en-US" sz="950" b="1" dirty="0">
                          <a:solidFill>
                            <a:srgbClr val="FFFFFF"/>
                          </a:solidFill>
                        </a:rPr>
                        <a:t>gRPC</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4D92"/>
                    </a:solidFill>
                  </a:tcPr>
                </a:tc>
                <a:extLst>
                  <a:ext uri="{0D108BD9-81ED-4DB2-BD59-A6C34878D82A}">
                    <a16:rowId xmlns:a16="http://schemas.microsoft.com/office/drawing/2014/main" val="10000"/>
                  </a:ext>
                </a:extLst>
              </a:tr>
              <a:tr h="347472">
                <a:tc>
                  <a:txBody>
                    <a:bodyPr/>
                    <a:lstStyle/>
                    <a:p>
                      <a:pPr marL="0" indent="0">
                        <a:buNone/>
                      </a:pPr>
                      <a:r>
                        <a:rPr lang="en-US" sz="950" dirty="0">
                          <a:solidFill>
                            <a:srgbClr val="000000"/>
                          </a:solidFill>
                        </a:rPr>
                        <a:t>Abstracción</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Baja (bytes)</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Alta (funciones)</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950" dirty="0">
                          <a:solidFill>
                            <a:srgbClr val="000000"/>
                          </a:solidFill>
                        </a:rPr>
                        <a:t>Tipado</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Manual (JSON)</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Automático (.proto)</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950" dirty="0">
                          <a:solidFill>
                            <a:srgbClr val="000000"/>
                          </a:solidFill>
                        </a:rPr>
                        <a:t>Rendimiento</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Bueno</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Excelente (binario)</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950" dirty="0">
                          <a:solidFill>
                            <a:srgbClr val="000000"/>
                          </a:solidFill>
                        </a:rPr>
                        <a:t>Streaming</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Manual</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Nativo (HTTP/2)</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950" dirty="0">
                          <a:solidFill>
                            <a:srgbClr val="000000"/>
                          </a:solidFill>
                        </a:rPr>
                        <a:t>Generación código</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No</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950" dirty="0">
                          <a:solidFill>
                            <a:srgbClr val="000000"/>
                          </a:solidFill>
                        </a:rPr>
                        <a:t>Sí (múlt. lenguajes)</a:t>
                      </a:r>
                      <a:endParaRPr lang="en-US" sz="95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Text 11"/>
          <p:cNvSpPr/>
          <p:nvPr/>
        </p:nvSpPr>
        <p:spPr>
          <a:xfrm>
            <a:off x="274320" y="4846320"/>
            <a:ext cx="6400800" cy="228600"/>
          </a:xfrm>
          <a:prstGeom prst="rect">
            <a:avLst/>
          </a:prstGeom>
          <a:noFill/>
          <a:ln/>
        </p:spPr>
        <p:txBody>
          <a:bodyPr wrap="square" rtlCol="0" anchor="ctr"/>
          <a:lstStyle/>
          <a:p>
            <a:pPr marL="0" indent="0">
              <a:buNone/>
            </a:pPr>
            <a:r>
              <a:rPr lang="en-US" sz="800" i="1" dirty="0">
                <a:solidFill>
                  <a:srgbClr val="94A3B8"/>
                </a:solidFill>
              </a:rPr>
              <a:t>UTEQ · Aplicaciones Distribuidas</a:t>
            </a:r>
            <a:endParaRPr lang="en-US" sz="800" dirty="0"/>
          </a:p>
        </p:txBody>
      </p:sp>
      <p:sp>
        <p:nvSpPr>
          <p:cNvPr id="15" name="Text 12"/>
          <p:cNvSpPr/>
          <p:nvPr/>
        </p:nvSpPr>
        <p:spPr>
          <a:xfrm>
            <a:off x="6858000" y="4846320"/>
            <a:ext cx="2286000" cy="228600"/>
          </a:xfrm>
          <a:prstGeom prst="rect">
            <a:avLst/>
          </a:prstGeom>
          <a:noFill/>
          <a:ln/>
        </p:spPr>
        <p:txBody>
          <a:bodyPr wrap="square" rtlCol="0" anchor="ctr"/>
          <a:lstStyle/>
          <a:p>
            <a:pPr marL="0" indent="0" algn="r">
              <a:buNone/>
            </a:pPr>
            <a:r>
              <a:rPr lang="en-US" sz="800" dirty="0">
                <a:solidFill>
                  <a:srgbClr val="94A3B8"/>
                </a:solidFill>
              </a:rPr>
              <a:t>Semana 3 | 18–24 May 2026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59669"/>
          </a:solidFill>
          <a:ln/>
        </p:spPr>
      </p:sp>
      <p:sp>
        <p:nvSpPr>
          <p:cNvPr id="3" name="Text 1"/>
          <p:cNvSpPr/>
          <p:nvPr/>
        </p:nvSpPr>
        <p:spPr>
          <a:xfrm>
            <a:off x="365760" y="45720"/>
            <a:ext cx="8412480" cy="731520"/>
          </a:xfrm>
          <a:prstGeom prst="rect">
            <a:avLst/>
          </a:prstGeom>
          <a:noFill/>
          <a:ln/>
        </p:spPr>
        <p:txBody>
          <a:bodyPr wrap="square" rtlCol="0" anchor="ctr"/>
          <a:lstStyle/>
          <a:p>
            <a:pPr marL="0" indent="0">
              <a:buNone/>
            </a:pPr>
            <a:r>
              <a:rPr lang="en-US" sz="2200" b="1" dirty="0">
                <a:solidFill>
                  <a:srgbClr val="FFFFFF"/>
                </a:solidFill>
              </a:rPr>
              <a:t>03 · Middleware y su Rol en la Distribución</a:t>
            </a:r>
            <a:endParaRPr lang="en-US" sz="2200" dirty="0"/>
          </a:p>
        </p:txBody>
      </p:sp>
      <p:sp>
        <p:nvSpPr>
          <p:cNvPr id="4" name="Shape 2"/>
          <p:cNvSpPr/>
          <p:nvPr/>
        </p:nvSpPr>
        <p:spPr>
          <a:xfrm>
            <a:off x="274320" y="914400"/>
            <a:ext cx="8595360" cy="594360"/>
          </a:xfrm>
          <a:prstGeom prst="rect">
            <a:avLst/>
          </a:prstGeom>
          <a:solidFill>
            <a:srgbClr val="F0FFF4"/>
          </a:solidFill>
          <a:ln w="12700">
            <a:solidFill>
              <a:srgbClr val="059669"/>
            </a:solidFill>
            <a:prstDash val="solid"/>
          </a:ln>
        </p:spPr>
      </p:sp>
      <p:sp>
        <p:nvSpPr>
          <p:cNvPr id="5" name="Text 3"/>
          <p:cNvSpPr/>
          <p:nvPr/>
        </p:nvSpPr>
        <p:spPr>
          <a:xfrm>
            <a:off x="457200" y="960120"/>
            <a:ext cx="8229600" cy="502920"/>
          </a:xfrm>
          <a:prstGeom prst="rect">
            <a:avLst/>
          </a:prstGeom>
          <a:noFill/>
          <a:ln/>
        </p:spPr>
        <p:txBody>
          <a:bodyPr wrap="square" rtlCol="0" anchor="ctr"/>
          <a:lstStyle/>
          <a:p>
            <a:pPr marL="0" indent="0">
              <a:buNone/>
            </a:pPr>
            <a:r>
              <a:rPr lang="en-US" sz="1050" b="1" dirty="0">
                <a:solidFill>
                  <a:srgbClr val="059669"/>
                </a:solidFill>
              </a:rPr>
              <a:t>Definición: </a:t>
            </a:r>
            <a:r>
              <a:rPr lang="en-US" sz="1050" dirty="0">
                <a:solidFill>
                  <a:srgbClr val="0A1628"/>
                </a:solidFill>
              </a:rPr>
              <a:t>Capa de software que se interpone entre el Sistema Operativo y las aplicaciones distribuidas, ocultando la heterogeneidad del hardware/red y proveyendo servicios comunes.</a:t>
            </a:r>
            <a:endParaRPr lang="en-US" sz="1050" dirty="0"/>
          </a:p>
        </p:txBody>
      </p:sp>
      <p:sp>
        <p:nvSpPr>
          <p:cNvPr id="6" name="Shape 4"/>
          <p:cNvSpPr/>
          <p:nvPr/>
        </p:nvSpPr>
        <p:spPr>
          <a:xfrm>
            <a:off x="274320" y="1600200"/>
            <a:ext cx="2926080" cy="411480"/>
          </a:xfrm>
          <a:prstGeom prst="rect">
            <a:avLst/>
          </a:prstGeom>
          <a:solidFill>
            <a:srgbClr val="0E4D92"/>
          </a:solidFill>
          <a:ln/>
        </p:spPr>
      </p:sp>
      <p:sp>
        <p:nvSpPr>
          <p:cNvPr id="7" name="Text 5"/>
          <p:cNvSpPr/>
          <p:nvPr/>
        </p:nvSpPr>
        <p:spPr>
          <a:xfrm>
            <a:off x="274320" y="1600200"/>
            <a:ext cx="2926080" cy="411480"/>
          </a:xfrm>
          <a:prstGeom prst="rect">
            <a:avLst/>
          </a:prstGeom>
          <a:noFill/>
          <a:ln/>
        </p:spPr>
        <p:txBody>
          <a:bodyPr wrap="square" rtlCol="0" anchor="ctr"/>
          <a:lstStyle/>
          <a:p>
            <a:pPr marL="0" indent="0" algn="ctr">
              <a:buNone/>
            </a:pPr>
            <a:r>
              <a:rPr lang="en-US" sz="1000" b="1" dirty="0">
                <a:solidFill>
                  <a:srgbClr val="FFFFFF"/>
                </a:solidFill>
              </a:rPr>
              <a:t>Aplicaciones Distribuidas</a:t>
            </a:r>
            <a:endParaRPr lang="en-US" sz="1000" dirty="0"/>
          </a:p>
        </p:txBody>
      </p:sp>
      <p:sp>
        <p:nvSpPr>
          <p:cNvPr id="8" name="Shape 6"/>
          <p:cNvSpPr/>
          <p:nvPr/>
        </p:nvSpPr>
        <p:spPr>
          <a:xfrm>
            <a:off x="274320" y="2057400"/>
            <a:ext cx="2926080" cy="411480"/>
          </a:xfrm>
          <a:prstGeom prst="rect">
            <a:avLst/>
          </a:prstGeom>
          <a:solidFill>
            <a:srgbClr val="059669"/>
          </a:solidFill>
          <a:ln/>
        </p:spPr>
      </p:sp>
      <p:sp>
        <p:nvSpPr>
          <p:cNvPr id="9" name="Text 7"/>
          <p:cNvSpPr/>
          <p:nvPr/>
        </p:nvSpPr>
        <p:spPr>
          <a:xfrm>
            <a:off x="274320" y="2057400"/>
            <a:ext cx="2926080" cy="411480"/>
          </a:xfrm>
          <a:prstGeom prst="rect">
            <a:avLst/>
          </a:prstGeom>
          <a:noFill/>
          <a:ln/>
        </p:spPr>
        <p:txBody>
          <a:bodyPr wrap="square" rtlCol="0" anchor="ctr"/>
          <a:lstStyle/>
          <a:p>
            <a:pPr marL="0" indent="0" algn="ctr">
              <a:buNone/>
            </a:pPr>
            <a:r>
              <a:rPr lang="en-US" sz="1000" b="1" dirty="0">
                <a:solidFill>
                  <a:srgbClr val="FFFFFF"/>
                </a:solidFill>
              </a:rPr>
              <a:t>⬛ MIDDLEWARE</a:t>
            </a:r>
            <a:endParaRPr lang="en-US" sz="1000" dirty="0"/>
          </a:p>
        </p:txBody>
      </p:sp>
      <p:sp>
        <p:nvSpPr>
          <p:cNvPr id="10" name="Shape 8"/>
          <p:cNvSpPr/>
          <p:nvPr/>
        </p:nvSpPr>
        <p:spPr>
          <a:xfrm>
            <a:off x="274320" y="2514600"/>
            <a:ext cx="2926080" cy="411480"/>
          </a:xfrm>
          <a:prstGeom prst="rect">
            <a:avLst/>
          </a:prstGeom>
          <a:solidFill>
            <a:srgbClr val="64748B"/>
          </a:solidFill>
          <a:ln/>
        </p:spPr>
      </p:sp>
      <p:sp>
        <p:nvSpPr>
          <p:cNvPr id="11" name="Text 9"/>
          <p:cNvSpPr/>
          <p:nvPr/>
        </p:nvSpPr>
        <p:spPr>
          <a:xfrm>
            <a:off x="274320" y="2514600"/>
            <a:ext cx="2926080" cy="411480"/>
          </a:xfrm>
          <a:prstGeom prst="rect">
            <a:avLst/>
          </a:prstGeom>
          <a:noFill/>
          <a:ln/>
        </p:spPr>
        <p:txBody>
          <a:bodyPr wrap="square" rtlCol="0" anchor="ctr"/>
          <a:lstStyle/>
          <a:p>
            <a:pPr marL="0" indent="0" algn="ctr">
              <a:buNone/>
            </a:pPr>
            <a:r>
              <a:rPr lang="en-US" sz="1000" b="1" dirty="0">
                <a:solidFill>
                  <a:srgbClr val="FFFFFF"/>
                </a:solidFill>
              </a:rPr>
              <a:t>Sistema Operativo / Red</a:t>
            </a:r>
            <a:endParaRPr lang="en-US" sz="1000" dirty="0"/>
          </a:p>
        </p:txBody>
      </p:sp>
      <p:sp>
        <p:nvSpPr>
          <p:cNvPr id="12" name="Shape 10"/>
          <p:cNvSpPr/>
          <p:nvPr/>
        </p:nvSpPr>
        <p:spPr>
          <a:xfrm>
            <a:off x="3291840" y="2148840"/>
            <a:ext cx="457200" cy="45720"/>
          </a:xfrm>
          <a:prstGeom prst="rect">
            <a:avLst/>
          </a:prstGeom>
          <a:solidFill>
            <a:srgbClr val="0A1628"/>
          </a:solidFill>
          <a:ln/>
        </p:spPr>
      </p:sp>
      <p:sp>
        <p:nvSpPr>
          <p:cNvPr id="13" name="Shape 11"/>
          <p:cNvSpPr/>
          <p:nvPr/>
        </p:nvSpPr>
        <p:spPr>
          <a:xfrm>
            <a:off x="3749040" y="1600200"/>
            <a:ext cx="2377440" cy="1005840"/>
          </a:xfrm>
          <a:prstGeom prst="rect">
            <a:avLst/>
          </a:prstGeom>
          <a:solidFill>
            <a:srgbClr val="F8FAFC"/>
          </a:solidFill>
          <a:ln w="12700">
            <a:solidFill>
              <a:srgbClr val="E2E8F0"/>
            </a:solidFill>
            <a:prstDash val="solid"/>
          </a:ln>
        </p:spPr>
      </p:sp>
      <p:sp>
        <p:nvSpPr>
          <p:cNvPr id="14" name="Shape 12"/>
          <p:cNvSpPr/>
          <p:nvPr/>
        </p:nvSpPr>
        <p:spPr>
          <a:xfrm>
            <a:off x="3749040" y="1600200"/>
            <a:ext cx="2377440" cy="54864"/>
          </a:xfrm>
          <a:prstGeom prst="rect">
            <a:avLst/>
          </a:prstGeom>
          <a:solidFill>
            <a:srgbClr val="EA580C"/>
          </a:solidFill>
          <a:ln/>
        </p:spPr>
      </p:sp>
      <p:sp>
        <p:nvSpPr>
          <p:cNvPr id="15" name="Text 13"/>
          <p:cNvSpPr/>
          <p:nvPr/>
        </p:nvSpPr>
        <p:spPr>
          <a:xfrm>
            <a:off x="3822192" y="1691640"/>
            <a:ext cx="2231136" cy="256032"/>
          </a:xfrm>
          <a:prstGeom prst="rect">
            <a:avLst/>
          </a:prstGeom>
          <a:noFill/>
          <a:ln/>
        </p:spPr>
        <p:txBody>
          <a:bodyPr wrap="square" rtlCol="0" anchor="ctr"/>
          <a:lstStyle/>
          <a:p>
            <a:pPr marL="0" indent="0">
              <a:buNone/>
            </a:pPr>
            <a:r>
              <a:rPr lang="en-US" sz="900" b="1" dirty="0">
                <a:solidFill>
                  <a:srgbClr val="EA580C"/>
                </a:solidFill>
              </a:rPr>
              <a:t>Message-Oriented (MOM)</a:t>
            </a:r>
            <a:endParaRPr lang="en-US" sz="900" dirty="0"/>
          </a:p>
        </p:txBody>
      </p:sp>
      <p:sp>
        <p:nvSpPr>
          <p:cNvPr id="16" name="Text 14"/>
          <p:cNvSpPr/>
          <p:nvPr/>
        </p:nvSpPr>
        <p:spPr>
          <a:xfrm>
            <a:off x="3822192" y="1947672"/>
            <a:ext cx="2231136" cy="329184"/>
          </a:xfrm>
          <a:prstGeom prst="rect">
            <a:avLst/>
          </a:prstGeom>
          <a:noFill/>
          <a:ln/>
        </p:spPr>
        <p:txBody>
          <a:bodyPr wrap="square" rtlCol="0" anchor="ctr"/>
          <a:lstStyle/>
          <a:p>
            <a:pPr marL="0" indent="0">
              <a:buNone/>
            </a:pPr>
            <a:r>
              <a:rPr lang="en-US" sz="850" dirty="0">
                <a:solidFill>
                  <a:srgbClr val="0A1628"/>
                </a:solidFill>
              </a:rPr>
              <a:t>Cola de mensajes asíncrona. Producer/Consumer desacoplados.</a:t>
            </a:r>
            <a:endParaRPr lang="en-US" sz="850" dirty="0"/>
          </a:p>
        </p:txBody>
      </p:sp>
      <p:sp>
        <p:nvSpPr>
          <p:cNvPr id="17" name="Text 15"/>
          <p:cNvSpPr/>
          <p:nvPr/>
        </p:nvSpPr>
        <p:spPr>
          <a:xfrm>
            <a:off x="3822192" y="2276856"/>
            <a:ext cx="2231136" cy="256032"/>
          </a:xfrm>
          <a:prstGeom prst="rect">
            <a:avLst/>
          </a:prstGeom>
          <a:noFill/>
          <a:ln/>
        </p:spPr>
        <p:txBody>
          <a:bodyPr wrap="square" rtlCol="0" anchor="ctr"/>
          <a:lstStyle/>
          <a:p>
            <a:pPr marL="0" indent="0">
              <a:buNone/>
            </a:pPr>
            <a:r>
              <a:rPr lang="en-US" sz="800" i="1" dirty="0">
                <a:solidFill>
                  <a:srgbClr val="64748B"/>
                </a:solidFill>
              </a:rPr>
              <a:t>→ RabbitMQ, Apache Kafka, AWS SQS</a:t>
            </a:r>
            <a:endParaRPr lang="en-US" sz="800" dirty="0"/>
          </a:p>
        </p:txBody>
      </p:sp>
      <p:sp>
        <p:nvSpPr>
          <p:cNvPr id="18" name="Shape 16"/>
          <p:cNvSpPr/>
          <p:nvPr/>
        </p:nvSpPr>
        <p:spPr>
          <a:xfrm>
            <a:off x="6309360" y="1600200"/>
            <a:ext cx="2377440" cy="1005840"/>
          </a:xfrm>
          <a:prstGeom prst="rect">
            <a:avLst/>
          </a:prstGeom>
          <a:solidFill>
            <a:srgbClr val="F8FAFC"/>
          </a:solidFill>
          <a:ln w="12700">
            <a:solidFill>
              <a:srgbClr val="E2E8F0"/>
            </a:solidFill>
            <a:prstDash val="solid"/>
          </a:ln>
        </p:spPr>
      </p:sp>
      <p:sp>
        <p:nvSpPr>
          <p:cNvPr id="19" name="Shape 17"/>
          <p:cNvSpPr/>
          <p:nvPr/>
        </p:nvSpPr>
        <p:spPr>
          <a:xfrm>
            <a:off x="6309360" y="1600200"/>
            <a:ext cx="2377440" cy="54864"/>
          </a:xfrm>
          <a:prstGeom prst="rect">
            <a:avLst/>
          </a:prstGeom>
          <a:solidFill>
            <a:srgbClr val="7C3AED"/>
          </a:solidFill>
          <a:ln/>
        </p:spPr>
      </p:sp>
      <p:sp>
        <p:nvSpPr>
          <p:cNvPr id="20" name="Text 18"/>
          <p:cNvSpPr/>
          <p:nvPr/>
        </p:nvSpPr>
        <p:spPr>
          <a:xfrm>
            <a:off x="6382512" y="1691640"/>
            <a:ext cx="2231136" cy="256032"/>
          </a:xfrm>
          <a:prstGeom prst="rect">
            <a:avLst/>
          </a:prstGeom>
          <a:noFill/>
          <a:ln/>
        </p:spPr>
        <p:txBody>
          <a:bodyPr wrap="square" rtlCol="0" anchor="ctr"/>
          <a:lstStyle/>
          <a:p>
            <a:pPr marL="0" indent="0">
              <a:buNone/>
            </a:pPr>
            <a:r>
              <a:rPr lang="en-US" sz="900" b="1" dirty="0">
                <a:solidFill>
                  <a:srgbClr val="7C3AED"/>
                </a:solidFill>
              </a:rPr>
              <a:t>Object-Oriented (CORBA/RMI)</a:t>
            </a:r>
            <a:endParaRPr lang="en-US" sz="900" dirty="0"/>
          </a:p>
        </p:txBody>
      </p:sp>
      <p:sp>
        <p:nvSpPr>
          <p:cNvPr id="21" name="Text 19"/>
          <p:cNvSpPr/>
          <p:nvPr/>
        </p:nvSpPr>
        <p:spPr>
          <a:xfrm>
            <a:off x="6382512" y="1947672"/>
            <a:ext cx="2231136" cy="329184"/>
          </a:xfrm>
          <a:prstGeom prst="rect">
            <a:avLst/>
          </a:prstGeom>
          <a:noFill/>
          <a:ln/>
        </p:spPr>
        <p:txBody>
          <a:bodyPr wrap="square" rtlCol="0" anchor="ctr"/>
          <a:lstStyle/>
          <a:p>
            <a:pPr marL="0" indent="0">
              <a:buNone/>
            </a:pPr>
            <a:r>
              <a:rPr lang="en-US" sz="850" dirty="0">
                <a:solidFill>
                  <a:srgbClr val="0A1628"/>
                </a:solidFill>
              </a:rPr>
              <a:t>Objetos remotos como si fueran locales. Transparencia de ubicación.</a:t>
            </a:r>
            <a:endParaRPr lang="en-US" sz="850" dirty="0"/>
          </a:p>
        </p:txBody>
      </p:sp>
      <p:sp>
        <p:nvSpPr>
          <p:cNvPr id="22" name="Text 20"/>
          <p:cNvSpPr/>
          <p:nvPr/>
        </p:nvSpPr>
        <p:spPr>
          <a:xfrm>
            <a:off x="6382512" y="2276856"/>
            <a:ext cx="2231136" cy="256032"/>
          </a:xfrm>
          <a:prstGeom prst="rect">
            <a:avLst/>
          </a:prstGeom>
          <a:noFill/>
          <a:ln/>
        </p:spPr>
        <p:txBody>
          <a:bodyPr wrap="square" rtlCol="0" anchor="ctr"/>
          <a:lstStyle/>
          <a:p>
            <a:pPr marL="0" indent="0">
              <a:buNone/>
            </a:pPr>
            <a:r>
              <a:rPr lang="en-US" sz="800" i="1" dirty="0">
                <a:solidFill>
                  <a:srgbClr val="64748B"/>
                </a:solidFill>
              </a:rPr>
              <a:t>→ CORBA, Java RMI, COM/DCOM</a:t>
            </a:r>
            <a:endParaRPr lang="en-US" sz="800" dirty="0"/>
          </a:p>
        </p:txBody>
      </p:sp>
      <p:sp>
        <p:nvSpPr>
          <p:cNvPr id="23" name="Shape 21"/>
          <p:cNvSpPr/>
          <p:nvPr/>
        </p:nvSpPr>
        <p:spPr>
          <a:xfrm>
            <a:off x="3749040" y="2697480"/>
            <a:ext cx="2377440" cy="1005840"/>
          </a:xfrm>
          <a:prstGeom prst="rect">
            <a:avLst/>
          </a:prstGeom>
          <a:solidFill>
            <a:srgbClr val="F8FAFC"/>
          </a:solidFill>
          <a:ln w="12700">
            <a:solidFill>
              <a:srgbClr val="E2E8F0"/>
            </a:solidFill>
            <a:prstDash val="solid"/>
          </a:ln>
        </p:spPr>
      </p:sp>
      <p:sp>
        <p:nvSpPr>
          <p:cNvPr id="24" name="Shape 22"/>
          <p:cNvSpPr/>
          <p:nvPr/>
        </p:nvSpPr>
        <p:spPr>
          <a:xfrm>
            <a:off x="3749040" y="2697480"/>
            <a:ext cx="2377440" cy="54864"/>
          </a:xfrm>
          <a:prstGeom prst="rect">
            <a:avLst/>
          </a:prstGeom>
          <a:solidFill>
            <a:srgbClr val="00B4D8"/>
          </a:solidFill>
          <a:ln/>
        </p:spPr>
      </p:sp>
      <p:sp>
        <p:nvSpPr>
          <p:cNvPr id="25" name="Text 23"/>
          <p:cNvSpPr/>
          <p:nvPr/>
        </p:nvSpPr>
        <p:spPr>
          <a:xfrm>
            <a:off x="3822192" y="2788920"/>
            <a:ext cx="2231136" cy="256032"/>
          </a:xfrm>
          <a:prstGeom prst="rect">
            <a:avLst/>
          </a:prstGeom>
          <a:noFill/>
          <a:ln/>
        </p:spPr>
        <p:txBody>
          <a:bodyPr wrap="square" rtlCol="0" anchor="ctr"/>
          <a:lstStyle/>
          <a:p>
            <a:pPr marL="0" indent="0">
              <a:buNone/>
            </a:pPr>
            <a:r>
              <a:rPr lang="en-US" sz="900" b="1" dirty="0">
                <a:solidFill>
                  <a:srgbClr val="00B4D8"/>
                </a:solidFill>
              </a:rPr>
              <a:t>Web Services / API Gateway</a:t>
            </a:r>
            <a:endParaRPr lang="en-US" sz="900" dirty="0"/>
          </a:p>
        </p:txBody>
      </p:sp>
      <p:sp>
        <p:nvSpPr>
          <p:cNvPr id="26" name="Text 24"/>
          <p:cNvSpPr/>
          <p:nvPr/>
        </p:nvSpPr>
        <p:spPr>
          <a:xfrm>
            <a:off x="3822192" y="3044952"/>
            <a:ext cx="2231136" cy="329184"/>
          </a:xfrm>
          <a:prstGeom prst="rect">
            <a:avLst/>
          </a:prstGeom>
          <a:noFill/>
          <a:ln/>
        </p:spPr>
        <p:txBody>
          <a:bodyPr wrap="square" rtlCol="0" anchor="ctr"/>
          <a:lstStyle/>
          <a:p>
            <a:pPr marL="0" indent="0">
              <a:buNone/>
            </a:pPr>
            <a:r>
              <a:rPr lang="en-US" sz="850" dirty="0">
                <a:solidFill>
                  <a:srgbClr val="0A1628"/>
                </a:solidFill>
              </a:rPr>
              <a:t>Comunicación sobre HTTP. SOA moderno.</a:t>
            </a:r>
            <a:endParaRPr lang="en-US" sz="850" dirty="0"/>
          </a:p>
        </p:txBody>
      </p:sp>
      <p:sp>
        <p:nvSpPr>
          <p:cNvPr id="27" name="Text 25"/>
          <p:cNvSpPr/>
          <p:nvPr/>
        </p:nvSpPr>
        <p:spPr>
          <a:xfrm>
            <a:off x="3822192" y="3374136"/>
            <a:ext cx="2231136" cy="256032"/>
          </a:xfrm>
          <a:prstGeom prst="rect">
            <a:avLst/>
          </a:prstGeom>
          <a:noFill/>
          <a:ln/>
        </p:spPr>
        <p:txBody>
          <a:bodyPr wrap="square" rtlCol="0" anchor="ctr"/>
          <a:lstStyle/>
          <a:p>
            <a:pPr marL="0" indent="0">
              <a:buNone/>
            </a:pPr>
            <a:r>
              <a:rPr lang="en-US" sz="800" i="1" dirty="0">
                <a:solidFill>
                  <a:srgbClr val="64748B"/>
                </a:solidFill>
              </a:rPr>
              <a:t>→ REST APIs, SOAP, GraphQL, Nginx</a:t>
            </a:r>
            <a:endParaRPr lang="en-US" sz="800" dirty="0"/>
          </a:p>
        </p:txBody>
      </p:sp>
      <p:sp>
        <p:nvSpPr>
          <p:cNvPr id="28" name="Shape 26"/>
          <p:cNvSpPr/>
          <p:nvPr/>
        </p:nvSpPr>
        <p:spPr>
          <a:xfrm>
            <a:off x="6309360" y="2697480"/>
            <a:ext cx="2377440" cy="1005840"/>
          </a:xfrm>
          <a:prstGeom prst="rect">
            <a:avLst/>
          </a:prstGeom>
          <a:solidFill>
            <a:srgbClr val="F8FAFC"/>
          </a:solidFill>
          <a:ln w="12700">
            <a:solidFill>
              <a:srgbClr val="E2E8F0"/>
            </a:solidFill>
            <a:prstDash val="solid"/>
          </a:ln>
        </p:spPr>
      </p:sp>
      <p:sp>
        <p:nvSpPr>
          <p:cNvPr id="29" name="Shape 27"/>
          <p:cNvSpPr/>
          <p:nvPr/>
        </p:nvSpPr>
        <p:spPr>
          <a:xfrm>
            <a:off x="6309360" y="2697480"/>
            <a:ext cx="2377440" cy="54864"/>
          </a:xfrm>
          <a:prstGeom prst="rect">
            <a:avLst/>
          </a:prstGeom>
          <a:solidFill>
            <a:srgbClr val="059669"/>
          </a:solidFill>
          <a:ln/>
        </p:spPr>
      </p:sp>
      <p:sp>
        <p:nvSpPr>
          <p:cNvPr id="30" name="Text 28"/>
          <p:cNvSpPr/>
          <p:nvPr/>
        </p:nvSpPr>
        <p:spPr>
          <a:xfrm>
            <a:off x="6382512" y="2788920"/>
            <a:ext cx="2231136" cy="256032"/>
          </a:xfrm>
          <a:prstGeom prst="rect">
            <a:avLst/>
          </a:prstGeom>
          <a:noFill/>
          <a:ln/>
        </p:spPr>
        <p:txBody>
          <a:bodyPr wrap="square" rtlCol="0" anchor="ctr"/>
          <a:lstStyle/>
          <a:p>
            <a:pPr marL="0" indent="0">
              <a:buNone/>
            </a:pPr>
            <a:r>
              <a:rPr lang="en-US" sz="900" b="1" dirty="0">
                <a:solidFill>
                  <a:srgbClr val="059669"/>
                </a:solidFill>
              </a:rPr>
              <a:t>Data-Oriented (ORB)</a:t>
            </a:r>
            <a:endParaRPr lang="en-US" sz="900" dirty="0"/>
          </a:p>
        </p:txBody>
      </p:sp>
      <p:sp>
        <p:nvSpPr>
          <p:cNvPr id="31" name="Text 29"/>
          <p:cNvSpPr/>
          <p:nvPr/>
        </p:nvSpPr>
        <p:spPr>
          <a:xfrm>
            <a:off x="6382512" y="3044952"/>
            <a:ext cx="2231136" cy="329184"/>
          </a:xfrm>
          <a:prstGeom prst="rect">
            <a:avLst/>
          </a:prstGeom>
          <a:noFill/>
          <a:ln/>
        </p:spPr>
        <p:txBody>
          <a:bodyPr wrap="square" rtlCol="0" anchor="ctr"/>
          <a:lstStyle/>
          <a:p>
            <a:pPr marL="0" indent="0">
              <a:buNone/>
            </a:pPr>
            <a:r>
              <a:rPr lang="en-US" sz="850" dirty="0">
                <a:solidFill>
                  <a:srgbClr val="0A1628"/>
                </a:solidFill>
              </a:rPr>
              <a:t>Espacio de datos compartido. Publicar/suscribir.</a:t>
            </a:r>
            <a:endParaRPr lang="en-US" sz="850" dirty="0"/>
          </a:p>
        </p:txBody>
      </p:sp>
      <p:sp>
        <p:nvSpPr>
          <p:cNvPr id="32" name="Text 30"/>
          <p:cNvSpPr/>
          <p:nvPr/>
        </p:nvSpPr>
        <p:spPr>
          <a:xfrm>
            <a:off x="6382512" y="3374136"/>
            <a:ext cx="2231136" cy="256032"/>
          </a:xfrm>
          <a:prstGeom prst="rect">
            <a:avLst/>
          </a:prstGeom>
          <a:noFill/>
          <a:ln/>
        </p:spPr>
        <p:txBody>
          <a:bodyPr wrap="square" rtlCol="0" anchor="ctr"/>
          <a:lstStyle/>
          <a:p>
            <a:pPr marL="0" indent="0">
              <a:buNone/>
            </a:pPr>
            <a:r>
              <a:rPr lang="en-US" sz="800" i="1" dirty="0">
                <a:solidFill>
                  <a:srgbClr val="64748B"/>
                </a:solidFill>
              </a:rPr>
              <a:t>→ Apache ZooKeeper, Redis Pub/Sub</a:t>
            </a:r>
            <a:endParaRPr lang="en-US" sz="800" dirty="0"/>
          </a:p>
        </p:txBody>
      </p:sp>
      <p:sp>
        <p:nvSpPr>
          <p:cNvPr id="33" name="Shape 31"/>
          <p:cNvSpPr/>
          <p:nvPr/>
        </p:nvSpPr>
        <p:spPr>
          <a:xfrm>
            <a:off x="274320" y="4437328"/>
            <a:ext cx="8595360" cy="637592"/>
          </a:xfrm>
          <a:prstGeom prst="rect">
            <a:avLst/>
          </a:prstGeom>
          <a:solidFill>
            <a:srgbClr val="1E293B"/>
          </a:solidFill>
          <a:ln/>
        </p:spPr>
      </p:sp>
      <p:sp>
        <p:nvSpPr>
          <p:cNvPr id="34" name="Text 32"/>
          <p:cNvSpPr/>
          <p:nvPr/>
        </p:nvSpPr>
        <p:spPr>
          <a:xfrm>
            <a:off x="457200" y="4450584"/>
            <a:ext cx="8321040" cy="384048"/>
          </a:xfrm>
          <a:prstGeom prst="rect">
            <a:avLst/>
          </a:prstGeom>
          <a:noFill/>
          <a:ln/>
        </p:spPr>
        <p:txBody>
          <a:bodyPr wrap="square" rtlCol="0" anchor="ctr"/>
          <a:lstStyle/>
          <a:p>
            <a:pPr marL="0" indent="0">
              <a:buNone/>
            </a:pPr>
            <a:r>
              <a:rPr lang="en-US" sz="950" dirty="0">
                <a:solidFill>
                  <a:srgbClr val="00B4D8"/>
                </a:solidFill>
              </a:rPr>
              <a:t>💡  Kafka procesa más de 1 BILLÓN de mensajes/día en LinkedIn. Es el middleware que hace posible sistemas como X (Twitter), Uber y Airbnb en tiempo real.</a:t>
            </a:r>
            <a:endParaRPr lang="en-US" sz="950" dirty="0"/>
          </a:p>
        </p:txBody>
      </p:sp>
      <p:sp>
        <p:nvSpPr>
          <p:cNvPr id="35" name="Text 33"/>
          <p:cNvSpPr/>
          <p:nvPr/>
        </p:nvSpPr>
        <p:spPr>
          <a:xfrm>
            <a:off x="274320" y="4846320"/>
            <a:ext cx="6400800" cy="228600"/>
          </a:xfrm>
          <a:prstGeom prst="rect">
            <a:avLst/>
          </a:prstGeom>
          <a:noFill/>
          <a:ln/>
        </p:spPr>
        <p:txBody>
          <a:bodyPr wrap="square" rtlCol="0" anchor="ctr"/>
          <a:lstStyle/>
          <a:p>
            <a:pPr marL="0" indent="0">
              <a:buNone/>
            </a:pPr>
            <a:r>
              <a:rPr lang="en-US" sz="1100" i="1" dirty="0">
                <a:solidFill>
                  <a:srgbClr val="94A3B8"/>
                </a:solidFill>
              </a:rPr>
              <a:t>UTEQ · Aplicaciones Distribuidas</a:t>
            </a:r>
            <a:endParaRPr lang="en-US" sz="1100" dirty="0"/>
          </a:p>
        </p:txBody>
      </p:sp>
      <p:sp>
        <p:nvSpPr>
          <p:cNvPr id="36" name="Text 34"/>
          <p:cNvSpPr/>
          <p:nvPr/>
        </p:nvSpPr>
        <p:spPr>
          <a:xfrm>
            <a:off x="6567373" y="4846320"/>
            <a:ext cx="2286000" cy="228600"/>
          </a:xfrm>
          <a:prstGeom prst="rect">
            <a:avLst/>
          </a:prstGeom>
          <a:noFill/>
          <a:ln/>
        </p:spPr>
        <p:txBody>
          <a:bodyPr wrap="square" rtlCol="0" anchor="ctr"/>
          <a:lstStyle/>
          <a:p>
            <a:pPr marL="0" indent="0" algn="r">
              <a:buNone/>
            </a:pPr>
            <a:r>
              <a:rPr lang="en-US" sz="1100" dirty="0">
                <a:solidFill>
                  <a:srgbClr val="94A3B8"/>
                </a:solidFill>
              </a:rPr>
              <a:t>Semana 3 | 18–24 May 2026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EA580C"/>
          </a:solidFill>
          <a:ln/>
        </p:spPr>
      </p:sp>
      <p:sp>
        <p:nvSpPr>
          <p:cNvPr id="3" name="Text 1"/>
          <p:cNvSpPr/>
          <p:nvPr/>
        </p:nvSpPr>
        <p:spPr>
          <a:xfrm>
            <a:off x="365760" y="45720"/>
            <a:ext cx="8412480" cy="731520"/>
          </a:xfrm>
          <a:prstGeom prst="rect">
            <a:avLst/>
          </a:prstGeom>
          <a:noFill/>
          <a:ln/>
        </p:spPr>
        <p:txBody>
          <a:bodyPr wrap="square" rtlCol="0" anchor="ctr"/>
          <a:lstStyle/>
          <a:p>
            <a:pPr marL="0" indent="0">
              <a:buNone/>
            </a:pPr>
            <a:r>
              <a:rPr lang="en-US" sz="2000" b="1" dirty="0">
                <a:solidFill>
                  <a:srgbClr val="FFFFFF"/>
                </a:solidFill>
              </a:rPr>
              <a:t>04 · Sincronización: Relojes Lógicos de Lamport (1978)</a:t>
            </a:r>
            <a:endParaRPr lang="en-US" sz="2000" dirty="0"/>
          </a:p>
        </p:txBody>
      </p:sp>
      <p:sp>
        <p:nvSpPr>
          <p:cNvPr id="4" name="Shape 2"/>
          <p:cNvSpPr/>
          <p:nvPr/>
        </p:nvSpPr>
        <p:spPr>
          <a:xfrm>
            <a:off x="274320" y="896112"/>
            <a:ext cx="8595360" cy="502920"/>
          </a:xfrm>
          <a:prstGeom prst="rect">
            <a:avLst/>
          </a:prstGeom>
          <a:solidFill>
            <a:srgbClr val="FFF7ED"/>
          </a:solidFill>
          <a:ln w="12700">
            <a:solidFill>
              <a:srgbClr val="EA580C"/>
            </a:solidFill>
            <a:prstDash val="solid"/>
          </a:ln>
        </p:spPr>
      </p:sp>
      <p:sp>
        <p:nvSpPr>
          <p:cNvPr id="5" name="Text 3"/>
          <p:cNvSpPr/>
          <p:nvPr/>
        </p:nvSpPr>
        <p:spPr>
          <a:xfrm>
            <a:off x="457200" y="932688"/>
            <a:ext cx="8321040" cy="438912"/>
          </a:xfrm>
          <a:prstGeom prst="rect">
            <a:avLst/>
          </a:prstGeom>
          <a:noFill/>
          <a:ln/>
        </p:spPr>
        <p:txBody>
          <a:bodyPr wrap="square" rtlCol="0" anchor="ctr"/>
          <a:lstStyle/>
          <a:p>
            <a:pPr marL="0" indent="0">
              <a:buNone/>
            </a:pPr>
            <a:r>
              <a:rPr lang="en-US" sz="1050" b="1" dirty="0">
                <a:solidFill>
                  <a:srgbClr val="EA580C"/>
                </a:solidFill>
              </a:rPr>
              <a:t>❓ Problema: </a:t>
            </a:r>
            <a:r>
              <a:rPr lang="en-US" sz="1050" dirty="0">
                <a:solidFill>
                  <a:srgbClr val="0A1628"/>
                </a:solidFill>
              </a:rPr>
              <a:t>En un SD, los relojes físicos de cada nodo nunca están perfectamente sincronizados. No se puede saber el orden real de eventos. ¿Cómo ordenar eventos sin un reloj global?</a:t>
            </a:r>
            <a:endParaRPr lang="en-US" sz="1050" dirty="0"/>
          </a:p>
        </p:txBody>
      </p:sp>
      <p:sp>
        <p:nvSpPr>
          <p:cNvPr id="6" name="Shape 4"/>
          <p:cNvSpPr/>
          <p:nvPr/>
        </p:nvSpPr>
        <p:spPr>
          <a:xfrm>
            <a:off x="274320" y="1463040"/>
            <a:ext cx="3657600" cy="2331720"/>
          </a:xfrm>
          <a:prstGeom prst="rect">
            <a:avLst/>
          </a:prstGeom>
          <a:solidFill>
            <a:srgbClr val="1E293B"/>
          </a:solidFill>
          <a:ln/>
        </p:spPr>
      </p:sp>
      <p:sp>
        <p:nvSpPr>
          <p:cNvPr id="7" name="Text 5"/>
          <p:cNvSpPr/>
          <p:nvPr/>
        </p:nvSpPr>
        <p:spPr>
          <a:xfrm>
            <a:off x="365760" y="1481328"/>
            <a:ext cx="3474720" cy="347472"/>
          </a:xfrm>
          <a:prstGeom prst="rect">
            <a:avLst/>
          </a:prstGeom>
          <a:noFill/>
          <a:ln/>
        </p:spPr>
        <p:txBody>
          <a:bodyPr wrap="square" rtlCol="0" anchor="ctr"/>
          <a:lstStyle/>
          <a:p>
            <a:pPr marL="0" indent="0">
              <a:buNone/>
            </a:pPr>
            <a:r>
              <a:rPr lang="en-US" sz="1100" b="1" dirty="0">
                <a:solidFill>
                  <a:srgbClr val="EA580C"/>
                </a:solidFill>
              </a:rPr>
              <a:t>📜  Las 3 Reglas de Lamport</a:t>
            </a:r>
            <a:endParaRPr lang="en-US" sz="1100" dirty="0"/>
          </a:p>
        </p:txBody>
      </p:sp>
      <p:sp>
        <p:nvSpPr>
          <p:cNvPr id="8" name="Shape 6"/>
          <p:cNvSpPr/>
          <p:nvPr/>
        </p:nvSpPr>
        <p:spPr>
          <a:xfrm>
            <a:off x="347472" y="1892808"/>
            <a:ext cx="411480" cy="411480"/>
          </a:xfrm>
          <a:prstGeom prst="rect">
            <a:avLst/>
          </a:prstGeom>
          <a:solidFill>
            <a:srgbClr val="EA580C"/>
          </a:solidFill>
          <a:ln/>
        </p:spPr>
      </p:sp>
      <p:sp>
        <p:nvSpPr>
          <p:cNvPr id="9" name="Text 7"/>
          <p:cNvSpPr/>
          <p:nvPr/>
        </p:nvSpPr>
        <p:spPr>
          <a:xfrm>
            <a:off x="347472" y="1892808"/>
            <a:ext cx="411480" cy="411480"/>
          </a:xfrm>
          <a:prstGeom prst="rect">
            <a:avLst/>
          </a:prstGeom>
          <a:noFill/>
          <a:ln/>
        </p:spPr>
        <p:txBody>
          <a:bodyPr wrap="square" rtlCol="0" anchor="ctr"/>
          <a:lstStyle/>
          <a:p>
            <a:pPr marL="0" indent="0" algn="ctr">
              <a:buNone/>
            </a:pPr>
            <a:r>
              <a:rPr lang="en-US" sz="900" b="1" dirty="0">
                <a:solidFill>
                  <a:srgbClr val="FFFFFF"/>
                </a:solidFill>
              </a:rPr>
              <a:t>R1</a:t>
            </a:r>
            <a:endParaRPr lang="en-US" sz="900" dirty="0"/>
          </a:p>
        </p:txBody>
      </p:sp>
      <p:sp>
        <p:nvSpPr>
          <p:cNvPr id="10" name="Text 8"/>
          <p:cNvSpPr/>
          <p:nvPr/>
        </p:nvSpPr>
        <p:spPr>
          <a:xfrm>
            <a:off x="822960" y="1892808"/>
            <a:ext cx="3017520" cy="201168"/>
          </a:xfrm>
          <a:prstGeom prst="rect">
            <a:avLst/>
          </a:prstGeom>
          <a:noFill/>
          <a:ln/>
        </p:spPr>
        <p:txBody>
          <a:bodyPr wrap="square" rtlCol="0" anchor="ctr"/>
          <a:lstStyle/>
          <a:p>
            <a:pPr marL="0" indent="0">
              <a:buNone/>
            </a:pPr>
            <a:r>
              <a:rPr lang="en-US" sz="900" b="1" dirty="0">
                <a:solidFill>
                  <a:srgbClr val="00B4D8"/>
                </a:solidFill>
              </a:rPr>
              <a:t>Evento interno:</a:t>
            </a:r>
            <a:endParaRPr lang="en-US" sz="900" dirty="0"/>
          </a:p>
        </p:txBody>
      </p:sp>
      <p:sp>
        <p:nvSpPr>
          <p:cNvPr id="11" name="Text 9"/>
          <p:cNvSpPr/>
          <p:nvPr/>
        </p:nvSpPr>
        <p:spPr>
          <a:xfrm>
            <a:off x="822960" y="2093976"/>
            <a:ext cx="3017520" cy="201168"/>
          </a:xfrm>
          <a:prstGeom prst="rect">
            <a:avLst/>
          </a:prstGeom>
          <a:noFill/>
          <a:ln/>
        </p:spPr>
        <p:txBody>
          <a:bodyPr wrap="square" rtlCol="0" anchor="ctr"/>
          <a:lstStyle/>
          <a:p>
            <a:pPr marL="0" indent="0">
              <a:buNone/>
            </a:pPr>
            <a:r>
              <a:rPr lang="en-US" sz="900" dirty="0">
                <a:solidFill>
                  <a:srgbClr val="94A3B8"/>
                </a:solidFill>
              </a:rPr>
              <a:t>Antes de ejecutar un evento: LC = LC + 1</a:t>
            </a:r>
            <a:endParaRPr lang="en-US" sz="900" dirty="0"/>
          </a:p>
        </p:txBody>
      </p:sp>
      <p:sp>
        <p:nvSpPr>
          <p:cNvPr id="12" name="Shape 10"/>
          <p:cNvSpPr/>
          <p:nvPr/>
        </p:nvSpPr>
        <p:spPr>
          <a:xfrm>
            <a:off x="347472" y="2487168"/>
            <a:ext cx="411480" cy="411480"/>
          </a:xfrm>
          <a:prstGeom prst="rect">
            <a:avLst/>
          </a:prstGeom>
          <a:solidFill>
            <a:srgbClr val="EA580C"/>
          </a:solidFill>
          <a:ln/>
        </p:spPr>
      </p:sp>
      <p:sp>
        <p:nvSpPr>
          <p:cNvPr id="13" name="Text 11"/>
          <p:cNvSpPr/>
          <p:nvPr/>
        </p:nvSpPr>
        <p:spPr>
          <a:xfrm>
            <a:off x="347472" y="2487168"/>
            <a:ext cx="411480" cy="411480"/>
          </a:xfrm>
          <a:prstGeom prst="rect">
            <a:avLst/>
          </a:prstGeom>
          <a:noFill/>
          <a:ln/>
        </p:spPr>
        <p:txBody>
          <a:bodyPr wrap="square" rtlCol="0" anchor="ctr"/>
          <a:lstStyle/>
          <a:p>
            <a:pPr marL="0" indent="0" algn="ctr">
              <a:buNone/>
            </a:pPr>
            <a:r>
              <a:rPr lang="en-US" sz="900" b="1" dirty="0">
                <a:solidFill>
                  <a:srgbClr val="FFFFFF"/>
                </a:solidFill>
              </a:rPr>
              <a:t>R2</a:t>
            </a:r>
            <a:endParaRPr lang="en-US" sz="900" dirty="0"/>
          </a:p>
        </p:txBody>
      </p:sp>
      <p:sp>
        <p:nvSpPr>
          <p:cNvPr id="14" name="Text 12"/>
          <p:cNvSpPr/>
          <p:nvPr/>
        </p:nvSpPr>
        <p:spPr>
          <a:xfrm>
            <a:off x="822960" y="2487168"/>
            <a:ext cx="3017520" cy="201168"/>
          </a:xfrm>
          <a:prstGeom prst="rect">
            <a:avLst/>
          </a:prstGeom>
          <a:noFill/>
          <a:ln/>
        </p:spPr>
        <p:txBody>
          <a:bodyPr wrap="square" rtlCol="0" anchor="ctr"/>
          <a:lstStyle/>
          <a:p>
            <a:pPr marL="0" indent="0">
              <a:buNone/>
            </a:pPr>
            <a:r>
              <a:rPr lang="en-US" sz="900" b="1" dirty="0">
                <a:solidFill>
                  <a:srgbClr val="00B4D8"/>
                </a:solidFill>
              </a:rPr>
              <a:t>Envío de mensaje:</a:t>
            </a:r>
            <a:endParaRPr lang="en-US" sz="900" dirty="0"/>
          </a:p>
        </p:txBody>
      </p:sp>
      <p:sp>
        <p:nvSpPr>
          <p:cNvPr id="15" name="Text 13"/>
          <p:cNvSpPr/>
          <p:nvPr/>
        </p:nvSpPr>
        <p:spPr>
          <a:xfrm>
            <a:off x="822960" y="2688336"/>
            <a:ext cx="3017520" cy="201168"/>
          </a:xfrm>
          <a:prstGeom prst="rect">
            <a:avLst/>
          </a:prstGeom>
          <a:noFill/>
          <a:ln/>
        </p:spPr>
        <p:txBody>
          <a:bodyPr wrap="square" rtlCol="0" anchor="ctr"/>
          <a:lstStyle/>
          <a:p>
            <a:pPr marL="0" indent="0">
              <a:buNone/>
            </a:pPr>
            <a:r>
              <a:rPr lang="en-US" sz="900" dirty="0">
                <a:solidFill>
                  <a:srgbClr val="94A3B8"/>
                </a:solidFill>
              </a:rPr>
              <a:t>LC = LC + 1, luego enviar con timestamp LC</a:t>
            </a:r>
            <a:endParaRPr lang="en-US" sz="900" dirty="0"/>
          </a:p>
        </p:txBody>
      </p:sp>
      <p:sp>
        <p:nvSpPr>
          <p:cNvPr id="16" name="Shape 14"/>
          <p:cNvSpPr/>
          <p:nvPr/>
        </p:nvSpPr>
        <p:spPr>
          <a:xfrm>
            <a:off x="347472" y="3081528"/>
            <a:ext cx="411480" cy="411480"/>
          </a:xfrm>
          <a:prstGeom prst="rect">
            <a:avLst/>
          </a:prstGeom>
          <a:solidFill>
            <a:srgbClr val="EA580C"/>
          </a:solidFill>
          <a:ln/>
        </p:spPr>
      </p:sp>
      <p:sp>
        <p:nvSpPr>
          <p:cNvPr id="17" name="Text 15"/>
          <p:cNvSpPr/>
          <p:nvPr/>
        </p:nvSpPr>
        <p:spPr>
          <a:xfrm>
            <a:off x="347472" y="3081528"/>
            <a:ext cx="411480" cy="411480"/>
          </a:xfrm>
          <a:prstGeom prst="rect">
            <a:avLst/>
          </a:prstGeom>
          <a:noFill/>
          <a:ln/>
        </p:spPr>
        <p:txBody>
          <a:bodyPr wrap="square" rtlCol="0" anchor="ctr"/>
          <a:lstStyle/>
          <a:p>
            <a:pPr marL="0" indent="0" algn="ctr">
              <a:buNone/>
            </a:pPr>
            <a:r>
              <a:rPr lang="en-US" sz="900" b="1" dirty="0">
                <a:solidFill>
                  <a:srgbClr val="FFFFFF"/>
                </a:solidFill>
              </a:rPr>
              <a:t>R3</a:t>
            </a:r>
            <a:endParaRPr lang="en-US" sz="900" dirty="0"/>
          </a:p>
        </p:txBody>
      </p:sp>
      <p:sp>
        <p:nvSpPr>
          <p:cNvPr id="18" name="Text 16"/>
          <p:cNvSpPr/>
          <p:nvPr/>
        </p:nvSpPr>
        <p:spPr>
          <a:xfrm>
            <a:off x="822960" y="3081528"/>
            <a:ext cx="3017520" cy="201168"/>
          </a:xfrm>
          <a:prstGeom prst="rect">
            <a:avLst/>
          </a:prstGeom>
          <a:noFill/>
          <a:ln/>
        </p:spPr>
        <p:txBody>
          <a:bodyPr wrap="square" rtlCol="0" anchor="ctr"/>
          <a:lstStyle/>
          <a:p>
            <a:pPr marL="0" indent="0">
              <a:buNone/>
            </a:pPr>
            <a:r>
              <a:rPr lang="en-US" sz="900" b="1" dirty="0">
                <a:solidFill>
                  <a:srgbClr val="00B4D8"/>
                </a:solidFill>
              </a:rPr>
              <a:t>Recepción de mensaje:</a:t>
            </a:r>
            <a:endParaRPr lang="en-US" sz="900" dirty="0"/>
          </a:p>
        </p:txBody>
      </p:sp>
      <p:sp>
        <p:nvSpPr>
          <p:cNvPr id="19" name="Text 17"/>
          <p:cNvSpPr/>
          <p:nvPr/>
        </p:nvSpPr>
        <p:spPr>
          <a:xfrm>
            <a:off x="822960" y="3282696"/>
            <a:ext cx="3017520" cy="201168"/>
          </a:xfrm>
          <a:prstGeom prst="rect">
            <a:avLst/>
          </a:prstGeom>
          <a:noFill/>
          <a:ln/>
        </p:spPr>
        <p:txBody>
          <a:bodyPr wrap="square" rtlCol="0" anchor="ctr"/>
          <a:lstStyle/>
          <a:p>
            <a:pPr marL="0" indent="0">
              <a:buNone/>
            </a:pPr>
            <a:r>
              <a:rPr lang="en-US" sz="900" dirty="0">
                <a:solidFill>
                  <a:srgbClr val="94A3B8"/>
                </a:solidFill>
              </a:rPr>
              <a:t>LC = max(LC_local, LC_recibido) + 1</a:t>
            </a:r>
            <a:endParaRPr lang="en-US" sz="900" dirty="0"/>
          </a:p>
        </p:txBody>
      </p:sp>
      <p:sp>
        <p:nvSpPr>
          <p:cNvPr id="20" name="Shape 18"/>
          <p:cNvSpPr/>
          <p:nvPr/>
        </p:nvSpPr>
        <p:spPr>
          <a:xfrm>
            <a:off x="4114800" y="1463040"/>
            <a:ext cx="4754880" cy="2331720"/>
          </a:xfrm>
          <a:prstGeom prst="rect">
            <a:avLst/>
          </a:prstGeom>
          <a:solidFill>
            <a:srgbClr val="F8FAFC"/>
          </a:solidFill>
          <a:ln w="12700">
            <a:solidFill>
              <a:srgbClr val="E2E8F0"/>
            </a:solidFill>
            <a:prstDash val="solid"/>
          </a:ln>
        </p:spPr>
      </p:sp>
      <p:sp>
        <p:nvSpPr>
          <p:cNvPr id="21" name="Text 19"/>
          <p:cNvSpPr/>
          <p:nvPr/>
        </p:nvSpPr>
        <p:spPr>
          <a:xfrm>
            <a:off x="4206240" y="1481328"/>
            <a:ext cx="4572000" cy="292608"/>
          </a:xfrm>
          <a:prstGeom prst="rect">
            <a:avLst/>
          </a:prstGeom>
          <a:noFill/>
          <a:ln/>
        </p:spPr>
        <p:txBody>
          <a:bodyPr wrap="square" rtlCol="0" anchor="ctr"/>
          <a:lstStyle/>
          <a:p>
            <a:pPr marL="0" indent="0">
              <a:buNone/>
            </a:pPr>
            <a:r>
              <a:rPr lang="en-US" sz="1000" b="1" dirty="0">
                <a:solidFill>
                  <a:srgbClr val="0A1628"/>
                </a:solidFill>
              </a:rPr>
              <a:t>Ejemplo: 3 procesos, traza de eventos</a:t>
            </a:r>
            <a:endParaRPr lang="en-US" sz="1000" dirty="0"/>
          </a:p>
        </p:txBody>
      </p:sp>
      <p:sp>
        <p:nvSpPr>
          <p:cNvPr id="22" name="Shape 20"/>
          <p:cNvSpPr/>
          <p:nvPr/>
        </p:nvSpPr>
        <p:spPr>
          <a:xfrm>
            <a:off x="4846320" y="1920240"/>
            <a:ext cx="3657600" cy="0"/>
          </a:xfrm>
          <a:prstGeom prst="line">
            <a:avLst/>
          </a:prstGeom>
          <a:noFill/>
          <a:ln w="19050">
            <a:solidFill>
              <a:srgbClr val="CBD5E1"/>
            </a:solidFill>
            <a:prstDash val="solid"/>
          </a:ln>
        </p:spPr>
      </p:sp>
      <p:sp>
        <p:nvSpPr>
          <p:cNvPr id="23" name="Text 21"/>
          <p:cNvSpPr/>
          <p:nvPr/>
        </p:nvSpPr>
        <p:spPr>
          <a:xfrm>
            <a:off x="4160520" y="1783080"/>
            <a:ext cx="640080" cy="292608"/>
          </a:xfrm>
          <a:prstGeom prst="rect">
            <a:avLst/>
          </a:prstGeom>
          <a:noFill/>
          <a:ln/>
        </p:spPr>
        <p:txBody>
          <a:bodyPr wrap="square" rtlCol="0" anchor="ctr"/>
          <a:lstStyle/>
          <a:p>
            <a:pPr marL="0" indent="0">
              <a:buNone/>
            </a:pPr>
            <a:r>
              <a:rPr lang="en-US" sz="900" b="1" dirty="0">
                <a:solidFill>
                  <a:srgbClr val="64748B"/>
                </a:solidFill>
              </a:rPr>
              <a:t>P1 →</a:t>
            </a:r>
            <a:endParaRPr lang="en-US" sz="900" dirty="0"/>
          </a:p>
        </p:txBody>
      </p:sp>
      <p:sp>
        <p:nvSpPr>
          <p:cNvPr id="24" name="Shape 22"/>
          <p:cNvSpPr/>
          <p:nvPr/>
        </p:nvSpPr>
        <p:spPr>
          <a:xfrm>
            <a:off x="4846320" y="2514600"/>
            <a:ext cx="3657600" cy="0"/>
          </a:xfrm>
          <a:prstGeom prst="line">
            <a:avLst/>
          </a:prstGeom>
          <a:noFill/>
          <a:ln w="19050">
            <a:solidFill>
              <a:srgbClr val="CBD5E1"/>
            </a:solidFill>
            <a:prstDash val="solid"/>
          </a:ln>
        </p:spPr>
      </p:sp>
      <p:sp>
        <p:nvSpPr>
          <p:cNvPr id="25" name="Text 23"/>
          <p:cNvSpPr/>
          <p:nvPr/>
        </p:nvSpPr>
        <p:spPr>
          <a:xfrm>
            <a:off x="4160520" y="2377440"/>
            <a:ext cx="640080" cy="292608"/>
          </a:xfrm>
          <a:prstGeom prst="rect">
            <a:avLst/>
          </a:prstGeom>
          <a:noFill/>
          <a:ln/>
        </p:spPr>
        <p:txBody>
          <a:bodyPr wrap="square" rtlCol="0" anchor="ctr"/>
          <a:lstStyle/>
          <a:p>
            <a:pPr marL="0" indent="0">
              <a:buNone/>
            </a:pPr>
            <a:r>
              <a:rPr lang="en-US" sz="900" b="1" dirty="0">
                <a:solidFill>
                  <a:srgbClr val="64748B"/>
                </a:solidFill>
              </a:rPr>
              <a:t>P2 →</a:t>
            </a:r>
            <a:endParaRPr lang="en-US" sz="900" dirty="0"/>
          </a:p>
        </p:txBody>
      </p:sp>
      <p:sp>
        <p:nvSpPr>
          <p:cNvPr id="26" name="Shape 24"/>
          <p:cNvSpPr/>
          <p:nvPr/>
        </p:nvSpPr>
        <p:spPr>
          <a:xfrm>
            <a:off x="4846320" y="3108960"/>
            <a:ext cx="3657600" cy="0"/>
          </a:xfrm>
          <a:prstGeom prst="line">
            <a:avLst/>
          </a:prstGeom>
          <a:noFill/>
          <a:ln w="19050">
            <a:solidFill>
              <a:srgbClr val="CBD5E1"/>
            </a:solidFill>
            <a:prstDash val="solid"/>
          </a:ln>
        </p:spPr>
      </p:sp>
      <p:sp>
        <p:nvSpPr>
          <p:cNvPr id="27" name="Text 25"/>
          <p:cNvSpPr/>
          <p:nvPr/>
        </p:nvSpPr>
        <p:spPr>
          <a:xfrm>
            <a:off x="4160520" y="2971800"/>
            <a:ext cx="640080" cy="292608"/>
          </a:xfrm>
          <a:prstGeom prst="rect">
            <a:avLst/>
          </a:prstGeom>
          <a:noFill/>
          <a:ln/>
        </p:spPr>
        <p:txBody>
          <a:bodyPr wrap="square" rtlCol="0" anchor="ctr"/>
          <a:lstStyle/>
          <a:p>
            <a:pPr marL="0" indent="0">
              <a:buNone/>
            </a:pPr>
            <a:r>
              <a:rPr lang="en-US" sz="900" b="1" dirty="0">
                <a:solidFill>
                  <a:srgbClr val="64748B"/>
                </a:solidFill>
              </a:rPr>
              <a:t>P3 →</a:t>
            </a:r>
            <a:endParaRPr lang="en-US" sz="900" dirty="0"/>
          </a:p>
        </p:txBody>
      </p:sp>
      <p:sp>
        <p:nvSpPr>
          <p:cNvPr id="28" name="Shape 26"/>
          <p:cNvSpPr/>
          <p:nvPr/>
        </p:nvSpPr>
        <p:spPr>
          <a:xfrm>
            <a:off x="4983480" y="1783080"/>
            <a:ext cx="274320" cy="274320"/>
          </a:xfrm>
          <a:prstGeom prst="ellipse">
            <a:avLst/>
          </a:prstGeom>
          <a:solidFill>
            <a:srgbClr val="EA580C"/>
          </a:solidFill>
          <a:ln/>
        </p:spPr>
      </p:sp>
      <p:sp>
        <p:nvSpPr>
          <p:cNvPr id="29" name="Text 27"/>
          <p:cNvSpPr/>
          <p:nvPr/>
        </p:nvSpPr>
        <p:spPr>
          <a:xfrm>
            <a:off x="4937760" y="2084832"/>
            <a:ext cx="457200" cy="320040"/>
          </a:xfrm>
          <a:prstGeom prst="rect">
            <a:avLst/>
          </a:prstGeom>
          <a:noFill/>
          <a:ln/>
        </p:spPr>
        <p:txBody>
          <a:bodyPr wrap="square" rtlCol="0" anchor="ctr"/>
          <a:lstStyle/>
          <a:p>
            <a:pPr marL="0" indent="0" algn="ctr">
              <a:buNone/>
            </a:pPr>
            <a:r>
              <a:rPr lang="en-US" sz="750" dirty="0">
                <a:solidFill>
                  <a:srgbClr val="0A1628"/>
                </a:solidFill>
              </a:rPr>
              <a:t>a</a:t>
            </a:r>
            <a:endParaRPr lang="en-US" sz="750" dirty="0"/>
          </a:p>
          <a:p>
            <a:pPr marL="0" indent="0" algn="ctr">
              <a:buNone/>
            </a:pPr>
            <a:r>
              <a:rPr lang="en-US" sz="750" dirty="0">
                <a:solidFill>
                  <a:srgbClr val="0A1628"/>
                </a:solidFill>
              </a:rPr>
              <a:t>[1]</a:t>
            </a:r>
            <a:endParaRPr lang="en-US" sz="750" dirty="0"/>
          </a:p>
        </p:txBody>
      </p:sp>
      <p:sp>
        <p:nvSpPr>
          <p:cNvPr id="30" name="Shape 28"/>
          <p:cNvSpPr/>
          <p:nvPr/>
        </p:nvSpPr>
        <p:spPr>
          <a:xfrm>
            <a:off x="5806440" y="1783080"/>
            <a:ext cx="274320" cy="274320"/>
          </a:xfrm>
          <a:prstGeom prst="ellipse">
            <a:avLst/>
          </a:prstGeom>
          <a:solidFill>
            <a:srgbClr val="EA580C"/>
          </a:solidFill>
          <a:ln/>
        </p:spPr>
      </p:sp>
      <p:sp>
        <p:nvSpPr>
          <p:cNvPr id="31" name="Text 29"/>
          <p:cNvSpPr/>
          <p:nvPr/>
        </p:nvSpPr>
        <p:spPr>
          <a:xfrm>
            <a:off x="5760720" y="2084832"/>
            <a:ext cx="457200" cy="320040"/>
          </a:xfrm>
          <a:prstGeom prst="rect">
            <a:avLst/>
          </a:prstGeom>
          <a:noFill/>
          <a:ln/>
        </p:spPr>
        <p:txBody>
          <a:bodyPr wrap="square" rtlCol="0" anchor="ctr"/>
          <a:lstStyle/>
          <a:p>
            <a:pPr marL="0" indent="0" algn="ctr">
              <a:buNone/>
            </a:pPr>
            <a:r>
              <a:rPr lang="en-US" sz="750" dirty="0">
                <a:solidFill>
                  <a:srgbClr val="0A1628"/>
                </a:solidFill>
              </a:rPr>
              <a:t>b</a:t>
            </a:r>
            <a:endParaRPr lang="en-US" sz="750" dirty="0"/>
          </a:p>
          <a:p>
            <a:pPr marL="0" indent="0" algn="ctr">
              <a:buNone/>
            </a:pPr>
            <a:r>
              <a:rPr lang="en-US" sz="750" dirty="0">
                <a:solidFill>
                  <a:srgbClr val="0A1628"/>
                </a:solidFill>
              </a:rPr>
              <a:t>[2]</a:t>
            </a:r>
            <a:endParaRPr lang="en-US" sz="750" dirty="0"/>
          </a:p>
        </p:txBody>
      </p:sp>
      <p:sp>
        <p:nvSpPr>
          <p:cNvPr id="32" name="Shape 30"/>
          <p:cNvSpPr/>
          <p:nvPr/>
        </p:nvSpPr>
        <p:spPr>
          <a:xfrm>
            <a:off x="7178040" y="1783080"/>
            <a:ext cx="274320" cy="274320"/>
          </a:xfrm>
          <a:prstGeom prst="ellipse">
            <a:avLst/>
          </a:prstGeom>
          <a:solidFill>
            <a:srgbClr val="EA580C"/>
          </a:solidFill>
          <a:ln/>
        </p:spPr>
      </p:sp>
      <p:sp>
        <p:nvSpPr>
          <p:cNvPr id="33" name="Text 31"/>
          <p:cNvSpPr/>
          <p:nvPr/>
        </p:nvSpPr>
        <p:spPr>
          <a:xfrm>
            <a:off x="7132320" y="2084832"/>
            <a:ext cx="457200" cy="320040"/>
          </a:xfrm>
          <a:prstGeom prst="rect">
            <a:avLst/>
          </a:prstGeom>
          <a:noFill/>
          <a:ln/>
        </p:spPr>
        <p:txBody>
          <a:bodyPr wrap="square" rtlCol="0" anchor="ctr"/>
          <a:lstStyle/>
          <a:p>
            <a:pPr marL="0" indent="0" algn="ctr">
              <a:buNone/>
            </a:pPr>
            <a:r>
              <a:rPr lang="en-US" sz="750" dirty="0">
                <a:solidFill>
                  <a:srgbClr val="0A1628"/>
                </a:solidFill>
              </a:rPr>
              <a:t>d</a:t>
            </a:r>
            <a:endParaRPr lang="en-US" sz="750" dirty="0"/>
          </a:p>
          <a:p>
            <a:pPr marL="0" indent="0" algn="ctr">
              <a:buNone/>
            </a:pPr>
            <a:r>
              <a:rPr lang="en-US" sz="750" dirty="0">
                <a:solidFill>
                  <a:srgbClr val="0A1628"/>
                </a:solidFill>
              </a:rPr>
              <a:t>[4]</a:t>
            </a:r>
            <a:endParaRPr lang="en-US" sz="750" dirty="0"/>
          </a:p>
        </p:txBody>
      </p:sp>
      <p:sp>
        <p:nvSpPr>
          <p:cNvPr id="34" name="Shape 32"/>
          <p:cNvSpPr/>
          <p:nvPr/>
        </p:nvSpPr>
        <p:spPr>
          <a:xfrm>
            <a:off x="5257800" y="2377440"/>
            <a:ext cx="274320" cy="274320"/>
          </a:xfrm>
          <a:prstGeom prst="ellipse">
            <a:avLst/>
          </a:prstGeom>
          <a:solidFill>
            <a:srgbClr val="EA580C"/>
          </a:solidFill>
          <a:ln/>
        </p:spPr>
      </p:sp>
      <p:sp>
        <p:nvSpPr>
          <p:cNvPr id="35" name="Text 33"/>
          <p:cNvSpPr/>
          <p:nvPr/>
        </p:nvSpPr>
        <p:spPr>
          <a:xfrm>
            <a:off x="5212080" y="2679192"/>
            <a:ext cx="457200" cy="320040"/>
          </a:xfrm>
          <a:prstGeom prst="rect">
            <a:avLst/>
          </a:prstGeom>
          <a:noFill/>
          <a:ln/>
        </p:spPr>
        <p:txBody>
          <a:bodyPr wrap="square" rtlCol="0" anchor="ctr"/>
          <a:lstStyle/>
          <a:p>
            <a:pPr marL="0" indent="0" algn="ctr">
              <a:buNone/>
            </a:pPr>
            <a:r>
              <a:rPr lang="en-US" sz="750" dirty="0">
                <a:solidFill>
                  <a:srgbClr val="0A1628"/>
                </a:solidFill>
              </a:rPr>
              <a:t>c</a:t>
            </a:r>
            <a:endParaRPr lang="en-US" sz="750" dirty="0"/>
          </a:p>
          <a:p>
            <a:pPr marL="0" indent="0" algn="ctr">
              <a:buNone/>
            </a:pPr>
            <a:r>
              <a:rPr lang="en-US" sz="750" dirty="0">
                <a:solidFill>
                  <a:srgbClr val="0A1628"/>
                </a:solidFill>
              </a:rPr>
              <a:t>[1]</a:t>
            </a:r>
            <a:endParaRPr lang="en-US" sz="750" dirty="0"/>
          </a:p>
        </p:txBody>
      </p:sp>
      <p:sp>
        <p:nvSpPr>
          <p:cNvPr id="36" name="Shape 34"/>
          <p:cNvSpPr/>
          <p:nvPr/>
        </p:nvSpPr>
        <p:spPr>
          <a:xfrm>
            <a:off x="6263640" y="2377440"/>
            <a:ext cx="274320" cy="274320"/>
          </a:xfrm>
          <a:prstGeom prst="ellipse">
            <a:avLst/>
          </a:prstGeom>
          <a:solidFill>
            <a:srgbClr val="EA580C"/>
          </a:solidFill>
          <a:ln/>
        </p:spPr>
      </p:sp>
      <p:sp>
        <p:nvSpPr>
          <p:cNvPr id="37" name="Text 35"/>
          <p:cNvSpPr/>
          <p:nvPr/>
        </p:nvSpPr>
        <p:spPr>
          <a:xfrm>
            <a:off x="6217920" y="2679192"/>
            <a:ext cx="457200" cy="320040"/>
          </a:xfrm>
          <a:prstGeom prst="rect">
            <a:avLst/>
          </a:prstGeom>
          <a:noFill/>
          <a:ln/>
        </p:spPr>
        <p:txBody>
          <a:bodyPr wrap="square" rtlCol="0" anchor="ctr"/>
          <a:lstStyle/>
          <a:p>
            <a:pPr marL="0" indent="0" algn="ctr">
              <a:buNone/>
            </a:pPr>
            <a:r>
              <a:rPr lang="en-US" sz="750" dirty="0">
                <a:solidFill>
                  <a:srgbClr val="0A1628"/>
                </a:solidFill>
              </a:rPr>
              <a:t>e</a:t>
            </a:r>
            <a:endParaRPr lang="en-US" sz="750" dirty="0"/>
          </a:p>
          <a:p>
            <a:pPr marL="0" indent="0" algn="ctr">
              <a:buNone/>
            </a:pPr>
            <a:r>
              <a:rPr lang="en-US" sz="750" dirty="0">
                <a:solidFill>
                  <a:srgbClr val="0A1628"/>
                </a:solidFill>
              </a:rPr>
              <a:t>[3]</a:t>
            </a:r>
            <a:endParaRPr lang="en-US" sz="750" dirty="0"/>
          </a:p>
        </p:txBody>
      </p:sp>
      <p:sp>
        <p:nvSpPr>
          <p:cNvPr id="38" name="Shape 36"/>
          <p:cNvSpPr/>
          <p:nvPr/>
        </p:nvSpPr>
        <p:spPr>
          <a:xfrm>
            <a:off x="7635240" y="2377440"/>
            <a:ext cx="274320" cy="274320"/>
          </a:xfrm>
          <a:prstGeom prst="ellipse">
            <a:avLst/>
          </a:prstGeom>
          <a:solidFill>
            <a:srgbClr val="EA580C"/>
          </a:solidFill>
          <a:ln/>
        </p:spPr>
      </p:sp>
      <p:sp>
        <p:nvSpPr>
          <p:cNvPr id="39" name="Text 37"/>
          <p:cNvSpPr/>
          <p:nvPr/>
        </p:nvSpPr>
        <p:spPr>
          <a:xfrm>
            <a:off x="7589520" y="2679192"/>
            <a:ext cx="457200" cy="320040"/>
          </a:xfrm>
          <a:prstGeom prst="rect">
            <a:avLst/>
          </a:prstGeom>
          <a:noFill/>
          <a:ln/>
        </p:spPr>
        <p:txBody>
          <a:bodyPr wrap="square" rtlCol="0" anchor="ctr"/>
          <a:lstStyle/>
          <a:p>
            <a:pPr marL="0" indent="0" algn="ctr">
              <a:buNone/>
            </a:pPr>
            <a:r>
              <a:rPr lang="en-US" sz="750" dirty="0">
                <a:solidFill>
                  <a:srgbClr val="0A1628"/>
                </a:solidFill>
              </a:rPr>
              <a:t>g</a:t>
            </a:r>
            <a:endParaRPr lang="en-US" sz="750" dirty="0"/>
          </a:p>
          <a:p>
            <a:pPr marL="0" indent="0" algn="ctr">
              <a:buNone/>
            </a:pPr>
            <a:r>
              <a:rPr lang="en-US" sz="750" dirty="0">
                <a:solidFill>
                  <a:srgbClr val="0A1628"/>
                </a:solidFill>
              </a:rPr>
              <a:t>[5]</a:t>
            </a:r>
            <a:endParaRPr lang="en-US" sz="750" dirty="0"/>
          </a:p>
        </p:txBody>
      </p:sp>
      <p:sp>
        <p:nvSpPr>
          <p:cNvPr id="40" name="Shape 38"/>
          <p:cNvSpPr/>
          <p:nvPr/>
        </p:nvSpPr>
        <p:spPr>
          <a:xfrm>
            <a:off x="5623560" y="2971800"/>
            <a:ext cx="274320" cy="274320"/>
          </a:xfrm>
          <a:prstGeom prst="ellipse">
            <a:avLst/>
          </a:prstGeom>
          <a:solidFill>
            <a:srgbClr val="EA580C"/>
          </a:solidFill>
          <a:ln/>
        </p:spPr>
      </p:sp>
      <p:sp>
        <p:nvSpPr>
          <p:cNvPr id="41" name="Text 39"/>
          <p:cNvSpPr/>
          <p:nvPr/>
        </p:nvSpPr>
        <p:spPr>
          <a:xfrm>
            <a:off x="5577840" y="3273552"/>
            <a:ext cx="457200" cy="320040"/>
          </a:xfrm>
          <a:prstGeom prst="rect">
            <a:avLst/>
          </a:prstGeom>
          <a:noFill/>
          <a:ln/>
        </p:spPr>
        <p:txBody>
          <a:bodyPr wrap="square" rtlCol="0" anchor="ctr"/>
          <a:lstStyle/>
          <a:p>
            <a:pPr marL="0" indent="0" algn="ctr">
              <a:buNone/>
            </a:pPr>
            <a:r>
              <a:rPr lang="en-US" sz="750" dirty="0">
                <a:solidFill>
                  <a:srgbClr val="0A1628"/>
                </a:solidFill>
              </a:rPr>
              <a:t>f</a:t>
            </a:r>
            <a:endParaRPr lang="en-US" sz="750" dirty="0"/>
          </a:p>
          <a:p>
            <a:pPr marL="0" indent="0" algn="ctr">
              <a:buNone/>
            </a:pPr>
            <a:r>
              <a:rPr lang="en-US" sz="750" dirty="0">
                <a:solidFill>
                  <a:srgbClr val="0A1628"/>
                </a:solidFill>
              </a:rPr>
              <a:t>[1]</a:t>
            </a:r>
            <a:endParaRPr lang="en-US" sz="750" dirty="0"/>
          </a:p>
        </p:txBody>
      </p:sp>
      <p:sp>
        <p:nvSpPr>
          <p:cNvPr id="42" name="Shape 40"/>
          <p:cNvSpPr/>
          <p:nvPr/>
        </p:nvSpPr>
        <p:spPr>
          <a:xfrm>
            <a:off x="6720840" y="2971800"/>
            <a:ext cx="274320" cy="274320"/>
          </a:xfrm>
          <a:prstGeom prst="ellipse">
            <a:avLst/>
          </a:prstGeom>
          <a:solidFill>
            <a:srgbClr val="EA580C"/>
          </a:solidFill>
          <a:ln/>
        </p:spPr>
      </p:sp>
      <p:sp>
        <p:nvSpPr>
          <p:cNvPr id="43" name="Text 41"/>
          <p:cNvSpPr/>
          <p:nvPr/>
        </p:nvSpPr>
        <p:spPr>
          <a:xfrm>
            <a:off x="6675120" y="3273552"/>
            <a:ext cx="457200" cy="320040"/>
          </a:xfrm>
          <a:prstGeom prst="rect">
            <a:avLst/>
          </a:prstGeom>
          <a:noFill/>
          <a:ln/>
        </p:spPr>
        <p:txBody>
          <a:bodyPr wrap="square" rtlCol="0" anchor="ctr"/>
          <a:lstStyle/>
          <a:p>
            <a:pPr marL="0" indent="0" algn="ctr">
              <a:buNone/>
            </a:pPr>
            <a:r>
              <a:rPr lang="en-US" sz="750" dirty="0">
                <a:solidFill>
                  <a:srgbClr val="0A1628"/>
                </a:solidFill>
              </a:rPr>
              <a:t>h</a:t>
            </a:r>
            <a:endParaRPr lang="en-US" sz="750" dirty="0"/>
          </a:p>
          <a:p>
            <a:pPr marL="0" indent="0" algn="ctr">
              <a:buNone/>
            </a:pPr>
            <a:r>
              <a:rPr lang="en-US" sz="750" dirty="0">
                <a:solidFill>
                  <a:srgbClr val="0A1628"/>
                </a:solidFill>
              </a:rPr>
              <a:t>[4]</a:t>
            </a:r>
            <a:endParaRPr lang="en-US" sz="750" dirty="0"/>
          </a:p>
        </p:txBody>
      </p:sp>
      <p:sp>
        <p:nvSpPr>
          <p:cNvPr id="44" name="Shape 42"/>
          <p:cNvSpPr/>
          <p:nvPr/>
        </p:nvSpPr>
        <p:spPr>
          <a:xfrm>
            <a:off x="8001000" y="2971800"/>
            <a:ext cx="274320" cy="274320"/>
          </a:xfrm>
          <a:prstGeom prst="ellipse">
            <a:avLst/>
          </a:prstGeom>
          <a:solidFill>
            <a:srgbClr val="EA580C"/>
          </a:solidFill>
          <a:ln/>
        </p:spPr>
      </p:sp>
      <p:sp>
        <p:nvSpPr>
          <p:cNvPr id="45" name="Text 43"/>
          <p:cNvSpPr/>
          <p:nvPr/>
        </p:nvSpPr>
        <p:spPr>
          <a:xfrm>
            <a:off x="7955280" y="3273552"/>
            <a:ext cx="457200" cy="320040"/>
          </a:xfrm>
          <a:prstGeom prst="rect">
            <a:avLst/>
          </a:prstGeom>
          <a:noFill/>
          <a:ln/>
        </p:spPr>
        <p:txBody>
          <a:bodyPr wrap="square" rtlCol="0" anchor="ctr"/>
          <a:lstStyle/>
          <a:p>
            <a:pPr marL="0" indent="0" algn="ctr">
              <a:buNone/>
            </a:pPr>
            <a:r>
              <a:rPr lang="en-US" sz="750" dirty="0">
                <a:solidFill>
                  <a:srgbClr val="0A1628"/>
                </a:solidFill>
              </a:rPr>
              <a:t>i</a:t>
            </a:r>
            <a:endParaRPr lang="en-US" sz="750" dirty="0"/>
          </a:p>
          <a:p>
            <a:pPr marL="0" indent="0" algn="ctr">
              <a:buNone/>
            </a:pPr>
            <a:r>
              <a:rPr lang="en-US" sz="750" dirty="0">
                <a:solidFill>
                  <a:srgbClr val="0A1628"/>
                </a:solidFill>
              </a:rPr>
              <a:t>[6]</a:t>
            </a:r>
            <a:endParaRPr lang="en-US" sz="750" dirty="0"/>
          </a:p>
        </p:txBody>
      </p:sp>
      <p:sp>
        <p:nvSpPr>
          <p:cNvPr id="46" name="Shape 44"/>
          <p:cNvSpPr/>
          <p:nvPr/>
        </p:nvSpPr>
        <p:spPr>
          <a:xfrm>
            <a:off x="5943600" y="1920240"/>
            <a:ext cx="457200" cy="594360"/>
          </a:xfrm>
          <a:prstGeom prst="line">
            <a:avLst/>
          </a:prstGeom>
          <a:noFill/>
          <a:ln w="25400">
            <a:solidFill>
              <a:srgbClr val="00B4D8"/>
            </a:solidFill>
            <a:prstDash val="solid"/>
          </a:ln>
        </p:spPr>
      </p:sp>
      <p:sp>
        <p:nvSpPr>
          <p:cNvPr id="47" name="Shape 45"/>
          <p:cNvSpPr/>
          <p:nvPr/>
        </p:nvSpPr>
        <p:spPr>
          <a:xfrm>
            <a:off x="6400800" y="2514600"/>
            <a:ext cx="457200" cy="594360"/>
          </a:xfrm>
          <a:prstGeom prst="line">
            <a:avLst/>
          </a:prstGeom>
          <a:noFill/>
          <a:ln w="25400">
            <a:solidFill>
              <a:srgbClr val="059669"/>
            </a:solidFill>
            <a:prstDash val="solid"/>
          </a:ln>
        </p:spPr>
      </p:sp>
      <p:sp>
        <p:nvSpPr>
          <p:cNvPr id="48" name="Shape 46"/>
          <p:cNvSpPr/>
          <p:nvPr/>
        </p:nvSpPr>
        <p:spPr>
          <a:xfrm>
            <a:off x="274320" y="3858768"/>
            <a:ext cx="8595360" cy="1051560"/>
          </a:xfrm>
          <a:prstGeom prst="rect">
            <a:avLst/>
          </a:prstGeom>
          <a:solidFill>
            <a:srgbClr val="F0F9FF"/>
          </a:solidFill>
          <a:ln w="12700">
            <a:solidFill>
              <a:srgbClr val="00B4D8"/>
            </a:solidFill>
            <a:prstDash val="solid"/>
          </a:ln>
        </p:spPr>
      </p:sp>
      <p:sp>
        <p:nvSpPr>
          <p:cNvPr id="49" name="Text 47"/>
          <p:cNvSpPr/>
          <p:nvPr/>
        </p:nvSpPr>
        <p:spPr>
          <a:xfrm>
            <a:off x="457200" y="3886200"/>
            <a:ext cx="3657600" cy="292608"/>
          </a:xfrm>
          <a:prstGeom prst="rect">
            <a:avLst/>
          </a:prstGeom>
          <a:noFill/>
          <a:ln/>
        </p:spPr>
        <p:txBody>
          <a:bodyPr wrap="square" rtlCol="0" anchor="ctr"/>
          <a:lstStyle/>
          <a:p>
            <a:pPr marL="0" indent="0">
              <a:buNone/>
            </a:pPr>
            <a:r>
              <a:rPr lang="en-US" sz="1400" b="1" dirty="0">
                <a:solidFill>
                  <a:srgbClr val="0E4D92"/>
                </a:solidFill>
              </a:rPr>
              <a:t>Relación Happened-Before (→)</a:t>
            </a:r>
            <a:endParaRPr lang="en-US" sz="1400" dirty="0"/>
          </a:p>
        </p:txBody>
      </p:sp>
      <p:sp>
        <p:nvSpPr>
          <p:cNvPr id="50" name="Text 48"/>
          <p:cNvSpPr/>
          <p:nvPr/>
        </p:nvSpPr>
        <p:spPr>
          <a:xfrm>
            <a:off x="457200" y="4206240"/>
            <a:ext cx="4114800" cy="640080"/>
          </a:xfrm>
          <a:prstGeom prst="rect">
            <a:avLst/>
          </a:prstGeom>
          <a:noFill/>
          <a:ln/>
        </p:spPr>
        <p:txBody>
          <a:bodyPr wrap="square" rtlCol="0" anchor="ctr"/>
          <a:lstStyle/>
          <a:p>
            <a:pPr marL="0" indent="0">
              <a:buNone/>
            </a:pPr>
            <a:r>
              <a:rPr lang="en-US" sz="1100" b="1" dirty="0">
                <a:solidFill>
                  <a:srgbClr val="EA580C"/>
                </a:solidFill>
              </a:rPr>
              <a:t>a → b</a:t>
            </a:r>
            <a:r>
              <a:rPr lang="en-US" sz="1100" dirty="0">
                <a:solidFill>
                  <a:srgbClr val="000000"/>
                </a:solidFill>
              </a:rPr>
              <a:t>  (mismo proceso, a antes que b)
</a:t>
            </a:r>
            <a:r>
              <a:rPr lang="en-US" sz="1100" b="1" dirty="0">
                <a:solidFill>
                  <a:srgbClr val="00B4D8"/>
                </a:solidFill>
              </a:rPr>
              <a:t>a → e</a:t>
            </a:r>
            <a:r>
              <a:rPr lang="en-US" sz="1100" dirty="0">
                <a:solidFill>
                  <a:srgbClr val="000000"/>
                </a:solidFill>
              </a:rPr>
              <a:t>  (mensaje: P1 envía a P2)
</a:t>
            </a:r>
            <a:r>
              <a:rPr lang="en-US" sz="1100" b="1" dirty="0">
                <a:solidFill>
                  <a:srgbClr val="000000"/>
                </a:solidFill>
              </a:rPr>
              <a:t>Transitiva: </a:t>
            </a:r>
            <a:r>
              <a:rPr lang="en-US" sz="1100" dirty="0">
                <a:solidFill>
                  <a:srgbClr val="EA580C"/>
                </a:solidFill>
              </a:rPr>
              <a:t>a → b ∧ b → c  ⟹  a → c</a:t>
            </a:r>
            <a:endParaRPr lang="en-US" sz="1100" dirty="0"/>
          </a:p>
        </p:txBody>
      </p:sp>
      <p:sp>
        <p:nvSpPr>
          <p:cNvPr id="51" name="Text 49"/>
          <p:cNvSpPr/>
          <p:nvPr/>
        </p:nvSpPr>
        <p:spPr>
          <a:xfrm>
            <a:off x="4572000" y="3931920"/>
            <a:ext cx="4114800" cy="914400"/>
          </a:xfrm>
          <a:prstGeom prst="rect">
            <a:avLst/>
          </a:prstGeom>
          <a:noFill/>
          <a:ln/>
        </p:spPr>
        <p:txBody>
          <a:bodyPr wrap="square" rtlCol="0" anchor="ctr"/>
          <a:lstStyle/>
          <a:p>
            <a:pPr marL="0" indent="0">
              <a:buNone/>
            </a:pPr>
            <a:r>
              <a:rPr lang="en-US" sz="1100" b="1" dirty="0">
                <a:solidFill>
                  <a:srgbClr val="0E4D92"/>
                </a:solidFill>
              </a:rPr>
              <a:t>Propiedad clave: </a:t>
            </a:r>
            <a:r>
              <a:rPr lang="en-US" sz="1100" dirty="0">
                <a:solidFill>
                  <a:srgbClr val="0A1628"/>
                </a:solidFill>
              </a:rPr>
              <a:t>Si LC(a) &lt; LC(b) NO necesariamente a → b.</a:t>
            </a:r>
            <a:endParaRPr lang="en-US" sz="1100" dirty="0"/>
          </a:p>
          <a:p>
            <a:pPr marL="0" indent="0">
              <a:buNone/>
            </a:pPr>
            <a:r>
              <a:rPr lang="en-US" sz="1100" dirty="0">
                <a:solidFill>
                  <a:srgbClr val="0A1628"/>
                </a:solidFill>
              </a:rPr>
              <a:t>Pero si a → b, ENTONCES LC(a) &lt; LC(b). (Implicación, no equivalencia)</a:t>
            </a:r>
            <a:endParaRPr lang="en-US" sz="1100" dirty="0"/>
          </a:p>
        </p:txBody>
      </p:sp>
      <p:sp>
        <p:nvSpPr>
          <p:cNvPr id="52" name="Text 50"/>
          <p:cNvSpPr/>
          <p:nvPr/>
        </p:nvSpPr>
        <p:spPr>
          <a:xfrm>
            <a:off x="274320" y="4888848"/>
            <a:ext cx="6400800" cy="228600"/>
          </a:xfrm>
          <a:prstGeom prst="rect">
            <a:avLst/>
          </a:prstGeom>
          <a:noFill/>
          <a:ln/>
        </p:spPr>
        <p:txBody>
          <a:bodyPr wrap="square" rtlCol="0" anchor="ctr"/>
          <a:lstStyle/>
          <a:p>
            <a:pPr marL="0" indent="0">
              <a:buNone/>
            </a:pPr>
            <a:r>
              <a:rPr lang="en-US" sz="1200" i="1" dirty="0">
                <a:solidFill>
                  <a:srgbClr val="94A3B8"/>
                </a:solidFill>
              </a:rPr>
              <a:t>UTEQ · Aplicaciones Distribuidas</a:t>
            </a:r>
            <a:endParaRPr lang="en-US" sz="1200" dirty="0"/>
          </a:p>
        </p:txBody>
      </p:sp>
      <p:sp>
        <p:nvSpPr>
          <p:cNvPr id="53" name="Text 51"/>
          <p:cNvSpPr/>
          <p:nvPr/>
        </p:nvSpPr>
        <p:spPr>
          <a:xfrm>
            <a:off x="6574465" y="4888848"/>
            <a:ext cx="2286000" cy="228600"/>
          </a:xfrm>
          <a:prstGeom prst="rect">
            <a:avLst/>
          </a:prstGeom>
          <a:noFill/>
          <a:ln/>
        </p:spPr>
        <p:txBody>
          <a:bodyPr wrap="square" rtlCol="0" anchor="ctr"/>
          <a:lstStyle/>
          <a:p>
            <a:pPr marL="0" indent="0" algn="r">
              <a:buNone/>
            </a:pPr>
            <a:r>
              <a:rPr lang="en-US" sz="1200" dirty="0">
                <a:solidFill>
                  <a:srgbClr val="94A3B8"/>
                </a:solidFill>
              </a:rPr>
              <a:t>Semana 3 | 18–24 May 2026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B4D8"/>
          </a:solidFill>
          <a:ln/>
        </p:spPr>
      </p:sp>
      <p:sp>
        <p:nvSpPr>
          <p:cNvPr id="3" name="Text 1"/>
          <p:cNvSpPr/>
          <p:nvPr/>
        </p:nvSpPr>
        <p:spPr>
          <a:xfrm>
            <a:off x="365760" y="45720"/>
            <a:ext cx="8412480" cy="731520"/>
          </a:xfrm>
          <a:prstGeom prst="rect">
            <a:avLst/>
          </a:prstGeom>
          <a:noFill/>
          <a:ln/>
        </p:spPr>
        <p:txBody>
          <a:bodyPr wrap="square" rtlCol="0" anchor="ctr"/>
          <a:lstStyle/>
          <a:p>
            <a:pPr marL="0" indent="0">
              <a:buNone/>
            </a:pPr>
            <a:r>
              <a:rPr lang="en-US" sz="2200" b="1" dirty="0">
                <a:solidFill>
                  <a:srgbClr val="0A1628"/>
                </a:solidFill>
              </a:rPr>
              <a:t>🧪  PRÁCTICA DE CLASE — Semana 3</a:t>
            </a:r>
            <a:endParaRPr lang="en-US" sz="2200" dirty="0"/>
          </a:p>
        </p:txBody>
      </p:sp>
      <p:sp>
        <p:nvSpPr>
          <p:cNvPr id="4" name="Text 2"/>
          <p:cNvSpPr/>
          <p:nvPr/>
        </p:nvSpPr>
        <p:spPr>
          <a:xfrm>
            <a:off x="365760" y="896112"/>
            <a:ext cx="8412480" cy="347472"/>
          </a:xfrm>
          <a:prstGeom prst="rect">
            <a:avLst/>
          </a:prstGeom>
          <a:noFill/>
          <a:ln/>
        </p:spPr>
        <p:txBody>
          <a:bodyPr wrap="square" rtlCol="0" anchor="ctr"/>
          <a:lstStyle/>
          <a:p>
            <a:pPr marL="0" indent="0" algn="ctr">
              <a:buNone/>
            </a:pPr>
            <a:r>
              <a:rPr lang="en-US" sz="1300" b="1" dirty="0">
                <a:solidFill>
                  <a:srgbClr val="00B4D8"/>
                </a:solidFill>
              </a:rPr>
              <a:t>Simulación de Relojes de Lamport + Implementación en Python</a:t>
            </a:r>
            <a:endParaRPr lang="en-US" sz="1300" dirty="0"/>
          </a:p>
        </p:txBody>
      </p:sp>
      <p:sp>
        <p:nvSpPr>
          <p:cNvPr id="5" name="Shape 3"/>
          <p:cNvSpPr/>
          <p:nvPr/>
        </p:nvSpPr>
        <p:spPr>
          <a:xfrm>
            <a:off x="274320" y="1298448"/>
            <a:ext cx="8595360" cy="347472"/>
          </a:xfrm>
          <a:prstGeom prst="rect">
            <a:avLst/>
          </a:prstGeom>
          <a:solidFill>
            <a:srgbClr val="0E2F5E"/>
          </a:solidFill>
          <a:ln/>
        </p:spPr>
      </p:sp>
      <p:sp>
        <p:nvSpPr>
          <p:cNvPr id="6" name="Text 4"/>
          <p:cNvSpPr/>
          <p:nvPr/>
        </p:nvSpPr>
        <p:spPr>
          <a:xfrm>
            <a:off x="457200" y="1316736"/>
            <a:ext cx="8229600" cy="310896"/>
          </a:xfrm>
          <a:prstGeom prst="rect">
            <a:avLst/>
          </a:prstGeom>
          <a:noFill/>
          <a:ln/>
        </p:spPr>
        <p:txBody>
          <a:bodyPr wrap="square" rtlCol="0" anchor="ctr"/>
          <a:lstStyle/>
          <a:p>
            <a:pPr marL="0" indent="0">
              <a:buNone/>
            </a:pPr>
            <a:r>
              <a:rPr lang="en-US" sz="1100" b="1" dirty="0">
                <a:solidFill>
                  <a:srgbClr val="00B4D8"/>
                </a:solidFill>
              </a:rPr>
              <a:t>PARTE 1 (20 min) — Simulación en papel  |  Individual, luego debate grupal</a:t>
            </a:r>
            <a:endParaRPr lang="en-US" sz="1100" dirty="0"/>
          </a:p>
        </p:txBody>
      </p:sp>
      <p:sp>
        <p:nvSpPr>
          <p:cNvPr id="7" name="Text 5"/>
          <p:cNvSpPr/>
          <p:nvPr/>
        </p:nvSpPr>
        <p:spPr>
          <a:xfrm>
            <a:off x="294880" y="1642024"/>
            <a:ext cx="8412480" cy="1371600"/>
          </a:xfrm>
          <a:prstGeom prst="rect">
            <a:avLst/>
          </a:prstGeom>
          <a:noFill/>
          <a:ln/>
        </p:spPr>
        <p:txBody>
          <a:bodyPr wrap="square" rtlCol="0" anchor="ctr"/>
          <a:lstStyle/>
          <a:p>
            <a:pPr marL="0" indent="0">
              <a:buNone/>
            </a:pPr>
            <a:r>
              <a:rPr lang="en-US" sz="1050" dirty="0">
                <a:solidFill>
                  <a:srgbClr val="FFFFFF"/>
                </a:solidFill>
              </a:rPr>
              <a:t>Dados 3 procesos P1, P2, P3 con los siguientes eventos:</a:t>
            </a:r>
            <a:endParaRPr lang="en-US" sz="1050" dirty="0"/>
          </a:p>
          <a:p>
            <a:pPr marL="0" indent="0">
              <a:buNone/>
            </a:pPr>
            <a:r>
              <a:rPr lang="en-US" sz="1050" dirty="0">
                <a:solidFill>
                  <a:srgbClr val="FFFFFF"/>
                </a:solidFill>
              </a:rPr>
              <a:t>P1: a(int) → b(send→P2) → d(recv desde P3)</a:t>
            </a:r>
            <a:endParaRPr lang="en-US" sz="1050" dirty="0"/>
          </a:p>
          <a:p>
            <a:pPr marL="0" indent="0">
              <a:buNone/>
            </a:pPr>
            <a:r>
              <a:rPr lang="en-US" sz="1050" dirty="0">
                <a:solidFill>
                  <a:srgbClr val="FFFFFF"/>
                </a:solidFill>
              </a:rPr>
              <a:t>P2: c(int) → e(recv desde P1) → g(send→P3)</a:t>
            </a:r>
            <a:endParaRPr lang="en-US" sz="1050" dirty="0"/>
          </a:p>
          <a:p>
            <a:pPr marL="0" indent="0">
              <a:buNone/>
            </a:pPr>
            <a:r>
              <a:rPr lang="en-US" sz="1050" dirty="0">
                <a:solidFill>
                  <a:srgbClr val="FFFFFF"/>
                </a:solidFill>
              </a:rPr>
              <a:t>P3: f(int) → h(recv desde P2) → i(send→P1)</a:t>
            </a:r>
          </a:p>
          <a:p>
            <a:pPr marL="0" indent="0">
              <a:buNone/>
            </a:pPr>
            <a:endParaRPr lang="en-US" sz="1050" dirty="0"/>
          </a:p>
          <a:p>
            <a:pPr marL="0" indent="0">
              <a:buNone/>
            </a:pPr>
            <a:r>
              <a:rPr lang="en-US" sz="1050" dirty="0">
                <a:solidFill>
                  <a:srgbClr val="FFFFFF"/>
                </a:solidFill>
              </a:rPr>
              <a:t>1. Asignar timestamps de Lamport a CADA evento siguiendo las 3 reglas.</a:t>
            </a:r>
            <a:endParaRPr lang="en-US" sz="1050" dirty="0"/>
          </a:p>
          <a:p>
            <a:pPr marL="0" indent="0">
              <a:buNone/>
            </a:pPr>
            <a:r>
              <a:rPr lang="en-US" sz="1050" dirty="0">
                <a:solidFill>
                  <a:srgbClr val="FFFFFF"/>
                </a:solidFill>
              </a:rPr>
              <a:t>2. Verificar: ¿existe algún evento donde LC(x) = LC(y) pero x ≠ y?</a:t>
            </a:r>
            <a:endParaRPr lang="en-US" sz="1050" dirty="0"/>
          </a:p>
          <a:p>
            <a:pPr marL="0" indent="0">
              <a:buNone/>
            </a:pPr>
            <a:r>
              <a:rPr lang="en-US" sz="1050" dirty="0">
                <a:solidFill>
                  <a:srgbClr val="FFFFFF"/>
                </a:solidFill>
              </a:rPr>
              <a:t>3. Determinar cuáles eventos son CONCURRENTES (no relacionados causalmente).</a:t>
            </a:r>
            <a:endParaRPr lang="en-US" sz="1050" dirty="0"/>
          </a:p>
        </p:txBody>
      </p:sp>
      <p:sp>
        <p:nvSpPr>
          <p:cNvPr id="8" name="Shape 6"/>
          <p:cNvSpPr/>
          <p:nvPr/>
        </p:nvSpPr>
        <p:spPr>
          <a:xfrm>
            <a:off x="274320" y="2988464"/>
            <a:ext cx="8595360" cy="347472"/>
          </a:xfrm>
          <a:prstGeom prst="rect">
            <a:avLst/>
          </a:prstGeom>
          <a:solidFill>
            <a:srgbClr val="0E2F5E"/>
          </a:solidFill>
          <a:ln/>
        </p:spPr>
      </p:sp>
      <p:sp>
        <p:nvSpPr>
          <p:cNvPr id="9" name="Text 7"/>
          <p:cNvSpPr/>
          <p:nvPr/>
        </p:nvSpPr>
        <p:spPr>
          <a:xfrm>
            <a:off x="400491" y="3006752"/>
            <a:ext cx="8229600" cy="310896"/>
          </a:xfrm>
          <a:prstGeom prst="rect">
            <a:avLst/>
          </a:prstGeom>
          <a:noFill/>
          <a:ln/>
        </p:spPr>
        <p:txBody>
          <a:bodyPr wrap="square" rtlCol="0" anchor="ctr"/>
          <a:lstStyle/>
          <a:p>
            <a:pPr marL="0" indent="0">
              <a:buNone/>
            </a:pPr>
            <a:r>
              <a:rPr lang="en-US" sz="1100" b="1" dirty="0">
                <a:solidFill>
                  <a:srgbClr val="00B4D8"/>
                </a:solidFill>
              </a:rPr>
              <a:t>PARTE 2 (25 min) — Implementación Python  |  Equipos de 2 personas</a:t>
            </a:r>
            <a:endParaRPr lang="en-US" sz="1100" dirty="0"/>
          </a:p>
        </p:txBody>
      </p:sp>
      <p:sp>
        <p:nvSpPr>
          <p:cNvPr id="10" name="Text 8"/>
          <p:cNvSpPr/>
          <p:nvPr/>
        </p:nvSpPr>
        <p:spPr>
          <a:xfrm>
            <a:off x="365760" y="3301632"/>
            <a:ext cx="8412480" cy="292608"/>
          </a:xfrm>
          <a:prstGeom prst="rect">
            <a:avLst/>
          </a:prstGeom>
          <a:noFill/>
          <a:ln/>
        </p:spPr>
        <p:txBody>
          <a:bodyPr wrap="square" rtlCol="0" anchor="ctr"/>
          <a:lstStyle/>
          <a:p>
            <a:pPr marL="0" indent="0">
              <a:buNone/>
            </a:pPr>
            <a:r>
              <a:rPr lang="en-US" sz="1050" dirty="0">
                <a:solidFill>
                  <a:srgbClr val="FFFFFF"/>
                </a:solidFill>
              </a:rPr>
              <a:t>Implementar en Python la clase LamportClock y simular el escenario del Parte 1:</a:t>
            </a:r>
            <a:endParaRPr lang="en-US" sz="1050" dirty="0"/>
          </a:p>
        </p:txBody>
      </p:sp>
      <p:sp>
        <p:nvSpPr>
          <p:cNvPr id="11" name="Shape 9"/>
          <p:cNvSpPr/>
          <p:nvPr/>
        </p:nvSpPr>
        <p:spPr>
          <a:xfrm>
            <a:off x="365760" y="3536455"/>
            <a:ext cx="8412480" cy="1561325"/>
          </a:xfrm>
          <a:prstGeom prst="rect">
            <a:avLst/>
          </a:prstGeom>
          <a:solidFill>
            <a:srgbClr val="1E293B"/>
          </a:solidFill>
          <a:ln/>
        </p:spPr>
      </p:sp>
      <p:sp>
        <p:nvSpPr>
          <p:cNvPr id="12" name="Text 10"/>
          <p:cNvSpPr/>
          <p:nvPr/>
        </p:nvSpPr>
        <p:spPr>
          <a:xfrm>
            <a:off x="502920" y="3554743"/>
            <a:ext cx="8229600" cy="1485089"/>
          </a:xfrm>
          <a:prstGeom prst="rect">
            <a:avLst/>
          </a:prstGeom>
          <a:noFill/>
          <a:ln/>
        </p:spPr>
        <p:txBody>
          <a:bodyPr wrap="square" rtlCol="0" anchor="ctr"/>
          <a:lstStyle/>
          <a:p>
            <a:pPr marL="0" indent="0">
              <a:buNone/>
            </a:pPr>
            <a:r>
              <a:rPr lang="en-US" sz="950" dirty="0">
                <a:solidFill>
                  <a:srgbClr val="A5F3FC"/>
                </a:solidFill>
                <a:latin typeface="Courier New" pitchFamily="34" charset="0"/>
                <a:ea typeface="Courier New" pitchFamily="34" charset="-122"/>
                <a:cs typeface="Courier New" pitchFamily="34" charset="-120"/>
              </a:rPr>
              <a:t>class LamportClock:</a:t>
            </a:r>
            <a:endParaRPr lang="en-US" sz="950" dirty="0"/>
          </a:p>
          <a:p>
            <a:pPr marL="0" indent="0">
              <a:buNone/>
            </a:pPr>
            <a:r>
              <a:rPr lang="en-US" sz="950" dirty="0">
                <a:solidFill>
                  <a:srgbClr val="A5F3FC"/>
                </a:solidFill>
                <a:latin typeface="Courier New" pitchFamily="34" charset="0"/>
                <a:ea typeface="Courier New" pitchFamily="34" charset="-122"/>
                <a:cs typeface="Courier New" pitchFamily="34" charset="-120"/>
              </a:rPr>
              <a:t>    def __init__(self, pid):</a:t>
            </a:r>
            <a:endParaRPr lang="en-US" sz="950" dirty="0"/>
          </a:p>
          <a:p>
            <a:pPr marL="0" indent="0">
              <a:buNone/>
            </a:pPr>
            <a:r>
              <a:rPr lang="en-US" sz="950" dirty="0">
                <a:solidFill>
                  <a:srgbClr val="A5F3FC"/>
                </a:solidFill>
                <a:latin typeface="Courier New" pitchFamily="34" charset="0"/>
                <a:ea typeface="Courier New" pitchFamily="34" charset="-122"/>
                <a:cs typeface="Courier New" pitchFamily="34" charset="-120"/>
              </a:rPr>
              <a:t>        self.pid = pid; self.lc = 0</a:t>
            </a:r>
            <a:endParaRPr lang="en-US" sz="950" dirty="0"/>
          </a:p>
          <a:p>
            <a:pPr marL="0" indent="0">
              <a:buNone/>
            </a:pPr>
            <a:r>
              <a:rPr lang="en-US" sz="950" dirty="0">
                <a:solidFill>
                  <a:srgbClr val="A5F3FC"/>
                </a:solidFill>
                <a:latin typeface="Courier New" pitchFamily="34" charset="0"/>
                <a:ea typeface="Courier New" pitchFamily="34" charset="-122"/>
                <a:cs typeface="Courier New" pitchFamily="34" charset="-120"/>
              </a:rPr>
              <a:t>    def tick(self):            # Regla 1 y 2</a:t>
            </a:r>
            <a:endParaRPr lang="en-US" sz="950" dirty="0"/>
          </a:p>
          <a:p>
            <a:pPr marL="0" indent="0">
              <a:buNone/>
            </a:pPr>
            <a:r>
              <a:rPr lang="en-US" sz="950" dirty="0">
                <a:solidFill>
                  <a:srgbClr val="A5F3FC"/>
                </a:solidFill>
                <a:latin typeface="Courier New" pitchFamily="34" charset="0"/>
                <a:ea typeface="Courier New" pitchFamily="34" charset="-122"/>
                <a:cs typeface="Courier New" pitchFamily="34" charset="-120"/>
              </a:rPr>
              <a:t>        self.lc += 1; return self.lc</a:t>
            </a:r>
            <a:endParaRPr lang="en-US" sz="950" dirty="0"/>
          </a:p>
          <a:p>
            <a:pPr marL="0" indent="0">
              <a:buNone/>
            </a:pPr>
            <a:r>
              <a:rPr lang="en-US" sz="950" dirty="0">
                <a:solidFill>
                  <a:srgbClr val="A5F3FC"/>
                </a:solidFill>
                <a:latin typeface="Courier New" pitchFamily="34" charset="0"/>
                <a:ea typeface="Courier New" pitchFamily="34" charset="-122"/>
                <a:cs typeface="Courier New" pitchFamily="34" charset="-120"/>
              </a:rPr>
              <a:t>    def receive(self, ts):     # Regla 3</a:t>
            </a:r>
            <a:endParaRPr lang="en-US" sz="950" dirty="0"/>
          </a:p>
          <a:p>
            <a:pPr marL="0" indent="0">
              <a:buNone/>
            </a:pPr>
            <a:r>
              <a:rPr lang="en-US" sz="950" dirty="0">
                <a:solidFill>
                  <a:srgbClr val="A5F3FC"/>
                </a:solidFill>
                <a:latin typeface="Courier New" pitchFamily="34" charset="0"/>
                <a:ea typeface="Courier New" pitchFamily="34" charset="-122"/>
                <a:cs typeface="Courier New" pitchFamily="34" charset="-120"/>
              </a:rPr>
              <a:t>        self.lc = max(self.lc, ts) + 1</a:t>
            </a:r>
            <a:endParaRPr lang="en-US" sz="950" dirty="0"/>
          </a:p>
          <a:p>
            <a:pPr marL="0" indent="0">
              <a:buNone/>
            </a:pPr>
            <a:r>
              <a:rPr lang="en-US" sz="950" dirty="0">
                <a:solidFill>
                  <a:srgbClr val="A5F3FC"/>
                </a:solidFill>
                <a:latin typeface="Courier New" pitchFamily="34" charset="0"/>
                <a:ea typeface="Courier New" pitchFamily="34" charset="-122"/>
                <a:cs typeface="Courier New" pitchFamily="34" charset="-120"/>
              </a:rPr>
              <a:t>        return self.lc</a:t>
            </a:r>
            <a:endParaRPr lang="en-US" sz="950" dirty="0"/>
          </a:p>
          <a:p>
            <a:pPr marL="0" indent="0">
              <a:buNone/>
            </a:pPr>
            <a:r>
              <a:rPr lang="en-US" sz="950" dirty="0">
                <a:solidFill>
                  <a:srgbClr val="A5F3FC"/>
                </a:solidFill>
                <a:latin typeface="Courier New" pitchFamily="34" charset="0"/>
                <a:ea typeface="Courier New" pitchFamily="34" charset="-122"/>
                <a:cs typeface="Courier New" pitchFamily="34" charset="-120"/>
              </a:rPr>
              <a:t>    def __repr__(self):</a:t>
            </a:r>
            <a:endParaRPr lang="en-US" sz="950" dirty="0"/>
          </a:p>
          <a:p>
            <a:pPr marL="0" indent="0">
              <a:buNone/>
            </a:pPr>
            <a:r>
              <a:rPr lang="en-US" sz="950" dirty="0">
                <a:solidFill>
                  <a:srgbClr val="A5F3FC"/>
                </a:solidFill>
                <a:latin typeface="Courier New" pitchFamily="34" charset="0"/>
                <a:ea typeface="Courier New" pitchFamily="34" charset="-122"/>
                <a:cs typeface="Courier New" pitchFamily="34" charset="-120"/>
              </a:rPr>
              <a:t>        return f"P{self.pid} → LC={self.lc}"</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C3AED"/>
          </a:solidFill>
          <a:ln/>
        </p:spPr>
      </p:sp>
      <p:sp>
        <p:nvSpPr>
          <p:cNvPr id="3" name="Text 1"/>
          <p:cNvSpPr/>
          <p:nvPr/>
        </p:nvSpPr>
        <p:spPr>
          <a:xfrm>
            <a:off x="365760" y="45720"/>
            <a:ext cx="8412480" cy="731520"/>
          </a:xfrm>
          <a:prstGeom prst="rect">
            <a:avLst/>
          </a:prstGeom>
          <a:noFill/>
          <a:ln/>
        </p:spPr>
        <p:txBody>
          <a:bodyPr wrap="square" rtlCol="0" anchor="ctr"/>
          <a:lstStyle/>
          <a:p>
            <a:pPr marL="0" indent="0">
              <a:buNone/>
            </a:pPr>
            <a:r>
              <a:rPr lang="en-US" sz="2100" b="1" dirty="0">
                <a:solidFill>
                  <a:srgbClr val="FFFFFF"/>
                </a:solidFill>
              </a:rPr>
              <a:t>🚀  PROBLEMA ADICIONAL — Modifiquen la Práctica</a:t>
            </a:r>
            <a:endParaRPr lang="en-US" sz="2100" dirty="0"/>
          </a:p>
        </p:txBody>
      </p:sp>
      <p:sp>
        <p:nvSpPr>
          <p:cNvPr id="4" name="Shape 2"/>
          <p:cNvSpPr/>
          <p:nvPr/>
        </p:nvSpPr>
        <p:spPr>
          <a:xfrm>
            <a:off x="274320" y="896112"/>
            <a:ext cx="8595360" cy="502920"/>
          </a:xfrm>
          <a:prstGeom prst="rect">
            <a:avLst/>
          </a:prstGeom>
          <a:solidFill>
            <a:srgbClr val="F5F3FF"/>
          </a:solidFill>
          <a:ln w="12700">
            <a:solidFill>
              <a:srgbClr val="7C3AED"/>
            </a:solidFill>
            <a:prstDash val="solid"/>
          </a:ln>
        </p:spPr>
      </p:sp>
      <p:sp>
        <p:nvSpPr>
          <p:cNvPr id="5" name="Text 3"/>
          <p:cNvSpPr/>
          <p:nvPr/>
        </p:nvSpPr>
        <p:spPr>
          <a:xfrm>
            <a:off x="457200" y="914400"/>
            <a:ext cx="8229600" cy="466344"/>
          </a:xfrm>
          <a:prstGeom prst="rect">
            <a:avLst/>
          </a:prstGeom>
          <a:noFill/>
          <a:ln/>
        </p:spPr>
        <p:txBody>
          <a:bodyPr wrap="square" rtlCol="0" anchor="ctr"/>
          <a:lstStyle/>
          <a:p>
            <a:pPr marL="0" indent="0">
              <a:buNone/>
            </a:pPr>
            <a:r>
              <a:rPr lang="en-US" sz="1400" b="1" dirty="0">
                <a:solidFill>
                  <a:srgbClr val="7C3AED"/>
                </a:solidFill>
              </a:rPr>
              <a:t>Sistema de Chat Distribuido con Relojes Vectoriales y Detección de Concurrencia</a:t>
            </a:r>
            <a:endParaRPr lang="en-US" sz="1400" dirty="0"/>
          </a:p>
        </p:txBody>
      </p:sp>
      <p:sp>
        <p:nvSpPr>
          <p:cNvPr id="6" name="Text 4"/>
          <p:cNvSpPr/>
          <p:nvPr/>
        </p:nvSpPr>
        <p:spPr>
          <a:xfrm>
            <a:off x="365760" y="1463040"/>
            <a:ext cx="8412480" cy="274320"/>
          </a:xfrm>
          <a:prstGeom prst="rect">
            <a:avLst/>
          </a:prstGeom>
          <a:noFill/>
          <a:ln/>
        </p:spPr>
        <p:txBody>
          <a:bodyPr wrap="square" rtlCol="0" anchor="ctr"/>
          <a:lstStyle/>
          <a:p>
            <a:pPr marL="0" indent="0">
              <a:buNone/>
            </a:pPr>
            <a:r>
              <a:rPr lang="en-US" sz="1100" dirty="0">
                <a:solidFill>
                  <a:srgbClr val="0A1628"/>
                </a:solidFill>
              </a:rPr>
              <a:t>Partiendo de la LamportClock implementada en clase, extiendan el sistema para:</a:t>
            </a:r>
            <a:endParaRPr lang="en-US" sz="1100" dirty="0"/>
          </a:p>
        </p:txBody>
      </p:sp>
      <p:sp>
        <p:nvSpPr>
          <p:cNvPr id="7" name="Shape 5"/>
          <p:cNvSpPr/>
          <p:nvPr/>
        </p:nvSpPr>
        <p:spPr>
          <a:xfrm>
            <a:off x="274320" y="1900600"/>
            <a:ext cx="384048" cy="384048"/>
          </a:xfrm>
          <a:prstGeom prst="rect">
            <a:avLst/>
          </a:prstGeom>
          <a:solidFill>
            <a:srgbClr val="7C3AED"/>
          </a:solidFill>
          <a:ln/>
        </p:spPr>
      </p:sp>
      <p:sp>
        <p:nvSpPr>
          <p:cNvPr id="8" name="Text 6"/>
          <p:cNvSpPr/>
          <p:nvPr/>
        </p:nvSpPr>
        <p:spPr>
          <a:xfrm>
            <a:off x="274320" y="1907688"/>
            <a:ext cx="384048" cy="384048"/>
          </a:xfrm>
          <a:prstGeom prst="rect">
            <a:avLst/>
          </a:prstGeom>
          <a:noFill/>
          <a:ln/>
        </p:spPr>
        <p:txBody>
          <a:bodyPr wrap="square" rtlCol="0" anchor="ctr"/>
          <a:lstStyle/>
          <a:p>
            <a:pPr marL="0" indent="0" algn="ctr">
              <a:buNone/>
            </a:pPr>
            <a:r>
              <a:rPr lang="en-US" sz="1200" b="1" dirty="0">
                <a:solidFill>
                  <a:srgbClr val="FFFFFF"/>
                </a:solidFill>
              </a:rPr>
              <a:t>1</a:t>
            </a:r>
            <a:endParaRPr lang="en-US" sz="1200" dirty="0"/>
          </a:p>
        </p:txBody>
      </p:sp>
      <p:sp>
        <p:nvSpPr>
          <p:cNvPr id="9" name="Text 7"/>
          <p:cNvSpPr/>
          <p:nvPr/>
        </p:nvSpPr>
        <p:spPr>
          <a:xfrm>
            <a:off x="749808" y="1819656"/>
            <a:ext cx="8046720" cy="201168"/>
          </a:xfrm>
          <a:prstGeom prst="rect">
            <a:avLst/>
          </a:prstGeom>
          <a:noFill/>
          <a:ln/>
        </p:spPr>
        <p:txBody>
          <a:bodyPr wrap="square" rtlCol="0" anchor="ctr"/>
          <a:lstStyle/>
          <a:p>
            <a:pPr marL="0" indent="0">
              <a:buNone/>
            </a:pPr>
            <a:r>
              <a:rPr lang="en-US" sz="1050" b="1" dirty="0">
                <a:solidFill>
                  <a:srgbClr val="7C3AED"/>
                </a:solidFill>
              </a:rPr>
              <a:t>Reloj Vectorial:</a:t>
            </a:r>
            <a:endParaRPr lang="en-US" sz="1050" dirty="0"/>
          </a:p>
        </p:txBody>
      </p:sp>
      <p:sp>
        <p:nvSpPr>
          <p:cNvPr id="10" name="Text 8"/>
          <p:cNvSpPr/>
          <p:nvPr/>
        </p:nvSpPr>
        <p:spPr>
          <a:xfrm>
            <a:off x="749808" y="2020824"/>
            <a:ext cx="8046720" cy="201168"/>
          </a:xfrm>
          <a:prstGeom prst="rect">
            <a:avLst/>
          </a:prstGeom>
          <a:noFill/>
          <a:ln/>
        </p:spPr>
        <p:txBody>
          <a:bodyPr wrap="square" rtlCol="0" anchor="ctr"/>
          <a:lstStyle/>
          <a:p>
            <a:pPr marL="0" indent="0">
              <a:buNone/>
            </a:pPr>
            <a:r>
              <a:rPr lang="en-US" sz="950" dirty="0">
                <a:solidFill>
                  <a:srgbClr val="0A1628"/>
                </a:solidFill>
              </a:rPr>
              <a:t>Reemplazar LamportClock por VectorClock(n_procesos, pid). El vector guarda el estado lógico de TODOS los procesos.</a:t>
            </a:r>
            <a:endParaRPr lang="en-US" sz="950" dirty="0"/>
          </a:p>
        </p:txBody>
      </p:sp>
      <p:sp>
        <p:nvSpPr>
          <p:cNvPr id="11" name="Text 9"/>
          <p:cNvSpPr/>
          <p:nvPr/>
        </p:nvSpPr>
        <p:spPr>
          <a:xfrm>
            <a:off x="749808" y="2240280"/>
            <a:ext cx="8046720" cy="201168"/>
          </a:xfrm>
          <a:prstGeom prst="rect">
            <a:avLst/>
          </a:prstGeom>
          <a:noFill/>
          <a:ln/>
        </p:spPr>
        <p:txBody>
          <a:bodyPr wrap="square" rtlCol="0" anchor="ctr"/>
          <a:lstStyle/>
          <a:p>
            <a:pPr marL="0" indent="0">
              <a:buNone/>
            </a:pPr>
            <a:r>
              <a:rPr lang="en-US" sz="850" i="1" dirty="0">
                <a:solidFill>
                  <a:srgbClr val="64748B"/>
                </a:solidFill>
              </a:rPr>
              <a:t>Pista: VectorClock.tick() incrementa solo la posición self.pid. VectorClock.receive(v) hace max elemento a elemento y luego incrementa.</a:t>
            </a:r>
            <a:endParaRPr lang="en-US" sz="850" dirty="0"/>
          </a:p>
        </p:txBody>
      </p:sp>
      <p:sp>
        <p:nvSpPr>
          <p:cNvPr id="12" name="Shape 10"/>
          <p:cNvSpPr/>
          <p:nvPr/>
        </p:nvSpPr>
        <p:spPr>
          <a:xfrm>
            <a:off x="274320" y="2514600"/>
            <a:ext cx="384048" cy="384048"/>
          </a:xfrm>
          <a:prstGeom prst="rect">
            <a:avLst/>
          </a:prstGeom>
          <a:solidFill>
            <a:srgbClr val="7C3AED"/>
          </a:solidFill>
          <a:ln/>
        </p:spPr>
      </p:sp>
      <p:sp>
        <p:nvSpPr>
          <p:cNvPr id="13" name="Text 11"/>
          <p:cNvSpPr/>
          <p:nvPr/>
        </p:nvSpPr>
        <p:spPr>
          <a:xfrm>
            <a:off x="274320" y="2521688"/>
            <a:ext cx="384048" cy="384048"/>
          </a:xfrm>
          <a:prstGeom prst="rect">
            <a:avLst/>
          </a:prstGeom>
          <a:noFill/>
          <a:ln/>
        </p:spPr>
        <p:txBody>
          <a:bodyPr wrap="square" rtlCol="0" anchor="ctr"/>
          <a:lstStyle/>
          <a:p>
            <a:pPr marL="0" indent="0" algn="ctr">
              <a:buNone/>
            </a:pPr>
            <a:r>
              <a:rPr lang="en-US" sz="1200" b="1" dirty="0">
                <a:solidFill>
                  <a:srgbClr val="FFFFFF"/>
                </a:solidFill>
              </a:rPr>
              <a:t>2</a:t>
            </a:r>
            <a:endParaRPr lang="en-US" sz="1200" dirty="0"/>
          </a:p>
        </p:txBody>
      </p:sp>
      <p:sp>
        <p:nvSpPr>
          <p:cNvPr id="14" name="Text 12"/>
          <p:cNvSpPr/>
          <p:nvPr/>
        </p:nvSpPr>
        <p:spPr>
          <a:xfrm>
            <a:off x="749808" y="2447832"/>
            <a:ext cx="8046720" cy="201168"/>
          </a:xfrm>
          <a:prstGeom prst="rect">
            <a:avLst/>
          </a:prstGeom>
          <a:noFill/>
          <a:ln/>
        </p:spPr>
        <p:txBody>
          <a:bodyPr wrap="square" rtlCol="0" anchor="ctr"/>
          <a:lstStyle/>
          <a:p>
            <a:pPr marL="0" indent="0">
              <a:buNone/>
            </a:pPr>
            <a:r>
              <a:rPr lang="en-US" sz="1050" b="1" dirty="0">
                <a:solidFill>
                  <a:srgbClr val="7C3AED"/>
                </a:solidFill>
              </a:rPr>
              <a:t>Detección de Concurrencia:</a:t>
            </a:r>
            <a:endParaRPr lang="en-US" sz="1050" dirty="0"/>
          </a:p>
        </p:txBody>
      </p:sp>
      <p:sp>
        <p:nvSpPr>
          <p:cNvPr id="15" name="Text 13"/>
          <p:cNvSpPr/>
          <p:nvPr/>
        </p:nvSpPr>
        <p:spPr>
          <a:xfrm>
            <a:off x="749808" y="2649000"/>
            <a:ext cx="8046720" cy="201168"/>
          </a:xfrm>
          <a:prstGeom prst="rect">
            <a:avLst/>
          </a:prstGeom>
          <a:noFill/>
          <a:ln/>
        </p:spPr>
        <p:txBody>
          <a:bodyPr wrap="square" rtlCol="0" anchor="ctr"/>
          <a:lstStyle/>
          <a:p>
            <a:pPr marL="0" indent="0">
              <a:buNone/>
            </a:pPr>
            <a:r>
              <a:rPr lang="en-US" sz="950" dirty="0">
                <a:solidFill>
                  <a:srgbClr val="0A1628"/>
                </a:solidFill>
              </a:rPr>
              <a:t>Implementar el método is_concurrent(v1, v2) → bool que retorna True si los dos eventos son concurrentes (ninguno hapened-before el otro).</a:t>
            </a:r>
            <a:endParaRPr lang="en-US" sz="950" dirty="0"/>
          </a:p>
        </p:txBody>
      </p:sp>
      <p:sp>
        <p:nvSpPr>
          <p:cNvPr id="16" name="Text 14"/>
          <p:cNvSpPr/>
          <p:nvPr/>
        </p:nvSpPr>
        <p:spPr>
          <a:xfrm>
            <a:off x="749808" y="2868456"/>
            <a:ext cx="8046720" cy="201168"/>
          </a:xfrm>
          <a:prstGeom prst="rect">
            <a:avLst/>
          </a:prstGeom>
          <a:noFill/>
          <a:ln/>
        </p:spPr>
        <p:txBody>
          <a:bodyPr wrap="square" rtlCol="0" anchor="ctr"/>
          <a:lstStyle/>
          <a:p>
            <a:pPr marL="0" indent="0">
              <a:buNone/>
            </a:pPr>
            <a:r>
              <a:rPr lang="en-US" sz="850" i="1" dirty="0">
                <a:solidFill>
                  <a:srgbClr val="64748B"/>
                </a:solidFill>
              </a:rPr>
              <a:t>Pista: v1 ∥ v2 ⟺ NOT(v1 ≤ v2) AND NOT(v2 ≤ v1)</a:t>
            </a:r>
            <a:endParaRPr lang="en-US" sz="850" dirty="0"/>
          </a:p>
        </p:txBody>
      </p:sp>
      <p:sp>
        <p:nvSpPr>
          <p:cNvPr id="17" name="Shape 15"/>
          <p:cNvSpPr/>
          <p:nvPr/>
        </p:nvSpPr>
        <p:spPr>
          <a:xfrm>
            <a:off x="274320" y="3192392"/>
            <a:ext cx="384048" cy="384048"/>
          </a:xfrm>
          <a:prstGeom prst="rect">
            <a:avLst/>
          </a:prstGeom>
          <a:solidFill>
            <a:srgbClr val="7C3AED"/>
          </a:solidFill>
          <a:ln/>
        </p:spPr>
      </p:sp>
      <p:sp>
        <p:nvSpPr>
          <p:cNvPr id="18" name="Text 16"/>
          <p:cNvSpPr/>
          <p:nvPr/>
        </p:nvSpPr>
        <p:spPr>
          <a:xfrm>
            <a:off x="274320" y="3185307"/>
            <a:ext cx="384048" cy="384048"/>
          </a:xfrm>
          <a:prstGeom prst="rect">
            <a:avLst/>
          </a:prstGeom>
          <a:noFill/>
          <a:ln/>
        </p:spPr>
        <p:txBody>
          <a:bodyPr wrap="square" rtlCol="0" anchor="ctr"/>
          <a:lstStyle/>
          <a:p>
            <a:pPr marL="0" indent="0" algn="ctr">
              <a:buNone/>
            </a:pPr>
            <a:r>
              <a:rPr lang="en-US" sz="1200" b="1" dirty="0">
                <a:solidFill>
                  <a:srgbClr val="FFFFFF"/>
                </a:solidFill>
              </a:rPr>
              <a:t>3</a:t>
            </a:r>
            <a:endParaRPr lang="en-US" sz="1200" dirty="0"/>
          </a:p>
        </p:txBody>
      </p:sp>
      <p:sp>
        <p:nvSpPr>
          <p:cNvPr id="19" name="Text 17"/>
          <p:cNvSpPr/>
          <p:nvPr/>
        </p:nvSpPr>
        <p:spPr>
          <a:xfrm>
            <a:off x="749808" y="3097272"/>
            <a:ext cx="8046720" cy="201168"/>
          </a:xfrm>
          <a:prstGeom prst="rect">
            <a:avLst/>
          </a:prstGeom>
          <a:noFill/>
          <a:ln/>
        </p:spPr>
        <p:txBody>
          <a:bodyPr wrap="square" rtlCol="0" anchor="ctr"/>
          <a:lstStyle/>
          <a:p>
            <a:pPr marL="0" indent="0">
              <a:buNone/>
            </a:pPr>
            <a:r>
              <a:rPr lang="en-US" sz="1050" b="1" dirty="0">
                <a:solidFill>
                  <a:srgbClr val="7C3AED"/>
                </a:solidFill>
              </a:rPr>
              <a:t>Servidor de Chat Multihilo:</a:t>
            </a:r>
            <a:endParaRPr lang="en-US" sz="1050" dirty="0"/>
          </a:p>
        </p:txBody>
      </p:sp>
      <p:sp>
        <p:nvSpPr>
          <p:cNvPr id="20" name="Text 18"/>
          <p:cNvSpPr/>
          <p:nvPr/>
        </p:nvSpPr>
        <p:spPr>
          <a:xfrm>
            <a:off x="749808" y="3298440"/>
            <a:ext cx="8046720" cy="201168"/>
          </a:xfrm>
          <a:prstGeom prst="rect">
            <a:avLst/>
          </a:prstGeom>
          <a:noFill/>
          <a:ln/>
        </p:spPr>
        <p:txBody>
          <a:bodyPr wrap="square" rtlCol="0" anchor="ctr"/>
          <a:lstStyle/>
          <a:p>
            <a:pPr marL="0" indent="0">
              <a:buNone/>
            </a:pPr>
            <a:r>
              <a:rPr lang="en-US" sz="950" dirty="0">
                <a:solidFill>
                  <a:srgbClr val="0A1628"/>
                </a:solidFill>
              </a:rPr>
              <a:t>Adaptar el servidor TCP para manejar 3 clientes simultáneos con threading. Cada mensaje recibido se retransmite con el vector clock actualizado.</a:t>
            </a:r>
            <a:endParaRPr lang="en-US" sz="950" dirty="0"/>
          </a:p>
        </p:txBody>
      </p:sp>
      <p:sp>
        <p:nvSpPr>
          <p:cNvPr id="21" name="Text 19"/>
          <p:cNvSpPr/>
          <p:nvPr/>
        </p:nvSpPr>
        <p:spPr>
          <a:xfrm>
            <a:off x="749808" y="3517896"/>
            <a:ext cx="8046720" cy="201168"/>
          </a:xfrm>
          <a:prstGeom prst="rect">
            <a:avLst/>
          </a:prstGeom>
          <a:noFill/>
          <a:ln/>
        </p:spPr>
        <p:txBody>
          <a:bodyPr wrap="square" rtlCol="0" anchor="ctr"/>
          <a:lstStyle/>
          <a:p>
            <a:pPr marL="0" indent="0">
              <a:buNone/>
            </a:pPr>
            <a:r>
              <a:rPr lang="en-US" sz="850" i="1" dirty="0">
                <a:solidFill>
                  <a:srgbClr val="64748B"/>
                </a:solidFill>
              </a:rPr>
              <a:t>Pista: usar threading.Thread(target=handle_client, args=(conn,)) por cada conexión.</a:t>
            </a:r>
            <a:endParaRPr lang="en-US" sz="850" dirty="0"/>
          </a:p>
        </p:txBody>
      </p:sp>
      <p:sp>
        <p:nvSpPr>
          <p:cNvPr id="22" name="Shape 20"/>
          <p:cNvSpPr/>
          <p:nvPr/>
        </p:nvSpPr>
        <p:spPr>
          <a:xfrm>
            <a:off x="274320" y="3870184"/>
            <a:ext cx="384048" cy="384048"/>
          </a:xfrm>
          <a:prstGeom prst="rect">
            <a:avLst/>
          </a:prstGeom>
          <a:solidFill>
            <a:srgbClr val="7C3AED"/>
          </a:solidFill>
          <a:ln/>
        </p:spPr>
      </p:sp>
      <p:sp>
        <p:nvSpPr>
          <p:cNvPr id="23" name="Text 21"/>
          <p:cNvSpPr/>
          <p:nvPr/>
        </p:nvSpPr>
        <p:spPr>
          <a:xfrm>
            <a:off x="274320" y="3870184"/>
            <a:ext cx="384048" cy="384048"/>
          </a:xfrm>
          <a:prstGeom prst="rect">
            <a:avLst/>
          </a:prstGeom>
          <a:noFill/>
          <a:ln/>
        </p:spPr>
        <p:txBody>
          <a:bodyPr wrap="square" rtlCol="0" anchor="ctr"/>
          <a:lstStyle/>
          <a:p>
            <a:pPr marL="0" indent="0" algn="ctr">
              <a:buNone/>
            </a:pPr>
            <a:r>
              <a:rPr lang="en-US" sz="1200" b="1" dirty="0">
                <a:solidFill>
                  <a:srgbClr val="FFFFFF"/>
                </a:solidFill>
              </a:rPr>
              <a:t>4</a:t>
            </a:r>
            <a:endParaRPr lang="en-US" sz="1200" dirty="0"/>
          </a:p>
        </p:txBody>
      </p:sp>
      <p:sp>
        <p:nvSpPr>
          <p:cNvPr id="24" name="Text 22"/>
          <p:cNvSpPr/>
          <p:nvPr/>
        </p:nvSpPr>
        <p:spPr>
          <a:xfrm>
            <a:off x="749808" y="3782152"/>
            <a:ext cx="8046720" cy="201168"/>
          </a:xfrm>
          <a:prstGeom prst="rect">
            <a:avLst/>
          </a:prstGeom>
          <a:noFill/>
          <a:ln/>
        </p:spPr>
        <p:txBody>
          <a:bodyPr wrap="square" rtlCol="0" anchor="ctr"/>
          <a:lstStyle/>
          <a:p>
            <a:pPr marL="0" indent="0">
              <a:buNone/>
            </a:pPr>
            <a:r>
              <a:rPr lang="en-US" sz="1050" b="1" dirty="0">
                <a:solidFill>
                  <a:srgbClr val="7C3AED"/>
                </a:solidFill>
              </a:rPr>
              <a:t>Log de causalidad:</a:t>
            </a:r>
            <a:endParaRPr lang="en-US" sz="1050" dirty="0"/>
          </a:p>
        </p:txBody>
      </p:sp>
      <p:sp>
        <p:nvSpPr>
          <p:cNvPr id="25" name="Text 23"/>
          <p:cNvSpPr/>
          <p:nvPr/>
        </p:nvSpPr>
        <p:spPr>
          <a:xfrm>
            <a:off x="749808" y="3983320"/>
            <a:ext cx="8046720" cy="201168"/>
          </a:xfrm>
          <a:prstGeom prst="rect">
            <a:avLst/>
          </a:prstGeom>
          <a:noFill/>
          <a:ln/>
        </p:spPr>
        <p:txBody>
          <a:bodyPr wrap="square" rtlCol="0" anchor="ctr"/>
          <a:lstStyle/>
          <a:p>
            <a:pPr marL="0" indent="0">
              <a:buNone/>
            </a:pPr>
            <a:r>
              <a:rPr lang="en-US" sz="950" dirty="0">
                <a:solidFill>
                  <a:srgbClr val="0A1628"/>
                </a:solidFill>
              </a:rPr>
              <a:t>Guardar en un archivo messages.log cada mensaje con: [timestamp_vector, proceso_origen, contenido]. Al final, ordenar los mensajes por causalidad.</a:t>
            </a:r>
            <a:endParaRPr lang="en-US" sz="950" dirty="0"/>
          </a:p>
        </p:txBody>
      </p:sp>
      <p:sp>
        <p:nvSpPr>
          <p:cNvPr id="26" name="Text 24"/>
          <p:cNvSpPr/>
          <p:nvPr/>
        </p:nvSpPr>
        <p:spPr>
          <a:xfrm>
            <a:off x="749808" y="4202776"/>
            <a:ext cx="8046720" cy="201168"/>
          </a:xfrm>
          <a:prstGeom prst="rect">
            <a:avLst/>
          </a:prstGeom>
          <a:noFill/>
          <a:ln/>
        </p:spPr>
        <p:txBody>
          <a:bodyPr wrap="square" rtlCol="0" anchor="ctr"/>
          <a:lstStyle/>
          <a:p>
            <a:pPr marL="0" indent="0">
              <a:buNone/>
            </a:pPr>
            <a:r>
              <a:rPr lang="en-US" sz="850" i="1" dirty="0">
                <a:solidFill>
                  <a:srgbClr val="64748B"/>
                </a:solidFill>
              </a:rPr>
              <a:t>Entregable: ejecutar con 3 terminales simultáneas y mostrar el log ordenado causalmente.</a:t>
            </a:r>
            <a:endParaRPr lang="en-US" sz="850" dirty="0"/>
          </a:p>
        </p:txBody>
      </p:sp>
      <p:sp>
        <p:nvSpPr>
          <p:cNvPr id="27" name="Shape 25"/>
          <p:cNvSpPr/>
          <p:nvPr/>
        </p:nvSpPr>
        <p:spPr>
          <a:xfrm>
            <a:off x="274320" y="4526280"/>
            <a:ext cx="8595360" cy="502920"/>
          </a:xfrm>
          <a:prstGeom prst="rect">
            <a:avLst/>
          </a:prstGeom>
          <a:solidFill>
            <a:srgbClr val="EDE9FE"/>
          </a:solidFill>
          <a:ln w="12700">
            <a:solidFill>
              <a:srgbClr val="7C3AED"/>
            </a:solidFill>
            <a:prstDash val="solid"/>
          </a:ln>
        </p:spPr>
      </p:sp>
      <p:sp>
        <p:nvSpPr>
          <p:cNvPr id="28" name="Text 26"/>
          <p:cNvSpPr/>
          <p:nvPr/>
        </p:nvSpPr>
        <p:spPr>
          <a:xfrm>
            <a:off x="457200" y="4551168"/>
            <a:ext cx="8321040" cy="310896"/>
          </a:xfrm>
          <a:prstGeom prst="rect">
            <a:avLst/>
          </a:prstGeom>
          <a:noFill/>
          <a:ln/>
        </p:spPr>
        <p:txBody>
          <a:bodyPr wrap="square" rtlCol="0" anchor="ctr"/>
          <a:lstStyle/>
          <a:p>
            <a:pPr marL="0" indent="0">
              <a:buNone/>
            </a:pPr>
            <a:r>
              <a:rPr lang="en-US" sz="950" dirty="0">
                <a:solidFill>
                  <a:srgbClr val="7C3AED"/>
                </a:solidFill>
              </a:rPr>
              <a:t>📅  Entrega: Opcional para nota extra (bonus +5 pts en TA). Subir repositorio GitHub con README y demo de 3 terminales.</a:t>
            </a:r>
            <a:endParaRPr lang="en-US" sz="950" dirty="0"/>
          </a:p>
        </p:txBody>
      </p:sp>
      <p:sp>
        <p:nvSpPr>
          <p:cNvPr id="29" name="Text 27"/>
          <p:cNvSpPr/>
          <p:nvPr/>
        </p:nvSpPr>
        <p:spPr>
          <a:xfrm>
            <a:off x="274320" y="4803792"/>
            <a:ext cx="6400800" cy="228600"/>
          </a:xfrm>
          <a:prstGeom prst="rect">
            <a:avLst/>
          </a:prstGeom>
          <a:noFill/>
          <a:ln/>
        </p:spPr>
        <p:txBody>
          <a:bodyPr wrap="square" rtlCol="0" anchor="ctr"/>
          <a:lstStyle/>
          <a:p>
            <a:pPr marL="0" indent="0">
              <a:buNone/>
            </a:pPr>
            <a:r>
              <a:rPr lang="en-US" sz="1050" i="1" dirty="0">
                <a:solidFill>
                  <a:srgbClr val="94A3B8"/>
                </a:solidFill>
              </a:rPr>
              <a:t>UTEQ · Aplicaciones Distribuidas</a:t>
            </a:r>
            <a:endParaRPr lang="en-US" sz="1050" dirty="0"/>
          </a:p>
        </p:txBody>
      </p:sp>
      <p:sp>
        <p:nvSpPr>
          <p:cNvPr id="30" name="Text 28"/>
          <p:cNvSpPr/>
          <p:nvPr/>
        </p:nvSpPr>
        <p:spPr>
          <a:xfrm>
            <a:off x="6574465" y="4803792"/>
            <a:ext cx="2286000" cy="228600"/>
          </a:xfrm>
          <a:prstGeom prst="rect">
            <a:avLst/>
          </a:prstGeom>
          <a:noFill/>
          <a:ln/>
        </p:spPr>
        <p:txBody>
          <a:bodyPr wrap="square" rtlCol="0" anchor="ctr"/>
          <a:lstStyle/>
          <a:p>
            <a:pPr marL="0" indent="0" algn="r">
              <a:buNone/>
            </a:pPr>
            <a:r>
              <a:rPr lang="en-US" sz="1050" dirty="0">
                <a:solidFill>
                  <a:srgbClr val="94A3B8"/>
                </a:solidFill>
              </a:rPr>
              <a:t>Semana 3 | 18–24 May 2026</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B4D8"/>
          </a:solidFill>
          <a:ln/>
        </p:spPr>
      </p:sp>
      <p:sp>
        <p:nvSpPr>
          <p:cNvPr id="3" name="Text 1"/>
          <p:cNvSpPr/>
          <p:nvPr/>
        </p:nvSpPr>
        <p:spPr>
          <a:xfrm>
            <a:off x="365760" y="182880"/>
            <a:ext cx="8412480" cy="548640"/>
          </a:xfrm>
          <a:prstGeom prst="rect">
            <a:avLst/>
          </a:prstGeom>
          <a:noFill/>
          <a:ln/>
        </p:spPr>
        <p:txBody>
          <a:bodyPr wrap="square" rtlCol="0" anchor="ctr"/>
          <a:lstStyle/>
          <a:p>
            <a:pPr marL="0" indent="0">
              <a:buNone/>
            </a:pPr>
            <a:r>
              <a:rPr lang="en-US" sz="2600" b="1" dirty="0">
                <a:solidFill>
                  <a:srgbClr val="FFFFFF"/>
                </a:solidFill>
              </a:rPr>
              <a:t>Resumen y Tareas — Semana 3</a:t>
            </a:r>
            <a:endParaRPr lang="en-US" sz="2600" dirty="0"/>
          </a:p>
        </p:txBody>
      </p:sp>
      <p:sp>
        <p:nvSpPr>
          <p:cNvPr id="4" name="Shape 2"/>
          <p:cNvSpPr/>
          <p:nvPr/>
        </p:nvSpPr>
        <p:spPr>
          <a:xfrm>
            <a:off x="274320" y="914400"/>
            <a:ext cx="4114800" cy="1078992"/>
          </a:xfrm>
          <a:prstGeom prst="rect">
            <a:avLst/>
          </a:prstGeom>
          <a:solidFill>
            <a:srgbClr val="0E2F5E"/>
          </a:solidFill>
          <a:ln w="6350">
            <a:solidFill>
              <a:srgbClr val="00B4D8"/>
            </a:solidFill>
            <a:prstDash val="solid"/>
          </a:ln>
        </p:spPr>
      </p:sp>
      <p:sp>
        <p:nvSpPr>
          <p:cNvPr id="5" name="Text 3"/>
          <p:cNvSpPr/>
          <p:nvPr/>
        </p:nvSpPr>
        <p:spPr>
          <a:xfrm>
            <a:off x="411480" y="987552"/>
            <a:ext cx="3840480" cy="347472"/>
          </a:xfrm>
          <a:prstGeom prst="rect">
            <a:avLst/>
          </a:prstGeom>
          <a:noFill/>
          <a:ln/>
        </p:spPr>
        <p:txBody>
          <a:bodyPr wrap="square" rtlCol="0" anchor="ctr"/>
          <a:lstStyle/>
          <a:p>
            <a:pPr marL="0" indent="0">
              <a:buNone/>
            </a:pPr>
            <a:r>
              <a:rPr lang="en-US" sz="1600" b="1" dirty="0">
                <a:solidFill>
                  <a:srgbClr val="00B4D8"/>
                </a:solidFill>
              </a:rPr>
              <a:t>🏗️  Modelos SD</a:t>
            </a:r>
            <a:endParaRPr lang="en-US" sz="1600" dirty="0"/>
          </a:p>
        </p:txBody>
      </p:sp>
      <p:sp>
        <p:nvSpPr>
          <p:cNvPr id="6" name="Text 4"/>
          <p:cNvSpPr/>
          <p:nvPr/>
        </p:nvSpPr>
        <p:spPr>
          <a:xfrm>
            <a:off x="411480" y="1371600"/>
            <a:ext cx="3840480" cy="548640"/>
          </a:xfrm>
          <a:prstGeom prst="rect">
            <a:avLst/>
          </a:prstGeom>
          <a:noFill/>
          <a:ln/>
        </p:spPr>
        <p:txBody>
          <a:bodyPr wrap="square" rtlCol="0" anchor="ctr"/>
          <a:lstStyle/>
          <a:p>
            <a:pPr marL="0" indent="0">
              <a:buNone/>
            </a:pPr>
            <a:r>
              <a:rPr lang="en-US" sz="1050" dirty="0">
                <a:solidFill>
                  <a:srgbClr val="CBD5E1"/>
                </a:solidFill>
              </a:rPr>
              <a:t>C/S, P2P e Híbrido: cada uno con trade-offs claros de escalabilidad, tolerancia y complejidad.</a:t>
            </a:r>
            <a:endParaRPr lang="en-US" sz="1050" dirty="0"/>
          </a:p>
        </p:txBody>
      </p:sp>
      <p:sp>
        <p:nvSpPr>
          <p:cNvPr id="7" name="Shape 5"/>
          <p:cNvSpPr/>
          <p:nvPr/>
        </p:nvSpPr>
        <p:spPr>
          <a:xfrm>
            <a:off x="4709160" y="914400"/>
            <a:ext cx="4114800" cy="1078992"/>
          </a:xfrm>
          <a:prstGeom prst="rect">
            <a:avLst/>
          </a:prstGeom>
          <a:solidFill>
            <a:srgbClr val="0E2F5E"/>
          </a:solidFill>
          <a:ln w="6350">
            <a:solidFill>
              <a:srgbClr val="00B4D8"/>
            </a:solidFill>
            <a:prstDash val="solid"/>
          </a:ln>
        </p:spPr>
      </p:sp>
      <p:sp>
        <p:nvSpPr>
          <p:cNvPr id="8" name="Text 6"/>
          <p:cNvSpPr/>
          <p:nvPr/>
        </p:nvSpPr>
        <p:spPr>
          <a:xfrm>
            <a:off x="4846320" y="987552"/>
            <a:ext cx="3840480" cy="347472"/>
          </a:xfrm>
          <a:prstGeom prst="rect">
            <a:avLst/>
          </a:prstGeom>
          <a:noFill/>
          <a:ln/>
        </p:spPr>
        <p:txBody>
          <a:bodyPr wrap="square" rtlCol="0" anchor="ctr"/>
          <a:lstStyle/>
          <a:p>
            <a:pPr marL="0" indent="0">
              <a:buNone/>
            </a:pPr>
            <a:r>
              <a:rPr lang="en-US" sz="1600" b="1" dirty="0">
                <a:solidFill>
                  <a:srgbClr val="00B4D8"/>
                </a:solidFill>
              </a:rPr>
              <a:t>📡  Comunicación</a:t>
            </a:r>
            <a:endParaRPr lang="en-US" sz="1600" dirty="0"/>
          </a:p>
        </p:txBody>
      </p:sp>
      <p:sp>
        <p:nvSpPr>
          <p:cNvPr id="9" name="Text 7"/>
          <p:cNvSpPr/>
          <p:nvPr/>
        </p:nvSpPr>
        <p:spPr>
          <a:xfrm>
            <a:off x="4846320" y="1371600"/>
            <a:ext cx="3840480" cy="548640"/>
          </a:xfrm>
          <a:prstGeom prst="rect">
            <a:avLst/>
          </a:prstGeom>
          <a:noFill/>
          <a:ln/>
        </p:spPr>
        <p:txBody>
          <a:bodyPr wrap="square" rtlCol="0" anchor="ctr"/>
          <a:lstStyle/>
          <a:p>
            <a:pPr marL="0" indent="0">
              <a:buNone/>
            </a:pPr>
            <a:r>
              <a:rPr lang="en-US" sz="1050" dirty="0">
                <a:solidFill>
                  <a:srgbClr val="CBD5E1"/>
                </a:solidFill>
              </a:rPr>
              <a:t>Sockets (bytes) → RPC (funciones remotas) → gRPC (contratos .proto + Protocol Buffers).</a:t>
            </a:r>
            <a:endParaRPr lang="en-US" sz="1050" dirty="0"/>
          </a:p>
        </p:txBody>
      </p:sp>
      <p:sp>
        <p:nvSpPr>
          <p:cNvPr id="10" name="Shape 8"/>
          <p:cNvSpPr/>
          <p:nvPr/>
        </p:nvSpPr>
        <p:spPr>
          <a:xfrm>
            <a:off x="274320" y="2103120"/>
            <a:ext cx="4114800" cy="1078992"/>
          </a:xfrm>
          <a:prstGeom prst="rect">
            <a:avLst/>
          </a:prstGeom>
          <a:solidFill>
            <a:srgbClr val="0E2F5E"/>
          </a:solidFill>
          <a:ln w="6350">
            <a:solidFill>
              <a:srgbClr val="00B4D8"/>
            </a:solidFill>
            <a:prstDash val="solid"/>
          </a:ln>
        </p:spPr>
      </p:sp>
      <p:sp>
        <p:nvSpPr>
          <p:cNvPr id="11" name="Text 9"/>
          <p:cNvSpPr/>
          <p:nvPr/>
        </p:nvSpPr>
        <p:spPr>
          <a:xfrm>
            <a:off x="411480" y="2176272"/>
            <a:ext cx="3840480" cy="347472"/>
          </a:xfrm>
          <a:prstGeom prst="rect">
            <a:avLst/>
          </a:prstGeom>
          <a:noFill/>
          <a:ln/>
        </p:spPr>
        <p:txBody>
          <a:bodyPr wrap="square" rtlCol="0" anchor="ctr"/>
          <a:lstStyle/>
          <a:p>
            <a:pPr marL="0" indent="0">
              <a:buNone/>
            </a:pPr>
            <a:r>
              <a:rPr lang="en-US" sz="1600" b="1" dirty="0">
                <a:solidFill>
                  <a:srgbClr val="00B4D8"/>
                </a:solidFill>
              </a:rPr>
              <a:t>🔧  Middleware</a:t>
            </a:r>
            <a:endParaRPr lang="en-US" sz="1600" dirty="0"/>
          </a:p>
        </p:txBody>
      </p:sp>
      <p:sp>
        <p:nvSpPr>
          <p:cNvPr id="12" name="Text 10"/>
          <p:cNvSpPr/>
          <p:nvPr/>
        </p:nvSpPr>
        <p:spPr>
          <a:xfrm>
            <a:off x="411480" y="2560320"/>
            <a:ext cx="3840480" cy="548640"/>
          </a:xfrm>
          <a:prstGeom prst="rect">
            <a:avLst/>
          </a:prstGeom>
          <a:noFill/>
          <a:ln/>
        </p:spPr>
        <p:txBody>
          <a:bodyPr wrap="square" rtlCol="0" anchor="ctr"/>
          <a:lstStyle/>
          <a:p>
            <a:pPr marL="0" indent="0">
              <a:buNone/>
            </a:pPr>
            <a:r>
              <a:rPr lang="en-US" sz="1050" dirty="0">
                <a:solidFill>
                  <a:srgbClr val="CBD5E1"/>
                </a:solidFill>
              </a:rPr>
              <a:t>El 'pegamento' invisible: MOM (Kafka), Object (RMI), Web (REST), Data (ZooKeeper).</a:t>
            </a:r>
            <a:endParaRPr lang="en-US" sz="1050" dirty="0"/>
          </a:p>
        </p:txBody>
      </p:sp>
      <p:sp>
        <p:nvSpPr>
          <p:cNvPr id="13" name="Shape 11"/>
          <p:cNvSpPr/>
          <p:nvPr/>
        </p:nvSpPr>
        <p:spPr>
          <a:xfrm>
            <a:off x="4709160" y="2103120"/>
            <a:ext cx="4114800" cy="1078992"/>
          </a:xfrm>
          <a:prstGeom prst="rect">
            <a:avLst/>
          </a:prstGeom>
          <a:solidFill>
            <a:srgbClr val="0E2F5E"/>
          </a:solidFill>
          <a:ln w="6350">
            <a:solidFill>
              <a:srgbClr val="00B4D8"/>
            </a:solidFill>
            <a:prstDash val="solid"/>
          </a:ln>
        </p:spPr>
      </p:sp>
      <p:sp>
        <p:nvSpPr>
          <p:cNvPr id="14" name="Text 12"/>
          <p:cNvSpPr/>
          <p:nvPr/>
        </p:nvSpPr>
        <p:spPr>
          <a:xfrm>
            <a:off x="4846320" y="2176272"/>
            <a:ext cx="3840480" cy="347472"/>
          </a:xfrm>
          <a:prstGeom prst="rect">
            <a:avLst/>
          </a:prstGeom>
          <a:noFill/>
          <a:ln/>
        </p:spPr>
        <p:txBody>
          <a:bodyPr wrap="square" rtlCol="0" anchor="ctr"/>
          <a:lstStyle/>
          <a:p>
            <a:pPr marL="0" indent="0">
              <a:buNone/>
            </a:pPr>
            <a:r>
              <a:rPr lang="en-US" sz="1600" b="1" dirty="0">
                <a:solidFill>
                  <a:srgbClr val="00B4D8"/>
                </a:solidFill>
              </a:rPr>
              <a:t>⏱️  Lamport</a:t>
            </a:r>
            <a:endParaRPr lang="en-US" sz="1600" dirty="0"/>
          </a:p>
        </p:txBody>
      </p:sp>
      <p:sp>
        <p:nvSpPr>
          <p:cNvPr id="15" name="Text 13"/>
          <p:cNvSpPr/>
          <p:nvPr/>
        </p:nvSpPr>
        <p:spPr>
          <a:xfrm>
            <a:off x="4846320" y="2560320"/>
            <a:ext cx="3840480" cy="548640"/>
          </a:xfrm>
          <a:prstGeom prst="rect">
            <a:avLst/>
          </a:prstGeom>
          <a:noFill/>
          <a:ln/>
        </p:spPr>
        <p:txBody>
          <a:bodyPr wrap="square" rtlCol="0" anchor="ctr"/>
          <a:lstStyle/>
          <a:p>
            <a:pPr marL="0" indent="0">
              <a:buNone/>
            </a:pPr>
            <a:r>
              <a:rPr lang="en-US" sz="1050" dirty="0">
                <a:solidFill>
                  <a:srgbClr val="CBD5E1"/>
                </a:solidFill>
              </a:rPr>
              <a:t>LC = max(LC_local, LC_msg) + 1. Si a→b entonces LC(a) &lt; LC(b). Relojes vectoriales detectan concurrencia.</a:t>
            </a:r>
            <a:endParaRPr lang="en-US" sz="1050" dirty="0"/>
          </a:p>
        </p:txBody>
      </p:sp>
      <p:sp>
        <p:nvSpPr>
          <p:cNvPr id="16" name="Shape 14"/>
          <p:cNvSpPr/>
          <p:nvPr/>
        </p:nvSpPr>
        <p:spPr>
          <a:xfrm>
            <a:off x="274320" y="3337560"/>
            <a:ext cx="8595360" cy="347472"/>
          </a:xfrm>
          <a:prstGeom prst="rect">
            <a:avLst/>
          </a:prstGeom>
          <a:solidFill>
            <a:srgbClr val="0E4D92"/>
          </a:solidFill>
          <a:ln/>
        </p:spPr>
      </p:sp>
      <p:sp>
        <p:nvSpPr>
          <p:cNvPr id="17" name="Text 15"/>
          <p:cNvSpPr/>
          <p:nvPr/>
        </p:nvSpPr>
        <p:spPr>
          <a:xfrm>
            <a:off x="457200" y="3355848"/>
            <a:ext cx="8229600" cy="310896"/>
          </a:xfrm>
          <a:prstGeom prst="rect">
            <a:avLst/>
          </a:prstGeom>
          <a:noFill/>
          <a:ln/>
        </p:spPr>
        <p:txBody>
          <a:bodyPr wrap="square" rtlCol="0" anchor="ctr"/>
          <a:lstStyle/>
          <a:p>
            <a:pPr marL="0" indent="0">
              <a:buNone/>
            </a:pPr>
            <a:r>
              <a:rPr lang="en-US" sz="1600" b="1" dirty="0">
                <a:solidFill>
                  <a:srgbClr val="FFFFFF"/>
                </a:solidFill>
              </a:rPr>
              <a:t>📋  TAREAS DE LA SEMANA (Evaluación Autónoma — TA)</a:t>
            </a:r>
            <a:endParaRPr lang="en-US" sz="1600" dirty="0"/>
          </a:p>
        </p:txBody>
      </p:sp>
      <p:sp>
        <p:nvSpPr>
          <p:cNvPr id="18" name="Text 16"/>
          <p:cNvSpPr/>
          <p:nvPr/>
        </p:nvSpPr>
        <p:spPr>
          <a:xfrm>
            <a:off x="457200" y="3749040"/>
            <a:ext cx="8321040" cy="438912"/>
          </a:xfrm>
          <a:prstGeom prst="rect">
            <a:avLst/>
          </a:prstGeom>
          <a:noFill/>
          <a:ln/>
        </p:spPr>
        <p:txBody>
          <a:bodyPr wrap="square" rtlCol="0" anchor="ctr"/>
          <a:lstStyle/>
          <a:p>
            <a:pPr marL="0" indent="0">
              <a:buNone/>
            </a:pPr>
            <a:r>
              <a:rPr lang="en-US" sz="1050" b="1" dirty="0">
                <a:solidFill>
                  <a:srgbClr val="00B4D8"/>
                </a:solidFill>
              </a:rPr>
              <a:t>1.  </a:t>
            </a:r>
            <a:r>
              <a:rPr lang="en-US" sz="1050" dirty="0">
                <a:solidFill>
                  <a:srgbClr val="CBD5E1"/>
                </a:solidFill>
              </a:rPr>
              <a:t>FORM-TL-01 — Taller: Modelado de Comunicación entre Procesos Distribuidos. Diseñar (en papel/draw.io) el diagrama de comunicación de su PFC indicando: protocolo, modelo de SD, tipo de middleware y estimación de latencia.</a:t>
            </a:r>
            <a:endParaRPr lang="en-US" sz="1050" dirty="0"/>
          </a:p>
        </p:txBody>
      </p:sp>
      <p:sp>
        <p:nvSpPr>
          <p:cNvPr id="19" name="Text 17"/>
          <p:cNvSpPr/>
          <p:nvPr/>
        </p:nvSpPr>
        <p:spPr>
          <a:xfrm>
            <a:off x="457200" y="4224528"/>
            <a:ext cx="8321040" cy="438912"/>
          </a:xfrm>
          <a:prstGeom prst="rect">
            <a:avLst/>
          </a:prstGeom>
          <a:noFill/>
          <a:ln/>
        </p:spPr>
        <p:txBody>
          <a:bodyPr wrap="square" rtlCol="0" anchor="ctr"/>
          <a:lstStyle/>
          <a:p>
            <a:pPr marL="0" indent="0">
              <a:buNone/>
            </a:pPr>
            <a:r>
              <a:rPr lang="en-US" sz="1050" b="1" dirty="0">
                <a:solidFill>
                  <a:srgbClr val="00B4D8"/>
                </a:solidFill>
              </a:rPr>
              <a:t>2.  </a:t>
            </a:r>
            <a:r>
              <a:rPr lang="en-US" sz="1050" dirty="0">
                <a:solidFill>
                  <a:srgbClr val="CBD5E1"/>
                </a:solidFill>
              </a:rPr>
              <a:t>FORM-FB-01 — Fichas Bibliográficas (mínimo 4): Lamport 1978, van Steen &amp; Tanenbaum Cap.4-5, Indrasiri &amp; Kuruppu (gRPC), Kleppmann Cap.8-9. Formato IEEE con DOI.</a:t>
            </a:r>
            <a:endParaRPr lang="en-US" sz="1050" dirty="0"/>
          </a:p>
        </p:txBody>
      </p:sp>
      <p:sp>
        <p:nvSpPr>
          <p:cNvPr id="20" name="Shape 18"/>
          <p:cNvSpPr/>
          <p:nvPr/>
        </p:nvSpPr>
        <p:spPr>
          <a:xfrm>
            <a:off x="274320" y="4727448"/>
            <a:ext cx="8595360" cy="347472"/>
          </a:xfrm>
          <a:prstGeom prst="rect">
            <a:avLst/>
          </a:prstGeom>
          <a:solidFill>
            <a:srgbClr val="065A82"/>
          </a:solidFill>
          <a:ln/>
        </p:spPr>
      </p:sp>
      <p:sp>
        <p:nvSpPr>
          <p:cNvPr id="21" name="Text 19"/>
          <p:cNvSpPr/>
          <p:nvPr/>
        </p:nvSpPr>
        <p:spPr>
          <a:xfrm>
            <a:off x="457200" y="4745736"/>
            <a:ext cx="8321040" cy="310896"/>
          </a:xfrm>
          <a:prstGeom prst="rect">
            <a:avLst/>
          </a:prstGeom>
          <a:noFill/>
          <a:ln/>
        </p:spPr>
        <p:txBody>
          <a:bodyPr wrap="square" rtlCol="0" anchor="ctr"/>
          <a:lstStyle/>
          <a:p>
            <a:pPr marL="0" indent="0">
              <a:buNone/>
            </a:pPr>
            <a:r>
              <a:rPr lang="en-US" sz="950" dirty="0">
                <a:solidFill>
                  <a:srgbClr val="00B4D8"/>
                </a:solidFill>
              </a:rPr>
              <a:t>📌  Semana 4: Entrega Práctica Experimental GA-SUM-01 (Sockets TCP + gRPC + Lamport en Python) — ¡Preparen el entorno!</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608</TotalTime>
  <Words>5295</Words>
  <Application>Microsoft Office PowerPoint</Application>
  <PresentationFormat>Presentación en pantalla (16:9)</PresentationFormat>
  <Paragraphs>278</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Aplicaciones Distribuidas — Semana 3</dc:title>
  <dc:subject>PptxGenJS Presentation</dc:subject>
  <dc:creator>UTEQ — Ing. de Software</dc:creator>
  <cp:lastModifiedBy>GLEISTON CICERON GUERRERO ULLOA</cp:lastModifiedBy>
  <cp:revision>4</cp:revision>
  <dcterms:created xsi:type="dcterms:W3CDTF">2026-05-19T03:58:34Z</dcterms:created>
  <dcterms:modified xsi:type="dcterms:W3CDTF">2026-05-19T14:15:43Z</dcterms:modified>
</cp:coreProperties>
</file>