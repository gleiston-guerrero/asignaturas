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Bienvenidos a la Semana 4 de Aplicaciones Distribuidas. Hoy cubrimos el Tema 5: Coordinación y Consistencia Distribuida, que pertenece a la Unidad 1 — Generalidades de los Sistemas Distribuidos.</a:t>
            </a:r>
          </a:p>
          <a:p>
            <a:endParaRPr lang="es-EC"/>
          </a:p>
          <a:p>
            <a:r>
              <a:rPr lang="es-EC" sz="1200"/>
              <a:t>Esta clase es fundamental porque aborda uno de los problemas centrales de los sistemas distribuidos (SD — Sistemas Distribuidos): ¿cómo lograr que múltiples nodos se pongan de acuerdo sobre el estado de los datos?</a:t>
            </a:r>
          </a:p>
          <a:p>
            <a:endParaRPr lang="es-EC"/>
          </a:p>
          <a:p>
            <a:r>
              <a:rPr lang="es-EC" sz="1200"/>
              <a:t>Recordemos brevemente lo que vimos en semanas anteriores: en la Semana 1 estudiamos qué es un sistema distribuido y sus características fundamentales (transparencia, escalabilidad, tolerancia a fallos). En la Semana 2 profundizamos en modelos arquitectónicos (cliente-servidor, P2P — Peer-to-Peer, capas). En la Semana 3 vimos comunicación entre procesos: sockets TCP (Transmission Control Protocol), RPC (Remote Procedure Call — Llamada a Procedimiento Remoto) y gRPC (Google Remote Procedure Call), además de los relojes lógicos de Lamport para ordenar eventos.</a:t>
            </a:r>
          </a:p>
          <a:p>
            <a:endParaRPr lang="es-EC"/>
          </a:p>
          <a:p>
            <a:r>
              <a:rPr lang="es-EC" sz="1200"/>
              <a:t>Hoy damos el siguiente paso lógico: ahora que los procesos pueden comunicarse, ¿cómo se COORDINAN? Veremos:</a:t>
            </a:r>
          </a:p>
          <a:p>
            <a:r>
              <a:rPr lang="es-EC" sz="1200"/>
              <a:t>• El Teorema CAP (Consistency, Availability, Partition Tolerance — Consistencia, Disponibilidad, Tolerancia a Particiones), formulado por Eric Brewer.</a:t>
            </a:r>
          </a:p>
          <a:p>
            <a:r>
              <a:rPr lang="es-EC" sz="1200"/>
              <a:t>• Los algoritmos de elección de líder: Bully (García-Molina, 1982) y Ring (Chang &amp; Roberts, 1979).</a:t>
            </a:r>
          </a:p>
          <a:p>
            <a:r>
              <a:rPr lang="es-EC" sz="1200"/>
              <a:t>• El protocolo 2PC (Two-Phase Commit — Confirmación en Dos Fases) para transacciones distribuidas.</a:t>
            </a:r>
          </a:p>
          <a:p>
            <a:r>
              <a:rPr lang="es-EC" sz="1200"/>
              <a:t>• Una introducción a los sistemas de consenso modernos: Paxos (Lamport, 1998) y Raft (Ongaro &amp; Ousterhout, 2014).</a:t>
            </a:r>
          </a:p>
          <a:p>
            <a:endParaRPr lang="es-EC"/>
          </a:p>
          <a:p>
            <a:r>
              <a:rPr lang="es-EC" sz="1200"/>
              <a:t>Al final de esta clase, los estudiantes deben comprender por qué la coordinación es el problema más difícil en SD y cómo diferentes sistemas hacen diferentes concesiones (trade-offs) para resolverlo.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Esta es la agenda de nuestra sesión. Vamos a cubrir cuatro subtemas que forman un arco lógico progresivo:</a:t>
            </a:r>
          </a:p>
          <a:p>
            <a:endParaRPr lang="es-EC"/>
          </a:p>
          <a:p>
            <a:r>
              <a:rPr lang="es-EC" sz="1200"/>
              <a:t>Subtema 1 (25 min): Primero entendemos el PROBLEMA fundamental — el Teorema CAP (CAP = Consistency, Availability, Partition Tolerance — las tres propiedades que un SD quisiera tener pero no puede tener simultáneamente). Es la base teórica de todo lo que sigue.</a:t>
            </a:r>
          </a:p>
          <a:p>
            <a:endParaRPr lang="es-EC"/>
          </a:p>
          <a:p>
            <a:r>
              <a:rPr lang="es-EC" sz="1200"/>
              <a:t>Subtema 2 (30 min): Luego vemos cómo los sistemas ELIGEN un coordinador cuando algo falla, mediante los algoritmos de elección de líder: Bully y Ring. Un «líder» es un nodo designado que toma decisiones en nombre del grupo — coordina locks, ordena escrituras, ejecuta protocolos.</a:t>
            </a:r>
          </a:p>
          <a:p>
            <a:endParaRPr lang="es-EC"/>
          </a:p>
          <a:p>
            <a:r>
              <a:rPr lang="es-EC" sz="1200"/>
              <a:t>Subtema 3 (30 min): Después estudiamos cómo ese coordinador puede garantizar que una transacción se complete en TODOS los nodos o en NINGUNO. Para esto usamos el protocolo 2PC (Two-Phase Commit — Confirmación en Dos Fases). Recordemos que una «transacción» en SD es una operación que debe ser atómica (todo o nada) incluso cuando involucra varios nodos.</a:t>
            </a:r>
          </a:p>
          <a:p>
            <a:endParaRPr lang="es-EC"/>
          </a:p>
          <a:p>
            <a:r>
              <a:rPr lang="es-EC" sz="1200"/>
              <a:t>Subtema 4 (20 min): Finalmente, introducimos los algoritmos modernos de consenso — Paxos y Raft — que resuelven las limitaciones del 2PC de manera más robusta.</a:t>
            </a:r>
          </a:p>
          <a:p>
            <a:endParaRPr lang="es-EC"/>
          </a:p>
          <a:p>
            <a:r>
              <a:rPr lang="es-EC" sz="1200"/>
              <a:t>El RA (Resultado de Aprendizaje) que perseguimos es: analizar las características y principios de los SD, evaluando sus ventajas, limitaciones y retos desde una perspectiva crítica e interdisciplinaria.</a:t>
            </a:r>
          </a:p>
          <a:p>
            <a:endParaRPr lang="es-EC"/>
          </a:p>
          <a:p>
            <a:r>
              <a:rPr lang="es-EC" sz="1200"/>
              <a:t>Recordatorio: esta semana también hay entrega de la propuesta TA-PFC-E1 (Trabajo Autónomo — Proyecto Final de Curso, Etapa 1) y la Exposición grupal del Corte 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Empezamos con un caso real para captar la atención y conectar la teoría con la práctica.</a:t>
            </a:r>
          </a:p>
          <a:p>
            <a:endParaRPr lang="es-EC"/>
          </a:p>
          <a:p>
            <a:r>
              <a:rPr lang="es-EC" sz="1200"/>
              <a:t>En febrero de 2017, Amazon S3 (Simple Storage Service — el servicio de almacenamiento de objetos más grande del mundo) sufrió una caída de aproximadamente 4 horas en la región us-east-1 (Virginia del Norte, EE.UU.). La causa raíz fue un problema de coordinación distribuida: un ingeniero ejecutó un comando de mantenimiento rutinario para retirar servidores del subsistema de índices de S3. Debido a un error tipográfico en los parámetros, se retiraron MUCHOS más servidores de los previstos.</a:t>
            </a:r>
          </a:p>
          <a:p>
            <a:endParaRPr lang="es-EC"/>
          </a:p>
          <a:p>
            <a:r>
              <a:rPr lang="es-EC" sz="1200"/>
              <a:t>El sistema necesitó realizar una re-elección de líderes (similar al algoritmo Bully que vamos a estudiar hoy) y reconstruir el estado del índice, lo cual tomó varias horas. Durante ese tiempo, S3 estuvo parcialmente no disponible.</a:t>
            </a:r>
          </a:p>
          <a:p>
            <a:endParaRPr lang="es-EC"/>
          </a:p>
          <a:p>
            <a:r>
              <a:rPr lang="es-EC" sz="1200"/>
              <a:t>El impacto fue masivo: como S3 es la infraestructura subyacente de miles de servicios web, la caída provocó fallas en cascada en Slack, Trello, Quora, sitios de noticias, plataformas de streaming, e incluso el dashboard de estado de AWS (Amazon Web Services) no podía mostrar la caída porque ¡sus propios iconos estaban almacenados en S3!</a:t>
            </a:r>
          </a:p>
          <a:p>
            <a:endParaRPr lang="es-EC"/>
          </a:p>
          <a:p>
            <a:r>
              <a:rPr lang="es-EC" sz="1200"/>
              <a:t>Este caso ilustra perfectamente los temas de hoy:</a:t>
            </a:r>
          </a:p>
          <a:p>
            <a:r>
              <a:rPr lang="es-EC" sz="1200"/>
              <a:t>• Consistencia vs. Disponibilidad (Teorema CAP): ¿debía S3 seguir respondiendo con datos posiblemente inconsistentes, o era mejor detenerse?</a:t>
            </a:r>
          </a:p>
          <a:p>
            <a:r>
              <a:rPr lang="es-EC" sz="1200"/>
              <a:t>• Elección de líder: el sistema necesitaba re-elegir coordinadores tras la pérdida masiva de nodos.</a:t>
            </a:r>
          </a:p>
          <a:p>
            <a:r>
              <a:rPr lang="es-EC" sz="1200"/>
              <a:t>• Coordinación distribuida: millones de objetos debían reconciliarse entre nodos.</a:t>
            </a:r>
          </a:p>
          <a:p>
            <a:endParaRPr lang="es-EC"/>
          </a:p>
          <a:p>
            <a:r>
              <a:rPr lang="es-EC" sz="1200"/>
              <a:t>La coordinación distribuida no es teoría abstracta: estas decisiones de diseño determinan si un sistema puede resistir fallos reales. Las pérdidas estimadas de esta caída superaron los 150 millones de dólares.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El Teorema CAP fue enunciado como conjetura por Eric Brewer en el año 2000 durante su conferencia magistral (keynote) en el simposio PODC (Principles of Distributed Computing — Principios de Computación Distribuida) de la ACM (Association for Computing Machinery — Asociación para la Maquinaria Computacional). Fue demostrado formalmente como teorema por Seth Gilbert y Nancy Lynch del MIT (Massachusetts Institute of Technology) en 2002.</a:t>
            </a:r>
          </a:p>
          <a:p>
            <a:endParaRPr lang="es-EC"/>
          </a:p>
          <a:p>
            <a:r>
              <a:rPr lang="es-EC" sz="1200"/>
              <a:t>El teorema establece que un sistema de almacenamiento distribuido puede garantizar como máximo DOS de las tres propiedades siguientes:</a:t>
            </a:r>
          </a:p>
          <a:p>
            <a:endParaRPr lang="es-EC"/>
          </a:p>
          <a:p>
            <a:r>
              <a:rPr lang="es-EC" sz="1200"/>
              <a:t>C — Consistency (Consistencia): Equivalente a lo que técnicamente se llama «linearizabilidad» (linearizability). Significa que después de que una escritura se completa exitosamente, CUALQUIER lectura posterior desde CUALQUIER nodo devuelve ese valor actualizado. Es como si hubiera una sola copia de los datos en todo el sistema. En las semanas anteriores vimos los relojes de Lamport para ordenar eventos; la consistencia va más allá: no solo ordena eventos, sino que garantiza que todos los nodos ven el mismo orden y el mismo estado.</a:t>
            </a:r>
          </a:p>
          <a:p>
            <a:endParaRPr lang="es-EC"/>
          </a:p>
          <a:p>
            <a:r>
              <a:rPr lang="es-EC" sz="1200"/>
              <a:t>A — Availability (Disponibilidad): Cada solicitud que recibe un nodo no fallido del sistema DEBE recibir una respuesta válida. Importante: no dice que la respuesta contenga la información más reciente, solo que el nodo responde sin error. Un nodo que dice «servicio no disponible» viola esta propiedad.</a:t>
            </a:r>
          </a:p>
          <a:p>
            <a:endParaRPr lang="es-EC"/>
          </a:p>
          <a:p>
            <a:r>
              <a:rPr lang="es-EC" sz="1200"/>
              <a:t>P — Partition Tolerance (Tolerancia a Particiones): El sistema sigue funcionando correctamente aunque se pierdan (o se retrasen indefinidamente) mensajes arbitrarios entre nodos de la red. Una «partición de red» ocurre cuando un grupo de nodos no puede comunicarse con otro grupo, pero cada grupo sigue funcionando internamente.</a:t>
            </a:r>
          </a:p>
          <a:p>
            <a:endParaRPr lang="es-EC"/>
          </a:p>
          <a:p>
            <a:r>
              <a:rPr lang="es-EC" sz="1200"/>
              <a:t>En redes reales, las particiones son INEVITABLES: cables cortados, switches con firmware defectuoso, congestión extrema, problemas de DNS (Domain Name System — Sistema de Nombres de Dominio). Por lo tanto, P no es negociable — siempre hay que asumirla. Esto significa que el diseñador real elige entre:</a:t>
            </a:r>
          </a:p>
          <a:p>
            <a:r>
              <a:rPr lang="es-EC" sz="1200"/>
              <a:t>• CP (Consistency + Partition Tolerance): consistente pero puede dejar de responder durante una partición.</a:t>
            </a:r>
          </a:p>
          <a:p>
            <a:r>
              <a:rPr lang="es-EC" sz="1200"/>
              <a:t>• AP (Availability + Partition Tolerance): siempre responde pero puede devolver datos obsoletos (stale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Aquí mostramos cómo se aplica el Teorema CAP (Consistency, Availability, Partition Tolerance) en sistemas distribuidos reales, clasificándolos como CP o AP.</a:t>
            </a:r>
          </a:p>
          <a:p>
            <a:endParaRPr lang="es-EC"/>
          </a:p>
          <a:p>
            <a:r>
              <a:rPr lang="es-EC" sz="1200"/>
              <a:t>SISTEMAS CP (Consistency + Partition Tolerance — priorizan consistencia):</a:t>
            </a:r>
          </a:p>
          <a:p>
            <a:r>
              <a:rPr lang="es-EC" sz="1200"/>
              <a:t>• HBase: la base de datos columnar de Apache, usada para Big Data sobre HDFS (Hadoop Distributed File System — Sistema de Archivos Distribuido de Hadoop).</a:t>
            </a:r>
          </a:p>
          <a:p>
            <a:r>
              <a:rPr lang="es-EC" sz="1200"/>
              <a:t>• ZooKeeper: servicio de coordinación de Apache usado por Kafka (plataforma de streaming) y otros sistemas para elegir líderes y almacenar configuración.</a:t>
            </a:r>
          </a:p>
          <a:p>
            <a:r>
              <a:rPr lang="es-EC" sz="1200"/>
              <a:t>• etcd: almacén de clave-valor distribuido usado por Kubernetes (K8s — plataforma de orquestación de contenedores) para guardar todo el estado del clúster.</a:t>
            </a:r>
          </a:p>
          <a:p>
            <a:r>
              <a:rPr lang="es-EC" sz="1200"/>
              <a:t>• MongoDB (en modo replica set con configuración por defecto): base de datos NoSQL (Not Only SQL) orientada a documentos.</a:t>
            </a:r>
          </a:p>
          <a:p>
            <a:r>
              <a:rPr lang="es-EC" sz="1200"/>
              <a:t>Estos sistemas priorizan la corrección: si hay partición de red, prefieren dejar de responder (o responder con error) antes que dar datos incorrectos. Esto es ideal para registros financieros, configuración de sistemas, y locks distribuidos.</a:t>
            </a:r>
          </a:p>
          <a:p>
            <a:endParaRPr lang="es-EC"/>
          </a:p>
          <a:p>
            <a:r>
              <a:rPr lang="es-EC" sz="1200"/>
              <a:t>SISTEMAS AP (Availability + Partition Tolerance — priorizan disponibilidad):</a:t>
            </a:r>
          </a:p>
          <a:p>
            <a:r>
              <a:rPr lang="es-EC" sz="1200"/>
              <a:t>• Cassandra: BD (Base de Datos) distribuida de Apache, diseñada por Facebook originalmente.</a:t>
            </a:r>
          </a:p>
          <a:p>
            <a:r>
              <a:rPr lang="es-EC" sz="1200"/>
              <a:t>• DynamoDB: servicio de BD NoSQL de AWS (Amazon Web Services).</a:t>
            </a:r>
          </a:p>
          <a:p>
            <a:r>
              <a:rPr lang="es-EC" sz="1200"/>
              <a:t>• CouchDB: BD orientada a documentos con replicación multi-master.</a:t>
            </a:r>
          </a:p>
          <a:p>
            <a:r>
              <a:rPr lang="es-EC" sz="1200"/>
              <a:t>Estos sistemas priorizan que SIEMPRE haya respuesta, aunque durante una partición puedan devolver datos desactualizados. Esto se conoce como «consistencia eventual» (eventual consistency) — término popularizado por Werner Vogels, CTO (Chief Technology Officer — Director de Tecnología) de Amazon, en 2009.</a:t>
            </a:r>
          </a:p>
          <a:p>
            <a:endParaRPr lang="es-EC"/>
          </a:p>
          <a:p>
            <a:r>
              <a:rPr lang="es-EC" sz="1200"/>
              <a:t>EJEMPLO DETALLADO — DynamoDB:</a:t>
            </a:r>
          </a:p>
          <a:p>
            <a:r>
              <a:rPr lang="es-EC" sz="1200"/>
              <a:t>Cuando un usuario en Ecuador actualiza su dirección de envío en Amazon, la escritura se confirma inmediatamente en la réplica principal (por ejemplo, us-east-1, Virginia). Pero las réplicas en Europa o Asia tardan entre 100 y 500 ms (milisegundos) en recibir la actualización. Si durante esa ventana temporal alguien lee la dirección desde otro nodo, verá la dirección ANTERIOR. Esto es un «stale read» (lectura obsoleta). Es aceptable para una dirección de envío, pero sería inaceptable para un saldo bancario.</a:t>
            </a:r>
          </a:p>
          <a:p>
            <a:endParaRPr lang="es-EC"/>
          </a:p>
          <a:p>
            <a:r>
              <a:rPr lang="es-EC" sz="1200"/>
              <a:t>CA (Consistency + Availability — sin tolerancia a particiones): solo posible cuando NO hay particiones de red, es decir, en un sistema que corre en un solo nodo. Ejemplo: PostgreSQL standalone (instancia única). En el momento en que distribuimos los datos entre dos o más nodos, debemos asumir que P puede ocurrir.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Pasamos al Subtema 2: Algoritmos de Coordinación. La pregunta central es: ¿cómo elegimos un líder en un sistema distribuido cuando el líder actual falla?</a:t>
            </a:r>
          </a:p>
          <a:p>
            <a:endParaRPr lang="es-EC"/>
          </a:p>
          <a:p>
            <a:r>
              <a:rPr lang="es-EC" sz="1200"/>
              <a:t>Recordemos del Teorema CAP que acabamos de ver: muchos sistemas CP necesitan un coordinador centralizado para garantizar consistencia. Pero, ¿qué pasa si ese coordinador falla? Necesitamos un mecanismo automático de elección de líder.</a:t>
            </a:r>
          </a:p>
          <a:p>
            <a:endParaRPr lang="es-EC"/>
          </a:p>
          <a:p>
            <a:r>
              <a:rPr lang="es-EC" sz="1200"/>
              <a:t>En muchos SD (Sistemas Distribuidos), un nodo actúa como coordinador: gestiona locks (bloqueos de recursos), ordena las escrituras para mantener consistencia, y ejecuta protocolos como el 2PC (Two-Phase Commit — Confirmación en Dos Fases) que veremos en el Subtema 3.</a:t>
            </a:r>
          </a:p>
          <a:p>
            <a:endParaRPr lang="es-EC"/>
          </a:p>
          <a:p>
            <a:r>
              <a:rPr lang="es-EC" sz="1200"/>
              <a:t>EL ALGORITMO BULLY — propuesto por Héctor García-Molina en 1982:</a:t>
            </a:r>
          </a:p>
          <a:p>
            <a:r>
              <a:rPr lang="es-EC" sz="1200"/>
              <a:t>Se llama «Bully» (matón/abusón en inglés) porque el proceso con el ID más grande siempre gana — es el que «intimida» a los demás y se impone como líder.</a:t>
            </a:r>
          </a:p>
          <a:p>
            <a:endParaRPr lang="es-EC"/>
          </a:p>
          <a:p>
            <a:r>
              <a:rPr lang="es-EC" sz="1200"/>
              <a:t>Principio: cada proceso tiene un identificador numérico único (PID — Process Identifier). El proceso ACTIVO con el PID más alto se convierte automáticamente en líder.</a:t>
            </a:r>
          </a:p>
          <a:p>
            <a:endParaRPr lang="es-EC"/>
          </a:p>
          <a:p>
            <a:r>
              <a:rPr lang="es-EC" sz="1200"/>
              <a:t>Expliquemos el flujo paso a paso con un ejemplo de 5 procesos (P0 a P4):</a:t>
            </a:r>
          </a:p>
          <a:p>
            <a:r>
              <a:rPr lang="es-EC" sz="1200"/>
              <a:t>1. Inicialmente, P4 es el líder (tiene el ID más alto).</a:t>
            </a:r>
          </a:p>
          <a:p>
            <a:r>
              <a:rPr lang="es-EC" sz="1200"/>
              <a:t>2. P4 falla. P1 detecta la falla porque no recibe heartbeat (latido — mensaje periódico que indica 'estoy vivo') de P4 dentro del timeout configurado.</a:t>
            </a:r>
          </a:p>
          <a:p>
            <a:r>
              <a:rPr lang="es-EC" sz="1200"/>
              <a:t>3. P1 envía mensajes ELECTION a P2, P3 y P4 (todos los procesos con ID mayor que 1).</a:t>
            </a:r>
          </a:p>
          <a:p>
            <a:r>
              <a:rPr lang="es-EC" sz="1200"/>
              <a:t>4. P2 y P3 responden OK a P1 (cada uno le dice 'yo tengo ID más grande que tú, no te preocupes, yo me encargo').</a:t>
            </a:r>
          </a:p>
          <a:p>
            <a:r>
              <a:rPr lang="es-EC" sz="1200"/>
              <a:t>5. P1 se detiene y espera. P2 y P3 ahora inician sus propias elecciones.</a:t>
            </a:r>
          </a:p>
          <a:p>
            <a:r>
              <a:rPr lang="es-EC" sz="1200"/>
              <a:t>6. P2 envía ELECTION a P3 y P4. P3 responde OK. P2 se detiene.</a:t>
            </a:r>
          </a:p>
          <a:p>
            <a:r>
              <a:rPr lang="es-EC" sz="1200"/>
              <a:t>7. P3 envía ELECTION a P4. P4 no responde (está caído). Nadie responde a P3.</a:t>
            </a:r>
          </a:p>
          <a:p>
            <a:r>
              <a:rPr lang="es-EC" sz="1200"/>
              <a:t>8. P3 espera un timeout (típicamente 1-2 segundos). Como nadie respondió, P3 se proclama LÍDER.</a:t>
            </a:r>
          </a:p>
          <a:p>
            <a:r>
              <a:rPr lang="es-EC" sz="1200"/>
              <a:t>9. P3 envía mensaje COORDINATOR a P0, P1 y P2, anunciando que es el nuevo líder.</a:t>
            </a:r>
          </a:p>
          <a:p>
            <a:endParaRPr lang="es-EC"/>
          </a:p>
          <a:p>
            <a:r>
              <a:rPr lang="es-EC" sz="1200"/>
              <a:t>Complejidad de mensajes: O(n²) en el peor caso — cuando el proceso con el ID más bajo inicia la elección. Esto es aceptable para clústeres pequeños (3-7 nodos) pero no escala bien a cientos de nodos.</a:t>
            </a:r>
          </a:p>
          <a:p>
            <a:endParaRPr lang="es-EC"/>
          </a:p>
          <a:p>
            <a:r>
              <a:rPr lang="es-EC" sz="1200"/>
              <a:t>Conexión con la práctica de clase: en la práctica que haremos después, van a implementar exactamente este algoritmo en Java con 5 hilos concurrentes simulando procesos distribuidos.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El Algoritmo Ring (también llamado Algoritmo de Chang y Roberts, publicado en 1979) es la alternativa clásica al Bully para la elección de líder.</a:t>
            </a:r>
          </a:p>
          <a:p>
            <a:endParaRPr lang="es-EC"/>
          </a:p>
          <a:p>
            <a:r>
              <a:rPr lang="es-EC" sz="1200"/>
              <a:t>CONCEPTO: Los procesos se organizan en un anillo lógico — cada proceso conoce únicamente a su «sucesor» (el siguiente nodo en el anillo). No necesitan conocer a todos los demás, a diferencia del Bully donde cada proceso puede comunicarse con cualquier otro.</a:t>
            </a:r>
          </a:p>
          <a:p>
            <a:endParaRPr lang="es-EC"/>
          </a:p>
          <a:p>
            <a:r>
              <a:rPr lang="es-EC" sz="1200"/>
              <a:t>FLUJO DEL ALGORITMO:</a:t>
            </a:r>
          </a:p>
          <a:p>
            <a:r>
              <a:rPr lang="es-EC" sz="1200"/>
              <a:t>1. Un proceso P detecta que el líder falló (por ausencia de heartbeat — latido periódico).</a:t>
            </a:r>
          </a:p>
          <a:p>
            <a:r>
              <a:rPr lang="es-EC" sz="1200"/>
              <a:t>2. P crea un mensaje ELECTION que contiene su propio ID (PID — Process Identifier) y lo envía a su sucesor en el anillo.</a:t>
            </a:r>
          </a:p>
          <a:p>
            <a:r>
              <a:rPr lang="es-EC" sz="1200"/>
              <a:t>3. Cada nodo que recibe el mensaje ELECTION agrega su propio ID a la lista del mensaje y lo reenvía al siguiente nodo en el anillo.</a:t>
            </a:r>
          </a:p>
          <a:p>
            <a:r>
              <a:rPr lang="es-EC" sz="1200"/>
              <a:t>4. Cuando el mensaje completa toda la vuelta y regresa al proceso iniciador P, el mensaje contiene los IDs de TODOS los procesos activos.</a:t>
            </a:r>
          </a:p>
          <a:p>
            <a:r>
              <a:rPr lang="es-EC" sz="1200"/>
              <a:t>5. P examina la lista y elige al proceso con el ID más alto como nuevo líder.</a:t>
            </a:r>
          </a:p>
          <a:p>
            <a:r>
              <a:rPr lang="es-EC" sz="1200"/>
              <a:t>6. P envía un mensaje COORDINATOR por el anillo anunciando al nuevo líder. Cada nodo actualiza su referencia.</a:t>
            </a:r>
          </a:p>
          <a:p>
            <a:endParaRPr lang="es-EC"/>
          </a:p>
          <a:p>
            <a:r>
              <a:rPr lang="es-EC" sz="1200"/>
              <a:t>COMPARACIÓN BULLY vs RING — puntos clave de la tabla:</a:t>
            </a:r>
          </a:p>
          <a:p>
            <a:r>
              <a:rPr lang="es-EC" sz="1200"/>
              <a:t>• Topología: Bully funciona con cualquier topología (cada nodo puede enviar a cualquier otro); Ring requiere una estructura de anillo lógico.</a:t>
            </a:r>
          </a:p>
          <a:p>
            <a:r>
              <a:rPr lang="es-EC" sz="1200"/>
              <a:t>• Mensajes: Bully usa O(n²) en el peor caso; Ring siempre usa exactamente O(2n) — n mensajes para la ronda de elección + n para el anuncio del coordinador. Más eficiente en mensajes.</a:t>
            </a:r>
          </a:p>
          <a:p>
            <a:r>
              <a:rPr lang="es-EC" sz="1200"/>
              <a:t>• Velocidad: Bully es más rápido porque los mensajes van directamente a los nodos con ID mayor; Ring es más lento porque el mensaje tiene que dar toda la vuelta al anillo.</a:t>
            </a:r>
          </a:p>
          <a:p>
            <a:r>
              <a:rPr lang="es-EC" sz="1200"/>
              <a:t>• Robustez: Bully tolera que un nodo caiga durante la elección (otros nodos simplemente no reciben respuesta y avanzan); Ring se atasca si un nodo falla durante el paso del mensaje (el anillo se rompe).</a:t>
            </a:r>
          </a:p>
          <a:p>
            <a:endParaRPr lang="es-EC"/>
          </a:p>
          <a:p>
            <a:r>
              <a:rPr lang="es-EC" sz="1200"/>
              <a:t>En la práctica industrial:</a:t>
            </a:r>
          </a:p>
          <a:p>
            <a:r>
              <a:rPr lang="es-EC" sz="1200"/>
              <a:t>• Bully (o variantes): usado internamente en sistemas como ZooKeeper (Apache), Elasticsearch para sus clústeres de nodos.</a:t>
            </a:r>
          </a:p>
          <a:p>
            <a:r>
              <a:rPr lang="es-EC" sz="1200"/>
              <a:t>• Ring: usado en redes P2P (Peer-to-Peer) estructuradas como Chord (MIT, 2001) y en el protocolo gossip de Cassandra.</a:t>
            </a:r>
          </a:p>
          <a:p>
            <a:endParaRPr lang="es-EC"/>
          </a:p>
          <a:p>
            <a:r>
              <a:rPr lang="es-EC" sz="1200"/>
              <a:t>Conexión con lo que sigue: una vez elegido el líder, ese nodo puede actuar como el «coordinador» en el protocolo 2PC que veremos a continuación.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El Subtema 3 aborda las transacciones distribuidas con el protocolo 2PC (Two-Phase Commit — Confirmación en Dos Fases, también llamado Protocolo de Compromiso en Dos Fases).</a:t>
            </a:r>
          </a:p>
          <a:p>
            <a:endParaRPr lang="es-EC"/>
          </a:p>
          <a:p>
            <a:r>
              <a:rPr lang="es-EC" sz="1200"/>
              <a:t>CONEXIÓN CON TEMAS ANTERIORES: Ya sabemos elegir un líder (Bully, Ring). Ahora, ¿qué hace ese líder? Una de sus funciones principales es actuar como COORDINADOR de transacciones distribuidas.</a:t>
            </a:r>
          </a:p>
          <a:p>
            <a:endParaRPr lang="es-EC"/>
          </a:p>
          <a:p>
            <a:r>
              <a:rPr lang="es-EC" sz="1200"/>
              <a:t>EL PROBLEMA FUNDAMENTAL — ATOMICIDAD DISTRIBUIDA:</a:t>
            </a:r>
          </a:p>
          <a:p>
            <a:r>
              <a:rPr lang="es-EC" sz="1200"/>
              <a:t>Una «transacción» en bases de datos cumple las propiedades ACID (Atomicity, Consistency, Isolation, Durability — Atomicidad, Consistencia, Aislamiento, Durabilidad). La atomicidad significa «todo o nada»: o se ejecutan TODAS las operaciones de la transacción, o NINGUNA.</a:t>
            </a:r>
          </a:p>
          <a:p>
            <a:endParaRPr lang="es-EC"/>
          </a:p>
          <a:p>
            <a:r>
              <a:rPr lang="es-EC" sz="1200"/>
              <a:t>Ejemplo bancario: una transferencia de $100 de la cuenta A (en el nodo de Quevedo) a la cuenta B (en el nodo de Guayaquil). Necesitamos que AMBAS operaciones (restar $100 de A y sumar $100 en B) se ejecuten, o NINGUNA. Si restamos de A pero el nodo de Guayaquil falla antes de sumar en B, el dinero «desaparece» — se viola la atomicidad.</a:t>
            </a:r>
          </a:p>
          <a:p>
            <a:endParaRPr lang="es-EC"/>
          </a:p>
          <a:p>
            <a:r>
              <a:rPr lang="es-EC" sz="1200"/>
              <a:t>CÓMO FUNCIONA EL 2PC:</a:t>
            </a:r>
          </a:p>
          <a:p>
            <a:endParaRPr lang="es-EC"/>
          </a:p>
          <a:p>
            <a:r>
              <a:rPr lang="es-EC" sz="1200"/>
              <a:t>FASE 1 — PREPARE (Votación):</a:t>
            </a:r>
          </a:p>
          <a:p>
            <a:r>
              <a:rPr lang="es-EC" sz="1200"/>
              <a:t>1. El Coordinador (el nodo líder, elegido por Bully o Ring) envía un mensaje PREPARE a todos los «participantes» (los nodos que ejecutarán partes de la transacción).</a:t>
            </a:r>
          </a:p>
          <a:p>
            <a:r>
              <a:rPr lang="es-EC" sz="1200"/>
              <a:t>2. Cada participante prepara su parte de la operación: escribe los cambios en un WAL (Write-Ahead Log — Registro de Escritura Anticipada), que es un archivo en disco que registra lo que SE VA a hacer, pero SIN aplicarlo todavía a la base de datos.</a:t>
            </a:r>
          </a:p>
          <a:p>
            <a:r>
              <a:rPr lang="es-EC" sz="1200"/>
              <a:t>3. Cada participante vota:</a:t>
            </a:r>
          </a:p>
          <a:p>
            <a:r>
              <a:rPr lang="es-EC" sz="1200"/>
              <a:t>   • VOTE-COMMIT: «puedo completar mi parte sin problemas».</a:t>
            </a:r>
          </a:p>
          <a:p>
            <a:r>
              <a:rPr lang="es-EC" sz="1200"/>
              <a:t>   • VOTE-ABORT: «detecté un problema» (fallo de disco, violación de constraint/restricción, deadlock/interbloqueo, etc.).</a:t>
            </a:r>
          </a:p>
          <a:p>
            <a:endParaRPr lang="es-EC"/>
          </a:p>
          <a:p>
            <a:r>
              <a:rPr lang="es-EC" sz="1200"/>
              <a:t>FASE 2 — COMMIT o ABORT (Decisión):</a:t>
            </a:r>
          </a:p>
          <a:p>
            <a:r>
              <a:rPr lang="es-EC" sz="1200"/>
              <a:t>El coordinador recolecta TODOS los votos:</a:t>
            </a:r>
          </a:p>
          <a:p>
            <a:r>
              <a:rPr lang="es-EC" sz="1200"/>
              <a:t>• Si TODOS votaron COMMIT → envía GLOBAL-COMMIT → todos los participantes aplican los cambios desde el WAL a la BD.</a:t>
            </a:r>
          </a:p>
          <a:p>
            <a:r>
              <a:rPr lang="es-EC" sz="1200"/>
              <a:t>• Si CUALQUIERA votó ABORT → envía GLOBAL-ABORT → todos los participantes deshacen los cambios (rollback — reversión) usando el WAL.</a:t>
            </a:r>
          </a:p>
          <a:p>
            <a:endParaRPr lang="es-EC"/>
          </a:p>
          <a:p>
            <a:r>
              <a:rPr lang="es-EC" sz="1200"/>
              <a:t>Esto garantiza la «atomicidad distribuida»: la transacción se completa en TODOS los nodos o en NINGUNO.</a:t>
            </a:r>
          </a:p>
          <a:p>
            <a:endParaRPr lang="es-EC"/>
          </a:p>
          <a:p>
            <a:r>
              <a:rPr lang="es-EC" sz="1200"/>
              <a:t>LIMITACIÓN CRÍTICA — PROTOCOLO BLOQUEANTE:</a:t>
            </a:r>
          </a:p>
          <a:p>
            <a:r>
              <a:rPr lang="es-EC" sz="1200"/>
              <a:t>¿Qué pasa si el coordinador falla DESPUÉS de enviar PREPARE pero ANTES de enviar la decisión (COMMIT o ABORT)? Los participantes quedan «bloqueados» en un estado de incertidumbre: no saben si deben hacer commit o abort. No pueden decidir por su cuenta porque quizás otro participante votó diferente. Tienen que esperar a que el coordinador se recupere. Esta es la debilidad principal del 2PC y la razón por la que se desarrollaron el 3PC (Three-Phase Commit — Confirmación en Tres Fases) y los sistemas de consenso.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Esta diapositiva conecta las limitaciones del 2PC (Two-Phase Commit — Confirmación en Dos Fases) con la necesidad de los algoritmos de consenso que veremos en el siguiente subtema.</a:t>
            </a:r>
          </a:p>
          <a:p>
            <a:endParaRPr lang="es-EC"/>
          </a:p>
          <a:p>
            <a:r>
              <a:rPr lang="es-EC" sz="1200"/>
              <a:t>TRES PROBLEMAS PRINCIPALES DEL 2PC:</a:t>
            </a:r>
          </a:p>
          <a:p>
            <a:endParaRPr lang="es-EC"/>
          </a:p>
          <a:p>
            <a:r>
              <a:rPr lang="es-EC" sz="1200"/>
              <a:t>1. PROTOCOLO BLOQUEANTE (blocking protocol): Si el coordinador falla en el «punto de no retorno» — después de recibir los votos pero antes de enviar la decisión — los participantes quedan en un estado de limbo. No pueden hacer commit (porque quizás otro participante votó ABORT) ni pueden hacer abort (porque quizás todos votaron COMMIT y el coordinador ya tomó la decisión antes de fallar). Los participantes mantienen los locks (bloqueos) sobre los recursos indefinidamente, bloqueando a otros clientes.</a:t>
            </a:r>
          </a:p>
          <a:p>
            <a:endParaRPr lang="es-EC"/>
          </a:p>
          <a:p>
            <a:r>
              <a:rPr lang="es-EC" sz="1200"/>
              <a:t>2. SPOF — Single Point of Failure (Punto Único de Falla): TODO depende del coordinador. Si ese nodo falla, toda la transacción se paraliza. Aunque podemos re-elegir un coordinador con Bully, el nuevo coordinador no conoce el estado de la transacción en progreso.</a:t>
            </a:r>
          </a:p>
          <a:p>
            <a:endParaRPr lang="es-EC"/>
          </a:p>
          <a:p>
            <a:r>
              <a:rPr lang="es-EC" sz="1200"/>
              <a:t>3. LATENCIA: Requiere 2 rondas de comunicación SÍNCRONAS (Fase 1 y Fase 2) con TODOS los participantes. Si un participante es lento o está lejos (alta latencia de red), toda la transacción se retrasa.</a:t>
            </a:r>
          </a:p>
          <a:p>
            <a:endParaRPr lang="es-EC"/>
          </a:p>
          <a:p>
            <a:r>
              <a:rPr lang="es-EC" sz="1200"/>
              <a:t>EL 3PC (Three-Phase Commit — Confirmación en Tres Fases):</a:t>
            </a:r>
          </a:p>
          <a:p>
            <a:r>
              <a:rPr lang="es-EC" sz="1200"/>
              <a:t>Fue propuesto por Dale Skeen en 1981 como intento de solucionar el bloqueo del 2PC. Agrega una fase intermedia PRE-COMMIT entre la votación y la confirmación:</a:t>
            </a:r>
          </a:p>
          <a:p>
            <a:r>
              <a:rPr lang="es-EC" sz="1200"/>
              <a:t>• Fase 1 — PREPARE: igual que en 2PC, se piden votos.</a:t>
            </a:r>
          </a:p>
          <a:p>
            <a:r>
              <a:rPr lang="es-EC" sz="1200"/>
              <a:t>• Fase 2 — PRE-COMMIT: el coordinador avisa a todos que la intención es hacer commit (todos votaron sí). Esto permite que si el coordinador falla después de esta fase, los participantes sepan que la decisión era COMMIT.</a:t>
            </a:r>
          </a:p>
          <a:p>
            <a:r>
              <a:rPr lang="es-EC" sz="1200"/>
              <a:t>• Fase 3 — DO-COMMIT: confirmación final, se aplican los cambios.</a:t>
            </a:r>
          </a:p>
          <a:p>
            <a:endParaRPr lang="es-EC"/>
          </a:p>
          <a:p>
            <a:r>
              <a:rPr lang="es-EC" sz="1200"/>
              <a:t>PROBLEMA DEL 3PC: No funciona correctamente cuando hay particiones de red. Si la red se divide en dos grupos de nodos aislados, cada grupo puede tomar una decisión diferente: un grupo hace commit porque recibió PRE-COMMIT, el otro hace abort porque no lo recibió. Esto viola la atomicidad — exactamente lo que queríamos evitar.</a:t>
            </a:r>
          </a:p>
          <a:p>
            <a:endParaRPr lang="es-EC"/>
          </a:p>
          <a:p>
            <a:r>
              <a:rPr lang="es-EC" sz="1200"/>
              <a:t>LA SOLUCIÓN MODERNA — ALGORITMOS DE CONSENSO:</a:t>
            </a:r>
          </a:p>
          <a:p>
            <a:r>
              <a:rPr lang="es-EC" sz="1200"/>
              <a:t>Los algoritmos de consenso como Paxos (Leslie Lamport, 1998) y Raft (Diego Ongaro &amp; John Ousterhout, Stanford, 2014) resuelven el problema de forma diferente: en vez de depender de UN coordinador, usan un QUÓRUM (quorum — mayoría calificada, típicamente ⌈(n+1)/2⌉ nodos). Un valor se considera consensuado cuando la MAYORÍA de los nodos lo acepta. Esto permite tolerar que una MINORÍA de nodos falle sin bloquear el sistema.</a:t>
            </a:r>
          </a:p>
          <a:p>
            <a:endParaRPr lang="es-EC"/>
          </a:p>
          <a:p>
            <a:r>
              <a:rPr lang="es-EC" sz="1200"/>
              <a:t>Ejemplos reales que usan consenso:</a:t>
            </a:r>
          </a:p>
          <a:p>
            <a:r>
              <a:rPr lang="es-EC" sz="1200"/>
              <a:t>• etcd (almacén de Kubernetes, usa Raft)</a:t>
            </a:r>
          </a:p>
          <a:p>
            <a:r>
              <a:rPr lang="es-EC" sz="1200"/>
              <a:t>• ZooKeeper (coordinación de Apache Kafka, usa ZAB — ZooKeeper Atomic Broadcast, similar a Paxos)</a:t>
            </a:r>
          </a:p>
          <a:p>
            <a:r>
              <a:rPr lang="es-EC" sz="1200"/>
              <a:t>• CockroachDB (BD SQL distribuida, usa Raft)</a:t>
            </a:r>
          </a:p>
          <a:p>
            <a:r>
              <a:rPr lang="es-EC" sz="1200"/>
              <a:t>• TiKV (almacén clave-valor de TiDB, usa Raft)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El Subtema 4 introduce los dos algoritmos de consenso más importantes en la historia de los sistemas distribuidos: Paxos y Raft.</a:t>
            </a:r>
          </a:p>
          <a:p>
            <a:endParaRPr lang="es-EC"/>
          </a:p>
          <a:p>
            <a:r>
              <a:rPr lang="es-EC" sz="1200"/>
              <a:t>¿QUÉ ES EL CONSENSO DISTRIBUIDO?</a:t>
            </a:r>
          </a:p>
          <a:p>
            <a:r>
              <a:rPr lang="es-EC" sz="1200"/>
              <a:t>El «problema del consenso» consiste en lograr que un grupo de nodos se pongan de acuerdo en un único valor, incluso cuando algunos nodos pueden fallar. Recordemos del Teorema CAP (Consistency, Availability, Partition Tolerance): los sistemas CP necesitan un mecanismo para decidir cuál es el estado «correcto» de los datos. Recordemos también del 2PC (Two-Phase Commit): su limitación principal era depender de un coordinador único. Los algoritmos de consenso eliminan esa dependencia.</a:t>
            </a:r>
          </a:p>
          <a:p>
            <a:endParaRPr lang="es-EC"/>
          </a:p>
          <a:p>
            <a:r>
              <a:rPr lang="es-EC" sz="1200"/>
              <a:t>PAXOS (Leslie Lamport, 1998):</a:t>
            </a:r>
          </a:p>
          <a:p>
            <a:r>
              <a:rPr lang="es-EC" sz="1200"/>
              <a:t>Fue publicado por Leslie Lamport — sí, el mismo Lamport de los relojes lógicos que estudiamos en la Semana 3. Lo escribió originalmente en 1989 pero no fue publicado hasta 1998 con el título «The Part-Time Parliament», usando una metáfora de la isla griega de Paxos.</a:t>
            </a:r>
          </a:p>
          <a:p>
            <a:endParaRPr lang="es-EC"/>
          </a:p>
          <a:p>
            <a:r>
              <a:rPr lang="es-EC" sz="1200"/>
              <a:t>Paxos define tres ROLES:</a:t>
            </a:r>
          </a:p>
          <a:p>
            <a:r>
              <a:rPr lang="es-EC" sz="1200"/>
              <a:t>• Proposer (Proponente): propone un valor para ser consensuado.</a:t>
            </a:r>
          </a:p>
          <a:p>
            <a:r>
              <a:rPr lang="es-EC" sz="1200"/>
              <a:t>• Acceptor (Aceptante): vota sobre las propuestas. Se necesita un quórum (mayoría) de aceptantes.</a:t>
            </a:r>
          </a:p>
          <a:p>
            <a:r>
              <a:rPr lang="es-EC" sz="1200"/>
              <a:t>• Learner (Aprendiz): aprende el valor que fue consensuado y lo aplica.</a:t>
            </a:r>
          </a:p>
          <a:p>
            <a:endParaRPr lang="es-EC"/>
          </a:p>
          <a:p>
            <a:r>
              <a:rPr lang="es-EC" sz="1200"/>
              <a:t>Funciona en rondas de dos fases (no confundir con las fases del 2PC):</a:t>
            </a:r>
          </a:p>
          <a:p>
            <a:r>
              <a:rPr lang="es-EC" sz="1200"/>
              <a:t>1. Prepare: el Proposer envía un número de propuesta único y creciente a los Acceptors.</a:t>
            </a:r>
          </a:p>
          <a:p>
            <a:r>
              <a:rPr lang="es-EC" sz="1200"/>
              <a:t>2. Promise: cada Acceptor promete no aceptar propuestas con número menor al recibido.</a:t>
            </a:r>
          </a:p>
          <a:p>
            <a:r>
              <a:rPr lang="es-EC" sz="1200"/>
              <a:t>3. Accept: si la mayoría prometió, el Proposer envía el valor propuesto.</a:t>
            </a:r>
          </a:p>
          <a:p>
            <a:r>
              <a:rPr lang="es-EC" sz="1200"/>
              <a:t>4. Accepted: los Acceptors confirman la aceptación.</a:t>
            </a:r>
          </a:p>
          <a:p>
            <a:endParaRPr lang="es-EC"/>
          </a:p>
          <a:p>
            <a:r>
              <a:rPr lang="es-EC" sz="1200"/>
              <a:t>La garantía fundamental: si una mayoría de Acceptors acepta un valor, ESE es el valor consensuado. Con 2f+1 nodos, el sistema tolera f fallos (ejemplo: 5 nodos toleran 2 fallos, 3 nodos toleran 1 fallo).</a:t>
            </a:r>
          </a:p>
          <a:p>
            <a:endParaRPr lang="es-EC"/>
          </a:p>
          <a:p>
            <a:r>
              <a:rPr lang="es-EC" sz="1200"/>
              <a:t>Paxos es CORRECTO y COMPLETO, pero tiene un problema práctico devastador: es extremadamente difícil de entender e implementar. Google tardó años en implementar correctamente Paxos para Chubby (su servicio de locks distribuidos). Su paper de implementación se tituló «Paxos Made Live — An Engineering Perspective» (2007), donde documentaron todos los problemas que encontraron.</a:t>
            </a:r>
          </a:p>
          <a:p>
            <a:endParaRPr lang="es-EC"/>
          </a:p>
          <a:p>
            <a:r>
              <a:rPr lang="es-EC" sz="1200"/>
              <a:t>RAFT (Diego Ongaro &amp; John Ousterhout, Stanford, 2014):</a:t>
            </a:r>
          </a:p>
          <a:p>
            <a:r>
              <a:rPr lang="es-EC" sz="1200"/>
              <a:t>Diseñado con el objetivo explícito de ser ENTENDIBLE (understandable). Su paper se titula «In Search of an Understandable Consensus Algorithm» — buscaban un algoritmo que un estudiante de posgrado pudiera entender en una tarde.</a:t>
            </a:r>
          </a:p>
          <a:p>
            <a:endParaRPr lang="es-EC"/>
          </a:p>
          <a:p>
            <a:r>
              <a:rPr lang="es-EC" sz="1200"/>
              <a:t>Raft descompone el consenso en tres sub-problemas independientes:</a:t>
            </a:r>
          </a:p>
          <a:p>
            <a:r>
              <a:rPr lang="es-EC" sz="1200"/>
              <a:t>1. Leader Election (Elección de líder) por «terms» (términos/mandatos — períodos numerados de liderazgo).</a:t>
            </a:r>
          </a:p>
          <a:p>
            <a:r>
              <a:rPr lang="es-EC" sz="1200"/>
              <a:t>2. Log Replication (Replicación del log): el líder replica entradas de log a los followers (seguidores).</a:t>
            </a:r>
          </a:p>
          <a:p>
            <a:r>
              <a:rPr lang="es-EC" sz="1200"/>
              <a:t>3. Safety (Seguridad): solo un líder con el log más completo puede ganar una elección.</a:t>
            </a:r>
          </a:p>
          <a:p>
            <a:endParaRPr lang="es-EC"/>
          </a:p>
          <a:p>
            <a:r>
              <a:rPr lang="es-EC" sz="1200"/>
              <a:t>Los nodos están en uno de tres estados:</a:t>
            </a:r>
          </a:p>
          <a:p>
            <a:r>
              <a:rPr lang="es-EC" sz="1200"/>
              <a:t>• Follower (Seguidor): estado pasivo, recibe y replica entradas del líder.</a:t>
            </a:r>
          </a:p>
          <a:p>
            <a:r>
              <a:rPr lang="es-EC" sz="1200"/>
              <a:t>• Candidate (Candidato): estado transitorio durante una elección.</a:t>
            </a:r>
          </a:p>
          <a:p>
            <a:r>
              <a:rPr lang="es-EC" sz="1200"/>
              <a:t>• Leader (Líder): estado activo, coordina la replicación.</a:t>
            </a:r>
          </a:p>
          <a:p>
            <a:endParaRPr lang="es-EC"/>
          </a:p>
          <a:p>
            <a:r>
              <a:rPr lang="es-EC" sz="1200"/>
              <a:t>Si un Follower no recibe heartbeat (latido — mensaje periódico de vida) del líder durante un timeout aleatorio (típicamente 150-300ms), se convierte en Candidate e inicia una elección. El Candidate que obtiene la mayoría de votos se convierte en Leader.</a:t>
            </a:r>
          </a:p>
          <a:p>
            <a:endParaRPr lang="es-EC"/>
          </a:p>
          <a:p>
            <a:r>
              <a:rPr lang="es-EC" sz="1200"/>
              <a:t>Raft es el algoritmo de consenso MÁS UTILIZADO en la industria actual:</a:t>
            </a:r>
          </a:p>
          <a:p>
            <a:r>
              <a:rPr lang="es-EC" sz="1200"/>
              <a:t>• etcd: almacén de configuración de K8s (Kubernetes — plataforma de orquestación de contenedores).</a:t>
            </a:r>
          </a:p>
          <a:p>
            <a:r>
              <a:rPr lang="es-EC" sz="1200"/>
              <a:t>• CockroachDB: BD SQL distribuida (inspirada en Google Spanner).</a:t>
            </a:r>
          </a:p>
          <a:p>
            <a:r>
              <a:rPr lang="es-EC" sz="1200"/>
              <a:t>• HashiCorp Consul: service mesh y descubrimiento de servicios.</a:t>
            </a:r>
          </a:p>
          <a:p>
            <a:r>
              <a:rPr lang="es-EC" sz="1200"/>
              <a:t>• TiKV: almacén clave-valor de TiDB (BD distribuida compatible con MySQL).</a:t>
            </a:r>
          </a:p>
          <a:p>
            <a:endParaRPr lang="es-EC"/>
          </a:p>
          <a:p>
            <a:r>
              <a:rPr lang="es-EC" sz="1200"/>
              <a:t>Les recomiendo visitar https://raft.github.io para ver una visualización interactiva del algoritmo. Pueden simular en tiempo real cómo los nodos eligen líder, replican logs, y manejan fallos de nodos.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Este resumen visual conecta TODOS los conceptos de la clase en un mapa conceptual. El problema central es la Coordinación Distribuida. De ahí derivan cuatro ramas que hemos estudiado en orden lógico:</a:t>
            </a:r>
          </a:p>
          <a:p>
            <a:endParaRPr lang="es-EC"/>
          </a:p>
          <a:p>
            <a:r>
              <a:rPr lang="es-EC" sz="1200"/>
              <a:t>RAMA 1 — CONSISTENCIA (Teorema CAP):</a:t>
            </a:r>
          </a:p>
          <a:p>
            <a:r>
              <a:rPr lang="es-EC" sz="1200"/>
              <a:t>CAP = Consistency, Availability, Partition Tolerance (Consistencia, Disponibilidad, Tolerancia a Particiones). Formulado por Eric Brewer (2000), demostrado por Gilbert &amp; Lynch (2002). En redes reales, P es inevitable, así que elegimos entre:</a:t>
            </a:r>
          </a:p>
          <a:p>
            <a:r>
              <a:rPr lang="es-EC" sz="1200"/>
              <a:t>• CP (Consistency + Partition Tolerance): datos correctos, posible indisponibilidad. Ej: etcd, ZooKeeper, HBase.</a:t>
            </a:r>
          </a:p>
          <a:p>
            <a:r>
              <a:rPr lang="es-EC" sz="1200"/>
              <a:t>• AP (Availability + Partition Tolerance): siempre responde, posible inconsistencia temporal. Ej: DynamoDB, Cassandra, CouchDB.</a:t>
            </a:r>
          </a:p>
          <a:p>
            <a:endParaRPr lang="es-EC"/>
          </a:p>
          <a:p>
            <a:r>
              <a:rPr lang="es-EC" sz="1200"/>
              <a:t>RAMA 2 — ELECCIÓN DE LÍDER:</a:t>
            </a:r>
          </a:p>
          <a:p>
            <a:r>
              <a:rPr lang="es-EC" sz="1200"/>
              <a:t>• Bully (García-Molina, 1982): el proceso con PID (Process Identifier) más alto gana. Complejidad O(n²) mensajes. Rápido, tolera fallos durante elección.</a:t>
            </a:r>
          </a:p>
          <a:p>
            <a:r>
              <a:rPr lang="es-EC" sz="1200"/>
              <a:t>• Ring (Chang &amp; Roberts, 1979): mensaje circula por anillo lógico. Complejidad O(2n) mensajes. Más eficiente en mensajes, pero vulnerable a fallos durante el paso del mensaje.</a:t>
            </a:r>
          </a:p>
          <a:p>
            <a:endParaRPr lang="es-EC"/>
          </a:p>
          <a:p>
            <a:r>
              <a:rPr lang="es-EC" sz="1200"/>
              <a:t>RAMA 3 — TRANSACCIONES DISTRIBUIDAS:</a:t>
            </a:r>
          </a:p>
          <a:p>
            <a:r>
              <a:rPr lang="es-EC" sz="1200"/>
              <a:t>• 2PC (Two-Phase Commit — Confirmación en Dos Fases): Fase 1 = PREPARE/votación, Fase 2 = COMMIT o ABORT. Garantiza atomicidad distribuida (todo o nada). Pero es un protocolo bloqueante con SPOF (Single Point of Failure — Punto Único de Falla).</a:t>
            </a:r>
          </a:p>
          <a:p>
            <a:r>
              <a:rPr lang="es-EC" sz="1200"/>
              <a:t>• 3PC (Three-Phase Commit — Confirmación en Tres Fases): agrega fase PRE-COMMIT. Reduce bloqueo pero no funciona con particiones de red.</a:t>
            </a:r>
          </a:p>
          <a:p>
            <a:endParaRPr lang="es-EC"/>
          </a:p>
          <a:p>
            <a:r>
              <a:rPr lang="es-EC" sz="1200"/>
              <a:t>RAMA 4 — CONSENSO:</a:t>
            </a:r>
          </a:p>
          <a:p>
            <a:r>
              <a:rPr lang="es-EC" sz="1200"/>
              <a:t>• Paxos (Lamport, 1998): correcto y completo pero muy difícil de implementar. Roles: Proposer, Acceptor, Learner.</a:t>
            </a:r>
          </a:p>
          <a:p>
            <a:r>
              <a:rPr lang="es-EC" sz="1200"/>
              <a:t>• Raft (Ongaro &amp; Ousterhout, 2014): diseñado para ser entendible. Estados: Follower, Candidate, Leader. Usado en etcd, CockroachDB, Consul, TiKV.</a:t>
            </a:r>
          </a:p>
          <a:p>
            <a:r>
              <a:rPr lang="es-EC" sz="1200"/>
              <a:t>• Ambos usan mayoría (quórum): con 2f+1 nodos, toleran f fallos sin bloqueo.</a:t>
            </a:r>
          </a:p>
          <a:p>
            <a:endParaRPr lang="es-EC"/>
          </a:p>
          <a:p>
            <a:r>
              <a:rPr lang="es-EC" sz="1200"/>
              <a:t>LA CONCLUSIÓN CLAVE del Tema 5: las particiones de red son inevitables en SD (Sistemas Distribuidos) reales, por lo que siempre debemos tomar decisiones de diseño sobre qué propiedades priorizamos. No existe un sistema distribuido perfecto que sea consistente, disponible y tolerante a particiones AL MISMO TIEMPO. Esta es la tensión fundamental que todo ingeniero de software que trabaje con SD debe comprender profundamente.</a:t>
            </a:r>
          </a:p>
          <a:p>
            <a:endParaRPr lang="es-EC"/>
          </a:p>
          <a:p>
            <a:r>
              <a:rPr lang="es-EC" sz="1200"/>
              <a:t>PARA LA PRÓXIMA SEMANA: en la Semana 5 comenzaremos la Unidad 2, donde aplicaremos estos conceptos teóricos al diseño arquitectónico de aplicaciones distribuidas reales.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Estas son las referencias bibliográficas principales de la sesión. Todas las fuentes tienen DOI (Digital Object Identifier — Identificador de Objeto Digital) verificable o ISBN (International Standard Book Number — Número Estándar Internacional de Libro).</a:t>
            </a:r>
          </a:p>
          <a:p>
            <a:endParaRPr lang="es-EC"/>
          </a:p>
          <a:p>
            <a:r>
              <a:rPr lang="es-EC" sz="1200"/>
              <a:t>Detalle de cada referencia y qué leer:</a:t>
            </a:r>
          </a:p>
          <a:p>
            <a:endParaRPr lang="es-EC"/>
          </a:p>
          <a:p>
            <a:r>
              <a:rPr lang="es-EC" sz="1200"/>
              <a:t>[1] Brewer, E. (2012) — «CAP twelve years later: How the 'rules' have changed» en IEEE Computer. Es una revisión que el propio Eric Brewer hizo del Teorema CAP doce años después de su formulación original. Aclara malentendidos comunes: CAP no es una elección binaria simple, las particiones son raras pero hay que prepararse, y durante las particiones el diseñador puede hacer compensaciones parciales.</a:t>
            </a:r>
          </a:p>
          <a:p>
            <a:endParaRPr lang="es-EC"/>
          </a:p>
          <a:p>
            <a:r>
              <a:rPr lang="es-EC" sz="1200"/>
              <a:t>[2] van Steen, M. &amp; Tanenbaum, A. S. (2023) — «Distributed Systems», 4ª edición. Es el libro de texto de referencia para la materia. El Capítulo 6 cubre coordinación (elección de líder, exclusión mutua distribuida) y el Capítulo 8 cubre consistencia y replicación. Este libro se distribuye gratuitamente en formato PDF desde el sitio del autor.</a:t>
            </a:r>
          </a:p>
          <a:p>
            <a:endParaRPr lang="es-EC"/>
          </a:p>
          <a:p>
            <a:r>
              <a:rPr lang="es-EC" sz="1200"/>
              <a:t>[3] Kleppmann, M. (2017) — «Designing Data-Intensive Applications» (DDIA — Diseño de Aplicaciones Intensivas en Datos) de O'Reilly. El Capítulo 7 cubre transacciones (ACID — Atomicity, Consistency, Isolation, Durability), el Capítulo 8 cubre fallos distribuidos, y el Capítulo 9 cubre consistencia y consenso. Es probablemente el libro más influyente de la última década sobre SD.</a:t>
            </a:r>
          </a:p>
          <a:p>
            <a:endParaRPr lang="es-EC"/>
          </a:p>
          <a:p>
            <a:r>
              <a:rPr lang="es-EC" sz="1200"/>
              <a:t>[4] Ongaro, D. &amp; Ousterhout, J. (2014) — «In Search of an Understandable Consensus Algorithm» presentado en USENIX ATC (Annual Technical Conference — Conferencia Técnica Anual). Es el paper original de Raft, escrito específicamente para ser accesible. Complementar con la visualización interactiva en https://raft.github.io.</a:t>
            </a:r>
          </a:p>
          <a:p>
            <a:endParaRPr lang="es-EC"/>
          </a:p>
          <a:p>
            <a:r>
              <a:rPr lang="es-EC" sz="1200"/>
              <a:t>[5] Lamport, L. (1998) — «The Part-Time Parliament» en ACM TOCS (Transactions on Computer Systems — Transacciones en Sistemas Computacionales). Es el paper original de Paxos. La metáfora parlamentaria de la isla de Paxos puede resultar confusa; si lo encuentran difícil, lean primero «Paxos Made Simple» (2001), un resumen de 14 páginas del propio Lamport.</a:t>
            </a:r>
          </a:p>
          <a:p>
            <a:endParaRPr lang="es-EC"/>
          </a:p>
          <a:p>
            <a:r>
              <a:rPr lang="es-EC" sz="1200"/>
              <a:t>[6] Burns, B. (2025) — «Designing Distributed Systems», 2ª edición de O'Reilly. Cubre patrones modernos de SD con enfoque práctico en contenedores, Kubernetes y microservicios.</a:t>
            </a:r>
          </a:p>
          <a:p>
            <a:endParaRPr lang="es-EC"/>
          </a:p>
          <a:p>
            <a:r>
              <a:rPr lang="es-EC" sz="1200"/>
              <a:t>Lectura recomendada adicional para los estudiantes curiosos:</a:t>
            </a:r>
          </a:p>
          <a:p>
            <a:r>
              <a:rPr lang="es-EC" sz="1200"/>
              <a:t>• Google (2007): «Paxos Made Live — An Engineering Perspective» — documentan los problemas reales de implementar Paxos en producción.</a:t>
            </a:r>
          </a:p>
          <a:p>
            <a:r>
              <a:rPr lang="es-EC" sz="1200"/>
              <a:t>• Amazon (2007): «Dynamo: Amazon's Highly Available Key-Value Store» — el paper original de DynamoDB que explica la consistencia eventual en detalle.</a:t>
            </a:r>
          </a:p>
          <a:p>
            <a:r>
              <a:rPr lang="es-EC" sz="1200"/>
              <a:t>• El libro de texto de la materia (Guerrero Ulloa, 2026), páginas 62-74, contiene implementaciones Java completas de Bully y 2PC que usaremos en las prácticas.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C7293"/>
          </a:solidFill>
          <a:ln/>
        </p:spPr>
      </p:sp>
      <p:sp>
        <p:nvSpPr>
          <p:cNvPr id="3" name="Shape 1"/>
          <p:cNvSpPr/>
          <p:nvPr/>
        </p:nvSpPr>
        <p:spPr>
          <a:xfrm>
            <a:off x="640080" y="1097280"/>
            <a:ext cx="1005840" cy="100584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868680" y="1325880"/>
            <a:ext cx="548640" cy="548640"/>
          </a:xfrm>
          <a:prstGeom prst="rect">
            <a:avLst/>
          </a:prstGeom>
        </p:spPr>
      </p:pic>
      <p:sp>
        <p:nvSpPr>
          <p:cNvPr id="5" name="Text 2"/>
          <p:cNvSpPr/>
          <p:nvPr/>
        </p:nvSpPr>
        <p:spPr>
          <a:xfrm>
            <a:off x="2011680" y="731520"/>
            <a:ext cx="6583680" cy="1828800"/>
          </a:xfrm>
          <a:prstGeom prst="rect">
            <a:avLst/>
          </a:prstGeom>
          <a:noFill/>
          <a:ln/>
        </p:spPr>
        <p:txBody>
          <a:bodyPr wrap="square" lIns="0" tIns="0" rIns="0" bIns="0" rtlCol="0" anchor="ctr"/>
          <a:lstStyle/>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Coordinación y</a:t>
            </a:r>
            <a:endParaRPr lang="en-US" sz="3600" dirty="0"/>
          </a:p>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Consistencia Distribuida</a:t>
            </a:r>
            <a:endParaRPr lang="en-US" sz="3600" dirty="0"/>
          </a:p>
        </p:txBody>
      </p:sp>
      <p:sp>
        <p:nvSpPr>
          <p:cNvPr id="6" name="Text 3"/>
          <p:cNvSpPr/>
          <p:nvPr/>
        </p:nvSpPr>
        <p:spPr>
          <a:xfrm>
            <a:off x="2011680" y="2468880"/>
            <a:ext cx="3657600" cy="457200"/>
          </a:xfrm>
          <a:prstGeom prst="rect">
            <a:avLst/>
          </a:prstGeom>
          <a:noFill/>
          <a:ln/>
        </p:spPr>
        <p:txBody>
          <a:bodyPr wrap="square" lIns="0" tIns="0" rIns="0" bIns="0" rtlCol="0" anchor="ctr"/>
          <a:lstStyle/>
          <a:p>
            <a:pPr indent="0" marL="0">
              <a:buNone/>
            </a:pPr>
            <a:r>
              <a:rPr lang="en-US" sz="1400" b="1" spc="300" kern="0" dirty="0">
                <a:solidFill>
                  <a:srgbClr val="1C7293"/>
                </a:solidFill>
                <a:latin typeface="Calibri" pitchFamily="34" charset="0"/>
                <a:ea typeface="Calibri" pitchFamily="34" charset="-122"/>
                <a:cs typeface="Calibri" pitchFamily="34" charset="-120"/>
              </a:rPr>
              <a:t>SEMANA 4 — TEMA 5</a:t>
            </a:r>
            <a:endParaRPr lang="en-US" sz="1400" dirty="0"/>
          </a:p>
        </p:txBody>
      </p:sp>
      <p:sp>
        <p:nvSpPr>
          <p:cNvPr id="7" name="Shape 4"/>
          <p:cNvSpPr/>
          <p:nvPr/>
        </p:nvSpPr>
        <p:spPr>
          <a:xfrm>
            <a:off x="2011680" y="3108960"/>
            <a:ext cx="2743200" cy="0"/>
          </a:xfrm>
          <a:prstGeom prst="line">
            <a:avLst/>
          </a:prstGeom>
          <a:noFill/>
          <a:ln w="25400">
            <a:solidFill>
              <a:srgbClr val="1C7293"/>
            </a:solidFill>
            <a:prstDash val="solid"/>
          </a:ln>
        </p:spPr>
      </p:sp>
      <p:sp>
        <p:nvSpPr>
          <p:cNvPr id="8" name="Text 5"/>
          <p:cNvSpPr/>
          <p:nvPr/>
        </p:nvSpPr>
        <p:spPr>
          <a:xfrm>
            <a:off x="2011680" y="3291840"/>
            <a:ext cx="64008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Unidad 1 — Generalidades de los Sistemas Distribuidos</a:t>
            </a:r>
            <a:endParaRPr lang="en-US" sz="1400" dirty="0"/>
          </a:p>
        </p:txBody>
      </p:sp>
      <p:sp>
        <p:nvSpPr>
          <p:cNvPr id="9" name="Text 6"/>
          <p:cNvSpPr/>
          <p:nvPr/>
        </p:nvSpPr>
        <p:spPr>
          <a:xfrm>
            <a:off x="2011680" y="3657600"/>
            <a:ext cx="640080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Aplicaciones Distribuidas · Ingeniería de Software · UTEQ</a:t>
            </a:r>
            <a:endParaRPr lang="en-US" sz="1200" dirty="0"/>
          </a:p>
        </p:txBody>
      </p:sp>
      <p:sp>
        <p:nvSpPr>
          <p:cNvPr id="10" name="Text 7"/>
          <p:cNvSpPr/>
          <p:nvPr/>
        </p:nvSpPr>
        <p:spPr>
          <a:xfrm>
            <a:off x="2011680" y="4023360"/>
            <a:ext cx="640080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Período 2026-2027 PPA · 25–31 mayo 2026</a:t>
            </a:r>
            <a:endParaRPr lang="en-US" sz="1200" dirty="0"/>
          </a:p>
        </p:txBody>
      </p:sp>
      <p:sp>
        <p:nvSpPr>
          <p:cNvPr id="11" name="Text 8"/>
          <p:cNvSpPr/>
          <p:nvPr/>
        </p:nvSpPr>
        <p:spPr>
          <a:xfrm>
            <a:off x="2011680" y="4480560"/>
            <a:ext cx="6400800" cy="32004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Prof. Guerrero Ulloa G.C.</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Agenda de la Semana 4</a:t>
            </a:r>
            <a:endParaRPr lang="en-US" sz="3000" dirty="0"/>
          </a:p>
        </p:txBody>
      </p:sp>
      <p:sp>
        <p:nvSpPr>
          <p:cNvPr id="3" name="Shape 1"/>
          <p:cNvSpPr/>
          <p:nvPr/>
        </p:nvSpPr>
        <p:spPr>
          <a:xfrm>
            <a:off x="548640" y="1097280"/>
            <a:ext cx="8046720" cy="822960"/>
          </a:xfrm>
          <a:prstGeom prst="rect">
            <a:avLst/>
          </a:prstGeom>
          <a:solidFill>
            <a:srgbClr val="F0F7FA"/>
          </a:solidFill>
          <a:ln/>
          <a:effectLst>
            <a:outerShdw sx="100000" sy="100000" kx="0" ky="0" algn="bl" rotWithShape="0" blurRad="50800" dist="25400" dir="81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777240" y="1280160"/>
            <a:ext cx="411480" cy="411480"/>
          </a:xfrm>
          <a:prstGeom prst="rect">
            <a:avLst/>
          </a:prstGeom>
        </p:spPr>
      </p:pic>
      <p:sp>
        <p:nvSpPr>
          <p:cNvPr id="5" name="Text 2"/>
          <p:cNvSpPr/>
          <p:nvPr/>
        </p:nvSpPr>
        <p:spPr>
          <a:xfrm>
            <a:off x="1371600" y="1170432"/>
            <a:ext cx="182880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Subtema 1</a:t>
            </a:r>
            <a:endParaRPr lang="en-US" sz="1300" dirty="0"/>
          </a:p>
        </p:txBody>
      </p:sp>
      <p:sp>
        <p:nvSpPr>
          <p:cNvPr id="6" name="Text 3"/>
          <p:cNvSpPr/>
          <p:nvPr/>
        </p:nvSpPr>
        <p:spPr>
          <a:xfrm>
            <a:off x="1371600" y="1481328"/>
            <a:ext cx="502920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El problema de la consistencia — Teorema CAP</a:t>
            </a:r>
            <a:endParaRPr lang="en-US" sz="1200" dirty="0"/>
          </a:p>
        </p:txBody>
      </p:sp>
      <p:sp>
        <p:nvSpPr>
          <p:cNvPr id="7" name="Text 4"/>
          <p:cNvSpPr/>
          <p:nvPr/>
        </p:nvSpPr>
        <p:spPr>
          <a:xfrm>
            <a:off x="7498080" y="1280160"/>
            <a:ext cx="914400" cy="365760"/>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25 min</a:t>
            </a:r>
            <a:endParaRPr lang="en-US" sz="1100" dirty="0"/>
          </a:p>
        </p:txBody>
      </p:sp>
      <p:sp>
        <p:nvSpPr>
          <p:cNvPr id="8" name="Shape 5"/>
          <p:cNvSpPr/>
          <p:nvPr/>
        </p:nvSpPr>
        <p:spPr>
          <a:xfrm>
            <a:off x="548640" y="2057400"/>
            <a:ext cx="8046720" cy="822960"/>
          </a:xfrm>
          <a:prstGeom prst="rect">
            <a:avLst/>
          </a:prstGeom>
          <a:solidFill>
            <a:srgbClr val="FFFFFF"/>
          </a:solidFill>
          <a:ln/>
          <a:effectLst>
            <a:outerShdw sx="100000" sy="100000" kx="0" ky="0" algn="bl" rotWithShape="0" blurRad="50800" dist="254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777240" y="2240280"/>
            <a:ext cx="411480" cy="411480"/>
          </a:xfrm>
          <a:prstGeom prst="rect">
            <a:avLst/>
          </a:prstGeom>
        </p:spPr>
      </p:pic>
      <p:sp>
        <p:nvSpPr>
          <p:cNvPr id="10" name="Text 6"/>
          <p:cNvSpPr/>
          <p:nvPr/>
        </p:nvSpPr>
        <p:spPr>
          <a:xfrm>
            <a:off x="1371600" y="2130552"/>
            <a:ext cx="182880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Subtema 2</a:t>
            </a:r>
            <a:endParaRPr lang="en-US" sz="1300" dirty="0"/>
          </a:p>
        </p:txBody>
      </p:sp>
      <p:sp>
        <p:nvSpPr>
          <p:cNvPr id="11" name="Text 7"/>
          <p:cNvSpPr/>
          <p:nvPr/>
        </p:nvSpPr>
        <p:spPr>
          <a:xfrm>
            <a:off x="1371600" y="2441448"/>
            <a:ext cx="502920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Algoritmos de coordinación — Bully y Ring</a:t>
            </a:r>
            <a:endParaRPr lang="en-US" sz="1200" dirty="0"/>
          </a:p>
        </p:txBody>
      </p:sp>
      <p:sp>
        <p:nvSpPr>
          <p:cNvPr id="12" name="Text 8"/>
          <p:cNvSpPr/>
          <p:nvPr/>
        </p:nvSpPr>
        <p:spPr>
          <a:xfrm>
            <a:off x="7498080" y="2240280"/>
            <a:ext cx="914400" cy="365760"/>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30 min</a:t>
            </a:r>
            <a:endParaRPr lang="en-US" sz="1100" dirty="0"/>
          </a:p>
        </p:txBody>
      </p:sp>
      <p:sp>
        <p:nvSpPr>
          <p:cNvPr id="13" name="Shape 9"/>
          <p:cNvSpPr/>
          <p:nvPr/>
        </p:nvSpPr>
        <p:spPr>
          <a:xfrm>
            <a:off x="548640" y="3017520"/>
            <a:ext cx="8046720" cy="822960"/>
          </a:xfrm>
          <a:prstGeom prst="rect">
            <a:avLst/>
          </a:prstGeom>
          <a:solidFill>
            <a:srgbClr val="F0F7FA"/>
          </a:solidFill>
          <a:ln/>
          <a:effectLst>
            <a:outerShdw sx="100000" sy="100000" kx="0" ky="0" algn="bl" rotWithShape="0" blurRad="50800" dist="25400" dir="8100000">
              <a:srgbClr val="000000">
                <a:alpha val="12000"/>
              </a:srgbClr>
            </a:outerShdw>
          </a:effectLst>
        </p:spPr>
      </p:sp>
      <p:pic>
        <p:nvPicPr>
          <p:cNvPr id="14" name="Image 2" descr="preencoded.png">    </p:cNvPr>
          <p:cNvPicPr>
            <a:picLocks noChangeAspect="1"/>
          </p:cNvPicPr>
          <p:nvPr/>
        </p:nvPicPr>
        <p:blipFill>
          <a:blip r:embed="rId3"/>
          <a:stretch>
            <a:fillRect/>
          </a:stretch>
        </p:blipFill>
        <p:spPr>
          <a:xfrm>
            <a:off x="777240" y="3200400"/>
            <a:ext cx="411480" cy="411480"/>
          </a:xfrm>
          <a:prstGeom prst="rect">
            <a:avLst/>
          </a:prstGeom>
        </p:spPr>
      </p:pic>
      <p:sp>
        <p:nvSpPr>
          <p:cNvPr id="15" name="Text 10"/>
          <p:cNvSpPr/>
          <p:nvPr/>
        </p:nvSpPr>
        <p:spPr>
          <a:xfrm>
            <a:off x="1371600" y="3090672"/>
            <a:ext cx="182880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Subtema 3</a:t>
            </a:r>
            <a:endParaRPr lang="en-US" sz="1300" dirty="0"/>
          </a:p>
        </p:txBody>
      </p:sp>
      <p:sp>
        <p:nvSpPr>
          <p:cNvPr id="16" name="Text 11"/>
          <p:cNvSpPr/>
          <p:nvPr/>
        </p:nvSpPr>
        <p:spPr>
          <a:xfrm>
            <a:off x="1371600" y="3401568"/>
            <a:ext cx="502920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Transacciones distribuidas — Commit en dos fases (2PC)</a:t>
            </a:r>
            <a:endParaRPr lang="en-US" sz="1200" dirty="0"/>
          </a:p>
        </p:txBody>
      </p:sp>
      <p:sp>
        <p:nvSpPr>
          <p:cNvPr id="17" name="Text 12"/>
          <p:cNvSpPr/>
          <p:nvPr/>
        </p:nvSpPr>
        <p:spPr>
          <a:xfrm>
            <a:off x="7498080" y="3200400"/>
            <a:ext cx="914400" cy="365760"/>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30 min</a:t>
            </a:r>
            <a:endParaRPr lang="en-US" sz="1100" dirty="0"/>
          </a:p>
        </p:txBody>
      </p:sp>
      <p:sp>
        <p:nvSpPr>
          <p:cNvPr id="18" name="Shape 13"/>
          <p:cNvSpPr/>
          <p:nvPr/>
        </p:nvSpPr>
        <p:spPr>
          <a:xfrm>
            <a:off x="548640" y="3977640"/>
            <a:ext cx="8046720" cy="822960"/>
          </a:xfrm>
          <a:prstGeom prst="rect">
            <a:avLst/>
          </a:prstGeom>
          <a:solidFill>
            <a:srgbClr val="FFFFFF"/>
          </a:solidFill>
          <a:ln/>
          <a:effectLst>
            <a:outerShdw sx="100000" sy="100000" kx="0" ky="0" algn="bl" rotWithShape="0" blurRad="50800" dist="25400" dir="8100000">
              <a:srgbClr val="000000">
                <a:alpha val="12000"/>
              </a:srgbClr>
            </a:outerShdw>
          </a:effectLst>
        </p:spPr>
      </p:sp>
      <p:pic>
        <p:nvPicPr>
          <p:cNvPr id="19" name="Image 3" descr="preencoded.png">    </p:cNvPr>
          <p:cNvPicPr>
            <a:picLocks noChangeAspect="1"/>
          </p:cNvPicPr>
          <p:nvPr/>
        </p:nvPicPr>
        <p:blipFill>
          <a:blip r:embed="rId4"/>
          <a:stretch>
            <a:fillRect/>
          </a:stretch>
        </p:blipFill>
        <p:spPr>
          <a:xfrm>
            <a:off x="777240" y="4160520"/>
            <a:ext cx="411480" cy="411480"/>
          </a:xfrm>
          <a:prstGeom prst="rect">
            <a:avLst/>
          </a:prstGeom>
        </p:spPr>
      </p:pic>
      <p:sp>
        <p:nvSpPr>
          <p:cNvPr id="20" name="Text 14"/>
          <p:cNvSpPr/>
          <p:nvPr/>
        </p:nvSpPr>
        <p:spPr>
          <a:xfrm>
            <a:off x="1371600" y="4050792"/>
            <a:ext cx="182880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Subtema 4</a:t>
            </a:r>
            <a:endParaRPr lang="en-US" sz="1300" dirty="0"/>
          </a:p>
        </p:txBody>
      </p:sp>
      <p:sp>
        <p:nvSpPr>
          <p:cNvPr id="21" name="Text 15"/>
          <p:cNvSpPr/>
          <p:nvPr/>
        </p:nvSpPr>
        <p:spPr>
          <a:xfrm>
            <a:off x="1371600" y="4361688"/>
            <a:ext cx="502920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Sistemas de consenso — Paxos y Raft (introducción)</a:t>
            </a:r>
            <a:endParaRPr lang="en-US" sz="1200" dirty="0"/>
          </a:p>
        </p:txBody>
      </p:sp>
      <p:sp>
        <p:nvSpPr>
          <p:cNvPr id="22" name="Text 16"/>
          <p:cNvSpPr/>
          <p:nvPr/>
        </p:nvSpPr>
        <p:spPr>
          <a:xfrm>
            <a:off x="7498080" y="4160520"/>
            <a:ext cx="914400" cy="365760"/>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20 min</a:t>
            </a:r>
            <a:endParaRPr lang="en-US" sz="1100" dirty="0"/>
          </a:p>
        </p:txBody>
      </p:sp>
      <p:sp>
        <p:nvSpPr>
          <p:cNvPr id="23" name="Text 17"/>
          <p:cNvSpPr/>
          <p:nvPr/>
        </p:nvSpPr>
        <p:spPr>
          <a:xfrm>
            <a:off x="548640" y="4617720"/>
            <a:ext cx="8046720" cy="36576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RA: Analiza las características y principios de los SD, evaluando ventajas, limitaciones y retos.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¿Sabían que...?</a:t>
            </a:r>
            <a:endParaRPr lang="en-US" sz="2800" dirty="0"/>
          </a:p>
        </p:txBody>
      </p:sp>
      <p:sp>
        <p:nvSpPr>
          <p:cNvPr id="3" name="Shape 1"/>
          <p:cNvSpPr/>
          <p:nvPr/>
        </p:nvSpPr>
        <p:spPr>
          <a:xfrm>
            <a:off x="1097280" y="1371600"/>
            <a:ext cx="6949440" cy="25603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4" name="Text 2"/>
          <p:cNvSpPr/>
          <p:nvPr/>
        </p:nvSpPr>
        <p:spPr>
          <a:xfrm>
            <a:off x="1371600" y="1554480"/>
            <a:ext cx="6400800" cy="2194560"/>
          </a:xfrm>
          <a:prstGeom prst="rect">
            <a:avLst/>
          </a:prstGeom>
          <a:noFill/>
          <a:ln/>
        </p:spPr>
        <p:txBody>
          <a:bodyPr wrap="square" lIns="0" tIns="0" rIns="0" bIns="0" rtlCol="0" anchor="ctr"/>
          <a:lstStyle/>
          <a:p>
            <a:pPr indent="0" marL="0">
              <a:lnSpc>
                <a:spcPct val="140000"/>
              </a:lnSpc>
              <a:buNone/>
            </a:pPr>
            <a:r>
              <a:rPr lang="en-US" sz="1600" dirty="0">
                <a:solidFill>
                  <a:srgbClr val="1E293B"/>
                </a:solidFill>
                <a:latin typeface="Calibri" pitchFamily="34" charset="0"/>
                <a:ea typeface="Calibri" pitchFamily="34" charset="-122"/>
                <a:cs typeface="Calibri" pitchFamily="34" charset="-120"/>
              </a:rPr>
              <a:t>En 2017, Amazon S3 sufrió una caída de 4 horas que afectó a miles de sitios web y servicios en Internet. La causa raíz fue un problema de coordinación distribuida: un comando de mantenimiento eliminó más servidores de los planeados, y el sistema no pudo re-elegir líderes lo suficientemente rápido.</a:t>
            </a:r>
            <a:endParaRPr lang="en-US" sz="1600" dirty="0"/>
          </a:p>
        </p:txBody>
      </p:sp>
      <p:sp>
        <p:nvSpPr>
          <p:cNvPr id="5" name="Text 3"/>
          <p:cNvSpPr/>
          <p:nvPr/>
        </p:nvSpPr>
        <p:spPr>
          <a:xfrm>
            <a:off x="1097280" y="4114800"/>
            <a:ext cx="6949440" cy="274320"/>
          </a:xfrm>
          <a:prstGeom prst="rect">
            <a:avLst/>
          </a:prstGeom>
          <a:noFill/>
          <a:ln/>
        </p:spPr>
        <p:txBody>
          <a:bodyPr wrap="square" lIns="0" tIns="0" rIns="0" bIns="0" rtlCol="0" anchor="ctr"/>
          <a:lstStyle/>
          <a:p>
            <a:pPr algn="ctr" indent="0" marL="0">
              <a:buNone/>
            </a:pPr>
            <a:r>
              <a:rPr lang="en-US" sz="1000" i="1" dirty="0">
                <a:solidFill>
                  <a:srgbClr val="B0D4E8"/>
                </a:solidFill>
                <a:latin typeface="Calibri" pitchFamily="34" charset="0"/>
                <a:ea typeface="Calibri" pitchFamily="34" charset="-122"/>
                <a:cs typeface="Calibri" pitchFamily="34" charset="-120"/>
              </a:rPr>
              <a:t>Fuente: Amazon Web Services Post-Mortem, marzo 2017</a:t>
            </a:r>
            <a:endParaRPr lang="en-US" sz="1000" dirty="0"/>
          </a:p>
        </p:txBody>
      </p:sp>
      <p:sp>
        <p:nvSpPr>
          <p:cNvPr id="6" name="Text 4"/>
          <p:cNvSpPr/>
          <p:nvPr/>
        </p:nvSpPr>
        <p:spPr>
          <a:xfrm>
            <a:off x="548640" y="4480560"/>
            <a:ext cx="8046720" cy="45720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La coordinación distribuida no es un problema teórico — tiene impacto real y millonario.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800" b="1" dirty="0">
                <a:solidFill>
                  <a:srgbClr val="21295C"/>
                </a:solidFill>
                <a:latin typeface="Georgia" pitchFamily="34" charset="0"/>
                <a:ea typeface="Georgia" pitchFamily="34" charset="-122"/>
                <a:cs typeface="Georgia" pitchFamily="34" charset="-120"/>
              </a:rPr>
              <a:t>Subtema 1: El Teorema CAP</a:t>
            </a:r>
            <a:endParaRPr lang="en-US" sz="28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El problema fundamental de la consistencia</a:t>
            </a:r>
            <a:endParaRPr lang="en-US" sz="1400" dirty="0"/>
          </a:p>
        </p:txBody>
      </p:sp>
      <p:sp>
        <p:nvSpPr>
          <p:cNvPr id="4" name="Shape 2"/>
          <p:cNvSpPr/>
          <p:nvPr/>
        </p:nvSpPr>
        <p:spPr>
          <a:xfrm>
            <a:off x="548640" y="1280160"/>
            <a:ext cx="2606040" cy="3108960"/>
          </a:xfrm>
          <a:prstGeom prst="rect">
            <a:avLst/>
          </a:prstGeom>
          <a:solidFill>
            <a:srgbClr val="F0F7FA"/>
          </a:solidFill>
          <a:ln/>
          <a:effectLst>
            <a:outerShdw sx="100000" sy="100000" kx="0" ky="0" algn="bl" rotWithShape="0" blurRad="50800" dist="25400" dir="8100000">
              <a:srgbClr val="000000">
                <a:alpha val="12000"/>
              </a:srgbClr>
            </a:outerShdw>
          </a:effectLst>
        </p:spPr>
      </p:sp>
      <p:sp>
        <p:nvSpPr>
          <p:cNvPr id="5" name="Shape 3"/>
          <p:cNvSpPr/>
          <p:nvPr/>
        </p:nvSpPr>
        <p:spPr>
          <a:xfrm>
            <a:off x="1389888" y="1508760"/>
            <a:ext cx="914400" cy="914400"/>
          </a:xfrm>
          <a:prstGeom prst="ellipse">
            <a:avLst/>
          </a:prstGeom>
          <a:solidFill>
            <a:srgbClr val="065A82"/>
          </a:solidFill>
          <a:ln/>
        </p:spPr>
      </p:sp>
      <p:sp>
        <p:nvSpPr>
          <p:cNvPr id="6" name="Text 4"/>
          <p:cNvSpPr/>
          <p:nvPr/>
        </p:nvSpPr>
        <p:spPr>
          <a:xfrm>
            <a:off x="1389888" y="1508760"/>
            <a:ext cx="9144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C</a:t>
            </a:r>
            <a:endParaRPr lang="en-US" sz="3600" dirty="0"/>
          </a:p>
        </p:txBody>
      </p:sp>
      <p:sp>
        <p:nvSpPr>
          <p:cNvPr id="7" name="Text 5"/>
          <p:cNvSpPr/>
          <p:nvPr/>
        </p:nvSpPr>
        <p:spPr>
          <a:xfrm>
            <a:off x="685800" y="2560320"/>
            <a:ext cx="2331720" cy="502920"/>
          </a:xfrm>
          <a:prstGeom prst="rect">
            <a:avLst/>
          </a:prstGeom>
          <a:noFill/>
          <a:ln/>
        </p:spPr>
        <p:txBody>
          <a:bodyPr wrap="square" lIns="0" tIns="0" rIns="0" bIns="0" rtlCol="0" anchor="ctr"/>
          <a:lstStyle/>
          <a:p>
            <a:pPr algn="ctr" indent="0" marL="0">
              <a:buNone/>
            </a:pPr>
            <a:r>
              <a:rPr lang="en-US" sz="1500" b="1" dirty="0">
                <a:solidFill>
                  <a:srgbClr val="065A82"/>
                </a:solidFill>
                <a:latin typeface="Calibri" pitchFamily="34" charset="0"/>
                <a:ea typeface="Calibri" pitchFamily="34" charset="-122"/>
                <a:cs typeface="Calibri" pitchFamily="34" charset="-120"/>
              </a:rPr>
              <a:t>Consistency</a:t>
            </a:r>
            <a:endParaRPr lang="en-US" sz="1500" dirty="0"/>
          </a:p>
        </p:txBody>
      </p:sp>
      <p:sp>
        <p:nvSpPr>
          <p:cNvPr id="8" name="Text 6"/>
          <p:cNvSpPr/>
          <p:nvPr/>
        </p:nvSpPr>
        <p:spPr>
          <a:xfrm>
            <a:off x="685800" y="3063240"/>
            <a:ext cx="2331720" cy="1097280"/>
          </a:xfrm>
          <a:prstGeom prst="rect">
            <a:avLst/>
          </a:prstGeom>
          <a:noFill/>
          <a:ln/>
        </p:spPr>
        <p:txBody>
          <a:bodyPr wrap="square" lIns="0" tIns="0" rIns="0" bIns="0" rtlCol="0" anchor="ctr"/>
          <a:lstStyle/>
          <a:p>
            <a:pPr algn="ctr" indent="0" marL="0">
              <a:lnSpc>
                <a:spcPct val="130000"/>
              </a:lnSpc>
              <a:buNone/>
            </a:pPr>
            <a:r>
              <a:rPr lang="en-US" sz="1200" dirty="0">
                <a:solidFill>
                  <a:srgbClr val="1E293B"/>
                </a:solidFill>
                <a:latin typeface="Calibri" pitchFamily="34" charset="0"/>
                <a:ea typeface="Calibri" pitchFamily="34" charset="-122"/>
                <a:cs typeface="Calibri" pitchFamily="34" charset="-120"/>
              </a:rPr>
              <a:t>Todos los nodos ven los mismos datos al mismo instante (linealización)</a:t>
            </a:r>
            <a:endParaRPr lang="en-US" sz="1200" dirty="0"/>
          </a:p>
        </p:txBody>
      </p:sp>
      <p:sp>
        <p:nvSpPr>
          <p:cNvPr id="9" name="Shape 7"/>
          <p:cNvSpPr/>
          <p:nvPr/>
        </p:nvSpPr>
        <p:spPr>
          <a:xfrm>
            <a:off x="3429000" y="1280160"/>
            <a:ext cx="2606040" cy="3108960"/>
          </a:xfrm>
          <a:prstGeom prst="rect">
            <a:avLst/>
          </a:prstGeom>
          <a:solidFill>
            <a:srgbClr val="F0F7FA"/>
          </a:solidFill>
          <a:ln/>
          <a:effectLst>
            <a:outerShdw sx="100000" sy="100000" kx="0" ky="0" algn="bl" rotWithShape="0" blurRad="50800" dist="25400" dir="8100000">
              <a:srgbClr val="000000">
                <a:alpha val="12000"/>
              </a:srgbClr>
            </a:outerShdw>
          </a:effectLst>
        </p:spPr>
      </p:sp>
      <p:sp>
        <p:nvSpPr>
          <p:cNvPr id="10" name="Shape 8"/>
          <p:cNvSpPr/>
          <p:nvPr/>
        </p:nvSpPr>
        <p:spPr>
          <a:xfrm>
            <a:off x="4270248" y="1508760"/>
            <a:ext cx="914400" cy="914400"/>
          </a:xfrm>
          <a:prstGeom prst="ellipse">
            <a:avLst/>
          </a:prstGeom>
          <a:solidFill>
            <a:srgbClr val="1C7293"/>
          </a:solidFill>
          <a:ln/>
        </p:spPr>
      </p:sp>
      <p:sp>
        <p:nvSpPr>
          <p:cNvPr id="11" name="Text 9"/>
          <p:cNvSpPr/>
          <p:nvPr/>
        </p:nvSpPr>
        <p:spPr>
          <a:xfrm>
            <a:off x="4270248" y="1508760"/>
            <a:ext cx="9144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A</a:t>
            </a:r>
            <a:endParaRPr lang="en-US" sz="3600" dirty="0"/>
          </a:p>
        </p:txBody>
      </p:sp>
      <p:sp>
        <p:nvSpPr>
          <p:cNvPr id="12" name="Text 10"/>
          <p:cNvSpPr/>
          <p:nvPr/>
        </p:nvSpPr>
        <p:spPr>
          <a:xfrm>
            <a:off x="3566160" y="2560320"/>
            <a:ext cx="2331720" cy="50292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Availability</a:t>
            </a:r>
            <a:endParaRPr lang="en-US" sz="1500" dirty="0"/>
          </a:p>
        </p:txBody>
      </p:sp>
      <p:sp>
        <p:nvSpPr>
          <p:cNvPr id="13" name="Text 11"/>
          <p:cNvSpPr/>
          <p:nvPr/>
        </p:nvSpPr>
        <p:spPr>
          <a:xfrm>
            <a:off x="3566160" y="3063240"/>
            <a:ext cx="2331720" cy="1097280"/>
          </a:xfrm>
          <a:prstGeom prst="rect">
            <a:avLst/>
          </a:prstGeom>
          <a:noFill/>
          <a:ln/>
        </p:spPr>
        <p:txBody>
          <a:bodyPr wrap="square" lIns="0" tIns="0" rIns="0" bIns="0" rtlCol="0" anchor="ctr"/>
          <a:lstStyle/>
          <a:p>
            <a:pPr algn="ctr" indent="0" marL="0">
              <a:lnSpc>
                <a:spcPct val="130000"/>
              </a:lnSpc>
              <a:buNone/>
            </a:pPr>
            <a:r>
              <a:rPr lang="en-US" sz="1200" dirty="0">
                <a:solidFill>
                  <a:srgbClr val="1E293B"/>
                </a:solidFill>
                <a:latin typeface="Calibri" pitchFamily="34" charset="0"/>
                <a:ea typeface="Calibri" pitchFamily="34" charset="-122"/>
                <a:cs typeface="Calibri" pitchFamily="34" charset="-120"/>
              </a:rPr>
              <a:t>Toda petición recibe una respuesta (no necesariamente la más reciente)</a:t>
            </a:r>
            <a:endParaRPr lang="en-US" sz="1200" dirty="0"/>
          </a:p>
        </p:txBody>
      </p:sp>
      <p:sp>
        <p:nvSpPr>
          <p:cNvPr id="14" name="Shape 12"/>
          <p:cNvSpPr/>
          <p:nvPr/>
        </p:nvSpPr>
        <p:spPr>
          <a:xfrm>
            <a:off x="6309360" y="1280160"/>
            <a:ext cx="2606040" cy="3108960"/>
          </a:xfrm>
          <a:prstGeom prst="rect">
            <a:avLst/>
          </a:prstGeom>
          <a:solidFill>
            <a:srgbClr val="F0F7FA"/>
          </a:solidFill>
          <a:ln/>
          <a:effectLst>
            <a:outerShdw sx="100000" sy="100000" kx="0" ky="0" algn="bl" rotWithShape="0" blurRad="50800" dist="25400" dir="8100000">
              <a:srgbClr val="000000">
                <a:alpha val="12000"/>
              </a:srgbClr>
            </a:outerShdw>
          </a:effectLst>
        </p:spPr>
      </p:sp>
      <p:sp>
        <p:nvSpPr>
          <p:cNvPr id="15" name="Shape 13"/>
          <p:cNvSpPr/>
          <p:nvPr/>
        </p:nvSpPr>
        <p:spPr>
          <a:xfrm>
            <a:off x="7150608" y="1508760"/>
            <a:ext cx="914400" cy="914400"/>
          </a:xfrm>
          <a:prstGeom prst="ellipse">
            <a:avLst/>
          </a:prstGeom>
          <a:solidFill>
            <a:srgbClr val="21295C"/>
          </a:solidFill>
          <a:ln/>
        </p:spPr>
      </p:sp>
      <p:sp>
        <p:nvSpPr>
          <p:cNvPr id="16" name="Text 14"/>
          <p:cNvSpPr/>
          <p:nvPr/>
        </p:nvSpPr>
        <p:spPr>
          <a:xfrm>
            <a:off x="7150608" y="1508760"/>
            <a:ext cx="9144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P</a:t>
            </a:r>
            <a:endParaRPr lang="en-US" sz="3600" dirty="0"/>
          </a:p>
        </p:txBody>
      </p:sp>
      <p:sp>
        <p:nvSpPr>
          <p:cNvPr id="17" name="Text 15"/>
          <p:cNvSpPr/>
          <p:nvPr/>
        </p:nvSpPr>
        <p:spPr>
          <a:xfrm>
            <a:off x="6446520" y="2560320"/>
            <a:ext cx="2331720" cy="502920"/>
          </a:xfrm>
          <a:prstGeom prst="rect">
            <a:avLst/>
          </a:prstGeom>
          <a:noFill/>
          <a:ln/>
        </p:spPr>
        <p:txBody>
          <a:bodyPr wrap="square" lIns="0" tIns="0" rIns="0" bIns="0" rtlCol="0" anchor="ctr"/>
          <a:lstStyle/>
          <a:p>
            <a:pPr algn="ctr" indent="0" marL="0">
              <a:buNone/>
            </a:pPr>
            <a:r>
              <a:rPr lang="en-US" sz="1500" b="1" dirty="0">
                <a:solidFill>
                  <a:srgbClr val="21295C"/>
                </a:solidFill>
                <a:latin typeface="Calibri" pitchFamily="34" charset="0"/>
                <a:ea typeface="Calibri" pitchFamily="34" charset="-122"/>
                <a:cs typeface="Calibri" pitchFamily="34" charset="-120"/>
              </a:rPr>
              <a:t>Partition</a:t>
            </a:r>
            <a:endParaRPr lang="en-US" sz="1500" dirty="0"/>
          </a:p>
          <a:p>
            <a:pPr algn="ctr" indent="0" marL="0">
              <a:buNone/>
            </a:pPr>
            <a:r>
              <a:rPr lang="en-US" sz="1500" b="1" dirty="0">
                <a:solidFill>
                  <a:srgbClr val="21295C"/>
                </a:solidFill>
                <a:latin typeface="Calibri" pitchFamily="34" charset="0"/>
                <a:ea typeface="Calibri" pitchFamily="34" charset="-122"/>
                <a:cs typeface="Calibri" pitchFamily="34" charset="-120"/>
              </a:rPr>
              <a:t>Tolerance</a:t>
            </a:r>
            <a:endParaRPr lang="en-US" sz="1500" dirty="0"/>
          </a:p>
        </p:txBody>
      </p:sp>
      <p:sp>
        <p:nvSpPr>
          <p:cNvPr id="18" name="Text 16"/>
          <p:cNvSpPr/>
          <p:nvPr/>
        </p:nvSpPr>
        <p:spPr>
          <a:xfrm>
            <a:off x="6446520" y="3063240"/>
            <a:ext cx="2331720" cy="1097280"/>
          </a:xfrm>
          <a:prstGeom prst="rect">
            <a:avLst/>
          </a:prstGeom>
          <a:noFill/>
          <a:ln/>
        </p:spPr>
        <p:txBody>
          <a:bodyPr wrap="square" lIns="0" tIns="0" rIns="0" bIns="0" rtlCol="0" anchor="ctr"/>
          <a:lstStyle/>
          <a:p>
            <a:pPr algn="ctr" indent="0" marL="0">
              <a:lnSpc>
                <a:spcPct val="130000"/>
              </a:lnSpc>
              <a:buNone/>
            </a:pPr>
            <a:r>
              <a:rPr lang="en-US" sz="1200" dirty="0">
                <a:solidFill>
                  <a:srgbClr val="1E293B"/>
                </a:solidFill>
                <a:latin typeface="Calibri" pitchFamily="34" charset="0"/>
                <a:ea typeface="Calibri" pitchFamily="34" charset="-122"/>
                <a:cs typeface="Calibri" pitchFamily="34" charset="-120"/>
              </a:rPr>
              <a:t>El sistema funciona ante la pérdida arbitraria de mensajes entre nodos</a:t>
            </a:r>
            <a:endParaRPr lang="en-US" sz="1200" dirty="0"/>
          </a:p>
        </p:txBody>
      </p:sp>
      <p:sp>
        <p:nvSpPr>
          <p:cNvPr id="19" name="Text 17"/>
          <p:cNvSpPr/>
          <p:nvPr/>
        </p:nvSpPr>
        <p:spPr>
          <a:xfrm>
            <a:off x="548640" y="4572000"/>
            <a:ext cx="8046720" cy="411480"/>
          </a:xfrm>
          <a:prstGeom prst="rect">
            <a:avLst/>
          </a:prstGeom>
          <a:noFill/>
          <a:ln/>
        </p:spPr>
        <p:txBody>
          <a:bodyPr wrap="square" lIns="0" tIns="0" rIns="0" bIns="0" rtlCol="0" anchor="ctr"/>
          <a:lstStyle/>
          <a:p>
            <a:pPr algn="ctr" indent="0" marL="0">
              <a:buNone/>
            </a:pPr>
            <a:r>
              <a:rPr lang="en-US" sz="1300" b="1" dirty="0">
                <a:solidFill>
                  <a:srgbClr val="065A82"/>
                </a:solidFill>
                <a:latin typeface="Calibri" pitchFamily="34" charset="0"/>
                <a:ea typeface="Calibri" pitchFamily="34" charset="-122"/>
                <a:cs typeface="Calibri" pitchFamily="34" charset="-120"/>
              </a:rPr>
              <a:t>Teorema de Brewer (2000): En un sistema distribuido, es imposible garantizar simultáneamente C, A y P.</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600" b="1" dirty="0">
                <a:solidFill>
                  <a:srgbClr val="21295C"/>
                </a:solidFill>
                <a:latin typeface="Georgia" pitchFamily="34" charset="0"/>
                <a:ea typeface="Georgia" pitchFamily="34" charset="-122"/>
                <a:cs typeface="Georgia" pitchFamily="34" charset="-120"/>
              </a:rPr>
              <a:t>El Triángulo CAP: Sistemas Reales</a:t>
            </a:r>
            <a:endParaRPr lang="en-US" sz="2600" dirty="0"/>
          </a:p>
        </p:txBody>
      </p:sp>
      <p:sp>
        <p:nvSpPr>
          <p:cNvPr id="3" name="Shape 1"/>
          <p:cNvSpPr/>
          <p:nvPr/>
        </p:nvSpPr>
        <p:spPr>
          <a:xfrm>
            <a:off x="548640" y="1005840"/>
            <a:ext cx="3840480" cy="1645920"/>
          </a:xfrm>
          <a:prstGeom prst="rect">
            <a:avLst/>
          </a:prstGeom>
          <a:solidFill>
            <a:srgbClr val="E0F2FE"/>
          </a:solidFill>
          <a:ln/>
          <a:effectLst>
            <a:outerShdw sx="100000" sy="100000" kx="0" ky="0" algn="bl" rotWithShape="0" blurRad="50800" dist="25400" dir="8100000">
              <a:srgbClr val="000000">
                <a:alpha val="12000"/>
              </a:srgbClr>
            </a:outerShdw>
          </a:effectLst>
        </p:spPr>
      </p:sp>
      <p:sp>
        <p:nvSpPr>
          <p:cNvPr id="4" name="Text 2"/>
          <p:cNvSpPr/>
          <p:nvPr/>
        </p:nvSpPr>
        <p:spPr>
          <a:xfrm>
            <a:off x="731520" y="1097280"/>
            <a:ext cx="3474720" cy="36576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CP — Consistencia + Partición</a:t>
            </a:r>
            <a:endParaRPr lang="en-US" sz="1400" dirty="0"/>
          </a:p>
        </p:txBody>
      </p:sp>
      <p:sp>
        <p:nvSpPr>
          <p:cNvPr id="5" name="Text 3"/>
          <p:cNvSpPr/>
          <p:nvPr/>
        </p:nvSpPr>
        <p:spPr>
          <a:xfrm>
            <a:off x="731520" y="1463040"/>
            <a:ext cx="3474720" cy="1097280"/>
          </a:xfrm>
          <a:prstGeom prst="rect">
            <a:avLst/>
          </a:prstGeom>
          <a:noFill/>
          <a:ln/>
        </p:spPr>
        <p:txBody>
          <a:bodyPr wrap="square" lIns="0" tIns="0" rIns="0" bIns="0" rtlCol="0" anchor="ctr"/>
          <a:lstStyle/>
          <a:p>
            <a:pPr indent="0" marL="0">
              <a:lnSpc>
                <a:spcPct val="130000"/>
              </a:lnSpc>
              <a:buNone/>
            </a:pPr>
            <a:r>
              <a:rPr lang="en-US" sz="1100" b="1" dirty="0">
                <a:solidFill>
                  <a:srgbClr val="1E293B"/>
                </a:solidFill>
                <a:latin typeface="Calibri" pitchFamily="34" charset="0"/>
                <a:ea typeface="Calibri" pitchFamily="34" charset="-122"/>
                <a:cs typeface="Calibri" pitchFamily="34" charset="-120"/>
              </a:rPr>
              <a:t>HBase, ZooKeeper, etcd, MongoDB</a:t>
            </a:r>
            <a:endParaRPr lang="en-US" sz="1100" dirty="0"/>
          </a:p>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Priorizan que los datos estén siempre correctos.</a:t>
            </a:r>
            <a:endParaRPr lang="en-US" sz="1100" dirty="0"/>
          </a:p>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Si hay partición, rechazan lecturas/escrituras en nodos que no pueden verificar consistencia.</a:t>
            </a:r>
            <a:endParaRPr lang="en-US" sz="1100" dirty="0"/>
          </a:p>
        </p:txBody>
      </p:sp>
      <p:sp>
        <p:nvSpPr>
          <p:cNvPr id="6" name="Shape 4"/>
          <p:cNvSpPr/>
          <p:nvPr/>
        </p:nvSpPr>
        <p:spPr>
          <a:xfrm>
            <a:off x="4754880" y="1005840"/>
            <a:ext cx="3840480" cy="1645920"/>
          </a:xfrm>
          <a:prstGeom prst="rect">
            <a:avLst/>
          </a:prstGeom>
          <a:solidFill>
            <a:srgbClr val="FEF3C7"/>
          </a:solidFill>
          <a:ln/>
          <a:effectLst>
            <a:outerShdw sx="100000" sy="100000" kx="0" ky="0" algn="bl" rotWithShape="0" blurRad="50800" dist="25400" dir="8100000">
              <a:srgbClr val="000000">
                <a:alpha val="12000"/>
              </a:srgbClr>
            </a:outerShdw>
          </a:effectLst>
        </p:spPr>
      </p:sp>
      <p:sp>
        <p:nvSpPr>
          <p:cNvPr id="7" name="Text 5"/>
          <p:cNvSpPr/>
          <p:nvPr/>
        </p:nvSpPr>
        <p:spPr>
          <a:xfrm>
            <a:off x="4937760" y="1097280"/>
            <a:ext cx="3474720" cy="36576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AP — Disponibilidad + Partición</a:t>
            </a:r>
            <a:endParaRPr lang="en-US" sz="1400" dirty="0"/>
          </a:p>
        </p:txBody>
      </p:sp>
      <p:sp>
        <p:nvSpPr>
          <p:cNvPr id="8" name="Text 6"/>
          <p:cNvSpPr/>
          <p:nvPr/>
        </p:nvSpPr>
        <p:spPr>
          <a:xfrm>
            <a:off x="4937760" y="1463040"/>
            <a:ext cx="3474720" cy="1097280"/>
          </a:xfrm>
          <a:prstGeom prst="rect">
            <a:avLst/>
          </a:prstGeom>
          <a:noFill/>
          <a:ln/>
        </p:spPr>
        <p:txBody>
          <a:bodyPr wrap="square" lIns="0" tIns="0" rIns="0" bIns="0" rtlCol="0" anchor="ctr"/>
          <a:lstStyle/>
          <a:p>
            <a:pPr indent="0" marL="0">
              <a:lnSpc>
                <a:spcPct val="130000"/>
              </a:lnSpc>
              <a:buNone/>
            </a:pPr>
            <a:r>
              <a:rPr lang="en-US" sz="1100" b="1" dirty="0">
                <a:solidFill>
                  <a:srgbClr val="1E293B"/>
                </a:solidFill>
                <a:latin typeface="Calibri" pitchFamily="34" charset="0"/>
                <a:ea typeface="Calibri" pitchFamily="34" charset="-122"/>
                <a:cs typeface="Calibri" pitchFamily="34" charset="-120"/>
              </a:rPr>
              <a:t>Cassandra, DynamoDB, CouchDB</a:t>
            </a:r>
            <a:endParaRPr lang="en-US" sz="1100" dirty="0"/>
          </a:p>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Priorizan que siempre haya respuesta.</a:t>
            </a:r>
            <a:endParaRPr lang="en-US" sz="1100" dirty="0"/>
          </a:p>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Si hay partición, responden con datos que podrían estar desactualizados (stale reads).</a:t>
            </a:r>
            <a:endParaRPr lang="en-US" sz="1100" dirty="0"/>
          </a:p>
        </p:txBody>
      </p:sp>
      <p:sp>
        <p:nvSpPr>
          <p:cNvPr id="9" name="Shape 7"/>
          <p:cNvSpPr/>
          <p:nvPr/>
        </p:nvSpPr>
        <p:spPr>
          <a:xfrm>
            <a:off x="548640" y="2880360"/>
            <a:ext cx="8046720" cy="640080"/>
          </a:xfrm>
          <a:prstGeom prst="rect">
            <a:avLst/>
          </a:prstGeom>
          <a:solidFill>
            <a:srgbClr val="FEE2E2"/>
          </a:solidFill>
          <a:ln/>
        </p:spPr>
      </p:sp>
      <p:sp>
        <p:nvSpPr>
          <p:cNvPr id="10" name="Text 8"/>
          <p:cNvSpPr/>
          <p:nvPr/>
        </p:nvSpPr>
        <p:spPr>
          <a:xfrm>
            <a:off x="731520" y="2926080"/>
            <a:ext cx="7680960" cy="548640"/>
          </a:xfrm>
          <a:prstGeom prst="rect">
            <a:avLst/>
          </a:prstGeom>
          <a:noFill/>
          <a:ln/>
        </p:spPr>
        <p:txBody>
          <a:bodyPr wrap="square" lIns="0" tIns="0" rIns="0" bIns="0" rtlCol="0" anchor="ctr"/>
          <a:lstStyle/>
          <a:p>
            <a:pPr indent="0" marL="0">
              <a:buNone/>
            </a:pPr>
            <a:r>
              <a:rPr lang="en-US" sz="1200" dirty="0">
                <a:solidFill>
                  <a:srgbClr val="DC2626"/>
                </a:solidFill>
                <a:latin typeface="Calibri" pitchFamily="34" charset="0"/>
                <a:ea typeface="Calibri" pitchFamily="34" charset="-122"/>
                <a:cs typeface="Calibri" pitchFamily="34" charset="-120"/>
              </a:rPr>
              <a:t>CA (Consistencia + Disponibilidad) — Solo posible sin particiones de red (red 100% confiable). Ej: PostgreSQL standalone.</a:t>
            </a:r>
            <a:endParaRPr lang="en-US" sz="1200" dirty="0"/>
          </a:p>
        </p:txBody>
      </p:sp>
      <p:sp>
        <p:nvSpPr>
          <p:cNvPr id="11" name="Text 9"/>
          <p:cNvSpPr/>
          <p:nvPr/>
        </p:nvSpPr>
        <p:spPr>
          <a:xfrm>
            <a:off x="548640" y="3703320"/>
            <a:ext cx="8046720" cy="36576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Ejemplo: Consistencia Eventual en DynamoDB (Amazon)</a:t>
            </a:r>
            <a:endParaRPr lang="en-US" sz="1400" dirty="0"/>
          </a:p>
        </p:txBody>
      </p:sp>
      <p:sp>
        <p:nvSpPr>
          <p:cNvPr id="12" name="Text 10"/>
          <p:cNvSpPr/>
          <p:nvPr/>
        </p:nvSpPr>
        <p:spPr>
          <a:xfrm>
            <a:off x="548640" y="4069080"/>
            <a:ext cx="8046720" cy="914400"/>
          </a:xfrm>
          <a:prstGeom prst="rect">
            <a:avLst/>
          </a:prstGeom>
          <a:noFill/>
          <a:ln/>
        </p:spPr>
        <p:txBody>
          <a:bodyPr wrap="square" lIns="0" tIns="0" rIns="0" bIns="0" rtlCol="0" anchor="ctr"/>
          <a:lstStyle/>
          <a:p>
            <a:pPr indent="0" marL="0">
              <a:lnSpc>
                <a:spcPct val="130000"/>
              </a:lnSpc>
              <a:buNone/>
            </a:pPr>
            <a:r>
              <a:rPr lang="en-US" sz="1200" b="1" dirty="0">
                <a:solidFill>
                  <a:srgbClr val="1E293B"/>
                </a:solidFill>
                <a:latin typeface="Calibri" pitchFamily="34" charset="0"/>
                <a:ea typeface="Calibri" pitchFamily="34" charset="-122"/>
                <a:cs typeface="Calibri" pitchFamily="34" charset="-120"/>
              </a:rPr>
              <a:t>1. </a:t>
            </a:r>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Escritura confirma en réplica principal (us-east-1) en ~5ms.</a:t>
            </a:r>
            <a:endParaRPr lang="en-US" sz="1200" dirty="0"/>
          </a:p>
          <a:p>
            <a:pPr indent="0" marL="0">
              <a:lnSpc>
                <a:spcPct val="130000"/>
              </a:lnSpc>
              <a:buNone/>
            </a:pPr>
            <a:r>
              <a:rPr lang="en-US" sz="1200" b="1" dirty="0">
                <a:solidFill>
                  <a:srgbClr val="1E293B"/>
                </a:solidFill>
                <a:latin typeface="Calibri" pitchFamily="34" charset="0"/>
                <a:ea typeface="Calibri" pitchFamily="34" charset="-122"/>
                <a:cs typeface="Calibri" pitchFamily="34" charset="-120"/>
              </a:rPr>
              <a:t>2. </a:t>
            </a:r>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Réplicas secundarias reciben la actualización en 100–500ms.</a:t>
            </a:r>
            <a:endParaRPr lang="en-US" sz="1200" dirty="0"/>
          </a:p>
          <a:p>
            <a:pPr indent="0" marL="0">
              <a:lnSpc>
                <a:spcPct val="130000"/>
              </a:lnSpc>
              <a:buNone/>
            </a:pPr>
            <a:r>
              <a:rPr lang="en-US" sz="1200" b="1" dirty="0">
                <a:solidFill>
                  <a:srgbClr val="1E293B"/>
                </a:solidFill>
                <a:latin typeface="Calibri" pitchFamily="34" charset="0"/>
                <a:ea typeface="Calibri" pitchFamily="34" charset="-122"/>
                <a:cs typeface="Calibri" pitchFamily="34" charset="-120"/>
              </a:rPr>
              <a:t>3. </a:t>
            </a:r>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Durante esa ventana → lectura obsoleta (stale read) posible.</a:t>
            </a:r>
            <a:endParaRPr lang="en-US" sz="1200" dirty="0"/>
          </a:p>
          <a:p>
            <a:pPr indent="0" marL="0">
              <a:lnSpc>
                <a:spcPct val="130000"/>
              </a:lnSpc>
              <a:buNone/>
            </a:pPr>
            <a:r>
              <a:rPr lang="en-US" sz="1200" b="1" dirty="0">
                <a:solidFill>
                  <a:srgbClr val="1E293B"/>
                </a:solidFill>
                <a:latin typeface="Calibri" pitchFamily="34" charset="0"/>
                <a:ea typeface="Calibri" pitchFamily="34" charset="-122"/>
                <a:cs typeface="Calibri" pitchFamily="34" charset="-120"/>
              </a:rPr>
              <a:t>4. </a:t>
            </a:r>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Eventualmente todos los nodos convergen al mismo estado.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800" b="1" dirty="0">
                <a:solidFill>
                  <a:srgbClr val="21295C"/>
                </a:solidFill>
                <a:latin typeface="Georgia" pitchFamily="34" charset="0"/>
                <a:ea typeface="Georgia" pitchFamily="34" charset="-122"/>
                <a:cs typeface="Georgia" pitchFamily="34" charset="-120"/>
              </a:rPr>
              <a:t>Subtema 2: Algoritmos de Coordinación</a:t>
            </a:r>
            <a:endParaRPr lang="en-US" sz="28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Elección de líder: Algoritmo Bully</a:t>
            </a:r>
            <a:endParaRPr lang="en-US" sz="1400" dirty="0"/>
          </a:p>
        </p:txBody>
      </p:sp>
      <p:sp>
        <p:nvSpPr>
          <p:cNvPr id="4" name="Shape 2"/>
          <p:cNvSpPr/>
          <p:nvPr/>
        </p:nvSpPr>
        <p:spPr>
          <a:xfrm>
            <a:off x="548640" y="1234440"/>
            <a:ext cx="3931920" cy="3474720"/>
          </a:xfrm>
          <a:prstGeom prst="rect">
            <a:avLst/>
          </a:prstGeom>
          <a:solidFill>
            <a:srgbClr val="F0F7FA"/>
          </a:solidFill>
          <a:ln/>
          <a:effectLst>
            <a:outerShdw sx="100000" sy="100000" kx="0" ky="0" algn="bl" rotWithShape="0" blurRad="50800" dist="25400" dir="8100000">
              <a:srgbClr val="000000">
                <a:alpha val="12000"/>
              </a:srgbClr>
            </a:outerShdw>
          </a:effectLst>
        </p:spPr>
      </p:sp>
      <p:sp>
        <p:nvSpPr>
          <p:cNvPr id="5" name="Text 3"/>
          <p:cNvSpPr/>
          <p:nvPr/>
        </p:nvSpPr>
        <p:spPr>
          <a:xfrm>
            <a:off x="731520" y="1325880"/>
            <a:ext cx="3566160" cy="36576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¿Por qué necesitamos un líder?</a:t>
            </a:r>
            <a:endParaRPr lang="en-US" sz="1400" dirty="0"/>
          </a:p>
        </p:txBody>
      </p:sp>
      <p:sp>
        <p:nvSpPr>
          <p:cNvPr id="6" name="Text 4"/>
          <p:cNvSpPr/>
          <p:nvPr/>
        </p:nvSpPr>
        <p:spPr>
          <a:xfrm>
            <a:off x="731520" y="1737360"/>
            <a:ext cx="3566160" cy="2743200"/>
          </a:xfrm>
          <a:prstGeom prst="rect">
            <a:avLst/>
          </a:prstGeom>
          <a:noFill/>
          <a:ln/>
        </p:spPr>
        <p:txBody>
          <a:bodyPr wrap="square" lIns="0" tIns="0" rIns="0" bIns="0" rtlCol="0" anchor="ctr"/>
          <a:lstStyle/>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En muchos SD, un nodo actúa como coordinador: gestiona locks, ordena escrituras, ejecuta protocolos como 2PC.</a:t>
            </a:r>
            <a:endParaRPr lang="en-US" sz="1200" dirty="0"/>
          </a:p>
          <a:p>
            <a:pPr indent="0" marL="0">
              <a:lnSpc>
                <a:spcPct val="130000"/>
              </a:lnSpc>
              <a:buNone/>
            </a:pPr>
            <a:endParaRPr lang="en-US" sz="1200" dirty="0"/>
          </a:p>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Si el coordinador falla, el sistema necesita elegir uno nuevo de forma automática y sin intervención humana.</a:t>
            </a:r>
            <a:endParaRPr lang="en-US" sz="1200" dirty="0"/>
          </a:p>
          <a:p>
            <a:pPr indent="0" marL="0">
              <a:lnSpc>
                <a:spcPct val="130000"/>
              </a:lnSpc>
              <a:buNone/>
            </a:pPr>
            <a:endParaRPr lang="en-US" sz="1200" dirty="0"/>
          </a:p>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El Algoritmo Bully (García-Molina, 1982) resuelve esto: el proceso con el ID más alto entre los activos se convierte en líder.</a:t>
            </a:r>
            <a:endParaRPr lang="en-US" sz="1200" dirty="0"/>
          </a:p>
        </p:txBody>
      </p:sp>
      <p:sp>
        <p:nvSpPr>
          <p:cNvPr id="7" name="Shape 5"/>
          <p:cNvSpPr/>
          <p:nvPr/>
        </p:nvSpPr>
        <p:spPr>
          <a:xfrm>
            <a:off x="4754880" y="1234440"/>
            <a:ext cx="3840480" cy="34747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8" name="Text 6"/>
          <p:cNvSpPr/>
          <p:nvPr/>
        </p:nvSpPr>
        <p:spPr>
          <a:xfrm>
            <a:off x="4937760" y="1325880"/>
            <a:ext cx="3474720" cy="36576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Pasos del Algoritmo Bully</a:t>
            </a:r>
            <a:endParaRPr lang="en-US" sz="1400" dirty="0"/>
          </a:p>
        </p:txBody>
      </p:sp>
      <p:sp>
        <p:nvSpPr>
          <p:cNvPr id="9" name="Text 7"/>
          <p:cNvSpPr/>
          <p:nvPr/>
        </p:nvSpPr>
        <p:spPr>
          <a:xfrm>
            <a:off x="4937760" y="1783080"/>
            <a:ext cx="32004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5257800" y="1783080"/>
            <a:ext cx="3200400" cy="457200"/>
          </a:xfrm>
          <a:prstGeom prst="rect">
            <a:avLst/>
          </a:prstGeom>
          <a:noFill/>
          <a:ln/>
        </p:spPr>
        <p:txBody>
          <a:bodyPr wrap="square" lIns="0" tIns="0" rIns="0" bIns="0" rtlCol="0" anchor="ctr"/>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P detecta falla del líder (timeout en heartbeat).</a:t>
            </a:r>
            <a:endParaRPr lang="en-US" sz="1100" dirty="0"/>
          </a:p>
        </p:txBody>
      </p:sp>
      <p:sp>
        <p:nvSpPr>
          <p:cNvPr id="11" name="Text 9"/>
          <p:cNvSpPr/>
          <p:nvPr/>
        </p:nvSpPr>
        <p:spPr>
          <a:xfrm>
            <a:off x="4937760" y="2286000"/>
            <a:ext cx="32004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5257800" y="2286000"/>
            <a:ext cx="3200400" cy="457200"/>
          </a:xfrm>
          <a:prstGeom prst="rect">
            <a:avLst/>
          </a:prstGeom>
          <a:noFill/>
          <a:ln/>
        </p:spPr>
        <p:txBody>
          <a:bodyPr wrap="square" lIns="0" tIns="0" rIns="0" bIns="0" rtlCol="0" anchor="ctr"/>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P envía ELECTION a todos los procesos con ID mayor.</a:t>
            </a:r>
            <a:endParaRPr lang="en-US" sz="1100" dirty="0"/>
          </a:p>
        </p:txBody>
      </p:sp>
      <p:sp>
        <p:nvSpPr>
          <p:cNvPr id="13" name="Text 11"/>
          <p:cNvSpPr/>
          <p:nvPr/>
        </p:nvSpPr>
        <p:spPr>
          <a:xfrm>
            <a:off x="4937760" y="2788920"/>
            <a:ext cx="32004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5257800" y="2788920"/>
            <a:ext cx="3200400" cy="457200"/>
          </a:xfrm>
          <a:prstGeom prst="rect">
            <a:avLst/>
          </a:prstGeom>
          <a:noFill/>
          <a:ln/>
        </p:spPr>
        <p:txBody>
          <a:bodyPr wrap="square" lIns="0" tIns="0" rIns="0" bIns="0" rtlCol="0" anchor="ctr"/>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Si alguien responde OK → P se detiene (alguien más grande tomará el control).</a:t>
            </a:r>
            <a:endParaRPr lang="en-US" sz="1100" dirty="0"/>
          </a:p>
        </p:txBody>
      </p:sp>
      <p:sp>
        <p:nvSpPr>
          <p:cNvPr id="15" name="Text 13"/>
          <p:cNvSpPr/>
          <p:nvPr/>
        </p:nvSpPr>
        <p:spPr>
          <a:xfrm>
            <a:off x="4937760" y="3291840"/>
            <a:ext cx="32004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4.</a:t>
            </a:r>
            <a:endParaRPr lang="en-US" sz="1200" dirty="0"/>
          </a:p>
        </p:txBody>
      </p:sp>
      <p:sp>
        <p:nvSpPr>
          <p:cNvPr id="16" name="Text 14"/>
          <p:cNvSpPr/>
          <p:nvPr/>
        </p:nvSpPr>
        <p:spPr>
          <a:xfrm>
            <a:off x="5257800" y="3291840"/>
            <a:ext cx="3200400" cy="457200"/>
          </a:xfrm>
          <a:prstGeom prst="rect">
            <a:avLst/>
          </a:prstGeom>
          <a:noFill/>
          <a:ln/>
        </p:spPr>
        <p:txBody>
          <a:bodyPr wrap="square" lIns="0" tIns="0" rIns="0" bIns="0" rtlCol="0" anchor="ctr"/>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Si nadie responde → P se proclama líder y envía COORDINATOR a todos.</a:t>
            </a:r>
            <a:endParaRPr lang="en-US" sz="1100" dirty="0"/>
          </a:p>
        </p:txBody>
      </p:sp>
      <p:sp>
        <p:nvSpPr>
          <p:cNvPr id="17" name="Text 15"/>
          <p:cNvSpPr/>
          <p:nvPr/>
        </p:nvSpPr>
        <p:spPr>
          <a:xfrm>
            <a:off x="4937760" y="3794760"/>
            <a:ext cx="32004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5257800" y="3794760"/>
            <a:ext cx="3200400" cy="457200"/>
          </a:xfrm>
          <a:prstGeom prst="rect">
            <a:avLst/>
          </a:prstGeom>
          <a:noFill/>
          <a:ln/>
        </p:spPr>
        <p:txBody>
          <a:bodyPr wrap="square" lIns="0" tIns="0" rIns="0" bIns="0" rtlCol="0" anchor="ctr"/>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Quien recibe COORDINATOR actualiza su referencia al nuevo líder.</a:t>
            </a:r>
            <a:endParaRPr lang="en-US" sz="1100" dirty="0"/>
          </a:p>
        </p:txBody>
      </p:sp>
      <p:sp>
        <p:nvSpPr>
          <p:cNvPr id="19" name="Text 17"/>
          <p:cNvSpPr/>
          <p:nvPr/>
        </p:nvSpPr>
        <p:spPr>
          <a:xfrm>
            <a:off x="548640" y="4754880"/>
            <a:ext cx="8046720" cy="27432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[van Steen &amp; Tanenbaum, 2023]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600" b="1" dirty="0">
                <a:solidFill>
                  <a:srgbClr val="21295C"/>
                </a:solidFill>
                <a:latin typeface="Georgia" pitchFamily="34" charset="0"/>
                <a:ea typeface="Georgia" pitchFamily="34" charset="-122"/>
                <a:cs typeface="Georgia" pitchFamily="34" charset="-120"/>
              </a:rPr>
              <a:t>Elección de líder: Algoritmo Ring</a:t>
            </a:r>
            <a:endParaRPr lang="en-US" sz="2600" dirty="0"/>
          </a:p>
        </p:txBody>
      </p:sp>
      <p:sp>
        <p:nvSpPr>
          <p:cNvPr id="3" name="Shape 1"/>
          <p:cNvSpPr/>
          <p:nvPr/>
        </p:nvSpPr>
        <p:spPr>
          <a:xfrm>
            <a:off x="548640" y="1005840"/>
            <a:ext cx="3931920" cy="3566160"/>
          </a:xfrm>
          <a:prstGeom prst="rect">
            <a:avLst/>
          </a:prstGeom>
          <a:solidFill>
            <a:srgbClr val="F0F7FA"/>
          </a:solidFill>
          <a:ln/>
          <a:effectLst>
            <a:outerShdw sx="100000" sy="100000" kx="0" ky="0" algn="bl" rotWithShape="0" blurRad="50800" dist="25400" dir="8100000">
              <a:srgbClr val="000000">
                <a:alpha val="12000"/>
              </a:srgbClr>
            </a:outerShdw>
          </a:effectLst>
        </p:spPr>
      </p:sp>
      <p:sp>
        <p:nvSpPr>
          <p:cNvPr id="4" name="Text 2"/>
          <p:cNvSpPr/>
          <p:nvPr/>
        </p:nvSpPr>
        <p:spPr>
          <a:xfrm>
            <a:off x="731520" y="1097280"/>
            <a:ext cx="3566160" cy="36576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Algoritmo de Elección en Anillo</a:t>
            </a:r>
            <a:endParaRPr lang="en-US" sz="1400" dirty="0"/>
          </a:p>
        </p:txBody>
      </p:sp>
      <p:sp>
        <p:nvSpPr>
          <p:cNvPr id="5" name="Text 3"/>
          <p:cNvSpPr/>
          <p:nvPr/>
        </p:nvSpPr>
        <p:spPr>
          <a:xfrm>
            <a:off x="731520" y="1508760"/>
            <a:ext cx="3566160" cy="2834640"/>
          </a:xfrm>
          <a:prstGeom prst="rect">
            <a:avLst/>
          </a:prstGeom>
          <a:noFill/>
          <a:ln/>
        </p:spPr>
        <p:txBody>
          <a:bodyPr wrap="square" lIns="0" tIns="0" rIns="0" bIns="0" rtlCol="0" anchor="ctr"/>
          <a:lstStyle/>
          <a:p>
            <a:pPr indent="0" marL="0">
              <a:lnSpc>
                <a:spcPct val="125000"/>
              </a:lnSpc>
              <a:buNone/>
            </a:pPr>
            <a:r>
              <a:rPr lang="en-US" sz="1150" dirty="0">
                <a:solidFill>
                  <a:srgbClr val="1E293B"/>
                </a:solidFill>
                <a:latin typeface="Calibri" pitchFamily="34" charset="0"/>
                <a:ea typeface="Calibri" pitchFamily="34" charset="-122"/>
                <a:cs typeface="Calibri" pitchFamily="34" charset="-120"/>
              </a:rPr>
              <a:t>Los procesos se organizan en un anillo lógico. Cada uno conoce a su sucesor.</a:t>
            </a:r>
            <a:endParaRPr lang="en-US" sz="1150" dirty="0"/>
          </a:p>
          <a:p>
            <a:pPr indent="0" marL="0">
              <a:lnSpc>
                <a:spcPct val="125000"/>
              </a:lnSpc>
              <a:buNone/>
            </a:pPr>
            <a:endParaRPr lang="en-US" sz="1150" dirty="0"/>
          </a:p>
          <a:p>
            <a:pPr indent="0" marL="0">
              <a:lnSpc>
                <a:spcPct val="125000"/>
              </a:lnSpc>
              <a:buNone/>
            </a:pPr>
            <a:r>
              <a:rPr lang="en-US" sz="1150" b="1" dirty="0">
                <a:solidFill>
                  <a:srgbClr val="1E293B"/>
                </a:solidFill>
                <a:latin typeface="Calibri" pitchFamily="34" charset="0"/>
                <a:ea typeface="Calibri" pitchFamily="34" charset="-122"/>
                <a:cs typeface="Calibri" pitchFamily="34" charset="-120"/>
              </a:rPr>
              <a:t>Pasos:</a:t>
            </a:r>
            <a:endParaRPr lang="en-US" sz="1150" dirty="0"/>
          </a:p>
          <a:p>
            <a:pPr indent="0" marL="0">
              <a:lnSpc>
                <a:spcPct val="125000"/>
              </a:lnSpc>
              <a:buNone/>
            </a:pPr>
            <a:r>
              <a:rPr lang="en-US" sz="1150" dirty="0">
                <a:solidFill>
                  <a:srgbClr val="1E293B"/>
                </a:solidFill>
                <a:latin typeface="Calibri" pitchFamily="34" charset="0"/>
                <a:ea typeface="Calibri" pitchFamily="34" charset="-122"/>
                <a:cs typeface="Calibri" pitchFamily="34" charset="-120"/>
              </a:rPr>
              <a:t>1. P detecta falla del líder.</a:t>
            </a:r>
            <a:endParaRPr lang="en-US" sz="1150" dirty="0"/>
          </a:p>
          <a:p>
            <a:pPr indent="0" marL="0">
              <a:lnSpc>
                <a:spcPct val="125000"/>
              </a:lnSpc>
              <a:buNone/>
            </a:pPr>
            <a:r>
              <a:rPr lang="en-US" sz="1150" dirty="0">
                <a:solidFill>
                  <a:srgbClr val="1E293B"/>
                </a:solidFill>
                <a:latin typeface="Calibri" pitchFamily="34" charset="0"/>
                <a:ea typeface="Calibri" pitchFamily="34" charset="-122"/>
                <a:cs typeface="Calibri" pitchFamily="34" charset="-120"/>
              </a:rPr>
              <a:t>2. P crea mensaje ELECTION con su ID y lo envía a su sucesor.</a:t>
            </a:r>
            <a:endParaRPr lang="en-US" sz="1150" dirty="0"/>
          </a:p>
          <a:p>
            <a:pPr indent="0" marL="0">
              <a:lnSpc>
                <a:spcPct val="125000"/>
              </a:lnSpc>
              <a:buNone/>
            </a:pPr>
            <a:r>
              <a:rPr lang="en-US" sz="1150" dirty="0">
                <a:solidFill>
                  <a:srgbClr val="1E293B"/>
                </a:solidFill>
                <a:latin typeface="Calibri" pitchFamily="34" charset="0"/>
                <a:ea typeface="Calibri" pitchFamily="34" charset="-122"/>
                <a:cs typeface="Calibri" pitchFamily="34" charset="-120"/>
              </a:rPr>
              <a:t>3. Cada nodo agrega su ID al mensaje y lo reenvía.</a:t>
            </a:r>
            <a:endParaRPr lang="en-US" sz="1150" dirty="0"/>
          </a:p>
          <a:p>
            <a:pPr indent="0" marL="0">
              <a:lnSpc>
                <a:spcPct val="125000"/>
              </a:lnSpc>
              <a:buNone/>
            </a:pPr>
            <a:r>
              <a:rPr lang="en-US" sz="1150" dirty="0">
                <a:solidFill>
                  <a:srgbClr val="1E293B"/>
                </a:solidFill>
                <a:latin typeface="Calibri" pitchFamily="34" charset="0"/>
                <a:ea typeface="Calibri" pitchFamily="34" charset="-122"/>
                <a:cs typeface="Calibri" pitchFamily="34" charset="-120"/>
              </a:rPr>
              <a:t>4. Cuando el mensaje vuelve al iniciador, tiene todos los IDs activos.</a:t>
            </a:r>
            <a:endParaRPr lang="en-US" sz="1150" dirty="0"/>
          </a:p>
          <a:p>
            <a:pPr indent="0" marL="0">
              <a:lnSpc>
                <a:spcPct val="125000"/>
              </a:lnSpc>
              <a:buNone/>
            </a:pPr>
            <a:r>
              <a:rPr lang="en-US" sz="1150" dirty="0">
                <a:solidFill>
                  <a:srgbClr val="1E293B"/>
                </a:solidFill>
                <a:latin typeface="Calibri" pitchFamily="34" charset="0"/>
                <a:ea typeface="Calibri" pitchFamily="34" charset="-122"/>
                <a:cs typeface="Calibri" pitchFamily="34" charset="-120"/>
              </a:rPr>
              <a:t>5. Se elige al proceso con ID mayor.</a:t>
            </a:r>
            <a:endParaRPr lang="en-US" sz="1150" dirty="0"/>
          </a:p>
          <a:p>
            <a:pPr indent="0" marL="0">
              <a:lnSpc>
                <a:spcPct val="125000"/>
              </a:lnSpc>
              <a:buNone/>
            </a:pPr>
            <a:r>
              <a:rPr lang="en-US" sz="1150" dirty="0">
                <a:solidFill>
                  <a:srgbClr val="1E293B"/>
                </a:solidFill>
                <a:latin typeface="Calibri" pitchFamily="34" charset="0"/>
                <a:ea typeface="Calibri" pitchFamily="34" charset="-122"/>
                <a:cs typeface="Calibri" pitchFamily="34" charset="-120"/>
              </a:rPr>
              <a:t>6. Se envía mensaje COORDINATOR por el anillo.</a:t>
            </a:r>
            <a:endParaRPr lang="en-US" sz="1150" dirty="0"/>
          </a:p>
        </p:txBody>
      </p:sp>
      <p:sp>
        <p:nvSpPr>
          <p:cNvPr id="6" name="Shape 4"/>
          <p:cNvSpPr/>
          <p:nvPr/>
        </p:nvSpPr>
        <p:spPr>
          <a:xfrm>
            <a:off x="4754880" y="1005840"/>
            <a:ext cx="3840480" cy="35661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7" name="Text 5"/>
          <p:cNvSpPr/>
          <p:nvPr/>
        </p:nvSpPr>
        <p:spPr>
          <a:xfrm>
            <a:off x="4937760" y="1097280"/>
            <a:ext cx="3474720" cy="36576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Bully vs Ring — Comparación</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846320" y="1600200"/>
          <a:ext cx="3566160" cy="2560320"/>
        </p:xfrm>
        <a:graphic>
          <a:graphicData uri="http://schemas.openxmlformats.org/drawingml/2006/table">
            <a:tbl>
              <a:tblPr/>
              <a:tblGrid>
                <a:gridCol w="1005840"/>
                <a:gridCol w="1188720"/>
                <a:gridCol w="1371600"/>
              </a:tblGrid>
              <a:tr h="3200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Criterio</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Bully</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Ring</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r>
              <a:tr h="3200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Topología</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Cualquiera</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Anillo lógico</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Mensajes</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O(n²) peor caso</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O(2n) siempre</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Velocidad</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Más rápido</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Más lento</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Robustez</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Tolera caídas durante elección</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Si un nodo cae durante paso, se atasca</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200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Uso típico</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Clústeres pequeños</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Redes estructuradas</a:t>
                      </a:r>
                      <a:endParaRPr lang="en-US" sz="10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9" name="Text 6"/>
          <p:cNvSpPr/>
          <p:nvPr/>
        </p:nvSpPr>
        <p:spPr>
          <a:xfrm>
            <a:off x="548640" y="4754880"/>
            <a:ext cx="8046720" cy="27432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[Chang &amp; Roberts, 1979] — Algoritmo Ring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800" b="1" dirty="0">
                <a:solidFill>
                  <a:srgbClr val="21295C"/>
                </a:solidFill>
                <a:latin typeface="Georgia" pitchFamily="34" charset="0"/>
                <a:ea typeface="Georgia" pitchFamily="34" charset="-122"/>
                <a:cs typeface="Georgia" pitchFamily="34" charset="-120"/>
              </a:rPr>
              <a:t>Subtema 3: Transacciones Distribuidas</a:t>
            </a:r>
            <a:endParaRPr lang="en-US" sz="28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Commit en dos fases (2PC) — Two-Phase Commit</a:t>
            </a:r>
            <a:endParaRPr lang="en-US" sz="1400" dirty="0"/>
          </a:p>
        </p:txBody>
      </p:sp>
      <p:sp>
        <p:nvSpPr>
          <p:cNvPr id="4" name="Shape 2"/>
          <p:cNvSpPr/>
          <p:nvPr/>
        </p:nvSpPr>
        <p:spPr>
          <a:xfrm>
            <a:off x="548640" y="1234440"/>
            <a:ext cx="8046720" cy="1097280"/>
          </a:xfrm>
          <a:prstGeom prst="rect">
            <a:avLst/>
          </a:prstGeom>
          <a:solidFill>
            <a:srgbClr val="FEF3C7"/>
          </a:solidFill>
          <a:ln/>
        </p:spPr>
      </p:sp>
      <p:sp>
        <p:nvSpPr>
          <p:cNvPr id="5" name="Text 3"/>
          <p:cNvSpPr/>
          <p:nvPr/>
        </p:nvSpPr>
        <p:spPr>
          <a:xfrm>
            <a:off x="731520" y="1325880"/>
            <a:ext cx="7680960" cy="914400"/>
          </a:xfrm>
          <a:prstGeom prst="rect">
            <a:avLst/>
          </a:prstGeom>
          <a:noFill/>
          <a:ln/>
        </p:spPr>
        <p:txBody>
          <a:bodyPr wrap="square" lIns="0" tIns="0" rIns="0" bIns="0" rtlCol="0" anchor="ctr"/>
          <a:lstStyle/>
          <a:p>
            <a:pPr indent="0" marL="0">
              <a:lnSpc>
                <a:spcPct val="135000"/>
              </a:lnSpc>
              <a:buNone/>
            </a:pPr>
            <a:r>
              <a:rPr lang="en-US" sz="1300" dirty="0">
                <a:solidFill>
                  <a:srgbClr val="1E293B"/>
                </a:solidFill>
                <a:latin typeface="Calibri" pitchFamily="34" charset="0"/>
                <a:ea typeface="Calibri" pitchFamily="34" charset="-122"/>
                <a:cs typeface="Calibri" pitchFamily="34" charset="-120"/>
              </a:rPr>
              <a:t>Problema: Una transferencia bancaria debe restar de cuenta A (nodo 1) y sumar en cuenta B (nodo 2). Si el nodo 2 falla después de restar de A pero antes de sumar en B, ¿el dinero desaparece?</a:t>
            </a:r>
            <a:endParaRPr lang="en-US" sz="1300" dirty="0"/>
          </a:p>
        </p:txBody>
      </p:sp>
      <p:sp>
        <p:nvSpPr>
          <p:cNvPr id="6" name="Shape 4"/>
          <p:cNvSpPr/>
          <p:nvPr/>
        </p:nvSpPr>
        <p:spPr>
          <a:xfrm>
            <a:off x="548640" y="2514600"/>
            <a:ext cx="3931920" cy="2194560"/>
          </a:xfrm>
          <a:prstGeom prst="rect">
            <a:avLst/>
          </a:prstGeom>
          <a:solidFill>
            <a:srgbClr val="E0F2FE"/>
          </a:solidFill>
          <a:ln/>
          <a:effectLst>
            <a:outerShdw sx="100000" sy="100000" kx="0" ky="0" algn="bl" rotWithShape="0" blurRad="50800" dist="25400" dir="8100000">
              <a:srgbClr val="000000">
                <a:alpha val="12000"/>
              </a:srgbClr>
            </a:outerShdw>
          </a:effectLst>
        </p:spPr>
      </p:sp>
      <p:sp>
        <p:nvSpPr>
          <p:cNvPr id="7" name="Text 5"/>
          <p:cNvSpPr/>
          <p:nvPr/>
        </p:nvSpPr>
        <p:spPr>
          <a:xfrm>
            <a:off x="731520" y="2606040"/>
            <a:ext cx="3566160" cy="36576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FASE 1 — PREPARE (Votación)</a:t>
            </a:r>
            <a:endParaRPr lang="en-US" sz="1300" dirty="0"/>
          </a:p>
        </p:txBody>
      </p:sp>
      <p:sp>
        <p:nvSpPr>
          <p:cNvPr id="8" name="Text 6"/>
          <p:cNvSpPr/>
          <p:nvPr/>
        </p:nvSpPr>
        <p:spPr>
          <a:xfrm>
            <a:off x="731520" y="3017520"/>
            <a:ext cx="3566160" cy="1463040"/>
          </a:xfrm>
          <a:prstGeom prst="rect">
            <a:avLst/>
          </a:prstGeom>
          <a:noFill/>
          <a:ln/>
        </p:spPr>
        <p:txBody>
          <a:bodyPr wrap="square" lIns="0" tIns="0" rIns="0" bIns="0" rtlCol="0" anchor="ctr"/>
          <a:lstStyle/>
          <a:p>
            <a:pPr indent="0" marL="0">
              <a:lnSpc>
                <a:spcPct val="140000"/>
              </a:lnSpc>
              <a:buNone/>
            </a:pPr>
            <a:r>
              <a:rPr lang="en-US" sz="1200" dirty="0">
                <a:solidFill>
                  <a:srgbClr val="1E293B"/>
                </a:solidFill>
                <a:latin typeface="Calibri" pitchFamily="34" charset="0"/>
                <a:ea typeface="Calibri" pitchFamily="34" charset="-122"/>
                <a:cs typeface="Calibri" pitchFamily="34" charset="-120"/>
              </a:rPr>
              <a:t>1. Coordinador envía PREPARE a todos los participantes.</a:t>
            </a:r>
            <a:endParaRPr lang="en-US" sz="1200" dirty="0"/>
          </a:p>
          <a:p>
            <a:pPr indent="0" marL="0">
              <a:lnSpc>
                <a:spcPct val="140000"/>
              </a:lnSpc>
              <a:buNone/>
            </a:pPr>
            <a:r>
              <a:rPr lang="en-US" sz="1200" dirty="0">
                <a:solidFill>
                  <a:srgbClr val="1E293B"/>
                </a:solidFill>
                <a:latin typeface="Calibri" pitchFamily="34" charset="0"/>
                <a:ea typeface="Calibri" pitchFamily="34" charset="-122"/>
                <a:cs typeface="Calibri" pitchFamily="34" charset="-120"/>
              </a:rPr>
              <a:t>2. Cada participante prepara la operación (escribe en WAL) sin confirmar.</a:t>
            </a:r>
            <a:endParaRPr lang="en-US" sz="1200" dirty="0"/>
          </a:p>
          <a:p>
            <a:pPr indent="0" marL="0">
              <a:lnSpc>
                <a:spcPct val="140000"/>
              </a:lnSpc>
              <a:buNone/>
            </a:pPr>
            <a:r>
              <a:rPr lang="en-US" sz="1200" dirty="0">
                <a:solidFill>
                  <a:srgbClr val="1E293B"/>
                </a:solidFill>
                <a:latin typeface="Calibri" pitchFamily="34" charset="0"/>
                <a:ea typeface="Calibri" pitchFamily="34" charset="-122"/>
                <a:cs typeface="Calibri" pitchFamily="34" charset="-120"/>
              </a:rPr>
              <a:t>3. Cada participante responde VOTE-COMMIT o VOTE-ABORT.</a:t>
            </a:r>
            <a:endParaRPr lang="en-US" sz="1200" dirty="0"/>
          </a:p>
        </p:txBody>
      </p:sp>
      <p:sp>
        <p:nvSpPr>
          <p:cNvPr id="9" name="Shape 7"/>
          <p:cNvSpPr/>
          <p:nvPr/>
        </p:nvSpPr>
        <p:spPr>
          <a:xfrm>
            <a:off x="4754880" y="2514600"/>
            <a:ext cx="3840480" cy="2194560"/>
          </a:xfrm>
          <a:prstGeom prst="rect">
            <a:avLst/>
          </a:prstGeom>
          <a:solidFill>
            <a:srgbClr val="DCFCE7"/>
          </a:solidFill>
          <a:ln/>
          <a:effectLst>
            <a:outerShdw sx="100000" sy="100000" kx="0" ky="0" algn="bl" rotWithShape="0" blurRad="50800" dist="25400" dir="8100000">
              <a:srgbClr val="000000">
                <a:alpha val="12000"/>
              </a:srgbClr>
            </a:outerShdw>
          </a:effectLst>
        </p:spPr>
      </p:sp>
      <p:sp>
        <p:nvSpPr>
          <p:cNvPr id="10" name="Text 8"/>
          <p:cNvSpPr/>
          <p:nvPr/>
        </p:nvSpPr>
        <p:spPr>
          <a:xfrm>
            <a:off x="4937760" y="2606040"/>
            <a:ext cx="3474720" cy="36576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FASE 2 — COMMIT/ABORT (Decisión)</a:t>
            </a:r>
            <a:endParaRPr lang="en-US" sz="1300" dirty="0"/>
          </a:p>
        </p:txBody>
      </p:sp>
      <p:sp>
        <p:nvSpPr>
          <p:cNvPr id="11" name="Text 9"/>
          <p:cNvSpPr/>
          <p:nvPr/>
        </p:nvSpPr>
        <p:spPr>
          <a:xfrm>
            <a:off x="4937760" y="3017520"/>
            <a:ext cx="3474720" cy="1463040"/>
          </a:xfrm>
          <a:prstGeom prst="rect">
            <a:avLst/>
          </a:prstGeom>
          <a:noFill/>
          <a:ln/>
        </p:spPr>
        <p:txBody>
          <a:bodyPr wrap="square" lIns="0" tIns="0" rIns="0" bIns="0" rtlCol="0" anchor="ctr"/>
          <a:lstStyle/>
          <a:p>
            <a:pPr indent="0" marL="0">
              <a:lnSpc>
                <a:spcPct val="130000"/>
              </a:lnSpc>
              <a:buNone/>
            </a:pPr>
            <a:r>
              <a:rPr lang="en-US" sz="1200" b="1" dirty="0">
                <a:solidFill>
                  <a:srgbClr val="1E293B"/>
                </a:solidFill>
                <a:latin typeface="Calibri" pitchFamily="34" charset="0"/>
                <a:ea typeface="Calibri" pitchFamily="34" charset="-122"/>
                <a:cs typeface="Calibri" pitchFamily="34" charset="-120"/>
              </a:rPr>
              <a:t>Si TODOS votaron COMMIT:</a:t>
            </a:r>
            <a:endParaRPr lang="en-US" sz="1200" dirty="0"/>
          </a:p>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 Coordinador envía GLOBAL-COMMIT.</a:t>
            </a:r>
            <a:endParaRPr lang="en-US" sz="1200" dirty="0"/>
          </a:p>
          <a:p>
            <a:pPr indent="0" marL="0">
              <a:lnSpc>
                <a:spcPct val="130000"/>
              </a:lnSpc>
              <a:buNone/>
            </a:pPr>
            <a:endParaRPr lang="en-US" sz="1200" dirty="0"/>
          </a:p>
          <a:p>
            <a:pPr indent="0" marL="0">
              <a:lnSpc>
                <a:spcPct val="130000"/>
              </a:lnSpc>
              <a:buNone/>
            </a:pPr>
            <a:r>
              <a:rPr lang="en-US" sz="1200" b="1" dirty="0">
                <a:solidFill>
                  <a:srgbClr val="1E293B"/>
                </a:solidFill>
                <a:latin typeface="Calibri" pitchFamily="34" charset="0"/>
                <a:ea typeface="Calibri" pitchFamily="34" charset="-122"/>
                <a:cs typeface="Calibri" pitchFamily="34" charset="-120"/>
              </a:rPr>
              <a:t>Si ALGUNO votó ABORT:</a:t>
            </a:r>
            <a:endParaRPr lang="en-US" sz="1200" dirty="0"/>
          </a:p>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 Coordinador envía GLOBAL-ABORT.</a:t>
            </a:r>
            <a:endParaRPr lang="en-US" sz="1200" dirty="0"/>
          </a:p>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 Participantes deshacen los cambios (rollback).</a:t>
            </a:r>
            <a:endParaRPr lang="en-US" sz="1200" dirty="0"/>
          </a:p>
        </p:txBody>
      </p:sp>
      <p:sp>
        <p:nvSpPr>
          <p:cNvPr id="12" name="Text 10"/>
          <p:cNvSpPr/>
          <p:nvPr/>
        </p:nvSpPr>
        <p:spPr>
          <a:xfrm>
            <a:off x="548640" y="4754880"/>
            <a:ext cx="8046720" cy="274320"/>
          </a:xfrm>
          <a:prstGeom prst="rect">
            <a:avLst/>
          </a:prstGeom>
          <a:noFill/>
          <a:ln/>
        </p:spPr>
        <p:txBody>
          <a:bodyPr wrap="square" lIns="0" tIns="0" rIns="0" bIns="0" rtlCol="0" anchor="ctr"/>
          <a:lstStyle/>
          <a:p>
            <a:pPr algn="ctr" indent="0" marL="0">
              <a:buNone/>
            </a:pPr>
            <a:r>
              <a:rPr lang="en-US" sz="1200" b="1" dirty="0">
                <a:solidFill>
                  <a:srgbClr val="065A82"/>
                </a:solidFill>
                <a:latin typeface="Calibri" pitchFamily="34" charset="0"/>
                <a:ea typeface="Calibri" pitchFamily="34" charset="-122"/>
                <a:cs typeface="Calibri" pitchFamily="34" charset="-120"/>
              </a:rPr>
              <a:t>Garantía: O TODOS confirman la transacción, o NINGUNO lo hace → Atomicidad distribuida.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400" b="1" dirty="0">
                <a:solidFill>
                  <a:srgbClr val="21295C"/>
                </a:solidFill>
                <a:latin typeface="Georgia" pitchFamily="34" charset="0"/>
                <a:ea typeface="Georgia" pitchFamily="34" charset="-122"/>
                <a:cs typeface="Georgia" pitchFamily="34" charset="-120"/>
              </a:rPr>
              <a:t>Limitaciones de 2PC y la necesidad de consenso</a:t>
            </a:r>
            <a:endParaRPr lang="en-US" sz="2400" dirty="0"/>
          </a:p>
        </p:txBody>
      </p:sp>
      <p:sp>
        <p:nvSpPr>
          <p:cNvPr id="3" name="Shape 1"/>
          <p:cNvSpPr/>
          <p:nvPr/>
        </p:nvSpPr>
        <p:spPr>
          <a:xfrm>
            <a:off x="548640" y="1005840"/>
            <a:ext cx="3931920" cy="2011680"/>
          </a:xfrm>
          <a:prstGeom prst="rect">
            <a:avLst/>
          </a:prstGeom>
          <a:solidFill>
            <a:srgbClr val="FEE2E2"/>
          </a:solidFill>
          <a:ln/>
          <a:effectLst>
            <a:outerShdw sx="100000" sy="100000" kx="0" ky="0" algn="bl" rotWithShape="0" blurRad="50800" dist="25400" dir="8100000">
              <a:srgbClr val="000000">
                <a:alpha val="12000"/>
              </a:srgbClr>
            </a:outerShdw>
          </a:effectLst>
        </p:spPr>
      </p:sp>
      <p:sp>
        <p:nvSpPr>
          <p:cNvPr id="4" name="Text 2"/>
          <p:cNvSpPr/>
          <p:nvPr/>
        </p:nvSpPr>
        <p:spPr>
          <a:xfrm>
            <a:off x="731520" y="1097280"/>
            <a:ext cx="3566160" cy="320040"/>
          </a:xfrm>
          <a:prstGeom prst="rect">
            <a:avLst/>
          </a:prstGeom>
          <a:noFill/>
          <a:ln/>
        </p:spPr>
        <p:txBody>
          <a:bodyPr wrap="square" lIns="0" tIns="0" rIns="0" bIns="0" rtlCol="0" anchor="ctr"/>
          <a:lstStyle/>
          <a:p>
            <a:pPr indent="0" marL="0">
              <a:buNone/>
            </a:pPr>
            <a:r>
              <a:rPr lang="en-US" sz="1400" b="1" dirty="0">
                <a:solidFill>
                  <a:srgbClr val="DC2626"/>
                </a:solidFill>
                <a:latin typeface="Calibri" pitchFamily="34" charset="0"/>
                <a:ea typeface="Calibri" pitchFamily="34" charset="-122"/>
                <a:cs typeface="Calibri" pitchFamily="34" charset="-120"/>
              </a:rPr>
              <a:t>Problemas de 2PC</a:t>
            </a:r>
            <a:endParaRPr lang="en-US" sz="1400" dirty="0"/>
          </a:p>
        </p:txBody>
      </p:sp>
      <p:sp>
        <p:nvSpPr>
          <p:cNvPr id="5" name="Text 3"/>
          <p:cNvSpPr/>
          <p:nvPr/>
        </p:nvSpPr>
        <p:spPr>
          <a:xfrm>
            <a:off x="731520" y="1463040"/>
            <a:ext cx="3566160" cy="1463040"/>
          </a:xfrm>
          <a:prstGeom prst="rect">
            <a:avLst/>
          </a:prstGeom>
          <a:noFill/>
          <a:ln/>
        </p:spPr>
        <p:txBody>
          <a:bodyPr wrap="square" lIns="0" tIns="0" rIns="0" bIns="0" rtlCol="0" anchor="ctr"/>
          <a:lstStyle/>
          <a:p>
            <a:pPr indent="0" marL="0">
              <a:lnSpc>
                <a:spcPct val="125000"/>
              </a:lnSpc>
              <a:buNone/>
            </a:pPr>
            <a:r>
              <a:rPr lang="en-US" sz="1150" b="1" dirty="0">
                <a:solidFill>
                  <a:srgbClr val="1E293B"/>
                </a:solidFill>
                <a:latin typeface="Calibri" pitchFamily="34" charset="0"/>
                <a:ea typeface="Calibri" pitchFamily="34" charset="-122"/>
                <a:cs typeface="Calibri" pitchFamily="34" charset="-120"/>
              </a:rPr>
              <a:t>Protocolo bloqueante: </a:t>
            </a:r>
            <a:pPr indent="0" marL="0">
              <a:lnSpc>
                <a:spcPct val="125000"/>
              </a:lnSpc>
              <a:buNone/>
            </a:pPr>
            <a:r>
              <a:rPr lang="en-US" sz="1150" dirty="0">
                <a:solidFill>
                  <a:srgbClr val="1E293B"/>
                </a:solidFill>
                <a:latin typeface="Calibri" pitchFamily="34" charset="0"/>
                <a:ea typeface="Calibri" pitchFamily="34" charset="-122"/>
                <a:cs typeface="Calibri" pitchFamily="34" charset="-120"/>
              </a:rPr>
              <a:t>si el coordinador falla entre Fase 1 y Fase 2, los participantes quedan 'en limbo'.</a:t>
            </a:r>
            <a:endParaRPr lang="en-US" sz="1150" dirty="0"/>
          </a:p>
          <a:p>
            <a:pPr indent="0" marL="0">
              <a:lnSpc>
                <a:spcPct val="125000"/>
              </a:lnSpc>
              <a:buNone/>
            </a:pPr>
            <a:endParaRPr lang="en-US" sz="1150" dirty="0"/>
          </a:p>
          <a:p>
            <a:pPr indent="0" marL="0">
              <a:lnSpc>
                <a:spcPct val="125000"/>
              </a:lnSpc>
              <a:buNone/>
            </a:pPr>
            <a:r>
              <a:rPr lang="en-US" sz="1150" b="1" dirty="0">
                <a:solidFill>
                  <a:srgbClr val="1E293B"/>
                </a:solidFill>
                <a:latin typeface="Calibri" pitchFamily="34" charset="0"/>
                <a:ea typeface="Calibri" pitchFamily="34" charset="-122"/>
                <a:cs typeface="Calibri" pitchFamily="34" charset="-120"/>
              </a:rPr>
              <a:t>Punto único de falla: </a:t>
            </a:r>
            <a:pPr indent="0" marL="0">
              <a:lnSpc>
                <a:spcPct val="125000"/>
              </a:lnSpc>
              <a:buNone/>
            </a:pPr>
            <a:r>
              <a:rPr lang="en-US" sz="1150" dirty="0">
                <a:solidFill>
                  <a:srgbClr val="1E293B"/>
                </a:solidFill>
                <a:latin typeface="Calibri" pitchFamily="34" charset="0"/>
                <a:ea typeface="Calibri" pitchFamily="34" charset="-122"/>
                <a:cs typeface="Calibri" pitchFamily="34" charset="-120"/>
              </a:rPr>
              <a:t>todo depende del coordinador.</a:t>
            </a:r>
            <a:endParaRPr lang="en-US" sz="1150" dirty="0"/>
          </a:p>
          <a:p>
            <a:pPr indent="0" marL="0">
              <a:lnSpc>
                <a:spcPct val="125000"/>
              </a:lnSpc>
              <a:buNone/>
            </a:pPr>
            <a:endParaRPr lang="en-US" sz="1150" dirty="0"/>
          </a:p>
          <a:p>
            <a:pPr indent="0" marL="0">
              <a:lnSpc>
                <a:spcPct val="125000"/>
              </a:lnSpc>
              <a:buNone/>
            </a:pPr>
            <a:r>
              <a:rPr lang="en-US" sz="1150" b="1" dirty="0">
                <a:solidFill>
                  <a:srgbClr val="1E293B"/>
                </a:solidFill>
                <a:latin typeface="Calibri" pitchFamily="34" charset="0"/>
                <a:ea typeface="Calibri" pitchFamily="34" charset="-122"/>
                <a:cs typeface="Calibri" pitchFamily="34" charset="-120"/>
              </a:rPr>
              <a:t>Latencia: </a:t>
            </a:r>
            <a:pPr indent="0" marL="0">
              <a:lnSpc>
                <a:spcPct val="125000"/>
              </a:lnSpc>
              <a:buNone/>
            </a:pPr>
            <a:r>
              <a:rPr lang="en-US" sz="1150" dirty="0">
                <a:solidFill>
                  <a:srgbClr val="1E293B"/>
                </a:solidFill>
                <a:latin typeface="Calibri" pitchFamily="34" charset="0"/>
                <a:ea typeface="Calibri" pitchFamily="34" charset="-122"/>
                <a:cs typeface="Calibri" pitchFamily="34" charset="-120"/>
              </a:rPr>
              <a:t>requiere 2 rondas de comunicación síncronas con TODOS los participantes.</a:t>
            </a:r>
            <a:endParaRPr lang="en-US" sz="1150" dirty="0"/>
          </a:p>
        </p:txBody>
      </p:sp>
      <p:sp>
        <p:nvSpPr>
          <p:cNvPr id="6" name="Shape 4"/>
          <p:cNvSpPr/>
          <p:nvPr/>
        </p:nvSpPr>
        <p:spPr>
          <a:xfrm>
            <a:off x="4754880" y="1005840"/>
            <a:ext cx="3840480" cy="2011680"/>
          </a:xfrm>
          <a:prstGeom prst="rect">
            <a:avLst/>
          </a:prstGeom>
          <a:solidFill>
            <a:srgbClr val="FEF3C7"/>
          </a:solidFill>
          <a:ln/>
          <a:effectLst>
            <a:outerShdw sx="100000" sy="100000" kx="0" ky="0" algn="bl" rotWithShape="0" blurRad="50800" dist="25400" dir="8100000">
              <a:srgbClr val="000000">
                <a:alpha val="12000"/>
              </a:srgbClr>
            </a:outerShdw>
          </a:effectLst>
        </p:spPr>
      </p:sp>
      <p:sp>
        <p:nvSpPr>
          <p:cNvPr id="7" name="Text 5"/>
          <p:cNvSpPr/>
          <p:nvPr/>
        </p:nvSpPr>
        <p:spPr>
          <a:xfrm>
            <a:off x="4937760" y="1097280"/>
            <a:ext cx="3474720" cy="32004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3PC — Intento de solución</a:t>
            </a:r>
            <a:endParaRPr lang="en-US" sz="1400" dirty="0"/>
          </a:p>
        </p:txBody>
      </p:sp>
      <p:sp>
        <p:nvSpPr>
          <p:cNvPr id="8" name="Text 6"/>
          <p:cNvSpPr/>
          <p:nvPr/>
        </p:nvSpPr>
        <p:spPr>
          <a:xfrm>
            <a:off x="4937760" y="1463040"/>
            <a:ext cx="3474720" cy="1463040"/>
          </a:xfrm>
          <a:prstGeom prst="rect">
            <a:avLst/>
          </a:prstGeom>
          <a:noFill/>
          <a:ln/>
        </p:spPr>
        <p:txBody>
          <a:bodyPr wrap="square" lIns="0" tIns="0" rIns="0" bIns="0" rtlCol="0" anchor="ctr"/>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Agrega una fase intermedia PRE-COMMIT para reducir el bloqueo.</a:t>
            </a:r>
            <a:endParaRPr lang="en-US" sz="1150" dirty="0"/>
          </a:p>
          <a:p>
            <a:pPr indent="0" marL="0">
              <a:lnSpc>
                <a:spcPct val="120000"/>
              </a:lnSpc>
              <a:buNone/>
            </a:pPr>
            <a:endParaRPr lang="en-US" sz="1150" dirty="0"/>
          </a:p>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Fase 1: PREPARE → votos.</a:t>
            </a:r>
            <a:endParaRPr lang="en-US" sz="1150" dirty="0"/>
          </a:p>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Fase 2: PRE-COMMIT → aviso de intención.</a:t>
            </a:r>
            <a:endParaRPr lang="en-US" sz="1150" dirty="0"/>
          </a:p>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Fase 3: DO-COMMIT → confirmación final.</a:t>
            </a:r>
            <a:endParaRPr lang="en-US" sz="1150" dirty="0"/>
          </a:p>
          <a:p>
            <a:pPr indent="0" marL="0">
              <a:lnSpc>
                <a:spcPct val="120000"/>
              </a:lnSpc>
              <a:buNone/>
            </a:pPr>
            <a:endParaRPr lang="en-US" sz="1150" dirty="0"/>
          </a:p>
          <a:p>
            <a:pPr indent="0" marL="0">
              <a:lnSpc>
                <a:spcPct val="120000"/>
              </a:lnSpc>
              <a:buNone/>
            </a:pPr>
            <a:r>
              <a:rPr lang="en-US" sz="1150" b="1" dirty="0">
                <a:solidFill>
                  <a:srgbClr val="1E293B"/>
                </a:solidFill>
                <a:latin typeface="Calibri" pitchFamily="34" charset="0"/>
                <a:ea typeface="Calibri" pitchFamily="34" charset="-122"/>
                <a:cs typeface="Calibri" pitchFamily="34" charset="-120"/>
              </a:rPr>
              <a:t>Problema: </a:t>
            </a:r>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3PC no funciona bien con particiones de red. Necesitamos algo mejor → Paxos y Raft.</a:t>
            </a:r>
            <a:endParaRPr lang="en-US" sz="1150" dirty="0"/>
          </a:p>
        </p:txBody>
      </p:sp>
      <p:sp>
        <p:nvSpPr>
          <p:cNvPr id="9" name="Shape 7"/>
          <p:cNvSpPr/>
          <p:nvPr/>
        </p:nvSpPr>
        <p:spPr>
          <a:xfrm>
            <a:off x="548640" y="3291840"/>
            <a:ext cx="8046720" cy="1463040"/>
          </a:xfrm>
          <a:prstGeom prst="rect">
            <a:avLst/>
          </a:prstGeom>
          <a:solidFill>
            <a:srgbClr val="F0F7FA"/>
          </a:solidFill>
          <a:ln/>
          <a:effectLst>
            <a:outerShdw sx="100000" sy="100000" kx="0" ky="0" algn="bl" rotWithShape="0" blurRad="50800" dist="25400" dir="8100000">
              <a:srgbClr val="000000">
                <a:alpha val="12000"/>
              </a:srgbClr>
            </a:outerShdw>
          </a:effectLst>
        </p:spPr>
      </p:sp>
      <p:sp>
        <p:nvSpPr>
          <p:cNvPr id="10" name="Text 8"/>
          <p:cNvSpPr/>
          <p:nvPr/>
        </p:nvSpPr>
        <p:spPr>
          <a:xfrm>
            <a:off x="731520" y="3383280"/>
            <a:ext cx="7680960" cy="36576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¿Cuál es la solución moderna?</a:t>
            </a:r>
            <a:endParaRPr lang="en-US" sz="1500" dirty="0"/>
          </a:p>
        </p:txBody>
      </p:sp>
      <p:sp>
        <p:nvSpPr>
          <p:cNvPr id="11" name="Text 9"/>
          <p:cNvSpPr/>
          <p:nvPr/>
        </p:nvSpPr>
        <p:spPr>
          <a:xfrm>
            <a:off x="731520" y="3749040"/>
            <a:ext cx="7680960" cy="914400"/>
          </a:xfrm>
          <a:prstGeom prst="rect">
            <a:avLst/>
          </a:prstGeom>
          <a:noFill/>
          <a:ln/>
        </p:spPr>
        <p:txBody>
          <a:bodyPr wrap="square" lIns="0" tIns="0" rIns="0" bIns="0" rtlCol="0" anchor="ctr"/>
          <a:lstStyle/>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Los algoritmos de consenso (Paxos, Raft) resuelven el problema de ponerse de acuerdo en un valor ante fallos, SIN un coordinador único. Un quórum (mayoría) de nodos decide, lo que tolera que una minoría de nodos falle. Esto es lo que usan sistemas reales como etcd (Kubernetes), ZooKeeper (Kafka), y CockroachDB.</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800" b="1" dirty="0">
                <a:solidFill>
                  <a:srgbClr val="21295C"/>
                </a:solidFill>
                <a:latin typeface="Georgia" pitchFamily="34" charset="0"/>
                <a:ea typeface="Georgia" pitchFamily="34" charset="-122"/>
                <a:cs typeface="Georgia" pitchFamily="34" charset="-120"/>
              </a:rPr>
              <a:t>Subtema 4: Sistemas de Consenso</a:t>
            </a:r>
            <a:endParaRPr lang="en-US" sz="28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Paxos y Raft — Introducción</a:t>
            </a:r>
            <a:endParaRPr lang="en-US" sz="1400" dirty="0"/>
          </a:p>
        </p:txBody>
      </p:sp>
      <p:sp>
        <p:nvSpPr>
          <p:cNvPr id="4" name="Shape 2"/>
          <p:cNvSpPr/>
          <p:nvPr/>
        </p:nvSpPr>
        <p:spPr>
          <a:xfrm>
            <a:off x="548640" y="1234440"/>
            <a:ext cx="3931920" cy="3200400"/>
          </a:xfrm>
          <a:prstGeom prst="rect">
            <a:avLst/>
          </a:prstGeom>
          <a:solidFill>
            <a:srgbClr val="F0F7FA"/>
          </a:solidFill>
          <a:ln/>
          <a:effectLst>
            <a:outerShdw sx="100000" sy="100000" kx="0" ky="0" algn="bl" rotWithShape="0" blurRad="50800" dist="25400" dir="8100000">
              <a:srgbClr val="000000">
                <a:alpha val="12000"/>
              </a:srgbClr>
            </a:outerShdw>
          </a:effectLst>
        </p:spPr>
      </p:sp>
      <p:sp>
        <p:nvSpPr>
          <p:cNvPr id="5" name="Text 3"/>
          <p:cNvSpPr/>
          <p:nvPr/>
        </p:nvSpPr>
        <p:spPr>
          <a:xfrm>
            <a:off x="731520" y="1325880"/>
            <a:ext cx="3566160" cy="36576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Paxos (Lamport, 1998)</a:t>
            </a:r>
            <a:endParaRPr lang="en-US" sz="1400" dirty="0"/>
          </a:p>
        </p:txBody>
      </p:sp>
      <p:sp>
        <p:nvSpPr>
          <p:cNvPr id="6" name="Text 4"/>
          <p:cNvSpPr/>
          <p:nvPr/>
        </p:nvSpPr>
        <p:spPr>
          <a:xfrm>
            <a:off x="731520" y="1737360"/>
            <a:ext cx="3566160" cy="2468880"/>
          </a:xfrm>
          <a:prstGeom prst="rect">
            <a:avLst/>
          </a:prstGeom>
          <a:noFill/>
          <a:ln/>
        </p:spPr>
        <p:txBody>
          <a:bodyPr wrap="square" lIns="0" tIns="0" rIns="0" bIns="0" rtlCol="0" anchor="ctr"/>
          <a:lstStyle/>
          <a:p>
            <a:pPr indent="0" marL="0">
              <a:lnSpc>
                <a:spcPct val="120000"/>
              </a:lnSpc>
              <a:buNone/>
            </a:pPr>
            <a:r>
              <a:rPr lang="en-US" sz="1100" b="1" dirty="0">
                <a:solidFill>
                  <a:srgbClr val="1E293B"/>
                </a:solidFill>
                <a:latin typeface="Calibri" pitchFamily="34" charset="0"/>
                <a:ea typeface="Calibri" pitchFamily="34" charset="-122"/>
                <a:cs typeface="Calibri" pitchFamily="34" charset="-120"/>
              </a:rPr>
              <a:t>Roles: </a:t>
            </a:r>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Proposer, Acceptor, Learner.</a:t>
            </a:r>
            <a:endParaRPr lang="en-US" sz="1100" dirty="0"/>
          </a:p>
          <a:p>
            <a:pPr indent="0" marL="0">
              <a:lnSpc>
                <a:spcPct val="120000"/>
              </a:lnSpc>
              <a:buNone/>
            </a:pPr>
            <a:endParaRPr lang="en-US" sz="1100" dirty="0"/>
          </a:p>
          <a:p>
            <a:pPr indent="0" marL="0">
              <a:lnSpc>
                <a:spcPct val="120000"/>
              </a:lnSpc>
              <a:buNone/>
            </a:pPr>
            <a:r>
              <a:rPr lang="en-US" sz="1100" b="1" dirty="0">
                <a:solidFill>
                  <a:srgbClr val="1E293B"/>
                </a:solidFill>
                <a:latin typeface="Calibri" pitchFamily="34" charset="0"/>
                <a:ea typeface="Calibri" pitchFamily="34" charset="-122"/>
                <a:cs typeface="Calibri" pitchFamily="34" charset="-120"/>
              </a:rPr>
              <a:t>Fases:</a:t>
            </a:r>
            <a:endParaRPr lang="en-US" sz="1100" dirty="0"/>
          </a:p>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1. Prepare: Proposer envía número de propuesta.</a:t>
            </a:r>
            <a:endParaRPr lang="en-US" sz="1100" dirty="0"/>
          </a:p>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2. Promise: Acceptors prometen no aceptar propuestas menores.</a:t>
            </a:r>
            <a:endParaRPr lang="en-US" sz="1100" dirty="0"/>
          </a:p>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3. Accept: Si mayoría prometió, Proposer envía valor.</a:t>
            </a:r>
            <a:endParaRPr lang="en-US" sz="1100" dirty="0"/>
          </a:p>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4. Accepted: Acceptors confirman.</a:t>
            </a:r>
            <a:endParaRPr lang="en-US" sz="1100" dirty="0"/>
          </a:p>
          <a:p>
            <a:pPr indent="0" marL="0">
              <a:lnSpc>
                <a:spcPct val="120000"/>
              </a:lnSpc>
              <a:buNone/>
            </a:pPr>
            <a:endParaRPr lang="en-US" sz="1100" dirty="0"/>
          </a:p>
          <a:p>
            <a:pPr indent="0" marL="0">
              <a:lnSpc>
                <a:spcPct val="120000"/>
              </a:lnSpc>
              <a:buNone/>
            </a:pPr>
            <a:r>
              <a:rPr lang="en-US" sz="1100" b="1" dirty="0">
                <a:solidFill>
                  <a:srgbClr val="1E293B"/>
                </a:solidFill>
                <a:latin typeface="Calibri" pitchFamily="34" charset="0"/>
                <a:ea typeface="Calibri" pitchFamily="34" charset="-122"/>
                <a:cs typeface="Calibri" pitchFamily="34" charset="-120"/>
              </a:rPr>
              <a:t>Garantía: </a:t>
            </a:r>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Si una mayoría acepta un valor, ese valor es la decisión consensuada. Tolerante a fallos (f fallos con 2f+1 nodos).</a:t>
            </a:r>
            <a:endParaRPr lang="en-US" sz="1100" dirty="0"/>
          </a:p>
        </p:txBody>
      </p:sp>
      <p:sp>
        <p:nvSpPr>
          <p:cNvPr id="7" name="Shape 5"/>
          <p:cNvSpPr/>
          <p:nvPr/>
        </p:nvSpPr>
        <p:spPr>
          <a:xfrm>
            <a:off x="4754880" y="1234440"/>
            <a:ext cx="3840480" cy="32004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8" name="Text 6"/>
          <p:cNvSpPr/>
          <p:nvPr/>
        </p:nvSpPr>
        <p:spPr>
          <a:xfrm>
            <a:off x="4937760" y="1325880"/>
            <a:ext cx="3474720" cy="36576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Raft (Ongaro &amp; Ousterhout, 2014)</a:t>
            </a:r>
            <a:endParaRPr lang="en-US" sz="1400" dirty="0"/>
          </a:p>
        </p:txBody>
      </p:sp>
      <p:sp>
        <p:nvSpPr>
          <p:cNvPr id="9" name="Text 7"/>
          <p:cNvSpPr/>
          <p:nvPr/>
        </p:nvSpPr>
        <p:spPr>
          <a:xfrm>
            <a:off x="4937760" y="1737360"/>
            <a:ext cx="3474720" cy="2468880"/>
          </a:xfrm>
          <a:prstGeom prst="rect">
            <a:avLst/>
          </a:prstGeom>
          <a:noFill/>
          <a:ln/>
        </p:spPr>
        <p:txBody>
          <a:bodyPr wrap="square" lIns="0" tIns="0" rIns="0" bIns="0" rtlCol="0" anchor="ctr"/>
          <a:lstStyle/>
          <a:p>
            <a:pPr indent="0" marL="0">
              <a:lnSpc>
                <a:spcPct val="120000"/>
              </a:lnSpc>
              <a:buNone/>
            </a:pPr>
            <a:r>
              <a:rPr lang="en-US" sz="1100" b="1" dirty="0">
                <a:solidFill>
                  <a:srgbClr val="1E293B"/>
                </a:solidFill>
                <a:latin typeface="Calibri" pitchFamily="34" charset="0"/>
                <a:ea typeface="Calibri" pitchFamily="34" charset="-122"/>
                <a:cs typeface="Calibri" pitchFamily="34" charset="-120"/>
              </a:rPr>
              <a:t>Diseñado para ser entendible.</a:t>
            </a:r>
            <a:endParaRPr lang="en-US" sz="1100" dirty="0"/>
          </a:p>
          <a:p>
            <a:pPr indent="0" marL="0">
              <a:lnSpc>
                <a:spcPct val="120000"/>
              </a:lnSpc>
              <a:buNone/>
            </a:pPr>
            <a:endParaRPr lang="en-US" sz="1100" dirty="0"/>
          </a:p>
          <a:p>
            <a:pPr indent="0" marL="0">
              <a:lnSpc>
                <a:spcPct val="120000"/>
              </a:lnSpc>
              <a:buNone/>
            </a:pPr>
            <a:r>
              <a:rPr lang="en-US" sz="1100" b="1" dirty="0">
                <a:solidFill>
                  <a:srgbClr val="1E293B"/>
                </a:solidFill>
                <a:latin typeface="Calibri" pitchFamily="34" charset="0"/>
                <a:ea typeface="Calibri" pitchFamily="34" charset="-122"/>
                <a:cs typeface="Calibri" pitchFamily="34" charset="-120"/>
              </a:rPr>
              <a:t>Estados: </a:t>
            </a:r>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Follower, Candidate, Leader.</a:t>
            </a:r>
            <a:endParaRPr lang="en-US" sz="1100" dirty="0"/>
          </a:p>
          <a:p>
            <a:pPr indent="0" marL="0">
              <a:lnSpc>
                <a:spcPct val="120000"/>
              </a:lnSpc>
              <a:buNone/>
            </a:pPr>
            <a:endParaRPr lang="en-US" sz="1100" dirty="0"/>
          </a:p>
          <a:p>
            <a:pPr indent="0" marL="0">
              <a:lnSpc>
                <a:spcPct val="120000"/>
              </a:lnSpc>
              <a:buNone/>
            </a:pPr>
            <a:r>
              <a:rPr lang="en-US" sz="1100" b="1" dirty="0">
                <a:solidFill>
                  <a:srgbClr val="1E293B"/>
                </a:solidFill>
                <a:latin typeface="Calibri" pitchFamily="34" charset="0"/>
                <a:ea typeface="Calibri" pitchFamily="34" charset="-122"/>
                <a:cs typeface="Calibri" pitchFamily="34" charset="-120"/>
              </a:rPr>
              <a:t>Mecanismos:</a:t>
            </a:r>
            <a:endParaRPr lang="en-US" sz="1100" dirty="0"/>
          </a:p>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1. Elección de líder por términos (terms).</a:t>
            </a:r>
            <a:endParaRPr lang="en-US" sz="1100" dirty="0"/>
          </a:p>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2. Replicación de log: líder replica entradas a seguidores.</a:t>
            </a:r>
            <a:endParaRPr lang="en-US" sz="1100" dirty="0"/>
          </a:p>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3. Seguridad: solo líder con log más completo puede ganar elección.</a:t>
            </a:r>
            <a:endParaRPr lang="en-US" sz="1100" dirty="0"/>
          </a:p>
          <a:p>
            <a:pPr indent="0" marL="0">
              <a:lnSpc>
                <a:spcPct val="120000"/>
              </a:lnSpc>
              <a:buNone/>
            </a:pPr>
            <a:endParaRPr lang="en-US" sz="1100" dirty="0"/>
          </a:p>
          <a:p>
            <a:pPr indent="0" marL="0">
              <a:lnSpc>
                <a:spcPct val="120000"/>
              </a:lnSpc>
              <a:buNone/>
            </a:pPr>
            <a:r>
              <a:rPr lang="en-US" sz="1100" b="1" dirty="0">
                <a:solidFill>
                  <a:srgbClr val="1E293B"/>
                </a:solidFill>
                <a:latin typeface="Calibri" pitchFamily="34" charset="0"/>
                <a:ea typeface="Calibri" pitchFamily="34" charset="-122"/>
                <a:cs typeface="Calibri" pitchFamily="34" charset="-120"/>
              </a:rPr>
              <a:t>Usado en: </a:t>
            </a:r>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etcd (Kubernetes), CockroachDB, Consul, TiKV.</a:t>
            </a:r>
            <a:endParaRPr lang="en-US" sz="1100" dirty="0"/>
          </a:p>
        </p:txBody>
      </p:sp>
      <p:sp>
        <p:nvSpPr>
          <p:cNvPr id="10" name="Text 8"/>
          <p:cNvSpPr/>
          <p:nvPr/>
        </p:nvSpPr>
        <p:spPr>
          <a:xfrm>
            <a:off x="548640" y="4663440"/>
            <a:ext cx="8046720" cy="320040"/>
          </a:xfrm>
          <a:prstGeom prst="rect">
            <a:avLst/>
          </a:prstGeom>
          <a:noFill/>
          <a:ln/>
        </p:spPr>
        <p:txBody>
          <a:bodyPr wrap="square" lIns="0" tIns="0" rIns="0" bIns="0" rtlCol="0" anchor="ctr"/>
          <a:lstStyle/>
          <a:p>
            <a:pPr algn="ctr" indent="0" marL="0">
              <a:buNone/>
            </a:pPr>
            <a:r>
              <a:rPr lang="en-US" sz="1100" i="1" dirty="0">
                <a:solidFill>
                  <a:srgbClr val="065A82"/>
                </a:solidFill>
                <a:latin typeface="Calibri" pitchFamily="34" charset="0"/>
                <a:ea typeface="Calibri" pitchFamily="34" charset="-122"/>
                <a:cs typeface="Calibri" pitchFamily="34" charset="-120"/>
              </a:rPr>
              <a:t>Recurso recomendado: https://raft.github.io — Visualización interactiva del algoritmo Raft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Resumen: Mapa de Coordinación Distribuida</a:t>
            </a:r>
            <a:endParaRPr lang="en-US" sz="2400" dirty="0"/>
          </a:p>
        </p:txBody>
      </p:sp>
      <p:sp>
        <p:nvSpPr>
          <p:cNvPr id="3" name="Shape 1"/>
          <p:cNvSpPr/>
          <p:nvPr/>
        </p:nvSpPr>
        <p:spPr>
          <a:xfrm>
            <a:off x="3200400" y="1188720"/>
            <a:ext cx="2743200" cy="914400"/>
          </a:xfrm>
          <a:prstGeom prst="ellipse">
            <a:avLst/>
          </a:prstGeom>
          <a:solidFill>
            <a:srgbClr val="1C7293"/>
          </a:solidFill>
          <a:ln/>
        </p:spPr>
      </p:sp>
      <p:sp>
        <p:nvSpPr>
          <p:cNvPr id="4" name="Text 2"/>
          <p:cNvSpPr/>
          <p:nvPr/>
        </p:nvSpPr>
        <p:spPr>
          <a:xfrm>
            <a:off x="3200400" y="1188720"/>
            <a:ext cx="274320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Coordinación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Distribuida</a:t>
            </a:r>
            <a:endParaRPr lang="en-US" sz="1300" dirty="0"/>
          </a:p>
        </p:txBody>
      </p:sp>
      <p:sp>
        <p:nvSpPr>
          <p:cNvPr id="5" name="Shape 3"/>
          <p:cNvSpPr/>
          <p:nvPr/>
        </p:nvSpPr>
        <p:spPr>
          <a:xfrm>
            <a:off x="457200" y="2468880"/>
            <a:ext cx="2011680" cy="731520"/>
          </a:xfrm>
          <a:prstGeom prst="rect">
            <a:avLst/>
          </a:prstGeom>
          <a:solidFill>
            <a:srgbClr val="065A82"/>
          </a:solidFill>
          <a:ln/>
        </p:spPr>
      </p:sp>
      <p:sp>
        <p:nvSpPr>
          <p:cNvPr id="6" name="Text 4"/>
          <p:cNvSpPr/>
          <p:nvPr/>
        </p:nvSpPr>
        <p:spPr>
          <a:xfrm>
            <a:off x="457200" y="2468880"/>
            <a:ext cx="201168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Consistencia</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(CAP)</a:t>
            </a:r>
            <a:endParaRPr lang="en-US" sz="1100" dirty="0"/>
          </a:p>
        </p:txBody>
      </p:sp>
      <p:sp>
        <p:nvSpPr>
          <p:cNvPr id="7" name="Shape 5"/>
          <p:cNvSpPr/>
          <p:nvPr/>
        </p:nvSpPr>
        <p:spPr>
          <a:xfrm>
            <a:off x="457200" y="3291840"/>
            <a:ext cx="2011680" cy="640080"/>
          </a:xfrm>
          <a:prstGeom prst="rect">
            <a:avLst/>
          </a:prstGeom>
          <a:solidFill>
            <a:srgbClr val="1A3A5C"/>
          </a:solidFill>
          <a:ln/>
        </p:spPr>
      </p:sp>
      <p:sp>
        <p:nvSpPr>
          <p:cNvPr id="8" name="Text 6"/>
          <p:cNvSpPr/>
          <p:nvPr/>
        </p:nvSpPr>
        <p:spPr>
          <a:xfrm>
            <a:off x="457200" y="3291840"/>
            <a:ext cx="2011680" cy="640080"/>
          </a:xfrm>
          <a:prstGeom prst="rect">
            <a:avLst/>
          </a:prstGeom>
          <a:noFill/>
          <a:ln/>
        </p:spPr>
        <p:txBody>
          <a:bodyPr wrap="square" lIns="0" tIns="0" rIns="0" bIns="0" rtlCol="0" anchor="ctr"/>
          <a:lstStyle/>
          <a:p>
            <a:pPr algn="ctr" indent="0" marL="0">
              <a:buNone/>
            </a:pPr>
            <a:r>
              <a:rPr lang="en-US" sz="1000" dirty="0">
                <a:solidFill>
                  <a:srgbClr val="B0D4E8"/>
                </a:solidFill>
                <a:latin typeface="Calibri" pitchFamily="34" charset="0"/>
                <a:ea typeface="Calibri" pitchFamily="34" charset="-122"/>
                <a:cs typeface="Calibri" pitchFamily="34" charset="-120"/>
              </a:rPr>
              <a:t>CP vs AP</a:t>
            </a:r>
            <a:endParaRPr lang="en-US" sz="1000" dirty="0"/>
          </a:p>
          <a:p>
            <a:pPr algn="ctr" indent="0" marL="0">
              <a:buNone/>
            </a:pPr>
            <a:r>
              <a:rPr lang="en-US" sz="1000" dirty="0">
                <a:solidFill>
                  <a:srgbClr val="B0D4E8"/>
                </a:solidFill>
                <a:latin typeface="Calibri" pitchFamily="34" charset="0"/>
                <a:ea typeface="Calibri" pitchFamily="34" charset="-122"/>
                <a:cs typeface="Calibri" pitchFamily="34" charset="-120"/>
              </a:rPr>
              <a:t>Eventual vs Fuerte</a:t>
            </a:r>
            <a:endParaRPr lang="en-US" sz="1000" dirty="0"/>
          </a:p>
        </p:txBody>
      </p:sp>
      <p:sp>
        <p:nvSpPr>
          <p:cNvPr id="9" name="Shape 7"/>
          <p:cNvSpPr/>
          <p:nvPr/>
        </p:nvSpPr>
        <p:spPr>
          <a:xfrm>
            <a:off x="2834640" y="2468880"/>
            <a:ext cx="2011680" cy="731520"/>
          </a:xfrm>
          <a:prstGeom prst="rect">
            <a:avLst/>
          </a:prstGeom>
          <a:solidFill>
            <a:srgbClr val="065A82"/>
          </a:solidFill>
          <a:ln/>
        </p:spPr>
      </p:sp>
      <p:sp>
        <p:nvSpPr>
          <p:cNvPr id="10" name="Text 8"/>
          <p:cNvSpPr/>
          <p:nvPr/>
        </p:nvSpPr>
        <p:spPr>
          <a:xfrm>
            <a:off x="2834640" y="2468880"/>
            <a:ext cx="201168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Elección de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Líder</a:t>
            </a:r>
            <a:endParaRPr lang="en-US" sz="1100" dirty="0"/>
          </a:p>
        </p:txBody>
      </p:sp>
      <p:sp>
        <p:nvSpPr>
          <p:cNvPr id="11" name="Shape 9"/>
          <p:cNvSpPr/>
          <p:nvPr/>
        </p:nvSpPr>
        <p:spPr>
          <a:xfrm>
            <a:off x="2834640" y="3291840"/>
            <a:ext cx="2011680" cy="640080"/>
          </a:xfrm>
          <a:prstGeom prst="rect">
            <a:avLst/>
          </a:prstGeom>
          <a:solidFill>
            <a:srgbClr val="1A3A5C"/>
          </a:solidFill>
          <a:ln/>
        </p:spPr>
      </p:sp>
      <p:sp>
        <p:nvSpPr>
          <p:cNvPr id="12" name="Text 10"/>
          <p:cNvSpPr/>
          <p:nvPr/>
        </p:nvSpPr>
        <p:spPr>
          <a:xfrm>
            <a:off x="2834640" y="3291840"/>
            <a:ext cx="2011680" cy="640080"/>
          </a:xfrm>
          <a:prstGeom prst="rect">
            <a:avLst/>
          </a:prstGeom>
          <a:noFill/>
          <a:ln/>
        </p:spPr>
        <p:txBody>
          <a:bodyPr wrap="square" lIns="0" tIns="0" rIns="0" bIns="0" rtlCol="0" anchor="ctr"/>
          <a:lstStyle/>
          <a:p>
            <a:pPr algn="ctr" indent="0" marL="0">
              <a:buNone/>
            </a:pPr>
            <a:r>
              <a:rPr lang="en-US" sz="1000" dirty="0">
                <a:solidFill>
                  <a:srgbClr val="B0D4E8"/>
                </a:solidFill>
                <a:latin typeface="Calibri" pitchFamily="34" charset="0"/>
                <a:ea typeface="Calibri" pitchFamily="34" charset="-122"/>
                <a:cs typeface="Calibri" pitchFamily="34" charset="-120"/>
              </a:rPr>
              <a:t>Bully O(n²)</a:t>
            </a:r>
            <a:endParaRPr lang="en-US" sz="1000" dirty="0"/>
          </a:p>
          <a:p>
            <a:pPr algn="ctr" indent="0" marL="0">
              <a:buNone/>
            </a:pPr>
            <a:r>
              <a:rPr lang="en-US" sz="1000" dirty="0">
                <a:solidFill>
                  <a:srgbClr val="B0D4E8"/>
                </a:solidFill>
                <a:latin typeface="Calibri" pitchFamily="34" charset="0"/>
                <a:ea typeface="Calibri" pitchFamily="34" charset="-122"/>
                <a:cs typeface="Calibri" pitchFamily="34" charset="-120"/>
              </a:rPr>
              <a:t>Ring O(2n)</a:t>
            </a:r>
            <a:endParaRPr lang="en-US" sz="1000" dirty="0"/>
          </a:p>
        </p:txBody>
      </p:sp>
      <p:sp>
        <p:nvSpPr>
          <p:cNvPr id="13" name="Shape 11"/>
          <p:cNvSpPr/>
          <p:nvPr/>
        </p:nvSpPr>
        <p:spPr>
          <a:xfrm>
            <a:off x="5212080" y="2468880"/>
            <a:ext cx="2011680" cy="731520"/>
          </a:xfrm>
          <a:prstGeom prst="rect">
            <a:avLst/>
          </a:prstGeom>
          <a:solidFill>
            <a:srgbClr val="065A82"/>
          </a:solidFill>
          <a:ln/>
        </p:spPr>
      </p:sp>
      <p:sp>
        <p:nvSpPr>
          <p:cNvPr id="14" name="Text 12"/>
          <p:cNvSpPr/>
          <p:nvPr/>
        </p:nvSpPr>
        <p:spPr>
          <a:xfrm>
            <a:off x="5212080" y="2468880"/>
            <a:ext cx="201168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Transacciones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(2PC/3PC)</a:t>
            </a:r>
            <a:endParaRPr lang="en-US" sz="1100" dirty="0"/>
          </a:p>
        </p:txBody>
      </p:sp>
      <p:sp>
        <p:nvSpPr>
          <p:cNvPr id="15" name="Shape 13"/>
          <p:cNvSpPr/>
          <p:nvPr/>
        </p:nvSpPr>
        <p:spPr>
          <a:xfrm>
            <a:off x="5212080" y="3291840"/>
            <a:ext cx="2011680" cy="640080"/>
          </a:xfrm>
          <a:prstGeom prst="rect">
            <a:avLst/>
          </a:prstGeom>
          <a:solidFill>
            <a:srgbClr val="1A3A5C"/>
          </a:solidFill>
          <a:ln/>
        </p:spPr>
      </p:sp>
      <p:sp>
        <p:nvSpPr>
          <p:cNvPr id="16" name="Text 14"/>
          <p:cNvSpPr/>
          <p:nvPr/>
        </p:nvSpPr>
        <p:spPr>
          <a:xfrm>
            <a:off x="5212080" y="3291840"/>
            <a:ext cx="2011680" cy="640080"/>
          </a:xfrm>
          <a:prstGeom prst="rect">
            <a:avLst/>
          </a:prstGeom>
          <a:noFill/>
          <a:ln/>
        </p:spPr>
        <p:txBody>
          <a:bodyPr wrap="square" lIns="0" tIns="0" rIns="0" bIns="0" rtlCol="0" anchor="ctr"/>
          <a:lstStyle/>
          <a:p>
            <a:pPr algn="ctr" indent="0" marL="0">
              <a:buNone/>
            </a:pPr>
            <a:r>
              <a:rPr lang="en-US" sz="1000" dirty="0">
                <a:solidFill>
                  <a:srgbClr val="B0D4E8"/>
                </a:solidFill>
                <a:latin typeface="Calibri" pitchFamily="34" charset="0"/>
                <a:ea typeface="Calibri" pitchFamily="34" charset="-122"/>
                <a:cs typeface="Calibri" pitchFamily="34" charset="-120"/>
              </a:rPr>
              <a:t>Atomicidad</a:t>
            </a:r>
            <a:endParaRPr lang="en-US" sz="1000" dirty="0"/>
          </a:p>
          <a:p>
            <a:pPr algn="ctr" indent="0" marL="0">
              <a:buNone/>
            </a:pPr>
            <a:r>
              <a:rPr lang="en-US" sz="1000" dirty="0">
                <a:solidFill>
                  <a:srgbClr val="B0D4E8"/>
                </a:solidFill>
                <a:latin typeface="Calibri" pitchFamily="34" charset="0"/>
                <a:ea typeface="Calibri" pitchFamily="34" charset="-122"/>
                <a:cs typeface="Calibri" pitchFamily="34" charset="-120"/>
              </a:rPr>
              <a:t>Bloqueante</a:t>
            </a:r>
            <a:endParaRPr lang="en-US" sz="1000" dirty="0"/>
          </a:p>
        </p:txBody>
      </p:sp>
      <p:sp>
        <p:nvSpPr>
          <p:cNvPr id="17" name="Shape 15"/>
          <p:cNvSpPr/>
          <p:nvPr/>
        </p:nvSpPr>
        <p:spPr>
          <a:xfrm>
            <a:off x="7315200" y="2468880"/>
            <a:ext cx="2011680" cy="731520"/>
          </a:xfrm>
          <a:prstGeom prst="rect">
            <a:avLst/>
          </a:prstGeom>
          <a:solidFill>
            <a:srgbClr val="065A82"/>
          </a:solidFill>
          <a:ln/>
        </p:spPr>
      </p:sp>
      <p:sp>
        <p:nvSpPr>
          <p:cNvPr id="18" name="Text 16"/>
          <p:cNvSpPr/>
          <p:nvPr/>
        </p:nvSpPr>
        <p:spPr>
          <a:xfrm>
            <a:off x="7315200" y="2468880"/>
            <a:ext cx="201168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Consenso</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(Paxos/Raft)</a:t>
            </a:r>
            <a:endParaRPr lang="en-US" sz="1100" dirty="0"/>
          </a:p>
        </p:txBody>
      </p:sp>
      <p:sp>
        <p:nvSpPr>
          <p:cNvPr id="19" name="Shape 17"/>
          <p:cNvSpPr/>
          <p:nvPr/>
        </p:nvSpPr>
        <p:spPr>
          <a:xfrm>
            <a:off x="7315200" y="3291840"/>
            <a:ext cx="2011680" cy="640080"/>
          </a:xfrm>
          <a:prstGeom prst="rect">
            <a:avLst/>
          </a:prstGeom>
          <a:solidFill>
            <a:srgbClr val="1A3A5C"/>
          </a:solidFill>
          <a:ln/>
        </p:spPr>
      </p:sp>
      <p:sp>
        <p:nvSpPr>
          <p:cNvPr id="20" name="Text 18"/>
          <p:cNvSpPr/>
          <p:nvPr/>
        </p:nvSpPr>
        <p:spPr>
          <a:xfrm>
            <a:off x="7315200" y="3291840"/>
            <a:ext cx="2011680" cy="640080"/>
          </a:xfrm>
          <a:prstGeom prst="rect">
            <a:avLst/>
          </a:prstGeom>
          <a:noFill/>
          <a:ln/>
        </p:spPr>
        <p:txBody>
          <a:bodyPr wrap="square" lIns="0" tIns="0" rIns="0" bIns="0" rtlCol="0" anchor="ctr"/>
          <a:lstStyle/>
          <a:p>
            <a:pPr algn="ctr" indent="0" marL="0">
              <a:buNone/>
            </a:pPr>
            <a:r>
              <a:rPr lang="en-US" sz="1000" dirty="0">
                <a:solidFill>
                  <a:srgbClr val="B0D4E8"/>
                </a:solidFill>
                <a:latin typeface="Calibri" pitchFamily="34" charset="0"/>
                <a:ea typeface="Calibri" pitchFamily="34" charset="-122"/>
                <a:cs typeface="Calibri" pitchFamily="34" charset="-120"/>
              </a:rPr>
              <a:t>Mayoría = f fallos</a:t>
            </a:r>
            <a:endParaRPr lang="en-US" sz="1000" dirty="0"/>
          </a:p>
          <a:p>
            <a:pPr algn="ctr" indent="0" marL="0">
              <a:buNone/>
            </a:pPr>
            <a:r>
              <a:rPr lang="en-US" sz="1000" dirty="0">
                <a:solidFill>
                  <a:srgbClr val="B0D4E8"/>
                </a:solidFill>
                <a:latin typeface="Calibri" pitchFamily="34" charset="0"/>
                <a:ea typeface="Calibri" pitchFamily="34" charset="-122"/>
                <a:cs typeface="Calibri" pitchFamily="34" charset="-120"/>
              </a:rPr>
              <a:t>No bloqueante</a:t>
            </a:r>
            <a:endParaRPr lang="en-US" sz="1000" dirty="0"/>
          </a:p>
        </p:txBody>
      </p:sp>
      <p:sp>
        <p:nvSpPr>
          <p:cNvPr id="21" name="Shape 19"/>
          <p:cNvSpPr/>
          <p:nvPr/>
        </p:nvSpPr>
        <p:spPr>
          <a:xfrm>
            <a:off x="548640" y="4206240"/>
            <a:ext cx="8046720" cy="731520"/>
          </a:xfrm>
          <a:prstGeom prst="rect">
            <a:avLst/>
          </a:prstGeom>
          <a:solidFill>
            <a:srgbClr val="1C7293"/>
          </a:solidFill>
          <a:ln/>
        </p:spPr>
      </p:sp>
      <p:sp>
        <p:nvSpPr>
          <p:cNvPr id="22" name="Text 20"/>
          <p:cNvSpPr/>
          <p:nvPr/>
        </p:nvSpPr>
        <p:spPr>
          <a:xfrm>
            <a:off x="731520" y="4251960"/>
            <a:ext cx="7680960" cy="640080"/>
          </a:xfrm>
          <a:prstGeom prst="rect">
            <a:avLst/>
          </a:prstGeom>
          <a:noFill/>
          <a:ln/>
        </p:spPr>
        <p:txBody>
          <a:bodyPr wrap="square" lIns="0" tIns="0" rIns="0" bIns="0" rtlCol="0" anchor="ctr"/>
          <a:lstStyle/>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Conclusión clave: En redes reales P es inevitable → elegimos entre C y A → necesitamos algoritmos de coordinación y consenso para mantener el sistema funcionando correctamente ante fallos.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600" b="1" dirty="0">
                <a:solidFill>
                  <a:srgbClr val="21295C"/>
                </a:solidFill>
                <a:latin typeface="Georgia" pitchFamily="34" charset="0"/>
                <a:ea typeface="Georgia" pitchFamily="34" charset="-122"/>
                <a:cs typeface="Georgia" pitchFamily="34" charset="-120"/>
              </a:rPr>
              <a:t>Bibliografía</a:t>
            </a:r>
            <a:endParaRPr lang="en-US" sz="2600" dirty="0"/>
          </a:p>
        </p:txBody>
      </p:sp>
      <p:sp>
        <p:nvSpPr>
          <p:cNvPr id="3" name="Text 1"/>
          <p:cNvSpPr/>
          <p:nvPr/>
        </p:nvSpPr>
        <p:spPr>
          <a:xfrm>
            <a:off x="548640" y="914400"/>
            <a:ext cx="8046720" cy="3840480"/>
          </a:xfrm>
          <a:prstGeom prst="rect">
            <a:avLst/>
          </a:prstGeom>
          <a:noFill/>
          <a:ln/>
        </p:spPr>
        <p:txBody>
          <a:bodyPr wrap="square" lIns="0" tIns="0" rIns="0" bIns="0" rtlCol="0" anchor="ctr"/>
          <a:lstStyle/>
          <a:p>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[1] Brewer, E. (2012). CAP twelve years later: How the 'rules' have changed. IEEE Computer, 45(2), 23-29.</a:t>
            </a:r>
            <a:endParaRPr lang="en-US" sz="1150" dirty="0"/>
          </a:p>
          <a:p>
            <a:pPr indent="0" marL="0">
              <a:lnSpc>
                <a:spcPct val="110000"/>
              </a:lnSpc>
              <a:buNone/>
            </a:pPr>
            <a:endParaRPr lang="en-US" sz="1150" dirty="0"/>
          </a:p>
          <a:p>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[2] van Steen, M. &amp; Tanenbaum, A. S. (2023). Distributed Systems, 4th ed. Maarten van Steen.</a:t>
            </a:r>
            <a:endParaRPr lang="en-US" sz="1150" dirty="0"/>
          </a:p>
          <a:p>
            <a:pPr indent="0" marL="0">
              <a:lnSpc>
                <a:spcPct val="110000"/>
              </a:lnSpc>
              <a:buNone/>
            </a:pPr>
            <a:endParaRPr lang="en-US" sz="1150" dirty="0"/>
          </a:p>
          <a:p>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[3] Kleppmann, M. (2017). Designing Data-Intensive Applications. O'Reilly Media.</a:t>
            </a:r>
            <a:endParaRPr lang="en-US" sz="1150" dirty="0"/>
          </a:p>
          <a:p>
            <a:pPr indent="0" marL="0">
              <a:lnSpc>
                <a:spcPct val="110000"/>
              </a:lnSpc>
              <a:buNone/>
            </a:pPr>
            <a:endParaRPr lang="en-US" sz="1150" dirty="0"/>
          </a:p>
          <a:p>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[4] Ongaro, D. &amp; Ousterhout, J. (2014). In Search of an Understandable Consensus Algorithm. USENIX ATC.</a:t>
            </a:r>
            <a:endParaRPr lang="en-US" sz="1150" dirty="0"/>
          </a:p>
          <a:p>
            <a:pPr indent="0" marL="0">
              <a:lnSpc>
                <a:spcPct val="110000"/>
              </a:lnSpc>
              <a:buNone/>
            </a:pPr>
            <a:endParaRPr lang="en-US" sz="1150" dirty="0"/>
          </a:p>
          <a:p>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[5] Lamport, L. (1998). The Part-Time Parliament. ACM TOCS, 16(2), 133-169.</a:t>
            </a:r>
            <a:endParaRPr lang="en-US" sz="1150" dirty="0"/>
          </a:p>
          <a:p>
            <a:pPr indent="0" marL="0">
              <a:lnSpc>
                <a:spcPct val="110000"/>
              </a:lnSpc>
              <a:buNone/>
            </a:pPr>
            <a:endParaRPr lang="en-US" sz="1150" dirty="0"/>
          </a:p>
          <a:p>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[6] Burns, B. (2025). Designing Distributed Systems, 2nd ed. O'Reilly Media.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4 — Coordinación y Consistencia Distribuida</dc:title>
  <dc:subject>PptxGenJS Presentation</dc:subject>
  <dc:creator>Prof. Guerrero Ulloa G.C.</dc:creator>
  <cp:lastModifiedBy>Prof. Guerrero Ulloa G.C.</cp:lastModifiedBy>
  <cp:revision>1</cp:revision>
  <dcterms:created xsi:type="dcterms:W3CDTF">2026-05-28T13:08:23Z</dcterms:created>
  <dcterms:modified xsi:type="dcterms:W3CDTF">2026-05-28T13:08:23Z</dcterms:modified>
</cp:coreProperties>
</file>